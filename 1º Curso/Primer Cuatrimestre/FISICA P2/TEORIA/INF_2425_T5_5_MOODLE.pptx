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31"/>
  </p:notesMasterIdLst>
  <p:handoutMasterIdLst>
    <p:handoutMasterId r:id="rId32"/>
  </p:handoutMasterIdLst>
  <p:sldIdLst>
    <p:sldId id="442" r:id="rId2"/>
    <p:sldId id="674" r:id="rId3"/>
    <p:sldId id="555" r:id="rId4"/>
    <p:sldId id="601" r:id="rId5"/>
    <p:sldId id="664" r:id="rId6"/>
    <p:sldId id="584" r:id="rId7"/>
    <p:sldId id="669" r:id="rId8"/>
    <p:sldId id="670" r:id="rId9"/>
    <p:sldId id="671" r:id="rId10"/>
    <p:sldId id="672" r:id="rId11"/>
    <p:sldId id="600" r:id="rId12"/>
    <p:sldId id="676" r:id="rId13"/>
    <p:sldId id="645" r:id="rId14"/>
    <p:sldId id="657" r:id="rId15"/>
    <p:sldId id="658" r:id="rId16"/>
    <p:sldId id="659" r:id="rId17"/>
    <p:sldId id="516" r:id="rId18"/>
    <p:sldId id="612" r:id="rId19"/>
    <p:sldId id="613" r:id="rId20"/>
    <p:sldId id="614" r:id="rId21"/>
    <p:sldId id="683" r:id="rId22"/>
    <p:sldId id="636" r:id="rId23"/>
    <p:sldId id="656" r:id="rId24"/>
    <p:sldId id="660" r:id="rId25"/>
    <p:sldId id="639" r:id="rId26"/>
    <p:sldId id="679" r:id="rId27"/>
    <p:sldId id="681" r:id="rId28"/>
    <p:sldId id="682" r:id="rId29"/>
    <p:sldId id="522" r:id="rId30"/>
  </p:sldIdLst>
  <p:sldSz cx="10801350" cy="7200900"/>
  <p:notesSz cx="6815138" cy="9942513"/>
  <p:defaultTextStyle>
    <a:defPPr>
      <a:defRPr lang="es-ES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rgbClr val="3333FF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rgbClr val="3333FF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rgbClr val="3333FF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rgbClr val="3333FF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rgbClr val="3333FF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rgbClr val="3333FF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rgbClr val="3333FF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rgbClr val="3333FF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rgbClr val="3333FF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68" userDrawn="1">
          <p15:clr>
            <a:srgbClr val="A4A3A4"/>
          </p15:clr>
        </p15:guide>
        <p15:guide id="2" pos="365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FF"/>
    <a:srgbClr val="99CCFF"/>
    <a:srgbClr val="FF99CC"/>
    <a:srgbClr val="008000"/>
    <a:srgbClr val="FFFFFF"/>
    <a:srgbClr val="CCFFCC"/>
    <a:srgbClr val="FFFF99"/>
    <a:srgbClr val="C0C0C0"/>
    <a:srgbClr val="DDDDDD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6283" autoAdjust="0"/>
  </p:normalViewPr>
  <p:slideViewPr>
    <p:cSldViewPr snapToGrid="0" showGuides="1">
      <p:cViewPr varScale="1">
        <p:scale>
          <a:sx n="103" d="100"/>
          <a:sy n="103" d="100"/>
        </p:scale>
        <p:origin x="1278" y="108"/>
      </p:cViewPr>
      <p:guideLst>
        <p:guide orient="horz" pos="2268"/>
        <p:guide pos="365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t" anchorCtr="0" compatLnSpc="1">
            <a:prstTxWarp prst="textNoShape">
              <a:avLst/>
            </a:prstTxWarp>
          </a:bodyPr>
          <a:lstStyle>
            <a:lvl1pPr defTabSz="915988" eaLnBrk="1" hangingPunct="1">
              <a:spcBef>
                <a:spcPct val="0"/>
              </a:spcBef>
              <a:defRPr sz="1200" baseline="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s-ES"/>
              <a:t>TEMA 1: ECUACIONES DE MAXWELL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60800" y="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t" anchorCtr="0" compatLnSpc="1">
            <a:prstTxWarp prst="textNoShape">
              <a:avLst/>
            </a:prstTxWarp>
          </a:bodyPr>
          <a:lstStyle>
            <a:lvl1pPr algn="r" defTabSz="915988" eaLnBrk="1" hangingPunct="1">
              <a:spcBef>
                <a:spcPct val="0"/>
              </a:spcBef>
              <a:defRPr sz="1200" baseline="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b" anchorCtr="0" compatLnSpc="1">
            <a:prstTxWarp prst="textNoShape">
              <a:avLst/>
            </a:prstTxWarp>
          </a:bodyPr>
          <a:lstStyle>
            <a:lvl1pPr defTabSz="915988" eaLnBrk="1" hangingPunct="1">
              <a:spcBef>
                <a:spcPct val="0"/>
              </a:spcBef>
              <a:defRPr sz="1200" baseline="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s-ES"/>
              <a:t>FNT - CURSO 2005/2006</a:t>
            </a:r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b" anchorCtr="0" compatLnSpc="1">
            <a:prstTxWarp prst="textNoShape">
              <a:avLst/>
            </a:prstTxWarp>
          </a:bodyPr>
          <a:lstStyle>
            <a:lvl1pPr algn="r" defTabSz="915988" eaLnBrk="1" hangingPunct="1">
              <a:spcBef>
                <a:spcPct val="0"/>
              </a:spcBef>
              <a:defRPr sz="1200" baseline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17A5602E-D58C-4F00-91A0-DA89D19F6F84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389806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t" anchorCtr="0" compatLnSpc="1">
            <a:prstTxWarp prst="textNoShape">
              <a:avLst/>
            </a:prstTxWarp>
          </a:bodyPr>
          <a:lstStyle>
            <a:lvl1pPr defTabSz="915988" eaLnBrk="1" hangingPunct="1">
              <a:spcBef>
                <a:spcPct val="0"/>
              </a:spcBef>
              <a:defRPr sz="1200" baseline="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s-ES"/>
              <a:t>TEMA 1: ECUACIONES DE MAXWELL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60800" y="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t" anchorCtr="0" compatLnSpc="1">
            <a:prstTxWarp prst="textNoShape">
              <a:avLst/>
            </a:prstTxWarp>
          </a:bodyPr>
          <a:lstStyle>
            <a:lvl1pPr algn="r" defTabSz="915988" eaLnBrk="1" hangingPunct="1">
              <a:spcBef>
                <a:spcPct val="0"/>
              </a:spcBef>
              <a:defRPr sz="1200" baseline="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609600" y="746125"/>
            <a:ext cx="5594350" cy="37290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1038" y="4724400"/>
            <a:ext cx="5453062" cy="4471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noProof="0"/>
              <a:t>Haga clic para modificar el estilo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b" anchorCtr="0" compatLnSpc="1">
            <a:prstTxWarp prst="textNoShape">
              <a:avLst/>
            </a:prstTxWarp>
          </a:bodyPr>
          <a:lstStyle>
            <a:lvl1pPr defTabSz="915988" eaLnBrk="1" hangingPunct="1">
              <a:spcBef>
                <a:spcPct val="0"/>
              </a:spcBef>
              <a:defRPr sz="1200" baseline="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s-ES"/>
              <a:t>FNT - CURSO 2005/2006</a:t>
            </a:r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b" anchorCtr="0" compatLnSpc="1">
            <a:prstTxWarp prst="textNoShape">
              <a:avLst/>
            </a:prstTxWarp>
          </a:bodyPr>
          <a:lstStyle>
            <a:lvl1pPr algn="r" defTabSz="915988" eaLnBrk="1" hangingPunct="1">
              <a:spcBef>
                <a:spcPct val="0"/>
              </a:spcBef>
              <a:defRPr sz="1200" baseline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1EEFAF1-9DD5-48D3-8221-B35888FE0960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90947978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614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614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EAAF2DA-AF3B-4DD0-8878-016FAA681128}" type="slidenum">
              <a:rPr lang="es-ES" smtClean="0"/>
              <a:pPr>
                <a:spcBef>
                  <a:spcPct val="0"/>
                </a:spcBef>
              </a:pPr>
              <a:t>1</a:t>
            </a:fld>
            <a:endParaRPr lang="es-ES"/>
          </a:p>
        </p:txBody>
      </p:sp>
      <p:sp>
        <p:nvSpPr>
          <p:cNvPr id="614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5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s-ES" b="1" i="1" dirty="0"/>
          </a:p>
        </p:txBody>
      </p:sp>
    </p:spTree>
    <p:extLst>
      <p:ext uri="{BB962C8B-B14F-4D97-AF65-F5344CB8AC3E}">
        <p14:creationId xmlns:p14="http://schemas.microsoft.com/office/powerpoint/2010/main" val="5472712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8195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8196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1ED54D28-C454-45EF-9776-12C9DE92A777}" type="slidenum">
              <a:rPr lang="es-ES"/>
              <a:pPr algn="r" eaLnBrk="1" hangingPunct="1">
                <a:spcBef>
                  <a:spcPct val="0"/>
                </a:spcBef>
              </a:pPr>
              <a:t>2</a:t>
            </a:fld>
            <a:endParaRPr lang="es-ES"/>
          </a:p>
        </p:txBody>
      </p:sp>
      <p:sp>
        <p:nvSpPr>
          <p:cNvPr id="819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6" rIns="91430" bIns="45716"/>
          <a:lstStyle/>
          <a:p>
            <a:pPr eaLnBrk="1" hangingPunct="1">
              <a:spcBef>
                <a:spcPct val="50000"/>
              </a:spcBef>
            </a:pPr>
            <a:endParaRPr lang="es-ES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55862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TEMA 1: ECUACIONES DE MAXWELL</a:t>
            </a:r>
          </a:p>
        </p:txBody>
      </p:sp>
      <p:sp>
        <p:nvSpPr>
          <p:cNvPr id="2457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FNT - CURSO 2005/2006</a:t>
            </a:r>
          </a:p>
        </p:txBody>
      </p:sp>
      <p:sp>
        <p:nvSpPr>
          <p:cNvPr id="2458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fld id="{7B4F1F06-34E4-482E-89B6-85F16F90537D}" type="slidenum">
              <a:rPr lang="es-ES" sz="1200" smtClean="0">
                <a:solidFill>
                  <a:schemeClr val="tx1"/>
                </a:solidFill>
              </a:rPr>
              <a:pPr/>
              <a:t>3</a:t>
            </a:fld>
            <a:endParaRPr lang="es-ES" sz="1200">
              <a:solidFill>
                <a:schemeClr val="tx1"/>
              </a:solidFill>
            </a:endParaRPr>
          </a:p>
        </p:txBody>
      </p:sp>
      <p:sp>
        <p:nvSpPr>
          <p:cNvPr id="2458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b="1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85180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26627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26628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95D7E459-9875-41D8-A119-D237049039E2}" type="slidenum">
              <a:rPr lang="es-ES"/>
              <a:pPr algn="r" eaLnBrk="1" hangingPunct="1">
                <a:spcBef>
                  <a:spcPct val="0"/>
                </a:spcBef>
              </a:pPr>
              <a:t>4</a:t>
            </a:fld>
            <a:endParaRPr lang="es-ES"/>
          </a:p>
        </p:txBody>
      </p:sp>
      <p:sp>
        <p:nvSpPr>
          <p:cNvPr id="2662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b="1" i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07165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1 Marcador de imagen de diapositiva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8675" name="2 Marcador de notas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b="1">
              <a:latin typeface="Arial" panose="020B0604020202020204" pitchFamily="34" charset="0"/>
            </a:endParaRPr>
          </a:p>
        </p:txBody>
      </p:sp>
      <p:sp>
        <p:nvSpPr>
          <p:cNvPr id="28676" name="3 Marcador de encabezado"/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28677" name="4 Marcador de pie de página"/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28678" name="5 Marcador de número de diapositiva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725D8A7-351A-4AB2-8942-97A3D309ED81}" type="slidenum">
              <a:rPr lang="es-ES" smtClean="0"/>
              <a:pPr>
                <a:spcBef>
                  <a:spcPct val="0"/>
                </a:spcBef>
              </a:pPr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213996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1 Marcador de imagen de diapositiva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8675" name="2 Marcador de notas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b="1">
              <a:latin typeface="Arial" panose="020B0604020202020204" pitchFamily="34" charset="0"/>
            </a:endParaRPr>
          </a:p>
        </p:txBody>
      </p:sp>
      <p:sp>
        <p:nvSpPr>
          <p:cNvPr id="28676" name="3 Marcador de encabezado"/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28677" name="4 Marcador de pie de página"/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28678" name="5 Marcador de número de diapositiva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725D8A7-351A-4AB2-8942-97A3D309ED81}" type="slidenum">
              <a:rPr lang="es-ES" smtClean="0"/>
              <a:pPr>
                <a:spcBef>
                  <a:spcPct val="0"/>
                </a:spcBef>
              </a:pPr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03835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1 Marcador de imagen de diapositiva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8675" name="2 Marcador de notas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b="1">
              <a:latin typeface="Arial" panose="020B0604020202020204" pitchFamily="34" charset="0"/>
            </a:endParaRPr>
          </a:p>
        </p:txBody>
      </p:sp>
      <p:sp>
        <p:nvSpPr>
          <p:cNvPr id="28676" name="3 Marcador de encabezado"/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28677" name="4 Marcador de pie de página"/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28678" name="5 Marcador de número de diapositiva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725D8A7-351A-4AB2-8942-97A3D309ED81}" type="slidenum">
              <a:rPr lang="es-ES" smtClean="0"/>
              <a:pPr>
                <a:spcBef>
                  <a:spcPct val="0"/>
                </a:spcBef>
              </a:pPr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650783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1 Marcador de imagen de diapositiva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8675" name="2 Marcador de notas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b="1">
              <a:latin typeface="Arial" panose="020B0604020202020204" pitchFamily="34" charset="0"/>
            </a:endParaRPr>
          </a:p>
        </p:txBody>
      </p:sp>
      <p:sp>
        <p:nvSpPr>
          <p:cNvPr id="28676" name="3 Marcador de encabezado"/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28677" name="4 Marcador de pie de página"/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28678" name="5 Marcador de número de diapositiva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725D8A7-351A-4AB2-8942-97A3D309ED81}" type="slidenum">
              <a:rPr lang="es-ES" smtClean="0"/>
              <a:pPr>
                <a:spcBef>
                  <a:spcPct val="0"/>
                </a:spcBef>
              </a:pPr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191127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1 Marcador de imagen de diapositiva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8675" name="2 Marcador de notas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b="1" dirty="0">
              <a:latin typeface="Arial" panose="020B0604020202020204" pitchFamily="34" charset="0"/>
            </a:endParaRPr>
          </a:p>
        </p:txBody>
      </p:sp>
      <p:sp>
        <p:nvSpPr>
          <p:cNvPr id="28676" name="3 Marcador de encabezado"/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28677" name="4 Marcador de pie de página"/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28678" name="5 Marcador de número de diapositiva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725D8A7-351A-4AB2-8942-97A3D309ED81}" type="slidenum">
              <a:rPr lang="es-ES" smtClean="0"/>
              <a:pPr>
                <a:spcBef>
                  <a:spcPct val="0"/>
                </a:spcBef>
              </a:pPr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572178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s-E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94608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="1"/>
          </a:p>
        </p:txBody>
      </p:sp>
      <p:sp>
        <p:nvSpPr>
          <p:cNvPr id="4" name="Marcador de encabezad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s-ES"/>
              <a:t>TEMA 1: ECUACIONES DE MAXWELL</a:t>
            </a: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ES"/>
              <a:t>FNT - CURSO 2005/2006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0AC4F3-CAAD-4F82-8FB3-29B1B20299A1}" type="slidenum">
              <a:rPr lang="es-ES" smtClean="0"/>
              <a:pPr>
                <a:defRPr/>
              </a:pPr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8231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E52B9-25A7-EEF9-FE94-A57C7B78F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76096CC-FE1F-2BBB-1F34-7EEC9BCD1B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6329D4E-BF78-B02B-E14D-DFD020E3FB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="1"/>
          </a:p>
        </p:txBody>
      </p:sp>
      <p:sp>
        <p:nvSpPr>
          <p:cNvPr id="4" name="Marcador de encabezado 3">
            <a:extLst>
              <a:ext uri="{FF2B5EF4-FFF2-40B4-BE49-F238E27FC236}">
                <a16:creationId xmlns:a16="http://schemas.microsoft.com/office/drawing/2014/main" id="{BBB40A74-85E1-2005-68A7-704982E31D9E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s-ES"/>
              <a:t>TEMA 1: ECUACIONES DE MAXWELL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77AA357-8A75-4E20-9C8F-F3423BB2B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ES"/>
              <a:t>FNT - CURSO 2005/2006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68A0624-34DC-CFD8-9D3B-D7EB6A141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0AC4F3-CAAD-4F82-8FB3-29B1B20299A1}" type="slidenum">
              <a:rPr lang="es-ES" smtClean="0"/>
              <a:pPr>
                <a:defRPr/>
              </a:pPr>
              <a:t>12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612452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358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358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E347261-26DE-47A6-86BF-04636BED1742}" type="slidenum">
              <a:rPr lang="es-ES" smtClean="0"/>
              <a:pPr>
                <a:spcBef>
                  <a:spcPct val="0"/>
                </a:spcBef>
              </a:pPr>
              <a:t>13</a:t>
            </a:fld>
            <a:endParaRPr lang="es-ES"/>
          </a:p>
        </p:txBody>
      </p:sp>
      <p:sp>
        <p:nvSpPr>
          <p:cNvPr id="358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>
              <a:latin typeface="Arial" panose="020B0604020202020204" pitchFamily="34" charset="0"/>
            </a:endParaRPr>
          </a:p>
          <a:p>
            <a:pPr eaLnBrk="1" hangingPunct="1"/>
            <a:endParaRPr lang="es-E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62798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358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358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E347261-26DE-47A6-86BF-04636BED1742}" type="slidenum">
              <a:rPr lang="es-ES" smtClean="0"/>
              <a:pPr>
                <a:spcBef>
                  <a:spcPct val="0"/>
                </a:spcBef>
              </a:pPr>
              <a:t>14</a:t>
            </a:fld>
            <a:endParaRPr lang="es-ES"/>
          </a:p>
        </p:txBody>
      </p:sp>
      <p:sp>
        <p:nvSpPr>
          <p:cNvPr id="358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>
              <a:latin typeface="Arial" panose="020B0604020202020204" pitchFamily="34" charset="0"/>
            </a:endParaRPr>
          </a:p>
          <a:p>
            <a:pPr eaLnBrk="1" hangingPunct="1"/>
            <a:endParaRPr lang="es-E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55236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358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358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E347261-26DE-47A6-86BF-04636BED1742}" type="slidenum">
              <a:rPr lang="es-ES" smtClean="0"/>
              <a:pPr>
                <a:spcBef>
                  <a:spcPct val="0"/>
                </a:spcBef>
              </a:pPr>
              <a:t>15</a:t>
            </a:fld>
            <a:endParaRPr lang="es-ES"/>
          </a:p>
        </p:txBody>
      </p:sp>
      <p:sp>
        <p:nvSpPr>
          <p:cNvPr id="358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27989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358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358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E347261-26DE-47A6-86BF-04636BED1742}" type="slidenum">
              <a:rPr lang="es-ES" smtClean="0"/>
              <a:pPr>
                <a:spcBef>
                  <a:spcPct val="0"/>
                </a:spcBef>
              </a:pPr>
              <a:t>16</a:t>
            </a:fld>
            <a:endParaRPr lang="es-ES"/>
          </a:p>
        </p:txBody>
      </p:sp>
      <p:sp>
        <p:nvSpPr>
          <p:cNvPr id="358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55698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4301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4301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6D39C03-6730-476A-823C-2126D267521B}" type="slidenum">
              <a:rPr lang="es-ES" smtClean="0"/>
              <a:pPr>
                <a:spcBef>
                  <a:spcPct val="0"/>
                </a:spcBef>
              </a:pPr>
              <a:t>17</a:t>
            </a:fld>
            <a:endParaRPr lang="es-ES"/>
          </a:p>
        </p:txBody>
      </p:sp>
      <p:sp>
        <p:nvSpPr>
          <p:cNvPr id="4301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b="1" i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228702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02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5F3032B-78FD-4933-A5CA-91B0BF979C16}" type="slidenum">
              <a:rPr lang="es-ES" smtClean="0"/>
              <a:pPr>
                <a:spcBef>
                  <a:spcPct val="0"/>
                </a:spcBef>
              </a:pPr>
              <a:t>18</a:t>
            </a:fld>
            <a:endParaRPr lang="es-ES"/>
          </a:p>
        </p:txBody>
      </p:sp>
      <p:sp>
        <p:nvSpPr>
          <p:cNvPr id="10245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0246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0247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BC3EB641-5C70-4CED-98BB-D79CE7E17169}" type="slidenum">
              <a:rPr lang="es-ES"/>
              <a:pPr algn="r" eaLnBrk="1" hangingPunct="1">
                <a:spcBef>
                  <a:spcPct val="0"/>
                </a:spcBef>
              </a:pPr>
              <a:t>18</a:t>
            </a:fld>
            <a:endParaRPr lang="es-ES"/>
          </a:p>
        </p:txBody>
      </p:sp>
      <p:sp>
        <p:nvSpPr>
          <p:cNvPr id="1024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6" rIns="91430" bIns="45716"/>
          <a:lstStyle/>
          <a:p>
            <a:pPr eaLnBrk="1" hangingPunct="1"/>
            <a:endParaRPr lang="es-E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282501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229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229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F9D3154-5E28-4650-8678-38EFF139FFC0}" type="slidenum">
              <a:rPr lang="es-ES" smtClean="0"/>
              <a:pPr>
                <a:spcBef>
                  <a:spcPct val="0"/>
                </a:spcBef>
              </a:pPr>
              <a:t>19</a:t>
            </a:fld>
            <a:endParaRPr lang="es-ES"/>
          </a:p>
        </p:txBody>
      </p:sp>
      <p:sp>
        <p:nvSpPr>
          <p:cNvPr id="12293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2294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2295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59648A89-2271-4B7E-ADDC-90A4B6DEC055}" type="slidenum">
              <a:rPr lang="es-ES"/>
              <a:pPr algn="r" eaLnBrk="1" hangingPunct="1">
                <a:spcBef>
                  <a:spcPct val="0"/>
                </a:spcBef>
              </a:pPr>
              <a:t>19</a:t>
            </a:fld>
            <a:endParaRPr lang="es-ES"/>
          </a:p>
        </p:txBody>
      </p:sp>
      <p:sp>
        <p:nvSpPr>
          <p:cNvPr id="1229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6" rIns="91430" bIns="45716"/>
          <a:lstStyle/>
          <a:p>
            <a:pPr eaLnBrk="1" hangingPunct="1"/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32480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4339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4340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96D2AA23-BEBE-40E6-8A80-87D0C5D320D9}" type="slidenum">
              <a:rPr lang="es-ES"/>
              <a:pPr algn="r" eaLnBrk="1" hangingPunct="1">
                <a:spcBef>
                  <a:spcPct val="0"/>
                </a:spcBef>
              </a:pPr>
              <a:t>20</a:t>
            </a:fld>
            <a:endParaRPr lang="es-ES"/>
          </a:p>
        </p:txBody>
      </p:sp>
      <p:sp>
        <p:nvSpPr>
          <p:cNvPr id="14341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4342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4343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97B8B864-8D3D-42F9-BB8B-EEC84379D998}" type="slidenum">
              <a:rPr lang="es-ES"/>
              <a:pPr algn="r" eaLnBrk="1" hangingPunct="1">
                <a:spcBef>
                  <a:spcPct val="0"/>
                </a:spcBef>
              </a:pPr>
              <a:t>20</a:t>
            </a:fld>
            <a:endParaRPr lang="es-ES"/>
          </a:p>
        </p:txBody>
      </p:sp>
      <p:sp>
        <p:nvSpPr>
          <p:cNvPr id="1434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6" rIns="91430" bIns="45716"/>
          <a:lstStyle/>
          <a:p>
            <a:pPr eaLnBrk="1" hangingPunct="1"/>
            <a:endParaRPr lang="es-E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427873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3072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3072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5D3402A-6CD0-4E75-B327-2E552B5C5EC1}" type="slidenum">
              <a:rPr lang="es-ES" smtClean="0"/>
              <a:pPr>
                <a:spcBef>
                  <a:spcPct val="0"/>
                </a:spcBef>
              </a:pPr>
              <a:t>21</a:t>
            </a:fld>
            <a:endParaRPr lang="es-ES"/>
          </a:p>
        </p:txBody>
      </p:sp>
      <p:sp>
        <p:nvSpPr>
          <p:cNvPr id="3072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6" rIns="91430" bIns="45716"/>
          <a:lstStyle/>
          <a:p>
            <a:pPr eaLnBrk="1" hangingPunct="1"/>
            <a:endParaRPr lang="es-E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222512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3072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3072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5D3402A-6CD0-4E75-B327-2E552B5C5EC1}" type="slidenum">
              <a:rPr lang="es-ES" smtClean="0"/>
              <a:pPr>
                <a:spcBef>
                  <a:spcPct val="0"/>
                </a:spcBef>
              </a:pPr>
              <a:t>22</a:t>
            </a:fld>
            <a:endParaRPr lang="es-ES"/>
          </a:p>
        </p:txBody>
      </p:sp>
      <p:sp>
        <p:nvSpPr>
          <p:cNvPr id="3072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6" rIns="91430" bIns="45716"/>
          <a:lstStyle/>
          <a:p>
            <a:pPr eaLnBrk="1" hangingPunct="1"/>
            <a:endParaRPr lang="es-ES" dirty="0">
              <a:latin typeface="Arial" panose="020B0604020202020204" pitchFamily="34" charset="0"/>
            </a:endParaRPr>
          </a:p>
          <a:p>
            <a:pPr eaLnBrk="1" hangingPunct="1"/>
            <a:endParaRPr lang="es-E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617472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3277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3277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999E847-C594-4B52-98F9-1A6594B92F15}" type="slidenum">
              <a:rPr lang="es-ES" smtClean="0"/>
              <a:pPr>
                <a:spcBef>
                  <a:spcPct val="0"/>
                </a:spcBef>
              </a:pPr>
              <a:t>23</a:t>
            </a:fld>
            <a:endParaRPr lang="es-ES"/>
          </a:p>
        </p:txBody>
      </p:sp>
      <p:sp>
        <p:nvSpPr>
          <p:cNvPr id="3277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6" rIns="91430" bIns="45716"/>
          <a:lstStyle/>
          <a:p>
            <a:pPr eaLnBrk="1" hangingPunct="1"/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121160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3277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3277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999E847-C594-4B52-98F9-1A6594B92F15}" type="slidenum">
              <a:rPr lang="es-ES" smtClean="0"/>
              <a:pPr>
                <a:spcBef>
                  <a:spcPct val="0"/>
                </a:spcBef>
              </a:pPr>
              <a:t>24</a:t>
            </a:fld>
            <a:endParaRPr lang="es-ES"/>
          </a:p>
        </p:txBody>
      </p:sp>
      <p:sp>
        <p:nvSpPr>
          <p:cNvPr id="3277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6" rIns="91430" bIns="45716"/>
          <a:lstStyle/>
          <a:p>
            <a:pPr eaLnBrk="1" hangingPunct="1"/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402235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40963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40964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A0A99F6B-4213-4331-B5EE-BA7C53A39972}" type="slidenum">
              <a:rPr lang="es-ES"/>
              <a:pPr algn="r" eaLnBrk="1" hangingPunct="1">
                <a:spcBef>
                  <a:spcPct val="0"/>
                </a:spcBef>
              </a:pPr>
              <a:t>25</a:t>
            </a:fld>
            <a:endParaRPr lang="es-ES"/>
          </a:p>
        </p:txBody>
      </p:sp>
      <p:sp>
        <p:nvSpPr>
          <p:cNvPr id="4096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6" rIns="91430" bIns="45716"/>
          <a:lstStyle/>
          <a:p>
            <a:pPr eaLnBrk="1" hangingPunct="1"/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484601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40963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40964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A0A99F6B-4213-4331-B5EE-BA7C53A39972}" type="slidenum">
              <a:rPr lang="es-ES"/>
              <a:pPr algn="r" eaLnBrk="1" hangingPunct="1">
                <a:spcBef>
                  <a:spcPct val="0"/>
                </a:spcBef>
              </a:pPr>
              <a:t>26</a:t>
            </a:fld>
            <a:endParaRPr lang="es-ES"/>
          </a:p>
        </p:txBody>
      </p:sp>
      <p:sp>
        <p:nvSpPr>
          <p:cNvPr id="4096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6" rIns="91430" bIns="45716"/>
          <a:lstStyle/>
          <a:p>
            <a:pPr eaLnBrk="1" hangingPunct="1"/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502334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41DC4-E21D-28F1-3F0B-F7120C3F4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97B7F109-7E1C-AE6A-5882-959C9DEB4E6B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43011" name="Rectangle 6">
            <a:extLst>
              <a:ext uri="{FF2B5EF4-FFF2-40B4-BE49-F238E27FC236}">
                <a16:creationId xmlns:a16="http://schemas.microsoft.com/office/drawing/2014/main" id="{7196D2E1-F178-2F42-830F-D530DF2097AF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43012" name="Rectangle 7">
            <a:extLst>
              <a:ext uri="{FF2B5EF4-FFF2-40B4-BE49-F238E27FC236}">
                <a16:creationId xmlns:a16="http://schemas.microsoft.com/office/drawing/2014/main" id="{46DF099D-D537-1AA3-14CF-EA0CF6C77B6D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15B48D17-CDE6-4B7B-8B5B-F619C40CCEA6}" type="slidenum">
              <a:rPr lang="es-ES"/>
              <a:pPr algn="r" eaLnBrk="1" hangingPunct="1">
                <a:spcBef>
                  <a:spcPct val="0"/>
                </a:spcBef>
              </a:pPr>
              <a:t>27</a:t>
            </a:fld>
            <a:endParaRPr lang="es-ES"/>
          </a:p>
        </p:txBody>
      </p:sp>
      <p:sp>
        <p:nvSpPr>
          <p:cNvPr id="43013" name="Rectangle 2">
            <a:extLst>
              <a:ext uri="{FF2B5EF4-FFF2-40B4-BE49-F238E27FC236}">
                <a16:creationId xmlns:a16="http://schemas.microsoft.com/office/drawing/2014/main" id="{38D54EB3-32AD-6EA3-E38D-D6113CDFB06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4" name="Rectangle 3">
            <a:extLst>
              <a:ext uri="{FF2B5EF4-FFF2-40B4-BE49-F238E27FC236}">
                <a16:creationId xmlns:a16="http://schemas.microsoft.com/office/drawing/2014/main" id="{F41B44EF-A892-905E-9BA4-87610B082F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6" rIns="91430" bIns="45716"/>
          <a:lstStyle/>
          <a:p>
            <a:pPr eaLnBrk="1" hangingPunct="1"/>
            <a:endParaRPr lang="en-US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268008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47107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47108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21003C74-4676-4515-8EBA-9E18DABE1248}" type="slidenum">
              <a:rPr lang="es-ES"/>
              <a:pPr algn="r" eaLnBrk="1" hangingPunct="1">
                <a:spcBef>
                  <a:spcPct val="0"/>
                </a:spcBef>
              </a:pPr>
              <a:t>28</a:t>
            </a:fld>
            <a:endParaRPr lang="es-ES"/>
          </a:p>
        </p:txBody>
      </p:sp>
      <p:sp>
        <p:nvSpPr>
          <p:cNvPr id="4710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1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6" rIns="91430" bIns="45716"/>
          <a:lstStyle/>
          <a:p>
            <a:pPr eaLnBrk="1" hangingPunct="1"/>
            <a:endParaRPr lang="en-US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93919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26" descr="Canvas"/>
          <p:cNvSpPr>
            <a:spLocks noChangeArrowheads="1"/>
          </p:cNvSpPr>
          <p:nvPr/>
        </p:nvSpPr>
        <p:spPr bwMode="white">
          <a:xfrm>
            <a:off x="623888" y="211138"/>
            <a:ext cx="9920287" cy="6791325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2870" tIns="51435" rIns="102870" bIns="51435" anchor="ctr"/>
          <a:lstStyle>
            <a:lvl1pPr defTabSz="1028700">
              <a:spcBef>
                <a:spcPct val="50000"/>
              </a:spcBef>
              <a:defRPr sz="2000" baseline="-25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1028700">
              <a:spcBef>
                <a:spcPct val="50000"/>
              </a:spcBef>
              <a:defRPr sz="2000" baseline="-25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1028700">
              <a:spcBef>
                <a:spcPct val="50000"/>
              </a:spcBef>
              <a:defRPr sz="2000" baseline="-25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1028700">
              <a:spcBef>
                <a:spcPct val="50000"/>
              </a:spcBef>
              <a:defRPr sz="2000" baseline="-25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1028700">
              <a:spcBef>
                <a:spcPct val="50000"/>
              </a:spcBef>
              <a:defRPr sz="2000" baseline="-25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 baseline="-25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 baseline="-25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 baseline="-25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 baseline="-25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defRPr/>
            </a:pPr>
            <a:endParaRPr kumimoji="1" lang="es-ES" sz="2700" baseline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5" name="Picture 1027" descr="minispi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ltGray">
          <a:xfrm>
            <a:off x="0" y="53975"/>
            <a:ext cx="1395413" cy="4500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1028" descr="Canvas"/>
          <p:cNvSpPr>
            <a:spLocks noChangeArrowheads="1"/>
          </p:cNvSpPr>
          <p:nvPr/>
        </p:nvSpPr>
        <p:spPr bwMode="white">
          <a:xfrm>
            <a:off x="704850" y="4337050"/>
            <a:ext cx="1230313" cy="479425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2870" tIns="51435" rIns="102870" bIns="51435" anchor="ctr"/>
          <a:lstStyle>
            <a:lvl1pPr defTabSz="1028700">
              <a:spcBef>
                <a:spcPct val="50000"/>
              </a:spcBef>
              <a:defRPr sz="2000" baseline="-25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1028700">
              <a:spcBef>
                <a:spcPct val="50000"/>
              </a:spcBef>
              <a:defRPr sz="2000" baseline="-25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1028700">
              <a:spcBef>
                <a:spcPct val="50000"/>
              </a:spcBef>
              <a:defRPr sz="2000" baseline="-25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1028700">
              <a:spcBef>
                <a:spcPct val="50000"/>
              </a:spcBef>
              <a:defRPr sz="2000" baseline="-25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1028700">
              <a:spcBef>
                <a:spcPct val="50000"/>
              </a:spcBef>
              <a:defRPr sz="2000" baseline="-25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 baseline="-25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 baseline="-25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 baseline="-25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 baseline="-25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defRPr/>
            </a:pPr>
            <a:endParaRPr kumimoji="1" lang="es-ES" sz="2700" baseline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7" name="Picture 1029" descr="minispi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999"/>
          <a:stretch>
            <a:fillRect/>
          </a:stretch>
        </p:blipFill>
        <p:spPr bwMode="ltGray">
          <a:xfrm>
            <a:off x="0" y="4433888"/>
            <a:ext cx="1395413" cy="270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4214" name="Rectangle 1030"/>
          <p:cNvSpPr>
            <a:spLocks noGrp="1" noChangeArrowheads="1"/>
          </p:cNvSpPr>
          <p:nvPr>
            <p:ph type="ctrTitle"/>
          </p:nvPr>
        </p:nvSpPr>
        <p:spPr>
          <a:xfrm>
            <a:off x="1079500" y="2160588"/>
            <a:ext cx="9121775" cy="1200150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94215" name="Rectangle 1031"/>
          <p:cNvSpPr>
            <a:spLocks noGrp="1" noChangeArrowheads="1"/>
          </p:cNvSpPr>
          <p:nvPr>
            <p:ph type="subTitle" idx="1"/>
          </p:nvPr>
        </p:nvSpPr>
        <p:spPr>
          <a:xfrm>
            <a:off x="1920875" y="4079875"/>
            <a:ext cx="7559675" cy="186055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8" name="Rectangle 1032"/>
          <p:cNvSpPr>
            <a:spLocks noGrp="1" noChangeArrowheads="1"/>
          </p:cNvSpPr>
          <p:nvPr>
            <p:ph type="dt" sz="quarter" idx="10"/>
          </p:nvPr>
        </p:nvSpPr>
        <p:spPr>
          <a:xfrm>
            <a:off x="1281113" y="6400800"/>
            <a:ext cx="2249487" cy="4794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Rectangle 1033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0838" y="6400800"/>
            <a:ext cx="3421062" cy="4794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0" name="Rectangle 103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12138" y="6400800"/>
            <a:ext cx="2249487" cy="4794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5CF7FF-2655-4FB7-AEF0-5E34D50BD67D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07876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59B145-2F36-4298-9587-451A23510CC8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78553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852488" y="4627563"/>
            <a:ext cx="9182100" cy="1430337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852488" y="3052763"/>
            <a:ext cx="9182100" cy="15748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51CF5A-4C4C-44B3-8114-1E6459381D79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334242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1260475" y="1839913"/>
            <a:ext cx="4424363" cy="43211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5837238" y="1839913"/>
            <a:ext cx="4424362" cy="43211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C656B4-887F-4CFA-B959-5D1323C4C1E7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40596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39750" y="288925"/>
            <a:ext cx="9721850" cy="1200150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539750" y="1611313"/>
            <a:ext cx="4772025" cy="6731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539750" y="2284413"/>
            <a:ext cx="4772025" cy="414813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5486400" y="1611313"/>
            <a:ext cx="4775200" cy="6731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5486400" y="2284413"/>
            <a:ext cx="4775200" cy="414813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8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D1C710-FFB9-433A-8123-ECFC817C7944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94748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C5EDD1-8AA9-4C29-BD93-942C2C2A452E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73590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EFB65D-E139-4E42-A71A-0520FF7F87AA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6727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39750" y="287338"/>
            <a:ext cx="3554413" cy="12192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222750" y="287338"/>
            <a:ext cx="6038850" cy="61452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539750" y="1506538"/>
            <a:ext cx="3554413" cy="49260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67887F-6B5B-4A67-B6E6-E08878C52BCA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14943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117725" y="5040313"/>
            <a:ext cx="6480175" cy="59531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117725" y="642938"/>
            <a:ext cx="6480175" cy="43211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ES" noProof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117725" y="5635625"/>
            <a:ext cx="6480175" cy="8445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BCDA5D-2FE9-418E-870E-9C28FF672747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00638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D7FF21-78C8-4A68-A415-0075F34BB38A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57633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012113" y="400050"/>
            <a:ext cx="2249487" cy="57610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1260475" y="400050"/>
            <a:ext cx="6599238" cy="57610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7BAB83-E90C-4B66-87E7-3CD471AD1721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449842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/>
          <p:cNvSpPr>
            <a:spLocks noGrp="1"/>
          </p:cNvSpPr>
          <p:nvPr>
            <p:ph/>
          </p:nvPr>
        </p:nvSpPr>
        <p:spPr>
          <a:xfrm>
            <a:off x="1260475" y="400050"/>
            <a:ext cx="9001125" cy="57610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0891A2-4322-404A-9D81-1E9373561C03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56298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solidFill>
          <a:srgbClr val="906D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720725" y="239713"/>
            <a:ext cx="9731375" cy="6710362"/>
          </a:xfrm>
          <a:prstGeom prst="rect">
            <a:avLst/>
          </a:prstGeom>
          <a:solidFill>
            <a:srgbClr val="EDE7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2870" tIns="51435" rIns="102870" bIns="51435" anchor="ctr"/>
          <a:lstStyle>
            <a:lvl1pPr defTabSz="1028700">
              <a:spcBef>
                <a:spcPct val="50000"/>
              </a:spcBef>
              <a:defRPr sz="2000" baseline="-25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1028700">
              <a:spcBef>
                <a:spcPct val="50000"/>
              </a:spcBef>
              <a:defRPr sz="2000" baseline="-25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1028700">
              <a:spcBef>
                <a:spcPct val="50000"/>
              </a:spcBef>
              <a:defRPr sz="2000" baseline="-25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1028700">
              <a:spcBef>
                <a:spcPct val="50000"/>
              </a:spcBef>
              <a:defRPr sz="2000" baseline="-25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1028700">
              <a:spcBef>
                <a:spcPct val="50000"/>
              </a:spcBef>
              <a:defRPr sz="2000" baseline="-25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 baseline="-25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 baseline="-25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 baseline="-25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 baseline="-25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defRPr/>
            </a:pPr>
            <a:endParaRPr kumimoji="1" lang="es-ES" sz="2700" baseline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7" name="Line 3"/>
          <p:cNvSpPr>
            <a:spLocks noChangeShapeType="1"/>
          </p:cNvSpPr>
          <p:nvPr/>
        </p:nvSpPr>
        <p:spPr bwMode="ltGray">
          <a:xfrm>
            <a:off x="1200150" y="1679575"/>
            <a:ext cx="9061450" cy="0"/>
          </a:xfrm>
          <a:prstGeom prst="line">
            <a:avLst/>
          </a:prstGeom>
          <a:noFill/>
          <a:ln w="317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pic>
        <p:nvPicPr>
          <p:cNvPr id="1028" name="Picture 4" descr="minispir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33"/>
          <a:stretch>
            <a:fillRect/>
          </a:stretch>
        </p:blipFill>
        <p:spPr bwMode="ltGray">
          <a:xfrm>
            <a:off x="0" y="53975"/>
            <a:ext cx="1395413" cy="425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 descr="minispir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999"/>
          <a:stretch>
            <a:fillRect/>
          </a:stretch>
        </p:blipFill>
        <p:spPr bwMode="ltGray">
          <a:xfrm>
            <a:off x="0" y="4433888"/>
            <a:ext cx="1395413" cy="270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0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1260475" y="400050"/>
            <a:ext cx="900112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2870" tIns="51435" rIns="102870" bIns="5143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el estilo de título del patrón</a:t>
            </a:r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60475" y="1839913"/>
            <a:ext cx="9001125" cy="432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2870" tIns="51435" rIns="102870" bIns="5143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93192" name="Rectangle 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98563" y="6411913"/>
            <a:ext cx="2249487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2870" tIns="51435" rIns="102870" bIns="51435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defRPr sz="1600" baseline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3193" name="Rectangle 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78288" y="6411913"/>
            <a:ext cx="3421062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2870" tIns="51435" rIns="102870" bIns="51435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0"/>
              </a:spcBef>
              <a:defRPr sz="1600" baseline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3194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129588" y="6411913"/>
            <a:ext cx="2249487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2870" tIns="51435" rIns="102870" bIns="51435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defRPr sz="1600" baseline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0569198A-4B92-4FF8-AD3B-DB1826E16AFB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9" r:id="rId1"/>
    <p:sldLayoutId id="2147483988" r:id="rId2"/>
    <p:sldLayoutId id="2147483989" r:id="rId3"/>
    <p:sldLayoutId id="2147483990" r:id="rId4"/>
    <p:sldLayoutId id="2147483991" r:id="rId5"/>
    <p:sldLayoutId id="2147483992" r:id="rId6"/>
    <p:sldLayoutId id="2147483993" r:id="rId7"/>
    <p:sldLayoutId id="2147483994" r:id="rId8"/>
    <p:sldLayoutId id="2147483995" r:id="rId9"/>
    <p:sldLayoutId id="2147483996" r:id="rId10"/>
    <p:sldLayoutId id="2147483997" r:id="rId11"/>
    <p:sldLayoutId id="2147483998" r:id="rId12"/>
  </p:sldLayoutIdLst>
  <p:txStyles>
    <p:titleStyle>
      <a:lvl1pPr algn="ctr" defTabSz="1028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028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2pPr>
      <a:lvl3pPr algn="ctr" defTabSz="1028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3pPr>
      <a:lvl4pPr algn="ctr" defTabSz="1028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4pPr>
      <a:lvl5pPr algn="ctr" defTabSz="1028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5pPr>
      <a:lvl6pPr marL="457200" algn="ctr" defTabSz="1028700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6pPr>
      <a:lvl7pPr marL="914400" algn="ctr" defTabSz="1028700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7pPr>
      <a:lvl8pPr marL="1371600" algn="ctr" defTabSz="1028700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8pPr>
      <a:lvl9pPr marL="1828800" algn="ctr" defTabSz="1028700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9pPr>
    </p:titleStyle>
    <p:bodyStyle>
      <a:lvl1pPr marL="385763" indent="-385763" algn="l" defTabSz="1028700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36613" indent="-322263" algn="l" defTabSz="1028700" rtl="0" eaLnBrk="0" fontAlgn="base" hangingPunct="0">
        <a:spcBef>
          <a:spcPct val="20000"/>
        </a:spcBef>
        <a:spcAft>
          <a:spcPct val="0"/>
        </a:spcAft>
        <a:buChar char="–"/>
        <a:defRPr sz="3200">
          <a:solidFill>
            <a:schemeClr val="tx1"/>
          </a:solidFill>
          <a:latin typeface="+mn-lt"/>
        </a:defRPr>
      </a:lvl2pPr>
      <a:lvl3pPr marL="1285875" indent="-257175" algn="l" defTabSz="1028700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800225" indent="-257175" algn="l" defTabSz="1028700" rtl="0" eaLnBrk="0" fontAlgn="base" hangingPunct="0">
        <a:spcBef>
          <a:spcPct val="20000"/>
        </a:spcBef>
        <a:spcAft>
          <a:spcPct val="0"/>
        </a:spcAft>
        <a:buChar char="–"/>
        <a:defRPr sz="2300">
          <a:solidFill>
            <a:schemeClr val="tx1"/>
          </a:solidFill>
          <a:latin typeface="+mn-lt"/>
        </a:defRPr>
      </a:lvl4pPr>
      <a:lvl5pPr marL="2314575" indent="-257175" algn="l" defTabSz="1028700" rtl="0" eaLnBrk="0" fontAlgn="base" hangingPunct="0">
        <a:spcBef>
          <a:spcPct val="20000"/>
        </a:spcBef>
        <a:spcAft>
          <a:spcPct val="0"/>
        </a:spcAft>
        <a:buChar char="»"/>
        <a:defRPr sz="2300">
          <a:solidFill>
            <a:schemeClr val="tx1"/>
          </a:solidFill>
          <a:latin typeface="+mn-lt"/>
        </a:defRPr>
      </a:lvl5pPr>
      <a:lvl6pPr marL="2771775" indent="-257175" algn="l" defTabSz="1028700" rtl="0" fontAlgn="base">
        <a:spcBef>
          <a:spcPct val="20000"/>
        </a:spcBef>
        <a:spcAft>
          <a:spcPct val="0"/>
        </a:spcAft>
        <a:buChar char="»"/>
        <a:defRPr sz="2300">
          <a:solidFill>
            <a:schemeClr val="tx1"/>
          </a:solidFill>
          <a:latin typeface="+mn-lt"/>
        </a:defRPr>
      </a:lvl6pPr>
      <a:lvl7pPr marL="3228975" indent="-257175" algn="l" defTabSz="1028700" rtl="0" fontAlgn="base">
        <a:spcBef>
          <a:spcPct val="20000"/>
        </a:spcBef>
        <a:spcAft>
          <a:spcPct val="0"/>
        </a:spcAft>
        <a:buChar char="»"/>
        <a:defRPr sz="2300">
          <a:solidFill>
            <a:schemeClr val="tx1"/>
          </a:solidFill>
          <a:latin typeface="+mn-lt"/>
        </a:defRPr>
      </a:lvl7pPr>
      <a:lvl8pPr marL="3686175" indent="-257175" algn="l" defTabSz="1028700" rtl="0" fontAlgn="base">
        <a:spcBef>
          <a:spcPct val="20000"/>
        </a:spcBef>
        <a:spcAft>
          <a:spcPct val="0"/>
        </a:spcAft>
        <a:buChar char="»"/>
        <a:defRPr sz="2300">
          <a:solidFill>
            <a:schemeClr val="tx1"/>
          </a:solidFill>
          <a:latin typeface="+mn-lt"/>
        </a:defRPr>
      </a:lvl8pPr>
      <a:lvl9pPr marL="4143375" indent="-257175" algn="l" defTabSz="1028700" rtl="0" fontAlgn="base">
        <a:spcBef>
          <a:spcPct val="20000"/>
        </a:spcBef>
        <a:spcAft>
          <a:spcPct val="0"/>
        </a:spcAft>
        <a:buChar char="»"/>
        <a:defRPr sz="2300">
          <a:solidFill>
            <a:schemeClr val="tx1"/>
          </a:solidFill>
          <a:latin typeface="+mn-lt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3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oleObject" Target="../embeddings/oleObject3.bin"/><Relationship Id="rId7" Type="http://schemas.openxmlformats.org/officeDocument/2006/relationships/image" Target="../media/image7.w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6.png"/><Relationship Id="rId4" Type="http://schemas.openxmlformats.org/officeDocument/2006/relationships/image" Target="../media/image5.wmf"/><Relationship Id="rId9" Type="http://schemas.openxmlformats.org/officeDocument/2006/relationships/image" Target="../media/image8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13" Type="http://schemas.openxmlformats.org/officeDocument/2006/relationships/image" Target="../media/image11.wmf"/><Relationship Id="rId3" Type="http://schemas.openxmlformats.org/officeDocument/2006/relationships/oleObject" Target="../embeddings/oleObject3.bin"/><Relationship Id="rId7" Type="http://schemas.openxmlformats.org/officeDocument/2006/relationships/image" Target="../media/image7.wmf"/><Relationship Id="rId12" Type="http://schemas.openxmlformats.org/officeDocument/2006/relationships/oleObject" Target="../embeddings/oleObject8.bin"/><Relationship Id="rId17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11.wmf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4.bin"/><Relationship Id="rId11" Type="http://schemas.openxmlformats.org/officeDocument/2006/relationships/image" Target="../media/image10.wmf"/><Relationship Id="rId5" Type="http://schemas.openxmlformats.org/officeDocument/2006/relationships/image" Target="../media/image6.png"/><Relationship Id="rId15" Type="http://schemas.openxmlformats.org/officeDocument/2006/relationships/oleObject" Target="../embeddings/oleObject8.bin"/><Relationship Id="rId10" Type="http://schemas.openxmlformats.org/officeDocument/2006/relationships/oleObject" Target="../embeddings/oleObject7.bin"/><Relationship Id="rId4" Type="http://schemas.openxmlformats.org/officeDocument/2006/relationships/image" Target="../media/image5.wmf"/><Relationship Id="rId9" Type="http://schemas.openxmlformats.org/officeDocument/2006/relationships/image" Target="../media/image9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oleObject" Target="../embeddings/oleObject3.bin"/><Relationship Id="rId7" Type="http://schemas.openxmlformats.org/officeDocument/2006/relationships/image" Target="../media/image7.w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4.bin"/><Relationship Id="rId11" Type="http://schemas.openxmlformats.org/officeDocument/2006/relationships/image" Target="../media/image10.wmf"/><Relationship Id="rId5" Type="http://schemas.openxmlformats.org/officeDocument/2006/relationships/image" Target="../media/image6.png"/><Relationship Id="rId10" Type="http://schemas.openxmlformats.org/officeDocument/2006/relationships/oleObject" Target="../embeddings/oleObject7.bin"/><Relationship Id="rId4" Type="http://schemas.openxmlformats.org/officeDocument/2006/relationships/image" Target="../media/image5.wmf"/><Relationship Id="rId9" Type="http://schemas.openxmlformats.org/officeDocument/2006/relationships/image" Target="../media/image9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oleObject" Target="../embeddings/oleObject3.bin"/><Relationship Id="rId7" Type="http://schemas.openxmlformats.org/officeDocument/2006/relationships/image" Target="../media/image7.w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4.bin"/><Relationship Id="rId11" Type="http://schemas.openxmlformats.org/officeDocument/2006/relationships/image" Target="../media/image10.wmf"/><Relationship Id="rId5" Type="http://schemas.openxmlformats.org/officeDocument/2006/relationships/image" Target="../media/image6.png"/><Relationship Id="rId10" Type="http://schemas.openxmlformats.org/officeDocument/2006/relationships/oleObject" Target="../embeddings/oleObject7.bin"/><Relationship Id="rId4" Type="http://schemas.openxmlformats.org/officeDocument/2006/relationships/image" Target="../media/image5.wmf"/><Relationship Id="rId9" Type="http://schemas.openxmlformats.org/officeDocument/2006/relationships/image" Target="../media/image9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9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0.png"/><Relationship Id="rId4" Type="http://schemas.openxmlformats.org/officeDocument/2006/relationships/image" Target="../media/image5.wmf"/><Relationship Id="rId9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3" Type="http://schemas.openxmlformats.org/officeDocument/2006/relationships/oleObject" Target="../embeddings/oleObject10.bin"/><Relationship Id="rId7" Type="http://schemas.openxmlformats.org/officeDocument/2006/relationships/oleObject" Target="../embeddings/oleObject1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13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3" Type="http://schemas.openxmlformats.org/officeDocument/2006/relationships/oleObject" Target="../embeddings/oleObject10.bin"/><Relationship Id="rId7" Type="http://schemas.openxmlformats.org/officeDocument/2006/relationships/oleObject" Target="../embeddings/oleObject1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13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15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4.bin"/><Relationship Id="rId12" Type="http://schemas.openxmlformats.org/officeDocument/2006/relationships/image" Target="../media/image18.w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wmf"/><Relationship Id="rId11" Type="http://schemas.openxmlformats.org/officeDocument/2006/relationships/oleObject" Target="../embeddings/oleObject16.bin"/><Relationship Id="rId5" Type="http://schemas.openxmlformats.org/officeDocument/2006/relationships/oleObject" Target="../embeddings/oleObject13.bin"/><Relationship Id="rId10" Type="http://schemas.openxmlformats.org/officeDocument/2006/relationships/image" Target="../media/image17.wmf"/><Relationship Id="rId4" Type="http://schemas.openxmlformats.org/officeDocument/2006/relationships/image" Target="../media/image15.wmf"/><Relationship Id="rId9" Type="http://schemas.openxmlformats.org/officeDocument/2006/relationships/oleObject" Target="../embeddings/oleObject15.bin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19.bin"/><Relationship Id="rId12" Type="http://schemas.openxmlformats.org/officeDocument/2006/relationships/image" Target="../media/image23.w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wmf"/><Relationship Id="rId11" Type="http://schemas.openxmlformats.org/officeDocument/2006/relationships/oleObject" Target="../embeddings/oleObject21.bin"/><Relationship Id="rId5" Type="http://schemas.openxmlformats.org/officeDocument/2006/relationships/oleObject" Target="../embeddings/oleObject18.bin"/><Relationship Id="rId10" Type="http://schemas.openxmlformats.org/officeDocument/2006/relationships/image" Target="../media/image22.wmf"/><Relationship Id="rId4" Type="http://schemas.openxmlformats.org/officeDocument/2006/relationships/image" Target="../media/image19.wmf"/><Relationship Id="rId9" Type="http://schemas.openxmlformats.org/officeDocument/2006/relationships/oleObject" Target="../embeddings/oleObject20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3" Type="http://schemas.openxmlformats.org/officeDocument/2006/relationships/oleObject" Target="../embeddings/oleObject20.bin"/><Relationship Id="rId7" Type="http://schemas.openxmlformats.org/officeDocument/2006/relationships/oleObject" Target="../embeddings/oleObject18.bin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wmf"/><Relationship Id="rId5" Type="http://schemas.openxmlformats.org/officeDocument/2006/relationships/oleObject" Target="../embeddings/oleObject19.bin"/><Relationship Id="rId10" Type="http://schemas.openxmlformats.org/officeDocument/2006/relationships/image" Target="../media/image19.wmf"/><Relationship Id="rId4" Type="http://schemas.openxmlformats.org/officeDocument/2006/relationships/image" Target="../media/image22.wmf"/><Relationship Id="rId9" Type="http://schemas.openxmlformats.org/officeDocument/2006/relationships/oleObject" Target="../embeddings/oleObject17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13" Type="http://schemas.openxmlformats.org/officeDocument/2006/relationships/oleObject" Target="../embeddings/oleObject25.bin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22.bin"/><Relationship Id="rId12" Type="http://schemas.openxmlformats.org/officeDocument/2006/relationships/image" Target="../media/image26.w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wmf"/><Relationship Id="rId11" Type="http://schemas.openxmlformats.org/officeDocument/2006/relationships/oleObject" Target="../embeddings/oleObject24.bin"/><Relationship Id="rId5" Type="http://schemas.openxmlformats.org/officeDocument/2006/relationships/oleObject" Target="../embeddings/oleObject18.bin"/><Relationship Id="rId10" Type="http://schemas.openxmlformats.org/officeDocument/2006/relationships/image" Target="../media/image25.wmf"/><Relationship Id="rId4" Type="http://schemas.openxmlformats.org/officeDocument/2006/relationships/image" Target="../media/image19.wmf"/><Relationship Id="rId9" Type="http://schemas.openxmlformats.org/officeDocument/2006/relationships/oleObject" Target="../embeddings/oleObject23.bin"/><Relationship Id="rId14" Type="http://schemas.openxmlformats.org/officeDocument/2006/relationships/image" Target="../media/image27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wmf"/><Relationship Id="rId3" Type="http://schemas.openxmlformats.org/officeDocument/2006/relationships/oleObject" Target="../embeddings/oleObject26.bin"/><Relationship Id="rId7" Type="http://schemas.openxmlformats.org/officeDocument/2006/relationships/oleObject" Target="../embeddings/oleObject28.bin"/><Relationship Id="rId12" Type="http://schemas.openxmlformats.org/officeDocument/2006/relationships/image" Target="../media/image32.w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9.wmf"/><Relationship Id="rId11" Type="http://schemas.openxmlformats.org/officeDocument/2006/relationships/oleObject" Target="../embeddings/oleObject30.bin"/><Relationship Id="rId5" Type="http://schemas.openxmlformats.org/officeDocument/2006/relationships/oleObject" Target="../embeddings/oleObject27.bin"/><Relationship Id="rId10" Type="http://schemas.openxmlformats.org/officeDocument/2006/relationships/image" Target="../media/image31.wmf"/><Relationship Id="rId4" Type="http://schemas.openxmlformats.org/officeDocument/2006/relationships/image" Target="../media/image28.wmf"/><Relationship Id="rId9" Type="http://schemas.openxmlformats.org/officeDocument/2006/relationships/oleObject" Target="../embeddings/oleObject29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wmf"/><Relationship Id="rId3" Type="http://schemas.openxmlformats.org/officeDocument/2006/relationships/oleObject" Target="../embeddings/oleObject31.bin"/><Relationship Id="rId7" Type="http://schemas.openxmlformats.org/officeDocument/2006/relationships/oleObject" Target="../embeddings/oleObject32.bin"/><Relationship Id="rId12" Type="http://schemas.openxmlformats.org/officeDocument/2006/relationships/image" Target="../media/image30.w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8.wmf"/><Relationship Id="rId11" Type="http://schemas.openxmlformats.org/officeDocument/2006/relationships/oleObject" Target="../embeddings/oleObject28.bin"/><Relationship Id="rId5" Type="http://schemas.openxmlformats.org/officeDocument/2006/relationships/oleObject" Target="../embeddings/oleObject26.bin"/><Relationship Id="rId10" Type="http://schemas.openxmlformats.org/officeDocument/2006/relationships/image" Target="../media/image35.wmf"/><Relationship Id="rId4" Type="http://schemas.openxmlformats.org/officeDocument/2006/relationships/image" Target="../media/image33.wmf"/><Relationship Id="rId9" Type="http://schemas.openxmlformats.org/officeDocument/2006/relationships/oleObject" Target="../embeddings/oleObject33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wmf"/><Relationship Id="rId3" Type="http://schemas.openxmlformats.org/officeDocument/2006/relationships/oleObject" Target="../embeddings/oleObject34.bin"/><Relationship Id="rId7" Type="http://schemas.openxmlformats.org/officeDocument/2006/relationships/oleObject" Target="../embeddings/oleObject36.bin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7.wmf"/><Relationship Id="rId5" Type="http://schemas.openxmlformats.org/officeDocument/2006/relationships/oleObject" Target="../embeddings/oleObject35.bin"/><Relationship Id="rId4" Type="http://schemas.openxmlformats.org/officeDocument/2006/relationships/image" Target="../media/image36.wmf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9.bin"/><Relationship Id="rId13" Type="http://schemas.openxmlformats.org/officeDocument/2006/relationships/image" Target="../media/image44.wmf"/><Relationship Id="rId3" Type="http://schemas.openxmlformats.org/officeDocument/2006/relationships/image" Target="../media/image39.png"/><Relationship Id="rId7" Type="http://schemas.openxmlformats.org/officeDocument/2006/relationships/image" Target="../media/image41.wmf"/><Relationship Id="rId12" Type="http://schemas.openxmlformats.org/officeDocument/2006/relationships/oleObject" Target="../embeddings/oleObject41.bin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8.bin"/><Relationship Id="rId11" Type="http://schemas.openxmlformats.org/officeDocument/2006/relationships/image" Target="../media/image43.wmf"/><Relationship Id="rId5" Type="http://schemas.openxmlformats.org/officeDocument/2006/relationships/image" Target="../media/image40.wmf"/><Relationship Id="rId10" Type="http://schemas.openxmlformats.org/officeDocument/2006/relationships/oleObject" Target="../embeddings/oleObject40.bin"/><Relationship Id="rId4" Type="http://schemas.openxmlformats.org/officeDocument/2006/relationships/oleObject" Target="../embeddings/oleObject37.bin"/><Relationship Id="rId9" Type="http://schemas.openxmlformats.org/officeDocument/2006/relationships/image" Target="../media/image42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9.bin"/><Relationship Id="rId3" Type="http://schemas.openxmlformats.org/officeDocument/2006/relationships/image" Target="../media/image39.png"/><Relationship Id="rId7" Type="http://schemas.openxmlformats.org/officeDocument/2006/relationships/image" Target="../media/image41.w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8.bin"/><Relationship Id="rId11" Type="http://schemas.openxmlformats.org/officeDocument/2006/relationships/image" Target="../media/image45.wmf"/><Relationship Id="rId5" Type="http://schemas.openxmlformats.org/officeDocument/2006/relationships/image" Target="../media/image40.wmf"/><Relationship Id="rId10" Type="http://schemas.openxmlformats.org/officeDocument/2006/relationships/oleObject" Target="../embeddings/oleObject42.bin"/><Relationship Id="rId4" Type="http://schemas.openxmlformats.org/officeDocument/2006/relationships/oleObject" Target="../embeddings/oleObject37.bin"/><Relationship Id="rId9" Type="http://schemas.openxmlformats.org/officeDocument/2006/relationships/image" Target="../media/image42.w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2"/>
          <p:cNvSpPr txBox="1">
            <a:spLocks noChangeArrowheads="1"/>
          </p:cNvSpPr>
          <p:nvPr/>
        </p:nvSpPr>
        <p:spPr bwMode="auto">
          <a:xfrm>
            <a:off x="3509963" y="3319463"/>
            <a:ext cx="4514850" cy="5302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s-ES" sz="2400" b="1">
                <a:latin typeface="Comic Sans MS" panose="030F0702030302020204" pitchFamily="66" charset="0"/>
              </a:rPr>
              <a:t>INTERACCIÓN MAGNÉTICA</a:t>
            </a:r>
          </a:p>
        </p:txBody>
      </p:sp>
      <p:sp>
        <p:nvSpPr>
          <p:cNvPr id="5123" name="Text Box 3"/>
          <p:cNvSpPr txBox="1">
            <a:spLocks noChangeArrowheads="1"/>
          </p:cNvSpPr>
          <p:nvPr/>
        </p:nvSpPr>
        <p:spPr bwMode="auto">
          <a:xfrm>
            <a:off x="5268913" y="4424363"/>
            <a:ext cx="93345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Comic Sans MS" panose="030F0702030302020204" pitchFamily="66" charset="0"/>
              </a:rPr>
              <a:t>(5/7)</a:t>
            </a:r>
          </a:p>
        </p:txBody>
      </p:sp>
      <p:sp>
        <p:nvSpPr>
          <p:cNvPr id="5124" name="Text Box 4"/>
          <p:cNvSpPr txBox="1">
            <a:spLocks noChangeArrowheads="1"/>
          </p:cNvSpPr>
          <p:nvPr/>
        </p:nvSpPr>
        <p:spPr bwMode="auto">
          <a:xfrm>
            <a:off x="5065713" y="2298700"/>
            <a:ext cx="13970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Comic Sans MS" panose="030F0702030302020204" pitchFamily="66" charset="0"/>
              </a:rPr>
              <a:t>TEMA 5</a:t>
            </a: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98EC6FFA-95BC-BEC2-E074-790C5372563F}"/>
              </a:ext>
            </a:extLst>
          </p:cNvPr>
          <p:cNvGrpSpPr/>
          <p:nvPr/>
        </p:nvGrpSpPr>
        <p:grpSpPr>
          <a:xfrm>
            <a:off x="6098558" y="5050008"/>
            <a:ext cx="4360864" cy="1868603"/>
            <a:chOff x="6310314" y="5021133"/>
            <a:chExt cx="4360864" cy="1868603"/>
          </a:xfrm>
        </p:grpSpPr>
        <p:grpSp>
          <p:nvGrpSpPr>
            <p:cNvPr id="4" name="Group 14">
              <a:extLst>
                <a:ext uri="{FF2B5EF4-FFF2-40B4-BE49-F238E27FC236}">
                  <a16:creationId xmlns:a16="http://schemas.microsoft.com/office/drawing/2014/main" id="{57CC33F6-CB1D-ECF5-DB87-E86AE02CD09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10314" y="5021133"/>
              <a:ext cx="4360864" cy="1865313"/>
              <a:chOff x="3975" y="3030"/>
              <a:chExt cx="2747" cy="1175"/>
            </a:xfrm>
          </p:grpSpPr>
          <p:sp>
            <p:nvSpPr>
              <p:cNvPr id="12" name="AutoShape 1056">
                <a:extLst>
                  <a:ext uri="{FF2B5EF4-FFF2-40B4-BE49-F238E27FC236}">
                    <a16:creationId xmlns:a16="http://schemas.microsoft.com/office/drawing/2014/main" id="{B157A4AD-7B20-6CE5-46B3-7E206DE95B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5" y="3030"/>
                <a:ext cx="2747" cy="1175"/>
              </a:xfrm>
              <a:prstGeom prst="foldedCorner">
                <a:avLst>
                  <a:gd name="adj" fmla="val 12500"/>
                </a:avLst>
              </a:prstGeom>
              <a:solidFill>
                <a:srgbClr val="FFFF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90000" tIns="46800" rIns="90000" bIns="46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s-ES" sz="2000">
                  <a:solidFill>
                    <a:srgbClr val="000000"/>
                  </a:solidFill>
                  <a:latin typeface="Trebuchet MS" panose="020B0603020202020204" pitchFamily="34" charset="0"/>
                </a:endParaRPr>
              </a:p>
            </p:txBody>
          </p:sp>
          <p:sp>
            <p:nvSpPr>
              <p:cNvPr id="13" name="Text Box 1057">
                <a:extLst>
                  <a:ext uri="{FF2B5EF4-FFF2-40B4-BE49-F238E27FC236}">
                    <a16:creationId xmlns:a16="http://schemas.microsoft.com/office/drawing/2014/main" id="{337920D4-B3F2-F7DD-E7F1-16644FBE9DF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70" y="3120"/>
                <a:ext cx="2561" cy="523"/>
              </a:xfrm>
              <a:prstGeom prst="rect">
                <a:avLst/>
              </a:prstGeom>
              <a:solidFill>
                <a:srgbClr val="FFCC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400" b="1">
                    <a:latin typeface="Trebuchet MS" panose="020B0603020202020204" pitchFamily="34" charset="0"/>
                  </a:rPr>
                  <a:t>PROBLEMA PROPUESTO</a:t>
                </a:r>
              </a:p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400" b="1">
                    <a:latin typeface="Trebuchet MS" panose="020B0603020202020204" pitchFamily="34" charset="0"/>
                  </a:rPr>
                  <a:t>(2ª SESIÓN DE PROBLEMAS)</a:t>
                </a:r>
              </a:p>
            </p:txBody>
          </p:sp>
          <p:sp>
            <p:nvSpPr>
              <p:cNvPr id="14" name="Text Box 1058">
                <a:extLst>
                  <a:ext uri="{FF2B5EF4-FFF2-40B4-BE49-F238E27FC236}">
                    <a16:creationId xmlns:a16="http://schemas.microsoft.com/office/drawing/2014/main" id="{C60629A6-A7A4-6E79-254C-A04FC9BB12D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10" y="3767"/>
                <a:ext cx="950" cy="3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08000" tIns="72000" rIns="108000" bIns="72000" anchor="ctr" anchorCtr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solidFill>
                      <a:srgbClr val="FF0000"/>
                    </a:solidFill>
                    <a:latin typeface="Trebuchet MS" panose="020B0603020202020204" pitchFamily="34" charset="0"/>
                    <a:sym typeface="Wingdings" panose="05000000000000000000" pitchFamily="2" charset="2"/>
                  </a:rPr>
                  <a:t>Problema</a:t>
                </a:r>
                <a:endParaRPr lang="es-ES" sz="4800">
                  <a:solidFill>
                    <a:srgbClr val="FF0000"/>
                  </a:solidFill>
                  <a:latin typeface="Trebuchet MS" panose="020B0603020202020204" pitchFamily="34" charset="0"/>
                  <a:sym typeface="Wingdings" panose="05000000000000000000" pitchFamily="2" charset="2"/>
                </a:endParaRPr>
              </a:p>
            </p:txBody>
          </p:sp>
          <p:sp>
            <p:nvSpPr>
              <p:cNvPr id="15" name="Text Box 1062">
                <a:extLst>
                  <a:ext uri="{FF2B5EF4-FFF2-40B4-BE49-F238E27FC236}">
                    <a16:creationId xmlns:a16="http://schemas.microsoft.com/office/drawing/2014/main" id="{8DEA68D0-FD39-195B-532B-EC8E0F8E78C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528" y="3767"/>
                <a:ext cx="753" cy="3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08000" tIns="72000" rIns="108000" bIns="72000" anchor="ctr" anchorCtr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solidFill>
                      <a:srgbClr val="0000FF"/>
                    </a:solidFill>
                    <a:latin typeface="Trebuchet MS" panose="020B0603020202020204" pitchFamily="34" charset="0"/>
                  </a:rPr>
                  <a:t>Boletín</a:t>
                </a:r>
              </a:p>
            </p:txBody>
          </p:sp>
        </p:grpSp>
        <p:sp>
          <p:nvSpPr>
            <p:cNvPr id="9" name="Text Box 1058">
              <a:extLst>
                <a:ext uri="{FF2B5EF4-FFF2-40B4-BE49-F238E27FC236}">
                  <a16:creationId xmlns:a16="http://schemas.microsoft.com/office/drawing/2014/main" id="{CB2970D5-57AD-359A-F6BC-E330DDAE2B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03294" y="6056558"/>
              <a:ext cx="729985" cy="8331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4800">
                  <a:solidFill>
                    <a:srgbClr val="FF0000"/>
                  </a:solidFill>
                  <a:latin typeface="Trebuchet MS" panose="020B0603020202020204" pitchFamily="34" charset="0"/>
                  <a:sym typeface="Wingdings" panose="05000000000000000000" pitchFamily="2" charset="2"/>
                </a:rPr>
                <a:t></a:t>
              </a:r>
            </a:p>
          </p:txBody>
        </p:sp>
        <p:sp>
          <p:nvSpPr>
            <p:cNvPr id="10" name="Text Box 1058">
              <a:extLst>
                <a:ext uri="{FF2B5EF4-FFF2-40B4-BE49-F238E27FC236}">
                  <a16:creationId xmlns:a16="http://schemas.microsoft.com/office/drawing/2014/main" id="{AABEB741-A1E4-C68C-F065-85933F39D5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36895" y="6053737"/>
              <a:ext cx="729985" cy="8331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4800">
                  <a:solidFill>
                    <a:srgbClr val="0000FF"/>
                  </a:solidFill>
                  <a:latin typeface="Trebuchet MS" panose="020B0603020202020204" pitchFamily="34" charset="0"/>
                  <a:sym typeface="Wingdings" panose="05000000000000000000" pitchFamily="2" charset="2"/>
                </a:rPr>
                <a:t></a:t>
              </a:r>
            </a:p>
          </p:txBody>
        </p:sp>
        <p:sp>
          <p:nvSpPr>
            <p:cNvPr id="11" name="Text Box 1058">
              <a:extLst>
                <a:ext uri="{FF2B5EF4-FFF2-40B4-BE49-F238E27FC236}">
                  <a16:creationId xmlns:a16="http://schemas.microsoft.com/office/drawing/2014/main" id="{4B5DF961-2CC0-001A-F702-BA4CCE9DF4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8584" y="6056558"/>
              <a:ext cx="729985" cy="8331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4800">
                  <a:solidFill>
                    <a:srgbClr val="FF0000"/>
                  </a:solidFill>
                  <a:latin typeface="Trebuchet MS" panose="020B0603020202020204" pitchFamily="34" charset="0"/>
                  <a:sym typeface="Wingdings" panose="05000000000000000000" pitchFamily="2" charset="2"/>
                </a:rPr>
                <a:t>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9">
            <a:extLst>
              <a:ext uri="{FF2B5EF4-FFF2-40B4-BE49-F238E27FC236}">
                <a16:creationId xmlns:a16="http://schemas.microsoft.com/office/drawing/2014/main" id="{B0841032-58A6-2D80-81B0-21184A0A2E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5135" y="6467047"/>
            <a:ext cx="627063" cy="4175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Rectangle 26">
            <a:extLst>
              <a:ext uri="{FF2B5EF4-FFF2-40B4-BE49-F238E27FC236}">
                <a16:creationId xmlns:a16="http://schemas.microsoft.com/office/drawing/2014/main" id="{0530F4E4-4284-AB01-2106-18EFDA81A4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9731" y="4475384"/>
            <a:ext cx="784101" cy="460504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7" name="Rectangle 26"/>
          <p:cNvSpPr>
            <a:spLocks noChangeArrowheads="1"/>
          </p:cNvSpPr>
          <p:nvPr/>
        </p:nvSpPr>
        <p:spPr bwMode="auto">
          <a:xfrm>
            <a:off x="2201609" y="5113337"/>
            <a:ext cx="7503499" cy="460504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84" name="Rectangle 26"/>
          <p:cNvSpPr>
            <a:spLocks noChangeArrowheads="1"/>
          </p:cNvSpPr>
          <p:nvPr/>
        </p:nvSpPr>
        <p:spPr bwMode="auto">
          <a:xfrm>
            <a:off x="5315578" y="4506945"/>
            <a:ext cx="2448616" cy="460504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72" name="Rectangle 19"/>
          <p:cNvSpPr>
            <a:spLocks noChangeArrowheads="1"/>
          </p:cNvSpPr>
          <p:nvPr/>
        </p:nvSpPr>
        <p:spPr bwMode="auto">
          <a:xfrm>
            <a:off x="1498600" y="5784709"/>
            <a:ext cx="627063" cy="4175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71" name="Rectangle 19"/>
          <p:cNvSpPr>
            <a:spLocks noChangeArrowheads="1"/>
          </p:cNvSpPr>
          <p:nvPr/>
        </p:nvSpPr>
        <p:spPr bwMode="auto">
          <a:xfrm>
            <a:off x="1493838" y="5124309"/>
            <a:ext cx="627062" cy="4175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74" name="Rectangle 19"/>
          <p:cNvSpPr>
            <a:spLocks noChangeArrowheads="1"/>
          </p:cNvSpPr>
          <p:nvPr/>
        </p:nvSpPr>
        <p:spPr bwMode="auto">
          <a:xfrm>
            <a:off x="1489075" y="4152759"/>
            <a:ext cx="627063" cy="4175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75" name="Rectangle 18"/>
          <p:cNvSpPr>
            <a:spLocks noChangeArrowheads="1"/>
          </p:cNvSpPr>
          <p:nvPr/>
        </p:nvSpPr>
        <p:spPr bwMode="auto">
          <a:xfrm>
            <a:off x="1487488" y="3481246"/>
            <a:ext cx="627062" cy="4175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76" name="Rectangle 2"/>
          <p:cNvSpPr>
            <a:spLocks noChangeArrowheads="1"/>
          </p:cNvSpPr>
          <p:nvPr/>
        </p:nvSpPr>
        <p:spPr bwMode="auto">
          <a:xfrm>
            <a:off x="1487488" y="2193784"/>
            <a:ext cx="627062" cy="4175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77" name="Rectangle 4"/>
          <p:cNvSpPr>
            <a:spLocks noChangeArrowheads="1"/>
          </p:cNvSpPr>
          <p:nvPr/>
        </p:nvSpPr>
        <p:spPr bwMode="auto">
          <a:xfrm>
            <a:off x="1487488" y="1560371"/>
            <a:ext cx="627062" cy="4175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78" name="Rectangle 5"/>
          <p:cNvSpPr>
            <a:spLocks noChangeArrowheads="1"/>
          </p:cNvSpPr>
          <p:nvPr/>
        </p:nvSpPr>
        <p:spPr bwMode="auto">
          <a:xfrm>
            <a:off x="1409700" y="590550"/>
            <a:ext cx="8520113" cy="525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569" tIns="49785" rIns="99569" bIns="49785" anchor="ctr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800" b="1">
                <a:solidFill>
                  <a:srgbClr val="CC0000"/>
                </a:solidFill>
                <a:latin typeface="Arial" panose="020B0604020202020204" pitchFamily="34" charset="0"/>
              </a:rPr>
              <a:t>TEMA 5: INTERACCIÓN MAGNÉTICA</a:t>
            </a:r>
          </a:p>
        </p:txBody>
      </p:sp>
      <p:sp>
        <p:nvSpPr>
          <p:cNvPr id="7179" name="Rectangle 6"/>
          <p:cNvSpPr>
            <a:spLocks noChangeArrowheads="1"/>
          </p:cNvSpPr>
          <p:nvPr/>
        </p:nvSpPr>
        <p:spPr bwMode="auto">
          <a:xfrm>
            <a:off x="1470025" y="1525446"/>
            <a:ext cx="708025" cy="54189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569" tIns="49785" rIns="99569" bIns="49785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5.1.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5.2.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5.3.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5.4.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5.5.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5.6.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5.7.</a:t>
            </a:r>
          </a:p>
        </p:txBody>
      </p:sp>
      <p:sp>
        <p:nvSpPr>
          <p:cNvPr id="7180" name="Rectangle 7"/>
          <p:cNvSpPr>
            <a:spLocks noChangeArrowheads="1"/>
          </p:cNvSpPr>
          <p:nvPr/>
        </p:nvSpPr>
        <p:spPr bwMode="auto">
          <a:xfrm>
            <a:off x="2197100" y="1536559"/>
            <a:ext cx="8237538" cy="54189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569" tIns="49785" rIns="99569" bIns="49785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Concepto de Campo Magnético. Ley de Gauss para B 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Efectos de B sobre: una Carga (Fuerza de Lorentz y Efecto Hall), un Conductor (Ley de Laplace) y una Espira (Dipolo Magnético)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Fuentes de B: Leyes de Biot-Savart y </a:t>
            </a:r>
            <a:r>
              <a:rPr lang="es-ES" sz="2400" b="1" dirty="0" err="1">
                <a:latin typeface="Arial" panose="020B0604020202020204" pitchFamily="34" charset="0"/>
              </a:rPr>
              <a:t>Ampère</a:t>
            </a:r>
            <a:r>
              <a:rPr lang="es-ES" sz="2400" b="1" dirty="0">
                <a:latin typeface="Arial" panose="020B0604020202020204" pitchFamily="34" charset="0"/>
              </a:rPr>
              <a:t>-Maxwell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Ley de Inducción de Henry-Faraday. Ley de Lenz.    FEM por inducción o por movimiento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s-ES" sz="2400" b="1">
                <a:latin typeface="Arial" panose="020B0604020202020204" pitchFamily="34" charset="0"/>
              </a:rPr>
              <a:t>Ecuaciones de Maxwell: Ondas Electromagnéticas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Campo Magnético en </a:t>
            </a:r>
            <a:r>
              <a:rPr lang="es-ES" sz="2400" b="1">
                <a:latin typeface="Arial" panose="020B0604020202020204" pitchFamily="34" charset="0"/>
              </a:rPr>
              <a:t>la Materia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Bobinas</a:t>
            </a:r>
            <a:endParaRPr lang="es-ES" sz="2400" b="1" dirty="0">
              <a:latin typeface="Arial" panose="020B0604020202020204" pitchFamily="34" charset="0"/>
            </a:endParaRPr>
          </a:p>
        </p:txBody>
      </p:sp>
      <p:sp>
        <p:nvSpPr>
          <p:cNvPr id="7181" name="Line 20"/>
          <p:cNvSpPr>
            <a:spLocks noChangeShapeType="1"/>
          </p:cNvSpPr>
          <p:nvPr/>
        </p:nvSpPr>
        <p:spPr bwMode="auto">
          <a:xfrm flipV="1">
            <a:off x="9848850" y="1579421"/>
            <a:ext cx="219075" cy="15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82800" rIns="90000" bIns="82800">
            <a:spAutoFit/>
          </a:bodyPr>
          <a:lstStyle/>
          <a:p>
            <a:endParaRPr lang="en-GB"/>
          </a:p>
        </p:txBody>
      </p:sp>
      <p:sp>
        <p:nvSpPr>
          <p:cNvPr id="7182" name="Line 21"/>
          <p:cNvSpPr>
            <a:spLocks noChangeShapeType="1"/>
          </p:cNvSpPr>
          <p:nvPr/>
        </p:nvSpPr>
        <p:spPr bwMode="auto">
          <a:xfrm flipV="1">
            <a:off x="3925888" y="2228709"/>
            <a:ext cx="219075" cy="15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82800" rIns="90000" bIns="82800">
            <a:spAutoFit/>
          </a:bodyPr>
          <a:lstStyle/>
          <a:p>
            <a:endParaRPr lang="en-GB"/>
          </a:p>
        </p:txBody>
      </p:sp>
      <p:sp>
        <p:nvSpPr>
          <p:cNvPr id="7183" name="Line 22"/>
          <p:cNvSpPr>
            <a:spLocks noChangeShapeType="1"/>
          </p:cNvSpPr>
          <p:nvPr/>
        </p:nvSpPr>
        <p:spPr bwMode="auto">
          <a:xfrm flipV="1">
            <a:off x="4006850" y="3546334"/>
            <a:ext cx="2159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82800" rIns="90000" bIns="82800">
            <a:spAutoFit/>
          </a:bodyPr>
          <a:lstStyle/>
          <a:p>
            <a:endParaRPr lang="en-GB"/>
          </a:p>
        </p:txBody>
      </p:sp>
      <p:sp>
        <p:nvSpPr>
          <p:cNvPr id="20" name="Text Box 11"/>
          <p:cNvSpPr txBox="1">
            <a:spLocks noChangeArrowheads="1"/>
          </p:cNvSpPr>
          <p:nvPr/>
        </p:nvSpPr>
        <p:spPr bwMode="auto">
          <a:xfrm>
            <a:off x="8284858" y="99801"/>
            <a:ext cx="2059960" cy="1253402"/>
          </a:xfrm>
          <a:prstGeom prst="rect">
            <a:avLst/>
          </a:prstGeom>
          <a:solidFill>
            <a:srgbClr val="3366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108000" tIns="72000" rIns="108000" bIns="72000" anchor="ctr" anchorCtr="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es-ES" sz="2400" dirty="0">
                <a:solidFill>
                  <a:srgbClr val="FFFFFF"/>
                </a:solidFill>
                <a:latin typeface="Trebuchet MS" panose="020B0603020202020204" pitchFamily="34" charset="0"/>
              </a:rPr>
              <a:t>T1</a:t>
            </a:r>
            <a:r>
              <a:rPr lang="es-ES" sz="2400">
                <a:solidFill>
                  <a:srgbClr val="FFFFFF"/>
                </a:solidFill>
                <a:latin typeface="Trebuchet MS" panose="020B0603020202020204" pitchFamily="34" charset="0"/>
              </a:rPr>
              <a:t>: 28/11/24</a:t>
            </a:r>
            <a:endParaRPr lang="es-ES" sz="2400" dirty="0">
              <a:solidFill>
                <a:srgbClr val="FFFFFF"/>
              </a:solidFill>
              <a:latin typeface="Trebuchet MS" panose="020B0603020202020204" pitchFamily="34" charset="0"/>
            </a:endParaRPr>
          </a:p>
          <a:p>
            <a:pPr eaLnBrk="1" hangingPunct="1">
              <a:spcBef>
                <a:spcPts val="0"/>
              </a:spcBef>
            </a:pPr>
            <a:r>
              <a:rPr lang="es-ES" sz="2400">
                <a:solidFill>
                  <a:srgbClr val="FFFFFF"/>
                </a:solidFill>
                <a:latin typeface="Trebuchet MS" panose="020B0603020202020204" pitchFamily="34" charset="0"/>
              </a:rPr>
              <a:t>T2: 25/11/24</a:t>
            </a:r>
            <a:endParaRPr lang="es-ES" sz="2400" dirty="0">
              <a:solidFill>
                <a:srgbClr val="FFFFFF"/>
              </a:solidFill>
              <a:latin typeface="Trebuchet MS" panose="020B0603020202020204" pitchFamily="34" charset="0"/>
            </a:endParaRPr>
          </a:p>
          <a:p>
            <a:pPr eaLnBrk="1" hangingPunct="1">
              <a:spcBef>
                <a:spcPts val="0"/>
              </a:spcBef>
            </a:pPr>
            <a:r>
              <a:rPr lang="es-ES" sz="2400" dirty="0">
                <a:solidFill>
                  <a:srgbClr val="FFFFFF"/>
                </a:solidFill>
                <a:latin typeface="Trebuchet MS" panose="020B0603020202020204" pitchFamily="34" charset="0"/>
              </a:rPr>
              <a:t>T3</a:t>
            </a:r>
            <a:r>
              <a:rPr lang="es-ES" sz="2400">
                <a:solidFill>
                  <a:srgbClr val="FFFFFF"/>
                </a:solidFill>
                <a:latin typeface="Trebuchet MS" panose="020B0603020202020204" pitchFamily="34" charset="0"/>
              </a:rPr>
              <a:t>: 26/11/24</a:t>
            </a:r>
            <a:endParaRPr lang="es-ES" sz="2400" dirty="0">
              <a:solidFill>
                <a:srgbClr val="FFFFFF"/>
              </a:solidFill>
              <a:latin typeface="Trebuchet MS" panose="020B0603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7" grpId="0" animBg="1"/>
      <p:bldP spid="7184" grpId="0" animBg="1"/>
      <p:bldP spid="2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121"/>
          <p:cNvSpPr>
            <a:spLocks noChangeArrowheads="1"/>
          </p:cNvSpPr>
          <p:nvPr/>
        </p:nvSpPr>
        <p:spPr bwMode="auto">
          <a:xfrm>
            <a:off x="2828925" y="364075"/>
            <a:ext cx="2786958" cy="46355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9569" tIns="49785" rIns="99569" bIns="49785" anchor="ctr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sz="2400" b="1">
              <a:solidFill>
                <a:srgbClr val="CC0000"/>
              </a:solidFill>
              <a:latin typeface="Arial" panose="020B0604020202020204" pitchFamily="34" charset="0"/>
            </a:endParaRPr>
          </a:p>
        </p:txBody>
      </p:sp>
      <p:sp>
        <p:nvSpPr>
          <p:cNvPr id="718852" name="Text Box 4"/>
          <p:cNvSpPr txBox="1">
            <a:spLocks noChangeArrowheads="1"/>
          </p:cNvSpPr>
          <p:nvPr/>
        </p:nvSpPr>
        <p:spPr bwMode="auto">
          <a:xfrm>
            <a:off x="1849347" y="5710371"/>
            <a:ext cx="7890553" cy="514738"/>
          </a:xfrm>
          <a:prstGeom prst="rect">
            <a:avLst/>
          </a:prstGeom>
          <a:solidFill>
            <a:srgbClr val="CC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108000" tIns="72000" rIns="108000" bIns="72000" anchor="ctr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 typeface="Symbol" panose="05050102010706020507" pitchFamily="18" charset="2"/>
              <a:buNone/>
            </a:pPr>
            <a:r>
              <a:rPr lang="es-ES" sz="2400">
                <a:sym typeface="Symbol" panose="05050102010706020507" pitchFamily="18" charset="2"/>
              </a:rPr>
              <a:t>Cuanto más rápido sea el cambio, mayor es la corriente</a:t>
            </a:r>
          </a:p>
        </p:txBody>
      </p:sp>
      <p:sp>
        <p:nvSpPr>
          <p:cNvPr id="718853" name="Text Box 5"/>
          <p:cNvSpPr txBox="1">
            <a:spLocks noChangeArrowheads="1"/>
          </p:cNvSpPr>
          <p:nvPr/>
        </p:nvSpPr>
        <p:spPr bwMode="auto">
          <a:xfrm>
            <a:off x="1442268" y="3814503"/>
            <a:ext cx="8843166" cy="514738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8000" tIns="72000" rIns="108000" bIns="72000" anchor="ctr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 typeface="Symbol" panose="05050102010706020507" pitchFamily="18" charset="2"/>
              <a:buNone/>
            </a:pPr>
            <a:r>
              <a:rPr lang="es-ES" sz="2400" dirty="0">
                <a:sym typeface="Symbol" panose="05050102010706020507" pitchFamily="18" charset="2"/>
              </a:rPr>
              <a:t>Si </a:t>
            </a:r>
            <a:r>
              <a:rPr lang="es-ES" sz="2400" b="1" dirty="0">
                <a:sym typeface="Symbol" panose="05050102010706020507" pitchFamily="18" charset="2"/>
              </a:rPr>
              <a:t>se</a:t>
            </a:r>
            <a:r>
              <a:rPr lang="es-ES" sz="2400" dirty="0">
                <a:sym typeface="Symbol" panose="05050102010706020507" pitchFamily="18" charset="2"/>
              </a:rPr>
              <a:t> </a:t>
            </a:r>
            <a:r>
              <a:rPr lang="es-ES" sz="2400" b="1" dirty="0">
                <a:sym typeface="Symbol" panose="05050102010706020507" pitchFamily="18" charset="2"/>
              </a:rPr>
              <a:t>gira</a:t>
            </a:r>
            <a:r>
              <a:rPr lang="es-ES" sz="2400" dirty="0">
                <a:sym typeface="Symbol" panose="05050102010706020507" pitchFamily="18" charset="2"/>
              </a:rPr>
              <a:t> la espira ante el imán, </a:t>
            </a:r>
            <a:r>
              <a:rPr lang="es-ES" sz="2400" b="1" dirty="0">
                <a:sym typeface="Symbol" panose="05050102010706020507" pitchFamily="18" charset="2"/>
              </a:rPr>
              <a:t>se induce</a:t>
            </a:r>
            <a:r>
              <a:rPr lang="es-ES" sz="2400" dirty="0">
                <a:sym typeface="Symbol" panose="05050102010706020507" pitchFamily="18" charset="2"/>
              </a:rPr>
              <a:t> corriente</a:t>
            </a:r>
          </a:p>
        </p:txBody>
      </p:sp>
      <p:sp>
        <p:nvSpPr>
          <p:cNvPr id="718854" name="Text Box 6"/>
          <p:cNvSpPr txBox="1">
            <a:spLocks noChangeArrowheads="1"/>
          </p:cNvSpPr>
          <p:nvPr/>
        </p:nvSpPr>
        <p:spPr bwMode="auto">
          <a:xfrm>
            <a:off x="1458930" y="4443649"/>
            <a:ext cx="8825501" cy="514738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8000" tIns="72000" rIns="108000" bIns="72000" anchor="ctr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 dirty="0">
                <a:sym typeface="Symbol" panose="05050102010706020507" pitchFamily="18" charset="2"/>
              </a:rPr>
              <a:t>Si </a:t>
            </a:r>
            <a:r>
              <a:rPr lang="es-ES" sz="2400" b="1" dirty="0">
                <a:sym typeface="Symbol" panose="05050102010706020507" pitchFamily="18" charset="2"/>
              </a:rPr>
              <a:t>se</a:t>
            </a:r>
            <a:r>
              <a:rPr lang="es-ES" sz="2400" dirty="0">
                <a:sym typeface="Symbol" panose="05050102010706020507" pitchFamily="18" charset="2"/>
              </a:rPr>
              <a:t> </a:t>
            </a:r>
            <a:r>
              <a:rPr lang="es-ES" sz="2400" b="1" dirty="0">
                <a:sym typeface="Symbol" panose="05050102010706020507" pitchFamily="18" charset="2"/>
              </a:rPr>
              <a:t>deforma</a:t>
            </a:r>
            <a:r>
              <a:rPr lang="es-ES" sz="2400" dirty="0">
                <a:sym typeface="Symbol" panose="05050102010706020507" pitchFamily="18" charset="2"/>
              </a:rPr>
              <a:t> la espira, </a:t>
            </a:r>
            <a:r>
              <a:rPr lang="es-ES" sz="2400" b="1" dirty="0">
                <a:sym typeface="Symbol" panose="05050102010706020507" pitchFamily="18" charset="2"/>
              </a:rPr>
              <a:t>se induce</a:t>
            </a:r>
            <a:r>
              <a:rPr lang="es-ES" sz="2400" dirty="0">
                <a:sym typeface="Symbol" panose="05050102010706020507" pitchFamily="18" charset="2"/>
              </a:rPr>
              <a:t> también corriente</a:t>
            </a:r>
          </a:p>
        </p:txBody>
      </p:sp>
      <p:sp>
        <p:nvSpPr>
          <p:cNvPr id="718855" name="Text Box 7"/>
          <p:cNvSpPr txBox="1">
            <a:spLocks noChangeArrowheads="1"/>
          </p:cNvSpPr>
          <p:nvPr/>
        </p:nvSpPr>
        <p:spPr bwMode="auto">
          <a:xfrm>
            <a:off x="2365226" y="6322997"/>
            <a:ext cx="6896220" cy="514738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8000" tIns="72000" rIns="108000" bIns="72000" anchor="ctr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 typeface="Symbol" panose="05050102010706020507" pitchFamily="18" charset="2"/>
              <a:buNone/>
            </a:pPr>
            <a:r>
              <a:rPr lang="es-ES" sz="2400">
                <a:sym typeface="Symbol" panose="05050102010706020507" pitchFamily="18" charset="2"/>
              </a:rPr>
              <a:t>Si se detiene el proceso, desaparece la corriente</a:t>
            </a: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20906F92-7363-4742-8A89-8A260D3C0750}"/>
              </a:ext>
            </a:extLst>
          </p:cNvPr>
          <p:cNvGrpSpPr/>
          <p:nvPr/>
        </p:nvGrpSpPr>
        <p:grpSpPr>
          <a:xfrm>
            <a:off x="7657067" y="2114752"/>
            <a:ext cx="531319" cy="562500"/>
            <a:chOff x="7146704" y="2114752"/>
            <a:chExt cx="531319" cy="562500"/>
          </a:xfrm>
        </p:grpSpPr>
        <p:sp>
          <p:nvSpPr>
            <p:cNvPr id="24" name="Rectángulo 23">
              <a:extLst>
                <a:ext uri="{FF2B5EF4-FFF2-40B4-BE49-F238E27FC236}">
                  <a16:creationId xmlns:a16="http://schemas.microsoft.com/office/drawing/2014/main" id="{D086F629-BEE2-4ACD-9D49-D0D790BBD177}"/>
                </a:ext>
              </a:extLst>
            </p:cNvPr>
            <p:cNvSpPr/>
            <p:nvPr/>
          </p:nvSpPr>
          <p:spPr bwMode="auto">
            <a:xfrm rot="21431307">
              <a:off x="7146704" y="2114752"/>
              <a:ext cx="531319" cy="562500"/>
            </a:xfrm>
            <a:prstGeom prst="rect">
              <a:avLst/>
            </a:prstGeom>
            <a:solidFill>
              <a:srgbClr val="FFFF00"/>
            </a:solidFill>
            <a:ln w="25400" cap="flat" cmpd="sng" algn="ctr">
              <a:noFill/>
              <a:prstDash val="solid"/>
              <a:round/>
              <a:headEnd type="none" w="med" len="med"/>
              <a:tailEnd type="none" w="lg" len="lg"/>
            </a:ln>
            <a:effectLst/>
          </p:spPr>
          <p:txBody>
            <a:bodyPr vert="horz" wrap="none" lIns="90000" tIns="82800" rIns="90000" bIns="82800" numCol="1" rtlCol="0" anchor="t" anchorCtr="1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grpSp>
          <p:nvGrpSpPr>
            <p:cNvPr id="23564" name="Group 15"/>
            <p:cNvGrpSpPr>
              <a:grpSpLocks/>
            </p:cNvGrpSpPr>
            <p:nvPr/>
          </p:nvGrpSpPr>
          <p:grpSpPr bwMode="auto">
            <a:xfrm rot="10415585">
              <a:off x="7263914" y="2176336"/>
              <a:ext cx="407988" cy="422275"/>
              <a:chOff x="1240" y="3526"/>
              <a:chExt cx="257" cy="266"/>
            </a:xfrm>
          </p:grpSpPr>
          <p:sp>
            <p:nvSpPr>
              <p:cNvPr id="23567" name="Line 16"/>
              <p:cNvSpPr>
                <a:spLocks noChangeShapeType="1"/>
              </p:cNvSpPr>
              <p:nvPr/>
            </p:nvSpPr>
            <p:spPr bwMode="auto">
              <a:xfrm flipH="1">
                <a:off x="1240" y="3526"/>
                <a:ext cx="257" cy="14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23568" name="Line 17"/>
              <p:cNvSpPr>
                <a:spLocks noChangeShapeType="1"/>
              </p:cNvSpPr>
              <p:nvPr/>
            </p:nvSpPr>
            <p:spPr bwMode="auto">
              <a:xfrm>
                <a:off x="1246" y="3685"/>
                <a:ext cx="251" cy="10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23569" name="Oval 18"/>
              <p:cNvSpPr>
                <a:spLocks noChangeArrowheads="1"/>
              </p:cNvSpPr>
              <p:nvPr/>
            </p:nvSpPr>
            <p:spPr bwMode="auto">
              <a:xfrm>
                <a:off x="1402" y="3562"/>
                <a:ext cx="56" cy="197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endParaRPr lang="en-US"/>
              </a:p>
            </p:txBody>
          </p:sp>
        </p:grpSp>
      </p:grpSp>
      <p:grpSp>
        <p:nvGrpSpPr>
          <p:cNvPr id="2" name="Grupo 1">
            <a:extLst>
              <a:ext uri="{FF2B5EF4-FFF2-40B4-BE49-F238E27FC236}">
                <a16:creationId xmlns:a16="http://schemas.microsoft.com/office/drawing/2014/main" id="{02B057F5-B796-4BCB-97E8-FC05C8307E90}"/>
              </a:ext>
            </a:extLst>
          </p:cNvPr>
          <p:cNvGrpSpPr/>
          <p:nvPr/>
        </p:nvGrpSpPr>
        <p:grpSpPr>
          <a:xfrm>
            <a:off x="3604725" y="1338136"/>
            <a:ext cx="4335464" cy="2368551"/>
            <a:chOff x="3604725" y="1338136"/>
            <a:chExt cx="4335464" cy="2368551"/>
          </a:xfrm>
        </p:grpSpPr>
        <p:sp>
          <p:nvSpPr>
            <p:cNvPr id="23562" name="Oval 9"/>
            <p:cNvSpPr>
              <a:spLocks noChangeArrowheads="1"/>
            </p:cNvSpPr>
            <p:nvPr/>
          </p:nvSpPr>
          <p:spPr bwMode="auto">
            <a:xfrm>
              <a:off x="6230451" y="1338136"/>
              <a:ext cx="539750" cy="2159001"/>
            </a:xfrm>
            <a:prstGeom prst="ellips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99FF">
                      <a:alpha val="50195"/>
                    </a:srgb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en-US"/>
            </a:p>
          </p:txBody>
        </p:sp>
        <p:grpSp>
          <p:nvGrpSpPr>
            <p:cNvPr id="23563" name="Group 10"/>
            <p:cNvGrpSpPr>
              <a:grpSpLocks/>
            </p:cNvGrpSpPr>
            <p:nvPr/>
          </p:nvGrpSpPr>
          <p:grpSpPr bwMode="auto">
            <a:xfrm>
              <a:off x="3696800" y="2027111"/>
              <a:ext cx="1863726" cy="725488"/>
              <a:chOff x="3842" y="1348"/>
              <a:chExt cx="1174" cy="457"/>
            </a:xfrm>
          </p:grpSpPr>
          <p:sp>
            <p:nvSpPr>
              <p:cNvPr id="23570" name="AutoShape 11"/>
              <p:cNvSpPr>
                <a:spLocks noChangeArrowheads="1"/>
              </p:cNvSpPr>
              <p:nvPr/>
            </p:nvSpPr>
            <p:spPr bwMode="auto">
              <a:xfrm>
                <a:off x="3842" y="1348"/>
                <a:ext cx="680" cy="453"/>
              </a:xfrm>
              <a:prstGeom prst="cube">
                <a:avLst>
                  <a:gd name="adj" fmla="val 41773"/>
                </a:avLst>
              </a:prstGeom>
              <a:solidFill>
                <a:srgbClr val="FF0000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endParaRPr lang="en-US"/>
              </a:p>
            </p:txBody>
          </p:sp>
          <p:sp>
            <p:nvSpPr>
              <p:cNvPr id="23571" name="AutoShape 12"/>
              <p:cNvSpPr>
                <a:spLocks noChangeArrowheads="1"/>
              </p:cNvSpPr>
              <p:nvPr/>
            </p:nvSpPr>
            <p:spPr bwMode="auto">
              <a:xfrm>
                <a:off x="4336" y="1348"/>
                <a:ext cx="680" cy="453"/>
              </a:xfrm>
              <a:prstGeom prst="cube">
                <a:avLst>
                  <a:gd name="adj" fmla="val 40296"/>
                </a:avLst>
              </a:prstGeom>
              <a:solidFill>
                <a:srgbClr val="3366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endParaRPr lang="en-US"/>
              </a:p>
            </p:txBody>
          </p:sp>
          <p:sp>
            <p:nvSpPr>
              <p:cNvPr id="23572" name="Text Box 13"/>
              <p:cNvSpPr txBox="1">
                <a:spLocks noChangeArrowheads="1"/>
              </p:cNvSpPr>
              <p:nvPr/>
            </p:nvSpPr>
            <p:spPr bwMode="auto">
              <a:xfrm>
                <a:off x="4441" y="1538"/>
                <a:ext cx="315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defTabSz="1008063"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836613" indent="-322263" defTabSz="1008063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285875" indent="-257175" defTabSz="1008063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800225" indent="-257175" defTabSz="1008063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314575" indent="-257175" defTabSz="1008063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771775" indent="-257175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3228975" indent="-257175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686175" indent="-257175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4143375" indent="-257175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000" b="1">
                    <a:solidFill>
                      <a:srgbClr val="FFFFFF"/>
                    </a:solidFill>
                    <a:latin typeface="Arial" panose="020B0604020202020204" pitchFamily="34" charset="0"/>
                  </a:rPr>
                  <a:t>S</a:t>
                </a:r>
              </a:p>
            </p:txBody>
          </p:sp>
          <p:sp>
            <p:nvSpPr>
              <p:cNvPr id="23573" name="Text Box 14"/>
              <p:cNvSpPr txBox="1">
                <a:spLocks noChangeArrowheads="1"/>
              </p:cNvSpPr>
              <p:nvPr/>
            </p:nvSpPr>
            <p:spPr bwMode="auto">
              <a:xfrm>
                <a:off x="3923" y="1542"/>
                <a:ext cx="315" cy="2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defTabSz="1008063"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836613" indent="-322263" defTabSz="1008063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285875" indent="-257175" defTabSz="1008063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800225" indent="-257175" defTabSz="1008063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314575" indent="-257175" defTabSz="1008063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771775" indent="-257175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3228975" indent="-257175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686175" indent="-257175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4143375" indent="-257175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000" b="1">
                    <a:solidFill>
                      <a:srgbClr val="FFFFFF"/>
                    </a:solidFill>
                    <a:latin typeface="Arial" panose="020B0604020202020204" pitchFamily="34" charset="0"/>
                  </a:rPr>
                  <a:t>N</a:t>
                </a:r>
              </a:p>
            </p:txBody>
          </p:sp>
        </p:grpSp>
        <p:sp>
          <p:nvSpPr>
            <p:cNvPr id="23565" name="Text Box 19"/>
            <p:cNvSpPr txBox="1">
              <a:spLocks noChangeArrowheads="1"/>
            </p:cNvSpPr>
            <p:nvPr/>
          </p:nvSpPr>
          <p:spPr bwMode="auto">
            <a:xfrm>
              <a:off x="6884501" y="2914524"/>
              <a:ext cx="1055688" cy="5365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>
                  <a:solidFill>
                    <a:srgbClr val="3333FF"/>
                  </a:solidFill>
                </a:rPr>
                <a:t>Espira</a:t>
              </a:r>
            </a:p>
          </p:txBody>
        </p:sp>
        <p:sp>
          <p:nvSpPr>
            <p:cNvPr id="23566" name="Text Box 20"/>
            <p:cNvSpPr txBox="1">
              <a:spLocks noChangeArrowheads="1"/>
            </p:cNvSpPr>
            <p:nvPr/>
          </p:nvSpPr>
          <p:spPr bwMode="auto">
            <a:xfrm>
              <a:off x="3604725" y="2838324"/>
              <a:ext cx="2438401" cy="8683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70000"/>
                </a:lnSpc>
                <a:spcBef>
                  <a:spcPct val="50000"/>
                </a:spcBef>
              </a:pPr>
              <a:r>
                <a:rPr lang="es-ES" sz="2400">
                  <a:solidFill>
                    <a:srgbClr val="3333FF"/>
                  </a:solidFill>
                </a:rPr>
                <a:t>Imán</a:t>
              </a:r>
            </a:p>
            <a:p>
              <a:pPr eaLnBrk="1" hangingPunct="1">
                <a:lnSpc>
                  <a:spcPct val="70000"/>
                </a:lnSpc>
                <a:spcBef>
                  <a:spcPct val="50000"/>
                </a:spcBef>
              </a:pPr>
              <a:r>
                <a:rPr lang="es-ES" sz="2400">
                  <a:solidFill>
                    <a:srgbClr val="3333FF"/>
                  </a:solidFill>
                </a:rPr>
                <a:t>(o Bobina con </a:t>
              </a:r>
              <a:r>
                <a:rPr lang="es-ES" sz="2400">
                  <a:solidFill>
                    <a:srgbClr val="3333FF"/>
                  </a:solidFill>
                  <a:latin typeface="Comic Sans MS" panose="030F0702030302020204" pitchFamily="66" charset="0"/>
                </a:rPr>
                <a:t>I</a:t>
              </a:r>
              <a:r>
                <a:rPr lang="es-ES" sz="2400">
                  <a:solidFill>
                    <a:srgbClr val="3333FF"/>
                  </a:solidFill>
                </a:rPr>
                <a:t>)</a:t>
              </a:r>
            </a:p>
          </p:txBody>
        </p:sp>
      </p:grpSp>
      <p:sp>
        <p:nvSpPr>
          <p:cNvPr id="23560" name="Rectangle 60"/>
          <p:cNvSpPr>
            <a:spLocks noChangeArrowheads="1"/>
          </p:cNvSpPr>
          <p:nvPr/>
        </p:nvSpPr>
        <p:spPr bwMode="auto">
          <a:xfrm>
            <a:off x="1285183" y="373510"/>
            <a:ext cx="4522787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569" tIns="49785" rIns="99569" bIns="49785" anchor="ctr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solidFill>
                  <a:srgbClr val="CC0000"/>
                </a:solidFill>
                <a:latin typeface="Arial" panose="020B0604020202020204" pitchFamily="34" charset="0"/>
              </a:rPr>
              <a:t>5.4.3 FEM POR MOVIMIENTO</a:t>
            </a:r>
          </a:p>
        </p:txBody>
      </p:sp>
      <p:sp>
        <p:nvSpPr>
          <p:cNvPr id="22" name="Text Box 6"/>
          <p:cNvSpPr txBox="1">
            <a:spLocks noChangeArrowheads="1"/>
          </p:cNvSpPr>
          <p:nvPr/>
        </p:nvSpPr>
        <p:spPr bwMode="auto">
          <a:xfrm>
            <a:off x="1458930" y="5061368"/>
            <a:ext cx="8825501" cy="514738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8000" tIns="72000" rIns="108000" bIns="72000" anchor="ctr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 dirty="0">
                <a:sym typeface="Symbol" panose="05050102010706020507" pitchFamily="18" charset="2"/>
              </a:rPr>
              <a:t>Si </a:t>
            </a:r>
            <a:r>
              <a:rPr lang="es-ES" sz="2400" b="1" dirty="0">
                <a:sym typeface="Symbol" panose="05050102010706020507" pitchFamily="18" charset="2"/>
              </a:rPr>
              <a:t>se desplaza</a:t>
            </a:r>
            <a:r>
              <a:rPr lang="es-ES" sz="2400" dirty="0">
                <a:sym typeface="Symbol" panose="05050102010706020507" pitchFamily="18" charset="2"/>
              </a:rPr>
              <a:t>, siendo </a:t>
            </a:r>
            <a:r>
              <a:rPr lang="es-ES" sz="2400" b="1" dirty="0">
                <a:sym typeface="Symbol" panose="05050102010706020507" pitchFamily="18" charset="2"/>
              </a:rPr>
              <a:t>B</a:t>
            </a:r>
            <a:r>
              <a:rPr lang="es-ES" sz="2400" dirty="0">
                <a:sym typeface="Symbol" panose="05050102010706020507" pitchFamily="18" charset="2"/>
              </a:rPr>
              <a:t> </a:t>
            </a:r>
            <a:r>
              <a:rPr lang="es-ES" sz="2400" b="1" dirty="0">
                <a:sym typeface="Symbol" panose="05050102010706020507" pitchFamily="18" charset="2"/>
              </a:rPr>
              <a:t>no uniforme</a:t>
            </a:r>
            <a:r>
              <a:rPr lang="es-ES" sz="2400" dirty="0">
                <a:sym typeface="Symbol" panose="05050102010706020507" pitchFamily="18" charset="2"/>
              </a:rPr>
              <a:t>, </a:t>
            </a:r>
            <a:r>
              <a:rPr lang="es-ES" sz="2400" b="1" dirty="0">
                <a:sym typeface="Symbol" panose="05050102010706020507" pitchFamily="18" charset="2"/>
              </a:rPr>
              <a:t>se induce</a:t>
            </a:r>
            <a:r>
              <a:rPr lang="es-ES" sz="2400" dirty="0">
                <a:sym typeface="Symbol" panose="05050102010706020507" pitchFamily="18" charset="2"/>
              </a:rPr>
              <a:t> corriente</a:t>
            </a:r>
          </a:p>
        </p:txBody>
      </p:sp>
      <p:sp>
        <p:nvSpPr>
          <p:cNvPr id="23" name="Text Box 119"/>
          <p:cNvSpPr txBox="1">
            <a:spLocks noChangeArrowheads="1"/>
          </p:cNvSpPr>
          <p:nvPr/>
        </p:nvSpPr>
        <p:spPr bwMode="auto">
          <a:xfrm>
            <a:off x="1442268" y="1163460"/>
            <a:ext cx="2359722" cy="514738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108000" tIns="72000" rIns="108000" bIns="72000" anchor="ctr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es-ES" sz="2400" dirty="0">
                <a:sym typeface="Symbol" panose="05050102010706020507" pitchFamily="18" charset="2"/>
              </a:rPr>
              <a:t>Fenomenología</a:t>
            </a:r>
          </a:p>
        </p:txBody>
      </p:sp>
      <p:sp>
        <p:nvSpPr>
          <p:cNvPr id="25" name="Text Box 119">
            <a:extLst>
              <a:ext uri="{FF2B5EF4-FFF2-40B4-BE49-F238E27FC236}">
                <a16:creationId xmlns:a16="http://schemas.microsoft.com/office/drawing/2014/main" id="{7BD4CD7C-857C-41DB-BE83-DAE91296BF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1780" y="331997"/>
            <a:ext cx="4518673" cy="884070"/>
          </a:xfrm>
          <a:prstGeom prst="rect">
            <a:avLst/>
          </a:prstGeom>
          <a:noFill/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108000" tIns="72000" rIns="108000" bIns="72000" anchor="ctr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es-ES" sz="2400" dirty="0">
                <a:solidFill>
                  <a:srgbClr val="FF0000"/>
                </a:solidFill>
                <a:sym typeface="Symbol" panose="05050102010706020507" pitchFamily="18" charset="2"/>
              </a:rPr>
              <a:t>(generación </a:t>
            </a:r>
            <a:r>
              <a:rPr lang="es-ES" sz="2400">
                <a:solidFill>
                  <a:srgbClr val="FF0000"/>
                </a:solidFill>
                <a:sym typeface="Symbol" panose="05050102010706020507" pitchFamily="18" charset="2"/>
              </a:rPr>
              <a:t>de un voltaje </a:t>
            </a:r>
            <a:r>
              <a:rPr lang="es-ES" sz="2400" dirty="0">
                <a:solidFill>
                  <a:srgbClr val="FF0000"/>
                </a:solidFill>
                <a:sym typeface="Symbol" panose="05050102010706020507" pitchFamily="18" charset="2"/>
              </a:rPr>
              <a:t>por movimiento de cargas en un </a:t>
            </a:r>
            <a:r>
              <a:rPr lang="es-ES" sz="2400" b="1" dirty="0">
                <a:solidFill>
                  <a:srgbClr val="FF0000"/>
                </a:solidFill>
                <a:sym typeface="Symbol" panose="05050102010706020507" pitchFamily="18" charset="2"/>
              </a:rPr>
              <a:t>B</a:t>
            </a:r>
            <a:r>
              <a:rPr lang="es-ES" sz="2400" dirty="0">
                <a:solidFill>
                  <a:srgbClr val="FF0000"/>
                </a:solidFill>
                <a:sym typeface="Symbol" panose="05050102010706020507" pitchFamily="18" charset="2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718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718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7188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718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7188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718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718852" grpId="0" animBg="1"/>
      <p:bldP spid="718853" grpId="0" animBg="1"/>
      <p:bldP spid="718854" grpId="0" animBg="1"/>
      <p:bldP spid="718855" grpId="0" animBg="1"/>
      <p:bldP spid="22" grpId="0" animBg="1"/>
      <p:bldP spid="23" grpId="0" animBg="1"/>
      <p:bldP spid="2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252" name="Text Box 76"/>
          <p:cNvSpPr txBox="1">
            <a:spLocks noChangeArrowheads="1"/>
          </p:cNvSpPr>
          <p:nvPr/>
        </p:nvSpPr>
        <p:spPr bwMode="auto">
          <a:xfrm>
            <a:off x="2327585" y="114703"/>
            <a:ext cx="8338715" cy="2159283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216000" tIns="154800" rIns="216000" bIns="154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Con la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Ley de Inducción, en forma integral </a:t>
            </a:r>
            <a:r>
              <a:rPr lang="es-ES" sz="2400" dirty="0">
                <a:latin typeface="Arial" panose="020B0604020202020204" pitchFamily="34" charset="0"/>
              </a:rPr>
              <a:t>(referida a un conjunto de puntos), como la vemos, se puede calcular la corriente que aparece en una espira conductora que gira, </a:t>
            </a:r>
            <a:r>
              <a:rPr lang="es-ES" sz="2400">
                <a:latin typeface="Arial" panose="020B0604020202020204" pitchFamily="34" charset="0"/>
              </a:rPr>
              <a:t>se desplaza, o se deforma, </a:t>
            </a:r>
            <a:r>
              <a:rPr lang="es-ES" sz="2400" dirty="0">
                <a:latin typeface="Arial" panose="020B0604020202020204" pitchFamily="34" charset="0"/>
              </a:rPr>
              <a:t>en un campo </a:t>
            </a:r>
            <a:r>
              <a:rPr lang="es-ES" sz="2400">
                <a:latin typeface="Arial" panose="020B0604020202020204" pitchFamily="34" charset="0"/>
              </a:rPr>
              <a:t>magnético,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así como el voltaje </a:t>
            </a:r>
            <a:r>
              <a:rPr lang="es-ES" sz="2400" dirty="0">
                <a:latin typeface="Arial" panose="020B0604020202020204" pitchFamily="34" charset="0"/>
              </a:rPr>
              <a:t>que aparece y que la provoca</a:t>
            </a:r>
          </a:p>
        </p:txBody>
      </p:sp>
      <p:sp>
        <p:nvSpPr>
          <p:cNvPr id="51208" name="Text Box 100"/>
          <p:cNvSpPr txBox="1">
            <a:spLocks noChangeArrowheads="1"/>
          </p:cNvSpPr>
          <p:nvPr/>
        </p:nvSpPr>
        <p:spPr bwMode="auto">
          <a:xfrm>
            <a:off x="1602376" y="3527550"/>
            <a:ext cx="8338715" cy="905881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216000" tIns="82800" rIns="216000" bIns="82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 dirty="0">
                <a:latin typeface="Arial" panose="020B0604020202020204" pitchFamily="34" charset="0"/>
              </a:rPr>
              <a:t>La ecuación funciona porque aparece la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variación de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</a:t>
            </a:r>
            <a:r>
              <a:rPr lang="es-ES" sz="2400" b="1" baseline="-25000" dirty="0">
                <a:solidFill>
                  <a:srgbClr val="3333FF"/>
                </a:solidFill>
                <a:latin typeface="Arial" panose="020B0604020202020204" pitchFamily="34" charset="0"/>
              </a:rPr>
              <a:t>B</a:t>
            </a:r>
            <a:r>
              <a:rPr lang="es-ES" sz="2400" dirty="0">
                <a:latin typeface="Arial" panose="020B0604020202020204" pitchFamily="34" charset="0"/>
              </a:rPr>
              <a:t>, </a:t>
            </a:r>
            <a:r>
              <a:rPr lang="es-ES" sz="2400">
                <a:latin typeface="Arial" panose="020B0604020202020204" pitchFamily="34" charset="0"/>
              </a:rPr>
              <a:t>que se evalúa en </a:t>
            </a:r>
            <a:r>
              <a:rPr lang="es-ES" sz="2400" dirty="0">
                <a:latin typeface="Arial" panose="020B0604020202020204" pitchFamily="34" charset="0"/>
              </a:rPr>
              <a:t>una superficie, y no la de </a:t>
            </a:r>
            <a:r>
              <a:rPr lang="es-ES" sz="2400" b="1" dirty="0">
                <a:latin typeface="Arial" panose="020B0604020202020204" pitchFamily="34" charset="0"/>
              </a:rPr>
              <a:t>B</a:t>
            </a:r>
            <a:r>
              <a:rPr lang="es-ES" sz="2400" dirty="0">
                <a:latin typeface="Arial" panose="020B0604020202020204" pitchFamily="34" charset="0"/>
              </a:rPr>
              <a:t> en </a:t>
            </a:r>
            <a:r>
              <a:rPr lang="es-ES" sz="2400">
                <a:latin typeface="Arial" panose="020B0604020202020204" pitchFamily="34" charset="0"/>
              </a:rPr>
              <a:t>un punto</a:t>
            </a:r>
            <a:endParaRPr lang="es-ES" sz="2400" dirty="0">
              <a:latin typeface="Arial" panose="020B0604020202020204" pitchFamily="34" charset="0"/>
            </a:endParaRPr>
          </a:p>
        </p:txBody>
      </p:sp>
      <p:sp>
        <p:nvSpPr>
          <p:cNvPr id="25610" name="Text Box 117"/>
          <p:cNvSpPr txBox="1">
            <a:spLocks noChangeArrowheads="1"/>
          </p:cNvSpPr>
          <p:nvPr/>
        </p:nvSpPr>
        <p:spPr bwMode="auto">
          <a:xfrm>
            <a:off x="1612886" y="2545211"/>
            <a:ext cx="8338716" cy="90588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216000" tIns="82800" rIns="216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Pero </a:t>
            </a:r>
            <a:r>
              <a:rPr lang="es-ES" sz="2400" dirty="0">
                <a:solidFill>
                  <a:srgbClr val="008000"/>
                </a:solidFill>
                <a:latin typeface="Arial" panose="020B0604020202020204" pitchFamily="34" charset="0"/>
              </a:rPr>
              <a:t>no son fenómenos de inducción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 </a:t>
            </a:r>
            <a:r>
              <a:rPr lang="es-ES" sz="2400" dirty="0">
                <a:latin typeface="Arial" panose="020B0604020202020204" pitchFamily="34" charset="0"/>
              </a:rPr>
              <a:t>porque no varía </a:t>
            </a:r>
            <a:r>
              <a:rPr lang="es-ES" sz="2400" b="1" dirty="0">
                <a:latin typeface="Arial" panose="020B0604020202020204" pitchFamily="34" charset="0"/>
              </a:rPr>
              <a:t>B</a:t>
            </a:r>
            <a:r>
              <a:rPr lang="es-ES" sz="2400" dirty="0">
                <a:latin typeface="Arial" panose="020B0604020202020204" pitchFamily="34" charset="0"/>
              </a:rPr>
              <a:t>, y por tanto, aunque se calculen, no hay </a:t>
            </a:r>
            <a:r>
              <a:rPr lang="es-ES" sz="2400" b="1" dirty="0">
                <a:latin typeface="Arial" panose="020B0604020202020204" pitchFamily="34" charset="0"/>
              </a:rPr>
              <a:t>E</a:t>
            </a:r>
            <a:r>
              <a:rPr lang="es-ES" sz="2400" dirty="0">
                <a:latin typeface="Arial" panose="020B0604020202020204" pitchFamily="34" charset="0"/>
              </a:rPr>
              <a:t>, ni </a:t>
            </a:r>
            <a:r>
              <a:rPr lang="es-ES" sz="2400" dirty="0" err="1">
                <a:latin typeface="Arial" panose="020B0604020202020204" pitchFamily="34" charset="0"/>
              </a:rPr>
              <a:t>fem</a:t>
            </a:r>
            <a:r>
              <a:rPr lang="es-ES" sz="2400" dirty="0">
                <a:latin typeface="Arial" panose="020B0604020202020204" pitchFamily="34" charset="0"/>
              </a:rPr>
              <a:t> inducidos</a:t>
            </a:r>
          </a:p>
        </p:txBody>
      </p:sp>
      <p:sp>
        <p:nvSpPr>
          <p:cNvPr id="51226" name="Text Box 26"/>
          <p:cNvSpPr txBox="1">
            <a:spLocks noChangeArrowheads="1"/>
          </p:cNvSpPr>
          <p:nvPr/>
        </p:nvSpPr>
        <p:spPr bwMode="auto">
          <a:xfrm>
            <a:off x="2260815" y="6069825"/>
            <a:ext cx="7028148" cy="905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sz="2400" dirty="0">
                <a:solidFill>
                  <a:srgbClr val="FF0000"/>
                </a:solidFill>
              </a:rPr>
              <a:t>Vamos a </a:t>
            </a:r>
            <a:r>
              <a:rPr lang="es-ES" sz="2400">
                <a:solidFill>
                  <a:srgbClr val="FF0000"/>
                </a:solidFill>
              </a:rPr>
              <a:t>ver deformación y giro en clase, </a:t>
            </a:r>
            <a:r>
              <a:rPr lang="es-ES" sz="2400" dirty="0">
                <a:solidFill>
                  <a:srgbClr val="FF0000"/>
                </a:solidFill>
              </a:rPr>
              <a:t>y en la 2ª sesión de problemas desplazamiento (</a:t>
            </a:r>
            <a:r>
              <a:rPr lang="es-ES" sz="2400" dirty="0" err="1">
                <a:solidFill>
                  <a:srgbClr val="FF0000"/>
                </a:solidFill>
              </a:rPr>
              <a:t>Prob</a:t>
            </a:r>
            <a:r>
              <a:rPr lang="es-ES" sz="2400" dirty="0">
                <a:solidFill>
                  <a:srgbClr val="FF0000"/>
                </a:solidFill>
              </a:rPr>
              <a:t>. 11)</a:t>
            </a:r>
          </a:p>
        </p:txBody>
      </p:sp>
      <p:sp>
        <p:nvSpPr>
          <p:cNvPr id="6" name="Text Box 100">
            <a:extLst>
              <a:ext uri="{FF2B5EF4-FFF2-40B4-BE49-F238E27FC236}">
                <a16:creationId xmlns:a16="http://schemas.microsoft.com/office/drawing/2014/main" id="{9583EB12-C20C-47D1-87AD-A990DF688D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1680" y="4516333"/>
            <a:ext cx="8338715" cy="164454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216000" tIns="82800" rIns="216000" bIns="82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>
                <a:latin typeface="Arial" panose="020B0604020202020204" pitchFamily="34" charset="0"/>
              </a:rPr>
              <a:t>Se puede </a:t>
            </a: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</a:rPr>
              <a:t>interpretar, matemáticamente</a:t>
            </a:r>
            <a:r>
              <a:rPr lang="es-ES" sz="2400">
                <a:latin typeface="Arial" panose="020B0604020202020204" pitchFamily="34" charset="0"/>
              </a:rPr>
              <a:t>, </a:t>
            </a:r>
            <a:r>
              <a:rPr lang="es-ES" sz="2400" dirty="0">
                <a:latin typeface="Arial" panose="020B0604020202020204" pitchFamily="34" charset="0"/>
              </a:rPr>
              <a:t>que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</a:t>
            </a:r>
            <a:r>
              <a:rPr lang="es-ES" sz="2400" b="1" baseline="-25000" dirty="0">
                <a:latin typeface="Arial" panose="020B0604020202020204" pitchFamily="34" charset="0"/>
              </a:rPr>
              <a:t>B</a:t>
            </a:r>
            <a:r>
              <a:rPr lang="es-ES" sz="2400" dirty="0">
                <a:latin typeface="Arial" panose="020B0604020202020204" pitchFamily="34" charset="0"/>
              </a:rPr>
              <a:t> no varía por cambios de la superficie considerada respecto a </a:t>
            </a:r>
            <a:r>
              <a:rPr lang="es-ES" sz="2400" b="1" dirty="0">
                <a:latin typeface="Arial" panose="020B0604020202020204" pitchFamily="34" charset="0"/>
              </a:rPr>
              <a:t>B</a:t>
            </a:r>
            <a:r>
              <a:rPr lang="es-ES" sz="2400" dirty="0">
                <a:latin typeface="Arial" panose="020B0604020202020204" pitchFamily="34" charset="0"/>
              </a:rPr>
              <a:t>, sino que lo </a:t>
            </a:r>
            <a:r>
              <a:rPr lang="es-ES" sz="2400">
                <a:latin typeface="Arial" panose="020B0604020202020204" pitchFamily="34" charset="0"/>
              </a:rPr>
              <a:t>hace porque </a:t>
            </a:r>
            <a:r>
              <a:rPr lang="es-ES" sz="2400" b="1">
                <a:latin typeface="Arial" panose="020B0604020202020204" pitchFamily="34" charset="0"/>
              </a:rPr>
              <a:t>B</a:t>
            </a:r>
            <a:r>
              <a:rPr lang="es-ES" sz="2400">
                <a:latin typeface="Arial" panose="020B0604020202020204" pitchFamily="34" charset="0"/>
              </a:rPr>
              <a:t>, </a:t>
            </a:r>
            <a:r>
              <a:rPr lang="es-ES" sz="2400" dirty="0">
                <a:latin typeface="Arial" panose="020B0604020202020204" pitchFamily="34" charset="0"/>
              </a:rPr>
              <a:t>o rota, o </a:t>
            </a:r>
            <a:r>
              <a:rPr lang="es-ES" sz="2400">
                <a:latin typeface="Arial" panose="020B0604020202020204" pitchFamily="34" charset="0"/>
              </a:rPr>
              <a:t>se desplaza </a:t>
            </a:r>
            <a:r>
              <a:rPr lang="es-ES" sz="2400" dirty="0">
                <a:latin typeface="Arial" panose="020B0604020202020204" pitchFamily="34" charset="0"/>
              </a:rPr>
              <a:t>respecto a la </a:t>
            </a:r>
            <a:r>
              <a:rPr lang="es-ES" sz="2400">
                <a:latin typeface="Arial" panose="020B0604020202020204" pitchFamily="34" charset="0"/>
              </a:rPr>
              <a:t>superficie, o es el </a:t>
            </a:r>
            <a:r>
              <a:rPr lang="es-ES" sz="2400" dirty="0">
                <a:latin typeface="Arial" panose="020B0604020202020204" pitchFamily="34" charset="0"/>
              </a:rPr>
              <a:t>que cambia en ella</a:t>
            </a:r>
          </a:p>
        </p:txBody>
      </p:sp>
      <p:grpSp>
        <p:nvGrpSpPr>
          <p:cNvPr id="9" name="Group 28">
            <a:extLst>
              <a:ext uri="{FF2B5EF4-FFF2-40B4-BE49-F238E27FC236}">
                <a16:creationId xmlns:a16="http://schemas.microsoft.com/office/drawing/2014/main" id="{71B93ACA-F404-3266-26AE-29186B6F38E7}"/>
              </a:ext>
            </a:extLst>
          </p:cNvPr>
          <p:cNvGrpSpPr>
            <a:grpSpLocks/>
          </p:cNvGrpSpPr>
          <p:nvPr/>
        </p:nvGrpSpPr>
        <p:grpSpPr bwMode="auto">
          <a:xfrm>
            <a:off x="374670" y="1424221"/>
            <a:ext cx="2413000" cy="1057275"/>
            <a:chOff x="1065" y="2809"/>
            <a:chExt cx="1520" cy="666"/>
          </a:xfrm>
        </p:grpSpPr>
        <p:sp>
          <p:nvSpPr>
            <p:cNvPr id="10" name="Rectangle 29">
              <a:extLst>
                <a:ext uri="{FF2B5EF4-FFF2-40B4-BE49-F238E27FC236}">
                  <a16:creationId xmlns:a16="http://schemas.microsoft.com/office/drawing/2014/main" id="{379B8F0A-6479-4624-95D6-9BD09E64A6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5" y="2809"/>
              <a:ext cx="1520" cy="664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/>
            </a:p>
          </p:txBody>
        </p:sp>
        <p:graphicFrame>
          <p:nvGraphicFramePr>
            <p:cNvPr id="11" name="Object 30">
              <a:extLst>
                <a:ext uri="{FF2B5EF4-FFF2-40B4-BE49-F238E27FC236}">
                  <a16:creationId xmlns:a16="http://schemas.microsoft.com/office/drawing/2014/main" id="{424F67C2-22C1-5A03-1187-6A9B9A970A7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102" y="2818"/>
            <a:ext cx="1404" cy="6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3" imgW="939392" imgH="444307" progId="Equation.3">
                    <p:embed/>
                  </p:oleObj>
                </mc:Choice>
                <mc:Fallback>
                  <p:oleObj name="Ecuación" r:id="rId3" imgW="939392" imgH="444307" progId="Equation.3">
                    <p:embed/>
                    <p:pic>
                      <p:nvPicPr>
                        <p:cNvPr id="33830" name="Object 30">
                          <a:extLst>
                            <a:ext uri="{FF2B5EF4-FFF2-40B4-BE49-F238E27FC236}">
                              <a16:creationId xmlns:a16="http://schemas.microsoft.com/office/drawing/2014/main" id="{8E767B5D-C09D-DFA3-E245-757C405870C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02" y="2818"/>
                          <a:ext cx="1404" cy="6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" name="Grupo 11">
            <a:extLst>
              <a:ext uri="{FF2B5EF4-FFF2-40B4-BE49-F238E27FC236}">
                <a16:creationId xmlns:a16="http://schemas.microsoft.com/office/drawing/2014/main" id="{432AECA2-83CC-158F-0E5A-3D2E9B6FE4C7}"/>
              </a:ext>
            </a:extLst>
          </p:cNvPr>
          <p:cNvGrpSpPr/>
          <p:nvPr/>
        </p:nvGrpSpPr>
        <p:grpSpPr>
          <a:xfrm>
            <a:off x="389901" y="181809"/>
            <a:ext cx="1870914" cy="1159510"/>
            <a:chOff x="2424289" y="1256983"/>
            <a:chExt cx="1870914" cy="1159510"/>
          </a:xfrm>
        </p:grpSpPr>
        <p:sp>
          <p:nvSpPr>
            <p:cNvPr id="13" name="Rectangle 20">
              <a:extLst>
                <a:ext uri="{FF2B5EF4-FFF2-40B4-BE49-F238E27FC236}">
                  <a16:creationId xmlns:a16="http://schemas.microsoft.com/office/drawing/2014/main" id="{8FE257B0-35F0-FD6A-0BA6-DF92DC857B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4289" y="1256983"/>
              <a:ext cx="1870914" cy="1159510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/>
            </a:p>
          </p:txBody>
        </p:sp>
        <p:graphicFrame>
          <p:nvGraphicFramePr>
            <p:cNvPr id="14" name="Object 21">
              <a:extLst>
                <a:ext uri="{FF2B5EF4-FFF2-40B4-BE49-F238E27FC236}">
                  <a16:creationId xmlns:a16="http://schemas.microsoft.com/office/drawing/2014/main" id="{AFDDEFDE-0B28-8444-32DB-989FF96B646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3806229"/>
                </p:ext>
              </p:extLst>
            </p:nvPr>
          </p:nvGraphicFramePr>
          <p:xfrm>
            <a:off x="2497938" y="1322824"/>
            <a:ext cx="1717675" cy="1028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5" imgW="672840" imgH="406080" progId="Equation.3">
                    <p:embed/>
                  </p:oleObj>
                </mc:Choice>
                <mc:Fallback>
                  <p:oleObj name="Ecuación" r:id="rId5" imgW="672840" imgH="406080" progId="Equation.3">
                    <p:embed/>
                    <p:pic>
                      <p:nvPicPr>
                        <p:cNvPr id="21529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97938" y="1322824"/>
                          <a:ext cx="1717675" cy="10287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90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5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1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51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51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0252" grpId="0" animBg="1"/>
      <p:bldP spid="51208" grpId="0" animBg="1"/>
      <p:bldP spid="25610" grpId="0" animBg="1"/>
      <p:bldP spid="51226" grpId="0"/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o 10">
            <a:extLst>
              <a:ext uri="{FF2B5EF4-FFF2-40B4-BE49-F238E27FC236}">
                <a16:creationId xmlns:a16="http://schemas.microsoft.com/office/drawing/2014/main" id="{97BBE3EA-D938-4855-97FB-088677B512D1}"/>
              </a:ext>
            </a:extLst>
          </p:cNvPr>
          <p:cNvGrpSpPr/>
          <p:nvPr/>
        </p:nvGrpSpPr>
        <p:grpSpPr>
          <a:xfrm>
            <a:off x="1207107" y="529225"/>
            <a:ext cx="4473575" cy="2963592"/>
            <a:chOff x="1236842" y="62914"/>
            <a:chExt cx="4473575" cy="2963592"/>
          </a:xfrm>
        </p:grpSpPr>
        <p:sp>
          <p:nvSpPr>
            <p:cNvPr id="27650" name="Text Box 2"/>
            <p:cNvSpPr txBox="1">
              <a:spLocks noChangeArrowheads="1"/>
            </p:cNvSpPr>
            <p:nvPr/>
          </p:nvSpPr>
          <p:spPr bwMode="auto">
            <a:xfrm>
              <a:off x="1257479" y="804006"/>
              <a:ext cx="4308475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latin typeface="Arial" panose="020B0604020202020204" pitchFamily="34" charset="0"/>
                </a:rPr>
                <a:t>x  x  x  x  x  x  x  x  x  x  x  x  x  x  x</a:t>
              </a:r>
            </a:p>
          </p:txBody>
        </p:sp>
        <p:sp>
          <p:nvSpPr>
            <p:cNvPr id="27651" name="Line 5"/>
            <p:cNvSpPr>
              <a:spLocks noChangeShapeType="1"/>
            </p:cNvSpPr>
            <p:nvPr/>
          </p:nvSpPr>
          <p:spPr bwMode="auto">
            <a:xfrm flipH="1">
              <a:off x="1657529" y="1223106"/>
              <a:ext cx="0" cy="142240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Ctr="1"/>
            <a:lstStyle/>
            <a:p>
              <a:endParaRPr lang="en-GB"/>
            </a:p>
          </p:txBody>
        </p:sp>
        <p:sp>
          <p:nvSpPr>
            <p:cNvPr id="27652" name="Line 6"/>
            <p:cNvSpPr>
              <a:spLocks noChangeShapeType="1"/>
            </p:cNvSpPr>
            <p:nvPr/>
          </p:nvSpPr>
          <p:spPr bwMode="auto">
            <a:xfrm>
              <a:off x="5364342" y="1210406"/>
              <a:ext cx="0" cy="1446212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 type="stealth" w="lg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Ctr="1"/>
            <a:lstStyle/>
            <a:p>
              <a:endParaRPr lang="en-GB"/>
            </a:p>
          </p:txBody>
        </p:sp>
        <p:sp>
          <p:nvSpPr>
            <p:cNvPr id="27653" name="Text Box 7"/>
            <p:cNvSpPr txBox="1">
              <a:spLocks noChangeArrowheads="1"/>
            </p:cNvSpPr>
            <p:nvPr/>
          </p:nvSpPr>
          <p:spPr bwMode="auto">
            <a:xfrm>
              <a:off x="5388154" y="1680306"/>
              <a:ext cx="322263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Arial" panose="020B0604020202020204" pitchFamily="34" charset="0"/>
                </a:rPr>
                <a:t>L</a:t>
              </a:r>
            </a:p>
          </p:txBody>
        </p:sp>
        <p:sp>
          <p:nvSpPr>
            <p:cNvPr id="27654" name="Text Box 8"/>
            <p:cNvSpPr txBox="1">
              <a:spLocks noChangeArrowheads="1"/>
            </p:cNvSpPr>
            <p:nvPr/>
          </p:nvSpPr>
          <p:spPr bwMode="auto">
            <a:xfrm>
              <a:off x="1240017" y="1142143"/>
              <a:ext cx="4308475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latin typeface="Arial" panose="020B0604020202020204" pitchFamily="34" charset="0"/>
                </a:rPr>
                <a:t>x  x  x  x  x  x  x  x  x  x  x  x  x  x  x</a:t>
              </a:r>
            </a:p>
          </p:txBody>
        </p:sp>
        <p:sp>
          <p:nvSpPr>
            <p:cNvPr id="27655" name="Text Box 9"/>
            <p:cNvSpPr txBox="1">
              <a:spLocks noChangeArrowheads="1"/>
            </p:cNvSpPr>
            <p:nvPr/>
          </p:nvSpPr>
          <p:spPr bwMode="auto">
            <a:xfrm>
              <a:off x="1244779" y="1502506"/>
              <a:ext cx="4308475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latin typeface="Arial" panose="020B0604020202020204" pitchFamily="34" charset="0"/>
                </a:rPr>
                <a:t>x  x  x  x  x  x  x  x  x  x  x  x  x  x  x</a:t>
              </a:r>
            </a:p>
          </p:txBody>
        </p:sp>
        <p:sp>
          <p:nvSpPr>
            <p:cNvPr id="27656" name="Text Box 10"/>
            <p:cNvSpPr txBox="1">
              <a:spLocks noChangeArrowheads="1"/>
            </p:cNvSpPr>
            <p:nvPr/>
          </p:nvSpPr>
          <p:spPr bwMode="auto">
            <a:xfrm>
              <a:off x="1249542" y="1840643"/>
              <a:ext cx="4308475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latin typeface="Arial" panose="020B0604020202020204" pitchFamily="34" charset="0"/>
                </a:rPr>
                <a:t>x  x  x  x  x  x  x  x  x  x  x  x  x  x  x</a:t>
              </a:r>
            </a:p>
          </p:txBody>
        </p:sp>
        <p:sp>
          <p:nvSpPr>
            <p:cNvPr id="27657" name="Text Box 11"/>
            <p:cNvSpPr txBox="1">
              <a:spLocks noChangeArrowheads="1"/>
            </p:cNvSpPr>
            <p:nvPr/>
          </p:nvSpPr>
          <p:spPr bwMode="auto">
            <a:xfrm>
              <a:off x="1243192" y="2186718"/>
              <a:ext cx="4308475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latin typeface="Arial" panose="020B0604020202020204" pitchFamily="34" charset="0"/>
                </a:rPr>
                <a:t>x  x  x  x  x  x  x  x  x  x  x  x  x  x  x</a:t>
              </a:r>
            </a:p>
          </p:txBody>
        </p:sp>
        <p:sp>
          <p:nvSpPr>
            <p:cNvPr id="27658" name="Text Box 12"/>
            <p:cNvSpPr txBox="1">
              <a:spLocks noChangeArrowheads="1"/>
            </p:cNvSpPr>
            <p:nvPr/>
          </p:nvSpPr>
          <p:spPr bwMode="auto">
            <a:xfrm>
              <a:off x="1236842" y="2556606"/>
              <a:ext cx="4308475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dirty="0">
                  <a:latin typeface="Arial" panose="020B0604020202020204" pitchFamily="34" charset="0"/>
                </a:rPr>
                <a:t>x  x  x  x  x  x  x  x  x  x  x  x  x  x  x</a:t>
              </a:r>
            </a:p>
          </p:txBody>
        </p:sp>
        <p:sp>
          <p:nvSpPr>
            <p:cNvPr id="27659" name="Rectangle 13"/>
            <p:cNvSpPr>
              <a:spLocks noChangeArrowheads="1"/>
            </p:cNvSpPr>
            <p:nvPr/>
          </p:nvSpPr>
          <p:spPr bwMode="auto">
            <a:xfrm>
              <a:off x="1494017" y="1558068"/>
              <a:ext cx="323850" cy="763588"/>
            </a:xfrm>
            <a:prstGeom prst="rect">
              <a:avLst/>
            </a:prstGeom>
            <a:solidFill>
              <a:srgbClr val="EDE7E3"/>
            </a:solidFill>
            <a:ln w="25400" algn="ctr">
              <a:solidFill>
                <a:srgbClr val="0000FF"/>
              </a:solidFill>
              <a:miter lim="800000"/>
              <a:headEnd/>
              <a:tailEnd type="none" w="lg" len="lg"/>
            </a:ln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7660" name="Text Box 14"/>
            <p:cNvSpPr txBox="1">
              <a:spLocks noChangeArrowheads="1"/>
            </p:cNvSpPr>
            <p:nvPr/>
          </p:nvSpPr>
          <p:spPr bwMode="auto">
            <a:xfrm>
              <a:off x="1465442" y="1660596"/>
              <a:ext cx="365125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1">
                  <a:solidFill>
                    <a:srgbClr val="3333FF"/>
                  </a:solidFill>
                  <a:latin typeface="Arial" panose="020B0604020202020204" pitchFamily="34" charset="0"/>
                </a:rPr>
                <a:t>R</a:t>
              </a:r>
            </a:p>
          </p:txBody>
        </p:sp>
        <p:sp>
          <p:nvSpPr>
            <p:cNvPr id="27661" name="Line 15"/>
            <p:cNvSpPr>
              <a:spLocks noChangeShapeType="1"/>
            </p:cNvSpPr>
            <p:nvPr/>
          </p:nvSpPr>
          <p:spPr bwMode="auto">
            <a:xfrm flipV="1">
              <a:off x="1641654" y="2656618"/>
              <a:ext cx="3506788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Ctr="1"/>
            <a:lstStyle/>
            <a:p>
              <a:endParaRPr lang="en-GB"/>
            </a:p>
          </p:txBody>
        </p:sp>
        <p:sp>
          <p:nvSpPr>
            <p:cNvPr id="27662" name="Line 16"/>
            <p:cNvSpPr>
              <a:spLocks noChangeShapeType="1"/>
            </p:cNvSpPr>
            <p:nvPr/>
          </p:nvSpPr>
          <p:spPr bwMode="auto">
            <a:xfrm flipV="1">
              <a:off x="1657529" y="1211993"/>
              <a:ext cx="3541713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Ctr="1"/>
            <a:lstStyle/>
            <a:p>
              <a:endParaRPr lang="en-GB"/>
            </a:p>
          </p:txBody>
        </p:sp>
        <p:sp>
          <p:nvSpPr>
            <p:cNvPr id="27664" name="Line 18"/>
            <p:cNvSpPr>
              <a:spLocks noChangeShapeType="1"/>
            </p:cNvSpPr>
            <p:nvPr/>
          </p:nvSpPr>
          <p:spPr bwMode="auto">
            <a:xfrm>
              <a:off x="3784779" y="708756"/>
              <a:ext cx="376238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/>
            </a:p>
          </p:txBody>
        </p:sp>
        <p:sp>
          <p:nvSpPr>
            <p:cNvPr id="27675" name="Text Box 54"/>
            <p:cNvSpPr txBox="1">
              <a:spLocks noChangeArrowheads="1"/>
            </p:cNvSpPr>
            <p:nvPr/>
          </p:nvSpPr>
          <p:spPr bwMode="auto">
            <a:xfrm>
              <a:off x="2387030" y="62914"/>
              <a:ext cx="2544584" cy="5365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Arial" panose="020B0604020202020204" pitchFamily="34" charset="0"/>
                </a:rPr>
                <a:t>Barra conductora</a:t>
              </a:r>
            </a:p>
          </p:txBody>
        </p:sp>
      </p:grpSp>
      <p:sp>
        <p:nvSpPr>
          <p:cNvPr id="27663" name="AutoShape 17"/>
          <p:cNvSpPr>
            <a:spLocks noChangeArrowheads="1"/>
          </p:cNvSpPr>
          <p:nvPr/>
        </p:nvSpPr>
        <p:spPr bwMode="auto">
          <a:xfrm flipV="1">
            <a:off x="3332769" y="1413192"/>
            <a:ext cx="566738" cy="1711325"/>
          </a:xfrm>
          <a:prstGeom prst="can">
            <a:avLst>
              <a:gd name="adj" fmla="val 26883"/>
            </a:avLst>
          </a:prstGeom>
          <a:solidFill>
            <a:srgbClr val="EDE7E3"/>
          </a:solidFill>
          <a:ln w="25400">
            <a:solidFill>
              <a:srgbClr val="0000FF"/>
            </a:solidFill>
            <a:round/>
            <a:headEnd/>
            <a:tailEnd type="none" w="lg" len="lg"/>
          </a:ln>
        </p:spPr>
        <p:txBody>
          <a:bodyPr rot="10800000" wrap="none" lIns="90000" tIns="82800" rIns="90000" bIns="82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27665" name="Object 19"/>
          <p:cNvGraphicFramePr>
            <a:graphicFrameLocks noGrp="1" noChangeAspect="1"/>
          </p:cNvGraphicFramePr>
          <p:nvPr>
            <p:ph/>
          </p:nvPr>
        </p:nvGraphicFramePr>
        <p:xfrm>
          <a:off x="3461674" y="923765"/>
          <a:ext cx="307340" cy="4295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3" imgW="126725" imgH="177415" progId="Equation.3">
                  <p:embed/>
                </p:oleObj>
              </mc:Choice>
              <mc:Fallback>
                <p:oleObj name="Ecuación" r:id="rId3" imgW="126725" imgH="177415" progId="Equation.3">
                  <p:embed/>
                  <p:pic>
                    <p:nvPicPr>
                      <p:cNvPr id="27665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1674" y="923765"/>
                        <a:ext cx="307340" cy="4295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upo 3">
            <a:extLst>
              <a:ext uri="{FF2B5EF4-FFF2-40B4-BE49-F238E27FC236}">
                <a16:creationId xmlns:a16="http://schemas.microsoft.com/office/drawing/2014/main" id="{329004F2-BDF0-A138-8F7E-9874CE9612F1}"/>
              </a:ext>
            </a:extLst>
          </p:cNvPr>
          <p:cNvGrpSpPr/>
          <p:nvPr/>
        </p:nvGrpSpPr>
        <p:grpSpPr>
          <a:xfrm>
            <a:off x="5890525" y="3929021"/>
            <a:ext cx="2716106" cy="536550"/>
            <a:chOff x="5890525" y="3929021"/>
            <a:chExt cx="2716106" cy="536550"/>
          </a:xfrm>
        </p:grpSpPr>
        <p:sp>
          <p:nvSpPr>
            <p:cNvPr id="27716" name="Text Box 20"/>
            <p:cNvSpPr txBox="1">
              <a:spLocks noChangeArrowheads="1"/>
            </p:cNvSpPr>
            <p:nvPr/>
          </p:nvSpPr>
          <p:spPr bwMode="auto">
            <a:xfrm>
              <a:off x="5890525" y="3929021"/>
              <a:ext cx="2716106" cy="5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latin typeface="Arial" panose="020B0604020202020204" pitchFamily="34" charset="0"/>
                  <a:sym typeface="Symbol" panose="05050102010706020507" pitchFamily="18" charset="2"/>
                </a:rPr>
                <a:t> </a:t>
              </a:r>
              <a:r>
                <a:rPr lang="es-ES" sz="2400" dirty="0">
                  <a:latin typeface="Arial" panose="020B0604020202020204" pitchFamily="34" charset="0"/>
                </a:rPr>
                <a:t>B uniforme y cte.</a:t>
              </a:r>
            </a:p>
          </p:txBody>
        </p:sp>
        <p:sp>
          <p:nvSpPr>
            <p:cNvPr id="27718" name="Line 22"/>
            <p:cNvSpPr>
              <a:spLocks noChangeShapeType="1"/>
            </p:cNvSpPr>
            <p:nvPr/>
          </p:nvSpPr>
          <p:spPr bwMode="auto">
            <a:xfrm>
              <a:off x="6254543" y="4007114"/>
              <a:ext cx="14446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 sz="2400"/>
            </a:p>
          </p:txBody>
        </p:sp>
      </p:grpSp>
      <p:grpSp>
        <p:nvGrpSpPr>
          <p:cNvPr id="2" name="Grupo 1">
            <a:extLst>
              <a:ext uri="{FF2B5EF4-FFF2-40B4-BE49-F238E27FC236}">
                <a16:creationId xmlns:a16="http://schemas.microsoft.com/office/drawing/2014/main" id="{1BB36C55-F76A-1CEF-B8D9-BD4AE4775C64}"/>
              </a:ext>
            </a:extLst>
          </p:cNvPr>
          <p:cNvGrpSpPr/>
          <p:nvPr/>
        </p:nvGrpSpPr>
        <p:grpSpPr>
          <a:xfrm>
            <a:off x="5909485" y="3308899"/>
            <a:ext cx="1981931" cy="536551"/>
            <a:chOff x="5909485" y="3308899"/>
            <a:chExt cx="1981931" cy="536551"/>
          </a:xfrm>
        </p:grpSpPr>
        <p:sp>
          <p:nvSpPr>
            <p:cNvPr id="27717" name="Text Box 21"/>
            <p:cNvSpPr txBox="1">
              <a:spLocks noChangeArrowheads="1"/>
            </p:cNvSpPr>
            <p:nvPr/>
          </p:nvSpPr>
          <p:spPr bwMode="auto">
            <a:xfrm>
              <a:off x="5909485" y="3308899"/>
              <a:ext cx="1981931" cy="5365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latin typeface="Arial" panose="020B0604020202020204" pitchFamily="34" charset="0"/>
                  <a:sym typeface="Symbol" panose="05050102010706020507" pitchFamily="18" charset="2"/>
                </a:rPr>
                <a:t> </a:t>
              </a:r>
              <a:r>
                <a:rPr lang="es-ES" sz="2400" dirty="0">
                  <a:latin typeface="Arial" panose="020B0604020202020204" pitchFamily="34" charset="0"/>
                </a:rPr>
                <a:t>v constante</a:t>
              </a:r>
            </a:p>
          </p:txBody>
        </p:sp>
        <p:sp>
          <p:nvSpPr>
            <p:cNvPr id="27719" name="Line 23"/>
            <p:cNvSpPr>
              <a:spLocks noChangeShapeType="1"/>
            </p:cNvSpPr>
            <p:nvPr/>
          </p:nvSpPr>
          <p:spPr bwMode="auto">
            <a:xfrm>
              <a:off x="6226806" y="3465634"/>
              <a:ext cx="1444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 sz="2400"/>
            </a:p>
          </p:txBody>
        </p:sp>
      </p:grpSp>
      <p:pic>
        <p:nvPicPr>
          <p:cNvPr id="745496" name="Picture 24" descr="Image2"/>
          <p:cNvPicPr preferRelativeResize="0"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5644" y="2222817"/>
            <a:ext cx="31908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Group 27"/>
          <p:cNvGrpSpPr>
            <a:grpSpLocks/>
          </p:cNvGrpSpPr>
          <p:nvPr/>
        </p:nvGrpSpPr>
        <p:grpSpPr bwMode="auto">
          <a:xfrm>
            <a:off x="3623282" y="2397444"/>
            <a:ext cx="709612" cy="647701"/>
            <a:chOff x="2839" y="1817"/>
            <a:chExt cx="447" cy="408"/>
          </a:xfrm>
        </p:grpSpPr>
        <p:sp>
          <p:nvSpPr>
            <p:cNvPr id="27712" name="Line 28"/>
            <p:cNvSpPr>
              <a:spLocks noChangeShapeType="1"/>
            </p:cNvSpPr>
            <p:nvPr/>
          </p:nvSpPr>
          <p:spPr bwMode="auto">
            <a:xfrm rot="5400000">
              <a:off x="2720" y="2027"/>
              <a:ext cx="237" cy="0"/>
            </a:xfrm>
            <a:prstGeom prst="line">
              <a:avLst/>
            </a:prstGeom>
            <a:noFill/>
            <a:ln w="38100">
              <a:solidFill>
                <a:srgbClr val="808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Ctr="1"/>
            <a:lstStyle/>
            <a:p>
              <a:endParaRPr lang="en-GB"/>
            </a:p>
          </p:txBody>
        </p:sp>
        <p:grpSp>
          <p:nvGrpSpPr>
            <p:cNvPr id="27713" name="Group 29"/>
            <p:cNvGrpSpPr>
              <a:grpSpLocks/>
            </p:cNvGrpSpPr>
            <p:nvPr/>
          </p:nvGrpSpPr>
          <p:grpSpPr bwMode="auto">
            <a:xfrm>
              <a:off x="3015" y="1817"/>
              <a:ext cx="271" cy="408"/>
              <a:chOff x="2393" y="3012"/>
              <a:chExt cx="271" cy="408"/>
            </a:xfrm>
          </p:grpSpPr>
          <p:sp>
            <p:nvSpPr>
              <p:cNvPr id="27714" name="Rectangle 30"/>
              <p:cNvSpPr>
                <a:spLocks noChangeArrowheads="1"/>
              </p:cNvSpPr>
              <p:nvPr/>
            </p:nvSpPr>
            <p:spPr bwMode="auto">
              <a:xfrm>
                <a:off x="2399" y="3019"/>
                <a:ext cx="255" cy="401"/>
              </a:xfrm>
              <a:prstGeom prst="rect">
                <a:avLst/>
              </a:prstGeom>
              <a:solidFill>
                <a:srgbClr val="EDE7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graphicFrame>
            <p:nvGraphicFramePr>
              <p:cNvPr id="27715" name="Object 31"/>
              <p:cNvGraphicFramePr>
                <a:graphicFrameLocks noChangeAspect="1"/>
              </p:cNvGraphicFramePr>
              <p:nvPr/>
            </p:nvGraphicFramePr>
            <p:xfrm>
              <a:off x="2393" y="3012"/>
              <a:ext cx="271" cy="38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cuación" r:id="rId6" imgW="177569" imgH="253670" progId="Equation.3">
                      <p:embed/>
                    </p:oleObj>
                  </mc:Choice>
                  <mc:Fallback>
                    <p:oleObj name="Ecuación" r:id="rId6" imgW="177569" imgH="253670" progId="Equation.3">
                      <p:embed/>
                      <p:pic>
                        <p:nvPicPr>
                          <p:cNvPr id="27715" name="Object 3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393" y="3012"/>
                            <a:ext cx="271" cy="38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27710" name="Text Box 33"/>
          <p:cNvSpPr txBox="1">
            <a:spLocks noChangeArrowheads="1"/>
          </p:cNvSpPr>
          <p:nvPr/>
        </p:nvSpPr>
        <p:spPr bwMode="auto">
          <a:xfrm>
            <a:off x="3469296" y="2719706"/>
            <a:ext cx="300038" cy="592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800">
                <a:solidFill>
                  <a:srgbClr val="FF0000"/>
                </a:solidFill>
                <a:latin typeface="Arial" panose="020B0604020202020204" pitchFamily="34" charset="0"/>
              </a:rPr>
              <a:t>-</a:t>
            </a:r>
          </a:p>
        </p:txBody>
      </p:sp>
      <p:sp>
        <p:nvSpPr>
          <p:cNvPr id="27701" name="Text Box 67"/>
          <p:cNvSpPr txBox="1">
            <a:spLocks noChangeArrowheads="1"/>
          </p:cNvSpPr>
          <p:nvPr/>
        </p:nvSpPr>
        <p:spPr bwMode="auto">
          <a:xfrm>
            <a:off x="8668695" y="3416004"/>
            <a:ext cx="1576388" cy="905881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No hay inducción</a:t>
            </a:r>
          </a:p>
        </p:txBody>
      </p:sp>
      <p:sp>
        <p:nvSpPr>
          <p:cNvPr id="27689" name="Text Box 90"/>
          <p:cNvSpPr txBox="1">
            <a:spLocks noChangeArrowheads="1"/>
          </p:cNvSpPr>
          <p:nvPr/>
        </p:nvSpPr>
        <p:spPr bwMode="auto">
          <a:xfrm>
            <a:off x="6005320" y="349568"/>
            <a:ext cx="4251783" cy="536549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s-ES" sz="2400" b="1"/>
              <a:t>DEFORMACIÓN DE ESPIRA</a:t>
            </a:r>
          </a:p>
        </p:txBody>
      </p:sp>
      <p:sp>
        <p:nvSpPr>
          <p:cNvPr id="27690" name="Text Box 91"/>
          <p:cNvSpPr txBox="1">
            <a:spLocks noChangeArrowheads="1"/>
          </p:cNvSpPr>
          <p:nvPr/>
        </p:nvSpPr>
        <p:spPr bwMode="auto">
          <a:xfrm>
            <a:off x="6014585" y="995945"/>
            <a:ext cx="4255223" cy="905881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82800" rIns="90000" bIns="82800" anchor="ctr" anchorCtr="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es-ES" sz="2400" dirty="0">
                <a:solidFill>
                  <a:schemeClr val="tx1"/>
                </a:solidFill>
              </a:rPr>
              <a:t>Espira = Barra + R + </a:t>
            </a:r>
          </a:p>
          <a:p>
            <a:pPr eaLnBrk="1" hangingPunct="1">
              <a:spcBef>
                <a:spcPts val="0"/>
              </a:spcBef>
            </a:pPr>
            <a:r>
              <a:rPr lang="es-ES" sz="2400" dirty="0">
                <a:solidFill>
                  <a:schemeClr val="tx1"/>
                </a:solidFill>
              </a:rPr>
              <a:t>      + Cable ideal </a:t>
            </a:r>
            <a:r>
              <a:rPr lang="es-ES" sz="2400" u="sng" dirty="0">
                <a:solidFill>
                  <a:schemeClr val="tx1"/>
                </a:solidFill>
              </a:rPr>
              <a:t>entre ambas</a:t>
            </a:r>
          </a:p>
        </p:txBody>
      </p:sp>
      <p:sp>
        <p:nvSpPr>
          <p:cNvPr id="27686" name="CuadroTexto 3"/>
          <p:cNvSpPr txBox="1">
            <a:spLocks noChangeArrowheads="1"/>
          </p:cNvSpPr>
          <p:nvPr/>
        </p:nvSpPr>
        <p:spPr bwMode="auto">
          <a:xfrm>
            <a:off x="5991481" y="2012196"/>
            <a:ext cx="4308475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s-ES" sz="2400" dirty="0">
                <a:solidFill>
                  <a:srgbClr val="FF0000"/>
                </a:solidFill>
              </a:rPr>
              <a:t>Se "deforma" porque al crecer el cable por el movimiento de la barra parece que se estira</a:t>
            </a:r>
          </a:p>
        </p:txBody>
      </p:sp>
      <p:sp>
        <p:nvSpPr>
          <p:cNvPr id="12" name="Forma libre: forma 11">
            <a:extLst>
              <a:ext uri="{FF2B5EF4-FFF2-40B4-BE49-F238E27FC236}">
                <a16:creationId xmlns:a16="http://schemas.microsoft.com/office/drawing/2014/main" id="{1DDBD592-0D7F-4BD8-9445-79A56360D723}"/>
              </a:ext>
            </a:extLst>
          </p:cNvPr>
          <p:cNvSpPr/>
          <p:nvPr/>
        </p:nvSpPr>
        <p:spPr bwMode="auto">
          <a:xfrm>
            <a:off x="8197795" y="3862225"/>
            <a:ext cx="401934" cy="137263"/>
          </a:xfrm>
          <a:custGeom>
            <a:avLst/>
            <a:gdLst>
              <a:gd name="connsiteX0" fmla="*/ 0 w 401934"/>
              <a:gd name="connsiteY0" fmla="*/ 221064 h 221064"/>
              <a:gd name="connsiteX1" fmla="*/ 0 w 401934"/>
              <a:gd name="connsiteY1" fmla="*/ 10048 h 221064"/>
              <a:gd name="connsiteX2" fmla="*/ 401934 w 401934"/>
              <a:gd name="connsiteY2" fmla="*/ 0 h 221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1934" h="221064">
                <a:moveTo>
                  <a:pt x="0" y="221064"/>
                </a:moveTo>
                <a:lnTo>
                  <a:pt x="0" y="10048"/>
                </a:lnTo>
                <a:lnTo>
                  <a:pt x="401934" y="0"/>
                </a:lnTo>
              </a:path>
            </a:pathLst>
          </a:custGeom>
          <a:noFill/>
          <a:ln w="38100" cap="flat" cmpd="sng" algn="ctr">
            <a:solidFill>
              <a:srgbClr val="008000"/>
            </a:solidFill>
            <a:prstDash val="solid"/>
            <a:round/>
            <a:headEnd type="none" w="med" len="med"/>
            <a:tailEnd type="triangle" w="med" len="lg"/>
          </a:ln>
          <a:effectLst/>
        </p:spPr>
        <p:txBody>
          <a:bodyPr vert="horz" wrap="none" lIns="90000" tIns="82800" rIns="90000" bIns="82800" numCol="1" rtlCol="0" anchor="t" anchorCtr="1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66" name="Text Box 40">
            <a:extLst>
              <a:ext uri="{FF2B5EF4-FFF2-40B4-BE49-F238E27FC236}">
                <a16:creationId xmlns:a16="http://schemas.microsoft.com/office/drawing/2014/main" id="{6877D90C-203A-4DD0-B1DB-16D56732F1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9618" y="4731388"/>
            <a:ext cx="5927427" cy="90588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0000" tIns="82800" rIns="90000" bIns="828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Los e</a:t>
            </a:r>
            <a:r>
              <a:rPr lang="es-ES" sz="2400" baseline="30000" dirty="0">
                <a:solidFill>
                  <a:srgbClr val="000000"/>
                </a:solidFill>
                <a:latin typeface="Arial" panose="020B0604020202020204" pitchFamily="34" charset="0"/>
              </a:rPr>
              <a:t>-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que se pueden mover por la barra, al moverse esta, se mueven con ella</a:t>
            </a:r>
          </a:p>
        </p:txBody>
      </p:sp>
      <p:sp>
        <p:nvSpPr>
          <p:cNvPr id="68" name="CuadroTexto 67">
            <a:extLst>
              <a:ext uri="{FF2B5EF4-FFF2-40B4-BE49-F238E27FC236}">
                <a16:creationId xmlns:a16="http://schemas.microsoft.com/office/drawing/2014/main" id="{C4EDA047-D69A-4AA9-8E05-FD10DBB69E56}"/>
              </a:ext>
            </a:extLst>
          </p:cNvPr>
          <p:cNvSpPr txBox="1"/>
          <p:nvPr/>
        </p:nvSpPr>
        <p:spPr>
          <a:xfrm>
            <a:off x="1288195" y="3738815"/>
            <a:ext cx="4180333" cy="88407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txBody>
          <a:bodyPr wrap="square" lIns="108000" tIns="72000" rIns="108000" bIns="72000" anchor="ctr" anchorCtr="1">
            <a:spAutoFit/>
          </a:bodyPr>
          <a:lstStyle/>
          <a:p>
            <a:pPr algn="ctr">
              <a:defRPr/>
            </a:pPr>
            <a:r>
              <a:rPr lang="es-ES" sz="2400" dirty="0">
                <a:solidFill>
                  <a:schemeClr val="tx1"/>
                </a:solidFill>
              </a:rPr>
              <a:t>Calculemos la </a:t>
            </a:r>
            <a:r>
              <a:rPr lang="es-ES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I</a:t>
            </a:r>
            <a:r>
              <a:rPr lang="es-ES" sz="2400" dirty="0">
                <a:solidFill>
                  <a:schemeClr val="tx1"/>
                </a:solidFill>
              </a:rPr>
              <a:t> que aparece considerando lo que sucede</a:t>
            </a:r>
          </a:p>
        </p:txBody>
      </p:sp>
      <p:grpSp>
        <p:nvGrpSpPr>
          <p:cNvPr id="70" name="Group 114">
            <a:extLst>
              <a:ext uri="{FF2B5EF4-FFF2-40B4-BE49-F238E27FC236}">
                <a16:creationId xmlns:a16="http://schemas.microsoft.com/office/drawing/2014/main" id="{4E584940-DF3C-4978-A2DF-23C6C0445846}"/>
              </a:ext>
            </a:extLst>
          </p:cNvPr>
          <p:cNvGrpSpPr>
            <a:grpSpLocks/>
          </p:cNvGrpSpPr>
          <p:nvPr/>
        </p:nvGrpSpPr>
        <p:grpSpPr bwMode="auto">
          <a:xfrm>
            <a:off x="7528559" y="5442634"/>
            <a:ext cx="2703513" cy="809625"/>
            <a:chOff x="1410" y="811"/>
            <a:chExt cx="1703" cy="510"/>
          </a:xfrm>
        </p:grpSpPr>
        <p:sp>
          <p:nvSpPr>
            <p:cNvPr id="71" name="Rectangle 30">
              <a:extLst>
                <a:ext uri="{FF2B5EF4-FFF2-40B4-BE49-F238E27FC236}">
                  <a16:creationId xmlns:a16="http://schemas.microsoft.com/office/drawing/2014/main" id="{276026CE-73D6-4124-A81B-0AA743DB77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0" y="811"/>
              <a:ext cx="1703" cy="510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 anchor="ctr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/>
            </a:p>
          </p:txBody>
        </p:sp>
        <p:graphicFrame>
          <p:nvGraphicFramePr>
            <p:cNvPr id="72" name="Object 31">
              <a:extLst>
                <a:ext uri="{FF2B5EF4-FFF2-40B4-BE49-F238E27FC236}">
                  <a16:creationId xmlns:a16="http://schemas.microsoft.com/office/drawing/2014/main" id="{3D7F52E3-88A7-433B-AFDD-6346AF7D56C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89" y="819"/>
            <a:ext cx="1553" cy="4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8" imgW="850531" imgH="266584" progId="Equation.3">
                    <p:embed/>
                  </p:oleObj>
                </mc:Choice>
                <mc:Fallback>
                  <p:oleObj name="Ecuación" r:id="rId8" imgW="850531" imgH="266584" progId="Equation.3">
                    <p:embed/>
                    <p:pic>
                      <p:nvPicPr>
                        <p:cNvPr id="72" name="Object 31">
                          <a:extLst>
                            <a:ext uri="{FF2B5EF4-FFF2-40B4-BE49-F238E27FC236}">
                              <a16:creationId xmlns:a16="http://schemas.microsoft.com/office/drawing/2014/main" id="{3D7F52E3-88A7-433B-AFDD-6346AF7D56C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89" y="819"/>
                          <a:ext cx="1553" cy="4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3" name="Text Box 40">
            <a:extLst>
              <a:ext uri="{FF2B5EF4-FFF2-40B4-BE49-F238E27FC236}">
                <a16:creationId xmlns:a16="http://schemas.microsoft.com/office/drawing/2014/main" id="{CE40E7B6-6A5D-4A80-B6DF-7CDE2D9312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8195" y="5718578"/>
            <a:ext cx="5918850" cy="53654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0000" tIns="82800" rIns="90000" bIns="828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Al moverse en un </a:t>
            </a:r>
            <a:r>
              <a:rPr lang="es-ES" sz="2400" b="1" dirty="0">
                <a:solidFill>
                  <a:srgbClr val="000000"/>
                </a:solidFill>
                <a:latin typeface="Arial" panose="020B0604020202020204" pitchFamily="34" charset="0"/>
              </a:rPr>
              <a:t>B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, sufren una </a:t>
            </a:r>
            <a:r>
              <a:rPr lang="es-ES" sz="2400" b="1" dirty="0">
                <a:solidFill>
                  <a:srgbClr val="000000"/>
                </a:solidFill>
                <a:latin typeface="Arial" panose="020B0604020202020204" pitchFamily="34" charset="0"/>
              </a:rPr>
              <a:t>F</a:t>
            </a:r>
            <a:r>
              <a:rPr lang="es-ES" sz="2400" b="1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B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4" name="Rectángulo 73">
            <a:extLst>
              <a:ext uri="{FF2B5EF4-FFF2-40B4-BE49-F238E27FC236}">
                <a16:creationId xmlns:a16="http://schemas.microsoft.com/office/drawing/2014/main" id="{EF198880-581D-4814-AFD6-FFD351479B65}"/>
              </a:ext>
            </a:extLst>
          </p:cNvPr>
          <p:cNvSpPr/>
          <p:nvPr/>
        </p:nvSpPr>
        <p:spPr bwMode="auto">
          <a:xfrm rot="2444730">
            <a:off x="1502092" y="513119"/>
            <a:ext cx="575774" cy="593224"/>
          </a:xfrm>
          <a:prstGeom prst="rect">
            <a:avLst/>
          </a:prstGeom>
          <a:solidFill>
            <a:srgbClr val="FFFF00"/>
          </a:solidFill>
          <a:ln w="254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90000" tIns="82800" rIns="90000" bIns="82800" numCol="1" rtlCol="0" anchor="t" anchorCtr="1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grpSp>
        <p:nvGrpSpPr>
          <p:cNvPr id="75" name="Grupo 74">
            <a:extLst>
              <a:ext uri="{FF2B5EF4-FFF2-40B4-BE49-F238E27FC236}">
                <a16:creationId xmlns:a16="http://schemas.microsoft.com/office/drawing/2014/main" id="{B0E9DC1B-0BD0-4A4D-8687-813AEE61FFAE}"/>
              </a:ext>
            </a:extLst>
          </p:cNvPr>
          <p:cNvGrpSpPr>
            <a:grpSpLocks/>
          </p:cNvGrpSpPr>
          <p:nvPr/>
        </p:nvGrpSpPr>
        <p:grpSpPr bwMode="auto">
          <a:xfrm rot="1871945">
            <a:off x="1546449" y="602605"/>
            <a:ext cx="409575" cy="422275"/>
            <a:chOff x="1234758" y="2458403"/>
            <a:chExt cx="407988" cy="422276"/>
          </a:xfrm>
        </p:grpSpPr>
        <p:sp>
          <p:nvSpPr>
            <p:cNvPr id="76" name="Line 44">
              <a:extLst>
                <a:ext uri="{FF2B5EF4-FFF2-40B4-BE49-F238E27FC236}">
                  <a16:creationId xmlns:a16="http://schemas.microsoft.com/office/drawing/2014/main" id="{2F040075-F42C-4DF0-951D-E42CA4CE753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234758" y="2647316"/>
              <a:ext cx="407988" cy="233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77" name="Line 45">
              <a:extLst>
                <a:ext uri="{FF2B5EF4-FFF2-40B4-BE49-F238E27FC236}">
                  <a16:creationId xmlns:a16="http://schemas.microsoft.com/office/drawing/2014/main" id="{8CBB8A36-D529-4740-8FD7-837EA70DC26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1244283" y="2458403"/>
              <a:ext cx="398463" cy="1698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78" name="Oval 46">
              <a:extLst>
                <a:ext uri="{FF2B5EF4-FFF2-40B4-BE49-F238E27FC236}">
                  <a16:creationId xmlns:a16="http://schemas.microsoft.com/office/drawing/2014/main" id="{C0549E0A-59F4-4905-BAF6-7A5C182E19D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 flipH="1">
              <a:off x="1491933" y="2510791"/>
              <a:ext cx="88900" cy="31273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79" name="Text Box 40">
            <a:extLst>
              <a:ext uri="{FF2B5EF4-FFF2-40B4-BE49-F238E27FC236}">
                <a16:creationId xmlns:a16="http://schemas.microsoft.com/office/drawing/2014/main" id="{F157209A-B336-408D-AF52-DD66BAE912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0290" y="6338604"/>
            <a:ext cx="9082743" cy="53654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0000" tIns="82800" rIns="90000" bIns="828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lang="es-ES" sz="2400" b="1" dirty="0">
                <a:solidFill>
                  <a:srgbClr val="000000"/>
                </a:solidFill>
                <a:latin typeface="Arial" panose="020B0604020202020204" pitchFamily="34" charset="0"/>
              </a:rPr>
              <a:t>F</a:t>
            </a:r>
            <a:r>
              <a:rPr lang="es-ES" sz="2400" b="1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B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los tiende a desviar hacia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abajo acumulándose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en un extremo</a:t>
            </a: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0B036845-A1FD-9F06-F357-6F59D85B86A3}"/>
              </a:ext>
            </a:extLst>
          </p:cNvPr>
          <p:cNvGrpSpPr/>
          <p:nvPr/>
        </p:nvGrpSpPr>
        <p:grpSpPr>
          <a:xfrm>
            <a:off x="3622488" y="1854892"/>
            <a:ext cx="548482" cy="511022"/>
            <a:chOff x="3622488" y="1854892"/>
            <a:chExt cx="548482" cy="511022"/>
          </a:xfrm>
        </p:grpSpPr>
        <p:sp>
          <p:nvSpPr>
            <p:cNvPr id="5" name="Line 18">
              <a:extLst>
                <a:ext uri="{FF2B5EF4-FFF2-40B4-BE49-F238E27FC236}">
                  <a16:creationId xmlns:a16="http://schemas.microsoft.com/office/drawing/2014/main" id="{39FDFE17-1C4A-EFA8-A60B-D50C8E1A49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4732" y="2365914"/>
              <a:ext cx="376238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/>
            </a:p>
          </p:txBody>
        </p:sp>
        <p:graphicFrame>
          <p:nvGraphicFramePr>
            <p:cNvPr id="6" name="Object 19">
              <a:extLst>
                <a:ext uri="{FF2B5EF4-FFF2-40B4-BE49-F238E27FC236}">
                  <a16:creationId xmlns:a16="http://schemas.microsoft.com/office/drawing/2014/main" id="{78E45E41-68B0-C430-150F-62004E1C008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53354609"/>
                </p:ext>
              </p:extLst>
            </p:nvPr>
          </p:nvGraphicFramePr>
          <p:xfrm>
            <a:off x="3622488" y="1854892"/>
            <a:ext cx="307340" cy="4295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3" imgW="126725" imgH="177415" progId="Equation.3">
                    <p:embed/>
                  </p:oleObj>
                </mc:Choice>
                <mc:Fallback>
                  <p:oleObj name="Ecuación" r:id="rId3" imgW="126725" imgH="177415" progId="Equation.3">
                    <p:embed/>
                    <p:pic>
                      <p:nvPicPr>
                        <p:cNvPr id="27665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22488" y="1854892"/>
                          <a:ext cx="307340" cy="4295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767356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76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27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7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27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27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27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77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77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745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00"/>
                            </p:stCondLst>
                            <p:childTnLst>
                              <p:par>
                                <p:cTn id="97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77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277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63" grpId="0" animBg="1"/>
      <p:bldP spid="27710" grpId="0"/>
      <p:bldP spid="27701" grpId="0" animBg="1"/>
      <p:bldP spid="27689" grpId="0" animBg="1"/>
      <p:bldP spid="27690" grpId="0" animBg="1"/>
      <p:bldP spid="27686" grpId="0"/>
      <p:bldP spid="12" grpId="0" animBg="1"/>
      <p:bldP spid="66" grpId="0" animBg="1"/>
      <p:bldP spid="68" grpId="0" animBg="1"/>
      <p:bldP spid="73" grpId="0" animBg="1"/>
      <p:bldP spid="74" grpId="0" animBg="1"/>
      <p:bldP spid="7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BBAF3283-66D8-47E1-A972-E80B13B4DD1A}"/>
              </a:ext>
            </a:extLst>
          </p:cNvPr>
          <p:cNvSpPr/>
          <p:nvPr/>
        </p:nvSpPr>
        <p:spPr bwMode="auto">
          <a:xfrm>
            <a:off x="8072284" y="5316841"/>
            <a:ext cx="1086957" cy="491660"/>
          </a:xfrm>
          <a:prstGeom prst="rect">
            <a:avLst/>
          </a:prstGeom>
          <a:solidFill>
            <a:srgbClr val="FFFF00"/>
          </a:solidFill>
          <a:ln w="254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square" lIns="90000" tIns="82800" rIns="90000" bIns="82800" numCol="1" rtlCol="0" anchor="t" anchorCtr="1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97BBE3EA-D938-4855-97FB-088677B512D1}"/>
              </a:ext>
            </a:extLst>
          </p:cNvPr>
          <p:cNvGrpSpPr/>
          <p:nvPr/>
        </p:nvGrpSpPr>
        <p:grpSpPr>
          <a:xfrm>
            <a:off x="1207107" y="529225"/>
            <a:ext cx="4473575" cy="2963592"/>
            <a:chOff x="1236842" y="62914"/>
            <a:chExt cx="4473575" cy="2963592"/>
          </a:xfrm>
        </p:grpSpPr>
        <p:sp>
          <p:nvSpPr>
            <p:cNvPr id="27650" name="Text Box 2"/>
            <p:cNvSpPr txBox="1">
              <a:spLocks noChangeArrowheads="1"/>
            </p:cNvSpPr>
            <p:nvPr/>
          </p:nvSpPr>
          <p:spPr bwMode="auto">
            <a:xfrm>
              <a:off x="1257479" y="804006"/>
              <a:ext cx="4308475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latin typeface="Arial" panose="020B0604020202020204" pitchFamily="34" charset="0"/>
                </a:rPr>
                <a:t>x  x  x  x  x  x  x  x  x  x  x  x  x  x  x</a:t>
              </a:r>
            </a:p>
          </p:txBody>
        </p:sp>
        <p:sp>
          <p:nvSpPr>
            <p:cNvPr id="27651" name="Line 5"/>
            <p:cNvSpPr>
              <a:spLocks noChangeShapeType="1"/>
            </p:cNvSpPr>
            <p:nvPr/>
          </p:nvSpPr>
          <p:spPr bwMode="auto">
            <a:xfrm flipH="1">
              <a:off x="1657529" y="1223106"/>
              <a:ext cx="0" cy="142240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Ctr="1"/>
            <a:lstStyle/>
            <a:p>
              <a:endParaRPr lang="en-GB"/>
            </a:p>
          </p:txBody>
        </p:sp>
        <p:sp>
          <p:nvSpPr>
            <p:cNvPr id="27652" name="Line 6"/>
            <p:cNvSpPr>
              <a:spLocks noChangeShapeType="1"/>
            </p:cNvSpPr>
            <p:nvPr/>
          </p:nvSpPr>
          <p:spPr bwMode="auto">
            <a:xfrm>
              <a:off x="5364342" y="1210406"/>
              <a:ext cx="0" cy="1446212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 type="stealth" w="lg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Ctr="1"/>
            <a:lstStyle/>
            <a:p>
              <a:endParaRPr lang="en-GB"/>
            </a:p>
          </p:txBody>
        </p:sp>
        <p:sp>
          <p:nvSpPr>
            <p:cNvPr id="27653" name="Text Box 7"/>
            <p:cNvSpPr txBox="1">
              <a:spLocks noChangeArrowheads="1"/>
            </p:cNvSpPr>
            <p:nvPr/>
          </p:nvSpPr>
          <p:spPr bwMode="auto">
            <a:xfrm>
              <a:off x="5388154" y="1680306"/>
              <a:ext cx="322263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Arial" panose="020B0604020202020204" pitchFamily="34" charset="0"/>
                </a:rPr>
                <a:t>L</a:t>
              </a:r>
            </a:p>
          </p:txBody>
        </p:sp>
        <p:sp>
          <p:nvSpPr>
            <p:cNvPr id="27654" name="Text Box 8"/>
            <p:cNvSpPr txBox="1">
              <a:spLocks noChangeArrowheads="1"/>
            </p:cNvSpPr>
            <p:nvPr/>
          </p:nvSpPr>
          <p:spPr bwMode="auto">
            <a:xfrm>
              <a:off x="1240017" y="1142143"/>
              <a:ext cx="4308475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latin typeface="Arial" panose="020B0604020202020204" pitchFamily="34" charset="0"/>
                </a:rPr>
                <a:t>x  x  x  x  x  x  x  x  x  x  x  x  x  x  x</a:t>
              </a:r>
            </a:p>
          </p:txBody>
        </p:sp>
        <p:sp>
          <p:nvSpPr>
            <p:cNvPr id="27655" name="Text Box 9"/>
            <p:cNvSpPr txBox="1">
              <a:spLocks noChangeArrowheads="1"/>
            </p:cNvSpPr>
            <p:nvPr/>
          </p:nvSpPr>
          <p:spPr bwMode="auto">
            <a:xfrm>
              <a:off x="1244779" y="1502506"/>
              <a:ext cx="4308475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latin typeface="Arial" panose="020B0604020202020204" pitchFamily="34" charset="0"/>
                </a:rPr>
                <a:t>x  x  x  x  x  x  x  x  x  x  x  x  x  x  x</a:t>
              </a:r>
            </a:p>
          </p:txBody>
        </p:sp>
        <p:sp>
          <p:nvSpPr>
            <p:cNvPr id="27656" name="Text Box 10"/>
            <p:cNvSpPr txBox="1">
              <a:spLocks noChangeArrowheads="1"/>
            </p:cNvSpPr>
            <p:nvPr/>
          </p:nvSpPr>
          <p:spPr bwMode="auto">
            <a:xfrm>
              <a:off x="1249542" y="1840643"/>
              <a:ext cx="4308475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latin typeface="Arial" panose="020B0604020202020204" pitchFamily="34" charset="0"/>
                </a:rPr>
                <a:t>x  x  x  x  x  x  x  x  x  x  x  x  x  x  x</a:t>
              </a:r>
            </a:p>
          </p:txBody>
        </p:sp>
        <p:sp>
          <p:nvSpPr>
            <p:cNvPr id="27657" name="Text Box 11"/>
            <p:cNvSpPr txBox="1">
              <a:spLocks noChangeArrowheads="1"/>
            </p:cNvSpPr>
            <p:nvPr/>
          </p:nvSpPr>
          <p:spPr bwMode="auto">
            <a:xfrm>
              <a:off x="1243192" y="2186718"/>
              <a:ext cx="4308475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latin typeface="Arial" panose="020B0604020202020204" pitchFamily="34" charset="0"/>
                </a:rPr>
                <a:t>x  x  x  x  x  x  x  x  x  x  x  x  x  x  x</a:t>
              </a:r>
            </a:p>
          </p:txBody>
        </p:sp>
        <p:sp>
          <p:nvSpPr>
            <p:cNvPr id="27658" name="Text Box 12"/>
            <p:cNvSpPr txBox="1">
              <a:spLocks noChangeArrowheads="1"/>
            </p:cNvSpPr>
            <p:nvPr/>
          </p:nvSpPr>
          <p:spPr bwMode="auto">
            <a:xfrm>
              <a:off x="1236842" y="2556606"/>
              <a:ext cx="4308475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dirty="0">
                  <a:latin typeface="Arial" panose="020B0604020202020204" pitchFamily="34" charset="0"/>
                </a:rPr>
                <a:t>x  x  x  x  x  x  x  x  x  x  x  x  x  x  x</a:t>
              </a:r>
            </a:p>
          </p:txBody>
        </p:sp>
        <p:sp>
          <p:nvSpPr>
            <p:cNvPr id="27659" name="Rectangle 13"/>
            <p:cNvSpPr>
              <a:spLocks noChangeArrowheads="1"/>
            </p:cNvSpPr>
            <p:nvPr/>
          </p:nvSpPr>
          <p:spPr bwMode="auto">
            <a:xfrm>
              <a:off x="1494017" y="1558068"/>
              <a:ext cx="323850" cy="763588"/>
            </a:xfrm>
            <a:prstGeom prst="rect">
              <a:avLst/>
            </a:prstGeom>
            <a:solidFill>
              <a:srgbClr val="EDE7E3"/>
            </a:solidFill>
            <a:ln w="25400" algn="ctr">
              <a:solidFill>
                <a:srgbClr val="0000FF"/>
              </a:solidFill>
              <a:miter lim="800000"/>
              <a:headEnd/>
              <a:tailEnd type="none" w="lg" len="lg"/>
            </a:ln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7660" name="Text Box 14"/>
            <p:cNvSpPr txBox="1">
              <a:spLocks noChangeArrowheads="1"/>
            </p:cNvSpPr>
            <p:nvPr/>
          </p:nvSpPr>
          <p:spPr bwMode="auto">
            <a:xfrm>
              <a:off x="1465442" y="1660596"/>
              <a:ext cx="365125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1">
                  <a:solidFill>
                    <a:srgbClr val="3333FF"/>
                  </a:solidFill>
                  <a:latin typeface="Arial" panose="020B0604020202020204" pitchFamily="34" charset="0"/>
                </a:rPr>
                <a:t>R</a:t>
              </a:r>
            </a:p>
          </p:txBody>
        </p:sp>
        <p:sp>
          <p:nvSpPr>
            <p:cNvPr id="27661" name="Line 15"/>
            <p:cNvSpPr>
              <a:spLocks noChangeShapeType="1"/>
            </p:cNvSpPr>
            <p:nvPr/>
          </p:nvSpPr>
          <p:spPr bwMode="auto">
            <a:xfrm flipV="1">
              <a:off x="1641654" y="2656618"/>
              <a:ext cx="3506788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Ctr="1"/>
            <a:lstStyle/>
            <a:p>
              <a:endParaRPr lang="en-GB"/>
            </a:p>
          </p:txBody>
        </p:sp>
        <p:sp>
          <p:nvSpPr>
            <p:cNvPr id="27662" name="Line 16"/>
            <p:cNvSpPr>
              <a:spLocks noChangeShapeType="1"/>
            </p:cNvSpPr>
            <p:nvPr/>
          </p:nvSpPr>
          <p:spPr bwMode="auto">
            <a:xfrm flipV="1">
              <a:off x="1657529" y="1211993"/>
              <a:ext cx="3541713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Ctr="1"/>
            <a:lstStyle/>
            <a:p>
              <a:endParaRPr lang="en-GB"/>
            </a:p>
          </p:txBody>
        </p:sp>
        <p:sp>
          <p:nvSpPr>
            <p:cNvPr id="27664" name="Line 18"/>
            <p:cNvSpPr>
              <a:spLocks noChangeShapeType="1"/>
            </p:cNvSpPr>
            <p:nvPr/>
          </p:nvSpPr>
          <p:spPr bwMode="auto">
            <a:xfrm>
              <a:off x="3784779" y="708756"/>
              <a:ext cx="376238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/>
            </a:p>
          </p:txBody>
        </p:sp>
        <p:sp>
          <p:nvSpPr>
            <p:cNvPr id="27675" name="Text Box 54"/>
            <p:cNvSpPr txBox="1">
              <a:spLocks noChangeArrowheads="1"/>
            </p:cNvSpPr>
            <p:nvPr/>
          </p:nvSpPr>
          <p:spPr bwMode="auto">
            <a:xfrm>
              <a:off x="2387030" y="62914"/>
              <a:ext cx="2544584" cy="5365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Arial" panose="020B0604020202020204" pitchFamily="34" charset="0"/>
                </a:rPr>
                <a:t>Barra conductora</a:t>
              </a:r>
            </a:p>
          </p:txBody>
        </p:sp>
      </p:grpSp>
      <p:sp>
        <p:nvSpPr>
          <p:cNvPr id="27663" name="AutoShape 17"/>
          <p:cNvSpPr>
            <a:spLocks noChangeArrowheads="1"/>
          </p:cNvSpPr>
          <p:nvPr/>
        </p:nvSpPr>
        <p:spPr bwMode="auto">
          <a:xfrm flipV="1">
            <a:off x="3332769" y="1413192"/>
            <a:ext cx="566738" cy="1711325"/>
          </a:xfrm>
          <a:prstGeom prst="can">
            <a:avLst>
              <a:gd name="adj" fmla="val 26883"/>
            </a:avLst>
          </a:prstGeom>
          <a:solidFill>
            <a:srgbClr val="EDE7E3"/>
          </a:solidFill>
          <a:ln w="25400">
            <a:solidFill>
              <a:srgbClr val="0000FF"/>
            </a:solidFill>
            <a:round/>
            <a:headEnd/>
            <a:tailEnd type="none" w="lg" len="lg"/>
          </a:ln>
        </p:spPr>
        <p:txBody>
          <a:bodyPr rot="10800000" wrap="none" lIns="90000" tIns="82800" rIns="90000" bIns="82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27665" name="Object 19"/>
          <p:cNvGraphicFramePr>
            <a:graphicFrameLocks noGrp="1" noChangeAspect="1"/>
          </p:cNvGraphicFramePr>
          <p:nvPr>
            <p:ph/>
          </p:nvPr>
        </p:nvGraphicFramePr>
        <p:xfrm>
          <a:off x="3461674" y="923765"/>
          <a:ext cx="307340" cy="4295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3" imgW="126725" imgH="177415" progId="Equation.3">
                  <p:embed/>
                </p:oleObj>
              </mc:Choice>
              <mc:Fallback>
                <p:oleObj name="Ecuación" r:id="rId3" imgW="126725" imgH="177415" progId="Equation.3">
                  <p:embed/>
                  <p:pic>
                    <p:nvPicPr>
                      <p:cNvPr id="27665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1674" y="923765"/>
                        <a:ext cx="307340" cy="4295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45496" name="Picture 24" descr="Image2"/>
          <p:cNvPicPr preferRelativeResize="0"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5644" y="2222817"/>
            <a:ext cx="31908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Group 27"/>
          <p:cNvGrpSpPr>
            <a:grpSpLocks/>
          </p:cNvGrpSpPr>
          <p:nvPr/>
        </p:nvGrpSpPr>
        <p:grpSpPr bwMode="auto">
          <a:xfrm>
            <a:off x="3623282" y="2397444"/>
            <a:ext cx="709612" cy="647701"/>
            <a:chOff x="2839" y="1817"/>
            <a:chExt cx="447" cy="408"/>
          </a:xfrm>
        </p:grpSpPr>
        <p:sp>
          <p:nvSpPr>
            <p:cNvPr id="27712" name="Line 28"/>
            <p:cNvSpPr>
              <a:spLocks noChangeShapeType="1"/>
            </p:cNvSpPr>
            <p:nvPr/>
          </p:nvSpPr>
          <p:spPr bwMode="auto">
            <a:xfrm rot="5400000">
              <a:off x="2720" y="2027"/>
              <a:ext cx="237" cy="0"/>
            </a:xfrm>
            <a:prstGeom prst="line">
              <a:avLst/>
            </a:prstGeom>
            <a:noFill/>
            <a:ln w="38100">
              <a:solidFill>
                <a:srgbClr val="808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Ctr="1"/>
            <a:lstStyle/>
            <a:p>
              <a:endParaRPr lang="en-GB"/>
            </a:p>
          </p:txBody>
        </p:sp>
        <p:grpSp>
          <p:nvGrpSpPr>
            <p:cNvPr id="27713" name="Group 29"/>
            <p:cNvGrpSpPr>
              <a:grpSpLocks/>
            </p:cNvGrpSpPr>
            <p:nvPr/>
          </p:nvGrpSpPr>
          <p:grpSpPr bwMode="auto">
            <a:xfrm>
              <a:off x="3015" y="1817"/>
              <a:ext cx="271" cy="408"/>
              <a:chOff x="2393" y="3012"/>
              <a:chExt cx="271" cy="408"/>
            </a:xfrm>
          </p:grpSpPr>
          <p:sp>
            <p:nvSpPr>
              <p:cNvPr id="27714" name="Rectangle 30"/>
              <p:cNvSpPr>
                <a:spLocks noChangeArrowheads="1"/>
              </p:cNvSpPr>
              <p:nvPr/>
            </p:nvSpPr>
            <p:spPr bwMode="auto">
              <a:xfrm>
                <a:off x="2399" y="3019"/>
                <a:ext cx="255" cy="401"/>
              </a:xfrm>
              <a:prstGeom prst="rect">
                <a:avLst/>
              </a:prstGeom>
              <a:solidFill>
                <a:srgbClr val="EDE7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graphicFrame>
            <p:nvGraphicFramePr>
              <p:cNvPr id="27715" name="Object 31"/>
              <p:cNvGraphicFramePr>
                <a:graphicFrameLocks noChangeAspect="1"/>
              </p:cNvGraphicFramePr>
              <p:nvPr/>
            </p:nvGraphicFramePr>
            <p:xfrm>
              <a:off x="2393" y="3012"/>
              <a:ext cx="271" cy="38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cuación" r:id="rId6" imgW="177569" imgH="253670" progId="Equation.3">
                      <p:embed/>
                    </p:oleObj>
                  </mc:Choice>
                  <mc:Fallback>
                    <p:oleObj name="Ecuación" r:id="rId6" imgW="177569" imgH="253670" progId="Equation.3">
                      <p:embed/>
                      <p:pic>
                        <p:nvPicPr>
                          <p:cNvPr id="27715" name="Object 3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393" y="3012"/>
                            <a:ext cx="271" cy="38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27710" name="Text Box 33"/>
          <p:cNvSpPr txBox="1">
            <a:spLocks noChangeArrowheads="1"/>
          </p:cNvSpPr>
          <p:nvPr/>
        </p:nvSpPr>
        <p:spPr bwMode="auto">
          <a:xfrm>
            <a:off x="3469294" y="2719704"/>
            <a:ext cx="300038" cy="592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800">
                <a:solidFill>
                  <a:srgbClr val="FF0000"/>
                </a:solidFill>
                <a:latin typeface="Arial" panose="020B0604020202020204" pitchFamily="34" charset="0"/>
              </a:rPr>
              <a:t>-</a:t>
            </a:r>
          </a:p>
        </p:txBody>
      </p:sp>
      <p:sp>
        <p:nvSpPr>
          <p:cNvPr id="27711" name="Text Box 34"/>
          <p:cNvSpPr txBox="1">
            <a:spLocks noChangeArrowheads="1"/>
          </p:cNvSpPr>
          <p:nvPr/>
        </p:nvSpPr>
        <p:spPr bwMode="auto">
          <a:xfrm>
            <a:off x="3418494" y="1236979"/>
            <a:ext cx="388938" cy="592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800">
                <a:solidFill>
                  <a:srgbClr val="FF0000"/>
                </a:solidFill>
                <a:latin typeface="Arial" panose="020B0604020202020204" pitchFamily="34" charset="0"/>
              </a:rPr>
              <a:t>+</a:t>
            </a:r>
          </a:p>
        </p:txBody>
      </p:sp>
      <p:sp>
        <p:nvSpPr>
          <p:cNvPr id="50" name="Text Box 40">
            <a:extLst>
              <a:ext uri="{FF2B5EF4-FFF2-40B4-BE49-F238E27FC236}">
                <a16:creationId xmlns:a16="http://schemas.microsoft.com/office/drawing/2014/main" id="{48BF0B6F-C5EF-4032-B271-CD2199D5BF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48939" y="1800800"/>
            <a:ext cx="4614262" cy="53654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0000" tIns="82800" rIns="90000" bIns="828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Los excesos de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carga crean </a:t>
            </a:r>
            <a:r>
              <a:rPr lang="es-ES" sz="2400" b="1" dirty="0">
                <a:solidFill>
                  <a:srgbClr val="000000"/>
                </a:solidFill>
                <a:latin typeface="Arial" panose="020B0604020202020204" pitchFamily="34" charset="0"/>
              </a:rPr>
              <a:t>E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pSp>
        <p:nvGrpSpPr>
          <p:cNvPr id="51" name="Group 49">
            <a:extLst>
              <a:ext uri="{FF2B5EF4-FFF2-40B4-BE49-F238E27FC236}">
                <a16:creationId xmlns:a16="http://schemas.microsoft.com/office/drawing/2014/main" id="{B26F6353-42B6-4E4C-A702-88677F949414}"/>
              </a:ext>
            </a:extLst>
          </p:cNvPr>
          <p:cNvGrpSpPr>
            <a:grpSpLocks/>
          </p:cNvGrpSpPr>
          <p:nvPr/>
        </p:nvGrpSpPr>
        <p:grpSpPr bwMode="auto">
          <a:xfrm>
            <a:off x="2888274" y="2065659"/>
            <a:ext cx="520701" cy="665164"/>
            <a:chOff x="2338" y="1608"/>
            <a:chExt cx="328" cy="419"/>
          </a:xfrm>
        </p:grpSpPr>
        <p:sp>
          <p:nvSpPr>
            <p:cNvPr id="52" name="Line 50">
              <a:extLst>
                <a:ext uri="{FF2B5EF4-FFF2-40B4-BE49-F238E27FC236}">
                  <a16:creationId xmlns:a16="http://schemas.microsoft.com/office/drawing/2014/main" id="{7EB92F9A-3D15-4CB6-BD97-64E491A1792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474" y="1836"/>
              <a:ext cx="383" cy="0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Ctr="1"/>
            <a:lstStyle/>
            <a:p>
              <a:endParaRPr lang="en-GB"/>
            </a:p>
          </p:txBody>
        </p:sp>
        <p:grpSp>
          <p:nvGrpSpPr>
            <p:cNvPr id="53" name="Group 51">
              <a:extLst>
                <a:ext uri="{FF2B5EF4-FFF2-40B4-BE49-F238E27FC236}">
                  <a16:creationId xmlns:a16="http://schemas.microsoft.com/office/drawing/2014/main" id="{7AA544D4-B931-4625-AC79-35ADFEABFC5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38" y="1608"/>
              <a:ext cx="255" cy="401"/>
              <a:chOff x="2399" y="3019"/>
              <a:chExt cx="255" cy="401"/>
            </a:xfrm>
          </p:grpSpPr>
          <p:sp>
            <p:nvSpPr>
              <p:cNvPr id="54" name="Rectangle 52">
                <a:extLst>
                  <a:ext uri="{FF2B5EF4-FFF2-40B4-BE49-F238E27FC236}">
                    <a16:creationId xmlns:a16="http://schemas.microsoft.com/office/drawing/2014/main" id="{AE8B4D2D-B643-43F8-B80C-3933A48013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9" y="3019"/>
                <a:ext cx="255" cy="401"/>
              </a:xfrm>
              <a:prstGeom prst="rect">
                <a:avLst/>
              </a:prstGeom>
              <a:solidFill>
                <a:srgbClr val="EDE7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graphicFrame>
            <p:nvGraphicFramePr>
              <p:cNvPr id="55" name="Object 53">
                <a:extLst>
                  <a:ext uri="{FF2B5EF4-FFF2-40B4-BE49-F238E27FC236}">
                    <a16:creationId xmlns:a16="http://schemas.microsoft.com/office/drawing/2014/main" id="{B46F9DFB-4014-4379-9D77-F243603C85B9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411" y="3024"/>
              <a:ext cx="232" cy="30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cuación" r:id="rId8" imgW="152268" imgH="203024" progId="Equation.3">
                      <p:embed/>
                    </p:oleObj>
                  </mc:Choice>
                  <mc:Fallback>
                    <p:oleObj name="Ecuación" r:id="rId8" imgW="152268" imgH="203024" progId="Equation.3">
                      <p:embed/>
                      <p:pic>
                        <p:nvPicPr>
                          <p:cNvPr id="55" name="Object 53">
                            <a:extLst>
                              <a:ext uri="{FF2B5EF4-FFF2-40B4-BE49-F238E27FC236}">
                                <a16:creationId xmlns:a16="http://schemas.microsoft.com/office/drawing/2014/main" id="{B46F9DFB-4014-4379-9D77-F243603C85B9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411" y="3024"/>
                            <a:ext cx="232" cy="30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61" name="Group 35">
            <a:extLst>
              <a:ext uri="{FF2B5EF4-FFF2-40B4-BE49-F238E27FC236}">
                <a16:creationId xmlns:a16="http://schemas.microsoft.com/office/drawing/2014/main" id="{4421DB3C-9C61-464F-ADE6-C688EF04F91C}"/>
              </a:ext>
            </a:extLst>
          </p:cNvPr>
          <p:cNvGrpSpPr>
            <a:grpSpLocks/>
          </p:cNvGrpSpPr>
          <p:nvPr/>
        </p:nvGrpSpPr>
        <p:grpSpPr bwMode="auto">
          <a:xfrm>
            <a:off x="3629632" y="1725928"/>
            <a:ext cx="722312" cy="657224"/>
            <a:chOff x="2843" y="1394"/>
            <a:chExt cx="455" cy="414"/>
          </a:xfrm>
        </p:grpSpPr>
        <p:sp>
          <p:nvSpPr>
            <p:cNvPr id="62" name="Line 36">
              <a:extLst>
                <a:ext uri="{FF2B5EF4-FFF2-40B4-BE49-F238E27FC236}">
                  <a16:creationId xmlns:a16="http://schemas.microsoft.com/office/drawing/2014/main" id="{4A217C9F-6B48-4164-BAB0-CEAFC73231A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2724" y="1559"/>
              <a:ext cx="237" cy="0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Ctr="1"/>
            <a:lstStyle/>
            <a:p>
              <a:endParaRPr lang="en-GB"/>
            </a:p>
          </p:txBody>
        </p:sp>
        <p:grpSp>
          <p:nvGrpSpPr>
            <p:cNvPr id="63" name="Group 37">
              <a:extLst>
                <a:ext uri="{FF2B5EF4-FFF2-40B4-BE49-F238E27FC236}">
                  <a16:creationId xmlns:a16="http://schemas.microsoft.com/office/drawing/2014/main" id="{AF4D16A3-4E53-4A46-A8E8-78354A9C517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21" y="1394"/>
              <a:ext cx="277" cy="414"/>
              <a:chOff x="2399" y="3006"/>
              <a:chExt cx="277" cy="414"/>
            </a:xfrm>
          </p:grpSpPr>
          <p:sp>
            <p:nvSpPr>
              <p:cNvPr id="64" name="Rectangle 38">
                <a:extLst>
                  <a:ext uri="{FF2B5EF4-FFF2-40B4-BE49-F238E27FC236}">
                    <a16:creationId xmlns:a16="http://schemas.microsoft.com/office/drawing/2014/main" id="{68790BA4-EBF5-4DB1-8AA3-D3E936D701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9" y="3019"/>
                <a:ext cx="255" cy="401"/>
              </a:xfrm>
              <a:prstGeom prst="rect">
                <a:avLst/>
              </a:prstGeom>
              <a:solidFill>
                <a:srgbClr val="EDE7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graphicFrame>
            <p:nvGraphicFramePr>
              <p:cNvPr id="65" name="Object 39">
                <a:extLst>
                  <a:ext uri="{FF2B5EF4-FFF2-40B4-BE49-F238E27FC236}">
                    <a16:creationId xmlns:a16="http://schemas.microsoft.com/office/drawing/2014/main" id="{EE82EB1C-86D8-40C7-840E-B5752459184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405" y="3006"/>
              <a:ext cx="271" cy="38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cuación" r:id="rId10" imgW="177569" imgH="253670" progId="Equation.3">
                      <p:embed/>
                    </p:oleObj>
                  </mc:Choice>
                  <mc:Fallback>
                    <p:oleObj name="Ecuación" r:id="rId10" imgW="177569" imgH="253670" progId="Equation.3">
                      <p:embed/>
                      <p:pic>
                        <p:nvPicPr>
                          <p:cNvPr id="65" name="Object 39">
                            <a:extLst>
                              <a:ext uri="{FF2B5EF4-FFF2-40B4-BE49-F238E27FC236}">
                                <a16:creationId xmlns:a16="http://schemas.microsoft.com/office/drawing/2014/main" id="{EE82EB1C-86D8-40C7-840E-B5752459184C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405" y="3006"/>
                            <a:ext cx="271" cy="38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67" name="Text Box 40">
            <a:extLst>
              <a:ext uri="{FF2B5EF4-FFF2-40B4-BE49-F238E27FC236}">
                <a16:creationId xmlns:a16="http://schemas.microsoft.com/office/drawing/2014/main" id="{669B9980-434B-4EFD-A938-29D8673DFA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0832" y="4116805"/>
            <a:ext cx="7921237" cy="95677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44000" tIns="108000" rIns="144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Los e</a:t>
            </a:r>
            <a:r>
              <a:rPr lang="es-ES" sz="2400" baseline="30000" dirty="0">
                <a:solidFill>
                  <a:srgbClr val="000000"/>
                </a:solidFill>
                <a:latin typeface="Arial" panose="020B0604020202020204" pitchFamily="34" charset="0"/>
              </a:rPr>
              <a:t>-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no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desviados no se desvían y acumulan porque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el </a:t>
            </a:r>
            <a:r>
              <a:rPr lang="es-ES" sz="2400" b="1" dirty="0">
                <a:solidFill>
                  <a:srgbClr val="000000"/>
                </a:solidFill>
                <a:latin typeface="Arial" panose="020B0604020202020204" pitchFamily="34" charset="0"/>
              </a:rPr>
              <a:t>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alcanzado es tal que la </a:t>
            </a:r>
            <a:r>
              <a:rPr lang="es-ES" sz="2400" b="1" dirty="0" err="1">
                <a:solidFill>
                  <a:srgbClr val="000000"/>
                </a:solidFill>
                <a:latin typeface="Arial" panose="020B0604020202020204" pitchFamily="34" charset="0"/>
              </a:rPr>
              <a:t>F</a:t>
            </a:r>
            <a:r>
              <a:rPr lang="es-ES" sz="2400" baseline="-25000" dirty="0" err="1">
                <a:solidFill>
                  <a:srgbClr val="000000"/>
                </a:solidFill>
                <a:latin typeface="Arial" panose="020B0604020202020204" pitchFamily="34" charset="0"/>
              </a:rPr>
              <a:t>total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que sufren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es nula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9" name="Text Box 40">
            <a:extLst>
              <a:ext uri="{FF2B5EF4-FFF2-40B4-BE49-F238E27FC236}">
                <a16:creationId xmlns:a16="http://schemas.microsoft.com/office/drawing/2014/main" id="{8470A846-4129-414F-BD82-C2C45757A7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1038" y="2537677"/>
            <a:ext cx="4614263" cy="90588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0000" tIns="82800" rIns="90000" bIns="828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Los e</a:t>
            </a:r>
            <a:r>
              <a:rPr lang="es-ES" sz="2400" baseline="30000" dirty="0">
                <a:solidFill>
                  <a:srgbClr val="000000"/>
                </a:solidFill>
                <a:latin typeface="Arial" panose="020B0604020202020204" pitchFamily="34" charset="0"/>
              </a:rPr>
              <a:t>-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no desviados sienten el </a:t>
            </a:r>
            <a:r>
              <a:rPr lang="es-ES" sz="2400" b="1" dirty="0">
                <a:solidFill>
                  <a:srgbClr val="000000"/>
                </a:solidFill>
                <a:latin typeface="Arial" panose="020B0604020202020204" pitchFamily="34" charset="0"/>
              </a:rPr>
              <a:t>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y sufren una </a:t>
            </a:r>
            <a:r>
              <a:rPr lang="es-ES" sz="2400" b="1" dirty="0">
                <a:solidFill>
                  <a:srgbClr val="000000"/>
                </a:solidFill>
                <a:latin typeface="Arial" panose="020B0604020202020204" pitchFamily="34" charset="0"/>
              </a:rPr>
              <a:t>F</a:t>
            </a:r>
            <a:r>
              <a:rPr lang="es-ES" sz="2400" b="1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E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0" name="Text Box 40">
            <a:extLst>
              <a:ext uri="{FF2B5EF4-FFF2-40B4-BE49-F238E27FC236}">
                <a16:creationId xmlns:a16="http://schemas.microsoft.com/office/drawing/2014/main" id="{FB604E45-7B63-4051-AAB1-9694EEEFCC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1038" y="321788"/>
            <a:ext cx="4602162" cy="127521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0000" tIns="82800" rIns="90000" bIns="828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Eso da lugar a un exceso de Q</a:t>
            </a:r>
            <a:r>
              <a:rPr lang="es-ES" sz="2400" baseline="30000" dirty="0">
                <a:solidFill>
                  <a:srgbClr val="000000"/>
                </a:solidFill>
                <a:latin typeface="Arial" panose="020B0604020202020204" pitchFamily="34" charset="0"/>
              </a:rPr>
              <a:t>+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en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el otro extremo de la barra,</a:t>
            </a:r>
          </a:p>
          <a:p>
            <a:pPr algn="just"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al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ser la barra neutra</a:t>
            </a:r>
          </a:p>
        </p:txBody>
      </p:sp>
      <p:grpSp>
        <p:nvGrpSpPr>
          <p:cNvPr id="56" name="Grupo 55">
            <a:extLst>
              <a:ext uri="{FF2B5EF4-FFF2-40B4-BE49-F238E27FC236}">
                <a16:creationId xmlns:a16="http://schemas.microsoft.com/office/drawing/2014/main" id="{99004E33-F1DB-4A6B-82EB-B2B94AC5D435}"/>
              </a:ext>
            </a:extLst>
          </p:cNvPr>
          <p:cNvGrpSpPr/>
          <p:nvPr/>
        </p:nvGrpSpPr>
        <p:grpSpPr>
          <a:xfrm>
            <a:off x="8358033" y="3171775"/>
            <a:ext cx="1608138" cy="902423"/>
            <a:chOff x="5761063" y="3106241"/>
            <a:chExt cx="1608138" cy="902423"/>
          </a:xfrm>
        </p:grpSpPr>
        <p:grpSp>
          <p:nvGrpSpPr>
            <p:cNvPr id="57" name="Grupo 56">
              <a:extLst>
                <a:ext uri="{FF2B5EF4-FFF2-40B4-BE49-F238E27FC236}">
                  <a16:creationId xmlns:a16="http://schemas.microsoft.com/office/drawing/2014/main" id="{A66E34D8-70BE-491A-82B2-B15ED0430F9D}"/>
                </a:ext>
              </a:extLst>
            </p:cNvPr>
            <p:cNvGrpSpPr/>
            <p:nvPr/>
          </p:nvGrpSpPr>
          <p:grpSpPr>
            <a:xfrm>
              <a:off x="5761063" y="3106241"/>
              <a:ext cx="1608138" cy="803275"/>
              <a:chOff x="6710381" y="6082957"/>
              <a:chExt cx="1608138" cy="803275"/>
            </a:xfrm>
          </p:grpSpPr>
          <p:sp>
            <p:nvSpPr>
              <p:cNvPr id="59" name="Rectangle 49">
                <a:extLst>
                  <a:ext uri="{FF2B5EF4-FFF2-40B4-BE49-F238E27FC236}">
                    <a16:creationId xmlns:a16="http://schemas.microsoft.com/office/drawing/2014/main" id="{C740B9B7-4BBD-4F5A-B6C1-33DEA303B5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10381" y="6082957"/>
                <a:ext cx="1608138" cy="803275"/>
              </a:xfrm>
              <a:prstGeom prst="rect">
                <a:avLst/>
              </a:prstGeom>
              <a:solidFill>
                <a:srgbClr val="99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  <a:defRPr/>
                </a:pPr>
                <a:endParaRPr lang="es-E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60" name="Object 55">
                    <a:extLst>
                      <a:ext uri="{FF2B5EF4-FFF2-40B4-BE49-F238E27FC236}">
                        <a16:creationId xmlns:a16="http://schemas.microsoft.com/office/drawing/2014/main" id="{4EB51617-F063-42BC-ACCD-70A6BC22008F}"/>
                      </a:ext>
                    </a:extLst>
                  </p:cNvPr>
                  <p:cNvGraphicFramePr>
                    <a:graphicFrameLocks noChangeAspect="1"/>
                  </p:cNvGraphicFramePr>
                  <p:nvPr/>
                </p:nvGraphicFramePr>
                <p:xfrm>
                  <a:off x="6801663" y="6087031"/>
                  <a:ext cx="1425575" cy="752475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cuación" r:id="rId12" imgW="457200" imgH="241300" progId="Equation.3">
                          <p:embed/>
                        </p:oleObj>
                      </mc:Choice>
                      <mc:Fallback>
                        <p:oleObj name="Ecuación" r:id="rId12" imgW="457200" imgH="241300" progId="Equation.3">
                          <p:embed/>
                          <p:pic>
                            <p:nvPicPr>
                              <p:cNvPr id="60" name="Object 55">
                                <a:extLst>
                                  <a:ext uri="{FF2B5EF4-FFF2-40B4-BE49-F238E27FC236}">
                                    <a16:creationId xmlns:a16="http://schemas.microsoft.com/office/drawing/2014/main" id="{4EB51617-F063-42BC-ACCD-70A6BC22008F}"/>
                                  </a:ext>
                                </a:extLst>
                              </p:cNvPr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3">
                                <a:extLst>
                                  <a:ext uri="{28A0092B-C50C-407E-A947-70E740481C1C}">
                                    <a14:useLocalDpi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6801663" y="6087031"/>
                                <a:ext cx="1425575" cy="752475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 xmlns="">
              <p:graphicFrame>
                <p:nvGraphicFramePr>
                  <p:cNvPr id="60" name="Object 55">
                    <a:extLst>
                      <a:ext uri="{FF2B5EF4-FFF2-40B4-BE49-F238E27FC236}">
                        <a16:creationId xmlns:a16="http://schemas.microsoft.com/office/drawing/2014/main" id="{4EB51617-F063-42BC-ACCD-70A6BC22008F}"/>
                      </a:ext>
                    </a:extLst>
                  </p:cNvPr>
                  <p:cNvGraphicFramePr>
                    <a:graphicFrameLocks noChangeAspect="1"/>
                  </p:cNvGraphicFramePr>
                  <p:nvPr/>
                </p:nvGraphicFramePr>
                <p:xfrm>
                  <a:off x="6801663" y="6087031"/>
                  <a:ext cx="1425575" cy="752475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spid="_x0000_s65659" name="Ecuación" r:id="rId15" imgW="457200" imgH="241300" progId="Equation.3">
                          <p:embed/>
                        </p:oleObj>
                      </mc:Choice>
                      <mc:Fallback>
                        <p:oleObj name="Ecuación" r:id="rId15" imgW="457200" imgH="241300" progId="Equation.3">
                          <p:embed/>
                          <p:pic>
                            <p:nvPicPr>
                              <p:cNvPr id="72" name="Object 55">
                                <a:extLst>
                                  <a:ext uri="{FF2B5EF4-FFF2-40B4-BE49-F238E27FC236}">
                                    <a16:creationId xmlns:a16="http://schemas.microsoft.com/office/drawing/2014/main" id="{E8C14AA6-456D-4708-B5A7-05C0A019A232}"/>
                                  </a:ext>
                                </a:extLst>
                              </p:cNvPr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6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6801663" y="6087031"/>
                                <a:ext cx="1425575" cy="752475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Object 55">
                  <a:extLst>
                    <a:ext uri="{FF2B5EF4-FFF2-40B4-BE49-F238E27FC236}">
                      <a16:creationId xmlns:a16="http://schemas.microsoft.com/office/drawing/2014/main" id="{35C424FD-DAFB-4584-B3AD-4A161FDDC50D}"/>
                    </a:ext>
                  </a:extLst>
                </p:cNvPr>
                <p:cNvSpPr txBox="1"/>
                <p:nvPr/>
              </p:nvSpPr>
              <p:spPr bwMode="auto">
                <a:xfrm>
                  <a:off x="5998025" y="3490004"/>
                  <a:ext cx="333748" cy="51866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es-E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s-ES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</m:acc>
                      </m:oMath>
                    </m:oMathPara>
                  </a14:m>
                  <a:endParaRPr lang="es-ES" dirty="0"/>
                </a:p>
              </p:txBody>
            </p:sp>
          </mc:Choice>
          <mc:Fallback xmlns="">
            <p:sp>
              <p:nvSpPr>
                <p:cNvPr id="58" name="Object 55">
                  <a:extLst>
                    <a:ext uri="{FF2B5EF4-FFF2-40B4-BE49-F238E27FC236}">
                      <a16:creationId xmlns:a16="http://schemas.microsoft.com/office/drawing/2014/main" id="{35C424FD-DAFB-4584-B3AD-4A161FDDC5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998025" y="3490004"/>
                  <a:ext cx="333748" cy="518660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1" name="Text Box 41">
            <a:extLst>
              <a:ext uri="{FF2B5EF4-FFF2-40B4-BE49-F238E27FC236}">
                <a16:creationId xmlns:a16="http://schemas.microsoft.com/office/drawing/2014/main" id="{F7D3CDEA-5664-4B99-8D04-48BFEDBB7A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63128" y="5278596"/>
            <a:ext cx="1662933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 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F</a:t>
            </a:r>
            <a:r>
              <a:rPr lang="es-ES" sz="2400" b="1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= F</a:t>
            </a:r>
            <a:r>
              <a:rPr lang="es-ES" sz="2400" b="1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B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2" name="Text Box 41">
            <a:extLst>
              <a:ext uri="{FF2B5EF4-FFF2-40B4-BE49-F238E27FC236}">
                <a16:creationId xmlns:a16="http://schemas.microsoft.com/office/drawing/2014/main" id="{49CAB4B2-0DB0-44A4-AB88-9C901742FC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8448" y="5290030"/>
            <a:ext cx="1377598" cy="53654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1" dirty="0">
                <a:solidFill>
                  <a:srgbClr val="000000"/>
                </a:solidFill>
                <a:latin typeface="Arial" panose="020B0604020202020204" pitchFamily="34" charset="0"/>
              </a:rPr>
              <a:t>F</a:t>
            </a:r>
            <a:r>
              <a:rPr lang="es-ES" sz="2400" b="1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= - </a:t>
            </a:r>
            <a:r>
              <a:rPr lang="es-ES" sz="2400" b="1" dirty="0">
                <a:solidFill>
                  <a:srgbClr val="000000"/>
                </a:solidFill>
                <a:latin typeface="Arial" panose="020B0604020202020204" pitchFamily="34" charset="0"/>
              </a:rPr>
              <a:t>F</a:t>
            </a:r>
            <a:r>
              <a:rPr lang="es-ES" sz="2400" b="1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B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3" name="Text Box 32">
            <a:extLst>
              <a:ext uri="{FF2B5EF4-FFF2-40B4-BE49-F238E27FC236}">
                <a16:creationId xmlns:a16="http://schemas.microsoft.com/office/drawing/2014/main" id="{EA78B7BF-CCA5-4D3E-B627-5DB8FC1ADB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8326" y="6070139"/>
            <a:ext cx="1666875" cy="671513"/>
          </a:xfrm>
          <a:prstGeom prst="rect">
            <a:avLst/>
          </a:prstGeom>
          <a:solidFill>
            <a:srgbClr val="FF99CC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126000" tIns="118800" rIns="126000" bIns="118800" anchor="ctr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800" dirty="0"/>
              <a:t>F</a:t>
            </a:r>
            <a:r>
              <a:rPr lang="es-ES" sz="2800" b="1" baseline="-25000" dirty="0"/>
              <a:t>E</a:t>
            </a:r>
            <a:r>
              <a:rPr lang="es-ES" sz="2800" dirty="0"/>
              <a:t> = |</a:t>
            </a:r>
            <a:r>
              <a:rPr lang="es-ES" sz="2800" dirty="0" err="1"/>
              <a:t>q|E</a:t>
            </a:r>
            <a:endParaRPr lang="es-ES" sz="2800" dirty="0"/>
          </a:p>
        </p:txBody>
      </p:sp>
      <p:sp>
        <p:nvSpPr>
          <p:cNvPr id="74" name="Text Box 32">
            <a:extLst>
              <a:ext uri="{FF2B5EF4-FFF2-40B4-BE49-F238E27FC236}">
                <a16:creationId xmlns:a16="http://schemas.microsoft.com/office/drawing/2014/main" id="{2BB1820F-5CA7-435C-8E54-1F6660E669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95741" y="6067454"/>
            <a:ext cx="2203450" cy="671512"/>
          </a:xfrm>
          <a:prstGeom prst="rect">
            <a:avLst/>
          </a:prstGeom>
          <a:solidFill>
            <a:srgbClr val="FF99CC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126000" tIns="118800" rIns="126000" bIns="118800" anchor="ctr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800" dirty="0"/>
              <a:t>F</a:t>
            </a:r>
            <a:r>
              <a:rPr lang="es-ES" sz="2800" b="1" baseline="-25000" dirty="0"/>
              <a:t>B</a:t>
            </a:r>
            <a:r>
              <a:rPr lang="es-ES" sz="2800" dirty="0"/>
              <a:t> = |q| v</a:t>
            </a:r>
            <a:r>
              <a:rPr lang="es-ES" sz="2800" baseline="-25000" dirty="0">
                <a:sym typeface="Symbol" panose="05050102010706020507" pitchFamily="18" charset="2"/>
              </a:rPr>
              <a:t></a:t>
            </a:r>
            <a:r>
              <a:rPr lang="es-ES" sz="2800" dirty="0"/>
              <a:t> B</a:t>
            </a:r>
          </a:p>
        </p:txBody>
      </p:sp>
      <p:sp>
        <p:nvSpPr>
          <p:cNvPr id="75" name="Text Box 41">
            <a:extLst>
              <a:ext uri="{FF2B5EF4-FFF2-40B4-BE49-F238E27FC236}">
                <a16:creationId xmlns:a16="http://schemas.microsoft.com/office/drawing/2014/main" id="{D2F0738A-5557-4880-BDBF-7D5065E44C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80637" y="5282990"/>
            <a:ext cx="2046051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 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</a:rPr>
              <a:t>eE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=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</a:rPr>
              <a:t>ev</a:t>
            </a:r>
            <a:r>
              <a:rPr lang="es-ES" sz="2400" baseline="-25000" dirty="0" err="1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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</a:rPr>
              <a:t>B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6" name="Text Box 41">
            <a:extLst>
              <a:ext uri="{FF2B5EF4-FFF2-40B4-BE49-F238E27FC236}">
                <a16:creationId xmlns:a16="http://schemas.microsoft.com/office/drawing/2014/main" id="{F779243A-9966-4299-B6D6-A4D460C699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6561" y="5299861"/>
            <a:ext cx="976847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=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</a:rPr>
              <a:t>evB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8" name="Text Box 41">
            <a:extLst>
              <a:ext uri="{FF2B5EF4-FFF2-40B4-BE49-F238E27FC236}">
                <a16:creationId xmlns:a16="http://schemas.microsoft.com/office/drawing/2014/main" id="{5183FC00-958C-496E-AA1C-1166199B36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90886" y="5294800"/>
            <a:ext cx="1568356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  E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=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</a:rPr>
              <a:t>vB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" name="Text Box 69">
            <a:extLst>
              <a:ext uri="{FF2B5EF4-FFF2-40B4-BE49-F238E27FC236}">
                <a16:creationId xmlns:a16="http://schemas.microsoft.com/office/drawing/2014/main" id="{182E1301-CAD8-343B-908F-E2ABCC00BE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2283" y="5913220"/>
            <a:ext cx="2574696" cy="90588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En la barra </a:t>
            </a:r>
            <a:r>
              <a:rPr lang="es-ES" sz="2400" b="1">
                <a:latin typeface="Arial" panose="020B0604020202020204" pitchFamily="34" charset="0"/>
              </a:rPr>
              <a:t>E</a:t>
            </a:r>
            <a:r>
              <a:rPr lang="es-ES" sz="2400">
                <a:latin typeface="Arial" panose="020B0604020202020204" pitchFamily="34" charset="0"/>
              </a:rPr>
              <a:t> es cte. y uniforme</a:t>
            </a:r>
            <a:endParaRPr lang="es-ES" sz="2400" dirty="0">
              <a:latin typeface="Arial" panose="020B0604020202020204" pitchFamily="34" charset="0"/>
            </a:endParaRPr>
          </a:p>
        </p:txBody>
      </p:sp>
      <p:sp>
        <p:nvSpPr>
          <p:cNvPr id="79" name="Text Box 69">
            <a:extLst>
              <a:ext uri="{FF2B5EF4-FFF2-40B4-BE49-F238E27FC236}">
                <a16:creationId xmlns:a16="http://schemas.microsoft.com/office/drawing/2014/main" id="{273776B4-5B52-42C6-86B8-DF52BF0B88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5963" y="5841027"/>
            <a:ext cx="1780097" cy="90588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v</a:t>
            </a:r>
            <a:r>
              <a:rPr lang="es-ES" sz="2400">
                <a:latin typeface="Arial" panose="020B0604020202020204" pitchFamily="34" charset="0"/>
              </a:rPr>
              <a:t> y </a:t>
            </a:r>
            <a:r>
              <a:rPr lang="es-ES" sz="2400" b="1">
                <a:latin typeface="Arial" panose="020B0604020202020204" pitchFamily="34" charset="0"/>
              </a:rPr>
              <a:t>B</a:t>
            </a:r>
            <a:r>
              <a:rPr lang="es-ES" sz="2400">
                <a:latin typeface="Arial" panose="020B0604020202020204" pitchFamily="34" charset="0"/>
              </a:rPr>
              <a:t> son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ctes. y unif.</a:t>
            </a:r>
            <a:endParaRPr lang="es-ES" sz="2400" dirty="0">
              <a:latin typeface="Arial" panose="020B0604020202020204" pitchFamily="34" charset="0"/>
            </a:endParaRPr>
          </a:p>
        </p:txBody>
      </p:sp>
      <p:sp>
        <p:nvSpPr>
          <p:cNvPr id="5" name="Text Box 41">
            <a:extLst>
              <a:ext uri="{FF2B5EF4-FFF2-40B4-BE49-F238E27FC236}">
                <a16:creationId xmlns:a16="http://schemas.microsoft.com/office/drawing/2014/main" id="{806840C6-2CB0-7BDC-9E3E-DAED7A9BAA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81809" y="6037162"/>
            <a:ext cx="484726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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pSp>
        <p:nvGrpSpPr>
          <p:cNvPr id="12" name="Grupo 11">
            <a:extLst>
              <a:ext uri="{FF2B5EF4-FFF2-40B4-BE49-F238E27FC236}">
                <a16:creationId xmlns:a16="http://schemas.microsoft.com/office/drawing/2014/main" id="{6A791F5D-5170-1EE6-9961-434CACFE503E}"/>
              </a:ext>
            </a:extLst>
          </p:cNvPr>
          <p:cNvGrpSpPr/>
          <p:nvPr/>
        </p:nvGrpSpPr>
        <p:grpSpPr>
          <a:xfrm>
            <a:off x="4700944" y="5714483"/>
            <a:ext cx="705199" cy="1077140"/>
            <a:chOff x="4700944" y="5714483"/>
            <a:chExt cx="705199" cy="1077140"/>
          </a:xfrm>
        </p:grpSpPr>
        <p:cxnSp>
          <p:nvCxnSpPr>
            <p:cNvPr id="7" name="Conector recto de flecha 6">
              <a:extLst>
                <a:ext uri="{FF2B5EF4-FFF2-40B4-BE49-F238E27FC236}">
                  <a16:creationId xmlns:a16="http://schemas.microsoft.com/office/drawing/2014/main" id="{BCD40C75-97BB-EE5E-303E-FBED80701290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700944" y="6122372"/>
              <a:ext cx="401869" cy="669251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0" name="Text Box 41">
              <a:extLst>
                <a:ext uri="{FF2B5EF4-FFF2-40B4-BE49-F238E27FC236}">
                  <a16:creationId xmlns:a16="http://schemas.microsoft.com/office/drawing/2014/main" id="{A10F1AA4-A91C-5F4E-9B02-D29CC5A19B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70497" y="5714483"/>
              <a:ext cx="335646" cy="5365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FF0000"/>
                  </a:solidFill>
                  <a:latin typeface="Arial" panose="020B0604020202020204" pitchFamily="34" charset="0"/>
                </a:rPr>
                <a:t>v</a:t>
              </a:r>
              <a:endParaRPr lang="es-ES" sz="2400" dirty="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3" name="Grupo 12">
            <a:extLst>
              <a:ext uri="{FF2B5EF4-FFF2-40B4-BE49-F238E27FC236}">
                <a16:creationId xmlns:a16="http://schemas.microsoft.com/office/drawing/2014/main" id="{945A721D-85CD-6881-9DBA-1649CB7C2B46}"/>
              </a:ext>
            </a:extLst>
          </p:cNvPr>
          <p:cNvGrpSpPr/>
          <p:nvPr/>
        </p:nvGrpSpPr>
        <p:grpSpPr>
          <a:xfrm>
            <a:off x="2235068" y="5680839"/>
            <a:ext cx="825425" cy="1077140"/>
            <a:chOff x="4700944" y="5714483"/>
            <a:chExt cx="825425" cy="1077140"/>
          </a:xfrm>
        </p:grpSpPr>
        <p:cxnSp>
          <p:nvCxnSpPr>
            <p:cNvPr id="14" name="Conector recto de flecha 13">
              <a:extLst>
                <a:ext uri="{FF2B5EF4-FFF2-40B4-BE49-F238E27FC236}">
                  <a16:creationId xmlns:a16="http://schemas.microsoft.com/office/drawing/2014/main" id="{EF02E187-EA01-9A79-4E29-099001488415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700944" y="6122372"/>
              <a:ext cx="401869" cy="669251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5" name="Text Box 41">
              <a:extLst>
                <a:ext uri="{FF2B5EF4-FFF2-40B4-BE49-F238E27FC236}">
                  <a16:creationId xmlns:a16="http://schemas.microsoft.com/office/drawing/2014/main" id="{8CAE2B40-26C9-BD00-6C1D-473C1BC850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70497" y="5714483"/>
              <a:ext cx="455872" cy="5365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FF0000"/>
                  </a:solidFill>
                  <a:latin typeface="Arial" panose="020B0604020202020204" pitchFamily="34" charset="0"/>
                </a:rPr>
                <a:t>-e</a:t>
              </a:r>
              <a:endParaRPr lang="es-ES" sz="2400" dirty="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87217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77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77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0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7711" grpId="0"/>
      <p:bldP spid="50" grpId="0" animBg="1"/>
      <p:bldP spid="67" grpId="0" animBg="1"/>
      <p:bldP spid="69" grpId="0" animBg="1"/>
      <p:bldP spid="70" grpId="0" animBg="1"/>
      <p:bldP spid="71" grpId="0"/>
      <p:bldP spid="72" grpId="0" animBg="1"/>
      <p:bldP spid="73" grpId="0" animBg="1"/>
      <p:bldP spid="74" grpId="0" animBg="1"/>
      <p:bldP spid="75" grpId="0"/>
      <p:bldP spid="76" grpId="0"/>
      <p:bldP spid="78" grpId="0"/>
      <p:bldP spid="4" grpId="0" animBg="1"/>
      <p:bldP spid="79" grpId="0" animBg="1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 Box 47">
            <a:extLst>
              <a:ext uri="{FF2B5EF4-FFF2-40B4-BE49-F238E27FC236}">
                <a16:creationId xmlns:a16="http://schemas.microsoft.com/office/drawing/2014/main" id="{002ACC34-7580-450D-9FDC-5280C441AE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0530" y="5312763"/>
            <a:ext cx="2640345" cy="590204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none" lIns="90000" tIns="82800" rIns="90000" bIns="82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= V/R =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vBL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/R</a:t>
            </a:r>
          </a:p>
        </p:txBody>
      </p:sp>
      <p:sp>
        <p:nvSpPr>
          <p:cNvPr id="56" name="75 CuadroTexto">
            <a:extLst>
              <a:ext uri="{FF2B5EF4-FFF2-40B4-BE49-F238E27FC236}">
                <a16:creationId xmlns:a16="http://schemas.microsoft.com/office/drawing/2014/main" id="{35250E35-17C2-468F-9DC9-72DB3223B7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6797" y="4378138"/>
            <a:ext cx="8396754" cy="8309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La caída de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potencial también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está aplicada a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R y produce</a:t>
            </a:r>
          </a:p>
          <a:p>
            <a:pPr algn="just"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una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corriente </a:t>
            </a:r>
            <a:r>
              <a:rPr lang="es-ES" sz="2400" dirty="0">
                <a:latin typeface="Arial" panose="020B0604020202020204" pitchFamily="34" charset="0"/>
              </a:rPr>
              <a:t>en ella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en el sentido de la caída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 (antihoraria)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:</a:t>
            </a:r>
          </a:p>
        </p:txBody>
      </p:sp>
      <p:sp>
        <p:nvSpPr>
          <p:cNvPr id="57" name="Text Box 69">
            <a:extLst>
              <a:ext uri="{FF2B5EF4-FFF2-40B4-BE49-F238E27FC236}">
                <a16:creationId xmlns:a16="http://schemas.microsoft.com/office/drawing/2014/main" id="{493965D7-2CB1-4BDC-94BE-89D2D4633B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1833" y="5311865"/>
            <a:ext cx="1121118" cy="590204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Es cte.</a:t>
            </a:r>
          </a:p>
        </p:txBody>
      </p:sp>
      <p:sp>
        <p:nvSpPr>
          <p:cNvPr id="89" name="Text Box 69">
            <a:extLst>
              <a:ext uri="{FF2B5EF4-FFF2-40B4-BE49-F238E27FC236}">
                <a16:creationId xmlns:a16="http://schemas.microsoft.com/office/drawing/2014/main" id="{F396A326-B43E-4EEB-9EFC-C9C312C4BF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3281" y="5336833"/>
            <a:ext cx="3846223" cy="536549"/>
          </a:xfrm>
          <a:prstGeom prst="rect">
            <a:avLst/>
          </a:prstGeom>
          <a:noFill/>
          <a:ln>
            <a:noFill/>
          </a:ln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(es una corriente continua)</a:t>
            </a:r>
          </a:p>
        </p:txBody>
      </p:sp>
      <p:sp>
        <p:nvSpPr>
          <p:cNvPr id="66" name="Text Box 47">
            <a:extLst>
              <a:ext uri="{FF2B5EF4-FFF2-40B4-BE49-F238E27FC236}">
                <a16:creationId xmlns:a16="http://schemas.microsoft.com/office/drawing/2014/main" id="{AA4460B2-1114-4CCF-B6B4-CAA6A47A0C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9169" y="3683736"/>
            <a:ext cx="2273367" cy="590204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none" lIns="90000" tIns="82800" rIns="90000" bIns="82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V =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E L =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</a:rPr>
              <a:t>vBL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70" name="Text Box 94">
            <a:extLst>
              <a:ext uri="{FF2B5EF4-FFF2-40B4-BE49-F238E27FC236}">
                <a16:creationId xmlns:a16="http://schemas.microsoft.com/office/drawing/2014/main" id="{89D09B5C-4F16-4E39-A805-35FF3682D0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5963" y="401408"/>
            <a:ext cx="4559774" cy="127521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es-ES" sz="2400"/>
              <a:t>Los excesos de carga crean una </a:t>
            </a:r>
            <a:r>
              <a:rPr lang="es-ES" sz="2400">
                <a:solidFill>
                  <a:srgbClr val="3333FF"/>
                </a:solidFill>
              </a:rPr>
              <a:t>caída de potencial </a:t>
            </a:r>
            <a:r>
              <a:rPr lang="es-ES" sz="2400"/>
              <a:t>en</a:t>
            </a:r>
          </a:p>
          <a:p>
            <a:pPr eaLnBrk="1" hangingPunct="1">
              <a:spcBef>
                <a:spcPts val="0"/>
              </a:spcBef>
            </a:pPr>
            <a:r>
              <a:rPr lang="es-ES" sz="2400"/>
              <a:t>la barra en el sentido de </a:t>
            </a:r>
            <a:r>
              <a:rPr lang="es-ES" sz="2400" b="1"/>
              <a:t>E</a:t>
            </a:r>
            <a:endParaRPr lang="es-ES" sz="2400" dirty="0"/>
          </a:p>
        </p:txBody>
      </p:sp>
      <p:grpSp>
        <p:nvGrpSpPr>
          <p:cNvPr id="71" name="Grupo 70">
            <a:extLst>
              <a:ext uri="{FF2B5EF4-FFF2-40B4-BE49-F238E27FC236}">
                <a16:creationId xmlns:a16="http://schemas.microsoft.com/office/drawing/2014/main" id="{6FC3D050-18A4-4332-87E5-35A0240F9840}"/>
              </a:ext>
            </a:extLst>
          </p:cNvPr>
          <p:cNvGrpSpPr/>
          <p:nvPr/>
        </p:nvGrpSpPr>
        <p:grpSpPr>
          <a:xfrm>
            <a:off x="1207107" y="529225"/>
            <a:ext cx="4473575" cy="2963592"/>
            <a:chOff x="1236842" y="62914"/>
            <a:chExt cx="4473575" cy="2963592"/>
          </a:xfrm>
        </p:grpSpPr>
        <p:sp>
          <p:nvSpPr>
            <p:cNvPr id="72" name="Text Box 2">
              <a:extLst>
                <a:ext uri="{FF2B5EF4-FFF2-40B4-BE49-F238E27FC236}">
                  <a16:creationId xmlns:a16="http://schemas.microsoft.com/office/drawing/2014/main" id="{4B0431D8-7245-49E8-AA5A-9F6C9266D3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57479" y="804006"/>
              <a:ext cx="4308475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latin typeface="Arial" panose="020B0604020202020204" pitchFamily="34" charset="0"/>
                </a:rPr>
                <a:t>x  x  x  x  x  x  x  x  x  x  x  x  x  x  x</a:t>
              </a:r>
            </a:p>
          </p:txBody>
        </p:sp>
        <p:sp>
          <p:nvSpPr>
            <p:cNvPr id="73" name="Line 5">
              <a:extLst>
                <a:ext uri="{FF2B5EF4-FFF2-40B4-BE49-F238E27FC236}">
                  <a16:creationId xmlns:a16="http://schemas.microsoft.com/office/drawing/2014/main" id="{13E45234-9124-4A97-836D-E964B6AC4B3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57529" y="1223106"/>
              <a:ext cx="0" cy="142240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Ctr="1"/>
            <a:lstStyle/>
            <a:p>
              <a:endParaRPr lang="en-GB"/>
            </a:p>
          </p:txBody>
        </p:sp>
        <p:sp>
          <p:nvSpPr>
            <p:cNvPr id="76" name="Line 6">
              <a:extLst>
                <a:ext uri="{FF2B5EF4-FFF2-40B4-BE49-F238E27FC236}">
                  <a16:creationId xmlns:a16="http://schemas.microsoft.com/office/drawing/2014/main" id="{696A49D2-B66B-4E9E-BCB4-FC775E9F2B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64342" y="1210406"/>
              <a:ext cx="0" cy="1446212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 type="stealth" w="lg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Ctr="1"/>
            <a:lstStyle/>
            <a:p>
              <a:endParaRPr lang="en-GB"/>
            </a:p>
          </p:txBody>
        </p:sp>
        <p:sp>
          <p:nvSpPr>
            <p:cNvPr id="77" name="Text Box 7">
              <a:extLst>
                <a:ext uri="{FF2B5EF4-FFF2-40B4-BE49-F238E27FC236}">
                  <a16:creationId xmlns:a16="http://schemas.microsoft.com/office/drawing/2014/main" id="{BDFEB65E-185D-46CB-94E0-B8085FA081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88154" y="1680306"/>
              <a:ext cx="322263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Arial" panose="020B0604020202020204" pitchFamily="34" charset="0"/>
                </a:rPr>
                <a:t>L</a:t>
              </a:r>
            </a:p>
          </p:txBody>
        </p:sp>
        <p:sp>
          <p:nvSpPr>
            <p:cNvPr id="78" name="Text Box 8">
              <a:extLst>
                <a:ext uri="{FF2B5EF4-FFF2-40B4-BE49-F238E27FC236}">
                  <a16:creationId xmlns:a16="http://schemas.microsoft.com/office/drawing/2014/main" id="{74CFF0D4-7573-479E-A68D-63BCC9175B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0017" y="1142143"/>
              <a:ext cx="4308475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latin typeface="Arial" panose="020B0604020202020204" pitchFamily="34" charset="0"/>
                </a:rPr>
                <a:t>x  x  x  x  x  x  x  x  x  x  x  x  x  x  x</a:t>
              </a:r>
            </a:p>
          </p:txBody>
        </p:sp>
        <p:sp>
          <p:nvSpPr>
            <p:cNvPr id="79" name="Text Box 9">
              <a:extLst>
                <a:ext uri="{FF2B5EF4-FFF2-40B4-BE49-F238E27FC236}">
                  <a16:creationId xmlns:a16="http://schemas.microsoft.com/office/drawing/2014/main" id="{CE565A95-A1F0-4681-8F57-CFD7F34380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4779" y="1502506"/>
              <a:ext cx="4308475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latin typeface="Arial" panose="020B0604020202020204" pitchFamily="34" charset="0"/>
                </a:rPr>
                <a:t>x  x  x  x  x  x  x  x  x  x  x  x  x  x  x</a:t>
              </a:r>
            </a:p>
          </p:txBody>
        </p:sp>
        <p:sp>
          <p:nvSpPr>
            <p:cNvPr id="80" name="Text Box 10">
              <a:extLst>
                <a:ext uri="{FF2B5EF4-FFF2-40B4-BE49-F238E27FC236}">
                  <a16:creationId xmlns:a16="http://schemas.microsoft.com/office/drawing/2014/main" id="{5DFB1633-EFB0-4CCB-B722-A716F8BD5F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9542" y="1840643"/>
              <a:ext cx="4308475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latin typeface="Arial" panose="020B0604020202020204" pitchFamily="34" charset="0"/>
                </a:rPr>
                <a:t>x  x  x  x  x  x  x  x  x  x  x  x  x  x  x</a:t>
              </a:r>
            </a:p>
          </p:txBody>
        </p:sp>
        <p:sp>
          <p:nvSpPr>
            <p:cNvPr id="81" name="Text Box 11">
              <a:extLst>
                <a:ext uri="{FF2B5EF4-FFF2-40B4-BE49-F238E27FC236}">
                  <a16:creationId xmlns:a16="http://schemas.microsoft.com/office/drawing/2014/main" id="{2E52E0D4-6A8C-4BEC-8EC2-1C95052B0F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3192" y="2186718"/>
              <a:ext cx="4308475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latin typeface="Arial" panose="020B0604020202020204" pitchFamily="34" charset="0"/>
                </a:rPr>
                <a:t>x  x  x  x  x  x  x  x  x  x  x  x  x  x  x</a:t>
              </a:r>
            </a:p>
          </p:txBody>
        </p:sp>
        <p:sp>
          <p:nvSpPr>
            <p:cNvPr id="83" name="Text Box 12">
              <a:extLst>
                <a:ext uri="{FF2B5EF4-FFF2-40B4-BE49-F238E27FC236}">
                  <a16:creationId xmlns:a16="http://schemas.microsoft.com/office/drawing/2014/main" id="{5F053640-A9C4-407F-9BD0-FC89D86CEA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36842" y="2556606"/>
              <a:ext cx="4308475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dirty="0">
                  <a:latin typeface="Arial" panose="020B0604020202020204" pitchFamily="34" charset="0"/>
                </a:rPr>
                <a:t>x  x  x  x  x  x  x  x  x  x  x  x  x  x  x</a:t>
              </a:r>
            </a:p>
          </p:txBody>
        </p:sp>
        <p:sp>
          <p:nvSpPr>
            <p:cNvPr id="84" name="Rectangle 13">
              <a:extLst>
                <a:ext uri="{FF2B5EF4-FFF2-40B4-BE49-F238E27FC236}">
                  <a16:creationId xmlns:a16="http://schemas.microsoft.com/office/drawing/2014/main" id="{BD0AC93F-7F5A-43BC-9F73-0CE5022F3F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4017" y="1558068"/>
              <a:ext cx="323850" cy="763588"/>
            </a:xfrm>
            <a:prstGeom prst="rect">
              <a:avLst/>
            </a:prstGeom>
            <a:solidFill>
              <a:srgbClr val="EDE7E3"/>
            </a:solidFill>
            <a:ln w="25400" algn="ctr">
              <a:solidFill>
                <a:srgbClr val="0000FF"/>
              </a:solidFill>
              <a:miter lim="800000"/>
              <a:headEnd/>
              <a:tailEnd type="none" w="lg" len="lg"/>
            </a:ln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5" name="Text Box 14">
              <a:extLst>
                <a:ext uri="{FF2B5EF4-FFF2-40B4-BE49-F238E27FC236}">
                  <a16:creationId xmlns:a16="http://schemas.microsoft.com/office/drawing/2014/main" id="{0FA426B6-B009-46B6-91C5-90D44EA455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65442" y="1660596"/>
              <a:ext cx="365125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1">
                  <a:solidFill>
                    <a:srgbClr val="3333FF"/>
                  </a:solidFill>
                  <a:latin typeface="Arial" panose="020B0604020202020204" pitchFamily="34" charset="0"/>
                </a:rPr>
                <a:t>R</a:t>
              </a:r>
            </a:p>
          </p:txBody>
        </p:sp>
        <p:sp>
          <p:nvSpPr>
            <p:cNvPr id="86" name="Line 15">
              <a:extLst>
                <a:ext uri="{FF2B5EF4-FFF2-40B4-BE49-F238E27FC236}">
                  <a16:creationId xmlns:a16="http://schemas.microsoft.com/office/drawing/2014/main" id="{C01AD080-F7C3-4BDE-9BD1-D0091BBE4B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41654" y="2656618"/>
              <a:ext cx="3506788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Ctr="1"/>
            <a:lstStyle/>
            <a:p>
              <a:endParaRPr lang="en-GB"/>
            </a:p>
          </p:txBody>
        </p:sp>
        <p:sp>
          <p:nvSpPr>
            <p:cNvPr id="87" name="Line 16">
              <a:extLst>
                <a:ext uri="{FF2B5EF4-FFF2-40B4-BE49-F238E27FC236}">
                  <a16:creationId xmlns:a16="http://schemas.microsoft.com/office/drawing/2014/main" id="{31C78923-B2FA-4BCD-906F-BD0342E7A9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57529" y="1211993"/>
              <a:ext cx="3541713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Ctr="1"/>
            <a:lstStyle/>
            <a:p>
              <a:endParaRPr lang="en-GB"/>
            </a:p>
          </p:txBody>
        </p:sp>
        <p:sp>
          <p:nvSpPr>
            <p:cNvPr id="90" name="Line 18">
              <a:extLst>
                <a:ext uri="{FF2B5EF4-FFF2-40B4-BE49-F238E27FC236}">
                  <a16:creationId xmlns:a16="http://schemas.microsoft.com/office/drawing/2014/main" id="{539A79D3-A001-4FC3-9AB9-339835AECE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84779" y="708756"/>
              <a:ext cx="376238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/>
            </a:p>
          </p:txBody>
        </p:sp>
        <p:sp>
          <p:nvSpPr>
            <p:cNvPr id="91" name="Text Box 54">
              <a:extLst>
                <a:ext uri="{FF2B5EF4-FFF2-40B4-BE49-F238E27FC236}">
                  <a16:creationId xmlns:a16="http://schemas.microsoft.com/office/drawing/2014/main" id="{B9802F04-2C22-4877-B96F-8216F55BFC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87030" y="62914"/>
              <a:ext cx="2544584" cy="5365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Arial" panose="020B0604020202020204" pitchFamily="34" charset="0"/>
                </a:rPr>
                <a:t>Barra conductora</a:t>
              </a:r>
            </a:p>
          </p:txBody>
        </p:sp>
      </p:grpSp>
      <p:sp>
        <p:nvSpPr>
          <p:cNvPr id="92" name="AutoShape 17">
            <a:extLst>
              <a:ext uri="{FF2B5EF4-FFF2-40B4-BE49-F238E27FC236}">
                <a16:creationId xmlns:a16="http://schemas.microsoft.com/office/drawing/2014/main" id="{68A9122D-2DCB-418F-B4E7-BB7CD2A7414B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3332769" y="1413192"/>
            <a:ext cx="566738" cy="1711325"/>
          </a:xfrm>
          <a:prstGeom prst="can">
            <a:avLst>
              <a:gd name="adj" fmla="val 26883"/>
            </a:avLst>
          </a:prstGeom>
          <a:solidFill>
            <a:srgbClr val="EDE7E3"/>
          </a:solidFill>
          <a:ln w="25400">
            <a:solidFill>
              <a:srgbClr val="0000FF"/>
            </a:solidFill>
            <a:round/>
            <a:headEnd/>
            <a:tailEnd type="none" w="lg" len="lg"/>
          </a:ln>
        </p:spPr>
        <p:txBody>
          <a:bodyPr rot="10800000" wrap="none" lIns="90000" tIns="82800" rIns="90000" bIns="82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93" name="Object 19">
            <a:extLst>
              <a:ext uri="{FF2B5EF4-FFF2-40B4-BE49-F238E27FC236}">
                <a16:creationId xmlns:a16="http://schemas.microsoft.com/office/drawing/2014/main" id="{6F277621-A3D6-41C2-AFAA-CB720BF2452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61674" y="923765"/>
          <a:ext cx="307340" cy="4295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3" imgW="126725" imgH="177415" progId="Equation.3">
                  <p:embed/>
                </p:oleObj>
              </mc:Choice>
              <mc:Fallback>
                <p:oleObj name="Ecuación" r:id="rId3" imgW="126725" imgH="177415" progId="Equation.3">
                  <p:embed/>
                  <p:pic>
                    <p:nvPicPr>
                      <p:cNvPr id="93" name="Object 19">
                        <a:extLst>
                          <a:ext uri="{FF2B5EF4-FFF2-40B4-BE49-F238E27FC236}">
                            <a16:creationId xmlns:a16="http://schemas.microsoft.com/office/drawing/2014/main" id="{6F277621-A3D6-41C2-AFAA-CB720BF2452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1674" y="923765"/>
                        <a:ext cx="307340" cy="4295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4" name="Picture 24" descr="Image2">
            <a:extLst>
              <a:ext uri="{FF2B5EF4-FFF2-40B4-BE49-F238E27FC236}">
                <a16:creationId xmlns:a16="http://schemas.microsoft.com/office/drawing/2014/main" id="{F2DCC85F-4B02-4252-AF44-14CDFBFDB682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5644" y="2222817"/>
            <a:ext cx="31908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5" name="Group 27">
            <a:extLst>
              <a:ext uri="{FF2B5EF4-FFF2-40B4-BE49-F238E27FC236}">
                <a16:creationId xmlns:a16="http://schemas.microsoft.com/office/drawing/2014/main" id="{4367C277-231A-4376-942D-AC6FE7DD7FE8}"/>
              </a:ext>
            </a:extLst>
          </p:cNvPr>
          <p:cNvGrpSpPr>
            <a:grpSpLocks/>
          </p:cNvGrpSpPr>
          <p:nvPr/>
        </p:nvGrpSpPr>
        <p:grpSpPr bwMode="auto">
          <a:xfrm>
            <a:off x="3623282" y="2397444"/>
            <a:ext cx="709612" cy="647701"/>
            <a:chOff x="2839" y="1817"/>
            <a:chExt cx="447" cy="408"/>
          </a:xfrm>
        </p:grpSpPr>
        <p:sp>
          <p:nvSpPr>
            <p:cNvPr id="96" name="Line 28">
              <a:extLst>
                <a:ext uri="{FF2B5EF4-FFF2-40B4-BE49-F238E27FC236}">
                  <a16:creationId xmlns:a16="http://schemas.microsoft.com/office/drawing/2014/main" id="{4B169612-791E-481F-99BC-D96B499EEA9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720" y="2027"/>
              <a:ext cx="237" cy="0"/>
            </a:xfrm>
            <a:prstGeom prst="line">
              <a:avLst/>
            </a:prstGeom>
            <a:noFill/>
            <a:ln w="38100">
              <a:solidFill>
                <a:srgbClr val="808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Ctr="1"/>
            <a:lstStyle/>
            <a:p>
              <a:endParaRPr lang="en-GB"/>
            </a:p>
          </p:txBody>
        </p:sp>
        <p:grpSp>
          <p:nvGrpSpPr>
            <p:cNvPr id="97" name="Group 29">
              <a:extLst>
                <a:ext uri="{FF2B5EF4-FFF2-40B4-BE49-F238E27FC236}">
                  <a16:creationId xmlns:a16="http://schemas.microsoft.com/office/drawing/2014/main" id="{DEF4D049-4E82-4893-9DC6-54C3471FF58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15" y="1817"/>
              <a:ext cx="271" cy="408"/>
              <a:chOff x="2393" y="3012"/>
              <a:chExt cx="271" cy="408"/>
            </a:xfrm>
          </p:grpSpPr>
          <p:sp>
            <p:nvSpPr>
              <p:cNvPr id="98" name="Rectangle 30">
                <a:extLst>
                  <a:ext uri="{FF2B5EF4-FFF2-40B4-BE49-F238E27FC236}">
                    <a16:creationId xmlns:a16="http://schemas.microsoft.com/office/drawing/2014/main" id="{C9720E47-8A92-4877-B9FB-7F5D004820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9" y="3019"/>
                <a:ext cx="255" cy="401"/>
              </a:xfrm>
              <a:prstGeom prst="rect">
                <a:avLst/>
              </a:prstGeom>
              <a:solidFill>
                <a:srgbClr val="EDE7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graphicFrame>
            <p:nvGraphicFramePr>
              <p:cNvPr id="99" name="Object 31">
                <a:extLst>
                  <a:ext uri="{FF2B5EF4-FFF2-40B4-BE49-F238E27FC236}">
                    <a16:creationId xmlns:a16="http://schemas.microsoft.com/office/drawing/2014/main" id="{72109D14-D404-40DC-A1B5-EE4CB41C4BB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393" y="3012"/>
              <a:ext cx="271" cy="38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cuación" r:id="rId6" imgW="177569" imgH="253670" progId="Equation.3">
                      <p:embed/>
                    </p:oleObj>
                  </mc:Choice>
                  <mc:Fallback>
                    <p:oleObj name="Ecuación" r:id="rId6" imgW="177569" imgH="253670" progId="Equation.3">
                      <p:embed/>
                      <p:pic>
                        <p:nvPicPr>
                          <p:cNvPr id="99" name="Object 31">
                            <a:extLst>
                              <a:ext uri="{FF2B5EF4-FFF2-40B4-BE49-F238E27FC236}">
                                <a16:creationId xmlns:a16="http://schemas.microsoft.com/office/drawing/2014/main" id="{72109D14-D404-40DC-A1B5-EE4CB41C4BB1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393" y="3012"/>
                            <a:ext cx="271" cy="38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100" name="Text Box 33">
            <a:extLst>
              <a:ext uri="{FF2B5EF4-FFF2-40B4-BE49-F238E27FC236}">
                <a16:creationId xmlns:a16="http://schemas.microsoft.com/office/drawing/2014/main" id="{F613FEEB-8665-4E84-8BB1-28F304A507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9294" y="2719704"/>
            <a:ext cx="300038" cy="592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800">
                <a:solidFill>
                  <a:srgbClr val="FF0000"/>
                </a:solidFill>
                <a:latin typeface="Arial" panose="020B0604020202020204" pitchFamily="34" charset="0"/>
              </a:rPr>
              <a:t>-</a:t>
            </a:r>
          </a:p>
        </p:txBody>
      </p:sp>
      <p:sp>
        <p:nvSpPr>
          <p:cNvPr id="101" name="Text Box 34">
            <a:extLst>
              <a:ext uri="{FF2B5EF4-FFF2-40B4-BE49-F238E27FC236}">
                <a16:creationId xmlns:a16="http://schemas.microsoft.com/office/drawing/2014/main" id="{1CE852A0-1BA8-4537-A091-D145E233B8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8494" y="1236979"/>
            <a:ext cx="388938" cy="592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800">
                <a:solidFill>
                  <a:srgbClr val="FF0000"/>
                </a:solidFill>
                <a:latin typeface="Arial" panose="020B0604020202020204" pitchFamily="34" charset="0"/>
              </a:rPr>
              <a:t>+</a:t>
            </a:r>
          </a:p>
        </p:txBody>
      </p:sp>
      <p:grpSp>
        <p:nvGrpSpPr>
          <p:cNvPr id="102" name="Group 49">
            <a:extLst>
              <a:ext uri="{FF2B5EF4-FFF2-40B4-BE49-F238E27FC236}">
                <a16:creationId xmlns:a16="http://schemas.microsoft.com/office/drawing/2014/main" id="{A31E5418-D18B-4115-BEDB-A4B4C4393184}"/>
              </a:ext>
            </a:extLst>
          </p:cNvPr>
          <p:cNvGrpSpPr>
            <a:grpSpLocks/>
          </p:cNvGrpSpPr>
          <p:nvPr/>
        </p:nvGrpSpPr>
        <p:grpSpPr bwMode="auto">
          <a:xfrm>
            <a:off x="2888274" y="2065659"/>
            <a:ext cx="520701" cy="665164"/>
            <a:chOff x="2338" y="1608"/>
            <a:chExt cx="328" cy="419"/>
          </a:xfrm>
        </p:grpSpPr>
        <p:sp>
          <p:nvSpPr>
            <p:cNvPr id="103" name="Line 50">
              <a:extLst>
                <a:ext uri="{FF2B5EF4-FFF2-40B4-BE49-F238E27FC236}">
                  <a16:creationId xmlns:a16="http://schemas.microsoft.com/office/drawing/2014/main" id="{D2046632-6EFA-4F90-9E86-32BDE636EC4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474" y="1836"/>
              <a:ext cx="383" cy="0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Ctr="1"/>
            <a:lstStyle/>
            <a:p>
              <a:endParaRPr lang="en-GB"/>
            </a:p>
          </p:txBody>
        </p:sp>
        <p:grpSp>
          <p:nvGrpSpPr>
            <p:cNvPr id="104" name="Group 51">
              <a:extLst>
                <a:ext uri="{FF2B5EF4-FFF2-40B4-BE49-F238E27FC236}">
                  <a16:creationId xmlns:a16="http://schemas.microsoft.com/office/drawing/2014/main" id="{1CB1C6E4-711B-4B32-AFD6-EAD22FD7FDF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38" y="1608"/>
              <a:ext cx="255" cy="401"/>
              <a:chOff x="2399" y="3019"/>
              <a:chExt cx="255" cy="401"/>
            </a:xfrm>
          </p:grpSpPr>
          <p:sp>
            <p:nvSpPr>
              <p:cNvPr id="105" name="Rectangle 52">
                <a:extLst>
                  <a:ext uri="{FF2B5EF4-FFF2-40B4-BE49-F238E27FC236}">
                    <a16:creationId xmlns:a16="http://schemas.microsoft.com/office/drawing/2014/main" id="{E84516E7-1DAC-4456-BCB7-78DDB0C5DF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9" y="3019"/>
                <a:ext cx="255" cy="401"/>
              </a:xfrm>
              <a:prstGeom prst="rect">
                <a:avLst/>
              </a:prstGeom>
              <a:solidFill>
                <a:srgbClr val="EDE7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graphicFrame>
            <p:nvGraphicFramePr>
              <p:cNvPr id="106" name="Object 53">
                <a:extLst>
                  <a:ext uri="{FF2B5EF4-FFF2-40B4-BE49-F238E27FC236}">
                    <a16:creationId xmlns:a16="http://schemas.microsoft.com/office/drawing/2014/main" id="{D71E8A89-29CC-47EC-99EF-61FF8D8A0C2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411" y="3024"/>
              <a:ext cx="232" cy="30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cuación" r:id="rId8" imgW="152268" imgH="203024" progId="Equation.3">
                      <p:embed/>
                    </p:oleObj>
                  </mc:Choice>
                  <mc:Fallback>
                    <p:oleObj name="Ecuación" r:id="rId8" imgW="152268" imgH="203024" progId="Equation.3">
                      <p:embed/>
                      <p:pic>
                        <p:nvPicPr>
                          <p:cNvPr id="106" name="Object 53">
                            <a:extLst>
                              <a:ext uri="{FF2B5EF4-FFF2-40B4-BE49-F238E27FC236}">
                                <a16:creationId xmlns:a16="http://schemas.microsoft.com/office/drawing/2014/main" id="{D71E8A89-29CC-47EC-99EF-61FF8D8A0C20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411" y="3024"/>
                            <a:ext cx="232" cy="30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107" name="Group 35">
            <a:extLst>
              <a:ext uri="{FF2B5EF4-FFF2-40B4-BE49-F238E27FC236}">
                <a16:creationId xmlns:a16="http://schemas.microsoft.com/office/drawing/2014/main" id="{137CE0F1-E00F-458F-8620-E73B37C54682}"/>
              </a:ext>
            </a:extLst>
          </p:cNvPr>
          <p:cNvGrpSpPr>
            <a:grpSpLocks/>
          </p:cNvGrpSpPr>
          <p:nvPr/>
        </p:nvGrpSpPr>
        <p:grpSpPr bwMode="auto">
          <a:xfrm>
            <a:off x="3629632" y="1725928"/>
            <a:ext cx="722312" cy="657224"/>
            <a:chOff x="2843" y="1394"/>
            <a:chExt cx="455" cy="414"/>
          </a:xfrm>
        </p:grpSpPr>
        <p:sp>
          <p:nvSpPr>
            <p:cNvPr id="108" name="Line 36">
              <a:extLst>
                <a:ext uri="{FF2B5EF4-FFF2-40B4-BE49-F238E27FC236}">
                  <a16:creationId xmlns:a16="http://schemas.microsoft.com/office/drawing/2014/main" id="{59E57F81-9D1E-4953-8989-2706198856F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2724" y="1559"/>
              <a:ext cx="237" cy="0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Ctr="1"/>
            <a:lstStyle/>
            <a:p>
              <a:endParaRPr lang="en-GB"/>
            </a:p>
          </p:txBody>
        </p:sp>
        <p:grpSp>
          <p:nvGrpSpPr>
            <p:cNvPr id="109" name="Group 37">
              <a:extLst>
                <a:ext uri="{FF2B5EF4-FFF2-40B4-BE49-F238E27FC236}">
                  <a16:creationId xmlns:a16="http://schemas.microsoft.com/office/drawing/2014/main" id="{D6A84446-4520-422B-9E1F-4DAF5884734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21" y="1394"/>
              <a:ext cx="277" cy="414"/>
              <a:chOff x="2399" y="3006"/>
              <a:chExt cx="277" cy="414"/>
            </a:xfrm>
          </p:grpSpPr>
          <p:sp>
            <p:nvSpPr>
              <p:cNvPr id="110" name="Rectangle 38">
                <a:extLst>
                  <a:ext uri="{FF2B5EF4-FFF2-40B4-BE49-F238E27FC236}">
                    <a16:creationId xmlns:a16="http://schemas.microsoft.com/office/drawing/2014/main" id="{FB67DB25-5E93-489C-A108-1D76771A72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9" y="3019"/>
                <a:ext cx="255" cy="401"/>
              </a:xfrm>
              <a:prstGeom prst="rect">
                <a:avLst/>
              </a:prstGeom>
              <a:solidFill>
                <a:srgbClr val="EDE7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graphicFrame>
            <p:nvGraphicFramePr>
              <p:cNvPr id="111" name="Object 39">
                <a:extLst>
                  <a:ext uri="{FF2B5EF4-FFF2-40B4-BE49-F238E27FC236}">
                    <a16:creationId xmlns:a16="http://schemas.microsoft.com/office/drawing/2014/main" id="{B65E4046-B508-4B86-B338-C80F4FC4BB38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405" y="3006"/>
              <a:ext cx="271" cy="38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cuación" r:id="rId10" imgW="177569" imgH="253670" progId="Equation.3">
                      <p:embed/>
                    </p:oleObj>
                  </mc:Choice>
                  <mc:Fallback>
                    <p:oleObj name="Ecuación" r:id="rId10" imgW="177569" imgH="253670" progId="Equation.3">
                      <p:embed/>
                      <p:pic>
                        <p:nvPicPr>
                          <p:cNvPr id="111" name="Object 39">
                            <a:extLst>
                              <a:ext uri="{FF2B5EF4-FFF2-40B4-BE49-F238E27FC236}">
                                <a16:creationId xmlns:a16="http://schemas.microsoft.com/office/drawing/2014/main" id="{B65E4046-B508-4B86-B338-C80F4FC4BB38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405" y="3006"/>
                            <a:ext cx="271" cy="38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58" name="Group 42">
            <a:extLst>
              <a:ext uri="{FF2B5EF4-FFF2-40B4-BE49-F238E27FC236}">
                <a16:creationId xmlns:a16="http://schemas.microsoft.com/office/drawing/2014/main" id="{4C15CA54-6A6B-4051-994A-F4F5332A9DFD}"/>
              </a:ext>
            </a:extLst>
          </p:cNvPr>
          <p:cNvGrpSpPr>
            <a:grpSpLocks/>
          </p:cNvGrpSpPr>
          <p:nvPr/>
        </p:nvGrpSpPr>
        <p:grpSpPr bwMode="auto">
          <a:xfrm>
            <a:off x="2237803" y="1130725"/>
            <a:ext cx="403225" cy="2552700"/>
            <a:chOff x="2005" y="1020"/>
            <a:chExt cx="254" cy="1608"/>
          </a:xfrm>
        </p:grpSpPr>
        <p:sp>
          <p:nvSpPr>
            <p:cNvPr id="59" name="Line 43">
              <a:extLst>
                <a:ext uri="{FF2B5EF4-FFF2-40B4-BE49-F238E27FC236}">
                  <a16:creationId xmlns:a16="http://schemas.microsoft.com/office/drawing/2014/main" id="{A86698E7-F95B-42D9-9FB4-736602FD33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22" y="2280"/>
              <a:ext cx="237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Ctr="1"/>
            <a:lstStyle/>
            <a:p>
              <a:endParaRPr lang="en-GB" sz="2400"/>
            </a:p>
          </p:txBody>
        </p:sp>
        <p:sp>
          <p:nvSpPr>
            <p:cNvPr id="60" name="Line 44">
              <a:extLst>
                <a:ext uri="{FF2B5EF4-FFF2-40B4-BE49-F238E27FC236}">
                  <a16:creationId xmlns:a16="http://schemas.microsoft.com/office/drawing/2014/main" id="{93E5AE4C-1AFD-4AAF-B7D0-CF0B1C0EFC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05" y="1366"/>
              <a:ext cx="237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Ctr="1"/>
            <a:lstStyle/>
            <a:p>
              <a:endParaRPr lang="en-GB" sz="2400"/>
            </a:p>
          </p:txBody>
        </p:sp>
        <p:sp>
          <p:nvSpPr>
            <p:cNvPr id="67" name="Text Box 45">
              <a:extLst>
                <a:ext uri="{FF2B5EF4-FFF2-40B4-BE49-F238E27FC236}">
                  <a16:creationId xmlns:a16="http://schemas.microsoft.com/office/drawing/2014/main" id="{D1055A64-DA4F-40E3-87EF-9DA586DC98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34" y="1020"/>
              <a:ext cx="201" cy="296"/>
            </a:xfrm>
            <a:prstGeom prst="rect">
              <a:avLst/>
            </a:prstGeom>
            <a:solidFill>
              <a:srgbClr val="EDE7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1">
                  <a:solidFill>
                    <a:srgbClr val="3333FF"/>
                  </a:solidFill>
                  <a:latin typeface="Comic Sans MS" panose="030F0702030302020204" pitchFamily="66" charset="0"/>
                </a:rPr>
                <a:t>I</a:t>
              </a:r>
            </a:p>
          </p:txBody>
        </p:sp>
        <p:sp>
          <p:nvSpPr>
            <p:cNvPr id="68" name="Text Box 46">
              <a:extLst>
                <a:ext uri="{FF2B5EF4-FFF2-40B4-BE49-F238E27FC236}">
                  <a16:creationId xmlns:a16="http://schemas.microsoft.com/office/drawing/2014/main" id="{DA3BCADB-AB30-4122-8B87-67D9EAF239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22" y="2332"/>
              <a:ext cx="201" cy="296"/>
            </a:xfrm>
            <a:prstGeom prst="rect">
              <a:avLst/>
            </a:prstGeom>
            <a:solidFill>
              <a:srgbClr val="EDE7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1">
                  <a:solidFill>
                    <a:srgbClr val="3333FF"/>
                  </a:solidFill>
                  <a:latin typeface="Comic Sans MS" panose="030F0702030302020204" pitchFamily="66" charset="0"/>
                </a:rPr>
                <a:t>I</a:t>
              </a:r>
            </a:p>
          </p:txBody>
        </p:sp>
      </p:grpSp>
      <p:sp>
        <p:nvSpPr>
          <p:cNvPr id="112" name="Text Box 94">
            <a:extLst>
              <a:ext uri="{FF2B5EF4-FFF2-40B4-BE49-F238E27FC236}">
                <a16:creationId xmlns:a16="http://schemas.microsoft.com/office/drawing/2014/main" id="{8A6E6E87-3D81-4B3D-A71D-0B4F506DA2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8259" y="1936792"/>
            <a:ext cx="4547477" cy="90588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es-ES" sz="2400"/>
              <a:t>Esa V es igual al trabajo de </a:t>
            </a:r>
            <a:r>
              <a:rPr lang="es-ES" sz="2400" b="1"/>
              <a:t>E</a:t>
            </a:r>
            <a:r>
              <a:rPr lang="es-ES" sz="2400"/>
              <a:t> hacia abajo en L</a:t>
            </a:r>
            <a:endParaRPr lang="es-ES" sz="2400" dirty="0"/>
          </a:p>
        </p:txBody>
      </p:sp>
      <p:sp>
        <p:nvSpPr>
          <p:cNvPr id="113" name="Text Box 94">
            <a:extLst>
              <a:ext uri="{FF2B5EF4-FFF2-40B4-BE49-F238E27FC236}">
                <a16:creationId xmlns:a16="http://schemas.microsoft.com/office/drawing/2014/main" id="{7527195B-D2DE-4C49-8CEB-AD227FA0B4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7555" y="3674564"/>
            <a:ext cx="6505438" cy="5365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es-ES" sz="2400"/>
              <a:t>Aquí, como </a:t>
            </a:r>
            <a:r>
              <a:rPr lang="es-ES" sz="2400" dirty="0"/>
              <a:t>en </a:t>
            </a:r>
            <a:r>
              <a:rPr lang="es-ES" sz="2400"/>
              <a:t>un </a:t>
            </a:r>
            <a:r>
              <a:rPr lang="es-ES" sz="2400">
                <a:solidFill>
                  <a:srgbClr val="3333FF"/>
                </a:solidFill>
              </a:rPr>
              <a:t>cond. plano</a:t>
            </a:r>
            <a:r>
              <a:rPr lang="es-ES" sz="2400"/>
              <a:t>, al ser </a:t>
            </a:r>
            <a:r>
              <a:rPr lang="es-ES" sz="2400" b="1"/>
              <a:t>E</a:t>
            </a:r>
            <a:r>
              <a:rPr lang="es-ES" sz="2400"/>
              <a:t> unif.:</a:t>
            </a:r>
            <a:endParaRPr lang="es-ES" sz="2400" dirty="0"/>
          </a:p>
        </p:txBody>
      </p:sp>
      <p:sp>
        <p:nvSpPr>
          <p:cNvPr id="2" name="Text Box 94">
            <a:extLst>
              <a:ext uri="{FF2B5EF4-FFF2-40B4-BE49-F238E27FC236}">
                <a16:creationId xmlns:a16="http://schemas.microsoft.com/office/drawing/2014/main" id="{7C96B2EB-A320-9573-DBF6-950F7458AA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7556" y="6111916"/>
            <a:ext cx="6239892" cy="536549"/>
          </a:xfrm>
          <a:prstGeom prst="rect">
            <a:avLst/>
          </a:prstGeom>
          <a:solidFill>
            <a:srgbClr val="CCFFCC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es-ES" sz="2400">
                <a:solidFill>
                  <a:schemeClr val="tx1"/>
                </a:solidFill>
              </a:rPr>
              <a:t>A mayor v 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 </a:t>
            </a:r>
            <a:r>
              <a:rPr lang="es-ES" sz="2400">
                <a:solidFill>
                  <a:schemeClr val="tx1"/>
                </a:solidFill>
              </a:rPr>
              <a:t>Mayor: F</a:t>
            </a:r>
            <a:r>
              <a:rPr lang="es-ES" sz="2400" baseline="-25000">
                <a:solidFill>
                  <a:schemeClr val="tx1"/>
                </a:solidFill>
              </a:rPr>
              <a:t>B</a:t>
            </a:r>
            <a:r>
              <a:rPr lang="es-ES" sz="2400">
                <a:solidFill>
                  <a:schemeClr val="tx1"/>
                </a:solidFill>
              </a:rPr>
              <a:t> , F</a:t>
            </a:r>
            <a:r>
              <a:rPr lang="es-ES" sz="2400" baseline="-25000">
                <a:solidFill>
                  <a:schemeClr val="tx1"/>
                </a:solidFill>
              </a:rPr>
              <a:t>E</a:t>
            </a:r>
            <a:r>
              <a:rPr lang="es-ES" sz="2400">
                <a:solidFill>
                  <a:schemeClr val="tx1"/>
                </a:solidFill>
              </a:rPr>
              <a:t>, Q</a:t>
            </a:r>
            <a:r>
              <a:rPr lang="es-ES" sz="2400" baseline="30000">
                <a:solidFill>
                  <a:schemeClr val="tx1"/>
                </a:solidFill>
              </a:rPr>
              <a:t>+</a:t>
            </a:r>
            <a:r>
              <a:rPr lang="es-ES" sz="2400">
                <a:solidFill>
                  <a:schemeClr val="tx1"/>
                </a:solidFill>
              </a:rPr>
              <a:t>, Q</a:t>
            </a:r>
            <a:r>
              <a:rPr lang="es-ES" sz="2400" baseline="30000">
                <a:solidFill>
                  <a:schemeClr val="tx1"/>
                </a:solidFill>
              </a:rPr>
              <a:t>-</a:t>
            </a:r>
            <a:r>
              <a:rPr lang="es-ES" sz="2400">
                <a:solidFill>
                  <a:schemeClr val="tx1"/>
                </a:solidFill>
              </a:rPr>
              <a:t>, E, V e </a:t>
            </a:r>
            <a:r>
              <a:rPr lang="es-ES" sz="2400">
                <a:solidFill>
                  <a:schemeClr val="tx1"/>
                </a:solidFill>
                <a:latin typeface="Comic Sans MS" panose="030F0702030302020204" pitchFamily="66" charset="0"/>
              </a:rPr>
              <a:t>I</a:t>
            </a:r>
            <a:endParaRPr lang="es-ES" sz="2400" dirty="0">
              <a:solidFill>
                <a:schemeClr val="tx1"/>
              </a:solidFill>
            </a:endParaRPr>
          </a:p>
        </p:txBody>
      </p:sp>
      <p:sp>
        <p:nvSpPr>
          <p:cNvPr id="3" name="Text Box 94">
            <a:extLst>
              <a:ext uri="{FF2B5EF4-FFF2-40B4-BE49-F238E27FC236}">
                <a16:creationId xmlns:a16="http://schemas.microsoft.com/office/drawing/2014/main" id="{E6332558-4CB3-5D29-E1F6-8BDCD5838C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0118" y="6115476"/>
            <a:ext cx="2180743" cy="536549"/>
          </a:xfrm>
          <a:prstGeom prst="rect">
            <a:avLst/>
          </a:prstGeom>
          <a:noFill/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es-ES" sz="2400">
                <a:solidFill>
                  <a:srgbClr val="FF0000"/>
                </a:solidFill>
              </a:rPr>
              <a:t>(lo observado)</a:t>
            </a:r>
            <a:endParaRPr lang="es-E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4142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56" grpId="0" animBg="1"/>
      <p:bldP spid="57" grpId="0" animBg="1"/>
      <p:bldP spid="89" grpId="0"/>
      <p:bldP spid="66" grpId="0" animBg="1"/>
      <p:bldP spid="70" grpId="0" animBg="1"/>
      <p:bldP spid="112" grpId="0" animBg="1"/>
      <p:bldP spid="113" grpId="0" animBg="1"/>
      <p:bldP spid="2" grpId="0" animBg="1"/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 Box 47">
            <a:extLst>
              <a:ext uri="{FF2B5EF4-FFF2-40B4-BE49-F238E27FC236}">
                <a16:creationId xmlns:a16="http://schemas.microsoft.com/office/drawing/2014/main" id="{002ACC34-7580-450D-9FDC-5280C441AE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0530" y="5312763"/>
            <a:ext cx="2640345" cy="590204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none" lIns="90000" tIns="82800" rIns="90000" bIns="82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= V/R =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vBL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/R</a:t>
            </a:r>
          </a:p>
        </p:txBody>
      </p:sp>
      <p:sp>
        <p:nvSpPr>
          <p:cNvPr id="56" name="75 CuadroTexto">
            <a:extLst>
              <a:ext uri="{FF2B5EF4-FFF2-40B4-BE49-F238E27FC236}">
                <a16:creationId xmlns:a16="http://schemas.microsoft.com/office/drawing/2014/main" id="{35250E35-17C2-468F-9DC9-72DB3223B7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6797" y="4378138"/>
            <a:ext cx="8396754" cy="8309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La caída de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potencial también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está aplicada a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R y produce</a:t>
            </a:r>
          </a:p>
          <a:p>
            <a:pPr algn="just"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una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corriente </a:t>
            </a:r>
            <a:r>
              <a:rPr lang="es-ES" sz="2400" dirty="0">
                <a:latin typeface="Arial" panose="020B0604020202020204" pitchFamily="34" charset="0"/>
              </a:rPr>
              <a:t>en ella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en el sentido de la caída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 (antihoraria)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:</a:t>
            </a:r>
          </a:p>
        </p:txBody>
      </p:sp>
      <p:sp>
        <p:nvSpPr>
          <p:cNvPr id="57" name="Text Box 69">
            <a:extLst>
              <a:ext uri="{FF2B5EF4-FFF2-40B4-BE49-F238E27FC236}">
                <a16:creationId xmlns:a16="http://schemas.microsoft.com/office/drawing/2014/main" id="{493965D7-2CB1-4BDC-94BE-89D2D4633B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1833" y="5311865"/>
            <a:ext cx="1121118" cy="590204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Es cte.</a:t>
            </a:r>
          </a:p>
        </p:txBody>
      </p:sp>
      <p:sp>
        <p:nvSpPr>
          <p:cNvPr id="89" name="Text Box 69">
            <a:extLst>
              <a:ext uri="{FF2B5EF4-FFF2-40B4-BE49-F238E27FC236}">
                <a16:creationId xmlns:a16="http://schemas.microsoft.com/office/drawing/2014/main" id="{F396A326-B43E-4EEB-9EFC-C9C312C4BF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3281" y="5336833"/>
            <a:ext cx="3846223" cy="536549"/>
          </a:xfrm>
          <a:prstGeom prst="rect">
            <a:avLst/>
          </a:prstGeom>
          <a:noFill/>
          <a:ln>
            <a:noFill/>
          </a:ln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(es una corriente continua)</a:t>
            </a:r>
          </a:p>
        </p:txBody>
      </p:sp>
      <p:sp>
        <p:nvSpPr>
          <p:cNvPr id="66" name="Text Box 47">
            <a:extLst>
              <a:ext uri="{FF2B5EF4-FFF2-40B4-BE49-F238E27FC236}">
                <a16:creationId xmlns:a16="http://schemas.microsoft.com/office/drawing/2014/main" id="{AA4460B2-1114-4CCF-B6B4-CAA6A47A0C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9169" y="3683736"/>
            <a:ext cx="2273367" cy="590204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none" lIns="90000" tIns="82800" rIns="90000" bIns="82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V =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E L =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</a:rPr>
              <a:t>vBL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70" name="Text Box 94">
            <a:extLst>
              <a:ext uri="{FF2B5EF4-FFF2-40B4-BE49-F238E27FC236}">
                <a16:creationId xmlns:a16="http://schemas.microsoft.com/office/drawing/2014/main" id="{89D09B5C-4F16-4E39-A805-35FF3682D0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5963" y="401408"/>
            <a:ext cx="4559774" cy="127521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es-ES" sz="2400"/>
              <a:t>Los excesos de carga crean una </a:t>
            </a:r>
            <a:r>
              <a:rPr lang="es-ES" sz="2400">
                <a:solidFill>
                  <a:srgbClr val="3333FF"/>
                </a:solidFill>
              </a:rPr>
              <a:t>caída de potencial </a:t>
            </a:r>
            <a:r>
              <a:rPr lang="es-ES" sz="2400"/>
              <a:t>en</a:t>
            </a:r>
          </a:p>
          <a:p>
            <a:pPr eaLnBrk="1" hangingPunct="1">
              <a:spcBef>
                <a:spcPts val="0"/>
              </a:spcBef>
            </a:pPr>
            <a:r>
              <a:rPr lang="es-ES" sz="2400"/>
              <a:t>la barra en el sentido de </a:t>
            </a:r>
            <a:r>
              <a:rPr lang="es-ES" sz="2400" b="1"/>
              <a:t>E</a:t>
            </a:r>
            <a:endParaRPr lang="es-ES" sz="2400" dirty="0"/>
          </a:p>
        </p:txBody>
      </p:sp>
      <p:grpSp>
        <p:nvGrpSpPr>
          <p:cNvPr id="71" name="Grupo 70">
            <a:extLst>
              <a:ext uri="{FF2B5EF4-FFF2-40B4-BE49-F238E27FC236}">
                <a16:creationId xmlns:a16="http://schemas.microsoft.com/office/drawing/2014/main" id="{6FC3D050-18A4-4332-87E5-35A0240F9840}"/>
              </a:ext>
            </a:extLst>
          </p:cNvPr>
          <p:cNvGrpSpPr/>
          <p:nvPr/>
        </p:nvGrpSpPr>
        <p:grpSpPr>
          <a:xfrm>
            <a:off x="1207107" y="529225"/>
            <a:ext cx="4473575" cy="2963592"/>
            <a:chOff x="1236842" y="62914"/>
            <a:chExt cx="4473575" cy="2963592"/>
          </a:xfrm>
        </p:grpSpPr>
        <p:sp>
          <p:nvSpPr>
            <p:cNvPr id="72" name="Text Box 2">
              <a:extLst>
                <a:ext uri="{FF2B5EF4-FFF2-40B4-BE49-F238E27FC236}">
                  <a16:creationId xmlns:a16="http://schemas.microsoft.com/office/drawing/2014/main" id="{4B0431D8-7245-49E8-AA5A-9F6C9266D3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57479" y="804006"/>
              <a:ext cx="4308475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latin typeface="Arial" panose="020B0604020202020204" pitchFamily="34" charset="0"/>
                </a:rPr>
                <a:t>x  x  x  x  x  x  x  x  x  x  x  x  x  x  x</a:t>
              </a:r>
            </a:p>
          </p:txBody>
        </p:sp>
        <p:sp>
          <p:nvSpPr>
            <p:cNvPr id="73" name="Line 5">
              <a:extLst>
                <a:ext uri="{FF2B5EF4-FFF2-40B4-BE49-F238E27FC236}">
                  <a16:creationId xmlns:a16="http://schemas.microsoft.com/office/drawing/2014/main" id="{13E45234-9124-4A97-836D-E964B6AC4B3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57529" y="1223106"/>
              <a:ext cx="0" cy="142240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Ctr="1"/>
            <a:lstStyle/>
            <a:p>
              <a:endParaRPr lang="en-GB"/>
            </a:p>
          </p:txBody>
        </p:sp>
        <p:sp>
          <p:nvSpPr>
            <p:cNvPr id="76" name="Line 6">
              <a:extLst>
                <a:ext uri="{FF2B5EF4-FFF2-40B4-BE49-F238E27FC236}">
                  <a16:creationId xmlns:a16="http://schemas.microsoft.com/office/drawing/2014/main" id="{696A49D2-B66B-4E9E-BCB4-FC775E9F2B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64342" y="1210406"/>
              <a:ext cx="0" cy="1446212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 type="stealth" w="lg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Ctr="1"/>
            <a:lstStyle/>
            <a:p>
              <a:endParaRPr lang="en-GB"/>
            </a:p>
          </p:txBody>
        </p:sp>
        <p:sp>
          <p:nvSpPr>
            <p:cNvPr id="77" name="Text Box 7">
              <a:extLst>
                <a:ext uri="{FF2B5EF4-FFF2-40B4-BE49-F238E27FC236}">
                  <a16:creationId xmlns:a16="http://schemas.microsoft.com/office/drawing/2014/main" id="{BDFEB65E-185D-46CB-94E0-B8085FA081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88154" y="1680306"/>
              <a:ext cx="322263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Arial" panose="020B0604020202020204" pitchFamily="34" charset="0"/>
                </a:rPr>
                <a:t>L</a:t>
              </a:r>
            </a:p>
          </p:txBody>
        </p:sp>
        <p:sp>
          <p:nvSpPr>
            <p:cNvPr id="78" name="Text Box 8">
              <a:extLst>
                <a:ext uri="{FF2B5EF4-FFF2-40B4-BE49-F238E27FC236}">
                  <a16:creationId xmlns:a16="http://schemas.microsoft.com/office/drawing/2014/main" id="{74CFF0D4-7573-479E-A68D-63BCC9175B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0017" y="1142143"/>
              <a:ext cx="4308475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latin typeface="Arial" panose="020B0604020202020204" pitchFamily="34" charset="0"/>
                </a:rPr>
                <a:t>x  x  x  x  x  x  x  x  x  x  x  x  x  x  x</a:t>
              </a:r>
            </a:p>
          </p:txBody>
        </p:sp>
        <p:sp>
          <p:nvSpPr>
            <p:cNvPr id="79" name="Text Box 9">
              <a:extLst>
                <a:ext uri="{FF2B5EF4-FFF2-40B4-BE49-F238E27FC236}">
                  <a16:creationId xmlns:a16="http://schemas.microsoft.com/office/drawing/2014/main" id="{CE565A95-A1F0-4681-8F57-CFD7F34380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4779" y="1502506"/>
              <a:ext cx="4308475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latin typeface="Arial" panose="020B0604020202020204" pitchFamily="34" charset="0"/>
                </a:rPr>
                <a:t>x  x  x  x  x  x  x  x  x  x  x  x  x  x  x</a:t>
              </a:r>
            </a:p>
          </p:txBody>
        </p:sp>
        <p:sp>
          <p:nvSpPr>
            <p:cNvPr id="80" name="Text Box 10">
              <a:extLst>
                <a:ext uri="{FF2B5EF4-FFF2-40B4-BE49-F238E27FC236}">
                  <a16:creationId xmlns:a16="http://schemas.microsoft.com/office/drawing/2014/main" id="{5DFB1633-EFB0-4CCB-B722-A716F8BD5F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9542" y="1840643"/>
              <a:ext cx="4308475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latin typeface="Arial" panose="020B0604020202020204" pitchFamily="34" charset="0"/>
                </a:rPr>
                <a:t>x  x  x  x  x  x  x  x  x  x  x  x  x  x  x</a:t>
              </a:r>
            </a:p>
          </p:txBody>
        </p:sp>
        <p:sp>
          <p:nvSpPr>
            <p:cNvPr id="81" name="Text Box 11">
              <a:extLst>
                <a:ext uri="{FF2B5EF4-FFF2-40B4-BE49-F238E27FC236}">
                  <a16:creationId xmlns:a16="http://schemas.microsoft.com/office/drawing/2014/main" id="{2E52E0D4-6A8C-4BEC-8EC2-1C95052B0F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3192" y="2186718"/>
              <a:ext cx="4308475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latin typeface="Arial" panose="020B0604020202020204" pitchFamily="34" charset="0"/>
                </a:rPr>
                <a:t>x  x  x  x  x  x  x  x  x  x  x  x  x  x  x</a:t>
              </a:r>
            </a:p>
          </p:txBody>
        </p:sp>
        <p:sp>
          <p:nvSpPr>
            <p:cNvPr id="83" name="Text Box 12">
              <a:extLst>
                <a:ext uri="{FF2B5EF4-FFF2-40B4-BE49-F238E27FC236}">
                  <a16:creationId xmlns:a16="http://schemas.microsoft.com/office/drawing/2014/main" id="{5F053640-A9C4-407F-9BD0-FC89D86CEA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36842" y="2556606"/>
              <a:ext cx="4308475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dirty="0">
                  <a:latin typeface="Arial" panose="020B0604020202020204" pitchFamily="34" charset="0"/>
                </a:rPr>
                <a:t>x  x  x  x  x  x  x  x  x  x  x  x  x  x  x</a:t>
              </a:r>
            </a:p>
          </p:txBody>
        </p:sp>
        <p:sp>
          <p:nvSpPr>
            <p:cNvPr id="84" name="Rectangle 13">
              <a:extLst>
                <a:ext uri="{FF2B5EF4-FFF2-40B4-BE49-F238E27FC236}">
                  <a16:creationId xmlns:a16="http://schemas.microsoft.com/office/drawing/2014/main" id="{BD0AC93F-7F5A-43BC-9F73-0CE5022F3F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4017" y="1558068"/>
              <a:ext cx="323850" cy="763588"/>
            </a:xfrm>
            <a:prstGeom prst="rect">
              <a:avLst/>
            </a:prstGeom>
            <a:solidFill>
              <a:srgbClr val="EDE7E3"/>
            </a:solidFill>
            <a:ln w="25400" algn="ctr">
              <a:solidFill>
                <a:srgbClr val="0000FF"/>
              </a:solidFill>
              <a:miter lim="800000"/>
              <a:headEnd/>
              <a:tailEnd type="none" w="lg" len="lg"/>
            </a:ln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5" name="Text Box 14">
              <a:extLst>
                <a:ext uri="{FF2B5EF4-FFF2-40B4-BE49-F238E27FC236}">
                  <a16:creationId xmlns:a16="http://schemas.microsoft.com/office/drawing/2014/main" id="{0FA426B6-B009-46B6-91C5-90D44EA455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65442" y="1660596"/>
              <a:ext cx="365125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1">
                  <a:solidFill>
                    <a:srgbClr val="3333FF"/>
                  </a:solidFill>
                  <a:latin typeface="Arial" panose="020B0604020202020204" pitchFamily="34" charset="0"/>
                </a:rPr>
                <a:t>R</a:t>
              </a:r>
            </a:p>
          </p:txBody>
        </p:sp>
        <p:sp>
          <p:nvSpPr>
            <p:cNvPr id="86" name="Line 15">
              <a:extLst>
                <a:ext uri="{FF2B5EF4-FFF2-40B4-BE49-F238E27FC236}">
                  <a16:creationId xmlns:a16="http://schemas.microsoft.com/office/drawing/2014/main" id="{C01AD080-F7C3-4BDE-9BD1-D0091BBE4B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41654" y="2656618"/>
              <a:ext cx="3506788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Ctr="1"/>
            <a:lstStyle/>
            <a:p>
              <a:endParaRPr lang="en-GB"/>
            </a:p>
          </p:txBody>
        </p:sp>
        <p:sp>
          <p:nvSpPr>
            <p:cNvPr id="87" name="Line 16">
              <a:extLst>
                <a:ext uri="{FF2B5EF4-FFF2-40B4-BE49-F238E27FC236}">
                  <a16:creationId xmlns:a16="http://schemas.microsoft.com/office/drawing/2014/main" id="{31C78923-B2FA-4BCD-906F-BD0342E7A9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57529" y="1211993"/>
              <a:ext cx="3541713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Ctr="1"/>
            <a:lstStyle/>
            <a:p>
              <a:endParaRPr lang="en-GB"/>
            </a:p>
          </p:txBody>
        </p:sp>
        <p:sp>
          <p:nvSpPr>
            <p:cNvPr id="90" name="Line 18">
              <a:extLst>
                <a:ext uri="{FF2B5EF4-FFF2-40B4-BE49-F238E27FC236}">
                  <a16:creationId xmlns:a16="http://schemas.microsoft.com/office/drawing/2014/main" id="{539A79D3-A001-4FC3-9AB9-339835AECE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84779" y="708756"/>
              <a:ext cx="376238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/>
            </a:p>
          </p:txBody>
        </p:sp>
        <p:sp>
          <p:nvSpPr>
            <p:cNvPr id="91" name="Text Box 54">
              <a:extLst>
                <a:ext uri="{FF2B5EF4-FFF2-40B4-BE49-F238E27FC236}">
                  <a16:creationId xmlns:a16="http://schemas.microsoft.com/office/drawing/2014/main" id="{B9802F04-2C22-4877-B96F-8216F55BFC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87030" y="62914"/>
              <a:ext cx="2544584" cy="5365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Arial" panose="020B0604020202020204" pitchFamily="34" charset="0"/>
                </a:rPr>
                <a:t>Barra conductora</a:t>
              </a:r>
            </a:p>
          </p:txBody>
        </p:sp>
      </p:grpSp>
      <p:sp>
        <p:nvSpPr>
          <p:cNvPr id="92" name="AutoShape 17">
            <a:extLst>
              <a:ext uri="{FF2B5EF4-FFF2-40B4-BE49-F238E27FC236}">
                <a16:creationId xmlns:a16="http://schemas.microsoft.com/office/drawing/2014/main" id="{68A9122D-2DCB-418F-B4E7-BB7CD2A7414B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3332769" y="1413192"/>
            <a:ext cx="566738" cy="1711325"/>
          </a:xfrm>
          <a:prstGeom prst="can">
            <a:avLst>
              <a:gd name="adj" fmla="val 26883"/>
            </a:avLst>
          </a:prstGeom>
          <a:solidFill>
            <a:srgbClr val="EDE7E3"/>
          </a:solidFill>
          <a:ln w="25400">
            <a:solidFill>
              <a:srgbClr val="0000FF"/>
            </a:solidFill>
            <a:round/>
            <a:headEnd/>
            <a:tailEnd type="none" w="lg" len="lg"/>
          </a:ln>
        </p:spPr>
        <p:txBody>
          <a:bodyPr rot="10800000" wrap="none" lIns="90000" tIns="82800" rIns="90000" bIns="82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93" name="Object 19">
            <a:extLst>
              <a:ext uri="{FF2B5EF4-FFF2-40B4-BE49-F238E27FC236}">
                <a16:creationId xmlns:a16="http://schemas.microsoft.com/office/drawing/2014/main" id="{6F277621-A3D6-41C2-AFAA-CB720BF2452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61674" y="923765"/>
          <a:ext cx="307340" cy="4295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3" imgW="126725" imgH="177415" progId="Equation.3">
                  <p:embed/>
                </p:oleObj>
              </mc:Choice>
              <mc:Fallback>
                <p:oleObj name="Ecuación" r:id="rId3" imgW="126725" imgH="177415" progId="Equation.3">
                  <p:embed/>
                  <p:pic>
                    <p:nvPicPr>
                      <p:cNvPr id="93" name="Object 19">
                        <a:extLst>
                          <a:ext uri="{FF2B5EF4-FFF2-40B4-BE49-F238E27FC236}">
                            <a16:creationId xmlns:a16="http://schemas.microsoft.com/office/drawing/2014/main" id="{6F277621-A3D6-41C2-AFAA-CB720BF2452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1674" y="923765"/>
                        <a:ext cx="307340" cy="4295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4" name="Picture 24" descr="Image2">
            <a:extLst>
              <a:ext uri="{FF2B5EF4-FFF2-40B4-BE49-F238E27FC236}">
                <a16:creationId xmlns:a16="http://schemas.microsoft.com/office/drawing/2014/main" id="{F2DCC85F-4B02-4252-AF44-14CDFBFDB682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5644" y="2222817"/>
            <a:ext cx="31908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5" name="Group 27">
            <a:extLst>
              <a:ext uri="{FF2B5EF4-FFF2-40B4-BE49-F238E27FC236}">
                <a16:creationId xmlns:a16="http://schemas.microsoft.com/office/drawing/2014/main" id="{4367C277-231A-4376-942D-AC6FE7DD7FE8}"/>
              </a:ext>
            </a:extLst>
          </p:cNvPr>
          <p:cNvGrpSpPr>
            <a:grpSpLocks/>
          </p:cNvGrpSpPr>
          <p:nvPr/>
        </p:nvGrpSpPr>
        <p:grpSpPr bwMode="auto">
          <a:xfrm>
            <a:off x="3623282" y="2397444"/>
            <a:ext cx="709612" cy="647701"/>
            <a:chOff x="2839" y="1817"/>
            <a:chExt cx="447" cy="408"/>
          </a:xfrm>
        </p:grpSpPr>
        <p:sp>
          <p:nvSpPr>
            <p:cNvPr id="96" name="Line 28">
              <a:extLst>
                <a:ext uri="{FF2B5EF4-FFF2-40B4-BE49-F238E27FC236}">
                  <a16:creationId xmlns:a16="http://schemas.microsoft.com/office/drawing/2014/main" id="{4B169612-791E-481F-99BC-D96B499EEA9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720" y="2027"/>
              <a:ext cx="237" cy="0"/>
            </a:xfrm>
            <a:prstGeom prst="line">
              <a:avLst/>
            </a:prstGeom>
            <a:noFill/>
            <a:ln w="38100">
              <a:solidFill>
                <a:srgbClr val="808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Ctr="1"/>
            <a:lstStyle/>
            <a:p>
              <a:endParaRPr lang="en-GB"/>
            </a:p>
          </p:txBody>
        </p:sp>
        <p:grpSp>
          <p:nvGrpSpPr>
            <p:cNvPr id="97" name="Group 29">
              <a:extLst>
                <a:ext uri="{FF2B5EF4-FFF2-40B4-BE49-F238E27FC236}">
                  <a16:creationId xmlns:a16="http://schemas.microsoft.com/office/drawing/2014/main" id="{DEF4D049-4E82-4893-9DC6-54C3471FF58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15" y="1817"/>
              <a:ext cx="271" cy="408"/>
              <a:chOff x="2393" y="3012"/>
              <a:chExt cx="271" cy="408"/>
            </a:xfrm>
          </p:grpSpPr>
          <p:sp>
            <p:nvSpPr>
              <p:cNvPr id="98" name="Rectangle 30">
                <a:extLst>
                  <a:ext uri="{FF2B5EF4-FFF2-40B4-BE49-F238E27FC236}">
                    <a16:creationId xmlns:a16="http://schemas.microsoft.com/office/drawing/2014/main" id="{C9720E47-8A92-4877-B9FB-7F5D004820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9" y="3019"/>
                <a:ext cx="255" cy="401"/>
              </a:xfrm>
              <a:prstGeom prst="rect">
                <a:avLst/>
              </a:prstGeom>
              <a:solidFill>
                <a:srgbClr val="EDE7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graphicFrame>
            <p:nvGraphicFramePr>
              <p:cNvPr id="99" name="Object 31">
                <a:extLst>
                  <a:ext uri="{FF2B5EF4-FFF2-40B4-BE49-F238E27FC236}">
                    <a16:creationId xmlns:a16="http://schemas.microsoft.com/office/drawing/2014/main" id="{72109D14-D404-40DC-A1B5-EE4CB41C4BB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393" y="3012"/>
              <a:ext cx="271" cy="38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cuación" r:id="rId6" imgW="177569" imgH="253670" progId="Equation.3">
                      <p:embed/>
                    </p:oleObj>
                  </mc:Choice>
                  <mc:Fallback>
                    <p:oleObj name="Ecuación" r:id="rId6" imgW="177569" imgH="253670" progId="Equation.3">
                      <p:embed/>
                      <p:pic>
                        <p:nvPicPr>
                          <p:cNvPr id="99" name="Object 31">
                            <a:extLst>
                              <a:ext uri="{FF2B5EF4-FFF2-40B4-BE49-F238E27FC236}">
                                <a16:creationId xmlns:a16="http://schemas.microsoft.com/office/drawing/2014/main" id="{72109D14-D404-40DC-A1B5-EE4CB41C4BB1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393" y="3012"/>
                            <a:ext cx="271" cy="38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100" name="Text Box 33">
            <a:extLst>
              <a:ext uri="{FF2B5EF4-FFF2-40B4-BE49-F238E27FC236}">
                <a16:creationId xmlns:a16="http://schemas.microsoft.com/office/drawing/2014/main" id="{F613FEEB-8665-4E84-8BB1-28F304A507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9294" y="2719704"/>
            <a:ext cx="300038" cy="592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800">
                <a:solidFill>
                  <a:srgbClr val="FF0000"/>
                </a:solidFill>
                <a:latin typeface="Arial" panose="020B0604020202020204" pitchFamily="34" charset="0"/>
              </a:rPr>
              <a:t>-</a:t>
            </a:r>
          </a:p>
        </p:txBody>
      </p:sp>
      <p:sp>
        <p:nvSpPr>
          <p:cNvPr id="101" name="Text Box 34">
            <a:extLst>
              <a:ext uri="{FF2B5EF4-FFF2-40B4-BE49-F238E27FC236}">
                <a16:creationId xmlns:a16="http://schemas.microsoft.com/office/drawing/2014/main" id="{1CE852A0-1BA8-4537-A091-D145E233B8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8494" y="1236979"/>
            <a:ext cx="388938" cy="592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800">
                <a:solidFill>
                  <a:srgbClr val="FF0000"/>
                </a:solidFill>
                <a:latin typeface="Arial" panose="020B0604020202020204" pitchFamily="34" charset="0"/>
              </a:rPr>
              <a:t>+</a:t>
            </a:r>
          </a:p>
        </p:txBody>
      </p:sp>
      <p:grpSp>
        <p:nvGrpSpPr>
          <p:cNvPr id="102" name="Group 49">
            <a:extLst>
              <a:ext uri="{FF2B5EF4-FFF2-40B4-BE49-F238E27FC236}">
                <a16:creationId xmlns:a16="http://schemas.microsoft.com/office/drawing/2014/main" id="{A31E5418-D18B-4115-BEDB-A4B4C4393184}"/>
              </a:ext>
            </a:extLst>
          </p:cNvPr>
          <p:cNvGrpSpPr>
            <a:grpSpLocks/>
          </p:cNvGrpSpPr>
          <p:nvPr/>
        </p:nvGrpSpPr>
        <p:grpSpPr bwMode="auto">
          <a:xfrm>
            <a:off x="2888274" y="2065659"/>
            <a:ext cx="520701" cy="665164"/>
            <a:chOff x="2338" y="1608"/>
            <a:chExt cx="328" cy="419"/>
          </a:xfrm>
        </p:grpSpPr>
        <p:sp>
          <p:nvSpPr>
            <p:cNvPr id="103" name="Line 50">
              <a:extLst>
                <a:ext uri="{FF2B5EF4-FFF2-40B4-BE49-F238E27FC236}">
                  <a16:creationId xmlns:a16="http://schemas.microsoft.com/office/drawing/2014/main" id="{D2046632-6EFA-4F90-9E86-32BDE636EC4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474" y="1836"/>
              <a:ext cx="383" cy="0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Ctr="1"/>
            <a:lstStyle/>
            <a:p>
              <a:endParaRPr lang="en-GB"/>
            </a:p>
          </p:txBody>
        </p:sp>
        <p:grpSp>
          <p:nvGrpSpPr>
            <p:cNvPr id="104" name="Group 51">
              <a:extLst>
                <a:ext uri="{FF2B5EF4-FFF2-40B4-BE49-F238E27FC236}">
                  <a16:creationId xmlns:a16="http://schemas.microsoft.com/office/drawing/2014/main" id="{1CB1C6E4-711B-4B32-AFD6-EAD22FD7FDF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38" y="1608"/>
              <a:ext cx="255" cy="401"/>
              <a:chOff x="2399" y="3019"/>
              <a:chExt cx="255" cy="401"/>
            </a:xfrm>
          </p:grpSpPr>
          <p:sp>
            <p:nvSpPr>
              <p:cNvPr id="105" name="Rectangle 52">
                <a:extLst>
                  <a:ext uri="{FF2B5EF4-FFF2-40B4-BE49-F238E27FC236}">
                    <a16:creationId xmlns:a16="http://schemas.microsoft.com/office/drawing/2014/main" id="{E84516E7-1DAC-4456-BCB7-78DDB0C5DF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9" y="3019"/>
                <a:ext cx="255" cy="401"/>
              </a:xfrm>
              <a:prstGeom prst="rect">
                <a:avLst/>
              </a:prstGeom>
              <a:solidFill>
                <a:srgbClr val="EDE7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graphicFrame>
            <p:nvGraphicFramePr>
              <p:cNvPr id="106" name="Object 53">
                <a:extLst>
                  <a:ext uri="{FF2B5EF4-FFF2-40B4-BE49-F238E27FC236}">
                    <a16:creationId xmlns:a16="http://schemas.microsoft.com/office/drawing/2014/main" id="{D71E8A89-29CC-47EC-99EF-61FF8D8A0C2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411" y="3024"/>
              <a:ext cx="232" cy="30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cuación" r:id="rId8" imgW="152268" imgH="203024" progId="Equation.3">
                      <p:embed/>
                    </p:oleObj>
                  </mc:Choice>
                  <mc:Fallback>
                    <p:oleObj name="Ecuación" r:id="rId8" imgW="152268" imgH="203024" progId="Equation.3">
                      <p:embed/>
                      <p:pic>
                        <p:nvPicPr>
                          <p:cNvPr id="106" name="Object 53">
                            <a:extLst>
                              <a:ext uri="{FF2B5EF4-FFF2-40B4-BE49-F238E27FC236}">
                                <a16:creationId xmlns:a16="http://schemas.microsoft.com/office/drawing/2014/main" id="{D71E8A89-29CC-47EC-99EF-61FF8D8A0C20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411" y="3024"/>
                            <a:ext cx="232" cy="30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107" name="Group 35">
            <a:extLst>
              <a:ext uri="{FF2B5EF4-FFF2-40B4-BE49-F238E27FC236}">
                <a16:creationId xmlns:a16="http://schemas.microsoft.com/office/drawing/2014/main" id="{137CE0F1-E00F-458F-8620-E73B37C54682}"/>
              </a:ext>
            </a:extLst>
          </p:cNvPr>
          <p:cNvGrpSpPr>
            <a:grpSpLocks/>
          </p:cNvGrpSpPr>
          <p:nvPr/>
        </p:nvGrpSpPr>
        <p:grpSpPr bwMode="auto">
          <a:xfrm>
            <a:off x="3629632" y="1725928"/>
            <a:ext cx="722312" cy="657224"/>
            <a:chOff x="2843" y="1394"/>
            <a:chExt cx="455" cy="414"/>
          </a:xfrm>
        </p:grpSpPr>
        <p:sp>
          <p:nvSpPr>
            <p:cNvPr id="108" name="Line 36">
              <a:extLst>
                <a:ext uri="{FF2B5EF4-FFF2-40B4-BE49-F238E27FC236}">
                  <a16:creationId xmlns:a16="http://schemas.microsoft.com/office/drawing/2014/main" id="{59E57F81-9D1E-4953-8989-2706198856F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2724" y="1559"/>
              <a:ext cx="237" cy="0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Ctr="1"/>
            <a:lstStyle/>
            <a:p>
              <a:endParaRPr lang="en-GB"/>
            </a:p>
          </p:txBody>
        </p:sp>
        <p:grpSp>
          <p:nvGrpSpPr>
            <p:cNvPr id="109" name="Group 37">
              <a:extLst>
                <a:ext uri="{FF2B5EF4-FFF2-40B4-BE49-F238E27FC236}">
                  <a16:creationId xmlns:a16="http://schemas.microsoft.com/office/drawing/2014/main" id="{D6A84446-4520-422B-9E1F-4DAF5884734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21" y="1394"/>
              <a:ext cx="277" cy="414"/>
              <a:chOff x="2399" y="3006"/>
              <a:chExt cx="277" cy="414"/>
            </a:xfrm>
          </p:grpSpPr>
          <p:sp>
            <p:nvSpPr>
              <p:cNvPr id="110" name="Rectangle 38">
                <a:extLst>
                  <a:ext uri="{FF2B5EF4-FFF2-40B4-BE49-F238E27FC236}">
                    <a16:creationId xmlns:a16="http://schemas.microsoft.com/office/drawing/2014/main" id="{FB67DB25-5E93-489C-A108-1D76771A72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9" y="3019"/>
                <a:ext cx="255" cy="401"/>
              </a:xfrm>
              <a:prstGeom prst="rect">
                <a:avLst/>
              </a:prstGeom>
              <a:solidFill>
                <a:srgbClr val="EDE7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graphicFrame>
            <p:nvGraphicFramePr>
              <p:cNvPr id="111" name="Object 39">
                <a:extLst>
                  <a:ext uri="{FF2B5EF4-FFF2-40B4-BE49-F238E27FC236}">
                    <a16:creationId xmlns:a16="http://schemas.microsoft.com/office/drawing/2014/main" id="{B65E4046-B508-4B86-B338-C80F4FC4BB38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405" y="3006"/>
              <a:ext cx="271" cy="38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cuación" r:id="rId10" imgW="177569" imgH="253670" progId="Equation.3">
                      <p:embed/>
                    </p:oleObj>
                  </mc:Choice>
                  <mc:Fallback>
                    <p:oleObj name="Ecuación" r:id="rId10" imgW="177569" imgH="253670" progId="Equation.3">
                      <p:embed/>
                      <p:pic>
                        <p:nvPicPr>
                          <p:cNvPr id="111" name="Object 39">
                            <a:extLst>
                              <a:ext uri="{FF2B5EF4-FFF2-40B4-BE49-F238E27FC236}">
                                <a16:creationId xmlns:a16="http://schemas.microsoft.com/office/drawing/2014/main" id="{B65E4046-B508-4B86-B338-C80F4FC4BB38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405" y="3006"/>
                            <a:ext cx="271" cy="38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58" name="Group 42">
            <a:extLst>
              <a:ext uri="{FF2B5EF4-FFF2-40B4-BE49-F238E27FC236}">
                <a16:creationId xmlns:a16="http://schemas.microsoft.com/office/drawing/2014/main" id="{4C15CA54-6A6B-4051-994A-F4F5332A9DFD}"/>
              </a:ext>
            </a:extLst>
          </p:cNvPr>
          <p:cNvGrpSpPr>
            <a:grpSpLocks/>
          </p:cNvGrpSpPr>
          <p:nvPr/>
        </p:nvGrpSpPr>
        <p:grpSpPr bwMode="auto">
          <a:xfrm>
            <a:off x="2237803" y="1130725"/>
            <a:ext cx="403225" cy="2552700"/>
            <a:chOff x="2005" y="1020"/>
            <a:chExt cx="254" cy="1608"/>
          </a:xfrm>
        </p:grpSpPr>
        <p:sp>
          <p:nvSpPr>
            <p:cNvPr id="59" name="Line 43">
              <a:extLst>
                <a:ext uri="{FF2B5EF4-FFF2-40B4-BE49-F238E27FC236}">
                  <a16:creationId xmlns:a16="http://schemas.microsoft.com/office/drawing/2014/main" id="{A86698E7-F95B-42D9-9FB4-736602FD33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22" y="2280"/>
              <a:ext cx="237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Ctr="1"/>
            <a:lstStyle/>
            <a:p>
              <a:endParaRPr lang="en-GB" sz="2400"/>
            </a:p>
          </p:txBody>
        </p:sp>
        <p:sp>
          <p:nvSpPr>
            <p:cNvPr id="60" name="Line 44">
              <a:extLst>
                <a:ext uri="{FF2B5EF4-FFF2-40B4-BE49-F238E27FC236}">
                  <a16:creationId xmlns:a16="http://schemas.microsoft.com/office/drawing/2014/main" id="{93E5AE4C-1AFD-4AAF-B7D0-CF0B1C0EFC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05" y="1366"/>
              <a:ext cx="237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Ctr="1"/>
            <a:lstStyle/>
            <a:p>
              <a:endParaRPr lang="en-GB" sz="2400"/>
            </a:p>
          </p:txBody>
        </p:sp>
        <p:sp>
          <p:nvSpPr>
            <p:cNvPr id="67" name="Text Box 45">
              <a:extLst>
                <a:ext uri="{FF2B5EF4-FFF2-40B4-BE49-F238E27FC236}">
                  <a16:creationId xmlns:a16="http://schemas.microsoft.com/office/drawing/2014/main" id="{D1055A64-DA4F-40E3-87EF-9DA586DC98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34" y="1020"/>
              <a:ext cx="201" cy="296"/>
            </a:xfrm>
            <a:prstGeom prst="rect">
              <a:avLst/>
            </a:prstGeom>
            <a:solidFill>
              <a:srgbClr val="EDE7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1">
                  <a:solidFill>
                    <a:srgbClr val="3333FF"/>
                  </a:solidFill>
                  <a:latin typeface="Comic Sans MS" panose="030F0702030302020204" pitchFamily="66" charset="0"/>
                </a:rPr>
                <a:t>I</a:t>
              </a:r>
            </a:p>
          </p:txBody>
        </p:sp>
        <p:sp>
          <p:nvSpPr>
            <p:cNvPr id="68" name="Text Box 46">
              <a:extLst>
                <a:ext uri="{FF2B5EF4-FFF2-40B4-BE49-F238E27FC236}">
                  <a16:creationId xmlns:a16="http://schemas.microsoft.com/office/drawing/2014/main" id="{DA3BCADB-AB30-4122-8B87-67D9EAF239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22" y="2332"/>
              <a:ext cx="201" cy="296"/>
            </a:xfrm>
            <a:prstGeom prst="rect">
              <a:avLst/>
            </a:prstGeom>
            <a:solidFill>
              <a:srgbClr val="EDE7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1">
                  <a:solidFill>
                    <a:srgbClr val="3333FF"/>
                  </a:solidFill>
                  <a:latin typeface="Comic Sans MS" panose="030F0702030302020204" pitchFamily="66" charset="0"/>
                </a:rPr>
                <a:t>I</a:t>
              </a:r>
            </a:p>
          </p:txBody>
        </p:sp>
      </p:grpSp>
      <p:sp>
        <p:nvSpPr>
          <p:cNvPr id="112" name="Text Box 94">
            <a:extLst>
              <a:ext uri="{FF2B5EF4-FFF2-40B4-BE49-F238E27FC236}">
                <a16:creationId xmlns:a16="http://schemas.microsoft.com/office/drawing/2014/main" id="{8A6E6E87-3D81-4B3D-A71D-0B4F506DA2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8259" y="1936792"/>
            <a:ext cx="4547477" cy="90588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es-ES" sz="2400"/>
              <a:t>Esa V es igual al trabajo de </a:t>
            </a:r>
            <a:r>
              <a:rPr lang="es-ES" sz="2400" b="1"/>
              <a:t>E</a:t>
            </a:r>
            <a:r>
              <a:rPr lang="es-ES" sz="2400"/>
              <a:t> hacia abajo en L</a:t>
            </a:r>
            <a:endParaRPr lang="es-ES" sz="2400" dirty="0"/>
          </a:p>
        </p:txBody>
      </p:sp>
      <p:sp>
        <p:nvSpPr>
          <p:cNvPr id="113" name="Text Box 94">
            <a:extLst>
              <a:ext uri="{FF2B5EF4-FFF2-40B4-BE49-F238E27FC236}">
                <a16:creationId xmlns:a16="http://schemas.microsoft.com/office/drawing/2014/main" id="{7527195B-D2DE-4C49-8CEB-AD227FA0B4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7555" y="3674564"/>
            <a:ext cx="6505438" cy="5365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es-ES" sz="2400"/>
              <a:t>Aquí, como </a:t>
            </a:r>
            <a:r>
              <a:rPr lang="es-ES" sz="2400" dirty="0"/>
              <a:t>en </a:t>
            </a:r>
            <a:r>
              <a:rPr lang="es-ES" sz="2400"/>
              <a:t>un </a:t>
            </a:r>
            <a:r>
              <a:rPr lang="es-ES" sz="2400">
                <a:solidFill>
                  <a:srgbClr val="3333FF"/>
                </a:solidFill>
              </a:rPr>
              <a:t>cond. plano</a:t>
            </a:r>
            <a:r>
              <a:rPr lang="es-ES" sz="2400"/>
              <a:t>, al ser </a:t>
            </a:r>
            <a:r>
              <a:rPr lang="es-ES" sz="2400" b="1"/>
              <a:t>E</a:t>
            </a:r>
            <a:r>
              <a:rPr lang="es-ES" sz="2400"/>
              <a:t> unif.:</a:t>
            </a:r>
            <a:endParaRPr lang="es-ES" sz="2400" dirty="0"/>
          </a:p>
        </p:txBody>
      </p:sp>
      <p:sp>
        <p:nvSpPr>
          <p:cNvPr id="52" name="Text Box 94">
            <a:extLst>
              <a:ext uri="{FF2B5EF4-FFF2-40B4-BE49-F238E27FC236}">
                <a16:creationId xmlns:a16="http://schemas.microsoft.com/office/drawing/2014/main" id="{96705A29-4933-4FE8-9746-83B327A969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7054" y="5986561"/>
            <a:ext cx="8396754" cy="905881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es-ES" sz="2400">
                <a:solidFill>
                  <a:schemeClr val="tx1"/>
                </a:solidFill>
              </a:rPr>
              <a:t>Si </a:t>
            </a:r>
            <a:r>
              <a:rPr lang="es-ES" sz="2400" dirty="0">
                <a:solidFill>
                  <a:schemeClr val="tx1"/>
                </a:solidFill>
              </a:rPr>
              <a:t>v = 0</a:t>
            </a:r>
            <a:r>
              <a:rPr lang="es-ES" sz="2400">
                <a:solidFill>
                  <a:schemeClr val="tx1"/>
                </a:solidFill>
              </a:rPr>
              <a:t>, F</a:t>
            </a:r>
            <a:r>
              <a:rPr lang="es-ES" sz="2400" baseline="-25000">
                <a:solidFill>
                  <a:schemeClr val="tx1"/>
                </a:solidFill>
              </a:rPr>
              <a:t>B</a:t>
            </a:r>
            <a:r>
              <a:rPr lang="es-ES" sz="2400">
                <a:solidFill>
                  <a:schemeClr val="tx1"/>
                </a:solidFill>
              </a:rPr>
              <a:t> = 0 y la barra se despolariza por efecto de F</a:t>
            </a:r>
            <a:r>
              <a:rPr lang="es-ES" sz="2400" baseline="-25000">
                <a:solidFill>
                  <a:schemeClr val="tx1"/>
                </a:solidFill>
              </a:rPr>
              <a:t>E</a:t>
            </a:r>
          </a:p>
          <a:p>
            <a:pPr algn="ctr" eaLnBrk="1" hangingPunct="1">
              <a:spcBef>
                <a:spcPts val="0"/>
              </a:spcBef>
            </a:pPr>
            <a:r>
              <a:rPr lang="es-ES" sz="2400">
                <a:solidFill>
                  <a:schemeClr val="tx1"/>
                </a:solidFill>
              </a:rPr>
              <a:t>hasta que: Q</a:t>
            </a:r>
            <a:r>
              <a:rPr lang="es-ES" sz="2400" baseline="30000">
                <a:solidFill>
                  <a:schemeClr val="tx1"/>
                </a:solidFill>
              </a:rPr>
              <a:t>-</a:t>
            </a:r>
            <a:r>
              <a:rPr lang="es-ES" sz="2400">
                <a:solidFill>
                  <a:schemeClr val="tx1"/>
                </a:solidFill>
              </a:rPr>
              <a:t>, Q</a:t>
            </a:r>
            <a:r>
              <a:rPr lang="es-ES" sz="2400" baseline="30000">
                <a:solidFill>
                  <a:schemeClr val="tx1"/>
                </a:solidFill>
              </a:rPr>
              <a:t>+</a:t>
            </a:r>
            <a:r>
              <a:rPr lang="es-ES" sz="2400">
                <a:solidFill>
                  <a:schemeClr val="tx1"/>
                </a:solidFill>
              </a:rPr>
              <a:t>, E, F</a:t>
            </a:r>
            <a:r>
              <a:rPr lang="es-ES" sz="2400" baseline="-25000">
                <a:solidFill>
                  <a:schemeClr val="tx1"/>
                </a:solidFill>
              </a:rPr>
              <a:t>E</a:t>
            </a:r>
            <a:r>
              <a:rPr lang="es-ES" sz="2400">
                <a:solidFill>
                  <a:schemeClr val="tx1"/>
                </a:solidFill>
              </a:rPr>
              <a:t> y V = 0. La R elimina la </a:t>
            </a:r>
            <a:r>
              <a:rPr lang="es-ES" sz="2400">
                <a:solidFill>
                  <a:schemeClr val="tx1"/>
                </a:solidFill>
                <a:latin typeface="Comic Sans MS" panose="030F0702030302020204" pitchFamily="66" charset="0"/>
              </a:rPr>
              <a:t>I</a:t>
            </a:r>
            <a:endParaRPr lang="es-E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5445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xt Box 58">
            <a:extLst>
              <a:ext uri="{FF2B5EF4-FFF2-40B4-BE49-F238E27FC236}">
                <a16:creationId xmlns:a16="http://schemas.microsoft.com/office/drawing/2014/main" id="{15CB5415-B60F-4078-9AB7-AEAAE3CC9F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30172" y="3846206"/>
            <a:ext cx="1472243" cy="90588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Es </a:t>
            </a:r>
            <a:r>
              <a:rPr lang="es-ES" sz="2400" dirty="0">
                <a:latin typeface="Arial" panose="020B0604020202020204" pitchFamily="34" charset="0"/>
              </a:rPr>
              <a:t>como </a:t>
            </a:r>
            <a:r>
              <a:rPr lang="es-ES" sz="2400">
                <a:latin typeface="Arial" panose="020B0604020202020204" pitchFamily="34" charset="0"/>
              </a:rPr>
              <a:t>una pila</a:t>
            </a:r>
            <a:endParaRPr lang="es-ES" sz="2400" dirty="0">
              <a:latin typeface="Arial" panose="020B0604020202020204" pitchFamily="34" charset="0"/>
            </a:endParaRPr>
          </a:p>
        </p:txBody>
      </p:sp>
      <p:sp>
        <p:nvSpPr>
          <p:cNvPr id="84" name="Text Box 56">
            <a:extLst>
              <a:ext uri="{FF2B5EF4-FFF2-40B4-BE49-F238E27FC236}">
                <a16:creationId xmlns:a16="http://schemas.microsoft.com/office/drawing/2014/main" id="{58F14257-53E7-44C3-AAAA-D6B53A6038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85422" y="4985448"/>
            <a:ext cx="6439179" cy="95677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wrap="square" lIns="90000" tIns="108000" rIns="90000" bIns="108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Una barra con </a:t>
            </a:r>
            <a:r>
              <a:rPr lang="es-ES" sz="2400" b="1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v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cte.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en un </a:t>
            </a:r>
            <a:r>
              <a:rPr lang="es-ES" sz="2400" b="1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B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cte. y uniforme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es un </a:t>
            </a:r>
            <a:r>
              <a:rPr lang="es-ES" sz="2400" b="1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generador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de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corriente continua</a:t>
            </a:r>
            <a:endParaRPr lang="es-ES" sz="2400" b="1" dirty="0">
              <a:solidFill>
                <a:srgbClr val="008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A8307ED4-AC1D-79A1-5F89-52C937608B92}"/>
              </a:ext>
            </a:extLst>
          </p:cNvPr>
          <p:cNvGrpSpPr/>
          <p:nvPr/>
        </p:nvGrpSpPr>
        <p:grpSpPr>
          <a:xfrm>
            <a:off x="8881632" y="6108130"/>
            <a:ext cx="1263206" cy="665322"/>
            <a:chOff x="8331570" y="6052593"/>
            <a:chExt cx="1263206" cy="665322"/>
          </a:xfrm>
        </p:grpSpPr>
        <p:sp>
          <p:nvSpPr>
            <p:cNvPr id="66" name="Rectangle 2">
              <a:extLst>
                <a:ext uri="{FF2B5EF4-FFF2-40B4-BE49-F238E27FC236}">
                  <a16:creationId xmlns:a16="http://schemas.microsoft.com/office/drawing/2014/main" id="{CE73982C-56D7-4C58-9585-DF4A7B0E20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87616" y="6052593"/>
              <a:ext cx="978947" cy="665322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0" name="Text Box 59">
              <a:extLst>
                <a:ext uri="{FF2B5EF4-FFF2-40B4-BE49-F238E27FC236}">
                  <a16:creationId xmlns:a16="http://schemas.microsoft.com/office/drawing/2014/main" id="{DE5D8B8A-9B22-42DA-BC16-58A0A2E27B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31570" y="6056297"/>
              <a:ext cx="1263206" cy="6579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latin typeface="Arial" panose="020B0604020202020204" pitchFamily="34" charset="0"/>
                  <a:sym typeface="Symbol" panose="05050102010706020507" pitchFamily="18" charset="2"/>
                </a:rPr>
                <a:t>   </a:t>
              </a:r>
              <a:r>
                <a:rPr lang="es-ES" sz="2800" dirty="0">
                  <a:latin typeface="Arial" panose="020B0604020202020204" pitchFamily="34" charset="0"/>
                  <a:sym typeface="Symbol" panose="05050102010706020507" pitchFamily="18" charset="2"/>
                </a:rPr>
                <a:t></a:t>
              </a:r>
              <a:r>
                <a:rPr lang="es-ES" sz="2400" dirty="0">
                  <a:latin typeface="Arial" panose="020B0604020202020204" pitchFamily="34" charset="0"/>
                  <a:sym typeface="Symbol" panose="05050102010706020507" pitchFamily="18" charset="2"/>
                </a:rPr>
                <a:t> = V</a:t>
              </a:r>
            </a:p>
          </p:txBody>
        </p:sp>
      </p:grpSp>
      <p:sp>
        <p:nvSpPr>
          <p:cNvPr id="78" name="CuadroTexto 77">
            <a:extLst>
              <a:ext uri="{FF2B5EF4-FFF2-40B4-BE49-F238E27FC236}">
                <a16:creationId xmlns:a16="http://schemas.microsoft.com/office/drawing/2014/main" id="{6AF6B75F-C12E-41D3-8504-A989DA0C8A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8144" y="5998756"/>
            <a:ext cx="1472243" cy="88407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square" lIns="108000" tIns="72000" rIns="108000" bIns="72000" anchor="ctr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2400" dirty="0"/>
              <a:t>¿Cuál es su FEM?</a:t>
            </a:r>
          </a:p>
        </p:txBody>
      </p:sp>
      <p:sp>
        <p:nvSpPr>
          <p:cNvPr id="79" name="Text Box 58">
            <a:extLst>
              <a:ext uri="{FF2B5EF4-FFF2-40B4-BE49-F238E27FC236}">
                <a16:creationId xmlns:a16="http://schemas.microsoft.com/office/drawing/2014/main" id="{63C9508D-9E10-473A-B040-FFC76B7D1C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876" y="6041489"/>
            <a:ext cx="6077859" cy="84771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txBody>
          <a:bodyPr wrap="square" lIns="72000" tIns="36000" rIns="72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Como en una pila, coincide con el voltaje, caída de potencial, V, que mantiene </a:t>
            </a:r>
            <a:endParaRPr lang="es-ES" sz="2400" dirty="0">
              <a:latin typeface="Arial" panose="020B0604020202020204" pitchFamily="34" charset="0"/>
            </a:endParaRPr>
          </a:p>
        </p:txBody>
      </p:sp>
      <p:sp>
        <p:nvSpPr>
          <p:cNvPr id="44" name="Text Box 48">
            <a:extLst>
              <a:ext uri="{FF2B5EF4-FFF2-40B4-BE49-F238E27FC236}">
                <a16:creationId xmlns:a16="http://schemas.microsoft.com/office/drawing/2014/main" id="{D67C2A80-29C4-43B0-BE92-A87EE1BEE0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99474" y="1017636"/>
            <a:ext cx="4339576" cy="536549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wrap="square" lIns="90000" tIns="82800" rIns="90000" bIns="82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None/>
              <a:defRPr/>
            </a:pPr>
            <a:r>
              <a:rPr lang="es-ES" sz="2400" dirty="0">
                <a:latin typeface="Comic Sans MS" panose="030F0702030302020204" pitchFamily="66" charset="0"/>
              </a:rPr>
              <a:t>I</a:t>
            </a:r>
            <a:r>
              <a:rPr lang="es-ES" sz="2400" dirty="0">
                <a:latin typeface="Arial" panose="020B0604020202020204" pitchFamily="34" charset="0"/>
              </a:rPr>
              <a:t> debilita </a:t>
            </a:r>
            <a:r>
              <a:rPr lang="es-ES" sz="2400">
                <a:latin typeface="Arial" panose="020B0604020202020204" pitchFamily="34" charset="0"/>
              </a:rPr>
              <a:t>a Q</a:t>
            </a:r>
            <a:r>
              <a:rPr lang="es-ES" sz="2400" baseline="30000">
                <a:latin typeface="Arial" panose="020B0604020202020204" pitchFamily="34" charset="0"/>
              </a:rPr>
              <a:t>-</a:t>
            </a:r>
            <a:r>
              <a:rPr lang="es-ES" sz="2400">
                <a:latin typeface="Arial" panose="020B0604020202020204" pitchFamily="34" charset="0"/>
              </a:rPr>
              <a:t>, Q</a:t>
            </a:r>
            <a:r>
              <a:rPr lang="es-ES" sz="2400" baseline="30000">
                <a:latin typeface="Arial" panose="020B0604020202020204" pitchFamily="34" charset="0"/>
              </a:rPr>
              <a:t>+</a:t>
            </a:r>
            <a:r>
              <a:rPr lang="es-ES" sz="2400">
                <a:latin typeface="Arial" panose="020B0604020202020204" pitchFamily="34" charset="0"/>
              </a:rPr>
              <a:t>, </a:t>
            </a:r>
            <a:r>
              <a:rPr lang="es-ES" sz="2400" b="1">
                <a:latin typeface="Arial" panose="020B0604020202020204" pitchFamily="34" charset="0"/>
              </a:rPr>
              <a:t>E</a:t>
            </a:r>
            <a:r>
              <a:rPr lang="es-ES" sz="2400">
                <a:latin typeface="Arial" panose="020B0604020202020204" pitchFamily="34" charset="0"/>
              </a:rPr>
              <a:t>, V y </a:t>
            </a:r>
            <a:r>
              <a:rPr lang="es-ES" sz="2400" b="1">
                <a:latin typeface="Arial" panose="020B0604020202020204" pitchFamily="34" charset="0"/>
              </a:rPr>
              <a:t>F</a:t>
            </a:r>
            <a:r>
              <a:rPr lang="es-ES" sz="2400" b="1" baseline="-25000">
                <a:latin typeface="Arial" panose="020B0604020202020204" pitchFamily="34" charset="0"/>
              </a:rPr>
              <a:t>E</a:t>
            </a:r>
            <a:endParaRPr lang="es-ES" sz="240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47" name="Text Box 48">
            <a:extLst>
              <a:ext uri="{FF2B5EF4-FFF2-40B4-BE49-F238E27FC236}">
                <a16:creationId xmlns:a16="http://schemas.microsoft.com/office/drawing/2014/main" id="{D7DEAC6A-2897-467A-A29D-9A37AADE47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0575" y="1800826"/>
            <a:ext cx="4308474" cy="53654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0000" tIns="82800" rIns="90000" bIns="82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None/>
              <a:defRPr/>
            </a:pPr>
            <a:r>
              <a:rPr lang="es-ES" sz="2400" b="1">
                <a:latin typeface="Arial" panose="020B0604020202020204" pitchFamily="34" charset="0"/>
              </a:rPr>
              <a:t>F</a:t>
            </a:r>
            <a:r>
              <a:rPr lang="es-ES" sz="2400" b="1" baseline="-25000">
                <a:latin typeface="Arial" panose="020B0604020202020204" pitchFamily="34" charset="0"/>
              </a:rPr>
              <a:t>B</a:t>
            </a:r>
            <a:r>
              <a:rPr lang="es-ES" sz="2400">
                <a:latin typeface="Arial" panose="020B0604020202020204" pitchFamily="34" charset="0"/>
              </a:rPr>
              <a:t> </a:t>
            </a:r>
            <a:r>
              <a:rPr lang="es-ES" sz="2400" dirty="0">
                <a:latin typeface="Arial" panose="020B0604020202020204" pitchFamily="34" charset="0"/>
              </a:rPr>
              <a:t>vuelve </a:t>
            </a:r>
            <a:r>
              <a:rPr lang="es-ES" sz="2400">
                <a:latin typeface="Arial" panose="020B0604020202020204" pitchFamily="34" charset="0"/>
              </a:rPr>
              <a:t>a ser mayor </a:t>
            </a:r>
            <a:r>
              <a:rPr lang="es-ES" sz="2400" dirty="0">
                <a:latin typeface="Arial" panose="020B0604020202020204" pitchFamily="34" charset="0"/>
              </a:rPr>
              <a:t>que </a:t>
            </a:r>
            <a:r>
              <a:rPr lang="es-ES" sz="2400" b="1" dirty="0">
                <a:latin typeface="Arial" panose="020B0604020202020204" pitchFamily="34" charset="0"/>
              </a:rPr>
              <a:t>F</a:t>
            </a:r>
            <a:r>
              <a:rPr lang="es-ES" sz="2400" b="1" baseline="-25000" dirty="0">
                <a:latin typeface="Arial" panose="020B0604020202020204" pitchFamily="34" charset="0"/>
              </a:rPr>
              <a:t>E</a:t>
            </a:r>
            <a:endParaRPr lang="es-ES" sz="240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grpSp>
        <p:nvGrpSpPr>
          <p:cNvPr id="48" name="Grupo 47">
            <a:extLst>
              <a:ext uri="{FF2B5EF4-FFF2-40B4-BE49-F238E27FC236}">
                <a16:creationId xmlns:a16="http://schemas.microsoft.com/office/drawing/2014/main" id="{1007E97A-15F7-4760-B192-9E4C59B00527}"/>
              </a:ext>
            </a:extLst>
          </p:cNvPr>
          <p:cNvGrpSpPr/>
          <p:nvPr/>
        </p:nvGrpSpPr>
        <p:grpSpPr>
          <a:xfrm>
            <a:off x="1207107" y="529225"/>
            <a:ext cx="4473575" cy="2963592"/>
            <a:chOff x="1236842" y="62914"/>
            <a:chExt cx="4473575" cy="2963592"/>
          </a:xfrm>
        </p:grpSpPr>
        <p:sp>
          <p:nvSpPr>
            <p:cNvPr id="49" name="Text Box 2">
              <a:extLst>
                <a:ext uri="{FF2B5EF4-FFF2-40B4-BE49-F238E27FC236}">
                  <a16:creationId xmlns:a16="http://schemas.microsoft.com/office/drawing/2014/main" id="{9FE09EE8-0B9B-4601-9C80-CD10BA64DA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57479" y="804006"/>
              <a:ext cx="4308475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latin typeface="Arial" panose="020B0604020202020204" pitchFamily="34" charset="0"/>
                </a:rPr>
                <a:t>x  x  x  x  x  x  x  x  x  x  x  x  x  x  x</a:t>
              </a:r>
            </a:p>
          </p:txBody>
        </p:sp>
        <p:sp>
          <p:nvSpPr>
            <p:cNvPr id="50" name="Line 5">
              <a:extLst>
                <a:ext uri="{FF2B5EF4-FFF2-40B4-BE49-F238E27FC236}">
                  <a16:creationId xmlns:a16="http://schemas.microsoft.com/office/drawing/2014/main" id="{D67DA626-E67D-4DEE-8981-245D9CD531F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57529" y="1223106"/>
              <a:ext cx="0" cy="142240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Ctr="1"/>
            <a:lstStyle/>
            <a:p>
              <a:endParaRPr lang="en-GB"/>
            </a:p>
          </p:txBody>
        </p:sp>
        <p:sp>
          <p:nvSpPr>
            <p:cNvPr id="51" name="Line 6">
              <a:extLst>
                <a:ext uri="{FF2B5EF4-FFF2-40B4-BE49-F238E27FC236}">
                  <a16:creationId xmlns:a16="http://schemas.microsoft.com/office/drawing/2014/main" id="{594BDA90-D538-4B09-9CED-89FA7062EB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64342" y="1210406"/>
              <a:ext cx="0" cy="1446212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 type="stealth" w="lg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Ctr="1"/>
            <a:lstStyle/>
            <a:p>
              <a:endParaRPr lang="en-GB"/>
            </a:p>
          </p:txBody>
        </p:sp>
        <p:sp>
          <p:nvSpPr>
            <p:cNvPr id="52" name="Text Box 7">
              <a:extLst>
                <a:ext uri="{FF2B5EF4-FFF2-40B4-BE49-F238E27FC236}">
                  <a16:creationId xmlns:a16="http://schemas.microsoft.com/office/drawing/2014/main" id="{BB469A9F-3397-46FF-939B-1BEF3396B2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88154" y="1680306"/>
              <a:ext cx="322263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Arial" panose="020B0604020202020204" pitchFamily="34" charset="0"/>
                </a:rPr>
                <a:t>L</a:t>
              </a:r>
            </a:p>
          </p:txBody>
        </p:sp>
        <p:sp>
          <p:nvSpPr>
            <p:cNvPr id="53" name="Text Box 8">
              <a:extLst>
                <a:ext uri="{FF2B5EF4-FFF2-40B4-BE49-F238E27FC236}">
                  <a16:creationId xmlns:a16="http://schemas.microsoft.com/office/drawing/2014/main" id="{A45F1682-D5BA-4804-BD78-06FBF7681F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0017" y="1142143"/>
              <a:ext cx="4308475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latin typeface="Arial" panose="020B0604020202020204" pitchFamily="34" charset="0"/>
                </a:rPr>
                <a:t>x  x  x  x  x  x  x  x  x  x  x  x  x  x  x</a:t>
              </a:r>
            </a:p>
          </p:txBody>
        </p:sp>
        <p:sp>
          <p:nvSpPr>
            <p:cNvPr id="54" name="Text Box 9">
              <a:extLst>
                <a:ext uri="{FF2B5EF4-FFF2-40B4-BE49-F238E27FC236}">
                  <a16:creationId xmlns:a16="http://schemas.microsoft.com/office/drawing/2014/main" id="{AA9BFD0B-62D6-498A-957E-DA74C1BDC3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4779" y="1502506"/>
              <a:ext cx="4308475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latin typeface="Arial" panose="020B0604020202020204" pitchFamily="34" charset="0"/>
                </a:rPr>
                <a:t>x  x  x  x  x  x  x  x  x  x  x  x  x  x  x</a:t>
              </a:r>
            </a:p>
          </p:txBody>
        </p:sp>
        <p:sp>
          <p:nvSpPr>
            <p:cNvPr id="55" name="Text Box 10">
              <a:extLst>
                <a:ext uri="{FF2B5EF4-FFF2-40B4-BE49-F238E27FC236}">
                  <a16:creationId xmlns:a16="http://schemas.microsoft.com/office/drawing/2014/main" id="{BC979756-3229-4CF8-96B1-74A10481FB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9542" y="1840643"/>
              <a:ext cx="4308475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latin typeface="Arial" panose="020B0604020202020204" pitchFamily="34" charset="0"/>
                </a:rPr>
                <a:t>x  x  x  x  x  x  x  x  x  x  x  x  x  x  x</a:t>
              </a:r>
            </a:p>
          </p:txBody>
        </p:sp>
        <p:sp>
          <p:nvSpPr>
            <p:cNvPr id="56" name="Text Box 11">
              <a:extLst>
                <a:ext uri="{FF2B5EF4-FFF2-40B4-BE49-F238E27FC236}">
                  <a16:creationId xmlns:a16="http://schemas.microsoft.com/office/drawing/2014/main" id="{3FD5949E-87EB-479D-9F2D-A78EB97617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3192" y="2186718"/>
              <a:ext cx="4308475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latin typeface="Arial" panose="020B0604020202020204" pitchFamily="34" charset="0"/>
                </a:rPr>
                <a:t>x  x  x  x  x  x  x  x  x  x  x  x  x  x  x</a:t>
              </a:r>
            </a:p>
          </p:txBody>
        </p:sp>
        <p:sp>
          <p:nvSpPr>
            <p:cNvPr id="57" name="Text Box 12">
              <a:extLst>
                <a:ext uri="{FF2B5EF4-FFF2-40B4-BE49-F238E27FC236}">
                  <a16:creationId xmlns:a16="http://schemas.microsoft.com/office/drawing/2014/main" id="{E5EFD784-1C7C-4B8C-8F0E-417B58656B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36842" y="2556606"/>
              <a:ext cx="4308475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dirty="0">
                  <a:latin typeface="Arial" panose="020B0604020202020204" pitchFamily="34" charset="0"/>
                </a:rPr>
                <a:t>x  x  x  x  x  x  x  x  x  x  x  x  x  x  x</a:t>
              </a:r>
            </a:p>
          </p:txBody>
        </p:sp>
        <p:sp>
          <p:nvSpPr>
            <p:cNvPr id="61" name="Rectangle 13">
              <a:extLst>
                <a:ext uri="{FF2B5EF4-FFF2-40B4-BE49-F238E27FC236}">
                  <a16:creationId xmlns:a16="http://schemas.microsoft.com/office/drawing/2014/main" id="{471157A3-91E7-4A34-AF57-8DDD0D2F05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4017" y="1558068"/>
              <a:ext cx="323850" cy="763588"/>
            </a:xfrm>
            <a:prstGeom prst="rect">
              <a:avLst/>
            </a:prstGeom>
            <a:solidFill>
              <a:srgbClr val="EDE7E3"/>
            </a:solidFill>
            <a:ln w="25400" algn="ctr">
              <a:solidFill>
                <a:srgbClr val="0000FF"/>
              </a:solidFill>
              <a:miter lim="800000"/>
              <a:headEnd/>
              <a:tailEnd type="none" w="lg" len="lg"/>
            </a:ln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2" name="Text Box 14">
              <a:extLst>
                <a:ext uri="{FF2B5EF4-FFF2-40B4-BE49-F238E27FC236}">
                  <a16:creationId xmlns:a16="http://schemas.microsoft.com/office/drawing/2014/main" id="{F230D7DB-7590-403A-B6C9-DF45E277EE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65442" y="1660596"/>
              <a:ext cx="365125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1">
                  <a:solidFill>
                    <a:srgbClr val="3333FF"/>
                  </a:solidFill>
                  <a:latin typeface="Arial" panose="020B0604020202020204" pitchFamily="34" charset="0"/>
                </a:rPr>
                <a:t>R</a:t>
              </a:r>
            </a:p>
          </p:txBody>
        </p:sp>
        <p:sp>
          <p:nvSpPr>
            <p:cNvPr id="63" name="Line 15">
              <a:extLst>
                <a:ext uri="{FF2B5EF4-FFF2-40B4-BE49-F238E27FC236}">
                  <a16:creationId xmlns:a16="http://schemas.microsoft.com/office/drawing/2014/main" id="{1B9EEFE0-43AE-478E-850D-C07171C91DB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41654" y="2656618"/>
              <a:ext cx="3506788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Ctr="1"/>
            <a:lstStyle/>
            <a:p>
              <a:endParaRPr lang="en-GB"/>
            </a:p>
          </p:txBody>
        </p:sp>
        <p:sp>
          <p:nvSpPr>
            <p:cNvPr id="64" name="Line 16">
              <a:extLst>
                <a:ext uri="{FF2B5EF4-FFF2-40B4-BE49-F238E27FC236}">
                  <a16:creationId xmlns:a16="http://schemas.microsoft.com/office/drawing/2014/main" id="{29EFA4D2-EE34-443D-AC4D-1052EA8689C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57529" y="1211993"/>
              <a:ext cx="3541713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Ctr="1"/>
            <a:lstStyle/>
            <a:p>
              <a:endParaRPr lang="en-GB"/>
            </a:p>
          </p:txBody>
        </p:sp>
        <p:sp>
          <p:nvSpPr>
            <p:cNvPr id="65" name="Line 18">
              <a:extLst>
                <a:ext uri="{FF2B5EF4-FFF2-40B4-BE49-F238E27FC236}">
                  <a16:creationId xmlns:a16="http://schemas.microsoft.com/office/drawing/2014/main" id="{3E0F9308-2410-4D66-B5FC-2CD3BC8C6E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84779" y="708756"/>
              <a:ext cx="376238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/>
            </a:p>
          </p:txBody>
        </p:sp>
        <p:sp>
          <p:nvSpPr>
            <p:cNvPr id="69" name="Text Box 54">
              <a:extLst>
                <a:ext uri="{FF2B5EF4-FFF2-40B4-BE49-F238E27FC236}">
                  <a16:creationId xmlns:a16="http://schemas.microsoft.com/office/drawing/2014/main" id="{7153689B-D4F1-42C2-948D-170AC6FF1F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87030" y="62914"/>
              <a:ext cx="2544584" cy="5365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Arial" panose="020B0604020202020204" pitchFamily="34" charset="0"/>
                </a:rPr>
                <a:t>Barra conductora</a:t>
              </a:r>
            </a:p>
          </p:txBody>
        </p:sp>
      </p:grpSp>
      <p:sp>
        <p:nvSpPr>
          <p:cNvPr id="72" name="AutoShape 17">
            <a:extLst>
              <a:ext uri="{FF2B5EF4-FFF2-40B4-BE49-F238E27FC236}">
                <a16:creationId xmlns:a16="http://schemas.microsoft.com/office/drawing/2014/main" id="{4905CBBB-FC30-48A4-857A-359A28C53EB4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3332769" y="1413192"/>
            <a:ext cx="566738" cy="1711325"/>
          </a:xfrm>
          <a:prstGeom prst="can">
            <a:avLst>
              <a:gd name="adj" fmla="val 26883"/>
            </a:avLst>
          </a:prstGeom>
          <a:solidFill>
            <a:srgbClr val="EDE7E3"/>
          </a:solidFill>
          <a:ln w="25400">
            <a:solidFill>
              <a:srgbClr val="0000FF"/>
            </a:solidFill>
            <a:round/>
            <a:headEnd/>
            <a:tailEnd type="none" w="lg" len="lg"/>
          </a:ln>
        </p:spPr>
        <p:txBody>
          <a:bodyPr rot="10800000" wrap="none" lIns="90000" tIns="82800" rIns="90000" bIns="82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73" name="Object 19">
            <a:extLst>
              <a:ext uri="{FF2B5EF4-FFF2-40B4-BE49-F238E27FC236}">
                <a16:creationId xmlns:a16="http://schemas.microsoft.com/office/drawing/2014/main" id="{B70B524C-A9E4-47B9-9BE5-E89AFCDE290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61674" y="923765"/>
          <a:ext cx="307340" cy="4295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3" imgW="126725" imgH="177415" progId="Equation.3">
                  <p:embed/>
                </p:oleObj>
              </mc:Choice>
              <mc:Fallback>
                <p:oleObj name="Ecuación" r:id="rId3" imgW="126725" imgH="177415" progId="Equation.3">
                  <p:embed/>
                  <p:pic>
                    <p:nvPicPr>
                      <p:cNvPr id="73" name="Object 19">
                        <a:extLst>
                          <a:ext uri="{FF2B5EF4-FFF2-40B4-BE49-F238E27FC236}">
                            <a16:creationId xmlns:a16="http://schemas.microsoft.com/office/drawing/2014/main" id="{B70B524C-A9E4-47B9-9BE5-E89AFCDE290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1674" y="923765"/>
                        <a:ext cx="307340" cy="4295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" name="Text Box 33">
            <a:extLst>
              <a:ext uri="{FF2B5EF4-FFF2-40B4-BE49-F238E27FC236}">
                <a16:creationId xmlns:a16="http://schemas.microsoft.com/office/drawing/2014/main" id="{650DBCDD-1267-462B-AB33-99F970F2DE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9294" y="2719704"/>
            <a:ext cx="300038" cy="592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800">
                <a:solidFill>
                  <a:srgbClr val="FF0000"/>
                </a:solidFill>
                <a:latin typeface="Arial" panose="020B0604020202020204" pitchFamily="34" charset="0"/>
              </a:rPr>
              <a:t>-</a:t>
            </a:r>
          </a:p>
        </p:txBody>
      </p:sp>
      <p:sp>
        <p:nvSpPr>
          <p:cNvPr id="89" name="Text Box 34">
            <a:extLst>
              <a:ext uri="{FF2B5EF4-FFF2-40B4-BE49-F238E27FC236}">
                <a16:creationId xmlns:a16="http://schemas.microsoft.com/office/drawing/2014/main" id="{DFECC68B-85D8-4483-96B4-F938A21F29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8494" y="1236979"/>
            <a:ext cx="388938" cy="592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800">
                <a:solidFill>
                  <a:srgbClr val="FF0000"/>
                </a:solidFill>
                <a:latin typeface="Arial" panose="020B0604020202020204" pitchFamily="34" charset="0"/>
              </a:rPr>
              <a:t>+</a:t>
            </a:r>
          </a:p>
        </p:txBody>
      </p:sp>
      <p:grpSp>
        <p:nvGrpSpPr>
          <p:cNvPr id="101" name="Group 42">
            <a:extLst>
              <a:ext uri="{FF2B5EF4-FFF2-40B4-BE49-F238E27FC236}">
                <a16:creationId xmlns:a16="http://schemas.microsoft.com/office/drawing/2014/main" id="{88B1BC60-8D66-4FF9-AFA7-51ABD8787D62}"/>
              </a:ext>
            </a:extLst>
          </p:cNvPr>
          <p:cNvGrpSpPr>
            <a:grpSpLocks/>
          </p:cNvGrpSpPr>
          <p:nvPr/>
        </p:nvGrpSpPr>
        <p:grpSpPr bwMode="auto">
          <a:xfrm>
            <a:off x="2237803" y="1130725"/>
            <a:ext cx="403225" cy="2508250"/>
            <a:chOff x="2005" y="1020"/>
            <a:chExt cx="254" cy="1580"/>
          </a:xfrm>
        </p:grpSpPr>
        <p:sp>
          <p:nvSpPr>
            <p:cNvPr id="102" name="Line 43">
              <a:extLst>
                <a:ext uri="{FF2B5EF4-FFF2-40B4-BE49-F238E27FC236}">
                  <a16:creationId xmlns:a16="http://schemas.microsoft.com/office/drawing/2014/main" id="{7C62EA31-8B7D-4EAD-8596-677E97B8CA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22" y="2273"/>
              <a:ext cx="237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Ctr="1"/>
            <a:lstStyle/>
            <a:p>
              <a:endParaRPr lang="en-GB" sz="2400"/>
            </a:p>
          </p:txBody>
        </p:sp>
        <p:sp>
          <p:nvSpPr>
            <p:cNvPr id="103" name="Line 44">
              <a:extLst>
                <a:ext uri="{FF2B5EF4-FFF2-40B4-BE49-F238E27FC236}">
                  <a16:creationId xmlns:a16="http://schemas.microsoft.com/office/drawing/2014/main" id="{F89583C9-52F4-4736-99ED-55335BE689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05" y="1366"/>
              <a:ext cx="237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Ctr="1"/>
            <a:lstStyle/>
            <a:p>
              <a:endParaRPr lang="en-GB" sz="2400"/>
            </a:p>
          </p:txBody>
        </p:sp>
        <p:sp>
          <p:nvSpPr>
            <p:cNvPr id="104" name="Text Box 45">
              <a:extLst>
                <a:ext uri="{FF2B5EF4-FFF2-40B4-BE49-F238E27FC236}">
                  <a16:creationId xmlns:a16="http://schemas.microsoft.com/office/drawing/2014/main" id="{17538821-4938-4352-B2D3-BE0C147E8E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34" y="1020"/>
              <a:ext cx="201" cy="296"/>
            </a:xfrm>
            <a:prstGeom prst="rect">
              <a:avLst/>
            </a:prstGeom>
            <a:solidFill>
              <a:srgbClr val="EDE7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1">
                  <a:solidFill>
                    <a:srgbClr val="3333FF"/>
                  </a:solidFill>
                  <a:latin typeface="Comic Sans MS" panose="030F0702030302020204" pitchFamily="66" charset="0"/>
                </a:rPr>
                <a:t>I</a:t>
              </a:r>
            </a:p>
          </p:txBody>
        </p:sp>
        <p:sp>
          <p:nvSpPr>
            <p:cNvPr id="105" name="Text Box 46">
              <a:extLst>
                <a:ext uri="{FF2B5EF4-FFF2-40B4-BE49-F238E27FC236}">
                  <a16:creationId xmlns:a16="http://schemas.microsoft.com/office/drawing/2014/main" id="{333C59C7-46F8-44FD-AAB7-F0426E658B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22" y="2304"/>
              <a:ext cx="201" cy="296"/>
            </a:xfrm>
            <a:prstGeom prst="rect">
              <a:avLst/>
            </a:prstGeom>
            <a:solidFill>
              <a:srgbClr val="EDE7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1">
                  <a:solidFill>
                    <a:srgbClr val="3333FF"/>
                  </a:solidFill>
                  <a:latin typeface="Comic Sans MS" panose="030F0702030302020204" pitchFamily="66" charset="0"/>
                </a:rPr>
                <a:t>I</a:t>
              </a:r>
            </a:p>
          </p:txBody>
        </p:sp>
      </p:grpSp>
      <p:grpSp>
        <p:nvGrpSpPr>
          <p:cNvPr id="85" name="Group 28">
            <a:extLst>
              <a:ext uri="{FF2B5EF4-FFF2-40B4-BE49-F238E27FC236}">
                <a16:creationId xmlns:a16="http://schemas.microsoft.com/office/drawing/2014/main" id="{56C5DCA2-DD93-431F-91F6-6760E4700E3D}"/>
              </a:ext>
            </a:extLst>
          </p:cNvPr>
          <p:cNvGrpSpPr>
            <a:grpSpLocks/>
          </p:cNvGrpSpPr>
          <p:nvPr/>
        </p:nvGrpSpPr>
        <p:grpSpPr bwMode="auto">
          <a:xfrm>
            <a:off x="3463018" y="1871826"/>
            <a:ext cx="319087" cy="917575"/>
            <a:chOff x="2708" y="1487"/>
            <a:chExt cx="201" cy="578"/>
          </a:xfrm>
        </p:grpSpPr>
        <p:sp>
          <p:nvSpPr>
            <p:cNvPr id="86" name="Text Box 29">
              <a:extLst>
                <a:ext uri="{FF2B5EF4-FFF2-40B4-BE49-F238E27FC236}">
                  <a16:creationId xmlns:a16="http://schemas.microsoft.com/office/drawing/2014/main" id="{A5E7712A-8225-4AC0-8DAF-6F028B7CBB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08" y="1769"/>
              <a:ext cx="201" cy="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1" dirty="0">
                  <a:solidFill>
                    <a:srgbClr val="3333FF"/>
                  </a:solidFill>
                  <a:latin typeface="Comic Sans MS" panose="030F0702030302020204" pitchFamily="66" charset="0"/>
                </a:rPr>
                <a:t>I</a:t>
              </a:r>
            </a:p>
          </p:txBody>
        </p:sp>
        <p:sp>
          <p:nvSpPr>
            <p:cNvPr id="87" name="Line 30">
              <a:extLst>
                <a:ext uri="{FF2B5EF4-FFF2-40B4-BE49-F238E27FC236}">
                  <a16:creationId xmlns:a16="http://schemas.microsoft.com/office/drawing/2014/main" id="{2D734CC9-ECAA-4B20-9303-53399A37881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>
              <a:off x="2687" y="1606"/>
              <a:ext cx="237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Ctr="1"/>
            <a:lstStyle/>
            <a:p>
              <a:endParaRPr lang="en-GB"/>
            </a:p>
          </p:txBody>
        </p:sp>
      </p:grpSp>
      <p:sp>
        <p:nvSpPr>
          <p:cNvPr id="3" name="Text Box 48">
            <a:extLst>
              <a:ext uri="{FF2B5EF4-FFF2-40B4-BE49-F238E27FC236}">
                <a16:creationId xmlns:a16="http://schemas.microsoft.com/office/drawing/2014/main" id="{62AC61E2-8A18-5166-DE4B-C9BD583A61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9443" y="2615918"/>
            <a:ext cx="4289425" cy="90588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0000" tIns="82800" rIns="90000" bIns="82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None/>
              <a:defRPr/>
            </a:pPr>
            <a:r>
              <a:rPr lang="es-ES" sz="2400" dirty="0">
                <a:latin typeface="Arial" panose="020B0604020202020204" pitchFamily="34" charset="0"/>
              </a:rPr>
              <a:t>La desviación de e</a:t>
            </a:r>
            <a:r>
              <a:rPr lang="es-ES" sz="2400" baseline="30000" dirty="0">
                <a:latin typeface="Arial" panose="020B0604020202020204" pitchFamily="34" charset="0"/>
              </a:rPr>
              <a:t>-</a:t>
            </a:r>
            <a:r>
              <a:rPr lang="es-ES" sz="2400" dirty="0">
                <a:latin typeface="Arial" panose="020B0604020202020204" pitchFamily="34" charset="0"/>
              </a:rPr>
              <a:t> </a:t>
            </a:r>
            <a:r>
              <a:rPr lang="es-ES" sz="2400">
                <a:latin typeface="Arial" panose="020B0604020202020204" pitchFamily="34" charset="0"/>
              </a:rPr>
              <a:t>que produce tiende a restaurarlos </a:t>
            </a:r>
            <a:endParaRPr lang="es-ES" sz="240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4" name="Flecha derecha 5">
            <a:extLst>
              <a:ext uri="{FF2B5EF4-FFF2-40B4-BE49-F238E27FC236}">
                <a16:creationId xmlns:a16="http://schemas.microsoft.com/office/drawing/2014/main" id="{2566E77B-8D48-5E13-19D0-592291CB47AA}"/>
              </a:ext>
            </a:extLst>
          </p:cNvPr>
          <p:cNvSpPr/>
          <p:nvPr/>
        </p:nvSpPr>
        <p:spPr bwMode="auto">
          <a:xfrm rot="5400000">
            <a:off x="7903781" y="2266476"/>
            <a:ext cx="378991" cy="521236"/>
          </a:xfrm>
          <a:prstGeom prst="rightArrow">
            <a:avLst/>
          </a:prstGeom>
          <a:solidFill>
            <a:schemeClr val="accent1"/>
          </a:solidFill>
          <a:ln w="254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90000" tIns="82800" rIns="90000" bIns="82800" numCol="1" rtlCol="0" anchor="t" anchorCtr="1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46" name="Flecha derecha 5">
            <a:extLst>
              <a:ext uri="{FF2B5EF4-FFF2-40B4-BE49-F238E27FC236}">
                <a16:creationId xmlns:a16="http://schemas.microsoft.com/office/drawing/2014/main" id="{4CA36597-DB4F-4922-B8FA-64121B53D2FF}"/>
              </a:ext>
            </a:extLst>
          </p:cNvPr>
          <p:cNvSpPr/>
          <p:nvPr/>
        </p:nvSpPr>
        <p:spPr bwMode="auto">
          <a:xfrm rot="5400000">
            <a:off x="7903782" y="1482283"/>
            <a:ext cx="378991" cy="521236"/>
          </a:xfrm>
          <a:prstGeom prst="rightArrow">
            <a:avLst/>
          </a:prstGeom>
          <a:solidFill>
            <a:schemeClr val="accent1"/>
          </a:solidFill>
          <a:ln w="254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90000" tIns="82800" rIns="90000" bIns="82800" numCol="1" rtlCol="0" anchor="t" anchorCtr="1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45" name="Text Box 69">
            <a:extLst>
              <a:ext uri="{FF2B5EF4-FFF2-40B4-BE49-F238E27FC236}">
                <a16:creationId xmlns:a16="http://schemas.microsoft.com/office/drawing/2014/main" id="{1CD57A62-3DF9-4D43-BF03-392F7866B5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3798" y="3611919"/>
            <a:ext cx="7075765" cy="127521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s-ES" sz="2400">
                <a:solidFill>
                  <a:schemeClr val="tx1"/>
                </a:solidFill>
              </a:rPr>
              <a:t>La corriente de e</a:t>
            </a:r>
            <a:r>
              <a:rPr lang="es-ES" sz="2400" baseline="30000">
                <a:solidFill>
                  <a:schemeClr val="tx1"/>
                </a:solidFill>
              </a:rPr>
              <a:t>-</a:t>
            </a:r>
            <a:r>
              <a:rPr lang="es-ES" sz="2400">
                <a:solidFill>
                  <a:schemeClr val="tx1"/>
                </a:solidFill>
              </a:rPr>
              <a:t> hacia abajo que </a:t>
            </a:r>
            <a:r>
              <a:rPr lang="es-ES" sz="2400" b="1">
                <a:solidFill>
                  <a:schemeClr val="tx1"/>
                </a:solidFill>
              </a:rPr>
              <a:t>F</a:t>
            </a:r>
            <a:r>
              <a:rPr lang="es-ES" sz="2400" b="1" baseline="-25000">
                <a:solidFill>
                  <a:schemeClr val="tx1"/>
                </a:solidFill>
              </a:rPr>
              <a:t>B</a:t>
            </a:r>
            <a:r>
              <a:rPr lang="es-ES" sz="2400">
                <a:solidFill>
                  <a:schemeClr val="tx1"/>
                </a:solidFill>
              </a:rPr>
              <a:t> produce en la barra, es igual a una de Q</a:t>
            </a:r>
            <a:r>
              <a:rPr lang="es-ES" sz="2400" baseline="30000">
                <a:solidFill>
                  <a:schemeClr val="tx1"/>
                </a:solidFill>
              </a:rPr>
              <a:t>+</a:t>
            </a:r>
            <a:r>
              <a:rPr lang="es-ES" sz="2400">
                <a:solidFill>
                  <a:schemeClr val="tx1"/>
                </a:solidFill>
              </a:rPr>
              <a:t> hacia arriba y es igual a la que circula por R al restaurar la situación</a:t>
            </a:r>
            <a:endParaRPr lang="es-ES" sz="2400" dirty="0">
              <a:solidFill>
                <a:schemeClr val="tx1"/>
              </a:solidFill>
            </a:endParaRPr>
          </a:p>
        </p:txBody>
      </p:sp>
      <p:sp>
        <p:nvSpPr>
          <p:cNvPr id="5" name="Text Box 59">
            <a:extLst>
              <a:ext uri="{FF2B5EF4-FFF2-40B4-BE49-F238E27FC236}">
                <a16:creationId xmlns:a16="http://schemas.microsoft.com/office/drawing/2014/main" id="{8EE9A4D4-CD63-B18E-632E-875FFCAFD5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5963" y="340103"/>
            <a:ext cx="1905351" cy="536549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>
                <a:latin typeface="Arial" panose="020B0604020202020204" pitchFamily="34" charset="0"/>
              </a:rPr>
              <a:t>ANÁLISIS</a:t>
            </a:r>
            <a:endParaRPr lang="es-ES" sz="2400" dirty="0">
              <a:latin typeface="Arial" panose="020B0604020202020204" pitchFamily="34" charset="0"/>
            </a:endParaRPr>
          </a:p>
        </p:txBody>
      </p:sp>
      <p:sp>
        <p:nvSpPr>
          <p:cNvPr id="6" name="Text Box 59">
            <a:extLst>
              <a:ext uri="{FF2B5EF4-FFF2-40B4-BE49-F238E27FC236}">
                <a16:creationId xmlns:a16="http://schemas.microsoft.com/office/drawing/2014/main" id="{FB90894B-41B8-7ED9-F9A1-F2D4A0E71B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2115" y="4988569"/>
            <a:ext cx="2224187" cy="950529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square" lIns="90000" tIns="82800" rIns="90000" bIns="828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>
                <a:latin typeface="Arial" panose="020B0604020202020204" pitchFamily="34" charset="0"/>
              </a:rPr>
              <a:t>CONCLUSIÓN</a:t>
            </a:r>
            <a:endParaRPr lang="es-ES" sz="2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6070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" grpId="0" animBg="1"/>
      <p:bldP spid="84" grpId="0" animBg="1"/>
      <p:bldP spid="78" grpId="0" animBg="1"/>
      <p:bldP spid="79" grpId="0" animBg="1"/>
      <p:bldP spid="44" grpId="0" animBg="1"/>
      <p:bldP spid="47" grpId="0" animBg="1"/>
      <p:bldP spid="3" grpId="0" animBg="1"/>
      <p:bldP spid="4" grpId="0" animBg="1"/>
      <p:bldP spid="46" grpId="0" animBg="1"/>
      <p:bldP spid="45" grpId="0" animBg="1"/>
      <p:bldP spid="5" grpId="0" animBg="1"/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91" name="Text Box 47"/>
          <p:cNvSpPr txBox="1">
            <a:spLocks noChangeArrowheads="1"/>
          </p:cNvSpPr>
          <p:nvPr/>
        </p:nvSpPr>
        <p:spPr bwMode="auto">
          <a:xfrm>
            <a:off x="1485810" y="1791376"/>
            <a:ext cx="4026834" cy="536549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Comic Sans MS" panose="030F0702030302020204" pitchFamily="66" charset="0"/>
              </a:rPr>
              <a:t>I</a:t>
            </a:r>
            <a:r>
              <a:rPr lang="es-ES" sz="2400" dirty="0">
                <a:latin typeface="Arial" panose="020B0604020202020204" pitchFamily="34" charset="0"/>
              </a:rPr>
              <a:t> en Barra 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 </a:t>
            </a:r>
            <a:r>
              <a:rPr lang="es-ES" sz="2400" b="1" dirty="0"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ES" sz="2400" b="1" dirty="0">
                <a:latin typeface="Arial" panose="020B0604020202020204" pitchFamily="34" charset="0"/>
              </a:rPr>
              <a:t>F*</a:t>
            </a:r>
            <a:r>
              <a:rPr lang="es-ES" sz="2400" dirty="0">
                <a:latin typeface="Arial" panose="020B0604020202020204" pitchFamily="34" charset="0"/>
              </a:rPr>
              <a:t> adicional</a:t>
            </a:r>
          </a:p>
        </p:txBody>
      </p:sp>
      <p:grpSp>
        <p:nvGrpSpPr>
          <p:cNvPr id="7" name="Grupo 6"/>
          <p:cNvGrpSpPr/>
          <p:nvPr/>
        </p:nvGrpSpPr>
        <p:grpSpPr>
          <a:xfrm rot="1498046">
            <a:off x="6962016" y="374126"/>
            <a:ext cx="604562" cy="620713"/>
            <a:chOff x="664610" y="1634229"/>
            <a:chExt cx="604562" cy="620713"/>
          </a:xfrm>
        </p:grpSpPr>
        <p:sp>
          <p:nvSpPr>
            <p:cNvPr id="5" name="Rectángulo 4"/>
            <p:cNvSpPr/>
            <p:nvPr/>
          </p:nvSpPr>
          <p:spPr bwMode="auto">
            <a:xfrm>
              <a:off x="664610" y="1634229"/>
              <a:ext cx="604562" cy="620713"/>
            </a:xfrm>
            <a:prstGeom prst="rect">
              <a:avLst/>
            </a:prstGeom>
            <a:solidFill>
              <a:srgbClr val="FFFF00"/>
            </a:solidFill>
            <a:ln w="25400" cap="flat" cmpd="sng" algn="ctr">
              <a:noFill/>
              <a:prstDash val="solid"/>
              <a:round/>
              <a:headEnd type="none" w="med" len="med"/>
              <a:tailEnd type="none" w="lg" len="lg"/>
            </a:ln>
            <a:effectLst/>
          </p:spPr>
          <p:txBody>
            <a:bodyPr vert="horz" wrap="none" lIns="90000" tIns="82800" rIns="90000" bIns="82800" numCol="1" rtlCol="0" anchor="t" anchorCtr="1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grpSp>
          <p:nvGrpSpPr>
            <p:cNvPr id="3" name="Grupo 2"/>
            <p:cNvGrpSpPr>
              <a:grpSpLocks/>
            </p:cNvGrpSpPr>
            <p:nvPr/>
          </p:nvGrpSpPr>
          <p:grpSpPr bwMode="auto">
            <a:xfrm>
              <a:off x="772284" y="1750117"/>
              <a:ext cx="407988" cy="422275"/>
              <a:chOff x="1234758" y="2458403"/>
              <a:chExt cx="407988" cy="422276"/>
            </a:xfrm>
          </p:grpSpPr>
          <p:sp>
            <p:nvSpPr>
              <p:cNvPr id="31783" name="Line 44"/>
              <p:cNvSpPr>
                <a:spLocks noChangeShapeType="1"/>
              </p:cNvSpPr>
              <p:nvPr/>
            </p:nvSpPr>
            <p:spPr bwMode="auto">
              <a:xfrm rot="10800000">
                <a:off x="1234758" y="2647316"/>
                <a:ext cx="407988" cy="233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1784" name="Line 45"/>
              <p:cNvSpPr>
                <a:spLocks noChangeShapeType="1"/>
              </p:cNvSpPr>
              <p:nvPr/>
            </p:nvSpPr>
            <p:spPr bwMode="auto">
              <a:xfrm rot="10800000" flipH="1">
                <a:off x="1244283" y="2458403"/>
                <a:ext cx="398463" cy="1698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1785" name="Oval 46"/>
              <p:cNvSpPr>
                <a:spLocks noChangeArrowheads="1"/>
              </p:cNvSpPr>
              <p:nvPr/>
            </p:nvSpPr>
            <p:spPr bwMode="auto">
              <a:xfrm rot="10800000" flipH="1">
                <a:off x="1491933" y="2510791"/>
                <a:ext cx="88900" cy="312738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rot="10800000" wrap="none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64" name="Grupo 63">
            <a:extLst>
              <a:ext uri="{FF2B5EF4-FFF2-40B4-BE49-F238E27FC236}">
                <a16:creationId xmlns:a16="http://schemas.microsoft.com/office/drawing/2014/main" id="{34B37658-C658-4149-B021-94EBD2E5A18C}"/>
              </a:ext>
            </a:extLst>
          </p:cNvPr>
          <p:cNvGrpSpPr/>
          <p:nvPr/>
        </p:nvGrpSpPr>
        <p:grpSpPr>
          <a:xfrm>
            <a:off x="6030881" y="783187"/>
            <a:ext cx="4473575" cy="2754501"/>
            <a:chOff x="1236842" y="708756"/>
            <a:chExt cx="4473575" cy="2754501"/>
          </a:xfrm>
        </p:grpSpPr>
        <p:sp>
          <p:nvSpPr>
            <p:cNvPr id="65" name="Text Box 2">
              <a:extLst>
                <a:ext uri="{FF2B5EF4-FFF2-40B4-BE49-F238E27FC236}">
                  <a16:creationId xmlns:a16="http://schemas.microsoft.com/office/drawing/2014/main" id="{4FF26CEC-BE6E-417C-9311-755D3B02ED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57479" y="804006"/>
              <a:ext cx="4308475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latin typeface="Arial" panose="020B0604020202020204" pitchFamily="34" charset="0"/>
                </a:rPr>
                <a:t>x  x  x  x  x  x  x  x  x  x  x  x  x  x  x</a:t>
              </a:r>
            </a:p>
          </p:txBody>
        </p:sp>
        <p:sp>
          <p:nvSpPr>
            <p:cNvPr id="66" name="Line 5">
              <a:extLst>
                <a:ext uri="{FF2B5EF4-FFF2-40B4-BE49-F238E27FC236}">
                  <a16:creationId xmlns:a16="http://schemas.microsoft.com/office/drawing/2014/main" id="{D52FF7C7-EA75-4BF7-B0FF-31FC72CA93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57529" y="1223106"/>
              <a:ext cx="0" cy="142240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Ctr="1"/>
            <a:lstStyle/>
            <a:p>
              <a:endParaRPr lang="en-GB"/>
            </a:p>
          </p:txBody>
        </p:sp>
        <p:sp>
          <p:nvSpPr>
            <p:cNvPr id="67" name="Line 6">
              <a:extLst>
                <a:ext uri="{FF2B5EF4-FFF2-40B4-BE49-F238E27FC236}">
                  <a16:creationId xmlns:a16="http://schemas.microsoft.com/office/drawing/2014/main" id="{E1A43590-794C-48FC-B7B1-B0D0386E62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64342" y="1210406"/>
              <a:ext cx="0" cy="1446212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 type="stealth" w="lg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Ctr="1"/>
            <a:lstStyle/>
            <a:p>
              <a:endParaRPr lang="en-GB"/>
            </a:p>
          </p:txBody>
        </p:sp>
        <p:sp>
          <p:nvSpPr>
            <p:cNvPr id="69" name="Text Box 7">
              <a:extLst>
                <a:ext uri="{FF2B5EF4-FFF2-40B4-BE49-F238E27FC236}">
                  <a16:creationId xmlns:a16="http://schemas.microsoft.com/office/drawing/2014/main" id="{0962E5A9-46F7-4A3F-A914-8772B4F4E1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88154" y="1680306"/>
              <a:ext cx="322263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Arial" panose="020B0604020202020204" pitchFamily="34" charset="0"/>
                </a:rPr>
                <a:t>L</a:t>
              </a:r>
            </a:p>
          </p:txBody>
        </p:sp>
        <p:sp>
          <p:nvSpPr>
            <p:cNvPr id="89" name="Text Box 8">
              <a:extLst>
                <a:ext uri="{FF2B5EF4-FFF2-40B4-BE49-F238E27FC236}">
                  <a16:creationId xmlns:a16="http://schemas.microsoft.com/office/drawing/2014/main" id="{DD740020-43F9-439D-9023-483C596B01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0017" y="1142143"/>
              <a:ext cx="4308475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latin typeface="Arial" panose="020B0604020202020204" pitchFamily="34" charset="0"/>
                </a:rPr>
                <a:t>x  x  x  x  x  x  x  x  x  x  x  x  x  x  x</a:t>
              </a:r>
            </a:p>
          </p:txBody>
        </p:sp>
        <p:sp>
          <p:nvSpPr>
            <p:cNvPr id="90" name="Text Box 9">
              <a:extLst>
                <a:ext uri="{FF2B5EF4-FFF2-40B4-BE49-F238E27FC236}">
                  <a16:creationId xmlns:a16="http://schemas.microsoft.com/office/drawing/2014/main" id="{6BE58C5D-2790-492B-9654-A2ED677AD4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4779" y="1502506"/>
              <a:ext cx="4308475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latin typeface="Arial" panose="020B0604020202020204" pitchFamily="34" charset="0"/>
                </a:rPr>
                <a:t>x  x  x  x  x  x  x  x  x  x  x  x  x  x  x</a:t>
              </a:r>
            </a:p>
          </p:txBody>
        </p:sp>
        <p:sp>
          <p:nvSpPr>
            <p:cNvPr id="91" name="Text Box 10">
              <a:extLst>
                <a:ext uri="{FF2B5EF4-FFF2-40B4-BE49-F238E27FC236}">
                  <a16:creationId xmlns:a16="http://schemas.microsoft.com/office/drawing/2014/main" id="{7CEAE1E6-638E-483F-8A0A-2B7044B4A2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9542" y="1840643"/>
              <a:ext cx="4308475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dirty="0">
                  <a:latin typeface="Arial" panose="020B0604020202020204" pitchFamily="34" charset="0"/>
                </a:rPr>
                <a:t>x  x  x  x  x  x  x  x  x  x  x  x  x  x  x</a:t>
              </a:r>
            </a:p>
          </p:txBody>
        </p:sp>
        <p:sp>
          <p:nvSpPr>
            <p:cNvPr id="92" name="Text Box 11">
              <a:extLst>
                <a:ext uri="{FF2B5EF4-FFF2-40B4-BE49-F238E27FC236}">
                  <a16:creationId xmlns:a16="http://schemas.microsoft.com/office/drawing/2014/main" id="{30E36A96-2C36-4413-B1B4-1A9D234142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3192" y="2186718"/>
              <a:ext cx="4308475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dirty="0">
                  <a:latin typeface="Arial" panose="020B0604020202020204" pitchFamily="34" charset="0"/>
                </a:rPr>
                <a:t>x  x  x  x  x  x  x  x  x  x  x  x  x  x  x</a:t>
              </a:r>
            </a:p>
          </p:txBody>
        </p:sp>
        <p:sp>
          <p:nvSpPr>
            <p:cNvPr id="93" name="Text Box 12">
              <a:extLst>
                <a:ext uri="{FF2B5EF4-FFF2-40B4-BE49-F238E27FC236}">
                  <a16:creationId xmlns:a16="http://schemas.microsoft.com/office/drawing/2014/main" id="{31A2EF3A-57EF-4A94-B6ED-E2DBA78682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36842" y="2556606"/>
              <a:ext cx="4308475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dirty="0">
                  <a:latin typeface="Arial" panose="020B0604020202020204" pitchFamily="34" charset="0"/>
                </a:rPr>
                <a:t>x  x  x  x  x  x  x  x  x  x  x  x  x  x  x</a:t>
              </a:r>
            </a:p>
          </p:txBody>
        </p:sp>
        <p:sp>
          <p:nvSpPr>
            <p:cNvPr id="94" name="Rectangle 13">
              <a:extLst>
                <a:ext uri="{FF2B5EF4-FFF2-40B4-BE49-F238E27FC236}">
                  <a16:creationId xmlns:a16="http://schemas.microsoft.com/office/drawing/2014/main" id="{8D5E89AF-2AD2-4EF3-AD18-8204AC2F93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4017" y="1558068"/>
              <a:ext cx="323850" cy="763588"/>
            </a:xfrm>
            <a:prstGeom prst="rect">
              <a:avLst/>
            </a:prstGeom>
            <a:solidFill>
              <a:srgbClr val="EDE7E3"/>
            </a:solidFill>
            <a:ln w="25400" algn="ctr">
              <a:solidFill>
                <a:srgbClr val="0000FF"/>
              </a:solidFill>
              <a:miter lim="800000"/>
              <a:headEnd/>
              <a:tailEnd type="none" w="lg" len="lg"/>
            </a:ln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2" name="Text Box 14">
              <a:extLst>
                <a:ext uri="{FF2B5EF4-FFF2-40B4-BE49-F238E27FC236}">
                  <a16:creationId xmlns:a16="http://schemas.microsoft.com/office/drawing/2014/main" id="{33CDEDBB-162C-4658-B811-D2D619528B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65442" y="1660596"/>
              <a:ext cx="365125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1">
                  <a:solidFill>
                    <a:srgbClr val="3333FF"/>
                  </a:solidFill>
                  <a:latin typeface="Arial" panose="020B0604020202020204" pitchFamily="34" charset="0"/>
                </a:rPr>
                <a:t>R</a:t>
              </a:r>
            </a:p>
          </p:txBody>
        </p:sp>
        <p:sp>
          <p:nvSpPr>
            <p:cNvPr id="103" name="Line 15">
              <a:extLst>
                <a:ext uri="{FF2B5EF4-FFF2-40B4-BE49-F238E27FC236}">
                  <a16:creationId xmlns:a16="http://schemas.microsoft.com/office/drawing/2014/main" id="{E75D59BF-367B-4888-96A0-42F8BA5B26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41654" y="2656618"/>
              <a:ext cx="3506788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Ctr="1"/>
            <a:lstStyle/>
            <a:p>
              <a:endParaRPr lang="en-GB"/>
            </a:p>
          </p:txBody>
        </p:sp>
        <p:sp>
          <p:nvSpPr>
            <p:cNvPr id="104" name="Line 16">
              <a:extLst>
                <a:ext uri="{FF2B5EF4-FFF2-40B4-BE49-F238E27FC236}">
                  <a16:creationId xmlns:a16="http://schemas.microsoft.com/office/drawing/2014/main" id="{51EA307A-EA2C-47F2-B2C5-E952A80D44A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57529" y="1211993"/>
              <a:ext cx="3541713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Ctr="1"/>
            <a:lstStyle/>
            <a:p>
              <a:endParaRPr lang="en-GB"/>
            </a:p>
          </p:txBody>
        </p:sp>
        <p:sp>
          <p:nvSpPr>
            <p:cNvPr id="105" name="Line 18">
              <a:extLst>
                <a:ext uri="{FF2B5EF4-FFF2-40B4-BE49-F238E27FC236}">
                  <a16:creationId xmlns:a16="http://schemas.microsoft.com/office/drawing/2014/main" id="{4E9B01DC-5104-480D-8A71-A7ED1DFBDB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84779" y="708756"/>
              <a:ext cx="376238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/>
            </a:p>
          </p:txBody>
        </p:sp>
        <p:sp>
          <p:nvSpPr>
            <p:cNvPr id="106" name="Text Box 54">
              <a:extLst>
                <a:ext uri="{FF2B5EF4-FFF2-40B4-BE49-F238E27FC236}">
                  <a16:creationId xmlns:a16="http://schemas.microsoft.com/office/drawing/2014/main" id="{D69F6526-9E1B-42A6-9C4D-3F25247149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87030" y="2926708"/>
              <a:ext cx="2544584" cy="5365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8000"/>
                  </a:solidFill>
                  <a:latin typeface="Arial" panose="020B0604020202020204" pitchFamily="34" charset="0"/>
                </a:rPr>
                <a:t>Barra conductora</a:t>
              </a:r>
            </a:p>
          </p:txBody>
        </p:sp>
      </p:grpSp>
      <p:sp>
        <p:nvSpPr>
          <p:cNvPr id="107" name="AutoShape 17">
            <a:extLst>
              <a:ext uri="{FF2B5EF4-FFF2-40B4-BE49-F238E27FC236}">
                <a16:creationId xmlns:a16="http://schemas.microsoft.com/office/drawing/2014/main" id="{7C57DD97-E92F-43E2-AACB-E9EFFA5EA3B5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8156543" y="1021312"/>
            <a:ext cx="566738" cy="1711325"/>
          </a:xfrm>
          <a:prstGeom prst="can">
            <a:avLst>
              <a:gd name="adj" fmla="val 26883"/>
            </a:avLst>
          </a:prstGeom>
          <a:solidFill>
            <a:srgbClr val="EDE7E3"/>
          </a:solidFill>
          <a:ln w="25400">
            <a:solidFill>
              <a:srgbClr val="0000FF"/>
            </a:solidFill>
            <a:round/>
            <a:headEnd/>
            <a:tailEnd type="none" w="lg" len="lg"/>
          </a:ln>
        </p:spPr>
        <p:txBody>
          <a:bodyPr rot="10800000" wrap="none" lIns="90000" tIns="82800" rIns="90000" bIns="82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108" name="Object 19">
            <a:extLst>
              <a:ext uri="{FF2B5EF4-FFF2-40B4-BE49-F238E27FC236}">
                <a16:creationId xmlns:a16="http://schemas.microsoft.com/office/drawing/2014/main" id="{E33598EE-0B81-4E8D-8329-1F42A37AE990}"/>
              </a:ext>
            </a:extLst>
          </p:cNvPr>
          <p:cNvGraphicFramePr>
            <a:graphicFrameLocks noGrp="1" noChangeAspect="1"/>
          </p:cNvGraphicFramePr>
          <p:nvPr>
            <p:ph/>
          </p:nvPr>
        </p:nvGraphicFramePr>
        <p:xfrm>
          <a:off x="8285448" y="531885"/>
          <a:ext cx="307340" cy="4295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3" imgW="126725" imgH="177415" progId="Equation.3">
                  <p:embed/>
                </p:oleObj>
              </mc:Choice>
              <mc:Fallback>
                <p:oleObj name="Ecuación" r:id="rId3" imgW="126725" imgH="177415" progId="Equation.3">
                  <p:embed/>
                  <p:pic>
                    <p:nvPicPr>
                      <p:cNvPr id="108" name="Object 19">
                        <a:extLst>
                          <a:ext uri="{FF2B5EF4-FFF2-40B4-BE49-F238E27FC236}">
                            <a16:creationId xmlns:a16="http://schemas.microsoft.com/office/drawing/2014/main" id="{E33598EE-0B81-4E8D-8329-1F42A37AE99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85448" y="531885"/>
                        <a:ext cx="307340" cy="4295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9" name="Group 32">
            <a:extLst>
              <a:ext uri="{FF2B5EF4-FFF2-40B4-BE49-F238E27FC236}">
                <a16:creationId xmlns:a16="http://schemas.microsoft.com/office/drawing/2014/main" id="{F22FCAD2-9414-4868-A593-9A210D1601EC}"/>
              </a:ext>
            </a:extLst>
          </p:cNvPr>
          <p:cNvGrpSpPr>
            <a:grpSpLocks/>
          </p:cNvGrpSpPr>
          <p:nvPr/>
        </p:nvGrpSpPr>
        <p:grpSpPr bwMode="auto">
          <a:xfrm>
            <a:off x="8242268" y="845099"/>
            <a:ext cx="388938" cy="2074863"/>
            <a:chOff x="2691" y="1118"/>
            <a:chExt cx="245" cy="1307"/>
          </a:xfrm>
        </p:grpSpPr>
        <p:sp>
          <p:nvSpPr>
            <p:cNvPr id="110" name="Text Box 33">
              <a:extLst>
                <a:ext uri="{FF2B5EF4-FFF2-40B4-BE49-F238E27FC236}">
                  <a16:creationId xmlns:a16="http://schemas.microsoft.com/office/drawing/2014/main" id="{A46B8D53-9FCF-4A8C-A1B8-91E6388181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23" y="2052"/>
              <a:ext cx="189" cy="3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800">
                  <a:solidFill>
                    <a:srgbClr val="FF0000"/>
                  </a:solidFill>
                  <a:latin typeface="Arial" panose="020B0604020202020204" pitchFamily="34" charset="0"/>
                </a:rPr>
                <a:t>-</a:t>
              </a:r>
            </a:p>
          </p:txBody>
        </p:sp>
        <p:sp>
          <p:nvSpPr>
            <p:cNvPr id="111" name="Text Box 34">
              <a:extLst>
                <a:ext uri="{FF2B5EF4-FFF2-40B4-BE49-F238E27FC236}">
                  <a16:creationId xmlns:a16="http://schemas.microsoft.com/office/drawing/2014/main" id="{664C3939-9AC5-4309-A80C-E7E120065A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91" y="1118"/>
              <a:ext cx="245" cy="3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800">
                  <a:solidFill>
                    <a:srgbClr val="FF0000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</p:grpSp>
      <p:grpSp>
        <p:nvGrpSpPr>
          <p:cNvPr id="113" name="Group 42">
            <a:extLst>
              <a:ext uri="{FF2B5EF4-FFF2-40B4-BE49-F238E27FC236}">
                <a16:creationId xmlns:a16="http://schemas.microsoft.com/office/drawing/2014/main" id="{1D5973B6-FEF5-4D32-8659-66A38A41B0D1}"/>
              </a:ext>
            </a:extLst>
          </p:cNvPr>
          <p:cNvGrpSpPr>
            <a:grpSpLocks/>
          </p:cNvGrpSpPr>
          <p:nvPr/>
        </p:nvGrpSpPr>
        <p:grpSpPr bwMode="auto">
          <a:xfrm>
            <a:off x="6937630" y="804110"/>
            <a:ext cx="403225" cy="2343150"/>
            <a:chOff x="2005" y="1062"/>
            <a:chExt cx="254" cy="1476"/>
          </a:xfrm>
        </p:grpSpPr>
        <p:sp>
          <p:nvSpPr>
            <p:cNvPr id="114" name="Line 43">
              <a:extLst>
                <a:ext uri="{FF2B5EF4-FFF2-40B4-BE49-F238E27FC236}">
                  <a16:creationId xmlns:a16="http://schemas.microsoft.com/office/drawing/2014/main" id="{8CA49C8E-6779-4865-9D51-D084819DDE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22" y="2280"/>
              <a:ext cx="237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Ctr="1"/>
            <a:lstStyle/>
            <a:p>
              <a:endParaRPr lang="en-GB" sz="2400"/>
            </a:p>
          </p:txBody>
        </p:sp>
        <p:sp>
          <p:nvSpPr>
            <p:cNvPr id="116" name="Line 44">
              <a:extLst>
                <a:ext uri="{FF2B5EF4-FFF2-40B4-BE49-F238E27FC236}">
                  <a16:creationId xmlns:a16="http://schemas.microsoft.com/office/drawing/2014/main" id="{DC605C2E-139F-46F7-8E15-1D7C4931E1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05" y="1366"/>
              <a:ext cx="237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Ctr="1"/>
            <a:lstStyle/>
            <a:p>
              <a:endParaRPr lang="en-GB" sz="2400"/>
            </a:p>
          </p:txBody>
        </p:sp>
        <p:sp>
          <p:nvSpPr>
            <p:cNvPr id="117" name="Text Box 45">
              <a:extLst>
                <a:ext uri="{FF2B5EF4-FFF2-40B4-BE49-F238E27FC236}">
                  <a16:creationId xmlns:a16="http://schemas.microsoft.com/office/drawing/2014/main" id="{F37500C6-8CAE-46A4-9C22-1B17C37978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34" y="1062"/>
              <a:ext cx="201" cy="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1">
                  <a:solidFill>
                    <a:srgbClr val="3333FF"/>
                  </a:solidFill>
                  <a:latin typeface="Comic Sans MS" panose="030F0702030302020204" pitchFamily="66" charset="0"/>
                </a:rPr>
                <a:t>I</a:t>
              </a:r>
            </a:p>
          </p:txBody>
        </p:sp>
        <p:sp>
          <p:nvSpPr>
            <p:cNvPr id="118" name="Text Box 46">
              <a:extLst>
                <a:ext uri="{FF2B5EF4-FFF2-40B4-BE49-F238E27FC236}">
                  <a16:creationId xmlns:a16="http://schemas.microsoft.com/office/drawing/2014/main" id="{BB51F036-D207-4636-BD88-86FE1DB923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22" y="2242"/>
              <a:ext cx="201" cy="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1">
                  <a:solidFill>
                    <a:srgbClr val="3333FF"/>
                  </a:solidFill>
                  <a:latin typeface="Comic Sans MS" panose="030F0702030302020204" pitchFamily="66" charset="0"/>
                </a:rPr>
                <a:t>I</a:t>
              </a:r>
            </a:p>
          </p:txBody>
        </p:sp>
      </p:grpSp>
      <p:grpSp>
        <p:nvGrpSpPr>
          <p:cNvPr id="119" name="Group 28">
            <a:extLst>
              <a:ext uri="{FF2B5EF4-FFF2-40B4-BE49-F238E27FC236}">
                <a16:creationId xmlns:a16="http://schemas.microsoft.com/office/drawing/2014/main" id="{E7BBC198-26AE-460E-932A-300E6DB7EC40}"/>
              </a:ext>
            </a:extLst>
          </p:cNvPr>
          <p:cNvGrpSpPr>
            <a:grpSpLocks/>
          </p:cNvGrpSpPr>
          <p:nvPr/>
        </p:nvGrpSpPr>
        <p:grpSpPr bwMode="auto">
          <a:xfrm>
            <a:off x="8280834" y="1488367"/>
            <a:ext cx="319087" cy="917575"/>
            <a:chOff x="2708" y="1487"/>
            <a:chExt cx="201" cy="578"/>
          </a:xfrm>
        </p:grpSpPr>
        <p:sp>
          <p:nvSpPr>
            <p:cNvPr id="120" name="Text Box 29">
              <a:extLst>
                <a:ext uri="{FF2B5EF4-FFF2-40B4-BE49-F238E27FC236}">
                  <a16:creationId xmlns:a16="http://schemas.microsoft.com/office/drawing/2014/main" id="{84FBE477-95E4-4798-935E-9DB7E67E24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08" y="1769"/>
              <a:ext cx="201" cy="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1" dirty="0">
                  <a:solidFill>
                    <a:srgbClr val="3333FF"/>
                  </a:solidFill>
                  <a:latin typeface="Comic Sans MS" panose="030F0702030302020204" pitchFamily="66" charset="0"/>
                </a:rPr>
                <a:t>I</a:t>
              </a:r>
            </a:p>
          </p:txBody>
        </p:sp>
        <p:sp>
          <p:nvSpPr>
            <p:cNvPr id="121" name="Line 30">
              <a:extLst>
                <a:ext uri="{FF2B5EF4-FFF2-40B4-BE49-F238E27FC236}">
                  <a16:creationId xmlns:a16="http://schemas.microsoft.com/office/drawing/2014/main" id="{8F5F8718-C29F-4E14-AE62-6AB61CF5064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>
              <a:off x="2687" y="1606"/>
              <a:ext cx="237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Ctr="1"/>
            <a:lstStyle/>
            <a:p>
              <a:endParaRPr lang="en-GB"/>
            </a:p>
          </p:txBody>
        </p:sp>
      </p:grpSp>
      <p:grpSp>
        <p:nvGrpSpPr>
          <p:cNvPr id="10" name="Grupo 9">
            <a:extLst>
              <a:ext uri="{FF2B5EF4-FFF2-40B4-BE49-F238E27FC236}">
                <a16:creationId xmlns:a16="http://schemas.microsoft.com/office/drawing/2014/main" id="{D0B83E6C-6AEF-4CED-9384-9237B811C51D}"/>
              </a:ext>
            </a:extLst>
          </p:cNvPr>
          <p:cNvGrpSpPr/>
          <p:nvPr/>
        </p:nvGrpSpPr>
        <p:grpSpPr>
          <a:xfrm>
            <a:off x="6827730" y="1764971"/>
            <a:ext cx="1313964" cy="523875"/>
            <a:chOff x="10544360" y="3213318"/>
            <a:chExt cx="1313964" cy="523875"/>
          </a:xfrm>
        </p:grpSpPr>
        <p:sp>
          <p:nvSpPr>
            <p:cNvPr id="4" name="Rectángulo 3">
              <a:extLst>
                <a:ext uri="{FF2B5EF4-FFF2-40B4-BE49-F238E27FC236}">
                  <a16:creationId xmlns:a16="http://schemas.microsoft.com/office/drawing/2014/main" id="{FBD40A9F-D091-4D56-AE6D-756ACB5F342D}"/>
                </a:ext>
              </a:extLst>
            </p:cNvPr>
            <p:cNvSpPr/>
            <p:nvPr/>
          </p:nvSpPr>
          <p:spPr bwMode="auto">
            <a:xfrm>
              <a:off x="10603173" y="3216978"/>
              <a:ext cx="267425" cy="468000"/>
            </a:xfrm>
            <a:prstGeom prst="rect">
              <a:avLst/>
            </a:prstGeom>
            <a:solidFill>
              <a:srgbClr val="EDE7E3"/>
            </a:solidFill>
            <a:ln w="25400" cap="flat" cmpd="sng" algn="ctr">
              <a:noFill/>
              <a:prstDash val="solid"/>
              <a:round/>
              <a:headEnd type="none" w="med" len="med"/>
              <a:tailEnd type="none" w="lg" len="lg"/>
            </a:ln>
            <a:effectLst/>
          </p:spPr>
          <p:txBody>
            <a:bodyPr vert="horz" wrap="square" lIns="90000" tIns="82800" rIns="90000" bIns="82800" numCol="1" rtlCol="0" anchor="t" anchorCtr="1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sp>
          <p:nvSpPr>
            <p:cNvPr id="31801" name="Line 32"/>
            <p:cNvSpPr>
              <a:spLocks noChangeShapeType="1"/>
            </p:cNvSpPr>
            <p:nvPr/>
          </p:nvSpPr>
          <p:spPr bwMode="auto">
            <a:xfrm rot="10800000" flipV="1">
              <a:off x="11012185" y="3455558"/>
              <a:ext cx="846139" cy="0"/>
            </a:xfrm>
            <a:prstGeom prst="line">
              <a:avLst/>
            </a:prstGeom>
            <a:solidFill>
              <a:srgbClr val="EDE7E3"/>
            </a:solidFill>
            <a:ln w="50800">
              <a:solidFill>
                <a:srgbClr val="008000"/>
              </a:solidFill>
              <a:round/>
              <a:headEnd/>
              <a:tailEnd type="triangle" w="lg" len="lg"/>
            </a:ln>
          </p:spPr>
          <p:txBody>
            <a:bodyPr wrap="none" lIns="90000" tIns="82800" rIns="90000" bIns="82800" anchorCtr="1"/>
            <a:lstStyle/>
            <a:p>
              <a:endParaRPr lang="en-GB"/>
            </a:p>
          </p:txBody>
        </p:sp>
        <p:grpSp>
          <p:nvGrpSpPr>
            <p:cNvPr id="31802" name="Group 33"/>
            <p:cNvGrpSpPr>
              <a:grpSpLocks/>
            </p:cNvGrpSpPr>
            <p:nvPr/>
          </p:nvGrpSpPr>
          <p:grpSpPr bwMode="auto">
            <a:xfrm>
              <a:off x="10544360" y="3213318"/>
              <a:ext cx="422183" cy="523875"/>
              <a:chOff x="2270" y="3029"/>
              <a:chExt cx="341" cy="405"/>
            </a:xfrm>
            <a:noFill/>
          </p:grpSpPr>
          <p:sp>
            <p:nvSpPr>
              <p:cNvPr id="31803" name="Rectangle 34"/>
              <p:cNvSpPr>
                <a:spLocks noChangeArrowheads="1"/>
              </p:cNvSpPr>
              <p:nvPr/>
            </p:nvSpPr>
            <p:spPr bwMode="auto">
              <a:xfrm>
                <a:off x="2348" y="3038"/>
                <a:ext cx="216" cy="3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804" name="Object 35"/>
                  <p:cNvSpPr txBox="1"/>
                  <p:nvPr/>
                </p:nvSpPr>
                <p:spPr bwMode="auto">
                  <a:xfrm>
                    <a:off x="2270" y="3029"/>
                    <a:ext cx="341" cy="405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rm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s-ES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⃗"/>
                                  <m:ctrlPr>
                                    <a:rPr lang="es-ES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ES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</m:acc>
                            </m:e>
                            <m:sup>
                              <m:r>
                                <a:rPr lang="es-E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oMath>
                      </m:oMathPara>
                    </a14:m>
                    <a:endParaRPr lang="es-ES" dirty="0"/>
                  </a:p>
                </p:txBody>
              </p:sp>
            </mc:Choice>
            <mc:Fallback xmlns="">
              <p:sp>
                <p:nvSpPr>
                  <p:cNvPr id="31804" name="Object 3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2270" y="3029"/>
                    <a:ext cx="341" cy="405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t="-14118" r="-20290"/>
                    </a:stretch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es-E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75" name="Text Box 59">
            <a:extLst>
              <a:ext uri="{FF2B5EF4-FFF2-40B4-BE49-F238E27FC236}">
                <a16:creationId xmlns:a16="http://schemas.microsoft.com/office/drawing/2014/main" id="{93E16A56-B979-401D-84B1-36146836A1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7753" y="328404"/>
            <a:ext cx="4045397" cy="127521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Concluyamos la descripción de lo que sucede realizando un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análisis energético</a:t>
            </a:r>
          </a:p>
        </p:txBody>
      </p:sp>
      <p:grpSp>
        <p:nvGrpSpPr>
          <p:cNvPr id="76" name="Group 19">
            <a:extLst>
              <a:ext uri="{FF2B5EF4-FFF2-40B4-BE49-F238E27FC236}">
                <a16:creationId xmlns:a16="http://schemas.microsoft.com/office/drawing/2014/main" id="{0BB124F0-72A6-4922-B2DB-1F6F40CD060C}"/>
              </a:ext>
            </a:extLst>
          </p:cNvPr>
          <p:cNvGrpSpPr>
            <a:grpSpLocks/>
          </p:cNvGrpSpPr>
          <p:nvPr/>
        </p:nvGrpSpPr>
        <p:grpSpPr bwMode="auto">
          <a:xfrm>
            <a:off x="1265565" y="2548964"/>
            <a:ext cx="2319338" cy="755650"/>
            <a:chOff x="4433" y="1570"/>
            <a:chExt cx="1461" cy="476"/>
          </a:xfrm>
        </p:grpSpPr>
        <p:sp>
          <p:nvSpPr>
            <p:cNvPr id="77" name="Rectangle 20">
              <a:extLst>
                <a:ext uri="{FF2B5EF4-FFF2-40B4-BE49-F238E27FC236}">
                  <a16:creationId xmlns:a16="http://schemas.microsoft.com/office/drawing/2014/main" id="{DFE66618-5F75-42EF-94C1-313A9F8B4A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3" y="1570"/>
              <a:ext cx="1461" cy="476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78" name="Object 21">
              <a:extLst>
                <a:ext uri="{FF2B5EF4-FFF2-40B4-BE49-F238E27FC236}">
                  <a16:creationId xmlns:a16="http://schemas.microsoft.com/office/drawing/2014/main" id="{10D4ACF7-4B08-46EA-913F-CA653C8D2B5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487" y="1606"/>
            <a:ext cx="1316" cy="4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7" imgW="748975" imgH="241195" progId="Equation.3">
                    <p:embed/>
                  </p:oleObj>
                </mc:Choice>
                <mc:Fallback>
                  <p:oleObj name="Ecuación" r:id="rId7" imgW="748975" imgH="241195" progId="Equation.3">
                    <p:embed/>
                    <p:pic>
                      <p:nvPicPr>
                        <p:cNvPr id="78" name="Object 21">
                          <a:extLst>
                            <a:ext uri="{FF2B5EF4-FFF2-40B4-BE49-F238E27FC236}">
                              <a16:creationId xmlns:a16="http://schemas.microsoft.com/office/drawing/2014/main" id="{10D4ACF7-4B08-46EA-913F-CA653C8D2B5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87" y="1606"/>
                          <a:ext cx="1316" cy="4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1" name="Text Box 36">
            <a:extLst>
              <a:ext uri="{FF2B5EF4-FFF2-40B4-BE49-F238E27FC236}">
                <a16:creationId xmlns:a16="http://schemas.microsoft.com/office/drawing/2014/main" id="{31B75ACC-BECE-4F23-99FD-9C51632328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7851" y="3529158"/>
            <a:ext cx="4503187" cy="127521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Para mantener v de barra cte., hay que ejercer </a:t>
            </a:r>
            <a:r>
              <a:rPr lang="es-ES" sz="2400" b="1" dirty="0">
                <a:latin typeface="Arial" panose="020B0604020202020204" pitchFamily="34" charset="0"/>
              </a:rPr>
              <a:t>F</a:t>
            </a:r>
            <a:r>
              <a:rPr lang="es-ES" sz="2400" dirty="0">
                <a:latin typeface="Arial" panose="020B0604020202020204" pitchFamily="34" charset="0"/>
              </a:rPr>
              <a:t> =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</a:t>
            </a:r>
            <a:r>
              <a:rPr lang="es-ES" sz="2400" b="1" dirty="0">
                <a:latin typeface="Arial" panose="020B0604020202020204" pitchFamily="34" charset="0"/>
              </a:rPr>
              <a:t>F</a:t>
            </a:r>
            <a:r>
              <a:rPr lang="es-ES" sz="2400" dirty="0">
                <a:latin typeface="Arial" panose="020B0604020202020204" pitchFamily="34" charset="0"/>
              </a:rPr>
              <a:t>*, hay que trabajar, aportar energía</a:t>
            </a:r>
          </a:p>
        </p:txBody>
      </p:sp>
      <p:sp>
        <p:nvSpPr>
          <p:cNvPr id="82" name="Text Box 48">
            <a:extLst>
              <a:ext uri="{FF2B5EF4-FFF2-40B4-BE49-F238E27FC236}">
                <a16:creationId xmlns:a16="http://schemas.microsoft.com/office/drawing/2014/main" id="{16371E27-E84E-4E80-BEA4-F2CB5E67CE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6437" y="3520311"/>
            <a:ext cx="4503188" cy="127521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Esa energía es robada con el frenado de la barra,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que así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no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pierde, ni gana, velocidad</a:t>
            </a:r>
          </a:p>
        </p:txBody>
      </p:sp>
      <p:grpSp>
        <p:nvGrpSpPr>
          <p:cNvPr id="83" name="Grupo 82">
            <a:extLst>
              <a:ext uri="{FF2B5EF4-FFF2-40B4-BE49-F238E27FC236}">
                <a16:creationId xmlns:a16="http://schemas.microsoft.com/office/drawing/2014/main" id="{37976A9F-2ED9-4E91-B3D6-A520A07FE3D4}"/>
              </a:ext>
            </a:extLst>
          </p:cNvPr>
          <p:cNvGrpSpPr/>
          <p:nvPr/>
        </p:nvGrpSpPr>
        <p:grpSpPr>
          <a:xfrm>
            <a:off x="8736361" y="1752921"/>
            <a:ext cx="1296623" cy="523872"/>
            <a:chOff x="9650110" y="3210709"/>
            <a:chExt cx="1296623" cy="523872"/>
          </a:xfrm>
        </p:grpSpPr>
        <p:sp>
          <p:nvSpPr>
            <p:cNvPr id="84" name="Rectángulo 83">
              <a:extLst>
                <a:ext uri="{FF2B5EF4-FFF2-40B4-BE49-F238E27FC236}">
                  <a16:creationId xmlns:a16="http://schemas.microsoft.com/office/drawing/2014/main" id="{FC340C7B-D967-4D07-BCDD-F5175727F3AF}"/>
                </a:ext>
              </a:extLst>
            </p:cNvPr>
            <p:cNvSpPr/>
            <p:nvPr/>
          </p:nvSpPr>
          <p:spPr bwMode="auto">
            <a:xfrm>
              <a:off x="10574598" y="3216978"/>
              <a:ext cx="267425" cy="468000"/>
            </a:xfrm>
            <a:prstGeom prst="rect">
              <a:avLst/>
            </a:prstGeom>
            <a:solidFill>
              <a:srgbClr val="EDE7E3"/>
            </a:solidFill>
            <a:ln w="25400" cap="flat" cmpd="sng" algn="ctr">
              <a:noFill/>
              <a:prstDash val="solid"/>
              <a:round/>
              <a:headEnd type="none" w="med" len="med"/>
              <a:tailEnd type="none" w="lg" len="lg"/>
            </a:ln>
            <a:effectLst/>
          </p:spPr>
          <p:txBody>
            <a:bodyPr vert="horz" wrap="square" lIns="90000" tIns="82800" rIns="90000" bIns="82800" numCol="1" rtlCol="0" anchor="t" anchorCtr="1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sp>
          <p:nvSpPr>
            <p:cNvPr id="85" name="Line 32">
              <a:extLst>
                <a:ext uri="{FF2B5EF4-FFF2-40B4-BE49-F238E27FC236}">
                  <a16:creationId xmlns:a16="http://schemas.microsoft.com/office/drawing/2014/main" id="{08369958-EDF2-4A37-9513-49D300B00D9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 flipV="1">
              <a:off x="9650110" y="3455558"/>
              <a:ext cx="846139" cy="0"/>
            </a:xfrm>
            <a:prstGeom prst="line">
              <a:avLst/>
            </a:prstGeom>
            <a:solidFill>
              <a:srgbClr val="EDE7E3"/>
            </a:solidFill>
            <a:ln w="50800">
              <a:solidFill>
                <a:srgbClr val="008000"/>
              </a:solidFill>
              <a:round/>
              <a:headEnd/>
              <a:tailEnd type="triangle" w="lg" len="lg"/>
            </a:ln>
          </p:spPr>
          <p:txBody>
            <a:bodyPr wrap="none" lIns="90000" tIns="82800" rIns="90000" bIns="82800" anchorCtr="1"/>
            <a:lstStyle/>
            <a:p>
              <a:endParaRPr lang="en-GB"/>
            </a:p>
          </p:txBody>
        </p:sp>
        <p:grpSp>
          <p:nvGrpSpPr>
            <p:cNvPr id="86" name="Group 33">
              <a:extLst>
                <a:ext uri="{FF2B5EF4-FFF2-40B4-BE49-F238E27FC236}">
                  <a16:creationId xmlns:a16="http://schemas.microsoft.com/office/drawing/2014/main" id="{65F0E7F3-186E-4CAD-8809-F211F90FEE7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524550" y="3210709"/>
              <a:ext cx="422183" cy="523872"/>
              <a:chOff x="2254" y="3027"/>
              <a:chExt cx="341" cy="405"/>
            </a:xfrm>
            <a:noFill/>
          </p:grpSpPr>
          <p:sp>
            <p:nvSpPr>
              <p:cNvPr id="87" name="Rectangle 34">
                <a:extLst>
                  <a:ext uri="{FF2B5EF4-FFF2-40B4-BE49-F238E27FC236}">
                    <a16:creationId xmlns:a16="http://schemas.microsoft.com/office/drawing/2014/main" id="{2041AD4E-8463-4C62-A77D-918D83186A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48" y="3038"/>
                <a:ext cx="216" cy="3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8" name="Object 35">
                    <a:extLst>
                      <a:ext uri="{FF2B5EF4-FFF2-40B4-BE49-F238E27FC236}">
                        <a16:creationId xmlns:a16="http://schemas.microsoft.com/office/drawing/2014/main" id="{1E55048D-073A-4D39-A7D5-FB1BBC61B0D0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2254" y="3027"/>
                    <a:ext cx="341" cy="405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rm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acc>
                            <m:accPr>
                              <m:chr m:val="⃗"/>
                              <m:ctrlPr>
                                <a:rPr lang="es-ES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ES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</m:oMath>
                      </m:oMathPara>
                    </a14:m>
                    <a:endParaRPr lang="es-ES" dirty="0"/>
                  </a:p>
                </p:txBody>
              </p:sp>
            </mc:Choice>
            <mc:Fallback xmlns="">
              <p:sp>
                <p:nvSpPr>
                  <p:cNvPr id="88" name="Object 35">
                    <a:extLst>
                      <a:ext uri="{FF2B5EF4-FFF2-40B4-BE49-F238E27FC236}">
                        <a16:creationId xmlns:a16="http://schemas.microsoft.com/office/drawing/2014/main" id="{1E55048D-073A-4D39-A7D5-FB1BBC61B0D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2254" y="3027"/>
                    <a:ext cx="341" cy="405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t="-14118" r="-20000"/>
                    </a:stretch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es-E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68" name="Grupo 67">
            <a:extLst>
              <a:ext uri="{FF2B5EF4-FFF2-40B4-BE49-F238E27FC236}">
                <a16:creationId xmlns:a16="http://schemas.microsoft.com/office/drawing/2014/main" id="{56E8F8C7-266F-4F31-8EC7-47D272E771C9}"/>
              </a:ext>
            </a:extLst>
          </p:cNvPr>
          <p:cNvGrpSpPr/>
          <p:nvPr/>
        </p:nvGrpSpPr>
        <p:grpSpPr>
          <a:xfrm>
            <a:off x="1580548" y="6127616"/>
            <a:ext cx="8576535" cy="965196"/>
            <a:chOff x="1580548" y="5857179"/>
            <a:chExt cx="8576535" cy="965196"/>
          </a:xfrm>
        </p:grpSpPr>
        <p:sp>
          <p:nvSpPr>
            <p:cNvPr id="71" name="Rectangle 46">
              <a:extLst>
                <a:ext uri="{FF2B5EF4-FFF2-40B4-BE49-F238E27FC236}">
                  <a16:creationId xmlns:a16="http://schemas.microsoft.com/office/drawing/2014/main" id="{35937FFA-E467-45AB-8B7D-7CCFDD759F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0548" y="5857179"/>
              <a:ext cx="8485095" cy="934902"/>
            </a:xfrm>
            <a:prstGeom prst="rect">
              <a:avLst/>
            </a:prstGeom>
            <a:solidFill>
              <a:srgbClr val="EDE7E3"/>
            </a:solidFill>
            <a:ln w="38100" algn="ctr">
              <a:solidFill>
                <a:srgbClr val="99CCFF"/>
              </a:solidFill>
              <a:miter lim="800000"/>
              <a:headEnd/>
              <a:tailEnd type="none" w="lg" len="lg"/>
            </a:ln>
          </p:spPr>
          <p:txBody>
            <a:bodyPr wrap="square" lIns="90000" tIns="82800" rIns="90000" bIns="82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" name="Text Box 39">
              <a:extLst>
                <a:ext uri="{FF2B5EF4-FFF2-40B4-BE49-F238E27FC236}">
                  <a16:creationId xmlns:a16="http://schemas.microsoft.com/office/drawing/2014/main" id="{D2C60964-3B4C-41E0-8233-D2403416EF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6970" y="5999477"/>
              <a:ext cx="8520113" cy="5981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90000" tIns="82800" rIns="90000" bIns="82800" anchor="ctr" anchorCtr="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 err="1">
                  <a:solidFill>
                    <a:srgbClr val="000000"/>
                  </a:solidFill>
                  <a:latin typeface="Arial" panose="020B0604020202020204" pitchFamily="34" charset="0"/>
                </a:rPr>
                <a:t>P</a:t>
              </a:r>
              <a:r>
                <a:rPr lang="es-ES" sz="2400" baseline="-25000" dirty="0" err="1">
                  <a:solidFill>
                    <a:srgbClr val="000000"/>
                  </a:solidFill>
                  <a:latin typeface="Arial" panose="020B0604020202020204" pitchFamily="34" charset="0"/>
                </a:rPr>
                <a:t>aportada</a:t>
              </a: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 =        =  F        = F*</a:t>
              </a:r>
              <a:r>
                <a:rPr lang="es-ES" sz="2400" baseline="-25000" dirty="0">
                  <a:solidFill>
                    <a:srgbClr val="000000"/>
                  </a:solidFill>
                  <a:latin typeface="Arial" panose="020B0604020202020204" pitchFamily="34" charset="0"/>
                </a:rPr>
                <a:t> </a:t>
              </a: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 v  = </a:t>
              </a:r>
              <a:r>
                <a:rPr lang="es-ES" sz="2400" dirty="0">
                  <a:solidFill>
                    <a:srgbClr val="000000"/>
                  </a:solidFill>
                  <a:latin typeface="Comic Sans MS" panose="030F0702030302020204" pitchFamily="66" charset="0"/>
                </a:rPr>
                <a:t>I</a:t>
              </a: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LB v = </a:t>
              </a:r>
              <a:r>
                <a:rPr lang="es-ES" sz="2800" dirty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</a:t>
              </a: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 </a:t>
              </a:r>
              <a:r>
                <a:rPr lang="es-ES" sz="2400" dirty="0">
                  <a:solidFill>
                    <a:srgbClr val="000000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I</a:t>
              </a:r>
              <a:r>
                <a:rPr lang="es-ES" sz="2400" dirty="0">
                  <a:solidFill>
                    <a:srgbClr val="000000"/>
                  </a:solidFill>
                  <a:sym typeface="Symbol" panose="05050102010706020507" pitchFamily="18" charset="2"/>
                </a:rPr>
                <a:t> </a:t>
              </a: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= V </a:t>
              </a:r>
              <a:r>
                <a:rPr lang="es-ES" sz="2400" dirty="0">
                  <a:solidFill>
                    <a:srgbClr val="000000"/>
                  </a:solidFill>
                  <a:latin typeface="Comic Sans MS" panose="030F0702030302020204" pitchFamily="66" charset="0"/>
                </a:rPr>
                <a:t>I</a:t>
              </a: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 = </a:t>
              </a:r>
              <a:r>
                <a:rPr lang="es-ES" sz="2400" dirty="0" err="1">
                  <a:solidFill>
                    <a:srgbClr val="000000"/>
                  </a:solidFill>
                  <a:latin typeface="Arial" panose="020B0604020202020204" pitchFamily="34" charset="0"/>
                </a:rPr>
                <a:t>P</a:t>
              </a:r>
              <a:r>
                <a:rPr lang="es-ES" sz="2400" baseline="-25000" dirty="0" err="1">
                  <a:solidFill>
                    <a:srgbClr val="000000"/>
                  </a:solidFill>
                  <a:latin typeface="Arial" panose="020B0604020202020204" pitchFamily="34" charset="0"/>
                </a:rPr>
                <a:t>disipada</a:t>
              </a:r>
              <a:endParaRPr lang="es-ES" sz="2400" baseline="-25000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79" name="Grupo 78">
              <a:extLst>
                <a:ext uri="{FF2B5EF4-FFF2-40B4-BE49-F238E27FC236}">
                  <a16:creationId xmlns:a16="http://schemas.microsoft.com/office/drawing/2014/main" id="{330E1031-98E9-4976-A85C-9ACB5C81D51F}"/>
                </a:ext>
              </a:extLst>
            </p:cNvPr>
            <p:cNvGrpSpPr/>
            <p:nvPr/>
          </p:nvGrpSpPr>
          <p:grpSpPr>
            <a:xfrm>
              <a:off x="2967073" y="5882089"/>
              <a:ext cx="642938" cy="893791"/>
              <a:chOff x="4265323" y="5874943"/>
              <a:chExt cx="642938" cy="893791"/>
            </a:xfrm>
          </p:grpSpPr>
          <p:sp>
            <p:nvSpPr>
              <p:cNvPr id="98" name="Line 40">
                <a:extLst>
                  <a:ext uri="{FF2B5EF4-FFF2-40B4-BE49-F238E27FC236}">
                    <a16:creationId xmlns:a16="http://schemas.microsoft.com/office/drawing/2014/main" id="{83824523-2FAA-4477-8337-CF16397157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95511" y="6332537"/>
                <a:ext cx="39211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82800" rIns="90000" bIns="82800" anchorCtr="1">
                <a:spAutoFit/>
              </a:bodyPr>
              <a:lstStyle/>
              <a:p>
                <a:endParaRPr lang="en-GB" sz="2400"/>
              </a:p>
            </p:txBody>
          </p:sp>
          <p:sp>
            <p:nvSpPr>
              <p:cNvPr id="99" name="Text Box 41">
                <a:extLst>
                  <a:ext uri="{FF2B5EF4-FFF2-40B4-BE49-F238E27FC236}">
                    <a16:creationId xmlns:a16="http://schemas.microsoft.com/office/drawing/2014/main" id="{21C08F60-5712-4831-AC36-E7A2B4E310E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65323" y="5874943"/>
                <a:ext cx="642938" cy="5365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 dirty="0" err="1">
                    <a:solidFill>
                      <a:srgbClr val="000000"/>
                    </a:solidFill>
                    <a:latin typeface="Arial" panose="020B0604020202020204" pitchFamily="34" charset="0"/>
                  </a:rPr>
                  <a:t>dW</a:t>
                </a:r>
                <a:endParaRPr lang="es-ES" sz="2400" dirty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00" name="Text Box 42">
                <a:extLst>
                  <a:ext uri="{FF2B5EF4-FFF2-40B4-BE49-F238E27FC236}">
                    <a16:creationId xmlns:a16="http://schemas.microsoft.com/office/drawing/2014/main" id="{5EA9E4C3-8F2F-49F3-A046-BC5874F3112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49474" y="6232159"/>
                <a:ext cx="438150" cy="5365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 dirty="0" err="1">
                    <a:solidFill>
                      <a:srgbClr val="000000"/>
                    </a:solidFill>
                    <a:latin typeface="Arial" panose="020B0604020202020204" pitchFamily="34" charset="0"/>
                  </a:rPr>
                  <a:t>dt</a:t>
                </a:r>
                <a:endParaRPr lang="es-ES" sz="2400" dirty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80" name="Grupo 79">
              <a:extLst>
                <a:ext uri="{FF2B5EF4-FFF2-40B4-BE49-F238E27FC236}">
                  <a16:creationId xmlns:a16="http://schemas.microsoft.com/office/drawing/2014/main" id="{DFE66135-49DD-4970-950C-F66153D0B637}"/>
                </a:ext>
              </a:extLst>
            </p:cNvPr>
            <p:cNvGrpSpPr/>
            <p:nvPr/>
          </p:nvGrpSpPr>
          <p:grpSpPr>
            <a:xfrm>
              <a:off x="4352698" y="5947663"/>
              <a:ext cx="506413" cy="874712"/>
              <a:chOff x="5529472" y="5934075"/>
              <a:chExt cx="506413" cy="874712"/>
            </a:xfrm>
          </p:grpSpPr>
          <p:sp>
            <p:nvSpPr>
              <p:cNvPr id="95" name="Line 43">
                <a:extLst>
                  <a:ext uri="{FF2B5EF4-FFF2-40B4-BE49-F238E27FC236}">
                    <a16:creationId xmlns:a16="http://schemas.microsoft.com/office/drawing/2014/main" id="{10BBF2B8-1668-4119-AA6C-504459874A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567572" y="6337300"/>
                <a:ext cx="39211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82800" rIns="90000" bIns="82800" anchorCtr="1">
                <a:spAutoFit/>
              </a:bodyPr>
              <a:lstStyle/>
              <a:p>
                <a:endParaRPr lang="en-GB" sz="2400"/>
              </a:p>
            </p:txBody>
          </p:sp>
          <p:sp>
            <p:nvSpPr>
              <p:cNvPr id="96" name="Text Box 44">
                <a:extLst>
                  <a:ext uri="{FF2B5EF4-FFF2-40B4-BE49-F238E27FC236}">
                    <a16:creationId xmlns:a16="http://schemas.microsoft.com/office/drawing/2014/main" id="{AD9484B1-300A-45C2-ACA6-50E4CCB7365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529472" y="5934075"/>
                <a:ext cx="506413" cy="5365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solidFill>
                      <a:srgbClr val="000000"/>
                    </a:solidFill>
                    <a:latin typeface="Arial" panose="020B0604020202020204" pitchFamily="34" charset="0"/>
                  </a:rPr>
                  <a:t>dx</a:t>
                </a:r>
              </a:p>
            </p:txBody>
          </p:sp>
          <p:sp>
            <p:nvSpPr>
              <p:cNvPr id="97" name="Text Box 45">
                <a:extLst>
                  <a:ext uri="{FF2B5EF4-FFF2-40B4-BE49-F238E27FC236}">
                    <a16:creationId xmlns:a16="http://schemas.microsoft.com/office/drawing/2014/main" id="{883B63B7-32A0-457B-973B-3AEAF7C85E1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556460" y="6272212"/>
                <a:ext cx="438150" cy="5365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solidFill>
                      <a:srgbClr val="000000"/>
                    </a:solidFill>
                    <a:latin typeface="Arial" panose="020B0604020202020204" pitchFamily="34" charset="0"/>
                  </a:rPr>
                  <a:t>dt</a:t>
                </a:r>
              </a:p>
            </p:txBody>
          </p:sp>
        </p:grpSp>
      </p:grpSp>
      <p:sp>
        <p:nvSpPr>
          <p:cNvPr id="101" name="Text Box 35">
            <a:extLst>
              <a:ext uri="{FF2B5EF4-FFF2-40B4-BE49-F238E27FC236}">
                <a16:creationId xmlns:a16="http://schemas.microsoft.com/office/drawing/2014/main" id="{72F976AE-B8B2-49A9-A977-375C1DBF15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0468" y="2528564"/>
            <a:ext cx="2007137" cy="794403"/>
          </a:xfrm>
          <a:prstGeom prst="rect">
            <a:avLst/>
          </a:prstGeom>
          <a:solidFill>
            <a:srgbClr val="FF99CC"/>
          </a:solidFill>
          <a:ln>
            <a:noFill/>
          </a:ln>
        </p:spPr>
        <p:txBody>
          <a:bodyPr wrap="square" lIns="108000" tIns="180000" rIns="108000" bIns="180000" anchor="ctr" anchorCtr="1">
            <a:spAutoFit/>
          </a:bodyPr>
          <a:lstStyle>
            <a:lvl1pPr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800" dirty="0">
                <a:solidFill>
                  <a:schemeClr val="tx1"/>
                </a:solidFill>
                <a:sym typeface="Symbol" panose="05050102010706020507" pitchFamily="18" charset="2"/>
              </a:rPr>
              <a:t>F* = </a:t>
            </a:r>
            <a:r>
              <a:rPr lang="es-ES" sz="2800" dirty="0">
                <a:solidFill>
                  <a:schemeClr val="tx1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s-ES" sz="2800" dirty="0">
                <a:solidFill>
                  <a:schemeClr val="tx1"/>
                </a:solidFill>
                <a:sym typeface="Symbol" panose="05050102010706020507" pitchFamily="18" charset="2"/>
              </a:rPr>
              <a:t> L B</a:t>
            </a:r>
            <a:r>
              <a:rPr lang="es-ES" sz="2800" baseline="-25000" dirty="0">
                <a:solidFill>
                  <a:schemeClr val="tx1"/>
                </a:solidFill>
                <a:sym typeface="Symbol" panose="05050102010706020507" pitchFamily="18" charset="2"/>
              </a:rPr>
              <a:t></a:t>
            </a:r>
            <a:endParaRPr lang="es-ES" sz="2800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grpSp>
        <p:nvGrpSpPr>
          <p:cNvPr id="115" name="Grupo 114">
            <a:extLst>
              <a:ext uri="{FF2B5EF4-FFF2-40B4-BE49-F238E27FC236}">
                <a16:creationId xmlns:a16="http://schemas.microsoft.com/office/drawing/2014/main" id="{2FA2F1EF-C315-4277-9B32-56FCDCF27D05}"/>
              </a:ext>
            </a:extLst>
          </p:cNvPr>
          <p:cNvGrpSpPr/>
          <p:nvPr/>
        </p:nvGrpSpPr>
        <p:grpSpPr>
          <a:xfrm>
            <a:off x="5211359" y="2276793"/>
            <a:ext cx="632615" cy="870466"/>
            <a:chOff x="3191744" y="5175715"/>
            <a:chExt cx="552125" cy="870466"/>
          </a:xfrm>
        </p:grpSpPr>
        <p:sp>
          <p:nvSpPr>
            <p:cNvPr id="122" name="Line 18">
              <a:extLst>
                <a:ext uri="{FF2B5EF4-FFF2-40B4-BE49-F238E27FC236}">
                  <a16:creationId xmlns:a16="http://schemas.microsoft.com/office/drawing/2014/main" id="{D4725455-730B-4E98-AA23-2686D27AE9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91744" y="5618858"/>
              <a:ext cx="238566" cy="427323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90000" tIns="82800" rIns="90000" bIns="82800" anchorCtr="1">
              <a:spAutoFit/>
            </a:bodyPr>
            <a:lstStyle/>
            <a:p>
              <a:endParaRPr lang="en-GB"/>
            </a:p>
          </p:txBody>
        </p:sp>
        <p:sp>
          <p:nvSpPr>
            <p:cNvPr id="123" name="Text Box 54">
              <a:extLst>
                <a:ext uri="{FF2B5EF4-FFF2-40B4-BE49-F238E27FC236}">
                  <a16:creationId xmlns:a16="http://schemas.microsoft.com/office/drawing/2014/main" id="{623AB604-7C1C-4636-83C3-61AB21C6B2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56927" y="5175715"/>
              <a:ext cx="386942" cy="5365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FF0000"/>
                  </a:solidFill>
                  <a:latin typeface="Arial" panose="020B0604020202020204" pitchFamily="34" charset="0"/>
                </a:rPr>
                <a:t>B</a:t>
              </a:r>
            </a:p>
          </p:txBody>
        </p:sp>
      </p:grpSp>
      <p:sp>
        <p:nvSpPr>
          <p:cNvPr id="124" name="Text Box 48">
            <a:extLst>
              <a:ext uri="{FF2B5EF4-FFF2-40B4-BE49-F238E27FC236}">
                <a16:creationId xmlns:a16="http://schemas.microsoft.com/office/drawing/2014/main" id="{9878E4BD-5CB1-4449-B632-8E4389D29E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7852" y="4871868"/>
            <a:ext cx="9121774" cy="536549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Del frenado pasa a </a:t>
            </a:r>
            <a:r>
              <a:rPr lang="es-ES" sz="2400">
                <a:solidFill>
                  <a:srgbClr val="000000"/>
                </a:solidFill>
                <a:latin typeface="Comic Sans MS" panose="030F0702030302020204" pitchFamily="66" charset="0"/>
              </a:rPr>
              <a:t>I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, luego a Q</a:t>
            </a:r>
            <a:r>
              <a:rPr lang="es-ES" sz="2400" baseline="30000">
                <a:solidFill>
                  <a:srgbClr val="000000"/>
                </a:solidFill>
                <a:latin typeface="Arial" panose="020B0604020202020204" pitchFamily="34" charset="0"/>
              </a:rPr>
              <a:t>+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y Q</a:t>
            </a:r>
            <a:r>
              <a:rPr lang="es-ES" sz="2400" baseline="30000">
                <a:solidFill>
                  <a:srgbClr val="000000"/>
                </a:solidFill>
                <a:latin typeface="Arial" panose="020B0604020202020204" pitchFamily="34" charset="0"/>
              </a:rPr>
              <a:t>-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, después a </a:t>
            </a:r>
            <a:r>
              <a:rPr lang="es-ES" sz="2400">
                <a:solidFill>
                  <a:srgbClr val="000000"/>
                </a:solidFill>
                <a:latin typeface="Comic Sans MS" panose="030F0702030302020204" pitchFamily="66" charset="0"/>
              </a:rPr>
              <a:t>I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y al final a R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Text Box 48">
            <a:extLst>
              <a:ext uri="{FF2B5EF4-FFF2-40B4-BE49-F238E27FC236}">
                <a16:creationId xmlns:a16="http://schemas.microsoft.com/office/drawing/2014/main" id="{68E4E541-33AC-316A-E9E8-00B550B24A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2172" y="5485007"/>
            <a:ext cx="9121774" cy="53654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En cada instante la energía aportada es igual a la disipada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en R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17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1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4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91" grpId="0" animBg="1"/>
      <p:bldP spid="75" grpId="0" animBg="1"/>
      <p:bldP spid="81" grpId="0" animBg="1"/>
      <p:bldP spid="82" grpId="0" animBg="1"/>
      <p:bldP spid="101" grpId="0" animBg="1"/>
      <p:bldP spid="124" grpId="0" animBg="1"/>
      <p:bldP spid="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8793647D-5D66-4602-BE67-9DEE47CFA669}"/>
              </a:ext>
            </a:extLst>
          </p:cNvPr>
          <p:cNvSpPr/>
          <p:nvPr/>
        </p:nvSpPr>
        <p:spPr bwMode="auto">
          <a:xfrm>
            <a:off x="6996394" y="5615561"/>
            <a:ext cx="1902606" cy="598104"/>
          </a:xfrm>
          <a:prstGeom prst="rect">
            <a:avLst/>
          </a:prstGeom>
          <a:solidFill>
            <a:srgbClr val="FFFF00"/>
          </a:solidFill>
          <a:ln w="254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90000" tIns="82800" rIns="90000" bIns="82800" numCol="1" rtlCol="0" anchor="t" anchorCtr="1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145B59C-8F3A-4C99-96CA-9DDBA556740D}"/>
              </a:ext>
            </a:extLst>
          </p:cNvPr>
          <p:cNvSpPr/>
          <p:nvPr/>
        </p:nvSpPr>
        <p:spPr bwMode="auto">
          <a:xfrm>
            <a:off x="8667888" y="3606939"/>
            <a:ext cx="1176524" cy="589800"/>
          </a:xfrm>
          <a:prstGeom prst="rect">
            <a:avLst/>
          </a:prstGeom>
          <a:solidFill>
            <a:srgbClr val="FFFF00"/>
          </a:solidFill>
          <a:ln w="254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90000" tIns="82800" rIns="90000" bIns="82800" numCol="1" rtlCol="0" anchor="t" anchorCtr="1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33796" name="Text Box 4"/>
          <p:cNvSpPr txBox="1">
            <a:spLocks noChangeArrowheads="1"/>
          </p:cNvSpPr>
          <p:nvPr/>
        </p:nvSpPr>
        <p:spPr bwMode="auto">
          <a:xfrm>
            <a:off x="5911491" y="653236"/>
            <a:ext cx="4308475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000">
                <a:latin typeface="Arial" panose="020B0604020202020204" pitchFamily="34" charset="0"/>
              </a:rPr>
              <a:t>x  x  x  x  x  x  x  x  x  x  x  x  x  x  x</a:t>
            </a:r>
          </a:p>
        </p:txBody>
      </p:sp>
      <p:sp>
        <p:nvSpPr>
          <p:cNvPr id="33797" name="Line 6"/>
          <p:cNvSpPr>
            <a:spLocks noChangeShapeType="1"/>
          </p:cNvSpPr>
          <p:nvPr/>
        </p:nvSpPr>
        <p:spPr bwMode="auto">
          <a:xfrm>
            <a:off x="10142898" y="1059636"/>
            <a:ext cx="0" cy="1446212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stealth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82800" rIns="90000" bIns="82800" anchorCtr="1"/>
          <a:lstStyle/>
          <a:p>
            <a:endParaRPr lang="en-GB"/>
          </a:p>
        </p:txBody>
      </p:sp>
      <p:sp>
        <p:nvSpPr>
          <p:cNvPr id="33798" name="Text Box 7"/>
          <p:cNvSpPr txBox="1">
            <a:spLocks noChangeArrowheads="1"/>
          </p:cNvSpPr>
          <p:nvPr/>
        </p:nvSpPr>
        <p:spPr bwMode="auto">
          <a:xfrm>
            <a:off x="10121799" y="1529536"/>
            <a:ext cx="322263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</a:rPr>
              <a:t>L</a:t>
            </a:r>
          </a:p>
        </p:txBody>
      </p:sp>
      <p:sp>
        <p:nvSpPr>
          <p:cNvPr id="33799" name="Text Box 8"/>
          <p:cNvSpPr txBox="1">
            <a:spLocks noChangeArrowheads="1"/>
          </p:cNvSpPr>
          <p:nvPr/>
        </p:nvSpPr>
        <p:spPr bwMode="auto">
          <a:xfrm>
            <a:off x="5894028" y="991373"/>
            <a:ext cx="4308475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000">
                <a:latin typeface="Arial" panose="020B0604020202020204" pitchFamily="34" charset="0"/>
              </a:rPr>
              <a:t>x  x  x  x  x  x  x  x  x  x  x  x  x  x  x</a:t>
            </a:r>
          </a:p>
        </p:txBody>
      </p:sp>
      <p:sp>
        <p:nvSpPr>
          <p:cNvPr id="33800" name="Text Box 9"/>
          <p:cNvSpPr txBox="1">
            <a:spLocks noChangeArrowheads="1"/>
          </p:cNvSpPr>
          <p:nvPr/>
        </p:nvSpPr>
        <p:spPr bwMode="auto">
          <a:xfrm>
            <a:off x="5898791" y="1351736"/>
            <a:ext cx="4308475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000">
                <a:latin typeface="Arial" panose="020B0604020202020204" pitchFamily="34" charset="0"/>
              </a:rPr>
              <a:t>x  x  x  x  x  x  x  x  x  x  x  x  x  x  x</a:t>
            </a:r>
          </a:p>
        </p:txBody>
      </p:sp>
      <p:sp>
        <p:nvSpPr>
          <p:cNvPr id="33801" name="Text Box 10"/>
          <p:cNvSpPr txBox="1">
            <a:spLocks noChangeArrowheads="1"/>
          </p:cNvSpPr>
          <p:nvPr/>
        </p:nvSpPr>
        <p:spPr bwMode="auto">
          <a:xfrm>
            <a:off x="5903553" y="1689873"/>
            <a:ext cx="4308475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000">
                <a:latin typeface="Arial" panose="020B0604020202020204" pitchFamily="34" charset="0"/>
              </a:rPr>
              <a:t>x  x  x  x  x  x  x  x  x  x  x  x  x  x  x</a:t>
            </a:r>
          </a:p>
        </p:txBody>
      </p:sp>
      <p:sp>
        <p:nvSpPr>
          <p:cNvPr id="33802" name="Text Box 11"/>
          <p:cNvSpPr txBox="1">
            <a:spLocks noChangeArrowheads="1"/>
          </p:cNvSpPr>
          <p:nvPr/>
        </p:nvSpPr>
        <p:spPr bwMode="auto">
          <a:xfrm>
            <a:off x="5897203" y="2035948"/>
            <a:ext cx="4308475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000">
                <a:latin typeface="Arial" panose="020B0604020202020204" pitchFamily="34" charset="0"/>
              </a:rPr>
              <a:t>x  </a:t>
            </a:r>
            <a:r>
              <a:rPr lang="es-ES" sz="2000" dirty="0">
                <a:latin typeface="Arial" panose="020B0604020202020204" pitchFamily="34" charset="0"/>
              </a:rPr>
              <a:t>x  x  x  x  x  x  x  x  x  x  x  x  x  x</a:t>
            </a:r>
          </a:p>
        </p:txBody>
      </p:sp>
      <p:sp>
        <p:nvSpPr>
          <p:cNvPr id="33803" name="Text Box 12"/>
          <p:cNvSpPr txBox="1">
            <a:spLocks noChangeArrowheads="1"/>
          </p:cNvSpPr>
          <p:nvPr/>
        </p:nvSpPr>
        <p:spPr bwMode="auto">
          <a:xfrm>
            <a:off x="5890853" y="2405836"/>
            <a:ext cx="4308475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000">
                <a:latin typeface="Arial" panose="020B0604020202020204" pitchFamily="34" charset="0"/>
              </a:rPr>
              <a:t>x  </a:t>
            </a:r>
            <a:r>
              <a:rPr lang="es-ES" sz="2000" dirty="0">
                <a:latin typeface="Arial" panose="020B0604020202020204" pitchFamily="34" charset="0"/>
              </a:rPr>
              <a:t>x  x  x  x  x  x  x  x  x  x  x  x  x  x</a:t>
            </a:r>
          </a:p>
        </p:txBody>
      </p:sp>
      <p:sp>
        <p:nvSpPr>
          <p:cNvPr id="33804" name="Line 13"/>
          <p:cNvSpPr>
            <a:spLocks noChangeShapeType="1"/>
          </p:cNvSpPr>
          <p:nvPr/>
        </p:nvSpPr>
        <p:spPr bwMode="auto">
          <a:xfrm flipV="1">
            <a:off x="6453650" y="2505844"/>
            <a:ext cx="3506788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82800" rIns="90000" bIns="82800" anchorCtr="1"/>
          <a:lstStyle/>
          <a:p>
            <a:endParaRPr lang="en-GB"/>
          </a:p>
        </p:txBody>
      </p:sp>
      <p:sp>
        <p:nvSpPr>
          <p:cNvPr id="33805" name="Line 14"/>
          <p:cNvSpPr>
            <a:spLocks noChangeShapeType="1"/>
          </p:cNvSpPr>
          <p:nvPr/>
        </p:nvSpPr>
        <p:spPr bwMode="auto">
          <a:xfrm flipV="1">
            <a:off x="6469525" y="1061223"/>
            <a:ext cx="3541713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82800" rIns="90000" bIns="82800" anchorCtr="1"/>
          <a:lstStyle/>
          <a:p>
            <a:endParaRPr lang="en-GB"/>
          </a:p>
        </p:txBody>
      </p:sp>
      <p:sp>
        <p:nvSpPr>
          <p:cNvPr id="33806" name="AutoShape 15"/>
          <p:cNvSpPr>
            <a:spLocks noChangeArrowheads="1"/>
          </p:cNvSpPr>
          <p:nvPr/>
        </p:nvSpPr>
        <p:spPr bwMode="auto">
          <a:xfrm flipV="1">
            <a:off x="8247525" y="938986"/>
            <a:ext cx="542925" cy="1609725"/>
          </a:xfrm>
          <a:prstGeom prst="can">
            <a:avLst>
              <a:gd name="adj" fmla="val 26396"/>
            </a:avLst>
          </a:prstGeom>
          <a:solidFill>
            <a:srgbClr val="EDE7E3"/>
          </a:solidFill>
          <a:ln w="25400">
            <a:solidFill>
              <a:srgbClr val="0000FF"/>
            </a:solidFill>
            <a:round/>
            <a:headEnd/>
            <a:tailEnd type="none" w="lg" len="lg"/>
          </a:ln>
        </p:spPr>
        <p:txBody>
          <a:bodyPr rot="10800000" wrap="none" lIns="90000" tIns="82800" rIns="90000" bIns="82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3807" name="Line 16"/>
          <p:cNvSpPr>
            <a:spLocks noChangeShapeType="1"/>
          </p:cNvSpPr>
          <p:nvPr/>
        </p:nvSpPr>
        <p:spPr bwMode="auto">
          <a:xfrm>
            <a:off x="8735297" y="499248"/>
            <a:ext cx="376237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82800" rIns="90000" bIns="82800" anchorCtr="1"/>
          <a:lstStyle/>
          <a:p>
            <a:endParaRPr lang="en-GB"/>
          </a:p>
        </p:txBody>
      </p:sp>
      <p:graphicFrame>
        <p:nvGraphicFramePr>
          <p:cNvPr id="33808" name="Object 17"/>
          <p:cNvGraphicFramePr>
            <a:graphicFrameLocks noGrp="1" noChangeAspect="1"/>
          </p:cNvGraphicFramePr>
          <p:nvPr>
            <p:ph/>
          </p:nvPr>
        </p:nvGraphicFramePr>
        <p:xfrm>
          <a:off x="8381602" y="268584"/>
          <a:ext cx="307340" cy="4295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3" imgW="126725" imgH="177415" progId="Equation.3">
                  <p:embed/>
                </p:oleObj>
              </mc:Choice>
              <mc:Fallback>
                <p:oleObj name="Ecuación" r:id="rId3" imgW="126725" imgH="177415" progId="Equation.3">
                  <p:embed/>
                  <p:pic>
                    <p:nvPicPr>
                      <p:cNvPr id="33808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1602" y="268584"/>
                        <a:ext cx="307340" cy="4295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6528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3548613"/>
              </p:ext>
            </p:extLst>
          </p:nvPr>
        </p:nvGraphicFramePr>
        <p:xfrm>
          <a:off x="1749236" y="3461445"/>
          <a:ext cx="6464300" cy="101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5" imgW="3200400" imgH="444500" progId="Equation.3">
                  <p:embed/>
                </p:oleObj>
              </mc:Choice>
              <mc:Fallback>
                <p:oleObj name="Ecuación" r:id="rId5" imgW="3200400" imgH="444500" progId="Equation.3">
                  <p:embed/>
                  <p:pic>
                    <p:nvPicPr>
                      <p:cNvPr id="746528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9236" y="3461445"/>
                        <a:ext cx="6464300" cy="1012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6529" name="Text Box 33"/>
          <p:cNvSpPr txBox="1">
            <a:spLocks noChangeArrowheads="1"/>
          </p:cNvSpPr>
          <p:nvPr/>
        </p:nvSpPr>
        <p:spPr bwMode="auto">
          <a:xfrm>
            <a:off x="1583054" y="5592478"/>
            <a:ext cx="2792492" cy="598104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8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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&gt;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0 (trabajo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&gt; 0)</a:t>
            </a:r>
          </a:p>
        </p:txBody>
      </p:sp>
      <p:sp>
        <p:nvSpPr>
          <p:cNvPr id="33812" name="Line 34"/>
          <p:cNvSpPr>
            <a:spLocks noChangeShapeType="1"/>
          </p:cNvSpPr>
          <p:nvPr/>
        </p:nvSpPr>
        <p:spPr bwMode="auto">
          <a:xfrm flipH="1">
            <a:off x="6460000" y="1061223"/>
            <a:ext cx="0" cy="142240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82800" rIns="90000" bIns="82800" anchorCtr="1"/>
          <a:lstStyle/>
          <a:p>
            <a:endParaRPr lang="en-GB"/>
          </a:p>
        </p:txBody>
      </p:sp>
      <p:sp>
        <p:nvSpPr>
          <p:cNvPr id="33813" name="Rectangle 38"/>
          <p:cNvSpPr>
            <a:spLocks noChangeArrowheads="1"/>
          </p:cNvSpPr>
          <p:nvPr/>
        </p:nvSpPr>
        <p:spPr bwMode="auto">
          <a:xfrm>
            <a:off x="6306013" y="1407298"/>
            <a:ext cx="323850" cy="763588"/>
          </a:xfrm>
          <a:prstGeom prst="rect">
            <a:avLst/>
          </a:prstGeom>
          <a:solidFill>
            <a:srgbClr val="EDE7E3"/>
          </a:solidFill>
          <a:ln w="25400" algn="ctr">
            <a:solidFill>
              <a:srgbClr val="0000FF"/>
            </a:solidFill>
            <a:miter lim="800000"/>
            <a:headEnd/>
            <a:tailEnd type="none" w="lg" len="lg"/>
          </a:ln>
        </p:spPr>
        <p:txBody>
          <a:bodyPr wrap="none" lIns="90000" tIns="82800" rIns="90000" bIns="82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46532" name="Rectangle 36"/>
          <p:cNvSpPr>
            <a:spLocks noChangeArrowheads="1"/>
          </p:cNvSpPr>
          <p:nvPr/>
        </p:nvSpPr>
        <p:spPr bwMode="auto">
          <a:xfrm>
            <a:off x="6455238" y="1051698"/>
            <a:ext cx="2051050" cy="1446213"/>
          </a:xfrm>
          <a:prstGeom prst="rect">
            <a:avLst/>
          </a:prstGeom>
          <a:solidFill>
            <a:srgbClr val="FFFF99">
              <a:alpha val="70195"/>
            </a:srgbClr>
          </a:solidFill>
          <a:ln w="38100" algn="ctr">
            <a:solidFill>
              <a:srgbClr val="008000"/>
            </a:solidFill>
            <a:prstDash val="dash"/>
            <a:miter lim="800000"/>
            <a:headEnd/>
            <a:tailEnd type="none" w="lg" len="lg"/>
          </a:ln>
        </p:spPr>
        <p:txBody>
          <a:bodyPr wrap="none" lIns="90000" tIns="82800" rIns="90000" bIns="82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3815" name="Text Box 39"/>
          <p:cNvSpPr txBox="1">
            <a:spLocks noChangeArrowheads="1"/>
          </p:cNvSpPr>
          <p:nvPr/>
        </p:nvSpPr>
        <p:spPr bwMode="auto">
          <a:xfrm>
            <a:off x="6277438" y="1540648"/>
            <a:ext cx="365125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1">
                <a:solidFill>
                  <a:srgbClr val="3333FF"/>
                </a:solidFill>
                <a:latin typeface="Arial" panose="020B0604020202020204" pitchFamily="34" charset="0"/>
              </a:rPr>
              <a:t>R</a:t>
            </a:r>
          </a:p>
        </p:txBody>
      </p:sp>
      <p:grpSp>
        <p:nvGrpSpPr>
          <p:cNvPr id="4" name="Group 63"/>
          <p:cNvGrpSpPr>
            <a:grpSpLocks/>
          </p:cNvGrpSpPr>
          <p:nvPr/>
        </p:nvGrpSpPr>
        <p:grpSpPr bwMode="auto">
          <a:xfrm>
            <a:off x="7050550" y="1515249"/>
            <a:ext cx="1924050" cy="714376"/>
            <a:chOff x="1948" y="1650"/>
            <a:chExt cx="1212" cy="450"/>
          </a:xfrm>
        </p:grpSpPr>
        <p:sp>
          <p:nvSpPr>
            <p:cNvPr id="33851" name="Text Box 37"/>
            <p:cNvSpPr txBox="1">
              <a:spLocks noChangeArrowheads="1"/>
            </p:cNvSpPr>
            <p:nvPr/>
          </p:nvSpPr>
          <p:spPr bwMode="auto">
            <a:xfrm>
              <a:off x="1948" y="1804"/>
              <a:ext cx="220" cy="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1">
                  <a:latin typeface="Arial" panose="020B0604020202020204" pitchFamily="34" charset="0"/>
                </a:rPr>
                <a:t>S</a:t>
              </a:r>
            </a:p>
          </p:txBody>
        </p:sp>
        <p:sp>
          <p:nvSpPr>
            <p:cNvPr id="33852" name="Text Box 40"/>
            <p:cNvSpPr txBox="1">
              <a:spLocks noChangeArrowheads="1"/>
            </p:cNvSpPr>
            <p:nvPr/>
          </p:nvSpPr>
          <p:spPr bwMode="auto">
            <a:xfrm>
              <a:off x="2930" y="1650"/>
              <a:ext cx="230" cy="339"/>
            </a:xfrm>
            <a:prstGeom prst="rect">
              <a:avLst/>
            </a:prstGeom>
            <a:solidFill>
              <a:srgbClr val="EDE7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1" dirty="0">
                  <a:solidFill>
                    <a:srgbClr val="008000"/>
                  </a:solidFill>
                  <a:latin typeface="Arial" panose="020B0604020202020204" pitchFamily="34" charset="0"/>
                </a:rPr>
                <a:t>C</a:t>
              </a:r>
            </a:p>
          </p:txBody>
        </p:sp>
      </p:grpSp>
      <p:sp>
        <p:nvSpPr>
          <p:cNvPr id="746537" name="Text Box 41"/>
          <p:cNvSpPr txBox="1">
            <a:spLocks noChangeArrowheads="1"/>
          </p:cNvSpPr>
          <p:nvPr/>
        </p:nvSpPr>
        <p:spPr bwMode="auto">
          <a:xfrm>
            <a:off x="1294790" y="6282528"/>
            <a:ext cx="9038913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(el sentido indica el signo 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de los excesos de carga en la barra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)</a:t>
            </a:r>
          </a:p>
        </p:txBody>
      </p:sp>
      <p:grpSp>
        <p:nvGrpSpPr>
          <p:cNvPr id="9" name="Grupo 8"/>
          <p:cNvGrpSpPr/>
          <p:nvPr/>
        </p:nvGrpSpPr>
        <p:grpSpPr>
          <a:xfrm>
            <a:off x="5266989" y="1507221"/>
            <a:ext cx="500214" cy="592138"/>
            <a:chOff x="719190" y="1738331"/>
            <a:chExt cx="500214" cy="592138"/>
          </a:xfrm>
        </p:grpSpPr>
        <p:sp>
          <p:nvSpPr>
            <p:cNvPr id="3" name="Rectángulo 2"/>
            <p:cNvSpPr/>
            <p:nvPr/>
          </p:nvSpPr>
          <p:spPr bwMode="auto">
            <a:xfrm>
              <a:off x="719190" y="1738331"/>
              <a:ext cx="500214" cy="592138"/>
            </a:xfrm>
            <a:prstGeom prst="rect">
              <a:avLst/>
            </a:prstGeom>
            <a:solidFill>
              <a:srgbClr val="FFFF00"/>
            </a:solidFill>
            <a:ln w="25400" cap="flat" cmpd="sng" algn="ctr">
              <a:noFill/>
              <a:prstDash val="solid"/>
              <a:round/>
              <a:headEnd type="none" w="med" len="med"/>
              <a:tailEnd type="none" w="lg" len="lg"/>
            </a:ln>
            <a:effectLst/>
          </p:spPr>
          <p:txBody>
            <a:bodyPr vert="horz" wrap="none" lIns="90000" tIns="82800" rIns="90000" bIns="82800" numCol="1" rtlCol="0" anchor="t" anchorCtr="1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grpSp>
          <p:nvGrpSpPr>
            <p:cNvPr id="33841" name="Group 43"/>
            <p:cNvGrpSpPr>
              <a:grpSpLocks/>
            </p:cNvGrpSpPr>
            <p:nvPr/>
          </p:nvGrpSpPr>
          <p:grpSpPr bwMode="auto">
            <a:xfrm rot="10800000" flipH="1">
              <a:off x="770320" y="1824893"/>
              <a:ext cx="407988" cy="422275"/>
              <a:chOff x="1213" y="3526"/>
              <a:chExt cx="257" cy="266"/>
            </a:xfrm>
          </p:grpSpPr>
          <p:sp>
            <p:nvSpPr>
              <p:cNvPr id="33848" name="Line 44"/>
              <p:cNvSpPr>
                <a:spLocks noChangeShapeType="1"/>
              </p:cNvSpPr>
              <p:nvPr/>
            </p:nvSpPr>
            <p:spPr bwMode="auto">
              <a:xfrm flipH="1">
                <a:off x="1213" y="3526"/>
                <a:ext cx="257" cy="14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3849" name="Line 45"/>
              <p:cNvSpPr>
                <a:spLocks noChangeShapeType="1"/>
              </p:cNvSpPr>
              <p:nvPr/>
            </p:nvSpPr>
            <p:spPr bwMode="auto">
              <a:xfrm>
                <a:off x="1219" y="3685"/>
                <a:ext cx="251" cy="10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3850" name="Oval 46"/>
              <p:cNvSpPr>
                <a:spLocks noChangeArrowheads="1"/>
              </p:cNvSpPr>
              <p:nvPr/>
            </p:nvSpPr>
            <p:spPr bwMode="auto">
              <a:xfrm>
                <a:off x="1375" y="3562"/>
                <a:ext cx="56" cy="197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rot="10800000" wrap="none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10" name="Grupo 9"/>
          <p:cNvGrpSpPr/>
          <p:nvPr/>
        </p:nvGrpSpPr>
        <p:grpSpPr>
          <a:xfrm>
            <a:off x="6731555" y="1199989"/>
            <a:ext cx="1477963" cy="1089026"/>
            <a:chOff x="2341946" y="-243585"/>
            <a:chExt cx="1477963" cy="1089026"/>
          </a:xfrm>
        </p:grpSpPr>
        <p:sp>
          <p:nvSpPr>
            <p:cNvPr id="33842" name="AutoShape 47"/>
            <p:cNvSpPr>
              <a:spLocks noChangeArrowheads="1"/>
            </p:cNvSpPr>
            <p:nvPr/>
          </p:nvSpPr>
          <p:spPr bwMode="auto">
            <a:xfrm flipH="1">
              <a:off x="2341946" y="-243585"/>
              <a:ext cx="558800" cy="50800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3191 w 21600"/>
                <a:gd name="T19" fmla="*/ 3173 h 21600"/>
                <a:gd name="T20" fmla="*/ 18409 w 21600"/>
                <a:gd name="T21" fmla="*/ 18428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0983" y="18021"/>
                  </a:moveTo>
                  <a:cubicBezTo>
                    <a:pt x="14900" y="17921"/>
                    <a:pt x="18024" y="14718"/>
                    <a:pt x="18024" y="10800"/>
                  </a:cubicBezTo>
                  <a:cubicBezTo>
                    <a:pt x="18024" y="6810"/>
                    <a:pt x="14789" y="3576"/>
                    <a:pt x="10800" y="3576"/>
                  </a:cubicBezTo>
                  <a:cubicBezTo>
                    <a:pt x="6810" y="3576"/>
                    <a:pt x="3576" y="6810"/>
                    <a:pt x="3576" y="10800"/>
                  </a:cubicBezTo>
                  <a:lnTo>
                    <a:pt x="0" y="10800"/>
                  </a:lnTo>
                  <a:cubicBezTo>
                    <a:pt x="0" y="4835"/>
                    <a:pt x="4835" y="0"/>
                    <a:pt x="10800" y="0"/>
                  </a:cubicBezTo>
                  <a:cubicBezTo>
                    <a:pt x="16764" y="0"/>
                    <a:pt x="21600" y="4835"/>
                    <a:pt x="21600" y="10800"/>
                  </a:cubicBezTo>
                  <a:cubicBezTo>
                    <a:pt x="21600" y="16657"/>
                    <a:pt x="16930" y="21447"/>
                    <a:pt x="11075" y="21596"/>
                  </a:cubicBezTo>
                  <a:lnTo>
                    <a:pt x="11143" y="24295"/>
                  </a:lnTo>
                  <a:lnTo>
                    <a:pt x="6542" y="19923"/>
                  </a:lnTo>
                  <a:lnTo>
                    <a:pt x="10915" y="15322"/>
                  </a:lnTo>
                  <a:lnTo>
                    <a:pt x="10983" y="18021"/>
                  </a:lnTo>
                  <a:close/>
                </a:path>
              </a:pathLst>
            </a:custGeom>
            <a:solidFill>
              <a:srgbClr val="3333FF"/>
            </a:solidFill>
            <a:ln w="25400" algn="ctr">
              <a:noFill/>
              <a:miter lim="800000"/>
              <a:headEnd/>
              <a:tailEnd type="none" w="lg" len="lg"/>
            </a:ln>
          </p:spPr>
          <p:txBody>
            <a:bodyPr wrap="none" lIns="90000" tIns="82800" rIns="90000" bIns="82800" anchor="ctr"/>
            <a:lstStyle/>
            <a:p>
              <a:endParaRPr lang="en-GB"/>
            </a:p>
          </p:txBody>
        </p:sp>
        <p:sp>
          <p:nvSpPr>
            <p:cNvPr id="33843" name="Text Box 48"/>
            <p:cNvSpPr txBox="1">
              <a:spLocks noChangeArrowheads="1"/>
            </p:cNvSpPr>
            <p:nvPr/>
          </p:nvSpPr>
          <p:spPr bwMode="auto">
            <a:xfrm>
              <a:off x="2457833" y="-230885"/>
              <a:ext cx="328613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1">
                  <a:solidFill>
                    <a:srgbClr val="3333FF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  <p:sp>
          <p:nvSpPr>
            <p:cNvPr id="33844" name="Rectangle 50"/>
            <p:cNvSpPr>
              <a:spLocks noChangeArrowheads="1"/>
            </p:cNvSpPr>
            <p:nvPr/>
          </p:nvSpPr>
          <p:spPr bwMode="auto">
            <a:xfrm>
              <a:off x="3370646" y="666053"/>
              <a:ext cx="179388" cy="17938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3845" name="Line 49"/>
            <p:cNvSpPr>
              <a:spLocks noChangeShapeType="1"/>
            </p:cNvSpPr>
            <p:nvPr/>
          </p:nvSpPr>
          <p:spPr bwMode="auto">
            <a:xfrm flipH="1" flipV="1">
              <a:off x="3192846" y="429515"/>
              <a:ext cx="266700" cy="3175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Ctr="1"/>
            <a:lstStyle/>
            <a:p>
              <a:endParaRPr lang="en-GB"/>
            </a:p>
          </p:txBody>
        </p:sp>
        <p:sp>
          <p:nvSpPr>
            <p:cNvPr id="33846" name="Text Box 51"/>
            <p:cNvSpPr txBox="1">
              <a:spLocks noChangeArrowheads="1"/>
            </p:cNvSpPr>
            <p:nvPr/>
          </p:nvSpPr>
          <p:spPr bwMode="auto">
            <a:xfrm>
              <a:off x="3327784" y="242190"/>
              <a:ext cx="492125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dS</a:t>
              </a:r>
            </a:p>
          </p:txBody>
        </p:sp>
        <p:sp>
          <p:nvSpPr>
            <p:cNvPr id="33847" name="Line 52"/>
            <p:cNvSpPr>
              <a:spLocks noChangeShapeType="1"/>
            </p:cNvSpPr>
            <p:nvPr/>
          </p:nvSpPr>
          <p:spPr bwMode="auto">
            <a:xfrm>
              <a:off x="3573846" y="340615"/>
              <a:ext cx="1444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Ctr="1"/>
            <a:lstStyle/>
            <a:p>
              <a:endParaRPr lang="en-GB"/>
            </a:p>
          </p:txBody>
        </p:sp>
      </p:grpSp>
      <p:grpSp>
        <p:nvGrpSpPr>
          <p:cNvPr id="12" name="Group 81"/>
          <p:cNvGrpSpPr>
            <a:grpSpLocks/>
          </p:cNvGrpSpPr>
          <p:nvPr/>
        </p:nvGrpSpPr>
        <p:grpSpPr bwMode="auto">
          <a:xfrm>
            <a:off x="4471798" y="3093147"/>
            <a:ext cx="984251" cy="1068388"/>
            <a:chOff x="2591" y="3104"/>
            <a:chExt cx="620" cy="673"/>
          </a:xfrm>
        </p:grpSpPr>
        <p:sp>
          <p:nvSpPr>
            <p:cNvPr id="33837" name="Text Box 78"/>
            <p:cNvSpPr txBox="1">
              <a:spLocks noChangeArrowheads="1"/>
            </p:cNvSpPr>
            <p:nvPr/>
          </p:nvSpPr>
          <p:spPr bwMode="auto">
            <a:xfrm>
              <a:off x="2990" y="3104"/>
              <a:ext cx="221" cy="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FF0000"/>
                  </a:solidFill>
                  <a:latin typeface="Arial" panose="020B0604020202020204" pitchFamily="34" charset="0"/>
                </a:rPr>
                <a:t>S</a:t>
              </a:r>
            </a:p>
          </p:txBody>
        </p:sp>
        <p:sp>
          <p:nvSpPr>
            <p:cNvPr id="33838" name="Line 79"/>
            <p:cNvSpPr>
              <a:spLocks noChangeShapeType="1"/>
            </p:cNvSpPr>
            <p:nvPr/>
          </p:nvSpPr>
          <p:spPr bwMode="auto">
            <a:xfrm flipV="1">
              <a:off x="2591" y="3427"/>
              <a:ext cx="413" cy="35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Ctr="1"/>
            <a:lstStyle/>
            <a:p>
              <a:endParaRPr lang="en-GB"/>
            </a:p>
          </p:txBody>
        </p:sp>
      </p:grpSp>
      <p:grpSp>
        <p:nvGrpSpPr>
          <p:cNvPr id="13" name="Group 21"/>
          <p:cNvGrpSpPr>
            <a:grpSpLocks/>
          </p:cNvGrpSpPr>
          <p:nvPr/>
        </p:nvGrpSpPr>
        <p:grpSpPr bwMode="auto">
          <a:xfrm>
            <a:off x="7190198" y="581798"/>
            <a:ext cx="403225" cy="2401888"/>
            <a:chOff x="2005" y="1062"/>
            <a:chExt cx="254" cy="1513"/>
          </a:xfrm>
        </p:grpSpPr>
        <p:sp>
          <p:nvSpPr>
            <p:cNvPr id="33833" name="Line 22"/>
            <p:cNvSpPr>
              <a:spLocks noChangeShapeType="1"/>
            </p:cNvSpPr>
            <p:nvPr/>
          </p:nvSpPr>
          <p:spPr bwMode="auto">
            <a:xfrm>
              <a:off x="2022" y="2274"/>
              <a:ext cx="237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Ctr="1"/>
            <a:lstStyle/>
            <a:p>
              <a:endParaRPr lang="en-GB"/>
            </a:p>
          </p:txBody>
        </p:sp>
        <p:sp>
          <p:nvSpPr>
            <p:cNvPr id="33834" name="Line 23"/>
            <p:cNvSpPr>
              <a:spLocks noChangeShapeType="1"/>
            </p:cNvSpPr>
            <p:nvPr/>
          </p:nvSpPr>
          <p:spPr bwMode="auto">
            <a:xfrm flipH="1">
              <a:off x="2005" y="1366"/>
              <a:ext cx="237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Ctr="1"/>
            <a:lstStyle/>
            <a:p>
              <a:endParaRPr lang="en-GB"/>
            </a:p>
          </p:txBody>
        </p:sp>
        <p:sp>
          <p:nvSpPr>
            <p:cNvPr id="33835" name="Text Box 25"/>
            <p:cNvSpPr txBox="1">
              <a:spLocks noChangeArrowheads="1"/>
            </p:cNvSpPr>
            <p:nvPr/>
          </p:nvSpPr>
          <p:spPr bwMode="auto">
            <a:xfrm>
              <a:off x="2030" y="2279"/>
              <a:ext cx="201" cy="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1">
                  <a:solidFill>
                    <a:srgbClr val="3333FF"/>
                  </a:solidFill>
                  <a:latin typeface="Comic Sans MS" panose="030F0702030302020204" pitchFamily="66" charset="0"/>
                </a:rPr>
                <a:t>I</a:t>
              </a:r>
            </a:p>
          </p:txBody>
        </p:sp>
        <p:sp>
          <p:nvSpPr>
            <p:cNvPr id="33836" name="Text Box 24"/>
            <p:cNvSpPr txBox="1">
              <a:spLocks noChangeArrowheads="1"/>
            </p:cNvSpPr>
            <p:nvPr/>
          </p:nvSpPr>
          <p:spPr bwMode="auto">
            <a:xfrm>
              <a:off x="2034" y="1062"/>
              <a:ext cx="201" cy="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1">
                  <a:solidFill>
                    <a:srgbClr val="3333FF"/>
                  </a:solidFill>
                  <a:latin typeface="Comic Sans MS" panose="030F0702030302020204" pitchFamily="66" charset="0"/>
                </a:rPr>
                <a:t>I</a:t>
              </a:r>
            </a:p>
          </p:txBody>
        </p:sp>
      </p:grpSp>
      <p:sp>
        <p:nvSpPr>
          <p:cNvPr id="6" name="CuadroTexto 5"/>
          <p:cNvSpPr txBox="1">
            <a:spLocks noChangeArrowheads="1"/>
          </p:cNvSpPr>
          <p:nvPr/>
        </p:nvSpPr>
        <p:spPr bwMode="auto">
          <a:xfrm>
            <a:off x="8191395" y="3607863"/>
            <a:ext cx="1653017" cy="5232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 dirty="0">
                <a:latin typeface="Comic Sans MS" panose="030F0702030302020204" pitchFamily="66" charset="0"/>
                <a:sym typeface="Symbol" panose="05050102010706020507" pitchFamily="18" charset="2"/>
              </a:rPr>
              <a:t>  I</a:t>
            </a:r>
            <a:r>
              <a:rPr lang="es-ES" sz="2400" dirty="0">
                <a:sym typeface="Symbol" panose="05050102010706020507" pitchFamily="18" charset="2"/>
              </a:rPr>
              <a:t> = </a:t>
            </a:r>
            <a:r>
              <a:rPr lang="es-ES" sz="2800" dirty="0">
                <a:sym typeface="Symbol" panose="05050102010706020507" pitchFamily="18" charset="2"/>
              </a:rPr>
              <a:t></a:t>
            </a:r>
            <a:r>
              <a:rPr lang="es-ES" sz="2400" dirty="0">
                <a:sym typeface="Symbol" panose="05050102010706020507" pitchFamily="18" charset="2"/>
              </a:rPr>
              <a:t>/R</a:t>
            </a:r>
            <a:endParaRPr lang="es-ES" sz="2400" dirty="0"/>
          </a:p>
        </p:txBody>
      </p:sp>
      <p:grpSp>
        <p:nvGrpSpPr>
          <p:cNvPr id="7" name="Grupo 6"/>
          <p:cNvGrpSpPr>
            <a:grpSpLocks/>
          </p:cNvGrpSpPr>
          <p:nvPr/>
        </p:nvGrpSpPr>
        <p:grpSpPr bwMode="auto">
          <a:xfrm>
            <a:off x="2981134" y="3060369"/>
            <a:ext cx="589342" cy="1158314"/>
            <a:chOff x="2543175" y="4608182"/>
            <a:chExt cx="590136" cy="1156929"/>
          </a:xfrm>
        </p:grpSpPr>
        <p:sp>
          <p:nvSpPr>
            <p:cNvPr id="33831" name="Text Box 75"/>
            <p:cNvSpPr txBox="1">
              <a:spLocks noChangeArrowheads="1"/>
            </p:cNvSpPr>
            <p:nvPr/>
          </p:nvSpPr>
          <p:spPr bwMode="auto">
            <a:xfrm>
              <a:off x="2726911" y="4608182"/>
              <a:ext cx="406400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FF0000"/>
                  </a:solidFill>
                  <a:latin typeface="Arial" panose="020B0604020202020204" pitchFamily="34" charset="0"/>
                </a:rPr>
                <a:t>-B</a:t>
              </a:r>
            </a:p>
          </p:txBody>
        </p:sp>
        <p:sp>
          <p:nvSpPr>
            <p:cNvPr id="33832" name="Line 79"/>
            <p:cNvSpPr>
              <a:spLocks noChangeShapeType="1"/>
            </p:cNvSpPr>
            <p:nvPr/>
          </p:nvSpPr>
          <p:spPr bwMode="auto">
            <a:xfrm flipV="1">
              <a:off x="2543175" y="5098414"/>
              <a:ext cx="366713" cy="666697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Ctr="1"/>
            <a:lstStyle/>
            <a:p>
              <a:endParaRPr lang="en-GB"/>
            </a:p>
          </p:txBody>
        </p:sp>
      </p:grpSp>
      <p:sp>
        <p:nvSpPr>
          <p:cNvPr id="62" name="CuadroTexto 61"/>
          <p:cNvSpPr txBox="1"/>
          <p:nvPr/>
        </p:nvSpPr>
        <p:spPr>
          <a:xfrm>
            <a:off x="1254624" y="321244"/>
            <a:ext cx="3852210" cy="830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s-ES" sz="2400" dirty="0">
                <a:solidFill>
                  <a:schemeClr val="tx1"/>
                </a:solidFill>
              </a:rPr>
              <a:t>Calculemos </a:t>
            </a:r>
            <a:r>
              <a:rPr lang="es-ES" sz="2400">
                <a:solidFill>
                  <a:schemeClr val="tx1"/>
                </a:solidFill>
              </a:rPr>
              <a:t>la </a:t>
            </a:r>
            <a:r>
              <a:rPr lang="es-ES" sz="2400">
                <a:solidFill>
                  <a:schemeClr val="tx1"/>
                </a:solidFill>
                <a:latin typeface="Comic Sans MS" panose="030F0702030302020204" pitchFamily="66" charset="0"/>
              </a:rPr>
              <a:t>I </a:t>
            </a:r>
            <a:r>
              <a:rPr lang="es-ES" sz="2400">
                <a:solidFill>
                  <a:schemeClr val="tx1"/>
                </a:solidFill>
              </a:rPr>
              <a:t>aplicando </a:t>
            </a:r>
            <a:r>
              <a:rPr lang="es-ES" sz="2400" dirty="0">
                <a:solidFill>
                  <a:schemeClr val="tx1"/>
                </a:solidFill>
              </a:rPr>
              <a:t>la Ley de Inducción</a:t>
            </a:r>
          </a:p>
        </p:txBody>
      </p:sp>
      <p:grpSp>
        <p:nvGrpSpPr>
          <p:cNvPr id="66" name="Group 28"/>
          <p:cNvGrpSpPr>
            <a:grpSpLocks/>
          </p:cNvGrpSpPr>
          <p:nvPr/>
        </p:nvGrpSpPr>
        <p:grpSpPr bwMode="auto">
          <a:xfrm>
            <a:off x="1986273" y="1270569"/>
            <a:ext cx="2413000" cy="1057275"/>
            <a:chOff x="1065" y="2809"/>
            <a:chExt cx="1520" cy="666"/>
          </a:xfrm>
        </p:grpSpPr>
        <p:sp>
          <p:nvSpPr>
            <p:cNvPr id="33829" name="Rectangle 29"/>
            <p:cNvSpPr>
              <a:spLocks noChangeArrowheads="1"/>
            </p:cNvSpPr>
            <p:nvPr/>
          </p:nvSpPr>
          <p:spPr bwMode="auto">
            <a:xfrm>
              <a:off x="1065" y="2809"/>
              <a:ext cx="1520" cy="664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/>
            </a:p>
          </p:txBody>
        </p:sp>
        <p:graphicFrame>
          <p:nvGraphicFramePr>
            <p:cNvPr id="33830" name="Object 30"/>
            <p:cNvGraphicFramePr>
              <a:graphicFrameLocks noChangeAspect="1"/>
            </p:cNvGraphicFramePr>
            <p:nvPr/>
          </p:nvGraphicFramePr>
          <p:xfrm>
            <a:off x="1102" y="2818"/>
            <a:ext cx="1404" cy="6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7" imgW="939392" imgH="444307" progId="Equation.3">
                    <p:embed/>
                  </p:oleObj>
                </mc:Choice>
                <mc:Fallback>
                  <p:oleObj name="Ecuación" r:id="rId7" imgW="939392" imgH="444307" progId="Equation.3">
                    <p:embed/>
                    <p:pic>
                      <p:nvPicPr>
                        <p:cNvPr id="3383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02" y="2818"/>
                          <a:ext cx="1404" cy="6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3839" name="Text Box 76"/>
          <p:cNvSpPr txBox="1">
            <a:spLocks noChangeArrowheads="1"/>
          </p:cNvSpPr>
          <p:nvPr/>
        </p:nvSpPr>
        <p:spPr bwMode="auto">
          <a:xfrm>
            <a:off x="1534823" y="2832856"/>
            <a:ext cx="1335088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cte. unif.</a:t>
            </a:r>
          </a:p>
        </p:txBody>
      </p:sp>
      <p:sp>
        <p:nvSpPr>
          <p:cNvPr id="8" name="Forma libre 7"/>
          <p:cNvSpPr/>
          <p:nvPr/>
        </p:nvSpPr>
        <p:spPr bwMode="auto">
          <a:xfrm>
            <a:off x="2434394" y="3362642"/>
            <a:ext cx="585627" cy="174715"/>
          </a:xfrm>
          <a:custGeom>
            <a:avLst/>
            <a:gdLst>
              <a:gd name="connsiteX0" fmla="*/ 585627 w 585627"/>
              <a:gd name="connsiteY0" fmla="*/ 164441 h 174715"/>
              <a:gd name="connsiteX1" fmla="*/ 452063 w 585627"/>
              <a:gd name="connsiteY1" fmla="*/ 55 h 174715"/>
              <a:gd name="connsiteX2" fmla="*/ 318499 w 585627"/>
              <a:gd name="connsiteY2" fmla="*/ 154167 h 174715"/>
              <a:gd name="connsiteX3" fmla="*/ 154112 w 585627"/>
              <a:gd name="connsiteY3" fmla="*/ 55 h 174715"/>
              <a:gd name="connsiteX4" fmla="*/ 0 w 585627"/>
              <a:gd name="connsiteY4" fmla="*/ 174715 h 174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5627" h="174715">
                <a:moveTo>
                  <a:pt x="585627" y="164441"/>
                </a:moveTo>
                <a:cubicBezTo>
                  <a:pt x="541105" y="83104"/>
                  <a:pt x="496584" y="1767"/>
                  <a:pt x="452063" y="55"/>
                </a:cubicBezTo>
                <a:cubicBezTo>
                  <a:pt x="407542" y="-1657"/>
                  <a:pt x="368157" y="154167"/>
                  <a:pt x="318499" y="154167"/>
                </a:cubicBezTo>
                <a:cubicBezTo>
                  <a:pt x="268841" y="154167"/>
                  <a:pt x="207195" y="-3370"/>
                  <a:pt x="154112" y="55"/>
                </a:cubicBezTo>
                <a:cubicBezTo>
                  <a:pt x="101029" y="3480"/>
                  <a:pt x="50514" y="89097"/>
                  <a:pt x="0" y="174715"/>
                </a:cubicBezTo>
              </a:path>
            </a:pathLst>
          </a:cu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stealth" w="lg" len="lg"/>
          </a:ln>
          <a:effectLst/>
        </p:spPr>
        <p:txBody>
          <a:bodyPr vert="horz" wrap="none" lIns="90000" tIns="82800" rIns="90000" bIns="82800" numCol="1" rtlCol="0" anchor="t" anchorCtr="1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68" name="Text Box 78"/>
          <p:cNvSpPr txBox="1">
            <a:spLocks noChangeArrowheads="1"/>
          </p:cNvSpPr>
          <p:nvPr/>
        </p:nvSpPr>
        <p:spPr bwMode="auto">
          <a:xfrm>
            <a:off x="6843660" y="3203628"/>
            <a:ext cx="350838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MRU</a:t>
            </a:r>
          </a:p>
        </p:txBody>
      </p:sp>
      <p:sp>
        <p:nvSpPr>
          <p:cNvPr id="33853" name="Text Box 19"/>
          <p:cNvSpPr txBox="1">
            <a:spLocks noChangeArrowheads="1"/>
          </p:cNvSpPr>
          <p:nvPr/>
        </p:nvSpPr>
        <p:spPr bwMode="auto">
          <a:xfrm>
            <a:off x="8371892" y="2150493"/>
            <a:ext cx="300038" cy="592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800" dirty="0">
                <a:solidFill>
                  <a:srgbClr val="FF0000"/>
                </a:solidFill>
                <a:latin typeface="Arial" panose="020B0604020202020204" pitchFamily="34" charset="0"/>
              </a:rPr>
              <a:t>-</a:t>
            </a:r>
          </a:p>
        </p:txBody>
      </p:sp>
      <p:sp>
        <p:nvSpPr>
          <p:cNvPr id="33854" name="Text Box 20"/>
          <p:cNvSpPr txBox="1">
            <a:spLocks noChangeArrowheads="1"/>
          </p:cNvSpPr>
          <p:nvPr/>
        </p:nvSpPr>
        <p:spPr bwMode="auto">
          <a:xfrm>
            <a:off x="8342775" y="723344"/>
            <a:ext cx="388938" cy="592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800" dirty="0">
                <a:solidFill>
                  <a:srgbClr val="FF0000"/>
                </a:solidFill>
                <a:latin typeface="Arial" panose="020B0604020202020204" pitchFamily="34" charset="0"/>
              </a:rPr>
              <a:t>+</a:t>
            </a:r>
          </a:p>
        </p:txBody>
      </p:sp>
      <p:sp>
        <p:nvSpPr>
          <p:cNvPr id="63" name="Text Box 33">
            <a:extLst>
              <a:ext uri="{FF2B5EF4-FFF2-40B4-BE49-F238E27FC236}">
                <a16:creationId xmlns:a16="http://schemas.microsoft.com/office/drawing/2014/main" id="{24F531C9-9FD8-4284-9D49-88210E7787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5623" y="5615561"/>
            <a:ext cx="2617106" cy="598104"/>
          </a:xfrm>
          <a:prstGeom prst="rect">
            <a:avLst/>
          </a:prstGeom>
          <a:noFill/>
          <a:ln>
            <a:noFill/>
          </a:ln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   </a:t>
            </a:r>
            <a:r>
              <a:rPr lang="es-ES" sz="2400" dirty="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s-ES" sz="2800" dirty="0">
                <a:solidFill>
                  <a:srgbClr val="000000"/>
                </a:solidFill>
                <a:sym typeface="Symbol" panose="05050102010706020507" pitchFamily="18" charset="2"/>
              </a:rPr>
              <a:t>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antihoraria</a:t>
            </a:r>
          </a:p>
        </p:txBody>
      </p:sp>
      <p:sp>
        <p:nvSpPr>
          <p:cNvPr id="65" name="Text Box 33">
            <a:extLst>
              <a:ext uri="{FF2B5EF4-FFF2-40B4-BE49-F238E27FC236}">
                <a16:creationId xmlns:a16="http://schemas.microsoft.com/office/drawing/2014/main" id="{61959DDA-8CC8-41D3-B0D7-B72D6A1A23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2784" y="5650625"/>
            <a:ext cx="2453392" cy="536549"/>
          </a:xfrm>
          <a:prstGeom prst="rect">
            <a:avLst/>
          </a:prstGeom>
          <a:noFill/>
          <a:ln>
            <a:noFill/>
          </a:ln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 </a:t>
            </a:r>
            <a:r>
              <a:rPr lang="es-ES" sz="2400" b="1" dirty="0" err="1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E</a:t>
            </a:r>
            <a:r>
              <a:rPr lang="es-ES" sz="2400" baseline="-25000" dirty="0" err="1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ind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antihor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.</a:t>
            </a:r>
          </a:p>
        </p:txBody>
      </p:sp>
      <p:sp>
        <p:nvSpPr>
          <p:cNvPr id="15" name="Text Box 78">
            <a:extLst>
              <a:ext uri="{FF2B5EF4-FFF2-40B4-BE49-F238E27FC236}">
                <a16:creationId xmlns:a16="http://schemas.microsoft.com/office/drawing/2014/main" id="{5C4510E6-4A2B-29EB-D7EE-23555273F9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6036" y="2269038"/>
            <a:ext cx="2228850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>
            <a:no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None/>
            </a:pPr>
            <a:r>
              <a:rPr lang="es-ES" sz="280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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ES" sz="2800">
                <a:solidFill>
                  <a:srgbClr val="FF0000"/>
                </a:solidFill>
                <a:latin typeface="Arial" panose="020B0604020202020204" pitchFamily="34" charset="0"/>
              </a:rPr>
              <a:t>=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 W </a:t>
            </a:r>
            <a:r>
              <a:rPr lang="es-ES" sz="2400" b="1">
                <a:solidFill>
                  <a:srgbClr val="FF0000"/>
                </a:solidFill>
                <a:latin typeface="Arial" panose="020B0604020202020204" pitchFamily="34" charset="0"/>
              </a:rPr>
              <a:t>E</a:t>
            </a:r>
            <a:r>
              <a:rPr lang="es-ES" sz="2400" baseline="-25000">
                <a:solidFill>
                  <a:srgbClr val="FF0000"/>
                </a:solidFill>
                <a:latin typeface="Arial" panose="020B0604020202020204" pitchFamily="34" charset="0"/>
              </a:rPr>
              <a:t>ind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 en espira (en C)</a:t>
            </a:r>
          </a:p>
        </p:txBody>
      </p:sp>
      <p:sp>
        <p:nvSpPr>
          <p:cNvPr id="16" name="Text Box 41">
            <a:extLst>
              <a:ext uri="{FF2B5EF4-FFF2-40B4-BE49-F238E27FC236}">
                <a16:creationId xmlns:a16="http://schemas.microsoft.com/office/drawing/2014/main" id="{92375D19-B3AD-801A-97E8-750B5F1988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7077" y="4522130"/>
            <a:ext cx="9046626" cy="905881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En Ohm: R</a:t>
            </a:r>
            <a:r>
              <a:rPr lang="es-ES" sz="2400">
                <a:latin typeface="Comic Sans MS" panose="030F0702030302020204" pitchFamily="66" charset="0"/>
              </a:rPr>
              <a:t>I</a:t>
            </a:r>
            <a:r>
              <a:rPr lang="es-ES" sz="2400">
                <a:latin typeface="Arial" panose="020B0604020202020204" pitchFamily="34" charset="0"/>
              </a:rPr>
              <a:t> es el W de </a:t>
            </a:r>
            <a:r>
              <a:rPr lang="es-ES" sz="2400" b="1">
                <a:latin typeface="Arial" panose="020B0604020202020204" pitchFamily="34" charset="0"/>
              </a:rPr>
              <a:t>E</a:t>
            </a:r>
            <a:r>
              <a:rPr lang="es-ES" sz="2400">
                <a:latin typeface="Arial" panose="020B0604020202020204" pitchFamily="34" charset="0"/>
              </a:rPr>
              <a:t> en el conductor. Es igual a una ddp, V, si </a:t>
            </a:r>
            <a:r>
              <a:rPr lang="es-ES" sz="2400" b="1">
                <a:latin typeface="Arial" panose="020B0604020202020204" pitchFamily="34" charset="0"/>
              </a:rPr>
              <a:t>E</a:t>
            </a:r>
            <a:r>
              <a:rPr lang="es-ES" sz="2400">
                <a:latin typeface="Arial" panose="020B0604020202020204" pitchFamily="34" charset="0"/>
              </a:rPr>
              <a:t> es conservativo (V = R</a:t>
            </a:r>
            <a:r>
              <a:rPr lang="es-ES" sz="2400">
                <a:latin typeface="Comic Sans MS" panose="030F0702030302020204" pitchFamily="66" charset="0"/>
              </a:rPr>
              <a:t>I</a:t>
            </a:r>
            <a:r>
              <a:rPr lang="es-ES" sz="2400">
                <a:latin typeface="Arial" panose="020B0604020202020204" pitchFamily="34" charset="0"/>
              </a:rPr>
              <a:t>). Si no lo es, no. El W es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 </a:t>
            </a:r>
            <a:r>
              <a:rPr lang="es-ES" sz="2400">
                <a:latin typeface="Arial" panose="020B0604020202020204" pitchFamily="34" charset="0"/>
              </a:rPr>
              <a:t>(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 </a:t>
            </a:r>
            <a:r>
              <a:rPr lang="es-ES" sz="2400">
                <a:latin typeface="Arial" panose="020B0604020202020204" pitchFamily="34" charset="0"/>
              </a:rPr>
              <a:t>= R</a:t>
            </a:r>
            <a:r>
              <a:rPr lang="es-ES" sz="2400">
                <a:latin typeface="Comic Sans MS" panose="030F0702030302020204" pitchFamily="66" charset="0"/>
              </a:rPr>
              <a:t>I</a:t>
            </a:r>
            <a:r>
              <a:rPr lang="es-ES" sz="2400">
                <a:latin typeface="Arial" panose="020B0604020202020204" pitchFamily="34" charset="0"/>
              </a:rPr>
              <a:t>)</a:t>
            </a:r>
            <a:endParaRPr lang="es-ES" sz="2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9669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46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746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3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/>
                                        <p:tgtEl>
                                          <p:spTgt spid="7465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746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/>
                                        <p:tgtEl>
                                          <p:spTgt spid="7465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746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338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338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500"/>
                            </p:stCondLst>
                            <p:childTnLst>
                              <p:par>
                                <p:cTn id="116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338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338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" grpId="0" animBg="1"/>
      <p:bldP spid="746529" grpId="0" animBg="1"/>
      <p:bldP spid="746532" grpId="0" animBg="1"/>
      <p:bldP spid="746537" grpId="0"/>
      <p:bldP spid="6" grpId="0"/>
      <p:bldP spid="62" grpId="0" animBg="1"/>
      <p:bldP spid="33839" grpId="0"/>
      <p:bldP spid="8" grpId="0" animBg="1"/>
      <p:bldP spid="68" grpId="0"/>
      <p:bldP spid="33853" grpId="0"/>
      <p:bldP spid="33854" grpId="0"/>
      <p:bldP spid="63" grpId="0"/>
      <p:bldP spid="65" grpId="0" animBg="1"/>
      <p:bldP spid="15" grpId="0"/>
      <p:bldP spid="1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671FA-9112-D723-E1AF-1AC3FF1EA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E170375-ACBD-2937-E87D-6675403ACB63}"/>
              </a:ext>
            </a:extLst>
          </p:cNvPr>
          <p:cNvSpPr/>
          <p:nvPr/>
        </p:nvSpPr>
        <p:spPr bwMode="auto">
          <a:xfrm>
            <a:off x="8667888" y="3606939"/>
            <a:ext cx="1176524" cy="589800"/>
          </a:xfrm>
          <a:prstGeom prst="rect">
            <a:avLst/>
          </a:prstGeom>
          <a:solidFill>
            <a:srgbClr val="FFFF00"/>
          </a:solidFill>
          <a:ln w="254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90000" tIns="82800" rIns="90000" bIns="82800" numCol="1" rtlCol="0" anchor="t" anchorCtr="1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33796" name="Text Box 4">
            <a:extLst>
              <a:ext uri="{FF2B5EF4-FFF2-40B4-BE49-F238E27FC236}">
                <a16:creationId xmlns:a16="http://schemas.microsoft.com/office/drawing/2014/main" id="{3581778E-68C0-46B3-636D-6834638CCE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11491" y="653236"/>
            <a:ext cx="4308475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000">
                <a:latin typeface="Arial" panose="020B0604020202020204" pitchFamily="34" charset="0"/>
              </a:rPr>
              <a:t>x  x  x  x  x  x  x  x  x  x  x  x  x  x  x</a:t>
            </a:r>
          </a:p>
        </p:txBody>
      </p:sp>
      <p:sp>
        <p:nvSpPr>
          <p:cNvPr id="33797" name="Line 6">
            <a:extLst>
              <a:ext uri="{FF2B5EF4-FFF2-40B4-BE49-F238E27FC236}">
                <a16:creationId xmlns:a16="http://schemas.microsoft.com/office/drawing/2014/main" id="{18DCC12A-9DDC-2A44-276A-FBA291AE357E}"/>
              </a:ext>
            </a:extLst>
          </p:cNvPr>
          <p:cNvSpPr>
            <a:spLocks noChangeShapeType="1"/>
          </p:cNvSpPr>
          <p:nvPr/>
        </p:nvSpPr>
        <p:spPr bwMode="auto">
          <a:xfrm>
            <a:off x="10142898" y="1059636"/>
            <a:ext cx="0" cy="1446212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stealth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82800" rIns="90000" bIns="82800" anchorCtr="1"/>
          <a:lstStyle/>
          <a:p>
            <a:endParaRPr lang="en-GB"/>
          </a:p>
        </p:txBody>
      </p:sp>
      <p:sp>
        <p:nvSpPr>
          <p:cNvPr id="33798" name="Text Box 7">
            <a:extLst>
              <a:ext uri="{FF2B5EF4-FFF2-40B4-BE49-F238E27FC236}">
                <a16:creationId xmlns:a16="http://schemas.microsoft.com/office/drawing/2014/main" id="{AED5E7BA-03A8-A349-91D7-AD0925BC61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21799" y="1529536"/>
            <a:ext cx="322263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</a:rPr>
              <a:t>L</a:t>
            </a:r>
          </a:p>
        </p:txBody>
      </p:sp>
      <p:sp>
        <p:nvSpPr>
          <p:cNvPr id="33799" name="Text Box 8">
            <a:extLst>
              <a:ext uri="{FF2B5EF4-FFF2-40B4-BE49-F238E27FC236}">
                <a16:creationId xmlns:a16="http://schemas.microsoft.com/office/drawing/2014/main" id="{E41BCAC9-0B3E-BECB-B844-BF33EB66F2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94028" y="991373"/>
            <a:ext cx="4308475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000">
                <a:latin typeface="Arial" panose="020B0604020202020204" pitchFamily="34" charset="0"/>
              </a:rPr>
              <a:t>x  x  x  x  x  x  x  x  x  x  x  x  x  x  x</a:t>
            </a:r>
          </a:p>
        </p:txBody>
      </p:sp>
      <p:sp>
        <p:nvSpPr>
          <p:cNvPr id="33800" name="Text Box 9">
            <a:extLst>
              <a:ext uri="{FF2B5EF4-FFF2-40B4-BE49-F238E27FC236}">
                <a16:creationId xmlns:a16="http://schemas.microsoft.com/office/drawing/2014/main" id="{1B26DCAF-284E-F4D3-8922-B0D8ECE651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98791" y="1351736"/>
            <a:ext cx="4308475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000">
                <a:latin typeface="Arial" panose="020B0604020202020204" pitchFamily="34" charset="0"/>
              </a:rPr>
              <a:t>x  x  x  x  x  x  x  x  x  x  x  x  x  x  x</a:t>
            </a:r>
          </a:p>
        </p:txBody>
      </p:sp>
      <p:sp>
        <p:nvSpPr>
          <p:cNvPr id="33801" name="Text Box 10">
            <a:extLst>
              <a:ext uri="{FF2B5EF4-FFF2-40B4-BE49-F238E27FC236}">
                <a16:creationId xmlns:a16="http://schemas.microsoft.com/office/drawing/2014/main" id="{F54C86AD-4DBD-2638-0F1B-45A10AADFD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03553" y="1689873"/>
            <a:ext cx="4308475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000">
                <a:latin typeface="Arial" panose="020B0604020202020204" pitchFamily="34" charset="0"/>
              </a:rPr>
              <a:t>x  x  x  x  x  x  x  x  x  x  x  x  x  x  x</a:t>
            </a:r>
          </a:p>
        </p:txBody>
      </p:sp>
      <p:sp>
        <p:nvSpPr>
          <p:cNvPr id="33802" name="Text Box 11">
            <a:extLst>
              <a:ext uri="{FF2B5EF4-FFF2-40B4-BE49-F238E27FC236}">
                <a16:creationId xmlns:a16="http://schemas.microsoft.com/office/drawing/2014/main" id="{59F52F8C-216C-E00A-88EB-53FD6FFEE1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97203" y="2035948"/>
            <a:ext cx="4308475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000">
                <a:latin typeface="Arial" panose="020B0604020202020204" pitchFamily="34" charset="0"/>
              </a:rPr>
              <a:t>x  </a:t>
            </a:r>
            <a:r>
              <a:rPr lang="es-ES" sz="2000" dirty="0">
                <a:latin typeface="Arial" panose="020B0604020202020204" pitchFamily="34" charset="0"/>
              </a:rPr>
              <a:t>x  x  x  x  x  x  x  x  x  x  x  x  x  x</a:t>
            </a:r>
          </a:p>
        </p:txBody>
      </p:sp>
      <p:sp>
        <p:nvSpPr>
          <p:cNvPr id="33803" name="Text Box 12">
            <a:extLst>
              <a:ext uri="{FF2B5EF4-FFF2-40B4-BE49-F238E27FC236}">
                <a16:creationId xmlns:a16="http://schemas.microsoft.com/office/drawing/2014/main" id="{1087B33D-A8D6-E787-F008-DF9604CC5B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90853" y="2405836"/>
            <a:ext cx="4308475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000">
                <a:latin typeface="Arial" panose="020B0604020202020204" pitchFamily="34" charset="0"/>
              </a:rPr>
              <a:t>x  </a:t>
            </a:r>
            <a:r>
              <a:rPr lang="es-ES" sz="2000" dirty="0">
                <a:latin typeface="Arial" panose="020B0604020202020204" pitchFamily="34" charset="0"/>
              </a:rPr>
              <a:t>x  x  x  x  x  x  x  x  x  x  x  x  x  x</a:t>
            </a:r>
          </a:p>
        </p:txBody>
      </p:sp>
      <p:sp>
        <p:nvSpPr>
          <p:cNvPr id="33804" name="Line 13">
            <a:extLst>
              <a:ext uri="{FF2B5EF4-FFF2-40B4-BE49-F238E27FC236}">
                <a16:creationId xmlns:a16="http://schemas.microsoft.com/office/drawing/2014/main" id="{202606EB-B1F6-6E30-1B45-209D9EE89E7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53650" y="2505844"/>
            <a:ext cx="3506788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82800" rIns="90000" bIns="82800" anchorCtr="1"/>
          <a:lstStyle/>
          <a:p>
            <a:endParaRPr lang="en-GB"/>
          </a:p>
        </p:txBody>
      </p:sp>
      <p:sp>
        <p:nvSpPr>
          <p:cNvPr id="33805" name="Line 14">
            <a:extLst>
              <a:ext uri="{FF2B5EF4-FFF2-40B4-BE49-F238E27FC236}">
                <a16:creationId xmlns:a16="http://schemas.microsoft.com/office/drawing/2014/main" id="{7F7A03D7-0D6E-F2DF-9895-E30BD978EF9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69525" y="1061223"/>
            <a:ext cx="3541713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82800" rIns="90000" bIns="82800" anchorCtr="1"/>
          <a:lstStyle/>
          <a:p>
            <a:endParaRPr lang="en-GB"/>
          </a:p>
        </p:txBody>
      </p:sp>
      <p:sp>
        <p:nvSpPr>
          <p:cNvPr id="33806" name="AutoShape 15">
            <a:extLst>
              <a:ext uri="{FF2B5EF4-FFF2-40B4-BE49-F238E27FC236}">
                <a16:creationId xmlns:a16="http://schemas.microsoft.com/office/drawing/2014/main" id="{83E34152-39DF-C134-3E55-012DCA2EC421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8247525" y="938986"/>
            <a:ext cx="542925" cy="1609725"/>
          </a:xfrm>
          <a:prstGeom prst="can">
            <a:avLst>
              <a:gd name="adj" fmla="val 26396"/>
            </a:avLst>
          </a:prstGeom>
          <a:solidFill>
            <a:srgbClr val="EDE7E3"/>
          </a:solidFill>
          <a:ln w="25400">
            <a:solidFill>
              <a:srgbClr val="0000FF"/>
            </a:solidFill>
            <a:round/>
            <a:headEnd/>
            <a:tailEnd type="none" w="lg" len="lg"/>
          </a:ln>
        </p:spPr>
        <p:txBody>
          <a:bodyPr rot="10800000" wrap="none" lIns="90000" tIns="82800" rIns="90000" bIns="82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3807" name="Line 16">
            <a:extLst>
              <a:ext uri="{FF2B5EF4-FFF2-40B4-BE49-F238E27FC236}">
                <a16:creationId xmlns:a16="http://schemas.microsoft.com/office/drawing/2014/main" id="{A330C502-04E1-FFEF-136A-77C423BEDA4B}"/>
              </a:ext>
            </a:extLst>
          </p:cNvPr>
          <p:cNvSpPr>
            <a:spLocks noChangeShapeType="1"/>
          </p:cNvSpPr>
          <p:nvPr/>
        </p:nvSpPr>
        <p:spPr bwMode="auto">
          <a:xfrm>
            <a:off x="8735297" y="499248"/>
            <a:ext cx="376237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82800" rIns="90000" bIns="82800" anchorCtr="1"/>
          <a:lstStyle/>
          <a:p>
            <a:endParaRPr lang="en-GB"/>
          </a:p>
        </p:txBody>
      </p:sp>
      <p:graphicFrame>
        <p:nvGraphicFramePr>
          <p:cNvPr id="33808" name="Object 17">
            <a:extLst>
              <a:ext uri="{FF2B5EF4-FFF2-40B4-BE49-F238E27FC236}">
                <a16:creationId xmlns:a16="http://schemas.microsoft.com/office/drawing/2014/main" id="{3A8C1B56-81D2-91FF-98D3-108784FABA1D}"/>
              </a:ext>
            </a:extLst>
          </p:cNvPr>
          <p:cNvGraphicFramePr>
            <a:graphicFrameLocks noGrp="1" noChangeAspect="1"/>
          </p:cNvGraphicFramePr>
          <p:nvPr>
            <p:ph/>
          </p:nvPr>
        </p:nvGraphicFramePr>
        <p:xfrm>
          <a:off x="8381602" y="268584"/>
          <a:ext cx="307340" cy="4295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3" imgW="126725" imgH="177415" progId="Equation.3">
                  <p:embed/>
                </p:oleObj>
              </mc:Choice>
              <mc:Fallback>
                <p:oleObj name="Ecuación" r:id="rId3" imgW="126725" imgH="177415" progId="Equation.3">
                  <p:embed/>
                  <p:pic>
                    <p:nvPicPr>
                      <p:cNvPr id="33808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1602" y="268584"/>
                        <a:ext cx="307340" cy="4295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6528" name="Object 32">
            <a:extLst>
              <a:ext uri="{FF2B5EF4-FFF2-40B4-BE49-F238E27FC236}">
                <a16:creationId xmlns:a16="http://schemas.microsoft.com/office/drawing/2014/main" id="{4DCE9755-9A50-0A43-0D70-A278D260BC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49236" y="3461445"/>
          <a:ext cx="6464300" cy="101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5" imgW="3200400" imgH="444500" progId="Equation.3">
                  <p:embed/>
                </p:oleObj>
              </mc:Choice>
              <mc:Fallback>
                <p:oleObj name="Ecuación" r:id="rId5" imgW="3200400" imgH="444500" progId="Equation.3">
                  <p:embed/>
                  <p:pic>
                    <p:nvPicPr>
                      <p:cNvPr id="746528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9236" y="3461445"/>
                        <a:ext cx="6464300" cy="1012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12" name="Line 34">
            <a:extLst>
              <a:ext uri="{FF2B5EF4-FFF2-40B4-BE49-F238E27FC236}">
                <a16:creationId xmlns:a16="http://schemas.microsoft.com/office/drawing/2014/main" id="{A2883FAC-2C90-4F23-5F3E-EF05883C1D8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60000" y="1061223"/>
            <a:ext cx="0" cy="142240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82800" rIns="90000" bIns="82800" anchorCtr="1"/>
          <a:lstStyle/>
          <a:p>
            <a:endParaRPr lang="en-GB"/>
          </a:p>
        </p:txBody>
      </p:sp>
      <p:sp>
        <p:nvSpPr>
          <p:cNvPr id="33813" name="Rectangle 38">
            <a:extLst>
              <a:ext uri="{FF2B5EF4-FFF2-40B4-BE49-F238E27FC236}">
                <a16:creationId xmlns:a16="http://schemas.microsoft.com/office/drawing/2014/main" id="{89F5B47F-9114-9013-79D5-B82258A92F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6013" y="1407298"/>
            <a:ext cx="323850" cy="763588"/>
          </a:xfrm>
          <a:prstGeom prst="rect">
            <a:avLst/>
          </a:prstGeom>
          <a:solidFill>
            <a:srgbClr val="EDE7E3"/>
          </a:solidFill>
          <a:ln w="25400" algn="ctr">
            <a:solidFill>
              <a:srgbClr val="0000FF"/>
            </a:solidFill>
            <a:miter lim="800000"/>
            <a:headEnd/>
            <a:tailEnd type="none" w="lg" len="lg"/>
          </a:ln>
        </p:spPr>
        <p:txBody>
          <a:bodyPr wrap="none" lIns="90000" tIns="82800" rIns="90000" bIns="82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46532" name="Rectangle 36">
            <a:extLst>
              <a:ext uri="{FF2B5EF4-FFF2-40B4-BE49-F238E27FC236}">
                <a16:creationId xmlns:a16="http://schemas.microsoft.com/office/drawing/2014/main" id="{5DB3BA87-4BCF-3F99-2D79-42A7B8715F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5238" y="1051698"/>
            <a:ext cx="2051050" cy="1446213"/>
          </a:xfrm>
          <a:prstGeom prst="rect">
            <a:avLst/>
          </a:prstGeom>
          <a:solidFill>
            <a:srgbClr val="FFFF99">
              <a:alpha val="70195"/>
            </a:srgbClr>
          </a:solidFill>
          <a:ln w="38100" algn="ctr">
            <a:solidFill>
              <a:srgbClr val="008000"/>
            </a:solidFill>
            <a:prstDash val="dash"/>
            <a:miter lim="800000"/>
            <a:headEnd/>
            <a:tailEnd type="none" w="lg" len="lg"/>
          </a:ln>
        </p:spPr>
        <p:txBody>
          <a:bodyPr wrap="none" lIns="90000" tIns="82800" rIns="90000" bIns="82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3815" name="Text Box 39">
            <a:extLst>
              <a:ext uri="{FF2B5EF4-FFF2-40B4-BE49-F238E27FC236}">
                <a16:creationId xmlns:a16="http://schemas.microsoft.com/office/drawing/2014/main" id="{92F1FC6D-68A1-B401-1D26-2093A29501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77438" y="1540648"/>
            <a:ext cx="365125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1">
                <a:solidFill>
                  <a:srgbClr val="3333FF"/>
                </a:solidFill>
                <a:latin typeface="Arial" panose="020B0604020202020204" pitchFamily="34" charset="0"/>
              </a:rPr>
              <a:t>R</a:t>
            </a:r>
          </a:p>
        </p:txBody>
      </p:sp>
      <p:grpSp>
        <p:nvGrpSpPr>
          <p:cNvPr id="4" name="Group 63">
            <a:extLst>
              <a:ext uri="{FF2B5EF4-FFF2-40B4-BE49-F238E27FC236}">
                <a16:creationId xmlns:a16="http://schemas.microsoft.com/office/drawing/2014/main" id="{31A27365-7D35-5BC2-B6D8-35AC35323D99}"/>
              </a:ext>
            </a:extLst>
          </p:cNvPr>
          <p:cNvGrpSpPr>
            <a:grpSpLocks/>
          </p:cNvGrpSpPr>
          <p:nvPr/>
        </p:nvGrpSpPr>
        <p:grpSpPr bwMode="auto">
          <a:xfrm>
            <a:off x="7050550" y="1515249"/>
            <a:ext cx="1924050" cy="714376"/>
            <a:chOff x="1948" y="1650"/>
            <a:chExt cx="1212" cy="450"/>
          </a:xfrm>
        </p:grpSpPr>
        <p:sp>
          <p:nvSpPr>
            <p:cNvPr id="33851" name="Text Box 37">
              <a:extLst>
                <a:ext uri="{FF2B5EF4-FFF2-40B4-BE49-F238E27FC236}">
                  <a16:creationId xmlns:a16="http://schemas.microsoft.com/office/drawing/2014/main" id="{4146FFDB-1030-E0C3-5600-7C42B35611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48" y="1804"/>
              <a:ext cx="220" cy="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1">
                  <a:latin typeface="Arial" panose="020B0604020202020204" pitchFamily="34" charset="0"/>
                </a:rPr>
                <a:t>S</a:t>
              </a:r>
            </a:p>
          </p:txBody>
        </p:sp>
        <p:sp>
          <p:nvSpPr>
            <p:cNvPr id="33852" name="Text Box 40">
              <a:extLst>
                <a:ext uri="{FF2B5EF4-FFF2-40B4-BE49-F238E27FC236}">
                  <a16:creationId xmlns:a16="http://schemas.microsoft.com/office/drawing/2014/main" id="{5FC0ED93-F9D4-FC9B-6D9F-5EDDEC1428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30" y="1650"/>
              <a:ext cx="230" cy="339"/>
            </a:xfrm>
            <a:prstGeom prst="rect">
              <a:avLst/>
            </a:prstGeom>
            <a:solidFill>
              <a:srgbClr val="EDE7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1" dirty="0">
                  <a:solidFill>
                    <a:srgbClr val="008000"/>
                  </a:solidFill>
                  <a:latin typeface="Arial" panose="020B0604020202020204" pitchFamily="34" charset="0"/>
                </a:rPr>
                <a:t>C</a:t>
              </a:r>
            </a:p>
          </p:txBody>
        </p:sp>
      </p:grpSp>
      <p:grpSp>
        <p:nvGrpSpPr>
          <p:cNvPr id="9" name="Grupo 8">
            <a:extLst>
              <a:ext uri="{FF2B5EF4-FFF2-40B4-BE49-F238E27FC236}">
                <a16:creationId xmlns:a16="http://schemas.microsoft.com/office/drawing/2014/main" id="{0C21E44C-AA75-13DA-1D4B-AF8C6B6EAE83}"/>
              </a:ext>
            </a:extLst>
          </p:cNvPr>
          <p:cNvGrpSpPr/>
          <p:nvPr/>
        </p:nvGrpSpPr>
        <p:grpSpPr>
          <a:xfrm>
            <a:off x="5266989" y="1507221"/>
            <a:ext cx="500214" cy="592138"/>
            <a:chOff x="719190" y="1738331"/>
            <a:chExt cx="500214" cy="592138"/>
          </a:xfrm>
        </p:grpSpPr>
        <p:sp>
          <p:nvSpPr>
            <p:cNvPr id="3" name="Rectángulo 2">
              <a:extLst>
                <a:ext uri="{FF2B5EF4-FFF2-40B4-BE49-F238E27FC236}">
                  <a16:creationId xmlns:a16="http://schemas.microsoft.com/office/drawing/2014/main" id="{C0D8A127-765E-CCA6-EB8B-5F7E3834C29C}"/>
                </a:ext>
              </a:extLst>
            </p:cNvPr>
            <p:cNvSpPr/>
            <p:nvPr/>
          </p:nvSpPr>
          <p:spPr bwMode="auto">
            <a:xfrm>
              <a:off x="719190" y="1738331"/>
              <a:ext cx="500214" cy="592138"/>
            </a:xfrm>
            <a:prstGeom prst="rect">
              <a:avLst/>
            </a:prstGeom>
            <a:solidFill>
              <a:srgbClr val="FFFF00"/>
            </a:solidFill>
            <a:ln w="25400" cap="flat" cmpd="sng" algn="ctr">
              <a:noFill/>
              <a:prstDash val="solid"/>
              <a:round/>
              <a:headEnd type="none" w="med" len="med"/>
              <a:tailEnd type="none" w="lg" len="lg"/>
            </a:ln>
            <a:effectLst/>
          </p:spPr>
          <p:txBody>
            <a:bodyPr vert="horz" wrap="none" lIns="90000" tIns="82800" rIns="90000" bIns="82800" numCol="1" rtlCol="0" anchor="t" anchorCtr="1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grpSp>
          <p:nvGrpSpPr>
            <p:cNvPr id="33841" name="Group 43">
              <a:extLst>
                <a:ext uri="{FF2B5EF4-FFF2-40B4-BE49-F238E27FC236}">
                  <a16:creationId xmlns:a16="http://schemas.microsoft.com/office/drawing/2014/main" id="{0AB57C61-446B-06B1-15CD-9A95ABCD2E3B}"/>
                </a:ext>
              </a:extLst>
            </p:cNvPr>
            <p:cNvGrpSpPr>
              <a:grpSpLocks/>
            </p:cNvGrpSpPr>
            <p:nvPr/>
          </p:nvGrpSpPr>
          <p:grpSpPr bwMode="auto">
            <a:xfrm rot="10800000" flipH="1">
              <a:off x="770320" y="1824893"/>
              <a:ext cx="407988" cy="422275"/>
              <a:chOff x="1213" y="3526"/>
              <a:chExt cx="257" cy="266"/>
            </a:xfrm>
          </p:grpSpPr>
          <p:sp>
            <p:nvSpPr>
              <p:cNvPr id="33848" name="Line 44">
                <a:extLst>
                  <a:ext uri="{FF2B5EF4-FFF2-40B4-BE49-F238E27FC236}">
                    <a16:creationId xmlns:a16="http://schemas.microsoft.com/office/drawing/2014/main" id="{6AC7EA2B-411E-21C2-064E-0F68482D88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213" y="3526"/>
                <a:ext cx="257" cy="14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3849" name="Line 45">
                <a:extLst>
                  <a:ext uri="{FF2B5EF4-FFF2-40B4-BE49-F238E27FC236}">
                    <a16:creationId xmlns:a16="http://schemas.microsoft.com/office/drawing/2014/main" id="{AF41BB15-07A3-B6C9-5834-D4F4E45252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19" y="3685"/>
                <a:ext cx="251" cy="10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3850" name="Oval 46">
                <a:extLst>
                  <a:ext uri="{FF2B5EF4-FFF2-40B4-BE49-F238E27FC236}">
                    <a16:creationId xmlns:a16="http://schemas.microsoft.com/office/drawing/2014/main" id="{EC8D4E60-01EE-73BD-2D99-136F1F96E5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75" y="3562"/>
                <a:ext cx="56" cy="197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rot="10800000" wrap="none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10" name="Grupo 9">
            <a:extLst>
              <a:ext uri="{FF2B5EF4-FFF2-40B4-BE49-F238E27FC236}">
                <a16:creationId xmlns:a16="http://schemas.microsoft.com/office/drawing/2014/main" id="{1A25C062-6EA8-A5C4-5675-63B9EBF8646E}"/>
              </a:ext>
            </a:extLst>
          </p:cNvPr>
          <p:cNvGrpSpPr/>
          <p:nvPr/>
        </p:nvGrpSpPr>
        <p:grpSpPr>
          <a:xfrm>
            <a:off x="6731555" y="1199989"/>
            <a:ext cx="1477963" cy="1089026"/>
            <a:chOff x="2341946" y="-243585"/>
            <a:chExt cx="1477963" cy="1089026"/>
          </a:xfrm>
        </p:grpSpPr>
        <p:sp>
          <p:nvSpPr>
            <p:cNvPr id="33842" name="AutoShape 47">
              <a:extLst>
                <a:ext uri="{FF2B5EF4-FFF2-40B4-BE49-F238E27FC236}">
                  <a16:creationId xmlns:a16="http://schemas.microsoft.com/office/drawing/2014/main" id="{B76ACDBF-4952-727F-9F03-CA652396374D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2341946" y="-243585"/>
              <a:ext cx="558800" cy="50800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3191 w 21600"/>
                <a:gd name="T19" fmla="*/ 3173 h 21600"/>
                <a:gd name="T20" fmla="*/ 18409 w 21600"/>
                <a:gd name="T21" fmla="*/ 18428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0983" y="18021"/>
                  </a:moveTo>
                  <a:cubicBezTo>
                    <a:pt x="14900" y="17921"/>
                    <a:pt x="18024" y="14718"/>
                    <a:pt x="18024" y="10800"/>
                  </a:cubicBezTo>
                  <a:cubicBezTo>
                    <a:pt x="18024" y="6810"/>
                    <a:pt x="14789" y="3576"/>
                    <a:pt x="10800" y="3576"/>
                  </a:cubicBezTo>
                  <a:cubicBezTo>
                    <a:pt x="6810" y="3576"/>
                    <a:pt x="3576" y="6810"/>
                    <a:pt x="3576" y="10800"/>
                  </a:cubicBezTo>
                  <a:lnTo>
                    <a:pt x="0" y="10800"/>
                  </a:lnTo>
                  <a:cubicBezTo>
                    <a:pt x="0" y="4835"/>
                    <a:pt x="4835" y="0"/>
                    <a:pt x="10800" y="0"/>
                  </a:cubicBezTo>
                  <a:cubicBezTo>
                    <a:pt x="16764" y="0"/>
                    <a:pt x="21600" y="4835"/>
                    <a:pt x="21600" y="10800"/>
                  </a:cubicBezTo>
                  <a:cubicBezTo>
                    <a:pt x="21600" y="16657"/>
                    <a:pt x="16930" y="21447"/>
                    <a:pt x="11075" y="21596"/>
                  </a:cubicBezTo>
                  <a:lnTo>
                    <a:pt x="11143" y="24295"/>
                  </a:lnTo>
                  <a:lnTo>
                    <a:pt x="6542" y="19923"/>
                  </a:lnTo>
                  <a:lnTo>
                    <a:pt x="10915" y="15322"/>
                  </a:lnTo>
                  <a:lnTo>
                    <a:pt x="10983" y="18021"/>
                  </a:lnTo>
                  <a:close/>
                </a:path>
              </a:pathLst>
            </a:custGeom>
            <a:solidFill>
              <a:srgbClr val="3333FF"/>
            </a:solidFill>
            <a:ln w="25400" algn="ctr">
              <a:noFill/>
              <a:miter lim="800000"/>
              <a:headEnd/>
              <a:tailEnd type="none" w="lg" len="lg"/>
            </a:ln>
          </p:spPr>
          <p:txBody>
            <a:bodyPr wrap="none" lIns="90000" tIns="82800" rIns="90000" bIns="82800" anchor="ctr"/>
            <a:lstStyle/>
            <a:p>
              <a:endParaRPr lang="en-GB"/>
            </a:p>
          </p:txBody>
        </p:sp>
        <p:sp>
          <p:nvSpPr>
            <p:cNvPr id="33843" name="Text Box 48">
              <a:extLst>
                <a:ext uri="{FF2B5EF4-FFF2-40B4-BE49-F238E27FC236}">
                  <a16:creationId xmlns:a16="http://schemas.microsoft.com/office/drawing/2014/main" id="{69C148CE-06A2-998A-1E2C-2C562B50C4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57833" y="-230885"/>
              <a:ext cx="328613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1">
                  <a:solidFill>
                    <a:srgbClr val="3333FF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  <p:sp>
          <p:nvSpPr>
            <p:cNvPr id="33844" name="Rectangle 50">
              <a:extLst>
                <a:ext uri="{FF2B5EF4-FFF2-40B4-BE49-F238E27FC236}">
                  <a16:creationId xmlns:a16="http://schemas.microsoft.com/office/drawing/2014/main" id="{EB80B1CD-358D-23BB-A6A3-DAAE3F8E34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0646" y="666053"/>
              <a:ext cx="179388" cy="17938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3845" name="Line 49">
              <a:extLst>
                <a:ext uri="{FF2B5EF4-FFF2-40B4-BE49-F238E27FC236}">
                  <a16:creationId xmlns:a16="http://schemas.microsoft.com/office/drawing/2014/main" id="{819C45C3-AECB-A1F8-5D9A-1326DF5B835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192846" y="429515"/>
              <a:ext cx="266700" cy="3175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Ctr="1"/>
            <a:lstStyle/>
            <a:p>
              <a:endParaRPr lang="en-GB"/>
            </a:p>
          </p:txBody>
        </p:sp>
        <p:sp>
          <p:nvSpPr>
            <p:cNvPr id="33846" name="Text Box 51">
              <a:extLst>
                <a:ext uri="{FF2B5EF4-FFF2-40B4-BE49-F238E27FC236}">
                  <a16:creationId xmlns:a16="http://schemas.microsoft.com/office/drawing/2014/main" id="{E6F594E0-DB95-3942-9629-2C488B951C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27784" y="242190"/>
              <a:ext cx="492125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dS</a:t>
              </a:r>
            </a:p>
          </p:txBody>
        </p:sp>
        <p:sp>
          <p:nvSpPr>
            <p:cNvPr id="33847" name="Line 52">
              <a:extLst>
                <a:ext uri="{FF2B5EF4-FFF2-40B4-BE49-F238E27FC236}">
                  <a16:creationId xmlns:a16="http://schemas.microsoft.com/office/drawing/2014/main" id="{F664E9A7-D389-3C49-0A7A-344DD2E860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73846" y="340615"/>
              <a:ext cx="1444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Ctr="1"/>
            <a:lstStyle/>
            <a:p>
              <a:endParaRPr lang="en-GB"/>
            </a:p>
          </p:txBody>
        </p:sp>
      </p:grpSp>
      <p:grpSp>
        <p:nvGrpSpPr>
          <p:cNvPr id="12" name="Group 81">
            <a:extLst>
              <a:ext uri="{FF2B5EF4-FFF2-40B4-BE49-F238E27FC236}">
                <a16:creationId xmlns:a16="http://schemas.microsoft.com/office/drawing/2014/main" id="{2D8FF7D8-462A-976D-5EB9-7A37938288C0}"/>
              </a:ext>
            </a:extLst>
          </p:cNvPr>
          <p:cNvGrpSpPr>
            <a:grpSpLocks/>
          </p:cNvGrpSpPr>
          <p:nvPr/>
        </p:nvGrpSpPr>
        <p:grpSpPr bwMode="auto">
          <a:xfrm>
            <a:off x="4471798" y="3093147"/>
            <a:ext cx="984251" cy="1068388"/>
            <a:chOff x="2591" y="3104"/>
            <a:chExt cx="620" cy="673"/>
          </a:xfrm>
        </p:grpSpPr>
        <p:sp>
          <p:nvSpPr>
            <p:cNvPr id="33837" name="Text Box 78">
              <a:extLst>
                <a:ext uri="{FF2B5EF4-FFF2-40B4-BE49-F238E27FC236}">
                  <a16:creationId xmlns:a16="http://schemas.microsoft.com/office/drawing/2014/main" id="{FA72D66C-6CB2-2D7B-0C31-2117172507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90" y="3104"/>
              <a:ext cx="221" cy="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FF0000"/>
                  </a:solidFill>
                  <a:latin typeface="Arial" panose="020B0604020202020204" pitchFamily="34" charset="0"/>
                </a:rPr>
                <a:t>S</a:t>
              </a:r>
            </a:p>
          </p:txBody>
        </p:sp>
        <p:sp>
          <p:nvSpPr>
            <p:cNvPr id="33838" name="Line 79">
              <a:extLst>
                <a:ext uri="{FF2B5EF4-FFF2-40B4-BE49-F238E27FC236}">
                  <a16:creationId xmlns:a16="http://schemas.microsoft.com/office/drawing/2014/main" id="{5AC05263-2DD2-5B7B-2807-708C87AFB4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91" y="3427"/>
              <a:ext cx="413" cy="35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Ctr="1"/>
            <a:lstStyle/>
            <a:p>
              <a:endParaRPr lang="en-GB"/>
            </a:p>
          </p:txBody>
        </p:sp>
      </p:grpSp>
      <p:grpSp>
        <p:nvGrpSpPr>
          <p:cNvPr id="13" name="Group 21">
            <a:extLst>
              <a:ext uri="{FF2B5EF4-FFF2-40B4-BE49-F238E27FC236}">
                <a16:creationId xmlns:a16="http://schemas.microsoft.com/office/drawing/2014/main" id="{4E9AE59C-5E0A-6840-EABE-8C99173A7BE0}"/>
              </a:ext>
            </a:extLst>
          </p:cNvPr>
          <p:cNvGrpSpPr>
            <a:grpSpLocks/>
          </p:cNvGrpSpPr>
          <p:nvPr/>
        </p:nvGrpSpPr>
        <p:grpSpPr bwMode="auto">
          <a:xfrm>
            <a:off x="7190198" y="581798"/>
            <a:ext cx="403225" cy="2401888"/>
            <a:chOff x="2005" y="1062"/>
            <a:chExt cx="254" cy="1513"/>
          </a:xfrm>
        </p:grpSpPr>
        <p:sp>
          <p:nvSpPr>
            <p:cNvPr id="33833" name="Line 22">
              <a:extLst>
                <a:ext uri="{FF2B5EF4-FFF2-40B4-BE49-F238E27FC236}">
                  <a16:creationId xmlns:a16="http://schemas.microsoft.com/office/drawing/2014/main" id="{8A953600-4FEA-B32F-91DA-EACDD52CA9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22" y="2274"/>
              <a:ext cx="237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Ctr="1"/>
            <a:lstStyle/>
            <a:p>
              <a:endParaRPr lang="en-GB"/>
            </a:p>
          </p:txBody>
        </p:sp>
        <p:sp>
          <p:nvSpPr>
            <p:cNvPr id="33834" name="Line 23">
              <a:extLst>
                <a:ext uri="{FF2B5EF4-FFF2-40B4-BE49-F238E27FC236}">
                  <a16:creationId xmlns:a16="http://schemas.microsoft.com/office/drawing/2014/main" id="{7C394E2E-3FA2-8BBF-D894-E8BCC92806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05" y="1366"/>
              <a:ext cx="237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Ctr="1"/>
            <a:lstStyle/>
            <a:p>
              <a:endParaRPr lang="en-GB"/>
            </a:p>
          </p:txBody>
        </p:sp>
        <p:sp>
          <p:nvSpPr>
            <p:cNvPr id="33835" name="Text Box 25">
              <a:extLst>
                <a:ext uri="{FF2B5EF4-FFF2-40B4-BE49-F238E27FC236}">
                  <a16:creationId xmlns:a16="http://schemas.microsoft.com/office/drawing/2014/main" id="{62FB0416-5B9C-EF5F-624B-D989FB6B41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30" y="2279"/>
              <a:ext cx="201" cy="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1">
                  <a:solidFill>
                    <a:srgbClr val="3333FF"/>
                  </a:solidFill>
                  <a:latin typeface="Comic Sans MS" panose="030F0702030302020204" pitchFamily="66" charset="0"/>
                </a:rPr>
                <a:t>I</a:t>
              </a:r>
            </a:p>
          </p:txBody>
        </p:sp>
        <p:sp>
          <p:nvSpPr>
            <p:cNvPr id="33836" name="Text Box 24">
              <a:extLst>
                <a:ext uri="{FF2B5EF4-FFF2-40B4-BE49-F238E27FC236}">
                  <a16:creationId xmlns:a16="http://schemas.microsoft.com/office/drawing/2014/main" id="{087B3DBF-3DDF-F499-132C-37B84D1456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34" y="1062"/>
              <a:ext cx="201" cy="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1">
                  <a:solidFill>
                    <a:srgbClr val="3333FF"/>
                  </a:solidFill>
                  <a:latin typeface="Comic Sans MS" panose="030F0702030302020204" pitchFamily="66" charset="0"/>
                </a:rPr>
                <a:t>I</a:t>
              </a:r>
            </a:p>
          </p:txBody>
        </p:sp>
      </p:grpSp>
      <p:sp>
        <p:nvSpPr>
          <p:cNvPr id="6" name="CuadroTexto 5">
            <a:extLst>
              <a:ext uri="{FF2B5EF4-FFF2-40B4-BE49-F238E27FC236}">
                <a16:creationId xmlns:a16="http://schemas.microsoft.com/office/drawing/2014/main" id="{055B6FC5-1444-C649-912A-10536E8658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91395" y="3607863"/>
            <a:ext cx="1653017" cy="5232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 dirty="0">
                <a:latin typeface="Comic Sans MS" panose="030F0702030302020204" pitchFamily="66" charset="0"/>
                <a:sym typeface="Symbol" panose="05050102010706020507" pitchFamily="18" charset="2"/>
              </a:rPr>
              <a:t>  I</a:t>
            </a:r>
            <a:r>
              <a:rPr lang="es-ES" sz="2400" dirty="0">
                <a:sym typeface="Symbol" panose="05050102010706020507" pitchFamily="18" charset="2"/>
              </a:rPr>
              <a:t> = </a:t>
            </a:r>
            <a:r>
              <a:rPr lang="es-ES" sz="2800" dirty="0">
                <a:sym typeface="Symbol" panose="05050102010706020507" pitchFamily="18" charset="2"/>
              </a:rPr>
              <a:t></a:t>
            </a:r>
            <a:r>
              <a:rPr lang="es-ES" sz="2400" dirty="0">
                <a:sym typeface="Symbol" panose="05050102010706020507" pitchFamily="18" charset="2"/>
              </a:rPr>
              <a:t>/R</a:t>
            </a:r>
            <a:endParaRPr lang="es-ES" sz="2400" dirty="0"/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7E69846F-DC36-5A16-7700-021BEF066C2E}"/>
              </a:ext>
            </a:extLst>
          </p:cNvPr>
          <p:cNvGrpSpPr>
            <a:grpSpLocks/>
          </p:cNvGrpSpPr>
          <p:nvPr/>
        </p:nvGrpSpPr>
        <p:grpSpPr bwMode="auto">
          <a:xfrm>
            <a:off x="2981134" y="3060369"/>
            <a:ext cx="589342" cy="1158314"/>
            <a:chOff x="2543175" y="4608182"/>
            <a:chExt cx="590136" cy="1156929"/>
          </a:xfrm>
        </p:grpSpPr>
        <p:sp>
          <p:nvSpPr>
            <p:cNvPr id="33831" name="Text Box 75">
              <a:extLst>
                <a:ext uri="{FF2B5EF4-FFF2-40B4-BE49-F238E27FC236}">
                  <a16:creationId xmlns:a16="http://schemas.microsoft.com/office/drawing/2014/main" id="{30FC334D-5BBE-8C9F-51E2-EAC098C61E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26911" y="4608182"/>
              <a:ext cx="406400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FF0000"/>
                  </a:solidFill>
                  <a:latin typeface="Arial" panose="020B0604020202020204" pitchFamily="34" charset="0"/>
                </a:rPr>
                <a:t>-B</a:t>
              </a:r>
            </a:p>
          </p:txBody>
        </p:sp>
        <p:sp>
          <p:nvSpPr>
            <p:cNvPr id="33832" name="Line 79">
              <a:extLst>
                <a:ext uri="{FF2B5EF4-FFF2-40B4-BE49-F238E27FC236}">
                  <a16:creationId xmlns:a16="http://schemas.microsoft.com/office/drawing/2014/main" id="{7DD191A3-E81E-8511-77B7-000B388CD53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43175" y="5098414"/>
              <a:ext cx="366713" cy="666697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Ctr="1"/>
            <a:lstStyle/>
            <a:p>
              <a:endParaRPr lang="en-GB"/>
            </a:p>
          </p:txBody>
        </p:sp>
      </p:grpSp>
      <p:sp>
        <p:nvSpPr>
          <p:cNvPr id="62" name="CuadroTexto 61">
            <a:extLst>
              <a:ext uri="{FF2B5EF4-FFF2-40B4-BE49-F238E27FC236}">
                <a16:creationId xmlns:a16="http://schemas.microsoft.com/office/drawing/2014/main" id="{413DD58D-537B-D687-21CB-41B8FB4A63F6}"/>
              </a:ext>
            </a:extLst>
          </p:cNvPr>
          <p:cNvSpPr txBox="1"/>
          <p:nvPr/>
        </p:nvSpPr>
        <p:spPr>
          <a:xfrm>
            <a:off x="1254624" y="321244"/>
            <a:ext cx="3852210" cy="830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s-ES" sz="2400" dirty="0">
                <a:solidFill>
                  <a:schemeClr val="tx1"/>
                </a:solidFill>
              </a:rPr>
              <a:t>Calculemos </a:t>
            </a:r>
            <a:r>
              <a:rPr lang="es-ES" sz="2400">
                <a:solidFill>
                  <a:schemeClr val="tx1"/>
                </a:solidFill>
              </a:rPr>
              <a:t>la </a:t>
            </a:r>
            <a:r>
              <a:rPr lang="es-ES" sz="2400">
                <a:solidFill>
                  <a:schemeClr val="tx1"/>
                </a:solidFill>
                <a:latin typeface="Comic Sans MS" panose="030F0702030302020204" pitchFamily="66" charset="0"/>
              </a:rPr>
              <a:t>I </a:t>
            </a:r>
            <a:r>
              <a:rPr lang="es-ES" sz="2400">
                <a:solidFill>
                  <a:schemeClr val="tx1"/>
                </a:solidFill>
              </a:rPr>
              <a:t>aplicando </a:t>
            </a:r>
            <a:r>
              <a:rPr lang="es-ES" sz="2400" dirty="0">
                <a:solidFill>
                  <a:schemeClr val="tx1"/>
                </a:solidFill>
              </a:rPr>
              <a:t>la Ley de Inducción</a:t>
            </a:r>
          </a:p>
        </p:txBody>
      </p:sp>
      <p:grpSp>
        <p:nvGrpSpPr>
          <p:cNvPr id="66" name="Group 28">
            <a:extLst>
              <a:ext uri="{FF2B5EF4-FFF2-40B4-BE49-F238E27FC236}">
                <a16:creationId xmlns:a16="http://schemas.microsoft.com/office/drawing/2014/main" id="{4624494B-5C6F-E2BF-9ACD-156D36509009}"/>
              </a:ext>
            </a:extLst>
          </p:cNvPr>
          <p:cNvGrpSpPr>
            <a:grpSpLocks/>
          </p:cNvGrpSpPr>
          <p:nvPr/>
        </p:nvGrpSpPr>
        <p:grpSpPr bwMode="auto">
          <a:xfrm>
            <a:off x="1986273" y="1270569"/>
            <a:ext cx="2413000" cy="1057275"/>
            <a:chOff x="1065" y="2809"/>
            <a:chExt cx="1520" cy="666"/>
          </a:xfrm>
        </p:grpSpPr>
        <p:sp>
          <p:nvSpPr>
            <p:cNvPr id="33829" name="Rectangle 29">
              <a:extLst>
                <a:ext uri="{FF2B5EF4-FFF2-40B4-BE49-F238E27FC236}">
                  <a16:creationId xmlns:a16="http://schemas.microsoft.com/office/drawing/2014/main" id="{54938959-FE43-E22B-7F93-9A51C43FD8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5" y="2809"/>
              <a:ext cx="1520" cy="664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/>
            </a:p>
          </p:txBody>
        </p:sp>
        <p:graphicFrame>
          <p:nvGraphicFramePr>
            <p:cNvPr id="33830" name="Object 30">
              <a:extLst>
                <a:ext uri="{FF2B5EF4-FFF2-40B4-BE49-F238E27FC236}">
                  <a16:creationId xmlns:a16="http://schemas.microsoft.com/office/drawing/2014/main" id="{8E767B5D-C09D-DFA3-E245-757C405870C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102" y="2818"/>
            <a:ext cx="1404" cy="6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7" imgW="939392" imgH="444307" progId="Equation.3">
                    <p:embed/>
                  </p:oleObj>
                </mc:Choice>
                <mc:Fallback>
                  <p:oleObj name="Ecuación" r:id="rId7" imgW="939392" imgH="444307" progId="Equation.3">
                    <p:embed/>
                    <p:pic>
                      <p:nvPicPr>
                        <p:cNvPr id="3383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02" y="2818"/>
                          <a:ext cx="1404" cy="6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3839" name="Text Box 76">
            <a:extLst>
              <a:ext uri="{FF2B5EF4-FFF2-40B4-BE49-F238E27FC236}">
                <a16:creationId xmlns:a16="http://schemas.microsoft.com/office/drawing/2014/main" id="{3D7FA813-9E67-464D-490B-8D5E0834BF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4823" y="2832856"/>
            <a:ext cx="1335088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cte. unif.</a:t>
            </a:r>
          </a:p>
        </p:txBody>
      </p:sp>
      <p:sp>
        <p:nvSpPr>
          <p:cNvPr id="8" name="Forma libre 7">
            <a:extLst>
              <a:ext uri="{FF2B5EF4-FFF2-40B4-BE49-F238E27FC236}">
                <a16:creationId xmlns:a16="http://schemas.microsoft.com/office/drawing/2014/main" id="{4E763FB7-FCFE-A2BF-0C85-733C5EE9F47F}"/>
              </a:ext>
            </a:extLst>
          </p:cNvPr>
          <p:cNvSpPr/>
          <p:nvPr/>
        </p:nvSpPr>
        <p:spPr bwMode="auto">
          <a:xfrm>
            <a:off x="2434394" y="3362642"/>
            <a:ext cx="585627" cy="174715"/>
          </a:xfrm>
          <a:custGeom>
            <a:avLst/>
            <a:gdLst>
              <a:gd name="connsiteX0" fmla="*/ 585627 w 585627"/>
              <a:gd name="connsiteY0" fmla="*/ 164441 h 174715"/>
              <a:gd name="connsiteX1" fmla="*/ 452063 w 585627"/>
              <a:gd name="connsiteY1" fmla="*/ 55 h 174715"/>
              <a:gd name="connsiteX2" fmla="*/ 318499 w 585627"/>
              <a:gd name="connsiteY2" fmla="*/ 154167 h 174715"/>
              <a:gd name="connsiteX3" fmla="*/ 154112 w 585627"/>
              <a:gd name="connsiteY3" fmla="*/ 55 h 174715"/>
              <a:gd name="connsiteX4" fmla="*/ 0 w 585627"/>
              <a:gd name="connsiteY4" fmla="*/ 174715 h 174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5627" h="174715">
                <a:moveTo>
                  <a:pt x="585627" y="164441"/>
                </a:moveTo>
                <a:cubicBezTo>
                  <a:pt x="541105" y="83104"/>
                  <a:pt x="496584" y="1767"/>
                  <a:pt x="452063" y="55"/>
                </a:cubicBezTo>
                <a:cubicBezTo>
                  <a:pt x="407542" y="-1657"/>
                  <a:pt x="368157" y="154167"/>
                  <a:pt x="318499" y="154167"/>
                </a:cubicBezTo>
                <a:cubicBezTo>
                  <a:pt x="268841" y="154167"/>
                  <a:pt x="207195" y="-3370"/>
                  <a:pt x="154112" y="55"/>
                </a:cubicBezTo>
                <a:cubicBezTo>
                  <a:pt x="101029" y="3480"/>
                  <a:pt x="50514" y="89097"/>
                  <a:pt x="0" y="174715"/>
                </a:cubicBezTo>
              </a:path>
            </a:pathLst>
          </a:cu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stealth" w="lg" len="lg"/>
          </a:ln>
          <a:effectLst/>
        </p:spPr>
        <p:txBody>
          <a:bodyPr vert="horz" wrap="none" lIns="90000" tIns="82800" rIns="90000" bIns="82800" numCol="1" rtlCol="0" anchor="t" anchorCtr="1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68" name="Text Box 78">
            <a:extLst>
              <a:ext uri="{FF2B5EF4-FFF2-40B4-BE49-F238E27FC236}">
                <a16:creationId xmlns:a16="http://schemas.microsoft.com/office/drawing/2014/main" id="{CE875FCC-25BD-6F8A-FD99-CB46CFE716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3660" y="3203628"/>
            <a:ext cx="350838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MRU</a:t>
            </a:r>
          </a:p>
        </p:txBody>
      </p:sp>
      <p:sp>
        <p:nvSpPr>
          <p:cNvPr id="33853" name="Text Box 19">
            <a:extLst>
              <a:ext uri="{FF2B5EF4-FFF2-40B4-BE49-F238E27FC236}">
                <a16:creationId xmlns:a16="http://schemas.microsoft.com/office/drawing/2014/main" id="{EEC8C2A5-E9AC-DB70-9576-8F81E1233B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71892" y="2150493"/>
            <a:ext cx="300038" cy="592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800" dirty="0">
                <a:solidFill>
                  <a:srgbClr val="FF0000"/>
                </a:solidFill>
                <a:latin typeface="Arial" panose="020B0604020202020204" pitchFamily="34" charset="0"/>
              </a:rPr>
              <a:t>-</a:t>
            </a:r>
          </a:p>
        </p:txBody>
      </p:sp>
      <p:sp>
        <p:nvSpPr>
          <p:cNvPr id="33854" name="Text Box 20">
            <a:extLst>
              <a:ext uri="{FF2B5EF4-FFF2-40B4-BE49-F238E27FC236}">
                <a16:creationId xmlns:a16="http://schemas.microsoft.com/office/drawing/2014/main" id="{B7DE51CC-F3B4-6B16-C6DB-C2A2471D9D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42775" y="723344"/>
            <a:ext cx="388938" cy="592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800" dirty="0">
                <a:solidFill>
                  <a:srgbClr val="FF0000"/>
                </a:solidFill>
                <a:latin typeface="Arial" panose="020B0604020202020204" pitchFamily="34" charset="0"/>
              </a:rPr>
              <a:t>+</a:t>
            </a:r>
          </a:p>
        </p:txBody>
      </p:sp>
      <p:sp>
        <p:nvSpPr>
          <p:cNvPr id="15" name="Text Box 78">
            <a:extLst>
              <a:ext uri="{FF2B5EF4-FFF2-40B4-BE49-F238E27FC236}">
                <a16:creationId xmlns:a16="http://schemas.microsoft.com/office/drawing/2014/main" id="{A53D7CCA-6B50-04E5-434B-042B930C07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6036" y="2269038"/>
            <a:ext cx="2228850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>
            <a:no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None/>
            </a:pPr>
            <a:r>
              <a:rPr lang="es-ES" sz="280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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ES" sz="2800">
                <a:solidFill>
                  <a:srgbClr val="FF0000"/>
                </a:solidFill>
                <a:latin typeface="Arial" panose="020B0604020202020204" pitchFamily="34" charset="0"/>
              </a:rPr>
              <a:t>=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 W </a:t>
            </a:r>
            <a:r>
              <a:rPr lang="es-ES" sz="2400" b="1">
                <a:solidFill>
                  <a:srgbClr val="FF0000"/>
                </a:solidFill>
                <a:latin typeface="Arial" panose="020B0604020202020204" pitchFamily="34" charset="0"/>
              </a:rPr>
              <a:t>E</a:t>
            </a:r>
            <a:r>
              <a:rPr lang="es-ES" sz="2400" baseline="-25000">
                <a:solidFill>
                  <a:srgbClr val="FF0000"/>
                </a:solidFill>
                <a:latin typeface="Arial" panose="020B0604020202020204" pitchFamily="34" charset="0"/>
              </a:rPr>
              <a:t>ind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 en espira (en C)</a:t>
            </a:r>
          </a:p>
        </p:txBody>
      </p:sp>
      <p:sp>
        <p:nvSpPr>
          <p:cNvPr id="11" name="Text Box 41">
            <a:extLst>
              <a:ext uri="{FF2B5EF4-FFF2-40B4-BE49-F238E27FC236}">
                <a16:creationId xmlns:a16="http://schemas.microsoft.com/office/drawing/2014/main" id="{90C953DD-C62F-49F2-8DB7-4497CD5CA2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1786" y="4529613"/>
            <a:ext cx="7917680" cy="133676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Sale la misma </a:t>
            </a:r>
            <a:r>
              <a:rPr lang="es-ES" sz="2400"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porque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ES" sz="280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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coincide con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la V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en la barra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, pero no existe </a:t>
            </a:r>
            <a:r>
              <a:rPr lang="es-ES" sz="2400" b="1" dirty="0" err="1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E</a:t>
            </a:r>
            <a:r>
              <a:rPr lang="es-ES" sz="2400" baseline="-25000" dirty="0" err="1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ind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en la espira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, ni, por tanto,</a:t>
            </a:r>
          </a:p>
          <a:p>
            <a:pPr algn="ctr" eaLnBrk="1" hangingPunct="1">
              <a:spcBef>
                <a:spcPts val="0"/>
              </a:spcBef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trabajo de </a:t>
            </a:r>
            <a:r>
              <a:rPr lang="es-ES" sz="2400" b="1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E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ind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en la espira (),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no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hay inducción</a:t>
            </a:r>
            <a:endParaRPr lang="es-ES" sz="28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4" name="Text Box 41">
            <a:extLst>
              <a:ext uri="{FF2B5EF4-FFF2-40B4-BE49-F238E27FC236}">
                <a16:creationId xmlns:a16="http://schemas.microsoft.com/office/drawing/2014/main" id="{6349E9E2-EC06-93C1-A233-2F3608AAA3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1786" y="5924932"/>
            <a:ext cx="7917680" cy="967436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Sale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porque se puede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considerar a S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cte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. y a B variable:</a:t>
            </a:r>
          </a:p>
          <a:p>
            <a:pPr algn="ctr" eaLnBrk="1" hangingPunct="1">
              <a:spcBef>
                <a:spcPts val="0"/>
              </a:spcBef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S = Lx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y B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(t) = B(1+vt/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x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)</a:t>
            </a:r>
            <a:r>
              <a:rPr lang="es-ES" sz="28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endParaRPr lang="es-ES" sz="28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1218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FA99D0AF-D5C4-4902-B469-1B806E494AC9}"/>
              </a:ext>
            </a:extLst>
          </p:cNvPr>
          <p:cNvSpPr/>
          <p:nvPr/>
        </p:nvSpPr>
        <p:spPr bwMode="auto">
          <a:xfrm>
            <a:off x="1285586" y="1081310"/>
            <a:ext cx="5040000" cy="31680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square" lIns="90000" tIns="82800" rIns="90000" bIns="82800" numCol="1" rtlCol="0" anchor="t" anchorCtr="1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-2500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34903" name="Text Box 26"/>
          <p:cNvSpPr txBox="1">
            <a:spLocks noChangeArrowheads="1"/>
          </p:cNvSpPr>
          <p:nvPr/>
        </p:nvSpPr>
        <p:spPr bwMode="auto">
          <a:xfrm>
            <a:off x="1292127" y="4421996"/>
            <a:ext cx="5033459" cy="884070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wrap="square" lIns="108000" tIns="72000" rIns="108000" bIns="72000" anchor="ctr" anchorCtr="1">
            <a:spAutoFit/>
          </a:bodyPr>
          <a:lstStyle>
            <a:lvl1pPr defTabSz="1008063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1008063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1008063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1008063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1008063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10080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10080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10080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10080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Se hace rotar con: agua, viento, vapor de agua, rueda F1 (KERS)...</a:t>
            </a:r>
          </a:p>
        </p:txBody>
      </p:sp>
      <p:sp>
        <p:nvSpPr>
          <p:cNvPr id="697604" name="Text Box 260"/>
          <p:cNvSpPr txBox="1">
            <a:spLocks noChangeArrowheads="1"/>
          </p:cNvSpPr>
          <p:nvPr/>
        </p:nvSpPr>
        <p:spPr bwMode="auto">
          <a:xfrm>
            <a:off x="3236876" y="3684377"/>
            <a:ext cx="350837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1" dirty="0">
                <a:solidFill>
                  <a:srgbClr val="FF0000"/>
                </a:solidFill>
                <a:latin typeface="Arial" panose="020B0604020202020204" pitchFamily="34" charset="0"/>
              </a:rPr>
              <a:t>V</a:t>
            </a:r>
          </a:p>
        </p:txBody>
      </p:sp>
      <p:sp>
        <p:nvSpPr>
          <p:cNvPr id="34833" name="Text Box 125"/>
          <p:cNvSpPr txBox="1">
            <a:spLocks noChangeArrowheads="1"/>
          </p:cNvSpPr>
          <p:nvPr/>
        </p:nvSpPr>
        <p:spPr bwMode="auto">
          <a:xfrm>
            <a:off x="1279152" y="394504"/>
            <a:ext cx="2711296" cy="536549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s-ES" sz="2400" b="1"/>
              <a:t>GIRO DE ESPIRA</a:t>
            </a:r>
          </a:p>
        </p:txBody>
      </p:sp>
      <p:sp>
        <p:nvSpPr>
          <p:cNvPr id="34885" name="Text Box 31"/>
          <p:cNvSpPr txBox="1">
            <a:spLocks noChangeArrowheads="1"/>
          </p:cNvSpPr>
          <p:nvPr/>
        </p:nvSpPr>
        <p:spPr bwMode="auto">
          <a:xfrm>
            <a:off x="4794004" y="393945"/>
            <a:ext cx="5872120" cy="536549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tIns="82800" bIns="82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Método habitual para generar electricidad</a:t>
            </a:r>
          </a:p>
        </p:txBody>
      </p:sp>
      <p:grpSp>
        <p:nvGrpSpPr>
          <p:cNvPr id="120" name="Group 130"/>
          <p:cNvGrpSpPr>
            <a:grpSpLocks/>
          </p:cNvGrpSpPr>
          <p:nvPr/>
        </p:nvGrpSpPr>
        <p:grpSpPr bwMode="auto">
          <a:xfrm>
            <a:off x="1447512" y="1233710"/>
            <a:ext cx="4694237" cy="1854200"/>
            <a:chOff x="1105" y="1506"/>
            <a:chExt cx="2957" cy="1168"/>
          </a:xfrm>
        </p:grpSpPr>
        <p:sp>
          <p:nvSpPr>
            <p:cNvPr id="11" name="Line 37"/>
            <p:cNvSpPr>
              <a:spLocks noChangeShapeType="1"/>
            </p:cNvSpPr>
            <p:nvPr/>
          </p:nvSpPr>
          <p:spPr bwMode="auto">
            <a:xfrm>
              <a:off x="2075" y="2515"/>
              <a:ext cx="91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 type="none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grpSp>
          <p:nvGrpSpPr>
            <p:cNvPr id="34855" name="Group 129"/>
            <p:cNvGrpSpPr>
              <a:grpSpLocks/>
            </p:cNvGrpSpPr>
            <p:nvPr/>
          </p:nvGrpSpPr>
          <p:grpSpPr bwMode="auto">
            <a:xfrm>
              <a:off x="1105" y="1506"/>
              <a:ext cx="2957" cy="1168"/>
              <a:chOff x="1105" y="1506"/>
              <a:chExt cx="2957" cy="1168"/>
            </a:xfrm>
          </p:grpSpPr>
          <p:sp>
            <p:nvSpPr>
              <p:cNvPr id="34856" name="AutoShape 3"/>
              <p:cNvSpPr>
                <a:spLocks noChangeArrowheads="1"/>
              </p:cNvSpPr>
              <p:nvPr/>
            </p:nvSpPr>
            <p:spPr bwMode="auto">
              <a:xfrm>
                <a:off x="1105" y="1860"/>
                <a:ext cx="910" cy="814"/>
              </a:xfrm>
              <a:prstGeom prst="cube">
                <a:avLst>
                  <a:gd name="adj" fmla="val 25000"/>
                </a:avLst>
              </a:prstGeom>
              <a:solidFill>
                <a:srgbClr val="FF0000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34857" name="Text Box 4"/>
              <p:cNvSpPr txBox="1">
                <a:spLocks noChangeArrowheads="1"/>
              </p:cNvSpPr>
              <p:nvPr/>
            </p:nvSpPr>
            <p:spPr bwMode="auto">
              <a:xfrm>
                <a:off x="1336" y="2154"/>
                <a:ext cx="286" cy="2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/>
              <a:lstStyle>
                <a:lvl1pPr defTabSz="1008063"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1008063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1008063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1008063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1008063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400" b="1" dirty="0">
                    <a:solidFill>
                      <a:schemeClr val="bg1"/>
                    </a:solidFill>
                    <a:latin typeface="Arial" panose="020B0604020202020204" pitchFamily="34" charset="0"/>
                  </a:rPr>
                  <a:t>N</a:t>
                </a:r>
              </a:p>
            </p:txBody>
          </p:sp>
          <p:sp>
            <p:nvSpPr>
              <p:cNvPr id="34867" name="Line 16"/>
              <p:cNvSpPr>
                <a:spLocks noChangeShapeType="1"/>
              </p:cNvSpPr>
              <p:nvPr/>
            </p:nvSpPr>
            <p:spPr bwMode="auto">
              <a:xfrm flipV="1">
                <a:off x="1950" y="1927"/>
                <a:ext cx="1509" cy="0"/>
              </a:xfrm>
              <a:prstGeom prst="line">
                <a:avLst/>
              </a:prstGeom>
              <a:noFill/>
              <a:ln w="19050">
                <a:solidFill>
                  <a:srgbClr val="008000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868" name="Line 17"/>
              <p:cNvSpPr>
                <a:spLocks noChangeShapeType="1"/>
              </p:cNvSpPr>
              <p:nvPr/>
            </p:nvSpPr>
            <p:spPr bwMode="auto">
              <a:xfrm flipV="1">
                <a:off x="1862" y="2054"/>
                <a:ext cx="1354" cy="0"/>
              </a:xfrm>
              <a:prstGeom prst="line">
                <a:avLst/>
              </a:prstGeom>
              <a:noFill/>
              <a:ln w="19050">
                <a:solidFill>
                  <a:srgbClr val="008000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869" name="Line 18"/>
              <p:cNvSpPr>
                <a:spLocks noChangeShapeType="1"/>
              </p:cNvSpPr>
              <p:nvPr/>
            </p:nvSpPr>
            <p:spPr bwMode="auto">
              <a:xfrm flipV="1">
                <a:off x="1850" y="2283"/>
                <a:ext cx="1335" cy="0"/>
              </a:xfrm>
              <a:prstGeom prst="line">
                <a:avLst/>
              </a:prstGeom>
              <a:noFill/>
              <a:ln w="19050">
                <a:solidFill>
                  <a:srgbClr val="008000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870" name="Line 19"/>
              <p:cNvSpPr>
                <a:spLocks noChangeShapeType="1"/>
              </p:cNvSpPr>
              <p:nvPr/>
            </p:nvSpPr>
            <p:spPr bwMode="auto">
              <a:xfrm flipV="1">
                <a:off x="1862" y="2519"/>
                <a:ext cx="1348" cy="0"/>
              </a:xfrm>
              <a:prstGeom prst="line">
                <a:avLst/>
              </a:prstGeom>
              <a:noFill/>
              <a:ln w="19050">
                <a:solidFill>
                  <a:srgbClr val="008000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 dirty="0"/>
              </a:p>
            </p:txBody>
          </p:sp>
          <p:sp>
            <p:nvSpPr>
              <p:cNvPr id="34871" name="Line 20"/>
              <p:cNvSpPr>
                <a:spLocks noChangeShapeType="1"/>
              </p:cNvSpPr>
              <p:nvPr/>
            </p:nvSpPr>
            <p:spPr bwMode="auto">
              <a:xfrm flipV="1">
                <a:off x="1974" y="2148"/>
                <a:ext cx="1431" cy="0"/>
              </a:xfrm>
              <a:prstGeom prst="line">
                <a:avLst/>
              </a:prstGeom>
              <a:noFill/>
              <a:ln w="19050">
                <a:solidFill>
                  <a:srgbClr val="008000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872" name="Line 21"/>
              <p:cNvSpPr>
                <a:spLocks noChangeShapeType="1"/>
              </p:cNvSpPr>
              <p:nvPr/>
            </p:nvSpPr>
            <p:spPr bwMode="auto">
              <a:xfrm flipV="1">
                <a:off x="1974" y="2410"/>
                <a:ext cx="1451" cy="0"/>
              </a:xfrm>
              <a:prstGeom prst="line">
                <a:avLst/>
              </a:prstGeom>
              <a:noFill/>
              <a:ln w="19050">
                <a:solidFill>
                  <a:srgbClr val="008000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873" name="AutoShape 22"/>
              <p:cNvSpPr>
                <a:spLocks noChangeArrowheads="1"/>
              </p:cNvSpPr>
              <p:nvPr/>
            </p:nvSpPr>
            <p:spPr bwMode="auto">
              <a:xfrm>
                <a:off x="3162" y="1815"/>
                <a:ext cx="900" cy="814"/>
              </a:xfrm>
              <a:prstGeom prst="cube">
                <a:avLst>
                  <a:gd name="adj" fmla="val 25000"/>
                </a:avLst>
              </a:prstGeom>
              <a:solidFill>
                <a:srgbClr val="0000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34874" name="Text Box 23"/>
              <p:cNvSpPr txBox="1">
                <a:spLocks noChangeArrowheads="1"/>
              </p:cNvSpPr>
              <p:nvPr/>
            </p:nvSpPr>
            <p:spPr bwMode="auto">
              <a:xfrm>
                <a:off x="3403" y="2155"/>
                <a:ext cx="277" cy="3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/>
              <a:lstStyle>
                <a:lvl1pPr defTabSz="1008063"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1008063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1008063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1008063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1008063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400" dirty="0">
                    <a:solidFill>
                      <a:srgbClr val="FFFFFF"/>
                    </a:solidFill>
                    <a:latin typeface="Arial" panose="020B0604020202020204" pitchFamily="34" charset="0"/>
                  </a:rPr>
                  <a:t>S</a:t>
                </a:r>
              </a:p>
            </p:txBody>
          </p:sp>
          <p:sp>
            <p:nvSpPr>
              <p:cNvPr id="34875" name="Line 32"/>
              <p:cNvSpPr>
                <a:spLocks noChangeShapeType="1"/>
              </p:cNvSpPr>
              <p:nvPr/>
            </p:nvSpPr>
            <p:spPr bwMode="auto">
              <a:xfrm>
                <a:off x="2257" y="1931"/>
                <a:ext cx="91" cy="0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 type="none" w="med" len="med"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876" name="Line 33"/>
              <p:cNvSpPr>
                <a:spLocks noChangeShapeType="1"/>
              </p:cNvSpPr>
              <p:nvPr/>
            </p:nvSpPr>
            <p:spPr bwMode="auto">
              <a:xfrm>
                <a:off x="2100" y="2054"/>
                <a:ext cx="91" cy="0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 type="none" w="med" len="med"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877" name="Line 34"/>
              <p:cNvSpPr>
                <a:spLocks noChangeShapeType="1"/>
              </p:cNvSpPr>
              <p:nvPr/>
            </p:nvSpPr>
            <p:spPr bwMode="auto">
              <a:xfrm>
                <a:off x="2247" y="2145"/>
                <a:ext cx="91" cy="0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 type="none" w="med" len="med"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878" name="Line 35"/>
              <p:cNvSpPr>
                <a:spLocks noChangeShapeType="1"/>
              </p:cNvSpPr>
              <p:nvPr/>
            </p:nvSpPr>
            <p:spPr bwMode="auto">
              <a:xfrm>
                <a:off x="2086" y="2281"/>
                <a:ext cx="91" cy="0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 type="none" w="med" len="med"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879" name="Line 36"/>
              <p:cNvSpPr>
                <a:spLocks noChangeShapeType="1"/>
              </p:cNvSpPr>
              <p:nvPr/>
            </p:nvSpPr>
            <p:spPr bwMode="auto">
              <a:xfrm>
                <a:off x="2239" y="2408"/>
                <a:ext cx="91" cy="0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 type="none" w="med" len="med"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graphicFrame>
            <p:nvGraphicFramePr>
              <p:cNvPr id="34880" name="Object 51"/>
              <p:cNvGraphicFramePr>
                <a:graphicFrameLocks noChangeAspect="1"/>
              </p:cNvGraphicFramePr>
              <p:nvPr/>
            </p:nvGraphicFramePr>
            <p:xfrm>
              <a:off x="2125" y="1506"/>
              <a:ext cx="226" cy="30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cuación" r:id="rId3" imgW="152268" imgH="203024" progId="Equation.3">
                      <p:embed/>
                    </p:oleObj>
                  </mc:Choice>
                  <mc:Fallback>
                    <p:oleObj name="Ecuación" r:id="rId3" imgW="152268" imgH="203024" progId="Equation.3">
                      <p:embed/>
                      <p:pic>
                        <p:nvPicPr>
                          <p:cNvPr id="34880" name="Object 5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125" y="1506"/>
                            <a:ext cx="226" cy="30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156" name="Text Box 121"/>
          <p:cNvSpPr txBox="1">
            <a:spLocks noChangeArrowheads="1"/>
          </p:cNvSpPr>
          <p:nvPr/>
        </p:nvSpPr>
        <p:spPr bwMode="auto">
          <a:xfrm>
            <a:off x="1329059" y="5523653"/>
            <a:ext cx="7394527" cy="1326105"/>
          </a:xfrm>
          <a:prstGeom prst="rect">
            <a:avLst/>
          </a:prstGeom>
          <a:solidFill>
            <a:srgbClr val="CCFFCC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108000" tIns="108000" rIns="108000" bIns="108000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es-ES" sz="2400">
                <a:solidFill>
                  <a:schemeClr val="tx1"/>
                </a:solidFill>
              </a:rPr>
              <a:t>V se debe a que los </a:t>
            </a:r>
            <a:r>
              <a:rPr lang="es-ES" sz="2400" dirty="0">
                <a:solidFill>
                  <a:schemeClr val="tx1"/>
                </a:solidFill>
              </a:rPr>
              <a:t>tramos </a:t>
            </a:r>
            <a:r>
              <a:rPr lang="es-ES" sz="2400">
                <a:solidFill>
                  <a:schemeClr val="tx1"/>
                </a:solidFill>
              </a:rPr>
              <a:t>horizontales de la espira actúan como pilas, como la </a:t>
            </a:r>
            <a:r>
              <a:rPr lang="es-ES" sz="2400" dirty="0">
                <a:solidFill>
                  <a:schemeClr val="tx1"/>
                </a:solidFill>
              </a:rPr>
              <a:t>barra. </a:t>
            </a:r>
            <a:r>
              <a:rPr lang="es-ES" sz="2400">
                <a:solidFill>
                  <a:schemeClr val="tx1"/>
                </a:solidFill>
              </a:rPr>
              <a:t>Son pilas iguales y están conectadas en serie con la misma polaridad</a:t>
            </a:r>
            <a:endParaRPr lang="es-ES" sz="2400" dirty="0">
              <a:solidFill>
                <a:schemeClr val="tx1"/>
              </a:solidFill>
            </a:endParaRPr>
          </a:p>
        </p:txBody>
      </p:sp>
      <p:sp>
        <p:nvSpPr>
          <p:cNvPr id="34842" name="Text Box 148"/>
          <p:cNvSpPr txBox="1">
            <a:spLocks noChangeArrowheads="1"/>
          </p:cNvSpPr>
          <p:nvPr/>
        </p:nvSpPr>
        <p:spPr bwMode="auto">
          <a:xfrm>
            <a:off x="6570944" y="3030979"/>
            <a:ext cx="4076888" cy="90588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0000" tIns="82800" rIns="90000" bIns="828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 Con velocidad angular: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    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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s-ES" sz="2400" b="1">
                <a:latin typeface="Arial" panose="020B0604020202020204" pitchFamily="34" charset="0"/>
                <a:sym typeface="Symbol" panose="05050102010706020507" pitchFamily="18" charset="2"/>
              </a:rPr>
              <a:t>o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mega) 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cte. </a:t>
            </a:r>
            <a:endParaRPr lang="es-ES" sz="240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34839" name="CuadroTexto 13"/>
          <p:cNvSpPr txBox="1">
            <a:spLocks noChangeArrowheads="1"/>
          </p:cNvSpPr>
          <p:nvPr/>
        </p:nvSpPr>
        <p:spPr bwMode="auto">
          <a:xfrm>
            <a:off x="6570944" y="3998214"/>
            <a:ext cx="4076888" cy="8309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anchorCtr="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2400">
                <a:sym typeface="Symbol" panose="05050102010706020507" pitchFamily="18" charset="2"/>
              </a:rPr>
              <a:t> </a:t>
            </a:r>
            <a:r>
              <a:rPr lang="es-ES" sz="2400" dirty="0">
                <a:solidFill>
                  <a:schemeClr val="tx1"/>
                </a:solidFill>
              </a:rPr>
              <a:t>Ángulo descrito:</a:t>
            </a:r>
          </a:p>
          <a:p>
            <a:r>
              <a:rPr lang="es-ES" sz="2400">
                <a:solidFill>
                  <a:schemeClr val="tx1"/>
                </a:solidFill>
              </a:rPr>
              <a:t>      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 =  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t  </a:t>
            </a:r>
            <a:r>
              <a:rPr lang="es-ES" sz="2400">
                <a:solidFill>
                  <a:srgbClr val="FF0000"/>
                </a:solidFill>
                <a:sym typeface="Symbol" panose="05050102010706020507" pitchFamily="18" charset="2"/>
              </a:rPr>
              <a:t>(</a:t>
            </a:r>
            <a:r>
              <a:rPr lang="es-ES" sz="2400" dirty="0">
                <a:solidFill>
                  <a:srgbClr val="FF0000"/>
                </a:solidFill>
                <a:sym typeface="Symbol" panose="05050102010706020507" pitchFamily="18" charset="2"/>
              </a:rPr>
              <a:t>MCU)</a:t>
            </a:r>
            <a:endParaRPr lang="es-ES" sz="2400" dirty="0">
              <a:solidFill>
                <a:srgbClr val="FF0000"/>
              </a:solidFill>
            </a:endParaRPr>
          </a:p>
        </p:txBody>
      </p:sp>
      <p:sp>
        <p:nvSpPr>
          <p:cNvPr id="101" name="Text Box 148"/>
          <p:cNvSpPr txBox="1">
            <a:spLocks noChangeArrowheads="1"/>
          </p:cNvSpPr>
          <p:nvPr/>
        </p:nvSpPr>
        <p:spPr bwMode="auto">
          <a:xfrm>
            <a:off x="6550474" y="1064905"/>
            <a:ext cx="3558625" cy="905881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square" lIns="90000" tIns="82800" rIns="90000" bIns="828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Consideremos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una sola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espira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y la más sencilla:</a:t>
            </a:r>
            <a:endParaRPr lang="es-ES" sz="2400" dirty="0">
              <a:solidFill>
                <a:srgbClr val="FF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grpSp>
        <p:nvGrpSpPr>
          <p:cNvPr id="86" name="Grupo 1">
            <a:extLst>
              <a:ext uri="{FF2B5EF4-FFF2-40B4-BE49-F238E27FC236}">
                <a16:creationId xmlns:a16="http://schemas.microsoft.com/office/drawing/2014/main" id="{CDD758B2-C74F-49AD-97CA-6DB40D0893DE}"/>
              </a:ext>
            </a:extLst>
          </p:cNvPr>
          <p:cNvGrpSpPr>
            <a:grpSpLocks/>
          </p:cNvGrpSpPr>
          <p:nvPr/>
        </p:nvGrpSpPr>
        <p:grpSpPr bwMode="auto">
          <a:xfrm>
            <a:off x="6561491" y="4881206"/>
            <a:ext cx="2751372" cy="536549"/>
            <a:chOff x="6723812" y="1987550"/>
            <a:chExt cx="2751372" cy="536989"/>
          </a:xfrm>
        </p:grpSpPr>
        <p:sp>
          <p:nvSpPr>
            <p:cNvPr id="87" name="Text Box 20">
              <a:extLst>
                <a:ext uri="{FF2B5EF4-FFF2-40B4-BE49-F238E27FC236}">
                  <a16:creationId xmlns:a16="http://schemas.microsoft.com/office/drawing/2014/main" id="{3303F846-B51F-403A-83CC-F307E5A6EF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3812" y="1987550"/>
              <a:ext cx="2751372" cy="53698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latin typeface="Arial" panose="020B0604020202020204" pitchFamily="34" charset="0"/>
                  <a:sym typeface="Symbol" panose="05050102010706020507" pitchFamily="18" charset="2"/>
                </a:rPr>
                <a:t> </a:t>
              </a:r>
              <a:r>
                <a:rPr lang="es-ES" sz="2400" dirty="0">
                  <a:latin typeface="Arial" panose="020B0604020202020204" pitchFamily="34" charset="0"/>
                </a:rPr>
                <a:t>B uniforme y cte.</a:t>
              </a:r>
            </a:p>
          </p:txBody>
        </p:sp>
        <p:sp>
          <p:nvSpPr>
            <p:cNvPr id="89" name="Line 22">
              <a:extLst>
                <a:ext uri="{FF2B5EF4-FFF2-40B4-BE49-F238E27FC236}">
                  <a16:creationId xmlns:a16="http://schemas.microsoft.com/office/drawing/2014/main" id="{4B530E1B-318F-4AF4-AC0C-2F2B443116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77556" y="2092325"/>
              <a:ext cx="14446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 sz="2400"/>
            </a:p>
          </p:txBody>
        </p:sp>
      </p:grpSp>
      <p:sp>
        <p:nvSpPr>
          <p:cNvPr id="3" name="Flecha: a la derecha 2">
            <a:extLst>
              <a:ext uri="{FF2B5EF4-FFF2-40B4-BE49-F238E27FC236}">
                <a16:creationId xmlns:a16="http://schemas.microsoft.com/office/drawing/2014/main" id="{0F846FA4-D6D3-4C6C-BDAA-54EDEA56B1DF}"/>
              </a:ext>
            </a:extLst>
          </p:cNvPr>
          <p:cNvSpPr/>
          <p:nvPr/>
        </p:nvSpPr>
        <p:spPr bwMode="auto">
          <a:xfrm>
            <a:off x="4186196" y="438466"/>
            <a:ext cx="447495" cy="480168"/>
          </a:xfrm>
          <a:prstGeom prst="rightArrow">
            <a:avLst/>
          </a:prstGeom>
          <a:solidFill>
            <a:schemeClr val="accent1"/>
          </a:solidFill>
          <a:ln w="254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square" lIns="90000" tIns="82800" rIns="90000" bIns="82800" numCol="1" rtlCol="0" anchor="t" anchorCtr="1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-2500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AA5D7AB4-7223-46B3-9E53-2C08437B2378}"/>
              </a:ext>
            </a:extLst>
          </p:cNvPr>
          <p:cNvGrpSpPr/>
          <p:nvPr/>
        </p:nvGrpSpPr>
        <p:grpSpPr>
          <a:xfrm>
            <a:off x="2932781" y="2851304"/>
            <a:ext cx="703087" cy="1133478"/>
            <a:chOff x="2709652" y="3047771"/>
            <a:chExt cx="703087" cy="1133478"/>
          </a:xfrm>
        </p:grpSpPr>
        <p:sp>
          <p:nvSpPr>
            <p:cNvPr id="34900" name="Oval 66"/>
            <p:cNvSpPr>
              <a:spLocks noChangeArrowheads="1"/>
            </p:cNvSpPr>
            <p:nvPr/>
          </p:nvSpPr>
          <p:spPr bwMode="auto">
            <a:xfrm>
              <a:off x="2980939" y="3047771"/>
              <a:ext cx="431800" cy="431801"/>
            </a:xfrm>
            <a:prstGeom prst="ellipse">
              <a:avLst/>
            </a:prstGeom>
            <a:noFill/>
            <a:ln w="25400" algn="ctr">
              <a:solidFill>
                <a:srgbClr val="3333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4910" name="Oval 67"/>
            <p:cNvSpPr>
              <a:spLocks noChangeArrowheads="1"/>
            </p:cNvSpPr>
            <p:nvPr/>
          </p:nvSpPr>
          <p:spPr bwMode="auto">
            <a:xfrm>
              <a:off x="2709652" y="3482922"/>
              <a:ext cx="294925" cy="294925"/>
            </a:xfrm>
            <a:prstGeom prst="ellipse">
              <a:avLst/>
            </a:prstGeom>
            <a:noFill/>
            <a:ln w="25400" algn="ctr">
              <a:solidFill>
                <a:srgbClr val="3333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4911" name="Line 68"/>
            <p:cNvSpPr>
              <a:spLocks noChangeShapeType="1"/>
            </p:cNvSpPr>
            <p:nvPr/>
          </p:nvSpPr>
          <p:spPr bwMode="auto">
            <a:xfrm>
              <a:off x="3193664" y="3482747"/>
              <a:ext cx="0" cy="277813"/>
            </a:xfrm>
            <a:prstGeom prst="line">
              <a:avLst/>
            </a:prstGeom>
            <a:noFill/>
            <a:ln w="25400">
              <a:solidFill>
                <a:srgbClr val="3333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Ctr="1"/>
            <a:lstStyle/>
            <a:p>
              <a:endParaRPr lang="en-GB"/>
            </a:p>
          </p:txBody>
        </p:sp>
        <p:sp>
          <p:nvSpPr>
            <p:cNvPr id="34912" name="Line 69"/>
            <p:cNvSpPr>
              <a:spLocks noChangeShapeType="1"/>
            </p:cNvSpPr>
            <p:nvPr/>
          </p:nvSpPr>
          <p:spPr bwMode="auto">
            <a:xfrm>
              <a:off x="2865051" y="3788036"/>
              <a:ext cx="0" cy="336153"/>
            </a:xfrm>
            <a:prstGeom prst="line">
              <a:avLst/>
            </a:prstGeom>
            <a:noFill/>
            <a:ln w="25400">
              <a:solidFill>
                <a:srgbClr val="3333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Ctr="1"/>
            <a:lstStyle/>
            <a:p>
              <a:endParaRPr lang="en-GB"/>
            </a:p>
          </p:txBody>
        </p:sp>
        <p:sp>
          <p:nvSpPr>
            <p:cNvPr id="34898" name="Oval 131"/>
            <p:cNvSpPr>
              <a:spLocks noChangeArrowheads="1"/>
            </p:cNvSpPr>
            <p:nvPr/>
          </p:nvSpPr>
          <p:spPr bwMode="auto">
            <a:xfrm>
              <a:off x="2814251" y="4073299"/>
              <a:ext cx="107950" cy="10795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4899" name="Oval 132"/>
            <p:cNvSpPr>
              <a:spLocks noChangeArrowheads="1"/>
            </p:cNvSpPr>
            <p:nvPr/>
          </p:nvSpPr>
          <p:spPr bwMode="auto">
            <a:xfrm>
              <a:off x="3139689" y="3731985"/>
              <a:ext cx="107950" cy="10795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9" name="Grupo 18">
            <a:extLst>
              <a:ext uri="{FF2B5EF4-FFF2-40B4-BE49-F238E27FC236}">
                <a16:creationId xmlns:a16="http://schemas.microsoft.com/office/drawing/2014/main" id="{00BA2E4B-9914-47B2-ACBC-2706B6BB0AD4}"/>
              </a:ext>
            </a:extLst>
          </p:cNvPr>
          <p:cNvGrpSpPr/>
          <p:nvPr/>
        </p:nvGrpSpPr>
        <p:grpSpPr>
          <a:xfrm>
            <a:off x="2740828" y="1030142"/>
            <a:ext cx="2307057" cy="2918264"/>
            <a:chOff x="2569378" y="986701"/>
            <a:chExt cx="2307057" cy="2918264"/>
          </a:xfrm>
        </p:grpSpPr>
        <p:sp>
          <p:nvSpPr>
            <p:cNvPr id="76" name="Line 2">
              <a:extLst>
                <a:ext uri="{FF2B5EF4-FFF2-40B4-BE49-F238E27FC236}">
                  <a16:creationId xmlns:a16="http://schemas.microsoft.com/office/drawing/2014/main" id="{1508913F-F158-4E3A-849C-4CC1ABB25B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69378" y="1496727"/>
              <a:ext cx="1836737" cy="2408238"/>
            </a:xfrm>
            <a:prstGeom prst="line">
              <a:avLst/>
            </a:prstGeom>
            <a:noFill/>
            <a:ln w="38100">
              <a:solidFill>
                <a:schemeClr val="tx2">
                  <a:lumMod val="75000"/>
                  <a:lumOff val="25000"/>
                </a:schemeClr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77" name="AutoShape 15">
              <a:extLst>
                <a:ext uri="{FF2B5EF4-FFF2-40B4-BE49-F238E27FC236}">
                  <a16:creationId xmlns:a16="http://schemas.microsoft.com/office/drawing/2014/main" id="{C4BBB5D8-DD3D-436D-A10F-30B5DBDED64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0859096">
              <a:off x="4217507" y="1287171"/>
              <a:ext cx="363537" cy="51752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3207 w 21600"/>
                <a:gd name="T19" fmla="*/ 3180 h 21600"/>
                <a:gd name="T20" fmla="*/ 18393 w 21600"/>
                <a:gd name="T21" fmla="*/ 18420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8676" y="10800"/>
                  </a:moveTo>
                  <a:cubicBezTo>
                    <a:pt x="18676" y="6450"/>
                    <a:pt x="15149" y="2924"/>
                    <a:pt x="10800" y="2924"/>
                  </a:cubicBezTo>
                  <a:cubicBezTo>
                    <a:pt x="6450" y="2924"/>
                    <a:pt x="2924" y="6450"/>
                    <a:pt x="2924" y="10800"/>
                  </a:cubicBezTo>
                  <a:cubicBezTo>
                    <a:pt x="2923" y="10813"/>
                    <a:pt x="2924" y="10827"/>
                    <a:pt x="2924" y="10841"/>
                  </a:cubicBezTo>
                  <a:lnTo>
                    <a:pt x="0" y="10857"/>
                  </a:lnTo>
                  <a:cubicBezTo>
                    <a:pt x="0" y="10838"/>
                    <a:pt x="0" y="10819"/>
                    <a:pt x="0" y="10800"/>
                  </a:cubicBezTo>
                  <a:cubicBezTo>
                    <a:pt x="0" y="4835"/>
                    <a:pt x="4835" y="0"/>
                    <a:pt x="10800" y="0"/>
                  </a:cubicBezTo>
                  <a:cubicBezTo>
                    <a:pt x="16764" y="-1"/>
                    <a:pt x="21599" y="4835"/>
                    <a:pt x="21600" y="10799"/>
                  </a:cubicBezTo>
                  <a:lnTo>
                    <a:pt x="21600" y="10800"/>
                  </a:lnTo>
                  <a:lnTo>
                    <a:pt x="24300" y="10800"/>
                  </a:lnTo>
                  <a:lnTo>
                    <a:pt x="20138" y="14962"/>
                  </a:lnTo>
                  <a:lnTo>
                    <a:pt x="15976" y="10800"/>
                  </a:lnTo>
                  <a:lnTo>
                    <a:pt x="18676" y="10800"/>
                  </a:lnTo>
                  <a:close/>
                </a:path>
              </a:pathLst>
            </a:cu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GB" dirty="0"/>
            </a:p>
          </p:txBody>
        </p:sp>
        <p:sp>
          <p:nvSpPr>
            <p:cNvPr id="78" name="Text Box 54">
              <a:extLst>
                <a:ext uri="{FF2B5EF4-FFF2-40B4-BE49-F238E27FC236}">
                  <a16:creationId xmlns:a16="http://schemas.microsoft.com/office/drawing/2014/main" id="{A9BDA0E2-6EDE-41C9-BF04-5D0F909B01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0835" y="986701"/>
              <a:ext cx="355600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latin typeface="Arial" panose="020B0604020202020204" pitchFamily="34" charset="0"/>
                  <a:sym typeface="Symbol" panose="05050102010706020507" pitchFamily="18" charset="2"/>
                </a:rPr>
                <a:t></a:t>
              </a:r>
            </a:p>
          </p:txBody>
        </p:sp>
      </p:grpSp>
      <p:grpSp>
        <p:nvGrpSpPr>
          <p:cNvPr id="18" name="Grupo 17">
            <a:extLst>
              <a:ext uri="{FF2B5EF4-FFF2-40B4-BE49-F238E27FC236}">
                <a16:creationId xmlns:a16="http://schemas.microsoft.com/office/drawing/2014/main" id="{538C2BF6-15FF-440E-96CC-6E50B928387E}"/>
              </a:ext>
            </a:extLst>
          </p:cNvPr>
          <p:cNvGrpSpPr/>
          <p:nvPr/>
        </p:nvGrpSpPr>
        <p:grpSpPr>
          <a:xfrm>
            <a:off x="3032280" y="1465874"/>
            <a:ext cx="1114848" cy="1955258"/>
            <a:chOff x="-633041" y="1023582"/>
            <a:chExt cx="1114848" cy="1955258"/>
          </a:xfrm>
        </p:grpSpPr>
        <p:sp>
          <p:nvSpPr>
            <p:cNvPr id="79" name="Line 8">
              <a:extLst>
                <a:ext uri="{FF2B5EF4-FFF2-40B4-BE49-F238E27FC236}">
                  <a16:creationId xmlns:a16="http://schemas.microsoft.com/office/drawing/2014/main" id="{B4E67C14-D360-421E-A25C-19513D3B0F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-578643" y="2007832"/>
              <a:ext cx="708025" cy="88900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80" name="Line 5">
              <a:extLst>
                <a:ext uri="{FF2B5EF4-FFF2-40B4-BE49-F238E27FC236}">
                  <a16:creationId xmlns:a16="http://schemas.microsoft.com/office/drawing/2014/main" id="{F4CE65ED-2829-4BE4-8447-792FD5E823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8269" y="1023582"/>
              <a:ext cx="363537" cy="517525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81" name="Line 6">
              <a:extLst>
                <a:ext uri="{FF2B5EF4-FFF2-40B4-BE49-F238E27FC236}">
                  <a16:creationId xmlns:a16="http://schemas.microsoft.com/office/drawing/2014/main" id="{1A522F56-19F8-4093-8AD1-B182FBA759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8269" y="2253894"/>
              <a:ext cx="363537" cy="517525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82" name="Line 7">
              <a:extLst>
                <a:ext uri="{FF2B5EF4-FFF2-40B4-BE49-F238E27FC236}">
                  <a16:creationId xmlns:a16="http://schemas.microsoft.com/office/drawing/2014/main" id="{10FE7D64-A53F-453C-BFDB-FEDC41B100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-246856" y="2231669"/>
              <a:ext cx="365125" cy="517525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83" name="Line 9">
              <a:extLst>
                <a:ext uri="{FF2B5EF4-FFF2-40B4-BE49-F238E27FC236}">
                  <a16:creationId xmlns:a16="http://schemas.microsoft.com/office/drawing/2014/main" id="{DDEB1AB8-29E5-47C7-A86B-AA635EC521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1807" y="1056919"/>
              <a:ext cx="0" cy="121285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84" name="Line 10">
              <a:extLst>
                <a:ext uri="{FF2B5EF4-FFF2-40B4-BE49-F238E27FC236}">
                  <a16:creationId xmlns:a16="http://schemas.microsoft.com/office/drawing/2014/main" id="{E171499C-D202-45B4-91FC-3631B69790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8269" y="1542694"/>
              <a:ext cx="0" cy="487363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85" name="Line 11">
              <a:extLst>
                <a:ext uri="{FF2B5EF4-FFF2-40B4-BE49-F238E27FC236}">
                  <a16:creationId xmlns:a16="http://schemas.microsoft.com/office/drawing/2014/main" id="{A3305636-43BB-48A1-B1BD-D6B4504745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8269" y="2231669"/>
              <a:ext cx="0" cy="517525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88" name="Oval 13">
              <a:extLst>
                <a:ext uri="{FF2B5EF4-FFF2-40B4-BE49-F238E27FC236}">
                  <a16:creationId xmlns:a16="http://schemas.microsoft.com/office/drawing/2014/main" id="{23543AB7-877F-46E8-ACD2-38A6024F51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633041" y="2870890"/>
              <a:ext cx="107950" cy="10795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0" name="Oval 14">
              <a:extLst>
                <a:ext uri="{FF2B5EF4-FFF2-40B4-BE49-F238E27FC236}">
                  <a16:creationId xmlns:a16="http://schemas.microsoft.com/office/drawing/2014/main" id="{5223543B-F24F-468F-8913-D3D62CA69B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283791" y="2716154"/>
              <a:ext cx="107950" cy="10795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08" name="Text Box 18">
            <a:extLst>
              <a:ext uri="{FF2B5EF4-FFF2-40B4-BE49-F238E27FC236}">
                <a16:creationId xmlns:a16="http://schemas.microsoft.com/office/drawing/2014/main" id="{DDEBA8DC-2AA5-4F18-ABC6-E1D3D62F00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61286" y="3180471"/>
            <a:ext cx="16241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escobillas </a:t>
            </a:r>
          </a:p>
        </p:txBody>
      </p:sp>
      <p:cxnSp>
        <p:nvCxnSpPr>
          <p:cNvPr id="97" name="Conector recto de flecha 96">
            <a:extLst>
              <a:ext uri="{FF2B5EF4-FFF2-40B4-BE49-F238E27FC236}">
                <a16:creationId xmlns:a16="http://schemas.microsoft.com/office/drawing/2014/main" id="{AC0906E3-5245-47F9-BD51-6D85092863C1}"/>
              </a:ext>
            </a:extLst>
          </p:cNvPr>
          <p:cNvCxnSpPr>
            <a:cxnSpLocks/>
          </p:cNvCxnSpPr>
          <p:nvPr/>
        </p:nvCxnSpPr>
        <p:spPr bwMode="auto">
          <a:xfrm>
            <a:off x="3658581" y="3249968"/>
            <a:ext cx="655423" cy="157097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98" name="Conector recto de flecha 97">
            <a:extLst>
              <a:ext uri="{FF2B5EF4-FFF2-40B4-BE49-F238E27FC236}">
                <a16:creationId xmlns:a16="http://schemas.microsoft.com/office/drawing/2014/main" id="{63014CFA-9345-4364-86E4-52E834E2C3CE}"/>
              </a:ext>
            </a:extLst>
          </p:cNvPr>
          <p:cNvCxnSpPr>
            <a:cxnSpLocks/>
          </p:cNvCxnSpPr>
          <p:nvPr/>
        </p:nvCxnSpPr>
        <p:spPr bwMode="auto">
          <a:xfrm flipV="1">
            <a:off x="3326442" y="3471052"/>
            <a:ext cx="992259" cy="14541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sp>
        <p:nvSpPr>
          <p:cNvPr id="91" name="Text Box 67">
            <a:extLst>
              <a:ext uri="{FF2B5EF4-FFF2-40B4-BE49-F238E27FC236}">
                <a16:creationId xmlns:a16="http://schemas.microsoft.com/office/drawing/2014/main" id="{3EE7D011-A5D7-42D6-9D19-ED334B41CF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95752" y="5524633"/>
            <a:ext cx="1567913" cy="905881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No hay inducción</a:t>
            </a:r>
          </a:p>
        </p:txBody>
      </p:sp>
      <p:sp>
        <p:nvSpPr>
          <p:cNvPr id="63" name="Text Box 148">
            <a:extLst>
              <a:ext uri="{FF2B5EF4-FFF2-40B4-BE49-F238E27FC236}">
                <a16:creationId xmlns:a16="http://schemas.microsoft.com/office/drawing/2014/main" id="{27099F57-1C3F-4EBD-8C68-4807A57829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4389" y="2052919"/>
            <a:ext cx="4076889" cy="90588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0000" tIns="82800" rIns="90000" bIns="828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Un hilo con forma cuadrada,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de lado L, con 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2 terminales</a:t>
            </a:r>
          </a:p>
        </p:txBody>
      </p:sp>
      <p:sp>
        <p:nvSpPr>
          <p:cNvPr id="4" name="Forma libre: forma 3">
            <a:extLst>
              <a:ext uri="{FF2B5EF4-FFF2-40B4-BE49-F238E27FC236}">
                <a16:creationId xmlns:a16="http://schemas.microsoft.com/office/drawing/2014/main" id="{2C10E5E2-BBF9-44F9-BB12-4923FEFFAA83}"/>
              </a:ext>
            </a:extLst>
          </p:cNvPr>
          <p:cNvSpPr/>
          <p:nvPr/>
        </p:nvSpPr>
        <p:spPr bwMode="auto">
          <a:xfrm rot="757250">
            <a:off x="9256854" y="5233786"/>
            <a:ext cx="577375" cy="249055"/>
          </a:xfrm>
          <a:custGeom>
            <a:avLst/>
            <a:gdLst>
              <a:gd name="connsiteX0" fmla="*/ 0 w 447675"/>
              <a:gd name="connsiteY0" fmla="*/ 1903 h 392428"/>
              <a:gd name="connsiteX1" fmla="*/ 304800 w 447675"/>
              <a:gd name="connsiteY1" fmla="*/ 59053 h 392428"/>
              <a:gd name="connsiteX2" fmla="*/ 447675 w 447675"/>
              <a:gd name="connsiteY2" fmla="*/ 392428 h 392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47675" h="392428">
                <a:moveTo>
                  <a:pt x="0" y="1903"/>
                </a:moveTo>
                <a:cubicBezTo>
                  <a:pt x="115094" y="-2066"/>
                  <a:pt x="230188" y="-6035"/>
                  <a:pt x="304800" y="59053"/>
                </a:cubicBezTo>
                <a:cubicBezTo>
                  <a:pt x="379413" y="124141"/>
                  <a:pt x="413544" y="258284"/>
                  <a:pt x="447675" y="392428"/>
                </a:cubicBezTo>
              </a:path>
            </a:pathLst>
          </a:custGeom>
          <a:noFill/>
          <a:ln w="38100" cap="flat" cmpd="sng" algn="ctr">
            <a:solidFill>
              <a:srgbClr val="008000"/>
            </a:solidFill>
            <a:prstDash val="solid"/>
            <a:round/>
            <a:headEnd type="none" w="med" len="med"/>
            <a:tailEnd type="triangle" w="med" len="lg"/>
          </a:ln>
          <a:effectLst/>
        </p:spPr>
        <p:txBody>
          <a:bodyPr vert="horz" wrap="square" lIns="90000" tIns="82800" rIns="90000" bIns="82800" numCol="1" rtlCol="0" anchor="t" anchorCtr="1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-2500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537535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48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48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4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34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34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3" dur="500"/>
                                        <p:tgtEl>
                                          <p:spTgt spid="34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000"/>
                            </p:stCondLst>
                            <p:childTnLst>
                              <p:par>
                                <p:cTn id="8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6976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6976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4903" grpId="0" animBg="1"/>
      <p:bldP spid="697604" grpId="0"/>
      <p:bldP spid="34833" grpId="0" animBg="1"/>
      <p:bldP spid="34885" grpId="0" animBg="1"/>
      <p:bldP spid="156" grpId="0" animBg="1"/>
      <p:bldP spid="34842" grpId="0" animBg="1"/>
      <p:bldP spid="34839" grpId="0" animBg="1"/>
      <p:bldP spid="101" grpId="0" animBg="1"/>
      <p:bldP spid="3" grpId="0" animBg="1"/>
      <p:bldP spid="108" grpId="0"/>
      <p:bldP spid="91" grpId="0" animBg="1"/>
      <p:bldP spid="63" grpId="0" animBg="1"/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FA99D0AF-D5C4-4902-B469-1B806E494AC9}"/>
              </a:ext>
            </a:extLst>
          </p:cNvPr>
          <p:cNvSpPr/>
          <p:nvPr/>
        </p:nvSpPr>
        <p:spPr bwMode="auto">
          <a:xfrm>
            <a:off x="1285586" y="1081310"/>
            <a:ext cx="5040000" cy="31680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square" lIns="90000" tIns="82800" rIns="90000" bIns="82800" numCol="1" rtlCol="0" anchor="t" anchorCtr="1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-2500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697604" name="Text Box 260"/>
          <p:cNvSpPr txBox="1">
            <a:spLocks noChangeArrowheads="1"/>
          </p:cNvSpPr>
          <p:nvPr/>
        </p:nvSpPr>
        <p:spPr bwMode="auto">
          <a:xfrm>
            <a:off x="3236876" y="3684377"/>
            <a:ext cx="350837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1" dirty="0">
                <a:solidFill>
                  <a:srgbClr val="FF0000"/>
                </a:solidFill>
                <a:latin typeface="Arial" panose="020B0604020202020204" pitchFamily="34" charset="0"/>
              </a:rPr>
              <a:t>V</a:t>
            </a:r>
          </a:p>
        </p:txBody>
      </p:sp>
      <p:sp>
        <p:nvSpPr>
          <p:cNvPr id="34833" name="Text Box 125"/>
          <p:cNvSpPr txBox="1">
            <a:spLocks noChangeArrowheads="1"/>
          </p:cNvSpPr>
          <p:nvPr/>
        </p:nvSpPr>
        <p:spPr bwMode="auto">
          <a:xfrm>
            <a:off x="1279152" y="394504"/>
            <a:ext cx="2711296" cy="536549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s-ES" sz="2400" b="1"/>
              <a:t>GIRO DE ESPIRA</a:t>
            </a:r>
          </a:p>
        </p:txBody>
      </p:sp>
      <p:grpSp>
        <p:nvGrpSpPr>
          <p:cNvPr id="120" name="Group 130"/>
          <p:cNvGrpSpPr>
            <a:grpSpLocks/>
          </p:cNvGrpSpPr>
          <p:nvPr/>
        </p:nvGrpSpPr>
        <p:grpSpPr bwMode="auto">
          <a:xfrm>
            <a:off x="1447512" y="1233710"/>
            <a:ext cx="4694237" cy="1854200"/>
            <a:chOff x="1105" y="1506"/>
            <a:chExt cx="2957" cy="1168"/>
          </a:xfrm>
        </p:grpSpPr>
        <p:sp>
          <p:nvSpPr>
            <p:cNvPr id="11" name="Line 37"/>
            <p:cNvSpPr>
              <a:spLocks noChangeShapeType="1"/>
            </p:cNvSpPr>
            <p:nvPr/>
          </p:nvSpPr>
          <p:spPr bwMode="auto">
            <a:xfrm>
              <a:off x="2075" y="2515"/>
              <a:ext cx="91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 type="none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grpSp>
          <p:nvGrpSpPr>
            <p:cNvPr id="34855" name="Group 129"/>
            <p:cNvGrpSpPr>
              <a:grpSpLocks/>
            </p:cNvGrpSpPr>
            <p:nvPr/>
          </p:nvGrpSpPr>
          <p:grpSpPr bwMode="auto">
            <a:xfrm>
              <a:off x="1105" y="1506"/>
              <a:ext cx="2957" cy="1168"/>
              <a:chOff x="1105" y="1506"/>
              <a:chExt cx="2957" cy="1168"/>
            </a:xfrm>
          </p:grpSpPr>
          <p:sp>
            <p:nvSpPr>
              <p:cNvPr id="34856" name="AutoShape 3"/>
              <p:cNvSpPr>
                <a:spLocks noChangeArrowheads="1"/>
              </p:cNvSpPr>
              <p:nvPr/>
            </p:nvSpPr>
            <p:spPr bwMode="auto">
              <a:xfrm>
                <a:off x="1105" y="1860"/>
                <a:ext cx="910" cy="814"/>
              </a:xfrm>
              <a:prstGeom prst="cube">
                <a:avLst>
                  <a:gd name="adj" fmla="val 25000"/>
                </a:avLst>
              </a:prstGeom>
              <a:solidFill>
                <a:srgbClr val="FF0000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34857" name="Text Box 4"/>
              <p:cNvSpPr txBox="1">
                <a:spLocks noChangeArrowheads="1"/>
              </p:cNvSpPr>
              <p:nvPr/>
            </p:nvSpPr>
            <p:spPr bwMode="auto">
              <a:xfrm>
                <a:off x="1336" y="2154"/>
                <a:ext cx="286" cy="2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/>
              <a:lstStyle>
                <a:lvl1pPr defTabSz="1008063"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1008063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1008063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1008063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1008063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400" b="1" dirty="0">
                    <a:solidFill>
                      <a:schemeClr val="bg1"/>
                    </a:solidFill>
                    <a:latin typeface="Arial" panose="020B0604020202020204" pitchFamily="34" charset="0"/>
                  </a:rPr>
                  <a:t>N</a:t>
                </a:r>
              </a:p>
            </p:txBody>
          </p:sp>
          <p:sp>
            <p:nvSpPr>
              <p:cNvPr id="34867" name="Line 16"/>
              <p:cNvSpPr>
                <a:spLocks noChangeShapeType="1"/>
              </p:cNvSpPr>
              <p:nvPr/>
            </p:nvSpPr>
            <p:spPr bwMode="auto">
              <a:xfrm flipV="1">
                <a:off x="1950" y="1927"/>
                <a:ext cx="1509" cy="0"/>
              </a:xfrm>
              <a:prstGeom prst="line">
                <a:avLst/>
              </a:prstGeom>
              <a:noFill/>
              <a:ln w="19050">
                <a:solidFill>
                  <a:srgbClr val="008000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868" name="Line 17"/>
              <p:cNvSpPr>
                <a:spLocks noChangeShapeType="1"/>
              </p:cNvSpPr>
              <p:nvPr/>
            </p:nvSpPr>
            <p:spPr bwMode="auto">
              <a:xfrm flipV="1">
                <a:off x="1862" y="2054"/>
                <a:ext cx="1354" cy="0"/>
              </a:xfrm>
              <a:prstGeom prst="line">
                <a:avLst/>
              </a:prstGeom>
              <a:noFill/>
              <a:ln w="19050">
                <a:solidFill>
                  <a:srgbClr val="008000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869" name="Line 18"/>
              <p:cNvSpPr>
                <a:spLocks noChangeShapeType="1"/>
              </p:cNvSpPr>
              <p:nvPr/>
            </p:nvSpPr>
            <p:spPr bwMode="auto">
              <a:xfrm flipV="1">
                <a:off x="1850" y="2283"/>
                <a:ext cx="1335" cy="0"/>
              </a:xfrm>
              <a:prstGeom prst="line">
                <a:avLst/>
              </a:prstGeom>
              <a:noFill/>
              <a:ln w="19050">
                <a:solidFill>
                  <a:srgbClr val="008000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870" name="Line 19"/>
              <p:cNvSpPr>
                <a:spLocks noChangeShapeType="1"/>
              </p:cNvSpPr>
              <p:nvPr/>
            </p:nvSpPr>
            <p:spPr bwMode="auto">
              <a:xfrm flipV="1">
                <a:off x="1862" y="2519"/>
                <a:ext cx="1348" cy="0"/>
              </a:xfrm>
              <a:prstGeom prst="line">
                <a:avLst/>
              </a:prstGeom>
              <a:noFill/>
              <a:ln w="19050">
                <a:solidFill>
                  <a:srgbClr val="008000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 dirty="0"/>
              </a:p>
            </p:txBody>
          </p:sp>
          <p:sp>
            <p:nvSpPr>
              <p:cNvPr id="34871" name="Line 20"/>
              <p:cNvSpPr>
                <a:spLocks noChangeShapeType="1"/>
              </p:cNvSpPr>
              <p:nvPr/>
            </p:nvSpPr>
            <p:spPr bwMode="auto">
              <a:xfrm flipV="1">
                <a:off x="1974" y="2148"/>
                <a:ext cx="1431" cy="0"/>
              </a:xfrm>
              <a:prstGeom prst="line">
                <a:avLst/>
              </a:prstGeom>
              <a:noFill/>
              <a:ln w="19050">
                <a:solidFill>
                  <a:srgbClr val="008000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872" name="Line 21"/>
              <p:cNvSpPr>
                <a:spLocks noChangeShapeType="1"/>
              </p:cNvSpPr>
              <p:nvPr/>
            </p:nvSpPr>
            <p:spPr bwMode="auto">
              <a:xfrm flipV="1">
                <a:off x="1974" y="2410"/>
                <a:ext cx="1451" cy="0"/>
              </a:xfrm>
              <a:prstGeom prst="line">
                <a:avLst/>
              </a:prstGeom>
              <a:noFill/>
              <a:ln w="19050">
                <a:solidFill>
                  <a:srgbClr val="008000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873" name="AutoShape 22"/>
              <p:cNvSpPr>
                <a:spLocks noChangeArrowheads="1"/>
              </p:cNvSpPr>
              <p:nvPr/>
            </p:nvSpPr>
            <p:spPr bwMode="auto">
              <a:xfrm>
                <a:off x="3162" y="1815"/>
                <a:ext cx="900" cy="814"/>
              </a:xfrm>
              <a:prstGeom prst="cube">
                <a:avLst>
                  <a:gd name="adj" fmla="val 25000"/>
                </a:avLst>
              </a:prstGeom>
              <a:solidFill>
                <a:srgbClr val="0000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34874" name="Text Box 23"/>
              <p:cNvSpPr txBox="1">
                <a:spLocks noChangeArrowheads="1"/>
              </p:cNvSpPr>
              <p:nvPr/>
            </p:nvSpPr>
            <p:spPr bwMode="auto">
              <a:xfrm>
                <a:off x="3403" y="2155"/>
                <a:ext cx="277" cy="3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/>
              <a:lstStyle>
                <a:lvl1pPr defTabSz="1008063"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1008063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1008063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1008063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1008063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400" dirty="0">
                    <a:solidFill>
                      <a:srgbClr val="FFFFFF"/>
                    </a:solidFill>
                    <a:latin typeface="Arial" panose="020B0604020202020204" pitchFamily="34" charset="0"/>
                  </a:rPr>
                  <a:t>S</a:t>
                </a:r>
              </a:p>
            </p:txBody>
          </p:sp>
          <p:sp>
            <p:nvSpPr>
              <p:cNvPr id="34875" name="Line 32"/>
              <p:cNvSpPr>
                <a:spLocks noChangeShapeType="1"/>
              </p:cNvSpPr>
              <p:nvPr/>
            </p:nvSpPr>
            <p:spPr bwMode="auto">
              <a:xfrm>
                <a:off x="2257" y="1931"/>
                <a:ext cx="91" cy="0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 type="none" w="med" len="med"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876" name="Line 33"/>
              <p:cNvSpPr>
                <a:spLocks noChangeShapeType="1"/>
              </p:cNvSpPr>
              <p:nvPr/>
            </p:nvSpPr>
            <p:spPr bwMode="auto">
              <a:xfrm>
                <a:off x="2100" y="2054"/>
                <a:ext cx="91" cy="0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 type="none" w="med" len="med"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877" name="Line 34"/>
              <p:cNvSpPr>
                <a:spLocks noChangeShapeType="1"/>
              </p:cNvSpPr>
              <p:nvPr/>
            </p:nvSpPr>
            <p:spPr bwMode="auto">
              <a:xfrm>
                <a:off x="2247" y="2145"/>
                <a:ext cx="91" cy="0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 type="none" w="med" len="med"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878" name="Line 35"/>
              <p:cNvSpPr>
                <a:spLocks noChangeShapeType="1"/>
              </p:cNvSpPr>
              <p:nvPr/>
            </p:nvSpPr>
            <p:spPr bwMode="auto">
              <a:xfrm>
                <a:off x="2086" y="2281"/>
                <a:ext cx="91" cy="0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 type="none" w="med" len="med"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879" name="Line 36"/>
              <p:cNvSpPr>
                <a:spLocks noChangeShapeType="1"/>
              </p:cNvSpPr>
              <p:nvPr/>
            </p:nvSpPr>
            <p:spPr bwMode="auto">
              <a:xfrm>
                <a:off x="2239" y="2408"/>
                <a:ext cx="91" cy="0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 type="none" w="med" len="med"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graphicFrame>
            <p:nvGraphicFramePr>
              <p:cNvPr id="34880" name="Object 51"/>
              <p:cNvGraphicFramePr>
                <a:graphicFrameLocks noChangeAspect="1"/>
              </p:cNvGraphicFramePr>
              <p:nvPr/>
            </p:nvGraphicFramePr>
            <p:xfrm>
              <a:off x="2125" y="1506"/>
              <a:ext cx="226" cy="30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cuación" r:id="rId3" imgW="152268" imgH="203024" progId="Equation.3">
                      <p:embed/>
                    </p:oleObj>
                  </mc:Choice>
                  <mc:Fallback>
                    <p:oleObj name="Ecuación" r:id="rId3" imgW="152268" imgH="203024" progId="Equation.3">
                      <p:embed/>
                      <p:pic>
                        <p:nvPicPr>
                          <p:cNvPr id="34880" name="Object 5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125" y="1506"/>
                            <a:ext cx="226" cy="30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6" name="Grupo 5">
            <a:extLst>
              <a:ext uri="{FF2B5EF4-FFF2-40B4-BE49-F238E27FC236}">
                <a16:creationId xmlns:a16="http://schemas.microsoft.com/office/drawing/2014/main" id="{AA5D7AB4-7223-46B3-9E53-2C08437B2378}"/>
              </a:ext>
            </a:extLst>
          </p:cNvPr>
          <p:cNvGrpSpPr/>
          <p:nvPr/>
        </p:nvGrpSpPr>
        <p:grpSpPr>
          <a:xfrm>
            <a:off x="2932781" y="2851304"/>
            <a:ext cx="703087" cy="1133478"/>
            <a:chOff x="2709652" y="3047771"/>
            <a:chExt cx="703087" cy="1133478"/>
          </a:xfrm>
        </p:grpSpPr>
        <p:sp>
          <p:nvSpPr>
            <p:cNvPr id="34900" name="Oval 66"/>
            <p:cNvSpPr>
              <a:spLocks noChangeArrowheads="1"/>
            </p:cNvSpPr>
            <p:nvPr/>
          </p:nvSpPr>
          <p:spPr bwMode="auto">
            <a:xfrm>
              <a:off x="2980939" y="3047771"/>
              <a:ext cx="431800" cy="431801"/>
            </a:xfrm>
            <a:prstGeom prst="ellipse">
              <a:avLst/>
            </a:prstGeom>
            <a:noFill/>
            <a:ln w="25400" algn="ctr">
              <a:solidFill>
                <a:srgbClr val="3333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4910" name="Oval 67"/>
            <p:cNvSpPr>
              <a:spLocks noChangeArrowheads="1"/>
            </p:cNvSpPr>
            <p:nvPr/>
          </p:nvSpPr>
          <p:spPr bwMode="auto">
            <a:xfrm>
              <a:off x="2709652" y="3482922"/>
              <a:ext cx="294925" cy="294925"/>
            </a:xfrm>
            <a:prstGeom prst="ellipse">
              <a:avLst/>
            </a:prstGeom>
            <a:noFill/>
            <a:ln w="25400" algn="ctr">
              <a:solidFill>
                <a:srgbClr val="3333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4911" name="Line 68"/>
            <p:cNvSpPr>
              <a:spLocks noChangeShapeType="1"/>
            </p:cNvSpPr>
            <p:nvPr/>
          </p:nvSpPr>
          <p:spPr bwMode="auto">
            <a:xfrm>
              <a:off x="3193664" y="3482747"/>
              <a:ext cx="0" cy="277813"/>
            </a:xfrm>
            <a:prstGeom prst="line">
              <a:avLst/>
            </a:prstGeom>
            <a:noFill/>
            <a:ln w="25400">
              <a:solidFill>
                <a:srgbClr val="3333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Ctr="1"/>
            <a:lstStyle/>
            <a:p>
              <a:endParaRPr lang="en-GB"/>
            </a:p>
          </p:txBody>
        </p:sp>
        <p:sp>
          <p:nvSpPr>
            <p:cNvPr id="34912" name="Line 69"/>
            <p:cNvSpPr>
              <a:spLocks noChangeShapeType="1"/>
            </p:cNvSpPr>
            <p:nvPr/>
          </p:nvSpPr>
          <p:spPr bwMode="auto">
            <a:xfrm>
              <a:off x="2865051" y="3788036"/>
              <a:ext cx="0" cy="336153"/>
            </a:xfrm>
            <a:prstGeom prst="line">
              <a:avLst/>
            </a:prstGeom>
            <a:noFill/>
            <a:ln w="25400">
              <a:solidFill>
                <a:srgbClr val="3333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Ctr="1"/>
            <a:lstStyle/>
            <a:p>
              <a:endParaRPr lang="en-GB"/>
            </a:p>
          </p:txBody>
        </p:sp>
        <p:sp>
          <p:nvSpPr>
            <p:cNvPr id="34898" name="Oval 131"/>
            <p:cNvSpPr>
              <a:spLocks noChangeArrowheads="1"/>
            </p:cNvSpPr>
            <p:nvPr/>
          </p:nvSpPr>
          <p:spPr bwMode="auto">
            <a:xfrm>
              <a:off x="2814251" y="4073299"/>
              <a:ext cx="107950" cy="10795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4899" name="Oval 132"/>
            <p:cNvSpPr>
              <a:spLocks noChangeArrowheads="1"/>
            </p:cNvSpPr>
            <p:nvPr/>
          </p:nvSpPr>
          <p:spPr bwMode="auto">
            <a:xfrm>
              <a:off x="3139689" y="3731985"/>
              <a:ext cx="107950" cy="10795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9" name="Grupo 18">
            <a:extLst>
              <a:ext uri="{FF2B5EF4-FFF2-40B4-BE49-F238E27FC236}">
                <a16:creationId xmlns:a16="http://schemas.microsoft.com/office/drawing/2014/main" id="{00BA2E4B-9914-47B2-ACBC-2706B6BB0AD4}"/>
              </a:ext>
            </a:extLst>
          </p:cNvPr>
          <p:cNvGrpSpPr/>
          <p:nvPr/>
        </p:nvGrpSpPr>
        <p:grpSpPr>
          <a:xfrm>
            <a:off x="2740828" y="1030142"/>
            <a:ext cx="2307057" cy="2918264"/>
            <a:chOff x="2569378" y="986701"/>
            <a:chExt cx="2307057" cy="2918264"/>
          </a:xfrm>
        </p:grpSpPr>
        <p:sp>
          <p:nvSpPr>
            <p:cNvPr id="76" name="Line 2">
              <a:extLst>
                <a:ext uri="{FF2B5EF4-FFF2-40B4-BE49-F238E27FC236}">
                  <a16:creationId xmlns:a16="http://schemas.microsoft.com/office/drawing/2014/main" id="{1508913F-F158-4E3A-849C-4CC1ABB25B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69378" y="1496727"/>
              <a:ext cx="1836737" cy="2408238"/>
            </a:xfrm>
            <a:prstGeom prst="line">
              <a:avLst/>
            </a:prstGeom>
            <a:noFill/>
            <a:ln w="38100">
              <a:solidFill>
                <a:schemeClr val="tx2">
                  <a:lumMod val="75000"/>
                  <a:lumOff val="25000"/>
                </a:schemeClr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77" name="AutoShape 15">
              <a:extLst>
                <a:ext uri="{FF2B5EF4-FFF2-40B4-BE49-F238E27FC236}">
                  <a16:creationId xmlns:a16="http://schemas.microsoft.com/office/drawing/2014/main" id="{C4BBB5D8-DD3D-436D-A10F-30B5DBDED64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0859096">
              <a:off x="4217507" y="1287171"/>
              <a:ext cx="363537" cy="51752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3207 w 21600"/>
                <a:gd name="T19" fmla="*/ 3180 h 21600"/>
                <a:gd name="T20" fmla="*/ 18393 w 21600"/>
                <a:gd name="T21" fmla="*/ 18420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8676" y="10800"/>
                  </a:moveTo>
                  <a:cubicBezTo>
                    <a:pt x="18676" y="6450"/>
                    <a:pt x="15149" y="2924"/>
                    <a:pt x="10800" y="2924"/>
                  </a:cubicBezTo>
                  <a:cubicBezTo>
                    <a:pt x="6450" y="2924"/>
                    <a:pt x="2924" y="6450"/>
                    <a:pt x="2924" y="10800"/>
                  </a:cubicBezTo>
                  <a:cubicBezTo>
                    <a:pt x="2923" y="10813"/>
                    <a:pt x="2924" y="10827"/>
                    <a:pt x="2924" y="10841"/>
                  </a:cubicBezTo>
                  <a:lnTo>
                    <a:pt x="0" y="10857"/>
                  </a:lnTo>
                  <a:cubicBezTo>
                    <a:pt x="0" y="10838"/>
                    <a:pt x="0" y="10819"/>
                    <a:pt x="0" y="10800"/>
                  </a:cubicBezTo>
                  <a:cubicBezTo>
                    <a:pt x="0" y="4835"/>
                    <a:pt x="4835" y="0"/>
                    <a:pt x="10800" y="0"/>
                  </a:cubicBezTo>
                  <a:cubicBezTo>
                    <a:pt x="16764" y="-1"/>
                    <a:pt x="21599" y="4835"/>
                    <a:pt x="21600" y="10799"/>
                  </a:cubicBezTo>
                  <a:lnTo>
                    <a:pt x="21600" y="10800"/>
                  </a:lnTo>
                  <a:lnTo>
                    <a:pt x="24300" y="10800"/>
                  </a:lnTo>
                  <a:lnTo>
                    <a:pt x="20138" y="14962"/>
                  </a:lnTo>
                  <a:lnTo>
                    <a:pt x="15976" y="10800"/>
                  </a:lnTo>
                  <a:lnTo>
                    <a:pt x="18676" y="10800"/>
                  </a:lnTo>
                  <a:close/>
                </a:path>
              </a:pathLst>
            </a:cu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GB" dirty="0"/>
            </a:p>
          </p:txBody>
        </p:sp>
        <p:sp>
          <p:nvSpPr>
            <p:cNvPr id="78" name="Text Box 54">
              <a:extLst>
                <a:ext uri="{FF2B5EF4-FFF2-40B4-BE49-F238E27FC236}">
                  <a16:creationId xmlns:a16="http://schemas.microsoft.com/office/drawing/2014/main" id="{A9BDA0E2-6EDE-41C9-BF04-5D0F909B01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0835" y="986701"/>
              <a:ext cx="355600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latin typeface="Arial" panose="020B0604020202020204" pitchFamily="34" charset="0"/>
                  <a:sym typeface="Symbol" panose="05050102010706020507" pitchFamily="18" charset="2"/>
                </a:rPr>
                <a:t></a:t>
              </a:r>
            </a:p>
          </p:txBody>
        </p:sp>
      </p:grpSp>
      <p:grpSp>
        <p:nvGrpSpPr>
          <p:cNvPr id="18" name="Grupo 17">
            <a:extLst>
              <a:ext uri="{FF2B5EF4-FFF2-40B4-BE49-F238E27FC236}">
                <a16:creationId xmlns:a16="http://schemas.microsoft.com/office/drawing/2014/main" id="{538C2BF6-15FF-440E-96CC-6E50B928387E}"/>
              </a:ext>
            </a:extLst>
          </p:cNvPr>
          <p:cNvGrpSpPr/>
          <p:nvPr/>
        </p:nvGrpSpPr>
        <p:grpSpPr>
          <a:xfrm>
            <a:off x="3032280" y="1465874"/>
            <a:ext cx="1114848" cy="1955258"/>
            <a:chOff x="-633041" y="1023582"/>
            <a:chExt cx="1114848" cy="1955258"/>
          </a:xfrm>
        </p:grpSpPr>
        <p:sp>
          <p:nvSpPr>
            <p:cNvPr id="79" name="Line 8">
              <a:extLst>
                <a:ext uri="{FF2B5EF4-FFF2-40B4-BE49-F238E27FC236}">
                  <a16:creationId xmlns:a16="http://schemas.microsoft.com/office/drawing/2014/main" id="{B4E67C14-D360-421E-A25C-19513D3B0F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-578643" y="2007832"/>
              <a:ext cx="708025" cy="88900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80" name="Line 5">
              <a:extLst>
                <a:ext uri="{FF2B5EF4-FFF2-40B4-BE49-F238E27FC236}">
                  <a16:creationId xmlns:a16="http://schemas.microsoft.com/office/drawing/2014/main" id="{F4CE65ED-2829-4BE4-8447-792FD5E823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8269" y="1023582"/>
              <a:ext cx="363537" cy="517525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81" name="Line 6">
              <a:extLst>
                <a:ext uri="{FF2B5EF4-FFF2-40B4-BE49-F238E27FC236}">
                  <a16:creationId xmlns:a16="http://schemas.microsoft.com/office/drawing/2014/main" id="{1A522F56-19F8-4093-8AD1-B182FBA759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8269" y="2253894"/>
              <a:ext cx="363537" cy="517525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82" name="Line 7">
              <a:extLst>
                <a:ext uri="{FF2B5EF4-FFF2-40B4-BE49-F238E27FC236}">
                  <a16:creationId xmlns:a16="http://schemas.microsoft.com/office/drawing/2014/main" id="{10FE7D64-A53F-453C-BFDB-FEDC41B100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-246856" y="2231669"/>
              <a:ext cx="365125" cy="517525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83" name="Line 9">
              <a:extLst>
                <a:ext uri="{FF2B5EF4-FFF2-40B4-BE49-F238E27FC236}">
                  <a16:creationId xmlns:a16="http://schemas.microsoft.com/office/drawing/2014/main" id="{DDEB1AB8-29E5-47C7-A86B-AA635EC521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1807" y="1056919"/>
              <a:ext cx="0" cy="121285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84" name="Line 10">
              <a:extLst>
                <a:ext uri="{FF2B5EF4-FFF2-40B4-BE49-F238E27FC236}">
                  <a16:creationId xmlns:a16="http://schemas.microsoft.com/office/drawing/2014/main" id="{E171499C-D202-45B4-91FC-3631B69790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8269" y="1542694"/>
              <a:ext cx="0" cy="487363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85" name="Line 11">
              <a:extLst>
                <a:ext uri="{FF2B5EF4-FFF2-40B4-BE49-F238E27FC236}">
                  <a16:creationId xmlns:a16="http://schemas.microsoft.com/office/drawing/2014/main" id="{A3305636-43BB-48A1-B1BD-D6B4504745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8269" y="2231669"/>
              <a:ext cx="0" cy="517525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88" name="Oval 13">
              <a:extLst>
                <a:ext uri="{FF2B5EF4-FFF2-40B4-BE49-F238E27FC236}">
                  <a16:creationId xmlns:a16="http://schemas.microsoft.com/office/drawing/2014/main" id="{23543AB7-877F-46E8-ACD2-38A6024F51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633041" y="2870890"/>
              <a:ext cx="107950" cy="10795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0" name="Oval 14">
              <a:extLst>
                <a:ext uri="{FF2B5EF4-FFF2-40B4-BE49-F238E27FC236}">
                  <a16:creationId xmlns:a16="http://schemas.microsoft.com/office/drawing/2014/main" id="{5223543B-F24F-468F-8913-D3D62CA69B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283791" y="2716154"/>
              <a:ext cx="107950" cy="10795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62" name="Grupo 61">
            <a:extLst>
              <a:ext uri="{FF2B5EF4-FFF2-40B4-BE49-F238E27FC236}">
                <a16:creationId xmlns:a16="http://schemas.microsoft.com/office/drawing/2014/main" id="{36EEC3FB-CA43-4B4C-B368-0182D828DBE5}"/>
              </a:ext>
            </a:extLst>
          </p:cNvPr>
          <p:cNvGrpSpPr/>
          <p:nvPr/>
        </p:nvGrpSpPr>
        <p:grpSpPr>
          <a:xfrm>
            <a:off x="6544641" y="1838228"/>
            <a:ext cx="1428750" cy="1363662"/>
            <a:chOff x="6544641" y="1887856"/>
            <a:chExt cx="1428750" cy="1363662"/>
          </a:xfrm>
        </p:grpSpPr>
        <p:sp>
          <p:nvSpPr>
            <p:cNvPr id="64" name="Rectángulo 63">
              <a:extLst>
                <a:ext uri="{FF2B5EF4-FFF2-40B4-BE49-F238E27FC236}">
                  <a16:creationId xmlns:a16="http://schemas.microsoft.com/office/drawing/2014/main" id="{7093543B-1069-4903-96C2-6ADA743FDB4A}"/>
                </a:ext>
              </a:extLst>
            </p:cNvPr>
            <p:cNvSpPr/>
            <p:nvPr/>
          </p:nvSpPr>
          <p:spPr bwMode="auto">
            <a:xfrm>
              <a:off x="6544641" y="1887856"/>
              <a:ext cx="1428750" cy="1363662"/>
            </a:xfrm>
            <a:prstGeom prst="rect">
              <a:avLst/>
            </a:prstGeom>
            <a:solidFill>
              <a:srgbClr val="FFFFFF"/>
            </a:solidFill>
            <a:ln w="25400" cap="flat" cmpd="sng" algn="ctr">
              <a:noFill/>
              <a:prstDash val="solid"/>
              <a:round/>
              <a:headEnd type="none" w="med" len="med"/>
              <a:tailEnd type="none" w="lg" len="lg"/>
            </a:ln>
            <a:effectLst/>
          </p:spPr>
          <p:txBody>
            <a:bodyPr vert="horz" wrap="none" lIns="90000" tIns="82800" rIns="90000" bIns="82800" numCol="1" rtlCol="0" anchor="t" anchorCtr="1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-2500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grpSp>
          <p:nvGrpSpPr>
            <p:cNvPr id="65" name="Grupo 64">
              <a:extLst>
                <a:ext uri="{FF2B5EF4-FFF2-40B4-BE49-F238E27FC236}">
                  <a16:creationId xmlns:a16="http://schemas.microsoft.com/office/drawing/2014/main" id="{621C8432-58CD-4A12-8563-A8E4BAE3DB0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670801" y="1949018"/>
              <a:ext cx="1230888" cy="1189086"/>
              <a:chOff x="4486071" y="2298972"/>
              <a:chExt cx="1231889" cy="1187933"/>
            </a:xfrm>
          </p:grpSpPr>
          <p:cxnSp>
            <p:nvCxnSpPr>
              <p:cNvPr id="67" name="Conector recto 17">
                <a:extLst>
                  <a:ext uri="{FF2B5EF4-FFF2-40B4-BE49-F238E27FC236}">
                    <a16:creationId xmlns:a16="http://schemas.microsoft.com/office/drawing/2014/main" id="{80F3FCE1-4E39-4A0E-9203-F9FFF7241BB5}"/>
                  </a:ext>
                </a:extLst>
              </p:cNvPr>
              <p:cNvCxnSpPr>
                <a:cxnSpLocks noChangeShapeType="1"/>
                <a:stCxn id="69" idx="0"/>
              </p:cNvCxnSpPr>
              <p:nvPr/>
            </p:nvCxnSpPr>
            <p:spPr bwMode="auto">
              <a:xfrm>
                <a:off x="4710907" y="2900991"/>
                <a:ext cx="783022" cy="448292"/>
              </a:xfrm>
              <a:prstGeom prst="line">
                <a:avLst/>
              </a:prstGeom>
              <a:noFill/>
              <a:ln w="19050" algn="ctr">
                <a:solidFill>
                  <a:schemeClr val="tx2">
                    <a:lumMod val="75000"/>
                    <a:lumOff val="25000"/>
                  </a:schemeClr>
                </a:solidFill>
                <a:prstDash val="dash"/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grpSp>
            <p:nvGrpSpPr>
              <p:cNvPr id="68" name="Grupo 15">
                <a:extLst>
                  <a:ext uri="{FF2B5EF4-FFF2-40B4-BE49-F238E27FC236}">
                    <a16:creationId xmlns:a16="http://schemas.microsoft.com/office/drawing/2014/main" id="{97A546D4-A03E-4AB6-A247-88BDF12395C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15087" y="2298972"/>
                <a:ext cx="778842" cy="579801"/>
                <a:chOff x="4471247" y="2512332"/>
                <a:chExt cx="778842" cy="579801"/>
              </a:xfrm>
            </p:grpSpPr>
            <p:cxnSp>
              <p:nvCxnSpPr>
                <p:cNvPr id="73" name="Conector recto de flecha 7">
                  <a:extLst>
                    <a:ext uri="{FF2B5EF4-FFF2-40B4-BE49-F238E27FC236}">
                      <a16:creationId xmlns:a16="http://schemas.microsoft.com/office/drawing/2014/main" id="{94F35D06-8BF7-4A9B-B602-B50613D2C906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4471247" y="3084093"/>
                  <a:ext cx="778842" cy="8040"/>
                </a:xfrm>
                <a:prstGeom prst="straightConnector1">
                  <a:avLst/>
                </a:prstGeom>
                <a:noFill/>
                <a:ln w="25400" algn="ctr">
                  <a:solidFill>
                    <a:srgbClr val="008000"/>
                  </a:solidFill>
                  <a:round/>
                  <a:headEnd/>
                  <a:tailEnd type="triangle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graphicFrame>
              <p:nvGraphicFramePr>
                <p:cNvPr id="74" name="Object 51">
                  <a:extLst>
                    <a:ext uri="{FF2B5EF4-FFF2-40B4-BE49-F238E27FC236}">
                      <a16:creationId xmlns:a16="http://schemas.microsoft.com/office/drawing/2014/main" id="{7A85B9C1-66C5-4A6A-A63B-A452899717E7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4696686" y="2512332"/>
                <a:ext cx="358775" cy="47783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cuación" r:id="rId3" imgW="152268" imgH="203024" progId="Equation.3">
                        <p:embed/>
                      </p:oleObj>
                    </mc:Choice>
                    <mc:Fallback>
                      <p:oleObj name="Ecuación" r:id="rId3" imgW="152268" imgH="203024" progId="Equation.3">
                        <p:embed/>
                        <p:pic>
                          <p:nvPicPr>
                            <p:cNvPr id="74" name="Object 51">
                              <a:extLst>
                                <a:ext uri="{FF2B5EF4-FFF2-40B4-BE49-F238E27FC236}">
                                  <a16:creationId xmlns:a16="http://schemas.microsoft.com/office/drawing/2014/main" id="{7A85B9C1-66C5-4A6A-A63B-A452899717E7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696686" y="2512332"/>
                              <a:ext cx="358775" cy="47783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69" name="Line 16">
                <a:extLst>
                  <a:ext uri="{FF2B5EF4-FFF2-40B4-BE49-F238E27FC236}">
                    <a16:creationId xmlns:a16="http://schemas.microsoft.com/office/drawing/2014/main" id="{03595DA5-6BCF-4A0C-9371-F78162A672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10907" y="2900991"/>
                <a:ext cx="281124" cy="160351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82800" rIns="90000" bIns="82800" anchorCtr="1"/>
              <a:lstStyle/>
              <a:p>
                <a:endParaRPr lang="en-GB"/>
              </a:p>
            </p:txBody>
          </p:sp>
          <p:graphicFrame>
            <p:nvGraphicFramePr>
              <p:cNvPr id="70" name="Object 17">
                <a:extLst>
                  <a:ext uri="{FF2B5EF4-FFF2-40B4-BE49-F238E27FC236}">
                    <a16:creationId xmlns:a16="http://schemas.microsoft.com/office/drawing/2014/main" id="{39C2F4FF-030D-4736-B5C0-7C0003C5B18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787643273"/>
                  </p:ext>
                </p:extLst>
              </p:nvPr>
            </p:nvGraphicFramePr>
            <p:xfrm>
              <a:off x="4486071" y="3004345"/>
              <a:ext cx="345247" cy="48256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cuación" r:id="rId5" imgW="126725" imgH="177415" progId="Equation.3">
                      <p:embed/>
                    </p:oleObj>
                  </mc:Choice>
                  <mc:Fallback>
                    <p:oleObj name="Ecuación" r:id="rId5" imgW="126725" imgH="177415" progId="Equation.3">
                      <p:embed/>
                      <p:pic>
                        <p:nvPicPr>
                          <p:cNvPr id="70" name="Object 17">
                            <a:extLst>
                              <a:ext uri="{FF2B5EF4-FFF2-40B4-BE49-F238E27FC236}">
                                <a16:creationId xmlns:a16="http://schemas.microsoft.com/office/drawing/2014/main" id="{39C2F4FF-030D-4736-B5C0-7C0003C5B187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86071" y="3004345"/>
                            <a:ext cx="345247" cy="48256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71" name="CuadroTexto 18">
                <a:extLst>
                  <a:ext uri="{FF2B5EF4-FFF2-40B4-BE49-F238E27FC236}">
                    <a16:creationId xmlns:a16="http://schemas.microsoft.com/office/drawing/2014/main" id="{97BD0405-FB92-4E45-8D30-48C5E57537F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72713" y="2843527"/>
                <a:ext cx="345247" cy="4612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s-ES" sz="2400">
                    <a:sym typeface="Symbol" panose="05050102010706020507" pitchFamily="18" charset="2"/>
                  </a:rPr>
                  <a:t></a:t>
                </a:r>
                <a:endParaRPr lang="es-ES" sz="2400"/>
              </a:p>
            </p:txBody>
          </p:sp>
          <p:sp>
            <p:nvSpPr>
              <p:cNvPr id="72" name="Forma libre 19">
                <a:extLst>
                  <a:ext uri="{FF2B5EF4-FFF2-40B4-BE49-F238E27FC236}">
                    <a16:creationId xmlns:a16="http://schemas.microsoft.com/office/drawing/2014/main" id="{0B092B75-4948-4E60-92B5-E58F90E4FE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51120" y="2905760"/>
                <a:ext cx="77963" cy="223520"/>
              </a:xfrm>
              <a:custGeom>
                <a:avLst/>
                <a:gdLst>
                  <a:gd name="T0" fmla="*/ 71120 w 77963"/>
                  <a:gd name="T1" fmla="*/ 0 h 223520"/>
                  <a:gd name="T2" fmla="*/ 71120 w 77963"/>
                  <a:gd name="T3" fmla="*/ 121920 h 223520"/>
                  <a:gd name="T4" fmla="*/ 0 w 77963"/>
                  <a:gd name="T5" fmla="*/ 223520 h 22352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7963" h="223520">
                    <a:moveTo>
                      <a:pt x="71120" y="0"/>
                    </a:moveTo>
                    <a:cubicBezTo>
                      <a:pt x="77046" y="42333"/>
                      <a:pt x="82973" y="84667"/>
                      <a:pt x="71120" y="121920"/>
                    </a:cubicBezTo>
                    <a:cubicBezTo>
                      <a:pt x="59267" y="159173"/>
                      <a:pt x="29633" y="191346"/>
                      <a:pt x="0" y="223520"/>
                    </a:cubicBezTo>
                  </a:path>
                </a:pathLst>
              </a:custGeom>
              <a:noFill/>
              <a:ln w="19050" cap="flat" cmpd="sng" algn="ctr">
                <a:solidFill>
                  <a:schemeClr val="tx2">
                    <a:lumMod val="75000"/>
                    <a:lumOff val="25000"/>
                  </a:schemeClr>
                </a:solidFill>
                <a:prstDash val="solid"/>
                <a:round/>
                <a:headEnd type="none" w="med" len="med"/>
                <a:tailEnd type="arrow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82800" rIns="90000" bIns="82800" anchorCtr="1">
                <a:spAutoFit/>
              </a:bodyPr>
              <a:lstStyle/>
              <a:p>
                <a:endParaRPr lang="en-GB"/>
              </a:p>
            </p:txBody>
          </p:sp>
        </p:grpSp>
        <p:sp>
          <p:nvSpPr>
            <p:cNvPr id="66" name="Elipse 65">
              <a:extLst>
                <a:ext uri="{FF2B5EF4-FFF2-40B4-BE49-F238E27FC236}">
                  <a16:creationId xmlns:a16="http://schemas.microsoft.com/office/drawing/2014/main" id="{6CD831A2-422C-4898-A9F0-48D805561BD2}"/>
                </a:ext>
              </a:extLst>
            </p:cNvPr>
            <p:cNvSpPr/>
            <p:nvPr/>
          </p:nvSpPr>
          <p:spPr bwMode="auto">
            <a:xfrm>
              <a:off x="6791502" y="2438123"/>
              <a:ext cx="153632" cy="169983"/>
            </a:xfrm>
            <a:prstGeom prst="ellipse">
              <a:avLst/>
            </a:prstGeom>
            <a:solidFill>
              <a:srgbClr val="3333FF"/>
            </a:solidFill>
            <a:ln w="25400" cap="flat" cmpd="sng" algn="ctr">
              <a:noFill/>
              <a:prstDash val="solid"/>
              <a:round/>
              <a:headEnd type="none" w="med" len="med"/>
              <a:tailEnd type="none" w="lg" len="lg"/>
            </a:ln>
            <a:effectLst/>
          </p:spPr>
          <p:txBody>
            <a:bodyPr vert="horz" wrap="none" lIns="90000" tIns="82800" rIns="90000" bIns="82800" numCol="1" rtlCol="0" anchor="t" anchorCtr="1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75" name="Text Box 118">
            <a:extLst>
              <a:ext uri="{FF2B5EF4-FFF2-40B4-BE49-F238E27FC236}">
                <a16:creationId xmlns:a16="http://schemas.microsoft.com/office/drawing/2014/main" id="{45015242-05BA-41BB-ABC9-E4B418B036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7907" y="1902638"/>
            <a:ext cx="1771994" cy="53654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0000" tIns="82800" rIns="90000" bIns="828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v</a:t>
            </a:r>
            <a:r>
              <a:rPr lang="es-ES" sz="2400" baseline="-250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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=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v |sin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|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92" name="Text Box 144">
            <a:extLst>
              <a:ext uri="{FF2B5EF4-FFF2-40B4-BE49-F238E27FC236}">
                <a16:creationId xmlns:a16="http://schemas.microsoft.com/office/drawing/2014/main" id="{34E12A53-20AC-4D60-BC9F-EB4D1C4E0D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9928" y="4321227"/>
            <a:ext cx="8777116" cy="1644545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altLang="es-ES" sz="2400">
                <a:latin typeface="Arial" panose="020B0604020202020204" pitchFamily="34" charset="0"/>
              </a:rPr>
              <a:t>La expresión de V es válida para toda la vuelta, si no se toma el seno en valor absoluto (de 0 a 180º sería &gt; 0 y &lt; 0 de 180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altLang="es-ES" sz="2400">
                <a:latin typeface="Arial" panose="020B0604020202020204" pitchFamily="34" charset="0"/>
              </a:rPr>
              <a:t>a 360º). Así da cuenta de que la caída es en sentido contrario en cada mitad, al invertirse el sentido de la fuerza magnética</a:t>
            </a:r>
            <a:endParaRPr lang="es-ES" altLang="es-ES" sz="2400" dirty="0">
              <a:latin typeface="Arial" panose="020B0604020202020204" pitchFamily="34" charset="0"/>
            </a:endParaRPr>
          </a:p>
        </p:txBody>
      </p:sp>
      <p:grpSp>
        <p:nvGrpSpPr>
          <p:cNvPr id="93" name="Grupo 92">
            <a:extLst>
              <a:ext uri="{FF2B5EF4-FFF2-40B4-BE49-F238E27FC236}">
                <a16:creationId xmlns:a16="http://schemas.microsoft.com/office/drawing/2014/main" id="{BCBB3A89-D56C-4B5F-8F18-8280E9C12E72}"/>
              </a:ext>
            </a:extLst>
          </p:cNvPr>
          <p:cNvGrpSpPr>
            <a:grpSpLocks/>
          </p:cNvGrpSpPr>
          <p:nvPr/>
        </p:nvGrpSpPr>
        <p:grpSpPr bwMode="auto">
          <a:xfrm>
            <a:off x="1272785" y="6034788"/>
            <a:ext cx="3079951" cy="905881"/>
            <a:chOff x="2441382" y="5473022"/>
            <a:chExt cx="3081364" cy="906535"/>
          </a:xfrm>
        </p:grpSpPr>
        <p:sp>
          <p:nvSpPr>
            <p:cNvPr id="94" name="Text Box 125">
              <a:extLst>
                <a:ext uri="{FF2B5EF4-FFF2-40B4-BE49-F238E27FC236}">
                  <a16:creationId xmlns:a16="http://schemas.microsoft.com/office/drawing/2014/main" id="{87141037-2AB2-49A8-99D2-28113D441F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1382" y="5479733"/>
              <a:ext cx="1410305" cy="53693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alt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v = </a:t>
              </a:r>
              <a:r>
                <a:rPr lang="es-ES" altLang="es-ES" sz="24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</a:t>
              </a:r>
              <a:r>
                <a:rPr lang="es-ES" alt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 L/2</a:t>
              </a:r>
              <a:endParaRPr lang="es-ES" alt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  <p:sp>
          <p:nvSpPr>
            <p:cNvPr id="95" name="Text Box 123">
              <a:extLst>
                <a:ext uri="{FF2B5EF4-FFF2-40B4-BE49-F238E27FC236}">
                  <a16:creationId xmlns:a16="http://schemas.microsoft.com/office/drawing/2014/main" id="{5F64C3DC-C3C1-439F-B905-69C3345445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1348" y="5473022"/>
              <a:ext cx="1731398" cy="9065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square" lIns="90000" tIns="82800" rIns="90000" bIns="82800" anchorCtr="1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s-ES" altLang="es-ES" sz="2400" dirty="0">
                  <a:solidFill>
                    <a:srgbClr val="3333FF"/>
                  </a:solidFill>
                </a:rPr>
                <a:t>(L/2: radio de giro)</a:t>
              </a:r>
            </a:p>
          </p:txBody>
        </p:sp>
      </p:grpSp>
      <p:grpSp>
        <p:nvGrpSpPr>
          <p:cNvPr id="96" name="Grupo 95">
            <a:extLst>
              <a:ext uri="{FF2B5EF4-FFF2-40B4-BE49-F238E27FC236}">
                <a16:creationId xmlns:a16="http://schemas.microsoft.com/office/drawing/2014/main" id="{203054B6-3663-451C-8EF0-1AD74BDF309A}"/>
              </a:ext>
            </a:extLst>
          </p:cNvPr>
          <p:cNvGrpSpPr>
            <a:grpSpLocks/>
          </p:cNvGrpSpPr>
          <p:nvPr/>
        </p:nvGrpSpPr>
        <p:grpSpPr bwMode="auto">
          <a:xfrm>
            <a:off x="4478724" y="6032561"/>
            <a:ext cx="2823535" cy="905881"/>
            <a:chOff x="4199474" y="5448016"/>
            <a:chExt cx="2823252" cy="907406"/>
          </a:xfrm>
        </p:grpSpPr>
        <p:sp>
          <p:nvSpPr>
            <p:cNvPr id="99" name="Text Box 127">
              <a:extLst>
                <a:ext uri="{FF2B5EF4-FFF2-40B4-BE49-F238E27FC236}">
                  <a16:creationId xmlns:a16="http://schemas.microsoft.com/office/drawing/2014/main" id="{05DE1E23-18AE-4B34-A4FA-C9C2327CAB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9474" y="5475447"/>
              <a:ext cx="1021629" cy="49647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82800" rIns="90000" bIns="82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altLang="es-ES" sz="2400" dirty="0">
                  <a:latin typeface="Arial" panose="020B0604020202020204" pitchFamily="34" charset="0"/>
                </a:rPr>
                <a:t>S = L</a:t>
              </a:r>
              <a:r>
                <a:rPr lang="es-ES" altLang="es-ES" sz="2400" baseline="30000" dirty="0">
                  <a:latin typeface="Arial" panose="020B0604020202020204" pitchFamily="34" charset="0"/>
                </a:rPr>
                <a:t>2</a:t>
              </a:r>
              <a:endParaRPr lang="es-ES" altLang="es-ES" sz="2400" dirty="0">
                <a:latin typeface="Arial" panose="020B0604020202020204" pitchFamily="34" charset="0"/>
              </a:endParaRPr>
            </a:p>
          </p:txBody>
        </p:sp>
        <p:sp>
          <p:nvSpPr>
            <p:cNvPr id="100" name="Text Box 123">
              <a:extLst>
                <a:ext uri="{FF2B5EF4-FFF2-40B4-BE49-F238E27FC236}">
                  <a16:creationId xmlns:a16="http://schemas.microsoft.com/office/drawing/2014/main" id="{907C5598-5E8C-4ED6-93B1-D7C5AF9D1B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24283" y="5448016"/>
              <a:ext cx="1998443" cy="9074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square" lIns="90000" tIns="82800" rIns="90000" bIns="82800" anchorCtr="1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s-ES" altLang="es-ES" sz="2400" dirty="0">
                  <a:solidFill>
                    <a:srgbClr val="3333FF"/>
                  </a:solidFill>
                </a:rPr>
                <a:t>(superficie de espira)</a:t>
              </a:r>
            </a:p>
          </p:txBody>
        </p:sp>
      </p:grpSp>
      <p:sp>
        <p:nvSpPr>
          <p:cNvPr id="102" name="Text Box 125">
            <a:extLst>
              <a:ext uri="{FF2B5EF4-FFF2-40B4-BE49-F238E27FC236}">
                <a16:creationId xmlns:a16="http://schemas.microsoft.com/office/drawing/2014/main" id="{861D2D09-A7CD-40B6-8359-11AAF85B5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13210" y="6214663"/>
            <a:ext cx="2514541" cy="53654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V = 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BS sin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(t)</a:t>
            </a:r>
          </a:p>
        </p:txBody>
      </p:sp>
      <p:grpSp>
        <p:nvGrpSpPr>
          <p:cNvPr id="103" name="Grupo 102">
            <a:extLst>
              <a:ext uri="{FF2B5EF4-FFF2-40B4-BE49-F238E27FC236}">
                <a16:creationId xmlns:a16="http://schemas.microsoft.com/office/drawing/2014/main" id="{95184399-649D-411B-BD3E-DF66E0E14FC4}"/>
              </a:ext>
            </a:extLst>
          </p:cNvPr>
          <p:cNvGrpSpPr/>
          <p:nvPr/>
        </p:nvGrpSpPr>
        <p:grpSpPr>
          <a:xfrm>
            <a:off x="3628809" y="1281011"/>
            <a:ext cx="723927" cy="502364"/>
            <a:chOff x="3327938" y="1647912"/>
            <a:chExt cx="723927" cy="502364"/>
          </a:xfrm>
        </p:grpSpPr>
        <p:sp>
          <p:nvSpPr>
            <p:cNvPr id="104" name="Line 16">
              <a:extLst>
                <a:ext uri="{FF2B5EF4-FFF2-40B4-BE49-F238E27FC236}">
                  <a16:creationId xmlns:a16="http://schemas.microsoft.com/office/drawing/2014/main" id="{4C961163-CB6E-4B58-B877-98B6FB0AB2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30204" y="2094480"/>
              <a:ext cx="421661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Ctr="1"/>
            <a:lstStyle/>
            <a:p>
              <a:endParaRPr lang="en-GB"/>
            </a:p>
          </p:txBody>
        </p:sp>
        <p:graphicFrame>
          <p:nvGraphicFramePr>
            <p:cNvPr id="105" name="Object 17">
              <a:extLst>
                <a:ext uri="{FF2B5EF4-FFF2-40B4-BE49-F238E27FC236}">
                  <a16:creationId xmlns:a16="http://schemas.microsoft.com/office/drawing/2014/main" id="{8E7EDB1F-60C6-4945-9F59-4F1953C592B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20850185"/>
                </p:ext>
              </p:extLst>
            </p:nvPr>
          </p:nvGraphicFramePr>
          <p:xfrm>
            <a:off x="3327938" y="1647912"/>
            <a:ext cx="358775" cy="5023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5" imgW="126725" imgH="177415" progId="Equation.3">
                    <p:embed/>
                  </p:oleObj>
                </mc:Choice>
                <mc:Fallback>
                  <p:oleObj name="Ecuación" r:id="rId5" imgW="126725" imgH="177415" progId="Equation.3">
                    <p:embed/>
                    <p:pic>
                      <p:nvPicPr>
                        <p:cNvPr id="105" name="Object 17">
                          <a:extLst>
                            <a:ext uri="{FF2B5EF4-FFF2-40B4-BE49-F238E27FC236}">
                              <a16:creationId xmlns:a16="http://schemas.microsoft.com/office/drawing/2014/main" id="{8E7EDB1F-60C6-4945-9F59-4F1953C592B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27938" y="1647912"/>
                          <a:ext cx="358775" cy="5023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0" name="Text Box 59">
            <a:extLst>
              <a:ext uri="{FF2B5EF4-FFF2-40B4-BE49-F238E27FC236}">
                <a16:creationId xmlns:a16="http://schemas.microsoft.com/office/drawing/2014/main" id="{F46DE978-5BB3-4EF5-A164-95E427E0E4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0503" y="1139903"/>
            <a:ext cx="2948541" cy="53654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V = 2 V</a:t>
            </a:r>
            <a:r>
              <a:rPr lang="es-ES" sz="2400" baseline="-25000">
                <a:latin typeface="Arial" panose="020B0604020202020204" pitchFamily="34" charset="0"/>
                <a:sym typeface="Symbol" panose="05050102010706020507" pitchFamily="18" charset="2"/>
              </a:rPr>
              <a:t>barra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= 2 v</a:t>
            </a:r>
            <a:r>
              <a:rPr lang="es-ES" sz="2400" baseline="-250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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BL</a:t>
            </a:r>
          </a:p>
        </p:txBody>
      </p:sp>
      <p:sp>
        <p:nvSpPr>
          <p:cNvPr id="4" name="Text Box 31">
            <a:extLst>
              <a:ext uri="{FF2B5EF4-FFF2-40B4-BE49-F238E27FC236}">
                <a16:creationId xmlns:a16="http://schemas.microsoft.com/office/drawing/2014/main" id="{3D1E81B8-876A-B74A-FA37-13F91864DC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4004" y="393945"/>
            <a:ext cx="5872120" cy="536549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tIns="82800" bIns="82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Método habitual para generar electricidad</a:t>
            </a:r>
          </a:p>
        </p:txBody>
      </p:sp>
      <p:sp>
        <p:nvSpPr>
          <p:cNvPr id="5" name="Flecha: a la derecha 4">
            <a:extLst>
              <a:ext uri="{FF2B5EF4-FFF2-40B4-BE49-F238E27FC236}">
                <a16:creationId xmlns:a16="http://schemas.microsoft.com/office/drawing/2014/main" id="{D8763E51-04F0-6872-474D-1FEFFB0342EA}"/>
              </a:ext>
            </a:extLst>
          </p:cNvPr>
          <p:cNvSpPr/>
          <p:nvPr/>
        </p:nvSpPr>
        <p:spPr bwMode="auto">
          <a:xfrm>
            <a:off x="4186196" y="438466"/>
            <a:ext cx="447495" cy="480168"/>
          </a:xfrm>
          <a:prstGeom prst="rightArrow">
            <a:avLst/>
          </a:prstGeom>
          <a:solidFill>
            <a:schemeClr val="accent1"/>
          </a:solidFill>
          <a:ln w="254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square" lIns="90000" tIns="82800" rIns="90000" bIns="82800" numCol="1" rtlCol="0" anchor="t" anchorCtr="1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-2500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3" name="Text Box 59">
            <a:extLst>
              <a:ext uri="{FF2B5EF4-FFF2-40B4-BE49-F238E27FC236}">
                <a16:creationId xmlns:a16="http://schemas.microsoft.com/office/drawing/2014/main" id="{C137A88B-CC9C-5B8E-57C5-A8C988DD0F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13210" y="3612670"/>
            <a:ext cx="2514541" cy="53654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V = 2 vBL |sin(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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)|</a:t>
            </a:r>
            <a:endParaRPr lang="es-ES" sz="240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7" name="Text Box 123">
            <a:extLst>
              <a:ext uri="{FF2B5EF4-FFF2-40B4-BE49-F238E27FC236}">
                <a16:creationId xmlns:a16="http://schemas.microsoft.com/office/drawing/2014/main" id="{16431EB8-AA04-559E-DC26-93A569E4EE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98858" y="2499192"/>
            <a:ext cx="1942117" cy="905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altLang="es-ES" sz="2400">
                <a:solidFill>
                  <a:srgbClr val="3333FF"/>
                </a:solidFill>
              </a:rPr>
              <a:t>(módulo &gt; 0 </a:t>
            </a:r>
            <a:r>
              <a:rPr lang="es-ES" altLang="es-ES" sz="2400">
                <a:solidFill>
                  <a:srgbClr val="3333FF"/>
                </a:solidFill>
                <a:sym typeface="Symbol" panose="05050102010706020507" pitchFamily="18" charset="2"/>
              </a:rPr>
              <a:t> |sin(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</a:t>
            </a:r>
            <a:r>
              <a:rPr lang="es-ES" altLang="es-ES" sz="2400">
                <a:solidFill>
                  <a:srgbClr val="3333FF"/>
                </a:solidFill>
                <a:sym typeface="Symbol" panose="05050102010706020507" pitchFamily="18" charset="2"/>
              </a:rPr>
              <a:t>)|</a:t>
            </a:r>
            <a:r>
              <a:rPr lang="es-ES" altLang="es-ES" sz="2400">
                <a:solidFill>
                  <a:srgbClr val="3333FF"/>
                </a:solidFill>
              </a:rPr>
              <a:t>)</a:t>
            </a:r>
            <a:endParaRPr lang="es-ES" altLang="es-ES" sz="2400" dirty="0">
              <a:solidFill>
                <a:srgbClr val="3333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71176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28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5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 animBg="1"/>
      <p:bldP spid="92" grpId="0" animBg="1"/>
      <p:bldP spid="102" grpId="0" animBg="1"/>
      <p:bldP spid="110" grpId="0" animBg="1"/>
      <p:bldP spid="3" grpId="0" animBg="1"/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FA99D0AF-D5C4-4902-B469-1B806E494AC9}"/>
              </a:ext>
            </a:extLst>
          </p:cNvPr>
          <p:cNvSpPr/>
          <p:nvPr/>
        </p:nvSpPr>
        <p:spPr bwMode="auto">
          <a:xfrm>
            <a:off x="1285586" y="1081310"/>
            <a:ext cx="5040000" cy="31680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square" lIns="90000" tIns="82800" rIns="90000" bIns="82800" numCol="1" rtlCol="0" anchor="t" anchorCtr="1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-2500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697604" name="Text Box 260"/>
          <p:cNvSpPr txBox="1">
            <a:spLocks noChangeArrowheads="1"/>
          </p:cNvSpPr>
          <p:nvPr/>
        </p:nvSpPr>
        <p:spPr bwMode="auto">
          <a:xfrm>
            <a:off x="3236876" y="3684377"/>
            <a:ext cx="350837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1" dirty="0">
                <a:solidFill>
                  <a:srgbClr val="FF0000"/>
                </a:solidFill>
                <a:latin typeface="Arial" panose="020B0604020202020204" pitchFamily="34" charset="0"/>
              </a:rPr>
              <a:t>V</a:t>
            </a:r>
          </a:p>
        </p:txBody>
      </p:sp>
      <p:sp>
        <p:nvSpPr>
          <p:cNvPr id="34833" name="Text Box 125"/>
          <p:cNvSpPr txBox="1">
            <a:spLocks noChangeArrowheads="1"/>
          </p:cNvSpPr>
          <p:nvPr/>
        </p:nvSpPr>
        <p:spPr bwMode="auto">
          <a:xfrm>
            <a:off x="1279152" y="394504"/>
            <a:ext cx="2711296" cy="536549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s-ES" sz="2400" b="1"/>
              <a:t>GIRO DE ESPIRA</a:t>
            </a:r>
          </a:p>
        </p:txBody>
      </p:sp>
      <p:grpSp>
        <p:nvGrpSpPr>
          <p:cNvPr id="120" name="Group 130"/>
          <p:cNvGrpSpPr>
            <a:grpSpLocks/>
          </p:cNvGrpSpPr>
          <p:nvPr/>
        </p:nvGrpSpPr>
        <p:grpSpPr bwMode="auto">
          <a:xfrm>
            <a:off x="1447512" y="1233710"/>
            <a:ext cx="4694237" cy="1854200"/>
            <a:chOff x="1105" y="1506"/>
            <a:chExt cx="2957" cy="1168"/>
          </a:xfrm>
        </p:grpSpPr>
        <p:sp>
          <p:nvSpPr>
            <p:cNvPr id="11" name="Line 37"/>
            <p:cNvSpPr>
              <a:spLocks noChangeShapeType="1"/>
            </p:cNvSpPr>
            <p:nvPr/>
          </p:nvSpPr>
          <p:spPr bwMode="auto">
            <a:xfrm>
              <a:off x="2075" y="2515"/>
              <a:ext cx="91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 type="none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grpSp>
          <p:nvGrpSpPr>
            <p:cNvPr id="34855" name="Group 129"/>
            <p:cNvGrpSpPr>
              <a:grpSpLocks/>
            </p:cNvGrpSpPr>
            <p:nvPr/>
          </p:nvGrpSpPr>
          <p:grpSpPr bwMode="auto">
            <a:xfrm>
              <a:off x="1105" y="1506"/>
              <a:ext cx="2957" cy="1168"/>
              <a:chOff x="1105" y="1506"/>
              <a:chExt cx="2957" cy="1168"/>
            </a:xfrm>
          </p:grpSpPr>
          <p:sp>
            <p:nvSpPr>
              <p:cNvPr id="34856" name="AutoShape 3"/>
              <p:cNvSpPr>
                <a:spLocks noChangeArrowheads="1"/>
              </p:cNvSpPr>
              <p:nvPr/>
            </p:nvSpPr>
            <p:spPr bwMode="auto">
              <a:xfrm>
                <a:off x="1105" y="1860"/>
                <a:ext cx="910" cy="814"/>
              </a:xfrm>
              <a:prstGeom prst="cube">
                <a:avLst>
                  <a:gd name="adj" fmla="val 25000"/>
                </a:avLst>
              </a:prstGeom>
              <a:solidFill>
                <a:srgbClr val="FF0000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34857" name="Text Box 4"/>
              <p:cNvSpPr txBox="1">
                <a:spLocks noChangeArrowheads="1"/>
              </p:cNvSpPr>
              <p:nvPr/>
            </p:nvSpPr>
            <p:spPr bwMode="auto">
              <a:xfrm>
                <a:off x="1336" y="2154"/>
                <a:ext cx="286" cy="2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/>
              <a:lstStyle>
                <a:lvl1pPr defTabSz="1008063"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1008063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1008063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1008063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1008063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400" b="1" dirty="0">
                    <a:solidFill>
                      <a:schemeClr val="bg1"/>
                    </a:solidFill>
                    <a:latin typeface="Arial" panose="020B0604020202020204" pitchFamily="34" charset="0"/>
                  </a:rPr>
                  <a:t>N</a:t>
                </a:r>
              </a:p>
            </p:txBody>
          </p:sp>
          <p:sp>
            <p:nvSpPr>
              <p:cNvPr id="34867" name="Line 16"/>
              <p:cNvSpPr>
                <a:spLocks noChangeShapeType="1"/>
              </p:cNvSpPr>
              <p:nvPr/>
            </p:nvSpPr>
            <p:spPr bwMode="auto">
              <a:xfrm flipV="1">
                <a:off x="1950" y="1927"/>
                <a:ext cx="1509" cy="0"/>
              </a:xfrm>
              <a:prstGeom prst="line">
                <a:avLst/>
              </a:prstGeom>
              <a:noFill/>
              <a:ln w="19050">
                <a:solidFill>
                  <a:srgbClr val="008000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868" name="Line 17"/>
              <p:cNvSpPr>
                <a:spLocks noChangeShapeType="1"/>
              </p:cNvSpPr>
              <p:nvPr/>
            </p:nvSpPr>
            <p:spPr bwMode="auto">
              <a:xfrm flipV="1">
                <a:off x="1862" y="2054"/>
                <a:ext cx="1354" cy="0"/>
              </a:xfrm>
              <a:prstGeom prst="line">
                <a:avLst/>
              </a:prstGeom>
              <a:noFill/>
              <a:ln w="19050">
                <a:solidFill>
                  <a:srgbClr val="008000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869" name="Line 18"/>
              <p:cNvSpPr>
                <a:spLocks noChangeShapeType="1"/>
              </p:cNvSpPr>
              <p:nvPr/>
            </p:nvSpPr>
            <p:spPr bwMode="auto">
              <a:xfrm flipV="1">
                <a:off x="1850" y="2283"/>
                <a:ext cx="1335" cy="0"/>
              </a:xfrm>
              <a:prstGeom prst="line">
                <a:avLst/>
              </a:prstGeom>
              <a:noFill/>
              <a:ln w="19050">
                <a:solidFill>
                  <a:srgbClr val="008000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870" name="Line 19"/>
              <p:cNvSpPr>
                <a:spLocks noChangeShapeType="1"/>
              </p:cNvSpPr>
              <p:nvPr/>
            </p:nvSpPr>
            <p:spPr bwMode="auto">
              <a:xfrm flipV="1">
                <a:off x="1862" y="2519"/>
                <a:ext cx="1348" cy="0"/>
              </a:xfrm>
              <a:prstGeom prst="line">
                <a:avLst/>
              </a:prstGeom>
              <a:noFill/>
              <a:ln w="19050">
                <a:solidFill>
                  <a:srgbClr val="008000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 dirty="0"/>
              </a:p>
            </p:txBody>
          </p:sp>
          <p:sp>
            <p:nvSpPr>
              <p:cNvPr id="34871" name="Line 20"/>
              <p:cNvSpPr>
                <a:spLocks noChangeShapeType="1"/>
              </p:cNvSpPr>
              <p:nvPr/>
            </p:nvSpPr>
            <p:spPr bwMode="auto">
              <a:xfrm flipV="1">
                <a:off x="1974" y="2148"/>
                <a:ext cx="1431" cy="0"/>
              </a:xfrm>
              <a:prstGeom prst="line">
                <a:avLst/>
              </a:prstGeom>
              <a:noFill/>
              <a:ln w="19050">
                <a:solidFill>
                  <a:srgbClr val="008000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872" name="Line 21"/>
              <p:cNvSpPr>
                <a:spLocks noChangeShapeType="1"/>
              </p:cNvSpPr>
              <p:nvPr/>
            </p:nvSpPr>
            <p:spPr bwMode="auto">
              <a:xfrm flipV="1">
                <a:off x="1974" y="2410"/>
                <a:ext cx="1451" cy="0"/>
              </a:xfrm>
              <a:prstGeom prst="line">
                <a:avLst/>
              </a:prstGeom>
              <a:noFill/>
              <a:ln w="19050">
                <a:solidFill>
                  <a:srgbClr val="008000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873" name="AutoShape 22"/>
              <p:cNvSpPr>
                <a:spLocks noChangeArrowheads="1"/>
              </p:cNvSpPr>
              <p:nvPr/>
            </p:nvSpPr>
            <p:spPr bwMode="auto">
              <a:xfrm>
                <a:off x="3162" y="1815"/>
                <a:ext cx="900" cy="814"/>
              </a:xfrm>
              <a:prstGeom prst="cube">
                <a:avLst>
                  <a:gd name="adj" fmla="val 25000"/>
                </a:avLst>
              </a:prstGeom>
              <a:solidFill>
                <a:srgbClr val="0000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34874" name="Text Box 23"/>
              <p:cNvSpPr txBox="1">
                <a:spLocks noChangeArrowheads="1"/>
              </p:cNvSpPr>
              <p:nvPr/>
            </p:nvSpPr>
            <p:spPr bwMode="auto">
              <a:xfrm>
                <a:off x="3403" y="2155"/>
                <a:ext cx="277" cy="3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/>
              <a:lstStyle>
                <a:lvl1pPr defTabSz="1008063"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1008063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1008063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1008063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1008063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400" dirty="0">
                    <a:solidFill>
                      <a:srgbClr val="FFFFFF"/>
                    </a:solidFill>
                    <a:latin typeface="Arial" panose="020B0604020202020204" pitchFamily="34" charset="0"/>
                  </a:rPr>
                  <a:t>S</a:t>
                </a:r>
              </a:p>
            </p:txBody>
          </p:sp>
          <p:sp>
            <p:nvSpPr>
              <p:cNvPr id="34875" name="Line 32"/>
              <p:cNvSpPr>
                <a:spLocks noChangeShapeType="1"/>
              </p:cNvSpPr>
              <p:nvPr/>
            </p:nvSpPr>
            <p:spPr bwMode="auto">
              <a:xfrm>
                <a:off x="2257" y="1931"/>
                <a:ext cx="91" cy="0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 type="none" w="med" len="med"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876" name="Line 33"/>
              <p:cNvSpPr>
                <a:spLocks noChangeShapeType="1"/>
              </p:cNvSpPr>
              <p:nvPr/>
            </p:nvSpPr>
            <p:spPr bwMode="auto">
              <a:xfrm>
                <a:off x="2100" y="2054"/>
                <a:ext cx="91" cy="0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 type="none" w="med" len="med"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877" name="Line 34"/>
              <p:cNvSpPr>
                <a:spLocks noChangeShapeType="1"/>
              </p:cNvSpPr>
              <p:nvPr/>
            </p:nvSpPr>
            <p:spPr bwMode="auto">
              <a:xfrm>
                <a:off x="2247" y="2145"/>
                <a:ext cx="91" cy="0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 type="none" w="med" len="med"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878" name="Line 35"/>
              <p:cNvSpPr>
                <a:spLocks noChangeShapeType="1"/>
              </p:cNvSpPr>
              <p:nvPr/>
            </p:nvSpPr>
            <p:spPr bwMode="auto">
              <a:xfrm>
                <a:off x="2086" y="2281"/>
                <a:ext cx="91" cy="0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 type="none" w="med" len="med"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879" name="Line 36"/>
              <p:cNvSpPr>
                <a:spLocks noChangeShapeType="1"/>
              </p:cNvSpPr>
              <p:nvPr/>
            </p:nvSpPr>
            <p:spPr bwMode="auto">
              <a:xfrm>
                <a:off x="2239" y="2408"/>
                <a:ext cx="91" cy="0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 type="none" w="med" len="med"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graphicFrame>
            <p:nvGraphicFramePr>
              <p:cNvPr id="34880" name="Object 51"/>
              <p:cNvGraphicFramePr>
                <a:graphicFrameLocks noChangeAspect="1"/>
              </p:cNvGraphicFramePr>
              <p:nvPr/>
            </p:nvGraphicFramePr>
            <p:xfrm>
              <a:off x="2125" y="1506"/>
              <a:ext cx="226" cy="30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cuación" r:id="rId3" imgW="152268" imgH="203024" progId="Equation.3">
                      <p:embed/>
                    </p:oleObj>
                  </mc:Choice>
                  <mc:Fallback>
                    <p:oleObj name="Ecuación" r:id="rId3" imgW="152268" imgH="203024" progId="Equation.3">
                      <p:embed/>
                      <p:pic>
                        <p:nvPicPr>
                          <p:cNvPr id="34880" name="Object 5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125" y="1506"/>
                            <a:ext cx="226" cy="30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6" name="Grupo 5">
            <a:extLst>
              <a:ext uri="{FF2B5EF4-FFF2-40B4-BE49-F238E27FC236}">
                <a16:creationId xmlns:a16="http://schemas.microsoft.com/office/drawing/2014/main" id="{AA5D7AB4-7223-46B3-9E53-2C08437B2378}"/>
              </a:ext>
            </a:extLst>
          </p:cNvPr>
          <p:cNvGrpSpPr/>
          <p:nvPr/>
        </p:nvGrpSpPr>
        <p:grpSpPr>
          <a:xfrm>
            <a:off x="2932781" y="2851304"/>
            <a:ext cx="703087" cy="1133478"/>
            <a:chOff x="2709652" y="3047771"/>
            <a:chExt cx="703087" cy="1133478"/>
          </a:xfrm>
        </p:grpSpPr>
        <p:sp>
          <p:nvSpPr>
            <p:cNvPr id="34900" name="Oval 66"/>
            <p:cNvSpPr>
              <a:spLocks noChangeArrowheads="1"/>
            </p:cNvSpPr>
            <p:nvPr/>
          </p:nvSpPr>
          <p:spPr bwMode="auto">
            <a:xfrm>
              <a:off x="2980939" y="3047771"/>
              <a:ext cx="431800" cy="431801"/>
            </a:xfrm>
            <a:prstGeom prst="ellipse">
              <a:avLst/>
            </a:prstGeom>
            <a:noFill/>
            <a:ln w="25400" algn="ctr">
              <a:solidFill>
                <a:srgbClr val="3333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4910" name="Oval 67"/>
            <p:cNvSpPr>
              <a:spLocks noChangeArrowheads="1"/>
            </p:cNvSpPr>
            <p:nvPr/>
          </p:nvSpPr>
          <p:spPr bwMode="auto">
            <a:xfrm>
              <a:off x="2709652" y="3482922"/>
              <a:ext cx="294925" cy="294925"/>
            </a:xfrm>
            <a:prstGeom prst="ellipse">
              <a:avLst/>
            </a:prstGeom>
            <a:noFill/>
            <a:ln w="25400" algn="ctr">
              <a:solidFill>
                <a:srgbClr val="3333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4911" name="Line 68"/>
            <p:cNvSpPr>
              <a:spLocks noChangeShapeType="1"/>
            </p:cNvSpPr>
            <p:nvPr/>
          </p:nvSpPr>
          <p:spPr bwMode="auto">
            <a:xfrm>
              <a:off x="3193664" y="3482747"/>
              <a:ext cx="0" cy="277813"/>
            </a:xfrm>
            <a:prstGeom prst="line">
              <a:avLst/>
            </a:prstGeom>
            <a:noFill/>
            <a:ln w="25400">
              <a:solidFill>
                <a:srgbClr val="3333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Ctr="1"/>
            <a:lstStyle/>
            <a:p>
              <a:endParaRPr lang="en-GB"/>
            </a:p>
          </p:txBody>
        </p:sp>
        <p:sp>
          <p:nvSpPr>
            <p:cNvPr id="34912" name="Line 69"/>
            <p:cNvSpPr>
              <a:spLocks noChangeShapeType="1"/>
            </p:cNvSpPr>
            <p:nvPr/>
          </p:nvSpPr>
          <p:spPr bwMode="auto">
            <a:xfrm>
              <a:off x="2865051" y="3788036"/>
              <a:ext cx="0" cy="336153"/>
            </a:xfrm>
            <a:prstGeom prst="line">
              <a:avLst/>
            </a:prstGeom>
            <a:noFill/>
            <a:ln w="25400">
              <a:solidFill>
                <a:srgbClr val="3333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Ctr="1"/>
            <a:lstStyle/>
            <a:p>
              <a:endParaRPr lang="en-GB"/>
            </a:p>
          </p:txBody>
        </p:sp>
        <p:sp>
          <p:nvSpPr>
            <p:cNvPr id="34898" name="Oval 131"/>
            <p:cNvSpPr>
              <a:spLocks noChangeArrowheads="1"/>
            </p:cNvSpPr>
            <p:nvPr/>
          </p:nvSpPr>
          <p:spPr bwMode="auto">
            <a:xfrm>
              <a:off x="2814251" y="4073299"/>
              <a:ext cx="107950" cy="10795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4899" name="Oval 132"/>
            <p:cNvSpPr>
              <a:spLocks noChangeArrowheads="1"/>
            </p:cNvSpPr>
            <p:nvPr/>
          </p:nvSpPr>
          <p:spPr bwMode="auto">
            <a:xfrm>
              <a:off x="3139689" y="3731985"/>
              <a:ext cx="107950" cy="10795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9" name="Grupo 18">
            <a:extLst>
              <a:ext uri="{FF2B5EF4-FFF2-40B4-BE49-F238E27FC236}">
                <a16:creationId xmlns:a16="http://schemas.microsoft.com/office/drawing/2014/main" id="{00BA2E4B-9914-47B2-ACBC-2706B6BB0AD4}"/>
              </a:ext>
            </a:extLst>
          </p:cNvPr>
          <p:cNvGrpSpPr/>
          <p:nvPr/>
        </p:nvGrpSpPr>
        <p:grpSpPr>
          <a:xfrm>
            <a:off x="2740828" y="1030142"/>
            <a:ext cx="2307057" cy="2918264"/>
            <a:chOff x="2569378" y="986701"/>
            <a:chExt cx="2307057" cy="2918264"/>
          </a:xfrm>
        </p:grpSpPr>
        <p:sp>
          <p:nvSpPr>
            <p:cNvPr id="76" name="Line 2">
              <a:extLst>
                <a:ext uri="{FF2B5EF4-FFF2-40B4-BE49-F238E27FC236}">
                  <a16:creationId xmlns:a16="http://schemas.microsoft.com/office/drawing/2014/main" id="{1508913F-F158-4E3A-849C-4CC1ABB25B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69378" y="1496727"/>
              <a:ext cx="1836737" cy="2408238"/>
            </a:xfrm>
            <a:prstGeom prst="line">
              <a:avLst/>
            </a:prstGeom>
            <a:noFill/>
            <a:ln w="38100">
              <a:solidFill>
                <a:schemeClr val="tx2">
                  <a:lumMod val="75000"/>
                  <a:lumOff val="25000"/>
                </a:schemeClr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77" name="AutoShape 15">
              <a:extLst>
                <a:ext uri="{FF2B5EF4-FFF2-40B4-BE49-F238E27FC236}">
                  <a16:creationId xmlns:a16="http://schemas.microsoft.com/office/drawing/2014/main" id="{C4BBB5D8-DD3D-436D-A10F-30B5DBDED64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0859096">
              <a:off x="4217507" y="1287171"/>
              <a:ext cx="363537" cy="51752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3207 w 21600"/>
                <a:gd name="T19" fmla="*/ 3180 h 21600"/>
                <a:gd name="T20" fmla="*/ 18393 w 21600"/>
                <a:gd name="T21" fmla="*/ 18420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8676" y="10800"/>
                  </a:moveTo>
                  <a:cubicBezTo>
                    <a:pt x="18676" y="6450"/>
                    <a:pt x="15149" y="2924"/>
                    <a:pt x="10800" y="2924"/>
                  </a:cubicBezTo>
                  <a:cubicBezTo>
                    <a:pt x="6450" y="2924"/>
                    <a:pt x="2924" y="6450"/>
                    <a:pt x="2924" y="10800"/>
                  </a:cubicBezTo>
                  <a:cubicBezTo>
                    <a:pt x="2923" y="10813"/>
                    <a:pt x="2924" y="10827"/>
                    <a:pt x="2924" y="10841"/>
                  </a:cubicBezTo>
                  <a:lnTo>
                    <a:pt x="0" y="10857"/>
                  </a:lnTo>
                  <a:cubicBezTo>
                    <a:pt x="0" y="10838"/>
                    <a:pt x="0" y="10819"/>
                    <a:pt x="0" y="10800"/>
                  </a:cubicBezTo>
                  <a:cubicBezTo>
                    <a:pt x="0" y="4835"/>
                    <a:pt x="4835" y="0"/>
                    <a:pt x="10800" y="0"/>
                  </a:cubicBezTo>
                  <a:cubicBezTo>
                    <a:pt x="16764" y="-1"/>
                    <a:pt x="21599" y="4835"/>
                    <a:pt x="21600" y="10799"/>
                  </a:cubicBezTo>
                  <a:lnTo>
                    <a:pt x="21600" y="10800"/>
                  </a:lnTo>
                  <a:lnTo>
                    <a:pt x="24300" y="10800"/>
                  </a:lnTo>
                  <a:lnTo>
                    <a:pt x="20138" y="14962"/>
                  </a:lnTo>
                  <a:lnTo>
                    <a:pt x="15976" y="10800"/>
                  </a:lnTo>
                  <a:lnTo>
                    <a:pt x="18676" y="10800"/>
                  </a:lnTo>
                  <a:close/>
                </a:path>
              </a:pathLst>
            </a:cu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GB" dirty="0"/>
            </a:p>
          </p:txBody>
        </p:sp>
        <p:sp>
          <p:nvSpPr>
            <p:cNvPr id="78" name="Text Box 54">
              <a:extLst>
                <a:ext uri="{FF2B5EF4-FFF2-40B4-BE49-F238E27FC236}">
                  <a16:creationId xmlns:a16="http://schemas.microsoft.com/office/drawing/2014/main" id="{A9BDA0E2-6EDE-41C9-BF04-5D0F909B01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0835" y="986701"/>
              <a:ext cx="355600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latin typeface="Arial" panose="020B0604020202020204" pitchFamily="34" charset="0"/>
                  <a:sym typeface="Symbol" panose="05050102010706020507" pitchFamily="18" charset="2"/>
                </a:rPr>
                <a:t></a:t>
              </a:r>
            </a:p>
          </p:txBody>
        </p:sp>
      </p:grpSp>
      <p:grpSp>
        <p:nvGrpSpPr>
          <p:cNvPr id="18" name="Grupo 17">
            <a:extLst>
              <a:ext uri="{FF2B5EF4-FFF2-40B4-BE49-F238E27FC236}">
                <a16:creationId xmlns:a16="http://schemas.microsoft.com/office/drawing/2014/main" id="{538C2BF6-15FF-440E-96CC-6E50B928387E}"/>
              </a:ext>
            </a:extLst>
          </p:cNvPr>
          <p:cNvGrpSpPr/>
          <p:nvPr/>
        </p:nvGrpSpPr>
        <p:grpSpPr>
          <a:xfrm>
            <a:off x="3032280" y="1465874"/>
            <a:ext cx="1114848" cy="1955258"/>
            <a:chOff x="-633041" y="1023582"/>
            <a:chExt cx="1114848" cy="1955258"/>
          </a:xfrm>
        </p:grpSpPr>
        <p:sp>
          <p:nvSpPr>
            <p:cNvPr id="79" name="Line 8">
              <a:extLst>
                <a:ext uri="{FF2B5EF4-FFF2-40B4-BE49-F238E27FC236}">
                  <a16:creationId xmlns:a16="http://schemas.microsoft.com/office/drawing/2014/main" id="{B4E67C14-D360-421E-A25C-19513D3B0F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-578643" y="2007832"/>
              <a:ext cx="708025" cy="88900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80" name="Line 5">
              <a:extLst>
                <a:ext uri="{FF2B5EF4-FFF2-40B4-BE49-F238E27FC236}">
                  <a16:creationId xmlns:a16="http://schemas.microsoft.com/office/drawing/2014/main" id="{F4CE65ED-2829-4BE4-8447-792FD5E823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8269" y="1023582"/>
              <a:ext cx="363537" cy="517525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81" name="Line 6">
              <a:extLst>
                <a:ext uri="{FF2B5EF4-FFF2-40B4-BE49-F238E27FC236}">
                  <a16:creationId xmlns:a16="http://schemas.microsoft.com/office/drawing/2014/main" id="{1A522F56-19F8-4093-8AD1-B182FBA759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8269" y="2253894"/>
              <a:ext cx="363537" cy="517525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82" name="Line 7">
              <a:extLst>
                <a:ext uri="{FF2B5EF4-FFF2-40B4-BE49-F238E27FC236}">
                  <a16:creationId xmlns:a16="http://schemas.microsoft.com/office/drawing/2014/main" id="{10FE7D64-A53F-453C-BFDB-FEDC41B100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-246856" y="2231669"/>
              <a:ext cx="365125" cy="517525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83" name="Line 9">
              <a:extLst>
                <a:ext uri="{FF2B5EF4-FFF2-40B4-BE49-F238E27FC236}">
                  <a16:creationId xmlns:a16="http://schemas.microsoft.com/office/drawing/2014/main" id="{DDEB1AB8-29E5-47C7-A86B-AA635EC521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1807" y="1056919"/>
              <a:ext cx="0" cy="121285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84" name="Line 10">
              <a:extLst>
                <a:ext uri="{FF2B5EF4-FFF2-40B4-BE49-F238E27FC236}">
                  <a16:creationId xmlns:a16="http://schemas.microsoft.com/office/drawing/2014/main" id="{E171499C-D202-45B4-91FC-3631B69790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8269" y="1542694"/>
              <a:ext cx="0" cy="487363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85" name="Line 11">
              <a:extLst>
                <a:ext uri="{FF2B5EF4-FFF2-40B4-BE49-F238E27FC236}">
                  <a16:creationId xmlns:a16="http://schemas.microsoft.com/office/drawing/2014/main" id="{A3305636-43BB-48A1-B1BD-D6B4504745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8269" y="2231669"/>
              <a:ext cx="0" cy="517525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88" name="Oval 13">
              <a:extLst>
                <a:ext uri="{FF2B5EF4-FFF2-40B4-BE49-F238E27FC236}">
                  <a16:creationId xmlns:a16="http://schemas.microsoft.com/office/drawing/2014/main" id="{23543AB7-877F-46E8-ACD2-38A6024F51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633041" y="2870890"/>
              <a:ext cx="107950" cy="10795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0" name="Oval 14">
              <a:extLst>
                <a:ext uri="{FF2B5EF4-FFF2-40B4-BE49-F238E27FC236}">
                  <a16:creationId xmlns:a16="http://schemas.microsoft.com/office/drawing/2014/main" id="{5223543B-F24F-468F-8913-D3D62CA69B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283791" y="2716154"/>
              <a:ext cx="107950" cy="10795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86" name="Text Box 125">
            <a:extLst>
              <a:ext uri="{FF2B5EF4-FFF2-40B4-BE49-F238E27FC236}">
                <a16:creationId xmlns:a16="http://schemas.microsoft.com/office/drawing/2014/main" id="{BC2475CE-8290-45D2-A6EA-884A3A3B3E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5623" y="1182139"/>
            <a:ext cx="2470998" cy="53654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V = 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BS sin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(t)</a:t>
            </a:r>
          </a:p>
        </p:txBody>
      </p:sp>
      <p:grpSp>
        <p:nvGrpSpPr>
          <p:cNvPr id="87" name="Grupo 86">
            <a:extLst>
              <a:ext uri="{FF2B5EF4-FFF2-40B4-BE49-F238E27FC236}">
                <a16:creationId xmlns:a16="http://schemas.microsoft.com/office/drawing/2014/main" id="{48876F80-90F8-4EA3-87C7-2B8386C6E555}"/>
              </a:ext>
            </a:extLst>
          </p:cNvPr>
          <p:cNvGrpSpPr>
            <a:grpSpLocks/>
          </p:cNvGrpSpPr>
          <p:nvPr/>
        </p:nvGrpSpPr>
        <p:grpSpPr bwMode="auto">
          <a:xfrm>
            <a:off x="6635949" y="2857242"/>
            <a:ext cx="3061503" cy="1418459"/>
            <a:chOff x="7248667" y="5380129"/>
            <a:chExt cx="3062460" cy="1419007"/>
          </a:xfrm>
        </p:grpSpPr>
        <p:sp>
          <p:nvSpPr>
            <p:cNvPr id="89" name="Line 37">
              <a:extLst>
                <a:ext uri="{FF2B5EF4-FFF2-40B4-BE49-F238E27FC236}">
                  <a16:creationId xmlns:a16="http://schemas.microsoft.com/office/drawing/2014/main" id="{DE13701C-3DFB-4CC3-A0CE-6528887043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17316" y="6306748"/>
              <a:ext cx="2533651" cy="317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1" name="Line 38">
              <a:extLst>
                <a:ext uri="{FF2B5EF4-FFF2-40B4-BE49-F238E27FC236}">
                  <a16:creationId xmlns:a16="http://schemas.microsoft.com/office/drawing/2014/main" id="{6744C27C-06ED-4D75-9F0A-EFD1EDA3E9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63354" y="5782871"/>
              <a:ext cx="0" cy="9366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7" name="Freeform 39">
              <a:extLst>
                <a:ext uri="{FF2B5EF4-FFF2-40B4-BE49-F238E27FC236}">
                  <a16:creationId xmlns:a16="http://schemas.microsoft.com/office/drawing/2014/main" id="{32A84030-2A77-4185-997D-B96F549C4248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354" y="5965434"/>
              <a:ext cx="2119313" cy="649289"/>
            </a:xfrm>
            <a:custGeom>
              <a:avLst/>
              <a:gdLst>
                <a:gd name="T0" fmla="*/ 0 w 893"/>
                <a:gd name="T1" fmla="*/ 2147483646 h 454"/>
                <a:gd name="T2" fmla="*/ 2147483646 w 893"/>
                <a:gd name="T3" fmla="*/ 2147483646 h 454"/>
                <a:gd name="T4" fmla="*/ 2147483646 w 893"/>
                <a:gd name="T5" fmla="*/ 2147483646 h 454"/>
                <a:gd name="T6" fmla="*/ 2147483646 w 893"/>
                <a:gd name="T7" fmla="*/ 2147483646 h 454"/>
                <a:gd name="T8" fmla="*/ 2147483646 w 893"/>
                <a:gd name="T9" fmla="*/ 2147483646 h 45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3"/>
                <a:gd name="T16" fmla="*/ 0 h 454"/>
                <a:gd name="T17" fmla="*/ 893 w 893"/>
                <a:gd name="T18" fmla="*/ 454 h 45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3" h="454">
                  <a:moveTo>
                    <a:pt x="0" y="223"/>
                  </a:moveTo>
                  <a:cubicBezTo>
                    <a:pt x="73" y="111"/>
                    <a:pt x="146" y="0"/>
                    <a:pt x="221" y="2"/>
                  </a:cubicBezTo>
                  <a:cubicBezTo>
                    <a:pt x="296" y="4"/>
                    <a:pt x="376" y="158"/>
                    <a:pt x="451" y="233"/>
                  </a:cubicBezTo>
                  <a:cubicBezTo>
                    <a:pt x="526" y="308"/>
                    <a:pt x="598" y="454"/>
                    <a:pt x="672" y="454"/>
                  </a:cubicBezTo>
                  <a:cubicBezTo>
                    <a:pt x="746" y="454"/>
                    <a:pt x="819" y="343"/>
                    <a:pt x="893" y="233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8" name="Text Box 40">
              <a:extLst>
                <a:ext uri="{FF2B5EF4-FFF2-40B4-BE49-F238E27FC236}">
                  <a16:creationId xmlns:a16="http://schemas.microsoft.com/office/drawing/2014/main" id="{2C117A7B-1A76-48AE-A190-3E57A50171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17316" y="5434616"/>
              <a:ext cx="389972" cy="4618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1008063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1008063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1008063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1008063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1008063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10080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10080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10080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10080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latin typeface="Arial" panose="020B0604020202020204" pitchFamily="34" charset="0"/>
                </a:rPr>
                <a:t>V</a:t>
              </a:r>
            </a:p>
          </p:txBody>
        </p:sp>
        <p:sp>
          <p:nvSpPr>
            <p:cNvPr id="101" name="Text Box 41">
              <a:extLst>
                <a:ext uri="{FF2B5EF4-FFF2-40B4-BE49-F238E27FC236}">
                  <a16:creationId xmlns:a16="http://schemas.microsoft.com/office/drawing/2014/main" id="{1127735D-1161-48F6-A658-CF2B74D70D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41417" y="6259123"/>
              <a:ext cx="269710" cy="4618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1008063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1008063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1008063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1008063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1008063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10080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10080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10080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10080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latin typeface="Arial" panose="020B0604020202020204" pitchFamily="34" charset="0"/>
                </a:rPr>
                <a:t>t</a:t>
              </a:r>
            </a:p>
          </p:txBody>
        </p:sp>
        <p:sp>
          <p:nvSpPr>
            <p:cNvPr id="106" name="Text Box 65">
              <a:extLst>
                <a:ext uri="{FF2B5EF4-FFF2-40B4-BE49-F238E27FC236}">
                  <a16:creationId xmlns:a16="http://schemas.microsoft.com/office/drawing/2014/main" id="{025C22F9-87FE-4266-827C-70C5E2E588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36820" y="5380129"/>
              <a:ext cx="1325498" cy="536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3333FF"/>
                  </a:solidFill>
                  <a:latin typeface="Arial" panose="020B0604020202020204" pitchFamily="34" charset="0"/>
                </a:rPr>
                <a:t>V</a:t>
              </a:r>
              <a:r>
                <a:rPr lang="es-ES" sz="2400" baseline="-25000" dirty="0">
                  <a:solidFill>
                    <a:srgbClr val="3333FF"/>
                  </a:solidFill>
                  <a:latin typeface="Arial" panose="020B0604020202020204" pitchFamily="34" charset="0"/>
                </a:rPr>
                <a:t>ALTERNA</a:t>
              </a:r>
              <a:endParaRPr lang="es-ES" sz="2400" dirty="0">
                <a:solidFill>
                  <a:srgbClr val="3333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7" name="Text Box 40">
              <a:extLst>
                <a:ext uri="{FF2B5EF4-FFF2-40B4-BE49-F238E27FC236}">
                  <a16:creationId xmlns:a16="http://schemas.microsoft.com/office/drawing/2014/main" id="{D6A0D193-FF72-4E4F-8752-88706BC44C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09744" y="5719025"/>
              <a:ext cx="450905" cy="4002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1008063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1008063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1008063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1008063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1008063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10080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10080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10080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10080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>
                  <a:latin typeface="Arial" panose="020B0604020202020204" pitchFamily="34" charset="0"/>
                </a:rPr>
                <a:t>V</a:t>
              </a:r>
              <a:r>
                <a:rPr lang="es-ES" sz="2000" baseline="-25000">
                  <a:latin typeface="Arial" panose="020B0604020202020204" pitchFamily="34" charset="0"/>
                </a:rPr>
                <a:t>0</a:t>
              </a:r>
              <a:endParaRPr lang="es-ES" sz="2000">
                <a:latin typeface="Arial" panose="020B0604020202020204" pitchFamily="34" charset="0"/>
              </a:endParaRPr>
            </a:p>
          </p:txBody>
        </p:sp>
        <p:sp>
          <p:nvSpPr>
            <p:cNvPr id="108" name="Text Box 40">
              <a:extLst>
                <a:ext uri="{FF2B5EF4-FFF2-40B4-BE49-F238E27FC236}">
                  <a16:creationId xmlns:a16="http://schemas.microsoft.com/office/drawing/2014/main" id="{18C150F9-2287-4071-B2D2-FB5A9283D1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48667" y="6398871"/>
              <a:ext cx="535891" cy="4002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1008063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1008063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1008063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1008063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1008063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10080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10080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10080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10080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>
                  <a:latin typeface="Arial" panose="020B0604020202020204" pitchFamily="34" charset="0"/>
                </a:rPr>
                <a:t>-V</a:t>
              </a:r>
              <a:r>
                <a:rPr lang="es-ES" sz="2000" baseline="-25000">
                  <a:latin typeface="Arial" panose="020B0604020202020204" pitchFamily="34" charset="0"/>
                </a:rPr>
                <a:t>0</a:t>
              </a:r>
              <a:endParaRPr lang="es-ES" sz="2000">
                <a:latin typeface="Arial" panose="020B0604020202020204" pitchFamily="34" charset="0"/>
              </a:endParaRPr>
            </a:p>
          </p:txBody>
        </p:sp>
        <p:cxnSp>
          <p:nvCxnSpPr>
            <p:cNvPr id="109" name="Conector recto 2">
              <a:extLst>
                <a:ext uri="{FF2B5EF4-FFF2-40B4-BE49-F238E27FC236}">
                  <a16:creationId xmlns:a16="http://schemas.microsoft.com/office/drawing/2014/main" id="{2D916D1F-44F9-415D-B464-928FD8C729B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686858" y="5943432"/>
              <a:ext cx="167958" cy="0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1" name="Conector recto 80">
              <a:extLst>
                <a:ext uri="{FF2B5EF4-FFF2-40B4-BE49-F238E27FC236}">
                  <a16:creationId xmlns:a16="http://schemas.microsoft.com/office/drawing/2014/main" id="{9F0E55B5-3262-4EF4-88E4-4C6C00A60EE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697018" y="6613992"/>
              <a:ext cx="167958" cy="0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12" name="Text Box 125">
            <a:extLst>
              <a:ext uri="{FF2B5EF4-FFF2-40B4-BE49-F238E27FC236}">
                <a16:creationId xmlns:a16="http://schemas.microsoft.com/office/drawing/2014/main" id="{95703B3A-D307-47EE-84AC-3365024670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6337" y="2244170"/>
            <a:ext cx="2470284" cy="598487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V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= V</a:t>
            </a:r>
            <a:r>
              <a:rPr lang="es-ES" sz="2400" baseline="-250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s-ES" sz="28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sin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(t)</a:t>
            </a:r>
          </a:p>
        </p:txBody>
      </p:sp>
      <p:grpSp>
        <p:nvGrpSpPr>
          <p:cNvPr id="113" name="Grupo 112">
            <a:extLst>
              <a:ext uri="{FF2B5EF4-FFF2-40B4-BE49-F238E27FC236}">
                <a16:creationId xmlns:a16="http://schemas.microsoft.com/office/drawing/2014/main" id="{9205F127-FA53-4410-B61C-59DFA96CACDC}"/>
              </a:ext>
            </a:extLst>
          </p:cNvPr>
          <p:cNvGrpSpPr/>
          <p:nvPr/>
        </p:nvGrpSpPr>
        <p:grpSpPr>
          <a:xfrm>
            <a:off x="7760642" y="1656362"/>
            <a:ext cx="1670362" cy="564192"/>
            <a:chOff x="7901317" y="1615474"/>
            <a:chExt cx="1670362" cy="564192"/>
          </a:xfrm>
        </p:grpSpPr>
        <p:grpSp>
          <p:nvGrpSpPr>
            <p:cNvPr id="114" name="Grupo 113">
              <a:extLst>
                <a:ext uri="{FF2B5EF4-FFF2-40B4-BE49-F238E27FC236}">
                  <a16:creationId xmlns:a16="http://schemas.microsoft.com/office/drawing/2014/main" id="{85A92590-6ABD-4C66-9279-FE3A34D2A4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013399" y="1641958"/>
              <a:ext cx="1558280" cy="537708"/>
              <a:chOff x="8898229" y="4880600"/>
              <a:chExt cx="1559491" cy="537710"/>
            </a:xfrm>
          </p:grpSpPr>
          <p:sp>
            <p:nvSpPr>
              <p:cNvPr id="116" name="Text Box 124">
                <a:extLst>
                  <a:ext uri="{FF2B5EF4-FFF2-40B4-BE49-F238E27FC236}">
                    <a16:creationId xmlns:a16="http://schemas.microsoft.com/office/drawing/2014/main" id="{27E7363D-B29B-404B-81D7-8F800E1DFD8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075843" y="5042572"/>
                <a:ext cx="1381877" cy="37573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 anchorCtr="1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lnSpc>
                    <a:spcPct val="50000"/>
                  </a:lnSpc>
                  <a:spcBef>
                    <a:spcPct val="50000"/>
                  </a:spcBef>
                </a:pPr>
                <a:r>
                  <a:rPr lang="es-ES" sz="2400" dirty="0">
                    <a:solidFill>
                      <a:srgbClr val="3333FF"/>
                    </a:solidFill>
                  </a:rPr>
                  <a:t>Amplitud</a:t>
                </a:r>
              </a:p>
            </p:txBody>
          </p:sp>
          <p:cxnSp>
            <p:nvCxnSpPr>
              <p:cNvPr id="117" name="Conector recto de flecha 236">
                <a:extLst>
                  <a:ext uri="{FF2B5EF4-FFF2-40B4-BE49-F238E27FC236}">
                    <a16:creationId xmlns:a16="http://schemas.microsoft.com/office/drawing/2014/main" id="{6122ECC0-6A75-4FE4-AF5B-E0C974A2B09D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8898229" y="4880600"/>
                <a:ext cx="0" cy="533038"/>
              </a:xfrm>
              <a:prstGeom prst="straightConnector1">
                <a:avLst/>
              </a:prstGeom>
              <a:noFill/>
              <a:ln w="25400" algn="ctr">
                <a:solidFill>
                  <a:srgbClr val="3333FF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cxnSp>
          <p:nvCxnSpPr>
            <p:cNvPr id="115" name="Conector recto de flecha 236">
              <a:extLst>
                <a:ext uri="{FF2B5EF4-FFF2-40B4-BE49-F238E27FC236}">
                  <a16:creationId xmlns:a16="http://schemas.microsoft.com/office/drawing/2014/main" id="{E79928BE-CD84-4226-A0F7-4B4404D2689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>
              <a:off x="8194487" y="1322304"/>
              <a:ext cx="0" cy="586340"/>
            </a:xfrm>
            <a:prstGeom prst="straightConnector1">
              <a:avLst/>
            </a:prstGeom>
            <a:noFill/>
            <a:ln w="25400" algn="ctr">
              <a:solidFill>
                <a:srgbClr val="3333FF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18" name="Text Box 121">
            <a:extLst>
              <a:ext uri="{FF2B5EF4-FFF2-40B4-BE49-F238E27FC236}">
                <a16:creationId xmlns:a16="http://schemas.microsoft.com/office/drawing/2014/main" id="{CD956727-7A20-4C0C-BDFC-C473F9A9BE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7597" y="4569578"/>
            <a:ext cx="8371062" cy="956773"/>
          </a:xfrm>
          <a:prstGeom prst="rect">
            <a:avLst/>
          </a:prstGeom>
          <a:solidFill>
            <a:srgbClr val="CCFFCC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108000" tIns="108000" rIns="108000" bIns="108000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sz="2400" dirty="0">
                <a:solidFill>
                  <a:schemeClr val="tx1"/>
                </a:solidFill>
              </a:rPr>
              <a:t>Si se conecta una </a:t>
            </a:r>
            <a:r>
              <a:rPr lang="es-ES" sz="2400" dirty="0">
                <a:solidFill>
                  <a:srgbClr val="3333FF"/>
                </a:solidFill>
              </a:rPr>
              <a:t>resistencia</a:t>
            </a:r>
            <a:r>
              <a:rPr lang="es-ES" sz="2400" dirty="0">
                <a:solidFill>
                  <a:schemeClr val="tx1"/>
                </a:solidFill>
              </a:rPr>
              <a:t> a los terminales, se establece una </a:t>
            </a:r>
            <a:r>
              <a:rPr lang="es-ES" sz="2400" dirty="0">
                <a:solidFill>
                  <a:srgbClr val="3333FF"/>
                </a:solidFill>
              </a:rPr>
              <a:t>corriente alterna</a:t>
            </a:r>
            <a:r>
              <a:rPr lang="es-ES" sz="2400" dirty="0">
                <a:solidFill>
                  <a:schemeClr val="tx1"/>
                </a:solidFill>
              </a:rPr>
              <a:t> en el circuito que forma con la espira</a:t>
            </a:r>
          </a:p>
        </p:txBody>
      </p:sp>
      <p:sp>
        <p:nvSpPr>
          <p:cNvPr id="119" name="Text Box 121">
            <a:extLst>
              <a:ext uri="{FF2B5EF4-FFF2-40B4-BE49-F238E27FC236}">
                <a16:creationId xmlns:a16="http://schemas.microsoft.com/office/drawing/2014/main" id="{7CFB1C87-C4DE-4080-8645-6F1C8A61CD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7597" y="5765964"/>
            <a:ext cx="8371062" cy="956773"/>
          </a:xfrm>
          <a:prstGeom prst="rect">
            <a:avLst/>
          </a:prstGeom>
          <a:solidFill>
            <a:srgbClr val="CCFFCC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108000" tIns="108000" rIns="108000" bIns="108000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sz="2400" dirty="0">
                <a:solidFill>
                  <a:schemeClr val="tx1"/>
                </a:solidFill>
              </a:rPr>
              <a:t>Como ocurría con la barra, los dos tramos horizontales son frenados en toda la vuelta. El </a:t>
            </a:r>
            <a:r>
              <a:rPr lang="es-ES" sz="2400" dirty="0">
                <a:solidFill>
                  <a:srgbClr val="3333FF"/>
                </a:solidFill>
              </a:rPr>
              <a:t>W</a:t>
            </a:r>
            <a:r>
              <a:rPr lang="es-ES" sz="2400" baseline="-25000" dirty="0">
                <a:solidFill>
                  <a:srgbClr val="3333FF"/>
                </a:solidFill>
              </a:rPr>
              <a:t>EXTERIOR</a:t>
            </a:r>
            <a:r>
              <a:rPr lang="es-ES" sz="2400" dirty="0">
                <a:solidFill>
                  <a:schemeClr val="tx1"/>
                </a:solidFill>
              </a:rPr>
              <a:t> mantiene </a:t>
            </a:r>
            <a:r>
              <a:rPr lang="es-ES" sz="2400" dirty="0">
                <a:solidFill>
                  <a:srgbClr val="3333FF"/>
                </a:solidFill>
                <a:sym typeface="Symbol" panose="05050102010706020507" pitchFamily="18" charset="2"/>
              </a:rPr>
              <a:t> </a:t>
            </a:r>
            <a:r>
              <a:rPr lang="es-ES" sz="2400" dirty="0" err="1">
                <a:solidFill>
                  <a:srgbClr val="3333FF"/>
                </a:solidFill>
              </a:rPr>
              <a:t>cte</a:t>
            </a:r>
            <a:endParaRPr lang="es-ES" sz="2400" dirty="0">
              <a:solidFill>
                <a:srgbClr val="3333FF"/>
              </a:solidFill>
            </a:endParaRPr>
          </a:p>
        </p:txBody>
      </p:sp>
      <p:sp>
        <p:nvSpPr>
          <p:cNvPr id="4" name="Text Box 31">
            <a:extLst>
              <a:ext uri="{FF2B5EF4-FFF2-40B4-BE49-F238E27FC236}">
                <a16:creationId xmlns:a16="http://schemas.microsoft.com/office/drawing/2014/main" id="{486E1006-EDCD-C162-568E-032E40B8D4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4004" y="393945"/>
            <a:ext cx="5872120" cy="536549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tIns="82800" bIns="82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Método habitual para generar electricidad</a:t>
            </a:r>
          </a:p>
        </p:txBody>
      </p:sp>
      <p:sp>
        <p:nvSpPr>
          <p:cNvPr id="5" name="Flecha: a la derecha 4">
            <a:extLst>
              <a:ext uri="{FF2B5EF4-FFF2-40B4-BE49-F238E27FC236}">
                <a16:creationId xmlns:a16="http://schemas.microsoft.com/office/drawing/2014/main" id="{0412611D-1FAA-D096-9C92-9ECC64A0A1DA}"/>
              </a:ext>
            </a:extLst>
          </p:cNvPr>
          <p:cNvSpPr/>
          <p:nvPr/>
        </p:nvSpPr>
        <p:spPr bwMode="auto">
          <a:xfrm>
            <a:off x="4186196" y="438466"/>
            <a:ext cx="447495" cy="480168"/>
          </a:xfrm>
          <a:prstGeom prst="rightArrow">
            <a:avLst/>
          </a:prstGeom>
          <a:solidFill>
            <a:schemeClr val="accent1"/>
          </a:solidFill>
          <a:ln w="254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square" lIns="90000" tIns="82800" rIns="90000" bIns="82800" numCol="1" rtlCol="0" anchor="t" anchorCtr="1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-2500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228540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1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" grpId="0" animBg="1"/>
      <p:bldP spid="118" grpId="0" animBg="1"/>
      <p:bldP spid="11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FA99D0AF-D5C4-4902-B469-1B806E494AC9}"/>
              </a:ext>
            </a:extLst>
          </p:cNvPr>
          <p:cNvSpPr/>
          <p:nvPr/>
        </p:nvSpPr>
        <p:spPr bwMode="auto">
          <a:xfrm>
            <a:off x="1285586" y="1081310"/>
            <a:ext cx="5040000" cy="31680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square" lIns="90000" tIns="82800" rIns="90000" bIns="82800" numCol="1" rtlCol="0" anchor="t" anchorCtr="1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-2500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697604" name="Text Box 260"/>
          <p:cNvSpPr txBox="1">
            <a:spLocks noChangeArrowheads="1"/>
          </p:cNvSpPr>
          <p:nvPr/>
        </p:nvSpPr>
        <p:spPr bwMode="auto">
          <a:xfrm>
            <a:off x="3236876" y="3684377"/>
            <a:ext cx="350837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1" dirty="0">
                <a:solidFill>
                  <a:srgbClr val="FF0000"/>
                </a:solidFill>
                <a:latin typeface="Arial" panose="020B0604020202020204" pitchFamily="34" charset="0"/>
              </a:rPr>
              <a:t>V</a:t>
            </a:r>
          </a:p>
        </p:txBody>
      </p:sp>
      <p:sp>
        <p:nvSpPr>
          <p:cNvPr id="34833" name="Text Box 125"/>
          <p:cNvSpPr txBox="1">
            <a:spLocks noChangeArrowheads="1"/>
          </p:cNvSpPr>
          <p:nvPr/>
        </p:nvSpPr>
        <p:spPr bwMode="auto">
          <a:xfrm>
            <a:off x="1279152" y="394504"/>
            <a:ext cx="2711296" cy="536549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s-ES" sz="2400" b="1"/>
              <a:t>GIRO DE ESPIRA</a:t>
            </a:r>
          </a:p>
        </p:txBody>
      </p:sp>
      <p:grpSp>
        <p:nvGrpSpPr>
          <p:cNvPr id="120" name="Group 130"/>
          <p:cNvGrpSpPr>
            <a:grpSpLocks/>
          </p:cNvGrpSpPr>
          <p:nvPr/>
        </p:nvGrpSpPr>
        <p:grpSpPr bwMode="auto">
          <a:xfrm>
            <a:off x="1447512" y="1233710"/>
            <a:ext cx="4694237" cy="1854200"/>
            <a:chOff x="1105" y="1506"/>
            <a:chExt cx="2957" cy="1168"/>
          </a:xfrm>
        </p:grpSpPr>
        <p:sp>
          <p:nvSpPr>
            <p:cNvPr id="11" name="Line 37"/>
            <p:cNvSpPr>
              <a:spLocks noChangeShapeType="1"/>
            </p:cNvSpPr>
            <p:nvPr/>
          </p:nvSpPr>
          <p:spPr bwMode="auto">
            <a:xfrm>
              <a:off x="2075" y="2515"/>
              <a:ext cx="91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 type="none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grpSp>
          <p:nvGrpSpPr>
            <p:cNvPr id="34855" name="Group 129"/>
            <p:cNvGrpSpPr>
              <a:grpSpLocks/>
            </p:cNvGrpSpPr>
            <p:nvPr/>
          </p:nvGrpSpPr>
          <p:grpSpPr bwMode="auto">
            <a:xfrm>
              <a:off x="1105" y="1506"/>
              <a:ext cx="2957" cy="1168"/>
              <a:chOff x="1105" y="1506"/>
              <a:chExt cx="2957" cy="1168"/>
            </a:xfrm>
          </p:grpSpPr>
          <p:sp>
            <p:nvSpPr>
              <p:cNvPr id="34856" name="AutoShape 3"/>
              <p:cNvSpPr>
                <a:spLocks noChangeArrowheads="1"/>
              </p:cNvSpPr>
              <p:nvPr/>
            </p:nvSpPr>
            <p:spPr bwMode="auto">
              <a:xfrm>
                <a:off x="1105" y="1860"/>
                <a:ext cx="910" cy="814"/>
              </a:xfrm>
              <a:prstGeom prst="cube">
                <a:avLst>
                  <a:gd name="adj" fmla="val 25000"/>
                </a:avLst>
              </a:prstGeom>
              <a:solidFill>
                <a:srgbClr val="FF0000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34857" name="Text Box 4"/>
              <p:cNvSpPr txBox="1">
                <a:spLocks noChangeArrowheads="1"/>
              </p:cNvSpPr>
              <p:nvPr/>
            </p:nvSpPr>
            <p:spPr bwMode="auto">
              <a:xfrm>
                <a:off x="1336" y="2154"/>
                <a:ext cx="286" cy="2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/>
              <a:lstStyle>
                <a:lvl1pPr defTabSz="1008063"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1008063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1008063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1008063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1008063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400" b="1" dirty="0">
                    <a:solidFill>
                      <a:schemeClr val="bg1"/>
                    </a:solidFill>
                    <a:latin typeface="Arial" panose="020B0604020202020204" pitchFamily="34" charset="0"/>
                  </a:rPr>
                  <a:t>N</a:t>
                </a:r>
              </a:p>
            </p:txBody>
          </p:sp>
          <p:sp>
            <p:nvSpPr>
              <p:cNvPr id="34867" name="Line 16"/>
              <p:cNvSpPr>
                <a:spLocks noChangeShapeType="1"/>
              </p:cNvSpPr>
              <p:nvPr/>
            </p:nvSpPr>
            <p:spPr bwMode="auto">
              <a:xfrm flipV="1">
                <a:off x="1950" y="1927"/>
                <a:ext cx="1509" cy="0"/>
              </a:xfrm>
              <a:prstGeom prst="line">
                <a:avLst/>
              </a:prstGeom>
              <a:noFill/>
              <a:ln w="19050">
                <a:solidFill>
                  <a:srgbClr val="008000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868" name="Line 17"/>
              <p:cNvSpPr>
                <a:spLocks noChangeShapeType="1"/>
              </p:cNvSpPr>
              <p:nvPr/>
            </p:nvSpPr>
            <p:spPr bwMode="auto">
              <a:xfrm flipV="1">
                <a:off x="1862" y="2054"/>
                <a:ext cx="1354" cy="0"/>
              </a:xfrm>
              <a:prstGeom prst="line">
                <a:avLst/>
              </a:prstGeom>
              <a:noFill/>
              <a:ln w="19050">
                <a:solidFill>
                  <a:srgbClr val="008000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869" name="Line 18"/>
              <p:cNvSpPr>
                <a:spLocks noChangeShapeType="1"/>
              </p:cNvSpPr>
              <p:nvPr/>
            </p:nvSpPr>
            <p:spPr bwMode="auto">
              <a:xfrm flipV="1">
                <a:off x="1850" y="2283"/>
                <a:ext cx="1335" cy="0"/>
              </a:xfrm>
              <a:prstGeom prst="line">
                <a:avLst/>
              </a:prstGeom>
              <a:noFill/>
              <a:ln w="19050">
                <a:solidFill>
                  <a:srgbClr val="008000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870" name="Line 19"/>
              <p:cNvSpPr>
                <a:spLocks noChangeShapeType="1"/>
              </p:cNvSpPr>
              <p:nvPr/>
            </p:nvSpPr>
            <p:spPr bwMode="auto">
              <a:xfrm flipV="1">
                <a:off x="1862" y="2519"/>
                <a:ext cx="1348" cy="0"/>
              </a:xfrm>
              <a:prstGeom prst="line">
                <a:avLst/>
              </a:prstGeom>
              <a:noFill/>
              <a:ln w="19050">
                <a:solidFill>
                  <a:srgbClr val="008000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 dirty="0"/>
              </a:p>
            </p:txBody>
          </p:sp>
          <p:sp>
            <p:nvSpPr>
              <p:cNvPr id="34871" name="Line 20"/>
              <p:cNvSpPr>
                <a:spLocks noChangeShapeType="1"/>
              </p:cNvSpPr>
              <p:nvPr/>
            </p:nvSpPr>
            <p:spPr bwMode="auto">
              <a:xfrm flipV="1">
                <a:off x="1974" y="2148"/>
                <a:ext cx="1431" cy="0"/>
              </a:xfrm>
              <a:prstGeom prst="line">
                <a:avLst/>
              </a:prstGeom>
              <a:noFill/>
              <a:ln w="19050">
                <a:solidFill>
                  <a:srgbClr val="008000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872" name="Line 21"/>
              <p:cNvSpPr>
                <a:spLocks noChangeShapeType="1"/>
              </p:cNvSpPr>
              <p:nvPr/>
            </p:nvSpPr>
            <p:spPr bwMode="auto">
              <a:xfrm flipV="1">
                <a:off x="1974" y="2410"/>
                <a:ext cx="1451" cy="0"/>
              </a:xfrm>
              <a:prstGeom prst="line">
                <a:avLst/>
              </a:prstGeom>
              <a:noFill/>
              <a:ln w="19050">
                <a:solidFill>
                  <a:srgbClr val="008000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873" name="AutoShape 22"/>
              <p:cNvSpPr>
                <a:spLocks noChangeArrowheads="1"/>
              </p:cNvSpPr>
              <p:nvPr/>
            </p:nvSpPr>
            <p:spPr bwMode="auto">
              <a:xfrm>
                <a:off x="3162" y="1815"/>
                <a:ext cx="900" cy="814"/>
              </a:xfrm>
              <a:prstGeom prst="cube">
                <a:avLst>
                  <a:gd name="adj" fmla="val 25000"/>
                </a:avLst>
              </a:prstGeom>
              <a:solidFill>
                <a:srgbClr val="0000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34874" name="Text Box 23"/>
              <p:cNvSpPr txBox="1">
                <a:spLocks noChangeArrowheads="1"/>
              </p:cNvSpPr>
              <p:nvPr/>
            </p:nvSpPr>
            <p:spPr bwMode="auto">
              <a:xfrm>
                <a:off x="3403" y="2155"/>
                <a:ext cx="277" cy="3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/>
              <a:lstStyle>
                <a:lvl1pPr defTabSz="1008063"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1008063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1008063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1008063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1008063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400" dirty="0">
                    <a:solidFill>
                      <a:srgbClr val="FFFFFF"/>
                    </a:solidFill>
                    <a:latin typeface="Arial" panose="020B0604020202020204" pitchFamily="34" charset="0"/>
                  </a:rPr>
                  <a:t>S</a:t>
                </a:r>
              </a:p>
            </p:txBody>
          </p:sp>
          <p:sp>
            <p:nvSpPr>
              <p:cNvPr id="34875" name="Line 32"/>
              <p:cNvSpPr>
                <a:spLocks noChangeShapeType="1"/>
              </p:cNvSpPr>
              <p:nvPr/>
            </p:nvSpPr>
            <p:spPr bwMode="auto">
              <a:xfrm>
                <a:off x="2257" y="1931"/>
                <a:ext cx="91" cy="0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 type="none" w="med" len="med"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876" name="Line 33"/>
              <p:cNvSpPr>
                <a:spLocks noChangeShapeType="1"/>
              </p:cNvSpPr>
              <p:nvPr/>
            </p:nvSpPr>
            <p:spPr bwMode="auto">
              <a:xfrm>
                <a:off x="2100" y="2054"/>
                <a:ext cx="91" cy="0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 type="none" w="med" len="med"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877" name="Line 34"/>
              <p:cNvSpPr>
                <a:spLocks noChangeShapeType="1"/>
              </p:cNvSpPr>
              <p:nvPr/>
            </p:nvSpPr>
            <p:spPr bwMode="auto">
              <a:xfrm>
                <a:off x="2247" y="2145"/>
                <a:ext cx="91" cy="0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 type="none" w="med" len="med"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878" name="Line 35"/>
              <p:cNvSpPr>
                <a:spLocks noChangeShapeType="1"/>
              </p:cNvSpPr>
              <p:nvPr/>
            </p:nvSpPr>
            <p:spPr bwMode="auto">
              <a:xfrm>
                <a:off x="2086" y="2281"/>
                <a:ext cx="91" cy="0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 type="none" w="med" len="med"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879" name="Line 36"/>
              <p:cNvSpPr>
                <a:spLocks noChangeShapeType="1"/>
              </p:cNvSpPr>
              <p:nvPr/>
            </p:nvSpPr>
            <p:spPr bwMode="auto">
              <a:xfrm>
                <a:off x="2239" y="2408"/>
                <a:ext cx="91" cy="0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 type="none" w="med" len="med"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graphicFrame>
            <p:nvGraphicFramePr>
              <p:cNvPr id="34880" name="Object 51"/>
              <p:cNvGraphicFramePr>
                <a:graphicFrameLocks noChangeAspect="1"/>
              </p:cNvGraphicFramePr>
              <p:nvPr/>
            </p:nvGraphicFramePr>
            <p:xfrm>
              <a:off x="2125" y="1506"/>
              <a:ext cx="226" cy="30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cuación" r:id="rId3" imgW="152268" imgH="203024" progId="Equation.3">
                      <p:embed/>
                    </p:oleObj>
                  </mc:Choice>
                  <mc:Fallback>
                    <p:oleObj name="Ecuación" r:id="rId3" imgW="152268" imgH="203024" progId="Equation.3">
                      <p:embed/>
                      <p:pic>
                        <p:nvPicPr>
                          <p:cNvPr id="34880" name="Object 5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125" y="1506"/>
                            <a:ext cx="226" cy="30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6" name="Grupo 5">
            <a:extLst>
              <a:ext uri="{FF2B5EF4-FFF2-40B4-BE49-F238E27FC236}">
                <a16:creationId xmlns:a16="http://schemas.microsoft.com/office/drawing/2014/main" id="{AA5D7AB4-7223-46B3-9E53-2C08437B2378}"/>
              </a:ext>
            </a:extLst>
          </p:cNvPr>
          <p:cNvGrpSpPr/>
          <p:nvPr/>
        </p:nvGrpSpPr>
        <p:grpSpPr>
          <a:xfrm>
            <a:off x="2932781" y="2851304"/>
            <a:ext cx="703087" cy="1133478"/>
            <a:chOff x="2709652" y="3047771"/>
            <a:chExt cx="703087" cy="1133478"/>
          </a:xfrm>
        </p:grpSpPr>
        <p:sp>
          <p:nvSpPr>
            <p:cNvPr id="34900" name="Oval 66"/>
            <p:cNvSpPr>
              <a:spLocks noChangeArrowheads="1"/>
            </p:cNvSpPr>
            <p:nvPr/>
          </p:nvSpPr>
          <p:spPr bwMode="auto">
            <a:xfrm>
              <a:off x="2980939" y="3047771"/>
              <a:ext cx="431800" cy="431801"/>
            </a:xfrm>
            <a:prstGeom prst="ellipse">
              <a:avLst/>
            </a:prstGeom>
            <a:noFill/>
            <a:ln w="25400" algn="ctr">
              <a:solidFill>
                <a:srgbClr val="3333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4910" name="Oval 67"/>
            <p:cNvSpPr>
              <a:spLocks noChangeArrowheads="1"/>
            </p:cNvSpPr>
            <p:nvPr/>
          </p:nvSpPr>
          <p:spPr bwMode="auto">
            <a:xfrm>
              <a:off x="2709652" y="3482922"/>
              <a:ext cx="294925" cy="294925"/>
            </a:xfrm>
            <a:prstGeom prst="ellipse">
              <a:avLst/>
            </a:prstGeom>
            <a:noFill/>
            <a:ln w="25400" algn="ctr">
              <a:solidFill>
                <a:srgbClr val="3333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4911" name="Line 68"/>
            <p:cNvSpPr>
              <a:spLocks noChangeShapeType="1"/>
            </p:cNvSpPr>
            <p:nvPr/>
          </p:nvSpPr>
          <p:spPr bwMode="auto">
            <a:xfrm>
              <a:off x="3193664" y="3482747"/>
              <a:ext cx="0" cy="277813"/>
            </a:xfrm>
            <a:prstGeom prst="line">
              <a:avLst/>
            </a:prstGeom>
            <a:noFill/>
            <a:ln w="25400">
              <a:solidFill>
                <a:srgbClr val="3333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Ctr="1"/>
            <a:lstStyle/>
            <a:p>
              <a:endParaRPr lang="en-GB"/>
            </a:p>
          </p:txBody>
        </p:sp>
        <p:sp>
          <p:nvSpPr>
            <p:cNvPr id="34912" name="Line 69"/>
            <p:cNvSpPr>
              <a:spLocks noChangeShapeType="1"/>
            </p:cNvSpPr>
            <p:nvPr/>
          </p:nvSpPr>
          <p:spPr bwMode="auto">
            <a:xfrm>
              <a:off x="2865051" y="3788036"/>
              <a:ext cx="0" cy="336153"/>
            </a:xfrm>
            <a:prstGeom prst="line">
              <a:avLst/>
            </a:prstGeom>
            <a:noFill/>
            <a:ln w="25400">
              <a:solidFill>
                <a:srgbClr val="3333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Ctr="1"/>
            <a:lstStyle/>
            <a:p>
              <a:endParaRPr lang="en-GB"/>
            </a:p>
          </p:txBody>
        </p:sp>
        <p:sp>
          <p:nvSpPr>
            <p:cNvPr id="34898" name="Oval 131"/>
            <p:cNvSpPr>
              <a:spLocks noChangeArrowheads="1"/>
            </p:cNvSpPr>
            <p:nvPr/>
          </p:nvSpPr>
          <p:spPr bwMode="auto">
            <a:xfrm>
              <a:off x="2814251" y="4073299"/>
              <a:ext cx="107950" cy="10795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4899" name="Oval 132"/>
            <p:cNvSpPr>
              <a:spLocks noChangeArrowheads="1"/>
            </p:cNvSpPr>
            <p:nvPr/>
          </p:nvSpPr>
          <p:spPr bwMode="auto">
            <a:xfrm>
              <a:off x="3139689" y="3731985"/>
              <a:ext cx="107950" cy="10795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9" name="Grupo 18">
            <a:extLst>
              <a:ext uri="{FF2B5EF4-FFF2-40B4-BE49-F238E27FC236}">
                <a16:creationId xmlns:a16="http://schemas.microsoft.com/office/drawing/2014/main" id="{00BA2E4B-9914-47B2-ACBC-2706B6BB0AD4}"/>
              </a:ext>
            </a:extLst>
          </p:cNvPr>
          <p:cNvGrpSpPr/>
          <p:nvPr/>
        </p:nvGrpSpPr>
        <p:grpSpPr>
          <a:xfrm>
            <a:off x="2740828" y="1030142"/>
            <a:ext cx="2307057" cy="2918264"/>
            <a:chOff x="2569378" y="986701"/>
            <a:chExt cx="2307057" cy="2918264"/>
          </a:xfrm>
        </p:grpSpPr>
        <p:sp>
          <p:nvSpPr>
            <p:cNvPr id="76" name="Line 2">
              <a:extLst>
                <a:ext uri="{FF2B5EF4-FFF2-40B4-BE49-F238E27FC236}">
                  <a16:creationId xmlns:a16="http://schemas.microsoft.com/office/drawing/2014/main" id="{1508913F-F158-4E3A-849C-4CC1ABB25B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69378" y="1496727"/>
              <a:ext cx="1836737" cy="2408238"/>
            </a:xfrm>
            <a:prstGeom prst="line">
              <a:avLst/>
            </a:prstGeom>
            <a:noFill/>
            <a:ln w="38100">
              <a:solidFill>
                <a:schemeClr val="tx2">
                  <a:lumMod val="75000"/>
                  <a:lumOff val="25000"/>
                </a:schemeClr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77" name="AutoShape 15">
              <a:extLst>
                <a:ext uri="{FF2B5EF4-FFF2-40B4-BE49-F238E27FC236}">
                  <a16:creationId xmlns:a16="http://schemas.microsoft.com/office/drawing/2014/main" id="{C4BBB5D8-DD3D-436D-A10F-30B5DBDED64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0859096">
              <a:off x="4217507" y="1287171"/>
              <a:ext cx="363537" cy="51752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3207 w 21600"/>
                <a:gd name="T19" fmla="*/ 3180 h 21600"/>
                <a:gd name="T20" fmla="*/ 18393 w 21600"/>
                <a:gd name="T21" fmla="*/ 18420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8676" y="10800"/>
                  </a:moveTo>
                  <a:cubicBezTo>
                    <a:pt x="18676" y="6450"/>
                    <a:pt x="15149" y="2924"/>
                    <a:pt x="10800" y="2924"/>
                  </a:cubicBezTo>
                  <a:cubicBezTo>
                    <a:pt x="6450" y="2924"/>
                    <a:pt x="2924" y="6450"/>
                    <a:pt x="2924" y="10800"/>
                  </a:cubicBezTo>
                  <a:cubicBezTo>
                    <a:pt x="2923" y="10813"/>
                    <a:pt x="2924" y="10827"/>
                    <a:pt x="2924" y="10841"/>
                  </a:cubicBezTo>
                  <a:lnTo>
                    <a:pt x="0" y="10857"/>
                  </a:lnTo>
                  <a:cubicBezTo>
                    <a:pt x="0" y="10838"/>
                    <a:pt x="0" y="10819"/>
                    <a:pt x="0" y="10800"/>
                  </a:cubicBezTo>
                  <a:cubicBezTo>
                    <a:pt x="0" y="4835"/>
                    <a:pt x="4835" y="0"/>
                    <a:pt x="10800" y="0"/>
                  </a:cubicBezTo>
                  <a:cubicBezTo>
                    <a:pt x="16764" y="-1"/>
                    <a:pt x="21599" y="4835"/>
                    <a:pt x="21600" y="10799"/>
                  </a:cubicBezTo>
                  <a:lnTo>
                    <a:pt x="21600" y="10800"/>
                  </a:lnTo>
                  <a:lnTo>
                    <a:pt x="24300" y="10800"/>
                  </a:lnTo>
                  <a:lnTo>
                    <a:pt x="20138" y="14962"/>
                  </a:lnTo>
                  <a:lnTo>
                    <a:pt x="15976" y="10800"/>
                  </a:lnTo>
                  <a:lnTo>
                    <a:pt x="18676" y="10800"/>
                  </a:lnTo>
                  <a:close/>
                </a:path>
              </a:pathLst>
            </a:cu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GB" dirty="0"/>
            </a:p>
          </p:txBody>
        </p:sp>
        <p:sp>
          <p:nvSpPr>
            <p:cNvPr id="78" name="Text Box 54">
              <a:extLst>
                <a:ext uri="{FF2B5EF4-FFF2-40B4-BE49-F238E27FC236}">
                  <a16:creationId xmlns:a16="http://schemas.microsoft.com/office/drawing/2014/main" id="{A9BDA0E2-6EDE-41C9-BF04-5D0F909B01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0835" y="986701"/>
              <a:ext cx="355600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latin typeface="Arial" panose="020B0604020202020204" pitchFamily="34" charset="0"/>
                  <a:sym typeface="Symbol" panose="05050102010706020507" pitchFamily="18" charset="2"/>
                </a:rPr>
                <a:t></a:t>
              </a:r>
            </a:p>
          </p:txBody>
        </p:sp>
      </p:grpSp>
      <p:grpSp>
        <p:nvGrpSpPr>
          <p:cNvPr id="18" name="Grupo 17">
            <a:extLst>
              <a:ext uri="{FF2B5EF4-FFF2-40B4-BE49-F238E27FC236}">
                <a16:creationId xmlns:a16="http://schemas.microsoft.com/office/drawing/2014/main" id="{538C2BF6-15FF-440E-96CC-6E50B928387E}"/>
              </a:ext>
            </a:extLst>
          </p:cNvPr>
          <p:cNvGrpSpPr/>
          <p:nvPr/>
        </p:nvGrpSpPr>
        <p:grpSpPr>
          <a:xfrm>
            <a:off x="3032280" y="1465874"/>
            <a:ext cx="1114848" cy="1955258"/>
            <a:chOff x="-633041" y="1023582"/>
            <a:chExt cx="1114848" cy="1955258"/>
          </a:xfrm>
        </p:grpSpPr>
        <p:sp>
          <p:nvSpPr>
            <p:cNvPr id="79" name="Line 8">
              <a:extLst>
                <a:ext uri="{FF2B5EF4-FFF2-40B4-BE49-F238E27FC236}">
                  <a16:creationId xmlns:a16="http://schemas.microsoft.com/office/drawing/2014/main" id="{B4E67C14-D360-421E-A25C-19513D3B0F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-578643" y="2007832"/>
              <a:ext cx="708025" cy="88900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80" name="Line 5">
              <a:extLst>
                <a:ext uri="{FF2B5EF4-FFF2-40B4-BE49-F238E27FC236}">
                  <a16:creationId xmlns:a16="http://schemas.microsoft.com/office/drawing/2014/main" id="{F4CE65ED-2829-4BE4-8447-792FD5E823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8269" y="1023582"/>
              <a:ext cx="363537" cy="517525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81" name="Line 6">
              <a:extLst>
                <a:ext uri="{FF2B5EF4-FFF2-40B4-BE49-F238E27FC236}">
                  <a16:creationId xmlns:a16="http://schemas.microsoft.com/office/drawing/2014/main" id="{1A522F56-19F8-4093-8AD1-B182FBA759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8269" y="2253894"/>
              <a:ext cx="363537" cy="517525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82" name="Line 7">
              <a:extLst>
                <a:ext uri="{FF2B5EF4-FFF2-40B4-BE49-F238E27FC236}">
                  <a16:creationId xmlns:a16="http://schemas.microsoft.com/office/drawing/2014/main" id="{10FE7D64-A53F-453C-BFDB-FEDC41B100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-246856" y="2231669"/>
              <a:ext cx="365125" cy="517525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83" name="Line 9">
              <a:extLst>
                <a:ext uri="{FF2B5EF4-FFF2-40B4-BE49-F238E27FC236}">
                  <a16:creationId xmlns:a16="http://schemas.microsoft.com/office/drawing/2014/main" id="{DDEB1AB8-29E5-47C7-A86B-AA635EC521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1807" y="1056919"/>
              <a:ext cx="0" cy="121285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84" name="Line 10">
              <a:extLst>
                <a:ext uri="{FF2B5EF4-FFF2-40B4-BE49-F238E27FC236}">
                  <a16:creationId xmlns:a16="http://schemas.microsoft.com/office/drawing/2014/main" id="{E171499C-D202-45B4-91FC-3631B69790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8269" y="1542694"/>
              <a:ext cx="0" cy="487363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85" name="Line 11">
              <a:extLst>
                <a:ext uri="{FF2B5EF4-FFF2-40B4-BE49-F238E27FC236}">
                  <a16:creationId xmlns:a16="http://schemas.microsoft.com/office/drawing/2014/main" id="{A3305636-43BB-48A1-B1BD-D6B4504745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8269" y="2231669"/>
              <a:ext cx="0" cy="517525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88" name="Oval 13">
              <a:extLst>
                <a:ext uri="{FF2B5EF4-FFF2-40B4-BE49-F238E27FC236}">
                  <a16:creationId xmlns:a16="http://schemas.microsoft.com/office/drawing/2014/main" id="{23543AB7-877F-46E8-ACD2-38A6024F51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633041" y="2870890"/>
              <a:ext cx="107950" cy="10795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0" name="Oval 14">
              <a:extLst>
                <a:ext uri="{FF2B5EF4-FFF2-40B4-BE49-F238E27FC236}">
                  <a16:creationId xmlns:a16="http://schemas.microsoft.com/office/drawing/2014/main" id="{5223543B-F24F-468F-8913-D3D62CA69B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283791" y="2716154"/>
              <a:ext cx="107950" cy="10795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68" name="Grupo 67">
            <a:extLst>
              <a:ext uri="{FF2B5EF4-FFF2-40B4-BE49-F238E27FC236}">
                <a16:creationId xmlns:a16="http://schemas.microsoft.com/office/drawing/2014/main" id="{9D7349D7-5377-4F80-8457-7BF4446A4C31}"/>
              </a:ext>
            </a:extLst>
          </p:cNvPr>
          <p:cNvGrpSpPr/>
          <p:nvPr/>
        </p:nvGrpSpPr>
        <p:grpSpPr>
          <a:xfrm>
            <a:off x="6605892" y="2973522"/>
            <a:ext cx="1428750" cy="1363662"/>
            <a:chOff x="6496112" y="3434701"/>
            <a:chExt cx="1428750" cy="1363662"/>
          </a:xfrm>
        </p:grpSpPr>
        <p:sp>
          <p:nvSpPr>
            <p:cNvPr id="69" name="Rectángulo 68">
              <a:extLst>
                <a:ext uri="{FF2B5EF4-FFF2-40B4-BE49-F238E27FC236}">
                  <a16:creationId xmlns:a16="http://schemas.microsoft.com/office/drawing/2014/main" id="{CB7D1BD3-B0EB-4CF3-9D39-32D85B688A29}"/>
                </a:ext>
              </a:extLst>
            </p:cNvPr>
            <p:cNvSpPr/>
            <p:nvPr/>
          </p:nvSpPr>
          <p:spPr bwMode="auto">
            <a:xfrm>
              <a:off x="6496112" y="3434701"/>
              <a:ext cx="1428750" cy="1363662"/>
            </a:xfrm>
            <a:prstGeom prst="rect">
              <a:avLst/>
            </a:prstGeom>
            <a:solidFill>
              <a:srgbClr val="FFFFFF"/>
            </a:solidFill>
            <a:ln w="25400" cap="flat" cmpd="sng" algn="ctr">
              <a:noFill/>
              <a:prstDash val="solid"/>
              <a:round/>
              <a:headEnd type="none" w="med" len="med"/>
              <a:tailEnd type="none" w="lg" len="lg"/>
            </a:ln>
            <a:effectLst/>
          </p:spPr>
          <p:txBody>
            <a:bodyPr vert="horz" wrap="none" lIns="90000" tIns="82800" rIns="90000" bIns="82800" numCol="1" rtlCol="0" anchor="t" anchorCtr="1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-2500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grpSp>
          <p:nvGrpSpPr>
            <p:cNvPr id="70" name="Grupo 69">
              <a:extLst>
                <a:ext uri="{FF2B5EF4-FFF2-40B4-BE49-F238E27FC236}">
                  <a16:creationId xmlns:a16="http://schemas.microsoft.com/office/drawing/2014/main" id="{54F96043-E2D1-4901-8B68-B69CD9E0E34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27083" y="3533711"/>
              <a:ext cx="1338787" cy="1014407"/>
              <a:chOff x="4316066" y="2339389"/>
              <a:chExt cx="1339878" cy="1013449"/>
            </a:xfrm>
          </p:grpSpPr>
          <p:cxnSp>
            <p:nvCxnSpPr>
              <p:cNvPr id="71" name="Conector recto 17">
                <a:extLst>
                  <a:ext uri="{FF2B5EF4-FFF2-40B4-BE49-F238E27FC236}">
                    <a16:creationId xmlns:a16="http://schemas.microsoft.com/office/drawing/2014/main" id="{C55691FF-0D48-4014-8703-45B482655A6C}"/>
                  </a:ext>
                </a:extLst>
              </p:cNvPr>
              <p:cNvCxnSpPr>
                <a:cxnSpLocks noChangeShapeType="1"/>
                <a:stCxn id="73" idx="0"/>
              </p:cNvCxnSpPr>
              <p:nvPr/>
            </p:nvCxnSpPr>
            <p:spPr bwMode="auto">
              <a:xfrm>
                <a:off x="4710907" y="2900991"/>
                <a:ext cx="783022" cy="448292"/>
              </a:xfrm>
              <a:prstGeom prst="line">
                <a:avLst/>
              </a:prstGeom>
              <a:noFill/>
              <a:ln w="19050" algn="ctr">
                <a:solidFill>
                  <a:schemeClr val="tx2">
                    <a:lumMod val="75000"/>
                    <a:lumOff val="25000"/>
                  </a:schemeClr>
                </a:solidFill>
                <a:prstDash val="dash"/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grpSp>
            <p:nvGrpSpPr>
              <p:cNvPr id="72" name="Grupo 15">
                <a:extLst>
                  <a:ext uri="{FF2B5EF4-FFF2-40B4-BE49-F238E27FC236}">
                    <a16:creationId xmlns:a16="http://schemas.microsoft.com/office/drawing/2014/main" id="{6092546C-E358-4D3F-970D-5BDD129C167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15087" y="2339389"/>
                <a:ext cx="778842" cy="539384"/>
                <a:chOff x="4471247" y="2552749"/>
                <a:chExt cx="778842" cy="539384"/>
              </a:xfrm>
            </p:grpSpPr>
            <p:cxnSp>
              <p:nvCxnSpPr>
                <p:cNvPr id="93" name="Conector recto de flecha 7">
                  <a:extLst>
                    <a:ext uri="{FF2B5EF4-FFF2-40B4-BE49-F238E27FC236}">
                      <a16:creationId xmlns:a16="http://schemas.microsoft.com/office/drawing/2014/main" id="{CFAB7CA1-FE09-493B-B2B3-CC043EE2D28E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4471247" y="3084093"/>
                  <a:ext cx="778842" cy="8040"/>
                </a:xfrm>
                <a:prstGeom prst="straightConnector1">
                  <a:avLst/>
                </a:prstGeom>
                <a:noFill/>
                <a:ln w="25400" algn="ctr">
                  <a:solidFill>
                    <a:srgbClr val="008000"/>
                  </a:solidFill>
                  <a:round/>
                  <a:headEnd/>
                  <a:tailEnd type="triangle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graphicFrame>
              <p:nvGraphicFramePr>
                <p:cNvPr id="94" name="Object 51">
                  <a:extLst>
                    <a:ext uri="{FF2B5EF4-FFF2-40B4-BE49-F238E27FC236}">
                      <a16:creationId xmlns:a16="http://schemas.microsoft.com/office/drawing/2014/main" id="{541A1EC0-A164-4E06-82FA-D111C4FE41F4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4686920" y="2552749"/>
                <a:ext cx="358775" cy="47783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cuación" r:id="rId3" imgW="152268" imgH="203024" progId="Equation.3">
                        <p:embed/>
                      </p:oleObj>
                    </mc:Choice>
                    <mc:Fallback>
                      <p:oleObj name="Ecuación" r:id="rId3" imgW="152268" imgH="203024" progId="Equation.3">
                        <p:embed/>
                        <p:pic>
                          <p:nvPicPr>
                            <p:cNvPr id="94" name="Object 51">
                              <a:extLst>
                                <a:ext uri="{FF2B5EF4-FFF2-40B4-BE49-F238E27FC236}">
                                  <a16:creationId xmlns:a16="http://schemas.microsoft.com/office/drawing/2014/main" id="{541A1EC0-A164-4E06-82FA-D111C4FE41F4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686920" y="2552749"/>
                              <a:ext cx="358775" cy="47783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73" name="Line 16">
                <a:extLst>
                  <a:ext uri="{FF2B5EF4-FFF2-40B4-BE49-F238E27FC236}">
                    <a16:creationId xmlns:a16="http://schemas.microsoft.com/office/drawing/2014/main" id="{D5FDCB8B-A682-4E98-B2B3-6CE8CFB0C1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10907" y="2900991"/>
                <a:ext cx="281124" cy="16035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82800" rIns="90000" bIns="82800" anchorCtr="1"/>
              <a:lstStyle/>
              <a:p>
                <a:endParaRPr lang="en-GB"/>
              </a:p>
            </p:txBody>
          </p:sp>
          <p:graphicFrame>
            <p:nvGraphicFramePr>
              <p:cNvPr id="74" name="Object 17">
                <a:extLst>
                  <a:ext uri="{FF2B5EF4-FFF2-40B4-BE49-F238E27FC236}">
                    <a16:creationId xmlns:a16="http://schemas.microsoft.com/office/drawing/2014/main" id="{F06C766E-A13F-4057-A5C8-3C6591D39CF6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316066" y="2877050"/>
              <a:ext cx="448039" cy="4757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cuación" r:id="rId5" imgW="203024" imgH="215713" progId="Equation.3">
                      <p:embed/>
                    </p:oleObj>
                  </mc:Choice>
                  <mc:Fallback>
                    <p:oleObj name="Ecuación" r:id="rId5" imgW="203024" imgH="215713" progId="Equation.3">
                      <p:embed/>
                      <p:pic>
                        <p:nvPicPr>
                          <p:cNvPr id="74" name="Object 17">
                            <a:extLst>
                              <a:ext uri="{FF2B5EF4-FFF2-40B4-BE49-F238E27FC236}">
                                <a16:creationId xmlns:a16="http://schemas.microsoft.com/office/drawing/2014/main" id="{F06C766E-A13F-4057-A5C8-3C6591D39CF6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16066" y="2877050"/>
                            <a:ext cx="448039" cy="47578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75" name="CuadroTexto 18">
                <a:extLst>
                  <a:ext uri="{FF2B5EF4-FFF2-40B4-BE49-F238E27FC236}">
                    <a16:creationId xmlns:a16="http://schemas.microsoft.com/office/drawing/2014/main" id="{DDF555F4-C94C-4F1B-ACE1-74A37F7EAC7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10697" y="2841626"/>
                <a:ext cx="345247" cy="4612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s-ES" sz="2400">
                    <a:sym typeface="Symbol" panose="05050102010706020507" pitchFamily="18" charset="2"/>
                  </a:rPr>
                  <a:t></a:t>
                </a:r>
                <a:endParaRPr lang="es-ES" sz="2400"/>
              </a:p>
            </p:txBody>
          </p:sp>
          <p:sp>
            <p:nvSpPr>
              <p:cNvPr id="92" name="Forma libre 19">
                <a:extLst>
                  <a:ext uri="{FF2B5EF4-FFF2-40B4-BE49-F238E27FC236}">
                    <a16:creationId xmlns:a16="http://schemas.microsoft.com/office/drawing/2014/main" id="{2DBD9622-2433-48B5-AF7F-1C3265A459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51120" y="2905760"/>
                <a:ext cx="77963" cy="223520"/>
              </a:xfrm>
              <a:custGeom>
                <a:avLst/>
                <a:gdLst>
                  <a:gd name="T0" fmla="*/ 71120 w 77963"/>
                  <a:gd name="T1" fmla="*/ 0 h 223520"/>
                  <a:gd name="T2" fmla="*/ 71120 w 77963"/>
                  <a:gd name="T3" fmla="*/ 121920 h 223520"/>
                  <a:gd name="T4" fmla="*/ 0 w 77963"/>
                  <a:gd name="T5" fmla="*/ 223520 h 22352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7963" h="223520">
                    <a:moveTo>
                      <a:pt x="71120" y="0"/>
                    </a:moveTo>
                    <a:cubicBezTo>
                      <a:pt x="77046" y="42333"/>
                      <a:pt x="82973" y="84667"/>
                      <a:pt x="71120" y="121920"/>
                    </a:cubicBezTo>
                    <a:cubicBezTo>
                      <a:pt x="59267" y="159173"/>
                      <a:pt x="29633" y="191346"/>
                      <a:pt x="0" y="223520"/>
                    </a:cubicBezTo>
                  </a:path>
                </a:pathLst>
              </a:custGeom>
              <a:solidFill>
                <a:srgbClr val="FFFFFF"/>
              </a:solidFill>
              <a:ln w="19050" cap="flat" cmpd="sng" algn="ctr">
                <a:solidFill>
                  <a:schemeClr val="tx2">
                    <a:lumMod val="75000"/>
                    <a:lumOff val="25000"/>
                  </a:schemeClr>
                </a:solidFill>
                <a:prstDash val="solid"/>
                <a:round/>
                <a:headEnd type="none" w="med" len="med"/>
                <a:tailEnd type="arrow" w="sm" len="sm"/>
              </a:ln>
            </p:spPr>
            <p:txBody>
              <a:bodyPr wrap="none" lIns="90000" tIns="82800" rIns="90000" bIns="82800" anchorCtr="1">
                <a:spAutoFit/>
              </a:bodyPr>
              <a:lstStyle/>
              <a:p>
                <a:endParaRPr lang="en-GB"/>
              </a:p>
            </p:txBody>
          </p:sp>
        </p:grpSp>
      </p:grpSp>
      <p:sp>
        <p:nvSpPr>
          <p:cNvPr id="95" name="Text Box 118">
            <a:extLst>
              <a:ext uri="{FF2B5EF4-FFF2-40B4-BE49-F238E27FC236}">
                <a16:creationId xmlns:a16="http://schemas.microsoft.com/office/drawing/2014/main" id="{C8EF3BB3-5F59-458A-B7AE-136223EE42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45263" y="3339136"/>
            <a:ext cx="1779952" cy="53654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</a:rPr>
              <a:t>B</a:t>
            </a:r>
            <a:r>
              <a:rPr lang="es-ES" sz="2400" baseline="-25000" dirty="0" err="1">
                <a:solidFill>
                  <a:srgbClr val="000000"/>
                </a:solidFill>
                <a:latin typeface="Arial" panose="020B0604020202020204" pitchFamily="34" charset="0"/>
              </a:rPr>
              <a:t>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= B cos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</a:t>
            </a:r>
          </a:p>
        </p:txBody>
      </p:sp>
      <p:sp>
        <p:nvSpPr>
          <p:cNvPr id="96" name="Text Box 148">
            <a:extLst>
              <a:ext uri="{FF2B5EF4-FFF2-40B4-BE49-F238E27FC236}">
                <a16:creationId xmlns:a16="http://schemas.microsoft.com/office/drawing/2014/main" id="{0DE614EB-0DF0-4DF6-800D-BB28FA8346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0871" y="1079451"/>
            <a:ext cx="3393435" cy="536549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Si se aplica inducción:</a:t>
            </a:r>
          </a:p>
        </p:txBody>
      </p:sp>
      <p:grpSp>
        <p:nvGrpSpPr>
          <p:cNvPr id="99" name="Group 28">
            <a:extLst>
              <a:ext uri="{FF2B5EF4-FFF2-40B4-BE49-F238E27FC236}">
                <a16:creationId xmlns:a16="http://schemas.microsoft.com/office/drawing/2014/main" id="{A5B385DF-25F7-4CBB-987D-A49C8C748B21}"/>
              </a:ext>
            </a:extLst>
          </p:cNvPr>
          <p:cNvGrpSpPr>
            <a:grpSpLocks/>
          </p:cNvGrpSpPr>
          <p:nvPr/>
        </p:nvGrpSpPr>
        <p:grpSpPr bwMode="auto">
          <a:xfrm>
            <a:off x="7075488" y="1784174"/>
            <a:ext cx="2413000" cy="1054100"/>
            <a:chOff x="1065" y="2809"/>
            <a:chExt cx="1520" cy="664"/>
          </a:xfrm>
        </p:grpSpPr>
        <p:sp>
          <p:nvSpPr>
            <p:cNvPr id="100" name="Rectangle 29">
              <a:extLst>
                <a:ext uri="{FF2B5EF4-FFF2-40B4-BE49-F238E27FC236}">
                  <a16:creationId xmlns:a16="http://schemas.microsoft.com/office/drawing/2014/main" id="{9C879900-8D8D-4DBE-8CBC-0A184882C9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5" y="2809"/>
              <a:ext cx="1520" cy="664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s-ES" altLang="es-ES"/>
            </a:p>
          </p:txBody>
        </p:sp>
        <p:graphicFrame>
          <p:nvGraphicFramePr>
            <p:cNvPr id="102" name="Object 30">
              <a:extLst>
                <a:ext uri="{FF2B5EF4-FFF2-40B4-BE49-F238E27FC236}">
                  <a16:creationId xmlns:a16="http://schemas.microsoft.com/office/drawing/2014/main" id="{466F6A7A-86A2-4ED2-9EBA-2041D7B56D9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166" y="2854"/>
            <a:ext cx="1276" cy="5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7" imgW="939392" imgH="444307" progId="Equation.3">
                    <p:embed/>
                  </p:oleObj>
                </mc:Choice>
                <mc:Fallback>
                  <p:oleObj name="Ecuación" r:id="rId7" imgW="939392" imgH="444307" progId="Equation.3">
                    <p:embed/>
                    <p:pic>
                      <p:nvPicPr>
                        <p:cNvPr id="102" name="Object 30">
                          <a:extLst>
                            <a:ext uri="{FF2B5EF4-FFF2-40B4-BE49-F238E27FC236}">
                              <a16:creationId xmlns:a16="http://schemas.microsoft.com/office/drawing/2014/main" id="{466F6A7A-86A2-4ED2-9EBA-2041D7B56D9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66" y="2854"/>
                          <a:ext cx="1276" cy="5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3" name="Group 119">
            <a:extLst>
              <a:ext uri="{FF2B5EF4-FFF2-40B4-BE49-F238E27FC236}">
                <a16:creationId xmlns:a16="http://schemas.microsoft.com/office/drawing/2014/main" id="{91CDAE95-BE36-48EC-92CD-211CC6D7C108}"/>
              </a:ext>
            </a:extLst>
          </p:cNvPr>
          <p:cNvGrpSpPr>
            <a:grpSpLocks/>
          </p:cNvGrpSpPr>
          <p:nvPr/>
        </p:nvGrpSpPr>
        <p:grpSpPr bwMode="auto">
          <a:xfrm>
            <a:off x="3766524" y="1526582"/>
            <a:ext cx="719138" cy="1789113"/>
            <a:chOff x="2212" y="1728"/>
            <a:chExt cx="453" cy="1127"/>
          </a:xfrm>
        </p:grpSpPr>
        <p:sp>
          <p:nvSpPr>
            <p:cNvPr id="104" name="Freeform 116">
              <a:extLst>
                <a:ext uri="{FF2B5EF4-FFF2-40B4-BE49-F238E27FC236}">
                  <a16:creationId xmlns:a16="http://schemas.microsoft.com/office/drawing/2014/main" id="{7FFDF813-51CA-4E73-B1B2-51EC4F68D179}"/>
                </a:ext>
              </a:extLst>
            </p:cNvPr>
            <p:cNvSpPr>
              <a:spLocks/>
            </p:cNvSpPr>
            <p:nvPr/>
          </p:nvSpPr>
          <p:spPr bwMode="auto">
            <a:xfrm>
              <a:off x="2212" y="1728"/>
              <a:ext cx="236" cy="1040"/>
            </a:xfrm>
            <a:custGeom>
              <a:avLst/>
              <a:gdLst>
                <a:gd name="T0" fmla="*/ 223 w 236"/>
                <a:gd name="T1" fmla="*/ 0 h 1040"/>
                <a:gd name="T2" fmla="*/ 7 w 236"/>
                <a:gd name="T3" fmla="*/ 307 h 1040"/>
                <a:gd name="T4" fmla="*/ 0 w 236"/>
                <a:gd name="T5" fmla="*/ 1040 h 1040"/>
                <a:gd name="T6" fmla="*/ 236 w 236"/>
                <a:gd name="T7" fmla="*/ 739 h 1040"/>
                <a:gd name="T8" fmla="*/ 223 w 236"/>
                <a:gd name="T9" fmla="*/ 0 h 10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6" h="1040">
                  <a:moveTo>
                    <a:pt x="223" y="0"/>
                  </a:moveTo>
                  <a:lnTo>
                    <a:pt x="7" y="307"/>
                  </a:lnTo>
                  <a:lnTo>
                    <a:pt x="0" y="1040"/>
                  </a:lnTo>
                  <a:lnTo>
                    <a:pt x="236" y="739"/>
                  </a:lnTo>
                  <a:lnTo>
                    <a:pt x="223" y="0"/>
                  </a:lnTo>
                  <a:close/>
                </a:path>
              </a:pathLst>
            </a:custGeom>
            <a:solidFill>
              <a:srgbClr val="FFFF99">
                <a:alpha val="50195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54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 anchorCtr="1">
              <a:spAutoFit/>
            </a:bodyPr>
            <a:lstStyle/>
            <a:p>
              <a:endParaRPr lang="es-ES"/>
            </a:p>
          </p:txBody>
        </p:sp>
        <p:grpSp>
          <p:nvGrpSpPr>
            <p:cNvPr id="105" name="Group 105">
              <a:extLst>
                <a:ext uri="{FF2B5EF4-FFF2-40B4-BE49-F238E27FC236}">
                  <a16:creationId xmlns:a16="http://schemas.microsoft.com/office/drawing/2014/main" id="{E4B0E3D6-C00F-4318-913A-B711CF93039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49" y="2426"/>
              <a:ext cx="376" cy="429"/>
              <a:chOff x="754" y="3340"/>
              <a:chExt cx="376" cy="429"/>
            </a:xfrm>
          </p:grpSpPr>
          <p:sp>
            <p:nvSpPr>
              <p:cNvPr id="122" name="AutoShape 49">
                <a:extLst>
                  <a:ext uri="{FF2B5EF4-FFF2-40B4-BE49-F238E27FC236}">
                    <a16:creationId xmlns:a16="http://schemas.microsoft.com/office/drawing/2014/main" id="{FB16449F-070A-4CD2-8679-D589EF9883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151075" flipH="1">
                <a:off x="655" y="3439"/>
                <a:ext cx="286" cy="87"/>
              </a:xfrm>
              <a:prstGeom prst="parallelogram">
                <a:avLst>
                  <a:gd name="adj" fmla="val 170577"/>
                </a:avLst>
              </a:prstGeom>
              <a:solidFill>
                <a:srgbClr val="808080"/>
              </a:solidFill>
              <a:ln w="25400" algn="ctr">
                <a:solidFill>
                  <a:srgbClr val="808080"/>
                </a:solidFill>
                <a:miter lim="800000"/>
                <a:headEnd/>
                <a:tailEnd type="none" w="lg" len="lg"/>
              </a:ln>
            </p:spPr>
            <p:txBody>
              <a:bodyPr vert="eaVert" wrap="none" lIns="90000" tIns="82800" rIns="90000" bIns="82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s-ES" altLang="es-E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graphicFrame>
            <p:nvGraphicFramePr>
              <p:cNvPr id="123" name="Object 28">
                <a:extLst>
                  <a:ext uri="{FF2B5EF4-FFF2-40B4-BE49-F238E27FC236}">
                    <a16:creationId xmlns:a16="http://schemas.microsoft.com/office/drawing/2014/main" id="{79B5E682-A31A-4333-A608-EA95F9A0ADA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578657531"/>
                  </p:ext>
                </p:extLst>
              </p:nvPr>
            </p:nvGraphicFramePr>
            <p:xfrm>
              <a:off x="854" y="3493"/>
              <a:ext cx="276" cy="2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9" imgW="190417" imgH="190417" progId="Equation.3">
                      <p:embed/>
                    </p:oleObj>
                  </mc:Choice>
                  <mc:Fallback>
                    <p:oleObj r:id="rId9" imgW="190417" imgH="190417" progId="Equation.3">
                      <p:embed/>
                      <p:pic>
                        <p:nvPicPr>
                          <p:cNvPr id="123" name="Object 28">
                            <a:extLst>
                              <a:ext uri="{FF2B5EF4-FFF2-40B4-BE49-F238E27FC236}">
                                <a16:creationId xmlns:a16="http://schemas.microsoft.com/office/drawing/2014/main" id="{79B5E682-A31A-4333-A608-EA95F9A0ADA3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54" y="3493"/>
                            <a:ext cx="276" cy="2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24" name="Line 29">
                <a:extLst>
                  <a:ext uri="{FF2B5EF4-FFF2-40B4-BE49-F238E27FC236}">
                    <a16:creationId xmlns:a16="http://schemas.microsoft.com/office/drawing/2014/main" id="{E2E4838A-D2AD-4021-982E-ABE7CE3208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93" y="3500"/>
                <a:ext cx="183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s-ES"/>
              </a:p>
            </p:txBody>
          </p:sp>
        </p:grpSp>
        <p:sp>
          <p:nvSpPr>
            <p:cNvPr id="110" name="Text Box 117">
              <a:extLst>
                <a:ext uri="{FF2B5EF4-FFF2-40B4-BE49-F238E27FC236}">
                  <a16:creationId xmlns:a16="http://schemas.microsoft.com/office/drawing/2014/main" id="{40F3FF5E-2C93-4E19-8379-A6096E810A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24" y="1907"/>
              <a:ext cx="221" cy="2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altLang="es-ES" b="1"/>
                <a:t>S</a:t>
              </a:r>
            </a:p>
          </p:txBody>
        </p:sp>
        <p:sp>
          <p:nvSpPr>
            <p:cNvPr id="121" name="Text Box 118">
              <a:extLst>
                <a:ext uri="{FF2B5EF4-FFF2-40B4-BE49-F238E27FC236}">
                  <a16:creationId xmlns:a16="http://schemas.microsoft.com/office/drawing/2014/main" id="{A566454A-426F-417C-AF99-6C2942EF43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35" y="2016"/>
              <a:ext cx="230" cy="2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altLang="es-ES" b="1">
                  <a:solidFill>
                    <a:srgbClr val="008000"/>
                  </a:solidFill>
                </a:rPr>
                <a:t>C</a:t>
              </a:r>
            </a:p>
          </p:txBody>
        </p:sp>
      </p:grpSp>
      <p:sp>
        <p:nvSpPr>
          <p:cNvPr id="125" name="Rectangle 126">
            <a:extLst>
              <a:ext uri="{FF2B5EF4-FFF2-40B4-BE49-F238E27FC236}">
                <a16:creationId xmlns:a16="http://schemas.microsoft.com/office/drawing/2014/main" id="{3738F829-C48D-4129-BA2A-9CA7243DDD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8458" y="5058777"/>
            <a:ext cx="412750" cy="4699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s-ES" altLang="es-E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26" name="Rectangle 126">
            <a:extLst>
              <a:ext uri="{FF2B5EF4-FFF2-40B4-BE49-F238E27FC236}">
                <a16:creationId xmlns:a16="http://schemas.microsoft.com/office/drawing/2014/main" id="{D70ACC7C-2EBF-46C5-9D0E-6CFD86F5B5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69783" y="5060364"/>
            <a:ext cx="1352550" cy="4699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s-ES" altLang="es-E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127" name="Object 63">
            <a:extLst>
              <a:ext uri="{FF2B5EF4-FFF2-40B4-BE49-F238E27FC236}">
                <a16:creationId xmlns:a16="http://schemas.microsoft.com/office/drawing/2014/main" id="{60D51FB6-452C-4F54-B3B6-A669B847372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7689115"/>
              </p:ext>
            </p:extLst>
          </p:nvPr>
        </p:nvGraphicFramePr>
        <p:xfrm>
          <a:off x="1371958" y="4919077"/>
          <a:ext cx="9309100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11" imgW="4978400" imgH="444500" progId="Equation.3">
                  <p:embed/>
                </p:oleObj>
              </mc:Choice>
              <mc:Fallback>
                <p:oleObj name="Ecuación" r:id="rId11" imgW="4978400" imgH="444500" progId="Equation.3">
                  <p:embed/>
                  <p:pic>
                    <p:nvPicPr>
                      <p:cNvPr id="127" name="Object 63">
                        <a:extLst>
                          <a:ext uri="{FF2B5EF4-FFF2-40B4-BE49-F238E27FC236}">
                            <a16:creationId xmlns:a16="http://schemas.microsoft.com/office/drawing/2014/main" id="{60D51FB6-452C-4F54-B3B6-A669B847372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958" y="4919077"/>
                        <a:ext cx="9309100" cy="835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8" name="Group 95">
            <a:extLst>
              <a:ext uri="{FF2B5EF4-FFF2-40B4-BE49-F238E27FC236}">
                <a16:creationId xmlns:a16="http://schemas.microsoft.com/office/drawing/2014/main" id="{43EC6DC2-6641-4019-915C-E01DCF385258}"/>
              </a:ext>
            </a:extLst>
          </p:cNvPr>
          <p:cNvGrpSpPr>
            <a:grpSpLocks/>
          </p:cNvGrpSpPr>
          <p:nvPr/>
        </p:nvGrpSpPr>
        <p:grpSpPr bwMode="auto">
          <a:xfrm>
            <a:off x="4330692" y="4509511"/>
            <a:ext cx="1202566" cy="590551"/>
            <a:chOff x="3003" y="3578"/>
            <a:chExt cx="797" cy="372"/>
          </a:xfrm>
        </p:grpSpPr>
        <p:sp>
          <p:nvSpPr>
            <p:cNvPr id="129" name="Freeform 77">
              <a:extLst>
                <a:ext uri="{FF2B5EF4-FFF2-40B4-BE49-F238E27FC236}">
                  <a16:creationId xmlns:a16="http://schemas.microsoft.com/office/drawing/2014/main" id="{8867B964-5A92-4C94-BED7-0FFE0B0C6E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3" y="3832"/>
              <a:ext cx="519" cy="118"/>
            </a:xfrm>
            <a:custGeom>
              <a:avLst/>
              <a:gdLst>
                <a:gd name="T0" fmla="*/ 16191434 w 384"/>
                <a:gd name="T1" fmla="*/ 119 h 115"/>
                <a:gd name="T2" fmla="*/ 7747134 w 384"/>
                <a:gd name="T3" fmla="*/ 3 h 115"/>
                <a:gd name="T4" fmla="*/ 0 w 384"/>
                <a:gd name="T5" fmla="*/ 135 h 115"/>
                <a:gd name="T6" fmla="*/ 0 60000 65536"/>
                <a:gd name="T7" fmla="*/ 0 60000 65536"/>
                <a:gd name="T8" fmla="*/ 0 60000 65536"/>
                <a:gd name="T9" fmla="*/ 0 w 384"/>
                <a:gd name="T10" fmla="*/ 0 h 115"/>
                <a:gd name="T11" fmla="*/ 384 w 384"/>
                <a:gd name="T12" fmla="*/ 115 h 11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84" h="115">
                  <a:moveTo>
                    <a:pt x="384" y="99"/>
                  </a:moveTo>
                  <a:cubicBezTo>
                    <a:pt x="316" y="49"/>
                    <a:pt x="248" y="0"/>
                    <a:pt x="184" y="3"/>
                  </a:cubicBezTo>
                  <a:cubicBezTo>
                    <a:pt x="120" y="6"/>
                    <a:pt x="60" y="60"/>
                    <a:pt x="0" y="115"/>
                  </a:cubicBezTo>
                </a:path>
              </a:pathLst>
            </a:custGeom>
            <a:noFill/>
            <a:ln w="38100">
              <a:solidFill>
                <a:srgbClr val="0000FF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82800" rIns="90000" bIns="82800" anchorCtr="1"/>
            <a:lstStyle/>
            <a:p>
              <a:endParaRPr lang="es-ES"/>
            </a:p>
          </p:txBody>
        </p:sp>
        <p:sp>
          <p:nvSpPr>
            <p:cNvPr id="130" name="Text Box 76">
              <a:extLst>
                <a:ext uri="{FF2B5EF4-FFF2-40B4-BE49-F238E27FC236}">
                  <a16:creationId xmlns:a16="http://schemas.microsoft.com/office/drawing/2014/main" id="{BD6D1ED9-B5DF-46B3-A424-2AB44E0C38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84" y="3578"/>
              <a:ext cx="416" cy="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altLang="es-ES" sz="2000" dirty="0" err="1">
                  <a:solidFill>
                    <a:srgbClr val="3333FF"/>
                  </a:solidFill>
                  <a:latin typeface="Arial" panose="020B0604020202020204" pitchFamily="34" charset="0"/>
                </a:rPr>
                <a:t>unif</a:t>
              </a:r>
              <a:r>
                <a:rPr lang="es-ES" altLang="es-ES" sz="2000" dirty="0">
                  <a:solidFill>
                    <a:srgbClr val="3333FF"/>
                  </a:solidFill>
                  <a:latin typeface="Arial" panose="020B0604020202020204" pitchFamily="34" charset="0"/>
                </a:rPr>
                <a:t>.</a:t>
              </a:r>
            </a:p>
          </p:txBody>
        </p:sp>
      </p:grpSp>
      <p:grpSp>
        <p:nvGrpSpPr>
          <p:cNvPr id="131" name="Grupo 130">
            <a:extLst>
              <a:ext uri="{FF2B5EF4-FFF2-40B4-BE49-F238E27FC236}">
                <a16:creationId xmlns:a16="http://schemas.microsoft.com/office/drawing/2014/main" id="{E6B888DE-2632-46C6-9476-485FBA602FE6}"/>
              </a:ext>
            </a:extLst>
          </p:cNvPr>
          <p:cNvGrpSpPr>
            <a:grpSpLocks/>
          </p:cNvGrpSpPr>
          <p:nvPr/>
        </p:nvGrpSpPr>
        <p:grpSpPr bwMode="auto">
          <a:xfrm>
            <a:off x="3827822" y="5663046"/>
            <a:ext cx="744540" cy="567306"/>
            <a:chOff x="3729042" y="6397739"/>
            <a:chExt cx="744541" cy="566634"/>
          </a:xfrm>
        </p:grpSpPr>
        <p:sp>
          <p:nvSpPr>
            <p:cNvPr id="132" name="Freeform 77">
              <a:extLst>
                <a:ext uri="{FF2B5EF4-FFF2-40B4-BE49-F238E27FC236}">
                  <a16:creationId xmlns:a16="http://schemas.microsoft.com/office/drawing/2014/main" id="{0FA49B13-C6D1-47A0-8E45-059C1AB71CCD}"/>
                </a:ext>
              </a:extLst>
            </p:cNvPr>
            <p:cNvSpPr>
              <a:spLocks/>
            </p:cNvSpPr>
            <p:nvPr/>
          </p:nvSpPr>
          <p:spPr bwMode="auto">
            <a:xfrm rot="985356" flipV="1">
              <a:off x="3892895" y="6397739"/>
              <a:ext cx="435523" cy="169754"/>
            </a:xfrm>
            <a:custGeom>
              <a:avLst/>
              <a:gdLst>
                <a:gd name="T0" fmla="*/ 2147483646 w 384"/>
                <a:gd name="T1" fmla="*/ 2147483646 h 115"/>
                <a:gd name="T2" fmla="*/ 2147483646 w 384"/>
                <a:gd name="T3" fmla="*/ 2147483646 h 115"/>
                <a:gd name="T4" fmla="*/ 0 w 384"/>
                <a:gd name="T5" fmla="*/ 2147483646 h 115"/>
                <a:gd name="T6" fmla="*/ 0 60000 65536"/>
                <a:gd name="T7" fmla="*/ 0 60000 65536"/>
                <a:gd name="T8" fmla="*/ 0 60000 65536"/>
                <a:gd name="T9" fmla="*/ 0 w 384"/>
                <a:gd name="T10" fmla="*/ 0 h 115"/>
                <a:gd name="T11" fmla="*/ 384 w 384"/>
                <a:gd name="T12" fmla="*/ 115 h 11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84" h="115">
                  <a:moveTo>
                    <a:pt x="384" y="99"/>
                  </a:moveTo>
                  <a:cubicBezTo>
                    <a:pt x="316" y="49"/>
                    <a:pt x="248" y="0"/>
                    <a:pt x="184" y="3"/>
                  </a:cubicBezTo>
                  <a:cubicBezTo>
                    <a:pt x="120" y="6"/>
                    <a:pt x="60" y="60"/>
                    <a:pt x="0" y="115"/>
                  </a:cubicBezTo>
                </a:path>
              </a:pathLst>
            </a:custGeom>
            <a:noFill/>
            <a:ln w="38100">
              <a:solidFill>
                <a:srgbClr val="008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10800000" wrap="none" lIns="90000" tIns="82800" rIns="90000" bIns="82800" anchorCtr="1"/>
            <a:lstStyle/>
            <a:p>
              <a:endParaRPr lang="es-ES"/>
            </a:p>
          </p:txBody>
        </p:sp>
        <p:sp>
          <p:nvSpPr>
            <p:cNvPr id="133" name="Text Box 76">
              <a:extLst>
                <a:ext uri="{FF2B5EF4-FFF2-40B4-BE49-F238E27FC236}">
                  <a16:creationId xmlns:a16="http://schemas.microsoft.com/office/drawing/2014/main" id="{3D200EF9-0A06-4787-A474-C654BCF844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29042" y="6494472"/>
              <a:ext cx="744541" cy="4699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altLang="es-ES" sz="2000">
                  <a:solidFill>
                    <a:srgbClr val="008000"/>
                  </a:solidFill>
                  <a:latin typeface="Arial" panose="020B0604020202020204" pitchFamily="34" charset="0"/>
                </a:rPr>
                <a:t>cte.</a:t>
              </a:r>
            </a:p>
          </p:txBody>
        </p:sp>
      </p:grpSp>
      <p:grpSp>
        <p:nvGrpSpPr>
          <p:cNvPr id="134" name="Grupo 133">
            <a:extLst>
              <a:ext uri="{FF2B5EF4-FFF2-40B4-BE49-F238E27FC236}">
                <a16:creationId xmlns:a16="http://schemas.microsoft.com/office/drawing/2014/main" id="{61BA26F7-9A97-41ED-A86F-E17BD11A900F}"/>
              </a:ext>
            </a:extLst>
          </p:cNvPr>
          <p:cNvGrpSpPr/>
          <p:nvPr/>
        </p:nvGrpSpPr>
        <p:grpSpPr>
          <a:xfrm>
            <a:off x="3621448" y="4265930"/>
            <a:ext cx="1335088" cy="866271"/>
            <a:chOff x="3621448" y="4763967"/>
            <a:chExt cx="1335088" cy="866271"/>
          </a:xfrm>
        </p:grpSpPr>
        <p:sp>
          <p:nvSpPr>
            <p:cNvPr id="135" name="Text Box 76">
              <a:extLst>
                <a:ext uri="{FF2B5EF4-FFF2-40B4-BE49-F238E27FC236}">
                  <a16:creationId xmlns:a16="http://schemas.microsoft.com/office/drawing/2014/main" id="{92318E83-499F-4352-869D-AFA969FA40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21448" y="4763967"/>
              <a:ext cx="1335088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altLang="es-ES" sz="2000" dirty="0">
                  <a:solidFill>
                    <a:srgbClr val="FF0000"/>
                  </a:solidFill>
                  <a:latin typeface="Arial" panose="020B0604020202020204" pitchFamily="34" charset="0"/>
                </a:rPr>
                <a:t>cte. y </a:t>
              </a:r>
              <a:r>
                <a:rPr lang="es-ES" altLang="es-ES" sz="2000" dirty="0" err="1">
                  <a:solidFill>
                    <a:srgbClr val="FF0000"/>
                  </a:solidFill>
                  <a:latin typeface="Arial" panose="020B0604020202020204" pitchFamily="34" charset="0"/>
                </a:rPr>
                <a:t>unif</a:t>
              </a:r>
              <a:r>
                <a:rPr lang="es-ES" altLang="es-ES" sz="2000" dirty="0">
                  <a:solidFill>
                    <a:srgbClr val="FF0000"/>
                  </a:solidFill>
                  <a:latin typeface="Arial" panose="020B0604020202020204" pitchFamily="34" charset="0"/>
                </a:rPr>
                <a:t>.</a:t>
              </a:r>
            </a:p>
          </p:txBody>
        </p:sp>
        <p:sp>
          <p:nvSpPr>
            <p:cNvPr id="136" name="Forma libre: forma 135">
              <a:extLst>
                <a:ext uri="{FF2B5EF4-FFF2-40B4-BE49-F238E27FC236}">
                  <a16:creationId xmlns:a16="http://schemas.microsoft.com/office/drawing/2014/main" id="{B7A26D76-1FEC-4C59-AF03-EE05548FAF14}"/>
                </a:ext>
              </a:extLst>
            </p:cNvPr>
            <p:cNvSpPr/>
            <p:nvPr/>
          </p:nvSpPr>
          <p:spPr bwMode="auto">
            <a:xfrm>
              <a:off x="4068566" y="5250094"/>
              <a:ext cx="611719" cy="380144"/>
            </a:xfrm>
            <a:custGeom>
              <a:avLst/>
              <a:gdLst>
                <a:gd name="connsiteX0" fmla="*/ 595901 w 611719"/>
                <a:gd name="connsiteY0" fmla="*/ 380144 h 380144"/>
                <a:gd name="connsiteX1" fmla="*/ 595901 w 611719"/>
                <a:gd name="connsiteY1" fmla="*/ 102742 h 380144"/>
                <a:gd name="connsiteX2" fmla="*/ 431515 w 611719"/>
                <a:gd name="connsiteY2" fmla="*/ 20549 h 380144"/>
                <a:gd name="connsiteX3" fmla="*/ 297951 w 611719"/>
                <a:gd name="connsiteY3" fmla="*/ 205484 h 380144"/>
                <a:gd name="connsiteX4" fmla="*/ 205483 w 611719"/>
                <a:gd name="connsiteY4" fmla="*/ 0 h 380144"/>
                <a:gd name="connsiteX5" fmla="*/ 0 w 611719"/>
                <a:gd name="connsiteY5" fmla="*/ 205484 h 3801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11719" h="380144">
                  <a:moveTo>
                    <a:pt x="595901" y="380144"/>
                  </a:moveTo>
                  <a:cubicBezTo>
                    <a:pt x="609600" y="271409"/>
                    <a:pt x="623299" y="162674"/>
                    <a:pt x="595901" y="102742"/>
                  </a:cubicBezTo>
                  <a:cubicBezTo>
                    <a:pt x="568503" y="42809"/>
                    <a:pt x="481173" y="3425"/>
                    <a:pt x="431515" y="20549"/>
                  </a:cubicBezTo>
                  <a:cubicBezTo>
                    <a:pt x="381857" y="37673"/>
                    <a:pt x="335623" y="208909"/>
                    <a:pt x="297951" y="205484"/>
                  </a:cubicBezTo>
                  <a:cubicBezTo>
                    <a:pt x="260279" y="202059"/>
                    <a:pt x="255141" y="0"/>
                    <a:pt x="205483" y="0"/>
                  </a:cubicBezTo>
                  <a:cubicBezTo>
                    <a:pt x="155825" y="0"/>
                    <a:pt x="77912" y="102742"/>
                    <a:pt x="0" y="205484"/>
                  </a:cubicBezTo>
                </a:path>
              </a:pathLst>
            </a:custGeom>
            <a:noFill/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  <p:txBody>
            <a:bodyPr vert="horz" wrap="none" lIns="90000" tIns="82800" rIns="90000" bIns="82800" numCol="1" rtlCol="0" anchor="t" anchorCtr="1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-2500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</p:grpSp>
      <p:grpSp>
        <p:nvGrpSpPr>
          <p:cNvPr id="137" name="Grupo 136">
            <a:extLst>
              <a:ext uri="{FF2B5EF4-FFF2-40B4-BE49-F238E27FC236}">
                <a16:creationId xmlns:a16="http://schemas.microsoft.com/office/drawing/2014/main" id="{A892C1D4-EB5C-40A1-B6C1-A89189B7E123}"/>
              </a:ext>
            </a:extLst>
          </p:cNvPr>
          <p:cNvGrpSpPr/>
          <p:nvPr/>
        </p:nvGrpSpPr>
        <p:grpSpPr>
          <a:xfrm>
            <a:off x="4962350" y="3280593"/>
            <a:ext cx="531319" cy="562500"/>
            <a:chOff x="4962350" y="3280593"/>
            <a:chExt cx="531319" cy="562500"/>
          </a:xfrm>
        </p:grpSpPr>
        <p:sp>
          <p:nvSpPr>
            <p:cNvPr id="138" name="Rectángulo 137">
              <a:extLst>
                <a:ext uri="{FF2B5EF4-FFF2-40B4-BE49-F238E27FC236}">
                  <a16:creationId xmlns:a16="http://schemas.microsoft.com/office/drawing/2014/main" id="{4AAED0A8-E532-4E9D-9DEC-9C9D70DA6C2C}"/>
                </a:ext>
              </a:extLst>
            </p:cNvPr>
            <p:cNvSpPr/>
            <p:nvPr/>
          </p:nvSpPr>
          <p:spPr bwMode="auto">
            <a:xfrm rot="1174692">
              <a:off x="4962350" y="3280593"/>
              <a:ext cx="531319" cy="562500"/>
            </a:xfrm>
            <a:prstGeom prst="rect">
              <a:avLst/>
            </a:prstGeom>
            <a:solidFill>
              <a:srgbClr val="FFFF00"/>
            </a:solidFill>
            <a:ln w="25400" cap="flat" cmpd="sng" algn="ctr">
              <a:noFill/>
              <a:prstDash val="solid"/>
              <a:round/>
              <a:headEnd type="none" w="med" len="med"/>
              <a:tailEnd type="none" w="lg" len="lg"/>
            </a:ln>
            <a:effectLst/>
          </p:spPr>
          <p:txBody>
            <a:bodyPr vert="horz" wrap="none" lIns="90000" tIns="82800" rIns="90000" bIns="82800" numCol="1" rtlCol="0" anchor="t" anchorCtr="1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grpSp>
          <p:nvGrpSpPr>
            <p:cNvPr id="139" name="Group 9">
              <a:extLst>
                <a:ext uri="{FF2B5EF4-FFF2-40B4-BE49-F238E27FC236}">
                  <a16:creationId xmlns:a16="http://schemas.microsoft.com/office/drawing/2014/main" id="{B2E6C44C-4AD8-410B-BC74-399763230250}"/>
                </a:ext>
              </a:extLst>
            </p:cNvPr>
            <p:cNvGrpSpPr>
              <a:grpSpLocks/>
            </p:cNvGrpSpPr>
            <p:nvPr/>
          </p:nvGrpSpPr>
          <p:grpSpPr bwMode="auto">
            <a:xfrm rot="11944974">
              <a:off x="5013477" y="3346670"/>
              <a:ext cx="407987" cy="422275"/>
              <a:chOff x="1240" y="3526"/>
              <a:chExt cx="257" cy="266"/>
            </a:xfrm>
          </p:grpSpPr>
          <p:sp>
            <p:nvSpPr>
              <p:cNvPr id="140" name="Line 10">
                <a:extLst>
                  <a:ext uri="{FF2B5EF4-FFF2-40B4-BE49-F238E27FC236}">
                    <a16:creationId xmlns:a16="http://schemas.microsoft.com/office/drawing/2014/main" id="{58332418-BE0E-49CF-BD92-FA8C2F9EF8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240" y="3526"/>
                <a:ext cx="257" cy="14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141" name="Line 11">
                <a:extLst>
                  <a:ext uri="{FF2B5EF4-FFF2-40B4-BE49-F238E27FC236}">
                    <a16:creationId xmlns:a16="http://schemas.microsoft.com/office/drawing/2014/main" id="{3C496A72-5E33-40F7-BE22-F56D97D253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46" y="3685"/>
                <a:ext cx="251" cy="10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142" name="Oval 12">
                <a:extLst>
                  <a:ext uri="{FF2B5EF4-FFF2-40B4-BE49-F238E27FC236}">
                    <a16:creationId xmlns:a16="http://schemas.microsoft.com/office/drawing/2014/main" id="{D34F92E5-8F31-4794-84DA-DEAA70FFD9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02" y="3562"/>
                <a:ext cx="56" cy="197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endParaRPr lang="en-US"/>
              </a:p>
            </p:txBody>
          </p:sp>
        </p:grpSp>
      </p:grpSp>
      <p:grpSp>
        <p:nvGrpSpPr>
          <p:cNvPr id="143" name="Grupo 142">
            <a:extLst>
              <a:ext uri="{FF2B5EF4-FFF2-40B4-BE49-F238E27FC236}">
                <a16:creationId xmlns:a16="http://schemas.microsoft.com/office/drawing/2014/main" id="{4181D818-67CD-4465-B0EE-F75161BE4344}"/>
              </a:ext>
            </a:extLst>
          </p:cNvPr>
          <p:cNvGrpSpPr/>
          <p:nvPr/>
        </p:nvGrpSpPr>
        <p:grpSpPr>
          <a:xfrm>
            <a:off x="4436259" y="5698364"/>
            <a:ext cx="582589" cy="469900"/>
            <a:chOff x="4436259" y="6417462"/>
            <a:chExt cx="582589" cy="469900"/>
          </a:xfrm>
        </p:grpSpPr>
        <p:sp>
          <p:nvSpPr>
            <p:cNvPr id="144" name="Text Box 91">
              <a:extLst>
                <a:ext uri="{FF2B5EF4-FFF2-40B4-BE49-F238E27FC236}">
                  <a16:creationId xmlns:a16="http://schemas.microsoft.com/office/drawing/2014/main" id="{6D5D1B9F-4D31-41A4-B65C-781E46EB17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06513" y="6417462"/>
              <a:ext cx="350838" cy="4699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 anchorCtr="1"/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altLang="es-ES" dirty="0">
                  <a:solidFill>
                    <a:srgbClr val="008000"/>
                  </a:solidFill>
                </a:rPr>
                <a:t>S</a:t>
              </a:r>
            </a:p>
          </p:txBody>
        </p:sp>
        <p:cxnSp>
          <p:nvCxnSpPr>
            <p:cNvPr id="145" name="Conector recto de flecha 144">
              <a:extLst>
                <a:ext uri="{FF2B5EF4-FFF2-40B4-BE49-F238E27FC236}">
                  <a16:creationId xmlns:a16="http://schemas.microsoft.com/office/drawing/2014/main" id="{B5DB8E10-EE0C-4A25-893A-F7D2812A38A0}"/>
                </a:ext>
              </a:extLst>
            </p:cNvPr>
            <p:cNvCxnSpPr/>
            <p:nvPr/>
          </p:nvCxnSpPr>
          <p:spPr bwMode="auto">
            <a:xfrm>
              <a:off x="4436259" y="6467702"/>
              <a:ext cx="582589" cy="0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46" name="Text Box 144">
            <a:extLst>
              <a:ext uri="{FF2B5EF4-FFF2-40B4-BE49-F238E27FC236}">
                <a16:creationId xmlns:a16="http://schemas.microsoft.com/office/drawing/2014/main" id="{99558493-B049-4CC7-929E-935A541F53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05570" y="5959015"/>
            <a:ext cx="5807555" cy="905881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alt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No hay inducción</a:t>
            </a:r>
            <a:r>
              <a:rPr lang="es-ES" altLang="es-ES" sz="2400" dirty="0">
                <a:latin typeface="Arial" panose="020B0604020202020204" pitchFamily="34" charset="0"/>
              </a:rPr>
              <a:t>, pero funciona porque se puede suponer que rota </a:t>
            </a:r>
            <a:r>
              <a:rPr lang="es-ES" altLang="es-ES" sz="2400" b="1" dirty="0">
                <a:latin typeface="Arial" panose="020B0604020202020204" pitchFamily="34" charset="0"/>
              </a:rPr>
              <a:t>B</a:t>
            </a:r>
            <a:r>
              <a:rPr lang="es-ES" altLang="es-ES" sz="2400" dirty="0">
                <a:latin typeface="Arial" panose="020B0604020202020204" pitchFamily="34" charset="0"/>
              </a:rPr>
              <a:t>, no S</a:t>
            </a:r>
          </a:p>
        </p:txBody>
      </p:sp>
      <p:sp>
        <p:nvSpPr>
          <p:cNvPr id="4" name="Text Box 31">
            <a:extLst>
              <a:ext uri="{FF2B5EF4-FFF2-40B4-BE49-F238E27FC236}">
                <a16:creationId xmlns:a16="http://schemas.microsoft.com/office/drawing/2014/main" id="{0A80D8FE-09AC-0526-F838-B19DC54229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4004" y="393945"/>
            <a:ext cx="5872120" cy="536549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tIns="82800" bIns="82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Método habitual para generar electricidad</a:t>
            </a:r>
          </a:p>
        </p:txBody>
      </p:sp>
      <p:sp>
        <p:nvSpPr>
          <p:cNvPr id="5" name="Flecha: a la derecha 4">
            <a:extLst>
              <a:ext uri="{FF2B5EF4-FFF2-40B4-BE49-F238E27FC236}">
                <a16:creationId xmlns:a16="http://schemas.microsoft.com/office/drawing/2014/main" id="{0A95F432-9870-E612-9D49-4B7FEC84C24E}"/>
              </a:ext>
            </a:extLst>
          </p:cNvPr>
          <p:cNvSpPr/>
          <p:nvPr/>
        </p:nvSpPr>
        <p:spPr bwMode="auto">
          <a:xfrm>
            <a:off x="4186196" y="438466"/>
            <a:ext cx="447495" cy="480168"/>
          </a:xfrm>
          <a:prstGeom prst="rightArrow">
            <a:avLst/>
          </a:prstGeom>
          <a:solidFill>
            <a:schemeClr val="accent1"/>
          </a:solidFill>
          <a:ln w="254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square" lIns="90000" tIns="82800" rIns="90000" bIns="82800" numCol="1" rtlCol="0" anchor="t" anchorCtr="1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-2500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339679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1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4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" grpId="0" animBg="1"/>
      <p:bldP spid="96" grpId="0" animBg="1"/>
      <p:bldP spid="125" grpId="0" animBg="1"/>
      <p:bldP spid="126" grpId="0" animBg="1"/>
      <p:bldP spid="14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654" name="Line 22"/>
          <p:cNvSpPr>
            <a:spLocks noChangeShapeType="1"/>
          </p:cNvSpPr>
          <p:nvPr/>
        </p:nvSpPr>
        <p:spPr bwMode="auto">
          <a:xfrm flipH="1">
            <a:off x="3189087" y="2611883"/>
            <a:ext cx="1412875" cy="1779588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709715" name="AutoShape 83"/>
          <p:cNvSpPr>
            <a:spLocks noChangeArrowheads="1"/>
          </p:cNvSpPr>
          <p:nvPr/>
        </p:nvSpPr>
        <p:spPr bwMode="auto">
          <a:xfrm>
            <a:off x="4281287" y="2610296"/>
            <a:ext cx="363537" cy="517525"/>
          </a:xfrm>
          <a:custGeom>
            <a:avLst/>
            <a:gdLst>
              <a:gd name="T0" fmla="*/ 2147483646 w 21600"/>
              <a:gd name="T1" fmla="*/ 0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2147483646 w 21600"/>
              <a:gd name="T9" fmla="*/ 2147483646 h 21600"/>
              <a:gd name="T10" fmla="*/ 2147483646 w 21600"/>
              <a:gd name="T11" fmla="*/ 2147483646 h 216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3163 w 21600"/>
              <a:gd name="T19" fmla="*/ 3163 h 21600"/>
              <a:gd name="T20" fmla="*/ 18437 w 21600"/>
              <a:gd name="T21" fmla="*/ 18437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8676" y="10800"/>
                </a:moveTo>
                <a:cubicBezTo>
                  <a:pt x="18676" y="6450"/>
                  <a:pt x="15149" y="2924"/>
                  <a:pt x="10800" y="2924"/>
                </a:cubicBezTo>
                <a:cubicBezTo>
                  <a:pt x="6450" y="2924"/>
                  <a:pt x="2924" y="6450"/>
                  <a:pt x="2924" y="10800"/>
                </a:cubicBezTo>
                <a:cubicBezTo>
                  <a:pt x="2923" y="10813"/>
                  <a:pt x="2924" y="10827"/>
                  <a:pt x="2924" y="10841"/>
                </a:cubicBezTo>
                <a:lnTo>
                  <a:pt x="0" y="10857"/>
                </a:lnTo>
                <a:cubicBezTo>
                  <a:pt x="0" y="10838"/>
                  <a:pt x="0" y="10819"/>
                  <a:pt x="0" y="10800"/>
                </a:cubicBezTo>
                <a:cubicBezTo>
                  <a:pt x="0" y="4835"/>
                  <a:pt x="4835" y="0"/>
                  <a:pt x="10800" y="0"/>
                </a:cubicBezTo>
                <a:cubicBezTo>
                  <a:pt x="16764" y="-1"/>
                  <a:pt x="21599" y="4835"/>
                  <a:pt x="21600" y="10799"/>
                </a:cubicBezTo>
                <a:lnTo>
                  <a:pt x="21600" y="10800"/>
                </a:lnTo>
                <a:lnTo>
                  <a:pt x="24300" y="10800"/>
                </a:lnTo>
                <a:lnTo>
                  <a:pt x="20138" y="14962"/>
                </a:lnTo>
                <a:lnTo>
                  <a:pt x="15976" y="10800"/>
                </a:lnTo>
                <a:lnTo>
                  <a:pt x="18676" y="10800"/>
                </a:lnTo>
                <a:close/>
              </a:path>
            </a:pathLst>
          </a:custGeom>
          <a:solidFill>
            <a:srgbClr val="FF0000"/>
          </a:solidFill>
          <a:ln>
            <a:solidFill>
              <a:srgbClr val="FF0000"/>
            </a:solidFill>
          </a:ln>
        </p:spPr>
        <p:txBody>
          <a:bodyPr/>
          <a:lstStyle/>
          <a:p>
            <a:endParaRPr lang="en-GB"/>
          </a:p>
        </p:txBody>
      </p:sp>
      <p:grpSp>
        <p:nvGrpSpPr>
          <p:cNvPr id="2" name="Group 131"/>
          <p:cNvGrpSpPr>
            <a:grpSpLocks/>
          </p:cNvGrpSpPr>
          <p:nvPr/>
        </p:nvGrpSpPr>
        <p:grpSpPr bwMode="auto">
          <a:xfrm>
            <a:off x="1284087" y="2965896"/>
            <a:ext cx="1444625" cy="1292225"/>
            <a:chOff x="861" y="2689"/>
            <a:chExt cx="910" cy="814"/>
          </a:xfrm>
        </p:grpSpPr>
        <p:sp>
          <p:nvSpPr>
            <p:cNvPr id="42049" name="AutoShape 23"/>
            <p:cNvSpPr>
              <a:spLocks noChangeArrowheads="1"/>
            </p:cNvSpPr>
            <p:nvPr/>
          </p:nvSpPr>
          <p:spPr bwMode="auto">
            <a:xfrm>
              <a:off x="861" y="2689"/>
              <a:ext cx="910" cy="814"/>
            </a:xfrm>
            <a:prstGeom prst="cube">
              <a:avLst>
                <a:gd name="adj" fmla="val 25000"/>
              </a:avLst>
            </a:prstGeom>
            <a:solidFill>
              <a:srgbClr val="FF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2050" name="Text Box 24"/>
            <p:cNvSpPr txBox="1">
              <a:spLocks noChangeArrowheads="1"/>
            </p:cNvSpPr>
            <p:nvPr/>
          </p:nvSpPr>
          <p:spPr bwMode="auto">
            <a:xfrm>
              <a:off x="1092" y="3028"/>
              <a:ext cx="286" cy="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defTabSz="1008063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1008063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1008063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1008063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1008063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10080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10080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10080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10080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 b="1">
                  <a:solidFill>
                    <a:schemeClr val="bg1"/>
                  </a:solidFill>
                  <a:latin typeface="Arial" panose="020B0604020202020204" pitchFamily="34" charset="0"/>
                </a:rPr>
                <a:t>N</a:t>
              </a:r>
            </a:p>
          </p:txBody>
        </p:sp>
      </p:grpSp>
      <p:sp>
        <p:nvSpPr>
          <p:cNvPr id="9224" name="Text Box 2"/>
          <p:cNvSpPr txBox="1">
            <a:spLocks noChangeArrowheads="1"/>
          </p:cNvSpPr>
          <p:nvPr/>
        </p:nvSpPr>
        <p:spPr bwMode="auto">
          <a:xfrm>
            <a:off x="7146917" y="1490202"/>
            <a:ext cx="3219765" cy="51473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none" lIns="108000" tIns="72000" rIns="108000" bIns="72000" anchor="ctr" anchorCtr="1">
            <a:spAutoFit/>
          </a:bodyPr>
          <a:lstStyle>
            <a:lvl1pPr defTabSz="1008063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1008063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1008063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1008063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1008063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10080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10080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10080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10080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MOTOR ELÉCTRICO</a:t>
            </a:r>
          </a:p>
        </p:txBody>
      </p:sp>
      <p:sp>
        <p:nvSpPr>
          <p:cNvPr id="709635" name="Text Box 3"/>
          <p:cNvSpPr txBox="1">
            <a:spLocks noChangeArrowheads="1"/>
          </p:cNvSpPr>
          <p:nvPr/>
        </p:nvSpPr>
        <p:spPr bwMode="auto">
          <a:xfrm>
            <a:off x="7487007" y="2164495"/>
            <a:ext cx="2640430" cy="830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Veamos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el de 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tensión </a:t>
            </a:r>
            <a:r>
              <a:rPr lang="es-ES" sz="2400" dirty="0">
                <a:latin typeface="Arial" panose="020B0604020202020204" pitchFamily="34" charset="0"/>
              </a:rPr>
              <a:t>continua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Group 38"/>
          <p:cNvGrpSpPr>
            <a:grpSpLocks/>
          </p:cNvGrpSpPr>
          <p:nvPr/>
        </p:nvGrpSpPr>
        <p:grpSpPr bwMode="auto">
          <a:xfrm rot="3887287">
            <a:off x="2880318" y="4022377"/>
            <a:ext cx="731837" cy="619125"/>
            <a:chOff x="2528" y="3556"/>
            <a:chExt cx="461" cy="360"/>
          </a:xfrm>
        </p:grpSpPr>
        <p:sp>
          <p:nvSpPr>
            <p:cNvPr id="42047" name="AutoShape 39"/>
            <p:cNvSpPr>
              <a:spLocks noChangeArrowheads="1"/>
            </p:cNvSpPr>
            <p:nvPr/>
          </p:nvSpPr>
          <p:spPr bwMode="auto">
            <a:xfrm rot="5400000">
              <a:off x="2618" y="3546"/>
              <a:ext cx="357" cy="38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7706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740" y="10814"/>
                  </a:moveTo>
                  <a:cubicBezTo>
                    <a:pt x="1740" y="10809"/>
                    <a:pt x="1740" y="10804"/>
                    <a:pt x="1740" y="10800"/>
                  </a:cubicBezTo>
                  <a:cubicBezTo>
                    <a:pt x="1740" y="5796"/>
                    <a:pt x="5796" y="1740"/>
                    <a:pt x="10800" y="1740"/>
                  </a:cubicBezTo>
                  <a:cubicBezTo>
                    <a:pt x="15803" y="1740"/>
                    <a:pt x="19860" y="5796"/>
                    <a:pt x="19860" y="10800"/>
                  </a:cubicBezTo>
                  <a:cubicBezTo>
                    <a:pt x="19860" y="10804"/>
                    <a:pt x="19859" y="10809"/>
                    <a:pt x="19859" y="10814"/>
                  </a:cubicBezTo>
                  <a:lnTo>
                    <a:pt x="21599" y="10816"/>
                  </a:lnTo>
                  <a:cubicBezTo>
                    <a:pt x="21599" y="10811"/>
                    <a:pt x="21600" y="10805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ubicBezTo>
                    <a:pt x="-1" y="10805"/>
                    <a:pt x="0" y="10811"/>
                    <a:pt x="0" y="10816"/>
                  </a:cubicBezTo>
                  <a:lnTo>
                    <a:pt x="1740" y="10814"/>
                  </a:lnTo>
                  <a:close/>
                </a:path>
              </a:pathLst>
            </a:custGeom>
            <a:solidFill>
              <a:srgbClr val="0000FF"/>
            </a:solidFill>
            <a:ln w="12700">
              <a:solidFill>
                <a:srgbClr val="0000FF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en-GB"/>
            </a:p>
          </p:txBody>
        </p:sp>
        <p:sp>
          <p:nvSpPr>
            <p:cNvPr id="42048" name="AutoShape 40"/>
            <p:cNvSpPr>
              <a:spLocks noChangeArrowheads="1"/>
            </p:cNvSpPr>
            <p:nvPr/>
          </p:nvSpPr>
          <p:spPr bwMode="auto">
            <a:xfrm rot="5400000" flipV="1">
              <a:off x="2541" y="3543"/>
              <a:ext cx="357" cy="38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7706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740" y="10814"/>
                  </a:moveTo>
                  <a:cubicBezTo>
                    <a:pt x="1740" y="10809"/>
                    <a:pt x="1740" y="10804"/>
                    <a:pt x="1740" y="10800"/>
                  </a:cubicBezTo>
                  <a:cubicBezTo>
                    <a:pt x="1740" y="5796"/>
                    <a:pt x="5796" y="1740"/>
                    <a:pt x="10800" y="1740"/>
                  </a:cubicBezTo>
                  <a:cubicBezTo>
                    <a:pt x="15803" y="1740"/>
                    <a:pt x="19860" y="5796"/>
                    <a:pt x="19860" y="10800"/>
                  </a:cubicBezTo>
                  <a:cubicBezTo>
                    <a:pt x="19860" y="10804"/>
                    <a:pt x="19859" y="10809"/>
                    <a:pt x="19859" y="10814"/>
                  </a:cubicBezTo>
                  <a:lnTo>
                    <a:pt x="21599" y="10816"/>
                  </a:lnTo>
                  <a:cubicBezTo>
                    <a:pt x="21599" y="10811"/>
                    <a:pt x="21600" y="10805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ubicBezTo>
                    <a:pt x="-1" y="10805"/>
                    <a:pt x="0" y="10811"/>
                    <a:pt x="0" y="10816"/>
                  </a:cubicBezTo>
                  <a:lnTo>
                    <a:pt x="1740" y="10814"/>
                  </a:lnTo>
                  <a:close/>
                </a:path>
              </a:pathLst>
            </a:custGeom>
            <a:solidFill>
              <a:srgbClr val="0000FF"/>
            </a:solidFill>
            <a:ln w="12700">
              <a:solidFill>
                <a:srgbClr val="0000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5" name="Group 133"/>
          <p:cNvGrpSpPr>
            <a:grpSpLocks/>
          </p:cNvGrpSpPr>
          <p:nvPr/>
        </p:nvGrpSpPr>
        <p:grpSpPr bwMode="auto">
          <a:xfrm>
            <a:off x="2495349" y="2356296"/>
            <a:ext cx="3287713" cy="2736850"/>
            <a:chOff x="1624" y="2305"/>
            <a:chExt cx="2071" cy="1724"/>
          </a:xfrm>
        </p:grpSpPr>
        <p:sp>
          <p:nvSpPr>
            <p:cNvPr id="42034" name="Line 25"/>
            <p:cNvSpPr>
              <a:spLocks noChangeShapeType="1"/>
            </p:cNvSpPr>
            <p:nvPr/>
          </p:nvSpPr>
          <p:spPr bwMode="auto">
            <a:xfrm flipH="1">
              <a:off x="1868" y="2307"/>
              <a:ext cx="597" cy="792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2035" name="Line 26"/>
            <p:cNvSpPr>
              <a:spLocks noChangeShapeType="1"/>
            </p:cNvSpPr>
            <p:nvPr/>
          </p:nvSpPr>
          <p:spPr bwMode="auto">
            <a:xfrm>
              <a:off x="2474" y="2305"/>
              <a:ext cx="491" cy="926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2036" name="Line 27"/>
            <p:cNvSpPr>
              <a:spLocks noChangeShapeType="1"/>
            </p:cNvSpPr>
            <p:nvPr/>
          </p:nvSpPr>
          <p:spPr bwMode="auto">
            <a:xfrm>
              <a:off x="1866" y="3103"/>
              <a:ext cx="116" cy="246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grpSp>
          <p:nvGrpSpPr>
            <p:cNvPr id="42037" name="Group 28"/>
            <p:cNvGrpSpPr>
              <a:grpSpLocks/>
            </p:cNvGrpSpPr>
            <p:nvPr/>
          </p:nvGrpSpPr>
          <p:grpSpPr bwMode="auto">
            <a:xfrm>
              <a:off x="1624" y="2937"/>
              <a:ext cx="1760" cy="337"/>
              <a:chOff x="2150" y="2996"/>
              <a:chExt cx="1909" cy="337"/>
            </a:xfrm>
          </p:grpSpPr>
          <p:sp>
            <p:nvSpPr>
              <p:cNvPr id="42044" name="Line 29"/>
              <p:cNvSpPr>
                <a:spLocks noChangeShapeType="1"/>
              </p:cNvSpPr>
              <p:nvPr/>
            </p:nvSpPr>
            <p:spPr bwMode="auto">
              <a:xfrm flipV="1">
                <a:off x="2150" y="2996"/>
                <a:ext cx="1897" cy="0"/>
              </a:xfrm>
              <a:prstGeom prst="line">
                <a:avLst/>
              </a:prstGeom>
              <a:noFill/>
              <a:ln w="19050">
                <a:solidFill>
                  <a:srgbClr val="0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2045" name="Line 30"/>
              <p:cNvSpPr>
                <a:spLocks noChangeShapeType="1"/>
              </p:cNvSpPr>
              <p:nvPr/>
            </p:nvSpPr>
            <p:spPr bwMode="auto">
              <a:xfrm flipV="1">
                <a:off x="2150" y="3176"/>
                <a:ext cx="1897" cy="0"/>
              </a:xfrm>
              <a:prstGeom prst="line">
                <a:avLst/>
              </a:prstGeom>
              <a:noFill/>
              <a:ln w="19050">
                <a:solidFill>
                  <a:srgbClr val="0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2046" name="Line 31"/>
              <p:cNvSpPr>
                <a:spLocks noChangeShapeType="1"/>
              </p:cNvSpPr>
              <p:nvPr/>
            </p:nvSpPr>
            <p:spPr bwMode="auto">
              <a:xfrm flipV="1">
                <a:off x="2162" y="3333"/>
                <a:ext cx="1897" cy="0"/>
              </a:xfrm>
              <a:prstGeom prst="line">
                <a:avLst/>
              </a:prstGeom>
              <a:noFill/>
              <a:ln w="19050">
                <a:solidFill>
                  <a:srgbClr val="0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42038" name="Group 32"/>
            <p:cNvGrpSpPr>
              <a:grpSpLocks/>
            </p:cNvGrpSpPr>
            <p:nvPr/>
          </p:nvGrpSpPr>
          <p:grpSpPr bwMode="auto">
            <a:xfrm>
              <a:off x="1712" y="2810"/>
              <a:ext cx="1983" cy="378"/>
              <a:chOff x="2458" y="2869"/>
              <a:chExt cx="1912" cy="378"/>
            </a:xfrm>
          </p:grpSpPr>
          <p:sp>
            <p:nvSpPr>
              <p:cNvPr id="42041" name="Line 33"/>
              <p:cNvSpPr>
                <a:spLocks noChangeShapeType="1"/>
              </p:cNvSpPr>
              <p:nvPr/>
            </p:nvSpPr>
            <p:spPr bwMode="auto">
              <a:xfrm flipV="1">
                <a:off x="2473" y="2869"/>
                <a:ext cx="1897" cy="0"/>
              </a:xfrm>
              <a:prstGeom prst="line">
                <a:avLst/>
              </a:prstGeom>
              <a:noFill/>
              <a:ln w="19050">
                <a:solidFill>
                  <a:srgbClr val="0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2042" name="Line 34"/>
              <p:cNvSpPr>
                <a:spLocks noChangeShapeType="1"/>
              </p:cNvSpPr>
              <p:nvPr/>
            </p:nvSpPr>
            <p:spPr bwMode="auto">
              <a:xfrm flipV="1">
                <a:off x="2458" y="3090"/>
                <a:ext cx="1897" cy="0"/>
              </a:xfrm>
              <a:prstGeom prst="line">
                <a:avLst/>
              </a:prstGeom>
              <a:noFill/>
              <a:ln w="19050">
                <a:solidFill>
                  <a:srgbClr val="0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2043" name="Line 35"/>
              <p:cNvSpPr>
                <a:spLocks noChangeShapeType="1"/>
              </p:cNvSpPr>
              <p:nvPr/>
            </p:nvSpPr>
            <p:spPr bwMode="auto">
              <a:xfrm flipV="1">
                <a:off x="2470" y="3247"/>
                <a:ext cx="1897" cy="0"/>
              </a:xfrm>
              <a:prstGeom prst="line">
                <a:avLst/>
              </a:prstGeom>
              <a:noFill/>
              <a:ln w="19050">
                <a:solidFill>
                  <a:srgbClr val="0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42039" name="Line 43"/>
            <p:cNvSpPr>
              <a:spLocks noChangeShapeType="1"/>
            </p:cNvSpPr>
            <p:nvPr/>
          </p:nvSpPr>
          <p:spPr bwMode="auto">
            <a:xfrm flipH="1">
              <a:off x="2367" y="3214"/>
              <a:ext cx="597" cy="792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2040" name="Line 44"/>
            <p:cNvSpPr>
              <a:spLocks noChangeShapeType="1"/>
            </p:cNvSpPr>
            <p:nvPr/>
          </p:nvSpPr>
          <p:spPr bwMode="auto">
            <a:xfrm>
              <a:off x="2214" y="3739"/>
              <a:ext cx="160" cy="29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8" name="Group 100"/>
          <p:cNvGrpSpPr>
            <a:grpSpLocks/>
          </p:cNvGrpSpPr>
          <p:nvPr/>
        </p:nvGrpSpPr>
        <p:grpSpPr bwMode="auto">
          <a:xfrm>
            <a:off x="3387524" y="2669034"/>
            <a:ext cx="1335088" cy="1928813"/>
            <a:chOff x="2658" y="2478"/>
            <a:chExt cx="841" cy="1215"/>
          </a:xfrm>
        </p:grpSpPr>
        <p:sp>
          <p:nvSpPr>
            <p:cNvPr id="42030" name="Text Box 42"/>
            <p:cNvSpPr txBox="1">
              <a:spLocks noChangeArrowheads="1"/>
            </p:cNvSpPr>
            <p:nvPr/>
          </p:nvSpPr>
          <p:spPr bwMode="auto">
            <a:xfrm flipH="1">
              <a:off x="2743" y="2478"/>
              <a:ext cx="25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solidFill>
                    <a:srgbClr val="3333FF"/>
                  </a:solidFill>
                  <a:latin typeface="Comic Sans MS" panose="030F0702030302020204" pitchFamily="66" charset="0"/>
                </a:rPr>
                <a:t>I</a:t>
              </a:r>
            </a:p>
          </p:txBody>
        </p:sp>
        <p:sp>
          <p:nvSpPr>
            <p:cNvPr id="42031" name="Text Box 45"/>
            <p:cNvSpPr txBox="1">
              <a:spLocks noChangeArrowheads="1"/>
            </p:cNvSpPr>
            <p:nvPr/>
          </p:nvSpPr>
          <p:spPr bwMode="auto">
            <a:xfrm flipH="1">
              <a:off x="3245" y="3402"/>
              <a:ext cx="25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solidFill>
                    <a:srgbClr val="3333FF"/>
                  </a:solidFill>
                  <a:latin typeface="Comic Sans MS" panose="030F0702030302020204" pitchFamily="66" charset="0"/>
                </a:rPr>
                <a:t>I</a:t>
              </a:r>
            </a:p>
          </p:txBody>
        </p:sp>
        <p:sp>
          <p:nvSpPr>
            <p:cNvPr id="42032" name="Line 46"/>
            <p:cNvSpPr>
              <a:spLocks noChangeShapeType="1"/>
            </p:cNvSpPr>
            <p:nvPr/>
          </p:nvSpPr>
          <p:spPr bwMode="auto">
            <a:xfrm flipV="1">
              <a:off x="3144" y="3452"/>
              <a:ext cx="95" cy="138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2033" name="Line 47"/>
            <p:cNvSpPr>
              <a:spLocks noChangeShapeType="1"/>
            </p:cNvSpPr>
            <p:nvPr/>
          </p:nvSpPr>
          <p:spPr bwMode="auto">
            <a:xfrm rot="10800000" flipV="1">
              <a:off x="2658" y="2517"/>
              <a:ext cx="95" cy="138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9" name="Group 103"/>
          <p:cNvGrpSpPr>
            <a:grpSpLocks/>
          </p:cNvGrpSpPr>
          <p:nvPr/>
        </p:nvGrpSpPr>
        <p:grpSpPr bwMode="auto">
          <a:xfrm>
            <a:off x="3165274" y="2475358"/>
            <a:ext cx="776288" cy="879475"/>
            <a:chOff x="2518" y="2356"/>
            <a:chExt cx="489" cy="554"/>
          </a:xfrm>
        </p:grpSpPr>
        <p:sp>
          <p:nvSpPr>
            <p:cNvPr id="42027" name="Oval 51"/>
            <p:cNvSpPr>
              <a:spLocks noChangeArrowheads="1"/>
            </p:cNvSpPr>
            <p:nvPr/>
          </p:nvSpPr>
          <p:spPr bwMode="auto">
            <a:xfrm>
              <a:off x="2518" y="2400"/>
              <a:ext cx="489" cy="471"/>
            </a:xfrm>
            <a:prstGeom prst="ellips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2028" name="Line 52"/>
            <p:cNvSpPr>
              <a:spLocks noChangeShapeType="1"/>
            </p:cNvSpPr>
            <p:nvPr/>
          </p:nvSpPr>
          <p:spPr bwMode="auto">
            <a:xfrm rot="3300000" flipH="1">
              <a:off x="2718" y="2357"/>
              <a:ext cx="95" cy="93"/>
            </a:xfrm>
            <a:prstGeom prst="line">
              <a:avLst/>
            </a:prstGeom>
            <a:noFill/>
            <a:ln w="12700">
              <a:solidFill>
                <a:srgbClr val="008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2029" name="Line 53"/>
            <p:cNvSpPr>
              <a:spLocks noChangeShapeType="1"/>
            </p:cNvSpPr>
            <p:nvPr/>
          </p:nvSpPr>
          <p:spPr bwMode="auto">
            <a:xfrm rot="-3300000">
              <a:off x="2743" y="2816"/>
              <a:ext cx="95" cy="93"/>
            </a:xfrm>
            <a:prstGeom prst="line">
              <a:avLst/>
            </a:prstGeom>
            <a:noFill/>
            <a:ln w="12700">
              <a:solidFill>
                <a:srgbClr val="008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0" name="Group 102"/>
          <p:cNvGrpSpPr>
            <a:grpSpLocks/>
          </p:cNvGrpSpPr>
          <p:nvPr/>
        </p:nvGrpSpPr>
        <p:grpSpPr bwMode="auto">
          <a:xfrm>
            <a:off x="3882824" y="3913633"/>
            <a:ext cx="776288" cy="860425"/>
            <a:chOff x="2970" y="3262"/>
            <a:chExt cx="489" cy="542"/>
          </a:xfrm>
        </p:grpSpPr>
        <p:sp>
          <p:nvSpPr>
            <p:cNvPr id="42024" name="Oval 64"/>
            <p:cNvSpPr>
              <a:spLocks noChangeArrowheads="1"/>
            </p:cNvSpPr>
            <p:nvPr/>
          </p:nvSpPr>
          <p:spPr bwMode="auto">
            <a:xfrm>
              <a:off x="2970" y="3299"/>
              <a:ext cx="489" cy="471"/>
            </a:xfrm>
            <a:prstGeom prst="ellips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2025" name="Line 65"/>
            <p:cNvSpPr>
              <a:spLocks noChangeShapeType="1"/>
            </p:cNvSpPr>
            <p:nvPr/>
          </p:nvSpPr>
          <p:spPr bwMode="auto">
            <a:xfrm rot="3300000" flipH="1">
              <a:off x="3151" y="3710"/>
              <a:ext cx="95" cy="93"/>
            </a:xfrm>
            <a:prstGeom prst="line">
              <a:avLst/>
            </a:prstGeom>
            <a:noFill/>
            <a:ln w="12700">
              <a:solidFill>
                <a:srgbClr val="008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2026" name="Line 66"/>
            <p:cNvSpPr>
              <a:spLocks noChangeShapeType="1"/>
            </p:cNvSpPr>
            <p:nvPr/>
          </p:nvSpPr>
          <p:spPr bwMode="auto">
            <a:xfrm rot="-3300000">
              <a:off x="3130" y="3263"/>
              <a:ext cx="95" cy="93"/>
            </a:xfrm>
            <a:prstGeom prst="line">
              <a:avLst/>
            </a:prstGeom>
            <a:noFill/>
            <a:ln w="12700">
              <a:solidFill>
                <a:srgbClr val="008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1" name="Group 84"/>
          <p:cNvGrpSpPr>
            <a:grpSpLocks/>
          </p:cNvGrpSpPr>
          <p:nvPr/>
        </p:nvGrpSpPr>
        <p:grpSpPr bwMode="auto">
          <a:xfrm rot="-2381543">
            <a:off x="3470074" y="3291333"/>
            <a:ext cx="901700" cy="631825"/>
            <a:chOff x="5433" y="3212"/>
            <a:chExt cx="568" cy="398"/>
          </a:xfrm>
        </p:grpSpPr>
        <p:sp>
          <p:nvSpPr>
            <p:cNvPr id="42020" name="AutoShape 69"/>
            <p:cNvSpPr>
              <a:spLocks noChangeArrowheads="1"/>
            </p:cNvSpPr>
            <p:nvPr/>
          </p:nvSpPr>
          <p:spPr bwMode="auto">
            <a:xfrm>
              <a:off x="5433" y="3212"/>
              <a:ext cx="307" cy="294"/>
            </a:xfrm>
            <a:prstGeom prst="cube">
              <a:avLst>
                <a:gd name="adj" fmla="val 24958"/>
              </a:avLst>
            </a:prstGeom>
            <a:solidFill>
              <a:srgbClr val="0000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2021" name="AutoShape 70"/>
            <p:cNvSpPr>
              <a:spLocks noChangeArrowheads="1"/>
            </p:cNvSpPr>
            <p:nvPr/>
          </p:nvSpPr>
          <p:spPr bwMode="auto">
            <a:xfrm>
              <a:off x="5666" y="3212"/>
              <a:ext cx="307" cy="294"/>
            </a:xfrm>
            <a:prstGeom prst="cube">
              <a:avLst>
                <a:gd name="adj" fmla="val 24958"/>
              </a:avLst>
            </a:prstGeom>
            <a:solidFill>
              <a:srgbClr val="FF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2022" name="Text Box 71"/>
            <p:cNvSpPr txBox="1">
              <a:spLocks noChangeArrowheads="1"/>
            </p:cNvSpPr>
            <p:nvPr/>
          </p:nvSpPr>
          <p:spPr bwMode="auto">
            <a:xfrm>
              <a:off x="5686" y="3275"/>
              <a:ext cx="315" cy="3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defTabSz="1008063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1008063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1008063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1008063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1008063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10080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10080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10080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10080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1600">
                  <a:solidFill>
                    <a:schemeClr val="bg1"/>
                  </a:solidFill>
                  <a:latin typeface="Arial" panose="020B0604020202020204" pitchFamily="34" charset="0"/>
                </a:rPr>
                <a:t>N</a:t>
              </a:r>
            </a:p>
          </p:txBody>
        </p:sp>
        <p:sp>
          <p:nvSpPr>
            <p:cNvPr id="42023" name="Text Box 72"/>
            <p:cNvSpPr txBox="1">
              <a:spLocks noChangeArrowheads="1"/>
            </p:cNvSpPr>
            <p:nvPr/>
          </p:nvSpPr>
          <p:spPr bwMode="auto">
            <a:xfrm>
              <a:off x="5459" y="3276"/>
              <a:ext cx="315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defTabSz="1008063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1008063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1008063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1008063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1008063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10080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10080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10080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10080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1600">
                  <a:solidFill>
                    <a:schemeClr val="bg1"/>
                  </a:solidFill>
                  <a:latin typeface="Arial" panose="020B0604020202020204" pitchFamily="34" charset="0"/>
                </a:rPr>
                <a:t>S</a:t>
              </a:r>
            </a:p>
          </p:txBody>
        </p:sp>
      </p:grpSp>
      <p:sp>
        <p:nvSpPr>
          <p:cNvPr id="709761" name="Text Box 129"/>
          <p:cNvSpPr txBox="1">
            <a:spLocks noChangeArrowheads="1"/>
          </p:cNvSpPr>
          <p:nvPr/>
        </p:nvSpPr>
        <p:spPr bwMode="auto">
          <a:xfrm>
            <a:off x="1790150" y="335910"/>
            <a:ext cx="7906505" cy="90588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Si al dispositivo descrito </a:t>
            </a:r>
            <a:r>
              <a:rPr lang="es-ES" sz="2400" dirty="0">
                <a:solidFill>
                  <a:srgbClr val="008000"/>
                </a:solidFill>
                <a:latin typeface="Arial" panose="020B0604020202020204" pitchFamily="34" charset="0"/>
              </a:rPr>
              <a:t>(generador de corriente alterna)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se le aplica una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</a:rPr>
              <a:t>ddp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alterna, todo sucede al revés</a:t>
            </a:r>
          </a:p>
        </p:txBody>
      </p:sp>
      <p:grpSp>
        <p:nvGrpSpPr>
          <p:cNvPr id="19" name="Group 132"/>
          <p:cNvGrpSpPr>
            <a:grpSpLocks/>
          </p:cNvGrpSpPr>
          <p:nvPr/>
        </p:nvGrpSpPr>
        <p:grpSpPr bwMode="auto">
          <a:xfrm>
            <a:off x="5214739" y="3067496"/>
            <a:ext cx="1428751" cy="1292225"/>
            <a:chOff x="3308" y="2689"/>
            <a:chExt cx="900" cy="814"/>
          </a:xfrm>
        </p:grpSpPr>
        <p:sp>
          <p:nvSpPr>
            <p:cNvPr id="42018" name="AutoShape 36"/>
            <p:cNvSpPr>
              <a:spLocks noChangeArrowheads="1"/>
            </p:cNvSpPr>
            <p:nvPr/>
          </p:nvSpPr>
          <p:spPr bwMode="auto">
            <a:xfrm>
              <a:off x="3308" y="2689"/>
              <a:ext cx="900" cy="814"/>
            </a:xfrm>
            <a:prstGeom prst="cube">
              <a:avLst>
                <a:gd name="adj" fmla="val 25000"/>
              </a:avLst>
            </a:prstGeom>
            <a:solidFill>
              <a:srgbClr val="0000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2019" name="Text Box 37"/>
            <p:cNvSpPr txBox="1">
              <a:spLocks noChangeArrowheads="1"/>
            </p:cNvSpPr>
            <p:nvPr/>
          </p:nvSpPr>
          <p:spPr bwMode="auto">
            <a:xfrm>
              <a:off x="3535" y="3022"/>
              <a:ext cx="277" cy="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defTabSz="1008063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1008063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1008063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1008063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1008063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10080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10080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10080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10080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 b="1">
                  <a:solidFill>
                    <a:schemeClr val="bg1"/>
                  </a:solidFill>
                  <a:latin typeface="Arial" panose="020B0604020202020204" pitchFamily="34" charset="0"/>
                </a:rPr>
                <a:t>S</a:t>
              </a:r>
            </a:p>
          </p:txBody>
        </p:sp>
      </p:grpSp>
      <p:sp>
        <p:nvSpPr>
          <p:cNvPr id="9350" name="Text Box 31"/>
          <p:cNvSpPr txBox="1">
            <a:spLocks noChangeArrowheads="1"/>
          </p:cNvSpPr>
          <p:nvPr/>
        </p:nvSpPr>
        <p:spPr bwMode="auto">
          <a:xfrm>
            <a:off x="1267608" y="1449349"/>
            <a:ext cx="5376445" cy="551090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8000" tIns="72000" rIns="108000" bIns="108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Se transforma E</a:t>
            </a:r>
            <a:r>
              <a:rPr lang="es-ES" sz="2400" baseline="-25000">
                <a:latin typeface="Arial" panose="020B0604020202020204" pitchFamily="34" charset="0"/>
              </a:rPr>
              <a:t>ELÉCTRICA</a:t>
            </a:r>
            <a:r>
              <a:rPr lang="es-ES" sz="2400">
                <a:latin typeface="Arial" panose="020B0604020202020204" pitchFamily="34" charset="0"/>
              </a:rPr>
              <a:t> en E</a:t>
            </a:r>
            <a:r>
              <a:rPr lang="es-ES" sz="2400" baseline="-25000">
                <a:latin typeface="Arial" panose="020B0604020202020204" pitchFamily="34" charset="0"/>
              </a:rPr>
              <a:t>MECÁNICA</a:t>
            </a:r>
            <a:endParaRPr lang="es-ES" sz="2400">
              <a:latin typeface="Arial" panose="020B0604020202020204" pitchFamily="34" charset="0"/>
            </a:endParaRPr>
          </a:p>
        </p:txBody>
      </p:sp>
      <p:sp>
        <p:nvSpPr>
          <p:cNvPr id="42004" name="Text Box 86"/>
          <p:cNvSpPr txBox="1">
            <a:spLocks noChangeArrowheads="1"/>
          </p:cNvSpPr>
          <p:nvPr/>
        </p:nvSpPr>
        <p:spPr bwMode="auto">
          <a:xfrm>
            <a:off x="4538462" y="2076684"/>
            <a:ext cx="1986259" cy="905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GIRA (N y S</a:t>
            </a:r>
          </a:p>
          <a:p>
            <a:pPr algn="r"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se atraen)</a:t>
            </a:r>
            <a:endParaRPr lang="es-ES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66" name="Text Box 92"/>
          <p:cNvSpPr txBox="1">
            <a:spLocks noChangeArrowheads="1"/>
          </p:cNvSpPr>
          <p:nvPr/>
        </p:nvSpPr>
        <p:spPr bwMode="auto">
          <a:xfrm>
            <a:off x="1723699" y="5237576"/>
            <a:ext cx="8173525" cy="1644545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Al colocarse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 la espira al campo, se desconecta, pero como tiene velocidad, sigue girando y se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reconecta,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pero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con polaridad contraria: se invierten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la </a:t>
            </a:r>
            <a:r>
              <a:rPr lang="es-ES" sz="2400"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y el imán equivalente, y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sigue girando (N y N, y S y S, se repelen)</a:t>
            </a:r>
            <a:endParaRPr lang="es-ES" sz="240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F9C253AA-F0F3-4FEA-9A53-7621B3EF5A2B}"/>
              </a:ext>
            </a:extLst>
          </p:cNvPr>
          <p:cNvGrpSpPr/>
          <p:nvPr/>
        </p:nvGrpSpPr>
        <p:grpSpPr>
          <a:xfrm>
            <a:off x="2453730" y="4303053"/>
            <a:ext cx="1391513" cy="935306"/>
            <a:chOff x="2514018" y="4372419"/>
            <a:chExt cx="1391513" cy="935306"/>
          </a:xfrm>
        </p:grpSpPr>
        <p:sp>
          <p:nvSpPr>
            <p:cNvPr id="42008" name="Text Box 108"/>
            <p:cNvSpPr txBox="1">
              <a:spLocks noChangeArrowheads="1"/>
            </p:cNvSpPr>
            <p:nvPr/>
          </p:nvSpPr>
          <p:spPr bwMode="auto">
            <a:xfrm>
              <a:off x="3083435" y="4771150"/>
              <a:ext cx="387350" cy="536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1" dirty="0">
                  <a:solidFill>
                    <a:srgbClr val="FF0000"/>
                  </a:solidFill>
                  <a:latin typeface="Arial" panose="020B0604020202020204" pitchFamily="34" charset="0"/>
                </a:rPr>
                <a:t>V</a:t>
              </a:r>
            </a:p>
          </p:txBody>
        </p:sp>
        <p:grpSp>
          <p:nvGrpSpPr>
            <p:cNvPr id="3" name="Grupo 2">
              <a:extLst>
                <a:ext uri="{FF2B5EF4-FFF2-40B4-BE49-F238E27FC236}">
                  <a16:creationId xmlns:a16="http://schemas.microsoft.com/office/drawing/2014/main" id="{0936335B-543A-46DB-BD7C-F20960AF0C42}"/>
                </a:ext>
              </a:extLst>
            </p:cNvPr>
            <p:cNvGrpSpPr/>
            <p:nvPr/>
          </p:nvGrpSpPr>
          <p:grpSpPr>
            <a:xfrm>
              <a:off x="2514018" y="4372419"/>
              <a:ext cx="1391513" cy="663664"/>
              <a:chOff x="2514018" y="4372419"/>
              <a:chExt cx="1391513" cy="663664"/>
            </a:xfrm>
          </p:grpSpPr>
          <p:sp>
            <p:nvSpPr>
              <p:cNvPr id="42010" name="Oval 82"/>
              <p:cNvSpPr>
                <a:spLocks noChangeArrowheads="1"/>
              </p:cNvSpPr>
              <p:nvPr/>
            </p:nvSpPr>
            <p:spPr bwMode="auto">
              <a:xfrm>
                <a:off x="3627288" y="4409681"/>
                <a:ext cx="144000" cy="144000"/>
              </a:xfrm>
              <a:prstGeom prst="ellipse">
                <a:avLst/>
              </a:prstGeom>
              <a:solidFill>
                <a:srgbClr val="FF0000"/>
              </a:solidFill>
              <a:ln w="12700" algn="ctr">
                <a:solidFill>
                  <a:schemeClr val="tx1"/>
                </a:solidFill>
                <a:round/>
                <a:headEnd/>
                <a:tailEnd type="none" w="lg" len="lg"/>
              </a:ln>
            </p:spPr>
            <p:txBody>
              <a:bodyPr wrap="none" lIns="90000" tIns="82800" rIns="90000" bIns="82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2011" name="Oval 81"/>
              <p:cNvSpPr>
                <a:spLocks noChangeArrowheads="1"/>
              </p:cNvSpPr>
              <p:nvPr/>
            </p:nvSpPr>
            <p:spPr bwMode="auto">
              <a:xfrm>
                <a:off x="2835427" y="4372419"/>
                <a:ext cx="144000" cy="144000"/>
              </a:xfrm>
              <a:prstGeom prst="ellipse">
                <a:avLst/>
              </a:prstGeom>
              <a:solidFill>
                <a:srgbClr val="FF0000"/>
              </a:solidFill>
              <a:ln w="12700" algn="ctr">
                <a:solidFill>
                  <a:schemeClr val="tx1"/>
                </a:solidFill>
                <a:round/>
                <a:headEnd/>
                <a:tailEnd type="none" w="lg" len="lg"/>
              </a:ln>
            </p:spPr>
            <p:txBody>
              <a:bodyPr wrap="none" lIns="90000" tIns="82800" rIns="90000" bIns="82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2012" name="Text Box 41"/>
              <p:cNvSpPr txBox="1">
                <a:spLocks noChangeArrowheads="1"/>
              </p:cNvSpPr>
              <p:nvPr/>
            </p:nvSpPr>
            <p:spPr bwMode="auto">
              <a:xfrm>
                <a:off x="2514018" y="4578883"/>
                <a:ext cx="804863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/>
              <a:lstStyle>
                <a:lvl1pPr defTabSz="1008063"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1008063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1008063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1008063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1008063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-</a:t>
                </a:r>
                <a:endParaRPr lang="es-ES" sz="24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2013" name="Line 94"/>
              <p:cNvSpPr>
                <a:spLocks noChangeShapeType="1"/>
              </p:cNvSpPr>
              <p:nvPr/>
            </p:nvSpPr>
            <p:spPr bwMode="auto">
              <a:xfrm flipH="1">
                <a:off x="3702829" y="4561457"/>
                <a:ext cx="0" cy="203845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82800" rIns="90000" bIns="82800" anchorCtr="1"/>
              <a:lstStyle/>
              <a:p>
                <a:endParaRPr lang="en-GB"/>
              </a:p>
            </p:txBody>
          </p:sp>
          <p:sp>
            <p:nvSpPr>
              <p:cNvPr id="42014" name="Line 95"/>
              <p:cNvSpPr>
                <a:spLocks noChangeShapeType="1"/>
              </p:cNvSpPr>
              <p:nvPr/>
            </p:nvSpPr>
            <p:spPr bwMode="auto">
              <a:xfrm flipH="1">
                <a:off x="2904618" y="4526532"/>
                <a:ext cx="0" cy="203845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82800" rIns="90000" bIns="82800" anchorCtr="1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42007" name="Text Box 48"/>
              <p:cNvSpPr txBox="1">
                <a:spLocks noChangeArrowheads="1"/>
              </p:cNvSpPr>
              <p:nvPr/>
            </p:nvSpPr>
            <p:spPr bwMode="auto">
              <a:xfrm>
                <a:off x="3481667" y="4643526"/>
                <a:ext cx="423864" cy="3795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/>
              <a:lstStyle>
                <a:lvl1pPr defTabSz="1008063"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1008063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1008063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1008063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1008063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+</a:t>
                </a:r>
                <a:endParaRPr lang="es-ES" sz="2400" dirty="0"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42009" name="Text Box 73"/>
          <p:cNvSpPr txBox="1">
            <a:spLocks noChangeArrowheads="1"/>
          </p:cNvSpPr>
          <p:nvPr/>
        </p:nvSpPr>
        <p:spPr bwMode="auto">
          <a:xfrm>
            <a:off x="7146916" y="3620124"/>
            <a:ext cx="3219765" cy="1200329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La V la aplica una: pila, batería, p.ej., de un F1 (KERS)...</a:t>
            </a:r>
          </a:p>
        </p:txBody>
      </p:sp>
      <p:sp>
        <p:nvSpPr>
          <p:cNvPr id="63" name="Flecha: a la derecha 62">
            <a:extLst>
              <a:ext uri="{FF2B5EF4-FFF2-40B4-BE49-F238E27FC236}">
                <a16:creationId xmlns:a16="http://schemas.microsoft.com/office/drawing/2014/main" id="{C14F5BD7-0873-4CAA-8403-7815A6624E25}"/>
              </a:ext>
            </a:extLst>
          </p:cNvPr>
          <p:cNvSpPr/>
          <p:nvPr/>
        </p:nvSpPr>
        <p:spPr bwMode="auto">
          <a:xfrm>
            <a:off x="6693728" y="1519198"/>
            <a:ext cx="402949" cy="480168"/>
          </a:xfrm>
          <a:prstGeom prst="rightArrow">
            <a:avLst/>
          </a:prstGeom>
          <a:solidFill>
            <a:schemeClr val="accent1"/>
          </a:solidFill>
          <a:ln w="254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square" lIns="90000" tIns="82800" rIns="90000" bIns="82800" numCol="1" rtlCol="0" anchor="t" anchorCtr="1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-2500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09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1" dur="500"/>
                                        <p:tgtEl>
                                          <p:spTgt spid="9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709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709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42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7097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7097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42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9654" grpId="0" animBg="1"/>
      <p:bldP spid="709715" grpId="0" animBg="1"/>
      <p:bldP spid="9224" grpId="0" animBg="1"/>
      <p:bldP spid="709635" grpId="0" animBg="1"/>
      <p:bldP spid="709761" grpId="0" animBg="1"/>
      <p:bldP spid="9350" grpId="0" animBg="1"/>
      <p:bldP spid="42004" grpId="0"/>
      <p:bldP spid="66" grpId="0" animBg="1"/>
      <p:bldP spid="42009" grpId="0" animBg="1"/>
      <p:bldP spid="6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40"/>
          <p:cNvSpPr>
            <a:spLocks noChangeArrowheads="1"/>
          </p:cNvSpPr>
          <p:nvPr/>
        </p:nvSpPr>
        <p:spPr bwMode="auto">
          <a:xfrm>
            <a:off x="1849057" y="379603"/>
            <a:ext cx="2898775" cy="4699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82800" rIns="90000" bIns="82800" anchor="ctr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102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3989703"/>
              </p:ext>
            </p:extLst>
          </p:nvPr>
        </p:nvGraphicFramePr>
        <p:xfrm>
          <a:off x="5346563" y="1415186"/>
          <a:ext cx="1739900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3" imgW="799753" imgH="444307" progId="Equation.3">
                  <p:embed/>
                </p:oleObj>
              </mc:Choice>
              <mc:Fallback>
                <p:oleObj name="Ecuación" r:id="rId3" imgW="799753" imgH="444307" progId="Equation.3">
                  <p:embed/>
                  <p:pic>
                    <p:nvPicPr>
                      <p:cNvPr id="102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46563" y="1415186"/>
                        <a:ext cx="1739900" cy="958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4697546"/>
              </p:ext>
            </p:extLst>
          </p:nvPr>
        </p:nvGraphicFramePr>
        <p:xfrm>
          <a:off x="5346563" y="2405786"/>
          <a:ext cx="1651000" cy="868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5" imgW="723586" imgH="380835" progId="Equation.3">
                  <p:embed/>
                </p:oleObj>
              </mc:Choice>
              <mc:Fallback>
                <p:oleObj name="Ecuación" r:id="rId5" imgW="723586" imgH="380835" progId="Equation.3">
                  <p:embed/>
                  <p:pic>
                    <p:nvPicPr>
                      <p:cNvPr id="1027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46563" y="2405786"/>
                        <a:ext cx="1651000" cy="868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8554694"/>
              </p:ext>
            </p:extLst>
          </p:nvPr>
        </p:nvGraphicFramePr>
        <p:xfrm>
          <a:off x="5346563" y="3213823"/>
          <a:ext cx="2919413" cy="966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7" imgW="1333500" imgH="444500" progId="Equation.3">
                  <p:embed/>
                </p:oleObj>
              </mc:Choice>
              <mc:Fallback>
                <p:oleObj name="Ecuación" r:id="rId7" imgW="1333500" imgH="444500" progId="Equation.3">
                  <p:embed/>
                  <p:pic>
                    <p:nvPicPr>
                      <p:cNvPr id="1028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46563" y="3213823"/>
                        <a:ext cx="2919413" cy="966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9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6586839"/>
              </p:ext>
            </p:extLst>
          </p:nvPr>
        </p:nvGraphicFramePr>
        <p:xfrm>
          <a:off x="5346563" y="4067898"/>
          <a:ext cx="4576763" cy="1030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9" imgW="1954951" imgH="444307" progId="Equation.3">
                  <p:embed/>
                </p:oleObj>
              </mc:Choice>
              <mc:Fallback>
                <p:oleObj name="Ecuación" r:id="rId9" imgW="1954951" imgH="444307" progId="Equation.3">
                  <p:embed/>
                  <p:pic>
                    <p:nvPicPr>
                      <p:cNvPr id="1029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46563" y="4067898"/>
                        <a:ext cx="4576763" cy="1030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7" name="Group 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0886275"/>
              </p:ext>
            </p:extLst>
          </p:nvPr>
        </p:nvGraphicFramePr>
        <p:xfrm>
          <a:off x="1475984" y="1445348"/>
          <a:ext cx="8747887" cy="3603625"/>
        </p:xfrm>
        <a:graphic>
          <a:graphicData uri="http://schemas.openxmlformats.org/drawingml/2006/table">
            <a:tbl>
              <a:tblPr/>
              <a:tblGrid>
                <a:gridCol w="3567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07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01700">
                <a:tc>
                  <a:txBody>
                    <a:bodyPr/>
                    <a:lstStyle>
                      <a:lvl1pPr marL="385763" indent="-385763" defTabSz="1028700" eaLnBrk="0" hangingPunct="0">
                        <a:spcBef>
                          <a:spcPct val="20000"/>
                        </a:spcBef>
                        <a:tabLst>
                          <a:tab pos="180975" algn="r"/>
                          <a:tab pos="2700338" algn="ctr"/>
                          <a:tab pos="5400675" algn="r"/>
                        </a:tabLst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defTabSz="1028700" eaLnBrk="0" hangingPunct="0">
                        <a:spcBef>
                          <a:spcPct val="20000"/>
                        </a:spcBef>
                        <a:tabLst>
                          <a:tab pos="180975" algn="r"/>
                          <a:tab pos="2700338" algn="ctr"/>
                          <a:tab pos="5400675" algn="r"/>
                        </a:tabLst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defTabSz="1028700" eaLnBrk="0" hangingPunct="0">
                        <a:spcBef>
                          <a:spcPct val="20000"/>
                        </a:spcBef>
                        <a:tabLst>
                          <a:tab pos="180975" algn="r"/>
                          <a:tab pos="2700338" algn="ctr"/>
                          <a:tab pos="5400675" algn="r"/>
                        </a:tabLst>
                        <a:defRPr sz="2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defTabSz="1028700" eaLnBrk="0" hangingPunct="0">
                        <a:spcBef>
                          <a:spcPct val="20000"/>
                        </a:spcBef>
                        <a:tabLst>
                          <a:tab pos="180975" algn="r"/>
                          <a:tab pos="2700338" algn="ctr"/>
                          <a:tab pos="5400675" algn="r"/>
                        </a:tabLst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defTabSz="1028700" eaLnBrk="0" hangingPunct="0">
                        <a:spcBef>
                          <a:spcPct val="20000"/>
                        </a:spcBef>
                        <a:tabLst>
                          <a:tab pos="180975" algn="r"/>
                          <a:tab pos="2700338" algn="ctr"/>
                          <a:tab pos="5400675" algn="r"/>
                        </a:tabLst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defTabSz="10287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80975" algn="r"/>
                          <a:tab pos="2700338" algn="ctr"/>
                          <a:tab pos="5400675" algn="r"/>
                        </a:tabLst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defTabSz="10287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80975" algn="r"/>
                          <a:tab pos="2700338" algn="ctr"/>
                          <a:tab pos="5400675" algn="r"/>
                        </a:tabLst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defTabSz="10287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80975" algn="r"/>
                          <a:tab pos="2700338" algn="ctr"/>
                          <a:tab pos="5400675" algn="r"/>
                        </a:tabLst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defTabSz="10287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80975" algn="r"/>
                          <a:tab pos="2700338" algn="ctr"/>
                          <a:tab pos="5400675" algn="r"/>
                        </a:tabLst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10287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80975" algn="r"/>
                          <a:tab pos="2700338" algn="ctr"/>
                          <a:tab pos="5400675" algn="r"/>
                        </a:tabLst>
                      </a:pPr>
                      <a:r>
                        <a:rPr kumimoji="0" lang="es-E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Ley de Gauss para </a:t>
                      </a:r>
                      <a:r>
                        <a:rPr kumimoji="0" lang="es-E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E </a:t>
                      </a:r>
                      <a:r>
                        <a:rPr kumimoji="0" lang="es-E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(Flujo </a:t>
                      </a:r>
                      <a:r>
                        <a:rPr kumimoji="0" lang="es-E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E</a:t>
                      </a:r>
                      <a:r>
                        <a:rPr kumimoji="0" lang="es-E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defTabSz="1028700" eaLnBrk="0" hangingPunct="0">
                        <a:spcBef>
                          <a:spcPct val="20000"/>
                        </a:spcBef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defTabSz="1028700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defTabSz="1028700" eaLnBrk="0" hangingPunct="0">
                        <a:spcBef>
                          <a:spcPct val="20000"/>
                        </a:spcBef>
                        <a:defRPr sz="2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defTabSz="1028700" eaLnBrk="0" hangingPunct="0">
                        <a:spcBef>
                          <a:spcPct val="20000"/>
                        </a:spcBef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defTabSz="1028700" eaLnBrk="0" hangingPunct="0">
                        <a:spcBef>
                          <a:spcPct val="20000"/>
                        </a:spcBef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defTabSz="10287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defTabSz="10287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defTabSz="10287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defTabSz="10287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10287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1700">
                <a:tc>
                  <a:txBody>
                    <a:bodyPr/>
                    <a:lstStyle>
                      <a:lvl1pPr marL="385763" indent="-385763" defTabSz="1028700" eaLnBrk="0" hangingPunct="0">
                        <a:spcBef>
                          <a:spcPct val="20000"/>
                        </a:spcBef>
                        <a:tabLst>
                          <a:tab pos="180975" algn="r"/>
                          <a:tab pos="2700338" algn="ctr"/>
                          <a:tab pos="5400675" algn="r"/>
                        </a:tabLst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defTabSz="1028700" eaLnBrk="0" hangingPunct="0">
                        <a:spcBef>
                          <a:spcPct val="20000"/>
                        </a:spcBef>
                        <a:tabLst>
                          <a:tab pos="180975" algn="r"/>
                          <a:tab pos="2700338" algn="ctr"/>
                          <a:tab pos="5400675" algn="r"/>
                        </a:tabLst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defTabSz="1028700" eaLnBrk="0" hangingPunct="0">
                        <a:spcBef>
                          <a:spcPct val="20000"/>
                        </a:spcBef>
                        <a:tabLst>
                          <a:tab pos="180975" algn="r"/>
                          <a:tab pos="2700338" algn="ctr"/>
                          <a:tab pos="5400675" algn="r"/>
                        </a:tabLst>
                        <a:defRPr sz="2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defTabSz="1028700" eaLnBrk="0" hangingPunct="0">
                        <a:spcBef>
                          <a:spcPct val="20000"/>
                        </a:spcBef>
                        <a:tabLst>
                          <a:tab pos="180975" algn="r"/>
                          <a:tab pos="2700338" algn="ctr"/>
                          <a:tab pos="5400675" algn="r"/>
                        </a:tabLst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defTabSz="1028700" eaLnBrk="0" hangingPunct="0">
                        <a:spcBef>
                          <a:spcPct val="20000"/>
                        </a:spcBef>
                        <a:tabLst>
                          <a:tab pos="180975" algn="r"/>
                          <a:tab pos="2700338" algn="ctr"/>
                          <a:tab pos="5400675" algn="r"/>
                        </a:tabLst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defTabSz="10287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80975" algn="r"/>
                          <a:tab pos="2700338" algn="ctr"/>
                          <a:tab pos="5400675" algn="r"/>
                        </a:tabLst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defTabSz="10287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80975" algn="r"/>
                          <a:tab pos="2700338" algn="ctr"/>
                          <a:tab pos="5400675" algn="r"/>
                        </a:tabLst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defTabSz="10287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80975" algn="r"/>
                          <a:tab pos="2700338" algn="ctr"/>
                          <a:tab pos="5400675" algn="r"/>
                        </a:tabLst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defTabSz="10287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80975" algn="r"/>
                          <a:tab pos="2700338" algn="ctr"/>
                          <a:tab pos="5400675" algn="r"/>
                        </a:tabLst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10287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80975" algn="r"/>
                          <a:tab pos="2700338" algn="ctr"/>
                          <a:tab pos="5400675" algn="r"/>
                        </a:tabLst>
                      </a:pPr>
                      <a:r>
                        <a:rPr kumimoji="0" lang="es-E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Ley de Gauss para </a:t>
                      </a:r>
                      <a:r>
                        <a:rPr kumimoji="0" lang="es-E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B </a:t>
                      </a:r>
                      <a:r>
                        <a:rPr kumimoji="0" lang="es-E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(Flujo </a:t>
                      </a:r>
                      <a:r>
                        <a:rPr kumimoji="0" lang="es-E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B</a:t>
                      </a:r>
                      <a:r>
                        <a:rPr kumimoji="0" lang="es-E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) 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defTabSz="1028700" eaLnBrk="0" hangingPunct="0">
                        <a:spcBef>
                          <a:spcPct val="20000"/>
                        </a:spcBef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defTabSz="1028700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defTabSz="1028700" eaLnBrk="0" hangingPunct="0">
                        <a:spcBef>
                          <a:spcPct val="20000"/>
                        </a:spcBef>
                        <a:defRPr sz="2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defTabSz="1028700" eaLnBrk="0" hangingPunct="0">
                        <a:spcBef>
                          <a:spcPct val="20000"/>
                        </a:spcBef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defTabSz="1028700" eaLnBrk="0" hangingPunct="0">
                        <a:spcBef>
                          <a:spcPct val="20000"/>
                        </a:spcBef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defTabSz="10287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defTabSz="10287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defTabSz="10287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defTabSz="10287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10287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8525">
                <a:tc>
                  <a:txBody>
                    <a:bodyPr/>
                    <a:lstStyle>
                      <a:lvl1pPr marL="385763" indent="-385763" defTabSz="1028700" eaLnBrk="0" hangingPunct="0">
                        <a:spcBef>
                          <a:spcPct val="20000"/>
                        </a:spcBef>
                        <a:tabLst>
                          <a:tab pos="180975" algn="r"/>
                          <a:tab pos="2700338" algn="ctr"/>
                          <a:tab pos="5400675" algn="r"/>
                        </a:tabLst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defTabSz="1028700" eaLnBrk="0" hangingPunct="0">
                        <a:spcBef>
                          <a:spcPct val="20000"/>
                        </a:spcBef>
                        <a:tabLst>
                          <a:tab pos="180975" algn="r"/>
                          <a:tab pos="2700338" algn="ctr"/>
                          <a:tab pos="5400675" algn="r"/>
                        </a:tabLst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defTabSz="1028700" eaLnBrk="0" hangingPunct="0">
                        <a:spcBef>
                          <a:spcPct val="20000"/>
                        </a:spcBef>
                        <a:tabLst>
                          <a:tab pos="180975" algn="r"/>
                          <a:tab pos="2700338" algn="ctr"/>
                          <a:tab pos="5400675" algn="r"/>
                        </a:tabLst>
                        <a:defRPr sz="2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defTabSz="1028700" eaLnBrk="0" hangingPunct="0">
                        <a:spcBef>
                          <a:spcPct val="20000"/>
                        </a:spcBef>
                        <a:tabLst>
                          <a:tab pos="180975" algn="r"/>
                          <a:tab pos="2700338" algn="ctr"/>
                          <a:tab pos="5400675" algn="r"/>
                        </a:tabLst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defTabSz="1028700" eaLnBrk="0" hangingPunct="0">
                        <a:spcBef>
                          <a:spcPct val="20000"/>
                        </a:spcBef>
                        <a:tabLst>
                          <a:tab pos="180975" algn="r"/>
                          <a:tab pos="2700338" algn="ctr"/>
                          <a:tab pos="5400675" algn="r"/>
                        </a:tabLst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defTabSz="10287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80975" algn="r"/>
                          <a:tab pos="2700338" algn="ctr"/>
                          <a:tab pos="5400675" algn="r"/>
                        </a:tabLst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defTabSz="10287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80975" algn="r"/>
                          <a:tab pos="2700338" algn="ctr"/>
                          <a:tab pos="5400675" algn="r"/>
                        </a:tabLst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defTabSz="10287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80975" algn="r"/>
                          <a:tab pos="2700338" algn="ctr"/>
                          <a:tab pos="5400675" algn="r"/>
                        </a:tabLst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defTabSz="10287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80975" algn="r"/>
                          <a:tab pos="2700338" algn="ctr"/>
                          <a:tab pos="5400675" algn="r"/>
                        </a:tabLst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10287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80975" algn="r"/>
                          <a:tab pos="2700338" algn="ctr"/>
                          <a:tab pos="5400675" algn="r"/>
                        </a:tabLst>
                      </a:pPr>
                      <a:r>
                        <a:rPr kumimoji="0" lang="es-E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Ley de Henry-Faraday   </a:t>
                      </a:r>
                      <a:r>
                        <a:rPr kumimoji="0" lang="es-E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(Circulación o trabajo </a:t>
                      </a:r>
                      <a:r>
                        <a:rPr kumimoji="0" lang="es-E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E</a:t>
                      </a:r>
                      <a:r>
                        <a:rPr kumimoji="0" lang="es-E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defTabSz="1028700" eaLnBrk="0" hangingPunct="0">
                        <a:spcBef>
                          <a:spcPct val="20000"/>
                        </a:spcBef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defTabSz="1028700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defTabSz="1028700" eaLnBrk="0" hangingPunct="0">
                        <a:spcBef>
                          <a:spcPct val="20000"/>
                        </a:spcBef>
                        <a:defRPr sz="2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defTabSz="1028700" eaLnBrk="0" hangingPunct="0">
                        <a:spcBef>
                          <a:spcPct val="20000"/>
                        </a:spcBef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defTabSz="1028700" eaLnBrk="0" hangingPunct="0">
                        <a:spcBef>
                          <a:spcPct val="20000"/>
                        </a:spcBef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defTabSz="10287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defTabSz="10287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defTabSz="10287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defTabSz="10287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10287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1700">
                <a:tc>
                  <a:txBody>
                    <a:bodyPr/>
                    <a:lstStyle>
                      <a:lvl1pPr marL="385763" indent="-385763" defTabSz="1028700" eaLnBrk="0" hangingPunct="0">
                        <a:spcBef>
                          <a:spcPct val="20000"/>
                        </a:spcBef>
                        <a:tabLst>
                          <a:tab pos="180975" algn="r"/>
                          <a:tab pos="2700338" algn="ctr"/>
                          <a:tab pos="5400675" algn="r"/>
                        </a:tabLst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defTabSz="1028700" eaLnBrk="0" hangingPunct="0">
                        <a:spcBef>
                          <a:spcPct val="20000"/>
                        </a:spcBef>
                        <a:tabLst>
                          <a:tab pos="180975" algn="r"/>
                          <a:tab pos="2700338" algn="ctr"/>
                          <a:tab pos="5400675" algn="r"/>
                        </a:tabLst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defTabSz="1028700" eaLnBrk="0" hangingPunct="0">
                        <a:spcBef>
                          <a:spcPct val="20000"/>
                        </a:spcBef>
                        <a:tabLst>
                          <a:tab pos="180975" algn="r"/>
                          <a:tab pos="2700338" algn="ctr"/>
                          <a:tab pos="5400675" algn="r"/>
                        </a:tabLst>
                        <a:defRPr sz="2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defTabSz="1028700" eaLnBrk="0" hangingPunct="0">
                        <a:spcBef>
                          <a:spcPct val="20000"/>
                        </a:spcBef>
                        <a:tabLst>
                          <a:tab pos="180975" algn="r"/>
                          <a:tab pos="2700338" algn="ctr"/>
                          <a:tab pos="5400675" algn="r"/>
                        </a:tabLst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defTabSz="1028700" eaLnBrk="0" hangingPunct="0">
                        <a:spcBef>
                          <a:spcPct val="20000"/>
                        </a:spcBef>
                        <a:tabLst>
                          <a:tab pos="180975" algn="r"/>
                          <a:tab pos="2700338" algn="ctr"/>
                          <a:tab pos="5400675" algn="r"/>
                        </a:tabLst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defTabSz="10287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80975" algn="r"/>
                          <a:tab pos="2700338" algn="ctr"/>
                          <a:tab pos="5400675" algn="r"/>
                        </a:tabLst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defTabSz="10287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80975" algn="r"/>
                          <a:tab pos="2700338" algn="ctr"/>
                          <a:tab pos="5400675" algn="r"/>
                        </a:tabLst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defTabSz="10287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80975" algn="r"/>
                          <a:tab pos="2700338" algn="ctr"/>
                          <a:tab pos="5400675" algn="r"/>
                        </a:tabLst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defTabSz="10287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80975" algn="r"/>
                          <a:tab pos="2700338" algn="ctr"/>
                          <a:tab pos="5400675" algn="r"/>
                        </a:tabLst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10287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80975" algn="r"/>
                          <a:tab pos="2700338" algn="ctr"/>
                          <a:tab pos="5400675" algn="r"/>
                        </a:tabLst>
                      </a:pPr>
                      <a:r>
                        <a:rPr kumimoji="0" lang="es-E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Ley de </a:t>
                      </a:r>
                      <a:r>
                        <a:rPr kumimoji="0" lang="es-E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Ampére</a:t>
                      </a:r>
                      <a:r>
                        <a:rPr kumimoji="0" lang="es-E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-Maxwell (Circulación </a:t>
                      </a:r>
                      <a:r>
                        <a:rPr kumimoji="0" lang="es-E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B</a:t>
                      </a:r>
                      <a:r>
                        <a:rPr kumimoji="0" lang="es-E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defTabSz="1028700" eaLnBrk="0" hangingPunct="0">
                        <a:spcBef>
                          <a:spcPct val="20000"/>
                        </a:spcBef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defTabSz="1028700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defTabSz="1028700" eaLnBrk="0" hangingPunct="0">
                        <a:spcBef>
                          <a:spcPct val="20000"/>
                        </a:spcBef>
                        <a:defRPr sz="2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defTabSz="1028700" eaLnBrk="0" hangingPunct="0">
                        <a:spcBef>
                          <a:spcPct val="20000"/>
                        </a:spcBef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defTabSz="1028700" eaLnBrk="0" hangingPunct="0">
                        <a:spcBef>
                          <a:spcPct val="20000"/>
                        </a:spcBef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defTabSz="10287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defTabSz="10287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defTabSz="10287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defTabSz="10287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10287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54" name="Text Box 24"/>
          <p:cNvSpPr txBox="1">
            <a:spLocks noChangeArrowheads="1"/>
          </p:cNvSpPr>
          <p:nvPr/>
        </p:nvSpPr>
        <p:spPr bwMode="auto">
          <a:xfrm>
            <a:off x="1539468" y="838126"/>
            <a:ext cx="494032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1008063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1008063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1008063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1008063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1008063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10080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10080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10080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10080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(para el vacío en forma integral)</a:t>
            </a:r>
          </a:p>
        </p:txBody>
      </p:sp>
      <p:sp>
        <p:nvSpPr>
          <p:cNvPr id="9241" name="Rectangle 34"/>
          <p:cNvSpPr>
            <a:spLocks noChangeArrowheads="1"/>
          </p:cNvSpPr>
          <p:nvPr/>
        </p:nvSpPr>
        <p:spPr bwMode="auto">
          <a:xfrm>
            <a:off x="1288288" y="382397"/>
            <a:ext cx="8496300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569" tIns="49785" rIns="99569" bIns="49785" anchor="ctr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solidFill>
                  <a:srgbClr val="CC0000"/>
                </a:solidFill>
                <a:latin typeface="Arial" panose="020B0604020202020204" pitchFamily="34" charset="0"/>
              </a:rPr>
              <a:t>5.5 ECS. DE MAXWELL: ONDAS ELECTROMAGNÉTICAS</a:t>
            </a:r>
          </a:p>
        </p:txBody>
      </p:sp>
      <p:sp>
        <p:nvSpPr>
          <p:cNvPr id="24" name="Text Box 38"/>
          <p:cNvSpPr txBox="1">
            <a:spLocks noChangeArrowheads="1"/>
          </p:cNvSpPr>
          <p:nvPr/>
        </p:nvSpPr>
        <p:spPr bwMode="auto">
          <a:xfrm>
            <a:off x="1463075" y="5190818"/>
            <a:ext cx="6569879" cy="1659085"/>
          </a:xfrm>
          <a:prstGeom prst="rect">
            <a:avLst/>
          </a:prstGeom>
          <a:noFill/>
          <a:ln>
            <a:noFill/>
          </a:ln>
        </p:spPr>
        <p:txBody>
          <a:bodyPr wrap="square" lIns="144000" tIns="72000" rIns="144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 Con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ellas, añadiendo la ecuación que aporta el valor de la </a:t>
            </a: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fuerza electromagnética</a:t>
            </a:r>
          </a:p>
          <a:p>
            <a:pPr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s-ES" sz="2400" dirty="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Fuerza de Lorentz)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,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se puede describir cualquier fenómeno electromagnético</a:t>
            </a:r>
            <a:endParaRPr lang="es-ES" sz="2400" dirty="0">
              <a:solidFill>
                <a:srgbClr val="FF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grpSp>
        <p:nvGrpSpPr>
          <p:cNvPr id="5" name="Grupo 4"/>
          <p:cNvGrpSpPr/>
          <p:nvPr/>
        </p:nvGrpSpPr>
        <p:grpSpPr>
          <a:xfrm>
            <a:off x="7358517" y="5869099"/>
            <a:ext cx="2387833" cy="676587"/>
            <a:chOff x="5197951" y="6454740"/>
            <a:chExt cx="2387833" cy="676587"/>
          </a:xfrm>
        </p:grpSpPr>
        <p:sp>
          <p:nvSpPr>
            <p:cNvPr id="4" name="Rectángulo 3"/>
            <p:cNvSpPr/>
            <p:nvPr/>
          </p:nvSpPr>
          <p:spPr bwMode="auto">
            <a:xfrm>
              <a:off x="5197951" y="6454740"/>
              <a:ext cx="2387833" cy="676587"/>
            </a:xfrm>
            <a:prstGeom prst="rect">
              <a:avLst/>
            </a:prstGeom>
            <a:solidFill>
              <a:srgbClr val="99CCFF"/>
            </a:solidFill>
            <a:ln w="25400" cap="flat" cmpd="sng" algn="ctr">
              <a:noFill/>
              <a:prstDash val="solid"/>
              <a:round/>
              <a:headEnd type="none" w="med" len="med"/>
              <a:tailEnd type="none" w="lg" len="lg"/>
            </a:ln>
            <a:effectLst/>
          </p:spPr>
          <p:txBody>
            <a:bodyPr vert="horz" wrap="none" lIns="90000" tIns="82800" rIns="90000" bIns="82800" numCol="1" rtlCol="0" anchor="t" anchorCtr="1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-2500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graphicFrame>
          <p:nvGraphicFramePr>
            <p:cNvPr id="25" name="Object 57"/>
            <p:cNvGraphicFramePr>
              <a:graphicFrameLocks noChangeAspect="1"/>
            </p:cNvGraphicFramePr>
            <p:nvPr/>
          </p:nvGraphicFramePr>
          <p:xfrm>
            <a:off x="5278431" y="6524313"/>
            <a:ext cx="2245414" cy="5338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11" imgW="1015920" imgH="241200" progId="Equation.3">
                    <p:embed/>
                  </p:oleObj>
                </mc:Choice>
                <mc:Fallback>
                  <p:oleObj name="Ecuación" r:id="rId11" imgW="1015920" imgH="241200" progId="Equation.3">
                    <p:embed/>
                    <p:pic>
                      <p:nvPicPr>
                        <p:cNvPr id="25" name="Object 5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78431" y="6524313"/>
                          <a:ext cx="2245414" cy="5338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Text Box 24">
            <a:extLst>
              <a:ext uri="{FF2B5EF4-FFF2-40B4-BE49-F238E27FC236}">
                <a16:creationId xmlns:a16="http://schemas.microsoft.com/office/drawing/2014/main" id="{3E9B53B9-08C9-9D7E-5C62-A5E1B8FC27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3546" y="2382826"/>
            <a:ext cx="280548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1008063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1008063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1008063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1008063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1008063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10080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10080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10080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10080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(se dice que </a:t>
            </a:r>
            <a:r>
              <a:rPr lang="es-ES" sz="2400" b="1">
                <a:solidFill>
                  <a:srgbClr val="FF0000"/>
                </a:solidFill>
                <a:latin typeface="Arial" panose="020B0604020202020204" pitchFamily="34" charset="0"/>
              </a:rPr>
              <a:t>B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 es solenoidal)</a:t>
            </a:r>
            <a:endParaRPr lang="es-ES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6117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2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 animBg="1"/>
      <p:bldP spid="1054" grpId="0"/>
      <p:bldP spid="24" grpId="0"/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8" name="Text Box 59"/>
          <p:cNvSpPr txBox="1">
            <a:spLocks noChangeArrowheads="1"/>
          </p:cNvSpPr>
          <p:nvPr/>
        </p:nvSpPr>
        <p:spPr bwMode="auto">
          <a:xfrm>
            <a:off x="1185862" y="4816290"/>
            <a:ext cx="9147175" cy="905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CC99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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Reflejan que </a:t>
            </a:r>
            <a:r>
              <a:rPr lang="es-ES" sz="2400" dirty="0">
                <a:solidFill>
                  <a:srgbClr val="008000"/>
                </a:solidFill>
                <a:latin typeface="Arial" panose="020B0604020202020204" pitchFamily="34" charset="0"/>
              </a:rPr>
              <a:t>Electricidad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y </a:t>
            </a:r>
            <a:r>
              <a:rPr lang="es-ES" sz="2400" dirty="0">
                <a:solidFill>
                  <a:srgbClr val="008000"/>
                </a:solidFill>
                <a:latin typeface="Arial" panose="020B0604020202020204" pitchFamily="34" charset="0"/>
              </a:rPr>
              <a:t>Magnetismo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están relacionados,                        que son parte de una misma realidad. Se habla, por ello, de:</a:t>
            </a:r>
            <a:endParaRPr lang="es-ES" sz="2400" dirty="0">
              <a:latin typeface="Arial" panose="020B0604020202020204" pitchFamily="34" charset="0"/>
            </a:endParaRPr>
          </a:p>
        </p:txBody>
      </p:sp>
      <p:graphicFrame>
        <p:nvGraphicFramePr>
          <p:cNvPr id="49" name="Object 6"/>
          <p:cNvGraphicFramePr>
            <a:graphicFrameLocks noChangeAspect="1"/>
          </p:cNvGraphicFramePr>
          <p:nvPr/>
        </p:nvGraphicFramePr>
        <p:xfrm>
          <a:off x="5277739" y="3690213"/>
          <a:ext cx="4576763" cy="1030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3" imgW="1954951" imgH="444307" progId="Equation.3">
                  <p:embed/>
                </p:oleObj>
              </mc:Choice>
              <mc:Fallback>
                <p:oleObj name="Ecuación" r:id="rId3" imgW="1954951" imgH="444307" progId="Equation.3">
                  <p:embed/>
                  <p:pic>
                    <p:nvPicPr>
                      <p:cNvPr id="49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77739" y="3690213"/>
                        <a:ext cx="4576763" cy="1030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Object 5"/>
          <p:cNvGraphicFramePr>
            <a:graphicFrameLocks noChangeAspect="1"/>
          </p:cNvGraphicFramePr>
          <p:nvPr/>
        </p:nvGraphicFramePr>
        <p:xfrm>
          <a:off x="5277739" y="2836138"/>
          <a:ext cx="2919413" cy="966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5" imgW="1333500" imgH="444500" progId="Equation.3">
                  <p:embed/>
                </p:oleObj>
              </mc:Choice>
              <mc:Fallback>
                <p:oleObj name="Ecuación" r:id="rId5" imgW="1333500" imgH="444500" progId="Equation.3">
                  <p:embed/>
                  <p:pic>
                    <p:nvPicPr>
                      <p:cNvPr id="48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77739" y="2836138"/>
                        <a:ext cx="2919413" cy="966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Object 4"/>
          <p:cNvGraphicFramePr>
            <a:graphicFrameLocks noChangeAspect="1"/>
          </p:cNvGraphicFramePr>
          <p:nvPr/>
        </p:nvGraphicFramePr>
        <p:xfrm>
          <a:off x="5277739" y="2028101"/>
          <a:ext cx="1651000" cy="868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7" imgW="723586" imgH="380835" progId="Equation.3">
                  <p:embed/>
                </p:oleObj>
              </mc:Choice>
              <mc:Fallback>
                <p:oleObj name="Ecuación" r:id="rId7" imgW="723586" imgH="380835" progId="Equation.3">
                  <p:embed/>
                  <p:pic>
                    <p:nvPicPr>
                      <p:cNvPr id="47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77739" y="2028101"/>
                        <a:ext cx="1651000" cy="868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Object 2"/>
          <p:cNvGraphicFramePr>
            <a:graphicFrameLocks noChangeAspect="1"/>
          </p:cNvGraphicFramePr>
          <p:nvPr/>
        </p:nvGraphicFramePr>
        <p:xfrm>
          <a:off x="5277739" y="1037501"/>
          <a:ext cx="1739900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9" imgW="799753" imgH="444307" progId="Equation.3">
                  <p:embed/>
                </p:oleObj>
              </mc:Choice>
              <mc:Fallback>
                <p:oleObj name="Ecuación" r:id="rId9" imgW="799753" imgH="444307" progId="Equation.3">
                  <p:embed/>
                  <p:pic>
                    <p:nvPicPr>
                      <p:cNvPr id="4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77739" y="1037501"/>
                        <a:ext cx="1739900" cy="958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Group 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5804745"/>
              </p:ext>
            </p:extLst>
          </p:nvPr>
        </p:nvGraphicFramePr>
        <p:xfrm>
          <a:off x="1407160" y="1067663"/>
          <a:ext cx="8747887" cy="3603625"/>
        </p:xfrm>
        <a:graphic>
          <a:graphicData uri="http://schemas.openxmlformats.org/drawingml/2006/table">
            <a:tbl>
              <a:tblPr/>
              <a:tblGrid>
                <a:gridCol w="3567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07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01700">
                <a:tc>
                  <a:txBody>
                    <a:bodyPr/>
                    <a:lstStyle>
                      <a:lvl1pPr marL="385763" indent="-385763" defTabSz="1028700" eaLnBrk="0" hangingPunct="0">
                        <a:spcBef>
                          <a:spcPct val="20000"/>
                        </a:spcBef>
                        <a:tabLst>
                          <a:tab pos="180975" algn="r"/>
                          <a:tab pos="2700338" algn="ctr"/>
                          <a:tab pos="5400675" algn="r"/>
                        </a:tabLst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defTabSz="1028700" eaLnBrk="0" hangingPunct="0">
                        <a:spcBef>
                          <a:spcPct val="20000"/>
                        </a:spcBef>
                        <a:tabLst>
                          <a:tab pos="180975" algn="r"/>
                          <a:tab pos="2700338" algn="ctr"/>
                          <a:tab pos="5400675" algn="r"/>
                        </a:tabLst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defTabSz="1028700" eaLnBrk="0" hangingPunct="0">
                        <a:spcBef>
                          <a:spcPct val="20000"/>
                        </a:spcBef>
                        <a:tabLst>
                          <a:tab pos="180975" algn="r"/>
                          <a:tab pos="2700338" algn="ctr"/>
                          <a:tab pos="5400675" algn="r"/>
                        </a:tabLst>
                        <a:defRPr sz="2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defTabSz="1028700" eaLnBrk="0" hangingPunct="0">
                        <a:spcBef>
                          <a:spcPct val="20000"/>
                        </a:spcBef>
                        <a:tabLst>
                          <a:tab pos="180975" algn="r"/>
                          <a:tab pos="2700338" algn="ctr"/>
                          <a:tab pos="5400675" algn="r"/>
                        </a:tabLst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defTabSz="1028700" eaLnBrk="0" hangingPunct="0">
                        <a:spcBef>
                          <a:spcPct val="20000"/>
                        </a:spcBef>
                        <a:tabLst>
                          <a:tab pos="180975" algn="r"/>
                          <a:tab pos="2700338" algn="ctr"/>
                          <a:tab pos="5400675" algn="r"/>
                        </a:tabLst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defTabSz="10287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80975" algn="r"/>
                          <a:tab pos="2700338" algn="ctr"/>
                          <a:tab pos="5400675" algn="r"/>
                        </a:tabLst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defTabSz="10287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80975" algn="r"/>
                          <a:tab pos="2700338" algn="ctr"/>
                          <a:tab pos="5400675" algn="r"/>
                        </a:tabLst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defTabSz="10287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80975" algn="r"/>
                          <a:tab pos="2700338" algn="ctr"/>
                          <a:tab pos="5400675" algn="r"/>
                        </a:tabLst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defTabSz="10287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80975" algn="r"/>
                          <a:tab pos="2700338" algn="ctr"/>
                          <a:tab pos="5400675" algn="r"/>
                        </a:tabLst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10287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80975" algn="r"/>
                          <a:tab pos="2700338" algn="ctr"/>
                          <a:tab pos="5400675" algn="r"/>
                        </a:tabLst>
                      </a:pPr>
                      <a:r>
                        <a:rPr kumimoji="0" lang="es-E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Ley de Gauss para </a:t>
                      </a:r>
                      <a:r>
                        <a:rPr kumimoji="0" lang="es-E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E </a:t>
                      </a:r>
                      <a:r>
                        <a:rPr kumimoji="0" lang="es-E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(Flujo </a:t>
                      </a:r>
                      <a:r>
                        <a:rPr kumimoji="0" lang="es-E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E</a:t>
                      </a:r>
                      <a:r>
                        <a:rPr kumimoji="0" lang="es-E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defTabSz="1028700" eaLnBrk="0" hangingPunct="0">
                        <a:spcBef>
                          <a:spcPct val="20000"/>
                        </a:spcBef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defTabSz="1028700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defTabSz="1028700" eaLnBrk="0" hangingPunct="0">
                        <a:spcBef>
                          <a:spcPct val="20000"/>
                        </a:spcBef>
                        <a:defRPr sz="2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defTabSz="1028700" eaLnBrk="0" hangingPunct="0">
                        <a:spcBef>
                          <a:spcPct val="20000"/>
                        </a:spcBef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defTabSz="1028700" eaLnBrk="0" hangingPunct="0">
                        <a:spcBef>
                          <a:spcPct val="20000"/>
                        </a:spcBef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defTabSz="10287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defTabSz="10287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defTabSz="10287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defTabSz="10287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10287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1700">
                <a:tc>
                  <a:txBody>
                    <a:bodyPr/>
                    <a:lstStyle>
                      <a:lvl1pPr marL="385763" indent="-385763" defTabSz="1028700" eaLnBrk="0" hangingPunct="0">
                        <a:spcBef>
                          <a:spcPct val="20000"/>
                        </a:spcBef>
                        <a:tabLst>
                          <a:tab pos="180975" algn="r"/>
                          <a:tab pos="2700338" algn="ctr"/>
                          <a:tab pos="5400675" algn="r"/>
                        </a:tabLst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defTabSz="1028700" eaLnBrk="0" hangingPunct="0">
                        <a:spcBef>
                          <a:spcPct val="20000"/>
                        </a:spcBef>
                        <a:tabLst>
                          <a:tab pos="180975" algn="r"/>
                          <a:tab pos="2700338" algn="ctr"/>
                          <a:tab pos="5400675" algn="r"/>
                        </a:tabLst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defTabSz="1028700" eaLnBrk="0" hangingPunct="0">
                        <a:spcBef>
                          <a:spcPct val="20000"/>
                        </a:spcBef>
                        <a:tabLst>
                          <a:tab pos="180975" algn="r"/>
                          <a:tab pos="2700338" algn="ctr"/>
                          <a:tab pos="5400675" algn="r"/>
                        </a:tabLst>
                        <a:defRPr sz="2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defTabSz="1028700" eaLnBrk="0" hangingPunct="0">
                        <a:spcBef>
                          <a:spcPct val="20000"/>
                        </a:spcBef>
                        <a:tabLst>
                          <a:tab pos="180975" algn="r"/>
                          <a:tab pos="2700338" algn="ctr"/>
                          <a:tab pos="5400675" algn="r"/>
                        </a:tabLst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defTabSz="1028700" eaLnBrk="0" hangingPunct="0">
                        <a:spcBef>
                          <a:spcPct val="20000"/>
                        </a:spcBef>
                        <a:tabLst>
                          <a:tab pos="180975" algn="r"/>
                          <a:tab pos="2700338" algn="ctr"/>
                          <a:tab pos="5400675" algn="r"/>
                        </a:tabLst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defTabSz="10287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80975" algn="r"/>
                          <a:tab pos="2700338" algn="ctr"/>
                          <a:tab pos="5400675" algn="r"/>
                        </a:tabLst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defTabSz="10287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80975" algn="r"/>
                          <a:tab pos="2700338" algn="ctr"/>
                          <a:tab pos="5400675" algn="r"/>
                        </a:tabLst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defTabSz="10287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80975" algn="r"/>
                          <a:tab pos="2700338" algn="ctr"/>
                          <a:tab pos="5400675" algn="r"/>
                        </a:tabLst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defTabSz="10287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80975" algn="r"/>
                          <a:tab pos="2700338" algn="ctr"/>
                          <a:tab pos="5400675" algn="r"/>
                        </a:tabLst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10287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80975" algn="r"/>
                          <a:tab pos="2700338" algn="ctr"/>
                          <a:tab pos="5400675" algn="r"/>
                        </a:tabLst>
                      </a:pPr>
                      <a:r>
                        <a:rPr kumimoji="0" lang="es-E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Ley de Gauss para </a:t>
                      </a:r>
                      <a:r>
                        <a:rPr kumimoji="0" lang="es-E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B </a:t>
                      </a:r>
                      <a:r>
                        <a:rPr kumimoji="0" lang="es-E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(Flujo </a:t>
                      </a:r>
                      <a:r>
                        <a:rPr kumimoji="0" lang="es-E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B</a:t>
                      </a:r>
                      <a:r>
                        <a:rPr kumimoji="0" lang="es-E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) 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defTabSz="1028700" eaLnBrk="0" hangingPunct="0">
                        <a:spcBef>
                          <a:spcPct val="20000"/>
                        </a:spcBef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defTabSz="1028700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defTabSz="1028700" eaLnBrk="0" hangingPunct="0">
                        <a:spcBef>
                          <a:spcPct val="20000"/>
                        </a:spcBef>
                        <a:defRPr sz="2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defTabSz="1028700" eaLnBrk="0" hangingPunct="0">
                        <a:spcBef>
                          <a:spcPct val="20000"/>
                        </a:spcBef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defTabSz="1028700" eaLnBrk="0" hangingPunct="0">
                        <a:spcBef>
                          <a:spcPct val="20000"/>
                        </a:spcBef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defTabSz="10287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defTabSz="10287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defTabSz="10287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defTabSz="10287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10287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8525">
                <a:tc>
                  <a:txBody>
                    <a:bodyPr/>
                    <a:lstStyle>
                      <a:lvl1pPr marL="385763" indent="-385763" defTabSz="1028700" eaLnBrk="0" hangingPunct="0">
                        <a:spcBef>
                          <a:spcPct val="20000"/>
                        </a:spcBef>
                        <a:tabLst>
                          <a:tab pos="180975" algn="r"/>
                          <a:tab pos="2700338" algn="ctr"/>
                          <a:tab pos="5400675" algn="r"/>
                        </a:tabLst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defTabSz="1028700" eaLnBrk="0" hangingPunct="0">
                        <a:spcBef>
                          <a:spcPct val="20000"/>
                        </a:spcBef>
                        <a:tabLst>
                          <a:tab pos="180975" algn="r"/>
                          <a:tab pos="2700338" algn="ctr"/>
                          <a:tab pos="5400675" algn="r"/>
                        </a:tabLst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defTabSz="1028700" eaLnBrk="0" hangingPunct="0">
                        <a:spcBef>
                          <a:spcPct val="20000"/>
                        </a:spcBef>
                        <a:tabLst>
                          <a:tab pos="180975" algn="r"/>
                          <a:tab pos="2700338" algn="ctr"/>
                          <a:tab pos="5400675" algn="r"/>
                        </a:tabLst>
                        <a:defRPr sz="2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defTabSz="1028700" eaLnBrk="0" hangingPunct="0">
                        <a:spcBef>
                          <a:spcPct val="20000"/>
                        </a:spcBef>
                        <a:tabLst>
                          <a:tab pos="180975" algn="r"/>
                          <a:tab pos="2700338" algn="ctr"/>
                          <a:tab pos="5400675" algn="r"/>
                        </a:tabLst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defTabSz="1028700" eaLnBrk="0" hangingPunct="0">
                        <a:spcBef>
                          <a:spcPct val="20000"/>
                        </a:spcBef>
                        <a:tabLst>
                          <a:tab pos="180975" algn="r"/>
                          <a:tab pos="2700338" algn="ctr"/>
                          <a:tab pos="5400675" algn="r"/>
                        </a:tabLst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defTabSz="10287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80975" algn="r"/>
                          <a:tab pos="2700338" algn="ctr"/>
                          <a:tab pos="5400675" algn="r"/>
                        </a:tabLst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defTabSz="10287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80975" algn="r"/>
                          <a:tab pos="2700338" algn="ctr"/>
                          <a:tab pos="5400675" algn="r"/>
                        </a:tabLst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defTabSz="10287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80975" algn="r"/>
                          <a:tab pos="2700338" algn="ctr"/>
                          <a:tab pos="5400675" algn="r"/>
                        </a:tabLst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defTabSz="10287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80975" algn="r"/>
                          <a:tab pos="2700338" algn="ctr"/>
                          <a:tab pos="5400675" algn="r"/>
                        </a:tabLst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10287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80975" algn="r"/>
                          <a:tab pos="2700338" algn="ctr"/>
                          <a:tab pos="5400675" algn="r"/>
                        </a:tabLst>
                      </a:pPr>
                      <a:r>
                        <a:rPr kumimoji="0" lang="es-E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Ley de Henry-Faraday   (Circulación o trabajo </a:t>
                      </a:r>
                      <a:r>
                        <a:rPr kumimoji="0" lang="es-E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E</a:t>
                      </a:r>
                      <a:r>
                        <a:rPr kumimoji="0" lang="es-E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defTabSz="1028700" eaLnBrk="0" hangingPunct="0">
                        <a:spcBef>
                          <a:spcPct val="20000"/>
                        </a:spcBef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defTabSz="1028700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defTabSz="1028700" eaLnBrk="0" hangingPunct="0">
                        <a:spcBef>
                          <a:spcPct val="20000"/>
                        </a:spcBef>
                        <a:defRPr sz="2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defTabSz="1028700" eaLnBrk="0" hangingPunct="0">
                        <a:spcBef>
                          <a:spcPct val="20000"/>
                        </a:spcBef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defTabSz="1028700" eaLnBrk="0" hangingPunct="0">
                        <a:spcBef>
                          <a:spcPct val="20000"/>
                        </a:spcBef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defTabSz="10287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defTabSz="10287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defTabSz="10287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defTabSz="10287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10287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1700">
                <a:tc>
                  <a:txBody>
                    <a:bodyPr/>
                    <a:lstStyle>
                      <a:lvl1pPr marL="385763" indent="-385763" defTabSz="1028700" eaLnBrk="0" hangingPunct="0">
                        <a:spcBef>
                          <a:spcPct val="20000"/>
                        </a:spcBef>
                        <a:tabLst>
                          <a:tab pos="180975" algn="r"/>
                          <a:tab pos="2700338" algn="ctr"/>
                          <a:tab pos="5400675" algn="r"/>
                        </a:tabLst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defTabSz="1028700" eaLnBrk="0" hangingPunct="0">
                        <a:spcBef>
                          <a:spcPct val="20000"/>
                        </a:spcBef>
                        <a:tabLst>
                          <a:tab pos="180975" algn="r"/>
                          <a:tab pos="2700338" algn="ctr"/>
                          <a:tab pos="5400675" algn="r"/>
                        </a:tabLst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defTabSz="1028700" eaLnBrk="0" hangingPunct="0">
                        <a:spcBef>
                          <a:spcPct val="20000"/>
                        </a:spcBef>
                        <a:tabLst>
                          <a:tab pos="180975" algn="r"/>
                          <a:tab pos="2700338" algn="ctr"/>
                          <a:tab pos="5400675" algn="r"/>
                        </a:tabLst>
                        <a:defRPr sz="2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defTabSz="1028700" eaLnBrk="0" hangingPunct="0">
                        <a:spcBef>
                          <a:spcPct val="20000"/>
                        </a:spcBef>
                        <a:tabLst>
                          <a:tab pos="180975" algn="r"/>
                          <a:tab pos="2700338" algn="ctr"/>
                          <a:tab pos="5400675" algn="r"/>
                        </a:tabLst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defTabSz="1028700" eaLnBrk="0" hangingPunct="0">
                        <a:spcBef>
                          <a:spcPct val="20000"/>
                        </a:spcBef>
                        <a:tabLst>
                          <a:tab pos="180975" algn="r"/>
                          <a:tab pos="2700338" algn="ctr"/>
                          <a:tab pos="5400675" algn="r"/>
                        </a:tabLst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defTabSz="10287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80975" algn="r"/>
                          <a:tab pos="2700338" algn="ctr"/>
                          <a:tab pos="5400675" algn="r"/>
                        </a:tabLst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defTabSz="10287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80975" algn="r"/>
                          <a:tab pos="2700338" algn="ctr"/>
                          <a:tab pos="5400675" algn="r"/>
                        </a:tabLst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defTabSz="10287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80975" algn="r"/>
                          <a:tab pos="2700338" algn="ctr"/>
                          <a:tab pos="5400675" algn="r"/>
                        </a:tabLst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defTabSz="10287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80975" algn="r"/>
                          <a:tab pos="2700338" algn="ctr"/>
                          <a:tab pos="5400675" algn="r"/>
                        </a:tabLst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10287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80975" algn="r"/>
                          <a:tab pos="2700338" algn="ctr"/>
                          <a:tab pos="5400675" algn="r"/>
                        </a:tabLst>
                      </a:pPr>
                      <a:r>
                        <a:rPr kumimoji="0" lang="es-E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Ley de Ampére-Maxwell (Circulación </a:t>
                      </a:r>
                      <a:r>
                        <a:rPr kumimoji="0" lang="es-E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B</a:t>
                      </a:r>
                      <a:r>
                        <a:rPr kumimoji="0" lang="es-E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defTabSz="1028700" eaLnBrk="0" hangingPunct="0">
                        <a:spcBef>
                          <a:spcPct val="20000"/>
                        </a:spcBef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defTabSz="1028700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defTabSz="1028700" eaLnBrk="0" hangingPunct="0">
                        <a:spcBef>
                          <a:spcPct val="20000"/>
                        </a:spcBef>
                        <a:defRPr sz="2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defTabSz="1028700" eaLnBrk="0" hangingPunct="0">
                        <a:spcBef>
                          <a:spcPct val="20000"/>
                        </a:spcBef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defTabSz="1028700" eaLnBrk="0" hangingPunct="0">
                        <a:spcBef>
                          <a:spcPct val="20000"/>
                        </a:spcBef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defTabSz="10287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defTabSz="10287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defTabSz="10287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defTabSz="10287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10287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2" name="Group 64"/>
          <p:cNvGrpSpPr>
            <a:grpSpLocks/>
          </p:cNvGrpSpPr>
          <p:nvPr/>
        </p:nvGrpSpPr>
        <p:grpSpPr bwMode="auto">
          <a:xfrm>
            <a:off x="5441157" y="1069747"/>
            <a:ext cx="1552575" cy="590550"/>
            <a:chOff x="3398" y="1531"/>
            <a:chExt cx="978" cy="372"/>
          </a:xfrm>
        </p:grpSpPr>
        <p:sp>
          <p:nvSpPr>
            <p:cNvPr id="11317" name="Oval 34"/>
            <p:cNvSpPr>
              <a:spLocks noChangeArrowheads="1"/>
            </p:cNvSpPr>
            <p:nvPr/>
          </p:nvSpPr>
          <p:spPr bwMode="auto">
            <a:xfrm>
              <a:off x="4104" y="1531"/>
              <a:ext cx="272" cy="272"/>
            </a:xfrm>
            <a:prstGeom prst="ellipse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318" name="Oval 36"/>
            <p:cNvSpPr>
              <a:spLocks noChangeArrowheads="1"/>
            </p:cNvSpPr>
            <p:nvPr/>
          </p:nvSpPr>
          <p:spPr bwMode="auto">
            <a:xfrm>
              <a:off x="3398" y="1631"/>
              <a:ext cx="272" cy="272"/>
            </a:xfrm>
            <a:prstGeom prst="ellipse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319" name="Freeform 44"/>
            <p:cNvSpPr>
              <a:spLocks/>
            </p:cNvSpPr>
            <p:nvPr/>
          </p:nvSpPr>
          <p:spPr bwMode="auto">
            <a:xfrm>
              <a:off x="3653" y="1532"/>
              <a:ext cx="452" cy="65"/>
            </a:xfrm>
            <a:custGeom>
              <a:avLst/>
              <a:gdLst>
                <a:gd name="T0" fmla="*/ 452 w 452"/>
                <a:gd name="T1" fmla="*/ 22 h 65"/>
                <a:gd name="T2" fmla="*/ 175 w 452"/>
                <a:gd name="T3" fmla="*/ 7 h 65"/>
                <a:gd name="T4" fmla="*/ 0 w 452"/>
                <a:gd name="T5" fmla="*/ 65 h 65"/>
                <a:gd name="T6" fmla="*/ 0 60000 65536"/>
                <a:gd name="T7" fmla="*/ 0 60000 65536"/>
                <a:gd name="T8" fmla="*/ 0 60000 65536"/>
                <a:gd name="T9" fmla="*/ 0 w 452"/>
                <a:gd name="T10" fmla="*/ 0 h 65"/>
                <a:gd name="T11" fmla="*/ 452 w 452"/>
                <a:gd name="T12" fmla="*/ 65 h 6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52" h="65">
                  <a:moveTo>
                    <a:pt x="452" y="22"/>
                  </a:moveTo>
                  <a:cubicBezTo>
                    <a:pt x="351" y="11"/>
                    <a:pt x="250" y="0"/>
                    <a:pt x="175" y="7"/>
                  </a:cubicBezTo>
                  <a:cubicBezTo>
                    <a:pt x="100" y="14"/>
                    <a:pt x="50" y="39"/>
                    <a:pt x="0" y="65"/>
                  </a:cubicBez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82800" rIns="90000" bIns="82800" anchorCtr="1"/>
            <a:lstStyle/>
            <a:p>
              <a:endParaRPr lang="en-GB"/>
            </a:p>
          </p:txBody>
        </p:sp>
      </p:grpSp>
      <p:grpSp>
        <p:nvGrpSpPr>
          <p:cNvPr id="3" name="Group 56"/>
          <p:cNvGrpSpPr>
            <a:grpSpLocks/>
          </p:cNvGrpSpPr>
          <p:nvPr/>
        </p:nvGrpSpPr>
        <p:grpSpPr bwMode="auto">
          <a:xfrm>
            <a:off x="5411789" y="2993399"/>
            <a:ext cx="2286000" cy="752475"/>
            <a:chOff x="3405" y="3037"/>
            <a:chExt cx="1440" cy="474"/>
          </a:xfrm>
        </p:grpSpPr>
        <p:sp>
          <p:nvSpPr>
            <p:cNvPr id="11314" name="Oval 37"/>
            <p:cNvSpPr>
              <a:spLocks noChangeArrowheads="1"/>
            </p:cNvSpPr>
            <p:nvPr/>
          </p:nvSpPr>
          <p:spPr bwMode="auto">
            <a:xfrm>
              <a:off x="3405" y="3051"/>
              <a:ext cx="272" cy="272"/>
            </a:xfrm>
            <a:prstGeom prst="ellipse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315" name="Freeform 41"/>
            <p:cNvSpPr>
              <a:spLocks/>
            </p:cNvSpPr>
            <p:nvPr/>
          </p:nvSpPr>
          <p:spPr bwMode="auto">
            <a:xfrm>
              <a:off x="4349" y="3037"/>
              <a:ext cx="496" cy="474"/>
            </a:xfrm>
            <a:custGeom>
              <a:avLst/>
              <a:gdLst>
                <a:gd name="T0" fmla="*/ 292 w 496"/>
                <a:gd name="T1" fmla="*/ 0 h 474"/>
                <a:gd name="T2" fmla="*/ 496 w 496"/>
                <a:gd name="T3" fmla="*/ 0 h 474"/>
                <a:gd name="T4" fmla="*/ 496 w 496"/>
                <a:gd name="T5" fmla="*/ 256 h 474"/>
                <a:gd name="T6" fmla="*/ 132 w 496"/>
                <a:gd name="T7" fmla="*/ 474 h 474"/>
                <a:gd name="T8" fmla="*/ 8 w 496"/>
                <a:gd name="T9" fmla="*/ 474 h 474"/>
                <a:gd name="T10" fmla="*/ 0 w 496"/>
                <a:gd name="T11" fmla="*/ 212 h 474"/>
                <a:gd name="T12" fmla="*/ 292 w 496"/>
                <a:gd name="T13" fmla="*/ 0 h 47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96"/>
                <a:gd name="T22" fmla="*/ 0 h 474"/>
                <a:gd name="T23" fmla="*/ 496 w 496"/>
                <a:gd name="T24" fmla="*/ 474 h 47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96" h="474">
                  <a:moveTo>
                    <a:pt x="292" y="0"/>
                  </a:moveTo>
                  <a:lnTo>
                    <a:pt x="496" y="0"/>
                  </a:lnTo>
                  <a:lnTo>
                    <a:pt x="496" y="256"/>
                  </a:lnTo>
                  <a:lnTo>
                    <a:pt x="132" y="474"/>
                  </a:lnTo>
                  <a:lnTo>
                    <a:pt x="8" y="474"/>
                  </a:lnTo>
                  <a:lnTo>
                    <a:pt x="0" y="212"/>
                  </a:lnTo>
                  <a:lnTo>
                    <a:pt x="292" y="0"/>
                  </a:lnTo>
                  <a:close/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82800" rIns="90000" bIns="82800" anchorCtr="1"/>
            <a:lstStyle/>
            <a:p>
              <a:endParaRPr lang="en-GB"/>
            </a:p>
          </p:txBody>
        </p:sp>
        <p:sp>
          <p:nvSpPr>
            <p:cNvPr id="11316" name="Freeform 45"/>
            <p:cNvSpPr>
              <a:spLocks/>
            </p:cNvSpPr>
            <p:nvPr/>
          </p:nvSpPr>
          <p:spPr bwMode="auto">
            <a:xfrm>
              <a:off x="3697" y="3369"/>
              <a:ext cx="561" cy="71"/>
            </a:xfrm>
            <a:custGeom>
              <a:avLst/>
              <a:gdLst>
                <a:gd name="T0" fmla="*/ 561 w 561"/>
                <a:gd name="T1" fmla="*/ 36 h 71"/>
                <a:gd name="T2" fmla="*/ 240 w 561"/>
                <a:gd name="T3" fmla="*/ 65 h 71"/>
                <a:gd name="T4" fmla="*/ 0 w 561"/>
                <a:gd name="T5" fmla="*/ 0 h 71"/>
                <a:gd name="T6" fmla="*/ 0 60000 65536"/>
                <a:gd name="T7" fmla="*/ 0 60000 65536"/>
                <a:gd name="T8" fmla="*/ 0 60000 65536"/>
                <a:gd name="T9" fmla="*/ 0 w 561"/>
                <a:gd name="T10" fmla="*/ 0 h 71"/>
                <a:gd name="T11" fmla="*/ 561 w 561"/>
                <a:gd name="T12" fmla="*/ 71 h 7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61" h="71">
                  <a:moveTo>
                    <a:pt x="561" y="36"/>
                  </a:moveTo>
                  <a:cubicBezTo>
                    <a:pt x="447" y="53"/>
                    <a:pt x="333" y="71"/>
                    <a:pt x="240" y="65"/>
                  </a:cubicBezTo>
                  <a:cubicBezTo>
                    <a:pt x="147" y="59"/>
                    <a:pt x="73" y="29"/>
                    <a:pt x="0" y="0"/>
                  </a:cubicBez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82800" rIns="90000" bIns="82800" anchorCtr="1"/>
            <a:lstStyle/>
            <a:p>
              <a:endParaRPr lang="en-GB"/>
            </a:p>
          </p:txBody>
        </p:sp>
      </p:grpSp>
      <p:grpSp>
        <p:nvGrpSpPr>
          <p:cNvPr id="5" name="Grupo 4">
            <a:extLst>
              <a:ext uri="{FF2B5EF4-FFF2-40B4-BE49-F238E27FC236}">
                <a16:creationId xmlns:a16="http://schemas.microsoft.com/office/drawing/2014/main" id="{BEC39AD4-B506-43A2-8494-1CF2E6D8851B}"/>
              </a:ext>
            </a:extLst>
          </p:cNvPr>
          <p:cNvGrpSpPr/>
          <p:nvPr/>
        </p:nvGrpSpPr>
        <p:grpSpPr>
          <a:xfrm>
            <a:off x="5441157" y="3786829"/>
            <a:ext cx="1905000" cy="584200"/>
            <a:chOff x="5441157" y="3786829"/>
            <a:chExt cx="1905000" cy="584200"/>
          </a:xfrm>
        </p:grpSpPr>
        <p:sp>
          <p:nvSpPr>
            <p:cNvPr id="11309" name="Oval 35"/>
            <p:cNvSpPr>
              <a:spLocks noChangeArrowheads="1"/>
            </p:cNvSpPr>
            <p:nvPr/>
          </p:nvSpPr>
          <p:spPr bwMode="auto">
            <a:xfrm>
              <a:off x="6914357" y="3939229"/>
              <a:ext cx="431800" cy="431800"/>
            </a:xfrm>
            <a:prstGeom prst="ellipse">
              <a:avLst/>
            </a:prstGeom>
            <a:noFill/>
            <a:ln w="25400" algn="ctr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" name="Oval 39"/>
            <p:cNvSpPr>
              <a:spLocks noChangeArrowheads="1"/>
            </p:cNvSpPr>
            <p:nvPr/>
          </p:nvSpPr>
          <p:spPr bwMode="auto">
            <a:xfrm>
              <a:off x="5441157" y="3913829"/>
              <a:ext cx="431800" cy="431800"/>
            </a:xfrm>
            <a:prstGeom prst="ellipse">
              <a:avLst/>
            </a:prstGeom>
            <a:noFill/>
            <a:ln w="25400" algn="ctr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312" name="Freeform 46"/>
            <p:cNvSpPr>
              <a:spLocks/>
            </p:cNvSpPr>
            <p:nvPr/>
          </p:nvSpPr>
          <p:spPr bwMode="auto">
            <a:xfrm>
              <a:off x="5877720" y="3786829"/>
              <a:ext cx="1006475" cy="122237"/>
            </a:xfrm>
            <a:custGeom>
              <a:avLst/>
              <a:gdLst>
                <a:gd name="T0" fmla="*/ 634 w 634"/>
                <a:gd name="T1" fmla="*/ 55 h 77"/>
                <a:gd name="T2" fmla="*/ 306 w 634"/>
                <a:gd name="T3" fmla="*/ 4 h 77"/>
                <a:gd name="T4" fmla="*/ 0 w 634"/>
                <a:gd name="T5" fmla="*/ 77 h 77"/>
                <a:gd name="T6" fmla="*/ 0 60000 65536"/>
                <a:gd name="T7" fmla="*/ 0 60000 65536"/>
                <a:gd name="T8" fmla="*/ 0 60000 65536"/>
                <a:gd name="T9" fmla="*/ 0 w 634"/>
                <a:gd name="T10" fmla="*/ 0 h 77"/>
                <a:gd name="T11" fmla="*/ 634 w 634"/>
                <a:gd name="T12" fmla="*/ 77 h 7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34" h="77">
                  <a:moveTo>
                    <a:pt x="634" y="55"/>
                  </a:moveTo>
                  <a:cubicBezTo>
                    <a:pt x="523" y="27"/>
                    <a:pt x="412" y="0"/>
                    <a:pt x="306" y="4"/>
                  </a:cubicBezTo>
                  <a:cubicBezTo>
                    <a:pt x="200" y="8"/>
                    <a:pt x="100" y="42"/>
                    <a:pt x="0" y="77"/>
                  </a:cubicBezTo>
                </a:path>
              </a:pathLst>
            </a:custGeom>
            <a:noFill/>
            <a:ln w="25400">
              <a:solidFill>
                <a:srgbClr val="0000FF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82800" rIns="90000" bIns="82800" anchorCtr="1"/>
            <a:lstStyle/>
            <a:p>
              <a:endParaRPr lang="en-GB"/>
            </a:p>
          </p:txBody>
        </p: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C77D0EE4-45E8-4203-A476-9EAF76B12B82}"/>
              </a:ext>
            </a:extLst>
          </p:cNvPr>
          <p:cNvGrpSpPr/>
          <p:nvPr/>
        </p:nvGrpSpPr>
        <p:grpSpPr>
          <a:xfrm>
            <a:off x="5934870" y="3896366"/>
            <a:ext cx="3344862" cy="752475"/>
            <a:chOff x="5934870" y="3896366"/>
            <a:chExt cx="3344862" cy="752475"/>
          </a:xfrm>
        </p:grpSpPr>
        <p:sp>
          <p:nvSpPr>
            <p:cNvPr id="11311" name="Freeform 40"/>
            <p:cNvSpPr>
              <a:spLocks/>
            </p:cNvSpPr>
            <p:nvPr/>
          </p:nvSpPr>
          <p:spPr bwMode="auto">
            <a:xfrm>
              <a:off x="8492332" y="3896366"/>
              <a:ext cx="787400" cy="752475"/>
            </a:xfrm>
            <a:custGeom>
              <a:avLst/>
              <a:gdLst>
                <a:gd name="T0" fmla="*/ 292 w 496"/>
                <a:gd name="T1" fmla="*/ 0 h 474"/>
                <a:gd name="T2" fmla="*/ 496 w 496"/>
                <a:gd name="T3" fmla="*/ 0 h 474"/>
                <a:gd name="T4" fmla="*/ 496 w 496"/>
                <a:gd name="T5" fmla="*/ 256 h 474"/>
                <a:gd name="T6" fmla="*/ 132 w 496"/>
                <a:gd name="T7" fmla="*/ 474 h 474"/>
                <a:gd name="T8" fmla="*/ 8 w 496"/>
                <a:gd name="T9" fmla="*/ 474 h 474"/>
                <a:gd name="T10" fmla="*/ 0 w 496"/>
                <a:gd name="T11" fmla="*/ 212 h 474"/>
                <a:gd name="T12" fmla="*/ 292 w 496"/>
                <a:gd name="T13" fmla="*/ 0 h 47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96"/>
                <a:gd name="T22" fmla="*/ 0 h 474"/>
                <a:gd name="T23" fmla="*/ 496 w 496"/>
                <a:gd name="T24" fmla="*/ 474 h 47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96" h="474">
                  <a:moveTo>
                    <a:pt x="292" y="0"/>
                  </a:moveTo>
                  <a:lnTo>
                    <a:pt x="496" y="0"/>
                  </a:lnTo>
                  <a:lnTo>
                    <a:pt x="496" y="256"/>
                  </a:lnTo>
                  <a:lnTo>
                    <a:pt x="132" y="474"/>
                  </a:lnTo>
                  <a:lnTo>
                    <a:pt x="8" y="474"/>
                  </a:lnTo>
                  <a:lnTo>
                    <a:pt x="0" y="212"/>
                  </a:lnTo>
                  <a:lnTo>
                    <a:pt x="292" y="0"/>
                  </a:lnTo>
                  <a:close/>
                </a:path>
              </a:pathLst>
            </a:custGeom>
            <a:noFill/>
            <a:ln w="254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82800" rIns="90000" bIns="82800" anchorCtr="1"/>
            <a:lstStyle/>
            <a:p>
              <a:endParaRPr lang="en-GB"/>
            </a:p>
          </p:txBody>
        </p:sp>
        <p:sp>
          <p:nvSpPr>
            <p:cNvPr id="11313" name="Freeform 47"/>
            <p:cNvSpPr>
              <a:spLocks/>
            </p:cNvSpPr>
            <p:nvPr/>
          </p:nvSpPr>
          <p:spPr bwMode="auto">
            <a:xfrm>
              <a:off x="5934870" y="4453579"/>
              <a:ext cx="2338388" cy="160337"/>
            </a:xfrm>
            <a:custGeom>
              <a:avLst/>
              <a:gdLst>
                <a:gd name="T0" fmla="*/ 693 w 1524"/>
                <a:gd name="T1" fmla="*/ 188 h 94"/>
                <a:gd name="T2" fmla="*/ 277 w 1524"/>
                <a:gd name="T3" fmla="*/ 466 h 94"/>
                <a:gd name="T4" fmla="*/ 0 w 1524"/>
                <a:gd name="T5" fmla="*/ 0 h 94"/>
                <a:gd name="T6" fmla="*/ 0 60000 65536"/>
                <a:gd name="T7" fmla="*/ 0 60000 65536"/>
                <a:gd name="T8" fmla="*/ 0 60000 65536"/>
                <a:gd name="T9" fmla="*/ 0 w 1524"/>
                <a:gd name="T10" fmla="*/ 0 h 94"/>
                <a:gd name="T11" fmla="*/ 1524 w 1524"/>
                <a:gd name="T12" fmla="*/ 94 h 9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24" h="94">
                  <a:moveTo>
                    <a:pt x="1524" y="36"/>
                  </a:moveTo>
                  <a:cubicBezTo>
                    <a:pt x="1191" y="65"/>
                    <a:pt x="859" y="94"/>
                    <a:pt x="605" y="88"/>
                  </a:cubicBezTo>
                  <a:cubicBezTo>
                    <a:pt x="351" y="82"/>
                    <a:pt x="175" y="41"/>
                    <a:pt x="0" y="0"/>
                  </a:cubicBezTo>
                </a:path>
              </a:pathLst>
            </a:custGeom>
            <a:noFill/>
            <a:ln w="25400">
              <a:solidFill>
                <a:srgbClr val="0000FF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82800" rIns="90000" bIns="82800" anchorCtr="1"/>
            <a:lstStyle/>
            <a:p>
              <a:endParaRPr lang="en-GB"/>
            </a:p>
          </p:txBody>
        </p:sp>
      </p:grpSp>
      <p:grpSp>
        <p:nvGrpSpPr>
          <p:cNvPr id="2145" name="Group 97"/>
          <p:cNvGrpSpPr>
            <a:grpSpLocks/>
          </p:cNvGrpSpPr>
          <p:nvPr/>
        </p:nvGrpSpPr>
        <p:grpSpPr bwMode="auto">
          <a:xfrm>
            <a:off x="1246772" y="3153957"/>
            <a:ext cx="274638" cy="1787525"/>
            <a:chOff x="803" y="2249"/>
            <a:chExt cx="173" cy="1126"/>
          </a:xfrm>
        </p:grpSpPr>
        <p:sp>
          <p:nvSpPr>
            <p:cNvPr id="11304" name="Freeform 94"/>
            <p:cNvSpPr>
              <a:spLocks/>
            </p:cNvSpPr>
            <p:nvPr/>
          </p:nvSpPr>
          <p:spPr bwMode="auto">
            <a:xfrm>
              <a:off x="809" y="2255"/>
              <a:ext cx="167" cy="1120"/>
            </a:xfrm>
            <a:custGeom>
              <a:avLst/>
              <a:gdLst>
                <a:gd name="T0" fmla="*/ 0 w 37"/>
                <a:gd name="T1" fmla="*/ 0 h 1329"/>
                <a:gd name="T2" fmla="*/ 0 w 37"/>
                <a:gd name="T3" fmla="*/ 52 h 1329"/>
                <a:gd name="T4" fmla="*/ 4 w 37"/>
                <a:gd name="T5" fmla="*/ 62 h 132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7" h="1329">
                  <a:moveTo>
                    <a:pt x="0" y="0"/>
                  </a:moveTo>
                  <a:lnTo>
                    <a:pt x="0" y="1115"/>
                  </a:lnTo>
                  <a:lnTo>
                    <a:pt x="37" y="1329"/>
                  </a:lnTo>
                </a:path>
              </a:pathLst>
            </a:custGeom>
            <a:noFill/>
            <a:ln w="38100" cap="flat" cmpd="sng">
              <a:solidFill>
                <a:srgbClr val="008000"/>
              </a:solidFill>
              <a:prstDash val="solid"/>
              <a:round/>
              <a:headEnd type="none" w="med" len="med"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square" lIns="90000" tIns="82800" rIns="90000" bIns="82800" anchorCtr="1">
              <a:spAutoFit/>
            </a:bodyPr>
            <a:lstStyle/>
            <a:p>
              <a:endParaRPr lang="en-GB"/>
            </a:p>
          </p:txBody>
        </p:sp>
        <p:sp>
          <p:nvSpPr>
            <p:cNvPr id="11305" name="Line 95"/>
            <p:cNvSpPr>
              <a:spLocks noChangeShapeType="1"/>
            </p:cNvSpPr>
            <p:nvPr/>
          </p:nvSpPr>
          <p:spPr bwMode="auto">
            <a:xfrm flipH="1">
              <a:off x="803" y="2249"/>
              <a:ext cx="92" cy="0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/>
            </a:p>
          </p:txBody>
        </p:sp>
        <p:sp>
          <p:nvSpPr>
            <p:cNvPr id="11306" name="Line 96"/>
            <p:cNvSpPr>
              <a:spLocks noChangeShapeType="1"/>
            </p:cNvSpPr>
            <p:nvPr/>
          </p:nvSpPr>
          <p:spPr bwMode="auto">
            <a:xfrm flipH="1">
              <a:off x="819" y="2793"/>
              <a:ext cx="92" cy="0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/>
            </a:p>
          </p:txBody>
        </p:sp>
      </p:grpSp>
      <p:grpSp>
        <p:nvGrpSpPr>
          <p:cNvPr id="8" name="Grupo 7"/>
          <p:cNvGrpSpPr/>
          <p:nvPr/>
        </p:nvGrpSpPr>
        <p:grpSpPr>
          <a:xfrm>
            <a:off x="1521410" y="5828119"/>
            <a:ext cx="9147175" cy="951042"/>
            <a:chOff x="1521410" y="5828119"/>
            <a:chExt cx="9147175" cy="951042"/>
          </a:xfrm>
        </p:grpSpPr>
        <p:sp>
          <p:nvSpPr>
            <p:cNvPr id="11310" name="Rectangle 91"/>
            <p:cNvSpPr>
              <a:spLocks noChangeArrowheads="1"/>
            </p:cNvSpPr>
            <p:nvPr/>
          </p:nvSpPr>
          <p:spPr bwMode="auto">
            <a:xfrm>
              <a:off x="2328588" y="5828119"/>
              <a:ext cx="7384580" cy="907761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  <a:extLs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 anchor="ctr">
              <a:no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endParaRPr lang="es-ES"/>
            </a:p>
          </p:txBody>
        </p:sp>
        <p:sp>
          <p:nvSpPr>
            <p:cNvPr id="38" name="Text Box 59"/>
            <p:cNvSpPr txBox="1">
              <a:spLocks noChangeArrowheads="1"/>
            </p:cNvSpPr>
            <p:nvPr/>
          </p:nvSpPr>
          <p:spPr bwMode="auto">
            <a:xfrm>
              <a:off x="1521410" y="5873280"/>
              <a:ext cx="9147175" cy="9058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CC99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ts val="0"/>
                </a:spcBef>
                <a:buFontTx/>
                <a:buNone/>
              </a:pPr>
              <a:r>
                <a:rPr lang="es-ES" sz="2400" dirty="0">
                  <a:latin typeface="Arial" panose="020B0604020202020204" pitchFamily="34" charset="0"/>
                </a:rPr>
                <a:t>Electromagnetismo |</a:t>
              </a:r>
              <a:r>
                <a:rPr lang="es-ES" sz="2400" b="1" dirty="0">
                  <a:latin typeface="Arial" panose="020B0604020202020204" pitchFamily="34" charset="0"/>
                </a:rPr>
                <a:t>  </a:t>
              </a:r>
              <a:r>
                <a:rPr lang="es-ES" sz="2400" dirty="0">
                  <a:latin typeface="Arial" panose="020B0604020202020204" pitchFamily="34" charset="0"/>
                </a:rPr>
                <a:t>Interacción Electromagnética</a:t>
              </a:r>
            </a:p>
            <a:p>
              <a:pPr algn="ctr" eaLnBrk="1" hangingPunct="1">
                <a:spcBef>
                  <a:spcPts val="0"/>
                </a:spcBef>
                <a:buFontTx/>
                <a:buNone/>
              </a:pPr>
              <a:r>
                <a:rPr lang="es-ES" sz="2400" dirty="0">
                  <a:latin typeface="Arial" panose="020B0604020202020204" pitchFamily="34" charset="0"/>
                </a:rPr>
                <a:t>Campo Electromagnético</a:t>
              </a:r>
            </a:p>
          </p:txBody>
        </p:sp>
      </p:grpSp>
      <p:sp>
        <p:nvSpPr>
          <p:cNvPr id="39" name="Text Box 33"/>
          <p:cNvSpPr txBox="1">
            <a:spLocks noChangeArrowheads="1"/>
          </p:cNvSpPr>
          <p:nvPr/>
        </p:nvSpPr>
        <p:spPr bwMode="auto">
          <a:xfrm>
            <a:off x="1279523" y="306571"/>
            <a:ext cx="8344194" cy="587441"/>
          </a:xfrm>
          <a:prstGeom prst="rect">
            <a:avLst/>
          </a:prstGeom>
          <a:noFill/>
          <a:ln>
            <a:noFill/>
          </a:ln>
        </p:spPr>
        <p:txBody>
          <a:bodyPr wrap="square" lIns="108000" tIns="108000" rIns="108000" bIns="108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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Dan las </a:t>
            </a:r>
            <a:r>
              <a:rPr lang="es-ES" sz="2400" dirty="0">
                <a:solidFill>
                  <a:srgbClr val="008000"/>
                </a:solidFill>
                <a:latin typeface="Arial" panose="020B0604020202020204" pitchFamily="34" charset="0"/>
              </a:rPr>
              <a:t>fuentes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de </a:t>
            </a:r>
            <a:r>
              <a:rPr lang="es-ES" sz="2400" b="1" dirty="0">
                <a:latin typeface="Arial" panose="020B0604020202020204" pitchFamily="34" charset="0"/>
              </a:rPr>
              <a:t>E</a:t>
            </a:r>
            <a:r>
              <a:rPr lang="es-ES" sz="2400" dirty="0">
                <a:latin typeface="Arial" panose="020B0604020202020204" pitchFamily="34" charset="0"/>
              </a:rPr>
              <a:t> Y </a:t>
            </a:r>
            <a:r>
              <a:rPr lang="es-ES" sz="2400" b="1" dirty="0">
                <a:latin typeface="Arial" panose="020B0604020202020204" pitchFamily="34" charset="0"/>
              </a:rPr>
              <a:t>B</a:t>
            </a:r>
            <a:r>
              <a:rPr lang="es-ES" sz="2400" dirty="0">
                <a:latin typeface="Arial" panose="020B0604020202020204" pitchFamily="34" charset="0"/>
              </a:rPr>
              <a:t> 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(son relaciones causa-efecto)</a:t>
            </a:r>
            <a:endParaRPr lang="es-ES" sz="2400" b="1" dirty="0">
              <a:solidFill>
                <a:srgbClr val="FF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80683118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1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08" grpId="0"/>
      <p:bldP spid="3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Group 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8229078"/>
              </p:ext>
            </p:extLst>
          </p:nvPr>
        </p:nvGraphicFramePr>
        <p:xfrm>
          <a:off x="1407161" y="1264310"/>
          <a:ext cx="6164500" cy="3603625"/>
        </p:xfrm>
        <a:graphic>
          <a:graphicData uri="http://schemas.openxmlformats.org/drawingml/2006/table">
            <a:tbl>
              <a:tblPr/>
              <a:tblGrid>
                <a:gridCol w="3612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01700">
                <a:tc>
                  <a:txBody>
                    <a:bodyPr/>
                    <a:lstStyle>
                      <a:lvl1pPr marL="385763" indent="-385763" defTabSz="1028700" eaLnBrk="0" hangingPunct="0">
                        <a:spcBef>
                          <a:spcPct val="20000"/>
                        </a:spcBef>
                        <a:tabLst>
                          <a:tab pos="180975" algn="r"/>
                          <a:tab pos="2700338" algn="ctr"/>
                          <a:tab pos="5400675" algn="r"/>
                        </a:tabLst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defTabSz="1028700" eaLnBrk="0" hangingPunct="0">
                        <a:spcBef>
                          <a:spcPct val="20000"/>
                        </a:spcBef>
                        <a:tabLst>
                          <a:tab pos="180975" algn="r"/>
                          <a:tab pos="2700338" algn="ctr"/>
                          <a:tab pos="5400675" algn="r"/>
                        </a:tabLst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defTabSz="1028700" eaLnBrk="0" hangingPunct="0">
                        <a:spcBef>
                          <a:spcPct val="20000"/>
                        </a:spcBef>
                        <a:tabLst>
                          <a:tab pos="180975" algn="r"/>
                          <a:tab pos="2700338" algn="ctr"/>
                          <a:tab pos="5400675" algn="r"/>
                        </a:tabLst>
                        <a:defRPr sz="2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defTabSz="1028700" eaLnBrk="0" hangingPunct="0">
                        <a:spcBef>
                          <a:spcPct val="20000"/>
                        </a:spcBef>
                        <a:tabLst>
                          <a:tab pos="180975" algn="r"/>
                          <a:tab pos="2700338" algn="ctr"/>
                          <a:tab pos="5400675" algn="r"/>
                        </a:tabLst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defTabSz="1028700" eaLnBrk="0" hangingPunct="0">
                        <a:spcBef>
                          <a:spcPct val="20000"/>
                        </a:spcBef>
                        <a:tabLst>
                          <a:tab pos="180975" algn="r"/>
                          <a:tab pos="2700338" algn="ctr"/>
                          <a:tab pos="5400675" algn="r"/>
                        </a:tabLst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defTabSz="10287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80975" algn="r"/>
                          <a:tab pos="2700338" algn="ctr"/>
                          <a:tab pos="5400675" algn="r"/>
                        </a:tabLst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defTabSz="10287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80975" algn="r"/>
                          <a:tab pos="2700338" algn="ctr"/>
                          <a:tab pos="5400675" algn="r"/>
                        </a:tabLst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defTabSz="10287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80975" algn="r"/>
                          <a:tab pos="2700338" algn="ctr"/>
                          <a:tab pos="5400675" algn="r"/>
                        </a:tabLst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defTabSz="10287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80975" algn="r"/>
                          <a:tab pos="2700338" algn="ctr"/>
                          <a:tab pos="5400675" algn="r"/>
                        </a:tabLst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10287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80975" algn="r"/>
                          <a:tab pos="2700338" algn="ctr"/>
                          <a:tab pos="5400675" algn="r"/>
                        </a:tabLst>
                      </a:pPr>
                      <a:r>
                        <a:rPr kumimoji="0" lang="es-E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Ley de Gauss para </a:t>
                      </a:r>
                      <a:r>
                        <a:rPr kumimoji="0" lang="es-E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E </a:t>
                      </a:r>
                      <a:r>
                        <a:rPr kumimoji="0" lang="es-E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(Flujo </a:t>
                      </a:r>
                      <a:r>
                        <a:rPr kumimoji="0" lang="es-E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E</a:t>
                      </a:r>
                      <a:r>
                        <a:rPr kumimoji="0" lang="es-E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defTabSz="1028700" eaLnBrk="0" hangingPunct="0">
                        <a:spcBef>
                          <a:spcPct val="20000"/>
                        </a:spcBef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defTabSz="1028700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defTabSz="1028700" eaLnBrk="0" hangingPunct="0">
                        <a:spcBef>
                          <a:spcPct val="20000"/>
                        </a:spcBef>
                        <a:defRPr sz="2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defTabSz="1028700" eaLnBrk="0" hangingPunct="0">
                        <a:spcBef>
                          <a:spcPct val="20000"/>
                        </a:spcBef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defTabSz="1028700" eaLnBrk="0" hangingPunct="0">
                        <a:spcBef>
                          <a:spcPct val="20000"/>
                        </a:spcBef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defTabSz="10287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defTabSz="10287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defTabSz="10287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defTabSz="10287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10287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1700">
                <a:tc>
                  <a:txBody>
                    <a:bodyPr/>
                    <a:lstStyle>
                      <a:lvl1pPr marL="385763" indent="-385763" defTabSz="1028700" eaLnBrk="0" hangingPunct="0">
                        <a:spcBef>
                          <a:spcPct val="20000"/>
                        </a:spcBef>
                        <a:tabLst>
                          <a:tab pos="180975" algn="r"/>
                          <a:tab pos="2700338" algn="ctr"/>
                          <a:tab pos="5400675" algn="r"/>
                        </a:tabLst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defTabSz="1028700" eaLnBrk="0" hangingPunct="0">
                        <a:spcBef>
                          <a:spcPct val="20000"/>
                        </a:spcBef>
                        <a:tabLst>
                          <a:tab pos="180975" algn="r"/>
                          <a:tab pos="2700338" algn="ctr"/>
                          <a:tab pos="5400675" algn="r"/>
                        </a:tabLst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defTabSz="1028700" eaLnBrk="0" hangingPunct="0">
                        <a:spcBef>
                          <a:spcPct val="20000"/>
                        </a:spcBef>
                        <a:tabLst>
                          <a:tab pos="180975" algn="r"/>
                          <a:tab pos="2700338" algn="ctr"/>
                          <a:tab pos="5400675" algn="r"/>
                        </a:tabLst>
                        <a:defRPr sz="2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defTabSz="1028700" eaLnBrk="0" hangingPunct="0">
                        <a:spcBef>
                          <a:spcPct val="20000"/>
                        </a:spcBef>
                        <a:tabLst>
                          <a:tab pos="180975" algn="r"/>
                          <a:tab pos="2700338" algn="ctr"/>
                          <a:tab pos="5400675" algn="r"/>
                        </a:tabLst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defTabSz="1028700" eaLnBrk="0" hangingPunct="0">
                        <a:spcBef>
                          <a:spcPct val="20000"/>
                        </a:spcBef>
                        <a:tabLst>
                          <a:tab pos="180975" algn="r"/>
                          <a:tab pos="2700338" algn="ctr"/>
                          <a:tab pos="5400675" algn="r"/>
                        </a:tabLst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defTabSz="10287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80975" algn="r"/>
                          <a:tab pos="2700338" algn="ctr"/>
                          <a:tab pos="5400675" algn="r"/>
                        </a:tabLst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defTabSz="10287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80975" algn="r"/>
                          <a:tab pos="2700338" algn="ctr"/>
                          <a:tab pos="5400675" algn="r"/>
                        </a:tabLst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defTabSz="10287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80975" algn="r"/>
                          <a:tab pos="2700338" algn="ctr"/>
                          <a:tab pos="5400675" algn="r"/>
                        </a:tabLst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defTabSz="10287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80975" algn="r"/>
                          <a:tab pos="2700338" algn="ctr"/>
                          <a:tab pos="5400675" algn="r"/>
                        </a:tabLst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10287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80975" algn="r"/>
                          <a:tab pos="2700338" algn="ctr"/>
                          <a:tab pos="5400675" algn="r"/>
                        </a:tabLst>
                      </a:pPr>
                      <a:r>
                        <a:rPr kumimoji="0" lang="es-E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Ley de Gauss para </a:t>
                      </a:r>
                      <a:r>
                        <a:rPr kumimoji="0" lang="es-E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B </a:t>
                      </a:r>
                      <a:r>
                        <a:rPr kumimoji="0" lang="es-E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(Flujo </a:t>
                      </a:r>
                      <a:r>
                        <a:rPr kumimoji="0" lang="es-E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B</a:t>
                      </a:r>
                      <a:r>
                        <a:rPr kumimoji="0" lang="es-E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) 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defTabSz="1028700" eaLnBrk="0" hangingPunct="0">
                        <a:spcBef>
                          <a:spcPct val="20000"/>
                        </a:spcBef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defTabSz="1028700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defTabSz="1028700" eaLnBrk="0" hangingPunct="0">
                        <a:spcBef>
                          <a:spcPct val="20000"/>
                        </a:spcBef>
                        <a:defRPr sz="2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defTabSz="1028700" eaLnBrk="0" hangingPunct="0">
                        <a:spcBef>
                          <a:spcPct val="20000"/>
                        </a:spcBef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defTabSz="1028700" eaLnBrk="0" hangingPunct="0">
                        <a:spcBef>
                          <a:spcPct val="20000"/>
                        </a:spcBef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defTabSz="10287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defTabSz="10287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defTabSz="10287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defTabSz="10287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10287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8525">
                <a:tc>
                  <a:txBody>
                    <a:bodyPr/>
                    <a:lstStyle>
                      <a:lvl1pPr marL="385763" indent="-385763" defTabSz="1028700" eaLnBrk="0" hangingPunct="0">
                        <a:spcBef>
                          <a:spcPct val="20000"/>
                        </a:spcBef>
                        <a:tabLst>
                          <a:tab pos="180975" algn="r"/>
                          <a:tab pos="2700338" algn="ctr"/>
                          <a:tab pos="5400675" algn="r"/>
                        </a:tabLst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defTabSz="1028700" eaLnBrk="0" hangingPunct="0">
                        <a:spcBef>
                          <a:spcPct val="20000"/>
                        </a:spcBef>
                        <a:tabLst>
                          <a:tab pos="180975" algn="r"/>
                          <a:tab pos="2700338" algn="ctr"/>
                          <a:tab pos="5400675" algn="r"/>
                        </a:tabLst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defTabSz="1028700" eaLnBrk="0" hangingPunct="0">
                        <a:spcBef>
                          <a:spcPct val="20000"/>
                        </a:spcBef>
                        <a:tabLst>
                          <a:tab pos="180975" algn="r"/>
                          <a:tab pos="2700338" algn="ctr"/>
                          <a:tab pos="5400675" algn="r"/>
                        </a:tabLst>
                        <a:defRPr sz="2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defTabSz="1028700" eaLnBrk="0" hangingPunct="0">
                        <a:spcBef>
                          <a:spcPct val="20000"/>
                        </a:spcBef>
                        <a:tabLst>
                          <a:tab pos="180975" algn="r"/>
                          <a:tab pos="2700338" algn="ctr"/>
                          <a:tab pos="5400675" algn="r"/>
                        </a:tabLst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defTabSz="1028700" eaLnBrk="0" hangingPunct="0">
                        <a:spcBef>
                          <a:spcPct val="20000"/>
                        </a:spcBef>
                        <a:tabLst>
                          <a:tab pos="180975" algn="r"/>
                          <a:tab pos="2700338" algn="ctr"/>
                          <a:tab pos="5400675" algn="r"/>
                        </a:tabLst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defTabSz="10287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80975" algn="r"/>
                          <a:tab pos="2700338" algn="ctr"/>
                          <a:tab pos="5400675" algn="r"/>
                        </a:tabLst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defTabSz="10287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80975" algn="r"/>
                          <a:tab pos="2700338" algn="ctr"/>
                          <a:tab pos="5400675" algn="r"/>
                        </a:tabLst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defTabSz="10287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80975" algn="r"/>
                          <a:tab pos="2700338" algn="ctr"/>
                          <a:tab pos="5400675" algn="r"/>
                        </a:tabLst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defTabSz="10287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80975" algn="r"/>
                          <a:tab pos="2700338" algn="ctr"/>
                          <a:tab pos="5400675" algn="r"/>
                        </a:tabLst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10287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80975" algn="r"/>
                          <a:tab pos="2700338" algn="ctr"/>
                          <a:tab pos="5400675" algn="r"/>
                        </a:tabLst>
                      </a:pPr>
                      <a:r>
                        <a:rPr kumimoji="0" lang="es-E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2ª Ley de Kirchhoff</a:t>
                      </a:r>
                    </a:p>
                    <a:p>
                      <a:pPr marL="0" marR="0" lvl="0" indent="0" algn="ctr" defTabSz="10287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80975" algn="r"/>
                          <a:tab pos="2700338" algn="ctr"/>
                          <a:tab pos="5400675" algn="r"/>
                        </a:tabLst>
                      </a:pPr>
                      <a:r>
                        <a:rPr kumimoji="0" lang="es-E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(Circulación o trabajo </a:t>
                      </a:r>
                      <a:r>
                        <a:rPr kumimoji="0" lang="es-E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E</a:t>
                      </a:r>
                      <a:r>
                        <a:rPr kumimoji="0" lang="es-E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defTabSz="1028700" eaLnBrk="0" hangingPunct="0">
                        <a:spcBef>
                          <a:spcPct val="20000"/>
                        </a:spcBef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defTabSz="1028700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defTabSz="1028700" eaLnBrk="0" hangingPunct="0">
                        <a:spcBef>
                          <a:spcPct val="20000"/>
                        </a:spcBef>
                        <a:defRPr sz="2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defTabSz="1028700" eaLnBrk="0" hangingPunct="0">
                        <a:spcBef>
                          <a:spcPct val="20000"/>
                        </a:spcBef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defTabSz="1028700" eaLnBrk="0" hangingPunct="0">
                        <a:spcBef>
                          <a:spcPct val="20000"/>
                        </a:spcBef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defTabSz="10287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defTabSz="10287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defTabSz="10287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defTabSz="10287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10287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1700">
                <a:tc>
                  <a:txBody>
                    <a:bodyPr/>
                    <a:lstStyle>
                      <a:lvl1pPr marL="385763" indent="-385763" defTabSz="1028700" eaLnBrk="0" hangingPunct="0">
                        <a:spcBef>
                          <a:spcPct val="20000"/>
                        </a:spcBef>
                        <a:tabLst>
                          <a:tab pos="180975" algn="r"/>
                          <a:tab pos="2700338" algn="ctr"/>
                          <a:tab pos="5400675" algn="r"/>
                        </a:tabLst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defTabSz="1028700" eaLnBrk="0" hangingPunct="0">
                        <a:spcBef>
                          <a:spcPct val="20000"/>
                        </a:spcBef>
                        <a:tabLst>
                          <a:tab pos="180975" algn="r"/>
                          <a:tab pos="2700338" algn="ctr"/>
                          <a:tab pos="5400675" algn="r"/>
                        </a:tabLst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defTabSz="1028700" eaLnBrk="0" hangingPunct="0">
                        <a:spcBef>
                          <a:spcPct val="20000"/>
                        </a:spcBef>
                        <a:tabLst>
                          <a:tab pos="180975" algn="r"/>
                          <a:tab pos="2700338" algn="ctr"/>
                          <a:tab pos="5400675" algn="r"/>
                        </a:tabLst>
                        <a:defRPr sz="2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defTabSz="1028700" eaLnBrk="0" hangingPunct="0">
                        <a:spcBef>
                          <a:spcPct val="20000"/>
                        </a:spcBef>
                        <a:tabLst>
                          <a:tab pos="180975" algn="r"/>
                          <a:tab pos="2700338" algn="ctr"/>
                          <a:tab pos="5400675" algn="r"/>
                        </a:tabLst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defTabSz="1028700" eaLnBrk="0" hangingPunct="0">
                        <a:spcBef>
                          <a:spcPct val="20000"/>
                        </a:spcBef>
                        <a:tabLst>
                          <a:tab pos="180975" algn="r"/>
                          <a:tab pos="2700338" algn="ctr"/>
                          <a:tab pos="5400675" algn="r"/>
                        </a:tabLst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defTabSz="10287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80975" algn="r"/>
                          <a:tab pos="2700338" algn="ctr"/>
                          <a:tab pos="5400675" algn="r"/>
                        </a:tabLst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defTabSz="10287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80975" algn="r"/>
                          <a:tab pos="2700338" algn="ctr"/>
                          <a:tab pos="5400675" algn="r"/>
                        </a:tabLst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defTabSz="10287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80975" algn="r"/>
                          <a:tab pos="2700338" algn="ctr"/>
                          <a:tab pos="5400675" algn="r"/>
                        </a:tabLst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defTabSz="10287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80975" algn="r"/>
                          <a:tab pos="2700338" algn="ctr"/>
                          <a:tab pos="5400675" algn="r"/>
                        </a:tabLst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10287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80975" algn="r"/>
                          <a:tab pos="2700338" algn="ctr"/>
                          <a:tab pos="5400675" algn="r"/>
                        </a:tabLst>
                      </a:pPr>
                      <a:r>
                        <a:rPr kumimoji="0" lang="es-E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Ley de Ampére (Circulación </a:t>
                      </a:r>
                      <a:r>
                        <a:rPr kumimoji="0" lang="es-E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B</a:t>
                      </a:r>
                      <a:r>
                        <a:rPr kumimoji="0" lang="es-E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defTabSz="1028700" eaLnBrk="0" hangingPunct="0">
                        <a:spcBef>
                          <a:spcPct val="20000"/>
                        </a:spcBef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defTabSz="1028700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defTabSz="1028700" eaLnBrk="0" hangingPunct="0">
                        <a:spcBef>
                          <a:spcPct val="20000"/>
                        </a:spcBef>
                        <a:defRPr sz="2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defTabSz="1028700" eaLnBrk="0" hangingPunct="0">
                        <a:spcBef>
                          <a:spcPct val="20000"/>
                        </a:spcBef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defTabSz="1028700" eaLnBrk="0" hangingPunct="0">
                        <a:spcBef>
                          <a:spcPct val="20000"/>
                        </a:spcBef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defTabSz="10287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defTabSz="10287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defTabSz="10287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defTabSz="10287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10287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01541" name="Text Box 101"/>
          <p:cNvSpPr txBox="1">
            <a:spLocks noChangeArrowheads="1"/>
          </p:cNvSpPr>
          <p:nvPr/>
        </p:nvSpPr>
        <p:spPr bwMode="auto">
          <a:xfrm>
            <a:off x="1278970" y="241931"/>
            <a:ext cx="7039120" cy="884070"/>
          </a:xfrm>
          <a:prstGeom prst="rect">
            <a:avLst/>
          </a:prstGeom>
          <a:noFill/>
          <a:ln w="12700">
            <a:noFill/>
          </a:ln>
        </p:spPr>
        <p:txBody>
          <a:bodyPr wrap="square" lIns="72000" tIns="72000" rIns="72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 C</a:t>
            </a:r>
            <a:r>
              <a:rPr lang="es-ES" sz="2400">
                <a:latin typeface="Arial" panose="020B0604020202020204" pitchFamily="34" charset="0"/>
              </a:rPr>
              <a:t>on </a:t>
            </a:r>
            <a:r>
              <a:rPr lang="es-ES" sz="2400" dirty="0">
                <a:solidFill>
                  <a:srgbClr val="008000"/>
                </a:solidFill>
                <a:latin typeface="Arial" panose="020B0604020202020204" pitchFamily="34" charset="0"/>
              </a:rPr>
              <a:t>campos estáticos (constantes en el tiempo)</a:t>
            </a:r>
          </a:p>
          <a:p>
            <a:pPr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 dirty="0">
                <a:latin typeface="Arial" panose="020B0604020202020204" pitchFamily="34" charset="0"/>
              </a:rPr>
              <a:t>   no se ve </a:t>
            </a:r>
            <a:r>
              <a:rPr lang="es-ES" sz="2400">
                <a:latin typeface="Arial" panose="020B0604020202020204" pitchFamily="34" charset="0"/>
              </a:rPr>
              <a:t>la relación</a:t>
            </a:r>
            <a:endParaRPr lang="es-ES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65" name="64 CuadroTexto"/>
          <p:cNvSpPr txBox="1">
            <a:spLocks noChangeArrowheads="1"/>
          </p:cNvSpPr>
          <p:nvPr/>
        </p:nvSpPr>
        <p:spPr bwMode="auto">
          <a:xfrm>
            <a:off x="1394147" y="5273869"/>
            <a:ext cx="3847016" cy="1200329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wrap="square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sz="2400"/>
              <a:t>Se tienen fenómenos, o eléctricos, o magnéticos, descritos con 3 ecs.</a:t>
            </a:r>
          </a:p>
        </p:txBody>
      </p:sp>
      <p:graphicFrame>
        <p:nvGraphicFramePr>
          <p:cNvPr id="13335" name="Object 2"/>
          <p:cNvGraphicFramePr>
            <a:graphicFrameLocks noChangeAspect="1"/>
          </p:cNvGraphicFramePr>
          <p:nvPr/>
        </p:nvGraphicFramePr>
        <p:xfrm>
          <a:off x="5241163" y="1240620"/>
          <a:ext cx="1739900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3" imgW="799753" imgH="444307" progId="Equation.3">
                  <p:embed/>
                </p:oleObj>
              </mc:Choice>
              <mc:Fallback>
                <p:oleObj name="Ecuación" r:id="rId3" imgW="799753" imgH="444307" progId="Equation.3">
                  <p:embed/>
                  <p:pic>
                    <p:nvPicPr>
                      <p:cNvPr id="13335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41163" y="1240620"/>
                        <a:ext cx="1739900" cy="958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36" name="Object 4"/>
          <p:cNvGraphicFramePr>
            <a:graphicFrameLocks noChangeAspect="1"/>
          </p:cNvGraphicFramePr>
          <p:nvPr/>
        </p:nvGraphicFramePr>
        <p:xfrm>
          <a:off x="5222875" y="2230839"/>
          <a:ext cx="1651000" cy="868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5" imgW="723586" imgH="380835" progId="Equation.3">
                  <p:embed/>
                </p:oleObj>
              </mc:Choice>
              <mc:Fallback>
                <p:oleObj name="Ecuación" r:id="rId5" imgW="723586" imgH="380835" progId="Equation.3">
                  <p:embed/>
                  <p:pic>
                    <p:nvPicPr>
                      <p:cNvPr id="1333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2875" y="2230839"/>
                        <a:ext cx="1651000" cy="868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37" name="Object 5"/>
          <p:cNvGraphicFramePr>
            <a:graphicFrameLocks noChangeAspect="1"/>
          </p:cNvGraphicFramePr>
          <p:nvPr/>
        </p:nvGraphicFramePr>
        <p:xfrm>
          <a:off x="5241163" y="3188734"/>
          <a:ext cx="1501775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7" imgW="685800" imgH="380880" progId="Equation.3">
                  <p:embed/>
                </p:oleObj>
              </mc:Choice>
              <mc:Fallback>
                <p:oleObj name="Ecuación" r:id="rId7" imgW="685800" imgH="380880" progId="Equation.3">
                  <p:embed/>
                  <p:pic>
                    <p:nvPicPr>
                      <p:cNvPr id="1333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41163" y="3188734"/>
                        <a:ext cx="1501775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38" name="Object 6"/>
          <p:cNvGraphicFramePr>
            <a:graphicFrameLocks noChangeAspect="1"/>
          </p:cNvGraphicFramePr>
          <p:nvPr/>
        </p:nvGraphicFramePr>
        <p:xfrm>
          <a:off x="5221288" y="4039063"/>
          <a:ext cx="1933575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9" imgW="825480" imgH="380880" progId="Equation.3">
                  <p:embed/>
                </p:oleObj>
              </mc:Choice>
              <mc:Fallback>
                <p:oleObj name="Ecuación" r:id="rId9" imgW="825480" imgH="380880" progId="Equation.3">
                  <p:embed/>
                  <p:pic>
                    <p:nvPicPr>
                      <p:cNvPr id="1333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1288" y="4039063"/>
                        <a:ext cx="1933575" cy="882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355" name="Group 58"/>
          <p:cNvGrpSpPr>
            <a:grpSpLocks/>
          </p:cNvGrpSpPr>
          <p:nvPr/>
        </p:nvGrpSpPr>
        <p:grpSpPr bwMode="auto">
          <a:xfrm>
            <a:off x="7782213" y="5310110"/>
            <a:ext cx="2676803" cy="1450975"/>
            <a:chOff x="5145" y="3658"/>
            <a:chExt cx="1686" cy="914"/>
          </a:xfrm>
        </p:grpSpPr>
        <p:sp>
          <p:nvSpPr>
            <p:cNvPr id="13357" name="Text Box 94"/>
            <p:cNvSpPr txBox="1">
              <a:spLocks noChangeArrowheads="1"/>
            </p:cNvSpPr>
            <p:nvPr/>
          </p:nvSpPr>
          <p:spPr bwMode="auto">
            <a:xfrm>
              <a:off x="5278" y="3658"/>
              <a:ext cx="1430" cy="338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Magnetostática</a:t>
              </a:r>
            </a:p>
          </p:txBody>
        </p:sp>
        <p:sp>
          <p:nvSpPr>
            <p:cNvPr id="13358" name="Text Box 71"/>
            <p:cNvSpPr txBox="1">
              <a:spLocks noChangeArrowheads="1"/>
            </p:cNvSpPr>
            <p:nvPr/>
          </p:nvSpPr>
          <p:spPr bwMode="auto">
            <a:xfrm>
              <a:off x="5145" y="4001"/>
              <a:ext cx="1686" cy="5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CC99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2400" b="1">
                  <a:solidFill>
                    <a:srgbClr val="3333FF"/>
                  </a:solidFill>
                  <a:latin typeface="Arial" panose="020B0604020202020204" pitchFamily="34" charset="0"/>
                </a:rPr>
                <a:t>B</a:t>
              </a:r>
              <a:r>
                <a:rPr lang="es-ES" sz="2400">
                  <a:solidFill>
                    <a:srgbClr val="3333FF"/>
                  </a:solidFill>
                  <a:latin typeface="Arial" panose="020B0604020202020204" pitchFamily="34" charset="0"/>
                </a:rPr>
                <a:t> ctes. creados por </a:t>
              </a:r>
              <a:r>
                <a:rPr lang="es-ES" sz="2400">
                  <a:solidFill>
                    <a:srgbClr val="3333FF"/>
                  </a:solidFill>
                  <a:latin typeface="Comic Sans MS" panose="030F0702030302020204" pitchFamily="66" charset="0"/>
                </a:rPr>
                <a:t>I</a:t>
              </a:r>
              <a:r>
                <a:rPr lang="es-ES" sz="2400">
                  <a:solidFill>
                    <a:srgbClr val="3333FF"/>
                  </a:solidFill>
                  <a:latin typeface="Arial" panose="020B0604020202020204" pitchFamily="34" charset="0"/>
                </a:rPr>
                <a:t> ctes.</a:t>
              </a:r>
            </a:p>
          </p:txBody>
        </p:sp>
      </p:grpSp>
      <p:grpSp>
        <p:nvGrpSpPr>
          <p:cNvPr id="13350" name="Group 57"/>
          <p:cNvGrpSpPr>
            <a:grpSpLocks/>
          </p:cNvGrpSpPr>
          <p:nvPr/>
        </p:nvGrpSpPr>
        <p:grpSpPr bwMode="auto">
          <a:xfrm>
            <a:off x="5135750" y="5296010"/>
            <a:ext cx="2768547" cy="1465265"/>
            <a:chOff x="1335" y="3985"/>
            <a:chExt cx="1744" cy="923"/>
          </a:xfrm>
        </p:grpSpPr>
        <p:sp>
          <p:nvSpPr>
            <p:cNvPr id="13352" name="Text Box 93"/>
            <p:cNvSpPr txBox="1">
              <a:spLocks noChangeArrowheads="1"/>
            </p:cNvSpPr>
            <p:nvPr/>
          </p:nvSpPr>
          <p:spPr bwMode="auto">
            <a:xfrm>
              <a:off x="1598" y="3985"/>
              <a:ext cx="1279" cy="338"/>
            </a:xfrm>
            <a:prstGeom prst="rect">
              <a:avLst/>
            </a:prstGeom>
            <a:solidFill>
              <a:srgbClr val="FF99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Electrostática</a:t>
              </a:r>
            </a:p>
          </p:txBody>
        </p:sp>
        <p:sp>
          <p:nvSpPr>
            <p:cNvPr id="13353" name="Text Box 69"/>
            <p:cNvSpPr txBox="1">
              <a:spLocks noChangeArrowheads="1"/>
            </p:cNvSpPr>
            <p:nvPr/>
          </p:nvSpPr>
          <p:spPr bwMode="auto">
            <a:xfrm>
              <a:off x="1335" y="4337"/>
              <a:ext cx="1744" cy="5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CC99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2400" b="1">
                  <a:solidFill>
                    <a:srgbClr val="FF0000"/>
                  </a:solidFill>
                  <a:latin typeface="Arial" panose="020B0604020202020204" pitchFamily="34" charset="0"/>
                </a:rPr>
                <a:t>E</a:t>
              </a:r>
              <a:r>
                <a:rPr lang="es-ES" sz="2400">
                  <a:solidFill>
                    <a:srgbClr val="FF0000"/>
                  </a:solidFill>
                  <a:latin typeface="Arial" panose="020B0604020202020204" pitchFamily="34" charset="0"/>
                </a:rPr>
                <a:t> ctes. creados por Q fijas</a:t>
              </a:r>
            </a:p>
          </p:txBody>
        </p: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76F60ADB-C476-04E0-EA72-84AC47B178DB}"/>
              </a:ext>
            </a:extLst>
          </p:cNvPr>
          <p:cNvGrpSpPr/>
          <p:nvPr/>
        </p:nvGrpSpPr>
        <p:grpSpPr>
          <a:xfrm>
            <a:off x="7284621" y="2209922"/>
            <a:ext cx="3049858" cy="2281167"/>
            <a:chOff x="7284621" y="2209922"/>
            <a:chExt cx="3049858" cy="2281167"/>
          </a:xfrm>
        </p:grpSpPr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C83524C3-26B6-E9A7-2348-F266C50C7970}"/>
                </a:ext>
              </a:extLst>
            </p:cNvPr>
            <p:cNvSpPr/>
            <p:nvPr/>
          </p:nvSpPr>
          <p:spPr bwMode="auto">
            <a:xfrm>
              <a:off x="7739807" y="2209922"/>
              <a:ext cx="2594672" cy="722535"/>
            </a:xfrm>
            <a:prstGeom prst="rect">
              <a:avLst/>
            </a:prstGeom>
            <a:solidFill>
              <a:srgbClr val="99CCFF"/>
            </a:solidFill>
            <a:ln w="25400" cap="flat" cmpd="sng" algn="ctr">
              <a:noFill/>
              <a:prstDash val="solid"/>
              <a:round/>
              <a:headEnd type="none" w="med" len="med"/>
              <a:tailEnd type="none" w="lg" len="lg"/>
            </a:ln>
            <a:effectLst/>
          </p:spPr>
          <p:txBody>
            <a:bodyPr vert="horz" wrap="square" lIns="90000" tIns="82800" rIns="90000" bIns="82800" numCol="1" rtlCol="0" anchor="t" anchorCtr="1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-2500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grpSp>
          <p:nvGrpSpPr>
            <p:cNvPr id="3" name="Grupo 2"/>
            <p:cNvGrpSpPr/>
            <p:nvPr/>
          </p:nvGrpSpPr>
          <p:grpSpPr>
            <a:xfrm>
              <a:off x="7284621" y="2303022"/>
              <a:ext cx="3018542" cy="2188067"/>
              <a:chOff x="7284621" y="2106375"/>
              <a:chExt cx="3018542" cy="2188067"/>
            </a:xfrm>
          </p:grpSpPr>
          <p:graphicFrame>
            <p:nvGraphicFramePr>
              <p:cNvPr id="13360" name="Object 81"/>
              <p:cNvGraphicFramePr>
                <a:graphicFrameLocks noChangeAspect="1"/>
              </p:cNvGraphicFramePr>
              <p:nvPr/>
            </p:nvGraphicFramePr>
            <p:xfrm>
              <a:off x="7782213" y="2106375"/>
              <a:ext cx="2520950" cy="5572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cuación" r:id="rId11" imgW="1244600" imgH="279400" progId="Equation.3">
                      <p:embed/>
                    </p:oleObj>
                  </mc:Choice>
                  <mc:Fallback>
                    <p:oleObj name="Ecuación" r:id="rId11" imgW="1244600" imgH="279400" progId="Equation.3">
                      <p:embed/>
                      <p:pic>
                        <p:nvPicPr>
                          <p:cNvPr id="13360" name="Object 8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782213" y="2106375"/>
                            <a:ext cx="2520950" cy="55721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3362" name="Oval 47"/>
              <p:cNvSpPr>
                <a:spLocks noChangeArrowheads="1"/>
              </p:cNvSpPr>
              <p:nvPr/>
            </p:nvSpPr>
            <p:spPr bwMode="auto">
              <a:xfrm>
                <a:off x="7284621" y="2268792"/>
                <a:ext cx="215900" cy="215900"/>
              </a:xfrm>
              <a:prstGeom prst="ellipse">
                <a:avLst/>
              </a:prstGeom>
              <a:solidFill>
                <a:srgbClr val="99CC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25400" algn="ctr">
                    <a:solidFill>
                      <a:schemeClr val="tx1"/>
                    </a:solidFill>
                    <a:round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 anchor="ctr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endParaRPr lang="en-US"/>
              </a:p>
            </p:txBody>
          </p:sp>
          <p:sp>
            <p:nvSpPr>
              <p:cNvPr id="13363" name="Oval 48"/>
              <p:cNvSpPr>
                <a:spLocks noChangeArrowheads="1"/>
              </p:cNvSpPr>
              <p:nvPr/>
            </p:nvSpPr>
            <p:spPr bwMode="auto">
              <a:xfrm>
                <a:off x="7284621" y="4078542"/>
                <a:ext cx="215900" cy="215900"/>
              </a:xfrm>
              <a:prstGeom prst="ellipse">
                <a:avLst/>
              </a:prstGeom>
              <a:solidFill>
                <a:srgbClr val="99CC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25400" algn="ctr">
                    <a:solidFill>
                      <a:schemeClr val="tx1"/>
                    </a:solidFill>
                    <a:round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 anchor="ctr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endParaRPr lang="en-US"/>
              </a:p>
            </p:txBody>
          </p:sp>
        </p:grpSp>
      </p:grpSp>
      <p:grpSp>
        <p:nvGrpSpPr>
          <p:cNvPr id="6" name="Grupo 5">
            <a:extLst>
              <a:ext uri="{FF2B5EF4-FFF2-40B4-BE49-F238E27FC236}">
                <a16:creationId xmlns:a16="http://schemas.microsoft.com/office/drawing/2014/main" id="{F2A36BB3-4A52-9CCC-3E6D-E69337E3864B}"/>
              </a:ext>
            </a:extLst>
          </p:cNvPr>
          <p:cNvGrpSpPr/>
          <p:nvPr/>
        </p:nvGrpSpPr>
        <p:grpSpPr>
          <a:xfrm>
            <a:off x="7275096" y="1329933"/>
            <a:ext cx="3059382" cy="2277998"/>
            <a:chOff x="7275096" y="1329933"/>
            <a:chExt cx="3059382" cy="2277998"/>
          </a:xfrm>
        </p:grpSpPr>
        <p:sp>
          <p:nvSpPr>
            <p:cNvPr id="4" name="Rectángulo 3">
              <a:extLst>
                <a:ext uri="{FF2B5EF4-FFF2-40B4-BE49-F238E27FC236}">
                  <a16:creationId xmlns:a16="http://schemas.microsoft.com/office/drawing/2014/main" id="{1183189C-5CE9-7B20-AD6E-45D0605218FE}"/>
                </a:ext>
              </a:extLst>
            </p:cNvPr>
            <p:cNvSpPr/>
            <p:nvPr/>
          </p:nvSpPr>
          <p:spPr bwMode="auto">
            <a:xfrm>
              <a:off x="7708489" y="1329933"/>
              <a:ext cx="2625989" cy="722535"/>
            </a:xfrm>
            <a:prstGeom prst="rect">
              <a:avLst/>
            </a:prstGeom>
            <a:solidFill>
              <a:srgbClr val="FF99CC"/>
            </a:solidFill>
            <a:ln w="25400" cap="flat" cmpd="sng" algn="ctr">
              <a:noFill/>
              <a:prstDash val="solid"/>
              <a:round/>
              <a:headEnd type="none" w="med" len="med"/>
              <a:tailEnd type="none" w="lg" len="lg"/>
            </a:ln>
            <a:effectLst/>
          </p:spPr>
          <p:txBody>
            <a:bodyPr vert="horz" wrap="square" lIns="90000" tIns="82800" rIns="90000" bIns="82800" numCol="1" rtlCol="0" anchor="t" anchorCtr="1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-2500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grpSp>
          <p:nvGrpSpPr>
            <p:cNvPr id="2" name="Grupo 1"/>
            <p:cNvGrpSpPr/>
            <p:nvPr/>
          </p:nvGrpSpPr>
          <p:grpSpPr>
            <a:xfrm>
              <a:off x="7275096" y="1387475"/>
              <a:ext cx="2316579" cy="2220456"/>
              <a:chOff x="7275096" y="1190828"/>
              <a:chExt cx="2316579" cy="2220456"/>
            </a:xfrm>
          </p:grpSpPr>
          <p:graphicFrame>
            <p:nvGraphicFramePr>
              <p:cNvPr id="13364" name="Object 78"/>
              <p:cNvGraphicFramePr>
                <a:graphicFrameLocks noChangeAspect="1"/>
              </p:cNvGraphicFramePr>
              <p:nvPr/>
            </p:nvGraphicFramePr>
            <p:xfrm>
              <a:off x="7781925" y="1190828"/>
              <a:ext cx="1809750" cy="57626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cuación" r:id="rId13" imgW="825142" imgH="266584" progId="Equation.3">
                      <p:embed/>
                    </p:oleObj>
                  </mc:Choice>
                  <mc:Fallback>
                    <p:oleObj name="Ecuación" r:id="rId13" imgW="825142" imgH="266584" progId="Equation.3">
                      <p:embed/>
                      <p:pic>
                        <p:nvPicPr>
                          <p:cNvPr id="13364" name="Object 7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781925" y="1190828"/>
                            <a:ext cx="1809750" cy="57626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3365" name="Oval 41"/>
              <p:cNvSpPr>
                <a:spLocks noChangeArrowheads="1"/>
              </p:cNvSpPr>
              <p:nvPr/>
            </p:nvSpPr>
            <p:spPr bwMode="auto">
              <a:xfrm>
                <a:off x="7275096" y="1360234"/>
                <a:ext cx="215900" cy="215900"/>
              </a:xfrm>
              <a:prstGeom prst="ellipse">
                <a:avLst/>
              </a:prstGeom>
              <a:solidFill>
                <a:srgbClr val="FF99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25400" algn="ctr">
                    <a:solidFill>
                      <a:schemeClr val="tx1"/>
                    </a:solidFill>
                    <a:round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 anchor="ctr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endParaRPr lang="en-US"/>
              </a:p>
            </p:txBody>
          </p:sp>
          <p:sp>
            <p:nvSpPr>
              <p:cNvPr id="13366" name="Oval 42"/>
              <p:cNvSpPr>
                <a:spLocks noChangeArrowheads="1"/>
              </p:cNvSpPr>
              <p:nvPr/>
            </p:nvSpPr>
            <p:spPr bwMode="auto">
              <a:xfrm>
                <a:off x="7281446" y="3195384"/>
                <a:ext cx="215900" cy="215900"/>
              </a:xfrm>
              <a:prstGeom prst="ellipse">
                <a:avLst/>
              </a:prstGeom>
              <a:solidFill>
                <a:srgbClr val="FF99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25400" algn="ctr">
                    <a:solidFill>
                      <a:schemeClr val="tx1"/>
                    </a:solidFill>
                    <a:round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 anchor="ctr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endParaRPr lang="en-US"/>
              </a:p>
            </p:txBody>
          </p:sp>
        </p:grpSp>
      </p:grpSp>
      <p:sp>
        <p:nvSpPr>
          <p:cNvPr id="8" name="Text Box 101">
            <a:extLst>
              <a:ext uri="{FF2B5EF4-FFF2-40B4-BE49-F238E27FC236}">
                <a16:creationId xmlns:a16="http://schemas.microsoft.com/office/drawing/2014/main" id="{97A19978-3AA3-6200-C708-2293F0C530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56925" y="605457"/>
            <a:ext cx="4077450" cy="514738"/>
          </a:xfrm>
          <a:prstGeom prst="rect">
            <a:avLst/>
          </a:prstGeom>
          <a:noFill/>
          <a:ln w="12700">
            <a:noFill/>
          </a:ln>
        </p:spPr>
        <p:txBody>
          <a:bodyPr wrap="square" lIns="72000" tIns="72000" rIns="72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(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las derivadas se anulan)</a:t>
            </a:r>
          </a:p>
        </p:txBody>
      </p:sp>
      <p:sp>
        <p:nvSpPr>
          <p:cNvPr id="9" name="Text Box 24">
            <a:extLst>
              <a:ext uri="{FF2B5EF4-FFF2-40B4-BE49-F238E27FC236}">
                <a16:creationId xmlns:a16="http://schemas.microsoft.com/office/drawing/2014/main" id="{4587AA65-9F52-FB7B-CA4D-A35A7F008D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71661" y="3067336"/>
            <a:ext cx="2805487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1008063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1008063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1008063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1008063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1008063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10080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10080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10080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10080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(</a:t>
            </a:r>
            <a:r>
              <a:rPr lang="es-ES" sz="2400" b="1">
                <a:solidFill>
                  <a:srgbClr val="FF0000"/>
                </a:solidFill>
                <a:latin typeface="Arial" panose="020B0604020202020204" pitchFamily="34" charset="0"/>
              </a:rPr>
              <a:t>E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 es conservativo o irrotacional.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Sólo se tiene esa contribución a </a:t>
            </a:r>
            <a:r>
              <a:rPr lang="es-ES" sz="2400" b="1">
                <a:solidFill>
                  <a:srgbClr val="FF0000"/>
                </a:solidFill>
                <a:latin typeface="Arial" panose="020B0604020202020204" pitchFamily="34" charset="0"/>
              </a:rPr>
              <a:t>E 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debida a cargas)</a:t>
            </a:r>
            <a:endParaRPr lang="es-ES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669269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01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3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3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3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3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3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13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1541" grpId="0"/>
      <p:bldP spid="65" grpId="0" animBg="1"/>
      <p:bldP spid="8" grpId="0"/>
      <p:bldP spid="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24" name="Text Box 60"/>
          <p:cNvSpPr txBox="1">
            <a:spLocks noChangeArrowheads="1"/>
          </p:cNvSpPr>
          <p:nvPr/>
        </p:nvSpPr>
        <p:spPr bwMode="auto">
          <a:xfrm>
            <a:off x="1191656" y="2619994"/>
            <a:ext cx="2077553" cy="21240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46800" rIns="90000" bIns="46800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  <a:defRPr/>
            </a:pPr>
            <a:endParaRPr lang="es-ES" sz="3600" dirty="0"/>
          </a:p>
          <a:p>
            <a:pPr algn="ctr" eaLnBrk="1" hangingPunct="1">
              <a:spcBef>
                <a:spcPts val="0"/>
              </a:spcBef>
              <a:defRPr/>
            </a:pPr>
            <a:r>
              <a:rPr lang="es-ES" sz="2400" dirty="0"/>
              <a:t> Antena</a:t>
            </a:r>
          </a:p>
          <a:p>
            <a:pPr algn="ctr" eaLnBrk="1" hangingPunct="1">
              <a:spcBef>
                <a:spcPts val="0"/>
              </a:spcBef>
              <a:defRPr/>
            </a:pPr>
            <a:r>
              <a:rPr lang="es-ES" sz="2400" dirty="0"/>
              <a:t>(conductor)</a:t>
            </a: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B36B7D7F-8160-437A-9C01-2A55E0D1F9D4}"/>
              </a:ext>
            </a:extLst>
          </p:cNvPr>
          <p:cNvGrpSpPr/>
          <p:nvPr/>
        </p:nvGrpSpPr>
        <p:grpSpPr>
          <a:xfrm>
            <a:off x="1328159" y="3117513"/>
            <a:ext cx="588963" cy="1515075"/>
            <a:chOff x="1895002" y="3540296"/>
            <a:chExt cx="588963" cy="1515075"/>
          </a:xfrm>
        </p:grpSpPr>
        <p:grpSp>
          <p:nvGrpSpPr>
            <p:cNvPr id="13" name="Grupo 12"/>
            <p:cNvGrpSpPr>
              <a:grpSpLocks/>
            </p:cNvGrpSpPr>
            <p:nvPr/>
          </p:nvGrpSpPr>
          <p:grpSpPr bwMode="auto">
            <a:xfrm>
              <a:off x="1895002" y="3540296"/>
              <a:ext cx="588963" cy="1515075"/>
              <a:chOff x="2165436" y="3727009"/>
              <a:chExt cx="588965" cy="1515075"/>
            </a:xfrm>
          </p:grpSpPr>
          <p:sp>
            <p:nvSpPr>
              <p:cNvPr id="29756" name="Line 6"/>
              <p:cNvSpPr>
                <a:spLocks noChangeShapeType="1"/>
              </p:cNvSpPr>
              <p:nvPr/>
            </p:nvSpPr>
            <p:spPr bwMode="auto">
              <a:xfrm>
                <a:off x="2454037" y="3727009"/>
                <a:ext cx="9185" cy="1080000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82800" rIns="90000" bIns="82800" anchorCtr="1">
                <a:spAutoFit/>
              </a:bodyPr>
              <a:lstStyle/>
              <a:p>
                <a:pPr>
                  <a:spcBef>
                    <a:spcPts val="0"/>
                  </a:spcBef>
                </a:pPr>
                <a:endParaRPr lang="en-GB" sz="2400" dirty="0"/>
              </a:p>
            </p:txBody>
          </p:sp>
          <p:graphicFrame>
            <p:nvGraphicFramePr>
              <p:cNvPr id="29757" name="Object 7"/>
              <p:cNvGraphicFramePr>
                <a:graphicFrameLocks noChangeAspect="1"/>
              </p:cNvGraphicFramePr>
              <p:nvPr/>
            </p:nvGraphicFramePr>
            <p:xfrm>
              <a:off x="2165436" y="4794409"/>
              <a:ext cx="588965" cy="4476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cuación" r:id="rId3" imgW="266469" imgH="203024" progId="Equation.3">
                      <p:embed/>
                    </p:oleObj>
                  </mc:Choice>
                  <mc:Fallback>
                    <p:oleObj name="Ecuación" r:id="rId3" imgW="266469" imgH="203024" progId="Equation.3">
                      <p:embed/>
                      <p:pic>
                        <p:nvPicPr>
                          <p:cNvPr id="29757" name="Object 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165436" y="4794409"/>
                            <a:ext cx="588965" cy="4476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cxnSp>
          <p:nvCxnSpPr>
            <p:cNvPr id="5" name="Conector recto 4">
              <a:extLst>
                <a:ext uri="{FF2B5EF4-FFF2-40B4-BE49-F238E27FC236}">
                  <a16:creationId xmlns:a16="http://schemas.microsoft.com/office/drawing/2014/main" id="{6992EDFF-8978-4251-B71C-D05231D20DED}"/>
                </a:ext>
              </a:extLst>
            </p:cNvPr>
            <p:cNvCxnSpPr/>
            <p:nvPr/>
          </p:nvCxnSpPr>
          <p:spPr bwMode="auto">
            <a:xfrm>
              <a:off x="1913405" y="3542828"/>
              <a:ext cx="559681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none" w="lg" len="lg"/>
            </a:ln>
            <a:effectLst/>
          </p:spPr>
        </p:cxnSp>
      </p:grpSp>
      <p:sp>
        <p:nvSpPr>
          <p:cNvPr id="29698" name="Rectangle 9"/>
          <p:cNvSpPr>
            <a:spLocks noChangeArrowheads="1"/>
          </p:cNvSpPr>
          <p:nvPr/>
        </p:nvSpPr>
        <p:spPr bwMode="auto">
          <a:xfrm>
            <a:off x="4900816" y="361130"/>
            <a:ext cx="4791075" cy="4699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82800" rIns="90000" bIns="82800" anchor="ctr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80298" name="Text Box 10"/>
          <p:cNvSpPr txBox="1">
            <a:spLocks noChangeArrowheads="1"/>
          </p:cNvSpPr>
          <p:nvPr/>
        </p:nvSpPr>
        <p:spPr bwMode="auto">
          <a:xfrm>
            <a:off x="1191656" y="992039"/>
            <a:ext cx="1672150" cy="905082"/>
          </a:xfrm>
          <a:prstGeom prst="rect">
            <a:avLst/>
          </a:prstGeom>
          <a:solidFill>
            <a:srgbClr val="66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82800" rIns="90000" bIns="82800" anchor="ctr" anchorCtr="1">
            <a:no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FFFFFF"/>
                </a:solidFill>
                <a:latin typeface="Arial" panose="020B0604020202020204" pitchFamily="34" charset="0"/>
              </a:rPr>
              <a:t>ONDA</a:t>
            </a:r>
          </a:p>
        </p:txBody>
      </p:sp>
      <p:sp>
        <p:nvSpPr>
          <p:cNvPr id="780299" name="Text Box 11"/>
          <p:cNvSpPr txBox="1">
            <a:spLocks noChangeArrowheads="1"/>
          </p:cNvSpPr>
          <p:nvPr/>
        </p:nvSpPr>
        <p:spPr bwMode="auto">
          <a:xfrm>
            <a:off x="2941065" y="992453"/>
            <a:ext cx="7442030" cy="90588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 dirty="0">
                <a:latin typeface="Arial" panose="020B0604020202020204" pitchFamily="34" charset="0"/>
              </a:rPr>
              <a:t>Perturbación que se propaga en el espacio al pasar el tiempo (ej.: el sonido, que es una onda de presión)</a:t>
            </a:r>
          </a:p>
        </p:txBody>
      </p:sp>
      <p:grpSp>
        <p:nvGrpSpPr>
          <p:cNvPr id="8" name="Grupo 7"/>
          <p:cNvGrpSpPr/>
          <p:nvPr/>
        </p:nvGrpSpPr>
        <p:grpSpPr>
          <a:xfrm>
            <a:off x="7057997" y="3167725"/>
            <a:ext cx="1902105" cy="844326"/>
            <a:chOff x="6654877" y="3516940"/>
            <a:chExt cx="1902105" cy="844326"/>
          </a:xfrm>
        </p:grpSpPr>
        <p:graphicFrame>
          <p:nvGraphicFramePr>
            <p:cNvPr id="29774" name="Object 24"/>
            <p:cNvGraphicFramePr>
              <a:graphicFrameLocks noChangeAspect="1"/>
            </p:cNvGraphicFramePr>
            <p:nvPr/>
          </p:nvGraphicFramePr>
          <p:xfrm>
            <a:off x="7338530" y="3659821"/>
            <a:ext cx="682836" cy="5315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5" imgW="304668" imgH="241195" progId="Equation.3">
                    <p:embed/>
                  </p:oleObj>
                </mc:Choice>
                <mc:Fallback>
                  <p:oleObj name="Ecuación" r:id="rId5" imgW="304668" imgH="241195" progId="Equation.3">
                    <p:embed/>
                    <p:pic>
                      <p:nvPicPr>
                        <p:cNvPr id="29774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338530" y="3659821"/>
                          <a:ext cx="682836" cy="5315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75" name="Line 25"/>
            <p:cNvSpPr>
              <a:spLocks noChangeShapeType="1"/>
            </p:cNvSpPr>
            <p:nvPr/>
          </p:nvSpPr>
          <p:spPr bwMode="auto">
            <a:xfrm>
              <a:off x="6654877" y="3939104"/>
              <a:ext cx="555570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pPr>
                <a:spcBef>
                  <a:spcPts val="0"/>
                </a:spcBef>
              </a:pPr>
              <a:endParaRPr lang="en-GB" sz="2400"/>
            </a:p>
          </p:txBody>
        </p:sp>
        <p:sp>
          <p:nvSpPr>
            <p:cNvPr id="29777" name="Text Box 27"/>
            <p:cNvSpPr txBox="1">
              <a:spLocks noChangeArrowheads="1"/>
            </p:cNvSpPr>
            <p:nvPr/>
          </p:nvSpPr>
          <p:spPr bwMode="auto">
            <a:xfrm>
              <a:off x="7903941" y="3516940"/>
              <a:ext cx="653041" cy="844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4400">
                  <a:latin typeface="Arial" panose="020B0604020202020204" pitchFamily="34" charset="0"/>
                </a:rPr>
                <a:t>...</a:t>
              </a:r>
            </a:p>
          </p:txBody>
        </p:sp>
      </p:grpSp>
      <p:sp>
        <p:nvSpPr>
          <p:cNvPr id="2" name="Text Box 43"/>
          <p:cNvSpPr txBox="1">
            <a:spLocks noChangeArrowheads="1"/>
          </p:cNvSpPr>
          <p:nvPr/>
        </p:nvSpPr>
        <p:spPr bwMode="auto">
          <a:xfrm>
            <a:off x="5910555" y="2633793"/>
            <a:ext cx="2570164" cy="536550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lIns="90000" tIns="82800" rIns="90000" bIns="82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Ecs. Maxwell</a:t>
            </a:r>
          </a:p>
        </p:txBody>
      </p:sp>
      <p:grpSp>
        <p:nvGrpSpPr>
          <p:cNvPr id="3" name="Grupo 2"/>
          <p:cNvGrpSpPr/>
          <p:nvPr/>
        </p:nvGrpSpPr>
        <p:grpSpPr>
          <a:xfrm>
            <a:off x="3164124" y="2960525"/>
            <a:ext cx="1743205" cy="875526"/>
            <a:chOff x="4856913" y="2561998"/>
            <a:chExt cx="1743205" cy="875526"/>
          </a:xfrm>
        </p:grpSpPr>
        <p:graphicFrame>
          <p:nvGraphicFramePr>
            <p:cNvPr id="29778" name="Object 19"/>
            <p:cNvGraphicFramePr>
              <a:graphicFrameLocks noChangeAspect="1"/>
            </p:cNvGraphicFramePr>
            <p:nvPr/>
          </p:nvGraphicFramePr>
          <p:xfrm>
            <a:off x="5928606" y="2905950"/>
            <a:ext cx="671512" cy="5315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7" imgW="304668" imgH="241195" progId="Equation.3">
                    <p:embed/>
                  </p:oleObj>
                </mc:Choice>
                <mc:Fallback>
                  <p:oleObj name="Ecuación" r:id="rId7" imgW="304668" imgH="241195" progId="Equation.3">
                    <p:embed/>
                    <p:pic>
                      <p:nvPicPr>
                        <p:cNvPr id="29778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28606" y="2905950"/>
                          <a:ext cx="671512" cy="5315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67" name="Line 44"/>
            <p:cNvSpPr>
              <a:spLocks noChangeShapeType="1"/>
            </p:cNvSpPr>
            <p:nvPr/>
          </p:nvSpPr>
          <p:spPr bwMode="auto">
            <a:xfrm>
              <a:off x="4856913" y="2561998"/>
              <a:ext cx="774189" cy="58814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90000" tIns="82800" rIns="90000" bIns="82800" anchorCtr="1">
              <a:spAutoFit/>
            </a:bodyPr>
            <a:lstStyle/>
            <a:p>
              <a:pPr>
                <a:spcBef>
                  <a:spcPts val="0"/>
                </a:spcBef>
              </a:pPr>
              <a:endParaRPr lang="en-GB" sz="2400"/>
            </a:p>
          </p:txBody>
        </p:sp>
      </p:grpSp>
      <p:grpSp>
        <p:nvGrpSpPr>
          <p:cNvPr id="7" name="Grupo 6"/>
          <p:cNvGrpSpPr/>
          <p:nvPr/>
        </p:nvGrpSpPr>
        <p:grpSpPr>
          <a:xfrm>
            <a:off x="5359123" y="3344889"/>
            <a:ext cx="1613234" cy="531574"/>
            <a:chOff x="4956003" y="3675816"/>
            <a:chExt cx="1613234" cy="531574"/>
          </a:xfrm>
        </p:grpSpPr>
        <p:graphicFrame>
          <p:nvGraphicFramePr>
            <p:cNvPr id="29779" name="Object 20"/>
            <p:cNvGraphicFramePr>
              <a:graphicFrameLocks noChangeAspect="1"/>
            </p:cNvGraphicFramePr>
            <p:nvPr/>
          </p:nvGraphicFramePr>
          <p:xfrm>
            <a:off x="5897725" y="3675816"/>
            <a:ext cx="671512" cy="5315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9" imgW="304668" imgH="241195" progId="Equation.3">
                    <p:embed/>
                  </p:oleObj>
                </mc:Choice>
                <mc:Fallback>
                  <p:oleObj name="Ecuación" r:id="rId9" imgW="304668" imgH="241195" progId="Equation.3">
                    <p:embed/>
                    <p:pic>
                      <p:nvPicPr>
                        <p:cNvPr id="29779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97725" y="3675816"/>
                          <a:ext cx="671512" cy="5315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68" name="Line 45"/>
            <p:cNvSpPr>
              <a:spLocks noChangeShapeType="1"/>
            </p:cNvSpPr>
            <p:nvPr/>
          </p:nvSpPr>
          <p:spPr bwMode="auto">
            <a:xfrm>
              <a:off x="4956003" y="3937428"/>
              <a:ext cx="726090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pPr>
                <a:spcBef>
                  <a:spcPts val="0"/>
                </a:spcBef>
              </a:pPr>
              <a:endParaRPr lang="en-GB" sz="2400"/>
            </a:p>
          </p:txBody>
        </p:sp>
      </p:grpSp>
      <p:sp>
        <p:nvSpPr>
          <p:cNvPr id="29707" name="Rectangle 46"/>
          <p:cNvSpPr>
            <a:spLocks noChangeArrowheads="1"/>
          </p:cNvSpPr>
          <p:nvPr/>
        </p:nvSpPr>
        <p:spPr bwMode="auto">
          <a:xfrm>
            <a:off x="1301953" y="364305"/>
            <a:ext cx="8496300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569" tIns="49785" rIns="99569" bIns="49785" anchor="ctr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solidFill>
                  <a:srgbClr val="CC0000"/>
                </a:solidFill>
                <a:latin typeface="Arial" panose="020B0604020202020204" pitchFamily="34" charset="0"/>
              </a:rPr>
              <a:t>5.5 ECS. DE MAXWELL: ONDAS ELECTROMAGNÉTICAS</a:t>
            </a:r>
          </a:p>
        </p:txBody>
      </p:sp>
      <p:sp>
        <p:nvSpPr>
          <p:cNvPr id="29765" name="Text Box 51"/>
          <p:cNvSpPr txBox="1">
            <a:spLocks noChangeArrowheads="1"/>
          </p:cNvSpPr>
          <p:nvPr/>
        </p:nvSpPr>
        <p:spPr bwMode="auto">
          <a:xfrm>
            <a:off x="9146108" y="3368778"/>
            <a:ext cx="1146766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b="1">
                <a:solidFill>
                  <a:srgbClr val="FF0000"/>
                </a:solidFill>
                <a:latin typeface="Arial" panose="020B0604020202020204" pitchFamily="34" charset="0"/>
              </a:rPr>
              <a:t>= OEM</a:t>
            </a:r>
          </a:p>
        </p:txBody>
      </p:sp>
      <p:sp>
        <p:nvSpPr>
          <p:cNvPr id="29739" name="Text Box 17"/>
          <p:cNvSpPr txBox="1">
            <a:spLocks noChangeArrowheads="1"/>
          </p:cNvSpPr>
          <p:nvPr/>
        </p:nvSpPr>
        <p:spPr bwMode="auto">
          <a:xfrm>
            <a:off x="3663079" y="2603931"/>
            <a:ext cx="1929031" cy="536549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Perturbación</a:t>
            </a:r>
          </a:p>
        </p:txBody>
      </p:sp>
      <p:grpSp>
        <p:nvGrpSpPr>
          <p:cNvPr id="12" name="Grupo 11"/>
          <p:cNvGrpSpPr>
            <a:grpSpLocks/>
          </p:cNvGrpSpPr>
          <p:nvPr/>
        </p:nvGrpSpPr>
        <p:grpSpPr bwMode="auto">
          <a:xfrm>
            <a:off x="2098642" y="2609140"/>
            <a:ext cx="1047111" cy="531812"/>
            <a:chOff x="1714678" y="3460838"/>
            <a:chExt cx="1047813" cy="531813"/>
          </a:xfrm>
        </p:grpSpPr>
        <p:graphicFrame>
          <p:nvGraphicFramePr>
            <p:cNvPr id="29760" name="Object 15"/>
            <p:cNvGraphicFramePr>
              <a:graphicFrameLocks noChangeAspect="1"/>
            </p:cNvGraphicFramePr>
            <p:nvPr/>
          </p:nvGraphicFramePr>
          <p:xfrm>
            <a:off x="2090977" y="3460838"/>
            <a:ext cx="671514" cy="5318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11" imgW="304668" imgH="241195" progId="Equation.3">
                    <p:embed/>
                  </p:oleObj>
                </mc:Choice>
                <mc:Fallback>
                  <p:oleObj name="Ecuación" r:id="rId11" imgW="304668" imgH="241195" progId="Equation.3">
                    <p:embed/>
                    <p:pic>
                      <p:nvPicPr>
                        <p:cNvPr id="2976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90977" y="3460838"/>
                          <a:ext cx="671514" cy="5318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61" name="Line 41"/>
            <p:cNvSpPr>
              <a:spLocks noChangeShapeType="1"/>
            </p:cNvSpPr>
            <p:nvPr/>
          </p:nvSpPr>
          <p:spPr bwMode="auto">
            <a:xfrm>
              <a:off x="1714678" y="3739489"/>
              <a:ext cx="381943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 type="none" w="lg" len="lg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pPr>
                <a:spcBef>
                  <a:spcPts val="0"/>
                </a:spcBef>
              </a:pPr>
              <a:endParaRPr lang="en-GB" sz="2400"/>
            </a:p>
          </p:txBody>
        </p:sp>
      </p:grpSp>
      <p:sp>
        <p:nvSpPr>
          <p:cNvPr id="29759" name="Line 8"/>
          <p:cNvSpPr>
            <a:spLocks noChangeShapeType="1"/>
          </p:cNvSpPr>
          <p:nvPr/>
        </p:nvSpPr>
        <p:spPr bwMode="auto">
          <a:xfrm flipV="1">
            <a:off x="2181727" y="3652236"/>
            <a:ext cx="1789020" cy="737279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none" w="lg" len="lg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90000" tIns="82800" rIns="90000" bIns="82800" anchorCtr="1">
            <a:spAutoFit/>
          </a:bodyPr>
          <a:lstStyle/>
          <a:p>
            <a:pPr>
              <a:spcBef>
                <a:spcPts val="0"/>
              </a:spcBef>
            </a:pPr>
            <a:endParaRPr lang="en-GB" sz="2400"/>
          </a:p>
        </p:txBody>
      </p:sp>
      <p:grpSp>
        <p:nvGrpSpPr>
          <p:cNvPr id="10" name="Grupo 9"/>
          <p:cNvGrpSpPr>
            <a:grpSpLocks/>
          </p:cNvGrpSpPr>
          <p:nvPr/>
        </p:nvGrpSpPr>
        <p:grpSpPr bwMode="auto">
          <a:xfrm>
            <a:off x="1310690" y="2641728"/>
            <a:ext cx="700087" cy="447675"/>
            <a:chOff x="2148747" y="3493427"/>
            <a:chExt cx="698500" cy="447675"/>
          </a:xfrm>
        </p:grpSpPr>
        <p:sp>
          <p:nvSpPr>
            <p:cNvPr id="29743" name="AutoShape 79"/>
            <p:cNvSpPr>
              <a:spLocks noChangeAspect="1" noChangeArrowheads="1" noTextEdit="1"/>
            </p:cNvSpPr>
            <p:nvPr/>
          </p:nvSpPr>
          <p:spPr bwMode="auto">
            <a:xfrm>
              <a:off x="2148747" y="3493427"/>
              <a:ext cx="698500" cy="447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spcBef>
                  <a:spcPts val="0"/>
                </a:spcBef>
              </a:pPr>
              <a:endParaRPr lang="en-GB" sz="2400"/>
            </a:p>
          </p:txBody>
        </p:sp>
        <p:sp>
          <p:nvSpPr>
            <p:cNvPr id="29744" name="Rectangle 81"/>
            <p:cNvSpPr>
              <a:spLocks noChangeArrowheads="1"/>
            </p:cNvSpPr>
            <p:nvPr/>
          </p:nvSpPr>
          <p:spPr bwMode="auto">
            <a:xfrm>
              <a:off x="2690085" y="3502952"/>
              <a:ext cx="119953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ts val="0"/>
                </a:spcBef>
              </a:pPr>
              <a:r>
                <a:rPr lang="es-ES" sz="2800">
                  <a:latin typeface="Times New Roman" panose="02020603050405020304" pitchFamily="18" charset="0"/>
                </a:rPr>
                <a:t>)</a:t>
              </a:r>
              <a:endParaRPr lang="es-ES" sz="2400"/>
            </a:p>
          </p:txBody>
        </p:sp>
        <p:sp>
          <p:nvSpPr>
            <p:cNvPr id="29745" name="Rectangle 82"/>
            <p:cNvSpPr>
              <a:spLocks noChangeArrowheads="1"/>
            </p:cNvSpPr>
            <p:nvPr/>
          </p:nvSpPr>
          <p:spPr bwMode="auto">
            <a:xfrm>
              <a:off x="2580547" y="3502952"/>
              <a:ext cx="99161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ts val="0"/>
                </a:spcBef>
              </a:pPr>
              <a:r>
                <a:rPr lang="es-ES" sz="2800" dirty="0">
                  <a:latin typeface="Times New Roman" panose="02020603050405020304" pitchFamily="18" charset="0"/>
                </a:rPr>
                <a:t>t</a:t>
              </a:r>
              <a:endParaRPr lang="es-ES" sz="2400" dirty="0"/>
            </a:p>
          </p:txBody>
        </p:sp>
        <p:sp>
          <p:nvSpPr>
            <p:cNvPr id="29746" name="Rectangle 83"/>
            <p:cNvSpPr>
              <a:spLocks noChangeArrowheads="1"/>
            </p:cNvSpPr>
            <p:nvPr/>
          </p:nvSpPr>
          <p:spPr bwMode="auto">
            <a:xfrm>
              <a:off x="2448785" y="3502952"/>
              <a:ext cx="119953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ts val="0"/>
                </a:spcBef>
              </a:pPr>
              <a:r>
                <a:rPr lang="es-ES" sz="2800">
                  <a:latin typeface="Times New Roman" panose="02020603050405020304" pitchFamily="18" charset="0"/>
                </a:rPr>
                <a:t>(</a:t>
              </a:r>
              <a:endParaRPr lang="es-ES" sz="2400"/>
            </a:p>
          </p:txBody>
        </p:sp>
        <p:sp>
          <p:nvSpPr>
            <p:cNvPr id="29747" name="Rectangle 84"/>
            <p:cNvSpPr>
              <a:spLocks noChangeArrowheads="1"/>
            </p:cNvSpPr>
            <p:nvPr/>
          </p:nvSpPr>
          <p:spPr bwMode="auto">
            <a:xfrm>
              <a:off x="2199547" y="3502952"/>
              <a:ext cx="259097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ts val="0"/>
                </a:spcBef>
              </a:pPr>
              <a:r>
                <a:rPr lang="es-ES" sz="2800" dirty="0">
                  <a:latin typeface="Times New Roman" panose="02020603050405020304" pitchFamily="18" charset="0"/>
                </a:rPr>
                <a:t>V</a:t>
              </a:r>
              <a:endParaRPr lang="es-ES" sz="2400" dirty="0"/>
            </a:p>
          </p:txBody>
        </p:sp>
      </p:grpSp>
      <p:grpSp>
        <p:nvGrpSpPr>
          <p:cNvPr id="48" name="Group 52"/>
          <p:cNvGrpSpPr>
            <a:grpSpLocks/>
          </p:cNvGrpSpPr>
          <p:nvPr/>
        </p:nvGrpSpPr>
        <p:grpSpPr bwMode="auto">
          <a:xfrm>
            <a:off x="2788596" y="5955302"/>
            <a:ext cx="6003925" cy="906463"/>
            <a:chOff x="1605" y="3959"/>
            <a:chExt cx="3782" cy="571"/>
          </a:xfrm>
        </p:grpSpPr>
        <p:sp>
          <p:nvSpPr>
            <p:cNvPr id="49" name="Text Box 30"/>
            <p:cNvSpPr txBox="1">
              <a:spLocks noChangeArrowheads="1"/>
            </p:cNvSpPr>
            <p:nvPr/>
          </p:nvSpPr>
          <p:spPr bwMode="auto">
            <a:xfrm>
              <a:off x="1605" y="3959"/>
              <a:ext cx="3782" cy="571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 b="1" dirty="0">
                  <a:latin typeface="Arial" panose="020B0604020202020204" pitchFamily="34" charset="0"/>
                  <a:sym typeface="Symbol" panose="05050102010706020507" pitchFamily="18" charset="2"/>
                </a:rPr>
                <a:t></a:t>
              </a:r>
              <a:r>
                <a:rPr lang="es-ES" sz="2400" dirty="0">
                  <a:latin typeface="Arial" panose="020B0604020202020204" pitchFamily="34" charset="0"/>
                  <a:sym typeface="Symbol" panose="05050102010706020507" pitchFamily="18" charset="2"/>
                </a:rPr>
                <a:t> Ondas Eléctricas  |  </a:t>
              </a:r>
              <a:r>
                <a:rPr lang="es-ES" sz="2400" b="1" dirty="0">
                  <a:latin typeface="Arial" panose="020B0604020202020204" pitchFamily="34" charset="0"/>
                  <a:sym typeface="Symbol" panose="05050102010706020507" pitchFamily="18" charset="2"/>
                </a:rPr>
                <a:t></a:t>
              </a:r>
              <a:r>
                <a:rPr lang="es-ES" sz="2400" dirty="0">
                  <a:latin typeface="Arial" panose="020B0604020202020204" pitchFamily="34" charset="0"/>
                  <a:sym typeface="Symbol" panose="05050102010706020507" pitchFamily="18" charset="2"/>
                </a:rPr>
                <a:t> Ondas Magnéticas</a:t>
              </a:r>
            </a:p>
            <a:p>
              <a:pPr algn="ctr" eaLnBrk="1" hangingPunct="1">
                <a:spcBef>
                  <a:spcPts val="0"/>
                </a:spcBef>
                <a:buFontTx/>
                <a:buNone/>
              </a:pPr>
              <a:r>
                <a:rPr lang="es-ES" sz="2400" b="1" dirty="0">
                  <a:latin typeface="Arial" panose="020B0604020202020204" pitchFamily="34" charset="0"/>
                  <a:sym typeface="Symbol" panose="05050102010706020507" pitchFamily="18" charset="2"/>
                </a:rPr>
                <a:t></a:t>
              </a:r>
              <a:r>
                <a:rPr lang="es-ES" sz="2400" dirty="0">
                  <a:latin typeface="Arial" panose="020B0604020202020204" pitchFamily="34" charset="0"/>
                  <a:sym typeface="Symbol" panose="05050102010706020507" pitchFamily="18" charset="2"/>
                </a:rPr>
                <a:t> Ondas Electromagnéticas (OEM) </a:t>
              </a:r>
            </a:p>
          </p:txBody>
        </p:sp>
        <p:sp>
          <p:nvSpPr>
            <p:cNvPr id="50" name="Line 31"/>
            <p:cNvSpPr>
              <a:spLocks noChangeShapeType="1"/>
            </p:cNvSpPr>
            <p:nvPr/>
          </p:nvSpPr>
          <p:spPr bwMode="auto">
            <a:xfrm flipH="1">
              <a:off x="1682" y="4000"/>
              <a:ext cx="90" cy="26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pPr>
                <a:spcBef>
                  <a:spcPts val="0"/>
                </a:spcBef>
              </a:pPr>
              <a:endParaRPr lang="en-GB" sz="2400"/>
            </a:p>
          </p:txBody>
        </p:sp>
        <p:sp>
          <p:nvSpPr>
            <p:cNvPr id="51" name="Line 32"/>
            <p:cNvSpPr>
              <a:spLocks noChangeShapeType="1"/>
            </p:cNvSpPr>
            <p:nvPr/>
          </p:nvSpPr>
          <p:spPr bwMode="auto">
            <a:xfrm flipH="1">
              <a:off x="3546" y="4004"/>
              <a:ext cx="90" cy="26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pPr>
                <a:spcBef>
                  <a:spcPts val="0"/>
                </a:spcBef>
              </a:pPr>
              <a:endParaRPr lang="en-GB" sz="2400"/>
            </a:p>
          </p:txBody>
        </p:sp>
      </p:grpSp>
      <p:sp>
        <p:nvSpPr>
          <p:cNvPr id="52" name="61 CuadroTexto"/>
          <p:cNvSpPr txBox="1">
            <a:spLocks noChangeArrowheads="1"/>
          </p:cNvSpPr>
          <p:nvPr/>
        </p:nvSpPr>
        <p:spPr bwMode="auto">
          <a:xfrm>
            <a:off x="1757779" y="4881998"/>
            <a:ext cx="8035149" cy="905881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tIns="82800" bIns="82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Las perturbaciones que se propagan no son variaciones en </a:t>
            </a:r>
            <a:r>
              <a:rPr lang="es-ES" sz="2400" b="1" dirty="0">
                <a:solidFill>
                  <a:srgbClr val="000000"/>
                </a:solidFill>
                <a:latin typeface="Arial" panose="020B0604020202020204" pitchFamily="34" charset="0"/>
              </a:rPr>
              <a:t>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o en </a:t>
            </a:r>
            <a:r>
              <a:rPr lang="es-ES" sz="2400" b="1" dirty="0">
                <a:solidFill>
                  <a:srgbClr val="000000"/>
                </a:solidFill>
                <a:latin typeface="Arial" panose="020B0604020202020204" pitchFamily="34" charset="0"/>
              </a:rPr>
              <a:t>B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, van siendo en </a:t>
            </a:r>
            <a:r>
              <a:rPr lang="es-ES" sz="2400" b="1" dirty="0">
                <a:solidFill>
                  <a:srgbClr val="000000"/>
                </a:solidFill>
                <a:latin typeface="Arial" panose="020B0604020202020204" pitchFamily="34" charset="0"/>
              </a:rPr>
              <a:t>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o en </a:t>
            </a:r>
            <a:r>
              <a:rPr lang="es-ES" sz="2400" b="1" dirty="0">
                <a:solidFill>
                  <a:srgbClr val="000000"/>
                </a:solidFill>
                <a:latin typeface="Arial" panose="020B0604020202020204" pitchFamily="34" charset="0"/>
              </a:rPr>
              <a:t>B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, </a:t>
            </a:r>
            <a:r>
              <a:rPr lang="es-ES" sz="2400" dirty="0">
                <a:latin typeface="Arial" panose="020B0604020202020204" pitchFamily="34" charset="0"/>
              </a:rPr>
              <a:t>van induciéndose</a:t>
            </a:r>
          </a:p>
        </p:txBody>
      </p:sp>
      <p:sp>
        <p:nvSpPr>
          <p:cNvPr id="53" name="Text Box 4">
            <a:extLst>
              <a:ext uri="{FF2B5EF4-FFF2-40B4-BE49-F238E27FC236}">
                <a16:creationId xmlns:a16="http://schemas.microsoft.com/office/drawing/2014/main" id="{21569799-5626-41B5-A58D-A1E9745B4D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97005" y="2412949"/>
            <a:ext cx="1737592" cy="905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Symbol" panose="05050102010706020507" pitchFamily="18" charset="2"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Si se propaga</a:t>
            </a:r>
          </a:p>
        </p:txBody>
      </p:sp>
      <p:sp>
        <p:nvSpPr>
          <p:cNvPr id="54" name="Text Box 69">
            <a:extLst>
              <a:ext uri="{FF2B5EF4-FFF2-40B4-BE49-F238E27FC236}">
                <a16:creationId xmlns:a16="http://schemas.microsoft.com/office/drawing/2014/main" id="{09040C5D-9D9D-4EA9-9E77-A5D2ADB703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2539" y="2065527"/>
            <a:ext cx="2049530" cy="463846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46800" rIns="90000" bIns="46800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s-ES" sz="2400" dirty="0">
                <a:solidFill>
                  <a:schemeClr val="tx1"/>
                </a:solidFill>
              </a:rPr>
              <a:t>Emisión OEM</a:t>
            </a:r>
          </a:p>
        </p:txBody>
      </p:sp>
      <p:sp>
        <p:nvSpPr>
          <p:cNvPr id="20" name="Text Box 4">
            <a:extLst>
              <a:ext uri="{FF2B5EF4-FFF2-40B4-BE49-F238E27FC236}">
                <a16:creationId xmlns:a16="http://schemas.microsoft.com/office/drawing/2014/main" id="{184E9696-1C59-8177-E1D9-B9702005DE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475" y="3860169"/>
            <a:ext cx="2455340" cy="905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Symbol" panose="05050102010706020507" pitchFamily="18" charset="2"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(un conjunto de perturbaciones)</a:t>
            </a:r>
          </a:p>
        </p:txBody>
      </p:sp>
    </p:spTree>
    <p:extLst>
      <p:ext uri="{BB962C8B-B14F-4D97-AF65-F5344CB8AC3E}">
        <p14:creationId xmlns:p14="http://schemas.microsoft.com/office/powerpoint/2010/main" val="264491117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9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802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802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780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9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9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29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29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24" grpId="0" animBg="1"/>
      <p:bldP spid="29698" grpId="0" animBg="1"/>
      <p:bldP spid="780298" grpId="0" animBg="1"/>
      <p:bldP spid="780299" grpId="0" animBg="1"/>
      <p:bldP spid="2" grpId="0" animBg="1"/>
      <p:bldP spid="29765" grpId="0"/>
      <p:bldP spid="29739" grpId="0" animBg="1"/>
      <p:bldP spid="29759" grpId="0" animBg="1"/>
      <p:bldP spid="52" grpId="0" animBg="1"/>
      <p:bldP spid="53" grpId="0"/>
      <p:bldP spid="54" grpId="0" animBg="1"/>
      <p:bldP spid="2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upo 23"/>
          <p:cNvGrpSpPr/>
          <p:nvPr/>
        </p:nvGrpSpPr>
        <p:grpSpPr>
          <a:xfrm>
            <a:off x="5768228" y="1323239"/>
            <a:ext cx="1113054" cy="446540"/>
            <a:chOff x="6491927" y="4489050"/>
            <a:chExt cx="1113054" cy="446540"/>
          </a:xfrm>
        </p:grpSpPr>
        <p:graphicFrame>
          <p:nvGraphicFramePr>
            <p:cNvPr id="29752" name="Object 40"/>
            <p:cNvGraphicFramePr>
              <a:graphicFrameLocks noChangeAspect="1"/>
            </p:cNvGraphicFramePr>
            <p:nvPr/>
          </p:nvGraphicFramePr>
          <p:xfrm>
            <a:off x="6906486" y="4489050"/>
            <a:ext cx="698495" cy="4465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3" imgW="317225" imgH="203024" progId="Equation.3">
                    <p:embed/>
                  </p:oleObj>
                </mc:Choice>
                <mc:Fallback>
                  <p:oleObj name="Ecuación" r:id="rId3" imgW="317225" imgH="203024" progId="Equation.3">
                    <p:embed/>
                    <p:pic>
                      <p:nvPicPr>
                        <p:cNvPr id="29752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06486" y="4489050"/>
                          <a:ext cx="698495" cy="4465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53" name="Line 8"/>
            <p:cNvSpPr>
              <a:spLocks noChangeShapeType="1"/>
            </p:cNvSpPr>
            <p:nvPr/>
          </p:nvSpPr>
          <p:spPr bwMode="auto">
            <a:xfrm>
              <a:off x="6491927" y="4740778"/>
              <a:ext cx="255586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 type="none" w="lg" len="lg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 sz="2400"/>
            </a:p>
          </p:txBody>
        </p:sp>
      </p:grpSp>
      <p:grpSp>
        <p:nvGrpSpPr>
          <p:cNvPr id="25" name="Grupo 24"/>
          <p:cNvGrpSpPr/>
          <p:nvPr/>
        </p:nvGrpSpPr>
        <p:grpSpPr>
          <a:xfrm>
            <a:off x="5713378" y="5024879"/>
            <a:ext cx="3568454" cy="463577"/>
            <a:chOff x="6576709" y="5912606"/>
            <a:chExt cx="3568454" cy="463577"/>
          </a:xfrm>
        </p:grpSpPr>
        <p:sp>
          <p:nvSpPr>
            <p:cNvPr id="29737" name="Line 41"/>
            <p:cNvSpPr>
              <a:spLocks noChangeShapeType="1"/>
            </p:cNvSpPr>
            <p:nvPr/>
          </p:nvSpPr>
          <p:spPr bwMode="auto">
            <a:xfrm>
              <a:off x="6576709" y="6142599"/>
              <a:ext cx="255586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 type="none" w="lg" len="lg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 sz="2400"/>
            </a:p>
          </p:txBody>
        </p:sp>
        <p:graphicFrame>
          <p:nvGraphicFramePr>
            <p:cNvPr id="29738" name="Object 7"/>
            <p:cNvGraphicFramePr>
              <a:graphicFrameLocks noChangeAspect="1"/>
            </p:cNvGraphicFramePr>
            <p:nvPr/>
          </p:nvGraphicFramePr>
          <p:xfrm>
            <a:off x="6996870" y="5924904"/>
            <a:ext cx="588959" cy="448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5" imgW="266469" imgH="203024" progId="Equation.3">
                    <p:embed/>
                  </p:oleObj>
                </mc:Choice>
                <mc:Fallback>
                  <p:oleObj name="Ecuación" r:id="rId5" imgW="266469" imgH="203024" progId="Equation.3">
                    <p:embed/>
                    <p:pic>
                      <p:nvPicPr>
                        <p:cNvPr id="29738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96870" y="5924904"/>
                          <a:ext cx="588959" cy="4481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" name="Object 40"/>
            <p:cNvGraphicFramePr>
              <a:graphicFrameLocks noChangeAspect="1"/>
            </p:cNvGraphicFramePr>
            <p:nvPr/>
          </p:nvGraphicFramePr>
          <p:xfrm>
            <a:off x="9446667" y="5928083"/>
            <a:ext cx="698496" cy="448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7" imgW="317225" imgH="203024" progId="Equation.3">
                    <p:embed/>
                  </p:oleObj>
                </mc:Choice>
                <mc:Fallback>
                  <p:oleObj name="Ecuación" r:id="rId7" imgW="317225" imgH="203024" progId="Equation.3">
                    <p:embed/>
                    <p:pic>
                      <p:nvPicPr>
                        <p:cNvPr id="3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446667" y="5928083"/>
                          <a:ext cx="698496" cy="4481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Line 8"/>
            <p:cNvSpPr>
              <a:spLocks noChangeShapeType="1"/>
            </p:cNvSpPr>
            <p:nvPr/>
          </p:nvSpPr>
          <p:spPr bwMode="auto">
            <a:xfrm>
              <a:off x="9033065" y="6161667"/>
              <a:ext cx="255586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 type="none" w="lg" len="lg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 sz="2400"/>
            </a:p>
          </p:txBody>
        </p:sp>
        <p:graphicFrame>
          <p:nvGraphicFramePr>
            <p:cNvPr id="29741" name="Object 40"/>
            <p:cNvGraphicFramePr>
              <a:graphicFrameLocks noChangeAspect="1"/>
            </p:cNvGraphicFramePr>
            <p:nvPr/>
          </p:nvGraphicFramePr>
          <p:xfrm>
            <a:off x="8171798" y="5912606"/>
            <a:ext cx="698491" cy="448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3" imgW="317225" imgH="203024" progId="Equation.3">
                    <p:embed/>
                  </p:oleObj>
                </mc:Choice>
                <mc:Fallback>
                  <p:oleObj name="Ecuación" r:id="rId3" imgW="317225" imgH="203024" progId="Equation.3">
                    <p:embed/>
                    <p:pic>
                      <p:nvPicPr>
                        <p:cNvPr id="29741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71798" y="5912606"/>
                          <a:ext cx="698491" cy="4481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Line 8"/>
            <p:cNvSpPr>
              <a:spLocks noChangeShapeType="1"/>
            </p:cNvSpPr>
            <p:nvPr/>
          </p:nvSpPr>
          <p:spPr bwMode="auto">
            <a:xfrm>
              <a:off x="7786737" y="6165213"/>
              <a:ext cx="255585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 type="none" w="lg" len="lg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 sz="2400"/>
            </a:p>
          </p:txBody>
        </p:sp>
      </p:grpSp>
      <p:sp>
        <p:nvSpPr>
          <p:cNvPr id="23" name="CuadroTexto 22"/>
          <p:cNvSpPr txBox="1">
            <a:spLocks noChangeArrowheads="1"/>
          </p:cNvSpPr>
          <p:nvPr/>
        </p:nvSpPr>
        <p:spPr bwMode="auto">
          <a:xfrm>
            <a:off x="3258323" y="1829850"/>
            <a:ext cx="169148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s-ES" sz="2400" dirty="0">
                <a:solidFill>
                  <a:srgbClr val="008000"/>
                </a:solidFill>
              </a:rPr>
              <a:t>segmentos</a:t>
            </a:r>
          </a:p>
          <a:p>
            <a:pPr algn="ctr"/>
            <a:r>
              <a:rPr lang="es-ES" sz="2400" dirty="0">
                <a:solidFill>
                  <a:srgbClr val="008000"/>
                </a:solidFill>
              </a:rPr>
              <a:t>lineales</a:t>
            </a:r>
          </a:p>
        </p:txBody>
      </p:sp>
      <p:sp>
        <p:nvSpPr>
          <p:cNvPr id="86" name="CuadroTexto 85"/>
          <p:cNvSpPr txBox="1">
            <a:spLocks noChangeArrowheads="1"/>
          </p:cNvSpPr>
          <p:nvPr/>
        </p:nvSpPr>
        <p:spPr bwMode="auto">
          <a:xfrm>
            <a:off x="3469114" y="4562698"/>
            <a:ext cx="126348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2400" dirty="0">
                <a:solidFill>
                  <a:srgbClr val="008000"/>
                </a:solidFill>
              </a:rPr>
              <a:t> circular</a:t>
            </a:r>
          </a:p>
        </p:txBody>
      </p:sp>
      <p:grpSp>
        <p:nvGrpSpPr>
          <p:cNvPr id="20" name="Grupo 19"/>
          <p:cNvGrpSpPr/>
          <p:nvPr/>
        </p:nvGrpSpPr>
        <p:grpSpPr>
          <a:xfrm>
            <a:off x="3820187" y="1284875"/>
            <a:ext cx="1744668" cy="531118"/>
            <a:chOff x="4595514" y="4441650"/>
            <a:chExt cx="1744668" cy="531118"/>
          </a:xfrm>
        </p:grpSpPr>
        <p:graphicFrame>
          <p:nvGraphicFramePr>
            <p:cNvPr id="29749" name="Object 7"/>
            <p:cNvGraphicFramePr>
              <a:graphicFrameLocks noChangeAspect="1"/>
            </p:cNvGraphicFramePr>
            <p:nvPr/>
          </p:nvGraphicFramePr>
          <p:xfrm>
            <a:off x="5751220" y="4501306"/>
            <a:ext cx="588962" cy="4465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5" imgW="266469" imgH="203024" progId="Equation.3">
                    <p:embed/>
                  </p:oleObj>
                </mc:Choice>
                <mc:Fallback>
                  <p:oleObj name="Ecuación" r:id="rId5" imgW="266469" imgH="203024" progId="Equation.3">
                    <p:embed/>
                    <p:pic>
                      <p:nvPicPr>
                        <p:cNvPr id="29749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51220" y="4501306"/>
                          <a:ext cx="588962" cy="4465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7" name="Object 40"/>
            <p:cNvGraphicFramePr>
              <a:graphicFrameLocks noChangeAspect="1"/>
            </p:cNvGraphicFramePr>
            <p:nvPr/>
          </p:nvGraphicFramePr>
          <p:xfrm>
            <a:off x="4595514" y="4441650"/>
            <a:ext cx="669920" cy="5311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9" imgW="304668" imgH="241195" progId="Equation.3">
                    <p:embed/>
                  </p:oleObj>
                </mc:Choice>
                <mc:Fallback>
                  <p:oleObj name="Ecuación" r:id="rId9" imgW="304668" imgH="241195" progId="Equation.3">
                    <p:embed/>
                    <p:pic>
                      <p:nvPicPr>
                        <p:cNvPr id="77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95514" y="4441650"/>
                          <a:ext cx="669920" cy="5311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8" name="CuadroTexto 77"/>
            <p:cNvSpPr txBox="1">
              <a:spLocks noChangeArrowheads="1"/>
            </p:cNvSpPr>
            <p:nvPr/>
          </p:nvSpPr>
          <p:spPr bwMode="auto">
            <a:xfrm>
              <a:off x="5277659" y="4470007"/>
              <a:ext cx="48763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ts val="0"/>
                </a:spcBef>
              </a:pPr>
              <a:r>
                <a:rPr lang="es-ES" sz="2400">
                  <a:solidFill>
                    <a:srgbClr val="008000"/>
                  </a:solidFill>
                  <a:sym typeface="Symbol" panose="05050102010706020507" pitchFamily="18" charset="2"/>
                </a:rPr>
                <a:t></a:t>
              </a:r>
              <a:endParaRPr lang="es-ES" sz="2400">
                <a:solidFill>
                  <a:srgbClr val="008000"/>
                </a:solidFill>
              </a:endParaRPr>
            </a:p>
          </p:txBody>
        </p:sp>
      </p:grpSp>
      <p:grpSp>
        <p:nvGrpSpPr>
          <p:cNvPr id="21" name="Grupo 20"/>
          <p:cNvGrpSpPr/>
          <p:nvPr/>
        </p:nvGrpSpPr>
        <p:grpSpPr>
          <a:xfrm>
            <a:off x="3779516" y="4985953"/>
            <a:ext cx="1817005" cy="532146"/>
            <a:chOff x="4626336" y="5833818"/>
            <a:chExt cx="1817005" cy="532146"/>
          </a:xfrm>
        </p:grpSpPr>
        <p:graphicFrame>
          <p:nvGraphicFramePr>
            <p:cNvPr id="29736" name="Object 40"/>
            <p:cNvGraphicFramePr>
              <a:graphicFrameLocks noChangeAspect="1"/>
            </p:cNvGraphicFramePr>
            <p:nvPr/>
          </p:nvGraphicFramePr>
          <p:xfrm>
            <a:off x="5773420" y="5834846"/>
            <a:ext cx="669921" cy="5311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9" imgW="304668" imgH="241195" progId="Equation.3">
                    <p:embed/>
                  </p:oleObj>
                </mc:Choice>
                <mc:Fallback>
                  <p:oleObj name="Ecuación" r:id="rId9" imgW="304668" imgH="241195" progId="Equation.3">
                    <p:embed/>
                    <p:pic>
                      <p:nvPicPr>
                        <p:cNvPr id="29736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73420" y="5834846"/>
                          <a:ext cx="669921" cy="5311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9" name="Object 19"/>
            <p:cNvGraphicFramePr>
              <a:graphicFrameLocks noChangeAspect="1"/>
            </p:cNvGraphicFramePr>
            <p:nvPr/>
          </p:nvGraphicFramePr>
          <p:xfrm>
            <a:off x="4626336" y="5833818"/>
            <a:ext cx="671512" cy="5315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11" imgW="304668" imgH="241195" progId="Equation.3">
                    <p:embed/>
                  </p:oleObj>
                </mc:Choice>
                <mc:Fallback>
                  <p:oleObj name="Ecuación" r:id="rId11" imgW="304668" imgH="241195" progId="Equation.3">
                    <p:embed/>
                    <p:pic>
                      <p:nvPicPr>
                        <p:cNvPr id="79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26336" y="5833818"/>
                          <a:ext cx="671512" cy="5315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0" name="CuadroTexto 79"/>
            <p:cNvSpPr txBox="1">
              <a:spLocks noChangeArrowheads="1"/>
            </p:cNvSpPr>
            <p:nvPr/>
          </p:nvSpPr>
          <p:spPr bwMode="auto">
            <a:xfrm>
              <a:off x="5301715" y="5872744"/>
              <a:ext cx="48763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ts val="0"/>
                </a:spcBef>
              </a:pPr>
              <a:r>
                <a:rPr lang="es-ES" sz="2400">
                  <a:solidFill>
                    <a:srgbClr val="008000"/>
                  </a:solidFill>
                  <a:sym typeface="Symbol" panose="05050102010706020507" pitchFamily="18" charset="2"/>
                </a:rPr>
                <a:t></a:t>
              </a:r>
              <a:endParaRPr lang="es-ES" sz="2400">
                <a:solidFill>
                  <a:srgbClr val="008000"/>
                </a:solidFill>
              </a:endParaRPr>
            </a:p>
          </p:txBody>
        </p:sp>
      </p:grpSp>
      <p:sp>
        <p:nvSpPr>
          <p:cNvPr id="87" name="CuadroTexto 86"/>
          <p:cNvSpPr txBox="1">
            <a:spLocks noChangeArrowheads="1"/>
          </p:cNvSpPr>
          <p:nvPr/>
        </p:nvSpPr>
        <p:spPr bwMode="auto">
          <a:xfrm>
            <a:off x="8214001" y="1312606"/>
            <a:ext cx="144293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ts val="0"/>
              </a:spcBef>
            </a:pPr>
            <a:r>
              <a:rPr lang="es-ES" sz="2400">
                <a:solidFill>
                  <a:srgbClr val="FF0000"/>
                </a:solidFill>
              </a:rPr>
              <a:t>(señal en circuito</a:t>
            </a:r>
          </a:p>
          <a:p>
            <a:pPr algn="r">
              <a:spcBef>
                <a:spcPts val="0"/>
              </a:spcBef>
            </a:pPr>
            <a:r>
              <a:rPr lang="es-ES" sz="2400">
                <a:solidFill>
                  <a:srgbClr val="FF0000"/>
                </a:solidFill>
              </a:rPr>
              <a:t>unido a antena)</a:t>
            </a:r>
            <a:endParaRPr lang="es-ES" sz="2400" dirty="0">
              <a:solidFill>
                <a:srgbClr val="FF0000"/>
              </a:solidFill>
            </a:endParaRPr>
          </a:p>
        </p:txBody>
      </p:sp>
      <p:sp>
        <p:nvSpPr>
          <p:cNvPr id="42" name="CuadroTexto 41"/>
          <p:cNvSpPr txBox="1">
            <a:spLocks noChangeArrowheads="1"/>
          </p:cNvSpPr>
          <p:nvPr/>
        </p:nvSpPr>
        <p:spPr bwMode="auto">
          <a:xfrm>
            <a:off x="5779806" y="2963751"/>
            <a:ext cx="4669012" cy="1320362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wrap="square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ts val="0"/>
              </a:spcBef>
            </a:pPr>
            <a:r>
              <a:rPr lang="es-ES" sz="2400" dirty="0">
                <a:solidFill>
                  <a:schemeClr val="tx1"/>
                </a:solidFill>
              </a:rPr>
              <a:t>La señal es mayor:</a:t>
            </a:r>
          </a:p>
          <a:p>
            <a:pPr>
              <a:spcBef>
                <a:spcPts val="0"/>
              </a:spcBef>
            </a:pP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 </a:t>
            </a:r>
            <a:r>
              <a:rPr lang="es-ES" sz="2400" dirty="0">
                <a:solidFill>
                  <a:schemeClr val="tx1"/>
                </a:solidFill>
              </a:rPr>
              <a:t>Si </a:t>
            </a:r>
            <a:r>
              <a:rPr lang="es-ES" sz="2400" b="1" dirty="0">
                <a:solidFill>
                  <a:schemeClr val="tx1"/>
                </a:solidFill>
              </a:rPr>
              <a:t>E</a:t>
            </a:r>
            <a:r>
              <a:rPr lang="es-ES" sz="2400" dirty="0">
                <a:solidFill>
                  <a:schemeClr val="tx1"/>
                </a:solidFill>
              </a:rPr>
              <a:t>(t) es // a la antena lineal</a:t>
            </a:r>
          </a:p>
          <a:p>
            <a:pPr>
              <a:spcBef>
                <a:spcPts val="0"/>
              </a:spcBef>
            </a:pP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 </a:t>
            </a:r>
            <a:r>
              <a:rPr lang="es-ES" sz="2400" dirty="0">
                <a:solidFill>
                  <a:schemeClr val="tx1"/>
                </a:solidFill>
              </a:rPr>
              <a:t>Si </a:t>
            </a:r>
            <a:r>
              <a:rPr lang="es-ES" sz="2400" b="1" dirty="0">
                <a:solidFill>
                  <a:schemeClr val="tx1"/>
                </a:solidFill>
              </a:rPr>
              <a:t>B</a:t>
            </a:r>
            <a:r>
              <a:rPr lang="es-ES" sz="2400" dirty="0">
                <a:solidFill>
                  <a:schemeClr val="tx1"/>
                </a:solidFill>
              </a:rPr>
              <a:t>(t) es 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 a la circular (</a:t>
            </a:r>
            <a:r>
              <a:rPr lang="es-ES" sz="2400" b="1" dirty="0">
                <a:solidFill>
                  <a:schemeClr val="tx1"/>
                </a:solidFill>
              </a:rPr>
              <a:t>E</a:t>
            </a:r>
            <a:r>
              <a:rPr lang="es-ES" sz="2400" dirty="0">
                <a:solidFill>
                  <a:schemeClr val="tx1"/>
                </a:solidFill>
              </a:rPr>
              <a:t>(t) //)</a:t>
            </a:r>
          </a:p>
        </p:txBody>
      </p:sp>
      <p:sp>
        <p:nvSpPr>
          <p:cNvPr id="50" name="CuadroTexto 49"/>
          <p:cNvSpPr txBox="1">
            <a:spLocks noChangeArrowheads="1"/>
          </p:cNvSpPr>
          <p:nvPr/>
        </p:nvSpPr>
        <p:spPr bwMode="auto">
          <a:xfrm>
            <a:off x="1359694" y="5969823"/>
            <a:ext cx="8948495" cy="830997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wrap="square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ts val="0"/>
              </a:spcBef>
            </a:pPr>
            <a:r>
              <a:rPr lang="es-ES" sz="2400" dirty="0">
                <a:solidFill>
                  <a:schemeClr val="tx1"/>
                </a:solidFill>
              </a:rPr>
              <a:t>A igualdad de longitud, la señal es mayor en la lineal. Se iguala en las frecuencias más altas en antenas (GHz). </a:t>
            </a:r>
            <a:r>
              <a:rPr lang="es-ES" sz="2400" dirty="0">
                <a:solidFill>
                  <a:srgbClr val="3333FF"/>
                </a:solidFill>
              </a:rPr>
              <a:t>Se usa la lineal</a:t>
            </a:r>
          </a:p>
        </p:txBody>
      </p:sp>
      <p:sp>
        <p:nvSpPr>
          <p:cNvPr id="51" name="Text Box 69"/>
          <p:cNvSpPr txBox="1">
            <a:spLocks noChangeArrowheads="1"/>
          </p:cNvSpPr>
          <p:nvPr/>
        </p:nvSpPr>
        <p:spPr bwMode="auto">
          <a:xfrm>
            <a:off x="1690580" y="331420"/>
            <a:ext cx="8155171" cy="833178"/>
          </a:xfrm>
          <a:prstGeom prst="rect">
            <a:avLst/>
          </a:prstGeom>
          <a:solidFill>
            <a:srgbClr val="99CCFF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46800" rIns="90000" bIns="46800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  <a:defRPr/>
            </a:pPr>
            <a:r>
              <a:rPr lang="es-ES" sz="2400" dirty="0"/>
              <a:t>Maxwell predijo la existencia de OEM y sus propiedades.</a:t>
            </a:r>
          </a:p>
          <a:p>
            <a:pPr algn="ctr" eaLnBrk="1" hangingPunct="1">
              <a:spcBef>
                <a:spcPts val="0"/>
              </a:spcBef>
              <a:defRPr/>
            </a:pPr>
            <a:r>
              <a:rPr lang="es-ES" sz="2400" dirty="0"/>
              <a:t>Hertz las emitió y detectó, y verificó sus propiedades</a:t>
            </a:r>
          </a:p>
        </p:txBody>
      </p:sp>
      <p:sp>
        <p:nvSpPr>
          <p:cNvPr id="44" name="Text Box 69"/>
          <p:cNvSpPr txBox="1">
            <a:spLocks noChangeArrowheads="1"/>
          </p:cNvSpPr>
          <p:nvPr/>
        </p:nvSpPr>
        <p:spPr bwMode="auto">
          <a:xfrm>
            <a:off x="1253254" y="3295543"/>
            <a:ext cx="1584598" cy="463846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46800" rIns="90000" bIns="46800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s-ES" sz="2400" dirty="0">
                <a:solidFill>
                  <a:schemeClr val="tx1"/>
                </a:solidFill>
              </a:rPr>
              <a:t>Detección</a:t>
            </a:r>
          </a:p>
        </p:txBody>
      </p:sp>
      <p:sp>
        <p:nvSpPr>
          <p:cNvPr id="52" name="Line 8">
            <a:extLst>
              <a:ext uri="{FF2B5EF4-FFF2-40B4-BE49-F238E27FC236}">
                <a16:creationId xmlns:a16="http://schemas.microsoft.com/office/drawing/2014/main" id="{1B0C10C1-56DC-476F-B6E6-04FEAD233C5B}"/>
              </a:ext>
            </a:extLst>
          </p:cNvPr>
          <p:cNvSpPr>
            <a:spLocks noChangeShapeType="1"/>
          </p:cNvSpPr>
          <p:nvPr/>
        </p:nvSpPr>
        <p:spPr bwMode="auto">
          <a:xfrm rot="16200000" flipV="1">
            <a:off x="3981642" y="2755380"/>
            <a:ext cx="252000" cy="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none" w="lg" len="lg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90000" tIns="82800" rIns="90000" bIns="82800" anchorCtr="1">
            <a:spAutoFit/>
          </a:bodyPr>
          <a:lstStyle/>
          <a:p>
            <a:endParaRPr lang="en-GB" sz="2400"/>
          </a:p>
        </p:txBody>
      </p:sp>
      <p:sp>
        <p:nvSpPr>
          <p:cNvPr id="53" name="Line 8">
            <a:extLst>
              <a:ext uri="{FF2B5EF4-FFF2-40B4-BE49-F238E27FC236}">
                <a16:creationId xmlns:a16="http://schemas.microsoft.com/office/drawing/2014/main" id="{E4134F48-2319-435E-A7D2-7ED777DED1D8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3973808" y="4491280"/>
            <a:ext cx="252000" cy="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none" w="lg" len="lg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90000" tIns="82800" rIns="90000" bIns="82800" anchorCtr="1">
            <a:spAutoFit/>
          </a:bodyPr>
          <a:lstStyle/>
          <a:p>
            <a:endParaRPr lang="en-GB" sz="2400"/>
          </a:p>
        </p:txBody>
      </p:sp>
      <p:grpSp>
        <p:nvGrpSpPr>
          <p:cNvPr id="12" name="Grupo 11">
            <a:extLst>
              <a:ext uri="{FF2B5EF4-FFF2-40B4-BE49-F238E27FC236}">
                <a16:creationId xmlns:a16="http://schemas.microsoft.com/office/drawing/2014/main" id="{7B98435C-9B81-4EFB-9610-3FFE203684B6}"/>
              </a:ext>
            </a:extLst>
          </p:cNvPr>
          <p:cNvGrpSpPr/>
          <p:nvPr/>
        </p:nvGrpSpPr>
        <p:grpSpPr>
          <a:xfrm>
            <a:off x="3067194" y="2905800"/>
            <a:ext cx="1954352" cy="1367776"/>
            <a:chOff x="3067194" y="2905800"/>
            <a:chExt cx="1954352" cy="1367776"/>
          </a:xfrm>
        </p:grpSpPr>
        <p:grpSp>
          <p:nvGrpSpPr>
            <p:cNvPr id="8" name="Grupo 7"/>
            <p:cNvGrpSpPr/>
            <p:nvPr/>
          </p:nvGrpSpPr>
          <p:grpSpPr>
            <a:xfrm>
              <a:off x="3302008" y="2992464"/>
              <a:ext cx="1719538" cy="1281112"/>
              <a:chOff x="2800385" y="3646577"/>
              <a:chExt cx="1719538" cy="1281112"/>
            </a:xfrm>
          </p:grpSpPr>
          <p:sp>
            <p:nvSpPr>
              <p:cNvPr id="29729" name="Text Box 69"/>
              <p:cNvSpPr txBox="1">
                <a:spLocks noChangeArrowheads="1"/>
              </p:cNvSpPr>
              <p:nvPr/>
            </p:nvSpPr>
            <p:spPr bwMode="auto">
              <a:xfrm>
                <a:off x="2910970" y="3646577"/>
                <a:ext cx="1476368" cy="463846"/>
              </a:xfrm>
              <a:prstGeom prst="rect">
                <a:avLst/>
              </a:prstGeom>
              <a:solidFill>
                <a:schemeClr val="bg2">
                  <a:lumMod val="60000"/>
                  <a:lumOff val="40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254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square" lIns="90000" tIns="46800" rIns="90000" bIns="46800" anchorCtr="1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s-ES" sz="2400" dirty="0"/>
                  <a:t>Antenas</a:t>
                </a:r>
              </a:p>
            </p:txBody>
          </p:sp>
          <p:sp>
            <p:nvSpPr>
              <p:cNvPr id="47" name="CuadroTexto 46"/>
              <p:cNvSpPr txBox="1">
                <a:spLocks noChangeArrowheads="1"/>
              </p:cNvSpPr>
              <p:nvPr/>
            </p:nvSpPr>
            <p:spPr bwMode="auto">
              <a:xfrm>
                <a:off x="2800385" y="4096692"/>
                <a:ext cx="1719538" cy="8309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lang="es-ES" sz="2400" dirty="0">
                    <a:solidFill>
                      <a:srgbClr val="008000"/>
                    </a:solidFill>
                  </a:rPr>
                  <a:t>estructuras metálicas</a:t>
                </a:r>
              </a:p>
            </p:txBody>
          </p:sp>
        </p:grpSp>
        <p:sp>
          <p:nvSpPr>
            <p:cNvPr id="26" name="Abrir llave 25">
              <a:extLst>
                <a:ext uri="{FF2B5EF4-FFF2-40B4-BE49-F238E27FC236}">
                  <a16:creationId xmlns:a16="http://schemas.microsoft.com/office/drawing/2014/main" id="{041902D4-FC8D-4C84-B98A-E05FEB0B5650}"/>
                </a:ext>
              </a:extLst>
            </p:cNvPr>
            <p:cNvSpPr/>
            <p:nvPr/>
          </p:nvSpPr>
          <p:spPr bwMode="auto">
            <a:xfrm>
              <a:off x="3067194" y="2905800"/>
              <a:ext cx="203303" cy="1353149"/>
            </a:xfrm>
            <a:prstGeom prst="leftBrace">
              <a:avLst/>
            </a:prstGeom>
            <a:noFill/>
            <a:ln w="38100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none" w="lg" len="lg"/>
            </a:ln>
            <a:effectLst/>
          </p:spPr>
          <p:txBody>
            <a:bodyPr vert="horz" wrap="square" lIns="90000" tIns="82800" rIns="90000" bIns="82800" numCol="1" rtlCol="0" anchor="t" anchorCtr="1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-2500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2716CB2F-1A54-4F63-B7AB-0D150C3423E6}"/>
              </a:ext>
            </a:extLst>
          </p:cNvPr>
          <p:cNvGrpSpPr/>
          <p:nvPr/>
        </p:nvGrpSpPr>
        <p:grpSpPr>
          <a:xfrm>
            <a:off x="5091270" y="1861614"/>
            <a:ext cx="174923" cy="1072933"/>
            <a:chOff x="4933954" y="1861614"/>
            <a:chExt cx="174923" cy="1072933"/>
          </a:xfrm>
        </p:grpSpPr>
        <p:grpSp>
          <p:nvGrpSpPr>
            <p:cNvPr id="19" name="Grupo 18">
              <a:extLst>
                <a:ext uri="{FF2B5EF4-FFF2-40B4-BE49-F238E27FC236}">
                  <a16:creationId xmlns:a16="http://schemas.microsoft.com/office/drawing/2014/main" id="{FD92DEEA-CFA8-46C4-BF91-03E63FB0B9F2}"/>
                </a:ext>
              </a:extLst>
            </p:cNvPr>
            <p:cNvGrpSpPr/>
            <p:nvPr/>
          </p:nvGrpSpPr>
          <p:grpSpPr>
            <a:xfrm>
              <a:off x="4987435" y="1861614"/>
              <a:ext cx="121442" cy="1072933"/>
              <a:chOff x="2198832" y="3214892"/>
              <a:chExt cx="121442" cy="1072933"/>
            </a:xfrm>
          </p:grpSpPr>
          <p:sp>
            <p:nvSpPr>
              <p:cNvPr id="13" name="Forma libre: forma 12">
                <a:extLst>
                  <a:ext uri="{FF2B5EF4-FFF2-40B4-BE49-F238E27FC236}">
                    <a16:creationId xmlns:a16="http://schemas.microsoft.com/office/drawing/2014/main" id="{7AF7F6F9-2B9D-466E-BA21-FD0B5704EF77}"/>
                  </a:ext>
                </a:extLst>
              </p:cNvPr>
              <p:cNvSpPr/>
              <p:nvPr/>
            </p:nvSpPr>
            <p:spPr bwMode="auto">
              <a:xfrm>
                <a:off x="2216813" y="3214892"/>
                <a:ext cx="94679" cy="463846"/>
              </a:xfrm>
              <a:custGeom>
                <a:avLst/>
                <a:gdLst>
                  <a:gd name="connsiteX0" fmla="*/ 287677 w 287677"/>
                  <a:gd name="connsiteY0" fmla="*/ 0 h 1150706"/>
                  <a:gd name="connsiteX1" fmla="*/ 287677 w 287677"/>
                  <a:gd name="connsiteY1" fmla="*/ 1150706 h 1150706"/>
                  <a:gd name="connsiteX2" fmla="*/ 0 w 287677"/>
                  <a:gd name="connsiteY2" fmla="*/ 1140431 h 11507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87677" h="1150706">
                    <a:moveTo>
                      <a:pt x="287677" y="0"/>
                    </a:moveTo>
                    <a:lnTo>
                      <a:pt x="287677" y="1150706"/>
                    </a:lnTo>
                    <a:lnTo>
                      <a:pt x="0" y="1140431"/>
                    </a:lnTo>
                  </a:path>
                </a:pathLst>
              </a:custGeom>
              <a:noFill/>
              <a:ln w="38100" cap="flat" cmpd="sng" algn="ctr">
                <a:solidFill>
                  <a:srgbClr val="3333FF"/>
                </a:solidFill>
                <a:prstDash val="solid"/>
                <a:round/>
                <a:headEnd type="none" w="med" len="med"/>
                <a:tailEnd type="none" w="lg" len="lg"/>
              </a:ln>
              <a:effectLst/>
            </p:spPr>
            <p:txBody>
              <a:bodyPr vert="horz" wrap="square" lIns="90000" tIns="82800" rIns="90000" bIns="82800" numCol="1" rtlCol="0" anchor="t" anchorCtr="1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s-ES" sz="2000" b="0" i="0" u="none" strike="noStrike" cap="none" normalizeH="0" baseline="-25000">
                  <a:ln>
                    <a:noFill/>
                  </a:ln>
                  <a:solidFill>
                    <a:srgbClr val="000000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54" name="Forma libre: forma 53">
                <a:extLst>
                  <a:ext uri="{FF2B5EF4-FFF2-40B4-BE49-F238E27FC236}">
                    <a16:creationId xmlns:a16="http://schemas.microsoft.com/office/drawing/2014/main" id="{FC30B1CD-0D7C-4B10-979B-0849872695E5}"/>
                  </a:ext>
                </a:extLst>
              </p:cNvPr>
              <p:cNvSpPr/>
              <p:nvPr/>
            </p:nvSpPr>
            <p:spPr bwMode="auto">
              <a:xfrm flipV="1">
                <a:off x="2198832" y="3808295"/>
                <a:ext cx="121442" cy="479530"/>
              </a:xfrm>
              <a:custGeom>
                <a:avLst/>
                <a:gdLst>
                  <a:gd name="connsiteX0" fmla="*/ 287677 w 287677"/>
                  <a:gd name="connsiteY0" fmla="*/ 0 h 1150706"/>
                  <a:gd name="connsiteX1" fmla="*/ 287677 w 287677"/>
                  <a:gd name="connsiteY1" fmla="*/ 1150706 h 1150706"/>
                  <a:gd name="connsiteX2" fmla="*/ 0 w 287677"/>
                  <a:gd name="connsiteY2" fmla="*/ 1140431 h 11507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87677" h="1150706">
                    <a:moveTo>
                      <a:pt x="287677" y="0"/>
                    </a:moveTo>
                    <a:lnTo>
                      <a:pt x="287677" y="1150706"/>
                    </a:lnTo>
                    <a:lnTo>
                      <a:pt x="0" y="1140431"/>
                    </a:lnTo>
                  </a:path>
                </a:pathLst>
              </a:custGeom>
              <a:noFill/>
              <a:ln w="38100" cap="flat" cmpd="sng" algn="ctr">
                <a:solidFill>
                  <a:srgbClr val="3333FF"/>
                </a:solidFill>
                <a:prstDash val="solid"/>
                <a:round/>
                <a:headEnd type="none" w="med" len="med"/>
                <a:tailEnd type="none" w="lg" len="lg"/>
              </a:ln>
              <a:effectLst/>
            </p:spPr>
            <p:txBody>
              <a:bodyPr vert="horz" wrap="square" lIns="90000" tIns="82800" rIns="90000" bIns="82800" numCol="1" rtlCol="0" anchor="t" anchorCtr="1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s-ES" sz="2000" b="0" i="0" u="none" strike="noStrike" cap="none" normalizeH="0" baseline="-2500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charset="0"/>
                </a:endParaRPr>
              </a:p>
            </p:txBody>
          </p:sp>
        </p:grpSp>
        <p:sp>
          <p:nvSpPr>
            <p:cNvPr id="27" name="Elipse 26">
              <a:extLst>
                <a:ext uri="{FF2B5EF4-FFF2-40B4-BE49-F238E27FC236}">
                  <a16:creationId xmlns:a16="http://schemas.microsoft.com/office/drawing/2014/main" id="{222E6AE9-1B48-45FD-BFB7-FDCBBB9ADB09}"/>
                </a:ext>
              </a:extLst>
            </p:cNvPr>
            <p:cNvSpPr/>
            <p:nvPr/>
          </p:nvSpPr>
          <p:spPr bwMode="auto">
            <a:xfrm>
              <a:off x="4935664" y="2289221"/>
              <a:ext cx="61645" cy="82917"/>
            </a:xfrm>
            <a:prstGeom prst="ellipse">
              <a:avLst/>
            </a:prstGeom>
            <a:solidFill>
              <a:srgbClr val="FF0000"/>
            </a:solidFill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lg" len="lg"/>
            </a:ln>
            <a:effectLst/>
          </p:spPr>
          <p:txBody>
            <a:bodyPr vert="horz" wrap="none" lIns="90000" tIns="82800" rIns="90000" bIns="82800" numCol="1" rtlCol="0" anchor="t" anchorCtr="1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-2500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sp>
          <p:nvSpPr>
            <p:cNvPr id="63" name="Elipse 62">
              <a:extLst>
                <a:ext uri="{FF2B5EF4-FFF2-40B4-BE49-F238E27FC236}">
                  <a16:creationId xmlns:a16="http://schemas.microsoft.com/office/drawing/2014/main" id="{9BF78A23-F526-45DC-9AEE-0B9D382AC8BC}"/>
                </a:ext>
              </a:extLst>
            </p:cNvPr>
            <p:cNvSpPr/>
            <p:nvPr/>
          </p:nvSpPr>
          <p:spPr bwMode="auto">
            <a:xfrm>
              <a:off x="4933954" y="2410799"/>
              <a:ext cx="61645" cy="82917"/>
            </a:xfrm>
            <a:prstGeom prst="ellipse">
              <a:avLst/>
            </a:prstGeom>
            <a:solidFill>
              <a:srgbClr val="FF0000"/>
            </a:solidFill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lg" len="lg"/>
            </a:ln>
            <a:effectLst/>
          </p:spPr>
          <p:txBody>
            <a:bodyPr vert="horz" wrap="none" lIns="90000" tIns="82800" rIns="90000" bIns="82800" numCol="1" rtlCol="0" anchor="t" anchorCtr="1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-2500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</p:grpSp>
      <p:grpSp>
        <p:nvGrpSpPr>
          <p:cNvPr id="22" name="Grupo 21">
            <a:extLst>
              <a:ext uri="{FF2B5EF4-FFF2-40B4-BE49-F238E27FC236}">
                <a16:creationId xmlns:a16="http://schemas.microsoft.com/office/drawing/2014/main" id="{A7FC6516-58F8-4E08-9475-14D5A3849A6C}"/>
              </a:ext>
            </a:extLst>
          </p:cNvPr>
          <p:cNvGrpSpPr/>
          <p:nvPr/>
        </p:nvGrpSpPr>
        <p:grpSpPr>
          <a:xfrm>
            <a:off x="5034200" y="4293499"/>
            <a:ext cx="439364" cy="653670"/>
            <a:chOff x="4847386" y="4293499"/>
            <a:chExt cx="439364" cy="653670"/>
          </a:xfrm>
        </p:grpSpPr>
        <p:grpSp>
          <p:nvGrpSpPr>
            <p:cNvPr id="17" name="Grupo 16">
              <a:extLst>
                <a:ext uri="{FF2B5EF4-FFF2-40B4-BE49-F238E27FC236}">
                  <a16:creationId xmlns:a16="http://schemas.microsoft.com/office/drawing/2014/main" id="{0C848890-0061-4303-8B85-95A45B687131}"/>
                </a:ext>
              </a:extLst>
            </p:cNvPr>
            <p:cNvGrpSpPr/>
            <p:nvPr/>
          </p:nvGrpSpPr>
          <p:grpSpPr>
            <a:xfrm>
              <a:off x="4847386" y="4293499"/>
              <a:ext cx="439364" cy="568508"/>
              <a:chOff x="2110247" y="5340436"/>
              <a:chExt cx="439364" cy="568508"/>
            </a:xfrm>
          </p:grpSpPr>
          <p:sp>
            <p:nvSpPr>
              <p:cNvPr id="14" name="Arco 13">
                <a:extLst>
                  <a:ext uri="{FF2B5EF4-FFF2-40B4-BE49-F238E27FC236}">
                    <a16:creationId xmlns:a16="http://schemas.microsoft.com/office/drawing/2014/main" id="{F5D7F529-B8EC-4843-94F5-EE3EEB2B2581}"/>
                  </a:ext>
                </a:extLst>
              </p:cNvPr>
              <p:cNvSpPr/>
              <p:nvPr/>
            </p:nvSpPr>
            <p:spPr bwMode="auto">
              <a:xfrm rot="10800000">
                <a:off x="2110247" y="5340436"/>
                <a:ext cx="439364" cy="439364"/>
              </a:xfrm>
              <a:prstGeom prst="arc">
                <a:avLst>
                  <a:gd name="adj1" fmla="val 17541316"/>
                  <a:gd name="adj2" fmla="val 15001629"/>
                </a:avLst>
              </a:prstGeom>
              <a:noFill/>
              <a:ln w="38100" cap="flat" cmpd="sng" algn="ctr">
                <a:solidFill>
                  <a:srgbClr val="3333FF"/>
                </a:solidFill>
                <a:prstDash val="solid"/>
                <a:round/>
                <a:headEnd type="none" w="med" len="med"/>
                <a:tailEnd type="none" w="lg" len="lg"/>
              </a:ln>
              <a:effectLst/>
            </p:spPr>
            <p:txBody>
              <a:bodyPr vert="horz" wrap="square" lIns="90000" tIns="82800" rIns="90000" bIns="82800" numCol="1" rtlCol="0" anchor="t" anchorCtr="1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s-ES" sz="2000" b="0" i="0" u="none" strike="noStrike" cap="none" normalizeH="0" baseline="-25000">
                  <a:ln>
                    <a:noFill/>
                  </a:ln>
                  <a:solidFill>
                    <a:srgbClr val="000000"/>
                  </a:solidFill>
                  <a:effectLst/>
                  <a:latin typeface="Arial" charset="0"/>
                </a:endParaRPr>
              </a:p>
            </p:txBody>
          </p:sp>
          <p:cxnSp>
            <p:nvCxnSpPr>
              <p:cNvPr id="16" name="Conector recto 15">
                <a:extLst>
                  <a:ext uri="{FF2B5EF4-FFF2-40B4-BE49-F238E27FC236}">
                    <a16:creationId xmlns:a16="http://schemas.microsoft.com/office/drawing/2014/main" id="{0E51CF92-DA62-4E67-AE8A-D9707B683868}"/>
                  </a:ext>
                </a:extLst>
              </p:cNvPr>
              <p:cNvCxnSpPr/>
              <p:nvPr/>
            </p:nvCxnSpPr>
            <p:spPr bwMode="auto">
              <a:xfrm>
                <a:off x="2258198" y="5759252"/>
                <a:ext cx="0" cy="149692"/>
              </a:xfrm>
              <a:prstGeom prst="line">
                <a:avLst/>
              </a:prstGeom>
              <a:solidFill>
                <a:schemeClr val="accent1"/>
              </a:solidFill>
              <a:ln w="38100" cap="flat" cmpd="sng" algn="ctr">
                <a:solidFill>
                  <a:srgbClr val="3333FF"/>
                </a:solidFill>
                <a:prstDash val="solid"/>
                <a:round/>
                <a:headEnd type="none" w="med" len="med"/>
                <a:tailEnd type="none" w="lg" len="lg"/>
              </a:ln>
              <a:effectLst/>
            </p:spPr>
          </p:cxnSp>
          <p:cxnSp>
            <p:nvCxnSpPr>
              <p:cNvPr id="57" name="Conector recto 56">
                <a:extLst>
                  <a:ext uri="{FF2B5EF4-FFF2-40B4-BE49-F238E27FC236}">
                    <a16:creationId xmlns:a16="http://schemas.microsoft.com/office/drawing/2014/main" id="{F6DEEF48-E032-4788-9C57-B7022AE5B566}"/>
                  </a:ext>
                </a:extLst>
              </p:cNvPr>
              <p:cNvCxnSpPr/>
              <p:nvPr/>
            </p:nvCxnSpPr>
            <p:spPr bwMode="auto">
              <a:xfrm>
                <a:off x="2379776" y="5757542"/>
                <a:ext cx="0" cy="149692"/>
              </a:xfrm>
              <a:prstGeom prst="line">
                <a:avLst/>
              </a:prstGeom>
              <a:solidFill>
                <a:schemeClr val="accent1"/>
              </a:solidFill>
              <a:ln w="38100" cap="flat" cmpd="sng" algn="ctr">
                <a:solidFill>
                  <a:srgbClr val="3333FF"/>
                </a:solidFill>
                <a:prstDash val="solid"/>
                <a:round/>
                <a:headEnd type="none" w="med" len="med"/>
                <a:tailEnd type="none" w="lg" len="lg"/>
              </a:ln>
              <a:effectLst/>
            </p:spPr>
          </p:cxnSp>
        </p:grpSp>
        <p:sp>
          <p:nvSpPr>
            <p:cNvPr id="64" name="Elipse 63">
              <a:extLst>
                <a:ext uri="{FF2B5EF4-FFF2-40B4-BE49-F238E27FC236}">
                  <a16:creationId xmlns:a16="http://schemas.microsoft.com/office/drawing/2014/main" id="{96EACC00-8EB4-4B89-9246-E088E99FA67C}"/>
                </a:ext>
              </a:extLst>
            </p:cNvPr>
            <p:cNvSpPr/>
            <p:nvPr/>
          </p:nvSpPr>
          <p:spPr bwMode="auto">
            <a:xfrm>
              <a:off x="4962233" y="4855329"/>
              <a:ext cx="61645" cy="82917"/>
            </a:xfrm>
            <a:prstGeom prst="ellipse">
              <a:avLst/>
            </a:prstGeom>
            <a:solidFill>
              <a:srgbClr val="FF0000"/>
            </a:solidFill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lg" len="lg"/>
            </a:ln>
            <a:effectLst/>
          </p:spPr>
          <p:txBody>
            <a:bodyPr vert="horz" wrap="none" lIns="90000" tIns="82800" rIns="90000" bIns="82800" numCol="1" rtlCol="0" anchor="t" anchorCtr="1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-2500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sp>
          <p:nvSpPr>
            <p:cNvPr id="65" name="Elipse 64">
              <a:extLst>
                <a:ext uri="{FF2B5EF4-FFF2-40B4-BE49-F238E27FC236}">
                  <a16:creationId xmlns:a16="http://schemas.microsoft.com/office/drawing/2014/main" id="{01D2136D-31E7-4DFB-828D-2639F795FAF5}"/>
                </a:ext>
              </a:extLst>
            </p:cNvPr>
            <p:cNvSpPr/>
            <p:nvPr/>
          </p:nvSpPr>
          <p:spPr bwMode="auto">
            <a:xfrm>
              <a:off x="5073538" y="4864252"/>
              <a:ext cx="61645" cy="82917"/>
            </a:xfrm>
            <a:prstGeom prst="ellipse">
              <a:avLst/>
            </a:prstGeom>
            <a:solidFill>
              <a:srgbClr val="FF0000"/>
            </a:solidFill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lg" len="lg"/>
            </a:ln>
            <a:effectLst/>
          </p:spPr>
          <p:txBody>
            <a:bodyPr vert="horz" wrap="none" lIns="90000" tIns="82800" rIns="90000" bIns="82800" numCol="1" rtlCol="0" anchor="t" anchorCtr="1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-2500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</p:grpSp>
      <p:grpSp>
        <p:nvGrpSpPr>
          <p:cNvPr id="18" name="Grupo 17">
            <a:extLst>
              <a:ext uri="{FF2B5EF4-FFF2-40B4-BE49-F238E27FC236}">
                <a16:creationId xmlns:a16="http://schemas.microsoft.com/office/drawing/2014/main" id="{92C5ED26-331F-46C1-8322-5AD1A9B9C682}"/>
              </a:ext>
            </a:extLst>
          </p:cNvPr>
          <p:cNvGrpSpPr/>
          <p:nvPr/>
        </p:nvGrpSpPr>
        <p:grpSpPr>
          <a:xfrm>
            <a:off x="1253252" y="1312606"/>
            <a:ext cx="1584597" cy="1368000"/>
            <a:chOff x="1253252" y="1312606"/>
            <a:chExt cx="1584597" cy="1368000"/>
          </a:xfrm>
        </p:grpSpPr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80BC6BCF-8666-4492-A561-7B09641E9A80}"/>
                </a:ext>
              </a:extLst>
            </p:cNvPr>
            <p:cNvSpPr/>
            <p:nvPr/>
          </p:nvSpPr>
          <p:spPr bwMode="auto">
            <a:xfrm>
              <a:off x="1253252" y="1312606"/>
              <a:ext cx="1584597" cy="1368000"/>
            </a:xfrm>
            <a:prstGeom prst="rect">
              <a:avLst/>
            </a:prstGeom>
            <a:solidFill>
              <a:srgbClr val="FFFFFF"/>
            </a:solidFill>
            <a:ln w="25400" cap="flat" cmpd="sng" algn="ctr">
              <a:noFill/>
              <a:prstDash val="solid"/>
              <a:round/>
              <a:headEnd type="none" w="med" len="med"/>
              <a:tailEnd type="none" w="lg" len="lg"/>
            </a:ln>
            <a:effectLst/>
          </p:spPr>
          <p:txBody>
            <a:bodyPr vert="horz" wrap="square" lIns="90000" tIns="82800" rIns="90000" bIns="82800" numCol="1" rtlCol="0" anchor="t" anchorCtr="1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-2500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grpSp>
          <p:nvGrpSpPr>
            <p:cNvPr id="10" name="Grupo 9">
              <a:extLst>
                <a:ext uri="{FF2B5EF4-FFF2-40B4-BE49-F238E27FC236}">
                  <a16:creationId xmlns:a16="http://schemas.microsoft.com/office/drawing/2014/main" id="{8810D9AD-0C45-49C2-A48F-C97D43FB8FEA}"/>
                </a:ext>
              </a:extLst>
            </p:cNvPr>
            <p:cNvGrpSpPr/>
            <p:nvPr/>
          </p:nvGrpSpPr>
          <p:grpSpPr>
            <a:xfrm>
              <a:off x="1299408" y="1333341"/>
              <a:ext cx="1492290" cy="1293723"/>
              <a:chOff x="1299408" y="1333341"/>
              <a:chExt cx="1492290" cy="1293723"/>
            </a:xfrm>
          </p:grpSpPr>
          <p:sp>
            <p:nvSpPr>
              <p:cNvPr id="60" name="CuadroTexto 59">
                <a:extLst>
                  <a:ext uri="{FF2B5EF4-FFF2-40B4-BE49-F238E27FC236}">
                    <a16:creationId xmlns:a16="http://schemas.microsoft.com/office/drawing/2014/main" id="{ECACDE32-80B0-46D4-B09B-918BCC38A21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99408" y="1333341"/>
                <a:ext cx="1492290" cy="8309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lang="es-ES" sz="2400" dirty="0">
                    <a:solidFill>
                      <a:schemeClr val="tx1"/>
                    </a:solidFill>
                  </a:rPr>
                  <a:t>A través de su</a:t>
                </a:r>
              </a:p>
            </p:txBody>
          </p:sp>
          <p:graphicFrame>
            <p:nvGraphicFramePr>
              <p:cNvPr id="61" name="Object 40">
                <a:extLst>
                  <a:ext uri="{FF2B5EF4-FFF2-40B4-BE49-F238E27FC236}">
                    <a16:creationId xmlns:a16="http://schemas.microsoft.com/office/drawing/2014/main" id="{AB8AA8E0-6E20-4A6C-B8CB-826FFB01EC99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710593" y="2095946"/>
              <a:ext cx="669920" cy="53111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cuación" r:id="rId9" imgW="304668" imgH="241195" progId="Equation.3">
                      <p:embed/>
                    </p:oleObj>
                  </mc:Choice>
                  <mc:Fallback>
                    <p:oleObj name="Ecuación" r:id="rId9" imgW="304668" imgH="241195" progId="Equation.3">
                      <p:embed/>
                      <p:pic>
                        <p:nvPicPr>
                          <p:cNvPr id="61" name="Object 40">
                            <a:extLst>
                              <a:ext uri="{FF2B5EF4-FFF2-40B4-BE49-F238E27FC236}">
                                <a16:creationId xmlns:a16="http://schemas.microsoft.com/office/drawing/2014/main" id="{AB8AA8E0-6E20-4A6C-B8CB-826FFB01EC99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710593" y="2095946"/>
                            <a:ext cx="669920" cy="53111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28" name="Grupo 27">
            <a:extLst>
              <a:ext uri="{FF2B5EF4-FFF2-40B4-BE49-F238E27FC236}">
                <a16:creationId xmlns:a16="http://schemas.microsoft.com/office/drawing/2014/main" id="{38E8E08F-EAC5-4573-91CA-5E76BAEF88F3}"/>
              </a:ext>
            </a:extLst>
          </p:cNvPr>
          <p:cNvGrpSpPr/>
          <p:nvPr/>
        </p:nvGrpSpPr>
        <p:grpSpPr>
          <a:xfrm>
            <a:off x="1254928" y="4328793"/>
            <a:ext cx="1584597" cy="1368000"/>
            <a:chOff x="1254928" y="4328793"/>
            <a:chExt cx="1584597" cy="1368000"/>
          </a:xfrm>
        </p:grpSpPr>
        <p:sp>
          <p:nvSpPr>
            <p:cNvPr id="69" name="Rectángulo 68">
              <a:extLst>
                <a:ext uri="{FF2B5EF4-FFF2-40B4-BE49-F238E27FC236}">
                  <a16:creationId xmlns:a16="http://schemas.microsoft.com/office/drawing/2014/main" id="{69741D65-790E-468F-86A8-72269925CB0A}"/>
                </a:ext>
              </a:extLst>
            </p:cNvPr>
            <p:cNvSpPr/>
            <p:nvPr/>
          </p:nvSpPr>
          <p:spPr bwMode="auto">
            <a:xfrm>
              <a:off x="1254928" y="4328793"/>
              <a:ext cx="1584597" cy="1368000"/>
            </a:xfrm>
            <a:prstGeom prst="rect">
              <a:avLst/>
            </a:prstGeom>
            <a:solidFill>
              <a:srgbClr val="FFFFFF"/>
            </a:solidFill>
            <a:ln w="25400" cap="flat" cmpd="sng" algn="ctr">
              <a:noFill/>
              <a:prstDash val="solid"/>
              <a:round/>
              <a:headEnd type="none" w="med" len="med"/>
              <a:tailEnd type="none" w="lg" len="lg"/>
            </a:ln>
            <a:effectLst/>
          </p:spPr>
          <p:txBody>
            <a:bodyPr vert="horz" wrap="square" lIns="90000" tIns="82800" rIns="90000" bIns="82800" numCol="1" rtlCol="0" anchor="t" anchorCtr="1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-2500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grpSp>
          <p:nvGrpSpPr>
            <p:cNvPr id="11" name="Grupo 10">
              <a:extLst>
                <a:ext uri="{FF2B5EF4-FFF2-40B4-BE49-F238E27FC236}">
                  <a16:creationId xmlns:a16="http://schemas.microsoft.com/office/drawing/2014/main" id="{4CD09120-AB3C-42C3-98DB-03CF3120B69E}"/>
                </a:ext>
              </a:extLst>
            </p:cNvPr>
            <p:cNvGrpSpPr/>
            <p:nvPr/>
          </p:nvGrpSpPr>
          <p:grpSpPr>
            <a:xfrm>
              <a:off x="1299408" y="4333136"/>
              <a:ext cx="1492290" cy="1279652"/>
              <a:chOff x="1299408" y="4282896"/>
              <a:chExt cx="1492290" cy="1279652"/>
            </a:xfrm>
          </p:grpSpPr>
          <p:sp>
            <p:nvSpPr>
              <p:cNvPr id="62" name="CuadroTexto 61">
                <a:extLst>
                  <a:ext uri="{FF2B5EF4-FFF2-40B4-BE49-F238E27FC236}">
                    <a16:creationId xmlns:a16="http://schemas.microsoft.com/office/drawing/2014/main" id="{4655A080-0308-4BB9-9633-6A94A356C03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99408" y="4282896"/>
                <a:ext cx="1492290" cy="8309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lang="es-ES" sz="2400" dirty="0">
                    <a:solidFill>
                      <a:schemeClr val="tx1"/>
                    </a:solidFill>
                  </a:rPr>
                  <a:t>A través de su</a:t>
                </a:r>
              </a:p>
            </p:txBody>
          </p:sp>
          <p:graphicFrame>
            <p:nvGraphicFramePr>
              <p:cNvPr id="66" name="Object 19">
                <a:extLst>
                  <a:ext uri="{FF2B5EF4-FFF2-40B4-BE49-F238E27FC236}">
                    <a16:creationId xmlns:a16="http://schemas.microsoft.com/office/drawing/2014/main" id="{DF8113B7-FD31-4E36-A6AA-0FD27C04898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709797" y="5030974"/>
              <a:ext cx="671512" cy="53157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cuación" r:id="rId11" imgW="304668" imgH="241195" progId="Equation.3">
                      <p:embed/>
                    </p:oleObj>
                  </mc:Choice>
                  <mc:Fallback>
                    <p:oleObj name="Ecuación" r:id="rId11" imgW="304668" imgH="241195" progId="Equation.3">
                      <p:embed/>
                      <p:pic>
                        <p:nvPicPr>
                          <p:cNvPr id="66" name="Object 19">
                            <a:extLst>
                              <a:ext uri="{FF2B5EF4-FFF2-40B4-BE49-F238E27FC236}">
                                <a16:creationId xmlns:a16="http://schemas.microsoft.com/office/drawing/2014/main" id="{DF8113B7-FD31-4E36-A6AA-0FD27C04898C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709797" y="5030974"/>
                            <a:ext cx="671512" cy="53157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7" name="Flecha: hacia abajo 6">
            <a:extLst>
              <a:ext uri="{FF2B5EF4-FFF2-40B4-BE49-F238E27FC236}">
                <a16:creationId xmlns:a16="http://schemas.microsoft.com/office/drawing/2014/main" id="{5AE393B3-0724-4656-A948-E5EADEB65866}"/>
              </a:ext>
            </a:extLst>
          </p:cNvPr>
          <p:cNvSpPr/>
          <p:nvPr/>
        </p:nvSpPr>
        <p:spPr bwMode="auto">
          <a:xfrm>
            <a:off x="1818167" y="3923416"/>
            <a:ext cx="501820" cy="329335"/>
          </a:xfrm>
          <a:prstGeom prst="downArrow">
            <a:avLst/>
          </a:prstGeom>
          <a:solidFill>
            <a:schemeClr val="accent1"/>
          </a:solidFill>
          <a:ln w="254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90000" tIns="82800" rIns="90000" bIns="82800" numCol="1" rtlCol="0" anchor="t" anchorCtr="1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-2500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67" name="Flecha: hacia abajo 66">
            <a:extLst>
              <a:ext uri="{FF2B5EF4-FFF2-40B4-BE49-F238E27FC236}">
                <a16:creationId xmlns:a16="http://schemas.microsoft.com/office/drawing/2014/main" id="{2B2C9B41-B05D-4B15-8B0C-6303AFC6B193}"/>
              </a:ext>
            </a:extLst>
          </p:cNvPr>
          <p:cNvSpPr/>
          <p:nvPr/>
        </p:nvSpPr>
        <p:spPr bwMode="auto">
          <a:xfrm flipV="1">
            <a:off x="1821708" y="2821180"/>
            <a:ext cx="501820" cy="329335"/>
          </a:xfrm>
          <a:prstGeom prst="downArrow">
            <a:avLst/>
          </a:prstGeom>
          <a:solidFill>
            <a:schemeClr val="accent1"/>
          </a:solidFill>
          <a:ln w="254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90000" tIns="82800" rIns="90000" bIns="82800" numCol="1" rtlCol="0" anchor="t" anchorCtr="1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-2500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888AFA5-6710-7674-13AF-66C475DCA1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3539" y="1677403"/>
            <a:ext cx="203431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ts val="0"/>
              </a:spcBef>
            </a:pPr>
            <a:r>
              <a:rPr lang="es-ES" sz="2400">
                <a:solidFill>
                  <a:srgbClr val="FF0000"/>
                </a:solidFill>
              </a:rPr>
              <a:t>(en terminales)</a:t>
            </a:r>
            <a:endParaRPr lang="es-ES" sz="2400" dirty="0">
              <a:solidFill>
                <a:srgbClr val="FF0000"/>
              </a:solidFill>
            </a:endParaRPr>
          </a:p>
        </p:txBody>
      </p:sp>
      <p:grpSp>
        <p:nvGrpSpPr>
          <p:cNvPr id="29" name="Grupo 28">
            <a:extLst>
              <a:ext uri="{FF2B5EF4-FFF2-40B4-BE49-F238E27FC236}">
                <a16:creationId xmlns:a16="http://schemas.microsoft.com/office/drawing/2014/main" id="{121E036F-2AB1-DC71-B97B-481C3721D33F}"/>
              </a:ext>
            </a:extLst>
          </p:cNvPr>
          <p:cNvGrpSpPr/>
          <p:nvPr/>
        </p:nvGrpSpPr>
        <p:grpSpPr>
          <a:xfrm>
            <a:off x="7011978" y="1344531"/>
            <a:ext cx="1085339" cy="446540"/>
            <a:chOff x="7777591" y="4504473"/>
            <a:chExt cx="1085339" cy="446540"/>
          </a:xfrm>
        </p:grpSpPr>
        <p:graphicFrame>
          <p:nvGraphicFramePr>
            <p:cNvPr id="30" name="Object 40">
              <a:extLst>
                <a:ext uri="{FF2B5EF4-FFF2-40B4-BE49-F238E27FC236}">
                  <a16:creationId xmlns:a16="http://schemas.microsoft.com/office/drawing/2014/main" id="{B58A4292-0956-51BA-CDF3-6602994AE73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164430" y="4504473"/>
            <a:ext cx="698500" cy="4465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7" imgW="317225" imgH="203024" progId="Equation.3">
                    <p:embed/>
                  </p:oleObj>
                </mc:Choice>
                <mc:Fallback>
                  <p:oleObj name="Ecuación" r:id="rId7" imgW="317225" imgH="203024" progId="Equation.3">
                    <p:embed/>
                    <p:pic>
                      <p:nvPicPr>
                        <p:cNvPr id="30" name="Object 40">
                          <a:extLst>
                            <a:ext uri="{FF2B5EF4-FFF2-40B4-BE49-F238E27FC236}">
                              <a16:creationId xmlns:a16="http://schemas.microsoft.com/office/drawing/2014/main" id="{B58A4292-0956-51BA-CDF3-6602994AE73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64430" y="4504473"/>
                          <a:ext cx="698500" cy="4465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" name="Line 8">
              <a:extLst>
                <a:ext uri="{FF2B5EF4-FFF2-40B4-BE49-F238E27FC236}">
                  <a16:creationId xmlns:a16="http://schemas.microsoft.com/office/drawing/2014/main" id="{3ABF5B54-AA42-5CC9-F6B6-E7A94E602F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77591" y="4737244"/>
              <a:ext cx="255587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 type="none" w="lg" len="lg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 sz="2400"/>
            </a:p>
          </p:txBody>
        </p:sp>
      </p:grpSp>
    </p:spTree>
    <p:extLst>
      <p:ext uri="{BB962C8B-B14F-4D97-AF65-F5344CB8AC3E}">
        <p14:creationId xmlns:p14="http://schemas.microsoft.com/office/powerpoint/2010/main" val="186304870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"/>
                            </p:stCondLst>
                            <p:childTnLst>
                              <p:par>
                                <p:cTn id="5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86" grpId="0"/>
      <p:bldP spid="87" grpId="0"/>
      <p:bldP spid="42" grpId="0" animBg="1"/>
      <p:bldP spid="50" grpId="0" animBg="1"/>
      <p:bldP spid="51" grpId="0" animBg="1"/>
      <p:bldP spid="44" grpId="0" animBg="1"/>
      <p:bldP spid="52" grpId="0" animBg="1"/>
      <p:bldP spid="53" grpId="0" animBg="1"/>
      <p:bldP spid="7" grpId="0" animBg="1"/>
      <p:bldP spid="67" grpId="0" animBg="1"/>
      <p:bldP spid="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Box 7"/>
          <p:cNvSpPr txBox="1">
            <a:spLocks noChangeArrowheads="1"/>
          </p:cNvSpPr>
          <p:nvPr/>
        </p:nvSpPr>
        <p:spPr bwMode="auto">
          <a:xfrm>
            <a:off x="1246007" y="3930227"/>
            <a:ext cx="5847223" cy="536549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82800" rIns="90000" bIns="82800" anchor="ctr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Symbol" panose="05050102010706020507" pitchFamily="18" charset="2"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Las ondas de presión son longitudinales</a:t>
            </a:r>
          </a:p>
        </p:txBody>
      </p:sp>
      <p:sp>
        <p:nvSpPr>
          <p:cNvPr id="29" name="Text Box 7"/>
          <p:cNvSpPr txBox="1">
            <a:spLocks noChangeArrowheads="1"/>
          </p:cNvSpPr>
          <p:nvPr/>
        </p:nvSpPr>
        <p:spPr bwMode="auto">
          <a:xfrm>
            <a:off x="1276595" y="4477749"/>
            <a:ext cx="6726863" cy="905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 anchor="ctr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Symbol" panose="05050102010706020507" pitchFamily="18" charset="2"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La dirección de propagación es paralela a</a:t>
            </a:r>
          </a:p>
          <a:p>
            <a:pPr eaLnBrk="1" hangingPunct="1">
              <a:spcBef>
                <a:spcPct val="0"/>
              </a:spcBef>
              <a:buFont typeface="Symbol" panose="05050102010706020507" pitchFamily="18" charset="2"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la dirección en que se manifiesta la perturbación</a:t>
            </a:r>
          </a:p>
        </p:txBody>
      </p:sp>
      <p:sp>
        <p:nvSpPr>
          <p:cNvPr id="12" name="Text Box 7">
            <a:extLst>
              <a:ext uri="{FF2B5EF4-FFF2-40B4-BE49-F238E27FC236}">
                <a16:creationId xmlns:a16="http://schemas.microsoft.com/office/drawing/2014/main" id="{10DCEE80-F678-42ED-9517-C96EBC1500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1020" y="1763329"/>
            <a:ext cx="5847223" cy="536549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82800" rIns="90000" bIns="82800" anchor="ctr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Symbol" panose="05050102010706020507" pitchFamily="18" charset="2"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Las OEM son transversales normalmente </a:t>
            </a:r>
          </a:p>
        </p:txBody>
      </p:sp>
      <p:grpSp>
        <p:nvGrpSpPr>
          <p:cNvPr id="13" name="Group 21">
            <a:extLst>
              <a:ext uri="{FF2B5EF4-FFF2-40B4-BE49-F238E27FC236}">
                <a16:creationId xmlns:a16="http://schemas.microsoft.com/office/drawing/2014/main" id="{80A4B403-C303-4036-A39D-85A095EF0010}"/>
              </a:ext>
            </a:extLst>
          </p:cNvPr>
          <p:cNvGrpSpPr>
            <a:grpSpLocks/>
          </p:cNvGrpSpPr>
          <p:nvPr/>
        </p:nvGrpSpPr>
        <p:grpSpPr bwMode="auto">
          <a:xfrm>
            <a:off x="8650161" y="1770148"/>
            <a:ext cx="1441450" cy="1828800"/>
            <a:chOff x="44" y="1252"/>
            <a:chExt cx="908" cy="1152"/>
          </a:xfrm>
        </p:grpSpPr>
        <p:sp>
          <p:nvSpPr>
            <p:cNvPr id="14" name="Rectangle 20">
              <a:extLst>
                <a:ext uri="{FF2B5EF4-FFF2-40B4-BE49-F238E27FC236}">
                  <a16:creationId xmlns:a16="http://schemas.microsoft.com/office/drawing/2014/main" id="{E18C7685-381C-41F4-9060-8E3E589561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" y="1252"/>
              <a:ext cx="908" cy="115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5" name="Line 14">
              <a:extLst>
                <a:ext uri="{FF2B5EF4-FFF2-40B4-BE49-F238E27FC236}">
                  <a16:creationId xmlns:a16="http://schemas.microsoft.com/office/drawing/2014/main" id="{1CEDD992-3BD2-4697-AC59-8D46A12227E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2" y="1340"/>
              <a:ext cx="0" cy="907"/>
            </a:xfrm>
            <a:prstGeom prst="line">
              <a:avLst/>
            </a:prstGeom>
            <a:noFill/>
            <a:ln w="25400">
              <a:solidFill>
                <a:srgbClr val="3333FF"/>
              </a:solidFill>
              <a:round/>
              <a:headEnd type="triangle" w="lg" len="lg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Ctr="1"/>
            <a:lstStyle/>
            <a:p>
              <a:endParaRPr lang="en-GB" sz="2400"/>
            </a:p>
          </p:txBody>
        </p:sp>
        <p:sp>
          <p:nvSpPr>
            <p:cNvPr id="16" name="Line 15">
              <a:extLst>
                <a:ext uri="{FF2B5EF4-FFF2-40B4-BE49-F238E27FC236}">
                  <a16:creationId xmlns:a16="http://schemas.microsoft.com/office/drawing/2014/main" id="{5135B94D-EFCE-47F5-A121-B165FB0E69D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8" y="1662"/>
              <a:ext cx="554" cy="288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triangle" w="lg" len="lg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Ctr="1"/>
            <a:lstStyle/>
            <a:p>
              <a:endParaRPr lang="en-GB" sz="2400"/>
            </a:p>
          </p:txBody>
        </p:sp>
        <p:sp>
          <p:nvSpPr>
            <p:cNvPr id="17" name="Line 16">
              <a:extLst>
                <a:ext uri="{FF2B5EF4-FFF2-40B4-BE49-F238E27FC236}">
                  <a16:creationId xmlns:a16="http://schemas.microsoft.com/office/drawing/2014/main" id="{9BE8CD48-01C9-4A6B-9FAA-F7715CFFC6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3" y="1617"/>
              <a:ext cx="520" cy="41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Ctr="1"/>
            <a:lstStyle/>
            <a:p>
              <a:endParaRPr lang="en-GB" sz="2400"/>
            </a:p>
          </p:txBody>
        </p:sp>
        <p:graphicFrame>
          <p:nvGraphicFramePr>
            <p:cNvPr id="18" name="Object 17">
              <a:extLst>
                <a:ext uri="{FF2B5EF4-FFF2-40B4-BE49-F238E27FC236}">
                  <a16:creationId xmlns:a16="http://schemas.microsoft.com/office/drawing/2014/main" id="{7E8244EC-CEBA-4942-B107-C71BA15C560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22" y="1307"/>
            <a:ext cx="155" cy="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3" imgW="139639" imgH="203112" progId="Equation.3">
                    <p:embed/>
                  </p:oleObj>
                </mc:Choice>
                <mc:Fallback>
                  <p:oleObj name="Ecuación" r:id="rId3" imgW="139639" imgH="203112" progId="Equation.3">
                    <p:embed/>
                    <p:pic>
                      <p:nvPicPr>
                        <p:cNvPr id="18" name="Object 17">
                          <a:extLst>
                            <a:ext uri="{FF2B5EF4-FFF2-40B4-BE49-F238E27FC236}">
                              <a16:creationId xmlns:a16="http://schemas.microsoft.com/office/drawing/2014/main" id="{7E8244EC-CEBA-4942-B107-C71BA15C560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2" y="1307"/>
                          <a:ext cx="155" cy="2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Object 18">
              <a:extLst>
                <a:ext uri="{FF2B5EF4-FFF2-40B4-BE49-F238E27FC236}">
                  <a16:creationId xmlns:a16="http://schemas.microsoft.com/office/drawing/2014/main" id="{C534A7C6-0FD0-4BFA-ABFE-117E96833B1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3" y="1643"/>
            <a:ext cx="169" cy="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5" imgW="152268" imgH="203024" progId="Equation.3">
                    <p:embed/>
                  </p:oleObj>
                </mc:Choice>
                <mc:Fallback>
                  <p:oleObj name="Ecuación" r:id="rId5" imgW="152268" imgH="203024" progId="Equation.3">
                    <p:embed/>
                    <p:pic>
                      <p:nvPicPr>
                        <p:cNvPr id="19" name="Object 18">
                          <a:extLst>
                            <a:ext uri="{FF2B5EF4-FFF2-40B4-BE49-F238E27FC236}">
                              <a16:creationId xmlns:a16="http://schemas.microsoft.com/office/drawing/2014/main" id="{C534A7C6-0FD0-4BFA-ABFE-117E96833B1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3" y="1643"/>
                          <a:ext cx="169" cy="2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Object 19">
              <a:extLst>
                <a:ext uri="{FF2B5EF4-FFF2-40B4-BE49-F238E27FC236}">
                  <a16:creationId xmlns:a16="http://schemas.microsoft.com/office/drawing/2014/main" id="{2CD631E0-4977-446A-B620-D59F3696ACA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12" y="1793"/>
            <a:ext cx="141" cy="1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7" imgW="126725" imgH="177415" progId="Equation.3">
                    <p:embed/>
                  </p:oleObj>
                </mc:Choice>
                <mc:Fallback>
                  <p:oleObj name="Ecuación" r:id="rId7" imgW="126725" imgH="177415" progId="Equation.3">
                    <p:embed/>
                    <p:pic>
                      <p:nvPicPr>
                        <p:cNvPr id="20" name="Object 19">
                          <a:extLst>
                            <a:ext uri="{FF2B5EF4-FFF2-40B4-BE49-F238E27FC236}">
                              <a16:creationId xmlns:a16="http://schemas.microsoft.com/office/drawing/2014/main" id="{2CD631E0-4977-446A-B620-D59F3696ACA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2" y="1793"/>
                          <a:ext cx="141" cy="1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" name="Text Box 7">
            <a:extLst>
              <a:ext uri="{FF2B5EF4-FFF2-40B4-BE49-F238E27FC236}">
                <a16:creationId xmlns:a16="http://schemas.microsoft.com/office/drawing/2014/main" id="{7EECD2C1-05A4-4BAA-928D-495513187E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1020" y="2309197"/>
            <a:ext cx="7205018" cy="905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 anchor="ctr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Symbol" panose="05050102010706020507" pitchFamily="18" charset="2"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La dirección de propagación (de </a:t>
            </a:r>
            <a:r>
              <a:rPr lang="es-ES" sz="2400" b="1" dirty="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v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) es  a aquella en que se manifiesta la perturbación (</a:t>
            </a:r>
            <a:r>
              <a:rPr lang="es-ES" sz="2400" b="1" dirty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E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y </a:t>
            </a:r>
            <a:r>
              <a:rPr lang="es-ES" sz="2400" b="1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B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)</a:t>
            </a:r>
          </a:p>
        </p:txBody>
      </p:sp>
      <p:sp>
        <p:nvSpPr>
          <p:cNvPr id="28" name="Text Box 4">
            <a:extLst>
              <a:ext uri="{FF2B5EF4-FFF2-40B4-BE49-F238E27FC236}">
                <a16:creationId xmlns:a16="http://schemas.microsoft.com/office/drawing/2014/main" id="{FAC5E1D5-A61E-4854-8977-F711AB2CDB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1498" y="3217812"/>
            <a:ext cx="4945883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="ctr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Symbol" panose="05050102010706020507" pitchFamily="18" charset="2"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 Ej.: una oscilación en una cuerda</a:t>
            </a:r>
          </a:p>
        </p:txBody>
      </p:sp>
      <p:sp>
        <p:nvSpPr>
          <p:cNvPr id="35" name="Text Box 4">
            <a:extLst>
              <a:ext uri="{FF2B5EF4-FFF2-40B4-BE49-F238E27FC236}">
                <a16:creationId xmlns:a16="http://schemas.microsoft.com/office/drawing/2014/main" id="{748A31F0-5492-4B28-92A4-D8E04CF283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70211" y="3607234"/>
            <a:ext cx="3260137" cy="10905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Symbol" panose="05050102010706020507" pitchFamily="18" charset="2"/>
              <a:buNone/>
            </a:pPr>
            <a:r>
              <a:rPr lang="es-ES" sz="20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P.ej.: </a:t>
            </a:r>
            <a:r>
              <a:rPr lang="es-ES" sz="2000" b="1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E</a:t>
            </a:r>
            <a:r>
              <a:rPr lang="es-ES" sz="20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y </a:t>
            </a:r>
            <a:r>
              <a:rPr lang="es-ES" sz="2000" b="1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B</a:t>
            </a:r>
            <a:r>
              <a:rPr lang="es-ES" sz="20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en una sola dirección  a </a:t>
            </a:r>
            <a:r>
              <a:rPr lang="es-ES" sz="2000" b="1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v</a:t>
            </a:r>
            <a:r>
              <a:rPr lang="es-ES" sz="20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como pasa al emitir con una antena </a:t>
            </a:r>
          </a:p>
        </p:txBody>
      </p:sp>
      <p:sp>
        <p:nvSpPr>
          <p:cNvPr id="30" name="Text Box 4">
            <a:extLst>
              <a:ext uri="{FF2B5EF4-FFF2-40B4-BE49-F238E27FC236}">
                <a16:creationId xmlns:a16="http://schemas.microsoft.com/office/drawing/2014/main" id="{8475BF34-AE8D-4723-A500-33AC6BFFBC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6595" y="5309636"/>
            <a:ext cx="2171085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="ctr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Symbol" panose="05050102010706020507" pitchFamily="18" charset="2"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 Ej.: el sonido</a:t>
            </a:r>
          </a:p>
        </p:txBody>
      </p:sp>
      <p:sp>
        <p:nvSpPr>
          <p:cNvPr id="31" name="Text Box 43">
            <a:extLst>
              <a:ext uri="{FF2B5EF4-FFF2-40B4-BE49-F238E27FC236}">
                <a16:creationId xmlns:a16="http://schemas.microsoft.com/office/drawing/2014/main" id="{9CEA1462-004C-474D-96A3-6434C135F1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2700" y="710069"/>
            <a:ext cx="2105999" cy="536550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square" lIns="90000" tIns="82800" rIns="90000" bIns="82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Ecs. Maxwell</a:t>
            </a:r>
          </a:p>
        </p:txBody>
      </p:sp>
      <p:grpSp>
        <p:nvGrpSpPr>
          <p:cNvPr id="33" name="Grupo 32">
            <a:extLst>
              <a:ext uri="{FF2B5EF4-FFF2-40B4-BE49-F238E27FC236}">
                <a16:creationId xmlns:a16="http://schemas.microsoft.com/office/drawing/2014/main" id="{33A7FA75-2892-4CF1-B408-AB8666CA64F2}"/>
              </a:ext>
            </a:extLst>
          </p:cNvPr>
          <p:cNvGrpSpPr/>
          <p:nvPr/>
        </p:nvGrpSpPr>
        <p:grpSpPr>
          <a:xfrm>
            <a:off x="3768486" y="321611"/>
            <a:ext cx="4009676" cy="1275213"/>
            <a:chOff x="3768486" y="763661"/>
            <a:chExt cx="4009676" cy="1275213"/>
          </a:xfrm>
        </p:grpSpPr>
        <p:sp>
          <p:nvSpPr>
            <p:cNvPr id="36" name="Text Box 34">
              <a:extLst>
                <a:ext uri="{FF2B5EF4-FFF2-40B4-BE49-F238E27FC236}">
                  <a16:creationId xmlns:a16="http://schemas.microsoft.com/office/drawing/2014/main" id="{A4276F02-62CC-4E79-A356-B647859D5B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82018" y="763661"/>
              <a:ext cx="3396144" cy="1275213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latin typeface="Arial" panose="020B0604020202020204" pitchFamily="34" charset="0"/>
                </a:rPr>
                <a:t>Lo inducido</a:t>
              </a:r>
            </a:p>
            <a:p>
              <a:pPr algn="ctr"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latin typeface="Arial" panose="020B0604020202020204" pitchFamily="34" charset="0"/>
                </a:rPr>
                <a:t>(</a:t>
              </a:r>
              <a:r>
                <a:rPr lang="es-ES" sz="2400" dirty="0">
                  <a:latin typeface="Arial" panose="020B0604020202020204" pitchFamily="34" charset="0"/>
                </a:rPr>
                <a:t>sus líneas de campo) rodea a lo </a:t>
              </a:r>
              <a:r>
                <a:rPr lang="es-ES" sz="2400">
                  <a:latin typeface="Arial" panose="020B0604020202020204" pitchFamily="34" charset="0"/>
                </a:rPr>
                <a:t>que induce</a:t>
              </a:r>
              <a:endParaRPr lang="es-ES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37" name="Flecha derecha 45">
              <a:extLst>
                <a:ext uri="{FF2B5EF4-FFF2-40B4-BE49-F238E27FC236}">
                  <a16:creationId xmlns:a16="http://schemas.microsoft.com/office/drawing/2014/main" id="{487893E0-D49B-4787-9676-4AC6D7AAEFD2}"/>
                </a:ext>
              </a:extLst>
            </p:cNvPr>
            <p:cNvSpPr/>
            <p:nvPr/>
          </p:nvSpPr>
          <p:spPr bwMode="auto">
            <a:xfrm>
              <a:off x="3768486" y="1152119"/>
              <a:ext cx="393291" cy="545772"/>
            </a:xfrm>
            <a:prstGeom prst="rightArrow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  <a:round/>
              <a:headEnd type="none" w="med" len="med"/>
              <a:tailEnd type="none" w="lg" len="lg"/>
            </a:ln>
            <a:effectLst/>
          </p:spPr>
          <p:txBody>
            <a:bodyPr vert="horz" wrap="none" lIns="90000" tIns="82800" rIns="90000" bIns="82800" numCol="1" rtlCol="0" anchor="t" anchorCtr="1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</p:grpSp>
      <p:grpSp>
        <p:nvGrpSpPr>
          <p:cNvPr id="38" name="Grupo 37">
            <a:extLst>
              <a:ext uri="{FF2B5EF4-FFF2-40B4-BE49-F238E27FC236}">
                <a16:creationId xmlns:a16="http://schemas.microsoft.com/office/drawing/2014/main" id="{CBEEAC48-9212-4162-996A-2AF357731803}"/>
              </a:ext>
            </a:extLst>
          </p:cNvPr>
          <p:cNvGrpSpPr/>
          <p:nvPr/>
        </p:nvGrpSpPr>
        <p:grpSpPr>
          <a:xfrm>
            <a:off x="8081188" y="346782"/>
            <a:ext cx="1985300" cy="1275213"/>
            <a:chOff x="8081188" y="788832"/>
            <a:chExt cx="1985300" cy="1275213"/>
          </a:xfrm>
        </p:grpSpPr>
        <p:sp>
          <p:nvSpPr>
            <p:cNvPr id="39" name="Text Box 34">
              <a:extLst>
                <a:ext uri="{FF2B5EF4-FFF2-40B4-BE49-F238E27FC236}">
                  <a16:creationId xmlns:a16="http://schemas.microsoft.com/office/drawing/2014/main" id="{75F3D924-292C-4725-8E46-F0A450A872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83779" y="788832"/>
              <a:ext cx="1382709" cy="1275213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txBody>
            <a:bodyPr wrap="squar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2400" b="1" dirty="0">
                  <a:latin typeface="Arial" panose="020B0604020202020204" pitchFamily="34" charset="0"/>
                </a:rPr>
                <a:t>E</a:t>
              </a:r>
              <a:r>
                <a:rPr lang="es-ES" sz="2400" dirty="0">
                  <a:latin typeface="Arial" panose="020B0604020202020204" pitchFamily="34" charset="0"/>
                </a:rPr>
                <a:t> </a:t>
              </a:r>
              <a:r>
                <a:rPr lang="es-ES" sz="2400" dirty="0">
                  <a:latin typeface="Arial" panose="020B0604020202020204" pitchFamily="34" charset="0"/>
                  <a:sym typeface="Symbol" panose="05050102010706020507" pitchFamily="18" charset="2"/>
                </a:rPr>
                <a:t> </a:t>
              </a:r>
              <a:r>
                <a:rPr lang="es-ES" sz="2400" b="1" dirty="0">
                  <a:latin typeface="Arial" panose="020B0604020202020204" pitchFamily="34" charset="0"/>
                  <a:sym typeface="Symbol" panose="05050102010706020507" pitchFamily="18" charset="2"/>
                </a:rPr>
                <a:t>B</a:t>
              </a:r>
              <a:r>
                <a:rPr lang="es-ES" sz="2400" dirty="0">
                  <a:latin typeface="Arial" panose="020B0604020202020204" pitchFamily="34" charset="0"/>
                  <a:sym typeface="Symbol" panose="05050102010706020507" pitchFamily="18" charset="2"/>
                </a:rPr>
                <a:t> en una</a:t>
              </a:r>
              <a:r>
                <a:rPr lang="es-ES" sz="2400" b="1" dirty="0">
                  <a:latin typeface="Arial" panose="020B0604020202020204" pitchFamily="34" charset="0"/>
                  <a:sym typeface="Symbol" panose="05050102010706020507" pitchFamily="18" charset="2"/>
                </a:rPr>
                <a:t> </a:t>
              </a:r>
              <a:r>
                <a:rPr lang="es-ES" sz="2400" dirty="0">
                  <a:latin typeface="Arial" panose="020B0604020202020204" pitchFamily="34" charset="0"/>
                </a:rPr>
                <a:t>OEM</a:t>
              </a:r>
              <a:endParaRPr lang="es-ES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40" name="Flecha derecha 48">
              <a:extLst>
                <a:ext uri="{FF2B5EF4-FFF2-40B4-BE49-F238E27FC236}">
                  <a16:creationId xmlns:a16="http://schemas.microsoft.com/office/drawing/2014/main" id="{6C6FF2FC-8392-4A17-9CFF-EAD3ACB88905}"/>
                </a:ext>
              </a:extLst>
            </p:cNvPr>
            <p:cNvSpPr/>
            <p:nvPr/>
          </p:nvSpPr>
          <p:spPr bwMode="auto">
            <a:xfrm>
              <a:off x="8081188" y="1169022"/>
              <a:ext cx="393291" cy="545772"/>
            </a:xfrm>
            <a:prstGeom prst="rightArrow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  <a:round/>
              <a:headEnd type="none" w="med" len="med"/>
              <a:tailEnd type="none" w="lg" len="lg"/>
            </a:ln>
            <a:effectLst/>
          </p:spPr>
          <p:txBody>
            <a:bodyPr vert="horz" wrap="none" lIns="90000" tIns="82800" rIns="90000" bIns="82800" numCol="1" rtlCol="0" anchor="t" anchorCtr="1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2" name="Text Box 7">
            <a:extLst>
              <a:ext uri="{FF2B5EF4-FFF2-40B4-BE49-F238E27FC236}">
                <a16:creationId xmlns:a16="http://schemas.microsoft.com/office/drawing/2014/main" id="{AA4446C9-FCF6-1D64-2EA9-00083594A4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6202" y="5840490"/>
            <a:ext cx="8453535" cy="1275213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square" lIns="90000" tIns="82800" rIns="90000" bIns="82800" anchor="ctr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Symbol" panose="05050102010706020507" pitchFamily="18" charset="2"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Las transversales pueden presentar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polarización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:</a:t>
            </a:r>
          </a:p>
          <a:p>
            <a:pPr algn="ctr" eaLnBrk="1" hangingPunct="1">
              <a:spcBef>
                <a:spcPct val="0"/>
              </a:spcBef>
              <a:buFont typeface="Symbol" panose="05050102010706020507" pitchFamily="18" charset="2"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Que exista alguna restricción en la dirección en que se manifiesta la perturbación en el tiempo, no azar 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(Práctica 5)</a:t>
            </a:r>
            <a:endParaRPr lang="es-ES" sz="2400" dirty="0">
              <a:solidFill>
                <a:srgbClr val="FF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03389516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9" grpId="0"/>
      <p:bldP spid="12" grpId="0" animBg="1"/>
      <p:bldP spid="21" grpId="0"/>
      <p:bldP spid="28" grpId="0"/>
      <p:bldP spid="35" grpId="0"/>
      <p:bldP spid="30" grpId="0"/>
      <p:bldP spid="31" grpId="0" animBg="1"/>
      <p:bldP spid="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62" name="Text Box 4"/>
          <p:cNvSpPr txBox="1">
            <a:spLocks noChangeArrowheads="1"/>
          </p:cNvSpPr>
          <p:nvPr/>
        </p:nvSpPr>
        <p:spPr bwMode="auto">
          <a:xfrm>
            <a:off x="1237557" y="436854"/>
            <a:ext cx="7081082" cy="53654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none" lIns="90000" tIns="82800" rIns="90000" bIns="82800" anchor="ctr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 typeface="Symbol" panose="05050102010706020507" pitchFamily="18" charset="2"/>
              <a:buNone/>
              <a:defRPr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Las OEM no necesitan la materia para propagarse</a:t>
            </a:r>
          </a:p>
        </p:txBody>
      </p:sp>
      <p:sp>
        <p:nvSpPr>
          <p:cNvPr id="22" name="Text Box 4"/>
          <p:cNvSpPr txBox="1">
            <a:spLocks noChangeArrowheads="1"/>
          </p:cNvSpPr>
          <p:nvPr/>
        </p:nvSpPr>
        <p:spPr bwMode="auto">
          <a:xfrm>
            <a:off x="1226924" y="2251443"/>
            <a:ext cx="3437457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="ctr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Symbol" panose="05050102010706020507" pitchFamily="18" charset="2"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 El sonido, p.ej.: el aire</a:t>
            </a:r>
          </a:p>
        </p:txBody>
      </p:sp>
      <p:sp>
        <p:nvSpPr>
          <p:cNvPr id="23" name="Text Box 4"/>
          <p:cNvSpPr txBox="1">
            <a:spLocks noChangeArrowheads="1"/>
          </p:cNvSpPr>
          <p:nvPr/>
        </p:nvSpPr>
        <p:spPr bwMode="auto">
          <a:xfrm>
            <a:off x="1237557" y="1086564"/>
            <a:ext cx="7783839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="ctr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Symbol" panose="05050102010706020507" pitchFamily="18" charset="2"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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La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luz del Sol, p.ej.,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llega a la Tierra a través del vacío</a:t>
            </a:r>
          </a:p>
        </p:txBody>
      </p:sp>
      <p:sp>
        <p:nvSpPr>
          <p:cNvPr id="25" name="Text Box 4"/>
          <p:cNvSpPr txBox="1">
            <a:spLocks noChangeArrowheads="1"/>
          </p:cNvSpPr>
          <p:nvPr/>
        </p:nvSpPr>
        <p:spPr bwMode="auto">
          <a:xfrm>
            <a:off x="8500486" y="267459"/>
            <a:ext cx="1737592" cy="905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Symbol" panose="05050102010706020507" pitchFamily="18" charset="2"/>
              <a:buNone/>
            </a:pPr>
            <a:r>
              <a:rPr lang="es-ES" sz="2400" b="1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E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induce </a:t>
            </a:r>
            <a:r>
              <a:rPr lang="es-ES" sz="2400" b="1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B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y viceversa</a:t>
            </a:r>
          </a:p>
        </p:txBody>
      </p:sp>
      <p:sp>
        <p:nvSpPr>
          <p:cNvPr id="26" name="Text Box 4"/>
          <p:cNvSpPr txBox="1">
            <a:spLocks noChangeArrowheads="1"/>
          </p:cNvSpPr>
          <p:nvPr/>
        </p:nvSpPr>
        <p:spPr bwMode="auto">
          <a:xfrm>
            <a:off x="1237557" y="1700367"/>
            <a:ext cx="8722520" cy="53654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90000" tIns="82800" rIns="90000" bIns="82800" anchor="ctr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 typeface="Symbol" panose="05050102010706020507" pitchFamily="18" charset="2"/>
              <a:buNone/>
              <a:defRPr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Las Ondas Mecánicas sí necesitan un medio para propagarse</a:t>
            </a:r>
          </a:p>
        </p:txBody>
      </p:sp>
      <p:sp>
        <p:nvSpPr>
          <p:cNvPr id="32" name="Text Box 2"/>
          <p:cNvSpPr txBox="1">
            <a:spLocks noChangeArrowheads="1"/>
          </p:cNvSpPr>
          <p:nvPr/>
        </p:nvSpPr>
        <p:spPr bwMode="auto">
          <a:xfrm>
            <a:off x="1228976" y="3457274"/>
            <a:ext cx="7954720" cy="536549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82800" rIns="90000" bIns="82800" anchor="ctr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Symbol" panose="05050102010706020507" pitchFamily="18" charset="2"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Las </a:t>
            </a:r>
            <a:r>
              <a:rPr lang="es-ES" sz="2400" dirty="0">
                <a:latin typeface="Arial" panose="020B0604020202020204" pitchFamily="34" charset="0"/>
              </a:rPr>
              <a:t>ondas transportan energía y cantidad de movimiento</a:t>
            </a:r>
          </a:p>
        </p:txBody>
      </p:sp>
      <p:sp>
        <p:nvSpPr>
          <p:cNvPr id="34" name="Text Box 2"/>
          <p:cNvSpPr txBox="1">
            <a:spLocks noChangeArrowheads="1"/>
          </p:cNvSpPr>
          <p:nvPr/>
        </p:nvSpPr>
        <p:spPr bwMode="auto">
          <a:xfrm>
            <a:off x="1225224" y="4042922"/>
            <a:ext cx="9285124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 anchor="ctr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Symbol" panose="05050102010706020507" pitchFamily="18" charset="2"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 </a:t>
            </a:r>
            <a:r>
              <a:rPr lang="es-ES" sz="2400" dirty="0">
                <a:latin typeface="Arial" panose="020B0604020202020204" pitchFamily="34" charset="0"/>
              </a:rPr>
              <a:t>Los rayos del Sol calientan objetos y alteran posición de satélites</a:t>
            </a:r>
          </a:p>
        </p:txBody>
      </p:sp>
      <p:sp>
        <p:nvSpPr>
          <p:cNvPr id="24" name="Text Box 4">
            <a:extLst>
              <a:ext uri="{FF2B5EF4-FFF2-40B4-BE49-F238E27FC236}">
                <a16:creationId xmlns:a16="http://schemas.microsoft.com/office/drawing/2014/main" id="{096722A8-C24A-4C31-8857-49DC73CE6E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3427" y="2813363"/>
            <a:ext cx="5906082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="ctr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Symbol" panose="05050102010706020507" pitchFamily="18" charset="2"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 Una oscilación en una cuerda: la cuerda</a:t>
            </a:r>
          </a:p>
        </p:txBody>
      </p:sp>
      <p:sp>
        <p:nvSpPr>
          <p:cNvPr id="30" name="Text Box 11">
            <a:extLst>
              <a:ext uri="{FF2B5EF4-FFF2-40B4-BE49-F238E27FC236}">
                <a16:creationId xmlns:a16="http://schemas.microsoft.com/office/drawing/2014/main" id="{4A74120F-9799-4894-9CAA-C359EB0189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8093" y="4759367"/>
            <a:ext cx="6510307" cy="164454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 dirty="0">
                <a:latin typeface="Arial" panose="020B0604020202020204" pitchFamily="34" charset="0"/>
              </a:rPr>
              <a:t>Si la perturbación que se va produciendo sigue un movimiento armónico simple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(MAS)</a:t>
            </a:r>
            <a:r>
              <a:rPr lang="es-ES" sz="2400" dirty="0">
                <a:latin typeface="Arial" panose="020B0604020202020204" pitchFamily="34" charset="0"/>
              </a:rPr>
              <a:t>: un seno o coseno de </a:t>
            </a:r>
            <a:r>
              <a:rPr lang="es-ES" sz="2400">
                <a:latin typeface="Arial" panose="020B0604020202020204" pitchFamily="34" charset="0"/>
              </a:rPr>
              <a:t>cierta frecuencia,</a:t>
            </a:r>
          </a:p>
          <a:p>
            <a:pPr algn="ctr"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>
                <a:latin typeface="Arial" panose="020B0604020202020204" pitchFamily="34" charset="0"/>
              </a:rPr>
              <a:t>que se corresponde con un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MCU</a:t>
            </a:r>
            <a:r>
              <a:rPr lang="es-ES" sz="2400">
                <a:latin typeface="Arial" panose="020B0604020202020204" pitchFamily="34" charset="0"/>
              </a:rPr>
              <a:t> </a:t>
            </a:r>
            <a:endParaRPr lang="es-ES" sz="2400" dirty="0">
              <a:latin typeface="Arial" panose="020B0604020202020204" pitchFamily="34" charset="0"/>
            </a:endParaRPr>
          </a:p>
        </p:txBody>
      </p:sp>
      <p:sp>
        <p:nvSpPr>
          <p:cNvPr id="31" name="Text Box 10">
            <a:extLst>
              <a:ext uri="{FF2B5EF4-FFF2-40B4-BE49-F238E27FC236}">
                <a16:creationId xmlns:a16="http://schemas.microsoft.com/office/drawing/2014/main" id="{6ADB6976-FA6A-4AF6-9D9E-1107F0413A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3300" y="4756971"/>
            <a:ext cx="1851514" cy="917263"/>
          </a:xfrm>
          <a:prstGeom prst="rect">
            <a:avLst/>
          </a:prstGeom>
          <a:solidFill>
            <a:srgbClr val="66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82800" rIns="90000" bIns="82800" anchor="ctr" anchorCtr="1">
            <a:no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cap="small" dirty="0">
                <a:solidFill>
                  <a:srgbClr val="FFFFFF"/>
                </a:solidFill>
                <a:latin typeface="Arial" panose="020B0604020202020204" pitchFamily="34" charset="0"/>
              </a:rPr>
              <a:t>ONDA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FFFFFF"/>
                </a:solidFill>
                <a:latin typeface="Arial" panose="020B0604020202020204" pitchFamily="34" charset="0"/>
              </a:rPr>
              <a:t>ARMÓNICA</a:t>
            </a:r>
          </a:p>
        </p:txBody>
      </p:sp>
      <p:sp>
        <p:nvSpPr>
          <p:cNvPr id="33" name="Text Box 3">
            <a:extLst>
              <a:ext uri="{FF2B5EF4-FFF2-40B4-BE49-F238E27FC236}">
                <a16:creationId xmlns:a16="http://schemas.microsoft.com/office/drawing/2014/main" id="{008FEC5E-AC11-4A1D-B6DE-D75016A6B0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5710" y="6396735"/>
            <a:ext cx="5775072" cy="536549"/>
          </a:xfrm>
          <a:prstGeom prst="rect">
            <a:avLst/>
          </a:prstGeom>
          <a:noFill/>
          <a:ln>
            <a:noFill/>
          </a:ln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(Cualquier onda es una suma de ellas)</a:t>
            </a:r>
          </a:p>
        </p:txBody>
      </p:sp>
    </p:spTree>
    <p:extLst>
      <p:ext uri="{BB962C8B-B14F-4D97-AF65-F5344CB8AC3E}">
        <p14:creationId xmlns:p14="http://schemas.microsoft.com/office/powerpoint/2010/main" val="391564284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1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62" grpId="0" animBg="1"/>
      <p:bldP spid="22" grpId="0"/>
      <p:bldP spid="23" grpId="0"/>
      <p:bldP spid="25" grpId="0"/>
      <p:bldP spid="26" grpId="0" animBg="1"/>
      <p:bldP spid="32" grpId="0" animBg="1"/>
      <p:bldP spid="34" grpId="0"/>
      <p:bldP spid="24" grpId="0"/>
      <p:bldP spid="30" grpId="0" animBg="1"/>
      <p:bldP spid="31" grpId="0" animBg="1"/>
      <p:bldP spid="3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2C1AE251-287D-4395-9F51-8CED1979845E}"/>
              </a:ext>
            </a:extLst>
          </p:cNvPr>
          <p:cNvSpPr/>
          <p:nvPr/>
        </p:nvSpPr>
        <p:spPr bwMode="auto">
          <a:xfrm>
            <a:off x="1278081" y="947922"/>
            <a:ext cx="8958351" cy="25200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square" lIns="90000" tIns="82800" rIns="90000" bIns="82800" numCol="1" rtlCol="0" anchor="t" anchorCtr="1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-2500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39939" name="Text Box 3"/>
          <p:cNvSpPr txBox="1">
            <a:spLocks noChangeArrowheads="1"/>
          </p:cNvSpPr>
          <p:nvPr/>
        </p:nvSpPr>
        <p:spPr bwMode="auto">
          <a:xfrm>
            <a:off x="1281093" y="309377"/>
            <a:ext cx="2235205" cy="536549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FFFFFF"/>
                </a:solidFill>
                <a:latin typeface="Arial" panose="020B0604020202020204" pitchFamily="34" charset="0"/>
              </a:rPr>
              <a:t>OEM armónica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1462320" y="908439"/>
            <a:ext cx="8774112" cy="2560640"/>
            <a:chOff x="813" y="1264"/>
            <a:chExt cx="5527" cy="1613"/>
          </a:xfrm>
        </p:grpSpPr>
        <p:pic>
          <p:nvPicPr>
            <p:cNvPr id="39958" name="Picture 6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9" y="1549"/>
              <a:ext cx="5421" cy="13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</p:pic>
        <p:graphicFrame>
          <p:nvGraphicFramePr>
            <p:cNvPr id="39959" name="Object 7"/>
            <p:cNvGraphicFramePr>
              <a:graphicFrameLocks noChangeAspect="1"/>
            </p:cNvGraphicFramePr>
            <p:nvPr/>
          </p:nvGraphicFramePr>
          <p:xfrm>
            <a:off x="1422" y="1384"/>
            <a:ext cx="247" cy="3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4" imgW="152268" imgH="203024" progId="Equation.3">
                    <p:embed/>
                  </p:oleObj>
                </mc:Choice>
                <mc:Fallback>
                  <p:oleObj name="Ecuación" r:id="rId4" imgW="152268" imgH="203024" progId="Equation.3">
                    <p:embed/>
                    <p:pic>
                      <p:nvPicPr>
                        <p:cNvPr id="39959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22" y="1384"/>
                          <a:ext cx="247" cy="3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60" name="Object 8"/>
            <p:cNvGraphicFramePr>
              <a:graphicFrameLocks noChangeAspect="1"/>
            </p:cNvGraphicFramePr>
            <p:nvPr/>
          </p:nvGraphicFramePr>
          <p:xfrm>
            <a:off x="813" y="2210"/>
            <a:ext cx="248" cy="3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6" imgW="152268" imgH="203024" progId="Equation.3">
                    <p:embed/>
                  </p:oleObj>
                </mc:Choice>
                <mc:Fallback>
                  <p:oleObj name="Ecuación" r:id="rId6" imgW="152268" imgH="203024" progId="Equation.3">
                    <p:embed/>
                    <p:pic>
                      <p:nvPicPr>
                        <p:cNvPr id="3996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3" y="2210"/>
                          <a:ext cx="248" cy="3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61" name="Object 9"/>
            <p:cNvGraphicFramePr>
              <a:graphicFrameLocks noChangeAspect="1"/>
            </p:cNvGraphicFramePr>
            <p:nvPr/>
          </p:nvGraphicFramePr>
          <p:xfrm>
            <a:off x="5221" y="2375"/>
            <a:ext cx="207" cy="2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8" imgW="126725" imgH="177415" progId="Equation.3">
                    <p:embed/>
                  </p:oleObj>
                </mc:Choice>
                <mc:Fallback>
                  <p:oleObj name="Ecuación" r:id="rId8" imgW="126725" imgH="177415" progId="Equation.3">
                    <p:embed/>
                    <p:pic>
                      <p:nvPicPr>
                        <p:cNvPr id="39961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21" y="2375"/>
                          <a:ext cx="207" cy="2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962" name="Text Box 10"/>
            <p:cNvSpPr txBox="1">
              <a:spLocks noChangeArrowheads="1"/>
            </p:cNvSpPr>
            <p:nvPr/>
          </p:nvSpPr>
          <p:spPr bwMode="auto">
            <a:xfrm>
              <a:off x="3302" y="1264"/>
              <a:ext cx="239" cy="3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800" b="1" dirty="0">
                  <a:latin typeface="Arial" panose="020B0604020202020204" pitchFamily="34" charset="0"/>
                  <a:sym typeface="Symbol" panose="05050102010706020507" pitchFamily="18" charset="2"/>
                </a:rPr>
                <a:t></a:t>
              </a:r>
            </a:p>
          </p:txBody>
        </p:sp>
      </p:grpSp>
      <p:sp>
        <p:nvSpPr>
          <p:cNvPr id="63492" name="Text Box 4"/>
          <p:cNvSpPr txBox="1">
            <a:spLocks noChangeArrowheads="1"/>
          </p:cNvSpPr>
          <p:nvPr/>
        </p:nvSpPr>
        <p:spPr bwMode="auto">
          <a:xfrm>
            <a:off x="1757696" y="5994193"/>
            <a:ext cx="8082229" cy="905881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El comportamiento sinusoidal en el tiempo en cada punto, se tiene también en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el espacio</a:t>
            </a:r>
            <a:endParaRPr lang="es-ES" sz="24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grpSp>
        <p:nvGrpSpPr>
          <p:cNvPr id="5" name="Grupo 4"/>
          <p:cNvGrpSpPr>
            <a:grpSpLocks/>
          </p:cNvGrpSpPr>
          <p:nvPr/>
        </p:nvGrpSpPr>
        <p:grpSpPr bwMode="auto">
          <a:xfrm>
            <a:off x="6511330" y="4754272"/>
            <a:ext cx="3352295" cy="536549"/>
            <a:chOff x="8449548" y="6235617"/>
            <a:chExt cx="3834705" cy="536642"/>
          </a:xfrm>
        </p:grpSpPr>
        <p:graphicFrame>
          <p:nvGraphicFramePr>
            <p:cNvPr id="39953" name="Object 17"/>
            <p:cNvGraphicFramePr>
              <a:graphicFrameLocks noChangeAspect="1"/>
            </p:cNvGraphicFramePr>
            <p:nvPr/>
          </p:nvGraphicFramePr>
          <p:xfrm>
            <a:off x="8449548" y="6262588"/>
            <a:ext cx="1207407" cy="4827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10" imgW="571252" imgH="228501" progId="Equation.3">
                    <p:embed/>
                  </p:oleObj>
                </mc:Choice>
                <mc:Fallback>
                  <p:oleObj name="Ecuación" r:id="rId10" imgW="571252" imgH="228501" progId="Equation.3">
                    <p:embed/>
                    <p:pic>
                      <p:nvPicPr>
                        <p:cNvPr id="39953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449548" y="6262588"/>
                          <a:ext cx="1207407" cy="4827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947" name="Text Box 15"/>
            <p:cNvSpPr txBox="1">
              <a:spLocks noChangeArrowheads="1"/>
            </p:cNvSpPr>
            <p:nvPr/>
          </p:nvSpPr>
          <p:spPr bwMode="auto">
            <a:xfrm>
              <a:off x="9727392" y="6235617"/>
              <a:ext cx="2556861" cy="5366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FF0000"/>
                  </a:solidFill>
                  <a:latin typeface="Arial" panose="020B0604020202020204" pitchFamily="34" charset="0"/>
                </a:rPr>
                <a:t>(sin pérdidas)</a:t>
              </a:r>
            </a:p>
          </p:txBody>
        </p:sp>
      </p:grpSp>
      <p:sp>
        <p:nvSpPr>
          <p:cNvPr id="28" name="Text Box 15">
            <a:extLst>
              <a:ext uri="{FF2B5EF4-FFF2-40B4-BE49-F238E27FC236}">
                <a16:creationId xmlns:a16="http://schemas.microsoft.com/office/drawing/2014/main" id="{343C21BD-1905-40AD-BC52-387ECBCC11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34003" y="286597"/>
            <a:ext cx="1287872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(“foto”)</a:t>
            </a:r>
          </a:p>
        </p:txBody>
      </p:sp>
      <p:sp>
        <p:nvSpPr>
          <p:cNvPr id="19" name="Text Box 4">
            <a:extLst>
              <a:ext uri="{FF2B5EF4-FFF2-40B4-BE49-F238E27FC236}">
                <a16:creationId xmlns:a16="http://schemas.microsoft.com/office/drawing/2014/main" id="{D05527A3-8B59-416E-B8C8-835C93D9DE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1799" y="3677234"/>
            <a:ext cx="5943011" cy="932490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wrap="square" lIns="72000" tIns="36000" rIns="72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“Como dos cuerdas paralelas oscilando una perpendicular a la otra”</a:t>
            </a:r>
            <a:endParaRPr lang="es-ES" sz="2400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F6BDD9ED-36B9-41FF-A1F5-24294252BFBE}"/>
              </a:ext>
            </a:extLst>
          </p:cNvPr>
          <p:cNvGrpSpPr/>
          <p:nvPr/>
        </p:nvGrpSpPr>
        <p:grpSpPr>
          <a:xfrm>
            <a:off x="1841885" y="4738428"/>
            <a:ext cx="3574267" cy="536549"/>
            <a:chOff x="1411030" y="1491421"/>
            <a:chExt cx="3574267" cy="536549"/>
          </a:xfrm>
        </p:grpSpPr>
        <p:graphicFrame>
          <p:nvGraphicFramePr>
            <p:cNvPr id="20" name="Object 12">
              <a:extLst>
                <a:ext uri="{FF2B5EF4-FFF2-40B4-BE49-F238E27FC236}">
                  <a16:creationId xmlns:a16="http://schemas.microsoft.com/office/drawing/2014/main" id="{EACB452A-BEC2-47EB-928B-6072E49C3FB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11030" y="1535698"/>
            <a:ext cx="1269825" cy="492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12" imgW="622030" imgH="241195" progId="Equation.3">
                    <p:embed/>
                  </p:oleObj>
                </mc:Choice>
                <mc:Fallback>
                  <p:oleObj name="Ecuación" r:id="rId12" imgW="622030" imgH="241195" progId="Equation.3">
                    <p:embed/>
                    <p:pic>
                      <p:nvPicPr>
                        <p:cNvPr id="20" name="Object 12">
                          <a:extLst>
                            <a:ext uri="{FF2B5EF4-FFF2-40B4-BE49-F238E27FC236}">
                              <a16:creationId xmlns:a16="http://schemas.microsoft.com/office/drawing/2014/main" id="{EACB452A-BEC2-47EB-928B-6072E49C3FB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11030" y="1535698"/>
                          <a:ext cx="1269825" cy="492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" name="Text Box 15">
              <a:extLst>
                <a:ext uri="{FF2B5EF4-FFF2-40B4-BE49-F238E27FC236}">
                  <a16:creationId xmlns:a16="http://schemas.microsoft.com/office/drawing/2014/main" id="{3F92C888-1F43-4827-8696-C7ECF9BF51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50092" y="1491421"/>
              <a:ext cx="2235205" cy="5365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FF0000"/>
                  </a:solidFill>
                  <a:latin typeface="Arial" panose="020B0604020202020204" pitchFamily="34" charset="0"/>
                </a:rPr>
                <a:t>(normalmente)</a:t>
              </a:r>
            </a:p>
          </p:txBody>
        </p:sp>
      </p:grpSp>
      <p:sp>
        <p:nvSpPr>
          <p:cNvPr id="6" name="Text Box 4">
            <a:extLst>
              <a:ext uri="{FF2B5EF4-FFF2-40B4-BE49-F238E27FC236}">
                <a16:creationId xmlns:a16="http://schemas.microsoft.com/office/drawing/2014/main" id="{B19C042E-AF82-D90E-5270-7DED4C5E9E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3792" y="5379314"/>
            <a:ext cx="4826311" cy="536549"/>
          </a:xfrm>
          <a:prstGeom prst="rect">
            <a:avLst/>
          </a:prstGeom>
          <a:noFill/>
          <a:ln>
            <a:noFill/>
          </a:ln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b="1">
                <a:solidFill>
                  <a:srgbClr val="000000"/>
                </a:solidFill>
                <a:latin typeface="Arial" panose="020B0604020202020204" pitchFamily="34" charset="0"/>
              </a:rPr>
              <a:t>E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y </a:t>
            </a:r>
            <a:r>
              <a:rPr lang="es-ES" sz="2400" b="1" dirty="0">
                <a:solidFill>
                  <a:srgbClr val="000000"/>
                </a:solidFill>
                <a:latin typeface="Arial" panose="020B0604020202020204" pitchFamily="34" charset="0"/>
              </a:rPr>
              <a:t>B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están </a:t>
            </a:r>
            <a:r>
              <a:rPr lang="es-ES" sz="2400" dirty="0">
                <a:latin typeface="Arial" panose="020B0604020202020204" pitchFamily="34" charset="0"/>
              </a:rPr>
              <a:t>en fase 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normalmente</a:t>
            </a:r>
            <a:endParaRPr lang="es-ES" sz="24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99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39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63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9939" grpId="0" animBg="1"/>
      <p:bldP spid="63492" grpId="0" animBg="1"/>
      <p:bldP spid="28" grpId="0"/>
      <p:bldP spid="19" grpId="0" animBg="1"/>
      <p:bldP spid="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2C1AE251-287D-4395-9F51-8CED1979845E}"/>
              </a:ext>
            </a:extLst>
          </p:cNvPr>
          <p:cNvSpPr/>
          <p:nvPr/>
        </p:nvSpPr>
        <p:spPr bwMode="auto">
          <a:xfrm>
            <a:off x="1278081" y="947918"/>
            <a:ext cx="8958351" cy="25200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square" lIns="90000" tIns="82800" rIns="90000" bIns="82800" numCol="1" rtlCol="0" anchor="t" anchorCtr="1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-2500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39939" name="Text Box 3"/>
          <p:cNvSpPr txBox="1">
            <a:spLocks noChangeArrowheads="1"/>
          </p:cNvSpPr>
          <p:nvPr/>
        </p:nvSpPr>
        <p:spPr bwMode="auto">
          <a:xfrm>
            <a:off x="1281093" y="309377"/>
            <a:ext cx="2235205" cy="536549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FFFFFF"/>
                </a:solidFill>
                <a:latin typeface="Arial" panose="020B0604020202020204" pitchFamily="34" charset="0"/>
              </a:rPr>
              <a:t>OEM armónica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1462320" y="908435"/>
            <a:ext cx="8774112" cy="2560640"/>
            <a:chOff x="813" y="1264"/>
            <a:chExt cx="5527" cy="1613"/>
          </a:xfrm>
        </p:grpSpPr>
        <p:pic>
          <p:nvPicPr>
            <p:cNvPr id="39958" name="Picture 6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9" y="1549"/>
              <a:ext cx="5421" cy="13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</p:pic>
        <p:graphicFrame>
          <p:nvGraphicFramePr>
            <p:cNvPr id="39959" name="Object 7"/>
            <p:cNvGraphicFramePr>
              <a:graphicFrameLocks noChangeAspect="1"/>
            </p:cNvGraphicFramePr>
            <p:nvPr/>
          </p:nvGraphicFramePr>
          <p:xfrm>
            <a:off x="1422" y="1384"/>
            <a:ext cx="247" cy="3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4" imgW="152268" imgH="203024" progId="Equation.3">
                    <p:embed/>
                  </p:oleObj>
                </mc:Choice>
                <mc:Fallback>
                  <p:oleObj name="Ecuación" r:id="rId4" imgW="152268" imgH="203024" progId="Equation.3">
                    <p:embed/>
                    <p:pic>
                      <p:nvPicPr>
                        <p:cNvPr id="39959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22" y="1384"/>
                          <a:ext cx="247" cy="3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60" name="Object 8"/>
            <p:cNvGraphicFramePr>
              <a:graphicFrameLocks noChangeAspect="1"/>
            </p:cNvGraphicFramePr>
            <p:nvPr/>
          </p:nvGraphicFramePr>
          <p:xfrm>
            <a:off x="813" y="2210"/>
            <a:ext cx="248" cy="3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6" imgW="152268" imgH="203024" progId="Equation.3">
                    <p:embed/>
                  </p:oleObj>
                </mc:Choice>
                <mc:Fallback>
                  <p:oleObj name="Ecuación" r:id="rId6" imgW="152268" imgH="203024" progId="Equation.3">
                    <p:embed/>
                    <p:pic>
                      <p:nvPicPr>
                        <p:cNvPr id="3996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3" y="2210"/>
                          <a:ext cx="248" cy="3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61" name="Object 9"/>
            <p:cNvGraphicFramePr>
              <a:graphicFrameLocks noChangeAspect="1"/>
            </p:cNvGraphicFramePr>
            <p:nvPr/>
          </p:nvGraphicFramePr>
          <p:xfrm>
            <a:off x="5221" y="2375"/>
            <a:ext cx="207" cy="2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8" imgW="126725" imgH="177415" progId="Equation.3">
                    <p:embed/>
                  </p:oleObj>
                </mc:Choice>
                <mc:Fallback>
                  <p:oleObj name="Ecuación" r:id="rId8" imgW="126725" imgH="177415" progId="Equation.3">
                    <p:embed/>
                    <p:pic>
                      <p:nvPicPr>
                        <p:cNvPr id="39961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21" y="2375"/>
                          <a:ext cx="207" cy="2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962" name="Text Box 10"/>
            <p:cNvSpPr txBox="1">
              <a:spLocks noChangeArrowheads="1"/>
            </p:cNvSpPr>
            <p:nvPr/>
          </p:nvSpPr>
          <p:spPr bwMode="auto">
            <a:xfrm>
              <a:off x="3302" y="1264"/>
              <a:ext cx="239" cy="3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800" b="1" dirty="0">
                  <a:latin typeface="Arial" panose="020B0604020202020204" pitchFamily="34" charset="0"/>
                  <a:sym typeface="Symbol" panose="05050102010706020507" pitchFamily="18" charset="2"/>
                </a:rPr>
                <a:t></a:t>
              </a:r>
            </a:p>
          </p:txBody>
        </p:sp>
      </p:grpSp>
      <p:sp>
        <p:nvSpPr>
          <p:cNvPr id="28" name="Text Box 15">
            <a:extLst>
              <a:ext uri="{FF2B5EF4-FFF2-40B4-BE49-F238E27FC236}">
                <a16:creationId xmlns:a16="http://schemas.microsoft.com/office/drawing/2014/main" id="{343C21BD-1905-40AD-BC52-387ECBCC11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34003" y="286597"/>
            <a:ext cx="1287872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(“foto”)</a:t>
            </a:r>
          </a:p>
        </p:txBody>
      </p:sp>
      <p:grpSp>
        <p:nvGrpSpPr>
          <p:cNvPr id="21" name="Group 21">
            <a:extLst>
              <a:ext uri="{FF2B5EF4-FFF2-40B4-BE49-F238E27FC236}">
                <a16:creationId xmlns:a16="http://schemas.microsoft.com/office/drawing/2014/main" id="{2B899D8D-5DD4-43D0-BCC0-D6384ED07422}"/>
              </a:ext>
            </a:extLst>
          </p:cNvPr>
          <p:cNvGrpSpPr>
            <a:grpSpLocks/>
          </p:cNvGrpSpPr>
          <p:nvPr/>
        </p:nvGrpSpPr>
        <p:grpSpPr bwMode="auto">
          <a:xfrm>
            <a:off x="1787196" y="5388182"/>
            <a:ext cx="2303463" cy="1216025"/>
            <a:chOff x="3385" y="2819"/>
            <a:chExt cx="1451" cy="766"/>
          </a:xfrm>
        </p:grpSpPr>
        <p:sp>
          <p:nvSpPr>
            <p:cNvPr id="22" name="11 Rectángulo">
              <a:extLst>
                <a:ext uri="{FF2B5EF4-FFF2-40B4-BE49-F238E27FC236}">
                  <a16:creationId xmlns:a16="http://schemas.microsoft.com/office/drawing/2014/main" id="{21C9C5E7-AC88-41B5-9941-0A578267D4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5" y="2819"/>
              <a:ext cx="1451" cy="766"/>
            </a:xfrm>
            <a:prstGeom prst="rect">
              <a:avLst/>
            </a:prstGeom>
            <a:solidFill>
              <a:srgbClr val="FF99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23" name="Object 2">
              <a:extLst>
                <a:ext uri="{FF2B5EF4-FFF2-40B4-BE49-F238E27FC236}">
                  <a16:creationId xmlns:a16="http://schemas.microsoft.com/office/drawing/2014/main" id="{CA443886-D547-450F-8C44-FD9C6606C0C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77" y="2871"/>
            <a:ext cx="1342" cy="6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10" imgW="723586" imgH="393529" progId="Equation.3">
                    <p:embed/>
                  </p:oleObj>
                </mc:Choice>
                <mc:Fallback>
                  <p:oleObj name="Ecuación" r:id="rId10" imgW="723586" imgH="393529" progId="Equation.3">
                    <p:embed/>
                    <p:pic>
                      <p:nvPicPr>
                        <p:cNvPr id="23" name="Object 2">
                          <a:extLst>
                            <a:ext uri="{FF2B5EF4-FFF2-40B4-BE49-F238E27FC236}">
                              <a16:creationId xmlns:a16="http://schemas.microsoft.com/office/drawing/2014/main" id="{CA443886-D547-450F-8C44-FD9C6606C0C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77" y="2871"/>
                          <a:ext cx="1342" cy="6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99CC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5" name="CuadroTexto 24">
            <a:extLst>
              <a:ext uri="{FF2B5EF4-FFF2-40B4-BE49-F238E27FC236}">
                <a16:creationId xmlns:a16="http://schemas.microsoft.com/office/drawing/2014/main" id="{36B541F4-A8DF-4328-ABBA-D03B5D6C41A7}"/>
              </a:ext>
            </a:extLst>
          </p:cNvPr>
          <p:cNvSpPr txBox="1"/>
          <p:nvPr/>
        </p:nvSpPr>
        <p:spPr>
          <a:xfrm flipH="1">
            <a:off x="4505007" y="5329349"/>
            <a:ext cx="5703761" cy="156966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2400" dirty="0">
                <a:solidFill>
                  <a:schemeClr val="tx1"/>
                </a:solidFill>
              </a:rPr>
              <a:t>La </a:t>
            </a:r>
            <a:r>
              <a:rPr lang="es-ES" sz="2400" b="1" dirty="0">
                <a:solidFill>
                  <a:schemeClr val="tx1"/>
                </a:solidFill>
              </a:rPr>
              <a:t>frecuencia</a:t>
            </a:r>
            <a:r>
              <a:rPr lang="es-ES" sz="2400" dirty="0">
                <a:solidFill>
                  <a:schemeClr val="tx1"/>
                </a:solidFill>
              </a:rPr>
              <a:t>, 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 (</a:t>
            </a:r>
            <a:r>
              <a:rPr lang="es-ES" sz="2400" b="1" dirty="0" err="1">
                <a:solidFill>
                  <a:schemeClr val="tx1"/>
                </a:solidFill>
                <a:sym typeface="Symbol" panose="05050102010706020507" pitchFamily="18" charset="2"/>
              </a:rPr>
              <a:t>n</a:t>
            </a:r>
            <a:r>
              <a:rPr lang="es-ES" sz="2400" dirty="0" err="1">
                <a:solidFill>
                  <a:schemeClr val="tx1"/>
                </a:solidFill>
                <a:sym typeface="Symbol" panose="05050102010706020507" pitchFamily="18" charset="2"/>
              </a:rPr>
              <a:t>u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 o </a:t>
            </a:r>
            <a:r>
              <a:rPr lang="es-ES" sz="2400" b="1" dirty="0">
                <a:solidFill>
                  <a:schemeClr val="tx1"/>
                </a:solidFill>
                <a:sym typeface="Symbol" panose="05050102010706020507" pitchFamily="18" charset="2"/>
              </a:rPr>
              <a:t>n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i), de la onda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, el 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número de oscilaciones 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por segundo en un punto, 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no varía al cambiar de medio, la </a:t>
            </a:r>
            <a:r>
              <a:rPr lang="es-ES" sz="2400" dirty="0">
                <a:solidFill>
                  <a:schemeClr val="tx1"/>
                </a:solidFill>
              </a:rPr>
              <a:t> sí, depende de v</a:t>
            </a:r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26" name="Text Box 2">
            <a:extLst>
              <a:ext uri="{FF2B5EF4-FFF2-40B4-BE49-F238E27FC236}">
                <a16:creationId xmlns:a16="http://schemas.microsoft.com/office/drawing/2014/main" id="{9C047A04-D432-46F5-BD95-E108CB35F3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1" y="3607932"/>
            <a:ext cx="7906186" cy="164454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None/>
            </a:pPr>
            <a:r>
              <a:rPr lang="es-ES" sz="2400" dirty="0">
                <a:latin typeface="Arial" panose="020B0604020202020204" pitchFamily="34" charset="0"/>
              </a:rPr>
              <a:t>La </a:t>
            </a:r>
            <a:r>
              <a:rPr lang="es-ES" sz="2400" b="1" dirty="0">
                <a:latin typeface="Arial" panose="020B0604020202020204" pitchFamily="34" charset="0"/>
              </a:rPr>
              <a:t>longitud de onda</a:t>
            </a:r>
            <a:r>
              <a:rPr lang="es-ES" sz="2400" dirty="0">
                <a:latin typeface="Arial" panose="020B0604020202020204" pitchFamily="34" charset="0"/>
              </a:rPr>
              <a:t>,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,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es la distancia entre 2 puntos consecutivos en fase (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"período espacial") y es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l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a distancia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recorrida por la perturbación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en un </a:t>
            </a:r>
            <a:r>
              <a:rPr lang="es-ES" sz="2400" b="1" dirty="0">
                <a:latin typeface="Arial" panose="020B0604020202020204" pitchFamily="34" charset="0"/>
              </a:rPr>
              <a:t>periodo</a:t>
            </a:r>
            <a:r>
              <a:rPr lang="es-ES" sz="2400" dirty="0">
                <a:latin typeface="Arial" panose="020B0604020202020204" pitchFamily="34" charset="0"/>
              </a:rPr>
              <a:t>, T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(el tiempo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que tarda en repetirse en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un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punto) </a:t>
            </a:r>
            <a:endParaRPr lang="es-ES" sz="2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671022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6021A-CB07-97B8-ACE6-61E3E7B22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7939F898-B9A7-B26F-552C-B1C61D1097F2}"/>
              </a:ext>
            </a:extLst>
          </p:cNvPr>
          <p:cNvGrpSpPr/>
          <p:nvPr/>
        </p:nvGrpSpPr>
        <p:grpSpPr>
          <a:xfrm>
            <a:off x="2784729" y="789781"/>
            <a:ext cx="7957372" cy="3834670"/>
            <a:chOff x="2695706" y="1111229"/>
            <a:chExt cx="7957372" cy="3834670"/>
          </a:xfrm>
        </p:grpSpPr>
        <p:grpSp>
          <p:nvGrpSpPr>
            <p:cNvPr id="15" name="Grupo 14">
              <a:extLst>
                <a:ext uri="{FF2B5EF4-FFF2-40B4-BE49-F238E27FC236}">
                  <a16:creationId xmlns:a16="http://schemas.microsoft.com/office/drawing/2014/main" id="{1EA55E0D-8D45-7D59-795E-1022226E6226}"/>
                </a:ext>
              </a:extLst>
            </p:cNvPr>
            <p:cNvGrpSpPr/>
            <p:nvPr/>
          </p:nvGrpSpPr>
          <p:grpSpPr>
            <a:xfrm>
              <a:off x="2695706" y="1111229"/>
              <a:ext cx="7957372" cy="3638254"/>
              <a:chOff x="2695706" y="1111229"/>
              <a:chExt cx="7957372" cy="3638254"/>
            </a:xfrm>
          </p:grpSpPr>
          <p:grpSp>
            <p:nvGrpSpPr>
              <p:cNvPr id="12" name="Grupo 11">
                <a:extLst>
                  <a:ext uri="{FF2B5EF4-FFF2-40B4-BE49-F238E27FC236}">
                    <a16:creationId xmlns:a16="http://schemas.microsoft.com/office/drawing/2014/main" id="{0DE3454D-60CA-ECAB-1FB9-D496E50D374B}"/>
                  </a:ext>
                </a:extLst>
              </p:cNvPr>
              <p:cNvGrpSpPr/>
              <p:nvPr/>
            </p:nvGrpSpPr>
            <p:grpSpPr>
              <a:xfrm>
                <a:off x="2695706" y="1111229"/>
                <a:ext cx="7957372" cy="3638254"/>
                <a:chOff x="2695706" y="1111229"/>
                <a:chExt cx="7957372" cy="3638254"/>
              </a:xfrm>
            </p:grpSpPr>
            <p:pic>
              <p:nvPicPr>
                <p:cNvPr id="42024" name="Picture 5">
                  <a:extLst>
                    <a:ext uri="{FF2B5EF4-FFF2-40B4-BE49-F238E27FC236}">
                      <a16:creationId xmlns:a16="http://schemas.microsoft.com/office/drawing/2014/main" id="{78D69A3C-3D15-56BD-3105-7F46DC61CDA7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698115" y="1450658"/>
                  <a:ext cx="7954963" cy="329882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</p:pic>
            <p:sp>
              <p:nvSpPr>
                <p:cNvPr id="57" name="Rectángulo 56">
                  <a:extLst>
                    <a:ext uri="{FF2B5EF4-FFF2-40B4-BE49-F238E27FC236}">
                      <a16:creationId xmlns:a16="http://schemas.microsoft.com/office/drawing/2014/main" id="{C831C6B6-45B8-6D10-1925-BADBA72C8C06}"/>
                    </a:ext>
                  </a:extLst>
                </p:cNvPr>
                <p:cNvSpPr/>
                <p:nvPr/>
              </p:nvSpPr>
              <p:spPr bwMode="auto">
                <a:xfrm flipV="1">
                  <a:off x="2695706" y="1111229"/>
                  <a:ext cx="7957371" cy="461008"/>
                </a:xfrm>
                <a:prstGeom prst="rect">
                  <a:avLst/>
                </a:prstGeom>
                <a:solidFill>
                  <a:srgbClr val="FFFFFF"/>
                </a:solidFill>
                <a:ln w="25400" cap="flat" cmpd="sng" algn="ctr">
                  <a:noFill/>
                  <a:prstDash val="solid"/>
                  <a:round/>
                  <a:headEnd type="none" w="med" len="med"/>
                  <a:tailEnd type="none" w="lg" len="lg"/>
                </a:ln>
                <a:effectLst/>
              </p:spPr>
              <p:txBody>
                <a:bodyPr vert="horz" wrap="square" lIns="90000" tIns="82800" rIns="90000" bIns="82800" numCol="1" rtlCol="0" anchor="t" anchorCtr="1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GB" sz="20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charset="0"/>
                  </a:endParaRPr>
                </a:p>
              </p:txBody>
            </p:sp>
          </p:grpSp>
          <p:sp>
            <p:nvSpPr>
              <p:cNvPr id="42025" name="Text Box 6">
                <a:extLst>
                  <a:ext uri="{FF2B5EF4-FFF2-40B4-BE49-F238E27FC236}">
                    <a16:creationId xmlns:a16="http://schemas.microsoft.com/office/drawing/2014/main" id="{3827AA25-3122-0B20-6EF6-15DA25334A9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3565" y="2504758"/>
                <a:ext cx="727075" cy="4286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700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Audio</a:t>
                </a:r>
              </a:p>
            </p:txBody>
          </p:sp>
          <p:sp>
            <p:nvSpPr>
              <p:cNvPr id="42026" name="Line 7">
                <a:extLst>
                  <a:ext uri="{FF2B5EF4-FFF2-40B4-BE49-F238E27FC236}">
                    <a16:creationId xmlns:a16="http://schemas.microsoft.com/office/drawing/2014/main" id="{7820FDF6-2387-75CF-3164-3D25867338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796223" y="2607311"/>
                <a:ext cx="571500" cy="0"/>
              </a:xfrm>
              <a:prstGeom prst="line">
                <a:avLst/>
              </a:prstGeom>
              <a:noFill/>
              <a:ln w="25400">
                <a:solidFill>
                  <a:srgbClr val="808080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82800" rIns="90000" bIns="82800" anchorCtr="1">
                <a:spAutoFit/>
              </a:bodyPr>
              <a:lstStyle/>
              <a:p>
                <a:endParaRPr lang="en-GB"/>
              </a:p>
            </p:txBody>
          </p:sp>
        </p:grpSp>
        <p:sp>
          <p:nvSpPr>
            <p:cNvPr id="52" name="Rectángulo 51">
              <a:extLst>
                <a:ext uri="{FF2B5EF4-FFF2-40B4-BE49-F238E27FC236}">
                  <a16:creationId xmlns:a16="http://schemas.microsoft.com/office/drawing/2014/main" id="{15017422-BEE6-B357-E03B-6DD1752D4B28}"/>
                </a:ext>
              </a:extLst>
            </p:cNvPr>
            <p:cNvSpPr/>
            <p:nvPr/>
          </p:nvSpPr>
          <p:spPr bwMode="auto">
            <a:xfrm flipV="1">
              <a:off x="2695706" y="4484891"/>
              <a:ext cx="7957372" cy="461008"/>
            </a:xfrm>
            <a:prstGeom prst="rect">
              <a:avLst/>
            </a:prstGeom>
            <a:solidFill>
              <a:srgbClr val="FFFFFF"/>
            </a:solidFill>
            <a:ln w="25400" cap="flat" cmpd="sng" algn="ctr">
              <a:noFill/>
              <a:prstDash val="solid"/>
              <a:round/>
              <a:headEnd type="none" w="med" len="med"/>
              <a:tailEnd type="none" w="lg" len="lg"/>
            </a:ln>
            <a:effectLst/>
          </p:spPr>
          <p:txBody>
            <a:bodyPr vert="horz" wrap="square" lIns="90000" tIns="82800" rIns="90000" bIns="82800" numCol="1" rtlCol="0" anchor="t" anchorCtr="1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58" name="Rectángulo 57">
            <a:extLst>
              <a:ext uri="{FF2B5EF4-FFF2-40B4-BE49-F238E27FC236}">
                <a16:creationId xmlns:a16="http://schemas.microsoft.com/office/drawing/2014/main" id="{2C1F7FA3-B1BB-7BB5-B52D-48557CA3EDB9}"/>
              </a:ext>
            </a:extLst>
          </p:cNvPr>
          <p:cNvSpPr/>
          <p:nvPr/>
        </p:nvSpPr>
        <p:spPr bwMode="auto">
          <a:xfrm>
            <a:off x="1181858" y="781513"/>
            <a:ext cx="1684653" cy="38340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90000" tIns="82800" rIns="90000" bIns="82800" numCol="1" rtlCol="0" anchor="t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41986" name="Text Box 2">
            <a:extLst>
              <a:ext uri="{FF2B5EF4-FFF2-40B4-BE49-F238E27FC236}">
                <a16:creationId xmlns:a16="http://schemas.microsoft.com/office/drawing/2014/main" id="{08086A19-DA04-4694-E623-DE1DE76A99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4427" y="68622"/>
            <a:ext cx="4351169" cy="536549"/>
          </a:xfrm>
          <a:prstGeom prst="rect">
            <a:avLst/>
          </a:prstGeom>
          <a:solidFill>
            <a:srgbClr val="666699"/>
          </a:solidFill>
          <a:ln>
            <a:noFill/>
          </a:ln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cap="small" dirty="0">
                <a:solidFill>
                  <a:srgbClr val="FFFFFF"/>
                </a:solidFill>
                <a:latin typeface="Arial" panose="020B0604020202020204" pitchFamily="34" charset="0"/>
              </a:rPr>
              <a:t>Espectro Electromagnético</a:t>
            </a:r>
          </a:p>
        </p:txBody>
      </p:sp>
      <p:sp>
        <p:nvSpPr>
          <p:cNvPr id="65539" name="Text Box 3">
            <a:extLst>
              <a:ext uri="{FF2B5EF4-FFF2-40B4-BE49-F238E27FC236}">
                <a16:creationId xmlns:a16="http://schemas.microsoft.com/office/drawing/2014/main" id="{9C0DDA98-0DEC-4809-C0D0-24AEE22987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00675" y="174315"/>
            <a:ext cx="5069879" cy="474994"/>
          </a:xfrm>
          <a:prstGeom prst="rect">
            <a:avLst/>
          </a:prstGeom>
          <a:noFill/>
          <a:ln>
            <a:noFill/>
          </a:ln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s-ES" sz="2000" dirty="0">
                <a:solidFill>
                  <a:srgbClr val="FF0000"/>
                </a:solidFill>
                <a:latin typeface="Arial" panose="020B0604020202020204" pitchFamily="34" charset="0"/>
              </a:rPr>
              <a:t>(clasificación de las OEM armónicas)</a:t>
            </a:r>
          </a:p>
        </p:txBody>
      </p:sp>
      <p:grpSp>
        <p:nvGrpSpPr>
          <p:cNvPr id="3" name="Group 9">
            <a:extLst>
              <a:ext uri="{FF2B5EF4-FFF2-40B4-BE49-F238E27FC236}">
                <a16:creationId xmlns:a16="http://schemas.microsoft.com/office/drawing/2014/main" id="{97FA03BA-8C83-D330-DC48-9321D5054001}"/>
              </a:ext>
            </a:extLst>
          </p:cNvPr>
          <p:cNvGrpSpPr>
            <a:grpSpLocks/>
          </p:cNvGrpSpPr>
          <p:nvPr/>
        </p:nvGrpSpPr>
        <p:grpSpPr bwMode="auto">
          <a:xfrm>
            <a:off x="1401001" y="1405714"/>
            <a:ext cx="1668462" cy="469900"/>
            <a:chOff x="517" y="2478"/>
            <a:chExt cx="1051" cy="296"/>
          </a:xfrm>
        </p:grpSpPr>
        <p:sp>
          <p:nvSpPr>
            <p:cNvPr id="42022" name="Text Box 10">
              <a:extLst>
                <a:ext uri="{FF2B5EF4-FFF2-40B4-BE49-F238E27FC236}">
                  <a16:creationId xmlns:a16="http://schemas.microsoft.com/office/drawing/2014/main" id="{E3046D6C-8A73-F378-30D3-F759D21935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7" y="2478"/>
              <a:ext cx="803" cy="296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dirty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 (Hz)</a:t>
              </a:r>
            </a:p>
          </p:txBody>
        </p:sp>
        <p:sp>
          <p:nvSpPr>
            <p:cNvPr id="42023" name="Line 11">
              <a:extLst>
                <a:ext uri="{FF2B5EF4-FFF2-40B4-BE49-F238E27FC236}">
                  <a16:creationId xmlns:a16="http://schemas.microsoft.com/office/drawing/2014/main" id="{F8ED054A-50CF-A427-1079-532E00A997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66" y="2626"/>
              <a:ext cx="202" cy="0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Ctr="1"/>
            <a:lstStyle/>
            <a:p>
              <a:endParaRPr lang="en-GB" dirty="0"/>
            </a:p>
          </p:txBody>
        </p:sp>
      </p:grpSp>
      <p:grpSp>
        <p:nvGrpSpPr>
          <p:cNvPr id="4" name="Group 12">
            <a:extLst>
              <a:ext uri="{FF2B5EF4-FFF2-40B4-BE49-F238E27FC236}">
                <a16:creationId xmlns:a16="http://schemas.microsoft.com/office/drawing/2014/main" id="{A16565B0-6A6B-D905-9FF7-BEB70C20B55B}"/>
              </a:ext>
            </a:extLst>
          </p:cNvPr>
          <p:cNvGrpSpPr>
            <a:grpSpLocks/>
          </p:cNvGrpSpPr>
          <p:nvPr/>
        </p:nvGrpSpPr>
        <p:grpSpPr bwMode="auto">
          <a:xfrm>
            <a:off x="1401299" y="2997496"/>
            <a:ext cx="1674812" cy="469900"/>
            <a:chOff x="764" y="3103"/>
            <a:chExt cx="1055" cy="296"/>
          </a:xfrm>
        </p:grpSpPr>
        <p:sp>
          <p:nvSpPr>
            <p:cNvPr id="42020" name="Text Box 13">
              <a:extLst>
                <a:ext uri="{FF2B5EF4-FFF2-40B4-BE49-F238E27FC236}">
                  <a16:creationId xmlns:a16="http://schemas.microsoft.com/office/drawing/2014/main" id="{93E2E89D-E2AC-4B95-020C-2BD4DC9270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4" y="3103"/>
              <a:ext cx="803" cy="296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dirty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 (m)</a:t>
              </a:r>
            </a:p>
          </p:txBody>
        </p:sp>
        <p:sp>
          <p:nvSpPr>
            <p:cNvPr id="42021" name="Line 14">
              <a:extLst>
                <a:ext uri="{FF2B5EF4-FFF2-40B4-BE49-F238E27FC236}">
                  <a16:creationId xmlns:a16="http://schemas.microsoft.com/office/drawing/2014/main" id="{7CE1EB1A-AF05-00C2-4691-5AAD51C129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17" y="3236"/>
              <a:ext cx="202" cy="0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Ctr="1"/>
            <a:lstStyle/>
            <a:p>
              <a:endParaRPr lang="en-GB"/>
            </a:p>
          </p:txBody>
        </p:sp>
      </p:grpSp>
      <p:sp>
        <p:nvSpPr>
          <p:cNvPr id="65551" name="Text Box 15">
            <a:extLst>
              <a:ext uri="{FF2B5EF4-FFF2-40B4-BE49-F238E27FC236}">
                <a16:creationId xmlns:a16="http://schemas.microsoft.com/office/drawing/2014/main" id="{1C2D701C-4088-AE92-1814-82BCBDD5BF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4913" y="3515540"/>
            <a:ext cx="1257300" cy="436562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lIns="90000" tIns="46800" rIns="90000" bIns="46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000">
                <a:solidFill>
                  <a:srgbClr val="000000"/>
                </a:solidFill>
                <a:latin typeface="Arial" panose="020B0604020202020204" pitchFamily="34" charset="0"/>
              </a:rPr>
              <a:t>Ópticas</a:t>
            </a:r>
          </a:p>
        </p:txBody>
      </p:sp>
      <p:grpSp>
        <p:nvGrpSpPr>
          <p:cNvPr id="8" name="Group 32">
            <a:extLst>
              <a:ext uri="{FF2B5EF4-FFF2-40B4-BE49-F238E27FC236}">
                <a16:creationId xmlns:a16="http://schemas.microsoft.com/office/drawing/2014/main" id="{846CA763-67B4-DD5D-8EF0-D2A941C331E1}"/>
              </a:ext>
            </a:extLst>
          </p:cNvPr>
          <p:cNvGrpSpPr>
            <a:grpSpLocks/>
          </p:cNvGrpSpPr>
          <p:nvPr/>
        </p:nvGrpSpPr>
        <p:grpSpPr bwMode="auto">
          <a:xfrm>
            <a:off x="6471726" y="1683565"/>
            <a:ext cx="1447800" cy="1524952"/>
            <a:chOff x="3504" y="1928"/>
            <a:chExt cx="912" cy="992"/>
          </a:xfrm>
        </p:grpSpPr>
        <p:sp>
          <p:nvSpPr>
            <p:cNvPr id="42018" name="Rectangle 33">
              <a:extLst>
                <a:ext uri="{FF2B5EF4-FFF2-40B4-BE49-F238E27FC236}">
                  <a16:creationId xmlns:a16="http://schemas.microsoft.com/office/drawing/2014/main" id="{B66A5C9C-6802-E44D-2E9D-1E410A49E5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0" y="1928"/>
              <a:ext cx="56" cy="968"/>
            </a:xfrm>
            <a:prstGeom prst="rect">
              <a:avLst/>
            </a:prstGeom>
            <a:solidFill>
              <a:schemeClr val="tx2">
                <a:lumMod val="75000"/>
                <a:lumOff val="25000"/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2019" name="Rectangle 34">
              <a:extLst>
                <a:ext uri="{FF2B5EF4-FFF2-40B4-BE49-F238E27FC236}">
                  <a16:creationId xmlns:a16="http://schemas.microsoft.com/office/drawing/2014/main" id="{A94D4AB7-E44E-BE4E-0BD2-AAC4E9783B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4" y="1952"/>
              <a:ext cx="56" cy="968"/>
            </a:xfrm>
            <a:prstGeom prst="rect">
              <a:avLst/>
            </a:prstGeom>
            <a:solidFill>
              <a:schemeClr val="tx2">
                <a:lumMod val="75000"/>
                <a:lumOff val="25000"/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2334" name="Text Box 46">
            <a:extLst>
              <a:ext uri="{FF2B5EF4-FFF2-40B4-BE49-F238E27FC236}">
                <a16:creationId xmlns:a16="http://schemas.microsoft.com/office/drawing/2014/main" id="{254763A6-AB86-45F6-76FD-5CA57A0E83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0731" y="1994839"/>
            <a:ext cx="1276528" cy="523220"/>
          </a:xfrm>
          <a:prstGeom prst="rect">
            <a:avLst/>
          </a:prstGeom>
          <a:solidFill>
            <a:srgbClr val="99CCFF"/>
          </a:solidFill>
          <a:ln>
            <a:noFill/>
          </a:ln>
          <a:effectLst/>
        </p:spPr>
        <p:txBody>
          <a:bodyPr wrap="square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sz="2800">
                <a:solidFill>
                  <a:schemeClr val="tx1"/>
                </a:solidFill>
              </a:rPr>
              <a:t>c = </a:t>
            </a:r>
            <a:r>
              <a:rPr lang="es-ES" sz="2800">
                <a:solidFill>
                  <a:schemeClr val="tx1"/>
                </a:solidFill>
                <a:sym typeface="Symbol" panose="05050102010706020507" pitchFamily="18" charset="2"/>
              </a:rPr>
              <a:t></a:t>
            </a:r>
          </a:p>
        </p:txBody>
      </p:sp>
      <p:grpSp>
        <p:nvGrpSpPr>
          <p:cNvPr id="12336" name="Group 48">
            <a:extLst>
              <a:ext uri="{FF2B5EF4-FFF2-40B4-BE49-F238E27FC236}">
                <a16:creationId xmlns:a16="http://schemas.microsoft.com/office/drawing/2014/main" id="{ED4F8363-F53D-A61C-98DA-F05B27C1190A}"/>
              </a:ext>
            </a:extLst>
          </p:cNvPr>
          <p:cNvGrpSpPr>
            <a:grpSpLocks/>
          </p:cNvGrpSpPr>
          <p:nvPr/>
        </p:nvGrpSpPr>
        <p:grpSpPr bwMode="auto">
          <a:xfrm>
            <a:off x="7435337" y="994591"/>
            <a:ext cx="563563" cy="673100"/>
            <a:chOff x="4011" y="1187"/>
            <a:chExt cx="355" cy="424"/>
          </a:xfrm>
        </p:grpSpPr>
        <p:sp>
          <p:nvSpPr>
            <p:cNvPr id="42016" name="Text Box 35">
              <a:extLst>
                <a:ext uri="{FF2B5EF4-FFF2-40B4-BE49-F238E27FC236}">
                  <a16:creationId xmlns:a16="http://schemas.microsoft.com/office/drawing/2014/main" id="{19F81018-1061-60AD-F667-020DD84B71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1" y="1187"/>
              <a:ext cx="355" cy="20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36000" rIns="90000" bIns="360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1600">
                  <a:solidFill>
                    <a:srgbClr val="000000"/>
                  </a:solidFill>
                  <a:latin typeface="Arial" panose="020B0604020202020204" pitchFamily="34" charset="0"/>
                </a:rPr>
                <a:t>LUZ</a:t>
              </a:r>
            </a:p>
          </p:txBody>
        </p:sp>
        <p:sp>
          <p:nvSpPr>
            <p:cNvPr id="42017" name="Line 47">
              <a:extLst>
                <a:ext uri="{FF2B5EF4-FFF2-40B4-BE49-F238E27FC236}">
                  <a16:creationId xmlns:a16="http://schemas.microsoft.com/office/drawing/2014/main" id="{1947018B-E452-F76E-7B8A-0A37274267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82" y="1380"/>
              <a:ext cx="0" cy="231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 type="oval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53" name="Text Box 15">
            <a:extLst>
              <a:ext uri="{FF2B5EF4-FFF2-40B4-BE49-F238E27FC236}">
                <a16:creationId xmlns:a16="http://schemas.microsoft.com/office/drawing/2014/main" id="{0CAFEB80-31F0-B881-E35F-9B8FF2343B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5426" y="3533002"/>
            <a:ext cx="3360737" cy="403225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lIns="90000" tIns="46800" rIns="90000" bIns="46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000">
                <a:solidFill>
                  <a:srgbClr val="000000"/>
                </a:solidFill>
                <a:latin typeface="Arial" panose="020B0604020202020204" pitchFamily="34" charset="0"/>
              </a:rPr>
              <a:t>Campos Electromagnéticos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94B3962-A5FA-48D1-72BA-A44578B3CC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4282" y="3961244"/>
            <a:ext cx="559658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s-ES" sz="1800" dirty="0">
                <a:solidFill>
                  <a:srgbClr val="008000"/>
                </a:solidFill>
              </a:rPr>
              <a:t>(no se comportan como ondas o partículas, fotones,  al interactuar con la materia, </a:t>
            </a:r>
            <a:r>
              <a:rPr lang="es-ES" sz="1800">
                <a:solidFill>
                  <a:srgbClr val="008000"/>
                </a:solidFill>
              </a:rPr>
              <a:t>sino sólo </a:t>
            </a:r>
            <a:r>
              <a:rPr lang="es-ES" sz="1800" dirty="0">
                <a:solidFill>
                  <a:srgbClr val="008000"/>
                </a:solidFill>
              </a:rPr>
              <a:t>como ondas)</a:t>
            </a:r>
          </a:p>
        </p:txBody>
      </p:sp>
      <p:grpSp>
        <p:nvGrpSpPr>
          <p:cNvPr id="42009" name="Group 27">
            <a:extLst>
              <a:ext uri="{FF2B5EF4-FFF2-40B4-BE49-F238E27FC236}">
                <a16:creationId xmlns:a16="http://schemas.microsoft.com/office/drawing/2014/main" id="{2A8758C3-A8EA-E977-C318-4AF1A6C32AFF}"/>
              </a:ext>
            </a:extLst>
          </p:cNvPr>
          <p:cNvGrpSpPr>
            <a:grpSpLocks/>
          </p:cNvGrpSpPr>
          <p:nvPr/>
        </p:nvGrpSpPr>
        <p:grpSpPr bwMode="auto">
          <a:xfrm>
            <a:off x="1400731" y="892451"/>
            <a:ext cx="1682678" cy="470424"/>
            <a:chOff x="-43" y="2481"/>
            <a:chExt cx="1060" cy="296"/>
          </a:xfrm>
        </p:grpSpPr>
        <p:sp>
          <p:nvSpPr>
            <p:cNvPr id="42011" name="Text Box 28">
              <a:extLst>
                <a:ext uri="{FF2B5EF4-FFF2-40B4-BE49-F238E27FC236}">
                  <a16:creationId xmlns:a16="http://schemas.microsoft.com/office/drawing/2014/main" id="{14C8D8C2-A1FE-DEDD-C1BB-7C6DC40DFB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43" y="2481"/>
              <a:ext cx="804" cy="296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dirty="0">
                  <a:solidFill>
                    <a:srgbClr val="000000"/>
                  </a:solidFill>
                  <a:latin typeface="Arial" panose="020B0604020202020204" pitchFamily="34" charset="0"/>
                </a:rPr>
                <a:t>Energía</a:t>
              </a:r>
            </a:p>
          </p:txBody>
        </p:sp>
        <p:sp>
          <p:nvSpPr>
            <p:cNvPr id="42012" name="Line 29">
              <a:extLst>
                <a:ext uri="{FF2B5EF4-FFF2-40B4-BE49-F238E27FC236}">
                  <a16:creationId xmlns:a16="http://schemas.microsoft.com/office/drawing/2014/main" id="{72C3263F-F351-EF3C-1240-17C66812D1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13" y="2640"/>
              <a:ext cx="204" cy="0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Ctr="1"/>
            <a:lstStyle/>
            <a:p>
              <a:endParaRPr lang="en-GB"/>
            </a:p>
          </p:txBody>
        </p:sp>
      </p:grpSp>
      <p:sp>
        <p:nvSpPr>
          <p:cNvPr id="45" name="Text Box 21">
            <a:extLst>
              <a:ext uri="{FF2B5EF4-FFF2-40B4-BE49-F238E27FC236}">
                <a16:creationId xmlns:a16="http://schemas.microsoft.com/office/drawing/2014/main" id="{73C1371F-11FB-DE00-A0F4-6C14F973C7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2782" y="4739088"/>
            <a:ext cx="3168391" cy="1008732"/>
          </a:xfrm>
          <a:prstGeom prst="rect">
            <a:avLst/>
          </a:prstGeom>
          <a:solidFill>
            <a:schemeClr val="tx2">
              <a:lumMod val="50000"/>
              <a:lumOff val="50000"/>
              <a:alpha val="50000"/>
            </a:schemeClr>
          </a:solidFill>
          <a:ln>
            <a:noFill/>
          </a:ln>
        </p:spPr>
        <p:txBody>
          <a:bodyPr wrap="square" lIns="108000" tIns="108000" rIns="108000" bIns="108000" anchor="ctr" anchorCtr="1">
            <a:no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000" dirty="0">
                <a:solidFill>
                  <a:srgbClr val="000000"/>
                </a:solidFill>
                <a:latin typeface="Arial" panose="020B0604020202020204" pitchFamily="34" charset="0"/>
              </a:rPr>
              <a:t>ANTENAS (mayores </a:t>
            </a:r>
            <a:r>
              <a:rPr lang="es-ES" sz="2000">
                <a:solidFill>
                  <a:srgbClr val="000000"/>
                </a:solidFill>
                <a:latin typeface="Arial" panose="020B0604020202020204" pitchFamily="34" charset="0"/>
              </a:rPr>
              <a:t>a </a:t>
            </a:r>
            <a:r>
              <a:rPr lang="es-ES" sz="20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menor ,</a:t>
            </a:r>
            <a:r>
              <a:rPr lang="es-ES" sz="2000">
                <a:solidFill>
                  <a:srgbClr val="000000"/>
                </a:solidFill>
                <a:latin typeface="Arial" panose="020B0604020202020204" pitchFamily="34" charset="0"/>
              </a:rPr>
              <a:t> para tener  señal de misma amplitud)</a:t>
            </a:r>
            <a:endParaRPr lang="es-ES" sz="2000" dirty="0">
              <a:solidFill>
                <a:srgbClr val="00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46" name="Text Box 21">
            <a:extLst>
              <a:ext uri="{FF2B5EF4-FFF2-40B4-BE49-F238E27FC236}">
                <a16:creationId xmlns:a16="http://schemas.microsoft.com/office/drawing/2014/main" id="{B180C9B8-4D07-1465-7C95-02C62298B2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4878" y="5808471"/>
            <a:ext cx="1579006" cy="106836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square" lIns="108000" tIns="108000" rIns="108000" bIns="108000" anchor="ctr" anchorCtr="1">
            <a:no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es-ES" sz="2000">
                <a:solidFill>
                  <a:srgbClr val="000000"/>
                </a:solidFill>
                <a:latin typeface="Arial" panose="020B0604020202020204" pitchFamily="34" charset="0"/>
              </a:rPr>
              <a:t>Efecto</a:t>
            </a:r>
            <a:endParaRPr lang="es-ES" sz="2000">
              <a:solidFill>
                <a:srgbClr val="00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BCF78CD-A803-B291-D088-F2254ED415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13671" y="953866"/>
            <a:ext cx="203934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800" dirty="0">
                <a:solidFill>
                  <a:srgbClr val="008000"/>
                </a:solidFill>
              </a:rPr>
              <a:t>400-700 nm | </a:t>
            </a:r>
            <a:r>
              <a:rPr lang="es-ES" sz="1800" dirty="0" err="1">
                <a:solidFill>
                  <a:srgbClr val="008000"/>
                </a:solidFill>
              </a:rPr>
              <a:t>PHz</a:t>
            </a:r>
            <a:endParaRPr lang="es-ES" sz="1800" dirty="0">
              <a:solidFill>
                <a:srgbClr val="008000"/>
              </a:solidFill>
            </a:endParaRPr>
          </a:p>
        </p:txBody>
      </p:sp>
      <p:sp>
        <p:nvSpPr>
          <p:cNvPr id="42" name="Text Box 18">
            <a:extLst>
              <a:ext uri="{FF2B5EF4-FFF2-40B4-BE49-F238E27FC236}">
                <a16:creationId xmlns:a16="http://schemas.microsoft.com/office/drawing/2014/main" id="{9576DAFE-38DB-C6EF-8859-916FB3287B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19526" y="3528875"/>
            <a:ext cx="2713037" cy="430212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lIns="90000" tIns="82800" rIns="90000" bIns="82800" anchor="ctr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000">
                <a:solidFill>
                  <a:srgbClr val="000000"/>
                </a:solidFill>
                <a:latin typeface="Arial" panose="020B0604020202020204" pitchFamily="34" charset="0"/>
              </a:rPr>
              <a:t>Ionizantes</a:t>
            </a:r>
          </a:p>
        </p:txBody>
      </p:sp>
      <p:sp>
        <p:nvSpPr>
          <p:cNvPr id="43" name="41 CuadroTexto">
            <a:extLst>
              <a:ext uri="{FF2B5EF4-FFF2-40B4-BE49-F238E27FC236}">
                <a16:creationId xmlns:a16="http://schemas.microsoft.com/office/drawing/2014/main" id="{CECA1465-C7DB-E19A-A36D-ABA4A9D656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19526" y="3968394"/>
            <a:ext cx="271303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1800">
                <a:solidFill>
                  <a:srgbClr val="008000"/>
                </a:solidFill>
                <a:latin typeface="Arial" panose="020B0604020202020204" pitchFamily="34" charset="0"/>
              </a:rPr>
              <a:t>(pueden ionizar y </a:t>
            </a:r>
            <a:r>
              <a:rPr lang="es-ES" sz="1800" dirty="0">
                <a:solidFill>
                  <a:srgbClr val="008000"/>
                </a:solidFill>
                <a:latin typeface="Arial" panose="020B0604020202020204" pitchFamily="34" charset="0"/>
              </a:rPr>
              <a:t>dañar ADN y células)</a:t>
            </a:r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860539E9-C37E-5B7D-D517-84D7BF57AA35}"/>
              </a:ext>
            </a:extLst>
          </p:cNvPr>
          <p:cNvGrpSpPr/>
          <p:nvPr/>
        </p:nvGrpSpPr>
        <p:grpSpPr>
          <a:xfrm>
            <a:off x="5571613" y="1925182"/>
            <a:ext cx="4737100" cy="955675"/>
            <a:chOff x="5482590" y="2246630"/>
            <a:chExt cx="4737100" cy="955675"/>
          </a:xfrm>
        </p:grpSpPr>
        <p:sp>
          <p:nvSpPr>
            <p:cNvPr id="44" name="Rectangle 24">
              <a:extLst>
                <a:ext uri="{FF2B5EF4-FFF2-40B4-BE49-F238E27FC236}">
                  <a16:creationId xmlns:a16="http://schemas.microsoft.com/office/drawing/2014/main" id="{DF3CC7D4-72D4-E98F-2158-54E94B2012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2590" y="2246630"/>
              <a:ext cx="3860800" cy="279400"/>
            </a:xfrm>
            <a:prstGeom prst="rect">
              <a:avLst/>
            </a:prstGeom>
            <a:solidFill>
              <a:srgbClr val="FF99CC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7" name="Rectangle 25">
              <a:extLst>
                <a:ext uri="{FF2B5EF4-FFF2-40B4-BE49-F238E27FC236}">
                  <a16:creationId xmlns:a16="http://schemas.microsoft.com/office/drawing/2014/main" id="{A2B20440-BCDC-CD48-88C4-EBEE732753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57290" y="2910205"/>
              <a:ext cx="3962400" cy="292100"/>
            </a:xfrm>
            <a:prstGeom prst="rect">
              <a:avLst/>
            </a:prstGeom>
            <a:solidFill>
              <a:srgbClr val="FF99CC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3" name="Grupo 12">
            <a:extLst>
              <a:ext uri="{FF2B5EF4-FFF2-40B4-BE49-F238E27FC236}">
                <a16:creationId xmlns:a16="http://schemas.microsoft.com/office/drawing/2014/main" id="{E3E06D3D-DC00-BDD1-212E-9ED20F35DEAF}"/>
              </a:ext>
            </a:extLst>
          </p:cNvPr>
          <p:cNvGrpSpPr/>
          <p:nvPr/>
        </p:nvGrpSpPr>
        <p:grpSpPr>
          <a:xfrm>
            <a:off x="3223701" y="1942327"/>
            <a:ext cx="3570287" cy="960438"/>
            <a:chOff x="3134678" y="2263775"/>
            <a:chExt cx="3570287" cy="960438"/>
          </a:xfrm>
        </p:grpSpPr>
        <p:grpSp>
          <p:nvGrpSpPr>
            <p:cNvPr id="12341" name="Group 53">
              <a:extLst>
                <a:ext uri="{FF2B5EF4-FFF2-40B4-BE49-F238E27FC236}">
                  <a16:creationId xmlns:a16="http://schemas.microsoft.com/office/drawing/2014/main" id="{BD0A9110-7AAC-4B88-C5F9-AC4E6AA72FB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34678" y="2263775"/>
              <a:ext cx="1933575" cy="960438"/>
              <a:chOff x="1458" y="1784"/>
              <a:chExt cx="1218" cy="605"/>
            </a:xfrm>
          </p:grpSpPr>
          <p:sp>
            <p:nvSpPr>
              <p:cNvPr id="42013" name="Rectangle 49">
                <a:extLst>
                  <a:ext uri="{FF2B5EF4-FFF2-40B4-BE49-F238E27FC236}">
                    <a16:creationId xmlns:a16="http://schemas.microsoft.com/office/drawing/2014/main" id="{BF8ECCC9-EDF3-86BB-723A-2A7AF505E3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8" y="1784"/>
                <a:ext cx="570" cy="182"/>
              </a:xfrm>
              <a:prstGeom prst="rect">
                <a:avLst/>
              </a:prstGeom>
              <a:solidFill>
                <a:schemeClr val="tx2">
                  <a:lumMod val="50000"/>
                  <a:lumOff val="50000"/>
                  <a:alpha val="50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endParaRPr lang="en-US"/>
              </a:p>
            </p:txBody>
          </p:sp>
          <p:sp>
            <p:nvSpPr>
              <p:cNvPr id="42014" name="Rectangle 50">
                <a:extLst>
                  <a:ext uri="{FF2B5EF4-FFF2-40B4-BE49-F238E27FC236}">
                    <a16:creationId xmlns:a16="http://schemas.microsoft.com/office/drawing/2014/main" id="{7BE44CD6-25E7-AAD6-0B83-48455EFF04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63" y="2015"/>
                <a:ext cx="438" cy="182"/>
              </a:xfrm>
              <a:prstGeom prst="rect">
                <a:avLst/>
              </a:prstGeom>
              <a:solidFill>
                <a:schemeClr val="tx2">
                  <a:lumMod val="50000"/>
                  <a:lumOff val="50000"/>
                  <a:alpha val="50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endParaRPr lang="en-US"/>
              </a:p>
            </p:txBody>
          </p:sp>
          <p:sp>
            <p:nvSpPr>
              <p:cNvPr id="42015" name="Rectangle 51">
                <a:extLst>
                  <a:ext uri="{FF2B5EF4-FFF2-40B4-BE49-F238E27FC236}">
                    <a16:creationId xmlns:a16="http://schemas.microsoft.com/office/drawing/2014/main" id="{0318E43F-9B6C-B711-8B63-7DB5DA18E7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38" y="2207"/>
                <a:ext cx="438" cy="182"/>
              </a:xfrm>
              <a:prstGeom prst="rect">
                <a:avLst/>
              </a:prstGeom>
              <a:solidFill>
                <a:schemeClr val="tx2">
                  <a:lumMod val="50000"/>
                  <a:lumOff val="50000"/>
                  <a:alpha val="50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endParaRPr lang="en-US"/>
              </a:p>
            </p:txBody>
          </p:sp>
        </p:grpSp>
        <p:sp>
          <p:nvSpPr>
            <p:cNvPr id="48" name="Freeform 53">
              <a:extLst>
                <a:ext uri="{FF2B5EF4-FFF2-40B4-BE49-F238E27FC236}">
                  <a16:creationId xmlns:a16="http://schemas.microsoft.com/office/drawing/2014/main" id="{55F3C185-5EE9-A39E-5E36-4CFD226B9002}"/>
                </a:ext>
              </a:extLst>
            </p:cNvPr>
            <p:cNvSpPr>
              <a:spLocks/>
            </p:cNvSpPr>
            <p:nvPr/>
          </p:nvSpPr>
          <p:spPr bwMode="auto">
            <a:xfrm>
              <a:off x="5481003" y="2267903"/>
              <a:ext cx="1223962" cy="250825"/>
            </a:xfrm>
            <a:custGeom>
              <a:avLst/>
              <a:gdLst>
                <a:gd name="T0" fmla="*/ 0 w 771"/>
                <a:gd name="T1" fmla="*/ 0 h 158"/>
                <a:gd name="T2" fmla="*/ 2147483646 w 771"/>
                <a:gd name="T3" fmla="*/ 0 h 158"/>
                <a:gd name="T4" fmla="*/ 0 w 771"/>
                <a:gd name="T5" fmla="*/ 2147483646 h 158"/>
                <a:gd name="T6" fmla="*/ 0 w 771"/>
                <a:gd name="T7" fmla="*/ 0 h 15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71" h="158">
                  <a:moveTo>
                    <a:pt x="0" y="0"/>
                  </a:moveTo>
                  <a:lnTo>
                    <a:pt x="771" y="0"/>
                  </a:lnTo>
                  <a:lnTo>
                    <a:pt x="0" y="1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50000"/>
                <a:lumOff val="50000"/>
                <a:alpha val="50000"/>
              </a:schemeClr>
            </a:solidFill>
            <a:ln>
              <a:noFill/>
            </a:ln>
            <a:effectLst/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9" name="Text Box 23">
            <a:extLst>
              <a:ext uri="{FF2B5EF4-FFF2-40B4-BE49-F238E27FC236}">
                <a16:creationId xmlns:a16="http://schemas.microsoft.com/office/drawing/2014/main" id="{2CEA48BD-AC4E-7B03-D341-25CFD7F801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3596" y="4754807"/>
            <a:ext cx="4154492" cy="1001845"/>
          </a:xfrm>
          <a:prstGeom prst="rect">
            <a:avLst/>
          </a:prstGeom>
          <a:solidFill>
            <a:srgbClr val="FF99CC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108000" tIns="108000" rIns="108000" bIns="108000" anchor="ctr" anchorCtr="1">
            <a:no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000" dirty="0">
                <a:solidFill>
                  <a:srgbClr val="000000"/>
                </a:solidFill>
                <a:latin typeface="Arial" panose="020B0604020202020204" pitchFamily="34" charset="0"/>
              </a:rPr>
              <a:t>Estructura interna de la materia (láser, fluorescente...) </a:t>
            </a:r>
            <a:r>
              <a:rPr lang="es-ES" sz="2000" dirty="0">
                <a:solidFill>
                  <a:srgbClr val="FF0000"/>
                </a:solidFill>
                <a:latin typeface="Arial" panose="020B0604020202020204" pitchFamily="34" charset="0"/>
              </a:rPr>
              <a:t>(Tema 9)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000" dirty="0">
                <a:latin typeface="Arial" panose="020B0604020202020204" pitchFamily="34" charset="0"/>
              </a:rPr>
              <a:t>o </a:t>
            </a:r>
            <a:r>
              <a:rPr lang="es-ES" sz="2000">
                <a:latin typeface="Arial" panose="020B0604020202020204" pitchFamily="34" charset="0"/>
              </a:rPr>
              <a:t>por aceleración de cargas (gen.)</a:t>
            </a:r>
            <a:endParaRPr lang="es-ES" sz="2400" dirty="0">
              <a:latin typeface="Arial" panose="020B0604020202020204" pitchFamily="34" charset="0"/>
            </a:endParaRPr>
          </a:p>
        </p:txBody>
      </p:sp>
      <p:sp>
        <p:nvSpPr>
          <p:cNvPr id="50" name="Text Box 23">
            <a:extLst>
              <a:ext uri="{FF2B5EF4-FFF2-40B4-BE49-F238E27FC236}">
                <a16:creationId xmlns:a16="http://schemas.microsoft.com/office/drawing/2014/main" id="{2B16E45A-7CCD-632E-979E-FB495806D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3595" y="5813049"/>
            <a:ext cx="4154491" cy="1063782"/>
          </a:xfrm>
          <a:prstGeom prst="rect">
            <a:avLst/>
          </a:prstGeom>
          <a:solidFill>
            <a:srgbClr val="FF99CC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108000" tIns="108000" rIns="108000" bIns="108000" anchor="ctr" anchorCtr="1">
            <a:no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000" dirty="0">
                <a:latin typeface="Arial" panose="020B0604020202020204" pitchFamily="34" charset="0"/>
              </a:rPr>
              <a:t>Calentamiento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000" dirty="0">
                <a:latin typeface="Arial" panose="020B0604020202020204" pitchFamily="34" charset="0"/>
              </a:rPr>
              <a:t>por absorción y cambios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000" dirty="0">
                <a:latin typeface="Arial" panose="020B0604020202020204" pitchFamily="34" charset="0"/>
              </a:rPr>
              <a:t>(UV “</a:t>
            </a:r>
            <a:r>
              <a:rPr lang="es-ES" sz="2000" dirty="0">
                <a:latin typeface="Arial" panose="020B0604020202020204" pitchFamily="34" charset="0"/>
                <a:sym typeface="Symbol" panose="05050102010706020507" pitchFamily="18" charset="2"/>
              </a:rPr>
              <a:t>pone” moreno, daño)</a:t>
            </a:r>
            <a:endParaRPr lang="es-ES" sz="2400" dirty="0">
              <a:latin typeface="Arial" panose="020B0604020202020204" pitchFamily="34" charset="0"/>
            </a:endParaRPr>
          </a:p>
        </p:txBody>
      </p:sp>
      <p:sp>
        <p:nvSpPr>
          <p:cNvPr id="51" name="Text Box 21">
            <a:extLst>
              <a:ext uri="{FF2B5EF4-FFF2-40B4-BE49-F238E27FC236}">
                <a16:creationId xmlns:a16="http://schemas.microsoft.com/office/drawing/2014/main" id="{C992CF34-7BF6-615D-0F11-03D866DFD8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2782" y="5808095"/>
            <a:ext cx="3168391" cy="1068736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txBody>
          <a:bodyPr wrap="squar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000" dirty="0">
                <a:solidFill>
                  <a:srgbClr val="000000"/>
                </a:solidFill>
                <a:latin typeface="Arial" panose="020B0604020202020204" pitchFamily="34" charset="0"/>
              </a:rPr>
              <a:t>Calentar con </a:t>
            </a:r>
            <a:r>
              <a:rPr lang="es-ES" sz="2000" dirty="0" err="1">
                <a:solidFill>
                  <a:srgbClr val="000000"/>
                </a:solidFill>
                <a:latin typeface="Comic Sans MS" panose="030F0702030302020204" pitchFamily="66" charset="0"/>
              </a:rPr>
              <a:t>I</a:t>
            </a:r>
            <a:r>
              <a:rPr lang="es-ES" sz="2000" baseline="-25000" dirty="0" err="1">
                <a:solidFill>
                  <a:srgbClr val="000000"/>
                </a:solidFill>
                <a:latin typeface="Arial" panose="020B0604020202020204" pitchFamily="34" charset="0"/>
              </a:rPr>
              <a:t>inducida</a:t>
            </a:r>
            <a:endParaRPr lang="es-ES" sz="2000" baseline="-25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000" dirty="0">
                <a:solidFill>
                  <a:srgbClr val="000000"/>
                </a:solidFill>
                <a:latin typeface="Arial" panose="020B0604020202020204" pitchFamily="34" charset="0"/>
              </a:rPr>
              <a:t>(más a menor </a:t>
            </a:r>
            <a:r>
              <a:rPr lang="es-ES" sz="20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, a mayor oscilación de e</a:t>
            </a:r>
            <a:r>
              <a:rPr lang="es-ES" sz="2000" baseline="300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-</a:t>
            </a:r>
            <a:r>
              <a:rPr lang="es-ES" sz="20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)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54" name="Text Box 21">
            <a:extLst>
              <a:ext uri="{FF2B5EF4-FFF2-40B4-BE49-F238E27FC236}">
                <a16:creationId xmlns:a16="http://schemas.microsoft.com/office/drawing/2014/main" id="{99D3F19D-C302-AD52-9F12-C623D81414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4878" y="4754510"/>
            <a:ext cx="1588149" cy="982996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square" lIns="108000" tIns="108000" rIns="108000" bIns="108000" anchor="ctr" anchorCtr="1">
            <a:no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000">
                <a:solidFill>
                  <a:srgbClr val="000000"/>
                </a:solidFill>
                <a:latin typeface="Arial" panose="020B0604020202020204" pitchFamily="34" charset="0"/>
              </a:rPr>
              <a:t>Detección y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000">
                <a:solidFill>
                  <a:srgbClr val="000000"/>
                </a:solidFill>
                <a:latin typeface="Arial" panose="020B0604020202020204" pitchFamily="34" charset="0"/>
              </a:rPr>
              <a:t>Generación</a:t>
            </a:r>
            <a:endParaRPr lang="es-ES" sz="2000">
              <a:solidFill>
                <a:srgbClr val="00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55" name="Text Box 3">
            <a:extLst>
              <a:ext uri="{FF2B5EF4-FFF2-40B4-BE49-F238E27FC236}">
                <a16:creationId xmlns:a16="http://schemas.microsoft.com/office/drawing/2014/main" id="{5CACD6FD-A909-7688-BC7C-24A9E28027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9124" y="2482761"/>
            <a:ext cx="1819939" cy="474994"/>
          </a:xfrm>
          <a:prstGeom prst="rect">
            <a:avLst/>
          </a:prstGeom>
          <a:noFill/>
          <a:ln>
            <a:noFill/>
          </a:ln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s-ES" sz="2000" dirty="0">
                <a:solidFill>
                  <a:srgbClr val="FF0000"/>
                </a:solidFill>
                <a:latin typeface="Arial" panose="020B0604020202020204" pitchFamily="34" charset="0"/>
              </a:rPr>
              <a:t>Para el vacío</a:t>
            </a:r>
          </a:p>
        </p:txBody>
      </p:sp>
      <p:sp>
        <p:nvSpPr>
          <p:cNvPr id="56" name="Text Box 26">
            <a:extLst>
              <a:ext uri="{FF2B5EF4-FFF2-40B4-BE49-F238E27FC236}">
                <a16:creationId xmlns:a16="http://schemas.microsoft.com/office/drawing/2014/main" id="{7924652E-5925-FEB6-51E7-5DE0C28B6E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95831" y="2133145"/>
            <a:ext cx="3673475" cy="439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1800">
                <a:solidFill>
                  <a:srgbClr val="D60093"/>
                </a:solidFill>
                <a:latin typeface="Arial" panose="020B0604020202020204" pitchFamily="34" charset="0"/>
              </a:rPr>
              <a:t>cuerpo-moléculas-átomos-núcleos</a:t>
            </a:r>
          </a:p>
        </p:txBody>
      </p:sp>
    </p:spTree>
    <p:extLst>
      <p:ext uri="{BB962C8B-B14F-4D97-AF65-F5344CB8AC3E}">
        <p14:creationId xmlns:p14="http://schemas.microsoft.com/office/powerpoint/2010/main" val="419515321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41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655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65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2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2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2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65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8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  <p:bldP spid="41986" grpId="0" animBg="1"/>
      <p:bldP spid="65539" grpId="0"/>
      <p:bldP spid="65551" grpId="0" animBg="1"/>
      <p:bldP spid="12334" grpId="0" animBg="1"/>
      <p:bldP spid="53" grpId="0" animBg="1"/>
      <p:bldP spid="5" grpId="0"/>
      <p:bldP spid="45" grpId="0" animBg="1"/>
      <p:bldP spid="46" grpId="0" animBg="1"/>
      <p:bldP spid="7" grpId="0"/>
      <p:bldP spid="42" grpId="0" animBg="1"/>
      <p:bldP spid="43" grpId="0"/>
      <p:bldP spid="49" grpId="0" animBg="1"/>
      <p:bldP spid="50" grpId="0" animBg="1"/>
      <p:bldP spid="51" grpId="0" animBg="1"/>
      <p:bldP spid="54" grpId="0" animBg="1"/>
      <p:bldP spid="55" grpId="0"/>
      <p:bldP spid="5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 Box 54"/>
          <p:cNvSpPr txBox="1">
            <a:spLocks noChangeArrowheads="1"/>
          </p:cNvSpPr>
          <p:nvPr/>
        </p:nvSpPr>
        <p:spPr bwMode="auto">
          <a:xfrm>
            <a:off x="1294930" y="5767715"/>
            <a:ext cx="9051146" cy="1323439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wrap="square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ts val="0"/>
              </a:spcBef>
            </a:pPr>
            <a:r>
              <a:rPr lang="es-ES" dirty="0">
                <a:sym typeface="Symbol" panose="05050102010706020507" pitchFamily="18" charset="2"/>
              </a:rPr>
              <a:t> </a:t>
            </a:r>
            <a:r>
              <a:rPr lang="es-ES" dirty="0"/>
              <a:t>A mayor </a:t>
            </a:r>
            <a:r>
              <a:rPr lang="es-ES" dirty="0">
                <a:sym typeface="Symbol" panose="05050102010706020507" pitchFamily="18" charset="2"/>
              </a:rPr>
              <a:t>,</a:t>
            </a:r>
            <a:r>
              <a:rPr lang="es-ES" dirty="0"/>
              <a:t> mayor es el </a:t>
            </a:r>
            <a:r>
              <a:rPr lang="es-ES" dirty="0">
                <a:solidFill>
                  <a:srgbClr val="3333FF"/>
                </a:solidFill>
              </a:rPr>
              <a:t>ancho de banda</a:t>
            </a:r>
            <a:r>
              <a:rPr lang="es-ES" dirty="0"/>
              <a:t>  (nº señales / segundo) que se puede conseguir. El compromiso con otros factores (absorción en agua, rodeo, reflejo en ionosfera -capa conductora de </a:t>
            </a:r>
            <a:r>
              <a:rPr lang="es-ES"/>
              <a:t>atmósfera-, direccionalidad, </a:t>
            </a:r>
            <a:r>
              <a:rPr lang="es-ES" dirty="0"/>
              <a:t>atenuación</a:t>
            </a:r>
            <a:r>
              <a:rPr lang="es-ES"/>
              <a:t>: dispersión + absorción, daño</a:t>
            </a:r>
            <a:r>
              <a:rPr lang="es-ES" dirty="0"/>
              <a:t>) fija cuales se usan en cada caso</a:t>
            </a:r>
          </a:p>
        </p:txBody>
      </p:sp>
      <p:grpSp>
        <p:nvGrpSpPr>
          <p:cNvPr id="25" name="Group 4"/>
          <p:cNvGrpSpPr>
            <a:grpSpLocks/>
          </p:cNvGrpSpPr>
          <p:nvPr/>
        </p:nvGrpSpPr>
        <p:grpSpPr bwMode="auto">
          <a:xfrm>
            <a:off x="2747810" y="98140"/>
            <a:ext cx="7954963" cy="3298825"/>
            <a:chOff x="1103" y="1585"/>
            <a:chExt cx="5011" cy="2078"/>
          </a:xfrm>
        </p:grpSpPr>
        <p:pic>
          <p:nvPicPr>
            <p:cNvPr id="26" name="Picture 5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03" y="1585"/>
              <a:ext cx="5011" cy="20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</p:pic>
        <p:sp>
          <p:nvSpPr>
            <p:cNvPr id="27" name="Text Box 6"/>
            <p:cNvSpPr txBox="1">
              <a:spLocks noChangeArrowheads="1"/>
            </p:cNvSpPr>
            <p:nvPr/>
          </p:nvSpPr>
          <p:spPr bwMode="auto">
            <a:xfrm>
              <a:off x="1377" y="2249"/>
              <a:ext cx="458" cy="2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170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Audio</a:t>
              </a:r>
            </a:p>
          </p:txBody>
        </p:sp>
        <p:sp>
          <p:nvSpPr>
            <p:cNvPr id="28" name="Line 7"/>
            <p:cNvSpPr>
              <a:spLocks noChangeShapeType="1"/>
            </p:cNvSpPr>
            <p:nvPr/>
          </p:nvSpPr>
          <p:spPr bwMode="auto">
            <a:xfrm flipH="1">
              <a:off x="1140" y="2314"/>
              <a:ext cx="360" cy="0"/>
            </a:xfrm>
            <a:prstGeom prst="line">
              <a:avLst/>
            </a:prstGeom>
            <a:noFill/>
            <a:ln w="25400">
              <a:solidFill>
                <a:srgbClr val="808080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Ctr="1">
              <a:spAutoFit/>
            </a:bodyPr>
            <a:lstStyle/>
            <a:p>
              <a:endParaRPr lang="en-GB"/>
            </a:p>
          </p:txBody>
        </p:sp>
      </p:grpSp>
      <p:sp>
        <p:nvSpPr>
          <p:cNvPr id="29" name="Rectángulo 28"/>
          <p:cNvSpPr/>
          <p:nvPr/>
        </p:nvSpPr>
        <p:spPr bwMode="auto">
          <a:xfrm>
            <a:off x="1284479" y="98140"/>
            <a:ext cx="1540667" cy="3286337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90000" tIns="82800" rIns="90000" bIns="82800" numCol="1" rtlCol="0" anchor="t" anchorCtr="1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41" name="Text Box 15"/>
          <p:cNvSpPr txBox="1">
            <a:spLocks noChangeArrowheads="1"/>
          </p:cNvSpPr>
          <p:nvPr/>
        </p:nvSpPr>
        <p:spPr bwMode="auto">
          <a:xfrm>
            <a:off x="6535585" y="2501668"/>
            <a:ext cx="1257300" cy="436562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lIns="90000" tIns="46800" rIns="90000" bIns="46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000">
                <a:solidFill>
                  <a:srgbClr val="000000"/>
                </a:solidFill>
                <a:latin typeface="Arial" panose="020B0604020202020204" pitchFamily="34" charset="0"/>
              </a:rPr>
              <a:t>Ópticas</a:t>
            </a:r>
          </a:p>
        </p:txBody>
      </p:sp>
      <p:grpSp>
        <p:nvGrpSpPr>
          <p:cNvPr id="42" name="Group 32"/>
          <p:cNvGrpSpPr>
            <a:grpSpLocks/>
          </p:cNvGrpSpPr>
          <p:nvPr/>
        </p:nvGrpSpPr>
        <p:grpSpPr bwMode="auto">
          <a:xfrm>
            <a:off x="6432398" y="652495"/>
            <a:ext cx="1447800" cy="1524952"/>
            <a:chOff x="3504" y="1928"/>
            <a:chExt cx="912" cy="992"/>
          </a:xfrm>
        </p:grpSpPr>
        <p:sp>
          <p:nvSpPr>
            <p:cNvPr id="43" name="Rectangle 33"/>
            <p:cNvSpPr>
              <a:spLocks noChangeArrowheads="1"/>
            </p:cNvSpPr>
            <p:nvPr/>
          </p:nvSpPr>
          <p:spPr bwMode="auto">
            <a:xfrm>
              <a:off x="4360" y="1928"/>
              <a:ext cx="56" cy="968"/>
            </a:xfrm>
            <a:prstGeom prst="rect">
              <a:avLst/>
            </a:prstGeom>
            <a:solidFill>
              <a:schemeClr val="tx2">
                <a:lumMod val="75000"/>
                <a:lumOff val="25000"/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4" name="Rectangle 34"/>
            <p:cNvSpPr>
              <a:spLocks noChangeArrowheads="1"/>
            </p:cNvSpPr>
            <p:nvPr/>
          </p:nvSpPr>
          <p:spPr bwMode="auto">
            <a:xfrm>
              <a:off x="3504" y="1952"/>
              <a:ext cx="56" cy="968"/>
            </a:xfrm>
            <a:prstGeom prst="rect">
              <a:avLst/>
            </a:prstGeom>
            <a:solidFill>
              <a:schemeClr val="tx2">
                <a:lumMod val="75000"/>
                <a:lumOff val="25000"/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53" name="Text Box 15"/>
          <p:cNvSpPr txBox="1">
            <a:spLocks noChangeArrowheads="1"/>
          </p:cNvSpPr>
          <p:nvPr/>
        </p:nvSpPr>
        <p:spPr bwMode="auto">
          <a:xfrm>
            <a:off x="3016098" y="2519130"/>
            <a:ext cx="3360737" cy="403225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lIns="90000" tIns="46800" rIns="90000" bIns="46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000">
                <a:solidFill>
                  <a:srgbClr val="000000"/>
                </a:solidFill>
                <a:latin typeface="Arial" panose="020B0604020202020204" pitchFamily="34" charset="0"/>
              </a:rPr>
              <a:t>Campos Electromagnéticos</a:t>
            </a:r>
          </a:p>
        </p:txBody>
      </p:sp>
      <p:sp>
        <p:nvSpPr>
          <p:cNvPr id="59" name="Text Box 18"/>
          <p:cNvSpPr txBox="1">
            <a:spLocks noChangeArrowheads="1"/>
          </p:cNvSpPr>
          <p:nvPr/>
        </p:nvSpPr>
        <p:spPr bwMode="auto">
          <a:xfrm>
            <a:off x="7880198" y="2515003"/>
            <a:ext cx="2713037" cy="430212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82800" rIns="90000" bIns="82800" anchor="ctr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000">
                <a:solidFill>
                  <a:srgbClr val="000000"/>
                </a:solidFill>
                <a:latin typeface="Arial" panose="020B0604020202020204" pitchFamily="34" charset="0"/>
              </a:rPr>
              <a:t>Ionizantes</a:t>
            </a:r>
          </a:p>
        </p:txBody>
      </p:sp>
      <p:grpSp>
        <p:nvGrpSpPr>
          <p:cNvPr id="67" name="Group 9"/>
          <p:cNvGrpSpPr>
            <a:grpSpLocks/>
          </p:cNvGrpSpPr>
          <p:nvPr/>
        </p:nvGrpSpPr>
        <p:grpSpPr bwMode="auto">
          <a:xfrm>
            <a:off x="1482019" y="294911"/>
            <a:ext cx="1255712" cy="469900"/>
            <a:chOff x="777" y="2478"/>
            <a:chExt cx="791" cy="296"/>
          </a:xfrm>
        </p:grpSpPr>
        <p:sp>
          <p:nvSpPr>
            <p:cNvPr id="68" name="Text Box 10"/>
            <p:cNvSpPr txBox="1">
              <a:spLocks noChangeArrowheads="1"/>
            </p:cNvSpPr>
            <p:nvPr/>
          </p:nvSpPr>
          <p:spPr bwMode="auto">
            <a:xfrm>
              <a:off x="777" y="2478"/>
              <a:ext cx="543" cy="296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 (Hz)</a:t>
              </a:r>
            </a:p>
          </p:txBody>
        </p:sp>
        <p:sp>
          <p:nvSpPr>
            <p:cNvPr id="69" name="Line 11"/>
            <p:cNvSpPr>
              <a:spLocks noChangeShapeType="1"/>
            </p:cNvSpPr>
            <p:nvPr/>
          </p:nvSpPr>
          <p:spPr bwMode="auto">
            <a:xfrm>
              <a:off x="1366" y="2626"/>
              <a:ext cx="202" cy="0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Ctr="1"/>
            <a:lstStyle/>
            <a:p>
              <a:endParaRPr lang="en-GB"/>
            </a:p>
          </p:txBody>
        </p:sp>
      </p:grpSp>
      <p:grpSp>
        <p:nvGrpSpPr>
          <p:cNvPr id="70" name="Group 12"/>
          <p:cNvGrpSpPr>
            <a:grpSpLocks/>
          </p:cNvGrpSpPr>
          <p:nvPr/>
        </p:nvGrpSpPr>
        <p:grpSpPr bwMode="auto">
          <a:xfrm>
            <a:off x="1470564" y="2066640"/>
            <a:ext cx="1255712" cy="469900"/>
            <a:chOff x="610" y="3103"/>
            <a:chExt cx="791" cy="296"/>
          </a:xfrm>
        </p:grpSpPr>
        <p:sp>
          <p:nvSpPr>
            <p:cNvPr id="71" name="Text Box 13"/>
            <p:cNvSpPr txBox="1">
              <a:spLocks noChangeArrowheads="1"/>
            </p:cNvSpPr>
            <p:nvPr/>
          </p:nvSpPr>
          <p:spPr bwMode="auto">
            <a:xfrm>
              <a:off x="916" y="3103"/>
              <a:ext cx="485" cy="296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 (m)</a:t>
              </a:r>
            </a:p>
          </p:txBody>
        </p:sp>
        <p:sp>
          <p:nvSpPr>
            <p:cNvPr id="72" name="Line 14"/>
            <p:cNvSpPr>
              <a:spLocks noChangeShapeType="1"/>
            </p:cNvSpPr>
            <p:nvPr/>
          </p:nvSpPr>
          <p:spPr bwMode="auto">
            <a:xfrm flipH="1">
              <a:off x="610" y="3264"/>
              <a:ext cx="244" cy="0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Ctr="1"/>
            <a:lstStyle/>
            <a:p>
              <a:endParaRPr lang="en-GB"/>
            </a:p>
          </p:txBody>
        </p:sp>
      </p:grpSp>
      <p:grpSp>
        <p:nvGrpSpPr>
          <p:cNvPr id="34" name="Group 62"/>
          <p:cNvGrpSpPr>
            <a:grpSpLocks/>
          </p:cNvGrpSpPr>
          <p:nvPr/>
        </p:nvGrpSpPr>
        <p:grpSpPr bwMode="auto">
          <a:xfrm>
            <a:off x="2480477" y="39724"/>
            <a:ext cx="5332397" cy="1803402"/>
            <a:chOff x="1172" y="1332"/>
            <a:chExt cx="3359" cy="1136"/>
          </a:xfrm>
        </p:grpSpPr>
        <p:grpSp>
          <p:nvGrpSpPr>
            <p:cNvPr id="46099" name="Group 59"/>
            <p:cNvGrpSpPr>
              <a:grpSpLocks/>
            </p:cNvGrpSpPr>
            <p:nvPr/>
          </p:nvGrpSpPr>
          <p:grpSpPr bwMode="auto">
            <a:xfrm>
              <a:off x="1172" y="1869"/>
              <a:ext cx="3359" cy="578"/>
              <a:chOff x="1172" y="1869"/>
              <a:chExt cx="3359" cy="578"/>
            </a:xfrm>
          </p:grpSpPr>
          <p:sp>
            <p:nvSpPr>
              <p:cNvPr id="46102" name="Text Box 55"/>
              <p:cNvSpPr txBox="1">
                <a:spLocks noChangeArrowheads="1"/>
              </p:cNvSpPr>
              <p:nvPr/>
            </p:nvSpPr>
            <p:spPr bwMode="auto">
              <a:xfrm>
                <a:off x="2714" y="2049"/>
                <a:ext cx="682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ts val="0"/>
                  </a:spcBef>
                </a:pPr>
                <a:r>
                  <a:rPr lang="es-ES" sz="1800" dirty="0">
                    <a:solidFill>
                      <a:srgbClr val="FF0000"/>
                    </a:solidFill>
                  </a:rPr>
                  <a:t>TV Móvil</a:t>
                </a:r>
              </a:p>
            </p:txBody>
          </p:sp>
          <p:sp>
            <p:nvSpPr>
              <p:cNvPr id="46103" name="Text Box 56"/>
              <p:cNvSpPr txBox="1">
                <a:spLocks noChangeArrowheads="1"/>
              </p:cNvSpPr>
              <p:nvPr/>
            </p:nvSpPr>
            <p:spPr bwMode="auto">
              <a:xfrm>
                <a:off x="3910" y="2066"/>
                <a:ext cx="621" cy="31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lnSpc>
                    <a:spcPts val="1600"/>
                  </a:lnSpc>
                </a:pPr>
                <a:r>
                  <a:rPr lang="es-ES" sz="1800" dirty="0">
                    <a:solidFill>
                      <a:srgbClr val="FF0000"/>
                    </a:solidFill>
                    <a:sym typeface="Symbol" panose="05050102010706020507" pitchFamily="18" charset="2"/>
                  </a:rPr>
                  <a:t> </a:t>
                </a:r>
                <a:r>
                  <a:rPr lang="es-ES" sz="1800" dirty="0">
                    <a:solidFill>
                      <a:srgbClr val="FF0000"/>
                    </a:solidFill>
                  </a:rPr>
                  <a:t>Fibra óptica</a:t>
                </a:r>
              </a:p>
            </p:txBody>
          </p:sp>
          <p:sp>
            <p:nvSpPr>
              <p:cNvPr id="46104" name="Text Box 57"/>
              <p:cNvSpPr txBox="1">
                <a:spLocks noChangeArrowheads="1"/>
              </p:cNvSpPr>
              <p:nvPr/>
            </p:nvSpPr>
            <p:spPr bwMode="auto">
              <a:xfrm>
                <a:off x="2368" y="1869"/>
                <a:ext cx="49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sz="1800" dirty="0">
                    <a:solidFill>
                      <a:srgbClr val="FF0000"/>
                    </a:solidFill>
                  </a:rPr>
                  <a:t>Radio</a:t>
                </a:r>
              </a:p>
            </p:txBody>
          </p:sp>
          <p:sp>
            <p:nvSpPr>
              <p:cNvPr id="46105" name="Text Box 58"/>
              <p:cNvSpPr txBox="1">
                <a:spLocks noChangeArrowheads="1"/>
              </p:cNvSpPr>
              <p:nvPr/>
            </p:nvSpPr>
            <p:spPr bwMode="auto">
              <a:xfrm>
                <a:off x="1172" y="2214"/>
                <a:ext cx="917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s-ES" sz="1800" dirty="0">
                    <a:solidFill>
                      <a:srgbClr val="FF0000"/>
                    </a:solidFill>
                  </a:rPr>
                  <a:t>Submarinos </a:t>
                </a:r>
              </a:p>
            </p:txBody>
          </p:sp>
        </p:grpSp>
        <p:sp>
          <p:nvSpPr>
            <p:cNvPr id="46100" name="Text Box 60"/>
            <p:cNvSpPr txBox="1">
              <a:spLocks noChangeArrowheads="1"/>
            </p:cNvSpPr>
            <p:nvPr/>
          </p:nvSpPr>
          <p:spPr bwMode="auto">
            <a:xfrm>
              <a:off x="3093" y="1332"/>
              <a:ext cx="770" cy="6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ts val="300"/>
                </a:spcBef>
              </a:pPr>
              <a:r>
                <a:rPr lang="es-ES">
                  <a:solidFill>
                    <a:srgbClr val="FF0000"/>
                  </a:solidFill>
                </a:rPr>
                <a:t>Enlaces</a:t>
              </a:r>
            </a:p>
            <a:p>
              <a:pPr algn="ctr" eaLnBrk="1" hangingPunct="1">
                <a:spcBef>
                  <a:spcPts val="300"/>
                </a:spcBef>
              </a:pPr>
              <a:r>
                <a:rPr lang="es-ES">
                  <a:solidFill>
                    <a:srgbClr val="FF0000"/>
                  </a:solidFill>
                </a:rPr>
                <a:t> Satélites</a:t>
              </a:r>
              <a:endParaRPr lang="es-ES" dirty="0">
                <a:solidFill>
                  <a:srgbClr val="FF0000"/>
                </a:solidFill>
              </a:endParaRPr>
            </a:p>
          </p:txBody>
        </p:sp>
        <p:sp>
          <p:nvSpPr>
            <p:cNvPr id="46101" name="Text Box 61"/>
            <p:cNvSpPr txBox="1">
              <a:spLocks noChangeArrowheads="1"/>
            </p:cNvSpPr>
            <p:nvPr/>
          </p:nvSpPr>
          <p:spPr bwMode="auto">
            <a:xfrm>
              <a:off x="2927" y="2218"/>
              <a:ext cx="42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dirty="0">
                  <a:solidFill>
                    <a:srgbClr val="FF0000"/>
                  </a:solidFill>
                </a:rPr>
                <a:t>Wifi </a:t>
              </a:r>
            </a:p>
          </p:txBody>
        </p:sp>
      </p:grpSp>
      <p:sp>
        <p:nvSpPr>
          <p:cNvPr id="31" name="Text Box 2"/>
          <p:cNvSpPr txBox="1">
            <a:spLocks noChangeArrowheads="1"/>
          </p:cNvSpPr>
          <p:nvPr/>
        </p:nvSpPr>
        <p:spPr bwMode="auto">
          <a:xfrm>
            <a:off x="1293319" y="4249555"/>
            <a:ext cx="9052757" cy="1398323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0"/>
              </a:spcBef>
              <a:buFont typeface="Symbol" panose="05050102010706020507" pitchFamily="18" charset="2"/>
              <a:buNone/>
            </a:pPr>
            <a:r>
              <a:rPr lang="es-ES" sz="2000" dirty="0">
                <a:latin typeface="Arial" panose="020B0604020202020204" pitchFamily="34" charset="0"/>
                <a:sym typeface="Symbol" panose="05050102010706020507" pitchFamily="18" charset="2"/>
              </a:rPr>
              <a:t> </a:t>
            </a:r>
            <a:r>
              <a:rPr lang="es-ES" sz="2000" dirty="0">
                <a:latin typeface="Arial" panose="020B0604020202020204" pitchFamily="34" charset="0"/>
              </a:rPr>
              <a:t>A mayor </a:t>
            </a:r>
            <a:r>
              <a:rPr lang="es-ES" sz="2000" dirty="0">
                <a:latin typeface="Arial" panose="020B0604020202020204" pitchFamily="34" charset="0"/>
                <a:sym typeface="Symbol" panose="05050102010706020507" pitchFamily="18" charset="2"/>
              </a:rPr>
              <a:t></a:t>
            </a:r>
            <a:r>
              <a:rPr lang="es-ES" sz="2000" dirty="0">
                <a:latin typeface="Arial" panose="020B0604020202020204" pitchFamily="34" charset="0"/>
              </a:rPr>
              <a:t>, una OEM tiende más a rodear objetos (la curvatura terrestre, montañas, edificios...), a no producir </a:t>
            </a:r>
            <a:r>
              <a:rPr lang="es-ES" sz="2000" dirty="0">
                <a:solidFill>
                  <a:srgbClr val="3333FF"/>
                </a:solidFill>
                <a:latin typeface="Arial" panose="020B0604020202020204" pitchFamily="34" charset="0"/>
              </a:rPr>
              <a:t>sombras</a:t>
            </a:r>
            <a:r>
              <a:rPr lang="es-ES" sz="2000" dirty="0">
                <a:latin typeface="Arial" panose="020B0604020202020204" pitchFamily="34" charset="0"/>
                <a:sym typeface="Symbol" panose="05050102010706020507" pitchFamily="18" charset="2"/>
              </a:rPr>
              <a:t>. Y es más difícil de dirigir hacia un punto </a:t>
            </a:r>
            <a:r>
              <a:rPr lang="es-ES" sz="2000" dirty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(direccionalidad)</a:t>
            </a:r>
            <a:r>
              <a:rPr lang="es-ES" sz="2000" dirty="0">
                <a:latin typeface="Arial" panose="020B0604020202020204" pitchFamily="34" charset="0"/>
                <a:sym typeface="Symbol" panose="05050102010706020507" pitchFamily="18" charset="2"/>
              </a:rPr>
              <a:t>. La luz, p.ej., produce sombras y es fácil de dirigir (puntero </a:t>
            </a:r>
            <a:r>
              <a:rPr lang="es-ES" sz="2000">
                <a:latin typeface="Arial" panose="020B0604020202020204" pitchFamily="34" charset="0"/>
                <a:sym typeface="Symbol" panose="05050102010706020507" pitchFamily="18" charset="2"/>
              </a:rPr>
              <a:t>láser). En enlaces punto a punto se usan ondas</a:t>
            </a:r>
            <a:endParaRPr lang="es-ES" sz="2000" dirty="0">
              <a:latin typeface="Arial" panose="020B0604020202020204" pitchFamily="34" charset="0"/>
            </a:endParaRPr>
          </a:p>
        </p:txBody>
      </p:sp>
      <p:sp>
        <p:nvSpPr>
          <p:cNvPr id="35" name="41 CuadroTexto">
            <a:extLst>
              <a:ext uri="{FF2B5EF4-FFF2-40B4-BE49-F238E27FC236}">
                <a16:creationId xmlns:a16="http://schemas.microsoft.com/office/drawing/2014/main" id="{91E8F995-7980-4D3A-B902-D1768447B9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4479" y="3096709"/>
            <a:ext cx="9418294" cy="101566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lang="es-ES" sz="2000" dirty="0">
                <a:latin typeface="Arial" panose="020B0604020202020204" pitchFamily="34" charset="0"/>
                <a:sym typeface="Symbol" panose="05050102010706020507" pitchFamily="18" charset="2"/>
              </a:rPr>
              <a:t> Los </a:t>
            </a:r>
            <a:r>
              <a:rPr lang="es-ES" sz="2000" dirty="0">
                <a:latin typeface="Arial" panose="020B0604020202020204" pitchFamily="34" charset="0"/>
              </a:rPr>
              <a:t>rangos en </a:t>
            </a:r>
            <a:r>
              <a:rPr lang="es-ES" sz="20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 entre</a:t>
            </a:r>
            <a:r>
              <a:rPr lang="es-ES" sz="2000" dirty="0">
                <a:latin typeface="Arial" panose="020B0604020202020204" pitchFamily="34" charset="0"/>
              </a:rPr>
              <a:t> 10</a:t>
            </a:r>
            <a:r>
              <a:rPr lang="es-ES" sz="2000" baseline="30000" dirty="0">
                <a:latin typeface="Arial" panose="020B0604020202020204" pitchFamily="34" charset="0"/>
              </a:rPr>
              <a:t>2</a:t>
            </a:r>
            <a:r>
              <a:rPr lang="es-ES" sz="2000" dirty="0">
                <a:latin typeface="Arial" panose="020B0604020202020204" pitchFamily="34" charset="0"/>
              </a:rPr>
              <a:t> a 10</a:t>
            </a:r>
            <a:r>
              <a:rPr lang="es-ES" sz="2000" baseline="30000" dirty="0">
                <a:latin typeface="Arial" panose="020B0604020202020204" pitchFamily="34" charset="0"/>
              </a:rPr>
              <a:t>-2</a:t>
            </a:r>
            <a:r>
              <a:rPr lang="es-ES" sz="2000" dirty="0">
                <a:latin typeface="Arial" panose="020B0604020202020204" pitchFamily="34" charset="0"/>
              </a:rPr>
              <a:t> (radio-microondas) y 10</a:t>
            </a:r>
            <a:r>
              <a:rPr lang="es-ES" sz="2000" baseline="30000" dirty="0">
                <a:latin typeface="Arial" panose="020B0604020202020204" pitchFamily="34" charset="0"/>
              </a:rPr>
              <a:t>-4</a:t>
            </a:r>
            <a:r>
              <a:rPr lang="es-ES" sz="2000" dirty="0">
                <a:latin typeface="Arial" panose="020B0604020202020204" pitchFamily="34" charset="0"/>
              </a:rPr>
              <a:t> a 10</a:t>
            </a:r>
            <a:r>
              <a:rPr lang="es-ES" sz="2000" baseline="30000" dirty="0">
                <a:latin typeface="Arial" panose="020B0604020202020204" pitchFamily="34" charset="0"/>
              </a:rPr>
              <a:t>-7</a:t>
            </a:r>
            <a:r>
              <a:rPr lang="es-ES" sz="2000" dirty="0">
                <a:latin typeface="Arial" panose="020B0604020202020204" pitchFamily="34" charset="0"/>
              </a:rPr>
              <a:t> (infrarrojo-luz visible-ultravioleta) llegan a la superficie terrestre desde el espacio, las ionizantes interactúan y desaparecen, y el resto se refleja y absorbe</a:t>
            </a:r>
          </a:p>
        </p:txBody>
      </p:sp>
      <p:sp>
        <p:nvSpPr>
          <p:cNvPr id="36" name="Text Box 58">
            <a:extLst>
              <a:ext uri="{FF2B5EF4-FFF2-40B4-BE49-F238E27FC236}">
                <a16:creationId xmlns:a16="http://schemas.microsoft.com/office/drawing/2014/main" id="{F2E3A691-9262-4C9D-B4B8-814C77DA74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9670" y="1708187"/>
            <a:ext cx="9921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sz="1800" dirty="0">
                <a:solidFill>
                  <a:srgbClr val="FF0000"/>
                </a:solidFill>
              </a:rPr>
              <a:t>Minas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E814DF9-8F06-ECF2-F138-0E9F2FF34E3C}"/>
              </a:ext>
            </a:extLst>
          </p:cNvPr>
          <p:cNvSpPr/>
          <p:nvPr/>
        </p:nvSpPr>
        <p:spPr bwMode="auto">
          <a:xfrm>
            <a:off x="4645297" y="2140553"/>
            <a:ext cx="1551901" cy="45719"/>
          </a:xfrm>
          <a:prstGeom prst="rect">
            <a:avLst/>
          </a:prstGeom>
          <a:solidFill>
            <a:srgbClr val="FF0000"/>
          </a:solidFill>
          <a:ln w="381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90000" tIns="82800" rIns="90000" bIns="82800" numCol="1" rtlCol="0" anchor="t" anchorCtr="1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-2500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769BA86B-88A4-E22A-E8E4-292856D5E705}"/>
              </a:ext>
            </a:extLst>
          </p:cNvPr>
          <p:cNvSpPr/>
          <p:nvPr/>
        </p:nvSpPr>
        <p:spPr bwMode="auto">
          <a:xfrm>
            <a:off x="6724564" y="2117693"/>
            <a:ext cx="963608" cy="45719"/>
          </a:xfrm>
          <a:prstGeom prst="rect">
            <a:avLst/>
          </a:prstGeom>
          <a:solidFill>
            <a:srgbClr val="FF0000"/>
          </a:solidFill>
          <a:ln w="381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90000" tIns="82800" rIns="90000" bIns="82800" numCol="1" rtlCol="0" anchor="t" anchorCtr="1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-2500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725563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1" grpId="0" animBg="1"/>
      <p:bldP spid="35" grpId="0" animBg="1"/>
      <p:bldP spid="36" grpId="0"/>
      <p:bldP spid="2" grpId="0" animBg="1"/>
      <p:bldP spid="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FNT_2012_TEMA1_1">
  <a:themeElements>
    <a:clrScheme name="FNT_2012_TEMA1_1 1">
      <a:dk1>
        <a:srgbClr val="000000"/>
      </a:dk1>
      <a:lt1>
        <a:srgbClr val="FEFDE3"/>
      </a:lt1>
      <a:dk2>
        <a:srgbClr val="221304"/>
      </a:dk2>
      <a:lt2>
        <a:srgbClr val="CBBD83"/>
      </a:lt2>
      <a:accent1>
        <a:srgbClr val="A1BD69"/>
      </a:accent1>
      <a:accent2>
        <a:srgbClr val="3694B6"/>
      </a:accent2>
      <a:accent3>
        <a:srgbClr val="FEFEEF"/>
      </a:accent3>
      <a:accent4>
        <a:srgbClr val="000000"/>
      </a:accent4>
      <a:accent5>
        <a:srgbClr val="CDDBB9"/>
      </a:accent5>
      <a:accent6>
        <a:srgbClr val="3086A5"/>
      </a:accent6>
      <a:hlink>
        <a:srgbClr val="660066"/>
      </a:hlink>
      <a:folHlink>
        <a:srgbClr val="666699"/>
      </a:folHlink>
    </a:clrScheme>
    <a:fontScheme name="FNT_2012_TEMA1_1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lg" len="lg"/>
        </a:ln>
        <a:effectLst/>
      </a:spPr>
      <a:bodyPr vert="horz" wrap="none" lIns="90000" tIns="82800" rIns="90000" bIns="82800" numCol="1" anchor="t" anchorCtr="1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s-ES" sz="2000" b="0" i="0" u="none" strike="noStrike" cap="none" normalizeH="0" baseline="-25000" smtClean="0">
            <a:ln>
              <a:noFill/>
            </a:ln>
            <a:solidFill>
              <a:srgbClr val="000000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lg" len="lg"/>
        </a:ln>
        <a:effectLst/>
      </a:spPr>
      <a:bodyPr vert="horz" wrap="none" lIns="90000" tIns="82800" rIns="90000" bIns="82800" numCol="1" anchor="t" anchorCtr="1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s-ES" sz="2000" b="0" i="0" u="none" strike="noStrike" cap="none" normalizeH="0" baseline="-25000" smtClean="0">
            <a:ln>
              <a:noFill/>
            </a:ln>
            <a:solidFill>
              <a:srgbClr val="000000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FNT_2012_TEMA1_1 1">
        <a:dk1>
          <a:srgbClr val="000000"/>
        </a:dk1>
        <a:lt1>
          <a:srgbClr val="FEFDE3"/>
        </a:lt1>
        <a:dk2>
          <a:srgbClr val="221304"/>
        </a:dk2>
        <a:lt2>
          <a:srgbClr val="CBBD83"/>
        </a:lt2>
        <a:accent1>
          <a:srgbClr val="A1BD69"/>
        </a:accent1>
        <a:accent2>
          <a:srgbClr val="3694B6"/>
        </a:accent2>
        <a:accent3>
          <a:srgbClr val="FEFEEF"/>
        </a:accent3>
        <a:accent4>
          <a:srgbClr val="000000"/>
        </a:accent4>
        <a:accent5>
          <a:srgbClr val="CDDBB9"/>
        </a:accent5>
        <a:accent6>
          <a:srgbClr val="3086A5"/>
        </a:accent6>
        <a:hlink>
          <a:srgbClr val="660066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NT_2012_TEMA1_1 2">
        <a:dk1>
          <a:srgbClr val="000000"/>
        </a:dk1>
        <a:lt1>
          <a:srgbClr val="FFFFFF"/>
        </a:lt1>
        <a:dk2>
          <a:srgbClr val="221304"/>
        </a:dk2>
        <a:lt2>
          <a:srgbClr val="CBBD83"/>
        </a:lt2>
        <a:accent1>
          <a:srgbClr val="A1BD69"/>
        </a:accent1>
        <a:accent2>
          <a:srgbClr val="3694B6"/>
        </a:accent2>
        <a:accent3>
          <a:srgbClr val="FFFFFF"/>
        </a:accent3>
        <a:accent4>
          <a:srgbClr val="000000"/>
        </a:accent4>
        <a:accent5>
          <a:srgbClr val="CDDBB9"/>
        </a:accent5>
        <a:accent6>
          <a:srgbClr val="3086A5"/>
        </a:accent6>
        <a:hlink>
          <a:srgbClr val="660066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NT_2012_TEMA1_1 3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FNT_2012_TEMA1_1</Template>
  <TotalTime>16445</TotalTime>
  <Words>4109</Words>
  <Application>Microsoft Office PowerPoint</Application>
  <PresentationFormat>Personalizado</PresentationFormat>
  <Paragraphs>607</Paragraphs>
  <Slides>29</Slides>
  <Notes>28</Notes>
  <HiddenSlides>0</HiddenSlides>
  <MMClips>0</MMClips>
  <ScaleCrop>false</ScaleCrop>
  <HeadingPairs>
    <vt:vector size="8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2</vt:i4>
      </vt:variant>
      <vt:variant>
        <vt:lpstr>Títulos de diapositiva</vt:lpstr>
      </vt:variant>
      <vt:variant>
        <vt:i4>29</vt:i4>
      </vt:variant>
    </vt:vector>
  </HeadingPairs>
  <TitlesOfParts>
    <vt:vector size="38" baseType="lpstr">
      <vt:lpstr>Arial</vt:lpstr>
      <vt:lpstr>Cambria Math</vt:lpstr>
      <vt:lpstr>Comic Sans MS</vt:lpstr>
      <vt:lpstr>Symbol</vt:lpstr>
      <vt:lpstr>Times New Roman</vt:lpstr>
      <vt:lpstr>Trebuchet MS</vt:lpstr>
      <vt:lpstr>FNT_2012_TEMA1_1</vt:lpstr>
      <vt:lpstr>Ecuación</vt:lpstr>
      <vt:lpstr>Equation.3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DFA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FÍSICA</dc:creator>
  <cp:lastModifiedBy>KIKE</cp:lastModifiedBy>
  <cp:revision>2346</cp:revision>
  <dcterms:created xsi:type="dcterms:W3CDTF">2012-02-20T13:06:36Z</dcterms:created>
  <dcterms:modified xsi:type="dcterms:W3CDTF">2024-11-26T22:41:19Z</dcterms:modified>
</cp:coreProperties>
</file>