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2"/>
  </p:notesMasterIdLst>
  <p:handoutMasterIdLst>
    <p:handoutMasterId r:id="rId33"/>
  </p:handoutMasterIdLst>
  <p:sldIdLst>
    <p:sldId id="316" r:id="rId2"/>
    <p:sldId id="554" r:id="rId3"/>
    <p:sldId id="555" r:id="rId4"/>
    <p:sldId id="549" r:id="rId5"/>
    <p:sldId id="551" r:id="rId6"/>
    <p:sldId id="552" r:id="rId7"/>
    <p:sldId id="556" r:id="rId8"/>
    <p:sldId id="553" r:id="rId9"/>
    <p:sldId id="440" r:id="rId10"/>
    <p:sldId id="434" r:id="rId11"/>
    <p:sldId id="435" r:id="rId12"/>
    <p:sldId id="428" r:id="rId13"/>
    <p:sldId id="453" r:id="rId14"/>
    <p:sldId id="432" r:id="rId15"/>
    <p:sldId id="454" r:id="rId16"/>
    <p:sldId id="517" r:id="rId17"/>
    <p:sldId id="429" r:id="rId18"/>
    <p:sldId id="456" r:id="rId19"/>
    <p:sldId id="515" r:id="rId20"/>
    <p:sldId id="558" r:id="rId21"/>
    <p:sldId id="559" r:id="rId22"/>
    <p:sldId id="560" r:id="rId23"/>
    <p:sldId id="561" r:id="rId24"/>
    <p:sldId id="562" r:id="rId25"/>
    <p:sldId id="563" r:id="rId26"/>
    <p:sldId id="564" r:id="rId27"/>
    <p:sldId id="565" r:id="rId28"/>
    <p:sldId id="566" r:id="rId29"/>
    <p:sldId id="567" r:id="rId30"/>
    <p:sldId id="327" r:id="rId31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FFFF"/>
    <a:srgbClr val="008000"/>
    <a:srgbClr val="FF99CC"/>
    <a:srgbClr val="FF99FF"/>
    <a:srgbClr val="DDDDDD"/>
    <a:srgbClr val="CCFFCC"/>
    <a:srgbClr val="FFFF99"/>
    <a:srgbClr val="99CC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0408" autoAdjust="0"/>
  </p:normalViewPr>
  <p:slideViewPr>
    <p:cSldViewPr snapToGrid="0" showGuides="1">
      <p:cViewPr varScale="1">
        <p:scale>
          <a:sx n="103" d="100"/>
          <a:sy n="103" d="100"/>
        </p:scale>
        <p:origin x="696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8656E9E-C72F-49E5-B678-AA39D8D08A9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0398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5FF54F9-FE90-4D1D-A386-52A2BDE0130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081550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541A68-AC15-4C26-AC67-898CB65D7A61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086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3108FE-A973-4343-BA67-33DCFBEB6E87}" type="slidenum">
              <a:rPr lang="es-ES" smtClean="0"/>
              <a:pPr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800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628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>
                <a:cs typeface="Arial" panose="020B0604020202020204" pitchFamily="34" charset="0"/>
              </a:rPr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>
                <a:cs typeface="Arial" panose="020B0604020202020204" pitchFamily="34" charset="0"/>
              </a:rPr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95CFEB7-86FE-4F0A-A5D3-30BEDF312F26}" type="slidenum">
              <a:rPr lang="es-ES"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s-ES">
              <a:cs typeface="Arial" panose="020B0604020202020204" pitchFamily="34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1188" y="746125"/>
            <a:ext cx="5591175" cy="3729038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203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>
                <a:cs typeface="Arial" panose="020B0604020202020204" pitchFamily="34" charset="0"/>
              </a:rPr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>
                <a:cs typeface="Arial" panose="020B0604020202020204" pitchFamily="34" charset="0"/>
              </a:rPr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95CFEB7-86FE-4F0A-A5D3-30BEDF312F26}" type="slidenum">
              <a:rPr lang="es-ES"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4</a:t>
            </a:fld>
            <a:endParaRPr lang="es-ES">
              <a:cs typeface="Arial" panose="020B0604020202020204" pitchFamily="34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1188" y="746125"/>
            <a:ext cx="5591175" cy="3729038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8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>
                <a:cs typeface="Arial" panose="020B0604020202020204" pitchFamily="34" charset="0"/>
              </a:rPr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>
                <a:cs typeface="Arial" panose="020B0604020202020204" pitchFamily="34" charset="0"/>
              </a:rPr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95CFEB7-86FE-4F0A-A5D3-30BEDF312F26}" type="slidenum">
              <a:rPr lang="es-ES"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es-ES">
              <a:cs typeface="Arial" panose="020B0604020202020204" pitchFamily="34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1188" y="746125"/>
            <a:ext cx="5591175" cy="3729038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634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>
                <a:cs typeface="Arial" panose="020B0604020202020204" pitchFamily="34" charset="0"/>
              </a:rPr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>
                <a:cs typeface="Arial" panose="020B0604020202020204" pitchFamily="34" charset="0"/>
              </a:rPr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95CFEB7-86FE-4F0A-A5D3-30BEDF312F26}" type="slidenum">
              <a:rPr lang="es-ES"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s-ES">
              <a:cs typeface="Arial" panose="020B0604020202020204" pitchFamily="34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1188" y="746125"/>
            <a:ext cx="5591175" cy="3729038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476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>
                <a:cs typeface="Arial" panose="020B0604020202020204" pitchFamily="34" charset="0"/>
              </a:rPr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>
                <a:cs typeface="Arial" panose="020B0604020202020204" pitchFamily="34" charset="0"/>
              </a:rPr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95CFEB7-86FE-4F0A-A5D3-30BEDF312F26}" type="slidenum">
              <a:rPr lang="es-ES"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s-ES">
              <a:cs typeface="Arial" panose="020B0604020202020204" pitchFamily="34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1188" y="746125"/>
            <a:ext cx="5591175" cy="3729038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893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9FAD60-863C-4A02-AF0A-3C7E07EBA678}" type="slidenum">
              <a:rPr lang="es-ES"/>
              <a:pPr algn="r" eaLnBrk="1" hangingPunct="1"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943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872DC11-62CA-440C-A826-BE5FF9BC21DA}" type="slidenum">
              <a:rPr lang="es-ES"/>
              <a:pPr algn="r" eaLnBrk="1" hangingPunct="1"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569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872DC11-62CA-440C-A826-BE5FF9BC21DA}" type="slidenum">
              <a:rPr lang="es-ES"/>
              <a:pPr algn="r" eaLnBrk="1" hangingPunct="1"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62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917DE40-8A2F-4442-9221-251629E7D447}" type="slidenum">
              <a:rPr lang="es-ES"/>
              <a:pPr algn="r" eaLnBrk="1" hangingPunct="1"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537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917DE40-8A2F-4442-9221-251629E7D447}" type="slidenum">
              <a:rPr lang="es-ES"/>
              <a:pPr algn="r" eaLnBrk="1" hangingPunct="1"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806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C74ACC1-6907-4360-A09B-394DD2F78919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525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C74ACC1-6907-4360-A09B-394DD2F78919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712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C74ACC1-6907-4360-A09B-394DD2F78919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730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34398FD-F3D2-4F63-84A2-3CDBBDC655B8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265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B02F1BB-9C26-4795-B188-3C4B0031516A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812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B02F1BB-9C26-4795-B188-3C4B0031516A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2615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B02F1BB-9C26-4795-B188-3C4B0031516A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7721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3C3589A-8CE8-4199-B0FE-F1E4901D13C0}" type="slidenum">
              <a:rPr lang="es-ES"/>
              <a:pPr algn="r" eaLnBrk="1" hangingPunct="1"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811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8FECDC9-97E2-498E-820A-0CCB93759A21}" type="slidenum">
              <a:rPr lang="es-ES"/>
              <a:pPr algn="r" eaLnBrk="1" hangingPunct="1"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31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8FECDC9-97E2-498E-820A-0CCB93759A21}" type="slidenum">
              <a:rPr lang="es-ES"/>
              <a:pPr algn="r" eaLnBrk="1" hangingPunct="1"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5018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189509-565B-4F20-B5E0-AEC5546F2FFF}" type="slidenum">
              <a:rPr lang="es-ES" smtClean="0"/>
              <a:pPr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3072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0EF4E4E-309B-4824-9903-4B65E8D02AD9}" type="slidenum">
              <a:rPr lang="es-ES"/>
              <a:pPr algn="r" eaLnBrk="1" hangingPunct="1"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307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581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189509-565B-4F20-B5E0-AEC5546F2FFF}" type="slidenum">
              <a:rPr lang="es-ES" smtClean="0"/>
              <a:pPr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3072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0EF4E4E-309B-4824-9903-4B65E8D02AD9}" type="slidenum">
              <a:rPr lang="es-ES"/>
              <a:pPr algn="r" eaLnBrk="1" hangingPunct="1"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307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563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189509-565B-4F20-B5E0-AEC5546F2FFF}" type="slidenum">
              <a:rPr lang="es-ES" smtClean="0"/>
              <a:pPr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3072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0EF4E4E-309B-4824-9903-4B65E8D02AD9}" type="slidenum">
              <a:rPr lang="es-ES"/>
              <a:pPr algn="r" eaLnBrk="1" hangingPunct="1"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307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6352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8A18F6-5983-4920-9B1F-7199C9A226E5}" type="slidenum">
              <a:rPr lang="es-ES"/>
              <a:pPr algn="r" eaLnBrk="1" hangingPunct="1">
                <a:spcBef>
                  <a:spcPct val="0"/>
                </a:spcBef>
              </a:pPr>
              <a:t>27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981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8A18F6-5983-4920-9B1F-7199C9A226E5}" type="slidenum">
              <a:rPr lang="es-ES"/>
              <a:pPr algn="r" eaLnBrk="1" hangingPunct="1">
                <a:spcBef>
                  <a:spcPct val="0"/>
                </a:spcBef>
              </a:pPr>
              <a:t>28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2534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8A18F6-5983-4920-9B1F-7199C9A226E5}" type="slidenum">
              <a:rPr lang="es-ES"/>
              <a:pPr algn="r" eaLnBrk="1" hangingPunct="1">
                <a:spcBef>
                  <a:spcPct val="0"/>
                </a:spcBef>
              </a:pPr>
              <a:t>29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13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FF54F9-FE90-4D1D-A386-52A2BDE01300}" type="slidenum">
              <a:rPr lang="es-ES" smtClean="0"/>
              <a:pPr>
                <a:defRPr/>
              </a:pPr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1725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C3316-C4FD-4DDC-A8E1-46336B5E6F5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7242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8ED8D-9F99-404E-88D8-F5EC6984438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900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22006-9773-415C-B373-3E91EA4665F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458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49494-34FA-4203-B85A-B1192EE4FAD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440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F3A2ED-455A-4EF6-A5D8-D97DA1D5381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866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7BA3C7-E9F6-4DCE-8C43-FE904875DB9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140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43BF3B-AC61-489E-A90B-DCB3C6A772A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510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8ED9C-3EE6-4916-A10B-866C86695CA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0288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4DBFE-ED58-40A9-BE30-9C17B053812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735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0B511-DA1E-4BBA-9A92-88B795D7E1F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057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7B6EE-CD96-41ED-BD42-883094E96D7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6308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93795-E1AC-4C32-8142-FDCFDB45801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122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784F1E-4DD6-4176-84D1-08D8474D47A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Leydenjar.p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Leydenjar.p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Leyden_jar_cutaway.pn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Leyden_jar_cutaway.p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Leyden_jar_cutaway.pn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030"/>
          <p:cNvSpPr txBox="1">
            <a:spLocks noChangeArrowheads="1"/>
          </p:cNvSpPr>
          <p:nvPr/>
        </p:nvSpPr>
        <p:spPr bwMode="auto">
          <a:xfrm>
            <a:off x="2838450" y="3221038"/>
            <a:ext cx="5816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CONDENSADORES Y DIELÉCTRICOS</a:t>
            </a:r>
          </a:p>
        </p:txBody>
      </p:sp>
      <p:sp>
        <p:nvSpPr>
          <p:cNvPr id="5123" name="Text Box 1031"/>
          <p:cNvSpPr txBox="1">
            <a:spLocks noChangeArrowheads="1"/>
          </p:cNvSpPr>
          <p:nvPr/>
        </p:nvSpPr>
        <p:spPr bwMode="auto">
          <a:xfrm>
            <a:off x="5311775" y="4105275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Comic Sans MS" panose="030F0702030302020204" pitchFamily="66" charset="0"/>
              </a:rPr>
              <a:t>(2/4)</a:t>
            </a:r>
          </a:p>
        </p:txBody>
      </p:sp>
      <p:sp>
        <p:nvSpPr>
          <p:cNvPr id="5124" name="Text Box 1032"/>
          <p:cNvSpPr txBox="1">
            <a:spLocks noChangeArrowheads="1"/>
          </p:cNvSpPr>
          <p:nvPr/>
        </p:nvSpPr>
        <p:spPr bwMode="auto">
          <a:xfrm>
            <a:off x="5065713" y="234315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>
            <a:extLst>
              <a:ext uri="{FF2B5EF4-FFF2-40B4-BE49-F238E27FC236}">
                <a16:creationId xmlns:a16="http://schemas.microsoft.com/office/drawing/2014/main" id="{B741FFC9-CDF0-4FCB-9923-150F6AC6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144" y="573423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22" name="Rectangle 25"/>
          <p:cNvSpPr>
            <a:spLocks noChangeArrowheads="1"/>
          </p:cNvSpPr>
          <p:nvPr/>
        </p:nvSpPr>
        <p:spPr bwMode="auto">
          <a:xfrm>
            <a:off x="2248126" y="2808134"/>
            <a:ext cx="8138593" cy="4470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1476148" y="4656545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466623" y="245731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1466623" y="3545748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1466623" y="135241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1543050" y="464231"/>
            <a:ext cx="8428038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TEMA 3: CONDENSADORES Y DIELÉCTRICOS</a:t>
            </a:r>
          </a:p>
        </p:txBody>
      </p:sp>
      <p:sp>
        <p:nvSpPr>
          <p:cNvPr id="13320" name="Rectangle 14"/>
          <p:cNvSpPr>
            <a:spLocks noChangeArrowheads="1"/>
          </p:cNvSpPr>
          <p:nvPr/>
        </p:nvSpPr>
        <p:spPr bwMode="auto">
          <a:xfrm>
            <a:off x="1444398" y="1311139"/>
            <a:ext cx="708025" cy="4901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3.4.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3.5.</a:t>
            </a:r>
          </a:p>
        </p:txBody>
      </p:sp>
      <p:sp>
        <p:nvSpPr>
          <p:cNvPr id="13321" name="Rectangle 15"/>
          <p:cNvSpPr>
            <a:spLocks noChangeArrowheads="1"/>
          </p:cNvSpPr>
          <p:nvPr/>
        </p:nvSpPr>
        <p:spPr bwMode="auto">
          <a:xfrm>
            <a:off x="2248126" y="1311134"/>
            <a:ext cx="8295695" cy="564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Carga, Campo y Potencial en Conductores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en Equilibrio Electrostático.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Capacidad de un Conductor. Conexión de conductores, a tierra, Jaula de Faraday. Capacidad de Condensador.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Energía Eléctrica almacenada 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un Conductor y en un Condensador.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Circuitos en Equilibrio. Asociación de Condensadores.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Asociación en Serie. Asociación en Paralelo.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Dipolos Eléctricos. Clases de Dieléctricos. Caracterización de un Dieléctrico.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Condensadores y Dieléctricos.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679701" y="1074044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23/10/24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21/10/24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22/10/24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4" name="Text Box 24"/>
          <p:cNvSpPr txBox="1">
            <a:spLocks noChangeArrowheads="1"/>
          </p:cNvSpPr>
          <p:nvPr/>
        </p:nvSpPr>
        <p:spPr bwMode="auto">
          <a:xfrm>
            <a:off x="1620080" y="1036618"/>
            <a:ext cx="8322585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/>
              <a:t>La Tierra, excluida la atmósfera, se considera como un conductor perfecto, neutro, en equilibrio e infinito</a:t>
            </a:r>
          </a:p>
        </p:txBody>
      </p:sp>
      <p:sp>
        <p:nvSpPr>
          <p:cNvPr id="61467" name="Text Box 27"/>
          <p:cNvSpPr txBox="1">
            <a:spLocks noChangeArrowheads="1"/>
          </p:cNvSpPr>
          <p:nvPr/>
        </p:nvSpPr>
        <p:spPr bwMode="auto">
          <a:xfrm>
            <a:off x="1470531" y="2344463"/>
            <a:ext cx="1686978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dirty="0"/>
              <a:t>¿Perfecto?</a:t>
            </a:r>
          </a:p>
        </p:txBody>
      </p:sp>
      <p:sp>
        <p:nvSpPr>
          <p:cNvPr id="43023" name="Text Box 53"/>
          <p:cNvSpPr txBox="1">
            <a:spLocks noChangeArrowheads="1"/>
          </p:cNvSpPr>
          <p:nvPr/>
        </p:nvSpPr>
        <p:spPr bwMode="auto">
          <a:xfrm>
            <a:off x="6042180" y="2174878"/>
            <a:ext cx="3900485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89991" tIns="82800" rIns="89991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Es una visión idealizada</a:t>
            </a:r>
          </a:p>
        </p:txBody>
      </p:sp>
      <p:sp>
        <p:nvSpPr>
          <p:cNvPr id="10" name="Text Box 25"/>
          <p:cNvSpPr txBox="1">
            <a:spLocks noChangeArrowheads="1"/>
          </p:cNvSpPr>
          <p:nvPr/>
        </p:nvSpPr>
        <p:spPr bwMode="auto">
          <a:xfrm>
            <a:off x="1441267" y="3046993"/>
            <a:ext cx="8640000" cy="19193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80000" tIns="36000" rIns="180000" bIns="36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/>
              <a:t>Cuando se conecta un conductor (un sistema eléctrico o electrónico) a tierra (a otro conductor), </a:t>
            </a:r>
            <a:r>
              <a:rPr lang="es-ES" sz="2400" dirty="0">
                <a:solidFill>
                  <a:schemeClr val="tx1"/>
                </a:solidFill>
              </a:rPr>
              <a:t>hay que </a:t>
            </a:r>
            <a:r>
              <a:rPr lang="es-ES" sz="2400" dirty="0">
                <a:solidFill>
                  <a:srgbClr val="3333FF"/>
                </a:solidFill>
              </a:rPr>
              <a:t>chequear que la zona en torno al contacto sea buena conductora</a:t>
            </a:r>
            <a:r>
              <a:rPr lang="es-ES" sz="2400" dirty="0">
                <a:solidFill>
                  <a:schemeClr val="tx1"/>
                </a:solidFill>
              </a:rPr>
              <a:t>. En el caso de la instalación eléctrica de un edificio, </a:t>
            </a:r>
            <a:r>
              <a:rPr lang="es-ES" sz="2400">
                <a:solidFill>
                  <a:schemeClr val="tx1"/>
                </a:solidFill>
              </a:rPr>
              <a:t>se chequea </a:t>
            </a:r>
            <a:r>
              <a:rPr lang="es-ES" sz="2400" dirty="0">
                <a:solidFill>
                  <a:schemeClr val="tx1"/>
                </a:solidFill>
              </a:rPr>
              <a:t>en torno al contacto </a:t>
            </a:r>
            <a:r>
              <a:rPr lang="es-ES" sz="2400">
                <a:solidFill>
                  <a:schemeClr val="tx1"/>
                </a:solidFill>
              </a:rPr>
              <a:t>a tierra (una </a:t>
            </a:r>
            <a:r>
              <a:rPr lang="es-ES" sz="2400">
                <a:solidFill>
                  <a:srgbClr val="3333FF"/>
                </a:solidFill>
              </a:rPr>
              <a:t>pica</a:t>
            </a:r>
            <a:r>
              <a:rPr lang="es-ES" sz="2400">
                <a:solidFill>
                  <a:schemeClr val="tx1"/>
                </a:solidFill>
              </a:rPr>
              <a:t>, una </a:t>
            </a:r>
            <a:r>
              <a:rPr lang="es-ES" sz="2400" dirty="0">
                <a:solidFill>
                  <a:schemeClr val="tx1"/>
                </a:solidFill>
              </a:rPr>
              <a:t>barra metálica).</a:t>
            </a:r>
            <a:endParaRPr lang="es-ES" sz="2400" dirty="0"/>
          </a:p>
        </p:txBody>
      </p:sp>
      <p:sp>
        <p:nvSpPr>
          <p:cNvPr id="2" name="Rectangle 27">
            <a:extLst>
              <a:ext uri="{FF2B5EF4-FFF2-40B4-BE49-F238E27FC236}">
                <a16:creationId xmlns:a16="http://schemas.microsoft.com/office/drawing/2014/main" id="{63D2AC83-3E9D-4058-860A-8151648D3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032" y="378192"/>
            <a:ext cx="8520113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3.2.2</a:t>
            </a: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. CONEXIÓN A TIERRA</a:t>
            </a:r>
            <a:endParaRPr lang="es-ES" sz="2400" b="1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 Box 25">
            <a:extLst>
              <a:ext uri="{FF2B5EF4-FFF2-40B4-BE49-F238E27FC236}">
                <a16:creationId xmlns:a16="http://schemas.microsoft.com/office/drawing/2014/main" id="{7779E8BA-436A-4700-B438-CDDBCDEE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897" y="5150227"/>
            <a:ext cx="8640000" cy="19557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80000" tIns="36000" rIns="180000" bIns="36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/>
              <a:t>Si la conexión se hace en más de </a:t>
            </a:r>
            <a:r>
              <a:rPr lang="es-ES" sz="2400"/>
              <a:t>un lugar con </a:t>
            </a:r>
            <a:r>
              <a:rPr lang="es-ES" sz="2400">
                <a:solidFill>
                  <a:srgbClr val="3333FF"/>
                </a:solidFill>
              </a:rPr>
              <a:t>varias picas</a:t>
            </a:r>
            <a:r>
              <a:rPr lang="es-ES" sz="2400"/>
              <a:t>, </a:t>
            </a:r>
            <a:r>
              <a:rPr lang="es-ES" sz="2400" dirty="0"/>
              <a:t>debe haber </a:t>
            </a:r>
            <a:r>
              <a:rPr lang="es-ES" sz="2400" dirty="0">
                <a:solidFill>
                  <a:srgbClr val="3333FF"/>
                </a:solidFill>
              </a:rPr>
              <a:t>buena conducción </a:t>
            </a:r>
            <a:r>
              <a:rPr lang="es-ES" sz="2400">
                <a:solidFill>
                  <a:srgbClr val="3333FF"/>
                </a:solidFill>
              </a:rPr>
              <a:t>entre ellas</a:t>
            </a:r>
            <a:r>
              <a:rPr lang="es-ES" sz="2400" dirty="0"/>
              <a:t>, para garantizar que si no están al mismo potencial, si no son la misma tierra, este se iguale al instante y no haya corrientes indeseadas en el sistema para igualar el potencial.</a:t>
            </a:r>
          </a:p>
        </p:txBody>
      </p:sp>
    </p:spTree>
    <p:extLst>
      <p:ext uri="{BB962C8B-B14F-4D97-AF65-F5344CB8AC3E}">
        <p14:creationId xmlns:p14="http://schemas.microsoft.com/office/powerpoint/2010/main" val="13695507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4" grpId="0" animBg="1"/>
      <p:bldP spid="61467" grpId="0" animBg="1"/>
      <p:bldP spid="43023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7" name="Text Box 27"/>
          <p:cNvSpPr txBox="1">
            <a:spLocks noChangeArrowheads="1"/>
          </p:cNvSpPr>
          <p:nvPr/>
        </p:nvSpPr>
        <p:spPr bwMode="auto">
          <a:xfrm>
            <a:off x="1470531" y="435283"/>
            <a:ext cx="3607376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dirty="0"/>
              <a:t>¿</a:t>
            </a:r>
            <a:r>
              <a:rPr lang="es-ES" sz="2400"/>
              <a:t>Neutro? ¿En equilibrio?</a:t>
            </a:r>
            <a:endParaRPr lang="es-ES" sz="2400" dirty="0"/>
          </a:p>
        </p:txBody>
      </p:sp>
      <p:sp>
        <p:nvSpPr>
          <p:cNvPr id="8" name="Text Box 26">
            <a:extLst>
              <a:ext uri="{FF2B5EF4-FFF2-40B4-BE49-F238E27FC236}">
                <a16:creationId xmlns:a16="http://schemas.microsoft.com/office/drawing/2014/main" id="{A6D19889-5A90-44EC-9051-7DD49841A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483" y="1262843"/>
            <a:ext cx="6296151" cy="58744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La Tierra ronda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la neutralidad y el equilibrio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11" name="Text Box 26">
            <a:extLst>
              <a:ext uri="{FF2B5EF4-FFF2-40B4-BE49-F238E27FC236}">
                <a16:creationId xmlns:a16="http://schemas.microsoft.com/office/drawing/2014/main" id="{AD202D40-614D-4BE6-B95B-77AAE1DC0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232" y="2136039"/>
            <a:ext cx="8640000" cy="9567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La caída </a:t>
            </a:r>
            <a:r>
              <a:rPr lang="es-ES" sz="2400">
                <a:solidFill>
                  <a:schemeClr val="tx1"/>
                </a:solidFill>
              </a:rPr>
              <a:t>de rayos, </a:t>
            </a:r>
            <a:r>
              <a:rPr lang="es-ES" sz="2400" dirty="0">
                <a:solidFill>
                  <a:schemeClr val="tx1"/>
                </a:solidFill>
              </a:rPr>
              <a:t>o el </a:t>
            </a:r>
            <a:r>
              <a:rPr lang="es-ES" sz="2400">
                <a:solidFill>
                  <a:schemeClr val="tx1"/>
                </a:solidFill>
              </a:rPr>
              <a:t>rozamiento del aire con el suelo, la tiende a sacar </a:t>
            </a:r>
            <a:r>
              <a:rPr lang="es-ES" sz="2400" dirty="0">
                <a:solidFill>
                  <a:schemeClr val="tx1"/>
                </a:solidFill>
              </a:rPr>
              <a:t>de </a:t>
            </a:r>
            <a:r>
              <a:rPr lang="es-ES" sz="2400">
                <a:solidFill>
                  <a:schemeClr val="tx1"/>
                </a:solidFill>
              </a:rPr>
              <a:t>la </a:t>
            </a:r>
            <a:r>
              <a:rPr lang="es-ES" sz="2400">
                <a:solidFill>
                  <a:srgbClr val="3333FF"/>
                </a:solidFill>
              </a:rPr>
              <a:t>neutralidad</a:t>
            </a:r>
            <a:r>
              <a:rPr lang="es-ES" sz="2400">
                <a:solidFill>
                  <a:schemeClr val="tx1"/>
                </a:solidFill>
              </a:rPr>
              <a:t> cargándola negativamente.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20113274-7CFD-4FE4-866C-F6A2E3011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686" y="3378567"/>
            <a:ext cx="8640000" cy="9567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La </a:t>
            </a:r>
            <a:r>
              <a:rPr lang="es-ES" sz="2400">
                <a:solidFill>
                  <a:schemeClr val="tx1"/>
                </a:solidFill>
              </a:rPr>
              <a:t>llegada de iones positivos </a:t>
            </a:r>
            <a:r>
              <a:rPr lang="es-ES" sz="2400" dirty="0">
                <a:solidFill>
                  <a:schemeClr val="tx1"/>
                </a:solidFill>
              </a:rPr>
              <a:t>desde </a:t>
            </a:r>
            <a:r>
              <a:rPr lang="es-ES" sz="2400">
                <a:solidFill>
                  <a:schemeClr val="tx1"/>
                </a:solidFill>
              </a:rPr>
              <a:t>el aire, </a:t>
            </a:r>
            <a:r>
              <a:rPr lang="es-ES" sz="2400" dirty="0">
                <a:solidFill>
                  <a:schemeClr val="tx1"/>
                </a:solidFill>
              </a:rPr>
              <a:t>debido </a:t>
            </a:r>
            <a:r>
              <a:rPr lang="es-ES" sz="2400">
                <a:solidFill>
                  <a:schemeClr val="tx1"/>
                </a:solidFill>
              </a:rPr>
              <a:t>al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que se genera, la tiende a devolver </a:t>
            </a:r>
            <a:r>
              <a:rPr lang="es-ES" sz="2400" dirty="0">
                <a:solidFill>
                  <a:schemeClr val="tx1"/>
                </a:solidFill>
              </a:rPr>
              <a:t>a </a:t>
            </a:r>
            <a:r>
              <a:rPr lang="es-ES" sz="2400">
                <a:solidFill>
                  <a:schemeClr val="tx1"/>
                </a:solidFill>
              </a:rPr>
              <a:t>la neutralidad.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13" name="Text Box 26">
            <a:extLst>
              <a:ext uri="{FF2B5EF4-FFF2-40B4-BE49-F238E27FC236}">
                <a16:creationId xmlns:a16="http://schemas.microsoft.com/office/drawing/2014/main" id="{04472308-3B22-43B8-8433-E4453C39F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435" y="4621096"/>
            <a:ext cx="8640000" cy="20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Las corrientes producidas en tierra al recibir </a:t>
            </a:r>
            <a:r>
              <a:rPr lang="es-ES" sz="2400">
                <a:solidFill>
                  <a:schemeClr val="tx1"/>
                </a:solidFill>
              </a:rPr>
              <a:t>electrones tras </a:t>
            </a:r>
            <a:r>
              <a:rPr lang="es-ES" sz="2400" dirty="0">
                <a:solidFill>
                  <a:schemeClr val="tx1"/>
                </a:solidFill>
              </a:rPr>
              <a:t>la caída de un rayo, o las asociadas a la polarización de la Tierra por la </a:t>
            </a:r>
            <a:r>
              <a:rPr lang="es-ES" sz="2400">
                <a:solidFill>
                  <a:schemeClr val="tx1"/>
                </a:solidFill>
              </a:rPr>
              <a:t>presencia anterior de </a:t>
            </a:r>
            <a:r>
              <a:rPr lang="es-ES" sz="2400" dirty="0">
                <a:solidFill>
                  <a:schemeClr val="tx1"/>
                </a:solidFill>
              </a:rPr>
              <a:t>nubes cargadas sobre ella, reflejan que la </a:t>
            </a:r>
            <a:r>
              <a:rPr lang="es-ES" sz="2400">
                <a:solidFill>
                  <a:schemeClr val="tx1"/>
                </a:solidFill>
              </a:rPr>
              <a:t>Tierra abandona el </a:t>
            </a:r>
            <a:r>
              <a:rPr lang="es-ES" sz="2400">
                <a:solidFill>
                  <a:srgbClr val="3333FF"/>
                </a:solidFill>
              </a:rPr>
              <a:t>equilibrio</a:t>
            </a:r>
            <a:r>
              <a:rPr lang="es-ES" sz="2400">
                <a:solidFill>
                  <a:schemeClr val="tx1"/>
                </a:solidFill>
              </a:rPr>
              <a:t>, al que vuelve al cesar dichas corrientes.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5687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7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7" name="Text Box 27"/>
          <p:cNvSpPr txBox="1">
            <a:spLocks noChangeArrowheads="1"/>
          </p:cNvSpPr>
          <p:nvPr/>
        </p:nvSpPr>
        <p:spPr bwMode="auto">
          <a:xfrm>
            <a:off x="1470531" y="445326"/>
            <a:ext cx="1448130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dirty="0"/>
              <a:t>¿Infinito?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36AE816-D37A-48CF-96F4-7B1618164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455" y="4325376"/>
            <a:ext cx="8640000" cy="95677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/>
              <a:t>Como </a:t>
            </a:r>
            <a:r>
              <a:rPr lang="es-ES" sz="2400" dirty="0"/>
              <a:t>R</a:t>
            </a:r>
            <a:r>
              <a:rPr lang="es-ES" sz="2400" baseline="-25000" dirty="0"/>
              <a:t>2</a:t>
            </a:r>
            <a:r>
              <a:rPr lang="es-ES" sz="2400" dirty="0"/>
              <a:t> &gt;&gt; R</a:t>
            </a:r>
            <a:r>
              <a:rPr lang="es-ES" sz="2400" baseline="-25000" dirty="0"/>
              <a:t>1</a:t>
            </a:r>
            <a:r>
              <a:rPr lang="es-ES" sz="2400" dirty="0"/>
              <a:t>, para el conductor la Tierra parece </a:t>
            </a:r>
            <a:r>
              <a:rPr lang="es-ES" sz="2400">
                <a:sym typeface="Symbol" panose="05050102010706020507" pitchFamily="18" charset="2"/>
              </a:rPr>
              <a:t>,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ym typeface="Symbol" panose="05050102010706020507" pitchFamily="18" charset="2"/>
              </a:rPr>
              <a:t>y por tanto, </a:t>
            </a:r>
            <a:r>
              <a:rPr lang="es-ES" sz="2400" dirty="0">
                <a:sym typeface="Symbol" panose="05050102010706020507" pitchFamily="18" charset="2"/>
              </a:rPr>
              <a:t>siendo </a:t>
            </a:r>
            <a:r>
              <a:rPr lang="es-ES" sz="2400">
                <a:sym typeface="Symbol" panose="05050102010706020507" pitchFamily="18" charset="2"/>
              </a:rPr>
              <a:t>Q</a:t>
            </a:r>
            <a:r>
              <a:rPr lang="es-ES" sz="2400" baseline="-25000">
                <a:sym typeface="Symbol" panose="05050102010706020507" pitchFamily="18" charset="2"/>
              </a:rPr>
              <a:t>2</a:t>
            </a:r>
            <a:r>
              <a:rPr lang="es-ES" sz="2400">
                <a:sym typeface="Symbol" panose="05050102010706020507" pitchFamily="18" charset="2"/>
              </a:rPr>
              <a:t> finita, con V nulo.</a:t>
            </a:r>
            <a:endParaRPr lang="es-ES" sz="2400" dirty="0">
              <a:sym typeface="Symbol" panose="05050102010706020507" pitchFamily="18" charset="2"/>
            </a:endParaRP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5E9D0530-9468-44FE-A284-3844783C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483" y="5488210"/>
            <a:ext cx="8626924" cy="1275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El potencial de tierra se suele tomar como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referencia</a:t>
            </a:r>
            <a:r>
              <a:rPr lang="es-ES" sz="2400" dirty="0">
                <a:sym typeface="Symbol" panose="05050102010706020507" pitchFamily="18" charset="2"/>
              </a:rPr>
              <a:t> en circuitos, ya que la mayoría pueden conectarse a ella,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y se le asigna un potencial igual a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0 V</a:t>
            </a:r>
            <a:endParaRPr lang="es-ES" sz="2400" dirty="0">
              <a:solidFill>
                <a:srgbClr val="3333FF"/>
              </a:solidFill>
            </a:endParaRPr>
          </a:p>
        </p:txBody>
      </p:sp>
      <p:sp>
        <p:nvSpPr>
          <p:cNvPr id="22" name="Text Box 53">
            <a:extLst>
              <a:ext uri="{FF2B5EF4-FFF2-40B4-BE49-F238E27FC236}">
                <a16:creationId xmlns:a16="http://schemas.microsoft.com/office/drawing/2014/main" id="{5F4491BC-8A4E-443D-9D04-260FDC4C0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531" y="1136935"/>
            <a:ext cx="8640000" cy="12752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89991" tIns="82800" rIns="89991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 se idealiza la situación entre un conductor y la Tierra tomando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la Tierra como la 2ª esfera del Problema 6 del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Boletín 2 y el conductor como la 1ª: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21">
            <a:extLst>
              <a:ext uri="{FF2B5EF4-FFF2-40B4-BE49-F238E27FC236}">
                <a16:creationId xmlns:a16="http://schemas.microsoft.com/office/drawing/2014/main" id="{BA4DD772-E045-4391-9D2D-47C7E01C8793}"/>
              </a:ext>
            </a:extLst>
          </p:cNvPr>
          <p:cNvGrpSpPr>
            <a:grpSpLocks/>
          </p:cNvGrpSpPr>
          <p:nvPr/>
        </p:nvGrpSpPr>
        <p:grpSpPr bwMode="auto">
          <a:xfrm>
            <a:off x="1892641" y="2721942"/>
            <a:ext cx="1779588" cy="1268413"/>
            <a:chOff x="105" y="1792"/>
            <a:chExt cx="1121" cy="799"/>
          </a:xfrm>
        </p:grpSpPr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EF88D1A5-C2D8-44B1-8DF0-24B8A730B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" y="1792"/>
              <a:ext cx="1121" cy="799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25">
                  <a:extLst>
                    <a:ext uri="{FF2B5EF4-FFF2-40B4-BE49-F238E27FC236}">
                      <a16:creationId xmlns:a16="http://schemas.microsoft.com/office/drawing/2014/main" id="{7DDC3BCA-074C-456E-8B12-BBA435211ED7}"/>
                    </a:ext>
                  </a:extLst>
                </p:cNvPr>
                <p:cNvSpPr txBox="1"/>
                <p:nvPr/>
              </p:nvSpPr>
              <p:spPr bwMode="auto">
                <a:xfrm>
                  <a:off x="172" y="1888"/>
                  <a:ext cx="991" cy="6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s-ES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f>
                          <m:f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s-E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E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es-E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ES" sz="24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5" name="Object 25">
                  <a:extLst>
                    <a:ext uri="{FF2B5EF4-FFF2-40B4-BE49-F238E27FC236}">
                      <a16:creationId xmlns:a16="http://schemas.microsoft.com/office/drawing/2014/main" id="{7DDC3BCA-074C-456E-8B12-BBA435211E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2" y="1888"/>
                  <a:ext cx="991" cy="62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1">
            <a:extLst>
              <a:ext uri="{FF2B5EF4-FFF2-40B4-BE49-F238E27FC236}">
                <a16:creationId xmlns:a16="http://schemas.microsoft.com/office/drawing/2014/main" id="{91FA7519-A0D7-4F8F-8BE9-13A2F5BDE5D8}"/>
              </a:ext>
            </a:extLst>
          </p:cNvPr>
          <p:cNvGrpSpPr>
            <a:grpSpLocks/>
          </p:cNvGrpSpPr>
          <p:nvPr/>
        </p:nvGrpSpPr>
        <p:grpSpPr bwMode="auto">
          <a:xfrm>
            <a:off x="6205062" y="2727476"/>
            <a:ext cx="1779588" cy="1268413"/>
            <a:chOff x="105" y="1792"/>
            <a:chExt cx="1121" cy="799"/>
          </a:xfrm>
        </p:grpSpPr>
        <p:sp>
          <p:nvSpPr>
            <p:cNvPr id="27" name="Rectangle 20">
              <a:extLst>
                <a:ext uri="{FF2B5EF4-FFF2-40B4-BE49-F238E27FC236}">
                  <a16:creationId xmlns:a16="http://schemas.microsoft.com/office/drawing/2014/main" id="{B87C493F-8C85-494F-B9AC-1AA9AF9A5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" y="1792"/>
              <a:ext cx="1121" cy="799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25">
                  <a:extLst>
                    <a:ext uri="{FF2B5EF4-FFF2-40B4-BE49-F238E27FC236}">
                      <a16:creationId xmlns:a16="http://schemas.microsoft.com/office/drawing/2014/main" id="{449A3E19-C472-41F8-9F28-8AF75B39DE81}"/>
                    </a:ext>
                  </a:extLst>
                </p:cNvPr>
                <p:cNvSpPr txBox="1"/>
                <p:nvPr/>
              </p:nvSpPr>
              <p:spPr bwMode="auto">
                <a:xfrm>
                  <a:off x="172" y="1888"/>
                  <a:ext cx="991" cy="6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s-ES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f>
                          <m:f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s-E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E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es-E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ES" sz="24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8" name="Object 25">
                  <a:extLst>
                    <a:ext uri="{FF2B5EF4-FFF2-40B4-BE49-F238E27FC236}">
                      <a16:creationId xmlns:a16="http://schemas.microsoft.com/office/drawing/2014/main" id="{449A3E19-C472-41F8-9F28-8AF75B39D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2" y="1888"/>
                  <a:ext cx="991" cy="62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 Box 19">
            <a:extLst>
              <a:ext uri="{FF2B5EF4-FFF2-40B4-BE49-F238E27FC236}">
                <a16:creationId xmlns:a16="http://schemas.microsoft.com/office/drawing/2014/main" id="{90B0CC6E-46BA-471A-BEC1-FF16F1C20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303" y="3060381"/>
            <a:ext cx="121483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(Tierra)</a:t>
            </a:r>
          </a:p>
        </p:txBody>
      </p:sp>
      <p:sp>
        <p:nvSpPr>
          <p:cNvPr id="30" name="Text Box 19">
            <a:extLst>
              <a:ext uri="{FF2B5EF4-FFF2-40B4-BE49-F238E27FC236}">
                <a16:creationId xmlns:a16="http://schemas.microsoft.com/office/drawing/2014/main" id="{02DDCAB3-4136-45BA-9DF8-076F067D3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580" y="3063489"/>
            <a:ext cx="188601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(Conductor)</a:t>
            </a:r>
          </a:p>
        </p:txBody>
      </p:sp>
      <p:grpSp>
        <p:nvGrpSpPr>
          <p:cNvPr id="15" name="Group 23">
            <a:extLst>
              <a:ext uri="{FF2B5EF4-FFF2-40B4-BE49-F238E27FC236}">
                <a16:creationId xmlns:a16="http://schemas.microsoft.com/office/drawing/2014/main" id="{A9DC0E24-E159-484F-8393-B288FCA5F077}"/>
              </a:ext>
            </a:extLst>
          </p:cNvPr>
          <p:cNvGrpSpPr>
            <a:grpSpLocks/>
          </p:cNvGrpSpPr>
          <p:nvPr/>
        </p:nvGrpSpPr>
        <p:grpSpPr bwMode="auto">
          <a:xfrm>
            <a:off x="7275794" y="3079108"/>
            <a:ext cx="819150" cy="590550"/>
            <a:chOff x="779" y="2095"/>
            <a:chExt cx="516" cy="372"/>
          </a:xfrm>
        </p:grpSpPr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2B4C14F7-053A-4676-9F1F-F4F4F05D7B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9" y="2291"/>
              <a:ext cx="304" cy="17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1542F150-147E-4D56-92C4-630A8D795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" y="2095"/>
              <a:ext cx="22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FF0000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</p:grpSp>
      <p:grpSp>
        <p:nvGrpSpPr>
          <p:cNvPr id="18" name="Group 22">
            <a:extLst>
              <a:ext uri="{FF2B5EF4-FFF2-40B4-BE49-F238E27FC236}">
                <a16:creationId xmlns:a16="http://schemas.microsoft.com/office/drawing/2014/main" id="{343DADA7-1FE8-4021-9F24-0CEEC05CE39C}"/>
              </a:ext>
            </a:extLst>
          </p:cNvPr>
          <p:cNvGrpSpPr>
            <a:grpSpLocks/>
          </p:cNvGrpSpPr>
          <p:nvPr/>
        </p:nvGrpSpPr>
        <p:grpSpPr bwMode="auto">
          <a:xfrm>
            <a:off x="6271787" y="2858185"/>
            <a:ext cx="820737" cy="563563"/>
            <a:chOff x="181" y="1912"/>
            <a:chExt cx="517" cy="355"/>
          </a:xfrm>
        </p:grpSpPr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C3370FD0-1510-471D-9BD3-C50FE7EFF4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" y="2091"/>
              <a:ext cx="304" cy="17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F6758C47-5BAE-406D-8389-DFEDCE6B1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1912"/>
              <a:ext cx="228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FF0000"/>
                  </a:solidFill>
                  <a:sym typeface="Symbol" panose="05050102010706020507" pitchFamily="18" charset="2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051900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7" grpId="0" animBg="1"/>
      <p:bldP spid="8" grpId="0" animBg="1"/>
      <p:bldP spid="11" grpId="0" animBg="1"/>
      <p:bldP spid="22" grpId="0" animBg="1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8">
            <a:extLst>
              <a:ext uri="{FF2B5EF4-FFF2-40B4-BE49-F238E27FC236}">
                <a16:creationId xmlns:a16="http://schemas.microsoft.com/office/drawing/2014/main" id="{CF1FD4CA-3CB6-40F7-9A8D-1A3B570BE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575" y="1541566"/>
            <a:ext cx="8640000" cy="2064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Al conectar un conductor cargado a tierra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(las dos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esferas del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problema), como R</a:t>
            </a:r>
            <a:r>
              <a: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&gt;&gt;R</a:t>
            </a:r>
            <a:r>
              <a: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, casi todo el exceso de carga se transfiere a tierra para que con la redistribución se iguale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el potencial (para que se iguale el cociente Q/R). El cambio en el V de la Tierra es despreciable. 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29" name="Group 21">
            <a:extLst>
              <a:ext uri="{FF2B5EF4-FFF2-40B4-BE49-F238E27FC236}">
                <a16:creationId xmlns:a16="http://schemas.microsoft.com/office/drawing/2014/main" id="{F4D67028-ADA2-4756-94E4-96F7E8ED4626}"/>
              </a:ext>
            </a:extLst>
          </p:cNvPr>
          <p:cNvGrpSpPr>
            <a:grpSpLocks/>
          </p:cNvGrpSpPr>
          <p:nvPr/>
        </p:nvGrpSpPr>
        <p:grpSpPr bwMode="auto">
          <a:xfrm>
            <a:off x="1892641" y="297098"/>
            <a:ext cx="1779588" cy="1152525"/>
            <a:chOff x="105" y="1828"/>
            <a:chExt cx="1121" cy="726"/>
          </a:xfrm>
        </p:grpSpPr>
        <p:sp>
          <p:nvSpPr>
            <p:cNvPr id="30" name="Rectangle 20">
              <a:extLst>
                <a:ext uri="{FF2B5EF4-FFF2-40B4-BE49-F238E27FC236}">
                  <a16:creationId xmlns:a16="http://schemas.microsoft.com/office/drawing/2014/main" id="{890B2324-9E8B-4847-B857-BC75FDD7C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" y="1828"/>
              <a:ext cx="1121" cy="72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bject 25">
                  <a:extLst>
                    <a:ext uri="{FF2B5EF4-FFF2-40B4-BE49-F238E27FC236}">
                      <a16:creationId xmlns:a16="http://schemas.microsoft.com/office/drawing/2014/main" id="{38B3DE2C-7A04-4EE1-B390-5D298975D3FE}"/>
                    </a:ext>
                  </a:extLst>
                </p:cNvPr>
                <p:cNvSpPr txBox="1"/>
                <p:nvPr/>
              </p:nvSpPr>
              <p:spPr bwMode="auto">
                <a:xfrm>
                  <a:off x="172" y="1888"/>
                  <a:ext cx="991" cy="6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s-ES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f>
                          <m:f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s-E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E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es-E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ES" sz="24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1" name="Object 25">
                  <a:extLst>
                    <a:ext uri="{FF2B5EF4-FFF2-40B4-BE49-F238E27FC236}">
                      <a16:creationId xmlns:a16="http://schemas.microsoft.com/office/drawing/2014/main" id="{38B3DE2C-7A04-4EE1-B390-5D298975D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2" y="1888"/>
                  <a:ext cx="991" cy="62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21">
            <a:extLst>
              <a:ext uri="{FF2B5EF4-FFF2-40B4-BE49-F238E27FC236}">
                <a16:creationId xmlns:a16="http://schemas.microsoft.com/office/drawing/2014/main" id="{B7A25B43-C622-47F7-95A2-AC6BA559FD18}"/>
              </a:ext>
            </a:extLst>
          </p:cNvPr>
          <p:cNvGrpSpPr>
            <a:grpSpLocks/>
          </p:cNvGrpSpPr>
          <p:nvPr/>
        </p:nvGrpSpPr>
        <p:grpSpPr bwMode="auto">
          <a:xfrm>
            <a:off x="6205062" y="302632"/>
            <a:ext cx="1779588" cy="1152525"/>
            <a:chOff x="105" y="1828"/>
            <a:chExt cx="1121" cy="726"/>
          </a:xfrm>
        </p:grpSpPr>
        <p:sp>
          <p:nvSpPr>
            <p:cNvPr id="33" name="Rectangle 20">
              <a:extLst>
                <a:ext uri="{FF2B5EF4-FFF2-40B4-BE49-F238E27FC236}">
                  <a16:creationId xmlns:a16="http://schemas.microsoft.com/office/drawing/2014/main" id="{3DE34F8F-AE5D-43BB-B8F2-C1A6D3E1C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" y="1828"/>
              <a:ext cx="1121" cy="72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bject 25">
                  <a:extLst>
                    <a:ext uri="{FF2B5EF4-FFF2-40B4-BE49-F238E27FC236}">
                      <a16:creationId xmlns:a16="http://schemas.microsoft.com/office/drawing/2014/main" id="{4A842098-0C31-4A77-B13A-4B00A2BCA390}"/>
                    </a:ext>
                  </a:extLst>
                </p:cNvPr>
                <p:cNvSpPr txBox="1"/>
                <p:nvPr/>
              </p:nvSpPr>
              <p:spPr bwMode="auto">
                <a:xfrm>
                  <a:off x="172" y="1888"/>
                  <a:ext cx="991" cy="6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s-ES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f>
                          <m:f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s-E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E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es-ES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ES" sz="24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4" name="Object 25">
                  <a:extLst>
                    <a:ext uri="{FF2B5EF4-FFF2-40B4-BE49-F238E27FC236}">
                      <a16:creationId xmlns:a16="http://schemas.microsoft.com/office/drawing/2014/main" id="{4A842098-0C31-4A77-B13A-4B00A2BCA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2" y="1888"/>
                  <a:ext cx="991" cy="62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Text Box 19">
            <a:extLst>
              <a:ext uri="{FF2B5EF4-FFF2-40B4-BE49-F238E27FC236}">
                <a16:creationId xmlns:a16="http://schemas.microsoft.com/office/drawing/2014/main" id="{6069D146-FADB-4810-A703-D7A57CDA3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303" y="578388"/>
            <a:ext cx="121483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(Tierra)</a:t>
            </a:r>
          </a:p>
        </p:txBody>
      </p:sp>
      <p:sp>
        <p:nvSpPr>
          <p:cNvPr id="36" name="Text Box 19">
            <a:extLst>
              <a:ext uri="{FF2B5EF4-FFF2-40B4-BE49-F238E27FC236}">
                <a16:creationId xmlns:a16="http://schemas.microsoft.com/office/drawing/2014/main" id="{06C4681A-C594-4104-89FD-7DA2236AA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580" y="581496"/>
            <a:ext cx="188601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(Conductor)</a:t>
            </a:r>
          </a:p>
        </p:txBody>
      </p:sp>
      <p:sp>
        <p:nvSpPr>
          <p:cNvPr id="43" name="Text Box 8">
            <a:extLst>
              <a:ext uri="{FF2B5EF4-FFF2-40B4-BE49-F238E27FC236}">
                <a16:creationId xmlns:a16="http://schemas.microsoft.com/office/drawing/2014/main" id="{1ACE7911-4A42-4952-80C6-F20463A34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778" y="4740864"/>
            <a:ext cx="8646797" cy="956773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Pero la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Tierra no es 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 por tanto, no recibe toda la Q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y su V cambia levísimamente. Se tendría que: V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= V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 0 V.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69CE4109-BA6A-40F9-BA4A-9835943C5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778" y="3684391"/>
            <a:ext cx="8640000" cy="95677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Si se considera R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= , se transferiría todo, el V de la Tierra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no cambiaría y acabarían a V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= V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= 0 V.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" name="Text Box 19">
            <a:extLst>
              <a:ext uri="{FF2B5EF4-FFF2-40B4-BE49-F238E27FC236}">
                <a16:creationId xmlns:a16="http://schemas.microsoft.com/office/drawing/2014/main" id="{C7657474-EB22-0BFC-87A4-71873EDCA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778" y="5672927"/>
            <a:ext cx="8646797" cy="12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Un simil es poner en contacto un cubito de hielo y el océano: Se iguala T. Idealmente quedan a la que tenía el océano. Realmente a una casi igual, pasando algo menos de E</a:t>
            </a:r>
            <a:r>
              <a:rPr lang="es-ES" sz="2400" cap="all" baseline="-25000">
                <a:solidFill>
                  <a:srgbClr val="FF0000"/>
                </a:solidFill>
                <a:sym typeface="Symbol" panose="05050102010706020507" pitchFamily="18" charset="2"/>
              </a:rPr>
              <a:t>térmica</a:t>
            </a:r>
          </a:p>
        </p:txBody>
      </p:sp>
    </p:spTree>
    <p:extLst>
      <p:ext uri="{BB962C8B-B14F-4D97-AF65-F5344CB8AC3E}">
        <p14:creationId xmlns:p14="http://schemas.microsoft.com/office/powerpoint/2010/main" val="385331824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3" grpId="0" animBg="1"/>
      <p:bldP spid="13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8">
            <a:extLst>
              <a:ext uri="{FF2B5EF4-FFF2-40B4-BE49-F238E27FC236}">
                <a16:creationId xmlns:a16="http://schemas.microsoft.com/office/drawing/2014/main" id="{B0190469-091D-4958-AC8B-594566D25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466" y="731804"/>
            <a:ext cx="8646797" cy="16445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No obstante, la situación que tenga la Tierra, su V, sea cual sea en cada instante, se toma como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referencia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, e igual a </a:t>
            </a:r>
            <a:r>
              <a:rPr lang="es-ES" sz="2400">
                <a:solidFill>
                  <a:srgbClr val="3333FF"/>
                </a:solidFill>
                <a:sym typeface="Symbol" panose="05050102010706020507" pitchFamily="18" charset="2"/>
              </a:rPr>
              <a:t>0 V en todo momento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(se supone que no cambia, que cambia todo lo demás). Por tanto, al final, V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= V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= 0 V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0" name="Text Box 19">
            <a:extLst>
              <a:ext uri="{FF2B5EF4-FFF2-40B4-BE49-F238E27FC236}">
                <a16:creationId xmlns:a16="http://schemas.microsoft.com/office/drawing/2014/main" id="{95AC5044-1345-3EE8-0CFC-8A5B6D039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1972" y="2969835"/>
            <a:ext cx="6474374" cy="5365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Si un cuerpo está a 100 V respecto a tierra</a:t>
            </a: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5DE3EF3E-AAA7-4F41-2393-B30C6B829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1971" y="3687839"/>
            <a:ext cx="6474375" cy="905881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Si un 2º cuerpo entra en contacto con tierra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y quedan en opinión del anterior a 1 V</a:t>
            </a:r>
          </a:p>
        </p:txBody>
      </p:sp>
      <p:sp>
        <p:nvSpPr>
          <p:cNvPr id="12" name="Text Box 19">
            <a:extLst>
              <a:ext uri="{FF2B5EF4-FFF2-40B4-BE49-F238E27FC236}">
                <a16:creationId xmlns:a16="http://schemas.microsoft.com/office/drawing/2014/main" id="{1D31E12A-BB75-D7D7-C9D7-C395EE2CF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214" y="5321714"/>
            <a:ext cx="7041932" cy="90588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Se considera que el 2º cuerpo y tierra están a 0 V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y el 1º pasa a estar a 99 V</a:t>
            </a:r>
          </a:p>
        </p:txBody>
      </p:sp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2C9503BD-084C-F09B-8DB5-EEF592CCE412}"/>
              </a:ext>
            </a:extLst>
          </p:cNvPr>
          <p:cNvSpPr/>
          <p:nvPr/>
        </p:nvSpPr>
        <p:spPr bwMode="auto">
          <a:xfrm>
            <a:off x="5538636" y="4779527"/>
            <a:ext cx="462455" cy="388882"/>
          </a:xfrm>
          <a:prstGeom prst="down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5681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upo 86">
            <a:extLst>
              <a:ext uri="{FF2B5EF4-FFF2-40B4-BE49-F238E27FC236}">
                <a16:creationId xmlns:a16="http://schemas.microsoft.com/office/drawing/2014/main" id="{27A99033-B365-4741-873C-6850258E0904}"/>
              </a:ext>
            </a:extLst>
          </p:cNvPr>
          <p:cNvGrpSpPr/>
          <p:nvPr/>
        </p:nvGrpSpPr>
        <p:grpSpPr>
          <a:xfrm>
            <a:off x="9540629" y="1923595"/>
            <a:ext cx="492107" cy="539814"/>
            <a:chOff x="1575412" y="2335576"/>
            <a:chExt cx="492107" cy="539814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43015508-1464-40C8-BE4B-78C3D44C4AE5}"/>
                </a:ext>
              </a:extLst>
            </p:cNvPr>
            <p:cNvSpPr/>
            <p:nvPr/>
          </p:nvSpPr>
          <p:spPr bwMode="auto">
            <a:xfrm>
              <a:off x="1575412" y="2335576"/>
              <a:ext cx="492107" cy="539814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2AC75DD2-4E09-4FD5-A517-B9E6FDB3B3F2}"/>
                </a:ext>
              </a:extLst>
            </p:cNvPr>
            <p:cNvGrpSpPr/>
            <p:nvPr/>
          </p:nvGrpSpPr>
          <p:grpSpPr>
            <a:xfrm>
              <a:off x="1681546" y="2433703"/>
              <a:ext cx="295275" cy="327025"/>
              <a:chOff x="6267162" y="3495189"/>
              <a:chExt cx="295275" cy="327025"/>
            </a:xfrm>
            <a:solidFill>
              <a:schemeClr val="accent2"/>
            </a:solidFill>
          </p:grpSpPr>
          <p:sp>
            <p:nvSpPr>
              <p:cNvPr id="22" name="Oval 54">
                <a:extLst>
                  <a:ext uri="{FF2B5EF4-FFF2-40B4-BE49-F238E27FC236}">
                    <a16:creationId xmlns:a16="http://schemas.microsoft.com/office/drawing/2014/main" id="{D8700DAC-F927-49A4-9B5B-5EE4E9825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3050" y="3495189"/>
                <a:ext cx="58737" cy="63500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3" name="Line 55">
                <a:extLst>
                  <a:ext uri="{FF2B5EF4-FFF2-40B4-BE49-F238E27FC236}">
                    <a16:creationId xmlns:a16="http://schemas.microsoft.com/office/drawing/2014/main" id="{2246B959-C986-405E-A042-01DACCABE1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337012" y="3601551"/>
                <a:ext cx="160337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4" name="Line 56">
                <a:extLst>
                  <a:ext uri="{FF2B5EF4-FFF2-40B4-BE49-F238E27FC236}">
                    <a16:creationId xmlns:a16="http://schemas.microsoft.com/office/drawing/2014/main" id="{3AE0A040-CE69-4FAD-85DC-D27ED6E42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67162" y="3680926"/>
                <a:ext cx="295275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5" name="Line 57">
                <a:extLst>
                  <a:ext uri="{FF2B5EF4-FFF2-40B4-BE49-F238E27FC236}">
                    <a16:creationId xmlns:a16="http://schemas.microsoft.com/office/drawing/2014/main" id="{6E9C7939-E0BC-4F3D-8CD7-FA333C625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13200" y="3729074"/>
                <a:ext cx="207962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6" name="Line 58">
                <a:extLst>
                  <a:ext uri="{FF2B5EF4-FFF2-40B4-BE49-F238E27FC236}">
                    <a16:creationId xmlns:a16="http://schemas.microsoft.com/office/drawing/2014/main" id="{CD4AF336-EB29-487A-9A97-16419974BC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48125" y="3769826"/>
                <a:ext cx="119062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" name="Line 59">
                <a:extLst>
                  <a:ext uri="{FF2B5EF4-FFF2-40B4-BE49-F238E27FC236}">
                    <a16:creationId xmlns:a16="http://schemas.microsoft.com/office/drawing/2014/main" id="{F506ACBC-FEA7-4E83-949C-33C516C168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95750" y="3822214"/>
                <a:ext cx="28575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</p:grp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ECEA3479-D452-4E8F-93E0-B857FFFA98DB}"/>
              </a:ext>
            </a:extLst>
          </p:cNvPr>
          <p:cNvGrpSpPr/>
          <p:nvPr/>
        </p:nvGrpSpPr>
        <p:grpSpPr>
          <a:xfrm>
            <a:off x="9558987" y="5674855"/>
            <a:ext cx="492107" cy="539814"/>
            <a:chOff x="1593770" y="5725099"/>
            <a:chExt cx="492107" cy="539814"/>
          </a:xfrm>
        </p:grpSpPr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32AACBC7-020F-4DC7-B671-F2BB7DFBFC94}"/>
                </a:ext>
              </a:extLst>
            </p:cNvPr>
            <p:cNvSpPr/>
            <p:nvPr/>
          </p:nvSpPr>
          <p:spPr bwMode="auto">
            <a:xfrm>
              <a:off x="1593770" y="5725099"/>
              <a:ext cx="492107" cy="539814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033428CA-8286-4A8B-987D-3A253FCCFCE8}"/>
                </a:ext>
              </a:extLst>
            </p:cNvPr>
            <p:cNvGrpSpPr/>
            <p:nvPr/>
          </p:nvGrpSpPr>
          <p:grpSpPr>
            <a:xfrm>
              <a:off x="1717894" y="5805797"/>
              <a:ext cx="247216" cy="373939"/>
              <a:chOff x="8916017" y="5166949"/>
              <a:chExt cx="247216" cy="373939"/>
            </a:xfrm>
          </p:grpSpPr>
          <p:sp>
            <p:nvSpPr>
              <p:cNvPr id="74" name="Oval 54">
                <a:extLst>
                  <a:ext uri="{FF2B5EF4-FFF2-40B4-BE49-F238E27FC236}">
                    <a16:creationId xmlns:a16="http://schemas.microsoft.com/office/drawing/2014/main" id="{30027933-C19F-47AE-B9B6-5F3A33904A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11442" y="5166949"/>
                <a:ext cx="58737" cy="635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75" name="Line 55">
                <a:extLst>
                  <a:ext uri="{FF2B5EF4-FFF2-40B4-BE49-F238E27FC236}">
                    <a16:creationId xmlns:a16="http://schemas.microsoft.com/office/drawing/2014/main" id="{EF6629BC-B6EE-43A8-A68C-EEA1B3E94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964219" y="5273311"/>
                <a:ext cx="16033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6" name="Triángulo isósceles 75">
                <a:extLst>
                  <a:ext uri="{FF2B5EF4-FFF2-40B4-BE49-F238E27FC236}">
                    <a16:creationId xmlns:a16="http://schemas.microsoft.com/office/drawing/2014/main" id="{81CB708E-A23F-42C9-BF50-E4C019296585}"/>
                  </a:ext>
                </a:extLst>
              </p:cNvPr>
              <p:cNvSpPr/>
              <p:nvPr/>
            </p:nvSpPr>
            <p:spPr bwMode="auto">
              <a:xfrm flipV="1">
                <a:off x="8916017" y="5354229"/>
                <a:ext cx="247216" cy="186659"/>
              </a:xfrm>
              <a:prstGeom prst="triangl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79200" tIns="39600" rIns="79200" bIns="396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5635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B2413904-703F-4C97-BC14-54FECD19CA49}"/>
              </a:ext>
            </a:extLst>
          </p:cNvPr>
          <p:cNvGrpSpPr/>
          <p:nvPr/>
        </p:nvGrpSpPr>
        <p:grpSpPr>
          <a:xfrm>
            <a:off x="9549808" y="3674165"/>
            <a:ext cx="492107" cy="539814"/>
            <a:chOff x="1584591" y="3865083"/>
            <a:chExt cx="492107" cy="539814"/>
          </a:xfrm>
        </p:grpSpPr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9FD8BBA3-13FE-4041-85F4-8D08BF0CB77F}"/>
                </a:ext>
              </a:extLst>
            </p:cNvPr>
            <p:cNvSpPr/>
            <p:nvPr/>
          </p:nvSpPr>
          <p:spPr bwMode="auto">
            <a:xfrm>
              <a:off x="1584591" y="3865083"/>
              <a:ext cx="492107" cy="539814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917D4AA-EF2A-408C-9D13-9BC51518CF5F}"/>
                </a:ext>
              </a:extLst>
            </p:cNvPr>
            <p:cNvGrpSpPr/>
            <p:nvPr/>
          </p:nvGrpSpPr>
          <p:grpSpPr>
            <a:xfrm>
              <a:off x="1687471" y="3951543"/>
              <a:ext cx="300367" cy="352320"/>
              <a:chOff x="8454982" y="5457041"/>
              <a:chExt cx="300367" cy="352320"/>
            </a:xfrm>
          </p:grpSpPr>
          <p:sp>
            <p:nvSpPr>
              <p:cNvPr id="68" name="Oval 54">
                <a:extLst>
                  <a:ext uri="{FF2B5EF4-FFF2-40B4-BE49-F238E27FC236}">
                    <a16:creationId xmlns:a16="http://schemas.microsoft.com/office/drawing/2014/main" id="{992CA423-FC5E-4BCB-B2AD-A3BC5E1EB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85794" y="5457041"/>
                <a:ext cx="58737" cy="635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69" name="Line 55">
                <a:extLst>
                  <a:ext uri="{FF2B5EF4-FFF2-40B4-BE49-F238E27FC236}">
                    <a16:creationId xmlns:a16="http://schemas.microsoft.com/office/drawing/2014/main" id="{DD52A00B-A3BC-4E0D-82C3-C391021E05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529924" y="5563403"/>
                <a:ext cx="16033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0" name="Line 56">
                <a:extLst>
                  <a:ext uri="{FF2B5EF4-FFF2-40B4-BE49-F238E27FC236}">
                    <a16:creationId xmlns:a16="http://schemas.microsoft.com/office/drawing/2014/main" id="{B9DA246F-B622-41C3-AC4B-A280290C3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60074" y="5642778"/>
                <a:ext cx="2952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1" name="Line 56">
                <a:extLst>
                  <a:ext uri="{FF2B5EF4-FFF2-40B4-BE49-F238E27FC236}">
                    <a16:creationId xmlns:a16="http://schemas.microsoft.com/office/drawing/2014/main" id="{EF5C40FB-67A9-48C5-B066-2AC5FF6C8F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54982" y="5650716"/>
                <a:ext cx="101886" cy="14524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2" name="Line 56">
                <a:extLst>
                  <a:ext uri="{FF2B5EF4-FFF2-40B4-BE49-F238E27FC236}">
                    <a16:creationId xmlns:a16="http://schemas.microsoft.com/office/drawing/2014/main" id="{99397E2C-7351-46D7-9C77-5E15C70E8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16948" y="5662438"/>
                <a:ext cx="101886" cy="14524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3" name="Line 56">
                <a:extLst>
                  <a:ext uri="{FF2B5EF4-FFF2-40B4-BE49-F238E27FC236}">
                    <a16:creationId xmlns:a16="http://schemas.microsoft.com/office/drawing/2014/main" id="{903A0AC6-9190-40F1-B07C-BCA9D6D745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99009" y="5664114"/>
                <a:ext cx="101886" cy="14524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 anchorCtr="1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80" name="Text Box 25">
            <a:extLst>
              <a:ext uri="{FF2B5EF4-FFF2-40B4-BE49-F238E27FC236}">
                <a16:creationId xmlns:a16="http://schemas.microsoft.com/office/drawing/2014/main" id="{3C412A98-3005-4CC8-8B83-FEBD294A4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055" y="426412"/>
            <a:ext cx="8853182" cy="956773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108000" rIns="180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/>
              <a:t>Si un circuito no tiene ninguno de sus puntos conectado a una </a:t>
            </a:r>
            <a:r>
              <a:rPr lang="es-ES" sz="2400" dirty="0">
                <a:solidFill>
                  <a:srgbClr val="3333FF"/>
                </a:solidFill>
              </a:rPr>
              <a:t>referencia </a:t>
            </a:r>
            <a:r>
              <a:rPr lang="es-ES" sz="2400">
                <a:solidFill>
                  <a:srgbClr val="3333FF"/>
                </a:solidFill>
              </a:rPr>
              <a:t>de potencial </a:t>
            </a:r>
            <a:r>
              <a:rPr lang="es-ES" sz="2400"/>
              <a:t>se </a:t>
            </a:r>
            <a:r>
              <a:rPr lang="es-ES" sz="2400" dirty="0"/>
              <a:t>dice que está </a:t>
            </a:r>
            <a:r>
              <a:rPr lang="es-ES" sz="2400" dirty="0">
                <a:solidFill>
                  <a:srgbClr val="3333FF"/>
                </a:solidFill>
              </a:rPr>
              <a:t>flotante</a:t>
            </a:r>
            <a:r>
              <a:rPr lang="es-ES" sz="2400" dirty="0">
                <a:solidFill>
                  <a:schemeClr val="tx1"/>
                </a:solidFill>
              </a:rPr>
              <a:t>.</a:t>
            </a:r>
            <a:endParaRPr lang="es-ES" sz="2400" dirty="0"/>
          </a:p>
        </p:txBody>
      </p:sp>
      <p:sp>
        <p:nvSpPr>
          <p:cNvPr id="81" name="Text Box 25">
            <a:extLst>
              <a:ext uri="{FF2B5EF4-FFF2-40B4-BE49-F238E27FC236}">
                <a16:creationId xmlns:a16="http://schemas.microsoft.com/office/drawing/2014/main" id="{8CE0639A-8F03-4046-AE74-A886B2B85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203" y="1688032"/>
            <a:ext cx="7915477" cy="9567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108000" rIns="180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/>
              <a:t>Si tiene uno conectado a </a:t>
            </a:r>
            <a:r>
              <a:rPr lang="es-ES" sz="2400" dirty="0">
                <a:solidFill>
                  <a:srgbClr val="3333FF"/>
                </a:solidFill>
              </a:rPr>
              <a:t>tierra</a:t>
            </a:r>
            <a:r>
              <a:rPr lang="es-ES" sz="2400" dirty="0"/>
              <a:t>, ese punto estará al potencial de tierra, que será la referencia de potencial</a:t>
            </a:r>
            <a:r>
              <a:rPr lang="es-ES" sz="2400" dirty="0">
                <a:solidFill>
                  <a:schemeClr val="tx1"/>
                </a:solidFill>
              </a:rPr>
              <a:t>.</a:t>
            </a:r>
            <a:endParaRPr lang="es-ES" sz="2400" dirty="0"/>
          </a:p>
        </p:txBody>
      </p:sp>
      <p:sp>
        <p:nvSpPr>
          <p:cNvPr id="82" name="Text Box 25">
            <a:extLst>
              <a:ext uri="{FF2B5EF4-FFF2-40B4-BE49-F238E27FC236}">
                <a16:creationId xmlns:a16="http://schemas.microsoft.com/office/drawing/2014/main" id="{109143A8-F6E3-486B-B224-E22226124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204" y="3040087"/>
            <a:ext cx="7922942" cy="1695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108000" rIns="180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/>
              <a:t>Si tiene uno conectado a las estructura metálica </a:t>
            </a:r>
            <a:r>
              <a:rPr lang="es-ES" sz="2400"/>
              <a:t>del sistema </a:t>
            </a:r>
            <a:r>
              <a:rPr lang="es-ES" sz="2400">
                <a:solidFill>
                  <a:srgbClr val="3333FF"/>
                </a:solidFill>
              </a:rPr>
              <a:t>(chasis, a masa)</a:t>
            </a:r>
            <a:r>
              <a:rPr lang="es-ES" sz="2400"/>
              <a:t>, </a:t>
            </a:r>
            <a:r>
              <a:rPr lang="es-ES" sz="2400" dirty="0"/>
              <a:t>ese punto estará al potencial del chasis, que será la referencia de potencial</a:t>
            </a:r>
            <a:r>
              <a:rPr lang="es-ES" sz="2400" dirty="0">
                <a:solidFill>
                  <a:schemeClr val="tx1"/>
                </a:solidFill>
              </a:rPr>
              <a:t>. El chasis puede estar conectado, a su vez, a tierra.</a:t>
            </a:r>
            <a:endParaRPr lang="es-ES" sz="2400" dirty="0"/>
          </a:p>
        </p:txBody>
      </p:sp>
      <p:sp>
        <p:nvSpPr>
          <p:cNvPr id="83" name="Text Box 25">
            <a:extLst>
              <a:ext uri="{FF2B5EF4-FFF2-40B4-BE49-F238E27FC236}">
                <a16:creationId xmlns:a16="http://schemas.microsoft.com/office/drawing/2014/main" id="{2CE8BFA9-688E-4929-9BD1-AF6BAE2F1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204" y="5050416"/>
            <a:ext cx="7915476" cy="1695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108000" rIns="180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/>
              <a:t>Se puede usar como referencia la </a:t>
            </a:r>
            <a:r>
              <a:rPr lang="es-ES" sz="2400" err="1"/>
              <a:t>ddp</a:t>
            </a:r>
            <a:r>
              <a:rPr lang="es-ES" sz="2400"/>
              <a:t> aplicada en un punto respecto a tierra </a:t>
            </a:r>
            <a:r>
              <a:rPr lang="es-ES" sz="2400" dirty="0"/>
              <a:t>o al </a:t>
            </a:r>
            <a:r>
              <a:rPr lang="es-ES" sz="2400"/>
              <a:t>chasis </a:t>
            </a:r>
            <a:r>
              <a:rPr lang="es-ES" sz="2400">
                <a:solidFill>
                  <a:srgbClr val="3333FF"/>
                </a:solidFill>
              </a:rPr>
              <a:t>(señal)</a:t>
            </a:r>
            <a:r>
              <a:rPr lang="es-ES" sz="2400"/>
              <a:t>.</a:t>
            </a:r>
            <a:r>
              <a:rPr lang="es-ES" sz="2400">
                <a:solidFill>
                  <a:schemeClr val="tx1"/>
                </a:solidFill>
              </a:rPr>
              <a:t> Esa señal, esa ddp, </a:t>
            </a:r>
            <a:r>
              <a:rPr lang="es-ES" sz="2400" dirty="0">
                <a:solidFill>
                  <a:schemeClr val="tx1"/>
                </a:solidFill>
              </a:rPr>
              <a:t>puede ser constante </a:t>
            </a:r>
            <a:r>
              <a:rPr lang="es-ES" sz="2400" dirty="0">
                <a:solidFill>
                  <a:srgbClr val="3333FF"/>
                </a:solidFill>
              </a:rPr>
              <a:t>(nivel de </a:t>
            </a:r>
            <a:r>
              <a:rPr lang="es-ES" sz="2400">
                <a:solidFill>
                  <a:srgbClr val="3333FF"/>
                </a:solidFill>
              </a:rPr>
              <a:t>continua)</a:t>
            </a:r>
            <a:r>
              <a:rPr lang="es-ES" sz="2400">
                <a:solidFill>
                  <a:schemeClr val="tx1"/>
                </a:solidFill>
              </a:rPr>
              <a:t>, </a:t>
            </a:r>
            <a:r>
              <a:rPr lang="es-ES" sz="2400" dirty="0">
                <a:solidFill>
                  <a:schemeClr val="tx1"/>
                </a:solidFill>
              </a:rPr>
              <a:t>y valer cero respecto a tierra (ser tierra).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23931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 animBg="1"/>
      <p:bldP spid="82" grpId="0" animBg="1"/>
      <p:bldP spid="8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ext Box 7"/>
          <p:cNvSpPr txBox="1">
            <a:spLocks noChangeArrowheads="1"/>
          </p:cNvSpPr>
          <p:nvPr/>
        </p:nvSpPr>
        <p:spPr bwMode="auto">
          <a:xfrm>
            <a:off x="6268881" y="343506"/>
            <a:ext cx="3974020" cy="88407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Conductor hueco cargado, conectado luego a tierra</a:t>
            </a:r>
          </a:p>
        </p:txBody>
      </p:sp>
      <p:sp>
        <p:nvSpPr>
          <p:cNvPr id="8239" name="AutoShape 6"/>
          <p:cNvSpPr>
            <a:spLocks noChangeArrowheads="1"/>
          </p:cNvSpPr>
          <p:nvPr/>
        </p:nvSpPr>
        <p:spPr bwMode="auto">
          <a:xfrm>
            <a:off x="1811338" y="1692619"/>
            <a:ext cx="2879725" cy="2879725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7 w 21600"/>
              <a:gd name="T25" fmla="*/ 3167 h 21600"/>
              <a:gd name="T26" fmla="*/ 18433 w 21600"/>
              <a:gd name="T27" fmla="*/ 1843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CCFFCC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GB" sz="2400"/>
          </a:p>
        </p:txBody>
      </p:sp>
      <p:grpSp>
        <p:nvGrpSpPr>
          <p:cNvPr id="2" name="59 Grupo"/>
          <p:cNvGrpSpPr>
            <a:grpSpLocks/>
          </p:cNvGrpSpPr>
          <p:nvPr/>
        </p:nvGrpSpPr>
        <p:grpSpPr bwMode="auto">
          <a:xfrm>
            <a:off x="1746250" y="1581494"/>
            <a:ext cx="3009900" cy="3089275"/>
            <a:chOff x="1300163" y="3779838"/>
            <a:chExt cx="3009900" cy="3089275"/>
          </a:xfrm>
        </p:grpSpPr>
        <p:sp>
          <p:nvSpPr>
            <p:cNvPr id="13346" name="Text Box 9"/>
            <p:cNvSpPr txBox="1">
              <a:spLocks noChangeArrowheads="1"/>
            </p:cNvSpPr>
            <p:nvPr/>
          </p:nvSpPr>
          <p:spPr bwMode="auto">
            <a:xfrm>
              <a:off x="2609851" y="6411913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47" name="Text Box 8"/>
            <p:cNvSpPr txBox="1">
              <a:spLocks noChangeArrowheads="1"/>
            </p:cNvSpPr>
            <p:nvPr/>
          </p:nvSpPr>
          <p:spPr bwMode="auto">
            <a:xfrm>
              <a:off x="2616201" y="3779838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48" name="Text Box 10"/>
            <p:cNvSpPr txBox="1">
              <a:spLocks noChangeArrowheads="1"/>
            </p:cNvSpPr>
            <p:nvPr/>
          </p:nvSpPr>
          <p:spPr bwMode="auto">
            <a:xfrm>
              <a:off x="1300163" y="5051426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49" name="Text Box 11"/>
            <p:cNvSpPr txBox="1">
              <a:spLocks noChangeArrowheads="1"/>
            </p:cNvSpPr>
            <p:nvPr/>
          </p:nvSpPr>
          <p:spPr bwMode="auto">
            <a:xfrm>
              <a:off x="3951288" y="5137151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50" name="Text Box 12"/>
            <p:cNvSpPr txBox="1">
              <a:spLocks noChangeArrowheads="1"/>
            </p:cNvSpPr>
            <p:nvPr/>
          </p:nvSpPr>
          <p:spPr bwMode="auto">
            <a:xfrm>
              <a:off x="1509713" y="4413251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51" name="Text Box 13"/>
            <p:cNvSpPr txBox="1">
              <a:spLocks noChangeArrowheads="1"/>
            </p:cNvSpPr>
            <p:nvPr/>
          </p:nvSpPr>
          <p:spPr bwMode="auto">
            <a:xfrm>
              <a:off x="1914526" y="3963988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52" name="Text Box 14"/>
            <p:cNvSpPr txBox="1">
              <a:spLocks noChangeArrowheads="1"/>
            </p:cNvSpPr>
            <p:nvPr/>
          </p:nvSpPr>
          <p:spPr bwMode="auto">
            <a:xfrm>
              <a:off x="3305176" y="3963988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53" name="Text Box 15"/>
            <p:cNvSpPr txBox="1">
              <a:spLocks noChangeArrowheads="1"/>
            </p:cNvSpPr>
            <p:nvPr/>
          </p:nvSpPr>
          <p:spPr bwMode="auto">
            <a:xfrm>
              <a:off x="3779838" y="4468813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54" name="Text Box 16"/>
            <p:cNvSpPr txBox="1">
              <a:spLocks noChangeArrowheads="1"/>
            </p:cNvSpPr>
            <p:nvPr/>
          </p:nvSpPr>
          <p:spPr bwMode="auto">
            <a:xfrm>
              <a:off x="1493838" y="5735638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55" name="Text Box 17"/>
            <p:cNvSpPr txBox="1">
              <a:spLocks noChangeArrowheads="1"/>
            </p:cNvSpPr>
            <p:nvPr/>
          </p:nvSpPr>
          <p:spPr bwMode="auto">
            <a:xfrm>
              <a:off x="3763963" y="5791201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56" name="Text Box 18"/>
            <p:cNvSpPr txBox="1">
              <a:spLocks noChangeArrowheads="1"/>
            </p:cNvSpPr>
            <p:nvPr/>
          </p:nvSpPr>
          <p:spPr bwMode="auto">
            <a:xfrm>
              <a:off x="1906588" y="6199188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57" name="Text Box 19"/>
            <p:cNvSpPr txBox="1">
              <a:spLocks noChangeArrowheads="1"/>
            </p:cNvSpPr>
            <p:nvPr/>
          </p:nvSpPr>
          <p:spPr bwMode="auto">
            <a:xfrm>
              <a:off x="3297238" y="6199188"/>
              <a:ext cx="358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266278" name="Text Box 38"/>
          <p:cNvSpPr txBox="1">
            <a:spLocks noChangeArrowheads="1"/>
          </p:cNvSpPr>
          <p:nvPr/>
        </p:nvSpPr>
        <p:spPr bwMode="auto">
          <a:xfrm>
            <a:off x="6387681" y="4440028"/>
            <a:ext cx="2011362" cy="536549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TIERRA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66281" name="Text Box 41"/>
          <p:cNvSpPr txBox="1">
            <a:spLocks noChangeArrowheads="1"/>
          </p:cNvSpPr>
          <p:nvPr/>
        </p:nvSpPr>
        <p:spPr bwMode="auto">
          <a:xfrm>
            <a:off x="5506497" y="3118877"/>
            <a:ext cx="4742821" cy="120251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tIns="46800" rIns="18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Tras conectar, hay una corriente entre el conductor y tierra hasta alcanzar el mismo potencial</a:t>
            </a:r>
          </a:p>
        </p:txBody>
      </p:sp>
      <p:sp>
        <p:nvSpPr>
          <p:cNvPr id="266294" name="Text Box 54"/>
          <p:cNvSpPr txBox="1">
            <a:spLocks noChangeArrowheads="1"/>
          </p:cNvSpPr>
          <p:nvPr/>
        </p:nvSpPr>
        <p:spPr bwMode="auto">
          <a:xfrm>
            <a:off x="1879600" y="1608481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8214" name="Text Box 55"/>
          <p:cNvSpPr txBox="1">
            <a:spLocks noChangeArrowheads="1"/>
          </p:cNvSpPr>
          <p:nvPr/>
        </p:nvSpPr>
        <p:spPr bwMode="auto">
          <a:xfrm>
            <a:off x="4996056" y="1440542"/>
            <a:ext cx="1147852" cy="51473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INICIO</a:t>
            </a:r>
          </a:p>
        </p:txBody>
      </p:sp>
      <p:sp>
        <p:nvSpPr>
          <p:cNvPr id="8216" name="Text Box 57"/>
          <p:cNvSpPr txBox="1">
            <a:spLocks noChangeArrowheads="1"/>
          </p:cNvSpPr>
          <p:nvPr/>
        </p:nvSpPr>
        <p:spPr bwMode="auto">
          <a:xfrm>
            <a:off x="4996057" y="4449971"/>
            <a:ext cx="1139304" cy="53654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FIN</a:t>
            </a:r>
          </a:p>
        </p:txBody>
      </p:sp>
      <p:grpSp>
        <p:nvGrpSpPr>
          <p:cNvPr id="55362" name="Group 66"/>
          <p:cNvGrpSpPr>
            <a:grpSpLocks/>
          </p:cNvGrpSpPr>
          <p:nvPr/>
        </p:nvGrpSpPr>
        <p:grpSpPr bwMode="auto">
          <a:xfrm>
            <a:off x="1597025" y="4043706"/>
            <a:ext cx="1039813" cy="887413"/>
            <a:chOff x="838" y="3026"/>
            <a:chExt cx="655" cy="559"/>
          </a:xfrm>
        </p:grpSpPr>
        <p:sp>
          <p:nvSpPr>
            <p:cNvPr id="13340" name="Line 30"/>
            <p:cNvSpPr>
              <a:spLocks noChangeShapeType="1"/>
            </p:cNvSpPr>
            <p:nvPr/>
          </p:nvSpPr>
          <p:spPr bwMode="auto">
            <a:xfrm flipH="1">
              <a:off x="962" y="3026"/>
              <a:ext cx="226" cy="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41" name="Line 31"/>
            <p:cNvSpPr>
              <a:spLocks noChangeShapeType="1"/>
            </p:cNvSpPr>
            <p:nvPr/>
          </p:nvSpPr>
          <p:spPr bwMode="auto">
            <a:xfrm>
              <a:off x="962" y="3040"/>
              <a:ext cx="7" cy="23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42" name="Line 32"/>
            <p:cNvSpPr>
              <a:spLocks noChangeShapeType="1"/>
            </p:cNvSpPr>
            <p:nvPr/>
          </p:nvSpPr>
          <p:spPr bwMode="auto">
            <a:xfrm flipH="1">
              <a:off x="838" y="3289"/>
              <a:ext cx="27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43" name="Line 34"/>
            <p:cNvSpPr>
              <a:spLocks noChangeShapeType="1"/>
            </p:cNvSpPr>
            <p:nvPr/>
          </p:nvSpPr>
          <p:spPr bwMode="auto">
            <a:xfrm flipH="1" flipV="1">
              <a:off x="881" y="3329"/>
              <a:ext cx="179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44" name="Line 35"/>
            <p:cNvSpPr>
              <a:spLocks noChangeShapeType="1"/>
            </p:cNvSpPr>
            <p:nvPr/>
          </p:nvSpPr>
          <p:spPr bwMode="auto">
            <a:xfrm flipH="1">
              <a:off x="916" y="3367"/>
              <a:ext cx="10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45" name="Text Box 58"/>
            <p:cNvSpPr txBox="1">
              <a:spLocks noChangeArrowheads="1"/>
            </p:cNvSpPr>
            <p:nvPr/>
          </p:nvSpPr>
          <p:spPr bwMode="auto">
            <a:xfrm>
              <a:off x="1003" y="3354"/>
              <a:ext cx="4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Tierra</a:t>
              </a:r>
            </a:p>
          </p:txBody>
        </p:sp>
      </p:grpSp>
      <p:sp>
        <p:nvSpPr>
          <p:cNvPr id="8246" name="Text Box 54"/>
          <p:cNvSpPr txBox="1">
            <a:spLocks noChangeArrowheads="1"/>
          </p:cNvSpPr>
          <p:nvPr/>
        </p:nvSpPr>
        <p:spPr bwMode="auto">
          <a:xfrm>
            <a:off x="6322650" y="1454439"/>
            <a:ext cx="1451336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Equilibrio</a:t>
            </a:r>
          </a:p>
        </p:txBody>
      </p:sp>
      <p:sp>
        <p:nvSpPr>
          <p:cNvPr id="55357" name="Text Box 20"/>
          <p:cNvSpPr txBox="1">
            <a:spLocks noChangeArrowheads="1"/>
          </p:cNvSpPr>
          <p:nvPr/>
        </p:nvSpPr>
        <p:spPr bwMode="auto">
          <a:xfrm>
            <a:off x="6396699" y="2470952"/>
            <a:ext cx="3097069" cy="536549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f(Q) 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 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TIERRA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5361" name="Group 65"/>
          <p:cNvGrpSpPr>
            <a:grpSpLocks/>
          </p:cNvGrpSpPr>
          <p:nvPr/>
        </p:nvGrpSpPr>
        <p:grpSpPr bwMode="auto">
          <a:xfrm>
            <a:off x="7795735" y="1428394"/>
            <a:ext cx="2573338" cy="854075"/>
            <a:chOff x="4582" y="1242"/>
            <a:chExt cx="1621" cy="538"/>
          </a:xfrm>
        </p:grpSpPr>
        <p:sp>
          <p:nvSpPr>
            <p:cNvPr id="13337" name="Text Box 20"/>
            <p:cNvSpPr txBox="1">
              <a:spLocks noChangeArrowheads="1"/>
            </p:cNvSpPr>
            <p:nvPr/>
          </p:nvSpPr>
          <p:spPr bwMode="auto">
            <a:xfrm>
              <a:off x="4786" y="1530"/>
              <a:ext cx="7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cte.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3338" name="Text Box 57"/>
            <p:cNvSpPr txBox="1">
              <a:spLocks noChangeArrowheads="1"/>
            </p:cNvSpPr>
            <p:nvPr/>
          </p:nvSpPr>
          <p:spPr bwMode="auto">
            <a:xfrm>
              <a:off x="4784" y="1242"/>
              <a:ext cx="141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 en superficie</a:t>
              </a:r>
            </a:p>
          </p:txBody>
        </p:sp>
        <p:sp>
          <p:nvSpPr>
            <p:cNvPr id="13339" name="AutoShape 62"/>
            <p:cNvSpPr>
              <a:spLocks/>
            </p:cNvSpPr>
            <p:nvPr/>
          </p:nvSpPr>
          <p:spPr bwMode="auto">
            <a:xfrm>
              <a:off x="4582" y="1302"/>
              <a:ext cx="172" cy="476"/>
            </a:xfrm>
            <a:prstGeom prst="leftBrace">
              <a:avLst>
                <a:gd name="adj1" fmla="val 41193"/>
                <a:gd name="adj2" fmla="val 23977"/>
              </a:avLst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/>
            </a:p>
          </p:txBody>
        </p:sp>
      </p:grpSp>
      <p:grpSp>
        <p:nvGrpSpPr>
          <p:cNvPr id="55363" name="Group 67"/>
          <p:cNvGrpSpPr>
            <a:grpSpLocks/>
          </p:cNvGrpSpPr>
          <p:nvPr/>
        </p:nvGrpSpPr>
        <p:grpSpPr bwMode="auto">
          <a:xfrm>
            <a:off x="1455740" y="3407123"/>
            <a:ext cx="468313" cy="925513"/>
            <a:chOff x="749" y="2625"/>
            <a:chExt cx="295" cy="583"/>
          </a:xfrm>
        </p:grpSpPr>
        <p:sp>
          <p:nvSpPr>
            <p:cNvPr id="13335" name="Freeform 40"/>
            <p:cNvSpPr>
              <a:spLocks/>
            </p:cNvSpPr>
            <p:nvPr/>
          </p:nvSpPr>
          <p:spPr bwMode="auto">
            <a:xfrm flipH="1">
              <a:off x="840" y="2909"/>
              <a:ext cx="204" cy="299"/>
            </a:xfrm>
            <a:custGeom>
              <a:avLst/>
              <a:gdLst>
                <a:gd name="T0" fmla="*/ 0 w 204"/>
                <a:gd name="T1" fmla="*/ 0 h 299"/>
                <a:gd name="T2" fmla="*/ 2147483646 w 204"/>
                <a:gd name="T3" fmla="*/ 0 h 299"/>
                <a:gd name="T4" fmla="*/ 2147483646 w 204"/>
                <a:gd name="T5" fmla="*/ 2147483646 h 299"/>
                <a:gd name="T6" fmla="*/ 0 60000 65536"/>
                <a:gd name="T7" fmla="*/ 0 60000 65536"/>
                <a:gd name="T8" fmla="*/ 0 60000 65536"/>
                <a:gd name="T9" fmla="*/ 0 w 204"/>
                <a:gd name="T10" fmla="*/ 0 h 299"/>
                <a:gd name="T11" fmla="*/ 204 w 204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9">
                  <a:moveTo>
                    <a:pt x="0" y="0"/>
                  </a:moveTo>
                  <a:lnTo>
                    <a:pt x="204" y="0"/>
                  </a:lnTo>
                  <a:lnTo>
                    <a:pt x="204" y="29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36" name="Text Box 63"/>
            <p:cNvSpPr txBox="1">
              <a:spLocks noChangeArrowheads="1"/>
            </p:cNvSpPr>
            <p:nvPr/>
          </p:nvSpPr>
          <p:spPr bwMode="auto">
            <a:xfrm>
              <a:off x="749" y="2625"/>
              <a:ext cx="26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FF0000"/>
                  </a:solidFill>
                </a:rPr>
                <a:t>e</a:t>
              </a:r>
              <a:r>
                <a:rPr lang="es-ES" sz="2400" baseline="30000">
                  <a:solidFill>
                    <a:srgbClr val="FF0000"/>
                  </a:solidFill>
                </a:rPr>
                <a:t>-</a:t>
              </a:r>
            </a:p>
          </p:txBody>
        </p: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1384425" y="985427"/>
            <a:ext cx="2289241" cy="464654"/>
            <a:chOff x="7727387" y="519875"/>
            <a:chExt cx="2289241" cy="466008"/>
          </a:xfrm>
        </p:grpSpPr>
        <p:sp>
          <p:nvSpPr>
            <p:cNvPr id="13331" name="Text Box 3"/>
            <p:cNvSpPr txBox="1">
              <a:spLocks noChangeArrowheads="1"/>
            </p:cNvSpPr>
            <p:nvPr/>
          </p:nvSpPr>
          <p:spPr bwMode="auto">
            <a:xfrm>
              <a:off x="7727387" y="519875"/>
              <a:ext cx="1874530" cy="46519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SITUACIÓN</a:t>
              </a:r>
              <a:endParaRPr lang="es-ES" sz="240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3332" name="Text Box 3"/>
            <p:cNvSpPr txBox="1">
              <a:spLocks noChangeArrowheads="1"/>
            </p:cNvSpPr>
            <p:nvPr/>
          </p:nvSpPr>
          <p:spPr bwMode="auto">
            <a:xfrm>
              <a:off x="9663348" y="520686"/>
              <a:ext cx="353280" cy="465197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1</a:t>
              </a:r>
            </a:p>
          </p:txBody>
        </p:sp>
      </p:grpSp>
      <p:sp>
        <p:nvSpPr>
          <p:cNvPr id="41" name="Text Box 64">
            <a:extLst>
              <a:ext uri="{FF2B5EF4-FFF2-40B4-BE49-F238E27FC236}">
                <a16:creationId xmlns:a16="http://schemas.microsoft.com/office/drawing/2014/main" id="{B75B9925-D962-45A3-9D3A-EF37D9ABD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929" y="5110316"/>
            <a:ext cx="9089040" cy="201387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tIns="82800" rIns="18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/>
              <a:t>Si en contacto con el suelo tocamos la chapa de una lavadora no conectada a tierra. Si se carga, hacemos de conexión a tierra y notamos </a:t>
            </a:r>
            <a:r>
              <a:rPr lang="es-ES" sz="2400"/>
              <a:t>un calambrazo. </a:t>
            </a:r>
            <a:r>
              <a:rPr lang="es-ES" sz="2400" dirty="0"/>
              <a:t>Si está conectada, la carga pasa mayoritariamente por la toma a tierra, en paralelo con nosotros, al ofrecer mucha </a:t>
            </a:r>
            <a:r>
              <a:rPr lang="es-ES" sz="2400"/>
              <a:t>menos resistencia </a:t>
            </a:r>
            <a:r>
              <a:rPr lang="es-ES" sz="2400">
                <a:solidFill>
                  <a:srgbClr val="FF0000"/>
                </a:solidFill>
              </a:rPr>
              <a:t>(Tema 4)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90B7B3BC-BFF6-4452-99DC-43FFD9E9B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033" y="378192"/>
            <a:ext cx="4260156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3.2.2. </a:t>
            </a: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JAULA DE FARADAY</a:t>
            </a:r>
          </a:p>
        </p:txBody>
      </p:sp>
    </p:spTree>
    <p:extLst>
      <p:ext uri="{BB962C8B-B14F-4D97-AF65-F5344CB8AC3E}">
        <p14:creationId xmlns:p14="http://schemas.microsoft.com/office/powerpoint/2010/main" val="3438938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6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55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5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66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6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/>
      <p:bldP spid="8239" grpId="0" animBg="1"/>
      <p:bldP spid="266278" grpId="0" animBg="1"/>
      <p:bldP spid="266281" grpId="0" animBg="1"/>
      <p:bldP spid="266294" grpId="0"/>
      <p:bldP spid="8214" grpId="0" animBg="1"/>
      <p:bldP spid="8216" grpId="0" animBg="1"/>
      <p:bldP spid="8246" grpId="0"/>
      <p:bldP spid="55357" grpId="0" animBg="1"/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AutoShape 4"/>
          <p:cNvSpPr>
            <a:spLocks noChangeArrowheads="1"/>
          </p:cNvSpPr>
          <p:nvPr/>
        </p:nvSpPr>
        <p:spPr bwMode="auto">
          <a:xfrm>
            <a:off x="2556908" y="2172214"/>
            <a:ext cx="2879725" cy="2879725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CCFFCC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GB" sz="2400"/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2502933" y="2694501"/>
            <a:ext cx="3009900" cy="1835150"/>
            <a:chOff x="1344" y="2395"/>
            <a:chExt cx="1896" cy="1156"/>
          </a:xfrm>
        </p:grpSpPr>
        <p:sp>
          <p:nvSpPr>
            <p:cNvPr id="15416" name="Text Box 9"/>
            <p:cNvSpPr txBox="1">
              <a:spLocks noChangeArrowheads="1"/>
            </p:cNvSpPr>
            <p:nvPr/>
          </p:nvSpPr>
          <p:spPr bwMode="auto">
            <a:xfrm>
              <a:off x="3014" y="2851"/>
              <a:ext cx="2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grpSp>
          <p:nvGrpSpPr>
            <p:cNvPr id="15417" name="Group 62"/>
            <p:cNvGrpSpPr>
              <a:grpSpLocks/>
            </p:cNvGrpSpPr>
            <p:nvPr/>
          </p:nvGrpSpPr>
          <p:grpSpPr bwMode="auto">
            <a:xfrm>
              <a:off x="1344" y="2395"/>
              <a:ext cx="1863" cy="1156"/>
              <a:chOff x="1344" y="2395"/>
              <a:chExt cx="1863" cy="1156"/>
            </a:xfrm>
          </p:grpSpPr>
          <p:sp>
            <p:nvSpPr>
              <p:cNvPr id="15418" name="Text Box 6"/>
              <p:cNvSpPr txBox="1">
                <a:spLocks noChangeArrowheads="1"/>
              </p:cNvSpPr>
              <p:nvPr/>
            </p:nvSpPr>
            <p:spPr bwMode="auto">
              <a:xfrm>
                <a:off x="2964" y="3073"/>
                <a:ext cx="22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5419" name="Text Box 12"/>
              <p:cNvSpPr txBox="1">
                <a:spLocks noChangeArrowheads="1"/>
              </p:cNvSpPr>
              <p:nvPr/>
            </p:nvSpPr>
            <p:spPr bwMode="auto">
              <a:xfrm>
                <a:off x="2981" y="2606"/>
                <a:ext cx="22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5420" name="Text Box 13"/>
              <p:cNvSpPr txBox="1">
                <a:spLocks noChangeArrowheads="1"/>
              </p:cNvSpPr>
              <p:nvPr/>
            </p:nvSpPr>
            <p:spPr bwMode="auto">
              <a:xfrm>
                <a:off x="2906" y="2430"/>
                <a:ext cx="22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5421" name="Text Box 15"/>
              <p:cNvSpPr txBox="1">
                <a:spLocks noChangeArrowheads="1"/>
              </p:cNvSpPr>
              <p:nvPr/>
            </p:nvSpPr>
            <p:spPr bwMode="auto">
              <a:xfrm>
                <a:off x="2896" y="3263"/>
                <a:ext cx="22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grpSp>
            <p:nvGrpSpPr>
              <p:cNvPr id="15422" name="Group 61"/>
              <p:cNvGrpSpPr>
                <a:grpSpLocks/>
              </p:cNvGrpSpPr>
              <p:nvPr/>
            </p:nvGrpSpPr>
            <p:grpSpPr bwMode="auto">
              <a:xfrm>
                <a:off x="1344" y="2395"/>
                <a:ext cx="310" cy="1121"/>
                <a:chOff x="1344" y="2395"/>
                <a:chExt cx="310" cy="1121"/>
              </a:xfrm>
            </p:grpSpPr>
            <p:sp>
              <p:nvSpPr>
                <p:cNvPr id="15423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344" y="2797"/>
                  <a:ext cx="17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15424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476" y="2395"/>
                  <a:ext cx="17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1542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365" y="3033"/>
                  <a:ext cx="17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1542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466" y="3228"/>
                  <a:ext cx="17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1542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389" y="2570"/>
                  <a:ext cx="17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</p:grpSp>
      </p:grpSp>
      <p:sp>
        <p:nvSpPr>
          <p:cNvPr id="298022" name="Text Box 38"/>
          <p:cNvSpPr txBox="1">
            <a:spLocks noChangeArrowheads="1"/>
          </p:cNvSpPr>
          <p:nvPr/>
        </p:nvSpPr>
        <p:spPr bwMode="auto">
          <a:xfrm>
            <a:off x="1313999" y="5159600"/>
            <a:ext cx="9075992" cy="120251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Tras conectar, hay corriente hasta que el conductor alcanza un nuevo equilibrio, con el exceso de carga añadido sumado al de su superficie (no queda neutro) y con el potencial de tierra</a:t>
            </a:r>
          </a:p>
        </p:txBody>
      </p:sp>
      <p:grpSp>
        <p:nvGrpSpPr>
          <p:cNvPr id="7" name="Group 60"/>
          <p:cNvGrpSpPr>
            <a:grpSpLocks/>
          </p:cNvGrpSpPr>
          <p:nvPr/>
        </p:nvGrpSpPr>
        <p:grpSpPr bwMode="auto">
          <a:xfrm>
            <a:off x="1815928" y="3599421"/>
            <a:ext cx="511175" cy="485779"/>
            <a:chOff x="920" y="2985"/>
            <a:chExt cx="322" cy="306"/>
          </a:xfrm>
        </p:grpSpPr>
        <p:sp>
          <p:nvSpPr>
            <p:cNvPr id="15413" name="Text Box 26"/>
            <p:cNvSpPr txBox="1">
              <a:spLocks noChangeArrowheads="1"/>
            </p:cNvSpPr>
            <p:nvPr/>
          </p:nvSpPr>
          <p:spPr bwMode="auto">
            <a:xfrm>
              <a:off x="978" y="3041"/>
              <a:ext cx="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15414" name="Line 27"/>
            <p:cNvSpPr>
              <a:spLocks noChangeShapeType="1"/>
            </p:cNvSpPr>
            <p:nvPr/>
          </p:nvSpPr>
          <p:spPr bwMode="auto">
            <a:xfrm>
              <a:off x="1047" y="3072"/>
              <a:ext cx="116" cy="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5415" name="Line 39"/>
            <p:cNvSpPr>
              <a:spLocks noChangeShapeType="1"/>
            </p:cNvSpPr>
            <p:nvPr/>
          </p:nvSpPr>
          <p:spPr bwMode="auto">
            <a:xfrm>
              <a:off x="920" y="2985"/>
              <a:ext cx="32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8" name="Group 63"/>
          <p:cNvGrpSpPr>
            <a:grpSpLocks/>
          </p:cNvGrpSpPr>
          <p:nvPr/>
        </p:nvGrpSpPr>
        <p:grpSpPr bwMode="auto">
          <a:xfrm>
            <a:off x="3687208" y="3589851"/>
            <a:ext cx="511175" cy="523875"/>
            <a:chOff x="2090" y="2979"/>
            <a:chExt cx="322" cy="330"/>
          </a:xfrm>
        </p:grpSpPr>
        <p:sp>
          <p:nvSpPr>
            <p:cNvPr id="15410" name="Text Box 43"/>
            <p:cNvSpPr txBox="1">
              <a:spLocks noChangeArrowheads="1"/>
            </p:cNvSpPr>
            <p:nvPr/>
          </p:nvSpPr>
          <p:spPr bwMode="auto">
            <a:xfrm>
              <a:off x="2105" y="3059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-E</a:t>
              </a:r>
            </a:p>
          </p:txBody>
        </p:sp>
        <p:sp>
          <p:nvSpPr>
            <p:cNvPr id="4" name="Line 44"/>
            <p:cNvSpPr>
              <a:spLocks noChangeShapeType="1"/>
            </p:cNvSpPr>
            <p:nvPr/>
          </p:nvSpPr>
          <p:spPr bwMode="auto">
            <a:xfrm>
              <a:off x="2209" y="3090"/>
              <a:ext cx="116" cy="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5412" name="Line 45"/>
            <p:cNvSpPr>
              <a:spLocks noChangeShapeType="1"/>
            </p:cNvSpPr>
            <p:nvPr/>
          </p:nvSpPr>
          <p:spPr bwMode="auto">
            <a:xfrm flipH="1">
              <a:off x="2090" y="2979"/>
              <a:ext cx="32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46151" name="Group 71"/>
          <p:cNvGrpSpPr>
            <a:grpSpLocks/>
          </p:cNvGrpSpPr>
          <p:nvPr/>
        </p:nvGrpSpPr>
        <p:grpSpPr bwMode="auto">
          <a:xfrm>
            <a:off x="6405685" y="6467887"/>
            <a:ext cx="3416301" cy="538163"/>
            <a:chOff x="4659" y="2873"/>
            <a:chExt cx="2152" cy="339"/>
          </a:xfrm>
        </p:grpSpPr>
        <p:sp>
          <p:nvSpPr>
            <p:cNvPr id="15406" name="Rectangle 93"/>
            <p:cNvSpPr>
              <a:spLocks noChangeArrowheads="1"/>
            </p:cNvSpPr>
            <p:nvPr/>
          </p:nvSpPr>
          <p:spPr bwMode="auto">
            <a:xfrm>
              <a:off x="4659" y="2873"/>
              <a:ext cx="2152" cy="33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/>
            </a:p>
          </p:txBody>
        </p:sp>
        <p:sp>
          <p:nvSpPr>
            <p:cNvPr id="15407" name="Text Box 36"/>
            <p:cNvSpPr txBox="1">
              <a:spLocks noChangeArrowheads="1"/>
            </p:cNvSpPr>
            <p:nvPr/>
          </p:nvSpPr>
          <p:spPr bwMode="auto">
            <a:xfrm>
              <a:off x="4719" y="2901"/>
              <a:ext cx="209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cte.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= 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TIERRA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</a:p>
          </p:txBody>
        </p:sp>
      </p:grpSp>
      <p:grpSp>
        <p:nvGrpSpPr>
          <p:cNvPr id="57438" name="Group 94"/>
          <p:cNvGrpSpPr>
            <a:grpSpLocks/>
          </p:cNvGrpSpPr>
          <p:nvPr/>
        </p:nvGrpSpPr>
        <p:grpSpPr bwMode="auto">
          <a:xfrm>
            <a:off x="1212504" y="2021147"/>
            <a:ext cx="2173288" cy="1408113"/>
            <a:chOff x="898" y="2021"/>
            <a:chExt cx="1369" cy="887"/>
          </a:xfrm>
        </p:grpSpPr>
        <p:sp>
          <p:nvSpPr>
            <p:cNvPr id="15404" name="Text Box 74"/>
            <p:cNvSpPr txBox="1">
              <a:spLocks noChangeArrowheads="1"/>
            </p:cNvSpPr>
            <p:nvPr/>
          </p:nvSpPr>
          <p:spPr bwMode="auto">
            <a:xfrm>
              <a:off x="898" y="2021"/>
              <a:ext cx="1369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En todo punto del espacio</a:t>
              </a:r>
            </a:p>
          </p:txBody>
        </p:sp>
        <p:sp>
          <p:nvSpPr>
            <p:cNvPr id="15405" name="Line 75"/>
            <p:cNvSpPr>
              <a:spLocks noChangeShapeType="1"/>
            </p:cNvSpPr>
            <p:nvPr/>
          </p:nvSpPr>
          <p:spPr bwMode="auto">
            <a:xfrm flipH="1" flipV="1">
              <a:off x="1440" y="2558"/>
              <a:ext cx="0" cy="35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>
                <a:solidFill>
                  <a:srgbClr val="3333FF"/>
                </a:solidFill>
              </a:endParaRPr>
            </a:p>
          </p:txBody>
        </p:sp>
      </p:grpSp>
      <p:sp>
        <p:nvSpPr>
          <p:cNvPr id="15402" name="Text Box 76"/>
          <p:cNvSpPr txBox="1">
            <a:spLocks noChangeArrowheads="1"/>
          </p:cNvSpPr>
          <p:nvPr/>
        </p:nvSpPr>
        <p:spPr bwMode="auto">
          <a:xfrm>
            <a:off x="5761038" y="1434406"/>
            <a:ext cx="4626974" cy="15718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conductor se polariza hasta crear un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que sea </a:t>
            </a:r>
            <a:r>
              <a:rPr lang="es-ES" sz="2400" dirty="0">
                <a:latin typeface="Arial" panose="020B0604020202020204" pitchFamily="34" charset="0"/>
              </a:rPr>
              <a:t>igual y de sentido contrario al aplicado en todo el conductor y el hueco</a:t>
            </a:r>
          </a:p>
        </p:txBody>
      </p:sp>
      <p:sp>
        <p:nvSpPr>
          <p:cNvPr id="18500" name="Text Box 55"/>
          <p:cNvSpPr txBox="1">
            <a:spLocks noChangeArrowheads="1"/>
          </p:cNvSpPr>
          <p:nvPr/>
        </p:nvSpPr>
        <p:spPr bwMode="auto">
          <a:xfrm>
            <a:off x="4349216" y="1441227"/>
            <a:ext cx="1193991" cy="45929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INICIO</a:t>
            </a:r>
          </a:p>
        </p:txBody>
      </p:sp>
      <p:sp>
        <p:nvSpPr>
          <p:cNvPr id="18501" name="Text Box 57"/>
          <p:cNvSpPr txBox="1">
            <a:spLocks noChangeArrowheads="1"/>
          </p:cNvSpPr>
          <p:nvPr/>
        </p:nvSpPr>
        <p:spPr bwMode="auto">
          <a:xfrm>
            <a:off x="4349215" y="6491759"/>
            <a:ext cx="1193991" cy="50343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 anchor="ctr" anchorCtr="1">
            <a:noAutofit/>
          </a:bodyPr>
          <a:lstStyle>
            <a:defPPr>
              <a:defRPr lang="es-ES"/>
            </a:defPPr>
            <a:lvl1pPr eaLnBrk="1" hangingPunct="1">
              <a:spcBef>
                <a:spcPct val="50000"/>
              </a:spcBef>
              <a:buFontTx/>
              <a:buNone/>
              <a:defRPr sz="2400"/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"/>
              <a:t>FIN</a:t>
            </a:r>
          </a:p>
        </p:txBody>
      </p:sp>
      <p:grpSp>
        <p:nvGrpSpPr>
          <p:cNvPr id="46150" name="Group 70"/>
          <p:cNvGrpSpPr>
            <a:grpSpLocks/>
          </p:cNvGrpSpPr>
          <p:nvPr/>
        </p:nvGrpSpPr>
        <p:grpSpPr bwMode="auto">
          <a:xfrm>
            <a:off x="6392891" y="4417096"/>
            <a:ext cx="3417887" cy="569913"/>
            <a:chOff x="4574" y="1962"/>
            <a:chExt cx="2153" cy="359"/>
          </a:xfrm>
        </p:grpSpPr>
        <p:sp>
          <p:nvSpPr>
            <p:cNvPr id="15396" name="Rectangle 92"/>
            <p:cNvSpPr>
              <a:spLocks noChangeArrowheads="1"/>
            </p:cNvSpPr>
            <p:nvPr/>
          </p:nvSpPr>
          <p:spPr bwMode="auto">
            <a:xfrm>
              <a:off x="4574" y="1962"/>
              <a:ext cx="2153" cy="35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/>
            </a:p>
          </p:txBody>
        </p:sp>
        <p:sp>
          <p:nvSpPr>
            <p:cNvPr id="15397" name="Text Box 18"/>
            <p:cNvSpPr txBox="1">
              <a:spLocks noChangeArrowheads="1"/>
            </p:cNvSpPr>
            <p:nvPr/>
          </p:nvSpPr>
          <p:spPr bwMode="auto">
            <a:xfrm>
              <a:off x="4604" y="1990"/>
              <a:ext cx="18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cte.= f(E)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 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TIERRA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5398" name="Line 58"/>
            <p:cNvSpPr>
              <a:spLocks noChangeShapeType="1"/>
            </p:cNvSpPr>
            <p:nvPr/>
          </p:nvSpPr>
          <p:spPr bwMode="auto">
            <a:xfrm>
              <a:off x="5694" y="2028"/>
              <a:ext cx="1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57445" name="Group 101"/>
          <p:cNvGrpSpPr>
            <a:grpSpLocks/>
          </p:cNvGrpSpPr>
          <p:nvPr/>
        </p:nvGrpSpPr>
        <p:grpSpPr bwMode="auto">
          <a:xfrm>
            <a:off x="2309258" y="4482027"/>
            <a:ext cx="555625" cy="541338"/>
            <a:chOff x="1222" y="3521"/>
            <a:chExt cx="350" cy="341"/>
          </a:xfrm>
        </p:grpSpPr>
        <p:sp>
          <p:nvSpPr>
            <p:cNvPr id="15390" name="Line 30"/>
            <p:cNvSpPr>
              <a:spLocks noChangeShapeType="1"/>
            </p:cNvSpPr>
            <p:nvPr/>
          </p:nvSpPr>
          <p:spPr bwMode="auto">
            <a:xfrm flipH="1">
              <a:off x="1346" y="3521"/>
              <a:ext cx="226" cy="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5391" name="Line 31"/>
            <p:cNvSpPr>
              <a:spLocks noChangeShapeType="1"/>
            </p:cNvSpPr>
            <p:nvPr/>
          </p:nvSpPr>
          <p:spPr bwMode="auto">
            <a:xfrm>
              <a:off x="1346" y="3535"/>
              <a:ext cx="7" cy="23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5392" name="Line 32"/>
            <p:cNvSpPr>
              <a:spLocks noChangeShapeType="1"/>
            </p:cNvSpPr>
            <p:nvPr/>
          </p:nvSpPr>
          <p:spPr bwMode="auto">
            <a:xfrm flipH="1">
              <a:off x="1222" y="3784"/>
              <a:ext cx="27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5393" name="Line 34"/>
            <p:cNvSpPr>
              <a:spLocks noChangeShapeType="1"/>
            </p:cNvSpPr>
            <p:nvPr/>
          </p:nvSpPr>
          <p:spPr bwMode="auto">
            <a:xfrm flipH="1" flipV="1">
              <a:off x="1265" y="3824"/>
              <a:ext cx="179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5394" name="Line 35"/>
            <p:cNvSpPr>
              <a:spLocks noChangeShapeType="1"/>
            </p:cNvSpPr>
            <p:nvPr/>
          </p:nvSpPr>
          <p:spPr bwMode="auto">
            <a:xfrm flipH="1">
              <a:off x="1300" y="3862"/>
              <a:ext cx="10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69" name="Grupo 68"/>
          <p:cNvGrpSpPr>
            <a:grpSpLocks/>
          </p:cNvGrpSpPr>
          <p:nvPr/>
        </p:nvGrpSpPr>
        <p:grpSpPr bwMode="auto">
          <a:xfrm>
            <a:off x="1313999" y="1423544"/>
            <a:ext cx="2289241" cy="473311"/>
            <a:chOff x="7727387" y="510382"/>
            <a:chExt cx="2289241" cy="474690"/>
          </a:xfrm>
        </p:grpSpPr>
        <p:sp>
          <p:nvSpPr>
            <p:cNvPr id="15386" name="Text Box 3"/>
            <p:cNvSpPr txBox="1">
              <a:spLocks noChangeArrowheads="1"/>
            </p:cNvSpPr>
            <p:nvPr/>
          </p:nvSpPr>
          <p:spPr bwMode="auto">
            <a:xfrm>
              <a:off x="7727387" y="519875"/>
              <a:ext cx="1874530" cy="46519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SITUACIÓN</a:t>
              </a:r>
              <a:endParaRPr lang="es-ES" sz="240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5387" name="Text Box 3"/>
            <p:cNvSpPr txBox="1">
              <a:spLocks noChangeArrowheads="1"/>
            </p:cNvSpPr>
            <p:nvPr/>
          </p:nvSpPr>
          <p:spPr bwMode="auto">
            <a:xfrm>
              <a:off x="9663348" y="510382"/>
              <a:ext cx="353280" cy="465197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2</a:t>
              </a:r>
            </a:p>
          </p:txBody>
        </p:sp>
      </p:grpSp>
      <p:sp>
        <p:nvSpPr>
          <p:cNvPr id="61" name="Text Box 5"/>
          <p:cNvSpPr txBox="1">
            <a:spLocks noChangeArrowheads="1"/>
          </p:cNvSpPr>
          <p:nvPr/>
        </p:nvSpPr>
        <p:spPr bwMode="auto">
          <a:xfrm>
            <a:off x="1313999" y="288013"/>
            <a:ext cx="9068867" cy="978584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Conductor hueco descargado, sometido a un campo eléctrico, generado fuera, conectado luego a tierra</a:t>
            </a:r>
          </a:p>
        </p:txBody>
      </p:sp>
      <p:sp>
        <p:nvSpPr>
          <p:cNvPr id="62" name="Text Box 76">
            <a:extLst>
              <a:ext uri="{FF2B5EF4-FFF2-40B4-BE49-F238E27FC236}">
                <a16:creationId xmlns:a16="http://schemas.microsoft.com/office/drawing/2014/main" id="{E1F4229A-BCD1-4ACB-AA5D-77C592AD6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547" y="3117452"/>
            <a:ext cx="4325227" cy="1202510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total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pasa a ser nulo en hueco y conductor, y V constante,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en </a:t>
            </a:r>
            <a:r>
              <a:rPr lang="es-ES" sz="2400" u="sng" dirty="0">
                <a:solidFill>
                  <a:srgbClr val="FF0000"/>
                </a:solidFill>
                <a:latin typeface="Arial" panose="020B0604020202020204" pitchFamily="34" charset="0"/>
              </a:rPr>
              <a:t>nanosegundos</a:t>
            </a:r>
          </a:p>
        </p:txBody>
      </p:sp>
      <p:grpSp>
        <p:nvGrpSpPr>
          <p:cNvPr id="63" name="Group 67">
            <a:extLst>
              <a:ext uri="{FF2B5EF4-FFF2-40B4-BE49-F238E27FC236}">
                <a16:creationId xmlns:a16="http://schemas.microsoft.com/office/drawing/2014/main" id="{09EEECC5-1A18-4422-98C1-E622EBB6431A}"/>
              </a:ext>
            </a:extLst>
          </p:cNvPr>
          <p:cNvGrpSpPr>
            <a:grpSpLocks/>
          </p:cNvGrpSpPr>
          <p:nvPr/>
        </p:nvGrpSpPr>
        <p:grpSpPr bwMode="auto">
          <a:xfrm>
            <a:off x="1855424" y="4151824"/>
            <a:ext cx="776288" cy="609600"/>
            <a:chOff x="555" y="2824"/>
            <a:chExt cx="489" cy="384"/>
          </a:xfrm>
        </p:grpSpPr>
        <p:sp>
          <p:nvSpPr>
            <p:cNvPr id="64" name="Freeform 40">
              <a:extLst>
                <a:ext uri="{FF2B5EF4-FFF2-40B4-BE49-F238E27FC236}">
                  <a16:creationId xmlns:a16="http://schemas.microsoft.com/office/drawing/2014/main" id="{36310378-1E94-47A1-A86F-32A42CE37DC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40" y="2909"/>
              <a:ext cx="204" cy="299"/>
            </a:xfrm>
            <a:custGeom>
              <a:avLst/>
              <a:gdLst>
                <a:gd name="T0" fmla="*/ 0 w 204"/>
                <a:gd name="T1" fmla="*/ 0 h 299"/>
                <a:gd name="T2" fmla="*/ 2147483646 w 204"/>
                <a:gd name="T3" fmla="*/ 0 h 299"/>
                <a:gd name="T4" fmla="*/ 2147483646 w 204"/>
                <a:gd name="T5" fmla="*/ 2147483646 h 299"/>
                <a:gd name="T6" fmla="*/ 0 60000 65536"/>
                <a:gd name="T7" fmla="*/ 0 60000 65536"/>
                <a:gd name="T8" fmla="*/ 0 60000 65536"/>
                <a:gd name="T9" fmla="*/ 0 w 204"/>
                <a:gd name="T10" fmla="*/ 0 h 299"/>
                <a:gd name="T11" fmla="*/ 204 w 204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9">
                  <a:moveTo>
                    <a:pt x="0" y="0"/>
                  </a:moveTo>
                  <a:lnTo>
                    <a:pt x="204" y="0"/>
                  </a:lnTo>
                  <a:lnTo>
                    <a:pt x="204" y="29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65" name="Text Box 63">
              <a:extLst>
                <a:ext uri="{FF2B5EF4-FFF2-40B4-BE49-F238E27FC236}">
                  <a16:creationId xmlns:a16="http://schemas.microsoft.com/office/drawing/2014/main" id="{8AEA8275-6121-4EA6-A9B4-433B02BE0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" y="2824"/>
              <a:ext cx="26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e</a:t>
              </a:r>
              <a:r>
                <a:rPr lang="es-ES" sz="2400" baseline="30000" dirty="0">
                  <a:solidFill>
                    <a:srgbClr val="FF0000"/>
                  </a:solidFill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45425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8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7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7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9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8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4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/>
      <p:bldP spid="298022" grpId="0" animBg="1"/>
      <p:bldP spid="15402" grpId="0" animBg="1"/>
      <p:bldP spid="18500" grpId="0" animBg="1"/>
      <p:bldP spid="18501" grpId="0" animBg="1"/>
      <p:bldP spid="61" grpId="0" animBg="1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5B1FFC17-30A8-4387-8651-7634B911F379}"/>
              </a:ext>
            </a:extLst>
          </p:cNvPr>
          <p:cNvGrpSpPr/>
          <p:nvPr/>
        </p:nvGrpSpPr>
        <p:grpSpPr>
          <a:xfrm>
            <a:off x="1430338" y="1549017"/>
            <a:ext cx="3652837" cy="3515577"/>
            <a:chOff x="1430338" y="2244645"/>
            <a:chExt cx="3652837" cy="3515577"/>
          </a:xfrm>
        </p:grpSpPr>
        <p:sp>
          <p:nvSpPr>
            <p:cNvPr id="18436" name="AutoShape 4"/>
            <p:cNvSpPr>
              <a:spLocks noChangeArrowheads="1"/>
            </p:cNvSpPr>
            <p:nvPr/>
          </p:nvSpPr>
          <p:spPr bwMode="auto">
            <a:xfrm>
              <a:off x="2127250" y="2880497"/>
              <a:ext cx="2879725" cy="2879725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2147483646 w 21600"/>
                <a:gd name="T7" fmla="*/ 2147483646 h 21600"/>
                <a:gd name="T8" fmla="*/ 2147483646 w 21600"/>
                <a:gd name="T9" fmla="*/ 2147483646 h 21600"/>
                <a:gd name="T10" fmla="*/ 2147483646 w 21600"/>
                <a:gd name="T11" fmla="*/ 2147483646 h 21600"/>
                <a:gd name="T12" fmla="*/ 2147483646 w 21600"/>
                <a:gd name="T13" fmla="*/ 2147483646 h 21600"/>
                <a:gd name="T14" fmla="*/ 2147483646 w 21600"/>
                <a:gd name="T15" fmla="*/ 2147483646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CCFF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GB" sz="2400"/>
            </a:p>
          </p:txBody>
        </p:sp>
        <p:grpSp>
          <p:nvGrpSpPr>
            <p:cNvPr id="2" name="Group 64"/>
            <p:cNvGrpSpPr>
              <a:grpSpLocks/>
            </p:cNvGrpSpPr>
            <p:nvPr/>
          </p:nvGrpSpPr>
          <p:grpSpPr bwMode="auto">
            <a:xfrm>
              <a:off x="2073275" y="3402784"/>
              <a:ext cx="3009900" cy="1835150"/>
              <a:chOff x="1344" y="2395"/>
              <a:chExt cx="1896" cy="1156"/>
            </a:xfrm>
          </p:grpSpPr>
          <p:sp>
            <p:nvSpPr>
              <p:cNvPr id="15416" name="Text Box 9"/>
              <p:cNvSpPr txBox="1">
                <a:spLocks noChangeArrowheads="1"/>
              </p:cNvSpPr>
              <p:nvPr/>
            </p:nvSpPr>
            <p:spPr bwMode="auto">
              <a:xfrm>
                <a:off x="3014" y="2851"/>
                <a:ext cx="22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grpSp>
            <p:nvGrpSpPr>
              <p:cNvPr id="15417" name="Group 62"/>
              <p:cNvGrpSpPr>
                <a:grpSpLocks/>
              </p:cNvGrpSpPr>
              <p:nvPr/>
            </p:nvGrpSpPr>
            <p:grpSpPr bwMode="auto">
              <a:xfrm>
                <a:off x="1344" y="2395"/>
                <a:ext cx="1863" cy="1156"/>
                <a:chOff x="1344" y="2395"/>
                <a:chExt cx="1863" cy="1156"/>
              </a:xfrm>
            </p:grpSpPr>
            <p:sp>
              <p:nvSpPr>
                <p:cNvPr id="15418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964" y="3073"/>
                  <a:ext cx="22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15419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981" y="2606"/>
                  <a:ext cx="22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15420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906" y="2430"/>
                  <a:ext cx="22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15421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896" y="3263"/>
                  <a:ext cx="22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grpSp>
              <p:nvGrpSpPr>
                <p:cNvPr id="15422" name="Group 61"/>
                <p:cNvGrpSpPr>
                  <a:grpSpLocks/>
                </p:cNvGrpSpPr>
                <p:nvPr/>
              </p:nvGrpSpPr>
              <p:grpSpPr bwMode="auto">
                <a:xfrm>
                  <a:off x="1344" y="2395"/>
                  <a:ext cx="310" cy="1121"/>
                  <a:chOff x="1344" y="2395"/>
                  <a:chExt cx="310" cy="1121"/>
                </a:xfrm>
              </p:grpSpPr>
              <p:sp>
                <p:nvSpPr>
                  <p:cNvPr id="15423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44" y="2797"/>
                    <a:ext cx="17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>
                        <a:solidFill>
                          <a:srgbClr val="008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  <p:sp>
                <p:nvSpPr>
                  <p:cNvPr id="15424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6" y="2395"/>
                    <a:ext cx="17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>
                        <a:solidFill>
                          <a:srgbClr val="008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  <p:sp>
                <p:nvSpPr>
                  <p:cNvPr id="15425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65" y="3033"/>
                    <a:ext cx="17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>
                        <a:solidFill>
                          <a:srgbClr val="008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  <p:sp>
                <p:nvSpPr>
                  <p:cNvPr id="15426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6" y="3228"/>
                    <a:ext cx="17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>
                        <a:solidFill>
                          <a:srgbClr val="008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  <p:sp>
                <p:nvSpPr>
                  <p:cNvPr id="15427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2570"/>
                    <a:ext cx="17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>
                        <a:solidFill>
                          <a:srgbClr val="008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</p:grpSp>
          </p:grpSp>
        </p:grpSp>
        <p:grpSp>
          <p:nvGrpSpPr>
            <p:cNvPr id="7" name="Group 60"/>
            <p:cNvGrpSpPr>
              <a:grpSpLocks/>
            </p:cNvGrpSpPr>
            <p:nvPr/>
          </p:nvGrpSpPr>
          <p:grpSpPr bwMode="auto">
            <a:xfrm>
              <a:off x="1430338" y="3807597"/>
              <a:ext cx="511175" cy="500062"/>
              <a:chOff x="920" y="2670"/>
              <a:chExt cx="322" cy="315"/>
            </a:xfrm>
          </p:grpSpPr>
          <p:sp>
            <p:nvSpPr>
              <p:cNvPr id="15413" name="Text Box 26"/>
              <p:cNvSpPr txBox="1">
                <a:spLocks noChangeArrowheads="1"/>
              </p:cNvSpPr>
              <p:nvPr/>
            </p:nvSpPr>
            <p:spPr bwMode="auto">
              <a:xfrm>
                <a:off x="978" y="2670"/>
                <a:ext cx="22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5414" name="Line 27"/>
              <p:cNvSpPr>
                <a:spLocks noChangeShapeType="1"/>
              </p:cNvSpPr>
              <p:nvPr/>
            </p:nvSpPr>
            <p:spPr bwMode="auto">
              <a:xfrm>
                <a:off x="1047" y="2701"/>
                <a:ext cx="116" cy="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  <p:sp>
            <p:nvSpPr>
              <p:cNvPr id="15415" name="Line 39"/>
              <p:cNvSpPr>
                <a:spLocks noChangeShapeType="1"/>
              </p:cNvSpPr>
              <p:nvPr/>
            </p:nvSpPr>
            <p:spPr bwMode="auto">
              <a:xfrm>
                <a:off x="920" y="2985"/>
                <a:ext cx="32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</p:grpSp>
        <p:grpSp>
          <p:nvGrpSpPr>
            <p:cNvPr id="8" name="Group 63"/>
            <p:cNvGrpSpPr>
              <a:grpSpLocks/>
            </p:cNvGrpSpPr>
            <p:nvPr/>
          </p:nvGrpSpPr>
          <p:grpSpPr bwMode="auto">
            <a:xfrm>
              <a:off x="3257550" y="4298134"/>
              <a:ext cx="511175" cy="523875"/>
              <a:chOff x="2090" y="2979"/>
              <a:chExt cx="322" cy="330"/>
            </a:xfrm>
          </p:grpSpPr>
          <p:sp>
            <p:nvSpPr>
              <p:cNvPr id="15410" name="Text Box 43"/>
              <p:cNvSpPr txBox="1">
                <a:spLocks noChangeArrowheads="1"/>
              </p:cNvSpPr>
              <p:nvPr/>
            </p:nvSpPr>
            <p:spPr bwMode="auto">
              <a:xfrm>
                <a:off x="2105" y="3059"/>
                <a:ext cx="27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-E</a:t>
                </a:r>
              </a:p>
            </p:txBody>
          </p:sp>
          <p:sp>
            <p:nvSpPr>
              <p:cNvPr id="4" name="Line 44"/>
              <p:cNvSpPr>
                <a:spLocks noChangeShapeType="1"/>
              </p:cNvSpPr>
              <p:nvPr/>
            </p:nvSpPr>
            <p:spPr bwMode="auto">
              <a:xfrm>
                <a:off x="2209" y="3090"/>
                <a:ext cx="116" cy="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  <p:sp>
            <p:nvSpPr>
              <p:cNvPr id="15412" name="Line 45"/>
              <p:cNvSpPr>
                <a:spLocks noChangeShapeType="1"/>
              </p:cNvSpPr>
              <p:nvPr/>
            </p:nvSpPr>
            <p:spPr bwMode="auto">
              <a:xfrm flipH="1">
                <a:off x="2090" y="2979"/>
                <a:ext cx="32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</p:grpSp>
        <p:grpSp>
          <p:nvGrpSpPr>
            <p:cNvPr id="15400" name="Group 78"/>
            <p:cNvGrpSpPr>
              <a:grpSpLocks/>
            </p:cNvGrpSpPr>
            <p:nvPr/>
          </p:nvGrpSpPr>
          <p:grpSpPr bwMode="auto">
            <a:xfrm>
              <a:off x="2505075" y="2244645"/>
              <a:ext cx="1882775" cy="396875"/>
              <a:chOff x="3154" y="2020"/>
              <a:chExt cx="1186" cy="250"/>
            </a:xfrm>
          </p:grpSpPr>
          <p:sp>
            <p:nvSpPr>
              <p:cNvPr id="15399" name="Text Box 46"/>
              <p:cNvSpPr txBox="1">
                <a:spLocks noChangeArrowheads="1"/>
              </p:cNvSpPr>
              <p:nvPr/>
            </p:nvSpPr>
            <p:spPr bwMode="auto">
              <a:xfrm>
                <a:off x="3154" y="2020"/>
                <a:ext cx="81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 err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-25000" dirty="0" err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total</a:t>
                </a:r>
                <a:r>
                  <a:rPr lang="es-ES" sz="2400" baseline="-250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 interior</a:t>
                </a: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 = 0</a:t>
                </a:r>
                <a:endPara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5" name="Line 47"/>
              <p:cNvSpPr>
                <a:spLocks noChangeShapeType="1"/>
              </p:cNvSpPr>
              <p:nvPr/>
            </p:nvSpPr>
            <p:spPr bwMode="auto">
              <a:xfrm>
                <a:off x="3189" y="2039"/>
                <a:ext cx="166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  <p:sp>
            <p:nvSpPr>
              <p:cNvPr id="15401" name="Line 48"/>
              <p:cNvSpPr>
                <a:spLocks noChangeShapeType="1"/>
              </p:cNvSpPr>
              <p:nvPr/>
            </p:nvSpPr>
            <p:spPr bwMode="auto">
              <a:xfrm>
                <a:off x="4215" y="2039"/>
                <a:ext cx="125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</p:grpSp>
      </p:grpSp>
      <p:sp>
        <p:nvSpPr>
          <p:cNvPr id="60" name="Text Box 49"/>
          <p:cNvSpPr txBox="1">
            <a:spLocks noChangeArrowheads="1"/>
          </p:cNvSpPr>
          <p:nvPr/>
        </p:nvSpPr>
        <p:spPr bwMode="auto">
          <a:xfrm>
            <a:off x="6034034" y="834023"/>
            <a:ext cx="4186679" cy="536549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Jaula o Taza de Faraday</a:t>
            </a:r>
          </a:p>
        </p:txBody>
      </p:sp>
      <p:sp>
        <p:nvSpPr>
          <p:cNvPr id="61" name="Text Box 50"/>
          <p:cNvSpPr txBox="1">
            <a:spLocks noChangeArrowheads="1"/>
          </p:cNvSpPr>
          <p:nvPr/>
        </p:nvSpPr>
        <p:spPr bwMode="auto">
          <a:xfrm>
            <a:off x="6222033" y="1694787"/>
            <a:ext cx="3910942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carcasa de un: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PC, coche, helicóptero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, avión...)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62" name="Group 104"/>
          <p:cNvGrpSpPr>
            <a:grpSpLocks/>
          </p:cNvGrpSpPr>
          <p:nvPr/>
        </p:nvGrpSpPr>
        <p:grpSpPr bwMode="auto">
          <a:xfrm>
            <a:off x="6032058" y="3006269"/>
            <a:ext cx="4189413" cy="609600"/>
            <a:chOff x="3985" y="4011"/>
            <a:chExt cx="2639" cy="384"/>
          </a:xfrm>
        </p:grpSpPr>
        <p:sp>
          <p:nvSpPr>
            <p:cNvPr id="63" name="Text Box 54"/>
            <p:cNvSpPr txBox="1">
              <a:spLocks noChangeArrowheads="1"/>
            </p:cNvSpPr>
            <p:nvPr/>
          </p:nvSpPr>
          <p:spPr bwMode="auto">
            <a:xfrm>
              <a:off x="3985" y="4011"/>
              <a:ext cx="2639" cy="38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Protege el interior de 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externo</a:t>
              </a:r>
              <a:endParaRPr lang="es-ES" sz="240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" name="Line 56"/>
            <p:cNvSpPr>
              <a:spLocks noChangeShapeType="1"/>
            </p:cNvSpPr>
            <p:nvPr/>
          </p:nvSpPr>
          <p:spPr bwMode="auto">
            <a:xfrm>
              <a:off x="5954" y="4086"/>
              <a:ext cx="113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65" name="Text Box 54"/>
          <p:cNvSpPr txBox="1">
            <a:spLocks noChangeArrowheads="1"/>
          </p:cNvSpPr>
          <p:nvPr/>
        </p:nvSpPr>
        <p:spPr bwMode="auto">
          <a:xfrm>
            <a:off x="5862058" y="3768835"/>
            <a:ext cx="4520806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(p.ej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., debido 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 dirty="0" err="1">
                <a:solidFill>
                  <a:srgbClr val="FF0000"/>
                </a:solidFill>
                <a:latin typeface="Arial" panose="020B0604020202020204" pitchFamily="34" charset="0"/>
              </a:rPr>
              <a:t>depositada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por rozamiento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o por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descarga, p.ej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., la asociada 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un rayo)</a:t>
            </a:r>
          </a:p>
        </p:txBody>
      </p:sp>
      <p:sp>
        <p:nvSpPr>
          <p:cNvPr id="53" name="Text Box 49"/>
          <p:cNvSpPr txBox="1">
            <a:spLocks noChangeArrowheads="1"/>
          </p:cNvSpPr>
          <p:nvPr/>
        </p:nvSpPr>
        <p:spPr bwMode="auto">
          <a:xfrm>
            <a:off x="3109342" y="5555785"/>
            <a:ext cx="7085693" cy="1275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Y también 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ondas electromagnéticas externas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ya que se tienden a reflejar en los conductores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(Tema 5)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(reduce cobertura de móviles)</a:t>
            </a:r>
            <a:endParaRPr lang="es-E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Text Box 74">
            <a:extLst>
              <a:ext uri="{FF2B5EF4-FFF2-40B4-BE49-F238E27FC236}">
                <a16:creationId xmlns:a16="http://schemas.microsoft.com/office/drawing/2014/main" id="{04AE7AC5-71C4-4823-B390-BE142D5B8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216" y="482330"/>
            <a:ext cx="4186679" cy="8331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Con, o sin, </a:t>
            </a:r>
            <a:r>
              <a:rPr lang="es-ES" sz="2400" dirty="0">
                <a:latin typeface="Arial" panose="020B0604020202020204" pitchFamily="34" charset="0"/>
              </a:rPr>
              <a:t>conexión </a:t>
            </a:r>
            <a:r>
              <a:rPr lang="es-ES" sz="2400">
                <a:latin typeface="Arial" panose="020B0604020202020204" pitchFamily="34" charset="0"/>
              </a:rPr>
              <a:t>a tierra, esta estructura se denomina: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288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  <p:bldP spid="65" grpId="0"/>
      <p:bldP spid="53" grpId="0" animBg="1"/>
      <p:bldP spid="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5" name="Text Box 31"/>
          <p:cNvSpPr txBox="1">
            <a:spLocks noChangeArrowheads="1"/>
          </p:cNvSpPr>
          <p:nvPr/>
        </p:nvSpPr>
        <p:spPr bwMode="auto">
          <a:xfrm>
            <a:off x="5259180" y="1022097"/>
            <a:ext cx="2631464" cy="83317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Botellas iguales Cargas iguales</a:t>
            </a:r>
          </a:p>
        </p:txBody>
      </p:sp>
      <p:grpSp>
        <p:nvGrpSpPr>
          <p:cNvPr id="55345" name="Group 49"/>
          <p:cNvGrpSpPr>
            <a:grpSpLocks/>
          </p:cNvGrpSpPr>
          <p:nvPr/>
        </p:nvGrpSpPr>
        <p:grpSpPr bwMode="auto">
          <a:xfrm>
            <a:off x="1222121" y="1202203"/>
            <a:ext cx="3471863" cy="5300663"/>
            <a:chOff x="1324" y="1001"/>
            <a:chExt cx="2187" cy="3339"/>
          </a:xfrm>
        </p:grpSpPr>
        <p:sp>
          <p:nvSpPr>
            <p:cNvPr id="17421" name="Text Box 10"/>
            <p:cNvSpPr txBox="1">
              <a:spLocks noChangeArrowheads="1"/>
            </p:cNvSpPr>
            <p:nvPr/>
          </p:nvSpPr>
          <p:spPr bwMode="auto">
            <a:xfrm>
              <a:off x="1324" y="1001"/>
              <a:ext cx="2187" cy="29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BOTELLA DE LEYDEN</a:t>
              </a:r>
            </a:p>
          </p:txBody>
        </p:sp>
        <p:pic>
          <p:nvPicPr>
            <p:cNvPr id="17422" name="Picture 9" descr="Original capacitor">
              <a:hlinkClick r:id="rId3" tooltip="Original capacitor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7" y="1612"/>
              <a:ext cx="1351" cy="2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3" name="Text Box 21"/>
            <p:cNvSpPr txBox="1">
              <a:spLocks noChangeArrowheads="1"/>
            </p:cNvSpPr>
            <p:nvPr/>
          </p:nvSpPr>
          <p:spPr bwMode="auto">
            <a:xfrm>
              <a:off x="1844" y="1281"/>
              <a:ext cx="110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(1ª versión)</a:t>
              </a:r>
            </a:p>
          </p:txBody>
        </p:sp>
      </p:grpSp>
      <p:sp>
        <p:nvSpPr>
          <p:cNvPr id="17413" name="Rectangle 2"/>
          <p:cNvSpPr>
            <a:spLocks noChangeArrowheads="1"/>
          </p:cNvSpPr>
          <p:nvPr/>
        </p:nvSpPr>
        <p:spPr bwMode="auto">
          <a:xfrm>
            <a:off x="1441450" y="492138"/>
            <a:ext cx="8653463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3.2.3 CAPACIDAD DE UN CONDENSADOR</a:t>
            </a:r>
          </a:p>
        </p:txBody>
      </p:sp>
      <p:sp>
        <p:nvSpPr>
          <p:cNvPr id="55313" name="Text Box 19"/>
          <p:cNvSpPr txBox="1">
            <a:spLocks noChangeArrowheads="1"/>
          </p:cNvSpPr>
          <p:nvPr/>
        </p:nvSpPr>
        <p:spPr bwMode="auto">
          <a:xfrm>
            <a:off x="5453362" y="1954134"/>
            <a:ext cx="2287141" cy="330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A distinta altura</a:t>
            </a:r>
          </a:p>
        </p:txBody>
      </p:sp>
      <p:grpSp>
        <p:nvGrpSpPr>
          <p:cNvPr id="55350" name="Group 54"/>
          <p:cNvGrpSpPr>
            <a:grpSpLocks/>
          </p:cNvGrpSpPr>
          <p:nvPr/>
        </p:nvGrpSpPr>
        <p:grpSpPr bwMode="auto">
          <a:xfrm>
            <a:off x="7969107" y="1026283"/>
            <a:ext cx="2714625" cy="833438"/>
            <a:chOff x="4792" y="1015"/>
            <a:chExt cx="1710" cy="525"/>
          </a:xfrm>
        </p:grpSpPr>
        <p:sp>
          <p:nvSpPr>
            <p:cNvPr id="17419" name="Text Box 20"/>
            <p:cNvSpPr txBox="1">
              <a:spLocks noChangeArrowheads="1"/>
            </p:cNvSpPr>
            <p:nvPr/>
          </p:nvSpPr>
          <p:spPr bwMode="auto">
            <a:xfrm>
              <a:off x="5096" y="1015"/>
              <a:ext cx="1406" cy="5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Hay</a:t>
              </a:r>
              <a:r>
                <a:rPr lang="es-ES" sz="2400">
                  <a:latin typeface="Arial" panose="020B0604020202020204" pitchFamily="34" charset="0"/>
                </a:rPr>
                <a:t> corriente      si se conectan</a:t>
              </a:r>
            </a:p>
          </p:txBody>
        </p:sp>
        <p:sp>
          <p:nvSpPr>
            <p:cNvPr id="17420" name="AutoShape 21"/>
            <p:cNvSpPr>
              <a:spLocks noChangeArrowheads="1"/>
            </p:cNvSpPr>
            <p:nvPr/>
          </p:nvSpPr>
          <p:spPr bwMode="auto">
            <a:xfrm>
              <a:off x="4792" y="1083"/>
              <a:ext cx="258" cy="384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4261105" y="3795900"/>
            <a:ext cx="6419976" cy="16227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72000" rIns="180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valor de V de cada botella lo define, si no se influencian las botellas, el sistema que forma cada botella cargada y la tierra polarizada por su influencia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7916158" y="1941140"/>
            <a:ext cx="2771775" cy="1758998"/>
            <a:chOff x="7611358" y="1941140"/>
            <a:chExt cx="2771775" cy="1758998"/>
          </a:xfrm>
        </p:grpSpPr>
        <p:sp>
          <p:nvSpPr>
            <p:cNvPr id="55300" name="Text Box 17"/>
            <p:cNvSpPr txBox="1">
              <a:spLocks noChangeArrowheads="1"/>
            </p:cNvSpPr>
            <p:nvPr/>
          </p:nvSpPr>
          <p:spPr bwMode="auto">
            <a:xfrm>
              <a:off x="7611358" y="2446736"/>
              <a:ext cx="2771775" cy="125340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80000" tIns="72000" rIns="180000" bIns="72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Ocurre porque el potencial de cada botella es distinto</a:t>
              </a:r>
            </a:p>
          </p:txBody>
        </p:sp>
        <p:sp>
          <p:nvSpPr>
            <p:cNvPr id="19" name="AutoShape 21"/>
            <p:cNvSpPr>
              <a:spLocks noChangeArrowheads="1"/>
            </p:cNvSpPr>
            <p:nvPr/>
          </p:nvSpPr>
          <p:spPr bwMode="auto">
            <a:xfrm rot="5400000">
              <a:off x="9138538" y="1841128"/>
              <a:ext cx="409575" cy="609600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5265748" y="2445605"/>
            <a:ext cx="2144713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80000" tIns="72000" rIns="180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Depende de la distancia botella-tierra</a:t>
            </a: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4261105" y="5505014"/>
            <a:ext cx="6419975" cy="162273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80000" tIns="72000" rIns="180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Los excesos de Q</a:t>
            </a:r>
            <a:r>
              <a:rPr lang="es-ES" sz="2400" baseline="30000">
                <a:latin typeface="Arial" panose="020B0604020202020204" pitchFamily="34" charset="0"/>
              </a:rPr>
              <a:t>+</a:t>
            </a:r>
            <a:r>
              <a:rPr lang="es-ES" sz="2400">
                <a:latin typeface="Arial" panose="020B0604020202020204" pitchFamily="34" charset="0"/>
              </a:rPr>
              <a:t> y Q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de la tierra, cuyo valor depende de la distancia botella-tierra, no aportan el mismo |V|, no se cancelan, al estar a distancias diferentes de la botella</a:t>
            </a:r>
          </a:p>
        </p:txBody>
      </p:sp>
      <p:sp>
        <p:nvSpPr>
          <p:cNvPr id="22" name="AutoShape 21"/>
          <p:cNvSpPr>
            <a:spLocks noChangeArrowheads="1"/>
          </p:cNvSpPr>
          <p:nvPr/>
        </p:nvSpPr>
        <p:spPr bwMode="auto">
          <a:xfrm flipH="1">
            <a:off x="7446341" y="2766120"/>
            <a:ext cx="409575" cy="609600"/>
          </a:xfrm>
          <a:prstGeom prst="rightArrow">
            <a:avLst>
              <a:gd name="adj1" fmla="val 45620"/>
              <a:gd name="adj2" fmla="val 56616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AutoShape 21"/>
          <p:cNvSpPr>
            <a:spLocks noChangeArrowheads="1"/>
          </p:cNvSpPr>
          <p:nvPr/>
        </p:nvSpPr>
        <p:spPr bwMode="auto">
          <a:xfrm>
            <a:off x="4786252" y="1128753"/>
            <a:ext cx="409575" cy="609600"/>
          </a:xfrm>
          <a:prstGeom prst="rightArrow">
            <a:avLst>
              <a:gd name="adj1" fmla="val 45620"/>
              <a:gd name="adj2" fmla="val 56616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5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5" grpId="0" animBg="1"/>
      <p:bldP spid="55313" grpId="0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47"/>
          <p:cNvSpPr txBox="1">
            <a:spLocks noChangeArrowheads="1"/>
          </p:cNvSpPr>
          <p:nvPr/>
        </p:nvSpPr>
        <p:spPr bwMode="auto">
          <a:xfrm>
            <a:off x="4688300" y="2170763"/>
            <a:ext cx="4118733" cy="463846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 observa que no ocurre si: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688300" y="2890595"/>
            <a:ext cx="5543836" cy="13479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 añade una lámina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conductora 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botellas por el exterior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conectada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 tierra,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antes de cargar las botellas</a:t>
            </a:r>
            <a:endParaRPr lang="es-ES" sz="2400" u="sng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 Box 53"/>
          <p:cNvSpPr txBox="1">
            <a:spLocks noChangeArrowheads="1"/>
          </p:cNvSpPr>
          <p:nvPr/>
        </p:nvSpPr>
        <p:spPr bwMode="auto">
          <a:xfrm>
            <a:off x="4697412" y="4552100"/>
            <a:ext cx="5534724" cy="164454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No ocurre porque la lámina exterior   se pone a V</a:t>
            </a:r>
            <a:r>
              <a:rPr lang="es-ES" sz="2400" baseline="-25000" dirty="0">
                <a:solidFill>
                  <a:schemeClr val="tx1"/>
                </a:solidFill>
              </a:rPr>
              <a:t>TIERRA</a:t>
            </a:r>
            <a:r>
              <a:rPr lang="es-ES" sz="2400">
                <a:solidFill>
                  <a:schemeClr val="tx1"/>
                </a:solidFill>
              </a:rPr>
              <a:t>, eléctricamente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es </a:t>
            </a:r>
            <a:r>
              <a:rPr lang="es-ES" sz="2400" dirty="0">
                <a:solidFill>
                  <a:schemeClr val="tx1"/>
                </a:solidFill>
              </a:rPr>
              <a:t>tierra, y hace que </a:t>
            </a:r>
            <a:r>
              <a:rPr lang="es-ES" sz="2400">
                <a:solidFill>
                  <a:schemeClr val="tx1"/>
                </a:solidFill>
              </a:rPr>
              <a:t>la distancia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sea </a:t>
            </a:r>
            <a:r>
              <a:rPr lang="es-ES" sz="2400" dirty="0">
                <a:solidFill>
                  <a:schemeClr val="tx1"/>
                </a:solidFill>
              </a:rPr>
              <a:t>fija: el espesor del cristal</a:t>
            </a:r>
          </a:p>
        </p:txBody>
      </p:sp>
      <p:grpSp>
        <p:nvGrpSpPr>
          <p:cNvPr id="10" name="Group 49">
            <a:extLst>
              <a:ext uri="{FF2B5EF4-FFF2-40B4-BE49-F238E27FC236}">
                <a16:creationId xmlns:a16="http://schemas.microsoft.com/office/drawing/2014/main" id="{496E98CC-1AD8-42FB-BC93-980C655FB625}"/>
              </a:ext>
            </a:extLst>
          </p:cNvPr>
          <p:cNvGrpSpPr>
            <a:grpSpLocks/>
          </p:cNvGrpSpPr>
          <p:nvPr/>
        </p:nvGrpSpPr>
        <p:grpSpPr bwMode="auto">
          <a:xfrm>
            <a:off x="1222121" y="1202203"/>
            <a:ext cx="3471863" cy="5300663"/>
            <a:chOff x="1324" y="1001"/>
            <a:chExt cx="2187" cy="3339"/>
          </a:xfrm>
        </p:grpSpPr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4BF8B522-8FC1-4CDE-83A6-C4303B174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1001"/>
              <a:ext cx="2187" cy="29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BOTELLA DE LEYDEN</a:t>
              </a:r>
            </a:p>
          </p:txBody>
        </p:sp>
        <p:pic>
          <p:nvPicPr>
            <p:cNvPr id="12" name="Picture 9" descr="Original capacitor">
              <a:hlinkClick r:id="rId3" tooltip="Original capacitor"/>
              <a:extLst>
                <a:ext uri="{FF2B5EF4-FFF2-40B4-BE49-F238E27FC236}">
                  <a16:creationId xmlns:a16="http://schemas.microsoft.com/office/drawing/2014/main" id="{F6176FD1-5E5E-416E-BABB-8F15F56A6D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7" y="1612"/>
              <a:ext cx="1351" cy="2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 Box 21">
              <a:extLst>
                <a:ext uri="{FF2B5EF4-FFF2-40B4-BE49-F238E27FC236}">
                  <a16:creationId xmlns:a16="http://schemas.microsoft.com/office/drawing/2014/main" id="{72E4C039-1A1A-4B52-8D4E-BECE92458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1281"/>
              <a:ext cx="110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(1ª versión)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891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033E00FA-15B6-4B20-9F0A-8A76EAC3E98B}"/>
              </a:ext>
            </a:extLst>
          </p:cNvPr>
          <p:cNvGrpSpPr/>
          <p:nvPr/>
        </p:nvGrpSpPr>
        <p:grpSpPr>
          <a:xfrm>
            <a:off x="1170582" y="388811"/>
            <a:ext cx="5700117" cy="5852299"/>
            <a:chOff x="1170582" y="388811"/>
            <a:chExt cx="5700117" cy="5852299"/>
          </a:xfrm>
        </p:grpSpPr>
        <p:pic>
          <p:nvPicPr>
            <p:cNvPr id="19509" name="Picture 5" descr="Cross-section diagram showing construction.">
              <a:hlinkClick r:id="rId3" tooltip="Cross-section diagram showing construction.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0111" y="2085029"/>
              <a:ext cx="2160588" cy="41560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510" name="Text Box 12"/>
            <p:cNvSpPr txBox="1">
              <a:spLocks noChangeArrowheads="1"/>
            </p:cNvSpPr>
            <p:nvPr/>
          </p:nvSpPr>
          <p:spPr bwMode="auto">
            <a:xfrm>
              <a:off x="1728345" y="388811"/>
              <a:ext cx="3471864" cy="46196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BOTELLA DE LEYDEN</a:t>
              </a:r>
            </a:p>
          </p:txBody>
        </p:sp>
        <p:sp>
          <p:nvSpPr>
            <p:cNvPr id="19511" name="Text Box 13"/>
            <p:cNvSpPr txBox="1">
              <a:spLocks noChangeArrowheads="1"/>
            </p:cNvSpPr>
            <p:nvPr/>
          </p:nvSpPr>
          <p:spPr bwMode="auto">
            <a:xfrm>
              <a:off x="1170582" y="842782"/>
              <a:ext cx="4577192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2ª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versión: 1ª + lámina 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por fuera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512" name="Group 14"/>
          <p:cNvGrpSpPr>
            <a:grpSpLocks/>
          </p:cNvGrpSpPr>
          <p:nvPr/>
        </p:nvGrpSpPr>
        <p:grpSpPr bwMode="auto">
          <a:xfrm>
            <a:off x="5246686" y="6027944"/>
            <a:ext cx="328613" cy="550863"/>
            <a:chOff x="3669" y="4249"/>
            <a:chExt cx="207" cy="347"/>
          </a:xfrm>
        </p:grpSpPr>
        <p:sp>
          <p:nvSpPr>
            <p:cNvPr id="19513" name="Line 7"/>
            <p:cNvSpPr>
              <a:spLocks noChangeShapeType="1"/>
            </p:cNvSpPr>
            <p:nvPr/>
          </p:nvSpPr>
          <p:spPr bwMode="auto">
            <a:xfrm>
              <a:off x="3773" y="4249"/>
              <a:ext cx="0" cy="26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19514" name="Line 8"/>
            <p:cNvSpPr>
              <a:spLocks noChangeShapeType="1"/>
            </p:cNvSpPr>
            <p:nvPr/>
          </p:nvSpPr>
          <p:spPr bwMode="auto">
            <a:xfrm>
              <a:off x="3669" y="4518"/>
              <a:ext cx="20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19515" name="Line 9"/>
            <p:cNvSpPr>
              <a:spLocks noChangeShapeType="1"/>
            </p:cNvSpPr>
            <p:nvPr/>
          </p:nvSpPr>
          <p:spPr bwMode="auto">
            <a:xfrm>
              <a:off x="3704" y="4554"/>
              <a:ext cx="13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19516" name="Line 10"/>
            <p:cNvSpPr>
              <a:spLocks noChangeShapeType="1"/>
            </p:cNvSpPr>
            <p:nvPr/>
          </p:nvSpPr>
          <p:spPr bwMode="auto">
            <a:xfrm>
              <a:off x="3738" y="4596"/>
              <a:ext cx="7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sp>
        <p:nvSpPr>
          <p:cNvPr id="19507" name="Text Box 24"/>
          <p:cNvSpPr txBox="1">
            <a:spLocks noChangeArrowheads="1"/>
          </p:cNvSpPr>
          <p:nvPr/>
        </p:nvSpPr>
        <p:spPr bwMode="auto">
          <a:xfrm>
            <a:off x="6308450" y="307371"/>
            <a:ext cx="4050003" cy="95677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Es el 1</a:t>
            </a:r>
            <a:r>
              <a:rPr lang="es-ES" sz="2400" baseline="30000" dirty="0">
                <a:solidFill>
                  <a:srgbClr val="FFFFFF"/>
                </a:solidFill>
                <a:latin typeface="Arial" panose="020B0604020202020204" pitchFamily="34" charset="0"/>
              </a:rPr>
              <a:t>ER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 CONDENSADOR o CAPACITOR</a:t>
            </a:r>
          </a:p>
        </p:txBody>
      </p:sp>
      <p:sp>
        <p:nvSpPr>
          <p:cNvPr id="19508" name="AutoShape 49"/>
          <p:cNvSpPr>
            <a:spLocks noChangeArrowheads="1"/>
          </p:cNvSpPr>
          <p:nvPr/>
        </p:nvSpPr>
        <p:spPr bwMode="auto">
          <a:xfrm>
            <a:off x="5747462" y="446975"/>
            <a:ext cx="390328" cy="676275"/>
          </a:xfrm>
          <a:prstGeom prst="rightArrow">
            <a:avLst>
              <a:gd name="adj1" fmla="val 46546"/>
              <a:gd name="adj2" fmla="val 50866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/>
          </a:p>
        </p:txBody>
      </p:sp>
      <p:grpSp>
        <p:nvGrpSpPr>
          <p:cNvPr id="63580" name="Group 92"/>
          <p:cNvGrpSpPr>
            <a:grpSpLocks/>
          </p:cNvGrpSpPr>
          <p:nvPr/>
        </p:nvGrpSpPr>
        <p:grpSpPr bwMode="auto">
          <a:xfrm>
            <a:off x="1538363" y="2037282"/>
            <a:ext cx="4049714" cy="660401"/>
            <a:chOff x="-407" y="1394"/>
            <a:chExt cx="2551" cy="416"/>
          </a:xfrm>
        </p:grpSpPr>
        <p:grpSp>
          <p:nvGrpSpPr>
            <p:cNvPr id="19502" name="Group 82"/>
            <p:cNvGrpSpPr>
              <a:grpSpLocks/>
            </p:cNvGrpSpPr>
            <p:nvPr/>
          </p:nvGrpSpPr>
          <p:grpSpPr bwMode="auto">
            <a:xfrm>
              <a:off x="-42" y="1456"/>
              <a:ext cx="2186" cy="292"/>
              <a:chOff x="-42" y="1456"/>
              <a:chExt cx="2186" cy="292"/>
            </a:xfrm>
          </p:grpSpPr>
          <p:pic>
            <p:nvPicPr>
              <p:cNvPr id="19504" name="Picture 26" descr="Image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1" y="1511"/>
                <a:ext cx="223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05" name="Line 27"/>
              <p:cNvSpPr>
                <a:spLocks noChangeShapeType="1"/>
              </p:cNvSpPr>
              <p:nvPr/>
            </p:nvSpPr>
            <p:spPr bwMode="auto">
              <a:xfrm>
                <a:off x="1422" y="1618"/>
                <a:ext cx="459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19506" name="Text Box 33"/>
              <p:cNvSpPr txBox="1">
                <a:spLocks noChangeArrowheads="1"/>
              </p:cNvSpPr>
              <p:nvPr/>
            </p:nvSpPr>
            <p:spPr bwMode="auto">
              <a:xfrm>
                <a:off x="-42" y="1456"/>
                <a:ext cx="1483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Si se aportan e</a:t>
                </a:r>
                <a:r>
                  <a:rPr lang="es-ES" sz="2400" baseline="30000">
                    <a:latin typeface="Arial" panose="020B0604020202020204" pitchFamily="34" charset="0"/>
                  </a:rPr>
                  <a:t>-</a:t>
                </a:r>
                <a:r>
                  <a:rPr lang="es-ES" sz="2400">
                    <a:latin typeface="Arial" panose="020B0604020202020204" pitchFamily="34" charset="0"/>
                  </a:rPr>
                  <a:t> </a:t>
                </a:r>
              </a:p>
            </p:txBody>
          </p:sp>
        </p:grpSp>
        <p:sp>
          <p:nvSpPr>
            <p:cNvPr id="19503" name="Text Box 86"/>
            <p:cNvSpPr txBox="1">
              <a:spLocks noChangeArrowheads="1"/>
            </p:cNvSpPr>
            <p:nvPr/>
          </p:nvSpPr>
          <p:spPr bwMode="auto">
            <a:xfrm>
              <a:off x="-407" y="1394"/>
              <a:ext cx="345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>
                  <a:solidFill>
                    <a:srgbClr val="008000"/>
                  </a:solidFill>
                  <a:sym typeface="Wingdings" panose="05000000000000000000" pitchFamily="2" charset="2"/>
                </a:rPr>
                <a:t></a:t>
              </a:r>
            </a:p>
          </p:txBody>
        </p:sp>
      </p:grpSp>
      <p:grpSp>
        <p:nvGrpSpPr>
          <p:cNvPr id="63586" name="Group 98"/>
          <p:cNvGrpSpPr>
            <a:grpSpLocks/>
          </p:cNvGrpSpPr>
          <p:nvPr/>
        </p:nvGrpSpPr>
        <p:grpSpPr bwMode="auto">
          <a:xfrm>
            <a:off x="1546973" y="5866075"/>
            <a:ext cx="3649663" cy="985838"/>
            <a:chOff x="-415" y="3812"/>
            <a:chExt cx="2299" cy="621"/>
          </a:xfrm>
        </p:grpSpPr>
        <p:sp>
          <p:nvSpPr>
            <p:cNvPr id="19498" name="Text Box 50"/>
            <p:cNvSpPr txBox="1">
              <a:spLocks noChangeArrowheads="1"/>
            </p:cNvSpPr>
            <p:nvPr/>
          </p:nvSpPr>
          <p:spPr bwMode="auto">
            <a:xfrm>
              <a:off x="-135" y="3862"/>
              <a:ext cx="1058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latin typeface="Arial" panose="020B0604020202020204" pitchFamily="34" charset="0"/>
                </a:rPr>
                <a:t>-</a:t>
              </a:r>
              <a:r>
                <a:rPr lang="es-ES" sz="2400" dirty="0">
                  <a:latin typeface="Arial" panose="020B0604020202020204" pitchFamily="34" charset="0"/>
                </a:rPr>
                <a:t> repele e</a:t>
              </a:r>
              <a:r>
                <a:rPr lang="es-ES" sz="2400" baseline="30000" dirty="0">
                  <a:latin typeface="Arial" panose="020B0604020202020204" pitchFamily="34" charset="0"/>
                </a:rPr>
                <a:t>-</a:t>
              </a:r>
              <a:r>
                <a:rPr lang="es-ES" sz="2400" dirty="0">
                  <a:latin typeface="Arial" panose="020B0604020202020204" pitchFamily="34" charset="0"/>
                </a:rPr>
                <a:t> a tierra</a:t>
              </a:r>
            </a:p>
          </p:txBody>
        </p:sp>
        <p:pic>
          <p:nvPicPr>
            <p:cNvPr id="19499" name="Picture 28" descr="Image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1" y="3971"/>
              <a:ext cx="22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500" name="Line 29"/>
            <p:cNvSpPr>
              <a:spLocks noChangeShapeType="1"/>
            </p:cNvSpPr>
            <p:nvPr/>
          </p:nvSpPr>
          <p:spPr bwMode="auto">
            <a:xfrm rot="5400000">
              <a:off x="1646" y="4318"/>
              <a:ext cx="227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 sz="2400" dirty="0"/>
            </a:p>
          </p:txBody>
        </p:sp>
        <p:sp>
          <p:nvSpPr>
            <p:cNvPr id="19501" name="Text Box 87"/>
            <p:cNvSpPr txBox="1">
              <a:spLocks noChangeArrowheads="1"/>
            </p:cNvSpPr>
            <p:nvPr/>
          </p:nvSpPr>
          <p:spPr bwMode="auto">
            <a:xfrm>
              <a:off x="-415" y="3812"/>
              <a:ext cx="345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>
                  <a:solidFill>
                    <a:srgbClr val="008000"/>
                  </a:solidFill>
                  <a:sym typeface="Wingdings" panose="05000000000000000000" pitchFamily="2" charset="2"/>
                </a:rPr>
                <a:t></a:t>
              </a:r>
            </a:p>
          </p:txBody>
        </p:sp>
      </p:grpSp>
      <p:grpSp>
        <p:nvGrpSpPr>
          <p:cNvPr id="63583" name="Group 95"/>
          <p:cNvGrpSpPr>
            <a:grpSpLocks/>
          </p:cNvGrpSpPr>
          <p:nvPr/>
        </p:nvGrpSpPr>
        <p:grpSpPr bwMode="auto">
          <a:xfrm>
            <a:off x="5989510" y="2058870"/>
            <a:ext cx="4376736" cy="660401"/>
            <a:chOff x="2379" y="1413"/>
            <a:chExt cx="2757" cy="416"/>
          </a:xfrm>
        </p:grpSpPr>
        <p:grpSp>
          <p:nvGrpSpPr>
            <p:cNvPr id="19489" name="Group 84"/>
            <p:cNvGrpSpPr>
              <a:grpSpLocks/>
            </p:cNvGrpSpPr>
            <p:nvPr/>
          </p:nvGrpSpPr>
          <p:grpSpPr bwMode="auto">
            <a:xfrm>
              <a:off x="2379" y="1473"/>
              <a:ext cx="2757" cy="292"/>
              <a:chOff x="2379" y="1473"/>
              <a:chExt cx="2757" cy="292"/>
            </a:xfrm>
          </p:grpSpPr>
          <p:pic>
            <p:nvPicPr>
              <p:cNvPr id="19491" name="Picture 26" descr="Image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9" y="1515"/>
                <a:ext cx="223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492" name="Line 27"/>
              <p:cNvSpPr>
                <a:spLocks noChangeShapeType="1"/>
              </p:cNvSpPr>
              <p:nvPr/>
            </p:nvSpPr>
            <p:spPr bwMode="auto">
              <a:xfrm flipV="1">
                <a:off x="2691" y="1623"/>
                <a:ext cx="603" cy="0"/>
              </a:xfrm>
              <a:prstGeom prst="line">
                <a:avLst/>
              </a:prstGeom>
              <a:noFill/>
              <a:ln w="38100">
                <a:solidFill>
                  <a:srgbClr val="9933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19493" name="Text Box 33"/>
              <p:cNvSpPr txBox="1">
                <a:spLocks noChangeArrowheads="1"/>
              </p:cNvSpPr>
              <p:nvPr/>
            </p:nvSpPr>
            <p:spPr bwMode="auto">
              <a:xfrm>
                <a:off x="3606" y="1473"/>
                <a:ext cx="1530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Si se extraen e</a:t>
                </a:r>
                <a:r>
                  <a:rPr lang="es-ES" sz="2400" baseline="30000"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19490" name="Text Box 89"/>
            <p:cNvSpPr txBox="1">
              <a:spLocks noChangeArrowheads="1"/>
            </p:cNvSpPr>
            <p:nvPr/>
          </p:nvSpPr>
          <p:spPr bwMode="auto">
            <a:xfrm>
              <a:off x="3288" y="1413"/>
              <a:ext cx="345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>
                  <a:solidFill>
                    <a:srgbClr val="993300"/>
                  </a:solidFill>
                  <a:sym typeface="Wingdings" panose="05000000000000000000" pitchFamily="2" charset="2"/>
                </a:rPr>
                <a:t></a:t>
              </a:r>
            </a:p>
          </p:txBody>
        </p:sp>
      </p:grpSp>
      <p:grpSp>
        <p:nvGrpSpPr>
          <p:cNvPr id="63587" name="Group 99"/>
          <p:cNvGrpSpPr>
            <a:grpSpLocks/>
          </p:cNvGrpSpPr>
          <p:nvPr/>
        </p:nvGrpSpPr>
        <p:grpSpPr bwMode="auto">
          <a:xfrm>
            <a:off x="5587873" y="5860932"/>
            <a:ext cx="4062414" cy="1052513"/>
            <a:chOff x="2126" y="3808"/>
            <a:chExt cx="2559" cy="663"/>
          </a:xfrm>
        </p:grpSpPr>
        <p:sp>
          <p:nvSpPr>
            <p:cNvPr id="19481" name="Text Box 50"/>
            <p:cNvSpPr txBox="1">
              <a:spLocks noChangeArrowheads="1"/>
            </p:cNvSpPr>
            <p:nvPr/>
          </p:nvSpPr>
          <p:spPr bwMode="auto">
            <a:xfrm>
              <a:off x="3627" y="3861"/>
              <a:ext cx="1058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latin typeface="Arial" panose="020B0604020202020204" pitchFamily="34" charset="0"/>
                </a:rPr>
                <a:t>+</a:t>
              </a:r>
              <a:r>
                <a:rPr lang="es-ES" sz="2400" dirty="0">
                  <a:latin typeface="Arial" panose="020B0604020202020204" pitchFamily="34" charset="0"/>
                </a:rPr>
                <a:t> atrae e</a:t>
              </a:r>
              <a:r>
                <a:rPr lang="es-ES" sz="2400" baseline="30000" dirty="0">
                  <a:latin typeface="Arial" panose="020B0604020202020204" pitchFamily="34" charset="0"/>
                </a:rPr>
                <a:t>- </a:t>
              </a:r>
              <a:r>
                <a:rPr lang="es-ES" sz="2400" dirty="0">
                  <a:latin typeface="Arial" panose="020B0604020202020204" pitchFamily="34" charset="0"/>
                </a:rPr>
                <a:t>de tierra</a:t>
              </a:r>
            </a:p>
          </p:txBody>
        </p:sp>
        <p:pic>
          <p:nvPicPr>
            <p:cNvPr id="19482" name="Picture 28" descr="Image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6" y="4258"/>
              <a:ext cx="22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83" name="Line 29"/>
            <p:cNvSpPr>
              <a:spLocks noChangeShapeType="1"/>
            </p:cNvSpPr>
            <p:nvPr/>
          </p:nvSpPr>
          <p:spPr bwMode="auto">
            <a:xfrm rot="16200000" flipV="1">
              <a:off x="2127" y="4110"/>
              <a:ext cx="227" cy="0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9484" name="Text Box 91"/>
            <p:cNvSpPr txBox="1">
              <a:spLocks noChangeArrowheads="1"/>
            </p:cNvSpPr>
            <p:nvPr/>
          </p:nvSpPr>
          <p:spPr bwMode="auto">
            <a:xfrm>
              <a:off x="3291" y="3808"/>
              <a:ext cx="345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>
                  <a:solidFill>
                    <a:srgbClr val="993300"/>
                  </a:solidFill>
                  <a:sym typeface="Wingdings" panose="05000000000000000000" pitchFamily="2" charset="2"/>
                </a:rPr>
                <a:t>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3AA6C869-DD92-453E-82EB-573198EED441}"/>
              </a:ext>
            </a:extLst>
          </p:cNvPr>
          <p:cNvGrpSpPr/>
          <p:nvPr/>
        </p:nvGrpSpPr>
        <p:grpSpPr>
          <a:xfrm>
            <a:off x="1534108" y="3173672"/>
            <a:ext cx="3986377" cy="1872186"/>
            <a:chOff x="1534108" y="3089592"/>
            <a:chExt cx="3986377" cy="1872186"/>
          </a:xfrm>
        </p:grpSpPr>
        <p:grpSp>
          <p:nvGrpSpPr>
            <p:cNvPr id="4" name="Grupo 3"/>
            <p:cNvGrpSpPr>
              <a:grpSpLocks/>
            </p:cNvGrpSpPr>
            <p:nvPr/>
          </p:nvGrpSpPr>
          <p:grpSpPr bwMode="auto">
            <a:xfrm>
              <a:off x="1534108" y="3089592"/>
              <a:ext cx="3986377" cy="1872186"/>
              <a:chOff x="-639528" y="3128965"/>
              <a:chExt cx="3985978" cy="1872186"/>
            </a:xfrm>
          </p:grpSpPr>
          <p:pic>
            <p:nvPicPr>
              <p:cNvPr id="19477" name="Picture 26" descr="Image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92438" y="4663014"/>
                <a:ext cx="354012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9478" name="Group 94"/>
              <p:cNvGrpSpPr>
                <a:grpSpLocks/>
              </p:cNvGrpSpPr>
              <p:nvPr/>
            </p:nvGrpSpPr>
            <p:grpSpPr bwMode="auto">
              <a:xfrm>
                <a:off x="-639528" y="3128965"/>
                <a:ext cx="2535238" cy="920751"/>
                <a:chOff x="-406" y="2290"/>
                <a:chExt cx="1597" cy="580"/>
              </a:xfrm>
            </p:grpSpPr>
            <p:sp>
              <p:nvSpPr>
                <p:cNvPr id="19479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-49" y="2345"/>
                  <a:ext cx="1240" cy="5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squar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 dirty="0">
                      <a:latin typeface="Arial" panose="020B0604020202020204" pitchFamily="34" charset="0"/>
                    </a:rPr>
                    <a:t>Se almacena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 dirty="0">
                      <a:latin typeface="Arial" panose="020B0604020202020204" pitchFamily="34" charset="0"/>
                    </a:rPr>
                    <a:t>Q</a:t>
                  </a:r>
                  <a:r>
                    <a:rPr lang="es-ES" sz="2400" baseline="30000" dirty="0">
                      <a:latin typeface="Arial" panose="020B0604020202020204" pitchFamily="34" charset="0"/>
                    </a:rPr>
                    <a:t>-</a:t>
                  </a:r>
                  <a:r>
                    <a:rPr lang="es-ES" sz="2400" dirty="0">
                      <a:latin typeface="Arial" panose="020B0604020202020204" pitchFamily="34" charset="0"/>
                    </a:rPr>
                    <a:t> dentro</a:t>
                  </a:r>
                </a:p>
              </p:txBody>
            </p:sp>
            <p:sp>
              <p:nvSpPr>
                <p:cNvPr id="19480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-406" y="2290"/>
                  <a:ext cx="345" cy="4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chemeClr val="tx1"/>
                      </a:solidFill>
                      <a:miter lim="800000"/>
                      <a:headEnd/>
                      <a:tailEnd type="none" w="lg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s-ES" sz="3200">
                      <a:solidFill>
                        <a:srgbClr val="008000"/>
                      </a:solidFill>
                      <a:sym typeface="Wingdings" panose="05000000000000000000" pitchFamily="2" charset="2"/>
                    </a:rPr>
                    <a:t></a:t>
                  </a:r>
                </a:p>
              </p:txBody>
            </p:sp>
          </p:grpSp>
        </p:grpSp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38B75CC1-3EC0-47C1-BB43-4C2122028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600" y="3867210"/>
              <a:ext cx="1048588" cy="67542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 dirty="0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8A865751-F1BA-482B-901F-6DA54D6C0D1D}"/>
              </a:ext>
            </a:extLst>
          </p:cNvPr>
          <p:cNvGrpSpPr/>
          <p:nvPr/>
        </p:nvGrpSpPr>
        <p:grpSpPr>
          <a:xfrm>
            <a:off x="6060948" y="3170119"/>
            <a:ext cx="3935413" cy="1887538"/>
            <a:chOff x="6060948" y="3086039"/>
            <a:chExt cx="3935413" cy="1887538"/>
          </a:xfrm>
        </p:grpSpPr>
        <p:grpSp>
          <p:nvGrpSpPr>
            <p:cNvPr id="63584" name="Group 96"/>
            <p:cNvGrpSpPr>
              <a:grpSpLocks/>
            </p:cNvGrpSpPr>
            <p:nvPr/>
          </p:nvGrpSpPr>
          <p:grpSpPr bwMode="auto">
            <a:xfrm>
              <a:off x="6060948" y="3086039"/>
              <a:ext cx="3935413" cy="1887538"/>
              <a:chOff x="2424" y="2113"/>
              <a:chExt cx="2479" cy="1189"/>
            </a:xfrm>
          </p:grpSpPr>
          <p:grpSp>
            <p:nvGrpSpPr>
              <p:cNvPr id="19485" name="Group 81"/>
              <p:cNvGrpSpPr>
                <a:grpSpLocks/>
              </p:cNvGrpSpPr>
              <p:nvPr/>
            </p:nvGrpSpPr>
            <p:grpSpPr bwMode="auto">
              <a:xfrm>
                <a:off x="2424" y="2170"/>
                <a:ext cx="2479" cy="1132"/>
                <a:chOff x="2424" y="2170"/>
                <a:chExt cx="2479" cy="1132"/>
              </a:xfrm>
            </p:grpSpPr>
            <p:sp>
              <p:nvSpPr>
                <p:cNvPr id="19487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636" y="2170"/>
                  <a:ext cx="1267" cy="5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squar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 dirty="0">
                      <a:latin typeface="Arial" panose="020B0604020202020204" pitchFamily="34" charset="0"/>
                    </a:rPr>
                    <a:t>Se almacena Q</a:t>
                  </a:r>
                  <a:r>
                    <a:rPr lang="es-ES" sz="2400" baseline="30000" dirty="0">
                      <a:latin typeface="Arial" panose="020B0604020202020204" pitchFamily="34" charset="0"/>
                    </a:rPr>
                    <a:t>+</a:t>
                  </a:r>
                  <a:r>
                    <a:rPr lang="es-ES" sz="2400" dirty="0">
                      <a:latin typeface="Arial" panose="020B0604020202020204" pitchFamily="34" charset="0"/>
                    </a:rPr>
                    <a:t> dentro</a:t>
                  </a:r>
                </a:p>
              </p:txBody>
            </p:sp>
            <p:pic>
              <p:nvPicPr>
                <p:cNvPr id="19488" name="Picture 35" descr="Image1"/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24" y="3089"/>
                  <a:ext cx="213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9486" name="Text Box 90"/>
              <p:cNvSpPr txBox="1">
                <a:spLocks noChangeArrowheads="1"/>
              </p:cNvSpPr>
              <p:nvPr/>
            </p:nvSpPr>
            <p:spPr bwMode="auto">
              <a:xfrm>
                <a:off x="3297" y="2113"/>
                <a:ext cx="345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3200">
                    <a:solidFill>
                      <a:srgbClr val="993300"/>
                    </a:solidFill>
                    <a:sym typeface="Wingdings" panose="05000000000000000000" pitchFamily="2" charset="2"/>
                  </a:rPr>
                  <a:t></a:t>
                </a:r>
              </a:p>
            </p:txBody>
          </p:sp>
        </p:grpSp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70539AFB-D91C-4691-9423-C06938FBA9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99086" y="3898946"/>
              <a:ext cx="1427689" cy="68581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506C4BB-F81E-2106-8030-72E60EF7189E}"/>
              </a:ext>
            </a:extLst>
          </p:cNvPr>
          <p:cNvGrpSpPr/>
          <p:nvPr/>
        </p:nvGrpSpPr>
        <p:grpSpPr>
          <a:xfrm>
            <a:off x="6541645" y="4507113"/>
            <a:ext cx="3088504" cy="931863"/>
            <a:chOff x="6541645" y="4507113"/>
            <a:chExt cx="3088504" cy="931863"/>
          </a:xfrm>
        </p:grpSpPr>
        <p:pic>
          <p:nvPicPr>
            <p:cNvPr id="19473" name="Picture 26" descr="Image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1645" y="4702916"/>
              <a:ext cx="354151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2E67B228-175D-BD87-451A-C1807915985D}"/>
                </a:ext>
              </a:extLst>
            </p:cNvPr>
            <p:cNvGrpSpPr/>
            <p:nvPr/>
          </p:nvGrpSpPr>
          <p:grpSpPr>
            <a:xfrm>
              <a:off x="6974644" y="4507113"/>
              <a:ext cx="2655505" cy="931863"/>
              <a:chOff x="6974644" y="4507113"/>
              <a:chExt cx="2655505" cy="931863"/>
            </a:xfrm>
          </p:grpSpPr>
          <p:sp>
            <p:nvSpPr>
              <p:cNvPr id="19475" name="Text Box 34"/>
              <p:cNvSpPr txBox="1">
                <a:spLocks noChangeArrowheads="1"/>
              </p:cNvSpPr>
              <p:nvPr/>
            </p:nvSpPr>
            <p:spPr bwMode="auto">
              <a:xfrm>
                <a:off x="7938800" y="4605538"/>
                <a:ext cx="1691349" cy="833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</a:rPr>
                  <a:t>Se induce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</a:rPr>
                  <a:t>Q</a:t>
                </a:r>
                <a:r>
                  <a:rPr lang="es-ES" sz="2400" baseline="30000" dirty="0">
                    <a:latin typeface="Arial" panose="020B0604020202020204" pitchFamily="34" charset="0"/>
                  </a:rPr>
                  <a:t>-</a:t>
                </a:r>
                <a:r>
                  <a:rPr lang="es-ES" sz="2400" dirty="0">
                    <a:latin typeface="Arial" panose="020B0604020202020204" pitchFamily="34" charset="0"/>
                  </a:rPr>
                  <a:t> fuera</a:t>
                </a:r>
              </a:p>
            </p:txBody>
          </p:sp>
          <p:sp>
            <p:nvSpPr>
              <p:cNvPr id="19476" name="Text Box 88"/>
              <p:cNvSpPr txBox="1">
                <a:spLocks noChangeArrowheads="1"/>
              </p:cNvSpPr>
              <p:nvPr/>
            </p:nvSpPr>
            <p:spPr bwMode="auto">
              <a:xfrm>
                <a:off x="7435365" y="4507113"/>
                <a:ext cx="547902" cy="660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3200" dirty="0">
                    <a:solidFill>
                      <a:srgbClr val="993300"/>
                    </a:solidFill>
                    <a:sym typeface="Wingdings" panose="05000000000000000000" pitchFamily="2" charset="2"/>
                  </a:rPr>
                  <a:t></a:t>
                </a:r>
              </a:p>
            </p:txBody>
          </p:sp>
          <p:sp>
            <p:nvSpPr>
              <p:cNvPr id="57" name="Line 27">
                <a:extLst>
                  <a:ext uri="{FF2B5EF4-FFF2-40B4-BE49-F238E27FC236}">
                    <a16:creationId xmlns:a16="http://schemas.microsoft.com/office/drawing/2014/main" id="{150CACCC-4227-4265-B3CB-3ED4E49580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74644" y="4846043"/>
                <a:ext cx="457121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46800" rIns="90000" bIns="46800">
                <a:noAutofit/>
              </a:bodyPr>
              <a:lstStyle/>
              <a:p>
                <a:endParaRPr lang="en-GB" sz="2400" dirty="0"/>
              </a:p>
            </p:txBody>
          </p:sp>
        </p:grp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403288E-3BE6-2AAD-6115-CA16B712809B}"/>
              </a:ext>
            </a:extLst>
          </p:cNvPr>
          <p:cNvGrpSpPr/>
          <p:nvPr/>
        </p:nvGrpSpPr>
        <p:grpSpPr>
          <a:xfrm>
            <a:off x="1542206" y="4489392"/>
            <a:ext cx="3481393" cy="933451"/>
            <a:chOff x="1542206" y="4489392"/>
            <a:chExt cx="3481393" cy="933451"/>
          </a:xfrm>
        </p:grpSpPr>
        <p:pic>
          <p:nvPicPr>
            <p:cNvPr id="19497" name="Picture 35" descr="Image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5461" y="4703705"/>
              <a:ext cx="3381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3054D56-F3B2-3281-D243-EE355F13242D}"/>
                </a:ext>
              </a:extLst>
            </p:cNvPr>
            <p:cNvGrpSpPr/>
            <p:nvPr/>
          </p:nvGrpSpPr>
          <p:grpSpPr>
            <a:xfrm>
              <a:off x="1542206" y="4489392"/>
              <a:ext cx="3015863" cy="933451"/>
              <a:chOff x="1542206" y="4489392"/>
              <a:chExt cx="3015863" cy="933451"/>
            </a:xfrm>
          </p:grpSpPr>
          <p:sp>
            <p:nvSpPr>
              <p:cNvPr id="19496" name="Text Box 34"/>
              <p:cNvSpPr txBox="1">
                <a:spLocks noChangeArrowheads="1"/>
              </p:cNvSpPr>
              <p:nvPr/>
            </p:nvSpPr>
            <p:spPr bwMode="auto">
              <a:xfrm>
                <a:off x="2008932" y="4589405"/>
                <a:ext cx="1690690" cy="833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</a:rPr>
                  <a:t>Se induce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</a:rPr>
                  <a:t>Q</a:t>
                </a:r>
                <a:r>
                  <a:rPr lang="es-ES" sz="2400" baseline="30000" dirty="0">
                    <a:latin typeface="Arial" panose="020B0604020202020204" pitchFamily="34" charset="0"/>
                  </a:rPr>
                  <a:t>+</a:t>
                </a:r>
                <a:r>
                  <a:rPr lang="es-ES" sz="2400" dirty="0">
                    <a:latin typeface="Arial" panose="020B0604020202020204" pitchFamily="34" charset="0"/>
                  </a:rPr>
                  <a:t> fuera</a:t>
                </a:r>
              </a:p>
            </p:txBody>
          </p:sp>
          <p:sp>
            <p:nvSpPr>
              <p:cNvPr id="19495" name="Text Box 88"/>
              <p:cNvSpPr txBox="1">
                <a:spLocks noChangeArrowheads="1"/>
              </p:cNvSpPr>
              <p:nvPr/>
            </p:nvSpPr>
            <p:spPr bwMode="auto">
              <a:xfrm>
                <a:off x="1542206" y="4489392"/>
                <a:ext cx="547688" cy="6604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3200" dirty="0">
                    <a:solidFill>
                      <a:srgbClr val="008000"/>
                    </a:solidFill>
                    <a:sym typeface="Wingdings" panose="05000000000000000000" pitchFamily="2" charset="2"/>
                  </a:rPr>
                  <a:t></a:t>
                </a:r>
              </a:p>
            </p:txBody>
          </p:sp>
          <p:sp>
            <p:nvSpPr>
              <p:cNvPr id="58" name="Line 27">
                <a:extLst>
                  <a:ext uri="{FF2B5EF4-FFF2-40B4-BE49-F238E27FC236}">
                    <a16:creationId xmlns:a16="http://schemas.microsoft.com/office/drawing/2014/main" id="{EA2B883D-BDA4-47FD-8A6A-3E46CC644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8251" y="4856676"/>
                <a:ext cx="809818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46800" rIns="90000" bIns="46800">
                <a:noAutofit/>
              </a:bodyPr>
              <a:lstStyle/>
              <a:p>
                <a:endParaRPr lang="en-GB" sz="2400" dirty="0"/>
              </a:p>
            </p:txBody>
          </p:sp>
        </p:grpSp>
      </p:grpSp>
      <p:sp>
        <p:nvSpPr>
          <p:cNvPr id="63" name="Text Box 31">
            <a:extLst>
              <a:ext uri="{FF2B5EF4-FFF2-40B4-BE49-F238E27FC236}">
                <a16:creationId xmlns:a16="http://schemas.microsoft.com/office/drawing/2014/main" id="{76D1EA63-9226-4864-A432-76BB2C364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3443" y="1440830"/>
            <a:ext cx="5398077" cy="46384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Proceso de </a:t>
            </a:r>
            <a:r>
              <a:rPr lang="es-ES" sz="2400">
                <a:latin typeface="Arial" panose="020B0604020202020204" pitchFamily="34" charset="0"/>
              </a:rPr>
              <a:t>carga conectada </a:t>
            </a:r>
            <a:r>
              <a:rPr lang="es-ES" sz="2400" dirty="0">
                <a:latin typeface="Arial" panose="020B0604020202020204" pitchFamily="34" charset="0"/>
              </a:rPr>
              <a:t>a tierra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07" grpId="0" animBg="1"/>
      <p:bldP spid="19508" grpId="0" animBg="1"/>
      <p:bldP spid="6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0" name="Text Box 30"/>
          <p:cNvSpPr txBox="1">
            <a:spLocks noChangeArrowheads="1"/>
          </p:cNvSpPr>
          <p:nvPr/>
        </p:nvSpPr>
        <p:spPr bwMode="auto">
          <a:xfrm>
            <a:off x="4476489" y="3804092"/>
            <a:ext cx="5864565" cy="26798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 límite de carga lo determina en esta versión de la botella, en un condensador,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ruptura dieléctrica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del medio entre las láminas, que es donde el campo eléctrico resulta ser más grande. En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1ª versión,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ruptura del medio que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rodea (como ocurre en el acelerador Van de Graaff)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4476489" y="2030611"/>
            <a:ext cx="5864565" cy="15696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s-ES" sz="2400" dirty="0"/>
              <a:t>Se puede aportar más Q, negativa o positiva, si el cuerpo donador tiene un |V| mayor que el del interior de la botella respecto a tierra, al de la lámina exterior</a:t>
            </a:r>
            <a:endParaRPr lang="es-ES" sz="2400" dirty="0">
              <a:solidFill>
                <a:srgbClr val="FF0000"/>
              </a:solidFill>
            </a:endParaRPr>
          </a:p>
        </p:txBody>
      </p:sp>
      <p:pic>
        <p:nvPicPr>
          <p:cNvPr id="61" name="Picture 5" descr="Cross-section diagram showing construction.">
            <a:hlinkClick r:id="rId3" tooltip="Cross-section diagram showing construction.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551" y="2007241"/>
            <a:ext cx="2160588" cy="4156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4" name="Group 14"/>
          <p:cNvGrpSpPr>
            <a:grpSpLocks/>
          </p:cNvGrpSpPr>
          <p:nvPr/>
        </p:nvGrpSpPr>
        <p:grpSpPr bwMode="auto">
          <a:xfrm>
            <a:off x="2340126" y="5964884"/>
            <a:ext cx="328613" cy="550863"/>
            <a:chOff x="2123" y="4249"/>
            <a:chExt cx="207" cy="347"/>
          </a:xfrm>
        </p:grpSpPr>
        <p:sp>
          <p:nvSpPr>
            <p:cNvPr id="65" name="Line 7"/>
            <p:cNvSpPr>
              <a:spLocks noChangeShapeType="1"/>
            </p:cNvSpPr>
            <p:nvPr/>
          </p:nvSpPr>
          <p:spPr bwMode="auto">
            <a:xfrm>
              <a:off x="2227" y="4249"/>
              <a:ext cx="0" cy="26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66" name="Line 8"/>
            <p:cNvSpPr>
              <a:spLocks noChangeShapeType="1"/>
            </p:cNvSpPr>
            <p:nvPr/>
          </p:nvSpPr>
          <p:spPr bwMode="auto">
            <a:xfrm>
              <a:off x="2123" y="4518"/>
              <a:ext cx="20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67" name="Line 9"/>
            <p:cNvSpPr>
              <a:spLocks noChangeShapeType="1"/>
            </p:cNvSpPr>
            <p:nvPr/>
          </p:nvSpPr>
          <p:spPr bwMode="auto">
            <a:xfrm>
              <a:off x="2158" y="4554"/>
              <a:ext cx="13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68" name="Line 10"/>
            <p:cNvSpPr>
              <a:spLocks noChangeShapeType="1"/>
            </p:cNvSpPr>
            <p:nvPr/>
          </p:nvSpPr>
          <p:spPr bwMode="auto">
            <a:xfrm>
              <a:off x="2192" y="4596"/>
              <a:ext cx="7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sp>
        <p:nvSpPr>
          <p:cNvPr id="4" name="Text Box 13">
            <a:extLst>
              <a:ext uri="{FF2B5EF4-FFF2-40B4-BE49-F238E27FC236}">
                <a16:creationId xmlns:a16="http://schemas.microsoft.com/office/drawing/2014/main" id="{7CEA1DE5-FFC5-4485-BAD3-4507C39D7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3042" y="852614"/>
            <a:ext cx="175109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2ª versión)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 Box 24">
            <a:extLst>
              <a:ext uri="{FF2B5EF4-FFF2-40B4-BE49-F238E27FC236}">
                <a16:creationId xmlns:a16="http://schemas.microsoft.com/office/drawing/2014/main" id="{AC3F06E4-BA4D-4062-8E83-785CF4600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450" y="307371"/>
            <a:ext cx="4050003" cy="95677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Es el 1</a:t>
            </a:r>
            <a:r>
              <a:rPr lang="es-ES" sz="2400" baseline="30000" dirty="0">
                <a:solidFill>
                  <a:srgbClr val="FFFFFF"/>
                </a:solidFill>
                <a:latin typeface="Arial" panose="020B0604020202020204" pitchFamily="34" charset="0"/>
              </a:rPr>
              <a:t>ER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 CONDENSADOR o CAPACITOR</a:t>
            </a:r>
          </a:p>
        </p:txBody>
      </p:sp>
      <p:sp>
        <p:nvSpPr>
          <p:cNvPr id="20" name="AutoShape 49">
            <a:extLst>
              <a:ext uri="{FF2B5EF4-FFF2-40B4-BE49-F238E27FC236}">
                <a16:creationId xmlns:a16="http://schemas.microsoft.com/office/drawing/2014/main" id="{D4FEC2BB-37D5-4CE1-B203-2F98022E0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7462" y="446975"/>
            <a:ext cx="390328" cy="676275"/>
          </a:xfrm>
          <a:prstGeom prst="rightArrow">
            <a:avLst>
              <a:gd name="adj1" fmla="val 46546"/>
              <a:gd name="adj2" fmla="val 50866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/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119FD99E-E988-D5C9-04AD-77618BB6B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345" y="388811"/>
            <a:ext cx="3471864" cy="46196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BOTELLA DE LEYDEN</a:t>
            </a:r>
          </a:p>
        </p:txBody>
      </p:sp>
    </p:spTree>
    <p:extLst>
      <p:ext uri="{BB962C8B-B14F-4D97-AF65-F5344CB8AC3E}">
        <p14:creationId xmlns:p14="http://schemas.microsoft.com/office/powerpoint/2010/main" val="325514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0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5" name="Text Box 25"/>
          <p:cNvSpPr txBox="1">
            <a:spLocks noChangeArrowheads="1"/>
          </p:cNvSpPr>
          <p:nvPr/>
        </p:nvSpPr>
        <p:spPr bwMode="auto">
          <a:xfrm>
            <a:off x="4476487" y="2010688"/>
            <a:ext cx="5864565" cy="2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Si dos botellas iguales, con la misma carga interior, positiva o negativa, se desconectan de tierra tras cargarlas,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se conectan entre sí, se observa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que no hay corriente entre ellas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aunque estén a diferente altura</a:t>
            </a:r>
          </a:p>
        </p:txBody>
      </p:sp>
      <p:sp>
        <p:nvSpPr>
          <p:cNvPr id="15" name="Text Box 47">
            <a:extLst>
              <a:ext uri="{FF2B5EF4-FFF2-40B4-BE49-F238E27FC236}">
                <a16:creationId xmlns:a16="http://schemas.microsoft.com/office/drawing/2014/main" id="{2A492475-B9B4-4ADD-A181-CD04C345F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1941" y="4686629"/>
            <a:ext cx="2933655" cy="120251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Describir el motivo lleva a la definición de un condensador</a:t>
            </a:r>
          </a:p>
        </p:txBody>
      </p:sp>
      <p:pic>
        <p:nvPicPr>
          <p:cNvPr id="14" name="Picture 5" descr="Cross-section diagram showing construction.">
            <a:hlinkClick r:id="rId3" tooltip="Cross-section diagram showing construction."/>
            <a:extLst>
              <a:ext uri="{FF2B5EF4-FFF2-40B4-BE49-F238E27FC236}">
                <a16:creationId xmlns:a16="http://schemas.microsoft.com/office/drawing/2014/main" id="{D1D62F7C-0EFC-4FA1-A381-1BBCC6F09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551" y="2007241"/>
            <a:ext cx="2160588" cy="4156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4">
            <a:extLst>
              <a:ext uri="{FF2B5EF4-FFF2-40B4-BE49-F238E27FC236}">
                <a16:creationId xmlns:a16="http://schemas.microsoft.com/office/drawing/2014/main" id="{4981BD68-C948-475E-A5BA-805469E3BAA7}"/>
              </a:ext>
            </a:extLst>
          </p:cNvPr>
          <p:cNvGrpSpPr>
            <a:grpSpLocks/>
          </p:cNvGrpSpPr>
          <p:nvPr/>
        </p:nvGrpSpPr>
        <p:grpSpPr bwMode="auto">
          <a:xfrm>
            <a:off x="2340126" y="5964884"/>
            <a:ext cx="328613" cy="550863"/>
            <a:chOff x="2123" y="4249"/>
            <a:chExt cx="207" cy="347"/>
          </a:xfrm>
        </p:grpSpPr>
        <p:sp>
          <p:nvSpPr>
            <p:cNvPr id="19" name="Line 7">
              <a:extLst>
                <a:ext uri="{FF2B5EF4-FFF2-40B4-BE49-F238E27FC236}">
                  <a16:creationId xmlns:a16="http://schemas.microsoft.com/office/drawing/2014/main" id="{C001D8A8-47B3-42F8-93CC-FCCE018F3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7" y="4249"/>
              <a:ext cx="0" cy="26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0" name="Line 8">
              <a:extLst>
                <a:ext uri="{FF2B5EF4-FFF2-40B4-BE49-F238E27FC236}">
                  <a16:creationId xmlns:a16="http://schemas.microsoft.com/office/drawing/2014/main" id="{A273495A-7E37-456C-B928-1B7419921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" y="4518"/>
              <a:ext cx="20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1" name="Line 9">
              <a:extLst>
                <a:ext uri="{FF2B5EF4-FFF2-40B4-BE49-F238E27FC236}">
                  <a16:creationId xmlns:a16="http://schemas.microsoft.com/office/drawing/2014/main" id="{55CCD2C4-25E2-4475-BB60-E71C20A66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8" y="4554"/>
              <a:ext cx="13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61BA56C3-BEDC-4B1E-B102-21CA8B8F40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4596"/>
              <a:ext cx="7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sp>
        <p:nvSpPr>
          <p:cNvPr id="25" name="Text Box 24">
            <a:extLst>
              <a:ext uri="{FF2B5EF4-FFF2-40B4-BE49-F238E27FC236}">
                <a16:creationId xmlns:a16="http://schemas.microsoft.com/office/drawing/2014/main" id="{88940AC2-447B-43B7-B643-16C21E422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450" y="307371"/>
            <a:ext cx="4050003" cy="95677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Es el 1</a:t>
            </a:r>
            <a:r>
              <a:rPr lang="es-ES" sz="2400" baseline="30000" dirty="0">
                <a:solidFill>
                  <a:srgbClr val="FFFFFF"/>
                </a:solidFill>
                <a:latin typeface="Arial" panose="020B0604020202020204" pitchFamily="34" charset="0"/>
              </a:rPr>
              <a:t>ER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 CONDENSADOR o CAPACITOR</a:t>
            </a:r>
          </a:p>
        </p:txBody>
      </p:sp>
      <p:sp>
        <p:nvSpPr>
          <p:cNvPr id="26" name="AutoShape 49">
            <a:extLst>
              <a:ext uri="{FF2B5EF4-FFF2-40B4-BE49-F238E27FC236}">
                <a16:creationId xmlns:a16="http://schemas.microsoft.com/office/drawing/2014/main" id="{918DC78C-B465-4FC8-A810-82F0F0FF8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7462" y="446975"/>
            <a:ext cx="390328" cy="676275"/>
          </a:xfrm>
          <a:prstGeom prst="rightArrow">
            <a:avLst>
              <a:gd name="adj1" fmla="val 46546"/>
              <a:gd name="adj2" fmla="val 50866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/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27D68709-E0D6-FA3B-D16F-58596B2BB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3042" y="852614"/>
            <a:ext cx="175109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2ª versión)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D813069D-8055-79C7-3D85-8AF52574E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345" y="388811"/>
            <a:ext cx="3471864" cy="46196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BOTELLA DE LEYDEN</a:t>
            </a:r>
          </a:p>
        </p:txBody>
      </p:sp>
    </p:spTree>
    <p:extLst>
      <p:ext uri="{BB962C8B-B14F-4D97-AF65-F5344CB8AC3E}">
        <p14:creationId xmlns:p14="http://schemas.microsoft.com/office/powerpoint/2010/main" val="276278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5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2088499" y="2284381"/>
            <a:ext cx="2209800" cy="1428750"/>
            <a:chOff x="4520" y="1226"/>
            <a:chExt cx="1392" cy="900"/>
          </a:xfrm>
        </p:grpSpPr>
        <p:sp>
          <p:nvSpPr>
            <p:cNvPr id="5" name="Rectangle 24"/>
            <p:cNvSpPr>
              <a:spLocks noChangeArrowheads="1"/>
            </p:cNvSpPr>
            <p:nvPr/>
          </p:nvSpPr>
          <p:spPr bwMode="auto">
            <a:xfrm>
              <a:off x="4870" y="1236"/>
              <a:ext cx="168" cy="89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25"/>
            <p:cNvSpPr>
              <a:spLocks noChangeArrowheads="1"/>
            </p:cNvSpPr>
            <p:nvPr/>
          </p:nvSpPr>
          <p:spPr bwMode="auto">
            <a:xfrm>
              <a:off x="5395" y="1226"/>
              <a:ext cx="168" cy="89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Rectangle 45"/>
            <p:cNvSpPr>
              <a:spLocks noChangeArrowheads="1"/>
            </p:cNvSpPr>
            <p:nvPr/>
          </p:nvSpPr>
          <p:spPr bwMode="auto">
            <a:xfrm>
              <a:off x="4520" y="1637"/>
              <a:ext cx="350" cy="56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Rectangle 46"/>
            <p:cNvSpPr>
              <a:spLocks noChangeArrowheads="1"/>
            </p:cNvSpPr>
            <p:nvPr/>
          </p:nvSpPr>
          <p:spPr bwMode="auto">
            <a:xfrm>
              <a:off x="5562" y="1656"/>
              <a:ext cx="350" cy="56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134536" y="1887508"/>
            <a:ext cx="2116138" cy="481013"/>
            <a:chOff x="4549" y="976"/>
            <a:chExt cx="1333" cy="303"/>
          </a:xfrm>
        </p:grpSpPr>
        <p:sp>
          <p:nvSpPr>
            <p:cNvPr id="21537" name="Text Box 26"/>
            <p:cNvSpPr txBox="1">
              <a:spLocks noChangeArrowheads="1"/>
            </p:cNvSpPr>
            <p:nvPr/>
          </p:nvSpPr>
          <p:spPr bwMode="auto">
            <a:xfrm>
              <a:off x="4549" y="976"/>
              <a:ext cx="34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38" name="Text Box 27"/>
            <p:cNvSpPr txBox="1">
              <a:spLocks noChangeArrowheads="1"/>
            </p:cNvSpPr>
            <p:nvPr/>
          </p:nvSpPr>
          <p:spPr bwMode="auto">
            <a:xfrm>
              <a:off x="5574" y="987"/>
              <a:ext cx="30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93910" name="Text Box 22"/>
          <p:cNvSpPr txBox="1">
            <a:spLocks noChangeArrowheads="1"/>
          </p:cNvSpPr>
          <p:nvPr/>
        </p:nvSpPr>
        <p:spPr bwMode="auto">
          <a:xfrm>
            <a:off x="5853959" y="2560277"/>
            <a:ext cx="4444056" cy="109171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Cada conductor (cada lámina  más contacto)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tiene una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carga igual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, pero de signo contrario</a:t>
            </a:r>
          </a:p>
        </p:txBody>
      </p:sp>
      <p:sp>
        <p:nvSpPr>
          <p:cNvPr id="15377" name="Text Box 50"/>
          <p:cNvSpPr txBox="1">
            <a:spLocks noChangeArrowheads="1"/>
          </p:cNvSpPr>
          <p:nvPr/>
        </p:nvSpPr>
        <p:spPr bwMode="auto">
          <a:xfrm>
            <a:off x="7275840" y="3762481"/>
            <a:ext cx="1676376" cy="55059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180000" tIns="180000" rIns="180000" bIns="180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Q</a:t>
            </a:r>
            <a:r>
              <a:rPr lang="es-ES" sz="2400" baseline="30000">
                <a:latin typeface="Arial" panose="020B0604020202020204" pitchFamily="34" charset="0"/>
              </a:rPr>
              <a:t>+</a:t>
            </a:r>
            <a:r>
              <a:rPr lang="es-ES" sz="2400">
                <a:latin typeface="Arial" panose="020B0604020202020204" pitchFamily="34" charset="0"/>
              </a:rPr>
              <a:t>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 Q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</a:p>
        </p:txBody>
      </p:sp>
      <p:sp>
        <p:nvSpPr>
          <p:cNvPr id="32" name="Text Box 109"/>
          <p:cNvSpPr txBox="1">
            <a:spLocks noChangeArrowheads="1"/>
          </p:cNvSpPr>
          <p:nvPr/>
        </p:nvSpPr>
        <p:spPr bwMode="auto">
          <a:xfrm>
            <a:off x="5322922" y="2560277"/>
            <a:ext cx="438150" cy="64770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</a:t>
            </a:r>
          </a:p>
        </p:txBody>
      </p:sp>
      <p:grpSp>
        <p:nvGrpSpPr>
          <p:cNvPr id="10" name="Grupo 9"/>
          <p:cNvGrpSpPr>
            <a:grpSpLocks/>
          </p:cNvGrpSpPr>
          <p:nvPr/>
        </p:nvGrpSpPr>
        <p:grpSpPr bwMode="auto">
          <a:xfrm>
            <a:off x="1219482" y="3200369"/>
            <a:ext cx="4070472" cy="1686934"/>
            <a:chOff x="6651665" y="4201956"/>
            <a:chExt cx="4070472" cy="1686946"/>
          </a:xfrm>
        </p:grpSpPr>
        <p:sp>
          <p:nvSpPr>
            <p:cNvPr id="21523" name="Text Box 63"/>
            <p:cNvSpPr txBox="1">
              <a:spLocks noChangeArrowheads="1"/>
            </p:cNvSpPr>
            <p:nvPr/>
          </p:nvSpPr>
          <p:spPr bwMode="auto">
            <a:xfrm>
              <a:off x="6651665" y="4963965"/>
              <a:ext cx="1425575" cy="90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Contacto (varilla)</a:t>
              </a:r>
            </a:p>
          </p:txBody>
        </p:sp>
        <p:sp>
          <p:nvSpPr>
            <p:cNvPr id="21524" name="Text Box 64"/>
            <p:cNvSpPr txBox="1">
              <a:spLocks noChangeArrowheads="1"/>
            </p:cNvSpPr>
            <p:nvPr/>
          </p:nvSpPr>
          <p:spPr bwMode="auto">
            <a:xfrm>
              <a:off x="9279489" y="4983015"/>
              <a:ext cx="1442648" cy="90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Contacto a tierra</a:t>
              </a:r>
            </a:p>
          </p:txBody>
        </p:sp>
        <p:cxnSp>
          <p:nvCxnSpPr>
            <p:cNvPr id="21525" name="Conector recto de flecha 6"/>
            <p:cNvCxnSpPr>
              <a:cxnSpLocks noChangeShapeType="1"/>
            </p:cNvCxnSpPr>
            <p:nvPr/>
          </p:nvCxnSpPr>
          <p:spPr bwMode="auto">
            <a:xfrm flipH="1">
              <a:off x="7478408" y="4201956"/>
              <a:ext cx="220787" cy="762009"/>
            </a:xfrm>
            <a:prstGeom prst="straightConnector1">
              <a:avLst/>
            </a:prstGeom>
            <a:noFill/>
            <a:ln w="38100" algn="ctr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6" name="Conector recto de flecha 35"/>
            <p:cNvCxnSpPr>
              <a:cxnSpLocks noChangeShapeType="1"/>
            </p:cNvCxnSpPr>
            <p:nvPr/>
          </p:nvCxnSpPr>
          <p:spPr bwMode="auto">
            <a:xfrm>
              <a:off x="9539564" y="4243745"/>
              <a:ext cx="149350" cy="762009"/>
            </a:xfrm>
            <a:prstGeom prst="straightConnector1">
              <a:avLst/>
            </a:prstGeom>
            <a:noFill/>
            <a:ln w="38100" algn="ctr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" name="Grupo 10"/>
          <p:cNvGrpSpPr>
            <a:grpSpLocks/>
          </p:cNvGrpSpPr>
          <p:nvPr/>
        </p:nvGrpSpPr>
        <p:grpSpPr bwMode="auto">
          <a:xfrm>
            <a:off x="1571717" y="4008668"/>
            <a:ext cx="3260463" cy="2006129"/>
            <a:chOff x="7003901" y="4870037"/>
            <a:chExt cx="3260462" cy="2006414"/>
          </a:xfrm>
        </p:grpSpPr>
        <p:sp>
          <p:nvSpPr>
            <p:cNvPr id="21519" name="Text Box 65"/>
            <p:cNvSpPr txBox="1">
              <a:spLocks noChangeArrowheads="1"/>
            </p:cNvSpPr>
            <p:nvPr/>
          </p:nvSpPr>
          <p:spPr bwMode="auto">
            <a:xfrm>
              <a:off x="8795408" y="5970441"/>
              <a:ext cx="1468955" cy="906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Lámina exterior</a:t>
              </a:r>
            </a:p>
          </p:txBody>
        </p:sp>
        <p:sp>
          <p:nvSpPr>
            <p:cNvPr id="21520" name="Text Box 66"/>
            <p:cNvSpPr txBox="1">
              <a:spLocks noChangeArrowheads="1"/>
            </p:cNvSpPr>
            <p:nvPr/>
          </p:nvSpPr>
          <p:spPr bwMode="auto">
            <a:xfrm>
              <a:off x="7003901" y="5970441"/>
              <a:ext cx="1360484" cy="906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Lámina interior</a:t>
              </a:r>
            </a:p>
          </p:txBody>
        </p:sp>
        <p:cxnSp>
          <p:nvCxnSpPr>
            <p:cNvPr id="21521" name="Conector recto de flecha 36"/>
            <p:cNvCxnSpPr>
              <a:cxnSpLocks noChangeShapeType="1"/>
            </p:cNvCxnSpPr>
            <p:nvPr/>
          </p:nvCxnSpPr>
          <p:spPr bwMode="auto">
            <a:xfrm flipH="1">
              <a:off x="9045721" y="4870037"/>
              <a:ext cx="0" cy="1080000"/>
            </a:xfrm>
            <a:prstGeom prst="straightConnector1">
              <a:avLst/>
            </a:prstGeom>
            <a:noFill/>
            <a:ln w="38100" algn="ctr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2" name="Conector recto de flecha 39"/>
            <p:cNvCxnSpPr>
              <a:cxnSpLocks noChangeShapeType="1"/>
            </p:cNvCxnSpPr>
            <p:nvPr/>
          </p:nvCxnSpPr>
          <p:spPr bwMode="auto">
            <a:xfrm>
              <a:off x="8225581" y="4891813"/>
              <a:ext cx="0" cy="1080000"/>
            </a:xfrm>
            <a:prstGeom prst="straightConnector1">
              <a:avLst/>
            </a:prstGeom>
            <a:noFill/>
            <a:ln w="38100" algn="ctr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" name="Text Box 20"/>
          <p:cNvSpPr txBox="1">
            <a:spLocks noChangeArrowheads="1"/>
          </p:cNvSpPr>
          <p:nvPr/>
        </p:nvSpPr>
        <p:spPr bwMode="auto">
          <a:xfrm>
            <a:off x="1953289" y="354599"/>
            <a:ext cx="7620922" cy="1326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44000" tIns="108000" rIns="144000" bIns="108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Ocurre porque </a:t>
            </a:r>
            <a:r>
              <a:rPr lang="es-ES" sz="2400">
                <a:latin typeface="Arial" panose="020B0604020202020204" pitchFamily="34" charset="0"/>
              </a:rPr>
              <a:t>los dos </a:t>
            </a:r>
            <a:r>
              <a:rPr lang="es-ES" sz="2400" dirty="0">
                <a:latin typeface="Arial" panose="020B0604020202020204" pitchFamily="34" charset="0"/>
              </a:rPr>
              <a:t>conductores </a:t>
            </a:r>
            <a:r>
              <a:rPr lang="es-ES" sz="2400">
                <a:latin typeface="Arial" panose="020B0604020202020204" pitchFamily="34" charset="0"/>
              </a:rPr>
              <a:t>de cada </a:t>
            </a:r>
            <a:r>
              <a:rPr lang="es-ES" sz="2400" dirty="0">
                <a:latin typeface="Arial" panose="020B0604020202020204" pitchFamily="34" charset="0"/>
              </a:rPr>
              <a:t>botella, </a:t>
            </a:r>
            <a:r>
              <a:rPr lang="es-ES" sz="2400">
                <a:latin typeface="Arial" panose="020B0604020202020204" pitchFamily="34" charset="0"/>
              </a:rPr>
              <a:t>los dos conjuntos </a:t>
            </a:r>
            <a:r>
              <a:rPr lang="es-ES" sz="2400" dirty="0">
                <a:latin typeface="Arial" panose="020B0604020202020204" pitchFamily="34" charset="0"/>
              </a:rPr>
              <a:t>lámina más contacto, </a:t>
            </a:r>
            <a:r>
              <a:rPr lang="es-ES" sz="2400">
                <a:latin typeface="Arial" panose="020B0604020202020204" pitchFamily="34" charset="0"/>
              </a:rPr>
              <a:t>están,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al alcanzar el </a:t>
            </a:r>
            <a:r>
              <a:rPr lang="es-ES" sz="2400" dirty="0">
                <a:latin typeface="Arial" panose="020B0604020202020204" pitchFamily="34" charset="0"/>
              </a:rPr>
              <a:t>equilibrio, en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influencia total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5835198" y="4447631"/>
            <a:ext cx="4500563" cy="199206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La carga de cada conductor, por influencia del otro, se localiza en la superficie de su lámina, en el lado en contacto con la región entre las láminas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7" name="Text Box 109"/>
          <p:cNvSpPr txBox="1">
            <a:spLocks noChangeArrowheads="1"/>
          </p:cNvSpPr>
          <p:nvPr/>
        </p:nvSpPr>
        <p:spPr bwMode="auto">
          <a:xfrm>
            <a:off x="5328262" y="4450196"/>
            <a:ext cx="438150" cy="64770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2</a:t>
            </a:r>
          </a:p>
        </p:txBody>
      </p:sp>
      <p:grpSp>
        <p:nvGrpSpPr>
          <p:cNvPr id="28" name="Group 55"/>
          <p:cNvGrpSpPr>
            <a:grpSpLocks/>
          </p:cNvGrpSpPr>
          <p:nvPr/>
        </p:nvGrpSpPr>
        <p:grpSpPr bwMode="auto">
          <a:xfrm>
            <a:off x="2662885" y="2181193"/>
            <a:ext cx="1038224" cy="1660525"/>
            <a:chOff x="4876" y="1161"/>
            <a:chExt cx="654" cy="1046"/>
          </a:xfrm>
        </p:grpSpPr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4876" y="1161"/>
              <a:ext cx="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4876" y="1350"/>
              <a:ext cx="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4876" y="1538"/>
              <a:ext cx="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3" name="Text Box 32"/>
            <p:cNvSpPr txBox="1">
              <a:spLocks noChangeArrowheads="1"/>
            </p:cNvSpPr>
            <p:nvPr/>
          </p:nvSpPr>
          <p:spPr bwMode="auto">
            <a:xfrm>
              <a:off x="4876" y="1727"/>
              <a:ext cx="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4876" y="1915"/>
              <a:ext cx="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5350" y="1162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6" name="Text Box 35"/>
            <p:cNvSpPr txBox="1">
              <a:spLocks noChangeArrowheads="1"/>
            </p:cNvSpPr>
            <p:nvPr/>
          </p:nvSpPr>
          <p:spPr bwMode="auto">
            <a:xfrm>
              <a:off x="5350" y="1351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7" name="Text Box 36"/>
            <p:cNvSpPr txBox="1">
              <a:spLocks noChangeArrowheads="1"/>
            </p:cNvSpPr>
            <p:nvPr/>
          </p:nvSpPr>
          <p:spPr bwMode="auto">
            <a:xfrm>
              <a:off x="5350" y="1539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8" name="Text Box 37"/>
            <p:cNvSpPr txBox="1">
              <a:spLocks noChangeArrowheads="1"/>
            </p:cNvSpPr>
            <p:nvPr/>
          </p:nvSpPr>
          <p:spPr bwMode="auto">
            <a:xfrm>
              <a:off x="5350" y="1728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9" name="Text Box 38"/>
            <p:cNvSpPr txBox="1">
              <a:spLocks noChangeArrowheads="1"/>
            </p:cNvSpPr>
            <p:nvPr/>
          </p:nvSpPr>
          <p:spPr bwMode="auto">
            <a:xfrm>
              <a:off x="5351" y="1886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40" name="Text Box 21">
            <a:extLst>
              <a:ext uri="{FF2B5EF4-FFF2-40B4-BE49-F238E27FC236}">
                <a16:creationId xmlns:a16="http://schemas.microsoft.com/office/drawing/2014/main" id="{F0BAE802-5B88-442A-B35D-4C460C98F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567" y="6415904"/>
            <a:ext cx="4935759" cy="514738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(Es esperable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: Q</a:t>
            </a:r>
            <a:r>
              <a:rPr lang="es-ES" sz="2400" baseline="30000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+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y Q</a:t>
            </a:r>
            <a:r>
              <a:rPr lang="es-ES" sz="2400" baseline="30000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se atraen)</a:t>
            </a:r>
          </a:p>
        </p:txBody>
      </p:sp>
      <p:sp>
        <p:nvSpPr>
          <p:cNvPr id="4" name="Text Box 20">
            <a:extLst>
              <a:ext uri="{FF2B5EF4-FFF2-40B4-BE49-F238E27FC236}">
                <a16:creationId xmlns:a16="http://schemas.microsoft.com/office/drawing/2014/main" id="{0CF6E7CB-DDE0-497D-B28E-CA43B1D5B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2504" y="1903452"/>
            <a:ext cx="3324310" cy="485488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144000" tIns="108000" rIns="144000" bIns="108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Esto </a:t>
            </a:r>
            <a:r>
              <a:rPr lang="es-ES" sz="2400" dirty="0">
                <a:latin typeface="Arial" panose="020B0604020202020204" pitchFamily="34" charset="0"/>
              </a:rPr>
              <a:t>quiere decir que: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910" grpId="0" animBg="1"/>
      <p:bldP spid="15377" grpId="0" animBg="1"/>
      <p:bldP spid="32" grpId="0" animBg="1"/>
      <p:bldP spid="25" grpId="0" animBg="1"/>
      <p:bldP spid="26" grpId="0" animBg="1"/>
      <p:bldP spid="27" grpId="0" animBg="1"/>
      <p:bldP spid="40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26"/>
          <p:cNvSpPr txBox="1">
            <a:spLocks noChangeArrowheads="1"/>
          </p:cNvSpPr>
          <p:nvPr/>
        </p:nvSpPr>
        <p:spPr bwMode="auto">
          <a:xfrm>
            <a:off x="4693185" y="2093861"/>
            <a:ext cx="5580340" cy="236139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72000" rIns="144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El potencial eléctrico creado por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las cargas, es: constante,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si nos movemos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por fuera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de la región entre las dos láminas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, al ser el campo nulo; y varía en ella, al no ser el campo nulo, disminuyendo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en el sentido del campo</a:t>
            </a:r>
          </a:p>
        </p:txBody>
      </p:sp>
      <p:sp>
        <p:nvSpPr>
          <p:cNvPr id="45" name="Text Box 109"/>
          <p:cNvSpPr txBox="1">
            <a:spLocks noChangeArrowheads="1"/>
          </p:cNvSpPr>
          <p:nvPr/>
        </p:nvSpPr>
        <p:spPr bwMode="auto">
          <a:xfrm>
            <a:off x="4127114" y="2103030"/>
            <a:ext cx="438150" cy="64770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dirty="0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4</a:t>
            </a:r>
          </a:p>
        </p:txBody>
      </p: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1882682" y="327262"/>
            <a:ext cx="7761038" cy="88407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72000" rIns="144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El campo eléctrico creado por las cargas es nulo en todo el espacio, excepto en la región entre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las láminas </a:t>
            </a:r>
            <a:endParaRPr lang="es-ES" sz="24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6" name="Text Box 109"/>
          <p:cNvSpPr txBox="1">
            <a:spLocks noChangeArrowheads="1"/>
          </p:cNvSpPr>
          <p:nvPr/>
        </p:nvSpPr>
        <p:spPr bwMode="auto">
          <a:xfrm>
            <a:off x="1367035" y="326472"/>
            <a:ext cx="438150" cy="64770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>
                <a:solidFill>
                  <a:srgbClr val="EDE7E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3</a:t>
            </a:r>
          </a:p>
        </p:txBody>
      </p:sp>
      <p:sp>
        <p:nvSpPr>
          <p:cNvPr id="69" name="Text Box 38">
            <a:extLst>
              <a:ext uri="{FF2B5EF4-FFF2-40B4-BE49-F238E27FC236}">
                <a16:creationId xmlns:a16="http://schemas.microsoft.com/office/drawing/2014/main" id="{63901E16-ABA2-4F0F-AD40-6DC82A8C3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44" y="5240089"/>
            <a:ext cx="8849996" cy="162273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Las botellas no polarizan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la Tierra (los condensadores no afectan a su exterior),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porque aplican un campo nulo fuera. Esto hace que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no varíe el potencial eléctrico de sus láminas,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al desconectar las botellas de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tierra y modificar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su altura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0" name="CuadroTexto 1">
            <a:extLst>
              <a:ext uri="{FF2B5EF4-FFF2-40B4-BE49-F238E27FC236}">
                <a16:creationId xmlns:a16="http://schemas.microsoft.com/office/drawing/2014/main" id="{674D61AD-B9BF-4AEC-BB90-200E69CC2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634" y="4702464"/>
            <a:ext cx="5859974" cy="442035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36000" rIns="90000" bIns="36000">
            <a:spAutoFit/>
          </a:bodyPr>
          <a:lstStyle>
            <a:defPPr>
              <a:defRPr lang="es-ES"/>
            </a:defPPr>
            <a:lvl1pPr algn="ctr" eaLnBrk="1" hangingPunct="1">
              <a:spcBef>
                <a:spcPts val="0"/>
              </a:spcBef>
              <a:buFontTx/>
              <a:buNone/>
              <a:defRPr sz="2400"/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" dirty="0">
                <a:sym typeface="Wingdings" panose="05000000000000000000" pitchFamily="2" charset="2"/>
              </a:rPr>
              <a:t>La influencia total explica la observación:</a:t>
            </a:r>
            <a:endParaRPr lang="es-ES" dirty="0"/>
          </a:p>
        </p:txBody>
      </p:sp>
      <p:grpSp>
        <p:nvGrpSpPr>
          <p:cNvPr id="71" name="Group 57">
            <a:extLst>
              <a:ext uri="{FF2B5EF4-FFF2-40B4-BE49-F238E27FC236}">
                <a16:creationId xmlns:a16="http://schemas.microsoft.com/office/drawing/2014/main" id="{EAB3F659-224B-435C-AEA1-4E8F90CDC30C}"/>
              </a:ext>
            </a:extLst>
          </p:cNvPr>
          <p:cNvGrpSpPr>
            <a:grpSpLocks/>
          </p:cNvGrpSpPr>
          <p:nvPr/>
        </p:nvGrpSpPr>
        <p:grpSpPr bwMode="auto">
          <a:xfrm>
            <a:off x="1445290" y="2080572"/>
            <a:ext cx="2209800" cy="1428750"/>
            <a:chOff x="4520" y="1226"/>
            <a:chExt cx="1392" cy="900"/>
          </a:xfrm>
        </p:grpSpPr>
        <p:sp>
          <p:nvSpPr>
            <p:cNvPr id="72" name="Rectangle 24">
              <a:extLst>
                <a:ext uri="{FF2B5EF4-FFF2-40B4-BE49-F238E27FC236}">
                  <a16:creationId xmlns:a16="http://schemas.microsoft.com/office/drawing/2014/main" id="{C2A3D43E-868C-4B96-9537-A3BBAB5F7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0" y="1236"/>
              <a:ext cx="168" cy="89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25">
              <a:extLst>
                <a:ext uri="{FF2B5EF4-FFF2-40B4-BE49-F238E27FC236}">
                  <a16:creationId xmlns:a16="http://schemas.microsoft.com/office/drawing/2014/main" id="{2EE25587-59E3-458D-946D-21F07B42E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" y="1226"/>
              <a:ext cx="168" cy="89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45">
              <a:extLst>
                <a:ext uri="{FF2B5EF4-FFF2-40B4-BE49-F238E27FC236}">
                  <a16:creationId xmlns:a16="http://schemas.microsoft.com/office/drawing/2014/main" id="{8E193617-DEEC-4C9A-A494-68C3146F3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" y="1637"/>
              <a:ext cx="350" cy="56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46">
              <a:extLst>
                <a:ext uri="{FF2B5EF4-FFF2-40B4-BE49-F238E27FC236}">
                  <a16:creationId xmlns:a16="http://schemas.microsoft.com/office/drawing/2014/main" id="{C1E73369-9D3C-4FE5-9C7B-F1ED0234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" y="1656"/>
              <a:ext cx="350" cy="56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6" name="Group 54">
            <a:extLst>
              <a:ext uri="{FF2B5EF4-FFF2-40B4-BE49-F238E27FC236}">
                <a16:creationId xmlns:a16="http://schemas.microsoft.com/office/drawing/2014/main" id="{64219735-3E66-4453-89B9-32D5C282F716}"/>
              </a:ext>
            </a:extLst>
          </p:cNvPr>
          <p:cNvGrpSpPr>
            <a:grpSpLocks/>
          </p:cNvGrpSpPr>
          <p:nvPr/>
        </p:nvGrpSpPr>
        <p:grpSpPr bwMode="auto">
          <a:xfrm>
            <a:off x="1491327" y="1901415"/>
            <a:ext cx="2116138" cy="481013"/>
            <a:chOff x="4549" y="976"/>
            <a:chExt cx="1333" cy="303"/>
          </a:xfrm>
        </p:grpSpPr>
        <p:sp>
          <p:nvSpPr>
            <p:cNvPr id="77" name="Text Box 26">
              <a:extLst>
                <a:ext uri="{FF2B5EF4-FFF2-40B4-BE49-F238E27FC236}">
                  <a16:creationId xmlns:a16="http://schemas.microsoft.com/office/drawing/2014/main" id="{311B1579-4894-41A3-9D4B-919F6E41D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9" y="976"/>
              <a:ext cx="34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Text Box 27">
              <a:extLst>
                <a:ext uri="{FF2B5EF4-FFF2-40B4-BE49-F238E27FC236}">
                  <a16:creationId xmlns:a16="http://schemas.microsoft.com/office/drawing/2014/main" id="{8ADA454B-0FBA-43C4-9605-9ACE02DA5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4" y="987"/>
              <a:ext cx="30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9" name="Group 55">
            <a:extLst>
              <a:ext uri="{FF2B5EF4-FFF2-40B4-BE49-F238E27FC236}">
                <a16:creationId xmlns:a16="http://schemas.microsoft.com/office/drawing/2014/main" id="{B4AA381A-D9C1-418C-8DE5-AA72AE80B688}"/>
              </a:ext>
            </a:extLst>
          </p:cNvPr>
          <p:cNvGrpSpPr>
            <a:grpSpLocks/>
          </p:cNvGrpSpPr>
          <p:nvPr/>
        </p:nvGrpSpPr>
        <p:grpSpPr bwMode="auto">
          <a:xfrm>
            <a:off x="2019676" y="1977384"/>
            <a:ext cx="1038224" cy="1660525"/>
            <a:chOff x="4876" y="1161"/>
            <a:chExt cx="654" cy="1046"/>
          </a:xfrm>
        </p:grpSpPr>
        <p:sp>
          <p:nvSpPr>
            <p:cNvPr id="80" name="Text Box 29">
              <a:extLst>
                <a:ext uri="{FF2B5EF4-FFF2-40B4-BE49-F238E27FC236}">
                  <a16:creationId xmlns:a16="http://schemas.microsoft.com/office/drawing/2014/main" id="{0C10CA51-27CC-478F-AF2B-147ACC19C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161"/>
              <a:ext cx="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81" name="Text Box 30">
              <a:extLst>
                <a:ext uri="{FF2B5EF4-FFF2-40B4-BE49-F238E27FC236}">
                  <a16:creationId xmlns:a16="http://schemas.microsoft.com/office/drawing/2014/main" id="{AEA428C6-19AE-4087-8383-52F2A46C0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350"/>
              <a:ext cx="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82" name="Text Box 31">
              <a:extLst>
                <a:ext uri="{FF2B5EF4-FFF2-40B4-BE49-F238E27FC236}">
                  <a16:creationId xmlns:a16="http://schemas.microsoft.com/office/drawing/2014/main" id="{35FA4DD0-D7E9-49E9-8E7D-A974B1A9D1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538"/>
              <a:ext cx="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83" name="Text Box 32">
              <a:extLst>
                <a:ext uri="{FF2B5EF4-FFF2-40B4-BE49-F238E27FC236}">
                  <a16:creationId xmlns:a16="http://schemas.microsoft.com/office/drawing/2014/main" id="{F43D0102-1074-4D4D-94BB-5B0E8D191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727"/>
              <a:ext cx="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84" name="Text Box 33">
              <a:extLst>
                <a:ext uri="{FF2B5EF4-FFF2-40B4-BE49-F238E27FC236}">
                  <a16:creationId xmlns:a16="http://schemas.microsoft.com/office/drawing/2014/main" id="{2FC43BAC-8E33-41DC-ACE7-53A5D2377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915"/>
              <a:ext cx="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85" name="Text Box 34">
              <a:extLst>
                <a:ext uri="{FF2B5EF4-FFF2-40B4-BE49-F238E27FC236}">
                  <a16:creationId xmlns:a16="http://schemas.microsoft.com/office/drawing/2014/main" id="{3ADC7CE8-E9CC-4B12-8BB9-04B48E33E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0" y="1162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86" name="Text Box 35">
              <a:extLst>
                <a:ext uri="{FF2B5EF4-FFF2-40B4-BE49-F238E27FC236}">
                  <a16:creationId xmlns:a16="http://schemas.microsoft.com/office/drawing/2014/main" id="{BFA78E11-F8D4-409A-B1F9-E6CB9010A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0" y="1351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87" name="Text Box 36">
              <a:extLst>
                <a:ext uri="{FF2B5EF4-FFF2-40B4-BE49-F238E27FC236}">
                  <a16:creationId xmlns:a16="http://schemas.microsoft.com/office/drawing/2014/main" id="{A5A63893-99E0-48BC-A29C-0C4839297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0" y="1539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88" name="Text Box 37">
              <a:extLst>
                <a:ext uri="{FF2B5EF4-FFF2-40B4-BE49-F238E27FC236}">
                  <a16:creationId xmlns:a16="http://schemas.microsoft.com/office/drawing/2014/main" id="{BAEF6BD7-38D6-4CCE-80C5-11850B997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0" y="1728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89" name="Text Box 38">
              <a:extLst>
                <a:ext uri="{FF2B5EF4-FFF2-40B4-BE49-F238E27FC236}">
                  <a16:creationId xmlns:a16="http://schemas.microsoft.com/office/drawing/2014/main" id="{D6F47815-B48A-4D26-AB02-BFD28022B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" y="1886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27" name="Text Box 21">
            <a:extLst>
              <a:ext uri="{FF2B5EF4-FFF2-40B4-BE49-F238E27FC236}">
                <a16:creationId xmlns:a16="http://schemas.microsoft.com/office/drawing/2014/main" id="{960F4B48-A770-4E66-B847-463FFFAAD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974" y="1198139"/>
            <a:ext cx="8009793" cy="514738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(Es esperable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: el sistema lejos parece una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Q</a:t>
            </a:r>
            <a:r>
              <a:rPr lang="es-ES" sz="2400" baseline="-25000" dirty="0" err="1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puntual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nula)</a:t>
            </a:r>
          </a:p>
        </p:txBody>
      </p:sp>
    </p:spTree>
    <p:extLst>
      <p:ext uri="{BB962C8B-B14F-4D97-AF65-F5344CB8AC3E}">
        <p14:creationId xmlns:p14="http://schemas.microsoft.com/office/powerpoint/2010/main" val="305822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6" grpId="0" animBg="1"/>
      <p:bldP spid="66" grpId="0" animBg="1"/>
      <p:bldP spid="69" grpId="0" animBg="1"/>
      <p:bldP spid="70" grpId="0" animBg="1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CFE7BECC-93E4-78E8-D6DD-6B77BD3DA621}"/>
              </a:ext>
            </a:extLst>
          </p:cNvPr>
          <p:cNvSpPr/>
          <p:nvPr/>
        </p:nvSpPr>
        <p:spPr bwMode="auto">
          <a:xfrm>
            <a:off x="5916131" y="1574441"/>
            <a:ext cx="3986309" cy="248030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00073" name="Text Box 41"/>
          <p:cNvSpPr txBox="1">
            <a:spLocks noChangeArrowheads="1"/>
          </p:cNvSpPr>
          <p:nvPr/>
        </p:nvSpPr>
        <p:spPr bwMode="auto">
          <a:xfrm>
            <a:off x="1404464" y="518029"/>
            <a:ext cx="8311150" cy="83317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44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líneas de campo </a:t>
            </a:r>
            <a:r>
              <a:rPr lang="es-ES" sz="2400" dirty="0">
                <a:latin typeface="Arial" panose="020B0604020202020204" pitchFamily="34" charset="0"/>
              </a:rPr>
              <a:t>deben reflejar</a:t>
            </a:r>
            <a:r>
              <a:rPr lang="es-ES" sz="2400">
                <a:latin typeface="Arial" panose="020B0604020202020204" pitchFamily="34" charset="0"/>
              </a:rPr>
              <a:t>, considerando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sistema aislado </a:t>
            </a:r>
            <a:r>
              <a:rPr lang="es-ES" sz="2400" dirty="0">
                <a:latin typeface="Arial" panose="020B0604020202020204" pitchFamily="34" charset="0"/>
              </a:rPr>
              <a:t>(sin campo debido a cargas exteriores):</a:t>
            </a:r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>
            <a:off x="2684122" y="2190017"/>
            <a:ext cx="1146175" cy="1219200"/>
            <a:chOff x="3288" y="2713"/>
            <a:chExt cx="722" cy="768"/>
          </a:xfrm>
        </p:grpSpPr>
        <p:grpSp>
          <p:nvGrpSpPr>
            <p:cNvPr id="23568" name="Group 25"/>
            <p:cNvGrpSpPr>
              <a:grpSpLocks/>
            </p:cNvGrpSpPr>
            <p:nvPr/>
          </p:nvGrpSpPr>
          <p:grpSpPr bwMode="auto">
            <a:xfrm>
              <a:off x="3288" y="2713"/>
              <a:ext cx="386" cy="768"/>
              <a:chOff x="5066" y="1301"/>
              <a:chExt cx="692" cy="768"/>
            </a:xfrm>
          </p:grpSpPr>
          <p:sp>
            <p:nvSpPr>
              <p:cNvPr id="23575" name="Line 26"/>
              <p:cNvSpPr>
                <a:spLocks noChangeShapeType="1"/>
              </p:cNvSpPr>
              <p:nvPr/>
            </p:nvSpPr>
            <p:spPr bwMode="auto">
              <a:xfrm flipV="1">
                <a:off x="5066" y="1301"/>
                <a:ext cx="69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3576" name="Line 27"/>
              <p:cNvSpPr>
                <a:spLocks noChangeShapeType="1"/>
              </p:cNvSpPr>
              <p:nvPr/>
            </p:nvSpPr>
            <p:spPr bwMode="auto">
              <a:xfrm flipV="1">
                <a:off x="5066" y="1493"/>
                <a:ext cx="69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3577" name="Line 28"/>
              <p:cNvSpPr>
                <a:spLocks noChangeShapeType="1"/>
              </p:cNvSpPr>
              <p:nvPr/>
            </p:nvSpPr>
            <p:spPr bwMode="auto">
              <a:xfrm flipV="1">
                <a:off x="5066" y="1685"/>
                <a:ext cx="69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3578" name="Line 29"/>
              <p:cNvSpPr>
                <a:spLocks noChangeShapeType="1"/>
              </p:cNvSpPr>
              <p:nvPr/>
            </p:nvSpPr>
            <p:spPr bwMode="auto">
              <a:xfrm flipV="1">
                <a:off x="5066" y="1877"/>
                <a:ext cx="69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3579" name="Line 30"/>
              <p:cNvSpPr>
                <a:spLocks noChangeShapeType="1"/>
              </p:cNvSpPr>
              <p:nvPr/>
            </p:nvSpPr>
            <p:spPr bwMode="auto">
              <a:xfrm flipV="1">
                <a:off x="5066" y="2069"/>
                <a:ext cx="69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</p:grpSp>
        <p:grpSp>
          <p:nvGrpSpPr>
            <p:cNvPr id="23569" name="Group 42"/>
            <p:cNvGrpSpPr>
              <a:grpSpLocks/>
            </p:cNvGrpSpPr>
            <p:nvPr/>
          </p:nvGrpSpPr>
          <p:grpSpPr bwMode="auto">
            <a:xfrm>
              <a:off x="3632" y="2713"/>
              <a:ext cx="378" cy="768"/>
              <a:chOff x="5066" y="1301"/>
              <a:chExt cx="692" cy="768"/>
            </a:xfrm>
          </p:grpSpPr>
          <p:sp>
            <p:nvSpPr>
              <p:cNvPr id="23570" name="Line 43"/>
              <p:cNvSpPr>
                <a:spLocks noChangeShapeType="1"/>
              </p:cNvSpPr>
              <p:nvPr/>
            </p:nvSpPr>
            <p:spPr bwMode="auto">
              <a:xfrm flipV="1">
                <a:off x="5066" y="1301"/>
                <a:ext cx="69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3571" name="Line 44"/>
              <p:cNvSpPr>
                <a:spLocks noChangeShapeType="1"/>
              </p:cNvSpPr>
              <p:nvPr/>
            </p:nvSpPr>
            <p:spPr bwMode="auto">
              <a:xfrm flipV="1">
                <a:off x="5066" y="1493"/>
                <a:ext cx="69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3572" name="Line 45"/>
              <p:cNvSpPr>
                <a:spLocks noChangeShapeType="1"/>
              </p:cNvSpPr>
              <p:nvPr/>
            </p:nvSpPr>
            <p:spPr bwMode="auto">
              <a:xfrm flipV="1">
                <a:off x="5066" y="1685"/>
                <a:ext cx="69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3573" name="Line 46"/>
              <p:cNvSpPr>
                <a:spLocks noChangeShapeType="1"/>
              </p:cNvSpPr>
              <p:nvPr/>
            </p:nvSpPr>
            <p:spPr bwMode="auto">
              <a:xfrm flipV="1">
                <a:off x="5066" y="1877"/>
                <a:ext cx="69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3574" name="Line 47"/>
              <p:cNvSpPr>
                <a:spLocks noChangeShapeType="1"/>
              </p:cNvSpPr>
              <p:nvPr/>
            </p:nvSpPr>
            <p:spPr bwMode="auto">
              <a:xfrm flipV="1">
                <a:off x="5066" y="2069"/>
                <a:ext cx="69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</p:grpSp>
      </p:grpSp>
      <p:grpSp>
        <p:nvGrpSpPr>
          <p:cNvPr id="47" name="Group 2"/>
          <p:cNvGrpSpPr>
            <a:grpSpLocks/>
          </p:cNvGrpSpPr>
          <p:nvPr/>
        </p:nvGrpSpPr>
        <p:grpSpPr bwMode="auto">
          <a:xfrm>
            <a:off x="1842747" y="2070437"/>
            <a:ext cx="2817813" cy="1428750"/>
            <a:chOff x="4520" y="1226"/>
            <a:chExt cx="1775" cy="900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48" name="Rectangle 3"/>
            <p:cNvSpPr>
              <a:spLocks noChangeArrowheads="1"/>
            </p:cNvSpPr>
            <p:nvPr/>
          </p:nvSpPr>
          <p:spPr bwMode="auto">
            <a:xfrm>
              <a:off x="4870" y="1236"/>
              <a:ext cx="168" cy="890"/>
            </a:xfrm>
            <a:prstGeom prst="rect">
              <a:avLst/>
            </a:prstGeom>
            <a:grpFill/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" name="Rectangle 4"/>
            <p:cNvSpPr>
              <a:spLocks noChangeArrowheads="1"/>
            </p:cNvSpPr>
            <p:nvPr/>
          </p:nvSpPr>
          <p:spPr bwMode="auto">
            <a:xfrm>
              <a:off x="5772" y="1226"/>
              <a:ext cx="168" cy="890"/>
            </a:xfrm>
            <a:prstGeom prst="rect">
              <a:avLst/>
            </a:prstGeom>
            <a:grpFill/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/>
          </p:nvSpPr>
          <p:spPr bwMode="auto">
            <a:xfrm>
              <a:off x="4520" y="1637"/>
              <a:ext cx="350" cy="56"/>
            </a:xfrm>
            <a:prstGeom prst="rect">
              <a:avLst/>
            </a:prstGeom>
            <a:grpFill/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" name="Rectangle 6"/>
            <p:cNvSpPr>
              <a:spLocks noChangeArrowheads="1"/>
            </p:cNvSpPr>
            <p:nvPr/>
          </p:nvSpPr>
          <p:spPr bwMode="auto">
            <a:xfrm>
              <a:off x="5945" y="1656"/>
              <a:ext cx="350" cy="56"/>
            </a:xfrm>
            <a:prstGeom prst="rect">
              <a:avLst/>
            </a:prstGeom>
            <a:grpFill/>
            <a:ln w="1270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2" name="Group 11"/>
          <p:cNvGrpSpPr>
            <a:grpSpLocks/>
          </p:cNvGrpSpPr>
          <p:nvPr/>
        </p:nvGrpSpPr>
        <p:grpSpPr bwMode="auto">
          <a:xfrm>
            <a:off x="1917360" y="1847879"/>
            <a:ext cx="2692400" cy="466725"/>
            <a:chOff x="4567" y="1155"/>
            <a:chExt cx="1696" cy="294"/>
          </a:xfrm>
        </p:grpSpPr>
        <p:sp>
          <p:nvSpPr>
            <p:cNvPr id="53" name="Text Box 12"/>
            <p:cNvSpPr txBox="1">
              <a:spLocks noChangeArrowheads="1"/>
            </p:cNvSpPr>
            <p:nvPr/>
          </p:nvSpPr>
          <p:spPr bwMode="auto">
            <a:xfrm>
              <a:off x="4567" y="1157"/>
              <a:ext cx="34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  <a:endParaRPr lang="es-ES" sz="24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Text Box 13"/>
            <p:cNvSpPr txBox="1">
              <a:spLocks noChangeArrowheads="1"/>
            </p:cNvSpPr>
            <p:nvPr/>
          </p:nvSpPr>
          <p:spPr bwMode="auto">
            <a:xfrm>
              <a:off x="5955" y="1155"/>
              <a:ext cx="30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  <a:endParaRPr lang="es-ES" sz="24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5" name="Group 14"/>
          <p:cNvGrpSpPr>
            <a:grpSpLocks/>
          </p:cNvGrpSpPr>
          <p:nvPr/>
        </p:nvGrpSpPr>
        <p:grpSpPr bwMode="auto">
          <a:xfrm>
            <a:off x="2436472" y="1969354"/>
            <a:ext cx="1593850" cy="1616075"/>
            <a:chOff x="4894" y="1162"/>
            <a:chExt cx="1004" cy="1018"/>
          </a:xfrm>
        </p:grpSpPr>
        <p:sp>
          <p:nvSpPr>
            <p:cNvPr id="56" name="Text Box 15"/>
            <p:cNvSpPr txBox="1">
              <a:spLocks noChangeArrowheads="1"/>
            </p:cNvSpPr>
            <p:nvPr/>
          </p:nvSpPr>
          <p:spPr bwMode="auto">
            <a:xfrm>
              <a:off x="4894" y="1173"/>
              <a:ext cx="20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57" name="Text Box 16"/>
            <p:cNvSpPr txBox="1">
              <a:spLocks noChangeArrowheads="1"/>
            </p:cNvSpPr>
            <p:nvPr/>
          </p:nvSpPr>
          <p:spPr bwMode="auto">
            <a:xfrm>
              <a:off x="4894" y="1362"/>
              <a:ext cx="20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58" name="Text Box 17"/>
            <p:cNvSpPr txBox="1">
              <a:spLocks noChangeArrowheads="1"/>
            </p:cNvSpPr>
            <p:nvPr/>
          </p:nvSpPr>
          <p:spPr bwMode="auto">
            <a:xfrm>
              <a:off x="4894" y="1550"/>
              <a:ext cx="20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59" name="Text Box 18"/>
            <p:cNvSpPr txBox="1">
              <a:spLocks noChangeArrowheads="1"/>
            </p:cNvSpPr>
            <p:nvPr/>
          </p:nvSpPr>
          <p:spPr bwMode="auto">
            <a:xfrm>
              <a:off x="4894" y="1739"/>
              <a:ext cx="20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60" name="Text Box 19"/>
            <p:cNvSpPr txBox="1">
              <a:spLocks noChangeArrowheads="1"/>
            </p:cNvSpPr>
            <p:nvPr/>
          </p:nvSpPr>
          <p:spPr bwMode="auto">
            <a:xfrm>
              <a:off x="4894" y="1927"/>
              <a:ext cx="20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61" name="Text Box 20"/>
            <p:cNvSpPr txBox="1">
              <a:spLocks noChangeArrowheads="1"/>
            </p:cNvSpPr>
            <p:nvPr/>
          </p:nvSpPr>
          <p:spPr bwMode="auto">
            <a:xfrm>
              <a:off x="5723" y="1162"/>
              <a:ext cx="16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62" name="Text Box 21"/>
            <p:cNvSpPr txBox="1">
              <a:spLocks noChangeArrowheads="1"/>
            </p:cNvSpPr>
            <p:nvPr/>
          </p:nvSpPr>
          <p:spPr bwMode="auto">
            <a:xfrm>
              <a:off x="5723" y="1351"/>
              <a:ext cx="16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63" name="Text Box 22"/>
            <p:cNvSpPr txBox="1">
              <a:spLocks noChangeArrowheads="1"/>
            </p:cNvSpPr>
            <p:nvPr/>
          </p:nvSpPr>
          <p:spPr bwMode="auto">
            <a:xfrm>
              <a:off x="5723" y="1539"/>
              <a:ext cx="16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64" name="Text Box 23"/>
            <p:cNvSpPr txBox="1">
              <a:spLocks noChangeArrowheads="1"/>
            </p:cNvSpPr>
            <p:nvPr/>
          </p:nvSpPr>
          <p:spPr bwMode="auto">
            <a:xfrm>
              <a:off x="5723" y="1728"/>
              <a:ext cx="16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65" name="Text Box 24"/>
            <p:cNvSpPr txBox="1">
              <a:spLocks noChangeArrowheads="1"/>
            </p:cNvSpPr>
            <p:nvPr/>
          </p:nvSpPr>
          <p:spPr bwMode="auto">
            <a:xfrm>
              <a:off x="5730" y="1916"/>
              <a:ext cx="16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3" name="Grupo 2"/>
          <p:cNvGrpSpPr/>
          <p:nvPr/>
        </p:nvGrpSpPr>
        <p:grpSpPr>
          <a:xfrm flipH="1">
            <a:off x="5176663" y="1778621"/>
            <a:ext cx="541127" cy="2065433"/>
            <a:chOff x="6328881" y="2710914"/>
            <a:chExt cx="541127" cy="2065433"/>
          </a:xfrm>
        </p:grpSpPr>
        <p:sp>
          <p:nvSpPr>
            <p:cNvPr id="44" name="AutoShape 21"/>
            <p:cNvSpPr>
              <a:spLocks noChangeArrowheads="1"/>
            </p:cNvSpPr>
            <p:nvPr/>
          </p:nvSpPr>
          <p:spPr bwMode="auto">
            <a:xfrm>
              <a:off x="6460433" y="3465127"/>
              <a:ext cx="409575" cy="609600"/>
            </a:xfrm>
            <a:prstGeom prst="rightArrow">
              <a:avLst>
                <a:gd name="adj1" fmla="val 45620"/>
                <a:gd name="adj2" fmla="val 5661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" name="Rectángulo 1"/>
            <p:cNvSpPr/>
            <p:nvPr/>
          </p:nvSpPr>
          <p:spPr bwMode="auto">
            <a:xfrm>
              <a:off x="6328881" y="2710914"/>
              <a:ext cx="133563" cy="2065433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7" name="Text Box 41">
            <a:extLst>
              <a:ext uri="{FF2B5EF4-FFF2-40B4-BE49-F238E27FC236}">
                <a16:creationId xmlns:a16="http://schemas.microsoft.com/office/drawing/2014/main" id="{F3E3D480-828D-46FB-B425-D3D86AACA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468" y="1607492"/>
            <a:ext cx="3885876" cy="463846"/>
          </a:xfrm>
          <a:prstGeom prst="rect">
            <a:avLst/>
          </a:prstGeom>
          <a:noFill/>
          <a:ln>
            <a:noFill/>
          </a:ln>
        </p:spPr>
        <p:txBody>
          <a:bodyPr wrap="square" lIns="144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Arial" panose="020B0604020202020204" pitchFamily="34" charset="0"/>
              </a:rPr>
              <a:t> Donde están </a:t>
            </a:r>
            <a:r>
              <a:rPr lang="es-ES" sz="2400">
                <a:latin typeface="Arial" panose="020B0604020202020204" pitchFamily="34" charset="0"/>
              </a:rPr>
              <a:t>las cargas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00" name="Text Box 35">
            <a:extLst>
              <a:ext uri="{FF2B5EF4-FFF2-40B4-BE49-F238E27FC236}">
                <a16:creationId xmlns:a16="http://schemas.microsoft.com/office/drawing/2014/main" id="{7E0BDE8F-8C21-4175-B10E-A70168A2D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381" y="4278620"/>
            <a:ext cx="8259059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44000" tIns="82800" rIns="144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Las cargas y las líneas de campo eléctrico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se concentran (se “condensan”)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 en la región entre las láminas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01" name="Text Box 50">
            <a:extLst>
              <a:ext uri="{FF2B5EF4-FFF2-40B4-BE49-F238E27FC236}">
                <a16:creationId xmlns:a16="http://schemas.microsoft.com/office/drawing/2014/main" id="{EB0FAA49-690C-4857-97E5-1EE037F58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881" y="5375320"/>
            <a:ext cx="8634093" cy="978584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Un conjunto de dos conductores en influencia total, con un campo entre ellos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debido sólo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a su carga, es un condensador</a:t>
            </a:r>
          </a:p>
        </p:txBody>
      </p:sp>
      <p:sp>
        <p:nvSpPr>
          <p:cNvPr id="103" name="CuadroTexto 1">
            <a:extLst>
              <a:ext uri="{FF2B5EF4-FFF2-40B4-BE49-F238E27FC236}">
                <a16:creationId xmlns:a16="http://schemas.microsoft.com/office/drawing/2014/main" id="{66C848C2-52A5-489F-AC16-63636CEA1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182" y="6382224"/>
            <a:ext cx="763162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FF0000"/>
                </a:solidFill>
                <a:sym typeface="Wingdings" panose="05000000000000000000" pitchFamily="2" charset="2"/>
              </a:rPr>
              <a:t>(si el campo se </a:t>
            </a:r>
            <a:r>
              <a:rPr lang="es-ES" sz="2400">
                <a:solidFill>
                  <a:srgbClr val="FF0000"/>
                </a:solidFill>
                <a:sym typeface="Wingdings" panose="05000000000000000000" pitchFamily="2" charset="2"/>
              </a:rPr>
              <a:t>debe sólo </a:t>
            </a:r>
            <a:r>
              <a:rPr lang="es-ES" sz="2400" dirty="0">
                <a:solidFill>
                  <a:srgbClr val="FF0000"/>
                </a:solidFill>
                <a:sym typeface="Wingdings" panose="05000000000000000000" pitchFamily="2" charset="2"/>
              </a:rPr>
              <a:t>a su carga, la </a:t>
            </a:r>
            <a:r>
              <a:rPr lang="es-ES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ddp</a:t>
            </a:r>
            <a:r>
              <a:rPr lang="es-ES" sz="2400" dirty="0">
                <a:solidFill>
                  <a:srgbClr val="FF0000"/>
                </a:solidFill>
                <a:sym typeface="Wingdings" panose="05000000000000000000" pitchFamily="2" charset="2"/>
              </a:rPr>
              <a:t> también)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5" name="Text Box 41">
            <a:extLst>
              <a:ext uri="{FF2B5EF4-FFF2-40B4-BE49-F238E27FC236}">
                <a16:creationId xmlns:a16="http://schemas.microsoft.com/office/drawing/2014/main" id="{CCA9F4BC-F347-8E14-32E3-FF2E57533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683" y="2013885"/>
            <a:ext cx="3885876" cy="463846"/>
          </a:xfrm>
          <a:prstGeom prst="rect">
            <a:avLst/>
          </a:prstGeom>
          <a:noFill/>
          <a:ln>
            <a:noFill/>
          </a:ln>
        </p:spPr>
        <p:txBody>
          <a:bodyPr wrap="square" lIns="144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Donde </a:t>
            </a:r>
            <a:r>
              <a:rPr lang="es-ES" sz="2400">
                <a:latin typeface="Arial" panose="020B0604020202020204" pitchFamily="34" charset="0"/>
              </a:rPr>
              <a:t>crean campo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" name="Text Box 41">
            <a:extLst>
              <a:ext uri="{FF2B5EF4-FFF2-40B4-BE49-F238E27FC236}">
                <a16:creationId xmlns:a16="http://schemas.microsoft.com/office/drawing/2014/main" id="{FC0DA546-5846-15F4-B4E3-9C9097CF2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131" y="2420278"/>
            <a:ext cx="3885876" cy="833178"/>
          </a:xfrm>
          <a:prstGeom prst="rect">
            <a:avLst/>
          </a:prstGeom>
          <a:noFill/>
          <a:ln>
            <a:noFill/>
          </a:ln>
        </p:spPr>
        <p:txBody>
          <a:bodyPr wrap="square" lIns="144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Que las cargas son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iguales salvo </a:t>
            </a:r>
            <a:r>
              <a:rPr lang="es-ES" sz="2400">
                <a:latin typeface="Arial" panose="020B0604020202020204" pitchFamily="34" charset="0"/>
              </a:rPr>
              <a:t>su signo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8" name="Text Box 41">
            <a:extLst>
              <a:ext uri="{FF2B5EF4-FFF2-40B4-BE49-F238E27FC236}">
                <a16:creationId xmlns:a16="http://schemas.microsoft.com/office/drawing/2014/main" id="{4AF581AF-4A32-D036-61A3-400F6FA2A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7874" y="3196003"/>
            <a:ext cx="3885876" cy="833178"/>
          </a:xfrm>
          <a:prstGeom prst="rect">
            <a:avLst/>
          </a:prstGeom>
          <a:noFill/>
          <a:ln>
            <a:noFill/>
          </a:ln>
        </p:spPr>
        <p:txBody>
          <a:bodyPr wrap="square" lIns="144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Y el sentido de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, que es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el de disminución de V</a:t>
            </a:r>
          </a:p>
        </p:txBody>
      </p:sp>
    </p:spTree>
    <p:extLst>
      <p:ext uri="{BB962C8B-B14F-4D97-AF65-F5344CB8AC3E}">
        <p14:creationId xmlns:p14="http://schemas.microsoft.com/office/powerpoint/2010/main" val="205766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00073" grpId="0" animBg="1"/>
      <p:bldP spid="67" grpId="0"/>
      <p:bldP spid="100" grpId="0" animBg="1"/>
      <p:bldP spid="101" grpId="0" animBg="1"/>
      <p:bldP spid="103" grpId="0"/>
      <p:bldP spid="5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21">
            <a:extLst>
              <a:ext uri="{FF2B5EF4-FFF2-40B4-BE49-F238E27FC236}">
                <a16:creationId xmlns:a16="http://schemas.microsoft.com/office/drawing/2014/main" id="{08BEB398-A344-4E36-9CD3-67D82B46B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4" y="2713336"/>
            <a:ext cx="8049901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Y los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condensadores se fabrican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haciendo despreciable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   el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efecto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de borde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, para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que “haya” influencia total</a:t>
            </a:r>
          </a:p>
        </p:txBody>
      </p:sp>
      <p:sp>
        <p:nvSpPr>
          <p:cNvPr id="42" name="Text Box 21">
            <a:extLst>
              <a:ext uri="{FF2B5EF4-FFF2-40B4-BE49-F238E27FC236}">
                <a16:creationId xmlns:a16="http://schemas.microsoft.com/office/drawing/2014/main" id="{5CA78297-EC99-477B-9BF5-9E02EC933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995" y="3716276"/>
            <a:ext cx="4971837" cy="88407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Hay carga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campo eléctrico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fuera de la zona entre las láminas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4" name="Text Box 21">
            <a:extLst>
              <a:ext uri="{FF2B5EF4-FFF2-40B4-BE49-F238E27FC236}">
                <a16:creationId xmlns:a16="http://schemas.microsoft.com/office/drawing/2014/main" id="{ABC2ED82-6948-431C-BB20-4418805C0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564" y="4672978"/>
            <a:ext cx="8228177" cy="884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Las cargas de los conductores se atraen, pero las de cada uno se repelen. Eso puede colocar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carga fuera de la zona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5" name="Text Box 21">
            <a:extLst>
              <a:ext uri="{FF2B5EF4-FFF2-40B4-BE49-F238E27FC236}">
                <a16:creationId xmlns:a16="http://schemas.microsoft.com/office/drawing/2014/main" id="{7E15AD18-49B9-4446-9BC2-C6E329040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074" y="5624976"/>
            <a:ext cx="8225535" cy="1253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Si se considera el sistema aislado,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si vamos de una lámina a otra por fuera, el potencial cambia. Ese cambio se debe al trabajo del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campo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 creado por las cargas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en el exterior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65A418E0-F35F-410F-BF80-6202C5214C6C}"/>
              </a:ext>
            </a:extLst>
          </p:cNvPr>
          <p:cNvSpPr/>
          <p:nvPr/>
        </p:nvSpPr>
        <p:spPr bwMode="auto">
          <a:xfrm flipH="1">
            <a:off x="3549949" y="3725100"/>
            <a:ext cx="892887" cy="444228"/>
          </a:xfrm>
          <a:custGeom>
            <a:avLst/>
            <a:gdLst>
              <a:gd name="connsiteX0" fmla="*/ 843280 w 843280"/>
              <a:gd name="connsiteY0" fmla="*/ 0 h 650240"/>
              <a:gd name="connsiteX1" fmla="*/ 843280 w 843280"/>
              <a:gd name="connsiteY1" fmla="*/ 650240 h 650240"/>
              <a:gd name="connsiteX2" fmla="*/ 0 w 843280"/>
              <a:gd name="connsiteY2" fmla="*/ 64008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3280" h="650240">
                <a:moveTo>
                  <a:pt x="843280" y="0"/>
                </a:moveTo>
                <a:lnTo>
                  <a:pt x="843280" y="650240"/>
                </a:lnTo>
                <a:lnTo>
                  <a:pt x="0" y="640080"/>
                </a:ln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9" name="CuadroTexto 1">
            <a:extLst>
              <a:ext uri="{FF2B5EF4-FFF2-40B4-BE49-F238E27FC236}">
                <a16:creationId xmlns:a16="http://schemas.microsoft.com/office/drawing/2014/main" id="{6D302108-B4F1-4FE2-9862-C53CFABDE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1814" y="311241"/>
            <a:ext cx="6663947" cy="9567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216000" tIns="108000" rIns="216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Los condensadores en un circuito “cumplen” ambas cosas: Son condensadores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40" name="Text Box 21">
            <a:extLst>
              <a:ext uri="{FF2B5EF4-FFF2-40B4-BE49-F238E27FC236}">
                <a16:creationId xmlns:a16="http://schemas.microsoft.com/office/drawing/2014/main" id="{68B76B5A-971E-4950-AF8F-BB0CAF542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1684" y="1744116"/>
            <a:ext cx="8049900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Las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láminas están suficientemente cerca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para que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   el campo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entre ellas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se deba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“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básicamente”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a ellas</a:t>
            </a:r>
          </a:p>
        </p:txBody>
      </p:sp>
      <p:sp>
        <p:nvSpPr>
          <p:cNvPr id="9" name="CuadroTexto 1">
            <a:extLst>
              <a:ext uri="{FF2B5EF4-FFF2-40B4-BE49-F238E27FC236}">
                <a16:creationId xmlns:a16="http://schemas.microsoft.com/office/drawing/2014/main" id="{19094315-C6FA-43CF-A7AD-552201BD7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925" y="1239122"/>
            <a:ext cx="8548851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FF0000"/>
                </a:solidFill>
                <a:sym typeface="Wingdings" panose="05000000000000000000" pitchFamily="2" charset="2"/>
              </a:rPr>
              <a:t>(al menos para calcular las magnitudes que los caracterizan)</a:t>
            </a:r>
            <a:endParaRPr lang="es-ES" sz="2400" dirty="0">
              <a:solidFill>
                <a:srgbClr val="FF0000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2DA56B4-FBBF-F327-04E5-CEB2F223E888}"/>
              </a:ext>
            </a:extLst>
          </p:cNvPr>
          <p:cNvCxnSpPr>
            <a:cxnSpLocks/>
          </p:cNvCxnSpPr>
          <p:nvPr/>
        </p:nvCxnSpPr>
        <p:spPr bwMode="auto">
          <a:xfrm>
            <a:off x="2459421" y="3674236"/>
            <a:ext cx="2144110" cy="8824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73258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4" grpId="0" animBg="1"/>
      <p:bldP spid="45" grpId="0" animBg="1"/>
      <p:bldP spid="2" grpId="0" animBg="1"/>
      <p:bldP spid="39" grpId="0" animBg="1"/>
      <p:bldP spid="40" grpId="0" animBg="1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3949700" y="1711035"/>
            <a:ext cx="3575050" cy="3046413"/>
            <a:chOff x="3018" y="2274"/>
            <a:chExt cx="1232" cy="1919"/>
          </a:xfrm>
        </p:grpSpPr>
        <p:pic>
          <p:nvPicPr>
            <p:cNvPr id="25641" name="Picture 31" descr="lineasplano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8" y="2274"/>
              <a:ext cx="1232" cy="1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42" name="Line 37"/>
            <p:cNvSpPr>
              <a:spLocks noChangeShapeType="1"/>
            </p:cNvSpPr>
            <p:nvPr/>
          </p:nvSpPr>
          <p:spPr bwMode="auto">
            <a:xfrm>
              <a:off x="4001" y="3220"/>
              <a:ext cx="216" cy="0"/>
            </a:xfrm>
            <a:prstGeom prst="line">
              <a:avLst/>
            </a:prstGeom>
            <a:noFill/>
            <a:ln w="50800">
              <a:solidFill>
                <a:srgbClr val="4D4D4D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25643" name="Line 38"/>
            <p:cNvSpPr>
              <a:spLocks noChangeShapeType="1"/>
            </p:cNvSpPr>
            <p:nvPr/>
          </p:nvSpPr>
          <p:spPr bwMode="auto">
            <a:xfrm flipV="1">
              <a:off x="3076" y="3217"/>
              <a:ext cx="211" cy="0"/>
            </a:xfrm>
            <a:prstGeom prst="line">
              <a:avLst/>
            </a:prstGeom>
            <a:noFill/>
            <a:ln w="50800">
              <a:solidFill>
                <a:srgbClr val="4D4D4D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295985" name="Rectangle 49"/>
          <p:cNvSpPr>
            <a:spLocks noChangeArrowheads="1"/>
          </p:cNvSpPr>
          <p:nvPr/>
        </p:nvSpPr>
        <p:spPr bwMode="auto">
          <a:xfrm>
            <a:off x="4872038" y="2552410"/>
            <a:ext cx="1793875" cy="1355725"/>
          </a:xfrm>
          <a:prstGeom prst="rect">
            <a:avLst/>
          </a:prstGeom>
          <a:noFill/>
          <a:ln w="25400" algn="ctr">
            <a:solidFill>
              <a:srgbClr val="0000FF"/>
            </a:solidFill>
            <a:prstDash val="dash"/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31" name="Text Box 54"/>
          <p:cNvSpPr txBox="1">
            <a:spLocks noChangeArrowheads="1"/>
          </p:cNvSpPr>
          <p:nvPr/>
        </p:nvSpPr>
        <p:spPr bwMode="auto">
          <a:xfrm>
            <a:off x="1375150" y="3315056"/>
            <a:ext cx="187483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 err="1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izqda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 </a:t>
            </a:r>
            <a:r>
              <a:rPr lang="es-ES" sz="2400" dirty="0" err="1">
                <a:solidFill>
                  <a:srgbClr val="3333FF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dcha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375150" y="2402951"/>
            <a:ext cx="2349591" cy="396875"/>
            <a:chOff x="6739546" y="591424"/>
            <a:chExt cx="2349591" cy="396875"/>
          </a:xfrm>
        </p:grpSpPr>
        <p:sp>
          <p:nvSpPr>
            <p:cNvPr id="25633" name="Text Box 92"/>
            <p:cNvSpPr txBox="1">
              <a:spLocks noChangeArrowheads="1"/>
            </p:cNvSpPr>
            <p:nvPr/>
          </p:nvSpPr>
          <p:spPr bwMode="auto">
            <a:xfrm>
              <a:off x="6739546" y="591424"/>
              <a:ext cx="2349591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 E no es nulo</a:t>
              </a:r>
            </a:p>
          </p:txBody>
        </p:sp>
        <p:sp>
          <p:nvSpPr>
            <p:cNvPr id="25634" name="Line 93"/>
            <p:cNvSpPr>
              <a:spLocks noChangeShapeType="1"/>
            </p:cNvSpPr>
            <p:nvPr/>
          </p:nvSpPr>
          <p:spPr bwMode="auto">
            <a:xfrm flipV="1">
              <a:off x="7238272" y="640637"/>
              <a:ext cx="1793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="ctr"/>
            <a:lstStyle/>
            <a:p>
              <a:endParaRPr lang="en-GB"/>
            </a:p>
          </p:txBody>
        </p:sp>
      </p:grpSp>
      <p:sp>
        <p:nvSpPr>
          <p:cNvPr id="296035" name="Line 99"/>
          <p:cNvSpPr>
            <a:spLocks noChangeShapeType="1"/>
          </p:cNvSpPr>
          <p:nvPr/>
        </p:nvSpPr>
        <p:spPr bwMode="auto">
          <a:xfrm>
            <a:off x="3168674" y="2083673"/>
            <a:ext cx="1703361" cy="468732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 type="triangle" w="med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="ctr"/>
          <a:lstStyle/>
          <a:p>
            <a:endParaRPr lang="en-GB"/>
          </a:p>
        </p:txBody>
      </p:sp>
      <p:sp>
        <p:nvSpPr>
          <p:cNvPr id="25628" name="Text Box 52"/>
          <p:cNvSpPr txBox="1">
            <a:spLocks noChangeArrowheads="1"/>
          </p:cNvSpPr>
          <p:nvPr/>
        </p:nvSpPr>
        <p:spPr bwMode="auto">
          <a:xfrm>
            <a:off x="7903821" y="3659382"/>
            <a:ext cx="1545024" cy="39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izqda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cte.</a:t>
            </a:r>
          </a:p>
        </p:txBody>
      </p:sp>
      <p:sp>
        <p:nvSpPr>
          <p:cNvPr id="25627" name="Line 101"/>
          <p:cNvSpPr>
            <a:spLocks noChangeShapeType="1"/>
          </p:cNvSpPr>
          <p:nvPr/>
        </p:nvSpPr>
        <p:spPr bwMode="auto">
          <a:xfrm flipH="1">
            <a:off x="4438407" y="2002927"/>
            <a:ext cx="3575039" cy="103676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="ctr"/>
          <a:lstStyle/>
          <a:p>
            <a:endParaRPr lang="en-GB" sz="2400"/>
          </a:p>
        </p:txBody>
      </p:sp>
      <p:sp>
        <p:nvSpPr>
          <p:cNvPr id="19502" name="Text Box 46"/>
          <p:cNvSpPr txBox="1">
            <a:spLocks noChangeArrowheads="1"/>
          </p:cNvSpPr>
          <p:nvPr/>
        </p:nvSpPr>
        <p:spPr bwMode="auto">
          <a:xfrm>
            <a:off x="3928679" y="522149"/>
            <a:ext cx="5474467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sz="2400" dirty="0"/>
              <a:t>Sistema formado por dos conductores cargados, </a:t>
            </a:r>
            <a:r>
              <a:rPr lang="es-ES" sz="2400" u="sng" dirty="0"/>
              <a:t>aislados</a:t>
            </a:r>
            <a:r>
              <a:rPr lang="es-ES" sz="2400" dirty="0"/>
              <a:t> y en equilibrio</a:t>
            </a:r>
          </a:p>
        </p:txBody>
      </p:sp>
      <p:sp>
        <p:nvSpPr>
          <p:cNvPr id="50" name="Text Box 52"/>
          <p:cNvSpPr txBox="1">
            <a:spLocks noChangeArrowheads="1"/>
          </p:cNvSpPr>
          <p:nvPr/>
        </p:nvSpPr>
        <p:spPr bwMode="auto">
          <a:xfrm>
            <a:off x="8315936" y="4136384"/>
            <a:ext cx="1545025" cy="39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dcha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cte.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7958920" y="2464084"/>
            <a:ext cx="2399314" cy="1202408"/>
            <a:chOff x="7958920" y="2748564"/>
            <a:chExt cx="2399314" cy="1202408"/>
          </a:xfrm>
        </p:grpSpPr>
        <p:sp>
          <p:nvSpPr>
            <p:cNvPr id="51" name="Text Box 72"/>
            <p:cNvSpPr txBox="1">
              <a:spLocks noChangeArrowheads="1"/>
            </p:cNvSpPr>
            <p:nvPr/>
          </p:nvSpPr>
          <p:spPr bwMode="auto">
            <a:xfrm>
              <a:off x="7958920" y="2748564"/>
              <a:ext cx="2399314" cy="1202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 </a:t>
              </a:r>
              <a:r>
                <a:rPr lang="es-ES" sz="2400" dirty="0" err="1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Q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superficial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nula</a:t>
              </a:r>
            </a:p>
            <a:p>
              <a:pPr eaLnBrk="1" hangingPunct="1">
                <a:lnSpc>
                  <a:spcPct val="150000"/>
                </a:lnSpc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   y E nulo</a:t>
              </a:r>
            </a:p>
          </p:txBody>
        </p:sp>
        <p:sp>
          <p:nvSpPr>
            <p:cNvPr id="52" name="Line 79"/>
            <p:cNvSpPr>
              <a:spLocks noChangeShapeType="1"/>
            </p:cNvSpPr>
            <p:nvPr/>
          </p:nvSpPr>
          <p:spPr bwMode="auto">
            <a:xfrm flipV="1">
              <a:off x="8656008" y="3441100"/>
              <a:ext cx="1794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="ctr"/>
            <a:lstStyle/>
            <a:p>
              <a:endParaRPr lang="en-GB" sz="2400"/>
            </a:p>
          </p:txBody>
        </p:sp>
      </p:grpSp>
      <p:sp>
        <p:nvSpPr>
          <p:cNvPr id="49" name="Line 101"/>
          <p:cNvSpPr>
            <a:spLocks noChangeShapeType="1"/>
          </p:cNvSpPr>
          <p:nvPr/>
        </p:nvSpPr>
        <p:spPr bwMode="auto">
          <a:xfrm flipH="1">
            <a:off x="7063130" y="2083673"/>
            <a:ext cx="959841" cy="129900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="ctr"/>
          <a:lstStyle/>
          <a:p>
            <a:endParaRPr lang="en-GB" sz="2400"/>
          </a:p>
        </p:txBody>
      </p:sp>
      <p:sp>
        <p:nvSpPr>
          <p:cNvPr id="47" name="CuadroTexto 8"/>
          <p:cNvSpPr txBox="1">
            <a:spLocks noChangeArrowheads="1"/>
          </p:cNvSpPr>
          <p:nvPr/>
        </p:nvSpPr>
        <p:spPr bwMode="auto">
          <a:xfrm>
            <a:off x="8067318" y="1700875"/>
            <a:ext cx="2063233" cy="830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FF0000"/>
                </a:solidFill>
              </a:rPr>
              <a:t>“Idealmente” no hay líneas</a:t>
            </a:r>
          </a:p>
        </p:txBody>
      </p:sp>
      <p:sp>
        <p:nvSpPr>
          <p:cNvPr id="53" name="Text Box 52"/>
          <p:cNvSpPr txBox="1">
            <a:spLocks noChangeArrowheads="1"/>
          </p:cNvSpPr>
          <p:nvPr/>
        </p:nvSpPr>
        <p:spPr bwMode="auto">
          <a:xfrm>
            <a:off x="2085844" y="4814899"/>
            <a:ext cx="7335749" cy="1275213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3333FF"/>
                </a:solidFill>
              </a:rPr>
              <a:t>Las líneas reflejan que la carga de cada lámina está en el lado en contacto con la región entre ellas</a:t>
            </a:r>
          </a:p>
          <a:p>
            <a:pPr algn="ctr"/>
            <a:r>
              <a:rPr lang="es-ES" sz="2400" dirty="0">
                <a:solidFill>
                  <a:srgbClr val="3333FF"/>
                </a:solidFill>
              </a:rPr>
              <a:t>y que son iguales salvo el signo</a:t>
            </a:r>
          </a:p>
        </p:txBody>
      </p:sp>
      <p:sp>
        <p:nvSpPr>
          <p:cNvPr id="54" name="Line 99"/>
          <p:cNvSpPr>
            <a:spLocks noChangeShapeType="1"/>
          </p:cNvSpPr>
          <p:nvPr/>
        </p:nvSpPr>
        <p:spPr bwMode="auto">
          <a:xfrm flipH="1">
            <a:off x="5755696" y="3895477"/>
            <a:ext cx="1" cy="989514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 anchor="ctr"/>
          <a:lstStyle/>
          <a:p>
            <a:endParaRPr lang="en-GB"/>
          </a:p>
        </p:txBody>
      </p:sp>
      <p:sp>
        <p:nvSpPr>
          <p:cNvPr id="35" name="Text Box 54"/>
          <p:cNvSpPr txBox="1">
            <a:spLocks noChangeArrowheads="1"/>
          </p:cNvSpPr>
          <p:nvPr/>
        </p:nvSpPr>
        <p:spPr bwMode="auto">
          <a:xfrm>
            <a:off x="1267323" y="6141482"/>
            <a:ext cx="4914836" cy="95677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/>
              <a:t>Habría influencia total y el campo se debería sólo a las cargas</a:t>
            </a:r>
            <a:endParaRPr lang="es-ES" sz="2400" dirty="0">
              <a:sym typeface="Symbol" panose="05050102010706020507" pitchFamily="18" charset="2"/>
            </a:endParaRPr>
          </a:p>
        </p:txBody>
      </p:sp>
      <p:sp>
        <p:nvSpPr>
          <p:cNvPr id="33" name="Text Box 92"/>
          <p:cNvSpPr txBox="1">
            <a:spLocks noChangeArrowheads="1"/>
          </p:cNvSpPr>
          <p:nvPr/>
        </p:nvSpPr>
        <p:spPr bwMode="auto">
          <a:xfrm>
            <a:off x="1354090" y="1686798"/>
            <a:ext cx="1703361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Hay líneas</a:t>
            </a:r>
          </a:p>
        </p:txBody>
      </p:sp>
      <p:sp>
        <p:nvSpPr>
          <p:cNvPr id="34" name="Text Box 92"/>
          <p:cNvSpPr txBox="1">
            <a:spLocks noChangeArrowheads="1"/>
          </p:cNvSpPr>
          <p:nvPr/>
        </p:nvSpPr>
        <p:spPr bwMode="auto">
          <a:xfrm>
            <a:off x="1375815" y="2873341"/>
            <a:ext cx="170480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V varía</a:t>
            </a:r>
          </a:p>
        </p:txBody>
      </p:sp>
      <p:sp>
        <p:nvSpPr>
          <p:cNvPr id="30" name="Text Box 46">
            <a:extLst>
              <a:ext uri="{FF2B5EF4-FFF2-40B4-BE49-F238E27FC236}">
                <a16:creationId xmlns:a16="http://schemas.microsoft.com/office/drawing/2014/main" id="{8B95E321-1EAD-4B57-8287-15AAC7C3F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909" y="360581"/>
            <a:ext cx="2357563" cy="53654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sz="2400" dirty="0"/>
              <a:t>ILUSTRACIÓN</a:t>
            </a:r>
          </a:p>
        </p:txBody>
      </p:sp>
      <p:sp>
        <p:nvSpPr>
          <p:cNvPr id="4" name="Text Box 54">
            <a:extLst>
              <a:ext uri="{FF2B5EF4-FFF2-40B4-BE49-F238E27FC236}">
                <a16:creationId xmlns:a16="http://schemas.microsoft.com/office/drawing/2014/main" id="{10E4AF88-0DCE-CBE3-09BF-16C22C9D3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1870" y="6141482"/>
            <a:ext cx="2131276" cy="9567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ym typeface="Symbol" panose="05050102010706020507" pitchFamily="18" charset="2"/>
              </a:rPr>
              <a:t>Sería un condensador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96BF26D1-2A2B-0E10-2F64-0413D90A3457}"/>
              </a:ext>
            </a:extLst>
          </p:cNvPr>
          <p:cNvSpPr/>
          <p:nvPr/>
        </p:nvSpPr>
        <p:spPr bwMode="auto">
          <a:xfrm>
            <a:off x="6431622" y="6369978"/>
            <a:ext cx="631508" cy="478555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90A8491-C324-EFDA-8CFC-868BA9748615}"/>
              </a:ext>
            </a:extLst>
          </p:cNvPr>
          <p:cNvGrpSpPr/>
          <p:nvPr/>
        </p:nvGrpSpPr>
        <p:grpSpPr>
          <a:xfrm>
            <a:off x="5175584" y="2958182"/>
            <a:ext cx="1101652" cy="396875"/>
            <a:chOff x="5175584" y="2958182"/>
            <a:chExt cx="1101652" cy="396875"/>
          </a:xfrm>
        </p:grpSpPr>
        <p:sp>
          <p:nvSpPr>
            <p:cNvPr id="7" name="Text Box 92">
              <a:extLst>
                <a:ext uri="{FF2B5EF4-FFF2-40B4-BE49-F238E27FC236}">
                  <a16:creationId xmlns:a16="http://schemas.microsoft.com/office/drawing/2014/main" id="{FD808402-0CFC-25D3-0684-2F1576F4B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5584" y="2958182"/>
              <a:ext cx="110165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  <a:r>
                <a:rPr lang="es-ES" sz="2400" baseline="-25000" dirty="0" err="1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uniforme</a:t>
              </a:r>
              <a:endPara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8" name="Line 93">
              <a:extLst>
                <a:ext uri="{FF2B5EF4-FFF2-40B4-BE49-F238E27FC236}">
                  <a16:creationId xmlns:a16="http://schemas.microsoft.com/office/drawing/2014/main" id="{9D6D84A4-B4D4-FF97-8299-C90447C33C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0433" y="2998598"/>
              <a:ext cx="1793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1" dur="500"/>
                                        <p:tgtEl>
                                          <p:spTgt spid="29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9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85" grpId="0" animBg="1"/>
      <p:bldP spid="25631" grpId="0"/>
      <p:bldP spid="296035" grpId="0" animBg="1"/>
      <p:bldP spid="25628" grpId="0"/>
      <p:bldP spid="25627" grpId="0" animBg="1"/>
      <p:bldP spid="19502" grpId="0" animBg="1"/>
      <p:bldP spid="50" grpId="0"/>
      <p:bldP spid="49" grpId="0" animBg="1"/>
      <p:bldP spid="47" grpId="0"/>
      <p:bldP spid="53" grpId="0"/>
      <p:bldP spid="54" grpId="0" animBg="1"/>
      <p:bldP spid="35" grpId="0" animBg="1"/>
      <p:bldP spid="33" grpId="0"/>
      <p:bldP spid="34" grpId="0"/>
      <p:bldP spid="30" grpId="0" animBg="1"/>
      <p:bldP spid="4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62"/>
          <p:cNvGrpSpPr>
            <a:grpSpLocks/>
          </p:cNvGrpSpPr>
          <p:nvPr/>
        </p:nvGrpSpPr>
        <p:grpSpPr bwMode="auto">
          <a:xfrm>
            <a:off x="3949700" y="1695589"/>
            <a:ext cx="3575050" cy="3046413"/>
            <a:chOff x="3018" y="2274"/>
            <a:chExt cx="1232" cy="1919"/>
          </a:xfrm>
        </p:grpSpPr>
        <p:pic>
          <p:nvPicPr>
            <p:cNvPr id="27673" name="Picture 31" descr="lineasplano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8" y="2274"/>
              <a:ext cx="1232" cy="1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74" name="Line 37"/>
            <p:cNvSpPr>
              <a:spLocks noChangeShapeType="1"/>
            </p:cNvSpPr>
            <p:nvPr/>
          </p:nvSpPr>
          <p:spPr bwMode="auto">
            <a:xfrm>
              <a:off x="3998" y="3220"/>
              <a:ext cx="216" cy="0"/>
            </a:xfrm>
            <a:prstGeom prst="line">
              <a:avLst/>
            </a:prstGeom>
            <a:noFill/>
            <a:ln w="50800">
              <a:solidFill>
                <a:srgbClr val="333333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27675" name="Line 38"/>
            <p:cNvSpPr>
              <a:spLocks noChangeShapeType="1"/>
            </p:cNvSpPr>
            <p:nvPr/>
          </p:nvSpPr>
          <p:spPr bwMode="auto">
            <a:xfrm flipV="1">
              <a:off x="3077" y="3217"/>
              <a:ext cx="211" cy="0"/>
            </a:xfrm>
            <a:prstGeom prst="line">
              <a:avLst/>
            </a:prstGeom>
            <a:noFill/>
            <a:ln w="50800">
              <a:solidFill>
                <a:srgbClr val="333333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27654" name="Rectangle 49"/>
          <p:cNvSpPr>
            <a:spLocks noChangeArrowheads="1"/>
          </p:cNvSpPr>
          <p:nvPr/>
        </p:nvSpPr>
        <p:spPr bwMode="auto">
          <a:xfrm>
            <a:off x="4872038" y="2536964"/>
            <a:ext cx="1793875" cy="1355725"/>
          </a:xfrm>
          <a:prstGeom prst="rect">
            <a:avLst/>
          </a:prstGeom>
          <a:noFill/>
          <a:ln w="38100" algn="ctr">
            <a:solidFill>
              <a:srgbClr val="0000FF"/>
            </a:solidFill>
            <a:prstDash val="dash"/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63" name="Text Box 58"/>
          <p:cNvSpPr txBox="1">
            <a:spLocks noChangeArrowheads="1"/>
          </p:cNvSpPr>
          <p:nvPr/>
        </p:nvSpPr>
        <p:spPr bwMode="auto">
          <a:xfrm>
            <a:off x="1435509" y="392182"/>
            <a:ext cx="8684508" cy="9567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No obstante, </a:t>
            </a:r>
            <a:r>
              <a:rPr lang="es-ES" sz="2400">
                <a:latin typeface="Arial" panose="020B0604020202020204" pitchFamily="34" charset="0"/>
              </a:rPr>
              <a:t>para que sea </a:t>
            </a:r>
            <a:r>
              <a:rPr lang="es-ES" sz="2400" dirty="0">
                <a:latin typeface="Arial" panose="020B0604020202020204" pitchFamily="34" charset="0"/>
              </a:rPr>
              <a:t>un condensador, para que “haya” influencia total, debe ser despreciable el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efecto de borde</a:t>
            </a:r>
          </a:p>
        </p:txBody>
      </p:sp>
      <p:sp>
        <p:nvSpPr>
          <p:cNvPr id="27663" name="Freeform 46"/>
          <p:cNvSpPr>
            <a:spLocks/>
          </p:cNvSpPr>
          <p:nvPr/>
        </p:nvSpPr>
        <p:spPr bwMode="auto">
          <a:xfrm flipV="1">
            <a:off x="4090988" y="1694088"/>
            <a:ext cx="3305175" cy="1093701"/>
          </a:xfrm>
          <a:custGeom>
            <a:avLst/>
            <a:gdLst>
              <a:gd name="T0" fmla="*/ 0 w 2082"/>
              <a:gd name="T1" fmla="*/ 0 h 526"/>
              <a:gd name="T2" fmla="*/ 0 w 2082"/>
              <a:gd name="T3" fmla="*/ 7777 h 526"/>
              <a:gd name="T4" fmla="*/ 2082 w 2082"/>
              <a:gd name="T5" fmla="*/ 7924 h 526"/>
              <a:gd name="T6" fmla="*/ 2082 w 2082"/>
              <a:gd name="T7" fmla="*/ 307 h 52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82" h="526">
                <a:moveTo>
                  <a:pt x="0" y="0"/>
                </a:moveTo>
                <a:lnTo>
                  <a:pt x="0" y="516"/>
                </a:lnTo>
                <a:lnTo>
                  <a:pt x="2082" y="526"/>
                </a:lnTo>
                <a:lnTo>
                  <a:pt x="2082" y="2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noAutofit/>
          </a:bodyPr>
          <a:lstStyle/>
          <a:p>
            <a:endParaRPr lang="en-GB"/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1315320" y="4050136"/>
            <a:ext cx="2377365" cy="1253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El efecto resulta despreciable: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7708556" y="2185880"/>
            <a:ext cx="2954338" cy="1134029"/>
            <a:chOff x="7580960" y="2185880"/>
            <a:chExt cx="2954338" cy="1134029"/>
          </a:xfrm>
        </p:grpSpPr>
        <p:sp>
          <p:nvSpPr>
            <p:cNvPr id="27665" name="Text Box 109"/>
            <p:cNvSpPr txBox="1">
              <a:spLocks noChangeArrowheads="1"/>
            </p:cNvSpPr>
            <p:nvPr/>
          </p:nvSpPr>
          <p:spPr bwMode="auto">
            <a:xfrm>
              <a:off x="7580960" y="2185880"/>
              <a:ext cx="2954338" cy="1134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 Fuera hay</a:t>
              </a:r>
            </a:p>
            <a:p>
              <a:pPr eaLnBrk="1" hangingPunct="1">
                <a:lnSpc>
                  <a:spcPct val="150000"/>
                </a:lnSpc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   Q</a:t>
              </a:r>
              <a:r>
                <a:rPr lang="es-ES" sz="2400" baseline="-250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superficial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y E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7666" name="Line 110"/>
            <p:cNvSpPr>
              <a:spLocks noChangeShapeType="1"/>
            </p:cNvSpPr>
            <p:nvPr/>
          </p:nvSpPr>
          <p:spPr bwMode="auto">
            <a:xfrm>
              <a:off x="9497339" y="2866176"/>
              <a:ext cx="195263" cy="15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="ctr">
              <a:spAutoFit/>
            </a:bodyPr>
            <a:lstStyle/>
            <a:p>
              <a:pPr>
                <a:lnSpc>
                  <a:spcPct val="150000"/>
                </a:lnSpc>
              </a:pPr>
              <a:endParaRPr lang="en-GB"/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6D9FDEB7-EB74-40EE-917D-2018308F473E}"/>
              </a:ext>
            </a:extLst>
          </p:cNvPr>
          <p:cNvGrpSpPr/>
          <p:nvPr/>
        </p:nvGrpSpPr>
        <p:grpSpPr>
          <a:xfrm>
            <a:off x="5795021" y="2017843"/>
            <a:ext cx="1871017" cy="717682"/>
            <a:chOff x="5795021" y="2017843"/>
            <a:chExt cx="1871017" cy="717682"/>
          </a:xfrm>
        </p:grpSpPr>
        <p:sp>
          <p:nvSpPr>
            <p:cNvPr id="27662" name="Oval 45"/>
            <p:cNvSpPr>
              <a:spLocks noChangeArrowheads="1"/>
            </p:cNvSpPr>
            <p:nvPr/>
          </p:nvSpPr>
          <p:spPr bwMode="auto">
            <a:xfrm>
              <a:off x="6521451" y="2334485"/>
              <a:ext cx="433388" cy="401040"/>
            </a:xfrm>
            <a:prstGeom prst="ellipse">
              <a:avLst/>
            </a:prstGeom>
            <a:noFill/>
            <a:ln w="381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28" name="Line 101"/>
            <p:cNvSpPr>
              <a:spLocks noChangeShapeType="1"/>
            </p:cNvSpPr>
            <p:nvPr/>
          </p:nvSpPr>
          <p:spPr bwMode="auto">
            <a:xfrm flipH="1">
              <a:off x="5795021" y="2017843"/>
              <a:ext cx="1871016" cy="20097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="ctr"/>
            <a:lstStyle/>
            <a:p>
              <a:endParaRPr lang="en-GB" sz="2400"/>
            </a:p>
          </p:txBody>
        </p:sp>
        <p:sp>
          <p:nvSpPr>
            <p:cNvPr id="31" name="Line 101"/>
            <p:cNvSpPr>
              <a:spLocks noChangeShapeType="1"/>
            </p:cNvSpPr>
            <p:nvPr/>
          </p:nvSpPr>
          <p:spPr bwMode="auto">
            <a:xfrm flipH="1">
              <a:off x="6921112" y="2017843"/>
              <a:ext cx="744926" cy="4010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="ctr"/>
            <a:lstStyle/>
            <a:p>
              <a:endParaRPr lang="en-GB" sz="2400"/>
            </a:p>
          </p:txBody>
        </p:sp>
      </p:grpSp>
      <p:sp>
        <p:nvSpPr>
          <p:cNvPr id="33" name="Text Box 109"/>
          <p:cNvSpPr txBox="1">
            <a:spLocks noChangeArrowheads="1"/>
          </p:cNvSpPr>
          <p:nvPr/>
        </p:nvSpPr>
        <p:spPr bwMode="auto">
          <a:xfrm>
            <a:off x="7706006" y="1620040"/>
            <a:ext cx="2469355" cy="580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Hay líneas fuera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455174" y="1691859"/>
            <a:ext cx="2171634" cy="2308324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dirty="0"/>
              <a:t>El efecto se nota más en el </a:t>
            </a:r>
            <a:r>
              <a:rPr lang="es-ES" sz="2400" dirty="0">
                <a:solidFill>
                  <a:srgbClr val="FF0000"/>
                </a:solidFill>
              </a:rPr>
              <a:t>borde</a:t>
            </a:r>
            <a:r>
              <a:rPr lang="es-ES" sz="2400" dirty="0"/>
              <a:t> de las láminas, por eso se llama así</a:t>
            </a:r>
          </a:p>
        </p:txBody>
      </p:sp>
      <p:sp>
        <p:nvSpPr>
          <p:cNvPr id="23" name="Text Box 37"/>
          <p:cNvSpPr txBox="1">
            <a:spLocks noChangeArrowheads="1"/>
          </p:cNvSpPr>
          <p:nvPr/>
        </p:nvSpPr>
        <p:spPr bwMode="auto">
          <a:xfrm>
            <a:off x="3942047" y="4811979"/>
            <a:ext cx="6177969" cy="1253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Cuanto </a:t>
            </a:r>
            <a:r>
              <a:rPr lang="es-ES" sz="2400" dirty="0">
                <a:latin typeface="Arial" panose="020B0604020202020204" pitchFamily="34" charset="0"/>
              </a:rPr>
              <a:t>menor sea el volumen de esa </a:t>
            </a:r>
            <a:r>
              <a:rPr lang="es-ES" sz="2400">
                <a:latin typeface="Arial" panose="020B0604020202020204" pitchFamily="34" charset="0"/>
              </a:rPr>
              <a:t>zona, que es donde </a:t>
            </a:r>
            <a:r>
              <a:rPr lang="es-ES" sz="2400" dirty="0">
                <a:latin typeface="Arial" panose="020B0604020202020204" pitchFamily="34" charset="0"/>
              </a:rPr>
              <a:t>más se </a:t>
            </a:r>
            <a:r>
              <a:rPr lang="es-ES" sz="2400">
                <a:latin typeface="Arial" panose="020B0604020202020204" pitchFamily="34" charset="0"/>
              </a:rPr>
              <a:t>nota,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frente </a:t>
            </a:r>
            <a:r>
              <a:rPr lang="es-ES" sz="2400" dirty="0">
                <a:latin typeface="Arial" panose="020B0604020202020204" pitchFamily="34" charset="0"/>
              </a:rPr>
              <a:t>al volumen del condensador</a:t>
            </a:r>
          </a:p>
        </p:txBody>
      </p:sp>
      <p:sp>
        <p:nvSpPr>
          <p:cNvPr id="24" name="Text Box 109"/>
          <p:cNvSpPr txBox="1">
            <a:spLocks noChangeArrowheads="1"/>
          </p:cNvSpPr>
          <p:nvPr/>
        </p:nvSpPr>
        <p:spPr bwMode="auto">
          <a:xfrm>
            <a:off x="7711821" y="3277729"/>
            <a:ext cx="2954338" cy="579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V varía fuera</a:t>
            </a:r>
          </a:p>
        </p:txBody>
      </p:sp>
      <p:sp>
        <p:nvSpPr>
          <p:cNvPr id="22" name="Text Box 55"/>
          <p:cNvSpPr txBox="1">
            <a:spLocks noChangeArrowheads="1"/>
          </p:cNvSpPr>
          <p:nvPr/>
        </p:nvSpPr>
        <p:spPr bwMode="auto">
          <a:xfrm>
            <a:off x="1433658" y="6305814"/>
            <a:ext cx="9197680" cy="587441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Grosor y separación de </a:t>
            </a:r>
            <a:r>
              <a:rPr lang="es-ES" sz="2400" dirty="0">
                <a:latin typeface="Arial" panose="020B0604020202020204" pitchFamily="34" charset="0"/>
              </a:rPr>
              <a:t>láminas </a:t>
            </a:r>
            <a:r>
              <a:rPr lang="es-ES" sz="2400">
                <a:latin typeface="Arial" panose="020B0604020202020204" pitchFamily="34" charset="0"/>
              </a:rPr>
              <a:t>&lt;&lt; Dimensiones de su superficie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6040BB39-CA74-DA26-7B5C-29EA60C69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562" y="5783755"/>
            <a:ext cx="2377365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Esto ocurre si: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3" grpId="0" animBg="1"/>
      <p:bldP spid="27663" grpId="0" animBg="1"/>
      <p:bldP spid="30" grpId="0"/>
      <p:bldP spid="33" grpId="0"/>
      <p:bldP spid="2" grpId="0" animBg="1"/>
      <p:bldP spid="23" grpId="0" animBg="1"/>
      <p:bldP spid="24" grpId="0"/>
      <p:bldP spid="22" grpId="0" animBg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B4BC4195-7237-4EAF-8535-B3C270535C4C}"/>
              </a:ext>
            </a:extLst>
          </p:cNvPr>
          <p:cNvGrpSpPr/>
          <p:nvPr/>
        </p:nvGrpSpPr>
        <p:grpSpPr>
          <a:xfrm>
            <a:off x="6726675" y="384075"/>
            <a:ext cx="3600177" cy="3393029"/>
            <a:chOff x="6726675" y="384075"/>
            <a:chExt cx="3600177" cy="3393029"/>
          </a:xfrm>
        </p:grpSpPr>
        <p:grpSp>
          <p:nvGrpSpPr>
            <p:cNvPr id="46" name="Group 10">
              <a:extLst>
                <a:ext uri="{FF2B5EF4-FFF2-40B4-BE49-F238E27FC236}">
                  <a16:creationId xmlns:a16="http://schemas.microsoft.com/office/drawing/2014/main" id="{6263AA98-57E6-432A-BC0D-7C656C6EE6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6675" y="384075"/>
              <a:ext cx="3600177" cy="3393029"/>
              <a:chOff x="610" y="1380"/>
              <a:chExt cx="2487" cy="2136"/>
            </a:xfrm>
          </p:grpSpPr>
          <p:pic>
            <p:nvPicPr>
              <p:cNvPr id="51" name="Picture 11" descr="cond">
                <a:extLst>
                  <a:ext uri="{FF2B5EF4-FFF2-40B4-BE49-F238E27FC236}">
                    <a16:creationId xmlns:a16="http://schemas.microsoft.com/office/drawing/2014/main" id="{70F8E9B7-AE98-44A7-BDA1-FA3E56CDDE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3" y="2211"/>
                <a:ext cx="2204" cy="13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" name="Text Box 12">
                <a:extLst>
                  <a:ext uri="{FF2B5EF4-FFF2-40B4-BE49-F238E27FC236}">
                    <a16:creationId xmlns:a16="http://schemas.microsoft.com/office/drawing/2014/main" id="{AE3425A6-5027-465E-9FC7-073F0636D0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4" y="1579"/>
                <a:ext cx="8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FF0000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85267" tIns="44339" rIns="85267" bIns="44339">
                <a:spAutoFit/>
              </a:bodyPr>
              <a:lstStyle>
                <a:lvl1pPr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s-ES" b="0" dirty="0"/>
                  <a:t>cerámico</a:t>
                </a:r>
              </a:p>
            </p:txBody>
          </p:sp>
          <p:sp>
            <p:nvSpPr>
              <p:cNvPr id="53" name="Text Box 13">
                <a:extLst>
                  <a:ext uri="{FF2B5EF4-FFF2-40B4-BE49-F238E27FC236}">
                    <a16:creationId xmlns:a16="http://schemas.microsoft.com/office/drawing/2014/main" id="{30A9DB69-C918-452C-9530-2D0AC7071E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3" y="1811"/>
                <a:ext cx="49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FF0000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85267" tIns="44339" rIns="85267" bIns="44339">
                <a:spAutoFit/>
              </a:bodyPr>
              <a:lstStyle>
                <a:lvl1pPr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s-ES" b="0" dirty="0"/>
                  <a:t>mica</a:t>
                </a:r>
              </a:p>
            </p:txBody>
          </p:sp>
          <p:sp>
            <p:nvSpPr>
              <p:cNvPr id="54" name="Text Box 14">
                <a:extLst>
                  <a:ext uri="{FF2B5EF4-FFF2-40B4-BE49-F238E27FC236}">
                    <a16:creationId xmlns:a16="http://schemas.microsoft.com/office/drawing/2014/main" id="{B60951F7-1490-4DB1-8FE3-63CC3FCAF2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9" y="1451"/>
                <a:ext cx="78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FF0000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85267" tIns="44339" rIns="85267" bIns="44339">
                <a:spAutoFit/>
              </a:bodyPr>
              <a:lstStyle>
                <a:lvl1pPr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s-ES" b="0" dirty="0"/>
                  <a:t>poliéster</a:t>
                </a:r>
              </a:p>
            </p:txBody>
          </p:sp>
          <p:sp>
            <p:nvSpPr>
              <p:cNvPr id="55" name="Text Box 15">
                <a:extLst>
                  <a:ext uri="{FF2B5EF4-FFF2-40B4-BE49-F238E27FC236}">
                    <a16:creationId xmlns:a16="http://schemas.microsoft.com/office/drawing/2014/main" id="{C269171F-CCB9-4CC1-8AAD-4AAD3C0B0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7" y="1635"/>
                <a:ext cx="55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FF0000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85267" tIns="44339" rIns="85267" bIns="44339">
                <a:spAutoFit/>
              </a:bodyPr>
              <a:lstStyle>
                <a:lvl1pPr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s-ES" b="0" dirty="0"/>
                  <a:t>papel</a:t>
                </a:r>
              </a:p>
            </p:txBody>
          </p:sp>
          <p:sp>
            <p:nvSpPr>
              <p:cNvPr id="56" name="Text Box 16">
                <a:extLst>
                  <a:ext uri="{FF2B5EF4-FFF2-40B4-BE49-F238E27FC236}">
                    <a16:creationId xmlns:a16="http://schemas.microsoft.com/office/drawing/2014/main" id="{B809D0AB-0F9F-4D3E-9E4B-B1D9FBFA3F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0" y="1380"/>
                <a:ext cx="101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FF0000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85267" tIns="44339" rIns="85267" bIns="44339">
                <a:spAutoFit/>
              </a:bodyPr>
              <a:lstStyle>
                <a:lvl1pPr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defTabSz="822325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822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s-ES" b="0" dirty="0">
                    <a:solidFill>
                      <a:schemeClr val="tx1"/>
                    </a:solidFill>
                  </a:rPr>
                  <a:t>electrolítico</a:t>
                </a:r>
              </a:p>
            </p:txBody>
          </p:sp>
        </p:grpSp>
        <p:sp>
          <p:nvSpPr>
            <p:cNvPr id="62" name="Line 19">
              <a:extLst>
                <a:ext uri="{FF2B5EF4-FFF2-40B4-BE49-F238E27FC236}">
                  <a16:creationId xmlns:a16="http://schemas.microsoft.com/office/drawing/2014/main" id="{7ACC208A-DE36-4ED4-A7A9-A629DA5937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53421" y="753734"/>
              <a:ext cx="0" cy="87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4741" tIns="49265" rIns="94741" bIns="49265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63" name="Line 19">
              <a:extLst>
                <a:ext uri="{FF2B5EF4-FFF2-40B4-BE49-F238E27FC236}">
                  <a16:creationId xmlns:a16="http://schemas.microsoft.com/office/drawing/2014/main" id="{BEA4CBAF-6BB3-4649-9375-5BB100FD16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37450" y="1071261"/>
              <a:ext cx="0" cy="5409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4741" tIns="49265" rIns="94741" bIns="49265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64" name="Line 19">
              <a:extLst>
                <a:ext uri="{FF2B5EF4-FFF2-40B4-BE49-F238E27FC236}">
                  <a16:creationId xmlns:a16="http://schemas.microsoft.com/office/drawing/2014/main" id="{720B59F9-6455-478C-8B4E-6927D1CD13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895365" y="1153646"/>
              <a:ext cx="0" cy="4470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4741" tIns="49265" rIns="94741" bIns="49265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65" name="Line 19">
              <a:extLst>
                <a:ext uri="{FF2B5EF4-FFF2-40B4-BE49-F238E27FC236}">
                  <a16:creationId xmlns:a16="http://schemas.microsoft.com/office/drawing/2014/main" id="{541B10BA-F443-47D6-BC91-9FAE56F089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321218" y="889581"/>
              <a:ext cx="0" cy="720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4741" tIns="49265" rIns="94741" bIns="49265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66" name="Line 19">
              <a:extLst>
                <a:ext uri="{FF2B5EF4-FFF2-40B4-BE49-F238E27FC236}">
                  <a16:creationId xmlns:a16="http://schemas.microsoft.com/office/drawing/2014/main" id="{F782D76A-6316-4B04-BA9A-7497687057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18709" y="1414662"/>
              <a:ext cx="0" cy="208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4741" tIns="49265" rIns="94741" bIns="49265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</p:grpSp>
      <p:grpSp>
        <p:nvGrpSpPr>
          <p:cNvPr id="27650" name="Group 62"/>
          <p:cNvGrpSpPr>
            <a:grpSpLocks/>
          </p:cNvGrpSpPr>
          <p:nvPr/>
        </p:nvGrpSpPr>
        <p:grpSpPr bwMode="auto">
          <a:xfrm>
            <a:off x="3247935" y="1695589"/>
            <a:ext cx="3575050" cy="3046413"/>
            <a:chOff x="3018" y="2274"/>
            <a:chExt cx="1232" cy="1919"/>
          </a:xfrm>
        </p:grpSpPr>
        <p:pic>
          <p:nvPicPr>
            <p:cNvPr id="27673" name="Picture 31" descr="lineasplano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8" y="2274"/>
              <a:ext cx="1232" cy="1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74" name="Line 37"/>
            <p:cNvSpPr>
              <a:spLocks noChangeShapeType="1"/>
            </p:cNvSpPr>
            <p:nvPr/>
          </p:nvSpPr>
          <p:spPr bwMode="auto">
            <a:xfrm>
              <a:off x="3998" y="3220"/>
              <a:ext cx="216" cy="0"/>
            </a:xfrm>
            <a:prstGeom prst="line">
              <a:avLst/>
            </a:prstGeom>
            <a:noFill/>
            <a:ln w="50800">
              <a:solidFill>
                <a:srgbClr val="333333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27675" name="Line 38"/>
            <p:cNvSpPr>
              <a:spLocks noChangeShapeType="1"/>
            </p:cNvSpPr>
            <p:nvPr/>
          </p:nvSpPr>
          <p:spPr bwMode="auto">
            <a:xfrm flipV="1">
              <a:off x="3077" y="3217"/>
              <a:ext cx="246" cy="7"/>
            </a:xfrm>
            <a:prstGeom prst="line">
              <a:avLst/>
            </a:prstGeom>
            <a:noFill/>
            <a:ln w="50800">
              <a:solidFill>
                <a:srgbClr val="333333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27654" name="Rectangle 49"/>
          <p:cNvSpPr>
            <a:spLocks noChangeArrowheads="1"/>
          </p:cNvSpPr>
          <p:nvPr/>
        </p:nvSpPr>
        <p:spPr bwMode="auto">
          <a:xfrm>
            <a:off x="4170273" y="2536964"/>
            <a:ext cx="1793875" cy="1355725"/>
          </a:xfrm>
          <a:prstGeom prst="rect">
            <a:avLst/>
          </a:prstGeom>
          <a:noFill/>
          <a:ln w="38100" algn="ctr">
            <a:solidFill>
              <a:srgbClr val="3333FF"/>
            </a:solidFill>
            <a:prstDash val="dash"/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67" name="Text Box 47"/>
          <p:cNvSpPr txBox="1">
            <a:spLocks noChangeArrowheads="1"/>
          </p:cNvSpPr>
          <p:nvPr/>
        </p:nvSpPr>
        <p:spPr bwMode="auto">
          <a:xfrm>
            <a:off x="4389347" y="605649"/>
            <a:ext cx="13684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Aislante o</a:t>
            </a: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Dieléctrico</a:t>
            </a:r>
          </a:p>
        </p:txBody>
      </p:sp>
      <p:sp>
        <p:nvSpPr>
          <p:cNvPr id="27668" name="Line 50"/>
          <p:cNvSpPr>
            <a:spLocks noChangeShapeType="1"/>
          </p:cNvSpPr>
          <p:nvPr/>
        </p:nvSpPr>
        <p:spPr bwMode="auto">
          <a:xfrm flipH="1">
            <a:off x="5068797" y="1453373"/>
            <a:ext cx="11113" cy="1676399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none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7671" name="Text Box 33"/>
          <p:cNvSpPr txBox="1">
            <a:spLocks noChangeArrowheads="1"/>
          </p:cNvSpPr>
          <p:nvPr/>
        </p:nvSpPr>
        <p:spPr bwMode="auto">
          <a:xfrm>
            <a:off x="1488370" y="1506792"/>
            <a:ext cx="1295401" cy="60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Placas o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Armaduras</a:t>
            </a:r>
          </a:p>
        </p:txBody>
      </p:sp>
      <p:sp>
        <p:nvSpPr>
          <p:cNvPr id="27669" name="Text Box 35"/>
          <p:cNvSpPr txBox="1">
            <a:spLocks noChangeArrowheads="1"/>
          </p:cNvSpPr>
          <p:nvPr/>
        </p:nvSpPr>
        <p:spPr bwMode="auto">
          <a:xfrm>
            <a:off x="1426461" y="4043770"/>
            <a:ext cx="1169989" cy="396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Terminales</a:t>
            </a: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CC5F6A46-C3F3-484E-B266-0680A1936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9178" y="446188"/>
            <a:ext cx="2630522" cy="53654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sz="2400" dirty="0"/>
              <a:t>CONDENSADOR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FE90725A-531F-4FC0-971B-7FEDCE431FE5}"/>
              </a:ext>
            </a:extLst>
          </p:cNvPr>
          <p:cNvGrpSpPr/>
          <p:nvPr/>
        </p:nvGrpSpPr>
        <p:grpSpPr>
          <a:xfrm>
            <a:off x="3247935" y="5039360"/>
            <a:ext cx="3575050" cy="1412240"/>
            <a:chOff x="3949700" y="5039360"/>
            <a:chExt cx="3575050" cy="141224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D9E9BB3-C2BF-4B4D-AB7E-55EC5BCA2A87}"/>
                </a:ext>
              </a:extLst>
            </p:cNvPr>
            <p:cNvSpPr/>
            <p:nvPr/>
          </p:nvSpPr>
          <p:spPr bwMode="auto">
            <a:xfrm>
              <a:off x="3949700" y="5039360"/>
              <a:ext cx="3575050" cy="141224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40" name="Line 21">
              <a:extLst>
                <a:ext uri="{FF2B5EF4-FFF2-40B4-BE49-F238E27FC236}">
                  <a16:creationId xmlns:a16="http://schemas.microsoft.com/office/drawing/2014/main" id="{A41BDE50-73D3-4602-B9C6-670541D54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792" y="5405440"/>
              <a:ext cx="0" cy="719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41" name="Line 22">
              <a:extLst>
                <a:ext uri="{FF2B5EF4-FFF2-40B4-BE49-F238E27FC236}">
                  <a16:creationId xmlns:a16="http://schemas.microsoft.com/office/drawing/2014/main" id="{96E30E24-16E4-42C6-AEF3-34B79C8B50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6017" y="5407027"/>
              <a:ext cx="0" cy="719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42" name="Line 23">
              <a:extLst>
                <a:ext uri="{FF2B5EF4-FFF2-40B4-BE49-F238E27FC236}">
                  <a16:creationId xmlns:a16="http://schemas.microsoft.com/office/drawing/2014/main" id="{F3487C9B-2234-4C49-9B51-4E6D2F8F5B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213722" y="5578111"/>
              <a:ext cx="0" cy="3690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43" name="Line 24">
              <a:extLst>
                <a:ext uri="{FF2B5EF4-FFF2-40B4-BE49-F238E27FC236}">
                  <a16:creationId xmlns:a16="http://schemas.microsoft.com/office/drawing/2014/main" id="{9F55873A-93C2-4958-9C36-2046DABB217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650878" y="5578111"/>
              <a:ext cx="0" cy="3690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45" name="Line 21">
              <a:extLst>
                <a:ext uri="{FF2B5EF4-FFF2-40B4-BE49-F238E27FC236}">
                  <a16:creationId xmlns:a16="http://schemas.microsoft.com/office/drawing/2014/main" id="{1037F1B5-70EE-4631-9545-3AE828EEB2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4288" y="5403853"/>
              <a:ext cx="0" cy="719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47" name="Line 23">
              <a:extLst>
                <a:ext uri="{FF2B5EF4-FFF2-40B4-BE49-F238E27FC236}">
                  <a16:creationId xmlns:a16="http://schemas.microsoft.com/office/drawing/2014/main" id="{D4C7E144-C071-4E4F-BADD-D7E63AD77F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21218" y="5576524"/>
              <a:ext cx="0" cy="3690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48" name="Line 24">
              <a:extLst>
                <a:ext uri="{FF2B5EF4-FFF2-40B4-BE49-F238E27FC236}">
                  <a16:creationId xmlns:a16="http://schemas.microsoft.com/office/drawing/2014/main" id="{4C369938-E6CC-48A5-B43E-2E293E54FE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58374" y="5576524"/>
              <a:ext cx="0" cy="3690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2" name="Forma libre: forma 1">
              <a:extLst>
                <a:ext uri="{FF2B5EF4-FFF2-40B4-BE49-F238E27FC236}">
                  <a16:creationId xmlns:a16="http://schemas.microsoft.com/office/drawing/2014/main" id="{C75B5B72-B4F3-4269-ADC3-58BEDCBB295F}"/>
                </a:ext>
              </a:extLst>
            </p:cNvPr>
            <p:cNvSpPr/>
            <p:nvPr/>
          </p:nvSpPr>
          <p:spPr bwMode="auto">
            <a:xfrm>
              <a:off x="6512483" y="5425790"/>
              <a:ext cx="61037" cy="690880"/>
            </a:xfrm>
            <a:custGeom>
              <a:avLst/>
              <a:gdLst>
                <a:gd name="connsiteX0" fmla="*/ 61037 w 61037"/>
                <a:gd name="connsiteY0" fmla="*/ 0 h 690880"/>
                <a:gd name="connsiteX1" fmla="*/ 77 w 61037"/>
                <a:gd name="connsiteY1" fmla="*/ 335280 h 690880"/>
                <a:gd name="connsiteX2" fmla="*/ 50877 w 61037"/>
                <a:gd name="connsiteY2" fmla="*/ 690880 h 69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037" h="690880">
                  <a:moveTo>
                    <a:pt x="61037" y="0"/>
                  </a:moveTo>
                  <a:cubicBezTo>
                    <a:pt x="31403" y="110066"/>
                    <a:pt x="1770" y="220133"/>
                    <a:pt x="77" y="335280"/>
                  </a:cubicBezTo>
                  <a:cubicBezTo>
                    <a:pt x="-1616" y="450427"/>
                    <a:pt x="24630" y="570653"/>
                    <a:pt x="50877" y="690880"/>
                  </a:cubicBezTo>
                </a:path>
              </a:pathLst>
            </a:cu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9" name="Text Box 35">
            <a:extLst>
              <a:ext uri="{FF2B5EF4-FFF2-40B4-BE49-F238E27FC236}">
                <a16:creationId xmlns:a16="http://schemas.microsoft.com/office/drawing/2014/main" id="{FEA7741C-657C-4040-AF6A-52D43BFEE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886" y="5282750"/>
            <a:ext cx="1689926" cy="91649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Símbolos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generales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0DCD23DD-7FB9-4EC5-99DF-0A9E48C7866C}"/>
              </a:ext>
            </a:extLst>
          </p:cNvPr>
          <p:cNvCxnSpPr>
            <a:cxnSpLocks/>
          </p:cNvCxnSpPr>
          <p:nvPr/>
        </p:nvCxnSpPr>
        <p:spPr bwMode="auto">
          <a:xfrm>
            <a:off x="6121965" y="5934667"/>
            <a:ext cx="1884057" cy="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50" name="Text Box 35">
            <a:extLst>
              <a:ext uri="{FF2B5EF4-FFF2-40B4-BE49-F238E27FC236}">
                <a16:creationId xmlns:a16="http://schemas.microsoft.com/office/drawing/2014/main" id="{398C476E-7FDA-42EE-A5B1-6A092FE7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5730" y="5705099"/>
            <a:ext cx="1980128" cy="1202510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Potencial más cercano  al de tierra</a:t>
            </a:r>
          </a:p>
        </p:txBody>
      </p:sp>
      <p:sp>
        <p:nvSpPr>
          <p:cNvPr id="58" name="Text Box 8">
            <a:extLst>
              <a:ext uri="{FF2B5EF4-FFF2-40B4-BE49-F238E27FC236}">
                <a16:creationId xmlns:a16="http://schemas.microsoft.com/office/drawing/2014/main" id="{478C2088-3395-4FDB-B36E-D3489782F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6353" y="3797084"/>
            <a:ext cx="3497977" cy="828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85267" tIns="44339" rIns="85267" bIns="44339">
            <a:spAutoFit/>
          </a:bodyPr>
          <a:lstStyle>
            <a:lvl1pPr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11163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22325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35075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646238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ts val="0"/>
              </a:spcBef>
              <a:defRPr/>
            </a:pPr>
            <a:r>
              <a:rPr lang="es-ES" b="0">
                <a:solidFill>
                  <a:srgbClr val="008000"/>
                </a:solidFill>
                <a:latin typeface="Arial" panose="020B0604020202020204" pitchFamily="34" charset="0"/>
              </a:rPr>
              <a:t>Condensadores planos (de placas planas)</a:t>
            </a:r>
            <a:endParaRPr lang="es-ES" b="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CEB9648C-72B8-4161-B862-DA275E31E9DE}"/>
              </a:ext>
            </a:extLst>
          </p:cNvPr>
          <p:cNvGrpSpPr/>
          <p:nvPr/>
        </p:nvGrpSpPr>
        <p:grpSpPr>
          <a:xfrm>
            <a:off x="3117151" y="3305582"/>
            <a:ext cx="3387211" cy="1054096"/>
            <a:chOff x="3117151" y="3305582"/>
            <a:chExt cx="3387211" cy="1054096"/>
          </a:xfrm>
        </p:grpSpPr>
        <p:sp>
          <p:nvSpPr>
            <p:cNvPr id="27670" name="Line 36"/>
            <p:cNvSpPr>
              <a:spLocks noChangeShapeType="1"/>
            </p:cNvSpPr>
            <p:nvPr/>
          </p:nvSpPr>
          <p:spPr bwMode="auto">
            <a:xfrm flipV="1">
              <a:off x="3117151" y="3305582"/>
              <a:ext cx="687389" cy="101441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8BBE8C9E-28D5-4180-B580-33B1441DD4C7}"/>
                </a:ext>
              </a:extLst>
            </p:cNvPr>
            <p:cNvSpPr/>
            <p:nvPr/>
          </p:nvSpPr>
          <p:spPr bwMode="auto">
            <a:xfrm>
              <a:off x="3117343" y="3345264"/>
              <a:ext cx="3387019" cy="1014414"/>
            </a:xfrm>
            <a:custGeom>
              <a:avLst/>
              <a:gdLst>
                <a:gd name="connsiteX0" fmla="*/ 0 w 3870251"/>
                <a:gd name="connsiteY0" fmla="*/ 776177 h 808074"/>
                <a:gd name="connsiteX1" fmla="*/ 3413051 w 3870251"/>
                <a:gd name="connsiteY1" fmla="*/ 808074 h 808074"/>
                <a:gd name="connsiteX2" fmla="*/ 3870251 w 3870251"/>
                <a:gd name="connsiteY2" fmla="*/ 0 h 80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0251" h="808074">
                  <a:moveTo>
                    <a:pt x="0" y="776177"/>
                  </a:moveTo>
                  <a:lnTo>
                    <a:pt x="3413051" y="808074"/>
                  </a:lnTo>
                  <a:lnTo>
                    <a:pt x="3870251" y="0"/>
                  </a:lnTo>
                </a:path>
              </a:pathLst>
            </a:cu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rot="0" spcFirstLastPara="0" vertOverflow="overflow" horzOverflow="overflow" vert="horz" wrap="none" lIns="90000" tIns="82800" rIns="90000" bIns="82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EAA06A02-F6F9-4D3B-838B-4767383DA134}"/>
              </a:ext>
            </a:extLst>
          </p:cNvPr>
          <p:cNvGrpSpPr/>
          <p:nvPr/>
        </p:nvGrpSpPr>
        <p:grpSpPr>
          <a:xfrm>
            <a:off x="3137783" y="2024922"/>
            <a:ext cx="2826365" cy="501046"/>
            <a:chOff x="3137783" y="2024922"/>
            <a:chExt cx="2826365" cy="501046"/>
          </a:xfrm>
        </p:grpSpPr>
        <p:sp>
          <p:nvSpPr>
            <p:cNvPr id="27672" name="Line 34"/>
            <p:cNvSpPr>
              <a:spLocks noChangeShapeType="1"/>
            </p:cNvSpPr>
            <p:nvPr/>
          </p:nvSpPr>
          <p:spPr bwMode="auto">
            <a:xfrm>
              <a:off x="3137783" y="2035430"/>
              <a:ext cx="827088" cy="49053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dirty="0"/>
            </a:p>
          </p:txBody>
        </p:sp>
        <p:sp>
          <p:nvSpPr>
            <p:cNvPr id="61" name="Forma libre: forma 60">
              <a:extLst>
                <a:ext uri="{FF2B5EF4-FFF2-40B4-BE49-F238E27FC236}">
                  <a16:creationId xmlns:a16="http://schemas.microsoft.com/office/drawing/2014/main" id="{BD110274-0C0D-4C05-A8E6-81FA61F9F1D7}"/>
                </a:ext>
              </a:extLst>
            </p:cNvPr>
            <p:cNvSpPr/>
            <p:nvPr/>
          </p:nvSpPr>
          <p:spPr bwMode="auto">
            <a:xfrm flipV="1">
              <a:off x="3138506" y="2024922"/>
              <a:ext cx="2825642" cy="439019"/>
            </a:xfrm>
            <a:custGeom>
              <a:avLst/>
              <a:gdLst>
                <a:gd name="connsiteX0" fmla="*/ 0 w 3870251"/>
                <a:gd name="connsiteY0" fmla="*/ 776177 h 808074"/>
                <a:gd name="connsiteX1" fmla="*/ 3413051 w 3870251"/>
                <a:gd name="connsiteY1" fmla="*/ 808074 h 808074"/>
                <a:gd name="connsiteX2" fmla="*/ 3870251 w 3870251"/>
                <a:gd name="connsiteY2" fmla="*/ 0 h 80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0251" h="808074">
                  <a:moveTo>
                    <a:pt x="0" y="776177"/>
                  </a:moveTo>
                  <a:lnTo>
                    <a:pt x="3413051" y="808074"/>
                  </a:lnTo>
                  <a:lnTo>
                    <a:pt x="3870251" y="0"/>
                  </a:lnTo>
                </a:path>
              </a:pathLst>
            </a:cu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rot="0" spcFirstLastPara="0" vertOverflow="overflow" horzOverflow="overflow" vert="horz" wrap="none" lIns="90000" tIns="82800" rIns="90000" bIns="82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" name="Text Box 8">
            <a:extLst>
              <a:ext uri="{FF2B5EF4-FFF2-40B4-BE49-F238E27FC236}">
                <a16:creationId xmlns:a16="http://schemas.microsoft.com/office/drawing/2014/main" id="{5BE6667D-A4F0-099C-0009-B662D9868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232" y="4609798"/>
            <a:ext cx="3575050" cy="828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85267" tIns="44339" rIns="85267" bIns="44339">
            <a:spAutoFit/>
          </a:bodyPr>
          <a:lstStyle>
            <a:lvl1pPr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11163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22325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35075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646238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ts val="0"/>
              </a:spcBef>
              <a:defRPr/>
            </a:pPr>
            <a:r>
              <a:rPr lang="es-ES" b="0" dirty="0">
                <a:solidFill>
                  <a:srgbClr val="FF0000"/>
                </a:solidFill>
                <a:latin typeface="Arial" panose="020B0604020202020204" pitchFamily="34" charset="0"/>
              </a:rPr>
              <a:t>1º y 5º enrollados (ocupan menos espacio) </a:t>
            </a:r>
          </a:p>
        </p:txBody>
      </p:sp>
    </p:spTree>
    <p:extLst>
      <p:ext uri="{BB962C8B-B14F-4D97-AF65-F5344CB8AC3E}">
        <p14:creationId xmlns:p14="http://schemas.microsoft.com/office/powerpoint/2010/main" val="94058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7" grpId="0"/>
      <p:bldP spid="27668" grpId="0" animBg="1"/>
      <p:bldP spid="27671" grpId="0"/>
      <p:bldP spid="27669" grpId="0"/>
      <p:bldP spid="44" grpId="0" animBg="1"/>
      <p:bldP spid="49" grpId="0" animBg="1"/>
      <p:bldP spid="50" grpId="0"/>
      <p:bldP spid="58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271393" y="1809318"/>
            <a:ext cx="1516063" cy="1323976"/>
            <a:chOff x="2629" y="1170"/>
            <a:chExt cx="955" cy="834"/>
          </a:xfrm>
        </p:grpSpPr>
        <p:sp>
          <p:nvSpPr>
            <p:cNvPr id="29716" name="Rectangle 9"/>
            <p:cNvSpPr>
              <a:spLocks noChangeArrowheads="1"/>
            </p:cNvSpPr>
            <p:nvPr/>
          </p:nvSpPr>
          <p:spPr bwMode="auto">
            <a:xfrm>
              <a:off x="2629" y="1170"/>
              <a:ext cx="955" cy="83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17" name="Text Box 10"/>
            <p:cNvSpPr txBox="1">
              <a:spLocks noChangeArrowheads="1"/>
            </p:cNvSpPr>
            <p:nvPr/>
          </p:nvSpPr>
          <p:spPr bwMode="auto">
            <a:xfrm>
              <a:off x="2736" y="1443"/>
              <a:ext cx="47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 = </a:t>
              </a:r>
            </a:p>
          </p:txBody>
        </p:sp>
        <p:sp>
          <p:nvSpPr>
            <p:cNvPr id="29718" name="Line 11"/>
            <p:cNvSpPr>
              <a:spLocks noChangeShapeType="1"/>
            </p:cNvSpPr>
            <p:nvPr/>
          </p:nvSpPr>
          <p:spPr bwMode="auto">
            <a:xfrm>
              <a:off x="3125" y="1570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9719" name="Text Box 12"/>
            <p:cNvSpPr txBox="1">
              <a:spLocks noChangeArrowheads="1"/>
            </p:cNvSpPr>
            <p:nvPr/>
          </p:nvSpPr>
          <p:spPr bwMode="auto">
            <a:xfrm>
              <a:off x="3120" y="1243"/>
              <a:ext cx="26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29720" name="Text Box 13"/>
            <p:cNvSpPr txBox="1">
              <a:spLocks noChangeArrowheads="1"/>
            </p:cNvSpPr>
            <p:nvPr/>
          </p:nvSpPr>
          <p:spPr bwMode="auto">
            <a:xfrm>
              <a:off x="3128" y="1648"/>
              <a:ext cx="2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</a:p>
          </p:txBody>
        </p:sp>
      </p:grpSp>
      <p:sp>
        <p:nvSpPr>
          <p:cNvPr id="279567" name="Text Box 15"/>
          <p:cNvSpPr txBox="1">
            <a:spLocks noChangeArrowheads="1"/>
          </p:cNvSpPr>
          <p:nvPr/>
        </p:nvSpPr>
        <p:spPr bwMode="auto">
          <a:xfrm>
            <a:off x="1586611" y="1579424"/>
            <a:ext cx="2359025" cy="175359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lIns="90000" tIns="154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Capacidad o Capacitancia de un Condensador</a:t>
            </a:r>
          </a:p>
        </p:txBody>
      </p:sp>
      <p:grpSp>
        <p:nvGrpSpPr>
          <p:cNvPr id="14359" name="Group 23"/>
          <p:cNvGrpSpPr>
            <a:grpSpLocks/>
          </p:cNvGrpSpPr>
          <p:nvPr/>
        </p:nvGrpSpPr>
        <p:grpSpPr bwMode="auto">
          <a:xfrm>
            <a:off x="5626544" y="1990864"/>
            <a:ext cx="4137025" cy="390525"/>
            <a:chOff x="3191" y="1079"/>
            <a:chExt cx="2606" cy="246"/>
          </a:xfrm>
        </p:grpSpPr>
        <p:sp>
          <p:nvSpPr>
            <p:cNvPr id="29714" name="Line 16"/>
            <p:cNvSpPr>
              <a:spLocks noChangeShapeType="1"/>
            </p:cNvSpPr>
            <p:nvPr/>
          </p:nvSpPr>
          <p:spPr bwMode="auto">
            <a:xfrm flipV="1">
              <a:off x="3191" y="1188"/>
              <a:ext cx="474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noAutofit/>
            </a:bodyPr>
            <a:lstStyle/>
            <a:p>
              <a:endParaRPr lang="en-GB" sz="2400"/>
            </a:p>
          </p:txBody>
        </p:sp>
        <p:sp>
          <p:nvSpPr>
            <p:cNvPr id="29715" name="Text Box 17"/>
            <p:cNvSpPr txBox="1">
              <a:spLocks noChangeArrowheads="1"/>
            </p:cNvSpPr>
            <p:nvPr/>
          </p:nvSpPr>
          <p:spPr bwMode="auto">
            <a:xfrm>
              <a:off x="3665" y="1079"/>
              <a:ext cx="2132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La 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carga de 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una placa</a:t>
              </a:r>
            </a:p>
          </p:txBody>
        </p:sp>
      </p:grpSp>
      <p:sp>
        <p:nvSpPr>
          <p:cNvPr id="29712" name="Line 18"/>
          <p:cNvSpPr>
            <a:spLocks noChangeShapeType="1"/>
          </p:cNvSpPr>
          <p:nvPr/>
        </p:nvSpPr>
        <p:spPr bwMode="auto">
          <a:xfrm flipV="1">
            <a:off x="5626798" y="2779875"/>
            <a:ext cx="808037" cy="4763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29713" name="Text Box 19"/>
          <p:cNvSpPr txBox="1">
            <a:spLocks noChangeArrowheads="1"/>
          </p:cNvSpPr>
          <p:nvPr/>
        </p:nvSpPr>
        <p:spPr bwMode="auto">
          <a:xfrm>
            <a:off x="6504685" y="2546661"/>
            <a:ext cx="3024184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V de esa placa respecto de la otra</a:t>
            </a:r>
          </a:p>
        </p:txBody>
      </p:sp>
      <p:sp>
        <p:nvSpPr>
          <p:cNvPr id="279598" name="Text Box 46"/>
          <p:cNvSpPr txBox="1">
            <a:spLocks noChangeArrowheads="1"/>
          </p:cNvSpPr>
          <p:nvPr/>
        </p:nvSpPr>
        <p:spPr bwMode="auto">
          <a:xfrm>
            <a:off x="1362458" y="5189403"/>
            <a:ext cx="6483094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Como lo relevante es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V, se suele escribir V</a:t>
            </a:r>
          </a:p>
        </p:txBody>
      </p:sp>
      <p:sp>
        <p:nvSpPr>
          <p:cNvPr id="279601" name="Text Box 49"/>
          <p:cNvSpPr txBox="1">
            <a:spLocks noChangeArrowheads="1"/>
          </p:cNvSpPr>
          <p:nvPr/>
        </p:nvSpPr>
        <p:spPr bwMode="auto">
          <a:xfrm>
            <a:off x="2486346" y="5885159"/>
            <a:ext cx="6554912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C es, por tanto, la carga "almacenada“ por cada voltio conseguido entre las placas</a:t>
            </a:r>
          </a:p>
        </p:txBody>
      </p:sp>
      <p:sp>
        <p:nvSpPr>
          <p:cNvPr id="29709" name="CuadroTexto 4"/>
          <p:cNvSpPr txBox="1">
            <a:spLocks noChangeArrowheads="1"/>
          </p:cNvSpPr>
          <p:nvPr/>
        </p:nvSpPr>
        <p:spPr bwMode="auto">
          <a:xfrm>
            <a:off x="1490157" y="453449"/>
            <a:ext cx="70077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/>
              <a:t>Para caracterizar la </a:t>
            </a:r>
            <a:r>
              <a:rPr lang="es-ES" sz="2400" dirty="0">
                <a:solidFill>
                  <a:schemeClr val="tx1"/>
                </a:solidFill>
              </a:rPr>
              <a:t>capacidad de un condensador </a:t>
            </a:r>
            <a:r>
              <a:rPr lang="es-ES" sz="2400" dirty="0"/>
              <a:t>para almacenar carga, se introduce la:</a:t>
            </a:r>
          </a:p>
        </p:txBody>
      </p:sp>
      <p:sp>
        <p:nvSpPr>
          <p:cNvPr id="24" name="Text Box 46"/>
          <p:cNvSpPr txBox="1">
            <a:spLocks noChangeArrowheads="1"/>
          </p:cNvSpPr>
          <p:nvPr/>
        </p:nvSpPr>
        <p:spPr bwMode="auto">
          <a:xfrm>
            <a:off x="1413257" y="3612209"/>
            <a:ext cx="7884980" cy="1644545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toma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carga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una placa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porque el total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da cero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(netamente no se acumula), y porque sólo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llega una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 las cargas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que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es "almacenada". De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otra placa se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va la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misma cantidad de carga 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7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9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79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67" grpId="0" animBg="1"/>
      <p:bldP spid="29712" grpId="0" animBg="1"/>
      <p:bldP spid="29713" grpId="0"/>
      <p:bldP spid="279598" grpId="0"/>
      <p:bldP spid="279601" grpId="0" animBg="1"/>
      <p:bldP spid="29709" grpId="0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271393" y="1809318"/>
            <a:ext cx="1516063" cy="1323976"/>
            <a:chOff x="2629" y="1170"/>
            <a:chExt cx="955" cy="834"/>
          </a:xfrm>
        </p:grpSpPr>
        <p:sp>
          <p:nvSpPr>
            <p:cNvPr id="29716" name="Rectangle 9"/>
            <p:cNvSpPr>
              <a:spLocks noChangeArrowheads="1"/>
            </p:cNvSpPr>
            <p:nvPr/>
          </p:nvSpPr>
          <p:spPr bwMode="auto">
            <a:xfrm>
              <a:off x="2629" y="1170"/>
              <a:ext cx="955" cy="83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17" name="Text Box 10"/>
            <p:cNvSpPr txBox="1">
              <a:spLocks noChangeArrowheads="1"/>
            </p:cNvSpPr>
            <p:nvPr/>
          </p:nvSpPr>
          <p:spPr bwMode="auto">
            <a:xfrm>
              <a:off x="2736" y="1443"/>
              <a:ext cx="47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 = </a:t>
              </a:r>
            </a:p>
          </p:txBody>
        </p:sp>
        <p:sp>
          <p:nvSpPr>
            <p:cNvPr id="29718" name="Line 11"/>
            <p:cNvSpPr>
              <a:spLocks noChangeShapeType="1"/>
            </p:cNvSpPr>
            <p:nvPr/>
          </p:nvSpPr>
          <p:spPr bwMode="auto">
            <a:xfrm>
              <a:off x="3125" y="1570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9719" name="Text Box 12"/>
            <p:cNvSpPr txBox="1">
              <a:spLocks noChangeArrowheads="1"/>
            </p:cNvSpPr>
            <p:nvPr/>
          </p:nvSpPr>
          <p:spPr bwMode="auto">
            <a:xfrm>
              <a:off x="3120" y="1243"/>
              <a:ext cx="26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29720" name="Text Box 13"/>
            <p:cNvSpPr txBox="1">
              <a:spLocks noChangeArrowheads="1"/>
            </p:cNvSpPr>
            <p:nvPr/>
          </p:nvSpPr>
          <p:spPr bwMode="auto">
            <a:xfrm>
              <a:off x="3128" y="1648"/>
              <a:ext cx="2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</a:p>
          </p:txBody>
        </p:sp>
      </p:grpSp>
      <p:sp>
        <p:nvSpPr>
          <p:cNvPr id="19" name="Text Box 22">
            <a:extLst>
              <a:ext uri="{FF2B5EF4-FFF2-40B4-BE49-F238E27FC236}">
                <a16:creationId xmlns:a16="http://schemas.microsoft.com/office/drawing/2014/main" id="{0CF750C7-89C9-48C2-8D0A-B85D4B5D2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4040" y="4077678"/>
            <a:ext cx="8258599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Q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que es positiva, se denomina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CARGA ALMACENADA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en el condensador. Q suele referirse a ella</a:t>
            </a:r>
          </a:p>
        </p:txBody>
      </p:sp>
      <p:sp>
        <p:nvSpPr>
          <p:cNvPr id="20" name="Text Box 35">
            <a:extLst>
              <a:ext uri="{FF2B5EF4-FFF2-40B4-BE49-F238E27FC236}">
                <a16:creationId xmlns:a16="http://schemas.microsoft.com/office/drawing/2014/main" id="{0691AFAC-E717-4487-9CE4-447DF3F04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2512" y="5342530"/>
            <a:ext cx="8258599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A la diferencia V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+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 V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que es positiva (V disminuye en el sentido de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), se le llama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TENSIÓN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del condensador.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 suele referirse a ella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1E9ED4D-34B4-4619-9E02-94F282012BF9}"/>
              </a:ext>
            </a:extLst>
          </p:cNvPr>
          <p:cNvGrpSpPr/>
          <p:nvPr/>
        </p:nvGrpSpPr>
        <p:grpSpPr>
          <a:xfrm>
            <a:off x="6676086" y="1569451"/>
            <a:ext cx="2817813" cy="1737550"/>
            <a:chOff x="6676086" y="1657276"/>
            <a:chExt cx="2817813" cy="1737550"/>
          </a:xfrm>
        </p:grpSpPr>
        <p:grpSp>
          <p:nvGrpSpPr>
            <p:cNvPr id="21" name="Group 48">
              <a:extLst>
                <a:ext uri="{FF2B5EF4-FFF2-40B4-BE49-F238E27FC236}">
                  <a16:creationId xmlns:a16="http://schemas.microsoft.com/office/drawing/2014/main" id="{CA016247-C9C7-43A0-9070-877FD5AAB3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17461" y="1999414"/>
              <a:ext cx="1146175" cy="1219200"/>
              <a:chOff x="3288" y="2713"/>
              <a:chExt cx="722" cy="768"/>
            </a:xfrm>
          </p:grpSpPr>
          <p:grpSp>
            <p:nvGrpSpPr>
              <p:cNvPr id="22" name="Group 25">
                <a:extLst>
                  <a:ext uri="{FF2B5EF4-FFF2-40B4-BE49-F238E27FC236}">
                    <a16:creationId xmlns:a16="http://schemas.microsoft.com/office/drawing/2014/main" id="{8E1E94D3-F91A-4475-A56D-A5663DF19F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88" y="2713"/>
                <a:ext cx="386" cy="768"/>
                <a:chOff x="5066" y="1301"/>
                <a:chExt cx="692" cy="768"/>
              </a:xfrm>
            </p:grpSpPr>
            <p:sp>
              <p:nvSpPr>
                <p:cNvPr id="30" name="Line 26">
                  <a:extLst>
                    <a:ext uri="{FF2B5EF4-FFF2-40B4-BE49-F238E27FC236}">
                      <a16:creationId xmlns:a16="http://schemas.microsoft.com/office/drawing/2014/main" id="{2752A7C8-AB0D-49A5-B870-7D6F1D94CD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301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1" name="Line 27">
                  <a:extLst>
                    <a:ext uri="{FF2B5EF4-FFF2-40B4-BE49-F238E27FC236}">
                      <a16:creationId xmlns:a16="http://schemas.microsoft.com/office/drawing/2014/main" id="{F44E191B-53B1-4EAF-8A0F-6ACC70FA8F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493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2" name="Line 28">
                  <a:extLst>
                    <a:ext uri="{FF2B5EF4-FFF2-40B4-BE49-F238E27FC236}">
                      <a16:creationId xmlns:a16="http://schemas.microsoft.com/office/drawing/2014/main" id="{A7A5759E-C971-4D25-A5BE-5A09FF0493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685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3" name="Line 29">
                  <a:extLst>
                    <a:ext uri="{FF2B5EF4-FFF2-40B4-BE49-F238E27FC236}">
                      <a16:creationId xmlns:a16="http://schemas.microsoft.com/office/drawing/2014/main" id="{88A62B73-5A88-48C6-89AC-3E753BD6AD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877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4" name="Line 30">
                  <a:extLst>
                    <a:ext uri="{FF2B5EF4-FFF2-40B4-BE49-F238E27FC236}">
                      <a16:creationId xmlns:a16="http://schemas.microsoft.com/office/drawing/2014/main" id="{78D78B3F-2DF5-48CB-AE88-28A4A21090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2069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23" name="Group 42">
                <a:extLst>
                  <a:ext uri="{FF2B5EF4-FFF2-40B4-BE49-F238E27FC236}">
                    <a16:creationId xmlns:a16="http://schemas.microsoft.com/office/drawing/2014/main" id="{08AEBCB4-74C1-4735-8478-0B0EF2FEBA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2" y="2713"/>
                <a:ext cx="378" cy="768"/>
                <a:chOff x="5066" y="1301"/>
                <a:chExt cx="692" cy="768"/>
              </a:xfrm>
            </p:grpSpPr>
            <p:sp>
              <p:nvSpPr>
                <p:cNvPr id="25" name="Line 43">
                  <a:extLst>
                    <a:ext uri="{FF2B5EF4-FFF2-40B4-BE49-F238E27FC236}">
                      <a16:creationId xmlns:a16="http://schemas.microsoft.com/office/drawing/2014/main" id="{EF93C0ED-8E44-4B56-9966-9517719DB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301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6" name="Line 44">
                  <a:extLst>
                    <a:ext uri="{FF2B5EF4-FFF2-40B4-BE49-F238E27FC236}">
                      <a16:creationId xmlns:a16="http://schemas.microsoft.com/office/drawing/2014/main" id="{F3E09D92-9242-4225-963C-25BF4E8B3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493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7" name="Line 45">
                  <a:extLst>
                    <a:ext uri="{FF2B5EF4-FFF2-40B4-BE49-F238E27FC236}">
                      <a16:creationId xmlns:a16="http://schemas.microsoft.com/office/drawing/2014/main" id="{7BF9EE00-3D89-40BC-A62B-F9C43E9331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685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8" name="Line 46">
                  <a:extLst>
                    <a:ext uri="{FF2B5EF4-FFF2-40B4-BE49-F238E27FC236}">
                      <a16:creationId xmlns:a16="http://schemas.microsoft.com/office/drawing/2014/main" id="{90815B68-42EE-41ED-9676-DC38250504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877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9" name="Line 47">
                  <a:extLst>
                    <a:ext uri="{FF2B5EF4-FFF2-40B4-BE49-F238E27FC236}">
                      <a16:creationId xmlns:a16="http://schemas.microsoft.com/office/drawing/2014/main" id="{9755E4A2-E743-4057-AC3D-F7613F344C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2069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</p:grpSp>
        </p:grpSp>
        <p:grpSp>
          <p:nvGrpSpPr>
            <p:cNvPr id="35" name="Group 2">
              <a:extLst>
                <a:ext uri="{FF2B5EF4-FFF2-40B4-BE49-F238E27FC236}">
                  <a16:creationId xmlns:a16="http://schemas.microsoft.com/office/drawing/2014/main" id="{43E902CF-B77C-491D-8A19-11CD5819D3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76086" y="1879834"/>
              <a:ext cx="2817813" cy="1428750"/>
              <a:chOff x="4520" y="1226"/>
              <a:chExt cx="1775" cy="900"/>
            </a:xfrm>
            <a:solidFill>
              <a:schemeClr val="bg2">
                <a:lumMod val="60000"/>
                <a:lumOff val="40000"/>
              </a:schemeClr>
            </a:solidFill>
          </p:grpSpPr>
          <p:sp>
            <p:nvSpPr>
              <p:cNvPr id="36" name="Rectangle 3">
                <a:extLst>
                  <a:ext uri="{FF2B5EF4-FFF2-40B4-BE49-F238E27FC236}">
                    <a16:creationId xmlns:a16="http://schemas.microsoft.com/office/drawing/2014/main" id="{441D1A7F-19BF-409B-9773-6BFC9E305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0" y="1236"/>
                <a:ext cx="168" cy="890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" name="Rectangle 4">
                <a:extLst>
                  <a:ext uri="{FF2B5EF4-FFF2-40B4-BE49-F238E27FC236}">
                    <a16:creationId xmlns:a16="http://schemas.microsoft.com/office/drawing/2014/main" id="{EF539FD5-0722-4C52-9FDA-F06DF7455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" y="1226"/>
                <a:ext cx="168" cy="890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8" name="Rectangle 5">
                <a:extLst>
                  <a:ext uri="{FF2B5EF4-FFF2-40B4-BE49-F238E27FC236}">
                    <a16:creationId xmlns:a16="http://schemas.microsoft.com/office/drawing/2014/main" id="{127330DF-1DF8-4BB4-B7AA-3E621532C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0" y="1637"/>
                <a:ext cx="350" cy="56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" name="Rectangle 6">
                <a:extLst>
                  <a:ext uri="{FF2B5EF4-FFF2-40B4-BE49-F238E27FC236}">
                    <a16:creationId xmlns:a16="http://schemas.microsoft.com/office/drawing/2014/main" id="{14831718-07B3-448E-82E4-97CA1A3E3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5" y="1656"/>
                <a:ext cx="350" cy="56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0" name="Group 11">
              <a:extLst>
                <a:ext uri="{FF2B5EF4-FFF2-40B4-BE49-F238E27FC236}">
                  <a16:creationId xmlns:a16="http://schemas.microsoft.com/office/drawing/2014/main" id="{B5E74FC3-587E-412C-8A94-5DDB45CCCD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50699" y="1657276"/>
              <a:ext cx="2692400" cy="466725"/>
              <a:chOff x="4567" y="1155"/>
              <a:chExt cx="1696" cy="294"/>
            </a:xfrm>
          </p:grpSpPr>
          <p:sp>
            <p:nvSpPr>
              <p:cNvPr id="41" name="Text Box 12">
                <a:extLst>
                  <a:ext uri="{FF2B5EF4-FFF2-40B4-BE49-F238E27FC236}">
                    <a16:creationId xmlns:a16="http://schemas.microsoft.com/office/drawing/2014/main" id="{D0300158-3D13-43BB-8A0D-864BFAFB30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7" y="1157"/>
                <a:ext cx="341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30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  <a:endParaRPr lang="es-ES" sz="240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2" name="Text Box 13">
                <a:extLst>
                  <a:ext uri="{FF2B5EF4-FFF2-40B4-BE49-F238E27FC236}">
                    <a16:creationId xmlns:a16="http://schemas.microsoft.com/office/drawing/2014/main" id="{9F94C09B-380A-45FE-A186-FE954F0DC1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55" y="1155"/>
                <a:ext cx="308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30000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  <a:endParaRPr lang="es-ES" sz="2400" dirty="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3" name="Group 14">
              <a:extLst>
                <a:ext uri="{FF2B5EF4-FFF2-40B4-BE49-F238E27FC236}">
                  <a16:creationId xmlns:a16="http://schemas.microsoft.com/office/drawing/2014/main" id="{3D9AEF79-B5CA-47D8-AB0C-D272034CCD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9811" y="1778751"/>
              <a:ext cx="1593850" cy="1616075"/>
              <a:chOff x="4894" y="1162"/>
              <a:chExt cx="1004" cy="1018"/>
            </a:xfrm>
          </p:grpSpPr>
          <p:sp>
            <p:nvSpPr>
              <p:cNvPr id="44" name="Text Box 15">
                <a:extLst>
                  <a:ext uri="{FF2B5EF4-FFF2-40B4-BE49-F238E27FC236}">
                    <a16:creationId xmlns:a16="http://schemas.microsoft.com/office/drawing/2014/main" id="{38431CFF-8447-4901-A712-8DDB84AE90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" y="1173"/>
                <a:ext cx="20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5" name="Text Box 16">
                <a:extLst>
                  <a:ext uri="{FF2B5EF4-FFF2-40B4-BE49-F238E27FC236}">
                    <a16:creationId xmlns:a16="http://schemas.microsoft.com/office/drawing/2014/main" id="{F3C6C9F3-3D59-4E14-8D92-040BFDB000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" y="1362"/>
                <a:ext cx="20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6" name="Text Box 17">
                <a:extLst>
                  <a:ext uri="{FF2B5EF4-FFF2-40B4-BE49-F238E27FC236}">
                    <a16:creationId xmlns:a16="http://schemas.microsoft.com/office/drawing/2014/main" id="{B3AA8C63-9BC9-4094-A3DE-83DAB73003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" y="1550"/>
                <a:ext cx="20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7" name="Text Box 18">
                <a:extLst>
                  <a:ext uri="{FF2B5EF4-FFF2-40B4-BE49-F238E27FC236}">
                    <a16:creationId xmlns:a16="http://schemas.microsoft.com/office/drawing/2014/main" id="{C2D71ECC-B2C8-4D0A-9FDE-E06800F26A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" y="1739"/>
                <a:ext cx="20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" name="Text Box 19">
                <a:extLst>
                  <a:ext uri="{FF2B5EF4-FFF2-40B4-BE49-F238E27FC236}">
                    <a16:creationId xmlns:a16="http://schemas.microsoft.com/office/drawing/2014/main" id="{31846E15-1617-4A58-AACA-C9F9D5305A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" y="1927"/>
                <a:ext cx="20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9" name="Text Box 20">
                <a:extLst>
                  <a:ext uri="{FF2B5EF4-FFF2-40B4-BE49-F238E27FC236}">
                    <a16:creationId xmlns:a16="http://schemas.microsoft.com/office/drawing/2014/main" id="{B5348A85-943B-42FD-B0FA-791BB3702D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3" y="1162"/>
                <a:ext cx="16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50" name="Text Box 21">
                <a:extLst>
                  <a:ext uri="{FF2B5EF4-FFF2-40B4-BE49-F238E27FC236}">
                    <a16:creationId xmlns:a16="http://schemas.microsoft.com/office/drawing/2014/main" id="{E3ADB4AB-8CC3-49D5-9363-C5F4D1D585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3" y="1351"/>
                <a:ext cx="16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51" name="Text Box 22">
                <a:extLst>
                  <a:ext uri="{FF2B5EF4-FFF2-40B4-BE49-F238E27FC236}">
                    <a16:creationId xmlns:a16="http://schemas.microsoft.com/office/drawing/2014/main" id="{FF3E5210-5CDF-47C7-BE5F-48A79105F8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3" y="1539"/>
                <a:ext cx="16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52" name="Text Box 23">
                <a:extLst>
                  <a:ext uri="{FF2B5EF4-FFF2-40B4-BE49-F238E27FC236}">
                    <a16:creationId xmlns:a16="http://schemas.microsoft.com/office/drawing/2014/main" id="{E2A4B098-18E2-4A39-A302-3F50A2FB9D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3" y="1728"/>
                <a:ext cx="16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53" name="Text Box 24">
                <a:extLst>
                  <a:ext uri="{FF2B5EF4-FFF2-40B4-BE49-F238E27FC236}">
                    <a16:creationId xmlns:a16="http://schemas.microsoft.com/office/drawing/2014/main" id="{CCE8030E-FE38-4541-9E80-74023F025A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30" y="1916"/>
                <a:ext cx="16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</p:grpSp>
      <p:sp>
        <p:nvSpPr>
          <p:cNvPr id="54" name="Text Box 12">
            <a:extLst>
              <a:ext uri="{FF2B5EF4-FFF2-40B4-BE49-F238E27FC236}">
                <a16:creationId xmlns:a16="http://schemas.microsoft.com/office/drawing/2014/main" id="{A2932965-DA27-4FA1-BB0A-8603C55FE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358" y="2672511"/>
            <a:ext cx="50716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 Box 13">
            <a:extLst>
              <a:ext uri="{FF2B5EF4-FFF2-40B4-BE49-F238E27FC236}">
                <a16:creationId xmlns:a16="http://schemas.microsoft.com/office/drawing/2014/main" id="{25E35421-235E-4E93-91F0-7F29CE44A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9568" y="2679496"/>
            <a:ext cx="43887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 Box 15">
            <a:extLst>
              <a:ext uri="{FF2B5EF4-FFF2-40B4-BE49-F238E27FC236}">
                <a16:creationId xmlns:a16="http://schemas.microsoft.com/office/drawing/2014/main" id="{86F12A32-8E64-40C1-B1BC-80DAB3C10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6611" y="1579424"/>
            <a:ext cx="2359025" cy="175359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lIns="90000" tIns="154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Capacidad o Capacitancia de un Condensador</a:t>
            </a:r>
          </a:p>
        </p:txBody>
      </p:sp>
      <p:sp>
        <p:nvSpPr>
          <p:cNvPr id="57" name="CuadroTexto 4">
            <a:extLst>
              <a:ext uri="{FF2B5EF4-FFF2-40B4-BE49-F238E27FC236}">
                <a16:creationId xmlns:a16="http://schemas.microsoft.com/office/drawing/2014/main" id="{C4958B30-1D2D-43F8-9C69-768C953F5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57" y="453449"/>
            <a:ext cx="70077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/>
              <a:t>Para caracterizar la </a:t>
            </a:r>
            <a:r>
              <a:rPr lang="es-ES" sz="2400" dirty="0">
                <a:solidFill>
                  <a:srgbClr val="3333FF"/>
                </a:solidFill>
              </a:rPr>
              <a:t>capacidad de un condensador</a:t>
            </a:r>
            <a:r>
              <a:rPr lang="es-ES" sz="2400" dirty="0"/>
              <a:t> para almacenar carga, se introduce la:</a:t>
            </a:r>
          </a:p>
        </p:txBody>
      </p:sp>
    </p:spTree>
    <p:extLst>
      <p:ext uri="{BB962C8B-B14F-4D97-AF65-F5344CB8AC3E}">
        <p14:creationId xmlns:p14="http://schemas.microsoft.com/office/powerpoint/2010/main" val="310049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54" grpId="0"/>
      <p:bldP spid="5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271393" y="1809326"/>
            <a:ext cx="1516063" cy="1323976"/>
            <a:chOff x="2629" y="1170"/>
            <a:chExt cx="955" cy="834"/>
          </a:xfrm>
        </p:grpSpPr>
        <p:sp>
          <p:nvSpPr>
            <p:cNvPr id="29716" name="Rectangle 9"/>
            <p:cNvSpPr>
              <a:spLocks noChangeArrowheads="1"/>
            </p:cNvSpPr>
            <p:nvPr/>
          </p:nvSpPr>
          <p:spPr bwMode="auto">
            <a:xfrm>
              <a:off x="2629" y="1170"/>
              <a:ext cx="955" cy="83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17" name="Text Box 10"/>
            <p:cNvSpPr txBox="1">
              <a:spLocks noChangeArrowheads="1"/>
            </p:cNvSpPr>
            <p:nvPr/>
          </p:nvSpPr>
          <p:spPr bwMode="auto">
            <a:xfrm>
              <a:off x="2736" y="1443"/>
              <a:ext cx="47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 = </a:t>
              </a:r>
            </a:p>
          </p:txBody>
        </p:sp>
        <p:sp>
          <p:nvSpPr>
            <p:cNvPr id="29718" name="Line 11"/>
            <p:cNvSpPr>
              <a:spLocks noChangeShapeType="1"/>
            </p:cNvSpPr>
            <p:nvPr/>
          </p:nvSpPr>
          <p:spPr bwMode="auto">
            <a:xfrm>
              <a:off x="3125" y="1570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9719" name="Text Box 12"/>
            <p:cNvSpPr txBox="1">
              <a:spLocks noChangeArrowheads="1"/>
            </p:cNvSpPr>
            <p:nvPr/>
          </p:nvSpPr>
          <p:spPr bwMode="auto">
            <a:xfrm>
              <a:off x="3120" y="1243"/>
              <a:ext cx="26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29720" name="Text Box 13"/>
            <p:cNvSpPr txBox="1">
              <a:spLocks noChangeArrowheads="1"/>
            </p:cNvSpPr>
            <p:nvPr/>
          </p:nvSpPr>
          <p:spPr bwMode="auto">
            <a:xfrm>
              <a:off x="3128" y="1648"/>
              <a:ext cx="2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</a:p>
          </p:txBody>
        </p:sp>
      </p:grpSp>
      <p:sp>
        <p:nvSpPr>
          <p:cNvPr id="22" name="Text Box 47">
            <a:extLst>
              <a:ext uri="{FF2B5EF4-FFF2-40B4-BE49-F238E27FC236}">
                <a16:creationId xmlns:a16="http://schemas.microsoft.com/office/drawing/2014/main" id="{F0FC9B06-4BD5-4DC3-9559-286D08B4A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786" y="4950806"/>
            <a:ext cx="7599046" cy="1695437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C depende, en general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(medios lineales)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solo de: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las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propiedades eléctricas del medio entre las placas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de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geometría del condensador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En general, ni de Q ni de V</a:t>
            </a: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E713B4CA-FB82-4F81-B0C3-543750D02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0411" y="3881738"/>
            <a:ext cx="7559421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C siempre es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positiva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(Q y V tienen el mismo signo),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y su unidad es el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faradio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FA8F2DF1-A2A9-4DD9-9406-E2651F934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6611" y="1579424"/>
            <a:ext cx="2359025" cy="175359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lIns="90000" tIns="154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Capacidad o Capacitancia de un Condensador</a:t>
            </a: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3E4EEE41-DA06-4083-95A5-A7A98E7D9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157" y="453449"/>
            <a:ext cx="70077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/>
              <a:t>Para caracterizar la </a:t>
            </a:r>
            <a:r>
              <a:rPr lang="es-ES" sz="2400" dirty="0">
                <a:solidFill>
                  <a:srgbClr val="3333FF"/>
                </a:solidFill>
              </a:rPr>
              <a:t>capacidad de un condensador</a:t>
            </a:r>
            <a:r>
              <a:rPr lang="es-ES" sz="2400" dirty="0"/>
              <a:t> para almacenar carga, se introduce la:</a:t>
            </a:r>
          </a:p>
        </p:txBody>
      </p:sp>
    </p:spTree>
    <p:extLst>
      <p:ext uri="{BB962C8B-B14F-4D97-AF65-F5344CB8AC3E}">
        <p14:creationId xmlns:p14="http://schemas.microsoft.com/office/powerpoint/2010/main" val="241441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33"/>
          <p:cNvSpPr txBox="1">
            <a:spLocks noChangeArrowheads="1"/>
          </p:cNvSpPr>
          <p:nvPr/>
        </p:nvSpPr>
        <p:spPr bwMode="auto">
          <a:xfrm>
            <a:off x="1532992" y="981170"/>
            <a:ext cx="8462679" cy="15718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Como al fabricarlo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distancia entre las placas, d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es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mucho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menor que las dimensiones de las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placas,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área 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entre ellas tiende a ser suma </a:t>
            </a:r>
            <a:r>
              <a:rPr lang="es-ES" sz="2400" dirty="0">
                <a:latin typeface="Arial" panose="020B0604020202020204" pitchFamily="34" charset="0"/>
              </a:rPr>
              <a:t>del creado </a:t>
            </a:r>
            <a:r>
              <a:rPr lang="es-ES" sz="2400">
                <a:latin typeface="Arial" panose="020B0604020202020204" pitchFamily="34" charset="0"/>
              </a:rPr>
              <a:t>por 2 </a:t>
            </a:r>
            <a:r>
              <a:rPr lang="es-ES" sz="2400" dirty="0">
                <a:latin typeface="Arial" panose="020B0604020202020204" pitchFamily="34" charset="0"/>
              </a:rPr>
              <a:t>planos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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una carga Q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y Q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distribuida uniformemente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BB03018-E4CE-A6B4-F651-074D0A048E1D}"/>
              </a:ext>
            </a:extLst>
          </p:cNvPr>
          <p:cNvGrpSpPr/>
          <p:nvPr/>
        </p:nvGrpSpPr>
        <p:grpSpPr>
          <a:xfrm>
            <a:off x="2703342" y="3781801"/>
            <a:ext cx="1903581" cy="979371"/>
            <a:chOff x="2703342" y="3781801"/>
            <a:chExt cx="1903581" cy="979371"/>
          </a:xfrm>
        </p:grpSpPr>
        <p:sp>
          <p:nvSpPr>
            <p:cNvPr id="48" name="Text Box 12">
              <a:extLst>
                <a:ext uri="{FF2B5EF4-FFF2-40B4-BE49-F238E27FC236}">
                  <a16:creationId xmlns:a16="http://schemas.microsoft.com/office/drawing/2014/main" id="{3CB6CCCC-6E26-404A-AA93-2F8449A42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342" y="4297622"/>
              <a:ext cx="54133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  <a:endParaRPr lang="es-ES" sz="24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" name="Text Box 13">
              <a:extLst>
                <a:ext uri="{FF2B5EF4-FFF2-40B4-BE49-F238E27FC236}">
                  <a16:creationId xmlns:a16="http://schemas.microsoft.com/office/drawing/2014/main" id="{05D15E37-DDA6-4AD5-81BB-AF85492B1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7973" y="4297622"/>
              <a:ext cx="488950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7558A982-B33C-A544-052B-4E6B201ECB47}"/>
                </a:ext>
              </a:extLst>
            </p:cNvPr>
            <p:cNvGrpSpPr/>
            <p:nvPr/>
          </p:nvGrpSpPr>
          <p:grpSpPr>
            <a:xfrm>
              <a:off x="3116924" y="3781801"/>
              <a:ext cx="1069248" cy="576293"/>
              <a:chOff x="3116924" y="3781801"/>
              <a:chExt cx="1069248" cy="576293"/>
            </a:xfrm>
          </p:grpSpPr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DC760FDD-FD95-4C10-9881-7F111BF3FA6C}"/>
                  </a:ext>
                </a:extLst>
              </p:cNvPr>
              <p:cNvCxnSpPr/>
              <p:nvPr/>
            </p:nvCxnSpPr>
            <p:spPr bwMode="auto">
              <a:xfrm>
                <a:off x="3116924" y="4332686"/>
                <a:ext cx="1069248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triangle" w="med" len="lg"/>
                <a:tailEnd type="triangle" w="med" len="lg"/>
              </a:ln>
              <a:effectLst/>
            </p:spPr>
          </p:cxnSp>
          <p:sp>
            <p:nvSpPr>
              <p:cNvPr id="79" name="CuadroTexto 6">
                <a:extLst>
                  <a:ext uri="{FF2B5EF4-FFF2-40B4-BE49-F238E27FC236}">
                    <a16:creationId xmlns:a16="http://schemas.microsoft.com/office/drawing/2014/main" id="{BC9F33A3-D634-4857-A395-BBF95D9666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9825" y="3781801"/>
                <a:ext cx="418485" cy="57629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sz="2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d</a:t>
                </a:r>
                <a:endParaRPr lang="es-ES" sz="28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Text Box 44">
            <a:extLst>
              <a:ext uri="{FF2B5EF4-FFF2-40B4-BE49-F238E27FC236}">
                <a16:creationId xmlns:a16="http://schemas.microsoft.com/office/drawing/2014/main" id="{EC651B1E-ED1D-0C41-1A8E-A4B1BBC9D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275" y="324035"/>
            <a:ext cx="6904037" cy="461665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CAPACIDAD DE UN CONDENSADOR PLANO</a:t>
            </a:r>
          </a:p>
        </p:txBody>
      </p:sp>
      <p:grpSp>
        <p:nvGrpSpPr>
          <p:cNvPr id="6" name="Group 118">
            <a:extLst>
              <a:ext uri="{FF2B5EF4-FFF2-40B4-BE49-F238E27FC236}">
                <a16:creationId xmlns:a16="http://schemas.microsoft.com/office/drawing/2014/main" id="{94CA4E32-D958-B41D-7410-EAEA89945859}"/>
              </a:ext>
            </a:extLst>
          </p:cNvPr>
          <p:cNvGrpSpPr>
            <a:grpSpLocks/>
          </p:cNvGrpSpPr>
          <p:nvPr/>
        </p:nvGrpSpPr>
        <p:grpSpPr bwMode="auto">
          <a:xfrm>
            <a:off x="6838343" y="4727704"/>
            <a:ext cx="3441700" cy="1246187"/>
            <a:chOff x="4324" y="2784"/>
            <a:chExt cx="2168" cy="785"/>
          </a:xfrm>
        </p:grpSpPr>
        <p:sp>
          <p:nvSpPr>
            <p:cNvPr id="9" name="Rectangle 30">
              <a:extLst>
                <a:ext uri="{FF2B5EF4-FFF2-40B4-BE49-F238E27FC236}">
                  <a16:creationId xmlns:a16="http://schemas.microsoft.com/office/drawing/2014/main" id="{ADE31E51-DC6C-DD57-63AF-696C6FC65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4" y="2784"/>
              <a:ext cx="2168" cy="76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10" name="Object 31">
              <a:extLst>
                <a:ext uri="{FF2B5EF4-FFF2-40B4-BE49-F238E27FC236}">
                  <a16:creationId xmlns:a16="http://schemas.microsoft.com/office/drawing/2014/main" id="{47EEA5E3-C06B-5756-FD36-C25823847F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9" y="2815"/>
            <a:ext cx="2012" cy="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57300" imgH="469900" progId="Equation.3">
                    <p:embed/>
                  </p:oleObj>
                </mc:Choice>
                <mc:Fallback>
                  <p:oleObj name="Ecuación" r:id="rId3" imgW="1257300" imgH="469900" progId="Equation.3">
                    <p:embed/>
                    <p:pic>
                      <p:nvPicPr>
                        <p:cNvPr id="10" name="Object 31">
                          <a:extLst>
                            <a:ext uri="{FF2B5EF4-FFF2-40B4-BE49-F238E27FC236}">
                              <a16:creationId xmlns:a16="http://schemas.microsoft.com/office/drawing/2014/main" id="{47EEA5E3-C06B-5756-FD36-C25823847F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9" y="2815"/>
                          <a:ext cx="2012" cy="7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FE7C2C7-352D-0C68-F971-D32923DC0C82}"/>
              </a:ext>
            </a:extLst>
          </p:cNvPr>
          <p:cNvGrpSpPr/>
          <p:nvPr/>
        </p:nvGrpSpPr>
        <p:grpSpPr>
          <a:xfrm>
            <a:off x="7072614" y="6214648"/>
            <a:ext cx="3070793" cy="470455"/>
            <a:chOff x="6820369" y="6382811"/>
            <a:chExt cx="3070793" cy="470455"/>
          </a:xfrm>
        </p:grpSpPr>
        <p:sp>
          <p:nvSpPr>
            <p:cNvPr id="13" name="Text Box 89">
              <a:extLst>
                <a:ext uri="{FF2B5EF4-FFF2-40B4-BE49-F238E27FC236}">
                  <a16:creationId xmlns:a16="http://schemas.microsoft.com/office/drawing/2014/main" id="{6EE9B472-93FB-F0CE-A790-A09165B1D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0369" y="6382811"/>
              <a:ext cx="3070793" cy="470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Uniforme (cte.)</a:t>
              </a:r>
            </a:p>
          </p:txBody>
        </p:sp>
        <p:sp>
          <p:nvSpPr>
            <p:cNvPr id="14" name="Line 90">
              <a:extLst>
                <a:ext uri="{FF2B5EF4-FFF2-40B4-BE49-F238E27FC236}">
                  <a16:creationId xmlns:a16="http://schemas.microsoft.com/office/drawing/2014/main" id="{855FDC63-0CE8-39BE-A55B-F777F03AF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6488" y="6436541"/>
              <a:ext cx="29717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F87CA64B-4DB8-1BE5-87F2-87BC4F7BFEB5}"/>
              </a:ext>
            </a:extLst>
          </p:cNvPr>
          <p:cNvGrpSpPr/>
          <p:nvPr/>
        </p:nvGrpSpPr>
        <p:grpSpPr>
          <a:xfrm>
            <a:off x="2241548" y="4643765"/>
            <a:ext cx="2817813" cy="1616076"/>
            <a:chOff x="2241548" y="4612235"/>
            <a:chExt cx="2817813" cy="1616076"/>
          </a:xfrm>
        </p:grpSpPr>
        <p:grpSp>
          <p:nvGrpSpPr>
            <p:cNvPr id="17" name="Group 2">
              <a:extLst>
                <a:ext uri="{FF2B5EF4-FFF2-40B4-BE49-F238E27FC236}">
                  <a16:creationId xmlns:a16="http://schemas.microsoft.com/office/drawing/2014/main" id="{B72DE032-5636-8A2A-DCDD-DE2A4412FD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1548" y="4731790"/>
              <a:ext cx="2817813" cy="1428750"/>
              <a:chOff x="4520" y="1226"/>
              <a:chExt cx="1775" cy="900"/>
            </a:xfrm>
            <a:solidFill>
              <a:schemeClr val="bg2">
                <a:lumMod val="60000"/>
                <a:lumOff val="40000"/>
              </a:schemeClr>
            </a:solidFill>
          </p:grpSpPr>
          <p:sp>
            <p:nvSpPr>
              <p:cNvPr id="86" name="Rectangle 3">
                <a:extLst>
                  <a:ext uri="{FF2B5EF4-FFF2-40B4-BE49-F238E27FC236}">
                    <a16:creationId xmlns:a16="http://schemas.microsoft.com/office/drawing/2014/main" id="{927C69A8-B08E-3D8E-98D6-4953E27F6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0" y="1236"/>
                <a:ext cx="168" cy="890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7" name="Rectangle 4">
                <a:extLst>
                  <a:ext uri="{FF2B5EF4-FFF2-40B4-BE49-F238E27FC236}">
                    <a16:creationId xmlns:a16="http://schemas.microsoft.com/office/drawing/2014/main" id="{AA966DFB-1965-ED47-AE64-139F97CCB7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" y="1226"/>
                <a:ext cx="168" cy="890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8" name="Rectangle 5">
                <a:extLst>
                  <a:ext uri="{FF2B5EF4-FFF2-40B4-BE49-F238E27FC236}">
                    <a16:creationId xmlns:a16="http://schemas.microsoft.com/office/drawing/2014/main" id="{96DD2CBA-3203-DA14-CE6F-E2CE34C6E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0" y="1637"/>
                <a:ext cx="350" cy="56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9" name="Rectangle 6">
                <a:extLst>
                  <a:ext uri="{FF2B5EF4-FFF2-40B4-BE49-F238E27FC236}">
                    <a16:creationId xmlns:a16="http://schemas.microsoft.com/office/drawing/2014/main" id="{BBDC37C6-18F9-3C27-FFAC-F251C1DFF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5" y="1656"/>
                <a:ext cx="350" cy="56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" name="Text Box 15">
              <a:extLst>
                <a:ext uri="{FF2B5EF4-FFF2-40B4-BE49-F238E27FC236}">
                  <a16:creationId xmlns:a16="http://schemas.microsoft.com/office/drawing/2014/main" id="{626090F8-6363-34CF-EE20-871973D68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273" y="4629698"/>
              <a:ext cx="3302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8" name="Text Box 16">
              <a:extLst>
                <a:ext uri="{FF2B5EF4-FFF2-40B4-BE49-F238E27FC236}">
                  <a16:creationId xmlns:a16="http://schemas.microsoft.com/office/drawing/2014/main" id="{C78222BE-7FDB-57CD-6791-A3B0C5A1D2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273" y="4929735"/>
              <a:ext cx="3302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9" name="Text Box 17">
              <a:extLst>
                <a:ext uri="{FF2B5EF4-FFF2-40B4-BE49-F238E27FC236}">
                  <a16:creationId xmlns:a16="http://schemas.microsoft.com/office/drawing/2014/main" id="{1D50D70B-507E-BA1B-B051-961FADE6C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273" y="5228185"/>
              <a:ext cx="3302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40" name="Text Box 18">
              <a:extLst>
                <a:ext uri="{FF2B5EF4-FFF2-40B4-BE49-F238E27FC236}">
                  <a16:creationId xmlns:a16="http://schemas.microsoft.com/office/drawing/2014/main" id="{50D24C78-6F77-CA6C-E203-05E15C919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273" y="5528223"/>
              <a:ext cx="3302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41" name="Text Box 19">
              <a:extLst>
                <a:ext uri="{FF2B5EF4-FFF2-40B4-BE49-F238E27FC236}">
                  <a16:creationId xmlns:a16="http://schemas.microsoft.com/office/drawing/2014/main" id="{88A25A0C-DE2A-A386-1DF8-CFFAC7988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273" y="5826673"/>
              <a:ext cx="3302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78" name="Text Box 20">
              <a:extLst>
                <a:ext uri="{FF2B5EF4-FFF2-40B4-BE49-F238E27FC236}">
                  <a16:creationId xmlns:a16="http://schemas.microsoft.com/office/drawing/2014/main" id="{A0C6D3EF-0F96-A280-E311-B727AF07E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311" y="4612235"/>
              <a:ext cx="2667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80" name="Text Box 21">
              <a:extLst>
                <a:ext uri="{FF2B5EF4-FFF2-40B4-BE49-F238E27FC236}">
                  <a16:creationId xmlns:a16="http://schemas.microsoft.com/office/drawing/2014/main" id="{03A5036C-F7E5-21E6-8F9B-208BB4DB9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311" y="4912273"/>
              <a:ext cx="2667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81" name="Text Box 22">
              <a:extLst>
                <a:ext uri="{FF2B5EF4-FFF2-40B4-BE49-F238E27FC236}">
                  <a16:creationId xmlns:a16="http://schemas.microsoft.com/office/drawing/2014/main" id="{B514F8D9-6D23-505D-54A8-6F24B1CF9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311" y="5210723"/>
              <a:ext cx="2667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82" name="Text Box 23">
              <a:extLst>
                <a:ext uri="{FF2B5EF4-FFF2-40B4-BE49-F238E27FC236}">
                  <a16:creationId xmlns:a16="http://schemas.microsoft.com/office/drawing/2014/main" id="{8F2FAE32-88AA-EB94-6BDC-AF98BF5AA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311" y="5510760"/>
              <a:ext cx="2667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83" name="Text Box 24">
              <a:extLst>
                <a:ext uri="{FF2B5EF4-FFF2-40B4-BE49-F238E27FC236}">
                  <a16:creationId xmlns:a16="http://schemas.microsoft.com/office/drawing/2014/main" id="{45056B72-CBAD-B669-30DA-9E41ED94F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423" y="5809210"/>
              <a:ext cx="266700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D3BD022A-9376-BE90-03DF-00A7421FD951}"/>
              </a:ext>
            </a:extLst>
          </p:cNvPr>
          <p:cNvCxnSpPr/>
          <p:nvPr/>
        </p:nvCxnSpPr>
        <p:spPr bwMode="auto">
          <a:xfrm>
            <a:off x="4734441" y="5099641"/>
            <a:ext cx="679949" cy="0"/>
          </a:xfrm>
          <a:prstGeom prst="straightConnector1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Conector recto de flecha 98">
            <a:extLst>
              <a:ext uri="{FF2B5EF4-FFF2-40B4-BE49-F238E27FC236}">
                <a16:creationId xmlns:a16="http://schemas.microsoft.com/office/drawing/2014/main" id="{64C47BB9-B077-C200-5400-B3DAF870DCE7}"/>
              </a:ext>
            </a:extLst>
          </p:cNvPr>
          <p:cNvCxnSpPr>
            <a:cxnSpLocks/>
          </p:cNvCxnSpPr>
          <p:nvPr/>
        </p:nvCxnSpPr>
        <p:spPr bwMode="auto">
          <a:xfrm flipH="1">
            <a:off x="4704238" y="5858203"/>
            <a:ext cx="679949" cy="0"/>
          </a:xfrm>
          <a:prstGeom prst="straightConnector1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BB0BA07F-C2B9-0C73-4F6A-F2CFDA4F908A}"/>
              </a:ext>
            </a:extLst>
          </p:cNvPr>
          <p:cNvGrpSpPr/>
          <p:nvPr/>
        </p:nvGrpSpPr>
        <p:grpSpPr>
          <a:xfrm>
            <a:off x="1818391" y="4583655"/>
            <a:ext cx="679949" cy="515986"/>
            <a:chOff x="1818391" y="4552125"/>
            <a:chExt cx="679949" cy="515986"/>
          </a:xfrm>
        </p:grpSpPr>
        <p:cxnSp>
          <p:nvCxnSpPr>
            <p:cNvPr id="98" name="Conector recto de flecha 97">
              <a:extLst>
                <a:ext uri="{FF2B5EF4-FFF2-40B4-BE49-F238E27FC236}">
                  <a16:creationId xmlns:a16="http://schemas.microsoft.com/office/drawing/2014/main" id="{E5575172-11B3-8B34-06BE-119D53BFE3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818391" y="5068111"/>
              <a:ext cx="679949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2" name="CuadroTexto 6">
              <a:extLst>
                <a:ext uri="{FF2B5EF4-FFF2-40B4-BE49-F238E27FC236}">
                  <a16:creationId xmlns:a16="http://schemas.microsoft.com/office/drawing/2014/main" id="{24D284E8-0EC7-2FF3-DA55-803AA4897D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844" y="4552125"/>
              <a:ext cx="489017" cy="45318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b="1">
                  <a:solidFill>
                    <a:srgbClr val="3333FF"/>
                  </a:solidFill>
                  <a:sym typeface="Symbol" panose="05050102010706020507" pitchFamily="18" charset="2"/>
                </a:rPr>
                <a:t>E</a:t>
              </a:r>
              <a:r>
                <a:rPr lang="es-ES" baseline="-25000">
                  <a:solidFill>
                    <a:srgbClr val="3333FF"/>
                  </a:solidFill>
                  <a:sym typeface="Symbol" panose="05050102010706020507" pitchFamily="18" charset="2"/>
                </a:rPr>
                <a:t>+</a:t>
              </a:r>
              <a:endParaRPr lang="es-ES" baseline="-25000" dirty="0">
                <a:solidFill>
                  <a:srgbClr val="3333FF"/>
                </a:solidFill>
              </a:endParaRPr>
            </a:p>
          </p:txBody>
        </p:sp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0AF53FF6-5306-0B6E-E33A-6CAE93BD9630}"/>
              </a:ext>
            </a:extLst>
          </p:cNvPr>
          <p:cNvGrpSpPr/>
          <p:nvPr/>
        </p:nvGrpSpPr>
        <p:grpSpPr>
          <a:xfrm>
            <a:off x="3316914" y="4607279"/>
            <a:ext cx="679949" cy="492362"/>
            <a:chOff x="3316914" y="4575749"/>
            <a:chExt cx="679949" cy="492362"/>
          </a:xfrm>
        </p:grpSpPr>
        <p:cxnSp>
          <p:nvCxnSpPr>
            <p:cNvPr id="94" name="Conector recto de flecha 93">
              <a:extLst>
                <a:ext uri="{FF2B5EF4-FFF2-40B4-BE49-F238E27FC236}">
                  <a16:creationId xmlns:a16="http://schemas.microsoft.com/office/drawing/2014/main" id="{049FA8ED-6E11-C3F9-F656-DD870F33577E}"/>
                </a:ext>
              </a:extLst>
            </p:cNvPr>
            <p:cNvCxnSpPr/>
            <p:nvPr/>
          </p:nvCxnSpPr>
          <p:spPr bwMode="auto">
            <a:xfrm>
              <a:off x="3316914" y="5068111"/>
              <a:ext cx="679949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3" name="CuadroTexto 6">
              <a:extLst>
                <a:ext uri="{FF2B5EF4-FFF2-40B4-BE49-F238E27FC236}">
                  <a16:creationId xmlns:a16="http://schemas.microsoft.com/office/drawing/2014/main" id="{58339548-04E1-E08C-262B-AB6070561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5197" y="4575749"/>
              <a:ext cx="489017" cy="45318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b="1">
                  <a:solidFill>
                    <a:srgbClr val="3333FF"/>
                  </a:solidFill>
                  <a:sym typeface="Symbol" panose="05050102010706020507" pitchFamily="18" charset="2"/>
                </a:rPr>
                <a:t>E</a:t>
              </a:r>
              <a:r>
                <a:rPr lang="es-ES" baseline="-25000">
                  <a:solidFill>
                    <a:srgbClr val="3333FF"/>
                  </a:solidFill>
                  <a:sym typeface="Symbol" panose="05050102010706020507" pitchFamily="18" charset="2"/>
                </a:rPr>
                <a:t>+</a:t>
              </a:r>
              <a:endParaRPr lang="es-ES" baseline="-25000" dirty="0">
                <a:solidFill>
                  <a:srgbClr val="3333FF"/>
                </a:solidFill>
              </a:endParaRPr>
            </a:p>
          </p:txBody>
        </p:sp>
      </p:grpSp>
      <p:sp>
        <p:nvSpPr>
          <p:cNvPr id="104" name="CuadroTexto 6">
            <a:extLst>
              <a:ext uri="{FF2B5EF4-FFF2-40B4-BE49-F238E27FC236}">
                <a16:creationId xmlns:a16="http://schemas.microsoft.com/office/drawing/2014/main" id="{73760A53-CF27-49C9-C51E-C4E713E0F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906" y="4612344"/>
            <a:ext cx="1918896" cy="45318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b="1">
                <a:solidFill>
                  <a:srgbClr val="3333FF"/>
                </a:solidFill>
                <a:sym typeface="Symbol" panose="05050102010706020507" pitchFamily="18" charset="2"/>
              </a:rPr>
              <a:t>E</a:t>
            </a:r>
            <a:r>
              <a:rPr lang="es-ES" baseline="-25000">
                <a:solidFill>
                  <a:srgbClr val="3333FF"/>
                </a:solidFill>
                <a:sym typeface="Symbol" panose="05050102010706020507" pitchFamily="18" charset="2"/>
              </a:rPr>
              <a:t>+</a:t>
            </a:r>
            <a:r>
              <a:rPr lang="es-ES">
                <a:solidFill>
                  <a:srgbClr val="3333FF"/>
                </a:solidFill>
                <a:sym typeface="Symbol" panose="05050102010706020507" pitchFamily="18" charset="2"/>
              </a:rPr>
              <a:t> = ½ </a:t>
            </a:r>
            <a:r>
              <a:rPr lang="es-ES" baseline="-25000">
                <a:solidFill>
                  <a:srgbClr val="3333FF"/>
                </a:solidFill>
                <a:sym typeface="Symbol" panose="05050102010706020507" pitchFamily="18" charset="2"/>
              </a:rPr>
              <a:t>+</a:t>
            </a:r>
            <a:r>
              <a:rPr lang="es-ES">
                <a:solidFill>
                  <a:srgbClr val="3333FF"/>
                </a:solidFill>
                <a:sym typeface="Symbol" panose="05050102010706020507" pitchFamily="18" charset="2"/>
              </a:rPr>
              <a:t>/</a:t>
            </a:r>
            <a:r>
              <a:rPr lang="es-ES" baseline="-25000">
                <a:solidFill>
                  <a:srgbClr val="3333FF"/>
                </a:solidFill>
                <a:sym typeface="Symbol" panose="05050102010706020507" pitchFamily="18" charset="2"/>
              </a:rPr>
              <a:t>0</a:t>
            </a:r>
            <a:r>
              <a:rPr lang="es-ES">
                <a:solidFill>
                  <a:srgbClr val="3333FF"/>
                </a:solidFill>
                <a:sym typeface="Symbol" panose="05050102010706020507" pitchFamily="18" charset="2"/>
              </a:rPr>
              <a:t> </a:t>
            </a:r>
            <a:r>
              <a:rPr lang="es-ES" b="1">
                <a:solidFill>
                  <a:srgbClr val="3333FF"/>
                </a:solidFill>
                <a:sym typeface="Symbol" panose="05050102010706020507" pitchFamily="18" charset="2"/>
              </a:rPr>
              <a:t>e</a:t>
            </a:r>
            <a:r>
              <a:rPr lang="es-ES" baseline="-25000">
                <a:solidFill>
                  <a:srgbClr val="3333FF"/>
                </a:solidFill>
                <a:sym typeface="Symbol" panose="05050102010706020507" pitchFamily="18" charset="2"/>
              </a:rPr>
              <a:t></a:t>
            </a:r>
            <a:endParaRPr lang="es-ES" baseline="-25000" dirty="0">
              <a:solidFill>
                <a:srgbClr val="3333FF"/>
              </a:solidFill>
            </a:endParaRPr>
          </a:p>
        </p:txBody>
      </p: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1FBCDAE5-9D21-9BA8-BFD5-2DB37636B2A8}"/>
              </a:ext>
            </a:extLst>
          </p:cNvPr>
          <p:cNvGrpSpPr/>
          <p:nvPr/>
        </p:nvGrpSpPr>
        <p:grpSpPr>
          <a:xfrm>
            <a:off x="1839411" y="5840241"/>
            <a:ext cx="679949" cy="453183"/>
            <a:chOff x="1839411" y="5808711"/>
            <a:chExt cx="679949" cy="453183"/>
          </a:xfrm>
        </p:grpSpPr>
        <p:cxnSp>
          <p:nvCxnSpPr>
            <p:cNvPr id="97" name="Conector recto de flecha 96">
              <a:extLst>
                <a:ext uri="{FF2B5EF4-FFF2-40B4-BE49-F238E27FC236}">
                  <a16:creationId xmlns:a16="http://schemas.microsoft.com/office/drawing/2014/main" id="{E8F45E1A-A38F-0D4F-DF29-9B5C52ED4459}"/>
                </a:ext>
              </a:extLst>
            </p:cNvPr>
            <p:cNvCxnSpPr/>
            <p:nvPr/>
          </p:nvCxnSpPr>
          <p:spPr bwMode="auto">
            <a:xfrm>
              <a:off x="1839411" y="5809210"/>
              <a:ext cx="679949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5" name="CuadroTexto 6">
              <a:extLst>
                <a:ext uri="{FF2B5EF4-FFF2-40B4-BE49-F238E27FC236}">
                  <a16:creationId xmlns:a16="http://schemas.microsoft.com/office/drawing/2014/main" id="{15A385F0-D4CA-5316-7BD2-B4FA1A6EE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3648" y="5808711"/>
              <a:ext cx="447339" cy="45318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b="1">
                  <a:solidFill>
                    <a:srgbClr val="3333FF"/>
                  </a:solidFill>
                  <a:sym typeface="Symbol" panose="05050102010706020507" pitchFamily="18" charset="2"/>
                </a:rPr>
                <a:t>E</a:t>
              </a:r>
              <a:r>
                <a:rPr lang="es-ES" baseline="-25000">
                  <a:solidFill>
                    <a:srgbClr val="3333FF"/>
                  </a:solidFill>
                  <a:sym typeface="Symbol" panose="05050102010706020507" pitchFamily="18" charset="2"/>
                </a:rPr>
                <a:t>-</a:t>
              </a:r>
              <a:endParaRPr lang="es-ES" baseline="-25000" dirty="0">
                <a:solidFill>
                  <a:srgbClr val="3333FF"/>
                </a:solidFill>
              </a:endParaRPr>
            </a:p>
          </p:txBody>
        </p:sp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8C13106F-5341-9042-ED30-03B3FA8B4588}"/>
              </a:ext>
            </a:extLst>
          </p:cNvPr>
          <p:cNvGrpSpPr/>
          <p:nvPr/>
        </p:nvGrpSpPr>
        <p:grpSpPr>
          <a:xfrm>
            <a:off x="3316914" y="5844563"/>
            <a:ext cx="679949" cy="492360"/>
            <a:chOff x="3316914" y="5813033"/>
            <a:chExt cx="679949" cy="492360"/>
          </a:xfrm>
        </p:grpSpPr>
        <p:cxnSp>
          <p:nvCxnSpPr>
            <p:cNvPr id="96" name="Conector recto de flecha 95">
              <a:extLst>
                <a:ext uri="{FF2B5EF4-FFF2-40B4-BE49-F238E27FC236}">
                  <a16:creationId xmlns:a16="http://schemas.microsoft.com/office/drawing/2014/main" id="{9F37CEFB-C2CA-2CCB-8960-5352053A84C6}"/>
                </a:ext>
              </a:extLst>
            </p:cNvPr>
            <p:cNvCxnSpPr/>
            <p:nvPr/>
          </p:nvCxnSpPr>
          <p:spPr bwMode="auto">
            <a:xfrm>
              <a:off x="3316914" y="5813033"/>
              <a:ext cx="679949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6" name="CuadroTexto 6">
              <a:extLst>
                <a:ext uri="{FF2B5EF4-FFF2-40B4-BE49-F238E27FC236}">
                  <a16:creationId xmlns:a16="http://schemas.microsoft.com/office/drawing/2014/main" id="{97539322-A880-D043-2C31-BB3C55120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1209" y="5852210"/>
              <a:ext cx="447339" cy="45318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b="1">
                  <a:solidFill>
                    <a:srgbClr val="3333FF"/>
                  </a:solidFill>
                  <a:sym typeface="Symbol" panose="05050102010706020507" pitchFamily="18" charset="2"/>
                </a:rPr>
                <a:t>E</a:t>
              </a:r>
              <a:r>
                <a:rPr lang="es-ES" baseline="-25000">
                  <a:solidFill>
                    <a:srgbClr val="3333FF"/>
                  </a:solidFill>
                  <a:sym typeface="Symbol" panose="05050102010706020507" pitchFamily="18" charset="2"/>
                </a:rPr>
                <a:t>-</a:t>
              </a:r>
              <a:endParaRPr lang="es-ES" baseline="-25000" dirty="0">
                <a:solidFill>
                  <a:srgbClr val="3333FF"/>
                </a:solidFill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1D9132C0-DF1A-A931-EE4B-F6B12E5B3814}"/>
              </a:ext>
            </a:extLst>
          </p:cNvPr>
          <p:cNvGrpSpPr/>
          <p:nvPr/>
        </p:nvGrpSpPr>
        <p:grpSpPr>
          <a:xfrm>
            <a:off x="3316913" y="5225512"/>
            <a:ext cx="708016" cy="453183"/>
            <a:chOff x="3316913" y="5193982"/>
            <a:chExt cx="708016" cy="453183"/>
          </a:xfrm>
        </p:grpSpPr>
        <p:cxnSp>
          <p:nvCxnSpPr>
            <p:cNvPr id="100" name="Conector recto de flecha 99">
              <a:extLst>
                <a:ext uri="{FF2B5EF4-FFF2-40B4-BE49-F238E27FC236}">
                  <a16:creationId xmlns:a16="http://schemas.microsoft.com/office/drawing/2014/main" id="{E4DBFCCF-CE69-89C6-D4E5-3A0E4F99D3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16913" y="5454102"/>
              <a:ext cx="256604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8" name="CuadroTexto 6">
              <a:extLst>
                <a:ext uri="{FF2B5EF4-FFF2-40B4-BE49-F238E27FC236}">
                  <a16:creationId xmlns:a16="http://schemas.microsoft.com/office/drawing/2014/main" id="{B056D072-7236-8F5C-0B66-A01D7FACA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942" y="5193982"/>
              <a:ext cx="472987" cy="45318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b="1">
                  <a:solidFill>
                    <a:srgbClr val="008000"/>
                  </a:solidFill>
                  <a:sym typeface="Symbol" panose="05050102010706020507" pitchFamily="18" charset="2"/>
                </a:rPr>
                <a:t>e</a:t>
              </a:r>
              <a:r>
                <a:rPr lang="es-ES" baseline="-25000">
                  <a:solidFill>
                    <a:srgbClr val="008000"/>
                  </a:solidFill>
                  <a:sym typeface="Symbol" panose="05050102010706020507" pitchFamily="18" charset="2"/>
                </a:rPr>
                <a:t></a:t>
              </a:r>
              <a:endParaRPr lang="es-ES" baseline="-25000" dirty="0">
                <a:solidFill>
                  <a:srgbClr val="008000"/>
                </a:solidFill>
              </a:endParaRPr>
            </a:p>
          </p:txBody>
        </p:sp>
      </p:grpSp>
      <p:sp>
        <p:nvSpPr>
          <p:cNvPr id="109" name="CuadroTexto 6">
            <a:extLst>
              <a:ext uri="{FF2B5EF4-FFF2-40B4-BE49-F238E27FC236}">
                <a16:creationId xmlns:a16="http://schemas.microsoft.com/office/drawing/2014/main" id="{929E6472-B74B-F7E0-45B6-359A03933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8158" y="6254672"/>
            <a:ext cx="1760553" cy="45318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b="1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s-ES" cap="all" baseline="-25000">
                <a:solidFill>
                  <a:srgbClr val="FF0000"/>
                </a:solidFill>
                <a:sym typeface="Symbol" panose="05050102010706020507" pitchFamily="18" charset="2"/>
              </a:rPr>
              <a:t>total</a:t>
            </a:r>
            <a:r>
              <a:rPr lang="es-ES" b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>
                <a:solidFill>
                  <a:srgbClr val="FF0000"/>
                </a:solidFill>
                <a:sym typeface="Symbol" panose="05050102010706020507" pitchFamily="18" charset="2"/>
              </a:rPr>
              <a:t>= 2</a:t>
            </a:r>
            <a:r>
              <a:rPr lang="es-ES" b="1">
                <a:solidFill>
                  <a:srgbClr val="FF0000"/>
                </a:solidFill>
                <a:sym typeface="Symbol" panose="05050102010706020507" pitchFamily="18" charset="2"/>
              </a:rPr>
              <a:t> E</a:t>
            </a:r>
            <a:r>
              <a:rPr lang="es-ES" baseline="-25000">
                <a:solidFill>
                  <a:srgbClr val="FF0000"/>
                </a:solidFill>
                <a:sym typeface="Symbol" panose="05050102010706020507" pitchFamily="18" charset="2"/>
              </a:rPr>
              <a:t>+</a:t>
            </a:r>
            <a:endParaRPr lang="es-ES" baseline="-25000" dirty="0">
              <a:solidFill>
                <a:srgbClr val="FF0000"/>
              </a:solidFill>
            </a:endParaRPr>
          </a:p>
        </p:txBody>
      </p:sp>
      <p:sp>
        <p:nvSpPr>
          <p:cNvPr id="110" name="CuadroTexto 6">
            <a:extLst>
              <a:ext uri="{FF2B5EF4-FFF2-40B4-BE49-F238E27FC236}">
                <a16:creationId xmlns:a16="http://schemas.microsoft.com/office/drawing/2014/main" id="{36DCB712-E4C5-C8E6-11AF-48B6F0E42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694" y="6261876"/>
            <a:ext cx="1413677" cy="45318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b="1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s-ES" cap="all" baseline="-25000">
                <a:solidFill>
                  <a:srgbClr val="FF0000"/>
                </a:solidFill>
                <a:sym typeface="Symbol" panose="05050102010706020507" pitchFamily="18" charset="2"/>
              </a:rPr>
              <a:t>total</a:t>
            </a:r>
            <a:r>
              <a:rPr lang="es-ES" b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>
                <a:solidFill>
                  <a:srgbClr val="FF0000"/>
                </a:solidFill>
                <a:sym typeface="Symbol" panose="05050102010706020507" pitchFamily="18" charset="2"/>
              </a:rPr>
              <a:t>= </a:t>
            </a:r>
            <a:r>
              <a:rPr lang="es-ES" b="1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  <a:endParaRPr lang="es-ES" b="1" baseline="-25000" dirty="0">
              <a:solidFill>
                <a:srgbClr val="FF0000"/>
              </a:solidFill>
            </a:endParaRPr>
          </a:p>
        </p:txBody>
      </p:sp>
      <p:sp>
        <p:nvSpPr>
          <p:cNvPr id="111" name="CuadroTexto 6">
            <a:extLst>
              <a:ext uri="{FF2B5EF4-FFF2-40B4-BE49-F238E27FC236}">
                <a16:creationId xmlns:a16="http://schemas.microsoft.com/office/drawing/2014/main" id="{1E338C9A-7971-D9D5-4166-87BB5F1DF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790" y="6245477"/>
            <a:ext cx="1413677" cy="45318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b="1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s-ES" cap="all" baseline="-25000">
                <a:solidFill>
                  <a:srgbClr val="FF0000"/>
                </a:solidFill>
                <a:sym typeface="Symbol" panose="05050102010706020507" pitchFamily="18" charset="2"/>
              </a:rPr>
              <a:t>total</a:t>
            </a:r>
            <a:r>
              <a:rPr lang="es-ES" b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>
                <a:solidFill>
                  <a:srgbClr val="FF0000"/>
                </a:solidFill>
                <a:sym typeface="Symbol" panose="05050102010706020507" pitchFamily="18" charset="2"/>
              </a:rPr>
              <a:t>= </a:t>
            </a:r>
            <a:r>
              <a:rPr lang="es-ES" b="1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  <a:endParaRPr lang="es-ES" b="1" baseline="-25000" dirty="0">
              <a:solidFill>
                <a:srgbClr val="FF0000"/>
              </a:solidFill>
            </a:endParaRPr>
          </a:p>
        </p:txBody>
      </p:sp>
      <p:sp>
        <p:nvSpPr>
          <p:cNvPr id="112" name="CuadroTexto 4">
            <a:extLst>
              <a:ext uri="{FF2B5EF4-FFF2-40B4-BE49-F238E27FC236}">
                <a16:creationId xmlns:a16="http://schemas.microsoft.com/office/drawing/2014/main" id="{A3A1584B-5403-C471-E266-D75030E67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613" y="2775751"/>
            <a:ext cx="8462679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/>
              <a:t>El </a:t>
            </a:r>
            <a:r>
              <a:rPr lang="es-ES" sz="2400" b="1"/>
              <a:t>E</a:t>
            </a:r>
            <a:r>
              <a:rPr lang="es-ES" sz="2400"/>
              <a:t> de un plano </a:t>
            </a:r>
            <a:r>
              <a:rPr lang="es-ES" sz="2400">
                <a:sym typeface="Symbol" panose="05050102010706020507" pitchFamily="18" charset="2"/>
              </a:rPr>
              <a:t> con Q uniforme </a:t>
            </a:r>
            <a:r>
              <a:rPr lang="es-ES" sz="2400"/>
              <a:t>se calcula con la Ley de Gauss, por la alta simetría. Sale uniforme y </a:t>
            </a:r>
            <a:r>
              <a:rPr lang="es-ES" sz="2400">
                <a:sym typeface="Symbol" panose="05050102010706020507" pitchFamily="18" charset="2"/>
              </a:rPr>
              <a:t> </a:t>
            </a:r>
            <a:r>
              <a:rPr lang="es-ES" sz="2400"/>
              <a:t>al plano</a:t>
            </a:r>
            <a:endParaRPr lang="es-ES" sz="2400" dirty="0"/>
          </a:p>
        </p:txBody>
      </p:sp>
      <p:sp>
        <p:nvSpPr>
          <p:cNvPr id="113" name="CuadroTexto 6">
            <a:extLst>
              <a:ext uri="{FF2B5EF4-FFF2-40B4-BE49-F238E27FC236}">
                <a16:creationId xmlns:a16="http://schemas.microsoft.com/office/drawing/2014/main" id="{4E1011EA-1362-F1A0-D1A2-1448334D3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0647" y="5871554"/>
            <a:ext cx="1906072" cy="45318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b="1">
                <a:solidFill>
                  <a:srgbClr val="3333FF"/>
                </a:solidFill>
                <a:sym typeface="Symbol" panose="05050102010706020507" pitchFamily="18" charset="2"/>
              </a:rPr>
              <a:t>E</a:t>
            </a:r>
            <a:r>
              <a:rPr lang="es-ES" baseline="-25000">
                <a:solidFill>
                  <a:srgbClr val="3333FF"/>
                </a:solidFill>
                <a:sym typeface="Symbol" panose="05050102010706020507" pitchFamily="18" charset="2"/>
              </a:rPr>
              <a:t>-</a:t>
            </a:r>
            <a:r>
              <a:rPr lang="es-ES">
                <a:solidFill>
                  <a:srgbClr val="3333FF"/>
                </a:solidFill>
                <a:sym typeface="Symbol" panose="05050102010706020507" pitchFamily="18" charset="2"/>
              </a:rPr>
              <a:t> = ½  </a:t>
            </a:r>
            <a:r>
              <a:rPr lang="es-ES" baseline="-25000">
                <a:solidFill>
                  <a:srgbClr val="3333FF"/>
                </a:solidFill>
                <a:sym typeface="Symbol" panose="05050102010706020507" pitchFamily="18" charset="2"/>
              </a:rPr>
              <a:t>-</a:t>
            </a:r>
            <a:r>
              <a:rPr lang="es-ES">
                <a:solidFill>
                  <a:srgbClr val="3333FF"/>
                </a:solidFill>
                <a:sym typeface="Symbol" panose="05050102010706020507" pitchFamily="18" charset="2"/>
              </a:rPr>
              <a:t>/</a:t>
            </a:r>
            <a:r>
              <a:rPr lang="es-ES" baseline="-25000">
                <a:solidFill>
                  <a:srgbClr val="3333FF"/>
                </a:solidFill>
                <a:sym typeface="Symbol" panose="05050102010706020507" pitchFamily="18" charset="2"/>
              </a:rPr>
              <a:t>0</a:t>
            </a:r>
            <a:r>
              <a:rPr lang="es-ES">
                <a:solidFill>
                  <a:srgbClr val="3333FF"/>
                </a:solidFill>
                <a:sym typeface="Symbol" panose="05050102010706020507" pitchFamily="18" charset="2"/>
              </a:rPr>
              <a:t> </a:t>
            </a:r>
            <a:r>
              <a:rPr lang="es-ES" b="1">
                <a:solidFill>
                  <a:srgbClr val="3333FF"/>
                </a:solidFill>
                <a:sym typeface="Symbol" panose="05050102010706020507" pitchFamily="18" charset="2"/>
              </a:rPr>
              <a:t>e</a:t>
            </a:r>
            <a:r>
              <a:rPr lang="es-ES" baseline="-25000">
                <a:solidFill>
                  <a:srgbClr val="3333FF"/>
                </a:solidFill>
                <a:sym typeface="Symbol" panose="05050102010706020507" pitchFamily="18" charset="2"/>
              </a:rPr>
              <a:t></a:t>
            </a:r>
            <a:endParaRPr lang="es-ES" baseline="-25000" dirty="0">
              <a:solidFill>
                <a:srgbClr val="3333FF"/>
              </a:solidFill>
            </a:endParaRPr>
          </a:p>
        </p:txBody>
      </p:sp>
      <p:sp>
        <p:nvSpPr>
          <p:cNvPr id="114" name="CuadroTexto 6">
            <a:extLst>
              <a:ext uri="{FF2B5EF4-FFF2-40B4-BE49-F238E27FC236}">
                <a16:creationId xmlns:a16="http://schemas.microsoft.com/office/drawing/2014/main" id="{482063DA-BEFE-E6DB-582C-2708E0106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5251" y="5225512"/>
            <a:ext cx="1133425" cy="45318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>
                <a:solidFill>
                  <a:srgbClr val="3333FF"/>
                </a:solidFill>
                <a:sym typeface="Symbol" panose="05050102010706020507" pitchFamily="18" charset="2"/>
              </a:rPr>
              <a:t></a:t>
            </a:r>
            <a:r>
              <a:rPr lang="es-ES" baseline="-25000">
                <a:solidFill>
                  <a:srgbClr val="3333FF"/>
                </a:solidFill>
                <a:sym typeface="Symbol" panose="05050102010706020507" pitchFamily="18" charset="2"/>
              </a:rPr>
              <a:t>+ </a:t>
            </a:r>
            <a:r>
              <a:rPr lang="es-ES">
                <a:solidFill>
                  <a:srgbClr val="3333FF"/>
                </a:solidFill>
                <a:sym typeface="Symbol" panose="05050102010706020507" pitchFamily="18" charset="2"/>
              </a:rPr>
              <a:t>= |</a:t>
            </a:r>
            <a:r>
              <a:rPr lang="es-ES" baseline="-25000">
                <a:solidFill>
                  <a:srgbClr val="3333FF"/>
                </a:solidFill>
                <a:sym typeface="Symbol" panose="05050102010706020507" pitchFamily="18" charset="2"/>
              </a:rPr>
              <a:t>- </a:t>
            </a:r>
            <a:r>
              <a:rPr lang="es-ES">
                <a:solidFill>
                  <a:srgbClr val="3333FF"/>
                </a:solidFill>
                <a:sym typeface="Symbol" panose="05050102010706020507" pitchFamily="18" charset="2"/>
              </a:rPr>
              <a:t>|</a:t>
            </a:r>
            <a:endParaRPr lang="es-ES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71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nimBg="1"/>
      <p:bldP spid="2" grpId="0" animBg="1"/>
      <p:bldP spid="104" grpId="0"/>
      <p:bldP spid="109" grpId="0"/>
      <p:bldP spid="110" grpId="0"/>
      <p:bldP spid="111" grpId="0"/>
      <p:bldP spid="112" grpId="0" animBg="1"/>
      <p:bldP spid="113" grpId="0"/>
      <p:bldP spid="1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/>
          <p:cNvGrpSpPr>
            <a:grpSpLocks/>
          </p:cNvGrpSpPr>
          <p:nvPr/>
        </p:nvGrpSpPr>
        <p:grpSpPr bwMode="auto">
          <a:xfrm>
            <a:off x="5897252" y="4150233"/>
            <a:ext cx="2428954" cy="611188"/>
            <a:chOff x="7789447" y="2884797"/>
            <a:chExt cx="2429682" cy="611190"/>
          </a:xfrm>
        </p:grpSpPr>
        <p:sp>
          <p:nvSpPr>
            <p:cNvPr id="37932" name="Text Box 61"/>
            <p:cNvSpPr txBox="1">
              <a:spLocks noChangeArrowheads="1"/>
            </p:cNvSpPr>
            <p:nvPr/>
          </p:nvSpPr>
          <p:spPr bwMode="auto">
            <a:xfrm>
              <a:off x="7789447" y="2887633"/>
              <a:ext cx="1255714" cy="525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dirty="0">
                  <a:latin typeface="Arial" panose="020B0604020202020204" pitchFamily="34" charset="0"/>
                </a:rPr>
                <a:t>V</a:t>
              </a:r>
              <a:r>
                <a:rPr lang="es-ES" sz="2800" baseline="30000" dirty="0">
                  <a:latin typeface="Arial" panose="020B0604020202020204" pitchFamily="34" charset="0"/>
                  <a:sym typeface="Symbol" panose="05050102010706020507" pitchFamily="18" charset="2"/>
                </a:rPr>
                <a:t>+</a:t>
              </a:r>
              <a:r>
                <a:rPr lang="es-ES" sz="2800" dirty="0">
                  <a:latin typeface="Arial" panose="020B0604020202020204" pitchFamily="34" charset="0"/>
                </a:rPr>
                <a:t> </a:t>
              </a:r>
              <a:r>
                <a:rPr lang="es-ES" sz="2800" dirty="0"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es-ES" sz="2800" dirty="0">
                  <a:latin typeface="Arial" panose="020B0604020202020204" pitchFamily="34" charset="0"/>
                </a:rPr>
                <a:t> V</a:t>
              </a:r>
              <a:r>
                <a:rPr lang="es-ES" sz="2800" baseline="30000" dirty="0">
                  <a:latin typeface="Arial" panose="020B0604020202020204" pitchFamily="34" charset="0"/>
                  <a:sym typeface="Symbol" panose="05050102010706020507" pitchFamily="18" charset="2"/>
                </a:rPr>
                <a:t>-</a:t>
              </a:r>
              <a:endParaRPr lang="es-ES" sz="2800" dirty="0">
                <a:latin typeface="Arial" panose="020B0604020202020204" pitchFamily="34" charset="0"/>
              </a:endParaRPr>
            </a:p>
          </p:txBody>
        </p:sp>
        <p:grpSp>
          <p:nvGrpSpPr>
            <p:cNvPr id="37925" name="Group 76"/>
            <p:cNvGrpSpPr>
              <a:grpSpLocks/>
            </p:cNvGrpSpPr>
            <p:nvPr/>
          </p:nvGrpSpPr>
          <p:grpSpPr bwMode="auto">
            <a:xfrm>
              <a:off x="8963414" y="2884797"/>
              <a:ext cx="1255715" cy="611190"/>
              <a:chOff x="5683" y="1664"/>
              <a:chExt cx="791" cy="385"/>
            </a:xfrm>
          </p:grpSpPr>
          <p:sp>
            <p:nvSpPr>
              <p:cNvPr id="37931" name="Text Box 66"/>
              <p:cNvSpPr txBox="1">
                <a:spLocks noChangeArrowheads="1"/>
              </p:cNvSpPr>
              <p:nvPr/>
            </p:nvSpPr>
            <p:spPr bwMode="auto">
              <a:xfrm>
                <a:off x="5903" y="1664"/>
                <a:ext cx="571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800" dirty="0">
                    <a:latin typeface="Arial" panose="020B0604020202020204" pitchFamily="34" charset="0"/>
                  </a:rPr>
                  <a:t>|</a:t>
                </a:r>
                <a:r>
                  <a:rPr lang="es-ES" sz="2800" b="1" dirty="0">
                    <a:latin typeface="Arial" panose="020B0604020202020204" pitchFamily="34" charset="0"/>
                  </a:rPr>
                  <a:t>E</a:t>
                </a:r>
                <a:r>
                  <a:rPr lang="es-ES" sz="2800" dirty="0">
                    <a:latin typeface="Arial" panose="020B0604020202020204" pitchFamily="34" charset="0"/>
                  </a:rPr>
                  <a:t>| d</a:t>
                </a:r>
              </a:p>
            </p:txBody>
          </p:sp>
          <p:sp>
            <p:nvSpPr>
              <p:cNvPr id="37927" name="Text Box 72"/>
              <p:cNvSpPr txBox="1">
                <a:spLocks noChangeArrowheads="1"/>
              </p:cNvSpPr>
              <p:nvPr/>
            </p:nvSpPr>
            <p:spPr bwMode="auto">
              <a:xfrm>
                <a:off x="5683" y="1672"/>
                <a:ext cx="247" cy="3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800">
                    <a:latin typeface="Arial" panose="020B0604020202020204" pitchFamily="34" charset="0"/>
                  </a:rPr>
                  <a:t>=</a:t>
                </a:r>
              </a:p>
            </p:txBody>
          </p:sp>
        </p:grpSp>
      </p:grpSp>
      <p:sp>
        <p:nvSpPr>
          <p:cNvPr id="37908" name="CuadroTexto 3"/>
          <p:cNvSpPr txBox="1">
            <a:spLocks noChangeArrowheads="1"/>
          </p:cNvSpPr>
          <p:nvPr/>
        </p:nvSpPr>
        <p:spPr bwMode="auto">
          <a:xfrm>
            <a:off x="1249819" y="1954071"/>
            <a:ext cx="9115384" cy="956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es </a:t>
            </a:r>
            <a:r>
              <a:rPr lang="es-ES" sz="2400" b="1" dirty="0">
                <a:solidFill>
                  <a:schemeClr val="tx1"/>
                </a:solidFill>
              </a:rPr>
              <a:t>cte. </a:t>
            </a:r>
            <a:r>
              <a:rPr lang="es-ES" sz="2400" dirty="0">
                <a:solidFill>
                  <a:schemeClr val="tx1"/>
                </a:solidFill>
              </a:rPr>
              <a:t>y</a:t>
            </a:r>
            <a:r>
              <a:rPr lang="es-ES" sz="2400" b="1" dirty="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 a las placas</a:t>
            </a:r>
            <a:r>
              <a:rPr lang="es-ES" sz="2400" dirty="0">
                <a:solidFill>
                  <a:schemeClr val="tx1"/>
                </a:solidFill>
              </a:rPr>
              <a:t>, tomando como camino C entre la placa + y - una línea de campo, una recta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 a las placas, E</a:t>
            </a:r>
            <a:r>
              <a: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//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= |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| = cte.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37907" name="CuadroTexto 6"/>
          <p:cNvSpPr txBox="1">
            <a:spLocks noChangeArrowheads="1"/>
          </p:cNvSpPr>
          <p:nvPr/>
        </p:nvSpPr>
        <p:spPr bwMode="auto">
          <a:xfrm>
            <a:off x="4836299" y="3162545"/>
            <a:ext cx="2106449" cy="92812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800" dirty="0">
                <a:sym typeface="Symbol" panose="05050102010706020507" pitchFamily="18" charset="2"/>
              </a:rPr>
              <a:t>V =  |</a:t>
            </a:r>
            <a:r>
              <a:rPr lang="es-ES" sz="2800" b="1" dirty="0">
                <a:sym typeface="Symbol" panose="05050102010706020507" pitchFamily="18" charset="2"/>
              </a:rPr>
              <a:t>E</a:t>
            </a:r>
            <a:r>
              <a:rPr lang="es-ES" sz="2800" dirty="0">
                <a:sym typeface="Symbol" panose="05050102010706020507" pitchFamily="18" charset="2"/>
              </a:rPr>
              <a:t>| d</a:t>
            </a:r>
            <a:endParaRPr lang="es-ES" sz="2800" dirty="0"/>
          </a:p>
        </p:txBody>
      </p:sp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7063262" y="3384773"/>
            <a:ext cx="156457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latin typeface="Arial" panose="020B0604020202020204" pitchFamily="34" charset="0"/>
              </a:rPr>
              <a:t>= V</a:t>
            </a:r>
            <a:r>
              <a:rPr lang="es-ES" sz="28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800" dirty="0">
                <a:latin typeface="Arial" panose="020B0604020202020204" pitchFamily="34" charset="0"/>
              </a:rPr>
              <a:t>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800" dirty="0">
                <a:latin typeface="Arial" panose="020B0604020202020204" pitchFamily="34" charset="0"/>
              </a:rPr>
              <a:t> V</a:t>
            </a:r>
            <a:r>
              <a:rPr lang="es-ES" sz="2800" baseline="30000" dirty="0"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endParaRPr lang="es-ES" sz="2800" dirty="0">
              <a:latin typeface="Arial" panose="020B0604020202020204" pitchFamily="34" charset="0"/>
            </a:endParaRPr>
          </a:p>
        </p:txBody>
      </p:sp>
      <p:grpSp>
        <p:nvGrpSpPr>
          <p:cNvPr id="61" name="Group 76"/>
          <p:cNvGrpSpPr>
            <a:grpSpLocks/>
          </p:cNvGrpSpPr>
          <p:nvPr/>
        </p:nvGrpSpPr>
        <p:grpSpPr bwMode="auto">
          <a:xfrm>
            <a:off x="6673855" y="498729"/>
            <a:ext cx="3484564" cy="1227139"/>
            <a:chOff x="2113" y="-38"/>
            <a:chExt cx="2195" cy="773"/>
          </a:xfrm>
        </p:grpSpPr>
        <p:sp>
          <p:nvSpPr>
            <p:cNvPr id="37909" name="Rectangle 74"/>
            <p:cNvSpPr>
              <a:spLocks noChangeArrowheads="1"/>
            </p:cNvSpPr>
            <p:nvPr/>
          </p:nvSpPr>
          <p:spPr bwMode="auto">
            <a:xfrm>
              <a:off x="2113" y="-38"/>
              <a:ext cx="2195" cy="77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graphicFrame>
          <p:nvGraphicFramePr>
            <p:cNvPr id="37910" name="Object 73"/>
            <p:cNvGraphicFramePr>
              <a:graphicFrameLocks noChangeAspect="1"/>
            </p:cNvGraphicFramePr>
            <p:nvPr/>
          </p:nvGraphicFramePr>
          <p:xfrm>
            <a:off x="2130" y="101"/>
            <a:ext cx="2112" cy="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96800" imgH="380880" progId="Equation.3">
                    <p:embed/>
                  </p:oleObj>
                </mc:Choice>
                <mc:Fallback>
                  <p:oleObj name="Ecuación" r:id="rId3" imgW="1396800" imgH="380880" progId="Equation.3">
                    <p:embed/>
                    <p:pic>
                      <p:nvPicPr>
                        <p:cNvPr id="3791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0" y="101"/>
                          <a:ext cx="2112" cy="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15" name="Text Box 61"/>
          <p:cNvSpPr txBox="1">
            <a:spLocks noChangeArrowheads="1"/>
          </p:cNvSpPr>
          <p:nvPr/>
        </p:nvSpPr>
        <p:spPr bwMode="auto">
          <a:xfrm>
            <a:off x="6646590" y="4893444"/>
            <a:ext cx="1744178" cy="76924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latin typeface="Arial" panose="020B0604020202020204" pitchFamily="34" charset="0"/>
              </a:rPr>
              <a:t>V = |</a:t>
            </a:r>
            <a:r>
              <a:rPr lang="es-ES" sz="2800" b="1" dirty="0">
                <a:latin typeface="Arial" panose="020B0604020202020204" pitchFamily="34" charset="0"/>
              </a:rPr>
              <a:t>E</a:t>
            </a:r>
            <a:r>
              <a:rPr lang="es-ES" sz="2800" dirty="0">
                <a:latin typeface="Arial" panose="020B0604020202020204" pitchFamily="34" charset="0"/>
              </a:rPr>
              <a:t>| d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7898840" y="625730"/>
            <a:ext cx="2742123" cy="2054934"/>
            <a:chOff x="7744958" y="1363117"/>
            <a:chExt cx="2742123" cy="2054934"/>
          </a:xfrm>
        </p:grpSpPr>
        <p:sp>
          <p:nvSpPr>
            <p:cNvPr id="5" name="Forma libre 4"/>
            <p:cNvSpPr/>
            <p:nvPr/>
          </p:nvSpPr>
          <p:spPr bwMode="auto">
            <a:xfrm>
              <a:off x="7744958" y="1363117"/>
              <a:ext cx="265176" cy="229028"/>
            </a:xfrm>
            <a:custGeom>
              <a:avLst/>
              <a:gdLst>
                <a:gd name="connsiteX0" fmla="*/ 265176 w 265176"/>
                <a:gd name="connsiteY0" fmla="*/ 183308 h 229028"/>
                <a:gd name="connsiteX1" fmla="*/ 64008 w 265176"/>
                <a:gd name="connsiteY1" fmla="*/ 428 h 229028"/>
                <a:gd name="connsiteX2" fmla="*/ 0 w 265176"/>
                <a:gd name="connsiteY2" fmla="*/ 229028 h 22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5176" h="229028">
                  <a:moveTo>
                    <a:pt x="265176" y="183308"/>
                  </a:moveTo>
                  <a:cubicBezTo>
                    <a:pt x="186690" y="88058"/>
                    <a:pt x="108204" y="-7192"/>
                    <a:pt x="64008" y="428"/>
                  </a:cubicBezTo>
                  <a:cubicBezTo>
                    <a:pt x="19812" y="8048"/>
                    <a:pt x="9906" y="118538"/>
                    <a:pt x="0" y="229028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7" name="Forma libre 6"/>
            <p:cNvSpPr/>
            <p:nvPr/>
          </p:nvSpPr>
          <p:spPr bwMode="auto">
            <a:xfrm>
              <a:off x="8420334" y="2039058"/>
              <a:ext cx="2066747" cy="1378993"/>
            </a:xfrm>
            <a:custGeom>
              <a:avLst/>
              <a:gdLst>
                <a:gd name="connsiteX0" fmla="*/ 4251489 w 4827310"/>
                <a:gd name="connsiteY0" fmla="*/ 1828800 h 1835439"/>
                <a:gd name="connsiteX1" fmla="*/ 4751109 w 4827310"/>
                <a:gd name="connsiteY1" fmla="*/ 1762812 h 1835439"/>
                <a:gd name="connsiteX2" fmla="*/ 4817097 w 4827310"/>
                <a:gd name="connsiteY2" fmla="*/ 1310326 h 1835439"/>
                <a:gd name="connsiteX3" fmla="*/ 4666268 w 4827310"/>
                <a:gd name="connsiteY3" fmla="*/ 829559 h 1835439"/>
                <a:gd name="connsiteX4" fmla="*/ 3874416 w 4827310"/>
                <a:gd name="connsiteY4" fmla="*/ 518474 h 1835439"/>
                <a:gd name="connsiteX5" fmla="*/ 1687398 w 4827310"/>
                <a:gd name="connsiteY5" fmla="*/ 584462 h 1835439"/>
                <a:gd name="connsiteX6" fmla="*/ 0 w 4827310"/>
                <a:gd name="connsiteY6" fmla="*/ 0 h 183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27310" h="1835439">
                  <a:moveTo>
                    <a:pt x="4251489" y="1828800"/>
                  </a:moveTo>
                  <a:cubicBezTo>
                    <a:pt x="4454165" y="1839012"/>
                    <a:pt x="4656841" y="1849224"/>
                    <a:pt x="4751109" y="1762812"/>
                  </a:cubicBezTo>
                  <a:cubicBezTo>
                    <a:pt x="4845377" y="1676400"/>
                    <a:pt x="4831237" y="1465868"/>
                    <a:pt x="4817097" y="1310326"/>
                  </a:cubicBezTo>
                  <a:cubicBezTo>
                    <a:pt x="4802957" y="1154784"/>
                    <a:pt x="4823381" y="961534"/>
                    <a:pt x="4666268" y="829559"/>
                  </a:cubicBezTo>
                  <a:cubicBezTo>
                    <a:pt x="4509155" y="697584"/>
                    <a:pt x="4370894" y="559323"/>
                    <a:pt x="3874416" y="518474"/>
                  </a:cubicBezTo>
                  <a:cubicBezTo>
                    <a:pt x="3377938" y="477625"/>
                    <a:pt x="2333134" y="670874"/>
                    <a:pt x="1687398" y="584462"/>
                  </a:cubicBezTo>
                  <a:cubicBezTo>
                    <a:pt x="1041662" y="498050"/>
                    <a:pt x="520831" y="249025"/>
                    <a:pt x="0" y="0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77" name="CuadroTexto 1">
            <a:extLst>
              <a:ext uri="{FF2B5EF4-FFF2-40B4-BE49-F238E27FC236}">
                <a16:creationId xmlns:a16="http://schemas.microsoft.com/office/drawing/2014/main" id="{6BD8DF14-D59D-41DF-9225-2BAF9B8DF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328" y="5898339"/>
            <a:ext cx="5896805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  <a:sym typeface="Wingdings" panose="05000000000000000000" pitchFamily="2" charset="2"/>
              </a:rPr>
              <a:t>La </a:t>
            </a:r>
            <a:r>
              <a:rPr lang="es-ES" sz="2400" dirty="0">
                <a:solidFill>
                  <a:srgbClr val="3333FF"/>
                </a:solidFill>
                <a:sym typeface="Wingdings" panose="05000000000000000000" pitchFamily="2" charset="2"/>
              </a:rPr>
              <a:t>ruptura</a:t>
            </a: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 se suele indicar con una </a:t>
            </a:r>
            <a:r>
              <a:rPr lang="es-E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ddp</a:t>
            </a: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, con una </a:t>
            </a:r>
            <a:r>
              <a:rPr lang="es-ES" sz="2400" dirty="0">
                <a:solidFill>
                  <a:srgbClr val="3333FF"/>
                </a:solidFill>
                <a:sym typeface="Wingdings" panose="05000000000000000000" pitchFamily="2" charset="2"/>
              </a:rPr>
              <a:t>tensión</a:t>
            </a: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es-ES" sz="2400" dirty="0">
                <a:solidFill>
                  <a:srgbClr val="3333FF"/>
                </a:solidFill>
                <a:sym typeface="Wingdings" panose="05000000000000000000" pitchFamily="2" charset="2"/>
              </a:rPr>
              <a:t>V</a:t>
            </a: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, no con un campo, |</a:t>
            </a:r>
            <a:r>
              <a:rPr lang="es-ES" sz="2400" b="1">
                <a:solidFill>
                  <a:schemeClr val="tx1"/>
                </a:solidFill>
                <a:sym typeface="Wingdings" panose="05000000000000000000" pitchFamily="2" charset="2"/>
              </a:rPr>
              <a:t>E</a:t>
            </a:r>
            <a:r>
              <a:rPr lang="es-ES" sz="2400">
                <a:solidFill>
                  <a:schemeClr val="tx1"/>
                </a:solidFill>
                <a:sym typeface="Wingdings" panose="05000000000000000000" pitchFamily="2" charset="2"/>
              </a:rPr>
              <a:t>|</a:t>
            </a:r>
            <a:endParaRPr lang="es-ES" sz="2400" dirty="0">
              <a:solidFill>
                <a:schemeClr val="tx1"/>
              </a:solidFill>
            </a:endParaRPr>
          </a:p>
        </p:txBody>
      </p:sp>
      <p:grpSp>
        <p:nvGrpSpPr>
          <p:cNvPr id="6" name="Group 118">
            <a:extLst>
              <a:ext uri="{FF2B5EF4-FFF2-40B4-BE49-F238E27FC236}">
                <a16:creationId xmlns:a16="http://schemas.microsoft.com/office/drawing/2014/main" id="{94CA4E32-D958-B41D-7410-EAEA89945859}"/>
              </a:ext>
            </a:extLst>
          </p:cNvPr>
          <p:cNvGrpSpPr>
            <a:grpSpLocks/>
          </p:cNvGrpSpPr>
          <p:nvPr/>
        </p:nvGrpSpPr>
        <p:grpSpPr bwMode="auto">
          <a:xfrm>
            <a:off x="1373106" y="498224"/>
            <a:ext cx="3441700" cy="1246187"/>
            <a:chOff x="4324" y="2784"/>
            <a:chExt cx="2168" cy="785"/>
          </a:xfrm>
        </p:grpSpPr>
        <p:sp>
          <p:nvSpPr>
            <p:cNvPr id="9" name="Rectangle 30">
              <a:extLst>
                <a:ext uri="{FF2B5EF4-FFF2-40B4-BE49-F238E27FC236}">
                  <a16:creationId xmlns:a16="http://schemas.microsoft.com/office/drawing/2014/main" id="{ADE31E51-DC6C-DD57-63AF-696C6FC65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4" y="2784"/>
              <a:ext cx="2168" cy="76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10" name="Object 31">
              <a:extLst>
                <a:ext uri="{FF2B5EF4-FFF2-40B4-BE49-F238E27FC236}">
                  <a16:creationId xmlns:a16="http://schemas.microsoft.com/office/drawing/2014/main" id="{47EEA5E3-C06B-5756-FD36-C25823847F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9" y="2815"/>
            <a:ext cx="2012" cy="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257300" imgH="469900" progId="Equation.3">
                    <p:embed/>
                  </p:oleObj>
                </mc:Choice>
                <mc:Fallback>
                  <p:oleObj name="Ecuación" r:id="rId5" imgW="1257300" imgH="469900" progId="Equation.3">
                    <p:embed/>
                    <p:pic>
                      <p:nvPicPr>
                        <p:cNvPr id="10" name="Object 31">
                          <a:extLst>
                            <a:ext uri="{FF2B5EF4-FFF2-40B4-BE49-F238E27FC236}">
                              <a16:creationId xmlns:a16="http://schemas.microsoft.com/office/drawing/2014/main" id="{47EEA5E3-C06B-5756-FD36-C25823847F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9" y="2815"/>
                          <a:ext cx="2012" cy="7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98">
            <a:extLst>
              <a:ext uri="{FF2B5EF4-FFF2-40B4-BE49-F238E27FC236}">
                <a16:creationId xmlns:a16="http://schemas.microsoft.com/office/drawing/2014/main" id="{3248F824-7BE6-ABAB-7C45-CF79B2ACE1EC}"/>
              </a:ext>
            </a:extLst>
          </p:cNvPr>
          <p:cNvGrpSpPr>
            <a:grpSpLocks/>
          </p:cNvGrpSpPr>
          <p:nvPr/>
        </p:nvGrpSpPr>
        <p:grpSpPr bwMode="auto">
          <a:xfrm>
            <a:off x="5052457" y="759218"/>
            <a:ext cx="1459189" cy="833438"/>
            <a:chOff x="4731" y="4165"/>
            <a:chExt cx="775" cy="525"/>
          </a:xfrm>
        </p:grpSpPr>
        <p:sp>
          <p:nvSpPr>
            <p:cNvPr id="13" name="Text Box 89">
              <a:extLst>
                <a:ext uri="{FF2B5EF4-FFF2-40B4-BE49-F238E27FC236}">
                  <a16:creationId xmlns:a16="http://schemas.microsoft.com/office/drawing/2014/main" id="{6EE9B472-93FB-F0CE-A790-A09165B1D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1" y="4165"/>
              <a:ext cx="775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Uniforme (cte.)</a:t>
              </a:r>
            </a:p>
          </p:txBody>
        </p:sp>
        <p:sp>
          <p:nvSpPr>
            <p:cNvPr id="14" name="Line 90">
              <a:extLst>
                <a:ext uri="{FF2B5EF4-FFF2-40B4-BE49-F238E27FC236}">
                  <a16:creationId xmlns:a16="http://schemas.microsoft.com/office/drawing/2014/main" id="{855FDC63-0CE8-39BE-A55B-F777F03AF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2" y="4452"/>
              <a:ext cx="15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16A4211-1F26-648A-3C3A-FEFAB8D91A51}"/>
              </a:ext>
            </a:extLst>
          </p:cNvPr>
          <p:cNvGrpSpPr/>
          <p:nvPr/>
        </p:nvGrpSpPr>
        <p:grpSpPr>
          <a:xfrm>
            <a:off x="1399515" y="3188063"/>
            <a:ext cx="2817813" cy="2323720"/>
            <a:chOff x="1355741" y="4718781"/>
            <a:chExt cx="2817813" cy="2323720"/>
          </a:xfrm>
        </p:grpSpPr>
        <p:grpSp>
          <p:nvGrpSpPr>
            <p:cNvPr id="16" name="Group 2">
              <a:extLst>
                <a:ext uri="{FF2B5EF4-FFF2-40B4-BE49-F238E27FC236}">
                  <a16:creationId xmlns:a16="http://schemas.microsoft.com/office/drawing/2014/main" id="{000A0E63-940C-2E63-1D07-869C4FBCF9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5741" y="5027062"/>
              <a:ext cx="2817813" cy="1428750"/>
              <a:chOff x="4520" y="1226"/>
              <a:chExt cx="1775" cy="900"/>
            </a:xfrm>
            <a:solidFill>
              <a:schemeClr val="bg2">
                <a:lumMod val="60000"/>
                <a:lumOff val="40000"/>
              </a:schemeClr>
            </a:solidFill>
          </p:grpSpPr>
          <p:sp>
            <p:nvSpPr>
              <p:cNvPr id="85" name="Rectangle 3">
                <a:extLst>
                  <a:ext uri="{FF2B5EF4-FFF2-40B4-BE49-F238E27FC236}">
                    <a16:creationId xmlns:a16="http://schemas.microsoft.com/office/drawing/2014/main" id="{02B1843A-4699-DD26-0C7A-FFB578390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0" y="1236"/>
                <a:ext cx="168" cy="890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6" name="Rectangle 4">
                <a:extLst>
                  <a:ext uri="{FF2B5EF4-FFF2-40B4-BE49-F238E27FC236}">
                    <a16:creationId xmlns:a16="http://schemas.microsoft.com/office/drawing/2014/main" id="{D8AE4280-2271-E3EB-67D8-0F818E1BC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" y="1226"/>
                <a:ext cx="168" cy="890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7" name="Rectangle 5">
                <a:extLst>
                  <a:ext uri="{FF2B5EF4-FFF2-40B4-BE49-F238E27FC236}">
                    <a16:creationId xmlns:a16="http://schemas.microsoft.com/office/drawing/2014/main" id="{50327782-3E53-52E7-E2EE-5E72F8E5D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0" y="1637"/>
                <a:ext cx="350" cy="56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8" name="Rectangle 6">
                <a:extLst>
                  <a:ext uri="{FF2B5EF4-FFF2-40B4-BE49-F238E27FC236}">
                    <a16:creationId xmlns:a16="http://schemas.microsoft.com/office/drawing/2014/main" id="{9A7506DC-A7F2-AF8D-FCEC-737D23604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5" y="1656"/>
                <a:ext cx="350" cy="56"/>
              </a:xfrm>
              <a:prstGeom prst="rect">
                <a:avLst/>
              </a:prstGeom>
              <a:grpFill/>
              <a:ln w="12700" algn="ctr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" name="Group 11">
              <a:extLst>
                <a:ext uri="{FF2B5EF4-FFF2-40B4-BE49-F238E27FC236}">
                  <a16:creationId xmlns:a16="http://schemas.microsoft.com/office/drawing/2014/main" id="{CB33705F-C31E-7097-6C1A-4DA6939F80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8924" y="4718781"/>
              <a:ext cx="2692400" cy="465138"/>
              <a:chOff x="4579" y="1101"/>
              <a:chExt cx="1696" cy="293"/>
            </a:xfrm>
          </p:grpSpPr>
          <p:sp>
            <p:nvSpPr>
              <p:cNvPr id="83" name="Text Box 12">
                <a:extLst>
                  <a:ext uri="{FF2B5EF4-FFF2-40B4-BE49-F238E27FC236}">
                    <a16:creationId xmlns:a16="http://schemas.microsoft.com/office/drawing/2014/main" id="{2F989545-EA07-6D30-3969-435E201658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9" y="1102"/>
                <a:ext cx="341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30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  <a:endParaRPr lang="es-ES" sz="240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4" name="Text Box 13">
                <a:extLst>
                  <a:ext uri="{FF2B5EF4-FFF2-40B4-BE49-F238E27FC236}">
                    <a16:creationId xmlns:a16="http://schemas.microsoft.com/office/drawing/2014/main" id="{2E0E0B87-E6A4-6A10-7F5D-EB6692A88F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67" y="1101"/>
                <a:ext cx="308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30000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  <a:endParaRPr lang="es-ES" sz="2400" dirty="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9" name="Group 14">
              <a:extLst>
                <a:ext uri="{FF2B5EF4-FFF2-40B4-BE49-F238E27FC236}">
                  <a16:creationId xmlns:a16="http://schemas.microsoft.com/office/drawing/2014/main" id="{7CAF265B-D20A-FDBE-45AA-2DE8C9CCE9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9466" y="4907507"/>
              <a:ext cx="1593850" cy="1616075"/>
              <a:chOff x="4894" y="1162"/>
              <a:chExt cx="1004" cy="1018"/>
            </a:xfrm>
          </p:grpSpPr>
          <p:sp>
            <p:nvSpPr>
              <p:cNvPr id="36" name="Text Box 15">
                <a:extLst>
                  <a:ext uri="{FF2B5EF4-FFF2-40B4-BE49-F238E27FC236}">
                    <a16:creationId xmlns:a16="http://schemas.microsoft.com/office/drawing/2014/main" id="{4D46D2E1-5AB0-1E30-BF32-7F19A54983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" y="1173"/>
                <a:ext cx="20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7" name="Text Box 16">
                <a:extLst>
                  <a:ext uri="{FF2B5EF4-FFF2-40B4-BE49-F238E27FC236}">
                    <a16:creationId xmlns:a16="http://schemas.microsoft.com/office/drawing/2014/main" id="{8D733255-C9D9-424D-CA4C-754A0821DF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" y="1362"/>
                <a:ext cx="20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8" name="Text Box 17">
                <a:extLst>
                  <a:ext uri="{FF2B5EF4-FFF2-40B4-BE49-F238E27FC236}">
                    <a16:creationId xmlns:a16="http://schemas.microsoft.com/office/drawing/2014/main" id="{1D8AC2C8-0CD2-1A96-9D02-96AA93F827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" y="1550"/>
                <a:ext cx="20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9" name="Text Box 18">
                <a:extLst>
                  <a:ext uri="{FF2B5EF4-FFF2-40B4-BE49-F238E27FC236}">
                    <a16:creationId xmlns:a16="http://schemas.microsoft.com/office/drawing/2014/main" id="{CD551463-8AAA-654B-8579-069DE75FA0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" y="1739"/>
                <a:ext cx="20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" name="Text Box 19">
                <a:extLst>
                  <a:ext uri="{FF2B5EF4-FFF2-40B4-BE49-F238E27FC236}">
                    <a16:creationId xmlns:a16="http://schemas.microsoft.com/office/drawing/2014/main" id="{8AD886E3-BFF8-773B-13AC-DF086CF653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" y="1927"/>
                <a:ext cx="20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1" name="Text Box 20">
                <a:extLst>
                  <a:ext uri="{FF2B5EF4-FFF2-40B4-BE49-F238E27FC236}">
                    <a16:creationId xmlns:a16="http://schemas.microsoft.com/office/drawing/2014/main" id="{762C7C5D-053D-F34A-6DF6-F0E79C0498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3" y="1162"/>
                <a:ext cx="16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78" name="Text Box 21">
                <a:extLst>
                  <a:ext uri="{FF2B5EF4-FFF2-40B4-BE49-F238E27FC236}">
                    <a16:creationId xmlns:a16="http://schemas.microsoft.com/office/drawing/2014/main" id="{35F4335D-E63E-95B9-C835-A004320E0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3" y="1351"/>
                <a:ext cx="16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80" name="Text Box 22">
                <a:extLst>
                  <a:ext uri="{FF2B5EF4-FFF2-40B4-BE49-F238E27FC236}">
                    <a16:creationId xmlns:a16="http://schemas.microsoft.com/office/drawing/2014/main" id="{C4E9753C-8340-66FE-EDA3-A6C94B82AB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3" y="1539"/>
                <a:ext cx="16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81" name="Text Box 23">
                <a:extLst>
                  <a:ext uri="{FF2B5EF4-FFF2-40B4-BE49-F238E27FC236}">
                    <a16:creationId xmlns:a16="http://schemas.microsoft.com/office/drawing/2014/main" id="{7DFD0C02-E098-D93F-8966-D13FB9B332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3" y="1728"/>
                <a:ext cx="16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82" name="Text Box 24">
                <a:extLst>
                  <a:ext uri="{FF2B5EF4-FFF2-40B4-BE49-F238E27FC236}">
                    <a16:creationId xmlns:a16="http://schemas.microsoft.com/office/drawing/2014/main" id="{1470830B-CA64-E208-3846-EA181EFFC9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30" y="1916"/>
                <a:ext cx="168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20" name="Group 48">
              <a:extLst>
                <a:ext uri="{FF2B5EF4-FFF2-40B4-BE49-F238E27FC236}">
                  <a16:creationId xmlns:a16="http://schemas.microsoft.com/office/drawing/2014/main" id="{03BD299E-3697-FD0A-6242-2807F19EED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7116" y="5137414"/>
              <a:ext cx="1146175" cy="1219200"/>
              <a:chOff x="3288" y="2713"/>
              <a:chExt cx="722" cy="768"/>
            </a:xfrm>
          </p:grpSpPr>
          <p:grpSp>
            <p:nvGrpSpPr>
              <p:cNvPr id="24" name="Group 25">
                <a:extLst>
                  <a:ext uri="{FF2B5EF4-FFF2-40B4-BE49-F238E27FC236}">
                    <a16:creationId xmlns:a16="http://schemas.microsoft.com/office/drawing/2014/main" id="{55A9F088-691B-94FA-A24F-C4958CDDC3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88" y="2713"/>
                <a:ext cx="386" cy="768"/>
                <a:chOff x="5066" y="1301"/>
                <a:chExt cx="692" cy="768"/>
              </a:xfrm>
            </p:grpSpPr>
            <p:sp>
              <p:nvSpPr>
                <p:cNvPr id="31" name="Line 26">
                  <a:extLst>
                    <a:ext uri="{FF2B5EF4-FFF2-40B4-BE49-F238E27FC236}">
                      <a16:creationId xmlns:a16="http://schemas.microsoft.com/office/drawing/2014/main" id="{52204081-59F9-6BB6-C692-F086CBECFC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301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2" name="Line 27">
                  <a:extLst>
                    <a:ext uri="{FF2B5EF4-FFF2-40B4-BE49-F238E27FC236}">
                      <a16:creationId xmlns:a16="http://schemas.microsoft.com/office/drawing/2014/main" id="{C2826629-72B7-E59F-1793-549111649B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493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3" name="Line 28">
                  <a:extLst>
                    <a:ext uri="{FF2B5EF4-FFF2-40B4-BE49-F238E27FC236}">
                      <a16:creationId xmlns:a16="http://schemas.microsoft.com/office/drawing/2014/main" id="{E4D11B39-73C1-700F-BA81-E7F951183A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685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4" name="Line 29">
                  <a:extLst>
                    <a:ext uri="{FF2B5EF4-FFF2-40B4-BE49-F238E27FC236}">
                      <a16:creationId xmlns:a16="http://schemas.microsoft.com/office/drawing/2014/main" id="{CBBDD915-6A4B-C227-F7CF-BB1AD23CA8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877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5" name="Line 30">
                  <a:extLst>
                    <a:ext uri="{FF2B5EF4-FFF2-40B4-BE49-F238E27FC236}">
                      <a16:creationId xmlns:a16="http://schemas.microsoft.com/office/drawing/2014/main" id="{7F4E74AA-A63A-4C50-B816-572CA801CD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2069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25" name="Group 42">
                <a:extLst>
                  <a:ext uri="{FF2B5EF4-FFF2-40B4-BE49-F238E27FC236}">
                    <a16:creationId xmlns:a16="http://schemas.microsoft.com/office/drawing/2014/main" id="{11CD63DF-B149-AE02-B08A-FDF1986918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2" y="2713"/>
                <a:ext cx="378" cy="768"/>
                <a:chOff x="5066" y="1301"/>
                <a:chExt cx="692" cy="768"/>
              </a:xfrm>
            </p:grpSpPr>
            <p:sp>
              <p:nvSpPr>
                <p:cNvPr id="26" name="Line 43">
                  <a:extLst>
                    <a:ext uri="{FF2B5EF4-FFF2-40B4-BE49-F238E27FC236}">
                      <a16:creationId xmlns:a16="http://schemas.microsoft.com/office/drawing/2014/main" id="{31E903C6-F253-3540-2A5A-4C757106B3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301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7" name="Line 44">
                  <a:extLst>
                    <a:ext uri="{FF2B5EF4-FFF2-40B4-BE49-F238E27FC236}">
                      <a16:creationId xmlns:a16="http://schemas.microsoft.com/office/drawing/2014/main" id="{C1D23A98-940F-D38E-E740-79B70557BE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493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8" name="Line 45">
                  <a:extLst>
                    <a:ext uri="{FF2B5EF4-FFF2-40B4-BE49-F238E27FC236}">
                      <a16:creationId xmlns:a16="http://schemas.microsoft.com/office/drawing/2014/main" id="{50C5C145-903F-2EBF-5F62-B9DC8F648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685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9" name="Line 46">
                  <a:extLst>
                    <a:ext uri="{FF2B5EF4-FFF2-40B4-BE49-F238E27FC236}">
                      <a16:creationId xmlns:a16="http://schemas.microsoft.com/office/drawing/2014/main" id="{A8A16D7C-76C3-E9BF-6261-6C0D236563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1877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0" name="Line 47">
                  <a:extLst>
                    <a:ext uri="{FF2B5EF4-FFF2-40B4-BE49-F238E27FC236}">
                      <a16:creationId xmlns:a16="http://schemas.microsoft.com/office/drawing/2014/main" id="{97B999D1-D8F9-F18D-1B19-203AE5E634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2069"/>
                  <a:ext cx="69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/>
                </a:p>
              </p:txBody>
            </p:sp>
          </p:grpSp>
        </p:grp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7884E697-1DC0-E7CA-A47C-8CF1DB2987BE}"/>
                </a:ext>
              </a:extLst>
            </p:cNvPr>
            <p:cNvCxnSpPr/>
            <p:nvPr/>
          </p:nvCxnSpPr>
          <p:spPr bwMode="auto">
            <a:xfrm>
              <a:off x="2167118" y="6586183"/>
              <a:ext cx="1176173" cy="0"/>
            </a:xfrm>
            <a:prstGeom prst="line">
              <a:avLst/>
            </a:prstGeom>
            <a:noFill/>
            <a:ln w="19050" cap="flat" cmpd="sng" algn="ctr">
              <a:solidFill>
                <a:srgbClr val="3333FF"/>
              </a:solidFill>
              <a:prstDash val="solid"/>
              <a:round/>
              <a:headEnd type="triangle" w="med" len="lg"/>
              <a:tailEnd type="triangle" w="med" len="lg"/>
            </a:ln>
            <a:effectLst/>
          </p:spPr>
        </p:cxnSp>
        <p:sp>
          <p:nvSpPr>
            <p:cNvPr id="23" name="CuadroTexto 6">
              <a:extLst>
                <a:ext uri="{FF2B5EF4-FFF2-40B4-BE49-F238E27FC236}">
                  <a16:creationId xmlns:a16="http://schemas.microsoft.com/office/drawing/2014/main" id="{9F0A504B-3DD9-719B-6B16-C22C916AE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1441" y="6466208"/>
              <a:ext cx="418485" cy="57629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800" dirty="0">
                  <a:solidFill>
                    <a:srgbClr val="3333FF"/>
                  </a:solidFill>
                  <a:sym typeface="Symbol" panose="05050102010706020507" pitchFamily="18" charset="2"/>
                </a:rPr>
                <a:t>d</a:t>
              </a:r>
              <a:endParaRPr lang="es-ES" sz="2800" dirty="0">
                <a:solidFill>
                  <a:srgbClr val="3333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507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8" grpId="0" animBg="1"/>
      <p:bldP spid="37907" grpId="0"/>
      <p:bldP spid="65" grpId="0"/>
      <p:bldP spid="37915" grpId="0" animBg="1"/>
      <p:bldP spid="7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46" name="Group 4"/>
          <p:cNvGrpSpPr>
            <a:grpSpLocks/>
          </p:cNvGrpSpPr>
          <p:nvPr/>
        </p:nvGrpSpPr>
        <p:grpSpPr bwMode="auto">
          <a:xfrm>
            <a:off x="7717400" y="990129"/>
            <a:ext cx="2063750" cy="1366891"/>
            <a:chOff x="5133" y="2692"/>
            <a:chExt cx="1300" cy="861"/>
          </a:xfrm>
        </p:grpSpPr>
        <p:sp>
          <p:nvSpPr>
            <p:cNvPr id="37956" name="Rectangle 5"/>
            <p:cNvSpPr>
              <a:spLocks noChangeArrowheads="1"/>
            </p:cNvSpPr>
            <p:nvPr/>
          </p:nvSpPr>
          <p:spPr bwMode="auto">
            <a:xfrm>
              <a:off x="5133" y="2692"/>
              <a:ext cx="1300" cy="86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49" name="Text Box 6"/>
            <p:cNvSpPr txBox="1">
              <a:spLocks noChangeArrowheads="1"/>
            </p:cNvSpPr>
            <p:nvPr/>
          </p:nvSpPr>
          <p:spPr bwMode="auto">
            <a:xfrm>
              <a:off x="5250" y="2959"/>
              <a:ext cx="6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 =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7950" name="Line 7"/>
            <p:cNvSpPr>
              <a:spLocks noChangeShapeType="1"/>
            </p:cNvSpPr>
            <p:nvPr/>
          </p:nvSpPr>
          <p:spPr bwMode="auto">
            <a:xfrm flipV="1">
              <a:off x="5915" y="3129"/>
              <a:ext cx="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37951" name="Text Box 8"/>
            <p:cNvSpPr txBox="1">
              <a:spLocks noChangeArrowheads="1"/>
            </p:cNvSpPr>
            <p:nvPr/>
          </p:nvSpPr>
          <p:spPr bwMode="auto">
            <a:xfrm>
              <a:off x="5949" y="2850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7952" name="Text Box 9"/>
            <p:cNvSpPr txBox="1">
              <a:spLocks noChangeArrowheads="1"/>
            </p:cNvSpPr>
            <p:nvPr/>
          </p:nvSpPr>
          <p:spPr bwMode="auto">
            <a:xfrm>
              <a:off x="5949" y="3122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</p:grp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7140268" y="344329"/>
            <a:ext cx="3198092" cy="514737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BFBFB"/>
                </a:solidFill>
                <a:latin typeface="Arial" panose="020B0604020202020204" pitchFamily="34" charset="0"/>
              </a:rPr>
              <a:t>Condensador PLANO</a:t>
            </a:r>
          </a:p>
        </p:txBody>
      </p: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5077274" y="1044132"/>
            <a:ext cx="1377950" cy="1260475"/>
            <a:chOff x="2654" y="1182"/>
            <a:chExt cx="868" cy="794"/>
          </a:xfrm>
        </p:grpSpPr>
        <p:sp>
          <p:nvSpPr>
            <p:cNvPr id="37941" name="Rectangle 9"/>
            <p:cNvSpPr>
              <a:spLocks noChangeArrowheads="1"/>
            </p:cNvSpPr>
            <p:nvPr/>
          </p:nvSpPr>
          <p:spPr bwMode="auto">
            <a:xfrm>
              <a:off x="2654" y="1182"/>
              <a:ext cx="868" cy="79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42" name="Text Box 10"/>
            <p:cNvSpPr txBox="1">
              <a:spLocks noChangeArrowheads="1"/>
            </p:cNvSpPr>
            <p:nvPr/>
          </p:nvSpPr>
          <p:spPr bwMode="auto">
            <a:xfrm>
              <a:off x="2724" y="1419"/>
              <a:ext cx="41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 = </a:t>
              </a:r>
            </a:p>
          </p:txBody>
        </p:sp>
        <p:sp>
          <p:nvSpPr>
            <p:cNvPr id="37943" name="Line 11"/>
            <p:cNvSpPr>
              <a:spLocks noChangeShapeType="1"/>
            </p:cNvSpPr>
            <p:nvPr/>
          </p:nvSpPr>
          <p:spPr bwMode="auto">
            <a:xfrm>
              <a:off x="3125" y="1570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37944" name="Text Box 12"/>
            <p:cNvSpPr txBox="1">
              <a:spLocks noChangeArrowheads="1"/>
            </p:cNvSpPr>
            <p:nvPr/>
          </p:nvSpPr>
          <p:spPr bwMode="auto">
            <a:xfrm>
              <a:off x="3120" y="1243"/>
              <a:ext cx="2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37945" name="Text Box 13"/>
            <p:cNvSpPr txBox="1">
              <a:spLocks noChangeArrowheads="1"/>
            </p:cNvSpPr>
            <p:nvPr/>
          </p:nvSpPr>
          <p:spPr bwMode="auto">
            <a:xfrm>
              <a:off x="3128" y="1648"/>
              <a:ext cx="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</a:p>
          </p:txBody>
        </p:sp>
      </p:grpSp>
      <p:sp>
        <p:nvSpPr>
          <p:cNvPr id="2111" name="AutoShape 83"/>
          <p:cNvSpPr>
            <a:spLocks noChangeArrowheads="1"/>
          </p:cNvSpPr>
          <p:nvPr/>
        </p:nvSpPr>
        <p:spPr bwMode="auto">
          <a:xfrm>
            <a:off x="6852158" y="1360044"/>
            <a:ext cx="363537" cy="647700"/>
          </a:xfrm>
          <a:prstGeom prst="rightArrow">
            <a:avLst>
              <a:gd name="adj1" fmla="val 54796"/>
              <a:gd name="adj2" fmla="val 4890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1476D26C-9F3F-45D9-9829-935C46907992}"/>
              </a:ext>
            </a:extLst>
          </p:cNvPr>
          <p:cNvGrpSpPr/>
          <p:nvPr/>
        </p:nvGrpSpPr>
        <p:grpSpPr>
          <a:xfrm>
            <a:off x="1522405" y="2445639"/>
            <a:ext cx="4261108" cy="609600"/>
            <a:chOff x="2217482" y="3862070"/>
            <a:chExt cx="4261108" cy="609600"/>
          </a:xfrm>
        </p:grpSpPr>
        <p:sp>
          <p:nvSpPr>
            <p:cNvPr id="37934" name="Text Box 29"/>
            <p:cNvSpPr txBox="1">
              <a:spLocks noChangeArrowheads="1"/>
            </p:cNvSpPr>
            <p:nvPr/>
          </p:nvSpPr>
          <p:spPr bwMode="auto">
            <a:xfrm>
              <a:off x="5400675" y="3862070"/>
              <a:ext cx="1077915" cy="6096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: F/m</a:t>
              </a:r>
            </a:p>
          </p:txBody>
        </p:sp>
        <p:sp>
          <p:nvSpPr>
            <p:cNvPr id="37935" name="Text Box 67"/>
            <p:cNvSpPr txBox="1">
              <a:spLocks noChangeArrowheads="1"/>
            </p:cNvSpPr>
            <p:nvPr/>
          </p:nvSpPr>
          <p:spPr bwMode="auto">
            <a:xfrm>
              <a:off x="2217482" y="3931647"/>
              <a:ext cx="3302102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>
                  <a:latin typeface="Arial" panose="020B0604020202020204" pitchFamily="34" charset="0"/>
                </a:rPr>
                <a:t>Unidad alternativa de</a:t>
              </a:r>
            </a:p>
          </p:txBody>
        </p:sp>
      </p:grpSp>
      <p:sp>
        <p:nvSpPr>
          <p:cNvPr id="45" name="AutoShape 83"/>
          <p:cNvSpPr>
            <a:spLocks noChangeArrowheads="1"/>
          </p:cNvSpPr>
          <p:nvPr/>
        </p:nvSpPr>
        <p:spPr bwMode="auto">
          <a:xfrm>
            <a:off x="4309865" y="1351965"/>
            <a:ext cx="363537" cy="647700"/>
          </a:xfrm>
          <a:prstGeom prst="rightArrow">
            <a:avLst>
              <a:gd name="adj1" fmla="val 54796"/>
              <a:gd name="adj2" fmla="val 4890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5F9CE28-FF23-4B0A-9A39-B55E26E45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0532" y="3033873"/>
            <a:ext cx="7896098" cy="1253402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b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b="0">
                <a:solidFill>
                  <a:schemeClr val="tx1"/>
                </a:solidFill>
              </a:rPr>
              <a:t>C se puede cambiar variando </a:t>
            </a:r>
            <a:r>
              <a:rPr lang="es-ES" sz="2400" b="0">
                <a:solidFill>
                  <a:schemeClr val="tx1"/>
                </a:solidFill>
                <a:sym typeface="Symbol" panose="05050102010706020507" pitchFamily="18" charset="2"/>
              </a:rPr>
              <a:t>, A o d, es decir, variando aquello de lo que depende: </a:t>
            </a:r>
            <a:r>
              <a:rPr lang="es-ES" sz="2400" b="0">
                <a:solidFill>
                  <a:srgbClr val="3333FF"/>
                </a:solidFill>
                <a:sym typeface="Symbol" panose="05050102010706020507" pitchFamily="18" charset="2"/>
              </a:rPr>
              <a:t>el medio entre las placas o la geometría del condensador</a:t>
            </a:r>
            <a:endParaRPr lang="es-ES" sz="2400" b="0">
              <a:solidFill>
                <a:srgbClr val="3333FF"/>
              </a:solidFill>
            </a:endParaRPr>
          </a:p>
        </p:txBody>
      </p:sp>
      <p:sp>
        <p:nvSpPr>
          <p:cNvPr id="32" name="Text Box 67">
            <a:extLst>
              <a:ext uri="{FF2B5EF4-FFF2-40B4-BE49-F238E27FC236}">
                <a16:creationId xmlns:a16="http://schemas.microsoft.com/office/drawing/2014/main" id="{E9CB961D-43A1-4698-BECB-13C21ECE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478" y="4451100"/>
            <a:ext cx="5243998" cy="238320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P.ej., si una tecla tiene asociado un condensador: Al pulsarla o liberarla, d varía, C varía, y con V fija, varía Q, hay corriente, carga o descarga. Con eso se detecta lo que sucede. Si no hay, indica que mantiene su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79AF5F-2A0A-4BD3-95DD-DCE71FA11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306" y="4466637"/>
            <a:ext cx="3001617" cy="1898374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E82442A8-ADAD-AD37-F2FA-5D47277002DA}"/>
              </a:ext>
            </a:extLst>
          </p:cNvPr>
          <p:cNvGrpSpPr/>
          <p:nvPr/>
        </p:nvGrpSpPr>
        <p:grpSpPr>
          <a:xfrm>
            <a:off x="1457652" y="1155868"/>
            <a:ext cx="2616326" cy="1068388"/>
            <a:chOff x="1457652" y="1155868"/>
            <a:chExt cx="2616326" cy="1068388"/>
          </a:xfrm>
        </p:grpSpPr>
        <p:grpSp>
          <p:nvGrpSpPr>
            <p:cNvPr id="6" name="Grupo 5"/>
            <p:cNvGrpSpPr/>
            <p:nvPr/>
          </p:nvGrpSpPr>
          <p:grpSpPr>
            <a:xfrm>
              <a:off x="1457652" y="1155868"/>
              <a:ext cx="2616326" cy="1068388"/>
              <a:chOff x="3931022" y="1061836"/>
              <a:chExt cx="2616326" cy="1068388"/>
            </a:xfrm>
          </p:grpSpPr>
          <p:sp>
            <p:nvSpPr>
              <p:cNvPr id="75" name="Text Box 61"/>
              <p:cNvSpPr txBox="1">
                <a:spLocks noChangeArrowheads="1"/>
              </p:cNvSpPr>
              <p:nvPr/>
            </p:nvSpPr>
            <p:spPr bwMode="auto">
              <a:xfrm>
                <a:off x="3931022" y="1311074"/>
                <a:ext cx="420606" cy="525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800">
                    <a:latin typeface="Arial" panose="020B0604020202020204" pitchFamily="34" charset="0"/>
                  </a:rPr>
                  <a:t>V</a:t>
                </a:r>
              </a:p>
            </p:txBody>
          </p:sp>
          <p:grpSp>
            <p:nvGrpSpPr>
              <p:cNvPr id="68" name="Group 76"/>
              <p:cNvGrpSpPr>
                <a:grpSpLocks/>
              </p:cNvGrpSpPr>
              <p:nvPr/>
            </p:nvGrpSpPr>
            <p:grpSpPr bwMode="auto">
              <a:xfrm>
                <a:off x="4276319" y="1061836"/>
                <a:ext cx="2271029" cy="1068388"/>
                <a:chOff x="5695" y="1515"/>
                <a:chExt cx="1431" cy="673"/>
              </a:xfrm>
            </p:grpSpPr>
            <p:grpSp>
              <p:nvGrpSpPr>
                <p:cNvPr id="69" name="Group 62"/>
                <p:cNvGrpSpPr>
                  <a:grpSpLocks/>
                </p:cNvGrpSpPr>
                <p:nvPr/>
              </p:nvGrpSpPr>
              <p:grpSpPr bwMode="auto">
                <a:xfrm>
                  <a:off x="6435" y="1515"/>
                  <a:ext cx="691" cy="673"/>
                  <a:chOff x="4237" y="3681"/>
                  <a:chExt cx="691" cy="673"/>
                </a:xfrm>
              </p:grpSpPr>
              <p:sp>
                <p:nvSpPr>
                  <p:cNvPr id="71" name="Line 6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05" y="4014"/>
                    <a:ext cx="320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800"/>
                  </a:p>
                </p:txBody>
              </p:sp>
              <p:sp>
                <p:nvSpPr>
                  <p:cNvPr id="72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11" y="3681"/>
                    <a:ext cx="338" cy="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800" dirty="0">
                        <a:latin typeface="Arial" panose="020B0604020202020204" pitchFamily="34" charset="0"/>
                      </a:rPr>
                      <a:t>Q</a:t>
                    </a:r>
                    <a:endParaRPr lang="es-ES" sz="2800" baseline="300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3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37" y="4023"/>
                    <a:ext cx="498" cy="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800" dirty="0">
                        <a:latin typeface="Arial" panose="020B0604020202020204" pitchFamily="34" charset="0"/>
                        <a:sym typeface="Symbol" panose="05050102010706020507" pitchFamily="18" charset="2"/>
                      </a:rPr>
                      <a:t></a:t>
                    </a:r>
                    <a:r>
                      <a:rPr lang="es-ES" sz="2800" baseline="-25000" dirty="0">
                        <a:latin typeface="Arial" panose="020B0604020202020204" pitchFamily="34" charset="0"/>
                        <a:sym typeface="Symbol" panose="05050102010706020507" pitchFamily="18" charset="2"/>
                      </a:rPr>
                      <a:t>0</a:t>
                    </a:r>
                    <a:r>
                      <a:rPr lang="es-ES" sz="2800" dirty="0">
                        <a:latin typeface="Arial" panose="020B0604020202020204" pitchFamily="34" charset="0"/>
                        <a:sym typeface="Symbol" panose="05050102010706020507" pitchFamily="18" charset="2"/>
                      </a:rPr>
                      <a:t> </a:t>
                    </a:r>
                    <a:r>
                      <a:rPr lang="es-ES" sz="2800" dirty="0">
                        <a:latin typeface="Arial" panose="020B0604020202020204" pitchFamily="34" charset="0"/>
                      </a:rPr>
                      <a:t>A</a:t>
                    </a:r>
                  </a:p>
                </p:txBody>
              </p:sp>
              <p:sp>
                <p:nvSpPr>
                  <p:cNvPr id="74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7" y="3826"/>
                    <a:ext cx="241" cy="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800" dirty="0">
                        <a:latin typeface="Arial" panose="020B0604020202020204" pitchFamily="34" charset="0"/>
                      </a:rPr>
                      <a:t>d</a:t>
                    </a:r>
                  </a:p>
                </p:txBody>
              </p:sp>
            </p:grpSp>
            <p:sp>
              <p:nvSpPr>
                <p:cNvPr id="70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5695" y="1672"/>
                  <a:ext cx="247" cy="3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800" dirty="0">
                      <a:latin typeface="Arial" panose="020B0604020202020204" pitchFamily="34" charset="0"/>
                    </a:rPr>
                    <a:t>=</a:t>
                  </a:r>
                </a:p>
              </p:txBody>
            </p:sp>
          </p:grpSp>
        </p:grpSp>
        <p:sp>
          <p:nvSpPr>
            <p:cNvPr id="3" name="Text Box 72">
              <a:extLst>
                <a:ext uri="{FF2B5EF4-FFF2-40B4-BE49-F238E27FC236}">
                  <a16:creationId xmlns:a16="http://schemas.microsoft.com/office/drawing/2014/main" id="{1985D1D6-A767-C0E9-8F45-3CA2AEA0F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240" y="1394026"/>
              <a:ext cx="391995" cy="598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dirty="0"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7" name="Text Box 66">
              <a:extLst>
                <a:ext uri="{FF2B5EF4-FFF2-40B4-BE49-F238E27FC236}">
                  <a16:creationId xmlns:a16="http://schemas.microsoft.com/office/drawing/2014/main" id="{FD99F342-5180-38E5-BD2F-E138F0415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7583" y="1400826"/>
              <a:ext cx="720367" cy="525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dirty="0">
                  <a:latin typeface="Arial" panose="020B0604020202020204" pitchFamily="34" charset="0"/>
                </a:rPr>
                <a:t>E 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3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11" grpId="0" animBg="1"/>
      <p:bldP spid="45" grpId="0" animBg="1"/>
      <p:bldP spid="42" grpId="0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11443</TotalTime>
  <Words>3429</Words>
  <Application>Microsoft Office PowerPoint</Application>
  <PresentationFormat>Personalizado</PresentationFormat>
  <Paragraphs>533</Paragraphs>
  <Slides>30</Slides>
  <Notes>29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9" baseType="lpstr">
      <vt:lpstr>Arial</vt:lpstr>
      <vt:lpstr>Cambria Math</vt:lpstr>
      <vt:lpstr>Comic Sans MS</vt:lpstr>
      <vt:lpstr>Symbol</vt:lpstr>
      <vt:lpstr>Times New Roman</vt:lpstr>
      <vt:lpstr>Trebuchet MS</vt:lpstr>
      <vt:lpstr>Wingdings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KIKE</cp:lastModifiedBy>
  <cp:revision>1716</cp:revision>
  <dcterms:created xsi:type="dcterms:W3CDTF">2012-02-20T13:06:36Z</dcterms:created>
  <dcterms:modified xsi:type="dcterms:W3CDTF">2024-10-22T17:21:28Z</dcterms:modified>
</cp:coreProperties>
</file>