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handoutMasterIdLst>
    <p:handoutMasterId r:id="rId35"/>
  </p:handoutMasterIdLst>
  <p:sldIdLst>
    <p:sldId id="683" r:id="rId2"/>
    <p:sldId id="543" r:id="rId3"/>
    <p:sldId id="707" r:id="rId4"/>
    <p:sldId id="715" r:id="rId5"/>
    <p:sldId id="725" r:id="rId6"/>
    <p:sldId id="701" r:id="rId7"/>
    <p:sldId id="726" r:id="rId8"/>
    <p:sldId id="702" r:id="rId9"/>
    <p:sldId id="727" r:id="rId10"/>
    <p:sldId id="697" r:id="rId11"/>
    <p:sldId id="729" r:id="rId12"/>
    <p:sldId id="698" r:id="rId13"/>
    <p:sldId id="718" r:id="rId14"/>
    <p:sldId id="699" r:id="rId15"/>
    <p:sldId id="706" r:id="rId16"/>
    <p:sldId id="700" r:id="rId17"/>
    <p:sldId id="724" r:id="rId18"/>
    <p:sldId id="691" r:id="rId19"/>
    <p:sldId id="719" r:id="rId20"/>
    <p:sldId id="692" r:id="rId21"/>
    <p:sldId id="733" r:id="rId22"/>
    <p:sldId id="693" r:id="rId23"/>
    <p:sldId id="710" r:id="rId24"/>
    <p:sldId id="734" r:id="rId25"/>
    <p:sldId id="695" r:id="rId26"/>
    <p:sldId id="735" r:id="rId27"/>
    <p:sldId id="730" r:id="rId28"/>
    <p:sldId id="713" r:id="rId29"/>
    <p:sldId id="677" r:id="rId30"/>
    <p:sldId id="736" r:id="rId31"/>
    <p:sldId id="723" r:id="rId32"/>
    <p:sldId id="687" r:id="rId33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333FF"/>
    <a:srgbClr val="CCFFCC"/>
    <a:srgbClr val="008000"/>
    <a:srgbClr val="DDDDDD"/>
    <a:srgbClr val="C0C0C0"/>
    <a:srgbClr val="666699"/>
    <a:srgbClr val="FF00FF"/>
    <a:srgbClr val="969696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39" autoAdjust="0"/>
    <p:restoredTop sz="96021" autoAdjust="0"/>
  </p:normalViewPr>
  <p:slideViewPr>
    <p:cSldViewPr snapToGrid="0" showGuides="1">
      <p:cViewPr varScale="1">
        <p:scale>
          <a:sx n="96" d="100"/>
          <a:sy n="96" d="100"/>
        </p:scale>
        <p:origin x="1488" y="84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1394BF8-7269-49A2-9A53-2638C05E7EE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0397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4C674D0-6F19-49A3-BC4E-D32318717DB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300854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332644-1DD7-4BC0-81E2-BD0D196A3DBF}" type="slidenum">
              <a:rPr lang="es-ES" smtClean="0"/>
              <a:pPr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618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33B40F-C1AB-4521-8C8F-870DD448BD9D}" type="slidenum">
              <a:rPr lang="es-ES" smtClean="0"/>
              <a:pPr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722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6EECDD-8D83-48E6-817D-51C0A7466F23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745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6EECDD-8D83-48E6-817D-51C0A7466F23}" type="slidenum">
              <a:rPr lang="es-ES" smtClean="0"/>
              <a:pPr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112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6EECDD-8D83-48E6-817D-51C0A7466F23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70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2A29A8-E4FD-4602-A5A9-460FBB8FE127}" type="slidenum">
              <a:rPr lang="es-ES"/>
              <a:pPr algn="r" eaLnBrk="1" hangingPunct="1"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746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2A29A8-E4FD-4602-A5A9-460FBB8FE127}" type="slidenum">
              <a:rPr lang="es-ES"/>
              <a:pPr algn="r" eaLnBrk="1" hangingPunct="1"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927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4F604BE-00B1-4375-8EFD-A1017325620E}" type="slidenum">
              <a:rPr lang="es-ES"/>
              <a:pPr algn="r" eaLnBrk="1" hangingPunct="1"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229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4F604BE-00B1-4375-8EFD-A1017325620E}" type="slidenum">
              <a:rPr lang="es-ES"/>
              <a:pPr algn="r" eaLnBrk="1" hangingPunct="1"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415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2D53007-777A-48E7-989C-21E41A8E8E84}" type="slidenum">
              <a:rPr lang="es-ES"/>
              <a:pPr algn="r" eaLnBrk="1" hangingPunct="1"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92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2D53007-777A-48E7-989C-21E41A8E8E84}" type="slidenum">
              <a:rPr lang="es-ES"/>
              <a:pPr algn="r" eaLnBrk="1" hangingPunct="1"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738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D84071B-489E-42FB-B382-A5C6A94CE311}" type="slidenum">
              <a:rPr lang="es-ES"/>
              <a:pPr algn="r" eaLnBrk="1" hangingPunct="1"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6529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D84071B-489E-42FB-B382-A5C6A94CE311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278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F0B0F53-70C6-4DC9-97A2-F374A8C3F0B9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372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D1E3E1C-4518-4424-BA9C-7E53BF272E3F}" type="slidenum">
              <a:rPr lang="es-ES"/>
              <a:pPr algn="r" eaLnBrk="1" hangingPunct="1"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247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5BD945-3AA3-4629-9BC6-EDB9D490EA5B}" type="slidenum">
              <a:rPr lang="es-ES"/>
              <a:pPr algn="r" eaLnBrk="1" hangingPunct="1"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105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D1E3E1C-4518-4424-BA9C-7E53BF272E3F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7027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6F84F1-00EF-4D88-A7B4-5CDDBF0FA834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597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6F84F1-00EF-4D88-A7B4-5CDDBF0FA834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920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42415E-66E2-4045-BAF2-5FE6A9FA9420}" type="slidenum">
              <a:rPr lang="es-ES"/>
              <a:pPr algn="r" eaLnBrk="1" hangingPunct="1"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3100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42415E-66E2-4045-BAF2-5FE6A9FA9420}" type="slidenum">
              <a:rPr lang="es-ES"/>
              <a:pPr algn="r" eaLnBrk="1" hangingPunct="1"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0503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8E9773F-4F95-49E5-9E6B-4C6CFFEE6482}" type="slidenum">
              <a:rPr lang="es-ES"/>
              <a:pPr algn="r" eaLnBrk="1" hangingPunct="1"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8797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A6F84F1-00EF-4D88-A7B4-5CDDBF0FA834}" type="slidenum">
              <a:rPr lang="es-ES"/>
              <a:pPr algn="r" eaLnBrk="1" hangingPunct="1"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42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8E9773F-4F95-49E5-9E6B-4C6CFFEE6482}" type="slidenum">
              <a:rPr lang="es-ES"/>
              <a:pPr algn="r" eaLnBrk="1" hangingPunct="1"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053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277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277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0B761E-7748-4F43-B16F-5B02346089A9}" type="slidenum">
              <a:rPr lang="es-ES"/>
              <a:pPr algn="r" eaLnBrk="1" hangingPunct="1"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4389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07AA9D-8EDB-4CE9-B6EE-4F6DB02A6F46}" type="slidenum">
              <a:rPr lang="es-ES" smtClean="0"/>
              <a:pPr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7441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07AA9D-8EDB-4CE9-B6EE-4F6DB02A6F46}" type="slidenum">
              <a:rPr lang="es-ES" smtClean="0"/>
              <a:pPr>
                <a:spcBef>
                  <a:spcPct val="0"/>
                </a:spcBef>
              </a:pPr>
              <a:t>27</a:t>
            </a:fld>
            <a:endParaRPr lang="es-E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5271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A7A0E60-A318-41EE-BA1E-2D08015704D9}" type="slidenum">
              <a:rPr lang="es-ES"/>
              <a:pPr algn="r" eaLnBrk="1" hangingPunct="1">
                <a:spcBef>
                  <a:spcPct val="0"/>
                </a:spcBef>
              </a:pPr>
              <a:t>28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2632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19BC53-CF9C-4D8D-A7BB-51072EED7CF8}" type="slidenum">
              <a:rPr lang="es-ES" smtClean="0"/>
              <a:pPr>
                <a:spcBef>
                  <a:spcPct val="0"/>
                </a:spcBef>
              </a:pPr>
              <a:t>29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516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19BC53-CF9C-4D8D-A7BB-51072EED7CF8}" type="slidenum">
              <a:rPr lang="es-ES" smtClean="0"/>
              <a:pPr>
                <a:spcBef>
                  <a:spcPct val="0"/>
                </a:spcBef>
              </a:pPr>
              <a:t>30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0593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19BC53-CF9C-4D8D-A7BB-51072EED7CF8}" type="slidenum">
              <a:rPr lang="es-ES" smtClean="0"/>
              <a:pPr>
                <a:spcBef>
                  <a:spcPct val="0"/>
                </a:spcBef>
              </a:pPr>
              <a:t>31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87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72702-0F2D-426C-B276-D972BE8DD3B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73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3D175-D894-4783-9C8D-E5C6570B93D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166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1A541-3C58-4A87-AF68-B18A3CF941E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757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E3E2F-947A-477F-BCC6-B33490C1D9B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976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DC88F-4D65-4A08-A5F3-7AF082F5381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32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EFC92-2706-4370-A3FC-5B28A74D32D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509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1A8FB-3B24-40B0-8FC8-CD7393696BB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848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BE1832-C501-4D37-99AA-0B8AA02C005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89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C836E-8931-4C8F-8A66-A3585CFA84C7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97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5B6DB-694C-4DCC-8F40-69EAA897440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9197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23D85-B9C6-40D5-B891-A96E9B0596F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3623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60E37-084F-4593-9B5B-2B78B10411A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503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ctr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algn="ctr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6CF387B-B7E9-4EE5-B586-4EE6B53F8C8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emf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197225" y="3303588"/>
            <a:ext cx="5149850" cy="53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SEMICONDUCTORES Y DIODOS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368925" y="4805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(2/2)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9</a:t>
            </a:r>
          </a:p>
        </p:txBody>
      </p:sp>
      <p:sp>
        <p:nvSpPr>
          <p:cNvPr id="10" name="Text Box 65">
            <a:extLst>
              <a:ext uri="{FF2B5EF4-FFF2-40B4-BE49-F238E27FC236}">
                <a16:creationId xmlns:a16="http://schemas.microsoft.com/office/drawing/2014/main" id="{560EF4A3-02D0-4D1B-94F3-0BF805205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225" y="3929345"/>
            <a:ext cx="5149850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b="1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FÍSICA DEL ESTADO SÓLIDO</a:t>
            </a:r>
          </a:p>
        </p:txBody>
      </p:sp>
      <p:grpSp>
        <p:nvGrpSpPr>
          <p:cNvPr id="6" name="Group 23">
            <a:extLst>
              <a:ext uri="{FF2B5EF4-FFF2-40B4-BE49-F238E27FC236}">
                <a16:creationId xmlns:a16="http://schemas.microsoft.com/office/drawing/2014/main" id="{3B2ECF75-74A7-4BA9-87A7-C2313B8ADAF5}"/>
              </a:ext>
            </a:extLst>
          </p:cNvPr>
          <p:cNvGrpSpPr>
            <a:grpSpLocks/>
          </p:cNvGrpSpPr>
          <p:nvPr/>
        </p:nvGrpSpPr>
        <p:grpSpPr bwMode="auto">
          <a:xfrm>
            <a:off x="7098674" y="295979"/>
            <a:ext cx="3368676" cy="1858963"/>
            <a:chOff x="4796" y="276"/>
            <a:chExt cx="2122" cy="1171"/>
          </a:xfrm>
        </p:grpSpPr>
        <p:sp>
          <p:nvSpPr>
            <p:cNvPr id="7" name="AutoShape 1067">
              <a:extLst>
                <a:ext uri="{FF2B5EF4-FFF2-40B4-BE49-F238E27FC236}">
                  <a16:creationId xmlns:a16="http://schemas.microsoft.com/office/drawing/2014/main" id="{A1A71E18-9AAA-4396-91FE-C0D5E3CDB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" y="276"/>
              <a:ext cx="2122" cy="1171"/>
            </a:xfrm>
            <a:prstGeom prst="foldedCorner">
              <a:avLst>
                <a:gd name="adj" fmla="val 8913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Text Box 1068">
              <a:extLst>
                <a:ext uri="{FF2B5EF4-FFF2-40B4-BE49-F238E27FC236}">
                  <a16:creationId xmlns:a16="http://schemas.microsoft.com/office/drawing/2014/main" id="{208195A9-D599-47C7-A143-88FE9D743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1" y="348"/>
              <a:ext cx="1913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EXAMEN CONV. </a:t>
              </a:r>
              <a:r>
                <a:rPr lang="es-ES" sz="2400" b="1">
                  <a:latin typeface="Comic Sans MS" panose="030F0702030302020204" pitchFamily="66" charset="0"/>
                </a:rPr>
                <a:t>I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Jueves 16/01/25</a:t>
              </a:r>
            </a:p>
          </p:txBody>
        </p:sp>
        <p:sp>
          <p:nvSpPr>
            <p:cNvPr id="9" name="Text Box 1069">
              <a:extLst>
                <a:ext uri="{FF2B5EF4-FFF2-40B4-BE49-F238E27FC236}">
                  <a16:creationId xmlns:a16="http://schemas.microsoft.com/office/drawing/2014/main" id="{C06469D3-33EA-4246-B8DB-9726CD28A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0" y="905"/>
              <a:ext cx="1416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10:00 – 12:30</a:t>
              </a:r>
            </a:p>
          </p:txBody>
        </p:sp>
        <p:sp>
          <p:nvSpPr>
            <p:cNvPr id="11" name="Text Box 1062">
              <a:extLst>
                <a:ext uri="{FF2B5EF4-FFF2-40B4-BE49-F238E27FC236}">
                  <a16:creationId xmlns:a16="http://schemas.microsoft.com/office/drawing/2014/main" id="{1EB3AD2E-4354-4287-962A-FBA90F47A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7" y="1161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Aulas por fijar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CCF4851B-8266-0D27-B59E-705EA9604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1706" y="3837306"/>
            <a:ext cx="7897813" cy="76325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91CF2603-BD99-449F-9ADF-322309ACB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889" y="6439759"/>
            <a:ext cx="7897813" cy="47392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5F5FD6FB-E18F-4E4B-87B6-F0E6CBCB7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123" y="5803886"/>
            <a:ext cx="7897813" cy="47392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80" name="Rectangle 17"/>
          <p:cNvSpPr>
            <a:spLocks noChangeArrowheads="1"/>
          </p:cNvSpPr>
          <p:nvPr/>
        </p:nvSpPr>
        <p:spPr bwMode="auto">
          <a:xfrm>
            <a:off x="2201863" y="4834155"/>
            <a:ext cx="7897813" cy="76325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20"/>
          <p:cNvSpPr>
            <a:spLocks noChangeArrowheads="1"/>
          </p:cNvSpPr>
          <p:nvPr/>
        </p:nvSpPr>
        <p:spPr bwMode="auto">
          <a:xfrm>
            <a:off x="1470025" y="6478329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10"/>
          <p:cNvSpPr>
            <a:spLocks noChangeArrowheads="1"/>
          </p:cNvSpPr>
          <p:nvPr/>
        </p:nvSpPr>
        <p:spPr bwMode="auto">
          <a:xfrm>
            <a:off x="1465263" y="5808404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1465263" y="4833679"/>
            <a:ext cx="627062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2"/>
          <p:cNvSpPr>
            <a:spLocks noChangeArrowheads="1"/>
          </p:cNvSpPr>
          <p:nvPr/>
        </p:nvSpPr>
        <p:spPr bwMode="auto">
          <a:xfrm>
            <a:off x="1460500" y="3868479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3"/>
          <p:cNvSpPr>
            <a:spLocks noChangeArrowheads="1"/>
          </p:cNvSpPr>
          <p:nvPr/>
        </p:nvSpPr>
        <p:spPr bwMode="auto">
          <a:xfrm>
            <a:off x="1460500" y="2865768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4"/>
          <p:cNvSpPr>
            <a:spLocks noChangeArrowheads="1"/>
          </p:cNvSpPr>
          <p:nvPr/>
        </p:nvSpPr>
        <p:spPr bwMode="auto">
          <a:xfrm>
            <a:off x="1476375" y="1895806"/>
            <a:ext cx="627063" cy="417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7" name="Rectangle 5"/>
          <p:cNvSpPr>
            <a:spLocks noChangeArrowheads="1"/>
          </p:cNvSpPr>
          <p:nvPr/>
        </p:nvSpPr>
        <p:spPr bwMode="auto">
          <a:xfrm>
            <a:off x="1509713" y="582422"/>
            <a:ext cx="5456166" cy="962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9: SEMICONDUCTORES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 Y DIODOS</a:t>
            </a:r>
          </a:p>
        </p:txBody>
      </p:sp>
      <p:sp>
        <p:nvSpPr>
          <p:cNvPr id="7178" name="Rectangle 6"/>
          <p:cNvSpPr>
            <a:spLocks noChangeArrowheads="1"/>
          </p:cNvSpPr>
          <p:nvPr/>
        </p:nvSpPr>
        <p:spPr bwMode="auto">
          <a:xfrm>
            <a:off x="1436688" y="1870406"/>
            <a:ext cx="708025" cy="508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9.1.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9.2.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9.3.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9.4.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9.5.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9.6.</a:t>
            </a:r>
          </a:p>
        </p:txBody>
      </p:sp>
      <p:sp>
        <p:nvSpPr>
          <p:cNvPr id="7179" name="Rectangle 7"/>
          <p:cNvSpPr>
            <a:spLocks noChangeArrowheads="1"/>
          </p:cNvSpPr>
          <p:nvPr/>
        </p:nvSpPr>
        <p:spPr bwMode="auto">
          <a:xfrm>
            <a:off x="2185988" y="1859293"/>
            <a:ext cx="7969250" cy="508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Niveles de Energía y Conductividad en Sólidos: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Conductores, Semiconductores y Aislantes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Tipos de Semiconductores: Ecuación de Neutralidad. Interés del Dopaje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Generación y Recombinación de Pares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Electrón-Hueco: Ley de Acción de Masas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Corrientes en un Semiconductor: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Corriente de Desplazamiento y Corriente de Difusión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Unión PN en equilibrio y polarizada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s-ES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Curva Característica y Modelización de un Diodo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8586512" y="331968"/>
            <a:ext cx="205996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19/12/24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algn="r"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18/12/24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  <a:p>
            <a:pPr algn="r"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18/12/24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4" grpId="0" animBg="1"/>
      <p:bldP spid="7180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80B070DA-9323-4423-9D86-73EC07835CD2}"/>
              </a:ext>
            </a:extLst>
          </p:cNvPr>
          <p:cNvGrpSpPr/>
          <p:nvPr/>
        </p:nvGrpSpPr>
        <p:grpSpPr>
          <a:xfrm>
            <a:off x="7381208" y="2127342"/>
            <a:ext cx="2220912" cy="1306513"/>
            <a:chOff x="7381208" y="2029100"/>
            <a:chExt cx="2220912" cy="1306513"/>
          </a:xfrm>
        </p:grpSpPr>
        <p:sp>
          <p:nvSpPr>
            <p:cNvPr id="56352" name="40 Rectángulo"/>
            <p:cNvSpPr>
              <a:spLocks noChangeArrowheads="1"/>
            </p:cNvSpPr>
            <p:nvPr/>
          </p:nvSpPr>
          <p:spPr bwMode="auto">
            <a:xfrm>
              <a:off x="7381208" y="2049738"/>
              <a:ext cx="2220912" cy="1285875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tIns="118800" bIns="118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53" name="Text Box 19"/>
            <p:cNvSpPr txBox="1">
              <a:spLocks noChangeArrowheads="1"/>
            </p:cNvSpPr>
            <p:nvPr/>
          </p:nvSpPr>
          <p:spPr bwMode="auto">
            <a:xfrm>
              <a:off x="7452645" y="2773638"/>
              <a:ext cx="534987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56354" name="Text Box 20"/>
            <p:cNvSpPr txBox="1">
              <a:spLocks noChangeArrowheads="1"/>
            </p:cNvSpPr>
            <p:nvPr/>
          </p:nvSpPr>
          <p:spPr bwMode="auto">
            <a:xfrm>
              <a:off x="7452645" y="2054500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56355" name="Oval 38"/>
            <p:cNvSpPr>
              <a:spLocks noChangeArrowheads="1"/>
            </p:cNvSpPr>
            <p:nvPr/>
          </p:nvSpPr>
          <p:spPr bwMode="auto">
            <a:xfrm rot="16200000">
              <a:off x="8159083" y="2237063"/>
              <a:ext cx="179388" cy="179387"/>
            </a:xfrm>
            <a:prstGeom prst="ellipse">
              <a:avLst/>
            </a:prstGeom>
            <a:solidFill>
              <a:srgbClr val="99CC00"/>
            </a:solidFill>
            <a:ln w="12700" algn="ctr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vert="eaVert"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56" name="Oval 39"/>
            <p:cNvSpPr>
              <a:spLocks noChangeArrowheads="1"/>
            </p:cNvSpPr>
            <p:nvPr/>
          </p:nvSpPr>
          <p:spPr bwMode="auto">
            <a:xfrm rot="16200000">
              <a:off x="8159083" y="2987950"/>
              <a:ext cx="179388" cy="179387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vert="eaVert"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57" name="Line 40"/>
            <p:cNvSpPr>
              <a:spLocks noChangeShapeType="1"/>
            </p:cNvSpPr>
            <p:nvPr/>
          </p:nvSpPr>
          <p:spPr bwMode="auto">
            <a:xfrm rot="5400000">
              <a:off x="8025733" y="2699025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Ctr="1"/>
            <a:lstStyle/>
            <a:p>
              <a:endParaRPr lang="es-ES"/>
            </a:p>
          </p:txBody>
        </p:sp>
        <p:sp>
          <p:nvSpPr>
            <p:cNvPr id="56358" name="Text Box 41"/>
            <p:cNvSpPr txBox="1">
              <a:spLocks noChangeArrowheads="1"/>
            </p:cNvSpPr>
            <p:nvPr/>
          </p:nvSpPr>
          <p:spPr bwMode="auto">
            <a:xfrm>
              <a:off x="8125745" y="2029100"/>
              <a:ext cx="265112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56359" name="Text Box 42"/>
            <p:cNvSpPr txBox="1">
              <a:spLocks noChangeArrowheads="1"/>
            </p:cNvSpPr>
            <p:nvPr/>
          </p:nvSpPr>
          <p:spPr bwMode="auto">
            <a:xfrm rot="16200000">
              <a:off x="8081295" y="2814913"/>
              <a:ext cx="3302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cxnSp>
          <p:nvCxnSpPr>
            <p:cNvPr id="56362" name="50 Conector recto"/>
            <p:cNvCxnSpPr>
              <a:cxnSpLocks noChangeShapeType="1"/>
            </p:cNvCxnSpPr>
            <p:nvPr/>
          </p:nvCxnSpPr>
          <p:spPr bwMode="auto">
            <a:xfrm flipV="1">
              <a:off x="7966995" y="2443438"/>
              <a:ext cx="539750" cy="0"/>
            </a:xfrm>
            <a:prstGeom prst="lin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63" name="51 Conector recto"/>
            <p:cNvCxnSpPr>
              <a:cxnSpLocks noChangeShapeType="1"/>
            </p:cNvCxnSpPr>
            <p:nvPr/>
          </p:nvCxnSpPr>
          <p:spPr bwMode="auto">
            <a:xfrm flipV="1">
              <a:off x="7976520" y="2957788"/>
              <a:ext cx="541337" cy="0"/>
            </a:xfrm>
            <a:prstGeom prst="lin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62FD01FA-D815-4943-9620-0CCAB980E864}"/>
              </a:ext>
            </a:extLst>
          </p:cNvPr>
          <p:cNvGrpSpPr/>
          <p:nvPr/>
        </p:nvGrpSpPr>
        <p:grpSpPr>
          <a:xfrm>
            <a:off x="1932561" y="2137848"/>
            <a:ext cx="2220913" cy="1296988"/>
            <a:chOff x="1932561" y="2030462"/>
            <a:chExt cx="2220913" cy="1296988"/>
          </a:xfrm>
        </p:grpSpPr>
        <p:sp>
          <p:nvSpPr>
            <p:cNvPr id="56365" name="37 Rectángulo"/>
            <p:cNvSpPr>
              <a:spLocks noChangeArrowheads="1"/>
            </p:cNvSpPr>
            <p:nvPr/>
          </p:nvSpPr>
          <p:spPr bwMode="auto">
            <a:xfrm>
              <a:off x="1932561" y="2041575"/>
              <a:ext cx="2220913" cy="1285875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tIns="118800" bIns="118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66" name="Text Box 19"/>
            <p:cNvSpPr txBox="1">
              <a:spLocks noChangeArrowheads="1"/>
            </p:cNvSpPr>
            <p:nvPr/>
          </p:nvSpPr>
          <p:spPr bwMode="auto">
            <a:xfrm>
              <a:off x="2003999" y="2781350"/>
              <a:ext cx="53498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56367" name="Text Box 20"/>
            <p:cNvSpPr txBox="1">
              <a:spLocks noChangeArrowheads="1"/>
            </p:cNvSpPr>
            <p:nvPr/>
          </p:nvSpPr>
          <p:spPr bwMode="auto">
            <a:xfrm>
              <a:off x="2003999" y="2030462"/>
              <a:ext cx="5492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cxnSp>
          <p:nvCxnSpPr>
            <p:cNvPr id="56375" name="34 Conector recto"/>
            <p:cNvCxnSpPr>
              <a:cxnSpLocks noChangeShapeType="1"/>
            </p:cNvCxnSpPr>
            <p:nvPr/>
          </p:nvCxnSpPr>
          <p:spPr bwMode="auto">
            <a:xfrm flipV="1">
              <a:off x="2518349" y="2435275"/>
              <a:ext cx="539750" cy="0"/>
            </a:xfrm>
            <a:prstGeom prst="lin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76" name="35 Conector recto"/>
            <p:cNvCxnSpPr>
              <a:cxnSpLocks noChangeShapeType="1"/>
            </p:cNvCxnSpPr>
            <p:nvPr/>
          </p:nvCxnSpPr>
          <p:spPr bwMode="auto">
            <a:xfrm flipV="1">
              <a:off x="2527874" y="2949625"/>
              <a:ext cx="541338" cy="0"/>
            </a:xfrm>
            <a:prstGeom prst="lin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6324" name="Rectangle 2"/>
          <p:cNvSpPr>
            <a:spLocks noChangeArrowheads="1"/>
          </p:cNvSpPr>
          <p:nvPr/>
        </p:nvSpPr>
        <p:spPr bwMode="auto">
          <a:xfrm>
            <a:off x="1278117" y="465826"/>
            <a:ext cx="90360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9.3 GENERACIÓN Y RECOMBINACIÓN DE PARES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      ELECTRÓN-HUECO. LEY DE ACCIÓN DE MASAS</a:t>
            </a:r>
          </a:p>
        </p:txBody>
      </p:sp>
      <p:sp>
        <p:nvSpPr>
          <p:cNvPr id="984067" name="Text Box 3"/>
          <p:cNvSpPr txBox="1">
            <a:spLocks noChangeArrowheads="1"/>
          </p:cNvSpPr>
          <p:nvPr/>
        </p:nvSpPr>
        <p:spPr bwMode="auto">
          <a:xfrm>
            <a:off x="1414489" y="3427887"/>
            <a:ext cx="3257056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 más probable a menor </a:t>
            </a:r>
            <a:r>
              <a:rPr lang="es-ES" sz="2400" dirty="0" err="1">
                <a:latin typeface="Arial" panose="020B0604020202020204" pitchFamily="34" charset="0"/>
              </a:rPr>
              <a:t>E</a:t>
            </a:r>
            <a:r>
              <a:rPr lang="es-ES" sz="2400" baseline="-25000" dirty="0" err="1">
                <a:latin typeface="Arial" panose="020B0604020202020204" pitchFamily="34" charset="0"/>
              </a:rPr>
              <a:t>gap</a:t>
            </a:r>
            <a:r>
              <a:rPr lang="es-ES" sz="2400" dirty="0">
                <a:latin typeface="Arial" panose="020B0604020202020204" pitchFamily="34" charset="0"/>
              </a:rPr>
              <a:t> y mayor T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  <p:sp>
        <p:nvSpPr>
          <p:cNvPr id="984075" name="Text Box 11"/>
          <p:cNvSpPr txBox="1">
            <a:spLocks noChangeArrowheads="1"/>
          </p:cNvSpPr>
          <p:nvPr/>
        </p:nvSpPr>
        <p:spPr bwMode="auto">
          <a:xfrm>
            <a:off x="2960570" y="5139261"/>
            <a:ext cx="5614203" cy="97858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 velocidad de recombinación tiende a igualar a la velocidad de generación</a:t>
            </a:r>
          </a:p>
        </p:txBody>
      </p:sp>
      <p:sp>
        <p:nvSpPr>
          <p:cNvPr id="984080" name="Text Box 16"/>
          <p:cNvSpPr txBox="1">
            <a:spLocks noChangeArrowheads="1"/>
          </p:cNvSpPr>
          <p:nvPr/>
        </p:nvSpPr>
        <p:spPr bwMode="auto">
          <a:xfrm>
            <a:off x="7174833" y="3436623"/>
            <a:ext cx="2633662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Es más probable       a </a:t>
            </a:r>
            <a:r>
              <a:rPr lang="es-ES" sz="2400">
                <a:latin typeface="Arial" panose="020B0604020202020204" pitchFamily="34" charset="0"/>
              </a:rPr>
              <a:t>mayor n, p y T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9E51AED-5872-43D8-87B9-89885C2ECFA1}"/>
              </a:ext>
            </a:extLst>
          </p:cNvPr>
          <p:cNvGrpSpPr/>
          <p:nvPr/>
        </p:nvGrpSpPr>
        <p:grpSpPr>
          <a:xfrm>
            <a:off x="8565662" y="2540092"/>
            <a:ext cx="793571" cy="512763"/>
            <a:chOff x="8565662" y="2441850"/>
            <a:chExt cx="793571" cy="512763"/>
          </a:xfrm>
        </p:grpSpPr>
        <p:cxnSp>
          <p:nvCxnSpPr>
            <p:cNvPr id="56360" name="48 Conector recto"/>
            <p:cNvCxnSpPr>
              <a:cxnSpLocks noChangeShapeType="1"/>
            </p:cNvCxnSpPr>
            <p:nvPr/>
          </p:nvCxnSpPr>
          <p:spPr bwMode="auto">
            <a:xfrm flipV="1">
              <a:off x="8809958" y="2441850"/>
              <a:ext cx="539750" cy="0"/>
            </a:xfrm>
            <a:prstGeom prst="lin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61" name="49 Conector recto"/>
            <p:cNvCxnSpPr>
              <a:cxnSpLocks noChangeShapeType="1"/>
            </p:cNvCxnSpPr>
            <p:nvPr/>
          </p:nvCxnSpPr>
          <p:spPr bwMode="auto">
            <a:xfrm flipV="1">
              <a:off x="8819483" y="2954613"/>
              <a:ext cx="539750" cy="0"/>
            </a:xfrm>
            <a:prstGeom prst="lin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364" name="52 Flecha derecha"/>
            <p:cNvSpPr>
              <a:spLocks noChangeArrowheads="1"/>
            </p:cNvSpPr>
            <p:nvPr/>
          </p:nvSpPr>
          <p:spPr bwMode="auto">
            <a:xfrm>
              <a:off x="8565662" y="2532338"/>
              <a:ext cx="201612" cy="330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tIns="118800" bIns="118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2FD255BF-A344-44DE-AF9B-9DBC09C0AEB7}"/>
              </a:ext>
            </a:extLst>
          </p:cNvPr>
          <p:cNvGrpSpPr/>
          <p:nvPr/>
        </p:nvGrpSpPr>
        <p:grpSpPr>
          <a:xfrm>
            <a:off x="3127289" y="2093398"/>
            <a:ext cx="1228566" cy="1322388"/>
            <a:chOff x="3127289" y="1986012"/>
            <a:chExt cx="1228566" cy="1322388"/>
          </a:xfrm>
        </p:grpSpPr>
        <p:sp>
          <p:nvSpPr>
            <p:cNvPr id="56368" name="Oval 38"/>
            <p:cNvSpPr>
              <a:spLocks noChangeArrowheads="1"/>
            </p:cNvSpPr>
            <p:nvPr/>
          </p:nvSpPr>
          <p:spPr bwMode="auto">
            <a:xfrm rot="16200000">
              <a:off x="3523236" y="2228900"/>
              <a:ext cx="179388" cy="179388"/>
            </a:xfrm>
            <a:prstGeom prst="ellipse">
              <a:avLst/>
            </a:prstGeom>
            <a:solidFill>
              <a:srgbClr val="99CC00"/>
            </a:solidFill>
            <a:ln w="12700" algn="ctr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vert="eaVert"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69" name="Oval 39"/>
            <p:cNvSpPr>
              <a:spLocks noChangeArrowheads="1"/>
            </p:cNvSpPr>
            <p:nvPr/>
          </p:nvSpPr>
          <p:spPr bwMode="auto">
            <a:xfrm rot="16200000">
              <a:off x="3523236" y="2979787"/>
              <a:ext cx="179388" cy="179388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vert="eaVert"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370" name="Line 40"/>
            <p:cNvSpPr>
              <a:spLocks noChangeShapeType="1"/>
            </p:cNvSpPr>
            <p:nvPr/>
          </p:nvSpPr>
          <p:spPr bwMode="auto">
            <a:xfrm rot="16200000" flipV="1">
              <a:off x="3391474" y="2690862"/>
              <a:ext cx="431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Ctr="1"/>
            <a:lstStyle/>
            <a:p>
              <a:endParaRPr lang="es-ES"/>
            </a:p>
          </p:txBody>
        </p:sp>
        <p:sp>
          <p:nvSpPr>
            <p:cNvPr id="56371" name="Text Box 41"/>
            <p:cNvSpPr txBox="1">
              <a:spLocks noChangeArrowheads="1"/>
            </p:cNvSpPr>
            <p:nvPr/>
          </p:nvSpPr>
          <p:spPr bwMode="auto">
            <a:xfrm>
              <a:off x="3489899" y="2020937"/>
              <a:ext cx="265113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56372" name="Text Box 42"/>
            <p:cNvSpPr txBox="1">
              <a:spLocks noChangeArrowheads="1"/>
            </p:cNvSpPr>
            <p:nvPr/>
          </p:nvSpPr>
          <p:spPr bwMode="auto">
            <a:xfrm rot="16200000">
              <a:off x="3447036" y="2806750"/>
              <a:ext cx="3302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cxnSp>
          <p:nvCxnSpPr>
            <p:cNvPr id="56373" name="31 Conector recto"/>
            <p:cNvCxnSpPr>
              <a:cxnSpLocks noChangeShapeType="1"/>
            </p:cNvCxnSpPr>
            <p:nvPr/>
          </p:nvCxnSpPr>
          <p:spPr bwMode="auto">
            <a:xfrm flipV="1">
              <a:off x="3361311" y="2433687"/>
              <a:ext cx="539750" cy="0"/>
            </a:xfrm>
            <a:prstGeom prst="lin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74" name="33 Conector recto"/>
            <p:cNvCxnSpPr>
              <a:cxnSpLocks noChangeShapeType="1"/>
            </p:cNvCxnSpPr>
            <p:nvPr/>
          </p:nvCxnSpPr>
          <p:spPr bwMode="auto">
            <a:xfrm flipV="1">
              <a:off x="3370836" y="2946450"/>
              <a:ext cx="539750" cy="0"/>
            </a:xfrm>
            <a:prstGeom prst="line">
              <a:avLst/>
            </a:prstGeom>
            <a:noFill/>
            <a:ln w="25400" algn="ctr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377" name="36 Flecha derecha"/>
            <p:cNvSpPr>
              <a:spLocks noChangeArrowheads="1"/>
            </p:cNvSpPr>
            <p:nvPr/>
          </p:nvSpPr>
          <p:spPr bwMode="auto">
            <a:xfrm>
              <a:off x="3127289" y="2524175"/>
              <a:ext cx="201613" cy="330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tIns="118800" bIns="118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346" name="Text Box 58"/>
            <p:cNvSpPr txBox="1">
              <a:spLocks noChangeArrowheads="1"/>
            </p:cNvSpPr>
            <p:nvPr/>
          </p:nvSpPr>
          <p:spPr bwMode="auto">
            <a:xfrm>
              <a:off x="3974855" y="1986012"/>
              <a:ext cx="381000" cy="542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3333FF"/>
                  </a:solidFill>
                </a:rPr>
                <a:t>e</a:t>
              </a:r>
              <a:r>
                <a:rPr lang="es-ES" baseline="30000" dirty="0">
                  <a:solidFill>
                    <a:srgbClr val="3333FF"/>
                  </a:solidFill>
                </a:rPr>
                <a:t>-</a:t>
              </a:r>
            </a:p>
          </p:txBody>
        </p:sp>
        <p:sp>
          <p:nvSpPr>
            <p:cNvPr id="12347" name="Text Box 59"/>
            <p:cNvSpPr txBox="1">
              <a:spLocks noChangeArrowheads="1"/>
            </p:cNvSpPr>
            <p:nvPr/>
          </p:nvSpPr>
          <p:spPr bwMode="auto">
            <a:xfrm>
              <a:off x="3993905" y="2765475"/>
              <a:ext cx="325437" cy="542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>
                  <a:solidFill>
                    <a:srgbClr val="3333FF"/>
                  </a:solidFill>
                </a:rPr>
                <a:t>h</a:t>
              </a:r>
              <a:endParaRPr lang="es-ES" baseline="30000">
                <a:solidFill>
                  <a:srgbClr val="3333FF"/>
                </a:solidFill>
              </a:endParaRPr>
            </a:p>
          </p:txBody>
        </p:sp>
      </p:grpSp>
      <p:sp>
        <p:nvSpPr>
          <p:cNvPr id="12348" name="Text Box 60"/>
          <p:cNvSpPr txBox="1">
            <a:spLocks noChangeArrowheads="1"/>
          </p:cNvSpPr>
          <p:nvPr/>
        </p:nvSpPr>
        <p:spPr bwMode="auto">
          <a:xfrm>
            <a:off x="3867285" y="4448899"/>
            <a:ext cx="3807624" cy="587441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Son procesos simultáneos</a:t>
            </a:r>
          </a:p>
        </p:txBody>
      </p:sp>
      <p:sp>
        <p:nvSpPr>
          <p:cNvPr id="44" name="Text Box 60"/>
          <p:cNvSpPr txBox="1">
            <a:spLocks noChangeArrowheads="1"/>
          </p:cNvSpPr>
          <p:nvPr/>
        </p:nvSpPr>
        <p:spPr bwMode="auto">
          <a:xfrm>
            <a:off x="1612408" y="1385692"/>
            <a:ext cx="2861218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GENERACIÓN</a:t>
            </a:r>
          </a:p>
        </p:txBody>
      </p:sp>
      <p:sp>
        <p:nvSpPr>
          <p:cNvPr id="45" name="Text Box 60"/>
          <p:cNvSpPr txBox="1">
            <a:spLocks noChangeArrowheads="1"/>
          </p:cNvSpPr>
          <p:nvPr/>
        </p:nvSpPr>
        <p:spPr bwMode="auto">
          <a:xfrm>
            <a:off x="7044270" y="1383776"/>
            <a:ext cx="2894788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</a:rPr>
              <a:t>RECOMBINACIÓN</a:t>
            </a:r>
          </a:p>
        </p:txBody>
      </p:sp>
      <p:sp>
        <p:nvSpPr>
          <p:cNvPr id="46" name="Text Box 60">
            <a:extLst>
              <a:ext uri="{FF2B5EF4-FFF2-40B4-BE49-F238E27FC236}">
                <a16:creationId xmlns:a16="http://schemas.microsoft.com/office/drawing/2014/main" id="{81A5ED9E-C54C-418C-BB56-1303BD698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548" y="1353713"/>
            <a:ext cx="2782021" cy="2064769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      </a:t>
            </a:r>
            <a:r>
              <a:rPr lang="es-ES" sz="2400">
                <a:solidFill>
                  <a:schemeClr val="tx1"/>
                </a:solidFill>
              </a:rPr>
              <a:t>por excitación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      térmica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      (robando E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       a la agitación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0000"/>
                </a:solidFill>
              </a:rPr>
              <a:t>       molecular)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2" name="Text Box 54">
            <a:extLst>
              <a:ext uri="{FF2B5EF4-FFF2-40B4-BE49-F238E27FC236}">
                <a16:creationId xmlns:a16="http://schemas.microsoft.com/office/drawing/2014/main" id="{5BD1F318-C79A-583A-61FC-85B4A1633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998" y="6231268"/>
            <a:ext cx="8314012" cy="6092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tIns="118800" bIns="118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Alcanzada la igualdad a una T, el </a:t>
            </a:r>
            <a:r>
              <a:rPr lang="es-ES" sz="2400" b="1">
                <a:solidFill>
                  <a:schemeClr val="tx1"/>
                </a:solidFill>
              </a:rPr>
              <a:t>equilibrio</a:t>
            </a:r>
            <a:r>
              <a:rPr lang="es-ES" sz="2400">
                <a:solidFill>
                  <a:schemeClr val="tx1"/>
                </a:solidFill>
              </a:rPr>
              <a:t>, n y p no varían</a:t>
            </a:r>
            <a:endParaRPr lang="es-E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003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8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8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8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67" grpId="0"/>
      <p:bldP spid="984075" grpId="0" animBg="1"/>
      <p:bldP spid="984080" grpId="0"/>
      <p:bldP spid="12348" grpId="0" animBg="1"/>
      <p:bldP spid="44" grpId="0" animBg="1"/>
      <p:bldP spid="45" grpId="0" animBg="1"/>
      <p:bldP spid="46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2">
            <a:extLst>
              <a:ext uri="{FF2B5EF4-FFF2-40B4-BE49-F238E27FC236}">
                <a16:creationId xmlns:a16="http://schemas.microsoft.com/office/drawing/2014/main" id="{876559AB-1263-4107-9B24-4F1C981B4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230" y="5481874"/>
            <a:ext cx="5424214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188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No obstante, como n</a:t>
            </a:r>
            <a:r>
              <a:rPr lang="es-ES" sz="2400" baseline="-25000">
                <a:latin typeface="Arial" panose="020B0604020202020204" pitchFamily="34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 es cte. para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cada T y semiconductor, se tiene,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en eq.,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para cualquier dopaje</a:t>
            </a:r>
            <a:r>
              <a:rPr lang="es-ES" sz="2400">
                <a:latin typeface="Arial" panose="020B0604020202020204" pitchFamily="34" charset="0"/>
              </a:rPr>
              <a:t>, que: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F8C9E14-3B1F-4A1F-9BC9-498817ABD003}"/>
              </a:ext>
            </a:extLst>
          </p:cNvPr>
          <p:cNvGrpSpPr/>
          <p:nvPr/>
        </p:nvGrpSpPr>
        <p:grpSpPr>
          <a:xfrm>
            <a:off x="1798111" y="2361957"/>
            <a:ext cx="2893632" cy="1244654"/>
            <a:chOff x="4380914" y="332916"/>
            <a:chExt cx="2893632" cy="1244654"/>
          </a:xfrm>
        </p:grpSpPr>
        <p:sp>
          <p:nvSpPr>
            <p:cNvPr id="20" name="Rectangle 56">
              <a:extLst>
                <a:ext uri="{FF2B5EF4-FFF2-40B4-BE49-F238E27FC236}">
                  <a16:creationId xmlns:a16="http://schemas.microsoft.com/office/drawing/2014/main" id="{A0E8D426-CFC4-4FC7-B4FC-0E89C1BE0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914" y="332916"/>
              <a:ext cx="2893632" cy="1244654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/>
            </a:p>
          </p:txBody>
        </p:sp>
        <p:graphicFrame>
          <p:nvGraphicFramePr>
            <p:cNvPr id="21" name="Object 14">
              <a:extLst>
                <a:ext uri="{FF2B5EF4-FFF2-40B4-BE49-F238E27FC236}">
                  <a16:creationId xmlns:a16="http://schemas.microsoft.com/office/drawing/2014/main" id="{D859BF5F-C4AA-4855-BEF1-1802DB82AE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7044550"/>
                </p:ext>
              </p:extLst>
            </p:nvPr>
          </p:nvGraphicFramePr>
          <p:xfrm>
            <a:off x="4598376" y="460824"/>
            <a:ext cx="2451100" cy="949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977900" imgH="381000" progId="Equation.3">
                    <p:embed/>
                  </p:oleObj>
                </mc:Choice>
                <mc:Fallback>
                  <p:oleObj name="Ecuación" r:id="rId3" imgW="977900" imgH="381000" progId="Equation.3">
                    <p:embed/>
                    <p:pic>
                      <p:nvPicPr>
                        <p:cNvPr id="21" name="Object 14">
                          <a:extLst>
                            <a:ext uri="{FF2B5EF4-FFF2-40B4-BE49-F238E27FC236}">
                              <a16:creationId xmlns:a16="http://schemas.microsoft.com/office/drawing/2014/main" id="{D859BF5F-C4AA-4855-BEF1-1802DB82AE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376" y="460824"/>
                          <a:ext cx="2451100" cy="949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22">
            <a:extLst>
              <a:ext uri="{FF2B5EF4-FFF2-40B4-BE49-F238E27FC236}">
                <a16:creationId xmlns:a16="http://schemas.microsoft.com/office/drawing/2014/main" id="{056E560E-267C-4D03-B55D-88BEADB4B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099" y="2374377"/>
            <a:ext cx="3667542" cy="617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188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ts val="0"/>
              </a:spcBef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E</a:t>
            </a:r>
            <a:r>
              <a:rPr lang="es-ES" sz="2400" baseline="-25000">
                <a:solidFill>
                  <a:srgbClr val="008000"/>
                </a:solidFill>
                <a:latin typeface="Arial" panose="020B0604020202020204" pitchFamily="34" charset="0"/>
              </a:rPr>
              <a:t>g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: E</a:t>
            </a:r>
            <a:r>
              <a:rPr lang="es-ES" sz="2400" baseline="-25000">
                <a:solidFill>
                  <a:srgbClr val="008000"/>
                </a:solidFill>
                <a:latin typeface="Arial" panose="020B0604020202020204" pitchFamily="34" charset="0"/>
              </a:rPr>
              <a:t>gap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(T,semiconductor)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CuadroTexto 8">
            <a:extLst>
              <a:ext uri="{FF2B5EF4-FFF2-40B4-BE49-F238E27FC236}">
                <a16:creationId xmlns:a16="http://schemas.microsoft.com/office/drawing/2014/main" id="{5961AF8D-0346-44FB-A1A1-92E9F209C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864" y="3791881"/>
            <a:ext cx="574935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 L</a:t>
            </a:r>
            <a:r>
              <a:rPr lang="es-ES" sz="2400">
                <a:solidFill>
                  <a:schemeClr val="tx1"/>
                </a:solidFill>
              </a:rPr>
              <a:t>a proporcionalidad refleja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que e</a:t>
            </a:r>
            <a:r>
              <a:rPr lang="es-ES" sz="2400">
                <a:solidFill>
                  <a:schemeClr val="tx1"/>
                </a:solidFill>
              </a:rPr>
              <a:t>n un</a:t>
            </a:r>
          </a:p>
          <a:p>
            <a:r>
              <a:rPr lang="es-ES" sz="2400">
                <a:solidFill>
                  <a:schemeClr val="tx1"/>
                </a:solidFill>
              </a:rPr>
              <a:t>   semiconductor intrínseco </a:t>
            </a:r>
            <a:r>
              <a:rPr lang="es-ES" sz="2400">
                <a:solidFill>
                  <a:srgbClr val="008000"/>
                </a:solidFill>
              </a:rPr>
              <a:t>n</a:t>
            </a:r>
            <a:r>
              <a:rPr lang="es-ES" sz="2400" baseline="-25000">
                <a:solidFill>
                  <a:srgbClr val="008000"/>
                </a:solidFill>
              </a:rPr>
              <a:t>i</a:t>
            </a:r>
            <a:r>
              <a:rPr lang="es-ES" sz="2400">
                <a:solidFill>
                  <a:schemeClr val="tx1"/>
                </a:solidFill>
              </a:rPr>
              <a:t>, y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al estar</a:t>
            </a:r>
          </a:p>
          <a:p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relacionada con ella: </a:t>
            </a: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</a:t>
            </a:r>
            <a:r>
              <a:rPr lang="es-ES" sz="2400" baseline="-25000">
                <a:solidFill>
                  <a:srgbClr val="008000"/>
                </a:solidFill>
                <a:sym typeface="Symbol" panose="05050102010706020507" pitchFamily="18" charset="2"/>
              </a:rPr>
              <a:t>i</a:t>
            </a: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, R</a:t>
            </a:r>
            <a:r>
              <a:rPr lang="es-ES" sz="2400" baseline="-25000">
                <a:solidFill>
                  <a:srgbClr val="008000"/>
                </a:solidFill>
                <a:sym typeface="Symbol" panose="05050102010706020507" pitchFamily="18" charset="2"/>
              </a:rPr>
              <a:t>i </a:t>
            </a:r>
            <a:r>
              <a:rPr lang="es-ES" sz="2400">
                <a:solidFill>
                  <a:srgbClr val="008000"/>
                </a:solidFill>
                <a:sym typeface="Symbol" panose="05050102010706020507" pitchFamily="18" charset="2"/>
              </a:rPr>
              <a:t>e </a:t>
            </a:r>
            <a:r>
              <a:rPr lang="es-ES" sz="240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solidFill>
                  <a:srgbClr val="008000"/>
                </a:solidFill>
                <a:sym typeface="Symbol" panose="05050102010706020507" pitchFamily="18" charset="2"/>
              </a:rPr>
              <a:t>i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, son</a:t>
            </a:r>
          </a:p>
          <a:p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   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muy sensibles a cambios en T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5B3FC713-C0FB-42F8-9FFF-82495C17D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715" y="2983970"/>
            <a:ext cx="4017446" cy="617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188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K : Constante de Boltzmann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BFE11243-6A2E-42BB-A8B8-35ECA6268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8495" y="544474"/>
            <a:ext cx="1471448" cy="60925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 p = n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A813A64E-AD8A-40A4-A766-7A8C6E504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215" y="381911"/>
            <a:ext cx="2160000" cy="978584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Ley de acción de masas</a:t>
            </a:r>
          </a:p>
        </p:txBody>
      </p:sp>
      <p:sp>
        <p:nvSpPr>
          <p:cNvPr id="28" name="Text Box 54">
            <a:extLst>
              <a:ext uri="{FF2B5EF4-FFF2-40B4-BE49-F238E27FC236}">
                <a16:creationId xmlns:a16="http://schemas.microsoft.com/office/drawing/2014/main" id="{4C2C7F9D-168A-486B-A5A5-0ECBF6344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603" y="530101"/>
            <a:ext cx="2638355" cy="60925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 tIns="118800" bIns="118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>
                <a:solidFill>
                  <a:schemeClr val="tx1"/>
                </a:solidFill>
              </a:rPr>
              <a:t>Y se verifica que: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29" name="Text Box 55">
            <a:extLst>
              <a:ext uri="{FF2B5EF4-FFF2-40B4-BE49-F238E27FC236}">
                <a16:creationId xmlns:a16="http://schemas.microsoft.com/office/drawing/2014/main" id="{80B8B699-2A40-4A1D-9FC7-DE0DDFB18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6671" y="1351677"/>
            <a:ext cx="8392369" cy="97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tIns="118800" bIns="118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3333FF"/>
                </a:solidFill>
              </a:rPr>
              <a:t>n</a:t>
            </a:r>
            <a:r>
              <a:rPr lang="es-ES" sz="2400" baseline="-25000" dirty="0">
                <a:solidFill>
                  <a:srgbClr val="3333FF"/>
                </a:solidFill>
              </a:rPr>
              <a:t>i</a:t>
            </a:r>
            <a:r>
              <a:rPr lang="es-ES" sz="2400" dirty="0">
                <a:solidFill>
                  <a:srgbClr val="3333FF"/>
                </a:solidFill>
              </a:rPr>
              <a:t>: n o p </a:t>
            </a:r>
            <a:r>
              <a:rPr lang="es-ES" sz="2400">
                <a:solidFill>
                  <a:srgbClr val="3333FF"/>
                </a:solidFill>
              </a:rPr>
              <a:t>en el semiconductor correspondiente intrínseco,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3333FF"/>
                </a:solidFill>
              </a:rPr>
              <a:t>     es decir, sin dopaje, en equilibrio a esa T </a:t>
            </a:r>
            <a:r>
              <a:rPr lang="es-ES" sz="2400" dirty="0">
                <a:solidFill>
                  <a:srgbClr val="3333FF"/>
                </a:solidFill>
              </a:rPr>
              <a:t>(n</a:t>
            </a:r>
            <a:r>
              <a:rPr lang="es-ES" sz="2400" baseline="-25000" dirty="0">
                <a:solidFill>
                  <a:srgbClr val="3333FF"/>
                </a:solidFill>
              </a:rPr>
              <a:t>i</a:t>
            </a:r>
            <a:r>
              <a:rPr lang="es-ES" sz="2400" dirty="0">
                <a:solidFill>
                  <a:srgbClr val="3333FF"/>
                </a:solidFill>
              </a:rPr>
              <a:t> = p</a:t>
            </a:r>
            <a:r>
              <a:rPr lang="es-ES" sz="2400" baseline="-25000" dirty="0">
                <a:solidFill>
                  <a:srgbClr val="3333FF"/>
                </a:solidFill>
              </a:rPr>
              <a:t>i</a:t>
            </a:r>
            <a:r>
              <a:rPr lang="es-ES" sz="2400" dirty="0">
                <a:solidFill>
                  <a:srgbClr val="3333FF"/>
                </a:solidFill>
              </a:rPr>
              <a:t>)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DF1FB63-94CB-E788-B7D3-86B54F711A99}"/>
              </a:ext>
            </a:extLst>
          </p:cNvPr>
          <p:cNvGrpSpPr/>
          <p:nvPr/>
        </p:nvGrpSpPr>
        <p:grpSpPr>
          <a:xfrm>
            <a:off x="7046215" y="3906744"/>
            <a:ext cx="3269360" cy="2475589"/>
            <a:chOff x="7046215" y="3906744"/>
            <a:chExt cx="3269360" cy="2475589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149D7049-A1B6-1FF9-5592-0C81300C9C00}"/>
                </a:ext>
              </a:extLst>
            </p:cNvPr>
            <p:cNvGrpSpPr/>
            <p:nvPr/>
          </p:nvGrpSpPr>
          <p:grpSpPr>
            <a:xfrm>
              <a:off x="7046215" y="3906744"/>
              <a:ext cx="3269360" cy="2475589"/>
              <a:chOff x="6648682" y="411263"/>
              <a:chExt cx="3717235" cy="3120887"/>
            </a:xfrm>
          </p:grpSpPr>
          <p:pic>
            <p:nvPicPr>
              <p:cNvPr id="6" name="Imagen 5">
                <a:extLst>
                  <a:ext uri="{FF2B5EF4-FFF2-40B4-BE49-F238E27FC236}">
                    <a16:creationId xmlns:a16="http://schemas.microsoft.com/office/drawing/2014/main" id="{3984ECCD-A7B5-7A98-547E-F56A2038F0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8682" y="411263"/>
                <a:ext cx="3717235" cy="3120887"/>
              </a:xfrm>
              <a:prstGeom prst="rect">
                <a:avLst/>
              </a:prstGeom>
            </p:spPr>
          </p:pic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854E6BFC-111A-4E98-D64D-6F4843CE27EF}"/>
                  </a:ext>
                </a:extLst>
              </p:cNvPr>
              <p:cNvGrpSpPr/>
              <p:nvPr/>
            </p:nvGrpSpPr>
            <p:grpSpPr>
              <a:xfrm>
                <a:off x="8211726" y="892047"/>
                <a:ext cx="1476898" cy="2343150"/>
                <a:chOff x="8211726" y="892047"/>
                <a:chExt cx="1476898" cy="2343150"/>
              </a:xfrm>
            </p:grpSpPr>
            <p:sp>
              <p:nvSpPr>
                <p:cNvPr id="8" name="Forma libre: forma 7">
                  <a:extLst>
                    <a:ext uri="{FF2B5EF4-FFF2-40B4-BE49-F238E27FC236}">
                      <a16:creationId xmlns:a16="http://schemas.microsoft.com/office/drawing/2014/main" id="{65CEB390-DB2C-1E01-8A6A-1B14B6F40872}"/>
                    </a:ext>
                  </a:extLst>
                </p:cNvPr>
                <p:cNvSpPr/>
                <p:nvPr/>
              </p:nvSpPr>
              <p:spPr bwMode="auto">
                <a:xfrm>
                  <a:off x="8374174" y="892047"/>
                  <a:ext cx="1314450" cy="2343150"/>
                </a:xfrm>
                <a:custGeom>
                  <a:avLst/>
                  <a:gdLst>
                    <a:gd name="connsiteX0" fmla="*/ 1314450 w 1314450"/>
                    <a:gd name="connsiteY0" fmla="*/ 0 h 2343150"/>
                    <a:gd name="connsiteX1" fmla="*/ 1285875 w 1314450"/>
                    <a:gd name="connsiteY1" fmla="*/ 152400 h 2343150"/>
                    <a:gd name="connsiteX2" fmla="*/ 1243013 w 1314450"/>
                    <a:gd name="connsiteY2" fmla="*/ 390525 h 2343150"/>
                    <a:gd name="connsiteX3" fmla="*/ 1185863 w 1314450"/>
                    <a:gd name="connsiteY3" fmla="*/ 590550 h 2343150"/>
                    <a:gd name="connsiteX4" fmla="*/ 1133475 w 1314450"/>
                    <a:gd name="connsiteY4" fmla="*/ 785812 h 2343150"/>
                    <a:gd name="connsiteX5" fmla="*/ 1071563 w 1314450"/>
                    <a:gd name="connsiteY5" fmla="*/ 976312 h 2343150"/>
                    <a:gd name="connsiteX6" fmla="*/ 995363 w 1314450"/>
                    <a:gd name="connsiteY6" fmla="*/ 1214437 h 2343150"/>
                    <a:gd name="connsiteX7" fmla="*/ 919163 w 1314450"/>
                    <a:gd name="connsiteY7" fmla="*/ 1390650 h 2343150"/>
                    <a:gd name="connsiteX8" fmla="*/ 838200 w 1314450"/>
                    <a:gd name="connsiteY8" fmla="*/ 1585912 h 2343150"/>
                    <a:gd name="connsiteX9" fmla="*/ 723900 w 1314450"/>
                    <a:gd name="connsiteY9" fmla="*/ 1781175 h 2343150"/>
                    <a:gd name="connsiteX10" fmla="*/ 609600 w 1314450"/>
                    <a:gd name="connsiteY10" fmla="*/ 1962150 h 2343150"/>
                    <a:gd name="connsiteX11" fmla="*/ 466725 w 1314450"/>
                    <a:gd name="connsiteY11" fmla="*/ 2133600 h 2343150"/>
                    <a:gd name="connsiteX12" fmla="*/ 319088 w 1314450"/>
                    <a:gd name="connsiteY12" fmla="*/ 2243137 h 2343150"/>
                    <a:gd name="connsiteX13" fmla="*/ 157163 w 1314450"/>
                    <a:gd name="connsiteY13" fmla="*/ 2319337 h 2343150"/>
                    <a:gd name="connsiteX14" fmla="*/ 0 w 1314450"/>
                    <a:gd name="connsiteY14" fmla="*/ 2343150 h 2343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314450" h="2343150">
                      <a:moveTo>
                        <a:pt x="1314450" y="0"/>
                      </a:moveTo>
                      <a:cubicBezTo>
                        <a:pt x="1306115" y="43656"/>
                        <a:pt x="1297781" y="87313"/>
                        <a:pt x="1285875" y="152400"/>
                      </a:cubicBezTo>
                      <a:cubicBezTo>
                        <a:pt x="1273969" y="217487"/>
                        <a:pt x="1259682" y="317500"/>
                        <a:pt x="1243013" y="390525"/>
                      </a:cubicBezTo>
                      <a:cubicBezTo>
                        <a:pt x="1226344" y="463550"/>
                        <a:pt x="1204119" y="524669"/>
                        <a:pt x="1185863" y="590550"/>
                      </a:cubicBezTo>
                      <a:cubicBezTo>
                        <a:pt x="1167607" y="656431"/>
                        <a:pt x="1152525" y="721518"/>
                        <a:pt x="1133475" y="785812"/>
                      </a:cubicBezTo>
                      <a:cubicBezTo>
                        <a:pt x="1114425" y="850106"/>
                        <a:pt x="1094582" y="904875"/>
                        <a:pt x="1071563" y="976312"/>
                      </a:cubicBezTo>
                      <a:cubicBezTo>
                        <a:pt x="1048544" y="1047749"/>
                        <a:pt x="1020763" y="1145381"/>
                        <a:pt x="995363" y="1214437"/>
                      </a:cubicBezTo>
                      <a:cubicBezTo>
                        <a:pt x="969963" y="1283493"/>
                        <a:pt x="945357" y="1328738"/>
                        <a:pt x="919163" y="1390650"/>
                      </a:cubicBezTo>
                      <a:cubicBezTo>
                        <a:pt x="892969" y="1452562"/>
                        <a:pt x="870744" y="1520824"/>
                        <a:pt x="838200" y="1585912"/>
                      </a:cubicBezTo>
                      <a:cubicBezTo>
                        <a:pt x="805656" y="1651000"/>
                        <a:pt x="762000" y="1718469"/>
                        <a:pt x="723900" y="1781175"/>
                      </a:cubicBezTo>
                      <a:cubicBezTo>
                        <a:pt x="685800" y="1843881"/>
                        <a:pt x="652463" y="1903412"/>
                        <a:pt x="609600" y="1962150"/>
                      </a:cubicBezTo>
                      <a:cubicBezTo>
                        <a:pt x="566737" y="2020888"/>
                        <a:pt x="515144" y="2086769"/>
                        <a:pt x="466725" y="2133600"/>
                      </a:cubicBezTo>
                      <a:cubicBezTo>
                        <a:pt x="418306" y="2180431"/>
                        <a:pt x="370682" y="2212181"/>
                        <a:pt x="319088" y="2243137"/>
                      </a:cubicBezTo>
                      <a:cubicBezTo>
                        <a:pt x="267494" y="2274093"/>
                        <a:pt x="210344" y="2302668"/>
                        <a:pt x="157163" y="2319337"/>
                      </a:cubicBezTo>
                      <a:cubicBezTo>
                        <a:pt x="103982" y="2336006"/>
                        <a:pt x="51991" y="2339578"/>
                        <a:pt x="0" y="234315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rgbClr val="008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118800" rIns="91440" bIns="11880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s-ES" sz="2000" b="0" i="0" u="none" strike="noStrike" cap="none" normalizeH="0" baseline="0">
                    <a:ln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</a:ln>
                    <a:solidFill>
                      <a:srgbClr val="000000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" name="Text Box 51">
                  <a:extLst>
                    <a:ext uri="{FF2B5EF4-FFF2-40B4-BE49-F238E27FC236}">
                      <a16:creationId xmlns:a16="http://schemas.microsoft.com/office/drawing/2014/main" id="{7AFD6675-8E96-7FAD-5036-D6F8087FD2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11726" y="1424539"/>
                  <a:ext cx="822696" cy="6904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ts val="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tipo i</a:t>
                  </a:r>
                </a:p>
              </p:txBody>
            </p:sp>
          </p:grpSp>
        </p:grp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67A5482A-8772-51F7-E14B-51237C149023}"/>
                </a:ext>
              </a:extLst>
            </p:cNvPr>
            <p:cNvCxnSpPr/>
            <p:nvPr/>
          </p:nvCxnSpPr>
          <p:spPr bwMode="auto">
            <a:xfrm>
              <a:off x="7413171" y="6146780"/>
              <a:ext cx="1150638" cy="0"/>
            </a:xfrm>
            <a:prstGeom prst="line">
              <a:avLst/>
            </a:prstGeom>
            <a:noFill/>
            <a:ln w="5715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610546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  <p:bldP spid="23" grpId="0"/>
      <p:bldP spid="24" grpId="0"/>
      <p:bldP spid="26" grpId="0" animBg="1"/>
      <p:bldP spid="27" grpId="0" animBg="1"/>
      <p:bldP spid="28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CuadroTexto"/>
          <p:cNvSpPr txBox="1">
            <a:spLocks noChangeArrowheads="1"/>
          </p:cNvSpPr>
          <p:nvPr/>
        </p:nvSpPr>
        <p:spPr bwMode="auto">
          <a:xfrm>
            <a:off x="1280040" y="4333382"/>
            <a:ext cx="8970259" cy="236139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generación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se produce también por razones externas: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frenado de partículas o absorción de OEM </a:t>
            </a:r>
            <a:r>
              <a:rPr lang="es-ES" sz="2400">
                <a:latin typeface="Arial" panose="020B0604020202020204" pitchFamily="34" charset="0"/>
              </a:rPr>
              <a:t>en el semiconductor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siendo mayor cuanto mayor es la intensidad del haz incidente. Con esta acción externa </a:t>
            </a:r>
            <a:r>
              <a:rPr lang="es-ES" sz="2400">
                <a:latin typeface="Arial" panose="020B0604020202020204" pitchFamily="34" charset="0"/>
              </a:rPr>
              <a:t>no hay equilibrio y no se verifica la ley de acción de masas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. Si es constante, se alcanza un estado estacionario. Si cesa, se evoluciona hasta el equilibrio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0B5D1618-5962-4AEA-8163-11BA306C1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5908" y="1394103"/>
            <a:ext cx="8970259" cy="2730729"/>
          </a:xfrm>
          <a:prstGeom prst="rect">
            <a:avLst/>
          </a:prstGeom>
          <a:noFill/>
          <a:ln>
            <a:noFill/>
          </a:ln>
        </p:spPr>
        <p:txBody>
          <a:bodyPr wrap="square" lIns="144000" tIns="72000" rIns="144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se dopa un semiconductor intrínseco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buscando aumentar la concentración de e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n, o de huecos, p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con la ionización 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las impurezas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se aumenta también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recombinación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que tiende a reducir n y p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. Esto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castiga, sobre todo, al portador que no se trata de aumentar, y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lo hace, al ser np = cte. en equilibrio,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 la misma medida que el aumento que se consigue para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 otro.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se dopa por igual,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recombinación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hace que n y p no varíen</a:t>
            </a: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B82787CA-9876-DA12-A327-41FBB79CA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0403" y="552011"/>
            <a:ext cx="1539307" cy="5874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108000" rIns="108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 p = cte.</a:t>
            </a:r>
          </a:p>
        </p:txBody>
      </p:sp>
    </p:spTree>
    <p:extLst>
      <p:ext uri="{BB962C8B-B14F-4D97-AF65-F5344CB8AC3E}">
        <p14:creationId xmlns:p14="http://schemas.microsoft.com/office/powerpoint/2010/main" val="339764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1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ángulo 75"/>
          <p:cNvSpPr>
            <a:spLocks noChangeArrowheads="1"/>
          </p:cNvSpPr>
          <p:nvPr/>
        </p:nvSpPr>
        <p:spPr bwMode="auto">
          <a:xfrm>
            <a:off x="1806355" y="747079"/>
            <a:ext cx="3017893" cy="4238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tIns="118800" bIns="11880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ES"/>
          </a:p>
        </p:txBody>
      </p:sp>
      <p:sp>
        <p:nvSpPr>
          <p:cNvPr id="9289" name="Rectangle 21"/>
          <p:cNvSpPr>
            <a:spLocks noChangeArrowheads="1"/>
          </p:cNvSpPr>
          <p:nvPr/>
        </p:nvSpPr>
        <p:spPr bwMode="auto">
          <a:xfrm>
            <a:off x="6809504" y="3232780"/>
            <a:ext cx="3063875" cy="97789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90" name="Object 22"/>
              <p:cNvSpPr txBox="1"/>
              <p:nvPr/>
            </p:nvSpPr>
            <p:spPr bwMode="auto">
              <a:xfrm>
                <a:off x="7012704" y="3396292"/>
                <a:ext cx="2438400" cy="538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acc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s-E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  <a:endParaRPr lang="es-ES" sz="2800"/>
              </a:p>
            </p:txBody>
          </p:sp>
        </mc:Choice>
        <mc:Fallback xmlns="">
          <p:sp>
            <p:nvSpPr>
              <p:cNvPr id="9290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2704" y="3396292"/>
                <a:ext cx="2438400" cy="5381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0" name="Rectangle 14"/>
          <p:cNvSpPr>
            <a:spLocks noChangeArrowheads="1"/>
          </p:cNvSpPr>
          <p:nvPr/>
        </p:nvSpPr>
        <p:spPr bwMode="auto">
          <a:xfrm>
            <a:off x="1314450" y="473722"/>
            <a:ext cx="903605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9.4 CORRIENTES EN UN SEMICONDUCTOR: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      DESPLAZAMIENTO Y DIFUSIÓN</a:t>
            </a:r>
          </a:p>
        </p:txBody>
      </p:sp>
      <p:sp>
        <p:nvSpPr>
          <p:cNvPr id="988176" name="Text Box 16"/>
          <p:cNvSpPr txBox="1">
            <a:spLocks noChangeArrowheads="1"/>
          </p:cNvSpPr>
          <p:nvPr/>
        </p:nvSpPr>
        <p:spPr bwMode="auto">
          <a:xfrm>
            <a:off x="1220934" y="2036625"/>
            <a:ext cx="9036049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El desplazamiento, el arrastre,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los e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y h que 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produce en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un semicond.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 igual al de los e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un conductor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Tema 4)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287" name="Text Box 18"/>
          <p:cNvSpPr txBox="1">
            <a:spLocks noChangeArrowheads="1"/>
          </p:cNvSpPr>
          <p:nvPr/>
        </p:nvSpPr>
        <p:spPr bwMode="auto">
          <a:xfrm>
            <a:off x="1188360" y="1346737"/>
            <a:ext cx="7352739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Son debidas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 la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aplicación de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una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ddp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9229" name="CuadroTexto 14"/>
          <p:cNvSpPr txBox="1">
            <a:spLocks noChangeArrowheads="1"/>
          </p:cNvSpPr>
          <p:nvPr/>
        </p:nvSpPr>
        <p:spPr bwMode="auto">
          <a:xfrm>
            <a:off x="1664348" y="4628738"/>
            <a:ext cx="820202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D60093"/>
                </a:solidFill>
              </a:rPr>
              <a:t>La corriente, considerando Q</a:t>
            </a:r>
            <a:r>
              <a:rPr lang="es-ES" sz="2400" baseline="30000" dirty="0">
                <a:solidFill>
                  <a:srgbClr val="D60093"/>
                </a:solidFill>
              </a:rPr>
              <a:t>+</a:t>
            </a:r>
            <a:r>
              <a:rPr lang="es-ES" sz="2400" dirty="0">
                <a:solidFill>
                  <a:srgbClr val="D60093"/>
                </a:solidFill>
              </a:rPr>
              <a:t>, circula en el sentido de </a:t>
            </a:r>
            <a:r>
              <a:rPr lang="es-ES" sz="2400" b="1" dirty="0">
                <a:solidFill>
                  <a:srgbClr val="D60093"/>
                </a:solidFill>
              </a:rPr>
              <a:t>E</a:t>
            </a:r>
            <a:r>
              <a:rPr lang="es-ES" sz="2400" dirty="0">
                <a:solidFill>
                  <a:srgbClr val="D60093"/>
                </a:solidFill>
              </a:rPr>
              <a:t>, en el que cae V, en sentido contrario al gradiente (</a:t>
            </a:r>
            <a:r>
              <a:rPr lang="es-ES" sz="2400" dirty="0">
                <a:solidFill>
                  <a:srgbClr val="D60093"/>
                </a:solidFill>
                <a:sym typeface="Symbol" panose="05050102010706020507" pitchFamily="18" charset="2"/>
              </a:rPr>
              <a:t></a:t>
            </a:r>
            <a:r>
              <a:rPr lang="es-ES" sz="2400">
                <a:solidFill>
                  <a:srgbClr val="D60093"/>
                </a:solidFill>
              </a:rPr>
              <a:t>V)</a:t>
            </a:r>
            <a:endParaRPr lang="es-ES" sz="2400" dirty="0">
              <a:solidFill>
                <a:srgbClr val="D60093"/>
              </a:solidFill>
            </a:endParaRPr>
          </a:p>
        </p:txBody>
      </p:sp>
      <p:sp>
        <p:nvSpPr>
          <p:cNvPr id="73" name="CuadroTexto 14"/>
          <p:cNvSpPr txBox="1">
            <a:spLocks noChangeArrowheads="1"/>
          </p:cNvSpPr>
          <p:nvPr/>
        </p:nvSpPr>
        <p:spPr bwMode="auto">
          <a:xfrm>
            <a:off x="2187666" y="5670247"/>
            <a:ext cx="7163455" cy="91409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Aparece el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</a:t>
            </a:r>
            <a:r>
              <a:rPr lang="es-ES" sz="2400">
                <a:solidFill>
                  <a:schemeClr val="tx1"/>
                </a:solidFill>
              </a:rPr>
              <a:t>V, no simplemente la ddp, porque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lo relevante es la ddp por unidad de longitud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74" name="Text Box 10">
            <a:extLst>
              <a:ext uri="{FF2B5EF4-FFF2-40B4-BE49-F238E27FC236}">
                <a16:creationId xmlns:a16="http://schemas.microsoft.com/office/drawing/2014/main" id="{2028817A-012E-446E-B049-F6F5AEDA6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285" y="3240032"/>
            <a:ext cx="1408282" cy="978584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Ley de Ohm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2">
                <a:extLst>
                  <a:ext uri="{FF2B5EF4-FFF2-40B4-BE49-F238E27FC236}">
                    <a16:creationId xmlns:a16="http://schemas.microsoft.com/office/drawing/2014/main" id="{3BED4E68-F33C-4EC2-A8D4-B8114823B84D}"/>
                  </a:ext>
                </a:extLst>
              </p:cNvPr>
              <p:cNvSpPr txBox="1"/>
              <p:nvPr/>
            </p:nvSpPr>
            <p:spPr bwMode="auto">
              <a:xfrm>
                <a:off x="8253361" y="3439291"/>
                <a:ext cx="1790631" cy="53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sty m:val="p"/>
                        </m:rP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∇V</m:t>
                      </m:r>
                    </m:oMath>
                  </m:oMathPara>
                </a14:m>
                <a:endParaRPr lang="es-ES" sz="2800"/>
              </a:p>
            </p:txBody>
          </p:sp>
        </mc:Choice>
        <mc:Fallback xmlns="">
          <p:sp>
            <p:nvSpPr>
              <p:cNvPr id="12" name="Object 22">
                <a:extLst>
                  <a:ext uri="{FF2B5EF4-FFF2-40B4-BE49-F238E27FC236}">
                    <a16:creationId xmlns:a16="http://schemas.microsoft.com/office/drawing/2014/main" id="{3BED4E68-F33C-4EC2-A8D4-B8114823B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3361" y="3439291"/>
                <a:ext cx="1790631" cy="5381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Box 16">
            <a:extLst>
              <a:ext uri="{FF2B5EF4-FFF2-40B4-BE49-F238E27FC236}">
                <a16:creationId xmlns:a16="http://schemas.microsoft.com/office/drawing/2014/main" id="{872C9487-745C-8599-397D-096F76975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236" y="3382182"/>
            <a:ext cx="3762033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verifica, por ello, la: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88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9289" grpId="0" animBg="1"/>
      <p:bldP spid="9290" grpId="0"/>
      <p:bldP spid="988176" grpId="0"/>
      <p:bldP spid="9287" grpId="0"/>
      <p:bldP spid="9229" grpId="0"/>
      <p:bldP spid="73" grpId="0" animBg="1"/>
      <p:bldP spid="74" grpId="0" animBg="1"/>
      <p:bldP spid="12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o 16">
            <a:extLst>
              <a:ext uri="{FF2B5EF4-FFF2-40B4-BE49-F238E27FC236}">
                <a16:creationId xmlns:a16="http://schemas.microsoft.com/office/drawing/2014/main" id="{2E514B59-E886-F1E3-3A9E-448BA3BEAE0F}"/>
              </a:ext>
            </a:extLst>
          </p:cNvPr>
          <p:cNvGrpSpPr/>
          <p:nvPr/>
        </p:nvGrpSpPr>
        <p:grpSpPr>
          <a:xfrm>
            <a:off x="3513376" y="2554451"/>
            <a:ext cx="2245388" cy="648997"/>
            <a:chOff x="3513376" y="2554451"/>
            <a:chExt cx="2245388" cy="648997"/>
          </a:xfrm>
        </p:grpSpPr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D9EE3157-1747-7FD9-814D-AF080A46D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3376" y="2554451"/>
              <a:ext cx="991625" cy="64899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80000" tIns="72000" rIns="180000" bIns="144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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=</a:t>
              </a: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endParaRPr lang="es-ES" sz="2800" baseline="-25000" dirty="0">
                <a:latin typeface="Arial" panose="020B0604020202020204" pitchFamily="34" charset="0"/>
              </a:endParaRPr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F1D34AB0-EA33-2E97-8909-8DA2B1792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8930" y="2554451"/>
              <a:ext cx="1399834" cy="64899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144000" tIns="72000" rIns="180000" bIns="144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</a:t>
              </a:r>
              <a:r>
                <a:rPr lang="es-ES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e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+ </a:t>
              </a:r>
              <a:r>
                <a:rPr lang="es-ES" sz="2800">
                  <a:latin typeface="Arial" panose="020B0604020202020204" pitchFamily="34" charset="0"/>
                  <a:sym typeface="Symbol" panose="05050102010706020507" pitchFamily="18" charset="2"/>
                </a:rPr>
                <a:t></a:t>
              </a:r>
              <a:r>
                <a:rPr lang="es-ES" sz="2400" baseline="-25000">
                  <a:latin typeface="Arial" panose="020B0604020202020204" pitchFamily="34" charset="0"/>
                  <a:sym typeface="Symbol" panose="05050102010706020507" pitchFamily="18" charset="2"/>
                </a:rPr>
                <a:t>h</a:t>
              </a:r>
              <a:endParaRPr lang="es-ES" sz="2800" baseline="-25000" dirty="0">
                <a:latin typeface="Arial" panose="020B0604020202020204" pitchFamily="34" charset="0"/>
              </a:endParaRPr>
            </a:p>
          </p:txBody>
        </p:sp>
      </p:grpSp>
      <p:sp>
        <p:nvSpPr>
          <p:cNvPr id="21" name="CuadroTexto 14">
            <a:extLst>
              <a:ext uri="{FF2B5EF4-FFF2-40B4-BE49-F238E27FC236}">
                <a16:creationId xmlns:a16="http://schemas.microsoft.com/office/drawing/2014/main" id="{B3EC0A99-DAD6-0A96-1D59-E9BF7C7D1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0655" y="1453883"/>
            <a:ext cx="7081159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En un </a:t>
            </a:r>
            <a:r>
              <a:rPr lang="es-ES" sz="2400">
                <a:solidFill>
                  <a:srgbClr val="008000"/>
                </a:solidFill>
              </a:rPr>
              <a:t>semiconductor</a:t>
            </a:r>
            <a:r>
              <a:rPr lang="es-ES" sz="2400">
                <a:solidFill>
                  <a:schemeClr val="tx1"/>
                </a:solidFill>
              </a:rPr>
              <a:t> la conductividad tiene</a:t>
            </a:r>
          </a:p>
          <a:p>
            <a:pPr algn="ctr"/>
            <a:r>
              <a:rPr lang="es-ES" sz="2400">
                <a:solidFill>
                  <a:schemeClr val="tx1"/>
                </a:solidFill>
              </a:rPr>
              <a:t>2 contribuciones: la de electrones y la de huecos</a:t>
            </a:r>
            <a:endParaRPr lang="es-ES" sz="2400" dirty="0">
              <a:solidFill>
                <a:schemeClr val="tx1"/>
              </a:solidFill>
            </a:endParaRPr>
          </a:p>
        </p:txBody>
      </p:sp>
      <p:sp>
        <p:nvSpPr>
          <p:cNvPr id="22" name="Text Box 26">
            <a:extLst>
              <a:ext uri="{FF2B5EF4-FFF2-40B4-BE49-F238E27FC236}">
                <a16:creationId xmlns:a16="http://schemas.microsoft.com/office/drawing/2014/main" id="{8C56587C-5143-D5DF-A39E-E6DF405DD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026" y="2562499"/>
            <a:ext cx="2336819" cy="64899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44000" tIns="72000" rIns="180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ne</a:t>
            </a:r>
            <a:r>
              <a:rPr lang="es-ES" sz="2800" dirty="0" err="1"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8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+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pe</a:t>
            </a:r>
            <a:r>
              <a:rPr lang="es-ES" sz="2800" dirty="0" err="1"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800" baseline="-25000" dirty="0" err="1">
                <a:latin typeface="Arial" panose="020B0604020202020204" pitchFamily="34" charset="0"/>
                <a:sym typeface="Symbol" panose="05050102010706020507" pitchFamily="18" charset="2"/>
              </a:rPr>
              <a:t>h</a:t>
            </a:r>
            <a:endParaRPr lang="es-ES" sz="2800" baseline="-25000" dirty="0">
              <a:latin typeface="Arial" panose="020B0604020202020204" pitchFamily="34" charset="0"/>
            </a:endParaRPr>
          </a:p>
        </p:txBody>
      </p:sp>
      <p:grpSp>
        <p:nvGrpSpPr>
          <p:cNvPr id="2" name="Group 86">
            <a:extLst>
              <a:ext uri="{FF2B5EF4-FFF2-40B4-BE49-F238E27FC236}">
                <a16:creationId xmlns:a16="http://schemas.microsoft.com/office/drawing/2014/main" id="{F547DFAD-C11B-A7B2-DECF-13B28836E2B3}"/>
              </a:ext>
            </a:extLst>
          </p:cNvPr>
          <p:cNvGrpSpPr>
            <a:grpSpLocks/>
          </p:cNvGrpSpPr>
          <p:nvPr/>
        </p:nvGrpSpPr>
        <p:grpSpPr bwMode="auto">
          <a:xfrm>
            <a:off x="4227078" y="348708"/>
            <a:ext cx="3062289" cy="808037"/>
            <a:chOff x="4800" y="1815"/>
            <a:chExt cx="1929" cy="509"/>
          </a:xfrm>
        </p:grpSpPr>
        <p:sp>
          <p:nvSpPr>
            <p:cNvPr id="3" name="Rectangle 21">
              <a:extLst>
                <a:ext uri="{FF2B5EF4-FFF2-40B4-BE49-F238E27FC236}">
                  <a16:creationId xmlns:a16="http://schemas.microsoft.com/office/drawing/2014/main" id="{C2A4EFEB-6FFC-2891-3EF7-81048A678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815"/>
              <a:ext cx="1929" cy="509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22">
                  <a:extLst>
                    <a:ext uri="{FF2B5EF4-FFF2-40B4-BE49-F238E27FC236}">
                      <a16:creationId xmlns:a16="http://schemas.microsoft.com/office/drawing/2014/main" id="{A7C5F84F-3D5B-3800-C090-1AB2728CF358}"/>
                    </a:ext>
                  </a:extLst>
                </p:cNvPr>
                <p:cNvSpPr txBox="1"/>
                <p:nvPr/>
              </p:nvSpPr>
              <p:spPr bwMode="auto">
                <a:xfrm>
                  <a:off x="4928" y="1865"/>
                  <a:ext cx="1536" cy="3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E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acc>
                        <m:r>
                          <a:rPr lang="es-E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s-E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s-E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  <m:acc>
                          <m:accPr>
                            <m:chr m:val="⃗"/>
                            <m:ctrlPr>
                              <a:rPr lang="es-E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s-E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  <a:endParaRPr lang="es-ES" sz="2800"/>
                </a:p>
              </p:txBody>
            </p:sp>
          </mc:Choice>
          <mc:Fallback xmlns="">
            <p:sp>
              <p:nvSpPr>
                <p:cNvPr id="9290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28" y="1865"/>
                  <a:ext cx="1536" cy="33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2">
                <a:extLst>
                  <a:ext uri="{FF2B5EF4-FFF2-40B4-BE49-F238E27FC236}">
                    <a16:creationId xmlns:a16="http://schemas.microsoft.com/office/drawing/2014/main" id="{B50DD3B9-0BCD-12AF-F549-78DFB4432E2F}"/>
                  </a:ext>
                </a:extLst>
              </p:cNvPr>
              <p:cNvSpPr txBox="1"/>
              <p:nvPr/>
            </p:nvSpPr>
            <p:spPr bwMode="auto">
              <a:xfrm>
                <a:off x="5670932" y="471080"/>
                <a:ext cx="1790631" cy="53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sty m:val="p"/>
                        </m:rPr>
                        <a:rPr lang="es-E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∇V</m:t>
                      </m:r>
                    </m:oMath>
                  </m:oMathPara>
                </a14:m>
                <a:endParaRPr lang="es-ES" sz="2800"/>
              </a:p>
            </p:txBody>
          </p:sp>
        </mc:Choice>
        <mc:Fallback xmlns="">
          <p:sp>
            <p:nvSpPr>
              <p:cNvPr id="5" name="Object 22">
                <a:extLst>
                  <a:ext uri="{FF2B5EF4-FFF2-40B4-BE49-F238E27FC236}">
                    <a16:creationId xmlns:a16="http://schemas.microsoft.com/office/drawing/2014/main" id="{B50DD3B9-0BCD-12AF-F549-78DFB4432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0932" y="471080"/>
                <a:ext cx="1790631" cy="5381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2">
            <a:extLst>
              <a:ext uri="{FF2B5EF4-FFF2-40B4-BE49-F238E27FC236}">
                <a16:creationId xmlns:a16="http://schemas.microsoft.com/office/drawing/2014/main" id="{90468FAF-9826-AADC-37DF-510F6882CF93}"/>
              </a:ext>
            </a:extLst>
          </p:cNvPr>
          <p:cNvGrpSpPr>
            <a:grpSpLocks/>
          </p:cNvGrpSpPr>
          <p:nvPr/>
        </p:nvGrpSpPr>
        <p:grpSpPr bwMode="auto">
          <a:xfrm>
            <a:off x="5763548" y="3689404"/>
            <a:ext cx="3417886" cy="2841577"/>
            <a:chOff x="4346" y="2338"/>
            <a:chExt cx="2153" cy="1790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EC6E4138-B6B7-8266-34F0-55E1C36C0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4" y="2459"/>
              <a:ext cx="0" cy="161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8F371797-5037-D870-A25C-5E78E4843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2338"/>
              <a:ext cx="221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E</a:t>
              </a:r>
              <a:endParaRPr lang="es-E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E421718E-6526-E2CE-AFA4-D33B50398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3" y="3003"/>
              <a:ext cx="346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262B07DC-376E-4F0E-215D-C488CEBC27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0" y="3590"/>
              <a:ext cx="337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6E3645E-89E6-DA5F-0FE3-ED50FFF5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461"/>
              <a:ext cx="1138" cy="1060"/>
            </a:xfrm>
            <a:custGeom>
              <a:avLst/>
              <a:gdLst>
                <a:gd name="T0" fmla="*/ 8 w 1138"/>
                <a:gd name="T1" fmla="*/ 625 h 1042"/>
                <a:gd name="T2" fmla="*/ 1138 w 1138"/>
                <a:gd name="T3" fmla="*/ 1442 h 1042"/>
                <a:gd name="T4" fmla="*/ 1138 w 1138"/>
                <a:gd name="T5" fmla="*/ 828 h 1042"/>
                <a:gd name="T6" fmla="*/ 0 w 1138"/>
                <a:gd name="T7" fmla="*/ 0 h 1042"/>
                <a:gd name="T8" fmla="*/ 8 w 1138"/>
                <a:gd name="T9" fmla="*/ 625 h 10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38"/>
                <a:gd name="T16" fmla="*/ 0 h 1042"/>
                <a:gd name="T17" fmla="*/ 1138 w 1138"/>
                <a:gd name="T18" fmla="*/ 1042 h 10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38" h="1042">
                  <a:moveTo>
                    <a:pt x="8" y="452"/>
                  </a:moveTo>
                  <a:lnTo>
                    <a:pt x="1138" y="1042"/>
                  </a:lnTo>
                  <a:lnTo>
                    <a:pt x="1138" y="598"/>
                  </a:lnTo>
                  <a:lnTo>
                    <a:pt x="0" y="0"/>
                  </a:lnTo>
                  <a:lnTo>
                    <a:pt x="8" y="4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5ADF970-8277-FDFE-4468-771664EF9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6" y="3068"/>
              <a:ext cx="1138" cy="1060"/>
            </a:xfrm>
            <a:custGeom>
              <a:avLst/>
              <a:gdLst>
                <a:gd name="T0" fmla="*/ 8 w 1138"/>
                <a:gd name="T1" fmla="*/ 625 h 1042"/>
                <a:gd name="T2" fmla="*/ 1138 w 1138"/>
                <a:gd name="T3" fmla="*/ 1442 h 1042"/>
                <a:gd name="T4" fmla="*/ 1138 w 1138"/>
                <a:gd name="T5" fmla="*/ 828 h 1042"/>
                <a:gd name="T6" fmla="*/ 0 w 1138"/>
                <a:gd name="T7" fmla="*/ 0 h 1042"/>
                <a:gd name="T8" fmla="*/ 8 w 1138"/>
                <a:gd name="T9" fmla="*/ 625 h 10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38"/>
                <a:gd name="T16" fmla="*/ 0 h 1042"/>
                <a:gd name="T17" fmla="*/ 1138 w 1138"/>
                <a:gd name="T18" fmla="*/ 1042 h 10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38" h="1042">
                  <a:moveTo>
                    <a:pt x="8" y="452"/>
                  </a:moveTo>
                  <a:lnTo>
                    <a:pt x="1138" y="1042"/>
                  </a:lnTo>
                  <a:lnTo>
                    <a:pt x="1138" y="598"/>
                  </a:lnTo>
                  <a:lnTo>
                    <a:pt x="0" y="0"/>
                  </a:lnTo>
                  <a:lnTo>
                    <a:pt x="8" y="452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C989E58-512B-D077-28E2-74D0DB6BDD8F}"/>
              </a:ext>
            </a:extLst>
          </p:cNvPr>
          <p:cNvGrpSpPr/>
          <p:nvPr/>
        </p:nvGrpSpPr>
        <p:grpSpPr>
          <a:xfrm>
            <a:off x="6409662" y="4250640"/>
            <a:ext cx="2143124" cy="1308078"/>
            <a:chOff x="9807574" y="2245596"/>
            <a:chExt cx="2143124" cy="1308078"/>
          </a:xfrm>
        </p:grpSpPr>
        <p:sp>
          <p:nvSpPr>
            <p:cNvPr id="14" name="Line 49">
              <a:extLst>
                <a:ext uri="{FF2B5EF4-FFF2-40B4-BE49-F238E27FC236}">
                  <a16:creationId xmlns:a16="http://schemas.microsoft.com/office/drawing/2014/main" id="{07E5FDCD-2EC4-4209-4690-DC0B9A73B0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0587039" y="2756798"/>
              <a:ext cx="17144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B7C14C9E-0926-C1DD-9205-C36196D947EC}"/>
                </a:ext>
              </a:extLst>
            </p:cNvPr>
            <p:cNvGrpSpPr/>
            <p:nvPr/>
          </p:nvGrpSpPr>
          <p:grpSpPr>
            <a:xfrm>
              <a:off x="9807574" y="2245596"/>
              <a:ext cx="2143124" cy="1308078"/>
              <a:chOff x="9823450" y="2250394"/>
              <a:chExt cx="2143124" cy="1308078"/>
            </a:xfrm>
          </p:grpSpPr>
          <p:grpSp>
            <p:nvGrpSpPr>
              <p:cNvPr id="16" name="Group 31">
                <a:extLst>
                  <a:ext uri="{FF2B5EF4-FFF2-40B4-BE49-F238E27FC236}">
                    <a16:creationId xmlns:a16="http://schemas.microsoft.com/office/drawing/2014/main" id="{7F96B4F4-CBE0-E00D-D0D6-DF8C1940B6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23450" y="2258331"/>
                <a:ext cx="265112" cy="544503"/>
                <a:chOff x="3022" y="2769"/>
                <a:chExt cx="167" cy="337"/>
              </a:xfrm>
            </p:grpSpPr>
            <p:sp>
              <p:nvSpPr>
                <p:cNvPr id="38" name="Oval 32">
                  <a:extLst>
                    <a:ext uri="{FF2B5EF4-FFF2-40B4-BE49-F238E27FC236}">
                      <a16:creationId xmlns:a16="http://schemas.microsoft.com/office/drawing/2014/main" id="{18D04F26-1D36-E928-09B7-894641EFA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0" y="2924"/>
                  <a:ext cx="68" cy="68"/>
                </a:xfrm>
                <a:prstGeom prst="ellipse">
                  <a:avLst/>
                </a:prstGeom>
                <a:solidFill>
                  <a:srgbClr val="33CC33"/>
                </a:solidFill>
                <a:ln w="25400" algn="ctr">
                  <a:solidFill>
                    <a:srgbClr val="33CC33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9" name="Text Box 33">
                  <a:extLst>
                    <a:ext uri="{FF2B5EF4-FFF2-40B4-BE49-F238E27FC236}">
                      <a16:creationId xmlns:a16="http://schemas.microsoft.com/office/drawing/2014/main" id="{74081B83-1AD6-8CC5-0A71-8AA94F96F3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2" y="2769"/>
                  <a:ext cx="167" cy="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sp>
            <p:nvSpPr>
              <p:cNvPr id="18" name="Line 34">
                <a:extLst>
                  <a:ext uri="{FF2B5EF4-FFF2-40B4-BE49-F238E27FC236}">
                    <a16:creationId xmlns:a16="http://schemas.microsoft.com/office/drawing/2014/main" id="{8F2678E0-C069-2041-EAC4-E6B9B85BC8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112375" y="2547251"/>
                <a:ext cx="412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grpSp>
            <p:nvGrpSpPr>
              <p:cNvPr id="23" name="Group 35">
                <a:extLst>
                  <a:ext uri="{FF2B5EF4-FFF2-40B4-BE49-F238E27FC236}">
                    <a16:creationId xmlns:a16="http://schemas.microsoft.com/office/drawing/2014/main" id="{10CD6F31-1D03-DAAB-2CEC-3E592A6EDA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47350" y="2250394"/>
                <a:ext cx="265112" cy="542916"/>
                <a:chOff x="3022" y="2773"/>
                <a:chExt cx="167" cy="337"/>
              </a:xfrm>
            </p:grpSpPr>
            <p:sp>
              <p:nvSpPr>
                <p:cNvPr id="36" name="Oval 36">
                  <a:extLst>
                    <a:ext uri="{FF2B5EF4-FFF2-40B4-BE49-F238E27FC236}">
                      <a16:creationId xmlns:a16="http://schemas.microsoft.com/office/drawing/2014/main" id="{9C39D603-EB37-4A43-96FB-7D6CF734D7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0" y="2924"/>
                  <a:ext cx="68" cy="68"/>
                </a:xfrm>
                <a:prstGeom prst="ellipse">
                  <a:avLst/>
                </a:prstGeom>
                <a:solidFill>
                  <a:srgbClr val="33CC33"/>
                </a:solidFill>
                <a:ln w="25400" algn="ctr">
                  <a:solidFill>
                    <a:srgbClr val="33CC33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" name="Text Box 37">
                  <a:extLst>
                    <a:ext uri="{FF2B5EF4-FFF2-40B4-BE49-F238E27FC236}">
                      <a16:creationId xmlns:a16="http://schemas.microsoft.com/office/drawing/2014/main" id="{95E49664-FA3B-4B56-8421-768DC708D1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2" y="2773"/>
                  <a:ext cx="167" cy="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4" name="Group 38">
                <a:extLst>
                  <a:ext uri="{FF2B5EF4-FFF2-40B4-BE49-F238E27FC236}">
                    <a16:creationId xmlns:a16="http://schemas.microsoft.com/office/drawing/2014/main" id="{F1EB1047-F442-2634-A21A-723C54CA2D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541000" y="2644087"/>
                <a:ext cx="265112" cy="544503"/>
                <a:chOff x="3022" y="2773"/>
                <a:chExt cx="167" cy="337"/>
              </a:xfrm>
            </p:grpSpPr>
            <p:sp>
              <p:nvSpPr>
                <p:cNvPr id="34" name="Oval 39">
                  <a:extLst>
                    <a:ext uri="{FF2B5EF4-FFF2-40B4-BE49-F238E27FC236}">
                      <a16:creationId xmlns:a16="http://schemas.microsoft.com/office/drawing/2014/main" id="{D8BDB3F7-948E-7E5E-5E8D-F796A4EF2E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0" y="2924"/>
                  <a:ext cx="68" cy="68"/>
                </a:xfrm>
                <a:prstGeom prst="ellipse">
                  <a:avLst/>
                </a:prstGeom>
                <a:solidFill>
                  <a:srgbClr val="33CC33"/>
                </a:solidFill>
                <a:ln w="25400" algn="ctr">
                  <a:solidFill>
                    <a:srgbClr val="33CC33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" name="Text Box 40">
                  <a:extLst>
                    <a:ext uri="{FF2B5EF4-FFF2-40B4-BE49-F238E27FC236}">
                      <a16:creationId xmlns:a16="http://schemas.microsoft.com/office/drawing/2014/main" id="{1AF33301-7830-F968-288F-F97FDE37A2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2" y="2773"/>
                  <a:ext cx="167" cy="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sp>
            <p:nvSpPr>
              <p:cNvPr id="25" name="Line 41">
                <a:extLst>
                  <a:ext uri="{FF2B5EF4-FFF2-40B4-BE49-F238E27FC236}">
                    <a16:creationId xmlns:a16="http://schemas.microsoft.com/office/drawing/2014/main" id="{DFF50574-4E50-DE37-D87B-058BAA7FE8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29924" y="2926658"/>
                <a:ext cx="412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grpSp>
            <p:nvGrpSpPr>
              <p:cNvPr id="26" name="Group 42">
                <a:extLst>
                  <a:ext uri="{FF2B5EF4-FFF2-40B4-BE49-F238E27FC236}">
                    <a16:creationId xmlns:a16="http://schemas.microsoft.com/office/drawing/2014/main" id="{CFD75E36-9073-F252-B1BE-372DD3A8C1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264899" y="2640912"/>
                <a:ext cx="265112" cy="544503"/>
                <a:chOff x="3022" y="2773"/>
                <a:chExt cx="167" cy="337"/>
              </a:xfrm>
            </p:grpSpPr>
            <p:sp>
              <p:nvSpPr>
                <p:cNvPr id="32" name="Oval 43">
                  <a:extLst>
                    <a:ext uri="{FF2B5EF4-FFF2-40B4-BE49-F238E27FC236}">
                      <a16:creationId xmlns:a16="http://schemas.microsoft.com/office/drawing/2014/main" id="{7E52ECC9-4F00-112F-6920-0DF5FDBB7E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0" y="2924"/>
                  <a:ext cx="68" cy="68"/>
                </a:xfrm>
                <a:prstGeom prst="ellipse">
                  <a:avLst/>
                </a:prstGeom>
                <a:solidFill>
                  <a:srgbClr val="33CC33"/>
                </a:solidFill>
                <a:ln w="25400" algn="ctr">
                  <a:solidFill>
                    <a:srgbClr val="33CC33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3" name="Text Box 44">
                  <a:extLst>
                    <a:ext uri="{FF2B5EF4-FFF2-40B4-BE49-F238E27FC236}">
                      <a16:creationId xmlns:a16="http://schemas.microsoft.com/office/drawing/2014/main" id="{9FA7F2DD-41B8-9F3B-821A-0C13FE37EF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2" y="2773"/>
                  <a:ext cx="167" cy="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grpSp>
            <p:nvGrpSpPr>
              <p:cNvPr id="27" name="Group 45">
                <a:extLst>
                  <a:ext uri="{FF2B5EF4-FFF2-40B4-BE49-F238E27FC236}">
                    <a16:creationId xmlns:a16="http://schemas.microsoft.com/office/drawing/2014/main" id="{01414B4C-27E4-DAA3-A09A-8B25720D53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266487" y="3013969"/>
                <a:ext cx="265112" cy="544503"/>
                <a:chOff x="3022" y="2773"/>
                <a:chExt cx="167" cy="337"/>
              </a:xfrm>
            </p:grpSpPr>
            <p:sp>
              <p:nvSpPr>
                <p:cNvPr id="30" name="Oval 46">
                  <a:extLst>
                    <a:ext uri="{FF2B5EF4-FFF2-40B4-BE49-F238E27FC236}">
                      <a16:creationId xmlns:a16="http://schemas.microsoft.com/office/drawing/2014/main" id="{3525A1D1-4988-34E8-5274-8D8F7EA630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0" y="2924"/>
                  <a:ext cx="68" cy="68"/>
                </a:xfrm>
                <a:prstGeom prst="ellipse">
                  <a:avLst/>
                </a:prstGeom>
                <a:solidFill>
                  <a:srgbClr val="33CC33"/>
                </a:solidFill>
                <a:ln w="25400" algn="ctr">
                  <a:solidFill>
                    <a:srgbClr val="33CC33"/>
                  </a:solidFill>
                  <a:round/>
                  <a:headEnd/>
                  <a:tailEnd type="none" w="lg" len="lg"/>
                </a:ln>
              </p:spPr>
              <p:txBody>
                <a:bodyPr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Text Box 47">
                  <a:extLst>
                    <a:ext uri="{FF2B5EF4-FFF2-40B4-BE49-F238E27FC236}">
                      <a16:creationId xmlns:a16="http://schemas.microsoft.com/office/drawing/2014/main" id="{7855A147-CD1C-9752-9354-52C871BE9E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2" y="2773"/>
                  <a:ext cx="167" cy="3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-</a:t>
                  </a:r>
                </a:p>
              </p:txBody>
            </p:sp>
          </p:grpSp>
          <p:sp>
            <p:nvSpPr>
              <p:cNvPr id="28" name="Line 48">
                <a:extLst>
                  <a:ext uri="{FF2B5EF4-FFF2-40B4-BE49-F238E27FC236}">
                    <a16:creationId xmlns:a16="http://schemas.microsoft.com/office/drawing/2014/main" id="{8CBE9B1F-17CA-ABFA-2D64-718A7B32B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53824" y="3294951"/>
                <a:ext cx="41275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29" name="Line 50">
                <a:extLst>
                  <a:ext uri="{FF2B5EF4-FFF2-40B4-BE49-F238E27FC236}">
                    <a16:creationId xmlns:a16="http://schemas.microsoft.com/office/drawing/2014/main" id="{4FA7FF74-DA35-3603-8312-A69E9D4A7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11301413" y="3134617"/>
                <a:ext cx="17144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84D3ABC-D978-A8F4-DEA8-5D7B4B6CB42A}"/>
              </a:ext>
            </a:extLst>
          </p:cNvPr>
          <p:cNvGrpSpPr/>
          <p:nvPr/>
        </p:nvGrpSpPr>
        <p:grpSpPr>
          <a:xfrm>
            <a:off x="6425537" y="5075852"/>
            <a:ext cx="2127249" cy="1273154"/>
            <a:chOff x="9636125" y="2902845"/>
            <a:chExt cx="2127249" cy="1273154"/>
          </a:xfrm>
        </p:grpSpPr>
        <p:grpSp>
          <p:nvGrpSpPr>
            <p:cNvPr id="41" name="Group 51">
              <a:extLst>
                <a:ext uri="{FF2B5EF4-FFF2-40B4-BE49-F238E27FC236}">
                  <a16:creationId xmlns:a16="http://schemas.microsoft.com/office/drawing/2014/main" id="{DD5E3CF3-6BDD-6467-DB0D-5AE4412005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9825" y="2902845"/>
              <a:ext cx="314325" cy="514341"/>
              <a:chOff x="3006" y="2789"/>
              <a:chExt cx="198" cy="318"/>
            </a:xfrm>
          </p:grpSpPr>
          <p:sp>
            <p:nvSpPr>
              <p:cNvPr id="57" name="Oval 52">
                <a:extLst>
                  <a:ext uri="{FF2B5EF4-FFF2-40B4-BE49-F238E27FC236}">
                    <a16:creationId xmlns:a16="http://schemas.microsoft.com/office/drawing/2014/main" id="{14B9FDC9-CD1A-275C-A973-82F182E5E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0" y="2924"/>
                <a:ext cx="68" cy="68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FFFF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8" name="Text Box 53">
                <a:extLst>
                  <a:ext uri="{FF2B5EF4-FFF2-40B4-BE49-F238E27FC236}">
                    <a16:creationId xmlns:a16="http://schemas.microsoft.com/office/drawing/2014/main" id="{3B674548-D332-5C61-69F3-A6D9D2E3DE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6" y="2789"/>
                <a:ext cx="198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  <p:sp>
          <p:nvSpPr>
            <p:cNvPr id="42" name="Line 54">
              <a:extLst>
                <a:ext uri="{FF2B5EF4-FFF2-40B4-BE49-F238E27FC236}">
                  <a16:creationId xmlns:a16="http://schemas.microsoft.com/office/drawing/2014/main" id="{78586BA9-84FA-35EC-E620-99D0973F5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6125" y="3171128"/>
              <a:ext cx="4127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3" name="Line 55">
              <a:extLst>
                <a:ext uri="{FF2B5EF4-FFF2-40B4-BE49-F238E27FC236}">
                  <a16:creationId xmlns:a16="http://schemas.microsoft.com/office/drawing/2014/main" id="{C5F4F41E-62FE-76F6-B272-2AFCA15BF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3675" y="3539422"/>
              <a:ext cx="4127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4" name="Line 56">
              <a:extLst>
                <a:ext uri="{FF2B5EF4-FFF2-40B4-BE49-F238E27FC236}">
                  <a16:creationId xmlns:a16="http://schemas.microsoft.com/office/drawing/2014/main" id="{E0E3D957-41AB-74FE-47EB-1BA362A2A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77574" y="3907716"/>
              <a:ext cx="4127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5" name="Line 57">
              <a:extLst>
                <a:ext uri="{FF2B5EF4-FFF2-40B4-BE49-F238E27FC236}">
                  <a16:creationId xmlns:a16="http://schemas.microsoft.com/office/drawing/2014/main" id="{C0654D3A-16B9-4877-D8C3-F6627E7706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0110789" y="3369563"/>
              <a:ext cx="17144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6" name="Line 58">
              <a:extLst>
                <a:ext uri="{FF2B5EF4-FFF2-40B4-BE49-F238E27FC236}">
                  <a16:creationId xmlns:a16="http://schemas.microsoft.com/office/drawing/2014/main" id="{D6CBEEE3-5552-F451-23F4-F54ED5AEC4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0825163" y="3747381"/>
              <a:ext cx="17144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grpSp>
          <p:nvGrpSpPr>
            <p:cNvPr id="47" name="Group 59">
              <a:extLst>
                <a:ext uri="{FF2B5EF4-FFF2-40B4-BE49-F238E27FC236}">
                  <a16:creationId xmlns:a16="http://schemas.microsoft.com/office/drawing/2014/main" id="{974632C5-741D-D7F1-8AEC-D9B4E523FE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34587" y="3280664"/>
              <a:ext cx="314325" cy="514341"/>
              <a:chOff x="3006" y="2789"/>
              <a:chExt cx="198" cy="318"/>
            </a:xfrm>
          </p:grpSpPr>
          <p:sp>
            <p:nvSpPr>
              <p:cNvPr id="55" name="Oval 60">
                <a:extLst>
                  <a:ext uri="{FF2B5EF4-FFF2-40B4-BE49-F238E27FC236}">
                    <a16:creationId xmlns:a16="http://schemas.microsoft.com/office/drawing/2014/main" id="{CCED2FCD-E8A6-A8ED-0CC7-B9F626669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0" y="2924"/>
                <a:ext cx="68" cy="68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FFFF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6" name="Text Box 61">
                <a:extLst>
                  <a:ext uri="{FF2B5EF4-FFF2-40B4-BE49-F238E27FC236}">
                    <a16:creationId xmlns:a16="http://schemas.microsoft.com/office/drawing/2014/main" id="{95A5E9D4-6FD8-5A9A-853F-76D4CD318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6" y="2789"/>
                <a:ext cx="198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  <p:grpSp>
          <p:nvGrpSpPr>
            <p:cNvPr id="48" name="Group 62">
              <a:extLst>
                <a:ext uri="{FF2B5EF4-FFF2-40B4-BE49-F238E27FC236}">
                  <a16:creationId xmlns:a16="http://schemas.microsoft.com/office/drawing/2014/main" id="{837FABD0-8624-603C-F5B2-0B5C89DAFB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39437" y="3274314"/>
              <a:ext cx="314325" cy="514341"/>
              <a:chOff x="3006" y="2789"/>
              <a:chExt cx="198" cy="318"/>
            </a:xfrm>
          </p:grpSpPr>
          <p:sp>
            <p:nvSpPr>
              <p:cNvPr id="53" name="Oval 63">
                <a:extLst>
                  <a:ext uri="{FF2B5EF4-FFF2-40B4-BE49-F238E27FC236}">
                    <a16:creationId xmlns:a16="http://schemas.microsoft.com/office/drawing/2014/main" id="{7A07142C-DD26-D8FA-0B6C-4DAE8ED79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0" y="2924"/>
                <a:ext cx="68" cy="68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FFFF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4" name="Text Box 64">
                <a:extLst>
                  <a:ext uri="{FF2B5EF4-FFF2-40B4-BE49-F238E27FC236}">
                    <a16:creationId xmlns:a16="http://schemas.microsoft.com/office/drawing/2014/main" id="{C70E17F1-6D60-20CC-6EA0-5EDB56391D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6" y="2789"/>
                <a:ext cx="198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  <p:sp>
          <p:nvSpPr>
            <p:cNvPr id="49" name="Oval 66">
              <a:extLst>
                <a:ext uri="{FF2B5EF4-FFF2-40B4-BE49-F238E27FC236}">
                  <a16:creationId xmlns:a16="http://schemas.microsoft.com/office/drawing/2014/main" id="{C195CA23-0D97-14FC-68C7-4C6BBEEC7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3881610"/>
              <a:ext cx="107950" cy="109991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FFFF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" name="Text Box 67">
              <a:extLst>
                <a:ext uri="{FF2B5EF4-FFF2-40B4-BE49-F238E27FC236}">
                  <a16:creationId xmlns:a16="http://schemas.microsoft.com/office/drawing/2014/main" id="{3D0BB966-3EBF-2A63-111B-E2D95D0A5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6425" y="3663245"/>
              <a:ext cx="314325" cy="512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51" name="Oval 69">
              <a:extLst>
                <a:ext uri="{FF2B5EF4-FFF2-40B4-BE49-F238E27FC236}">
                  <a16:creationId xmlns:a16="http://schemas.microsoft.com/office/drawing/2014/main" id="{FFDF09F4-FB3E-8D1F-8454-33087414B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0649" y="3875247"/>
              <a:ext cx="107950" cy="109985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FFFFFF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Text Box 70">
              <a:extLst>
                <a:ext uri="{FF2B5EF4-FFF2-40B4-BE49-F238E27FC236}">
                  <a16:creationId xmlns:a16="http://schemas.microsoft.com/office/drawing/2014/main" id="{64E6EC16-4B46-2C64-9343-D1C2A1AB4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49049" y="3656895"/>
              <a:ext cx="314325" cy="514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</p:grpSp>
      <p:sp>
        <p:nvSpPr>
          <p:cNvPr id="59" name="Text Box 73">
            <a:extLst>
              <a:ext uri="{FF2B5EF4-FFF2-40B4-BE49-F238E27FC236}">
                <a16:creationId xmlns:a16="http://schemas.microsoft.com/office/drawing/2014/main" id="{FEBD49AC-B717-DD04-93E2-786280F41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0886" y="4171233"/>
            <a:ext cx="1620837" cy="639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4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8000"/>
                </a:solidFill>
                <a:latin typeface="Arial" panose="020B0604020202020204" pitchFamily="34" charset="0"/>
              </a:rPr>
              <a:t>Rozamiento: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8000"/>
                </a:solidFill>
                <a:latin typeface="Arial" panose="020B0604020202020204" pitchFamily="34" charset="0"/>
              </a:rPr>
              <a:t>     E</a:t>
            </a:r>
            <a:r>
              <a:rPr lang="es-ES" sz="2000" baseline="-25000">
                <a:solidFill>
                  <a:srgbClr val="008000"/>
                </a:solidFill>
                <a:latin typeface="Arial" panose="020B0604020202020204" pitchFamily="34" charset="0"/>
              </a:rPr>
              <a:t>c</a:t>
            </a:r>
            <a:r>
              <a:rPr lang="es-ES" sz="2000">
                <a:solidFill>
                  <a:srgbClr val="008000"/>
                </a:solidFill>
                <a:latin typeface="Arial" panose="020B0604020202020204" pitchFamily="34" charset="0"/>
              </a:rPr>
              <a:t>  </a:t>
            </a:r>
            <a:r>
              <a:rPr lang="es-ES" sz="2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E</a:t>
            </a:r>
            <a:r>
              <a:rPr lang="es-ES" sz="2000" baseline="-250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</a:p>
        </p:txBody>
      </p:sp>
      <p:sp>
        <p:nvSpPr>
          <p:cNvPr id="60" name="Line 74">
            <a:extLst>
              <a:ext uri="{FF2B5EF4-FFF2-40B4-BE49-F238E27FC236}">
                <a16:creationId xmlns:a16="http://schemas.microsoft.com/office/drawing/2014/main" id="{301459AE-6DF1-A258-2948-BCD48B8174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42423" y="4388716"/>
            <a:ext cx="415925" cy="2762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118800" rIns="90000" bIns="118800" anchor="ctr" anchorCtr="1"/>
          <a:lstStyle/>
          <a:p>
            <a:endParaRPr lang="es-ES"/>
          </a:p>
        </p:txBody>
      </p:sp>
      <p:sp>
        <p:nvSpPr>
          <p:cNvPr id="61" name="Text Box 75">
            <a:extLst>
              <a:ext uri="{FF2B5EF4-FFF2-40B4-BE49-F238E27FC236}">
                <a16:creationId xmlns:a16="http://schemas.microsoft.com/office/drawing/2014/main" id="{C994FB43-5379-11A7-B875-F2DC728F4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936" y="3688641"/>
            <a:ext cx="2147887" cy="547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008000"/>
                </a:solidFill>
                <a:latin typeface="Arial" panose="020B0604020202020204" pitchFamily="34" charset="0"/>
              </a:rPr>
              <a:t>Campo: E</a:t>
            </a:r>
            <a:r>
              <a:rPr lang="es-ES" sz="2000" baseline="-25000" dirty="0">
                <a:solidFill>
                  <a:srgbClr val="008000"/>
                </a:solidFill>
                <a:latin typeface="Arial" panose="020B0604020202020204" pitchFamily="34" charset="0"/>
              </a:rPr>
              <a:t>P</a:t>
            </a:r>
            <a:r>
              <a:rPr lang="es-ES" sz="2000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0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 </a:t>
            </a:r>
            <a:r>
              <a:rPr lang="es-ES" sz="2000" dirty="0" err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000" baseline="-25000" dirty="0" err="1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endParaRPr lang="es-ES" sz="2000" baseline="-25000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2" name="Line 76">
            <a:extLst>
              <a:ext uri="{FF2B5EF4-FFF2-40B4-BE49-F238E27FC236}">
                <a16:creationId xmlns:a16="http://schemas.microsoft.com/office/drawing/2014/main" id="{C89C119F-FC7D-97E1-2CE0-DD3AA489F6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6961" y="4082334"/>
            <a:ext cx="346075" cy="2635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118800" rIns="90000" bIns="118800" anchor="ctr" anchorCtr="1"/>
          <a:lstStyle/>
          <a:p>
            <a:endParaRPr lang="es-ES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F2B7A697-9411-1A71-5815-787357AB0CAB}"/>
              </a:ext>
            </a:extLst>
          </p:cNvPr>
          <p:cNvGrpSpPr/>
          <p:nvPr/>
        </p:nvGrpSpPr>
        <p:grpSpPr>
          <a:xfrm>
            <a:off x="6349315" y="6193907"/>
            <a:ext cx="883993" cy="400103"/>
            <a:chOff x="7018707" y="3734212"/>
            <a:chExt cx="883993" cy="400103"/>
          </a:xfrm>
        </p:grpSpPr>
        <p:sp>
          <p:nvSpPr>
            <p:cNvPr id="64" name="CuadroTexto 10">
              <a:extLst>
                <a:ext uri="{FF2B5EF4-FFF2-40B4-BE49-F238E27FC236}">
                  <a16:creationId xmlns:a16="http://schemas.microsoft.com/office/drawing/2014/main" id="{6A66EE15-B07E-99D6-00B1-7A27F8178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6512" y="3734212"/>
              <a:ext cx="356188" cy="400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b="1">
                  <a:solidFill>
                    <a:srgbClr val="FF0000"/>
                  </a:solidFill>
                </a:rPr>
                <a:t>E</a:t>
              </a:r>
            </a:p>
          </p:txBody>
        </p:sp>
        <p:cxnSp>
          <p:nvCxnSpPr>
            <p:cNvPr id="65" name="Conector recto de flecha 12">
              <a:extLst>
                <a:ext uri="{FF2B5EF4-FFF2-40B4-BE49-F238E27FC236}">
                  <a16:creationId xmlns:a16="http://schemas.microsoft.com/office/drawing/2014/main" id="{C314C9F6-A72F-F9C5-4896-334A0EDE6F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018707" y="3934263"/>
              <a:ext cx="527805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6" name="Line 19">
              <a:extLst>
                <a:ext uri="{FF2B5EF4-FFF2-40B4-BE49-F238E27FC236}">
                  <a16:creationId xmlns:a16="http://schemas.microsoft.com/office/drawing/2014/main" id="{6EC62359-2D4A-7F52-7E16-F26242F73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46563" y="3766279"/>
              <a:ext cx="17938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</p:grpSp>
      <p:sp>
        <p:nvSpPr>
          <p:cNvPr id="67" name="CuadroTexto 66">
            <a:extLst>
              <a:ext uri="{FF2B5EF4-FFF2-40B4-BE49-F238E27FC236}">
                <a16:creationId xmlns:a16="http://schemas.microsoft.com/office/drawing/2014/main" id="{3DE4DF22-FC88-A08C-B561-5CBB6B447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2049" y="6175972"/>
            <a:ext cx="17341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dirty="0">
                <a:solidFill>
                  <a:srgbClr val="3333FF"/>
                </a:solidFill>
              </a:rPr>
              <a:t>h como e</a:t>
            </a:r>
            <a:r>
              <a:rPr lang="es-ES" baseline="30000" dirty="0">
                <a:solidFill>
                  <a:srgbClr val="3333FF"/>
                </a:solidFill>
              </a:rPr>
              <a:t>-</a:t>
            </a:r>
            <a:r>
              <a:rPr lang="es-ES" dirty="0">
                <a:solidFill>
                  <a:srgbClr val="3333FF"/>
                </a:solidFill>
              </a:rPr>
              <a:t>, pero al revés</a:t>
            </a:r>
          </a:p>
        </p:txBody>
      </p:sp>
      <p:sp>
        <p:nvSpPr>
          <p:cNvPr id="68" name="CuadroTexto 2">
            <a:extLst>
              <a:ext uri="{FF2B5EF4-FFF2-40B4-BE49-F238E27FC236}">
                <a16:creationId xmlns:a16="http://schemas.microsoft.com/office/drawing/2014/main" id="{CCF030B3-AC3A-9DB2-09AD-9E3F20EB3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441" y="4150024"/>
            <a:ext cx="3852756" cy="206476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/>
              <a:t>Representación de las corrientes de electrones y de huecos considerando el esquema de bandas de energía de un solido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2353222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59" grpId="0"/>
      <p:bldP spid="60" grpId="0" animBg="1"/>
      <p:bldP spid="61" grpId="0"/>
      <p:bldP spid="62" grpId="0" animBg="1"/>
      <p:bldP spid="67" grpId="0"/>
      <p:bldP spid="6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FED48B5D-B9CD-4941-934E-8900E91A6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507" y="777559"/>
            <a:ext cx="1548656" cy="4238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tIns="118800" bIns="118800"/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es-ES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88F7C0EA-6B56-4FD6-8C54-6BC2EC810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0" y="473722"/>
            <a:ext cx="903605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9.4 CORRIENTES EN UN SEMICONDUCTOR: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      DESPLAZAMIENTO Y DIFUSIÓN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EDF482CD-B21B-490A-A1BC-DCD65A099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3725" y="1691133"/>
            <a:ext cx="8028458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Son debidas </a:t>
            </a:r>
            <a:r>
              <a:rPr lang="es-ES" sz="2400" dirty="0">
                <a:latin typeface="Arial" panose="020B0604020202020204" pitchFamily="34" charset="0"/>
              </a:rPr>
              <a:t>a una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diferencia de concentración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de e</a:t>
            </a:r>
            <a:r>
              <a:rPr lang="es-ES" sz="2400" baseline="30000" dirty="0">
                <a:latin typeface="Arial" panose="020B0604020202020204" pitchFamily="34" charset="0"/>
              </a:rPr>
              <a:t>-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o h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91758997-51F2-43B2-A45F-052D25525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3412" y="2439585"/>
            <a:ext cx="7395057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El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movimiento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o de h, y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agitación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térmica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tienden a igualar la concentración de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o de h,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respectivamente, en un semiconductor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D1A9C084-B910-4736-8D27-291A9B429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301" y="3916427"/>
            <a:ext cx="8036237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El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proceso se puede ver como una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mezcla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o de h,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de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zonas con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diferente concentración,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extendida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 todo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el semiconductor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B1217E0E-8039-4128-8645-C285C9A4C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443" y="5444639"/>
            <a:ext cx="7959302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Y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cada mezcla, a su vez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se puede entender, como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una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corriente neta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(una corriente mayor hacia menor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concentración menos una menor en sentido contrario)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116572" y="2818692"/>
            <a:ext cx="3287713" cy="800100"/>
            <a:chOff x="1402" y="3397"/>
            <a:chExt cx="2071" cy="504"/>
          </a:xfrm>
        </p:grpSpPr>
        <p:sp>
          <p:nvSpPr>
            <p:cNvPr id="11282" name="Rectangle 10"/>
            <p:cNvSpPr>
              <a:spLocks noChangeArrowheads="1"/>
            </p:cNvSpPr>
            <p:nvPr/>
          </p:nvSpPr>
          <p:spPr bwMode="auto">
            <a:xfrm>
              <a:off x="1402" y="3397"/>
              <a:ext cx="2071" cy="504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82800" rIns="90000" bIns="82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1283" name="Object 11"/>
            <p:cNvGraphicFramePr>
              <a:graphicFrameLocks noChangeAspect="1"/>
            </p:cNvGraphicFramePr>
            <p:nvPr/>
          </p:nvGraphicFramePr>
          <p:xfrm>
            <a:off x="1533" y="3477"/>
            <a:ext cx="179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358310" imgH="253890" progId="Equation.3">
                    <p:embed/>
                  </p:oleObj>
                </mc:Choice>
                <mc:Fallback>
                  <p:oleObj name="Ecuación" r:id="rId3" imgW="1358310" imgH="253890" progId="Equation.3">
                    <p:embed/>
                    <p:pic>
                      <p:nvPicPr>
                        <p:cNvPr id="11283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3" y="3477"/>
                          <a:ext cx="1799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0220" name="Text Box 12"/>
          <p:cNvSpPr txBox="1">
            <a:spLocks noChangeArrowheads="1"/>
          </p:cNvSpPr>
          <p:nvPr/>
        </p:nvSpPr>
        <p:spPr bwMode="auto">
          <a:xfrm>
            <a:off x="3833108" y="4629888"/>
            <a:ext cx="3888151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Coeficiente de Difusión</a:t>
            </a:r>
          </a:p>
        </p:txBody>
      </p:sp>
      <p:sp>
        <p:nvSpPr>
          <p:cNvPr id="5" name="CuadroTexto 4"/>
          <p:cNvSpPr txBox="1">
            <a:spLocks noChangeArrowheads="1"/>
          </p:cNvSpPr>
          <p:nvPr/>
        </p:nvSpPr>
        <p:spPr bwMode="auto">
          <a:xfrm>
            <a:off x="2253342" y="5492733"/>
            <a:ext cx="7053942" cy="1200329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80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Da cuenta de como de fácil es la difusión (</a:t>
            </a:r>
            <a:r>
              <a:rPr lang="es-ES" sz="2400">
                <a:solidFill>
                  <a:schemeClr val="tx1"/>
                </a:solidFill>
              </a:rPr>
              <a:t>como </a:t>
            </a:r>
            <a:r>
              <a:rPr lang="es-ES" sz="2400">
                <a:solidFill>
                  <a:schemeClr val="tx1"/>
                </a:solidFill>
                <a:sym typeface="Symbol" panose="05050102010706020507" pitchFamily="18" charset="2"/>
              </a:rPr>
              <a:t> en la conducción). Y depende, como , del material, pero a diferencia de , </a:t>
            </a:r>
            <a:r>
              <a:rPr lang="es-ES" sz="2400" dirty="0">
                <a:solidFill>
                  <a:srgbClr val="3333FF"/>
                </a:solidFill>
                <a:sym typeface="Symbol" panose="05050102010706020507" pitchFamily="18" charset="2"/>
              </a:rPr>
              <a:t>crece con T</a:t>
            </a:r>
            <a:endParaRPr lang="es-ES" sz="2400" dirty="0">
              <a:solidFill>
                <a:srgbClr val="3333FF"/>
              </a:solidFill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2377440" y="3807320"/>
            <a:ext cx="6797040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“+”, el cambio de signo, es por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considerar Q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CA8C96FC-C5BF-4431-85DB-317214679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1044" y="2817352"/>
            <a:ext cx="1886079" cy="781884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08000" rIns="90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Ley de Fick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A5EFCCCF-467E-4763-BE41-075FDC37F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985" y="401381"/>
            <a:ext cx="8085005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Ambas corrientes tienden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igualar las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concentraciones,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son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proporcionales al gradiente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su concentración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ocurren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sentido contrario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 él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308BC4E9-6E3F-8C82-518D-3F31270E0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252" y="1837903"/>
            <a:ext cx="803623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corriente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total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suma de la de e- y 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h: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802930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90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9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0220" grpId="0" animBg="1"/>
      <p:bldP spid="5" grpId="0" animBg="1"/>
      <p:bldP spid="13" grpId="0"/>
      <p:bldP spid="15" grpId="0" animBg="1"/>
      <p:bldP spid="18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282969" y="357803"/>
            <a:ext cx="26352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9.5 UNIÓN PN</a:t>
            </a:r>
          </a:p>
        </p:txBody>
      </p:sp>
      <p:sp>
        <p:nvSpPr>
          <p:cNvPr id="13348" name="Text Box 13"/>
          <p:cNvSpPr txBox="1">
            <a:spLocks noChangeArrowheads="1"/>
          </p:cNvSpPr>
          <p:nvPr/>
        </p:nvSpPr>
        <p:spPr bwMode="auto">
          <a:xfrm>
            <a:off x="7749094" y="426398"/>
            <a:ext cx="2575042" cy="6092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SIN POLARIZAR</a:t>
            </a:r>
          </a:p>
        </p:txBody>
      </p:sp>
      <p:sp>
        <p:nvSpPr>
          <p:cNvPr id="13349" name="Text Box 14"/>
          <p:cNvSpPr txBox="1">
            <a:spLocks noChangeArrowheads="1"/>
          </p:cNvSpPr>
          <p:nvPr/>
        </p:nvSpPr>
        <p:spPr bwMode="auto">
          <a:xfrm>
            <a:off x="7792362" y="948493"/>
            <a:ext cx="2504509" cy="547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(sin aplicar una </a:t>
            </a:r>
            <a:r>
              <a:rPr lang="es-ES" sz="2000" dirty="0" err="1">
                <a:solidFill>
                  <a:srgbClr val="FF0000"/>
                </a:solidFill>
                <a:latin typeface="Arial" panose="020B0604020202020204" pitchFamily="34" charset="0"/>
              </a:rPr>
              <a:t>ddp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8B3A352-1321-4AFB-B3B0-C334D6A0D318}"/>
              </a:ext>
            </a:extLst>
          </p:cNvPr>
          <p:cNvGrpSpPr/>
          <p:nvPr/>
        </p:nvGrpSpPr>
        <p:grpSpPr>
          <a:xfrm>
            <a:off x="1873250" y="1864092"/>
            <a:ext cx="2735263" cy="1261305"/>
            <a:chOff x="1873250" y="2982787"/>
            <a:chExt cx="2735263" cy="1261305"/>
          </a:xfrm>
        </p:grpSpPr>
        <p:grpSp>
          <p:nvGrpSpPr>
            <p:cNvPr id="13316" name="Group 19"/>
            <p:cNvGrpSpPr>
              <a:grpSpLocks/>
            </p:cNvGrpSpPr>
            <p:nvPr/>
          </p:nvGrpSpPr>
          <p:grpSpPr bwMode="auto">
            <a:xfrm>
              <a:off x="1873250" y="2982787"/>
              <a:ext cx="2735263" cy="1261305"/>
              <a:chOff x="1210" y="1204"/>
              <a:chExt cx="428" cy="172"/>
            </a:xfrm>
          </p:grpSpPr>
          <p:sp>
            <p:nvSpPr>
              <p:cNvPr id="2" name="Rectangle 15"/>
              <p:cNvSpPr>
                <a:spLocks noChangeArrowheads="1"/>
              </p:cNvSpPr>
              <p:nvPr/>
            </p:nvSpPr>
            <p:spPr bwMode="auto">
              <a:xfrm>
                <a:off x="1210" y="1204"/>
                <a:ext cx="216" cy="172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347" name="Rectangle 17"/>
              <p:cNvSpPr>
                <a:spLocks noChangeArrowheads="1"/>
              </p:cNvSpPr>
              <p:nvPr/>
            </p:nvSpPr>
            <p:spPr bwMode="auto">
              <a:xfrm>
                <a:off x="1422" y="1204"/>
                <a:ext cx="216" cy="172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317" name="Text Box 18"/>
            <p:cNvSpPr txBox="1">
              <a:spLocks noChangeArrowheads="1"/>
            </p:cNvSpPr>
            <p:nvPr/>
          </p:nvSpPr>
          <p:spPr bwMode="auto">
            <a:xfrm>
              <a:off x="3751263" y="3265364"/>
              <a:ext cx="474662" cy="725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32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3318" name="Text Box 16"/>
            <p:cNvSpPr txBox="1">
              <a:spLocks noChangeArrowheads="1"/>
            </p:cNvSpPr>
            <p:nvPr/>
          </p:nvSpPr>
          <p:spPr bwMode="auto">
            <a:xfrm>
              <a:off x="2284413" y="3265364"/>
              <a:ext cx="452437" cy="725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320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</p:grpSp>
      <p:sp>
        <p:nvSpPr>
          <p:cNvPr id="924692" name="Text Box 20"/>
          <p:cNvSpPr txBox="1">
            <a:spLocks noChangeArrowheads="1"/>
          </p:cNvSpPr>
          <p:nvPr/>
        </p:nvSpPr>
        <p:spPr bwMode="auto">
          <a:xfrm>
            <a:off x="5136709" y="1824571"/>
            <a:ext cx="5233898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Las d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iferencias de concentraciones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generan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corrientes de difusión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24693" name="Text Box 21"/>
          <p:cNvSpPr txBox="1">
            <a:spLocks noChangeArrowheads="1"/>
          </p:cNvSpPr>
          <p:nvPr/>
        </p:nvSpPr>
        <p:spPr bwMode="auto">
          <a:xfrm>
            <a:off x="1093661" y="3602745"/>
            <a:ext cx="38671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0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:  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Minoritarios   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Mayoritarios</a:t>
            </a:r>
          </a:p>
        </p:txBody>
      </p:sp>
      <p:sp>
        <p:nvSpPr>
          <p:cNvPr id="924694" name="Text Box 22"/>
          <p:cNvSpPr txBox="1">
            <a:spLocks noChangeArrowheads="1"/>
          </p:cNvSpPr>
          <p:nvPr/>
        </p:nvSpPr>
        <p:spPr bwMode="auto">
          <a:xfrm>
            <a:off x="1317012" y="3218697"/>
            <a:ext cx="3398984" cy="547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  <a:r>
              <a:rPr lang="es-ES" sz="2000" dirty="0">
                <a:latin typeface="Arial" panose="020B0604020202020204" pitchFamily="34" charset="0"/>
              </a:rPr>
              <a:t>:</a:t>
            </a:r>
            <a:r>
              <a:rPr lang="es-ES" sz="2000" dirty="0">
                <a:solidFill>
                  <a:srgbClr val="008000"/>
                </a:solidFill>
                <a:latin typeface="Arial" panose="020B0604020202020204" pitchFamily="34" charset="0"/>
              </a:rPr>
              <a:t>  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Mayoritarios 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Minoritarios</a:t>
            </a:r>
          </a:p>
        </p:txBody>
      </p:sp>
      <p:sp>
        <p:nvSpPr>
          <p:cNvPr id="924698" name="Text Box 26"/>
          <p:cNvSpPr txBox="1">
            <a:spLocks noChangeArrowheads="1"/>
          </p:cNvSpPr>
          <p:nvPr/>
        </p:nvSpPr>
        <p:spPr bwMode="auto">
          <a:xfrm>
            <a:off x="5098809" y="4421485"/>
            <a:ext cx="5254120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Las corrientes dan lugar 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excesos de carga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a ambos lados de la unión</a:t>
            </a:r>
          </a:p>
        </p:txBody>
      </p:sp>
      <p:sp>
        <p:nvSpPr>
          <p:cNvPr id="924701" name="Text Box 29"/>
          <p:cNvSpPr txBox="1">
            <a:spLocks noChangeArrowheads="1"/>
          </p:cNvSpPr>
          <p:nvPr/>
        </p:nvSpPr>
        <p:spPr bwMode="auto">
          <a:xfrm>
            <a:off x="3235325" y="1883144"/>
            <a:ext cx="3286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924702" name="Text Box 30"/>
          <p:cNvSpPr txBox="1">
            <a:spLocks noChangeArrowheads="1"/>
          </p:cNvSpPr>
          <p:nvPr/>
        </p:nvSpPr>
        <p:spPr bwMode="auto">
          <a:xfrm>
            <a:off x="2940050" y="1892669"/>
            <a:ext cx="2651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924711" name="Text Box 39"/>
          <p:cNvSpPr txBox="1">
            <a:spLocks noChangeArrowheads="1"/>
          </p:cNvSpPr>
          <p:nvPr/>
        </p:nvSpPr>
        <p:spPr bwMode="auto">
          <a:xfrm>
            <a:off x="5073594" y="5492144"/>
            <a:ext cx="5545060" cy="125340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 Son los portadores que llegan, más las impurezas ionizadas </a:t>
            </a:r>
            <a:r>
              <a:rPr lang="es-ES" sz="2400">
                <a:latin typeface="Arial" panose="020B0604020202020204" pitchFamily="34" charset="0"/>
              </a:rPr>
              <a:t>sin compensar </a:t>
            </a:r>
            <a:r>
              <a:rPr lang="es-ES" sz="2400" dirty="0">
                <a:latin typeface="Arial" panose="020B0604020202020204" pitchFamily="34" charset="0"/>
              </a:rPr>
              <a:t>que dejan los que se van</a:t>
            </a:r>
            <a:endParaRPr lang="es-ES" sz="2400" baseline="30000" dirty="0">
              <a:latin typeface="Arial" panose="020B0604020202020204" pitchFamily="34" charset="0"/>
            </a:endParaRP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6965950" y="2983926"/>
            <a:ext cx="2281238" cy="1246909"/>
            <a:chOff x="6965879" y="2483825"/>
            <a:chExt cx="2281309" cy="1247560"/>
          </a:xfrm>
        </p:grpSpPr>
        <p:sp>
          <p:nvSpPr>
            <p:cNvPr id="13342" name="Rectángulo 1"/>
            <p:cNvSpPr>
              <a:spLocks noChangeArrowheads="1"/>
            </p:cNvSpPr>
            <p:nvPr/>
          </p:nvSpPr>
          <p:spPr bwMode="auto">
            <a:xfrm>
              <a:off x="6965879" y="2483825"/>
              <a:ext cx="2281309" cy="124756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/>
            </a:p>
          </p:txBody>
        </p:sp>
        <p:grpSp>
          <p:nvGrpSpPr>
            <p:cNvPr id="4" name="Group 43"/>
            <p:cNvGrpSpPr>
              <a:grpSpLocks/>
            </p:cNvGrpSpPr>
            <p:nvPr/>
          </p:nvGrpSpPr>
          <p:grpSpPr bwMode="auto">
            <a:xfrm>
              <a:off x="7083034" y="2517149"/>
              <a:ext cx="2057400" cy="1127125"/>
              <a:chOff x="3659" y="1471"/>
              <a:chExt cx="1296" cy="710"/>
            </a:xfrm>
            <a:noFill/>
          </p:grpSpPr>
          <p:sp>
            <p:nvSpPr>
              <p:cNvPr id="5" name="Text Box 23"/>
              <p:cNvSpPr txBox="1">
                <a:spLocks noChangeArrowheads="1"/>
              </p:cNvSpPr>
              <p:nvPr/>
            </p:nvSpPr>
            <p:spPr bwMode="auto">
              <a:xfrm>
                <a:off x="3659" y="1471"/>
                <a:ext cx="1292" cy="3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P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 </a:t>
                </a:r>
                <a:r>
                  <a:rPr lang="es-ES" sz="200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:   </a:t>
                </a: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r>
                  <a:rPr lang="es-ES" sz="2000" baseline="-25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DIF</a:t>
                </a: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 h</a:t>
                </a:r>
              </a:p>
            </p:txBody>
          </p:sp>
          <p:sp>
            <p:nvSpPr>
              <p:cNvPr id="10" name="Text Box 24"/>
              <p:cNvSpPr txBox="1">
                <a:spLocks noChangeArrowheads="1"/>
              </p:cNvSpPr>
              <p:nvPr/>
            </p:nvSpPr>
            <p:spPr bwMode="auto">
              <a:xfrm>
                <a:off x="3689" y="1839"/>
                <a:ext cx="1266" cy="3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P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 </a:t>
                </a:r>
                <a:r>
                  <a:rPr lang="es-ES" sz="200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:   </a:t>
                </a: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r>
                  <a:rPr lang="es-ES" sz="2000" baseline="-25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DIF</a:t>
                </a: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 e</a:t>
                </a:r>
                <a:r>
                  <a:rPr lang="es-ES" sz="200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-</a:t>
                </a: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42" name="Text Box 22">
            <a:extLst>
              <a:ext uri="{FF2B5EF4-FFF2-40B4-BE49-F238E27FC236}">
                <a16:creationId xmlns:a16="http://schemas.microsoft.com/office/drawing/2014/main" id="{B76EAF87-5300-4222-8529-81096210D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151" y="5603419"/>
            <a:ext cx="3519494" cy="85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FF00FF"/>
                </a:solidFill>
                <a:latin typeface="Arial" panose="020B0604020202020204" pitchFamily="34" charset="0"/>
              </a:rPr>
              <a:t>(pero el cristal es neutro por las impurezas ionizadas)</a:t>
            </a:r>
            <a:endParaRPr lang="es-ES" sz="2000" dirty="0">
              <a:solidFill>
                <a:srgbClr val="FF00FF"/>
              </a:solidFill>
              <a:latin typeface="Arial" panose="020B0604020202020204" pitchFamily="34" charset="0"/>
            </a:endParaRPr>
          </a:p>
        </p:txBody>
      </p:sp>
      <p:sp>
        <p:nvSpPr>
          <p:cNvPr id="44" name="Text Box 34">
            <a:extLst>
              <a:ext uri="{FF2B5EF4-FFF2-40B4-BE49-F238E27FC236}">
                <a16:creationId xmlns:a16="http://schemas.microsoft.com/office/drawing/2014/main" id="{18D26C2C-CE97-4352-967B-1D9895C34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391" y="712998"/>
            <a:ext cx="5254120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188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(frontera entre una </a:t>
            </a:r>
            <a:r>
              <a:rPr lang="es-ES" sz="2400">
                <a:solidFill>
                  <a:srgbClr val="CC0000"/>
                </a:solidFill>
                <a:latin typeface="Arial" panose="020B0604020202020204" pitchFamily="34" charset="0"/>
              </a:rPr>
              <a:t>región P y </a:t>
            </a: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otra N </a:t>
            </a:r>
            <a:r>
              <a:rPr lang="es-ES" sz="2400" u="sng" dirty="0">
                <a:solidFill>
                  <a:srgbClr val="CC0000"/>
                </a:solidFill>
                <a:latin typeface="Arial" panose="020B0604020202020204" pitchFamily="34" charset="0"/>
              </a:rPr>
              <a:t>en un mismo</a:t>
            </a:r>
            <a:r>
              <a:rPr lang="es-ES" sz="2400" dirty="0">
                <a:solidFill>
                  <a:srgbClr val="CC0000"/>
                </a:solidFill>
                <a:latin typeface="Arial" panose="020B0604020202020204" pitchFamily="34" charset="0"/>
              </a:rPr>
              <a:t> semiconductor)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D10A464-52EC-B95C-549B-77CB13B91F9B}"/>
              </a:ext>
            </a:extLst>
          </p:cNvPr>
          <p:cNvCxnSpPr/>
          <p:nvPr/>
        </p:nvCxnSpPr>
        <p:spPr bwMode="auto">
          <a:xfrm>
            <a:off x="3225052" y="3361873"/>
            <a:ext cx="0" cy="63354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F90438D-5207-6DBF-E45E-C91EF7E099AE}"/>
              </a:ext>
            </a:extLst>
          </p:cNvPr>
          <p:cNvGrpSpPr/>
          <p:nvPr/>
        </p:nvGrpSpPr>
        <p:grpSpPr>
          <a:xfrm>
            <a:off x="1730921" y="4082683"/>
            <a:ext cx="3008707" cy="1618011"/>
            <a:chOff x="1730921" y="3865823"/>
            <a:chExt cx="3008707" cy="161801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925818A4-2F1C-4B29-BFE9-ACFC1D5C1EBC}"/>
                </a:ext>
              </a:extLst>
            </p:cNvPr>
            <p:cNvGrpSpPr/>
            <p:nvPr/>
          </p:nvGrpSpPr>
          <p:grpSpPr>
            <a:xfrm>
              <a:off x="1730921" y="3865823"/>
              <a:ext cx="3008707" cy="1618011"/>
              <a:chOff x="1730921" y="2957585"/>
              <a:chExt cx="3008707" cy="1618011"/>
            </a:xfrm>
          </p:grpSpPr>
          <p:sp>
            <p:nvSpPr>
              <p:cNvPr id="38" name="Text Box 22">
                <a:extLst>
                  <a:ext uri="{FF2B5EF4-FFF2-40B4-BE49-F238E27FC236}">
                    <a16:creationId xmlns:a16="http://schemas.microsoft.com/office/drawing/2014/main" id="{3EF44084-9C69-4DB5-8565-CD2EE7372F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0921" y="2957585"/>
                <a:ext cx="3008707" cy="1163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000">
                    <a:latin typeface="Arial" panose="020B0604020202020204" pitchFamily="34" charset="0"/>
                  </a:rPr>
                  <a:t>Hay mayor presencia</a:t>
                </a:r>
              </a:p>
              <a:p>
                <a:pPr algn="ctr" eaLnBrk="1" hangingPunct="1">
                  <a:spcBef>
                    <a:spcPts val="0"/>
                  </a:spcBef>
                  <a:buFontTx/>
                  <a:buNone/>
                </a:pPr>
                <a:r>
                  <a:rPr lang="es-ES" sz="2000">
                    <a:latin typeface="Arial" panose="020B0604020202020204" pitchFamily="34" charset="0"/>
                  </a:rPr>
                  <a:t>en </a:t>
                </a:r>
                <a:r>
                  <a:rPr lang="es-ES" sz="2000" b="1">
                    <a:latin typeface="Arial" panose="020B0604020202020204" pitchFamily="34" charset="0"/>
                  </a:rPr>
                  <a:t>BC </a:t>
                </a:r>
                <a:r>
                  <a:rPr lang="es-ES" sz="2000">
                    <a:latin typeface="Arial" panose="020B0604020202020204" pitchFamily="34" charset="0"/>
                  </a:rPr>
                  <a:t>+ </a:t>
                </a:r>
                <a:r>
                  <a:rPr lang="es-ES" sz="2000" b="1">
                    <a:latin typeface="Arial" panose="020B0604020202020204" pitchFamily="34" charset="0"/>
                  </a:rPr>
                  <a:t>BV</a:t>
                </a:r>
                <a:r>
                  <a:rPr lang="es-ES" sz="2000">
                    <a:latin typeface="Arial" panose="020B0604020202020204" pitchFamily="34" charset="0"/>
                  </a:rPr>
                  <a:t> </a:t>
                </a:r>
                <a:r>
                  <a:rPr lang="es-ES" sz="2000" dirty="0">
                    <a:latin typeface="Arial" panose="020B0604020202020204" pitchFamily="34" charset="0"/>
                  </a:rPr>
                  <a:t>de portadores de carga:</a:t>
                </a:r>
              </a:p>
            </p:txBody>
          </p:sp>
          <p:sp>
            <p:nvSpPr>
              <p:cNvPr id="39" name="Text Box 22">
                <a:extLst>
                  <a:ext uri="{FF2B5EF4-FFF2-40B4-BE49-F238E27FC236}">
                    <a16:creationId xmlns:a16="http://schemas.microsoft.com/office/drawing/2014/main" id="{0CBB8687-845C-40BA-B26E-3C498C2E5B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0574" y="4019864"/>
                <a:ext cx="1418972" cy="547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“</a:t>
                </a:r>
                <a:r>
                  <a:rPr lang="es-ES" sz="2000" dirty="0" err="1">
                    <a:solidFill>
                      <a:srgbClr val="FF0000"/>
                    </a:solidFill>
                    <a:latin typeface="Arial" panose="020B0604020202020204" pitchFamily="34" charset="0"/>
                  </a:rPr>
                  <a:t>N”egativa</a:t>
                </a:r>
                <a:endParaRPr lang="es-ES" sz="2000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" name="Text Box 22">
                <a:extLst>
                  <a:ext uri="{FF2B5EF4-FFF2-40B4-BE49-F238E27FC236}">
                    <a16:creationId xmlns:a16="http://schemas.microsoft.com/office/drawing/2014/main" id="{BE3FB7A6-5722-4A32-80EB-FC1C382354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3250" y="4027899"/>
                <a:ext cx="1338719" cy="547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squar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“</a:t>
                </a:r>
                <a:r>
                  <a:rPr lang="es-ES" sz="2000" dirty="0" err="1">
                    <a:solidFill>
                      <a:srgbClr val="3333FF"/>
                    </a:solidFill>
                    <a:latin typeface="Arial" panose="020B0604020202020204" pitchFamily="34" charset="0"/>
                  </a:rPr>
                  <a:t>P”ositiva</a:t>
                </a:r>
                <a:endParaRPr lang="es-ES" sz="2000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6749B4FD-1049-F3E5-7729-C68A5ACEFD6B}"/>
                </a:ext>
              </a:extLst>
            </p:cNvPr>
            <p:cNvCxnSpPr/>
            <p:nvPr/>
          </p:nvCxnSpPr>
          <p:spPr bwMode="auto">
            <a:xfrm>
              <a:off x="3223342" y="5040936"/>
              <a:ext cx="0" cy="32510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24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2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92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2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2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2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92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92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8" grpId="0" animBg="1"/>
      <p:bldP spid="13349" grpId="0"/>
      <p:bldP spid="924692" grpId="0"/>
      <p:bldP spid="924693" grpId="0"/>
      <p:bldP spid="924694" grpId="0"/>
      <p:bldP spid="924698" grpId="0"/>
      <p:bldP spid="924701" grpId="0"/>
      <p:bldP spid="924702" grpId="0"/>
      <p:bldP spid="924711" grpId="0" animBg="1"/>
      <p:bldP spid="42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31">
            <a:extLst>
              <a:ext uri="{FF2B5EF4-FFF2-40B4-BE49-F238E27FC236}">
                <a16:creationId xmlns:a16="http://schemas.microsoft.com/office/drawing/2014/main" id="{F1CB3253-28FF-4469-A001-5F71B3B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816" y="399406"/>
            <a:ext cx="5969286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Los excesos de carga crean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que genera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corrientes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desplazamiento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44CAB61-7ADD-4345-B24F-4D5DF2D120A2}"/>
              </a:ext>
            </a:extLst>
          </p:cNvPr>
          <p:cNvGrpSpPr>
            <a:grpSpLocks/>
          </p:cNvGrpSpPr>
          <p:nvPr/>
        </p:nvGrpSpPr>
        <p:grpSpPr bwMode="auto">
          <a:xfrm>
            <a:off x="6975094" y="1646101"/>
            <a:ext cx="2281238" cy="1246909"/>
            <a:chOff x="6965878" y="5487249"/>
            <a:chExt cx="2281309" cy="1247560"/>
          </a:xfrm>
        </p:grpSpPr>
        <p:sp>
          <p:nvSpPr>
            <p:cNvPr id="32" name="Rectángulo 33">
              <a:extLst>
                <a:ext uri="{FF2B5EF4-FFF2-40B4-BE49-F238E27FC236}">
                  <a16:creationId xmlns:a16="http://schemas.microsoft.com/office/drawing/2014/main" id="{547AC5A3-4839-40E3-9E3D-3414A879E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5878" y="5487249"/>
              <a:ext cx="2281309" cy="1247560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/>
            </a:p>
          </p:txBody>
        </p:sp>
        <p:grpSp>
          <p:nvGrpSpPr>
            <p:cNvPr id="33" name="Group 47">
              <a:extLst>
                <a:ext uri="{FF2B5EF4-FFF2-40B4-BE49-F238E27FC236}">
                  <a16:creationId xmlns:a16="http://schemas.microsoft.com/office/drawing/2014/main" id="{E62BB1B0-8D50-41F9-AB67-99E04FA34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42508" y="5546409"/>
              <a:ext cx="2136775" cy="1090613"/>
              <a:chOff x="3716" y="3993"/>
              <a:chExt cx="1346" cy="687"/>
            </a:xfrm>
          </p:grpSpPr>
          <p:sp>
            <p:nvSpPr>
              <p:cNvPr id="34" name="Text Box 33">
                <a:extLst>
                  <a:ext uri="{FF2B5EF4-FFF2-40B4-BE49-F238E27FC236}">
                    <a16:creationId xmlns:a16="http://schemas.microsoft.com/office/drawing/2014/main" id="{3CC4F9A7-64BD-45A0-B4F0-BF31BACBCD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1" y="4338"/>
                <a:ext cx="1311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P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 </a:t>
                </a:r>
                <a:r>
                  <a:rPr lang="es-ES" sz="200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:   </a:t>
                </a: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r>
                  <a:rPr lang="es-ES" sz="2000" baseline="-25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DES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  e</a:t>
                </a:r>
                <a:r>
                  <a:rPr lang="es-ES" sz="2000" baseline="30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-</a:t>
                </a: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35" name="Text Box 34">
                <a:extLst>
                  <a:ext uri="{FF2B5EF4-FFF2-40B4-BE49-F238E27FC236}">
                    <a16:creationId xmlns:a16="http://schemas.microsoft.com/office/drawing/2014/main" id="{F0CC14E7-8077-4A77-BED7-B05C50FA0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6" y="3993"/>
                <a:ext cx="1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P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 </a:t>
                </a:r>
                <a:r>
                  <a:rPr lang="es-ES" sz="2000">
                    <a:solidFill>
                      <a:srgbClr val="FF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N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:   </a:t>
                </a:r>
                <a:r>
                  <a:rPr lang="es-ES" sz="2000">
                    <a:solidFill>
                      <a:srgbClr val="008000"/>
                    </a:solidFill>
                    <a:latin typeface="Comic Sans MS" panose="030F0702030302020204" pitchFamily="66" charset="0"/>
                    <a:sym typeface="Symbol" panose="05050102010706020507" pitchFamily="18" charset="2"/>
                  </a:rPr>
                  <a:t>I</a:t>
                </a:r>
                <a:r>
                  <a:rPr lang="es-ES" sz="2000" baseline="-25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DES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   h</a:t>
                </a:r>
              </a:p>
            </p:txBody>
          </p:sp>
        </p:grpSp>
      </p:grpSp>
      <p:sp>
        <p:nvSpPr>
          <p:cNvPr id="45" name="Text Box 31">
            <a:extLst>
              <a:ext uri="{FF2B5EF4-FFF2-40B4-BE49-F238E27FC236}">
                <a16:creationId xmlns:a16="http://schemas.microsoft.com/office/drawing/2014/main" id="{5F5DA6D0-57A6-4C62-966C-EBBA5173E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599" y="3285392"/>
            <a:ext cx="5203744" cy="171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Son, inicialmente,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despreciables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frente a las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difusión,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al asociarse 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portadores minoritarios, y tienen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sentido contrario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6" name="Text Box 10">
            <a:extLst>
              <a:ext uri="{FF2B5EF4-FFF2-40B4-BE49-F238E27FC236}">
                <a16:creationId xmlns:a16="http://schemas.microsoft.com/office/drawing/2014/main" id="{4F6C3725-5122-46B9-90D8-AA1BDDDB5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279" y="5230540"/>
            <a:ext cx="8355694" cy="1253402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44000" tIns="72000" rIns="144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None/>
            </a:pP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opone 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difusión: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Sólo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los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portadores con suficiente energía cruzan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zona con excesos, transformando 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E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(como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pasa al lanzar un objeto que llegue al techo)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933FE4C6-9186-4557-BFA7-4723C97B403C}"/>
              </a:ext>
            </a:extLst>
          </p:cNvPr>
          <p:cNvGrpSpPr/>
          <p:nvPr/>
        </p:nvGrpSpPr>
        <p:grpSpPr>
          <a:xfrm>
            <a:off x="1873250" y="1864092"/>
            <a:ext cx="2735263" cy="1261305"/>
            <a:chOff x="1873250" y="2982787"/>
            <a:chExt cx="2735263" cy="1261305"/>
          </a:xfrm>
        </p:grpSpPr>
        <p:grpSp>
          <p:nvGrpSpPr>
            <p:cNvPr id="48" name="Group 19">
              <a:extLst>
                <a:ext uri="{FF2B5EF4-FFF2-40B4-BE49-F238E27FC236}">
                  <a16:creationId xmlns:a16="http://schemas.microsoft.com/office/drawing/2014/main" id="{EBFBDC60-F8A9-4B94-B761-D7340AE50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3250" y="2982787"/>
              <a:ext cx="2735263" cy="1261305"/>
              <a:chOff x="1210" y="1204"/>
              <a:chExt cx="428" cy="172"/>
            </a:xfrm>
          </p:grpSpPr>
          <p:sp>
            <p:nvSpPr>
              <p:cNvPr id="51" name="Rectangle 15">
                <a:extLst>
                  <a:ext uri="{FF2B5EF4-FFF2-40B4-BE49-F238E27FC236}">
                    <a16:creationId xmlns:a16="http://schemas.microsoft.com/office/drawing/2014/main" id="{00936229-3726-4221-9F41-96D4D3449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" y="1204"/>
                <a:ext cx="216" cy="172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2" name="Rectangle 17">
                <a:extLst>
                  <a:ext uri="{FF2B5EF4-FFF2-40B4-BE49-F238E27FC236}">
                    <a16:creationId xmlns:a16="http://schemas.microsoft.com/office/drawing/2014/main" id="{AE943C1E-DE77-4F9F-A4EE-9F192D36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1204"/>
                <a:ext cx="216" cy="172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9" name="Text Box 18">
              <a:extLst>
                <a:ext uri="{FF2B5EF4-FFF2-40B4-BE49-F238E27FC236}">
                  <a16:creationId xmlns:a16="http://schemas.microsoft.com/office/drawing/2014/main" id="{9DFF55DD-6CCB-4011-A30A-54DA959D7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1263" y="3265364"/>
              <a:ext cx="474662" cy="725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32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50" name="Text Box 16">
              <a:extLst>
                <a:ext uri="{FF2B5EF4-FFF2-40B4-BE49-F238E27FC236}">
                  <a16:creationId xmlns:a16="http://schemas.microsoft.com/office/drawing/2014/main" id="{CFB9D42C-6855-4E08-98EF-C8F42FB8D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4413" y="3265364"/>
              <a:ext cx="452437" cy="725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320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</p:grpSp>
      <p:sp>
        <p:nvSpPr>
          <p:cNvPr id="55" name="Text Box 29">
            <a:extLst>
              <a:ext uri="{FF2B5EF4-FFF2-40B4-BE49-F238E27FC236}">
                <a16:creationId xmlns:a16="http://schemas.microsoft.com/office/drawing/2014/main" id="{5D3441A2-0C1B-40B3-ADC7-D10C4C678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325" y="1883144"/>
            <a:ext cx="3286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56" name="Text Box 30">
            <a:extLst>
              <a:ext uri="{FF2B5EF4-FFF2-40B4-BE49-F238E27FC236}">
                <a16:creationId xmlns:a16="http://schemas.microsoft.com/office/drawing/2014/main" id="{AFBB3668-4739-4C19-A5B6-156743E33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050" y="1892669"/>
            <a:ext cx="2651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009B38B0-1DFB-48CA-89F2-2F4B2603CA4A}"/>
              </a:ext>
            </a:extLst>
          </p:cNvPr>
          <p:cNvGrpSpPr>
            <a:grpSpLocks/>
          </p:cNvGrpSpPr>
          <p:nvPr/>
        </p:nvGrpSpPr>
        <p:grpSpPr bwMode="auto">
          <a:xfrm>
            <a:off x="3038329" y="2272973"/>
            <a:ext cx="787269" cy="461666"/>
            <a:chOff x="3548390" y="6076651"/>
            <a:chExt cx="787538" cy="461734"/>
          </a:xfrm>
        </p:grpSpPr>
        <p:cxnSp>
          <p:nvCxnSpPr>
            <p:cNvPr id="37" name="Conector recto de flecha 5">
              <a:extLst>
                <a:ext uri="{FF2B5EF4-FFF2-40B4-BE49-F238E27FC236}">
                  <a16:creationId xmlns:a16="http://schemas.microsoft.com/office/drawing/2014/main" id="{CC88DBDE-EA14-4A01-A042-57C2397E89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548390" y="6290512"/>
              <a:ext cx="322309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" name="CuadroTexto 6">
              <a:extLst>
                <a:ext uri="{FF2B5EF4-FFF2-40B4-BE49-F238E27FC236}">
                  <a16:creationId xmlns:a16="http://schemas.microsoft.com/office/drawing/2014/main" id="{59466912-55D0-497B-9469-03897299A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5943" y="6076651"/>
              <a:ext cx="389985" cy="461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43" name="Line 32">
              <a:extLst>
                <a:ext uri="{FF2B5EF4-FFF2-40B4-BE49-F238E27FC236}">
                  <a16:creationId xmlns:a16="http://schemas.microsoft.com/office/drawing/2014/main" id="{67BC66CD-0032-451D-BEF8-7225ED915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582" y="6143567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 sz="2400"/>
            </a:p>
          </p:txBody>
        </p:sp>
      </p:grpSp>
      <p:sp>
        <p:nvSpPr>
          <p:cNvPr id="3" name="Text Box 21">
            <a:extLst>
              <a:ext uri="{FF2B5EF4-FFF2-40B4-BE49-F238E27FC236}">
                <a16:creationId xmlns:a16="http://schemas.microsoft.com/office/drawing/2014/main" id="{F24CE053-4C05-35C3-5B3A-C8E317022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661" y="3602745"/>
            <a:ext cx="38671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000" baseline="30000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:  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Minoritarios   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Mayoritarios</a:t>
            </a: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12458E66-0E3F-9186-7114-212FAA15D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012" y="3218697"/>
            <a:ext cx="3398984" cy="547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  <a:r>
              <a:rPr lang="es-ES" sz="2000" dirty="0">
                <a:latin typeface="Arial" panose="020B0604020202020204" pitchFamily="34" charset="0"/>
              </a:rPr>
              <a:t>:</a:t>
            </a:r>
            <a:r>
              <a:rPr lang="es-ES" sz="2000" dirty="0">
                <a:solidFill>
                  <a:srgbClr val="008000"/>
                </a:solidFill>
                <a:latin typeface="Arial" panose="020B0604020202020204" pitchFamily="34" charset="0"/>
              </a:rPr>
              <a:t>  </a:t>
            </a:r>
            <a:r>
              <a:rPr lang="es-ES" sz="2000" dirty="0">
                <a:solidFill>
                  <a:srgbClr val="3333FF"/>
                </a:solidFill>
                <a:latin typeface="Arial" panose="020B0604020202020204" pitchFamily="34" charset="0"/>
              </a:rPr>
              <a:t>Mayoritarios </a:t>
            </a:r>
            <a:r>
              <a:rPr 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Minoritarios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C65BD5B-7A66-DB2F-2E23-D838A55B98DC}"/>
              </a:ext>
            </a:extLst>
          </p:cNvPr>
          <p:cNvCxnSpPr/>
          <p:nvPr/>
        </p:nvCxnSpPr>
        <p:spPr bwMode="auto">
          <a:xfrm>
            <a:off x="3225052" y="3361873"/>
            <a:ext cx="0" cy="63354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80820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5" grpId="0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3" name="Group 5"/>
          <p:cNvGrpSpPr>
            <a:grpSpLocks/>
          </p:cNvGrpSpPr>
          <p:nvPr/>
        </p:nvGrpSpPr>
        <p:grpSpPr bwMode="auto">
          <a:xfrm>
            <a:off x="6835585" y="3759610"/>
            <a:ext cx="2735263" cy="1261306"/>
            <a:chOff x="1210" y="1205"/>
            <a:chExt cx="428" cy="172"/>
          </a:xfrm>
        </p:grpSpPr>
        <p:sp>
          <p:nvSpPr>
            <p:cNvPr id="15405" name="Rectangle 6"/>
            <p:cNvSpPr>
              <a:spLocks noChangeArrowheads="1"/>
            </p:cNvSpPr>
            <p:nvPr/>
          </p:nvSpPr>
          <p:spPr bwMode="auto">
            <a:xfrm>
              <a:off x="1210" y="1205"/>
              <a:ext cx="216" cy="17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06" name="Rectangle 7"/>
            <p:cNvSpPr>
              <a:spLocks noChangeArrowheads="1"/>
            </p:cNvSpPr>
            <p:nvPr/>
          </p:nvSpPr>
          <p:spPr bwMode="auto">
            <a:xfrm>
              <a:off x="1422" y="1205"/>
              <a:ext cx="216" cy="17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364" name="Text Box 8"/>
          <p:cNvSpPr txBox="1">
            <a:spLocks noChangeArrowheads="1"/>
          </p:cNvSpPr>
          <p:nvPr/>
        </p:nvSpPr>
        <p:spPr bwMode="auto">
          <a:xfrm>
            <a:off x="8713598" y="4034848"/>
            <a:ext cx="474662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5365" name="Text Box 9"/>
          <p:cNvSpPr txBox="1">
            <a:spLocks noChangeArrowheads="1"/>
          </p:cNvSpPr>
          <p:nvPr/>
        </p:nvSpPr>
        <p:spPr bwMode="auto">
          <a:xfrm>
            <a:off x="7246748" y="4034848"/>
            <a:ext cx="452437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5366" name="Text Box 19"/>
          <p:cNvSpPr txBox="1">
            <a:spLocks noChangeArrowheads="1"/>
          </p:cNvSpPr>
          <p:nvPr/>
        </p:nvSpPr>
        <p:spPr bwMode="auto">
          <a:xfrm>
            <a:off x="8197660" y="3771323"/>
            <a:ext cx="3286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5367" name="Text Box 20"/>
          <p:cNvSpPr txBox="1">
            <a:spLocks noChangeArrowheads="1"/>
          </p:cNvSpPr>
          <p:nvPr/>
        </p:nvSpPr>
        <p:spPr bwMode="auto">
          <a:xfrm>
            <a:off x="7902385" y="3780848"/>
            <a:ext cx="2651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</p:txBody>
      </p:sp>
      <p:grpSp>
        <p:nvGrpSpPr>
          <p:cNvPr id="3" name="Group 81"/>
          <p:cNvGrpSpPr>
            <a:grpSpLocks/>
          </p:cNvGrpSpPr>
          <p:nvPr/>
        </p:nvGrpSpPr>
        <p:grpSpPr bwMode="auto">
          <a:xfrm>
            <a:off x="7862698" y="3510973"/>
            <a:ext cx="693737" cy="1878013"/>
            <a:chOff x="1827" y="782"/>
            <a:chExt cx="437" cy="1183"/>
          </a:xfrm>
        </p:grpSpPr>
        <p:sp>
          <p:nvSpPr>
            <p:cNvPr id="15403" name="Line 26"/>
            <p:cNvSpPr>
              <a:spLocks noChangeShapeType="1"/>
            </p:cNvSpPr>
            <p:nvPr/>
          </p:nvSpPr>
          <p:spPr bwMode="auto">
            <a:xfrm>
              <a:off x="1827" y="803"/>
              <a:ext cx="0" cy="11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15404" name="Line 27"/>
            <p:cNvSpPr>
              <a:spLocks noChangeShapeType="1"/>
            </p:cNvSpPr>
            <p:nvPr/>
          </p:nvSpPr>
          <p:spPr bwMode="auto">
            <a:xfrm>
              <a:off x="2264" y="782"/>
              <a:ext cx="0" cy="11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921A0DC6-5A12-4605-AEFA-1589F052FD52}"/>
              </a:ext>
            </a:extLst>
          </p:cNvPr>
          <p:cNvGrpSpPr/>
          <p:nvPr/>
        </p:nvGrpSpPr>
        <p:grpSpPr>
          <a:xfrm>
            <a:off x="7132448" y="5256350"/>
            <a:ext cx="2120900" cy="1603715"/>
            <a:chOff x="7132448" y="5256350"/>
            <a:chExt cx="2120900" cy="1603715"/>
          </a:xfrm>
        </p:grpSpPr>
        <p:sp>
          <p:nvSpPr>
            <p:cNvPr id="15382" name="Line 28"/>
            <p:cNvSpPr>
              <a:spLocks noChangeShapeType="1"/>
            </p:cNvSpPr>
            <p:nvPr/>
          </p:nvSpPr>
          <p:spPr bwMode="auto">
            <a:xfrm flipV="1">
              <a:off x="8192898" y="5256350"/>
              <a:ext cx="0" cy="741439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15384" name="Text Box 29"/>
            <p:cNvSpPr txBox="1">
              <a:spLocks noChangeArrowheads="1"/>
            </p:cNvSpPr>
            <p:nvPr/>
          </p:nvSpPr>
          <p:spPr bwMode="auto">
            <a:xfrm>
              <a:off x="7132448" y="6085365"/>
              <a:ext cx="2120900" cy="774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Región de Carga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Espacial (RCE)</a:t>
              </a:r>
            </a:p>
          </p:txBody>
        </p:sp>
      </p:grpSp>
      <p:sp>
        <p:nvSpPr>
          <p:cNvPr id="15378" name="Text Box 33"/>
          <p:cNvSpPr txBox="1">
            <a:spLocks noChangeArrowheads="1"/>
          </p:cNvSpPr>
          <p:nvPr/>
        </p:nvSpPr>
        <p:spPr bwMode="auto">
          <a:xfrm>
            <a:off x="1637352" y="296816"/>
            <a:ext cx="7420320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Al pasar el tiempo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los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excesos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la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zona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que están aumentan, por efecto de las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DIF</a:t>
            </a:r>
          </a:p>
        </p:txBody>
      </p:sp>
      <p:sp>
        <p:nvSpPr>
          <p:cNvPr id="46" name="Text Box 33"/>
          <p:cNvSpPr txBox="1">
            <a:spLocks noChangeArrowheads="1"/>
          </p:cNvSpPr>
          <p:nvPr/>
        </p:nvSpPr>
        <p:spPr bwMode="auto">
          <a:xfrm>
            <a:off x="1647290" y="3265462"/>
            <a:ext cx="4216798" cy="171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Todo esto 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curre hasta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que se igualan las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DIF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y las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DES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hasta que las corrientes netas son nulas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(equilibrio)</a:t>
            </a:r>
            <a:endParaRPr lang="es-ES" sz="2400" b="1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F9D69D50-EE5D-43BB-B7DA-891332DD6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288" y="5184877"/>
            <a:ext cx="4535353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A partir de ahí no varían ni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ni los excesos, ni la zona en que están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(RCE)</a:t>
            </a:r>
            <a:endParaRPr lang="es-ES" sz="2400" baseline="-250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6" name="Text Box 33">
            <a:extLst>
              <a:ext uri="{FF2B5EF4-FFF2-40B4-BE49-F238E27FC236}">
                <a16:creationId xmlns:a16="http://schemas.microsoft.com/office/drawing/2014/main" id="{C21175E1-5792-4A4B-AEDA-B72D4F173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351" y="1338572"/>
            <a:ext cx="412368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Pero esto hace crecer el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7" name="Text Box 33">
            <a:extLst>
              <a:ext uri="{FF2B5EF4-FFF2-40B4-BE49-F238E27FC236}">
                <a16:creationId xmlns:a16="http://schemas.microsoft.com/office/drawing/2014/main" id="{DC912E7C-61C6-4938-A997-B94C86730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351" y="2086818"/>
            <a:ext cx="7814762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Al aumentar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crecen las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DES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y disminuyen las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DIF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 Las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corrientes netas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e- y h,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las “reales”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disminuyen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09B60608-D324-FFF1-7BBC-BD2945E0F61A}"/>
              </a:ext>
            </a:extLst>
          </p:cNvPr>
          <p:cNvGrpSpPr/>
          <p:nvPr/>
        </p:nvGrpSpPr>
        <p:grpSpPr>
          <a:xfrm>
            <a:off x="8439681" y="5033333"/>
            <a:ext cx="1229184" cy="1094688"/>
            <a:chOff x="7574908" y="5545786"/>
            <a:chExt cx="1229184" cy="1094688"/>
          </a:xfrm>
        </p:grpSpPr>
        <p:sp>
          <p:nvSpPr>
            <p:cNvPr id="5" name="Line 28">
              <a:extLst>
                <a:ext uri="{FF2B5EF4-FFF2-40B4-BE49-F238E27FC236}">
                  <a16:creationId xmlns:a16="http://schemas.microsoft.com/office/drawing/2014/main" id="{8C0095FD-8990-7865-BE0F-44E029FB5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92898" y="5545786"/>
              <a:ext cx="0" cy="285856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6" name="Text Box 29">
              <a:extLst>
                <a:ext uri="{FF2B5EF4-FFF2-40B4-BE49-F238E27FC236}">
                  <a16:creationId xmlns:a16="http://schemas.microsoft.com/office/drawing/2014/main" id="{0B1E1BC7-440A-34C2-7F09-4A5FB7806D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4908" y="5785001"/>
              <a:ext cx="1229184" cy="855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Región neutra</a:t>
              </a:r>
              <a:endParaRPr lang="es-ES" sz="20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AE4B5F84-B520-E7E6-FD93-C88DA3747005}"/>
              </a:ext>
            </a:extLst>
          </p:cNvPr>
          <p:cNvGrpSpPr/>
          <p:nvPr/>
        </p:nvGrpSpPr>
        <p:grpSpPr>
          <a:xfrm>
            <a:off x="6758131" y="5034688"/>
            <a:ext cx="1229184" cy="1094688"/>
            <a:chOff x="7574908" y="5545786"/>
            <a:chExt cx="1229184" cy="1094688"/>
          </a:xfrm>
        </p:grpSpPr>
        <p:sp>
          <p:nvSpPr>
            <p:cNvPr id="8" name="Line 28">
              <a:extLst>
                <a:ext uri="{FF2B5EF4-FFF2-40B4-BE49-F238E27FC236}">
                  <a16:creationId xmlns:a16="http://schemas.microsoft.com/office/drawing/2014/main" id="{BB693916-2E5C-3FDC-2213-B1551FD85E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92898" y="5545786"/>
              <a:ext cx="0" cy="285856"/>
            </a:xfrm>
            <a:prstGeom prst="line">
              <a:avLst/>
            </a:prstGeom>
            <a:noFill/>
            <a:ln w="25400">
              <a:solidFill>
                <a:srgbClr val="3333FF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9" name="Text Box 29">
              <a:extLst>
                <a:ext uri="{FF2B5EF4-FFF2-40B4-BE49-F238E27FC236}">
                  <a16:creationId xmlns:a16="http://schemas.microsoft.com/office/drawing/2014/main" id="{82EB1962-1D2D-7846-9894-9B30D6815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4908" y="5785001"/>
              <a:ext cx="1229184" cy="855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Región neutra</a:t>
              </a:r>
              <a:endParaRPr lang="es-ES" sz="20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8" grpId="0"/>
      <p:bldP spid="46" grpId="0"/>
      <p:bldP spid="35" grpId="0"/>
      <p:bldP spid="36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63" name="Text Box 35"/>
          <p:cNvSpPr txBox="1">
            <a:spLocks noChangeArrowheads="1"/>
          </p:cNvSpPr>
          <p:nvPr/>
        </p:nvSpPr>
        <p:spPr bwMode="auto">
          <a:xfrm>
            <a:off x="1250191" y="244596"/>
            <a:ext cx="9085609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la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unión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se alcanza entonces una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ddp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barrera de potencial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que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llama: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Potencial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Contacto (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4775" name="Text Box 36"/>
          <p:cNvSpPr txBox="1">
            <a:spLocks noChangeArrowheads="1"/>
          </p:cNvSpPr>
          <p:nvPr/>
        </p:nvSpPr>
        <p:spPr bwMode="auto">
          <a:xfrm>
            <a:off x="3235238" y="1196161"/>
            <a:ext cx="1731862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V</a:t>
            </a:r>
            <a:r>
              <a:rPr lang="es-ES" sz="2400" baseline="-25000">
                <a:latin typeface="Arial" panose="020B0604020202020204" pitchFamily="34" charset="0"/>
              </a:rPr>
              <a:t>0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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V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6802168" y="2402157"/>
            <a:ext cx="3897331" cy="2183775"/>
            <a:chOff x="577510" y="3609473"/>
            <a:chExt cx="3897331" cy="2183775"/>
          </a:xfrm>
        </p:grpSpPr>
        <p:sp>
          <p:nvSpPr>
            <p:cNvPr id="5" name="Rectángulo 4"/>
            <p:cNvSpPr/>
            <p:nvPr/>
          </p:nvSpPr>
          <p:spPr bwMode="auto">
            <a:xfrm>
              <a:off x="577510" y="3609473"/>
              <a:ext cx="3897331" cy="2183775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7" name="Group 56"/>
            <p:cNvGrpSpPr>
              <a:grpSpLocks/>
            </p:cNvGrpSpPr>
            <p:nvPr/>
          </p:nvGrpSpPr>
          <p:grpSpPr bwMode="auto">
            <a:xfrm>
              <a:off x="676786" y="3716153"/>
              <a:ext cx="3736975" cy="1970088"/>
              <a:chOff x="875" y="2920"/>
              <a:chExt cx="2354" cy="1241"/>
            </a:xfrm>
          </p:grpSpPr>
          <p:sp>
            <p:nvSpPr>
              <p:cNvPr id="15387" name="Line 39"/>
              <p:cNvSpPr>
                <a:spLocks noChangeShapeType="1"/>
              </p:cNvSpPr>
              <p:nvPr/>
            </p:nvSpPr>
            <p:spPr bwMode="auto">
              <a:xfrm>
                <a:off x="1215" y="3280"/>
                <a:ext cx="58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88" name="Line 40"/>
              <p:cNvSpPr>
                <a:spLocks noChangeShapeType="1"/>
              </p:cNvSpPr>
              <p:nvPr/>
            </p:nvSpPr>
            <p:spPr bwMode="auto">
              <a:xfrm>
                <a:off x="1217" y="3670"/>
                <a:ext cx="58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89" name="Line 41"/>
              <p:cNvSpPr>
                <a:spLocks noChangeShapeType="1"/>
              </p:cNvSpPr>
              <p:nvPr/>
            </p:nvSpPr>
            <p:spPr bwMode="auto">
              <a:xfrm>
                <a:off x="2278" y="3670"/>
                <a:ext cx="58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90" name="Line 42"/>
              <p:cNvSpPr>
                <a:spLocks noChangeShapeType="1"/>
              </p:cNvSpPr>
              <p:nvPr/>
            </p:nvSpPr>
            <p:spPr bwMode="auto">
              <a:xfrm>
                <a:off x="2272" y="4074"/>
                <a:ext cx="58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91" name="Line 43"/>
              <p:cNvSpPr>
                <a:spLocks noChangeShapeType="1"/>
              </p:cNvSpPr>
              <p:nvPr/>
            </p:nvSpPr>
            <p:spPr bwMode="auto">
              <a:xfrm>
                <a:off x="1800" y="3281"/>
                <a:ext cx="463" cy="37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92" name="Line 44"/>
              <p:cNvSpPr>
                <a:spLocks noChangeShapeType="1"/>
              </p:cNvSpPr>
              <p:nvPr/>
            </p:nvSpPr>
            <p:spPr bwMode="auto">
              <a:xfrm>
                <a:off x="1813" y="3675"/>
                <a:ext cx="473" cy="41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93" name="Text Box 45"/>
              <p:cNvSpPr txBox="1">
                <a:spLocks noChangeArrowheads="1"/>
              </p:cNvSpPr>
              <p:nvPr/>
            </p:nvSpPr>
            <p:spPr bwMode="auto">
              <a:xfrm>
                <a:off x="890" y="3689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15394" name="Text Box 46"/>
              <p:cNvSpPr txBox="1">
                <a:spLocks noChangeArrowheads="1"/>
              </p:cNvSpPr>
              <p:nvPr/>
            </p:nvSpPr>
            <p:spPr bwMode="auto">
              <a:xfrm>
                <a:off x="875" y="2920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15395" name="Line 47"/>
              <p:cNvSpPr>
                <a:spLocks noChangeShapeType="1"/>
              </p:cNvSpPr>
              <p:nvPr/>
            </p:nvSpPr>
            <p:spPr bwMode="auto">
              <a:xfrm>
                <a:off x="1810" y="2984"/>
                <a:ext cx="0" cy="11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96" name="Line 48"/>
              <p:cNvSpPr>
                <a:spLocks noChangeShapeType="1"/>
              </p:cNvSpPr>
              <p:nvPr/>
            </p:nvSpPr>
            <p:spPr bwMode="auto">
              <a:xfrm>
                <a:off x="2265" y="2999"/>
                <a:ext cx="0" cy="11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97" name="Text Box 49"/>
              <p:cNvSpPr txBox="1">
                <a:spLocks noChangeArrowheads="1"/>
              </p:cNvSpPr>
              <p:nvPr/>
            </p:nvSpPr>
            <p:spPr bwMode="auto">
              <a:xfrm>
                <a:off x="2396" y="3287"/>
                <a:ext cx="833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eV</a:t>
                </a:r>
                <a:r>
                  <a:rPr lang="es-ES" sz="20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= 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E</a:t>
                </a:r>
                <a:r>
                  <a:rPr lang="es-ES" sz="2000" baseline="-25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P</a:t>
                </a:r>
                <a:endParaRPr lang="es-ES" sz="2000" baseline="-25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398" name="Line 50"/>
              <p:cNvSpPr>
                <a:spLocks noChangeShapeType="1"/>
              </p:cNvSpPr>
              <p:nvPr/>
            </p:nvSpPr>
            <p:spPr bwMode="auto">
              <a:xfrm>
                <a:off x="2356" y="3251"/>
                <a:ext cx="0" cy="401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99" name="Text Box 51"/>
              <p:cNvSpPr txBox="1">
                <a:spLocks noChangeArrowheads="1"/>
              </p:cNvSpPr>
              <p:nvPr/>
            </p:nvSpPr>
            <p:spPr bwMode="auto">
              <a:xfrm>
                <a:off x="1286" y="3711"/>
                <a:ext cx="368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eV</a:t>
                </a:r>
                <a:r>
                  <a:rPr lang="es-ES" sz="20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5400" name="Line 52"/>
              <p:cNvSpPr>
                <a:spLocks noChangeShapeType="1"/>
              </p:cNvSpPr>
              <p:nvPr/>
            </p:nvSpPr>
            <p:spPr bwMode="auto">
              <a:xfrm>
                <a:off x="1699" y="3706"/>
                <a:ext cx="0" cy="401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15380" name="Text Box 37"/>
          <p:cNvSpPr txBox="1">
            <a:spLocks noChangeArrowheads="1"/>
          </p:cNvSpPr>
          <p:nvPr/>
        </p:nvSpPr>
        <p:spPr bwMode="auto">
          <a:xfrm>
            <a:off x="1368858" y="1964393"/>
            <a:ext cx="5249257" cy="1717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 crece con T y al dopar (al haber mayores gradientes), ya que la difusión es mayor </a:t>
            </a:r>
            <a:r>
              <a:rPr lang="es-ES" sz="2400">
                <a:latin typeface="Arial" panose="020B0604020202020204" pitchFamily="34" charset="0"/>
              </a:rPr>
              <a:t>y requiere           </a:t>
            </a:r>
            <a:r>
              <a:rPr lang="es-ES" sz="2400" dirty="0">
                <a:latin typeface="Arial" panose="020B0604020202020204" pitchFamily="34" charset="0"/>
              </a:rPr>
              <a:t>un </a:t>
            </a:r>
            <a:r>
              <a:rPr lang="es-ES" sz="2400" b="1" dirty="0">
                <a:latin typeface="Arial" panose="020B0604020202020204" pitchFamily="34" charset="0"/>
              </a:rPr>
              <a:t>E</a:t>
            </a:r>
            <a:r>
              <a:rPr lang="es-ES" sz="2400" dirty="0">
                <a:latin typeface="Arial" panose="020B0604020202020204" pitchFamily="34" charset="0"/>
              </a:rPr>
              <a:t> mayor para contrarrestarla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2" name="Text Box 37">
            <a:extLst>
              <a:ext uri="{FF2B5EF4-FFF2-40B4-BE49-F238E27FC236}">
                <a16:creationId xmlns:a16="http://schemas.microsoft.com/office/drawing/2014/main" id="{70945800-F7AC-4BD4-865D-0A149A5A4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5728" y="4918604"/>
            <a:ext cx="5249257" cy="1717248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Solo los e</a:t>
            </a:r>
            <a:r>
              <a:rPr lang="es-ES" sz="2400" baseline="30000" dirty="0">
                <a:latin typeface="Arial" panose="020B0604020202020204" pitchFamily="34" charset="0"/>
              </a:rPr>
              <a:t>-</a:t>
            </a:r>
            <a:r>
              <a:rPr lang="es-ES" sz="2400" dirty="0">
                <a:latin typeface="Arial" panose="020B0604020202020204" pitchFamily="34" charset="0"/>
              </a:rPr>
              <a:t> en </a:t>
            </a:r>
            <a:r>
              <a:rPr lang="es-ES" sz="2400" b="1" dirty="0">
                <a:latin typeface="Arial" panose="020B0604020202020204" pitchFamily="34" charset="0"/>
              </a:rPr>
              <a:t>BC</a:t>
            </a:r>
            <a:r>
              <a:rPr lang="es-ES" sz="2400" dirty="0">
                <a:latin typeface="Arial" panose="020B0604020202020204" pitchFamily="34" charset="0"/>
              </a:rPr>
              <a:t>, o h en </a:t>
            </a:r>
            <a:r>
              <a:rPr lang="es-ES" sz="2400" b="1" dirty="0">
                <a:latin typeface="Arial" panose="020B0604020202020204" pitchFamily="34" charset="0"/>
              </a:rPr>
              <a:t>BV</a:t>
            </a:r>
            <a:r>
              <a:rPr lang="es-ES" sz="2400" dirty="0">
                <a:latin typeface="Arial" panose="020B0604020202020204" pitchFamily="34" charset="0"/>
              </a:rPr>
              <a:t>, con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una E</a:t>
            </a:r>
            <a:r>
              <a:rPr lang="es-ES" sz="2400" baseline="-250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superior a la barrera, habrán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cruzado transformando E</a:t>
            </a:r>
            <a:r>
              <a:rPr lang="es-ES" sz="2400" baseline="-25000" dirty="0">
                <a:latin typeface="Arial" panose="020B0604020202020204" pitchFamily="34" charset="0"/>
              </a:rPr>
              <a:t>C</a:t>
            </a:r>
            <a:r>
              <a:rPr lang="es-ES" sz="2400" dirty="0">
                <a:latin typeface="Arial" panose="020B0604020202020204" pitchFamily="34" charset="0"/>
              </a:rPr>
              <a:t> en E</a:t>
            </a:r>
            <a:r>
              <a:rPr lang="es-ES" sz="2400" baseline="-25000" dirty="0">
                <a:latin typeface="Arial" panose="020B0604020202020204" pitchFamily="34" charset="0"/>
              </a:rPr>
              <a:t>P</a:t>
            </a:r>
            <a:r>
              <a:rPr lang="es-ES" sz="2400" dirty="0">
                <a:latin typeface="Arial" panose="020B0604020202020204" pitchFamily="34" charset="0"/>
              </a:rPr>
              <a:t>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Al alcanzarse V</a:t>
            </a:r>
            <a:r>
              <a:rPr lang="es-ES" sz="2400" baseline="-25000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 no cruza ninguno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98" name="Group 5">
            <a:extLst>
              <a:ext uri="{FF2B5EF4-FFF2-40B4-BE49-F238E27FC236}">
                <a16:creationId xmlns:a16="http://schemas.microsoft.com/office/drawing/2014/main" id="{AA70C001-6EE6-42BB-8DD4-B8F4EFB06CC8}"/>
              </a:ext>
            </a:extLst>
          </p:cNvPr>
          <p:cNvGrpSpPr>
            <a:grpSpLocks/>
          </p:cNvGrpSpPr>
          <p:nvPr/>
        </p:nvGrpSpPr>
        <p:grpSpPr bwMode="auto">
          <a:xfrm>
            <a:off x="7377446" y="986544"/>
            <a:ext cx="2735263" cy="1261306"/>
            <a:chOff x="1210" y="1205"/>
            <a:chExt cx="428" cy="172"/>
          </a:xfrm>
        </p:grpSpPr>
        <p:sp>
          <p:nvSpPr>
            <p:cNvPr id="99" name="Rectangle 6">
              <a:extLst>
                <a:ext uri="{FF2B5EF4-FFF2-40B4-BE49-F238E27FC236}">
                  <a16:creationId xmlns:a16="http://schemas.microsoft.com/office/drawing/2014/main" id="{9BD09302-1C4E-40F6-8074-6E54855F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" y="1205"/>
              <a:ext cx="216" cy="17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0" name="Rectangle 7">
              <a:extLst>
                <a:ext uri="{FF2B5EF4-FFF2-40B4-BE49-F238E27FC236}">
                  <a16:creationId xmlns:a16="http://schemas.microsoft.com/office/drawing/2014/main" id="{EC341A39-28E9-4E08-AD15-64F31488E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1205"/>
              <a:ext cx="216" cy="17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1" name="Text Box 8">
            <a:extLst>
              <a:ext uri="{FF2B5EF4-FFF2-40B4-BE49-F238E27FC236}">
                <a16:creationId xmlns:a16="http://schemas.microsoft.com/office/drawing/2014/main" id="{1EE8556B-527F-43AB-A04C-6E742D127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459" y="1261782"/>
            <a:ext cx="474662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02" name="Text Box 9">
            <a:extLst>
              <a:ext uri="{FF2B5EF4-FFF2-40B4-BE49-F238E27FC236}">
                <a16:creationId xmlns:a16="http://schemas.microsoft.com/office/drawing/2014/main" id="{234785CD-4B19-4837-8717-86C86FE6E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609" y="1261782"/>
            <a:ext cx="452437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03" name="Text Box 19">
            <a:extLst>
              <a:ext uri="{FF2B5EF4-FFF2-40B4-BE49-F238E27FC236}">
                <a16:creationId xmlns:a16="http://schemas.microsoft.com/office/drawing/2014/main" id="{B7452073-EAED-4586-8DC3-418B98097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9521" y="998257"/>
            <a:ext cx="3286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04" name="Text Box 20">
            <a:extLst>
              <a:ext uri="{FF2B5EF4-FFF2-40B4-BE49-F238E27FC236}">
                <a16:creationId xmlns:a16="http://schemas.microsoft.com/office/drawing/2014/main" id="{87230DAC-7C2D-43A9-A8CE-52DD890E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4246" y="1007782"/>
            <a:ext cx="2651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</p:txBody>
      </p:sp>
      <p:grpSp>
        <p:nvGrpSpPr>
          <p:cNvPr id="105" name="Group 81">
            <a:extLst>
              <a:ext uri="{FF2B5EF4-FFF2-40B4-BE49-F238E27FC236}">
                <a16:creationId xmlns:a16="http://schemas.microsoft.com/office/drawing/2014/main" id="{2602E7CE-AF5B-4251-AD05-F41FA7577188}"/>
              </a:ext>
            </a:extLst>
          </p:cNvPr>
          <p:cNvGrpSpPr>
            <a:grpSpLocks/>
          </p:cNvGrpSpPr>
          <p:nvPr/>
        </p:nvGrpSpPr>
        <p:grpSpPr bwMode="auto">
          <a:xfrm>
            <a:off x="8404559" y="962407"/>
            <a:ext cx="693737" cy="1282708"/>
            <a:chOff x="1827" y="782"/>
            <a:chExt cx="437" cy="1183"/>
          </a:xfrm>
        </p:grpSpPr>
        <p:sp>
          <p:nvSpPr>
            <p:cNvPr id="106" name="Line 26">
              <a:extLst>
                <a:ext uri="{FF2B5EF4-FFF2-40B4-BE49-F238E27FC236}">
                  <a16:creationId xmlns:a16="http://schemas.microsoft.com/office/drawing/2014/main" id="{6B02F8BF-C249-44C5-98F7-78C97BC79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803"/>
              <a:ext cx="0" cy="11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06C5C320-7AE4-480F-AB95-51FD4C56B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4" y="782"/>
              <a:ext cx="0" cy="11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4BF915E8-B6EA-491C-A553-F6C0F9823A9D}"/>
              </a:ext>
            </a:extLst>
          </p:cNvPr>
          <p:cNvGrpSpPr>
            <a:grpSpLocks/>
          </p:cNvGrpSpPr>
          <p:nvPr/>
        </p:nvGrpSpPr>
        <p:grpSpPr bwMode="auto">
          <a:xfrm>
            <a:off x="8539240" y="1635881"/>
            <a:ext cx="395357" cy="560321"/>
            <a:chOff x="3532275" y="6301665"/>
            <a:chExt cx="395493" cy="560404"/>
          </a:xfrm>
        </p:grpSpPr>
        <p:cxnSp>
          <p:nvCxnSpPr>
            <p:cNvPr id="109" name="Conector recto de flecha 5">
              <a:extLst>
                <a:ext uri="{FF2B5EF4-FFF2-40B4-BE49-F238E27FC236}">
                  <a16:creationId xmlns:a16="http://schemas.microsoft.com/office/drawing/2014/main" id="{7950B0AC-B0DA-44AE-A805-77850D8B5F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532275" y="6301665"/>
              <a:ext cx="354538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0" name="CuadroTexto 6">
              <a:extLst>
                <a:ext uri="{FF2B5EF4-FFF2-40B4-BE49-F238E27FC236}">
                  <a16:creationId xmlns:a16="http://schemas.microsoft.com/office/drawing/2014/main" id="{A1E2E1D2-D3AD-4DCD-9783-C19A8F033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7783" y="6400335"/>
              <a:ext cx="389985" cy="461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111" name="Line 32">
              <a:extLst>
                <a:ext uri="{FF2B5EF4-FFF2-40B4-BE49-F238E27FC236}">
                  <a16:creationId xmlns:a16="http://schemas.microsoft.com/office/drawing/2014/main" id="{C8233B16-8F27-428A-B3B5-6D2CA9D6B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2369" y="6462459"/>
              <a:ext cx="2159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 sz="2400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515B1830-E484-4379-A588-0A5800C56F01}"/>
              </a:ext>
            </a:extLst>
          </p:cNvPr>
          <p:cNvGrpSpPr/>
          <p:nvPr/>
        </p:nvGrpSpPr>
        <p:grpSpPr>
          <a:xfrm>
            <a:off x="6802168" y="4679321"/>
            <a:ext cx="3897331" cy="2214671"/>
            <a:chOff x="659806" y="4624457"/>
            <a:chExt cx="3897331" cy="2214671"/>
          </a:xfrm>
        </p:grpSpPr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7BB91E15-50B8-423B-BBFA-B2F320A58513}"/>
                </a:ext>
              </a:extLst>
            </p:cNvPr>
            <p:cNvGrpSpPr/>
            <p:nvPr/>
          </p:nvGrpSpPr>
          <p:grpSpPr>
            <a:xfrm>
              <a:off x="659806" y="4624457"/>
              <a:ext cx="3897331" cy="2183775"/>
              <a:chOff x="577510" y="3609473"/>
              <a:chExt cx="3897331" cy="2183775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C65306AE-3EEE-4963-BADD-C7ED4B0C8A4E}"/>
                  </a:ext>
                </a:extLst>
              </p:cNvPr>
              <p:cNvSpPr/>
              <p:nvPr/>
            </p:nvSpPr>
            <p:spPr bwMode="auto">
              <a:xfrm>
                <a:off x="577510" y="3609473"/>
                <a:ext cx="3897331" cy="2183775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118800" rIns="90000" bIns="118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grpSp>
            <p:nvGrpSpPr>
              <p:cNvPr id="61" name="Group 56">
                <a:extLst>
                  <a:ext uri="{FF2B5EF4-FFF2-40B4-BE49-F238E27FC236}">
                    <a16:creationId xmlns:a16="http://schemas.microsoft.com/office/drawing/2014/main" id="{CA988110-CE57-422C-8975-541219C8D8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6786" y="3716153"/>
                <a:ext cx="3157538" cy="1970088"/>
                <a:chOff x="875" y="2920"/>
                <a:chExt cx="1989" cy="1241"/>
              </a:xfrm>
            </p:grpSpPr>
            <p:sp>
              <p:nvSpPr>
                <p:cNvPr id="62" name="Line 39">
                  <a:extLst>
                    <a:ext uri="{FF2B5EF4-FFF2-40B4-BE49-F238E27FC236}">
                      <a16:creationId xmlns:a16="http://schemas.microsoft.com/office/drawing/2014/main" id="{E2257030-D289-46AA-A770-FE56D9D931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15" y="3280"/>
                  <a:ext cx="58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63" name="Line 40">
                  <a:extLst>
                    <a:ext uri="{FF2B5EF4-FFF2-40B4-BE49-F238E27FC236}">
                      <a16:creationId xmlns:a16="http://schemas.microsoft.com/office/drawing/2014/main" id="{0FE5D783-05EB-4B77-B795-68AF2168A6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17" y="3670"/>
                  <a:ext cx="58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64" name="Line 41">
                  <a:extLst>
                    <a:ext uri="{FF2B5EF4-FFF2-40B4-BE49-F238E27FC236}">
                      <a16:creationId xmlns:a16="http://schemas.microsoft.com/office/drawing/2014/main" id="{E502CEB1-E7E0-4FE0-BC39-308EFBB998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78" y="3670"/>
                  <a:ext cx="58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65" name="Line 42">
                  <a:extLst>
                    <a:ext uri="{FF2B5EF4-FFF2-40B4-BE49-F238E27FC236}">
                      <a16:creationId xmlns:a16="http://schemas.microsoft.com/office/drawing/2014/main" id="{63486C8D-4B54-48B3-AFC0-600437AD1D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72" y="4074"/>
                  <a:ext cx="58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66" name="Line 43">
                  <a:extLst>
                    <a:ext uri="{FF2B5EF4-FFF2-40B4-BE49-F238E27FC236}">
                      <a16:creationId xmlns:a16="http://schemas.microsoft.com/office/drawing/2014/main" id="{58599F3F-B2D3-4B81-9666-4227964F58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00" y="3281"/>
                  <a:ext cx="463" cy="371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67" name="Line 44">
                  <a:extLst>
                    <a:ext uri="{FF2B5EF4-FFF2-40B4-BE49-F238E27FC236}">
                      <a16:creationId xmlns:a16="http://schemas.microsoft.com/office/drawing/2014/main" id="{2056DA4F-7BAD-4219-A7A6-70C06AC46A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3" y="3675"/>
                  <a:ext cx="473" cy="412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68" name="Text Box 45">
                  <a:extLst>
                    <a:ext uri="{FF2B5EF4-FFF2-40B4-BE49-F238E27FC236}">
                      <a16:creationId xmlns:a16="http://schemas.microsoft.com/office/drawing/2014/main" id="{320060D7-0345-428D-8B1F-46AFF68C6E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0" y="3689"/>
                  <a:ext cx="337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BV</a:t>
                  </a:r>
                </a:p>
              </p:txBody>
            </p:sp>
            <p:sp>
              <p:nvSpPr>
                <p:cNvPr id="69" name="Text Box 46">
                  <a:extLst>
                    <a:ext uri="{FF2B5EF4-FFF2-40B4-BE49-F238E27FC236}">
                      <a16:creationId xmlns:a16="http://schemas.microsoft.com/office/drawing/2014/main" id="{EA842C31-F0C3-48E1-BB0C-2400B08C96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75" y="2920"/>
                  <a:ext cx="346" cy="3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BC</a:t>
                  </a:r>
                </a:p>
              </p:txBody>
            </p:sp>
            <p:sp>
              <p:nvSpPr>
                <p:cNvPr id="70" name="Line 47">
                  <a:extLst>
                    <a:ext uri="{FF2B5EF4-FFF2-40B4-BE49-F238E27FC236}">
                      <a16:creationId xmlns:a16="http://schemas.microsoft.com/office/drawing/2014/main" id="{CC9BBFD3-662F-4AAC-AA80-9A1028700D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10" y="2984"/>
                  <a:ext cx="0" cy="116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dash"/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71" name="Line 48">
                  <a:extLst>
                    <a:ext uri="{FF2B5EF4-FFF2-40B4-BE49-F238E27FC236}">
                      <a16:creationId xmlns:a16="http://schemas.microsoft.com/office/drawing/2014/main" id="{9D9651CD-95D2-4495-852B-4664883732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5" y="2999"/>
                  <a:ext cx="0" cy="116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dash"/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14143BEC-1728-4D11-8064-6C2DD2E006D5}"/>
                </a:ext>
              </a:extLst>
            </p:cNvPr>
            <p:cNvGrpSpPr/>
            <p:nvPr/>
          </p:nvGrpSpPr>
          <p:grpSpPr>
            <a:xfrm>
              <a:off x="1540830" y="4975225"/>
              <a:ext cx="2153778" cy="923025"/>
              <a:chOff x="5818633" y="5686241"/>
              <a:chExt cx="2153778" cy="923025"/>
            </a:xfrm>
          </p:grpSpPr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3A059E10-B3E9-4E2F-91BD-E88B9DCDCC40}"/>
                  </a:ext>
                </a:extLst>
              </p:cNvPr>
              <p:cNvGrpSpPr/>
              <p:nvPr/>
            </p:nvGrpSpPr>
            <p:grpSpPr>
              <a:xfrm>
                <a:off x="5818633" y="5686241"/>
                <a:ext cx="1571662" cy="923025"/>
                <a:chOff x="1458893" y="3979870"/>
                <a:chExt cx="1571662" cy="923025"/>
              </a:xfrm>
            </p:grpSpPr>
            <p:grpSp>
              <p:nvGrpSpPr>
                <p:cNvPr id="75" name="Grupo 74">
                  <a:extLst>
                    <a:ext uri="{FF2B5EF4-FFF2-40B4-BE49-F238E27FC236}">
                      <a16:creationId xmlns:a16="http://schemas.microsoft.com/office/drawing/2014/main" id="{9933E16E-0450-4B96-8D8F-5F8F1143A2A9}"/>
                    </a:ext>
                  </a:extLst>
                </p:cNvPr>
                <p:cNvGrpSpPr/>
                <p:nvPr/>
              </p:nvGrpSpPr>
              <p:grpSpPr>
                <a:xfrm>
                  <a:off x="1458893" y="3979870"/>
                  <a:ext cx="1571662" cy="912463"/>
                  <a:chOff x="1458893" y="3979870"/>
                  <a:chExt cx="1571662" cy="91246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a16:creationId xmlns:a16="http://schemas.microsoft.com/office/drawing/2014/main" id="{AC982E50-6DD1-48E6-BBDB-A8C1B3718358}"/>
                      </a:ext>
                    </a:extLst>
                  </p:cNvPr>
                  <p:cNvGrpSpPr/>
                  <p:nvPr/>
                </p:nvGrpSpPr>
                <p:grpSpPr>
                  <a:xfrm>
                    <a:off x="2185078" y="3979870"/>
                    <a:ext cx="845477" cy="544503"/>
                    <a:chOff x="451257" y="2826911"/>
                    <a:chExt cx="845477" cy="544503"/>
                  </a:xfrm>
                </p:grpSpPr>
                <p:sp>
                  <p:nvSpPr>
                    <p:cNvPr id="82" name="Line 34">
                      <a:extLst>
                        <a:ext uri="{FF2B5EF4-FFF2-40B4-BE49-F238E27FC236}">
                          <a16:creationId xmlns:a16="http://schemas.microsoft.com/office/drawing/2014/main" id="{3E4036E0-519C-4A6B-9AFC-2EDAE8DAB74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51257" y="3138786"/>
                      <a:ext cx="845477" cy="5264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FF0000"/>
                      </a:solidFill>
                      <a:round/>
                      <a:headEnd type="triangle" w="med" len="lg"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90000" tIns="118800" rIns="90000" bIns="118800" anchor="ctr" anchorCtr="1"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83" name="Oval 32">
                      <a:extLst>
                        <a:ext uri="{FF2B5EF4-FFF2-40B4-BE49-F238E27FC236}">
                          <a16:creationId xmlns:a16="http://schemas.microsoft.com/office/drawing/2014/main" id="{D6CD9F32-E1BC-4E2F-B2BB-566E03FA37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88436" y="3079767"/>
                      <a:ext cx="107950" cy="109870"/>
                    </a:xfrm>
                    <a:prstGeom prst="ellipse">
                      <a:avLst/>
                    </a:prstGeom>
                    <a:solidFill>
                      <a:srgbClr val="33CC33"/>
                    </a:solidFill>
                    <a:ln w="25400" algn="ctr">
                      <a:solidFill>
                        <a:srgbClr val="33CC33"/>
                      </a:solidFill>
                      <a:round/>
                      <a:headEnd/>
                      <a:tailEnd type="none" w="lg" len="lg"/>
                    </a:ln>
                  </p:spPr>
                  <p:txBody>
                    <a:bodyPr wrap="none" lIns="90000" tIns="118800" rIns="90000" bIns="118800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lang="es-ES" sz="200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4" name="Text Box 33">
                      <a:extLst>
                        <a:ext uri="{FF2B5EF4-FFF2-40B4-BE49-F238E27FC236}">
                          <a16:creationId xmlns:a16="http://schemas.microsoft.com/office/drawing/2014/main" id="{11DF835C-3A25-43C6-B0BB-F9830C5DB3B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15958" y="2826911"/>
                      <a:ext cx="265112" cy="54450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 algn="ctr">
                          <a:solidFill>
                            <a:srgbClr val="000000"/>
                          </a:solidFill>
                          <a:miter lim="800000"/>
                          <a:headEnd/>
                          <a:tailEnd type="none" w="lg" len="lg"/>
                        </a14:hiddenLine>
                      </a:ext>
                    </a:extLst>
                  </p:spPr>
                  <p:txBody>
                    <a:bodyPr wrap="none" lIns="90000" tIns="118800" rIns="90000" bIns="118800" anchorCtr="1"/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lang="es-E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-</a:t>
                      </a:r>
                    </a:p>
                  </p:txBody>
                </p:sp>
              </p:grpSp>
              <p:sp>
                <p:nvSpPr>
                  <p:cNvPr id="79" name="Line 52">
                    <a:extLst>
                      <a:ext uri="{FF2B5EF4-FFF2-40B4-BE49-F238E27FC236}">
                        <a16:creationId xmlns:a16="http://schemas.microsoft.com/office/drawing/2014/main" id="{99B04103-18CB-4AEA-8B3F-ED97D0C19C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81836" y="4313617"/>
                    <a:ext cx="0" cy="578716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 type="stealth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80" name="Line 52">
                    <a:extLst>
                      <a:ext uri="{FF2B5EF4-FFF2-40B4-BE49-F238E27FC236}">
                        <a16:creationId xmlns:a16="http://schemas.microsoft.com/office/drawing/2014/main" id="{1688B99F-65E3-4AE4-9C38-FA41612EA3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074952" y="4295154"/>
                    <a:ext cx="0" cy="578716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 type="stealth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81" name="Text Box 49">
                    <a:extLst>
                      <a:ext uri="{FF2B5EF4-FFF2-40B4-BE49-F238E27FC236}">
                        <a16:creationId xmlns:a16="http://schemas.microsoft.com/office/drawing/2014/main" id="{DC67937C-C484-4CCF-8322-B03743C0101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58893" y="4269762"/>
                    <a:ext cx="624187" cy="5476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sym typeface="Symbol" panose="05050102010706020507" pitchFamily="18" charset="2"/>
                      </a:rPr>
                      <a:t>E</a:t>
                    </a:r>
                    <a:r>
                      <a:rPr lang="es-ES" sz="2000" baseline="-25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sym typeface="Symbol" panose="05050102010706020507" pitchFamily="18" charset="2"/>
                      </a:rPr>
                      <a:t>P</a:t>
                    </a:r>
                    <a:endParaRPr lang="es-ES" sz="2000" baseline="-25000" dirty="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6" name="Line 52">
                  <a:extLst>
                    <a:ext uri="{FF2B5EF4-FFF2-40B4-BE49-F238E27FC236}">
                      <a16:creationId xmlns:a16="http://schemas.microsoft.com/office/drawing/2014/main" id="{BDDBDFB8-0A2C-429D-8433-1515719DDA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3868" y="4299253"/>
                  <a:ext cx="0" cy="359336"/>
                </a:xfrm>
                <a:prstGeom prst="line">
                  <a:avLst/>
                </a:prstGeom>
                <a:noFill/>
                <a:ln w="25400">
                  <a:solidFill>
                    <a:srgbClr val="008000"/>
                  </a:solidFill>
                  <a:round/>
                  <a:headEnd type="stealth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77" name="Line 52">
                  <a:extLst>
                    <a:ext uri="{FF2B5EF4-FFF2-40B4-BE49-F238E27FC236}">
                      <a16:creationId xmlns:a16="http://schemas.microsoft.com/office/drawing/2014/main" id="{118A0B53-4B2B-48D3-9302-15A04A4C52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16790" y="4657463"/>
                  <a:ext cx="0" cy="245432"/>
                </a:xfrm>
                <a:prstGeom prst="line">
                  <a:avLst/>
                </a:prstGeom>
                <a:noFill/>
                <a:ln w="25400">
                  <a:solidFill>
                    <a:srgbClr val="008000"/>
                  </a:solidFill>
                  <a:round/>
                  <a:headEnd type="stealth" w="lg" len="lg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Ctr="1">
                  <a:spAutoFit/>
                </a:bodyPr>
                <a:lstStyle/>
                <a:p>
                  <a:endParaRPr lang="es-ES"/>
                </a:p>
              </p:txBody>
            </p:sp>
          </p:grpSp>
          <p:sp>
            <p:nvSpPr>
              <p:cNvPr id="74" name="Text Box 49">
                <a:extLst>
                  <a:ext uri="{FF2B5EF4-FFF2-40B4-BE49-F238E27FC236}">
                    <a16:creationId xmlns:a16="http://schemas.microsoft.com/office/drawing/2014/main" id="{6EC2BC7A-9D8A-4A77-AA65-F5E0B9D179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38606" y="6001357"/>
                <a:ext cx="633805" cy="547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E</a:t>
                </a:r>
                <a:r>
                  <a:rPr lang="es-ES" sz="2000" baseline="-2500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C</a:t>
                </a:r>
                <a:endParaRPr lang="es-ES" sz="2000" baseline="-250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21C3B698-07DB-4478-9257-6F3E1B888ED9}"/>
                </a:ext>
              </a:extLst>
            </p:cNvPr>
            <p:cNvGrpSpPr/>
            <p:nvPr/>
          </p:nvGrpSpPr>
          <p:grpSpPr>
            <a:xfrm>
              <a:off x="1485562" y="5931701"/>
              <a:ext cx="2182586" cy="907427"/>
              <a:chOff x="7632764" y="5748591"/>
              <a:chExt cx="2182586" cy="907427"/>
            </a:xfrm>
          </p:grpSpPr>
          <p:grpSp>
            <p:nvGrpSpPr>
              <p:cNvPr id="86" name="Grupo 85">
                <a:extLst>
                  <a:ext uri="{FF2B5EF4-FFF2-40B4-BE49-F238E27FC236}">
                    <a16:creationId xmlns:a16="http://schemas.microsoft.com/office/drawing/2014/main" id="{AB35BFFF-8C15-4E2C-8A6E-C0B135958AFD}"/>
                  </a:ext>
                </a:extLst>
              </p:cNvPr>
              <p:cNvGrpSpPr/>
              <p:nvPr/>
            </p:nvGrpSpPr>
            <p:grpSpPr>
              <a:xfrm>
                <a:off x="7632764" y="5748591"/>
                <a:ext cx="2182586" cy="641790"/>
                <a:chOff x="5824465" y="5994023"/>
                <a:chExt cx="2182586" cy="641790"/>
              </a:xfrm>
            </p:grpSpPr>
            <p:grpSp>
              <p:nvGrpSpPr>
                <p:cNvPr id="89" name="Grupo 88">
                  <a:extLst>
                    <a:ext uri="{FF2B5EF4-FFF2-40B4-BE49-F238E27FC236}">
                      <a16:creationId xmlns:a16="http://schemas.microsoft.com/office/drawing/2014/main" id="{B8B9CC62-9214-4D84-8F28-855E18BE056E}"/>
                    </a:ext>
                  </a:extLst>
                </p:cNvPr>
                <p:cNvGrpSpPr/>
                <p:nvPr/>
              </p:nvGrpSpPr>
              <p:grpSpPr>
                <a:xfrm>
                  <a:off x="6373949" y="5994023"/>
                  <a:ext cx="1633102" cy="641790"/>
                  <a:chOff x="2014209" y="4287652"/>
                  <a:chExt cx="1633102" cy="641790"/>
                </a:xfrm>
              </p:grpSpPr>
              <p:grpSp>
                <p:nvGrpSpPr>
                  <p:cNvPr id="91" name="Grupo 90">
                    <a:extLst>
                      <a:ext uri="{FF2B5EF4-FFF2-40B4-BE49-F238E27FC236}">
                        <a16:creationId xmlns:a16="http://schemas.microsoft.com/office/drawing/2014/main" id="{12602EAD-BD13-4D15-B595-167B9D9A6699}"/>
                      </a:ext>
                    </a:extLst>
                  </p:cNvPr>
                  <p:cNvGrpSpPr/>
                  <p:nvPr/>
                </p:nvGrpSpPr>
                <p:grpSpPr>
                  <a:xfrm>
                    <a:off x="2014209" y="4287652"/>
                    <a:ext cx="1633102" cy="641790"/>
                    <a:chOff x="2014209" y="4287652"/>
                    <a:chExt cx="1633102" cy="641790"/>
                  </a:xfrm>
                </p:grpSpPr>
                <p:sp>
                  <p:nvSpPr>
                    <p:cNvPr id="94" name="Line 34">
                      <a:extLst>
                        <a:ext uri="{FF2B5EF4-FFF2-40B4-BE49-F238E27FC236}">
                          <a16:creationId xmlns:a16="http://schemas.microsoft.com/office/drawing/2014/main" id="{764163E7-58A7-489E-B941-4AA02C80593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2014209" y="4924178"/>
                      <a:ext cx="930025" cy="5264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FF0000"/>
                      </a:solidFill>
                      <a:round/>
                      <a:headEnd type="triangle" w="med" len="lg"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90000" tIns="118800" rIns="90000" bIns="118800" anchor="ctr" anchorCtr="1"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95" name="Line 52">
                      <a:extLst>
                        <a:ext uri="{FF2B5EF4-FFF2-40B4-BE49-F238E27FC236}">
                          <a16:creationId xmlns:a16="http://schemas.microsoft.com/office/drawing/2014/main" id="{3C5CE286-22BB-4DA3-AAEC-27E9E4ED846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53276" y="4313617"/>
                      <a:ext cx="0" cy="57871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8000"/>
                      </a:solidFill>
                      <a:round/>
                      <a:headEnd type="stealth" w="lg" len="lg"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90000" tIns="118800" rIns="90000" bIns="118800" anchorCtr="1">
                      <a:spAutoFit/>
                    </a:bodyPr>
                    <a:lstStyle/>
                    <a:p>
                      <a:endParaRPr lang="es-ES"/>
                    </a:p>
                  </p:txBody>
                </p:sp>
                <p:sp>
                  <p:nvSpPr>
                    <p:cNvPr id="96" name="Line 52">
                      <a:extLst>
                        <a:ext uri="{FF2B5EF4-FFF2-40B4-BE49-F238E27FC236}">
                          <a16:creationId xmlns:a16="http://schemas.microsoft.com/office/drawing/2014/main" id="{91B8EF50-41A9-4356-B1F1-EE4A24F728C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74952" y="4295154"/>
                      <a:ext cx="0" cy="578716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8000"/>
                      </a:solidFill>
                      <a:round/>
                      <a:headEnd type="stealth" w="lg" len="lg"/>
                      <a:tailEnd type="stealth" w="lg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90000" tIns="118800" rIns="90000" bIns="118800" anchorCtr="1">
                      <a:spAutoFit/>
                    </a:bodyPr>
                    <a:lstStyle/>
                    <a:p>
                      <a:endParaRPr lang="es-ES"/>
                    </a:p>
                  </p:txBody>
                </p:sp>
                <p:sp>
                  <p:nvSpPr>
                    <p:cNvPr id="97" name="Text Box 49">
                      <a:extLst>
                        <a:ext uri="{FF2B5EF4-FFF2-40B4-BE49-F238E27FC236}">
                          <a16:creationId xmlns:a16="http://schemas.microsoft.com/office/drawing/2014/main" id="{753D5497-5915-4C16-B082-72D59A1A908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023124" y="4287652"/>
                      <a:ext cx="624187" cy="5476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 algn="ctr">
                          <a:solidFill>
                            <a:srgbClr val="000000"/>
                          </a:solidFill>
                          <a:miter lim="800000"/>
                          <a:headEnd/>
                          <a:tailEnd type="none" w="lg" len="lg"/>
                        </a14:hiddenLine>
                      </a:ext>
                    </a:extLst>
                  </p:spPr>
                  <p:txBody>
                    <a:bodyPr wrap="none" lIns="90000" tIns="118800" rIns="90000" bIns="118800" anchorCtr="1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3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7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3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lang="es-ES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E</a:t>
                      </a:r>
                      <a:r>
                        <a:rPr lang="es-ES" sz="2000" baseline="-25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P</a:t>
                      </a:r>
                      <a:endParaRPr lang="es-ES" sz="2000" baseline="-25000" dirty="0">
                        <a:solidFill>
                          <a:srgbClr val="000000"/>
                        </a:solidFill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92" name="Line 52">
                    <a:extLst>
                      <a:ext uri="{FF2B5EF4-FFF2-40B4-BE49-F238E27FC236}">
                        <a16:creationId xmlns:a16="http://schemas.microsoft.com/office/drawing/2014/main" id="{396B0C18-C682-4BD0-8379-E62BE253AC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23868" y="4299253"/>
                    <a:ext cx="0" cy="359336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 type="stealth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93" name="Line 52">
                    <a:extLst>
                      <a:ext uri="{FF2B5EF4-FFF2-40B4-BE49-F238E27FC236}">
                        <a16:creationId xmlns:a16="http://schemas.microsoft.com/office/drawing/2014/main" id="{BD238E73-4804-4D77-B97B-649E939EEF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16790" y="4657463"/>
                    <a:ext cx="0" cy="245432"/>
                  </a:xfrm>
                  <a:prstGeom prst="line">
                    <a:avLst/>
                  </a:prstGeom>
                  <a:noFill/>
                  <a:ln w="25400">
                    <a:solidFill>
                      <a:srgbClr val="008000"/>
                    </a:solidFill>
                    <a:round/>
                    <a:headEnd type="stealth" w="lg" len="lg"/>
                    <a:tailEnd type="stealth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Ctr="1">
                    <a:spAutoFit/>
                  </a:bodyPr>
                  <a:lstStyle/>
                  <a:p>
                    <a:endParaRPr lang="es-ES"/>
                  </a:p>
                </p:txBody>
              </p:sp>
            </p:grpSp>
            <p:sp>
              <p:nvSpPr>
                <p:cNvPr id="90" name="Text Box 49">
                  <a:extLst>
                    <a:ext uri="{FF2B5EF4-FFF2-40B4-BE49-F238E27FC236}">
                      <a16:creationId xmlns:a16="http://schemas.microsoft.com/office/drawing/2014/main" id="{F9763FF5-846E-432C-B1AA-9C0D4A2139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24465" y="5994032"/>
                  <a:ext cx="633805" cy="5476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E</a:t>
                  </a:r>
                  <a:r>
                    <a:rPr lang="es-ES" sz="2000" baseline="-25000">
                      <a:solidFill>
                        <a:srgbClr val="000000"/>
                      </a:solidFill>
                      <a:latin typeface="Arial" panose="020B0604020202020204" pitchFamily="34" charset="0"/>
                      <a:sym typeface="Symbol" panose="05050102010706020507" pitchFamily="18" charset="2"/>
                    </a:rPr>
                    <a:t>C</a:t>
                  </a:r>
                  <a:endParaRPr lang="es-ES" sz="2000" baseline="-25000" dirty="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87" name="Oval 69">
                <a:extLst>
                  <a:ext uri="{FF2B5EF4-FFF2-40B4-BE49-F238E27FC236}">
                    <a16:creationId xmlns:a16="http://schemas.microsoft.com/office/drawing/2014/main" id="{7208700E-67F7-40D4-90E0-826B49BB0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3437" y="6331452"/>
                <a:ext cx="107950" cy="109985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FFFFFF"/>
                </a:solidFill>
                <a:round/>
                <a:headEnd/>
                <a:tailEnd type="none" w="lg" len="lg"/>
              </a:ln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8" name="Text Box 70">
                <a:extLst>
                  <a:ext uri="{FF2B5EF4-FFF2-40B4-BE49-F238E27FC236}">
                    <a16:creationId xmlns:a16="http://schemas.microsoft.com/office/drawing/2014/main" id="{65663CA0-2B4D-47CA-BA96-13F90E8E1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11825" y="6141677"/>
                <a:ext cx="314325" cy="5143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1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</p:grpSp>
      <p:sp>
        <p:nvSpPr>
          <p:cNvPr id="114" name="Text Box 35">
            <a:extLst>
              <a:ext uri="{FF2B5EF4-FFF2-40B4-BE49-F238E27FC236}">
                <a16:creationId xmlns:a16="http://schemas.microsoft.com/office/drawing/2014/main" id="{3C94B7E2-95FB-45B1-A762-8978D1642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049" y="3825475"/>
            <a:ext cx="5414075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</a:rPr>
              <a:t>0</a:t>
            </a:r>
            <a:r>
              <a:rPr lang="es-ES" sz="2400" dirty="0">
                <a:latin typeface="Arial" panose="020B0604020202020204" pitchFamily="34" charset="0"/>
              </a:rPr>
              <a:t> m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ultiplicada por “e” es una E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o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barrera de E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(para e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crece hacia )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504557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63" grpId="0"/>
      <p:bldP spid="74775" grpId="0" animBg="1"/>
      <p:bldP spid="15380" grpId="0" animBg="1"/>
      <p:bldP spid="52" grpId="0" animBg="1"/>
      <p:bldP spid="1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80B927B0-DC88-4353-A4EC-E292AFB4E8F9}"/>
              </a:ext>
            </a:extLst>
          </p:cNvPr>
          <p:cNvGrpSpPr/>
          <p:nvPr/>
        </p:nvGrpSpPr>
        <p:grpSpPr>
          <a:xfrm>
            <a:off x="7051921" y="4649036"/>
            <a:ext cx="3705121" cy="2433050"/>
            <a:chOff x="7051921" y="4649036"/>
            <a:chExt cx="3705121" cy="2433050"/>
          </a:xfrm>
        </p:grpSpPr>
        <p:sp>
          <p:nvSpPr>
            <p:cNvPr id="53" name="Rectángulo 52"/>
            <p:cNvSpPr/>
            <p:nvPr/>
          </p:nvSpPr>
          <p:spPr bwMode="auto">
            <a:xfrm>
              <a:off x="7085042" y="4649036"/>
              <a:ext cx="3672000" cy="243305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17445" name="Line 39"/>
            <p:cNvSpPr>
              <a:spLocks noChangeShapeType="1"/>
            </p:cNvSpPr>
            <p:nvPr/>
          </p:nvSpPr>
          <p:spPr bwMode="auto">
            <a:xfrm flipH="1">
              <a:off x="7688509" y="5095987"/>
              <a:ext cx="264477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17446" name="Line 40"/>
            <p:cNvSpPr>
              <a:spLocks noChangeShapeType="1"/>
            </p:cNvSpPr>
            <p:nvPr/>
          </p:nvSpPr>
          <p:spPr bwMode="auto">
            <a:xfrm flipH="1" flipV="1">
              <a:off x="7675809" y="5834176"/>
              <a:ext cx="264477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17447" name="Text Box 41"/>
            <p:cNvSpPr txBox="1">
              <a:spLocks noChangeArrowheads="1"/>
            </p:cNvSpPr>
            <p:nvPr/>
          </p:nvSpPr>
          <p:spPr bwMode="auto">
            <a:xfrm>
              <a:off x="7051921" y="5553188"/>
              <a:ext cx="534988" cy="542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17448" name="Text Box 42"/>
            <p:cNvSpPr txBox="1">
              <a:spLocks noChangeArrowheads="1"/>
            </p:cNvSpPr>
            <p:nvPr/>
          </p:nvSpPr>
          <p:spPr bwMode="auto">
            <a:xfrm>
              <a:off x="7063034" y="4856274"/>
              <a:ext cx="549275" cy="542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17449" name="Text Box 43"/>
            <p:cNvSpPr txBox="1">
              <a:spLocks noChangeArrowheads="1"/>
            </p:cNvSpPr>
            <p:nvPr/>
          </p:nvSpPr>
          <p:spPr bwMode="auto">
            <a:xfrm>
              <a:off x="10203146" y="5207112"/>
              <a:ext cx="422208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</a:rPr>
                <a:t>-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1" name="Freeform 45"/>
            <p:cNvSpPr>
              <a:spLocks/>
            </p:cNvSpPr>
            <p:nvPr/>
          </p:nvSpPr>
          <p:spPr bwMode="auto">
            <a:xfrm>
              <a:off x="8509247" y="4938824"/>
              <a:ext cx="820738" cy="325438"/>
            </a:xfrm>
            <a:custGeom>
              <a:avLst/>
              <a:gdLst>
                <a:gd name="T0" fmla="*/ 0 w 1574"/>
                <a:gd name="T1" fmla="*/ 92 h 205"/>
                <a:gd name="T2" fmla="*/ 1574 w 1574"/>
                <a:gd name="T3" fmla="*/ 0 h 205"/>
                <a:gd name="T4" fmla="*/ 1564 w 1574"/>
                <a:gd name="T5" fmla="*/ 205 h 205"/>
                <a:gd name="T6" fmla="*/ 0 w 1574"/>
                <a:gd name="T7" fmla="*/ 92 h 2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4"/>
                <a:gd name="T13" fmla="*/ 0 h 205"/>
                <a:gd name="T14" fmla="*/ 1574 w 1574"/>
                <a:gd name="T15" fmla="*/ 205 h 2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4" h="205">
                  <a:moveTo>
                    <a:pt x="0" y="92"/>
                  </a:moveTo>
                  <a:lnTo>
                    <a:pt x="1574" y="0"/>
                  </a:lnTo>
                  <a:lnTo>
                    <a:pt x="1564" y="205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8000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square"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17452" name="Freeform 46"/>
            <p:cNvSpPr>
              <a:spLocks/>
            </p:cNvSpPr>
            <p:nvPr/>
          </p:nvSpPr>
          <p:spPr bwMode="auto">
            <a:xfrm flipH="1">
              <a:off x="8467972" y="5681775"/>
              <a:ext cx="862013" cy="325438"/>
            </a:xfrm>
            <a:custGeom>
              <a:avLst/>
              <a:gdLst>
                <a:gd name="T0" fmla="*/ 0 w 1574"/>
                <a:gd name="T1" fmla="*/ 92 h 205"/>
                <a:gd name="T2" fmla="*/ 1574 w 1574"/>
                <a:gd name="T3" fmla="*/ 0 h 205"/>
                <a:gd name="T4" fmla="*/ 1564 w 1574"/>
                <a:gd name="T5" fmla="*/ 205 h 205"/>
                <a:gd name="T6" fmla="*/ 0 w 1574"/>
                <a:gd name="T7" fmla="*/ 92 h 2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4"/>
                <a:gd name="T13" fmla="*/ 0 h 205"/>
                <a:gd name="T14" fmla="*/ 1574 w 1574"/>
                <a:gd name="T15" fmla="*/ 205 h 2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4" h="205">
                  <a:moveTo>
                    <a:pt x="0" y="92"/>
                  </a:moveTo>
                  <a:lnTo>
                    <a:pt x="1574" y="0"/>
                  </a:lnTo>
                  <a:lnTo>
                    <a:pt x="1564" y="205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8000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square"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80A0E9E4-4D12-4E53-BEB4-D9799F8CB493}"/>
                </a:ext>
              </a:extLst>
            </p:cNvPr>
            <p:cNvSpPr/>
            <p:nvPr/>
          </p:nvSpPr>
          <p:spPr bwMode="auto">
            <a:xfrm>
              <a:off x="9342685" y="4943467"/>
              <a:ext cx="977890" cy="324000"/>
            </a:xfrm>
            <a:prstGeom prst="rect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AE9374E1-0E2E-4B16-A9F4-AE10403FF2FB}"/>
                </a:ext>
              </a:extLst>
            </p:cNvPr>
            <p:cNvSpPr/>
            <p:nvPr/>
          </p:nvSpPr>
          <p:spPr bwMode="auto">
            <a:xfrm>
              <a:off x="7860090" y="5690211"/>
              <a:ext cx="601531" cy="324000"/>
            </a:xfrm>
            <a:prstGeom prst="rect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7459" name="Text Box 3"/>
          <p:cNvSpPr txBox="1">
            <a:spLocks noChangeArrowheads="1"/>
          </p:cNvSpPr>
          <p:nvPr/>
        </p:nvSpPr>
        <p:spPr bwMode="auto">
          <a:xfrm>
            <a:off x="7804509" y="320700"/>
            <a:ext cx="2200275" cy="60893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POLARIZADA</a:t>
            </a:r>
          </a:p>
        </p:txBody>
      </p:sp>
      <p:sp>
        <p:nvSpPr>
          <p:cNvPr id="17460" name="Text Box 4"/>
          <p:cNvSpPr txBox="1">
            <a:spLocks noChangeArrowheads="1"/>
          </p:cNvSpPr>
          <p:nvPr/>
        </p:nvSpPr>
        <p:spPr bwMode="auto">
          <a:xfrm>
            <a:off x="7782284" y="824701"/>
            <a:ext cx="2290763" cy="546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(con </a:t>
            </a:r>
            <a:r>
              <a:rPr lang="es-ES" sz="2000" dirty="0" err="1">
                <a:solidFill>
                  <a:srgbClr val="FF0000"/>
                </a:solidFill>
                <a:latin typeface="Arial" panose="020B0604020202020204" pitchFamily="34" charset="0"/>
              </a:rPr>
              <a:t>ddp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 aplicada)</a:t>
            </a:r>
          </a:p>
        </p:txBody>
      </p:sp>
      <p:grpSp>
        <p:nvGrpSpPr>
          <p:cNvPr id="17412" name="Group 5"/>
          <p:cNvGrpSpPr>
            <a:grpSpLocks/>
          </p:cNvGrpSpPr>
          <p:nvPr/>
        </p:nvGrpSpPr>
        <p:grpSpPr bwMode="auto">
          <a:xfrm>
            <a:off x="7567745" y="1376451"/>
            <a:ext cx="2735263" cy="1284288"/>
            <a:chOff x="1210" y="1204"/>
            <a:chExt cx="428" cy="175"/>
          </a:xfrm>
        </p:grpSpPr>
        <p:sp>
          <p:nvSpPr>
            <p:cNvPr id="17457" name="Rectangle 6"/>
            <p:cNvSpPr>
              <a:spLocks noChangeArrowheads="1"/>
            </p:cNvSpPr>
            <p:nvPr/>
          </p:nvSpPr>
          <p:spPr bwMode="auto">
            <a:xfrm>
              <a:off x="1210" y="1204"/>
              <a:ext cx="216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8" name="Rectangle 7"/>
            <p:cNvSpPr>
              <a:spLocks noChangeArrowheads="1"/>
            </p:cNvSpPr>
            <p:nvPr/>
          </p:nvSpPr>
          <p:spPr bwMode="auto">
            <a:xfrm>
              <a:off x="1422" y="1204"/>
              <a:ext cx="216" cy="175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413" name="Text Box 8"/>
          <p:cNvSpPr txBox="1">
            <a:spLocks noChangeArrowheads="1"/>
          </p:cNvSpPr>
          <p:nvPr/>
        </p:nvSpPr>
        <p:spPr bwMode="auto">
          <a:xfrm>
            <a:off x="9445758" y="1659026"/>
            <a:ext cx="474662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7414" name="Text Box 9"/>
          <p:cNvSpPr txBox="1">
            <a:spLocks noChangeArrowheads="1"/>
          </p:cNvSpPr>
          <p:nvPr/>
        </p:nvSpPr>
        <p:spPr bwMode="auto">
          <a:xfrm>
            <a:off x="7978908" y="1659026"/>
            <a:ext cx="452437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7415" name="Text Box 10"/>
          <p:cNvSpPr txBox="1">
            <a:spLocks noChangeArrowheads="1"/>
          </p:cNvSpPr>
          <p:nvPr/>
        </p:nvSpPr>
        <p:spPr bwMode="auto">
          <a:xfrm>
            <a:off x="8929820" y="1395501"/>
            <a:ext cx="3286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7416" name="Text Box 11"/>
          <p:cNvSpPr txBox="1">
            <a:spLocks noChangeArrowheads="1"/>
          </p:cNvSpPr>
          <p:nvPr/>
        </p:nvSpPr>
        <p:spPr bwMode="auto">
          <a:xfrm>
            <a:off x="8634545" y="1405026"/>
            <a:ext cx="2651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7417" name="Line 12"/>
          <p:cNvSpPr>
            <a:spLocks noChangeShapeType="1"/>
          </p:cNvSpPr>
          <p:nvPr/>
        </p:nvSpPr>
        <p:spPr bwMode="auto">
          <a:xfrm flipH="1">
            <a:off x="8612320" y="1360576"/>
            <a:ext cx="0" cy="12573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Ctr="1">
            <a:spAutoFit/>
          </a:bodyPr>
          <a:lstStyle/>
          <a:p>
            <a:endParaRPr lang="es-ES"/>
          </a:p>
        </p:txBody>
      </p:sp>
      <p:sp>
        <p:nvSpPr>
          <p:cNvPr id="17418" name="Line 13"/>
          <p:cNvSpPr>
            <a:spLocks noChangeShapeType="1"/>
          </p:cNvSpPr>
          <p:nvPr/>
        </p:nvSpPr>
        <p:spPr bwMode="auto">
          <a:xfrm flipH="1">
            <a:off x="9253670" y="1379626"/>
            <a:ext cx="0" cy="128905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Ctr="1">
            <a:spAutoFit/>
          </a:bodyPr>
          <a:lstStyle/>
          <a:p>
            <a:endParaRPr lang="es-ES"/>
          </a:p>
        </p:txBody>
      </p:sp>
      <p:sp>
        <p:nvSpPr>
          <p:cNvPr id="973852" name="Text Box 28"/>
          <p:cNvSpPr txBox="1">
            <a:spLocks noChangeArrowheads="1"/>
          </p:cNvSpPr>
          <p:nvPr/>
        </p:nvSpPr>
        <p:spPr bwMode="auto">
          <a:xfrm>
            <a:off x="1778200" y="338453"/>
            <a:ext cx="4390903" cy="56621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POLARIZACIÓN DIRECTA </a:t>
            </a:r>
          </a:p>
        </p:txBody>
      </p:sp>
      <p:sp>
        <p:nvSpPr>
          <p:cNvPr id="973853" name="Text Box 29"/>
          <p:cNvSpPr txBox="1">
            <a:spLocks noChangeArrowheads="1"/>
          </p:cNvSpPr>
          <p:nvPr/>
        </p:nvSpPr>
        <p:spPr bwMode="auto">
          <a:xfrm>
            <a:off x="2043907" y="863141"/>
            <a:ext cx="3783673" cy="453183"/>
          </a:xfrm>
          <a:prstGeom prst="rect">
            <a:avLst/>
          </a:prstGeom>
          <a:noFill/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(caída de V en 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sentido P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N)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73854" name="Text Box 30"/>
          <p:cNvSpPr txBox="1">
            <a:spLocks noChangeArrowheads="1"/>
          </p:cNvSpPr>
          <p:nvPr/>
        </p:nvSpPr>
        <p:spPr bwMode="auto">
          <a:xfrm>
            <a:off x="7083558" y="1386364"/>
            <a:ext cx="388937" cy="12620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973855" name="Text Box 31"/>
          <p:cNvSpPr txBox="1">
            <a:spLocks noChangeArrowheads="1"/>
          </p:cNvSpPr>
          <p:nvPr/>
        </p:nvSpPr>
        <p:spPr bwMode="auto">
          <a:xfrm>
            <a:off x="10398258" y="1360576"/>
            <a:ext cx="354012" cy="13049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973856" name="Text Box 32"/>
          <p:cNvSpPr txBox="1">
            <a:spLocks noChangeArrowheads="1"/>
          </p:cNvSpPr>
          <p:nvPr/>
        </p:nvSpPr>
        <p:spPr bwMode="auto">
          <a:xfrm>
            <a:off x="1206958" y="1230469"/>
            <a:ext cx="5647623" cy="1326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Los portadores mayoritarios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zonas neutras se tienden a acercar a la unión más que los excesos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 alejarse: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73857" name="Text Box 33"/>
          <p:cNvSpPr txBox="1">
            <a:spLocks noChangeArrowheads="1"/>
          </p:cNvSpPr>
          <p:nvPr/>
        </p:nvSpPr>
        <p:spPr bwMode="auto">
          <a:xfrm>
            <a:off x="1168870" y="2890894"/>
            <a:ext cx="5855871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polarización es opuesta 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barrera: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73858" name="Text Box 34"/>
          <p:cNvSpPr txBox="1">
            <a:spLocks noChangeArrowheads="1"/>
          </p:cNvSpPr>
          <p:nvPr/>
        </p:nvSpPr>
        <p:spPr bwMode="auto">
          <a:xfrm>
            <a:off x="1146497" y="3786326"/>
            <a:ext cx="4687282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Las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DIF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suben y las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DES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bajan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73861" name="Text Box 37"/>
          <p:cNvSpPr txBox="1">
            <a:spLocks noChangeArrowheads="1"/>
          </p:cNvSpPr>
          <p:nvPr/>
        </p:nvSpPr>
        <p:spPr bwMode="auto">
          <a:xfrm>
            <a:off x="1603925" y="5435225"/>
            <a:ext cx="4723879" cy="95677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Aparece una </a:t>
            </a:r>
            <a:r>
              <a:rPr lang="es-ES" sz="2400" b="1">
                <a:latin typeface="Comic Sans MS" panose="030F0702030302020204" pitchFamily="66" charset="0"/>
              </a:rPr>
              <a:t>I </a:t>
            </a:r>
            <a:r>
              <a:rPr lang="es-ES" sz="2400" b="1">
                <a:latin typeface="Arial" panose="020B0604020202020204" pitchFamily="34" charset="0"/>
              </a:rPr>
              <a:t>“grande” </a:t>
            </a:r>
            <a:r>
              <a:rPr lang="es-ES" sz="2400" dirty="0">
                <a:latin typeface="Arial" panose="020B0604020202020204" pitchFamily="34" charset="0"/>
              </a:rPr>
              <a:t>(de Q</a:t>
            </a:r>
            <a:r>
              <a:rPr lang="es-ES" sz="2400" baseline="30000" dirty="0">
                <a:latin typeface="Arial" panose="020B0604020202020204" pitchFamily="34" charset="0"/>
              </a:rPr>
              <a:t>+</a:t>
            </a:r>
            <a:r>
              <a:rPr lang="es-ES" sz="2400" dirty="0">
                <a:latin typeface="Arial" panose="020B0604020202020204" pitchFamily="34" charset="0"/>
              </a:rPr>
              <a:t>)</a:t>
            </a:r>
            <a:r>
              <a:rPr lang="es-ES" sz="2400" baseline="300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neta en </a:t>
            </a:r>
            <a:r>
              <a:rPr lang="es-ES" sz="2400" b="1" dirty="0">
                <a:latin typeface="Arial" panose="020B0604020202020204" pitchFamily="34" charset="0"/>
              </a:rPr>
              <a:t>sentido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</a:rPr>
              <a:t>P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 N</a:t>
            </a:r>
            <a:endParaRPr lang="es-ES" sz="2400" b="1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73862" name="Text Box 38"/>
          <p:cNvSpPr txBox="1">
            <a:spLocks noChangeArrowheads="1"/>
          </p:cNvSpPr>
          <p:nvPr/>
        </p:nvSpPr>
        <p:spPr bwMode="auto">
          <a:xfrm>
            <a:off x="1603925" y="6467632"/>
            <a:ext cx="4723879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Se dice que la </a:t>
            </a:r>
            <a:r>
              <a:rPr lang="es-ES" sz="2400" b="1">
                <a:latin typeface="Arial" panose="020B0604020202020204" pitchFamily="34" charset="0"/>
              </a:rPr>
              <a:t>unión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b="1">
                <a:latin typeface="Arial" panose="020B0604020202020204" pitchFamily="34" charset="0"/>
              </a:rPr>
              <a:t>conduce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7072554" y="2771137"/>
            <a:ext cx="3682633" cy="1805615"/>
            <a:chOff x="739038" y="2787650"/>
            <a:chExt cx="3682633" cy="1805615"/>
          </a:xfrm>
        </p:grpSpPr>
        <p:sp>
          <p:nvSpPr>
            <p:cNvPr id="3" name="Rectángulo 2"/>
            <p:cNvSpPr/>
            <p:nvPr/>
          </p:nvSpPr>
          <p:spPr bwMode="auto">
            <a:xfrm>
              <a:off x="749671" y="2852454"/>
              <a:ext cx="3672000" cy="1740811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5" name="Group 55"/>
            <p:cNvGrpSpPr>
              <a:grpSpLocks/>
            </p:cNvGrpSpPr>
            <p:nvPr/>
          </p:nvGrpSpPr>
          <p:grpSpPr bwMode="auto">
            <a:xfrm>
              <a:off x="739038" y="2787650"/>
              <a:ext cx="3333750" cy="1641475"/>
              <a:chOff x="854" y="2050"/>
              <a:chExt cx="2100" cy="1034"/>
            </a:xfrm>
          </p:grpSpPr>
          <p:sp>
            <p:nvSpPr>
              <p:cNvPr id="17433" name="Line 14"/>
              <p:cNvSpPr>
                <a:spLocks noChangeShapeType="1"/>
              </p:cNvSpPr>
              <p:nvPr/>
            </p:nvSpPr>
            <p:spPr bwMode="auto">
              <a:xfrm>
                <a:off x="1215" y="2410"/>
                <a:ext cx="699" cy="1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7434" name="Line 15"/>
              <p:cNvSpPr>
                <a:spLocks noChangeShapeType="1"/>
              </p:cNvSpPr>
              <p:nvPr/>
            </p:nvSpPr>
            <p:spPr bwMode="auto">
              <a:xfrm>
                <a:off x="1217" y="2818"/>
                <a:ext cx="73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7435" name="Line 16"/>
              <p:cNvSpPr>
                <a:spLocks noChangeShapeType="1"/>
              </p:cNvSpPr>
              <p:nvPr/>
            </p:nvSpPr>
            <p:spPr bwMode="auto">
              <a:xfrm>
                <a:off x="2177" y="2578"/>
                <a:ext cx="58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7436" name="Line 17"/>
              <p:cNvSpPr>
                <a:spLocks noChangeShapeType="1"/>
              </p:cNvSpPr>
              <p:nvPr/>
            </p:nvSpPr>
            <p:spPr bwMode="auto">
              <a:xfrm>
                <a:off x="2189" y="2977"/>
                <a:ext cx="58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7437" name="Line 19"/>
              <p:cNvSpPr>
                <a:spLocks noChangeShapeType="1"/>
              </p:cNvSpPr>
              <p:nvPr/>
            </p:nvSpPr>
            <p:spPr bwMode="auto">
              <a:xfrm>
                <a:off x="1916" y="2822"/>
                <a:ext cx="267" cy="15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7438" name="Text Box 20"/>
              <p:cNvSpPr txBox="1">
                <a:spLocks noChangeArrowheads="1"/>
              </p:cNvSpPr>
              <p:nvPr/>
            </p:nvSpPr>
            <p:spPr bwMode="auto">
              <a:xfrm>
                <a:off x="854" y="2645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17439" name="Text Box 21"/>
              <p:cNvSpPr txBox="1">
                <a:spLocks noChangeArrowheads="1"/>
              </p:cNvSpPr>
              <p:nvPr/>
            </p:nvSpPr>
            <p:spPr bwMode="auto">
              <a:xfrm>
                <a:off x="875" y="2050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17440" name="Line 22"/>
              <p:cNvSpPr>
                <a:spLocks noChangeShapeType="1"/>
              </p:cNvSpPr>
              <p:nvPr/>
            </p:nvSpPr>
            <p:spPr bwMode="auto">
              <a:xfrm>
                <a:off x="1930" y="2281"/>
                <a:ext cx="0" cy="7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7441" name="Line 23"/>
              <p:cNvSpPr>
                <a:spLocks noChangeShapeType="1"/>
              </p:cNvSpPr>
              <p:nvPr/>
            </p:nvSpPr>
            <p:spPr bwMode="auto">
              <a:xfrm>
                <a:off x="2175" y="2290"/>
                <a:ext cx="0" cy="7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7442" name="Text Box 24"/>
              <p:cNvSpPr txBox="1">
                <a:spLocks noChangeArrowheads="1"/>
              </p:cNvSpPr>
              <p:nvPr/>
            </p:nvSpPr>
            <p:spPr bwMode="auto">
              <a:xfrm>
                <a:off x="2320" y="2253"/>
                <a:ext cx="634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e(V</a:t>
                </a:r>
                <a:r>
                  <a:rPr lang="es-ES" sz="20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-V)</a:t>
                </a:r>
              </a:p>
            </p:txBody>
          </p:sp>
          <p:sp>
            <p:nvSpPr>
              <p:cNvPr id="17443" name="Line 25"/>
              <p:cNvSpPr>
                <a:spLocks noChangeShapeType="1"/>
              </p:cNvSpPr>
              <p:nvPr/>
            </p:nvSpPr>
            <p:spPr bwMode="auto">
              <a:xfrm>
                <a:off x="2253" y="2404"/>
                <a:ext cx="0" cy="174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7444" name="Line 52"/>
              <p:cNvSpPr>
                <a:spLocks noChangeShapeType="1"/>
              </p:cNvSpPr>
              <p:nvPr/>
            </p:nvSpPr>
            <p:spPr bwMode="auto">
              <a:xfrm>
                <a:off x="1908" y="2417"/>
                <a:ext cx="267" cy="15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54" name="Text Box 34"/>
          <p:cNvSpPr txBox="1">
            <a:spLocks noChangeArrowheads="1"/>
          </p:cNvSpPr>
          <p:nvPr/>
        </p:nvSpPr>
        <p:spPr bwMode="auto">
          <a:xfrm>
            <a:off x="1170315" y="4742712"/>
            <a:ext cx="5912872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Las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DIF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deben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 port.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mayoritarios</a:t>
            </a:r>
          </a:p>
        </p:txBody>
      </p:sp>
      <p:sp>
        <p:nvSpPr>
          <p:cNvPr id="17450" name="Text Box 44"/>
          <p:cNvSpPr txBox="1">
            <a:spLocks noChangeArrowheads="1"/>
          </p:cNvSpPr>
          <p:nvPr/>
        </p:nvSpPr>
        <p:spPr bwMode="auto">
          <a:xfrm>
            <a:off x="7493246" y="6040551"/>
            <a:ext cx="3135314" cy="1071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1800" dirty="0">
                <a:solidFill>
                  <a:srgbClr val="FF0000"/>
                </a:solidFill>
                <a:latin typeface="Arial" panose="020B0604020202020204" pitchFamily="34" charset="0"/>
              </a:rPr>
              <a:t>Deben pasar de BC a BV,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1800" dirty="0">
                <a:solidFill>
                  <a:srgbClr val="FF0000"/>
                </a:solidFill>
                <a:latin typeface="Arial" panose="020B0604020202020204" pitchFamily="34" charset="0"/>
              </a:rPr>
              <a:t>al ser minoritarios en P. Pierden E </a:t>
            </a:r>
            <a:r>
              <a:rPr lang="es-E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(LED emite luz)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E495438-D23C-E826-3A05-53EC1B4085DD}"/>
              </a:ext>
            </a:extLst>
          </p:cNvPr>
          <p:cNvGrpSpPr/>
          <p:nvPr/>
        </p:nvGrpSpPr>
        <p:grpSpPr>
          <a:xfrm>
            <a:off x="8648947" y="5257912"/>
            <a:ext cx="542925" cy="422276"/>
            <a:chOff x="8648947" y="5257912"/>
            <a:chExt cx="542925" cy="422276"/>
          </a:xfrm>
        </p:grpSpPr>
        <p:sp>
          <p:nvSpPr>
            <p:cNvPr id="17454" name="Line 48"/>
            <p:cNvSpPr>
              <a:spLocks noChangeShapeType="1"/>
            </p:cNvSpPr>
            <p:nvPr/>
          </p:nvSpPr>
          <p:spPr bwMode="auto">
            <a:xfrm>
              <a:off x="9191872" y="5370625"/>
              <a:ext cx="0" cy="3095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17455" name="Line 49"/>
            <p:cNvSpPr>
              <a:spLocks noChangeShapeType="1"/>
            </p:cNvSpPr>
            <p:nvPr/>
          </p:nvSpPr>
          <p:spPr bwMode="auto">
            <a:xfrm>
              <a:off x="8648947" y="5257912"/>
              <a:ext cx="0" cy="3095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55" name="Line 48">
              <a:extLst>
                <a:ext uri="{FF2B5EF4-FFF2-40B4-BE49-F238E27FC236}">
                  <a16:creationId xmlns:a16="http://schemas.microsoft.com/office/drawing/2014/main" id="{D4CB1CA8-15B1-46C9-A7F2-F966FCC41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36982" y="5315814"/>
              <a:ext cx="0" cy="3095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</p:grpSp>
      <p:sp>
        <p:nvSpPr>
          <p:cNvPr id="58" name="Text Box 32">
            <a:extLst>
              <a:ext uri="{FF2B5EF4-FFF2-40B4-BE49-F238E27FC236}">
                <a16:creationId xmlns:a16="http://schemas.microsoft.com/office/drawing/2014/main" id="{536C0E98-A66E-4C3C-9265-9C5262B17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052" y="2395011"/>
            <a:ext cx="3075527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RCE se estrecha</a:t>
            </a:r>
          </a:p>
        </p:txBody>
      </p:sp>
      <p:sp>
        <p:nvSpPr>
          <p:cNvPr id="59" name="Text Box 33">
            <a:extLst>
              <a:ext uri="{FF2B5EF4-FFF2-40B4-BE49-F238E27FC236}">
                <a16:creationId xmlns:a16="http://schemas.microsoft.com/office/drawing/2014/main" id="{09D5CDA2-AEE8-4190-8910-1786EB710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3743" y="3287623"/>
            <a:ext cx="4708121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barrera se reduce (baja el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0" name="Text Box 34">
            <a:extLst>
              <a:ext uri="{FF2B5EF4-FFF2-40B4-BE49-F238E27FC236}">
                <a16:creationId xmlns:a16="http://schemas.microsoft.com/office/drawing/2014/main" id="{8A989121-F07C-4F2B-A028-BF5381108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234" y="4167326"/>
            <a:ext cx="2940008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 se compensan)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73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7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73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7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97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7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7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7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97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973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973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97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9" grpId="0" animBg="1"/>
      <p:bldP spid="17460" grpId="0"/>
      <p:bldP spid="973852" grpId="0" animBg="1"/>
      <p:bldP spid="973853" grpId="0" animBg="1"/>
      <p:bldP spid="973854" grpId="0" animBg="1"/>
      <p:bldP spid="973855" grpId="0" animBg="1"/>
      <p:bldP spid="973856" grpId="0"/>
      <p:bldP spid="973857" grpId="0"/>
      <p:bldP spid="973858" grpId="0"/>
      <p:bldP spid="973861" grpId="0" animBg="1"/>
      <p:bldP spid="973862" grpId="0" animBg="1"/>
      <p:bldP spid="54" grpId="0"/>
      <p:bldP spid="17450" grpId="0"/>
      <p:bldP spid="58" grpId="0"/>
      <p:bldP spid="59" grpId="0"/>
      <p:bldP spid="6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3" name="CuadroTexto 1"/>
          <p:cNvSpPr txBox="1">
            <a:spLocks noChangeArrowheads="1"/>
          </p:cNvSpPr>
          <p:nvPr/>
        </p:nvSpPr>
        <p:spPr bwMode="auto">
          <a:xfrm>
            <a:off x="2097519" y="748852"/>
            <a:ext cx="7362168" cy="23977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180000" tIns="108000" rIns="180000" bIns="720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>
              <a:defRPr/>
            </a:pPr>
            <a:r>
              <a:rPr lang="es-ES" sz="2400" dirty="0"/>
              <a:t>El paso de un e</a:t>
            </a:r>
            <a:r>
              <a:rPr lang="es-ES" sz="2400" baseline="30000" dirty="0"/>
              <a:t>-</a:t>
            </a:r>
            <a:r>
              <a:rPr lang="es-ES" sz="2400" dirty="0"/>
              <a:t> de la </a:t>
            </a:r>
            <a:r>
              <a:rPr lang="es-ES" sz="2400" b="1" dirty="0"/>
              <a:t>BC</a:t>
            </a:r>
            <a:r>
              <a:rPr lang="es-ES" sz="2400" dirty="0"/>
              <a:t> a la </a:t>
            </a:r>
            <a:r>
              <a:rPr lang="es-ES" sz="2400" b="1" dirty="0"/>
              <a:t>BV</a:t>
            </a:r>
            <a:r>
              <a:rPr lang="es-ES" sz="2400" dirty="0"/>
              <a:t>, le produce una </a:t>
            </a:r>
            <a:r>
              <a:rPr lang="es-ES" sz="2400" dirty="0">
                <a:solidFill>
                  <a:srgbClr val="3333FF"/>
                </a:solidFill>
              </a:rPr>
              <a:t>pérdida de</a:t>
            </a:r>
            <a:r>
              <a:rPr lang="es-ES" sz="2400" dirty="0"/>
              <a:t> </a:t>
            </a:r>
            <a:r>
              <a:rPr lang="es-ES" sz="2400" dirty="0">
                <a:solidFill>
                  <a:srgbClr val="3333FF"/>
                </a:solidFill>
              </a:rPr>
              <a:t>energía</a:t>
            </a:r>
            <a:r>
              <a:rPr lang="es-ES" sz="2400" dirty="0"/>
              <a:t>. También le puede producir un </a:t>
            </a:r>
            <a:r>
              <a:rPr lang="es-ES" sz="2400" dirty="0">
                <a:solidFill>
                  <a:srgbClr val="3333FF"/>
                </a:solidFill>
              </a:rPr>
              <a:t>cambio en su dirección de movimiento</a:t>
            </a:r>
            <a:r>
              <a:rPr lang="es-ES" sz="2400" dirty="0"/>
              <a:t>. La emisión de la energía perdida como una </a:t>
            </a:r>
            <a:r>
              <a:rPr lang="es-ES" sz="2400" b="1" dirty="0">
                <a:solidFill>
                  <a:schemeClr val="tx1"/>
                </a:solidFill>
              </a:rPr>
              <a:t>OEM</a:t>
            </a:r>
            <a:r>
              <a:rPr lang="es-ES" sz="2400" dirty="0"/>
              <a:t>, en vez de cederla a la red cristalina, es más probable si no hay cambio de dirección </a:t>
            </a:r>
            <a:r>
              <a:rPr lang="es-ES" sz="2400" dirty="0">
                <a:solidFill>
                  <a:srgbClr val="FF0000"/>
                </a:solidFill>
              </a:rPr>
              <a:t>(gap directo)</a:t>
            </a: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3503429" y="3600450"/>
            <a:ext cx="4545420" cy="132610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En el Si y en el Ge no hay gap directo, en el </a:t>
            </a:r>
            <a:r>
              <a:rPr lang="es-ES" sz="2400" dirty="0" err="1">
                <a:solidFill>
                  <a:schemeClr val="tx1"/>
                </a:solidFill>
              </a:rPr>
              <a:t>GaAs</a:t>
            </a:r>
            <a:r>
              <a:rPr lang="es-ES" sz="2400" dirty="0">
                <a:solidFill>
                  <a:schemeClr val="tx1"/>
                </a:solidFill>
              </a:rPr>
              <a:t> y </a:t>
            </a:r>
            <a:r>
              <a:rPr lang="es-ES" sz="2400" dirty="0" err="1">
                <a:solidFill>
                  <a:schemeClr val="tx1"/>
                </a:solidFill>
              </a:rPr>
              <a:t>GaP</a:t>
            </a:r>
            <a:r>
              <a:rPr lang="es-ES" sz="2400" dirty="0">
                <a:solidFill>
                  <a:schemeClr val="tx1"/>
                </a:solidFill>
              </a:rPr>
              <a:t> sí, </a:t>
            </a:r>
          </a:p>
          <a:p>
            <a:pPr algn="ctr"/>
            <a:r>
              <a:rPr lang="es-ES" sz="2400" dirty="0">
                <a:solidFill>
                  <a:schemeClr val="tx1"/>
                </a:solidFill>
              </a:rPr>
              <a:t>por eso se usan en </a:t>
            </a:r>
            <a:r>
              <a:rPr lang="es-ES" sz="2400" b="1" dirty="0" err="1">
                <a:solidFill>
                  <a:schemeClr val="tx1"/>
                </a:solidFill>
              </a:rPr>
              <a:t>LEDs</a:t>
            </a:r>
            <a:endParaRPr lang="es-E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3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0D83ABF8-435E-4A55-BE45-807DC03F4EAE}"/>
              </a:ext>
            </a:extLst>
          </p:cNvPr>
          <p:cNvGrpSpPr/>
          <p:nvPr/>
        </p:nvGrpSpPr>
        <p:grpSpPr>
          <a:xfrm>
            <a:off x="7061812" y="4794096"/>
            <a:ext cx="3672000" cy="2328205"/>
            <a:chOff x="7061812" y="4794096"/>
            <a:chExt cx="3672000" cy="2328205"/>
          </a:xfrm>
        </p:grpSpPr>
        <p:sp>
          <p:nvSpPr>
            <p:cNvPr id="6" name="Rectángulo 5"/>
            <p:cNvSpPr/>
            <p:nvPr/>
          </p:nvSpPr>
          <p:spPr bwMode="auto">
            <a:xfrm>
              <a:off x="7061812" y="4794096"/>
              <a:ext cx="3672000" cy="2328205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1528" name="Line 54"/>
            <p:cNvSpPr>
              <a:spLocks noChangeShapeType="1"/>
            </p:cNvSpPr>
            <p:nvPr/>
          </p:nvSpPr>
          <p:spPr bwMode="auto">
            <a:xfrm>
              <a:off x="7784775" y="5118875"/>
              <a:ext cx="264477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21529" name="Line 55"/>
            <p:cNvSpPr>
              <a:spLocks noChangeShapeType="1"/>
            </p:cNvSpPr>
            <p:nvPr/>
          </p:nvSpPr>
          <p:spPr bwMode="auto">
            <a:xfrm flipV="1">
              <a:off x="7772075" y="5857063"/>
              <a:ext cx="2644775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21530" name="Text Box 56"/>
            <p:cNvSpPr txBox="1">
              <a:spLocks noChangeArrowheads="1"/>
            </p:cNvSpPr>
            <p:nvPr/>
          </p:nvSpPr>
          <p:spPr bwMode="auto">
            <a:xfrm>
              <a:off x="7148187" y="5576075"/>
              <a:ext cx="534988" cy="542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BV</a:t>
              </a:r>
            </a:p>
          </p:txBody>
        </p:sp>
        <p:sp>
          <p:nvSpPr>
            <p:cNvPr id="21531" name="Text Box 57"/>
            <p:cNvSpPr txBox="1">
              <a:spLocks noChangeArrowheads="1"/>
            </p:cNvSpPr>
            <p:nvPr/>
          </p:nvSpPr>
          <p:spPr bwMode="auto">
            <a:xfrm>
              <a:off x="7178350" y="4879162"/>
              <a:ext cx="549275" cy="542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0000"/>
                  </a:solidFill>
                  <a:latin typeface="Arial" panose="020B0604020202020204" pitchFamily="34" charset="0"/>
                </a:rPr>
                <a:t>BC</a:t>
              </a:r>
            </a:p>
          </p:txBody>
        </p:sp>
        <p:sp>
          <p:nvSpPr>
            <p:cNvPr id="21532" name="Text Box 58"/>
            <p:cNvSpPr txBox="1">
              <a:spLocks noChangeArrowheads="1"/>
            </p:cNvSpPr>
            <p:nvPr/>
          </p:nvSpPr>
          <p:spPr bwMode="auto">
            <a:xfrm>
              <a:off x="10227937" y="5177612"/>
              <a:ext cx="419100" cy="603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</a:rPr>
                <a:t>-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534" name="Freeform 61"/>
            <p:cNvSpPr>
              <a:spLocks/>
            </p:cNvSpPr>
            <p:nvPr/>
          </p:nvSpPr>
          <p:spPr bwMode="auto">
            <a:xfrm>
              <a:off x="8208637" y="4968062"/>
              <a:ext cx="1511300" cy="325438"/>
            </a:xfrm>
            <a:custGeom>
              <a:avLst/>
              <a:gdLst>
                <a:gd name="T0" fmla="*/ 0 w 1574"/>
                <a:gd name="T1" fmla="*/ 92 h 205"/>
                <a:gd name="T2" fmla="*/ 1574 w 1574"/>
                <a:gd name="T3" fmla="*/ 0 h 205"/>
                <a:gd name="T4" fmla="*/ 1564 w 1574"/>
                <a:gd name="T5" fmla="*/ 205 h 205"/>
                <a:gd name="T6" fmla="*/ 0 w 1574"/>
                <a:gd name="T7" fmla="*/ 92 h 2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4"/>
                <a:gd name="T13" fmla="*/ 0 h 205"/>
                <a:gd name="T14" fmla="*/ 1574 w 1574"/>
                <a:gd name="T15" fmla="*/ 205 h 2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4" h="205">
                  <a:moveTo>
                    <a:pt x="0" y="92"/>
                  </a:moveTo>
                  <a:lnTo>
                    <a:pt x="1574" y="0"/>
                  </a:lnTo>
                  <a:lnTo>
                    <a:pt x="1564" y="205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8000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square"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21535" name="Freeform 62"/>
            <p:cNvSpPr>
              <a:spLocks/>
            </p:cNvSpPr>
            <p:nvPr/>
          </p:nvSpPr>
          <p:spPr bwMode="auto">
            <a:xfrm flipH="1">
              <a:off x="8208637" y="5701488"/>
              <a:ext cx="1511300" cy="325438"/>
            </a:xfrm>
            <a:custGeom>
              <a:avLst/>
              <a:gdLst>
                <a:gd name="T0" fmla="*/ 0 w 1574"/>
                <a:gd name="T1" fmla="*/ 92 h 205"/>
                <a:gd name="T2" fmla="*/ 1574 w 1574"/>
                <a:gd name="T3" fmla="*/ 0 h 205"/>
                <a:gd name="T4" fmla="*/ 1564 w 1574"/>
                <a:gd name="T5" fmla="*/ 205 h 205"/>
                <a:gd name="T6" fmla="*/ 0 w 1574"/>
                <a:gd name="T7" fmla="*/ 92 h 2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4"/>
                <a:gd name="T13" fmla="*/ 0 h 205"/>
                <a:gd name="T14" fmla="*/ 1574 w 1574"/>
                <a:gd name="T15" fmla="*/ 205 h 2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4" h="205">
                  <a:moveTo>
                    <a:pt x="0" y="92"/>
                  </a:moveTo>
                  <a:lnTo>
                    <a:pt x="1574" y="0"/>
                  </a:lnTo>
                  <a:lnTo>
                    <a:pt x="1564" y="205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8000"/>
            </a:solidFill>
            <a:ln w="25400">
              <a:solidFill>
                <a:srgbClr val="008000"/>
              </a:solidFill>
              <a:round/>
              <a:headEnd/>
              <a:tailEnd type="none" w="lg" len="lg"/>
            </a:ln>
          </p:spPr>
          <p:txBody>
            <a:bodyPr wrap="square"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8BC1A247-8DA0-4DC5-9BF5-E00D1AB24D41}"/>
                </a:ext>
              </a:extLst>
            </p:cNvPr>
            <p:cNvSpPr/>
            <p:nvPr/>
          </p:nvSpPr>
          <p:spPr bwMode="auto">
            <a:xfrm>
              <a:off x="9719935" y="4975267"/>
              <a:ext cx="508001" cy="324000"/>
            </a:xfrm>
            <a:prstGeom prst="rect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8FA17E8E-E62E-408A-B4EF-1C9A856928DB}"/>
                </a:ext>
              </a:extLst>
            </p:cNvPr>
            <p:cNvSpPr/>
            <p:nvPr/>
          </p:nvSpPr>
          <p:spPr bwMode="auto">
            <a:xfrm>
              <a:off x="7795050" y="5704784"/>
              <a:ext cx="406400" cy="324000"/>
            </a:xfrm>
            <a:prstGeom prst="rect">
              <a:avLst/>
            </a:prstGeom>
            <a:solidFill>
              <a:srgbClr val="008000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7052482" y="2672836"/>
            <a:ext cx="3676874" cy="2052938"/>
            <a:chOff x="1366614" y="2792420"/>
            <a:chExt cx="3676874" cy="2052938"/>
          </a:xfrm>
        </p:grpSpPr>
        <p:sp>
          <p:nvSpPr>
            <p:cNvPr id="2" name="Rectángulo 1"/>
            <p:cNvSpPr/>
            <p:nvPr/>
          </p:nvSpPr>
          <p:spPr bwMode="auto">
            <a:xfrm>
              <a:off x="1366614" y="2869672"/>
              <a:ext cx="3672000" cy="197568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3" name="Group 68"/>
            <p:cNvGrpSpPr>
              <a:grpSpLocks/>
            </p:cNvGrpSpPr>
            <p:nvPr/>
          </p:nvGrpSpPr>
          <p:grpSpPr bwMode="auto">
            <a:xfrm>
              <a:off x="1389063" y="2792420"/>
              <a:ext cx="3654425" cy="1952628"/>
              <a:chOff x="875" y="2050"/>
              <a:chExt cx="2302" cy="1230"/>
            </a:xfrm>
          </p:grpSpPr>
          <p:sp>
            <p:nvSpPr>
              <p:cNvPr id="21540" name="Line 26"/>
              <p:cNvSpPr>
                <a:spLocks noChangeShapeType="1"/>
              </p:cNvSpPr>
              <p:nvPr/>
            </p:nvSpPr>
            <p:spPr bwMode="auto">
              <a:xfrm flipV="1">
                <a:off x="1195" y="2343"/>
                <a:ext cx="47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1541" name="Line 27"/>
              <p:cNvSpPr>
                <a:spLocks noChangeShapeType="1"/>
              </p:cNvSpPr>
              <p:nvPr/>
            </p:nvSpPr>
            <p:spPr bwMode="auto">
              <a:xfrm>
                <a:off x="1238" y="2733"/>
                <a:ext cx="41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1542" name="Line 28"/>
              <p:cNvSpPr>
                <a:spLocks noChangeShapeType="1"/>
              </p:cNvSpPr>
              <p:nvPr/>
            </p:nvSpPr>
            <p:spPr bwMode="auto">
              <a:xfrm>
                <a:off x="2393" y="2845"/>
                <a:ext cx="48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1543" name="Line 29"/>
              <p:cNvSpPr>
                <a:spLocks noChangeShapeType="1"/>
              </p:cNvSpPr>
              <p:nvPr/>
            </p:nvSpPr>
            <p:spPr bwMode="auto">
              <a:xfrm flipV="1">
                <a:off x="2396" y="3190"/>
                <a:ext cx="462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1544" name="Line 30"/>
              <p:cNvSpPr>
                <a:spLocks noChangeShapeType="1"/>
              </p:cNvSpPr>
              <p:nvPr/>
            </p:nvSpPr>
            <p:spPr bwMode="auto">
              <a:xfrm>
                <a:off x="1677" y="2343"/>
                <a:ext cx="720" cy="48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1545" name="Line 31"/>
              <p:cNvSpPr>
                <a:spLocks noChangeShapeType="1"/>
              </p:cNvSpPr>
              <p:nvPr/>
            </p:nvSpPr>
            <p:spPr bwMode="auto">
              <a:xfrm>
                <a:off x="1669" y="2723"/>
                <a:ext cx="720" cy="45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1546" name="Text Box 32"/>
              <p:cNvSpPr txBox="1">
                <a:spLocks noChangeArrowheads="1"/>
              </p:cNvSpPr>
              <p:nvPr/>
            </p:nvSpPr>
            <p:spPr bwMode="auto">
              <a:xfrm>
                <a:off x="890" y="2819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21547" name="Text Box 33"/>
              <p:cNvSpPr txBox="1">
                <a:spLocks noChangeArrowheads="1"/>
              </p:cNvSpPr>
              <p:nvPr/>
            </p:nvSpPr>
            <p:spPr bwMode="auto">
              <a:xfrm>
                <a:off x="875" y="2050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  <p:sp>
            <p:nvSpPr>
              <p:cNvPr id="21548" name="Line 34"/>
              <p:cNvSpPr>
                <a:spLocks noChangeShapeType="1"/>
              </p:cNvSpPr>
              <p:nvPr/>
            </p:nvSpPr>
            <p:spPr bwMode="auto">
              <a:xfrm>
                <a:off x="1666" y="2209"/>
                <a:ext cx="0" cy="10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1549" name="Line 35"/>
              <p:cNvSpPr>
                <a:spLocks noChangeShapeType="1"/>
              </p:cNvSpPr>
              <p:nvPr/>
            </p:nvSpPr>
            <p:spPr bwMode="auto">
              <a:xfrm>
                <a:off x="2405" y="2224"/>
                <a:ext cx="0" cy="105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1550" name="Text Box 36"/>
              <p:cNvSpPr txBox="1">
                <a:spLocks noChangeArrowheads="1"/>
              </p:cNvSpPr>
              <p:nvPr/>
            </p:nvSpPr>
            <p:spPr bwMode="auto">
              <a:xfrm>
                <a:off x="2503" y="2404"/>
                <a:ext cx="674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e(V</a:t>
                </a:r>
                <a:r>
                  <a:rPr lang="es-ES" sz="20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+V)</a:t>
                </a:r>
              </a:p>
            </p:txBody>
          </p:sp>
          <p:sp>
            <p:nvSpPr>
              <p:cNvPr id="21551" name="Line 37"/>
              <p:cNvSpPr>
                <a:spLocks noChangeShapeType="1"/>
              </p:cNvSpPr>
              <p:nvPr/>
            </p:nvSpPr>
            <p:spPr bwMode="auto">
              <a:xfrm>
                <a:off x="2500" y="2353"/>
                <a:ext cx="0" cy="483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50" name="Text Box 30"/>
          <p:cNvSpPr txBox="1">
            <a:spLocks noChangeArrowheads="1"/>
          </p:cNvSpPr>
          <p:nvPr/>
        </p:nvSpPr>
        <p:spPr bwMode="auto">
          <a:xfrm>
            <a:off x="7046939" y="1374661"/>
            <a:ext cx="388937" cy="12620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51" name="Text Box 31"/>
          <p:cNvSpPr txBox="1">
            <a:spLocks noChangeArrowheads="1"/>
          </p:cNvSpPr>
          <p:nvPr/>
        </p:nvSpPr>
        <p:spPr bwMode="auto">
          <a:xfrm>
            <a:off x="10361639" y="1359707"/>
            <a:ext cx="354012" cy="13049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 anchor="ctr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55" name="Text Box 32"/>
          <p:cNvSpPr txBox="1">
            <a:spLocks noChangeArrowheads="1"/>
          </p:cNvSpPr>
          <p:nvPr/>
        </p:nvSpPr>
        <p:spPr bwMode="auto">
          <a:xfrm>
            <a:off x="1209575" y="1269007"/>
            <a:ext cx="5647623" cy="16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Los portadores mayoritarios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zonas neutras se tienden a alejar de la unión más que los excesos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 acercarse: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None/>
            </a:pP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6" name="Text Box 33"/>
          <p:cNvSpPr txBox="1">
            <a:spLocks noChangeArrowheads="1"/>
          </p:cNvSpPr>
          <p:nvPr/>
        </p:nvSpPr>
        <p:spPr bwMode="auto">
          <a:xfrm>
            <a:off x="1180260" y="2936017"/>
            <a:ext cx="5956860" cy="956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polarización es a favor 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la barrera: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2" name="Group 53">
            <a:extLst>
              <a:ext uri="{FF2B5EF4-FFF2-40B4-BE49-F238E27FC236}">
                <a16:creationId xmlns:a16="http://schemas.microsoft.com/office/drawing/2014/main" id="{F0D50D22-DAF8-4AEF-886B-2C2706200A7B}"/>
              </a:ext>
            </a:extLst>
          </p:cNvPr>
          <p:cNvGrpSpPr>
            <a:grpSpLocks/>
          </p:cNvGrpSpPr>
          <p:nvPr/>
        </p:nvGrpSpPr>
        <p:grpSpPr bwMode="auto">
          <a:xfrm>
            <a:off x="7762619" y="320700"/>
            <a:ext cx="2290763" cy="1050930"/>
            <a:chOff x="2378" y="306"/>
            <a:chExt cx="1443" cy="661"/>
          </a:xfrm>
        </p:grpSpPr>
        <p:sp>
          <p:nvSpPr>
            <p:cNvPr id="54" name="Text Box 3">
              <a:extLst>
                <a:ext uri="{FF2B5EF4-FFF2-40B4-BE49-F238E27FC236}">
                  <a16:creationId xmlns:a16="http://schemas.microsoft.com/office/drawing/2014/main" id="{720CA86E-1AA5-4255-B2E9-BD384479D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" y="306"/>
              <a:ext cx="1386" cy="38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POLARIZADA</a:t>
              </a:r>
            </a:p>
          </p:txBody>
        </p:sp>
        <p:sp>
          <p:nvSpPr>
            <p:cNvPr id="57" name="Text Box 4">
              <a:extLst>
                <a:ext uri="{FF2B5EF4-FFF2-40B4-BE49-F238E27FC236}">
                  <a16:creationId xmlns:a16="http://schemas.microsoft.com/office/drawing/2014/main" id="{ACFC7523-FA2A-474D-A861-43C6DD581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8" y="623"/>
              <a:ext cx="1443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(con </a:t>
              </a:r>
              <a:r>
                <a:rPr lang="es-ES" sz="2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ddp</a:t>
              </a:r>
              <a:r>
                <a:rPr lang="es-ES" sz="2000" dirty="0">
                  <a:solidFill>
                    <a:srgbClr val="FF0000"/>
                  </a:solidFill>
                  <a:latin typeface="Arial" panose="020B0604020202020204" pitchFamily="34" charset="0"/>
                </a:rPr>
                <a:t> aplicada)</a:t>
              </a:r>
            </a:p>
          </p:txBody>
        </p:sp>
      </p:grpSp>
      <p:grpSp>
        <p:nvGrpSpPr>
          <p:cNvPr id="60" name="Group 5">
            <a:extLst>
              <a:ext uri="{FF2B5EF4-FFF2-40B4-BE49-F238E27FC236}">
                <a16:creationId xmlns:a16="http://schemas.microsoft.com/office/drawing/2014/main" id="{9100D50C-E749-4C7B-B6D2-D27356EE332B}"/>
              </a:ext>
            </a:extLst>
          </p:cNvPr>
          <p:cNvGrpSpPr>
            <a:grpSpLocks/>
          </p:cNvGrpSpPr>
          <p:nvPr/>
        </p:nvGrpSpPr>
        <p:grpSpPr bwMode="auto">
          <a:xfrm>
            <a:off x="7549088" y="1376451"/>
            <a:ext cx="2735263" cy="1284288"/>
            <a:chOff x="1210" y="1204"/>
            <a:chExt cx="428" cy="175"/>
          </a:xfrm>
        </p:grpSpPr>
        <p:sp>
          <p:nvSpPr>
            <p:cNvPr id="62" name="Rectangle 6">
              <a:extLst>
                <a:ext uri="{FF2B5EF4-FFF2-40B4-BE49-F238E27FC236}">
                  <a16:creationId xmlns:a16="http://schemas.microsoft.com/office/drawing/2014/main" id="{0A698D2C-4E65-49D3-986A-EA0AB7908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" y="1204"/>
              <a:ext cx="216" cy="175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" name="Rectangle 7">
              <a:extLst>
                <a:ext uri="{FF2B5EF4-FFF2-40B4-BE49-F238E27FC236}">
                  <a16:creationId xmlns:a16="http://schemas.microsoft.com/office/drawing/2014/main" id="{A346BF8A-BEA9-4ABE-84EE-A86BCC559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1204"/>
              <a:ext cx="216" cy="175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4" name="Text Box 8">
            <a:extLst>
              <a:ext uri="{FF2B5EF4-FFF2-40B4-BE49-F238E27FC236}">
                <a16:creationId xmlns:a16="http://schemas.microsoft.com/office/drawing/2014/main" id="{BB7A76D3-DFFA-4BB2-8261-030C8FB9E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7101" y="1659026"/>
            <a:ext cx="474662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65" name="Text Box 9">
            <a:extLst>
              <a:ext uri="{FF2B5EF4-FFF2-40B4-BE49-F238E27FC236}">
                <a16:creationId xmlns:a16="http://schemas.microsoft.com/office/drawing/2014/main" id="{58DEBEFC-BE96-4536-AF68-5AC881461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0251" y="1659026"/>
            <a:ext cx="452437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32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66" name="Text Box 10">
            <a:extLst>
              <a:ext uri="{FF2B5EF4-FFF2-40B4-BE49-F238E27FC236}">
                <a16:creationId xmlns:a16="http://schemas.microsoft.com/office/drawing/2014/main" id="{7234BE99-7A28-4193-9B81-10D6B5952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1163" y="1395501"/>
            <a:ext cx="3286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67" name="Text Box 11">
            <a:extLst>
              <a:ext uri="{FF2B5EF4-FFF2-40B4-BE49-F238E27FC236}">
                <a16:creationId xmlns:a16="http://schemas.microsoft.com/office/drawing/2014/main" id="{9212C665-EB6A-48E7-8B31-6B1A58952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5888" y="1405026"/>
            <a:ext cx="265113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68" name="Line 12">
            <a:extLst>
              <a:ext uri="{FF2B5EF4-FFF2-40B4-BE49-F238E27FC236}">
                <a16:creationId xmlns:a16="http://schemas.microsoft.com/office/drawing/2014/main" id="{6942A899-8379-4490-84B7-0531D147B3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93663" y="1360576"/>
            <a:ext cx="0" cy="12573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Ctr="1">
            <a:spAutoFit/>
          </a:bodyPr>
          <a:lstStyle/>
          <a:p>
            <a:endParaRPr lang="es-ES"/>
          </a:p>
        </p:txBody>
      </p:sp>
      <p:sp>
        <p:nvSpPr>
          <p:cNvPr id="69" name="Line 13">
            <a:extLst>
              <a:ext uri="{FF2B5EF4-FFF2-40B4-BE49-F238E27FC236}">
                <a16:creationId xmlns:a16="http://schemas.microsoft.com/office/drawing/2014/main" id="{040157DA-07A1-4F64-B907-3AEAA70DF5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35013" y="1379626"/>
            <a:ext cx="0" cy="128905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Ctr="1">
            <a:spAutoFit/>
          </a:bodyPr>
          <a:lstStyle/>
          <a:p>
            <a:endParaRPr lang="es-ES"/>
          </a:p>
        </p:txBody>
      </p:sp>
      <p:sp>
        <p:nvSpPr>
          <p:cNvPr id="72" name="Text Box 37">
            <a:extLst>
              <a:ext uri="{FF2B5EF4-FFF2-40B4-BE49-F238E27FC236}">
                <a16:creationId xmlns:a16="http://schemas.microsoft.com/office/drawing/2014/main" id="{61D8413F-D266-4AC9-BAB0-CE3ED05E1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455" y="5449077"/>
            <a:ext cx="5003222" cy="95677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Aparece una </a:t>
            </a:r>
            <a:r>
              <a:rPr lang="es-ES" sz="2400" b="1" dirty="0">
                <a:latin typeface="Comic Sans MS" panose="030F0702030302020204" pitchFamily="66" charset="0"/>
              </a:rPr>
              <a:t>I </a:t>
            </a:r>
            <a:r>
              <a:rPr lang="es-ES" sz="2400" b="1" dirty="0">
                <a:latin typeface="Arial" panose="020B0604020202020204" pitchFamily="34" charset="0"/>
              </a:rPr>
              <a:t>“pequeña”</a:t>
            </a:r>
            <a:r>
              <a:rPr lang="es-ES" sz="2400" dirty="0">
                <a:latin typeface="Arial" panose="020B0604020202020204" pitchFamily="34" charset="0"/>
              </a:rPr>
              <a:t> (de Q</a:t>
            </a:r>
            <a:r>
              <a:rPr lang="es-ES" sz="2400" baseline="30000" dirty="0">
                <a:latin typeface="Arial" panose="020B0604020202020204" pitchFamily="34" charset="0"/>
              </a:rPr>
              <a:t>+</a:t>
            </a:r>
            <a:r>
              <a:rPr lang="es-ES" sz="2400" dirty="0">
                <a:latin typeface="Arial" panose="020B0604020202020204" pitchFamily="34" charset="0"/>
              </a:rPr>
              <a:t>)</a:t>
            </a:r>
            <a:r>
              <a:rPr lang="es-ES" sz="2400" baseline="300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neta en </a:t>
            </a:r>
            <a:r>
              <a:rPr lang="es-ES" sz="2400" b="1" dirty="0">
                <a:latin typeface="Arial" panose="020B0604020202020204" pitchFamily="34" charset="0"/>
              </a:rPr>
              <a:t>sentido N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 P</a:t>
            </a:r>
            <a:endParaRPr lang="es-ES" sz="2400" b="1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3" name="Text Box 38">
            <a:extLst>
              <a:ext uri="{FF2B5EF4-FFF2-40B4-BE49-F238E27FC236}">
                <a16:creationId xmlns:a16="http://schemas.microsoft.com/office/drawing/2014/main" id="{EF9E0E6D-166C-4BAC-9E25-4DD2C2590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455" y="6484574"/>
            <a:ext cx="5003222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Se dice que la </a:t>
            </a:r>
            <a:r>
              <a:rPr lang="es-ES" sz="2400" b="1" dirty="0">
                <a:latin typeface="Arial" panose="020B0604020202020204" pitchFamily="34" charset="0"/>
              </a:rPr>
              <a:t>unión no conduce</a:t>
            </a:r>
          </a:p>
        </p:txBody>
      </p:sp>
      <p:sp>
        <p:nvSpPr>
          <p:cNvPr id="74" name="Text Box 34">
            <a:extLst>
              <a:ext uri="{FF2B5EF4-FFF2-40B4-BE49-F238E27FC236}">
                <a16:creationId xmlns:a16="http://schemas.microsoft.com/office/drawing/2014/main" id="{1BBC45CC-0C51-40AD-BB49-20E39705C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749" y="4736633"/>
            <a:ext cx="5858077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Las </a:t>
            </a:r>
            <a:r>
              <a:rPr lang="es-ES" sz="2400" dirty="0">
                <a:solidFill>
                  <a:schemeClr val="tx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DES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deben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 port.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minoritarios</a:t>
            </a:r>
          </a:p>
        </p:txBody>
      </p:sp>
      <p:sp>
        <p:nvSpPr>
          <p:cNvPr id="21533" name="Text Box 59"/>
          <p:cNvSpPr txBox="1">
            <a:spLocks noChangeArrowheads="1"/>
          </p:cNvSpPr>
          <p:nvPr/>
        </p:nvSpPr>
        <p:spPr bwMode="auto">
          <a:xfrm>
            <a:off x="7397425" y="6050738"/>
            <a:ext cx="3227388" cy="1071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1800" dirty="0">
                <a:solidFill>
                  <a:srgbClr val="FF0000"/>
                </a:solidFill>
                <a:latin typeface="Arial" panose="020B0604020202020204" pitchFamily="34" charset="0"/>
              </a:rPr>
              <a:t>Deben pasar de BV a BC, al ser mayoritarios en N.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1800" dirty="0">
                <a:solidFill>
                  <a:srgbClr val="FF0000"/>
                </a:solidFill>
                <a:latin typeface="Arial" panose="020B0604020202020204" pitchFamily="34" charset="0"/>
              </a:rPr>
              <a:t>Ganan E </a:t>
            </a:r>
            <a:r>
              <a:rPr lang="es-E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(LED no emite luz)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E812D1A-D49F-A5AC-B70B-DFB172FD57D5}"/>
              </a:ext>
            </a:extLst>
          </p:cNvPr>
          <p:cNvGrpSpPr/>
          <p:nvPr/>
        </p:nvGrpSpPr>
        <p:grpSpPr>
          <a:xfrm>
            <a:off x="8449937" y="5285562"/>
            <a:ext cx="1035050" cy="403226"/>
            <a:chOff x="8449937" y="5285562"/>
            <a:chExt cx="1035050" cy="403226"/>
          </a:xfrm>
        </p:grpSpPr>
        <p:sp>
          <p:nvSpPr>
            <p:cNvPr id="21537" name="Line 64"/>
            <p:cNvSpPr>
              <a:spLocks noChangeShapeType="1"/>
            </p:cNvSpPr>
            <p:nvPr/>
          </p:nvSpPr>
          <p:spPr bwMode="auto">
            <a:xfrm flipV="1">
              <a:off x="9484987" y="5379225"/>
              <a:ext cx="0" cy="3095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21538" name="Line 65"/>
            <p:cNvSpPr>
              <a:spLocks noChangeShapeType="1"/>
            </p:cNvSpPr>
            <p:nvPr/>
          </p:nvSpPr>
          <p:spPr bwMode="auto">
            <a:xfrm flipV="1">
              <a:off x="8449937" y="5285562"/>
              <a:ext cx="0" cy="3095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70" name="Line 64">
              <a:extLst>
                <a:ext uri="{FF2B5EF4-FFF2-40B4-BE49-F238E27FC236}">
                  <a16:creationId xmlns:a16="http://schemas.microsoft.com/office/drawing/2014/main" id="{D750CD74-ED89-41F8-A8AA-8E645C0E96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85627" y="5318751"/>
              <a:ext cx="0" cy="3095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</p:grpSp>
      <p:sp>
        <p:nvSpPr>
          <p:cNvPr id="76" name="Text Box 28">
            <a:extLst>
              <a:ext uri="{FF2B5EF4-FFF2-40B4-BE49-F238E27FC236}">
                <a16:creationId xmlns:a16="http://schemas.microsoft.com/office/drawing/2014/main" id="{CB47D3E0-9450-4D88-8AE5-D29FB5AF0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200" y="364190"/>
            <a:ext cx="4390903" cy="51473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POLARIZACIÓN INVERSA </a:t>
            </a:r>
            <a:endParaRPr lang="es-E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7" name="Text Box 29">
            <a:extLst>
              <a:ext uri="{FF2B5EF4-FFF2-40B4-BE49-F238E27FC236}">
                <a16:creationId xmlns:a16="http://schemas.microsoft.com/office/drawing/2014/main" id="{291D5718-F87A-4791-8356-65E3B2087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907" y="863141"/>
            <a:ext cx="3783673" cy="453183"/>
          </a:xfrm>
          <a:prstGeom prst="rect">
            <a:avLst/>
          </a:prstGeom>
          <a:noFill/>
          <a:ln>
            <a:noFill/>
          </a:ln>
        </p:spPr>
        <p:txBody>
          <a:bodyPr wrap="squar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</a:rPr>
              <a:t>(caída de V en sentido N</a:t>
            </a:r>
            <a:r>
              <a:rPr lang="es-ES" sz="2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P)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8" name="Text Box 32">
            <a:extLst>
              <a:ext uri="{FF2B5EF4-FFF2-40B4-BE49-F238E27FC236}">
                <a16:creationId xmlns:a16="http://schemas.microsoft.com/office/drawing/2014/main" id="{6933A105-0A2D-4240-A28A-6582DA21F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696" y="2407320"/>
            <a:ext cx="3210898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RCE se ensancha</a:t>
            </a:r>
          </a:p>
        </p:txBody>
      </p:sp>
      <p:sp>
        <p:nvSpPr>
          <p:cNvPr id="79" name="Text Box 33">
            <a:extLst>
              <a:ext uri="{FF2B5EF4-FFF2-40B4-BE49-F238E27FC236}">
                <a16:creationId xmlns:a16="http://schemas.microsoft.com/office/drawing/2014/main" id="{9B914125-F254-4864-9ECA-A33D1FBE4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690" y="3300011"/>
            <a:ext cx="4982234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barrera se agranda (sube el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9" name="Text Box 34">
            <a:extLst>
              <a:ext uri="{FF2B5EF4-FFF2-40B4-BE49-F238E27FC236}">
                <a16:creationId xmlns:a16="http://schemas.microsoft.com/office/drawing/2014/main" id="{D0328F90-F5E4-42E1-87E0-FCCF301D9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498" y="3786326"/>
            <a:ext cx="4687282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Las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DIF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bajan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y las</a:t>
            </a:r>
            <a:r>
              <a:rPr lang="es-ES" sz="2400" dirty="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DES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suben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0" name="Text Box 34">
            <a:extLst>
              <a:ext uri="{FF2B5EF4-FFF2-40B4-BE49-F238E27FC236}">
                <a16:creationId xmlns:a16="http://schemas.microsoft.com/office/drawing/2014/main" id="{CC0DB039-60A4-4202-A7E4-DC3F94B2E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234" y="4205426"/>
            <a:ext cx="2940008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 se compensan)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5" grpId="0"/>
      <p:bldP spid="56" grpId="0"/>
      <p:bldP spid="72" grpId="0" animBg="1"/>
      <p:bldP spid="73" grpId="0" animBg="1"/>
      <p:bldP spid="74" grpId="0"/>
      <p:bldP spid="21533" grpId="0"/>
      <p:bldP spid="76" grpId="0" animBg="1"/>
      <p:bldP spid="77" grpId="0" animBg="1"/>
      <p:bldP spid="78" grpId="0"/>
      <p:bldP spid="79" grpId="0"/>
      <p:bldP spid="59" grpId="0"/>
      <p:bldP spid="8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3" name="CuadroTexto 1"/>
          <p:cNvSpPr txBox="1">
            <a:spLocks noChangeArrowheads="1"/>
          </p:cNvSpPr>
          <p:nvPr/>
        </p:nvSpPr>
        <p:spPr bwMode="auto">
          <a:xfrm>
            <a:off x="1262743" y="359802"/>
            <a:ext cx="9081407" cy="12897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108000" rIns="180000" bIns="720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sz="2400"/>
              <a:t>La </a:t>
            </a:r>
            <a:r>
              <a:rPr lang="es-ES" sz="2400" dirty="0">
                <a:solidFill>
                  <a:srgbClr val="008000"/>
                </a:solidFill>
              </a:rPr>
              <a:t>unión PN </a:t>
            </a:r>
            <a:r>
              <a:rPr lang="es-ES" sz="2400" dirty="0"/>
              <a:t>es la base física de un </a:t>
            </a:r>
            <a:r>
              <a:rPr lang="es-ES" sz="2400" b="1" dirty="0">
                <a:solidFill>
                  <a:schemeClr val="tx1"/>
                </a:solidFill>
              </a:rPr>
              <a:t>diodo</a:t>
            </a:r>
            <a:r>
              <a:rPr lang="es-ES" sz="2400" dirty="0"/>
              <a:t> fabricado con </a:t>
            </a:r>
            <a:r>
              <a:rPr lang="es-ES" sz="2400"/>
              <a:t>un </a:t>
            </a:r>
            <a:r>
              <a:rPr lang="es-ES" sz="2400" b="1">
                <a:solidFill>
                  <a:schemeClr val="tx1"/>
                </a:solidFill>
              </a:rPr>
              <a:t>semiconductor</a:t>
            </a:r>
            <a:r>
              <a:rPr lang="es-ES" sz="2400"/>
              <a:t>. Las </a:t>
            </a:r>
            <a:r>
              <a:rPr lang="es-ES" sz="2400" dirty="0"/>
              <a:t>zonas pueden </a:t>
            </a:r>
            <a:r>
              <a:rPr lang="es-ES" sz="2400"/>
              <a:t>ser del </a:t>
            </a:r>
            <a:r>
              <a:rPr lang="es-ES" sz="2400" dirty="0"/>
              <a:t>mismo tipo pero con distinto dopaje, o </a:t>
            </a:r>
            <a:r>
              <a:rPr lang="es-ES" sz="2400"/>
              <a:t>una "i", </a:t>
            </a:r>
            <a:r>
              <a:rPr lang="es-ES" sz="2400" dirty="0"/>
              <a:t>o una un </a:t>
            </a:r>
            <a:r>
              <a:rPr lang="es-ES" sz="2400"/>
              <a:t>conductor </a:t>
            </a:r>
            <a:r>
              <a:rPr lang="es-ES" sz="2400">
                <a:solidFill>
                  <a:srgbClr val="3333FF"/>
                </a:solidFill>
              </a:rPr>
              <a:t>(diodo Schottky)</a:t>
            </a:r>
            <a:endParaRPr lang="es-ES" sz="2400" dirty="0">
              <a:solidFill>
                <a:srgbClr val="3333FF"/>
              </a:solidFill>
            </a:endParaRPr>
          </a:p>
        </p:txBody>
      </p:sp>
      <p:sp>
        <p:nvSpPr>
          <p:cNvPr id="3" name="CuadroTexto 2"/>
          <p:cNvSpPr txBox="1">
            <a:spLocks noChangeArrowheads="1"/>
          </p:cNvSpPr>
          <p:nvPr/>
        </p:nvSpPr>
        <p:spPr bwMode="auto">
          <a:xfrm>
            <a:off x="1456211" y="1843143"/>
            <a:ext cx="1412158" cy="1326105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FFFFFF"/>
                </a:solidFill>
              </a:rPr>
              <a:t>Símbolo general</a:t>
            </a:r>
          </a:p>
          <a:p>
            <a:pPr algn="ctr"/>
            <a:r>
              <a:rPr lang="es-ES" sz="2400">
                <a:solidFill>
                  <a:srgbClr val="FFFFFF"/>
                </a:solidFill>
              </a:rPr>
              <a:t>DIODO</a:t>
            </a:r>
            <a:endParaRPr lang="es-ES" sz="2400" b="1" dirty="0">
              <a:solidFill>
                <a:srgbClr val="FFFFFF"/>
              </a:solidFill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2196249F-1B8D-4905-B8F7-B7A0FE31DF5D}"/>
              </a:ext>
            </a:extLst>
          </p:cNvPr>
          <p:cNvGrpSpPr/>
          <p:nvPr/>
        </p:nvGrpSpPr>
        <p:grpSpPr>
          <a:xfrm>
            <a:off x="3117911" y="2086830"/>
            <a:ext cx="1557805" cy="844306"/>
            <a:chOff x="4624985" y="4631981"/>
            <a:chExt cx="1557805" cy="844306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3D4E1DE0-7A84-43EC-AEED-C776A64E809D}"/>
                </a:ext>
              </a:extLst>
            </p:cNvPr>
            <p:cNvSpPr/>
            <p:nvPr/>
          </p:nvSpPr>
          <p:spPr bwMode="auto">
            <a:xfrm>
              <a:off x="4624985" y="4631981"/>
              <a:ext cx="1557805" cy="84430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8DFF5922-3225-4073-AF8A-866967DCEFD6}"/>
                </a:ext>
              </a:extLst>
            </p:cNvPr>
            <p:cNvGrpSpPr/>
            <p:nvPr/>
          </p:nvGrpSpPr>
          <p:grpSpPr>
            <a:xfrm>
              <a:off x="4802278" y="4716710"/>
              <a:ext cx="1130692" cy="658040"/>
              <a:chOff x="4547094" y="4534780"/>
              <a:chExt cx="1717347" cy="999461"/>
            </a:xfrm>
          </p:grpSpPr>
          <p:sp>
            <p:nvSpPr>
              <p:cNvPr id="2" name="Triángulo isósceles 1">
                <a:extLst>
                  <a:ext uri="{FF2B5EF4-FFF2-40B4-BE49-F238E27FC236}">
                    <a16:creationId xmlns:a16="http://schemas.microsoft.com/office/drawing/2014/main" id="{4C07CAE9-15AE-4573-ADCA-72B3E37CE1F8}"/>
                  </a:ext>
                </a:extLst>
              </p:cNvPr>
              <p:cNvSpPr/>
              <p:nvPr/>
            </p:nvSpPr>
            <p:spPr bwMode="auto">
              <a:xfrm rot="5400000">
                <a:off x="4968063" y="4688954"/>
                <a:ext cx="882503" cy="733646"/>
              </a:xfrm>
              <a:prstGeom prst="triangl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0000" tIns="118800" rIns="90000" bIns="1188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endParaRPr>
              </a:p>
            </p:txBody>
          </p:sp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ED08C482-62C8-4669-87F4-44426020CCAD}"/>
                  </a:ext>
                </a:extLst>
              </p:cNvPr>
              <p:cNvCxnSpPr/>
              <p:nvPr/>
            </p:nvCxnSpPr>
            <p:spPr bwMode="auto">
              <a:xfrm>
                <a:off x="5777203" y="4534780"/>
                <a:ext cx="0" cy="999461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" name="Conector recto 7">
                <a:extLst>
                  <a:ext uri="{FF2B5EF4-FFF2-40B4-BE49-F238E27FC236}">
                    <a16:creationId xmlns:a16="http://schemas.microsoft.com/office/drawing/2014/main" id="{3EB8F30B-1CB3-4209-805D-4C360842A3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6031314" y="4822650"/>
                <a:ext cx="0" cy="46625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A968A37E-59BD-4904-9859-9B19C43C6B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780222" y="4826193"/>
                <a:ext cx="0" cy="46625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27B7318-5D13-4C2B-A08D-671A05515DCD}"/>
              </a:ext>
            </a:extLst>
          </p:cNvPr>
          <p:cNvGrpSpPr/>
          <p:nvPr/>
        </p:nvGrpSpPr>
        <p:grpSpPr>
          <a:xfrm>
            <a:off x="3228996" y="3129673"/>
            <a:ext cx="1287442" cy="547697"/>
            <a:chOff x="4763928" y="5713065"/>
            <a:chExt cx="1287442" cy="547697"/>
          </a:xfrm>
        </p:grpSpPr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9B41D4F8-0ACC-42C1-8ED7-E8DF1D36DD9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763928" y="5981191"/>
              <a:ext cx="1287442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78FF0E23-9A10-4C26-BE8D-850F1606A3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0334" y="5742210"/>
              <a:ext cx="1017959" cy="477962"/>
              <a:chOff x="1210" y="1204"/>
              <a:chExt cx="428" cy="175"/>
            </a:xfrm>
          </p:grpSpPr>
          <p:sp>
            <p:nvSpPr>
              <p:cNvPr id="11" name="Rectangle 6">
                <a:extLst>
                  <a:ext uri="{FF2B5EF4-FFF2-40B4-BE49-F238E27FC236}">
                    <a16:creationId xmlns:a16="http://schemas.microsoft.com/office/drawing/2014/main" id="{CF8E2ED1-A57E-49E8-8D90-FB6DDD350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" y="1204"/>
                <a:ext cx="216" cy="17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" name="Rectangle 7">
                <a:extLst>
                  <a:ext uri="{FF2B5EF4-FFF2-40B4-BE49-F238E27FC236}">
                    <a16:creationId xmlns:a16="http://schemas.microsoft.com/office/drawing/2014/main" id="{3B0D1864-AD4D-4CAD-8506-B8F40963C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1204"/>
                <a:ext cx="216" cy="175"/>
              </a:xfrm>
              <a:prstGeom prst="rect">
                <a:avLst/>
              </a:prstGeom>
              <a:solidFill>
                <a:srgbClr val="FF99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4BEE9B9D-CD93-430E-83E8-0E98D82F88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5938" y="5713065"/>
              <a:ext cx="367706" cy="54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95CCFD59-7952-41FA-8A9F-FE76B5984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2202" y="5713065"/>
              <a:ext cx="353280" cy="54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0000"/>
                  </a:solidFill>
                  <a:latin typeface="Arial" panose="020B0604020202020204" pitchFamily="34" charset="0"/>
                </a:rPr>
                <a:t>P</a:t>
              </a:r>
            </a:p>
          </p:txBody>
        </p:sp>
      </p:grpSp>
      <p:sp>
        <p:nvSpPr>
          <p:cNvPr id="17" name="Text Box 37">
            <a:extLst>
              <a:ext uri="{FF2B5EF4-FFF2-40B4-BE49-F238E27FC236}">
                <a16:creationId xmlns:a16="http://schemas.microsoft.com/office/drawing/2014/main" id="{C941AF1F-2BD0-4D44-A383-5C43EB243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146" y="1928784"/>
            <a:ext cx="5405281" cy="5874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Flecha -</a:t>
            </a:r>
            <a:r>
              <a:rPr lang="es-ES" sz="2400">
                <a:latin typeface="Arial" panose="020B0604020202020204" pitchFamily="34" charset="0"/>
                <a:sym typeface="Wingdings 3" panose="05040102010807070707" pitchFamily="18" charset="2"/>
              </a:rPr>
              <a:t>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Conduce </a:t>
            </a:r>
            <a:r>
              <a:rPr lang="es-ES" sz="2400">
                <a:latin typeface="Arial" panose="020B0604020202020204" pitchFamily="34" charset="0"/>
              </a:rPr>
              <a:t>sentido </a:t>
            </a:r>
            <a:r>
              <a:rPr lang="es-ES" sz="2400" dirty="0">
                <a:latin typeface="Arial" panose="020B0604020202020204" pitchFamily="34" charset="0"/>
              </a:rPr>
              <a:t>P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 N</a:t>
            </a:r>
          </a:p>
        </p:txBody>
      </p:sp>
      <p:sp>
        <p:nvSpPr>
          <p:cNvPr id="18" name="Text Box 37">
            <a:extLst>
              <a:ext uri="{FF2B5EF4-FFF2-40B4-BE49-F238E27FC236}">
                <a16:creationId xmlns:a16="http://schemas.microsoft.com/office/drawing/2014/main" id="{51E3A188-3E5B-4A3B-A7AE-19DBBEE48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146" y="2576314"/>
            <a:ext cx="5405280" cy="5874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Camino cortado |-  No </a:t>
            </a:r>
            <a:r>
              <a:rPr lang="es-ES" sz="2400">
                <a:latin typeface="Arial" panose="020B0604020202020204" pitchFamily="34" charset="0"/>
              </a:rPr>
              <a:t>en  </a:t>
            </a:r>
            <a:r>
              <a:rPr lang="es-ES" sz="2400" dirty="0">
                <a:latin typeface="Arial" panose="020B0604020202020204" pitchFamily="34" charset="0"/>
              </a:rPr>
              <a:t>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 P</a:t>
            </a:r>
          </a:p>
        </p:txBody>
      </p:sp>
      <p:sp>
        <p:nvSpPr>
          <p:cNvPr id="19" name="Text Box 33">
            <a:extLst>
              <a:ext uri="{FF2B5EF4-FFF2-40B4-BE49-F238E27FC236}">
                <a16:creationId xmlns:a16="http://schemas.microsoft.com/office/drawing/2014/main" id="{D3F956D7-5C1C-42E7-A640-835964151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350" y="3696444"/>
            <a:ext cx="8986351" cy="587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los actuales de semiconductor hay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en ambos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sentidos</a:t>
            </a:r>
          </a:p>
        </p:txBody>
      </p:sp>
      <p:sp>
        <p:nvSpPr>
          <p:cNvPr id="4" name="56 CuadroTexto">
            <a:extLst>
              <a:ext uri="{FF2B5EF4-FFF2-40B4-BE49-F238E27FC236}">
                <a16:creationId xmlns:a16="http://schemas.microsoft.com/office/drawing/2014/main" id="{D93EDA39-6461-F704-2D5C-7B3AE2C62BFD}"/>
              </a:ext>
            </a:extLst>
          </p:cNvPr>
          <p:cNvSpPr txBox="1"/>
          <p:nvPr/>
        </p:nvSpPr>
        <p:spPr>
          <a:xfrm>
            <a:off x="5478704" y="4706582"/>
            <a:ext cx="4568403" cy="1938992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latin typeface="Arial" charset="0"/>
              </a:rPr>
              <a:t>El diodo pasa </a:t>
            </a:r>
            <a:r>
              <a:rPr lang="es-ES" sz="2400">
                <a:solidFill>
                  <a:schemeClr val="tx1"/>
                </a:solidFill>
                <a:latin typeface="Arial" charset="0"/>
              </a:rPr>
              <a:t>de polarización inversa </a:t>
            </a:r>
            <a:r>
              <a:rPr lang="es-ES" sz="2400" dirty="0">
                <a:solidFill>
                  <a:schemeClr val="tx1"/>
                </a:solidFill>
                <a:latin typeface="Arial" charset="0"/>
              </a:rPr>
              <a:t>(no conduce) </a:t>
            </a:r>
            <a:r>
              <a:rPr lang="es-ES" sz="2400">
                <a:solidFill>
                  <a:schemeClr val="tx1"/>
                </a:solidFill>
                <a:latin typeface="Arial" charset="0"/>
              </a:rPr>
              <a:t>a directa </a:t>
            </a:r>
            <a:r>
              <a:rPr lang="es-ES" sz="2400" dirty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s-ES" sz="2400">
                <a:solidFill>
                  <a:schemeClr val="tx1"/>
                </a:solidFill>
                <a:latin typeface="Arial" charset="0"/>
              </a:rPr>
              <a:t>conduce), al </a:t>
            </a:r>
            <a:r>
              <a:rPr lang="es-ES" sz="2400" dirty="0">
                <a:solidFill>
                  <a:schemeClr val="tx1"/>
                </a:solidFill>
                <a:latin typeface="Arial" charset="0"/>
              </a:rPr>
              <a:t>abrir el interruptor, y protege al circuito del </a:t>
            </a:r>
            <a:r>
              <a:rPr lang="es-ES" sz="2400" dirty="0">
                <a:solidFill>
                  <a:srgbClr val="3333FF"/>
                </a:solidFill>
                <a:latin typeface="Arial" charset="0"/>
              </a:rPr>
              <a:t>transitorio de la bobina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E55FE68-F9F5-9F01-A015-5BB79404A2C6}"/>
              </a:ext>
            </a:extLst>
          </p:cNvPr>
          <p:cNvGrpSpPr/>
          <p:nvPr/>
        </p:nvGrpSpPr>
        <p:grpSpPr>
          <a:xfrm>
            <a:off x="1689724" y="5176883"/>
            <a:ext cx="1449947" cy="1272258"/>
            <a:chOff x="1293911" y="673322"/>
            <a:chExt cx="1449947" cy="1272258"/>
          </a:xfrm>
        </p:grpSpPr>
        <p:sp>
          <p:nvSpPr>
            <p:cNvPr id="7" name="Text Box 31">
              <a:extLst>
                <a:ext uri="{FF2B5EF4-FFF2-40B4-BE49-F238E27FC236}">
                  <a16:creationId xmlns:a16="http://schemas.microsoft.com/office/drawing/2014/main" id="{A16D71BA-1EA5-DF46-FA3A-FF2EF67FB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911" y="720947"/>
              <a:ext cx="361294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24" name="Text Box 32">
              <a:extLst>
                <a:ext uri="{FF2B5EF4-FFF2-40B4-BE49-F238E27FC236}">
                  <a16:creationId xmlns:a16="http://schemas.microsoft.com/office/drawing/2014/main" id="{58819173-47B9-DED6-771C-3D3584DAF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9508" y="673322"/>
              <a:ext cx="284350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  <p:sp>
          <p:nvSpPr>
            <p:cNvPr id="25" name="Forma libre 1">
              <a:extLst>
                <a:ext uri="{FF2B5EF4-FFF2-40B4-BE49-F238E27FC236}">
                  <a16:creationId xmlns:a16="http://schemas.microsoft.com/office/drawing/2014/main" id="{2E46D643-7AA6-759E-F1EF-96BF7FEF346E}"/>
                </a:ext>
              </a:extLst>
            </p:cNvPr>
            <p:cNvSpPr/>
            <p:nvPr/>
          </p:nvSpPr>
          <p:spPr bwMode="auto">
            <a:xfrm flipV="1">
              <a:off x="1896632" y="1552388"/>
              <a:ext cx="173980" cy="393192"/>
            </a:xfrm>
            <a:custGeom>
              <a:avLst/>
              <a:gdLst>
                <a:gd name="connsiteX0" fmla="*/ 173736 w 173980"/>
                <a:gd name="connsiteY0" fmla="*/ 0 h 393192"/>
                <a:gd name="connsiteX1" fmla="*/ 146304 w 173980"/>
                <a:gd name="connsiteY1" fmla="*/ 210312 h 393192"/>
                <a:gd name="connsiteX2" fmla="*/ 0 w 173980"/>
                <a:gd name="connsiteY2" fmla="*/ 393192 h 39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3980" h="393192">
                  <a:moveTo>
                    <a:pt x="173736" y="0"/>
                  </a:moveTo>
                  <a:cubicBezTo>
                    <a:pt x="174498" y="72390"/>
                    <a:pt x="175260" y="144780"/>
                    <a:pt x="146304" y="210312"/>
                  </a:cubicBezTo>
                  <a:cubicBezTo>
                    <a:pt x="117348" y="275844"/>
                    <a:pt x="58674" y="334518"/>
                    <a:pt x="0" y="393192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2212D74-00DA-45F5-21A4-7F46B1081CF3}"/>
              </a:ext>
            </a:extLst>
          </p:cNvPr>
          <p:cNvGrpSpPr/>
          <p:nvPr/>
        </p:nvGrpSpPr>
        <p:grpSpPr>
          <a:xfrm>
            <a:off x="1621817" y="4841474"/>
            <a:ext cx="3467204" cy="893520"/>
            <a:chOff x="1226004" y="337913"/>
            <a:chExt cx="3467204" cy="893520"/>
          </a:xfrm>
        </p:grpSpPr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0F9E1394-FBAA-B4EE-77F2-5A8E84D36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6004" y="519563"/>
              <a:ext cx="34560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8" name="AutoShape 19">
              <a:extLst>
                <a:ext uri="{FF2B5EF4-FFF2-40B4-BE49-F238E27FC236}">
                  <a16:creationId xmlns:a16="http://schemas.microsoft.com/office/drawing/2014/main" id="{7D3EC7E9-5903-8824-4F4A-72494D6876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2825429" y="362520"/>
              <a:ext cx="355600" cy="309563"/>
            </a:xfrm>
            <a:prstGeom prst="triangle">
              <a:avLst>
                <a:gd name="adj" fmla="val 50000"/>
              </a:avLst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Line 20">
              <a:extLst>
                <a:ext uri="{FF2B5EF4-FFF2-40B4-BE49-F238E27FC236}">
                  <a16:creationId xmlns:a16="http://schemas.microsoft.com/office/drawing/2014/main" id="{734C357A-42AC-3CDB-8989-847935DD74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979417" y="516507"/>
              <a:ext cx="35718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30" name="Line 57">
              <a:extLst>
                <a:ext uri="{FF2B5EF4-FFF2-40B4-BE49-F238E27FC236}">
                  <a16:creationId xmlns:a16="http://schemas.microsoft.com/office/drawing/2014/main" id="{BCC47860-569F-48FD-C680-2F2C83D7A0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3208" y="507892"/>
              <a:ext cx="0" cy="7200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31" name="Line 57">
              <a:extLst>
                <a:ext uri="{FF2B5EF4-FFF2-40B4-BE49-F238E27FC236}">
                  <a16:creationId xmlns:a16="http://schemas.microsoft.com/office/drawing/2014/main" id="{CEF7B985-ABFF-F621-D133-AA56891C1F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1329" y="511433"/>
              <a:ext cx="0" cy="7200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1731D32-6ED0-13C0-F11C-60EFB3E1C834}"/>
              </a:ext>
            </a:extLst>
          </p:cNvPr>
          <p:cNvGrpSpPr/>
          <p:nvPr/>
        </p:nvGrpSpPr>
        <p:grpSpPr>
          <a:xfrm>
            <a:off x="1618189" y="5029354"/>
            <a:ext cx="3464541" cy="1563117"/>
            <a:chOff x="1279526" y="5345443"/>
            <a:chExt cx="3464541" cy="1563117"/>
          </a:xfrm>
        </p:grpSpPr>
        <p:sp>
          <p:nvSpPr>
            <p:cNvPr id="33" name="Line 13">
              <a:extLst>
                <a:ext uri="{FF2B5EF4-FFF2-40B4-BE49-F238E27FC236}">
                  <a16:creationId xmlns:a16="http://schemas.microsoft.com/office/drawing/2014/main" id="{C52A089C-A8FB-0A7A-3AD2-683D1D17E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9526" y="6032722"/>
              <a:ext cx="34560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0B43DD99-D440-A113-DF69-FE17A74C7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307" y="5856509"/>
              <a:ext cx="744538" cy="279400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Text Box 28">
              <a:extLst>
                <a:ext uri="{FF2B5EF4-FFF2-40B4-BE49-F238E27FC236}">
                  <a16:creationId xmlns:a16="http://schemas.microsoft.com/office/drawing/2014/main" id="{796CB66B-187D-A095-82CB-E7C7964EF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807" y="5345443"/>
              <a:ext cx="369310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36" name="Rectangle 49">
              <a:extLst>
                <a:ext uri="{FF2B5EF4-FFF2-40B4-BE49-F238E27FC236}">
                  <a16:creationId xmlns:a16="http://schemas.microsoft.com/office/drawing/2014/main" id="{F4E4F57C-93C1-BC07-C51C-614A63D4D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692" y="5881909"/>
              <a:ext cx="744537" cy="279400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 Box 50">
              <a:extLst>
                <a:ext uri="{FF2B5EF4-FFF2-40B4-BE49-F238E27FC236}">
                  <a16:creationId xmlns:a16="http://schemas.microsoft.com/office/drawing/2014/main" id="{4881B804-35C0-CC68-1125-FDBA1B581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7904" y="5370843"/>
              <a:ext cx="404576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38" name="Line 56">
              <a:extLst>
                <a:ext uri="{FF2B5EF4-FFF2-40B4-BE49-F238E27FC236}">
                  <a16:creationId xmlns:a16="http://schemas.microsoft.com/office/drawing/2014/main" id="{B9A7068F-A789-94A9-EA1C-8158971A7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1114" y="6659106"/>
              <a:ext cx="34560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39" name="Rectangle 59">
              <a:extLst>
                <a:ext uri="{FF2B5EF4-FFF2-40B4-BE49-F238E27FC236}">
                  <a16:creationId xmlns:a16="http://schemas.microsoft.com/office/drawing/2014/main" id="{98212A1F-0DF4-66F0-E076-C0FDF2DD3D6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981098" y="6486287"/>
              <a:ext cx="107950" cy="322261"/>
            </a:xfrm>
            <a:prstGeom prst="rect">
              <a:avLst/>
            </a:prstGeom>
            <a:solidFill>
              <a:srgbClr val="EDE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Line 60">
              <a:extLst>
                <a:ext uri="{FF2B5EF4-FFF2-40B4-BE49-F238E27FC236}">
                  <a16:creationId xmlns:a16="http://schemas.microsoft.com/office/drawing/2014/main" id="{5AC80DF1-8704-B67F-29CC-6FE580A476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817587" y="6645036"/>
              <a:ext cx="52704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41" name="Line 61">
              <a:extLst>
                <a:ext uri="{FF2B5EF4-FFF2-40B4-BE49-F238E27FC236}">
                  <a16:creationId xmlns:a16="http://schemas.microsoft.com/office/drawing/2014/main" id="{545E9970-6276-DD59-4B28-B7B16B2064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2917598" y="6649798"/>
              <a:ext cx="17938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42" name="Oval 43">
              <a:extLst>
                <a:ext uri="{FF2B5EF4-FFF2-40B4-BE49-F238E27FC236}">
                  <a16:creationId xmlns:a16="http://schemas.microsoft.com/office/drawing/2014/main" id="{DF813B53-DD89-C3C7-2EBE-1903CC159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332" y="6601955"/>
              <a:ext cx="107950" cy="107950"/>
            </a:xfrm>
            <a:prstGeom prst="ellipse">
              <a:avLst/>
            </a:prstGeom>
            <a:solidFill>
              <a:srgbClr val="3333FF"/>
            </a:solidFill>
            <a:ln w="25400" algn="ctr">
              <a:solidFill>
                <a:srgbClr val="3333FF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Oval 44">
              <a:extLst>
                <a:ext uri="{FF2B5EF4-FFF2-40B4-BE49-F238E27FC236}">
                  <a16:creationId xmlns:a16="http://schemas.microsoft.com/office/drawing/2014/main" id="{6B807A75-382B-712F-F840-F245439F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395" y="6595605"/>
              <a:ext cx="107950" cy="107950"/>
            </a:xfrm>
            <a:prstGeom prst="ellipse">
              <a:avLst/>
            </a:prstGeom>
            <a:solidFill>
              <a:srgbClr val="3333FF"/>
            </a:solidFill>
            <a:ln w="25400" algn="ctr">
              <a:solidFill>
                <a:srgbClr val="3333FF"/>
              </a:solidFill>
              <a:round/>
              <a:headEnd/>
              <a:tailEnd type="none" w="lg" len="lg"/>
            </a:ln>
          </p:spPr>
          <p:txBody>
            <a:bodyPr wrap="non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Text Box 111">
              <a:extLst>
                <a:ext uri="{FF2B5EF4-FFF2-40B4-BE49-F238E27FC236}">
                  <a16:creationId xmlns:a16="http://schemas.microsoft.com/office/drawing/2014/main" id="{8F928A10-170B-72E4-6520-40A54A04E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12" y="5560504"/>
              <a:ext cx="324127" cy="5479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endParaRPr lang="es-ES" baseline="-25000" dirty="0">
                <a:solidFill>
                  <a:srgbClr val="3333FF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5" name="Line 71">
              <a:extLst>
                <a:ext uri="{FF2B5EF4-FFF2-40B4-BE49-F238E27FC236}">
                  <a16:creationId xmlns:a16="http://schemas.microsoft.com/office/drawing/2014/main" id="{F458F331-FE16-0BEF-A590-4EE235E0DB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048428" y="5918151"/>
              <a:ext cx="0" cy="2159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46" name="Line 57">
              <a:extLst>
                <a:ext uri="{FF2B5EF4-FFF2-40B4-BE49-F238E27FC236}">
                  <a16:creationId xmlns:a16="http://schemas.microsoft.com/office/drawing/2014/main" id="{2C637011-446E-93D9-7E24-4EF2FE363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4067" y="6043467"/>
              <a:ext cx="0" cy="6120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47" name="Line 57">
              <a:extLst>
                <a:ext uri="{FF2B5EF4-FFF2-40B4-BE49-F238E27FC236}">
                  <a16:creationId xmlns:a16="http://schemas.microsoft.com/office/drawing/2014/main" id="{6C37A347-9A8B-6360-6C33-2BBE041AD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020" y="6047008"/>
              <a:ext cx="0" cy="6120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48" name="Text Box 31">
              <a:extLst>
                <a:ext uri="{FF2B5EF4-FFF2-40B4-BE49-F238E27FC236}">
                  <a16:creationId xmlns:a16="http://schemas.microsoft.com/office/drawing/2014/main" id="{F77AB4A9-610B-D67E-8942-57B36A6B0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120" y="6072175"/>
              <a:ext cx="361294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+</a:t>
              </a:r>
            </a:p>
          </p:txBody>
        </p:sp>
        <p:sp>
          <p:nvSpPr>
            <p:cNvPr id="49" name="Text Box 32">
              <a:extLst>
                <a:ext uri="{FF2B5EF4-FFF2-40B4-BE49-F238E27FC236}">
                  <a16:creationId xmlns:a16="http://schemas.microsoft.com/office/drawing/2014/main" id="{11A4808C-36D5-6379-14D7-BEE86341C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194" y="6043868"/>
              <a:ext cx="284350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</a:rPr>
                <a:t>-</a:t>
              </a:r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1DA4C04E-57FE-74C8-2916-FD399C96AF44}"/>
              </a:ext>
            </a:extLst>
          </p:cNvPr>
          <p:cNvCxnSpPr/>
          <p:nvPr/>
        </p:nvCxnSpPr>
        <p:spPr bwMode="auto">
          <a:xfrm>
            <a:off x="1347350" y="4414515"/>
            <a:ext cx="8986351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92300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3" grpId="0" animBg="1"/>
      <p:bldP spid="3" grpId="0" animBg="1"/>
      <p:bldP spid="17" grpId="0" animBg="1"/>
      <p:bldP spid="18" grpId="0" animBg="1"/>
      <p:bldP spid="19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D84940D3-79D9-437E-80E3-36CD25F2CECB}"/>
              </a:ext>
            </a:extLst>
          </p:cNvPr>
          <p:cNvGrpSpPr/>
          <p:nvPr/>
        </p:nvGrpSpPr>
        <p:grpSpPr>
          <a:xfrm>
            <a:off x="4459608" y="1792676"/>
            <a:ext cx="3466177" cy="1260000"/>
            <a:chOff x="4675362" y="1533029"/>
            <a:chExt cx="3466177" cy="1260000"/>
          </a:xfrm>
        </p:grpSpPr>
        <p:sp>
          <p:nvSpPr>
            <p:cNvPr id="9" name="Rectángulo 8"/>
            <p:cNvSpPr/>
            <p:nvPr/>
          </p:nvSpPr>
          <p:spPr bwMode="auto">
            <a:xfrm>
              <a:off x="4675362" y="1533029"/>
              <a:ext cx="3466177" cy="1260000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6">
                  <a:extLst>
                    <a:ext uri="{FF2B5EF4-FFF2-40B4-BE49-F238E27FC236}">
                      <a16:creationId xmlns:a16="http://schemas.microsoft.com/office/drawing/2014/main" id="{EA16D061-AE9A-4440-B3BB-E8CD58706509}"/>
                    </a:ext>
                  </a:extLst>
                </p:cNvPr>
                <p:cNvSpPr txBox="1"/>
                <p:nvPr/>
              </p:nvSpPr>
              <p:spPr bwMode="auto">
                <a:xfrm>
                  <a:off x="4756377" y="1690225"/>
                  <a:ext cx="3385162" cy="9128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 [1−</m:t>
                        </m:r>
                        <m:func>
                          <m:func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f>
                          <m:f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  <m:sSub>
                              <m:sSubPr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ηKT</m:t>
                            </m:r>
                          </m:den>
                        </m:f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</m:oMath>
                    </m:oMathPara>
                  </a14:m>
                  <a:endParaRPr lang="es-ES" sz="2400" dirty="0"/>
                </a:p>
              </p:txBody>
            </p:sp>
          </mc:Choice>
          <mc:Fallback xmlns="">
            <p:sp>
              <p:nvSpPr>
                <p:cNvPr id="27" name="Object 6">
                  <a:extLst>
                    <a:ext uri="{FF2B5EF4-FFF2-40B4-BE49-F238E27FC236}">
                      <a16:creationId xmlns:a16="http://schemas.microsoft.com/office/drawing/2014/main" id="{EA16D061-AE9A-4440-B3BB-E8CD587065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56377" y="1690225"/>
                  <a:ext cx="3385162" cy="91281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418" name="Rectangle 5"/>
          <p:cNvSpPr>
            <a:spLocks noChangeArrowheads="1"/>
          </p:cNvSpPr>
          <p:nvPr/>
        </p:nvSpPr>
        <p:spPr bwMode="auto">
          <a:xfrm>
            <a:off x="1872744" y="390476"/>
            <a:ext cx="6012000" cy="40790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ChangeArrowheads="1"/>
          </p:cNvSpPr>
          <p:nvPr/>
        </p:nvSpPr>
        <p:spPr bwMode="auto">
          <a:xfrm>
            <a:off x="1309028" y="495665"/>
            <a:ext cx="8750300" cy="743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9.6 CURVA CARACTERÍSTICA DE UN DIODO Y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      MODELIZACIÓN DE UN DIODO</a:t>
            </a:r>
          </a:p>
        </p:txBody>
      </p:sp>
      <p:sp>
        <p:nvSpPr>
          <p:cNvPr id="936968" name="Text Box 8"/>
          <p:cNvSpPr txBox="1">
            <a:spLocks noChangeArrowheads="1"/>
          </p:cNvSpPr>
          <p:nvPr/>
        </p:nvSpPr>
        <p:spPr bwMode="auto">
          <a:xfrm>
            <a:off x="1273805" y="1687718"/>
            <a:ext cx="2523975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Diodo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f(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 err="1">
                <a:solidFill>
                  <a:srgbClr val="000000"/>
                </a:solidFill>
                <a:latin typeface="Arial" panose="020B0604020202020204" pitchFamily="34" charset="0"/>
              </a:rPr>
              <a:t>Diodo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275289" y="2470318"/>
            <a:ext cx="2523975" cy="609635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Ec. de Shockley</a:t>
            </a:r>
          </a:p>
        </p:txBody>
      </p:sp>
      <p:sp>
        <p:nvSpPr>
          <p:cNvPr id="23602" name="AutoShape 9"/>
          <p:cNvSpPr>
            <a:spLocks noChangeArrowheads="1"/>
          </p:cNvSpPr>
          <p:nvPr/>
        </p:nvSpPr>
        <p:spPr bwMode="auto">
          <a:xfrm>
            <a:off x="3928295" y="2134000"/>
            <a:ext cx="460348" cy="542956"/>
          </a:xfrm>
          <a:prstGeom prst="rightArrow">
            <a:avLst>
              <a:gd name="adj1" fmla="val 49704"/>
              <a:gd name="adj2" fmla="val 5146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1619880" y="3573294"/>
            <a:ext cx="3385161" cy="977901"/>
            <a:chOff x="6816405" y="3800442"/>
            <a:chExt cx="3385161" cy="977901"/>
          </a:xfrm>
        </p:grpSpPr>
        <p:sp>
          <p:nvSpPr>
            <p:cNvPr id="23577" name="Rectángulo 41"/>
            <p:cNvSpPr>
              <a:spLocks noChangeArrowheads="1"/>
            </p:cNvSpPr>
            <p:nvPr/>
          </p:nvSpPr>
          <p:spPr bwMode="auto">
            <a:xfrm>
              <a:off x="7084943" y="3827208"/>
              <a:ext cx="3116623" cy="60111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 sz="2400"/>
            </a:p>
          </p:txBody>
        </p:sp>
        <p:sp>
          <p:nvSpPr>
            <p:cNvPr id="23580" name="Text Box 30"/>
            <p:cNvSpPr txBox="1">
              <a:spLocks noChangeArrowheads="1"/>
            </p:cNvSpPr>
            <p:nvPr/>
          </p:nvSpPr>
          <p:spPr bwMode="auto">
            <a:xfrm>
              <a:off x="6816405" y="3800442"/>
              <a:ext cx="3385161" cy="977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Comic Sans MS" panose="030F0702030302020204" pitchFamily="66" charset="0"/>
                  <a:sym typeface="Symbol" panose="05050102010706020507" pitchFamily="18" charset="2"/>
                </a:rPr>
                <a:t>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:</a:t>
              </a: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Factor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de idealidad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        ("eta o ita")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3581" name="Text Box 31"/>
          <p:cNvSpPr txBox="1">
            <a:spLocks noChangeArrowheads="1"/>
          </p:cNvSpPr>
          <p:nvPr/>
        </p:nvSpPr>
        <p:spPr bwMode="auto">
          <a:xfrm>
            <a:off x="2379286" y="4703871"/>
            <a:ext cx="2046051" cy="47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Si: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2  | 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Ge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1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</a:endParaRPr>
          </a:p>
        </p:txBody>
      </p:sp>
      <p:sp>
        <p:nvSpPr>
          <p:cNvPr id="23579" name="Text Box 35"/>
          <p:cNvSpPr txBox="1">
            <a:spLocks noChangeArrowheads="1"/>
          </p:cNvSpPr>
          <p:nvPr/>
        </p:nvSpPr>
        <p:spPr bwMode="auto">
          <a:xfrm>
            <a:off x="1517013" y="5122301"/>
            <a:ext cx="3796573" cy="171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 mayor cuanto más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recombinación hay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lugar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difusión</a:t>
            </a:r>
          </a:p>
          <a:p>
            <a:pPr algn="ctr"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RCE ( menos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Comic Sans MS" panose="030F0702030302020204" pitchFamily="66" charset="0"/>
                <a:sym typeface="Symbol" panose="05050102010706020507" pitchFamily="18" charset="2"/>
              </a:rPr>
              <a:t>D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6376853" y="4400231"/>
            <a:ext cx="3385161" cy="223984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dirty="0"/>
              <a:t>V</a:t>
            </a:r>
            <a:r>
              <a:rPr lang="es-ES" sz="2400" baseline="-25000" dirty="0"/>
              <a:t>T</a:t>
            </a:r>
            <a:r>
              <a:rPr lang="es-ES" sz="2400" dirty="0"/>
              <a:t> = KT/e =</a:t>
            </a:r>
          </a:p>
          <a:p>
            <a:pPr>
              <a:lnSpc>
                <a:spcPct val="150000"/>
              </a:lnSpc>
            </a:pPr>
            <a:r>
              <a:rPr lang="es-ES" sz="2400" dirty="0"/>
              <a:t>     = </a:t>
            </a:r>
            <a:r>
              <a:rPr lang="es-ES" sz="2400" dirty="0" err="1"/>
              <a:t>D</a:t>
            </a:r>
            <a:r>
              <a:rPr lang="es-ES" sz="2400" baseline="-25000" dirty="0" err="1"/>
              <a:t>h</a:t>
            </a:r>
            <a:r>
              <a:rPr lang="es-ES" sz="2400" dirty="0"/>
              <a:t>/</a:t>
            </a:r>
            <a:r>
              <a:rPr lang="es-ES" sz="2400" dirty="0">
                <a:sym typeface="Symbol" panose="05050102010706020507" pitchFamily="18" charset="2"/>
              </a:rPr>
              <a:t></a:t>
            </a:r>
            <a:r>
              <a:rPr lang="es-ES" sz="2400" baseline="-25000" dirty="0">
                <a:sym typeface="Symbol" panose="05050102010706020507" pitchFamily="18" charset="2"/>
              </a:rPr>
              <a:t>h</a:t>
            </a:r>
            <a:r>
              <a:rPr lang="es-ES" sz="2400" dirty="0">
                <a:sym typeface="Symbol" panose="05050102010706020507" pitchFamily="18" charset="2"/>
              </a:rPr>
              <a:t> </a:t>
            </a:r>
            <a:r>
              <a:rPr lang="es-ES" sz="2400" dirty="0"/>
              <a:t>= D</a:t>
            </a:r>
            <a:r>
              <a:rPr lang="es-ES" sz="2400" baseline="-25000" dirty="0"/>
              <a:t>e</a:t>
            </a:r>
            <a:r>
              <a:rPr lang="es-ES" sz="2400" dirty="0"/>
              <a:t>/</a:t>
            </a:r>
            <a:r>
              <a:rPr lang="es-ES" sz="2400" dirty="0">
                <a:sym typeface="Symbol" panose="05050102010706020507" pitchFamily="18" charset="2"/>
              </a:rPr>
              <a:t></a:t>
            </a:r>
            <a:r>
              <a:rPr lang="es-ES" sz="2400" baseline="-25000" dirty="0">
                <a:sym typeface="Symbol" panose="05050102010706020507" pitchFamily="18" charset="2"/>
              </a:rPr>
              <a:t>e</a:t>
            </a:r>
            <a:r>
              <a:rPr lang="es-ES" sz="2400" dirty="0">
                <a:sym typeface="Symbol" panose="05050102010706020507" pitchFamily="18" charset="2"/>
              </a:rPr>
              <a:t> =</a:t>
            </a:r>
          </a:p>
          <a:p>
            <a:pPr>
              <a:lnSpc>
                <a:spcPct val="150000"/>
              </a:lnSpc>
            </a:pPr>
            <a:r>
              <a:rPr lang="es-ES" sz="2400" dirty="0">
                <a:sym typeface="Symbol" panose="05050102010706020507" pitchFamily="18" charset="2"/>
              </a:rPr>
              <a:t>     = </a:t>
            </a:r>
            <a:r>
              <a:rPr lang="es-ES" sz="2400" dirty="0"/>
              <a:t>26 </a:t>
            </a:r>
            <a:r>
              <a:rPr lang="es-ES" sz="2400" dirty="0" err="1"/>
              <a:t>mV</a:t>
            </a:r>
            <a:endParaRPr lang="es-ES" sz="2400" dirty="0"/>
          </a:p>
          <a:p>
            <a:pPr>
              <a:lnSpc>
                <a:spcPct val="150000"/>
              </a:lnSpc>
            </a:pPr>
            <a:r>
              <a:rPr lang="es-ES" sz="2400" dirty="0"/>
              <a:t>        </a:t>
            </a:r>
            <a:r>
              <a:rPr lang="es-ES" sz="2400" dirty="0">
                <a:solidFill>
                  <a:srgbClr val="FF0000"/>
                </a:solidFill>
              </a:rPr>
              <a:t>(a 300 K, a 27 </a:t>
            </a:r>
            <a:r>
              <a:rPr lang="es-ES" sz="2400" dirty="0" err="1">
                <a:solidFill>
                  <a:srgbClr val="FF0000"/>
                </a:solidFill>
              </a:rPr>
              <a:t>ºC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2" name="Forma libre 1"/>
          <p:cNvSpPr/>
          <p:nvPr/>
        </p:nvSpPr>
        <p:spPr bwMode="auto">
          <a:xfrm>
            <a:off x="6911684" y="2004662"/>
            <a:ext cx="630936" cy="795528"/>
          </a:xfrm>
          <a:custGeom>
            <a:avLst/>
            <a:gdLst>
              <a:gd name="connsiteX0" fmla="*/ 9144 w 630936"/>
              <a:gd name="connsiteY0" fmla="*/ 0 h 795528"/>
              <a:gd name="connsiteX1" fmla="*/ 0 w 630936"/>
              <a:gd name="connsiteY1" fmla="*/ 301752 h 795528"/>
              <a:gd name="connsiteX2" fmla="*/ 274320 w 630936"/>
              <a:gd name="connsiteY2" fmla="*/ 795528 h 795528"/>
              <a:gd name="connsiteX3" fmla="*/ 621792 w 630936"/>
              <a:gd name="connsiteY3" fmla="*/ 795528 h 795528"/>
              <a:gd name="connsiteX4" fmla="*/ 630936 w 630936"/>
              <a:gd name="connsiteY4" fmla="*/ 448056 h 795528"/>
              <a:gd name="connsiteX5" fmla="*/ 292608 w 630936"/>
              <a:gd name="connsiteY5" fmla="*/ 365760 h 795528"/>
              <a:gd name="connsiteX6" fmla="*/ 155448 w 630936"/>
              <a:gd name="connsiteY6" fmla="*/ 9144 h 795528"/>
              <a:gd name="connsiteX7" fmla="*/ 9144 w 630936"/>
              <a:gd name="connsiteY7" fmla="*/ 0 h 795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0936" h="795528">
                <a:moveTo>
                  <a:pt x="9144" y="0"/>
                </a:moveTo>
                <a:lnTo>
                  <a:pt x="0" y="301752"/>
                </a:lnTo>
                <a:lnTo>
                  <a:pt x="274320" y="795528"/>
                </a:lnTo>
                <a:lnTo>
                  <a:pt x="621792" y="795528"/>
                </a:lnTo>
                <a:lnTo>
                  <a:pt x="630936" y="448056"/>
                </a:lnTo>
                <a:lnTo>
                  <a:pt x="292608" y="365760"/>
                </a:lnTo>
                <a:lnTo>
                  <a:pt x="155448" y="9144"/>
                </a:lnTo>
                <a:lnTo>
                  <a:pt x="9144" y="0"/>
                </a:lnTo>
                <a:close/>
              </a:path>
            </a:pathLst>
          </a:cu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48" name="Grupo 47"/>
          <p:cNvGrpSpPr/>
          <p:nvPr/>
        </p:nvGrpSpPr>
        <p:grpSpPr>
          <a:xfrm>
            <a:off x="5989182" y="3565967"/>
            <a:ext cx="3025806" cy="649077"/>
            <a:chOff x="6663405" y="3871707"/>
            <a:chExt cx="3025806" cy="649077"/>
          </a:xfrm>
        </p:grpSpPr>
        <p:sp>
          <p:nvSpPr>
            <p:cNvPr id="49" name="Rectángulo 41"/>
            <p:cNvSpPr>
              <a:spLocks noChangeArrowheads="1"/>
            </p:cNvSpPr>
            <p:nvPr/>
          </p:nvSpPr>
          <p:spPr bwMode="auto">
            <a:xfrm>
              <a:off x="6971027" y="3919674"/>
              <a:ext cx="2718184" cy="60111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 sz="2400"/>
            </a:p>
          </p:txBody>
        </p:sp>
        <p:sp>
          <p:nvSpPr>
            <p:cNvPr id="50" name="Text Box 30"/>
            <p:cNvSpPr txBox="1">
              <a:spLocks noChangeArrowheads="1"/>
            </p:cNvSpPr>
            <p:nvPr/>
          </p:nvSpPr>
          <p:spPr bwMode="auto">
            <a:xfrm>
              <a:off x="6663405" y="3871707"/>
              <a:ext cx="3025806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342900" indent="-342900" algn="ctr" eaLnBrk="1" hangingPunct="1">
                <a:spcBef>
                  <a:spcPts val="0"/>
                </a:spcBef>
                <a:buFont typeface="Symbol" panose="05050102010706020507" pitchFamily="18" charset="2"/>
                <a:buChar char="·"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  <a:r>
                <a:rPr lang="es-ES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T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: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Voltaje térmico</a:t>
              </a:r>
              <a:endParaRPr lang="es-ES" sz="240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57FFE490-4780-185F-D725-225C45EB9ABB}"/>
              </a:ext>
            </a:extLst>
          </p:cNvPr>
          <p:cNvGrpSpPr/>
          <p:nvPr/>
        </p:nvGrpSpPr>
        <p:grpSpPr>
          <a:xfrm>
            <a:off x="7689673" y="1783151"/>
            <a:ext cx="2903112" cy="1260000"/>
            <a:chOff x="7689673" y="1783151"/>
            <a:chExt cx="2903112" cy="1260000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DE25B8B8-0777-4742-8620-EAD7FD01CCF4}"/>
                </a:ext>
              </a:extLst>
            </p:cNvPr>
            <p:cNvSpPr/>
            <p:nvPr/>
          </p:nvSpPr>
          <p:spPr bwMode="auto">
            <a:xfrm>
              <a:off x="7734066" y="1783151"/>
              <a:ext cx="2858719" cy="1260000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6">
                  <a:extLst>
                    <a:ext uri="{FF2B5EF4-FFF2-40B4-BE49-F238E27FC236}">
                      <a16:creationId xmlns:a16="http://schemas.microsoft.com/office/drawing/2014/main" id="{68114CA5-1255-4116-B83A-7E2064DC2F1E}"/>
                    </a:ext>
                  </a:extLst>
                </p:cNvPr>
                <p:cNvSpPr txBox="1"/>
                <p:nvPr/>
              </p:nvSpPr>
              <p:spPr bwMode="auto">
                <a:xfrm>
                  <a:off x="7689673" y="1967098"/>
                  <a:ext cx="2858719" cy="9128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 [1−</m:t>
                        </m:r>
                        <m:func>
                          <m:func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f>
                          <m:fPr>
                            <m:ctrlPr>
                              <a:rPr lang="es-E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s-E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η</m:t>
                            </m:r>
                            <m:sSub>
                              <m:sSubPr>
                                <m:ctrlPr>
                                  <a:rPr lang="es-E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s-E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den>
                        </m:f>
                        <m:r>
                          <a:rPr lang="es-E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)]</m:t>
                        </m:r>
                      </m:oMath>
                    </m:oMathPara>
                  </a14:m>
                  <a:endParaRPr lang="es-ES" sz="2400" dirty="0"/>
                </a:p>
              </p:txBody>
            </p:sp>
          </mc:Choice>
          <mc:Fallback xmlns="">
            <p:sp>
              <p:nvSpPr>
                <p:cNvPr id="28" name="Object 6">
                  <a:extLst>
                    <a:ext uri="{FF2B5EF4-FFF2-40B4-BE49-F238E27FC236}">
                      <a16:creationId xmlns:a16="http://schemas.microsoft.com/office/drawing/2014/main" id="{68114CA5-1255-4116-B83A-7E2064DC2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89673" y="1967098"/>
                  <a:ext cx="2858719" cy="91281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3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/>
      <p:bldP spid="936968" grpId="0" animBg="1"/>
      <p:bldP spid="3" grpId="0" animBg="1"/>
      <p:bldP spid="23602" grpId="0" animBg="1"/>
      <p:bldP spid="23581" grpId="0"/>
      <p:bldP spid="23579" grpId="0"/>
      <p:bldP spid="44" grpId="0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3839402" y="3319376"/>
            <a:ext cx="4333875" cy="3330578"/>
            <a:chOff x="3757" y="2090"/>
            <a:chExt cx="2730" cy="2098"/>
          </a:xfrm>
        </p:grpSpPr>
        <p:sp>
          <p:nvSpPr>
            <p:cNvPr id="23594" name="Line 10"/>
            <p:cNvSpPr>
              <a:spLocks noChangeShapeType="1"/>
            </p:cNvSpPr>
            <p:nvPr/>
          </p:nvSpPr>
          <p:spPr bwMode="auto">
            <a:xfrm flipV="1">
              <a:off x="4978" y="2392"/>
              <a:ext cx="0" cy="17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3595" name="Line 11"/>
            <p:cNvSpPr>
              <a:spLocks noChangeShapeType="1"/>
            </p:cNvSpPr>
            <p:nvPr/>
          </p:nvSpPr>
          <p:spPr bwMode="auto">
            <a:xfrm rot="5400000" flipV="1">
              <a:off x="5007" y="2108"/>
              <a:ext cx="0" cy="2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3596" name="Text Box 12"/>
            <p:cNvSpPr txBox="1">
              <a:spLocks noChangeArrowheads="1"/>
            </p:cNvSpPr>
            <p:nvPr/>
          </p:nvSpPr>
          <p:spPr bwMode="auto">
            <a:xfrm>
              <a:off x="4633" y="2090"/>
              <a:ext cx="666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0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D</a:t>
              </a: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 (mA)</a:t>
              </a:r>
            </a:p>
          </p:txBody>
        </p:sp>
        <p:sp>
          <p:nvSpPr>
            <p:cNvPr id="23597" name="Text Box 13"/>
            <p:cNvSpPr txBox="1">
              <a:spLocks noChangeArrowheads="1"/>
            </p:cNvSpPr>
            <p:nvPr/>
          </p:nvSpPr>
          <p:spPr bwMode="auto">
            <a:xfrm>
              <a:off x="5937" y="3346"/>
              <a:ext cx="550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V</a:t>
              </a:r>
              <a:r>
                <a:rPr lang="es-ES" sz="20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D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 (V)</a:t>
              </a:r>
            </a:p>
          </p:txBody>
        </p:sp>
      </p:grpSp>
      <p:sp>
        <p:nvSpPr>
          <p:cNvPr id="23593" name="Text Box 20"/>
          <p:cNvSpPr txBox="1">
            <a:spLocks noChangeArrowheads="1"/>
          </p:cNvSpPr>
          <p:nvPr/>
        </p:nvSpPr>
        <p:spPr bwMode="auto">
          <a:xfrm>
            <a:off x="3725805" y="5563469"/>
            <a:ext cx="2067576" cy="116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000">
                <a:solidFill>
                  <a:srgbClr val="008000"/>
                </a:solidFill>
                <a:latin typeface="Comic Sans MS" panose="030F0702030302020204" pitchFamily="66" charset="0"/>
              </a:rPr>
              <a:t>Como exp() </a:t>
            </a:r>
            <a:r>
              <a:rPr lang="es-ES" sz="2000">
                <a:solidFill>
                  <a:srgbClr val="008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0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>
                <a:solidFill>
                  <a:srgbClr val="008000"/>
                </a:solidFill>
                <a:latin typeface="Comic Sans MS" panose="030F0702030302020204" pitchFamily="66" charset="0"/>
              </a:rPr>
              <a:t>I </a:t>
            </a:r>
            <a:r>
              <a:rPr lang="es-ES" sz="2000" dirty="0">
                <a:solidFill>
                  <a:srgbClr val="008000"/>
                </a:solidFill>
                <a:latin typeface="Comic Sans MS" panose="030F0702030302020204" pitchFamily="66" charset="0"/>
              </a:rPr>
              <a:t>tiende </a:t>
            </a:r>
            <a:r>
              <a:rPr lang="es-ES" sz="2000">
                <a:solidFill>
                  <a:srgbClr val="008000"/>
                </a:solidFill>
                <a:latin typeface="Comic Sans MS" panose="030F0702030302020204" pitchFamily="66" charset="0"/>
              </a:rPr>
              <a:t>a I</a:t>
            </a:r>
            <a:r>
              <a:rPr lang="es-ES" sz="2000" baseline="-25000">
                <a:solidFill>
                  <a:srgbClr val="008000"/>
                </a:solidFill>
                <a:latin typeface="Comic Sans MS" panose="030F0702030302020204" pitchFamily="66" charset="0"/>
              </a:rPr>
              <a:t>0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000" baseline="-25000">
                <a:solidFill>
                  <a:srgbClr val="008000"/>
                </a:solidFill>
                <a:latin typeface="Comic Sans MS" panose="030F0702030302020204" pitchFamily="66" charset="0"/>
              </a:rPr>
              <a:t> </a:t>
            </a:r>
            <a:r>
              <a:rPr lang="es-E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(I</a:t>
            </a:r>
            <a:r>
              <a:rPr lang="es-ES" sz="2000" baseline="-25000" dirty="0">
                <a:solidFill>
                  <a:srgbClr val="FF0000"/>
                </a:solidFill>
                <a:latin typeface="Comic Sans MS" panose="030F0702030302020204" pitchFamily="66" charset="0"/>
              </a:rPr>
              <a:t>0 </a:t>
            </a:r>
            <a:r>
              <a:rPr lang="es-E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&lt; 0 y &lt;&lt; mA)</a:t>
            </a:r>
          </a:p>
        </p:txBody>
      </p:sp>
      <p:sp>
        <p:nvSpPr>
          <p:cNvPr id="21" name="Forma libre 20"/>
          <p:cNvSpPr/>
          <p:nvPr/>
        </p:nvSpPr>
        <p:spPr bwMode="auto">
          <a:xfrm>
            <a:off x="4363132" y="5332886"/>
            <a:ext cx="1406012" cy="72000"/>
          </a:xfrm>
          <a:custGeom>
            <a:avLst/>
            <a:gdLst>
              <a:gd name="connsiteX0" fmla="*/ 1406012 w 1406012"/>
              <a:gd name="connsiteY0" fmla="*/ 0 h 147484"/>
              <a:gd name="connsiteX1" fmla="*/ 1170038 w 1406012"/>
              <a:gd name="connsiteY1" fmla="*/ 88491 h 147484"/>
              <a:gd name="connsiteX2" fmla="*/ 806245 w 1406012"/>
              <a:gd name="connsiteY2" fmla="*/ 117988 h 147484"/>
              <a:gd name="connsiteX3" fmla="*/ 334296 w 1406012"/>
              <a:gd name="connsiteY3" fmla="*/ 137652 h 147484"/>
              <a:gd name="connsiteX4" fmla="*/ 0 w 1406012"/>
              <a:gd name="connsiteY4" fmla="*/ 147484 h 14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6012" h="147484">
                <a:moveTo>
                  <a:pt x="1406012" y="0"/>
                </a:moveTo>
                <a:cubicBezTo>
                  <a:pt x="1338005" y="34413"/>
                  <a:pt x="1269999" y="68826"/>
                  <a:pt x="1170038" y="88491"/>
                </a:cubicBezTo>
                <a:cubicBezTo>
                  <a:pt x="1070077" y="108156"/>
                  <a:pt x="945535" y="109795"/>
                  <a:pt x="806245" y="117988"/>
                </a:cubicBezTo>
                <a:cubicBezTo>
                  <a:pt x="666955" y="126181"/>
                  <a:pt x="334296" y="137652"/>
                  <a:pt x="334296" y="137652"/>
                </a:cubicBezTo>
                <a:lnTo>
                  <a:pt x="0" y="147484"/>
                </a:ln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3" name="Forma libre 22"/>
          <p:cNvSpPr/>
          <p:nvPr/>
        </p:nvSpPr>
        <p:spPr bwMode="auto">
          <a:xfrm>
            <a:off x="5757950" y="4032993"/>
            <a:ext cx="658761" cy="1297858"/>
          </a:xfrm>
          <a:custGeom>
            <a:avLst/>
            <a:gdLst>
              <a:gd name="connsiteX0" fmla="*/ 0 w 658761"/>
              <a:gd name="connsiteY0" fmla="*/ 1297858 h 1297858"/>
              <a:gd name="connsiteX1" fmla="*/ 206477 w 658761"/>
              <a:gd name="connsiteY1" fmla="*/ 1229033 h 1297858"/>
              <a:gd name="connsiteX2" fmla="*/ 373626 w 658761"/>
              <a:gd name="connsiteY2" fmla="*/ 1130710 h 1297858"/>
              <a:gd name="connsiteX3" fmla="*/ 501445 w 658761"/>
              <a:gd name="connsiteY3" fmla="*/ 983226 h 1297858"/>
              <a:gd name="connsiteX4" fmla="*/ 589935 w 658761"/>
              <a:gd name="connsiteY4" fmla="*/ 707923 h 1297858"/>
              <a:gd name="connsiteX5" fmla="*/ 619432 w 658761"/>
              <a:gd name="connsiteY5" fmla="*/ 432620 h 1297858"/>
              <a:gd name="connsiteX6" fmla="*/ 658761 w 658761"/>
              <a:gd name="connsiteY6" fmla="*/ 0 h 1297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8761" h="1297858">
                <a:moveTo>
                  <a:pt x="0" y="1297858"/>
                </a:moveTo>
                <a:cubicBezTo>
                  <a:pt x="72103" y="1277374"/>
                  <a:pt x="144206" y="1256891"/>
                  <a:pt x="206477" y="1229033"/>
                </a:cubicBezTo>
                <a:cubicBezTo>
                  <a:pt x="268748" y="1201175"/>
                  <a:pt x="324465" y="1171678"/>
                  <a:pt x="373626" y="1130710"/>
                </a:cubicBezTo>
                <a:cubicBezTo>
                  <a:pt x="422787" y="1089742"/>
                  <a:pt x="465393" y="1053691"/>
                  <a:pt x="501445" y="983226"/>
                </a:cubicBezTo>
                <a:cubicBezTo>
                  <a:pt x="537497" y="912761"/>
                  <a:pt x="570271" y="799691"/>
                  <a:pt x="589935" y="707923"/>
                </a:cubicBezTo>
                <a:cubicBezTo>
                  <a:pt x="609600" y="616155"/>
                  <a:pt x="607961" y="550607"/>
                  <a:pt x="619432" y="432620"/>
                </a:cubicBezTo>
                <a:cubicBezTo>
                  <a:pt x="630903" y="314633"/>
                  <a:pt x="644832" y="157316"/>
                  <a:pt x="658761" y="0"/>
                </a:cubicBezTo>
              </a:path>
            </a:pathLst>
          </a:cu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65" name="Text Box 20"/>
          <p:cNvSpPr txBox="1">
            <a:spLocks noChangeArrowheads="1"/>
          </p:cNvSpPr>
          <p:nvPr/>
        </p:nvSpPr>
        <p:spPr bwMode="auto">
          <a:xfrm>
            <a:off x="5740768" y="5580577"/>
            <a:ext cx="2456997" cy="116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008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Crece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008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exponencialmente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000" dirty="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(1 &lt;&lt; </a:t>
            </a:r>
            <a:r>
              <a:rPr lang="es-ES" sz="2000" dirty="0" err="1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exp</a:t>
            </a:r>
            <a:r>
              <a:rPr lang="es-ES" sz="2000" dirty="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())</a:t>
            </a:r>
          </a:p>
        </p:txBody>
      </p:sp>
      <p:grpSp>
        <p:nvGrpSpPr>
          <p:cNvPr id="48" name="Grupo 47"/>
          <p:cNvGrpSpPr/>
          <p:nvPr/>
        </p:nvGrpSpPr>
        <p:grpSpPr>
          <a:xfrm>
            <a:off x="1201812" y="1508254"/>
            <a:ext cx="7679430" cy="609252"/>
            <a:chOff x="6648084" y="3293358"/>
            <a:chExt cx="7679430" cy="609252"/>
          </a:xfrm>
        </p:grpSpPr>
        <p:sp>
          <p:nvSpPr>
            <p:cNvPr id="49" name="Rectángulo 2"/>
            <p:cNvSpPr>
              <a:spLocks noChangeArrowheads="1"/>
            </p:cNvSpPr>
            <p:nvPr/>
          </p:nvSpPr>
          <p:spPr bwMode="auto">
            <a:xfrm>
              <a:off x="6964455" y="3343907"/>
              <a:ext cx="7311689" cy="49652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 sz="2400"/>
            </a:p>
          </p:txBody>
        </p:sp>
        <p:sp>
          <p:nvSpPr>
            <p:cNvPr id="50" name="Text Box 23"/>
            <p:cNvSpPr txBox="1">
              <a:spLocks noChangeArrowheads="1"/>
            </p:cNvSpPr>
            <p:nvPr/>
          </p:nvSpPr>
          <p:spPr bwMode="auto">
            <a:xfrm>
              <a:off x="6648084" y="3293358"/>
              <a:ext cx="7679430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Comic Sans MS" panose="030F0702030302020204" pitchFamily="66" charset="0"/>
                  <a:sym typeface="Symbol" panose="05050102010706020507" pitchFamily="18" charset="2"/>
                </a:rPr>
                <a:t>I</a:t>
              </a:r>
              <a:r>
                <a:rPr lang="es-ES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: Corriente inversa de saturación o inversa máxima</a:t>
              </a:r>
            </a:p>
          </p:txBody>
        </p:sp>
      </p:grpSp>
      <p:sp>
        <p:nvSpPr>
          <p:cNvPr id="51" name="Text Box 29"/>
          <p:cNvSpPr txBox="1">
            <a:spLocks noChangeArrowheads="1"/>
          </p:cNvSpPr>
          <p:nvPr/>
        </p:nvSpPr>
        <p:spPr bwMode="auto">
          <a:xfrm>
            <a:off x="1543191" y="2720362"/>
            <a:ext cx="4118237" cy="47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Si: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|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Ge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: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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    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(&lt;&lt;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mA)</a:t>
            </a:r>
          </a:p>
        </p:txBody>
      </p:sp>
      <p:sp>
        <p:nvSpPr>
          <p:cNvPr id="53" name="Text Box 21"/>
          <p:cNvSpPr txBox="1">
            <a:spLocks noChangeArrowheads="1"/>
          </p:cNvSpPr>
          <p:nvPr/>
        </p:nvSpPr>
        <p:spPr bwMode="auto">
          <a:xfrm>
            <a:off x="1488832" y="2101809"/>
            <a:ext cx="2754578" cy="609252"/>
          </a:xfrm>
          <a:prstGeom prst="rect">
            <a:avLst/>
          </a:prstGeom>
          <a:noFill/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si  </a:t>
            </a:r>
            <a:r>
              <a:rPr lang="es-ES" sz="2400">
                <a:latin typeface="Arial" panose="020B0604020202020204" pitchFamily="34" charset="0"/>
              </a:rPr>
              <a:t>V</a:t>
            </a:r>
            <a:r>
              <a:rPr lang="es-ES" sz="2400" baseline="-25000">
                <a:latin typeface="Arial" panose="020B0604020202020204" pitchFamily="34" charset="0"/>
              </a:rPr>
              <a:t>D </a:t>
            </a:r>
            <a:r>
              <a:rPr lang="es-ES" sz="2400">
                <a:latin typeface="Arial" panose="020B0604020202020204" pitchFamily="34" charset="0"/>
              </a:rPr>
              <a:t>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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5" name="Text Box 22"/>
          <p:cNvSpPr txBox="1">
            <a:spLocks noChangeArrowheads="1"/>
          </p:cNvSpPr>
          <p:nvPr/>
        </p:nvSpPr>
        <p:spPr bwMode="auto">
          <a:xfrm>
            <a:off x="4144309" y="2253077"/>
            <a:ext cx="5969363" cy="420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4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(se considera que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se tiene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entre -1 y -2V)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6">
                <a:extLst>
                  <a:ext uri="{FF2B5EF4-FFF2-40B4-BE49-F238E27FC236}">
                    <a16:creationId xmlns:a16="http://schemas.microsoft.com/office/drawing/2014/main" id="{4D03927A-0B2D-4A44-9543-90F78893C5DB}"/>
                  </a:ext>
                </a:extLst>
              </p:cNvPr>
              <p:cNvSpPr txBox="1"/>
              <p:nvPr/>
            </p:nvSpPr>
            <p:spPr bwMode="auto">
              <a:xfrm>
                <a:off x="4068855" y="403115"/>
                <a:ext cx="3385161" cy="912813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 [1−</m:t>
                      </m:r>
                      <m:func>
                        <m:func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f>
                        <m:fPr>
                          <m:ctrlPr>
                            <a:rPr lang="es-E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s-E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η</m:t>
                          </m:r>
                          <m:sSub>
                            <m:sSubPr>
                              <m:ctrlPr>
                                <a:rPr lang="es-E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E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den>
                      </m:f>
                      <m:r>
                        <a:rPr lang="es-E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45" name="Object 6">
                <a:extLst>
                  <a:ext uri="{FF2B5EF4-FFF2-40B4-BE49-F238E27FC236}">
                    <a16:creationId xmlns:a16="http://schemas.microsoft.com/office/drawing/2014/main" id="{4D03927A-0B2D-4A44-9543-90F78893C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8855" y="403115"/>
                <a:ext cx="3385161" cy="9128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o 1">
            <a:extLst>
              <a:ext uri="{FF2B5EF4-FFF2-40B4-BE49-F238E27FC236}">
                <a16:creationId xmlns:a16="http://schemas.microsoft.com/office/drawing/2014/main" id="{33CBAEC8-CE7B-4555-A569-4031730E76AE}"/>
              </a:ext>
            </a:extLst>
          </p:cNvPr>
          <p:cNvGrpSpPr/>
          <p:nvPr/>
        </p:nvGrpSpPr>
        <p:grpSpPr>
          <a:xfrm>
            <a:off x="8313678" y="4196478"/>
            <a:ext cx="2042844" cy="2307941"/>
            <a:chOff x="8313678" y="4321604"/>
            <a:chExt cx="2042844" cy="2307941"/>
          </a:xfrm>
        </p:grpSpPr>
        <p:grpSp>
          <p:nvGrpSpPr>
            <p:cNvPr id="8" name="Grupo 7"/>
            <p:cNvGrpSpPr/>
            <p:nvPr/>
          </p:nvGrpSpPr>
          <p:grpSpPr>
            <a:xfrm>
              <a:off x="8313678" y="4321604"/>
              <a:ext cx="2042844" cy="1651032"/>
              <a:chOff x="8331542" y="3265761"/>
              <a:chExt cx="2042844" cy="1651032"/>
            </a:xfrm>
          </p:grpSpPr>
          <p:grpSp>
            <p:nvGrpSpPr>
              <p:cNvPr id="26" name="Grupo 25"/>
              <p:cNvGrpSpPr/>
              <p:nvPr/>
            </p:nvGrpSpPr>
            <p:grpSpPr>
              <a:xfrm>
                <a:off x="8331542" y="3265761"/>
                <a:ext cx="2042844" cy="1645706"/>
                <a:chOff x="4729494" y="3535362"/>
                <a:chExt cx="2042844" cy="1645706"/>
              </a:xfrm>
            </p:grpSpPr>
            <p:grpSp>
              <p:nvGrpSpPr>
                <p:cNvPr id="11" name="Grupo 10"/>
                <p:cNvGrpSpPr>
                  <a:grpSpLocks/>
                </p:cNvGrpSpPr>
                <p:nvPr/>
              </p:nvGrpSpPr>
              <p:grpSpPr bwMode="auto">
                <a:xfrm>
                  <a:off x="4729494" y="3535362"/>
                  <a:ext cx="2042844" cy="1062262"/>
                  <a:chOff x="8545903" y="3378572"/>
                  <a:chExt cx="2042096" cy="1060560"/>
                </a:xfrm>
              </p:grpSpPr>
              <p:sp>
                <p:nvSpPr>
                  <p:cNvPr id="23573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545903" y="3378572"/>
                    <a:ext cx="2042096" cy="535689"/>
                  </a:xfrm>
                  <a:prstGeom prst="rect">
                    <a:avLst/>
                  </a:prstGeom>
                  <a:solidFill>
                    <a:srgbClr val="FFCC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54000" tIns="82800" rIns="54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 dirty="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Directa</a:t>
                    </a:r>
                  </a:p>
                </p:txBody>
              </p:sp>
              <p:sp>
                <p:nvSpPr>
                  <p:cNvPr id="23574" name="CuadroTexto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704179" y="3978207"/>
                    <a:ext cx="1737340" cy="46092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s-ES" sz="2400" dirty="0">
                        <a:solidFill>
                          <a:srgbClr val="D60093"/>
                        </a:solidFill>
                      </a:rPr>
                      <a:t>("Forward")</a:t>
                    </a:r>
                  </a:p>
                </p:txBody>
              </p:sp>
            </p:grpSp>
            <p:sp>
              <p:nvSpPr>
                <p:cNvPr id="68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916887" y="4633371"/>
                  <a:ext cx="904713" cy="5476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dirty="0">
                      <a:solidFill>
                        <a:srgbClr val="3333FF"/>
                      </a:solidFill>
                      <a:latin typeface="Comic Sans MS" panose="030F0702030302020204" pitchFamily="66" charset="0"/>
                    </a:rPr>
                    <a:t>V</a:t>
                  </a:r>
                  <a:r>
                    <a:rPr lang="es-ES" sz="2000" baseline="-25000" dirty="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D</a:t>
                  </a:r>
                  <a:r>
                    <a:rPr lang="es-ES" sz="2000" dirty="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 &gt; 0</a:t>
                  </a:r>
                </a:p>
              </p:txBody>
            </p:sp>
          </p:grpSp>
          <p:sp>
            <p:nvSpPr>
              <p:cNvPr id="46" name="Text Box 13"/>
              <p:cNvSpPr txBox="1">
                <a:spLocks noChangeArrowheads="1"/>
              </p:cNvSpPr>
              <p:nvPr/>
            </p:nvSpPr>
            <p:spPr bwMode="auto">
              <a:xfrm>
                <a:off x="9334213" y="4369096"/>
                <a:ext cx="904713" cy="547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sz="2000" baseline="-25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D</a:t>
                </a:r>
                <a:r>
                  <a:rPr lang="es-ES" sz="2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 &gt; 0</a:t>
                </a:r>
              </a:p>
            </p:txBody>
          </p:sp>
        </p:grpSp>
        <p:sp>
          <p:nvSpPr>
            <p:cNvPr id="52" name="Text Box 13">
              <a:extLst>
                <a:ext uri="{FF2B5EF4-FFF2-40B4-BE49-F238E27FC236}">
                  <a16:creationId xmlns:a16="http://schemas.microsoft.com/office/drawing/2014/main" id="{4372D25B-89D5-453E-B557-D664FF83E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6557" y="6081848"/>
              <a:ext cx="1903384" cy="547697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Sentido P</a:t>
              </a:r>
              <a:r>
                <a:rPr lang="es-ES" sz="2000">
                  <a:latin typeface="Arial" panose="020B0604020202020204" pitchFamily="34" charset="0"/>
                </a:rPr>
                <a:t> </a:t>
              </a:r>
              <a:r>
                <a:rPr lang="es-ES" sz="2000" dirty="0"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r>
                <a:rPr lang="es-ES" sz="2000" dirty="0">
                  <a:latin typeface="Arial" panose="020B0604020202020204" pitchFamily="34" charset="0"/>
                </a:rPr>
                <a:t> N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63471E78-8331-436C-B3B2-AE65F6CB4B5A}"/>
              </a:ext>
            </a:extLst>
          </p:cNvPr>
          <p:cNvGrpSpPr/>
          <p:nvPr/>
        </p:nvGrpSpPr>
        <p:grpSpPr>
          <a:xfrm>
            <a:off x="1419907" y="4177456"/>
            <a:ext cx="2042843" cy="2308870"/>
            <a:chOff x="1419907" y="4302582"/>
            <a:chExt cx="2042843" cy="2308870"/>
          </a:xfrm>
        </p:grpSpPr>
        <p:grpSp>
          <p:nvGrpSpPr>
            <p:cNvPr id="7" name="Grupo 6"/>
            <p:cNvGrpSpPr/>
            <p:nvPr/>
          </p:nvGrpSpPr>
          <p:grpSpPr>
            <a:xfrm>
              <a:off x="1419907" y="4302582"/>
              <a:ext cx="2042843" cy="1662277"/>
              <a:chOff x="4756010" y="3443340"/>
              <a:chExt cx="2042843" cy="1662277"/>
            </a:xfrm>
          </p:grpSpPr>
          <p:grpSp>
            <p:nvGrpSpPr>
              <p:cNvPr id="25" name="Grupo 24"/>
              <p:cNvGrpSpPr/>
              <p:nvPr/>
            </p:nvGrpSpPr>
            <p:grpSpPr>
              <a:xfrm>
                <a:off x="4756010" y="3443340"/>
                <a:ext cx="2042843" cy="1655857"/>
                <a:chOff x="1153962" y="3712941"/>
                <a:chExt cx="2042843" cy="1655857"/>
              </a:xfrm>
            </p:grpSpPr>
            <p:grpSp>
              <p:nvGrpSpPr>
                <p:cNvPr id="12" name="Grupo 11"/>
                <p:cNvGrpSpPr>
                  <a:grpSpLocks/>
                </p:cNvGrpSpPr>
                <p:nvPr/>
              </p:nvGrpSpPr>
              <p:grpSpPr bwMode="auto">
                <a:xfrm>
                  <a:off x="1153962" y="3712941"/>
                  <a:ext cx="2042843" cy="1098080"/>
                  <a:chOff x="5669173" y="3559390"/>
                  <a:chExt cx="2042095" cy="1098162"/>
                </a:xfrm>
              </p:grpSpPr>
              <p:sp>
                <p:nvSpPr>
                  <p:cNvPr id="23575" name="Text Box 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669173" y="3559390"/>
                    <a:ext cx="2042095" cy="536590"/>
                  </a:xfrm>
                  <a:prstGeom prst="rect">
                    <a:avLst/>
                  </a:prstGeom>
                  <a:solidFill>
                    <a:srgbClr val="FFCC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54000" tIns="82800" rIns="54000" bIns="82800" anchorCtr="1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r>
                      <a:rPr lang="es-ES" sz="2400" dirty="0">
                        <a:solidFill>
                          <a:srgbClr val="000000"/>
                        </a:solidFill>
                        <a:latin typeface="Arial" panose="020B0604020202020204" pitchFamily="34" charset="0"/>
                      </a:rPr>
                      <a:t>Inversa</a:t>
                    </a:r>
                  </a:p>
                </p:txBody>
              </p:sp>
              <p:sp>
                <p:nvSpPr>
                  <p:cNvPr id="23576" name="CuadroTexto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75489" y="4195851"/>
                    <a:ext cx="1754966" cy="46170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rgbClr val="00000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s-ES" sz="2400" dirty="0">
                        <a:solidFill>
                          <a:srgbClr val="D60093"/>
                        </a:solidFill>
                      </a:rPr>
                      <a:t>("Reverse")</a:t>
                    </a:r>
                  </a:p>
                </p:txBody>
              </p:sp>
            </p:grpSp>
            <p:sp>
              <p:nvSpPr>
                <p:cNvPr id="69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285358" y="4821101"/>
                  <a:ext cx="904713" cy="5476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dirty="0">
                      <a:solidFill>
                        <a:srgbClr val="3333FF"/>
                      </a:solidFill>
                      <a:latin typeface="Comic Sans MS" panose="030F0702030302020204" pitchFamily="66" charset="0"/>
                    </a:rPr>
                    <a:t>V</a:t>
                  </a:r>
                  <a:r>
                    <a:rPr lang="es-ES" sz="2000" baseline="-25000" dirty="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D</a:t>
                  </a:r>
                  <a:r>
                    <a:rPr lang="es-ES" sz="2000" dirty="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 &lt; 0</a:t>
                  </a:r>
                </a:p>
              </p:txBody>
            </p:sp>
          </p:grpSp>
          <p:sp>
            <p:nvSpPr>
              <p:cNvPr id="47" name="Text Box 13"/>
              <p:cNvSpPr txBox="1">
                <a:spLocks noChangeArrowheads="1"/>
              </p:cNvSpPr>
              <p:nvPr/>
            </p:nvSpPr>
            <p:spPr bwMode="auto">
              <a:xfrm>
                <a:off x="5740170" y="4557920"/>
                <a:ext cx="904713" cy="547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sz="2000" baseline="-25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D</a:t>
                </a:r>
                <a:r>
                  <a:rPr lang="es-ES" sz="2000" dirty="0">
                    <a:solidFill>
                      <a:srgbClr val="3333FF"/>
                    </a:solidFill>
                    <a:latin typeface="Arial" panose="020B0604020202020204" pitchFamily="34" charset="0"/>
                  </a:rPr>
                  <a:t> &lt; 0</a:t>
                </a:r>
              </a:p>
            </p:txBody>
          </p:sp>
        </p:grpSp>
        <p:sp>
          <p:nvSpPr>
            <p:cNvPr id="54" name="Text Box 13">
              <a:extLst>
                <a:ext uri="{FF2B5EF4-FFF2-40B4-BE49-F238E27FC236}">
                  <a16:creationId xmlns:a16="http://schemas.microsoft.com/office/drawing/2014/main" id="{BCDC4BD1-C488-42DD-AD5A-EACFB4CC5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8009" y="6063755"/>
              <a:ext cx="1903384" cy="547697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Sentido P</a:t>
              </a:r>
              <a:r>
                <a:rPr lang="es-ES" sz="2000">
                  <a:latin typeface="Arial" panose="020B0604020202020204" pitchFamily="34" charset="0"/>
                </a:rPr>
                <a:t> </a:t>
              </a:r>
              <a:r>
                <a:rPr lang="es-ES" sz="2000" dirty="0">
                  <a:latin typeface="Arial" panose="020B0604020202020204" pitchFamily="34" charset="0"/>
                  <a:sym typeface="Symbol" panose="05050102010706020507" pitchFamily="18" charset="2"/>
                </a:rPr>
                <a:t></a:t>
              </a:r>
              <a:r>
                <a:rPr lang="es-ES" sz="2000" dirty="0">
                  <a:latin typeface="Arial" panose="020B0604020202020204" pitchFamily="34" charset="0"/>
                </a:rPr>
                <a:t> N</a:t>
              </a:r>
            </a:p>
          </p:txBody>
        </p:sp>
      </p:grpSp>
      <p:sp>
        <p:nvSpPr>
          <p:cNvPr id="36" name="Text Box 22">
            <a:extLst>
              <a:ext uri="{FF2B5EF4-FFF2-40B4-BE49-F238E27FC236}">
                <a16:creationId xmlns:a16="http://schemas.microsoft.com/office/drawing/2014/main" id="{97C77F20-681C-4153-AB19-25896EE10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514" y="2741608"/>
            <a:ext cx="2819531" cy="420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4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|     </a:t>
            </a:r>
            <a:r>
              <a:rPr lang="es-ES" sz="2400" dirty="0">
                <a:latin typeface="Arial" panose="020B0604020202020204" pitchFamily="34" charset="0"/>
              </a:rPr>
              <a:t>Aumenta con T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1102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3" grpId="0"/>
      <p:bldP spid="21" grpId="0" animBg="1"/>
      <p:bldP spid="23" grpId="0" animBg="1"/>
      <p:bldP spid="65" grpId="0"/>
      <p:bldP spid="51" grpId="0"/>
      <p:bldP spid="53" grpId="0"/>
      <p:bldP spid="55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5" name="Text Box 3"/>
          <p:cNvSpPr txBox="1">
            <a:spLocks noChangeArrowheads="1"/>
          </p:cNvSpPr>
          <p:nvPr/>
        </p:nvSpPr>
        <p:spPr bwMode="auto">
          <a:xfrm>
            <a:off x="1395413" y="2211649"/>
            <a:ext cx="3007852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Ruptura y Avalancha</a:t>
            </a:r>
          </a:p>
        </p:txBody>
      </p:sp>
      <p:sp>
        <p:nvSpPr>
          <p:cNvPr id="955397" name="Text Box 5"/>
          <p:cNvSpPr txBox="1">
            <a:spLocks noChangeArrowheads="1"/>
          </p:cNvSpPr>
          <p:nvPr/>
        </p:nvSpPr>
        <p:spPr bwMode="auto">
          <a:xfrm>
            <a:off x="1137708" y="2997694"/>
            <a:ext cx="5550870" cy="171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Los portadores minoritarios ganan suficiente E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al cruzar la RCE para producir pares e</a:t>
            </a:r>
            <a:r>
              <a:rPr lang="es-ES" sz="2400" baseline="30000" dirty="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-h en colisiones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(ruptura)</a:t>
            </a:r>
          </a:p>
        </p:txBody>
      </p:sp>
      <p:sp>
        <p:nvSpPr>
          <p:cNvPr id="955399" name="Text Box 7"/>
          <p:cNvSpPr txBox="1">
            <a:spLocks noChangeArrowheads="1"/>
          </p:cNvSpPr>
          <p:nvPr/>
        </p:nvSpPr>
        <p:spPr bwMode="auto">
          <a:xfrm>
            <a:off x="1183637" y="4715038"/>
            <a:ext cx="6264912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Los portadores iniciales, y los generados, pueden repetir el proceso en la RCE, produciéndose una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avalancha</a:t>
            </a:r>
          </a:p>
        </p:txBody>
      </p:sp>
      <p:sp>
        <p:nvSpPr>
          <p:cNvPr id="955402" name="Text Box 10"/>
          <p:cNvSpPr txBox="1">
            <a:spLocks noChangeArrowheads="1"/>
          </p:cNvSpPr>
          <p:nvPr/>
        </p:nvSpPr>
        <p:spPr bwMode="auto">
          <a:xfrm>
            <a:off x="1002242" y="6132192"/>
            <a:ext cx="8988425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 anchura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RCE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porque hay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un mayor nº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colisiones)</a:t>
            </a:r>
          </a:p>
        </p:txBody>
      </p:sp>
      <p:sp>
        <p:nvSpPr>
          <p:cNvPr id="25622" name="Text Box 9"/>
          <p:cNvSpPr txBox="1">
            <a:spLocks noChangeArrowheads="1"/>
          </p:cNvSpPr>
          <p:nvPr/>
        </p:nvSpPr>
        <p:spPr bwMode="auto">
          <a:xfrm>
            <a:off x="1706395" y="1084811"/>
            <a:ext cx="3323645" cy="60925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Si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|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|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V/cm</a:t>
            </a:r>
          </a:p>
        </p:txBody>
      </p:sp>
      <p:sp>
        <p:nvSpPr>
          <p:cNvPr id="23576" name="Text Box 34"/>
          <p:cNvSpPr txBox="1">
            <a:spLocks noChangeArrowheads="1"/>
          </p:cNvSpPr>
          <p:nvPr/>
        </p:nvSpPr>
        <p:spPr bwMode="auto">
          <a:xfrm>
            <a:off x="1395413" y="349283"/>
            <a:ext cx="3945609" cy="58737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54000" tIns="108000" rIns="54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 Polarización Inversa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6B23BC1-76E6-FECB-AC78-54A1C0E10E5F}"/>
              </a:ext>
            </a:extLst>
          </p:cNvPr>
          <p:cNvGrpSpPr/>
          <p:nvPr/>
        </p:nvGrpSpPr>
        <p:grpSpPr>
          <a:xfrm>
            <a:off x="7116130" y="2712708"/>
            <a:ext cx="2957760" cy="2024098"/>
            <a:chOff x="7404417" y="3238216"/>
            <a:chExt cx="2957760" cy="2024098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D9BC91CA-1B22-2A00-1AAB-0E5C07114407}"/>
                </a:ext>
              </a:extLst>
            </p:cNvPr>
            <p:cNvSpPr/>
            <p:nvPr/>
          </p:nvSpPr>
          <p:spPr bwMode="auto">
            <a:xfrm>
              <a:off x="7404417" y="3238216"/>
              <a:ext cx="2957760" cy="202409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2" name="Group 44"/>
            <p:cNvGrpSpPr>
              <a:grpSpLocks/>
            </p:cNvGrpSpPr>
            <p:nvPr/>
          </p:nvGrpSpPr>
          <p:grpSpPr bwMode="auto">
            <a:xfrm>
              <a:off x="7635083" y="3563349"/>
              <a:ext cx="2500312" cy="1423987"/>
              <a:chOff x="4881" y="3353"/>
              <a:chExt cx="1575" cy="897"/>
            </a:xfrm>
          </p:grpSpPr>
          <p:sp>
            <p:nvSpPr>
              <p:cNvPr id="25633" name="Freeform 17"/>
              <p:cNvSpPr>
                <a:spLocks/>
              </p:cNvSpPr>
              <p:nvPr/>
            </p:nvSpPr>
            <p:spPr bwMode="auto">
              <a:xfrm>
                <a:off x="4915" y="3353"/>
                <a:ext cx="1491" cy="596"/>
              </a:xfrm>
              <a:custGeom>
                <a:avLst/>
                <a:gdLst>
                  <a:gd name="T0" fmla="*/ 0 w 1491"/>
                  <a:gd name="T1" fmla="*/ 0 h 720"/>
                  <a:gd name="T2" fmla="*/ 565 w 1491"/>
                  <a:gd name="T3" fmla="*/ 0 h 720"/>
                  <a:gd name="T4" fmla="*/ 967 w 1491"/>
                  <a:gd name="T5" fmla="*/ 20 h 720"/>
                  <a:gd name="T6" fmla="*/ 1491 w 1491"/>
                  <a:gd name="T7" fmla="*/ 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1"/>
                  <a:gd name="T13" fmla="*/ 0 h 720"/>
                  <a:gd name="T14" fmla="*/ 1491 w 1491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1" h="720">
                    <a:moveTo>
                      <a:pt x="0" y="0"/>
                    </a:moveTo>
                    <a:lnTo>
                      <a:pt x="565" y="0"/>
                    </a:lnTo>
                    <a:lnTo>
                      <a:pt x="967" y="720"/>
                    </a:lnTo>
                    <a:lnTo>
                      <a:pt x="1491" y="72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5634" name="Freeform 18"/>
              <p:cNvSpPr>
                <a:spLocks/>
              </p:cNvSpPr>
              <p:nvPr/>
            </p:nvSpPr>
            <p:spPr bwMode="auto">
              <a:xfrm>
                <a:off x="4907" y="3654"/>
                <a:ext cx="1491" cy="596"/>
              </a:xfrm>
              <a:custGeom>
                <a:avLst/>
                <a:gdLst>
                  <a:gd name="T0" fmla="*/ 0 w 1491"/>
                  <a:gd name="T1" fmla="*/ 0 h 720"/>
                  <a:gd name="T2" fmla="*/ 565 w 1491"/>
                  <a:gd name="T3" fmla="*/ 0 h 720"/>
                  <a:gd name="T4" fmla="*/ 967 w 1491"/>
                  <a:gd name="T5" fmla="*/ 20 h 720"/>
                  <a:gd name="T6" fmla="*/ 1491 w 1491"/>
                  <a:gd name="T7" fmla="*/ 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1"/>
                  <a:gd name="T13" fmla="*/ 0 h 720"/>
                  <a:gd name="T14" fmla="*/ 1491 w 1491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1" h="720">
                    <a:moveTo>
                      <a:pt x="0" y="0"/>
                    </a:moveTo>
                    <a:lnTo>
                      <a:pt x="565" y="0"/>
                    </a:lnTo>
                    <a:lnTo>
                      <a:pt x="967" y="720"/>
                    </a:lnTo>
                    <a:lnTo>
                      <a:pt x="1491" y="72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5635" name="Text Box 19"/>
              <p:cNvSpPr txBox="1">
                <a:spLocks noChangeArrowheads="1"/>
              </p:cNvSpPr>
              <p:nvPr/>
            </p:nvSpPr>
            <p:spPr bwMode="auto">
              <a:xfrm>
                <a:off x="4881" y="3641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25636" name="Text Box 20"/>
              <p:cNvSpPr txBox="1">
                <a:spLocks noChangeArrowheads="1"/>
              </p:cNvSpPr>
              <p:nvPr/>
            </p:nvSpPr>
            <p:spPr bwMode="auto">
              <a:xfrm>
                <a:off x="6110" y="3650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</p:grpSp>
        <p:grpSp>
          <p:nvGrpSpPr>
            <p:cNvPr id="6" name="Group 43"/>
            <p:cNvGrpSpPr>
              <a:grpSpLocks/>
            </p:cNvGrpSpPr>
            <p:nvPr/>
          </p:nvGrpSpPr>
          <p:grpSpPr bwMode="auto">
            <a:xfrm>
              <a:off x="8600283" y="3636374"/>
              <a:ext cx="542925" cy="1069975"/>
              <a:chOff x="6433" y="3432"/>
              <a:chExt cx="342" cy="674"/>
            </a:xfrm>
          </p:grpSpPr>
          <p:sp>
            <p:nvSpPr>
              <p:cNvPr id="25617" name="Oval 38"/>
              <p:cNvSpPr>
                <a:spLocks noChangeArrowheads="1"/>
              </p:cNvSpPr>
              <p:nvPr/>
            </p:nvSpPr>
            <p:spPr bwMode="auto">
              <a:xfrm rot="-5400000">
                <a:off x="6548" y="3563"/>
                <a:ext cx="113" cy="113"/>
              </a:xfrm>
              <a:prstGeom prst="ellipse">
                <a:avLst/>
              </a:prstGeom>
              <a:solidFill>
                <a:srgbClr val="99CC00"/>
              </a:solidFill>
              <a:ln w="12700" algn="ctr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618" name="Oval 39"/>
              <p:cNvSpPr>
                <a:spLocks noChangeArrowheads="1"/>
              </p:cNvSpPr>
              <p:nvPr/>
            </p:nvSpPr>
            <p:spPr bwMode="auto">
              <a:xfrm rot="-5400000">
                <a:off x="6548" y="3941"/>
                <a:ext cx="113" cy="113"/>
              </a:xfrm>
              <a:prstGeom prst="ellipse">
                <a:avLst/>
              </a:prstGeom>
              <a:solidFill>
                <a:srgbClr val="FFFFFF"/>
              </a:solidFill>
              <a:ln w="12700" algn="ctr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619" name="Line 40"/>
              <p:cNvSpPr>
                <a:spLocks noChangeShapeType="1"/>
              </p:cNvSpPr>
              <p:nvPr/>
            </p:nvSpPr>
            <p:spPr bwMode="auto">
              <a:xfrm rot="16200000">
                <a:off x="6532" y="3804"/>
                <a:ext cx="144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5620" name="Text Box 41"/>
              <p:cNvSpPr txBox="1">
                <a:spLocks noChangeArrowheads="1"/>
              </p:cNvSpPr>
              <p:nvPr/>
            </p:nvSpPr>
            <p:spPr bwMode="auto">
              <a:xfrm>
                <a:off x="6527" y="3432"/>
                <a:ext cx="16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25621" name="Text Box 42"/>
              <p:cNvSpPr txBox="1">
                <a:spLocks noChangeArrowheads="1"/>
              </p:cNvSpPr>
              <p:nvPr/>
            </p:nvSpPr>
            <p:spPr bwMode="auto">
              <a:xfrm rot="-5400000">
                <a:off x="6500" y="3832"/>
                <a:ext cx="20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</p:grpSp>
      <p:sp>
        <p:nvSpPr>
          <p:cNvPr id="37" name="Text Box 5"/>
          <p:cNvSpPr txBox="1">
            <a:spLocks noChangeArrowheads="1"/>
          </p:cNvSpPr>
          <p:nvPr/>
        </p:nvSpPr>
        <p:spPr bwMode="auto">
          <a:xfrm>
            <a:off x="6030414" y="714884"/>
            <a:ext cx="4370052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producen 2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fenómenos que compiten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entre sí,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no incluidos en la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ec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 de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Shockley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5469482" y="1117959"/>
            <a:ext cx="460348" cy="542956"/>
          </a:xfrm>
          <a:prstGeom prst="rightArrow">
            <a:avLst>
              <a:gd name="adj1" fmla="val 49704"/>
              <a:gd name="adj2" fmla="val 5146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5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5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5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55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5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395" grpId="0" animBg="1"/>
      <p:bldP spid="955397" grpId="0"/>
      <p:bldP spid="955399" grpId="0"/>
      <p:bldP spid="955402" grpId="0"/>
      <p:bldP spid="25622" grpId="0" animBg="1"/>
      <p:bldP spid="23576" grpId="0" animBg="1"/>
      <p:bldP spid="37" grpId="0" animBg="1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2" name="Text Box 9"/>
          <p:cNvSpPr txBox="1">
            <a:spLocks noChangeArrowheads="1"/>
          </p:cNvSpPr>
          <p:nvPr/>
        </p:nvSpPr>
        <p:spPr bwMode="auto">
          <a:xfrm>
            <a:off x="1706395" y="1084811"/>
            <a:ext cx="3323645" cy="60925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Si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|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|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&gt;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V/cm</a:t>
            </a:r>
          </a:p>
        </p:txBody>
      </p:sp>
      <p:sp>
        <p:nvSpPr>
          <p:cNvPr id="23576" name="Text Box 34"/>
          <p:cNvSpPr txBox="1">
            <a:spLocks noChangeArrowheads="1"/>
          </p:cNvSpPr>
          <p:nvPr/>
        </p:nvSpPr>
        <p:spPr bwMode="auto">
          <a:xfrm>
            <a:off x="1395413" y="349283"/>
            <a:ext cx="3945609" cy="58737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54000" tIns="108000" rIns="54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 Polarización Inversa</a:t>
            </a:r>
          </a:p>
        </p:txBody>
      </p:sp>
      <p:sp>
        <p:nvSpPr>
          <p:cNvPr id="37" name="Text Box 5"/>
          <p:cNvSpPr txBox="1">
            <a:spLocks noChangeArrowheads="1"/>
          </p:cNvSpPr>
          <p:nvPr/>
        </p:nvSpPr>
        <p:spPr bwMode="auto">
          <a:xfrm>
            <a:off x="6030414" y="714884"/>
            <a:ext cx="4370052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producen 2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fenómenos que compiten entre sí no incluidos en la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ec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 de </a:t>
            </a:r>
            <a:r>
              <a:rPr lang="es-ES" sz="2400" dirty="0" err="1">
                <a:latin typeface="Arial" panose="020B0604020202020204" pitchFamily="34" charset="0"/>
                <a:sym typeface="Symbol" panose="05050102010706020507" pitchFamily="18" charset="2"/>
              </a:rPr>
              <a:t>Shockley</a:t>
            </a:r>
            <a:endParaRPr lang="es-ES" sz="2400" dirty="0">
              <a:solidFill>
                <a:srgbClr val="008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5469482" y="1117959"/>
            <a:ext cx="460348" cy="542956"/>
          </a:xfrm>
          <a:prstGeom prst="rightArrow">
            <a:avLst>
              <a:gd name="adj1" fmla="val 49704"/>
              <a:gd name="adj2" fmla="val 5146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435F8336-BD7E-56FD-22DB-4CC86E393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3" y="2227387"/>
            <a:ext cx="1943459" cy="6092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Efecto Zéner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1081B417-24EC-C383-4F13-4FF56BB74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592" y="3092338"/>
            <a:ext cx="4992251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El campo es </a:t>
            </a:r>
            <a:r>
              <a:rPr lang="es-ES" sz="2400">
                <a:latin typeface="Arial" panose="020B0604020202020204" pitchFamily="34" charset="0"/>
              </a:rPr>
              <a:t>suficiente grande para arrancar e</a:t>
            </a:r>
            <a:r>
              <a:rPr lang="es-ES" sz="2400" baseline="30000">
                <a:latin typeface="Arial" panose="020B0604020202020204" pitchFamily="34" charset="0"/>
              </a:rPr>
              <a:t>- 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de átomos y</a:t>
            </a:r>
            <a:r>
              <a:rPr lang="es-ES" sz="2400" baseline="30000" dirty="0"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generar pares e</a:t>
            </a:r>
            <a:r>
              <a:rPr lang="es-ES" sz="2400" baseline="30000">
                <a:latin typeface="Arial" panose="020B0604020202020204" pitchFamily="34" charset="0"/>
              </a:rPr>
              <a:t>-</a:t>
            </a:r>
            <a:r>
              <a:rPr lang="es-ES" sz="2400">
                <a:latin typeface="Arial" panose="020B0604020202020204" pitchFamily="34" charset="0"/>
              </a:rPr>
              <a:t>-h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EC13DDF-03E4-5FBE-1656-18350B888C44}"/>
              </a:ext>
            </a:extLst>
          </p:cNvPr>
          <p:cNvGrpSpPr/>
          <p:nvPr/>
        </p:nvGrpSpPr>
        <p:grpSpPr>
          <a:xfrm>
            <a:off x="6693894" y="2427445"/>
            <a:ext cx="2957760" cy="2024098"/>
            <a:chOff x="6693894" y="2427445"/>
            <a:chExt cx="2957760" cy="2024098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95FD302-D97C-AC49-4206-552481263457}"/>
                </a:ext>
              </a:extLst>
            </p:cNvPr>
            <p:cNvSpPr/>
            <p:nvPr/>
          </p:nvSpPr>
          <p:spPr bwMode="auto">
            <a:xfrm>
              <a:off x="6693894" y="2427445"/>
              <a:ext cx="2957760" cy="2024098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3" name="Group 44">
              <a:extLst>
                <a:ext uri="{FF2B5EF4-FFF2-40B4-BE49-F238E27FC236}">
                  <a16:creationId xmlns:a16="http://schemas.microsoft.com/office/drawing/2014/main" id="{54FF3974-6F33-D3C9-09B2-CC5E8283FA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2498" y="2782153"/>
              <a:ext cx="2500312" cy="1423987"/>
              <a:chOff x="4881" y="3353"/>
              <a:chExt cx="1575" cy="897"/>
            </a:xfrm>
          </p:grpSpPr>
          <p:sp>
            <p:nvSpPr>
              <p:cNvPr id="4" name="Freeform 17">
                <a:extLst>
                  <a:ext uri="{FF2B5EF4-FFF2-40B4-BE49-F238E27FC236}">
                    <a16:creationId xmlns:a16="http://schemas.microsoft.com/office/drawing/2014/main" id="{9BB4E977-0D9D-5F45-C20F-DCC25FBF8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5" y="3353"/>
                <a:ext cx="1491" cy="596"/>
              </a:xfrm>
              <a:custGeom>
                <a:avLst/>
                <a:gdLst>
                  <a:gd name="T0" fmla="*/ 0 w 1491"/>
                  <a:gd name="T1" fmla="*/ 0 h 720"/>
                  <a:gd name="T2" fmla="*/ 565 w 1491"/>
                  <a:gd name="T3" fmla="*/ 0 h 720"/>
                  <a:gd name="T4" fmla="*/ 967 w 1491"/>
                  <a:gd name="T5" fmla="*/ 20 h 720"/>
                  <a:gd name="T6" fmla="*/ 1491 w 1491"/>
                  <a:gd name="T7" fmla="*/ 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1"/>
                  <a:gd name="T13" fmla="*/ 0 h 720"/>
                  <a:gd name="T14" fmla="*/ 1491 w 1491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1" h="720">
                    <a:moveTo>
                      <a:pt x="0" y="0"/>
                    </a:moveTo>
                    <a:lnTo>
                      <a:pt x="565" y="0"/>
                    </a:lnTo>
                    <a:lnTo>
                      <a:pt x="967" y="720"/>
                    </a:lnTo>
                    <a:lnTo>
                      <a:pt x="1491" y="72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5" name="Freeform 18">
                <a:extLst>
                  <a:ext uri="{FF2B5EF4-FFF2-40B4-BE49-F238E27FC236}">
                    <a16:creationId xmlns:a16="http://schemas.microsoft.com/office/drawing/2014/main" id="{FC5F0FEE-7080-3F61-832A-1D62998CD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7" y="3654"/>
                <a:ext cx="1491" cy="596"/>
              </a:xfrm>
              <a:custGeom>
                <a:avLst/>
                <a:gdLst>
                  <a:gd name="T0" fmla="*/ 0 w 1491"/>
                  <a:gd name="T1" fmla="*/ 0 h 720"/>
                  <a:gd name="T2" fmla="*/ 565 w 1491"/>
                  <a:gd name="T3" fmla="*/ 0 h 720"/>
                  <a:gd name="T4" fmla="*/ 967 w 1491"/>
                  <a:gd name="T5" fmla="*/ 20 h 720"/>
                  <a:gd name="T6" fmla="*/ 1491 w 1491"/>
                  <a:gd name="T7" fmla="*/ 20 h 72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91"/>
                  <a:gd name="T13" fmla="*/ 0 h 720"/>
                  <a:gd name="T14" fmla="*/ 1491 w 1491"/>
                  <a:gd name="T15" fmla="*/ 720 h 72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91" h="720">
                    <a:moveTo>
                      <a:pt x="0" y="0"/>
                    </a:moveTo>
                    <a:lnTo>
                      <a:pt x="565" y="0"/>
                    </a:lnTo>
                    <a:lnTo>
                      <a:pt x="967" y="720"/>
                    </a:lnTo>
                    <a:lnTo>
                      <a:pt x="1491" y="72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7" name="Text Box 19">
                <a:extLst>
                  <a:ext uri="{FF2B5EF4-FFF2-40B4-BE49-F238E27FC236}">
                    <a16:creationId xmlns:a16="http://schemas.microsoft.com/office/drawing/2014/main" id="{AD1EC3A3-0B15-A8AC-8DEC-B215C2410D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1" y="3641"/>
                <a:ext cx="33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BV</a:t>
                </a:r>
              </a:p>
            </p:txBody>
          </p:sp>
          <p:sp>
            <p:nvSpPr>
              <p:cNvPr id="8" name="Text Box 20">
                <a:extLst>
                  <a:ext uri="{FF2B5EF4-FFF2-40B4-BE49-F238E27FC236}">
                    <a16:creationId xmlns:a16="http://schemas.microsoft.com/office/drawing/2014/main" id="{6760101C-4A6D-DFF7-2B94-705DAA2539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0" y="3650"/>
                <a:ext cx="346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BC</a:t>
                </a:r>
              </a:p>
            </p:txBody>
          </p:sp>
        </p:grpSp>
        <p:grpSp>
          <p:nvGrpSpPr>
            <p:cNvPr id="11" name="Group 36">
              <a:extLst>
                <a:ext uri="{FF2B5EF4-FFF2-40B4-BE49-F238E27FC236}">
                  <a16:creationId xmlns:a16="http://schemas.microsoft.com/office/drawing/2014/main" id="{04D1824A-D86A-E7E2-3953-7228AA6853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0804" y="3213843"/>
              <a:ext cx="914400" cy="565150"/>
              <a:chOff x="5399" y="3630"/>
              <a:chExt cx="576" cy="356"/>
            </a:xfrm>
          </p:grpSpPr>
          <p:sp>
            <p:nvSpPr>
              <p:cNvPr id="12" name="Oval 21">
                <a:extLst>
                  <a:ext uri="{FF2B5EF4-FFF2-40B4-BE49-F238E27FC236}">
                    <a16:creationId xmlns:a16="http://schemas.microsoft.com/office/drawing/2014/main" id="{A33FBFFF-F2EF-71F3-91BE-4AF09B5A8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9" y="3759"/>
                <a:ext cx="113" cy="113"/>
              </a:xfrm>
              <a:prstGeom prst="ellipse">
                <a:avLst/>
              </a:prstGeom>
              <a:solidFill>
                <a:srgbClr val="99CC00"/>
              </a:solidFill>
              <a:ln w="12700" algn="ctr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" name="Oval 22">
                <a:extLst>
                  <a:ext uri="{FF2B5EF4-FFF2-40B4-BE49-F238E27FC236}">
                    <a16:creationId xmlns:a16="http://schemas.microsoft.com/office/drawing/2014/main" id="{A057E13B-8790-823B-BE56-7CCABC1C1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1" y="3759"/>
                <a:ext cx="113" cy="113"/>
              </a:xfrm>
              <a:prstGeom prst="ellipse">
                <a:avLst/>
              </a:prstGeom>
              <a:solidFill>
                <a:srgbClr val="FFFFFF"/>
              </a:solidFill>
              <a:ln w="12700" algn="ctr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lIns="90000" tIns="118800" rIns="90000" bIns="118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Line 23">
                <a:extLst>
                  <a:ext uri="{FF2B5EF4-FFF2-40B4-BE49-F238E27FC236}">
                    <a16:creationId xmlns:a16="http://schemas.microsoft.com/office/drawing/2014/main" id="{939253C7-10A2-CA57-A3DB-D094D63A25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4" y="3815"/>
                <a:ext cx="144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" name="Text Box 24">
                <a:extLst>
                  <a:ext uri="{FF2B5EF4-FFF2-40B4-BE49-F238E27FC236}">
                    <a16:creationId xmlns:a16="http://schemas.microsoft.com/office/drawing/2014/main" id="{46D1B56A-E54C-C3DA-D9D1-4A71AE7D45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8" y="3630"/>
                <a:ext cx="16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-</a:t>
                </a:r>
              </a:p>
            </p:txBody>
          </p:sp>
          <p:sp>
            <p:nvSpPr>
              <p:cNvPr id="16" name="Text Box 25">
                <a:extLst>
                  <a:ext uri="{FF2B5EF4-FFF2-40B4-BE49-F238E27FC236}">
                    <a16:creationId xmlns:a16="http://schemas.microsoft.com/office/drawing/2014/main" id="{76BEB479-8956-F5DE-90F4-180F1662B4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9" y="3644"/>
                <a:ext cx="207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med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+</a:t>
                </a:r>
              </a:p>
            </p:txBody>
          </p:sp>
        </p:grpSp>
      </p:grpSp>
      <p:sp>
        <p:nvSpPr>
          <p:cNvPr id="17" name="Text Box 14">
            <a:extLst>
              <a:ext uri="{FF2B5EF4-FFF2-40B4-BE49-F238E27FC236}">
                <a16:creationId xmlns:a16="http://schemas.microsoft.com/office/drawing/2014/main" id="{151F6C5C-FC16-7E87-5802-EF07ED14F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274" y="4466956"/>
            <a:ext cx="9072432" cy="171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Char char="·"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Los e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-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pasan a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un estado posible con la misma energía en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BC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si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está suficientemente cerca en el espacio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(efecto túnel)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Desaparecen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 un sitio y aparecen en el otro, en medio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no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pueden estar (energía no permitida)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D56B1945-3284-6E4F-C50B-FD44005D1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87" y="6147523"/>
            <a:ext cx="7922919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 1/anchura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de RCE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(por estar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más cerca estados)</a:t>
            </a:r>
          </a:p>
        </p:txBody>
      </p:sp>
    </p:spTree>
    <p:extLst>
      <p:ext uri="{BB962C8B-B14F-4D97-AF65-F5344CB8AC3E}">
        <p14:creationId xmlns:p14="http://schemas.microsoft.com/office/powerpoint/2010/main" val="3762491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915" name="Text Box 43"/>
          <p:cNvSpPr txBox="1">
            <a:spLocks noChangeArrowheads="1"/>
          </p:cNvSpPr>
          <p:nvPr/>
        </p:nvSpPr>
        <p:spPr bwMode="auto">
          <a:xfrm>
            <a:off x="1400581" y="1808066"/>
            <a:ext cx="8844694" cy="17899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54800" rIns="90000" bIns="154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Ambos fenómenos, </a:t>
            </a:r>
            <a:r>
              <a:rPr lang="es-ES" sz="2400" dirty="0">
                <a:latin typeface="Arial" panose="020B0604020202020204" pitchFamily="34" charset="0"/>
              </a:rPr>
              <a:t>aportan gran cantidad de portadores de carga, dando lugar a un crecimiento grande de la </a:t>
            </a:r>
            <a:r>
              <a:rPr lang="es-ES" sz="2400">
                <a:latin typeface="Arial" panose="020B0604020202020204" pitchFamily="34" charset="0"/>
              </a:rPr>
              <a:t>corriente inversa para </a:t>
            </a:r>
            <a:r>
              <a:rPr lang="es-ES" sz="2400" dirty="0">
                <a:latin typeface="Arial" panose="020B0604020202020204" pitchFamily="34" charset="0"/>
              </a:rPr>
              <a:t>un cambio mínimo en V</a:t>
            </a:r>
            <a:r>
              <a:rPr lang="es-ES" sz="2400" baseline="-25000" dirty="0">
                <a:latin typeface="Arial" panose="020B0604020202020204" pitchFamily="34" charset="0"/>
              </a:rPr>
              <a:t>D</a:t>
            </a:r>
            <a:r>
              <a:rPr lang="es-ES" sz="2400">
                <a:latin typeface="Arial" panose="020B0604020202020204" pitchFamily="34" charset="0"/>
              </a:rPr>
              <a:t>. Esto es más notable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con el </a:t>
            </a:r>
            <a:r>
              <a:rPr lang="es-ES" sz="2400" dirty="0">
                <a:latin typeface="Arial" panose="020B0604020202020204" pitchFamily="34" charset="0"/>
              </a:rPr>
              <a:t>efecto </a:t>
            </a:r>
            <a:r>
              <a:rPr lang="es-ES" sz="2400" dirty="0" err="1">
                <a:latin typeface="Arial" panose="020B0604020202020204" pitchFamily="34" charset="0"/>
              </a:rPr>
              <a:t>zéner</a:t>
            </a:r>
            <a:r>
              <a:rPr lang="es-ES" sz="2400" dirty="0">
                <a:latin typeface="Arial" panose="020B0604020202020204" pitchFamily="34" charset="0"/>
              </a:rPr>
              <a:t>: el voltaje se “clava” más</a:t>
            </a:r>
          </a:p>
        </p:txBody>
      </p:sp>
      <p:sp>
        <p:nvSpPr>
          <p:cNvPr id="27672" name="Line 27"/>
          <p:cNvSpPr>
            <a:spLocks noChangeShapeType="1"/>
          </p:cNvSpPr>
          <p:nvPr/>
        </p:nvSpPr>
        <p:spPr bwMode="auto">
          <a:xfrm flipV="1">
            <a:off x="7143962" y="3966659"/>
            <a:ext cx="0" cy="285115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="ctr" anchorCtr="1">
            <a:spAutoFit/>
          </a:bodyPr>
          <a:lstStyle/>
          <a:p>
            <a:endParaRPr lang="es-ES"/>
          </a:p>
        </p:txBody>
      </p:sp>
      <p:sp>
        <p:nvSpPr>
          <p:cNvPr id="27673" name="Line 28"/>
          <p:cNvSpPr>
            <a:spLocks noChangeShapeType="1"/>
          </p:cNvSpPr>
          <p:nvPr/>
        </p:nvSpPr>
        <p:spPr bwMode="auto">
          <a:xfrm rot="16200000">
            <a:off x="6334337" y="2590297"/>
            <a:ext cx="15875" cy="5661025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="ctr" anchorCtr="1">
            <a:spAutoFit/>
          </a:bodyPr>
          <a:lstStyle/>
          <a:p>
            <a:endParaRPr lang="es-ES"/>
          </a:p>
        </p:txBody>
      </p:sp>
      <p:sp>
        <p:nvSpPr>
          <p:cNvPr id="27674" name="Text Box 29"/>
          <p:cNvSpPr txBox="1">
            <a:spLocks noChangeArrowheads="1"/>
          </p:cNvSpPr>
          <p:nvPr/>
        </p:nvSpPr>
        <p:spPr bwMode="auto">
          <a:xfrm>
            <a:off x="6596274" y="3553909"/>
            <a:ext cx="10572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000" baseline="-25000">
                <a:solidFill>
                  <a:srgbClr val="3333FF"/>
                </a:solidFill>
                <a:latin typeface="Arial" panose="020B0604020202020204" pitchFamily="34" charset="0"/>
              </a:rPr>
              <a:t>D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 (mA)</a:t>
            </a:r>
          </a:p>
        </p:txBody>
      </p:sp>
      <p:sp>
        <p:nvSpPr>
          <p:cNvPr id="27675" name="Text Box 30"/>
          <p:cNvSpPr txBox="1">
            <a:spLocks noChangeArrowheads="1"/>
          </p:cNvSpPr>
          <p:nvPr/>
        </p:nvSpPr>
        <p:spPr bwMode="auto">
          <a:xfrm>
            <a:off x="8666374" y="5393822"/>
            <a:ext cx="8731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Comic Sans MS" panose="030F0702030302020204" pitchFamily="66" charset="0"/>
              </a:rPr>
              <a:t>V</a:t>
            </a:r>
            <a:r>
              <a:rPr lang="es-ES" sz="2000" baseline="-25000">
                <a:solidFill>
                  <a:srgbClr val="3333FF"/>
                </a:solidFill>
                <a:latin typeface="Arial" panose="020B0604020202020204" pitchFamily="34" charset="0"/>
              </a:rPr>
              <a:t>D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 (V)</a:t>
            </a:r>
          </a:p>
        </p:txBody>
      </p:sp>
      <p:sp>
        <p:nvSpPr>
          <p:cNvPr id="27676" name="Freeform 31"/>
          <p:cNvSpPr>
            <a:spLocks/>
          </p:cNvSpPr>
          <p:nvPr/>
        </p:nvSpPr>
        <p:spPr bwMode="auto">
          <a:xfrm>
            <a:off x="4329324" y="4150809"/>
            <a:ext cx="3497262" cy="1509713"/>
          </a:xfrm>
          <a:custGeom>
            <a:avLst/>
            <a:gdLst>
              <a:gd name="T0" fmla="*/ 19941589 w 1328"/>
              <a:gd name="T1" fmla="*/ 0 h 1015"/>
              <a:gd name="T2" fmla="*/ 19204286 w 1328"/>
              <a:gd name="T3" fmla="*/ 146 h 1015"/>
              <a:gd name="T4" fmla="*/ 17596826 w 1328"/>
              <a:gd name="T5" fmla="*/ 229 h 1015"/>
              <a:gd name="T6" fmla="*/ 13348989 w 1328"/>
              <a:gd name="T7" fmla="*/ 269 h 1015"/>
              <a:gd name="T8" fmla="*/ 9231333 w 1328"/>
              <a:gd name="T9" fmla="*/ 286 h 1015"/>
              <a:gd name="T10" fmla="*/ 0 w 1328"/>
              <a:gd name="T11" fmla="*/ 295 h 10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28"/>
              <a:gd name="T19" fmla="*/ 0 h 1015"/>
              <a:gd name="T20" fmla="*/ 1328 w 1328"/>
              <a:gd name="T21" fmla="*/ 1015 h 10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28" h="1015">
                <a:moveTo>
                  <a:pt x="1328" y="0"/>
                </a:moveTo>
                <a:cubicBezTo>
                  <a:pt x="1316" y="187"/>
                  <a:pt x="1305" y="375"/>
                  <a:pt x="1279" y="507"/>
                </a:cubicBezTo>
                <a:cubicBezTo>
                  <a:pt x="1253" y="639"/>
                  <a:pt x="1237" y="720"/>
                  <a:pt x="1172" y="790"/>
                </a:cubicBezTo>
                <a:cubicBezTo>
                  <a:pt x="1107" y="860"/>
                  <a:pt x="982" y="894"/>
                  <a:pt x="889" y="927"/>
                </a:cubicBezTo>
                <a:cubicBezTo>
                  <a:pt x="796" y="960"/>
                  <a:pt x="763" y="971"/>
                  <a:pt x="615" y="986"/>
                </a:cubicBezTo>
                <a:cubicBezTo>
                  <a:pt x="467" y="1001"/>
                  <a:pt x="233" y="1008"/>
                  <a:pt x="0" y="1015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/>
            <a:tailEnd type="non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118800" rIns="90000" bIns="118800" anchor="ctr" anchorCtr="1">
            <a:spAutoFit/>
          </a:bodyPr>
          <a:lstStyle/>
          <a:p>
            <a:endParaRPr lang="es-E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7E59F6F-1DAB-4DFE-BE73-ACCACF8C21E2}"/>
              </a:ext>
            </a:extLst>
          </p:cNvPr>
          <p:cNvGrpSpPr/>
          <p:nvPr/>
        </p:nvGrpSpPr>
        <p:grpSpPr>
          <a:xfrm>
            <a:off x="1359752" y="4857989"/>
            <a:ext cx="1974899" cy="1717248"/>
            <a:chOff x="1359752" y="4135503"/>
            <a:chExt cx="1974899" cy="1717248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DA4606-8117-4465-8863-B53B32B45387}"/>
                </a:ext>
              </a:extLst>
            </p:cNvPr>
            <p:cNvGrpSpPr/>
            <p:nvPr/>
          </p:nvGrpSpPr>
          <p:grpSpPr>
            <a:xfrm>
              <a:off x="1359752" y="4225710"/>
              <a:ext cx="1974899" cy="1055389"/>
              <a:chOff x="1359752" y="4225710"/>
              <a:chExt cx="1974899" cy="1055389"/>
            </a:xfrm>
          </p:grpSpPr>
          <p:sp>
            <p:nvSpPr>
              <p:cNvPr id="33" name="Rectángulo 4"/>
              <p:cNvSpPr>
                <a:spLocks noChangeArrowheads="1"/>
              </p:cNvSpPr>
              <p:nvPr/>
            </p:nvSpPr>
            <p:spPr bwMode="auto">
              <a:xfrm>
                <a:off x="1359752" y="4783096"/>
                <a:ext cx="1974899" cy="49800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s-ES" sz="2400"/>
              </a:p>
            </p:txBody>
          </p:sp>
          <p:sp>
            <p:nvSpPr>
              <p:cNvPr id="27667" name="Rectángulo 4"/>
              <p:cNvSpPr>
                <a:spLocks noChangeArrowheads="1"/>
              </p:cNvSpPr>
              <p:nvPr/>
            </p:nvSpPr>
            <p:spPr bwMode="auto">
              <a:xfrm>
                <a:off x="1364332" y="4225710"/>
                <a:ext cx="1957897" cy="498003"/>
              </a:xfrm>
              <a:prstGeom prst="rect">
                <a:avLst/>
              </a:prstGeom>
              <a:solidFill>
                <a:srgbClr val="CC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es-ES" sz="2400"/>
              </a:p>
            </p:txBody>
          </p:sp>
        </p:grpSp>
        <p:sp>
          <p:nvSpPr>
            <p:cNvPr id="27668" name="Text Box 47"/>
            <p:cNvSpPr txBox="1">
              <a:spLocks noChangeArrowheads="1"/>
            </p:cNvSpPr>
            <p:nvPr/>
          </p:nvSpPr>
          <p:spPr bwMode="auto">
            <a:xfrm>
              <a:off x="1389624" y="4135503"/>
              <a:ext cx="1896971" cy="1717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V</a:t>
              </a:r>
              <a:r>
                <a:rPr lang="es-ES" sz="2400" baseline="-25000" dirty="0">
                  <a:latin typeface="Arial" panose="020B0604020202020204" pitchFamily="34" charset="0"/>
                </a:rPr>
                <a:t>R</a:t>
              </a:r>
              <a:r>
                <a:rPr lang="es-ES" sz="2400" dirty="0">
                  <a:latin typeface="Arial" panose="020B0604020202020204" pitchFamily="34" charset="0"/>
                </a:rPr>
                <a:t>: V</a:t>
              </a:r>
              <a:r>
                <a:rPr lang="es-ES" sz="2400" baseline="-25000" dirty="0">
                  <a:latin typeface="Arial" panose="020B0604020202020204" pitchFamily="34" charset="0"/>
                </a:rPr>
                <a:t>RUPTURA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V</a:t>
              </a:r>
              <a:r>
                <a:rPr lang="es-ES" sz="2400" baseline="-25000" dirty="0">
                  <a:latin typeface="Arial" panose="020B0604020202020204" pitchFamily="34" charset="0"/>
                </a:rPr>
                <a:t>Z</a:t>
              </a:r>
              <a:r>
                <a:rPr lang="es-ES" sz="2400">
                  <a:latin typeface="Arial" panose="020B0604020202020204" pitchFamily="34" charset="0"/>
                </a:rPr>
                <a:t>: V</a:t>
              </a:r>
              <a:r>
                <a:rPr lang="es-ES" sz="2400" baseline="-25000">
                  <a:latin typeface="Arial" panose="020B0604020202020204" pitchFamily="34" charset="0"/>
                </a:rPr>
                <a:t>ZÉNER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    (&lt; 0) 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7682" name="Freeform 44"/>
          <p:cNvSpPr>
            <a:spLocks/>
          </p:cNvSpPr>
          <p:nvPr/>
        </p:nvSpPr>
        <p:spPr bwMode="auto">
          <a:xfrm>
            <a:off x="4237249" y="5657347"/>
            <a:ext cx="119062" cy="1203325"/>
          </a:xfrm>
          <a:custGeom>
            <a:avLst/>
            <a:gdLst>
              <a:gd name="T0" fmla="*/ 75 w 75"/>
              <a:gd name="T1" fmla="*/ 0 h 917"/>
              <a:gd name="T2" fmla="*/ 21 w 75"/>
              <a:gd name="T3" fmla="*/ 42 h 917"/>
              <a:gd name="T4" fmla="*/ 21 w 75"/>
              <a:gd name="T5" fmla="*/ 160 h 917"/>
              <a:gd name="T6" fmla="*/ 0 w 75"/>
              <a:gd name="T7" fmla="*/ 917 h 917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917"/>
              <a:gd name="T14" fmla="*/ 75 w 75"/>
              <a:gd name="T15" fmla="*/ 917 h 9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917">
                <a:moveTo>
                  <a:pt x="75" y="0"/>
                </a:moveTo>
                <a:cubicBezTo>
                  <a:pt x="52" y="8"/>
                  <a:pt x="30" y="16"/>
                  <a:pt x="21" y="42"/>
                </a:cubicBezTo>
                <a:cubicBezTo>
                  <a:pt x="12" y="68"/>
                  <a:pt x="24" y="14"/>
                  <a:pt x="21" y="160"/>
                </a:cubicBezTo>
                <a:cubicBezTo>
                  <a:pt x="18" y="306"/>
                  <a:pt x="9" y="611"/>
                  <a:pt x="0" y="917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118800" rIns="90000" bIns="118800" anchorCtr="1">
            <a:spAutoFit/>
          </a:bodyPr>
          <a:lstStyle/>
          <a:p>
            <a:endParaRPr lang="es-ES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3FE0B985-F5B2-4D97-804B-3BF8C79249B2}"/>
              </a:ext>
            </a:extLst>
          </p:cNvPr>
          <p:cNvGrpSpPr/>
          <p:nvPr/>
        </p:nvGrpSpPr>
        <p:grpSpPr>
          <a:xfrm>
            <a:off x="4022579" y="4324864"/>
            <a:ext cx="476250" cy="1219771"/>
            <a:chOff x="4844639" y="4324864"/>
            <a:chExt cx="476250" cy="1219771"/>
          </a:xfrm>
        </p:grpSpPr>
        <p:sp>
          <p:nvSpPr>
            <p:cNvPr id="27683" name="Line 46"/>
            <p:cNvSpPr>
              <a:spLocks noChangeShapeType="1"/>
            </p:cNvSpPr>
            <p:nvPr/>
          </p:nvSpPr>
          <p:spPr bwMode="auto">
            <a:xfrm>
              <a:off x="5091149" y="5235072"/>
              <a:ext cx="0" cy="3095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7665" name="Text Box 47"/>
            <p:cNvSpPr txBox="1">
              <a:spLocks noChangeArrowheads="1"/>
            </p:cNvSpPr>
            <p:nvPr/>
          </p:nvSpPr>
          <p:spPr bwMode="auto">
            <a:xfrm>
              <a:off x="4857062" y="4680766"/>
              <a:ext cx="457032" cy="547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Z</a:t>
              </a:r>
              <a:endParaRPr lang="es-ES" sz="20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7666" name="Text Box 47"/>
            <p:cNvSpPr txBox="1">
              <a:spLocks noChangeArrowheads="1"/>
            </p:cNvSpPr>
            <p:nvPr/>
          </p:nvSpPr>
          <p:spPr bwMode="auto">
            <a:xfrm>
              <a:off x="4844639" y="4324864"/>
              <a:ext cx="476250" cy="547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endParaRPr lang="es-ES" sz="20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32" name="Text Box 43"/>
          <p:cNvSpPr txBox="1">
            <a:spLocks noChangeArrowheads="1"/>
          </p:cNvSpPr>
          <p:nvPr/>
        </p:nvSpPr>
        <p:spPr bwMode="auto">
          <a:xfrm>
            <a:off x="1411870" y="316066"/>
            <a:ext cx="8820056" cy="1420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90000" tIns="154800" rIns="90000" bIns="154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Se observa que la anchura de la </a:t>
            </a:r>
            <a:r>
              <a:rPr lang="es-ES" sz="2400" b="1" dirty="0">
                <a:latin typeface="Arial" panose="020B0604020202020204" pitchFamily="34" charset="0"/>
              </a:rPr>
              <a:t>RCE</a:t>
            </a:r>
            <a:r>
              <a:rPr lang="es-ES" sz="2400" dirty="0">
                <a:latin typeface="Arial" panose="020B0604020202020204" pitchFamily="34" charset="0"/>
              </a:rPr>
              <a:t> es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inversamente proporcional al dopaje</a:t>
            </a:r>
            <a:r>
              <a:rPr lang="es-ES" sz="2400" dirty="0">
                <a:latin typeface="Arial" panose="020B0604020202020204" pitchFamily="34" charset="0"/>
              </a:rPr>
              <a:t>. Por tanto, un mayor dopaje favorece    el efecto </a:t>
            </a:r>
            <a:r>
              <a:rPr lang="es-ES" sz="2400" dirty="0" err="1">
                <a:latin typeface="Arial" panose="020B0604020202020204" pitchFamily="34" charset="0"/>
              </a:rPr>
              <a:t>zéner</a:t>
            </a:r>
            <a:r>
              <a:rPr lang="es-ES" sz="2400" dirty="0">
                <a:latin typeface="Arial" panose="020B0604020202020204" pitchFamily="34" charset="0"/>
              </a:rPr>
              <a:t>, y uno menor la ruptura y avalancha</a:t>
            </a:r>
            <a:endParaRPr lang="es-ES" sz="2400" baseline="-25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7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5915" grpId="0" animBg="1"/>
      <p:bldP spid="27682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389267" y="431506"/>
            <a:ext cx="4559357" cy="609252"/>
            <a:chOff x="6740401" y="3269816"/>
            <a:chExt cx="2512533" cy="609252"/>
          </a:xfrm>
        </p:grpSpPr>
        <p:sp>
          <p:nvSpPr>
            <p:cNvPr id="58" name="Rectángulo 2"/>
            <p:cNvSpPr>
              <a:spLocks noChangeArrowheads="1"/>
            </p:cNvSpPr>
            <p:nvPr/>
          </p:nvSpPr>
          <p:spPr bwMode="auto">
            <a:xfrm>
              <a:off x="6902434" y="3277464"/>
              <a:ext cx="2247126" cy="546178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118800" rIns="900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 sz="2400"/>
            </a:p>
          </p:txBody>
        </p:sp>
        <p:sp>
          <p:nvSpPr>
            <p:cNvPr id="51" name="Text Box 26"/>
            <p:cNvSpPr txBox="1">
              <a:spLocks noChangeArrowheads="1"/>
            </p:cNvSpPr>
            <p:nvPr/>
          </p:nvSpPr>
          <p:spPr bwMode="auto">
            <a:xfrm>
              <a:off x="6740401" y="3269816"/>
              <a:ext cx="2512533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 </a:t>
              </a:r>
              <a:r>
                <a:rPr lang="es-ES" sz="2400" dirty="0">
                  <a:latin typeface="Comic Sans MS" panose="030F0702030302020204" pitchFamily="66" charset="0"/>
                  <a:sym typeface="Symbol" panose="05050102010706020507" pitchFamily="18" charset="2"/>
                </a:rPr>
                <a:t>V</a:t>
              </a:r>
              <a:r>
                <a:rPr lang="es-ES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U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: Tensión umbral o </a:t>
              </a: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de codo</a:t>
              </a:r>
              <a:endPara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54" name="Text Box 28"/>
          <p:cNvSpPr txBox="1">
            <a:spLocks noChangeArrowheads="1"/>
          </p:cNvSpPr>
          <p:nvPr/>
        </p:nvSpPr>
        <p:spPr bwMode="auto">
          <a:xfrm>
            <a:off x="7514268" y="3428856"/>
            <a:ext cx="2453213" cy="882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Si 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0,6 – 0,7 V</a:t>
            </a:r>
          </a:p>
          <a:p>
            <a:pPr algn="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Ge: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0,2 – 0,3 V</a:t>
            </a:r>
          </a:p>
        </p:txBody>
      </p:sp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2406870" y="1175713"/>
            <a:ext cx="6737130" cy="97858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a partir de la que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pasa a crecer “mucho” en polarización directa con poca variación en 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60" name="Text Box 26"/>
          <p:cNvSpPr txBox="1">
            <a:spLocks noChangeArrowheads="1"/>
          </p:cNvSpPr>
          <p:nvPr/>
        </p:nvSpPr>
        <p:spPr bwMode="auto">
          <a:xfrm>
            <a:off x="3649119" y="2163363"/>
            <a:ext cx="4225492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(valor según criterio elegido)</a:t>
            </a:r>
            <a:endParaRPr lang="es-ES" sz="2400" baseline="-250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FEFC87C4-DFDF-44AA-AA0B-5C419DBC04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69836" y="3424394"/>
            <a:ext cx="0" cy="285115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="ctr" anchorCtr="1">
            <a:spAutoFit/>
          </a:bodyPr>
          <a:lstStyle/>
          <a:p>
            <a:endParaRPr lang="es-ES"/>
          </a:p>
        </p:txBody>
      </p:sp>
      <p:sp>
        <p:nvSpPr>
          <p:cNvPr id="20" name="Line 28">
            <a:extLst>
              <a:ext uri="{FF2B5EF4-FFF2-40B4-BE49-F238E27FC236}">
                <a16:creationId xmlns:a16="http://schemas.microsoft.com/office/drawing/2014/main" id="{A5DD8F95-694F-48AC-B2C8-5B9772FFA81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60211" y="2048032"/>
            <a:ext cx="15875" cy="5661025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="ctr" anchorCtr="1">
            <a:spAutoFit/>
          </a:bodyPr>
          <a:lstStyle/>
          <a:p>
            <a:endParaRPr lang="es-ES"/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82196E62-0E1A-46A1-AF21-326722FF0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148" y="3011644"/>
            <a:ext cx="10572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000" baseline="-25000">
                <a:solidFill>
                  <a:srgbClr val="3333FF"/>
                </a:solidFill>
                <a:latin typeface="Arial" panose="020B0604020202020204" pitchFamily="34" charset="0"/>
              </a:rPr>
              <a:t>D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 (mA)</a:t>
            </a:r>
          </a:p>
        </p:txBody>
      </p:sp>
      <p:sp>
        <p:nvSpPr>
          <p:cNvPr id="22" name="Text Box 30">
            <a:extLst>
              <a:ext uri="{FF2B5EF4-FFF2-40B4-BE49-F238E27FC236}">
                <a16:creationId xmlns:a16="http://schemas.microsoft.com/office/drawing/2014/main" id="{BE5844BA-F84A-4133-9A6E-BBFABDDEC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2248" y="4851557"/>
            <a:ext cx="8731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>
                <a:solidFill>
                  <a:srgbClr val="3333FF"/>
                </a:solidFill>
                <a:latin typeface="Comic Sans MS" panose="030F0702030302020204" pitchFamily="66" charset="0"/>
              </a:rPr>
              <a:t>V</a:t>
            </a:r>
            <a:r>
              <a:rPr lang="es-ES" sz="2000" baseline="-25000">
                <a:solidFill>
                  <a:srgbClr val="3333FF"/>
                </a:solidFill>
                <a:latin typeface="Arial" panose="020B0604020202020204" pitchFamily="34" charset="0"/>
              </a:rPr>
              <a:t>D</a:t>
            </a:r>
            <a:r>
              <a:rPr lang="es-ES" sz="2000">
                <a:solidFill>
                  <a:srgbClr val="3333FF"/>
                </a:solidFill>
                <a:latin typeface="Arial" panose="020B0604020202020204" pitchFamily="34" charset="0"/>
              </a:rPr>
              <a:t> (V)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81E3336-2527-44A6-AF63-DC28CB8F92A5}"/>
              </a:ext>
            </a:extLst>
          </p:cNvPr>
          <p:cNvSpPr>
            <a:spLocks/>
          </p:cNvSpPr>
          <p:nvPr/>
        </p:nvSpPr>
        <p:spPr bwMode="auto">
          <a:xfrm>
            <a:off x="2955198" y="3608544"/>
            <a:ext cx="3497262" cy="1509713"/>
          </a:xfrm>
          <a:custGeom>
            <a:avLst/>
            <a:gdLst>
              <a:gd name="T0" fmla="*/ 19941589 w 1328"/>
              <a:gd name="T1" fmla="*/ 0 h 1015"/>
              <a:gd name="T2" fmla="*/ 19204286 w 1328"/>
              <a:gd name="T3" fmla="*/ 146 h 1015"/>
              <a:gd name="T4" fmla="*/ 17596826 w 1328"/>
              <a:gd name="T5" fmla="*/ 229 h 1015"/>
              <a:gd name="T6" fmla="*/ 13348989 w 1328"/>
              <a:gd name="T7" fmla="*/ 269 h 1015"/>
              <a:gd name="T8" fmla="*/ 9231333 w 1328"/>
              <a:gd name="T9" fmla="*/ 286 h 1015"/>
              <a:gd name="T10" fmla="*/ 0 w 1328"/>
              <a:gd name="T11" fmla="*/ 295 h 10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28"/>
              <a:gd name="T19" fmla="*/ 0 h 1015"/>
              <a:gd name="T20" fmla="*/ 1328 w 1328"/>
              <a:gd name="T21" fmla="*/ 1015 h 10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28" h="1015">
                <a:moveTo>
                  <a:pt x="1328" y="0"/>
                </a:moveTo>
                <a:cubicBezTo>
                  <a:pt x="1316" y="187"/>
                  <a:pt x="1305" y="375"/>
                  <a:pt x="1279" y="507"/>
                </a:cubicBezTo>
                <a:cubicBezTo>
                  <a:pt x="1253" y="639"/>
                  <a:pt x="1237" y="720"/>
                  <a:pt x="1172" y="790"/>
                </a:cubicBezTo>
                <a:cubicBezTo>
                  <a:pt x="1107" y="860"/>
                  <a:pt x="982" y="894"/>
                  <a:pt x="889" y="927"/>
                </a:cubicBezTo>
                <a:cubicBezTo>
                  <a:pt x="796" y="960"/>
                  <a:pt x="763" y="971"/>
                  <a:pt x="615" y="986"/>
                </a:cubicBezTo>
                <a:cubicBezTo>
                  <a:pt x="467" y="1001"/>
                  <a:pt x="233" y="1008"/>
                  <a:pt x="0" y="1015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/>
            <a:tailEnd type="non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118800" rIns="90000" bIns="118800" anchor="ctr" anchorCtr="1">
            <a:spAutoFit/>
          </a:bodyPr>
          <a:lstStyle/>
          <a:p>
            <a:endParaRPr lang="es-E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BDABC7E-9CE8-4049-A9BD-D0B495FF6ADD}"/>
              </a:ext>
            </a:extLst>
          </p:cNvPr>
          <p:cNvGrpSpPr/>
          <p:nvPr/>
        </p:nvGrpSpPr>
        <p:grpSpPr>
          <a:xfrm>
            <a:off x="6119688" y="4730907"/>
            <a:ext cx="469900" cy="793750"/>
            <a:chOff x="6130198" y="4905079"/>
            <a:chExt cx="469900" cy="793750"/>
          </a:xfrm>
        </p:grpSpPr>
        <p:sp>
          <p:nvSpPr>
            <p:cNvPr id="24" name="Line 37">
              <a:extLst>
                <a:ext uri="{FF2B5EF4-FFF2-40B4-BE49-F238E27FC236}">
                  <a16:creationId xmlns:a16="http://schemas.microsoft.com/office/drawing/2014/main" id="{0600E3CF-C9F6-47A4-9172-F9CC1FC4A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7848" y="4905079"/>
              <a:ext cx="0" cy="3095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5" name="Text Box 38">
              <a:extLst>
                <a:ext uri="{FF2B5EF4-FFF2-40B4-BE49-F238E27FC236}">
                  <a16:creationId xmlns:a16="http://schemas.microsoft.com/office/drawing/2014/main" id="{55FEA780-E628-444F-B022-8DEDCB416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0198" y="5155904"/>
              <a:ext cx="4699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U</a:t>
              </a:r>
              <a:endParaRPr lang="es-ES" sz="2000" b="1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1" name="Freeform 44">
            <a:extLst>
              <a:ext uri="{FF2B5EF4-FFF2-40B4-BE49-F238E27FC236}">
                <a16:creationId xmlns:a16="http://schemas.microsoft.com/office/drawing/2014/main" id="{91189706-AA19-49E9-9CA5-154CB26256A8}"/>
              </a:ext>
            </a:extLst>
          </p:cNvPr>
          <p:cNvSpPr>
            <a:spLocks/>
          </p:cNvSpPr>
          <p:nvPr/>
        </p:nvSpPr>
        <p:spPr bwMode="auto">
          <a:xfrm>
            <a:off x="2863123" y="5116669"/>
            <a:ext cx="119062" cy="1455738"/>
          </a:xfrm>
          <a:custGeom>
            <a:avLst/>
            <a:gdLst>
              <a:gd name="T0" fmla="*/ 75 w 75"/>
              <a:gd name="T1" fmla="*/ 0 h 917"/>
              <a:gd name="T2" fmla="*/ 21 w 75"/>
              <a:gd name="T3" fmla="*/ 42 h 917"/>
              <a:gd name="T4" fmla="*/ 21 w 75"/>
              <a:gd name="T5" fmla="*/ 160 h 917"/>
              <a:gd name="T6" fmla="*/ 0 w 75"/>
              <a:gd name="T7" fmla="*/ 917 h 917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917"/>
              <a:gd name="T14" fmla="*/ 75 w 75"/>
              <a:gd name="T15" fmla="*/ 917 h 9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917">
                <a:moveTo>
                  <a:pt x="75" y="0"/>
                </a:moveTo>
                <a:cubicBezTo>
                  <a:pt x="52" y="8"/>
                  <a:pt x="30" y="16"/>
                  <a:pt x="21" y="42"/>
                </a:cubicBezTo>
                <a:cubicBezTo>
                  <a:pt x="12" y="68"/>
                  <a:pt x="24" y="14"/>
                  <a:pt x="21" y="160"/>
                </a:cubicBezTo>
                <a:cubicBezTo>
                  <a:pt x="18" y="306"/>
                  <a:pt x="9" y="611"/>
                  <a:pt x="0" y="917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118800" rIns="90000" bIns="118800" anchorCtr="1">
            <a:spAutoFit/>
          </a:bodyPr>
          <a:lstStyle/>
          <a:p>
            <a:endParaRPr lang="es-ES"/>
          </a:p>
        </p:txBody>
      </p:sp>
      <p:sp>
        <p:nvSpPr>
          <p:cNvPr id="34" name="Line 46">
            <a:extLst>
              <a:ext uri="{FF2B5EF4-FFF2-40B4-BE49-F238E27FC236}">
                <a16:creationId xmlns:a16="http://schemas.microsoft.com/office/drawing/2014/main" id="{4668B9D7-BB62-405F-AB7F-4D57B213B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511" y="4692807"/>
            <a:ext cx="0" cy="30956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118800" rIns="90000" bIns="118800" anchor="ctr" anchorCtr="1">
            <a:spAutoFit/>
          </a:bodyPr>
          <a:lstStyle/>
          <a:p>
            <a:endParaRPr lang="es-ES"/>
          </a:p>
        </p:txBody>
      </p:sp>
      <p:sp>
        <p:nvSpPr>
          <p:cNvPr id="36" name="Text Box 47">
            <a:extLst>
              <a:ext uri="{FF2B5EF4-FFF2-40B4-BE49-F238E27FC236}">
                <a16:creationId xmlns:a16="http://schemas.microsoft.com/office/drawing/2014/main" id="{673BA61F-80B2-4A08-BFCA-18048AD7B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424" y="4138501"/>
            <a:ext cx="457032" cy="54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V</a:t>
            </a:r>
            <a:r>
              <a:rPr lang="es-ES" sz="2000" b="1" baseline="-25000">
                <a:solidFill>
                  <a:srgbClr val="008000"/>
                </a:solidFill>
                <a:latin typeface="Arial" panose="020B0604020202020204" pitchFamily="34" charset="0"/>
              </a:rPr>
              <a:t>Z</a:t>
            </a:r>
            <a:endParaRPr lang="es-ES" sz="20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7" name="Text Box 47">
            <a:extLst>
              <a:ext uri="{FF2B5EF4-FFF2-40B4-BE49-F238E27FC236}">
                <a16:creationId xmlns:a16="http://schemas.microsoft.com/office/drawing/2014/main" id="{A3632FA3-0463-469E-9952-5E4528C02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9001" y="3782599"/>
            <a:ext cx="476250" cy="54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000" b="1">
                <a:solidFill>
                  <a:srgbClr val="008000"/>
                </a:solidFill>
                <a:latin typeface="Arial" panose="020B0604020202020204" pitchFamily="34" charset="0"/>
              </a:rPr>
              <a:t>V</a:t>
            </a:r>
            <a:r>
              <a:rPr lang="es-ES" sz="2000" b="1" baseline="-25000">
                <a:solidFill>
                  <a:srgbClr val="008000"/>
                </a:solidFill>
                <a:latin typeface="Arial" panose="020B0604020202020204" pitchFamily="34" charset="0"/>
              </a:rPr>
              <a:t>R</a:t>
            </a:r>
            <a:endParaRPr lang="es-ES" sz="2000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" name="Text Box 26">
            <a:extLst>
              <a:ext uri="{FF2B5EF4-FFF2-40B4-BE49-F238E27FC236}">
                <a16:creationId xmlns:a16="http://schemas.microsoft.com/office/drawing/2014/main" id="{B09F2403-9488-85E3-627E-6B905CE14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337" y="426384"/>
            <a:ext cx="4312576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("</a:t>
            </a:r>
            <a:r>
              <a:rPr lang="es-ES" sz="2400" dirty="0" err="1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threshold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“ o “</a:t>
            </a:r>
            <a:r>
              <a:rPr lang="es-ES" sz="2400" dirty="0" err="1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knee</a:t>
            </a: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” –rodilla–)</a:t>
            </a:r>
          </a:p>
        </p:txBody>
      </p:sp>
    </p:spTree>
    <p:extLst>
      <p:ext uri="{BB962C8B-B14F-4D97-AF65-F5344CB8AC3E}">
        <p14:creationId xmlns:p14="http://schemas.microsoft.com/office/powerpoint/2010/main" val="20045372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 animBg="1"/>
      <p:bldP spid="60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4425844" y="445720"/>
            <a:ext cx="6027737" cy="3073402"/>
            <a:chOff x="3854" y="-1128"/>
            <a:chExt cx="3797" cy="1936"/>
          </a:xfrm>
        </p:grpSpPr>
        <p:sp>
          <p:nvSpPr>
            <p:cNvPr id="27672" name="Line 27"/>
            <p:cNvSpPr>
              <a:spLocks noChangeShapeType="1"/>
            </p:cNvSpPr>
            <p:nvPr/>
          </p:nvSpPr>
          <p:spPr bwMode="auto">
            <a:xfrm flipV="1">
              <a:off x="6142" y="-1019"/>
              <a:ext cx="0" cy="17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7673" name="Line 28"/>
            <p:cNvSpPr>
              <a:spLocks noChangeShapeType="1"/>
            </p:cNvSpPr>
            <p:nvPr/>
          </p:nvSpPr>
          <p:spPr bwMode="auto">
            <a:xfrm rot="-5400000">
              <a:off x="5632" y="-1886"/>
              <a:ext cx="10" cy="35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7674" name="Text Box 29"/>
            <p:cNvSpPr txBox="1">
              <a:spLocks noChangeArrowheads="1"/>
            </p:cNvSpPr>
            <p:nvPr/>
          </p:nvSpPr>
          <p:spPr bwMode="auto">
            <a:xfrm>
              <a:off x="5408" y="-1128"/>
              <a:ext cx="666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000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D</a:t>
              </a:r>
              <a:r>
                <a:rPr lang="es-ES" sz="2000" dirty="0">
                  <a:solidFill>
                    <a:srgbClr val="3333FF"/>
                  </a:solidFill>
                  <a:latin typeface="Arial" panose="020B0604020202020204" pitchFamily="34" charset="0"/>
                </a:rPr>
                <a:t> (mA)</a:t>
              </a:r>
            </a:p>
          </p:txBody>
        </p:sp>
        <p:sp>
          <p:nvSpPr>
            <p:cNvPr id="27675" name="Text Box 30"/>
            <p:cNvSpPr txBox="1">
              <a:spLocks noChangeArrowheads="1"/>
            </p:cNvSpPr>
            <p:nvPr/>
          </p:nvSpPr>
          <p:spPr bwMode="auto">
            <a:xfrm>
              <a:off x="7101" y="-120"/>
              <a:ext cx="550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3333FF"/>
                  </a:solidFill>
                  <a:latin typeface="Comic Sans MS" panose="030F0702030302020204" pitchFamily="66" charset="0"/>
                </a:rPr>
                <a:t>V</a:t>
              </a:r>
              <a:r>
                <a:rPr lang="es-ES" sz="2000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D</a:t>
              </a:r>
              <a:r>
                <a:rPr lang="es-ES" sz="2000">
                  <a:solidFill>
                    <a:srgbClr val="3333FF"/>
                  </a:solidFill>
                  <a:latin typeface="Arial" panose="020B0604020202020204" pitchFamily="34" charset="0"/>
                </a:rPr>
                <a:t> (V)</a:t>
              </a:r>
            </a:p>
          </p:txBody>
        </p:sp>
        <p:sp>
          <p:nvSpPr>
            <p:cNvPr id="27676" name="Freeform 31"/>
            <p:cNvSpPr>
              <a:spLocks/>
            </p:cNvSpPr>
            <p:nvPr/>
          </p:nvSpPr>
          <p:spPr bwMode="auto">
            <a:xfrm>
              <a:off x="4369" y="-903"/>
              <a:ext cx="2203" cy="951"/>
            </a:xfrm>
            <a:custGeom>
              <a:avLst/>
              <a:gdLst>
                <a:gd name="T0" fmla="*/ 19941589 w 1328"/>
                <a:gd name="T1" fmla="*/ 0 h 1015"/>
                <a:gd name="T2" fmla="*/ 19204286 w 1328"/>
                <a:gd name="T3" fmla="*/ 146 h 1015"/>
                <a:gd name="T4" fmla="*/ 17596826 w 1328"/>
                <a:gd name="T5" fmla="*/ 229 h 1015"/>
                <a:gd name="T6" fmla="*/ 13348989 w 1328"/>
                <a:gd name="T7" fmla="*/ 269 h 1015"/>
                <a:gd name="T8" fmla="*/ 9231333 w 1328"/>
                <a:gd name="T9" fmla="*/ 286 h 1015"/>
                <a:gd name="T10" fmla="*/ 0 w 1328"/>
                <a:gd name="T11" fmla="*/ 295 h 10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28"/>
                <a:gd name="T19" fmla="*/ 0 h 1015"/>
                <a:gd name="T20" fmla="*/ 1328 w 1328"/>
                <a:gd name="T21" fmla="*/ 1015 h 10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28" h="1015">
                  <a:moveTo>
                    <a:pt x="1328" y="0"/>
                  </a:moveTo>
                  <a:cubicBezTo>
                    <a:pt x="1316" y="187"/>
                    <a:pt x="1305" y="375"/>
                    <a:pt x="1279" y="507"/>
                  </a:cubicBezTo>
                  <a:cubicBezTo>
                    <a:pt x="1253" y="639"/>
                    <a:pt x="1237" y="720"/>
                    <a:pt x="1172" y="790"/>
                  </a:cubicBezTo>
                  <a:cubicBezTo>
                    <a:pt x="1107" y="860"/>
                    <a:pt x="982" y="894"/>
                    <a:pt x="889" y="927"/>
                  </a:cubicBezTo>
                  <a:cubicBezTo>
                    <a:pt x="796" y="960"/>
                    <a:pt x="763" y="971"/>
                    <a:pt x="615" y="986"/>
                  </a:cubicBezTo>
                  <a:cubicBezTo>
                    <a:pt x="467" y="1001"/>
                    <a:pt x="233" y="1008"/>
                    <a:pt x="0" y="1015"/>
                  </a:cubicBezTo>
                </a:path>
              </a:pathLst>
            </a:custGeom>
            <a:noFill/>
            <a:ln w="50800">
              <a:solidFill>
                <a:srgbClr val="008000"/>
              </a:solidFill>
              <a:round/>
              <a:headEnd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27682" name="Freeform 44"/>
            <p:cNvSpPr>
              <a:spLocks/>
            </p:cNvSpPr>
            <p:nvPr/>
          </p:nvSpPr>
          <p:spPr bwMode="auto">
            <a:xfrm>
              <a:off x="4311" y="50"/>
              <a:ext cx="75" cy="758"/>
            </a:xfrm>
            <a:custGeom>
              <a:avLst/>
              <a:gdLst>
                <a:gd name="T0" fmla="*/ 75 w 75"/>
                <a:gd name="T1" fmla="*/ 0 h 917"/>
                <a:gd name="T2" fmla="*/ 21 w 75"/>
                <a:gd name="T3" fmla="*/ 42 h 917"/>
                <a:gd name="T4" fmla="*/ 21 w 75"/>
                <a:gd name="T5" fmla="*/ 160 h 917"/>
                <a:gd name="T6" fmla="*/ 0 w 75"/>
                <a:gd name="T7" fmla="*/ 917 h 9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917"/>
                <a:gd name="T14" fmla="*/ 75 w 75"/>
                <a:gd name="T15" fmla="*/ 917 h 9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917">
                  <a:moveTo>
                    <a:pt x="75" y="0"/>
                  </a:moveTo>
                  <a:cubicBezTo>
                    <a:pt x="52" y="8"/>
                    <a:pt x="30" y="16"/>
                    <a:pt x="21" y="42"/>
                  </a:cubicBezTo>
                  <a:cubicBezTo>
                    <a:pt x="12" y="68"/>
                    <a:pt x="24" y="14"/>
                    <a:pt x="21" y="160"/>
                  </a:cubicBezTo>
                  <a:cubicBezTo>
                    <a:pt x="18" y="306"/>
                    <a:pt x="9" y="611"/>
                    <a:pt x="0" y="917"/>
                  </a:cubicBezTo>
                </a:path>
              </a:pathLst>
            </a:custGeom>
            <a:noFill/>
            <a:ln w="50800">
              <a:solidFill>
                <a:srgbClr val="008000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118800" rIns="90000" bIns="118800" anchorCtr="1">
              <a:spAutoFit/>
            </a:bodyPr>
            <a:lstStyle/>
            <a:p>
              <a:endParaRPr lang="es-ES"/>
            </a:p>
          </p:txBody>
        </p:sp>
        <p:sp>
          <p:nvSpPr>
            <p:cNvPr id="27683" name="Line 46"/>
            <p:cNvSpPr>
              <a:spLocks noChangeShapeType="1"/>
            </p:cNvSpPr>
            <p:nvPr/>
          </p:nvSpPr>
          <p:spPr bwMode="auto">
            <a:xfrm>
              <a:off x="4344" y="-220"/>
              <a:ext cx="0" cy="1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</p:grpSp>
      <p:sp>
        <p:nvSpPr>
          <p:cNvPr id="975920" name="Text Box 48"/>
          <p:cNvSpPr txBox="1">
            <a:spLocks noChangeArrowheads="1"/>
          </p:cNvSpPr>
          <p:nvPr/>
        </p:nvSpPr>
        <p:spPr bwMode="auto">
          <a:xfrm>
            <a:off x="1650144" y="2260383"/>
            <a:ext cx="1845566" cy="978584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Dispositivo no lineal</a:t>
            </a:r>
          </a:p>
        </p:txBody>
      </p:sp>
      <p:sp>
        <p:nvSpPr>
          <p:cNvPr id="975921" name="Text Box 49"/>
          <p:cNvSpPr txBox="1">
            <a:spLocks noChangeArrowheads="1"/>
          </p:cNvSpPr>
          <p:nvPr/>
        </p:nvSpPr>
        <p:spPr bwMode="auto">
          <a:xfrm>
            <a:off x="1325870" y="675447"/>
            <a:ext cx="2488480" cy="60925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/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R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 cte.</a:t>
            </a:r>
          </a:p>
        </p:txBody>
      </p: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3779732" y="2418377"/>
            <a:ext cx="6008688" cy="977900"/>
            <a:chOff x="856" y="3887"/>
            <a:chExt cx="3785" cy="616"/>
          </a:xfrm>
        </p:grpSpPr>
        <p:sp>
          <p:nvSpPr>
            <p:cNvPr id="27669" name="Text Box 50"/>
            <p:cNvSpPr txBox="1">
              <a:spLocks noChangeArrowheads="1"/>
            </p:cNvSpPr>
            <p:nvPr/>
          </p:nvSpPr>
          <p:spPr bwMode="auto">
            <a:xfrm>
              <a:off x="3804" y="3898"/>
              <a:ext cx="83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D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 k</a:t>
              </a:r>
            </a:p>
          </p:txBody>
        </p:sp>
        <p:sp>
          <p:nvSpPr>
            <p:cNvPr id="27670" name="Text Box 51"/>
            <p:cNvSpPr txBox="1">
              <a:spLocks noChangeArrowheads="1"/>
            </p:cNvSpPr>
            <p:nvPr/>
          </p:nvSpPr>
          <p:spPr bwMode="auto">
            <a:xfrm>
              <a:off x="856" y="3898"/>
              <a:ext cx="83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D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 k</a:t>
              </a:r>
            </a:p>
          </p:txBody>
        </p:sp>
        <p:sp>
          <p:nvSpPr>
            <p:cNvPr id="27671" name="Text Box 53"/>
            <p:cNvSpPr txBox="1">
              <a:spLocks noChangeArrowheads="1"/>
            </p:cNvSpPr>
            <p:nvPr/>
          </p:nvSpPr>
          <p:spPr bwMode="auto">
            <a:xfrm>
              <a:off x="1438" y="3887"/>
              <a:ext cx="2570" cy="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D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 M o 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G</a:t>
              </a:r>
            </a:p>
            <a:p>
              <a:pPr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                 (Ge)   (Si)          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4957209" y="976965"/>
            <a:ext cx="476250" cy="903288"/>
            <a:chOff x="2252790" y="4133083"/>
            <a:chExt cx="476711" cy="903802"/>
          </a:xfrm>
        </p:grpSpPr>
        <p:sp>
          <p:nvSpPr>
            <p:cNvPr id="27665" name="Text Box 47"/>
            <p:cNvSpPr txBox="1">
              <a:spLocks noChangeArrowheads="1"/>
            </p:cNvSpPr>
            <p:nvPr/>
          </p:nvSpPr>
          <p:spPr bwMode="auto">
            <a:xfrm>
              <a:off x="2265225" y="4489188"/>
              <a:ext cx="457474" cy="54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Z</a:t>
              </a:r>
              <a:endParaRPr lang="es-ES" sz="20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7666" name="Text Box 47"/>
            <p:cNvSpPr txBox="1">
              <a:spLocks noChangeArrowheads="1"/>
            </p:cNvSpPr>
            <p:nvPr/>
          </p:nvSpPr>
          <p:spPr bwMode="auto">
            <a:xfrm>
              <a:off x="2252790" y="4133083"/>
              <a:ext cx="476711" cy="547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endParaRPr lang="es-ES" sz="2000" b="1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8" name="Grupo 7"/>
          <p:cNvGrpSpPr>
            <a:grpSpLocks/>
          </p:cNvGrpSpPr>
          <p:nvPr/>
        </p:nvGrpSpPr>
        <p:grpSpPr bwMode="auto">
          <a:xfrm>
            <a:off x="3875778" y="3930742"/>
            <a:ext cx="5884862" cy="980389"/>
            <a:chOff x="1396998" y="2876550"/>
            <a:chExt cx="5884862" cy="979687"/>
          </a:xfrm>
        </p:grpSpPr>
        <p:grpSp>
          <p:nvGrpSpPr>
            <p:cNvPr id="27659" name="Group 61"/>
            <p:cNvGrpSpPr>
              <a:grpSpLocks/>
            </p:cNvGrpSpPr>
            <p:nvPr/>
          </p:nvGrpSpPr>
          <p:grpSpPr bwMode="auto">
            <a:xfrm>
              <a:off x="1396998" y="2876550"/>
              <a:ext cx="5884862" cy="542925"/>
              <a:chOff x="880" y="1962"/>
              <a:chExt cx="3707" cy="342"/>
            </a:xfrm>
          </p:grpSpPr>
          <p:sp>
            <p:nvSpPr>
              <p:cNvPr id="27661" name="Line 58"/>
              <p:cNvSpPr>
                <a:spLocks noChangeShapeType="1"/>
              </p:cNvSpPr>
              <p:nvPr/>
            </p:nvSpPr>
            <p:spPr bwMode="auto">
              <a:xfrm flipV="1">
                <a:off x="1734" y="2127"/>
                <a:ext cx="1996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tIns="118800" bIns="118800"/>
              <a:lstStyle/>
              <a:p>
                <a:endParaRPr lang="es-ES"/>
              </a:p>
            </p:txBody>
          </p:sp>
          <p:sp>
            <p:nvSpPr>
              <p:cNvPr id="27662" name="Text Box 45"/>
              <p:cNvSpPr txBox="1">
                <a:spLocks noChangeArrowheads="1"/>
              </p:cNvSpPr>
              <p:nvPr/>
            </p:nvSpPr>
            <p:spPr bwMode="auto">
              <a:xfrm>
                <a:off x="880" y="1964"/>
                <a:ext cx="846" cy="338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54000" tIns="82800" rIns="54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Conduce</a:t>
                </a:r>
              </a:p>
            </p:txBody>
          </p:sp>
          <p:sp>
            <p:nvSpPr>
              <p:cNvPr id="27663" name="Text Box 41"/>
              <p:cNvSpPr txBox="1">
                <a:spLocks noChangeArrowheads="1"/>
              </p:cNvSpPr>
              <p:nvPr/>
            </p:nvSpPr>
            <p:spPr bwMode="auto">
              <a:xfrm>
                <a:off x="2033" y="1962"/>
                <a:ext cx="1242" cy="338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54000" tIns="82800" rIns="54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"No" conduce</a:t>
                </a:r>
              </a:p>
            </p:txBody>
          </p:sp>
          <p:sp>
            <p:nvSpPr>
              <p:cNvPr id="27664" name="Text Box 42"/>
              <p:cNvSpPr txBox="1">
                <a:spLocks noChangeArrowheads="1"/>
              </p:cNvSpPr>
              <p:nvPr/>
            </p:nvSpPr>
            <p:spPr bwMode="auto">
              <a:xfrm>
                <a:off x="3741" y="1966"/>
                <a:ext cx="846" cy="338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54000" tIns="82800" rIns="54000" bIns="82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Conduce</a:t>
                </a:r>
              </a:p>
            </p:txBody>
          </p:sp>
        </p:grpSp>
        <p:sp>
          <p:nvSpPr>
            <p:cNvPr id="27660" name="CuadroTexto 4"/>
            <p:cNvSpPr txBox="1">
              <a:spLocks noChangeArrowheads="1"/>
            </p:cNvSpPr>
            <p:nvPr/>
          </p:nvSpPr>
          <p:spPr bwMode="auto">
            <a:xfrm>
              <a:off x="3341127" y="3394905"/>
              <a:ext cx="1669047" cy="461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s-ES" sz="2400" dirty="0">
                  <a:solidFill>
                    <a:srgbClr val="FF0000"/>
                  </a:solidFill>
                </a:rPr>
                <a:t>(</a:t>
              </a:r>
              <a:r>
                <a:rPr lang="es-ES" sz="24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</a:t>
              </a:r>
              <a:r>
                <a:rPr lang="es-ES" sz="2400" baseline="-25000" dirty="0">
                  <a:solidFill>
                    <a:srgbClr val="FF0000"/>
                  </a:solidFill>
                </a:rPr>
                <a:t>D </a:t>
              </a:r>
              <a:r>
                <a:rPr lang="es-ES" sz="2400" dirty="0">
                  <a:solidFill>
                    <a:srgbClr val="FF0000"/>
                  </a:solidFill>
                </a:rPr>
                <a:t>&lt;&lt; </a:t>
              </a:r>
              <a:r>
                <a:rPr lang="es-ES" sz="2400" dirty="0" err="1">
                  <a:solidFill>
                    <a:srgbClr val="FF0000"/>
                  </a:solidFill>
                </a:rPr>
                <a:t>mA</a:t>
              </a:r>
              <a:r>
                <a:rPr lang="es-ES" sz="2400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sp>
        <p:nvSpPr>
          <p:cNvPr id="32" name="AutoShape 9"/>
          <p:cNvSpPr>
            <a:spLocks noChangeArrowheads="1"/>
          </p:cNvSpPr>
          <p:nvPr/>
        </p:nvSpPr>
        <p:spPr bwMode="auto">
          <a:xfrm rot="5400000">
            <a:off x="2207292" y="1521845"/>
            <a:ext cx="725635" cy="542956"/>
          </a:xfrm>
          <a:prstGeom prst="rightArrow">
            <a:avLst>
              <a:gd name="adj1" fmla="val 49704"/>
              <a:gd name="adj2" fmla="val 51463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Text Box 18">
            <a:extLst>
              <a:ext uri="{FF2B5EF4-FFF2-40B4-BE49-F238E27FC236}">
                <a16:creationId xmlns:a16="http://schemas.microsoft.com/office/drawing/2014/main" id="{A0760EB2-9392-428D-BE22-B3E7D0C20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6226" y="5282715"/>
            <a:ext cx="8843687" cy="13479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80000" tIns="118800" rIns="18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</a:t>
            </a:r>
            <a:r>
              <a:rPr lang="es-ES" sz="2400" dirty="0" err="1">
                <a:latin typeface="Arial" panose="020B0604020202020204" pitchFamily="34" charset="0"/>
              </a:rPr>
              <a:t>ddp</a:t>
            </a:r>
            <a:r>
              <a:rPr lang="es-ES" sz="2400" dirty="0">
                <a:latin typeface="Arial" panose="020B0604020202020204" pitchFamily="34" charset="0"/>
              </a:rPr>
              <a:t> aplicada a un diodo, </a:t>
            </a:r>
            <a:r>
              <a:rPr lang="es-ES" sz="2400" b="1" dirty="0">
                <a:latin typeface="Arial" panose="020B0604020202020204" pitchFamily="34" charset="0"/>
              </a:rPr>
              <a:t>V</a:t>
            </a:r>
            <a:r>
              <a:rPr lang="es-ES" sz="2400" b="1" baseline="-25000" dirty="0">
                <a:latin typeface="Arial" panose="020B0604020202020204" pitchFamily="34" charset="0"/>
              </a:rPr>
              <a:t>D</a:t>
            </a:r>
            <a:r>
              <a:rPr lang="es-ES" sz="2400" dirty="0">
                <a:latin typeface="Arial" panose="020B0604020202020204" pitchFamily="34" charset="0"/>
              </a:rPr>
              <a:t>, es mayor que la que se aplica a la unión, que es la que aparece en la </a:t>
            </a:r>
            <a:r>
              <a:rPr lang="es-ES" sz="2400" dirty="0" err="1">
                <a:solidFill>
                  <a:srgbClr val="008000"/>
                </a:solidFill>
                <a:latin typeface="Arial" panose="020B0604020202020204" pitchFamily="34" charset="0"/>
              </a:rPr>
              <a:t>ec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. de Shockley</a:t>
            </a:r>
            <a:r>
              <a:rPr lang="es-ES" sz="2400" dirty="0">
                <a:latin typeface="Arial" panose="020B0604020202020204" pitchFamily="34" charset="0"/>
              </a:rPr>
              <a:t>, porque el semiconductor </a:t>
            </a:r>
            <a:r>
              <a:rPr lang="es-ES" sz="2400">
                <a:latin typeface="Arial" panose="020B0604020202020204" pitchFamily="34" charset="0"/>
              </a:rPr>
              <a:t>tiene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resistencia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6CABF2D-B3D9-4B69-9706-723A66DEBFAF}"/>
              </a:ext>
            </a:extLst>
          </p:cNvPr>
          <p:cNvGrpSpPr/>
          <p:nvPr/>
        </p:nvGrpSpPr>
        <p:grpSpPr>
          <a:xfrm>
            <a:off x="8196138" y="1976095"/>
            <a:ext cx="469900" cy="658961"/>
            <a:chOff x="6130198" y="4896993"/>
            <a:chExt cx="469900" cy="658961"/>
          </a:xfrm>
        </p:grpSpPr>
        <p:sp>
          <p:nvSpPr>
            <p:cNvPr id="30" name="Line 37">
              <a:extLst>
                <a:ext uri="{FF2B5EF4-FFF2-40B4-BE49-F238E27FC236}">
                  <a16:creationId xmlns:a16="http://schemas.microsoft.com/office/drawing/2014/main" id="{7D190F8B-05BE-47B3-82A6-2B1508E80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7848" y="4896993"/>
              <a:ext cx="0" cy="21143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31" name="Text Box 38">
              <a:extLst>
                <a:ext uri="{FF2B5EF4-FFF2-40B4-BE49-F238E27FC236}">
                  <a16:creationId xmlns:a16="http://schemas.microsoft.com/office/drawing/2014/main" id="{6FF8D70A-6CD3-4B50-A5D4-3D814979D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0198" y="5013029"/>
              <a:ext cx="4699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U</a:t>
              </a:r>
              <a:endParaRPr lang="es-ES" sz="2000" b="1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9667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5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75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75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5920" grpId="0" animBg="1"/>
      <p:bldP spid="975921" grpId="0" animBg="1"/>
      <p:bldP spid="32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/>
        </p:nvGrpSpPr>
        <p:grpSpPr>
          <a:xfrm>
            <a:off x="3842239" y="3226479"/>
            <a:ext cx="3852809" cy="704850"/>
            <a:chOff x="5710370" y="3058578"/>
            <a:chExt cx="3852809" cy="704850"/>
          </a:xfrm>
        </p:grpSpPr>
        <p:sp>
          <p:nvSpPr>
            <p:cNvPr id="3" name="Rectángulo 2"/>
            <p:cNvSpPr/>
            <p:nvPr/>
          </p:nvSpPr>
          <p:spPr bwMode="auto">
            <a:xfrm>
              <a:off x="5710370" y="3058578"/>
              <a:ext cx="3852809" cy="704850"/>
            </a:xfrm>
            <a:prstGeom prst="rect">
              <a:avLst/>
            </a:prstGeom>
            <a:solidFill>
              <a:srgbClr val="99CC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aphicFrame>
          <p:nvGraphicFramePr>
            <p:cNvPr id="31768" name="Object 1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2436657"/>
                </p:ext>
              </p:extLst>
            </p:nvPr>
          </p:nvGraphicFramePr>
          <p:xfrm>
            <a:off x="5842349" y="3150749"/>
            <a:ext cx="3636750" cy="484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714500" imgH="228600" progId="Equation.3">
                    <p:embed/>
                  </p:oleObj>
                </mc:Choice>
                <mc:Fallback>
                  <p:oleObj name="Ecuación" r:id="rId3" imgW="1714500" imgH="228600" progId="Equation.3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2349" y="3150749"/>
                          <a:ext cx="3636750" cy="484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" name="98 CuadroTexto"/>
          <p:cNvSpPr txBox="1"/>
          <p:nvPr/>
        </p:nvSpPr>
        <p:spPr>
          <a:xfrm>
            <a:off x="1292773" y="1213043"/>
            <a:ext cx="8965323" cy="956773"/>
          </a:xfrm>
          <a:prstGeom prst="rect">
            <a:avLst/>
          </a:prstGeom>
          <a:solidFill>
            <a:srgbClr val="FFFFFF"/>
          </a:solidFill>
        </p:spPr>
        <p:txBody>
          <a:bodyPr wrap="square" lIns="108000" tIns="108000" rIns="108000" bIns="108000" anchor="ctr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latin typeface="Arial" charset="0"/>
              </a:rPr>
              <a:t>A la hora de resolver un circuito con diodos, </a:t>
            </a:r>
            <a:r>
              <a:rPr lang="es-ES" sz="2400" dirty="0">
                <a:solidFill>
                  <a:schemeClr val="tx1"/>
                </a:solidFill>
              </a:rPr>
              <a:t>hay que emplear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</a:rPr>
              <a:t>la ecuación que describa su comportamiento</a:t>
            </a:r>
            <a:endParaRPr lang="es-ES" sz="24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9714" name="101 CuadroTexto"/>
          <p:cNvSpPr txBox="1">
            <a:spLocks noChangeArrowheads="1"/>
          </p:cNvSpPr>
          <p:nvPr/>
        </p:nvSpPr>
        <p:spPr bwMode="auto">
          <a:xfrm>
            <a:off x="2247391" y="5714557"/>
            <a:ext cx="1794081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Alternativas</a:t>
            </a:r>
          </a:p>
        </p:txBody>
      </p:sp>
      <p:sp>
        <p:nvSpPr>
          <p:cNvPr id="29715" name="102 CuadroTexto"/>
          <p:cNvSpPr txBox="1">
            <a:spLocks noChangeArrowheads="1"/>
          </p:cNvSpPr>
          <p:nvPr/>
        </p:nvSpPr>
        <p:spPr bwMode="auto">
          <a:xfrm>
            <a:off x="4776437" y="5215766"/>
            <a:ext cx="434823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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Resolver gráficamente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  el sistema de ecuaciones</a:t>
            </a:r>
          </a:p>
        </p:txBody>
      </p:sp>
      <p:sp>
        <p:nvSpPr>
          <p:cNvPr id="29716" name="103 CuadroTexto"/>
          <p:cNvSpPr txBox="1">
            <a:spLocks noChangeArrowheads="1"/>
          </p:cNvSpPr>
          <p:nvPr/>
        </p:nvSpPr>
        <p:spPr bwMode="auto">
          <a:xfrm>
            <a:off x="4755416" y="6016654"/>
            <a:ext cx="46214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</a:t>
            </a: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Aproximar el comportamiento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    del diodo a un modelo lineal</a:t>
            </a:r>
          </a:p>
        </p:txBody>
      </p:sp>
      <p:sp>
        <p:nvSpPr>
          <p:cNvPr id="29717" name="104 Abrir llave"/>
          <p:cNvSpPr>
            <a:spLocks/>
          </p:cNvSpPr>
          <p:nvPr/>
        </p:nvSpPr>
        <p:spPr bwMode="auto">
          <a:xfrm>
            <a:off x="4275420" y="5221692"/>
            <a:ext cx="328612" cy="1574157"/>
          </a:xfrm>
          <a:prstGeom prst="leftBrace">
            <a:avLst>
              <a:gd name="adj1" fmla="val 8348"/>
              <a:gd name="adj2" fmla="val 50000"/>
            </a:avLst>
          </a:prstGeom>
          <a:noFill/>
          <a:ln w="381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118800" bIns="118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1421998" y="4333634"/>
            <a:ext cx="8709471" cy="5874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chemeClr val="tx1"/>
                </a:solidFill>
              </a:rPr>
              <a:t>El comportamiento </a:t>
            </a:r>
            <a:r>
              <a:rPr lang="es-ES" sz="2400">
                <a:solidFill>
                  <a:srgbClr val="FF0000"/>
                </a:solidFill>
              </a:rPr>
              <a:t>no lineal</a:t>
            </a:r>
            <a:r>
              <a:rPr lang="es-ES" sz="2400">
                <a:solidFill>
                  <a:schemeClr val="tx1"/>
                </a:solidFill>
              </a:rPr>
              <a:t> supone una dificultad matemática</a:t>
            </a:r>
          </a:p>
        </p:txBody>
      </p:sp>
      <p:sp>
        <p:nvSpPr>
          <p:cNvPr id="29" name="98 CuadroTexto"/>
          <p:cNvSpPr txBox="1"/>
          <p:nvPr/>
        </p:nvSpPr>
        <p:spPr>
          <a:xfrm>
            <a:off x="3204984" y="407988"/>
            <a:ext cx="5265738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lIns="108000" tIns="108000" rIns="108000" bIns="108000" anchor="ctr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  <a:latin typeface="Arial" charset="0"/>
              </a:rPr>
              <a:t>MODELIZACIÓN DE UN DIODO</a:t>
            </a:r>
            <a:endParaRPr lang="es-ES" sz="24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3" name="98 CuadroTexto"/>
          <p:cNvSpPr txBox="1"/>
          <p:nvPr/>
        </p:nvSpPr>
        <p:spPr>
          <a:xfrm>
            <a:off x="1292773" y="2402697"/>
            <a:ext cx="8965324" cy="461665"/>
          </a:xfrm>
          <a:prstGeom prst="rect">
            <a:avLst/>
          </a:prstGeom>
          <a:solidFill>
            <a:srgbClr val="FFFFFF"/>
          </a:solidFill>
        </p:spPr>
        <p:txBody>
          <a:bodyPr wrap="square" anchor="ctr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s-ES" sz="2400">
                <a:solidFill>
                  <a:schemeClr val="tx1"/>
                </a:solidFill>
              </a:rPr>
              <a:t>En una primera aproximación, </a:t>
            </a:r>
            <a:r>
              <a:rPr lang="es-ES" sz="2400" dirty="0">
                <a:solidFill>
                  <a:schemeClr val="tx1"/>
                </a:solidFill>
              </a:rPr>
              <a:t>esa </a:t>
            </a:r>
            <a:r>
              <a:rPr lang="es-ES" sz="2400">
                <a:solidFill>
                  <a:schemeClr val="tx1"/>
                </a:solidFill>
              </a:rPr>
              <a:t>ecuación es </a:t>
            </a:r>
            <a:r>
              <a:rPr lang="es-ES" sz="2400" dirty="0">
                <a:solidFill>
                  <a:schemeClr val="tx1"/>
                </a:solidFill>
              </a:rPr>
              <a:t>la de Shockley</a:t>
            </a:r>
            <a:endParaRPr lang="es-ES" sz="2400" dirty="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29714" grpId="0" animBg="1"/>
      <p:bldP spid="29715" grpId="0"/>
      <p:bldP spid="29716" grpId="0"/>
      <p:bldP spid="29717" grpId="0" animBg="1"/>
      <p:bldP spid="2" grpId="0" animBg="1"/>
      <p:bldP spid="29" grpId="0" animBg="1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adroTexto 83"/>
          <p:cNvSpPr txBox="1"/>
          <p:nvPr/>
        </p:nvSpPr>
        <p:spPr>
          <a:xfrm>
            <a:off x="2167471" y="1321445"/>
            <a:ext cx="7179732" cy="120032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es-ES" sz="2400" dirty="0"/>
              <a:t>Obtener el valor de la corriente que circula por la malla y la caída de potencial que hay tanto en </a:t>
            </a:r>
            <a:r>
              <a:rPr lang="es-ES" sz="2400"/>
              <a:t>el diodo rectificador de silicio </a:t>
            </a:r>
            <a:r>
              <a:rPr lang="es-ES" sz="2400" dirty="0"/>
              <a:t>como en la resistencia </a:t>
            </a:r>
          </a:p>
        </p:txBody>
      </p:sp>
      <p:sp>
        <p:nvSpPr>
          <p:cNvPr id="34" name="98 CuadroTexto">
            <a:extLst>
              <a:ext uri="{FF2B5EF4-FFF2-40B4-BE49-F238E27FC236}">
                <a16:creationId xmlns:a16="http://schemas.microsoft.com/office/drawing/2014/main" id="{0EB50916-D027-42D2-923A-A5FBCB736B57}"/>
              </a:ext>
            </a:extLst>
          </p:cNvPr>
          <p:cNvSpPr txBox="1"/>
          <p:nvPr/>
        </p:nvSpPr>
        <p:spPr>
          <a:xfrm>
            <a:off x="1828800" y="412564"/>
            <a:ext cx="7865068" cy="58744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 lIns="108000" tIns="108000" rIns="108000" bIns="108000" anchor="ctr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es-ES" sz="2400" dirty="0">
                <a:solidFill>
                  <a:schemeClr val="tx1"/>
                </a:solidFill>
                <a:latin typeface="Arial" charset="0"/>
              </a:rPr>
              <a:t>Veamos ambas estrategias aplicada a un ejemplo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5209BF4-ADA3-4C82-9C5A-0C170BFB195B}"/>
              </a:ext>
            </a:extLst>
          </p:cNvPr>
          <p:cNvGrpSpPr/>
          <p:nvPr/>
        </p:nvGrpSpPr>
        <p:grpSpPr>
          <a:xfrm>
            <a:off x="2528576" y="3169570"/>
            <a:ext cx="2727325" cy="2925092"/>
            <a:chOff x="2110368" y="3325065"/>
            <a:chExt cx="2727325" cy="2925092"/>
          </a:xfrm>
        </p:grpSpPr>
        <p:sp>
          <p:nvSpPr>
            <p:cNvPr id="44036" name="Line 4"/>
            <p:cNvSpPr>
              <a:spLocks noChangeShapeType="1"/>
            </p:cNvSpPr>
            <p:nvPr/>
          </p:nvSpPr>
          <p:spPr bwMode="auto">
            <a:xfrm>
              <a:off x="2135768" y="3594940"/>
              <a:ext cx="26797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4037" name="Rectangle 5"/>
            <p:cNvSpPr>
              <a:spLocks noChangeArrowheads="1"/>
            </p:cNvSpPr>
            <p:nvPr/>
          </p:nvSpPr>
          <p:spPr bwMode="auto">
            <a:xfrm>
              <a:off x="3731205" y="3455240"/>
              <a:ext cx="744538" cy="279400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38" name="Line 6"/>
            <p:cNvSpPr>
              <a:spLocks noChangeShapeType="1"/>
            </p:cNvSpPr>
            <p:nvPr/>
          </p:nvSpPr>
          <p:spPr bwMode="auto">
            <a:xfrm>
              <a:off x="2135768" y="5034803"/>
              <a:ext cx="26797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4039" name="Line 7"/>
            <p:cNvSpPr>
              <a:spLocks noChangeShapeType="1"/>
            </p:cNvSpPr>
            <p:nvPr/>
          </p:nvSpPr>
          <p:spPr bwMode="auto">
            <a:xfrm rot="16200000" flipH="1">
              <a:off x="1382499" y="4310109"/>
              <a:ext cx="145573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44040" name="Text Box 8"/>
            <p:cNvSpPr txBox="1">
              <a:spLocks noChangeArrowheads="1"/>
            </p:cNvSpPr>
            <p:nvPr/>
          </p:nvSpPr>
          <p:spPr bwMode="auto">
            <a:xfrm>
              <a:off x="3907418" y="3325065"/>
              <a:ext cx="36512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44041" name="Text Box 9"/>
            <p:cNvSpPr txBox="1">
              <a:spLocks noChangeArrowheads="1"/>
            </p:cNvSpPr>
            <p:nvPr/>
          </p:nvSpPr>
          <p:spPr bwMode="auto">
            <a:xfrm>
              <a:off x="3237493" y="4206922"/>
              <a:ext cx="314325" cy="603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4042" name="Line 10"/>
            <p:cNvSpPr>
              <a:spLocks noChangeShapeType="1"/>
            </p:cNvSpPr>
            <p:nvPr/>
          </p:nvSpPr>
          <p:spPr bwMode="auto">
            <a:xfrm rot="16200000" flipH="1">
              <a:off x="4109824" y="4313284"/>
              <a:ext cx="145573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grpSp>
          <p:nvGrpSpPr>
            <p:cNvPr id="9" name="Group 11"/>
            <p:cNvGrpSpPr>
              <a:grpSpLocks/>
            </p:cNvGrpSpPr>
            <p:nvPr/>
          </p:nvGrpSpPr>
          <p:grpSpPr bwMode="auto">
            <a:xfrm rot="-5400000">
              <a:off x="2705680" y="3434603"/>
              <a:ext cx="357188" cy="309562"/>
              <a:chOff x="2869" y="1923"/>
              <a:chExt cx="225" cy="195"/>
            </a:xfrm>
          </p:grpSpPr>
          <p:sp>
            <p:nvSpPr>
              <p:cNvPr id="44076" name="AutoShape 12"/>
              <p:cNvSpPr>
                <a:spLocks noChangeArrowheads="1"/>
              </p:cNvSpPr>
              <p:nvPr/>
            </p:nvSpPr>
            <p:spPr bwMode="auto">
              <a:xfrm flipV="1">
                <a:off x="2869" y="1923"/>
                <a:ext cx="224" cy="195"/>
              </a:xfrm>
              <a:prstGeom prst="triangle">
                <a:avLst>
                  <a:gd name="adj" fmla="val 50000"/>
                </a:avLst>
              </a:prstGeom>
              <a:solidFill>
                <a:srgbClr val="EDE7E3"/>
              </a:solidFill>
              <a:ln w="25400" algn="ctr">
                <a:solidFill>
                  <a:srgbClr val="0000FF"/>
                </a:solidFill>
                <a:miter lim="800000"/>
                <a:headEnd/>
                <a:tailEnd type="none" w="lg" len="lg"/>
              </a:ln>
            </p:spPr>
            <p:txBody>
              <a:bodyPr rot="10800000" vert="eaVert"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77" name="Line 13"/>
              <p:cNvSpPr>
                <a:spLocks noChangeShapeType="1"/>
              </p:cNvSpPr>
              <p:nvPr/>
            </p:nvSpPr>
            <p:spPr bwMode="auto">
              <a:xfrm>
                <a:off x="2869" y="2118"/>
                <a:ext cx="22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  <p:grpSp>
          <p:nvGrpSpPr>
            <p:cNvPr id="44044" name="Group 14"/>
            <p:cNvGrpSpPr>
              <a:grpSpLocks/>
            </p:cNvGrpSpPr>
            <p:nvPr/>
          </p:nvGrpSpPr>
          <p:grpSpPr bwMode="auto">
            <a:xfrm>
              <a:off x="3354968" y="4844303"/>
              <a:ext cx="107950" cy="360362"/>
              <a:chOff x="2047" y="2056"/>
              <a:chExt cx="68" cy="227"/>
            </a:xfrm>
          </p:grpSpPr>
          <p:sp>
            <p:nvSpPr>
              <p:cNvPr id="44073" name="Rectangle 15"/>
              <p:cNvSpPr>
                <a:spLocks noChangeArrowheads="1"/>
              </p:cNvSpPr>
              <p:nvPr/>
            </p:nvSpPr>
            <p:spPr bwMode="auto">
              <a:xfrm>
                <a:off x="2047" y="2070"/>
                <a:ext cx="68" cy="203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074" name="Line 16"/>
              <p:cNvSpPr>
                <a:spLocks noChangeShapeType="1"/>
              </p:cNvSpPr>
              <p:nvPr/>
            </p:nvSpPr>
            <p:spPr bwMode="auto">
              <a:xfrm rot="-5400000">
                <a:off x="1939" y="2170"/>
                <a:ext cx="22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44075" name="Line 17"/>
              <p:cNvSpPr>
                <a:spLocks noChangeShapeType="1"/>
              </p:cNvSpPr>
              <p:nvPr/>
            </p:nvSpPr>
            <p:spPr bwMode="auto">
              <a:xfrm rot="-5400000">
                <a:off x="2042" y="2173"/>
                <a:ext cx="11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  <p:sp>
          <p:nvSpPr>
            <p:cNvPr id="95" name="Line 13"/>
            <p:cNvSpPr>
              <a:spLocks noChangeShapeType="1"/>
            </p:cNvSpPr>
            <p:nvPr/>
          </p:nvSpPr>
          <p:spPr bwMode="auto">
            <a:xfrm>
              <a:off x="3907418" y="5226882"/>
              <a:ext cx="3571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6" name="Line 13"/>
            <p:cNvSpPr>
              <a:spLocks noChangeShapeType="1"/>
            </p:cNvSpPr>
            <p:nvPr/>
          </p:nvSpPr>
          <p:spPr bwMode="auto">
            <a:xfrm>
              <a:off x="3988516" y="5279892"/>
              <a:ext cx="20162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7" name="Line 13"/>
            <p:cNvSpPr>
              <a:spLocks noChangeShapeType="1"/>
            </p:cNvSpPr>
            <p:nvPr/>
          </p:nvSpPr>
          <p:spPr bwMode="auto">
            <a:xfrm>
              <a:off x="4030046" y="5342841"/>
              <a:ext cx="12519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8" name="Line 13"/>
            <p:cNvSpPr>
              <a:spLocks noChangeShapeType="1"/>
            </p:cNvSpPr>
            <p:nvPr/>
          </p:nvSpPr>
          <p:spPr bwMode="auto">
            <a:xfrm rot="16200000">
              <a:off x="3981892" y="5134119"/>
              <a:ext cx="20162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35" name="Text Box 73">
              <a:extLst>
                <a:ext uri="{FF2B5EF4-FFF2-40B4-BE49-F238E27FC236}">
                  <a16:creationId xmlns:a16="http://schemas.microsoft.com/office/drawing/2014/main" id="{4D668902-F0AB-430C-899E-C99F38A1F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007" y="5640905"/>
              <a:ext cx="991275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2 V</a:t>
              </a:r>
            </a:p>
          </p:txBody>
        </p:sp>
        <p:sp>
          <p:nvSpPr>
            <p:cNvPr id="36" name="Text Box 74">
              <a:extLst>
                <a:ext uri="{FF2B5EF4-FFF2-40B4-BE49-F238E27FC236}">
                  <a16:creationId xmlns:a16="http://schemas.microsoft.com/office/drawing/2014/main" id="{FFE49B6B-BC57-4A5A-A5A7-8EFB99A05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3113" y="5693068"/>
              <a:ext cx="12700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R = 1 k</a:t>
              </a:r>
            </a:p>
          </p:txBody>
        </p:sp>
      </p:grpSp>
      <p:grpSp>
        <p:nvGrpSpPr>
          <p:cNvPr id="100" name="Grupo 99">
            <a:extLst>
              <a:ext uri="{FF2B5EF4-FFF2-40B4-BE49-F238E27FC236}">
                <a16:creationId xmlns:a16="http://schemas.microsoft.com/office/drawing/2014/main" id="{9B953EB2-2614-4F19-BCDB-21881D51A65E}"/>
              </a:ext>
            </a:extLst>
          </p:cNvPr>
          <p:cNvGrpSpPr/>
          <p:nvPr/>
        </p:nvGrpSpPr>
        <p:grpSpPr>
          <a:xfrm>
            <a:off x="2104888" y="3869767"/>
            <a:ext cx="3508359" cy="547968"/>
            <a:chOff x="1686680" y="4025262"/>
            <a:chExt cx="3508359" cy="547968"/>
          </a:xfrm>
        </p:grpSpPr>
        <p:grpSp>
          <p:nvGrpSpPr>
            <p:cNvPr id="102" name="Grupo 101">
              <a:extLst>
                <a:ext uri="{FF2B5EF4-FFF2-40B4-BE49-F238E27FC236}">
                  <a16:creationId xmlns:a16="http://schemas.microsoft.com/office/drawing/2014/main" id="{9C025103-1EC7-469D-BDD9-DD37E2EAAF47}"/>
                </a:ext>
              </a:extLst>
            </p:cNvPr>
            <p:cNvGrpSpPr/>
            <p:nvPr/>
          </p:nvGrpSpPr>
          <p:grpSpPr>
            <a:xfrm>
              <a:off x="4837693" y="4025262"/>
              <a:ext cx="357346" cy="547968"/>
              <a:chOff x="4193809" y="4387931"/>
              <a:chExt cx="357346" cy="547968"/>
            </a:xfrm>
          </p:grpSpPr>
          <p:sp>
            <p:nvSpPr>
              <p:cNvPr id="106" name="Line 72">
                <a:extLst>
                  <a:ext uri="{FF2B5EF4-FFF2-40B4-BE49-F238E27FC236}">
                    <a16:creationId xmlns:a16="http://schemas.microsoft.com/office/drawing/2014/main" id="{034396DA-1F4E-4709-B15B-738DD8CA1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809" y="4539625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07" name="Text Box 111">
                <a:extLst>
                  <a:ext uri="{FF2B5EF4-FFF2-40B4-BE49-F238E27FC236}">
                    <a16:creationId xmlns:a16="http://schemas.microsoft.com/office/drawing/2014/main" id="{81908FDC-C832-4C7C-9359-F9BF3CE61E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7028" y="4387931"/>
                <a:ext cx="324127" cy="5479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endParaRPr lang="es-ES" baseline="-25000" dirty="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03" name="Grupo 102">
              <a:extLst>
                <a:ext uri="{FF2B5EF4-FFF2-40B4-BE49-F238E27FC236}">
                  <a16:creationId xmlns:a16="http://schemas.microsoft.com/office/drawing/2014/main" id="{30C1485E-7F13-4749-91C6-E04C386F69AE}"/>
                </a:ext>
              </a:extLst>
            </p:cNvPr>
            <p:cNvGrpSpPr/>
            <p:nvPr/>
          </p:nvGrpSpPr>
          <p:grpSpPr>
            <a:xfrm>
              <a:off x="1686680" y="4025262"/>
              <a:ext cx="415602" cy="547968"/>
              <a:chOff x="3769603" y="4318892"/>
              <a:chExt cx="415602" cy="547968"/>
            </a:xfrm>
          </p:grpSpPr>
          <p:sp>
            <p:nvSpPr>
              <p:cNvPr id="104" name="Line 72">
                <a:extLst>
                  <a:ext uri="{FF2B5EF4-FFF2-40B4-BE49-F238E27FC236}">
                    <a16:creationId xmlns:a16="http://schemas.microsoft.com/office/drawing/2014/main" id="{EF923484-D18B-425A-B02A-F67FDF870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85205" y="4539625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05" name="Text Box 111">
                <a:extLst>
                  <a:ext uri="{FF2B5EF4-FFF2-40B4-BE49-F238E27FC236}">
                    <a16:creationId xmlns:a16="http://schemas.microsoft.com/office/drawing/2014/main" id="{17378398-47BA-4BE8-8573-641D9E5DBD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9603" y="4318892"/>
                <a:ext cx="324127" cy="5479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endParaRPr lang="es-ES" baseline="-25000" dirty="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10" name="Text Box 73">
            <a:extLst>
              <a:ext uri="{FF2B5EF4-FFF2-40B4-BE49-F238E27FC236}">
                <a16:creationId xmlns:a16="http://schemas.microsoft.com/office/drawing/2014/main" id="{B66D8FC5-6F79-43B3-9262-559CD8E7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604" y="3693249"/>
            <a:ext cx="3122223" cy="978584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Está en polarización directa</a:t>
            </a:r>
            <a:endParaRPr lang="es-ES" sz="2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345827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34" grpId="0" animBg="1"/>
      <p:bldP spid="1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upo 73">
            <a:extLst>
              <a:ext uri="{FF2B5EF4-FFF2-40B4-BE49-F238E27FC236}">
                <a16:creationId xmlns:a16="http://schemas.microsoft.com/office/drawing/2014/main" id="{506B62EB-3F0C-45F5-977B-843B4949332C}"/>
              </a:ext>
            </a:extLst>
          </p:cNvPr>
          <p:cNvGrpSpPr/>
          <p:nvPr/>
        </p:nvGrpSpPr>
        <p:grpSpPr>
          <a:xfrm>
            <a:off x="2430256" y="598891"/>
            <a:ext cx="2727325" cy="2863271"/>
            <a:chOff x="2110368" y="3325065"/>
            <a:chExt cx="2727325" cy="2863271"/>
          </a:xfrm>
        </p:grpSpPr>
        <p:sp>
          <p:nvSpPr>
            <p:cNvPr id="75" name="Line 4">
              <a:extLst>
                <a:ext uri="{FF2B5EF4-FFF2-40B4-BE49-F238E27FC236}">
                  <a16:creationId xmlns:a16="http://schemas.microsoft.com/office/drawing/2014/main" id="{8A2A6F2E-5049-4E28-B141-3D3809309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768" y="3594940"/>
              <a:ext cx="26797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480348FF-672A-4418-A8E8-D499CDC59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1205" y="3455240"/>
              <a:ext cx="744538" cy="279400"/>
            </a:xfrm>
            <a:prstGeom prst="rect">
              <a:avLst/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Line 6">
              <a:extLst>
                <a:ext uri="{FF2B5EF4-FFF2-40B4-BE49-F238E27FC236}">
                  <a16:creationId xmlns:a16="http://schemas.microsoft.com/office/drawing/2014/main" id="{50AAA47B-B3A9-406F-A15E-EB16FE17A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5768" y="5034803"/>
              <a:ext cx="26797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1" name="Line 7">
              <a:extLst>
                <a:ext uri="{FF2B5EF4-FFF2-40B4-BE49-F238E27FC236}">
                  <a16:creationId xmlns:a16="http://schemas.microsoft.com/office/drawing/2014/main" id="{AAE678D6-E89F-4544-AA05-ADFC3EBB6E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382499" y="4310109"/>
              <a:ext cx="145573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2" name="Text Box 8">
              <a:extLst>
                <a:ext uri="{FF2B5EF4-FFF2-40B4-BE49-F238E27FC236}">
                  <a16:creationId xmlns:a16="http://schemas.microsoft.com/office/drawing/2014/main" id="{B14535A7-201F-4092-B81C-3A73B6313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7418" y="3325065"/>
              <a:ext cx="36512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83" name="Text Box 9">
              <a:extLst>
                <a:ext uri="{FF2B5EF4-FFF2-40B4-BE49-F238E27FC236}">
                  <a16:creationId xmlns:a16="http://schemas.microsoft.com/office/drawing/2014/main" id="{E5C73C55-0FF3-4888-B4A6-2A036A794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7493" y="4206922"/>
              <a:ext cx="314325" cy="603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84" name="Line 10">
              <a:extLst>
                <a:ext uri="{FF2B5EF4-FFF2-40B4-BE49-F238E27FC236}">
                  <a16:creationId xmlns:a16="http://schemas.microsoft.com/office/drawing/2014/main" id="{7EBDE141-5B2D-402C-8A02-47DFA98DF3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109824" y="4313284"/>
              <a:ext cx="145573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grpSp>
          <p:nvGrpSpPr>
            <p:cNvPr id="85" name="Group 11">
              <a:extLst>
                <a:ext uri="{FF2B5EF4-FFF2-40B4-BE49-F238E27FC236}">
                  <a16:creationId xmlns:a16="http://schemas.microsoft.com/office/drawing/2014/main" id="{A1047BEB-3295-4AB5-9F41-20D47BBBD51B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705680" y="3434603"/>
              <a:ext cx="357188" cy="309562"/>
              <a:chOff x="2869" y="1923"/>
              <a:chExt cx="225" cy="195"/>
            </a:xfrm>
          </p:grpSpPr>
          <p:sp>
            <p:nvSpPr>
              <p:cNvPr id="105" name="AutoShape 12">
                <a:extLst>
                  <a:ext uri="{FF2B5EF4-FFF2-40B4-BE49-F238E27FC236}">
                    <a16:creationId xmlns:a16="http://schemas.microsoft.com/office/drawing/2014/main" id="{EBA4C139-BADC-4815-8ADB-FA9AFDC6D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869" y="1923"/>
                <a:ext cx="224" cy="195"/>
              </a:xfrm>
              <a:prstGeom prst="triangle">
                <a:avLst>
                  <a:gd name="adj" fmla="val 50000"/>
                </a:avLst>
              </a:prstGeom>
              <a:solidFill>
                <a:srgbClr val="EDE7E3"/>
              </a:solidFill>
              <a:ln w="25400" algn="ctr">
                <a:solidFill>
                  <a:srgbClr val="0000FF"/>
                </a:solidFill>
                <a:miter lim="800000"/>
                <a:headEnd/>
                <a:tailEnd type="none" w="lg" len="lg"/>
              </a:ln>
            </p:spPr>
            <p:txBody>
              <a:bodyPr rot="10800000" vert="eaVert"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6" name="Line 13">
                <a:extLst>
                  <a:ext uri="{FF2B5EF4-FFF2-40B4-BE49-F238E27FC236}">
                    <a16:creationId xmlns:a16="http://schemas.microsoft.com/office/drawing/2014/main" id="{5CE19D34-597A-4349-800B-7308179294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9" y="2118"/>
                <a:ext cx="225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  <p:grpSp>
          <p:nvGrpSpPr>
            <p:cNvPr id="86" name="Group 14">
              <a:extLst>
                <a:ext uri="{FF2B5EF4-FFF2-40B4-BE49-F238E27FC236}">
                  <a16:creationId xmlns:a16="http://schemas.microsoft.com/office/drawing/2014/main" id="{2BB4A597-6B4B-42CF-A605-DC27EE0E9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4968" y="4844303"/>
              <a:ext cx="107950" cy="360362"/>
              <a:chOff x="2047" y="2056"/>
              <a:chExt cx="68" cy="227"/>
            </a:xfrm>
          </p:grpSpPr>
          <p:sp>
            <p:nvSpPr>
              <p:cNvPr id="101" name="Rectangle 15">
                <a:extLst>
                  <a:ext uri="{FF2B5EF4-FFF2-40B4-BE49-F238E27FC236}">
                    <a16:creationId xmlns:a16="http://schemas.microsoft.com/office/drawing/2014/main" id="{A9FC360A-9CB3-4C41-A729-0AB7B7D7E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7" y="2070"/>
                <a:ext cx="68" cy="203"/>
              </a:xfrm>
              <a:prstGeom prst="rect">
                <a:avLst/>
              </a:prstGeom>
              <a:solidFill>
                <a:srgbClr val="EDE7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endParaRPr lang="es-ES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03" name="Line 16">
                <a:extLst>
                  <a:ext uri="{FF2B5EF4-FFF2-40B4-BE49-F238E27FC236}">
                    <a16:creationId xmlns:a16="http://schemas.microsoft.com/office/drawing/2014/main" id="{BCEF55E5-19FD-407D-9C42-86162222DB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1939" y="2170"/>
                <a:ext cx="227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  <p:sp>
            <p:nvSpPr>
              <p:cNvPr id="104" name="Line 17">
                <a:extLst>
                  <a:ext uri="{FF2B5EF4-FFF2-40B4-BE49-F238E27FC236}">
                    <a16:creationId xmlns:a16="http://schemas.microsoft.com/office/drawing/2014/main" id="{D0CF451C-B34F-4FE8-863D-D56E0D3E2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042" y="2173"/>
                <a:ext cx="113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/>
              <a:lstStyle/>
              <a:p>
                <a:endParaRPr lang="es-ES"/>
              </a:p>
            </p:txBody>
          </p:sp>
        </p:grpSp>
        <p:sp>
          <p:nvSpPr>
            <p:cNvPr id="87" name="Line 13">
              <a:extLst>
                <a:ext uri="{FF2B5EF4-FFF2-40B4-BE49-F238E27FC236}">
                  <a16:creationId xmlns:a16="http://schemas.microsoft.com/office/drawing/2014/main" id="{0706D4D5-1E09-4E93-8B55-B2E7E61D7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7418" y="5226882"/>
              <a:ext cx="3571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89" name="Line 13">
              <a:extLst>
                <a:ext uri="{FF2B5EF4-FFF2-40B4-BE49-F238E27FC236}">
                  <a16:creationId xmlns:a16="http://schemas.microsoft.com/office/drawing/2014/main" id="{C4DEEF2A-F084-4DAF-848F-19EA54967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8516" y="5279892"/>
              <a:ext cx="20162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0" name="Line 13">
              <a:extLst>
                <a:ext uri="{FF2B5EF4-FFF2-40B4-BE49-F238E27FC236}">
                  <a16:creationId xmlns:a16="http://schemas.microsoft.com/office/drawing/2014/main" id="{A81A7806-CECF-4817-BD71-66223356B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046" y="5342841"/>
              <a:ext cx="12519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2" name="Line 13">
              <a:extLst>
                <a:ext uri="{FF2B5EF4-FFF2-40B4-BE49-F238E27FC236}">
                  <a16:creationId xmlns:a16="http://schemas.microsoft.com/office/drawing/2014/main" id="{5101D7DF-E3CD-4187-8290-1AFE94D86A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981892" y="5134119"/>
              <a:ext cx="20162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93" name="Text Box 73">
              <a:extLst>
                <a:ext uri="{FF2B5EF4-FFF2-40B4-BE49-F238E27FC236}">
                  <a16:creationId xmlns:a16="http://schemas.microsoft.com/office/drawing/2014/main" id="{73FA119D-F14B-4A81-B682-2D37FE339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1795" y="5579084"/>
              <a:ext cx="991275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2 V</a:t>
              </a:r>
            </a:p>
          </p:txBody>
        </p:sp>
        <p:sp>
          <p:nvSpPr>
            <p:cNvPr id="94" name="Text Box 74">
              <a:extLst>
                <a:ext uri="{FF2B5EF4-FFF2-40B4-BE49-F238E27FC236}">
                  <a16:creationId xmlns:a16="http://schemas.microsoft.com/office/drawing/2014/main" id="{E9CA4ED4-F29F-4CB1-BF63-041D744A6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0239" y="5617904"/>
              <a:ext cx="1270000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R = 1 k</a:t>
              </a:r>
            </a:p>
          </p:txBody>
        </p:sp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10E9FB81-00FB-427B-9F17-35587A941264}"/>
              </a:ext>
            </a:extLst>
          </p:cNvPr>
          <p:cNvGrpSpPr/>
          <p:nvPr/>
        </p:nvGrpSpPr>
        <p:grpSpPr>
          <a:xfrm>
            <a:off x="2006568" y="1299088"/>
            <a:ext cx="3508359" cy="547968"/>
            <a:chOff x="1686680" y="4025262"/>
            <a:chExt cx="3508359" cy="547968"/>
          </a:xfrm>
        </p:grpSpPr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B3CFE1F8-DC80-414B-9D50-CA9A2ED593D0}"/>
                </a:ext>
              </a:extLst>
            </p:cNvPr>
            <p:cNvGrpSpPr/>
            <p:nvPr/>
          </p:nvGrpSpPr>
          <p:grpSpPr>
            <a:xfrm>
              <a:off x="4837693" y="4025262"/>
              <a:ext cx="357346" cy="547968"/>
              <a:chOff x="4193809" y="4387931"/>
              <a:chExt cx="357346" cy="547968"/>
            </a:xfrm>
          </p:grpSpPr>
          <p:sp>
            <p:nvSpPr>
              <p:cNvPr id="112" name="Line 72">
                <a:extLst>
                  <a:ext uri="{FF2B5EF4-FFF2-40B4-BE49-F238E27FC236}">
                    <a16:creationId xmlns:a16="http://schemas.microsoft.com/office/drawing/2014/main" id="{F1BE70FC-F1A8-4123-8021-DF30FBBCA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809" y="4539625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13" name="Text Box 111">
                <a:extLst>
                  <a:ext uri="{FF2B5EF4-FFF2-40B4-BE49-F238E27FC236}">
                    <a16:creationId xmlns:a16="http://schemas.microsoft.com/office/drawing/2014/main" id="{B8AA06DC-0BB8-4E17-B8CC-46682214F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7028" y="4387931"/>
                <a:ext cx="324127" cy="5479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endParaRPr lang="es-ES" baseline="-25000" dirty="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109" name="Grupo 108">
              <a:extLst>
                <a:ext uri="{FF2B5EF4-FFF2-40B4-BE49-F238E27FC236}">
                  <a16:creationId xmlns:a16="http://schemas.microsoft.com/office/drawing/2014/main" id="{82FA48EE-8A83-42D3-94AE-CC8CBB28F996}"/>
                </a:ext>
              </a:extLst>
            </p:cNvPr>
            <p:cNvGrpSpPr/>
            <p:nvPr/>
          </p:nvGrpSpPr>
          <p:grpSpPr>
            <a:xfrm>
              <a:off x="1686680" y="4025262"/>
              <a:ext cx="424724" cy="547968"/>
              <a:chOff x="3769603" y="4318892"/>
              <a:chExt cx="424724" cy="547968"/>
            </a:xfrm>
          </p:grpSpPr>
          <p:sp>
            <p:nvSpPr>
              <p:cNvPr id="110" name="Line 72">
                <a:extLst>
                  <a:ext uri="{FF2B5EF4-FFF2-40B4-BE49-F238E27FC236}">
                    <a16:creationId xmlns:a16="http://schemas.microsoft.com/office/drawing/2014/main" id="{9E5F359E-9D2A-435F-A4A4-E2762480F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94327" y="4539625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11" name="Text Box 111">
                <a:extLst>
                  <a:ext uri="{FF2B5EF4-FFF2-40B4-BE49-F238E27FC236}">
                    <a16:creationId xmlns:a16="http://schemas.microsoft.com/office/drawing/2014/main" id="{E548D9C0-14FC-49A9-810D-4FE76BB88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9603" y="4318892"/>
                <a:ext cx="324127" cy="5479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endParaRPr lang="es-ES" baseline="-25000" dirty="0">
                  <a:solidFill>
                    <a:srgbClr val="3333FF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A0A4EE3C-7EBF-4892-B301-5CD434B90016}"/>
              </a:ext>
            </a:extLst>
          </p:cNvPr>
          <p:cNvGrpSpPr/>
          <p:nvPr/>
        </p:nvGrpSpPr>
        <p:grpSpPr>
          <a:xfrm>
            <a:off x="6838893" y="329135"/>
            <a:ext cx="2882050" cy="3260151"/>
            <a:chOff x="6624335" y="2987121"/>
            <a:chExt cx="2882050" cy="3260151"/>
          </a:xfrm>
        </p:grpSpPr>
        <p:sp>
          <p:nvSpPr>
            <p:cNvPr id="115" name="AutoShape 96">
              <a:extLst>
                <a:ext uri="{FF2B5EF4-FFF2-40B4-BE49-F238E27FC236}">
                  <a16:creationId xmlns:a16="http://schemas.microsoft.com/office/drawing/2014/main" id="{F0A61AD6-8640-45F7-ABA2-BD2E3E388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4335" y="2987121"/>
              <a:ext cx="2882050" cy="326015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es-ES"/>
            </a:p>
          </p:txBody>
        </p:sp>
        <p:sp>
          <p:nvSpPr>
            <p:cNvPr id="116" name="Line 103">
              <a:extLst>
                <a:ext uri="{FF2B5EF4-FFF2-40B4-BE49-F238E27FC236}">
                  <a16:creationId xmlns:a16="http://schemas.microsoft.com/office/drawing/2014/main" id="{12B14F2E-C2CE-47DC-8CC0-8A8ABC1DB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3950" y="3878107"/>
              <a:ext cx="509633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117" name="Line 105">
              <a:extLst>
                <a:ext uri="{FF2B5EF4-FFF2-40B4-BE49-F238E27FC236}">
                  <a16:creationId xmlns:a16="http://schemas.microsoft.com/office/drawing/2014/main" id="{9073BB09-401D-4986-8977-B720EB353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68195" y="4718282"/>
              <a:ext cx="509633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118" name="Line 106">
              <a:extLst>
                <a:ext uri="{FF2B5EF4-FFF2-40B4-BE49-F238E27FC236}">
                  <a16:creationId xmlns:a16="http://schemas.microsoft.com/office/drawing/2014/main" id="{CEA33598-D89A-4174-B824-AFB4574C6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38448" y="4255899"/>
              <a:ext cx="71602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/>
            <a:lstStyle/>
            <a:p>
              <a:endParaRPr lang="es-ES"/>
            </a:p>
          </p:txBody>
        </p:sp>
        <p:sp>
          <p:nvSpPr>
            <p:cNvPr id="119" name="AutoShape 20">
              <a:extLst>
                <a:ext uri="{FF2B5EF4-FFF2-40B4-BE49-F238E27FC236}">
                  <a16:creationId xmlns:a16="http://schemas.microsoft.com/office/drawing/2014/main" id="{D67DB00D-8C34-48CC-B5FD-096534A4A70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7157564" y="4104280"/>
              <a:ext cx="355681" cy="309590"/>
            </a:xfrm>
            <a:prstGeom prst="triangle">
              <a:avLst>
                <a:gd name="adj" fmla="val 50000"/>
              </a:avLst>
            </a:prstGeom>
            <a:solidFill>
              <a:srgbClr val="EDE7E3"/>
            </a:solidFill>
            <a:ln w="25400" algn="ctr">
              <a:solidFill>
                <a:srgbClr val="0000FF"/>
              </a:solidFill>
              <a:miter lim="800000"/>
              <a:headEnd/>
              <a:tailEnd type="none" w="lg" len="lg"/>
            </a:ln>
          </p:spPr>
          <p:txBody>
            <a:bodyPr rot="10800000" vert="eaVert" wrap="none" lIns="90000" tIns="118800" rIns="90000" bIns="118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0" name="Line 21">
              <a:extLst>
                <a:ext uri="{FF2B5EF4-FFF2-40B4-BE49-F238E27FC236}">
                  <a16:creationId xmlns:a16="http://schemas.microsoft.com/office/drawing/2014/main" id="{D1A4B305-3FFF-40C7-9C3B-6F02DE6A6D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321838" y="4277531"/>
              <a:ext cx="357269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/>
            </a:p>
          </p:txBody>
        </p:sp>
        <p:sp>
          <p:nvSpPr>
            <p:cNvPr id="121" name="Text Box 111">
              <a:extLst>
                <a:ext uri="{FF2B5EF4-FFF2-40B4-BE49-F238E27FC236}">
                  <a16:creationId xmlns:a16="http://schemas.microsoft.com/office/drawing/2014/main" id="{486FF73D-E49C-4BB8-87FF-F96D1B062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8531" y="3597286"/>
              <a:ext cx="995786" cy="54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 = +I</a:t>
              </a:r>
              <a:r>
                <a:rPr lang="es-ES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122" name="Text Box 112">
              <a:extLst>
                <a:ext uri="{FF2B5EF4-FFF2-40B4-BE49-F238E27FC236}">
                  <a16:creationId xmlns:a16="http://schemas.microsoft.com/office/drawing/2014/main" id="{7BB6EDDC-F2C5-46D0-BACA-80AF9C7B5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73143" y="4452359"/>
              <a:ext cx="979756" cy="54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 = -I</a:t>
              </a:r>
              <a:r>
                <a:rPr lang="es-ES" baseline="-25000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D</a:t>
              </a:r>
            </a:p>
          </p:txBody>
        </p:sp>
        <p:sp>
          <p:nvSpPr>
            <p:cNvPr id="123" name="Text Box 113">
              <a:extLst>
                <a:ext uri="{FF2B5EF4-FFF2-40B4-BE49-F238E27FC236}">
                  <a16:creationId xmlns:a16="http://schemas.microsoft.com/office/drawing/2014/main" id="{17689C8B-DB47-4522-A309-A5C52A74A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173" y="3068636"/>
              <a:ext cx="1426428" cy="45774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/>
          </p:spPr>
          <p:txBody>
            <a:bodyPr wrap="square" tIns="118800" bIns="118800" anchor="ctr" anchorCtr="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sz="2400" dirty="0">
                  <a:solidFill>
                    <a:schemeClr val="tx1"/>
                  </a:solidFill>
                </a:rPr>
                <a:t>DIODO</a:t>
              </a:r>
            </a:p>
          </p:txBody>
        </p:sp>
        <p:sp>
          <p:nvSpPr>
            <p:cNvPr id="124" name="Text Box 111">
              <a:extLst>
                <a:ext uri="{FF2B5EF4-FFF2-40B4-BE49-F238E27FC236}">
                  <a16:creationId xmlns:a16="http://schemas.microsoft.com/office/drawing/2014/main" id="{9F984FAB-55E3-4F7B-B9FC-69803F409F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937" y="3607408"/>
              <a:ext cx="324127" cy="5479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008000"/>
                  </a:solidFill>
                  <a:latin typeface="Comic Sans MS" panose="030F0702030302020204" pitchFamily="66" charset="0"/>
                </a:rPr>
                <a:t>I</a:t>
              </a:r>
              <a:endParaRPr lang="es-ES" baseline="-25000" dirty="0">
                <a:solidFill>
                  <a:srgbClr val="008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5" name="Text Box 111">
              <a:extLst>
                <a:ext uri="{FF2B5EF4-FFF2-40B4-BE49-F238E27FC236}">
                  <a16:creationId xmlns:a16="http://schemas.microsoft.com/office/drawing/2014/main" id="{7F27D5BA-B624-40C0-9646-2757415EB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8545" y="4433945"/>
              <a:ext cx="324127" cy="5479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008000"/>
                  </a:solidFill>
                  <a:latin typeface="Comic Sans MS" panose="030F0702030302020204" pitchFamily="66" charset="0"/>
                </a:rPr>
                <a:t>I</a:t>
              </a:r>
              <a:endParaRPr lang="es-ES" baseline="-25000" dirty="0">
                <a:solidFill>
                  <a:srgbClr val="008000"/>
                </a:solidFill>
                <a:latin typeface="Comic Sans MS" panose="030F0702030302020204" pitchFamily="66" charset="0"/>
              </a:endParaRPr>
            </a:p>
          </p:txBody>
        </p:sp>
        <p:grpSp>
          <p:nvGrpSpPr>
            <p:cNvPr id="126" name="Grupo 125">
              <a:extLst>
                <a:ext uri="{FF2B5EF4-FFF2-40B4-BE49-F238E27FC236}">
                  <a16:creationId xmlns:a16="http://schemas.microsoft.com/office/drawing/2014/main" id="{67ACC358-C540-452A-958A-581B18CB1A2B}"/>
                </a:ext>
              </a:extLst>
            </p:cNvPr>
            <p:cNvGrpSpPr/>
            <p:nvPr/>
          </p:nvGrpSpPr>
          <p:grpSpPr>
            <a:xfrm>
              <a:off x="6886026" y="4889422"/>
              <a:ext cx="2104909" cy="1292129"/>
              <a:chOff x="7075355" y="4889043"/>
              <a:chExt cx="2104909" cy="1292129"/>
            </a:xfrm>
          </p:grpSpPr>
          <p:sp>
            <p:nvSpPr>
              <p:cNvPr id="129" name="Line 103">
                <a:extLst>
                  <a:ext uri="{FF2B5EF4-FFF2-40B4-BE49-F238E27FC236}">
                    <a16:creationId xmlns:a16="http://schemas.microsoft.com/office/drawing/2014/main" id="{D93C3CAB-CCAA-4C7F-BF81-97624E21FB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13186" y="5169342"/>
                <a:ext cx="509587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/>
              <a:lstStyle/>
              <a:p>
                <a:endParaRPr lang="es-ES"/>
              </a:p>
            </p:txBody>
          </p:sp>
          <p:sp>
            <p:nvSpPr>
              <p:cNvPr id="130" name="Line 105">
                <a:extLst>
                  <a:ext uri="{FF2B5EF4-FFF2-40B4-BE49-F238E27FC236}">
                    <a16:creationId xmlns:a16="http://schemas.microsoft.com/office/drawing/2014/main" id="{B4700D16-90D1-4C63-A523-1C184357F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075355" y="5989751"/>
                <a:ext cx="509587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/>
              <a:lstStyle/>
              <a:p>
                <a:endParaRPr lang="es-ES"/>
              </a:p>
            </p:txBody>
          </p:sp>
          <p:sp>
            <p:nvSpPr>
              <p:cNvPr id="131" name="Line 106">
                <a:extLst>
                  <a:ext uri="{FF2B5EF4-FFF2-40B4-BE49-F238E27FC236}">
                    <a16:creationId xmlns:a16="http://schemas.microsoft.com/office/drawing/2014/main" id="{BFB17A66-C870-4F63-9207-1AC55268B9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06452" y="5525317"/>
                <a:ext cx="715962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/>
              <a:lstStyle/>
              <a:p>
                <a:endParaRPr lang="es-ES"/>
              </a:p>
            </p:txBody>
          </p:sp>
          <p:grpSp>
            <p:nvGrpSpPr>
              <p:cNvPr id="132" name="Group 24">
                <a:extLst>
                  <a:ext uri="{FF2B5EF4-FFF2-40B4-BE49-F238E27FC236}">
                    <a16:creationId xmlns:a16="http://schemas.microsoft.com/office/drawing/2014/main" id="{36C8579D-2218-4C70-A70F-96CA4B9208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200000">
                <a:off x="7338494" y="5368960"/>
                <a:ext cx="357188" cy="317500"/>
                <a:chOff x="2869" y="1845"/>
                <a:chExt cx="225" cy="200"/>
              </a:xfrm>
            </p:grpSpPr>
            <p:sp>
              <p:nvSpPr>
                <p:cNvPr id="135" name="AutoShape 20">
                  <a:extLst>
                    <a:ext uri="{FF2B5EF4-FFF2-40B4-BE49-F238E27FC236}">
                      <a16:creationId xmlns:a16="http://schemas.microsoft.com/office/drawing/2014/main" id="{50E9F9BE-B500-4D5C-B710-FE49B057D8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869" y="1845"/>
                  <a:ext cx="224" cy="195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EDE7E3"/>
                </a:solidFill>
                <a:ln w="25400" algn="ctr">
                  <a:solidFill>
                    <a:srgbClr val="0000FF"/>
                  </a:solidFill>
                  <a:miter lim="800000"/>
                  <a:headEnd/>
                  <a:tailEnd type="none" w="lg" len="lg"/>
                </a:ln>
              </p:spPr>
              <p:txBody>
                <a:bodyPr rot="10800000" vert="eaVert" wrap="none" lIns="90000" tIns="118800" rIns="90000" bIns="118800" anchor="ctr"/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20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6" name="Line 21">
                  <a:extLst>
                    <a:ext uri="{FF2B5EF4-FFF2-40B4-BE49-F238E27FC236}">
                      <a16:creationId xmlns:a16="http://schemas.microsoft.com/office/drawing/2014/main" id="{51602998-A909-4603-B9DA-BBFDB318FF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69" y="2045"/>
                  <a:ext cx="225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/>
                <a:lstStyle/>
                <a:p>
                  <a:endParaRPr lang="es-ES"/>
                </a:p>
              </p:txBody>
            </p:sp>
          </p:grpSp>
          <p:sp>
            <p:nvSpPr>
              <p:cNvPr id="133" name="Text Box 111">
                <a:extLst>
                  <a:ext uri="{FF2B5EF4-FFF2-40B4-BE49-F238E27FC236}">
                    <a16:creationId xmlns:a16="http://schemas.microsoft.com/office/drawing/2014/main" id="{B4063E43-3886-4BBC-BA98-C49C43D6E0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9975" y="4889043"/>
                <a:ext cx="1050289" cy="5476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V = +V</a:t>
                </a:r>
                <a:r>
                  <a:rPr lang="es-ES" baseline="-25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D</a:t>
                </a:r>
              </a:p>
            </p:txBody>
          </p:sp>
          <p:sp>
            <p:nvSpPr>
              <p:cNvPr id="134" name="Text Box 112">
                <a:extLst>
                  <a:ext uri="{FF2B5EF4-FFF2-40B4-BE49-F238E27FC236}">
                    <a16:creationId xmlns:a16="http://schemas.microsoft.com/office/drawing/2014/main" id="{114D5907-8730-4AFD-ABA7-52FCAF23CE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32906" y="5633475"/>
                <a:ext cx="1034259" cy="5476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tIns="118800" bIns="118800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V = -V</a:t>
                </a:r>
                <a:r>
                  <a:rPr lang="es-ES" baseline="-25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D</a:t>
                </a:r>
              </a:p>
            </p:txBody>
          </p:sp>
        </p:grpSp>
        <p:sp>
          <p:nvSpPr>
            <p:cNvPr id="127" name="Text Box 111">
              <a:extLst>
                <a:ext uri="{FF2B5EF4-FFF2-40B4-BE49-F238E27FC236}">
                  <a16:creationId xmlns:a16="http://schemas.microsoft.com/office/drawing/2014/main" id="{78821AFD-D8A7-4C5B-8754-D7983DA65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9811" y="4885239"/>
              <a:ext cx="351378" cy="54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008000"/>
                  </a:solidFill>
                  <a:latin typeface="Comic Sans MS" panose="030F0702030302020204" pitchFamily="66" charset="0"/>
                </a:rPr>
                <a:t>V</a:t>
              </a:r>
              <a:endParaRPr lang="es-ES" baseline="-25000" dirty="0">
                <a:solidFill>
                  <a:srgbClr val="008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8" name="Text Box 111">
              <a:extLst>
                <a:ext uri="{FF2B5EF4-FFF2-40B4-BE49-F238E27FC236}">
                  <a16:creationId xmlns:a16="http://schemas.microsoft.com/office/drawing/2014/main" id="{0BBDBD6D-DE6C-45D0-95C8-A6A302681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0075" y="5699575"/>
              <a:ext cx="351378" cy="54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tIns="118800" bIns="118800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s-ES" dirty="0">
                  <a:solidFill>
                    <a:srgbClr val="008000"/>
                  </a:solidFill>
                  <a:latin typeface="Comic Sans MS" panose="030F0702030302020204" pitchFamily="66" charset="0"/>
                </a:rPr>
                <a:t>V</a:t>
              </a:r>
              <a:endParaRPr lang="es-ES" baseline="-25000" dirty="0">
                <a:solidFill>
                  <a:srgbClr val="008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137" name="Text Box 79">
            <a:extLst>
              <a:ext uri="{FF2B5EF4-FFF2-40B4-BE49-F238E27FC236}">
                <a16:creationId xmlns:a16="http://schemas.microsoft.com/office/drawing/2014/main" id="{121E1C21-39A8-4829-8339-92013A2A7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274" y="5462547"/>
            <a:ext cx="1852941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+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8" name="Text Box 70">
            <a:extLst>
              <a:ext uri="{FF2B5EF4-FFF2-40B4-BE49-F238E27FC236}">
                <a16:creationId xmlns:a16="http://schemas.microsoft.com/office/drawing/2014/main" id="{3930D410-0FFD-4834-B317-7402113AE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423" y="4701744"/>
            <a:ext cx="2133096" cy="648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2000" tIns="72000" rIns="72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diodo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9" name="Text Box 80">
            <a:extLst>
              <a:ext uri="{FF2B5EF4-FFF2-40B4-BE49-F238E27FC236}">
                <a16:creationId xmlns:a16="http://schemas.microsoft.com/office/drawing/2014/main" id="{CA62CF79-C4A5-43A5-B0D2-B7FB3FCC9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275" y="4709537"/>
            <a:ext cx="1852940" cy="609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+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endParaRPr lang="es-ES" sz="2400" baseline="-250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2" name="Text Box 82">
            <a:extLst>
              <a:ext uri="{FF2B5EF4-FFF2-40B4-BE49-F238E27FC236}">
                <a16:creationId xmlns:a16="http://schemas.microsoft.com/office/drawing/2014/main" id="{054ACB94-4DF6-4B0D-870A-F84D101E5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893" y="6072505"/>
            <a:ext cx="3512334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Hace falta una </a:t>
            </a:r>
            <a:r>
              <a:rPr lang="es-ES" sz="2400" dirty="0" err="1">
                <a:latin typeface="Arial" panose="020B0604020202020204" pitchFamily="34" charset="0"/>
              </a:rPr>
              <a:t>ec</a:t>
            </a:r>
            <a:r>
              <a:rPr lang="es-ES" sz="2400" dirty="0">
                <a:latin typeface="Arial" panose="020B0604020202020204" pitchFamily="34" charset="0"/>
              </a:rPr>
              <a:t>. más</a:t>
            </a:r>
          </a:p>
        </p:txBody>
      </p:sp>
      <p:sp>
        <p:nvSpPr>
          <p:cNvPr id="143" name="Text Box 70">
            <a:extLst>
              <a:ext uri="{FF2B5EF4-FFF2-40B4-BE49-F238E27FC236}">
                <a16:creationId xmlns:a16="http://schemas.microsoft.com/office/drawing/2014/main" id="{63595067-05E9-4B76-9835-B4054139D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7566" y="4665556"/>
            <a:ext cx="2160887" cy="6339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36000" rIns="90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+ R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55333AE0-10BF-49E7-9273-6EC2F8852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6317" y="5370429"/>
            <a:ext cx="2826243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(hay 2 </a:t>
            </a:r>
            <a:r>
              <a:rPr lang="es-ES" sz="2400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incognitas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s-ES" sz="2400" baseline="-250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70">
            <a:extLst>
              <a:ext uri="{FF2B5EF4-FFF2-40B4-BE49-F238E27FC236}">
                <a16:creationId xmlns:a16="http://schemas.microsoft.com/office/drawing/2014/main" id="{FFAB6C70-FB60-B31E-A11E-9B16DF50F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274" y="3965626"/>
            <a:ext cx="1863828" cy="5874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2000" tIns="72000" rIns="72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diodo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+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104 Abrir llave">
            <a:extLst>
              <a:ext uri="{FF2B5EF4-FFF2-40B4-BE49-F238E27FC236}">
                <a16:creationId xmlns:a16="http://schemas.microsoft.com/office/drawing/2014/main" id="{C731BBAA-E926-F4CE-3B83-FAF64A7685B9}"/>
              </a:ext>
            </a:extLst>
          </p:cNvPr>
          <p:cNvSpPr>
            <a:spLocks/>
          </p:cNvSpPr>
          <p:nvPr/>
        </p:nvSpPr>
        <p:spPr bwMode="auto">
          <a:xfrm>
            <a:off x="3646736" y="3894063"/>
            <a:ext cx="328612" cy="2304723"/>
          </a:xfrm>
          <a:prstGeom prst="leftBrace">
            <a:avLst>
              <a:gd name="adj1" fmla="val 8348"/>
              <a:gd name="adj2" fmla="val 50000"/>
            </a:avLst>
          </a:prstGeom>
          <a:noFill/>
          <a:ln w="381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118800" bIns="118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104 Abrir llave">
            <a:extLst>
              <a:ext uri="{FF2B5EF4-FFF2-40B4-BE49-F238E27FC236}">
                <a16:creationId xmlns:a16="http://schemas.microsoft.com/office/drawing/2014/main" id="{6D2851D6-1AC8-0847-2F2A-F6C977F38E67}"/>
              </a:ext>
            </a:extLst>
          </p:cNvPr>
          <p:cNvSpPr>
            <a:spLocks/>
          </p:cNvSpPr>
          <p:nvPr/>
        </p:nvSpPr>
        <p:spPr bwMode="auto">
          <a:xfrm flipH="1">
            <a:off x="6249689" y="3873880"/>
            <a:ext cx="328612" cy="2304723"/>
          </a:xfrm>
          <a:prstGeom prst="leftBrace">
            <a:avLst>
              <a:gd name="adj1" fmla="val 8348"/>
              <a:gd name="adj2" fmla="val 50000"/>
            </a:avLst>
          </a:prstGeom>
          <a:noFill/>
          <a:ln w="381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118800" bIns="118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6F681F7-0335-610E-05D2-1D9FC1A14932}"/>
              </a:ext>
            </a:extLst>
          </p:cNvPr>
          <p:cNvCxnSpPr/>
          <p:nvPr/>
        </p:nvCxnSpPr>
        <p:spPr bwMode="auto">
          <a:xfrm>
            <a:off x="2571683" y="2059288"/>
            <a:ext cx="2427700" cy="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3F570A0B-EDF6-63BF-EEDB-81DDE96A637C}"/>
              </a:ext>
            </a:extLst>
          </p:cNvPr>
          <p:cNvSpPr/>
          <p:nvPr/>
        </p:nvSpPr>
        <p:spPr bwMode="auto">
          <a:xfrm>
            <a:off x="2544417" y="1192696"/>
            <a:ext cx="2454966" cy="755374"/>
          </a:xfrm>
          <a:custGeom>
            <a:avLst/>
            <a:gdLst>
              <a:gd name="connsiteX0" fmla="*/ 0 w 2454966"/>
              <a:gd name="connsiteY0" fmla="*/ 755374 h 755374"/>
              <a:gd name="connsiteX1" fmla="*/ 0 w 2454966"/>
              <a:gd name="connsiteY1" fmla="*/ 9939 h 755374"/>
              <a:gd name="connsiteX2" fmla="*/ 2454966 w 2454966"/>
              <a:gd name="connsiteY2" fmla="*/ 0 h 755374"/>
              <a:gd name="connsiteX3" fmla="*/ 2454966 w 2454966"/>
              <a:gd name="connsiteY3" fmla="*/ 745434 h 75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4966" h="755374">
                <a:moveTo>
                  <a:pt x="0" y="755374"/>
                </a:moveTo>
                <a:lnTo>
                  <a:pt x="0" y="9939"/>
                </a:lnTo>
                <a:lnTo>
                  <a:pt x="2454966" y="0"/>
                </a:lnTo>
                <a:lnTo>
                  <a:pt x="2454966" y="745434"/>
                </a:ln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1872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8" grpId="0" animBg="1"/>
      <p:bldP spid="139" grpId="0" animBg="1"/>
      <p:bldP spid="142" grpId="0" animBg="1"/>
      <p:bldP spid="143" grpId="0" animBg="1"/>
      <p:bldP spid="144" grpId="0"/>
      <p:bldP spid="2" grpId="0" animBg="1"/>
      <p:bldP spid="3" grpId="0" animBg="1"/>
      <p:bldP spid="4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3B69F7AA-F0C5-4882-BC46-94DADD5047FB}"/>
              </a:ext>
            </a:extLst>
          </p:cNvPr>
          <p:cNvGrpSpPr/>
          <p:nvPr/>
        </p:nvGrpSpPr>
        <p:grpSpPr>
          <a:xfrm>
            <a:off x="1304880" y="2378376"/>
            <a:ext cx="3401507" cy="3378505"/>
            <a:chOff x="1304880" y="2641991"/>
            <a:chExt cx="3401507" cy="3378505"/>
          </a:xfrm>
        </p:grpSpPr>
        <p:sp>
          <p:nvSpPr>
            <p:cNvPr id="2" name="Rectángulo 1"/>
            <p:cNvSpPr/>
            <p:nvPr/>
          </p:nvSpPr>
          <p:spPr bwMode="auto">
            <a:xfrm>
              <a:off x="1304880" y="2641991"/>
              <a:ext cx="3394742" cy="337533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118800" rIns="90000" bIns="118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grpSp>
          <p:nvGrpSpPr>
            <p:cNvPr id="97" name="94 Grupo"/>
            <p:cNvGrpSpPr>
              <a:grpSpLocks/>
            </p:cNvGrpSpPr>
            <p:nvPr/>
          </p:nvGrpSpPr>
          <p:grpSpPr bwMode="auto">
            <a:xfrm>
              <a:off x="1592884" y="2939158"/>
              <a:ext cx="3113503" cy="3081338"/>
              <a:chOff x="1478898" y="3902075"/>
              <a:chExt cx="3113502" cy="3081338"/>
            </a:xfrm>
          </p:grpSpPr>
          <p:sp>
            <p:nvSpPr>
              <p:cNvPr id="98" name="Text Box 58"/>
              <p:cNvSpPr txBox="1">
                <a:spLocks noChangeArrowheads="1"/>
              </p:cNvSpPr>
              <p:nvPr/>
            </p:nvSpPr>
            <p:spPr bwMode="auto">
              <a:xfrm>
                <a:off x="1529698" y="3902075"/>
                <a:ext cx="444650" cy="5476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sz="2000" baseline="-25000">
                    <a:solidFill>
                      <a:srgbClr val="3333FF"/>
                    </a:solidFill>
                    <a:latin typeface="Arial" panose="020B0604020202020204" pitchFamily="34" charset="0"/>
                  </a:rPr>
                  <a:t>D</a:t>
                </a:r>
              </a:p>
            </p:txBody>
          </p:sp>
          <p:grpSp>
            <p:nvGrpSpPr>
              <p:cNvPr id="99" name="92 Grupo"/>
              <p:cNvGrpSpPr>
                <a:grpSpLocks/>
              </p:cNvGrpSpPr>
              <p:nvPr/>
            </p:nvGrpSpPr>
            <p:grpSpPr bwMode="auto">
              <a:xfrm>
                <a:off x="1478898" y="4106863"/>
                <a:ext cx="3113502" cy="2876550"/>
                <a:chOff x="1478898" y="4106863"/>
                <a:chExt cx="3113502" cy="2876550"/>
              </a:xfrm>
            </p:grpSpPr>
            <p:sp>
              <p:nvSpPr>
                <p:cNvPr id="100" name="Freeform 69"/>
                <p:cNvSpPr>
                  <a:spLocks/>
                </p:cNvSpPr>
                <p:nvPr/>
              </p:nvSpPr>
              <p:spPr bwMode="auto">
                <a:xfrm>
                  <a:off x="1996423" y="4106863"/>
                  <a:ext cx="760412" cy="2217737"/>
                </a:xfrm>
                <a:custGeom>
                  <a:avLst/>
                  <a:gdLst>
                    <a:gd name="T0" fmla="*/ 0 w 479"/>
                    <a:gd name="T1" fmla="*/ 2147483646 h 1397"/>
                    <a:gd name="T2" fmla="*/ 2147483646 w 479"/>
                    <a:gd name="T3" fmla="*/ 2147483646 h 1397"/>
                    <a:gd name="T4" fmla="*/ 2147483646 w 479"/>
                    <a:gd name="T5" fmla="*/ 2147483646 h 1397"/>
                    <a:gd name="T6" fmla="*/ 2147483646 w 479"/>
                    <a:gd name="T7" fmla="*/ 2147483646 h 1397"/>
                    <a:gd name="T8" fmla="*/ 2147483646 w 479"/>
                    <a:gd name="T9" fmla="*/ 2147483646 h 1397"/>
                    <a:gd name="T10" fmla="*/ 2147483646 w 479"/>
                    <a:gd name="T11" fmla="*/ 2147483646 h 1397"/>
                    <a:gd name="T12" fmla="*/ 2147483646 w 479"/>
                    <a:gd name="T13" fmla="*/ 0 h 13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79"/>
                    <a:gd name="T22" fmla="*/ 0 h 1397"/>
                    <a:gd name="T23" fmla="*/ 479 w 479"/>
                    <a:gd name="T24" fmla="*/ 1397 h 139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79" h="1397">
                      <a:moveTo>
                        <a:pt x="0" y="1377"/>
                      </a:moveTo>
                      <a:cubicBezTo>
                        <a:pt x="35" y="1377"/>
                        <a:pt x="70" y="1377"/>
                        <a:pt x="98" y="1377"/>
                      </a:cubicBezTo>
                      <a:cubicBezTo>
                        <a:pt x="126" y="1377"/>
                        <a:pt x="140" y="1382"/>
                        <a:pt x="166" y="1377"/>
                      </a:cubicBezTo>
                      <a:cubicBezTo>
                        <a:pt x="192" y="1372"/>
                        <a:pt x="230" y="1397"/>
                        <a:pt x="254" y="1347"/>
                      </a:cubicBezTo>
                      <a:cubicBezTo>
                        <a:pt x="278" y="1297"/>
                        <a:pt x="287" y="1225"/>
                        <a:pt x="313" y="1074"/>
                      </a:cubicBezTo>
                      <a:cubicBezTo>
                        <a:pt x="339" y="923"/>
                        <a:pt x="382" y="618"/>
                        <a:pt x="410" y="439"/>
                      </a:cubicBezTo>
                      <a:cubicBezTo>
                        <a:pt x="438" y="260"/>
                        <a:pt x="458" y="130"/>
                        <a:pt x="479" y="0"/>
                      </a:cubicBezTo>
                    </a:path>
                  </a:pathLst>
                </a:custGeom>
                <a:noFill/>
                <a:ln w="50800">
                  <a:solidFill>
                    <a:srgbClr val="008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1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1998010" y="4133850"/>
                  <a:ext cx="0" cy="217011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2" name="Line 32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3095767" y="5218906"/>
                  <a:ext cx="0" cy="217011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3" name="Line 34"/>
                <p:cNvSpPr>
                  <a:spLocks noChangeShapeType="1"/>
                </p:cNvSpPr>
                <p:nvPr/>
              </p:nvSpPr>
              <p:spPr bwMode="auto">
                <a:xfrm>
                  <a:off x="2121835" y="6303963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4" name="Line 35"/>
                <p:cNvSpPr>
                  <a:spLocks noChangeShapeType="1"/>
                </p:cNvSpPr>
                <p:nvPr/>
              </p:nvSpPr>
              <p:spPr bwMode="auto">
                <a:xfrm>
                  <a:off x="2264710" y="6303963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5" name="Line 36"/>
                <p:cNvSpPr>
                  <a:spLocks noChangeShapeType="1"/>
                </p:cNvSpPr>
                <p:nvPr/>
              </p:nvSpPr>
              <p:spPr bwMode="auto">
                <a:xfrm>
                  <a:off x="2409173" y="6303963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6" name="Line 37"/>
                <p:cNvSpPr>
                  <a:spLocks noChangeShapeType="1"/>
                </p:cNvSpPr>
                <p:nvPr/>
              </p:nvSpPr>
              <p:spPr bwMode="auto">
                <a:xfrm>
                  <a:off x="2553635" y="6303963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7" name="Line 38"/>
                <p:cNvSpPr>
                  <a:spLocks noChangeShapeType="1"/>
                </p:cNvSpPr>
                <p:nvPr/>
              </p:nvSpPr>
              <p:spPr bwMode="auto">
                <a:xfrm>
                  <a:off x="2698098" y="6303963"/>
                  <a:ext cx="0" cy="24765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8" name="Line 39"/>
                <p:cNvSpPr>
                  <a:spLocks noChangeShapeType="1"/>
                </p:cNvSpPr>
                <p:nvPr/>
              </p:nvSpPr>
              <p:spPr bwMode="auto">
                <a:xfrm>
                  <a:off x="2840973" y="6303963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09" name="Line 40"/>
                <p:cNvSpPr>
                  <a:spLocks noChangeShapeType="1"/>
                </p:cNvSpPr>
                <p:nvPr/>
              </p:nvSpPr>
              <p:spPr bwMode="auto">
                <a:xfrm>
                  <a:off x="2985435" y="6303963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0" name="Line 41"/>
                <p:cNvSpPr>
                  <a:spLocks noChangeShapeType="1"/>
                </p:cNvSpPr>
                <p:nvPr/>
              </p:nvSpPr>
              <p:spPr bwMode="auto">
                <a:xfrm>
                  <a:off x="3129898" y="6303963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1" name="Line 42"/>
                <p:cNvSpPr>
                  <a:spLocks noChangeShapeType="1"/>
                </p:cNvSpPr>
                <p:nvPr/>
              </p:nvSpPr>
              <p:spPr bwMode="auto">
                <a:xfrm>
                  <a:off x="3274360" y="6303963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2" name="Line 48"/>
                <p:cNvSpPr>
                  <a:spLocks noChangeShapeType="1"/>
                </p:cNvSpPr>
                <p:nvPr/>
              </p:nvSpPr>
              <p:spPr bwMode="auto">
                <a:xfrm rot="5400000">
                  <a:off x="1878948" y="4759325"/>
                  <a:ext cx="0" cy="24765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3" name="Line 49"/>
                <p:cNvSpPr>
                  <a:spLocks noChangeShapeType="1"/>
                </p:cNvSpPr>
                <p:nvPr/>
              </p:nvSpPr>
              <p:spPr bwMode="auto">
                <a:xfrm rot="5400000">
                  <a:off x="1924986" y="4948237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4" name="Line 50"/>
                <p:cNvSpPr>
                  <a:spLocks noChangeShapeType="1"/>
                </p:cNvSpPr>
                <p:nvPr/>
              </p:nvSpPr>
              <p:spPr bwMode="auto">
                <a:xfrm rot="5400000">
                  <a:off x="1924986" y="5092700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5" name="Line 51"/>
                <p:cNvSpPr>
                  <a:spLocks noChangeShapeType="1"/>
                </p:cNvSpPr>
                <p:nvPr/>
              </p:nvSpPr>
              <p:spPr bwMode="auto">
                <a:xfrm rot="5400000">
                  <a:off x="1924986" y="5237162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6" name="Line 52"/>
                <p:cNvSpPr>
                  <a:spLocks noChangeShapeType="1"/>
                </p:cNvSpPr>
                <p:nvPr/>
              </p:nvSpPr>
              <p:spPr bwMode="auto">
                <a:xfrm rot="5400000">
                  <a:off x="1924986" y="5381625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7" name="Line 53"/>
                <p:cNvSpPr>
                  <a:spLocks noChangeShapeType="1"/>
                </p:cNvSpPr>
                <p:nvPr/>
              </p:nvSpPr>
              <p:spPr bwMode="auto">
                <a:xfrm rot="5400000">
                  <a:off x="1871011" y="5470525"/>
                  <a:ext cx="0" cy="26352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8" name="Line 54"/>
                <p:cNvSpPr>
                  <a:spLocks noChangeShapeType="1"/>
                </p:cNvSpPr>
                <p:nvPr/>
              </p:nvSpPr>
              <p:spPr bwMode="auto">
                <a:xfrm rot="5400000">
                  <a:off x="1924986" y="5668962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19" name="Line 55"/>
                <p:cNvSpPr>
                  <a:spLocks noChangeShapeType="1"/>
                </p:cNvSpPr>
                <p:nvPr/>
              </p:nvSpPr>
              <p:spPr bwMode="auto">
                <a:xfrm rot="5400000">
                  <a:off x="1924986" y="5813425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20" name="Line 56"/>
                <p:cNvSpPr>
                  <a:spLocks noChangeShapeType="1"/>
                </p:cNvSpPr>
                <p:nvPr/>
              </p:nvSpPr>
              <p:spPr bwMode="auto">
                <a:xfrm rot="5400000">
                  <a:off x="1924986" y="5957887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21" name="Line 57"/>
                <p:cNvSpPr>
                  <a:spLocks noChangeShapeType="1"/>
                </p:cNvSpPr>
                <p:nvPr/>
              </p:nvSpPr>
              <p:spPr bwMode="auto">
                <a:xfrm rot="5400000">
                  <a:off x="1924986" y="6102350"/>
                  <a:ext cx="0" cy="15557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22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120498" y="6178550"/>
                  <a:ext cx="471902" cy="5476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>
                      <a:solidFill>
                        <a:srgbClr val="3333FF"/>
                      </a:solidFill>
                      <a:latin typeface="Comic Sans MS" panose="030F0702030302020204" pitchFamily="66" charset="0"/>
                    </a:rPr>
                    <a:t>V</a:t>
                  </a:r>
                  <a:r>
                    <a:rPr lang="es-ES" sz="2000" baseline="-2500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D</a:t>
                  </a:r>
                </a:p>
              </p:txBody>
            </p:sp>
            <p:sp>
              <p:nvSpPr>
                <p:cNvPr id="123" name="Line 62"/>
                <p:cNvSpPr>
                  <a:spLocks noChangeShapeType="1"/>
                </p:cNvSpPr>
                <p:nvPr/>
              </p:nvSpPr>
              <p:spPr bwMode="auto">
                <a:xfrm>
                  <a:off x="3426760" y="6318250"/>
                  <a:ext cx="0" cy="24765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24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494773" y="4624388"/>
                  <a:ext cx="293687" cy="482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25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478898" y="5349875"/>
                  <a:ext cx="293687" cy="482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26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2547285" y="6497638"/>
                  <a:ext cx="293688" cy="482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27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293410" y="6500813"/>
                  <a:ext cx="293688" cy="482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600">
                      <a:solidFill>
                        <a:srgbClr val="3333FF"/>
                      </a:solidFill>
                      <a:latin typeface="Arial" panose="020B0604020202020204" pitchFamily="34" charset="0"/>
                    </a:rPr>
                    <a:t>2</a:t>
                  </a:r>
                </a:p>
              </p:txBody>
            </p:sp>
          </p:grpSp>
        </p:grpSp>
      </p:grpSp>
      <p:sp>
        <p:nvSpPr>
          <p:cNvPr id="152" name="Text Box 100"/>
          <p:cNvSpPr txBox="1">
            <a:spLocks noChangeArrowheads="1"/>
          </p:cNvSpPr>
          <p:nvPr/>
        </p:nvSpPr>
        <p:spPr bwMode="auto">
          <a:xfrm>
            <a:off x="3574420" y="1545669"/>
            <a:ext cx="5097680" cy="60925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Ec. Shockley en polarización directa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Box 73"/>
          <p:cNvSpPr txBox="1">
            <a:spLocks noChangeArrowheads="1"/>
          </p:cNvSpPr>
          <p:nvPr/>
        </p:nvSpPr>
        <p:spPr bwMode="auto">
          <a:xfrm>
            <a:off x="1293070" y="1553389"/>
            <a:ext cx="2092327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Ec. adicional:</a:t>
            </a:r>
            <a:endParaRPr lang="es-ES" sz="2000" dirty="0">
              <a:solidFill>
                <a:schemeClr val="tx2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2" name="102 CuadroTexto"/>
          <p:cNvSpPr txBox="1">
            <a:spLocks noChangeArrowheads="1"/>
          </p:cNvSpPr>
          <p:nvPr/>
        </p:nvSpPr>
        <p:spPr bwMode="auto">
          <a:xfrm>
            <a:off x="1308794" y="338550"/>
            <a:ext cx="1793635" cy="46166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1ª OPCIÓN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93" name="Line 33"/>
          <p:cNvSpPr>
            <a:spLocks noChangeShapeType="1"/>
          </p:cNvSpPr>
          <p:nvPr/>
        </p:nvSpPr>
        <p:spPr bwMode="auto">
          <a:xfrm>
            <a:off x="1725547" y="3282415"/>
            <a:ext cx="2170113" cy="21542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118800" rIns="90000" bIns="118800" anchor="ctr" anchorCtr="1">
            <a:spAutoFit/>
          </a:bodyPr>
          <a:lstStyle/>
          <a:p>
            <a:endParaRPr lang="es-ES"/>
          </a:p>
        </p:txBody>
      </p:sp>
      <p:grpSp>
        <p:nvGrpSpPr>
          <p:cNvPr id="94" name="Group 110"/>
          <p:cNvGrpSpPr>
            <a:grpSpLocks/>
          </p:cNvGrpSpPr>
          <p:nvPr/>
        </p:nvGrpSpPr>
        <p:grpSpPr bwMode="auto">
          <a:xfrm>
            <a:off x="2103372" y="3641190"/>
            <a:ext cx="1411288" cy="1411288"/>
            <a:chOff x="1135" y="3065"/>
            <a:chExt cx="889" cy="889"/>
          </a:xfrm>
        </p:grpSpPr>
        <p:sp>
          <p:nvSpPr>
            <p:cNvPr id="95" name="Line 60"/>
            <p:cNvSpPr>
              <a:spLocks noChangeShapeType="1"/>
            </p:cNvSpPr>
            <p:nvPr/>
          </p:nvSpPr>
          <p:spPr bwMode="auto">
            <a:xfrm flipV="1">
              <a:off x="1485" y="3065"/>
              <a:ext cx="0" cy="88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  <p:sp>
          <p:nvSpPr>
            <p:cNvPr id="96" name="Line 61"/>
            <p:cNvSpPr>
              <a:spLocks noChangeShapeType="1"/>
            </p:cNvSpPr>
            <p:nvPr/>
          </p:nvSpPr>
          <p:spPr bwMode="auto">
            <a:xfrm rot="5400000" flipV="1">
              <a:off x="1580" y="2990"/>
              <a:ext cx="0" cy="88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118800" rIns="90000" bIns="118800" anchor="ctr" anchorCtr="1">
              <a:spAutoFit/>
            </a:bodyPr>
            <a:lstStyle/>
            <a:p>
              <a:endParaRPr lang="es-ES"/>
            </a:p>
          </p:txBody>
        </p:sp>
      </p:grpSp>
      <p:sp>
        <p:nvSpPr>
          <p:cNvPr id="133" name="Text Box 75"/>
          <p:cNvSpPr txBox="1">
            <a:spLocks noChangeArrowheads="1"/>
          </p:cNvSpPr>
          <p:nvPr/>
        </p:nvSpPr>
        <p:spPr bwMode="auto">
          <a:xfrm>
            <a:off x="6674996" y="2354786"/>
            <a:ext cx="2728930" cy="670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/R  1/R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4" name="Text Box 76"/>
          <p:cNvSpPr txBox="1">
            <a:spLocks noChangeArrowheads="1"/>
          </p:cNvSpPr>
          <p:nvPr/>
        </p:nvSpPr>
        <p:spPr bwMode="auto">
          <a:xfrm>
            <a:off x="6790442" y="3001778"/>
            <a:ext cx="2478092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Y  =  a   +    b   X</a:t>
            </a:r>
          </a:p>
        </p:txBody>
      </p:sp>
      <p:sp>
        <p:nvSpPr>
          <p:cNvPr id="136" name="Text Box 87"/>
          <p:cNvSpPr txBox="1">
            <a:spLocks noChangeArrowheads="1"/>
          </p:cNvSpPr>
          <p:nvPr/>
        </p:nvSpPr>
        <p:spPr bwMode="auto">
          <a:xfrm>
            <a:off x="6679115" y="3803174"/>
            <a:ext cx="1140354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0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7" name="Text Box 88"/>
          <p:cNvSpPr txBox="1">
            <a:spLocks noChangeArrowheads="1"/>
          </p:cNvSpPr>
          <p:nvPr/>
        </p:nvSpPr>
        <p:spPr bwMode="auto">
          <a:xfrm>
            <a:off x="6806391" y="4379257"/>
            <a:ext cx="1018525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0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38" name="Oval 91"/>
          <p:cNvSpPr>
            <a:spLocks noChangeArrowheads="1"/>
          </p:cNvSpPr>
          <p:nvPr/>
        </p:nvSpPr>
        <p:spPr bwMode="auto">
          <a:xfrm>
            <a:off x="2035110" y="3598289"/>
            <a:ext cx="107950" cy="107950"/>
          </a:xfrm>
          <a:prstGeom prst="ellipse">
            <a:avLst/>
          </a:prstGeom>
          <a:solidFill>
            <a:srgbClr val="969696"/>
          </a:solidFill>
          <a:ln w="25400" algn="ctr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9" name="Oval 92"/>
          <p:cNvSpPr>
            <a:spLocks noChangeArrowheads="1"/>
          </p:cNvSpPr>
          <p:nvPr/>
        </p:nvSpPr>
        <p:spPr bwMode="auto">
          <a:xfrm>
            <a:off x="3474972" y="5019102"/>
            <a:ext cx="107950" cy="107950"/>
          </a:xfrm>
          <a:prstGeom prst="ellipse">
            <a:avLst/>
          </a:prstGeom>
          <a:solidFill>
            <a:srgbClr val="969696"/>
          </a:solidFill>
          <a:ln w="25400" algn="ctr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40" name="Group 108"/>
          <p:cNvGrpSpPr>
            <a:grpSpLocks/>
          </p:cNvGrpSpPr>
          <p:nvPr/>
        </p:nvGrpSpPr>
        <p:grpSpPr bwMode="auto">
          <a:xfrm>
            <a:off x="4797032" y="3669132"/>
            <a:ext cx="1941514" cy="1347788"/>
            <a:chOff x="3004" y="3640"/>
            <a:chExt cx="1223" cy="849"/>
          </a:xfrm>
        </p:grpSpPr>
        <p:sp>
          <p:nvSpPr>
            <p:cNvPr id="141" name="AutoShape 90"/>
            <p:cNvSpPr>
              <a:spLocks/>
            </p:cNvSpPr>
            <p:nvPr/>
          </p:nvSpPr>
          <p:spPr bwMode="auto">
            <a:xfrm>
              <a:off x="4070" y="3750"/>
              <a:ext cx="157" cy="650"/>
            </a:xfrm>
            <a:prstGeom prst="leftBrace">
              <a:avLst>
                <a:gd name="adj1" fmla="val 25902"/>
                <a:gd name="adj2" fmla="val 50000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2" name="Text Box 93"/>
            <p:cNvSpPr txBox="1">
              <a:spLocks noChangeArrowheads="1"/>
            </p:cNvSpPr>
            <p:nvPr/>
          </p:nvSpPr>
          <p:spPr bwMode="auto">
            <a:xfrm>
              <a:off x="3004" y="3640"/>
              <a:ext cx="980" cy="84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Puntos de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corte con ejes, p.ej. </a:t>
              </a:r>
            </a:p>
          </p:txBody>
        </p:sp>
      </p:grpSp>
      <p:sp>
        <p:nvSpPr>
          <p:cNvPr id="143" name="Text Box 94"/>
          <p:cNvSpPr txBox="1">
            <a:spLocks noChangeArrowheads="1"/>
          </p:cNvSpPr>
          <p:nvPr/>
        </p:nvSpPr>
        <p:spPr bwMode="auto">
          <a:xfrm>
            <a:off x="6630286" y="5299999"/>
            <a:ext cx="1654817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0,8 V</a:t>
            </a:r>
          </a:p>
        </p:txBody>
      </p:sp>
      <p:sp>
        <p:nvSpPr>
          <p:cNvPr id="144" name="Text Box 95"/>
          <p:cNvSpPr txBox="1">
            <a:spLocks noChangeArrowheads="1"/>
          </p:cNvSpPr>
          <p:nvPr/>
        </p:nvSpPr>
        <p:spPr bwMode="auto">
          <a:xfrm>
            <a:off x="8372211" y="5299999"/>
            <a:ext cx="2345812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I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1,2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mA</a:t>
            </a:r>
          </a:p>
        </p:txBody>
      </p:sp>
      <p:sp>
        <p:nvSpPr>
          <p:cNvPr id="146" name="Text Box 97"/>
          <p:cNvSpPr txBox="1">
            <a:spLocks noChangeArrowheads="1"/>
          </p:cNvSpPr>
          <p:nvPr/>
        </p:nvSpPr>
        <p:spPr bwMode="auto">
          <a:xfrm>
            <a:off x="7001151" y="6159881"/>
            <a:ext cx="3716125" cy="67080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s-ES" sz="28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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- V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R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I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= 1,2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</a:p>
        </p:txBody>
      </p:sp>
      <p:grpSp>
        <p:nvGrpSpPr>
          <p:cNvPr id="147" name="Group 107"/>
          <p:cNvGrpSpPr>
            <a:grpSpLocks/>
          </p:cNvGrpSpPr>
          <p:nvPr/>
        </p:nvGrpSpPr>
        <p:grpSpPr bwMode="auto">
          <a:xfrm>
            <a:off x="4796933" y="2369016"/>
            <a:ext cx="1955801" cy="1228728"/>
            <a:chOff x="3364" y="2926"/>
            <a:chExt cx="1232" cy="774"/>
          </a:xfrm>
        </p:grpSpPr>
        <p:sp>
          <p:nvSpPr>
            <p:cNvPr id="148" name="Text Box 77"/>
            <p:cNvSpPr txBox="1">
              <a:spLocks noChangeArrowheads="1"/>
            </p:cNvSpPr>
            <p:nvPr/>
          </p:nvSpPr>
          <p:spPr bwMode="auto">
            <a:xfrm>
              <a:off x="3364" y="2926"/>
              <a:ext cx="968" cy="7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FFFF"/>
                  </a:solidFill>
                  <a:latin typeface="Arial" panose="020B0604020202020204" pitchFamily="34" charset="0"/>
                </a:rPr>
                <a:t>Recta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FFFF"/>
                  </a:solidFill>
                  <a:latin typeface="Arial" panose="020B0604020202020204" pitchFamily="34" charset="0"/>
                </a:rPr>
                <a:t>de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FFFF"/>
                  </a:solidFill>
                  <a:latin typeface="Arial" panose="020B0604020202020204" pitchFamily="34" charset="0"/>
                </a:rPr>
                <a:t>carga</a:t>
              </a:r>
            </a:p>
          </p:txBody>
        </p:sp>
        <p:sp>
          <p:nvSpPr>
            <p:cNvPr id="149" name="AutoShape 98"/>
            <p:cNvSpPr>
              <a:spLocks/>
            </p:cNvSpPr>
            <p:nvPr/>
          </p:nvSpPr>
          <p:spPr bwMode="auto">
            <a:xfrm>
              <a:off x="4425" y="2988"/>
              <a:ext cx="171" cy="712"/>
            </a:xfrm>
            <a:prstGeom prst="leftBrace">
              <a:avLst>
                <a:gd name="adj1" fmla="val 26703"/>
                <a:gd name="adj2" fmla="val 50771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118800" rIns="90000" bIns="118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3" name="Oval 92"/>
          <p:cNvSpPr>
            <a:spLocks noChangeArrowheads="1"/>
          </p:cNvSpPr>
          <p:nvPr/>
        </p:nvSpPr>
        <p:spPr bwMode="auto">
          <a:xfrm>
            <a:off x="2603473" y="4167131"/>
            <a:ext cx="107950" cy="107950"/>
          </a:xfrm>
          <a:prstGeom prst="ellipse">
            <a:avLst/>
          </a:prstGeom>
          <a:solidFill>
            <a:srgbClr val="FFFFFF"/>
          </a:solidFill>
          <a:ln w="25400" algn="ctr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4" name="Text Box 70"/>
          <p:cNvSpPr txBox="1">
            <a:spLocks noChangeArrowheads="1"/>
          </p:cNvSpPr>
          <p:nvPr/>
        </p:nvSpPr>
        <p:spPr bwMode="auto">
          <a:xfrm>
            <a:off x="3581735" y="901249"/>
            <a:ext cx="2179303" cy="576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36000" rIns="90000" bIns="1080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+ R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413DC63-7112-4722-B118-C2A753155135}"/>
              </a:ext>
            </a:extLst>
          </p:cNvPr>
          <p:cNvGrpSpPr/>
          <p:nvPr/>
        </p:nvGrpSpPr>
        <p:grpSpPr>
          <a:xfrm>
            <a:off x="1562861" y="6013957"/>
            <a:ext cx="2738524" cy="670808"/>
            <a:chOff x="-10665051" y="10061542"/>
            <a:chExt cx="2738524" cy="670808"/>
          </a:xfrm>
        </p:grpSpPr>
        <p:sp>
          <p:nvSpPr>
            <p:cNvPr id="78" name="Text Box 73">
              <a:extLst>
                <a:ext uri="{FF2B5EF4-FFF2-40B4-BE49-F238E27FC236}">
                  <a16:creationId xmlns:a16="http://schemas.microsoft.com/office/drawing/2014/main" id="{FE22DEF3-FDA7-4FE2-807A-83D483C5B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665051" y="10061542"/>
              <a:ext cx="1149972" cy="670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2 V</a:t>
              </a:r>
            </a:p>
          </p:txBody>
        </p:sp>
        <p:sp>
          <p:nvSpPr>
            <p:cNvPr id="79" name="Text Box 74">
              <a:extLst>
                <a:ext uri="{FF2B5EF4-FFF2-40B4-BE49-F238E27FC236}">
                  <a16:creationId xmlns:a16="http://schemas.microsoft.com/office/drawing/2014/main" id="{8B69127A-EB45-40E8-8BF8-9A3108CC4E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411527" y="10114411"/>
              <a:ext cx="1485000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R = 1 k</a:t>
              </a:r>
            </a:p>
          </p:txBody>
        </p:sp>
      </p:grpSp>
      <p:sp>
        <p:nvSpPr>
          <p:cNvPr id="131" name="Text Box 67"/>
          <p:cNvSpPr txBox="1">
            <a:spLocks noChangeArrowheads="1"/>
          </p:cNvSpPr>
          <p:nvPr/>
        </p:nvSpPr>
        <p:spPr bwMode="auto">
          <a:xfrm>
            <a:off x="4810636" y="5102366"/>
            <a:ext cx="1501734" cy="978584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Punto de trabajo</a:t>
            </a:r>
          </a:p>
        </p:txBody>
      </p:sp>
      <p:sp>
        <p:nvSpPr>
          <p:cNvPr id="132" name="Line 68"/>
          <p:cNvSpPr>
            <a:spLocks noChangeShapeType="1"/>
          </p:cNvSpPr>
          <p:nvPr/>
        </p:nvSpPr>
        <p:spPr bwMode="auto">
          <a:xfrm>
            <a:off x="2886008" y="4302683"/>
            <a:ext cx="1698413" cy="736647"/>
          </a:xfrm>
          <a:prstGeom prst="line">
            <a:avLst/>
          </a:prstGeom>
          <a:noFill/>
          <a:ln w="25400">
            <a:solidFill>
              <a:srgbClr val="666699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118800" rIns="90000" bIns="118800" anchor="ctr" anchorCtr="1">
            <a:spAutoFit/>
          </a:bodyPr>
          <a:lstStyle/>
          <a:p>
            <a:endParaRPr lang="es-ES"/>
          </a:p>
        </p:txBody>
      </p:sp>
      <p:sp>
        <p:nvSpPr>
          <p:cNvPr id="71" name="Text Box 73">
            <a:extLst>
              <a:ext uri="{FF2B5EF4-FFF2-40B4-BE49-F238E27FC236}">
                <a16:creationId xmlns:a16="http://schemas.microsoft.com/office/drawing/2014/main" id="{87F6C5A5-8AB0-44D7-A5CA-ECE07ADBF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709" y="6022495"/>
            <a:ext cx="1536701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Verifica las 2 </a:t>
            </a:r>
            <a:r>
              <a:rPr lang="es-ES" sz="2400" dirty="0" err="1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ecs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  <a:endParaRPr lang="es-ES" sz="20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5" name="Line 86">
            <a:extLst>
              <a:ext uri="{FF2B5EF4-FFF2-40B4-BE49-F238E27FC236}">
                <a16:creationId xmlns:a16="http://schemas.microsoft.com/office/drawing/2014/main" id="{84304403-6B14-40AB-B9F2-3E0D5C9C99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10885" y="2209358"/>
            <a:ext cx="785696" cy="7535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0000" tIns="118800" rIns="90000" bIns="118800" anchor="ctr" anchorCtr="1">
            <a:spAutoFit/>
          </a:bodyPr>
          <a:lstStyle/>
          <a:p>
            <a:endParaRPr lang="es-ES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3B88A2F-E32F-4D35-8118-43662C2739D8}"/>
              </a:ext>
            </a:extLst>
          </p:cNvPr>
          <p:cNvSpPr/>
          <p:nvPr/>
        </p:nvSpPr>
        <p:spPr bwMode="auto">
          <a:xfrm>
            <a:off x="5922682" y="1170970"/>
            <a:ext cx="3577022" cy="1027496"/>
          </a:xfrm>
          <a:custGeom>
            <a:avLst/>
            <a:gdLst>
              <a:gd name="connsiteX0" fmla="*/ 0 w 2745426"/>
              <a:gd name="connsiteY0" fmla="*/ 22913 h 975413"/>
              <a:gd name="connsiteX1" fmla="*/ 2066925 w 2745426"/>
              <a:gd name="connsiteY1" fmla="*/ 22913 h 975413"/>
              <a:gd name="connsiteX2" fmla="*/ 2733675 w 2745426"/>
              <a:gd name="connsiteY2" fmla="*/ 261038 h 975413"/>
              <a:gd name="connsiteX3" fmla="*/ 2428875 w 2745426"/>
              <a:gd name="connsiteY3" fmla="*/ 975413 h 975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5426" h="975413">
                <a:moveTo>
                  <a:pt x="0" y="22913"/>
                </a:moveTo>
                <a:cubicBezTo>
                  <a:pt x="805656" y="3069"/>
                  <a:pt x="1611313" y="-16774"/>
                  <a:pt x="2066925" y="22913"/>
                </a:cubicBezTo>
                <a:cubicBezTo>
                  <a:pt x="2522537" y="62600"/>
                  <a:pt x="2673350" y="102288"/>
                  <a:pt x="2733675" y="261038"/>
                </a:cubicBezTo>
                <a:cubicBezTo>
                  <a:pt x="2794000" y="419788"/>
                  <a:pt x="2611437" y="697600"/>
                  <a:pt x="2428875" y="975413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8" name="Text Box 87">
            <a:extLst>
              <a:ext uri="{FF2B5EF4-FFF2-40B4-BE49-F238E27FC236}">
                <a16:creationId xmlns:a16="http://schemas.microsoft.com/office/drawing/2014/main" id="{CAFCD837-CD86-E7B6-F846-AB00A77D8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7395" y="3727589"/>
            <a:ext cx="2852361" cy="670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I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/R = 2 mA</a:t>
            </a:r>
          </a:p>
        </p:txBody>
      </p:sp>
      <p:sp>
        <p:nvSpPr>
          <p:cNvPr id="9" name="Text Box 88">
            <a:extLst>
              <a:ext uri="{FF2B5EF4-FFF2-40B4-BE49-F238E27FC236}">
                <a16:creationId xmlns:a16="http://schemas.microsoft.com/office/drawing/2014/main" id="{0441E580-B73E-443A-C4D3-96AC24926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418" y="4296062"/>
            <a:ext cx="2324973" cy="670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2 V</a:t>
            </a:r>
          </a:p>
        </p:txBody>
      </p:sp>
      <p:sp>
        <p:nvSpPr>
          <p:cNvPr id="3" name="102 CuadroTexto">
            <a:extLst>
              <a:ext uri="{FF2B5EF4-FFF2-40B4-BE49-F238E27FC236}">
                <a16:creationId xmlns:a16="http://schemas.microsoft.com/office/drawing/2014/main" id="{EE020133-A78C-1F0B-9343-E8A398DF1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4420" y="331887"/>
            <a:ext cx="6771822" cy="507832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Resolver gráficamente el </a:t>
            </a:r>
            <a:r>
              <a:rPr lang="es-ES" sz="2400" dirty="0">
                <a:latin typeface="Arial" panose="020B0604020202020204" pitchFamily="34" charset="0"/>
              </a:rPr>
              <a:t>sistema de ecuaciones</a:t>
            </a:r>
          </a:p>
        </p:txBody>
      </p:sp>
    </p:spTree>
    <p:extLst>
      <p:ext uri="{BB962C8B-B14F-4D97-AF65-F5344CB8AC3E}">
        <p14:creationId xmlns:p14="http://schemas.microsoft.com/office/powerpoint/2010/main" val="1239665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 animBg="1"/>
      <p:bldP spid="83" grpId="0" animBg="1"/>
      <p:bldP spid="82" grpId="0" animBg="1"/>
      <p:bldP spid="93" grpId="0" animBg="1"/>
      <p:bldP spid="133" grpId="0"/>
      <p:bldP spid="134" grpId="0"/>
      <p:bldP spid="136" grpId="0"/>
      <p:bldP spid="137" grpId="0"/>
      <p:bldP spid="138" grpId="0" animBg="1"/>
      <p:bldP spid="139" grpId="0" animBg="1"/>
      <p:bldP spid="143" grpId="0" animBg="1"/>
      <p:bldP spid="144" grpId="0" animBg="1"/>
      <p:bldP spid="146" grpId="0" animBg="1"/>
      <p:bldP spid="153" grpId="0" animBg="1"/>
      <p:bldP spid="164" grpId="0" animBg="1"/>
      <p:bldP spid="131" grpId="0" animBg="1"/>
      <p:bldP spid="132" grpId="0" animBg="1"/>
      <p:bldP spid="71" grpId="0"/>
      <p:bldP spid="75" grpId="0" animBg="1"/>
      <p:bldP spid="10" grpId="0" animBg="1"/>
      <p:bldP spid="8" grpId="0"/>
      <p:bldP spid="9" grpId="0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19F35ADD-4A33-DF24-AB0E-63BEDDC86E1E}"/>
              </a:ext>
            </a:extLst>
          </p:cNvPr>
          <p:cNvSpPr/>
          <p:nvPr/>
        </p:nvSpPr>
        <p:spPr bwMode="auto">
          <a:xfrm>
            <a:off x="6603295" y="1169574"/>
            <a:ext cx="3279767" cy="304488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086468" name="Text Box 4"/>
          <p:cNvSpPr txBox="1">
            <a:spLocks noChangeArrowheads="1"/>
          </p:cNvSpPr>
          <p:nvPr/>
        </p:nvSpPr>
        <p:spPr bwMode="auto">
          <a:xfrm>
            <a:off x="1260476" y="2680548"/>
            <a:ext cx="4446587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La modelización permite la </a:t>
            </a:r>
            <a:r>
              <a:rPr lang="es-ES" sz="2400" dirty="0">
                <a:latin typeface="Arial" panose="020B0604020202020204" pitchFamily="34" charset="0"/>
              </a:rPr>
              <a:t>aplicación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de todo lo que exige un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comportamiento lineal</a:t>
            </a:r>
            <a:r>
              <a:rPr lang="es-ES" sz="2400" dirty="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1086469" name="Text Box 5"/>
          <p:cNvSpPr txBox="1">
            <a:spLocks noChangeArrowheads="1"/>
          </p:cNvSpPr>
          <p:nvPr/>
        </p:nvSpPr>
        <p:spPr bwMode="auto">
          <a:xfrm>
            <a:off x="1260476" y="1102095"/>
            <a:ext cx="4500562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>
                <a:latin typeface="Arial" panose="020B0604020202020204" pitchFamily="34" charset="0"/>
              </a:rPr>
              <a:t> La aproximación lineal facilita los cálculos, pero supone cometer un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error</a:t>
            </a:r>
          </a:p>
        </p:txBody>
      </p:sp>
      <p:grpSp>
        <p:nvGrpSpPr>
          <p:cNvPr id="10" name="Group 59"/>
          <p:cNvGrpSpPr>
            <a:grpSpLocks/>
          </p:cNvGrpSpPr>
          <p:nvPr/>
        </p:nvGrpSpPr>
        <p:grpSpPr bwMode="auto">
          <a:xfrm>
            <a:off x="6975293" y="1266353"/>
            <a:ext cx="2776538" cy="2732088"/>
            <a:chOff x="1519" y="2287"/>
            <a:chExt cx="1749" cy="1721"/>
          </a:xfrm>
        </p:grpSpPr>
        <p:sp>
          <p:nvSpPr>
            <p:cNvPr id="37934" name="Text Box 60"/>
            <p:cNvSpPr txBox="1">
              <a:spLocks noChangeArrowheads="1"/>
            </p:cNvSpPr>
            <p:nvPr/>
          </p:nvSpPr>
          <p:spPr bwMode="auto">
            <a:xfrm>
              <a:off x="1634" y="2948"/>
              <a:ext cx="256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endParaRPr lang="es-ES" sz="2000" b="1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35" name="Text Box 61"/>
            <p:cNvSpPr txBox="1">
              <a:spLocks noChangeArrowheads="1"/>
            </p:cNvSpPr>
            <p:nvPr/>
          </p:nvSpPr>
          <p:spPr bwMode="auto">
            <a:xfrm>
              <a:off x="2482" y="3281"/>
              <a:ext cx="300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U</a:t>
              </a:r>
              <a:endParaRPr lang="es-ES" sz="2000" b="1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7936" name="Group 62"/>
            <p:cNvGrpSpPr>
              <a:grpSpLocks/>
            </p:cNvGrpSpPr>
            <p:nvPr/>
          </p:nvGrpSpPr>
          <p:grpSpPr bwMode="auto">
            <a:xfrm>
              <a:off x="1519" y="2287"/>
              <a:ext cx="1749" cy="1721"/>
              <a:chOff x="1519" y="2287"/>
              <a:chExt cx="1749" cy="1721"/>
            </a:xfrm>
          </p:grpSpPr>
          <p:sp>
            <p:nvSpPr>
              <p:cNvPr id="37937" name="Line 63"/>
              <p:cNvSpPr>
                <a:spLocks noChangeShapeType="1"/>
              </p:cNvSpPr>
              <p:nvPr/>
            </p:nvSpPr>
            <p:spPr bwMode="auto">
              <a:xfrm>
                <a:off x="2241" y="2563"/>
                <a:ext cx="0" cy="144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37938" name="Line 64"/>
              <p:cNvSpPr>
                <a:spLocks noChangeShapeType="1"/>
              </p:cNvSpPr>
              <p:nvPr/>
            </p:nvSpPr>
            <p:spPr bwMode="auto">
              <a:xfrm rot="5400000">
                <a:off x="2242" y="2563"/>
                <a:ext cx="0" cy="144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37939" name="Line 65"/>
              <p:cNvSpPr>
                <a:spLocks noChangeShapeType="1"/>
              </p:cNvSpPr>
              <p:nvPr/>
            </p:nvSpPr>
            <p:spPr bwMode="auto">
              <a:xfrm>
                <a:off x="1774" y="3286"/>
                <a:ext cx="869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37940" name="Line 66"/>
              <p:cNvSpPr>
                <a:spLocks noChangeShapeType="1"/>
              </p:cNvSpPr>
              <p:nvPr/>
            </p:nvSpPr>
            <p:spPr bwMode="auto">
              <a:xfrm rot="16200000" flipH="1">
                <a:off x="2263" y="2933"/>
                <a:ext cx="732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37941" name="Line 67"/>
              <p:cNvSpPr>
                <a:spLocks noChangeShapeType="1"/>
              </p:cNvSpPr>
              <p:nvPr/>
            </p:nvSpPr>
            <p:spPr bwMode="auto">
              <a:xfrm rot="16200000" flipH="1">
                <a:off x="1419" y="3639"/>
                <a:ext cx="732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37942" name="Text Box 68"/>
              <p:cNvSpPr txBox="1">
                <a:spLocks noChangeArrowheads="1"/>
              </p:cNvSpPr>
              <p:nvPr/>
            </p:nvSpPr>
            <p:spPr bwMode="auto">
              <a:xfrm>
                <a:off x="2093" y="2287"/>
                <a:ext cx="28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latin typeface="Comic Sans MS" panose="030F0702030302020204" pitchFamily="66" charset="0"/>
                  </a:rPr>
                  <a:t>I</a:t>
                </a:r>
                <a:r>
                  <a:rPr lang="es-ES" sz="2000" baseline="-25000">
                    <a:latin typeface="Arial" panose="020B0604020202020204" pitchFamily="34" charset="0"/>
                  </a:rPr>
                  <a:t>D</a:t>
                </a:r>
                <a:endParaRPr lang="es-E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7943" name="Text Box 69"/>
              <p:cNvSpPr txBox="1">
                <a:spLocks noChangeArrowheads="1"/>
              </p:cNvSpPr>
              <p:nvPr/>
            </p:nvSpPr>
            <p:spPr bwMode="auto">
              <a:xfrm>
                <a:off x="2971" y="3172"/>
                <a:ext cx="297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latin typeface="Comic Sans MS" panose="030F0702030302020204" pitchFamily="66" charset="0"/>
                  </a:rPr>
                  <a:t>V</a:t>
                </a:r>
                <a:r>
                  <a:rPr lang="es-ES" sz="2000" baseline="-25000">
                    <a:latin typeface="Arial" panose="020B0604020202020204" pitchFamily="34" charset="0"/>
                  </a:rPr>
                  <a:t>D</a:t>
                </a:r>
                <a:endParaRPr lang="es-ES" sz="20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273" name="Text Box 105"/>
          <p:cNvSpPr txBox="1">
            <a:spLocks noChangeArrowheads="1"/>
          </p:cNvSpPr>
          <p:nvPr/>
        </p:nvSpPr>
        <p:spPr bwMode="auto">
          <a:xfrm>
            <a:off x="6603296" y="337958"/>
            <a:ext cx="3293428" cy="609252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Modelo lineal ideal</a:t>
            </a:r>
          </a:p>
        </p:txBody>
      </p:sp>
      <p:sp>
        <p:nvSpPr>
          <p:cNvPr id="7278" name="Text Box 110"/>
          <p:cNvSpPr txBox="1">
            <a:spLocks noChangeArrowheads="1"/>
          </p:cNvSpPr>
          <p:nvPr/>
        </p:nvSpPr>
        <p:spPr bwMode="auto">
          <a:xfrm>
            <a:off x="5919498" y="4329665"/>
            <a:ext cx="3977225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d</a:t>
            </a: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</a:rPr>
              <a:t>iodo es equivalente a: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8199471" y="2422843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</a:t>
            </a:r>
            <a:endParaRPr lang="es-ES" sz="2400"/>
          </a:p>
        </p:txBody>
      </p:sp>
      <p:sp>
        <p:nvSpPr>
          <p:cNvPr id="69" name="CuadroTexto 68"/>
          <p:cNvSpPr txBox="1"/>
          <p:nvPr/>
        </p:nvSpPr>
        <p:spPr>
          <a:xfrm>
            <a:off x="7590097" y="2430726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</a:t>
            </a:r>
            <a:endParaRPr lang="es-ES" sz="2400"/>
          </a:p>
        </p:txBody>
      </p:sp>
      <p:grpSp>
        <p:nvGrpSpPr>
          <p:cNvPr id="5" name="Grupo 4"/>
          <p:cNvGrpSpPr/>
          <p:nvPr/>
        </p:nvGrpSpPr>
        <p:grpSpPr>
          <a:xfrm>
            <a:off x="7547543" y="5133268"/>
            <a:ext cx="1266470" cy="1576389"/>
            <a:chOff x="7503999" y="5137327"/>
            <a:chExt cx="1266470" cy="1576389"/>
          </a:xfrm>
        </p:grpSpPr>
        <p:grpSp>
          <p:nvGrpSpPr>
            <p:cNvPr id="6" name="Group 109"/>
            <p:cNvGrpSpPr>
              <a:grpSpLocks/>
            </p:cNvGrpSpPr>
            <p:nvPr/>
          </p:nvGrpSpPr>
          <p:grpSpPr bwMode="auto">
            <a:xfrm>
              <a:off x="7865594" y="5137327"/>
              <a:ext cx="904875" cy="1576389"/>
              <a:chOff x="1354" y="2093"/>
              <a:chExt cx="570" cy="993"/>
            </a:xfrm>
          </p:grpSpPr>
          <p:sp>
            <p:nvSpPr>
              <p:cNvPr id="37947" name="Line 36"/>
              <p:cNvSpPr>
                <a:spLocks noChangeShapeType="1"/>
              </p:cNvSpPr>
              <p:nvPr/>
            </p:nvSpPr>
            <p:spPr bwMode="auto">
              <a:xfrm>
                <a:off x="1684" y="2118"/>
                <a:ext cx="144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37948" name="Text Box 37"/>
              <p:cNvSpPr txBox="1">
                <a:spLocks noChangeArrowheads="1"/>
              </p:cNvSpPr>
              <p:nvPr/>
            </p:nvSpPr>
            <p:spPr bwMode="auto">
              <a:xfrm>
                <a:off x="1354" y="2741"/>
                <a:ext cx="570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R = </a:t>
                </a: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</a:t>
                </a:r>
              </a:p>
            </p:txBody>
          </p:sp>
          <p:grpSp>
            <p:nvGrpSpPr>
              <p:cNvPr id="37951" name="Group 40"/>
              <p:cNvGrpSpPr>
                <a:grpSpLocks/>
              </p:cNvGrpSpPr>
              <p:nvPr/>
            </p:nvGrpSpPr>
            <p:grpSpPr bwMode="auto">
              <a:xfrm>
                <a:off x="1415" y="2093"/>
                <a:ext cx="437" cy="336"/>
                <a:chOff x="3165" y="3436"/>
                <a:chExt cx="437" cy="336"/>
              </a:xfrm>
            </p:grpSpPr>
            <p:sp>
              <p:nvSpPr>
                <p:cNvPr id="37952" name="Rectangle 41"/>
                <p:cNvSpPr>
                  <a:spLocks noChangeArrowheads="1"/>
                </p:cNvSpPr>
                <p:nvPr/>
              </p:nvSpPr>
              <p:spPr bwMode="auto">
                <a:xfrm>
                  <a:off x="3165" y="3446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 dirty="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53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3175" y="3448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dirty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7954" name="Rectangle 43"/>
                <p:cNvSpPr>
                  <a:spLocks noChangeArrowheads="1"/>
                </p:cNvSpPr>
                <p:nvPr/>
              </p:nvSpPr>
              <p:spPr bwMode="auto">
                <a:xfrm>
                  <a:off x="3377" y="3449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5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384" y="3436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</p:grpSp>
        </p:grpSp>
        <p:grpSp>
          <p:nvGrpSpPr>
            <p:cNvPr id="4" name="Grupo 3"/>
            <p:cNvGrpSpPr>
              <a:grpSpLocks/>
            </p:cNvGrpSpPr>
            <p:nvPr/>
          </p:nvGrpSpPr>
          <p:grpSpPr bwMode="auto">
            <a:xfrm>
              <a:off x="7829142" y="6150154"/>
              <a:ext cx="877887" cy="0"/>
              <a:chOff x="3540953" y="4160162"/>
              <a:chExt cx="878356" cy="0"/>
            </a:xfrm>
          </p:grpSpPr>
          <p:cxnSp>
            <p:nvCxnSpPr>
              <p:cNvPr id="37902" name="Conector recto 2"/>
              <p:cNvCxnSpPr>
                <a:cxnSpLocks noChangeShapeType="1"/>
              </p:cNvCxnSpPr>
              <p:nvPr/>
            </p:nvCxnSpPr>
            <p:spPr bwMode="auto">
              <a:xfrm>
                <a:off x="3540953" y="4160162"/>
                <a:ext cx="355346" cy="0"/>
              </a:xfrm>
              <a:prstGeom prst="line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903" name="Conector recto 66"/>
              <p:cNvCxnSpPr>
                <a:cxnSpLocks noChangeShapeType="1"/>
              </p:cNvCxnSpPr>
              <p:nvPr/>
            </p:nvCxnSpPr>
            <p:spPr bwMode="auto">
              <a:xfrm>
                <a:off x="4063963" y="4160162"/>
                <a:ext cx="355346" cy="0"/>
              </a:xfrm>
              <a:prstGeom prst="line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0" name="CuadroTexto 69"/>
            <p:cNvSpPr txBox="1"/>
            <p:nvPr/>
          </p:nvSpPr>
          <p:spPr>
            <a:xfrm>
              <a:off x="7503999" y="5207146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</a:t>
              </a:r>
              <a:endParaRPr lang="es-ES" sz="2400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8877193" y="5115097"/>
            <a:ext cx="1511644" cy="1657349"/>
            <a:chOff x="8942509" y="5119156"/>
            <a:chExt cx="1511644" cy="1657349"/>
          </a:xfrm>
        </p:grpSpPr>
        <p:grpSp>
          <p:nvGrpSpPr>
            <p:cNvPr id="11" name="Grupo 10"/>
            <p:cNvGrpSpPr>
              <a:grpSpLocks/>
            </p:cNvGrpSpPr>
            <p:nvPr/>
          </p:nvGrpSpPr>
          <p:grpSpPr bwMode="auto">
            <a:xfrm>
              <a:off x="9379532" y="5119156"/>
              <a:ext cx="1074621" cy="1657349"/>
              <a:chOff x="7609687" y="5090740"/>
              <a:chExt cx="1074612" cy="1657349"/>
            </a:xfrm>
          </p:grpSpPr>
          <p:grpSp>
            <p:nvGrpSpPr>
              <p:cNvPr id="37919" name="Group 108"/>
              <p:cNvGrpSpPr>
                <a:grpSpLocks/>
              </p:cNvGrpSpPr>
              <p:nvPr/>
            </p:nvGrpSpPr>
            <p:grpSpPr bwMode="auto">
              <a:xfrm>
                <a:off x="7609687" y="5090740"/>
                <a:ext cx="715963" cy="1657349"/>
                <a:chOff x="3015" y="2939"/>
                <a:chExt cx="451" cy="1044"/>
              </a:xfrm>
            </p:grpSpPr>
            <p:sp>
              <p:nvSpPr>
                <p:cNvPr id="37923" name="Line 21"/>
                <p:cNvSpPr>
                  <a:spLocks noChangeShapeType="1"/>
                </p:cNvSpPr>
                <p:nvPr/>
              </p:nvSpPr>
              <p:spPr bwMode="auto">
                <a:xfrm>
                  <a:off x="3015" y="3555"/>
                  <a:ext cx="422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grpSp>
              <p:nvGrpSpPr>
                <p:cNvPr id="37924" name="Group 22"/>
                <p:cNvGrpSpPr>
                  <a:grpSpLocks/>
                </p:cNvGrpSpPr>
                <p:nvPr/>
              </p:nvGrpSpPr>
              <p:grpSpPr bwMode="auto">
                <a:xfrm>
                  <a:off x="3213" y="3394"/>
                  <a:ext cx="46" cy="323"/>
                  <a:chOff x="2053" y="2010"/>
                  <a:chExt cx="46" cy="323"/>
                </a:xfrm>
              </p:grpSpPr>
              <p:sp>
                <p:nvSpPr>
                  <p:cNvPr id="3793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054" y="2010"/>
                    <a:ext cx="45" cy="323"/>
                  </a:xfrm>
                  <a:prstGeom prst="rect">
                    <a:avLst/>
                  </a:prstGeom>
                  <a:solidFill>
                    <a:srgbClr val="EDE7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7932" name="Line 24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939" y="2170"/>
                    <a:ext cx="227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37933" name="Line 25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042" y="2173"/>
                    <a:ext cx="113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</p:grpSp>
            <p:sp>
              <p:nvSpPr>
                <p:cNvPr id="37925" name="Rectangle 26"/>
                <p:cNvSpPr>
                  <a:spLocks noChangeArrowheads="1"/>
                </p:cNvSpPr>
                <p:nvPr/>
              </p:nvSpPr>
              <p:spPr bwMode="auto">
                <a:xfrm>
                  <a:off x="3029" y="2948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2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039" y="2950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7927" name="Rectangle 28"/>
                <p:cNvSpPr>
                  <a:spLocks noChangeArrowheads="1"/>
                </p:cNvSpPr>
                <p:nvPr/>
              </p:nvSpPr>
              <p:spPr bwMode="auto">
                <a:xfrm>
                  <a:off x="3241" y="2944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28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3248" y="2939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3792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115" y="3638"/>
                  <a:ext cx="300" cy="3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V</a:t>
                  </a:r>
                  <a:r>
                    <a:rPr lang="es-ES" sz="2000" b="1" baseline="-250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U</a:t>
                  </a:r>
                  <a:endPara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37920" name="Conector recto de flecha 4"/>
              <p:cNvCxnSpPr>
                <a:cxnSpLocks noChangeShapeType="1"/>
              </p:cNvCxnSpPr>
              <p:nvPr/>
            </p:nvCxnSpPr>
            <p:spPr bwMode="auto">
              <a:xfrm>
                <a:off x="8103707" y="6066946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921" name="Conector recto de flecha 125"/>
              <p:cNvCxnSpPr>
                <a:cxnSpLocks noChangeShapeType="1"/>
              </p:cNvCxnSpPr>
              <p:nvPr/>
            </p:nvCxnSpPr>
            <p:spPr bwMode="auto">
              <a:xfrm>
                <a:off x="7677250" y="6066526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922" name="CuadroTexto 6"/>
              <p:cNvSpPr txBox="1">
                <a:spLocks noChangeArrowheads="1"/>
              </p:cNvSpPr>
              <p:nvPr/>
            </p:nvSpPr>
            <p:spPr bwMode="auto">
              <a:xfrm>
                <a:off x="8236745" y="5901218"/>
                <a:ext cx="44755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baseline="-25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D</a:t>
                </a:r>
                <a:endParaRPr lang="es-ES" baseline="-25000" dirty="0">
                  <a:solidFill>
                    <a:srgbClr val="3333FF"/>
                  </a:solidFill>
                </a:endParaRPr>
              </a:p>
            </p:txBody>
          </p:sp>
        </p:grpSp>
        <p:sp>
          <p:nvSpPr>
            <p:cNvPr id="71" name="CuadroTexto 70"/>
            <p:cNvSpPr txBox="1"/>
            <p:nvPr/>
          </p:nvSpPr>
          <p:spPr>
            <a:xfrm>
              <a:off x="8942509" y="5196208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</a:t>
              </a:r>
              <a:endParaRPr lang="es-ES" sz="2400"/>
            </a:p>
          </p:txBody>
        </p:sp>
      </p:grpSp>
      <p:sp>
        <p:nvSpPr>
          <p:cNvPr id="72" name="CuadroTexto 71"/>
          <p:cNvSpPr txBox="1"/>
          <p:nvPr/>
        </p:nvSpPr>
        <p:spPr>
          <a:xfrm>
            <a:off x="8734426" y="20415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</a:t>
            </a:r>
            <a:endParaRPr lang="es-ES" sz="2400"/>
          </a:p>
        </p:txBody>
      </p:sp>
      <p:sp>
        <p:nvSpPr>
          <p:cNvPr id="73" name="CuadroTexto 72"/>
          <p:cNvSpPr txBox="1"/>
          <p:nvPr/>
        </p:nvSpPr>
        <p:spPr>
          <a:xfrm>
            <a:off x="6936910" y="326877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</a:t>
            </a:r>
            <a:endParaRPr lang="es-ES" sz="2400"/>
          </a:p>
        </p:txBody>
      </p:sp>
      <p:grpSp>
        <p:nvGrpSpPr>
          <p:cNvPr id="7" name="Grupo 6"/>
          <p:cNvGrpSpPr/>
          <p:nvPr/>
        </p:nvGrpSpPr>
        <p:grpSpPr>
          <a:xfrm>
            <a:off x="6113597" y="5123742"/>
            <a:ext cx="1131331" cy="1684344"/>
            <a:chOff x="6070053" y="5127801"/>
            <a:chExt cx="1131331" cy="1684344"/>
          </a:xfrm>
        </p:grpSpPr>
        <p:grpSp>
          <p:nvGrpSpPr>
            <p:cNvPr id="13" name="Grupo 12"/>
            <p:cNvGrpSpPr>
              <a:grpSpLocks/>
            </p:cNvGrpSpPr>
            <p:nvPr/>
          </p:nvGrpSpPr>
          <p:grpSpPr bwMode="auto">
            <a:xfrm>
              <a:off x="6165892" y="5127801"/>
              <a:ext cx="1035492" cy="1684344"/>
              <a:chOff x="3422101" y="4789093"/>
              <a:chExt cx="1035965" cy="1684344"/>
            </a:xfrm>
          </p:grpSpPr>
          <p:grpSp>
            <p:nvGrpSpPr>
              <p:cNvPr id="37904" name="Group 107"/>
              <p:cNvGrpSpPr>
                <a:grpSpLocks/>
              </p:cNvGrpSpPr>
              <p:nvPr/>
            </p:nvGrpSpPr>
            <p:grpSpPr bwMode="auto">
              <a:xfrm>
                <a:off x="3723053" y="4789093"/>
                <a:ext cx="735013" cy="1684344"/>
                <a:chOff x="891" y="2923"/>
                <a:chExt cx="463" cy="1061"/>
              </a:xfrm>
            </p:grpSpPr>
            <p:sp>
              <p:nvSpPr>
                <p:cNvPr id="37908" name="Line 7"/>
                <p:cNvSpPr>
                  <a:spLocks noChangeShapeType="1"/>
                </p:cNvSpPr>
                <p:nvPr/>
              </p:nvSpPr>
              <p:spPr bwMode="auto">
                <a:xfrm>
                  <a:off x="891" y="3543"/>
                  <a:ext cx="422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grpSp>
              <p:nvGrpSpPr>
                <p:cNvPr id="37909" name="Group 8"/>
                <p:cNvGrpSpPr>
                  <a:grpSpLocks/>
                </p:cNvGrpSpPr>
                <p:nvPr/>
              </p:nvGrpSpPr>
              <p:grpSpPr bwMode="auto">
                <a:xfrm flipH="1">
                  <a:off x="1096" y="3382"/>
                  <a:ext cx="49" cy="323"/>
                  <a:chOff x="2053" y="2010"/>
                  <a:chExt cx="49" cy="323"/>
                </a:xfrm>
              </p:grpSpPr>
              <p:sp>
                <p:nvSpPr>
                  <p:cNvPr id="37916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2057" y="2010"/>
                    <a:ext cx="45" cy="323"/>
                  </a:xfrm>
                  <a:prstGeom prst="rect">
                    <a:avLst/>
                  </a:prstGeom>
                  <a:solidFill>
                    <a:srgbClr val="EDE7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7917" name="Line 10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939" y="2170"/>
                    <a:ext cx="227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37918" name="Line 11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042" y="2173"/>
                    <a:ext cx="113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</p:grpSp>
            <p:sp>
              <p:nvSpPr>
                <p:cNvPr id="37910" name="Rectangle 12"/>
                <p:cNvSpPr>
                  <a:spLocks noChangeArrowheads="1"/>
                </p:cNvSpPr>
                <p:nvPr/>
              </p:nvSpPr>
              <p:spPr bwMode="auto">
                <a:xfrm>
                  <a:off x="917" y="2939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1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927" y="2923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7912" name="Rectangle 14"/>
                <p:cNvSpPr>
                  <a:spLocks noChangeArrowheads="1"/>
                </p:cNvSpPr>
                <p:nvPr/>
              </p:nvSpPr>
              <p:spPr bwMode="auto">
                <a:xfrm>
                  <a:off x="1129" y="2936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91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136" y="2932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3791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957" y="3639"/>
                  <a:ext cx="347" cy="3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1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|V</a:t>
                  </a:r>
                  <a:r>
                    <a:rPr lang="es-ES" sz="2000" b="1" baseline="-25000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r</a:t>
                  </a:r>
                  <a:r>
                    <a:rPr lang="es-ES" sz="2000" b="1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|</a:t>
                  </a:r>
                </a:p>
              </p:txBody>
            </p:sp>
          </p:grpSp>
          <p:cxnSp>
            <p:nvCxnSpPr>
              <p:cNvPr id="37905" name="Conector recto de flecha 127"/>
              <p:cNvCxnSpPr>
                <a:cxnSpLocks noChangeShapeType="1"/>
              </p:cNvCxnSpPr>
              <p:nvPr/>
            </p:nvCxnSpPr>
            <p:spPr bwMode="auto">
              <a:xfrm flipH="1">
                <a:off x="4186909" y="5778130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906" name="Conector recto de flecha 128"/>
              <p:cNvCxnSpPr>
                <a:cxnSpLocks noChangeShapeType="1"/>
              </p:cNvCxnSpPr>
              <p:nvPr/>
            </p:nvCxnSpPr>
            <p:spPr bwMode="auto">
              <a:xfrm flipH="1">
                <a:off x="3760452" y="5777710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907" name="CuadroTexto 129"/>
              <p:cNvSpPr txBox="1">
                <a:spLocks noChangeArrowheads="1"/>
              </p:cNvSpPr>
              <p:nvPr/>
            </p:nvSpPr>
            <p:spPr bwMode="auto">
              <a:xfrm>
                <a:off x="3422101" y="5630471"/>
                <a:ext cx="44776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baseline="-25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D</a:t>
                </a:r>
                <a:endParaRPr lang="es-ES" baseline="-25000" dirty="0">
                  <a:solidFill>
                    <a:srgbClr val="3333FF"/>
                  </a:solidFill>
                </a:endParaRPr>
              </a:p>
            </p:txBody>
          </p:sp>
        </p:grpSp>
        <p:sp>
          <p:nvSpPr>
            <p:cNvPr id="74" name="CuadroTexto 73"/>
            <p:cNvSpPr txBox="1"/>
            <p:nvPr/>
          </p:nvSpPr>
          <p:spPr>
            <a:xfrm>
              <a:off x="6070053" y="5206481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</a:t>
              </a:r>
              <a:endParaRPr lang="es-ES" sz="2400"/>
            </a:p>
          </p:txBody>
        </p:sp>
      </p:grpSp>
      <p:sp>
        <p:nvSpPr>
          <p:cNvPr id="76" name="102 CuadroTexto">
            <a:extLst>
              <a:ext uri="{FF2B5EF4-FFF2-40B4-BE49-F238E27FC236}">
                <a16:creationId xmlns:a16="http://schemas.microsoft.com/office/drawing/2014/main" id="{D934BD15-ACC0-47EE-B61D-E10A6566A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794" y="338550"/>
            <a:ext cx="1793635" cy="461665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Wingdings" panose="05000000000000000000" pitchFamily="2" charset="2"/>
              </a:rPr>
              <a:t>2ª OPCIÓN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5" name="Text Box 4">
            <a:extLst>
              <a:ext uri="{FF2B5EF4-FFF2-40B4-BE49-F238E27FC236}">
                <a16:creationId xmlns:a16="http://schemas.microsoft.com/office/drawing/2014/main" id="{790E6F49-D123-4E7B-9528-05FCC7986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762" y="4152682"/>
            <a:ext cx="4446587" cy="978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</a:rPr>
              <a:t>- Incluir el diodo en el cálculo de un Equiv. Thevenin o Norton 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77" name="Text Box 4">
            <a:extLst>
              <a:ext uri="{FF2B5EF4-FFF2-40B4-BE49-F238E27FC236}">
                <a16:creationId xmlns:a16="http://schemas.microsoft.com/office/drawing/2014/main" id="{C37E02F7-40CA-4BAE-8A73-56522055E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770" y="4883991"/>
            <a:ext cx="4446587" cy="171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endParaRPr lang="es-E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</a:rPr>
              <a:t>- Aplicar el concepto de corriente de malla o</a:t>
            </a:r>
          </a:p>
          <a:p>
            <a:pPr eaLnBrk="1" hangingPunct="1">
              <a:spcBef>
                <a:spcPts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</a:rPr>
              <a:t>el Teorema de Superposición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8" name="102 CuadroTexto">
            <a:extLst>
              <a:ext uri="{FF2B5EF4-FFF2-40B4-BE49-F238E27FC236}">
                <a16:creationId xmlns:a16="http://schemas.microsoft.com/office/drawing/2014/main" id="{6E69572F-027E-479C-80E8-CF24D65D5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62" y="331887"/>
            <a:ext cx="2736945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Usar modelo lineal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8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8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500"/>
                                        <p:tgtEl>
                                          <p:spTgt spid="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86468" grpId="0"/>
      <p:bldP spid="1086469" grpId="0"/>
      <p:bldP spid="7273" grpId="0" animBg="1"/>
      <p:bldP spid="7278" grpId="0"/>
      <p:bldP spid="2" grpId="0"/>
      <p:bldP spid="69" grpId="0"/>
      <p:bldP spid="72" grpId="0"/>
      <p:bldP spid="73" grpId="0"/>
      <p:bldP spid="76" grpId="0" animBg="1"/>
      <p:bldP spid="75" grpId="0"/>
      <p:bldP spid="77" grpId="0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8" name="Rectángulo 7247">
            <a:extLst>
              <a:ext uri="{FF2B5EF4-FFF2-40B4-BE49-F238E27FC236}">
                <a16:creationId xmlns:a16="http://schemas.microsoft.com/office/drawing/2014/main" id="{152BEE49-EFF6-34FD-5EDE-FCED48C4D6EF}"/>
              </a:ext>
            </a:extLst>
          </p:cNvPr>
          <p:cNvSpPr/>
          <p:nvPr/>
        </p:nvSpPr>
        <p:spPr bwMode="auto">
          <a:xfrm>
            <a:off x="6603295" y="1169574"/>
            <a:ext cx="3279767" cy="304488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7249" name="Group 59">
            <a:extLst>
              <a:ext uri="{FF2B5EF4-FFF2-40B4-BE49-F238E27FC236}">
                <a16:creationId xmlns:a16="http://schemas.microsoft.com/office/drawing/2014/main" id="{AFA6FFB0-060D-7563-6065-F7D204519302}"/>
              </a:ext>
            </a:extLst>
          </p:cNvPr>
          <p:cNvGrpSpPr>
            <a:grpSpLocks/>
          </p:cNvGrpSpPr>
          <p:nvPr/>
        </p:nvGrpSpPr>
        <p:grpSpPr bwMode="auto">
          <a:xfrm>
            <a:off x="6975293" y="1266353"/>
            <a:ext cx="2776538" cy="2732088"/>
            <a:chOff x="1519" y="2287"/>
            <a:chExt cx="1749" cy="1721"/>
          </a:xfrm>
        </p:grpSpPr>
        <p:sp>
          <p:nvSpPr>
            <p:cNvPr id="7250" name="Text Box 60">
              <a:extLst>
                <a:ext uri="{FF2B5EF4-FFF2-40B4-BE49-F238E27FC236}">
                  <a16:creationId xmlns:a16="http://schemas.microsoft.com/office/drawing/2014/main" id="{96FF522E-8D66-B767-5217-0F2573A98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4" y="2948"/>
              <a:ext cx="256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endParaRPr lang="es-ES" sz="2000" b="1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51" name="Text Box 61">
              <a:extLst>
                <a:ext uri="{FF2B5EF4-FFF2-40B4-BE49-F238E27FC236}">
                  <a16:creationId xmlns:a16="http://schemas.microsoft.com/office/drawing/2014/main" id="{AD31515C-39B4-250B-FE0C-B8557D706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2" y="3281"/>
              <a:ext cx="300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U</a:t>
              </a:r>
              <a:endParaRPr lang="es-ES" sz="2000" b="1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7252" name="Group 62">
              <a:extLst>
                <a:ext uri="{FF2B5EF4-FFF2-40B4-BE49-F238E27FC236}">
                  <a16:creationId xmlns:a16="http://schemas.microsoft.com/office/drawing/2014/main" id="{9D367CD8-EF33-702E-91BD-2CCE610069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287"/>
              <a:ext cx="1749" cy="1721"/>
              <a:chOff x="1519" y="2287"/>
              <a:chExt cx="1749" cy="1721"/>
            </a:xfrm>
          </p:grpSpPr>
          <p:sp>
            <p:nvSpPr>
              <p:cNvPr id="7253" name="Line 63">
                <a:extLst>
                  <a:ext uri="{FF2B5EF4-FFF2-40B4-BE49-F238E27FC236}">
                    <a16:creationId xmlns:a16="http://schemas.microsoft.com/office/drawing/2014/main" id="{683F1801-02DA-6D09-1402-94CE761F40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1" y="2563"/>
                <a:ext cx="0" cy="144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7254" name="Line 64">
                <a:extLst>
                  <a:ext uri="{FF2B5EF4-FFF2-40B4-BE49-F238E27FC236}">
                    <a16:creationId xmlns:a16="http://schemas.microsoft.com/office/drawing/2014/main" id="{09211369-B96D-B7A6-B2AA-F315EC435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242" y="2563"/>
                <a:ext cx="0" cy="144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7255" name="Line 65">
                <a:extLst>
                  <a:ext uri="{FF2B5EF4-FFF2-40B4-BE49-F238E27FC236}">
                    <a16:creationId xmlns:a16="http://schemas.microsoft.com/office/drawing/2014/main" id="{4FB0E4A2-BC6F-0ACE-1801-143B97738C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4" y="3286"/>
                <a:ext cx="869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7256" name="Line 66">
                <a:extLst>
                  <a:ext uri="{FF2B5EF4-FFF2-40B4-BE49-F238E27FC236}">
                    <a16:creationId xmlns:a16="http://schemas.microsoft.com/office/drawing/2014/main" id="{6B4C7191-13B5-1900-2164-A2E68AF56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2263" y="2933"/>
                <a:ext cx="732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7257" name="Line 67">
                <a:extLst>
                  <a:ext uri="{FF2B5EF4-FFF2-40B4-BE49-F238E27FC236}">
                    <a16:creationId xmlns:a16="http://schemas.microsoft.com/office/drawing/2014/main" id="{E5806F41-9239-B82F-699D-0031227585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1419" y="3639"/>
                <a:ext cx="732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7258" name="Text Box 68">
                <a:extLst>
                  <a:ext uri="{FF2B5EF4-FFF2-40B4-BE49-F238E27FC236}">
                    <a16:creationId xmlns:a16="http://schemas.microsoft.com/office/drawing/2014/main" id="{11A78640-BCD8-09DD-809F-55432634F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3" y="2287"/>
                <a:ext cx="28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latin typeface="Comic Sans MS" panose="030F0702030302020204" pitchFamily="66" charset="0"/>
                  </a:rPr>
                  <a:t>I</a:t>
                </a:r>
                <a:r>
                  <a:rPr lang="es-ES" sz="2000" baseline="-25000">
                    <a:latin typeface="Arial" panose="020B0604020202020204" pitchFamily="34" charset="0"/>
                  </a:rPr>
                  <a:t>D</a:t>
                </a:r>
                <a:endParaRPr lang="es-E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7259" name="Text Box 69">
                <a:extLst>
                  <a:ext uri="{FF2B5EF4-FFF2-40B4-BE49-F238E27FC236}">
                    <a16:creationId xmlns:a16="http://schemas.microsoft.com/office/drawing/2014/main" id="{CBD72DB4-AE0D-4B43-194C-651EB608B1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1" y="3172"/>
                <a:ext cx="297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latin typeface="Comic Sans MS" panose="030F0702030302020204" pitchFamily="66" charset="0"/>
                  </a:rPr>
                  <a:t>V</a:t>
                </a:r>
                <a:r>
                  <a:rPr lang="es-ES" sz="2000" baseline="-25000">
                    <a:latin typeface="Arial" panose="020B0604020202020204" pitchFamily="34" charset="0"/>
                  </a:rPr>
                  <a:t>D</a:t>
                </a:r>
                <a:endParaRPr lang="es-ES" sz="20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260" name="Text Box 105">
            <a:extLst>
              <a:ext uri="{FF2B5EF4-FFF2-40B4-BE49-F238E27FC236}">
                <a16:creationId xmlns:a16="http://schemas.microsoft.com/office/drawing/2014/main" id="{2905B317-3E2D-B1CB-D51D-10C0D8F42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296" y="337958"/>
            <a:ext cx="3293428" cy="609252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Modelo lineal ideal</a:t>
            </a:r>
          </a:p>
        </p:txBody>
      </p:sp>
      <p:sp>
        <p:nvSpPr>
          <p:cNvPr id="7261" name="Text Box 110">
            <a:extLst>
              <a:ext uri="{FF2B5EF4-FFF2-40B4-BE49-F238E27FC236}">
                <a16:creationId xmlns:a16="http://schemas.microsoft.com/office/drawing/2014/main" id="{A992F57B-EA33-6BEA-07BB-BD9038FD1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498" y="4329665"/>
            <a:ext cx="3977225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d</a:t>
            </a: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</a:rPr>
              <a:t>iodo es equivalente a:</a:t>
            </a:r>
          </a:p>
        </p:txBody>
      </p:sp>
      <p:sp>
        <p:nvSpPr>
          <p:cNvPr id="7262" name="CuadroTexto 7261">
            <a:extLst>
              <a:ext uri="{FF2B5EF4-FFF2-40B4-BE49-F238E27FC236}">
                <a16:creationId xmlns:a16="http://schemas.microsoft.com/office/drawing/2014/main" id="{11E65472-5618-B205-15DD-1D2507DDCAA7}"/>
              </a:ext>
            </a:extLst>
          </p:cNvPr>
          <p:cNvSpPr txBox="1"/>
          <p:nvPr/>
        </p:nvSpPr>
        <p:spPr>
          <a:xfrm>
            <a:off x="8199471" y="2422843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</a:t>
            </a:r>
            <a:endParaRPr lang="es-ES" sz="2400"/>
          </a:p>
        </p:txBody>
      </p:sp>
      <p:sp>
        <p:nvSpPr>
          <p:cNvPr id="7263" name="CuadroTexto 7262">
            <a:extLst>
              <a:ext uri="{FF2B5EF4-FFF2-40B4-BE49-F238E27FC236}">
                <a16:creationId xmlns:a16="http://schemas.microsoft.com/office/drawing/2014/main" id="{F41877A4-D589-02E5-FFBD-CFD5AFF979E1}"/>
              </a:ext>
            </a:extLst>
          </p:cNvPr>
          <p:cNvSpPr txBox="1"/>
          <p:nvPr/>
        </p:nvSpPr>
        <p:spPr>
          <a:xfrm>
            <a:off x="7590097" y="2430726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</a:t>
            </a:r>
            <a:endParaRPr lang="es-ES" sz="2400"/>
          </a:p>
        </p:txBody>
      </p:sp>
      <p:grpSp>
        <p:nvGrpSpPr>
          <p:cNvPr id="7264" name="Grupo 7263">
            <a:extLst>
              <a:ext uri="{FF2B5EF4-FFF2-40B4-BE49-F238E27FC236}">
                <a16:creationId xmlns:a16="http://schemas.microsoft.com/office/drawing/2014/main" id="{8262842B-1BF5-4F33-DB90-F23498D6A256}"/>
              </a:ext>
            </a:extLst>
          </p:cNvPr>
          <p:cNvGrpSpPr/>
          <p:nvPr/>
        </p:nvGrpSpPr>
        <p:grpSpPr>
          <a:xfrm>
            <a:off x="7547543" y="5133268"/>
            <a:ext cx="1266470" cy="1576389"/>
            <a:chOff x="7503999" y="5137327"/>
            <a:chExt cx="1266470" cy="1576389"/>
          </a:xfrm>
        </p:grpSpPr>
        <p:grpSp>
          <p:nvGrpSpPr>
            <p:cNvPr id="7265" name="Group 109">
              <a:extLst>
                <a:ext uri="{FF2B5EF4-FFF2-40B4-BE49-F238E27FC236}">
                  <a16:creationId xmlns:a16="http://schemas.microsoft.com/office/drawing/2014/main" id="{4E7FB759-1BEB-40A4-F151-D293C3BF38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65594" y="5137327"/>
              <a:ext cx="904875" cy="1576389"/>
              <a:chOff x="1354" y="2093"/>
              <a:chExt cx="570" cy="993"/>
            </a:xfrm>
          </p:grpSpPr>
          <p:sp>
            <p:nvSpPr>
              <p:cNvPr id="7270" name="Line 36">
                <a:extLst>
                  <a:ext uri="{FF2B5EF4-FFF2-40B4-BE49-F238E27FC236}">
                    <a16:creationId xmlns:a16="http://schemas.microsoft.com/office/drawing/2014/main" id="{BACF7067-65C2-591A-31EA-EA1C4904D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4" y="2118"/>
                <a:ext cx="144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7271" name="Text Box 37">
                <a:extLst>
                  <a:ext uri="{FF2B5EF4-FFF2-40B4-BE49-F238E27FC236}">
                    <a16:creationId xmlns:a16="http://schemas.microsoft.com/office/drawing/2014/main" id="{521C1849-1D66-F37E-E483-74825C5593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4" y="2741"/>
                <a:ext cx="570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R = </a:t>
                </a: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</a:t>
                </a:r>
              </a:p>
            </p:txBody>
          </p:sp>
          <p:grpSp>
            <p:nvGrpSpPr>
              <p:cNvPr id="7272" name="Group 40">
                <a:extLst>
                  <a:ext uri="{FF2B5EF4-FFF2-40B4-BE49-F238E27FC236}">
                    <a16:creationId xmlns:a16="http://schemas.microsoft.com/office/drawing/2014/main" id="{C0D33E47-93BD-FA9E-D82B-40BF922126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15" y="2093"/>
                <a:ext cx="437" cy="336"/>
                <a:chOff x="3165" y="3436"/>
                <a:chExt cx="437" cy="336"/>
              </a:xfrm>
            </p:grpSpPr>
            <p:sp>
              <p:nvSpPr>
                <p:cNvPr id="7274" name="Rectangle 41">
                  <a:extLst>
                    <a:ext uri="{FF2B5EF4-FFF2-40B4-BE49-F238E27FC236}">
                      <a16:creationId xmlns:a16="http://schemas.microsoft.com/office/drawing/2014/main" id="{7E65A590-C858-94A1-7BB7-5B2ACAFED3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3446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 dirty="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75" name="Text Box 42">
                  <a:extLst>
                    <a:ext uri="{FF2B5EF4-FFF2-40B4-BE49-F238E27FC236}">
                      <a16:creationId xmlns:a16="http://schemas.microsoft.com/office/drawing/2014/main" id="{B5F862EF-D775-AD59-6F4C-FBDB42D2B2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5" y="3448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dirty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7276" name="Rectangle 43">
                  <a:extLst>
                    <a:ext uri="{FF2B5EF4-FFF2-40B4-BE49-F238E27FC236}">
                      <a16:creationId xmlns:a16="http://schemas.microsoft.com/office/drawing/2014/main" id="{F68B5C39-5E84-9507-D6C9-88788332A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77" y="3449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77" name="Text Box 44">
                  <a:extLst>
                    <a:ext uri="{FF2B5EF4-FFF2-40B4-BE49-F238E27FC236}">
                      <a16:creationId xmlns:a16="http://schemas.microsoft.com/office/drawing/2014/main" id="{B2085D7E-9DA2-C65D-9ABF-FA858D3AA3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84" y="3436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</p:grpSp>
        </p:grpSp>
        <p:grpSp>
          <p:nvGrpSpPr>
            <p:cNvPr id="7266" name="Grupo 7265">
              <a:extLst>
                <a:ext uri="{FF2B5EF4-FFF2-40B4-BE49-F238E27FC236}">
                  <a16:creationId xmlns:a16="http://schemas.microsoft.com/office/drawing/2014/main" id="{90F4F9B8-A447-A255-D1C6-EE9912764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29142" y="6150154"/>
              <a:ext cx="877887" cy="0"/>
              <a:chOff x="3540953" y="4160162"/>
              <a:chExt cx="878356" cy="0"/>
            </a:xfrm>
          </p:grpSpPr>
          <p:cxnSp>
            <p:nvCxnSpPr>
              <p:cNvPr id="7268" name="Conector recto 2">
                <a:extLst>
                  <a:ext uri="{FF2B5EF4-FFF2-40B4-BE49-F238E27FC236}">
                    <a16:creationId xmlns:a16="http://schemas.microsoft.com/office/drawing/2014/main" id="{FB886BD7-49C1-20D6-8C32-89633ECDDDD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40953" y="4160162"/>
                <a:ext cx="355346" cy="0"/>
              </a:xfrm>
              <a:prstGeom prst="line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69" name="Conector recto 66">
                <a:extLst>
                  <a:ext uri="{FF2B5EF4-FFF2-40B4-BE49-F238E27FC236}">
                    <a16:creationId xmlns:a16="http://schemas.microsoft.com/office/drawing/2014/main" id="{B7C11AA2-5F6D-9D01-52CD-88E921D386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063963" y="4160162"/>
                <a:ext cx="355346" cy="0"/>
              </a:xfrm>
              <a:prstGeom prst="line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267" name="CuadroTexto 7266">
              <a:extLst>
                <a:ext uri="{FF2B5EF4-FFF2-40B4-BE49-F238E27FC236}">
                  <a16:creationId xmlns:a16="http://schemas.microsoft.com/office/drawing/2014/main" id="{A4E590EC-9942-253B-80F2-CE32563A905C}"/>
                </a:ext>
              </a:extLst>
            </p:cNvPr>
            <p:cNvSpPr txBox="1"/>
            <p:nvPr/>
          </p:nvSpPr>
          <p:spPr>
            <a:xfrm>
              <a:off x="7503999" y="5207146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</a:t>
              </a:r>
              <a:endParaRPr lang="es-ES" sz="2400"/>
            </a:p>
          </p:txBody>
        </p:sp>
      </p:grpSp>
      <p:grpSp>
        <p:nvGrpSpPr>
          <p:cNvPr id="7279" name="Grupo 7278">
            <a:extLst>
              <a:ext uri="{FF2B5EF4-FFF2-40B4-BE49-F238E27FC236}">
                <a16:creationId xmlns:a16="http://schemas.microsoft.com/office/drawing/2014/main" id="{DCFAB248-5A20-BDF5-859E-CE3C15833DEF}"/>
              </a:ext>
            </a:extLst>
          </p:cNvPr>
          <p:cNvGrpSpPr/>
          <p:nvPr/>
        </p:nvGrpSpPr>
        <p:grpSpPr>
          <a:xfrm>
            <a:off x="8877193" y="5115097"/>
            <a:ext cx="1511644" cy="1657349"/>
            <a:chOff x="8942509" y="5119156"/>
            <a:chExt cx="1511644" cy="1657349"/>
          </a:xfrm>
        </p:grpSpPr>
        <p:grpSp>
          <p:nvGrpSpPr>
            <p:cNvPr id="7280" name="Grupo 7279">
              <a:extLst>
                <a:ext uri="{FF2B5EF4-FFF2-40B4-BE49-F238E27FC236}">
                  <a16:creationId xmlns:a16="http://schemas.microsoft.com/office/drawing/2014/main" id="{7B982679-2D8B-C42B-D60E-1522C7E3E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79532" y="5119156"/>
              <a:ext cx="1074621" cy="1657349"/>
              <a:chOff x="7609687" y="5090740"/>
              <a:chExt cx="1074612" cy="1657349"/>
            </a:xfrm>
          </p:grpSpPr>
          <p:grpSp>
            <p:nvGrpSpPr>
              <p:cNvPr id="7282" name="Group 108">
                <a:extLst>
                  <a:ext uri="{FF2B5EF4-FFF2-40B4-BE49-F238E27FC236}">
                    <a16:creationId xmlns:a16="http://schemas.microsoft.com/office/drawing/2014/main" id="{079FBF67-DF32-C697-BE04-C3878FFFF4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09687" y="5090740"/>
                <a:ext cx="715963" cy="1657349"/>
                <a:chOff x="3015" y="2939"/>
                <a:chExt cx="451" cy="1044"/>
              </a:xfrm>
            </p:grpSpPr>
            <p:sp>
              <p:nvSpPr>
                <p:cNvPr id="7286" name="Line 21">
                  <a:extLst>
                    <a:ext uri="{FF2B5EF4-FFF2-40B4-BE49-F238E27FC236}">
                      <a16:creationId xmlns:a16="http://schemas.microsoft.com/office/drawing/2014/main" id="{18021F68-3BDF-E58F-FF23-9D9EA51766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5" y="3555"/>
                  <a:ext cx="422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grpSp>
              <p:nvGrpSpPr>
                <p:cNvPr id="7287" name="Group 22">
                  <a:extLst>
                    <a:ext uri="{FF2B5EF4-FFF2-40B4-BE49-F238E27FC236}">
                      <a16:creationId xmlns:a16="http://schemas.microsoft.com/office/drawing/2014/main" id="{77AB6476-545E-348A-C635-E25F0FEAFF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13" y="3394"/>
                  <a:ext cx="46" cy="323"/>
                  <a:chOff x="2053" y="2010"/>
                  <a:chExt cx="46" cy="323"/>
                </a:xfrm>
              </p:grpSpPr>
              <p:sp>
                <p:nvSpPr>
                  <p:cNvPr id="7293" name="Rectangle 23">
                    <a:extLst>
                      <a:ext uri="{FF2B5EF4-FFF2-40B4-BE49-F238E27FC236}">
                        <a16:creationId xmlns:a16="http://schemas.microsoft.com/office/drawing/2014/main" id="{4195C087-4A2B-9A5A-C7C3-8538FDF45F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54" y="2010"/>
                    <a:ext cx="45" cy="323"/>
                  </a:xfrm>
                  <a:prstGeom prst="rect">
                    <a:avLst/>
                  </a:prstGeom>
                  <a:solidFill>
                    <a:srgbClr val="EDE7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94" name="Line 24">
                    <a:extLst>
                      <a:ext uri="{FF2B5EF4-FFF2-40B4-BE49-F238E27FC236}">
                        <a16:creationId xmlns:a16="http://schemas.microsoft.com/office/drawing/2014/main" id="{1413BF0A-7538-EAF9-6C1B-405A4B8278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939" y="2170"/>
                    <a:ext cx="227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7295" name="Line 25">
                    <a:extLst>
                      <a:ext uri="{FF2B5EF4-FFF2-40B4-BE49-F238E27FC236}">
                        <a16:creationId xmlns:a16="http://schemas.microsoft.com/office/drawing/2014/main" id="{7EB273BB-7C4B-38ED-A6B0-8BEB45E8BB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042" y="2173"/>
                    <a:ext cx="113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</p:grpSp>
            <p:sp>
              <p:nvSpPr>
                <p:cNvPr id="7288" name="Rectangle 26">
                  <a:extLst>
                    <a:ext uri="{FF2B5EF4-FFF2-40B4-BE49-F238E27FC236}">
                      <a16:creationId xmlns:a16="http://schemas.microsoft.com/office/drawing/2014/main" id="{F60B7FA7-8143-2C62-71B8-8DC6375E6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29" y="2948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89" name="Text Box 27">
                  <a:extLst>
                    <a:ext uri="{FF2B5EF4-FFF2-40B4-BE49-F238E27FC236}">
                      <a16:creationId xmlns:a16="http://schemas.microsoft.com/office/drawing/2014/main" id="{97B76E67-BC35-F80B-7ECD-BC4BC7ADEEE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39" y="2950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7290" name="Rectangle 28">
                  <a:extLst>
                    <a:ext uri="{FF2B5EF4-FFF2-40B4-BE49-F238E27FC236}">
                      <a16:creationId xmlns:a16="http://schemas.microsoft.com/office/drawing/2014/main" id="{AE28E4D3-6A03-1D9C-C716-F0DFFC6518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1" y="2944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91" name="Text Box 29">
                  <a:extLst>
                    <a:ext uri="{FF2B5EF4-FFF2-40B4-BE49-F238E27FC236}">
                      <a16:creationId xmlns:a16="http://schemas.microsoft.com/office/drawing/2014/main" id="{16313940-94A0-0EA2-33C8-2C2788452B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48" y="2939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7292" name="Text Box 32">
                  <a:extLst>
                    <a:ext uri="{FF2B5EF4-FFF2-40B4-BE49-F238E27FC236}">
                      <a16:creationId xmlns:a16="http://schemas.microsoft.com/office/drawing/2014/main" id="{D5733CBA-CF52-C425-C67F-5319455A56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5" y="3638"/>
                  <a:ext cx="300" cy="3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V</a:t>
                  </a:r>
                  <a:r>
                    <a:rPr lang="es-ES" sz="2000" b="1" baseline="-250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U</a:t>
                  </a:r>
                  <a:endPara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7283" name="Conector recto de flecha 4">
                <a:extLst>
                  <a:ext uri="{FF2B5EF4-FFF2-40B4-BE49-F238E27FC236}">
                    <a16:creationId xmlns:a16="http://schemas.microsoft.com/office/drawing/2014/main" id="{CD1E29AF-C904-536E-400C-5E36D8CE91E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103707" y="6066946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84" name="Conector recto de flecha 125">
                <a:extLst>
                  <a:ext uri="{FF2B5EF4-FFF2-40B4-BE49-F238E27FC236}">
                    <a16:creationId xmlns:a16="http://schemas.microsoft.com/office/drawing/2014/main" id="{8F9E50D7-1663-E368-23B4-47FAF0F6250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77250" y="6066526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85" name="CuadroTexto 6">
                <a:extLst>
                  <a:ext uri="{FF2B5EF4-FFF2-40B4-BE49-F238E27FC236}">
                    <a16:creationId xmlns:a16="http://schemas.microsoft.com/office/drawing/2014/main" id="{77376144-049E-BB90-523D-BB7C866716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36745" y="5901218"/>
                <a:ext cx="44755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baseline="-25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D</a:t>
                </a:r>
                <a:endParaRPr lang="es-ES" baseline="-25000" dirty="0">
                  <a:solidFill>
                    <a:srgbClr val="3333FF"/>
                  </a:solidFill>
                </a:endParaRPr>
              </a:p>
            </p:txBody>
          </p:sp>
        </p:grpSp>
        <p:sp>
          <p:nvSpPr>
            <p:cNvPr id="7281" name="CuadroTexto 7280">
              <a:extLst>
                <a:ext uri="{FF2B5EF4-FFF2-40B4-BE49-F238E27FC236}">
                  <a16:creationId xmlns:a16="http://schemas.microsoft.com/office/drawing/2014/main" id="{64B2EBFF-1C69-6600-E032-68A0CD3ED837}"/>
                </a:ext>
              </a:extLst>
            </p:cNvPr>
            <p:cNvSpPr txBox="1"/>
            <p:nvPr/>
          </p:nvSpPr>
          <p:spPr>
            <a:xfrm>
              <a:off x="8942509" y="5196208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</a:t>
              </a:r>
              <a:endParaRPr lang="es-ES" sz="2400"/>
            </a:p>
          </p:txBody>
        </p:sp>
      </p:grpSp>
      <p:sp>
        <p:nvSpPr>
          <p:cNvPr id="64" name="CuadroTexto 63">
            <a:extLst>
              <a:ext uri="{FF2B5EF4-FFF2-40B4-BE49-F238E27FC236}">
                <a16:creationId xmlns:a16="http://schemas.microsoft.com/office/drawing/2014/main" id="{988F6F3A-F243-053A-D838-6CB697AE9C3D}"/>
              </a:ext>
            </a:extLst>
          </p:cNvPr>
          <p:cNvSpPr txBox="1"/>
          <p:nvPr/>
        </p:nvSpPr>
        <p:spPr>
          <a:xfrm>
            <a:off x="8734426" y="20415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</a:t>
            </a:r>
            <a:endParaRPr lang="es-ES" sz="240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D4B9D4D3-71FC-1B66-0D38-262B9A228E73}"/>
              </a:ext>
            </a:extLst>
          </p:cNvPr>
          <p:cNvSpPr txBox="1"/>
          <p:nvPr/>
        </p:nvSpPr>
        <p:spPr>
          <a:xfrm>
            <a:off x="6936910" y="326877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</a:t>
            </a:r>
            <a:endParaRPr lang="es-ES" sz="2400"/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19D1CBEA-55ED-AE03-9208-6451EAB5D5AE}"/>
              </a:ext>
            </a:extLst>
          </p:cNvPr>
          <p:cNvGrpSpPr/>
          <p:nvPr/>
        </p:nvGrpSpPr>
        <p:grpSpPr>
          <a:xfrm>
            <a:off x="6113597" y="5123742"/>
            <a:ext cx="1131331" cy="1684344"/>
            <a:chOff x="6070053" y="5127801"/>
            <a:chExt cx="1131331" cy="1684344"/>
          </a:xfrm>
        </p:grpSpPr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2B27B2AB-280D-F769-AB6E-C95E841B16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5892" y="5127801"/>
              <a:ext cx="1035492" cy="1684344"/>
              <a:chOff x="3422101" y="4789093"/>
              <a:chExt cx="1035965" cy="1684344"/>
            </a:xfrm>
          </p:grpSpPr>
          <p:grpSp>
            <p:nvGrpSpPr>
              <p:cNvPr id="75" name="Group 107">
                <a:extLst>
                  <a:ext uri="{FF2B5EF4-FFF2-40B4-BE49-F238E27FC236}">
                    <a16:creationId xmlns:a16="http://schemas.microsoft.com/office/drawing/2014/main" id="{2FC4D67C-34BE-9E1E-8028-16A0E007C0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3053" y="4789093"/>
                <a:ext cx="735013" cy="1684344"/>
                <a:chOff x="891" y="2923"/>
                <a:chExt cx="463" cy="1061"/>
              </a:xfrm>
            </p:grpSpPr>
            <p:sp>
              <p:nvSpPr>
                <p:cNvPr id="83" name="Line 7">
                  <a:extLst>
                    <a:ext uri="{FF2B5EF4-FFF2-40B4-BE49-F238E27FC236}">
                      <a16:creationId xmlns:a16="http://schemas.microsoft.com/office/drawing/2014/main" id="{21B7AD79-CDBC-6491-B1EA-553F2D51B7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1" y="3543"/>
                  <a:ext cx="422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grpSp>
              <p:nvGrpSpPr>
                <p:cNvPr id="84" name="Group 8">
                  <a:extLst>
                    <a:ext uri="{FF2B5EF4-FFF2-40B4-BE49-F238E27FC236}">
                      <a16:creationId xmlns:a16="http://schemas.microsoft.com/office/drawing/2014/main" id="{EC5DD998-4860-24A3-9048-8B5B188847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096" y="3382"/>
                  <a:ext cx="49" cy="323"/>
                  <a:chOff x="2053" y="2010"/>
                  <a:chExt cx="49" cy="323"/>
                </a:xfrm>
              </p:grpSpPr>
              <p:sp>
                <p:nvSpPr>
                  <p:cNvPr id="100" name="Rectangle 9">
                    <a:extLst>
                      <a:ext uri="{FF2B5EF4-FFF2-40B4-BE49-F238E27FC236}">
                        <a16:creationId xmlns:a16="http://schemas.microsoft.com/office/drawing/2014/main" id="{79D12CDD-EA10-9CC1-75F8-97988335F4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57" y="2010"/>
                    <a:ext cx="45" cy="323"/>
                  </a:xfrm>
                  <a:prstGeom prst="rect">
                    <a:avLst/>
                  </a:prstGeom>
                  <a:solidFill>
                    <a:srgbClr val="EDE7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01" name="Line 10">
                    <a:extLst>
                      <a:ext uri="{FF2B5EF4-FFF2-40B4-BE49-F238E27FC236}">
                        <a16:creationId xmlns:a16="http://schemas.microsoft.com/office/drawing/2014/main" id="{25DA4883-5C60-9597-2008-C0851166BA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939" y="2170"/>
                    <a:ext cx="227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102" name="Line 11">
                    <a:extLst>
                      <a:ext uri="{FF2B5EF4-FFF2-40B4-BE49-F238E27FC236}">
                        <a16:creationId xmlns:a16="http://schemas.microsoft.com/office/drawing/2014/main" id="{CB1A0B90-9C9E-8604-B9F2-405C2165B8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042" y="2173"/>
                    <a:ext cx="113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</p:grpSp>
            <p:sp>
              <p:nvSpPr>
                <p:cNvPr id="85" name="Rectangle 12">
                  <a:extLst>
                    <a:ext uri="{FF2B5EF4-FFF2-40B4-BE49-F238E27FC236}">
                      <a16:creationId xmlns:a16="http://schemas.microsoft.com/office/drawing/2014/main" id="{1FEB2079-29D7-EE30-9DBD-8182CC1509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7" y="2939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6" name="Text Box 13">
                  <a:extLst>
                    <a:ext uri="{FF2B5EF4-FFF2-40B4-BE49-F238E27FC236}">
                      <a16:creationId xmlns:a16="http://schemas.microsoft.com/office/drawing/2014/main" id="{C0BBA503-161A-5B59-E841-F723144EFC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7" y="2923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87" name="Rectangle 14">
                  <a:extLst>
                    <a:ext uri="{FF2B5EF4-FFF2-40B4-BE49-F238E27FC236}">
                      <a16:creationId xmlns:a16="http://schemas.microsoft.com/office/drawing/2014/main" id="{5721FAC8-45E4-16B7-6623-B01A820E0A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9" y="2936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8" name="Text Box 15">
                  <a:extLst>
                    <a:ext uri="{FF2B5EF4-FFF2-40B4-BE49-F238E27FC236}">
                      <a16:creationId xmlns:a16="http://schemas.microsoft.com/office/drawing/2014/main" id="{D4193B18-0D1C-2C5B-343D-762F9505B7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36" y="2932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98" name="Text Box 18">
                  <a:extLst>
                    <a:ext uri="{FF2B5EF4-FFF2-40B4-BE49-F238E27FC236}">
                      <a16:creationId xmlns:a16="http://schemas.microsoft.com/office/drawing/2014/main" id="{D76BA3A4-8F6F-8618-EDFC-82DA19140A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57" y="3639"/>
                  <a:ext cx="347" cy="3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1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|V</a:t>
                  </a:r>
                  <a:r>
                    <a:rPr lang="es-ES" sz="2000" b="1" baseline="-25000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r</a:t>
                  </a:r>
                  <a:r>
                    <a:rPr lang="es-ES" sz="2000" b="1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|</a:t>
                  </a:r>
                </a:p>
              </p:txBody>
            </p:sp>
          </p:grpSp>
          <p:cxnSp>
            <p:nvCxnSpPr>
              <p:cNvPr id="76" name="Conector recto de flecha 127">
                <a:extLst>
                  <a:ext uri="{FF2B5EF4-FFF2-40B4-BE49-F238E27FC236}">
                    <a16:creationId xmlns:a16="http://schemas.microsoft.com/office/drawing/2014/main" id="{EB226064-194C-F2B8-36D1-85041A3196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4186909" y="5778130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Conector recto de flecha 128">
                <a:extLst>
                  <a:ext uri="{FF2B5EF4-FFF2-40B4-BE49-F238E27FC236}">
                    <a16:creationId xmlns:a16="http://schemas.microsoft.com/office/drawing/2014/main" id="{6E5DF7F2-A357-4ABB-4EBB-CB07C04F164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760452" y="5777710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" name="CuadroTexto 129">
                <a:extLst>
                  <a:ext uri="{FF2B5EF4-FFF2-40B4-BE49-F238E27FC236}">
                    <a16:creationId xmlns:a16="http://schemas.microsoft.com/office/drawing/2014/main" id="{0D90370C-D058-4EE5-0714-656B5ADC6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2101" y="5630471"/>
                <a:ext cx="44776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baseline="-25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D</a:t>
                </a:r>
                <a:endParaRPr lang="es-ES" baseline="-25000" dirty="0">
                  <a:solidFill>
                    <a:srgbClr val="3333FF"/>
                  </a:solidFill>
                </a:endParaRPr>
              </a:p>
            </p:txBody>
          </p:sp>
        </p:grp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732B74C6-CC6B-ACA7-FFC6-401AA4AB3658}"/>
                </a:ext>
              </a:extLst>
            </p:cNvPr>
            <p:cNvSpPr txBox="1"/>
            <p:nvPr/>
          </p:nvSpPr>
          <p:spPr>
            <a:xfrm>
              <a:off x="6070053" y="5206481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</a:t>
              </a:r>
              <a:endParaRPr lang="es-ES" sz="2400"/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0C598C4D-3F75-4CB7-A15A-25305A1D2231}"/>
              </a:ext>
            </a:extLst>
          </p:cNvPr>
          <p:cNvGrpSpPr/>
          <p:nvPr/>
        </p:nvGrpSpPr>
        <p:grpSpPr>
          <a:xfrm>
            <a:off x="4686260" y="809008"/>
            <a:ext cx="985838" cy="948625"/>
            <a:chOff x="5742767" y="128496"/>
            <a:chExt cx="985838" cy="948625"/>
          </a:xfrm>
        </p:grpSpPr>
        <p:sp>
          <p:nvSpPr>
            <p:cNvPr id="79" name="Text Box 74">
              <a:extLst>
                <a:ext uri="{FF2B5EF4-FFF2-40B4-BE49-F238E27FC236}">
                  <a16:creationId xmlns:a16="http://schemas.microsoft.com/office/drawing/2014/main" id="{E9B96540-0374-4541-98FC-03B2E66F8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42767" y="534196"/>
              <a:ext cx="985838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|V</a:t>
              </a:r>
              <a:r>
                <a:rPr lang="es-ES" sz="2400" baseline="-25000" dirty="0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| = 1000 V</a:t>
              </a:r>
            </a:p>
          </p:txBody>
        </p:sp>
        <p:sp>
          <p:nvSpPr>
            <p:cNvPr id="80" name="Text Box 51">
              <a:extLst>
                <a:ext uri="{FF2B5EF4-FFF2-40B4-BE49-F238E27FC236}">
                  <a16:creationId xmlns:a16="http://schemas.microsoft.com/office/drawing/2014/main" id="{AD993FBF-8CD8-4DB8-8314-1F4C8BC75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6742" y="128496"/>
              <a:ext cx="773113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400" baseline="-25000" dirty="0">
                  <a:solidFill>
                    <a:srgbClr val="008000"/>
                  </a:solidFill>
                  <a:latin typeface="Arial" panose="020B0604020202020204" pitchFamily="34" charset="0"/>
                </a:rPr>
                <a:t>U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 = 0,7 V</a:t>
              </a:r>
            </a:p>
          </p:txBody>
        </p:sp>
      </p:grpSp>
      <p:sp>
        <p:nvSpPr>
          <p:cNvPr id="81" name="Text Box 102">
            <a:extLst>
              <a:ext uri="{FF2B5EF4-FFF2-40B4-BE49-F238E27FC236}">
                <a16:creationId xmlns:a16="http://schemas.microsoft.com/office/drawing/2014/main" id="{83A241E3-8BBD-4F12-B953-97ECAE5E5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152" y="435759"/>
            <a:ext cx="2131500" cy="122537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Para un diodo rectificador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de silicio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89" name="Text Box 20">
            <a:extLst>
              <a:ext uri="{FF2B5EF4-FFF2-40B4-BE49-F238E27FC236}">
                <a16:creationId xmlns:a16="http://schemas.microsoft.com/office/drawing/2014/main" id="{3D7363CE-BB5A-45F1-91B9-F33F11B6D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060" y="1918805"/>
            <a:ext cx="3490724" cy="104013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Como está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directa y </a:t>
            </a:r>
            <a:r>
              <a:rPr lang="es-ES" sz="280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&gt; V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U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debe conducir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1" name="Text Box 60">
            <a:extLst>
              <a:ext uri="{FF2B5EF4-FFF2-40B4-BE49-F238E27FC236}">
                <a16:creationId xmlns:a16="http://schemas.microsoft.com/office/drawing/2014/main" id="{EF08B9C8-AA31-4403-969F-4F1F75B67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862" y="2126643"/>
            <a:ext cx="1227137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</a:rPr>
              <a:t>Hipótesis</a:t>
            </a:r>
            <a:endParaRPr lang="es-ES" sz="2400" dirty="0">
              <a:solidFill>
                <a:srgbClr val="D60093"/>
              </a:solidFill>
              <a:latin typeface="Arial" panose="020B0604020202020204" pitchFamily="34" charset="0"/>
            </a:endParaRPr>
          </a:p>
        </p:txBody>
      </p:sp>
      <p:sp>
        <p:nvSpPr>
          <p:cNvPr id="97" name="Text Box 94">
            <a:extLst>
              <a:ext uri="{FF2B5EF4-FFF2-40B4-BE49-F238E27FC236}">
                <a16:creationId xmlns:a16="http://schemas.microsoft.com/office/drawing/2014/main" id="{20A92A49-FD63-4809-9C99-83B6A6E9E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5617" y="3207236"/>
            <a:ext cx="2317259" cy="609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= 0,7 V</a:t>
            </a:r>
          </a:p>
        </p:txBody>
      </p:sp>
      <p:sp>
        <p:nvSpPr>
          <p:cNvPr id="99" name="Text Box 97">
            <a:extLst>
              <a:ext uri="{FF2B5EF4-FFF2-40B4-BE49-F238E27FC236}">
                <a16:creationId xmlns:a16="http://schemas.microsoft.com/office/drawing/2014/main" id="{11DEA8A8-61AB-4A19-807C-00492756E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440" y="3938707"/>
            <a:ext cx="2974785" cy="670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s-ES" sz="28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–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1,3 V</a:t>
            </a:r>
          </a:p>
        </p:txBody>
      </p:sp>
      <p:sp>
        <p:nvSpPr>
          <p:cNvPr id="103" name="Text Box 96">
            <a:extLst>
              <a:ext uri="{FF2B5EF4-FFF2-40B4-BE49-F238E27FC236}">
                <a16:creationId xmlns:a16="http://schemas.microsoft.com/office/drawing/2014/main" id="{FA035D60-B6F5-4C3F-8E6B-2097A8A95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7844" y="4745649"/>
            <a:ext cx="2984381" cy="609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18800" rIns="90000" bIns="118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I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=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/ R = 1,3 mA</a:t>
            </a:r>
          </a:p>
        </p:txBody>
      </p:sp>
      <p:sp>
        <p:nvSpPr>
          <p:cNvPr id="105" name="Text Box 58">
            <a:extLst>
              <a:ext uri="{FF2B5EF4-FFF2-40B4-BE49-F238E27FC236}">
                <a16:creationId xmlns:a16="http://schemas.microsoft.com/office/drawing/2014/main" id="{7446ED8E-7D09-4523-822B-10C5CB054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400" y="5462623"/>
            <a:ext cx="3424996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No hay contradicción</a:t>
            </a:r>
          </a:p>
        </p:txBody>
      </p:sp>
      <p:sp>
        <p:nvSpPr>
          <p:cNvPr id="106" name="Text Box 102">
            <a:extLst>
              <a:ext uri="{FF2B5EF4-FFF2-40B4-BE49-F238E27FC236}">
                <a16:creationId xmlns:a16="http://schemas.microsoft.com/office/drawing/2014/main" id="{56381B78-5BC8-444A-AC5C-80EC5B76C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803" y="6198639"/>
            <a:ext cx="4409473" cy="6092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</a:rPr>
              <a:t>D </a:t>
            </a:r>
            <a:r>
              <a:rPr lang="es-ES" sz="2400">
                <a:latin typeface="Arial" panose="020B0604020202020204" pitchFamily="34" charset="0"/>
              </a:rPr>
              <a:t>=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latin typeface="Arial" panose="020B0604020202020204" pitchFamily="34" charset="0"/>
              </a:rPr>
              <a:t> &gt; 0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</a:t>
            </a:r>
            <a:r>
              <a:rPr lang="es-ES" sz="2400"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baseline="-25000">
                <a:latin typeface="Arial" panose="020B0604020202020204" pitchFamily="34" charset="0"/>
              </a:rPr>
              <a:t>D  </a:t>
            </a:r>
            <a:r>
              <a:rPr lang="es-ES" sz="2400">
                <a:latin typeface="Arial" panose="020B0604020202020204" pitchFamily="34" charset="0"/>
              </a:rPr>
              <a:t>sentido </a:t>
            </a:r>
            <a:r>
              <a:rPr lang="es-ES" sz="2400" dirty="0">
                <a:latin typeface="Arial" panose="020B0604020202020204" pitchFamily="34" charset="0"/>
              </a:rPr>
              <a:t>P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2400" dirty="0">
                <a:latin typeface="Arial" panose="020B0604020202020204" pitchFamily="34" charset="0"/>
              </a:rPr>
              <a:t>N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EECE97E7-054E-5896-8156-5900CD468E3A}"/>
              </a:ext>
            </a:extLst>
          </p:cNvPr>
          <p:cNvGrpSpPr/>
          <p:nvPr/>
        </p:nvGrpSpPr>
        <p:grpSpPr>
          <a:xfrm>
            <a:off x="3732543" y="249925"/>
            <a:ext cx="2539383" cy="670808"/>
            <a:chOff x="-7674273" y="1111228"/>
            <a:chExt cx="2539383" cy="670808"/>
          </a:xfrm>
        </p:grpSpPr>
        <p:sp>
          <p:nvSpPr>
            <p:cNvPr id="9" name="Text Box 73">
              <a:extLst>
                <a:ext uri="{FF2B5EF4-FFF2-40B4-BE49-F238E27FC236}">
                  <a16:creationId xmlns:a16="http://schemas.microsoft.com/office/drawing/2014/main" id="{62233910-E0F3-AD02-31F3-3A6B648625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674273" y="1111228"/>
              <a:ext cx="1149972" cy="670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8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</a:t>
              </a: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2 V</a:t>
              </a:r>
            </a:p>
          </p:txBody>
        </p:sp>
        <p:sp>
          <p:nvSpPr>
            <p:cNvPr id="12" name="Text Box 74">
              <a:extLst>
                <a:ext uri="{FF2B5EF4-FFF2-40B4-BE49-F238E27FC236}">
                  <a16:creationId xmlns:a16="http://schemas.microsoft.com/office/drawing/2014/main" id="{85D771ED-B1D2-332E-9002-AF850D799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619890" y="1168654"/>
              <a:ext cx="1485000" cy="609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8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R = 1 k</a:t>
              </a:r>
            </a:p>
          </p:txBody>
        </p:sp>
      </p:grpSp>
      <p:sp>
        <p:nvSpPr>
          <p:cNvPr id="14" name="Text Box 74">
            <a:extLst>
              <a:ext uri="{FF2B5EF4-FFF2-40B4-BE49-F238E27FC236}">
                <a16:creationId xmlns:a16="http://schemas.microsoft.com/office/drawing/2014/main" id="{B9C1C4B4-8E17-D25E-6BF6-C62E55BB6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3651" y="3196129"/>
            <a:ext cx="2100553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(ec. adicional)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0" name="Oval 43">
            <a:extLst>
              <a:ext uri="{FF2B5EF4-FFF2-40B4-BE49-F238E27FC236}">
                <a16:creationId xmlns:a16="http://schemas.microsoft.com/office/drawing/2014/main" id="{5EC3E686-70D9-47BA-8F71-BB3F85CA1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399" y="2430975"/>
            <a:ext cx="179387" cy="179388"/>
          </a:xfrm>
          <a:prstGeom prst="ellipse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" name="Line 46">
            <a:extLst>
              <a:ext uri="{FF2B5EF4-FFF2-40B4-BE49-F238E27FC236}">
                <a16:creationId xmlns:a16="http://schemas.microsoft.com/office/drawing/2014/main" id="{AE0E9AB2-1BFB-4E90-A5B8-F9A5752C5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8025" y="1884456"/>
            <a:ext cx="736031" cy="441325"/>
          </a:xfrm>
          <a:prstGeom prst="line">
            <a:avLst/>
          </a:prstGeom>
          <a:noFill/>
          <a:ln w="25400">
            <a:solidFill>
              <a:srgbClr val="D60093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118800" rIns="90000" bIns="118800" anchor="ctr" anchorCtr="1"/>
          <a:lstStyle/>
          <a:p>
            <a:endParaRPr lang="es-ES">
              <a:solidFill>
                <a:srgbClr val="D60093"/>
              </a:solidFill>
            </a:endParaRPr>
          </a:p>
        </p:txBody>
      </p:sp>
      <p:grpSp>
        <p:nvGrpSpPr>
          <p:cNvPr id="93" name="Grupo 92">
            <a:extLst>
              <a:ext uri="{FF2B5EF4-FFF2-40B4-BE49-F238E27FC236}">
                <a16:creationId xmlns:a16="http://schemas.microsoft.com/office/drawing/2014/main" id="{470EC1DA-DDA9-415B-9543-5D0DA14F5265}"/>
              </a:ext>
            </a:extLst>
          </p:cNvPr>
          <p:cNvGrpSpPr/>
          <p:nvPr/>
        </p:nvGrpSpPr>
        <p:grpSpPr>
          <a:xfrm>
            <a:off x="6267838" y="1141383"/>
            <a:ext cx="1586952" cy="1347916"/>
            <a:chOff x="6279657" y="1942780"/>
            <a:chExt cx="1586952" cy="1347916"/>
          </a:xfrm>
        </p:grpSpPr>
        <p:sp>
          <p:nvSpPr>
            <p:cNvPr id="94" name="Text Box 45">
              <a:extLst>
                <a:ext uri="{FF2B5EF4-FFF2-40B4-BE49-F238E27FC236}">
                  <a16:creationId xmlns:a16="http://schemas.microsoft.com/office/drawing/2014/main" id="{E70390D7-9D62-44EA-84F9-B901E94B4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9091" y="1942780"/>
              <a:ext cx="1357518" cy="134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D60093"/>
                  </a:solidFill>
                  <a:latin typeface="Arial" panose="020B0604020202020204" pitchFamily="34" charset="0"/>
                </a:rPr>
                <a:t>Punto de trabajo</a:t>
              </a:r>
            </a:p>
          </p:txBody>
        </p:sp>
        <p:sp>
          <p:nvSpPr>
            <p:cNvPr id="95" name="Line 46">
              <a:extLst>
                <a:ext uri="{FF2B5EF4-FFF2-40B4-BE49-F238E27FC236}">
                  <a16:creationId xmlns:a16="http://schemas.microsoft.com/office/drawing/2014/main" id="{E3F99E02-8A46-48BE-8950-EB0AE6091F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9657" y="2707624"/>
              <a:ext cx="295718" cy="385699"/>
            </a:xfrm>
            <a:prstGeom prst="line">
              <a:avLst/>
            </a:prstGeom>
            <a:noFill/>
            <a:ln w="25400">
              <a:solidFill>
                <a:srgbClr val="D60093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118800" rIns="90000" bIns="118800" anchor="ctr" anchorCtr="1"/>
            <a:lstStyle/>
            <a:p>
              <a:endParaRPr lang="es-ES">
                <a:solidFill>
                  <a:srgbClr val="D60093"/>
                </a:solidFill>
              </a:endParaRPr>
            </a:p>
          </p:txBody>
        </p:sp>
      </p:grpSp>
      <p:sp>
        <p:nvSpPr>
          <p:cNvPr id="96" name="Forma libre: forma 95">
            <a:extLst>
              <a:ext uri="{FF2B5EF4-FFF2-40B4-BE49-F238E27FC236}">
                <a16:creationId xmlns:a16="http://schemas.microsoft.com/office/drawing/2014/main" id="{253DAF4E-DC4E-44AE-8F83-755132801B0F}"/>
              </a:ext>
            </a:extLst>
          </p:cNvPr>
          <p:cNvSpPr/>
          <p:nvPr/>
        </p:nvSpPr>
        <p:spPr bwMode="auto">
          <a:xfrm>
            <a:off x="8994225" y="2668992"/>
            <a:ext cx="1092973" cy="2156325"/>
          </a:xfrm>
          <a:custGeom>
            <a:avLst/>
            <a:gdLst>
              <a:gd name="connsiteX0" fmla="*/ 0 w 837624"/>
              <a:gd name="connsiteY0" fmla="*/ 0 h 1639614"/>
              <a:gd name="connsiteX1" fmla="*/ 746234 w 837624"/>
              <a:gd name="connsiteY1" fmla="*/ 809297 h 1639614"/>
              <a:gd name="connsiteX2" fmla="*/ 798786 w 837624"/>
              <a:gd name="connsiteY2" fmla="*/ 1639614 h 16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7624" h="1639614">
                <a:moveTo>
                  <a:pt x="0" y="0"/>
                </a:moveTo>
                <a:cubicBezTo>
                  <a:pt x="306551" y="268014"/>
                  <a:pt x="613103" y="536028"/>
                  <a:pt x="746234" y="809297"/>
                </a:cubicBezTo>
                <a:cubicBezTo>
                  <a:pt x="879365" y="1082566"/>
                  <a:pt x="839075" y="1361090"/>
                  <a:pt x="798786" y="1639614"/>
                </a:cubicBezTo>
              </a:path>
            </a:pathLst>
          </a:custGeom>
          <a:noFill/>
          <a:ln w="25400" cap="flat" cmpd="sng" algn="ctr">
            <a:solidFill>
              <a:srgbClr val="D60093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04" name="Flecha: a la derecha 103">
            <a:extLst>
              <a:ext uri="{FF2B5EF4-FFF2-40B4-BE49-F238E27FC236}">
                <a16:creationId xmlns:a16="http://schemas.microsoft.com/office/drawing/2014/main" id="{C7125211-79E7-7914-1D45-431421487872}"/>
              </a:ext>
            </a:extLst>
          </p:cNvPr>
          <p:cNvSpPr/>
          <p:nvPr/>
        </p:nvSpPr>
        <p:spPr bwMode="auto">
          <a:xfrm>
            <a:off x="3595677" y="994018"/>
            <a:ext cx="480156" cy="588459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2707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9" grpId="0" animBg="1"/>
      <p:bldP spid="91" grpId="0"/>
      <p:bldP spid="97" grpId="0" animBg="1"/>
      <p:bldP spid="99" grpId="0" animBg="1"/>
      <p:bldP spid="103" grpId="0" animBg="1"/>
      <p:bldP spid="105" grpId="0" animBg="1"/>
      <p:bldP spid="106" grpId="0" animBg="1"/>
      <p:bldP spid="14" grpId="0"/>
      <p:bldP spid="90" grpId="0" animBg="1"/>
      <p:bldP spid="92" grpId="0" animBg="1"/>
      <p:bldP spid="96" grpId="0" animBg="1"/>
      <p:bldP spid="10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B314718-C4B3-5CB7-060A-D61600CB88A6}"/>
              </a:ext>
            </a:extLst>
          </p:cNvPr>
          <p:cNvSpPr/>
          <p:nvPr/>
        </p:nvSpPr>
        <p:spPr bwMode="auto">
          <a:xfrm>
            <a:off x="6603295" y="1169574"/>
            <a:ext cx="3279767" cy="3044881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4" name="Group 59">
            <a:extLst>
              <a:ext uri="{FF2B5EF4-FFF2-40B4-BE49-F238E27FC236}">
                <a16:creationId xmlns:a16="http://schemas.microsoft.com/office/drawing/2014/main" id="{1E0877AA-ECC5-4CCC-5E8A-D82C69C713FB}"/>
              </a:ext>
            </a:extLst>
          </p:cNvPr>
          <p:cNvGrpSpPr>
            <a:grpSpLocks/>
          </p:cNvGrpSpPr>
          <p:nvPr/>
        </p:nvGrpSpPr>
        <p:grpSpPr bwMode="auto">
          <a:xfrm>
            <a:off x="6975293" y="1266353"/>
            <a:ext cx="2776538" cy="2732088"/>
            <a:chOff x="1519" y="2287"/>
            <a:chExt cx="1749" cy="1721"/>
          </a:xfrm>
        </p:grpSpPr>
        <p:sp>
          <p:nvSpPr>
            <p:cNvPr id="5" name="Text Box 60">
              <a:extLst>
                <a:ext uri="{FF2B5EF4-FFF2-40B4-BE49-F238E27FC236}">
                  <a16:creationId xmlns:a16="http://schemas.microsoft.com/office/drawing/2014/main" id="{F0CEEB40-31E6-594D-2050-DC2A23B76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4" y="2948"/>
              <a:ext cx="256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r</a:t>
              </a:r>
              <a:endParaRPr lang="es-ES" sz="2000" b="1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Text Box 61">
              <a:extLst>
                <a:ext uri="{FF2B5EF4-FFF2-40B4-BE49-F238E27FC236}">
                  <a16:creationId xmlns:a16="http://schemas.microsoft.com/office/drawing/2014/main" id="{17FF07F3-0889-7445-F329-F7F8D4B1B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2" y="3281"/>
              <a:ext cx="300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118800" rIns="90000" bIns="118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V</a:t>
              </a:r>
              <a:r>
                <a:rPr lang="es-ES" sz="2000" b="1" baseline="-25000">
                  <a:solidFill>
                    <a:srgbClr val="008000"/>
                  </a:solidFill>
                  <a:latin typeface="Arial" panose="020B0604020202020204" pitchFamily="34" charset="0"/>
                </a:rPr>
                <a:t>U</a:t>
              </a:r>
              <a:endParaRPr lang="es-ES" sz="2000" b="1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7" name="Group 62">
              <a:extLst>
                <a:ext uri="{FF2B5EF4-FFF2-40B4-BE49-F238E27FC236}">
                  <a16:creationId xmlns:a16="http://schemas.microsoft.com/office/drawing/2014/main" id="{4EB6EA2C-969C-6E2E-4D45-0CCD5431F4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287"/>
              <a:ext cx="1749" cy="1721"/>
              <a:chOff x="1519" y="2287"/>
              <a:chExt cx="1749" cy="1721"/>
            </a:xfrm>
          </p:grpSpPr>
          <p:sp>
            <p:nvSpPr>
              <p:cNvPr id="8" name="Line 63">
                <a:extLst>
                  <a:ext uri="{FF2B5EF4-FFF2-40B4-BE49-F238E27FC236}">
                    <a16:creationId xmlns:a16="http://schemas.microsoft.com/office/drawing/2014/main" id="{5D76D029-E984-802F-1A2D-1F28EAD309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1" y="2563"/>
                <a:ext cx="0" cy="144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9" name="Line 64">
                <a:extLst>
                  <a:ext uri="{FF2B5EF4-FFF2-40B4-BE49-F238E27FC236}">
                    <a16:creationId xmlns:a16="http://schemas.microsoft.com/office/drawing/2014/main" id="{6A476D8E-BDC3-EE77-3626-70FEE6C524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2242" y="2563"/>
                <a:ext cx="0" cy="144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1" name="Line 65">
                <a:extLst>
                  <a:ext uri="{FF2B5EF4-FFF2-40B4-BE49-F238E27FC236}">
                    <a16:creationId xmlns:a16="http://schemas.microsoft.com/office/drawing/2014/main" id="{7E9A9164-790D-FB53-F2C5-AB794F411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4" y="3286"/>
                <a:ext cx="869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2" name="Line 66">
                <a:extLst>
                  <a:ext uri="{FF2B5EF4-FFF2-40B4-BE49-F238E27FC236}">
                    <a16:creationId xmlns:a16="http://schemas.microsoft.com/office/drawing/2014/main" id="{158E1163-E50C-C944-D29E-2E685B9931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2263" y="2933"/>
                <a:ext cx="732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3" name="Line 67">
                <a:extLst>
                  <a:ext uri="{FF2B5EF4-FFF2-40B4-BE49-F238E27FC236}">
                    <a16:creationId xmlns:a16="http://schemas.microsoft.com/office/drawing/2014/main" id="{E277F082-1787-C277-2679-D9AF947735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>
                <a:off x="1419" y="3639"/>
                <a:ext cx="732" cy="0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4" name="Text Box 68">
                <a:extLst>
                  <a:ext uri="{FF2B5EF4-FFF2-40B4-BE49-F238E27FC236}">
                    <a16:creationId xmlns:a16="http://schemas.microsoft.com/office/drawing/2014/main" id="{AE36B974-DDFF-F980-E931-C34537F038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3" y="2287"/>
                <a:ext cx="280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latin typeface="Comic Sans MS" panose="030F0702030302020204" pitchFamily="66" charset="0"/>
                  </a:rPr>
                  <a:t>I</a:t>
                </a:r>
                <a:r>
                  <a:rPr lang="es-ES" sz="2000" baseline="-25000">
                    <a:latin typeface="Arial" panose="020B0604020202020204" pitchFamily="34" charset="0"/>
                  </a:rPr>
                  <a:t>D</a:t>
                </a:r>
                <a:endParaRPr lang="es-E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5" name="Text Box 69">
                <a:extLst>
                  <a:ext uri="{FF2B5EF4-FFF2-40B4-BE49-F238E27FC236}">
                    <a16:creationId xmlns:a16="http://schemas.microsoft.com/office/drawing/2014/main" id="{82EA0E22-71AE-1562-CE07-C2D409EE78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1" y="3172"/>
                <a:ext cx="297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ct val="6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latin typeface="Comic Sans MS" panose="030F0702030302020204" pitchFamily="66" charset="0"/>
                  </a:rPr>
                  <a:t>V</a:t>
                </a:r>
                <a:r>
                  <a:rPr lang="es-ES" sz="2000" baseline="-25000">
                    <a:latin typeface="Arial" panose="020B0604020202020204" pitchFamily="34" charset="0"/>
                  </a:rPr>
                  <a:t>D</a:t>
                </a:r>
                <a:endParaRPr lang="es-ES" sz="20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6" name="Text Box 105">
            <a:extLst>
              <a:ext uri="{FF2B5EF4-FFF2-40B4-BE49-F238E27FC236}">
                <a16:creationId xmlns:a16="http://schemas.microsoft.com/office/drawing/2014/main" id="{98DDBDFD-135D-CECB-A7F3-B060F52AA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296" y="337958"/>
            <a:ext cx="3293428" cy="609252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Modelo lineal ideal</a:t>
            </a:r>
          </a:p>
        </p:txBody>
      </p:sp>
      <p:sp>
        <p:nvSpPr>
          <p:cNvPr id="17" name="Text Box 110">
            <a:extLst>
              <a:ext uri="{FF2B5EF4-FFF2-40B4-BE49-F238E27FC236}">
                <a16:creationId xmlns:a16="http://schemas.microsoft.com/office/drawing/2014/main" id="{E2939B41-613E-4BE0-9371-395769D5B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498" y="4329665"/>
            <a:ext cx="3977225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d</a:t>
            </a:r>
            <a:r>
              <a:rPr lang="es-ES" sz="2400">
                <a:solidFill>
                  <a:srgbClr val="D60093"/>
                </a:solidFill>
                <a:latin typeface="Arial" panose="020B0604020202020204" pitchFamily="34" charset="0"/>
              </a:rPr>
              <a:t>iodo es equivalente a: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AD0DEF3-114A-E355-867C-D0B0CC35670C}"/>
              </a:ext>
            </a:extLst>
          </p:cNvPr>
          <p:cNvSpPr txBox="1"/>
          <p:nvPr/>
        </p:nvSpPr>
        <p:spPr>
          <a:xfrm>
            <a:off x="8199471" y="2422843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</a:t>
            </a:r>
            <a:endParaRPr lang="es-ES" sz="240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EA78073-E905-962E-060C-1989F2F56B8A}"/>
              </a:ext>
            </a:extLst>
          </p:cNvPr>
          <p:cNvSpPr txBox="1"/>
          <p:nvPr/>
        </p:nvSpPr>
        <p:spPr>
          <a:xfrm>
            <a:off x="7590097" y="2430726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</a:t>
            </a:r>
            <a:endParaRPr lang="es-ES" sz="240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3364F1C-2FF1-B13A-43A5-74644DA0BD00}"/>
              </a:ext>
            </a:extLst>
          </p:cNvPr>
          <p:cNvGrpSpPr/>
          <p:nvPr/>
        </p:nvGrpSpPr>
        <p:grpSpPr>
          <a:xfrm>
            <a:off x="7547543" y="5133268"/>
            <a:ext cx="1266470" cy="1576389"/>
            <a:chOff x="7503999" y="5137327"/>
            <a:chExt cx="1266470" cy="1576389"/>
          </a:xfrm>
        </p:grpSpPr>
        <p:grpSp>
          <p:nvGrpSpPr>
            <p:cNvPr id="21" name="Group 109">
              <a:extLst>
                <a:ext uri="{FF2B5EF4-FFF2-40B4-BE49-F238E27FC236}">
                  <a16:creationId xmlns:a16="http://schemas.microsoft.com/office/drawing/2014/main" id="{871A3AAB-002C-3AC1-22D3-559476E5D2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65594" y="5137327"/>
              <a:ext cx="904875" cy="1576389"/>
              <a:chOff x="1354" y="2093"/>
              <a:chExt cx="570" cy="993"/>
            </a:xfrm>
          </p:grpSpPr>
          <p:sp>
            <p:nvSpPr>
              <p:cNvPr id="26" name="Line 36">
                <a:extLst>
                  <a:ext uri="{FF2B5EF4-FFF2-40B4-BE49-F238E27FC236}">
                    <a16:creationId xmlns:a16="http://schemas.microsoft.com/office/drawing/2014/main" id="{BDFE020A-1B88-3DC1-29EB-3641878D46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4" y="2118"/>
                <a:ext cx="144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118800" rIns="90000" bIns="118800" anchor="ctr" anchorCtr="1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27" name="Text Box 37">
                <a:extLst>
                  <a:ext uri="{FF2B5EF4-FFF2-40B4-BE49-F238E27FC236}">
                    <a16:creationId xmlns:a16="http://schemas.microsoft.com/office/drawing/2014/main" id="{38BB7DC1-ABDA-8474-ED0A-4182006D36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4" y="2741"/>
                <a:ext cx="570" cy="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wrap="none" lIns="90000" tIns="118800" rIns="90000" bIns="118800" anchorCtr="1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</a:rPr>
                  <a:t>R = </a:t>
                </a:r>
                <a:r>
                  <a:rPr lang="es-ES" sz="2000">
                    <a:solidFill>
                      <a:srgbClr val="008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</a:t>
                </a:r>
              </a:p>
            </p:txBody>
          </p:sp>
          <p:grpSp>
            <p:nvGrpSpPr>
              <p:cNvPr id="28" name="Group 40">
                <a:extLst>
                  <a:ext uri="{FF2B5EF4-FFF2-40B4-BE49-F238E27FC236}">
                    <a16:creationId xmlns:a16="http://schemas.microsoft.com/office/drawing/2014/main" id="{75C18966-6856-043A-F0AD-1DA6E5E4CF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15" y="2093"/>
                <a:ext cx="437" cy="336"/>
                <a:chOff x="3165" y="3436"/>
                <a:chExt cx="437" cy="336"/>
              </a:xfrm>
            </p:grpSpPr>
            <p:sp>
              <p:nvSpPr>
                <p:cNvPr id="29" name="Rectangle 41">
                  <a:extLst>
                    <a:ext uri="{FF2B5EF4-FFF2-40B4-BE49-F238E27FC236}">
                      <a16:creationId xmlns:a16="http://schemas.microsoft.com/office/drawing/2014/main" id="{FA5172C1-44A6-1515-1EE8-862DAD8F2E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5" y="3446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 dirty="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" name="Text Box 42">
                  <a:extLst>
                    <a:ext uri="{FF2B5EF4-FFF2-40B4-BE49-F238E27FC236}">
                      <a16:creationId xmlns:a16="http://schemas.microsoft.com/office/drawing/2014/main" id="{CE142419-B991-906E-ECB4-023FC96F7F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5" y="3448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 dirty="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31" name="Rectangle 43">
                  <a:extLst>
                    <a:ext uri="{FF2B5EF4-FFF2-40B4-BE49-F238E27FC236}">
                      <a16:creationId xmlns:a16="http://schemas.microsoft.com/office/drawing/2014/main" id="{065F17CF-D0B7-0BF1-ECE5-50E29CFB04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77" y="3449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" name="Text Box 44">
                  <a:extLst>
                    <a:ext uri="{FF2B5EF4-FFF2-40B4-BE49-F238E27FC236}">
                      <a16:creationId xmlns:a16="http://schemas.microsoft.com/office/drawing/2014/main" id="{DD6E054C-4858-9223-FA52-41D081DB8C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84" y="3436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</p:grpSp>
        </p:grp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46081D5C-029E-78E1-D471-A7E7284D05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29142" y="6150154"/>
              <a:ext cx="877887" cy="0"/>
              <a:chOff x="3540953" y="4160162"/>
              <a:chExt cx="878356" cy="0"/>
            </a:xfrm>
          </p:grpSpPr>
          <p:cxnSp>
            <p:nvCxnSpPr>
              <p:cNvPr id="24" name="Conector recto 2">
                <a:extLst>
                  <a:ext uri="{FF2B5EF4-FFF2-40B4-BE49-F238E27FC236}">
                    <a16:creationId xmlns:a16="http://schemas.microsoft.com/office/drawing/2014/main" id="{417C4DCE-5CA7-2CC0-1BDD-9F3EA10CBDA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40953" y="4160162"/>
                <a:ext cx="355346" cy="0"/>
              </a:xfrm>
              <a:prstGeom prst="line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Conector recto 66">
                <a:extLst>
                  <a:ext uri="{FF2B5EF4-FFF2-40B4-BE49-F238E27FC236}">
                    <a16:creationId xmlns:a16="http://schemas.microsoft.com/office/drawing/2014/main" id="{62CD8F04-105C-38F2-3A1E-F5620744BAB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063963" y="4160162"/>
                <a:ext cx="355346" cy="0"/>
              </a:xfrm>
              <a:prstGeom prst="line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2DECF60-5AB9-A6C3-F1D8-DAD93B831D30}"/>
                </a:ext>
              </a:extLst>
            </p:cNvPr>
            <p:cNvSpPr txBox="1"/>
            <p:nvPr/>
          </p:nvSpPr>
          <p:spPr>
            <a:xfrm>
              <a:off x="7503999" y="5207146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</a:t>
              </a:r>
              <a:endParaRPr lang="es-ES" sz="2400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C8689C14-3DF5-832E-11B7-7AA98807913C}"/>
              </a:ext>
            </a:extLst>
          </p:cNvPr>
          <p:cNvGrpSpPr/>
          <p:nvPr/>
        </p:nvGrpSpPr>
        <p:grpSpPr>
          <a:xfrm>
            <a:off x="8877193" y="5115097"/>
            <a:ext cx="1511644" cy="1657349"/>
            <a:chOff x="8942509" y="5119156"/>
            <a:chExt cx="1511644" cy="1657349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7C0C63CD-EFAC-9A0E-6D05-944C172952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79532" y="5119156"/>
              <a:ext cx="1074621" cy="1657349"/>
              <a:chOff x="7609687" y="5090740"/>
              <a:chExt cx="1074612" cy="1657349"/>
            </a:xfrm>
          </p:grpSpPr>
          <p:grpSp>
            <p:nvGrpSpPr>
              <p:cNvPr id="36" name="Group 108">
                <a:extLst>
                  <a:ext uri="{FF2B5EF4-FFF2-40B4-BE49-F238E27FC236}">
                    <a16:creationId xmlns:a16="http://schemas.microsoft.com/office/drawing/2014/main" id="{02ABB71B-19E9-F59C-45B5-A0ADD7F49D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09687" y="5090740"/>
                <a:ext cx="715963" cy="1657349"/>
                <a:chOff x="3015" y="2939"/>
                <a:chExt cx="451" cy="1044"/>
              </a:xfrm>
            </p:grpSpPr>
            <p:sp>
              <p:nvSpPr>
                <p:cNvPr id="40" name="Line 21">
                  <a:extLst>
                    <a:ext uri="{FF2B5EF4-FFF2-40B4-BE49-F238E27FC236}">
                      <a16:creationId xmlns:a16="http://schemas.microsoft.com/office/drawing/2014/main" id="{76B735ED-D7C4-7A55-D22B-9A8F33E6D4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5" y="3555"/>
                  <a:ext cx="422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grpSp>
              <p:nvGrpSpPr>
                <p:cNvPr id="41" name="Group 22">
                  <a:extLst>
                    <a:ext uri="{FF2B5EF4-FFF2-40B4-BE49-F238E27FC236}">
                      <a16:creationId xmlns:a16="http://schemas.microsoft.com/office/drawing/2014/main" id="{754041E8-D519-5945-6404-110C4F219E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13" y="3394"/>
                  <a:ext cx="46" cy="323"/>
                  <a:chOff x="2053" y="2010"/>
                  <a:chExt cx="46" cy="323"/>
                </a:xfrm>
              </p:grpSpPr>
              <p:sp>
                <p:nvSpPr>
                  <p:cNvPr id="47" name="Rectangle 23">
                    <a:extLst>
                      <a:ext uri="{FF2B5EF4-FFF2-40B4-BE49-F238E27FC236}">
                        <a16:creationId xmlns:a16="http://schemas.microsoft.com/office/drawing/2014/main" id="{AC48146C-1847-1D47-B4C6-DE2A589A24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54" y="2010"/>
                    <a:ext cx="45" cy="323"/>
                  </a:xfrm>
                  <a:prstGeom prst="rect">
                    <a:avLst/>
                  </a:prstGeom>
                  <a:solidFill>
                    <a:srgbClr val="EDE7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48" name="Line 24">
                    <a:extLst>
                      <a:ext uri="{FF2B5EF4-FFF2-40B4-BE49-F238E27FC236}">
                        <a16:creationId xmlns:a16="http://schemas.microsoft.com/office/drawing/2014/main" id="{E57EA4C6-F047-91B6-C089-A439F08EE2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939" y="2170"/>
                    <a:ext cx="227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49" name="Line 25">
                    <a:extLst>
                      <a:ext uri="{FF2B5EF4-FFF2-40B4-BE49-F238E27FC236}">
                        <a16:creationId xmlns:a16="http://schemas.microsoft.com/office/drawing/2014/main" id="{7CE6097A-C51A-D06E-2DC5-1433DB0948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042" y="2173"/>
                    <a:ext cx="113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</p:grpSp>
            <p:sp>
              <p:nvSpPr>
                <p:cNvPr id="42" name="Rectangle 26">
                  <a:extLst>
                    <a:ext uri="{FF2B5EF4-FFF2-40B4-BE49-F238E27FC236}">
                      <a16:creationId xmlns:a16="http://schemas.microsoft.com/office/drawing/2014/main" id="{9446179D-80E6-6B10-BD44-DA6FC77945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29" y="2948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3" name="Text Box 27">
                  <a:extLst>
                    <a:ext uri="{FF2B5EF4-FFF2-40B4-BE49-F238E27FC236}">
                      <a16:creationId xmlns:a16="http://schemas.microsoft.com/office/drawing/2014/main" id="{93404789-79D1-43E8-D4D9-2ED9F2DE77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39" y="2950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44" name="Rectangle 28">
                  <a:extLst>
                    <a:ext uri="{FF2B5EF4-FFF2-40B4-BE49-F238E27FC236}">
                      <a16:creationId xmlns:a16="http://schemas.microsoft.com/office/drawing/2014/main" id="{1FFA25CA-7637-4762-6EBE-FDF9D59AD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41" y="2944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" name="Text Box 29">
                  <a:extLst>
                    <a:ext uri="{FF2B5EF4-FFF2-40B4-BE49-F238E27FC236}">
                      <a16:creationId xmlns:a16="http://schemas.microsoft.com/office/drawing/2014/main" id="{BFB90C1E-9E9C-8839-E553-CC2058D1E1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48" y="2939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46" name="Text Box 32">
                  <a:extLst>
                    <a:ext uri="{FF2B5EF4-FFF2-40B4-BE49-F238E27FC236}">
                      <a16:creationId xmlns:a16="http://schemas.microsoft.com/office/drawing/2014/main" id="{60678B98-6AC1-4379-D0BD-5522D5CE0C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5" y="3638"/>
                  <a:ext cx="300" cy="3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1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V</a:t>
                  </a:r>
                  <a:r>
                    <a:rPr lang="es-ES" sz="2000" b="1" baseline="-2500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U</a:t>
                  </a:r>
                  <a:endParaRPr lang="es-ES" sz="2000" b="1">
                    <a:solidFill>
                      <a:srgbClr val="008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37" name="Conector recto de flecha 4">
                <a:extLst>
                  <a:ext uri="{FF2B5EF4-FFF2-40B4-BE49-F238E27FC236}">
                    <a16:creationId xmlns:a16="http://schemas.microsoft.com/office/drawing/2014/main" id="{974393BD-4208-6224-677D-259DC64B1D6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103707" y="6066946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Conector recto de flecha 125">
                <a:extLst>
                  <a:ext uri="{FF2B5EF4-FFF2-40B4-BE49-F238E27FC236}">
                    <a16:creationId xmlns:a16="http://schemas.microsoft.com/office/drawing/2014/main" id="{B1B0729F-6902-C0FA-3119-CB7CCE04FE8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677250" y="6066526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CuadroTexto 6">
                <a:extLst>
                  <a:ext uri="{FF2B5EF4-FFF2-40B4-BE49-F238E27FC236}">
                    <a16:creationId xmlns:a16="http://schemas.microsoft.com/office/drawing/2014/main" id="{E97615F3-A951-B8E9-F377-30B3853CF6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36745" y="5901218"/>
                <a:ext cx="44755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baseline="-25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D</a:t>
                </a:r>
                <a:endParaRPr lang="es-ES" baseline="-25000" dirty="0">
                  <a:solidFill>
                    <a:srgbClr val="3333FF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4E538FAF-8C4A-706C-FDB9-73772A9C5C28}"/>
                </a:ext>
              </a:extLst>
            </p:cNvPr>
            <p:cNvSpPr txBox="1"/>
            <p:nvPr/>
          </p:nvSpPr>
          <p:spPr>
            <a:xfrm>
              <a:off x="8942509" y="5196208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</a:t>
              </a:r>
              <a:endParaRPr lang="es-ES" sz="2400"/>
            </a:p>
          </p:txBody>
        </p:sp>
      </p:grp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30D9009-80FD-DFFB-F69D-253098EC7F6B}"/>
              </a:ext>
            </a:extLst>
          </p:cNvPr>
          <p:cNvSpPr txBox="1"/>
          <p:nvPr/>
        </p:nvSpPr>
        <p:spPr>
          <a:xfrm>
            <a:off x="8734426" y="204159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</a:t>
            </a:r>
            <a:endParaRPr lang="es-ES" sz="240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112F448-67E7-8B98-AD86-B52BE2C457BA}"/>
              </a:ext>
            </a:extLst>
          </p:cNvPr>
          <p:cNvSpPr txBox="1"/>
          <p:nvPr/>
        </p:nvSpPr>
        <p:spPr>
          <a:xfrm>
            <a:off x="6936910" y="326877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3333FF"/>
                </a:solidFill>
                <a:sym typeface="Wingdings" panose="05000000000000000000" pitchFamily="2" charset="2"/>
              </a:rPr>
              <a:t></a:t>
            </a:r>
            <a:endParaRPr lang="es-ES" sz="2400"/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BBCF556B-6167-1930-7EB2-16B2B0B76E12}"/>
              </a:ext>
            </a:extLst>
          </p:cNvPr>
          <p:cNvGrpSpPr/>
          <p:nvPr/>
        </p:nvGrpSpPr>
        <p:grpSpPr>
          <a:xfrm>
            <a:off x="6113597" y="5123742"/>
            <a:ext cx="1131331" cy="1684344"/>
            <a:chOff x="6070053" y="5127801"/>
            <a:chExt cx="1131331" cy="1684344"/>
          </a:xfrm>
        </p:grpSpPr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E291B988-EBFE-27A4-609D-3FE52ECD73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5892" y="5127801"/>
              <a:ext cx="1035492" cy="1684344"/>
              <a:chOff x="3422101" y="4789093"/>
              <a:chExt cx="1035965" cy="1684344"/>
            </a:xfrm>
          </p:grpSpPr>
          <p:grpSp>
            <p:nvGrpSpPr>
              <p:cNvPr id="55" name="Group 107">
                <a:extLst>
                  <a:ext uri="{FF2B5EF4-FFF2-40B4-BE49-F238E27FC236}">
                    <a16:creationId xmlns:a16="http://schemas.microsoft.com/office/drawing/2014/main" id="{66B2535A-8C10-668E-8E1F-4607D2E6E2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3053" y="4789093"/>
                <a:ext cx="735013" cy="1684344"/>
                <a:chOff x="891" y="2923"/>
                <a:chExt cx="463" cy="1061"/>
              </a:xfrm>
            </p:grpSpPr>
            <p:sp>
              <p:nvSpPr>
                <p:cNvPr id="59" name="Line 7">
                  <a:extLst>
                    <a:ext uri="{FF2B5EF4-FFF2-40B4-BE49-F238E27FC236}">
                      <a16:creationId xmlns:a16="http://schemas.microsoft.com/office/drawing/2014/main" id="{0187A1DC-F414-4AC6-23C8-963207F233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1" y="3543"/>
                  <a:ext cx="422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118800" rIns="90000" bIns="118800" anchor="ctr" anchorCtr="1">
                  <a:spAutoFit/>
                </a:bodyPr>
                <a:lstStyle/>
                <a:p>
                  <a:endParaRPr lang="es-ES"/>
                </a:p>
              </p:txBody>
            </p:sp>
            <p:grpSp>
              <p:nvGrpSpPr>
                <p:cNvPr id="60" name="Group 8">
                  <a:extLst>
                    <a:ext uri="{FF2B5EF4-FFF2-40B4-BE49-F238E27FC236}">
                      <a16:creationId xmlns:a16="http://schemas.microsoft.com/office/drawing/2014/main" id="{F88DFB67-7C00-AAC1-C104-4B470AD3E9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096" y="3382"/>
                  <a:ext cx="49" cy="323"/>
                  <a:chOff x="2053" y="2010"/>
                  <a:chExt cx="49" cy="323"/>
                </a:xfrm>
              </p:grpSpPr>
              <p:sp>
                <p:nvSpPr>
                  <p:cNvPr id="7234" name="Rectangle 9">
                    <a:extLst>
                      <a:ext uri="{FF2B5EF4-FFF2-40B4-BE49-F238E27FC236}">
                        <a16:creationId xmlns:a16="http://schemas.microsoft.com/office/drawing/2014/main" id="{5F12D6DD-56B4-D5D1-6BF6-459A872C41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57" y="2010"/>
                    <a:ext cx="45" cy="323"/>
                  </a:xfrm>
                  <a:prstGeom prst="rect">
                    <a:avLst/>
                  </a:prstGeom>
                  <a:solidFill>
                    <a:srgbClr val="EDE7E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25400" algn="ctr">
                        <a:solidFill>
                          <a:srgbClr val="000000"/>
                        </a:solidFill>
                        <a:miter lim="800000"/>
                        <a:headEnd/>
                        <a:tailEnd type="none" w="lg" len="lg"/>
                      </a14:hiddenLine>
                    </a:ext>
                  </a:extLst>
                </p:spPr>
                <p:txBody>
                  <a:bodyPr wrap="none" lIns="90000" tIns="118800" rIns="90000" bIns="11880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36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7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3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FontTx/>
                      <a:buNone/>
                    </a:pPr>
                    <a:endPara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35" name="Line 10">
                    <a:extLst>
                      <a:ext uri="{FF2B5EF4-FFF2-40B4-BE49-F238E27FC236}">
                        <a16:creationId xmlns:a16="http://schemas.microsoft.com/office/drawing/2014/main" id="{FE98926C-C1B8-E9ED-B2D7-D36176D3AE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939" y="2170"/>
                    <a:ext cx="227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  <p:sp>
                <p:nvSpPr>
                  <p:cNvPr id="7236" name="Line 11">
                    <a:extLst>
                      <a:ext uri="{FF2B5EF4-FFF2-40B4-BE49-F238E27FC236}">
                        <a16:creationId xmlns:a16="http://schemas.microsoft.com/office/drawing/2014/main" id="{B31F7E4D-231E-3657-0CE4-9AC0F8E1BB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042" y="2173"/>
                    <a:ext cx="113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118800" rIns="90000" bIns="118800" anchor="ctr" anchorCtr="1">
                    <a:spAutoFit/>
                  </a:bodyPr>
                  <a:lstStyle/>
                  <a:p>
                    <a:endParaRPr lang="es-ES"/>
                  </a:p>
                </p:txBody>
              </p:sp>
            </p:grpSp>
            <p:sp>
              <p:nvSpPr>
                <p:cNvPr id="61" name="Rectangle 12">
                  <a:extLst>
                    <a:ext uri="{FF2B5EF4-FFF2-40B4-BE49-F238E27FC236}">
                      <a16:creationId xmlns:a16="http://schemas.microsoft.com/office/drawing/2014/main" id="{D6D0A762-7566-692D-9241-22DC18C92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7" y="2939"/>
                  <a:ext cx="216" cy="323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2" name="Text Box 13">
                  <a:extLst>
                    <a:ext uri="{FF2B5EF4-FFF2-40B4-BE49-F238E27FC236}">
                      <a16:creationId xmlns:a16="http://schemas.microsoft.com/office/drawing/2014/main" id="{38391844-8F73-B086-B315-FADD615B4F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27" y="2923"/>
                  <a:ext cx="210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63" name="Rectangle 14">
                  <a:extLst>
                    <a:ext uri="{FF2B5EF4-FFF2-40B4-BE49-F238E27FC236}">
                      <a16:creationId xmlns:a16="http://schemas.microsoft.com/office/drawing/2014/main" id="{B670AEDD-BB66-6795-C279-E31C6C07E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29" y="2936"/>
                  <a:ext cx="216" cy="323"/>
                </a:xfrm>
                <a:prstGeom prst="rect">
                  <a:avLst/>
                </a:prstGeom>
                <a:solidFill>
                  <a:srgbClr val="FF99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lIns="90000" tIns="118800" rIns="90000" bIns="11880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endParaRPr lang="es-ES" sz="18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32" name="Text Box 15">
                  <a:extLst>
                    <a:ext uri="{FF2B5EF4-FFF2-40B4-BE49-F238E27FC236}">
                      <a16:creationId xmlns:a16="http://schemas.microsoft.com/office/drawing/2014/main" id="{244BBD44-E372-CD41-ADC0-336D34165F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36" y="2932"/>
                  <a:ext cx="218" cy="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18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7233" name="Text Box 18">
                  <a:extLst>
                    <a:ext uri="{FF2B5EF4-FFF2-40B4-BE49-F238E27FC236}">
                      <a16:creationId xmlns:a16="http://schemas.microsoft.com/office/drawing/2014/main" id="{4D48DBC8-0810-7189-CE77-935D0F4BD6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57" y="3639"/>
                  <a:ext cx="347" cy="3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 type="none" w="lg" len="lg"/>
                    </a14:hiddenLine>
                  </a:ext>
                </a:extLst>
              </p:spPr>
              <p:txBody>
                <a:bodyPr wrap="none" lIns="90000" tIns="118800" rIns="90000" bIns="118800" anchorCtr="1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6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s-ES" sz="2000" b="1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|V</a:t>
                  </a:r>
                  <a:r>
                    <a:rPr lang="es-ES" sz="2000" b="1" baseline="-25000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r</a:t>
                  </a:r>
                  <a:r>
                    <a:rPr lang="es-ES" sz="2000" b="1" dirty="0">
                      <a:solidFill>
                        <a:srgbClr val="008000"/>
                      </a:solidFill>
                      <a:latin typeface="Arial" panose="020B0604020202020204" pitchFamily="34" charset="0"/>
                    </a:rPr>
                    <a:t>|</a:t>
                  </a:r>
                </a:p>
              </p:txBody>
            </p:sp>
          </p:grpSp>
          <p:cxnSp>
            <p:nvCxnSpPr>
              <p:cNvPr id="56" name="Conector recto de flecha 127">
                <a:extLst>
                  <a:ext uri="{FF2B5EF4-FFF2-40B4-BE49-F238E27FC236}">
                    <a16:creationId xmlns:a16="http://schemas.microsoft.com/office/drawing/2014/main" id="{D00ED39C-BB5C-853C-A4F2-187CD83BE0E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4186909" y="5778130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Conector recto de flecha 128">
                <a:extLst>
                  <a:ext uri="{FF2B5EF4-FFF2-40B4-BE49-F238E27FC236}">
                    <a16:creationId xmlns:a16="http://schemas.microsoft.com/office/drawing/2014/main" id="{5F53098A-DF75-A9E8-C82F-40F0C5FDFCE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760452" y="5777710"/>
                <a:ext cx="135731" cy="0"/>
              </a:xfrm>
              <a:prstGeom prst="straightConnector1">
                <a:avLst/>
              </a:prstGeom>
              <a:noFill/>
              <a:ln w="25400" algn="ctr">
                <a:solidFill>
                  <a:srgbClr val="3333FF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8" name="CuadroTexto 129">
                <a:extLst>
                  <a:ext uri="{FF2B5EF4-FFF2-40B4-BE49-F238E27FC236}">
                    <a16:creationId xmlns:a16="http://schemas.microsoft.com/office/drawing/2014/main" id="{4350E2E5-952F-069B-176E-FE6D6DF7DA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2101" y="5630471"/>
                <a:ext cx="44776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s-ES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  <a:r>
                  <a:rPr lang="es-ES" baseline="-25000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D</a:t>
                </a:r>
                <a:endParaRPr lang="es-ES" baseline="-25000" dirty="0">
                  <a:solidFill>
                    <a:srgbClr val="3333FF"/>
                  </a:solidFill>
                </a:endParaRPr>
              </a:p>
            </p:txBody>
          </p: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8BDD602C-6BAD-0168-7F77-11728AC1ABE9}"/>
                </a:ext>
              </a:extLst>
            </p:cNvPr>
            <p:cNvSpPr txBox="1"/>
            <p:nvPr/>
          </p:nvSpPr>
          <p:spPr>
            <a:xfrm>
              <a:off x="6070053" y="5206481"/>
              <a:ext cx="458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400">
                  <a:solidFill>
                    <a:srgbClr val="3333FF"/>
                  </a:solidFill>
                  <a:sym typeface="Wingdings" panose="05000000000000000000" pitchFamily="2" charset="2"/>
                </a:rPr>
                <a:t></a:t>
              </a:r>
              <a:endParaRPr lang="es-ES" sz="2400"/>
            </a:p>
          </p:txBody>
        </p:sp>
      </p:grpSp>
      <p:sp>
        <p:nvSpPr>
          <p:cNvPr id="7237" name="Oval 43">
            <a:extLst>
              <a:ext uri="{FF2B5EF4-FFF2-40B4-BE49-F238E27FC236}">
                <a16:creationId xmlns:a16="http://schemas.microsoft.com/office/drawing/2014/main" id="{9A536700-3A77-9BF4-7B07-6D91230D4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399" y="2430975"/>
            <a:ext cx="179387" cy="179388"/>
          </a:xfrm>
          <a:prstGeom prst="ellipse">
            <a:avLst/>
          </a:prstGeom>
          <a:solidFill>
            <a:srgbClr val="FFFF00"/>
          </a:solidFill>
          <a:ln w="25400" algn="ctr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lIns="90000" tIns="118800" rIns="90000" bIns="118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" name="Text Box 102">
            <a:extLst>
              <a:ext uri="{FF2B5EF4-FFF2-40B4-BE49-F238E27FC236}">
                <a16:creationId xmlns:a16="http://schemas.microsoft.com/office/drawing/2014/main" id="{C59EBA62-DD72-4C2D-B58D-158CDB750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465" y="414406"/>
            <a:ext cx="3365964" cy="60925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none" lIns="90000" tIns="118800" rIns="90000" bIns="118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Veamos otras </a:t>
            </a:r>
            <a:r>
              <a:rPr lang="es-ES" sz="2400" dirty="0" err="1">
                <a:latin typeface="Arial" panose="020B0604020202020204" pitchFamily="34" charset="0"/>
              </a:rPr>
              <a:t>hipótesis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102" name="Text Box 58">
            <a:extLst>
              <a:ext uri="{FF2B5EF4-FFF2-40B4-BE49-F238E27FC236}">
                <a16:creationId xmlns:a16="http://schemas.microsoft.com/office/drawing/2014/main" id="{59294609-2B02-4980-884D-DDC0FF5EC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531" y="2540564"/>
            <a:ext cx="2667498" cy="5874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Hay contradicción</a:t>
            </a:r>
          </a:p>
        </p:txBody>
      </p:sp>
      <p:sp>
        <p:nvSpPr>
          <p:cNvPr id="103" name="Text Box 62">
            <a:extLst>
              <a:ext uri="{FF2B5EF4-FFF2-40B4-BE49-F238E27FC236}">
                <a16:creationId xmlns:a16="http://schemas.microsoft.com/office/drawing/2014/main" id="{766F5388-7792-4AE7-8E34-6ED3742B8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881" y="1370145"/>
            <a:ext cx="86677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=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latin typeface="Comic Sans MS" panose="030F0702030302020204" pitchFamily="66" charset="0"/>
              </a:rPr>
              <a:t>D</a:t>
            </a:r>
            <a:r>
              <a:rPr lang="es-ES" sz="2400" dirty="0">
                <a:latin typeface="Arial" panose="020B0604020202020204" pitchFamily="34" charset="0"/>
              </a:rPr>
              <a:t> = 0</a:t>
            </a:r>
          </a:p>
        </p:txBody>
      </p:sp>
      <p:sp>
        <p:nvSpPr>
          <p:cNvPr id="104" name="Text Box 22">
            <a:extLst>
              <a:ext uri="{FF2B5EF4-FFF2-40B4-BE49-F238E27FC236}">
                <a16:creationId xmlns:a16="http://schemas.microsoft.com/office/drawing/2014/main" id="{7C4FA5DA-59D3-4EE8-90AF-C9597B69D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055" y="1765652"/>
            <a:ext cx="2546188" cy="670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– 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2 V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5" name="Text Box 22">
            <a:extLst>
              <a:ext uri="{FF2B5EF4-FFF2-40B4-BE49-F238E27FC236}">
                <a16:creationId xmlns:a16="http://schemas.microsoft.com/office/drawing/2014/main" id="{D71B5777-F726-4751-8271-80F9199A0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9152" y="2527551"/>
            <a:ext cx="1236534" cy="6092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&gt; 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U</a:t>
            </a: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565E5CA5-F809-4AE3-AED0-D573369CDA56}"/>
              </a:ext>
            </a:extLst>
          </p:cNvPr>
          <p:cNvSpPr/>
          <p:nvPr/>
        </p:nvSpPr>
        <p:spPr bwMode="auto">
          <a:xfrm>
            <a:off x="1411572" y="1427572"/>
            <a:ext cx="180977" cy="197504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08" name="Text Box 22">
            <a:extLst>
              <a:ext uri="{FF2B5EF4-FFF2-40B4-BE49-F238E27FC236}">
                <a16:creationId xmlns:a16="http://schemas.microsoft.com/office/drawing/2014/main" id="{25B24ED0-F1FF-4D2C-8102-318FEC3AD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733" y="1256064"/>
            <a:ext cx="1887353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R</a:t>
            </a:r>
            <a:r>
              <a:rPr lang="es-ES" sz="2400" dirty="0">
                <a:latin typeface="Comic Sans MS" panose="030F0702030302020204" pitchFamily="66" charset="0"/>
              </a:rPr>
              <a:t>I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0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9" name="Text Box 86">
            <a:extLst>
              <a:ext uri="{FF2B5EF4-FFF2-40B4-BE49-F238E27FC236}">
                <a16:creationId xmlns:a16="http://schemas.microsoft.com/office/drawing/2014/main" id="{3B58921A-58BA-4794-A424-ECA407279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68" y="4769609"/>
            <a:ext cx="4065514" cy="481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=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latin typeface="Arial" panose="020B0604020202020204" pitchFamily="34" charset="0"/>
              </a:rPr>
              <a:t> / R = 1,002 A =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latin typeface="Comic Sans MS" panose="030F0702030302020204" pitchFamily="66" charset="0"/>
              </a:rPr>
              <a:t>D</a:t>
            </a:r>
            <a:r>
              <a:rPr lang="es-ES" sz="2400" dirty="0">
                <a:latin typeface="Arial" panose="020B0604020202020204" pitchFamily="34" charset="0"/>
              </a:rPr>
              <a:t> &gt; 0</a:t>
            </a:r>
          </a:p>
        </p:txBody>
      </p:sp>
      <p:sp>
        <p:nvSpPr>
          <p:cNvPr id="110" name="Text Box 58">
            <a:extLst>
              <a:ext uri="{FF2B5EF4-FFF2-40B4-BE49-F238E27FC236}">
                <a16:creationId xmlns:a16="http://schemas.microsoft.com/office/drawing/2014/main" id="{3983694E-44CD-4835-AD02-C1AE34CE8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393" y="5359882"/>
            <a:ext cx="2667498" cy="6092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Hay contradicción</a:t>
            </a:r>
          </a:p>
        </p:txBody>
      </p:sp>
      <p:sp>
        <p:nvSpPr>
          <p:cNvPr id="111" name="Text Box 22">
            <a:extLst>
              <a:ext uri="{FF2B5EF4-FFF2-40B4-BE49-F238E27FC236}">
                <a16:creationId xmlns:a16="http://schemas.microsoft.com/office/drawing/2014/main" id="{F0865D3A-C696-4114-8218-C6E71E4AA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984" y="3456804"/>
            <a:ext cx="2847359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 – 1000 V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3" name="Triángulo isósceles 112">
            <a:extLst>
              <a:ext uri="{FF2B5EF4-FFF2-40B4-BE49-F238E27FC236}">
                <a16:creationId xmlns:a16="http://schemas.microsoft.com/office/drawing/2014/main" id="{E47485E0-3849-4A0F-9085-1F88B3B78E5E}"/>
              </a:ext>
            </a:extLst>
          </p:cNvPr>
          <p:cNvSpPr/>
          <p:nvPr/>
        </p:nvSpPr>
        <p:spPr bwMode="auto">
          <a:xfrm>
            <a:off x="1353300" y="3604372"/>
            <a:ext cx="244927" cy="227806"/>
          </a:xfrm>
          <a:prstGeom prst="triangle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5" name="Text Box 22">
            <a:extLst>
              <a:ext uri="{FF2B5EF4-FFF2-40B4-BE49-F238E27FC236}">
                <a16:creationId xmlns:a16="http://schemas.microsoft.com/office/drawing/2014/main" id="{F2D6D4C8-1727-4061-AAA9-363F47224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8081" y="3977341"/>
            <a:ext cx="3060751" cy="670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s-ES" sz="2800" dirty="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– V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= 1002 V</a:t>
            </a:r>
            <a:endParaRPr lang="es-ES" sz="2400" baseline="-25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6" name="Text Box 22">
            <a:extLst>
              <a:ext uri="{FF2B5EF4-FFF2-40B4-BE49-F238E27FC236}">
                <a16:creationId xmlns:a16="http://schemas.microsoft.com/office/drawing/2014/main" id="{75E491BC-96D2-4825-8F9F-1A12B2B8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67" y="6124470"/>
            <a:ext cx="4046621" cy="6092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wrap="square" lIns="90000" tIns="118800" rIns="90000" bIns="118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D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&gt; 0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No sentido </a:t>
            </a:r>
            <a:r>
              <a:rPr lang="es-ES" sz="2000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s-ES" sz="2000" dirty="0">
                <a:latin typeface="Arial" panose="020B0604020202020204" pitchFamily="34" charset="0"/>
                <a:sym typeface="Symbol" panose="05050102010706020507" pitchFamily="18" charset="2"/>
              </a:rPr>
              <a:t>P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F7285BBE-E598-43B7-99ED-A7D6FB88F51B}"/>
              </a:ext>
            </a:extLst>
          </p:cNvPr>
          <p:cNvSpPr/>
          <p:nvPr/>
        </p:nvSpPr>
        <p:spPr bwMode="auto">
          <a:xfrm>
            <a:off x="8351571" y="2781903"/>
            <a:ext cx="180977" cy="197504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64755FC4-281B-4B81-8E69-37B285F7858D}"/>
              </a:ext>
            </a:extLst>
          </p:cNvPr>
          <p:cNvSpPr/>
          <p:nvPr/>
        </p:nvSpPr>
        <p:spPr bwMode="auto">
          <a:xfrm>
            <a:off x="7733469" y="2793526"/>
            <a:ext cx="180977" cy="197504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112" name="Triángulo isósceles 111">
            <a:extLst>
              <a:ext uri="{FF2B5EF4-FFF2-40B4-BE49-F238E27FC236}">
                <a16:creationId xmlns:a16="http://schemas.microsoft.com/office/drawing/2014/main" id="{52835171-56B5-47B1-AD6B-D641C9518027}"/>
              </a:ext>
            </a:extLst>
          </p:cNvPr>
          <p:cNvSpPr/>
          <p:nvPr/>
        </p:nvSpPr>
        <p:spPr bwMode="auto">
          <a:xfrm>
            <a:off x="7291582" y="3264432"/>
            <a:ext cx="244927" cy="227806"/>
          </a:xfrm>
          <a:prstGeom prst="triangle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118800" rIns="90000" bIns="118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0356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102" grpId="0" animBg="1"/>
      <p:bldP spid="103" grpId="0"/>
      <p:bldP spid="104" grpId="0"/>
      <p:bldP spid="105" grpId="0" animBg="1"/>
      <p:bldP spid="106" grpId="0" animBg="1"/>
      <p:bldP spid="108" grpId="0"/>
      <p:bldP spid="109" grpId="0"/>
      <p:bldP spid="110" grpId="0" animBg="1"/>
      <p:bldP spid="111" grpId="0"/>
      <p:bldP spid="113" grpId="0" animBg="1"/>
      <p:bldP spid="115" grpId="0"/>
      <p:bldP spid="116" grpId="0" animBg="1"/>
      <p:bldP spid="100" grpId="0" animBg="1"/>
      <p:bldP spid="101" grpId="0" animBg="1"/>
      <p:bldP spid="1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118800" rIns="90000" bIns="118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118800" rIns="90000" bIns="118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22352</TotalTime>
  <Words>3558</Words>
  <Application>Microsoft Office PowerPoint</Application>
  <PresentationFormat>Personalizado</PresentationFormat>
  <Paragraphs>692</Paragraphs>
  <Slides>32</Slides>
  <Notes>31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1" baseType="lpstr">
      <vt:lpstr>Arial</vt:lpstr>
      <vt:lpstr>Cambria Math</vt:lpstr>
      <vt:lpstr>Comic Sans MS</vt:lpstr>
      <vt:lpstr>Symbol</vt:lpstr>
      <vt:lpstr>Times New Roman</vt:lpstr>
      <vt:lpstr>Trebuchet MS</vt:lpstr>
      <vt:lpstr>Wingdings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3125</cp:revision>
  <dcterms:created xsi:type="dcterms:W3CDTF">2012-02-20T13:06:36Z</dcterms:created>
  <dcterms:modified xsi:type="dcterms:W3CDTF">2024-12-18T11:15:58Z</dcterms:modified>
</cp:coreProperties>
</file>