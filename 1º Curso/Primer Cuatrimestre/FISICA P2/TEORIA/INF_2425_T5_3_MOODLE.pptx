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7"/>
  </p:notesMasterIdLst>
  <p:handoutMasterIdLst>
    <p:handoutMasterId r:id="rId28"/>
  </p:handoutMasterIdLst>
  <p:sldIdLst>
    <p:sldId id="442" r:id="rId2"/>
    <p:sldId id="586" r:id="rId3"/>
    <p:sldId id="506" r:id="rId4"/>
    <p:sldId id="541" r:id="rId5"/>
    <p:sldId id="520" r:id="rId6"/>
    <p:sldId id="582" r:id="rId7"/>
    <p:sldId id="587" r:id="rId8"/>
    <p:sldId id="542" r:id="rId9"/>
    <p:sldId id="543" r:id="rId10"/>
    <p:sldId id="566" r:id="rId11"/>
    <p:sldId id="512" r:id="rId12"/>
    <p:sldId id="565" r:id="rId13"/>
    <p:sldId id="537" r:id="rId14"/>
    <p:sldId id="538" r:id="rId15"/>
    <p:sldId id="539" r:id="rId16"/>
    <p:sldId id="529" r:id="rId17"/>
    <p:sldId id="580" r:id="rId18"/>
    <p:sldId id="530" r:id="rId19"/>
    <p:sldId id="531" r:id="rId20"/>
    <p:sldId id="532" r:id="rId21"/>
    <p:sldId id="568" r:id="rId22"/>
    <p:sldId id="558" r:id="rId23"/>
    <p:sldId id="562" r:id="rId24"/>
    <p:sldId id="579" r:id="rId25"/>
    <p:sldId id="327" r:id="rId26"/>
  </p:sldIdLst>
  <p:sldSz cx="10801350" cy="7200900"/>
  <p:notesSz cx="6815138" cy="9942513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629" userDrawn="1">
          <p15:clr>
            <a:srgbClr val="A4A3A4"/>
          </p15:clr>
        </p15:guide>
        <p15:guide id="3" orient="horz" pos="226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IKE" initials="K" lastIdx="1" clrIdx="0">
    <p:extLst>
      <p:ext uri="{19B8F6BF-5375-455C-9EA6-DF929625EA0E}">
        <p15:presenceInfo xmlns:p15="http://schemas.microsoft.com/office/powerpoint/2012/main" userId="KIK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666699"/>
    <a:srgbClr val="FF99CC"/>
    <a:srgbClr val="CCFFCC"/>
    <a:srgbClr val="008000"/>
    <a:srgbClr val="3333FF"/>
    <a:srgbClr val="808000"/>
    <a:srgbClr val="99CCFF"/>
    <a:srgbClr val="FFFF99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83" autoAdjust="0"/>
  </p:normalViewPr>
  <p:slideViewPr>
    <p:cSldViewPr snapToGrid="0" showGuides="1">
      <p:cViewPr varScale="1">
        <p:scale>
          <a:sx n="96" d="100"/>
          <a:sy n="96" d="100"/>
        </p:scale>
        <p:origin x="1536" y="90"/>
      </p:cViewPr>
      <p:guideLst>
        <p:guide pos="3629"/>
        <p:guide orient="horz" pos="22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algn="l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s-ES"/>
              <a:t>TEMA 1: ECUACIONES DE MAXWELL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60800" y="0"/>
            <a:ext cx="2952750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algn="l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s-ES"/>
              <a:t>FNT - CURSO 2005/2006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DC7ED566-FE56-43D4-8105-D34DAEF29360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220219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algn="l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s-ES"/>
              <a:t>TEMA 1: ECUACIONES DE MAXWELL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60800" y="0"/>
            <a:ext cx="2952750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09600" y="746125"/>
            <a:ext cx="5594350" cy="37290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24400"/>
            <a:ext cx="5453062" cy="4471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algn="l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s-ES"/>
              <a:t>FNT - CURSO 2005/2006</a:t>
            </a: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9A44114-52C2-4BDA-9A71-B825351BEC6C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1616602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819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fld id="{834A639E-49DB-43EF-B49D-FB65A09A5C82}" type="slidenum">
              <a:rPr lang="es-ES" sz="1200" smtClean="0">
                <a:solidFill>
                  <a:schemeClr val="tx1"/>
                </a:solidFill>
              </a:rPr>
              <a:pPr/>
              <a:t>1</a:t>
            </a:fld>
            <a:endParaRPr lang="es-ES" sz="1200">
              <a:solidFill>
                <a:schemeClr val="tx1"/>
              </a:solidFill>
            </a:endParaRPr>
          </a:p>
        </p:txBody>
      </p:sp>
      <p:sp>
        <p:nvSpPr>
          <p:cNvPr id="81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s-ES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12602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8195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8196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ED54D28-C454-45EF-9776-12C9DE92A777}" type="slidenum">
              <a:rPr lang="es-ES"/>
              <a:pPr algn="r" eaLnBrk="1" hangingPunct="1">
                <a:spcBef>
                  <a:spcPct val="0"/>
                </a:spcBef>
              </a:pPr>
              <a:t>2</a:t>
            </a:fld>
            <a:endParaRPr lang="es-ES"/>
          </a:p>
        </p:txBody>
      </p:sp>
      <p:sp>
        <p:nvSpPr>
          <p:cNvPr id="81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>
              <a:spcBef>
                <a:spcPct val="50000"/>
              </a:spcBef>
            </a:pPr>
            <a:endParaRPr lang="es-ES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55862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1843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1843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fld id="{1644315F-45E8-4498-A5D0-B08A0415629F}" type="slidenum">
              <a:rPr lang="es-ES" sz="1200" smtClean="0">
                <a:solidFill>
                  <a:schemeClr val="tx1"/>
                </a:solidFill>
              </a:rPr>
              <a:pPr/>
              <a:t>3</a:t>
            </a:fld>
            <a:endParaRPr lang="es-ES" sz="1200">
              <a:solidFill>
                <a:schemeClr val="tx1"/>
              </a:solidFill>
            </a:endParaRPr>
          </a:p>
        </p:txBody>
      </p:sp>
      <p:sp>
        <p:nvSpPr>
          <p:cNvPr id="184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148977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1843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1843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fld id="{1644315F-45E8-4498-A5D0-B08A0415629F}" type="slidenum">
              <a:rPr lang="es-ES" sz="1200" smtClean="0">
                <a:solidFill>
                  <a:schemeClr val="tx1"/>
                </a:solidFill>
              </a:rPr>
              <a:pPr/>
              <a:t>4</a:t>
            </a:fld>
            <a:endParaRPr lang="es-ES" sz="1200">
              <a:solidFill>
                <a:schemeClr val="tx1"/>
              </a:solidFill>
            </a:endParaRPr>
          </a:p>
        </p:txBody>
      </p:sp>
      <p:sp>
        <p:nvSpPr>
          <p:cNvPr id="184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s-E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097139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1843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1843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fld id="{1644315F-45E8-4498-A5D0-B08A0415629F}" type="slidenum">
              <a:rPr lang="es-ES" sz="1200" smtClean="0">
                <a:solidFill>
                  <a:schemeClr val="tx1"/>
                </a:solidFill>
              </a:rPr>
              <a:pPr/>
              <a:t>5</a:t>
            </a:fld>
            <a:endParaRPr lang="es-ES" sz="1200">
              <a:solidFill>
                <a:schemeClr val="tx1"/>
              </a:solidFill>
            </a:endParaRPr>
          </a:p>
        </p:txBody>
      </p:sp>
      <p:sp>
        <p:nvSpPr>
          <p:cNvPr id="184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541670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2048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2048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fld id="{656877F7-766A-4A54-B1F0-B15C02625111}" type="slidenum">
              <a:rPr lang="es-ES" sz="1200" smtClean="0">
                <a:solidFill>
                  <a:schemeClr val="tx1"/>
                </a:solidFill>
              </a:rPr>
              <a:pPr/>
              <a:t>6</a:t>
            </a:fld>
            <a:endParaRPr lang="es-ES" sz="1200">
              <a:solidFill>
                <a:schemeClr val="tx1"/>
              </a:solidFill>
            </a:endParaRPr>
          </a:p>
        </p:txBody>
      </p:sp>
      <p:sp>
        <p:nvSpPr>
          <p:cNvPr id="204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12931601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2048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2048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fld id="{656877F7-766A-4A54-B1F0-B15C02625111}" type="slidenum">
              <a:rPr lang="es-ES" sz="1200" smtClean="0">
                <a:solidFill>
                  <a:schemeClr val="tx1"/>
                </a:solidFill>
              </a:rPr>
              <a:pPr/>
              <a:t>7</a:t>
            </a:fld>
            <a:endParaRPr lang="es-ES" sz="1200">
              <a:solidFill>
                <a:schemeClr val="tx1"/>
              </a:solidFill>
            </a:endParaRPr>
          </a:p>
        </p:txBody>
      </p:sp>
      <p:sp>
        <p:nvSpPr>
          <p:cNvPr id="204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20325389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2253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2253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fld id="{34850315-4E84-4F54-A751-1E6BA62A8C0D}" type="slidenum">
              <a:rPr lang="es-ES" sz="1200" smtClean="0">
                <a:solidFill>
                  <a:schemeClr val="tx1"/>
                </a:solidFill>
              </a:rPr>
              <a:pPr/>
              <a:t>8</a:t>
            </a:fld>
            <a:endParaRPr lang="es-ES" sz="1200">
              <a:solidFill>
                <a:schemeClr val="tx1"/>
              </a:solidFill>
            </a:endParaRPr>
          </a:p>
        </p:txBody>
      </p:sp>
      <p:sp>
        <p:nvSpPr>
          <p:cNvPr id="225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s-ES" b="1"/>
          </a:p>
        </p:txBody>
      </p:sp>
    </p:spTree>
    <p:extLst>
      <p:ext uri="{BB962C8B-B14F-4D97-AF65-F5344CB8AC3E}">
        <p14:creationId xmlns:p14="http://schemas.microsoft.com/office/powerpoint/2010/main" val="34640867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2457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2458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fld id="{D362E30C-3A06-4DBC-8B70-24949300D591}" type="slidenum">
              <a:rPr lang="es-ES" sz="1200" smtClean="0">
                <a:solidFill>
                  <a:schemeClr val="tx1"/>
                </a:solidFill>
              </a:rPr>
              <a:pPr/>
              <a:t>9</a:t>
            </a:fld>
            <a:endParaRPr lang="es-ES" sz="1200">
              <a:solidFill>
                <a:schemeClr val="tx1"/>
              </a:solidFill>
            </a:endParaRPr>
          </a:p>
        </p:txBody>
      </p:sp>
      <p:sp>
        <p:nvSpPr>
          <p:cNvPr id="245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b="1" i="1"/>
          </a:p>
        </p:txBody>
      </p:sp>
    </p:spTree>
    <p:extLst>
      <p:ext uri="{BB962C8B-B14F-4D97-AF65-F5344CB8AC3E}">
        <p14:creationId xmlns:p14="http://schemas.microsoft.com/office/powerpoint/2010/main" val="33376173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2457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2458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fld id="{D362E30C-3A06-4DBC-8B70-24949300D591}" type="slidenum">
              <a:rPr lang="es-ES" sz="1200" smtClean="0">
                <a:solidFill>
                  <a:schemeClr val="tx1"/>
                </a:solidFill>
              </a:rPr>
              <a:pPr/>
              <a:t>10</a:t>
            </a:fld>
            <a:endParaRPr lang="es-ES" sz="1200">
              <a:solidFill>
                <a:schemeClr val="tx1"/>
              </a:solidFill>
            </a:endParaRPr>
          </a:p>
        </p:txBody>
      </p:sp>
      <p:sp>
        <p:nvSpPr>
          <p:cNvPr id="245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b="1" i="1"/>
          </a:p>
        </p:txBody>
      </p:sp>
    </p:spTree>
    <p:extLst>
      <p:ext uri="{BB962C8B-B14F-4D97-AF65-F5344CB8AC3E}">
        <p14:creationId xmlns:p14="http://schemas.microsoft.com/office/powerpoint/2010/main" val="21006018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2662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2662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fld id="{6624539B-C37A-488D-B107-C72264F7CC6D}" type="slidenum">
              <a:rPr lang="es-ES" sz="1200" smtClean="0">
                <a:solidFill>
                  <a:schemeClr val="tx1"/>
                </a:solidFill>
              </a:rPr>
              <a:pPr/>
              <a:t>11</a:t>
            </a:fld>
            <a:endParaRPr lang="es-ES" sz="1200">
              <a:solidFill>
                <a:schemeClr val="tx1"/>
              </a:solidFill>
            </a:endParaRPr>
          </a:p>
        </p:txBody>
      </p:sp>
      <p:sp>
        <p:nvSpPr>
          <p:cNvPr id="266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s-ES" b="1" i="1"/>
          </a:p>
        </p:txBody>
      </p:sp>
    </p:spTree>
    <p:extLst>
      <p:ext uri="{BB962C8B-B14F-4D97-AF65-F5344CB8AC3E}">
        <p14:creationId xmlns:p14="http://schemas.microsoft.com/office/powerpoint/2010/main" val="32567729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3277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3277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fld id="{34162F59-653B-4798-B6EF-8979CB1E0E07}" type="slidenum">
              <a:rPr lang="es-ES" sz="1200" smtClean="0">
                <a:solidFill>
                  <a:schemeClr val="tx1"/>
                </a:solidFill>
              </a:rPr>
              <a:pPr/>
              <a:t>12</a:t>
            </a:fld>
            <a:endParaRPr lang="es-ES" sz="1200">
              <a:solidFill>
                <a:schemeClr val="tx1"/>
              </a:solidFill>
            </a:endParaRPr>
          </a:p>
        </p:txBody>
      </p:sp>
      <p:sp>
        <p:nvSpPr>
          <p:cNvPr id="327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289760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1229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1229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fld id="{BC04C061-1E3D-4A7D-9095-FF7D77EEEC85}" type="slidenum">
              <a:rPr lang="es-ES" sz="1200" smtClean="0">
                <a:solidFill>
                  <a:schemeClr val="tx1"/>
                </a:solidFill>
              </a:rPr>
              <a:pPr/>
              <a:t>13</a:t>
            </a:fld>
            <a:endParaRPr lang="es-ES" sz="1200">
              <a:solidFill>
                <a:schemeClr val="tx1"/>
              </a:solidFill>
            </a:endParaRPr>
          </a:p>
        </p:txBody>
      </p:sp>
      <p:sp>
        <p:nvSpPr>
          <p:cNvPr id="122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21144054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1433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1434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fld id="{2C973EEA-3CE4-473A-8173-27E09CF22F1A}" type="slidenum">
              <a:rPr lang="es-ES" sz="1200" smtClean="0">
                <a:solidFill>
                  <a:schemeClr val="tx1"/>
                </a:solidFill>
              </a:rPr>
              <a:pPr/>
              <a:t>14</a:t>
            </a:fld>
            <a:endParaRPr lang="es-ES" sz="1200">
              <a:solidFill>
                <a:schemeClr val="tx1"/>
              </a:solidFill>
            </a:endParaRPr>
          </a:p>
        </p:txBody>
      </p:sp>
      <p:sp>
        <p:nvSpPr>
          <p:cNvPr id="143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588915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1638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1638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fld id="{78465A70-6672-4266-A63E-82B0B89CBDF4}" type="slidenum">
              <a:rPr lang="es-ES" sz="1200" smtClean="0">
                <a:solidFill>
                  <a:schemeClr val="tx1"/>
                </a:solidFill>
              </a:rPr>
              <a:pPr/>
              <a:t>15</a:t>
            </a:fld>
            <a:endParaRPr lang="es-ES" sz="1200">
              <a:solidFill>
                <a:schemeClr val="tx1"/>
              </a:solidFill>
            </a:endParaRPr>
          </a:p>
        </p:txBody>
      </p:sp>
      <p:sp>
        <p:nvSpPr>
          <p:cNvPr id="163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9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s-E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778133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1843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1843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fld id="{9E1A9439-8261-4A6A-ADBC-A445DF63A9DB}" type="slidenum">
              <a:rPr lang="es-ES" sz="1200" smtClean="0">
                <a:solidFill>
                  <a:schemeClr val="tx1"/>
                </a:solidFill>
              </a:rPr>
              <a:pPr/>
              <a:t>16</a:t>
            </a:fld>
            <a:endParaRPr lang="es-ES" sz="1200">
              <a:solidFill>
                <a:schemeClr val="tx1"/>
              </a:solidFill>
            </a:endParaRPr>
          </a:p>
        </p:txBody>
      </p:sp>
      <p:sp>
        <p:nvSpPr>
          <p:cNvPr id="184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834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1843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1843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fld id="{9E1A9439-8261-4A6A-ADBC-A445DF63A9DB}" type="slidenum">
              <a:rPr lang="es-ES" sz="1200" smtClean="0">
                <a:solidFill>
                  <a:schemeClr val="tx1"/>
                </a:solidFill>
              </a:rPr>
              <a:pPr/>
              <a:t>17</a:t>
            </a:fld>
            <a:endParaRPr lang="es-ES" sz="1200">
              <a:solidFill>
                <a:schemeClr val="tx1"/>
              </a:solidFill>
            </a:endParaRPr>
          </a:p>
        </p:txBody>
      </p:sp>
      <p:sp>
        <p:nvSpPr>
          <p:cNvPr id="184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1458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2048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2048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fld id="{EB54D515-3E0D-4AE6-B559-DAF4CFC9F084}" type="slidenum">
              <a:rPr lang="es-ES" sz="1200" smtClean="0">
                <a:solidFill>
                  <a:schemeClr val="tx1"/>
                </a:solidFill>
              </a:rPr>
              <a:pPr/>
              <a:t>18</a:t>
            </a:fld>
            <a:endParaRPr lang="es-ES" sz="1200">
              <a:solidFill>
                <a:schemeClr val="tx1"/>
              </a:solidFill>
            </a:endParaRPr>
          </a:p>
        </p:txBody>
      </p:sp>
      <p:sp>
        <p:nvSpPr>
          <p:cNvPr id="204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s-ES" b="1" i="1"/>
          </a:p>
        </p:txBody>
      </p:sp>
    </p:spTree>
    <p:extLst>
      <p:ext uri="{BB962C8B-B14F-4D97-AF65-F5344CB8AC3E}">
        <p14:creationId xmlns:p14="http://schemas.microsoft.com/office/powerpoint/2010/main" val="4836076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2253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2253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fld id="{8F78114D-18C1-40AE-9C7A-AF61A1D91294}" type="slidenum">
              <a:rPr lang="es-ES" sz="1200" smtClean="0">
                <a:solidFill>
                  <a:schemeClr val="tx1"/>
                </a:solidFill>
              </a:rPr>
              <a:pPr/>
              <a:t>19</a:t>
            </a:fld>
            <a:endParaRPr lang="es-ES" sz="1200">
              <a:solidFill>
                <a:schemeClr val="tx1"/>
              </a:solidFill>
            </a:endParaRPr>
          </a:p>
        </p:txBody>
      </p:sp>
      <p:sp>
        <p:nvSpPr>
          <p:cNvPr id="225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s-ES" b="1" i="1"/>
          </a:p>
        </p:txBody>
      </p:sp>
    </p:spTree>
    <p:extLst>
      <p:ext uri="{BB962C8B-B14F-4D97-AF65-F5344CB8AC3E}">
        <p14:creationId xmlns:p14="http://schemas.microsoft.com/office/powerpoint/2010/main" val="689112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2457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2458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fld id="{7664052D-F66B-4E89-8CA1-DD5628C07861}" type="slidenum">
              <a:rPr lang="es-ES" sz="1200" smtClean="0">
                <a:solidFill>
                  <a:schemeClr val="tx1"/>
                </a:solidFill>
              </a:rPr>
              <a:pPr/>
              <a:t>20</a:t>
            </a:fld>
            <a:endParaRPr lang="es-ES" sz="1200">
              <a:solidFill>
                <a:schemeClr val="tx1"/>
              </a:solidFill>
            </a:endParaRPr>
          </a:p>
        </p:txBody>
      </p:sp>
      <p:sp>
        <p:nvSpPr>
          <p:cNvPr id="245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504776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2457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2458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fld id="{7664052D-F66B-4E89-8CA1-DD5628C07861}" type="slidenum">
              <a:rPr lang="es-ES" sz="1200" smtClean="0">
                <a:solidFill>
                  <a:schemeClr val="tx1"/>
                </a:solidFill>
              </a:rPr>
              <a:pPr/>
              <a:t>21</a:t>
            </a:fld>
            <a:endParaRPr lang="es-ES" sz="1200">
              <a:solidFill>
                <a:schemeClr val="tx1"/>
              </a:solidFill>
            </a:endParaRPr>
          </a:p>
        </p:txBody>
      </p:sp>
      <p:sp>
        <p:nvSpPr>
          <p:cNvPr id="245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0026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2662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2662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fld id="{15394C1F-4234-4DD3-8D5F-72E486E1C262}" type="slidenum">
              <a:rPr lang="es-ES" sz="1200" smtClean="0">
                <a:solidFill>
                  <a:schemeClr val="tx1"/>
                </a:solidFill>
              </a:rPr>
              <a:pPr/>
              <a:t>22</a:t>
            </a:fld>
            <a:endParaRPr lang="es-ES" sz="1200">
              <a:solidFill>
                <a:schemeClr val="tx1"/>
              </a:solidFill>
            </a:endParaRPr>
          </a:p>
        </p:txBody>
      </p:sp>
      <p:sp>
        <p:nvSpPr>
          <p:cNvPr id="266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962243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2662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2662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fld id="{15394C1F-4234-4DD3-8D5F-72E486E1C262}" type="slidenum">
              <a:rPr lang="es-ES" sz="1200" smtClean="0">
                <a:solidFill>
                  <a:schemeClr val="tx1"/>
                </a:solidFill>
              </a:rPr>
              <a:pPr/>
              <a:t>23</a:t>
            </a:fld>
            <a:endParaRPr lang="es-ES" sz="1200">
              <a:solidFill>
                <a:schemeClr val="tx1"/>
              </a:solidFill>
            </a:endParaRPr>
          </a:p>
        </p:txBody>
      </p:sp>
      <p:sp>
        <p:nvSpPr>
          <p:cNvPr id="266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3659588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2867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2867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fld id="{A09AAEB5-6E98-4FA2-8E6E-AC970ACE6368}" type="slidenum">
              <a:rPr lang="es-ES" sz="1200" smtClean="0">
                <a:solidFill>
                  <a:schemeClr val="tx1"/>
                </a:solidFill>
              </a:rPr>
              <a:pPr/>
              <a:t>24</a:t>
            </a:fld>
            <a:endParaRPr lang="es-ES" sz="1200">
              <a:solidFill>
                <a:schemeClr val="tx1"/>
              </a:solidFill>
            </a:endParaRPr>
          </a:p>
        </p:txBody>
      </p:sp>
      <p:sp>
        <p:nvSpPr>
          <p:cNvPr id="2867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32764227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26" descr="Canvas"/>
          <p:cNvSpPr>
            <a:spLocks noChangeArrowheads="1"/>
          </p:cNvSpPr>
          <p:nvPr/>
        </p:nvSpPr>
        <p:spPr bwMode="white">
          <a:xfrm>
            <a:off x="623888" y="211138"/>
            <a:ext cx="9920287" cy="679132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 anchor="ctr"/>
          <a:lstStyle>
            <a:lvl1pPr algn="l" defTabSz="10287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14350" algn="l" defTabSz="10287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28700" algn="l" defTabSz="10287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3050" algn="l" defTabSz="10287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algn="l" defTabSz="10287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defTabSz="10287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defTabSz="10287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defTabSz="10287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defTabSz="10287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s-ES" sz="2700">
              <a:latin typeface="Times New Roman" panose="02020603050405020304" pitchFamily="18" charset="0"/>
            </a:endParaRPr>
          </a:p>
        </p:txBody>
      </p:sp>
      <p:pic>
        <p:nvPicPr>
          <p:cNvPr id="5" name="Picture 1027" descr="minispi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0" y="53975"/>
            <a:ext cx="1395413" cy="450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028" descr="Canvas"/>
          <p:cNvSpPr>
            <a:spLocks noChangeArrowheads="1"/>
          </p:cNvSpPr>
          <p:nvPr/>
        </p:nvSpPr>
        <p:spPr bwMode="white">
          <a:xfrm>
            <a:off x="704850" y="4337050"/>
            <a:ext cx="1230313" cy="47942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102870" tIns="51435" rIns="102870" bIns="51435" anchor="ctr"/>
          <a:lstStyle>
            <a:lvl1pPr algn="l" defTabSz="10287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14350" algn="l" defTabSz="10287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28700" algn="l" defTabSz="10287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3050" algn="l" defTabSz="10287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algn="l" defTabSz="10287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defTabSz="10287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defTabSz="10287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defTabSz="10287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defTabSz="10287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s-ES" sz="2700">
              <a:latin typeface="Times New Roman" panose="02020603050405020304" pitchFamily="18" charset="0"/>
            </a:endParaRPr>
          </a:p>
        </p:txBody>
      </p:sp>
      <p:pic>
        <p:nvPicPr>
          <p:cNvPr id="7" name="Picture 1029" descr="minispi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99"/>
          <a:stretch>
            <a:fillRect/>
          </a:stretch>
        </p:blipFill>
        <p:spPr bwMode="ltGray">
          <a:xfrm>
            <a:off x="0" y="4433888"/>
            <a:ext cx="1395413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214" name="Rectangle 1030"/>
          <p:cNvSpPr>
            <a:spLocks noGrp="1" noChangeArrowheads="1"/>
          </p:cNvSpPr>
          <p:nvPr>
            <p:ph type="ctrTitle"/>
          </p:nvPr>
        </p:nvSpPr>
        <p:spPr>
          <a:xfrm>
            <a:off x="1079500" y="2160588"/>
            <a:ext cx="9121775" cy="12001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94215" name="Rectangle 1031"/>
          <p:cNvSpPr>
            <a:spLocks noGrp="1" noChangeArrowheads="1"/>
          </p:cNvSpPr>
          <p:nvPr>
            <p:ph type="subTitle" idx="1"/>
          </p:nvPr>
        </p:nvSpPr>
        <p:spPr>
          <a:xfrm>
            <a:off x="1920875" y="4079875"/>
            <a:ext cx="7559675" cy="186055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s-ES" noProof="0"/>
              <a:t>Haga clic para modificar el estilo de subtítulo del patrón</a:t>
            </a:r>
          </a:p>
        </p:txBody>
      </p:sp>
      <p:sp>
        <p:nvSpPr>
          <p:cNvPr id="8" name="Rectangle 1032"/>
          <p:cNvSpPr>
            <a:spLocks noGrp="1" noChangeArrowheads="1"/>
          </p:cNvSpPr>
          <p:nvPr>
            <p:ph type="dt" sz="quarter" idx="10"/>
          </p:nvPr>
        </p:nvSpPr>
        <p:spPr>
          <a:xfrm>
            <a:off x="1281113" y="6400800"/>
            <a:ext cx="2249487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1033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0838" y="6400800"/>
            <a:ext cx="3421062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" name="Rectangle 103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12138" y="6400800"/>
            <a:ext cx="2249487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5D5782-43E0-44A9-A26B-3D89E951490F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8246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C2F917-1F11-430D-82D5-6D7CD19B7C53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9262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36600" y="1795463"/>
            <a:ext cx="9317038" cy="299561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36600" y="4819650"/>
            <a:ext cx="9317038" cy="1574800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C1349B-3D41-4D70-B505-9C59FD573FCA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94046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1260475" y="1839913"/>
            <a:ext cx="4424363" cy="4321175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5837238" y="1839913"/>
            <a:ext cx="4424362" cy="4321175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EC567E-BCBA-46F1-B6A0-7A14B99BB97A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70783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44538" y="384175"/>
            <a:ext cx="9315450" cy="139065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4538" y="1765300"/>
            <a:ext cx="4568825" cy="86518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44538" y="2630488"/>
            <a:ext cx="4568825" cy="3868737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5468938" y="1765300"/>
            <a:ext cx="4591050" cy="86518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5468938" y="2630488"/>
            <a:ext cx="4591050" cy="3868737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897415-1565-4AC3-85EB-8B8BCDB31174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6118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236941-7B9A-4DB8-938F-35DA0ADC1389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66895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F3C3DE-25EB-4D32-B220-40526C979AA5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83356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44538" y="479425"/>
            <a:ext cx="3482975" cy="168116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592638" y="1036638"/>
            <a:ext cx="5467350" cy="5118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44538" y="2160588"/>
            <a:ext cx="3482975" cy="40020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413D0A-D9C5-483A-AB7D-7905E87D8770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08656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44538" y="479425"/>
            <a:ext cx="3482975" cy="168116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4592638" y="1036638"/>
            <a:ext cx="5467350" cy="5118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44538" y="2160588"/>
            <a:ext cx="3482975" cy="40020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DDB39F-6FD9-42A0-AA81-D3B2C863546F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8158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DF313B-4924-4D05-B78C-5386917AB75D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7414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012113" y="400050"/>
            <a:ext cx="2249487" cy="57610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1260475" y="400050"/>
            <a:ext cx="6599238" cy="57610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1CCBD5-BB12-4C63-A0BC-3AA19CA3BA4F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364604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/>
          </p:nvPr>
        </p:nvSpPr>
        <p:spPr>
          <a:xfrm>
            <a:off x="1260475" y="400050"/>
            <a:ext cx="9001125" cy="57610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47EE25-6662-423C-B1B4-EC9390C82271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94443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rgbClr val="906D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ChangeArrowheads="1"/>
          </p:cNvSpPr>
          <p:nvPr/>
        </p:nvSpPr>
        <p:spPr bwMode="ltGray">
          <a:xfrm>
            <a:off x="720725" y="239713"/>
            <a:ext cx="9731375" cy="6710362"/>
          </a:xfrm>
          <a:prstGeom prst="rect">
            <a:avLst/>
          </a:prstGeom>
          <a:solidFill>
            <a:srgbClr val="EDE7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 anchor="ctr"/>
          <a:lstStyle>
            <a:lvl1pPr algn="l" defTabSz="10287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14350" algn="l" defTabSz="10287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28700" algn="l" defTabSz="10287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3050" algn="l" defTabSz="10287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algn="l" defTabSz="10287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defTabSz="10287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defTabSz="10287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defTabSz="10287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defTabSz="10287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s-ES" sz="2700">
              <a:latin typeface="Times New Roman" panose="02020603050405020304" pitchFamily="18" charset="0"/>
            </a:endParaRPr>
          </a:p>
        </p:txBody>
      </p:sp>
      <p:sp>
        <p:nvSpPr>
          <p:cNvPr id="1027" name="Line 3"/>
          <p:cNvSpPr>
            <a:spLocks noChangeShapeType="1"/>
          </p:cNvSpPr>
          <p:nvPr/>
        </p:nvSpPr>
        <p:spPr bwMode="ltGray">
          <a:xfrm>
            <a:off x="1200150" y="1679575"/>
            <a:ext cx="9061450" cy="0"/>
          </a:xfrm>
          <a:prstGeom prst="line">
            <a:avLst/>
          </a:prstGeom>
          <a:noFill/>
          <a:ln w="31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pic>
        <p:nvPicPr>
          <p:cNvPr id="1028" name="Picture 4" descr="minispir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33"/>
          <a:stretch>
            <a:fillRect/>
          </a:stretch>
        </p:blipFill>
        <p:spPr bwMode="ltGray">
          <a:xfrm>
            <a:off x="0" y="53975"/>
            <a:ext cx="1395413" cy="425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 descr="minispir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99"/>
          <a:stretch>
            <a:fillRect/>
          </a:stretch>
        </p:blipFill>
        <p:spPr bwMode="ltGray">
          <a:xfrm>
            <a:off x="0" y="4433888"/>
            <a:ext cx="1395413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260475" y="400050"/>
            <a:ext cx="9001125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2870" tIns="51435" rIns="102870" bIns="5143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60475" y="1839913"/>
            <a:ext cx="9001125" cy="432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93192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98563" y="6411913"/>
            <a:ext cx="2249487" cy="481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algn="l" defTabSz="1028700" eaLnBrk="1" hangingPunct="1">
              <a:spcBef>
                <a:spcPct val="0"/>
              </a:spcBef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3193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78288" y="6411913"/>
            <a:ext cx="3421062" cy="481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algn="ctr" defTabSz="1028700" eaLnBrk="1" hangingPunct="1">
              <a:spcBef>
                <a:spcPct val="0"/>
              </a:spcBef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3194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129588" y="6411913"/>
            <a:ext cx="2249487" cy="481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algn="r" defTabSz="1028700" eaLnBrk="1" hangingPunct="1">
              <a:spcBef>
                <a:spcPct val="0"/>
              </a:spcBef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3655BE1F-BEB5-4371-B47F-0D3A63F53753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3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  <p:sldLayoutId id="2147483972" r:id="rId12"/>
  </p:sldLayoutIdLst>
  <p:txStyles>
    <p:titleStyle>
      <a:lvl1pPr algn="ctr" defTabSz="1028700" rtl="0" eaLnBrk="0" fontAlgn="base" hangingPunct="0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anose="02020603050405020304" pitchFamily="18" charset="0"/>
        </a:defRPr>
      </a:lvl2pPr>
      <a:lvl3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anose="02020603050405020304" pitchFamily="18" charset="0"/>
        </a:defRPr>
      </a:lvl3pPr>
      <a:lvl4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anose="02020603050405020304" pitchFamily="18" charset="0"/>
        </a:defRPr>
      </a:lvl4pPr>
      <a:lvl5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anose="02020603050405020304" pitchFamily="18" charset="0"/>
        </a:defRPr>
      </a:lvl5pPr>
      <a:lvl6pPr marL="4572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anose="02020603050405020304" pitchFamily="18" charset="0"/>
        </a:defRPr>
      </a:lvl6pPr>
      <a:lvl7pPr marL="9144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85763" indent="-385763" algn="l" defTabSz="1028700" rtl="0" eaLnBrk="0" fontAlgn="base" hangingPunct="0">
        <a:spcBef>
          <a:spcPct val="20000"/>
        </a:spcBef>
        <a:spcAft>
          <a:spcPct val="0"/>
        </a:spcAft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36613" indent="-322263" algn="l" defTabSz="1028700" rtl="0" eaLnBrk="0" fontAlgn="base" hangingPunct="0">
        <a:spcBef>
          <a:spcPct val="20000"/>
        </a:spcBef>
        <a:spcAft>
          <a:spcPct val="0"/>
        </a:spcAft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285875" indent="-257175" algn="l" defTabSz="1028700" rtl="0" eaLnBrk="0" fontAlgn="base" hangingPunct="0">
        <a:spcBef>
          <a:spcPct val="20000"/>
        </a:spcBef>
        <a:spcAft>
          <a:spcPct val="0"/>
        </a:spcAft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800225" indent="-257175" algn="l" defTabSz="1028700" rtl="0" eaLnBrk="0" fontAlgn="base" hangingPunct="0">
        <a:spcBef>
          <a:spcPct val="20000"/>
        </a:spcBef>
        <a:spcAft>
          <a:spcPct val="0"/>
        </a:spcAft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14575" indent="-257175" algn="l" defTabSz="1028700" rtl="0" eaLnBrk="0" fontAlgn="base" hangingPunct="0">
        <a:spcBef>
          <a:spcPct val="20000"/>
        </a:spcBef>
        <a:spcAft>
          <a:spcPct val="0"/>
        </a:spcAft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8.wmf"/><Relationship Id="rId18" Type="http://schemas.openxmlformats.org/officeDocument/2006/relationships/image" Target="../media/image11.png"/><Relationship Id="rId3" Type="http://schemas.openxmlformats.org/officeDocument/2006/relationships/image" Target="../media/image3.png"/><Relationship Id="rId21" Type="http://schemas.openxmlformats.org/officeDocument/2006/relationships/oleObject" Target="../embeddings/oleObject9.bin"/><Relationship Id="rId7" Type="http://schemas.openxmlformats.org/officeDocument/2006/relationships/image" Target="../media/image5.wmf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10.wmf"/><Relationship Id="rId2" Type="http://schemas.openxmlformats.org/officeDocument/2006/relationships/notesSlide" Target="../notesSlides/notesSlide3.xml"/><Relationship Id="rId16" Type="http://schemas.openxmlformats.org/officeDocument/2006/relationships/oleObject" Target="../embeddings/oleObject7.bin"/><Relationship Id="rId20" Type="http://schemas.openxmlformats.org/officeDocument/2006/relationships/image" Target="../media/image12.wmf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7.wmf"/><Relationship Id="rId5" Type="http://schemas.openxmlformats.org/officeDocument/2006/relationships/image" Target="../media/image4.wmf"/><Relationship Id="rId15" Type="http://schemas.openxmlformats.org/officeDocument/2006/relationships/image" Target="../media/image9.wmf"/><Relationship Id="rId10" Type="http://schemas.openxmlformats.org/officeDocument/2006/relationships/oleObject" Target="../embeddings/oleObject4.bin"/><Relationship Id="rId19" Type="http://schemas.openxmlformats.org/officeDocument/2006/relationships/oleObject" Target="../embeddings/oleObject8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6.wmf"/><Relationship Id="rId14" Type="http://schemas.openxmlformats.org/officeDocument/2006/relationships/oleObject" Target="../embeddings/oleObject6.bin"/><Relationship Id="rId22" Type="http://schemas.openxmlformats.org/officeDocument/2006/relationships/image" Target="../media/image13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13" Type="http://schemas.openxmlformats.org/officeDocument/2006/relationships/oleObject" Target="../embeddings/oleObject9.bin"/><Relationship Id="rId18" Type="http://schemas.openxmlformats.org/officeDocument/2006/relationships/image" Target="../media/image11.png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2.bin"/><Relationship Id="rId12" Type="http://schemas.openxmlformats.org/officeDocument/2006/relationships/image" Target="../media/image16.wmf"/><Relationship Id="rId17" Type="http://schemas.openxmlformats.org/officeDocument/2006/relationships/image" Target="../media/image4.wmf"/><Relationship Id="rId2" Type="http://schemas.openxmlformats.org/officeDocument/2006/relationships/notesSlide" Target="../notesSlides/notesSlide4.xml"/><Relationship Id="rId16" Type="http://schemas.openxmlformats.org/officeDocument/2006/relationships/oleObject" Target="../embeddings/oleObject1.bin"/><Relationship Id="rId20" Type="http://schemas.openxmlformats.org/officeDocument/2006/relationships/image" Target="../media/image12.wmf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w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11.bin"/><Relationship Id="rId15" Type="http://schemas.openxmlformats.org/officeDocument/2006/relationships/image" Target="../media/image3.png"/><Relationship Id="rId10" Type="http://schemas.openxmlformats.org/officeDocument/2006/relationships/image" Target="../media/image6.wmf"/><Relationship Id="rId19" Type="http://schemas.openxmlformats.org/officeDocument/2006/relationships/oleObject" Target="../embeddings/oleObject8.bin"/><Relationship Id="rId4" Type="http://schemas.openxmlformats.org/officeDocument/2006/relationships/image" Target="../media/image14.wmf"/><Relationship Id="rId9" Type="http://schemas.openxmlformats.org/officeDocument/2006/relationships/oleObject" Target="../embeddings/oleObject3.bin"/><Relationship Id="rId14" Type="http://schemas.openxmlformats.org/officeDocument/2006/relationships/image" Target="../media/image13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image" Target="../media/image3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1.png"/><Relationship Id="rId9" Type="http://schemas.openxmlformats.org/officeDocument/2006/relationships/image" Target="../media/image15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9.png"/><Relationship Id="rId7" Type="http://schemas.openxmlformats.org/officeDocument/2006/relationships/image" Target="../media/image2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openxmlformats.org/officeDocument/2006/relationships/image" Target="../media/image18.wmf"/><Relationship Id="rId4" Type="http://schemas.openxmlformats.org/officeDocument/2006/relationships/oleObject" Target="../embeddings/oleObject14.bin"/><Relationship Id="rId9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20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13" Type="http://schemas.openxmlformats.org/officeDocument/2006/relationships/oleObject" Target="../embeddings/oleObject21.bin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12" Type="http://schemas.openxmlformats.org/officeDocument/2006/relationships/image" Target="../media/image20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15.bin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25.wmf"/><Relationship Id="rId4" Type="http://schemas.openxmlformats.org/officeDocument/2006/relationships/image" Target="../media/image22.wmf"/><Relationship Id="rId9" Type="http://schemas.openxmlformats.org/officeDocument/2006/relationships/oleObject" Target="../embeddings/oleObject20.bin"/><Relationship Id="rId14" Type="http://schemas.openxmlformats.org/officeDocument/2006/relationships/image" Target="../media/image26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8.png"/><Relationship Id="rId4" Type="http://schemas.openxmlformats.org/officeDocument/2006/relationships/image" Target="../media/image27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image" Target="../media/image28.emf"/><Relationship Id="rId7" Type="http://schemas.openxmlformats.org/officeDocument/2006/relationships/oleObject" Target="../embeddings/oleObject23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1.png"/><Relationship Id="rId5" Type="http://schemas.openxmlformats.org/officeDocument/2006/relationships/image" Target="../media/image30.emf"/><Relationship Id="rId4" Type="http://schemas.openxmlformats.org/officeDocument/2006/relationships/image" Target="../media/image29.emf"/><Relationship Id="rId9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4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w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34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3" Type="http://schemas.openxmlformats.org/officeDocument/2006/relationships/image" Target="../media/image38.png"/><Relationship Id="rId7" Type="http://schemas.openxmlformats.org/officeDocument/2006/relationships/image" Target="../media/image37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7.bin"/><Relationship Id="rId5" Type="http://schemas.openxmlformats.org/officeDocument/2006/relationships/image" Target="../media/image36.wmf"/><Relationship Id="rId4" Type="http://schemas.openxmlformats.org/officeDocument/2006/relationships/oleObject" Target="../embeddings/oleObject26.bin"/><Relationship Id="rId9" Type="http://schemas.openxmlformats.org/officeDocument/2006/relationships/image" Target="../media/image34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29.bin"/><Relationship Id="rId10" Type="http://schemas.openxmlformats.org/officeDocument/2006/relationships/image" Target="../media/image41.wmf"/><Relationship Id="rId4" Type="http://schemas.openxmlformats.org/officeDocument/2006/relationships/image" Target="../media/image38.wmf"/><Relationship Id="rId9" Type="http://schemas.openxmlformats.org/officeDocument/2006/relationships/oleObject" Target="../embeddings/oleObject31.bin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3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42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.bin"/><Relationship Id="rId13" Type="http://schemas.openxmlformats.org/officeDocument/2006/relationships/oleObject" Target="../embeddings/oleObject27.bin"/><Relationship Id="rId3" Type="http://schemas.openxmlformats.org/officeDocument/2006/relationships/oleObject" Target="../embeddings/oleObject33.bin"/><Relationship Id="rId7" Type="http://schemas.openxmlformats.org/officeDocument/2006/relationships/image" Target="../media/image45.emf"/><Relationship Id="rId12" Type="http://schemas.openxmlformats.org/officeDocument/2006/relationships/image" Target="../media/image4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4.wmf"/><Relationship Id="rId11" Type="http://schemas.openxmlformats.org/officeDocument/2006/relationships/image" Target="../media/image47.wmf"/><Relationship Id="rId5" Type="http://schemas.openxmlformats.org/officeDocument/2006/relationships/oleObject" Target="../embeddings/oleObject34.bin"/><Relationship Id="rId10" Type="http://schemas.openxmlformats.org/officeDocument/2006/relationships/oleObject" Target="../embeddings/oleObject36.bin"/><Relationship Id="rId4" Type="http://schemas.openxmlformats.org/officeDocument/2006/relationships/image" Target="../media/image43.wmf"/><Relationship Id="rId9" Type="http://schemas.openxmlformats.org/officeDocument/2006/relationships/image" Target="../media/image46.wmf"/><Relationship Id="rId14" Type="http://schemas.openxmlformats.org/officeDocument/2006/relationships/image" Target="../media/image37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8.w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43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8.w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43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13" Type="http://schemas.openxmlformats.org/officeDocument/2006/relationships/oleObject" Target="../embeddings/oleObject33.bin"/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40.bin"/><Relationship Id="rId12" Type="http://schemas.openxmlformats.org/officeDocument/2006/relationships/image" Target="../media/image22.w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0.wmf"/><Relationship Id="rId11" Type="http://schemas.openxmlformats.org/officeDocument/2006/relationships/oleObject" Target="../embeddings/oleObject17.bin"/><Relationship Id="rId5" Type="http://schemas.openxmlformats.org/officeDocument/2006/relationships/oleObject" Target="../embeddings/oleObject39.bin"/><Relationship Id="rId10" Type="http://schemas.openxmlformats.org/officeDocument/2006/relationships/image" Target="../media/image52.wmf"/><Relationship Id="rId4" Type="http://schemas.openxmlformats.org/officeDocument/2006/relationships/image" Target="../media/image49.wmf"/><Relationship Id="rId9" Type="http://schemas.openxmlformats.org/officeDocument/2006/relationships/oleObject" Target="../embeddings/oleObject41.bin"/><Relationship Id="rId14" Type="http://schemas.openxmlformats.org/officeDocument/2006/relationships/image" Target="../media/image43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40.bin"/><Relationship Id="rId12" Type="http://schemas.openxmlformats.org/officeDocument/2006/relationships/image" Target="../media/image53.wmf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32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0.wmf"/><Relationship Id="rId11" Type="http://schemas.openxmlformats.org/officeDocument/2006/relationships/oleObject" Target="../embeddings/oleObject42.bin"/><Relationship Id="rId5" Type="http://schemas.openxmlformats.org/officeDocument/2006/relationships/oleObject" Target="../embeddings/oleObject39.bin"/><Relationship Id="rId10" Type="http://schemas.openxmlformats.org/officeDocument/2006/relationships/image" Target="../media/image52.wmf"/><Relationship Id="rId4" Type="http://schemas.openxmlformats.org/officeDocument/2006/relationships/image" Target="../media/image49.wmf"/><Relationship Id="rId9" Type="http://schemas.openxmlformats.org/officeDocument/2006/relationships/oleObject" Target="../embeddings/oleObject41.bin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3509963" y="3319463"/>
            <a:ext cx="4514850" cy="5302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20000"/>
              </a:lnSpc>
            </a:pPr>
            <a:r>
              <a:rPr lang="es-ES" sz="2400" b="1">
                <a:solidFill>
                  <a:schemeClr val="tx1"/>
                </a:solidFill>
                <a:latin typeface="Comic Sans MS" panose="030F0702030302020204" pitchFamily="66" charset="0"/>
              </a:rPr>
              <a:t>INTERACCIÓN MAGNÉTICA</a:t>
            </a:r>
          </a:p>
        </p:txBody>
      </p:sp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5300663" y="4424363"/>
            <a:ext cx="93345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" sz="2400" b="1">
                <a:solidFill>
                  <a:schemeClr val="tx1"/>
                </a:solidFill>
                <a:latin typeface="Comic Sans MS" panose="030F0702030302020204" pitchFamily="66" charset="0"/>
              </a:rPr>
              <a:t>(3/7)</a:t>
            </a:r>
          </a:p>
        </p:txBody>
      </p:sp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5065713" y="2298700"/>
            <a:ext cx="13970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" sz="2400" b="1">
                <a:solidFill>
                  <a:schemeClr val="tx1"/>
                </a:solidFill>
                <a:latin typeface="Comic Sans MS" panose="030F0702030302020204" pitchFamily="66" charset="0"/>
              </a:rPr>
              <a:t>TEMA 5</a:t>
            </a:r>
          </a:p>
        </p:txBody>
      </p:sp>
      <p:grpSp>
        <p:nvGrpSpPr>
          <p:cNvPr id="10" name="Grupo 9"/>
          <p:cNvGrpSpPr/>
          <p:nvPr/>
        </p:nvGrpSpPr>
        <p:grpSpPr>
          <a:xfrm>
            <a:off x="6104834" y="5051955"/>
            <a:ext cx="4360864" cy="1865782"/>
            <a:chOff x="6310314" y="5021133"/>
            <a:chExt cx="4360864" cy="1865782"/>
          </a:xfrm>
        </p:grpSpPr>
        <p:grpSp>
          <p:nvGrpSpPr>
            <p:cNvPr id="11" name="Group 14"/>
            <p:cNvGrpSpPr>
              <a:grpSpLocks/>
            </p:cNvGrpSpPr>
            <p:nvPr/>
          </p:nvGrpSpPr>
          <p:grpSpPr bwMode="auto">
            <a:xfrm>
              <a:off x="6310314" y="5021133"/>
              <a:ext cx="4360864" cy="1865313"/>
              <a:chOff x="3975" y="3030"/>
              <a:chExt cx="2747" cy="1175"/>
            </a:xfrm>
          </p:grpSpPr>
          <p:sp>
            <p:nvSpPr>
              <p:cNvPr id="14" name="AutoShape 1056"/>
              <p:cNvSpPr>
                <a:spLocks noChangeArrowheads="1"/>
              </p:cNvSpPr>
              <p:nvPr/>
            </p:nvSpPr>
            <p:spPr bwMode="auto">
              <a:xfrm>
                <a:off x="3975" y="3030"/>
                <a:ext cx="2747" cy="1175"/>
              </a:xfrm>
              <a:prstGeom prst="foldedCorner">
                <a:avLst>
                  <a:gd name="adj" fmla="val 12500"/>
                </a:avLst>
              </a:prstGeom>
              <a:solidFill>
                <a:srgbClr val="FF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s-ES" sz="2000">
                  <a:solidFill>
                    <a:srgbClr val="000000"/>
                  </a:solidFill>
                  <a:latin typeface="Trebuchet MS" panose="020B0603020202020204" pitchFamily="34" charset="0"/>
                </a:endParaRPr>
              </a:p>
            </p:txBody>
          </p:sp>
          <p:sp>
            <p:nvSpPr>
              <p:cNvPr id="15" name="Text Box 1057"/>
              <p:cNvSpPr txBox="1">
                <a:spLocks noChangeArrowheads="1"/>
              </p:cNvSpPr>
              <p:nvPr/>
            </p:nvSpPr>
            <p:spPr bwMode="auto">
              <a:xfrm>
                <a:off x="4070" y="3120"/>
                <a:ext cx="2561" cy="523"/>
              </a:xfrm>
              <a:prstGeom prst="rect">
                <a:avLst/>
              </a:prstGeom>
              <a:solidFill>
                <a:srgbClr val="FF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 b="1">
                    <a:latin typeface="Trebuchet MS" panose="020B0603020202020204" pitchFamily="34" charset="0"/>
                  </a:rPr>
                  <a:t>PROBLEMA PROPUESTO</a:t>
                </a:r>
              </a:p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 b="1">
                    <a:latin typeface="Trebuchet MS" panose="020B0603020202020204" pitchFamily="34" charset="0"/>
                  </a:rPr>
                  <a:t>(2ª SESIÓN DE PROBLEMAS)</a:t>
                </a:r>
              </a:p>
            </p:txBody>
          </p:sp>
          <p:sp>
            <p:nvSpPr>
              <p:cNvPr id="16" name="Text Box 1058"/>
              <p:cNvSpPr txBox="1">
                <a:spLocks noChangeArrowheads="1"/>
              </p:cNvSpPr>
              <p:nvPr/>
            </p:nvSpPr>
            <p:spPr bwMode="auto">
              <a:xfrm>
                <a:off x="4110" y="3767"/>
                <a:ext cx="950" cy="3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08000" tIns="72000" rIns="108000" bIns="72000" anchor="ctr" anchorCtr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FF0000"/>
                    </a:solidFill>
                    <a:latin typeface="Trebuchet MS" panose="020B0603020202020204" pitchFamily="34" charset="0"/>
                    <a:sym typeface="Wingdings" panose="05000000000000000000" pitchFamily="2" charset="2"/>
                  </a:rPr>
                  <a:t>Problema</a:t>
                </a:r>
                <a:endParaRPr lang="es-ES" sz="4800">
                  <a:solidFill>
                    <a:srgbClr val="FF0000"/>
                  </a:solidFill>
                  <a:latin typeface="Trebuchet MS" panose="020B0603020202020204" pitchFamily="34" charset="0"/>
                  <a:sym typeface="Wingdings" panose="05000000000000000000" pitchFamily="2" charset="2"/>
                </a:endParaRPr>
              </a:p>
            </p:txBody>
          </p:sp>
          <p:sp>
            <p:nvSpPr>
              <p:cNvPr id="17" name="Text Box 1062"/>
              <p:cNvSpPr txBox="1">
                <a:spLocks noChangeArrowheads="1"/>
              </p:cNvSpPr>
              <p:nvPr/>
            </p:nvSpPr>
            <p:spPr bwMode="auto">
              <a:xfrm>
                <a:off x="5528" y="3767"/>
                <a:ext cx="753" cy="3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08000" tIns="72000" rIns="108000" bIns="72000" anchor="ctr" anchorCtr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0000FF"/>
                    </a:solidFill>
                    <a:latin typeface="Trebuchet MS" panose="020B0603020202020204" pitchFamily="34" charset="0"/>
                  </a:rPr>
                  <a:t>Boletín</a:t>
                </a:r>
              </a:p>
            </p:txBody>
          </p:sp>
        </p:grpSp>
        <p:sp>
          <p:nvSpPr>
            <p:cNvPr id="12" name="Text Box 1058"/>
            <p:cNvSpPr txBox="1">
              <a:spLocks noChangeArrowheads="1"/>
            </p:cNvSpPr>
            <p:nvPr/>
          </p:nvSpPr>
          <p:spPr bwMode="auto">
            <a:xfrm>
              <a:off x="7903294" y="6053737"/>
              <a:ext cx="729985" cy="8331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4800">
                  <a:solidFill>
                    <a:srgbClr val="FF0000"/>
                  </a:solidFill>
                  <a:latin typeface="Trebuchet MS" panose="020B0603020202020204" pitchFamily="34" charset="0"/>
                  <a:sym typeface="Wingdings" panose="05000000000000000000" pitchFamily="2" charset="2"/>
                </a:rPr>
                <a:t></a:t>
              </a:r>
            </a:p>
          </p:txBody>
        </p:sp>
        <p:sp>
          <p:nvSpPr>
            <p:cNvPr id="13" name="Text Box 1058"/>
            <p:cNvSpPr txBox="1">
              <a:spLocks noChangeArrowheads="1"/>
            </p:cNvSpPr>
            <p:nvPr/>
          </p:nvSpPr>
          <p:spPr bwMode="auto">
            <a:xfrm>
              <a:off x="9836895" y="6053737"/>
              <a:ext cx="729985" cy="8331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4800">
                  <a:solidFill>
                    <a:srgbClr val="0000FF"/>
                  </a:solidFill>
                  <a:latin typeface="Trebuchet MS" panose="020B0603020202020204" pitchFamily="34" charset="0"/>
                  <a:sym typeface="Wingdings" panose="05000000000000000000" pitchFamily="2" charset="2"/>
                </a:rPr>
                <a:t>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6">
            <a:extLst>
              <a:ext uri="{FF2B5EF4-FFF2-40B4-BE49-F238E27FC236}">
                <a16:creationId xmlns:a16="http://schemas.microsoft.com/office/drawing/2014/main" id="{1B30EB44-4B45-BF63-2EF3-FEA8650951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749" y="2848915"/>
            <a:ext cx="4044277" cy="46050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26">
            <a:extLst>
              <a:ext uri="{FF2B5EF4-FFF2-40B4-BE49-F238E27FC236}">
                <a16:creationId xmlns:a16="http://schemas.microsoft.com/office/drawing/2014/main" id="{BACF1DDF-4EAC-2DBF-7B4D-4D2C4A5D12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1" y="2535521"/>
            <a:ext cx="6078538" cy="46050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26">
            <a:extLst>
              <a:ext uri="{FF2B5EF4-FFF2-40B4-BE49-F238E27FC236}">
                <a16:creationId xmlns:a16="http://schemas.microsoft.com/office/drawing/2014/main" id="{8DDFFD1D-7207-4D67-9B40-E688486ED2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749" y="3490331"/>
            <a:ext cx="6727187" cy="46050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 Box 11">
            <a:extLst>
              <a:ext uri="{FF2B5EF4-FFF2-40B4-BE49-F238E27FC236}">
                <a16:creationId xmlns:a16="http://schemas.microsoft.com/office/drawing/2014/main" id="{770A0086-ED4F-929E-9ADE-99393A6D61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6619" y="123819"/>
            <a:ext cx="2059960" cy="1253402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108000" tIns="72000" rIns="108000" bIns="72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rgbClr val="FFFFFF"/>
                </a:solidFill>
                <a:latin typeface="Trebuchet MS" panose="020B0603020202020204" pitchFamily="34" charset="0"/>
              </a:rPr>
              <a:t>T1</a:t>
            </a:r>
            <a:r>
              <a:rPr lang="es-ES" sz="2400">
                <a:solidFill>
                  <a:srgbClr val="FFFFFF"/>
                </a:solidFill>
                <a:latin typeface="Trebuchet MS" panose="020B0603020202020204" pitchFamily="34" charset="0"/>
              </a:rPr>
              <a:t>: 21/11/24</a:t>
            </a:r>
            <a:endParaRPr lang="es-ES" sz="2400" dirty="0">
              <a:solidFill>
                <a:srgbClr val="FFFFFF"/>
              </a:solidFill>
              <a:latin typeface="Trebuchet MS" panose="020B0603020202020204" pitchFamily="34" charset="0"/>
            </a:endParaRPr>
          </a:p>
          <a:p>
            <a:pPr eaLnBrk="1" hangingPunct="1">
              <a:spcBef>
                <a:spcPts val="0"/>
              </a:spcBef>
            </a:pPr>
            <a:r>
              <a:rPr lang="es-ES" sz="2400">
                <a:solidFill>
                  <a:srgbClr val="FFFFFF"/>
                </a:solidFill>
                <a:latin typeface="Trebuchet MS" panose="020B0603020202020204" pitchFamily="34" charset="0"/>
              </a:rPr>
              <a:t>T2: 18/11/24</a:t>
            </a:r>
            <a:endParaRPr lang="es-ES" sz="2400" dirty="0">
              <a:solidFill>
                <a:srgbClr val="FFFFFF"/>
              </a:solidFill>
              <a:latin typeface="Trebuchet MS" panose="020B0603020202020204" pitchFamily="34" charset="0"/>
            </a:endParaRPr>
          </a:p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rgbClr val="FFFFFF"/>
                </a:solidFill>
                <a:latin typeface="Trebuchet MS" panose="020B0603020202020204" pitchFamily="34" charset="0"/>
              </a:rPr>
              <a:t>T3</a:t>
            </a:r>
            <a:r>
              <a:rPr lang="es-ES" sz="2400">
                <a:solidFill>
                  <a:srgbClr val="FFFFFF"/>
                </a:solidFill>
                <a:latin typeface="Trebuchet MS" panose="020B0603020202020204" pitchFamily="34" charset="0"/>
              </a:rPr>
              <a:t>: 19/11/24</a:t>
            </a:r>
            <a:endParaRPr lang="es-ES" sz="2400" dirty="0">
              <a:solidFill>
                <a:srgbClr val="FFFFFF"/>
              </a:solidFill>
              <a:latin typeface="Trebuchet MS" panose="020B0603020202020204" pitchFamily="34" charset="0"/>
            </a:endParaRPr>
          </a:p>
        </p:txBody>
      </p:sp>
      <p:sp>
        <p:nvSpPr>
          <p:cNvPr id="3" name="Rectangle 19">
            <a:extLst>
              <a:ext uri="{FF2B5EF4-FFF2-40B4-BE49-F238E27FC236}">
                <a16:creationId xmlns:a16="http://schemas.microsoft.com/office/drawing/2014/main" id="{B0841032-58A6-2D80-81B0-21184A0A2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5135" y="6467047"/>
            <a:ext cx="627063" cy="4175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2" name="Rectangle 19"/>
          <p:cNvSpPr>
            <a:spLocks noChangeArrowheads="1"/>
          </p:cNvSpPr>
          <p:nvPr/>
        </p:nvSpPr>
        <p:spPr bwMode="auto">
          <a:xfrm>
            <a:off x="1498600" y="5784709"/>
            <a:ext cx="627063" cy="4175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1" name="Rectangle 19"/>
          <p:cNvSpPr>
            <a:spLocks noChangeArrowheads="1"/>
          </p:cNvSpPr>
          <p:nvPr/>
        </p:nvSpPr>
        <p:spPr bwMode="auto">
          <a:xfrm>
            <a:off x="1493838" y="5124309"/>
            <a:ext cx="627062" cy="4175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4" name="Rectangle 19"/>
          <p:cNvSpPr>
            <a:spLocks noChangeArrowheads="1"/>
          </p:cNvSpPr>
          <p:nvPr/>
        </p:nvSpPr>
        <p:spPr bwMode="auto">
          <a:xfrm>
            <a:off x="1489075" y="4152759"/>
            <a:ext cx="627063" cy="4175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5" name="Rectangle 18"/>
          <p:cNvSpPr>
            <a:spLocks noChangeArrowheads="1"/>
          </p:cNvSpPr>
          <p:nvPr/>
        </p:nvSpPr>
        <p:spPr bwMode="auto">
          <a:xfrm>
            <a:off x="1487488" y="3481246"/>
            <a:ext cx="627062" cy="4175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6" name="Rectangle 2"/>
          <p:cNvSpPr>
            <a:spLocks noChangeArrowheads="1"/>
          </p:cNvSpPr>
          <p:nvPr/>
        </p:nvSpPr>
        <p:spPr bwMode="auto">
          <a:xfrm>
            <a:off x="1487488" y="2193784"/>
            <a:ext cx="627062" cy="4175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7" name="Rectangle 4"/>
          <p:cNvSpPr>
            <a:spLocks noChangeArrowheads="1"/>
          </p:cNvSpPr>
          <p:nvPr/>
        </p:nvSpPr>
        <p:spPr bwMode="auto">
          <a:xfrm>
            <a:off x="1487488" y="1560371"/>
            <a:ext cx="627062" cy="4175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8" name="Rectangle 5"/>
          <p:cNvSpPr>
            <a:spLocks noChangeArrowheads="1"/>
          </p:cNvSpPr>
          <p:nvPr/>
        </p:nvSpPr>
        <p:spPr bwMode="auto">
          <a:xfrm>
            <a:off x="1409700" y="590550"/>
            <a:ext cx="8520113" cy="52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800" b="1">
                <a:solidFill>
                  <a:srgbClr val="CC0000"/>
                </a:solidFill>
                <a:latin typeface="Arial" panose="020B0604020202020204" pitchFamily="34" charset="0"/>
              </a:rPr>
              <a:t>TEMA 5: INTERACCIÓN MAGNÉTICA</a:t>
            </a:r>
          </a:p>
        </p:txBody>
      </p:sp>
      <p:sp>
        <p:nvSpPr>
          <p:cNvPr id="7179" name="Rectangle 6"/>
          <p:cNvSpPr>
            <a:spLocks noChangeArrowheads="1"/>
          </p:cNvSpPr>
          <p:nvPr/>
        </p:nvSpPr>
        <p:spPr bwMode="auto">
          <a:xfrm>
            <a:off x="1470025" y="1525446"/>
            <a:ext cx="708025" cy="5418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5.1.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5.2.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5.3.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5.4.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5.5.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5.6.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5.7.</a:t>
            </a:r>
          </a:p>
        </p:txBody>
      </p:sp>
      <p:sp>
        <p:nvSpPr>
          <p:cNvPr id="7180" name="Rectangle 7"/>
          <p:cNvSpPr>
            <a:spLocks noChangeArrowheads="1"/>
          </p:cNvSpPr>
          <p:nvPr/>
        </p:nvSpPr>
        <p:spPr bwMode="auto">
          <a:xfrm>
            <a:off x="2197100" y="1536559"/>
            <a:ext cx="8237538" cy="5418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Concepto de Campo Magnético. Ley de Gauss para B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Efectos de B sobre: una Carga (Fuerza de Lorentz y Efecto Hall), un Conductor (Ley de Laplace) y una Espira (Dipolo Magnético)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Fuentes de B: Leyes de Biot-Savart y </a:t>
            </a:r>
            <a:r>
              <a:rPr lang="es-ES" sz="2400" b="1" dirty="0" err="1">
                <a:latin typeface="Arial" panose="020B0604020202020204" pitchFamily="34" charset="0"/>
              </a:rPr>
              <a:t>Ampère</a:t>
            </a:r>
            <a:r>
              <a:rPr lang="es-ES" sz="2400" b="1" dirty="0">
                <a:latin typeface="Arial" panose="020B0604020202020204" pitchFamily="34" charset="0"/>
              </a:rPr>
              <a:t>-Maxwell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Ley de Inducción de Henry-Faraday. Ley de Lenz.    FEM por inducción o por movimiento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s-ES" sz="2400" b="1">
                <a:latin typeface="Arial" panose="020B0604020202020204" pitchFamily="34" charset="0"/>
              </a:rPr>
              <a:t>Ecuaciones de Maxwell: Ondas Electromagnéticas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Campo Magnético en </a:t>
            </a:r>
            <a:r>
              <a:rPr lang="es-ES" sz="2400" b="1">
                <a:latin typeface="Arial" panose="020B0604020202020204" pitchFamily="34" charset="0"/>
              </a:rPr>
              <a:t>la Materia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Bobinas</a:t>
            </a:r>
            <a:endParaRPr lang="es-ES" sz="2400" b="1" dirty="0">
              <a:latin typeface="Arial" panose="020B0604020202020204" pitchFamily="34" charset="0"/>
            </a:endParaRPr>
          </a:p>
        </p:txBody>
      </p:sp>
      <p:sp>
        <p:nvSpPr>
          <p:cNvPr id="7181" name="Line 20"/>
          <p:cNvSpPr>
            <a:spLocks noChangeShapeType="1"/>
          </p:cNvSpPr>
          <p:nvPr/>
        </p:nvSpPr>
        <p:spPr bwMode="auto">
          <a:xfrm flipV="1">
            <a:off x="9848850" y="1579421"/>
            <a:ext cx="219075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82800" rIns="90000" bIns="82800">
            <a:spAutoFit/>
          </a:bodyPr>
          <a:lstStyle/>
          <a:p>
            <a:endParaRPr lang="en-GB"/>
          </a:p>
        </p:txBody>
      </p:sp>
      <p:sp>
        <p:nvSpPr>
          <p:cNvPr id="7182" name="Line 21"/>
          <p:cNvSpPr>
            <a:spLocks noChangeShapeType="1"/>
          </p:cNvSpPr>
          <p:nvPr/>
        </p:nvSpPr>
        <p:spPr bwMode="auto">
          <a:xfrm flipV="1">
            <a:off x="3925888" y="2228709"/>
            <a:ext cx="219075" cy="1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82800" rIns="90000" bIns="82800">
            <a:spAutoFit/>
          </a:bodyPr>
          <a:lstStyle/>
          <a:p>
            <a:endParaRPr lang="en-GB"/>
          </a:p>
        </p:txBody>
      </p:sp>
      <p:sp>
        <p:nvSpPr>
          <p:cNvPr id="7183" name="Line 22"/>
          <p:cNvSpPr>
            <a:spLocks noChangeShapeType="1"/>
          </p:cNvSpPr>
          <p:nvPr/>
        </p:nvSpPr>
        <p:spPr bwMode="auto">
          <a:xfrm flipV="1">
            <a:off x="4006850" y="3546334"/>
            <a:ext cx="215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82800" rIns="90000" bIns="82800">
            <a:spAutoFit/>
          </a:bodyPr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o 11"/>
          <p:cNvGrpSpPr/>
          <p:nvPr/>
        </p:nvGrpSpPr>
        <p:grpSpPr>
          <a:xfrm>
            <a:off x="7477781" y="3233067"/>
            <a:ext cx="2914718" cy="698501"/>
            <a:chOff x="4205581" y="2188960"/>
            <a:chExt cx="3432505" cy="698501"/>
          </a:xfrm>
        </p:grpSpPr>
        <p:sp>
          <p:nvSpPr>
            <p:cNvPr id="95" name="Rectangle 4"/>
            <p:cNvSpPr>
              <a:spLocks noChangeArrowheads="1"/>
            </p:cNvSpPr>
            <p:nvPr/>
          </p:nvSpPr>
          <p:spPr bwMode="auto">
            <a:xfrm>
              <a:off x="4215726" y="2190549"/>
              <a:ext cx="3417318" cy="695325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82800" rIns="90000" bIns="82800" anchor="ctr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/>
            </a:p>
          </p:txBody>
        </p:sp>
        <p:sp>
          <p:nvSpPr>
            <p:cNvPr id="96" name="Line 5"/>
            <p:cNvSpPr>
              <a:spLocks noChangeShapeType="1"/>
            </p:cNvSpPr>
            <p:nvPr/>
          </p:nvSpPr>
          <p:spPr bwMode="auto">
            <a:xfrm flipV="1">
              <a:off x="4205581" y="2188960"/>
              <a:ext cx="3418158" cy="73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97" name="Line 6"/>
            <p:cNvSpPr>
              <a:spLocks noChangeShapeType="1"/>
            </p:cNvSpPr>
            <p:nvPr/>
          </p:nvSpPr>
          <p:spPr bwMode="auto">
            <a:xfrm>
              <a:off x="4205581" y="2884730"/>
              <a:ext cx="3432505" cy="273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82800" rIns="90000" bIns="82800">
              <a:spAutoFit/>
            </a:bodyPr>
            <a:lstStyle/>
            <a:p>
              <a:endParaRPr lang="en-GB"/>
            </a:p>
          </p:txBody>
        </p:sp>
      </p:grpSp>
      <p:sp>
        <p:nvSpPr>
          <p:cNvPr id="87" name="Rectangle 4"/>
          <p:cNvSpPr>
            <a:spLocks noChangeArrowheads="1"/>
          </p:cNvSpPr>
          <p:nvPr/>
        </p:nvSpPr>
        <p:spPr bwMode="auto">
          <a:xfrm>
            <a:off x="4266880" y="3240417"/>
            <a:ext cx="2958831" cy="695325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 anchor="ctr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/>
          </a:p>
        </p:txBody>
      </p:sp>
      <p:grpSp>
        <p:nvGrpSpPr>
          <p:cNvPr id="5" name="Grupo 4"/>
          <p:cNvGrpSpPr/>
          <p:nvPr/>
        </p:nvGrpSpPr>
        <p:grpSpPr>
          <a:xfrm>
            <a:off x="1346006" y="1062433"/>
            <a:ext cx="2867446" cy="2876777"/>
            <a:chOff x="1336675" y="-295502"/>
            <a:chExt cx="2867446" cy="2876777"/>
          </a:xfrm>
        </p:grpSpPr>
        <p:grpSp>
          <p:nvGrpSpPr>
            <p:cNvPr id="17411" name="Group 3"/>
            <p:cNvGrpSpPr>
              <a:grpSpLocks/>
            </p:cNvGrpSpPr>
            <p:nvPr/>
          </p:nvGrpSpPr>
          <p:grpSpPr bwMode="auto">
            <a:xfrm>
              <a:off x="1336675" y="1882775"/>
              <a:ext cx="2671758" cy="698500"/>
              <a:chOff x="1364" y="1593"/>
              <a:chExt cx="1531" cy="440"/>
            </a:xfrm>
          </p:grpSpPr>
          <p:sp>
            <p:nvSpPr>
              <p:cNvPr id="17475" name="Rectangle 4"/>
              <p:cNvSpPr>
                <a:spLocks noChangeArrowheads="1"/>
              </p:cNvSpPr>
              <p:nvPr/>
            </p:nvSpPr>
            <p:spPr bwMode="auto">
              <a:xfrm>
                <a:off x="1372" y="1594"/>
                <a:ext cx="1522" cy="438"/>
              </a:xfrm>
              <a:prstGeom prst="rect">
                <a:avLst/>
              </a:prstGeom>
              <a:solidFill>
                <a:srgbClr val="FFCC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square" lIns="90000" tIns="82800" rIns="90000" bIns="82800" anchor="ctr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lang="en-US"/>
              </a:p>
            </p:txBody>
          </p:sp>
          <p:sp>
            <p:nvSpPr>
              <p:cNvPr id="17476" name="Line 5"/>
              <p:cNvSpPr>
                <a:spLocks noChangeShapeType="1"/>
              </p:cNvSpPr>
              <p:nvPr/>
            </p:nvSpPr>
            <p:spPr bwMode="auto">
              <a:xfrm>
                <a:off x="1364" y="1593"/>
                <a:ext cx="153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square" lIns="90000" tIns="82800" rIns="90000" bIns="82800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17477" name="Line 6"/>
              <p:cNvSpPr>
                <a:spLocks noChangeShapeType="1"/>
              </p:cNvSpPr>
              <p:nvPr/>
            </p:nvSpPr>
            <p:spPr bwMode="auto">
              <a:xfrm flipV="1">
                <a:off x="1364" y="2033"/>
                <a:ext cx="1531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/>
              </a:p>
            </p:txBody>
          </p:sp>
        </p:grpSp>
        <p:sp>
          <p:nvSpPr>
            <p:cNvPr id="17412" name="Text Box 7"/>
            <p:cNvSpPr txBox="1">
              <a:spLocks noChangeArrowheads="1"/>
            </p:cNvSpPr>
            <p:nvPr/>
          </p:nvSpPr>
          <p:spPr bwMode="auto">
            <a:xfrm>
              <a:off x="1354163" y="-295502"/>
              <a:ext cx="2849958" cy="536549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>
                  <a:solidFill>
                    <a:schemeClr val="tx1"/>
                  </a:solidFill>
                </a:rPr>
                <a:t>Cable con corriente</a:t>
              </a:r>
            </a:p>
          </p:txBody>
        </p:sp>
        <p:sp>
          <p:nvSpPr>
            <p:cNvPr id="17413" name="Line 9"/>
            <p:cNvSpPr>
              <a:spLocks noChangeShapeType="1"/>
            </p:cNvSpPr>
            <p:nvPr/>
          </p:nvSpPr>
          <p:spPr bwMode="auto">
            <a:xfrm>
              <a:off x="1790823" y="2266950"/>
              <a:ext cx="41751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17414" name="Text Box 10"/>
            <p:cNvSpPr txBox="1">
              <a:spLocks noChangeArrowheads="1"/>
            </p:cNvSpPr>
            <p:nvPr/>
          </p:nvSpPr>
          <p:spPr bwMode="auto">
            <a:xfrm>
              <a:off x="1505073" y="1974850"/>
              <a:ext cx="347662" cy="530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>
                  <a:solidFill>
                    <a:schemeClr val="tx1"/>
                  </a:solidFill>
                  <a:latin typeface="Comic Sans MS" panose="030F0702030302020204" pitchFamily="66" charset="0"/>
                </a:rPr>
                <a:t>I</a:t>
              </a:r>
            </a:p>
          </p:txBody>
        </p:sp>
        <p:grpSp>
          <p:nvGrpSpPr>
            <p:cNvPr id="17415" name="Group 11"/>
            <p:cNvGrpSpPr>
              <a:grpSpLocks/>
            </p:cNvGrpSpPr>
            <p:nvPr/>
          </p:nvGrpSpPr>
          <p:grpSpPr bwMode="auto">
            <a:xfrm>
              <a:off x="2905125" y="2058991"/>
              <a:ext cx="944564" cy="374651"/>
              <a:chOff x="456" y="1818"/>
              <a:chExt cx="595" cy="236"/>
            </a:xfrm>
          </p:grpSpPr>
          <p:pic>
            <p:nvPicPr>
              <p:cNvPr id="17472" name="Picture 12" descr="Image1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6" y="1878"/>
                <a:ext cx="134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473" name="Line 13"/>
              <p:cNvSpPr>
                <a:spLocks noChangeShapeType="1"/>
              </p:cNvSpPr>
              <p:nvPr/>
            </p:nvSpPr>
            <p:spPr bwMode="auto">
              <a:xfrm>
                <a:off x="633" y="1936"/>
                <a:ext cx="211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/>
              </a:p>
            </p:txBody>
          </p:sp>
          <p:graphicFrame>
            <p:nvGraphicFramePr>
              <p:cNvPr id="17474" name="Object 14"/>
              <p:cNvGraphicFramePr>
                <a:graphicFrameLocks noChangeAspect="1"/>
              </p:cNvGraphicFramePr>
              <p:nvPr/>
            </p:nvGraphicFramePr>
            <p:xfrm>
              <a:off x="882" y="1818"/>
              <a:ext cx="169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4" imgW="126725" imgH="177415" progId="Equation.3">
                      <p:embed/>
                    </p:oleObj>
                  </mc:Choice>
                  <mc:Fallback>
                    <p:oleObj name="Ecuación" r:id="rId4" imgW="126725" imgH="177415" progId="Equation.3">
                      <p:embed/>
                      <p:pic>
                        <p:nvPicPr>
                          <p:cNvPr id="17474" name="Object 1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82" y="1818"/>
                            <a:ext cx="169" cy="2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" name="CuadroTexto 1"/>
            <p:cNvSpPr txBox="1">
              <a:spLocks noChangeArrowheads="1"/>
            </p:cNvSpPr>
            <p:nvPr/>
          </p:nvSpPr>
          <p:spPr bwMode="auto">
            <a:xfrm>
              <a:off x="2410190" y="1991318"/>
              <a:ext cx="52770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s-ES" sz="2400" dirty="0" err="1">
                  <a:solidFill>
                    <a:schemeClr val="tx1"/>
                  </a:solidFill>
                </a:rPr>
                <a:t>dq</a:t>
              </a:r>
              <a:endParaRPr lang="es-ES" sz="2400" dirty="0">
                <a:solidFill>
                  <a:schemeClr val="tx1"/>
                </a:solidFill>
              </a:endParaRPr>
            </a:p>
          </p:txBody>
        </p:sp>
      </p:grpSp>
      <p:sp>
        <p:nvSpPr>
          <p:cNvPr id="69" name="Rectangle 2"/>
          <p:cNvSpPr>
            <a:spLocks noChangeArrowheads="1"/>
          </p:cNvSpPr>
          <p:nvPr/>
        </p:nvSpPr>
        <p:spPr bwMode="auto">
          <a:xfrm>
            <a:off x="5751058" y="362628"/>
            <a:ext cx="2673350" cy="509587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82800" rIns="90000" bIns="82800" anchor="ctr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/>
          </a:p>
        </p:txBody>
      </p:sp>
      <p:sp>
        <p:nvSpPr>
          <p:cNvPr id="17416" name="Rectangle 16"/>
          <p:cNvSpPr>
            <a:spLocks noChangeArrowheads="1"/>
          </p:cNvSpPr>
          <p:nvPr/>
        </p:nvSpPr>
        <p:spPr bwMode="auto">
          <a:xfrm>
            <a:off x="1293358" y="376915"/>
            <a:ext cx="89312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tabLst>
                <a:tab pos="196850" algn="r"/>
                <a:tab pos="2940050" algn="ctr"/>
                <a:tab pos="5880100" algn="r"/>
              </a:tabLs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 defTabSz="995363">
              <a:tabLst>
                <a:tab pos="196850" algn="r"/>
                <a:tab pos="2940050" algn="ctr"/>
                <a:tab pos="5880100" algn="r"/>
              </a:tabLs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 defTabSz="995363">
              <a:tabLst>
                <a:tab pos="196850" algn="r"/>
                <a:tab pos="2940050" algn="ctr"/>
                <a:tab pos="5880100" algn="r"/>
              </a:tabLs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 defTabSz="995363">
              <a:tabLst>
                <a:tab pos="196850" algn="r"/>
                <a:tab pos="2940050" algn="ctr"/>
                <a:tab pos="5880100" algn="r"/>
              </a:tabLs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 defTabSz="995363">
              <a:tabLst>
                <a:tab pos="196850" algn="r"/>
                <a:tab pos="2940050" algn="ctr"/>
                <a:tab pos="5880100" algn="r"/>
              </a:tabLs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0"/>
              </a:spcBef>
              <a:spcAft>
                <a:spcPct val="0"/>
              </a:spcAft>
              <a:tabLst>
                <a:tab pos="196850" algn="r"/>
                <a:tab pos="2940050" algn="ctr"/>
                <a:tab pos="5880100" algn="r"/>
              </a:tabLs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0"/>
              </a:spcBef>
              <a:spcAft>
                <a:spcPct val="0"/>
              </a:spcAft>
              <a:tabLst>
                <a:tab pos="196850" algn="r"/>
                <a:tab pos="2940050" algn="ctr"/>
                <a:tab pos="5880100" algn="r"/>
              </a:tabLs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0"/>
              </a:spcBef>
              <a:spcAft>
                <a:spcPct val="0"/>
              </a:spcAft>
              <a:tabLst>
                <a:tab pos="196850" algn="r"/>
                <a:tab pos="2940050" algn="ctr"/>
                <a:tab pos="5880100" algn="r"/>
              </a:tabLs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0"/>
              </a:spcBef>
              <a:spcAft>
                <a:spcPct val="0"/>
              </a:spcAft>
              <a:tabLst>
                <a:tab pos="196850" algn="r"/>
                <a:tab pos="2940050" algn="ctr"/>
                <a:tab pos="5880100" algn="r"/>
              </a:tabLs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" sz="2400" b="1">
                <a:solidFill>
                  <a:srgbClr val="CC0000"/>
                </a:solidFill>
              </a:rPr>
              <a:t>5.2.2 EFECTOS DE B SOBRE:  UN CONDUCTOR</a:t>
            </a:r>
          </a:p>
        </p:txBody>
      </p:sp>
      <p:sp>
        <p:nvSpPr>
          <p:cNvPr id="17417" name="Line 17"/>
          <p:cNvSpPr>
            <a:spLocks noChangeShapeType="1"/>
          </p:cNvSpPr>
          <p:nvPr/>
        </p:nvSpPr>
        <p:spPr bwMode="auto">
          <a:xfrm flipV="1">
            <a:off x="4195308" y="443590"/>
            <a:ext cx="215900" cy="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0000" tIns="82800" rIns="90000" bIns="82800">
            <a:spAutoFit/>
          </a:bodyPr>
          <a:lstStyle/>
          <a:p>
            <a:endParaRPr lang="en-GB"/>
          </a:p>
        </p:txBody>
      </p:sp>
      <p:grpSp>
        <p:nvGrpSpPr>
          <p:cNvPr id="21" name="Grupo 20"/>
          <p:cNvGrpSpPr/>
          <p:nvPr/>
        </p:nvGrpSpPr>
        <p:grpSpPr>
          <a:xfrm>
            <a:off x="9405285" y="2675579"/>
            <a:ext cx="612775" cy="804866"/>
            <a:chOff x="9615492" y="1473311"/>
            <a:chExt cx="612775" cy="804866"/>
          </a:xfrm>
        </p:grpSpPr>
        <p:sp>
          <p:nvSpPr>
            <p:cNvPr id="17464" name="Line 31"/>
            <p:cNvSpPr>
              <a:spLocks noChangeShapeType="1"/>
            </p:cNvSpPr>
            <p:nvPr/>
          </p:nvSpPr>
          <p:spPr bwMode="auto">
            <a:xfrm flipH="1" flipV="1">
              <a:off x="9615492" y="1852726"/>
              <a:ext cx="0" cy="425451"/>
            </a:xfrm>
            <a:prstGeom prst="line">
              <a:avLst/>
            </a:prstGeom>
            <a:noFill/>
            <a:ln w="38100">
              <a:solidFill>
                <a:srgbClr val="808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graphicFrame>
          <p:nvGraphicFramePr>
            <p:cNvPr id="17466" name="Object 33"/>
            <p:cNvGraphicFramePr>
              <a:graphicFrameLocks noChangeAspect="1"/>
            </p:cNvGraphicFramePr>
            <p:nvPr/>
          </p:nvGraphicFramePr>
          <p:xfrm>
            <a:off x="9726617" y="1473311"/>
            <a:ext cx="501650" cy="557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6" imgW="241200" imgH="266400" progId="Equation.3">
                    <p:embed/>
                  </p:oleObj>
                </mc:Choice>
                <mc:Fallback>
                  <p:oleObj name="Ecuación" r:id="rId6" imgW="241200" imgH="266400" progId="Equation.3">
                    <p:embed/>
                    <p:pic>
                      <p:nvPicPr>
                        <p:cNvPr id="17466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26617" y="1473311"/>
                          <a:ext cx="501650" cy="5572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41058" name="Group 34"/>
          <p:cNvGrpSpPr>
            <a:grpSpLocks/>
          </p:cNvGrpSpPr>
          <p:nvPr/>
        </p:nvGrpSpPr>
        <p:grpSpPr bwMode="auto">
          <a:xfrm>
            <a:off x="7730361" y="3368052"/>
            <a:ext cx="382588" cy="444500"/>
            <a:chOff x="3403" y="1672"/>
            <a:chExt cx="241" cy="280"/>
          </a:xfrm>
        </p:grpSpPr>
        <p:graphicFrame>
          <p:nvGraphicFramePr>
            <p:cNvPr id="17458" name="Object 35"/>
            <p:cNvGraphicFramePr>
              <a:graphicFrameLocks noChangeAspect="1"/>
            </p:cNvGraphicFramePr>
            <p:nvPr/>
          </p:nvGraphicFramePr>
          <p:xfrm>
            <a:off x="3451" y="1672"/>
            <a:ext cx="193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8" imgW="139639" imgH="203112" progId="Equation.3">
                    <p:embed/>
                  </p:oleObj>
                </mc:Choice>
                <mc:Fallback>
                  <p:oleObj name="Ecuación" r:id="rId8" imgW="139639" imgH="203112" progId="Equation.3">
                    <p:embed/>
                    <p:pic>
                      <p:nvPicPr>
                        <p:cNvPr id="17458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1" y="1672"/>
                          <a:ext cx="193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59" name="Line 36"/>
            <p:cNvSpPr>
              <a:spLocks noChangeShapeType="1"/>
            </p:cNvSpPr>
            <p:nvPr/>
          </p:nvSpPr>
          <p:spPr bwMode="auto">
            <a:xfrm flipH="1" flipV="1">
              <a:off x="3403" y="1676"/>
              <a:ext cx="0" cy="268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</p:grpSp>
      <p:grpSp>
        <p:nvGrpSpPr>
          <p:cNvPr id="641094" name="Group 70"/>
          <p:cNvGrpSpPr>
            <a:grpSpLocks/>
          </p:cNvGrpSpPr>
          <p:nvPr/>
        </p:nvGrpSpPr>
        <p:grpSpPr bwMode="auto">
          <a:xfrm>
            <a:off x="3021208" y="3686019"/>
            <a:ext cx="595311" cy="790576"/>
            <a:chOff x="1894" y="1620"/>
            <a:chExt cx="375" cy="498"/>
          </a:xfrm>
        </p:grpSpPr>
        <p:graphicFrame>
          <p:nvGraphicFramePr>
            <p:cNvPr id="17450" name="Object 68"/>
            <p:cNvGraphicFramePr>
              <a:graphicFrameLocks noChangeAspect="1"/>
            </p:cNvGraphicFramePr>
            <p:nvPr/>
          </p:nvGraphicFramePr>
          <p:xfrm>
            <a:off x="1952" y="1767"/>
            <a:ext cx="317" cy="3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0" imgW="241200" imgH="266400" progId="Equation.3">
                    <p:embed/>
                  </p:oleObj>
                </mc:Choice>
                <mc:Fallback>
                  <p:oleObj name="Ecuación" r:id="rId10" imgW="241200" imgH="266400" progId="Equation.3">
                    <p:embed/>
                    <p:pic>
                      <p:nvPicPr>
                        <p:cNvPr id="17450" name="Object 6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52" y="1767"/>
                          <a:ext cx="317" cy="3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51" name="Line 69"/>
            <p:cNvSpPr>
              <a:spLocks noChangeShapeType="1"/>
            </p:cNvSpPr>
            <p:nvPr/>
          </p:nvSpPr>
          <p:spPr bwMode="auto">
            <a:xfrm flipH="1">
              <a:off x="1894" y="1620"/>
              <a:ext cx="0" cy="268"/>
            </a:xfrm>
            <a:prstGeom prst="line">
              <a:avLst/>
            </a:prstGeom>
            <a:noFill/>
            <a:ln w="38100">
              <a:solidFill>
                <a:srgbClr val="80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</p:grpSp>
      <p:sp>
        <p:nvSpPr>
          <p:cNvPr id="641099" name="Text Box 75"/>
          <p:cNvSpPr txBox="1">
            <a:spLocks noChangeArrowheads="1"/>
          </p:cNvSpPr>
          <p:nvPr/>
        </p:nvSpPr>
        <p:spPr bwMode="auto">
          <a:xfrm>
            <a:off x="4963974" y="4389084"/>
            <a:ext cx="1621254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dirty="0">
                <a:solidFill>
                  <a:schemeClr val="tx1"/>
                </a:solidFill>
              </a:rPr>
              <a:t>Desviados</a:t>
            </a:r>
          </a:p>
        </p:txBody>
      </p:sp>
      <p:sp>
        <p:nvSpPr>
          <p:cNvPr id="641100" name="Text Box 76"/>
          <p:cNvSpPr txBox="1">
            <a:spLocks noChangeArrowheads="1"/>
          </p:cNvSpPr>
          <p:nvPr/>
        </p:nvSpPr>
        <p:spPr bwMode="auto">
          <a:xfrm>
            <a:off x="1806817" y="5959928"/>
            <a:ext cx="7899891" cy="90588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 anchor="ctr" anchorCtr="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sz="2400">
                <a:solidFill>
                  <a:schemeClr val="tx1"/>
                </a:solidFill>
              </a:rPr>
              <a:t>Se siguen desviando portadores hasta que el </a:t>
            </a:r>
            <a:r>
              <a:rPr lang="es-ES" sz="2400" b="1">
                <a:solidFill>
                  <a:schemeClr val="tx1"/>
                </a:solidFill>
              </a:rPr>
              <a:t>E</a:t>
            </a:r>
            <a:r>
              <a:rPr lang="es-ES" sz="2400">
                <a:solidFill>
                  <a:schemeClr val="tx1"/>
                </a:solidFill>
              </a:rPr>
              <a:t> creado</a:t>
            </a:r>
            <a:endParaRPr lang="es-ES" sz="2400" b="1">
              <a:solidFill>
                <a:schemeClr val="tx1"/>
              </a:solidFill>
            </a:endParaRPr>
          </a:p>
          <a:p>
            <a:pPr algn="ctr" eaLnBrk="1" hangingPunct="1"/>
            <a:r>
              <a:rPr lang="es-ES" sz="2400">
                <a:solidFill>
                  <a:schemeClr val="tx1"/>
                </a:solidFill>
              </a:rPr>
              <a:t>hace que </a:t>
            </a:r>
            <a:r>
              <a:rPr lang="es-ES" sz="2400" err="1">
                <a:solidFill>
                  <a:schemeClr val="tx1"/>
                </a:solidFill>
              </a:rPr>
              <a:t>df</a:t>
            </a:r>
            <a:r>
              <a:rPr lang="es-ES" sz="2400" baseline="-25000" err="1">
                <a:solidFill>
                  <a:schemeClr val="tx1"/>
                </a:solidFill>
              </a:rPr>
              <a:t>E</a:t>
            </a:r>
            <a:r>
              <a:rPr lang="es-ES" sz="2400">
                <a:solidFill>
                  <a:schemeClr val="tx1"/>
                </a:solidFill>
              </a:rPr>
              <a:t> sea igual a df</a:t>
            </a:r>
            <a:r>
              <a:rPr lang="es-ES" sz="2400" baseline="-25000">
                <a:solidFill>
                  <a:schemeClr val="tx1"/>
                </a:solidFill>
              </a:rPr>
              <a:t>B </a:t>
            </a:r>
            <a:r>
              <a:rPr lang="es-ES" sz="2400">
                <a:solidFill>
                  <a:schemeClr val="tx1"/>
                </a:solidFill>
              </a:rPr>
              <a:t>(d</a:t>
            </a:r>
            <a:r>
              <a:rPr lang="es-ES" sz="2400" b="1">
                <a:solidFill>
                  <a:schemeClr val="tx1"/>
                </a:solidFill>
              </a:rPr>
              <a:t>f</a:t>
            </a:r>
            <a:r>
              <a:rPr lang="es-ES" sz="2400" b="1" baseline="-25000">
                <a:solidFill>
                  <a:schemeClr val="tx1"/>
                </a:solidFill>
              </a:rPr>
              <a:t>E</a:t>
            </a:r>
            <a:r>
              <a:rPr lang="es-ES" sz="2400">
                <a:solidFill>
                  <a:schemeClr val="tx1"/>
                </a:solidFill>
              </a:rPr>
              <a:t> = - d</a:t>
            </a:r>
            <a:r>
              <a:rPr lang="es-ES" sz="2400" b="1">
                <a:solidFill>
                  <a:schemeClr val="tx1"/>
                </a:solidFill>
              </a:rPr>
              <a:t>f</a:t>
            </a:r>
            <a:r>
              <a:rPr lang="es-ES" sz="2400" b="1" baseline="-25000">
                <a:solidFill>
                  <a:schemeClr val="tx1"/>
                </a:solidFill>
              </a:rPr>
              <a:t>B</a:t>
            </a:r>
            <a:r>
              <a:rPr lang="es-ES" sz="2400">
                <a:solidFill>
                  <a:schemeClr val="tx1"/>
                </a:solidFill>
              </a:rPr>
              <a:t>)</a:t>
            </a:r>
            <a:endParaRPr lang="es-ES" sz="2400" dirty="0">
              <a:solidFill>
                <a:schemeClr val="tx1"/>
              </a:solidFill>
            </a:endParaRPr>
          </a:p>
        </p:txBody>
      </p:sp>
      <p:grpSp>
        <p:nvGrpSpPr>
          <p:cNvPr id="8" name="Grupo 7"/>
          <p:cNvGrpSpPr/>
          <p:nvPr/>
        </p:nvGrpSpPr>
        <p:grpSpPr>
          <a:xfrm>
            <a:off x="1359967" y="1643285"/>
            <a:ext cx="1976007" cy="540039"/>
            <a:chOff x="1300964" y="2656176"/>
            <a:chExt cx="1976007" cy="540039"/>
          </a:xfrm>
        </p:grpSpPr>
        <p:sp>
          <p:nvSpPr>
            <p:cNvPr id="7" name="Rectángulo 6"/>
            <p:cNvSpPr/>
            <p:nvPr/>
          </p:nvSpPr>
          <p:spPr bwMode="auto">
            <a:xfrm>
              <a:off x="1300964" y="2699373"/>
              <a:ext cx="1891568" cy="483466"/>
            </a:xfrm>
            <a:prstGeom prst="rect">
              <a:avLst/>
            </a:prstGeom>
            <a:solidFill>
              <a:srgbClr val="CCFFCC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vert="horz" wrap="square" lIns="90000" tIns="82800" rIns="90000" bIns="82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D60093"/>
                </a:solidFill>
                <a:effectLst/>
                <a:latin typeface="Arial" panose="020B0604020202020204" pitchFamily="34" charset="0"/>
              </a:endParaRPr>
            </a:p>
          </p:txBody>
        </p:sp>
        <p:grpSp>
          <p:nvGrpSpPr>
            <p:cNvPr id="3" name="Grupo 2"/>
            <p:cNvGrpSpPr>
              <a:grpSpLocks/>
            </p:cNvGrpSpPr>
            <p:nvPr/>
          </p:nvGrpSpPr>
          <p:grpSpPr bwMode="auto">
            <a:xfrm>
              <a:off x="1301750" y="2656176"/>
              <a:ext cx="1975221" cy="540039"/>
              <a:chOff x="1302325" y="2791909"/>
              <a:chExt cx="1974355" cy="540038"/>
            </a:xfrm>
          </p:grpSpPr>
          <p:sp>
            <p:nvSpPr>
              <p:cNvPr id="17448" name="CuadroTexto 1"/>
              <p:cNvSpPr txBox="1">
                <a:spLocks noChangeArrowheads="1"/>
              </p:cNvSpPr>
              <p:nvPr/>
            </p:nvSpPr>
            <p:spPr bwMode="auto">
              <a:xfrm>
                <a:off x="1302325" y="2816195"/>
                <a:ext cx="1974355" cy="4616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sz="2400">
                    <a:solidFill>
                      <a:schemeClr val="tx1"/>
                    </a:solidFill>
                  </a:rPr>
                  <a:t>Si hay          :</a:t>
                </a:r>
              </a:p>
            </p:txBody>
          </p:sp>
          <p:graphicFrame>
            <p:nvGraphicFramePr>
              <p:cNvPr id="17449" name="Object 8"/>
              <p:cNvGraphicFramePr>
                <a:graphicFrameLocks noChangeAspect="1"/>
              </p:cNvGraphicFramePr>
              <p:nvPr/>
            </p:nvGraphicFramePr>
            <p:xfrm>
              <a:off x="2275899" y="2791909"/>
              <a:ext cx="823880" cy="5400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12" imgW="406048" imgH="253780" progId="Equation.3">
                      <p:embed/>
                    </p:oleObj>
                  </mc:Choice>
                  <mc:Fallback>
                    <p:oleObj name="Ecuación" r:id="rId12" imgW="406048" imgH="253780" progId="Equation.3">
                      <p:embed/>
                      <p:pic>
                        <p:nvPicPr>
                          <p:cNvPr id="17449" name="Object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75899" y="2791909"/>
                            <a:ext cx="823880" cy="5400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7443" name="Text Box 57"/>
          <p:cNvSpPr txBox="1">
            <a:spLocks noChangeArrowheads="1"/>
          </p:cNvSpPr>
          <p:nvPr/>
        </p:nvSpPr>
        <p:spPr bwMode="auto">
          <a:xfrm>
            <a:off x="1379566" y="4333520"/>
            <a:ext cx="2795588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dirty="0">
                <a:solidFill>
                  <a:srgbClr val="FF0000"/>
                </a:solidFill>
              </a:rPr>
              <a:t>(</a:t>
            </a:r>
            <a:r>
              <a:rPr lang="es-ES" sz="2400" b="1" dirty="0">
                <a:solidFill>
                  <a:srgbClr val="FF0000"/>
                </a:solidFill>
              </a:rPr>
              <a:t>B</a:t>
            </a:r>
            <a:r>
              <a:rPr lang="es-ES" sz="2400" baseline="-25000" dirty="0">
                <a:solidFill>
                  <a:srgbClr val="FF0000"/>
                </a:solidFill>
              </a:rPr>
              <a:t>//</a:t>
            </a:r>
            <a:r>
              <a:rPr lang="es-ES" sz="2400" dirty="0">
                <a:solidFill>
                  <a:srgbClr val="FF0000"/>
                </a:solidFill>
              </a:rPr>
              <a:t> no genera </a:t>
            </a:r>
            <a:r>
              <a:rPr lang="es-ES" sz="2400" dirty="0" err="1">
                <a:solidFill>
                  <a:srgbClr val="FF0000"/>
                </a:solidFill>
              </a:rPr>
              <a:t>d</a:t>
            </a:r>
            <a:r>
              <a:rPr lang="es-ES" sz="2400" b="1" dirty="0" err="1">
                <a:solidFill>
                  <a:srgbClr val="FF0000"/>
                </a:solidFill>
              </a:rPr>
              <a:t>f</a:t>
            </a:r>
            <a:r>
              <a:rPr lang="es-ES" sz="2400" b="1" baseline="-25000" dirty="0" err="1">
                <a:solidFill>
                  <a:srgbClr val="FF0000"/>
                </a:solidFill>
              </a:rPr>
              <a:t>B</a:t>
            </a:r>
            <a:r>
              <a:rPr lang="es-ES" sz="2400" dirty="0">
                <a:solidFill>
                  <a:srgbClr val="FF0000"/>
                </a:solidFill>
              </a:rPr>
              <a:t>)</a:t>
            </a: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D5D7F783-05E8-D583-9C56-569EFC19B4DA}"/>
              </a:ext>
            </a:extLst>
          </p:cNvPr>
          <p:cNvGrpSpPr/>
          <p:nvPr/>
        </p:nvGrpSpPr>
        <p:grpSpPr>
          <a:xfrm>
            <a:off x="1474212" y="2308679"/>
            <a:ext cx="2378098" cy="739670"/>
            <a:chOff x="1474212" y="2308679"/>
            <a:chExt cx="2378098" cy="739670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3319F2FB-55A9-F974-C772-93A2851BA8A1}"/>
                </a:ext>
              </a:extLst>
            </p:cNvPr>
            <p:cNvSpPr/>
            <p:nvPr/>
          </p:nvSpPr>
          <p:spPr bwMode="auto">
            <a:xfrm>
              <a:off x="1474212" y="2308679"/>
              <a:ext cx="2378098" cy="739670"/>
            </a:xfrm>
            <a:prstGeom prst="rect">
              <a:avLst/>
            </a:prstGeom>
            <a:solidFill>
              <a:srgbClr val="99CCFF"/>
            </a:solidFill>
            <a:ln w="25400" cap="flat" cmpd="sng" algn="ctr">
              <a:noFill/>
              <a:prstDash val="solid"/>
              <a:round/>
              <a:headEnd type="none" w="med" len="med"/>
              <a:tailEnd type="stealth" w="lg" len="lg"/>
            </a:ln>
            <a:effectLst/>
            <a:extLs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vert="horz" wrap="squar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endParaRPr>
            </a:p>
          </p:txBody>
        </p:sp>
        <p:graphicFrame>
          <p:nvGraphicFramePr>
            <p:cNvPr id="77" name="Object 4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86929917"/>
                </p:ext>
              </p:extLst>
            </p:nvPr>
          </p:nvGraphicFramePr>
          <p:xfrm>
            <a:off x="1518545" y="2402687"/>
            <a:ext cx="2272010" cy="6187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4" imgW="977476" imgH="266584" progId="Equation.3">
                    <p:embed/>
                  </p:oleObj>
                </mc:Choice>
                <mc:Fallback>
                  <p:oleObj name="Ecuación" r:id="rId14" imgW="977476" imgH="266584" progId="Equation.3">
                    <p:embed/>
                    <p:pic>
                      <p:nvPicPr>
                        <p:cNvPr id="77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18545" y="2402687"/>
                          <a:ext cx="2272010" cy="6187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8" name="Text Box 75"/>
          <p:cNvSpPr txBox="1">
            <a:spLocks noChangeArrowheads="1"/>
          </p:cNvSpPr>
          <p:nvPr/>
        </p:nvSpPr>
        <p:spPr bwMode="auto">
          <a:xfrm>
            <a:off x="5016544" y="2705706"/>
            <a:ext cx="1501030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dirty="0">
                <a:solidFill>
                  <a:schemeClr val="tx1"/>
                </a:solidFill>
              </a:rPr>
              <a:t>Inducidos</a:t>
            </a:r>
          </a:p>
        </p:txBody>
      </p:sp>
      <p:graphicFrame>
        <p:nvGraphicFramePr>
          <p:cNvPr id="68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4633603"/>
              </p:ext>
            </p:extLst>
          </p:nvPr>
        </p:nvGraphicFramePr>
        <p:xfrm>
          <a:off x="7746593" y="4218165"/>
          <a:ext cx="1534953" cy="5849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6" imgW="698197" imgH="266584" progId="Equation.3">
                  <p:embed/>
                </p:oleObj>
              </mc:Choice>
              <mc:Fallback>
                <p:oleObj name="Ecuación" r:id="rId16" imgW="698197" imgH="266584" progId="Equation.3">
                  <p:embed/>
                  <p:pic>
                    <p:nvPicPr>
                      <p:cNvPr id="68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6593" y="4218165"/>
                        <a:ext cx="1534953" cy="584994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" name="Text Box 75"/>
          <p:cNvSpPr txBox="1">
            <a:spLocks noChangeArrowheads="1"/>
          </p:cNvSpPr>
          <p:nvPr/>
        </p:nvSpPr>
        <p:spPr bwMode="auto">
          <a:xfrm>
            <a:off x="4428792" y="1702962"/>
            <a:ext cx="2647176" cy="443429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 anchor="ctr" anchorCtr="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>
                <a:solidFill>
                  <a:schemeClr val="tx1"/>
                </a:solidFill>
              </a:rPr>
              <a:t>El cable es </a:t>
            </a:r>
            <a:r>
              <a:rPr lang="es-ES" sz="2400" dirty="0">
                <a:solidFill>
                  <a:schemeClr val="tx1"/>
                </a:solidFill>
              </a:rPr>
              <a:t>neutro</a:t>
            </a:r>
          </a:p>
        </p:txBody>
      </p:sp>
      <p:cxnSp>
        <p:nvCxnSpPr>
          <p:cNvPr id="11" name="Conector recto 10"/>
          <p:cNvCxnSpPr/>
          <p:nvPr/>
        </p:nvCxnSpPr>
        <p:spPr bwMode="auto">
          <a:xfrm>
            <a:off x="4123854" y="2125571"/>
            <a:ext cx="0" cy="1819461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75" name="Conector recto 74"/>
          <p:cNvCxnSpPr/>
          <p:nvPr/>
        </p:nvCxnSpPr>
        <p:spPr bwMode="auto">
          <a:xfrm>
            <a:off x="7366061" y="2119972"/>
            <a:ext cx="0" cy="1819461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grpSp>
        <p:nvGrpSpPr>
          <p:cNvPr id="14" name="Grupo 13"/>
          <p:cNvGrpSpPr/>
          <p:nvPr/>
        </p:nvGrpSpPr>
        <p:grpSpPr>
          <a:xfrm>
            <a:off x="5446369" y="3577855"/>
            <a:ext cx="1264087" cy="374649"/>
            <a:chOff x="5591610" y="2250065"/>
            <a:chExt cx="1264087" cy="374649"/>
          </a:xfrm>
        </p:grpSpPr>
        <p:grpSp>
          <p:nvGrpSpPr>
            <p:cNvPr id="641046" name="Group 22"/>
            <p:cNvGrpSpPr>
              <a:grpSpLocks/>
            </p:cNvGrpSpPr>
            <p:nvPr/>
          </p:nvGrpSpPr>
          <p:grpSpPr bwMode="auto">
            <a:xfrm>
              <a:off x="5980984" y="2250065"/>
              <a:ext cx="874713" cy="374649"/>
              <a:chOff x="2806" y="1823"/>
              <a:chExt cx="551" cy="236"/>
            </a:xfrm>
          </p:grpSpPr>
          <p:pic>
            <p:nvPicPr>
              <p:cNvPr id="17467" name="Picture 23" descr="Image1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06" y="1906"/>
                <a:ext cx="134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468" name="Line 24"/>
              <p:cNvSpPr>
                <a:spLocks noChangeShapeType="1"/>
              </p:cNvSpPr>
              <p:nvPr/>
            </p:nvSpPr>
            <p:spPr bwMode="auto">
              <a:xfrm>
                <a:off x="2965" y="1968"/>
                <a:ext cx="211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/>
              </a:p>
            </p:txBody>
          </p:sp>
          <p:graphicFrame>
            <p:nvGraphicFramePr>
              <p:cNvPr id="17469" name="Object 25"/>
              <p:cNvGraphicFramePr>
                <a:graphicFrameLocks noChangeAspect="1"/>
              </p:cNvGraphicFramePr>
              <p:nvPr/>
            </p:nvGraphicFramePr>
            <p:xfrm>
              <a:off x="3188" y="1823"/>
              <a:ext cx="169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4" imgW="126725" imgH="177415" progId="Equation.3">
                      <p:embed/>
                    </p:oleObj>
                  </mc:Choice>
                  <mc:Fallback>
                    <p:oleObj name="Ecuación" r:id="rId4" imgW="126725" imgH="177415" progId="Equation.3">
                      <p:embed/>
                      <p:pic>
                        <p:nvPicPr>
                          <p:cNvPr id="17469" name="Object 2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88" y="1823"/>
                            <a:ext cx="169" cy="2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pic>
          <p:nvPicPr>
            <p:cNvPr id="88" name="Picture 23" descr="Image1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89223" y="2388323"/>
              <a:ext cx="212725" cy="2127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9" name="Picture 23" descr="Image1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91610" y="2398423"/>
              <a:ext cx="212725" cy="2127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5" name="Grupo 14"/>
          <p:cNvGrpSpPr/>
          <p:nvPr/>
        </p:nvGrpSpPr>
        <p:grpSpPr>
          <a:xfrm>
            <a:off x="5455874" y="3201951"/>
            <a:ext cx="587303" cy="226587"/>
            <a:chOff x="5621897" y="1884552"/>
            <a:chExt cx="587303" cy="226587"/>
          </a:xfrm>
        </p:grpSpPr>
        <p:pic>
          <p:nvPicPr>
            <p:cNvPr id="13" name="Imagen 12"/>
            <p:cNvPicPr>
              <a:picLocks noChangeAspect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92512" y="1891482"/>
              <a:ext cx="216688" cy="219657"/>
            </a:xfrm>
            <a:prstGeom prst="rect">
              <a:avLst/>
            </a:prstGeom>
          </p:spPr>
        </p:pic>
        <p:pic>
          <p:nvPicPr>
            <p:cNvPr id="92" name="Imagen 91"/>
            <p:cNvPicPr>
              <a:picLocks noChangeAspect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22791" y="1888017"/>
              <a:ext cx="216688" cy="219657"/>
            </a:xfrm>
            <a:prstGeom prst="rect">
              <a:avLst/>
            </a:prstGeom>
          </p:spPr>
        </p:pic>
        <p:pic>
          <p:nvPicPr>
            <p:cNvPr id="93" name="Imagen 92"/>
            <p:cNvPicPr>
              <a:picLocks noChangeAspect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21897" y="1884552"/>
              <a:ext cx="216688" cy="219657"/>
            </a:xfrm>
            <a:prstGeom prst="rect">
              <a:avLst/>
            </a:prstGeom>
          </p:spPr>
        </p:pic>
      </p:grpSp>
      <p:sp>
        <p:nvSpPr>
          <p:cNvPr id="4" name="Forma libre 3"/>
          <p:cNvSpPr/>
          <p:nvPr/>
        </p:nvSpPr>
        <p:spPr bwMode="auto">
          <a:xfrm>
            <a:off x="4370375" y="3579709"/>
            <a:ext cx="973749" cy="121501"/>
          </a:xfrm>
          <a:custGeom>
            <a:avLst/>
            <a:gdLst>
              <a:gd name="connsiteX0" fmla="*/ 0 w 1435608"/>
              <a:gd name="connsiteY0" fmla="*/ 0 h 210312"/>
              <a:gd name="connsiteX1" fmla="*/ 777240 w 1435608"/>
              <a:gd name="connsiteY1" fmla="*/ 45720 h 210312"/>
              <a:gd name="connsiteX2" fmla="*/ 1435608 w 1435608"/>
              <a:gd name="connsiteY2" fmla="*/ 210312 h 210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35608" h="210312">
                <a:moveTo>
                  <a:pt x="0" y="0"/>
                </a:moveTo>
                <a:cubicBezTo>
                  <a:pt x="268986" y="5334"/>
                  <a:pt x="537972" y="10668"/>
                  <a:pt x="777240" y="45720"/>
                </a:cubicBezTo>
                <a:cubicBezTo>
                  <a:pt x="1016508" y="80772"/>
                  <a:pt x="1226058" y="145542"/>
                  <a:pt x="1435608" y="210312"/>
                </a:cubicBezTo>
              </a:path>
            </a:pathLst>
          </a:custGeom>
          <a:noFill/>
          <a:ln w="25400" cap="flat" cmpd="sng" algn="ctr">
            <a:solidFill>
              <a:schemeClr val="tx2">
                <a:lumMod val="90000"/>
                <a:lumOff val="10000"/>
              </a:schemeClr>
            </a:solidFill>
            <a:prstDash val="solid"/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0" name="Line 5"/>
          <p:cNvSpPr>
            <a:spLocks noChangeShapeType="1"/>
          </p:cNvSpPr>
          <p:nvPr/>
        </p:nvSpPr>
        <p:spPr bwMode="auto">
          <a:xfrm>
            <a:off x="4252920" y="3238828"/>
            <a:ext cx="2972791" cy="7959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/>
          <a:p>
            <a:endParaRPr lang="en-GB"/>
          </a:p>
        </p:txBody>
      </p:sp>
      <p:sp>
        <p:nvSpPr>
          <p:cNvPr id="91" name="Line 6"/>
          <p:cNvSpPr>
            <a:spLocks noChangeShapeType="1"/>
          </p:cNvSpPr>
          <p:nvPr/>
        </p:nvSpPr>
        <p:spPr bwMode="auto">
          <a:xfrm flipV="1">
            <a:off x="4285562" y="3937329"/>
            <a:ext cx="2938879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/>
          <a:p>
            <a:endParaRPr lang="en-GB"/>
          </a:p>
        </p:txBody>
      </p:sp>
      <p:sp>
        <p:nvSpPr>
          <p:cNvPr id="98" name="Text Box 75"/>
          <p:cNvSpPr txBox="1">
            <a:spLocks noChangeArrowheads="1"/>
          </p:cNvSpPr>
          <p:nvPr/>
        </p:nvSpPr>
        <p:spPr bwMode="auto">
          <a:xfrm>
            <a:off x="7750229" y="2348871"/>
            <a:ext cx="1842434" cy="905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>
                <a:solidFill>
                  <a:schemeClr val="tx1"/>
                </a:solidFill>
              </a:rPr>
              <a:t>No desviados</a:t>
            </a:r>
            <a:endParaRPr lang="es-ES" sz="2400" dirty="0">
              <a:solidFill>
                <a:schemeClr val="tx1"/>
              </a:solidFill>
            </a:endParaRPr>
          </a:p>
        </p:txBody>
      </p:sp>
      <p:sp>
        <p:nvSpPr>
          <p:cNvPr id="94" name="Text Box 76"/>
          <p:cNvSpPr txBox="1">
            <a:spLocks noChangeArrowheads="1"/>
          </p:cNvSpPr>
          <p:nvPr/>
        </p:nvSpPr>
        <p:spPr bwMode="auto">
          <a:xfrm>
            <a:off x="1806817" y="5052222"/>
            <a:ext cx="7899890" cy="8235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 anchor="ctr" anchorCtr="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sz="2400">
                <a:solidFill>
                  <a:schemeClr val="tx1"/>
                </a:solidFill>
              </a:rPr>
              <a:t>Los </a:t>
            </a:r>
            <a:r>
              <a:rPr lang="es-ES" sz="2400" dirty="0">
                <a:solidFill>
                  <a:schemeClr val="tx1"/>
                </a:solidFill>
              </a:rPr>
              <a:t>portadores de carga + de </a:t>
            </a:r>
            <a:r>
              <a:rPr lang="es-ES" sz="2400">
                <a:solidFill>
                  <a:schemeClr val="tx1"/>
                </a:solidFill>
              </a:rPr>
              <a:t>la corriente, desviados, </a:t>
            </a:r>
          </a:p>
          <a:p>
            <a:pPr algn="ctr" eaLnBrk="1" hangingPunct="1"/>
            <a:r>
              <a:rPr lang="es-ES" sz="2400">
                <a:solidFill>
                  <a:schemeClr val="tx1"/>
                </a:solidFill>
              </a:rPr>
              <a:t>y los </a:t>
            </a:r>
            <a:r>
              <a:rPr lang="es-ES" sz="2400" dirty="0">
                <a:solidFill>
                  <a:schemeClr val="tx1"/>
                </a:solidFill>
              </a:rPr>
              <a:t>excesos de </a:t>
            </a:r>
            <a:r>
              <a:rPr lang="es-ES" sz="2400">
                <a:solidFill>
                  <a:schemeClr val="tx1"/>
                </a:solidFill>
              </a:rPr>
              <a:t>carga -, inducidos, generan un </a:t>
            </a:r>
            <a:r>
              <a:rPr lang="es-ES" sz="2400" b="1" dirty="0">
                <a:solidFill>
                  <a:schemeClr val="tx1"/>
                </a:solidFill>
              </a:rPr>
              <a:t>E</a:t>
            </a: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D884B822-5A4F-4FF4-BAE7-80AF24D54510}"/>
              </a:ext>
            </a:extLst>
          </p:cNvPr>
          <p:cNvGrpSpPr/>
          <p:nvPr/>
        </p:nvGrpSpPr>
        <p:grpSpPr>
          <a:xfrm>
            <a:off x="8755090" y="3327434"/>
            <a:ext cx="1450046" cy="1134935"/>
            <a:chOff x="8837872" y="2322595"/>
            <a:chExt cx="1450046" cy="1134935"/>
          </a:xfrm>
        </p:grpSpPr>
        <p:grpSp>
          <p:nvGrpSpPr>
            <p:cNvPr id="16" name="Grupo 15"/>
            <p:cNvGrpSpPr/>
            <p:nvPr/>
          </p:nvGrpSpPr>
          <p:grpSpPr>
            <a:xfrm>
              <a:off x="9384630" y="2395362"/>
              <a:ext cx="903288" cy="1062168"/>
              <a:chOff x="9513892" y="2200389"/>
              <a:chExt cx="903288" cy="1062168"/>
            </a:xfrm>
          </p:grpSpPr>
          <p:pic>
            <p:nvPicPr>
              <p:cNvPr id="17460" name="Picture 27" descr="Image1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513892" y="2294051"/>
                <a:ext cx="212725" cy="212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461" name="Line 28"/>
              <p:cNvSpPr>
                <a:spLocks noChangeShapeType="1"/>
              </p:cNvSpPr>
              <p:nvPr/>
            </p:nvSpPr>
            <p:spPr bwMode="auto">
              <a:xfrm flipH="1">
                <a:off x="9618667" y="2495664"/>
                <a:ext cx="0" cy="425451"/>
              </a:xfrm>
              <a:prstGeom prst="line">
                <a:avLst/>
              </a:prstGeom>
              <a:noFill/>
              <a:ln w="38100">
                <a:solidFill>
                  <a:srgbClr val="800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17462" name="Line 29"/>
              <p:cNvSpPr>
                <a:spLocks noChangeShapeType="1"/>
              </p:cNvSpPr>
              <p:nvPr/>
            </p:nvSpPr>
            <p:spPr bwMode="auto">
              <a:xfrm>
                <a:off x="9794880" y="2386127"/>
                <a:ext cx="334963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/>
              </a:p>
            </p:txBody>
          </p:sp>
          <p:graphicFrame>
            <p:nvGraphicFramePr>
              <p:cNvPr id="17463" name="Object 30"/>
              <p:cNvGraphicFramePr>
                <a:graphicFrameLocks noChangeAspect="1"/>
              </p:cNvGraphicFramePr>
              <p:nvPr/>
            </p:nvGraphicFramePr>
            <p:xfrm>
              <a:off x="10148892" y="2200389"/>
              <a:ext cx="268288" cy="3762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4" imgW="126725" imgH="177415" progId="Equation.3">
                      <p:embed/>
                    </p:oleObj>
                  </mc:Choice>
                  <mc:Fallback>
                    <p:oleObj name="Ecuación" r:id="rId4" imgW="126725" imgH="177415" progId="Equation.3">
                      <p:embed/>
                      <p:pic>
                        <p:nvPicPr>
                          <p:cNvPr id="17463" name="Object 3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148892" y="2200389"/>
                            <a:ext cx="268288" cy="3762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465" name="Object 3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33657124"/>
                  </p:ext>
                </p:extLst>
              </p:nvPr>
            </p:nvGraphicFramePr>
            <p:xfrm>
              <a:off x="9719957" y="2705344"/>
              <a:ext cx="501650" cy="5572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19" imgW="241200" imgH="266400" progId="Equation.3">
                      <p:embed/>
                    </p:oleObj>
                  </mc:Choice>
                  <mc:Fallback>
                    <p:oleObj name="Ecuación" r:id="rId19" imgW="241200" imgH="266400" progId="Equation.3">
                      <p:embed/>
                      <p:pic>
                        <p:nvPicPr>
                          <p:cNvPr id="17465" name="Object 3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719957" y="2705344"/>
                            <a:ext cx="501650" cy="55721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80" name="CuadroTexto 79">
              <a:extLst>
                <a:ext uri="{FF2B5EF4-FFF2-40B4-BE49-F238E27FC236}">
                  <a16:creationId xmlns:a16="http://schemas.microsoft.com/office/drawing/2014/main" id="{F095E800-32D4-4098-816D-911A56E3E4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37872" y="2322595"/>
              <a:ext cx="52770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s-ES" sz="2400" dirty="0" err="1">
                  <a:solidFill>
                    <a:schemeClr val="tx1"/>
                  </a:solidFill>
                </a:rPr>
                <a:t>dq</a:t>
              </a:r>
              <a:endParaRPr lang="es-ES" sz="2400" dirty="0">
                <a:solidFill>
                  <a:schemeClr val="tx1"/>
                </a:solidFill>
              </a:endParaRPr>
            </a:p>
          </p:txBody>
        </p:sp>
      </p:grpSp>
      <p:sp>
        <p:nvSpPr>
          <p:cNvPr id="9" name="Text Box 75">
            <a:extLst>
              <a:ext uri="{FF2B5EF4-FFF2-40B4-BE49-F238E27FC236}">
                <a16:creationId xmlns:a16="http://schemas.microsoft.com/office/drawing/2014/main" id="{4AB1349F-E76D-ED3B-31FD-FD57D5755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4684" y="1684724"/>
            <a:ext cx="2815492" cy="487772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 anchor="ctr" anchorCtr="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>
                <a:solidFill>
                  <a:schemeClr val="tx1"/>
                </a:solidFill>
              </a:rPr>
              <a:t>Excesos Q crean </a:t>
            </a:r>
            <a:r>
              <a:rPr lang="es-ES" sz="2400" b="1">
                <a:solidFill>
                  <a:schemeClr val="tx1"/>
                </a:solidFill>
              </a:rPr>
              <a:t>E</a:t>
            </a:r>
            <a:endParaRPr lang="es-ES" sz="2400" b="1" dirty="0">
              <a:solidFill>
                <a:schemeClr val="tx1"/>
              </a:solidFill>
            </a:endParaRP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32A33A27-66B8-6638-C526-61708958CCD2}"/>
              </a:ext>
            </a:extLst>
          </p:cNvPr>
          <p:cNvGrpSpPr/>
          <p:nvPr/>
        </p:nvGrpSpPr>
        <p:grpSpPr>
          <a:xfrm>
            <a:off x="5516393" y="3999094"/>
            <a:ext cx="1089103" cy="557215"/>
            <a:chOff x="5660693" y="2776809"/>
            <a:chExt cx="1089103" cy="557215"/>
          </a:xfrm>
        </p:grpSpPr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BF73EE59-1A4B-3D02-A924-719F8C18FE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97304" y="2776809"/>
              <a:ext cx="852492" cy="557215"/>
              <a:chOff x="2858" y="2043"/>
              <a:chExt cx="537" cy="351"/>
            </a:xfrm>
          </p:grpSpPr>
          <p:graphicFrame>
            <p:nvGraphicFramePr>
              <p:cNvPr id="22" name="Object 20">
                <a:extLst>
                  <a:ext uri="{FF2B5EF4-FFF2-40B4-BE49-F238E27FC236}">
                    <a16:creationId xmlns:a16="http://schemas.microsoft.com/office/drawing/2014/main" id="{91919066-04FF-9793-1BA1-B9E475D072B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92634969"/>
                  </p:ext>
                </p:extLst>
              </p:nvPr>
            </p:nvGraphicFramePr>
            <p:xfrm>
              <a:off x="2945" y="2043"/>
              <a:ext cx="450" cy="3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21" imgW="342720" imgH="266400" progId="Equation.3">
                      <p:embed/>
                    </p:oleObj>
                  </mc:Choice>
                  <mc:Fallback>
                    <p:oleObj name="Ecuación" r:id="rId21" imgW="342720" imgH="266400" progId="Equation.3">
                      <p:embed/>
                      <p:pic>
                        <p:nvPicPr>
                          <p:cNvPr id="17470" name="Object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45" y="2043"/>
                            <a:ext cx="450" cy="35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3" name="Line 21">
                <a:extLst>
                  <a:ext uri="{FF2B5EF4-FFF2-40B4-BE49-F238E27FC236}">
                    <a16:creationId xmlns:a16="http://schemas.microsoft.com/office/drawing/2014/main" id="{E454E1EA-0482-DF95-5B62-A570AE1853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858" y="2051"/>
                <a:ext cx="0" cy="268"/>
              </a:xfrm>
              <a:prstGeom prst="line">
                <a:avLst/>
              </a:prstGeom>
              <a:noFill/>
              <a:ln w="38100">
                <a:solidFill>
                  <a:srgbClr val="800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/>
              </a:p>
            </p:txBody>
          </p:sp>
        </p:grpSp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9B7766D4-0371-D8A8-076A-0EA34F42039F}"/>
                </a:ext>
              </a:extLst>
            </p:cNvPr>
            <p:cNvCxnSpPr/>
            <p:nvPr/>
          </p:nvCxnSpPr>
          <p:spPr bwMode="auto">
            <a:xfrm>
              <a:off x="5660693" y="2781698"/>
              <a:ext cx="473222" cy="0"/>
            </a:xfrm>
            <a:prstGeom prst="line">
              <a:avLst/>
            </a:prstGeom>
            <a:noFill/>
            <a:ln w="25400" cap="flat" cmpd="sng" algn="ctr">
              <a:solidFill>
                <a:schemeClr val="tx2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</p:cxnSp>
      </p:grpSp>
      <p:sp>
        <p:nvSpPr>
          <p:cNvPr id="24" name="Flecha: hacia abajo 23">
            <a:extLst>
              <a:ext uri="{FF2B5EF4-FFF2-40B4-BE49-F238E27FC236}">
                <a16:creationId xmlns:a16="http://schemas.microsoft.com/office/drawing/2014/main" id="{1E3A6782-E10E-E6F8-1EF6-37B412133DE9}"/>
              </a:ext>
            </a:extLst>
          </p:cNvPr>
          <p:cNvSpPr/>
          <p:nvPr/>
        </p:nvSpPr>
        <p:spPr bwMode="auto">
          <a:xfrm>
            <a:off x="5573645" y="2308679"/>
            <a:ext cx="399194" cy="404885"/>
          </a:xfrm>
          <a:prstGeom prst="downArrow">
            <a:avLst/>
          </a:prstGeom>
          <a:solidFill>
            <a:schemeClr val="accent1">
              <a:lumMod val="7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stealth" w="lg" len="lg"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non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27" name="Grupo 26">
            <a:extLst>
              <a:ext uri="{FF2B5EF4-FFF2-40B4-BE49-F238E27FC236}">
                <a16:creationId xmlns:a16="http://schemas.microsoft.com/office/drawing/2014/main" id="{4E381754-5EBC-D98B-90A5-2AA9E0B0CFC0}"/>
              </a:ext>
            </a:extLst>
          </p:cNvPr>
          <p:cNvGrpSpPr/>
          <p:nvPr/>
        </p:nvGrpSpPr>
        <p:grpSpPr>
          <a:xfrm>
            <a:off x="8533397" y="353396"/>
            <a:ext cx="2212532" cy="561995"/>
            <a:chOff x="8533397" y="353396"/>
            <a:chExt cx="2212532" cy="561995"/>
          </a:xfrm>
        </p:grpSpPr>
        <p:sp>
          <p:nvSpPr>
            <p:cNvPr id="25" name="Flecha: hacia abajo 24">
              <a:extLst>
                <a:ext uri="{FF2B5EF4-FFF2-40B4-BE49-F238E27FC236}">
                  <a16:creationId xmlns:a16="http://schemas.microsoft.com/office/drawing/2014/main" id="{DD5FB9AF-30BB-4021-C888-C91365F9795F}"/>
                </a:ext>
              </a:extLst>
            </p:cNvPr>
            <p:cNvSpPr/>
            <p:nvPr/>
          </p:nvSpPr>
          <p:spPr bwMode="auto">
            <a:xfrm rot="16200000">
              <a:off x="8536243" y="452508"/>
              <a:ext cx="399194" cy="404885"/>
            </a:xfrm>
            <a:prstGeom prst="downArrow">
              <a:avLst/>
            </a:prstGeom>
            <a:solidFill>
              <a:schemeClr val="accent1">
                <a:lumMod val="75000"/>
              </a:schemeClr>
            </a:solidFill>
            <a:ln w="25400" cap="flat" cmpd="sng" algn="ctr">
              <a:noFill/>
              <a:prstDash val="solid"/>
              <a:round/>
              <a:headEnd type="none" w="med" len="med"/>
              <a:tailEnd type="stealth" w="lg" len="lg"/>
            </a:ln>
            <a:effectLst/>
            <a:extLs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vert="horz" wrap="non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6" name="Text Box 7">
              <a:extLst>
                <a:ext uri="{FF2B5EF4-FFF2-40B4-BE49-F238E27FC236}">
                  <a16:creationId xmlns:a16="http://schemas.microsoft.com/office/drawing/2014/main" id="{0B238048-8800-7487-651D-5CB5F7C0EA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05187" y="353396"/>
              <a:ext cx="1740742" cy="561995"/>
            </a:xfrm>
            <a:prstGeom prst="rect">
              <a:avLst/>
            </a:prstGeom>
            <a:solidFill>
              <a:srgbClr val="666699"/>
            </a:solidFill>
            <a:ln>
              <a:noFill/>
            </a:ln>
            <a:effectLst/>
            <a:extLs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72000" rIns="90000" bIns="108000" anchor="ctr" anchorCtr="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ES" sz="2400" cap="small">
                  <a:solidFill>
                    <a:srgbClr val="FFFFFF"/>
                  </a:solidFill>
                </a:rPr>
                <a:t>una fuerza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641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174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7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641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641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641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69" grpId="0" animBg="1"/>
      <p:bldP spid="641099" grpId="0"/>
      <p:bldP spid="641100" grpId="0" animBg="1"/>
      <p:bldP spid="17443" grpId="0"/>
      <p:bldP spid="78" grpId="0"/>
      <p:bldP spid="70" grpId="0" animBg="1"/>
      <p:bldP spid="4" grpId="0" animBg="1"/>
      <p:bldP spid="90" grpId="0" animBg="1"/>
      <p:bldP spid="91" grpId="0" animBg="1"/>
      <p:bldP spid="98" grpId="0"/>
      <p:bldP spid="94" grpId="0" animBg="1"/>
      <p:bldP spid="9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 Box 54">
            <a:extLst>
              <a:ext uri="{FF2B5EF4-FFF2-40B4-BE49-F238E27FC236}">
                <a16:creationId xmlns:a16="http://schemas.microsoft.com/office/drawing/2014/main" id="{98ABC20C-A2C4-40F8-B5EA-F4C6D1DE28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4869" y="5058064"/>
            <a:ext cx="7240384" cy="127521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Atendiendo a la </a:t>
            </a:r>
            <a:r>
              <a:rPr lang="es-ES" sz="2400">
                <a:solidFill>
                  <a:srgbClr val="3333FF"/>
                </a:solidFill>
                <a:sym typeface="Symbol" panose="05050102010706020507" pitchFamily="18" charset="2"/>
              </a:rPr>
              <a:t>3ª Ley de Newton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, los excesos de</a:t>
            </a:r>
          </a:p>
          <a:p>
            <a:pPr algn="ctr" eaLnBrk="1" hangingPunct="1"/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carga que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generan </a:t>
            </a:r>
            <a:r>
              <a:rPr lang="es-ES" sz="2400" b="1" dirty="0">
                <a:solidFill>
                  <a:schemeClr val="tx1"/>
                </a:solidFill>
                <a:sym typeface="Symbol" panose="05050102010706020507" pitchFamily="18" charset="2"/>
              </a:rPr>
              <a:t>E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 sufren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una fuerza opuesta a</a:t>
            </a:r>
          </a:p>
          <a:p>
            <a:pPr algn="ctr" eaLnBrk="1" hangingPunct="1"/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la que ejercen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sobre los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portadores no desviados</a:t>
            </a:r>
            <a:endParaRPr lang="es-ES" sz="24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grpSp>
        <p:nvGrpSpPr>
          <p:cNvPr id="79" name="Group 43">
            <a:extLst>
              <a:ext uri="{FF2B5EF4-FFF2-40B4-BE49-F238E27FC236}">
                <a16:creationId xmlns:a16="http://schemas.microsoft.com/office/drawing/2014/main" id="{36E6B8FF-41CE-4C3E-B3C6-2906F893BE6D}"/>
              </a:ext>
            </a:extLst>
          </p:cNvPr>
          <p:cNvGrpSpPr>
            <a:grpSpLocks/>
          </p:cNvGrpSpPr>
          <p:nvPr/>
        </p:nvGrpSpPr>
        <p:grpSpPr bwMode="auto">
          <a:xfrm>
            <a:off x="7287200" y="2829786"/>
            <a:ext cx="815975" cy="687388"/>
            <a:chOff x="3362" y="2031"/>
            <a:chExt cx="514" cy="433"/>
          </a:xfrm>
        </p:grpSpPr>
        <p:sp>
          <p:nvSpPr>
            <p:cNvPr id="81" name="Line 44">
              <a:extLst>
                <a:ext uri="{FF2B5EF4-FFF2-40B4-BE49-F238E27FC236}">
                  <a16:creationId xmlns:a16="http://schemas.microsoft.com/office/drawing/2014/main" id="{77312DB6-2DEA-4182-99CD-0366F1954F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62" y="2031"/>
              <a:ext cx="0" cy="268"/>
            </a:xfrm>
            <a:prstGeom prst="line">
              <a:avLst/>
            </a:prstGeom>
            <a:noFill/>
            <a:ln w="38100">
              <a:solidFill>
                <a:srgbClr val="808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graphicFrame>
          <p:nvGraphicFramePr>
            <p:cNvPr id="82" name="Object 45">
              <a:extLst>
                <a:ext uri="{FF2B5EF4-FFF2-40B4-BE49-F238E27FC236}">
                  <a16:creationId xmlns:a16="http://schemas.microsoft.com/office/drawing/2014/main" id="{FE9BC1E7-44A4-43D0-8338-ADF035B00BD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47298439"/>
                </p:ext>
              </p:extLst>
            </p:nvPr>
          </p:nvGraphicFramePr>
          <p:xfrm>
            <a:off x="3444" y="2113"/>
            <a:ext cx="432" cy="3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330057" imgH="266584" progId="Equation.3">
                    <p:embed/>
                  </p:oleObj>
                </mc:Choice>
                <mc:Fallback>
                  <p:oleObj name="Ecuación" r:id="rId3" imgW="330057" imgH="266584" progId="Equation.3">
                    <p:embed/>
                    <p:pic>
                      <p:nvPicPr>
                        <p:cNvPr id="82" name="Object 45">
                          <a:extLst>
                            <a:ext uri="{FF2B5EF4-FFF2-40B4-BE49-F238E27FC236}">
                              <a16:creationId xmlns:a16="http://schemas.microsoft.com/office/drawing/2014/main" id="{FE9BC1E7-44A4-43D0-8338-ADF035B00BD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44" y="2113"/>
                          <a:ext cx="432" cy="3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3" name="Grupo 82">
            <a:extLst>
              <a:ext uri="{FF2B5EF4-FFF2-40B4-BE49-F238E27FC236}">
                <a16:creationId xmlns:a16="http://schemas.microsoft.com/office/drawing/2014/main" id="{0B5988D5-4996-4D93-BAD1-5C56E945EAB5}"/>
              </a:ext>
            </a:extLst>
          </p:cNvPr>
          <p:cNvGrpSpPr/>
          <p:nvPr/>
        </p:nvGrpSpPr>
        <p:grpSpPr>
          <a:xfrm>
            <a:off x="6852027" y="3346170"/>
            <a:ext cx="1633884" cy="1214781"/>
            <a:chOff x="5697450" y="3475660"/>
            <a:chExt cx="1633884" cy="1214781"/>
          </a:xfrm>
        </p:grpSpPr>
        <p:cxnSp>
          <p:nvCxnSpPr>
            <p:cNvPr id="85" name="Conector recto 84">
              <a:extLst>
                <a:ext uri="{FF2B5EF4-FFF2-40B4-BE49-F238E27FC236}">
                  <a16:creationId xmlns:a16="http://schemas.microsoft.com/office/drawing/2014/main" id="{24C0F19A-D18E-4B93-A3E6-3A8B4A123A1D}"/>
                </a:ext>
              </a:extLst>
            </p:cNvPr>
            <p:cNvCxnSpPr/>
            <p:nvPr/>
          </p:nvCxnSpPr>
          <p:spPr bwMode="auto">
            <a:xfrm>
              <a:off x="5697450" y="3988767"/>
              <a:ext cx="1451610" cy="0"/>
            </a:xfrm>
            <a:prstGeom prst="line">
              <a:avLst/>
            </a:prstGeom>
            <a:noFill/>
            <a:ln w="25400" cap="flat" cmpd="sng" algn="ctr">
              <a:solidFill>
                <a:srgbClr val="3333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</p:cxnSp>
        <p:sp>
          <p:nvSpPr>
            <p:cNvPr id="86" name="CuadroTexto 85">
              <a:extLst>
                <a:ext uri="{FF2B5EF4-FFF2-40B4-BE49-F238E27FC236}">
                  <a16:creationId xmlns:a16="http://schemas.microsoft.com/office/drawing/2014/main" id="{DCC2E1AE-5D05-46E1-A7E6-66794FB234CD}"/>
                </a:ext>
              </a:extLst>
            </p:cNvPr>
            <p:cNvSpPr txBox="1"/>
            <p:nvPr/>
          </p:nvSpPr>
          <p:spPr>
            <a:xfrm>
              <a:off x="6967132" y="3475660"/>
              <a:ext cx="3642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2400" dirty="0">
                  <a:solidFill>
                    <a:srgbClr val="3333FF"/>
                  </a:solidFill>
                </a:rPr>
                <a:t>+</a:t>
              </a:r>
            </a:p>
          </p:txBody>
        </p:sp>
        <p:graphicFrame>
          <p:nvGraphicFramePr>
            <p:cNvPr id="99" name="Object 20">
              <a:extLst>
                <a:ext uri="{FF2B5EF4-FFF2-40B4-BE49-F238E27FC236}">
                  <a16:creationId xmlns:a16="http://schemas.microsoft.com/office/drawing/2014/main" id="{9E3C6E1E-ABF7-4D99-B0E5-7BDDCE255EE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78699057"/>
                </p:ext>
              </p:extLst>
            </p:nvPr>
          </p:nvGraphicFramePr>
          <p:xfrm>
            <a:off x="6269198" y="4133229"/>
            <a:ext cx="741362" cy="557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355320" imgH="266400" progId="Equation.3">
                    <p:embed/>
                  </p:oleObj>
                </mc:Choice>
                <mc:Fallback>
                  <p:oleObj name="Ecuación" r:id="rId5" imgW="355320" imgH="266400" progId="Equation.3">
                    <p:embed/>
                    <p:pic>
                      <p:nvPicPr>
                        <p:cNvPr id="99" name="Object 20">
                          <a:extLst>
                            <a:ext uri="{FF2B5EF4-FFF2-40B4-BE49-F238E27FC236}">
                              <a16:creationId xmlns:a16="http://schemas.microsoft.com/office/drawing/2014/main" id="{9E3C6E1E-ABF7-4D99-B0E5-7BDDCE255EE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69198" y="4133229"/>
                          <a:ext cx="741362" cy="557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4" name="Grupo 93">
            <a:extLst>
              <a:ext uri="{FF2B5EF4-FFF2-40B4-BE49-F238E27FC236}">
                <a16:creationId xmlns:a16="http://schemas.microsoft.com/office/drawing/2014/main" id="{E3A7D5B0-F58D-44FD-BA77-4BE127ECA4AE}"/>
              </a:ext>
            </a:extLst>
          </p:cNvPr>
          <p:cNvGrpSpPr/>
          <p:nvPr/>
        </p:nvGrpSpPr>
        <p:grpSpPr>
          <a:xfrm>
            <a:off x="2761135" y="1347022"/>
            <a:ext cx="2914718" cy="698501"/>
            <a:chOff x="4205581" y="2188960"/>
            <a:chExt cx="3432505" cy="698501"/>
          </a:xfrm>
        </p:grpSpPr>
        <p:sp>
          <p:nvSpPr>
            <p:cNvPr id="100" name="Rectangle 4">
              <a:extLst>
                <a:ext uri="{FF2B5EF4-FFF2-40B4-BE49-F238E27FC236}">
                  <a16:creationId xmlns:a16="http://schemas.microsoft.com/office/drawing/2014/main" id="{B7D00AD5-A3EF-4EF0-806C-D82BB1764D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726" y="2190549"/>
              <a:ext cx="3417318" cy="695325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82800" rIns="90000" bIns="82800" anchor="ctr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/>
            </a:p>
          </p:txBody>
        </p:sp>
        <p:sp>
          <p:nvSpPr>
            <p:cNvPr id="101" name="Line 5">
              <a:extLst>
                <a:ext uri="{FF2B5EF4-FFF2-40B4-BE49-F238E27FC236}">
                  <a16:creationId xmlns:a16="http://schemas.microsoft.com/office/drawing/2014/main" id="{F32E15FB-73AD-42C0-87F6-EBA853FC7D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05581" y="2188960"/>
              <a:ext cx="3418158" cy="73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102" name="Line 6">
              <a:extLst>
                <a:ext uri="{FF2B5EF4-FFF2-40B4-BE49-F238E27FC236}">
                  <a16:creationId xmlns:a16="http://schemas.microsoft.com/office/drawing/2014/main" id="{ADAA4D5C-240A-4934-9D4D-915625267C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5581" y="2884730"/>
              <a:ext cx="3432505" cy="273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82800" rIns="90000" bIns="82800">
              <a:spAutoFit/>
            </a:bodyPr>
            <a:lstStyle/>
            <a:p>
              <a:endParaRPr lang="en-GB"/>
            </a:p>
          </p:txBody>
        </p:sp>
      </p:grpSp>
      <p:grpSp>
        <p:nvGrpSpPr>
          <p:cNvPr id="118" name="Grupo 117">
            <a:extLst>
              <a:ext uri="{FF2B5EF4-FFF2-40B4-BE49-F238E27FC236}">
                <a16:creationId xmlns:a16="http://schemas.microsoft.com/office/drawing/2014/main" id="{751F8BAB-E3D4-48B7-A52E-DD583AF926DB}"/>
              </a:ext>
            </a:extLst>
          </p:cNvPr>
          <p:cNvGrpSpPr/>
          <p:nvPr/>
        </p:nvGrpSpPr>
        <p:grpSpPr>
          <a:xfrm>
            <a:off x="4723296" y="789534"/>
            <a:ext cx="612775" cy="804866"/>
            <a:chOff x="9615492" y="1473311"/>
            <a:chExt cx="612775" cy="804866"/>
          </a:xfrm>
        </p:grpSpPr>
        <p:sp>
          <p:nvSpPr>
            <p:cNvPr id="119" name="Line 31">
              <a:extLst>
                <a:ext uri="{FF2B5EF4-FFF2-40B4-BE49-F238E27FC236}">
                  <a16:creationId xmlns:a16="http://schemas.microsoft.com/office/drawing/2014/main" id="{B53D421F-B18B-4E56-97FD-52A24EE8F6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9615492" y="1852726"/>
              <a:ext cx="0" cy="425451"/>
            </a:xfrm>
            <a:prstGeom prst="line">
              <a:avLst/>
            </a:prstGeom>
            <a:noFill/>
            <a:ln w="38100">
              <a:solidFill>
                <a:srgbClr val="808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graphicFrame>
          <p:nvGraphicFramePr>
            <p:cNvPr id="120" name="Object 33">
              <a:extLst>
                <a:ext uri="{FF2B5EF4-FFF2-40B4-BE49-F238E27FC236}">
                  <a16:creationId xmlns:a16="http://schemas.microsoft.com/office/drawing/2014/main" id="{9DAA3CF3-D16E-4F0D-8965-E9DC1419B00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726617" y="1473311"/>
            <a:ext cx="501650" cy="557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7" imgW="241200" imgH="266400" progId="Equation.3">
                    <p:embed/>
                  </p:oleObj>
                </mc:Choice>
                <mc:Fallback>
                  <p:oleObj name="Ecuación" r:id="rId7" imgW="241200" imgH="266400" progId="Equation.3">
                    <p:embed/>
                    <p:pic>
                      <p:nvPicPr>
                        <p:cNvPr id="120" name="Object 33">
                          <a:extLst>
                            <a:ext uri="{FF2B5EF4-FFF2-40B4-BE49-F238E27FC236}">
                              <a16:creationId xmlns:a16="http://schemas.microsoft.com/office/drawing/2014/main" id="{9DAA3CF3-D16E-4F0D-8965-E9DC1419B00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26617" y="1473311"/>
                          <a:ext cx="501650" cy="5572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1" name="Group 34">
            <a:extLst>
              <a:ext uri="{FF2B5EF4-FFF2-40B4-BE49-F238E27FC236}">
                <a16:creationId xmlns:a16="http://schemas.microsoft.com/office/drawing/2014/main" id="{2F867755-2DB1-4BF8-BF00-CACF369E924D}"/>
              </a:ext>
            </a:extLst>
          </p:cNvPr>
          <p:cNvGrpSpPr>
            <a:grpSpLocks/>
          </p:cNvGrpSpPr>
          <p:nvPr/>
        </p:nvGrpSpPr>
        <p:grpSpPr bwMode="auto">
          <a:xfrm>
            <a:off x="3023768" y="1461911"/>
            <a:ext cx="382588" cy="444500"/>
            <a:chOff x="3403" y="1672"/>
            <a:chExt cx="241" cy="280"/>
          </a:xfrm>
        </p:grpSpPr>
        <p:graphicFrame>
          <p:nvGraphicFramePr>
            <p:cNvPr id="122" name="Object 35">
              <a:extLst>
                <a:ext uri="{FF2B5EF4-FFF2-40B4-BE49-F238E27FC236}">
                  <a16:creationId xmlns:a16="http://schemas.microsoft.com/office/drawing/2014/main" id="{DE38119A-26C7-4C85-BA1E-399A20B6B79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51" y="1672"/>
            <a:ext cx="193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9" imgW="139639" imgH="203112" progId="Equation.3">
                    <p:embed/>
                  </p:oleObj>
                </mc:Choice>
                <mc:Fallback>
                  <p:oleObj name="Ecuación" r:id="rId9" imgW="139639" imgH="203112" progId="Equation.3">
                    <p:embed/>
                    <p:pic>
                      <p:nvPicPr>
                        <p:cNvPr id="122" name="Object 35">
                          <a:extLst>
                            <a:ext uri="{FF2B5EF4-FFF2-40B4-BE49-F238E27FC236}">
                              <a16:creationId xmlns:a16="http://schemas.microsoft.com/office/drawing/2014/main" id="{DE38119A-26C7-4C85-BA1E-399A20B6B79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1" y="1672"/>
                          <a:ext cx="193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" name="Line 36">
              <a:extLst>
                <a:ext uri="{FF2B5EF4-FFF2-40B4-BE49-F238E27FC236}">
                  <a16:creationId xmlns:a16="http://schemas.microsoft.com/office/drawing/2014/main" id="{110240C1-F788-49AE-BA36-E5C2CE153A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403" y="1676"/>
              <a:ext cx="0" cy="268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</p:grpSp>
      <p:graphicFrame>
        <p:nvGraphicFramePr>
          <p:cNvPr id="140" name="Object 42">
            <a:extLst>
              <a:ext uri="{FF2B5EF4-FFF2-40B4-BE49-F238E27FC236}">
                <a16:creationId xmlns:a16="http://schemas.microsoft.com/office/drawing/2014/main" id="{5FEF350A-622A-40D6-B156-E45F0C2251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0545232"/>
              </p:ext>
            </p:extLst>
          </p:nvPr>
        </p:nvGraphicFramePr>
        <p:xfrm>
          <a:off x="3882680" y="2929106"/>
          <a:ext cx="1624510" cy="5914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1" imgW="736560" imgH="266400" progId="Equation.3">
                  <p:embed/>
                </p:oleObj>
              </mc:Choice>
              <mc:Fallback>
                <p:oleObj name="Ecuación" r:id="rId11" imgW="736560" imgH="266400" progId="Equation.3">
                  <p:embed/>
                  <p:pic>
                    <p:nvPicPr>
                      <p:cNvPr id="140" name="Object 42">
                        <a:extLst>
                          <a:ext uri="{FF2B5EF4-FFF2-40B4-BE49-F238E27FC236}">
                            <a16:creationId xmlns:a16="http://schemas.microsoft.com/office/drawing/2014/main" id="{5FEF350A-622A-40D6-B156-E45F0C2251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2680" y="2929106"/>
                        <a:ext cx="1624510" cy="5914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upo 4">
            <a:extLst>
              <a:ext uri="{FF2B5EF4-FFF2-40B4-BE49-F238E27FC236}">
                <a16:creationId xmlns:a16="http://schemas.microsoft.com/office/drawing/2014/main" id="{F7FEED0D-E53F-E2F4-F55C-1D70AFC48566}"/>
              </a:ext>
            </a:extLst>
          </p:cNvPr>
          <p:cNvGrpSpPr/>
          <p:nvPr/>
        </p:nvGrpSpPr>
        <p:grpSpPr>
          <a:xfrm>
            <a:off x="5764406" y="1346050"/>
            <a:ext cx="3055044" cy="2944412"/>
            <a:chOff x="5764406" y="994357"/>
            <a:chExt cx="3055044" cy="2944412"/>
          </a:xfrm>
        </p:grpSpPr>
        <p:sp>
          <p:nvSpPr>
            <p:cNvPr id="103" name="Rectangle 4">
              <a:extLst>
                <a:ext uri="{FF2B5EF4-FFF2-40B4-BE49-F238E27FC236}">
                  <a16:creationId xmlns:a16="http://schemas.microsoft.com/office/drawing/2014/main" id="{029B12F5-4A5F-4EE1-8D4A-480E9B0B7D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0619" y="1002679"/>
              <a:ext cx="2958831" cy="695325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82800" rIns="90000" bIns="82800" anchor="ctr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/>
            </a:p>
          </p:txBody>
        </p:sp>
        <p:grpSp>
          <p:nvGrpSpPr>
            <p:cNvPr id="10" name="Grupo 9"/>
            <p:cNvGrpSpPr/>
            <p:nvPr/>
          </p:nvGrpSpPr>
          <p:grpSpPr>
            <a:xfrm>
              <a:off x="7061093" y="1777050"/>
              <a:ext cx="1089103" cy="599951"/>
              <a:chOff x="5660693" y="2781698"/>
              <a:chExt cx="1089103" cy="599951"/>
            </a:xfrm>
          </p:grpSpPr>
          <p:grpSp>
            <p:nvGrpSpPr>
              <p:cNvPr id="641043" name="Group 19"/>
              <p:cNvGrpSpPr>
                <a:grpSpLocks/>
              </p:cNvGrpSpPr>
              <p:nvPr/>
            </p:nvGrpSpPr>
            <p:grpSpPr bwMode="auto">
              <a:xfrm>
                <a:off x="5897304" y="2789509"/>
                <a:ext cx="852492" cy="592140"/>
                <a:chOff x="2858" y="2051"/>
                <a:chExt cx="537" cy="373"/>
              </a:xfrm>
            </p:grpSpPr>
            <p:graphicFrame>
              <p:nvGraphicFramePr>
                <p:cNvPr id="17470" name="Object 20"/>
                <p:cNvGraphicFramePr>
                  <a:graphicFrameLocks noChangeAspect="1"/>
                </p:cNvGraphicFramePr>
                <p:nvPr/>
              </p:nvGraphicFramePr>
              <p:xfrm>
                <a:off x="2945" y="2073"/>
                <a:ext cx="450" cy="35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cuación" r:id="rId13" imgW="342720" imgH="266400" progId="Equation.3">
                        <p:embed/>
                      </p:oleObj>
                    </mc:Choice>
                    <mc:Fallback>
                      <p:oleObj name="Ecuación" r:id="rId13" imgW="342720" imgH="266400" progId="Equation.3">
                        <p:embed/>
                        <p:pic>
                          <p:nvPicPr>
                            <p:cNvPr id="17470" name="Object 2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4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945" y="2073"/>
                              <a:ext cx="450" cy="351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7471" name="Line 21"/>
                <p:cNvSpPr>
                  <a:spLocks noChangeShapeType="1"/>
                </p:cNvSpPr>
                <p:nvPr/>
              </p:nvSpPr>
              <p:spPr bwMode="auto">
                <a:xfrm flipH="1">
                  <a:off x="2858" y="2051"/>
                  <a:ext cx="0" cy="268"/>
                </a:xfrm>
                <a:prstGeom prst="line">
                  <a:avLst/>
                </a:prstGeom>
                <a:noFill/>
                <a:ln w="38100">
                  <a:solidFill>
                    <a:srgbClr val="800000"/>
                  </a:solidFill>
                  <a:round/>
                  <a:headEnd/>
                  <a:tailEnd type="triangl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a14:hiddenEffects>
                  </a:ext>
                  <a:ext uri="{53640926-AAD7-44D8-BBD7-CCE9431645EC}">
                    <a14:shadowObscured xmlns:a14="http://schemas.microsoft.com/office/drawing/2010/main" val="1"/>
                  </a:ext>
                </a:extLst>
              </p:spPr>
              <p:txBody>
                <a:bodyPr lIns="90000" tIns="82800" rIns="90000" bIns="82800">
                  <a:spAutoFit/>
                </a:bodyPr>
                <a:lstStyle/>
                <a:p>
                  <a:endParaRPr lang="en-GB"/>
                </a:p>
              </p:txBody>
            </p:sp>
          </p:grpSp>
          <p:cxnSp>
            <p:nvCxnSpPr>
              <p:cNvPr id="9" name="Conector recto 8"/>
              <p:cNvCxnSpPr/>
              <p:nvPr/>
            </p:nvCxnSpPr>
            <p:spPr bwMode="auto">
              <a:xfrm>
                <a:off x="5660693" y="2781698"/>
                <a:ext cx="473222" cy="0"/>
              </a:xfrm>
              <a:prstGeom prst="line">
                <a:avLst/>
              </a:prstGeom>
              <a:noFill/>
              <a:ln w="2540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</p:cxnSp>
        </p:grpSp>
        <p:cxnSp>
          <p:nvCxnSpPr>
            <p:cNvPr id="139" name="Conector recto 138">
              <a:extLst>
                <a:ext uri="{FF2B5EF4-FFF2-40B4-BE49-F238E27FC236}">
                  <a16:creationId xmlns:a16="http://schemas.microsoft.com/office/drawing/2014/main" id="{94979E85-7E25-4EC5-866A-B269081363D0}"/>
                </a:ext>
              </a:extLst>
            </p:cNvPr>
            <p:cNvCxnSpPr/>
            <p:nvPr/>
          </p:nvCxnSpPr>
          <p:spPr bwMode="auto">
            <a:xfrm>
              <a:off x="5764406" y="1008509"/>
              <a:ext cx="0" cy="2930260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</p:cxnSp>
        <p:grpSp>
          <p:nvGrpSpPr>
            <p:cNvPr id="141" name="Grupo 140">
              <a:extLst>
                <a:ext uri="{FF2B5EF4-FFF2-40B4-BE49-F238E27FC236}">
                  <a16:creationId xmlns:a16="http://schemas.microsoft.com/office/drawing/2014/main" id="{3837DC12-43DB-48EC-A18C-DA873F75008B}"/>
                </a:ext>
              </a:extLst>
            </p:cNvPr>
            <p:cNvGrpSpPr/>
            <p:nvPr/>
          </p:nvGrpSpPr>
          <p:grpSpPr>
            <a:xfrm>
              <a:off x="6992010" y="1340117"/>
              <a:ext cx="1264087" cy="374649"/>
              <a:chOff x="5591610" y="2250065"/>
              <a:chExt cx="1264087" cy="374649"/>
            </a:xfrm>
          </p:grpSpPr>
          <p:grpSp>
            <p:nvGrpSpPr>
              <p:cNvPr id="142" name="Group 22">
                <a:extLst>
                  <a:ext uri="{FF2B5EF4-FFF2-40B4-BE49-F238E27FC236}">
                    <a16:creationId xmlns:a16="http://schemas.microsoft.com/office/drawing/2014/main" id="{D2DF4401-74C2-4020-9E45-5C0F1372CA1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980984" y="2250065"/>
                <a:ext cx="874713" cy="374649"/>
                <a:chOff x="2806" y="1823"/>
                <a:chExt cx="551" cy="236"/>
              </a:xfrm>
            </p:grpSpPr>
            <p:pic>
              <p:nvPicPr>
                <p:cNvPr id="145" name="Picture 23" descr="Image1">
                  <a:extLst>
                    <a:ext uri="{FF2B5EF4-FFF2-40B4-BE49-F238E27FC236}">
                      <a16:creationId xmlns:a16="http://schemas.microsoft.com/office/drawing/2014/main" id="{1D6F48C0-286C-40C2-8C9C-623DCF0972B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06" y="1906"/>
                  <a:ext cx="134" cy="1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46" name="Line 24">
                  <a:extLst>
                    <a:ext uri="{FF2B5EF4-FFF2-40B4-BE49-F238E27FC236}">
                      <a16:creationId xmlns:a16="http://schemas.microsoft.com/office/drawing/2014/main" id="{75A73A94-586C-426F-BC36-B38CB2A593A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65" y="1968"/>
                  <a:ext cx="211" cy="0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triangl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a14:hiddenEffects>
                  </a:ext>
                  <a:ext uri="{53640926-AAD7-44D8-BBD7-CCE9431645EC}">
                    <a14:shadowObscured xmlns:a14="http://schemas.microsoft.com/office/drawing/2010/main" val="1"/>
                  </a:ext>
                </a:extLst>
              </p:spPr>
              <p:txBody>
                <a:bodyPr lIns="90000" tIns="82800" rIns="90000" bIns="82800">
                  <a:spAutoFit/>
                </a:bodyPr>
                <a:lstStyle/>
                <a:p>
                  <a:endParaRPr lang="en-GB"/>
                </a:p>
              </p:txBody>
            </p:sp>
            <p:graphicFrame>
              <p:nvGraphicFramePr>
                <p:cNvPr id="147" name="Object 25">
                  <a:extLst>
                    <a:ext uri="{FF2B5EF4-FFF2-40B4-BE49-F238E27FC236}">
                      <a16:creationId xmlns:a16="http://schemas.microsoft.com/office/drawing/2014/main" id="{57F30AC4-7B11-47C5-ADF9-1177A745F411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188" y="1823"/>
                <a:ext cx="169" cy="23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cuación" r:id="rId16" imgW="126725" imgH="177415" progId="Equation.3">
                        <p:embed/>
                      </p:oleObj>
                    </mc:Choice>
                    <mc:Fallback>
                      <p:oleObj name="Ecuación" r:id="rId16" imgW="126725" imgH="177415" progId="Equation.3">
                        <p:embed/>
                        <p:pic>
                          <p:nvPicPr>
                            <p:cNvPr id="147" name="Object 25">
                              <a:extLst>
                                <a:ext uri="{FF2B5EF4-FFF2-40B4-BE49-F238E27FC236}">
                                  <a16:creationId xmlns:a16="http://schemas.microsoft.com/office/drawing/2014/main" id="{57F30AC4-7B11-47C5-ADF9-1177A745F411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188" y="1823"/>
                              <a:ext cx="169" cy="23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pic>
            <p:nvPicPr>
              <p:cNvPr id="143" name="Picture 23" descr="Image1">
                <a:extLst>
                  <a:ext uri="{FF2B5EF4-FFF2-40B4-BE49-F238E27FC236}">
                    <a16:creationId xmlns:a16="http://schemas.microsoft.com/office/drawing/2014/main" id="{7152931A-2F84-4D1E-B4BA-F75B648FE64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789223" y="2388323"/>
                <a:ext cx="212725" cy="2127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4" name="Picture 23" descr="Image1">
                <a:extLst>
                  <a:ext uri="{FF2B5EF4-FFF2-40B4-BE49-F238E27FC236}">
                    <a16:creationId xmlns:a16="http://schemas.microsoft.com/office/drawing/2014/main" id="{C894CC38-887F-4B49-A762-5A5886F5B3D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591610" y="2398423"/>
                <a:ext cx="212725" cy="2127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48" name="Grupo 147">
              <a:extLst>
                <a:ext uri="{FF2B5EF4-FFF2-40B4-BE49-F238E27FC236}">
                  <a16:creationId xmlns:a16="http://schemas.microsoft.com/office/drawing/2014/main" id="{2852D17D-3F64-44AF-BCF2-405248DD0263}"/>
                </a:ext>
              </a:extLst>
            </p:cNvPr>
            <p:cNvGrpSpPr/>
            <p:nvPr/>
          </p:nvGrpSpPr>
          <p:grpSpPr>
            <a:xfrm>
              <a:off x="7001515" y="994357"/>
              <a:ext cx="587303" cy="226587"/>
              <a:chOff x="5621897" y="1914696"/>
              <a:chExt cx="587303" cy="226587"/>
            </a:xfrm>
          </p:grpSpPr>
          <p:pic>
            <p:nvPicPr>
              <p:cNvPr id="149" name="Imagen 148">
                <a:extLst>
                  <a:ext uri="{FF2B5EF4-FFF2-40B4-BE49-F238E27FC236}">
                    <a16:creationId xmlns:a16="http://schemas.microsoft.com/office/drawing/2014/main" id="{15950380-4491-407C-B614-0CA9E64F30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92512" y="1921626"/>
                <a:ext cx="216688" cy="219657"/>
              </a:xfrm>
              <a:prstGeom prst="rect">
                <a:avLst/>
              </a:prstGeom>
            </p:spPr>
          </p:pic>
          <p:pic>
            <p:nvPicPr>
              <p:cNvPr id="150" name="Imagen 149">
                <a:extLst>
                  <a:ext uri="{FF2B5EF4-FFF2-40B4-BE49-F238E27FC236}">
                    <a16:creationId xmlns:a16="http://schemas.microsoft.com/office/drawing/2014/main" id="{743C48ED-567F-452A-B084-4840EE84F1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22791" y="1918161"/>
                <a:ext cx="216688" cy="219657"/>
              </a:xfrm>
              <a:prstGeom prst="rect">
                <a:avLst/>
              </a:prstGeom>
            </p:spPr>
          </p:pic>
          <p:pic>
            <p:nvPicPr>
              <p:cNvPr id="151" name="Imagen 150">
                <a:extLst>
                  <a:ext uri="{FF2B5EF4-FFF2-40B4-BE49-F238E27FC236}">
                    <a16:creationId xmlns:a16="http://schemas.microsoft.com/office/drawing/2014/main" id="{FD4087A9-7DBF-4FF1-A686-54251F9E7F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621897" y="1914696"/>
                <a:ext cx="216688" cy="219657"/>
              </a:xfrm>
              <a:prstGeom prst="rect">
                <a:avLst/>
              </a:prstGeom>
            </p:spPr>
          </p:pic>
        </p:grpSp>
        <p:sp>
          <p:nvSpPr>
            <p:cNvPr id="153" name="Line 5">
              <a:extLst>
                <a:ext uri="{FF2B5EF4-FFF2-40B4-BE49-F238E27FC236}">
                  <a16:creationId xmlns:a16="http://schemas.microsoft.com/office/drawing/2014/main" id="{A0C18BAC-1120-4D9D-9BC4-473783FEF5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46659" y="1001090"/>
              <a:ext cx="2972791" cy="795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154" name="Line 6">
              <a:extLst>
                <a:ext uri="{FF2B5EF4-FFF2-40B4-BE49-F238E27FC236}">
                  <a16:creationId xmlns:a16="http://schemas.microsoft.com/office/drawing/2014/main" id="{A47D004D-38DC-4AF0-8E5B-23EA0A0DA7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79301" y="1699591"/>
              <a:ext cx="293887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82800" rIns="90000" bIns="82800">
              <a:spAutoFit/>
            </a:bodyPr>
            <a:lstStyle/>
            <a:p>
              <a:endParaRPr lang="en-GB"/>
            </a:p>
          </p:txBody>
        </p:sp>
      </p:grpSp>
      <p:grpSp>
        <p:nvGrpSpPr>
          <p:cNvPr id="156" name="Grupo 155">
            <a:extLst>
              <a:ext uri="{FF2B5EF4-FFF2-40B4-BE49-F238E27FC236}">
                <a16:creationId xmlns:a16="http://schemas.microsoft.com/office/drawing/2014/main" id="{F554FE78-2C86-4DC1-8A7B-3C15FA611F51}"/>
              </a:ext>
            </a:extLst>
          </p:cNvPr>
          <p:cNvGrpSpPr/>
          <p:nvPr/>
        </p:nvGrpSpPr>
        <p:grpSpPr>
          <a:xfrm>
            <a:off x="4073101" y="1441389"/>
            <a:ext cx="1450046" cy="1195675"/>
            <a:chOff x="8837872" y="2322595"/>
            <a:chExt cx="1450046" cy="1195675"/>
          </a:xfrm>
        </p:grpSpPr>
        <p:grpSp>
          <p:nvGrpSpPr>
            <p:cNvPr id="157" name="Grupo 156">
              <a:extLst>
                <a:ext uri="{FF2B5EF4-FFF2-40B4-BE49-F238E27FC236}">
                  <a16:creationId xmlns:a16="http://schemas.microsoft.com/office/drawing/2014/main" id="{1A58C046-5EC3-4141-889E-AD5ECC0D87C6}"/>
                </a:ext>
              </a:extLst>
            </p:cNvPr>
            <p:cNvGrpSpPr/>
            <p:nvPr/>
          </p:nvGrpSpPr>
          <p:grpSpPr>
            <a:xfrm>
              <a:off x="9384630" y="2395362"/>
              <a:ext cx="903288" cy="1122908"/>
              <a:chOff x="9513892" y="2200389"/>
              <a:chExt cx="903288" cy="1122908"/>
            </a:xfrm>
          </p:grpSpPr>
          <p:pic>
            <p:nvPicPr>
              <p:cNvPr id="159" name="Picture 27" descr="Image1">
                <a:extLst>
                  <a:ext uri="{FF2B5EF4-FFF2-40B4-BE49-F238E27FC236}">
                    <a16:creationId xmlns:a16="http://schemas.microsoft.com/office/drawing/2014/main" id="{EBB2F66F-7A13-4DA2-94E2-82DA6B186C3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513892" y="2294051"/>
                <a:ext cx="212725" cy="212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60" name="Line 28">
                <a:extLst>
                  <a:ext uri="{FF2B5EF4-FFF2-40B4-BE49-F238E27FC236}">
                    <a16:creationId xmlns:a16="http://schemas.microsoft.com/office/drawing/2014/main" id="{1AB9FAF8-2586-47B9-B76D-9CBF14124E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618667" y="2495664"/>
                <a:ext cx="0" cy="425451"/>
              </a:xfrm>
              <a:prstGeom prst="line">
                <a:avLst/>
              </a:prstGeom>
              <a:noFill/>
              <a:ln w="38100">
                <a:solidFill>
                  <a:srgbClr val="800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161" name="Line 29">
                <a:extLst>
                  <a:ext uri="{FF2B5EF4-FFF2-40B4-BE49-F238E27FC236}">
                    <a16:creationId xmlns:a16="http://schemas.microsoft.com/office/drawing/2014/main" id="{0287719A-6DE0-4B59-9FD0-28DEA7B755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794880" y="2386127"/>
                <a:ext cx="334963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/>
              </a:p>
            </p:txBody>
          </p:sp>
          <p:graphicFrame>
            <p:nvGraphicFramePr>
              <p:cNvPr id="162" name="Object 30">
                <a:extLst>
                  <a:ext uri="{FF2B5EF4-FFF2-40B4-BE49-F238E27FC236}">
                    <a16:creationId xmlns:a16="http://schemas.microsoft.com/office/drawing/2014/main" id="{07BD8000-3169-4337-8267-BCDDC81C75E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0148892" y="2200389"/>
              <a:ext cx="268288" cy="3762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16" imgW="126725" imgH="177415" progId="Equation.3">
                      <p:embed/>
                    </p:oleObj>
                  </mc:Choice>
                  <mc:Fallback>
                    <p:oleObj name="Ecuación" r:id="rId16" imgW="126725" imgH="177415" progId="Equation.3">
                      <p:embed/>
                      <p:pic>
                        <p:nvPicPr>
                          <p:cNvPr id="162" name="Object 30">
                            <a:extLst>
                              <a:ext uri="{FF2B5EF4-FFF2-40B4-BE49-F238E27FC236}">
                                <a16:creationId xmlns:a16="http://schemas.microsoft.com/office/drawing/2014/main" id="{07BD8000-3169-4337-8267-BCDDC81C75E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148892" y="2200389"/>
                            <a:ext cx="268288" cy="3762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3" name="Object 32">
                <a:extLst>
                  <a:ext uri="{FF2B5EF4-FFF2-40B4-BE49-F238E27FC236}">
                    <a16:creationId xmlns:a16="http://schemas.microsoft.com/office/drawing/2014/main" id="{952EAEBA-70DC-421A-8AB9-2BBAF4F8729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9719957" y="2766084"/>
              <a:ext cx="501650" cy="5572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19" imgW="241200" imgH="266400" progId="Equation.3">
                      <p:embed/>
                    </p:oleObj>
                  </mc:Choice>
                  <mc:Fallback>
                    <p:oleObj name="Ecuación" r:id="rId19" imgW="241200" imgH="266400" progId="Equation.3">
                      <p:embed/>
                      <p:pic>
                        <p:nvPicPr>
                          <p:cNvPr id="163" name="Object 32">
                            <a:extLst>
                              <a:ext uri="{FF2B5EF4-FFF2-40B4-BE49-F238E27FC236}">
                                <a16:creationId xmlns:a16="http://schemas.microsoft.com/office/drawing/2014/main" id="{952EAEBA-70DC-421A-8AB9-2BBAF4F87299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719957" y="2766084"/>
                            <a:ext cx="501650" cy="55721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58" name="CuadroTexto 157">
              <a:extLst>
                <a:ext uri="{FF2B5EF4-FFF2-40B4-BE49-F238E27FC236}">
                  <a16:creationId xmlns:a16="http://schemas.microsoft.com/office/drawing/2014/main" id="{7E59692E-8276-4D95-958B-EB40F57369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37872" y="2322595"/>
              <a:ext cx="52770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s-ES" sz="2400" dirty="0" err="1">
                  <a:solidFill>
                    <a:schemeClr val="tx1"/>
                  </a:solidFill>
                </a:rPr>
                <a:t>dq</a:t>
              </a:r>
              <a:endParaRPr lang="es-ES" sz="2400" dirty="0">
                <a:solidFill>
                  <a:schemeClr val="tx1"/>
                </a:solidFill>
              </a:endParaRPr>
            </a:p>
          </p:txBody>
        </p:sp>
      </p:grpSp>
      <p:sp>
        <p:nvSpPr>
          <p:cNvPr id="87" name="Text Box 75">
            <a:extLst>
              <a:ext uri="{FF2B5EF4-FFF2-40B4-BE49-F238E27FC236}">
                <a16:creationId xmlns:a16="http://schemas.microsoft.com/office/drawing/2014/main" id="{2D31CFDD-5B84-42EF-B7B0-54170480E4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9654" y="693547"/>
            <a:ext cx="2049257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>
                <a:solidFill>
                  <a:schemeClr val="tx1"/>
                </a:solidFill>
              </a:rPr>
              <a:t>No desviados</a:t>
            </a:r>
            <a:endParaRPr lang="es-ES" sz="2400" dirty="0">
              <a:solidFill>
                <a:schemeClr val="tx1"/>
              </a:solidFill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2ED09556-F755-F08F-8A8A-6D016F7C903A}"/>
              </a:ext>
            </a:extLst>
          </p:cNvPr>
          <p:cNvCxnSpPr/>
          <p:nvPr/>
        </p:nvCxnSpPr>
        <p:spPr bwMode="auto">
          <a:xfrm flipH="1">
            <a:off x="6087513" y="3258809"/>
            <a:ext cx="744905" cy="0"/>
          </a:xfrm>
          <a:prstGeom prst="line">
            <a:avLst/>
          </a:prstGeom>
          <a:noFill/>
          <a:ln w="25400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sp>
        <p:nvSpPr>
          <p:cNvPr id="105" name="Rectangle 52">
            <a:extLst>
              <a:ext uri="{FF2B5EF4-FFF2-40B4-BE49-F238E27FC236}">
                <a16:creationId xmlns:a16="http://schemas.microsoft.com/office/drawing/2014/main" id="{055F0A94-52D6-4988-9226-C066203CBC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9977" y="1067230"/>
            <a:ext cx="2079616" cy="1770552"/>
          </a:xfrm>
          <a:prstGeom prst="rect">
            <a:avLst/>
          </a:prstGeom>
          <a:noFill/>
          <a:ln w="31750" algn="ctr">
            <a:solidFill>
              <a:srgbClr val="808000"/>
            </a:solidFill>
            <a:prstDash val="dash"/>
            <a:miter lim="800000"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 anchor="ctr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674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  <p:bldP spid="10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roup 3"/>
          <p:cNvGrpSpPr>
            <a:grpSpLocks/>
          </p:cNvGrpSpPr>
          <p:nvPr/>
        </p:nvGrpSpPr>
        <p:grpSpPr bwMode="auto">
          <a:xfrm>
            <a:off x="1444637" y="1339419"/>
            <a:ext cx="1465119" cy="698500"/>
            <a:chOff x="1362" y="1593"/>
            <a:chExt cx="5139" cy="440"/>
          </a:xfrm>
        </p:grpSpPr>
        <p:sp>
          <p:nvSpPr>
            <p:cNvPr id="71" name="Rectangle 4"/>
            <p:cNvSpPr>
              <a:spLocks noChangeArrowheads="1"/>
            </p:cNvSpPr>
            <p:nvPr/>
          </p:nvSpPr>
          <p:spPr bwMode="auto">
            <a:xfrm>
              <a:off x="1362" y="1594"/>
              <a:ext cx="5132" cy="438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82800" rIns="90000" bIns="82800" anchor="ctr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/>
            </a:p>
          </p:txBody>
        </p:sp>
        <p:sp>
          <p:nvSpPr>
            <p:cNvPr id="72" name="Line 5"/>
            <p:cNvSpPr>
              <a:spLocks noChangeShapeType="1"/>
            </p:cNvSpPr>
            <p:nvPr/>
          </p:nvSpPr>
          <p:spPr bwMode="auto">
            <a:xfrm>
              <a:off x="1364" y="1593"/>
              <a:ext cx="51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73" name="Line 6"/>
            <p:cNvSpPr>
              <a:spLocks noChangeShapeType="1"/>
            </p:cNvSpPr>
            <p:nvPr/>
          </p:nvSpPr>
          <p:spPr bwMode="auto">
            <a:xfrm flipV="1">
              <a:off x="1364" y="2033"/>
              <a:ext cx="51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</p:grpSp>
      <p:sp>
        <p:nvSpPr>
          <p:cNvPr id="76" name="Rectangle 52"/>
          <p:cNvSpPr>
            <a:spLocks noChangeArrowheads="1"/>
          </p:cNvSpPr>
          <p:nvPr/>
        </p:nvSpPr>
        <p:spPr bwMode="auto">
          <a:xfrm>
            <a:off x="1812751" y="1274886"/>
            <a:ext cx="728892" cy="825976"/>
          </a:xfrm>
          <a:prstGeom prst="rect">
            <a:avLst/>
          </a:prstGeom>
          <a:noFill/>
          <a:ln w="31750" algn="ctr">
            <a:solidFill>
              <a:schemeClr val="tx2">
                <a:lumMod val="75000"/>
                <a:lumOff val="25000"/>
              </a:schemeClr>
            </a:solidFill>
            <a:prstDash val="dash"/>
            <a:miter lim="800000"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 anchor="ctr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/>
          </a:p>
        </p:txBody>
      </p:sp>
      <p:grpSp>
        <p:nvGrpSpPr>
          <p:cNvPr id="14" name="Grupo 13"/>
          <p:cNvGrpSpPr/>
          <p:nvPr/>
        </p:nvGrpSpPr>
        <p:grpSpPr>
          <a:xfrm>
            <a:off x="1879614" y="1841639"/>
            <a:ext cx="602096" cy="229326"/>
            <a:chOff x="5591610" y="2381821"/>
            <a:chExt cx="602096" cy="229326"/>
          </a:xfrm>
        </p:grpSpPr>
        <p:pic>
          <p:nvPicPr>
            <p:cNvPr id="17467" name="Picture 23" descr="Image1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80981" y="2381821"/>
              <a:ext cx="212725" cy="2127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8" name="Picture 23" descr="Image1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89223" y="2388323"/>
              <a:ext cx="212725" cy="2127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9" name="Picture 23" descr="Image1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91610" y="2398423"/>
              <a:ext cx="212725" cy="2127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5" name="Grupo 14"/>
          <p:cNvGrpSpPr/>
          <p:nvPr/>
        </p:nvGrpSpPr>
        <p:grpSpPr>
          <a:xfrm>
            <a:off x="1889119" y="1333979"/>
            <a:ext cx="587303" cy="226587"/>
            <a:chOff x="5621897" y="1884552"/>
            <a:chExt cx="587303" cy="226587"/>
          </a:xfrm>
        </p:grpSpPr>
        <p:pic>
          <p:nvPicPr>
            <p:cNvPr id="13" name="Imagen 1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92512" y="1891482"/>
              <a:ext cx="216688" cy="219657"/>
            </a:xfrm>
            <a:prstGeom prst="rect">
              <a:avLst/>
            </a:prstGeom>
          </p:spPr>
        </p:pic>
        <p:pic>
          <p:nvPicPr>
            <p:cNvPr id="92" name="Imagen 9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22791" y="1888017"/>
              <a:ext cx="216688" cy="219657"/>
            </a:xfrm>
            <a:prstGeom prst="rect">
              <a:avLst/>
            </a:prstGeom>
          </p:spPr>
        </p:pic>
        <p:pic>
          <p:nvPicPr>
            <p:cNvPr id="93" name="Imagen 9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21897" y="1884552"/>
              <a:ext cx="216688" cy="219657"/>
            </a:xfrm>
            <a:prstGeom prst="rect">
              <a:avLst/>
            </a:prstGeom>
          </p:spPr>
        </p:pic>
      </p:grpSp>
      <p:grpSp>
        <p:nvGrpSpPr>
          <p:cNvPr id="101" name="Group 47"/>
          <p:cNvGrpSpPr>
            <a:grpSpLocks/>
          </p:cNvGrpSpPr>
          <p:nvPr/>
        </p:nvGrpSpPr>
        <p:grpSpPr bwMode="auto">
          <a:xfrm>
            <a:off x="2178809" y="439196"/>
            <a:ext cx="965200" cy="831850"/>
            <a:chOff x="3390" y="702"/>
            <a:chExt cx="608" cy="524"/>
          </a:xfrm>
        </p:grpSpPr>
        <p:sp>
          <p:nvSpPr>
            <p:cNvPr id="102" name="Line 48"/>
            <p:cNvSpPr>
              <a:spLocks noChangeShapeType="1"/>
            </p:cNvSpPr>
            <p:nvPr/>
          </p:nvSpPr>
          <p:spPr bwMode="auto">
            <a:xfrm flipH="1" flipV="1">
              <a:off x="3390" y="702"/>
              <a:ext cx="0" cy="524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graphicFrame>
          <p:nvGraphicFramePr>
            <p:cNvPr id="103" name="Object 4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31209729"/>
                </p:ext>
              </p:extLst>
            </p:nvPr>
          </p:nvGraphicFramePr>
          <p:xfrm>
            <a:off x="3401" y="813"/>
            <a:ext cx="597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457200" imgH="241200" progId="Equation.3">
                    <p:embed/>
                  </p:oleObj>
                </mc:Choice>
                <mc:Fallback>
                  <p:oleObj name="Ecuación" r:id="rId5" imgW="457200" imgH="241200" progId="Equation.3">
                    <p:embed/>
                    <p:pic>
                      <p:nvPicPr>
                        <p:cNvPr id="103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1" y="813"/>
                          <a:ext cx="597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Object 38"/>
              <p:cNvSpPr txBox="1"/>
              <p:nvPr/>
            </p:nvSpPr>
            <p:spPr bwMode="auto">
              <a:xfrm>
                <a:off x="3909934" y="3275544"/>
                <a:ext cx="2943791" cy="6000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s-E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s-ES" sz="24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s-E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conductor</m:t>
                          </m:r>
                        </m:sub>
                      </m:sSub>
                      <m:r>
                        <a:rPr lang="es-E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= 4 </m:t>
                      </m:r>
                      <m:r>
                        <m:rPr>
                          <m:sty m:val="p"/>
                        </m:rPr>
                        <a:rPr lang="es-E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sSub>
                        <m:sSubPr>
                          <m:ctrlPr>
                            <a:rPr lang="es-E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s-E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s-ES" sz="2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e>
                          </m:acc>
                        </m:e>
                        <m:sub>
                          <m:acc>
                            <m:accPr>
                              <m:chr m:val="⃗"/>
                              <m:ctrlPr>
                                <a:rPr lang="es-E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s-ES" sz="2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</m:acc>
                        </m:sub>
                      </m:sSub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74" name="Object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09934" y="3275544"/>
                <a:ext cx="2943791" cy="6000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Line 64"/>
          <p:cNvSpPr>
            <a:spLocks noChangeShapeType="1"/>
          </p:cNvSpPr>
          <p:nvPr/>
        </p:nvSpPr>
        <p:spPr bwMode="auto">
          <a:xfrm flipH="1">
            <a:off x="3912525" y="2864272"/>
            <a:ext cx="0" cy="831850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0000" tIns="82800" rIns="90000" bIns="82800">
            <a:spAutoFit/>
          </a:bodyPr>
          <a:lstStyle/>
          <a:p>
            <a:endParaRPr lang="en-GB"/>
          </a:p>
        </p:txBody>
      </p:sp>
      <p:grpSp>
        <p:nvGrpSpPr>
          <p:cNvPr id="20" name="Grupo 19"/>
          <p:cNvGrpSpPr/>
          <p:nvPr/>
        </p:nvGrpSpPr>
        <p:grpSpPr>
          <a:xfrm>
            <a:off x="1316232" y="2091018"/>
            <a:ext cx="860965" cy="831850"/>
            <a:chOff x="5028228" y="3209402"/>
            <a:chExt cx="860965" cy="831850"/>
          </a:xfrm>
        </p:grpSpPr>
        <p:graphicFrame>
          <p:nvGraphicFramePr>
            <p:cNvPr id="99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70508675"/>
                </p:ext>
              </p:extLst>
            </p:nvPr>
          </p:nvGraphicFramePr>
          <p:xfrm>
            <a:off x="5028228" y="3406673"/>
            <a:ext cx="741362" cy="557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8" imgW="355320" imgH="266400" progId="Equation.3">
                    <p:embed/>
                  </p:oleObj>
                </mc:Choice>
                <mc:Fallback>
                  <p:oleObj name="Ecuación" r:id="rId8" imgW="355320" imgH="266400" progId="Equation.3">
                    <p:embed/>
                    <p:pic>
                      <p:nvPicPr>
                        <p:cNvPr id="99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28228" y="3406673"/>
                          <a:ext cx="741362" cy="557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5" name="Line 64"/>
            <p:cNvSpPr>
              <a:spLocks noChangeShapeType="1"/>
            </p:cNvSpPr>
            <p:nvPr/>
          </p:nvSpPr>
          <p:spPr bwMode="auto">
            <a:xfrm flipH="1">
              <a:off x="5889193" y="3209402"/>
              <a:ext cx="0" cy="831850"/>
            </a:xfrm>
            <a:prstGeom prst="line">
              <a:avLst/>
            </a:prstGeom>
            <a:noFill/>
            <a:ln w="38100">
              <a:solidFill>
                <a:schemeClr val="tx2">
                  <a:lumMod val="75000"/>
                  <a:lumOff val="25000"/>
                </a:schemeClr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</p:grpSp>
      <p:sp>
        <p:nvSpPr>
          <p:cNvPr id="94" name="Text Box 59"/>
          <p:cNvSpPr txBox="1">
            <a:spLocks noChangeArrowheads="1"/>
          </p:cNvSpPr>
          <p:nvPr/>
        </p:nvSpPr>
        <p:spPr bwMode="auto">
          <a:xfrm>
            <a:off x="1316233" y="4113242"/>
            <a:ext cx="6663110" cy="127521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 anchor="ctr" anchorCtr="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>
                <a:solidFill>
                  <a:srgbClr val="000000"/>
                </a:solidFill>
              </a:rPr>
              <a:t>Considerando todos los portadores, no sólo 4, y </a:t>
            </a:r>
            <a:r>
              <a:rPr lang="es-ES" sz="2400" dirty="0">
                <a:solidFill>
                  <a:srgbClr val="000000"/>
                </a:solidFill>
              </a:rPr>
              <a:t>el carácter vectorial de </a:t>
            </a:r>
            <a:r>
              <a:rPr lang="es-ES" sz="2400">
                <a:solidFill>
                  <a:srgbClr val="000000"/>
                </a:solidFill>
              </a:rPr>
              <a:t>las fuerzas, que puedan no ser paralelas, se tiene que:</a:t>
            </a:r>
            <a:endParaRPr lang="es-ES" sz="2400" dirty="0">
              <a:solidFill>
                <a:srgbClr val="000000"/>
              </a:solidFill>
            </a:endParaRPr>
          </a:p>
        </p:txBody>
      </p:sp>
      <p:sp>
        <p:nvSpPr>
          <p:cNvPr id="100" name="Text Box 54"/>
          <p:cNvSpPr txBox="1">
            <a:spLocks noChangeArrowheads="1"/>
          </p:cNvSpPr>
          <p:nvPr/>
        </p:nvSpPr>
        <p:spPr bwMode="auto">
          <a:xfrm>
            <a:off x="5240487" y="1760508"/>
            <a:ext cx="5129412" cy="127521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Atendiendo a la </a:t>
            </a:r>
            <a:r>
              <a:rPr lang="es-ES" sz="2400">
                <a:solidFill>
                  <a:srgbClr val="3333FF"/>
                </a:solidFill>
                <a:sym typeface="Symbol" panose="05050102010706020507" pitchFamily="18" charset="2"/>
              </a:rPr>
              <a:t>3ª Ley de Newton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</a:p>
          <a:p>
            <a:pPr algn="ctr" eaLnBrk="1" hangingPunct="1"/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el conductor sufre una fuerza igual</a:t>
            </a:r>
          </a:p>
          <a:p>
            <a:pPr algn="ctr" eaLnBrk="1" hangingPunct="1"/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y opuesta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ejercida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por los excesos</a:t>
            </a:r>
            <a:endParaRPr lang="es-ES" sz="24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98" name="Text Box 75"/>
          <p:cNvSpPr txBox="1">
            <a:spLocks noChangeArrowheads="1"/>
          </p:cNvSpPr>
          <p:nvPr/>
        </p:nvSpPr>
        <p:spPr bwMode="auto">
          <a:xfrm>
            <a:off x="6670338" y="3298855"/>
            <a:ext cx="3764470" cy="782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>
                <a:solidFill>
                  <a:srgbClr val="3333FF"/>
                </a:solidFill>
              </a:rPr>
              <a:t>= 4 veces la </a:t>
            </a:r>
            <a:r>
              <a:rPr lang="es-ES" sz="2400" b="1">
                <a:solidFill>
                  <a:srgbClr val="3333FF"/>
                </a:solidFill>
              </a:rPr>
              <a:t>F</a:t>
            </a:r>
            <a:r>
              <a:rPr lang="es-ES" sz="2400" baseline="-25000">
                <a:solidFill>
                  <a:srgbClr val="3333FF"/>
                </a:solidFill>
              </a:rPr>
              <a:t>magnética</a:t>
            </a:r>
          </a:p>
          <a:p>
            <a:pPr eaLnBrk="1" hangingPunct="1">
              <a:spcBef>
                <a:spcPts val="0"/>
              </a:spcBef>
            </a:pPr>
            <a:r>
              <a:rPr lang="es-ES" sz="2400" baseline="-25000">
                <a:solidFill>
                  <a:srgbClr val="3333FF"/>
                </a:solidFill>
              </a:rPr>
              <a:t>                                  sobre un portador</a:t>
            </a:r>
            <a:endParaRPr lang="es-ES" sz="2400" baseline="-25000" dirty="0">
              <a:solidFill>
                <a:srgbClr val="3333FF"/>
              </a:solidFill>
            </a:endParaRPr>
          </a:p>
        </p:txBody>
      </p:sp>
      <p:grpSp>
        <p:nvGrpSpPr>
          <p:cNvPr id="17411" name="Group 3"/>
          <p:cNvGrpSpPr>
            <a:grpSpLocks/>
          </p:cNvGrpSpPr>
          <p:nvPr/>
        </p:nvGrpSpPr>
        <p:grpSpPr bwMode="auto">
          <a:xfrm>
            <a:off x="3248341" y="2158435"/>
            <a:ext cx="1465119" cy="698500"/>
            <a:chOff x="1362" y="1593"/>
            <a:chExt cx="5139" cy="440"/>
          </a:xfrm>
        </p:grpSpPr>
        <p:sp>
          <p:nvSpPr>
            <p:cNvPr id="17475" name="Rectangle 4"/>
            <p:cNvSpPr>
              <a:spLocks noChangeArrowheads="1"/>
            </p:cNvSpPr>
            <p:nvPr/>
          </p:nvSpPr>
          <p:spPr bwMode="auto">
            <a:xfrm>
              <a:off x="1362" y="1594"/>
              <a:ext cx="5132" cy="438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82800" rIns="90000" bIns="82800" anchor="ctr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/>
            </a:p>
          </p:txBody>
        </p:sp>
        <p:sp>
          <p:nvSpPr>
            <p:cNvPr id="17476" name="Line 5"/>
            <p:cNvSpPr>
              <a:spLocks noChangeShapeType="1"/>
            </p:cNvSpPr>
            <p:nvPr/>
          </p:nvSpPr>
          <p:spPr bwMode="auto">
            <a:xfrm>
              <a:off x="1364" y="1593"/>
              <a:ext cx="51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17477" name="Line 6"/>
            <p:cNvSpPr>
              <a:spLocks noChangeShapeType="1"/>
            </p:cNvSpPr>
            <p:nvPr/>
          </p:nvSpPr>
          <p:spPr bwMode="auto">
            <a:xfrm flipV="1">
              <a:off x="1364" y="2033"/>
              <a:ext cx="51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</p:grpSp>
      <p:sp>
        <p:nvSpPr>
          <p:cNvPr id="43" name="Text Box 54">
            <a:extLst>
              <a:ext uri="{FF2B5EF4-FFF2-40B4-BE49-F238E27FC236}">
                <a16:creationId xmlns:a16="http://schemas.microsoft.com/office/drawing/2014/main" id="{4813C328-89BA-4590-9CBE-B54BC33FC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7005" y="322799"/>
            <a:ext cx="6882894" cy="127521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Los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excesos de carga que generan </a:t>
            </a:r>
            <a:r>
              <a:rPr lang="es-ES" sz="2400" b="1">
                <a:solidFill>
                  <a:schemeClr val="tx1"/>
                </a:solidFill>
                <a:sym typeface="Symbol" panose="05050102010706020507" pitchFamily="18" charset="2"/>
              </a:rPr>
              <a:t>E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 sufren</a:t>
            </a:r>
          </a:p>
          <a:p>
            <a:pPr algn="ctr" eaLnBrk="1" hangingPunct="1"/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una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fuerza por parte del conductor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igual y</a:t>
            </a:r>
          </a:p>
          <a:p>
            <a:pPr algn="ctr" eaLnBrk="1" hangingPunct="1"/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opuesta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a la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que sufren,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que evita que escapen</a:t>
            </a:r>
          </a:p>
        </p:txBody>
      </p:sp>
      <p:sp>
        <p:nvSpPr>
          <p:cNvPr id="51" name="Text Box 59">
            <a:extLst>
              <a:ext uri="{FF2B5EF4-FFF2-40B4-BE49-F238E27FC236}">
                <a16:creationId xmlns:a16="http://schemas.microsoft.com/office/drawing/2014/main" id="{CFC0211D-CCCF-4AF5-97E8-877CB9E3D1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8126" y="5482035"/>
            <a:ext cx="8684417" cy="16445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 dirty="0">
                <a:solidFill>
                  <a:srgbClr val="000000"/>
                </a:solidFill>
                <a:sym typeface="Symbol" panose="05050102010706020507" pitchFamily="18" charset="2"/>
              </a:rPr>
              <a:t>La </a:t>
            </a:r>
            <a:r>
              <a:rPr lang="es-ES" sz="2400">
                <a:solidFill>
                  <a:srgbClr val="000000"/>
                </a:solidFill>
                <a:sym typeface="Symbol" panose="05050102010706020507" pitchFamily="18" charset="2"/>
              </a:rPr>
              <a:t>fuerza que sufre un conductor por el que circula corriente por estar sometido a un campo magnético es </a:t>
            </a:r>
            <a:r>
              <a:rPr lang="es-ES" sz="2400" dirty="0">
                <a:solidFill>
                  <a:srgbClr val="000000"/>
                </a:solidFill>
                <a:sym typeface="Symbol" panose="05050102010706020507" pitchFamily="18" charset="2"/>
              </a:rPr>
              <a:t>igual a la suma vectorial de la fuerza magnética ejercida sobre cada </a:t>
            </a:r>
            <a:r>
              <a:rPr lang="es-ES" sz="2400">
                <a:solidFill>
                  <a:srgbClr val="000000"/>
                </a:solidFill>
                <a:sym typeface="Symbol" panose="05050102010706020507" pitchFamily="18" charset="2"/>
              </a:rPr>
              <a:t>uno de los </a:t>
            </a:r>
            <a:r>
              <a:rPr lang="es-ES" sz="2400" dirty="0">
                <a:solidFill>
                  <a:srgbClr val="000000"/>
                </a:solidFill>
                <a:sym typeface="Symbol" panose="05050102010706020507" pitchFamily="18" charset="2"/>
              </a:rPr>
              <a:t>portadores </a:t>
            </a:r>
            <a:r>
              <a:rPr lang="es-ES" sz="2400">
                <a:solidFill>
                  <a:srgbClr val="000000"/>
                </a:solidFill>
                <a:sym typeface="Symbol" panose="05050102010706020507" pitchFamily="18" charset="2"/>
              </a:rPr>
              <a:t>de carga </a:t>
            </a:r>
            <a:r>
              <a:rPr lang="es-ES" sz="2400" dirty="0">
                <a:solidFill>
                  <a:srgbClr val="000000"/>
                </a:solidFill>
                <a:sym typeface="Symbol" panose="05050102010706020507" pitchFamily="18" charset="2"/>
              </a:rPr>
              <a:t>de </a:t>
            </a:r>
            <a:r>
              <a:rPr lang="es-ES" sz="2400">
                <a:solidFill>
                  <a:srgbClr val="000000"/>
                </a:solidFill>
                <a:sym typeface="Symbol" panose="05050102010706020507" pitchFamily="18" charset="2"/>
              </a:rPr>
              <a:t>la corriente</a:t>
            </a:r>
            <a:endParaRPr lang="es-ES" sz="2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564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/>
      <p:bldP spid="79" grpId="0" animBg="1"/>
      <p:bldP spid="94" grpId="0" animBg="1"/>
      <p:bldP spid="100" grpId="0" animBg="1"/>
      <p:bldP spid="98" grpId="0"/>
      <p:bldP spid="43" grpId="0" animBg="1"/>
      <p:bldP spid="5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 Box 18"/>
          <p:cNvSpPr txBox="1">
            <a:spLocks noChangeArrowheads="1"/>
          </p:cNvSpPr>
          <p:nvPr/>
        </p:nvSpPr>
        <p:spPr bwMode="auto">
          <a:xfrm>
            <a:off x="5768642" y="5757864"/>
            <a:ext cx="3265960" cy="737195"/>
          </a:xfrm>
          <a:prstGeom prst="rect">
            <a:avLst/>
          </a:prstGeom>
          <a:solidFill>
            <a:srgbClr val="6666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26000" tIns="118800" rIns="126000" bIns="118800" anchor="ctr" anchorCtr="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 b="1">
                <a:solidFill>
                  <a:srgbClr val="FFFFFF"/>
                </a:solidFill>
              </a:rPr>
              <a:t>LEY DE LAPLACE</a:t>
            </a:r>
          </a:p>
        </p:txBody>
      </p:sp>
      <p:grpSp>
        <p:nvGrpSpPr>
          <p:cNvPr id="28" name="Group 69">
            <a:extLst>
              <a:ext uri="{FF2B5EF4-FFF2-40B4-BE49-F238E27FC236}">
                <a16:creationId xmlns:a16="http://schemas.microsoft.com/office/drawing/2014/main" id="{0A753ADF-5DD8-458B-B027-A771CE7F2987}"/>
              </a:ext>
            </a:extLst>
          </p:cNvPr>
          <p:cNvGrpSpPr>
            <a:grpSpLocks/>
          </p:cNvGrpSpPr>
          <p:nvPr/>
        </p:nvGrpSpPr>
        <p:grpSpPr bwMode="auto">
          <a:xfrm>
            <a:off x="5765111" y="4441938"/>
            <a:ext cx="2385378" cy="1198050"/>
            <a:chOff x="1496" y="1035"/>
            <a:chExt cx="1366" cy="567"/>
          </a:xfrm>
        </p:grpSpPr>
        <p:sp>
          <p:nvSpPr>
            <p:cNvPr id="29" name="Rectangle 3">
              <a:extLst>
                <a:ext uri="{FF2B5EF4-FFF2-40B4-BE49-F238E27FC236}">
                  <a16:creationId xmlns:a16="http://schemas.microsoft.com/office/drawing/2014/main" id="{54B76FF3-2526-4954-9821-DF28927EE6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6" y="1035"/>
              <a:ext cx="1366" cy="56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 anchor="ctr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/>
            </a:p>
          </p:txBody>
        </p:sp>
        <p:graphicFrame>
          <p:nvGraphicFramePr>
            <p:cNvPr id="30" name="Object 38">
              <a:extLst>
                <a:ext uri="{FF2B5EF4-FFF2-40B4-BE49-F238E27FC236}">
                  <a16:creationId xmlns:a16="http://schemas.microsoft.com/office/drawing/2014/main" id="{EE63F99F-D6D6-4AA1-9B5C-6FF0674EEC9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64" y="1160"/>
            <a:ext cx="1197" cy="3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888614" imgH="266584" progId="Equation.3">
                    <p:embed/>
                  </p:oleObj>
                </mc:Choice>
                <mc:Fallback>
                  <p:oleObj name="Ecuación" r:id="rId3" imgW="888614" imgH="266584" progId="Equation.3">
                    <p:embed/>
                    <p:pic>
                      <p:nvPicPr>
                        <p:cNvPr id="30" name="Object 38">
                          <a:extLst>
                            <a:ext uri="{FF2B5EF4-FFF2-40B4-BE49-F238E27FC236}">
                              <a16:creationId xmlns:a16="http://schemas.microsoft.com/office/drawing/2014/main" id="{EE63F99F-D6D6-4AA1-9B5C-6FF0674EEC9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64" y="1160"/>
                          <a:ext cx="1197" cy="3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" name="Text Box 39">
              <a:extLst>
                <a:ext uri="{FF2B5EF4-FFF2-40B4-BE49-F238E27FC236}">
                  <a16:creationId xmlns:a16="http://schemas.microsoft.com/office/drawing/2014/main" id="{1ABA75E1-E63C-4570-A5E2-F299DCDFB1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8" y="1176"/>
              <a:ext cx="248" cy="3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3600">
                  <a:solidFill>
                    <a:srgbClr val="000000"/>
                  </a:solidFill>
                  <a:latin typeface="Comic Sans MS" panose="030F0702030302020204" pitchFamily="66" charset="0"/>
                </a:rPr>
                <a:t>I</a:t>
              </a:r>
            </a:p>
          </p:txBody>
        </p:sp>
      </p:grpSp>
      <p:sp>
        <p:nvSpPr>
          <p:cNvPr id="32" name="Text Box 37">
            <a:extLst>
              <a:ext uri="{FF2B5EF4-FFF2-40B4-BE49-F238E27FC236}">
                <a16:creationId xmlns:a16="http://schemas.microsoft.com/office/drawing/2014/main" id="{97F5317A-A6DA-47F3-8682-C48FA0F0A7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9997" y="469205"/>
            <a:ext cx="3322632" cy="53654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s-ES" sz="2400">
                <a:solidFill>
                  <a:srgbClr val="000000"/>
                </a:solidFill>
              </a:rPr>
              <a:t>Situación más simple:</a:t>
            </a:r>
            <a:endParaRPr lang="es-ES" sz="2400" dirty="0">
              <a:solidFill>
                <a:srgbClr val="000000"/>
              </a:solidFill>
            </a:endParaRPr>
          </a:p>
        </p:txBody>
      </p:sp>
      <p:sp>
        <p:nvSpPr>
          <p:cNvPr id="33" name="Text Box 11">
            <a:extLst>
              <a:ext uri="{FF2B5EF4-FFF2-40B4-BE49-F238E27FC236}">
                <a16:creationId xmlns:a16="http://schemas.microsoft.com/office/drawing/2014/main" id="{C2E78FFA-7411-4D17-B740-E133E679CA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5703" y="1446292"/>
            <a:ext cx="4020680" cy="53654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>
                <a:solidFill>
                  <a:schemeClr val="tx1"/>
                </a:solidFill>
                <a:sym typeface="Wingdings 2" panose="05020102010507070707" pitchFamily="18" charset="2"/>
              </a:rPr>
              <a:t></a:t>
            </a:r>
            <a:r>
              <a:rPr lang="es-ES" sz="2400">
                <a:solidFill>
                  <a:schemeClr val="tx1"/>
                </a:solidFill>
              </a:rPr>
              <a:t> </a:t>
            </a:r>
            <a:r>
              <a:rPr lang="es-ES" sz="2400" b="1">
                <a:solidFill>
                  <a:schemeClr val="tx1"/>
                </a:solidFill>
              </a:rPr>
              <a:t>B</a:t>
            </a:r>
            <a:r>
              <a:rPr lang="es-ES" sz="2400">
                <a:solidFill>
                  <a:schemeClr val="tx1"/>
                </a:solidFill>
              </a:rPr>
              <a:t> uniforme</a:t>
            </a:r>
          </a:p>
        </p:txBody>
      </p:sp>
      <p:sp>
        <p:nvSpPr>
          <p:cNvPr id="34" name="Text Box 15">
            <a:extLst>
              <a:ext uri="{FF2B5EF4-FFF2-40B4-BE49-F238E27FC236}">
                <a16:creationId xmlns:a16="http://schemas.microsoft.com/office/drawing/2014/main" id="{DDDFC7A7-21F7-48DB-B5A7-62BBA39B83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5703" y="2169262"/>
            <a:ext cx="4020679" cy="5365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>
                <a:solidFill>
                  <a:schemeClr val="tx1"/>
                </a:solidFill>
                <a:sym typeface="Wingdings 2" panose="05020102010507070707" pitchFamily="18" charset="2"/>
              </a:rPr>
              <a:t></a:t>
            </a:r>
            <a:r>
              <a:rPr lang="es-ES" sz="2400">
                <a:solidFill>
                  <a:schemeClr val="tx1"/>
                </a:solidFill>
              </a:rPr>
              <a:t> </a:t>
            </a:r>
            <a:r>
              <a:rPr lang="es-ES" sz="2400">
                <a:solidFill>
                  <a:schemeClr val="tx1"/>
                </a:solidFill>
                <a:latin typeface="Comic Sans MS" panose="030F0702030302020204" pitchFamily="66" charset="0"/>
              </a:rPr>
              <a:t>I</a:t>
            </a:r>
            <a:r>
              <a:rPr lang="es-ES" sz="2400">
                <a:solidFill>
                  <a:schemeClr val="tx1"/>
                </a:solidFill>
              </a:rPr>
              <a:t> igual en todo el cable</a:t>
            </a:r>
          </a:p>
        </p:txBody>
      </p:sp>
      <p:sp>
        <p:nvSpPr>
          <p:cNvPr id="35" name="Text Box 31">
            <a:extLst>
              <a:ext uri="{FF2B5EF4-FFF2-40B4-BE49-F238E27FC236}">
                <a16:creationId xmlns:a16="http://schemas.microsoft.com/office/drawing/2014/main" id="{DCB90174-8A5D-4638-9A97-DA3936FA67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9996" y="2891439"/>
            <a:ext cx="4046385" cy="127521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  <a:sym typeface="Wingdings 2" panose="05020102010507070707" pitchFamily="18" charset="2"/>
              </a:rPr>
              <a:t>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Todo portador, dq, realiza</a:t>
            </a:r>
          </a:p>
          <a:p>
            <a:pPr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    el mismo desplazamiento</a:t>
            </a:r>
          </a:p>
          <a:p>
            <a:pPr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    al atravesar el conductor</a:t>
            </a:r>
            <a:endParaRPr lang="es-ES" sz="24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1BA26C47-EB7A-4820-BE46-A80FCAC7F4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5409" y="2892850"/>
            <a:ext cx="4835022" cy="1253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tIns="72000" bIns="72000" anchor="ctr" anchorCtr="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>
                <a:solidFill>
                  <a:srgbClr val="FF0000"/>
                </a:solidFill>
                <a:sym typeface="Symbol" panose="05050102010706020507" pitchFamily="18" charset="2"/>
              </a:rPr>
              <a:t>(ocurre si el cable es recto;</a:t>
            </a:r>
          </a:p>
          <a:p>
            <a:r>
              <a:rPr lang="es-ES" sz="2400">
                <a:solidFill>
                  <a:srgbClr val="FF0000"/>
                </a:solidFill>
                <a:sym typeface="Symbol" panose="05050102010706020507" pitchFamily="18" charset="2"/>
              </a:rPr>
              <a:t>y si no lo es, si es un </a:t>
            </a:r>
            <a:r>
              <a:rPr lang="es-ES" sz="2400" b="1">
                <a:solidFill>
                  <a:srgbClr val="FF0000"/>
                </a:solidFill>
                <a:sym typeface="Symbol" panose="05050102010706020507" pitchFamily="18" charset="2"/>
              </a:rPr>
              <a:t>hilo</a:t>
            </a:r>
            <a:r>
              <a:rPr lang="es-ES" sz="2400">
                <a:solidFill>
                  <a:srgbClr val="FF0000"/>
                </a:solidFill>
                <a:sym typeface="Symbol" panose="05050102010706020507" pitchFamily="18" charset="2"/>
              </a:rPr>
              <a:t>:</a:t>
            </a:r>
          </a:p>
          <a:p>
            <a:r>
              <a:rPr lang="es-ES" sz="2400">
                <a:solidFill>
                  <a:srgbClr val="FF0000"/>
                </a:solidFill>
                <a:sym typeface="Symbol" panose="05050102010706020507" pitchFamily="18" charset="2"/>
              </a:rPr>
              <a:t>un cable de sección despreciable)</a:t>
            </a:r>
            <a:endParaRPr lang="es-ES" sz="2400" dirty="0">
              <a:solidFill>
                <a:srgbClr val="FF000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B5942CEC-53C0-45F5-9154-5274ECAFAC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5117" y="2191073"/>
            <a:ext cx="3468687" cy="51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2000" tIns="72000" rIns="72000" bIns="72000" anchor="ctr" anchorCtr="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>
                <a:solidFill>
                  <a:srgbClr val="FF0000"/>
                </a:solidFill>
                <a:sym typeface="Symbol" panose="05050102010706020507" pitchFamily="18" charset="2"/>
              </a:rPr>
              <a:t>(ocurre si no se bifurca)</a:t>
            </a:r>
            <a:endParaRPr lang="es-ES" sz="2400">
              <a:solidFill>
                <a:srgbClr val="FF0000"/>
              </a:solidFill>
            </a:endParaRPr>
          </a:p>
        </p:txBody>
      </p:sp>
      <p:sp>
        <p:nvSpPr>
          <p:cNvPr id="26" name="Text Box 37">
            <a:extLst>
              <a:ext uri="{FF2B5EF4-FFF2-40B4-BE49-F238E27FC236}">
                <a16:creationId xmlns:a16="http://schemas.microsoft.com/office/drawing/2014/main" id="{AE13EB23-F1A4-4807-9A02-CD1F9892EE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6011" y="4787907"/>
            <a:ext cx="2976246" cy="536549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s-ES" sz="2400">
                <a:solidFill>
                  <a:srgbClr val="000000"/>
                </a:solidFill>
              </a:rPr>
              <a:t>La fuerza es igual a:</a:t>
            </a:r>
            <a:endParaRPr lang="es-ES" sz="2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8190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32" grpId="0" animBg="1"/>
      <p:bldP spid="33" grpId="0" animBg="1"/>
      <p:bldP spid="34" grpId="0" animBg="1"/>
      <p:bldP spid="35" grpId="0" animBg="1"/>
      <p:bldP spid="36" grpId="0"/>
      <p:bldP spid="37" grpId="0"/>
      <p:bldP spid="2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42D4EE38-786F-4DCD-8CC4-548C3592E64B}"/>
              </a:ext>
            </a:extLst>
          </p:cNvPr>
          <p:cNvGrpSpPr/>
          <p:nvPr/>
        </p:nvGrpSpPr>
        <p:grpSpPr>
          <a:xfrm>
            <a:off x="6532781" y="1918228"/>
            <a:ext cx="3487946" cy="1692000"/>
            <a:chOff x="6452171" y="2484649"/>
            <a:chExt cx="3487946" cy="1692000"/>
          </a:xfrm>
        </p:grpSpPr>
        <p:sp>
          <p:nvSpPr>
            <p:cNvPr id="2" name="Rectángulo 1">
              <a:extLst>
                <a:ext uri="{FF2B5EF4-FFF2-40B4-BE49-F238E27FC236}">
                  <a16:creationId xmlns:a16="http://schemas.microsoft.com/office/drawing/2014/main" id="{5A9B3688-3AAF-4CA1-A749-296183C75897}"/>
                </a:ext>
              </a:extLst>
            </p:cNvPr>
            <p:cNvSpPr/>
            <p:nvPr/>
          </p:nvSpPr>
          <p:spPr bwMode="auto">
            <a:xfrm>
              <a:off x="6452171" y="2484649"/>
              <a:ext cx="3487946" cy="1692000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vert="horz" wrap="square" lIns="90000" tIns="82800" rIns="90000" bIns="82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D60093"/>
                </a:solidFill>
                <a:effectLst/>
                <a:latin typeface="Arial" panose="020B0604020202020204" pitchFamily="34" charset="0"/>
              </a:endParaRPr>
            </a:p>
          </p:txBody>
        </p:sp>
        <p:grpSp>
          <p:nvGrpSpPr>
            <p:cNvPr id="643092" name="Group 20"/>
            <p:cNvGrpSpPr>
              <a:grpSpLocks/>
            </p:cNvGrpSpPr>
            <p:nvPr/>
          </p:nvGrpSpPr>
          <p:grpSpPr bwMode="auto">
            <a:xfrm>
              <a:off x="6744212" y="2751782"/>
              <a:ext cx="2963862" cy="1139826"/>
              <a:chOff x="1967" y="2152"/>
              <a:chExt cx="1867" cy="718"/>
            </a:xfrm>
          </p:grpSpPr>
          <p:sp>
            <p:nvSpPr>
              <p:cNvPr id="19499" name="Freeform 21"/>
              <p:cNvSpPr>
                <a:spLocks/>
              </p:cNvSpPr>
              <p:nvPr/>
            </p:nvSpPr>
            <p:spPr bwMode="auto">
              <a:xfrm>
                <a:off x="1968" y="2326"/>
                <a:ext cx="1844" cy="231"/>
              </a:xfrm>
              <a:custGeom>
                <a:avLst/>
                <a:gdLst>
                  <a:gd name="T0" fmla="*/ 0 w 1844"/>
                  <a:gd name="T1" fmla="*/ 181 h 231"/>
                  <a:gd name="T2" fmla="*/ 517 w 1844"/>
                  <a:gd name="T3" fmla="*/ 6 h 231"/>
                  <a:gd name="T4" fmla="*/ 1188 w 1844"/>
                  <a:gd name="T5" fmla="*/ 218 h 231"/>
                  <a:gd name="T6" fmla="*/ 1844 w 1844"/>
                  <a:gd name="T7" fmla="*/ 87 h 23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844" h="231">
                    <a:moveTo>
                      <a:pt x="0" y="181"/>
                    </a:moveTo>
                    <a:cubicBezTo>
                      <a:pt x="159" y="90"/>
                      <a:pt x="319" y="0"/>
                      <a:pt x="517" y="6"/>
                    </a:cubicBezTo>
                    <a:cubicBezTo>
                      <a:pt x="715" y="12"/>
                      <a:pt x="967" y="205"/>
                      <a:pt x="1188" y="218"/>
                    </a:cubicBezTo>
                    <a:cubicBezTo>
                      <a:pt x="1409" y="231"/>
                      <a:pt x="1626" y="159"/>
                      <a:pt x="1844" y="87"/>
                    </a:cubicBezTo>
                  </a:path>
                </a:pathLst>
              </a:custGeom>
              <a:noFill/>
              <a:ln w="381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19500" name="Text Box 22"/>
              <p:cNvSpPr txBox="1">
                <a:spLocks noChangeArrowheads="1"/>
              </p:cNvSpPr>
              <p:nvPr/>
            </p:nvSpPr>
            <p:spPr bwMode="auto">
              <a:xfrm>
                <a:off x="2992" y="2532"/>
                <a:ext cx="622" cy="3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sz="2400">
                    <a:solidFill>
                      <a:srgbClr val="008000"/>
                    </a:solidFill>
                  </a:rPr>
                  <a:t>Cable</a:t>
                </a:r>
              </a:p>
            </p:txBody>
          </p:sp>
          <p:grpSp>
            <p:nvGrpSpPr>
              <p:cNvPr id="19501" name="Group 23"/>
              <p:cNvGrpSpPr>
                <a:grpSpLocks/>
              </p:cNvGrpSpPr>
              <p:nvPr/>
            </p:nvGrpSpPr>
            <p:grpSpPr bwMode="auto">
              <a:xfrm>
                <a:off x="1967" y="2169"/>
                <a:ext cx="1867" cy="347"/>
                <a:chOff x="1967" y="2275"/>
                <a:chExt cx="1867" cy="347"/>
              </a:xfrm>
            </p:grpSpPr>
            <p:sp>
              <p:nvSpPr>
                <p:cNvPr id="19504" name="Line 24"/>
                <p:cNvSpPr>
                  <a:spLocks noChangeShapeType="1"/>
                </p:cNvSpPr>
                <p:nvPr/>
              </p:nvSpPr>
              <p:spPr bwMode="auto">
                <a:xfrm flipV="1">
                  <a:off x="1967" y="2505"/>
                  <a:ext cx="1867" cy="117"/>
                </a:xfrm>
                <a:prstGeom prst="line">
                  <a:avLst/>
                </a:prstGeom>
                <a:noFill/>
                <a:ln w="25400">
                  <a:solidFill>
                    <a:srgbClr val="FF0000"/>
                  </a:solidFill>
                  <a:round/>
                  <a:headEnd/>
                  <a:tailEnd type="triangle" w="lg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a14:hiddenEffects>
                  </a:ext>
                  <a:ext uri="{53640926-AAD7-44D8-BBD7-CCE9431645EC}">
                    <a14:shadowObscured xmlns:a14="http://schemas.microsoft.com/office/drawing/2010/main" val="1"/>
                  </a:ext>
                </a:extLst>
              </p:spPr>
              <p:txBody>
                <a:bodyPr lIns="90000" tIns="82800" rIns="90000" bIns="82800">
                  <a:spAutoFit/>
                </a:bodyPr>
                <a:lstStyle/>
                <a:p>
                  <a:endParaRPr lang="en-GB"/>
                </a:p>
              </p:txBody>
            </p:sp>
            <p:sp>
              <p:nvSpPr>
                <p:cNvPr id="19505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2842" y="2275"/>
                  <a:ext cx="212" cy="2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chemeClr val="tx1"/>
                      </a:solidFill>
                      <a:miter lim="800000"/>
                      <a:headEnd/>
                      <a:tailEnd type="none" w="lg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a14:hiddenEffects>
                  </a:ext>
                  <a:ext uri="{53640926-AAD7-44D8-BBD7-CCE9431645EC}">
                    <a14:shadowObscured xmlns:a14="http://schemas.microsoft.com/office/drawing/2010/main" val="1"/>
                  </a:ext>
                </a:extLst>
              </p:spPr>
              <p:txBody>
                <a:bodyPr wrap="none" lIns="90000" tIns="82800" rIns="90000" bIns="82800">
                  <a:spAutoFit/>
                </a:bodyPr>
                <a:lstStyle>
                  <a:lvl1pPr>
                    <a:defRPr sz="2000">
                      <a:solidFill>
                        <a:srgbClr val="D60093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rgbClr val="D60093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rgbClr val="D60093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rgbClr val="D60093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rgbClr val="D60093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D60093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D60093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D60093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D60093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s-ES" b="1">
                      <a:solidFill>
                        <a:srgbClr val="FF0000"/>
                      </a:solidFill>
                    </a:rPr>
                    <a:t>L</a:t>
                  </a:r>
                </a:p>
              </p:txBody>
            </p:sp>
            <p:sp>
              <p:nvSpPr>
                <p:cNvPr id="19506" name="Line 26"/>
                <p:cNvSpPr>
                  <a:spLocks noChangeShapeType="1"/>
                </p:cNvSpPr>
                <p:nvPr/>
              </p:nvSpPr>
              <p:spPr bwMode="auto">
                <a:xfrm>
                  <a:off x="2874" y="2333"/>
                  <a:ext cx="136" cy="0"/>
                </a:xfrm>
                <a:prstGeom prst="line">
                  <a:avLst/>
                </a:prstGeom>
                <a:noFill/>
                <a:ln w="12700">
                  <a:solidFill>
                    <a:srgbClr val="FF0000"/>
                  </a:solidFill>
                  <a:round/>
                  <a:headEnd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a14:hiddenEffects>
                  </a:ext>
                  <a:ext uri="{53640926-AAD7-44D8-BBD7-CCE9431645EC}">
                    <a14:shadowObscured xmlns:a14="http://schemas.microsoft.com/office/drawing/2010/main" val="1"/>
                  </a:ext>
                </a:extLst>
              </p:spPr>
              <p:txBody>
                <a:bodyPr lIns="90000" tIns="82800" rIns="90000" bIns="82800">
                  <a:spAutoFit/>
                </a:bodyPr>
                <a:lstStyle/>
                <a:p>
                  <a:endParaRPr lang="en-GB"/>
                </a:p>
              </p:txBody>
            </p:sp>
          </p:grpSp>
          <p:sp>
            <p:nvSpPr>
              <p:cNvPr id="19502" name="Line 27"/>
              <p:cNvSpPr>
                <a:spLocks noChangeShapeType="1"/>
              </p:cNvSpPr>
              <p:nvPr/>
            </p:nvSpPr>
            <p:spPr bwMode="auto">
              <a:xfrm flipV="1">
                <a:off x="2160" y="2366"/>
                <a:ext cx="104" cy="4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19503" name="Text Box 28"/>
              <p:cNvSpPr txBox="1">
                <a:spLocks noChangeArrowheads="1"/>
              </p:cNvSpPr>
              <p:nvPr/>
            </p:nvSpPr>
            <p:spPr bwMode="auto">
              <a:xfrm>
                <a:off x="1975" y="2152"/>
                <a:ext cx="201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  <a:latin typeface="Comic Sans MS" panose="030F0702030302020204" pitchFamily="66" charset="0"/>
                  </a:rPr>
                  <a:t>I</a:t>
                </a:r>
              </a:p>
            </p:txBody>
          </p:sp>
        </p:grpSp>
      </p:grpSp>
      <p:sp>
        <p:nvSpPr>
          <p:cNvPr id="643153" name="Text Box 81"/>
          <p:cNvSpPr txBox="1">
            <a:spLocks noChangeArrowheads="1"/>
          </p:cNvSpPr>
          <p:nvPr/>
        </p:nvSpPr>
        <p:spPr bwMode="auto">
          <a:xfrm>
            <a:off x="1433826" y="2614819"/>
            <a:ext cx="4933403" cy="1347916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26000" tIns="118800" rIns="126000" bIns="11880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</a:rPr>
              <a:t>Da el desplazamiento de los portadores al cruzar el conductor:</a:t>
            </a:r>
          </a:p>
          <a:p>
            <a:pPr algn="ctr"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</a:rPr>
              <a:t>Une sus extremos en sentido de </a:t>
            </a:r>
            <a:r>
              <a:rPr lang="es-ES" sz="2400">
                <a:solidFill>
                  <a:schemeClr val="tx1"/>
                </a:solidFill>
                <a:latin typeface="Comic Sans MS" panose="030F0702030302020204" pitchFamily="66" charset="0"/>
              </a:rPr>
              <a:t>I</a:t>
            </a:r>
          </a:p>
        </p:txBody>
      </p:sp>
      <p:sp>
        <p:nvSpPr>
          <p:cNvPr id="19492" name="Text Box 17"/>
          <p:cNvSpPr txBox="1">
            <a:spLocks noChangeArrowheads="1"/>
          </p:cNvSpPr>
          <p:nvPr/>
        </p:nvSpPr>
        <p:spPr bwMode="auto">
          <a:xfrm>
            <a:off x="1443648" y="1918228"/>
            <a:ext cx="4923581" cy="6092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26000" tIns="118800" rIns="126000" bIns="11880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 dirty="0">
                <a:solidFill>
                  <a:srgbClr val="000000"/>
                </a:solidFill>
              </a:rPr>
              <a:t> </a:t>
            </a:r>
            <a:r>
              <a:rPr lang="es-ES" sz="2400" b="1" dirty="0">
                <a:solidFill>
                  <a:srgbClr val="000000"/>
                </a:solidFill>
              </a:rPr>
              <a:t>L</a:t>
            </a:r>
            <a:r>
              <a:rPr lang="es-ES" sz="2400" dirty="0">
                <a:solidFill>
                  <a:srgbClr val="000000"/>
                </a:solidFill>
              </a:rPr>
              <a:t> es un </a:t>
            </a:r>
            <a:r>
              <a:rPr lang="es-ES" sz="2400">
                <a:solidFill>
                  <a:srgbClr val="FF0000"/>
                </a:solidFill>
              </a:rPr>
              <a:t>vector desplazamiento</a:t>
            </a:r>
            <a:endParaRPr lang="es-ES" sz="24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46" name="Text Box 49"/>
          <p:cNvSpPr txBox="1">
            <a:spLocks noChangeArrowheads="1"/>
          </p:cNvSpPr>
          <p:nvPr/>
        </p:nvSpPr>
        <p:spPr bwMode="auto">
          <a:xfrm>
            <a:off x="2586630" y="5376562"/>
            <a:ext cx="2864285" cy="9058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Caso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más simple:</a:t>
            </a:r>
          </a:p>
          <a:p>
            <a:pPr algn="ctr" eaLnBrk="1" hangingPunct="1"/>
            <a:r>
              <a:rPr lang="es-ES" sz="2400">
                <a:solidFill>
                  <a:srgbClr val="008000"/>
                </a:solidFill>
                <a:sym typeface="Symbol" panose="05050102010706020507" pitchFamily="18" charset="2"/>
              </a:rPr>
              <a:t>Un cable recto</a:t>
            </a:r>
            <a:endParaRPr lang="es-ES" sz="2400" dirty="0">
              <a:solidFill>
                <a:schemeClr val="tx1"/>
              </a:solidFill>
              <a:latin typeface="Comic Sans MS" panose="030F0702030302020204" pitchFamily="66" charset="0"/>
              <a:sym typeface="Symbol" panose="05050102010706020507" pitchFamily="18" charset="2"/>
            </a:endParaRPr>
          </a:p>
        </p:txBody>
      </p:sp>
      <p:sp>
        <p:nvSpPr>
          <p:cNvPr id="48" name="Text Box 49"/>
          <p:cNvSpPr txBox="1">
            <a:spLocks noChangeArrowheads="1"/>
          </p:cNvSpPr>
          <p:nvPr/>
        </p:nvSpPr>
        <p:spPr bwMode="auto">
          <a:xfrm>
            <a:off x="6186017" y="5180240"/>
            <a:ext cx="3814607" cy="4877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" sz="2400" b="1">
                <a:solidFill>
                  <a:schemeClr val="tx1"/>
                </a:solidFill>
                <a:sym typeface="Symbol" panose="05050102010706020507" pitchFamily="18" charset="2"/>
              </a:rPr>
              <a:t>L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 // Cable</a:t>
            </a:r>
            <a:endParaRPr lang="es-ES" sz="2400" dirty="0">
              <a:solidFill>
                <a:schemeClr val="tx1"/>
              </a:solidFill>
              <a:latin typeface="Comic Sans MS" panose="030F0702030302020204" pitchFamily="66" charset="0"/>
              <a:sym typeface="Symbol" panose="05050102010706020507" pitchFamily="18" charset="2"/>
            </a:endParaRPr>
          </a:p>
        </p:txBody>
      </p:sp>
      <p:grpSp>
        <p:nvGrpSpPr>
          <p:cNvPr id="28" name="Group 69">
            <a:extLst>
              <a:ext uri="{FF2B5EF4-FFF2-40B4-BE49-F238E27FC236}">
                <a16:creationId xmlns:a16="http://schemas.microsoft.com/office/drawing/2014/main" id="{0A753ADF-5DD8-458B-B027-A771CE7F2987}"/>
              </a:ext>
            </a:extLst>
          </p:cNvPr>
          <p:cNvGrpSpPr>
            <a:grpSpLocks/>
          </p:cNvGrpSpPr>
          <p:nvPr/>
        </p:nvGrpSpPr>
        <p:grpSpPr bwMode="auto">
          <a:xfrm>
            <a:off x="4692943" y="643868"/>
            <a:ext cx="2168525" cy="900113"/>
            <a:chOff x="1496" y="1035"/>
            <a:chExt cx="1366" cy="567"/>
          </a:xfrm>
        </p:grpSpPr>
        <p:sp>
          <p:nvSpPr>
            <p:cNvPr id="29" name="Rectangle 3">
              <a:extLst>
                <a:ext uri="{FF2B5EF4-FFF2-40B4-BE49-F238E27FC236}">
                  <a16:creationId xmlns:a16="http://schemas.microsoft.com/office/drawing/2014/main" id="{54B76FF3-2526-4954-9821-DF28927EE6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6" y="1035"/>
              <a:ext cx="1366" cy="56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 anchor="ctr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/>
            </a:p>
          </p:txBody>
        </p:sp>
        <p:graphicFrame>
          <p:nvGraphicFramePr>
            <p:cNvPr id="30" name="Object 38">
              <a:extLst>
                <a:ext uri="{FF2B5EF4-FFF2-40B4-BE49-F238E27FC236}">
                  <a16:creationId xmlns:a16="http://schemas.microsoft.com/office/drawing/2014/main" id="{EE63F99F-D6D6-4AA1-9B5C-6FF0674EEC9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64" y="1160"/>
            <a:ext cx="1197" cy="3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888614" imgH="266584" progId="Equation.3">
                    <p:embed/>
                  </p:oleObj>
                </mc:Choice>
                <mc:Fallback>
                  <p:oleObj name="Ecuación" r:id="rId3" imgW="888614" imgH="266584" progId="Equation.3">
                    <p:embed/>
                    <p:pic>
                      <p:nvPicPr>
                        <p:cNvPr id="30" name="Object 38">
                          <a:extLst>
                            <a:ext uri="{FF2B5EF4-FFF2-40B4-BE49-F238E27FC236}">
                              <a16:creationId xmlns:a16="http://schemas.microsoft.com/office/drawing/2014/main" id="{EE63F99F-D6D6-4AA1-9B5C-6FF0674EEC9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64" y="1160"/>
                          <a:ext cx="1197" cy="3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" name="Text Box 39">
              <a:extLst>
                <a:ext uri="{FF2B5EF4-FFF2-40B4-BE49-F238E27FC236}">
                  <a16:creationId xmlns:a16="http://schemas.microsoft.com/office/drawing/2014/main" id="{1ABA75E1-E63C-4570-A5E2-F299DCDFB1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6" y="1146"/>
              <a:ext cx="238" cy="3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800">
                  <a:solidFill>
                    <a:srgbClr val="000000"/>
                  </a:solidFill>
                  <a:latin typeface="Comic Sans MS" panose="030F0702030302020204" pitchFamily="66" charset="0"/>
                </a:rPr>
                <a:t>I</a:t>
              </a:r>
            </a:p>
          </p:txBody>
        </p:sp>
      </p:grpSp>
      <p:sp>
        <p:nvSpPr>
          <p:cNvPr id="26" name="Text Box 17">
            <a:extLst>
              <a:ext uri="{FF2B5EF4-FFF2-40B4-BE49-F238E27FC236}">
                <a16:creationId xmlns:a16="http://schemas.microsoft.com/office/drawing/2014/main" id="{EF79DC1F-A009-4229-B16B-B668B2068C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0016" y="4071824"/>
            <a:ext cx="7770608" cy="97858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26000" tIns="118800" rIns="126000" bIns="11880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>
                <a:solidFill>
                  <a:srgbClr val="000000"/>
                </a:solidFill>
              </a:rPr>
              <a:t> Es igual a la suma de los desplazamientos de</a:t>
            </a:r>
          </a:p>
          <a:p>
            <a:pPr algn="ctr" eaLnBrk="1" hangingPunct="1">
              <a:spcBef>
                <a:spcPts val="0"/>
              </a:spcBef>
            </a:pPr>
            <a:r>
              <a:rPr lang="es-ES" sz="2400">
                <a:solidFill>
                  <a:srgbClr val="000000"/>
                </a:solidFill>
              </a:rPr>
              <a:t>los portadores de carga </a:t>
            </a:r>
            <a:r>
              <a:rPr lang="es-ES" sz="2400">
                <a:solidFill>
                  <a:srgbClr val="000000"/>
                </a:solidFill>
                <a:ea typeface="Microsoft Himalaya" panose="01010100010101010101" pitchFamily="2" charset="0"/>
                <a:cs typeface="Arial" panose="020B0604020202020204" pitchFamily="34" charset="0"/>
              </a:rPr>
              <a:t>a lo largo del cable, de los d</a:t>
            </a:r>
            <a:r>
              <a:rPr lang="es-ES" sz="2400" b="1">
                <a:solidFill>
                  <a:srgbClr val="000000"/>
                </a:solidFill>
                <a:ea typeface="Microsoft Himalaya" panose="01010100010101010101" pitchFamily="2" charset="0"/>
                <a:cs typeface="Arial" panose="020B0604020202020204" pitchFamily="34" charset="0"/>
              </a:rPr>
              <a:t>l</a:t>
            </a:r>
            <a:endParaRPr lang="es-ES" sz="2400" b="1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4" name="Abrir llave 3">
            <a:extLst>
              <a:ext uri="{FF2B5EF4-FFF2-40B4-BE49-F238E27FC236}">
                <a16:creationId xmlns:a16="http://schemas.microsoft.com/office/drawing/2014/main" id="{9D3289D2-635B-888D-8AC0-F1CEBAA5B572}"/>
              </a:ext>
            </a:extLst>
          </p:cNvPr>
          <p:cNvSpPr/>
          <p:nvPr/>
        </p:nvSpPr>
        <p:spPr bwMode="auto">
          <a:xfrm>
            <a:off x="5619076" y="5215016"/>
            <a:ext cx="356747" cy="1650385"/>
          </a:xfrm>
          <a:prstGeom prst="leftBrace">
            <a:avLst/>
          </a:prstGeom>
          <a:noFill/>
          <a:ln w="381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Text Box 49">
            <a:extLst>
              <a:ext uri="{FF2B5EF4-FFF2-40B4-BE49-F238E27FC236}">
                <a16:creationId xmlns:a16="http://schemas.microsoft.com/office/drawing/2014/main" id="{A1747530-4AD2-7079-12E0-6930CFA6A1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5514" y="6373643"/>
            <a:ext cx="3814607" cy="4877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|</a:t>
            </a:r>
            <a:r>
              <a:rPr lang="es-ES" sz="2400" b="1">
                <a:solidFill>
                  <a:schemeClr val="tx1"/>
                </a:solidFill>
                <a:sym typeface="Symbol" panose="05050102010706020507" pitchFamily="18" charset="2"/>
              </a:rPr>
              <a:t>L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| = Longitud del cable</a:t>
            </a:r>
            <a:endParaRPr lang="es-ES" sz="24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6" name="Text Box 49">
            <a:extLst>
              <a:ext uri="{FF2B5EF4-FFF2-40B4-BE49-F238E27FC236}">
                <a16:creationId xmlns:a16="http://schemas.microsoft.com/office/drawing/2014/main" id="{7F8B1210-9EBE-E4BE-4EA7-CBF0B5CEFE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9138" y="5746695"/>
            <a:ext cx="3821486" cy="5365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" sz="2400" b="1">
                <a:solidFill>
                  <a:schemeClr val="tx1"/>
                </a:solidFill>
                <a:sym typeface="Symbol" panose="05050102010706020507" pitchFamily="18" charset="2"/>
              </a:rPr>
              <a:t>L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 mismo sentido de </a:t>
            </a:r>
            <a:r>
              <a:rPr lang="es-ES" sz="2400" dirty="0">
                <a:solidFill>
                  <a:schemeClr val="tx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</a:p>
        </p:txBody>
      </p:sp>
      <p:sp>
        <p:nvSpPr>
          <p:cNvPr id="7" name="Text Box 17">
            <a:extLst>
              <a:ext uri="{FF2B5EF4-FFF2-40B4-BE49-F238E27FC236}">
                <a16:creationId xmlns:a16="http://schemas.microsoft.com/office/drawing/2014/main" id="{589BBC6F-92C9-45D6-3D50-C96062E5B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2631" y="787744"/>
            <a:ext cx="908246" cy="609252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26000" tIns="118800" rIns="126000" bIns="11880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>
                <a:solidFill>
                  <a:srgbClr val="000000"/>
                </a:solidFill>
              </a:rPr>
              <a:t>¿</a:t>
            </a:r>
            <a:r>
              <a:rPr lang="es-ES" sz="2400" b="1">
                <a:solidFill>
                  <a:srgbClr val="000000"/>
                </a:solidFill>
              </a:rPr>
              <a:t>L</a:t>
            </a:r>
            <a:r>
              <a:rPr lang="es-ES" sz="2400">
                <a:solidFill>
                  <a:srgbClr val="000000"/>
                </a:solidFill>
              </a:rPr>
              <a:t>?</a:t>
            </a:r>
            <a:endParaRPr lang="es-ES" sz="24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8" name="Text Box 18">
            <a:extLst>
              <a:ext uri="{FF2B5EF4-FFF2-40B4-BE49-F238E27FC236}">
                <a16:creationId xmlns:a16="http://schemas.microsoft.com/office/drawing/2014/main" id="{15FD5F38-4C8A-B8CF-B0ED-24FDBF235E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3118" y="750336"/>
            <a:ext cx="2969055" cy="670177"/>
          </a:xfrm>
          <a:prstGeom prst="rect">
            <a:avLst/>
          </a:prstGeom>
          <a:solidFill>
            <a:srgbClr val="6666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26000" tIns="118800" rIns="126000" bIns="118800" anchor="ctr" anchorCtr="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 b="1">
                <a:solidFill>
                  <a:srgbClr val="FFFFFF"/>
                </a:solidFill>
              </a:rPr>
              <a:t>LEY DE LAPLACE</a:t>
            </a:r>
          </a:p>
        </p:txBody>
      </p:sp>
    </p:spTree>
    <p:extLst>
      <p:ext uri="{BB962C8B-B14F-4D97-AF65-F5344CB8AC3E}">
        <p14:creationId xmlns:p14="http://schemas.microsoft.com/office/powerpoint/2010/main" val="2516550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9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9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643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3153" grpId="0" animBg="1"/>
      <p:bldP spid="19492" grpId="0" animBg="1"/>
      <p:bldP spid="46" grpId="0" animBg="1"/>
      <p:bldP spid="48" grpId="0" animBg="1"/>
      <p:bldP spid="26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2" name="Text Box 35"/>
          <p:cNvSpPr txBox="1">
            <a:spLocks noChangeArrowheads="1"/>
          </p:cNvSpPr>
          <p:nvPr/>
        </p:nvSpPr>
        <p:spPr bwMode="auto">
          <a:xfrm>
            <a:off x="4682850" y="2799131"/>
            <a:ext cx="2134736" cy="794403"/>
          </a:xfrm>
          <a:prstGeom prst="rect">
            <a:avLst/>
          </a:prstGeom>
          <a:solidFill>
            <a:srgbClr val="FF99CC"/>
          </a:solidFill>
          <a:ln>
            <a:noFill/>
          </a:ln>
        </p:spPr>
        <p:txBody>
          <a:bodyPr wrap="square" lIns="108000" tIns="180000" rIns="108000" bIns="180000" anchor="ctr" anchorCtr="1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800">
                <a:solidFill>
                  <a:schemeClr val="tx1"/>
                </a:solidFill>
                <a:sym typeface="Symbol" panose="05050102010706020507" pitchFamily="18" charset="2"/>
              </a:rPr>
              <a:t>F = </a:t>
            </a:r>
            <a:r>
              <a:rPr lang="es-ES" sz="2800">
                <a:solidFill>
                  <a:schemeClr val="tx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800">
                <a:solidFill>
                  <a:schemeClr val="tx1"/>
                </a:solidFill>
                <a:sym typeface="Symbol" panose="05050102010706020507" pitchFamily="18" charset="2"/>
              </a:rPr>
              <a:t> L B</a:t>
            </a:r>
            <a:r>
              <a:rPr lang="es-ES" sz="2800" baseline="-25000">
                <a:solidFill>
                  <a:schemeClr val="tx1"/>
                </a:solidFill>
                <a:sym typeface="Symbol" panose="05050102010706020507" pitchFamily="18" charset="2"/>
              </a:rPr>
              <a:t></a:t>
            </a:r>
            <a:endParaRPr lang="es-ES" sz="280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21542" name="Text Box 41"/>
          <p:cNvSpPr txBox="1">
            <a:spLocks noChangeArrowheads="1"/>
          </p:cNvSpPr>
          <p:nvPr/>
        </p:nvSpPr>
        <p:spPr bwMode="auto">
          <a:xfrm>
            <a:off x="1384566" y="5155290"/>
            <a:ext cx="1520316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 </a:t>
            </a:r>
            <a:r>
              <a:rPr lang="es-ES" sz="2400" b="1" dirty="0">
                <a:solidFill>
                  <a:schemeClr val="tx1"/>
                </a:solidFill>
                <a:sym typeface="Symbol" panose="05050102010706020507" pitchFamily="18" charset="2"/>
              </a:rPr>
              <a:t>F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 = </a:t>
            </a:r>
            <a:r>
              <a:rPr lang="es-ES" sz="2400" b="1" dirty="0">
                <a:solidFill>
                  <a:schemeClr val="tx1"/>
                </a:solidFill>
                <a:sym typeface="Symbol" panose="05050102010706020507" pitchFamily="18" charset="2"/>
              </a:rPr>
              <a:t>0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 si:</a:t>
            </a:r>
            <a:endParaRPr lang="es-ES" sz="2400" dirty="0">
              <a:solidFill>
                <a:srgbClr val="008000"/>
              </a:solidFill>
              <a:sym typeface="Symbol" panose="05050102010706020507" pitchFamily="18" charset="2"/>
            </a:endParaRPr>
          </a:p>
        </p:txBody>
      </p:sp>
      <p:sp>
        <p:nvSpPr>
          <p:cNvPr id="21537" name="Text Box 55"/>
          <p:cNvSpPr txBox="1">
            <a:spLocks noChangeArrowheads="1"/>
          </p:cNvSpPr>
          <p:nvPr/>
        </p:nvSpPr>
        <p:spPr bwMode="auto">
          <a:xfrm>
            <a:off x="1373679" y="4045821"/>
            <a:ext cx="6996480" cy="905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 F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es máxima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si </a:t>
            </a:r>
            <a:r>
              <a:rPr lang="es-ES" sz="2400" b="1" dirty="0">
                <a:solidFill>
                  <a:schemeClr val="tx1"/>
                </a:solidFill>
                <a:sym typeface="Symbol" panose="05050102010706020507" pitchFamily="18" charset="2"/>
              </a:rPr>
              <a:t>B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 </a:t>
            </a:r>
            <a:r>
              <a:rPr lang="es-ES" sz="2400" b="1">
                <a:solidFill>
                  <a:schemeClr val="tx1"/>
                </a:solidFill>
                <a:sym typeface="Symbol" panose="05050102010706020507" pitchFamily="18" charset="2"/>
              </a:rPr>
              <a:t>L</a:t>
            </a:r>
            <a:endParaRPr lang="es-ES" sz="240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                              </a:t>
            </a:r>
            <a:r>
              <a:rPr lang="es-ES" sz="2400">
                <a:solidFill>
                  <a:srgbClr val="FF0000"/>
                </a:solidFill>
                <a:sym typeface="Symbol" panose="05050102010706020507" pitchFamily="18" charset="2"/>
              </a:rPr>
              <a:t>(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s-ES" sz="2400">
                <a:solidFill>
                  <a:srgbClr val="FF0000"/>
                </a:solidFill>
                <a:sym typeface="Symbol" panose="05050102010706020507" pitchFamily="18" charset="2"/>
              </a:rPr>
              <a:t>a </a:t>
            </a:r>
            <a:r>
              <a:rPr lang="es-ES" sz="2400">
                <a:solidFill>
                  <a:srgbClr val="FF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 y </a:t>
            </a:r>
            <a:r>
              <a:rPr lang="es-ES" sz="2400">
                <a:solidFill>
                  <a:srgbClr val="FF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al cable si es recto</a:t>
            </a:r>
            <a:r>
              <a:rPr lang="es-ES" sz="2400">
                <a:solidFill>
                  <a:srgbClr val="FF0000"/>
                </a:solidFill>
                <a:sym typeface="Symbol" panose="05050102010706020507" pitchFamily="18" charset="2"/>
              </a:rPr>
              <a:t>)</a:t>
            </a:r>
            <a:endParaRPr lang="es-ES" sz="2400" b="1" dirty="0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grpSp>
        <p:nvGrpSpPr>
          <p:cNvPr id="649290" name="Group 74"/>
          <p:cNvGrpSpPr>
            <a:grpSpLocks/>
          </p:cNvGrpSpPr>
          <p:nvPr/>
        </p:nvGrpSpPr>
        <p:grpSpPr bwMode="auto">
          <a:xfrm>
            <a:off x="7876343" y="330485"/>
            <a:ext cx="2701925" cy="3151188"/>
            <a:chOff x="3970" y="894"/>
            <a:chExt cx="1702" cy="1985"/>
          </a:xfrm>
        </p:grpSpPr>
        <p:pic>
          <p:nvPicPr>
            <p:cNvPr id="21521" name="Picture 7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70" y="894"/>
              <a:ext cx="1702" cy="19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</p:pic>
        <p:sp>
          <p:nvSpPr>
            <p:cNvPr id="21522" name="Text Box 64"/>
            <p:cNvSpPr txBox="1">
              <a:spLocks noChangeArrowheads="1"/>
            </p:cNvSpPr>
            <p:nvPr/>
          </p:nvSpPr>
          <p:spPr bwMode="auto">
            <a:xfrm>
              <a:off x="4040" y="1080"/>
              <a:ext cx="795" cy="6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s-ES"/>
                <a:t>Regla de la Mano Derecha</a:t>
              </a:r>
            </a:p>
          </p:txBody>
        </p:sp>
      </p:grpSp>
      <p:sp>
        <p:nvSpPr>
          <p:cNvPr id="649299" name="Text Box 83"/>
          <p:cNvSpPr txBox="1">
            <a:spLocks noChangeArrowheads="1"/>
          </p:cNvSpPr>
          <p:nvPr/>
        </p:nvSpPr>
        <p:spPr bwMode="auto">
          <a:xfrm>
            <a:off x="2695267" y="2868065"/>
            <a:ext cx="1777711" cy="656532"/>
          </a:xfrm>
          <a:prstGeom prst="rect">
            <a:avLst/>
          </a:prstGeom>
          <a:solidFill>
            <a:srgbClr val="9933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08000" tIns="108000" rIns="108000" bIns="108000" anchor="ctr" anchorCtr="1">
            <a:no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>
                <a:solidFill>
                  <a:srgbClr val="FFFFFF"/>
                </a:solidFill>
              </a:rPr>
              <a:t>MÓDULO</a:t>
            </a:r>
          </a:p>
        </p:txBody>
      </p:sp>
      <p:sp>
        <p:nvSpPr>
          <p:cNvPr id="62" name="Text Box 49"/>
          <p:cNvSpPr txBox="1">
            <a:spLocks noChangeArrowheads="1"/>
          </p:cNvSpPr>
          <p:nvPr/>
        </p:nvSpPr>
        <p:spPr bwMode="auto">
          <a:xfrm>
            <a:off x="7331265" y="2080165"/>
            <a:ext cx="813879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" sz="2400" b="1" dirty="0">
                <a:solidFill>
                  <a:srgbClr val="FF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 </a:t>
            </a:r>
            <a:r>
              <a:rPr lang="es-ES" sz="2400" b="1" dirty="0">
                <a:solidFill>
                  <a:srgbClr val="FF0000"/>
                </a:solidFill>
                <a:sym typeface="Wingdings 3" panose="05040102010807070707" pitchFamily="18" charset="2"/>
              </a:rPr>
              <a:t></a:t>
            </a:r>
            <a:endParaRPr lang="es-ES" sz="2400" b="1" dirty="0">
              <a:solidFill>
                <a:srgbClr val="FF0000"/>
              </a:solidFill>
              <a:latin typeface="Comic Sans MS" panose="030F0702030302020204" pitchFamily="66" charset="0"/>
              <a:sym typeface="Symbol" panose="05050102010706020507" pitchFamily="18" charset="2"/>
            </a:endParaRPr>
          </a:p>
        </p:txBody>
      </p:sp>
      <p:sp>
        <p:nvSpPr>
          <p:cNvPr id="28" name="Text Box 41"/>
          <p:cNvSpPr txBox="1">
            <a:spLocks noChangeArrowheads="1"/>
          </p:cNvSpPr>
          <p:nvPr/>
        </p:nvSpPr>
        <p:spPr bwMode="auto">
          <a:xfrm>
            <a:off x="2850455" y="6312896"/>
            <a:ext cx="1292375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dirty="0">
                <a:solidFill>
                  <a:schemeClr val="tx1"/>
                </a:solidFill>
                <a:sym typeface="Wingdings" panose="05000000000000000000" pitchFamily="2" charset="2"/>
              </a:rPr>
              <a:t>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s-ES" sz="2400" b="1" dirty="0">
                <a:solidFill>
                  <a:schemeClr val="tx1"/>
                </a:solidFill>
                <a:sym typeface="Symbol" panose="05050102010706020507" pitchFamily="18" charset="2"/>
              </a:rPr>
              <a:t>L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= </a:t>
            </a:r>
            <a:r>
              <a:rPr lang="es-ES" sz="2400" b="1">
                <a:solidFill>
                  <a:schemeClr val="tx1"/>
                </a:solidFill>
                <a:sym typeface="Symbol" panose="05050102010706020507" pitchFamily="18" charset="2"/>
              </a:rPr>
              <a:t>0</a:t>
            </a:r>
            <a:endParaRPr lang="es-ES" sz="2400" dirty="0">
              <a:solidFill>
                <a:srgbClr val="3333FF"/>
              </a:solidFill>
              <a:sym typeface="Symbol" panose="05050102010706020507" pitchFamily="18" charset="2"/>
            </a:endParaRPr>
          </a:p>
        </p:txBody>
      </p:sp>
      <p:sp>
        <p:nvSpPr>
          <p:cNvPr id="30" name="Text Box 41"/>
          <p:cNvSpPr txBox="1">
            <a:spLocks noChangeArrowheads="1"/>
          </p:cNvSpPr>
          <p:nvPr/>
        </p:nvSpPr>
        <p:spPr bwMode="auto">
          <a:xfrm>
            <a:off x="2850453" y="5750036"/>
            <a:ext cx="6601555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  <a:sym typeface="Wingdings" panose="05000000000000000000" pitchFamily="2" charset="2"/>
              </a:rPr>
              <a:t>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s-ES" sz="2400" b="1" dirty="0">
                <a:solidFill>
                  <a:schemeClr val="tx1"/>
                </a:solidFill>
                <a:sym typeface="Symbol" panose="05050102010706020507" pitchFamily="18" charset="2"/>
              </a:rPr>
              <a:t>B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 // </a:t>
            </a:r>
            <a:r>
              <a:rPr lang="es-ES" sz="2400" b="1">
                <a:solidFill>
                  <a:schemeClr val="tx1"/>
                </a:solidFill>
                <a:sym typeface="Symbol" panose="05050102010706020507" pitchFamily="18" charset="2"/>
              </a:rPr>
              <a:t>L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 -en dirección- </a:t>
            </a:r>
            <a:r>
              <a:rPr lang="es-ES" sz="2400">
                <a:solidFill>
                  <a:srgbClr val="FF0000"/>
                </a:solidFill>
                <a:sym typeface="Symbol" panose="05050102010706020507" pitchFamily="18" charset="2"/>
              </a:rPr>
              <a:t>(a </a:t>
            </a:r>
            <a:r>
              <a:rPr lang="es-ES" sz="2400">
                <a:solidFill>
                  <a:srgbClr val="FF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>
                <a:solidFill>
                  <a:srgbClr val="FF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y al cable si recto</a:t>
            </a:r>
            <a:r>
              <a:rPr lang="es-ES" sz="2400">
                <a:solidFill>
                  <a:srgbClr val="FF0000"/>
                </a:solidFill>
                <a:sym typeface="Symbol" panose="05050102010706020507" pitchFamily="18" charset="2"/>
              </a:rPr>
              <a:t>)</a:t>
            </a:r>
            <a:endParaRPr lang="es-ES" sz="2400" dirty="0">
              <a:solidFill>
                <a:srgbClr val="008000"/>
              </a:solidFill>
              <a:sym typeface="Symbol" panose="05050102010706020507" pitchFamily="18" charset="2"/>
            </a:endParaRPr>
          </a:p>
        </p:txBody>
      </p:sp>
      <p:sp>
        <p:nvSpPr>
          <p:cNvPr id="31" name="Text Box 41"/>
          <p:cNvSpPr txBox="1">
            <a:spLocks noChangeArrowheads="1"/>
          </p:cNvSpPr>
          <p:nvPr/>
        </p:nvSpPr>
        <p:spPr bwMode="auto">
          <a:xfrm>
            <a:off x="2849448" y="5183372"/>
            <a:ext cx="1312294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  <a:sym typeface="Wingdings 2" panose="05020102010507070707" pitchFamily="18" charset="2"/>
              </a:rPr>
              <a:t>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s-ES" sz="2400" dirty="0">
                <a:solidFill>
                  <a:schemeClr val="tx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= 0</a:t>
            </a:r>
            <a:endParaRPr lang="es-ES" sz="24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87376973-593A-4711-9F23-AFE931F15F3B}"/>
              </a:ext>
            </a:extLst>
          </p:cNvPr>
          <p:cNvGrpSpPr/>
          <p:nvPr/>
        </p:nvGrpSpPr>
        <p:grpSpPr>
          <a:xfrm rot="19630136" flipH="1">
            <a:off x="10068712" y="1022078"/>
            <a:ext cx="584908" cy="569912"/>
            <a:chOff x="1472998" y="2318576"/>
            <a:chExt cx="584908" cy="569912"/>
          </a:xfrm>
        </p:grpSpPr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0151FE56-2B37-49FC-8139-94F71DDD5BBA}"/>
                </a:ext>
              </a:extLst>
            </p:cNvPr>
            <p:cNvSpPr/>
            <p:nvPr/>
          </p:nvSpPr>
          <p:spPr bwMode="auto">
            <a:xfrm>
              <a:off x="1472998" y="2318576"/>
              <a:ext cx="584908" cy="569912"/>
            </a:xfrm>
            <a:prstGeom prst="rect">
              <a:avLst/>
            </a:prstGeom>
            <a:solidFill>
              <a:srgbClr val="FFFF00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  <a:extLs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vert="horz" wrap="none" lIns="90000" tIns="82800" rIns="90000" bIns="82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endParaRPr>
            </a:p>
          </p:txBody>
        </p:sp>
        <p:grpSp>
          <p:nvGrpSpPr>
            <p:cNvPr id="22" name="Group 65">
              <a:extLst>
                <a:ext uri="{FF2B5EF4-FFF2-40B4-BE49-F238E27FC236}">
                  <a16:creationId xmlns:a16="http://schemas.microsoft.com/office/drawing/2014/main" id="{D9C942C0-ED15-4411-AB1D-800E3E1C27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54417" y="2405571"/>
              <a:ext cx="407987" cy="422275"/>
              <a:chOff x="1240" y="3526"/>
              <a:chExt cx="257" cy="266"/>
            </a:xfrm>
          </p:grpSpPr>
          <p:sp>
            <p:nvSpPr>
              <p:cNvPr id="23" name="Line 66">
                <a:extLst>
                  <a:ext uri="{FF2B5EF4-FFF2-40B4-BE49-F238E27FC236}">
                    <a16:creationId xmlns:a16="http://schemas.microsoft.com/office/drawing/2014/main" id="{5D6019B0-F0F3-49E2-9BD3-416EB62892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40" y="3526"/>
                <a:ext cx="257" cy="14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24" name="Line 67">
                <a:extLst>
                  <a:ext uri="{FF2B5EF4-FFF2-40B4-BE49-F238E27FC236}">
                    <a16:creationId xmlns:a16="http://schemas.microsoft.com/office/drawing/2014/main" id="{55F67D84-2DB4-4991-88CF-F6C3EF0A55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6" y="3685"/>
                <a:ext cx="251" cy="10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25" name="Oval 68">
                <a:extLst>
                  <a:ext uri="{FF2B5EF4-FFF2-40B4-BE49-F238E27FC236}">
                    <a16:creationId xmlns:a16="http://schemas.microsoft.com/office/drawing/2014/main" id="{7ADEF0FB-53DC-43D0-9171-F0C9C137FB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2" y="3562"/>
                <a:ext cx="56" cy="19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2" name="CuadroTexto 1"/>
          <p:cNvSpPr txBox="1">
            <a:spLocks noChangeArrowheads="1"/>
          </p:cNvSpPr>
          <p:nvPr/>
        </p:nvSpPr>
        <p:spPr bwMode="auto">
          <a:xfrm>
            <a:off x="1361388" y="1742511"/>
            <a:ext cx="262764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 </a:t>
            </a:r>
            <a:r>
              <a:rPr lang="es-ES" sz="2400" b="1" dirty="0">
                <a:solidFill>
                  <a:schemeClr val="tx1"/>
                </a:solidFill>
                <a:sym typeface="Symbol" panose="05050102010706020507" pitchFamily="18" charset="2"/>
              </a:rPr>
              <a:t>F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 es 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a </a:t>
            </a:r>
            <a:r>
              <a:rPr lang="es-ES" sz="2400" b="1">
                <a:solidFill>
                  <a:schemeClr val="tx1"/>
                </a:solidFill>
                <a:sym typeface="Symbol" panose="05050102010706020507" pitchFamily="18" charset="2"/>
              </a:rPr>
              <a:t>L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y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a </a:t>
            </a:r>
            <a:r>
              <a:rPr lang="es-ES" sz="2400" b="1">
                <a:solidFill>
                  <a:schemeClr val="tx1"/>
                </a:solidFill>
                <a:sym typeface="Symbol" panose="05050102010706020507" pitchFamily="18" charset="2"/>
              </a:rPr>
              <a:t>B</a:t>
            </a:r>
            <a:endParaRPr lang="es-ES" sz="2400" dirty="0">
              <a:solidFill>
                <a:schemeClr val="tx1"/>
              </a:solidFill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D81B7DBB-78CD-4D7E-AD5C-2DA6BA1553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1388" y="2106696"/>
            <a:ext cx="487825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             </a:t>
            </a:r>
            <a:r>
              <a:rPr lang="es-ES" sz="2400" dirty="0">
                <a:solidFill>
                  <a:srgbClr val="FF0000"/>
                </a:solidFill>
                <a:sym typeface="Symbol" panose="05050102010706020507" pitchFamily="18" charset="2"/>
              </a:rPr>
              <a:t>(a </a:t>
            </a:r>
            <a:r>
              <a:rPr lang="es-ES" sz="2400" dirty="0">
                <a:solidFill>
                  <a:srgbClr val="FF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 dirty="0">
                <a:solidFill>
                  <a:srgbClr val="FF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y </a:t>
            </a:r>
            <a:r>
              <a:rPr lang="es-ES" sz="2400">
                <a:solidFill>
                  <a:srgbClr val="FF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al cable </a:t>
            </a:r>
            <a:r>
              <a:rPr lang="es-ES" sz="2400" dirty="0">
                <a:solidFill>
                  <a:srgbClr val="FF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si es recto</a:t>
            </a:r>
            <a:r>
              <a:rPr lang="es-ES" sz="2400" dirty="0">
                <a:solidFill>
                  <a:srgbClr val="FF0000"/>
                </a:solidFill>
                <a:sym typeface="Symbol" panose="05050102010706020507" pitchFamily="18" charset="2"/>
              </a:rPr>
              <a:t>)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endParaRPr lang="es-ES" sz="2400" dirty="0">
              <a:solidFill>
                <a:schemeClr val="tx1"/>
              </a:solidFill>
            </a:endParaRPr>
          </a:p>
        </p:txBody>
      </p:sp>
      <p:sp>
        <p:nvSpPr>
          <p:cNvPr id="40" name="Text Box 41">
            <a:extLst>
              <a:ext uri="{FF2B5EF4-FFF2-40B4-BE49-F238E27FC236}">
                <a16:creationId xmlns:a16="http://schemas.microsoft.com/office/drawing/2014/main" id="{0745C77F-46E4-4086-AFAA-301BFEEA94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2801" y="5201437"/>
            <a:ext cx="6290450" cy="536549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No hay efecto de </a:t>
            </a:r>
            <a:r>
              <a:rPr lang="es-ES" sz="2400" b="1">
                <a:solidFill>
                  <a:schemeClr val="tx1"/>
                </a:solidFill>
                <a:sym typeface="Symbol" panose="05050102010706020507" pitchFamily="18" charset="2"/>
              </a:rPr>
              <a:t>B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 si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no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hay </a:t>
            </a:r>
            <a:r>
              <a:rPr lang="es-ES" sz="2400">
                <a:solidFill>
                  <a:schemeClr val="tx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en el cable</a:t>
            </a:r>
            <a:endParaRPr lang="es-ES" sz="24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42" name="Text Box 41">
            <a:extLst>
              <a:ext uri="{FF2B5EF4-FFF2-40B4-BE49-F238E27FC236}">
                <a16:creationId xmlns:a16="http://schemas.microsoft.com/office/drawing/2014/main" id="{005F1DDA-9F55-43FD-A510-63C17B8699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83140" y="5745308"/>
            <a:ext cx="1316491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(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B</a:t>
            </a:r>
            <a:r>
              <a:rPr lang="es-ES" sz="2400" baseline="-25000" dirty="0">
                <a:solidFill>
                  <a:schemeClr val="tx1"/>
                </a:solidFill>
                <a:sym typeface="Symbol" panose="05050102010706020507" pitchFamily="18" charset="2"/>
              </a:rPr>
              <a:t>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 = 0)</a:t>
            </a:r>
            <a:endParaRPr lang="es-ES" sz="2400" dirty="0">
              <a:solidFill>
                <a:srgbClr val="008000"/>
              </a:solidFill>
              <a:sym typeface="Symbol" panose="05050102010706020507" pitchFamily="18" charset="2"/>
            </a:endParaRPr>
          </a:p>
        </p:txBody>
      </p:sp>
      <p:sp>
        <p:nvSpPr>
          <p:cNvPr id="45" name="Text Box 41">
            <a:extLst>
              <a:ext uri="{FF2B5EF4-FFF2-40B4-BE49-F238E27FC236}">
                <a16:creationId xmlns:a16="http://schemas.microsoft.com/office/drawing/2014/main" id="{BC10B945-1D03-489B-86D0-64DA09DF81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2801" y="6337247"/>
            <a:ext cx="6286830" cy="53654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Si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el cable es un circuito cerrado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: </a:t>
            </a:r>
            <a:r>
              <a:rPr lang="es-ES" sz="2400">
                <a:solidFill>
                  <a:srgbClr val="008000"/>
                </a:solidFill>
                <a:sym typeface="Symbol" panose="05050102010706020507" pitchFamily="18" charset="2"/>
              </a:rPr>
              <a:t>Una espira</a:t>
            </a:r>
            <a:endParaRPr lang="es-ES" sz="2400" dirty="0">
              <a:solidFill>
                <a:srgbClr val="008000"/>
              </a:solidFill>
              <a:sym typeface="Symbol" panose="05050102010706020507" pitchFamily="18" charset="2"/>
            </a:endParaRPr>
          </a:p>
        </p:txBody>
      </p:sp>
      <p:sp>
        <p:nvSpPr>
          <p:cNvPr id="47" name="Text Box 55">
            <a:extLst>
              <a:ext uri="{FF2B5EF4-FFF2-40B4-BE49-F238E27FC236}">
                <a16:creationId xmlns:a16="http://schemas.microsoft.com/office/drawing/2014/main" id="{406B92FF-4AA6-4734-9068-4A6A344DF9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7969" y="4035310"/>
            <a:ext cx="1422687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(B</a:t>
            </a:r>
            <a:r>
              <a:rPr lang="es-ES" sz="2400" baseline="-25000">
                <a:solidFill>
                  <a:schemeClr val="tx1"/>
                </a:solidFill>
                <a:sym typeface="Symbol" panose="05050102010706020507" pitchFamily="18" charset="2"/>
              </a:rPr>
              <a:t>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= B)</a:t>
            </a:r>
            <a:endParaRPr lang="es-ES" sz="2400" dirty="0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sp>
        <p:nvSpPr>
          <p:cNvPr id="10" name="Text Box 18">
            <a:extLst>
              <a:ext uri="{FF2B5EF4-FFF2-40B4-BE49-F238E27FC236}">
                <a16:creationId xmlns:a16="http://schemas.microsoft.com/office/drawing/2014/main" id="{7458EA66-9558-C17E-95AF-B9488824CA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3118" y="750336"/>
            <a:ext cx="2969055" cy="670177"/>
          </a:xfrm>
          <a:prstGeom prst="rect">
            <a:avLst/>
          </a:prstGeom>
          <a:solidFill>
            <a:srgbClr val="6666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26000" tIns="118800" rIns="126000" bIns="118800" anchor="ctr" anchorCtr="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 b="1">
                <a:solidFill>
                  <a:srgbClr val="FFFFFF"/>
                </a:solidFill>
              </a:rPr>
              <a:t>LEY DE LAPLACE</a:t>
            </a:r>
          </a:p>
        </p:txBody>
      </p:sp>
      <p:grpSp>
        <p:nvGrpSpPr>
          <p:cNvPr id="12" name="Group 69">
            <a:extLst>
              <a:ext uri="{FF2B5EF4-FFF2-40B4-BE49-F238E27FC236}">
                <a16:creationId xmlns:a16="http://schemas.microsoft.com/office/drawing/2014/main" id="{4D99ECBD-25F9-1349-7D8E-55EFEFB342C6}"/>
              </a:ext>
            </a:extLst>
          </p:cNvPr>
          <p:cNvGrpSpPr>
            <a:grpSpLocks/>
          </p:cNvGrpSpPr>
          <p:nvPr/>
        </p:nvGrpSpPr>
        <p:grpSpPr bwMode="auto">
          <a:xfrm>
            <a:off x="4692943" y="643868"/>
            <a:ext cx="2168525" cy="900113"/>
            <a:chOff x="1496" y="1035"/>
            <a:chExt cx="1366" cy="567"/>
          </a:xfrm>
        </p:grpSpPr>
        <p:sp>
          <p:nvSpPr>
            <p:cNvPr id="13" name="Rectangle 3">
              <a:extLst>
                <a:ext uri="{FF2B5EF4-FFF2-40B4-BE49-F238E27FC236}">
                  <a16:creationId xmlns:a16="http://schemas.microsoft.com/office/drawing/2014/main" id="{1E22078A-E425-EB1E-778F-69821B447F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6" y="1035"/>
              <a:ext cx="1366" cy="56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 anchor="ctr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/>
            </a:p>
          </p:txBody>
        </p:sp>
        <p:graphicFrame>
          <p:nvGraphicFramePr>
            <p:cNvPr id="14" name="Object 38">
              <a:extLst>
                <a:ext uri="{FF2B5EF4-FFF2-40B4-BE49-F238E27FC236}">
                  <a16:creationId xmlns:a16="http://schemas.microsoft.com/office/drawing/2014/main" id="{C30653E3-1E61-8F79-9959-488AD93B56C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64" y="1160"/>
            <a:ext cx="1197" cy="3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4" imgW="888614" imgH="266584" progId="Equation.3">
                    <p:embed/>
                  </p:oleObj>
                </mc:Choice>
                <mc:Fallback>
                  <p:oleObj name="Ecuación" r:id="rId4" imgW="888614" imgH="266584" progId="Equation.3">
                    <p:embed/>
                    <p:pic>
                      <p:nvPicPr>
                        <p:cNvPr id="30" name="Object 38">
                          <a:extLst>
                            <a:ext uri="{FF2B5EF4-FFF2-40B4-BE49-F238E27FC236}">
                              <a16:creationId xmlns:a16="http://schemas.microsoft.com/office/drawing/2014/main" id="{EE63F99F-D6D6-4AA1-9B5C-6FF0674EEC9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64" y="1160"/>
                          <a:ext cx="1197" cy="3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Text Box 39">
              <a:extLst>
                <a:ext uri="{FF2B5EF4-FFF2-40B4-BE49-F238E27FC236}">
                  <a16:creationId xmlns:a16="http://schemas.microsoft.com/office/drawing/2014/main" id="{DCAA55E8-8FF6-F8BB-9335-195700BB17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6" y="1146"/>
              <a:ext cx="238" cy="3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800">
                  <a:solidFill>
                    <a:srgbClr val="000000"/>
                  </a:solidFill>
                  <a:latin typeface="Comic Sans MS" panose="030F0702030302020204" pitchFamily="66" charset="0"/>
                </a:rPr>
                <a:t>I</a:t>
              </a:r>
            </a:p>
          </p:txBody>
        </p:sp>
      </p:grpSp>
      <p:sp>
        <p:nvSpPr>
          <p:cNvPr id="49" name="Text Box 42">
            <a:extLst>
              <a:ext uri="{FF2B5EF4-FFF2-40B4-BE49-F238E27FC236}">
                <a16:creationId xmlns:a16="http://schemas.microsoft.com/office/drawing/2014/main" id="{F37116D9-B230-0CB4-6856-F814CF4991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596" y="3459161"/>
            <a:ext cx="1889300" cy="774700"/>
          </a:xfrm>
          <a:prstGeom prst="rect">
            <a:avLst/>
          </a:prstGeom>
          <a:noFill/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126000" tIns="118800" rIns="126000" bIns="118800" anchor="ctr" anchorCtr="0"/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>
                <a:solidFill>
                  <a:srgbClr val="FF0000"/>
                </a:solidFill>
              </a:rPr>
              <a:t> </a:t>
            </a:r>
            <a:r>
              <a:rPr lang="es-ES" sz="2400">
                <a:solidFill>
                  <a:srgbClr val="FF0000"/>
                </a:solidFill>
                <a:sym typeface="Symbol" panose="05050102010706020507" pitchFamily="18" charset="2"/>
              </a:rPr>
              <a:t>B</a:t>
            </a:r>
            <a:r>
              <a:rPr lang="es-ES" sz="2400" baseline="-25000">
                <a:solidFill>
                  <a:srgbClr val="FF0000"/>
                </a:solidFill>
                <a:sym typeface="Symbol" panose="05050102010706020507" pitchFamily="18" charset="2"/>
              </a:rPr>
              <a:t></a:t>
            </a:r>
            <a:r>
              <a:rPr lang="es-ES" sz="2400">
                <a:solidFill>
                  <a:srgbClr val="FF0000"/>
                </a:solidFill>
              </a:rPr>
              <a:t>= </a:t>
            </a:r>
            <a:r>
              <a:rPr lang="es-ES" sz="2400">
                <a:solidFill>
                  <a:srgbClr val="FF0000"/>
                </a:solidFill>
                <a:sym typeface="Symbol" panose="05050102010706020507" pitchFamily="18" charset="2"/>
              </a:rPr>
              <a:t>B sen</a:t>
            </a:r>
            <a:r>
              <a:rPr lang="es-ES" sz="2400" dirty="0">
                <a:solidFill>
                  <a:srgbClr val="FF0000"/>
                </a:solidFill>
                <a:sym typeface="Symbol" panose="05050102010706020507" pitchFamily="18" charset="2"/>
              </a:rPr>
              <a:t></a:t>
            </a:r>
          </a:p>
        </p:txBody>
      </p:sp>
      <p:grpSp>
        <p:nvGrpSpPr>
          <p:cNvPr id="57" name="Grupo 56">
            <a:extLst>
              <a:ext uri="{FF2B5EF4-FFF2-40B4-BE49-F238E27FC236}">
                <a16:creationId xmlns:a16="http://schemas.microsoft.com/office/drawing/2014/main" id="{1C1AEDE3-82BD-4871-220A-16A3BA73E665}"/>
              </a:ext>
            </a:extLst>
          </p:cNvPr>
          <p:cNvGrpSpPr/>
          <p:nvPr/>
        </p:nvGrpSpPr>
        <p:grpSpPr>
          <a:xfrm>
            <a:off x="8173049" y="3446483"/>
            <a:ext cx="1981050" cy="1554213"/>
            <a:chOff x="8173049" y="3366099"/>
            <a:chExt cx="1981050" cy="15542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Object 18">
                  <a:extLst>
                    <a:ext uri="{FF2B5EF4-FFF2-40B4-BE49-F238E27FC236}">
                      <a16:creationId xmlns:a16="http://schemas.microsoft.com/office/drawing/2014/main" id="{DEB8A488-D2FC-74EB-9C2F-6EFB4784F14B}"/>
                    </a:ext>
                  </a:extLst>
                </p:cNvPr>
                <p:cNvSpPr txBox="1"/>
                <p:nvPr/>
              </p:nvSpPr>
              <p:spPr bwMode="auto">
                <a:xfrm>
                  <a:off x="8173049" y="3569327"/>
                  <a:ext cx="445629" cy="52682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s-ES" sz="18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s-ES" sz="1800" b="0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L</m:t>
                            </m:r>
                          </m:e>
                        </m:acc>
                      </m:oMath>
                    </m:oMathPara>
                  </a14:m>
                  <a:endParaRPr lang="es-ES" sz="1800"/>
                </a:p>
              </p:txBody>
            </p:sp>
          </mc:Choice>
          <mc:Fallback xmlns="">
            <p:sp>
              <p:nvSpPr>
                <p:cNvPr id="48" name="Object 18">
                  <a:extLst>
                    <a:ext uri="{FF2B5EF4-FFF2-40B4-BE49-F238E27FC236}">
                      <a16:creationId xmlns:a16="http://schemas.microsoft.com/office/drawing/2014/main" id="{DEB8A488-D2FC-74EB-9C2F-6EFB4784F1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173049" y="3569327"/>
                  <a:ext cx="445629" cy="52682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Object 31">
                  <a:extLst>
                    <a:ext uri="{FF2B5EF4-FFF2-40B4-BE49-F238E27FC236}">
                      <a16:creationId xmlns:a16="http://schemas.microsoft.com/office/drawing/2014/main" id="{B64514D3-7F8D-9CDC-34DE-8FDF0664A785}"/>
                    </a:ext>
                  </a:extLst>
                </p:cNvPr>
                <p:cNvSpPr txBox="1"/>
                <p:nvPr/>
              </p:nvSpPr>
              <p:spPr bwMode="auto">
                <a:xfrm>
                  <a:off x="8529862" y="4386912"/>
                  <a:ext cx="414338" cy="533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s-E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s-E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</m:acc>
                      </m:oMath>
                    </m:oMathPara>
                  </a14:m>
                  <a:endParaRPr lang="es-ES"/>
                </a:p>
              </p:txBody>
            </p:sp>
          </mc:Choice>
          <mc:Fallback xmlns="">
            <p:sp>
              <p:nvSpPr>
                <p:cNvPr id="44" name="Object 31">
                  <a:extLst>
                    <a:ext uri="{FF2B5EF4-FFF2-40B4-BE49-F238E27FC236}">
                      <a16:creationId xmlns:a16="http://schemas.microsoft.com/office/drawing/2014/main" id="{B64514D3-7F8D-9CDC-34DE-8FDF0664A7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529862" y="4386912"/>
                  <a:ext cx="414338" cy="53340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0" name="Grupo 49">
              <a:extLst>
                <a:ext uri="{FF2B5EF4-FFF2-40B4-BE49-F238E27FC236}">
                  <a16:creationId xmlns:a16="http://schemas.microsoft.com/office/drawing/2014/main" id="{A065052D-1002-44E6-B7AA-63831A09804F}"/>
                </a:ext>
              </a:extLst>
            </p:cNvPr>
            <p:cNvGrpSpPr/>
            <p:nvPr/>
          </p:nvGrpSpPr>
          <p:grpSpPr>
            <a:xfrm rot="5400000" flipV="1">
              <a:off x="8566423" y="3564226"/>
              <a:ext cx="1205976" cy="1426088"/>
              <a:chOff x="8108634" y="3543822"/>
              <a:chExt cx="1205976" cy="1426088"/>
            </a:xfrm>
          </p:grpSpPr>
          <p:sp>
            <p:nvSpPr>
              <p:cNvPr id="46" name="Line 12">
                <a:extLst>
                  <a:ext uri="{FF2B5EF4-FFF2-40B4-BE49-F238E27FC236}">
                    <a16:creationId xmlns:a16="http://schemas.microsoft.com/office/drawing/2014/main" id="{BAC0ABD8-26C9-F36B-78B8-57E08DD1F8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7828182" flipH="1" flipV="1">
                <a:off x="8172036" y="4177746"/>
                <a:ext cx="1260479" cy="323850"/>
              </a:xfrm>
              <a:prstGeom prst="line">
                <a:avLst/>
              </a:prstGeom>
              <a:noFill/>
              <a:ln w="50800">
                <a:solidFill>
                  <a:srgbClr val="3333FF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43" name="Line 30">
                <a:extLst>
                  <a:ext uri="{FF2B5EF4-FFF2-40B4-BE49-F238E27FC236}">
                    <a16:creationId xmlns:a16="http://schemas.microsoft.com/office/drawing/2014/main" id="{20A4F42B-1F44-2D58-778A-136D7080A7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244435" y="3543822"/>
                <a:ext cx="0" cy="1141432"/>
              </a:xfrm>
              <a:prstGeom prst="line">
                <a:avLst/>
              </a:prstGeom>
              <a:noFill/>
              <a:ln w="50800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9" name="Text Box 47">
                <a:extLst>
                  <a:ext uri="{FF2B5EF4-FFF2-40B4-BE49-F238E27FC236}">
                    <a16:creationId xmlns:a16="http://schemas.microsoft.com/office/drawing/2014/main" id="{69D0F6A5-9E15-0554-0F75-CE5EB1123B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6200000">
                <a:off x="8305965" y="3897440"/>
                <a:ext cx="369888" cy="5984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sz="2800" dirty="0">
                    <a:solidFill>
                      <a:srgbClr val="008000"/>
                    </a:solidFill>
                    <a:sym typeface="Symbol" panose="05050102010706020507" pitchFamily="18" charset="2"/>
                  </a:rPr>
                  <a:t></a:t>
                </a:r>
              </a:p>
            </p:txBody>
          </p:sp>
          <p:sp>
            <p:nvSpPr>
              <p:cNvPr id="26" name="Arco 25">
                <a:extLst>
                  <a:ext uri="{FF2B5EF4-FFF2-40B4-BE49-F238E27FC236}">
                    <a16:creationId xmlns:a16="http://schemas.microsoft.com/office/drawing/2014/main" id="{792D6435-089D-1A05-4A96-355B50230AEE}"/>
                  </a:ext>
                </a:extLst>
              </p:cNvPr>
              <p:cNvSpPr/>
              <p:nvPr/>
            </p:nvSpPr>
            <p:spPr bwMode="auto">
              <a:xfrm>
                <a:off x="8108634" y="4403505"/>
                <a:ext cx="360000" cy="360000"/>
              </a:xfrm>
              <a:prstGeom prst="arc">
                <a:avLst/>
              </a:prstGeom>
              <a:noFill/>
              <a:ln w="28575" cap="flat" cmpd="sng" algn="ctr">
                <a:solidFill>
                  <a:srgbClr val="008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cxnSp>
            <p:nvCxnSpPr>
              <p:cNvPr id="36" name="Conector recto de flecha 35">
                <a:extLst>
                  <a:ext uri="{FF2B5EF4-FFF2-40B4-BE49-F238E27FC236}">
                    <a16:creationId xmlns:a16="http://schemas.microsoft.com/office/drawing/2014/main" id="{E4675C48-C2AA-6318-08DD-EBAB97282641}"/>
                  </a:ext>
                </a:extLst>
              </p:cNvPr>
              <p:cNvCxnSpPr/>
              <p:nvPr/>
            </p:nvCxnSpPr>
            <p:spPr bwMode="auto">
              <a:xfrm rot="5400000" flipV="1">
                <a:off x="8773450" y="4180518"/>
                <a:ext cx="0" cy="1080000"/>
              </a:xfrm>
              <a:prstGeom prst="straightConnector1">
                <a:avLst/>
              </a:prstGeom>
              <a:noFill/>
              <a:ln w="57150" cap="flat" cmpd="sng" algn="ctr">
                <a:solidFill>
                  <a:srgbClr val="3333FF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</p:cxnSp>
          <p:sp>
            <p:nvSpPr>
              <p:cNvPr id="37" name="Line 50">
                <a:extLst>
                  <a:ext uri="{FF2B5EF4-FFF2-40B4-BE49-F238E27FC236}">
                    <a16:creationId xmlns:a16="http://schemas.microsoft.com/office/drawing/2014/main" id="{B9ACAF91-66FC-4E86-87B2-2B5FFFF2AA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306673" y="4028901"/>
                <a:ext cx="7937" cy="722844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prstDash val="dash"/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38" name="Line 50">
                <a:extLst>
                  <a:ext uri="{FF2B5EF4-FFF2-40B4-BE49-F238E27FC236}">
                    <a16:creationId xmlns:a16="http://schemas.microsoft.com/office/drawing/2014/main" id="{D20F48AE-2861-23A8-4B5E-B74653FD2D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>
                <a:off x="8759425" y="3491512"/>
                <a:ext cx="8731" cy="962105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prstDash val="dash"/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Object 55">
                  <a:extLst>
                    <a:ext uri="{FF2B5EF4-FFF2-40B4-BE49-F238E27FC236}">
                      <a16:creationId xmlns:a16="http://schemas.microsoft.com/office/drawing/2014/main" id="{4C7CCDC1-8C36-B078-26FE-B0FCABD6AA6D}"/>
                    </a:ext>
                  </a:extLst>
                </p:cNvPr>
                <p:cNvSpPr txBox="1"/>
                <p:nvPr/>
              </p:nvSpPr>
              <p:spPr bwMode="auto">
                <a:xfrm>
                  <a:off x="9647686" y="4067635"/>
                  <a:ext cx="506413" cy="54292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ES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s-E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s-ES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</m:acc>
                          </m:e>
                          <m:sub>
                            <m:r>
                              <a:rPr lang="es-E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⊥</m:t>
                            </m:r>
                          </m:sub>
                        </m:sSub>
                      </m:oMath>
                    </m:oMathPara>
                  </a14:m>
                  <a:endParaRPr lang="es-ES"/>
                </a:p>
              </p:txBody>
            </p:sp>
          </mc:Choice>
          <mc:Fallback xmlns="">
            <p:sp>
              <p:nvSpPr>
                <p:cNvPr id="39" name="Object 55">
                  <a:extLst>
                    <a:ext uri="{FF2B5EF4-FFF2-40B4-BE49-F238E27FC236}">
                      <a16:creationId xmlns:a16="http://schemas.microsoft.com/office/drawing/2014/main" id="{4C7CCDC1-8C36-B078-26FE-B0FCABD6AA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647686" y="4067635"/>
                  <a:ext cx="506413" cy="54292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Object 55">
                  <a:extLst>
                    <a:ext uri="{FF2B5EF4-FFF2-40B4-BE49-F238E27FC236}">
                      <a16:creationId xmlns:a16="http://schemas.microsoft.com/office/drawing/2014/main" id="{FFB69F19-0B37-4A1C-65B6-84AC0C623A10}"/>
                    </a:ext>
                  </a:extLst>
                </p:cNvPr>
                <p:cNvSpPr txBox="1"/>
                <p:nvPr/>
              </p:nvSpPr>
              <p:spPr bwMode="auto">
                <a:xfrm>
                  <a:off x="9091387" y="3366099"/>
                  <a:ext cx="506412" cy="54292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ES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s-E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s-ES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</m:acc>
                          </m:e>
                          <m:sub>
                            <m:r>
                              <a:rPr lang="es-ES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∥</m:t>
                            </m:r>
                          </m:sub>
                        </m:sSub>
                      </m:oMath>
                    </m:oMathPara>
                  </a14:m>
                  <a:endParaRPr lang="es-ES" sz="1600" dirty="0"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41" name="Object 55">
                  <a:extLst>
                    <a:ext uri="{FF2B5EF4-FFF2-40B4-BE49-F238E27FC236}">
                      <a16:creationId xmlns:a16="http://schemas.microsoft.com/office/drawing/2014/main" id="{FFB69F19-0B37-4A1C-65B6-84AC0C623A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091387" y="3366099"/>
                  <a:ext cx="506412" cy="54292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Conector recto de flecha 32">
              <a:extLst>
                <a:ext uri="{FF2B5EF4-FFF2-40B4-BE49-F238E27FC236}">
                  <a16:creationId xmlns:a16="http://schemas.microsoft.com/office/drawing/2014/main" id="{4C085C06-8572-9A67-1DDC-169D6A12E314}"/>
                </a:ext>
              </a:extLst>
            </p:cNvPr>
            <p:cNvCxnSpPr/>
            <p:nvPr/>
          </p:nvCxnSpPr>
          <p:spPr bwMode="auto">
            <a:xfrm rot="16200000" flipV="1">
              <a:off x="9249211" y="3408282"/>
              <a:ext cx="0" cy="792000"/>
            </a:xfrm>
            <a:prstGeom prst="straightConnector1">
              <a:avLst/>
            </a:prstGeom>
            <a:noFill/>
            <a:ln w="57150" cap="flat" cmpd="sng" algn="ctr">
              <a:solidFill>
                <a:srgbClr val="3333FF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49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492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492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0" dur="500"/>
                                        <p:tgtEl>
                                          <p:spTgt spid="21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21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15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15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52" grpId="0" animBg="1"/>
      <p:bldP spid="21542" grpId="0"/>
      <p:bldP spid="21537" grpId="0"/>
      <p:bldP spid="649299" grpId="0" animBg="1"/>
      <p:bldP spid="62" grpId="0"/>
      <p:bldP spid="28" grpId="0"/>
      <p:bldP spid="30" grpId="0"/>
      <p:bldP spid="31" grpId="0"/>
      <p:bldP spid="2" grpId="0"/>
      <p:bldP spid="34" grpId="0"/>
      <p:bldP spid="40" grpId="0" animBg="1"/>
      <p:bldP spid="42" grpId="0"/>
      <p:bldP spid="45" grpId="0" animBg="1"/>
      <p:bldP spid="47" grpId="0"/>
      <p:bldP spid="4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2"/>
          <p:cNvSpPr>
            <a:spLocks noChangeArrowheads="1"/>
          </p:cNvSpPr>
          <p:nvPr/>
        </p:nvSpPr>
        <p:spPr bwMode="auto">
          <a:xfrm>
            <a:off x="5761945" y="351742"/>
            <a:ext cx="2089150" cy="509587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82800" rIns="90000" bIns="82800" anchor="ctr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/>
          </a:p>
        </p:txBody>
      </p:sp>
      <p:sp>
        <p:nvSpPr>
          <p:cNvPr id="23555" name="Rectangle 4"/>
          <p:cNvSpPr>
            <a:spLocks noChangeArrowheads="1"/>
          </p:cNvSpPr>
          <p:nvPr/>
        </p:nvSpPr>
        <p:spPr bwMode="auto">
          <a:xfrm>
            <a:off x="1304245" y="367617"/>
            <a:ext cx="89312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tabLst>
                <a:tab pos="196850" algn="r"/>
                <a:tab pos="2940050" algn="ctr"/>
                <a:tab pos="5880100" algn="r"/>
              </a:tabLs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 defTabSz="995363">
              <a:tabLst>
                <a:tab pos="196850" algn="r"/>
                <a:tab pos="2940050" algn="ctr"/>
                <a:tab pos="5880100" algn="r"/>
              </a:tabLs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 defTabSz="995363">
              <a:tabLst>
                <a:tab pos="196850" algn="r"/>
                <a:tab pos="2940050" algn="ctr"/>
                <a:tab pos="5880100" algn="r"/>
              </a:tabLs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 defTabSz="995363">
              <a:tabLst>
                <a:tab pos="196850" algn="r"/>
                <a:tab pos="2940050" algn="ctr"/>
                <a:tab pos="5880100" algn="r"/>
              </a:tabLs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 defTabSz="995363">
              <a:tabLst>
                <a:tab pos="196850" algn="r"/>
                <a:tab pos="2940050" algn="ctr"/>
                <a:tab pos="5880100" algn="r"/>
              </a:tabLs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0"/>
              </a:spcBef>
              <a:spcAft>
                <a:spcPct val="0"/>
              </a:spcAft>
              <a:tabLst>
                <a:tab pos="196850" algn="r"/>
                <a:tab pos="2940050" algn="ctr"/>
                <a:tab pos="5880100" algn="r"/>
              </a:tabLs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0"/>
              </a:spcBef>
              <a:spcAft>
                <a:spcPct val="0"/>
              </a:spcAft>
              <a:tabLst>
                <a:tab pos="196850" algn="r"/>
                <a:tab pos="2940050" algn="ctr"/>
                <a:tab pos="5880100" algn="r"/>
              </a:tabLs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0"/>
              </a:spcBef>
              <a:spcAft>
                <a:spcPct val="0"/>
              </a:spcAft>
              <a:tabLst>
                <a:tab pos="196850" algn="r"/>
                <a:tab pos="2940050" algn="ctr"/>
                <a:tab pos="5880100" algn="r"/>
              </a:tabLs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0"/>
              </a:spcBef>
              <a:spcAft>
                <a:spcPct val="0"/>
              </a:spcAft>
              <a:tabLst>
                <a:tab pos="196850" algn="r"/>
                <a:tab pos="2940050" algn="ctr"/>
                <a:tab pos="5880100" algn="r"/>
              </a:tabLs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" sz="2400" b="1">
                <a:solidFill>
                  <a:srgbClr val="CC0000"/>
                </a:solidFill>
              </a:rPr>
              <a:t>5.2.3 EFECTOS DE B SOBRE:  UNA ESPIRA</a:t>
            </a:r>
          </a:p>
        </p:txBody>
      </p:sp>
      <p:sp>
        <p:nvSpPr>
          <p:cNvPr id="23556" name="Line 5"/>
          <p:cNvSpPr>
            <a:spLocks noChangeShapeType="1"/>
          </p:cNvSpPr>
          <p:nvPr/>
        </p:nvSpPr>
        <p:spPr bwMode="auto">
          <a:xfrm flipV="1">
            <a:off x="4177620" y="434292"/>
            <a:ext cx="215900" cy="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0000" tIns="82800" rIns="90000" bIns="82800">
            <a:spAutoFit/>
          </a:bodyPr>
          <a:lstStyle/>
          <a:p>
            <a:endParaRPr lang="en-GB"/>
          </a:p>
        </p:txBody>
      </p:sp>
      <p:sp>
        <p:nvSpPr>
          <p:cNvPr id="23612" name="Text Box 34"/>
          <p:cNvSpPr txBox="1">
            <a:spLocks noChangeArrowheads="1"/>
          </p:cNvSpPr>
          <p:nvPr/>
        </p:nvSpPr>
        <p:spPr bwMode="auto">
          <a:xfrm>
            <a:off x="5773166" y="3292438"/>
            <a:ext cx="4687568" cy="5365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 </a:t>
            </a:r>
            <a:r>
              <a:rPr lang="es-ES" sz="2400" b="1">
                <a:solidFill>
                  <a:schemeClr val="tx1"/>
                </a:solidFill>
              </a:rPr>
              <a:t>B</a:t>
            </a:r>
            <a:r>
              <a:rPr lang="es-ES" sz="2400">
                <a:solidFill>
                  <a:schemeClr val="tx1"/>
                </a:solidFill>
              </a:rPr>
              <a:t> uniforme en plano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 a espira</a:t>
            </a:r>
            <a:endParaRPr lang="es-ES" sz="2400" dirty="0">
              <a:solidFill>
                <a:schemeClr val="tx1"/>
              </a:solidFill>
            </a:endParaRPr>
          </a:p>
        </p:txBody>
      </p:sp>
      <p:sp>
        <p:nvSpPr>
          <p:cNvPr id="23614" name="Text Box 36"/>
          <p:cNvSpPr txBox="1">
            <a:spLocks noChangeArrowheads="1"/>
          </p:cNvSpPr>
          <p:nvPr/>
        </p:nvSpPr>
        <p:spPr bwMode="auto">
          <a:xfrm>
            <a:off x="5771312" y="1143055"/>
            <a:ext cx="2767402" cy="53654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s-ES" sz="2400">
                <a:solidFill>
                  <a:schemeClr val="tx1"/>
                </a:solidFill>
              </a:rPr>
              <a:t>Caso más sencillo:</a:t>
            </a:r>
          </a:p>
        </p:txBody>
      </p:sp>
      <p:sp>
        <p:nvSpPr>
          <p:cNvPr id="23615" name="Text Box 37"/>
          <p:cNvSpPr txBox="1">
            <a:spLocks noChangeArrowheads="1"/>
          </p:cNvSpPr>
          <p:nvPr/>
        </p:nvSpPr>
        <p:spPr bwMode="auto">
          <a:xfrm>
            <a:off x="5773344" y="1871034"/>
            <a:ext cx="4687568" cy="127521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 Una e</a:t>
            </a:r>
            <a:r>
              <a:rPr lang="es-ES" sz="2400">
                <a:solidFill>
                  <a:srgbClr val="3333FF"/>
                </a:solidFill>
                <a:sym typeface="Symbol" panose="05050102010706020507" pitchFamily="18" charset="2"/>
              </a:rPr>
              <a:t>spira cuadrada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, de</a:t>
            </a:r>
          </a:p>
          <a:p>
            <a:pPr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   sección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despreciable, un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hilo,</a:t>
            </a:r>
          </a:p>
          <a:p>
            <a:pPr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   por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la que circula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una corriente</a:t>
            </a:r>
            <a:endParaRPr lang="es-ES" sz="2400" dirty="0">
              <a:solidFill>
                <a:schemeClr val="tx1"/>
              </a:solidFill>
              <a:latin typeface="Comic Sans MS" panose="030F0702030302020204" pitchFamily="66" charset="0"/>
              <a:sym typeface="Symbol" panose="05050102010706020507" pitchFamily="18" charset="2"/>
            </a:endParaRPr>
          </a:p>
        </p:txBody>
      </p:sp>
      <p:grpSp>
        <p:nvGrpSpPr>
          <p:cNvPr id="4" name="Grupo 3"/>
          <p:cNvGrpSpPr>
            <a:grpSpLocks/>
          </p:cNvGrpSpPr>
          <p:nvPr/>
        </p:nvGrpSpPr>
        <p:grpSpPr bwMode="auto">
          <a:xfrm>
            <a:off x="1984568" y="1540185"/>
            <a:ext cx="2175699" cy="2973388"/>
            <a:chOff x="2169289" y="1816100"/>
            <a:chExt cx="2175699" cy="2973388"/>
          </a:xfrm>
        </p:grpSpPr>
        <p:sp>
          <p:nvSpPr>
            <p:cNvPr id="23592" name="Line 11"/>
            <p:cNvSpPr>
              <a:spLocks noChangeShapeType="1"/>
            </p:cNvSpPr>
            <p:nvPr/>
          </p:nvSpPr>
          <p:spPr bwMode="auto">
            <a:xfrm flipH="1">
              <a:off x="2532063" y="1954213"/>
              <a:ext cx="1806575" cy="531812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23593" name="Line 12"/>
            <p:cNvSpPr>
              <a:spLocks noChangeShapeType="1"/>
            </p:cNvSpPr>
            <p:nvPr/>
          </p:nvSpPr>
          <p:spPr bwMode="auto">
            <a:xfrm flipH="1">
              <a:off x="2538413" y="4241800"/>
              <a:ext cx="1806575" cy="531813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23594" name="Line 13"/>
            <p:cNvSpPr>
              <a:spLocks noChangeShapeType="1"/>
            </p:cNvSpPr>
            <p:nvPr/>
          </p:nvSpPr>
          <p:spPr bwMode="auto">
            <a:xfrm flipH="1">
              <a:off x="2527300" y="2508250"/>
              <a:ext cx="0" cy="2281238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23595" name="Line 14"/>
            <p:cNvSpPr>
              <a:spLocks noChangeShapeType="1"/>
            </p:cNvSpPr>
            <p:nvPr/>
          </p:nvSpPr>
          <p:spPr bwMode="auto">
            <a:xfrm flipH="1">
              <a:off x="4338638" y="1943100"/>
              <a:ext cx="0" cy="2281238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23596" name="Line 15"/>
            <p:cNvSpPr>
              <a:spLocks noChangeShapeType="1"/>
            </p:cNvSpPr>
            <p:nvPr/>
          </p:nvSpPr>
          <p:spPr bwMode="auto">
            <a:xfrm flipH="1">
              <a:off x="2817813" y="2273300"/>
              <a:ext cx="393700" cy="12700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23597" name="Line 16"/>
            <p:cNvSpPr>
              <a:spLocks noChangeShapeType="1"/>
            </p:cNvSpPr>
            <p:nvPr/>
          </p:nvSpPr>
          <p:spPr bwMode="auto">
            <a:xfrm flipV="1">
              <a:off x="3573463" y="4344988"/>
              <a:ext cx="393700" cy="12700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23598" name="Line 17"/>
            <p:cNvSpPr>
              <a:spLocks noChangeShapeType="1"/>
            </p:cNvSpPr>
            <p:nvPr/>
          </p:nvSpPr>
          <p:spPr bwMode="auto">
            <a:xfrm flipH="1">
              <a:off x="2519363" y="3883025"/>
              <a:ext cx="0" cy="288925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23599" name="Line 18"/>
            <p:cNvSpPr>
              <a:spLocks noChangeShapeType="1"/>
            </p:cNvSpPr>
            <p:nvPr/>
          </p:nvSpPr>
          <p:spPr bwMode="auto">
            <a:xfrm flipH="1" flipV="1">
              <a:off x="4343400" y="2630488"/>
              <a:ext cx="0" cy="288925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23600" name="Text Box 22"/>
            <p:cNvSpPr txBox="1">
              <a:spLocks noChangeArrowheads="1"/>
            </p:cNvSpPr>
            <p:nvPr/>
          </p:nvSpPr>
          <p:spPr bwMode="auto">
            <a:xfrm>
              <a:off x="2852738" y="1816100"/>
              <a:ext cx="350074" cy="5365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b="1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</a:p>
          </p:txBody>
        </p:sp>
        <p:sp>
          <p:nvSpPr>
            <p:cNvPr id="23601" name="Text Box 23"/>
            <p:cNvSpPr txBox="1">
              <a:spLocks noChangeArrowheads="1"/>
            </p:cNvSpPr>
            <p:nvPr/>
          </p:nvSpPr>
          <p:spPr bwMode="auto">
            <a:xfrm>
              <a:off x="3537712" y="3969893"/>
              <a:ext cx="350074" cy="5365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b="1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</a:p>
          </p:txBody>
        </p:sp>
        <p:sp>
          <p:nvSpPr>
            <p:cNvPr id="23602" name="Text Box 44"/>
            <p:cNvSpPr txBox="1">
              <a:spLocks noChangeArrowheads="1"/>
            </p:cNvSpPr>
            <p:nvPr/>
          </p:nvSpPr>
          <p:spPr bwMode="auto">
            <a:xfrm>
              <a:off x="3986907" y="2289982"/>
              <a:ext cx="350074" cy="5365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b="1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</a:p>
          </p:txBody>
        </p:sp>
        <p:sp>
          <p:nvSpPr>
            <p:cNvPr id="23603" name="Text Box 45"/>
            <p:cNvSpPr txBox="1">
              <a:spLocks noChangeArrowheads="1"/>
            </p:cNvSpPr>
            <p:nvPr/>
          </p:nvSpPr>
          <p:spPr bwMode="auto">
            <a:xfrm>
              <a:off x="2169289" y="4073436"/>
              <a:ext cx="350074" cy="5365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b="1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</a:p>
          </p:txBody>
        </p:sp>
      </p:grpSp>
      <p:grpSp>
        <p:nvGrpSpPr>
          <p:cNvPr id="6" name="Grupo 5"/>
          <p:cNvGrpSpPr>
            <a:grpSpLocks/>
          </p:cNvGrpSpPr>
          <p:nvPr/>
        </p:nvGrpSpPr>
        <p:grpSpPr bwMode="auto">
          <a:xfrm>
            <a:off x="1455167" y="1795773"/>
            <a:ext cx="3584575" cy="2627312"/>
            <a:chOff x="1639888" y="2071792"/>
            <a:chExt cx="3584575" cy="2627900"/>
          </a:xfrm>
        </p:grpSpPr>
        <p:sp>
          <p:nvSpPr>
            <p:cNvPr id="23589" name="Line 2"/>
            <p:cNvSpPr>
              <a:spLocks noChangeShapeType="1"/>
            </p:cNvSpPr>
            <p:nvPr/>
          </p:nvSpPr>
          <p:spPr bwMode="auto">
            <a:xfrm>
              <a:off x="3052763" y="3084513"/>
              <a:ext cx="685800" cy="6381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23590" name="Line 8"/>
            <p:cNvSpPr>
              <a:spLocks noChangeShapeType="1"/>
            </p:cNvSpPr>
            <p:nvPr/>
          </p:nvSpPr>
          <p:spPr bwMode="auto">
            <a:xfrm rot="3600000" flipV="1">
              <a:off x="2987676" y="1614487"/>
              <a:ext cx="889000" cy="35845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23591" name="Line 8"/>
            <p:cNvSpPr>
              <a:spLocks noChangeShapeType="1"/>
            </p:cNvSpPr>
            <p:nvPr/>
          </p:nvSpPr>
          <p:spPr bwMode="auto">
            <a:xfrm flipV="1">
              <a:off x="3414985" y="2071792"/>
              <a:ext cx="0" cy="26279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</p:grpSp>
      <p:grpSp>
        <p:nvGrpSpPr>
          <p:cNvPr id="7" name="Grupo 6"/>
          <p:cNvGrpSpPr>
            <a:grpSpLocks/>
          </p:cNvGrpSpPr>
          <p:nvPr/>
        </p:nvGrpSpPr>
        <p:grpSpPr bwMode="auto">
          <a:xfrm>
            <a:off x="3229991" y="3115010"/>
            <a:ext cx="1981334" cy="575408"/>
            <a:chOff x="3414713" y="3391291"/>
            <a:chExt cx="1980705" cy="575852"/>
          </a:xfrm>
        </p:grpSpPr>
        <p:graphicFrame>
          <p:nvGraphicFramePr>
            <p:cNvPr id="23585" name="Object 26"/>
            <p:cNvGraphicFramePr>
              <a:graphicFrameLocks noChangeAspect="1"/>
            </p:cNvGraphicFramePr>
            <p:nvPr/>
          </p:nvGraphicFramePr>
          <p:xfrm>
            <a:off x="4405293" y="3391291"/>
            <a:ext cx="990125" cy="5758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457002" imgH="266584" progId="Equation.3">
                    <p:embed/>
                  </p:oleObj>
                </mc:Choice>
                <mc:Fallback>
                  <p:oleObj name="Ecuación" r:id="rId3" imgW="457002" imgH="266584" progId="Equation.3">
                    <p:embed/>
                    <p:pic>
                      <p:nvPicPr>
                        <p:cNvPr id="23585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05293" y="3391291"/>
                          <a:ext cx="990125" cy="5758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86" name="Line 25"/>
            <p:cNvSpPr>
              <a:spLocks noChangeShapeType="1"/>
            </p:cNvSpPr>
            <p:nvPr/>
          </p:nvSpPr>
          <p:spPr bwMode="auto">
            <a:xfrm>
              <a:off x="3414713" y="3407156"/>
              <a:ext cx="1063625" cy="0"/>
            </a:xfrm>
            <a:prstGeom prst="line">
              <a:avLst/>
            </a:prstGeom>
            <a:noFill/>
            <a:ln w="50800">
              <a:solidFill>
                <a:srgbClr val="C0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</p:grpSp>
      <p:grpSp>
        <p:nvGrpSpPr>
          <p:cNvPr id="9" name="Grupo 8"/>
          <p:cNvGrpSpPr>
            <a:grpSpLocks/>
          </p:cNvGrpSpPr>
          <p:nvPr/>
        </p:nvGrpSpPr>
        <p:grpSpPr bwMode="auto">
          <a:xfrm>
            <a:off x="5769882" y="5020856"/>
            <a:ext cx="4003305" cy="741795"/>
            <a:chOff x="5987923" y="3883570"/>
            <a:chExt cx="4002856" cy="742424"/>
          </a:xfrm>
        </p:grpSpPr>
        <p:sp>
          <p:nvSpPr>
            <p:cNvPr id="23581" name="Rectángulo 7"/>
            <p:cNvSpPr>
              <a:spLocks noChangeArrowheads="1"/>
            </p:cNvSpPr>
            <p:nvPr/>
          </p:nvSpPr>
          <p:spPr bwMode="auto">
            <a:xfrm>
              <a:off x="5987923" y="3883570"/>
              <a:ext cx="4002856" cy="742424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/>
            </a:p>
          </p:txBody>
        </p:sp>
        <p:graphicFrame>
          <p:nvGraphicFramePr>
            <p:cNvPr id="23582" name="Object 69"/>
            <p:cNvGraphicFramePr>
              <a:graphicFrameLocks noChangeAspect="1"/>
            </p:cNvGraphicFramePr>
            <p:nvPr/>
          </p:nvGraphicFramePr>
          <p:xfrm>
            <a:off x="6028112" y="3927096"/>
            <a:ext cx="3914775" cy="682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1459866" imgH="253890" progId="Equation.3">
                    <p:embed/>
                  </p:oleObj>
                </mc:Choice>
                <mc:Fallback>
                  <p:oleObj name="Ecuación" r:id="rId5" imgW="1459866" imgH="253890" progId="Equation.3">
                    <p:embed/>
                    <p:pic>
                      <p:nvPicPr>
                        <p:cNvPr id="23582" name="Object 6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28112" y="3927096"/>
                          <a:ext cx="3914775" cy="6826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" name="CuadroTexto 4"/>
          <p:cNvSpPr txBox="1">
            <a:spLocks noChangeArrowheads="1"/>
          </p:cNvSpPr>
          <p:nvPr/>
        </p:nvSpPr>
        <p:spPr bwMode="auto">
          <a:xfrm>
            <a:off x="7767683" y="5807158"/>
            <a:ext cx="251308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 dirty="0">
                <a:solidFill>
                  <a:srgbClr val="FF0000"/>
                </a:solidFill>
              </a:rPr>
              <a:t>(</a:t>
            </a:r>
            <a:r>
              <a:rPr lang="es-ES" sz="2400">
                <a:solidFill>
                  <a:srgbClr val="FF0000"/>
                </a:solidFill>
              </a:rPr>
              <a:t>no se desplaza)</a:t>
            </a:r>
            <a:endParaRPr lang="es-ES" sz="2400" dirty="0">
              <a:solidFill>
                <a:srgbClr val="FF0000"/>
              </a:solidFill>
            </a:endParaRPr>
          </a:p>
        </p:txBody>
      </p:sp>
      <p:sp>
        <p:nvSpPr>
          <p:cNvPr id="63" name="Text Box 34"/>
          <p:cNvSpPr txBox="1">
            <a:spLocks noChangeArrowheads="1"/>
          </p:cNvSpPr>
          <p:nvPr/>
        </p:nvSpPr>
        <p:spPr bwMode="auto">
          <a:xfrm>
            <a:off x="7895521" y="318366"/>
            <a:ext cx="1911398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dirty="0">
                <a:solidFill>
                  <a:srgbClr val="FF0000"/>
                </a:solidFill>
              </a:rPr>
              <a:t>(conductora)</a:t>
            </a:r>
          </a:p>
        </p:txBody>
      </p:sp>
      <p:sp>
        <p:nvSpPr>
          <p:cNvPr id="64" name="Text Box 34"/>
          <p:cNvSpPr txBox="1">
            <a:spLocks noChangeArrowheads="1"/>
          </p:cNvSpPr>
          <p:nvPr/>
        </p:nvSpPr>
        <p:spPr bwMode="auto">
          <a:xfrm>
            <a:off x="5776223" y="4070617"/>
            <a:ext cx="3729518" cy="536549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dirty="0">
                <a:solidFill>
                  <a:schemeClr val="tx1"/>
                </a:solidFill>
              </a:rPr>
              <a:t>Se puede aplicar Laplace:</a:t>
            </a:r>
          </a:p>
        </p:txBody>
      </p:sp>
      <p:sp>
        <p:nvSpPr>
          <p:cNvPr id="68" name="Text Box 34">
            <a:extLst>
              <a:ext uri="{FF2B5EF4-FFF2-40B4-BE49-F238E27FC236}">
                <a16:creationId xmlns:a16="http://schemas.microsoft.com/office/drawing/2014/main" id="{1EDA3BDE-F962-4F1C-8783-C4EC20320E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4434" y="3544204"/>
            <a:ext cx="1102964" cy="998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1800" dirty="0">
                <a:solidFill>
                  <a:srgbClr val="FF0000"/>
                </a:solidFill>
              </a:rPr>
              <a:t>(igual en todos los puntos)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68E7A7D-8737-9D23-DC6D-FBF41FDBF5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4076" y="6312804"/>
            <a:ext cx="6658372" cy="558615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72000" rIns="72000" anchor="ctr" anchorCtr="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>
                <a:solidFill>
                  <a:schemeClr val="tx1"/>
                </a:solidFill>
              </a:rPr>
              <a:t>Si </a:t>
            </a:r>
            <a:r>
              <a:rPr lang="es-ES" sz="2400" b="1">
                <a:solidFill>
                  <a:schemeClr val="tx1"/>
                </a:solidFill>
              </a:rPr>
              <a:t>B</a:t>
            </a:r>
            <a:r>
              <a:rPr lang="es-ES" sz="2400">
                <a:solidFill>
                  <a:schemeClr val="tx1"/>
                </a:solidFill>
              </a:rPr>
              <a:t> no fuera uniforme la fuerza no sería nula</a:t>
            </a:r>
            <a:endParaRPr lang="es-ES" sz="2400" dirty="0">
              <a:solidFill>
                <a:schemeClr val="tx1"/>
              </a:solidFill>
            </a:endParaRPr>
          </a:p>
        </p:txBody>
      </p:sp>
      <p:grpSp>
        <p:nvGrpSpPr>
          <p:cNvPr id="630803" name="Group 19"/>
          <p:cNvGrpSpPr>
            <a:grpSpLocks/>
          </p:cNvGrpSpPr>
          <p:nvPr/>
        </p:nvGrpSpPr>
        <p:grpSpPr bwMode="auto">
          <a:xfrm>
            <a:off x="2098104" y="5028095"/>
            <a:ext cx="2317750" cy="754063"/>
            <a:chOff x="4464" y="2357"/>
            <a:chExt cx="1461" cy="475"/>
          </a:xfrm>
        </p:grpSpPr>
        <p:sp>
          <p:nvSpPr>
            <p:cNvPr id="2" name="Rectangle 20"/>
            <p:cNvSpPr>
              <a:spLocks noChangeArrowheads="1"/>
            </p:cNvSpPr>
            <p:nvPr/>
          </p:nvSpPr>
          <p:spPr bwMode="auto">
            <a:xfrm>
              <a:off x="4464" y="2357"/>
              <a:ext cx="1461" cy="475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/>
            </a:p>
          </p:txBody>
        </p:sp>
        <p:graphicFrame>
          <p:nvGraphicFramePr>
            <p:cNvPr id="3" name="Object 21"/>
            <p:cNvGraphicFramePr>
              <a:graphicFrameLocks noChangeAspect="1"/>
            </p:cNvGraphicFramePr>
            <p:nvPr/>
          </p:nvGraphicFramePr>
          <p:xfrm>
            <a:off x="4518" y="2391"/>
            <a:ext cx="1316" cy="4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7" imgW="748975" imgH="241195" progId="Equation.3">
                    <p:embed/>
                  </p:oleObj>
                </mc:Choice>
                <mc:Fallback>
                  <p:oleObj name="Ecuación" r:id="rId7" imgW="748975" imgH="241195" progId="Equation.3">
                    <p:embed/>
                    <p:pic>
                      <p:nvPicPr>
                        <p:cNvPr id="3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8" y="2391"/>
                          <a:ext cx="1316" cy="4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08797499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3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3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3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630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23612" grpId="0" animBg="1"/>
      <p:bldP spid="23614" grpId="0" animBg="1"/>
      <p:bldP spid="23615" grpId="0" animBg="1"/>
      <p:bldP spid="5" grpId="0"/>
      <p:bldP spid="63" grpId="0"/>
      <p:bldP spid="64" grpId="0" animBg="1"/>
      <p:bldP spid="68" grpId="0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ángulo 66">
            <a:extLst>
              <a:ext uri="{FF2B5EF4-FFF2-40B4-BE49-F238E27FC236}">
                <a16:creationId xmlns:a16="http://schemas.microsoft.com/office/drawing/2014/main" id="{7B8A36D4-16F7-426F-83E7-6BCA13044E30}"/>
              </a:ext>
            </a:extLst>
          </p:cNvPr>
          <p:cNvSpPr/>
          <p:nvPr/>
        </p:nvSpPr>
        <p:spPr bwMode="auto">
          <a:xfrm rot="3746473">
            <a:off x="1242421" y="4704787"/>
            <a:ext cx="593860" cy="578137"/>
          </a:xfrm>
          <a:prstGeom prst="rect">
            <a:avLst/>
          </a:prstGeom>
          <a:solidFill>
            <a:srgbClr val="FFFF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0000" tIns="82800" rIns="90000" bIns="82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D60093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6" name="Rectángulo 65">
            <a:extLst>
              <a:ext uri="{FF2B5EF4-FFF2-40B4-BE49-F238E27FC236}">
                <a16:creationId xmlns:a16="http://schemas.microsoft.com/office/drawing/2014/main" id="{391A66D0-B809-4EBC-B8FA-654B58C93D29}"/>
              </a:ext>
            </a:extLst>
          </p:cNvPr>
          <p:cNvSpPr/>
          <p:nvPr/>
        </p:nvSpPr>
        <p:spPr bwMode="auto">
          <a:xfrm rot="3608923">
            <a:off x="1948704" y="896887"/>
            <a:ext cx="593860" cy="578137"/>
          </a:xfrm>
          <a:prstGeom prst="rect">
            <a:avLst/>
          </a:prstGeom>
          <a:solidFill>
            <a:srgbClr val="FFFF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0000" tIns="82800" rIns="90000" bIns="82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D60093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630803" name="Group 19"/>
          <p:cNvGrpSpPr>
            <a:grpSpLocks/>
          </p:cNvGrpSpPr>
          <p:nvPr/>
        </p:nvGrpSpPr>
        <p:grpSpPr bwMode="auto">
          <a:xfrm>
            <a:off x="2083146" y="5864691"/>
            <a:ext cx="2317750" cy="911225"/>
            <a:chOff x="4464" y="2307"/>
            <a:chExt cx="1461" cy="574"/>
          </a:xfrm>
        </p:grpSpPr>
        <p:sp>
          <p:nvSpPr>
            <p:cNvPr id="2" name="Rectangle 20"/>
            <p:cNvSpPr>
              <a:spLocks noChangeArrowheads="1"/>
            </p:cNvSpPr>
            <p:nvPr/>
          </p:nvSpPr>
          <p:spPr bwMode="auto">
            <a:xfrm>
              <a:off x="4464" y="2307"/>
              <a:ext cx="1461" cy="574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/>
            </a:p>
          </p:txBody>
        </p:sp>
        <p:graphicFrame>
          <p:nvGraphicFramePr>
            <p:cNvPr id="3" name="Object 21"/>
            <p:cNvGraphicFramePr>
              <a:graphicFrameLocks noChangeAspect="1"/>
            </p:cNvGraphicFramePr>
            <p:nvPr/>
          </p:nvGraphicFramePr>
          <p:xfrm>
            <a:off x="4518" y="2391"/>
            <a:ext cx="1316" cy="4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748975" imgH="241195" progId="Equation.3">
                    <p:embed/>
                  </p:oleObj>
                </mc:Choice>
                <mc:Fallback>
                  <p:oleObj name="Ecuación" r:id="rId3" imgW="748975" imgH="241195" progId="Equation.3">
                    <p:embed/>
                    <p:pic>
                      <p:nvPicPr>
                        <p:cNvPr id="3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8" y="2391"/>
                          <a:ext cx="1316" cy="4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30822" name="Group 38"/>
          <p:cNvGrpSpPr>
            <a:grpSpLocks/>
          </p:cNvGrpSpPr>
          <p:nvPr/>
        </p:nvGrpSpPr>
        <p:grpSpPr bwMode="auto">
          <a:xfrm>
            <a:off x="4112642" y="1789427"/>
            <a:ext cx="863600" cy="881064"/>
            <a:chOff x="2707" y="1421"/>
            <a:chExt cx="544" cy="555"/>
          </a:xfrm>
        </p:grpSpPr>
        <p:sp>
          <p:nvSpPr>
            <p:cNvPr id="10" name="Line 39"/>
            <p:cNvSpPr>
              <a:spLocks noChangeShapeType="1"/>
            </p:cNvSpPr>
            <p:nvPr/>
          </p:nvSpPr>
          <p:spPr bwMode="auto">
            <a:xfrm rot="18900000">
              <a:off x="2707" y="1936"/>
              <a:ext cx="388" cy="4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82800" rIns="90000" bIns="82800">
              <a:spAutoFit/>
            </a:bodyPr>
            <a:lstStyle/>
            <a:p>
              <a:endParaRPr lang="en-GB"/>
            </a:p>
          </p:txBody>
        </p:sp>
        <p:graphicFrame>
          <p:nvGraphicFramePr>
            <p:cNvPr id="23613" name="Object 40"/>
            <p:cNvGraphicFramePr>
              <a:graphicFrameLocks noChangeAspect="1"/>
            </p:cNvGraphicFramePr>
            <p:nvPr/>
          </p:nvGraphicFramePr>
          <p:xfrm>
            <a:off x="2947" y="1421"/>
            <a:ext cx="304" cy="3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203024" imgH="253780" progId="Equation.3">
                    <p:embed/>
                  </p:oleObj>
                </mc:Choice>
                <mc:Fallback>
                  <p:oleObj name="Ecuación" r:id="rId5" imgW="203024" imgH="253780" progId="Equation.3">
                    <p:embed/>
                    <p:pic>
                      <p:nvPicPr>
                        <p:cNvPr id="23613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47" y="1421"/>
                          <a:ext cx="304" cy="3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30825" name="Group 41"/>
          <p:cNvGrpSpPr>
            <a:grpSpLocks/>
          </p:cNvGrpSpPr>
          <p:nvPr/>
        </p:nvGrpSpPr>
        <p:grpSpPr bwMode="auto">
          <a:xfrm>
            <a:off x="1502792" y="3637275"/>
            <a:ext cx="939801" cy="727075"/>
            <a:chOff x="1061" y="2588"/>
            <a:chExt cx="592" cy="458"/>
          </a:xfrm>
        </p:grpSpPr>
        <p:sp>
          <p:nvSpPr>
            <p:cNvPr id="23610" name="Line 42"/>
            <p:cNvSpPr>
              <a:spLocks noChangeShapeType="1"/>
            </p:cNvSpPr>
            <p:nvPr/>
          </p:nvSpPr>
          <p:spPr bwMode="auto">
            <a:xfrm rot="-2700000" flipH="1" flipV="1">
              <a:off x="1217" y="2588"/>
              <a:ext cx="436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graphicFrame>
          <p:nvGraphicFramePr>
            <p:cNvPr id="23611" name="Object 43"/>
            <p:cNvGraphicFramePr>
              <a:graphicFrameLocks noChangeAspect="1"/>
            </p:cNvGraphicFramePr>
            <p:nvPr/>
          </p:nvGraphicFramePr>
          <p:xfrm>
            <a:off x="1061" y="2664"/>
            <a:ext cx="304" cy="3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7" imgW="203024" imgH="253780" progId="Equation.3">
                    <p:embed/>
                  </p:oleObj>
                </mc:Choice>
                <mc:Fallback>
                  <p:oleObj name="Ecuación" r:id="rId7" imgW="203024" imgH="253780" progId="Equation.3">
                    <p:embed/>
                    <p:pic>
                      <p:nvPicPr>
                        <p:cNvPr id="23611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1" y="2664"/>
                          <a:ext cx="304" cy="3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5" name="Group 75"/>
          <p:cNvGrpSpPr>
            <a:grpSpLocks/>
          </p:cNvGrpSpPr>
          <p:nvPr/>
        </p:nvGrpSpPr>
        <p:grpSpPr bwMode="auto">
          <a:xfrm rot="2750915" flipH="1">
            <a:off x="2013791" y="975831"/>
            <a:ext cx="431800" cy="420687"/>
            <a:chOff x="6083" y="3089"/>
            <a:chExt cx="272" cy="265"/>
          </a:xfrm>
        </p:grpSpPr>
        <p:sp>
          <p:nvSpPr>
            <p:cNvPr id="23607" name="Line 76"/>
            <p:cNvSpPr>
              <a:spLocks noChangeShapeType="1"/>
            </p:cNvSpPr>
            <p:nvPr/>
          </p:nvSpPr>
          <p:spPr bwMode="auto">
            <a:xfrm rot="10415585" flipH="1">
              <a:off x="6098" y="3207"/>
              <a:ext cx="257" cy="1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3608" name="Line 77"/>
            <p:cNvSpPr>
              <a:spLocks noChangeShapeType="1"/>
            </p:cNvSpPr>
            <p:nvPr/>
          </p:nvSpPr>
          <p:spPr bwMode="auto">
            <a:xfrm rot="10415585">
              <a:off x="6083" y="3089"/>
              <a:ext cx="251" cy="1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3609" name="Oval 78"/>
            <p:cNvSpPr>
              <a:spLocks noChangeArrowheads="1"/>
            </p:cNvSpPr>
            <p:nvPr/>
          </p:nvSpPr>
          <p:spPr bwMode="auto">
            <a:xfrm rot="10415585">
              <a:off x="6132" y="3128"/>
              <a:ext cx="56" cy="197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/>
            </a:p>
          </p:txBody>
        </p:sp>
      </p:grpSp>
      <p:grpSp>
        <p:nvGrpSpPr>
          <p:cNvPr id="69" name="Group 75"/>
          <p:cNvGrpSpPr>
            <a:grpSpLocks/>
          </p:cNvGrpSpPr>
          <p:nvPr/>
        </p:nvGrpSpPr>
        <p:grpSpPr bwMode="auto">
          <a:xfrm rot="19415080" flipH="1">
            <a:off x="1315855" y="4823137"/>
            <a:ext cx="431800" cy="420688"/>
            <a:chOff x="6083" y="3089"/>
            <a:chExt cx="272" cy="265"/>
          </a:xfrm>
        </p:grpSpPr>
        <p:sp>
          <p:nvSpPr>
            <p:cNvPr id="23604" name="Line 76"/>
            <p:cNvSpPr>
              <a:spLocks noChangeShapeType="1"/>
            </p:cNvSpPr>
            <p:nvPr/>
          </p:nvSpPr>
          <p:spPr bwMode="auto">
            <a:xfrm rot="10415585" flipH="1">
              <a:off x="6098" y="3207"/>
              <a:ext cx="257" cy="1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3605" name="Line 77"/>
            <p:cNvSpPr>
              <a:spLocks noChangeShapeType="1"/>
            </p:cNvSpPr>
            <p:nvPr/>
          </p:nvSpPr>
          <p:spPr bwMode="auto">
            <a:xfrm rot="10415585">
              <a:off x="6083" y="3089"/>
              <a:ext cx="251" cy="1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3606" name="Oval 78"/>
            <p:cNvSpPr>
              <a:spLocks noChangeArrowheads="1"/>
            </p:cNvSpPr>
            <p:nvPr/>
          </p:nvSpPr>
          <p:spPr bwMode="auto">
            <a:xfrm rot="10415585">
              <a:off x="6132" y="3128"/>
              <a:ext cx="56" cy="197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/>
            </a:p>
          </p:txBody>
        </p:sp>
      </p:grpSp>
      <p:grpSp>
        <p:nvGrpSpPr>
          <p:cNvPr id="4" name="Grupo 3"/>
          <p:cNvGrpSpPr>
            <a:grpSpLocks/>
          </p:cNvGrpSpPr>
          <p:nvPr/>
        </p:nvGrpSpPr>
        <p:grpSpPr bwMode="auto">
          <a:xfrm>
            <a:off x="1984568" y="1540187"/>
            <a:ext cx="2175699" cy="2973388"/>
            <a:chOff x="2169289" y="1816100"/>
            <a:chExt cx="2175699" cy="2973388"/>
          </a:xfrm>
        </p:grpSpPr>
        <p:sp>
          <p:nvSpPr>
            <p:cNvPr id="23592" name="Line 11"/>
            <p:cNvSpPr>
              <a:spLocks noChangeShapeType="1"/>
            </p:cNvSpPr>
            <p:nvPr/>
          </p:nvSpPr>
          <p:spPr bwMode="auto">
            <a:xfrm flipH="1">
              <a:off x="2532063" y="1954213"/>
              <a:ext cx="1806575" cy="531812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23593" name="Line 12"/>
            <p:cNvSpPr>
              <a:spLocks noChangeShapeType="1"/>
            </p:cNvSpPr>
            <p:nvPr/>
          </p:nvSpPr>
          <p:spPr bwMode="auto">
            <a:xfrm flipH="1">
              <a:off x="2538413" y="4241800"/>
              <a:ext cx="1806575" cy="531813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23594" name="Line 13"/>
            <p:cNvSpPr>
              <a:spLocks noChangeShapeType="1"/>
            </p:cNvSpPr>
            <p:nvPr/>
          </p:nvSpPr>
          <p:spPr bwMode="auto">
            <a:xfrm flipH="1">
              <a:off x="2527300" y="2508250"/>
              <a:ext cx="0" cy="2281238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23595" name="Line 14"/>
            <p:cNvSpPr>
              <a:spLocks noChangeShapeType="1"/>
            </p:cNvSpPr>
            <p:nvPr/>
          </p:nvSpPr>
          <p:spPr bwMode="auto">
            <a:xfrm flipH="1">
              <a:off x="4338638" y="1943100"/>
              <a:ext cx="0" cy="2281238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23596" name="Line 15"/>
            <p:cNvSpPr>
              <a:spLocks noChangeShapeType="1"/>
            </p:cNvSpPr>
            <p:nvPr/>
          </p:nvSpPr>
          <p:spPr bwMode="auto">
            <a:xfrm flipH="1">
              <a:off x="2817813" y="2273300"/>
              <a:ext cx="393700" cy="12700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23597" name="Line 16"/>
            <p:cNvSpPr>
              <a:spLocks noChangeShapeType="1"/>
            </p:cNvSpPr>
            <p:nvPr/>
          </p:nvSpPr>
          <p:spPr bwMode="auto">
            <a:xfrm flipV="1">
              <a:off x="3573463" y="4344988"/>
              <a:ext cx="393700" cy="12700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23598" name="Line 17"/>
            <p:cNvSpPr>
              <a:spLocks noChangeShapeType="1"/>
            </p:cNvSpPr>
            <p:nvPr/>
          </p:nvSpPr>
          <p:spPr bwMode="auto">
            <a:xfrm flipH="1">
              <a:off x="2519363" y="3883025"/>
              <a:ext cx="0" cy="288925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23599" name="Line 18"/>
            <p:cNvSpPr>
              <a:spLocks noChangeShapeType="1"/>
            </p:cNvSpPr>
            <p:nvPr/>
          </p:nvSpPr>
          <p:spPr bwMode="auto">
            <a:xfrm flipH="1" flipV="1">
              <a:off x="4343400" y="2630488"/>
              <a:ext cx="0" cy="288925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23600" name="Text Box 22"/>
            <p:cNvSpPr txBox="1">
              <a:spLocks noChangeArrowheads="1"/>
            </p:cNvSpPr>
            <p:nvPr/>
          </p:nvSpPr>
          <p:spPr bwMode="auto">
            <a:xfrm>
              <a:off x="2852738" y="1816100"/>
              <a:ext cx="350074" cy="5365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b="1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</a:p>
          </p:txBody>
        </p:sp>
        <p:sp>
          <p:nvSpPr>
            <p:cNvPr id="23601" name="Text Box 23"/>
            <p:cNvSpPr txBox="1">
              <a:spLocks noChangeArrowheads="1"/>
            </p:cNvSpPr>
            <p:nvPr/>
          </p:nvSpPr>
          <p:spPr bwMode="auto">
            <a:xfrm>
              <a:off x="3537712" y="3969893"/>
              <a:ext cx="350074" cy="5365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b="1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</a:p>
          </p:txBody>
        </p:sp>
        <p:sp>
          <p:nvSpPr>
            <p:cNvPr id="23602" name="Text Box 44"/>
            <p:cNvSpPr txBox="1">
              <a:spLocks noChangeArrowheads="1"/>
            </p:cNvSpPr>
            <p:nvPr/>
          </p:nvSpPr>
          <p:spPr bwMode="auto">
            <a:xfrm>
              <a:off x="3986907" y="2289982"/>
              <a:ext cx="350074" cy="5365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b="1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</a:p>
          </p:txBody>
        </p:sp>
        <p:sp>
          <p:nvSpPr>
            <p:cNvPr id="23603" name="Text Box 45"/>
            <p:cNvSpPr txBox="1">
              <a:spLocks noChangeArrowheads="1"/>
            </p:cNvSpPr>
            <p:nvPr/>
          </p:nvSpPr>
          <p:spPr bwMode="auto">
            <a:xfrm>
              <a:off x="2169289" y="4073436"/>
              <a:ext cx="350074" cy="5365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b="1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</a:p>
          </p:txBody>
        </p:sp>
      </p:grpSp>
      <p:grpSp>
        <p:nvGrpSpPr>
          <p:cNvPr id="6" name="Grupo 5"/>
          <p:cNvGrpSpPr>
            <a:grpSpLocks/>
          </p:cNvGrpSpPr>
          <p:nvPr/>
        </p:nvGrpSpPr>
        <p:grpSpPr bwMode="auto">
          <a:xfrm>
            <a:off x="1455167" y="1795775"/>
            <a:ext cx="3584575" cy="2627312"/>
            <a:chOff x="1639888" y="2071792"/>
            <a:chExt cx="3584575" cy="2627900"/>
          </a:xfrm>
        </p:grpSpPr>
        <p:sp>
          <p:nvSpPr>
            <p:cNvPr id="23589" name="Line 2"/>
            <p:cNvSpPr>
              <a:spLocks noChangeShapeType="1"/>
            </p:cNvSpPr>
            <p:nvPr/>
          </p:nvSpPr>
          <p:spPr bwMode="auto">
            <a:xfrm>
              <a:off x="3052763" y="3084513"/>
              <a:ext cx="685800" cy="6381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23590" name="Line 8"/>
            <p:cNvSpPr>
              <a:spLocks noChangeShapeType="1"/>
            </p:cNvSpPr>
            <p:nvPr/>
          </p:nvSpPr>
          <p:spPr bwMode="auto">
            <a:xfrm rot="3600000" flipV="1">
              <a:off x="2987676" y="1614487"/>
              <a:ext cx="889000" cy="35845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23591" name="Line 8"/>
            <p:cNvSpPr>
              <a:spLocks noChangeShapeType="1"/>
            </p:cNvSpPr>
            <p:nvPr/>
          </p:nvSpPr>
          <p:spPr bwMode="auto">
            <a:xfrm flipV="1">
              <a:off x="3414985" y="2071792"/>
              <a:ext cx="0" cy="26279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</p:grpSp>
      <p:grpSp>
        <p:nvGrpSpPr>
          <p:cNvPr id="630814" name="Group 30"/>
          <p:cNvGrpSpPr>
            <a:grpSpLocks/>
          </p:cNvGrpSpPr>
          <p:nvPr/>
        </p:nvGrpSpPr>
        <p:grpSpPr bwMode="auto">
          <a:xfrm>
            <a:off x="3231582" y="4257989"/>
            <a:ext cx="515938" cy="990601"/>
            <a:chOff x="2152" y="2976"/>
            <a:chExt cx="325" cy="624"/>
          </a:xfrm>
        </p:grpSpPr>
        <p:sp>
          <p:nvSpPr>
            <p:cNvPr id="23587" name="Line 31"/>
            <p:cNvSpPr>
              <a:spLocks noChangeShapeType="1"/>
            </p:cNvSpPr>
            <p:nvPr/>
          </p:nvSpPr>
          <p:spPr bwMode="auto">
            <a:xfrm rot="5400000" flipV="1">
              <a:off x="1934" y="3194"/>
              <a:ext cx="436" cy="0"/>
            </a:xfrm>
            <a:prstGeom prst="line">
              <a:avLst/>
            </a:prstGeom>
            <a:noFill/>
            <a:ln w="50800">
              <a:solidFill>
                <a:srgbClr val="008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graphicFrame>
          <p:nvGraphicFramePr>
            <p:cNvPr id="23588" name="Object 32"/>
            <p:cNvGraphicFramePr>
              <a:graphicFrameLocks noChangeAspect="1"/>
            </p:cNvGraphicFramePr>
            <p:nvPr/>
          </p:nvGraphicFramePr>
          <p:xfrm>
            <a:off x="2231" y="3219"/>
            <a:ext cx="246" cy="3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9" imgW="164957" imgH="253780" progId="Equation.3">
                    <p:embed/>
                  </p:oleObj>
                </mc:Choice>
                <mc:Fallback>
                  <p:oleObj name="Ecuación" r:id="rId9" imgW="164957" imgH="253780" progId="Equation.3">
                    <p:embed/>
                    <p:pic>
                      <p:nvPicPr>
                        <p:cNvPr id="23588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31" y="3219"/>
                          <a:ext cx="246" cy="3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upo 6"/>
          <p:cNvGrpSpPr>
            <a:grpSpLocks/>
          </p:cNvGrpSpPr>
          <p:nvPr/>
        </p:nvGrpSpPr>
        <p:grpSpPr bwMode="auto">
          <a:xfrm>
            <a:off x="3229991" y="3115012"/>
            <a:ext cx="1981334" cy="575408"/>
            <a:chOff x="3414713" y="3391291"/>
            <a:chExt cx="1980705" cy="575852"/>
          </a:xfrm>
        </p:grpSpPr>
        <p:graphicFrame>
          <p:nvGraphicFramePr>
            <p:cNvPr id="23585" name="Object 26"/>
            <p:cNvGraphicFramePr>
              <a:graphicFrameLocks noChangeAspect="1"/>
            </p:cNvGraphicFramePr>
            <p:nvPr/>
          </p:nvGraphicFramePr>
          <p:xfrm>
            <a:off x="4405293" y="3391291"/>
            <a:ext cx="990125" cy="5758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1" imgW="457002" imgH="266584" progId="Equation.3">
                    <p:embed/>
                  </p:oleObj>
                </mc:Choice>
                <mc:Fallback>
                  <p:oleObj name="Ecuación" r:id="rId11" imgW="457002" imgH="266584" progId="Equation.3">
                    <p:embed/>
                    <p:pic>
                      <p:nvPicPr>
                        <p:cNvPr id="23585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05293" y="3391291"/>
                          <a:ext cx="990125" cy="5758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86" name="Line 25"/>
            <p:cNvSpPr>
              <a:spLocks noChangeShapeType="1"/>
            </p:cNvSpPr>
            <p:nvPr/>
          </p:nvSpPr>
          <p:spPr bwMode="auto">
            <a:xfrm>
              <a:off x="3414713" y="3407156"/>
              <a:ext cx="1063625" cy="0"/>
            </a:xfrm>
            <a:prstGeom prst="line">
              <a:avLst/>
            </a:prstGeom>
            <a:noFill/>
            <a:ln w="50800">
              <a:solidFill>
                <a:srgbClr val="C0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</p:grpSp>
      <p:grpSp>
        <p:nvGrpSpPr>
          <p:cNvPr id="630811" name="Group 27"/>
          <p:cNvGrpSpPr>
            <a:grpSpLocks/>
          </p:cNvGrpSpPr>
          <p:nvPr/>
        </p:nvGrpSpPr>
        <p:grpSpPr bwMode="auto">
          <a:xfrm>
            <a:off x="3233170" y="982975"/>
            <a:ext cx="515938" cy="955676"/>
            <a:chOff x="2148" y="895"/>
            <a:chExt cx="325" cy="602"/>
          </a:xfrm>
        </p:grpSpPr>
        <p:sp>
          <p:nvSpPr>
            <p:cNvPr id="23583" name="Line 28"/>
            <p:cNvSpPr>
              <a:spLocks noChangeShapeType="1"/>
            </p:cNvSpPr>
            <p:nvPr/>
          </p:nvSpPr>
          <p:spPr bwMode="auto">
            <a:xfrm rot="-5400000">
              <a:off x="1930" y="1279"/>
              <a:ext cx="436" cy="0"/>
            </a:xfrm>
            <a:prstGeom prst="line">
              <a:avLst/>
            </a:prstGeom>
            <a:noFill/>
            <a:ln w="50800">
              <a:solidFill>
                <a:srgbClr val="008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graphicFrame>
          <p:nvGraphicFramePr>
            <p:cNvPr id="23584" name="Object 29"/>
            <p:cNvGraphicFramePr>
              <a:graphicFrameLocks noChangeAspect="1"/>
            </p:cNvGraphicFramePr>
            <p:nvPr/>
          </p:nvGraphicFramePr>
          <p:xfrm>
            <a:off x="2227" y="895"/>
            <a:ext cx="246" cy="3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3" imgW="164957" imgH="253780" progId="Equation.3">
                    <p:embed/>
                  </p:oleObj>
                </mc:Choice>
                <mc:Fallback>
                  <p:oleObj name="Ecuación" r:id="rId13" imgW="164957" imgH="253780" progId="Equation.3">
                    <p:embed/>
                    <p:pic>
                      <p:nvPicPr>
                        <p:cNvPr id="23584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27" y="895"/>
                          <a:ext cx="246" cy="3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8" name="Group 57"/>
          <p:cNvGrpSpPr>
            <a:grpSpLocks/>
          </p:cNvGrpSpPr>
          <p:nvPr/>
        </p:nvGrpSpPr>
        <p:grpSpPr bwMode="auto">
          <a:xfrm>
            <a:off x="1656780" y="2670085"/>
            <a:ext cx="3154364" cy="906866"/>
            <a:chOff x="1160" y="1929"/>
            <a:chExt cx="1987" cy="630"/>
          </a:xfrm>
        </p:grpSpPr>
        <p:sp>
          <p:nvSpPr>
            <p:cNvPr id="23579" name="Line 58"/>
            <p:cNvSpPr>
              <a:spLocks noChangeShapeType="1"/>
            </p:cNvSpPr>
            <p:nvPr/>
          </p:nvSpPr>
          <p:spPr bwMode="auto">
            <a:xfrm flipH="1">
              <a:off x="1160" y="2428"/>
              <a:ext cx="401" cy="131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23580" name="Line 59"/>
            <p:cNvSpPr>
              <a:spLocks noChangeShapeType="1"/>
            </p:cNvSpPr>
            <p:nvPr/>
          </p:nvSpPr>
          <p:spPr bwMode="auto">
            <a:xfrm flipV="1">
              <a:off x="2746" y="1929"/>
              <a:ext cx="401" cy="131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</p:grpSp>
      <p:sp>
        <p:nvSpPr>
          <p:cNvPr id="85" name="Text Box 49"/>
          <p:cNvSpPr txBox="1">
            <a:spLocks noChangeArrowheads="1"/>
          </p:cNvSpPr>
          <p:nvPr/>
        </p:nvSpPr>
        <p:spPr bwMode="auto">
          <a:xfrm>
            <a:off x="5761038" y="1842692"/>
            <a:ext cx="4549423" cy="199206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  <a:buFont typeface="Symbol" panose="05050102010706020507" pitchFamily="18" charset="2"/>
              <a:buNone/>
            </a:pPr>
            <a:r>
              <a:rPr lang="es-ES" sz="2400" dirty="0">
                <a:solidFill>
                  <a:schemeClr val="tx1"/>
                </a:solidFill>
              </a:rPr>
              <a:t>Hay fuerzas </a:t>
            </a:r>
            <a:r>
              <a:rPr lang="es-ES" sz="2400" dirty="0">
                <a:solidFill>
                  <a:srgbClr val="008000"/>
                </a:solidFill>
              </a:rPr>
              <a:t>(las verdes) </a:t>
            </a:r>
            <a:r>
              <a:rPr lang="es-ES" sz="2400" dirty="0">
                <a:solidFill>
                  <a:schemeClr val="tx1"/>
                </a:solidFill>
              </a:rPr>
              <a:t>que tienden a deformar la espira hasta que las compensen las de cohesión. Si estas no lo consiguen, parten la espira</a:t>
            </a:r>
          </a:p>
        </p:txBody>
      </p:sp>
      <p:sp>
        <p:nvSpPr>
          <p:cNvPr id="8" name="CuadroTexto 7"/>
          <p:cNvSpPr txBox="1">
            <a:spLocks noChangeArrowheads="1"/>
          </p:cNvSpPr>
          <p:nvPr/>
        </p:nvSpPr>
        <p:spPr bwMode="auto">
          <a:xfrm>
            <a:off x="5771549" y="749568"/>
            <a:ext cx="3393471" cy="830997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wrap="square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 dirty="0">
                <a:solidFill>
                  <a:schemeClr val="tx1"/>
                </a:solidFill>
              </a:rPr>
              <a:t>Si se aplica Laplace en cada tramo recto:</a:t>
            </a:r>
          </a:p>
        </p:txBody>
      </p:sp>
      <p:sp>
        <p:nvSpPr>
          <p:cNvPr id="60" name="Line 2"/>
          <p:cNvSpPr>
            <a:spLocks noChangeShapeType="1"/>
          </p:cNvSpPr>
          <p:nvPr/>
        </p:nvSpPr>
        <p:spPr bwMode="auto">
          <a:xfrm>
            <a:off x="4564620" y="2388406"/>
            <a:ext cx="351924" cy="360153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0000" tIns="82800" rIns="90000" bIns="82800">
            <a:spAutoFit/>
          </a:bodyPr>
          <a:lstStyle/>
          <a:p>
            <a:endParaRPr lang="en-GB"/>
          </a:p>
        </p:txBody>
      </p:sp>
      <p:sp>
        <p:nvSpPr>
          <p:cNvPr id="61" name="Line 2"/>
          <p:cNvSpPr>
            <a:spLocks noChangeShapeType="1"/>
          </p:cNvSpPr>
          <p:nvPr/>
        </p:nvSpPr>
        <p:spPr bwMode="auto">
          <a:xfrm>
            <a:off x="1577954" y="3544862"/>
            <a:ext cx="351924" cy="360153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0000" tIns="82800" rIns="90000" bIns="82800">
            <a:spAutoFit/>
          </a:bodyPr>
          <a:lstStyle/>
          <a:p>
            <a:endParaRPr lang="en-GB"/>
          </a:p>
        </p:txBody>
      </p:sp>
      <p:sp>
        <p:nvSpPr>
          <p:cNvPr id="70" name="Text Box 76">
            <a:extLst>
              <a:ext uri="{FF2B5EF4-FFF2-40B4-BE49-F238E27FC236}">
                <a16:creationId xmlns:a16="http://schemas.microsoft.com/office/drawing/2014/main" id="{B1950F2C-799A-4A9A-8F53-060FAE0490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5008" y="3989861"/>
            <a:ext cx="4549423" cy="162273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Symbol" panose="05050102010706020507" pitchFamily="18" charset="2"/>
              <a:buNone/>
            </a:pPr>
            <a:r>
              <a:rPr lang="es-ES" sz="2400" dirty="0">
                <a:solidFill>
                  <a:schemeClr val="tx1"/>
                </a:solidFill>
              </a:rPr>
              <a:t>Hay fuerzas </a:t>
            </a:r>
            <a:r>
              <a:rPr lang="es-ES" sz="2400" dirty="0">
                <a:solidFill>
                  <a:srgbClr val="FF0000"/>
                </a:solidFill>
              </a:rPr>
              <a:t>(las rojas) </a:t>
            </a:r>
            <a:r>
              <a:rPr lang="es-ES" sz="2400" dirty="0">
                <a:solidFill>
                  <a:schemeClr val="tx1"/>
                </a:solidFill>
              </a:rPr>
              <a:t>que tienden a rotar la espira hasta que esté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 al </a:t>
            </a:r>
            <a:r>
              <a:rPr lang="es-ES" sz="2400" b="1" dirty="0" err="1">
                <a:solidFill>
                  <a:schemeClr val="tx1"/>
                </a:solidFill>
                <a:sym typeface="Symbol" panose="05050102010706020507" pitchFamily="18" charset="2"/>
              </a:rPr>
              <a:t>B</a:t>
            </a:r>
            <a:r>
              <a:rPr lang="es-ES" sz="2400" baseline="-25000" dirty="0" err="1">
                <a:solidFill>
                  <a:schemeClr val="tx1"/>
                </a:solidFill>
                <a:sym typeface="Symbol" panose="05050102010706020507" pitchFamily="18" charset="2"/>
              </a:rPr>
              <a:t>aplicado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, cuando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son nulas (máximas las verdes)</a:t>
            </a:r>
            <a:endParaRPr lang="es-ES" sz="24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grpSp>
        <p:nvGrpSpPr>
          <p:cNvPr id="71" name="Group 60">
            <a:extLst>
              <a:ext uri="{FF2B5EF4-FFF2-40B4-BE49-F238E27FC236}">
                <a16:creationId xmlns:a16="http://schemas.microsoft.com/office/drawing/2014/main" id="{D942D427-0FCB-4691-A12E-919B27488B1D}"/>
              </a:ext>
            </a:extLst>
          </p:cNvPr>
          <p:cNvGrpSpPr>
            <a:grpSpLocks/>
          </p:cNvGrpSpPr>
          <p:nvPr/>
        </p:nvGrpSpPr>
        <p:grpSpPr bwMode="auto">
          <a:xfrm>
            <a:off x="2344451" y="2583962"/>
            <a:ext cx="1789112" cy="1079500"/>
            <a:chOff x="1605" y="1922"/>
            <a:chExt cx="1127" cy="680"/>
          </a:xfrm>
        </p:grpSpPr>
        <p:sp>
          <p:nvSpPr>
            <p:cNvPr id="72" name="Line 61">
              <a:extLst>
                <a:ext uri="{FF2B5EF4-FFF2-40B4-BE49-F238E27FC236}">
                  <a16:creationId xmlns:a16="http://schemas.microsoft.com/office/drawing/2014/main" id="{5B5C4C78-60F5-4B70-BD93-77518C4ABE7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1601" y="2439"/>
              <a:ext cx="167" cy="16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73" name="Line 62">
              <a:extLst>
                <a:ext uri="{FF2B5EF4-FFF2-40B4-BE49-F238E27FC236}">
                  <a16:creationId xmlns:a16="http://schemas.microsoft.com/office/drawing/2014/main" id="{17FD2FB8-0D87-4D82-AFEC-628E5238E99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2568" y="1926"/>
              <a:ext cx="167" cy="16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</p:grpSp>
      <p:sp>
        <p:nvSpPr>
          <p:cNvPr id="74" name="Line 2">
            <a:extLst>
              <a:ext uri="{FF2B5EF4-FFF2-40B4-BE49-F238E27FC236}">
                <a16:creationId xmlns:a16="http://schemas.microsoft.com/office/drawing/2014/main" id="{9B600D08-29A9-443D-87F5-B7FD4389714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25508" y="3680077"/>
            <a:ext cx="643240" cy="190621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/>
          <a:p>
            <a:endParaRPr lang="en-GB"/>
          </a:p>
        </p:txBody>
      </p:sp>
      <p:sp>
        <p:nvSpPr>
          <p:cNvPr id="75" name="Line 2">
            <a:extLst>
              <a:ext uri="{FF2B5EF4-FFF2-40B4-BE49-F238E27FC236}">
                <a16:creationId xmlns:a16="http://schemas.microsoft.com/office/drawing/2014/main" id="{8161726D-E485-44A2-A4F3-D5A3321B11D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45539" y="2431463"/>
            <a:ext cx="643240" cy="190621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/>
          <a:p>
            <a:endParaRPr lang="en-GB"/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F0D6789A-EB71-4050-8526-8AA591B49F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1038" y="5942170"/>
            <a:ext cx="4549423" cy="83099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anchor="ctr" anchorCtr="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>
                <a:solidFill>
                  <a:schemeClr val="tx1"/>
                </a:solidFill>
              </a:rPr>
              <a:t>Hay </a:t>
            </a:r>
            <a:r>
              <a:rPr lang="es-ES" sz="2400" dirty="0">
                <a:solidFill>
                  <a:schemeClr val="tx1"/>
                </a:solidFill>
              </a:rPr>
              <a:t>efecto de </a:t>
            </a:r>
            <a:r>
              <a:rPr lang="es-ES" sz="2400" b="1">
                <a:solidFill>
                  <a:schemeClr val="tx1"/>
                </a:solidFill>
              </a:rPr>
              <a:t>B</a:t>
            </a:r>
            <a:r>
              <a:rPr lang="es-ES" sz="2400">
                <a:solidFill>
                  <a:schemeClr val="tx1"/>
                </a:solidFill>
              </a:rPr>
              <a:t> por circular </a:t>
            </a:r>
            <a:r>
              <a:rPr lang="es-ES" sz="2400">
                <a:solidFill>
                  <a:schemeClr val="tx1"/>
                </a:solidFill>
                <a:latin typeface="Comic Sans MS" panose="030F0702030302020204" pitchFamily="66" charset="0"/>
              </a:rPr>
              <a:t>I</a:t>
            </a:r>
            <a:r>
              <a:rPr lang="es-ES" sz="2400">
                <a:solidFill>
                  <a:schemeClr val="tx1"/>
                </a:solidFill>
                <a:cs typeface="Arial" panose="020B0604020202020204" pitchFamily="34" charset="0"/>
              </a:rPr>
              <a:t>,</a:t>
            </a:r>
            <a:r>
              <a:rPr lang="es-ES" sz="2400">
                <a:solidFill>
                  <a:schemeClr val="tx1"/>
                </a:solidFill>
              </a:rPr>
              <a:t> por haber carga en movimiento</a:t>
            </a:r>
            <a:endParaRPr lang="es-E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648129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03 0.00133 L 0.00323 -0.15873 " pathEditMode="relative" rAng="0" ptsTypes="AA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6" y="-800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630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23 -0.15873 L 0.00044 0.15895 " pathEditMode="relative" rAng="0" ptsTypes="AA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7" y="1587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630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44 0.15895 L -0.08275 0.03682 " pathEditMode="relative" rAng="0" ptsTypes="AA">
                                      <p:cBhvr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59" y="-610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630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275 0.03682 L 0.08583 -0.0377 " pathEditMode="relative" rAng="0" ptsTypes="AA">
                                      <p:cBhvr>
                                        <p:cTn id="5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422" y="-37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630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583 -0.0377 L 4.70312E-7 -2.68078E-6 " pathEditMode="relative" rAng="0" ptsTypes="AA">
                                      <p:cBhvr>
                                        <p:cTn id="6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292" y="1874"/>
                                    </p:animMotion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6" presetClass="entr" presetSubtype="4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9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0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  <p:bldP spid="67" grpId="1" animBg="1"/>
      <p:bldP spid="66" grpId="0" animBg="1"/>
      <p:bldP spid="66" grpId="1" animBg="1"/>
      <p:bldP spid="85" grpId="0" animBg="1"/>
      <p:bldP spid="8" grpId="0" animBg="1"/>
      <p:bldP spid="60" grpId="0" animBg="1"/>
      <p:bldP spid="61" grpId="0" animBg="1"/>
      <p:bldP spid="70" grpId="0" animBg="1"/>
      <p:bldP spid="74" grpId="0" animBg="1"/>
      <p:bldP spid="75" grpId="0" animBg="1"/>
      <p:bldP spid="7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63" name="Text Box 3"/>
          <p:cNvSpPr txBox="1">
            <a:spLocks noChangeArrowheads="1"/>
          </p:cNvSpPr>
          <p:nvPr/>
        </p:nvSpPr>
        <p:spPr bwMode="auto">
          <a:xfrm>
            <a:off x="5654902" y="421496"/>
            <a:ext cx="4678362" cy="1731788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08000" tIns="108000" rIns="108000" bIns="10800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 dirty="0">
                <a:solidFill>
                  <a:schemeClr val="tx1"/>
                </a:solidFill>
              </a:rPr>
              <a:t>La espira oscilará en torno a        esa situación </a:t>
            </a:r>
            <a:r>
              <a:rPr lang="es-ES" sz="2400" dirty="0">
                <a:solidFill>
                  <a:srgbClr val="3333FF"/>
                </a:solidFill>
              </a:rPr>
              <a:t>(equilibrio) </a:t>
            </a:r>
            <a:r>
              <a:rPr lang="es-ES" sz="2400" dirty="0">
                <a:solidFill>
                  <a:schemeClr val="tx1"/>
                </a:solidFill>
              </a:rPr>
              <a:t>hasta detenerse por rozamiento, como   en el caso de un dipolo eléctrico</a:t>
            </a:r>
            <a:endParaRPr lang="es-ES" sz="24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25603" name="Line 5"/>
          <p:cNvSpPr>
            <a:spLocks noChangeShapeType="1"/>
          </p:cNvSpPr>
          <p:nvPr/>
        </p:nvSpPr>
        <p:spPr bwMode="auto">
          <a:xfrm>
            <a:off x="3178011" y="3225803"/>
            <a:ext cx="685800" cy="638175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0000" tIns="82800" rIns="90000" bIns="82800">
            <a:spAutoFit/>
          </a:bodyPr>
          <a:lstStyle/>
          <a:p>
            <a:endParaRPr lang="en-GB"/>
          </a:p>
        </p:txBody>
      </p:sp>
      <p:sp>
        <p:nvSpPr>
          <p:cNvPr id="25605" name="Line 16"/>
          <p:cNvSpPr>
            <a:spLocks noChangeShapeType="1"/>
          </p:cNvSpPr>
          <p:nvPr/>
        </p:nvSpPr>
        <p:spPr bwMode="auto">
          <a:xfrm flipH="1">
            <a:off x="2589048" y="2586041"/>
            <a:ext cx="0" cy="228123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0000" tIns="82800" rIns="90000" bIns="82800">
            <a:spAutoFit/>
          </a:bodyPr>
          <a:lstStyle/>
          <a:p>
            <a:endParaRPr lang="en-GB"/>
          </a:p>
        </p:txBody>
      </p:sp>
      <p:sp>
        <p:nvSpPr>
          <p:cNvPr id="25606" name="Line 17"/>
          <p:cNvSpPr>
            <a:spLocks noChangeShapeType="1"/>
          </p:cNvSpPr>
          <p:nvPr/>
        </p:nvSpPr>
        <p:spPr bwMode="auto">
          <a:xfrm flipH="1">
            <a:off x="4400386" y="2020891"/>
            <a:ext cx="0" cy="228123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0000" tIns="82800" rIns="90000" bIns="82800">
            <a:spAutoFit/>
          </a:bodyPr>
          <a:lstStyle/>
          <a:p>
            <a:endParaRPr lang="en-GB"/>
          </a:p>
        </p:txBody>
      </p:sp>
      <p:sp>
        <p:nvSpPr>
          <p:cNvPr id="25607" name="Line 18"/>
          <p:cNvSpPr>
            <a:spLocks noChangeShapeType="1"/>
          </p:cNvSpPr>
          <p:nvPr/>
        </p:nvSpPr>
        <p:spPr bwMode="auto">
          <a:xfrm flipH="1">
            <a:off x="3738398" y="2103441"/>
            <a:ext cx="393700" cy="127000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/>
          <a:p>
            <a:endParaRPr lang="en-GB"/>
          </a:p>
        </p:txBody>
      </p:sp>
      <p:sp>
        <p:nvSpPr>
          <p:cNvPr id="25608" name="Line 19"/>
          <p:cNvSpPr>
            <a:spLocks noChangeShapeType="1"/>
          </p:cNvSpPr>
          <p:nvPr/>
        </p:nvSpPr>
        <p:spPr bwMode="auto">
          <a:xfrm flipV="1">
            <a:off x="2866861" y="4660903"/>
            <a:ext cx="393700" cy="127000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/>
          <a:p>
            <a:endParaRPr lang="en-GB"/>
          </a:p>
        </p:txBody>
      </p:sp>
      <p:sp>
        <p:nvSpPr>
          <p:cNvPr id="25609" name="Line 20"/>
          <p:cNvSpPr>
            <a:spLocks noChangeShapeType="1"/>
          </p:cNvSpPr>
          <p:nvPr/>
        </p:nvSpPr>
        <p:spPr bwMode="auto">
          <a:xfrm flipH="1">
            <a:off x="2581111" y="4131428"/>
            <a:ext cx="0" cy="288925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0000" tIns="82800" rIns="90000" bIns="82800">
            <a:spAutoFit/>
          </a:bodyPr>
          <a:lstStyle/>
          <a:p>
            <a:endParaRPr lang="en-GB"/>
          </a:p>
        </p:txBody>
      </p:sp>
      <p:sp>
        <p:nvSpPr>
          <p:cNvPr id="25610" name="Line 21"/>
          <p:cNvSpPr>
            <a:spLocks noChangeShapeType="1"/>
          </p:cNvSpPr>
          <p:nvPr/>
        </p:nvSpPr>
        <p:spPr bwMode="auto">
          <a:xfrm flipH="1" flipV="1">
            <a:off x="4405148" y="2609305"/>
            <a:ext cx="0" cy="288925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0000" tIns="82800" rIns="90000" bIns="82800">
            <a:spAutoFit/>
          </a:bodyPr>
          <a:lstStyle/>
          <a:p>
            <a:endParaRPr lang="en-GB"/>
          </a:p>
        </p:txBody>
      </p:sp>
      <p:sp>
        <p:nvSpPr>
          <p:cNvPr id="25611" name="Text Box 25"/>
          <p:cNvSpPr txBox="1">
            <a:spLocks noChangeArrowheads="1"/>
          </p:cNvSpPr>
          <p:nvPr/>
        </p:nvSpPr>
        <p:spPr bwMode="auto">
          <a:xfrm>
            <a:off x="3295074" y="1700430"/>
            <a:ext cx="350074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b="1">
                <a:solidFill>
                  <a:srgbClr val="3333FF"/>
                </a:solidFill>
                <a:latin typeface="Comic Sans MS" panose="030F0702030302020204" pitchFamily="66" charset="0"/>
              </a:rPr>
              <a:t>I</a:t>
            </a:r>
          </a:p>
        </p:txBody>
      </p:sp>
      <p:sp>
        <p:nvSpPr>
          <p:cNvPr id="25612" name="Text Box 26"/>
          <p:cNvSpPr txBox="1">
            <a:spLocks noChangeArrowheads="1"/>
          </p:cNvSpPr>
          <p:nvPr/>
        </p:nvSpPr>
        <p:spPr bwMode="auto">
          <a:xfrm>
            <a:off x="3313703" y="4725508"/>
            <a:ext cx="350074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b="1">
                <a:solidFill>
                  <a:srgbClr val="3333FF"/>
                </a:solidFill>
                <a:latin typeface="Comic Sans MS" panose="030F0702030302020204" pitchFamily="66" charset="0"/>
              </a:rPr>
              <a:t>I</a:t>
            </a:r>
          </a:p>
        </p:txBody>
      </p:sp>
      <p:sp>
        <p:nvSpPr>
          <p:cNvPr id="25613" name="Line 28"/>
          <p:cNvSpPr>
            <a:spLocks noChangeShapeType="1"/>
          </p:cNvSpPr>
          <p:nvPr/>
        </p:nvSpPr>
        <p:spPr bwMode="auto">
          <a:xfrm>
            <a:off x="3476461" y="3494091"/>
            <a:ext cx="1063625" cy="0"/>
          </a:xfrm>
          <a:prstGeom prst="line">
            <a:avLst/>
          </a:prstGeom>
          <a:noFill/>
          <a:ln w="50800">
            <a:solidFill>
              <a:srgbClr val="C0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0000" tIns="82800" rIns="90000" bIns="82800">
            <a:spAutoFit/>
          </a:bodyPr>
          <a:lstStyle/>
          <a:p>
            <a:endParaRPr lang="en-GB"/>
          </a:p>
        </p:txBody>
      </p:sp>
      <p:graphicFrame>
        <p:nvGraphicFramePr>
          <p:cNvPr id="25614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0847327"/>
              </p:ext>
            </p:extLst>
          </p:nvPr>
        </p:nvGraphicFramePr>
        <p:xfrm>
          <a:off x="4517340" y="3449791"/>
          <a:ext cx="990124" cy="56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457002" imgH="266584" progId="Equation.3">
                  <p:embed/>
                </p:oleObj>
              </mc:Choice>
              <mc:Fallback>
                <p:oleObj name="Ecuación" r:id="rId3" imgW="457002" imgH="266584" progId="Equation.3">
                  <p:embed/>
                  <p:pic>
                    <p:nvPicPr>
                      <p:cNvPr id="25614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7340" y="3449791"/>
                        <a:ext cx="990124" cy="56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5" name="Text Box 47"/>
          <p:cNvSpPr txBox="1">
            <a:spLocks noChangeArrowheads="1"/>
          </p:cNvSpPr>
          <p:nvPr/>
        </p:nvSpPr>
        <p:spPr bwMode="auto">
          <a:xfrm>
            <a:off x="4432179" y="2285028"/>
            <a:ext cx="350074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b="1">
                <a:solidFill>
                  <a:srgbClr val="3333FF"/>
                </a:solidFill>
                <a:latin typeface="Comic Sans MS" panose="030F0702030302020204" pitchFamily="66" charset="0"/>
              </a:rPr>
              <a:t>I</a:t>
            </a:r>
          </a:p>
        </p:txBody>
      </p:sp>
      <p:sp>
        <p:nvSpPr>
          <p:cNvPr id="25616" name="Text Box 48"/>
          <p:cNvSpPr txBox="1">
            <a:spLocks noChangeArrowheads="1"/>
          </p:cNvSpPr>
          <p:nvPr/>
        </p:nvSpPr>
        <p:spPr bwMode="auto">
          <a:xfrm>
            <a:off x="2183543" y="4211109"/>
            <a:ext cx="350074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b="1">
                <a:solidFill>
                  <a:srgbClr val="3333FF"/>
                </a:solidFill>
                <a:latin typeface="Comic Sans MS" panose="030F0702030302020204" pitchFamily="66" charset="0"/>
              </a:rPr>
              <a:t>I</a:t>
            </a:r>
          </a:p>
        </p:txBody>
      </p:sp>
      <p:sp>
        <p:nvSpPr>
          <p:cNvPr id="25662" name="Text Box 100"/>
          <p:cNvSpPr txBox="1">
            <a:spLocks noChangeArrowheads="1"/>
          </p:cNvSpPr>
          <p:nvPr/>
        </p:nvSpPr>
        <p:spPr bwMode="auto">
          <a:xfrm>
            <a:off x="5654884" y="2270612"/>
            <a:ext cx="4678380" cy="132610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08000" tIns="108000" rIns="108000" bIns="108000" anchor="ctr" anchorCtr="1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  <a:buFont typeface="Symbol" panose="05050102010706020507" pitchFamily="18" charset="2"/>
              <a:buNone/>
            </a:pP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Cuando eso ocurra,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el </a:t>
            </a:r>
            <a:r>
              <a:rPr lang="es-ES" sz="2400" b="1">
                <a:solidFill>
                  <a:schemeClr val="tx1"/>
                </a:solidFill>
                <a:sym typeface="Symbol" panose="05050102010706020507" pitchFamily="18" charset="2"/>
              </a:rPr>
              <a:t>B</a:t>
            </a:r>
            <a:r>
              <a:rPr lang="es-ES" sz="2400" baseline="-25000">
                <a:solidFill>
                  <a:schemeClr val="tx1"/>
                </a:solidFill>
                <a:sym typeface="Symbol" panose="05050102010706020507" pitchFamily="18" charset="2"/>
              </a:rPr>
              <a:t>espira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</a:p>
          <a:p>
            <a:pPr algn="ctr" eaLnBrk="1" hangingPunct="1">
              <a:spcBef>
                <a:spcPts val="0"/>
              </a:spcBef>
              <a:buFont typeface="Symbol" panose="05050102010706020507" pitchFamily="18" charset="2"/>
              <a:buNone/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en su interior, es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paralelo, en dirección y sentido,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al </a:t>
            </a:r>
            <a:r>
              <a:rPr lang="es-ES" sz="2400" b="1">
                <a:solidFill>
                  <a:schemeClr val="tx1"/>
                </a:solidFill>
                <a:sym typeface="Symbol" panose="05050102010706020507" pitchFamily="18" charset="2"/>
              </a:rPr>
              <a:t>B</a:t>
            </a:r>
            <a:r>
              <a:rPr lang="es-ES" sz="2400" baseline="-25000">
                <a:solidFill>
                  <a:schemeClr val="tx1"/>
                </a:solidFill>
                <a:sym typeface="Symbol" panose="05050102010706020507" pitchFamily="18" charset="2"/>
              </a:rPr>
              <a:t>aplicado</a:t>
            </a:r>
            <a:endParaRPr lang="es-ES" sz="2400" baseline="-25000" dirty="0">
              <a:sym typeface="Symbol" panose="05050102010706020507" pitchFamily="18" charset="2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2EC13868-9434-489B-8842-E63BC0F183CE}"/>
              </a:ext>
            </a:extLst>
          </p:cNvPr>
          <p:cNvGrpSpPr/>
          <p:nvPr/>
        </p:nvGrpSpPr>
        <p:grpSpPr>
          <a:xfrm>
            <a:off x="1446736" y="2396370"/>
            <a:ext cx="593860" cy="578137"/>
            <a:chOff x="1480492" y="2567187"/>
            <a:chExt cx="593860" cy="578137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900D709C-4262-46AB-8361-6EC6842D84BA}"/>
                </a:ext>
              </a:extLst>
            </p:cNvPr>
            <p:cNvSpPr/>
            <p:nvPr/>
          </p:nvSpPr>
          <p:spPr bwMode="auto">
            <a:xfrm rot="20967882">
              <a:off x="1480492" y="2567187"/>
              <a:ext cx="593860" cy="578137"/>
            </a:xfrm>
            <a:prstGeom prst="rect">
              <a:avLst/>
            </a:prstGeom>
            <a:solidFill>
              <a:srgbClr val="FFFF00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vert="horz" wrap="square" lIns="90000" tIns="82800" rIns="90000" bIns="82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D60093"/>
                </a:solidFill>
                <a:effectLst/>
                <a:latin typeface="Arial" panose="020B0604020202020204" pitchFamily="34" charset="0"/>
              </a:endParaRPr>
            </a:p>
          </p:txBody>
        </p:sp>
        <p:grpSp>
          <p:nvGrpSpPr>
            <p:cNvPr id="17459" name="Group 109"/>
            <p:cNvGrpSpPr>
              <a:grpSpLocks/>
            </p:cNvGrpSpPr>
            <p:nvPr/>
          </p:nvGrpSpPr>
          <p:grpSpPr bwMode="auto">
            <a:xfrm rot="10477679">
              <a:off x="1544638" y="2638355"/>
              <a:ext cx="431800" cy="420688"/>
              <a:chOff x="6083" y="3089"/>
              <a:chExt cx="272" cy="265"/>
            </a:xfrm>
          </p:grpSpPr>
          <p:sp>
            <p:nvSpPr>
              <p:cNvPr id="25659" name="Line 110"/>
              <p:cNvSpPr>
                <a:spLocks noChangeShapeType="1"/>
              </p:cNvSpPr>
              <p:nvPr/>
            </p:nvSpPr>
            <p:spPr bwMode="auto">
              <a:xfrm rot="10415585" flipH="1">
                <a:off x="6098" y="3207"/>
                <a:ext cx="257" cy="14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25660" name="Line 111"/>
              <p:cNvSpPr>
                <a:spLocks noChangeShapeType="1"/>
              </p:cNvSpPr>
              <p:nvPr/>
            </p:nvSpPr>
            <p:spPr bwMode="auto">
              <a:xfrm rot="10415585">
                <a:off x="6083" y="3089"/>
                <a:ext cx="251" cy="10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25661" name="Oval 112"/>
              <p:cNvSpPr>
                <a:spLocks noChangeArrowheads="1"/>
              </p:cNvSpPr>
              <p:nvPr/>
            </p:nvSpPr>
            <p:spPr bwMode="auto">
              <a:xfrm rot="10415585">
                <a:off x="6132" y="3128"/>
                <a:ext cx="56" cy="19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lang="en-US"/>
              </a:p>
            </p:txBody>
          </p:sp>
        </p:grp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195E0CEB-8124-4314-8CFF-577E8ADCDC63}"/>
              </a:ext>
            </a:extLst>
          </p:cNvPr>
          <p:cNvGrpSpPr/>
          <p:nvPr/>
        </p:nvGrpSpPr>
        <p:grpSpPr>
          <a:xfrm>
            <a:off x="1418672" y="4865087"/>
            <a:ext cx="593860" cy="578137"/>
            <a:chOff x="1462480" y="4955518"/>
            <a:chExt cx="593860" cy="578137"/>
          </a:xfrm>
        </p:grpSpPr>
        <p:sp>
          <p:nvSpPr>
            <p:cNvPr id="71" name="Rectángulo 70">
              <a:extLst>
                <a:ext uri="{FF2B5EF4-FFF2-40B4-BE49-F238E27FC236}">
                  <a16:creationId xmlns:a16="http://schemas.microsoft.com/office/drawing/2014/main" id="{B54BF17D-8311-4390-9048-F425783D16CD}"/>
                </a:ext>
              </a:extLst>
            </p:cNvPr>
            <p:cNvSpPr/>
            <p:nvPr/>
          </p:nvSpPr>
          <p:spPr bwMode="auto">
            <a:xfrm rot="20967882">
              <a:off x="1462480" y="4955518"/>
              <a:ext cx="593860" cy="578137"/>
            </a:xfrm>
            <a:prstGeom prst="rect">
              <a:avLst/>
            </a:prstGeom>
            <a:solidFill>
              <a:srgbClr val="FFFF00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vert="horz" wrap="square" lIns="90000" tIns="82800" rIns="90000" bIns="82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D60093"/>
                </a:solidFill>
                <a:effectLst/>
                <a:latin typeface="Arial" panose="020B0604020202020204" pitchFamily="34" charset="0"/>
              </a:endParaRPr>
            </a:p>
          </p:txBody>
        </p:sp>
        <p:grpSp>
          <p:nvGrpSpPr>
            <p:cNvPr id="17454" name="Group 114"/>
            <p:cNvGrpSpPr>
              <a:grpSpLocks/>
            </p:cNvGrpSpPr>
            <p:nvPr/>
          </p:nvGrpSpPr>
          <p:grpSpPr bwMode="auto">
            <a:xfrm rot="10477679">
              <a:off x="1527175" y="5062468"/>
              <a:ext cx="431800" cy="420687"/>
              <a:chOff x="6083" y="3089"/>
              <a:chExt cx="272" cy="265"/>
            </a:xfrm>
          </p:grpSpPr>
          <p:sp>
            <p:nvSpPr>
              <p:cNvPr id="25656" name="Line 115"/>
              <p:cNvSpPr>
                <a:spLocks noChangeShapeType="1"/>
              </p:cNvSpPr>
              <p:nvPr/>
            </p:nvSpPr>
            <p:spPr bwMode="auto">
              <a:xfrm rot="10415585" flipH="1">
                <a:off x="6098" y="3207"/>
                <a:ext cx="257" cy="14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25657" name="Line 116"/>
              <p:cNvSpPr>
                <a:spLocks noChangeShapeType="1"/>
              </p:cNvSpPr>
              <p:nvPr/>
            </p:nvSpPr>
            <p:spPr bwMode="auto">
              <a:xfrm rot="10415585">
                <a:off x="6083" y="3089"/>
                <a:ext cx="251" cy="10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25658" name="Oval 117"/>
              <p:cNvSpPr>
                <a:spLocks noChangeArrowheads="1"/>
              </p:cNvSpPr>
              <p:nvPr/>
            </p:nvSpPr>
            <p:spPr bwMode="auto">
              <a:xfrm rot="10415585">
                <a:off x="6132" y="3128"/>
                <a:ext cx="56" cy="19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lang="en-US"/>
              </a:p>
            </p:txBody>
          </p:sp>
        </p:grpSp>
      </p:grpSp>
      <p:grpSp>
        <p:nvGrpSpPr>
          <p:cNvPr id="25621" name="Grupo 74"/>
          <p:cNvGrpSpPr>
            <a:grpSpLocks/>
          </p:cNvGrpSpPr>
          <p:nvPr/>
        </p:nvGrpSpPr>
        <p:grpSpPr bwMode="auto">
          <a:xfrm>
            <a:off x="1701636" y="2149478"/>
            <a:ext cx="3584575" cy="2627313"/>
            <a:chOff x="1639888" y="2071792"/>
            <a:chExt cx="3584575" cy="2627900"/>
          </a:xfrm>
        </p:grpSpPr>
        <p:sp>
          <p:nvSpPr>
            <p:cNvPr id="25654" name="Line 8"/>
            <p:cNvSpPr>
              <a:spLocks noChangeShapeType="1"/>
            </p:cNvSpPr>
            <p:nvPr/>
          </p:nvSpPr>
          <p:spPr bwMode="auto">
            <a:xfrm rot="3600000" flipV="1">
              <a:off x="2987676" y="1614487"/>
              <a:ext cx="889000" cy="35845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25655" name="Line 8"/>
            <p:cNvSpPr>
              <a:spLocks noChangeShapeType="1"/>
            </p:cNvSpPr>
            <p:nvPr/>
          </p:nvSpPr>
          <p:spPr bwMode="auto">
            <a:xfrm flipV="1">
              <a:off x="3414985" y="2071792"/>
              <a:ext cx="0" cy="26279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</p:grpSp>
      <p:sp>
        <p:nvSpPr>
          <p:cNvPr id="25622" name="Line 15"/>
          <p:cNvSpPr>
            <a:spLocks noChangeShapeType="1"/>
          </p:cNvSpPr>
          <p:nvPr/>
        </p:nvSpPr>
        <p:spPr bwMode="auto">
          <a:xfrm flipH="1">
            <a:off x="2600161" y="4319591"/>
            <a:ext cx="1806575" cy="531812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0000" tIns="82800" rIns="90000" bIns="82800">
            <a:spAutoFit/>
          </a:bodyPr>
          <a:lstStyle/>
          <a:p>
            <a:endParaRPr lang="en-GB"/>
          </a:p>
        </p:txBody>
      </p:sp>
      <p:grpSp>
        <p:nvGrpSpPr>
          <p:cNvPr id="6" name="Grupo 5"/>
          <p:cNvGrpSpPr>
            <a:grpSpLocks/>
          </p:cNvGrpSpPr>
          <p:nvPr/>
        </p:nvGrpSpPr>
        <p:grpSpPr bwMode="auto">
          <a:xfrm>
            <a:off x="2453515" y="4057016"/>
            <a:ext cx="1250773" cy="2049427"/>
            <a:chOff x="2391577" y="5479038"/>
            <a:chExt cx="1250730" cy="2049552"/>
          </a:xfrm>
        </p:grpSpPr>
        <p:sp>
          <p:nvSpPr>
            <p:cNvPr id="25645" name="Text Box 118"/>
            <p:cNvSpPr txBox="1">
              <a:spLocks noChangeArrowheads="1"/>
            </p:cNvSpPr>
            <p:nvPr/>
          </p:nvSpPr>
          <p:spPr bwMode="auto">
            <a:xfrm>
              <a:off x="2391577" y="6622653"/>
              <a:ext cx="1250730" cy="9059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dirty="0">
                  <a:solidFill>
                    <a:srgbClr val="008000"/>
                  </a:solidFill>
                </a:rPr>
                <a:t>sentido horario</a:t>
              </a:r>
            </a:p>
          </p:txBody>
        </p:sp>
        <p:grpSp>
          <p:nvGrpSpPr>
            <p:cNvPr id="25646" name="Group 121"/>
            <p:cNvGrpSpPr>
              <a:grpSpLocks/>
            </p:cNvGrpSpPr>
            <p:nvPr/>
          </p:nvGrpSpPr>
          <p:grpSpPr bwMode="auto">
            <a:xfrm>
              <a:off x="2751676" y="5592441"/>
              <a:ext cx="500063" cy="1008063"/>
              <a:chOff x="1666" y="1147"/>
              <a:chExt cx="315" cy="635"/>
            </a:xfrm>
          </p:grpSpPr>
          <p:sp>
            <p:nvSpPr>
              <p:cNvPr id="25651" name="Oval 51"/>
              <p:cNvSpPr>
                <a:spLocks noChangeArrowheads="1"/>
              </p:cNvSpPr>
              <p:nvPr/>
            </p:nvSpPr>
            <p:spPr bwMode="auto">
              <a:xfrm>
                <a:off x="1666" y="1147"/>
                <a:ext cx="315" cy="635"/>
              </a:xfrm>
              <a:prstGeom prst="ellipse">
                <a:avLst/>
              </a:prstGeom>
              <a:noFill/>
              <a:ln w="25400" algn="ctr">
                <a:solidFill>
                  <a:srgbClr val="008000"/>
                </a:solidFill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lIns="90000" tIns="82800" rIns="90000" bIns="82800" anchor="ctr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lang="en-US"/>
              </a:p>
            </p:txBody>
          </p:sp>
          <p:sp>
            <p:nvSpPr>
              <p:cNvPr id="25652" name="Line 52"/>
              <p:cNvSpPr>
                <a:spLocks noChangeShapeType="1"/>
              </p:cNvSpPr>
              <p:nvPr/>
            </p:nvSpPr>
            <p:spPr bwMode="auto">
              <a:xfrm rot="-9900000">
                <a:off x="1677" y="1351"/>
                <a:ext cx="0" cy="68"/>
              </a:xfrm>
              <a:prstGeom prst="line">
                <a:avLst/>
              </a:prstGeom>
              <a:noFill/>
              <a:ln w="12700">
                <a:solidFill>
                  <a:srgbClr val="008000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25653" name="Line 53"/>
              <p:cNvSpPr>
                <a:spLocks noChangeShapeType="1"/>
              </p:cNvSpPr>
              <p:nvPr/>
            </p:nvSpPr>
            <p:spPr bwMode="auto">
              <a:xfrm rot="720000" flipH="1">
                <a:off x="1963" y="1579"/>
                <a:ext cx="0" cy="68"/>
              </a:xfrm>
              <a:prstGeom prst="line">
                <a:avLst/>
              </a:prstGeom>
              <a:noFill/>
              <a:ln w="12700">
                <a:solidFill>
                  <a:srgbClr val="008000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/>
              </a:p>
            </p:txBody>
          </p:sp>
        </p:grpSp>
        <p:sp>
          <p:nvSpPr>
            <p:cNvPr id="25647" name="Line 2"/>
            <p:cNvSpPr>
              <a:spLocks noChangeShapeType="1"/>
            </p:cNvSpPr>
            <p:nvPr/>
          </p:nvSpPr>
          <p:spPr bwMode="auto">
            <a:xfrm>
              <a:off x="2672379" y="5802792"/>
              <a:ext cx="685800" cy="6381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25648" name="Line 8"/>
            <p:cNvSpPr>
              <a:spLocks noChangeShapeType="1"/>
            </p:cNvSpPr>
            <p:nvPr/>
          </p:nvSpPr>
          <p:spPr bwMode="auto">
            <a:xfrm flipV="1">
              <a:off x="3012158" y="5479038"/>
              <a:ext cx="0" cy="122593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25649" name="Line 53"/>
            <p:cNvSpPr>
              <a:spLocks noChangeShapeType="1"/>
            </p:cNvSpPr>
            <p:nvPr/>
          </p:nvSpPr>
          <p:spPr bwMode="auto">
            <a:xfrm rot="-4500000">
              <a:off x="3036222" y="5548868"/>
              <a:ext cx="0" cy="107950"/>
            </a:xfrm>
            <a:prstGeom prst="line">
              <a:avLst/>
            </a:prstGeom>
            <a:noFill/>
            <a:ln w="12700">
              <a:solidFill>
                <a:srgbClr val="008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25650" name="Line 53"/>
            <p:cNvSpPr>
              <a:spLocks noChangeShapeType="1"/>
            </p:cNvSpPr>
            <p:nvPr/>
          </p:nvSpPr>
          <p:spPr bwMode="auto">
            <a:xfrm rot="-4500000" flipH="1" flipV="1">
              <a:off x="2960022" y="6560804"/>
              <a:ext cx="0" cy="107950"/>
            </a:xfrm>
            <a:prstGeom prst="line">
              <a:avLst/>
            </a:prstGeom>
            <a:noFill/>
            <a:ln w="12700">
              <a:solidFill>
                <a:srgbClr val="008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</p:grpSp>
      <p:sp>
        <p:nvSpPr>
          <p:cNvPr id="25624" name="Line 14"/>
          <p:cNvSpPr>
            <a:spLocks noChangeShapeType="1"/>
          </p:cNvSpPr>
          <p:nvPr/>
        </p:nvSpPr>
        <p:spPr bwMode="auto">
          <a:xfrm flipH="1">
            <a:off x="2593811" y="2032003"/>
            <a:ext cx="1806575" cy="531813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0000" tIns="82800" rIns="90000" bIns="82800">
            <a:spAutoFit/>
          </a:bodyPr>
          <a:lstStyle/>
          <a:p>
            <a:endParaRPr lang="en-GB"/>
          </a:p>
        </p:txBody>
      </p:sp>
      <p:grpSp>
        <p:nvGrpSpPr>
          <p:cNvPr id="5" name="Grupo 4"/>
          <p:cNvGrpSpPr>
            <a:grpSpLocks/>
          </p:cNvGrpSpPr>
          <p:nvPr/>
        </p:nvGrpSpPr>
        <p:grpSpPr bwMode="auto">
          <a:xfrm>
            <a:off x="3045254" y="635884"/>
            <a:ext cx="1708776" cy="2083288"/>
            <a:chOff x="2983189" y="-228293"/>
            <a:chExt cx="1709185" cy="2084273"/>
          </a:xfrm>
        </p:grpSpPr>
        <p:grpSp>
          <p:nvGrpSpPr>
            <p:cNvPr id="25636" name="Group 121"/>
            <p:cNvGrpSpPr>
              <a:grpSpLocks/>
            </p:cNvGrpSpPr>
            <p:nvPr/>
          </p:nvGrpSpPr>
          <p:grpSpPr bwMode="auto">
            <a:xfrm>
              <a:off x="3632330" y="741873"/>
              <a:ext cx="500063" cy="1008063"/>
              <a:chOff x="1666" y="1147"/>
              <a:chExt cx="315" cy="635"/>
            </a:xfrm>
          </p:grpSpPr>
          <p:sp>
            <p:nvSpPr>
              <p:cNvPr id="25642" name="Oval 51"/>
              <p:cNvSpPr>
                <a:spLocks noChangeArrowheads="1"/>
              </p:cNvSpPr>
              <p:nvPr/>
            </p:nvSpPr>
            <p:spPr bwMode="auto">
              <a:xfrm>
                <a:off x="1666" y="1147"/>
                <a:ext cx="315" cy="635"/>
              </a:xfrm>
              <a:prstGeom prst="ellipse">
                <a:avLst/>
              </a:prstGeom>
              <a:noFill/>
              <a:ln w="25400" algn="ctr">
                <a:solidFill>
                  <a:srgbClr val="008000"/>
                </a:solidFill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lIns="90000" tIns="82800" rIns="90000" bIns="82800" anchor="ctr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lang="en-US"/>
              </a:p>
            </p:txBody>
          </p:sp>
          <p:sp>
            <p:nvSpPr>
              <p:cNvPr id="25643" name="Line 52"/>
              <p:cNvSpPr>
                <a:spLocks noChangeShapeType="1"/>
              </p:cNvSpPr>
              <p:nvPr/>
            </p:nvSpPr>
            <p:spPr bwMode="auto">
              <a:xfrm rot="-9900000" flipH="1" flipV="1">
                <a:off x="1683" y="1309"/>
                <a:ext cx="0" cy="68"/>
              </a:xfrm>
              <a:prstGeom prst="line">
                <a:avLst/>
              </a:prstGeom>
              <a:noFill/>
              <a:ln w="12700">
                <a:solidFill>
                  <a:srgbClr val="008000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25644" name="Line 53"/>
              <p:cNvSpPr>
                <a:spLocks noChangeShapeType="1"/>
              </p:cNvSpPr>
              <p:nvPr/>
            </p:nvSpPr>
            <p:spPr bwMode="auto">
              <a:xfrm rot="720000" flipV="1">
                <a:off x="1957" y="1603"/>
                <a:ext cx="0" cy="68"/>
              </a:xfrm>
              <a:prstGeom prst="line">
                <a:avLst/>
              </a:prstGeom>
              <a:noFill/>
              <a:ln w="12700">
                <a:solidFill>
                  <a:srgbClr val="008000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/>
              </a:p>
            </p:txBody>
          </p:sp>
        </p:grpSp>
        <p:sp>
          <p:nvSpPr>
            <p:cNvPr id="25637" name="Text Box 113"/>
            <p:cNvSpPr txBox="1">
              <a:spLocks noChangeArrowheads="1"/>
            </p:cNvSpPr>
            <p:nvPr/>
          </p:nvSpPr>
          <p:spPr bwMode="auto">
            <a:xfrm>
              <a:off x="2983189" y="-228293"/>
              <a:ext cx="1709185" cy="906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ES" sz="2400" dirty="0">
                  <a:solidFill>
                    <a:srgbClr val="008000"/>
                  </a:solidFill>
                </a:rPr>
                <a:t>sentido antihorario</a:t>
              </a:r>
            </a:p>
          </p:txBody>
        </p:sp>
        <p:sp>
          <p:nvSpPr>
            <p:cNvPr id="25638" name="Line 2"/>
            <p:cNvSpPr>
              <a:spLocks noChangeShapeType="1"/>
            </p:cNvSpPr>
            <p:nvPr/>
          </p:nvSpPr>
          <p:spPr bwMode="auto">
            <a:xfrm>
              <a:off x="3556791" y="1000774"/>
              <a:ext cx="685800" cy="6381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25639" name="Line 8"/>
            <p:cNvSpPr>
              <a:spLocks noChangeShapeType="1"/>
            </p:cNvSpPr>
            <p:nvPr/>
          </p:nvSpPr>
          <p:spPr bwMode="auto">
            <a:xfrm flipV="1">
              <a:off x="3871374" y="630045"/>
              <a:ext cx="0" cy="122593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25640" name="Line 53"/>
            <p:cNvSpPr>
              <a:spLocks noChangeShapeType="1"/>
            </p:cNvSpPr>
            <p:nvPr/>
          </p:nvSpPr>
          <p:spPr bwMode="auto">
            <a:xfrm rot="-4500000">
              <a:off x="3892710" y="1714484"/>
              <a:ext cx="0" cy="107950"/>
            </a:xfrm>
            <a:prstGeom prst="line">
              <a:avLst/>
            </a:prstGeom>
            <a:noFill/>
            <a:ln w="12700">
              <a:solidFill>
                <a:srgbClr val="008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25641" name="Line 53"/>
            <p:cNvSpPr>
              <a:spLocks noChangeShapeType="1"/>
            </p:cNvSpPr>
            <p:nvPr/>
          </p:nvSpPr>
          <p:spPr bwMode="auto">
            <a:xfrm rot="-4500000" flipH="1" flipV="1">
              <a:off x="3871374" y="687308"/>
              <a:ext cx="0" cy="107950"/>
            </a:xfrm>
            <a:prstGeom prst="line">
              <a:avLst/>
            </a:prstGeom>
            <a:noFill/>
            <a:ln w="12700">
              <a:solidFill>
                <a:srgbClr val="008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</p:grpSp>
      <p:sp>
        <p:nvSpPr>
          <p:cNvPr id="25629" name="Line 108"/>
          <p:cNvSpPr>
            <a:spLocks noChangeShapeType="1"/>
          </p:cNvSpPr>
          <p:nvPr/>
        </p:nvSpPr>
        <p:spPr bwMode="auto">
          <a:xfrm flipH="1">
            <a:off x="3555836" y="2208216"/>
            <a:ext cx="220662" cy="7143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0000" tIns="82800" rIns="90000" bIns="82800">
            <a:spAutoFit/>
          </a:bodyPr>
          <a:lstStyle/>
          <a:p>
            <a:endParaRPr lang="en-GB"/>
          </a:p>
        </p:txBody>
      </p:sp>
      <p:sp>
        <p:nvSpPr>
          <p:cNvPr id="25630" name="Line 107"/>
          <p:cNvSpPr>
            <a:spLocks noChangeShapeType="1"/>
          </p:cNvSpPr>
          <p:nvPr/>
        </p:nvSpPr>
        <p:spPr bwMode="auto">
          <a:xfrm flipH="1">
            <a:off x="2708111" y="4749803"/>
            <a:ext cx="220662" cy="71438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0000" tIns="82800" rIns="90000" bIns="82800">
            <a:spAutoFit/>
          </a:bodyPr>
          <a:lstStyle/>
          <a:p>
            <a:endParaRPr lang="en-GB"/>
          </a:p>
        </p:txBody>
      </p:sp>
      <p:grpSp>
        <p:nvGrpSpPr>
          <p:cNvPr id="2" name="Grupo 1"/>
          <p:cNvGrpSpPr>
            <a:grpSpLocks/>
          </p:cNvGrpSpPr>
          <p:nvPr/>
        </p:nvGrpSpPr>
        <p:grpSpPr bwMode="auto">
          <a:xfrm>
            <a:off x="3462174" y="3494098"/>
            <a:ext cx="2042448" cy="1005580"/>
            <a:chOff x="3400936" y="3763963"/>
            <a:chExt cx="2042422" cy="1005127"/>
          </a:xfrm>
        </p:grpSpPr>
        <p:sp>
          <p:nvSpPr>
            <p:cNvPr id="25634" name="Line 28"/>
            <p:cNvSpPr>
              <a:spLocks noChangeShapeType="1"/>
            </p:cNvSpPr>
            <p:nvPr/>
          </p:nvSpPr>
          <p:spPr bwMode="auto">
            <a:xfrm>
              <a:off x="3400936" y="3763963"/>
              <a:ext cx="668606" cy="637052"/>
            </a:xfrm>
            <a:prstGeom prst="line">
              <a:avLst/>
            </a:prstGeom>
            <a:noFill/>
            <a:ln w="50800">
              <a:solidFill>
                <a:srgbClr val="008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82800" rIns="90000" bIns="82800">
              <a:spAutoFit/>
            </a:bodyPr>
            <a:lstStyle/>
            <a:p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635" name="Object 29"/>
                <p:cNvSpPr txBox="1"/>
                <p:nvPr/>
              </p:nvSpPr>
              <p:spPr bwMode="auto">
                <a:xfrm>
                  <a:off x="4041613" y="4191499"/>
                  <a:ext cx="1401745" cy="5775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ES" sz="2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s-E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s-ES" sz="2400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</m:acc>
                          </m:e>
                          <m:sub>
                            <m:r>
                              <m:rPr>
                                <m:sty m:val="p"/>
                              </m:rPr>
                              <a:rPr lang="es-ES" sz="24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espira</m:t>
                            </m:r>
                          </m:sub>
                        </m:sSub>
                      </m:oMath>
                    </m:oMathPara>
                  </a14:m>
                  <a:endParaRPr lang="es-ES" sz="2400" dirty="0"/>
                </a:p>
              </p:txBody>
            </p:sp>
          </mc:Choice>
          <mc:Fallback xmlns="">
            <p:sp>
              <p:nvSpPr>
                <p:cNvPr id="25635" name="Object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041613" y="4191499"/>
                  <a:ext cx="1401745" cy="57759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484DB93C-67BB-4A37-B803-6CE2E993C51A}"/>
              </a:ext>
            </a:extLst>
          </p:cNvPr>
          <p:cNvGrpSpPr/>
          <p:nvPr/>
        </p:nvGrpSpPr>
        <p:grpSpPr>
          <a:xfrm>
            <a:off x="1169441" y="801767"/>
            <a:ext cx="1827212" cy="1275213"/>
            <a:chOff x="1008669" y="972584"/>
            <a:chExt cx="1827212" cy="1275213"/>
          </a:xfrm>
        </p:grpSpPr>
        <p:sp>
          <p:nvSpPr>
            <p:cNvPr id="12" name="Bocadillo: rectángulo con esquinas redondeadas 11">
              <a:extLst>
                <a:ext uri="{FF2B5EF4-FFF2-40B4-BE49-F238E27FC236}">
                  <a16:creationId xmlns:a16="http://schemas.microsoft.com/office/drawing/2014/main" id="{EDFA2147-0623-448A-AC1C-8D4409E8FD23}"/>
                </a:ext>
              </a:extLst>
            </p:cNvPr>
            <p:cNvSpPr/>
            <p:nvPr/>
          </p:nvSpPr>
          <p:spPr bwMode="auto">
            <a:xfrm>
              <a:off x="1250247" y="1017143"/>
              <a:ext cx="1340245" cy="1224000"/>
            </a:xfrm>
            <a:prstGeom prst="wedgeRoundRectCallout">
              <a:avLst/>
            </a:prstGeom>
            <a:solidFill>
              <a:srgbClr val="FFFFFF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  <a:effectLst/>
            <a:extLs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vert="horz" wrap="non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4" name="Text Box 113"/>
            <p:cNvSpPr txBox="1">
              <a:spLocks noChangeArrowheads="1"/>
            </p:cNvSpPr>
            <p:nvPr/>
          </p:nvSpPr>
          <p:spPr bwMode="auto">
            <a:xfrm>
              <a:off x="1008669" y="972584"/>
              <a:ext cx="1827212" cy="1275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s-ES" sz="24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I</a:t>
              </a:r>
              <a:r>
                <a:rPr lang="es-ES" sz="2400" dirty="0">
                  <a:solidFill>
                    <a:schemeClr val="tx1"/>
                  </a:solidFill>
                </a:rPr>
                <a:t> viene hacia nosotros</a:t>
              </a:r>
            </a:p>
          </p:txBody>
        </p:sp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7F60B0D1-BB92-4377-A587-CA3F0EE7122D}"/>
              </a:ext>
            </a:extLst>
          </p:cNvPr>
          <p:cNvGrpSpPr/>
          <p:nvPr/>
        </p:nvGrpSpPr>
        <p:grpSpPr>
          <a:xfrm>
            <a:off x="1394461" y="6231670"/>
            <a:ext cx="3257514" cy="546195"/>
            <a:chOff x="1394461" y="6080942"/>
            <a:chExt cx="3257514" cy="546195"/>
          </a:xfrm>
        </p:grpSpPr>
        <p:sp>
          <p:nvSpPr>
            <p:cNvPr id="77" name="Bocadillo: rectángulo con esquinas redondeadas 76">
              <a:extLst>
                <a:ext uri="{FF2B5EF4-FFF2-40B4-BE49-F238E27FC236}">
                  <a16:creationId xmlns:a16="http://schemas.microsoft.com/office/drawing/2014/main" id="{4CB2F54D-BBF7-4366-BB26-00660F56256F}"/>
                </a:ext>
              </a:extLst>
            </p:cNvPr>
            <p:cNvSpPr/>
            <p:nvPr/>
          </p:nvSpPr>
          <p:spPr bwMode="auto">
            <a:xfrm rot="10800000" flipH="1">
              <a:off x="1394461" y="6080942"/>
              <a:ext cx="3226432" cy="546195"/>
            </a:xfrm>
            <a:prstGeom prst="wedgeRoundRectCallout">
              <a:avLst>
                <a:gd name="adj1" fmla="val -35647"/>
                <a:gd name="adj2" fmla="val 155478"/>
                <a:gd name="adj3" fmla="val 16667"/>
              </a:avLst>
            </a:prstGeom>
            <a:solidFill>
              <a:srgbClr val="FFFFFF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  <a:effectLst/>
            <a:extLs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vert="horz" wrap="squar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5" name="Text Box 113"/>
            <p:cNvSpPr txBox="1">
              <a:spLocks noChangeArrowheads="1"/>
            </p:cNvSpPr>
            <p:nvPr/>
          </p:nvSpPr>
          <p:spPr bwMode="auto">
            <a:xfrm>
              <a:off x="1406493" y="6085845"/>
              <a:ext cx="3245482" cy="5365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s-ES" sz="24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I</a:t>
              </a:r>
              <a:r>
                <a:rPr lang="es-ES" sz="2400" dirty="0">
                  <a:solidFill>
                    <a:schemeClr val="tx1"/>
                  </a:solidFill>
                </a:rPr>
                <a:t> se aleja de nosotros</a:t>
              </a:r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1504E833-81E0-4BFA-8961-A15FD9D19F40}"/>
              </a:ext>
            </a:extLst>
          </p:cNvPr>
          <p:cNvGrpSpPr/>
          <p:nvPr/>
        </p:nvGrpSpPr>
        <p:grpSpPr>
          <a:xfrm>
            <a:off x="3092964" y="2277444"/>
            <a:ext cx="1224799" cy="2416836"/>
            <a:chOff x="3092964" y="2398021"/>
            <a:chExt cx="1224799" cy="2416836"/>
          </a:xfrm>
        </p:grpSpPr>
        <p:sp>
          <p:nvSpPr>
            <p:cNvPr id="8" name="Arco 7">
              <a:extLst>
                <a:ext uri="{FF2B5EF4-FFF2-40B4-BE49-F238E27FC236}">
                  <a16:creationId xmlns:a16="http://schemas.microsoft.com/office/drawing/2014/main" id="{603506D3-0A03-421A-979D-5B024886D897}"/>
                </a:ext>
              </a:extLst>
            </p:cNvPr>
            <p:cNvSpPr/>
            <p:nvPr/>
          </p:nvSpPr>
          <p:spPr bwMode="auto">
            <a:xfrm rot="12235015" flipV="1">
              <a:off x="3403363" y="2398021"/>
              <a:ext cx="914400" cy="914400"/>
            </a:xfrm>
            <a:prstGeom prst="arc">
              <a:avLst>
                <a:gd name="adj1" fmla="val 1022616"/>
                <a:gd name="adj2" fmla="val 5629438"/>
              </a:avLst>
            </a:prstGeom>
            <a:noFill/>
            <a:ln w="381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vert="horz" wrap="non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8" name="Arco 77">
              <a:extLst>
                <a:ext uri="{FF2B5EF4-FFF2-40B4-BE49-F238E27FC236}">
                  <a16:creationId xmlns:a16="http://schemas.microsoft.com/office/drawing/2014/main" id="{878C8E7F-36D9-4A6D-A65E-59FDFF10633C}"/>
                </a:ext>
              </a:extLst>
            </p:cNvPr>
            <p:cNvSpPr/>
            <p:nvPr/>
          </p:nvSpPr>
          <p:spPr bwMode="auto">
            <a:xfrm rot="9975981" flipH="1">
              <a:off x="3092964" y="3970401"/>
              <a:ext cx="578673" cy="844456"/>
            </a:xfrm>
            <a:prstGeom prst="arc">
              <a:avLst>
                <a:gd name="adj1" fmla="val 1550462"/>
                <a:gd name="adj2" fmla="val 5209860"/>
              </a:avLst>
            </a:prstGeom>
            <a:noFill/>
            <a:ln w="38100" cap="flat" cmpd="sng" algn="ctr">
              <a:solidFill>
                <a:srgbClr val="008000"/>
              </a:solidFill>
              <a:prstDash val="solid"/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vert="horz" wrap="squar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70" name="CuadroTexto 69">
            <a:extLst>
              <a:ext uri="{FF2B5EF4-FFF2-40B4-BE49-F238E27FC236}">
                <a16:creationId xmlns:a16="http://schemas.microsoft.com/office/drawing/2014/main" id="{F15ACEBB-A715-402B-AD9E-94E42F6D2A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5646" y="3756909"/>
            <a:ext cx="318228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 dirty="0">
                <a:solidFill>
                  <a:srgbClr val="FF0000"/>
                </a:solidFill>
              </a:rPr>
              <a:t>(como en una brújula)</a:t>
            </a:r>
          </a:p>
        </p:txBody>
      </p:sp>
      <p:sp>
        <p:nvSpPr>
          <p:cNvPr id="10" name="Text Box 124">
            <a:extLst>
              <a:ext uri="{FF2B5EF4-FFF2-40B4-BE49-F238E27FC236}">
                <a16:creationId xmlns:a16="http://schemas.microsoft.com/office/drawing/2014/main" id="{6080C12D-4AC8-7AFC-3077-0FD8EAEF28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4627" y="4496054"/>
            <a:ext cx="4678380" cy="20647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08000" tIns="108000" rIns="108000" bIns="108000" anchor="ctr" anchorCtr="1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  <a:defRPr/>
            </a:pP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Una </a:t>
            </a:r>
            <a:r>
              <a:rPr lang="es-ES" sz="2400" dirty="0">
                <a:solidFill>
                  <a:srgbClr val="3333FF"/>
                </a:solidFill>
                <a:sym typeface="Symbol" panose="05050102010706020507" pitchFamily="18" charset="2"/>
              </a:rPr>
              <a:t>espira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 por la que circula una corriente es equivalente</a:t>
            </a:r>
          </a:p>
          <a:p>
            <a:pPr algn="ctr" eaLnBrk="1" hangingPunct="1">
              <a:spcBef>
                <a:spcPts val="0"/>
              </a:spcBef>
              <a:defRPr/>
            </a:pP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a un </a:t>
            </a:r>
            <a:r>
              <a:rPr lang="es-ES" sz="2400" dirty="0">
                <a:solidFill>
                  <a:srgbClr val="3333FF"/>
                </a:solidFill>
                <a:sym typeface="Symbol" panose="05050102010706020507" pitchFamily="18" charset="2"/>
              </a:rPr>
              <a:t>imán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 (a una brújula)</a:t>
            </a:r>
          </a:p>
          <a:p>
            <a:pPr algn="ctr" eaLnBrk="1" hangingPunct="1">
              <a:spcBef>
                <a:spcPts val="0"/>
              </a:spcBef>
              <a:defRPr/>
            </a:pP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es un </a:t>
            </a:r>
            <a:r>
              <a:rPr lang="es-ES" sz="2400">
                <a:solidFill>
                  <a:srgbClr val="3333FF"/>
                </a:solidFill>
                <a:sym typeface="Symbol" panose="05050102010706020507" pitchFamily="18" charset="2"/>
              </a:rPr>
              <a:t>dipolo magnético</a:t>
            </a:r>
          </a:p>
          <a:p>
            <a:pPr algn="ctr" eaLnBrk="1" hangingPunct="1">
              <a:spcBef>
                <a:spcPts val="0"/>
              </a:spcBef>
              <a:defRPr/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(tiene polo norte y polo sur)</a:t>
            </a:r>
            <a:endParaRPr lang="es-ES" sz="24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11" name="Text Box 63">
            <a:extLst>
              <a:ext uri="{FF2B5EF4-FFF2-40B4-BE49-F238E27FC236}">
                <a16:creationId xmlns:a16="http://schemas.microsoft.com/office/drawing/2014/main" id="{DCE2E189-53D5-4E7F-F246-33BF4D0A92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0896" y="4484100"/>
            <a:ext cx="368224" cy="44203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72000" tIns="36000" rIns="72000" bIns="36000" anchor="ctr" anchorCtr="1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sz="2400">
                <a:solidFill>
                  <a:srgbClr val="FFFFFF"/>
                </a:solidFill>
              </a:rPr>
              <a:t>N</a:t>
            </a:r>
          </a:p>
        </p:txBody>
      </p:sp>
      <p:sp>
        <p:nvSpPr>
          <p:cNvPr id="15" name="Text Box 64">
            <a:extLst>
              <a:ext uri="{FF2B5EF4-FFF2-40B4-BE49-F238E27FC236}">
                <a16:creationId xmlns:a16="http://schemas.microsoft.com/office/drawing/2014/main" id="{B011B843-B675-6F06-C5F6-A67AD2506E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2563" y="2668335"/>
            <a:ext cx="350592" cy="442035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72000" tIns="36000" rIns="72000" bIns="36000" anchor="ctr" anchorCtr="1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sz="2400" dirty="0">
                <a:solidFill>
                  <a:srgbClr val="FFFFFF"/>
                </a:solidFill>
              </a:rPr>
              <a:t>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5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5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63" grpId="0" animBg="1"/>
      <p:bldP spid="25662" grpId="0" animBg="1"/>
      <p:bldP spid="70" grpId="0"/>
      <p:bldP spid="10" grpId="0" animBg="1"/>
      <p:bldP spid="11" grpId="0" animBg="1"/>
      <p:bldP spid="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o 8"/>
          <p:cNvGrpSpPr/>
          <p:nvPr/>
        </p:nvGrpSpPr>
        <p:grpSpPr>
          <a:xfrm>
            <a:off x="1810265" y="2670779"/>
            <a:ext cx="6077912" cy="2750564"/>
            <a:chOff x="1800435" y="2641891"/>
            <a:chExt cx="6077912" cy="2750564"/>
          </a:xfrm>
        </p:grpSpPr>
        <p:sp>
          <p:nvSpPr>
            <p:cNvPr id="8" name="Rectángulo 7"/>
            <p:cNvSpPr/>
            <p:nvPr/>
          </p:nvSpPr>
          <p:spPr bwMode="auto">
            <a:xfrm>
              <a:off x="1800435" y="2641891"/>
              <a:ext cx="6077912" cy="2750564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vert="horz" wrap="square" lIns="90000" tIns="82800" rIns="90000" bIns="82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D60093"/>
                </a:solidFill>
                <a:effectLst/>
                <a:latin typeface="Arial" panose="020B0604020202020204" pitchFamily="34" charset="0"/>
              </a:endParaRPr>
            </a:p>
          </p:txBody>
        </p:sp>
        <p:pic>
          <p:nvPicPr>
            <p:cNvPr id="7" name="Imagen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18120" y="3273286"/>
              <a:ext cx="963000" cy="1251000"/>
            </a:xfrm>
            <a:prstGeom prst="rect">
              <a:avLst/>
            </a:prstGeom>
          </p:spPr>
        </p:pic>
      </p:grpSp>
      <p:pic>
        <p:nvPicPr>
          <p:cNvPr id="10" name="Imagen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4146" y="2670861"/>
            <a:ext cx="6070151" cy="275040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4421" y="2671781"/>
            <a:ext cx="6069600" cy="2748560"/>
          </a:xfrm>
          <a:prstGeom prst="rect">
            <a:avLst/>
          </a:prstGeom>
        </p:spPr>
      </p:pic>
      <p:grpSp>
        <p:nvGrpSpPr>
          <p:cNvPr id="3" name="Grupo 2"/>
          <p:cNvGrpSpPr/>
          <p:nvPr/>
        </p:nvGrpSpPr>
        <p:grpSpPr>
          <a:xfrm>
            <a:off x="1803663" y="2660170"/>
            <a:ext cx="6069600" cy="2750564"/>
            <a:chOff x="1401763" y="998349"/>
            <a:chExt cx="8884276" cy="3625071"/>
          </a:xfrm>
        </p:grpSpPr>
        <p:pic>
          <p:nvPicPr>
            <p:cNvPr id="632883" name="Picture 51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1763" y="998349"/>
              <a:ext cx="8884276" cy="36250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</p:pic>
        <p:sp>
          <p:nvSpPr>
            <p:cNvPr id="632869" name="Text Box 37"/>
            <p:cNvSpPr txBox="1">
              <a:spLocks noChangeArrowheads="1"/>
            </p:cNvSpPr>
            <p:nvPr/>
          </p:nvSpPr>
          <p:spPr bwMode="auto">
            <a:xfrm>
              <a:off x="5029200" y="3533839"/>
              <a:ext cx="752475" cy="3778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1400">
                  <a:solidFill>
                    <a:srgbClr val="777777"/>
                  </a:solidFill>
                </a:rPr>
                <a:t>TOTAL</a:t>
              </a:r>
            </a:p>
          </p:txBody>
        </p:sp>
      </p:grpSp>
      <p:sp>
        <p:nvSpPr>
          <p:cNvPr id="632843" name="Text Box 11"/>
          <p:cNvSpPr txBox="1">
            <a:spLocks noChangeArrowheads="1"/>
          </p:cNvSpPr>
          <p:nvPr/>
        </p:nvSpPr>
        <p:spPr bwMode="auto">
          <a:xfrm>
            <a:off x="1797296" y="359007"/>
            <a:ext cx="7942605" cy="97858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118800" rIns="90000" bIns="11880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s-ES" sz="2400">
                <a:solidFill>
                  <a:schemeClr val="tx1"/>
                </a:solidFill>
              </a:rPr>
              <a:t>La atracción y repulsión entre imanes se puede explicar entendiendo a los imanes como espiras</a:t>
            </a:r>
            <a:r>
              <a:rPr lang="en-US" sz="2400">
                <a:solidFill>
                  <a:schemeClr val="tx1"/>
                </a:solidFill>
              </a:rPr>
              <a:t> con corriente</a:t>
            </a:r>
            <a:endParaRPr lang="es-ES" sz="2400">
              <a:solidFill>
                <a:schemeClr val="tx1"/>
              </a:solidFill>
            </a:endParaRPr>
          </a:p>
        </p:txBody>
      </p:sp>
      <p:grpSp>
        <p:nvGrpSpPr>
          <p:cNvPr id="632884" name="Group 52"/>
          <p:cNvGrpSpPr>
            <a:grpSpLocks/>
          </p:cNvGrpSpPr>
          <p:nvPr/>
        </p:nvGrpSpPr>
        <p:grpSpPr bwMode="auto">
          <a:xfrm>
            <a:off x="5604397" y="5879612"/>
            <a:ext cx="1843082" cy="701675"/>
            <a:chOff x="2745" y="787"/>
            <a:chExt cx="1161" cy="442"/>
          </a:xfrm>
        </p:grpSpPr>
        <p:sp>
          <p:nvSpPr>
            <p:cNvPr id="31778" name="Rectangle 6"/>
            <p:cNvSpPr>
              <a:spLocks noChangeArrowheads="1"/>
            </p:cNvSpPr>
            <p:nvPr/>
          </p:nvSpPr>
          <p:spPr bwMode="auto">
            <a:xfrm>
              <a:off x="3042" y="787"/>
              <a:ext cx="864" cy="44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 anchor="ctr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/>
            </a:p>
          </p:txBody>
        </p:sp>
        <p:graphicFrame>
          <p:nvGraphicFramePr>
            <p:cNvPr id="31779" name="Object 10"/>
            <p:cNvGraphicFramePr>
              <a:graphicFrameLocks noChangeAspect="1"/>
            </p:cNvGraphicFramePr>
            <p:nvPr/>
          </p:nvGraphicFramePr>
          <p:xfrm>
            <a:off x="3075" y="808"/>
            <a:ext cx="791" cy="3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7" imgW="520474" imgH="253890" progId="Equation.3">
                    <p:embed/>
                  </p:oleObj>
                </mc:Choice>
                <mc:Fallback>
                  <p:oleObj name="Ecuación" r:id="rId7" imgW="520474" imgH="253890" progId="Equation.3">
                    <p:embed/>
                    <p:pic>
                      <p:nvPicPr>
                        <p:cNvPr id="31779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5" y="808"/>
                          <a:ext cx="791" cy="3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80" name="AutoShape 15"/>
            <p:cNvSpPr>
              <a:spLocks noChangeArrowheads="1"/>
            </p:cNvSpPr>
            <p:nvPr/>
          </p:nvSpPr>
          <p:spPr bwMode="auto">
            <a:xfrm>
              <a:off x="2745" y="860"/>
              <a:ext cx="205" cy="288"/>
            </a:xfrm>
            <a:prstGeom prst="rightArrow">
              <a:avLst>
                <a:gd name="adj1" fmla="val 50000"/>
                <a:gd name="adj2" fmla="val 50245"/>
              </a:avLst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 anchor="ctr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/>
            </a:p>
          </p:txBody>
        </p:sp>
      </p:grpSp>
      <p:sp>
        <p:nvSpPr>
          <p:cNvPr id="632867" name="Text Box 35"/>
          <p:cNvSpPr txBox="1">
            <a:spLocks noChangeArrowheads="1"/>
          </p:cNvSpPr>
          <p:nvPr/>
        </p:nvSpPr>
        <p:spPr bwMode="auto">
          <a:xfrm>
            <a:off x="8285434" y="3142867"/>
            <a:ext cx="2123932" cy="1644545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</a:rPr>
              <a:t>El campo no es uniforme: las líneas se van juntando</a:t>
            </a:r>
          </a:p>
        </p:txBody>
      </p:sp>
      <p:sp>
        <p:nvSpPr>
          <p:cNvPr id="632868" name="Text Box 36"/>
          <p:cNvSpPr txBox="1">
            <a:spLocks noChangeArrowheads="1"/>
          </p:cNvSpPr>
          <p:nvPr/>
        </p:nvSpPr>
        <p:spPr bwMode="auto">
          <a:xfrm>
            <a:off x="1797296" y="5552971"/>
            <a:ext cx="3603379" cy="1275213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</a:rPr>
              <a:t>Laplace es aplicable en trozos de espira: donde</a:t>
            </a:r>
          </a:p>
          <a:p>
            <a:pPr algn="ctr"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</a:rPr>
              <a:t>el campo es uniforme</a:t>
            </a:r>
          </a:p>
        </p:txBody>
      </p:sp>
      <p:grpSp>
        <p:nvGrpSpPr>
          <p:cNvPr id="632885" name="Group 53"/>
          <p:cNvGrpSpPr>
            <a:grpSpLocks/>
          </p:cNvGrpSpPr>
          <p:nvPr/>
        </p:nvGrpSpPr>
        <p:grpSpPr bwMode="auto">
          <a:xfrm>
            <a:off x="7748715" y="5748070"/>
            <a:ext cx="2660651" cy="977900"/>
            <a:chOff x="4186" y="698"/>
            <a:chExt cx="1676" cy="616"/>
          </a:xfrm>
        </p:grpSpPr>
        <p:sp>
          <p:nvSpPr>
            <p:cNvPr id="31776" name="Text Box 14"/>
            <p:cNvSpPr txBox="1">
              <a:spLocks noChangeArrowheads="1"/>
            </p:cNvSpPr>
            <p:nvPr/>
          </p:nvSpPr>
          <p:spPr bwMode="auto">
            <a:xfrm>
              <a:off x="4524" y="698"/>
              <a:ext cx="1338" cy="61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118800" rIns="90000" bIns="118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Symbol" panose="05050102010706020507" pitchFamily="18" charset="2"/>
                <a:buNone/>
              </a:pPr>
              <a:r>
                <a:rPr lang="es-ES" sz="2400">
                  <a:solidFill>
                    <a:schemeClr val="tx1"/>
                  </a:solidFill>
                </a:rPr>
                <a:t>El </a:t>
              </a:r>
              <a:r>
                <a:rPr lang="es-ES" sz="2400" dirty="0">
                  <a:solidFill>
                    <a:schemeClr val="tx1"/>
                  </a:solidFill>
                </a:rPr>
                <a:t>imán </a:t>
              </a:r>
              <a:r>
                <a:rPr lang="es-ES" sz="2400">
                  <a:solidFill>
                    <a:schemeClr val="tx1"/>
                  </a:solidFill>
                </a:rPr>
                <a:t>atrae al </a:t>
              </a:r>
              <a:r>
                <a:rPr lang="es-ES" sz="2400" dirty="0">
                  <a:solidFill>
                    <a:schemeClr val="tx1"/>
                  </a:solidFill>
                </a:rPr>
                <a:t>otro imán</a:t>
              </a:r>
            </a:p>
          </p:txBody>
        </p:sp>
        <p:sp>
          <p:nvSpPr>
            <p:cNvPr id="31777" name="AutoShape 49"/>
            <p:cNvSpPr>
              <a:spLocks noChangeArrowheads="1"/>
            </p:cNvSpPr>
            <p:nvPr/>
          </p:nvSpPr>
          <p:spPr bwMode="auto">
            <a:xfrm>
              <a:off x="4186" y="855"/>
              <a:ext cx="205" cy="288"/>
            </a:xfrm>
            <a:prstGeom prst="rightArrow">
              <a:avLst>
                <a:gd name="adj1" fmla="val 50000"/>
                <a:gd name="adj2" fmla="val 50245"/>
              </a:avLst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 anchor="ctr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/>
            </a:p>
          </p:txBody>
        </p:sp>
      </p:grpSp>
      <p:pic>
        <p:nvPicPr>
          <p:cNvPr id="31773" name="Picture 7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059" y="1590054"/>
            <a:ext cx="1249364" cy="654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pic>
      <p:pic>
        <p:nvPicPr>
          <p:cNvPr id="35" name="Picture 7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6481" y="1590241"/>
            <a:ext cx="1249364" cy="654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pic>
      <p:grpSp>
        <p:nvGrpSpPr>
          <p:cNvPr id="4" name="Grupo 3"/>
          <p:cNvGrpSpPr/>
          <p:nvPr/>
        </p:nvGrpSpPr>
        <p:grpSpPr>
          <a:xfrm>
            <a:off x="5574357" y="2208139"/>
            <a:ext cx="3032965" cy="642554"/>
            <a:chOff x="5574357" y="2208139"/>
            <a:chExt cx="3032965" cy="642554"/>
          </a:xfrm>
        </p:grpSpPr>
        <p:sp>
          <p:nvSpPr>
            <p:cNvPr id="31774" name="Text Box 73"/>
            <p:cNvSpPr txBox="1">
              <a:spLocks noChangeArrowheads="1"/>
            </p:cNvSpPr>
            <p:nvPr/>
          </p:nvSpPr>
          <p:spPr bwMode="auto">
            <a:xfrm>
              <a:off x="5963240" y="2208139"/>
              <a:ext cx="2644082" cy="463846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  <a:extLs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46800" rIns="90000" bIns="46800" anchor="ctr" anchorCtr="1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ES" sz="2400">
                  <a:solidFill>
                    <a:srgbClr val="3333FF"/>
                  </a:solidFill>
                </a:rPr>
                <a:t>es equivalente a</a:t>
              </a:r>
            </a:p>
          </p:txBody>
        </p:sp>
        <p:sp>
          <p:nvSpPr>
            <p:cNvPr id="2" name="Flecha abajo 1"/>
            <p:cNvSpPr/>
            <p:nvPr/>
          </p:nvSpPr>
          <p:spPr bwMode="auto">
            <a:xfrm>
              <a:off x="5574357" y="2397753"/>
              <a:ext cx="388883" cy="452940"/>
            </a:xfrm>
            <a:prstGeom prst="downArrow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vert="horz" wrap="square" lIns="90000" tIns="82800" rIns="90000" bIns="82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D60093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434146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632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632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632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32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32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2843" grpId="0" animBg="1"/>
      <p:bldP spid="632867" grpId="0" animBg="1"/>
      <p:bldP spid="63286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0E83F852-2FAA-4EF5-B699-0CE425B0DE1D}"/>
              </a:ext>
            </a:extLst>
          </p:cNvPr>
          <p:cNvGrpSpPr/>
          <p:nvPr/>
        </p:nvGrpSpPr>
        <p:grpSpPr>
          <a:xfrm>
            <a:off x="3985129" y="3998596"/>
            <a:ext cx="4227511" cy="1384301"/>
            <a:chOff x="3944937" y="3617596"/>
            <a:chExt cx="4227511" cy="1384301"/>
          </a:xfrm>
        </p:grpSpPr>
        <p:grpSp>
          <p:nvGrpSpPr>
            <p:cNvPr id="11296" name="Group 5"/>
            <p:cNvGrpSpPr>
              <a:grpSpLocks/>
            </p:cNvGrpSpPr>
            <p:nvPr/>
          </p:nvGrpSpPr>
          <p:grpSpPr bwMode="auto">
            <a:xfrm>
              <a:off x="3944937" y="3617596"/>
              <a:ext cx="4227511" cy="1384301"/>
              <a:chOff x="3892" y="1344"/>
              <a:chExt cx="2663" cy="872"/>
            </a:xfrm>
          </p:grpSpPr>
          <p:sp>
            <p:nvSpPr>
              <p:cNvPr id="11302" name="Rectangle 6"/>
              <p:cNvSpPr>
                <a:spLocks noChangeArrowheads="1"/>
              </p:cNvSpPr>
              <p:nvPr/>
            </p:nvSpPr>
            <p:spPr bwMode="auto">
              <a:xfrm>
                <a:off x="3892" y="1344"/>
                <a:ext cx="2663" cy="872"/>
              </a:xfrm>
              <a:prstGeom prst="rect">
                <a:avLst/>
              </a:pr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accent1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lang="en-US">
                  <a:solidFill>
                    <a:srgbClr val="D60093"/>
                  </a:solidFill>
                </a:endParaRPr>
              </a:p>
            </p:txBody>
          </p:sp>
          <p:graphicFrame>
            <p:nvGraphicFramePr>
              <p:cNvPr id="11303" name="Object 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9465342"/>
                  </p:ext>
                </p:extLst>
              </p:nvPr>
            </p:nvGraphicFramePr>
            <p:xfrm>
              <a:off x="4089" y="1444"/>
              <a:ext cx="2453" cy="6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3" imgW="1562040" imgH="431640" progId="Equation.3">
                      <p:embed/>
                    </p:oleObj>
                  </mc:Choice>
                  <mc:Fallback>
                    <p:oleObj name="Ecuación" r:id="rId3" imgW="1562040" imgH="431640" progId="Equation.3">
                      <p:embed/>
                      <p:pic>
                        <p:nvPicPr>
                          <p:cNvPr id="11303" name="Object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89" y="1444"/>
                            <a:ext cx="2453" cy="67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5" name="CuadroTexto 7">
              <a:extLst>
                <a:ext uri="{FF2B5EF4-FFF2-40B4-BE49-F238E27FC236}">
                  <a16:creationId xmlns:a16="http://schemas.microsoft.com/office/drawing/2014/main" id="{508A1E73-710E-4514-B199-FEE109CBCA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5131" y="3983249"/>
              <a:ext cx="36420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s-ES" sz="2800">
                  <a:solidFill>
                    <a:schemeClr val="tx1"/>
                  </a:solidFill>
                  <a:latin typeface="+mj-lt"/>
                </a:rPr>
                <a:t>d</a:t>
              </a:r>
              <a:endParaRPr lang="es-ES" sz="2800" dirty="0">
                <a:solidFill>
                  <a:schemeClr val="tx1"/>
                </a:solidFill>
                <a:latin typeface="+mj-lt"/>
              </a:endParaRPr>
            </a:p>
          </p:txBody>
        </p:sp>
      </p:grpSp>
      <p:grpSp>
        <p:nvGrpSpPr>
          <p:cNvPr id="2" name="Grupo 1"/>
          <p:cNvGrpSpPr>
            <a:grpSpLocks/>
          </p:cNvGrpSpPr>
          <p:nvPr/>
        </p:nvGrpSpPr>
        <p:grpSpPr bwMode="auto">
          <a:xfrm>
            <a:off x="4559199" y="346540"/>
            <a:ext cx="5689918" cy="536549"/>
            <a:chOff x="4765675" y="444860"/>
            <a:chExt cx="5689247" cy="536549"/>
          </a:xfrm>
        </p:grpSpPr>
        <p:sp>
          <p:nvSpPr>
            <p:cNvPr id="11306" name="Rectangle 2"/>
            <p:cNvSpPr>
              <a:spLocks noChangeArrowheads="1"/>
            </p:cNvSpPr>
            <p:nvPr/>
          </p:nvSpPr>
          <p:spPr bwMode="auto">
            <a:xfrm>
              <a:off x="4765675" y="452438"/>
              <a:ext cx="3449638" cy="50958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82800" rIns="90000" bIns="82800" anchor="ctr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>
                <a:solidFill>
                  <a:srgbClr val="D60093"/>
                </a:solidFill>
              </a:endParaRPr>
            </a:p>
          </p:txBody>
        </p:sp>
        <p:sp>
          <p:nvSpPr>
            <p:cNvPr id="11307" name="Text Box 26"/>
            <p:cNvSpPr txBox="1">
              <a:spLocks noChangeArrowheads="1"/>
            </p:cNvSpPr>
            <p:nvPr/>
          </p:nvSpPr>
          <p:spPr bwMode="auto">
            <a:xfrm>
              <a:off x="9436518" y="444860"/>
              <a:ext cx="1018404" cy="536549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b="1">
                  <a:solidFill>
                    <a:schemeClr val="tx1"/>
                  </a:solidFill>
                </a:rPr>
                <a:t>s. XIX</a:t>
              </a:r>
            </a:p>
          </p:txBody>
        </p:sp>
      </p:grpSp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1293712" y="377930"/>
            <a:ext cx="89312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tabLst>
                <a:tab pos="196850" algn="r"/>
                <a:tab pos="2940050" algn="ctr"/>
                <a:tab pos="5880100" algn="r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95363">
              <a:tabLst>
                <a:tab pos="196850" algn="r"/>
                <a:tab pos="2940050" algn="ctr"/>
                <a:tab pos="5880100" algn="r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95363">
              <a:tabLst>
                <a:tab pos="196850" algn="r"/>
                <a:tab pos="2940050" algn="ctr"/>
                <a:tab pos="5880100" algn="r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95363">
              <a:tabLst>
                <a:tab pos="196850" algn="r"/>
                <a:tab pos="2940050" algn="ctr"/>
                <a:tab pos="5880100" algn="r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95363">
              <a:tabLst>
                <a:tab pos="196850" algn="r"/>
                <a:tab pos="2940050" algn="ctr"/>
                <a:tab pos="5880100" algn="r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0"/>
              </a:spcBef>
              <a:spcAft>
                <a:spcPct val="0"/>
              </a:spcAft>
              <a:tabLst>
                <a:tab pos="196850" algn="r"/>
                <a:tab pos="2940050" algn="ctr"/>
                <a:tab pos="5880100" algn="r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0"/>
              </a:spcBef>
              <a:spcAft>
                <a:spcPct val="0"/>
              </a:spcAft>
              <a:tabLst>
                <a:tab pos="196850" algn="r"/>
                <a:tab pos="2940050" algn="ctr"/>
                <a:tab pos="5880100" algn="r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0"/>
              </a:spcBef>
              <a:spcAft>
                <a:spcPct val="0"/>
              </a:spcAft>
              <a:tabLst>
                <a:tab pos="196850" algn="r"/>
                <a:tab pos="2940050" algn="ctr"/>
                <a:tab pos="5880100" algn="r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0"/>
              </a:spcBef>
              <a:spcAft>
                <a:spcPct val="0"/>
              </a:spcAft>
              <a:tabLst>
                <a:tab pos="196850" algn="r"/>
                <a:tab pos="2940050" algn="ctr"/>
                <a:tab pos="5880100" algn="r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" sz="2400" b="1">
                <a:solidFill>
                  <a:srgbClr val="CC0000"/>
                </a:solidFill>
              </a:rPr>
              <a:t>5.3.1 FUENTES DE B:  LEY DE BIOT-SAVART</a:t>
            </a:r>
          </a:p>
        </p:txBody>
      </p:sp>
      <p:sp>
        <p:nvSpPr>
          <p:cNvPr id="11268" name="Line 4"/>
          <p:cNvSpPr>
            <a:spLocks noChangeShapeType="1"/>
          </p:cNvSpPr>
          <p:nvPr/>
        </p:nvSpPr>
        <p:spPr bwMode="auto">
          <a:xfrm flipV="1">
            <a:off x="4167087" y="444605"/>
            <a:ext cx="215900" cy="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0000" tIns="82800" rIns="90000" bIns="82800">
            <a:spAutoFit/>
          </a:bodyPr>
          <a:lstStyle/>
          <a:p>
            <a:endParaRPr lang="en-GB"/>
          </a:p>
        </p:txBody>
      </p:sp>
      <p:sp>
        <p:nvSpPr>
          <p:cNvPr id="11304" name="Text Box 28"/>
          <p:cNvSpPr txBox="1">
            <a:spLocks noChangeArrowheads="1"/>
          </p:cNvSpPr>
          <p:nvPr/>
        </p:nvSpPr>
        <p:spPr bwMode="auto">
          <a:xfrm>
            <a:off x="2038353" y="1396151"/>
            <a:ext cx="7400922" cy="162273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08000" tIns="72000" rIns="108000" bIns="720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</a:rPr>
              <a:t>Considerando un hilo conductor por el que circula una </a:t>
            </a:r>
            <a:r>
              <a:rPr lang="es-ES" sz="2400">
                <a:solidFill>
                  <a:schemeClr val="tx1"/>
                </a:solidFill>
              </a:rPr>
              <a:t>corriente de </a:t>
            </a:r>
            <a:r>
              <a:rPr lang="es-ES" sz="2400" dirty="0">
                <a:solidFill>
                  <a:schemeClr val="tx1"/>
                </a:solidFill>
              </a:rPr>
              <a:t>intensidad </a:t>
            </a:r>
            <a:r>
              <a:rPr lang="es-ES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I</a:t>
            </a:r>
            <a:r>
              <a:rPr lang="es-ES" sz="2400">
                <a:solidFill>
                  <a:schemeClr val="tx1"/>
                </a:solidFill>
              </a:rPr>
              <a:t>, da la aportación al campo magnético en un punto, d</a:t>
            </a:r>
            <a:r>
              <a:rPr lang="es-ES" sz="2400" b="1">
                <a:solidFill>
                  <a:schemeClr val="tx1"/>
                </a:solidFill>
              </a:rPr>
              <a:t>B</a:t>
            </a:r>
            <a:r>
              <a:rPr lang="es-ES" sz="2400">
                <a:solidFill>
                  <a:schemeClr val="tx1"/>
                </a:solidFill>
              </a:rPr>
              <a:t>, asociada </a:t>
            </a:r>
            <a:r>
              <a:rPr lang="es-ES" sz="2400" dirty="0">
                <a:solidFill>
                  <a:schemeClr val="tx1"/>
                </a:solidFill>
              </a:rPr>
              <a:t>a </a:t>
            </a:r>
            <a:r>
              <a:rPr lang="es-ES" sz="2400">
                <a:solidFill>
                  <a:schemeClr val="tx1"/>
                </a:solidFill>
              </a:rPr>
              <a:t>la corriente </a:t>
            </a:r>
            <a:r>
              <a:rPr lang="es-ES" sz="2400" dirty="0">
                <a:solidFill>
                  <a:schemeClr val="tx1"/>
                </a:solidFill>
              </a:rPr>
              <a:t>que circula por una porción </a:t>
            </a:r>
            <a:r>
              <a:rPr lang="es-ES" sz="2400">
                <a:solidFill>
                  <a:schemeClr val="tx1"/>
                </a:solidFill>
              </a:rPr>
              <a:t>del hilo, d</a:t>
            </a:r>
            <a:r>
              <a:rPr lang="es-ES" sz="2400" b="1">
                <a:solidFill>
                  <a:schemeClr val="tx1"/>
                </a:solidFill>
              </a:rPr>
              <a:t>l</a:t>
            </a:r>
            <a:endParaRPr lang="es-ES" sz="2400" b="1" dirty="0">
              <a:solidFill>
                <a:schemeClr val="tx1"/>
              </a:solidFill>
            </a:endParaRPr>
          </a:p>
        </p:txBody>
      </p:sp>
      <p:sp>
        <p:nvSpPr>
          <p:cNvPr id="6" name="Text Box 42"/>
          <p:cNvSpPr txBox="1">
            <a:spLocks noChangeArrowheads="1"/>
          </p:cNvSpPr>
          <p:nvPr/>
        </p:nvSpPr>
        <p:spPr bwMode="auto">
          <a:xfrm>
            <a:off x="1657940" y="3998597"/>
            <a:ext cx="2139096" cy="1384300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08000" tIns="72000" rIns="108000" bIns="72000" anchor="ctr" anchorCtr="1">
            <a:no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  <a:defRPr/>
            </a:pPr>
            <a:r>
              <a:rPr lang="es-ES" sz="2400" dirty="0">
                <a:solidFill>
                  <a:schemeClr val="tx1"/>
                </a:solidFill>
              </a:rPr>
              <a:t>Indica que una corriente</a:t>
            </a:r>
            <a:endParaRPr lang="es-ES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algn="ctr" eaLnBrk="1" hangingPunct="1">
              <a:spcBef>
                <a:spcPts val="0"/>
              </a:spcBef>
              <a:defRPr/>
            </a:pPr>
            <a:r>
              <a:rPr lang="es-ES" sz="2400" dirty="0">
                <a:solidFill>
                  <a:schemeClr val="tx1"/>
                </a:solidFill>
              </a:rPr>
              <a:t>crea </a:t>
            </a:r>
            <a:r>
              <a:rPr lang="es-ES" sz="2400" b="1" dirty="0">
                <a:solidFill>
                  <a:schemeClr val="tx1"/>
                </a:solidFill>
              </a:rPr>
              <a:t>B</a:t>
            </a:r>
          </a:p>
        </p:txBody>
      </p:sp>
      <p:grpSp>
        <p:nvGrpSpPr>
          <p:cNvPr id="20" name="Grupo 19"/>
          <p:cNvGrpSpPr/>
          <p:nvPr/>
        </p:nvGrpSpPr>
        <p:grpSpPr>
          <a:xfrm>
            <a:off x="3413823" y="3366259"/>
            <a:ext cx="1426224" cy="853556"/>
            <a:chOff x="2601774" y="2651884"/>
            <a:chExt cx="1426224" cy="853556"/>
          </a:xfrm>
        </p:grpSpPr>
        <p:sp>
          <p:nvSpPr>
            <p:cNvPr id="11283" name="CuadroTexto 39"/>
            <p:cNvSpPr txBox="1">
              <a:spLocks noChangeArrowheads="1"/>
            </p:cNvSpPr>
            <p:nvPr/>
          </p:nvSpPr>
          <p:spPr bwMode="auto">
            <a:xfrm>
              <a:off x="2601774" y="2651884"/>
              <a:ext cx="142622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s-ES" sz="2400" dirty="0">
                  <a:solidFill>
                    <a:srgbClr val="FF0000"/>
                  </a:solidFill>
                </a:rPr>
                <a:t>EFECTO</a:t>
              </a:r>
            </a:p>
          </p:txBody>
        </p:sp>
        <p:cxnSp>
          <p:nvCxnSpPr>
            <p:cNvPr id="11284" name="Conector recto de flecha 40"/>
            <p:cNvCxnSpPr>
              <a:cxnSpLocks noChangeShapeType="1"/>
            </p:cNvCxnSpPr>
            <p:nvPr/>
          </p:nvCxnSpPr>
          <p:spPr bwMode="auto">
            <a:xfrm>
              <a:off x="3586898" y="3145440"/>
              <a:ext cx="0" cy="360000"/>
            </a:xfrm>
            <a:prstGeom prst="straightConnector1">
              <a:avLst/>
            </a:prstGeom>
            <a:noFill/>
            <a:ln w="50800" algn="ctr">
              <a:solidFill>
                <a:srgbClr val="FF0000"/>
              </a:solidFill>
              <a:round/>
              <a:headEnd type="triangle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</p:cxnSp>
      </p:grpSp>
      <p:grpSp>
        <p:nvGrpSpPr>
          <p:cNvPr id="19" name="Grupo 18"/>
          <p:cNvGrpSpPr/>
          <p:nvPr/>
        </p:nvGrpSpPr>
        <p:grpSpPr>
          <a:xfrm>
            <a:off x="5143434" y="3356207"/>
            <a:ext cx="1245853" cy="745334"/>
            <a:chOff x="4788917" y="2641832"/>
            <a:chExt cx="1245853" cy="745334"/>
          </a:xfrm>
        </p:grpSpPr>
        <p:sp>
          <p:nvSpPr>
            <p:cNvPr id="11281" name="CuadroTexto 7"/>
            <p:cNvSpPr txBox="1">
              <a:spLocks noChangeArrowheads="1"/>
            </p:cNvSpPr>
            <p:nvPr/>
          </p:nvSpPr>
          <p:spPr bwMode="auto">
            <a:xfrm>
              <a:off x="4788917" y="2641832"/>
              <a:ext cx="124585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s-ES" sz="2400" dirty="0">
                  <a:solidFill>
                    <a:srgbClr val="FF0000"/>
                  </a:solidFill>
                </a:rPr>
                <a:t>CAUSA</a:t>
              </a:r>
            </a:p>
          </p:txBody>
        </p:sp>
        <p:cxnSp>
          <p:nvCxnSpPr>
            <p:cNvPr id="47" name="Conector recto de flecha 40"/>
            <p:cNvCxnSpPr>
              <a:cxnSpLocks noChangeShapeType="1"/>
            </p:cNvCxnSpPr>
            <p:nvPr/>
          </p:nvCxnSpPr>
          <p:spPr bwMode="auto">
            <a:xfrm flipV="1">
              <a:off x="5403038" y="3135166"/>
              <a:ext cx="0" cy="252000"/>
            </a:xfrm>
            <a:prstGeom prst="straightConnector1">
              <a:avLst/>
            </a:prstGeom>
            <a:noFill/>
            <a:ln w="50800" algn="ctr">
              <a:solidFill>
                <a:srgbClr val="FF0000"/>
              </a:solidFill>
              <a:round/>
              <a:headEnd type="triangle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</p:cxn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7A0A93E-D9D5-430D-A905-C25B7700F74A}"/>
              </a:ext>
            </a:extLst>
          </p:cNvPr>
          <p:cNvGrpSpPr/>
          <p:nvPr/>
        </p:nvGrpSpPr>
        <p:grpSpPr>
          <a:xfrm>
            <a:off x="6471983" y="3026635"/>
            <a:ext cx="2513570" cy="1177372"/>
            <a:chOff x="6494843" y="2626585"/>
            <a:chExt cx="2513570" cy="1177372"/>
          </a:xfrm>
        </p:grpSpPr>
        <p:cxnSp>
          <p:nvCxnSpPr>
            <p:cNvPr id="4" name="Conector recto 3"/>
            <p:cNvCxnSpPr/>
            <p:nvPr/>
          </p:nvCxnSpPr>
          <p:spPr bwMode="auto">
            <a:xfrm>
              <a:off x="6494843" y="2626585"/>
              <a:ext cx="2513570" cy="0"/>
            </a:xfrm>
            <a:prstGeom prst="line">
              <a:avLst/>
            </a:prstGeom>
            <a:noFill/>
            <a:ln w="381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</p:cxnSp>
        <p:cxnSp>
          <p:nvCxnSpPr>
            <p:cNvPr id="34" name="Conector recto 33">
              <a:extLst>
                <a:ext uri="{FF2B5EF4-FFF2-40B4-BE49-F238E27FC236}">
                  <a16:creationId xmlns:a16="http://schemas.microsoft.com/office/drawing/2014/main" id="{6A8C4856-4510-4BBE-8B52-EAF3ED054ED1}"/>
                </a:ext>
              </a:extLst>
            </p:cNvPr>
            <p:cNvCxnSpPr/>
            <p:nvPr/>
          </p:nvCxnSpPr>
          <p:spPr bwMode="auto">
            <a:xfrm rot="5400000">
              <a:off x="6490100" y="3217658"/>
              <a:ext cx="1172599" cy="0"/>
            </a:xfrm>
            <a:prstGeom prst="line">
              <a:avLst/>
            </a:prstGeom>
            <a:noFill/>
            <a:ln w="381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</p:cxnSp>
      </p:grpSp>
      <p:sp>
        <p:nvSpPr>
          <p:cNvPr id="38" name="Text Box 32">
            <a:extLst>
              <a:ext uri="{FF2B5EF4-FFF2-40B4-BE49-F238E27FC236}">
                <a16:creationId xmlns:a16="http://schemas.microsoft.com/office/drawing/2014/main" id="{C6A812C0-6BE1-4371-8083-1358618B5D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6888" y="5607465"/>
            <a:ext cx="7027016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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No hay aportación en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la dirección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de la corriente</a:t>
            </a:r>
            <a:endParaRPr lang="es-ES" sz="24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39" name="Text Box 32">
            <a:extLst>
              <a:ext uri="{FF2B5EF4-FFF2-40B4-BE49-F238E27FC236}">
                <a16:creationId xmlns:a16="http://schemas.microsoft.com/office/drawing/2014/main" id="{BD9C08F7-C10D-49E5-8D7D-E543833696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1016" y="6195579"/>
            <a:ext cx="7808510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dirty="0">
                <a:solidFill>
                  <a:srgbClr val="FF0000"/>
                </a:solidFill>
                <a:sym typeface="Symbol" panose="05050102010706020507" pitchFamily="18" charset="2"/>
              </a:rPr>
              <a:t>(Para </a:t>
            </a:r>
            <a:r>
              <a:rPr lang="es-ES" sz="2400" b="1" dirty="0" err="1">
                <a:solidFill>
                  <a:srgbClr val="FF0000"/>
                </a:solidFill>
                <a:sym typeface="Symbol" panose="05050102010706020507" pitchFamily="18" charset="2"/>
              </a:rPr>
              <a:t>e</a:t>
            </a:r>
            <a:r>
              <a:rPr lang="es-ES" sz="2400" baseline="-25000" dirty="0" err="1">
                <a:solidFill>
                  <a:srgbClr val="FF0000"/>
                </a:solidFill>
                <a:sym typeface="Symbol" panose="05050102010706020507" pitchFamily="18" charset="2"/>
              </a:rPr>
              <a:t>r</a:t>
            </a:r>
            <a:r>
              <a:rPr lang="es-ES" sz="2400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s-ES" sz="2400">
                <a:solidFill>
                  <a:srgbClr val="FF0000"/>
                </a:solidFill>
                <a:sym typeface="Symbol" panose="05050102010706020507" pitchFamily="18" charset="2"/>
              </a:rPr>
              <a:t>// d</a:t>
            </a:r>
            <a:r>
              <a:rPr lang="es-ES" sz="2400" b="1">
                <a:solidFill>
                  <a:srgbClr val="FF0000"/>
                </a:solidFill>
                <a:sym typeface="Symbol" panose="05050102010706020507" pitchFamily="18" charset="2"/>
              </a:rPr>
              <a:t>l </a:t>
            </a:r>
            <a:r>
              <a:rPr lang="es-ES" sz="2400" dirty="0">
                <a:solidFill>
                  <a:srgbClr val="FF0000"/>
                </a:solidFill>
                <a:sym typeface="Symbol" panose="05050102010706020507" pitchFamily="18" charset="2"/>
              </a:rPr>
              <a:t>(</a:t>
            </a:r>
            <a:r>
              <a:rPr lang="es-ES" sz="2400">
                <a:solidFill>
                  <a:srgbClr val="FF0000"/>
                </a:solidFill>
                <a:sym typeface="Symbol" panose="05050102010706020507" pitchFamily="18" charset="2"/>
              </a:rPr>
              <a:t>0º o </a:t>
            </a:r>
            <a:r>
              <a:rPr lang="es-ES" sz="2400" dirty="0">
                <a:solidFill>
                  <a:srgbClr val="FF0000"/>
                </a:solidFill>
                <a:sym typeface="Symbol" panose="05050102010706020507" pitchFamily="18" charset="2"/>
              </a:rPr>
              <a:t>180º)  sen(0º o 180º) = 0 </a:t>
            </a:r>
            <a:r>
              <a:rPr lang="es-ES" sz="2400">
                <a:solidFill>
                  <a:srgbClr val="FF0000"/>
                </a:solidFill>
                <a:sym typeface="Symbol" panose="05050102010706020507" pitchFamily="18" charset="2"/>
              </a:rPr>
              <a:t> d</a:t>
            </a:r>
            <a:r>
              <a:rPr lang="es-ES" sz="2400" b="1">
                <a:solidFill>
                  <a:srgbClr val="FF0000"/>
                </a:solidFill>
                <a:sym typeface="Symbol" panose="05050102010706020507" pitchFamily="18" charset="2"/>
              </a:rPr>
              <a:t>B</a:t>
            </a:r>
            <a:r>
              <a:rPr lang="es-ES" sz="240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s-ES" sz="2400" dirty="0">
                <a:solidFill>
                  <a:srgbClr val="FF0000"/>
                </a:solidFill>
                <a:sym typeface="Symbol" panose="05050102010706020507" pitchFamily="18" charset="2"/>
              </a:rPr>
              <a:t>= </a:t>
            </a:r>
            <a:r>
              <a:rPr lang="es-ES" sz="2400" b="1" dirty="0">
                <a:solidFill>
                  <a:srgbClr val="FF0000"/>
                </a:solidFill>
                <a:sym typeface="Symbol" panose="05050102010706020507" pitchFamily="18" charset="2"/>
              </a:rPr>
              <a:t>0</a:t>
            </a:r>
            <a:r>
              <a:rPr lang="es-ES" sz="2400" dirty="0">
                <a:solidFill>
                  <a:srgbClr val="FF0000"/>
                </a:solidFill>
                <a:sym typeface="Symbol" panose="05050102010706020507" pitchFamily="18" charset="2"/>
              </a:rPr>
              <a:t>)</a:t>
            </a:r>
          </a:p>
        </p:txBody>
      </p:sp>
      <p:sp>
        <p:nvSpPr>
          <p:cNvPr id="5" name="Text Box 32">
            <a:extLst>
              <a:ext uri="{FF2B5EF4-FFF2-40B4-BE49-F238E27FC236}">
                <a16:creationId xmlns:a16="http://schemas.microsoft.com/office/drawing/2014/main" id="{D5E3C912-9DBD-9535-AC49-3793526B88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3530" y="4364249"/>
            <a:ext cx="1854126" cy="905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s-ES" sz="2400">
                <a:solidFill>
                  <a:srgbClr val="FF0000"/>
                </a:solidFill>
                <a:sym typeface="Symbol" panose="05050102010706020507" pitchFamily="18" charset="2"/>
              </a:rPr>
              <a:t>(</a:t>
            </a:r>
            <a:r>
              <a:rPr lang="es-ES" sz="2400" b="1">
                <a:solidFill>
                  <a:srgbClr val="FF0000"/>
                </a:solidFill>
                <a:sym typeface="Symbol" panose="05050102010706020507" pitchFamily="18" charset="2"/>
              </a:rPr>
              <a:t>e</a:t>
            </a:r>
            <a:r>
              <a:rPr lang="es-ES" sz="2400" baseline="-25000">
                <a:solidFill>
                  <a:srgbClr val="FF0000"/>
                </a:solidFill>
                <a:sym typeface="Symbol" panose="05050102010706020507" pitchFamily="18" charset="2"/>
              </a:rPr>
              <a:t>r</a:t>
            </a:r>
            <a:r>
              <a:rPr lang="es-ES" sz="2400">
                <a:solidFill>
                  <a:srgbClr val="FF0000"/>
                </a:solidFill>
                <a:sym typeface="Symbol" panose="05050102010706020507" pitchFamily="18" charset="2"/>
              </a:rPr>
              <a:t> : unitario radial)</a:t>
            </a:r>
            <a:endParaRPr lang="es-ES" sz="2400" dirty="0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04" grpId="0" animBg="1"/>
      <p:bldP spid="6" grpId="0" animBg="1"/>
      <p:bldP spid="38" grpId="0"/>
      <p:bldP spid="39" grpId="0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upo 23">
            <a:extLst>
              <a:ext uri="{FF2B5EF4-FFF2-40B4-BE49-F238E27FC236}">
                <a16:creationId xmlns:a16="http://schemas.microsoft.com/office/drawing/2014/main" id="{C492918A-3DE5-40FF-BF4F-B36CC6438DCF}"/>
              </a:ext>
            </a:extLst>
          </p:cNvPr>
          <p:cNvGrpSpPr/>
          <p:nvPr/>
        </p:nvGrpSpPr>
        <p:grpSpPr>
          <a:xfrm>
            <a:off x="1488031" y="318114"/>
            <a:ext cx="4227511" cy="1271588"/>
            <a:chOff x="3944937" y="3739833"/>
            <a:chExt cx="4227511" cy="1271588"/>
          </a:xfrm>
        </p:grpSpPr>
        <p:grpSp>
          <p:nvGrpSpPr>
            <p:cNvPr id="25" name="Group 5">
              <a:extLst>
                <a:ext uri="{FF2B5EF4-FFF2-40B4-BE49-F238E27FC236}">
                  <a16:creationId xmlns:a16="http://schemas.microsoft.com/office/drawing/2014/main" id="{FAFBB018-277C-4A1C-AE35-D045751348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44937" y="3739833"/>
              <a:ext cx="4227511" cy="1271588"/>
              <a:chOff x="3892" y="1421"/>
              <a:chExt cx="2663" cy="801"/>
            </a:xfrm>
          </p:grpSpPr>
          <p:sp>
            <p:nvSpPr>
              <p:cNvPr id="27" name="Rectangle 6">
                <a:extLst>
                  <a:ext uri="{FF2B5EF4-FFF2-40B4-BE49-F238E27FC236}">
                    <a16:creationId xmlns:a16="http://schemas.microsoft.com/office/drawing/2014/main" id="{F5863F67-A2E8-4531-9311-0393D631BC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92" y="1421"/>
                <a:ext cx="2663" cy="801"/>
              </a:xfrm>
              <a:prstGeom prst="rect">
                <a:avLst/>
              </a:pr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accent1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lang="en-US">
                  <a:solidFill>
                    <a:srgbClr val="D60093"/>
                  </a:solidFill>
                </a:endParaRPr>
              </a:p>
            </p:txBody>
          </p:sp>
          <p:graphicFrame>
            <p:nvGraphicFramePr>
              <p:cNvPr id="28" name="Object 7">
                <a:extLst>
                  <a:ext uri="{FF2B5EF4-FFF2-40B4-BE49-F238E27FC236}">
                    <a16:creationId xmlns:a16="http://schemas.microsoft.com/office/drawing/2014/main" id="{94D41504-6590-4903-967C-0B8DDE7F21E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00449650"/>
                  </p:ext>
                </p:extLst>
              </p:nvPr>
            </p:nvGraphicFramePr>
            <p:xfrm>
              <a:off x="4089" y="1444"/>
              <a:ext cx="2453" cy="6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3" imgW="1562040" imgH="431640" progId="Equation.3">
                      <p:embed/>
                    </p:oleObj>
                  </mc:Choice>
                  <mc:Fallback>
                    <p:oleObj name="Ecuación" r:id="rId3" imgW="1562040" imgH="431640" progId="Equation.3">
                      <p:embed/>
                      <p:pic>
                        <p:nvPicPr>
                          <p:cNvPr id="28" name="Object 7">
                            <a:extLst>
                              <a:ext uri="{FF2B5EF4-FFF2-40B4-BE49-F238E27FC236}">
                                <a16:creationId xmlns:a16="http://schemas.microsoft.com/office/drawing/2014/main" id="{94D41504-6590-4903-967C-0B8DDE7F21EF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89" y="1444"/>
                            <a:ext cx="2453" cy="67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6" name="CuadroTexto 7">
              <a:extLst>
                <a:ext uri="{FF2B5EF4-FFF2-40B4-BE49-F238E27FC236}">
                  <a16:creationId xmlns:a16="http://schemas.microsoft.com/office/drawing/2014/main" id="{53C14419-9EF9-4434-9E66-B0900261E0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5131" y="3993188"/>
              <a:ext cx="36420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s-ES" sz="2800">
                  <a:solidFill>
                    <a:schemeClr val="tx1"/>
                  </a:solidFill>
                  <a:latin typeface="+mj-lt"/>
                </a:rPr>
                <a:t>d</a:t>
              </a:r>
              <a:endParaRPr lang="es-ES" sz="2800" dirty="0">
                <a:solidFill>
                  <a:schemeClr val="tx1"/>
                </a:solidFill>
                <a:latin typeface="+mj-lt"/>
              </a:endParaRPr>
            </a:p>
          </p:txBody>
        </p:sp>
      </p:grpSp>
      <p:sp>
        <p:nvSpPr>
          <p:cNvPr id="651281" name="Text Box 17"/>
          <p:cNvSpPr txBox="1">
            <a:spLocks noChangeArrowheads="1"/>
          </p:cNvSpPr>
          <p:nvPr/>
        </p:nvSpPr>
        <p:spPr bwMode="auto">
          <a:xfrm>
            <a:off x="1489823" y="4753124"/>
            <a:ext cx="3214903" cy="590204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En un medio material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:</a:t>
            </a:r>
            <a:endParaRPr lang="es-ES" sz="28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651282" name="Text Box 18"/>
          <p:cNvSpPr txBox="1">
            <a:spLocks noChangeArrowheads="1"/>
          </p:cNvSpPr>
          <p:nvPr/>
        </p:nvSpPr>
        <p:spPr bwMode="auto">
          <a:xfrm>
            <a:off x="4853355" y="5538821"/>
            <a:ext cx="5813682" cy="127521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s-ES" sz="2400" dirty="0">
                <a:solidFill>
                  <a:schemeClr val="tx1"/>
                </a:solidFill>
              </a:rPr>
              <a:t>Indica que un </a:t>
            </a:r>
            <a:r>
              <a:rPr lang="es-ES" sz="2400" dirty="0">
                <a:solidFill>
                  <a:srgbClr val="3333FF"/>
                </a:solidFill>
              </a:rPr>
              <a:t>medio material </a:t>
            </a:r>
            <a:r>
              <a:rPr lang="es-ES" sz="2400" dirty="0">
                <a:solidFill>
                  <a:schemeClr val="tx1"/>
                </a:solidFill>
              </a:rPr>
              <a:t>disminuye  la interacción eléctrica entre cargas y aumenta la magnética entre corrientes</a:t>
            </a:r>
          </a:p>
        </p:txBody>
      </p:sp>
      <p:grpSp>
        <p:nvGrpSpPr>
          <p:cNvPr id="2" name="Grupo 1"/>
          <p:cNvGrpSpPr>
            <a:grpSpLocks/>
          </p:cNvGrpSpPr>
          <p:nvPr/>
        </p:nvGrpSpPr>
        <p:grpSpPr bwMode="auto">
          <a:xfrm>
            <a:off x="1689516" y="1471667"/>
            <a:ext cx="3844923" cy="796666"/>
            <a:chOff x="6473894" y="2205600"/>
            <a:chExt cx="3844923" cy="796666"/>
          </a:xfrm>
        </p:grpSpPr>
        <p:sp>
          <p:nvSpPr>
            <p:cNvPr id="13331" name="Text Box 19"/>
            <p:cNvSpPr txBox="1">
              <a:spLocks noChangeArrowheads="1"/>
            </p:cNvSpPr>
            <p:nvPr/>
          </p:nvSpPr>
          <p:spPr bwMode="auto">
            <a:xfrm>
              <a:off x="6473894" y="2465717"/>
              <a:ext cx="3844923" cy="5365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</a:pPr>
              <a:r>
                <a:rPr lang="es-ES" sz="2400">
                  <a:solidFill>
                    <a:srgbClr val="D60093"/>
                  </a:solidFill>
                </a:rPr>
                <a:t>Permeabilidad del vacío</a:t>
              </a:r>
              <a:endParaRPr lang="es-ES" sz="2400" dirty="0">
                <a:solidFill>
                  <a:srgbClr val="D60093"/>
                </a:solidFill>
              </a:endParaRPr>
            </a:p>
          </p:txBody>
        </p:sp>
        <p:sp>
          <p:nvSpPr>
            <p:cNvPr id="13332" name="Line 20"/>
            <p:cNvSpPr>
              <a:spLocks noChangeShapeType="1"/>
            </p:cNvSpPr>
            <p:nvPr/>
          </p:nvSpPr>
          <p:spPr bwMode="auto">
            <a:xfrm flipH="1">
              <a:off x="8113987" y="2205600"/>
              <a:ext cx="0" cy="307143"/>
            </a:xfrm>
            <a:prstGeom prst="line">
              <a:avLst/>
            </a:prstGeom>
            <a:noFill/>
            <a:ln w="25400">
              <a:solidFill>
                <a:srgbClr val="D60093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82800" rIns="90000" bIns="82800">
              <a:spAutoFit/>
            </a:bodyPr>
            <a:lstStyle/>
            <a:p>
              <a:endParaRPr lang="en-GB"/>
            </a:p>
          </p:txBody>
        </p:sp>
      </p:grpSp>
      <p:sp>
        <p:nvSpPr>
          <p:cNvPr id="35865" name="Text Box 21"/>
          <p:cNvSpPr txBox="1">
            <a:spLocks noChangeArrowheads="1"/>
          </p:cNvSpPr>
          <p:nvPr/>
        </p:nvSpPr>
        <p:spPr bwMode="auto">
          <a:xfrm>
            <a:off x="1797531" y="2244539"/>
            <a:ext cx="3623923" cy="884070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72000" tIns="72000" rIns="72000" bIns="720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sz="2400">
                <a:solidFill>
                  <a:schemeClr val="tx1"/>
                </a:solidFill>
              </a:rPr>
              <a:t>Valor según propiedades</a:t>
            </a:r>
          </a:p>
          <a:p>
            <a:pPr algn="ctr" eaLnBrk="1" hangingPunct="1"/>
            <a:r>
              <a:rPr lang="es-ES" sz="2400">
                <a:solidFill>
                  <a:schemeClr val="tx1"/>
                </a:solidFill>
              </a:rPr>
              <a:t>magnéticas del medio</a:t>
            </a:r>
          </a:p>
        </p:txBody>
      </p:sp>
      <p:sp>
        <p:nvSpPr>
          <p:cNvPr id="651286" name="Text Box 22"/>
          <p:cNvSpPr txBox="1">
            <a:spLocks noChangeArrowheads="1"/>
          </p:cNvSpPr>
          <p:nvPr/>
        </p:nvSpPr>
        <p:spPr bwMode="auto">
          <a:xfrm>
            <a:off x="1797311" y="3221254"/>
            <a:ext cx="3624143" cy="6092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118800" rIns="90000" bIns="1188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>
                <a:sym typeface="Symbol" panose="05050102010706020507" pitchFamily="18" charset="2"/>
              </a:rPr>
              <a:t></a:t>
            </a:r>
            <a:r>
              <a:rPr lang="es-ES" sz="2400" baseline="-25000">
                <a:sym typeface="Symbol" panose="05050102010706020507" pitchFamily="18" charset="2"/>
              </a:rPr>
              <a:t>0</a:t>
            </a:r>
            <a:r>
              <a:rPr lang="es-ES" sz="2400">
                <a:sym typeface="Symbol" panose="05050102010706020507" pitchFamily="18" charset="2"/>
              </a:rPr>
              <a:t> = 4 10</a:t>
            </a:r>
            <a:r>
              <a:rPr lang="es-ES" sz="2400" baseline="30000">
                <a:sym typeface="Symbol" panose="05050102010706020507" pitchFamily="18" charset="2"/>
              </a:rPr>
              <a:t>7</a:t>
            </a:r>
            <a:r>
              <a:rPr lang="es-ES" sz="2400">
                <a:sym typeface="Symbol" panose="05050102010706020507" pitchFamily="18" charset="2"/>
              </a:rPr>
              <a:t> T m A</a:t>
            </a:r>
            <a:r>
              <a:rPr lang="es-ES" sz="2400" baseline="30000">
                <a:sym typeface="Symbol" panose="05050102010706020507" pitchFamily="18" charset="2"/>
              </a:rPr>
              <a:t>1</a:t>
            </a:r>
            <a:endParaRPr lang="es-ES" sz="2400">
              <a:sym typeface="Symbol" panose="05050102010706020507" pitchFamily="18" charset="2"/>
            </a:endParaRPr>
          </a:p>
        </p:txBody>
      </p:sp>
      <p:sp>
        <p:nvSpPr>
          <p:cNvPr id="35857" name="Text Box 44"/>
          <p:cNvSpPr txBox="1">
            <a:spLocks noChangeArrowheads="1"/>
          </p:cNvSpPr>
          <p:nvPr/>
        </p:nvSpPr>
        <p:spPr bwMode="auto">
          <a:xfrm>
            <a:off x="1489824" y="5534334"/>
            <a:ext cx="3214902" cy="125049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lIns="144000" tIns="108000" rIns="144000" bIns="2160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ts val="3600"/>
              </a:lnSpc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A mayor </a:t>
            </a:r>
            <a:r>
              <a:rPr lang="es-ES" sz="2800">
                <a:solidFill>
                  <a:schemeClr val="tx1"/>
                </a:solidFill>
                <a:sym typeface="Symbol" panose="05050102010706020507" pitchFamily="18" charset="2"/>
              </a:rPr>
              <a:t>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 , menor </a:t>
            </a:r>
            <a:r>
              <a:rPr lang="es-ES" sz="2400" b="1">
                <a:solidFill>
                  <a:schemeClr val="tx1"/>
                </a:solidFill>
                <a:sym typeface="Symbol" panose="05050102010706020507" pitchFamily="18" charset="2"/>
              </a:rPr>
              <a:t>E</a:t>
            </a:r>
          </a:p>
          <a:p>
            <a:pPr algn="ctr" eaLnBrk="1" hangingPunct="1">
              <a:lnSpc>
                <a:spcPts val="3600"/>
              </a:lnSpc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A mayor </a:t>
            </a:r>
            <a:r>
              <a:rPr lang="es-ES" sz="2800">
                <a:solidFill>
                  <a:schemeClr val="tx1"/>
                </a:solidFill>
                <a:sym typeface="Symbol" panose="05050102010706020507" pitchFamily="18" charset="2"/>
              </a:rPr>
              <a:t>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, mayor </a:t>
            </a:r>
            <a:r>
              <a:rPr lang="es-ES" sz="2400" b="1">
                <a:solidFill>
                  <a:schemeClr val="tx1"/>
                </a:solidFill>
                <a:sym typeface="Symbol" panose="05050102010706020507" pitchFamily="18" charset="2"/>
              </a:rPr>
              <a:t>B</a:t>
            </a:r>
            <a:endParaRPr lang="es-ES" sz="240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23" name="Text Box 17">
            <a:extLst>
              <a:ext uri="{FF2B5EF4-FFF2-40B4-BE49-F238E27FC236}">
                <a16:creationId xmlns:a16="http://schemas.microsoft.com/office/drawing/2014/main" id="{90CBBF87-CBA6-42D9-B853-B1A11F2165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3355" y="4743208"/>
            <a:ext cx="5823638" cy="576293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36000" rIns="90000" bIns="108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800" dirty="0">
                <a:solidFill>
                  <a:schemeClr val="tx1"/>
                </a:solidFill>
                <a:sym typeface="Symbol" panose="05050102010706020507" pitchFamily="18" charset="2"/>
              </a:rPr>
              <a:t>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 &gt; </a:t>
            </a:r>
            <a:r>
              <a:rPr lang="es-ES" sz="2800" dirty="0">
                <a:solidFill>
                  <a:schemeClr val="tx1"/>
                </a:solidFill>
                <a:sym typeface="Symbol" panose="05050102010706020507" pitchFamily="18" charset="2"/>
              </a:rPr>
              <a:t></a:t>
            </a:r>
            <a:r>
              <a:rPr lang="es-ES" sz="2800" baseline="-25000">
                <a:solidFill>
                  <a:schemeClr val="tx1"/>
                </a:solidFill>
                <a:sym typeface="Symbol" panose="05050102010706020507" pitchFamily="18" charset="2"/>
              </a:rPr>
              <a:t>0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  y, si se nota lo magnético, </a:t>
            </a:r>
            <a:r>
              <a:rPr lang="es-ES" sz="2800" dirty="0">
                <a:solidFill>
                  <a:schemeClr val="tx1"/>
                </a:solidFill>
                <a:sym typeface="Symbol" panose="05050102010706020507" pitchFamily="18" charset="2"/>
              </a:rPr>
              <a:t>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 &gt; </a:t>
            </a:r>
            <a:r>
              <a:rPr lang="es-ES" sz="2800" dirty="0">
                <a:solidFill>
                  <a:schemeClr val="tx1"/>
                </a:solidFill>
                <a:sym typeface="Symbol" panose="05050102010706020507" pitchFamily="18" charset="2"/>
              </a:rPr>
              <a:t></a:t>
            </a:r>
            <a:r>
              <a:rPr lang="es-ES" sz="2800" baseline="-25000" dirty="0">
                <a:solidFill>
                  <a:schemeClr val="tx1"/>
                </a:solidFill>
                <a:sym typeface="Symbol" panose="05050102010706020507" pitchFamily="18" charset="2"/>
              </a:rPr>
              <a:t>0</a:t>
            </a:r>
            <a:endParaRPr lang="es-ES" sz="28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57D34D84-95EC-4E85-8072-66E7E8B7289B}"/>
              </a:ext>
            </a:extLst>
          </p:cNvPr>
          <p:cNvGrpSpPr/>
          <p:nvPr/>
        </p:nvGrpSpPr>
        <p:grpSpPr>
          <a:xfrm>
            <a:off x="5868035" y="1836284"/>
            <a:ext cx="2366963" cy="2335813"/>
            <a:chOff x="7045325" y="1906620"/>
            <a:chExt cx="2366963" cy="2335813"/>
          </a:xfrm>
        </p:grpSpPr>
        <p:sp>
          <p:nvSpPr>
            <p:cNvPr id="30" name="Text Box 11">
              <a:extLst>
                <a:ext uri="{FF2B5EF4-FFF2-40B4-BE49-F238E27FC236}">
                  <a16:creationId xmlns:a16="http://schemas.microsoft.com/office/drawing/2014/main" id="{A2B945B5-09AD-4BF3-B1FC-188A250B0B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45325" y="1906620"/>
              <a:ext cx="2366963" cy="978584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  <a:effectLst/>
          </p:spPr>
          <p:txBody>
            <a:bodyPr wrap="square" tIns="118800" bIns="118800" anchor="ctr" anchorCtr="1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r>
                <a:rPr lang="es-ES" sz="2400" b="1" cap="small">
                  <a:solidFill>
                    <a:schemeClr val="tx1"/>
                  </a:solidFill>
                </a:rPr>
                <a:t>CARGA PUNTUAL</a:t>
              </a:r>
            </a:p>
          </p:txBody>
        </p:sp>
        <p:grpSp>
          <p:nvGrpSpPr>
            <p:cNvPr id="31" name="Group 8">
              <a:extLst>
                <a:ext uri="{FF2B5EF4-FFF2-40B4-BE49-F238E27FC236}">
                  <a16:creationId xmlns:a16="http://schemas.microsoft.com/office/drawing/2014/main" id="{EC68F4F8-25A3-4DA9-A470-9052338E09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45325" y="2983545"/>
              <a:ext cx="2366963" cy="1258888"/>
              <a:chOff x="1155" y="1602"/>
              <a:chExt cx="1491" cy="793"/>
            </a:xfrm>
          </p:grpSpPr>
          <p:sp>
            <p:nvSpPr>
              <p:cNvPr id="32" name="Rectangle 9">
                <a:extLst>
                  <a:ext uri="{FF2B5EF4-FFF2-40B4-BE49-F238E27FC236}">
                    <a16:creationId xmlns:a16="http://schemas.microsoft.com/office/drawing/2014/main" id="{8A641C70-C2E3-4C2A-B6DC-0A0C310711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5" y="1602"/>
                <a:ext cx="1491" cy="793"/>
              </a:xfrm>
              <a:prstGeom prst="rect">
                <a:avLst/>
              </a:pr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lang="en-US">
                  <a:solidFill>
                    <a:srgbClr val="D60093"/>
                  </a:solidFill>
                </a:endParaRPr>
              </a:p>
            </p:txBody>
          </p:sp>
          <p:graphicFrame>
            <p:nvGraphicFramePr>
              <p:cNvPr id="35" name="Object 10">
                <a:extLst>
                  <a:ext uri="{FF2B5EF4-FFF2-40B4-BE49-F238E27FC236}">
                    <a16:creationId xmlns:a16="http://schemas.microsoft.com/office/drawing/2014/main" id="{78DBE8CB-26DF-49E7-BABD-9CCB74E9B87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28071700"/>
                  </p:ext>
                </p:extLst>
              </p:nvPr>
            </p:nvGraphicFramePr>
            <p:xfrm>
              <a:off x="1249" y="1669"/>
              <a:ext cx="1323" cy="66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5" imgW="863225" imgH="431613" progId="Equation.3">
                      <p:embed/>
                    </p:oleObj>
                  </mc:Choice>
                  <mc:Fallback>
                    <p:oleObj name="Ecuación" r:id="rId5" imgW="863225" imgH="431613" progId="Equation.3">
                      <p:embed/>
                      <p:pic>
                        <p:nvPicPr>
                          <p:cNvPr id="35" name="Object 10">
                            <a:extLst>
                              <a:ext uri="{FF2B5EF4-FFF2-40B4-BE49-F238E27FC236}">
                                <a16:creationId xmlns:a16="http://schemas.microsoft.com/office/drawing/2014/main" id="{78DBE8CB-26DF-49E7-BABD-9CCB74E9B870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49" y="1669"/>
                            <a:ext cx="1323" cy="66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3" name="Text Box 30">
            <a:extLst>
              <a:ext uri="{FF2B5EF4-FFF2-40B4-BE49-F238E27FC236}">
                <a16:creationId xmlns:a16="http://schemas.microsoft.com/office/drawing/2014/main" id="{296E474D-4652-BCCC-0BAE-D5F483AA4E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542" y="326997"/>
            <a:ext cx="2161467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>
                <a:solidFill>
                  <a:srgbClr val="FF0000"/>
                </a:solidFill>
                <a:sym typeface="Symbol" panose="05050102010706020507" pitchFamily="18" charset="2"/>
              </a:rPr>
              <a:t> </a:t>
            </a:r>
            <a:r>
              <a:rPr lang="es-ES" sz="2400">
                <a:solidFill>
                  <a:srgbClr val="FF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a</a:t>
            </a:r>
            <a:r>
              <a:rPr lang="es-ES" sz="240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s-ES" sz="2400" dirty="0">
                <a:solidFill>
                  <a:srgbClr val="FF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 </a:t>
            </a:r>
            <a:r>
              <a:rPr lang="es-ES" sz="2400">
                <a:solidFill>
                  <a:srgbClr val="FF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y a 1/r</a:t>
            </a:r>
            <a:r>
              <a:rPr lang="es-ES" sz="2400" baseline="30000">
                <a:solidFill>
                  <a:srgbClr val="FF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2</a:t>
            </a:r>
            <a:r>
              <a:rPr lang="es-ES" sz="2400">
                <a:solidFill>
                  <a:srgbClr val="FF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</a:t>
            </a:r>
            <a:endParaRPr lang="es-ES" sz="2400" dirty="0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sp>
        <p:nvSpPr>
          <p:cNvPr id="5" name="Text Box 30">
            <a:extLst>
              <a:ext uri="{FF2B5EF4-FFF2-40B4-BE49-F238E27FC236}">
                <a16:creationId xmlns:a16="http://schemas.microsoft.com/office/drawing/2014/main" id="{7FC47A98-429D-7AFD-7CB2-7BA009AB18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19820" y="2908743"/>
            <a:ext cx="2217572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>
                <a:solidFill>
                  <a:srgbClr val="FF0000"/>
                </a:solidFill>
                <a:sym typeface="Symbol" panose="05050102010706020507" pitchFamily="18" charset="2"/>
              </a:rPr>
              <a:t> </a:t>
            </a:r>
            <a:r>
              <a:rPr lang="es-ES" sz="2400">
                <a:solidFill>
                  <a:srgbClr val="FF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a</a:t>
            </a:r>
            <a:r>
              <a:rPr lang="es-ES" sz="2400">
                <a:solidFill>
                  <a:srgbClr val="FF0000"/>
                </a:solidFill>
                <a:sym typeface="Symbol" panose="05050102010706020507" pitchFamily="18" charset="2"/>
              </a:rPr>
              <a:t> Q</a:t>
            </a:r>
            <a:r>
              <a:rPr lang="es-ES" sz="2400">
                <a:solidFill>
                  <a:srgbClr val="FF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y a 1/r</a:t>
            </a:r>
            <a:r>
              <a:rPr lang="es-ES" sz="2400" baseline="30000">
                <a:solidFill>
                  <a:srgbClr val="FF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2</a:t>
            </a:r>
            <a:r>
              <a:rPr lang="es-ES" sz="2400">
                <a:solidFill>
                  <a:srgbClr val="FF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</a:t>
            </a:r>
            <a:endParaRPr lang="es-ES" sz="2400" dirty="0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sp>
        <p:nvSpPr>
          <p:cNvPr id="6" name="Text Box 19">
            <a:extLst>
              <a:ext uri="{FF2B5EF4-FFF2-40B4-BE49-F238E27FC236}">
                <a16:creationId xmlns:a16="http://schemas.microsoft.com/office/drawing/2014/main" id="{A02018D4-9928-70EE-B6A6-21B7D82307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3808" y="3847118"/>
            <a:ext cx="3844923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>
                <a:solidFill>
                  <a:srgbClr val="D60093"/>
                </a:solidFill>
              </a:rPr>
              <a:t>(la del aire es muy </a:t>
            </a:r>
            <a:r>
              <a:rPr lang="es-ES" sz="2400" dirty="0">
                <a:solidFill>
                  <a:srgbClr val="D60093"/>
                </a:solidFill>
              </a:rPr>
              <a:t>similar)</a:t>
            </a:r>
          </a:p>
        </p:txBody>
      </p:sp>
      <p:sp>
        <p:nvSpPr>
          <p:cNvPr id="7" name="Text Box 47">
            <a:extLst>
              <a:ext uri="{FF2B5EF4-FFF2-40B4-BE49-F238E27FC236}">
                <a16:creationId xmlns:a16="http://schemas.microsoft.com/office/drawing/2014/main" id="{287B85F9-2630-8F77-E683-15919FB1D4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69139" y="3597463"/>
            <a:ext cx="1810409" cy="536549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b="1"/>
              <a:t>E</a:t>
            </a:r>
            <a:r>
              <a:rPr lang="es-ES" sz="2400"/>
              <a:t> es </a:t>
            </a:r>
            <a:r>
              <a:rPr lang="es-ES"/>
              <a:t>RADIAL</a:t>
            </a:r>
            <a:endParaRPr lang="es-ES" sz="2400" dirty="0"/>
          </a:p>
        </p:txBody>
      </p:sp>
      <p:sp>
        <p:nvSpPr>
          <p:cNvPr id="8" name="Text Box 47">
            <a:extLst>
              <a:ext uri="{FF2B5EF4-FFF2-40B4-BE49-F238E27FC236}">
                <a16:creationId xmlns:a16="http://schemas.microsoft.com/office/drawing/2014/main" id="{CAD4E943-326C-1B55-90A0-B6BBF19953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3303" y="1029458"/>
            <a:ext cx="2321959" cy="536549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/>
              <a:t>d</a:t>
            </a:r>
            <a:r>
              <a:rPr lang="es-ES" sz="2400" b="1"/>
              <a:t>B</a:t>
            </a:r>
            <a:r>
              <a:rPr lang="es-ES" sz="2400"/>
              <a:t> es </a:t>
            </a:r>
            <a:r>
              <a:rPr lang="es-ES"/>
              <a:t>AZIMUTAL</a:t>
            </a:r>
            <a:endParaRPr lang="es-E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5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651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651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651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651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35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1" dur="500"/>
                                        <p:tgtEl>
                                          <p:spTgt spid="651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1281" grpId="0" animBg="1"/>
      <p:bldP spid="651282" grpId="0" animBg="1"/>
      <p:bldP spid="35865" grpId="0" animBg="1"/>
      <p:bldP spid="651286" grpId="0" animBg="1"/>
      <p:bldP spid="35857" grpId="0" animBg="1"/>
      <p:bldP spid="23" grpId="0" animBg="1"/>
      <p:bldP spid="3" grpId="0"/>
      <p:bldP spid="5" grpId="0"/>
      <p:bldP spid="6" grpId="0"/>
      <p:bldP spid="7" grpId="0" animBg="1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Object 61">
                <a:extLst>
                  <a:ext uri="{FF2B5EF4-FFF2-40B4-BE49-F238E27FC236}">
                    <a16:creationId xmlns:a16="http://schemas.microsoft.com/office/drawing/2014/main" id="{AEEEA7E2-3D5A-4D08-BBF3-B0D86117A6E9}"/>
                  </a:ext>
                </a:extLst>
              </p:cNvPr>
              <p:cNvSpPr txBox="1"/>
              <p:nvPr/>
            </p:nvSpPr>
            <p:spPr bwMode="auto">
              <a:xfrm>
                <a:off x="2158041" y="5414695"/>
                <a:ext cx="451754" cy="6048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s-E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s-E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s-ES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ϕ</m:t>
                          </m:r>
                        </m:sub>
                      </m:sSub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02" name="Object 61">
                <a:extLst>
                  <a:ext uri="{FF2B5EF4-FFF2-40B4-BE49-F238E27FC236}">
                    <a16:creationId xmlns:a16="http://schemas.microsoft.com/office/drawing/2014/main" id="{AEEEA7E2-3D5A-4D08-BBF3-B0D86117A6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58041" y="5414695"/>
                <a:ext cx="451754" cy="6048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Grupo 21">
            <a:extLst>
              <a:ext uri="{FF2B5EF4-FFF2-40B4-BE49-F238E27FC236}">
                <a16:creationId xmlns:a16="http://schemas.microsoft.com/office/drawing/2014/main" id="{BFE60C16-91B1-4052-A868-62C3CF7D8B94}"/>
              </a:ext>
            </a:extLst>
          </p:cNvPr>
          <p:cNvGrpSpPr/>
          <p:nvPr/>
        </p:nvGrpSpPr>
        <p:grpSpPr>
          <a:xfrm>
            <a:off x="1902155" y="4856999"/>
            <a:ext cx="1579227" cy="1374405"/>
            <a:chOff x="1902155" y="4686178"/>
            <a:chExt cx="1579227" cy="1374405"/>
          </a:xfrm>
        </p:grpSpPr>
        <p:sp>
          <p:nvSpPr>
            <p:cNvPr id="15421" name="Line 2"/>
            <p:cNvSpPr>
              <a:spLocks noChangeShapeType="1"/>
            </p:cNvSpPr>
            <p:nvPr/>
          </p:nvSpPr>
          <p:spPr bwMode="auto">
            <a:xfrm>
              <a:off x="2321122" y="5070825"/>
              <a:ext cx="1160260" cy="98975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141" name="Line 74">
              <a:extLst>
                <a:ext uri="{FF2B5EF4-FFF2-40B4-BE49-F238E27FC236}">
                  <a16:creationId xmlns:a16="http://schemas.microsoft.com/office/drawing/2014/main" id="{946A6B76-4814-4CAE-9C8A-5022175ED28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1923608" y="4664725"/>
              <a:ext cx="374782" cy="417687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628746" name="Oval 10"/>
          <p:cNvSpPr>
            <a:spLocks noChangeArrowheads="1"/>
          </p:cNvSpPr>
          <p:nvPr/>
        </p:nvSpPr>
        <p:spPr bwMode="auto">
          <a:xfrm flipV="1">
            <a:off x="2338096" y="4786511"/>
            <a:ext cx="2460625" cy="847725"/>
          </a:xfrm>
          <a:prstGeom prst="ellips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>
              <a:solidFill>
                <a:srgbClr val="D60093"/>
              </a:solidFill>
            </a:endParaRPr>
          </a:p>
        </p:txBody>
      </p:sp>
      <p:sp>
        <p:nvSpPr>
          <p:cNvPr id="37931" name="Text Box 49"/>
          <p:cNvSpPr txBox="1">
            <a:spLocks noChangeArrowheads="1"/>
          </p:cNvSpPr>
          <p:nvPr/>
        </p:nvSpPr>
        <p:spPr bwMode="auto">
          <a:xfrm>
            <a:off x="5873116" y="4788286"/>
            <a:ext cx="4467224" cy="2122931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154800" rIns="90000" bIns="118800" anchor="ctr" anchorCtr="1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  <a:defRPr/>
            </a:pPr>
            <a:r>
              <a:rPr lang="es-ES" sz="2400">
                <a:solidFill>
                  <a:schemeClr val="tx1"/>
                </a:solidFill>
              </a:rPr>
              <a:t>Circunferencias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</a:t>
            </a:r>
            <a:r>
              <a:rPr lang="es-ES" sz="2400">
                <a:solidFill>
                  <a:schemeClr val="tx1"/>
                </a:solidFill>
              </a:rPr>
              <a:t> al cable,</a:t>
            </a:r>
          </a:p>
          <a:p>
            <a:pPr eaLnBrk="1" hangingPunct="1">
              <a:spcBef>
                <a:spcPts val="0"/>
              </a:spcBef>
              <a:defRPr/>
            </a:pPr>
            <a:r>
              <a:rPr lang="es-ES" sz="2400">
                <a:solidFill>
                  <a:schemeClr val="tx1"/>
                </a:solidFill>
              </a:rPr>
              <a:t>a </a:t>
            </a:r>
            <a:r>
              <a:rPr lang="es-ES" sz="2400">
                <a:solidFill>
                  <a:schemeClr val="tx1"/>
                </a:solidFill>
                <a:latin typeface="Comic Sans MS" panose="030F0702030302020204" pitchFamily="66" charset="0"/>
              </a:rPr>
              <a:t>I</a:t>
            </a:r>
            <a:r>
              <a:rPr lang="es-ES" sz="2400">
                <a:solidFill>
                  <a:schemeClr val="tx1"/>
                </a:solidFill>
              </a:rPr>
              <a:t>, con centro en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 el cable,</a:t>
            </a:r>
          </a:p>
          <a:p>
            <a:pPr eaLnBrk="1" hangingPunct="1">
              <a:spcBef>
                <a:spcPts val="0"/>
              </a:spcBef>
              <a:defRPr/>
            </a:pPr>
            <a:r>
              <a:rPr lang="es-ES" sz="2400">
                <a:solidFill>
                  <a:schemeClr val="tx1"/>
                </a:solidFill>
              </a:rPr>
              <a:t>y con </a:t>
            </a:r>
            <a:r>
              <a:rPr lang="es-ES" sz="2400" dirty="0">
                <a:solidFill>
                  <a:schemeClr val="tx1"/>
                </a:solidFill>
              </a:rPr>
              <a:t>sentido </a:t>
            </a:r>
            <a:r>
              <a:rPr lang="es-ES" sz="2400">
                <a:solidFill>
                  <a:schemeClr val="tx1"/>
                </a:solidFill>
              </a:rPr>
              <a:t>respecto a </a:t>
            </a:r>
            <a:r>
              <a:rPr lang="es-ES" sz="2400">
                <a:solidFill>
                  <a:schemeClr val="tx1"/>
                </a:solidFill>
                <a:latin typeface="Comic Sans MS" panose="030F0702030302020204" pitchFamily="66" charset="0"/>
              </a:rPr>
              <a:t>I</a:t>
            </a:r>
            <a:r>
              <a:rPr lang="es-ES" sz="2400">
                <a:solidFill>
                  <a:schemeClr val="tx1"/>
                </a:solidFill>
              </a:rPr>
              <a:t>:</a:t>
            </a:r>
            <a:endParaRPr lang="es-ES" sz="2400" dirty="0">
              <a:solidFill>
                <a:schemeClr val="tx1"/>
              </a:solidFill>
            </a:endParaRPr>
          </a:p>
          <a:p>
            <a:pPr eaLnBrk="1" hangingPunct="1">
              <a:spcBef>
                <a:spcPts val="0"/>
              </a:spcBef>
              <a:defRPr/>
            </a:pPr>
            <a:r>
              <a:rPr lang="es-ES" sz="2400">
                <a:solidFill>
                  <a:srgbClr val="000000"/>
                </a:solidFill>
                <a:sym typeface="Symbol" panose="05050102010706020507" pitchFamily="18" charset="2"/>
              </a:rPr>
              <a:t> </a:t>
            </a:r>
            <a:r>
              <a:rPr lang="es-ES" sz="2400">
                <a:solidFill>
                  <a:schemeClr val="tx1"/>
                </a:solidFill>
              </a:rPr>
              <a:t>Antihorario:  Si </a:t>
            </a:r>
            <a:r>
              <a:rPr lang="es-ES" sz="2400">
                <a:solidFill>
                  <a:schemeClr val="tx1"/>
                </a:solidFill>
                <a:latin typeface="Comic Sans MS" panose="030F0702030302020204" pitchFamily="66" charset="0"/>
              </a:rPr>
              <a:t>I</a:t>
            </a:r>
            <a:r>
              <a:rPr lang="es-ES" sz="2400">
                <a:solidFill>
                  <a:schemeClr val="tx1"/>
                </a:solidFill>
              </a:rPr>
              <a:t> viene</a:t>
            </a:r>
          </a:p>
          <a:p>
            <a:pPr eaLnBrk="1" hangingPunct="1">
              <a:spcBef>
                <a:spcPts val="0"/>
              </a:spcBef>
              <a:defRPr/>
            </a:pPr>
            <a:r>
              <a:rPr lang="es-ES" sz="2400">
                <a:solidFill>
                  <a:srgbClr val="000000"/>
                </a:solidFill>
                <a:sym typeface="Symbol" panose="05050102010706020507" pitchFamily="18" charset="2"/>
              </a:rPr>
              <a:t> </a:t>
            </a:r>
            <a:r>
              <a:rPr lang="es-ES" sz="2400">
                <a:solidFill>
                  <a:schemeClr val="tx1"/>
                </a:solidFill>
              </a:rPr>
              <a:t>Horario:        Si </a:t>
            </a:r>
            <a:r>
              <a:rPr lang="es-ES" sz="2400">
                <a:solidFill>
                  <a:schemeClr val="tx1"/>
                </a:solidFill>
                <a:latin typeface="Comic Sans MS" panose="030F0702030302020204" pitchFamily="66" charset="0"/>
              </a:rPr>
              <a:t>I</a:t>
            </a:r>
            <a:r>
              <a:rPr lang="es-ES" sz="2400">
                <a:solidFill>
                  <a:schemeClr val="tx1"/>
                </a:solidFill>
              </a:rPr>
              <a:t> se aleja</a:t>
            </a:r>
            <a:endParaRPr lang="es-ES" sz="2400" dirty="0">
              <a:solidFill>
                <a:schemeClr val="tx1"/>
              </a:solidFill>
            </a:endParaRPr>
          </a:p>
        </p:txBody>
      </p:sp>
      <p:sp>
        <p:nvSpPr>
          <p:cNvPr id="15401" name="Text Box 47"/>
          <p:cNvSpPr txBox="1">
            <a:spLocks noChangeArrowheads="1"/>
          </p:cNvSpPr>
          <p:nvPr/>
        </p:nvSpPr>
        <p:spPr bwMode="auto">
          <a:xfrm>
            <a:off x="7041557" y="4169801"/>
            <a:ext cx="2150438" cy="536549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b="1" dirty="0"/>
              <a:t>B</a:t>
            </a:r>
            <a:r>
              <a:rPr lang="es-ES" sz="2400" dirty="0"/>
              <a:t> es </a:t>
            </a:r>
            <a:r>
              <a:rPr lang="es-ES" dirty="0"/>
              <a:t>AZIMUTAL</a:t>
            </a:r>
            <a:endParaRPr lang="es-ES" sz="2400" dirty="0"/>
          </a:p>
        </p:txBody>
      </p:sp>
      <p:sp>
        <p:nvSpPr>
          <p:cNvPr id="37928" name="Line 79"/>
          <p:cNvSpPr>
            <a:spLocks noChangeShapeType="1"/>
          </p:cNvSpPr>
          <p:nvPr/>
        </p:nvSpPr>
        <p:spPr bwMode="auto">
          <a:xfrm rot="18037116" flipH="1">
            <a:off x="2438141" y="5187198"/>
            <a:ext cx="260384" cy="730446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graphicFrame>
        <p:nvGraphicFramePr>
          <p:cNvPr id="88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7968697"/>
              </p:ext>
            </p:extLst>
          </p:nvPr>
        </p:nvGraphicFramePr>
        <p:xfrm>
          <a:off x="2463262" y="5822017"/>
          <a:ext cx="352425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4" imgW="152280" imgH="203040" progId="Equation.3">
                  <p:embed/>
                </p:oleObj>
              </mc:Choice>
              <mc:Fallback>
                <p:oleObj name="Ecuación" r:id="rId4" imgW="152280" imgH="203040" progId="Equation.3">
                  <p:embed/>
                  <p:pic>
                    <p:nvPicPr>
                      <p:cNvPr id="88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3262" y="5822017"/>
                        <a:ext cx="352425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Grupo 20">
            <a:extLst>
              <a:ext uri="{FF2B5EF4-FFF2-40B4-BE49-F238E27FC236}">
                <a16:creationId xmlns:a16="http://schemas.microsoft.com/office/drawing/2014/main" id="{E3FB0AA9-1776-4A7A-9A2E-8A319E5DC0BC}"/>
              </a:ext>
            </a:extLst>
          </p:cNvPr>
          <p:cNvGrpSpPr/>
          <p:nvPr/>
        </p:nvGrpSpPr>
        <p:grpSpPr>
          <a:xfrm>
            <a:off x="1450755" y="4961224"/>
            <a:ext cx="887344" cy="482424"/>
            <a:chOff x="1450755" y="4790403"/>
            <a:chExt cx="887344" cy="482424"/>
          </a:xfrm>
        </p:grpSpPr>
        <p:sp>
          <p:nvSpPr>
            <p:cNvPr id="15397" name="Line 74"/>
            <p:cNvSpPr>
              <a:spLocks noChangeShapeType="1"/>
            </p:cNvSpPr>
            <p:nvPr/>
          </p:nvSpPr>
          <p:spPr bwMode="auto">
            <a:xfrm rot="5400000" flipH="1">
              <a:off x="2066637" y="4787144"/>
              <a:ext cx="7938" cy="534987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graphicFrame>
          <p:nvGraphicFramePr>
            <p:cNvPr id="92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46339868"/>
                </p:ext>
              </p:extLst>
            </p:nvPr>
          </p:nvGraphicFramePr>
          <p:xfrm>
            <a:off x="1450755" y="4790403"/>
            <a:ext cx="316291" cy="4824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6" imgW="152268" imgH="215713" progId="Equation.3">
                    <p:embed/>
                  </p:oleObj>
                </mc:Choice>
                <mc:Fallback>
                  <p:oleObj name="Ecuación" r:id="rId6" imgW="152268" imgH="215713" progId="Equation.3">
                    <p:embed/>
                    <p:pic>
                      <p:nvPicPr>
                        <p:cNvPr id="92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0755" y="4790403"/>
                          <a:ext cx="316291" cy="4824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Flecha derecha 5"/>
          <p:cNvSpPr/>
          <p:nvPr/>
        </p:nvSpPr>
        <p:spPr bwMode="auto">
          <a:xfrm rot="5400000">
            <a:off x="7957747" y="3734393"/>
            <a:ext cx="313202" cy="397451"/>
          </a:xfrm>
          <a:prstGeom prst="rightArrow">
            <a:avLst>
              <a:gd name="adj1" fmla="val 50000"/>
              <a:gd name="adj2" fmla="val 68300"/>
            </a:avLst>
          </a:prstGeom>
          <a:solidFill>
            <a:schemeClr val="accent1"/>
          </a:solidFill>
          <a:ln w="25400" cap="flat" cmpd="sng" algn="ctr">
            <a:noFill/>
            <a:prstDash val="solid"/>
            <a:round/>
            <a:headEnd type="none" w="med" len="med"/>
            <a:tailEnd type="stealth" w="lg" len="lg"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6" name="Text Box 11">
            <a:extLst>
              <a:ext uri="{FF2B5EF4-FFF2-40B4-BE49-F238E27FC236}">
                <a16:creationId xmlns:a16="http://schemas.microsoft.com/office/drawing/2014/main" id="{416A1DB4-9D44-49E3-A7C4-CC8C02D160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5061" y="467372"/>
            <a:ext cx="3838574" cy="978584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ffectLst/>
        </p:spPr>
        <p:txBody>
          <a:bodyPr wrap="square" tIns="118800" bIns="118800" anchor="ctr" anchorCtr="1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es-ES" sz="2400" b="1" cap="small">
                <a:solidFill>
                  <a:schemeClr val="tx1"/>
                </a:solidFill>
              </a:rPr>
              <a:t>líneas de campo de corriente rectilína </a:t>
            </a:r>
            <a:endParaRPr lang="es-ES" sz="2400" b="1" baseline="-25000" dirty="0">
              <a:solidFill>
                <a:schemeClr val="tx1"/>
              </a:solidFill>
            </a:endParaRPr>
          </a:p>
        </p:txBody>
      </p:sp>
      <p:sp>
        <p:nvSpPr>
          <p:cNvPr id="101" name="Line 24">
            <a:extLst>
              <a:ext uri="{FF2B5EF4-FFF2-40B4-BE49-F238E27FC236}">
                <a16:creationId xmlns:a16="http://schemas.microsoft.com/office/drawing/2014/main" id="{4D4C2E1F-0C16-47BB-B026-509F11240023}"/>
              </a:ext>
            </a:extLst>
          </p:cNvPr>
          <p:cNvSpPr>
            <a:spLocks noChangeShapeType="1"/>
          </p:cNvSpPr>
          <p:nvPr/>
        </p:nvSpPr>
        <p:spPr bwMode="auto">
          <a:xfrm>
            <a:off x="2321122" y="5219423"/>
            <a:ext cx="211189" cy="289956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grpSp>
        <p:nvGrpSpPr>
          <p:cNvPr id="112" name="Grupo 111">
            <a:extLst>
              <a:ext uri="{FF2B5EF4-FFF2-40B4-BE49-F238E27FC236}">
                <a16:creationId xmlns:a16="http://schemas.microsoft.com/office/drawing/2014/main" id="{478BFD72-CF16-4B54-9F4A-26C40A4DA526}"/>
              </a:ext>
            </a:extLst>
          </p:cNvPr>
          <p:cNvGrpSpPr/>
          <p:nvPr/>
        </p:nvGrpSpPr>
        <p:grpSpPr>
          <a:xfrm>
            <a:off x="1488031" y="318114"/>
            <a:ext cx="4227511" cy="1271588"/>
            <a:chOff x="3944937" y="3739833"/>
            <a:chExt cx="4227511" cy="1271588"/>
          </a:xfrm>
        </p:grpSpPr>
        <p:grpSp>
          <p:nvGrpSpPr>
            <p:cNvPr id="113" name="Group 5">
              <a:extLst>
                <a:ext uri="{FF2B5EF4-FFF2-40B4-BE49-F238E27FC236}">
                  <a16:creationId xmlns:a16="http://schemas.microsoft.com/office/drawing/2014/main" id="{547C16A8-FB95-464F-B3C9-7484F3BCE0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44937" y="3739833"/>
              <a:ext cx="4227511" cy="1271588"/>
              <a:chOff x="3892" y="1421"/>
              <a:chExt cx="2663" cy="801"/>
            </a:xfrm>
          </p:grpSpPr>
          <p:sp>
            <p:nvSpPr>
              <p:cNvPr id="115" name="Rectangle 6">
                <a:extLst>
                  <a:ext uri="{FF2B5EF4-FFF2-40B4-BE49-F238E27FC236}">
                    <a16:creationId xmlns:a16="http://schemas.microsoft.com/office/drawing/2014/main" id="{ECB451F7-6861-4371-A83F-7CC0EE4B37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92" y="1421"/>
                <a:ext cx="2663" cy="801"/>
              </a:xfrm>
              <a:prstGeom prst="rect">
                <a:avLst/>
              </a:pr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accent1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lang="en-US">
                  <a:solidFill>
                    <a:srgbClr val="D60093"/>
                  </a:solidFill>
                </a:endParaRPr>
              </a:p>
            </p:txBody>
          </p:sp>
          <p:graphicFrame>
            <p:nvGraphicFramePr>
              <p:cNvPr id="116" name="Object 7">
                <a:extLst>
                  <a:ext uri="{FF2B5EF4-FFF2-40B4-BE49-F238E27FC236}">
                    <a16:creationId xmlns:a16="http://schemas.microsoft.com/office/drawing/2014/main" id="{F2C161C2-D089-4286-9535-DF1FD6BFA66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63440764"/>
                  </p:ext>
                </p:extLst>
              </p:nvPr>
            </p:nvGraphicFramePr>
            <p:xfrm>
              <a:off x="4089" y="1444"/>
              <a:ext cx="2453" cy="6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8" imgW="1562040" imgH="431640" progId="Equation.3">
                      <p:embed/>
                    </p:oleObj>
                  </mc:Choice>
                  <mc:Fallback>
                    <p:oleObj name="Ecuación" r:id="rId8" imgW="1562040" imgH="431640" progId="Equation.3">
                      <p:embed/>
                      <p:pic>
                        <p:nvPicPr>
                          <p:cNvPr id="116" name="Object 7">
                            <a:extLst>
                              <a:ext uri="{FF2B5EF4-FFF2-40B4-BE49-F238E27FC236}">
                                <a16:creationId xmlns:a16="http://schemas.microsoft.com/office/drawing/2014/main" id="{F2C161C2-D089-4286-9535-DF1FD6BFA669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89" y="1444"/>
                            <a:ext cx="2453" cy="67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14" name="CuadroTexto 7">
              <a:extLst>
                <a:ext uri="{FF2B5EF4-FFF2-40B4-BE49-F238E27FC236}">
                  <a16:creationId xmlns:a16="http://schemas.microsoft.com/office/drawing/2014/main" id="{6B25ACCA-9C58-4F79-B7E6-51D3DE9C02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5131" y="3993188"/>
              <a:ext cx="36420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s-ES" sz="2800">
                  <a:solidFill>
                    <a:schemeClr val="tx1"/>
                  </a:solidFill>
                  <a:latin typeface="+mj-lt"/>
                </a:rPr>
                <a:t>d</a:t>
              </a:r>
              <a:endParaRPr lang="es-ES" sz="2800" dirty="0">
                <a:solidFill>
                  <a:schemeClr val="tx1"/>
                </a:solidFill>
                <a:latin typeface="+mj-lt"/>
              </a:endParaRPr>
            </a:p>
          </p:txBody>
        </p:sp>
      </p:grpSp>
      <p:grpSp>
        <p:nvGrpSpPr>
          <p:cNvPr id="118" name="Grupo 117">
            <a:extLst>
              <a:ext uri="{FF2B5EF4-FFF2-40B4-BE49-F238E27FC236}">
                <a16:creationId xmlns:a16="http://schemas.microsoft.com/office/drawing/2014/main" id="{EED010A1-36F7-437F-8194-F8A67EF90547}"/>
              </a:ext>
            </a:extLst>
          </p:cNvPr>
          <p:cNvGrpSpPr>
            <a:grpSpLocks/>
          </p:cNvGrpSpPr>
          <p:nvPr/>
        </p:nvGrpSpPr>
        <p:grpSpPr bwMode="auto">
          <a:xfrm>
            <a:off x="3765292" y="1086586"/>
            <a:ext cx="1648577" cy="1348596"/>
            <a:chOff x="7241915" y="2154758"/>
            <a:chExt cx="1648577" cy="1348596"/>
          </a:xfrm>
        </p:grpSpPr>
        <p:sp>
          <p:nvSpPr>
            <p:cNvPr id="119" name="Text Box 19">
              <a:extLst>
                <a:ext uri="{FF2B5EF4-FFF2-40B4-BE49-F238E27FC236}">
                  <a16:creationId xmlns:a16="http://schemas.microsoft.com/office/drawing/2014/main" id="{E4968E4F-DC0B-4AAE-BA81-84DBE3D249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41915" y="2597473"/>
              <a:ext cx="1648577" cy="9058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</a:pPr>
              <a:r>
                <a:rPr lang="es-ES" sz="2400">
                  <a:solidFill>
                    <a:srgbClr val="FF0000"/>
                  </a:solidFill>
                </a:rPr>
                <a:t>Todo d</a:t>
              </a:r>
              <a:r>
                <a:rPr lang="es-ES" sz="2400" b="1">
                  <a:solidFill>
                    <a:srgbClr val="FF0000"/>
                  </a:solidFill>
                </a:rPr>
                <a:t>l</a:t>
              </a:r>
            </a:p>
            <a:p>
              <a:pPr algn="ctr" eaLnBrk="1" hangingPunct="1">
                <a:spcBef>
                  <a:spcPts val="0"/>
                </a:spcBef>
              </a:pPr>
              <a:r>
                <a:rPr lang="es-ES" sz="2400">
                  <a:solidFill>
                    <a:srgbClr val="FF0000"/>
                  </a:solidFill>
                </a:rPr>
                <a:t>// al cable</a:t>
              </a:r>
              <a:endParaRPr lang="es-ES" sz="2400" dirty="0">
                <a:solidFill>
                  <a:srgbClr val="FF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20" name="Line 20">
              <a:extLst>
                <a:ext uri="{FF2B5EF4-FFF2-40B4-BE49-F238E27FC236}">
                  <a16:creationId xmlns:a16="http://schemas.microsoft.com/office/drawing/2014/main" id="{CD23BFD8-2199-4E31-AE4F-87848A3080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036775" y="2154758"/>
              <a:ext cx="0" cy="475655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82800" rIns="90000" bIns="82800">
              <a:spAutoFit/>
            </a:bodyPr>
            <a:lstStyle/>
            <a:p>
              <a:endParaRPr lang="en-GB"/>
            </a:p>
          </p:txBody>
        </p:sp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1998C802-B9B5-456F-22C5-5E84DEA8E078}"/>
              </a:ext>
            </a:extLst>
          </p:cNvPr>
          <p:cNvGrpSpPr/>
          <p:nvPr/>
        </p:nvGrpSpPr>
        <p:grpSpPr>
          <a:xfrm>
            <a:off x="3473296" y="2472099"/>
            <a:ext cx="519284" cy="4013496"/>
            <a:chOff x="3473296" y="2301278"/>
            <a:chExt cx="519284" cy="4013496"/>
          </a:xfrm>
        </p:grpSpPr>
        <p:sp>
          <p:nvSpPr>
            <p:cNvPr id="58" name="Line 18">
              <a:extLst>
                <a:ext uri="{FF2B5EF4-FFF2-40B4-BE49-F238E27FC236}">
                  <a16:creationId xmlns:a16="http://schemas.microsoft.com/office/drawing/2014/main" id="{59917D9B-24B9-4A95-86E4-DF385051A2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73296" y="2533086"/>
              <a:ext cx="0" cy="180000"/>
            </a:xfrm>
            <a:prstGeom prst="line">
              <a:avLst/>
            </a:prstGeom>
            <a:noFill/>
            <a:ln w="28575">
              <a:solidFill>
                <a:srgbClr val="3333FF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FC9DE595-7A3A-4C62-BEC5-2317BBC23630}"/>
                </a:ext>
              </a:extLst>
            </p:cNvPr>
            <p:cNvGrpSpPr/>
            <p:nvPr/>
          </p:nvGrpSpPr>
          <p:grpSpPr>
            <a:xfrm>
              <a:off x="3473296" y="2301278"/>
              <a:ext cx="519284" cy="4013496"/>
              <a:chOff x="3473296" y="2301278"/>
              <a:chExt cx="519284" cy="4013496"/>
            </a:xfrm>
          </p:grpSpPr>
          <p:sp>
            <p:nvSpPr>
              <p:cNvPr id="15423" name="Line 17"/>
              <p:cNvSpPr>
                <a:spLocks noChangeShapeType="1"/>
              </p:cNvSpPr>
              <p:nvPr/>
            </p:nvSpPr>
            <p:spPr bwMode="auto">
              <a:xfrm flipV="1">
                <a:off x="3474746" y="2442162"/>
                <a:ext cx="0" cy="3872612"/>
              </a:xfrm>
              <a:prstGeom prst="line">
                <a:avLst/>
              </a:prstGeom>
              <a:noFill/>
              <a:ln w="38100">
                <a:solidFill>
                  <a:srgbClr val="3333FF"/>
                </a:solidFill>
                <a:prstDash val="solid"/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26" name="Text Box 19">
                <a:extLst>
                  <a:ext uri="{FF2B5EF4-FFF2-40B4-BE49-F238E27FC236}">
                    <a16:creationId xmlns:a16="http://schemas.microsoft.com/office/drawing/2014/main" id="{CE2BB758-3841-45AA-9AD4-B86A2E71A61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73296" y="2301278"/>
                <a:ext cx="519284" cy="5365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squar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ts val="0"/>
                  </a:spcBef>
                </a:pPr>
                <a:r>
                  <a:rPr lang="es-ES" sz="2400">
                    <a:solidFill>
                      <a:srgbClr val="3333FF"/>
                    </a:solidFill>
                    <a:latin typeface="Comic Sans MS" panose="030F0702030302020204" pitchFamily="66" charset="0"/>
                  </a:rPr>
                  <a:t>I</a:t>
                </a:r>
                <a:endParaRPr lang="es-ES" sz="2400" dirty="0">
                  <a:solidFill>
                    <a:srgbClr val="3333FF"/>
                  </a:solidFill>
                  <a:latin typeface="Comic Sans MS" panose="030F0702030302020204" pitchFamily="66" charset="0"/>
                </a:endParaRPr>
              </a:p>
            </p:txBody>
          </p:sp>
        </p:grpSp>
      </p:grpSp>
      <p:grpSp>
        <p:nvGrpSpPr>
          <p:cNvPr id="130" name="Grupo 129">
            <a:extLst>
              <a:ext uri="{FF2B5EF4-FFF2-40B4-BE49-F238E27FC236}">
                <a16:creationId xmlns:a16="http://schemas.microsoft.com/office/drawing/2014/main" id="{DFADC75A-0C38-4B61-A731-882003FC7C9E}"/>
              </a:ext>
            </a:extLst>
          </p:cNvPr>
          <p:cNvGrpSpPr/>
          <p:nvPr/>
        </p:nvGrpSpPr>
        <p:grpSpPr>
          <a:xfrm>
            <a:off x="4604427" y="3216416"/>
            <a:ext cx="496812" cy="477445"/>
            <a:chOff x="7079298" y="4873353"/>
            <a:chExt cx="496812" cy="477445"/>
          </a:xfrm>
        </p:grpSpPr>
        <p:sp>
          <p:nvSpPr>
            <p:cNvPr id="131" name="Rectángulo 130">
              <a:extLst>
                <a:ext uri="{FF2B5EF4-FFF2-40B4-BE49-F238E27FC236}">
                  <a16:creationId xmlns:a16="http://schemas.microsoft.com/office/drawing/2014/main" id="{6E103D94-E5A5-42C2-B51B-24DC2E5870F6}"/>
                </a:ext>
              </a:extLst>
            </p:cNvPr>
            <p:cNvSpPr/>
            <p:nvPr/>
          </p:nvSpPr>
          <p:spPr bwMode="auto">
            <a:xfrm rot="19084679">
              <a:off x="7079298" y="4881048"/>
              <a:ext cx="487680" cy="469750"/>
            </a:xfrm>
            <a:prstGeom prst="rect">
              <a:avLst/>
            </a:prstGeom>
            <a:solidFill>
              <a:srgbClr val="FFFF00"/>
            </a:solidFill>
            <a:ln w="25400" cap="flat" cmpd="sng" algn="ctr">
              <a:noFill/>
              <a:prstDash val="solid"/>
              <a:round/>
              <a:headEnd type="none" w="med" len="med"/>
              <a:tailEnd type="stealth" w="lg" len="lg"/>
            </a:ln>
            <a:effectLst/>
            <a:extLs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vert="horz" wrap="non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endParaRPr>
            </a:p>
          </p:txBody>
        </p:sp>
        <p:grpSp>
          <p:nvGrpSpPr>
            <p:cNvPr id="132" name="Group 87">
              <a:extLst>
                <a:ext uri="{FF2B5EF4-FFF2-40B4-BE49-F238E27FC236}">
                  <a16:creationId xmlns:a16="http://schemas.microsoft.com/office/drawing/2014/main" id="{19E630DD-257C-4B55-8346-EBD60EF6A1AA}"/>
                </a:ext>
              </a:extLst>
            </p:cNvPr>
            <p:cNvGrpSpPr>
              <a:grpSpLocks/>
            </p:cNvGrpSpPr>
            <p:nvPr/>
          </p:nvGrpSpPr>
          <p:grpSpPr bwMode="auto">
            <a:xfrm rot="19671486">
              <a:off x="7144310" y="4873353"/>
              <a:ext cx="431800" cy="420687"/>
              <a:chOff x="6083" y="3089"/>
              <a:chExt cx="272" cy="265"/>
            </a:xfrm>
          </p:grpSpPr>
          <p:sp>
            <p:nvSpPr>
              <p:cNvPr id="133" name="Line 84">
                <a:extLst>
                  <a:ext uri="{FF2B5EF4-FFF2-40B4-BE49-F238E27FC236}">
                    <a16:creationId xmlns:a16="http://schemas.microsoft.com/office/drawing/2014/main" id="{AA4BD275-F010-4FAD-AEC0-707EF306FB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415585" flipH="1">
                <a:off x="6098" y="3207"/>
                <a:ext cx="257" cy="14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>
                  <a:solidFill>
                    <a:schemeClr val="tx1"/>
                  </a:solidFill>
                </a:endParaRPr>
              </a:p>
            </p:txBody>
          </p:sp>
          <p:sp>
            <p:nvSpPr>
              <p:cNvPr id="134" name="Line 85">
                <a:extLst>
                  <a:ext uri="{FF2B5EF4-FFF2-40B4-BE49-F238E27FC236}">
                    <a16:creationId xmlns:a16="http://schemas.microsoft.com/office/drawing/2014/main" id="{BDC4A45F-82D8-4D5C-B04B-832F526101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415585">
                <a:off x="6083" y="3089"/>
                <a:ext cx="251" cy="10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>
                  <a:solidFill>
                    <a:schemeClr val="tx1"/>
                  </a:solidFill>
                </a:endParaRPr>
              </a:p>
            </p:txBody>
          </p:sp>
          <p:sp>
            <p:nvSpPr>
              <p:cNvPr id="135" name="Oval 86">
                <a:extLst>
                  <a:ext uri="{FF2B5EF4-FFF2-40B4-BE49-F238E27FC236}">
                    <a16:creationId xmlns:a16="http://schemas.microsoft.com/office/drawing/2014/main" id="{F7A25E4A-8D0E-4B48-859A-DBCCF9B7C4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415585">
                <a:off x="6132" y="3128"/>
                <a:ext cx="56" cy="19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B82D7946-3EF3-48A4-9566-375849D2656D}"/>
              </a:ext>
            </a:extLst>
          </p:cNvPr>
          <p:cNvGrpSpPr/>
          <p:nvPr/>
        </p:nvGrpSpPr>
        <p:grpSpPr>
          <a:xfrm>
            <a:off x="3480009" y="3272253"/>
            <a:ext cx="550456" cy="2957619"/>
            <a:chOff x="3469961" y="3101432"/>
            <a:chExt cx="550456" cy="2957619"/>
          </a:xfrm>
        </p:grpSpPr>
        <p:sp>
          <p:nvSpPr>
            <p:cNvPr id="15406" name="Line 18"/>
            <p:cNvSpPr>
              <a:spLocks noChangeShapeType="1"/>
            </p:cNvSpPr>
            <p:nvPr/>
          </p:nvSpPr>
          <p:spPr bwMode="auto">
            <a:xfrm flipV="1">
              <a:off x="3479510" y="4604968"/>
              <a:ext cx="0" cy="4320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7" name="Text Box 19">
              <a:extLst>
                <a:ext uri="{FF2B5EF4-FFF2-40B4-BE49-F238E27FC236}">
                  <a16:creationId xmlns:a16="http://schemas.microsoft.com/office/drawing/2014/main" id="{C9A766C9-60C5-4936-8036-08F51AF19F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1136" y="3153080"/>
              <a:ext cx="519281" cy="5365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</a:pPr>
              <a:r>
                <a:rPr lang="es-ES" sz="2400" dirty="0">
                  <a:solidFill>
                    <a:srgbClr val="FF0000"/>
                  </a:solidFill>
                </a:rPr>
                <a:t>d</a:t>
              </a:r>
              <a:r>
                <a:rPr lang="es-ES" sz="2400" b="1" dirty="0">
                  <a:solidFill>
                    <a:srgbClr val="FF0000"/>
                  </a:solidFill>
                </a:rPr>
                <a:t>l</a:t>
              </a:r>
              <a:endParaRPr lang="es-ES" sz="2400" dirty="0">
                <a:solidFill>
                  <a:srgbClr val="FF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37" name="Line 18">
              <a:extLst>
                <a:ext uri="{FF2B5EF4-FFF2-40B4-BE49-F238E27FC236}">
                  <a16:creationId xmlns:a16="http://schemas.microsoft.com/office/drawing/2014/main" id="{54D43F61-739D-4AE0-9BFC-C1BF054AE1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70375" y="3101432"/>
              <a:ext cx="0" cy="4320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8" name="Line 18">
              <a:extLst>
                <a:ext uri="{FF2B5EF4-FFF2-40B4-BE49-F238E27FC236}">
                  <a16:creationId xmlns:a16="http://schemas.microsoft.com/office/drawing/2014/main" id="{51D270ED-2E74-4293-9A56-181A8BB6BA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69961" y="5627051"/>
              <a:ext cx="0" cy="4320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DFEC496E-321A-4AA0-AED9-714B06B6583C}"/>
              </a:ext>
            </a:extLst>
          </p:cNvPr>
          <p:cNvGrpSpPr/>
          <p:nvPr/>
        </p:nvGrpSpPr>
        <p:grpSpPr>
          <a:xfrm>
            <a:off x="1988493" y="3684473"/>
            <a:ext cx="1477134" cy="2017344"/>
            <a:chOff x="1988493" y="3513652"/>
            <a:chExt cx="1477134" cy="2017344"/>
          </a:xfrm>
        </p:grpSpPr>
        <p:sp>
          <p:nvSpPr>
            <p:cNvPr id="139" name="Line 74">
              <a:extLst>
                <a:ext uri="{FF2B5EF4-FFF2-40B4-BE49-F238E27FC236}">
                  <a16:creationId xmlns:a16="http://schemas.microsoft.com/office/drawing/2014/main" id="{0040CA96-FAD9-4609-A97E-73DE73A329B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916899" y="5138699"/>
              <a:ext cx="463891" cy="320704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0" name="Line 3">
              <a:extLst>
                <a:ext uri="{FF2B5EF4-FFF2-40B4-BE49-F238E27FC236}">
                  <a16:creationId xmlns:a16="http://schemas.microsoft.com/office/drawing/2014/main" id="{ECB1E0E2-9446-44B5-A8E2-C836B0DA3F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21121" y="3513652"/>
              <a:ext cx="1144506" cy="15401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82800" rIns="90000" bIns="82800">
              <a:spAutoFit/>
            </a:bodyPr>
            <a:lstStyle/>
            <a:p>
              <a:endParaRPr lang="en-GB"/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BB254421-B532-40B9-A5DA-7E55029E06F6}"/>
              </a:ext>
            </a:extLst>
          </p:cNvPr>
          <p:cNvGrpSpPr/>
          <p:nvPr/>
        </p:nvGrpSpPr>
        <p:grpSpPr>
          <a:xfrm>
            <a:off x="2316481" y="4711742"/>
            <a:ext cx="2602281" cy="1142143"/>
            <a:chOff x="2316481" y="4540921"/>
            <a:chExt cx="2602281" cy="1142143"/>
          </a:xfrm>
        </p:grpSpPr>
        <p:sp>
          <p:nvSpPr>
            <p:cNvPr id="15422" name="Line 3"/>
            <p:cNvSpPr>
              <a:spLocks noChangeShapeType="1"/>
            </p:cNvSpPr>
            <p:nvPr/>
          </p:nvSpPr>
          <p:spPr bwMode="auto">
            <a:xfrm flipH="1" flipV="1">
              <a:off x="2316481" y="5052252"/>
              <a:ext cx="260228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142" name="Line 3">
              <a:extLst>
                <a:ext uri="{FF2B5EF4-FFF2-40B4-BE49-F238E27FC236}">
                  <a16:creationId xmlns:a16="http://schemas.microsoft.com/office/drawing/2014/main" id="{3E56F7E4-FEDA-4BB6-A50B-EA8E8C7F20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867990" y="4540921"/>
              <a:ext cx="1332533" cy="114214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82800" rIns="90000" bIns="82800">
              <a:spAutoFit/>
            </a:bodyPr>
            <a:lstStyle/>
            <a:p>
              <a:endParaRPr lang="en-GB"/>
            </a:p>
          </p:txBody>
        </p:sp>
      </p:grpSp>
      <p:grpSp>
        <p:nvGrpSpPr>
          <p:cNvPr id="27" name="Grupo 26">
            <a:extLst>
              <a:ext uri="{FF2B5EF4-FFF2-40B4-BE49-F238E27FC236}">
                <a16:creationId xmlns:a16="http://schemas.microsoft.com/office/drawing/2014/main" id="{C127BFBB-3B92-4D58-894E-27A3E3F00B27}"/>
              </a:ext>
            </a:extLst>
          </p:cNvPr>
          <p:cNvGrpSpPr/>
          <p:nvPr/>
        </p:nvGrpSpPr>
        <p:grpSpPr>
          <a:xfrm>
            <a:off x="2229035" y="4618235"/>
            <a:ext cx="817626" cy="412103"/>
            <a:chOff x="2229035" y="4447414"/>
            <a:chExt cx="817626" cy="412103"/>
          </a:xfrm>
        </p:grpSpPr>
        <p:sp>
          <p:nvSpPr>
            <p:cNvPr id="150" name="Line 79">
              <a:extLst>
                <a:ext uri="{FF2B5EF4-FFF2-40B4-BE49-F238E27FC236}">
                  <a16:creationId xmlns:a16="http://schemas.microsoft.com/office/drawing/2014/main" id="{A952CB10-F340-4B40-B5BD-B3F49F440E2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3562884" flipH="1">
              <a:off x="2369401" y="4307048"/>
              <a:ext cx="412103" cy="692836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7" name="Elipse 146">
              <a:extLst>
                <a:ext uri="{FF2B5EF4-FFF2-40B4-BE49-F238E27FC236}">
                  <a16:creationId xmlns:a16="http://schemas.microsoft.com/office/drawing/2014/main" id="{09870F2C-7DC8-43FE-B774-421E1D939800}"/>
                </a:ext>
              </a:extLst>
            </p:cNvPr>
            <p:cNvSpPr/>
            <p:nvPr/>
          </p:nvSpPr>
          <p:spPr bwMode="auto">
            <a:xfrm>
              <a:off x="2961063" y="4610622"/>
              <a:ext cx="85598" cy="94068"/>
            </a:xfrm>
            <a:prstGeom prst="ellipse">
              <a:avLst/>
            </a:prstGeom>
            <a:solidFill>
              <a:srgbClr val="FFFFFF"/>
            </a:solidFill>
            <a:ln w="254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stealth" w="lg" len="lg"/>
            </a:ln>
            <a:effectLst/>
            <a:extLs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vert="horz" wrap="non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26" name="Grupo 25">
            <a:extLst>
              <a:ext uri="{FF2B5EF4-FFF2-40B4-BE49-F238E27FC236}">
                <a16:creationId xmlns:a16="http://schemas.microsoft.com/office/drawing/2014/main" id="{3560CF59-EEFB-40B4-BC78-40841F782AF6}"/>
              </a:ext>
            </a:extLst>
          </p:cNvPr>
          <p:cNvGrpSpPr/>
          <p:nvPr/>
        </p:nvGrpSpPr>
        <p:grpSpPr>
          <a:xfrm>
            <a:off x="4145272" y="4711810"/>
            <a:ext cx="798862" cy="554226"/>
            <a:chOff x="4145272" y="4540989"/>
            <a:chExt cx="798862" cy="554226"/>
          </a:xfrm>
        </p:grpSpPr>
        <p:sp>
          <p:nvSpPr>
            <p:cNvPr id="146" name="Elipse 145">
              <a:extLst>
                <a:ext uri="{FF2B5EF4-FFF2-40B4-BE49-F238E27FC236}">
                  <a16:creationId xmlns:a16="http://schemas.microsoft.com/office/drawing/2014/main" id="{00CDB382-F3E1-426D-88E6-4B34DFFAF626}"/>
                </a:ext>
              </a:extLst>
            </p:cNvPr>
            <p:cNvSpPr/>
            <p:nvPr/>
          </p:nvSpPr>
          <p:spPr bwMode="auto">
            <a:xfrm>
              <a:off x="4780338" y="5001147"/>
              <a:ext cx="85598" cy="94068"/>
            </a:xfrm>
            <a:prstGeom prst="ellipse">
              <a:avLst/>
            </a:prstGeom>
            <a:solidFill>
              <a:srgbClr val="FFFFFF"/>
            </a:solidFill>
            <a:ln w="254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stealth" w="lg" len="lg"/>
            </a:ln>
            <a:effectLst/>
            <a:extLs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vert="horz" wrap="non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48" name="Line 79">
              <a:extLst>
                <a:ext uri="{FF2B5EF4-FFF2-40B4-BE49-F238E27FC236}">
                  <a16:creationId xmlns:a16="http://schemas.microsoft.com/office/drawing/2014/main" id="{435E74C2-2C99-476B-A434-65E0DEEF660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037116" flipV="1">
              <a:off x="4407467" y="4278794"/>
              <a:ext cx="274471" cy="798862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5" name="Grupo 24">
            <a:extLst>
              <a:ext uri="{FF2B5EF4-FFF2-40B4-BE49-F238E27FC236}">
                <a16:creationId xmlns:a16="http://schemas.microsoft.com/office/drawing/2014/main" id="{8657249D-4F8D-4823-8110-A8209C5EA11F}"/>
              </a:ext>
            </a:extLst>
          </p:cNvPr>
          <p:cNvGrpSpPr/>
          <p:nvPr/>
        </p:nvGrpSpPr>
        <p:grpSpPr>
          <a:xfrm>
            <a:off x="3894513" y="5417957"/>
            <a:ext cx="847551" cy="412103"/>
            <a:chOff x="3894513" y="5247136"/>
            <a:chExt cx="847551" cy="412103"/>
          </a:xfrm>
        </p:grpSpPr>
        <p:sp>
          <p:nvSpPr>
            <p:cNvPr id="145" name="Elipse 144">
              <a:extLst>
                <a:ext uri="{FF2B5EF4-FFF2-40B4-BE49-F238E27FC236}">
                  <a16:creationId xmlns:a16="http://schemas.microsoft.com/office/drawing/2014/main" id="{CDF49D85-61DB-4065-BE58-847ECBE2428B}"/>
                </a:ext>
              </a:extLst>
            </p:cNvPr>
            <p:cNvSpPr/>
            <p:nvPr/>
          </p:nvSpPr>
          <p:spPr bwMode="auto">
            <a:xfrm>
              <a:off x="3894513" y="5410722"/>
              <a:ext cx="85598" cy="94068"/>
            </a:xfrm>
            <a:prstGeom prst="ellipse">
              <a:avLst/>
            </a:prstGeom>
            <a:solidFill>
              <a:srgbClr val="FFFFFF"/>
            </a:solidFill>
            <a:ln w="254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stealth" w="lg" len="lg"/>
            </a:ln>
            <a:effectLst/>
            <a:extLs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vert="horz" wrap="non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49" name="Line 79">
              <a:extLst>
                <a:ext uri="{FF2B5EF4-FFF2-40B4-BE49-F238E27FC236}">
                  <a16:creationId xmlns:a16="http://schemas.microsoft.com/office/drawing/2014/main" id="{12B9463B-5514-49A7-AD93-7A824C10B25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037116">
              <a:off x="4189594" y="5106770"/>
              <a:ext cx="412103" cy="692836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0" name="Elipse 19">
            <a:extLst>
              <a:ext uri="{FF2B5EF4-FFF2-40B4-BE49-F238E27FC236}">
                <a16:creationId xmlns:a16="http://schemas.microsoft.com/office/drawing/2014/main" id="{EBBBCD6F-9A69-4184-B4F4-4A82CC6BBEC2}"/>
              </a:ext>
            </a:extLst>
          </p:cNvPr>
          <p:cNvSpPr/>
          <p:nvPr/>
        </p:nvSpPr>
        <p:spPr bwMode="auto">
          <a:xfrm>
            <a:off x="2284793" y="5171968"/>
            <a:ext cx="85598" cy="94068"/>
          </a:xfrm>
          <a:prstGeom prst="ellipse">
            <a:avLst/>
          </a:prstGeom>
          <a:solidFill>
            <a:srgbClr val="FFFFFF"/>
          </a:solidFill>
          <a:ln w="25400" cap="flat" cmpd="sng" algn="ctr">
            <a:solidFill>
              <a:schemeClr val="tx2"/>
            </a:solidFill>
            <a:prstDash val="solid"/>
            <a:round/>
            <a:headEnd type="none" w="med" len="med"/>
            <a:tailEnd type="stealth" w="lg" len="lg"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non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Line 77">
            <a:extLst>
              <a:ext uri="{FF2B5EF4-FFF2-40B4-BE49-F238E27FC236}">
                <a16:creationId xmlns:a16="http://schemas.microsoft.com/office/drawing/2014/main" id="{B5663DB9-F4D9-53BF-57A8-C10E5DC3D9D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33953" y="4731406"/>
            <a:ext cx="0" cy="43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graphicFrame>
        <p:nvGraphicFramePr>
          <p:cNvPr id="4" name="Object 7">
            <a:extLst>
              <a:ext uri="{FF2B5EF4-FFF2-40B4-BE49-F238E27FC236}">
                <a16:creationId xmlns:a16="http://schemas.microsoft.com/office/drawing/2014/main" id="{AA862219-0A6A-EFF9-7B4A-633A67A662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7966979"/>
              </p:ext>
            </p:extLst>
          </p:nvPr>
        </p:nvGraphicFramePr>
        <p:xfrm>
          <a:off x="1562834" y="4434994"/>
          <a:ext cx="316291" cy="4824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6" imgW="152268" imgH="215713" progId="Equation.3">
                  <p:embed/>
                </p:oleObj>
              </mc:Choice>
              <mc:Fallback>
                <p:oleObj name="Ecuación" r:id="rId6" imgW="152268" imgH="215713" progId="Equation.3">
                  <p:embed/>
                  <p:pic>
                    <p:nvPicPr>
                      <p:cNvPr id="92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2834" y="4434994"/>
                        <a:ext cx="316291" cy="4824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7">
            <a:extLst>
              <a:ext uri="{FF2B5EF4-FFF2-40B4-BE49-F238E27FC236}">
                <a16:creationId xmlns:a16="http://schemas.microsoft.com/office/drawing/2014/main" id="{7623F0CD-6095-8262-7D97-3C5C132477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161268"/>
              </p:ext>
            </p:extLst>
          </p:nvPr>
        </p:nvGraphicFramePr>
        <p:xfrm>
          <a:off x="1715168" y="5569063"/>
          <a:ext cx="316291" cy="4824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6" imgW="152268" imgH="215713" progId="Equation.3">
                  <p:embed/>
                </p:oleObj>
              </mc:Choice>
              <mc:Fallback>
                <p:oleObj name="Ecuación" r:id="rId6" imgW="152268" imgH="215713" progId="Equation.3">
                  <p:embed/>
                  <p:pic>
                    <p:nvPicPr>
                      <p:cNvPr id="4" name="Object 7">
                        <a:extLst>
                          <a:ext uri="{FF2B5EF4-FFF2-40B4-BE49-F238E27FC236}">
                            <a16:creationId xmlns:a16="http://schemas.microsoft.com/office/drawing/2014/main" id="{AA862219-0A6A-EFF9-7B4A-633A67A662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5168" y="5569063"/>
                        <a:ext cx="316291" cy="4824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7">
            <a:extLst>
              <a:ext uri="{FF2B5EF4-FFF2-40B4-BE49-F238E27FC236}">
                <a16:creationId xmlns:a16="http://schemas.microsoft.com/office/drawing/2014/main" id="{C0188AEC-4504-86D8-44C5-217B2F958C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6935" y="1676188"/>
            <a:ext cx="4419586" cy="803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36000" rIns="90000" bIns="108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En cada punto, cada d</a:t>
            </a:r>
            <a:r>
              <a:rPr lang="es-ES" sz="2400" b="1">
                <a:solidFill>
                  <a:schemeClr val="tx1"/>
                </a:solidFill>
                <a:sym typeface="Symbol" panose="05050102010706020507" pitchFamily="18" charset="2"/>
              </a:rPr>
              <a:t>B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 es  al d</a:t>
            </a:r>
            <a:r>
              <a:rPr lang="es-ES" sz="2400" b="1">
                <a:solidFill>
                  <a:schemeClr val="tx1"/>
                </a:solidFill>
                <a:sym typeface="Symbol" panose="05050102010706020507" pitchFamily="18" charset="2"/>
              </a:rPr>
              <a:t>l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 y al </a:t>
            </a:r>
            <a:r>
              <a:rPr lang="es-ES" sz="2400" b="1">
                <a:solidFill>
                  <a:schemeClr val="tx1"/>
                </a:solidFill>
                <a:sym typeface="Symbol" panose="05050102010706020507" pitchFamily="18" charset="2"/>
              </a:rPr>
              <a:t>e</a:t>
            </a:r>
            <a:r>
              <a:rPr lang="es-ES" sz="2400" baseline="-25000">
                <a:solidFill>
                  <a:schemeClr val="tx1"/>
                </a:solidFill>
                <a:sym typeface="Symbol" panose="05050102010706020507" pitchFamily="18" charset="2"/>
              </a:rPr>
              <a:t>r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 correspondientes</a:t>
            </a:r>
            <a:endParaRPr lang="es-ES" sz="2400" b="1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11" name="Text Box 19">
            <a:extLst>
              <a:ext uri="{FF2B5EF4-FFF2-40B4-BE49-F238E27FC236}">
                <a16:creationId xmlns:a16="http://schemas.microsoft.com/office/drawing/2014/main" id="{F86E990A-4DB1-6E12-A64B-3FFCA2683A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0755" y="3281875"/>
            <a:ext cx="4419585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>
                <a:solidFill>
                  <a:srgbClr val="FF0000"/>
                </a:solidFill>
                <a:cs typeface="Arial" panose="020B0604020202020204" pitchFamily="34" charset="0"/>
              </a:rPr>
              <a:t>(giro antihorario de d</a:t>
            </a:r>
            <a:r>
              <a:rPr lang="es-ES" sz="2400" b="1">
                <a:solidFill>
                  <a:srgbClr val="FF0000"/>
                </a:solidFill>
                <a:cs typeface="Arial" panose="020B0604020202020204" pitchFamily="34" charset="0"/>
              </a:rPr>
              <a:t>l</a:t>
            </a:r>
            <a:r>
              <a:rPr lang="es-ES" sz="2400">
                <a:solidFill>
                  <a:srgbClr val="FF0000"/>
                </a:solidFill>
                <a:cs typeface="Arial" panose="020B0604020202020204" pitchFamily="34" charset="0"/>
              </a:rPr>
              <a:t> a </a:t>
            </a:r>
            <a:r>
              <a:rPr lang="es-ES" sz="2400" b="1">
                <a:solidFill>
                  <a:srgbClr val="FF0000"/>
                </a:solidFill>
                <a:cs typeface="Arial" panose="020B0604020202020204" pitchFamily="34" charset="0"/>
              </a:rPr>
              <a:t>e</a:t>
            </a:r>
            <a:r>
              <a:rPr lang="es-ES" sz="2400" baseline="-25000">
                <a:solidFill>
                  <a:srgbClr val="FF0000"/>
                </a:solidFill>
                <a:cs typeface="Arial" panose="020B0604020202020204" pitchFamily="34" charset="0"/>
              </a:rPr>
              <a:t>r</a:t>
            </a:r>
            <a:r>
              <a:rPr lang="es-ES" sz="2400">
                <a:solidFill>
                  <a:srgbClr val="FF0000"/>
                </a:solidFill>
                <a:cs typeface="Arial" panose="020B0604020202020204" pitchFamily="34" charset="0"/>
              </a:rPr>
              <a:t>)</a:t>
            </a:r>
            <a:endParaRPr lang="es-ES" sz="24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12" name="Text Box 17">
            <a:extLst>
              <a:ext uri="{FF2B5EF4-FFF2-40B4-BE49-F238E27FC236}">
                <a16:creationId xmlns:a16="http://schemas.microsoft.com/office/drawing/2014/main" id="{188A56C2-0781-FE99-85A3-FA1B3C3B29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3260" y="2565241"/>
            <a:ext cx="4419586" cy="803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36000" rIns="90000" bIns="108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Todos los d</a:t>
            </a:r>
            <a:r>
              <a:rPr lang="es-ES" sz="2400" b="1">
                <a:solidFill>
                  <a:schemeClr val="tx1"/>
                </a:solidFill>
                <a:sym typeface="Symbol" panose="05050102010706020507" pitchFamily="18" charset="2"/>
              </a:rPr>
              <a:t>B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 son // a </a:t>
            </a:r>
            <a:r>
              <a:rPr lang="es-ES" sz="2400" b="1">
                <a:solidFill>
                  <a:schemeClr val="tx1"/>
                </a:solidFill>
                <a:sym typeface="Symbol" panose="05050102010706020507" pitchFamily="18" charset="2"/>
              </a:rPr>
              <a:t>e</a:t>
            </a:r>
            <a:r>
              <a:rPr lang="es-ES" sz="2400" baseline="-25000">
                <a:solidFill>
                  <a:schemeClr val="tx1"/>
                </a:solidFill>
                <a:sym typeface="Symbol" panose="05050102010706020507" pitchFamily="18" charset="2"/>
              </a:rPr>
              <a:t>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 en dirección y sentido</a:t>
            </a:r>
            <a:endParaRPr lang="es-ES" sz="2400" b="1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15" name="Line 24">
            <a:extLst>
              <a:ext uri="{FF2B5EF4-FFF2-40B4-BE49-F238E27FC236}">
                <a16:creationId xmlns:a16="http://schemas.microsoft.com/office/drawing/2014/main" id="{9D486ED6-C508-E5B7-231B-A9A6AAD9C7C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07735" y="5628424"/>
            <a:ext cx="301136" cy="420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6" name="Line 24">
            <a:extLst>
              <a:ext uri="{FF2B5EF4-FFF2-40B4-BE49-F238E27FC236}">
                <a16:creationId xmlns:a16="http://schemas.microsoft.com/office/drawing/2014/main" id="{2E916B96-A2DA-CC64-3415-BE38CA7967D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643990" y="4826704"/>
            <a:ext cx="301136" cy="420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7" name="Line 24">
            <a:extLst>
              <a:ext uri="{FF2B5EF4-FFF2-40B4-BE49-F238E27FC236}">
                <a16:creationId xmlns:a16="http://schemas.microsoft.com/office/drawing/2014/main" id="{119BCD57-C57E-86F5-FA68-215F281F537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592695" y="4889093"/>
            <a:ext cx="211189" cy="289956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7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15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1000"/>
                            </p:stCondLst>
                            <p:childTnLst>
                              <p:par>
                                <p:cTn id="1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6" dur="500"/>
                                        <p:tgtEl>
                                          <p:spTgt spid="628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41" dur="500"/>
                                        <p:tgtEl>
                                          <p:spTgt spid="37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/>
      <p:bldP spid="628746" grpId="0" animBg="1"/>
      <p:bldP spid="37931" grpId="0" animBg="1"/>
      <p:bldP spid="15401" grpId="0" animBg="1"/>
      <p:bldP spid="37928" grpId="0" animBg="1"/>
      <p:bldP spid="6" grpId="0" animBg="1"/>
      <p:bldP spid="96" grpId="0" animBg="1"/>
      <p:bldP spid="101" grpId="0" animBg="1"/>
      <p:bldP spid="20" grpId="0" animBg="1"/>
      <p:bldP spid="2" grpId="0" animBg="1"/>
      <p:bldP spid="9" grpId="0" animBg="1"/>
      <p:bldP spid="11" grpId="0"/>
      <p:bldP spid="12" grpId="0" animBg="1"/>
      <p:bldP spid="15" grpId="0" animBg="1"/>
      <p:bldP spid="16" grpId="0" animBg="1"/>
      <p:bldP spid="1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78" name="Oval 63"/>
          <p:cNvSpPr>
            <a:spLocks noChangeArrowheads="1"/>
          </p:cNvSpPr>
          <p:nvPr/>
        </p:nvSpPr>
        <p:spPr bwMode="auto">
          <a:xfrm>
            <a:off x="3401987" y="4889872"/>
            <a:ext cx="3060700" cy="622182"/>
          </a:xfrm>
          <a:prstGeom prst="ellipse">
            <a:avLst/>
          </a:prstGeom>
          <a:solidFill>
            <a:srgbClr val="FFFF99"/>
          </a:solidFill>
          <a:ln w="25400" algn="ctr">
            <a:solidFill>
              <a:srgbClr val="008000"/>
            </a:solidFill>
            <a:round/>
            <a:headEnd/>
            <a:tailEnd type="none" w="lg" len="lg"/>
          </a:ln>
        </p:spPr>
        <p:txBody>
          <a:bodyPr wrap="none" lIns="90000" tIns="82800" rIns="90000" bIns="82800" anchor="ctr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>
              <a:solidFill>
                <a:srgbClr val="D60093"/>
              </a:solidFill>
            </a:endParaRPr>
          </a:p>
        </p:txBody>
      </p:sp>
      <p:grpSp>
        <p:nvGrpSpPr>
          <p:cNvPr id="3" name="Grupo 2"/>
          <p:cNvGrpSpPr>
            <a:grpSpLocks/>
          </p:cNvGrpSpPr>
          <p:nvPr/>
        </p:nvGrpSpPr>
        <p:grpSpPr bwMode="auto">
          <a:xfrm>
            <a:off x="1341150" y="1188673"/>
            <a:ext cx="2668589" cy="1041400"/>
            <a:chOff x="6348831" y="1433262"/>
            <a:chExt cx="2669135" cy="1041651"/>
          </a:xfrm>
        </p:grpSpPr>
        <p:sp>
          <p:nvSpPr>
            <p:cNvPr id="17474" name="Rectangle 6"/>
            <p:cNvSpPr>
              <a:spLocks noChangeArrowheads="1"/>
            </p:cNvSpPr>
            <p:nvPr/>
          </p:nvSpPr>
          <p:spPr bwMode="auto">
            <a:xfrm>
              <a:off x="6348831" y="1433262"/>
              <a:ext cx="2669135" cy="1004888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>
                <a:solidFill>
                  <a:srgbClr val="D60093"/>
                </a:solidFill>
              </a:endParaRPr>
            </a:p>
          </p:txBody>
        </p:sp>
        <p:graphicFrame>
          <p:nvGraphicFramePr>
            <p:cNvPr id="17476" name="Object 9"/>
            <p:cNvGraphicFramePr>
              <a:graphicFrameLocks noChangeAspect="1"/>
            </p:cNvGraphicFramePr>
            <p:nvPr/>
          </p:nvGraphicFramePr>
          <p:xfrm>
            <a:off x="6704005" y="1566863"/>
            <a:ext cx="2039935" cy="908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736600" imgH="330200" progId="Equation.3">
                    <p:embed/>
                  </p:oleObj>
                </mc:Choice>
                <mc:Fallback>
                  <p:oleObj name="Ecuación" r:id="rId3" imgW="736600" imgH="330200" progId="Equation.3">
                    <p:embed/>
                    <p:pic>
                      <p:nvPicPr>
                        <p:cNvPr id="17476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04005" y="1566863"/>
                          <a:ext cx="2039935" cy="9080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" name="Grupo 1"/>
          <p:cNvGrpSpPr>
            <a:grpSpLocks/>
          </p:cNvGrpSpPr>
          <p:nvPr/>
        </p:nvGrpSpPr>
        <p:grpSpPr bwMode="auto">
          <a:xfrm>
            <a:off x="4536974" y="356372"/>
            <a:ext cx="5701289" cy="536549"/>
            <a:chOff x="4743450" y="444860"/>
            <a:chExt cx="5701289" cy="536549"/>
          </a:xfrm>
        </p:grpSpPr>
        <p:sp>
          <p:nvSpPr>
            <p:cNvPr id="17472" name="Rectangle 2"/>
            <p:cNvSpPr>
              <a:spLocks noChangeArrowheads="1"/>
            </p:cNvSpPr>
            <p:nvPr/>
          </p:nvSpPr>
          <p:spPr bwMode="auto">
            <a:xfrm>
              <a:off x="4743450" y="452438"/>
              <a:ext cx="2668588" cy="50958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82800" rIns="90000" bIns="82800" anchor="ctr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>
                <a:solidFill>
                  <a:srgbClr val="D60093"/>
                </a:solidFill>
              </a:endParaRPr>
            </a:p>
          </p:txBody>
        </p:sp>
        <p:sp>
          <p:nvSpPr>
            <p:cNvPr id="17473" name="Text Box 26"/>
            <p:cNvSpPr txBox="1">
              <a:spLocks noChangeArrowheads="1"/>
            </p:cNvSpPr>
            <p:nvPr/>
          </p:nvSpPr>
          <p:spPr bwMode="auto">
            <a:xfrm>
              <a:off x="9426214" y="444860"/>
              <a:ext cx="1018525" cy="536549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b="1">
                  <a:solidFill>
                    <a:schemeClr val="tx1"/>
                  </a:solidFill>
                </a:rPr>
                <a:t>s. XIX</a:t>
              </a:r>
            </a:p>
          </p:txBody>
        </p:sp>
      </p:grpSp>
      <p:sp>
        <p:nvSpPr>
          <p:cNvPr id="17416" name="Rectangle 3"/>
          <p:cNvSpPr>
            <a:spLocks noChangeArrowheads="1"/>
          </p:cNvSpPr>
          <p:nvPr/>
        </p:nvSpPr>
        <p:spPr bwMode="auto">
          <a:xfrm>
            <a:off x="1293712" y="373488"/>
            <a:ext cx="8931275" cy="469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tabLst>
                <a:tab pos="196850" algn="r"/>
                <a:tab pos="2940050" algn="ctr"/>
                <a:tab pos="5880100" algn="r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95363">
              <a:tabLst>
                <a:tab pos="196850" algn="r"/>
                <a:tab pos="2940050" algn="ctr"/>
                <a:tab pos="5880100" algn="r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95363">
              <a:tabLst>
                <a:tab pos="196850" algn="r"/>
                <a:tab pos="2940050" algn="ctr"/>
                <a:tab pos="5880100" algn="r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95363">
              <a:tabLst>
                <a:tab pos="196850" algn="r"/>
                <a:tab pos="2940050" algn="ctr"/>
                <a:tab pos="5880100" algn="r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95363">
              <a:tabLst>
                <a:tab pos="196850" algn="r"/>
                <a:tab pos="2940050" algn="ctr"/>
                <a:tab pos="5880100" algn="r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0"/>
              </a:spcBef>
              <a:spcAft>
                <a:spcPct val="0"/>
              </a:spcAft>
              <a:tabLst>
                <a:tab pos="196850" algn="r"/>
                <a:tab pos="2940050" algn="ctr"/>
                <a:tab pos="5880100" algn="r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0"/>
              </a:spcBef>
              <a:spcAft>
                <a:spcPct val="0"/>
              </a:spcAft>
              <a:tabLst>
                <a:tab pos="196850" algn="r"/>
                <a:tab pos="2940050" algn="ctr"/>
                <a:tab pos="5880100" algn="r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0"/>
              </a:spcBef>
              <a:spcAft>
                <a:spcPct val="0"/>
              </a:spcAft>
              <a:tabLst>
                <a:tab pos="196850" algn="r"/>
                <a:tab pos="2940050" algn="ctr"/>
                <a:tab pos="5880100" algn="r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0"/>
              </a:spcBef>
              <a:spcAft>
                <a:spcPct val="0"/>
              </a:spcAft>
              <a:tabLst>
                <a:tab pos="196850" algn="r"/>
                <a:tab pos="2940050" algn="ctr"/>
                <a:tab pos="5880100" algn="r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" sz="2400" b="1">
                <a:solidFill>
                  <a:srgbClr val="CC0000"/>
                </a:solidFill>
              </a:rPr>
              <a:t>5.3.2 FUENTES DE B:  LEY DE AMPÈRE</a:t>
            </a:r>
          </a:p>
        </p:txBody>
      </p:sp>
      <p:sp>
        <p:nvSpPr>
          <p:cNvPr id="17417" name="Line 4"/>
          <p:cNvSpPr>
            <a:spLocks noChangeShapeType="1"/>
          </p:cNvSpPr>
          <p:nvPr/>
        </p:nvSpPr>
        <p:spPr bwMode="auto">
          <a:xfrm flipV="1">
            <a:off x="4167087" y="443325"/>
            <a:ext cx="215900" cy="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0000" tIns="82800" rIns="90000" bIns="82800">
            <a:spAutoFit/>
          </a:bodyPr>
          <a:lstStyle/>
          <a:p>
            <a:endParaRPr lang="en-GB"/>
          </a:p>
        </p:txBody>
      </p:sp>
      <p:sp>
        <p:nvSpPr>
          <p:cNvPr id="571399" name="Text Box 7"/>
          <p:cNvSpPr txBox="1">
            <a:spLocks noChangeArrowheads="1"/>
          </p:cNvSpPr>
          <p:nvPr/>
        </p:nvSpPr>
        <p:spPr bwMode="auto">
          <a:xfrm>
            <a:off x="4180328" y="1199656"/>
            <a:ext cx="6145141" cy="21263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txBody>
          <a:bodyPr wrap="square" lIns="180000" tIns="108000" rIns="180000" bIns="108000" anchor="ctr" anchorCtr="1">
            <a:spAutoFit/>
          </a:bodyPr>
          <a:lstStyle>
            <a:lvl1pPr defTabSz="1008063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1008063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1008063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1008063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1008063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defRPr/>
            </a:pPr>
            <a:r>
              <a:rPr lang="es-ES" sz="2400" dirty="0">
                <a:solidFill>
                  <a:schemeClr val="tx1"/>
                </a:solidFill>
              </a:rPr>
              <a:t>La circulación del campo magnético a lo largo de cualquier camino cerrado, C, es igual a </a:t>
            </a:r>
            <a:r>
              <a:rPr lang="es-ES" sz="2800" dirty="0">
                <a:solidFill>
                  <a:schemeClr val="tx1"/>
                </a:solidFill>
                <a:sym typeface="Symbol" panose="05050102010706020507" pitchFamily="18" charset="2"/>
              </a:rPr>
              <a:t></a:t>
            </a:r>
            <a:r>
              <a:rPr lang="es-ES" sz="2800" baseline="-25000" dirty="0">
                <a:solidFill>
                  <a:schemeClr val="tx1"/>
                </a:solidFill>
              </a:rPr>
              <a:t>o</a:t>
            </a:r>
            <a:r>
              <a:rPr lang="es-ES" sz="2400" dirty="0">
                <a:solidFill>
                  <a:schemeClr val="tx1"/>
                </a:solidFill>
              </a:rPr>
              <a:t> multiplicada por la intensidad de corriente neta, </a:t>
            </a:r>
            <a:r>
              <a:rPr lang="es-ES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I</a:t>
            </a:r>
            <a:r>
              <a:rPr lang="es-ES" sz="2400" dirty="0">
                <a:solidFill>
                  <a:schemeClr val="tx1"/>
                </a:solidFill>
              </a:rPr>
              <a:t>, que atraviesa cualquier superficie, S, limitada por dicho camino </a:t>
            </a:r>
          </a:p>
        </p:txBody>
      </p:sp>
      <p:sp>
        <p:nvSpPr>
          <p:cNvPr id="571416" name="Text Box 24"/>
          <p:cNvSpPr txBox="1">
            <a:spLocks noChangeArrowheads="1"/>
          </p:cNvSpPr>
          <p:nvPr/>
        </p:nvSpPr>
        <p:spPr bwMode="auto">
          <a:xfrm>
            <a:off x="5997965" y="5564984"/>
            <a:ext cx="1291036" cy="1206733"/>
          </a:xfrm>
          <a:prstGeom prst="rect">
            <a:avLst/>
          </a:prstGeom>
          <a:noFill/>
          <a:ln>
            <a:noFill/>
          </a:ln>
        </p:spPr>
        <p:txBody>
          <a:bodyPr wrap="none" lIns="90000" tIns="82800" rIns="90000" bIns="828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lang="es-ES" sz="2400" dirty="0" err="1">
                <a:solidFill>
                  <a:schemeClr val="tx1"/>
                </a:solidFill>
              </a:rPr>
              <a:t>B</a:t>
            </a:r>
            <a:r>
              <a:rPr lang="es-ES" sz="2400" baseline="-25000" dirty="0" err="1">
                <a:solidFill>
                  <a:schemeClr val="tx1"/>
                </a:solidFill>
              </a:rPr>
              <a:t>t</a:t>
            </a:r>
            <a:r>
              <a:rPr lang="es-ES" sz="2400" dirty="0">
                <a:solidFill>
                  <a:schemeClr val="tx1"/>
                </a:solidFill>
              </a:rPr>
              <a:t> &gt; 0</a:t>
            </a:r>
          </a:p>
          <a:p>
            <a:pPr algn="just" eaLnBrk="1" hangingPunct="1">
              <a:lnSpc>
                <a:spcPct val="150000"/>
              </a:lnSpc>
            </a:pPr>
            <a:r>
              <a:rPr lang="es-ES" sz="2400" dirty="0" err="1">
                <a:solidFill>
                  <a:schemeClr val="tx1"/>
                </a:solidFill>
              </a:rPr>
              <a:t>B</a:t>
            </a:r>
            <a:r>
              <a:rPr lang="es-ES" sz="2400" baseline="-25000" dirty="0" err="1">
                <a:solidFill>
                  <a:schemeClr val="tx1"/>
                </a:solidFill>
              </a:rPr>
              <a:t>t</a:t>
            </a:r>
            <a:r>
              <a:rPr lang="es-ES" sz="2400" dirty="0">
                <a:solidFill>
                  <a:schemeClr val="tx1"/>
                </a:solidFill>
              </a:rPr>
              <a:t> dl &gt; 0</a:t>
            </a:r>
          </a:p>
        </p:txBody>
      </p:sp>
      <p:sp>
        <p:nvSpPr>
          <p:cNvPr id="571431" name="Text Box 39"/>
          <p:cNvSpPr txBox="1">
            <a:spLocks noChangeArrowheads="1"/>
          </p:cNvSpPr>
          <p:nvPr/>
        </p:nvSpPr>
        <p:spPr bwMode="auto">
          <a:xfrm>
            <a:off x="1558242" y="4490285"/>
            <a:ext cx="1323082" cy="905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rgbClr val="008000"/>
                </a:solidFill>
              </a:rPr>
              <a:t>Camino cerrado</a:t>
            </a:r>
            <a:endParaRPr lang="es-ES" sz="2400" dirty="0">
              <a:solidFill>
                <a:schemeClr val="tx1"/>
              </a:solidFill>
            </a:endParaRPr>
          </a:p>
        </p:txBody>
      </p:sp>
      <p:sp>
        <p:nvSpPr>
          <p:cNvPr id="571433" name="Text Box 41"/>
          <p:cNvSpPr txBox="1">
            <a:spLocks noChangeArrowheads="1"/>
          </p:cNvSpPr>
          <p:nvPr/>
        </p:nvSpPr>
        <p:spPr bwMode="auto">
          <a:xfrm>
            <a:off x="2405875" y="5559471"/>
            <a:ext cx="1291036" cy="1206733"/>
          </a:xfrm>
          <a:prstGeom prst="rect">
            <a:avLst/>
          </a:prstGeom>
          <a:noFill/>
          <a:ln>
            <a:noFill/>
          </a:ln>
        </p:spPr>
        <p:txBody>
          <a:bodyPr wrap="none" lIns="90000" tIns="82800" rIns="90000" bIns="828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lnSpc>
                <a:spcPct val="150000"/>
              </a:lnSpc>
            </a:pPr>
            <a:r>
              <a:rPr lang="es-ES" sz="2400" dirty="0" err="1">
                <a:solidFill>
                  <a:schemeClr val="tx1"/>
                </a:solidFill>
              </a:rPr>
              <a:t>B</a:t>
            </a:r>
            <a:r>
              <a:rPr lang="es-ES" sz="2400" baseline="-25000" dirty="0" err="1">
                <a:solidFill>
                  <a:schemeClr val="tx1"/>
                </a:solidFill>
              </a:rPr>
              <a:t>t</a:t>
            </a:r>
            <a:r>
              <a:rPr lang="es-ES" sz="2400" dirty="0">
                <a:solidFill>
                  <a:schemeClr val="tx1"/>
                </a:solidFill>
              </a:rPr>
              <a:t> &lt; 0</a:t>
            </a:r>
          </a:p>
          <a:p>
            <a:pPr algn="r" eaLnBrk="1" hangingPunct="1">
              <a:lnSpc>
                <a:spcPct val="150000"/>
              </a:lnSpc>
            </a:pPr>
            <a:r>
              <a:rPr lang="es-ES" sz="2400" dirty="0" err="1">
                <a:solidFill>
                  <a:schemeClr val="tx1"/>
                </a:solidFill>
              </a:rPr>
              <a:t>B</a:t>
            </a:r>
            <a:r>
              <a:rPr lang="es-ES" sz="2400" baseline="-25000" dirty="0" err="1">
                <a:solidFill>
                  <a:schemeClr val="tx1"/>
                </a:solidFill>
              </a:rPr>
              <a:t>t</a:t>
            </a:r>
            <a:r>
              <a:rPr lang="es-ES" sz="2400" dirty="0">
                <a:solidFill>
                  <a:schemeClr val="tx1"/>
                </a:solidFill>
              </a:rPr>
              <a:t> dl &lt; 0</a:t>
            </a:r>
          </a:p>
        </p:txBody>
      </p:sp>
      <p:grpSp>
        <p:nvGrpSpPr>
          <p:cNvPr id="571499" name="Group 107"/>
          <p:cNvGrpSpPr>
            <a:grpSpLocks/>
          </p:cNvGrpSpPr>
          <p:nvPr/>
        </p:nvGrpSpPr>
        <p:grpSpPr bwMode="auto">
          <a:xfrm>
            <a:off x="2936849" y="4711954"/>
            <a:ext cx="3514724" cy="811213"/>
            <a:chOff x="850" y="3513"/>
            <a:chExt cx="2214" cy="511"/>
          </a:xfrm>
        </p:grpSpPr>
        <p:sp>
          <p:nvSpPr>
            <p:cNvPr id="17466" name="Oval 63"/>
            <p:cNvSpPr>
              <a:spLocks noChangeArrowheads="1"/>
            </p:cNvSpPr>
            <p:nvPr/>
          </p:nvSpPr>
          <p:spPr bwMode="auto">
            <a:xfrm>
              <a:off x="1136" y="3632"/>
              <a:ext cx="1928" cy="392"/>
            </a:xfrm>
            <a:prstGeom prst="ellipse">
              <a:avLst/>
            </a:prstGeom>
            <a:noFill/>
            <a:ln w="25400" algn="ctr">
              <a:solidFill>
                <a:srgbClr val="008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 anchor="ctr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>
                <a:solidFill>
                  <a:srgbClr val="D60093"/>
                </a:solidFill>
              </a:endParaRPr>
            </a:p>
          </p:txBody>
        </p:sp>
        <p:sp>
          <p:nvSpPr>
            <p:cNvPr id="17467" name="Text Box 77"/>
            <p:cNvSpPr txBox="1">
              <a:spLocks noChangeArrowheads="1"/>
            </p:cNvSpPr>
            <p:nvPr/>
          </p:nvSpPr>
          <p:spPr bwMode="auto">
            <a:xfrm>
              <a:off x="850" y="3513"/>
              <a:ext cx="233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b="1" dirty="0">
                  <a:solidFill>
                    <a:srgbClr val="008000"/>
                  </a:solidFill>
                  <a:latin typeface="Comic Sans MS" panose="030F0702030302020204" pitchFamily="66" charset="0"/>
                </a:rPr>
                <a:t>C</a:t>
              </a:r>
            </a:p>
          </p:txBody>
        </p:sp>
      </p:grpSp>
      <p:grpSp>
        <p:nvGrpSpPr>
          <p:cNvPr id="11" name="Grupo 10"/>
          <p:cNvGrpSpPr/>
          <p:nvPr/>
        </p:nvGrpSpPr>
        <p:grpSpPr>
          <a:xfrm>
            <a:off x="6599119" y="4294831"/>
            <a:ext cx="496812" cy="477445"/>
            <a:chOff x="7079298" y="4873353"/>
            <a:chExt cx="496812" cy="477445"/>
          </a:xfrm>
        </p:grpSpPr>
        <p:sp>
          <p:nvSpPr>
            <p:cNvPr id="10" name="Rectángulo 9"/>
            <p:cNvSpPr/>
            <p:nvPr/>
          </p:nvSpPr>
          <p:spPr bwMode="auto">
            <a:xfrm rot="19084679">
              <a:off x="7079298" y="4881048"/>
              <a:ext cx="487680" cy="469750"/>
            </a:xfrm>
            <a:prstGeom prst="rect">
              <a:avLst/>
            </a:prstGeom>
            <a:solidFill>
              <a:srgbClr val="FFFF00"/>
            </a:solidFill>
            <a:ln w="25400" cap="flat" cmpd="sng" algn="ctr">
              <a:noFill/>
              <a:prstDash val="solid"/>
              <a:round/>
              <a:headEnd type="none" w="med" len="med"/>
              <a:tailEnd type="stealth" w="lg" len="lg"/>
            </a:ln>
            <a:effectLst/>
            <a:extLs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vert="horz" wrap="non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endParaRPr>
            </a:p>
          </p:txBody>
        </p:sp>
        <p:grpSp>
          <p:nvGrpSpPr>
            <p:cNvPr id="571479" name="Group 87"/>
            <p:cNvGrpSpPr>
              <a:grpSpLocks/>
            </p:cNvGrpSpPr>
            <p:nvPr/>
          </p:nvGrpSpPr>
          <p:grpSpPr bwMode="auto">
            <a:xfrm rot="19671486">
              <a:off x="7144310" y="4873353"/>
              <a:ext cx="431800" cy="420687"/>
              <a:chOff x="6083" y="3089"/>
              <a:chExt cx="272" cy="265"/>
            </a:xfrm>
          </p:grpSpPr>
          <p:sp>
            <p:nvSpPr>
              <p:cNvPr id="17463" name="Line 84"/>
              <p:cNvSpPr>
                <a:spLocks noChangeShapeType="1"/>
              </p:cNvSpPr>
              <p:nvPr/>
            </p:nvSpPr>
            <p:spPr bwMode="auto">
              <a:xfrm rot="10415585" flipH="1">
                <a:off x="6098" y="3207"/>
                <a:ext cx="257" cy="14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>
                  <a:solidFill>
                    <a:schemeClr val="tx1"/>
                  </a:solidFill>
                </a:endParaRPr>
              </a:p>
            </p:txBody>
          </p:sp>
          <p:sp>
            <p:nvSpPr>
              <p:cNvPr id="17464" name="Line 85"/>
              <p:cNvSpPr>
                <a:spLocks noChangeShapeType="1"/>
              </p:cNvSpPr>
              <p:nvPr/>
            </p:nvSpPr>
            <p:spPr bwMode="auto">
              <a:xfrm rot="10415585">
                <a:off x="6083" y="3089"/>
                <a:ext cx="251" cy="10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>
                  <a:solidFill>
                    <a:schemeClr val="tx1"/>
                  </a:solidFill>
                </a:endParaRPr>
              </a:p>
            </p:txBody>
          </p:sp>
          <p:sp>
            <p:nvSpPr>
              <p:cNvPr id="17465" name="Oval 86"/>
              <p:cNvSpPr>
                <a:spLocks noChangeArrowheads="1"/>
              </p:cNvSpPr>
              <p:nvPr/>
            </p:nvSpPr>
            <p:spPr bwMode="auto">
              <a:xfrm rot="10415585">
                <a:off x="6132" y="3128"/>
                <a:ext cx="56" cy="19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571522" name="Group 130"/>
          <p:cNvGrpSpPr>
            <a:grpSpLocks/>
          </p:cNvGrpSpPr>
          <p:nvPr/>
        </p:nvGrpSpPr>
        <p:grpSpPr bwMode="auto">
          <a:xfrm>
            <a:off x="3657574" y="4894516"/>
            <a:ext cx="1206500" cy="622300"/>
            <a:chOff x="1130" y="3538"/>
            <a:chExt cx="760" cy="392"/>
          </a:xfrm>
        </p:grpSpPr>
        <p:sp>
          <p:nvSpPr>
            <p:cNvPr id="17462" name="Line 80"/>
            <p:cNvSpPr>
              <a:spLocks noChangeShapeType="1"/>
            </p:cNvSpPr>
            <p:nvPr/>
          </p:nvSpPr>
          <p:spPr bwMode="auto">
            <a:xfrm flipH="1">
              <a:off x="1130" y="3928"/>
              <a:ext cx="760" cy="0"/>
            </a:xfrm>
            <a:prstGeom prst="line">
              <a:avLst/>
            </a:prstGeom>
            <a:noFill/>
            <a:ln w="63500">
              <a:solidFill>
                <a:srgbClr val="008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pPr>
                <a:defRPr/>
              </a:pPr>
              <a:endParaRPr lang="es-ES"/>
            </a:p>
          </p:txBody>
        </p:sp>
        <p:graphicFrame>
          <p:nvGraphicFramePr>
            <p:cNvPr id="5" name="Object 9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00789508"/>
                </p:ext>
              </p:extLst>
            </p:nvPr>
          </p:nvGraphicFramePr>
          <p:xfrm>
            <a:off x="1396" y="3538"/>
            <a:ext cx="277" cy="3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177569" imgH="253670" progId="Equation.3">
                    <p:embed/>
                  </p:oleObj>
                </mc:Choice>
                <mc:Fallback>
                  <p:oleObj name="Ecuación" r:id="rId5" imgW="177569" imgH="253670" progId="Equation.3">
                    <p:embed/>
                    <p:pic>
                      <p:nvPicPr>
                        <p:cNvPr id="5" name="Object 9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6" y="3538"/>
                          <a:ext cx="277" cy="3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71521" name="Group 129"/>
          <p:cNvGrpSpPr>
            <a:grpSpLocks/>
          </p:cNvGrpSpPr>
          <p:nvPr/>
        </p:nvGrpSpPr>
        <p:grpSpPr bwMode="auto">
          <a:xfrm>
            <a:off x="4902174" y="4948491"/>
            <a:ext cx="1206500" cy="565150"/>
            <a:chOff x="1914" y="3572"/>
            <a:chExt cx="760" cy="356"/>
          </a:xfrm>
        </p:grpSpPr>
        <p:sp>
          <p:nvSpPr>
            <p:cNvPr id="17460" name="Line 75"/>
            <p:cNvSpPr>
              <a:spLocks noChangeShapeType="1"/>
            </p:cNvSpPr>
            <p:nvPr/>
          </p:nvSpPr>
          <p:spPr bwMode="auto">
            <a:xfrm>
              <a:off x="1914" y="3928"/>
              <a:ext cx="760" cy="0"/>
            </a:xfrm>
            <a:prstGeom prst="line">
              <a:avLst/>
            </a:prstGeom>
            <a:noFill/>
            <a:ln w="63500">
              <a:solidFill>
                <a:srgbClr val="008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pPr>
                <a:defRPr/>
              </a:pPr>
              <a:endParaRPr lang="es-ES"/>
            </a:p>
          </p:txBody>
        </p:sp>
        <p:graphicFrame>
          <p:nvGraphicFramePr>
            <p:cNvPr id="7" name="Object 9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11416920"/>
                </p:ext>
              </p:extLst>
            </p:nvPr>
          </p:nvGraphicFramePr>
          <p:xfrm>
            <a:off x="2180" y="3572"/>
            <a:ext cx="252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7" imgW="203024" imgH="266469" progId="Equation.3">
                    <p:embed/>
                  </p:oleObj>
                </mc:Choice>
                <mc:Fallback>
                  <p:oleObj name="Ecuación" r:id="rId7" imgW="203024" imgH="266469" progId="Equation.3">
                    <p:embed/>
                    <p:pic>
                      <p:nvPicPr>
                        <p:cNvPr id="7" name="Object 9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80" y="3572"/>
                          <a:ext cx="252" cy="3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71500" name="Group 108"/>
          <p:cNvGrpSpPr>
            <a:grpSpLocks/>
          </p:cNvGrpSpPr>
          <p:nvPr/>
        </p:nvGrpSpPr>
        <p:grpSpPr bwMode="auto">
          <a:xfrm>
            <a:off x="4684687" y="4929441"/>
            <a:ext cx="419100" cy="720725"/>
            <a:chOff x="1951" y="3650"/>
            <a:chExt cx="264" cy="454"/>
          </a:xfrm>
        </p:grpSpPr>
        <p:sp>
          <p:nvSpPr>
            <p:cNvPr id="17444" name="Line 64"/>
            <p:cNvSpPr>
              <a:spLocks noChangeShapeType="1"/>
            </p:cNvSpPr>
            <p:nvPr/>
          </p:nvSpPr>
          <p:spPr bwMode="auto">
            <a:xfrm>
              <a:off x="1952" y="3944"/>
              <a:ext cx="0" cy="1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17445" name="Line 65"/>
            <p:cNvSpPr>
              <a:spLocks noChangeShapeType="1"/>
            </p:cNvSpPr>
            <p:nvPr/>
          </p:nvSpPr>
          <p:spPr bwMode="auto">
            <a:xfrm>
              <a:off x="2184" y="3944"/>
              <a:ext cx="0" cy="1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17446" name="Text Box 93"/>
            <p:cNvSpPr txBox="1">
              <a:spLocks noChangeArrowheads="1"/>
            </p:cNvSpPr>
            <p:nvPr/>
          </p:nvSpPr>
          <p:spPr bwMode="auto">
            <a:xfrm>
              <a:off x="1951" y="3650"/>
              <a:ext cx="264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/>
                <a:t>dl</a:t>
              </a:r>
            </a:p>
          </p:txBody>
        </p:sp>
      </p:grpSp>
      <p:grpSp>
        <p:nvGrpSpPr>
          <p:cNvPr id="13" name="Grupo 12"/>
          <p:cNvGrpSpPr/>
          <p:nvPr/>
        </p:nvGrpSpPr>
        <p:grpSpPr>
          <a:xfrm>
            <a:off x="4095407" y="5640641"/>
            <a:ext cx="1685925" cy="925551"/>
            <a:chOff x="4955858" y="5818188"/>
            <a:chExt cx="1685925" cy="925551"/>
          </a:xfrm>
        </p:grpSpPr>
        <p:sp>
          <p:nvSpPr>
            <p:cNvPr id="68" name="Text Box 39"/>
            <p:cNvSpPr txBox="1">
              <a:spLocks noChangeArrowheads="1"/>
            </p:cNvSpPr>
            <p:nvPr/>
          </p:nvSpPr>
          <p:spPr bwMode="auto">
            <a:xfrm>
              <a:off x="4955858" y="6133324"/>
              <a:ext cx="1685925" cy="6104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50000"/>
                </a:spcBef>
              </a:pPr>
              <a:r>
                <a:rPr lang="es-ES" sz="2400" dirty="0">
                  <a:solidFill>
                    <a:srgbClr val="3333FF"/>
                  </a:solidFill>
                </a:rPr>
                <a:t>Antihorario</a:t>
              </a:r>
            </a:p>
          </p:txBody>
        </p:sp>
        <p:graphicFrame>
          <p:nvGraphicFramePr>
            <p:cNvPr id="17440" name="Object 8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94357505"/>
                </p:ext>
              </p:extLst>
            </p:nvPr>
          </p:nvGraphicFramePr>
          <p:xfrm>
            <a:off x="5535295" y="5818188"/>
            <a:ext cx="425450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9" imgW="215713" imgH="241091" progId="Equation.3">
                    <p:embed/>
                  </p:oleObj>
                </mc:Choice>
                <mc:Fallback>
                  <p:oleObj name="Ecuación" r:id="rId9" imgW="215713" imgH="241091" progId="Equation.3">
                    <p:embed/>
                    <p:pic>
                      <p:nvPicPr>
                        <p:cNvPr id="17440" name="Object 8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35295" y="5818188"/>
                          <a:ext cx="425450" cy="469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3" name="Text Box 46"/>
          <p:cNvSpPr txBox="1">
            <a:spLocks noChangeArrowheads="1"/>
          </p:cNvSpPr>
          <p:nvPr/>
        </p:nvSpPr>
        <p:spPr bwMode="auto">
          <a:xfrm>
            <a:off x="8392819" y="4096357"/>
            <a:ext cx="1922006" cy="127521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 dirty="0" err="1">
                <a:solidFill>
                  <a:schemeClr val="tx1"/>
                </a:solidFill>
                <a:latin typeface="Comic Sans MS" panose="030F0702030302020204" pitchFamily="66" charset="0"/>
              </a:rPr>
              <a:t>I</a:t>
            </a:r>
            <a:r>
              <a:rPr lang="es-ES" sz="2400" baseline="-25000" dirty="0" err="1">
                <a:solidFill>
                  <a:schemeClr val="tx1"/>
                </a:solidFill>
                <a:latin typeface="Comic Sans MS" panose="030F0702030302020204" pitchFamily="66" charset="0"/>
              </a:rPr>
              <a:t>individual</a:t>
            </a:r>
            <a:r>
              <a:rPr lang="es-ES" sz="2400" baseline="-25000" dirty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  <a:r>
              <a:rPr lang="es-ES" sz="2400" dirty="0">
                <a:solidFill>
                  <a:schemeClr val="tx1"/>
                </a:solidFill>
              </a:rPr>
              <a:t> &gt; 0</a:t>
            </a:r>
          </a:p>
          <a:p>
            <a:pPr algn="ctr"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</a:rPr>
              <a:t>si cruza S</a:t>
            </a:r>
          </a:p>
          <a:p>
            <a:pPr algn="ctr"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</a:rPr>
              <a:t>viniendo</a:t>
            </a:r>
          </a:p>
        </p:txBody>
      </p:sp>
      <p:sp>
        <p:nvSpPr>
          <p:cNvPr id="54" name="Text Box 47"/>
          <p:cNvSpPr txBox="1">
            <a:spLocks noChangeArrowheads="1"/>
          </p:cNvSpPr>
          <p:nvPr/>
        </p:nvSpPr>
        <p:spPr bwMode="auto">
          <a:xfrm>
            <a:off x="8392819" y="5483304"/>
            <a:ext cx="1935281" cy="127521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 dirty="0" err="1">
                <a:solidFill>
                  <a:schemeClr val="tx1"/>
                </a:solidFill>
                <a:latin typeface="Comic Sans MS" panose="030F0702030302020204" pitchFamily="66" charset="0"/>
              </a:rPr>
              <a:t>I</a:t>
            </a:r>
            <a:r>
              <a:rPr lang="es-ES" sz="2400" baseline="-25000" dirty="0" err="1">
                <a:solidFill>
                  <a:schemeClr val="tx1"/>
                </a:solidFill>
                <a:latin typeface="Comic Sans MS" panose="030F0702030302020204" pitchFamily="66" charset="0"/>
              </a:rPr>
              <a:t>individual</a:t>
            </a:r>
            <a:r>
              <a:rPr lang="es-ES" sz="2400" baseline="-25000" dirty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  <a:r>
              <a:rPr lang="es-ES" sz="2400" dirty="0">
                <a:solidFill>
                  <a:schemeClr val="tx1"/>
                </a:solidFill>
              </a:rPr>
              <a:t>&lt; 0</a:t>
            </a:r>
          </a:p>
          <a:p>
            <a:pPr algn="ctr"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</a:rPr>
              <a:t>si cruza S</a:t>
            </a:r>
          </a:p>
          <a:p>
            <a:pPr algn="ctr"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</a:rPr>
              <a:t>alejándose</a:t>
            </a:r>
          </a:p>
        </p:txBody>
      </p:sp>
      <p:grpSp>
        <p:nvGrpSpPr>
          <p:cNvPr id="19" name="Grupo 18"/>
          <p:cNvGrpSpPr/>
          <p:nvPr/>
        </p:nvGrpSpPr>
        <p:grpSpPr>
          <a:xfrm>
            <a:off x="3594755" y="4064169"/>
            <a:ext cx="2292427" cy="1168114"/>
            <a:chOff x="5381011" y="4251775"/>
            <a:chExt cx="2292427" cy="1168114"/>
          </a:xfrm>
        </p:grpSpPr>
        <p:sp>
          <p:nvSpPr>
            <p:cNvPr id="17479" name="Text Box 22"/>
            <p:cNvSpPr txBox="1">
              <a:spLocks noChangeArrowheads="1"/>
            </p:cNvSpPr>
            <p:nvPr/>
          </p:nvSpPr>
          <p:spPr bwMode="auto">
            <a:xfrm>
              <a:off x="5381011" y="4251775"/>
              <a:ext cx="394958" cy="5365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S</a:t>
              </a:r>
            </a:p>
          </p:txBody>
        </p:sp>
        <p:sp>
          <p:nvSpPr>
            <p:cNvPr id="14" name="CuadroTexto 13"/>
            <p:cNvSpPr txBox="1"/>
            <p:nvPr/>
          </p:nvSpPr>
          <p:spPr>
            <a:xfrm>
              <a:off x="5672569" y="4285877"/>
              <a:ext cx="200086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2400" dirty="0">
                  <a:solidFill>
                    <a:srgbClr val="FF0000"/>
                  </a:solidFill>
                </a:rPr>
                <a:t>(por ejemplo)</a:t>
              </a:r>
            </a:p>
          </p:txBody>
        </p:sp>
        <p:cxnSp>
          <p:nvCxnSpPr>
            <p:cNvPr id="17" name="Conector recto de flecha 16"/>
            <p:cNvCxnSpPr/>
            <p:nvPr/>
          </p:nvCxnSpPr>
          <p:spPr bwMode="auto">
            <a:xfrm>
              <a:off x="5572725" y="4807889"/>
              <a:ext cx="1" cy="612000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</p:cxnSp>
      </p:grpSp>
      <p:sp>
        <p:nvSpPr>
          <p:cNvPr id="8" name="Abrir llave 7">
            <a:extLst>
              <a:ext uri="{FF2B5EF4-FFF2-40B4-BE49-F238E27FC236}">
                <a16:creationId xmlns:a16="http://schemas.microsoft.com/office/drawing/2014/main" id="{F5CF734F-954B-451D-874B-FCC764618443}"/>
              </a:ext>
            </a:extLst>
          </p:cNvPr>
          <p:cNvSpPr/>
          <p:nvPr/>
        </p:nvSpPr>
        <p:spPr bwMode="auto">
          <a:xfrm>
            <a:off x="7662485" y="4131735"/>
            <a:ext cx="474412" cy="2592000"/>
          </a:xfrm>
          <a:prstGeom prst="leftBrace">
            <a:avLst>
              <a:gd name="adj1" fmla="val 8333"/>
              <a:gd name="adj2" fmla="val 13184"/>
            </a:avLst>
          </a:prstGeom>
          <a:noFill/>
          <a:ln w="381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" name="Text Box 42">
            <a:extLst>
              <a:ext uri="{FF2B5EF4-FFF2-40B4-BE49-F238E27FC236}">
                <a16:creationId xmlns:a16="http://schemas.microsoft.com/office/drawing/2014/main" id="{83B201D8-C884-400A-86E0-ECE7A5F28F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1333" y="2881754"/>
            <a:ext cx="2648406" cy="972000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08000" tIns="72000" rIns="108000" bIns="72000" anchor="ctr" anchorCtr="1">
            <a:no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  <a:defRPr/>
            </a:pPr>
            <a:r>
              <a:rPr lang="es-ES" sz="2400" dirty="0">
                <a:solidFill>
                  <a:schemeClr val="tx1"/>
                </a:solidFill>
              </a:rPr>
              <a:t>Indica que </a:t>
            </a:r>
            <a:r>
              <a:rPr lang="es-ES" sz="2400">
                <a:solidFill>
                  <a:schemeClr val="tx1"/>
                </a:solidFill>
              </a:rPr>
              <a:t>una corriente crea </a:t>
            </a:r>
            <a:r>
              <a:rPr lang="es-ES" sz="24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49" name="Line 66">
            <a:extLst>
              <a:ext uri="{FF2B5EF4-FFF2-40B4-BE49-F238E27FC236}">
                <a16:creationId xmlns:a16="http://schemas.microsoft.com/office/drawing/2014/main" id="{D5E9A156-2797-47CB-BCF1-5FA39F5F0E9A}"/>
              </a:ext>
            </a:extLst>
          </p:cNvPr>
          <p:cNvSpPr>
            <a:spLocks noChangeShapeType="1"/>
          </p:cNvSpPr>
          <p:nvPr/>
        </p:nvSpPr>
        <p:spPr bwMode="auto">
          <a:xfrm>
            <a:off x="4693577" y="5510945"/>
            <a:ext cx="381000" cy="0"/>
          </a:xfrm>
          <a:prstGeom prst="line">
            <a:avLst/>
          </a:prstGeom>
          <a:noFill/>
          <a:ln w="76200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0000" tIns="82800" rIns="90000" bIns="82800">
            <a:spAutoFit/>
          </a:bodyPr>
          <a:lstStyle/>
          <a:p>
            <a:endParaRPr lang="en-GB"/>
          </a:p>
        </p:txBody>
      </p:sp>
      <p:sp>
        <p:nvSpPr>
          <p:cNvPr id="17441" name="Line 66"/>
          <p:cNvSpPr>
            <a:spLocks noChangeShapeType="1"/>
          </p:cNvSpPr>
          <p:nvPr/>
        </p:nvSpPr>
        <p:spPr bwMode="auto">
          <a:xfrm>
            <a:off x="4856137" y="5510945"/>
            <a:ext cx="381000" cy="0"/>
          </a:xfrm>
          <a:prstGeom prst="line">
            <a:avLst/>
          </a:prstGeom>
          <a:noFill/>
          <a:ln w="76200">
            <a:solidFill>
              <a:srgbClr val="0000FF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0000" tIns="82800" rIns="90000" bIns="82800">
            <a:spAutoFit/>
          </a:bodyPr>
          <a:lstStyle/>
          <a:p>
            <a:endParaRPr lang="en-GB"/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0D30F05E-6E97-9529-B9A2-FB4D47365642}"/>
              </a:ext>
            </a:extLst>
          </p:cNvPr>
          <p:cNvGrpSpPr/>
          <p:nvPr/>
        </p:nvGrpSpPr>
        <p:grpSpPr>
          <a:xfrm>
            <a:off x="1415906" y="2061096"/>
            <a:ext cx="1426224" cy="657263"/>
            <a:chOff x="2601774" y="2456286"/>
            <a:chExt cx="1426224" cy="657263"/>
          </a:xfrm>
        </p:grpSpPr>
        <p:sp>
          <p:nvSpPr>
            <p:cNvPr id="6" name="CuadroTexto 39">
              <a:extLst>
                <a:ext uri="{FF2B5EF4-FFF2-40B4-BE49-F238E27FC236}">
                  <a16:creationId xmlns:a16="http://schemas.microsoft.com/office/drawing/2014/main" id="{B5BE1B45-A0A1-FBD6-B2E9-63B5CFF40F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1774" y="2651884"/>
              <a:ext cx="142622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s-ES" sz="2400" dirty="0">
                  <a:solidFill>
                    <a:srgbClr val="FF0000"/>
                  </a:solidFill>
                </a:rPr>
                <a:t>EFECTO</a:t>
              </a:r>
            </a:p>
          </p:txBody>
        </p:sp>
        <p:cxnSp>
          <p:nvCxnSpPr>
            <p:cNvPr id="9" name="Conector recto de flecha 40">
              <a:extLst>
                <a:ext uri="{FF2B5EF4-FFF2-40B4-BE49-F238E27FC236}">
                  <a16:creationId xmlns:a16="http://schemas.microsoft.com/office/drawing/2014/main" id="{ACB7AB6D-6FC6-645C-01B6-C5E2158DB8E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292618" y="2456286"/>
              <a:ext cx="0" cy="245885"/>
            </a:xfrm>
            <a:prstGeom prst="straightConnector1">
              <a:avLst/>
            </a:prstGeom>
            <a:noFill/>
            <a:ln w="50800" algn="ctr">
              <a:solidFill>
                <a:srgbClr val="FF0000"/>
              </a:solidFill>
              <a:round/>
              <a:headEnd type="triangle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</p:cxn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84872D46-E46C-9350-A7D3-ADB1CD53412E}"/>
              </a:ext>
            </a:extLst>
          </p:cNvPr>
          <p:cNvGrpSpPr/>
          <p:nvPr/>
        </p:nvGrpSpPr>
        <p:grpSpPr>
          <a:xfrm>
            <a:off x="2954780" y="2056361"/>
            <a:ext cx="1245853" cy="661998"/>
            <a:chOff x="4798965" y="2441499"/>
            <a:chExt cx="1245853" cy="661998"/>
          </a:xfrm>
        </p:grpSpPr>
        <p:sp>
          <p:nvSpPr>
            <p:cNvPr id="15" name="CuadroTexto 7">
              <a:extLst>
                <a:ext uri="{FF2B5EF4-FFF2-40B4-BE49-F238E27FC236}">
                  <a16:creationId xmlns:a16="http://schemas.microsoft.com/office/drawing/2014/main" id="{79A181B6-DBDB-F50A-C401-E2E8957032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8965" y="2641832"/>
              <a:ext cx="124585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s-ES" sz="2400" dirty="0">
                  <a:solidFill>
                    <a:srgbClr val="FF0000"/>
                  </a:solidFill>
                </a:rPr>
                <a:t>CAUSA</a:t>
              </a:r>
            </a:p>
          </p:txBody>
        </p:sp>
        <p:cxnSp>
          <p:nvCxnSpPr>
            <p:cNvPr id="16" name="Conector recto de flecha 40">
              <a:extLst>
                <a:ext uri="{FF2B5EF4-FFF2-40B4-BE49-F238E27FC236}">
                  <a16:creationId xmlns:a16="http://schemas.microsoft.com/office/drawing/2014/main" id="{35D67589-9D63-FF96-68E4-99B6381CECF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424058" y="2441499"/>
              <a:ext cx="0" cy="252000"/>
            </a:xfrm>
            <a:prstGeom prst="straightConnector1">
              <a:avLst/>
            </a:prstGeom>
            <a:noFill/>
            <a:ln w="50800" algn="ctr">
              <a:solidFill>
                <a:srgbClr val="FF0000"/>
              </a:solidFill>
              <a:round/>
              <a:headEnd type="triangle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71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571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571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571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7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71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571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2" dur="500"/>
                                        <p:tgtEl>
                                          <p:spTgt spid="571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571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17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78" grpId="0" animBg="1"/>
      <p:bldP spid="571399" grpId="0" animBg="1"/>
      <p:bldP spid="571416" grpId="0"/>
      <p:bldP spid="571431" grpId="0"/>
      <p:bldP spid="571433" grpId="0"/>
      <p:bldP spid="53" grpId="0" animBg="1"/>
      <p:bldP spid="54" grpId="0" animBg="1"/>
      <p:bldP spid="8" grpId="0" animBg="1"/>
      <p:bldP spid="51" grpId="0" animBg="1"/>
      <p:bldP spid="49" grpId="0" animBg="1"/>
      <p:bldP spid="1744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35"/>
          <p:cNvSpPr>
            <a:spLocks noChangeArrowheads="1"/>
          </p:cNvSpPr>
          <p:nvPr/>
        </p:nvSpPr>
        <p:spPr bwMode="auto">
          <a:xfrm>
            <a:off x="2392145" y="425299"/>
            <a:ext cx="6746515" cy="873316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tabLst>
                <a:tab pos="180975" algn="r"/>
                <a:tab pos="2700338" algn="ctr"/>
                <a:tab pos="5400675" algn="r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180975" algn="r"/>
                <a:tab pos="2700338" algn="ctr"/>
                <a:tab pos="5400675" algn="r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180975" algn="r"/>
                <a:tab pos="2700338" algn="ctr"/>
                <a:tab pos="5400675" algn="r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180975" algn="r"/>
                <a:tab pos="2700338" algn="ctr"/>
                <a:tab pos="5400675" algn="r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180975" algn="r"/>
                <a:tab pos="2700338" algn="ctr"/>
                <a:tab pos="5400675" algn="r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r"/>
                <a:tab pos="2700338" algn="ctr"/>
                <a:tab pos="5400675" algn="r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r"/>
                <a:tab pos="2700338" algn="ctr"/>
                <a:tab pos="5400675" algn="r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r"/>
                <a:tab pos="2700338" algn="ctr"/>
                <a:tab pos="5400675" algn="r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r"/>
                <a:tab pos="2700338" algn="ctr"/>
                <a:tab pos="5400675" algn="r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10000"/>
              </a:lnSpc>
              <a:buFont typeface="Symbol" panose="05050102010706020507" pitchFamily="18" charset="2"/>
              <a:buNone/>
            </a:pP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La Ley de </a:t>
            </a:r>
            <a:r>
              <a:rPr lang="es-ES" sz="2400" dirty="0" err="1">
                <a:solidFill>
                  <a:schemeClr val="tx1"/>
                </a:solidFill>
                <a:sym typeface="Symbol" panose="05050102010706020507" pitchFamily="18" charset="2"/>
              </a:rPr>
              <a:t>Ampère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 permite deducir el </a:t>
            </a:r>
            <a:r>
              <a:rPr lang="es-ES" sz="2400" b="1" dirty="0">
                <a:solidFill>
                  <a:schemeClr val="tx1"/>
                </a:solidFill>
                <a:sym typeface="Symbol" panose="05050102010706020507" pitchFamily="18" charset="2"/>
              </a:rPr>
              <a:t>B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creado por distribuciones de </a:t>
            </a:r>
            <a:r>
              <a:rPr lang="es-ES" sz="2400" dirty="0">
                <a:solidFill>
                  <a:srgbClr val="3333FF"/>
                </a:solidFill>
                <a:sym typeface="Symbol" panose="05050102010706020507" pitchFamily="18" charset="2"/>
              </a:rPr>
              <a:t>corriente de alta simetría</a:t>
            </a:r>
          </a:p>
        </p:txBody>
      </p:sp>
      <p:sp>
        <p:nvSpPr>
          <p:cNvPr id="62" name="Text Box 81"/>
          <p:cNvSpPr txBox="1">
            <a:spLocks noChangeArrowheads="1"/>
          </p:cNvSpPr>
          <p:nvPr/>
        </p:nvSpPr>
        <p:spPr bwMode="auto">
          <a:xfrm>
            <a:off x="1248091" y="1601951"/>
            <a:ext cx="9367356" cy="90588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Es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la alternativa al </a:t>
            </a:r>
            <a:r>
              <a:rPr lang="es-ES" sz="2400" dirty="0" err="1">
                <a:solidFill>
                  <a:schemeClr val="tx1"/>
                </a:solidFill>
                <a:sym typeface="Symbol" panose="05050102010706020507" pitchFamily="18" charset="2"/>
              </a:rPr>
              <a:t>Ppo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. de Superposición y la Ley de Biot-Savart,</a:t>
            </a:r>
          </a:p>
          <a:p>
            <a:pPr algn="ctr"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es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decir, a sumar campos aportados por porciones de corriente</a:t>
            </a:r>
          </a:p>
        </p:txBody>
      </p:sp>
      <p:sp>
        <p:nvSpPr>
          <p:cNvPr id="76" name="Text Box 41"/>
          <p:cNvSpPr txBox="1">
            <a:spLocks noChangeArrowheads="1"/>
          </p:cNvSpPr>
          <p:nvPr/>
        </p:nvSpPr>
        <p:spPr bwMode="auto">
          <a:xfrm>
            <a:off x="1997838" y="2619729"/>
            <a:ext cx="8295639" cy="884070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sz="2400" b="1">
                <a:solidFill>
                  <a:srgbClr val="FFFFFF"/>
                </a:solidFill>
              </a:rPr>
              <a:t>B </a:t>
            </a:r>
            <a:r>
              <a:rPr lang="es-ES" sz="2400">
                <a:solidFill>
                  <a:srgbClr val="FFFFFF"/>
                </a:solidFill>
              </a:rPr>
              <a:t>creado por una </a:t>
            </a:r>
            <a:r>
              <a:rPr lang="en-US" sz="2400">
                <a:solidFill>
                  <a:srgbClr val="FFFFFF"/>
                </a:solidFill>
                <a:cs typeface="Arial" panose="020B0604020202020204" pitchFamily="34" charset="0"/>
              </a:rPr>
              <a:t>corriente de intensidad </a:t>
            </a:r>
            <a:r>
              <a:rPr lang="en-US" sz="2400">
                <a:solidFill>
                  <a:srgbClr val="FFFFFF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I </a:t>
            </a:r>
            <a:r>
              <a:rPr lang="en-US" sz="2400">
                <a:solidFill>
                  <a:srgbClr val="FFFFFF"/>
                </a:solidFill>
                <a:cs typeface="Arial" panose="020B0604020202020204" pitchFamily="34" charset="0"/>
              </a:rPr>
              <a:t>que circula por </a:t>
            </a:r>
            <a:r>
              <a:rPr lang="es-ES" sz="2400">
                <a:solidFill>
                  <a:srgbClr val="FFFFFF"/>
                </a:solidFill>
              </a:rPr>
              <a:t>un hilo conductor, rectilíneo, de longitud </a:t>
            </a:r>
            <a:r>
              <a:rPr lang="en-US" sz="2400">
                <a:solidFill>
                  <a:srgbClr val="FFFFFF"/>
                </a:solidFill>
                <a:cs typeface="Arial" panose="020B0604020202020204" pitchFamily="34" charset="0"/>
              </a:rPr>
              <a:t>«infinita»</a:t>
            </a:r>
          </a:p>
        </p:txBody>
      </p:sp>
      <p:sp>
        <p:nvSpPr>
          <p:cNvPr id="77" name="Text Box 147"/>
          <p:cNvSpPr txBox="1">
            <a:spLocks noChangeArrowheads="1"/>
          </p:cNvSpPr>
          <p:nvPr/>
        </p:nvSpPr>
        <p:spPr bwMode="auto">
          <a:xfrm>
            <a:off x="2748044" y="3456144"/>
            <a:ext cx="6805427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 dirty="0">
                <a:solidFill>
                  <a:srgbClr val="FF0000"/>
                </a:solidFill>
              </a:rPr>
              <a:t>(“</a:t>
            </a:r>
            <a:r>
              <a:rPr lang="es-ES" sz="2400" dirty="0">
                <a:solidFill>
                  <a:srgbClr val="FF0000"/>
                </a:solidFill>
                <a:sym typeface="Symbol" panose="05050102010706020507" pitchFamily="18" charset="2"/>
              </a:rPr>
              <a:t>” = </a:t>
            </a:r>
            <a:r>
              <a:rPr lang="es-ES" sz="2400" dirty="0">
                <a:solidFill>
                  <a:srgbClr val="FF0000"/>
                </a:solidFill>
              </a:rPr>
              <a:t>muy largo respecto a la distancia al hilo)</a:t>
            </a:r>
          </a:p>
        </p:txBody>
      </p:sp>
      <p:sp>
        <p:nvSpPr>
          <p:cNvPr id="86" name="Text Box 11"/>
          <p:cNvSpPr txBox="1">
            <a:spLocks noChangeArrowheads="1"/>
          </p:cNvSpPr>
          <p:nvPr/>
        </p:nvSpPr>
        <p:spPr bwMode="auto">
          <a:xfrm>
            <a:off x="1997838" y="4061389"/>
            <a:ext cx="8295639" cy="1275213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 b="1" dirty="0">
                <a:solidFill>
                  <a:srgbClr val="FFFFFF"/>
                </a:solidFill>
              </a:rPr>
              <a:t>B</a:t>
            </a:r>
            <a:r>
              <a:rPr lang="es-ES" sz="2400" dirty="0">
                <a:solidFill>
                  <a:srgbClr val="FFFFFF"/>
                </a:solidFill>
              </a:rPr>
              <a:t> creado </a:t>
            </a:r>
            <a:r>
              <a:rPr lang="en-US" sz="2400" dirty="0">
                <a:solidFill>
                  <a:srgbClr val="FFFFFF"/>
                </a:solidFill>
                <a:cs typeface="Arial" panose="020B0604020202020204" pitchFamily="34" charset="0"/>
              </a:rPr>
              <a:t>por una </a:t>
            </a:r>
            <a:r>
              <a:rPr lang="en-US" sz="2400" dirty="0" err="1">
                <a:solidFill>
                  <a:srgbClr val="FFFFFF"/>
                </a:solidFill>
                <a:cs typeface="Arial" panose="020B0604020202020204" pitchFamily="34" charset="0"/>
              </a:rPr>
              <a:t>corriente</a:t>
            </a:r>
            <a:r>
              <a:rPr lang="en-US" sz="2400" dirty="0">
                <a:solidFill>
                  <a:srgbClr val="FFFFFF"/>
                </a:solidFill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FFFFFF"/>
                </a:solidFill>
                <a:cs typeface="Arial" panose="020B0604020202020204" pitchFamily="34" charset="0"/>
              </a:rPr>
              <a:t>homogénea</a:t>
            </a:r>
            <a:r>
              <a:rPr lang="en-US" sz="2400" dirty="0">
                <a:solidFill>
                  <a:srgbClr val="FFFFFF"/>
                </a:solidFill>
                <a:cs typeface="Arial" panose="020B0604020202020204" pitchFamily="34" charset="0"/>
              </a:rPr>
              <a:t> de </a:t>
            </a:r>
            <a:r>
              <a:rPr lang="en-US" sz="2400" dirty="0" err="1">
                <a:solidFill>
                  <a:srgbClr val="FFFFFF"/>
                </a:solidFill>
                <a:cs typeface="Arial" panose="020B0604020202020204" pitchFamily="34" charset="0"/>
              </a:rPr>
              <a:t>intensidad</a:t>
            </a:r>
            <a:r>
              <a:rPr lang="en-US" sz="2400" dirty="0">
                <a:solidFill>
                  <a:srgbClr val="FFFFFF"/>
                </a:solidFill>
                <a:cs typeface="Arial" panose="020B0604020202020204" pitchFamily="34" charset="0"/>
              </a:rPr>
              <a:t> </a:t>
            </a:r>
            <a:r>
              <a:rPr lang="en-US" sz="2400" dirty="0">
                <a:solidFill>
                  <a:srgbClr val="FFFFFF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I</a:t>
            </a:r>
          </a:p>
          <a:p>
            <a:pPr algn="ctr" eaLnBrk="1" hangingPunct="1">
              <a:spcBef>
                <a:spcPts val="0"/>
              </a:spcBef>
            </a:pPr>
            <a:r>
              <a:rPr lang="es-ES" sz="2400" dirty="0">
                <a:solidFill>
                  <a:srgbClr val="FFFFFF"/>
                </a:solidFill>
              </a:rPr>
              <a:t>que </a:t>
            </a:r>
            <a:r>
              <a:rPr lang="es-ES" sz="2400">
                <a:solidFill>
                  <a:srgbClr val="FFFFFF"/>
                </a:solidFill>
              </a:rPr>
              <a:t>circula por </a:t>
            </a:r>
            <a:r>
              <a:rPr lang="es-ES" sz="2400" dirty="0">
                <a:solidFill>
                  <a:srgbClr val="FFFFFF"/>
                </a:solidFill>
              </a:rPr>
              <a:t>un tubo conductor, </a:t>
            </a:r>
            <a:r>
              <a:rPr lang="es-ES" sz="2400">
                <a:solidFill>
                  <a:srgbClr val="FFFFFF"/>
                </a:solidFill>
              </a:rPr>
              <a:t>recto, de </a:t>
            </a:r>
            <a:r>
              <a:rPr lang="es-ES" sz="2400" dirty="0">
                <a:solidFill>
                  <a:srgbClr val="FFFFFF"/>
                </a:solidFill>
              </a:rPr>
              <a:t>longitud </a:t>
            </a:r>
            <a:r>
              <a:rPr lang="en-US" sz="2400" dirty="0">
                <a:solidFill>
                  <a:srgbClr val="FFFFF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</a:t>
            </a:r>
            <a:r>
              <a:rPr lang="en-US" sz="2400" dirty="0">
                <a:solidFill>
                  <a:srgbClr val="FFFFFF"/>
                </a:solidFill>
                <a:cs typeface="Arial" panose="020B0604020202020204" pitchFamily="34" charset="0"/>
              </a:rPr>
              <a:t> y </a:t>
            </a:r>
            <a:r>
              <a:rPr lang="en-US" sz="2400" dirty="0" err="1">
                <a:solidFill>
                  <a:srgbClr val="FFFFFF"/>
                </a:solidFill>
                <a:cs typeface="Arial" panose="020B0604020202020204" pitchFamily="34" charset="0"/>
              </a:rPr>
              <a:t>espesor</a:t>
            </a:r>
            <a:r>
              <a:rPr lang="en-US" sz="2400" dirty="0">
                <a:solidFill>
                  <a:srgbClr val="FFFFFF"/>
                </a:solidFill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FFFFFF"/>
                </a:solidFill>
                <a:cs typeface="Arial" panose="020B0604020202020204" pitchFamily="34" charset="0"/>
              </a:rPr>
              <a:t>despreciable</a:t>
            </a:r>
            <a:r>
              <a:rPr lang="en-US" sz="2400" dirty="0">
                <a:solidFill>
                  <a:srgbClr val="FFFFFF"/>
                </a:solidFill>
                <a:cs typeface="Arial" panose="020B0604020202020204" pitchFamily="34" charset="0"/>
              </a:rPr>
              <a:t> (</a:t>
            </a:r>
            <a:r>
              <a:rPr lang="en-US" sz="2400" err="1">
                <a:solidFill>
                  <a:srgbClr val="FFFFFF"/>
                </a:solidFill>
                <a:cs typeface="Arial" panose="020B0604020202020204" pitchFamily="34" charset="0"/>
              </a:rPr>
              <a:t>hueco</a:t>
            </a:r>
            <a:r>
              <a:rPr lang="en-US" sz="2400">
                <a:solidFill>
                  <a:srgbClr val="FFFFFF"/>
                </a:solidFill>
                <a:cs typeface="Arial" panose="020B0604020202020204" pitchFamily="34" charset="0"/>
              </a:rPr>
              <a:t>), paralela a su eje </a:t>
            </a:r>
            <a:endParaRPr lang="en-US" sz="2400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87" name="Text Box 42"/>
          <p:cNvSpPr txBox="1">
            <a:spLocks noChangeArrowheads="1"/>
          </p:cNvSpPr>
          <p:nvPr/>
        </p:nvSpPr>
        <p:spPr bwMode="auto">
          <a:xfrm>
            <a:off x="3084456" y="5261181"/>
            <a:ext cx="6109068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 dirty="0">
                <a:solidFill>
                  <a:srgbClr val="FF0000"/>
                </a:solidFill>
              </a:rPr>
              <a:t>(una superficie </a:t>
            </a:r>
            <a:r>
              <a:rPr lang="es-ES" sz="2400">
                <a:solidFill>
                  <a:srgbClr val="FF0000"/>
                </a:solidFill>
              </a:rPr>
              <a:t>cilíndrica </a:t>
            </a:r>
            <a:r>
              <a:rPr lang="en-US" sz="2400">
                <a:solidFill>
                  <a:srgbClr val="FF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 sin tapas)</a:t>
            </a:r>
            <a:endParaRPr lang="es-ES" sz="2400" dirty="0">
              <a:solidFill>
                <a:srgbClr val="FF0000"/>
              </a:solidFill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1247879" y="2615523"/>
            <a:ext cx="640231" cy="905881"/>
          </a:xfrm>
          <a:prstGeom prst="rect">
            <a:avLst/>
          </a:prstGeom>
          <a:solidFill>
            <a:srgbClr val="C0C0C0"/>
          </a:solidFill>
        </p:spPr>
        <p:txBody>
          <a:bodyPr wrap="square" rtlCol="0">
            <a:noAutofit/>
          </a:bodyPr>
          <a:lstStyle/>
          <a:p>
            <a:pPr algn="ctr"/>
            <a:r>
              <a:rPr lang="es-ES" dirty="0"/>
              <a:t>EJ.</a:t>
            </a:r>
          </a:p>
          <a:p>
            <a:pPr algn="ctr"/>
            <a:r>
              <a:rPr lang="es-ES" sz="2800" dirty="0"/>
              <a:t>1</a:t>
            </a:r>
            <a:endParaRPr lang="es-ES" dirty="0"/>
          </a:p>
        </p:txBody>
      </p:sp>
      <p:sp>
        <p:nvSpPr>
          <p:cNvPr id="88" name="CuadroTexto 87"/>
          <p:cNvSpPr txBox="1"/>
          <p:nvPr/>
        </p:nvSpPr>
        <p:spPr>
          <a:xfrm>
            <a:off x="1247879" y="4060705"/>
            <a:ext cx="640231" cy="1275213"/>
          </a:xfrm>
          <a:prstGeom prst="rect">
            <a:avLst/>
          </a:prstGeom>
          <a:solidFill>
            <a:srgbClr val="C0C0C0"/>
          </a:solidFill>
        </p:spPr>
        <p:txBody>
          <a:bodyPr wrap="none" rtlCol="0">
            <a:noAutofit/>
          </a:bodyPr>
          <a:lstStyle/>
          <a:p>
            <a:pPr algn="ctr"/>
            <a:r>
              <a:rPr lang="es-ES" dirty="0"/>
              <a:t>EJ.</a:t>
            </a:r>
          </a:p>
          <a:p>
            <a:pPr algn="ctr"/>
            <a:r>
              <a:rPr lang="es-ES" sz="2800" dirty="0"/>
              <a:t>2</a:t>
            </a:r>
          </a:p>
        </p:txBody>
      </p:sp>
      <p:sp>
        <p:nvSpPr>
          <p:cNvPr id="10" name="Text Box 81">
            <a:extLst>
              <a:ext uri="{FF2B5EF4-FFF2-40B4-BE49-F238E27FC236}">
                <a16:creationId xmlns:a16="http://schemas.microsoft.com/office/drawing/2014/main" id="{4354C262-015F-490C-9B57-8B20B40141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0087" y="5854886"/>
            <a:ext cx="9365359" cy="90588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Con resultados previos (Ej. 2) y el </a:t>
            </a:r>
            <a:r>
              <a:rPr lang="es-ES" sz="2400" dirty="0" err="1">
                <a:solidFill>
                  <a:schemeClr val="tx1"/>
                </a:solidFill>
                <a:sym typeface="Symbol" panose="05050102010706020507" pitchFamily="18" charset="2"/>
              </a:rPr>
              <a:t>Ppo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.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de Sup., se obtiene el </a:t>
            </a:r>
            <a:r>
              <a:rPr lang="es-ES" sz="2400" b="1">
                <a:solidFill>
                  <a:schemeClr val="tx1"/>
                </a:solidFill>
                <a:sym typeface="Symbol" panose="05050102010706020507" pitchFamily="18" charset="2"/>
              </a:rPr>
              <a:t>B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 creado por dist. de corr.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de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alta sim. más complejas (tubo macizo)</a:t>
            </a:r>
            <a:endParaRPr lang="es-ES" sz="24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860879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62" grpId="0" animBg="1"/>
      <p:bldP spid="76" grpId="0" animBg="1"/>
      <p:bldP spid="77" grpId="0"/>
      <p:bldP spid="86" grpId="0" animBg="1"/>
      <p:bldP spid="87" grpId="0"/>
      <p:bldP spid="6" grpId="0" animBg="1"/>
      <p:bldP spid="88" grpId="0" animBg="1"/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4994DE7A-379A-4DB3-AC53-61C97A9808F0}"/>
              </a:ext>
            </a:extLst>
          </p:cNvPr>
          <p:cNvSpPr/>
          <p:nvPr/>
        </p:nvSpPr>
        <p:spPr bwMode="auto">
          <a:xfrm>
            <a:off x="1262595" y="1238705"/>
            <a:ext cx="2315492" cy="2901225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non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3" name="Grupo 2"/>
          <p:cNvGrpSpPr>
            <a:grpSpLocks/>
          </p:cNvGrpSpPr>
          <p:nvPr/>
        </p:nvGrpSpPr>
        <p:grpSpPr bwMode="auto">
          <a:xfrm>
            <a:off x="3961362" y="1906215"/>
            <a:ext cx="1376045" cy="565486"/>
            <a:chOff x="3369740" y="3244215"/>
            <a:chExt cx="1375891" cy="565882"/>
          </a:xfrm>
        </p:grpSpPr>
        <p:sp>
          <p:nvSpPr>
            <p:cNvPr id="2" name="Rectángulo 1"/>
            <p:cNvSpPr>
              <a:spLocks noChangeArrowheads="1"/>
            </p:cNvSpPr>
            <p:nvPr/>
          </p:nvSpPr>
          <p:spPr bwMode="auto">
            <a:xfrm>
              <a:off x="3369740" y="3273173"/>
              <a:ext cx="1375891" cy="536924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 type="stealth" w="lg" len="lg"/>
                </a14:hiddenLine>
              </a:ext>
            </a:extLst>
          </p:spPr>
          <p:txBody>
            <a:bodyPr wrap="square" lIns="90000" tIns="82800" rIns="90000" bIns="82800" anchorCtr="1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n-US" sz="2400"/>
            </a:p>
          </p:txBody>
        </p:sp>
        <p:sp>
          <p:nvSpPr>
            <p:cNvPr id="19511" name="Text Box 47"/>
            <p:cNvSpPr txBox="1">
              <a:spLocks noChangeArrowheads="1"/>
            </p:cNvSpPr>
            <p:nvPr/>
          </p:nvSpPr>
          <p:spPr bwMode="auto">
            <a:xfrm>
              <a:off x="3415455" y="3244215"/>
              <a:ext cx="1327756" cy="5369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>
                  <a:solidFill>
                    <a:schemeClr val="tx1"/>
                  </a:solidFill>
                </a:rPr>
                <a:t>Simetría</a:t>
              </a:r>
              <a:endParaRPr lang="es-ES" sz="2400">
                <a:solidFill>
                  <a:srgbClr val="3333FF"/>
                </a:solidFill>
              </a:endParaRPr>
            </a:p>
          </p:txBody>
        </p:sp>
      </p:grpSp>
      <p:grpSp>
        <p:nvGrpSpPr>
          <p:cNvPr id="575608" name="Group 120"/>
          <p:cNvGrpSpPr>
            <a:grpSpLocks/>
          </p:cNvGrpSpPr>
          <p:nvPr/>
        </p:nvGrpSpPr>
        <p:grpSpPr bwMode="auto">
          <a:xfrm>
            <a:off x="2017429" y="1181181"/>
            <a:ext cx="439737" cy="2921000"/>
            <a:chOff x="1341" y="2124"/>
            <a:chExt cx="277" cy="1840"/>
          </a:xfrm>
        </p:grpSpPr>
        <p:sp>
          <p:nvSpPr>
            <p:cNvPr id="19499" name="Text Box 63"/>
            <p:cNvSpPr txBox="1">
              <a:spLocks noChangeArrowheads="1"/>
            </p:cNvSpPr>
            <p:nvPr/>
          </p:nvSpPr>
          <p:spPr bwMode="auto">
            <a:xfrm>
              <a:off x="1358" y="2749"/>
              <a:ext cx="20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008063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defTabSz="1008063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defTabSz="1008063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defTabSz="1008063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defTabSz="1008063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ES" b="1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</a:p>
          </p:txBody>
        </p:sp>
        <p:sp>
          <p:nvSpPr>
            <p:cNvPr id="19500" name="Line 59"/>
            <p:cNvSpPr>
              <a:spLocks noChangeShapeType="1"/>
            </p:cNvSpPr>
            <p:nvPr/>
          </p:nvSpPr>
          <p:spPr bwMode="auto">
            <a:xfrm rot="-5400000">
              <a:off x="1498" y="2987"/>
              <a:ext cx="202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01" name="Line 65"/>
            <p:cNvSpPr>
              <a:spLocks noChangeShapeType="1"/>
            </p:cNvSpPr>
            <p:nvPr/>
          </p:nvSpPr>
          <p:spPr bwMode="auto">
            <a:xfrm rot="5400000" flipH="1" flipV="1">
              <a:off x="810" y="3048"/>
              <a:ext cx="1577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 Box 109"/>
            <p:cNvSpPr txBox="1">
              <a:spLocks noChangeArrowheads="1"/>
            </p:cNvSpPr>
            <p:nvPr/>
          </p:nvSpPr>
          <p:spPr bwMode="auto">
            <a:xfrm>
              <a:off x="1341" y="2124"/>
              <a:ext cx="251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b="1" dirty="0">
                  <a:solidFill>
                    <a:srgbClr val="3333FF"/>
                  </a:solidFill>
                  <a:sym typeface="Symbol" panose="05050102010706020507" pitchFamily="18" charset="2"/>
                </a:rPr>
                <a:t></a:t>
              </a:r>
            </a:p>
          </p:txBody>
        </p:sp>
        <p:sp>
          <p:nvSpPr>
            <p:cNvPr id="19503" name="Text Box 110"/>
            <p:cNvSpPr txBox="1">
              <a:spLocks noChangeArrowheads="1"/>
            </p:cNvSpPr>
            <p:nvPr/>
          </p:nvSpPr>
          <p:spPr bwMode="auto">
            <a:xfrm>
              <a:off x="1367" y="3630"/>
              <a:ext cx="251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b="1">
                  <a:solidFill>
                    <a:srgbClr val="3333FF"/>
                  </a:solidFill>
                  <a:sym typeface="Symbol" panose="05050102010706020507" pitchFamily="18" charset="2"/>
                </a:rPr>
                <a:t></a:t>
              </a:r>
            </a:p>
          </p:txBody>
        </p:sp>
      </p:grpSp>
      <p:grpSp>
        <p:nvGrpSpPr>
          <p:cNvPr id="11" name="Grupo 10"/>
          <p:cNvGrpSpPr/>
          <p:nvPr/>
        </p:nvGrpSpPr>
        <p:grpSpPr>
          <a:xfrm>
            <a:off x="1407282" y="1238705"/>
            <a:ext cx="2049064" cy="2501847"/>
            <a:chOff x="9237218" y="656533"/>
            <a:chExt cx="2049064" cy="2501847"/>
          </a:xfrm>
        </p:grpSpPr>
        <p:sp>
          <p:nvSpPr>
            <p:cNvPr id="19486" name="Line 113"/>
            <p:cNvSpPr>
              <a:spLocks noChangeShapeType="1"/>
            </p:cNvSpPr>
            <p:nvPr/>
          </p:nvSpPr>
          <p:spPr bwMode="auto">
            <a:xfrm flipH="1">
              <a:off x="9551988" y="1753529"/>
              <a:ext cx="1379538" cy="10541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19487" name="Line 114"/>
            <p:cNvSpPr>
              <a:spLocks noChangeShapeType="1"/>
            </p:cNvSpPr>
            <p:nvPr/>
          </p:nvSpPr>
          <p:spPr bwMode="auto">
            <a:xfrm>
              <a:off x="9290050" y="2264704"/>
              <a:ext cx="18288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19488" name="Text Box 116"/>
            <p:cNvSpPr txBox="1">
              <a:spLocks noChangeArrowheads="1"/>
            </p:cNvSpPr>
            <p:nvPr/>
          </p:nvSpPr>
          <p:spPr bwMode="auto">
            <a:xfrm>
              <a:off x="9237218" y="2621831"/>
              <a:ext cx="386942" cy="5365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>
                  <a:solidFill>
                    <a:schemeClr val="tx1"/>
                  </a:solidFill>
                </a:rPr>
                <a:t>X</a:t>
              </a:r>
            </a:p>
          </p:txBody>
        </p:sp>
        <p:sp>
          <p:nvSpPr>
            <p:cNvPr id="19489" name="Text Box 117"/>
            <p:cNvSpPr txBox="1">
              <a:spLocks noChangeArrowheads="1"/>
            </p:cNvSpPr>
            <p:nvPr/>
          </p:nvSpPr>
          <p:spPr bwMode="auto">
            <a:xfrm>
              <a:off x="10899340" y="2184210"/>
              <a:ext cx="386942" cy="5365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>
                  <a:solidFill>
                    <a:schemeClr val="tx1"/>
                  </a:solidFill>
                </a:rPr>
                <a:t>Y</a:t>
              </a:r>
            </a:p>
          </p:txBody>
        </p:sp>
        <p:sp>
          <p:nvSpPr>
            <p:cNvPr id="19490" name="Text Box 118"/>
            <p:cNvSpPr txBox="1">
              <a:spLocks noChangeArrowheads="1"/>
            </p:cNvSpPr>
            <p:nvPr/>
          </p:nvSpPr>
          <p:spPr bwMode="auto">
            <a:xfrm>
              <a:off x="10293143" y="656533"/>
              <a:ext cx="369310" cy="5365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>
                  <a:solidFill>
                    <a:schemeClr val="tx1"/>
                  </a:solidFill>
                </a:rPr>
                <a:t>Z</a:t>
              </a:r>
            </a:p>
          </p:txBody>
        </p:sp>
      </p:grpSp>
      <p:grpSp>
        <p:nvGrpSpPr>
          <p:cNvPr id="12" name="Grupo 11"/>
          <p:cNvGrpSpPr/>
          <p:nvPr/>
        </p:nvGrpSpPr>
        <p:grpSpPr>
          <a:xfrm>
            <a:off x="2130304" y="1767230"/>
            <a:ext cx="971287" cy="1781149"/>
            <a:chOff x="2032592" y="2516453"/>
            <a:chExt cx="971287" cy="1781149"/>
          </a:xfrm>
        </p:grpSpPr>
        <p:sp>
          <p:nvSpPr>
            <p:cNvPr id="19491" name="Line 119"/>
            <p:cNvSpPr>
              <a:spLocks noChangeShapeType="1"/>
            </p:cNvSpPr>
            <p:nvPr/>
          </p:nvSpPr>
          <p:spPr bwMode="auto">
            <a:xfrm>
              <a:off x="2342154" y="3616591"/>
              <a:ext cx="341313" cy="4492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19492" name="Line 122"/>
            <p:cNvSpPr>
              <a:spLocks noChangeShapeType="1"/>
            </p:cNvSpPr>
            <p:nvPr/>
          </p:nvSpPr>
          <p:spPr bwMode="auto">
            <a:xfrm>
              <a:off x="2340567" y="2516453"/>
              <a:ext cx="341313" cy="4492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19493" name="Oval 121"/>
            <p:cNvSpPr>
              <a:spLocks noChangeArrowheads="1"/>
            </p:cNvSpPr>
            <p:nvPr/>
          </p:nvSpPr>
          <p:spPr bwMode="auto">
            <a:xfrm>
              <a:off x="2621554" y="2875228"/>
              <a:ext cx="107950" cy="10795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round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 anchor="ctr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>
                <a:solidFill>
                  <a:srgbClr val="D60093"/>
                </a:solidFill>
              </a:endParaRPr>
            </a:p>
          </p:txBody>
        </p:sp>
        <p:sp>
          <p:nvSpPr>
            <p:cNvPr id="19494" name="Line 123"/>
            <p:cNvSpPr>
              <a:spLocks noChangeShapeType="1"/>
            </p:cNvSpPr>
            <p:nvPr/>
          </p:nvSpPr>
          <p:spPr bwMode="auto">
            <a:xfrm>
              <a:off x="2683467" y="2981591"/>
              <a:ext cx="0" cy="10699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19495" name="Text Box 124"/>
            <p:cNvSpPr txBox="1">
              <a:spLocks noChangeArrowheads="1"/>
            </p:cNvSpPr>
            <p:nvPr/>
          </p:nvSpPr>
          <p:spPr bwMode="auto">
            <a:xfrm>
              <a:off x="2668233" y="3135388"/>
              <a:ext cx="335646" cy="5365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/>
                <a:t>z</a:t>
              </a:r>
            </a:p>
          </p:txBody>
        </p:sp>
        <p:sp>
          <p:nvSpPr>
            <p:cNvPr id="19496" name="Text Box 125"/>
            <p:cNvSpPr txBox="1">
              <a:spLocks noChangeArrowheads="1"/>
            </p:cNvSpPr>
            <p:nvPr/>
          </p:nvSpPr>
          <p:spPr bwMode="auto">
            <a:xfrm>
              <a:off x="2429467" y="3484828"/>
              <a:ext cx="284350" cy="5365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/>
                <a:t>r</a:t>
              </a:r>
            </a:p>
          </p:txBody>
        </p:sp>
        <p:sp>
          <p:nvSpPr>
            <p:cNvPr id="19497" name="Freeform 126"/>
            <p:cNvSpPr>
              <a:spLocks/>
            </p:cNvSpPr>
            <p:nvPr/>
          </p:nvSpPr>
          <p:spPr bwMode="auto">
            <a:xfrm>
              <a:off x="2032592" y="3834078"/>
              <a:ext cx="481013" cy="49213"/>
            </a:xfrm>
            <a:custGeom>
              <a:avLst/>
              <a:gdLst>
                <a:gd name="T0" fmla="*/ 0 w 303"/>
                <a:gd name="T1" fmla="*/ 0 h 31"/>
                <a:gd name="T2" fmla="*/ 166 w 303"/>
                <a:gd name="T3" fmla="*/ 29 h 31"/>
                <a:gd name="T4" fmla="*/ 303 w 303"/>
                <a:gd name="T5" fmla="*/ 10 h 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3" h="31">
                  <a:moveTo>
                    <a:pt x="0" y="0"/>
                  </a:moveTo>
                  <a:cubicBezTo>
                    <a:pt x="58" y="13"/>
                    <a:pt x="116" y="27"/>
                    <a:pt x="166" y="29"/>
                  </a:cubicBezTo>
                  <a:cubicBezTo>
                    <a:pt x="216" y="31"/>
                    <a:pt x="259" y="20"/>
                    <a:pt x="303" y="10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19498" name="Text Box 128"/>
            <p:cNvSpPr txBox="1">
              <a:spLocks noChangeArrowheads="1"/>
            </p:cNvSpPr>
            <p:nvPr/>
          </p:nvSpPr>
          <p:spPr bwMode="auto">
            <a:xfrm>
              <a:off x="2032592" y="3761053"/>
              <a:ext cx="342058" cy="5365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>
                  <a:sym typeface="Symbol" panose="05050102010706020507" pitchFamily="18" charset="2"/>
                </a:rPr>
                <a:t></a:t>
              </a:r>
            </a:p>
          </p:txBody>
        </p:sp>
      </p:grpSp>
      <p:sp>
        <p:nvSpPr>
          <p:cNvPr id="575623" name="Text Box 135"/>
          <p:cNvSpPr txBox="1">
            <a:spLocks noChangeArrowheads="1"/>
          </p:cNvSpPr>
          <p:nvPr/>
        </p:nvSpPr>
        <p:spPr bwMode="auto">
          <a:xfrm>
            <a:off x="3981683" y="855866"/>
            <a:ext cx="5845239" cy="905881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 dirty="0"/>
              <a:t>Moverse </a:t>
            </a:r>
            <a:r>
              <a:rPr lang="es-ES" sz="2400"/>
              <a:t>en Z </a:t>
            </a:r>
            <a:r>
              <a:rPr lang="es-ES" sz="2400" dirty="0"/>
              <a:t>o girar siendo el eje de giro el hilo,</a:t>
            </a:r>
            <a:r>
              <a:rPr lang="es-ES" sz="2400" dirty="0">
                <a:sym typeface="Symbol" panose="05050102010706020507" pitchFamily="18" charset="2"/>
              </a:rPr>
              <a:t> no cambia nada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1794411" y="4309519"/>
            <a:ext cx="1785552" cy="156966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lang="es-ES" sz="2400"/>
              <a:t>z: vertical</a:t>
            </a:r>
          </a:p>
          <a:p>
            <a:pPr>
              <a:defRPr/>
            </a:pPr>
            <a:r>
              <a:rPr lang="es-ES" sz="2400"/>
              <a:t>r: radial en</a:t>
            </a:r>
          </a:p>
          <a:p>
            <a:pPr>
              <a:defRPr/>
            </a:pPr>
            <a:r>
              <a:rPr lang="es-ES" sz="2400"/>
              <a:t>   plano XY</a:t>
            </a:r>
          </a:p>
          <a:p>
            <a:pPr>
              <a:defRPr/>
            </a:pPr>
            <a:r>
              <a:rPr lang="es-ES" sz="2400">
                <a:sym typeface="Symbol" panose="05050102010706020507" pitchFamily="18" charset="2"/>
              </a:rPr>
              <a:t>: azimutal</a:t>
            </a:r>
          </a:p>
        </p:txBody>
      </p:sp>
      <p:sp>
        <p:nvSpPr>
          <p:cNvPr id="10" name="CuadroTexto 9"/>
          <p:cNvSpPr txBox="1">
            <a:spLocks noChangeArrowheads="1"/>
          </p:cNvSpPr>
          <p:nvPr/>
        </p:nvSpPr>
        <p:spPr bwMode="auto">
          <a:xfrm>
            <a:off x="1206733" y="5988480"/>
            <a:ext cx="402968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s-ES" sz="2400">
                <a:solidFill>
                  <a:srgbClr val="FF0000"/>
                </a:solidFill>
              </a:rPr>
              <a:t>r y </a:t>
            </a:r>
            <a:r>
              <a:rPr lang="es-ES" sz="2400">
                <a:solidFill>
                  <a:srgbClr val="FF0000"/>
                </a:solidFill>
                <a:sym typeface="Symbol" panose="05050102010706020507" pitchFamily="18" charset="2"/>
              </a:rPr>
              <a:t></a:t>
            </a:r>
            <a:r>
              <a:rPr lang="es-ES" sz="2400">
                <a:solidFill>
                  <a:srgbClr val="FF0000"/>
                </a:solidFill>
              </a:rPr>
              <a:t>: Coordenadas Polares en 2 </a:t>
            </a:r>
            <a:r>
              <a:rPr lang="es-ES" sz="2400" dirty="0">
                <a:solidFill>
                  <a:srgbClr val="FF0000"/>
                </a:solidFill>
              </a:rPr>
              <a:t>dimensiones</a:t>
            </a:r>
          </a:p>
        </p:txBody>
      </p:sp>
      <p:sp>
        <p:nvSpPr>
          <p:cNvPr id="61" name="CuadroTexto 60"/>
          <p:cNvSpPr txBox="1"/>
          <p:nvPr/>
        </p:nvSpPr>
        <p:spPr>
          <a:xfrm>
            <a:off x="1626266" y="551259"/>
            <a:ext cx="1595309" cy="400110"/>
          </a:xfrm>
          <a:prstGeom prst="rect">
            <a:avLst/>
          </a:prstGeom>
          <a:solidFill>
            <a:srgbClr val="C0C0C0"/>
          </a:solidFill>
        </p:spPr>
        <p:txBody>
          <a:bodyPr wrap="none" rtlCol="0">
            <a:spAutoFit/>
          </a:bodyPr>
          <a:lstStyle/>
          <a:p>
            <a:r>
              <a:rPr lang="es-ES" dirty="0"/>
              <a:t>EJEMPLO 1</a:t>
            </a:r>
          </a:p>
        </p:txBody>
      </p:sp>
      <p:sp>
        <p:nvSpPr>
          <p:cNvPr id="62" name="Text Box 137"/>
          <p:cNvSpPr txBox="1">
            <a:spLocks noChangeArrowheads="1"/>
          </p:cNvSpPr>
          <p:nvPr/>
        </p:nvSpPr>
        <p:spPr bwMode="auto">
          <a:xfrm>
            <a:off x="8061187" y="2673657"/>
            <a:ext cx="2232392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>
                <a:solidFill>
                  <a:srgbClr val="FF0000"/>
                </a:solidFill>
              </a:rPr>
              <a:t>(</a:t>
            </a:r>
            <a:r>
              <a:rPr lang="es-ES" sz="2400" b="1">
                <a:solidFill>
                  <a:srgbClr val="FF0000"/>
                </a:solidFill>
              </a:rPr>
              <a:t>B</a:t>
            </a:r>
            <a:r>
              <a:rPr lang="es-ES" sz="2400">
                <a:solidFill>
                  <a:srgbClr val="FF0000"/>
                </a:solidFill>
              </a:rPr>
              <a:t> es azimutal)</a:t>
            </a:r>
          </a:p>
        </p:txBody>
      </p:sp>
      <p:sp>
        <p:nvSpPr>
          <p:cNvPr id="63" name="Text Box 47"/>
          <p:cNvSpPr txBox="1">
            <a:spLocks noChangeArrowheads="1"/>
          </p:cNvSpPr>
          <p:nvPr/>
        </p:nvSpPr>
        <p:spPr bwMode="auto">
          <a:xfrm>
            <a:off x="5383467" y="1906493"/>
            <a:ext cx="4030568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</a:t>
            </a:r>
            <a:r>
              <a:rPr lang="es-ES" sz="2400" b="1" dirty="0">
                <a:solidFill>
                  <a:schemeClr val="tx1"/>
                </a:solidFill>
                <a:sym typeface="Symbol" panose="05050102010706020507" pitchFamily="18" charset="2"/>
              </a:rPr>
              <a:t> 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Coordenadas </a:t>
            </a:r>
            <a:r>
              <a:rPr lang="es-ES" sz="2400" dirty="0">
                <a:solidFill>
                  <a:schemeClr val="tx1"/>
                </a:solidFill>
              </a:rPr>
              <a:t>Cilíndricas</a:t>
            </a:r>
          </a:p>
        </p:txBody>
      </p:sp>
      <p:grpSp>
        <p:nvGrpSpPr>
          <p:cNvPr id="35" name="Grupo 34">
            <a:extLst>
              <a:ext uri="{FF2B5EF4-FFF2-40B4-BE49-F238E27FC236}">
                <a16:creationId xmlns:a16="http://schemas.microsoft.com/office/drawing/2014/main" id="{BCE1618F-E03F-77BB-9CCF-2CEECD4100E1}"/>
              </a:ext>
            </a:extLst>
          </p:cNvPr>
          <p:cNvGrpSpPr/>
          <p:nvPr/>
        </p:nvGrpSpPr>
        <p:grpSpPr>
          <a:xfrm>
            <a:off x="5400675" y="2589432"/>
            <a:ext cx="2549980" cy="680737"/>
            <a:chOff x="5400675" y="2589432"/>
            <a:chExt cx="2549980" cy="680737"/>
          </a:xfrm>
        </p:grpSpPr>
        <p:grpSp>
          <p:nvGrpSpPr>
            <p:cNvPr id="19477" name="Group 154"/>
            <p:cNvGrpSpPr>
              <a:grpSpLocks/>
            </p:cNvGrpSpPr>
            <p:nvPr/>
          </p:nvGrpSpPr>
          <p:grpSpPr bwMode="auto">
            <a:xfrm>
              <a:off x="5951155" y="2590960"/>
              <a:ext cx="1999500" cy="679209"/>
              <a:chOff x="5254" y="2795"/>
              <a:chExt cx="1260" cy="428"/>
            </a:xfrm>
          </p:grpSpPr>
          <p:sp>
            <p:nvSpPr>
              <p:cNvPr id="19480" name="Rectangle 130"/>
              <p:cNvSpPr>
                <a:spLocks noChangeArrowheads="1"/>
              </p:cNvSpPr>
              <p:nvPr/>
            </p:nvSpPr>
            <p:spPr bwMode="auto">
              <a:xfrm>
                <a:off x="5254" y="2795"/>
                <a:ext cx="1260" cy="428"/>
              </a:xfrm>
              <a:prstGeom prst="rect">
                <a:avLst/>
              </a:prstGeom>
              <a:solidFill>
                <a:srgbClr val="FFFF00"/>
              </a:solidFill>
              <a:ln w="38100" algn="ctr">
                <a:noFill/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lIns="90000" tIns="82800" rIns="90000" bIns="82800" anchor="ctr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lang="en-US">
                  <a:solidFill>
                    <a:srgbClr val="D60093"/>
                  </a:solidFill>
                </a:endParaRPr>
              </a:p>
            </p:txBody>
          </p:sp>
          <p:graphicFrame>
            <p:nvGraphicFramePr>
              <p:cNvPr id="19479" name="Object 5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56720919"/>
                  </p:ext>
                </p:extLst>
              </p:nvPr>
            </p:nvGraphicFramePr>
            <p:xfrm>
              <a:off x="5347" y="2801"/>
              <a:ext cx="1110" cy="4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3" imgW="723586" imgH="266584" progId="Equation.3">
                      <p:embed/>
                    </p:oleObj>
                  </mc:Choice>
                  <mc:Fallback>
                    <p:oleObj name="Ecuación" r:id="rId3" imgW="723586" imgH="266584" progId="Equation.3">
                      <p:embed/>
                      <p:pic>
                        <p:nvPicPr>
                          <p:cNvPr id="19479" name="Object 5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47" y="2801"/>
                            <a:ext cx="1110" cy="40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4" name="Text Box 47">
              <a:extLst>
                <a:ext uri="{FF2B5EF4-FFF2-40B4-BE49-F238E27FC236}">
                  <a16:creationId xmlns:a16="http://schemas.microsoft.com/office/drawing/2014/main" id="{3A912FA3-3636-34A3-C857-FE9B44C608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00675" y="2589432"/>
              <a:ext cx="484726" cy="5365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>
                  <a:sym typeface="Symbol" panose="05050102010706020507" pitchFamily="18" charset="2"/>
                </a:rPr>
                <a:t></a:t>
              </a:r>
              <a:endParaRPr lang="es-ES" sz="2400" dirty="0">
                <a:solidFill>
                  <a:srgbClr val="3333FF"/>
                </a:solidFill>
              </a:endParaRPr>
            </a:p>
          </p:txBody>
        </p:sp>
      </p:grpSp>
      <p:sp>
        <p:nvSpPr>
          <p:cNvPr id="5" name="Text Box 118">
            <a:extLst>
              <a:ext uri="{FF2B5EF4-FFF2-40B4-BE49-F238E27FC236}">
                <a16:creationId xmlns:a16="http://schemas.microsoft.com/office/drawing/2014/main" id="{F678C207-A512-04BA-991A-D1317495FC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0741" y="3602104"/>
            <a:ext cx="5206671" cy="164454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dirty="0">
                <a:solidFill>
                  <a:schemeClr val="tx1"/>
                </a:solidFill>
              </a:rPr>
              <a:t>Aplicando la ley de </a:t>
            </a:r>
            <a:r>
              <a:rPr lang="es-ES" sz="2400" dirty="0" err="1">
                <a:solidFill>
                  <a:schemeClr val="tx1"/>
                </a:solidFill>
              </a:rPr>
              <a:t>Ampère</a:t>
            </a:r>
            <a:r>
              <a:rPr lang="es-ES" sz="2400" dirty="0">
                <a:solidFill>
                  <a:schemeClr val="tx1"/>
                </a:solidFill>
              </a:rPr>
              <a:t> tomando como camino C una línea de campo y como superficie S el círculo que delimita, se tiene que:</a:t>
            </a:r>
          </a:p>
        </p:txBody>
      </p:sp>
      <p:grpSp>
        <p:nvGrpSpPr>
          <p:cNvPr id="13" name="Group 5">
            <a:extLst>
              <a:ext uri="{FF2B5EF4-FFF2-40B4-BE49-F238E27FC236}">
                <a16:creationId xmlns:a16="http://schemas.microsoft.com/office/drawing/2014/main" id="{F7DF8FC9-9DF4-6959-C8E4-3C646A8B53EE}"/>
              </a:ext>
            </a:extLst>
          </p:cNvPr>
          <p:cNvGrpSpPr>
            <a:grpSpLocks/>
          </p:cNvGrpSpPr>
          <p:nvPr/>
        </p:nvGrpSpPr>
        <p:grpSpPr bwMode="auto">
          <a:xfrm>
            <a:off x="7670437" y="5642507"/>
            <a:ext cx="1941513" cy="1014413"/>
            <a:chOff x="3951" y="3677"/>
            <a:chExt cx="1223" cy="639"/>
          </a:xfrm>
        </p:grpSpPr>
        <p:sp>
          <p:nvSpPr>
            <p:cNvPr id="14" name="Rectangle 6">
              <a:extLst>
                <a:ext uri="{FF2B5EF4-FFF2-40B4-BE49-F238E27FC236}">
                  <a16:creationId xmlns:a16="http://schemas.microsoft.com/office/drawing/2014/main" id="{ECD87BF6-8CAB-9109-D6FE-A86F3FF620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1" y="3677"/>
              <a:ext cx="1223" cy="639"/>
            </a:xfrm>
            <a:prstGeom prst="rect">
              <a:avLst/>
            </a:prstGeom>
            <a:solidFill>
              <a:srgbClr val="FF99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>
                <a:solidFill>
                  <a:srgbClr val="D60093"/>
                </a:solidFill>
              </a:endParaRPr>
            </a:p>
          </p:txBody>
        </p:sp>
        <p:graphicFrame>
          <p:nvGraphicFramePr>
            <p:cNvPr id="18" name="Object 7">
              <a:extLst>
                <a:ext uri="{FF2B5EF4-FFF2-40B4-BE49-F238E27FC236}">
                  <a16:creationId xmlns:a16="http://schemas.microsoft.com/office/drawing/2014/main" id="{F900A595-0F21-D1BB-D1A9-499C17BE27C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58" y="3698"/>
            <a:ext cx="1032" cy="5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685800" imgH="393700" progId="Equation.3">
                    <p:embed/>
                  </p:oleObj>
                </mc:Choice>
                <mc:Fallback>
                  <p:oleObj name="Ecuación" r:id="rId5" imgW="685800" imgH="393700" progId="Equation.3">
                    <p:embed/>
                    <p:pic>
                      <p:nvPicPr>
                        <p:cNvPr id="21569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58" y="3698"/>
                          <a:ext cx="1032" cy="5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575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75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575623" grpId="0" animBg="1"/>
      <p:bldP spid="8" grpId="0" animBg="1"/>
      <p:bldP spid="10" grpId="0"/>
      <p:bldP spid="61" grpId="0" animBg="1"/>
      <p:bldP spid="62" grpId="0"/>
      <p:bldP spid="63" grpId="0"/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9" name="Line 39"/>
          <p:cNvSpPr>
            <a:spLocks noChangeShapeType="1"/>
          </p:cNvSpPr>
          <p:nvPr/>
        </p:nvSpPr>
        <p:spPr bwMode="auto">
          <a:xfrm rot="16200000" flipV="1">
            <a:off x="1842987" y="2979122"/>
            <a:ext cx="137795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1A32C96A-7779-6551-8440-2F3401FE76E5}"/>
              </a:ext>
            </a:extLst>
          </p:cNvPr>
          <p:cNvGrpSpPr/>
          <p:nvPr/>
        </p:nvGrpSpPr>
        <p:grpSpPr>
          <a:xfrm>
            <a:off x="1524054" y="1783108"/>
            <a:ext cx="1990570" cy="1003771"/>
            <a:chOff x="1524054" y="1783108"/>
            <a:chExt cx="1990570" cy="1003771"/>
          </a:xfrm>
        </p:grpSpPr>
        <p:sp>
          <p:nvSpPr>
            <p:cNvPr id="605225" name="Oval 41"/>
            <p:cNvSpPr>
              <a:spLocks noChangeArrowheads="1"/>
            </p:cNvSpPr>
            <p:nvPr/>
          </p:nvSpPr>
          <p:spPr bwMode="auto">
            <a:xfrm rot="16200000">
              <a:off x="2023168" y="1290189"/>
              <a:ext cx="998537" cy="1984375"/>
            </a:xfrm>
            <a:prstGeom prst="ellipse">
              <a:avLst/>
            </a:prstGeom>
            <a:solidFill>
              <a:srgbClr val="FFFF99">
                <a:alpha val="74901"/>
              </a:srgbClr>
            </a:solidFill>
            <a:ln w="25400">
              <a:noFill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>
                <a:solidFill>
                  <a:srgbClr val="D60093"/>
                </a:solidFill>
              </a:endParaRPr>
            </a:p>
          </p:txBody>
        </p:sp>
        <p:sp>
          <p:nvSpPr>
            <p:cNvPr id="66" name="Oval 41">
              <a:extLst>
                <a:ext uri="{FF2B5EF4-FFF2-40B4-BE49-F238E27FC236}">
                  <a16:creationId xmlns:a16="http://schemas.microsoft.com/office/drawing/2014/main" id="{0EACF97B-BF16-4C46-859B-A3F486C3CC1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2016973" y="1295423"/>
              <a:ext cx="998537" cy="1984375"/>
            </a:xfrm>
            <a:prstGeom prst="ellips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>
                <a:solidFill>
                  <a:srgbClr val="D60093"/>
                </a:solidFill>
              </a:endParaRPr>
            </a:p>
          </p:txBody>
        </p:sp>
      </p:grpSp>
      <p:grpSp>
        <p:nvGrpSpPr>
          <p:cNvPr id="605189" name="Group 5"/>
          <p:cNvGrpSpPr>
            <a:grpSpLocks/>
          </p:cNvGrpSpPr>
          <p:nvPr/>
        </p:nvGrpSpPr>
        <p:grpSpPr bwMode="auto">
          <a:xfrm>
            <a:off x="4913557" y="547503"/>
            <a:ext cx="1941513" cy="1014413"/>
            <a:chOff x="3951" y="3677"/>
            <a:chExt cx="1223" cy="639"/>
          </a:xfrm>
        </p:grpSpPr>
        <p:sp>
          <p:nvSpPr>
            <p:cNvPr id="21568" name="Rectangle 6"/>
            <p:cNvSpPr>
              <a:spLocks noChangeArrowheads="1"/>
            </p:cNvSpPr>
            <p:nvPr/>
          </p:nvSpPr>
          <p:spPr bwMode="auto">
            <a:xfrm>
              <a:off x="3951" y="3677"/>
              <a:ext cx="1223" cy="639"/>
            </a:xfrm>
            <a:prstGeom prst="rect">
              <a:avLst/>
            </a:prstGeom>
            <a:solidFill>
              <a:srgbClr val="FF99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>
                <a:solidFill>
                  <a:srgbClr val="D60093"/>
                </a:solidFill>
              </a:endParaRPr>
            </a:p>
          </p:txBody>
        </p:sp>
        <p:graphicFrame>
          <p:nvGraphicFramePr>
            <p:cNvPr id="21569" name="Object 7"/>
            <p:cNvGraphicFramePr>
              <a:graphicFrameLocks noChangeAspect="1"/>
            </p:cNvGraphicFramePr>
            <p:nvPr/>
          </p:nvGraphicFramePr>
          <p:xfrm>
            <a:off x="4058" y="3698"/>
            <a:ext cx="1032" cy="5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685800" imgH="393700" progId="Equation.3">
                    <p:embed/>
                  </p:oleObj>
                </mc:Choice>
                <mc:Fallback>
                  <p:oleObj name="Ecuación" r:id="rId3" imgW="685800" imgH="393700" progId="Equation.3">
                    <p:embed/>
                    <p:pic>
                      <p:nvPicPr>
                        <p:cNvPr id="21569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58" y="3698"/>
                          <a:ext cx="1032" cy="5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05214" name="Text Box 30"/>
          <p:cNvSpPr txBox="1">
            <a:spLocks noChangeArrowheads="1"/>
          </p:cNvSpPr>
          <p:nvPr/>
        </p:nvSpPr>
        <p:spPr bwMode="auto">
          <a:xfrm>
            <a:off x="7142873" y="499995"/>
            <a:ext cx="1812012" cy="598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 </a:t>
            </a:r>
            <a:r>
              <a:rPr lang="es-ES" sz="2400" dirty="0">
                <a:solidFill>
                  <a:schemeClr val="tx1"/>
                </a:solidFill>
              </a:rPr>
              <a:t>B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 </a:t>
            </a:r>
            <a:r>
              <a:rPr lang="es-ES" sz="2400" dirty="0">
                <a:solidFill>
                  <a:schemeClr val="tx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 y </a:t>
            </a:r>
            <a:r>
              <a:rPr lang="es-ES" sz="2800" dirty="0">
                <a:solidFill>
                  <a:schemeClr val="tx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</a:t>
            </a:r>
            <a:r>
              <a:rPr lang="es-ES" sz="2400" dirty="0">
                <a:solidFill>
                  <a:schemeClr val="tx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</a:t>
            </a:r>
            <a:endParaRPr lang="es-ES" sz="24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21511" name="Line 42"/>
          <p:cNvSpPr>
            <a:spLocks noChangeShapeType="1"/>
          </p:cNvSpPr>
          <p:nvPr/>
        </p:nvSpPr>
        <p:spPr bwMode="auto">
          <a:xfrm rot="16200000" flipV="1">
            <a:off x="1773136" y="1534497"/>
            <a:ext cx="1514475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1520" name="Text Box 37"/>
          <p:cNvSpPr txBox="1">
            <a:spLocks noChangeArrowheads="1"/>
          </p:cNvSpPr>
          <p:nvPr/>
        </p:nvSpPr>
        <p:spPr bwMode="auto">
          <a:xfrm>
            <a:off x="2639912" y="1252401"/>
            <a:ext cx="35298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1008063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1008063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1008063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1008063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1008063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" sz="2400" b="1">
                <a:solidFill>
                  <a:srgbClr val="3333FF"/>
                </a:solidFill>
                <a:latin typeface="Comic Sans MS" panose="030F0702030302020204" pitchFamily="66" charset="0"/>
              </a:rPr>
              <a:t>I</a:t>
            </a:r>
          </a:p>
        </p:txBody>
      </p:sp>
      <p:sp>
        <p:nvSpPr>
          <p:cNvPr id="21521" name="Line 40"/>
          <p:cNvSpPr>
            <a:spLocks noChangeShapeType="1"/>
          </p:cNvSpPr>
          <p:nvPr/>
        </p:nvSpPr>
        <p:spPr bwMode="auto">
          <a:xfrm rot="16200000">
            <a:off x="2370036" y="1630227"/>
            <a:ext cx="320675" cy="0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grpSp>
        <p:nvGrpSpPr>
          <p:cNvPr id="605287" name="Group 103"/>
          <p:cNvGrpSpPr>
            <a:grpSpLocks/>
          </p:cNvGrpSpPr>
          <p:nvPr/>
        </p:nvGrpSpPr>
        <p:grpSpPr bwMode="auto">
          <a:xfrm>
            <a:off x="3259234" y="1896730"/>
            <a:ext cx="1033463" cy="736600"/>
            <a:chOff x="2505" y="2976"/>
            <a:chExt cx="651" cy="464"/>
          </a:xfrm>
        </p:grpSpPr>
        <p:sp>
          <p:nvSpPr>
            <p:cNvPr id="21553" name="Line 98"/>
            <p:cNvSpPr>
              <a:spLocks noChangeShapeType="1"/>
            </p:cNvSpPr>
            <p:nvPr/>
          </p:nvSpPr>
          <p:spPr bwMode="auto">
            <a:xfrm flipV="1">
              <a:off x="2505" y="2976"/>
              <a:ext cx="560" cy="464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graphicFrame>
          <p:nvGraphicFramePr>
            <p:cNvPr id="21554" name="Object 10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35578268"/>
                </p:ext>
              </p:extLst>
            </p:nvPr>
          </p:nvGraphicFramePr>
          <p:xfrm>
            <a:off x="2952" y="3131"/>
            <a:ext cx="204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152268" imgH="203024" progId="Equation.3">
                    <p:embed/>
                  </p:oleObj>
                </mc:Choice>
                <mc:Fallback>
                  <p:oleObj name="Ecuación" r:id="rId5" imgW="152268" imgH="203024" progId="Equation.3">
                    <p:embed/>
                    <p:pic>
                      <p:nvPicPr>
                        <p:cNvPr id="21554" name="Object 10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2" y="3131"/>
                          <a:ext cx="204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05317" name="Group 133"/>
          <p:cNvGrpSpPr>
            <a:grpSpLocks/>
          </p:cNvGrpSpPr>
          <p:nvPr/>
        </p:nvGrpSpPr>
        <p:grpSpPr bwMode="auto">
          <a:xfrm>
            <a:off x="6686285" y="1832191"/>
            <a:ext cx="3444875" cy="536575"/>
            <a:chOff x="4542" y="2753"/>
            <a:chExt cx="2170" cy="338"/>
          </a:xfrm>
        </p:grpSpPr>
        <p:graphicFrame>
          <p:nvGraphicFramePr>
            <p:cNvPr id="21548" name="Object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05866922"/>
                </p:ext>
              </p:extLst>
            </p:nvPr>
          </p:nvGraphicFramePr>
          <p:xfrm>
            <a:off x="4830" y="2768"/>
            <a:ext cx="204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152268" imgH="203024" progId="Equation.3">
                    <p:embed/>
                  </p:oleObj>
                </mc:Choice>
                <mc:Fallback>
                  <p:oleObj name="Ecuación" r:id="rId5" imgW="152268" imgH="203024" progId="Equation.3">
                    <p:embed/>
                    <p:pic>
                      <p:nvPicPr>
                        <p:cNvPr id="21548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30" y="2768"/>
                          <a:ext cx="204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49" name="Text Box 62"/>
            <p:cNvSpPr txBox="1">
              <a:spLocks noChangeArrowheads="1"/>
            </p:cNvSpPr>
            <p:nvPr/>
          </p:nvSpPr>
          <p:spPr bwMode="auto">
            <a:xfrm>
              <a:off x="4542" y="2753"/>
              <a:ext cx="2170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>
                  <a:solidFill>
                    <a:schemeClr val="tx1"/>
                  </a:solidFill>
                  <a:sym typeface="Symbol" panose="05050102010706020507" pitchFamily="18" charset="2"/>
                </a:rPr>
                <a:t>     </a:t>
              </a:r>
              <a:r>
                <a:rPr lang="es-ES" sz="2400">
                  <a:solidFill>
                    <a:schemeClr val="tx1"/>
                  </a:solidFill>
                </a:rPr>
                <a:t>sentido antihorario</a:t>
              </a:r>
            </a:p>
          </p:txBody>
        </p:sp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F90BF92B-00A2-16A2-F4F0-4CE35D13178C}"/>
              </a:ext>
            </a:extLst>
          </p:cNvPr>
          <p:cNvGrpSpPr/>
          <p:nvPr/>
        </p:nvGrpSpPr>
        <p:grpSpPr>
          <a:xfrm>
            <a:off x="5121137" y="1896801"/>
            <a:ext cx="1584423" cy="884718"/>
            <a:chOff x="5121137" y="1896801"/>
            <a:chExt cx="1584423" cy="884718"/>
          </a:xfrm>
        </p:grpSpPr>
        <p:sp>
          <p:nvSpPr>
            <p:cNvPr id="605212" name="Text Box 28"/>
            <p:cNvSpPr txBox="1">
              <a:spLocks noChangeArrowheads="1"/>
            </p:cNvSpPr>
            <p:nvPr/>
          </p:nvSpPr>
          <p:spPr bwMode="auto">
            <a:xfrm>
              <a:off x="5121137" y="1896801"/>
              <a:ext cx="1459054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1008063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defTabSz="1008063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defTabSz="1008063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defTabSz="1008063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defTabSz="1008063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s-ES" sz="2400">
                  <a:solidFill>
                    <a:schemeClr val="tx1"/>
                  </a:solidFill>
                  <a:sym typeface="Symbol" panose="05050102010706020507" pitchFamily="18" charset="2"/>
                </a:rPr>
                <a:t> </a:t>
              </a:r>
              <a:r>
                <a:rPr lang="es-ES" sz="2400">
                  <a:solidFill>
                    <a:schemeClr val="tx1"/>
                  </a:solidFill>
                </a:rPr>
                <a:t>Si </a:t>
              </a:r>
              <a:r>
                <a:rPr lang="es-ES" sz="2400">
                  <a:solidFill>
                    <a:schemeClr val="tx1"/>
                  </a:solidFill>
                  <a:latin typeface="Comic Sans MS" panose="030F0702030302020204" pitchFamily="66" charset="0"/>
                </a:rPr>
                <a:t>I</a:t>
              </a:r>
              <a:r>
                <a:rPr lang="es-ES" sz="2400">
                  <a:solidFill>
                    <a:schemeClr val="tx1"/>
                  </a:solidFill>
                </a:rPr>
                <a:t> &gt; 0</a:t>
              </a:r>
              <a:endParaRPr lang="es-ES" sz="2400">
                <a:solidFill>
                  <a:schemeClr val="tx1"/>
                </a:solidFill>
                <a:sym typeface="Symbol" panose="05050102010706020507" pitchFamily="18" charset="2"/>
              </a:endParaRPr>
            </a:p>
          </p:txBody>
        </p:sp>
        <p:sp>
          <p:nvSpPr>
            <p:cNvPr id="605302" name="Text Box 118"/>
            <p:cNvSpPr txBox="1">
              <a:spLocks noChangeArrowheads="1"/>
            </p:cNvSpPr>
            <p:nvPr/>
          </p:nvSpPr>
          <p:spPr bwMode="auto">
            <a:xfrm>
              <a:off x="5273460" y="2244970"/>
              <a:ext cx="1432100" cy="5365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dirty="0">
                  <a:solidFill>
                    <a:srgbClr val="FF0000"/>
                  </a:solidFill>
                </a:rPr>
                <a:t>(si viene)</a:t>
              </a:r>
            </a:p>
          </p:txBody>
        </p:sp>
      </p:grpSp>
      <p:sp>
        <p:nvSpPr>
          <p:cNvPr id="21535" name="Text Box 126"/>
          <p:cNvSpPr txBox="1">
            <a:spLocks noChangeArrowheads="1"/>
          </p:cNvSpPr>
          <p:nvPr/>
        </p:nvSpPr>
        <p:spPr bwMode="auto">
          <a:xfrm>
            <a:off x="2095399" y="484051"/>
            <a:ext cx="398463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b="1">
                <a:solidFill>
                  <a:srgbClr val="3333FF"/>
                </a:solidFill>
                <a:sym typeface="Symbol" panose="05050102010706020507" pitchFamily="18" charset="2"/>
              </a:rPr>
              <a:t></a:t>
            </a:r>
            <a:endParaRPr lang="es-ES" sz="2400"/>
          </a:p>
        </p:txBody>
      </p:sp>
      <p:sp>
        <p:nvSpPr>
          <p:cNvPr id="21536" name="Text Box 127"/>
          <p:cNvSpPr txBox="1">
            <a:spLocks noChangeArrowheads="1"/>
          </p:cNvSpPr>
          <p:nvPr/>
        </p:nvSpPr>
        <p:spPr bwMode="auto">
          <a:xfrm>
            <a:off x="2536724" y="3287576"/>
            <a:ext cx="398463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b="1">
                <a:solidFill>
                  <a:srgbClr val="3333FF"/>
                </a:solidFill>
                <a:sym typeface="Symbol" panose="05050102010706020507" pitchFamily="18" charset="2"/>
              </a:rPr>
              <a:t></a:t>
            </a:r>
            <a:endParaRPr lang="es-ES" sz="2400"/>
          </a:p>
        </p:txBody>
      </p:sp>
      <p:sp>
        <p:nvSpPr>
          <p:cNvPr id="605318" name="Text Box 134"/>
          <p:cNvSpPr txBox="1">
            <a:spLocks noChangeArrowheads="1"/>
          </p:cNvSpPr>
          <p:nvPr/>
        </p:nvSpPr>
        <p:spPr bwMode="auto">
          <a:xfrm>
            <a:off x="7139390" y="1045079"/>
            <a:ext cx="1361568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 B  1/r</a:t>
            </a:r>
          </a:p>
        </p:txBody>
      </p:sp>
      <p:sp>
        <p:nvSpPr>
          <p:cNvPr id="605323" name="Text Box 139"/>
          <p:cNvSpPr txBox="1">
            <a:spLocks noChangeArrowheads="1"/>
          </p:cNvSpPr>
          <p:nvPr/>
        </p:nvSpPr>
        <p:spPr bwMode="auto">
          <a:xfrm>
            <a:off x="7608630" y="2234921"/>
            <a:ext cx="1997961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dirty="0">
                <a:solidFill>
                  <a:srgbClr val="FF0000"/>
                </a:solidFill>
              </a:rPr>
              <a:t>(lo esperado)</a:t>
            </a:r>
          </a:p>
        </p:txBody>
      </p:sp>
      <p:grpSp>
        <p:nvGrpSpPr>
          <p:cNvPr id="67" name="Grupo 66"/>
          <p:cNvGrpSpPr/>
          <p:nvPr/>
        </p:nvGrpSpPr>
        <p:grpSpPr>
          <a:xfrm>
            <a:off x="3538369" y="658531"/>
            <a:ext cx="496812" cy="477445"/>
            <a:chOff x="7079298" y="4873353"/>
            <a:chExt cx="496812" cy="477445"/>
          </a:xfrm>
        </p:grpSpPr>
        <p:sp>
          <p:nvSpPr>
            <p:cNvPr id="68" name="Rectángulo 67"/>
            <p:cNvSpPr/>
            <p:nvPr/>
          </p:nvSpPr>
          <p:spPr bwMode="auto">
            <a:xfrm rot="19084679">
              <a:off x="7079298" y="4881048"/>
              <a:ext cx="487680" cy="469750"/>
            </a:xfrm>
            <a:prstGeom prst="rect">
              <a:avLst/>
            </a:prstGeom>
            <a:solidFill>
              <a:srgbClr val="FFFF00"/>
            </a:solidFill>
            <a:ln w="25400" cap="flat" cmpd="sng" algn="ctr">
              <a:noFill/>
              <a:prstDash val="solid"/>
              <a:round/>
              <a:headEnd type="none" w="med" len="med"/>
              <a:tailEnd type="stealth" w="lg" len="lg"/>
            </a:ln>
            <a:effectLst/>
            <a:extLs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vert="horz" wrap="non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endParaRPr>
            </a:p>
          </p:txBody>
        </p:sp>
        <p:grpSp>
          <p:nvGrpSpPr>
            <p:cNvPr id="70" name="Group 87"/>
            <p:cNvGrpSpPr>
              <a:grpSpLocks/>
            </p:cNvGrpSpPr>
            <p:nvPr/>
          </p:nvGrpSpPr>
          <p:grpSpPr bwMode="auto">
            <a:xfrm rot="19671486">
              <a:off x="7144310" y="4873353"/>
              <a:ext cx="431800" cy="420687"/>
              <a:chOff x="6083" y="3089"/>
              <a:chExt cx="272" cy="265"/>
            </a:xfrm>
          </p:grpSpPr>
          <p:sp>
            <p:nvSpPr>
              <p:cNvPr id="71" name="Line 84"/>
              <p:cNvSpPr>
                <a:spLocks noChangeShapeType="1"/>
              </p:cNvSpPr>
              <p:nvPr/>
            </p:nvSpPr>
            <p:spPr bwMode="auto">
              <a:xfrm rot="10415585" flipH="1">
                <a:off x="6098" y="3207"/>
                <a:ext cx="257" cy="14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>
                  <a:solidFill>
                    <a:schemeClr val="tx1"/>
                  </a:solidFill>
                </a:endParaRPr>
              </a:p>
            </p:txBody>
          </p:sp>
          <p:sp>
            <p:nvSpPr>
              <p:cNvPr id="73" name="Line 85"/>
              <p:cNvSpPr>
                <a:spLocks noChangeShapeType="1"/>
              </p:cNvSpPr>
              <p:nvPr/>
            </p:nvSpPr>
            <p:spPr bwMode="auto">
              <a:xfrm rot="10415585">
                <a:off x="6083" y="3089"/>
                <a:ext cx="251" cy="10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>
                  <a:solidFill>
                    <a:schemeClr val="tx1"/>
                  </a:solidFill>
                </a:endParaRPr>
              </a:p>
            </p:txBody>
          </p:sp>
          <p:sp>
            <p:nvSpPr>
              <p:cNvPr id="74" name="Oval 86"/>
              <p:cNvSpPr>
                <a:spLocks noChangeArrowheads="1"/>
              </p:cNvSpPr>
              <p:nvPr/>
            </p:nvSpPr>
            <p:spPr bwMode="auto">
              <a:xfrm rot="10415585">
                <a:off x="6132" y="3128"/>
                <a:ext cx="56" cy="19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78" name="Grupo 77">
            <a:extLst>
              <a:ext uri="{FF2B5EF4-FFF2-40B4-BE49-F238E27FC236}">
                <a16:creationId xmlns:a16="http://schemas.microsoft.com/office/drawing/2014/main" id="{D48D7CB5-157B-4571-AAAE-400CBB770D3E}"/>
              </a:ext>
            </a:extLst>
          </p:cNvPr>
          <p:cNvGrpSpPr/>
          <p:nvPr/>
        </p:nvGrpSpPr>
        <p:grpSpPr>
          <a:xfrm>
            <a:off x="8139338" y="2899223"/>
            <a:ext cx="1036610" cy="1824944"/>
            <a:chOff x="6214383" y="4165206"/>
            <a:chExt cx="1640349" cy="2887822"/>
          </a:xfrm>
        </p:grpSpPr>
        <p:pic>
          <p:nvPicPr>
            <p:cNvPr id="79" name="Imagen 78">
              <a:extLst>
                <a:ext uri="{FF2B5EF4-FFF2-40B4-BE49-F238E27FC236}">
                  <a16:creationId xmlns:a16="http://schemas.microsoft.com/office/drawing/2014/main" id="{ABCDEF1B-FF62-413A-AF39-EB0B3532250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220943" y="4165206"/>
              <a:ext cx="1633789" cy="2887822"/>
            </a:xfrm>
            <a:prstGeom prst="rect">
              <a:avLst/>
            </a:prstGeom>
          </p:spPr>
        </p:pic>
        <p:sp>
          <p:nvSpPr>
            <p:cNvPr id="80" name="Forma libre 2">
              <a:extLst>
                <a:ext uri="{FF2B5EF4-FFF2-40B4-BE49-F238E27FC236}">
                  <a16:creationId xmlns:a16="http://schemas.microsoft.com/office/drawing/2014/main" id="{080E92F0-8485-44D6-BE8B-17A4CBB33E00}"/>
                </a:ext>
              </a:extLst>
            </p:cNvPr>
            <p:cNvSpPr>
              <a:spLocks/>
            </p:cNvSpPr>
            <p:nvPr/>
          </p:nvSpPr>
          <p:spPr bwMode="auto">
            <a:xfrm>
              <a:off x="6214383" y="5436833"/>
              <a:ext cx="612609" cy="505416"/>
            </a:xfrm>
            <a:custGeom>
              <a:avLst/>
              <a:gdLst>
                <a:gd name="T0" fmla="*/ 92687 w 612233"/>
                <a:gd name="T1" fmla="*/ 0 h 505493"/>
                <a:gd name="T2" fmla="*/ 9560 w 612233"/>
                <a:gd name="T3" fmla="*/ 332509 h 505493"/>
                <a:gd name="T4" fmla="*/ 290114 w 612233"/>
                <a:gd name="T5" fmla="*/ 498764 h 505493"/>
                <a:gd name="T6" fmla="*/ 612233 w 612233"/>
                <a:gd name="T7" fmla="*/ 457200 h 50549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12233" h="505493">
                  <a:moveTo>
                    <a:pt x="92687" y="0"/>
                  </a:moveTo>
                  <a:cubicBezTo>
                    <a:pt x="34671" y="124691"/>
                    <a:pt x="-23345" y="249382"/>
                    <a:pt x="9560" y="332509"/>
                  </a:cubicBezTo>
                  <a:cubicBezTo>
                    <a:pt x="42464" y="415636"/>
                    <a:pt x="189669" y="477982"/>
                    <a:pt x="290114" y="498764"/>
                  </a:cubicBezTo>
                  <a:cubicBezTo>
                    <a:pt x="390559" y="519546"/>
                    <a:pt x="501396" y="488373"/>
                    <a:pt x="612233" y="457200"/>
                  </a:cubicBezTo>
                </a:path>
              </a:pathLst>
            </a:custGeom>
            <a:noFill/>
            <a:ln w="28575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82800" rIns="90000" bIns="82800">
              <a:spAutoFit/>
            </a:bodyPr>
            <a:lstStyle/>
            <a:p>
              <a:endParaRPr lang="en-GB"/>
            </a:p>
          </p:txBody>
        </p:sp>
        <p:cxnSp>
          <p:nvCxnSpPr>
            <p:cNvPr id="81" name="Conector recto de flecha 8">
              <a:extLst>
                <a:ext uri="{FF2B5EF4-FFF2-40B4-BE49-F238E27FC236}">
                  <a16:creationId xmlns:a16="http://schemas.microsoft.com/office/drawing/2014/main" id="{8B70A15D-0181-430B-A56A-5C51254460A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6607382" y="4539599"/>
              <a:ext cx="241348" cy="590255"/>
            </a:xfrm>
            <a:prstGeom prst="straightConnector1">
              <a:avLst/>
            </a:prstGeom>
            <a:noFill/>
            <a:ln w="31750" algn="ctr">
              <a:solidFill>
                <a:srgbClr val="0000FF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</p:cxnSp>
        <p:sp>
          <p:nvSpPr>
            <p:cNvPr id="82" name="CuadroTexto 10">
              <a:extLst>
                <a:ext uri="{FF2B5EF4-FFF2-40B4-BE49-F238E27FC236}">
                  <a16:creationId xmlns:a16="http://schemas.microsoft.com/office/drawing/2014/main" id="{0BE82369-3401-4B55-914A-C1A3A8BEC6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60892" y="4254898"/>
              <a:ext cx="352982" cy="4616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s-ES" sz="2400">
                  <a:solidFill>
                    <a:srgbClr val="0000FF"/>
                  </a:solidFill>
                  <a:latin typeface="Comic Sans MS" panose="030F0702030302020204" pitchFamily="66" charset="0"/>
                </a:rPr>
                <a:t>I</a:t>
              </a:r>
            </a:p>
          </p:txBody>
        </p:sp>
      </p:grpSp>
      <p:sp>
        <p:nvSpPr>
          <p:cNvPr id="2" name="Line 106">
            <a:extLst>
              <a:ext uri="{FF2B5EF4-FFF2-40B4-BE49-F238E27FC236}">
                <a16:creationId xmlns:a16="http://schemas.microsoft.com/office/drawing/2014/main" id="{2937FCE4-F7E9-A919-A17E-FFCC0567EE4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55922" y="2264441"/>
            <a:ext cx="1592311" cy="869586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/>
          <a:p>
            <a:endParaRPr lang="en-GB"/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733121D2-2FE1-15C3-3D92-9B590CDAC739}"/>
              </a:ext>
            </a:extLst>
          </p:cNvPr>
          <p:cNvGrpSpPr/>
          <p:nvPr/>
        </p:nvGrpSpPr>
        <p:grpSpPr>
          <a:xfrm>
            <a:off x="3231263" y="2619780"/>
            <a:ext cx="699484" cy="899730"/>
            <a:chOff x="3629516" y="4907211"/>
            <a:chExt cx="699484" cy="899730"/>
          </a:xfrm>
        </p:grpSpPr>
        <p:sp>
          <p:nvSpPr>
            <p:cNvPr id="4" name="Line 104">
              <a:extLst>
                <a:ext uri="{FF2B5EF4-FFF2-40B4-BE49-F238E27FC236}">
                  <a16:creationId xmlns:a16="http://schemas.microsoft.com/office/drawing/2014/main" id="{BE423807-C267-1212-2B6C-9CB4A895D9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9516" y="4907211"/>
              <a:ext cx="699484" cy="39840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82800" rIns="90000" bIns="82800">
              <a:spAutoFit/>
            </a:bodyPr>
            <a:lstStyle/>
            <a:p>
              <a:endParaRPr lang="en-GB"/>
            </a:p>
          </p:txBody>
        </p:sp>
        <p:graphicFrame>
          <p:nvGraphicFramePr>
            <p:cNvPr id="5" name="Object 109">
              <a:extLst>
                <a:ext uri="{FF2B5EF4-FFF2-40B4-BE49-F238E27FC236}">
                  <a16:creationId xmlns:a16="http://schemas.microsoft.com/office/drawing/2014/main" id="{6211BA80-865D-8DD4-C009-F96C9D6ED32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89670782"/>
                </p:ext>
              </p:extLst>
            </p:nvPr>
          </p:nvGraphicFramePr>
          <p:xfrm>
            <a:off x="3864752" y="5378316"/>
            <a:ext cx="323850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8" imgW="152268" imgH="203024" progId="Equation.3">
                    <p:embed/>
                  </p:oleObj>
                </mc:Choice>
                <mc:Fallback>
                  <p:oleObj name="Ecuación" r:id="rId8" imgW="152268" imgH="203024" progId="Equation.3">
                    <p:embed/>
                    <p:pic>
                      <p:nvPicPr>
                        <p:cNvPr id="80" name="Object 109">
                          <a:extLst>
                            <a:ext uri="{FF2B5EF4-FFF2-40B4-BE49-F238E27FC236}">
                              <a16:creationId xmlns:a16="http://schemas.microsoft.com/office/drawing/2014/main" id="{539AE124-98CC-42BD-BFE3-4906583B12C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64752" y="5378316"/>
                          <a:ext cx="323850" cy="4286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Text Box 78">
            <a:extLst>
              <a:ext uri="{FF2B5EF4-FFF2-40B4-BE49-F238E27FC236}">
                <a16:creationId xmlns:a16="http://schemas.microsoft.com/office/drawing/2014/main" id="{8FD69D24-F1EF-F66F-34B0-F801743D9E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9264" y="5120588"/>
            <a:ext cx="3390267" cy="127521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s-ES" sz="2400" b="1">
                <a:solidFill>
                  <a:schemeClr val="tx1"/>
                </a:solidFill>
              </a:rPr>
              <a:t>E</a:t>
            </a:r>
            <a:r>
              <a:rPr lang="es-ES" sz="2400">
                <a:solidFill>
                  <a:schemeClr val="tx1"/>
                </a:solidFill>
              </a:rPr>
              <a:t> </a:t>
            </a:r>
            <a:r>
              <a:rPr lang="es-ES" sz="2400" dirty="0">
                <a:solidFill>
                  <a:schemeClr val="tx1"/>
                </a:solidFill>
              </a:rPr>
              <a:t>creado </a:t>
            </a:r>
            <a:r>
              <a:rPr lang="es-ES" sz="2400">
                <a:solidFill>
                  <a:schemeClr val="tx1"/>
                </a:solidFill>
              </a:rPr>
              <a:t>por hilo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, recto,</a:t>
            </a:r>
            <a:r>
              <a:rPr lang="es-ES" sz="2400">
                <a:solidFill>
                  <a:schemeClr val="tx1"/>
                </a:solidFill>
              </a:rPr>
              <a:t> con  </a:t>
            </a:r>
            <a:r>
              <a:rPr lang="es-ES" sz="2400" dirty="0">
                <a:solidFill>
                  <a:schemeClr val="tx1"/>
                </a:solidFill>
              </a:rPr>
              <a:t>densidad lineal de carga,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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, cte.</a:t>
            </a:r>
            <a:endParaRPr lang="es-ES" sz="2400" baseline="-250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grpSp>
        <p:nvGrpSpPr>
          <p:cNvPr id="7" name="Group 5">
            <a:extLst>
              <a:ext uri="{FF2B5EF4-FFF2-40B4-BE49-F238E27FC236}">
                <a16:creationId xmlns:a16="http://schemas.microsoft.com/office/drawing/2014/main" id="{09BEF3B2-3B6F-D791-98B3-F3592783FB0E}"/>
              </a:ext>
            </a:extLst>
          </p:cNvPr>
          <p:cNvGrpSpPr>
            <a:grpSpLocks/>
          </p:cNvGrpSpPr>
          <p:nvPr/>
        </p:nvGrpSpPr>
        <p:grpSpPr bwMode="auto">
          <a:xfrm>
            <a:off x="4923663" y="5240669"/>
            <a:ext cx="1954213" cy="1035050"/>
            <a:chOff x="3938" y="3264"/>
            <a:chExt cx="1231" cy="652"/>
          </a:xfrm>
        </p:grpSpPr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7CF47823-E86F-BF7F-E675-053C30883B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8" y="3264"/>
              <a:ext cx="1223" cy="639"/>
            </a:xfrm>
            <a:prstGeom prst="rect">
              <a:avLst/>
            </a:prstGeom>
            <a:solidFill>
              <a:srgbClr val="FF99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>
                <a:solidFill>
                  <a:srgbClr val="D60093"/>
                </a:solidFill>
              </a:endParaRPr>
            </a:p>
          </p:txBody>
        </p:sp>
        <p:graphicFrame>
          <p:nvGraphicFramePr>
            <p:cNvPr id="9" name="Object 7">
              <a:extLst>
                <a:ext uri="{FF2B5EF4-FFF2-40B4-BE49-F238E27FC236}">
                  <a16:creationId xmlns:a16="http://schemas.microsoft.com/office/drawing/2014/main" id="{2F90F3C1-25E3-5B23-7C0C-30F3F566584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64" y="3272"/>
            <a:ext cx="1205" cy="6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0" imgW="799753" imgH="431613" progId="Equation.3">
                    <p:embed/>
                  </p:oleObj>
                </mc:Choice>
                <mc:Fallback>
                  <p:oleObj name="Ecuación" r:id="rId10" imgW="799753" imgH="431613" progId="Equation.3">
                    <p:embed/>
                    <p:pic>
                      <p:nvPicPr>
                        <p:cNvPr id="84" name="Object 7">
                          <a:extLst>
                            <a:ext uri="{FF2B5EF4-FFF2-40B4-BE49-F238E27FC236}">
                              <a16:creationId xmlns:a16="http://schemas.microsoft.com/office/drawing/2014/main" id="{33D03233-4759-42F1-872A-3418F0B1C3B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64" y="3272"/>
                          <a:ext cx="1205" cy="6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Text Box 122">
            <a:extLst>
              <a:ext uri="{FF2B5EF4-FFF2-40B4-BE49-F238E27FC236}">
                <a16:creationId xmlns:a16="http://schemas.microsoft.com/office/drawing/2014/main" id="{F698A25D-075E-6100-575E-0269578CE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5183" y="3697035"/>
            <a:ext cx="1384010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>
                <a:solidFill>
                  <a:srgbClr val="FF0000"/>
                </a:solidFill>
              </a:rPr>
              <a:t>(si </a:t>
            </a:r>
            <a:r>
              <a:rPr lang="es-ES" sz="2400">
                <a:solidFill>
                  <a:srgbClr val="FF0000"/>
                </a:solidFill>
                <a:sym typeface="Symbol" panose="05050102010706020507" pitchFamily="18" charset="2"/>
              </a:rPr>
              <a:t> </a:t>
            </a:r>
            <a:r>
              <a:rPr lang="es-ES" sz="2400" dirty="0">
                <a:solidFill>
                  <a:srgbClr val="FF0000"/>
                </a:solidFill>
                <a:sym typeface="Symbol" panose="05050102010706020507" pitchFamily="18" charset="2"/>
              </a:rPr>
              <a:t>&gt; 0</a:t>
            </a:r>
            <a:r>
              <a:rPr lang="es-ES" sz="240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12" name="Text Box 78">
            <a:extLst>
              <a:ext uri="{FF2B5EF4-FFF2-40B4-BE49-F238E27FC236}">
                <a16:creationId xmlns:a16="http://schemas.microsoft.com/office/drawing/2014/main" id="{B3C2D282-8874-9F48-1C65-E3D3D5A8F9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5764" y="5208217"/>
            <a:ext cx="3550117" cy="536549"/>
          </a:xfrm>
          <a:prstGeom prst="rect">
            <a:avLst/>
          </a:prstGeom>
          <a:noFill/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 E es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 a 1/r,  y 1/</a:t>
            </a:r>
            <a:endParaRPr lang="es-ES" sz="2400" baseline="-250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13" name="Text Box 78">
            <a:extLst>
              <a:ext uri="{FF2B5EF4-FFF2-40B4-BE49-F238E27FC236}">
                <a16:creationId xmlns:a16="http://schemas.microsoft.com/office/drawing/2014/main" id="{AFFCE987-E6C9-9DAB-C87B-5C995BBBD8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6451" y="5754236"/>
            <a:ext cx="3590796" cy="536549"/>
          </a:xfrm>
          <a:prstGeom prst="rect">
            <a:avLst/>
          </a:prstGeom>
          <a:noFill/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 </a:t>
            </a:r>
            <a:r>
              <a:rPr lang="es-ES" sz="2400" b="1">
                <a:solidFill>
                  <a:schemeClr val="tx1"/>
                </a:solidFill>
              </a:rPr>
              <a:t>E</a:t>
            </a:r>
            <a:r>
              <a:rPr lang="es-ES" sz="2400">
                <a:solidFill>
                  <a:schemeClr val="tx1"/>
                </a:solidFill>
              </a:rPr>
              <a:t> </a:t>
            </a:r>
            <a:r>
              <a:rPr lang="es-ES" sz="2400" dirty="0">
                <a:solidFill>
                  <a:schemeClr val="tx1"/>
                </a:solidFill>
              </a:rPr>
              <a:t>es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 al hilo y radial</a:t>
            </a:r>
            <a:endParaRPr lang="es-ES" sz="2400" baseline="-250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grpSp>
        <p:nvGrpSpPr>
          <p:cNvPr id="21" name="Grupo 20">
            <a:extLst>
              <a:ext uri="{FF2B5EF4-FFF2-40B4-BE49-F238E27FC236}">
                <a16:creationId xmlns:a16="http://schemas.microsoft.com/office/drawing/2014/main" id="{0058E4B0-C644-C856-F775-344D793067C7}"/>
              </a:ext>
            </a:extLst>
          </p:cNvPr>
          <p:cNvGrpSpPr/>
          <p:nvPr/>
        </p:nvGrpSpPr>
        <p:grpSpPr>
          <a:xfrm>
            <a:off x="3114771" y="2000804"/>
            <a:ext cx="451754" cy="638297"/>
            <a:chOff x="3114771" y="2000804"/>
            <a:chExt cx="451754" cy="63829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Object 61">
                  <a:extLst>
                    <a:ext uri="{FF2B5EF4-FFF2-40B4-BE49-F238E27FC236}">
                      <a16:creationId xmlns:a16="http://schemas.microsoft.com/office/drawing/2014/main" id="{A85A178D-101D-4203-77F7-839F3DCF0B16}"/>
                    </a:ext>
                  </a:extLst>
                </p:cNvPr>
                <p:cNvSpPr txBox="1"/>
                <p:nvPr/>
              </p:nvSpPr>
              <p:spPr bwMode="auto">
                <a:xfrm>
                  <a:off x="3114771" y="2000804"/>
                  <a:ext cx="451754" cy="60483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E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s-E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s-ES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e>
                            </m:acc>
                          </m:e>
                          <m:sub>
                            <m:r>
                              <m:rPr>
                                <m:sty m:val="p"/>
                              </m:rPr>
                              <a:rPr lang="es-ES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ϕ</m:t>
                            </m:r>
                          </m:sub>
                        </m:sSub>
                      </m:oMath>
                    </m:oMathPara>
                  </a14:m>
                  <a:endParaRPr lang="es-ES" dirty="0"/>
                </a:p>
              </p:txBody>
            </p:sp>
          </mc:Choice>
          <mc:Fallback xmlns="">
            <p:sp>
              <p:nvSpPr>
                <p:cNvPr id="14" name="Object 61">
                  <a:extLst>
                    <a:ext uri="{FF2B5EF4-FFF2-40B4-BE49-F238E27FC236}">
                      <a16:creationId xmlns:a16="http://schemas.microsoft.com/office/drawing/2014/main" id="{A85A178D-101D-4203-77F7-839F3DCF0B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114771" y="2000804"/>
                  <a:ext cx="451754" cy="60483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Conector recto de flecha 8">
              <a:extLst>
                <a:ext uri="{FF2B5EF4-FFF2-40B4-BE49-F238E27FC236}">
                  <a16:creationId xmlns:a16="http://schemas.microsoft.com/office/drawing/2014/main" id="{4AC87A17-CF1B-A474-4B92-6B20EE0C405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238690" y="2426294"/>
              <a:ext cx="291013" cy="212807"/>
            </a:xfrm>
            <a:prstGeom prst="straightConnector1">
              <a:avLst/>
            </a:prstGeom>
            <a:noFill/>
            <a:ln w="31750" algn="ctr">
              <a:solidFill>
                <a:srgbClr val="0000FF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</p:cxnSp>
      </p:grpSp>
      <p:grpSp>
        <p:nvGrpSpPr>
          <p:cNvPr id="22" name="Grupo 21">
            <a:extLst>
              <a:ext uri="{FF2B5EF4-FFF2-40B4-BE49-F238E27FC236}">
                <a16:creationId xmlns:a16="http://schemas.microsoft.com/office/drawing/2014/main" id="{616EF58A-669E-C84B-3EEA-3F0B3C538726}"/>
              </a:ext>
            </a:extLst>
          </p:cNvPr>
          <p:cNvGrpSpPr/>
          <p:nvPr/>
        </p:nvGrpSpPr>
        <p:grpSpPr>
          <a:xfrm>
            <a:off x="3088951" y="2630987"/>
            <a:ext cx="440752" cy="505395"/>
            <a:chOff x="3088951" y="2630987"/>
            <a:chExt cx="440752" cy="505395"/>
          </a:xfrm>
        </p:grpSpPr>
        <p:graphicFrame>
          <p:nvGraphicFramePr>
            <p:cNvPr id="15" name="Object 7">
              <a:extLst>
                <a:ext uri="{FF2B5EF4-FFF2-40B4-BE49-F238E27FC236}">
                  <a16:creationId xmlns:a16="http://schemas.microsoft.com/office/drawing/2014/main" id="{1F836C50-57BA-3741-99E4-37C962402AF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7561172"/>
                </p:ext>
              </p:extLst>
            </p:nvPr>
          </p:nvGraphicFramePr>
          <p:xfrm>
            <a:off x="3088951" y="2653958"/>
            <a:ext cx="316291" cy="4824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3" imgW="152268" imgH="215713" progId="Equation.3">
                    <p:embed/>
                  </p:oleObj>
                </mc:Choice>
                <mc:Fallback>
                  <p:oleObj name="Ecuación" r:id="rId13" imgW="152268" imgH="215713" progId="Equation.3">
                    <p:embed/>
                    <p:pic>
                      <p:nvPicPr>
                        <p:cNvPr id="4" name="Object 7">
                          <a:extLst>
                            <a:ext uri="{FF2B5EF4-FFF2-40B4-BE49-F238E27FC236}">
                              <a16:creationId xmlns:a16="http://schemas.microsoft.com/office/drawing/2014/main" id="{AA862219-0A6A-EFF9-7B4A-633A67A6624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88951" y="2653958"/>
                          <a:ext cx="316291" cy="4824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8" name="Conector recto de flecha 8">
              <a:extLst>
                <a:ext uri="{FF2B5EF4-FFF2-40B4-BE49-F238E27FC236}">
                  <a16:creationId xmlns:a16="http://schemas.microsoft.com/office/drawing/2014/main" id="{A7E8DF1E-014A-FAAE-6727-E73E8C205D2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275373" y="2630987"/>
              <a:ext cx="254330" cy="162283"/>
            </a:xfrm>
            <a:prstGeom prst="straightConnector1">
              <a:avLst/>
            </a:prstGeom>
            <a:noFill/>
            <a:ln w="31750" algn="ctr">
              <a:solidFill>
                <a:srgbClr val="0000FF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05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05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605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605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05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605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5214" grpId="0"/>
      <p:bldP spid="605318" grpId="0"/>
      <p:bldP spid="605323" grpId="0"/>
      <p:bldP spid="2" grpId="0" animBg="1"/>
      <p:bldP spid="6" grpId="0" animBg="1"/>
      <p:bldP spid="11" grpId="0"/>
      <p:bldP spid="12" grpId="0"/>
      <p:bldP spid="1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ángulo 50">
            <a:extLst>
              <a:ext uri="{FF2B5EF4-FFF2-40B4-BE49-F238E27FC236}">
                <a16:creationId xmlns:a16="http://schemas.microsoft.com/office/drawing/2014/main" id="{C802D222-0EB6-4BAA-AF0C-9F7139B4FCEF}"/>
              </a:ext>
            </a:extLst>
          </p:cNvPr>
          <p:cNvSpPr/>
          <p:nvPr/>
        </p:nvSpPr>
        <p:spPr bwMode="auto">
          <a:xfrm>
            <a:off x="1361985" y="1097159"/>
            <a:ext cx="2315492" cy="38520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non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93949" name="Oval 29"/>
          <p:cNvSpPr>
            <a:spLocks noChangeArrowheads="1"/>
          </p:cNvSpPr>
          <p:nvPr/>
        </p:nvSpPr>
        <p:spPr bwMode="auto">
          <a:xfrm rot="16200000">
            <a:off x="1944623" y="1928647"/>
            <a:ext cx="1108075" cy="1809750"/>
          </a:xfrm>
          <a:prstGeom prst="ellipse">
            <a:avLst/>
          </a:prstGeom>
          <a:solidFill>
            <a:srgbClr val="FFFF99">
              <a:alpha val="74901"/>
            </a:srgbClr>
          </a:solidFill>
          <a:ln w="25400">
            <a:solidFill>
              <a:srgbClr val="0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>
              <a:solidFill>
                <a:srgbClr val="D60093"/>
              </a:solidFill>
            </a:endParaRPr>
          </a:p>
        </p:txBody>
      </p:sp>
      <p:sp>
        <p:nvSpPr>
          <p:cNvPr id="593951" name="Text Box 31"/>
          <p:cNvSpPr txBox="1">
            <a:spLocks noChangeArrowheads="1"/>
          </p:cNvSpPr>
          <p:nvPr/>
        </p:nvSpPr>
        <p:spPr bwMode="auto">
          <a:xfrm>
            <a:off x="1558861" y="2562059"/>
            <a:ext cx="386942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b="1"/>
              <a:t>S</a:t>
            </a:r>
          </a:p>
        </p:txBody>
      </p:sp>
      <p:sp>
        <p:nvSpPr>
          <p:cNvPr id="593952" name="Text Box 32"/>
          <p:cNvSpPr txBox="1">
            <a:spLocks noChangeArrowheads="1"/>
          </p:cNvSpPr>
          <p:nvPr/>
        </p:nvSpPr>
        <p:spPr bwMode="auto">
          <a:xfrm>
            <a:off x="1385447" y="2071535"/>
            <a:ext cx="404576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b="1">
                <a:solidFill>
                  <a:srgbClr val="008000"/>
                </a:solidFill>
              </a:rPr>
              <a:t>C</a:t>
            </a:r>
          </a:p>
        </p:txBody>
      </p:sp>
      <p:sp>
        <p:nvSpPr>
          <p:cNvPr id="593963" name="Oval 43"/>
          <p:cNvSpPr>
            <a:spLocks noChangeArrowheads="1"/>
          </p:cNvSpPr>
          <p:nvPr/>
        </p:nvSpPr>
        <p:spPr bwMode="auto">
          <a:xfrm>
            <a:off x="1890649" y="2495384"/>
            <a:ext cx="1239837" cy="588963"/>
          </a:xfrm>
          <a:prstGeom prst="ellipse">
            <a:avLst/>
          </a:prstGeom>
          <a:noFill/>
          <a:ln w="25400" algn="ctr">
            <a:solidFill>
              <a:schemeClr val="tx1"/>
            </a:solidFill>
            <a:prstDash val="dash"/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0000" tIns="82800" rIns="90000" bIns="82800" anchor="ctr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>
              <a:solidFill>
                <a:srgbClr val="D60093"/>
              </a:solidFill>
            </a:endParaRPr>
          </a:p>
        </p:txBody>
      </p:sp>
      <p:sp>
        <p:nvSpPr>
          <p:cNvPr id="593972" name="Oval 52"/>
          <p:cNvSpPr>
            <a:spLocks noChangeArrowheads="1"/>
          </p:cNvSpPr>
          <p:nvPr/>
        </p:nvSpPr>
        <p:spPr bwMode="auto">
          <a:xfrm rot="16200000">
            <a:off x="2257362" y="3263734"/>
            <a:ext cx="519112" cy="1036637"/>
          </a:xfrm>
          <a:prstGeom prst="ellipse">
            <a:avLst/>
          </a:prstGeom>
          <a:solidFill>
            <a:srgbClr val="FFFF99">
              <a:alpha val="74901"/>
            </a:srgbClr>
          </a:solidFill>
          <a:ln w="25400">
            <a:solidFill>
              <a:srgbClr val="008000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>
              <a:solidFill>
                <a:srgbClr val="D60093"/>
              </a:solidFill>
            </a:endParaRPr>
          </a:p>
        </p:txBody>
      </p:sp>
      <p:sp>
        <p:nvSpPr>
          <p:cNvPr id="593973" name="Text Box 53"/>
          <p:cNvSpPr txBox="1">
            <a:spLocks noChangeArrowheads="1"/>
          </p:cNvSpPr>
          <p:nvPr/>
        </p:nvSpPr>
        <p:spPr bwMode="auto">
          <a:xfrm>
            <a:off x="1927636" y="3916197"/>
            <a:ext cx="404576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b="1">
                <a:solidFill>
                  <a:srgbClr val="008000"/>
                </a:solidFill>
              </a:rPr>
              <a:t>C</a:t>
            </a:r>
          </a:p>
        </p:txBody>
      </p:sp>
      <p:sp>
        <p:nvSpPr>
          <p:cNvPr id="593974" name="Text Box 54"/>
          <p:cNvSpPr txBox="1">
            <a:spLocks noChangeArrowheads="1"/>
          </p:cNvSpPr>
          <p:nvPr/>
        </p:nvSpPr>
        <p:spPr bwMode="auto">
          <a:xfrm>
            <a:off x="2116074" y="3516147"/>
            <a:ext cx="386942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b="1"/>
              <a:t>S</a:t>
            </a:r>
          </a:p>
        </p:txBody>
      </p:sp>
      <p:grpSp>
        <p:nvGrpSpPr>
          <p:cNvPr id="594021" name="Group 101"/>
          <p:cNvGrpSpPr>
            <a:grpSpLocks/>
          </p:cNvGrpSpPr>
          <p:nvPr/>
        </p:nvGrpSpPr>
        <p:grpSpPr bwMode="auto">
          <a:xfrm>
            <a:off x="4252668" y="2400923"/>
            <a:ext cx="1774825" cy="904875"/>
            <a:chOff x="3616" y="2752"/>
            <a:chExt cx="1118" cy="570"/>
          </a:xfrm>
        </p:grpSpPr>
        <p:sp>
          <p:nvSpPr>
            <p:cNvPr id="2" name="Rectangle 7"/>
            <p:cNvSpPr>
              <a:spLocks noChangeArrowheads="1"/>
            </p:cNvSpPr>
            <p:nvPr/>
          </p:nvSpPr>
          <p:spPr bwMode="auto">
            <a:xfrm>
              <a:off x="3616" y="2752"/>
              <a:ext cx="1118" cy="570"/>
            </a:xfrm>
            <a:prstGeom prst="rect">
              <a:avLst/>
            </a:prstGeom>
            <a:solidFill>
              <a:srgbClr val="FF99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>
                <a:solidFill>
                  <a:srgbClr val="D60093"/>
                </a:solidFill>
              </a:endParaRPr>
            </a:p>
          </p:txBody>
        </p:sp>
        <p:graphicFrame>
          <p:nvGraphicFramePr>
            <p:cNvPr id="23598" name="Object 8"/>
            <p:cNvGraphicFramePr>
              <a:graphicFrameLocks noChangeAspect="1"/>
            </p:cNvGraphicFramePr>
            <p:nvPr/>
          </p:nvGraphicFramePr>
          <p:xfrm>
            <a:off x="3722" y="2767"/>
            <a:ext cx="919" cy="5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685800" imgH="393700" progId="Equation.3">
                    <p:embed/>
                  </p:oleObj>
                </mc:Choice>
                <mc:Fallback>
                  <p:oleObj name="Ecuación" r:id="rId3" imgW="685800" imgH="393700" progId="Equation.3">
                    <p:embed/>
                    <p:pic>
                      <p:nvPicPr>
                        <p:cNvPr id="23598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22" y="2767"/>
                          <a:ext cx="919" cy="5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93965" name="Text Box 45"/>
          <p:cNvSpPr txBox="1">
            <a:spLocks noChangeArrowheads="1"/>
          </p:cNvSpPr>
          <p:nvPr/>
        </p:nvSpPr>
        <p:spPr bwMode="auto">
          <a:xfrm>
            <a:off x="3965530" y="1680345"/>
            <a:ext cx="856623" cy="536549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/>
              <a:t>r &gt; R</a:t>
            </a:r>
          </a:p>
        </p:txBody>
      </p:sp>
      <p:sp>
        <p:nvSpPr>
          <p:cNvPr id="593979" name="Text Box 59"/>
          <p:cNvSpPr txBox="1">
            <a:spLocks noChangeArrowheads="1"/>
          </p:cNvSpPr>
          <p:nvPr/>
        </p:nvSpPr>
        <p:spPr bwMode="auto">
          <a:xfrm>
            <a:off x="6177005" y="2246016"/>
            <a:ext cx="4057806" cy="1275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 dirty="0">
                <a:solidFill>
                  <a:srgbClr val="FF0000"/>
                </a:solidFill>
              </a:rPr>
              <a:t>como el de un hilo colocado en el eje con una corriente de intensidad </a:t>
            </a:r>
            <a:r>
              <a:rPr lang="es-ES" sz="2400" dirty="0">
                <a:solidFill>
                  <a:srgbClr val="FF0000"/>
                </a:solidFill>
                <a:latin typeface="Comic Sans MS" panose="030F0702030302020204" pitchFamily="66" charset="0"/>
              </a:rPr>
              <a:t>I</a:t>
            </a:r>
          </a:p>
        </p:txBody>
      </p:sp>
      <p:grpSp>
        <p:nvGrpSpPr>
          <p:cNvPr id="594022" name="Group 102"/>
          <p:cNvGrpSpPr>
            <a:grpSpLocks/>
          </p:cNvGrpSpPr>
          <p:nvPr/>
        </p:nvGrpSpPr>
        <p:grpSpPr bwMode="auto">
          <a:xfrm>
            <a:off x="4262986" y="4269286"/>
            <a:ext cx="1774825" cy="673100"/>
            <a:chOff x="3614" y="3700"/>
            <a:chExt cx="1118" cy="424"/>
          </a:xfrm>
        </p:grpSpPr>
        <p:sp>
          <p:nvSpPr>
            <p:cNvPr id="4" name="Rectangle 49"/>
            <p:cNvSpPr>
              <a:spLocks noChangeArrowheads="1"/>
            </p:cNvSpPr>
            <p:nvPr/>
          </p:nvSpPr>
          <p:spPr bwMode="auto">
            <a:xfrm>
              <a:off x="3614" y="3700"/>
              <a:ext cx="1118" cy="424"/>
            </a:xfrm>
            <a:prstGeom prst="rect">
              <a:avLst/>
            </a:prstGeom>
            <a:solidFill>
              <a:srgbClr val="FF99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>
                <a:solidFill>
                  <a:srgbClr val="D60093"/>
                </a:solidFill>
              </a:endParaRPr>
            </a:p>
          </p:txBody>
        </p:sp>
        <p:graphicFrame>
          <p:nvGraphicFramePr>
            <p:cNvPr id="23596" name="Object 50"/>
            <p:cNvGraphicFramePr>
              <a:graphicFrameLocks noChangeAspect="1"/>
            </p:cNvGraphicFramePr>
            <p:nvPr/>
          </p:nvGraphicFramePr>
          <p:xfrm>
            <a:off x="3725" y="3766"/>
            <a:ext cx="511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380835" imgH="215806" progId="Equation.3">
                    <p:embed/>
                  </p:oleObj>
                </mc:Choice>
                <mc:Fallback>
                  <p:oleObj name="Ecuación" r:id="rId5" imgW="380835" imgH="215806" progId="Equation.3">
                    <p:embed/>
                    <p:pic>
                      <p:nvPicPr>
                        <p:cNvPr id="23596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25" y="3766"/>
                          <a:ext cx="511" cy="2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93971" name="Text Box 51"/>
          <p:cNvSpPr txBox="1">
            <a:spLocks noChangeArrowheads="1"/>
          </p:cNvSpPr>
          <p:nvPr/>
        </p:nvSpPr>
        <p:spPr bwMode="auto">
          <a:xfrm>
            <a:off x="3966741" y="3600099"/>
            <a:ext cx="856623" cy="536549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/>
              <a:t>r &lt; R</a:t>
            </a:r>
          </a:p>
        </p:txBody>
      </p:sp>
      <p:sp>
        <p:nvSpPr>
          <p:cNvPr id="23597" name="Text Box 60"/>
          <p:cNvSpPr txBox="1">
            <a:spLocks noChangeArrowheads="1"/>
          </p:cNvSpPr>
          <p:nvPr/>
        </p:nvSpPr>
        <p:spPr bwMode="auto">
          <a:xfrm>
            <a:off x="4260424" y="5100373"/>
            <a:ext cx="6112992" cy="8235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 b="1" dirty="0">
                <a:solidFill>
                  <a:schemeClr val="tx1"/>
                </a:solidFill>
              </a:rPr>
              <a:t>B</a:t>
            </a:r>
            <a:r>
              <a:rPr lang="es-ES" sz="2400" dirty="0">
                <a:solidFill>
                  <a:schemeClr val="tx1"/>
                </a:solidFill>
              </a:rPr>
              <a:t> es </a:t>
            </a:r>
            <a:r>
              <a:rPr lang="es-ES" sz="2400" dirty="0">
                <a:solidFill>
                  <a:srgbClr val="3333FF"/>
                </a:solidFill>
              </a:rPr>
              <a:t>discontinuo</a:t>
            </a:r>
            <a:r>
              <a:rPr lang="es-ES" sz="2400" dirty="0">
                <a:solidFill>
                  <a:schemeClr val="tx1"/>
                </a:solidFill>
              </a:rPr>
              <a:t> al cruzar una corriente no volumétrica (como </a:t>
            </a:r>
            <a:r>
              <a:rPr lang="es-ES" sz="2400" b="1" dirty="0">
                <a:solidFill>
                  <a:schemeClr val="tx1"/>
                </a:solidFill>
              </a:rPr>
              <a:t>E</a:t>
            </a:r>
            <a:r>
              <a:rPr lang="es-ES" sz="2400" dirty="0">
                <a:solidFill>
                  <a:schemeClr val="tx1"/>
                </a:solidFill>
              </a:rPr>
              <a:t> con </a:t>
            </a:r>
            <a:r>
              <a:rPr lang="es-ES" sz="2400" dirty="0" err="1">
                <a:solidFill>
                  <a:schemeClr val="tx1"/>
                </a:solidFill>
              </a:rPr>
              <a:t>distrib</a:t>
            </a:r>
            <a:r>
              <a:rPr lang="es-ES" sz="2400" dirty="0">
                <a:solidFill>
                  <a:schemeClr val="tx1"/>
                </a:solidFill>
              </a:rPr>
              <a:t>. de </a:t>
            </a:r>
            <a:r>
              <a:rPr lang="es-ES" sz="2400">
                <a:solidFill>
                  <a:schemeClr val="tx1"/>
                </a:solidFill>
              </a:rPr>
              <a:t>carga)</a:t>
            </a:r>
            <a:endParaRPr lang="es-ES" sz="2400" dirty="0">
              <a:solidFill>
                <a:schemeClr val="tx1"/>
              </a:solidFill>
            </a:endParaRPr>
          </a:p>
        </p:txBody>
      </p:sp>
      <p:sp>
        <p:nvSpPr>
          <p:cNvPr id="594016" name="Text Box 96"/>
          <p:cNvSpPr txBox="1">
            <a:spLocks noChangeArrowheads="1"/>
          </p:cNvSpPr>
          <p:nvPr/>
        </p:nvSpPr>
        <p:spPr bwMode="auto">
          <a:xfrm>
            <a:off x="4875250" y="3606787"/>
            <a:ext cx="3946250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/>
              <a:t>A </a:t>
            </a:r>
            <a:r>
              <a:rPr lang="es-ES" sz="2400" b="1"/>
              <a:t>S</a:t>
            </a:r>
            <a:r>
              <a:rPr lang="es-ES" sz="2400"/>
              <a:t> no la cruza la corriente:</a:t>
            </a:r>
            <a:endParaRPr lang="es-ES" sz="2400">
              <a:solidFill>
                <a:srgbClr val="3333FF"/>
              </a:solidFill>
            </a:endParaRPr>
          </a:p>
        </p:txBody>
      </p:sp>
      <p:sp>
        <p:nvSpPr>
          <p:cNvPr id="594017" name="Text Box 97"/>
          <p:cNvSpPr txBox="1">
            <a:spLocks noChangeArrowheads="1"/>
          </p:cNvSpPr>
          <p:nvPr/>
        </p:nvSpPr>
        <p:spPr bwMode="auto">
          <a:xfrm>
            <a:off x="4876853" y="1670722"/>
            <a:ext cx="4202730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/>
              <a:t>A </a:t>
            </a:r>
            <a:r>
              <a:rPr lang="es-ES" sz="2400" b="1"/>
              <a:t>S</a:t>
            </a:r>
            <a:r>
              <a:rPr lang="es-ES" sz="2400"/>
              <a:t> la cruza toda la corriente:</a:t>
            </a:r>
            <a:endParaRPr lang="es-ES" sz="2400">
              <a:solidFill>
                <a:srgbClr val="3333FF"/>
              </a:solidFill>
              <a:latin typeface="Comic Sans MS" panose="030F0702030302020204" pitchFamily="66" charset="0"/>
            </a:endParaRPr>
          </a:p>
        </p:txBody>
      </p:sp>
      <p:grpSp>
        <p:nvGrpSpPr>
          <p:cNvPr id="3" name="Grupo 2"/>
          <p:cNvGrpSpPr>
            <a:grpSpLocks/>
          </p:cNvGrpSpPr>
          <p:nvPr/>
        </p:nvGrpSpPr>
        <p:grpSpPr bwMode="auto">
          <a:xfrm>
            <a:off x="1897000" y="1048303"/>
            <a:ext cx="1811338" cy="3842619"/>
            <a:chOff x="1909764" y="2347044"/>
            <a:chExt cx="1811338" cy="3842619"/>
          </a:xfrm>
        </p:grpSpPr>
        <p:sp>
          <p:nvSpPr>
            <p:cNvPr id="23577" name="Line 105"/>
            <p:cNvSpPr>
              <a:spLocks noChangeShapeType="1"/>
            </p:cNvSpPr>
            <p:nvPr/>
          </p:nvSpPr>
          <p:spPr bwMode="auto">
            <a:xfrm>
              <a:off x="2536825" y="2697163"/>
              <a:ext cx="0" cy="33940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23578" name="Text Box 106"/>
            <p:cNvSpPr txBox="1">
              <a:spLocks noChangeArrowheads="1"/>
            </p:cNvSpPr>
            <p:nvPr/>
          </p:nvSpPr>
          <p:spPr bwMode="auto">
            <a:xfrm>
              <a:off x="2525713" y="2347044"/>
              <a:ext cx="627393" cy="5365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dirty="0"/>
                <a:t>Eje</a:t>
              </a:r>
            </a:p>
          </p:txBody>
        </p:sp>
        <p:grpSp>
          <p:nvGrpSpPr>
            <p:cNvPr id="23579" name="Grupo 1"/>
            <p:cNvGrpSpPr>
              <a:grpSpLocks/>
            </p:cNvGrpSpPr>
            <p:nvPr/>
          </p:nvGrpSpPr>
          <p:grpSpPr bwMode="auto">
            <a:xfrm>
              <a:off x="1909764" y="2413000"/>
              <a:ext cx="1811338" cy="3776663"/>
              <a:chOff x="1909764" y="2413000"/>
              <a:chExt cx="1811338" cy="3776663"/>
            </a:xfrm>
          </p:grpSpPr>
          <p:grpSp>
            <p:nvGrpSpPr>
              <p:cNvPr id="23580" name="Group 93"/>
              <p:cNvGrpSpPr>
                <a:grpSpLocks/>
              </p:cNvGrpSpPr>
              <p:nvPr/>
            </p:nvGrpSpPr>
            <p:grpSpPr bwMode="auto">
              <a:xfrm>
                <a:off x="1909764" y="2882900"/>
                <a:ext cx="1811338" cy="2936875"/>
                <a:chOff x="1311" y="1890"/>
                <a:chExt cx="1141" cy="1850"/>
              </a:xfrm>
            </p:grpSpPr>
            <p:sp>
              <p:nvSpPr>
                <p:cNvPr id="23583" name="Oval 41"/>
                <p:cNvSpPr>
                  <a:spLocks noChangeArrowheads="1"/>
                </p:cNvSpPr>
                <p:nvPr/>
              </p:nvSpPr>
              <p:spPr bwMode="auto">
                <a:xfrm>
                  <a:off x="1311" y="3364"/>
                  <a:ext cx="781" cy="371"/>
                </a:xfrm>
                <a:prstGeom prst="ellipse">
                  <a:avLst/>
                </a:prstGeom>
                <a:noFill/>
                <a:ln w="25400" algn="ctr">
                  <a:solidFill>
                    <a:schemeClr val="tx1"/>
                  </a:solidFill>
                  <a:prstDash val="dash"/>
                  <a:round/>
                  <a:headEnd/>
                  <a:tailEnd type="none" w="lg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a14:hiddenEffects>
                  </a:ext>
                  <a:ext uri="{53640926-AAD7-44D8-BBD7-CCE9431645EC}">
                    <a14:shadowObscured xmlns:a14="http://schemas.microsoft.com/office/drawing/2010/main" val="1"/>
                  </a:ext>
                </a:extLst>
              </p:spPr>
              <p:txBody>
                <a:bodyPr lIns="90000" tIns="82800" rIns="90000" bIns="82800" anchor="ctr">
                  <a:spAutoFit/>
                </a:bodyPr>
                <a:lstStyle>
                  <a:lvl1pPr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endParaRPr lang="en-US">
                    <a:solidFill>
                      <a:srgbClr val="D60093"/>
                    </a:solidFill>
                  </a:endParaRPr>
                </a:p>
              </p:txBody>
            </p:sp>
            <p:grpSp>
              <p:nvGrpSpPr>
                <p:cNvPr id="23584" name="Group 92"/>
                <p:cNvGrpSpPr>
                  <a:grpSpLocks/>
                </p:cNvGrpSpPr>
                <p:nvPr/>
              </p:nvGrpSpPr>
              <p:grpSpPr bwMode="auto">
                <a:xfrm>
                  <a:off x="1315" y="1890"/>
                  <a:ext cx="1137" cy="1850"/>
                  <a:chOff x="1315" y="1890"/>
                  <a:chExt cx="1137" cy="1850"/>
                </a:xfrm>
              </p:grpSpPr>
              <p:sp>
                <p:nvSpPr>
                  <p:cNvPr id="23585" name="AutoShape 40"/>
                  <p:cNvSpPr>
                    <a:spLocks noChangeArrowheads="1"/>
                  </p:cNvSpPr>
                  <p:nvPr/>
                </p:nvSpPr>
                <p:spPr bwMode="auto">
                  <a:xfrm>
                    <a:off x="1315" y="1896"/>
                    <a:ext cx="781" cy="1844"/>
                  </a:xfrm>
                  <a:prstGeom prst="can">
                    <a:avLst>
                      <a:gd name="adj" fmla="val 47757"/>
                    </a:avLst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 type="none" w="lg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99CC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107763" dir="2700000" algn="ctr" rotWithShape="0">
                            <a:srgbClr val="808080"/>
                          </a:outerShdw>
                        </a:effectLst>
                      </a14:hiddenEffects>
                    </a:ext>
                    <a:ext uri="{53640926-AAD7-44D8-BBD7-CCE9431645EC}">
                      <a14:shadowObscured xmlns:a14="http://schemas.microsoft.com/office/drawing/2010/main" val="1"/>
                    </a:ext>
                  </a:extLst>
                </p:spPr>
                <p:txBody>
                  <a:bodyPr wrap="none" lIns="90000" tIns="82800" rIns="90000" bIns="82800" anchor="ctr">
                    <a:spAutoFit/>
                  </a:bodyPr>
                  <a:lstStyle>
                    <a:lvl1pPr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endParaRPr lang="en-US">
                      <a:solidFill>
                        <a:srgbClr val="D60093"/>
                      </a:solidFill>
                    </a:endParaRPr>
                  </a:p>
                </p:txBody>
              </p:sp>
              <p:sp>
                <p:nvSpPr>
                  <p:cNvPr id="23586" name="Text Box 2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30" y="3028"/>
                    <a:ext cx="222" cy="29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defTabSz="1008063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defTabSz="1008063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defTabSz="1008063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defTabSz="1008063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defTabSz="1008063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defTabSz="1008063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defTabSz="1008063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defTabSz="1008063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defTabSz="1008063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s-ES" sz="2400" b="1">
                        <a:solidFill>
                          <a:srgbClr val="3333FF"/>
                        </a:solidFill>
                        <a:latin typeface="Comic Sans MS" panose="030F0702030302020204" pitchFamily="66" charset="0"/>
                      </a:rPr>
                      <a:t>I</a:t>
                    </a:r>
                  </a:p>
                </p:txBody>
              </p:sp>
              <p:sp>
                <p:nvSpPr>
                  <p:cNvPr id="23587" name="Line 28"/>
                  <p:cNvSpPr>
                    <a:spLocks noChangeShapeType="1"/>
                  </p:cNvSpPr>
                  <p:nvPr/>
                </p:nvSpPr>
                <p:spPr bwMode="auto">
                  <a:xfrm rot="16200000">
                    <a:off x="2108" y="3089"/>
                    <a:ext cx="202" cy="0"/>
                  </a:xfrm>
                  <a:prstGeom prst="line">
                    <a:avLst/>
                  </a:prstGeom>
                  <a:noFill/>
                  <a:ln w="25400">
                    <a:solidFill>
                      <a:srgbClr val="0000FF"/>
                    </a:solidFill>
                    <a:round/>
                    <a:headEnd/>
                    <a:tailEnd type="triangle" w="lg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23588" name="Line 46"/>
                  <p:cNvSpPr>
                    <a:spLocks noChangeShapeType="1"/>
                  </p:cNvSpPr>
                  <p:nvPr/>
                </p:nvSpPr>
                <p:spPr bwMode="auto">
                  <a:xfrm>
                    <a:off x="1709" y="2060"/>
                    <a:ext cx="394" cy="44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 type="stealth" w="lg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107763" dir="2700000" algn="ctr" rotWithShape="0">
                            <a:srgbClr val="808080"/>
                          </a:outerShdw>
                        </a:effectLst>
                      </a14:hiddenEffects>
                    </a:ext>
                    <a:ext uri="{53640926-AAD7-44D8-BBD7-CCE9431645EC}">
                      <a14:shadowObscured xmlns:a14="http://schemas.microsoft.com/office/drawing/2010/main" val="1"/>
                    </a:ext>
                  </a:extLst>
                </p:spPr>
                <p:txBody>
                  <a:bodyPr wrap="none" lIns="90000" tIns="82800" rIns="90000" bIns="82800">
                    <a:spAutoFit/>
                  </a:bodyPr>
                  <a:lstStyle/>
                  <a:p>
                    <a:endParaRPr lang="en-GB"/>
                  </a:p>
                </p:txBody>
              </p:sp>
              <p:sp>
                <p:nvSpPr>
                  <p:cNvPr id="23589" name="Text Box 4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67" y="1890"/>
                    <a:ext cx="255" cy="33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algn="ctr">
                        <a:solidFill>
                          <a:schemeClr val="tx1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107763" dir="2700000" algn="ctr" rotWithShape="0">
                            <a:srgbClr val="808080"/>
                          </a:outerShdw>
                        </a:effectLst>
                      </a14:hiddenEffects>
                    </a:ext>
                    <a:ext uri="{53640926-AAD7-44D8-BBD7-CCE9431645EC}">
                      <a14:shadowObscured xmlns:a14="http://schemas.microsoft.com/office/drawing/2010/main" val="1"/>
                    </a:ext>
                  </a:extLst>
                </p:spPr>
                <p:txBody>
                  <a:bodyPr wrap="none" lIns="90000" tIns="82800" rIns="90000" bIns="82800">
                    <a:spAutoFit/>
                  </a:bodyPr>
                  <a:lstStyle>
                    <a:lvl1pPr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s-ES" sz="2400"/>
                      <a:t>R</a:t>
                    </a:r>
                  </a:p>
                </p:txBody>
              </p:sp>
            </p:grpSp>
          </p:grpSp>
          <p:sp>
            <p:nvSpPr>
              <p:cNvPr id="23581" name="Text Box 126"/>
              <p:cNvSpPr txBox="1">
                <a:spLocks noChangeArrowheads="1"/>
              </p:cNvSpPr>
              <p:nvPr/>
            </p:nvSpPr>
            <p:spPr bwMode="auto">
              <a:xfrm>
                <a:off x="2135188" y="2413000"/>
                <a:ext cx="401637" cy="5365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sz="2400" b="1">
                    <a:solidFill>
                      <a:schemeClr val="tx1"/>
                    </a:solidFill>
                    <a:sym typeface="Symbol" panose="05050102010706020507" pitchFamily="18" charset="2"/>
                  </a:rPr>
                  <a:t></a:t>
                </a:r>
                <a:endParaRPr lang="es-E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23582" name="Text Box 126"/>
              <p:cNvSpPr txBox="1">
                <a:spLocks noChangeArrowheads="1"/>
              </p:cNvSpPr>
              <p:nvPr/>
            </p:nvSpPr>
            <p:spPr bwMode="auto">
              <a:xfrm>
                <a:off x="2139950" y="5653088"/>
                <a:ext cx="401638" cy="5365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sz="2400" b="1">
                    <a:solidFill>
                      <a:schemeClr val="tx1"/>
                    </a:solidFill>
                    <a:sym typeface="Symbol" panose="05050102010706020507" pitchFamily="18" charset="2"/>
                  </a:rPr>
                  <a:t></a:t>
                </a:r>
                <a:endParaRPr lang="es-ES" sz="240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49" name="CuadroTexto 48"/>
          <p:cNvSpPr txBox="1"/>
          <p:nvPr/>
        </p:nvSpPr>
        <p:spPr>
          <a:xfrm>
            <a:off x="1717928" y="514588"/>
            <a:ext cx="1595309" cy="400110"/>
          </a:xfrm>
          <a:prstGeom prst="rect">
            <a:avLst/>
          </a:prstGeom>
          <a:solidFill>
            <a:srgbClr val="C0C0C0"/>
          </a:solidFill>
        </p:spPr>
        <p:txBody>
          <a:bodyPr wrap="none" rtlCol="0">
            <a:spAutoFit/>
          </a:bodyPr>
          <a:lstStyle/>
          <a:p>
            <a:r>
              <a:rPr lang="es-ES" dirty="0"/>
              <a:t>EJEMPLO 2</a:t>
            </a:r>
          </a:p>
        </p:txBody>
      </p:sp>
      <p:sp>
        <p:nvSpPr>
          <p:cNvPr id="61" name="Text Box 58"/>
          <p:cNvSpPr txBox="1">
            <a:spLocks noChangeArrowheads="1"/>
          </p:cNvSpPr>
          <p:nvPr/>
        </p:nvSpPr>
        <p:spPr bwMode="auto">
          <a:xfrm>
            <a:off x="3984133" y="531498"/>
            <a:ext cx="6166736" cy="90588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 dirty="0">
                <a:solidFill>
                  <a:schemeClr val="tx1"/>
                </a:solidFill>
              </a:rPr>
              <a:t>Se llega a </a:t>
            </a:r>
            <a:r>
              <a:rPr lang="es-ES" sz="2400">
                <a:solidFill>
                  <a:schemeClr val="tx1"/>
                </a:solidFill>
              </a:rPr>
              <a:t>lo mismo que en el caso anterior, pero se puede estar fuera o dentro</a:t>
            </a:r>
            <a:endParaRPr lang="es-ES" sz="2400" dirty="0">
              <a:solidFill>
                <a:schemeClr val="tx1"/>
              </a:solidFill>
            </a:endParaRPr>
          </a:p>
        </p:txBody>
      </p:sp>
      <p:sp>
        <p:nvSpPr>
          <p:cNvPr id="62" name="Text Box 97"/>
          <p:cNvSpPr txBox="1">
            <a:spLocks noChangeArrowheads="1"/>
          </p:cNvSpPr>
          <p:nvPr/>
        </p:nvSpPr>
        <p:spPr bwMode="auto">
          <a:xfrm>
            <a:off x="8997749" y="1649258"/>
            <a:ext cx="1449734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>
                <a:solidFill>
                  <a:srgbClr val="3333FF"/>
                </a:solidFill>
                <a:latin typeface="Comic Sans MS" panose="030F0702030302020204" pitchFamily="66" charset="0"/>
              </a:rPr>
              <a:t>I</a:t>
            </a:r>
            <a:r>
              <a:rPr lang="es-ES" sz="2400" baseline="-25000">
                <a:solidFill>
                  <a:srgbClr val="3333FF"/>
                </a:solidFill>
                <a:latin typeface="Comic Sans MS" panose="030F0702030302020204" pitchFamily="66" charset="0"/>
              </a:rPr>
              <a:t>NETA</a:t>
            </a:r>
            <a:r>
              <a:rPr lang="es-ES" sz="2400">
                <a:solidFill>
                  <a:srgbClr val="3333FF"/>
                </a:solidFill>
              </a:rPr>
              <a:t> = </a:t>
            </a:r>
            <a:r>
              <a:rPr lang="es-ES" sz="2400">
                <a:solidFill>
                  <a:srgbClr val="3333FF"/>
                </a:solidFill>
                <a:latin typeface="Comic Sans MS" panose="030F0702030302020204" pitchFamily="66" charset="0"/>
              </a:rPr>
              <a:t>I</a:t>
            </a:r>
          </a:p>
        </p:txBody>
      </p:sp>
      <p:sp>
        <p:nvSpPr>
          <p:cNvPr id="63" name="Text Box 96"/>
          <p:cNvSpPr txBox="1">
            <a:spLocks noChangeArrowheads="1"/>
          </p:cNvSpPr>
          <p:nvPr/>
        </p:nvSpPr>
        <p:spPr bwMode="auto">
          <a:xfrm>
            <a:off x="8994543" y="3603743"/>
            <a:ext cx="1452940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>
                <a:solidFill>
                  <a:srgbClr val="3333FF"/>
                </a:solidFill>
                <a:latin typeface="Comic Sans MS" panose="030F0702030302020204" pitchFamily="66" charset="0"/>
              </a:rPr>
              <a:t>I</a:t>
            </a:r>
            <a:r>
              <a:rPr lang="es-ES" sz="2400" baseline="-25000">
                <a:solidFill>
                  <a:srgbClr val="3333FF"/>
                </a:solidFill>
                <a:latin typeface="Comic Sans MS" panose="030F0702030302020204" pitchFamily="66" charset="0"/>
              </a:rPr>
              <a:t>NETA</a:t>
            </a:r>
            <a:r>
              <a:rPr lang="es-ES" sz="2400">
                <a:solidFill>
                  <a:srgbClr val="3333FF"/>
                </a:solidFill>
              </a:rPr>
              <a:t> = 0</a:t>
            </a:r>
          </a:p>
        </p:txBody>
      </p:sp>
      <p:sp>
        <p:nvSpPr>
          <p:cNvPr id="53" name="Text Box 58"/>
          <p:cNvSpPr txBox="1">
            <a:spLocks noChangeArrowheads="1"/>
          </p:cNvSpPr>
          <p:nvPr/>
        </p:nvSpPr>
        <p:spPr bwMode="auto">
          <a:xfrm>
            <a:off x="1536434" y="4948085"/>
            <a:ext cx="1977456" cy="4749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>
                <a:solidFill>
                  <a:srgbClr val="3333FF"/>
                </a:solidFill>
                <a:latin typeface="Comic Sans MS" panose="030F0702030302020204" pitchFamily="66" charset="0"/>
              </a:rPr>
              <a:t>I</a:t>
            </a:r>
            <a:r>
              <a:rPr lang="es-ES" baseline="-25000">
                <a:solidFill>
                  <a:srgbClr val="3333FF"/>
                </a:solidFill>
              </a:rPr>
              <a:t>HOMOGÉNEA</a:t>
            </a:r>
            <a:endParaRPr lang="es-ES" dirty="0">
              <a:solidFill>
                <a:srgbClr val="3333FF"/>
              </a:solidFill>
            </a:endParaRPr>
          </a:p>
        </p:txBody>
      </p:sp>
      <p:sp>
        <p:nvSpPr>
          <p:cNvPr id="48" name="Text Box 58">
            <a:extLst>
              <a:ext uri="{FF2B5EF4-FFF2-40B4-BE49-F238E27FC236}">
                <a16:creationId xmlns:a16="http://schemas.microsoft.com/office/drawing/2014/main" id="{E2581676-2C91-4C39-98AB-0ED5EA69F2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1985" y="5434488"/>
            <a:ext cx="2315492" cy="139832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>
                <a:solidFill>
                  <a:schemeClr val="tx1"/>
                </a:solidFill>
              </a:rPr>
              <a:t>Repartida </a:t>
            </a:r>
            <a:r>
              <a:rPr lang="es-ES" dirty="0">
                <a:solidFill>
                  <a:schemeClr val="tx1"/>
                </a:solidFill>
              </a:rPr>
              <a:t>por</a:t>
            </a:r>
          </a:p>
          <a:p>
            <a:pPr algn="ctr" eaLnBrk="1" hangingPunct="1">
              <a:spcBef>
                <a:spcPts val="0"/>
              </a:spcBef>
            </a:pPr>
            <a:r>
              <a:rPr lang="es-ES">
                <a:solidFill>
                  <a:schemeClr val="tx1"/>
                </a:solidFill>
              </a:rPr>
              <a:t>igual </a:t>
            </a:r>
            <a:r>
              <a:rPr lang="es-ES" dirty="0">
                <a:solidFill>
                  <a:schemeClr val="tx1"/>
                </a:solidFill>
              </a:rPr>
              <a:t>en cada circunferencia</a:t>
            </a:r>
          </a:p>
          <a:p>
            <a:pPr algn="ctr" eaLnBrk="1" hangingPunct="1">
              <a:spcBef>
                <a:spcPts val="0"/>
              </a:spcBef>
            </a:pPr>
            <a:r>
              <a:rPr lang="es-ES" dirty="0">
                <a:solidFill>
                  <a:schemeClr val="tx1"/>
                </a:solidFill>
              </a:rPr>
              <a:t>de radio R </a:t>
            </a:r>
            <a:r>
              <a:rPr lang="es-ES" dirty="0">
                <a:solidFill>
                  <a:schemeClr val="tx1"/>
                </a:solidFill>
                <a:sym typeface="Symbol" panose="05050102010706020507" pitchFamily="18" charset="2"/>
              </a:rPr>
              <a:t> </a:t>
            </a:r>
            <a:r>
              <a:rPr lang="es-ES" dirty="0">
                <a:solidFill>
                  <a:schemeClr val="tx1"/>
                </a:solidFill>
              </a:rPr>
              <a:t>a eje</a:t>
            </a:r>
          </a:p>
        </p:txBody>
      </p:sp>
      <p:sp>
        <p:nvSpPr>
          <p:cNvPr id="50" name="Text Box 60">
            <a:extLst>
              <a:ext uri="{FF2B5EF4-FFF2-40B4-BE49-F238E27FC236}">
                <a16:creationId xmlns:a16="http://schemas.microsoft.com/office/drawing/2014/main" id="{9E12DAB8-1604-4D28-86E6-6702D67BB5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4153" y="6044481"/>
            <a:ext cx="6112991" cy="8235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>
                <a:solidFill>
                  <a:schemeClr val="tx1"/>
                </a:solidFill>
              </a:rPr>
              <a:t>Para </a:t>
            </a:r>
            <a:r>
              <a:rPr lang="es-ES" sz="2400" dirty="0">
                <a:solidFill>
                  <a:schemeClr val="tx1"/>
                </a:solidFill>
              </a:rPr>
              <a:t>una volumétrica</a:t>
            </a:r>
            <a:r>
              <a:rPr lang="es-ES" sz="2400">
                <a:solidFill>
                  <a:schemeClr val="tx1"/>
                </a:solidFill>
              </a:rPr>
              <a:t>, como pasaba con </a:t>
            </a:r>
            <a:r>
              <a:rPr lang="es-ES" sz="2400" b="1">
                <a:solidFill>
                  <a:schemeClr val="tx1"/>
                </a:solidFill>
              </a:rPr>
              <a:t>E</a:t>
            </a:r>
            <a:r>
              <a:rPr lang="es-ES" sz="2400">
                <a:solidFill>
                  <a:schemeClr val="tx1"/>
                </a:solidFill>
              </a:rPr>
              <a:t>, es </a:t>
            </a:r>
            <a:r>
              <a:rPr lang="es-ES" sz="2400">
                <a:solidFill>
                  <a:srgbClr val="3333FF"/>
                </a:solidFill>
              </a:rPr>
              <a:t>continuo</a:t>
            </a:r>
            <a:r>
              <a:rPr lang="es-ES" sz="2400">
                <a:solidFill>
                  <a:schemeClr val="tx1"/>
                </a:solidFill>
              </a:rPr>
              <a:t> (p.ej.: tubo macizo)</a:t>
            </a:r>
            <a:endParaRPr lang="es-ES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939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939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593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593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593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939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939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593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593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593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5939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5939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5939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94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7" dur="500"/>
                                        <p:tgtEl>
                                          <p:spTgt spid="594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593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594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08" dur="500"/>
                                        <p:tgtEl>
                                          <p:spTgt spid="594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23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93949" grpId="0" animBg="1"/>
      <p:bldP spid="593951" grpId="0"/>
      <p:bldP spid="593952" grpId="0"/>
      <p:bldP spid="593963" grpId="0" animBg="1"/>
      <p:bldP spid="593972" grpId="0" animBg="1"/>
      <p:bldP spid="593973" grpId="0"/>
      <p:bldP spid="593974" grpId="0"/>
      <p:bldP spid="593965" grpId="0" animBg="1"/>
      <p:bldP spid="593979" grpId="0"/>
      <p:bldP spid="593971" grpId="0" animBg="1"/>
      <p:bldP spid="23597" grpId="0" animBg="1"/>
      <p:bldP spid="594016" grpId="0"/>
      <p:bldP spid="594017" grpId="0"/>
      <p:bldP spid="49" grpId="0" animBg="1"/>
      <p:bldP spid="61" grpId="0" animBg="1"/>
      <p:bldP spid="62" grpId="0"/>
      <p:bldP spid="63" grpId="0"/>
      <p:bldP spid="53" grpId="0"/>
      <p:bldP spid="48" grpId="0" animBg="1"/>
      <p:bldP spid="5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ángulo 62">
            <a:extLst>
              <a:ext uri="{FF2B5EF4-FFF2-40B4-BE49-F238E27FC236}">
                <a16:creationId xmlns:a16="http://schemas.microsoft.com/office/drawing/2014/main" id="{940B06A4-46AE-4F85-927A-6A548F26B540}"/>
              </a:ext>
            </a:extLst>
          </p:cNvPr>
          <p:cNvSpPr/>
          <p:nvPr/>
        </p:nvSpPr>
        <p:spPr bwMode="auto">
          <a:xfrm>
            <a:off x="1361985" y="1097159"/>
            <a:ext cx="2315492" cy="38520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non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93949" name="Oval 29"/>
          <p:cNvSpPr>
            <a:spLocks noChangeArrowheads="1"/>
          </p:cNvSpPr>
          <p:nvPr/>
        </p:nvSpPr>
        <p:spPr bwMode="auto">
          <a:xfrm rot="16200000">
            <a:off x="1944623" y="1928647"/>
            <a:ext cx="1108075" cy="1809750"/>
          </a:xfrm>
          <a:prstGeom prst="ellipse">
            <a:avLst/>
          </a:prstGeom>
          <a:solidFill>
            <a:srgbClr val="FFFF99">
              <a:alpha val="74901"/>
            </a:srgbClr>
          </a:solidFill>
          <a:ln w="25400">
            <a:solidFill>
              <a:srgbClr val="0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>
              <a:solidFill>
                <a:srgbClr val="D60093"/>
              </a:solidFill>
            </a:endParaRPr>
          </a:p>
        </p:txBody>
      </p:sp>
      <p:sp>
        <p:nvSpPr>
          <p:cNvPr id="593951" name="Text Box 31"/>
          <p:cNvSpPr txBox="1">
            <a:spLocks noChangeArrowheads="1"/>
          </p:cNvSpPr>
          <p:nvPr/>
        </p:nvSpPr>
        <p:spPr bwMode="auto">
          <a:xfrm>
            <a:off x="1558861" y="2562059"/>
            <a:ext cx="386942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b="1"/>
              <a:t>S</a:t>
            </a:r>
          </a:p>
        </p:txBody>
      </p:sp>
      <p:sp>
        <p:nvSpPr>
          <p:cNvPr id="593952" name="Text Box 32"/>
          <p:cNvSpPr txBox="1">
            <a:spLocks noChangeArrowheads="1"/>
          </p:cNvSpPr>
          <p:nvPr/>
        </p:nvSpPr>
        <p:spPr bwMode="auto">
          <a:xfrm>
            <a:off x="1385447" y="2071535"/>
            <a:ext cx="404576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b="1">
                <a:solidFill>
                  <a:srgbClr val="008000"/>
                </a:solidFill>
              </a:rPr>
              <a:t>C</a:t>
            </a:r>
          </a:p>
        </p:txBody>
      </p:sp>
      <p:sp>
        <p:nvSpPr>
          <p:cNvPr id="593963" name="Oval 43"/>
          <p:cNvSpPr>
            <a:spLocks noChangeArrowheads="1"/>
          </p:cNvSpPr>
          <p:nvPr/>
        </p:nvSpPr>
        <p:spPr bwMode="auto">
          <a:xfrm>
            <a:off x="1890649" y="2495384"/>
            <a:ext cx="1239837" cy="588963"/>
          </a:xfrm>
          <a:prstGeom prst="ellipse">
            <a:avLst/>
          </a:prstGeom>
          <a:noFill/>
          <a:ln w="25400" algn="ctr">
            <a:solidFill>
              <a:schemeClr val="tx1"/>
            </a:solidFill>
            <a:prstDash val="dash"/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0000" tIns="82800" rIns="90000" bIns="82800" anchor="ctr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>
              <a:solidFill>
                <a:srgbClr val="D60093"/>
              </a:solidFill>
            </a:endParaRPr>
          </a:p>
        </p:txBody>
      </p:sp>
      <p:sp>
        <p:nvSpPr>
          <p:cNvPr id="593972" name="Oval 52"/>
          <p:cNvSpPr>
            <a:spLocks noChangeArrowheads="1"/>
          </p:cNvSpPr>
          <p:nvPr/>
        </p:nvSpPr>
        <p:spPr bwMode="auto">
          <a:xfrm rot="16200000">
            <a:off x="2257362" y="3263734"/>
            <a:ext cx="519112" cy="1036637"/>
          </a:xfrm>
          <a:prstGeom prst="ellipse">
            <a:avLst/>
          </a:prstGeom>
          <a:solidFill>
            <a:srgbClr val="FFFF99">
              <a:alpha val="74901"/>
            </a:srgbClr>
          </a:solidFill>
          <a:ln w="25400">
            <a:solidFill>
              <a:srgbClr val="008000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>
              <a:solidFill>
                <a:srgbClr val="D60093"/>
              </a:solidFill>
            </a:endParaRPr>
          </a:p>
        </p:txBody>
      </p:sp>
      <p:sp>
        <p:nvSpPr>
          <p:cNvPr id="593973" name="Text Box 53"/>
          <p:cNvSpPr txBox="1">
            <a:spLocks noChangeArrowheads="1"/>
          </p:cNvSpPr>
          <p:nvPr/>
        </p:nvSpPr>
        <p:spPr bwMode="auto">
          <a:xfrm>
            <a:off x="1927636" y="3916197"/>
            <a:ext cx="404576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b="1">
                <a:solidFill>
                  <a:srgbClr val="008000"/>
                </a:solidFill>
              </a:rPr>
              <a:t>C</a:t>
            </a:r>
          </a:p>
        </p:txBody>
      </p:sp>
      <p:sp>
        <p:nvSpPr>
          <p:cNvPr id="593974" name="Text Box 54"/>
          <p:cNvSpPr txBox="1">
            <a:spLocks noChangeArrowheads="1"/>
          </p:cNvSpPr>
          <p:nvPr/>
        </p:nvSpPr>
        <p:spPr bwMode="auto">
          <a:xfrm>
            <a:off x="2116074" y="3516147"/>
            <a:ext cx="386942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b="1"/>
              <a:t>S</a:t>
            </a:r>
          </a:p>
        </p:txBody>
      </p:sp>
      <p:grpSp>
        <p:nvGrpSpPr>
          <p:cNvPr id="594021" name="Group 101"/>
          <p:cNvGrpSpPr>
            <a:grpSpLocks/>
          </p:cNvGrpSpPr>
          <p:nvPr/>
        </p:nvGrpSpPr>
        <p:grpSpPr bwMode="auto">
          <a:xfrm>
            <a:off x="5153693" y="280113"/>
            <a:ext cx="1774825" cy="904875"/>
            <a:chOff x="3616" y="2752"/>
            <a:chExt cx="1118" cy="570"/>
          </a:xfrm>
        </p:grpSpPr>
        <p:sp>
          <p:nvSpPr>
            <p:cNvPr id="2" name="Rectangle 7"/>
            <p:cNvSpPr>
              <a:spLocks noChangeArrowheads="1"/>
            </p:cNvSpPr>
            <p:nvPr/>
          </p:nvSpPr>
          <p:spPr bwMode="auto">
            <a:xfrm>
              <a:off x="3616" y="2752"/>
              <a:ext cx="1118" cy="570"/>
            </a:xfrm>
            <a:prstGeom prst="rect">
              <a:avLst/>
            </a:prstGeom>
            <a:solidFill>
              <a:srgbClr val="FF99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>
                <a:solidFill>
                  <a:srgbClr val="D60093"/>
                </a:solidFill>
              </a:endParaRPr>
            </a:p>
          </p:txBody>
        </p:sp>
        <p:graphicFrame>
          <p:nvGraphicFramePr>
            <p:cNvPr id="23598" name="Object 8"/>
            <p:cNvGraphicFramePr>
              <a:graphicFrameLocks noChangeAspect="1"/>
            </p:cNvGraphicFramePr>
            <p:nvPr/>
          </p:nvGraphicFramePr>
          <p:xfrm>
            <a:off x="3722" y="2767"/>
            <a:ext cx="919" cy="5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685800" imgH="393700" progId="Equation.3">
                    <p:embed/>
                  </p:oleObj>
                </mc:Choice>
                <mc:Fallback>
                  <p:oleObj name="Ecuación" r:id="rId3" imgW="685800" imgH="393700" progId="Equation.3">
                    <p:embed/>
                    <p:pic>
                      <p:nvPicPr>
                        <p:cNvPr id="23598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22" y="2767"/>
                          <a:ext cx="919" cy="5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93965" name="Text Box 45"/>
          <p:cNvSpPr txBox="1">
            <a:spLocks noChangeArrowheads="1"/>
          </p:cNvSpPr>
          <p:nvPr/>
        </p:nvSpPr>
        <p:spPr bwMode="auto">
          <a:xfrm>
            <a:off x="3917479" y="466567"/>
            <a:ext cx="856623" cy="536549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/>
              <a:t>r &gt; R</a:t>
            </a:r>
          </a:p>
        </p:txBody>
      </p:sp>
      <p:grpSp>
        <p:nvGrpSpPr>
          <p:cNvPr id="3" name="Grupo 2"/>
          <p:cNvGrpSpPr>
            <a:grpSpLocks/>
          </p:cNvGrpSpPr>
          <p:nvPr/>
        </p:nvGrpSpPr>
        <p:grpSpPr bwMode="auto">
          <a:xfrm>
            <a:off x="1897000" y="1048303"/>
            <a:ext cx="1811338" cy="3842619"/>
            <a:chOff x="1909764" y="2347044"/>
            <a:chExt cx="1811338" cy="3842619"/>
          </a:xfrm>
        </p:grpSpPr>
        <p:sp>
          <p:nvSpPr>
            <p:cNvPr id="23577" name="Line 105"/>
            <p:cNvSpPr>
              <a:spLocks noChangeShapeType="1"/>
            </p:cNvSpPr>
            <p:nvPr/>
          </p:nvSpPr>
          <p:spPr bwMode="auto">
            <a:xfrm>
              <a:off x="2536825" y="2697163"/>
              <a:ext cx="0" cy="33940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23578" name="Text Box 106"/>
            <p:cNvSpPr txBox="1">
              <a:spLocks noChangeArrowheads="1"/>
            </p:cNvSpPr>
            <p:nvPr/>
          </p:nvSpPr>
          <p:spPr bwMode="auto">
            <a:xfrm>
              <a:off x="2525713" y="2347044"/>
              <a:ext cx="627393" cy="5365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dirty="0"/>
                <a:t>Eje</a:t>
              </a:r>
            </a:p>
          </p:txBody>
        </p:sp>
        <p:grpSp>
          <p:nvGrpSpPr>
            <p:cNvPr id="23579" name="Grupo 1"/>
            <p:cNvGrpSpPr>
              <a:grpSpLocks/>
            </p:cNvGrpSpPr>
            <p:nvPr/>
          </p:nvGrpSpPr>
          <p:grpSpPr bwMode="auto">
            <a:xfrm>
              <a:off x="1909764" y="2413000"/>
              <a:ext cx="1811338" cy="3776663"/>
              <a:chOff x="1909764" y="2413000"/>
              <a:chExt cx="1811338" cy="3776663"/>
            </a:xfrm>
          </p:grpSpPr>
          <p:grpSp>
            <p:nvGrpSpPr>
              <p:cNvPr id="23580" name="Group 93"/>
              <p:cNvGrpSpPr>
                <a:grpSpLocks/>
              </p:cNvGrpSpPr>
              <p:nvPr/>
            </p:nvGrpSpPr>
            <p:grpSpPr bwMode="auto">
              <a:xfrm>
                <a:off x="1909764" y="2882900"/>
                <a:ext cx="1811338" cy="2936875"/>
                <a:chOff x="1311" y="1890"/>
                <a:chExt cx="1141" cy="1850"/>
              </a:xfrm>
            </p:grpSpPr>
            <p:sp>
              <p:nvSpPr>
                <p:cNvPr id="23583" name="Oval 41"/>
                <p:cNvSpPr>
                  <a:spLocks noChangeArrowheads="1"/>
                </p:cNvSpPr>
                <p:nvPr/>
              </p:nvSpPr>
              <p:spPr bwMode="auto">
                <a:xfrm>
                  <a:off x="1311" y="3364"/>
                  <a:ext cx="781" cy="371"/>
                </a:xfrm>
                <a:prstGeom prst="ellipse">
                  <a:avLst/>
                </a:prstGeom>
                <a:noFill/>
                <a:ln w="25400" algn="ctr">
                  <a:solidFill>
                    <a:schemeClr val="tx1"/>
                  </a:solidFill>
                  <a:prstDash val="dash"/>
                  <a:round/>
                  <a:headEnd/>
                  <a:tailEnd type="none" w="lg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a14:hiddenEffects>
                  </a:ext>
                  <a:ext uri="{53640926-AAD7-44D8-BBD7-CCE9431645EC}">
                    <a14:shadowObscured xmlns:a14="http://schemas.microsoft.com/office/drawing/2010/main" val="1"/>
                  </a:ext>
                </a:extLst>
              </p:spPr>
              <p:txBody>
                <a:bodyPr lIns="90000" tIns="82800" rIns="90000" bIns="82800" anchor="ctr">
                  <a:spAutoFit/>
                </a:bodyPr>
                <a:lstStyle>
                  <a:lvl1pPr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rgbClr val="000000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endParaRPr lang="en-US">
                    <a:solidFill>
                      <a:srgbClr val="D60093"/>
                    </a:solidFill>
                  </a:endParaRPr>
                </a:p>
              </p:txBody>
            </p:sp>
            <p:grpSp>
              <p:nvGrpSpPr>
                <p:cNvPr id="23584" name="Group 92"/>
                <p:cNvGrpSpPr>
                  <a:grpSpLocks/>
                </p:cNvGrpSpPr>
                <p:nvPr/>
              </p:nvGrpSpPr>
              <p:grpSpPr bwMode="auto">
                <a:xfrm>
                  <a:off x="1315" y="1890"/>
                  <a:ext cx="1137" cy="1850"/>
                  <a:chOff x="1315" y="1890"/>
                  <a:chExt cx="1137" cy="1850"/>
                </a:xfrm>
              </p:grpSpPr>
              <p:sp>
                <p:nvSpPr>
                  <p:cNvPr id="23585" name="AutoShape 40"/>
                  <p:cNvSpPr>
                    <a:spLocks noChangeArrowheads="1"/>
                  </p:cNvSpPr>
                  <p:nvPr/>
                </p:nvSpPr>
                <p:spPr bwMode="auto">
                  <a:xfrm>
                    <a:off x="1315" y="1896"/>
                    <a:ext cx="781" cy="1844"/>
                  </a:xfrm>
                  <a:prstGeom prst="can">
                    <a:avLst>
                      <a:gd name="adj" fmla="val 47757"/>
                    </a:avLst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 type="none" w="lg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99CC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107763" dir="2700000" algn="ctr" rotWithShape="0">
                            <a:srgbClr val="808080"/>
                          </a:outerShdw>
                        </a:effectLst>
                      </a14:hiddenEffects>
                    </a:ext>
                    <a:ext uri="{53640926-AAD7-44D8-BBD7-CCE9431645EC}">
                      <a14:shadowObscured xmlns:a14="http://schemas.microsoft.com/office/drawing/2010/main" val="1"/>
                    </a:ext>
                  </a:extLst>
                </p:spPr>
                <p:txBody>
                  <a:bodyPr wrap="none" lIns="90000" tIns="82800" rIns="90000" bIns="82800" anchor="ctr">
                    <a:spAutoFit/>
                  </a:bodyPr>
                  <a:lstStyle>
                    <a:lvl1pPr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endParaRPr lang="en-US">
                      <a:solidFill>
                        <a:srgbClr val="D60093"/>
                      </a:solidFill>
                    </a:endParaRPr>
                  </a:p>
                </p:txBody>
              </p:sp>
              <p:sp>
                <p:nvSpPr>
                  <p:cNvPr id="23586" name="Text Box 2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30" y="3028"/>
                    <a:ext cx="222" cy="29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defTabSz="1008063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defTabSz="1008063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defTabSz="1008063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defTabSz="1008063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defTabSz="1008063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defTabSz="1008063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defTabSz="1008063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defTabSz="1008063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defTabSz="1008063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s-ES" sz="2400" b="1">
                        <a:solidFill>
                          <a:srgbClr val="3333FF"/>
                        </a:solidFill>
                        <a:latin typeface="Comic Sans MS" panose="030F0702030302020204" pitchFamily="66" charset="0"/>
                      </a:rPr>
                      <a:t>I</a:t>
                    </a:r>
                  </a:p>
                </p:txBody>
              </p:sp>
              <p:sp>
                <p:nvSpPr>
                  <p:cNvPr id="23587" name="Line 28"/>
                  <p:cNvSpPr>
                    <a:spLocks noChangeShapeType="1"/>
                  </p:cNvSpPr>
                  <p:nvPr/>
                </p:nvSpPr>
                <p:spPr bwMode="auto">
                  <a:xfrm rot="16200000">
                    <a:off x="2108" y="3089"/>
                    <a:ext cx="202" cy="0"/>
                  </a:xfrm>
                  <a:prstGeom prst="line">
                    <a:avLst/>
                  </a:prstGeom>
                  <a:noFill/>
                  <a:ln w="25400">
                    <a:solidFill>
                      <a:srgbClr val="0000FF"/>
                    </a:solidFill>
                    <a:round/>
                    <a:headEnd/>
                    <a:tailEnd type="triangle" w="lg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23588" name="Line 46"/>
                  <p:cNvSpPr>
                    <a:spLocks noChangeShapeType="1"/>
                  </p:cNvSpPr>
                  <p:nvPr/>
                </p:nvSpPr>
                <p:spPr bwMode="auto">
                  <a:xfrm>
                    <a:off x="1709" y="2060"/>
                    <a:ext cx="394" cy="44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 type="stealth" w="lg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107763" dir="2700000" algn="ctr" rotWithShape="0">
                            <a:srgbClr val="808080"/>
                          </a:outerShdw>
                        </a:effectLst>
                      </a14:hiddenEffects>
                    </a:ext>
                    <a:ext uri="{53640926-AAD7-44D8-BBD7-CCE9431645EC}">
                      <a14:shadowObscured xmlns:a14="http://schemas.microsoft.com/office/drawing/2010/main" val="1"/>
                    </a:ext>
                  </a:extLst>
                </p:spPr>
                <p:txBody>
                  <a:bodyPr wrap="none" lIns="90000" tIns="82800" rIns="90000" bIns="82800">
                    <a:spAutoFit/>
                  </a:bodyPr>
                  <a:lstStyle/>
                  <a:p>
                    <a:endParaRPr lang="en-GB"/>
                  </a:p>
                </p:txBody>
              </p:sp>
              <p:sp>
                <p:nvSpPr>
                  <p:cNvPr id="23589" name="Text Box 4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67" y="1890"/>
                    <a:ext cx="255" cy="33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algn="ctr">
                        <a:solidFill>
                          <a:schemeClr val="tx1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107763" dir="2700000" algn="ctr" rotWithShape="0">
                            <a:srgbClr val="808080"/>
                          </a:outerShdw>
                        </a:effectLst>
                      </a14:hiddenEffects>
                    </a:ext>
                    <a:ext uri="{53640926-AAD7-44D8-BBD7-CCE9431645EC}">
                      <a14:shadowObscured xmlns:a14="http://schemas.microsoft.com/office/drawing/2010/main" val="1"/>
                    </a:ext>
                  </a:extLst>
                </p:spPr>
                <p:txBody>
                  <a:bodyPr wrap="none" lIns="90000" tIns="82800" rIns="90000" bIns="82800">
                    <a:spAutoFit/>
                  </a:bodyPr>
                  <a:lstStyle>
                    <a:lvl1pPr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s-ES" sz="2400"/>
                      <a:t>R</a:t>
                    </a:r>
                  </a:p>
                </p:txBody>
              </p:sp>
            </p:grpSp>
          </p:grpSp>
          <p:sp>
            <p:nvSpPr>
              <p:cNvPr id="23581" name="Text Box 126"/>
              <p:cNvSpPr txBox="1">
                <a:spLocks noChangeArrowheads="1"/>
              </p:cNvSpPr>
              <p:nvPr/>
            </p:nvSpPr>
            <p:spPr bwMode="auto">
              <a:xfrm>
                <a:off x="2135188" y="2413000"/>
                <a:ext cx="401637" cy="5365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sz="2400" b="1">
                    <a:solidFill>
                      <a:schemeClr val="tx1"/>
                    </a:solidFill>
                    <a:sym typeface="Symbol" panose="05050102010706020507" pitchFamily="18" charset="2"/>
                  </a:rPr>
                  <a:t></a:t>
                </a:r>
                <a:endParaRPr lang="es-E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23582" name="Text Box 126"/>
              <p:cNvSpPr txBox="1">
                <a:spLocks noChangeArrowheads="1"/>
              </p:cNvSpPr>
              <p:nvPr/>
            </p:nvSpPr>
            <p:spPr bwMode="auto">
              <a:xfrm>
                <a:off x="2139950" y="5653088"/>
                <a:ext cx="401638" cy="5365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sz="2400" b="1">
                    <a:solidFill>
                      <a:schemeClr val="tx1"/>
                    </a:solidFill>
                    <a:sym typeface="Symbol" panose="05050102010706020507" pitchFamily="18" charset="2"/>
                  </a:rPr>
                  <a:t></a:t>
                </a:r>
                <a:endParaRPr lang="es-ES" sz="240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48" name="Text Box 88">
            <a:extLst>
              <a:ext uri="{FF2B5EF4-FFF2-40B4-BE49-F238E27FC236}">
                <a16:creationId xmlns:a16="http://schemas.microsoft.com/office/drawing/2014/main" id="{4F41BB68-A032-4E7B-8C3C-6F13F26B54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7383" y="1375725"/>
            <a:ext cx="4507208" cy="53654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  <a:defRPr/>
            </a:pPr>
            <a:r>
              <a:rPr lang="es-ES" sz="2400" dirty="0">
                <a:solidFill>
                  <a:schemeClr val="tx1"/>
                </a:solidFill>
              </a:rPr>
              <a:t>Si </a:t>
            </a:r>
            <a:r>
              <a:rPr lang="es-ES" sz="2400">
                <a:solidFill>
                  <a:schemeClr val="tx1"/>
                </a:solidFill>
              </a:rPr>
              <a:t>está </a:t>
            </a:r>
            <a:r>
              <a:rPr lang="es-ES" sz="2400">
                <a:solidFill>
                  <a:srgbClr val="3333FF"/>
                </a:solidFill>
              </a:rPr>
              <a:t>uniformemente cargado</a:t>
            </a:r>
            <a:r>
              <a:rPr lang="es-ES" sz="2400">
                <a:solidFill>
                  <a:schemeClr val="tx1"/>
                </a:solidFill>
              </a:rPr>
              <a:t>:</a:t>
            </a:r>
            <a:endParaRPr lang="es-ES" sz="2400" dirty="0">
              <a:solidFill>
                <a:schemeClr val="tx1"/>
              </a:solidFill>
            </a:endParaRPr>
          </a:p>
        </p:txBody>
      </p:sp>
      <p:grpSp>
        <p:nvGrpSpPr>
          <p:cNvPr id="50" name="Group 102">
            <a:extLst>
              <a:ext uri="{FF2B5EF4-FFF2-40B4-BE49-F238E27FC236}">
                <a16:creationId xmlns:a16="http://schemas.microsoft.com/office/drawing/2014/main" id="{1EFE789F-078E-4822-824A-9E20623F275B}"/>
              </a:ext>
            </a:extLst>
          </p:cNvPr>
          <p:cNvGrpSpPr>
            <a:grpSpLocks/>
          </p:cNvGrpSpPr>
          <p:nvPr/>
        </p:nvGrpSpPr>
        <p:grpSpPr bwMode="auto">
          <a:xfrm>
            <a:off x="8505256" y="389082"/>
            <a:ext cx="1774825" cy="673100"/>
            <a:chOff x="3614" y="3700"/>
            <a:chExt cx="1118" cy="424"/>
          </a:xfrm>
        </p:grpSpPr>
        <p:sp>
          <p:nvSpPr>
            <p:cNvPr id="51" name="Rectangle 49">
              <a:extLst>
                <a:ext uri="{FF2B5EF4-FFF2-40B4-BE49-F238E27FC236}">
                  <a16:creationId xmlns:a16="http://schemas.microsoft.com/office/drawing/2014/main" id="{72EEDD32-D789-45C2-9D65-70DB8353A4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4" y="3700"/>
              <a:ext cx="1118" cy="424"/>
            </a:xfrm>
            <a:prstGeom prst="rect">
              <a:avLst/>
            </a:prstGeom>
            <a:solidFill>
              <a:srgbClr val="FF99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>
                <a:solidFill>
                  <a:srgbClr val="D60093"/>
                </a:solidFill>
              </a:endParaRPr>
            </a:p>
          </p:txBody>
        </p:sp>
        <p:graphicFrame>
          <p:nvGraphicFramePr>
            <p:cNvPr id="54" name="Object 50">
              <a:extLst>
                <a:ext uri="{FF2B5EF4-FFF2-40B4-BE49-F238E27FC236}">
                  <a16:creationId xmlns:a16="http://schemas.microsoft.com/office/drawing/2014/main" id="{FDB0D1CD-C89B-40E8-A7C1-21238513CF5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25" y="3766"/>
            <a:ext cx="511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380835" imgH="215806" progId="Equation.3">
                    <p:embed/>
                  </p:oleObj>
                </mc:Choice>
                <mc:Fallback>
                  <p:oleObj name="Ecuación" r:id="rId5" imgW="380835" imgH="215806" progId="Equation.3">
                    <p:embed/>
                    <p:pic>
                      <p:nvPicPr>
                        <p:cNvPr id="54" name="Object 50">
                          <a:extLst>
                            <a:ext uri="{FF2B5EF4-FFF2-40B4-BE49-F238E27FC236}">
                              <a16:creationId xmlns:a16="http://schemas.microsoft.com/office/drawing/2014/main" id="{FDB0D1CD-C89B-40E8-A7C1-21238513CF5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25" y="3766"/>
                          <a:ext cx="511" cy="2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5" name="Text Box 51">
            <a:extLst>
              <a:ext uri="{FF2B5EF4-FFF2-40B4-BE49-F238E27FC236}">
                <a16:creationId xmlns:a16="http://schemas.microsoft.com/office/drawing/2014/main" id="{4966D45A-C337-41BC-B77C-89DF211B9C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0271" y="459429"/>
            <a:ext cx="856623" cy="536549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/>
              <a:t>r &lt; R</a:t>
            </a:r>
          </a:p>
        </p:txBody>
      </p:sp>
      <p:sp>
        <p:nvSpPr>
          <p:cNvPr id="58" name="Text Box 88">
            <a:extLst>
              <a:ext uri="{FF2B5EF4-FFF2-40B4-BE49-F238E27FC236}">
                <a16:creationId xmlns:a16="http://schemas.microsoft.com/office/drawing/2014/main" id="{A2B33923-6F1F-4F33-8FD3-6BDFA83FF9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09386" y="1382546"/>
            <a:ext cx="1880612" cy="53654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  <a:defRPr/>
            </a:pPr>
            <a:r>
              <a:rPr lang="es-ES" sz="2400" b="1">
                <a:solidFill>
                  <a:schemeClr val="tx1"/>
                </a:solidFill>
              </a:rPr>
              <a:t>E</a:t>
            </a:r>
            <a:r>
              <a:rPr lang="es-ES" sz="2400">
                <a:solidFill>
                  <a:schemeClr val="tx1"/>
                </a:solidFill>
              </a:rPr>
              <a:t> = </a:t>
            </a:r>
            <a:r>
              <a:rPr lang="es-ES" sz="2400" b="1">
                <a:solidFill>
                  <a:schemeClr val="tx1"/>
                </a:solidFill>
              </a:rPr>
              <a:t>0</a:t>
            </a:r>
            <a:r>
              <a:rPr lang="es-ES" sz="2400">
                <a:solidFill>
                  <a:schemeClr val="tx1"/>
                </a:solidFill>
              </a:rPr>
              <a:t> dentro</a:t>
            </a:r>
            <a:endParaRPr lang="es-ES" sz="2400" dirty="0">
              <a:solidFill>
                <a:schemeClr val="tx1"/>
              </a:solidFill>
            </a:endParaRPr>
          </a:p>
        </p:txBody>
      </p:sp>
      <p:sp>
        <p:nvSpPr>
          <p:cNvPr id="59" name="Text Box 88">
            <a:extLst>
              <a:ext uri="{FF2B5EF4-FFF2-40B4-BE49-F238E27FC236}">
                <a16:creationId xmlns:a16="http://schemas.microsoft.com/office/drawing/2014/main" id="{64DEB5DD-104E-41A2-85BC-27EF323AE4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8107" y="2068904"/>
            <a:ext cx="6335206" cy="90588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  <a:defRPr/>
            </a:pPr>
            <a:r>
              <a:rPr lang="es-ES" sz="2400">
                <a:solidFill>
                  <a:schemeClr val="tx1"/>
                </a:solidFill>
              </a:rPr>
              <a:t>Fuera </a:t>
            </a:r>
            <a:r>
              <a:rPr lang="es-ES" sz="2400" b="1" dirty="0">
                <a:solidFill>
                  <a:schemeClr val="tx1"/>
                </a:solidFill>
              </a:rPr>
              <a:t>E</a:t>
            </a:r>
            <a:r>
              <a:rPr lang="es-ES" sz="2400" dirty="0">
                <a:solidFill>
                  <a:schemeClr val="tx1"/>
                </a:solidFill>
              </a:rPr>
              <a:t> es igual al de un hilo en </a:t>
            </a:r>
            <a:r>
              <a:rPr lang="es-ES" sz="2400">
                <a:solidFill>
                  <a:schemeClr val="tx1"/>
                </a:solidFill>
              </a:rPr>
              <a:t>eje con</a:t>
            </a:r>
          </a:p>
          <a:p>
            <a:pPr algn="ctr" eaLnBrk="1" hangingPunct="1">
              <a:spcBef>
                <a:spcPts val="0"/>
              </a:spcBef>
              <a:defRPr/>
            </a:pPr>
            <a:r>
              <a:rPr lang="es-ES" sz="2400">
                <a:solidFill>
                  <a:schemeClr val="tx1"/>
                </a:solidFill>
              </a:rPr>
              <a:t>la </a:t>
            </a:r>
            <a:r>
              <a:rPr lang="es-ES" sz="2400" dirty="0">
                <a:solidFill>
                  <a:schemeClr val="tx1"/>
                </a:solidFill>
              </a:rPr>
              <a:t>misma carga distribuida uniformemente</a:t>
            </a:r>
          </a:p>
        </p:txBody>
      </p:sp>
      <p:sp>
        <p:nvSpPr>
          <p:cNvPr id="64" name="Text Box 58">
            <a:extLst>
              <a:ext uri="{FF2B5EF4-FFF2-40B4-BE49-F238E27FC236}">
                <a16:creationId xmlns:a16="http://schemas.microsoft.com/office/drawing/2014/main" id="{11F4DB84-4CC0-4433-AB12-4D125A5431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6843" y="4948085"/>
            <a:ext cx="2687211" cy="4749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>
                <a:solidFill>
                  <a:srgbClr val="3333FF"/>
                </a:solidFill>
                <a:latin typeface="Comic Sans MS" panose="030F0702030302020204" pitchFamily="66" charset="0"/>
              </a:rPr>
              <a:t>I</a:t>
            </a:r>
            <a:r>
              <a:rPr lang="es-ES" baseline="-25000">
                <a:solidFill>
                  <a:srgbClr val="3333FF"/>
                </a:solidFill>
              </a:rPr>
              <a:t>HOMOGÉNEA</a:t>
            </a:r>
            <a:endParaRPr lang="es-ES" dirty="0">
              <a:solidFill>
                <a:srgbClr val="3333FF"/>
              </a:solidFill>
            </a:endParaRPr>
          </a:p>
        </p:txBody>
      </p:sp>
      <p:sp>
        <p:nvSpPr>
          <p:cNvPr id="4" name="Text Box 88">
            <a:extLst>
              <a:ext uri="{FF2B5EF4-FFF2-40B4-BE49-F238E27FC236}">
                <a16:creationId xmlns:a16="http://schemas.microsoft.com/office/drawing/2014/main" id="{36FB6547-237F-5C95-13D2-830361EFDE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5515" y="3324229"/>
            <a:ext cx="6299201" cy="9058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  <a:defRPr/>
            </a:pPr>
            <a:r>
              <a:rPr lang="es-ES" sz="2400" dirty="0">
                <a:solidFill>
                  <a:schemeClr val="tx1"/>
                </a:solidFill>
              </a:rPr>
              <a:t>Si es un </a:t>
            </a:r>
            <a:r>
              <a:rPr lang="es-ES" sz="2400" dirty="0">
                <a:solidFill>
                  <a:srgbClr val="3333FF"/>
                </a:solidFill>
              </a:rPr>
              <a:t>tubo macizo</a:t>
            </a:r>
            <a:r>
              <a:rPr lang="es-ES" sz="2400" dirty="0">
                <a:solidFill>
                  <a:schemeClr val="tx1"/>
                </a:solidFill>
              </a:rPr>
              <a:t>, con una </a:t>
            </a:r>
            <a:r>
              <a:rPr lang="es-ES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I</a:t>
            </a:r>
            <a:r>
              <a:rPr lang="es-ES" sz="2400" dirty="0">
                <a:solidFill>
                  <a:schemeClr val="tx1"/>
                </a:solidFill>
              </a:rPr>
              <a:t> homogénea en cada círculo de </a:t>
            </a:r>
            <a:r>
              <a:rPr lang="es-ES" sz="2400">
                <a:solidFill>
                  <a:schemeClr val="tx1"/>
                </a:solidFill>
              </a:rPr>
              <a:t>radio R</a:t>
            </a:r>
            <a:endParaRPr lang="es-ES" sz="2400" dirty="0">
              <a:solidFill>
                <a:schemeClr val="tx1"/>
              </a:solidFill>
            </a:endParaRPr>
          </a:p>
        </p:txBody>
      </p:sp>
      <p:sp>
        <p:nvSpPr>
          <p:cNvPr id="7" name="Text Box 88">
            <a:extLst>
              <a:ext uri="{FF2B5EF4-FFF2-40B4-BE49-F238E27FC236}">
                <a16:creationId xmlns:a16="http://schemas.microsoft.com/office/drawing/2014/main" id="{0AD00114-4323-F917-23B2-7368E95289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5514" y="4315254"/>
            <a:ext cx="6299201" cy="90588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  <a:defRPr/>
            </a:pPr>
            <a:r>
              <a:rPr lang="es-ES" sz="2400">
                <a:solidFill>
                  <a:schemeClr val="tx1"/>
                </a:solidFill>
              </a:rPr>
              <a:t>Viéndolo como un conjunto de tubos huecos concéntricos, aplicando el Ppo. de Sup.:</a:t>
            </a:r>
            <a:endParaRPr lang="es-ES" sz="2400" dirty="0">
              <a:solidFill>
                <a:schemeClr val="tx1"/>
              </a:solidFill>
            </a:endParaRPr>
          </a:p>
        </p:txBody>
      </p:sp>
      <p:sp>
        <p:nvSpPr>
          <p:cNvPr id="8" name="Text Box 88">
            <a:extLst>
              <a:ext uri="{FF2B5EF4-FFF2-40B4-BE49-F238E27FC236}">
                <a16:creationId xmlns:a16="http://schemas.microsoft.com/office/drawing/2014/main" id="{8D609315-BFE0-7303-752C-91678CD313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9428" y="5322327"/>
            <a:ext cx="6299202" cy="53654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  <a:defRPr/>
            </a:pPr>
            <a:r>
              <a:rPr lang="es-ES" sz="2400" b="1">
                <a:solidFill>
                  <a:schemeClr val="tx1"/>
                </a:solidFill>
              </a:rPr>
              <a:t>B</a:t>
            </a:r>
            <a:r>
              <a:rPr lang="es-ES" sz="2400">
                <a:solidFill>
                  <a:schemeClr val="tx1"/>
                </a:solidFill>
              </a:rPr>
              <a:t> </a:t>
            </a:r>
            <a:r>
              <a:rPr lang="es-ES" sz="2400" dirty="0">
                <a:solidFill>
                  <a:schemeClr val="tx1"/>
                </a:solidFill>
              </a:rPr>
              <a:t>fuera es el de un hilo en eje </a:t>
            </a:r>
            <a:r>
              <a:rPr lang="es-ES" sz="2400">
                <a:solidFill>
                  <a:schemeClr val="tx1"/>
                </a:solidFill>
              </a:rPr>
              <a:t>con </a:t>
            </a:r>
            <a:r>
              <a:rPr lang="es-ES" sz="2400">
                <a:solidFill>
                  <a:schemeClr val="tx1"/>
                </a:solidFill>
                <a:latin typeface="Comic Sans MS" panose="030F0702030302020204" pitchFamily="66" charset="0"/>
              </a:rPr>
              <a:t>I</a:t>
            </a:r>
            <a:endParaRPr lang="es-ES" sz="2400" dirty="0">
              <a:solidFill>
                <a:schemeClr val="tx1"/>
              </a:solidFill>
            </a:endParaRPr>
          </a:p>
        </p:txBody>
      </p:sp>
      <p:sp>
        <p:nvSpPr>
          <p:cNvPr id="9" name="Text Box 88">
            <a:extLst>
              <a:ext uri="{FF2B5EF4-FFF2-40B4-BE49-F238E27FC236}">
                <a16:creationId xmlns:a16="http://schemas.microsoft.com/office/drawing/2014/main" id="{53D03341-2D4A-A466-4518-F195E5BDA2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6401" y="5947878"/>
            <a:ext cx="6282229" cy="90588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  <a:defRPr/>
            </a:pPr>
            <a:r>
              <a:rPr lang="es-ES" sz="2400">
                <a:solidFill>
                  <a:schemeClr val="tx1"/>
                </a:solidFill>
              </a:rPr>
              <a:t>Dentro, </a:t>
            </a:r>
            <a:r>
              <a:rPr lang="es-ES" sz="2400" dirty="0">
                <a:solidFill>
                  <a:schemeClr val="tx1"/>
                </a:solidFill>
              </a:rPr>
              <a:t>igual, pero con la </a:t>
            </a:r>
            <a:r>
              <a:rPr lang="es-ES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I </a:t>
            </a:r>
            <a:r>
              <a:rPr lang="es-ES" sz="2400" dirty="0">
                <a:solidFill>
                  <a:schemeClr val="tx1"/>
                </a:solidFill>
              </a:rPr>
              <a:t>de los tubos huecos dentro (la parte proporcional de </a:t>
            </a:r>
            <a:r>
              <a:rPr lang="es-ES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I</a:t>
            </a:r>
            <a:r>
              <a:rPr lang="es-ES" sz="2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5F596B2-96BC-7C37-4514-4AE96081DFD3}"/>
              </a:ext>
            </a:extLst>
          </p:cNvPr>
          <p:cNvSpPr txBox="1"/>
          <p:nvPr/>
        </p:nvSpPr>
        <p:spPr>
          <a:xfrm>
            <a:off x="1717928" y="514588"/>
            <a:ext cx="1595309" cy="400110"/>
          </a:xfrm>
          <a:prstGeom prst="rect">
            <a:avLst/>
          </a:prstGeom>
          <a:solidFill>
            <a:srgbClr val="C0C0C0"/>
          </a:solidFill>
        </p:spPr>
        <p:txBody>
          <a:bodyPr wrap="none" rtlCol="0">
            <a:spAutoFit/>
          </a:bodyPr>
          <a:lstStyle/>
          <a:p>
            <a:r>
              <a:rPr lang="es-ES" dirty="0"/>
              <a:t>EJEMPLO 2</a:t>
            </a:r>
          </a:p>
        </p:txBody>
      </p:sp>
      <p:sp>
        <p:nvSpPr>
          <p:cNvPr id="6" name="Text Box 58">
            <a:extLst>
              <a:ext uri="{FF2B5EF4-FFF2-40B4-BE49-F238E27FC236}">
                <a16:creationId xmlns:a16="http://schemas.microsoft.com/office/drawing/2014/main" id="{2016D0C6-76C9-B5B9-35D9-E1D99E3CE6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1985" y="5434488"/>
            <a:ext cx="2315492" cy="139832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>
                <a:solidFill>
                  <a:schemeClr val="tx1"/>
                </a:solidFill>
              </a:rPr>
              <a:t>Repartida </a:t>
            </a:r>
            <a:r>
              <a:rPr lang="es-ES" dirty="0">
                <a:solidFill>
                  <a:schemeClr val="tx1"/>
                </a:solidFill>
              </a:rPr>
              <a:t>por</a:t>
            </a:r>
          </a:p>
          <a:p>
            <a:pPr algn="ctr" eaLnBrk="1" hangingPunct="1">
              <a:spcBef>
                <a:spcPts val="0"/>
              </a:spcBef>
            </a:pPr>
            <a:r>
              <a:rPr lang="es-ES">
                <a:solidFill>
                  <a:schemeClr val="tx1"/>
                </a:solidFill>
              </a:rPr>
              <a:t>igual </a:t>
            </a:r>
            <a:r>
              <a:rPr lang="es-ES" dirty="0">
                <a:solidFill>
                  <a:schemeClr val="tx1"/>
                </a:solidFill>
              </a:rPr>
              <a:t>en cada circunferencia</a:t>
            </a:r>
          </a:p>
          <a:p>
            <a:pPr algn="ctr" eaLnBrk="1" hangingPunct="1">
              <a:spcBef>
                <a:spcPts val="0"/>
              </a:spcBef>
            </a:pPr>
            <a:r>
              <a:rPr lang="es-ES" dirty="0">
                <a:solidFill>
                  <a:schemeClr val="tx1"/>
                </a:solidFill>
              </a:rPr>
              <a:t>de radio R </a:t>
            </a:r>
            <a:r>
              <a:rPr lang="es-ES" dirty="0">
                <a:solidFill>
                  <a:schemeClr val="tx1"/>
                </a:solidFill>
                <a:sym typeface="Symbol" panose="05050102010706020507" pitchFamily="18" charset="2"/>
              </a:rPr>
              <a:t> </a:t>
            </a:r>
            <a:r>
              <a:rPr lang="es-ES" dirty="0">
                <a:solidFill>
                  <a:schemeClr val="tx1"/>
                </a:solidFill>
              </a:rPr>
              <a:t>a eje</a:t>
            </a:r>
          </a:p>
        </p:txBody>
      </p:sp>
    </p:spTree>
    <p:extLst>
      <p:ext uri="{BB962C8B-B14F-4D97-AF65-F5344CB8AC3E}">
        <p14:creationId xmlns:p14="http://schemas.microsoft.com/office/powerpoint/2010/main" val="2138029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58" grpId="0" animBg="1"/>
      <p:bldP spid="59" grpId="0" animBg="1"/>
      <p:bldP spid="4" grpId="0" animBg="1"/>
      <p:bldP spid="7" grpId="0" animBg="1"/>
      <p:bldP spid="8" grpId="0" animBg="1"/>
      <p:bldP spid="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7630" name="Group 94"/>
          <p:cNvGrpSpPr>
            <a:grpSpLocks/>
          </p:cNvGrpSpPr>
          <p:nvPr/>
        </p:nvGrpSpPr>
        <p:grpSpPr bwMode="auto">
          <a:xfrm>
            <a:off x="3175000" y="5042535"/>
            <a:ext cx="1439863" cy="1439862"/>
            <a:chOff x="1228" y="2270"/>
            <a:chExt cx="907" cy="907"/>
          </a:xfrm>
        </p:grpSpPr>
        <p:sp>
          <p:nvSpPr>
            <p:cNvPr id="25698" name="Oval 81"/>
            <p:cNvSpPr>
              <a:spLocks noChangeArrowheads="1"/>
            </p:cNvSpPr>
            <p:nvPr/>
          </p:nvSpPr>
          <p:spPr bwMode="auto">
            <a:xfrm>
              <a:off x="1228" y="2270"/>
              <a:ext cx="907" cy="907"/>
            </a:xfrm>
            <a:prstGeom prst="ellipse">
              <a:avLst/>
            </a:prstGeom>
            <a:noFill/>
            <a:ln w="25400" algn="ctr">
              <a:solidFill>
                <a:srgbClr val="008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 anchor="ctr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>
                <a:solidFill>
                  <a:srgbClr val="D60093"/>
                </a:solidFill>
              </a:endParaRPr>
            </a:p>
          </p:txBody>
        </p:sp>
        <p:sp>
          <p:nvSpPr>
            <p:cNvPr id="25699" name="Line 93"/>
            <p:cNvSpPr>
              <a:spLocks noChangeShapeType="1"/>
            </p:cNvSpPr>
            <p:nvPr/>
          </p:nvSpPr>
          <p:spPr bwMode="auto">
            <a:xfrm>
              <a:off x="1659" y="3171"/>
              <a:ext cx="88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</p:grpSp>
      <p:grpSp>
        <p:nvGrpSpPr>
          <p:cNvPr id="577628" name="Group 92"/>
          <p:cNvGrpSpPr>
            <a:grpSpLocks/>
          </p:cNvGrpSpPr>
          <p:nvPr/>
        </p:nvGrpSpPr>
        <p:grpSpPr bwMode="auto">
          <a:xfrm>
            <a:off x="2498725" y="5029835"/>
            <a:ext cx="1439863" cy="1443037"/>
            <a:chOff x="802" y="2262"/>
            <a:chExt cx="907" cy="909"/>
          </a:xfrm>
        </p:grpSpPr>
        <p:sp>
          <p:nvSpPr>
            <p:cNvPr id="25696" name="Oval 77"/>
            <p:cNvSpPr>
              <a:spLocks noChangeArrowheads="1"/>
            </p:cNvSpPr>
            <p:nvPr/>
          </p:nvSpPr>
          <p:spPr bwMode="auto">
            <a:xfrm>
              <a:off x="802" y="2264"/>
              <a:ext cx="907" cy="907"/>
            </a:xfrm>
            <a:prstGeom prst="ellipse">
              <a:avLst/>
            </a:prstGeom>
            <a:noFill/>
            <a:ln w="25400" algn="ctr">
              <a:solidFill>
                <a:srgbClr val="008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 anchor="ctr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>
                <a:solidFill>
                  <a:srgbClr val="D60093"/>
                </a:solidFill>
              </a:endParaRPr>
            </a:p>
          </p:txBody>
        </p:sp>
        <p:sp>
          <p:nvSpPr>
            <p:cNvPr id="25697" name="Line 91"/>
            <p:cNvSpPr>
              <a:spLocks noChangeShapeType="1"/>
            </p:cNvSpPr>
            <p:nvPr/>
          </p:nvSpPr>
          <p:spPr bwMode="auto">
            <a:xfrm flipH="1">
              <a:off x="1185" y="2262"/>
              <a:ext cx="97" cy="1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</p:grpSp>
      <p:grpSp>
        <p:nvGrpSpPr>
          <p:cNvPr id="577618" name="Group 82"/>
          <p:cNvGrpSpPr>
            <a:grpSpLocks/>
          </p:cNvGrpSpPr>
          <p:nvPr/>
        </p:nvGrpSpPr>
        <p:grpSpPr bwMode="auto">
          <a:xfrm>
            <a:off x="2847978" y="5856924"/>
            <a:ext cx="333375" cy="1036638"/>
            <a:chOff x="1639" y="3389"/>
            <a:chExt cx="210" cy="653"/>
          </a:xfrm>
        </p:grpSpPr>
        <p:sp>
          <p:nvSpPr>
            <p:cNvPr id="25694" name="Line 83"/>
            <p:cNvSpPr>
              <a:spLocks noChangeShapeType="1"/>
            </p:cNvSpPr>
            <p:nvPr/>
          </p:nvSpPr>
          <p:spPr bwMode="auto">
            <a:xfrm>
              <a:off x="1849" y="3389"/>
              <a:ext cx="0" cy="363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graphicFrame>
          <p:nvGraphicFramePr>
            <p:cNvPr id="25695" name="Object 84"/>
            <p:cNvGraphicFramePr>
              <a:graphicFrameLocks noChangeAspect="1"/>
            </p:cNvGraphicFramePr>
            <p:nvPr/>
          </p:nvGraphicFramePr>
          <p:xfrm>
            <a:off x="1639" y="3756"/>
            <a:ext cx="199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190417" imgH="241195" progId="Equation.3">
                    <p:embed/>
                  </p:oleObj>
                </mc:Choice>
                <mc:Fallback>
                  <p:oleObj name="Ecuación" r:id="rId3" imgW="190417" imgH="241195" progId="Equation.3">
                    <p:embed/>
                    <p:pic>
                      <p:nvPicPr>
                        <p:cNvPr id="25695" name="Object 8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9" y="3756"/>
                          <a:ext cx="199" cy="2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77614" name="Group 78"/>
          <p:cNvGrpSpPr>
            <a:grpSpLocks/>
          </p:cNvGrpSpPr>
          <p:nvPr/>
        </p:nvGrpSpPr>
        <p:grpSpPr bwMode="auto">
          <a:xfrm>
            <a:off x="3940176" y="4612324"/>
            <a:ext cx="373063" cy="1027113"/>
            <a:chOff x="2698" y="2663"/>
            <a:chExt cx="235" cy="647"/>
          </a:xfrm>
        </p:grpSpPr>
        <p:sp>
          <p:nvSpPr>
            <p:cNvPr id="25692" name="Line 79"/>
            <p:cNvSpPr>
              <a:spLocks noChangeShapeType="1"/>
            </p:cNvSpPr>
            <p:nvPr/>
          </p:nvSpPr>
          <p:spPr bwMode="auto">
            <a:xfrm flipV="1">
              <a:off x="2698" y="2947"/>
              <a:ext cx="0" cy="363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graphicFrame>
          <p:nvGraphicFramePr>
            <p:cNvPr id="25693" name="Object 80"/>
            <p:cNvGraphicFramePr>
              <a:graphicFrameLocks noChangeAspect="1"/>
            </p:cNvGraphicFramePr>
            <p:nvPr/>
          </p:nvGraphicFramePr>
          <p:xfrm>
            <a:off x="2720" y="2663"/>
            <a:ext cx="213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177646" imgH="241091" progId="Equation.3">
                    <p:embed/>
                  </p:oleObj>
                </mc:Choice>
                <mc:Fallback>
                  <p:oleObj name="Ecuación" r:id="rId5" imgW="177646" imgH="241091" progId="Equation.3">
                    <p:embed/>
                    <p:pic>
                      <p:nvPicPr>
                        <p:cNvPr id="25693" name="Object 8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20" y="2663"/>
                          <a:ext cx="213" cy="2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77596" name="Group 60"/>
          <p:cNvGrpSpPr>
            <a:grpSpLocks/>
          </p:cNvGrpSpPr>
          <p:nvPr/>
        </p:nvGrpSpPr>
        <p:grpSpPr bwMode="auto">
          <a:xfrm>
            <a:off x="4042029" y="2286149"/>
            <a:ext cx="439738" cy="947738"/>
            <a:chOff x="2698" y="2755"/>
            <a:chExt cx="277" cy="597"/>
          </a:xfrm>
        </p:grpSpPr>
        <p:sp>
          <p:nvSpPr>
            <p:cNvPr id="25690" name="Line 23"/>
            <p:cNvSpPr>
              <a:spLocks noChangeShapeType="1"/>
            </p:cNvSpPr>
            <p:nvPr/>
          </p:nvSpPr>
          <p:spPr bwMode="auto">
            <a:xfrm flipV="1">
              <a:off x="2698" y="2989"/>
              <a:ext cx="0" cy="363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 dirty="0"/>
            </a:p>
          </p:txBody>
        </p:sp>
        <p:graphicFrame>
          <p:nvGraphicFramePr>
            <p:cNvPr id="25691" name="Object 28"/>
            <p:cNvGraphicFramePr>
              <a:graphicFrameLocks noChangeAspect="1"/>
            </p:cNvGraphicFramePr>
            <p:nvPr/>
          </p:nvGraphicFramePr>
          <p:xfrm>
            <a:off x="2762" y="2755"/>
            <a:ext cx="213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177646" imgH="241091" progId="Equation.3">
                    <p:embed/>
                  </p:oleObj>
                </mc:Choice>
                <mc:Fallback>
                  <p:oleObj name="Ecuación" r:id="rId5" imgW="177646" imgH="241091" progId="Equation.3">
                    <p:embed/>
                    <p:pic>
                      <p:nvPicPr>
                        <p:cNvPr id="25691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2" y="2755"/>
                          <a:ext cx="213" cy="2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77602" name="Group 66"/>
          <p:cNvGrpSpPr>
            <a:grpSpLocks/>
          </p:cNvGrpSpPr>
          <p:nvPr/>
        </p:nvGrpSpPr>
        <p:grpSpPr bwMode="auto">
          <a:xfrm>
            <a:off x="3516567" y="2665559"/>
            <a:ext cx="511175" cy="592137"/>
            <a:chOff x="2367" y="2994"/>
            <a:chExt cx="322" cy="373"/>
          </a:xfrm>
        </p:grpSpPr>
        <p:sp>
          <p:nvSpPr>
            <p:cNvPr id="25685" name="Line 33"/>
            <p:cNvSpPr>
              <a:spLocks noChangeShapeType="1"/>
            </p:cNvSpPr>
            <p:nvPr/>
          </p:nvSpPr>
          <p:spPr bwMode="auto">
            <a:xfrm rot="5400000">
              <a:off x="2528" y="3206"/>
              <a:ext cx="0" cy="32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graphicFrame>
          <p:nvGraphicFramePr>
            <p:cNvPr id="25686" name="Object 34"/>
            <p:cNvGraphicFramePr>
              <a:graphicFrameLocks noChangeAspect="1"/>
            </p:cNvGraphicFramePr>
            <p:nvPr/>
          </p:nvGraphicFramePr>
          <p:xfrm>
            <a:off x="2408" y="2994"/>
            <a:ext cx="228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7" imgW="190417" imgH="241195" progId="Equation.3">
                    <p:embed/>
                  </p:oleObj>
                </mc:Choice>
                <mc:Fallback>
                  <p:oleObj name="Ecuación" r:id="rId7" imgW="190417" imgH="241195" progId="Equation.3">
                    <p:embed/>
                    <p:pic>
                      <p:nvPicPr>
                        <p:cNvPr id="25686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8" y="2994"/>
                          <a:ext cx="228" cy="2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77597" name="Group 61"/>
          <p:cNvGrpSpPr>
            <a:grpSpLocks/>
          </p:cNvGrpSpPr>
          <p:nvPr/>
        </p:nvGrpSpPr>
        <p:grpSpPr bwMode="auto">
          <a:xfrm>
            <a:off x="2241804" y="3216421"/>
            <a:ext cx="452438" cy="942975"/>
            <a:chOff x="1564" y="3341"/>
            <a:chExt cx="285" cy="594"/>
          </a:xfrm>
        </p:grpSpPr>
        <p:sp>
          <p:nvSpPr>
            <p:cNvPr id="25683" name="Line 35"/>
            <p:cNvSpPr>
              <a:spLocks noChangeShapeType="1"/>
            </p:cNvSpPr>
            <p:nvPr/>
          </p:nvSpPr>
          <p:spPr bwMode="auto">
            <a:xfrm>
              <a:off x="1849" y="3341"/>
              <a:ext cx="0" cy="363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graphicFrame>
          <p:nvGraphicFramePr>
            <p:cNvPr id="25684" name="Object 36"/>
            <p:cNvGraphicFramePr>
              <a:graphicFrameLocks noChangeAspect="1"/>
            </p:cNvGraphicFramePr>
            <p:nvPr/>
          </p:nvGraphicFramePr>
          <p:xfrm>
            <a:off x="1564" y="3649"/>
            <a:ext cx="199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190417" imgH="241195" progId="Equation.3">
                    <p:embed/>
                  </p:oleObj>
                </mc:Choice>
                <mc:Fallback>
                  <p:oleObj name="Ecuación" r:id="rId3" imgW="190417" imgH="241195" progId="Equation.3">
                    <p:embed/>
                    <p:pic>
                      <p:nvPicPr>
                        <p:cNvPr id="25684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64" y="3649"/>
                          <a:ext cx="199" cy="2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77603" name="Group 67"/>
          <p:cNvGrpSpPr>
            <a:grpSpLocks/>
          </p:cNvGrpSpPr>
          <p:nvPr/>
        </p:nvGrpSpPr>
        <p:grpSpPr bwMode="auto">
          <a:xfrm>
            <a:off x="2691067" y="2667146"/>
            <a:ext cx="815975" cy="563563"/>
            <a:chOff x="1847" y="2995"/>
            <a:chExt cx="514" cy="355"/>
          </a:xfrm>
        </p:grpSpPr>
        <p:sp>
          <p:nvSpPr>
            <p:cNvPr id="25681" name="Line 37"/>
            <p:cNvSpPr>
              <a:spLocks noChangeShapeType="1"/>
            </p:cNvSpPr>
            <p:nvPr/>
          </p:nvSpPr>
          <p:spPr bwMode="auto">
            <a:xfrm rot="16200000" flipH="1">
              <a:off x="2008" y="3189"/>
              <a:ext cx="0" cy="32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graphicFrame>
          <p:nvGraphicFramePr>
            <p:cNvPr id="25682" name="Object 38"/>
            <p:cNvGraphicFramePr>
              <a:graphicFrameLocks noChangeAspect="1"/>
            </p:cNvGraphicFramePr>
            <p:nvPr/>
          </p:nvGraphicFramePr>
          <p:xfrm>
            <a:off x="2133" y="2995"/>
            <a:ext cx="228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9" imgW="190417" imgH="241195" progId="Equation.3">
                    <p:embed/>
                  </p:oleObj>
                </mc:Choice>
                <mc:Fallback>
                  <p:oleObj name="Ecuación" r:id="rId9" imgW="190417" imgH="241195" progId="Equation.3">
                    <p:embed/>
                    <p:pic>
                      <p:nvPicPr>
                        <p:cNvPr id="25682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33" y="2995"/>
                          <a:ext cx="228" cy="2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2DACF768-FC47-41A9-923C-A9B5847035F2}"/>
              </a:ext>
            </a:extLst>
          </p:cNvPr>
          <p:cNvGrpSpPr/>
          <p:nvPr/>
        </p:nvGrpSpPr>
        <p:grpSpPr>
          <a:xfrm>
            <a:off x="1552830" y="2178196"/>
            <a:ext cx="3549650" cy="2368550"/>
            <a:chOff x="1552830" y="2012823"/>
            <a:chExt cx="3549650" cy="2368550"/>
          </a:xfrm>
        </p:grpSpPr>
        <p:sp>
          <p:nvSpPr>
            <p:cNvPr id="25671" name="Line 15"/>
            <p:cNvSpPr>
              <a:spLocks noChangeShapeType="1"/>
            </p:cNvSpPr>
            <p:nvPr/>
          </p:nvSpPr>
          <p:spPr bwMode="auto">
            <a:xfrm flipH="1">
              <a:off x="1552830" y="2039811"/>
              <a:ext cx="2130425" cy="215265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25672" name="Line 16"/>
            <p:cNvSpPr>
              <a:spLocks noChangeShapeType="1"/>
            </p:cNvSpPr>
            <p:nvPr/>
          </p:nvSpPr>
          <p:spPr bwMode="auto">
            <a:xfrm flipH="1">
              <a:off x="2972055" y="2012823"/>
              <a:ext cx="2130425" cy="215265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25673" name="Line 17"/>
            <p:cNvSpPr>
              <a:spLocks noChangeShapeType="1"/>
            </p:cNvSpPr>
            <p:nvPr/>
          </p:nvSpPr>
          <p:spPr bwMode="auto">
            <a:xfrm flipH="1">
              <a:off x="1838580" y="3754311"/>
              <a:ext cx="150813" cy="150812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25674" name="Line 18"/>
            <p:cNvSpPr>
              <a:spLocks noChangeShapeType="1"/>
            </p:cNvSpPr>
            <p:nvPr/>
          </p:nvSpPr>
          <p:spPr bwMode="auto">
            <a:xfrm flipH="1">
              <a:off x="3222880" y="3754311"/>
              <a:ext cx="150813" cy="150812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25675" name="Text Box 19"/>
            <p:cNvSpPr txBox="1">
              <a:spLocks noChangeArrowheads="1"/>
            </p:cNvSpPr>
            <p:nvPr/>
          </p:nvSpPr>
          <p:spPr bwMode="auto">
            <a:xfrm>
              <a:off x="1763967" y="3844798"/>
              <a:ext cx="463550" cy="536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b="1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  <a:r>
                <a:rPr lang="es-ES" sz="2400" b="1" baseline="-25000">
                  <a:solidFill>
                    <a:srgbClr val="3333FF"/>
                  </a:solidFill>
                </a:rPr>
                <a:t>1</a:t>
              </a:r>
              <a:endParaRPr lang="es-ES" sz="2800" b="1">
                <a:solidFill>
                  <a:srgbClr val="3333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676" name="Text Box 20"/>
            <p:cNvSpPr txBox="1">
              <a:spLocks noChangeArrowheads="1"/>
            </p:cNvSpPr>
            <p:nvPr/>
          </p:nvSpPr>
          <p:spPr bwMode="auto">
            <a:xfrm>
              <a:off x="3219705" y="3803523"/>
              <a:ext cx="463550" cy="536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b="1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  <a:r>
                <a:rPr lang="es-ES" sz="2400" b="1" baseline="-25000">
                  <a:solidFill>
                    <a:srgbClr val="3333FF"/>
                  </a:solidFill>
                </a:rPr>
                <a:t>2</a:t>
              </a:r>
              <a:endParaRPr lang="es-ES" sz="2800" b="1">
                <a:solidFill>
                  <a:srgbClr val="3333FF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" name="Grupo 3">
            <a:extLst>
              <a:ext uri="{FF2B5EF4-FFF2-40B4-BE49-F238E27FC236}">
                <a16:creationId xmlns:a16="http://schemas.microsoft.com/office/drawing/2014/main" id="{C81DEB86-05A1-45FE-89B8-5C1B8D5BBDC5}"/>
              </a:ext>
            </a:extLst>
          </p:cNvPr>
          <p:cNvGrpSpPr/>
          <p:nvPr/>
        </p:nvGrpSpPr>
        <p:grpSpPr>
          <a:xfrm>
            <a:off x="3694367" y="1608284"/>
            <a:ext cx="1412875" cy="550862"/>
            <a:chOff x="3694367" y="1442911"/>
            <a:chExt cx="1412875" cy="550862"/>
          </a:xfrm>
        </p:grpSpPr>
        <p:sp>
          <p:nvSpPr>
            <p:cNvPr id="25677" name="Line 21"/>
            <p:cNvSpPr>
              <a:spLocks noChangeShapeType="1"/>
            </p:cNvSpPr>
            <p:nvPr/>
          </p:nvSpPr>
          <p:spPr bwMode="auto">
            <a:xfrm flipV="1">
              <a:off x="3694367" y="1993773"/>
              <a:ext cx="1412875" cy="0"/>
            </a:xfrm>
            <a:prstGeom prst="line">
              <a:avLst/>
            </a:prstGeom>
            <a:noFill/>
            <a:ln w="25400">
              <a:solidFill>
                <a:schemeClr val="tx2">
                  <a:lumMod val="75000"/>
                  <a:lumOff val="25000"/>
                </a:schemeClr>
              </a:solidFill>
              <a:prstDash val="dash"/>
              <a:round/>
              <a:headEnd type="arrow" w="med" len="med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25678" name="Text Box 22"/>
            <p:cNvSpPr txBox="1">
              <a:spLocks noChangeArrowheads="1"/>
            </p:cNvSpPr>
            <p:nvPr/>
          </p:nvSpPr>
          <p:spPr bwMode="auto">
            <a:xfrm>
              <a:off x="4262692" y="1442911"/>
              <a:ext cx="369888" cy="536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d</a:t>
              </a:r>
            </a:p>
          </p:txBody>
        </p:sp>
      </p:grpSp>
      <p:grpSp>
        <p:nvGrpSpPr>
          <p:cNvPr id="5" name="Grupo 4">
            <a:extLst>
              <a:ext uri="{FF2B5EF4-FFF2-40B4-BE49-F238E27FC236}">
                <a16:creationId xmlns:a16="http://schemas.microsoft.com/office/drawing/2014/main" id="{56E225E0-B30B-4931-A0B2-50613EBB3B22}"/>
              </a:ext>
            </a:extLst>
          </p:cNvPr>
          <p:cNvGrpSpPr/>
          <p:nvPr/>
        </p:nvGrpSpPr>
        <p:grpSpPr>
          <a:xfrm>
            <a:off x="2054577" y="2500542"/>
            <a:ext cx="1083468" cy="1116869"/>
            <a:chOff x="2054577" y="2335169"/>
            <a:chExt cx="1083468" cy="1116869"/>
          </a:xfrm>
        </p:grpSpPr>
        <p:sp>
          <p:nvSpPr>
            <p:cNvPr id="25679" name="Line 44"/>
            <p:cNvSpPr>
              <a:spLocks noChangeShapeType="1"/>
            </p:cNvSpPr>
            <p:nvPr/>
          </p:nvSpPr>
          <p:spPr bwMode="auto">
            <a:xfrm flipH="1">
              <a:off x="2054577" y="2335169"/>
              <a:ext cx="1083468" cy="1116869"/>
            </a:xfrm>
            <a:prstGeom prst="line">
              <a:avLst/>
            </a:prstGeom>
            <a:noFill/>
            <a:ln w="25400">
              <a:solidFill>
                <a:schemeClr val="tx2">
                  <a:lumMod val="75000"/>
                  <a:lumOff val="25000"/>
                </a:schemeClr>
              </a:solidFill>
              <a:prstDash val="dash"/>
              <a:round/>
              <a:headEnd type="arrow" w="med" len="med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25680" name="Text Box 45"/>
            <p:cNvSpPr txBox="1">
              <a:spLocks noChangeArrowheads="1"/>
            </p:cNvSpPr>
            <p:nvPr/>
          </p:nvSpPr>
          <p:spPr bwMode="auto">
            <a:xfrm>
              <a:off x="2235455" y="2376361"/>
              <a:ext cx="369888" cy="536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L</a:t>
              </a:r>
            </a:p>
          </p:txBody>
        </p:sp>
      </p:grpSp>
      <p:grpSp>
        <p:nvGrpSpPr>
          <p:cNvPr id="577625" name="Group 89"/>
          <p:cNvGrpSpPr>
            <a:grpSpLocks/>
          </p:cNvGrpSpPr>
          <p:nvPr/>
        </p:nvGrpSpPr>
        <p:grpSpPr bwMode="auto">
          <a:xfrm>
            <a:off x="2708275" y="5393373"/>
            <a:ext cx="1739901" cy="550862"/>
            <a:chOff x="934" y="2491"/>
            <a:chExt cx="1096" cy="347"/>
          </a:xfrm>
        </p:grpSpPr>
        <p:grpSp>
          <p:nvGrpSpPr>
            <p:cNvPr id="25657" name="Group 73"/>
            <p:cNvGrpSpPr>
              <a:grpSpLocks/>
            </p:cNvGrpSpPr>
            <p:nvPr/>
          </p:nvGrpSpPr>
          <p:grpSpPr bwMode="auto">
            <a:xfrm>
              <a:off x="1179" y="2666"/>
              <a:ext cx="113" cy="113"/>
              <a:chOff x="1069" y="2676"/>
              <a:chExt cx="113" cy="113"/>
            </a:xfrm>
          </p:grpSpPr>
          <p:sp>
            <p:nvSpPr>
              <p:cNvPr id="25663" name="Oval 71"/>
              <p:cNvSpPr>
                <a:spLocks noChangeArrowheads="1"/>
              </p:cNvSpPr>
              <p:nvPr/>
            </p:nvSpPr>
            <p:spPr bwMode="auto">
              <a:xfrm>
                <a:off x="1069" y="2676"/>
                <a:ext cx="113" cy="113"/>
              </a:xfrm>
              <a:prstGeom prst="ellipse">
                <a:avLst/>
              </a:prstGeom>
              <a:solidFill>
                <a:srgbClr val="FFFF00"/>
              </a:solidFill>
              <a:ln w="12700" algn="ctr">
                <a:solidFill>
                  <a:schemeClr val="tx1"/>
                </a:solidFill>
                <a:round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 anchor="ctr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lang="en-US">
                  <a:solidFill>
                    <a:srgbClr val="D60093"/>
                  </a:solidFill>
                </a:endParaRPr>
              </a:p>
            </p:txBody>
          </p:sp>
          <p:sp>
            <p:nvSpPr>
              <p:cNvPr id="25664" name="Oval 72"/>
              <p:cNvSpPr>
                <a:spLocks noChangeArrowheads="1"/>
              </p:cNvSpPr>
              <p:nvPr/>
            </p:nvSpPr>
            <p:spPr bwMode="auto">
              <a:xfrm>
                <a:off x="1103" y="2710"/>
                <a:ext cx="45" cy="45"/>
              </a:xfrm>
              <a:prstGeom prst="ellipse">
                <a:avLst/>
              </a:prstGeom>
              <a:solidFill>
                <a:schemeClr val="tx1"/>
              </a:solidFill>
              <a:ln w="12700" algn="ctr">
                <a:solidFill>
                  <a:schemeClr val="tx1"/>
                </a:solidFill>
                <a:round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 anchor="ctr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lang="en-US">
                  <a:solidFill>
                    <a:srgbClr val="D60093"/>
                  </a:solidFill>
                </a:endParaRPr>
              </a:p>
            </p:txBody>
          </p:sp>
        </p:grpSp>
        <p:grpSp>
          <p:nvGrpSpPr>
            <p:cNvPr id="25658" name="Group 74"/>
            <p:cNvGrpSpPr>
              <a:grpSpLocks/>
            </p:cNvGrpSpPr>
            <p:nvPr/>
          </p:nvGrpSpPr>
          <p:grpSpPr bwMode="auto">
            <a:xfrm>
              <a:off x="1645" y="2662"/>
              <a:ext cx="113" cy="113"/>
              <a:chOff x="1069" y="2676"/>
              <a:chExt cx="113" cy="113"/>
            </a:xfrm>
          </p:grpSpPr>
          <p:sp>
            <p:nvSpPr>
              <p:cNvPr id="25661" name="Oval 75"/>
              <p:cNvSpPr>
                <a:spLocks noChangeArrowheads="1"/>
              </p:cNvSpPr>
              <p:nvPr/>
            </p:nvSpPr>
            <p:spPr bwMode="auto">
              <a:xfrm>
                <a:off x="1069" y="2676"/>
                <a:ext cx="113" cy="113"/>
              </a:xfrm>
              <a:prstGeom prst="ellipse">
                <a:avLst/>
              </a:prstGeom>
              <a:solidFill>
                <a:srgbClr val="FFFF00"/>
              </a:solidFill>
              <a:ln w="12700" algn="ctr">
                <a:solidFill>
                  <a:schemeClr val="tx1"/>
                </a:solidFill>
                <a:round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 anchor="ctr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lang="en-US">
                  <a:solidFill>
                    <a:srgbClr val="D60093"/>
                  </a:solidFill>
                </a:endParaRPr>
              </a:p>
            </p:txBody>
          </p:sp>
          <p:sp>
            <p:nvSpPr>
              <p:cNvPr id="25662" name="Oval 76"/>
              <p:cNvSpPr>
                <a:spLocks noChangeArrowheads="1"/>
              </p:cNvSpPr>
              <p:nvPr/>
            </p:nvSpPr>
            <p:spPr bwMode="auto">
              <a:xfrm>
                <a:off x="1103" y="2710"/>
                <a:ext cx="45" cy="45"/>
              </a:xfrm>
              <a:prstGeom prst="ellipse">
                <a:avLst/>
              </a:prstGeom>
              <a:solidFill>
                <a:schemeClr val="tx1"/>
              </a:solidFill>
              <a:ln w="12700" algn="ctr">
                <a:solidFill>
                  <a:schemeClr val="tx1"/>
                </a:solidFill>
                <a:round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 anchor="ctr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lang="en-US">
                  <a:solidFill>
                    <a:srgbClr val="D60093"/>
                  </a:solidFill>
                </a:endParaRPr>
              </a:p>
            </p:txBody>
          </p:sp>
        </p:grpSp>
        <p:sp>
          <p:nvSpPr>
            <p:cNvPr id="25659" name="Text Box 86"/>
            <p:cNvSpPr txBox="1">
              <a:spLocks noChangeArrowheads="1"/>
            </p:cNvSpPr>
            <p:nvPr/>
          </p:nvSpPr>
          <p:spPr bwMode="auto">
            <a:xfrm>
              <a:off x="934" y="2500"/>
              <a:ext cx="292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  <a:r>
                <a:rPr lang="es-ES" sz="2400" baseline="-25000">
                  <a:solidFill>
                    <a:srgbClr val="3333FF"/>
                  </a:solidFill>
                </a:rPr>
                <a:t>1</a:t>
              </a:r>
              <a:endParaRPr lang="es-ES" sz="2800">
                <a:solidFill>
                  <a:srgbClr val="3333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660" name="Text Box 87"/>
            <p:cNvSpPr txBox="1">
              <a:spLocks noChangeArrowheads="1"/>
            </p:cNvSpPr>
            <p:nvPr/>
          </p:nvSpPr>
          <p:spPr bwMode="auto">
            <a:xfrm>
              <a:off x="1738" y="2491"/>
              <a:ext cx="292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  <a:r>
                <a:rPr lang="es-ES" sz="2400" baseline="-25000">
                  <a:solidFill>
                    <a:srgbClr val="3333FF"/>
                  </a:solidFill>
                </a:rPr>
                <a:t>2</a:t>
              </a:r>
              <a:endParaRPr lang="es-ES" sz="2800">
                <a:solidFill>
                  <a:srgbClr val="3333FF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77669" name="Group 133"/>
          <p:cNvGrpSpPr>
            <a:grpSpLocks/>
          </p:cNvGrpSpPr>
          <p:nvPr/>
        </p:nvGrpSpPr>
        <p:grpSpPr bwMode="auto">
          <a:xfrm>
            <a:off x="7560544" y="4313750"/>
            <a:ext cx="2319337" cy="1103313"/>
            <a:chOff x="4508" y="1512"/>
            <a:chExt cx="1461" cy="695"/>
          </a:xfrm>
        </p:grpSpPr>
        <p:sp>
          <p:nvSpPr>
            <p:cNvPr id="25646" name="Rectangle 10"/>
            <p:cNvSpPr>
              <a:spLocks noChangeArrowheads="1"/>
            </p:cNvSpPr>
            <p:nvPr/>
          </p:nvSpPr>
          <p:spPr bwMode="auto">
            <a:xfrm>
              <a:off x="4508" y="1512"/>
              <a:ext cx="1461" cy="695"/>
            </a:xfrm>
            <a:prstGeom prst="rect">
              <a:avLst/>
            </a:prstGeom>
            <a:solidFill>
              <a:srgbClr val="FF99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>
                <a:solidFill>
                  <a:srgbClr val="D60093"/>
                </a:solidFill>
              </a:endParaRPr>
            </a:p>
          </p:txBody>
        </p:sp>
        <p:graphicFrame>
          <p:nvGraphicFramePr>
            <p:cNvPr id="25647" name="Object 8"/>
            <p:cNvGraphicFramePr>
              <a:graphicFrameLocks noChangeAspect="1"/>
            </p:cNvGraphicFramePr>
            <p:nvPr/>
          </p:nvGraphicFramePr>
          <p:xfrm>
            <a:off x="4569" y="1646"/>
            <a:ext cx="1316" cy="4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1" imgW="748975" imgH="241195" progId="Equation.3">
                    <p:embed/>
                  </p:oleObj>
                </mc:Choice>
                <mc:Fallback>
                  <p:oleObj name="Ecuación" r:id="rId11" imgW="748975" imgH="241195" progId="Equation.3">
                    <p:embed/>
                    <p:pic>
                      <p:nvPicPr>
                        <p:cNvPr id="25647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9" y="1646"/>
                          <a:ext cx="1316" cy="4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637" name="Text Box 115"/>
          <p:cNvSpPr txBox="1">
            <a:spLocks noChangeArrowheads="1"/>
          </p:cNvSpPr>
          <p:nvPr/>
        </p:nvSpPr>
        <p:spPr bwMode="auto">
          <a:xfrm>
            <a:off x="5400674" y="3671185"/>
            <a:ext cx="5316487" cy="53654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36000" tIns="82800" rIns="36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Hilos //  </a:t>
            </a:r>
            <a:r>
              <a:rPr lang="es-ES" sz="2400" b="1">
                <a:solidFill>
                  <a:schemeClr val="tx1"/>
                </a:solidFill>
                <a:sym typeface="Symbol" panose="05050102010706020507" pitchFamily="18" charset="2"/>
              </a:rPr>
              <a:t>B</a:t>
            </a:r>
            <a:r>
              <a:rPr lang="es-ES" sz="2400" baseline="-25000">
                <a:solidFill>
                  <a:schemeClr val="tx1"/>
                </a:solidFill>
                <a:sym typeface="Symbol" panose="05050102010706020507" pitchFamily="18" charset="2"/>
              </a:rPr>
              <a:t>hilo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uniforme en otro (r cte.)</a:t>
            </a:r>
          </a:p>
        </p:txBody>
      </p:sp>
      <p:sp>
        <p:nvSpPr>
          <p:cNvPr id="25628" name="Text Box 13"/>
          <p:cNvSpPr txBox="1">
            <a:spLocks noChangeArrowheads="1"/>
          </p:cNvSpPr>
          <p:nvPr/>
        </p:nvSpPr>
        <p:spPr bwMode="auto">
          <a:xfrm>
            <a:off x="1963611" y="315659"/>
            <a:ext cx="7524751" cy="127521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>
                <a:solidFill>
                  <a:srgbClr val="FFFFFF"/>
                </a:solidFill>
              </a:rPr>
              <a:t>Fuerza magnética que se ejercen 2 hilos conductores, rectos, paralelos, largos, por los que circula corriente, separados una distancia d, para una longitud L</a:t>
            </a:r>
          </a:p>
        </p:txBody>
      </p:sp>
      <p:grpSp>
        <p:nvGrpSpPr>
          <p:cNvPr id="7" name="Grupo 6"/>
          <p:cNvGrpSpPr>
            <a:grpSpLocks/>
          </p:cNvGrpSpPr>
          <p:nvPr/>
        </p:nvGrpSpPr>
        <p:grpSpPr bwMode="auto">
          <a:xfrm>
            <a:off x="7531431" y="2374337"/>
            <a:ext cx="2348450" cy="1082675"/>
            <a:chOff x="4765688" y="2413000"/>
            <a:chExt cx="2348450" cy="1082675"/>
          </a:xfrm>
        </p:grpSpPr>
        <p:sp>
          <p:nvSpPr>
            <p:cNvPr id="25640" name="Rectangle 6"/>
            <p:cNvSpPr>
              <a:spLocks noChangeArrowheads="1"/>
            </p:cNvSpPr>
            <p:nvPr/>
          </p:nvSpPr>
          <p:spPr bwMode="auto">
            <a:xfrm>
              <a:off x="4765688" y="2413000"/>
              <a:ext cx="2348450" cy="1082675"/>
            </a:xfrm>
            <a:prstGeom prst="rect">
              <a:avLst/>
            </a:prstGeom>
            <a:solidFill>
              <a:srgbClr val="FF99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>
                <a:solidFill>
                  <a:srgbClr val="D60093"/>
                </a:solidFill>
              </a:endParaRPr>
            </a:p>
          </p:txBody>
        </p:sp>
        <p:graphicFrame>
          <p:nvGraphicFramePr>
            <p:cNvPr id="25641" name="Object 7"/>
            <p:cNvGraphicFramePr>
              <a:graphicFrameLocks noChangeAspect="1"/>
            </p:cNvGraphicFramePr>
            <p:nvPr/>
          </p:nvGraphicFramePr>
          <p:xfrm>
            <a:off x="4876813" y="2427288"/>
            <a:ext cx="1825625" cy="10366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3" imgW="685800" imgH="393700" progId="Equation.3">
                    <p:embed/>
                  </p:oleObj>
                </mc:Choice>
                <mc:Fallback>
                  <p:oleObj name="Ecuación" r:id="rId13" imgW="685800" imgH="393700" progId="Equation.3">
                    <p:embed/>
                    <p:pic>
                      <p:nvPicPr>
                        <p:cNvPr id="25641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76813" y="2427288"/>
                          <a:ext cx="1825625" cy="10366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643" name="Text Box 114"/>
          <p:cNvSpPr txBox="1">
            <a:spLocks noChangeArrowheads="1"/>
          </p:cNvSpPr>
          <p:nvPr/>
        </p:nvSpPr>
        <p:spPr bwMode="auto">
          <a:xfrm>
            <a:off x="5403236" y="1706397"/>
            <a:ext cx="5313925" cy="53654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Suponer hilos largos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(largura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&gt;&gt; d)</a:t>
            </a:r>
          </a:p>
        </p:txBody>
      </p:sp>
      <p:sp>
        <p:nvSpPr>
          <p:cNvPr id="99" name="Text Box 46"/>
          <p:cNvSpPr txBox="1">
            <a:spLocks noChangeArrowheads="1"/>
          </p:cNvSpPr>
          <p:nvPr/>
        </p:nvSpPr>
        <p:spPr bwMode="auto">
          <a:xfrm>
            <a:off x="5780707" y="5564413"/>
            <a:ext cx="4316604" cy="1275213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 typeface="Symbol" panose="05050102010706020507" pitchFamily="18" charset="2"/>
              <a:buNone/>
              <a:defRPr/>
            </a:pP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Se atraen si las corrientes tienen el mismo sentido, y    se repelen en caso contrario</a:t>
            </a:r>
          </a:p>
        </p:txBody>
      </p:sp>
      <p:grpSp>
        <p:nvGrpSpPr>
          <p:cNvPr id="64" name="Grupo 63"/>
          <p:cNvGrpSpPr/>
          <p:nvPr/>
        </p:nvGrpSpPr>
        <p:grpSpPr>
          <a:xfrm rot="2399465">
            <a:off x="4472438" y="3067977"/>
            <a:ext cx="496812" cy="477445"/>
            <a:chOff x="7079298" y="4873353"/>
            <a:chExt cx="496812" cy="477445"/>
          </a:xfrm>
        </p:grpSpPr>
        <p:sp>
          <p:nvSpPr>
            <p:cNvPr id="65" name="Rectángulo 64"/>
            <p:cNvSpPr/>
            <p:nvPr/>
          </p:nvSpPr>
          <p:spPr bwMode="auto">
            <a:xfrm rot="19084679">
              <a:off x="7079298" y="4881048"/>
              <a:ext cx="487680" cy="469750"/>
            </a:xfrm>
            <a:prstGeom prst="rect">
              <a:avLst/>
            </a:prstGeom>
            <a:solidFill>
              <a:srgbClr val="FFFF00"/>
            </a:solidFill>
            <a:ln w="25400" cap="flat" cmpd="sng" algn="ctr">
              <a:noFill/>
              <a:prstDash val="solid"/>
              <a:round/>
              <a:headEnd type="none" w="med" len="med"/>
              <a:tailEnd type="stealth" w="lg" len="lg"/>
            </a:ln>
            <a:effectLst/>
            <a:extLs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vert="horz" wrap="non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endParaRPr>
            </a:p>
          </p:txBody>
        </p:sp>
        <p:grpSp>
          <p:nvGrpSpPr>
            <p:cNvPr id="66" name="Group 87"/>
            <p:cNvGrpSpPr>
              <a:grpSpLocks/>
            </p:cNvGrpSpPr>
            <p:nvPr/>
          </p:nvGrpSpPr>
          <p:grpSpPr bwMode="auto">
            <a:xfrm rot="19671486">
              <a:off x="7144310" y="4873353"/>
              <a:ext cx="431800" cy="420687"/>
              <a:chOff x="6083" y="3089"/>
              <a:chExt cx="272" cy="265"/>
            </a:xfrm>
          </p:grpSpPr>
          <p:sp>
            <p:nvSpPr>
              <p:cNvPr id="67" name="Line 84"/>
              <p:cNvSpPr>
                <a:spLocks noChangeShapeType="1"/>
              </p:cNvSpPr>
              <p:nvPr/>
            </p:nvSpPr>
            <p:spPr bwMode="auto">
              <a:xfrm rot="10415585" flipH="1">
                <a:off x="6098" y="3207"/>
                <a:ext cx="257" cy="14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>
                  <a:solidFill>
                    <a:schemeClr val="tx1"/>
                  </a:solidFill>
                </a:endParaRPr>
              </a:p>
            </p:txBody>
          </p:sp>
          <p:sp>
            <p:nvSpPr>
              <p:cNvPr id="68" name="Line 85"/>
              <p:cNvSpPr>
                <a:spLocks noChangeShapeType="1"/>
              </p:cNvSpPr>
              <p:nvPr/>
            </p:nvSpPr>
            <p:spPr bwMode="auto">
              <a:xfrm rot="10415585">
                <a:off x="6083" y="3089"/>
                <a:ext cx="251" cy="10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>
                  <a:solidFill>
                    <a:schemeClr val="tx1"/>
                  </a:solidFill>
                </a:endParaRPr>
              </a:p>
            </p:txBody>
          </p:sp>
          <p:sp>
            <p:nvSpPr>
              <p:cNvPr id="69" name="Oval 86"/>
              <p:cNvSpPr>
                <a:spLocks noChangeArrowheads="1"/>
              </p:cNvSpPr>
              <p:nvPr/>
            </p:nvSpPr>
            <p:spPr bwMode="auto">
              <a:xfrm rot="10415585">
                <a:off x="6132" y="3128"/>
                <a:ext cx="56" cy="19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70" name="Grupo 69"/>
          <p:cNvGrpSpPr/>
          <p:nvPr/>
        </p:nvGrpSpPr>
        <p:grpSpPr>
          <a:xfrm rot="11024384">
            <a:off x="1494761" y="4729611"/>
            <a:ext cx="496812" cy="477445"/>
            <a:chOff x="7079298" y="4873353"/>
            <a:chExt cx="496812" cy="477445"/>
          </a:xfrm>
        </p:grpSpPr>
        <p:sp>
          <p:nvSpPr>
            <p:cNvPr id="71" name="Rectángulo 70"/>
            <p:cNvSpPr/>
            <p:nvPr/>
          </p:nvSpPr>
          <p:spPr bwMode="auto">
            <a:xfrm rot="19084679">
              <a:off x="7079298" y="4881048"/>
              <a:ext cx="487680" cy="469750"/>
            </a:xfrm>
            <a:prstGeom prst="rect">
              <a:avLst/>
            </a:prstGeom>
            <a:solidFill>
              <a:srgbClr val="FFFF00"/>
            </a:solidFill>
            <a:ln w="25400" cap="flat" cmpd="sng" algn="ctr">
              <a:noFill/>
              <a:prstDash val="solid"/>
              <a:round/>
              <a:headEnd type="none" w="med" len="med"/>
              <a:tailEnd type="stealth" w="lg" len="lg"/>
            </a:ln>
            <a:effectLst/>
            <a:extLs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vert="horz" wrap="non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endParaRPr>
            </a:p>
          </p:txBody>
        </p:sp>
        <p:grpSp>
          <p:nvGrpSpPr>
            <p:cNvPr id="72" name="Group 87"/>
            <p:cNvGrpSpPr>
              <a:grpSpLocks/>
            </p:cNvGrpSpPr>
            <p:nvPr/>
          </p:nvGrpSpPr>
          <p:grpSpPr bwMode="auto">
            <a:xfrm rot="19671486">
              <a:off x="7144310" y="4873353"/>
              <a:ext cx="431800" cy="420687"/>
              <a:chOff x="6083" y="3089"/>
              <a:chExt cx="272" cy="265"/>
            </a:xfrm>
          </p:grpSpPr>
          <p:sp>
            <p:nvSpPr>
              <p:cNvPr id="73" name="Line 84"/>
              <p:cNvSpPr>
                <a:spLocks noChangeShapeType="1"/>
              </p:cNvSpPr>
              <p:nvPr/>
            </p:nvSpPr>
            <p:spPr bwMode="auto">
              <a:xfrm rot="10415585" flipH="1">
                <a:off x="6098" y="3207"/>
                <a:ext cx="257" cy="14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>
                  <a:solidFill>
                    <a:schemeClr val="tx1"/>
                  </a:solidFill>
                </a:endParaRPr>
              </a:p>
            </p:txBody>
          </p:sp>
          <p:sp>
            <p:nvSpPr>
              <p:cNvPr id="74" name="Line 85"/>
              <p:cNvSpPr>
                <a:spLocks noChangeShapeType="1"/>
              </p:cNvSpPr>
              <p:nvPr/>
            </p:nvSpPr>
            <p:spPr bwMode="auto">
              <a:xfrm rot="10415585">
                <a:off x="6083" y="3089"/>
                <a:ext cx="251" cy="10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>
                  <a:solidFill>
                    <a:schemeClr val="tx1"/>
                  </a:solidFill>
                </a:endParaRPr>
              </a:p>
            </p:txBody>
          </p:sp>
          <p:sp>
            <p:nvSpPr>
              <p:cNvPr id="75" name="Oval 86"/>
              <p:cNvSpPr>
                <a:spLocks noChangeArrowheads="1"/>
              </p:cNvSpPr>
              <p:nvPr/>
            </p:nvSpPr>
            <p:spPr bwMode="auto">
              <a:xfrm rot="10415585">
                <a:off x="6132" y="3128"/>
                <a:ext cx="56" cy="19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" name="CuadroTexto 1"/>
          <p:cNvSpPr txBox="1"/>
          <p:nvPr/>
        </p:nvSpPr>
        <p:spPr>
          <a:xfrm>
            <a:off x="5694309" y="4452394"/>
            <a:ext cx="17123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rgbClr val="3333FF"/>
                </a:solidFill>
              </a:rPr>
              <a:t>Aplicable Laplace:</a:t>
            </a:r>
          </a:p>
        </p:txBody>
      </p:sp>
      <p:sp>
        <p:nvSpPr>
          <p:cNvPr id="76" name="CuadroTexto 75"/>
          <p:cNvSpPr txBox="1"/>
          <p:nvPr/>
        </p:nvSpPr>
        <p:spPr>
          <a:xfrm>
            <a:off x="5700523" y="2660800"/>
            <a:ext cx="1749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>
                <a:solidFill>
                  <a:srgbClr val="3333FF"/>
                </a:solidFill>
              </a:rPr>
              <a:t>Así </a:t>
            </a:r>
            <a:r>
              <a:rPr lang="es-ES" sz="2400" b="1" dirty="0" err="1">
                <a:solidFill>
                  <a:srgbClr val="3333FF"/>
                </a:solidFill>
              </a:rPr>
              <a:t>B</a:t>
            </a:r>
            <a:r>
              <a:rPr lang="es-ES" sz="2400" baseline="-25000" dirty="0" err="1">
                <a:solidFill>
                  <a:srgbClr val="3333FF"/>
                </a:solidFill>
              </a:rPr>
              <a:t>hilo</a:t>
            </a:r>
            <a:r>
              <a:rPr lang="es-ES" sz="2400" dirty="0">
                <a:solidFill>
                  <a:srgbClr val="3333FF"/>
                </a:solidFill>
              </a:rPr>
              <a:t> es:</a:t>
            </a:r>
          </a:p>
        </p:txBody>
      </p:sp>
    </p:spTree>
    <p:extLst>
      <p:ext uri="{BB962C8B-B14F-4D97-AF65-F5344CB8AC3E}">
        <p14:creationId xmlns:p14="http://schemas.microsoft.com/office/powerpoint/2010/main" val="1221265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56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5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256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5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77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577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5776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776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577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577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5776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776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577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577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0" dur="500"/>
                                        <p:tgtEl>
                                          <p:spTgt spid="577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577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37" grpId="0" animBg="1"/>
      <p:bldP spid="25628" grpId="0" animBg="1"/>
      <p:bldP spid="25643" grpId="0" animBg="1"/>
      <p:bldP spid="99" grpId="0" animBg="1"/>
      <p:bldP spid="2" grpId="0"/>
      <p:bldP spid="7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7630" name="Group 94"/>
          <p:cNvGrpSpPr>
            <a:grpSpLocks/>
          </p:cNvGrpSpPr>
          <p:nvPr/>
        </p:nvGrpSpPr>
        <p:grpSpPr bwMode="auto">
          <a:xfrm>
            <a:off x="3175000" y="5042535"/>
            <a:ext cx="1439863" cy="1439862"/>
            <a:chOff x="1228" y="2270"/>
            <a:chExt cx="907" cy="907"/>
          </a:xfrm>
        </p:grpSpPr>
        <p:sp>
          <p:nvSpPr>
            <p:cNvPr id="25698" name="Oval 81"/>
            <p:cNvSpPr>
              <a:spLocks noChangeArrowheads="1"/>
            </p:cNvSpPr>
            <p:nvPr/>
          </p:nvSpPr>
          <p:spPr bwMode="auto">
            <a:xfrm>
              <a:off x="1228" y="2270"/>
              <a:ext cx="907" cy="907"/>
            </a:xfrm>
            <a:prstGeom prst="ellipse">
              <a:avLst/>
            </a:prstGeom>
            <a:noFill/>
            <a:ln w="25400" algn="ctr">
              <a:solidFill>
                <a:srgbClr val="008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 anchor="ctr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>
                <a:solidFill>
                  <a:srgbClr val="D60093"/>
                </a:solidFill>
              </a:endParaRPr>
            </a:p>
          </p:txBody>
        </p:sp>
        <p:sp>
          <p:nvSpPr>
            <p:cNvPr id="25699" name="Line 93"/>
            <p:cNvSpPr>
              <a:spLocks noChangeShapeType="1"/>
            </p:cNvSpPr>
            <p:nvPr/>
          </p:nvSpPr>
          <p:spPr bwMode="auto">
            <a:xfrm>
              <a:off x="1659" y="3171"/>
              <a:ext cx="88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</p:grpSp>
      <p:grpSp>
        <p:nvGrpSpPr>
          <p:cNvPr id="577628" name="Group 92"/>
          <p:cNvGrpSpPr>
            <a:grpSpLocks/>
          </p:cNvGrpSpPr>
          <p:nvPr/>
        </p:nvGrpSpPr>
        <p:grpSpPr bwMode="auto">
          <a:xfrm>
            <a:off x="2498725" y="5029835"/>
            <a:ext cx="1439863" cy="1443037"/>
            <a:chOff x="802" y="2262"/>
            <a:chExt cx="907" cy="909"/>
          </a:xfrm>
        </p:grpSpPr>
        <p:sp>
          <p:nvSpPr>
            <p:cNvPr id="25696" name="Oval 77"/>
            <p:cNvSpPr>
              <a:spLocks noChangeArrowheads="1"/>
            </p:cNvSpPr>
            <p:nvPr/>
          </p:nvSpPr>
          <p:spPr bwMode="auto">
            <a:xfrm>
              <a:off x="802" y="2264"/>
              <a:ext cx="907" cy="907"/>
            </a:xfrm>
            <a:prstGeom prst="ellipse">
              <a:avLst/>
            </a:prstGeom>
            <a:noFill/>
            <a:ln w="25400" algn="ctr">
              <a:solidFill>
                <a:srgbClr val="008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 anchor="ctr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>
                <a:solidFill>
                  <a:srgbClr val="D60093"/>
                </a:solidFill>
              </a:endParaRPr>
            </a:p>
          </p:txBody>
        </p:sp>
        <p:sp>
          <p:nvSpPr>
            <p:cNvPr id="25697" name="Line 91"/>
            <p:cNvSpPr>
              <a:spLocks noChangeShapeType="1"/>
            </p:cNvSpPr>
            <p:nvPr/>
          </p:nvSpPr>
          <p:spPr bwMode="auto">
            <a:xfrm flipH="1">
              <a:off x="1185" y="2262"/>
              <a:ext cx="97" cy="1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</p:grpSp>
      <p:grpSp>
        <p:nvGrpSpPr>
          <p:cNvPr id="577618" name="Group 82"/>
          <p:cNvGrpSpPr>
            <a:grpSpLocks/>
          </p:cNvGrpSpPr>
          <p:nvPr/>
        </p:nvGrpSpPr>
        <p:grpSpPr bwMode="auto">
          <a:xfrm>
            <a:off x="2847978" y="5856924"/>
            <a:ext cx="333375" cy="1036638"/>
            <a:chOff x="1639" y="3389"/>
            <a:chExt cx="210" cy="653"/>
          </a:xfrm>
        </p:grpSpPr>
        <p:sp>
          <p:nvSpPr>
            <p:cNvPr id="25694" name="Line 83"/>
            <p:cNvSpPr>
              <a:spLocks noChangeShapeType="1"/>
            </p:cNvSpPr>
            <p:nvPr/>
          </p:nvSpPr>
          <p:spPr bwMode="auto">
            <a:xfrm>
              <a:off x="1849" y="3389"/>
              <a:ext cx="0" cy="363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graphicFrame>
          <p:nvGraphicFramePr>
            <p:cNvPr id="25695" name="Object 84"/>
            <p:cNvGraphicFramePr>
              <a:graphicFrameLocks noChangeAspect="1"/>
            </p:cNvGraphicFramePr>
            <p:nvPr/>
          </p:nvGraphicFramePr>
          <p:xfrm>
            <a:off x="1639" y="3756"/>
            <a:ext cx="199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190417" imgH="241195" progId="Equation.3">
                    <p:embed/>
                  </p:oleObj>
                </mc:Choice>
                <mc:Fallback>
                  <p:oleObj name="Ecuación" r:id="rId3" imgW="190417" imgH="241195" progId="Equation.3">
                    <p:embed/>
                    <p:pic>
                      <p:nvPicPr>
                        <p:cNvPr id="25695" name="Object 8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9" y="3756"/>
                          <a:ext cx="199" cy="2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77614" name="Group 78"/>
          <p:cNvGrpSpPr>
            <a:grpSpLocks/>
          </p:cNvGrpSpPr>
          <p:nvPr/>
        </p:nvGrpSpPr>
        <p:grpSpPr bwMode="auto">
          <a:xfrm>
            <a:off x="3940176" y="4612324"/>
            <a:ext cx="373063" cy="1027113"/>
            <a:chOff x="2698" y="2663"/>
            <a:chExt cx="235" cy="647"/>
          </a:xfrm>
        </p:grpSpPr>
        <p:sp>
          <p:nvSpPr>
            <p:cNvPr id="25692" name="Line 79"/>
            <p:cNvSpPr>
              <a:spLocks noChangeShapeType="1"/>
            </p:cNvSpPr>
            <p:nvPr/>
          </p:nvSpPr>
          <p:spPr bwMode="auto">
            <a:xfrm flipV="1">
              <a:off x="2698" y="2947"/>
              <a:ext cx="0" cy="363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graphicFrame>
          <p:nvGraphicFramePr>
            <p:cNvPr id="25693" name="Object 80"/>
            <p:cNvGraphicFramePr>
              <a:graphicFrameLocks noChangeAspect="1"/>
            </p:cNvGraphicFramePr>
            <p:nvPr/>
          </p:nvGraphicFramePr>
          <p:xfrm>
            <a:off x="2720" y="2663"/>
            <a:ext cx="213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177646" imgH="241091" progId="Equation.3">
                    <p:embed/>
                  </p:oleObj>
                </mc:Choice>
                <mc:Fallback>
                  <p:oleObj name="Ecuación" r:id="rId5" imgW="177646" imgH="241091" progId="Equation.3">
                    <p:embed/>
                    <p:pic>
                      <p:nvPicPr>
                        <p:cNvPr id="25693" name="Object 8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20" y="2663"/>
                          <a:ext cx="213" cy="2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77596" name="Group 60"/>
          <p:cNvGrpSpPr>
            <a:grpSpLocks/>
          </p:cNvGrpSpPr>
          <p:nvPr/>
        </p:nvGrpSpPr>
        <p:grpSpPr bwMode="auto">
          <a:xfrm>
            <a:off x="4042029" y="2286152"/>
            <a:ext cx="439738" cy="947738"/>
            <a:chOff x="2698" y="2755"/>
            <a:chExt cx="277" cy="597"/>
          </a:xfrm>
        </p:grpSpPr>
        <p:sp>
          <p:nvSpPr>
            <p:cNvPr id="25690" name="Line 23"/>
            <p:cNvSpPr>
              <a:spLocks noChangeShapeType="1"/>
            </p:cNvSpPr>
            <p:nvPr/>
          </p:nvSpPr>
          <p:spPr bwMode="auto">
            <a:xfrm flipV="1">
              <a:off x="2698" y="2989"/>
              <a:ext cx="0" cy="363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 dirty="0"/>
            </a:p>
          </p:txBody>
        </p:sp>
        <p:graphicFrame>
          <p:nvGraphicFramePr>
            <p:cNvPr id="25691" name="Object 28"/>
            <p:cNvGraphicFramePr>
              <a:graphicFrameLocks noChangeAspect="1"/>
            </p:cNvGraphicFramePr>
            <p:nvPr/>
          </p:nvGraphicFramePr>
          <p:xfrm>
            <a:off x="2762" y="2755"/>
            <a:ext cx="213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177646" imgH="241091" progId="Equation.3">
                    <p:embed/>
                  </p:oleObj>
                </mc:Choice>
                <mc:Fallback>
                  <p:oleObj name="Ecuación" r:id="rId5" imgW="177646" imgH="241091" progId="Equation.3">
                    <p:embed/>
                    <p:pic>
                      <p:nvPicPr>
                        <p:cNvPr id="25691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2" y="2755"/>
                          <a:ext cx="213" cy="2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77602" name="Group 66"/>
          <p:cNvGrpSpPr>
            <a:grpSpLocks/>
          </p:cNvGrpSpPr>
          <p:nvPr/>
        </p:nvGrpSpPr>
        <p:grpSpPr bwMode="auto">
          <a:xfrm>
            <a:off x="3516567" y="2665562"/>
            <a:ext cx="511175" cy="592137"/>
            <a:chOff x="2367" y="2994"/>
            <a:chExt cx="322" cy="373"/>
          </a:xfrm>
        </p:grpSpPr>
        <p:sp>
          <p:nvSpPr>
            <p:cNvPr id="25685" name="Line 33"/>
            <p:cNvSpPr>
              <a:spLocks noChangeShapeType="1"/>
            </p:cNvSpPr>
            <p:nvPr/>
          </p:nvSpPr>
          <p:spPr bwMode="auto">
            <a:xfrm rot="5400000">
              <a:off x="2528" y="3206"/>
              <a:ext cx="0" cy="32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graphicFrame>
          <p:nvGraphicFramePr>
            <p:cNvPr id="25686" name="Object 34"/>
            <p:cNvGraphicFramePr>
              <a:graphicFrameLocks noChangeAspect="1"/>
            </p:cNvGraphicFramePr>
            <p:nvPr/>
          </p:nvGraphicFramePr>
          <p:xfrm>
            <a:off x="2408" y="2994"/>
            <a:ext cx="228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7" imgW="190417" imgH="241195" progId="Equation.3">
                    <p:embed/>
                  </p:oleObj>
                </mc:Choice>
                <mc:Fallback>
                  <p:oleObj name="Ecuación" r:id="rId7" imgW="190417" imgH="241195" progId="Equation.3">
                    <p:embed/>
                    <p:pic>
                      <p:nvPicPr>
                        <p:cNvPr id="25686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8" y="2994"/>
                          <a:ext cx="228" cy="2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77597" name="Group 61"/>
          <p:cNvGrpSpPr>
            <a:grpSpLocks/>
          </p:cNvGrpSpPr>
          <p:nvPr/>
        </p:nvGrpSpPr>
        <p:grpSpPr bwMode="auto">
          <a:xfrm>
            <a:off x="2241804" y="3216424"/>
            <a:ext cx="452438" cy="942975"/>
            <a:chOff x="1564" y="3341"/>
            <a:chExt cx="285" cy="594"/>
          </a:xfrm>
        </p:grpSpPr>
        <p:sp>
          <p:nvSpPr>
            <p:cNvPr id="25683" name="Line 35"/>
            <p:cNvSpPr>
              <a:spLocks noChangeShapeType="1"/>
            </p:cNvSpPr>
            <p:nvPr/>
          </p:nvSpPr>
          <p:spPr bwMode="auto">
            <a:xfrm>
              <a:off x="1849" y="3341"/>
              <a:ext cx="0" cy="363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graphicFrame>
          <p:nvGraphicFramePr>
            <p:cNvPr id="25684" name="Object 36"/>
            <p:cNvGraphicFramePr>
              <a:graphicFrameLocks noChangeAspect="1"/>
            </p:cNvGraphicFramePr>
            <p:nvPr/>
          </p:nvGraphicFramePr>
          <p:xfrm>
            <a:off x="1564" y="3649"/>
            <a:ext cx="199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190417" imgH="241195" progId="Equation.3">
                    <p:embed/>
                  </p:oleObj>
                </mc:Choice>
                <mc:Fallback>
                  <p:oleObj name="Ecuación" r:id="rId3" imgW="190417" imgH="241195" progId="Equation.3">
                    <p:embed/>
                    <p:pic>
                      <p:nvPicPr>
                        <p:cNvPr id="25684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64" y="3649"/>
                          <a:ext cx="199" cy="2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77603" name="Group 67"/>
          <p:cNvGrpSpPr>
            <a:grpSpLocks/>
          </p:cNvGrpSpPr>
          <p:nvPr/>
        </p:nvGrpSpPr>
        <p:grpSpPr bwMode="auto">
          <a:xfrm>
            <a:off x="2691067" y="2667149"/>
            <a:ext cx="815975" cy="563563"/>
            <a:chOff x="1847" y="2995"/>
            <a:chExt cx="514" cy="355"/>
          </a:xfrm>
        </p:grpSpPr>
        <p:sp>
          <p:nvSpPr>
            <p:cNvPr id="25681" name="Line 37"/>
            <p:cNvSpPr>
              <a:spLocks noChangeShapeType="1"/>
            </p:cNvSpPr>
            <p:nvPr/>
          </p:nvSpPr>
          <p:spPr bwMode="auto">
            <a:xfrm rot="16200000" flipH="1">
              <a:off x="2008" y="3189"/>
              <a:ext cx="0" cy="32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graphicFrame>
          <p:nvGraphicFramePr>
            <p:cNvPr id="25682" name="Object 38"/>
            <p:cNvGraphicFramePr>
              <a:graphicFrameLocks noChangeAspect="1"/>
            </p:cNvGraphicFramePr>
            <p:nvPr/>
          </p:nvGraphicFramePr>
          <p:xfrm>
            <a:off x="2133" y="2995"/>
            <a:ext cx="228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9" imgW="190417" imgH="241195" progId="Equation.3">
                    <p:embed/>
                  </p:oleObj>
                </mc:Choice>
                <mc:Fallback>
                  <p:oleObj name="Ecuación" r:id="rId9" imgW="190417" imgH="241195" progId="Equation.3">
                    <p:embed/>
                    <p:pic>
                      <p:nvPicPr>
                        <p:cNvPr id="25682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33" y="2995"/>
                          <a:ext cx="228" cy="2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611" name="Group 85"/>
          <p:cNvGrpSpPr>
            <a:grpSpLocks/>
          </p:cNvGrpSpPr>
          <p:nvPr/>
        </p:nvGrpSpPr>
        <p:grpSpPr bwMode="auto">
          <a:xfrm>
            <a:off x="1552830" y="1608287"/>
            <a:ext cx="3554413" cy="2938462"/>
            <a:chOff x="1380" y="4288"/>
            <a:chExt cx="2239" cy="1851"/>
          </a:xfrm>
        </p:grpSpPr>
        <p:sp>
          <p:nvSpPr>
            <p:cNvPr id="25671" name="Line 15"/>
            <p:cNvSpPr>
              <a:spLocks noChangeShapeType="1"/>
            </p:cNvSpPr>
            <p:nvPr/>
          </p:nvSpPr>
          <p:spPr bwMode="auto">
            <a:xfrm flipH="1">
              <a:off x="1380" y="4664"/>
              <a:ext cx="1342" cy="1356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25672" name="Line 16"/>
            <p:cNvSpPr>
              <a:spLocks noChangeShapeType="1"/>
            </p:cNvSpPr>
            <p:nvPr/>
          </p:nvSpPr>
          <p:spPr bwMode="auto">
            <a:xfrm flipH="1">
              <a:off x="2274" y="4647"/>
              <a:ext cx="1342" cy="1356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25673" name="Line 17"/>
            <p:cNvSpPr>
              <a:spLocks noChangeShapeType="1"/>
            </p:cNvSpPr>
            <p:nvPr/>
          </p:nvSpPr>
          <p:spPr bwMode="auto">
            <a:xfrm flipH="1">
              <a:off x="1560" y="5744"/>
              <a:ext cx="95" cy="9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25674" name="Line 18"/>
            <p:cNvSpPr>
              <a:spLocks noChangeShapeType="1"/>
            </p:cNvSpPr>
            <p:nvPr/>
          </p:nvSpPr>
          <p:spPr bwMode="auto">
            <a:xfrm flipH="1">
              <a:off x="2432" y="5744"/>
              <a:ext cx="95" cy="9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25675" name="Text Box 19"/>
            <p:cNvSpPr txBox="1">
              <a:spLocks noChangeArrowheads="1"/>
            </p:cNvSpPr>
            <p:nvPr/>
          </p:nvSpPr>
          <p:spPr bwMode="auto">
            <a:xfrm>
              <a:off x="1513" y="5801"/>
              <a:ext cx="292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b="1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  <a:r>
                <a:rPr lang="es-ES" sz="2400" b="1" baseline="-25000">
                  <a:solidFill>
                    <a:srgbClr val="3333FF"/>
                  </a:solidFill>
                </a:rPr>
                <a:t>1</a:t>
              </a:r>
              <a:endParaRPr lang="es-ES" sz="2800" b="1">
                <a:solidFill>
                  <a:srgbClr val="3333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676" name="Text Box 20"/>
            <p:cNvSpPr txBox="1">
              <a:spLocks noChangeArrowheads="1"/>
            </p:cNvSpPr>
            <p:nvPr/>
          </p:nvSpPr>
          <p:spPr bwMode="auto">
            <a:xfrm>
              <a:off x="2430" y="5775"/>
              <a:ext cx="292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b="1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  <a:r>
                <a:rPr lang="es-ES" sz="2400" b="1" baseline="-25000">
                  <a:solidFill>
                    <a:srgbClr val="3333FF"/>
                  </a:solidFill>
                </a:rPr>
                <a:t>2</a:t>
              </a:r>
              <a:endParaRPr lang="es-ES" sz="2800" b="1">
                <a:solidFill>
                  <a:srgbClr val="3333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677" name="Line 21"/>
            <p:cNvSpPr>
              <a:spLocks noChangeShapeType="1"/>
            </p:cNvSpPr>
            <p:nvPr/>
          </p:nvSpPr>
          <p:spPr bwMode="auto">
            <a:xfrm flipV="1">
              <a:off x="2729" y="4635"/>
              <a:ext cx="890" cy="0"/>
            </a:xfrm>
            <a:prstGeom prst="line">
              <a:avLst/>
            </a:prstGeom>
            <a:noFill/>
            <a:ln w="25400">
              <a:solidFill>
                <a:schemeClr val="tx2">
                  <a:lumMod val="75000"/>
                  <a:lumOff val="25000"/>
                </a:schemeClr>
              </a:solidFill>
              <a:prstDash val="dash"/>
              <a:round/>
              <a:headEnd type="arrow" w="med" len="med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25678" name="Text Box 22"/>
            <p:cNvSpPr txBox="1">
              <a:spLocks noChangeArrowheads="1"/>
            </p:cNvSpPr>
            <p:nvPr/>
          </p:nvSpPr>
          <p:spPr bwMode="auto">
            <a:xfrm>
              <a:off x="3087" y="4288"/>
              <a:ext cx="233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d</a:t>
              </a:r>
            </a:p>
          </p:txBody>
        </p:sp>
        <p:sp>
          <p:nvSpPr>
            <p:cNvPr id="25680" name="Text Box 45"/>
            <p:cNvSpPr txBox="1">
              <a:spLocks noChangeArrowheads="1"/>
            </p:cNvSpPr>
            <p:nvPr/>
          </p:nvSpPr>
          <p:spPr bwMode="auto">
            <a:xfrm>
              <a:off x="1810" y="4876"/>
              <a:ext cx="233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L</a:t>
              </a:r>
            </a:p>
          </p:txBody>
        </p:sp>
      </p:grpSp>
      <p:grpSp>
        <p:nvGrpSpPr>
          <p:cNvPr id="577625" name="Group 89"/>
          <p:cNvGrpSpPr>
            <a:grpSpLocks/>
          </p:cNvGrpSpPr>
          <p:nvPr/>
        </p:nvGrpSpPr>
        <p:grpSpPr bwMode="auto">
          <a:xfrm>
            <a:off x="2708275" y="5393373"/>
            <a:ext cx="1739901" cy="550862"/>
            <a:chOff x="934" y="2491"/>
            <a:chExt cx="1096" cy="347"/>
          </a:xfrm>
        </p:grpSpPr>
        <p:grpSp>
          <p:nvGrpSpPr>
            <p:cNvPr id="25657" name="Group 73"/>
            <p:cNvGrpSpPr>
              <a:grpSpLocks/>
            </p:cNvGrpSpPr>
            <p:nvPr/>
          </p:nvGrpSpPr>
          <p:grpSpPr bwMode="auto">
            <a:xfrm>
              <a:off x="1179" y="2666"/>
              <a:ext cx="113" cy="113"/>
              <a:chOff x="1069" y="2676"/>
              <a:chExt cx="113" cy="113"/>
            </a:xfrm>
          </p:grpSpPr>
          <p:sp>
            <p:nvSpPr>
              <p:cNvPr id="25663" name="Oval 71"/>
              <p:cNvSpPr>
                <a:spLocks noChangeArrowheads="1"/>
              </p:cNvSpPr>
              <p:nvPr/>
            </p:nvSpPr>
            <p:spPr bwMode="auto">
              <a:xfrm>
                <a:off x="1069" y="2676"/>
                <a:ext cx="113" cy="113"/>
              </a:xfrm>
              <a:prstGeom prst="ellipse">
                <a:avLst/>
              </a:prstGeom>
              <a:solidFill>
                <a:srgbClr val="FFFF00"/>
              </a:solidFill>
              <a:ln w="12700" algn="ctr">
                <a:solidFill>
                  <a:schemeClr val="tx1"/>
                </a:solidFill>
                <a:round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 anchor="ctr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lang="en-US">
                  <a:solidFill>
                    <a:srgbClr val="D60093"/>
                  </a:solidFill>
                </a:endParaRPr>
              </a:p>
            </p:txBody>
          </p:sp>
          <p:sp>
            <p:nvSpPr>
              <p:cNvPr id="25664" name="Oval 72"/>
              <p:cNvSpPr>
                <a:spLocks noChangeArrowheads="1"/>
              </p:cNvSpPr>
              <p:nvPr/>
            </p:nvSpPr>
            <p:spPr bwMode="auto">
              <a:xfrm>
                <a:off x="1103" y="2710"/>
                <a:ext cx="45" cy="45"/>
              </a:xfrm>
              <a:prstGeom prst="ellipse">
                <a:avLst/>
              </a:prstGeom>
              <a:solidFill>
                <a:schemeClr val="tx1"/>
              </a:solidFill>
              <a:ln w="12700" algn="ctr">
                <a:solidFill>
                  <a:schemeClr val="tx1"/>
                </a:solidFill>
                <a:round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 anchor="ctr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lang="en-US">
                  <a:solidFill>
                    <a:srgbClr val="D60093"/>
                  </a:solidFill>
                </a:endParaRPr>
              </a:p>
            </p:txBody>
          </p:sp>
        </p:grpSp>
        <p:grpSp>
          <p:nvGrpSpPr>
            <p:cNvPr id="25658" name="Group 74"/>
            <p:cNvGrpSpPr>
              <a:grpSpLocks/>
            </p:cNvGrpSpPr>
            <p:nvPr/>
          </p:nvGrpSpPr>
          <p:grpSpPr bwMode="auto">
            <a:xfrm>
              <a:off x="1645" y="2662"/>
              <a:ext cx="113" cy="113"/>
              <a:chOff x="1069" y="2676"/>
              <a:chExt cx="113" cy="113"/>
            </a:xfrm>
          </p:grpSpPr>
          <p:sp>
            <p:nvSpPr>
              <p:cNvPr id="25661" name="Oval 75"/>
              <p:cNvSpPr>
                <a:spLocks noChangeArrowheads="1"/>
              </p:cNvSpPr>
              <p:nvPr/>
            </p:nvSpPr>
            <p:spPr bwMode="auto">
              <a:xfrm>
                <a:off x="1069" y="2676"/>
                <a:ext cx="113" cy="113"/>
              </a:xfrm>
              <a:prstGeom prst="ellipse">
                <a:avLst/>
              </a:prstGeom>
              <a:solidFill>
                <a:srgbClr val="FFFF00"/>
              </a:solidFill>
              <a:ln w="12700" algn="ctr">
                <a:solidFill>
                  <a:schemeClr val="tx1"/>
                </a:solidFill>
                <a:round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 anchor="ctr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lang="en-US">
                  <a:solidFill>
                    <a:srgbClr val="D60093"/>
                  </a:solidFill>
                </a:endParaRPr>
              </a:p>
            </p:txBody>
          </p:sp>
          <p:sp>
            <p:nvSpPr>
              <p:cNvPr id="25662" name="Oval 76"/>
              <p:cNvSpPr>
                <a:spLocks noChangeArrowheads="1"/>
              </p:cNvSpPr>
              <p:nvPr/>
            </p:nvSpPr>
            <p:spPr bwMode="auto">
              <a:xfrm>
                <a:off x="1103" y="2710"/>
                <a:ext cx="45" cy="45"/>
              </a:xfrm>
              <a:prstGeom prst="ellipse">
                <a:avLst/>
              </a:prstGeom>
              <a:solidFill>
                <a:schemeClr val="tx1"/>
              </a:solidFill>
              <a:ln w="12700" algn="ctr">
                <a:solidFill>
                  <a:schemeClr val="tx1"/>
                </a:solidFill>
                <a:round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 anchor="ctr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lang="en-US">
                  <a:solidFill>
                    <a:srgbClr val="D60093"/>
                  </a:solidFill>
                </a:endParaRPr>
              </a:p>
            </p:txBody>
          </p:sp>
        </p:grpSp>
        <p:sp>
          <p:nvSpPr>
            <p:cNvPr id="25659" name="Text Box 86"/>
            <p:cNvSpPr txBox="1">
              <a:spLocks noChangeArrowheads="1"/>
            </p:cNvSpPr>
            <p:nvPr/>
          </p:nvSpPr>
          <p:spPr bwMode="auto">
            <a:xfrm>
              <a:off x="934" y="2500"/>
              <a:ext cx="292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  <a:r>
                <a:rPr lang="es-ES" sz="2400" baseline="-25000">
                  <a:solidFill>
                    <a:srgbClr val="3333FF"/>
                  </a:solidFill>
                </a:rPr>
                <a:t>1</a:t>
              </a:r>
              <a:endParaRPr lang="es-ES" sz="2800">
                <a:solidFill>
                  <a:srgbClr val="3333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660" name="Text Box 87"/>
            <p:cNvSpPr txBox="1">
              <a:spLocks noChangeArrowheads="1"/>
            </p:cNvSpPr>
            <p:nvPr/>
          </p:nvSpPr>
          <p:spPr bwMode="auto">
            <a:xfrm>
              <a:off x="1738" y="2491"/>
              <a:ext cx="292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  <a:r>
                <a:rPr lang="es-ES" sz="2400" baseline="-25000">
                  <a:solidFill>
                    <a:srgbClr val="3333FF"/>
                  </a:solidFill>
                </a:rPr>
                <a:t>2</a:t>
              </a:r>
              <a:endParaRPr lang="es-ES" sz="2800">
                <a:solidFill>
                  <a:srgbClr val="3333FF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5628" name="Text Box 13"/>
          <p:cNvSpPr txBox="1">
            <a:spLocks noChangeArrowheads="1"/>
          </p:cNvSpPr>
          <p:nvPr/>
        </p:nvSpPr>
        <p:spPr bwMode="auto">
          <a:xfrm>
            <a:off x="1963611" y="315659"/>
            <a:ext cx="7524751" cy="127521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>
                <a:solidFill>
                  <a:srgbClr val="FFFFFF"/>
                </a:solidFill>
              </a:rPr>
              <a:t>Fuerza magnética que se ejercen 2 hilos conductores, rectos, paralelos, largos, por los que circula corriente, separados una distancia d, para una longitud L</a:t>
            </a:r>
          </a:p>
        </p:txBody>
      </p:sp>
      <p:grpSp>
        <p:nvGrpSpPr>
          <p:cNvPr id="64" name="Grupo 63"/>
          <p:cNvGrpSpPr/>
          <p:nvPr/>
        </p:nvGrpSpPr>
        <p:grpSpPr>
          <a:xfrm rot="2399465">
            <a:off x="4472438" y="3067980"/>
            <a:ext cx="496812" cy="477445"/>
            <a:chOff x="7079298" y="4873353"/>
            <a:chExt cx="496812" cy="477445"/>
          </a:xfrm>
        </p:grpSpPr>
        <p:sp>
          <p:nvSpPr>
            <p:cNvPr id="65" name="Rectángulo 64"/>
            <p:cNvSpPr/>
            <p:nvPr/>
          </p:nvSpPr>
          <p:spPr bwMode="auto">
            <a:xfrm rot="19084679">
              <a:off x="7079298" y="4881048"/>
              <a:ext cx="487680" cy="469750"/>
            </a:xfrm>
            <a:prstGeom prst="rect">
              <a:avLst/>
            </a:prstGeom>
            <a:solidFill>
              <a:srgbClr val="FFFF00"/>
            </a:solidFill>
            <a:ln w="25400" cap="flat" cmpd="sng" algn="ctr">
              <a:noFill/>
              <a:prstDash val="solid"/>
              <a:round/>
              <a:headEnd type="none" w="med" len="med"/>
              <a:tailEnd type="stealth" w="lg" len="lg"/>
            </a:ln>
            <a:effectLst/>
            <a:extLs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vert="horz" wrap="non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endParaRPr>
            </a:p>
          </p:txBody>
        </p:sp>
        <p:grpSp>
          <p:nvGrpSpPr>
            <p:cNvPr id="66" name="Group 87"/>
            <p:cNvGrpSpPr>
              <a:grpSpLocks/>
            </p:cNvGrpSpPr>
            <p:nvPr/>
          </p:nvGrpSpPr>
          <p:grpSpPr bwMode="auto">
            <a:xfrm rot="19671486">
              <a:off x="7144310" y="4873353"/>
              <a:ext cx="431800" cy="420687"/>
              <a:chOff x="6083" y="3089"/>
              <a:chExt cx="272" cy="265"/>
            </a:xfrm>
          </p:grpSpPr>
          <p:sp>
            <p:nvSpPr>
              <p:cNvPr id="67" name="Line 84"/>
              <p:cNvSpPr>
                <a:spLocks noChangeShapeType="1"/>
              </p:cNvSpPr>
              <p:nvPr/>
            </p:nvSpPr>
            <p:spPr bwMode="auto">
              <a:xfrm rot="10415585" flipH="1">
                <a:off x="6098" y="3207"/>
                <a:ext cx="257" cy="14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>
                  <a:solidFill>
                    <a:schemeClr val="tx1"/>
                  </a:solidFill>
                </a:endParaRPr>
              </a:p>
            </p:txBody>
          </p:sp>
          <p:sp>
            <p:nvSpPr>
              <p:cNvPr id="68" name="Line 85"/>
              <p:cNvSpPr>
                <a:spLocks noChangeShapeType="1"/>
              </p:cNvSpPr>
              <p:nvPr/>
            </p:nvSpPr>
            <p:spPr bwMode="auto">
              <a:xfrm rot="10415585">
                <a:off x="6083" y="3089"/>
                <a:ext cx="251" cy="10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>
                  <a:solidFill>
                    <a:schemeClr val="tx1"/>
                  </a:solidFill>
                </a:endParaRPr>
              </a:p>
            </p:txBody>
          </p:sp>
          <p:sp>
            <p:nvSpPr>
              <p:cNvPr id="69" name="Oval 86"/>
              <p:cNvSpPr>
                <a:spLocks noChangeArrowheads="1"/>
              </p:cNvSpPr>
              <p:nvPr/>
            </p:nvSpPr>
            <p:spPr bwMode="auto">
              <a:xfrm rot="10415585">
                <a:off x="6132" y="3128"/>
                <a:ext cx="56" cy="19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77" name="Text Box 40">
            <a:extLst>
              <a:ext uri="{FF2B5EF4-FFF2-40B4-BE49-F238E27FC236}">
                <a16:creationId xmlns:a16="http://schemas.microsoft.com/office/drawing/2014/main" id="{8469065E-AE52-4753-A262-7444DF5E66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6548" y="3050578"/>
            <a:ext cx="2097154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dirty="0"/>
              <a:t>F</a:t>
            </a:r>
            <a:r>
              <a:rPr lang="es-ES" sz="2400" baseline="-25000" dirty="0"/>
              <a:t>12</a:t>
            </a:r>
            <a:r>
              <a:rPr lang="es-ES" sz="2400" dirty="0"/>
              <a:t> = </a:t>
            </a:r>
            <a:r>
              <a:rPr lang="es-ES" sz="2400" dirty="0">
                <a:latin typeface="Comic Sans MS" panose="030F0702030302020204" pitchFamily="66" charset="0"/>
              </a:rPr>
              <a:t>I</a:t>
            </a:r>
            <a:r>
              <a:rPr lang="es-ES" sz="2400" baseline="-25000" dirty="0"/>
              <a:t>2</a:t>
            </a:r>
            <a:r>
              <a:rPr lang="es-ES" sz="2400" dirty="0"/>
              <a:t> L B</a:t>
            </a:r>
            <a:r>
              <a:rPr lang="es-ES" sz="2400" baseline="-25000" dirty="0"/>
              <a:t>1</a:t>
            </a:r>
            <a:r>
              <a:rPr lang="es-ES" sz="2400" baseline="-25000" dirty="0">
                <a:sym typeface="Symbol" panose="05050102010706020507" pitchFamily="18" charset="2"/>
              </a:rPr>
              <a:t></a:t>
            </a:r>
            <a:r>
              <a:rPr lang="es-ES" sz="2400" dirty="0"/>
              <a:t> </a:t>
            </a:r>
          </a:p>
        </p:txBody>
      </p:sp>
      <p:grpSp>
        <p:nvGrpSpPr>
          <p:cNvPr id="78" name="Group 126">
            <a:extLst>
              <a:ext uri="{FF2B5EF4-FFF2-40B4-BE49-F238E27FC236}">
                <a16:creationId xmlns:a16="http://schemas.microsoft.com/office/drawing/2014/main" id="{E8C0039C-0E03-447D-8BF0-1F26400E0A58}"/>
              </a:ext>
            </a:extLst>
          </p:cNvPr>
          <p:cNvGrpSpPr>
            <a:grpSpLocks/>
          </p:cNvGrpSpPr>
          <p:nvPr/>
        </p:nvGrpSpPr>
        <p:grpSpPr bwMode="auto">
          <a:xfrm>
            <a:off x="8130793" y="3452505"/>
            <a:ext cx="1436688" cy="1016000"/>
            <a:chOff x="5488" y="2744"/>
            <a:chExt cx="905" cy="640"/>
          </a:xfrm>
        </p:grpSpPr>
        <p:sp>
          <p:nvSpPr>
            <p:cNvPr id="79" name="Line 41">
              <a:extLst>
                <a:ext uri="{FF2B5EF4-FFF2-40B4-BE49-F238E27FC236}">
                  <a16:creationId xmlns:a16="http://schemas.microsoft.com/office/drawing/2014/main" id="{1104DE40-B27A-4BAF-A389-9BB5E7AC80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76" y="3081"/>
              <a:ext cx="76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 sz="2400"/>
            </a:p>
          </p:txBody>
        </p:sp>
        <p:sp>
          <p:nvSpPr>
            <p:cNvPr id="80" name="Text Box 42">
              <a:extLst>
                <a:ext uri="{FF2B5EF4-FFF2-40B4-BE49-F238E27FC236}">
                  <a16:creationId xmlns:a16="http://schemas.microsoft.com/office/drawing/2014/main" id="{B27A3A6E-89D8-4BBD-8F80-5249ECA5F5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74" y="3046"/>
              <a:ext cx="437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/>
                <a:t>2</a:t>
              </a:r>
              <a:r>
                <a:rPr lang="es-ES" sz="2400">
                  <a:sym typeface="Symbol" panose="05050102010706020507" pitchFamily="18" charset="2"/>
                </a:rPr>
                <a:t>d</a:t>
              </a:r>
            </a:p>
          </p:txBody>
        </p:sp>
        <p:sp>
          <p:nvSpPr>
            <p:cNvPr id="81" name="Text Box 43">
              <a:extLst>
                <a:ext uri="{FF2B5EF4-FFF2-40B4-BE49-F238E27FC236}">
                  <a16:creationId xmlns:a16="http://schemas.microsoft.com/office/drawing/2014/main" id="{3F98AA10-E273-4F9A-B2B3-7B11C50882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88" y="2744"/>
              <a:ext cx="905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>
                  <a:sym typeface="Symbol" panose="05050102010706020507" pitchFamily="18" charset="2"/>
                </a:rPr>
                <a:t></a:t>
              </a:r>
              <a:r>
                <a:rPr lang="es-ES" sz="2400" baseline="-25000">
                  <a:sym typeface="Symbol" panose="05050102010706020507" pitchFamily="18" charset="2"/>
                </a:rPr>
                <a:t>0 </a:t>
              </a:r>
              <a:r>
                <a:rPr lang="es-ES" sz="2400">
                  <a:latin typeface="Comic Sans MS" panose="030F0702030302020204" pitchFamily="66" charset="0"/>
                  <a:sym typeface="Symbol" panose="05050102010706020507" pitchFamily="18" charset="2"/>
                </a:rPr>
                <a:t>I</a:t>
              </a:r>
              <a:r>
                <a:rPr lang="es-ES" sz="2400" baseline="-25000">
                  <a:sym typeface="Symbol" panose="05050102010706020507" pitchFamily="18" charset="2"/>
                </a:rPr>
                <a:t>1</a:t>
              </a:r>
              <a:r>
                <a:rPr lang="es-ES" sz="2400">
                  <a:sym typeface="Symbol" panose="05050102010706020507" pitchFamily="18" charset="2"/>
                </a:rPr>
                <a:t> </a:t>
              </a:r>
              <a:r>
                <a:rPr lang="es-ES" sz="2400">
                  <a:latin typeface="Comic Sans MS" panose="030F0702030302020204" pitchFamily="66" charset="0"/>
                  <a:sym typeface="Symbol" panose="05050102010706020507" pitchFamily="18" charset="2"/>
                </a:rPr>
                <a:t>I</a:t>
              </a:r>
              <a:r>
                <a:rPr lang="es-ES" sz="2400" baseline="-25000">
                  <a:sym typeface="Symbol" panose="05050102010706020507" pitchFamily="18" charset="2"/>
                </a:rPr>
                <a:t>2</a:t>
              </a:r>
              <a:r>
                <a:rPr lang="es-ES" sz="2400">
                  <a:sym typeface="Symbol" panose="05050102010706020507" pitchFamily="18" charset="2"/>
                </a:rPr>
                <a:t> L</a:t>
              </a:r>
              <a:endParaRPr lang="es-ES" sz="2400" baseline="-25000">
                <a:sym typeface="Symbol" panose="05050102010706020507" pitchFamily="18" charset="2"/>
              </a:endParaRPr>
            </a:p>
          </p:txBody>
        </p:sp>
      </p:grpSp>
      <p:sp>
        <p:nvSpPr>
          <p:cNvPr id="82" name="Text Box 100">
            <a:extLst>
              <a:ext uri="{FF2B5EF4-FFF2-40B4-BE49-F238E27FC236}">
                <a16:creationId xmlns:a16="http://schemas.microsoft.com/office/drawing/2014/main" id="{29849A80-3956-4FB3-AE3C-BF6731C5BB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5973" y="4537169"/>
            <a:ext cx="2012195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/>
              <a:t>F</a:t>
            </a:r>
            <a:r>
              <a:rPr lang="es-ES" sz="2400" baseline="-25000"/>
              <a:t>21</a:t>
            </a:r>
            <a:r>
              <a:rPr lang="es-ES" sz="2400"/>
              <a:t> = </a:t>
            </a:r>
            <a:r>
              <a:rPr lang="es-ES" sz="2400">
                <a:latin typeface="Comic Sans MS" panose="030F0702030302020204" pitchFamily="66" charset="0"/>
              </a:rPr>
              <a:t>I</a:t>
            </a:r>
            <a:r>
              <a:rPr lang="es-ES" sz="2400" baseline="-25000"/>
              <a:t>1</a:t>
            </a:r>
            <a:r>
              <a:rPr lang="es-ES" sz="2400"/>
              <a:t> L B</a:t>
            </a:r>
            <a:r>
              <a:rPr lang="es-ES" sz="2400" baseline="-25000"/>
              <a:t>2</a:t>
            </a:r>
            <a:r>
              <a:rPr lang="es-ES" sz="2400" baseline="-25000">
                <a:sym typeface="Symbol" panose="05050102010706020507" pitchFamily="18" charset="2"/>
              </a:rPr>
              <a:t></a:t>
            </a:r>
            <a:endParaRPr lang="es-ES" sz="2400"/>
          </a:p>
        </p:txBody>
      </p:sp>
      <p:grpSp>
        <p:nvGrpSpPr>
          <p:cNvPr id="83" name="Group 127">
            <a:extLst>
              <a:ext uri="{FF2B5EF4-FFF2-40B4-BE49-F238E27FC236}">
                <a16:creationId xmlns:a16="http://schemas.microsoft.com/office/drawing/2014/main" id="{DE424F21-0217-45A3-8AAC-F655751E1BC0}"/>
              </a:ext>
            </a:extLst>
          </p:cNvPr>
          <p:cNvGrpSpPr>
            <a:grpSpLocks/>
          </p:cNvGrpSpPr>
          <p:nvPr/>
        </p:nvGrpSpPr>
        <p:grpSpPr bwMode="auto">
          <a:xfrm>
            <a:off x="8178539" y="5015933"/>
            <a:ext cx="1436688" cy="1017588"/>
            <a:chOff x="5471" y="3271"/>
            <a:chExt cx="905" cy="641"/>
          </a:xfrm>
        </p:grpSpPr>
        <p:sp>
          <p:nvSpPr>
            <p:cNvPr id="84" name="Line 101">
              <a:extLst>
                <a:ext uri="{FF2B5EF4-FFF2-40B4-BE49-F238E27FC236}">
                  <a16:creationId xmlns:a16="http://schemas.microsoft.com/office/drawing/2014/main" id="{D96A51E8-B721-4D13-8A33-61350A596D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38" y="3609"/>
              <a:ext cx="76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 sz="2400"/>
            </a:p>
          </p:txBody>
        </p:sp>
        <p:sp>
          <p:nvSpPr>
            <p:cNvPr id="85" name="Text Box 102">
              <a:extLst>
                <a:ext uri="{FF2B5EF4-FFF2-40B4-BE49-F238E27FC236}">
                  <a16:creationId xmlns:a16="http://schemas.microsoft.com/office/drawing/2014/main" id="{256D0F96-33C2-4896-9645-262D1ACB5E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57" y="3574"/>
              <a:ext cx="437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dirty="0"/>
                <a:t>2</a:t>
              </a:r>
              <a:r>
                <a:rPr lang="es-ES" sz="2400" dirty="0">
                  <a:sym typeface="Symbol" panose="05050102010706020507" pitchFamily="18" charset="2"/>
                </a:rPr>
                <a:t>d</a:t>
              </a:r>
            </a:p>
          </p:txBody>
        </p:sp>
        <p:sp>
          <p:nvSpPr>
            <p:cNvPr id="86" name="Text Box 103">
              <a:extLst>
                <a:ext uri="{FF2B5EF4-FFF2-40B4-BE49-F238E27FC236}">
                  <a16:creationId xmlns:a16="http://schemas.microsoft.com/office/drawing/2014/main" id="{D149CA44-784E-4530-83D2-818A55D3E6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71" y="3271"/>
              <a:ext cx="905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>
                  <a:sym typeface="Symbol" panose="05050102010706020507" pitchFamily="18" charset="2"/>
                </a:rPr>
                <a:t></a:t>
              </a:r>
              <a:r>
                <a:rPr lang="es-ES" sz="2400" baseline="-25000">
                  <a:sym typeface="Symbol" panose="05050102010706020507" pitchFamily="18" charset="2"/>
                </a:rPr>
                <a:t>0 </a:t>
              </a:r>
              <a:r>
                <a:rPr lang="es-ES" sz="2400">
                  <a:latin typeface="Comic Sans MS" panose="030F0702030302020204" pitchFamily="66" charset="0"/>
                  <a:sym typeface="Symbol" panose="05050102010706020507" pitchFamily="18" charset="2"/>
                </a:rPr>
                <a:t>I</a:t>
              </a:r>
              <a:r>
                <a:rPr lang="es-ES" sz="2400" baseline="-25000">
                  <a:sym typeface="Symbol" panose="05050102010706020507" pitchFamily="18" charset="2"/>
                </a:rPr>
                <a:t>2</a:t>
              </a:r>
              <a:r>
                <a:rPr lang="es-ES" sz="2400">
                  <a:sym typeface="Symbol" panose="05050102010706020507" pitchFamily="18" charset="2"/>
                </a:rPr>
                <a:t> </a:t>
              </a:r>
              <a:r>
                <a:rPr lang="es-ES" sz="2400">
                  <a:latin typeface="Comic Sans MS" panose="030F0702030302020204" pitchFamily="66" charset="0"/>
                  <a:sym typeface="Symbol" panose="05050102010706020507" pitchFamily="18" charset="2"/>
                </a:rPr>
                <a:t>I</a:t>
              </a:r>
              <a:r>
                <a:rPr lang="es-ES" sz="2400" baseline="-25000">
                  <a:sym typeface="Symbol" panose="05050102010706020507" pitchFamily="18" charset="2"/>
                </a:rPr>
                <a:t>1</a:t>
              </a:r>
              <a:r>
                <a:rPr lang="es-ES" sz="2400">
                  <a:sym typeface="Symbol" panose="05050102010706020507" pitchFamily="18" charset="2"/>
                </a:rPr>
                <a:t> L</a:t>
              </a:r>
              <a:endParaRPr lang="es-ES" sz="2400" baseline="-25000">
                <a:sym typeface="Symbol" panose="05050102010706020507" pitchFamily="18" charset="2"/>
              </a:endParaRPr>
            </a:p>
          </p:txBody>
        </p:sp>
      </p:grpSp>
      <p:grpSp>
        <p:nvGrpSpPr>
          <p:cNvPr id="87" name="Group 136">
            <a:extLst>
              <a:ext uri="{FF2B5EF4-FFF2-40B4-BE49-F238E27FC236}">
                <a16:creationId xmlns:a16="http://schemas.microsoft.com/office/drawing/2014/main" id="{F28D7461-E142-4E0E-AFD1-C02F6788E723}"/>
              </a:ext>
            </a:extLst>
          </p:cNvPr>
          <p:cNvGrpSpPr>
            <a:grpSpLocks/>
          </p:cNvGrpSpPr>
          <p:nvPr/>
        </p:nvGrpSpPr>
        <p:grpSpPr bwMode="auto">
          <a:xfrm>
            <a:off x="9526357" y="3723095"/>
            <a:ext cx="955676" cy="2090746"/>
            <a:chOff x="6060" y="2804"/>
            <a:chExt cx="602" cy="1317"/>
          </a:xfrm>
        </p:grpSpPr>
        <p:sp>
          <p:nvSpPr>
            <p:cNvPr id="88" name="Text Box 104">
              <a:extLst>
                <a:ext uri="{FF2B5EF4-FFF2-40B4-BE49-F238E27FC236}">
                  <a16:creationId xmlns:a16="http://schemas.microsoft.com/office/drawing/2014/main" id="{4E87F64A-E240-44A8-8DA9-A8634B9861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60" y="3783"/>
              <a:ext cx="596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dirty="0"/>
                <a:t>= F</a:t>
              </a:r>
              <a:r>
                <a:rPr lang="es-ES" sz="2400" baseline="-25000" dirty="0"/>
                <a:t>12</a:t>
              </a:r>
              <a:r>
                <a:rPr lang="es-ES" sz="2400" dirty="0"/>
                <a:t> </a:t>
              </a:r>
            </a:p>
          </p:txBody>
        </p:sp>
        <p:sp>
          <p:nvSpPr>
            <p:cNvPr id="89" name="Text Box 107">
              <a:extLst>
                <a:ext uri="{FF2B5EF4-FFF2-40B4-BE49-F238E27FC236}">
                  <a16:creationId xmlns:a16="http://schemas.microsoft.com/office/drawing/2014/main" id="{2717D152-964E-4AE3-A622-85835689B9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66" y="2804"/>
              <a:ext cx="596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dirty="0"/>
                <a:t>= F</a:t>
              </a:r>
              <a:r>
                <a:rPr lang="es-ES" sz="2400" baseline="-25000" dirty="0"/>
                <a:t>21</a:t>
              </a:r>
              <a:r>
                <a:rPr lang="es-ES" sz="2400" dirty="0"/>
                <a:t> </a:t>
              </a:r>
            </a:p>
          </p:txBody>
        </p:sp>
      </p:grpSp>
      <p:sp>
        <p:nvSpPr>
          <p:cNvPr id="91" name="Text Box 48">
            <a:extLst>
              <a:ext uri="{FF2B5EF4-FFF2-40B4-BE49-F238E27FC236}">
                <a16:creationId xmlns:a16="http://schemas.microsoft.com/office/drawing/2014/main" id="{8CE4D3B0-ECC2-417D-ABB4-962EDD8C29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5720" y="6225033"/>
            <a:ext cx="2813051" cy="53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dirty="0">
                <a:solidFill>
                  <a:srgbClr val="FF0000"/>
                </a:solidFill>
              </a:rPr>
              <a:t>(3ª Ley de Newton)</a:t>
            </a:r>
          </a:p>
        </p:txBody>
      </p:sp>
      <p:grpSp>
        <p:nvGrpSpPr>
          <p:cNvPr id="92" name="Group 134">
            <a:extLst>
              <a:ext uri="{FF2B5EF4-FFF2-40B4-BE49-F238E27FC236}">
                <a16:creationId xmlns:a16="http://schemas.microsoft.com/office/drawing/2014/main" id="{923B6B8D-5EDA-4F94-98F7-5F5F05283673}"/>
              </a:ext>
            </a:extLst>
          </p:cNvPr>
          <p:cNvGrpSpPr>
            <a:grpSpLocks/>
          </p:cNvGrpSpPr>
          <p:nvPr/>
        </p:nvGrpSpPr>
        <p:grpSpPr bwMode="auto">
          <a:xfrm>
            <a:off x="5844695" y="6140895"/>
            <a:ext cx="1816100" cy="663575"/>
            <a:chOff x="3038" y="3878"/>
            <a:chExt cx="1144" cy="418"/>
          </a:xfrm>
        </p:grpSpPr>
        <p:sp>
          <p:nvSpPr>
            <p:cNvPr id="93" name="Rectangle 111">
              <a:extLst>
                <a:ext uri="{FF2B5EF4-FFF2-40B4-BE49-F238E27FC236}">
                  <a16:creationId xmlns:a16="http://schemas.microsoft.com/office/drawing/2014/main" id="{90DD6F96-DE36-4956-9A8E-935E60E603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8" y="3878"/>
              <a:ext cx="1144" cy="41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 anchor="ctr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>
                <a:solidFill>
                  <a:srgbClr val="D60093"/>
                </a:solidFill>
              </a:endParaRPr>
            </a:p>
          </p:txBody>
        </p:sp>
        <p:graphicFrame>
          <p:nvGraphicFramePr>
            <p:cNvPr id="94" name="Object 110">
              <a:extLst>
                <a:ext uri="{FF2B5EF4-FFF2-40B4-BE49-F238E27FC236}">
                  <a16:creationId xmlns:a16="http://schemas.microsoft.com/office/drawing/2014/main" id="{65E5BB18-8295-4782-87EC-86B41F00E0C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27" y="3886"/>
            <a:ext cx="967" cy="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1" imgW="596900" imgH="241300" progId="Equation.3">
                    <p:embed/>
                  </p:oleObj>
                </mc:Choice>
                <mc:Fallback>
                  <p:oleObj name="Ecuación" r:id="rId11" imgW="596900" imgH="241300" progId="Equation.3">
                    <p:embed/>
                    <p:pic>
                      <p:nvPicPr>
                        <p:cNvPr id="94" name="Object 110">
                          <a:extLst>
                            <a:ext uri="{FF2B5EF4-FFF2-40B4-BE49-F238E27FC236}">
                              <a16:creationId xmlns:a16="http://schemas.microsoft.com/office/drawing/2014/main" id="{65E5BB18-8295-4782-87EC-86B41F00E0C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7" y="3886"/>
                          <a:ext cx="967" cy="3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5" name="Group 129">
            <a:extLst>
              <a:ext uri="{FF2B5EF4-FFF2-40B4-BE49-F238E27FC236}">
                <a16:creationId xmlns:a16="http://schemas.microsoft.com/office/drawing/2014/main" id="{4BF640F3-06B0-4610-95E7-592EB6E32F87}"/>
              </a:ext>
            </a:extLst>
          </p:cNvPr>
          <p:cNvGrpSpPr>
            <a:grpSpLocks/>
          </p:cNvGrpSpPr>
          <p:nvPr/>
        </p:nvGrpSpPr>
        <p:grpSpPr bwMode="auto">
          <a:xfrm>
            <a:off x="3899154" y="3011637"/>
            <a:ext cx="571500" cy="668337"/>
            <a:chOff x="2858" y="3212"/>
            <a:chExt cx="360" cy="421"/>
          </a:xfrm>
        </p:grpSpPr>
        <p:sp>
          <p:nvSpPr>
            <p:cNvPr id="96" name="Freeform 123">
              <a:extLst>
                <a:ext uri="{FF2B5EF4-FFF2-40B4-BE49-F238E27FC236}">
                  <a16:creationId xmlns:a16="http://schemas.microsoft.com/office/drawing/2014/main" id="{BDE7DC45-5C31-429F-A2B8-CB1158C7C0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8" y="3212"/>
              <a:ext cx="88" cy="255"/>
            </a:xfrm>
            <a:custGeom>
              <a:avLst/>
              <a:gdLst>
                <a:gd name="T0" fmla="*/ 88 w 88"/>
                <a:gd name="T1" fmla="*/ 0 h 255"/>
                <a:gd name="T2" fmla="*/ 0 w 88"/>
                <a:gd name="T3" fmla="*/ 89 h 255"/>
                <a:gd name="T4" fmla="*/ 0 w 88"/>
                <a:gd name="T5" fmla="*/ 255 h 25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8" h="255">
                  <a:moveTo>
                    <a:pt x="88" y="0"/>
                  </a:moveTo>
                  <a:lnTo>
                    <a:pt x="0" y="89"/>
                  </a:lnTo>
                  <a:lnTo>
                    <a:pt x="0" y="255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97" name="Text Box 124">
              <a:extLst>
                <a:ext uri="{FF2B5EF4-FFF2-40B4-BE49-F238E27FC236}">
                  <a16:creationId xmlns:a16="http://schemas.microsoft.com/office/drawing/2014/main" id="{4C582E24-0BFE-44A5-AE65-AB82272910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8" y="3337"/>
              <a:ext cx="350" cy="2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dirty="0"/>
                <a:t>90º</a:t>
              </a:r>
            </a:p>
          </p:txBody>
        </p:sp>
      </p:grpSp>
      <p:grpSp>
        <p:nvGrpSpPr>
          <p:cNvPr id="98" name="Group 128">
            <a:extLst>
              <a:ext uri="{FF2B5EF4-FFF2-40B4-BE49-F238E27FC236}">
                <a16:creationId xmlns:a16="http://schemas.microsoft.com/office/drawing/2014/main" id="{AB905805-9E58-46E4-8A5D-04D211A7C819}"/>
              </a:ext>
            </a:extLst>
          </p:cNvPr>
          <p:cNvGrpSpPr>
            <a:grpSpLocks/>
          </p:cNvGrpSpPr>
          <p:nvPr/>
        </p:nvGrpSpPr>
        <p:grpSpPr bwMode="auto">
          <a:xfrm>
            <a:off x="2545017" y="3267224"/>
            <a:ext cx="698500" cy="469900"/>
            <a:chOff x="2005" y="3373"/>
            <a:chExt cx="440" cy="296"/>
          </a:xfrm>
        </p:grpSpPr>
        <p:sp>
          <p:nvSpPr>
            <p:cNvPr id="100" name="Freeform 121">
              <a:extLst>
                <a:ext uri="{FF2B5EF4-FFF2-40B4-BE49-F238E27FC236}">
                  <a16:creationId xmlns:a16="http://schemas.microsoft.com/office/drawing/2014/main" id="{37DD6D61-E3F1-402C-B69E-EC9301C58E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5" y="3423"/>
              <a:ext cx="89" cy="166"/>
            </a:xfrm>
            <a:custGeom>
              <a:avLst/>
              <a:gdLst>
                <a:gd name="T0" fmla="*/ 89 w 89"/>
                <a:gd name="T1" fmla="*/ 55 h 166"/>
                <a:gd name="T2" fmla="*/ 0 w 89"/>
                <a:gd name="T3" fmla="*/ 166 h 166"/>
                <a:gd name="T4" fmla="*/ 0 w 89"/>
                <a:gd name="T5" fmla="*/ 0 h 16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9" h="166">
                  <a:moveTo>
                    <a:pt x="89" y="55"/>
                  </a:moveTo>
                  <a:lnTo>
                    <a:pt x="0" y="166"/>
                  </a:lnTo>
                  <a:lnTo>
                    <a:pt x="0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101" name="Text Box 125">
              <a:extLst>
                <a:ext uri="{FF2B5EF4-FFF2-40B4-BE49-F238E27FC236}">
                  <a16:creationId xmlns:a16="http://schemas.microsoft.com/office/drawing/2014/main" id="{9C592A9F-0CDC-4B5E-9E64-33E75AA4FB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5" y="3373"/>
              <a:ext cx="350" cy="2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/>
                <a:t>90º</a:t>
              </a:r>
            </a:p>
          </p:txBody>
        </p:sp>
      </p:grpSp>
      <p:sp>
        <p:nvSpPr>
          <p:cNvPr id="102" name="Text Box 40">
            <a:extLst>
              <a:ext uri="{FF2B5EF4-FFF2-40B4-BE49-F238E27FC236}">
                <a16:creationId xmlns:a16="http://schemas.microsoft.com/office/drawing/2014/main" id="{D42AE9F4-FAB2-4D7F-9DEF-C84541E1E6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8192" y="3727382"/>
            <a:ext cx="1811819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/>
              <a:t>=  </a:t>
            </a:r>
            <a:r>
              <a:rPr lang="es-ES" sz="2400">
                <a:latin typeface="Comic Sans MS" panose="030F0702030302020204" pitchFamily="66" charset="0"/>
              </a:rPr>
              <a:t>I</a:t>
            </a:r>
            <a:r>
              <a:rPr lang="es-ES" sz="2400" baseline="-25000"/>
              <a:t>2</a:t>
            </a:r>
            <a:r>
              <a:rPr lang="es-ES" sz="2400"/>
              <a:t> L B</a:t>
            </a:r>
            <a:r>
              <a:rPr lang="es-ES" sz="2400" baseline="-25000"/>
              <a:t>1</a:t>
            </a:r>
            <a:r>
              <a:rPr lang="es-ES" sz="2400"/>
              <a:t> = </a:t>
            </a:r>
          </a:p>
        </p:txBody>
      </p:sp>
      <p:sp>
        <p:nvSpPr>
          <p:cNvPr id="103" name="Text Box 100">
            <a:extLst>
              <a:ext uri="{FF2B5EF4-FFF2-40B4-BE49-F238E27FC236}">
                <a16:creationId xmlns:a16="http://schemas.microsoft.com/office/drawing/2014/main" id="{227FC5E3-1E45-4B59-A69D-41219E3124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7306" y="5280092"/>
            <a:ext cx="1726861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/>
              <a:t>=  </a:t>
            </a:r>
            <a:r>
              <a:rPr lang="es-ES" sz="2400">
                <a:latin typeface="Comic Sans MS" panose="030F0702030302020204" pitchFamily="66" charset="0"/>
              </a:rPr>
              <a:t>I</a:t>
            </a:r>
            <a:r>
              <a:rPr lang="es-ES" sz="2400" baseline="-25000"/>
              <a:t>1</a:t>
            </a:r>
            <a:r>
              <a:rPr lang="es-ES" sz="2400"/>
              <a:t> L B</a:t>
            </a:r>
            <a:r>
              <a:rPr lang="es-ES" sz="2400" baseline="-25000"/>
              <a:t>2</a:t>
            </a:r>
            <a:r>
              <a:rPr lang="es-ES" sz="2400"/>
              <a:t> =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8C9BF839-3252-4373-ACCC-32238903D2DB}"/>
              </a:ext>
            </a:extLst>
          </p:cNvPr>
          <p:cNvGrpSpPr/>
          <p:nvPr/>
        </p:nvGrpSpPr>
        <p:grpSpPr>
          <a:xfrm>
            <a:off x="5969686" y="1738466"/>
            <a:ext cx="4103161" cy="1103313"/>
            <a:chOff x="5969686" y="1738466"/>
            <a:chExt cx="4103161" cy="1103313"/>
          </a:xfrm>
        </p:grpSpPr>
        <p:grpSp>
          <p:nvGrpSpPr>
            <p:cNvPr id="7" name="Grupo 6"/>
            <p:cNvGrpSpPr>
              <a:grpSpLocks/>
            </p:cNvGrpSpPr>
            <p:nvPr/>
          </p:nvGrpSpPr>
          <p:grpSpPr bwMode="auto">
            <a:xfrm>
              <a:off x="5969686" y="1738466"/>
              <a:ext cx="1770107" cy="1103313"/>
              <a:chOff x="4773717" y="2413000"/>
              <a:chExt cx="1770107" cy="1103313"/>
            </a:xfrm>
          </p:grpSpPr>
          <p:sp>
            <p:nvSpPr>
              <p:cNvPr id="25640" name="Rectangle 6"/>
              <p:cNvSpPr>
                <a:spLocks noChangeArrowheads="1"/>
              </p:cNvSpPr>
              <p:nvPr/>
            </p:nvSpPr>
            <p:spPr bwMode="auto">
              <a:xfrm>
                <a:off x="4773717" y="2413000"/>
                <a:ext cx="1770107" cy="1103313"/>
              </a:xfrm>
              <a:prstGeom prst="rect">
                <a:avLst/>
              </a:prstGeom>
              <a:solidFill>
                <a:srgbClr val="FF99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lang="en-US">
                  <a:solidFill>
                    <a:srgbClr val="D60093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641" name="Object 7"/>
                  <p:cNvSpPr txBox="1"/>
                  <p:nvPr/>
                </p:nvSpPr>
                <p:spPr bwMode="auto">
                  <a:xfrm>
                    <a:off x="4876892" y="2427441"/>
                    <a:ext cx="1548608" cy="103663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s-ES" sz="28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s-E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s-E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E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ES" sz="28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μ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s-ES" sz="28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o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s-E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num>
                            <m:den>
                              <m:r>
                                <a:rPr lang="es-E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s-E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πr</m:t>
                              </m:r>
                            </m:den>
                          </m:f>
                        </m:oMath>
                      </m:oMathPara>
                    </a14:m>
                    <a:endParaRPr lang="es-ES" sz="2800" dirty="0"/>
                  </a:p>
                </p:txBody>
              </p:sp>
            </mc:Choice>
            <mc:Fallback xmlns="">
              <p:sp>
                <p:nvSpPr>
                  <p:cNvPr id="25641" name="Object 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876892" y="2427441"/>
                    <a:ext cx="1548608" cy="1036638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  <a:ln>
                    <a:noFill/>
                  </a:ln>
                  <a:extLst/>
                </p:spPr>
                <p:txBody>
                  <a:bodyPr/>
                  <a:lstStyle/>
                  <a:p>
                    <a:r>
                      <a:rPr lang="es-E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04" name="Text Box 35">
              <a:extLst>
                <a:ext uri="{FF2B5EF4-FFF2-40B4-BE49-F238E27FC236}">
                  <a16:creationId xmlns:a16="http://schemas.microsoft.com/office/drawing/2014/main" id="{50792A76-B745-4ECC-8D9C-4CBA4A6FDE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8111" y="1762689"/>
              <a:ext cx="2134736" cy="1057350"/>
            </a:xfrm>
            <a:prstGeom prst="rect">
              <a:avLst/>
            </a:prstGeom>
            <a:solidFill>
              <a:srgbClr val="FF99CC"/>
            </a:solidFill>
            <a:ln>
              <a:noFill/>
            </a:ln>
          </p:spPr>
          <p:txBody>
            <a:bodyPr wrap="square" lIns="108000" tIns="180000" rIns="108000" bIns="180000" anchor="ctr" anchorCtr="1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800">
                  <a:solidFill>
                    <a:schemeClr val="tx1"/>
                  </a:solidFill>
                  <a:sym typeface="Symbol" panose="05050102010706020507" pitchFamily="18" charset="2"/>
                </a:rPr>
                <a:t>F = </a:t>
              </a:r>
              <a:r>
                <a:rPr lang="es-ES" sz="2800">
                  <a:solidFill>
                    <a:schemeClr val="tx1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I</a:t>
              </a:r>
              <a:r>
                <a:rPr lang="es-ES" sz="2800">
                  <a:solidFill>
                    <a:schemeClr val="tx1"/>
                  </a:solidFill>
                  <a:sym typeface="Symbol" panose="05050102010706020507" pitchFamily="18" charset="2"/>
                </a:rPr>
                <a:t> L B</a:t>
              </a:r>
              <a:r>
                <a:rPr lang="es-ES" sz="2800" baseline="-25000">
                  <a:solidFill>
                    <a:schemeClr val="tx1"/>
                  </a:solidFill>
                  <a:sym typeface="Symbol" panose="05050102010706020507" pitchFamily="18" charset="2"/>
                </a:rPr>
                <a:t></a:t>
              </a:r>
              <a:endParaRPr lang="es-ES" sz="2800">
                <a:solidFill>
                  <a:schemeClr val="tx1"/>
                </a:solidFill>
                <a:sym typeface="Symbol" panose="05050102010706020507" pitchFamily="18" charset="2"/>
              </a:endParaRPr>
            </a:p>
          </p:txBody>
        </p:sp>
      </p:grpSp>
      <p:sp>
        <p:nvSpPr>
          <p:cNvPr id="2" name="Line 44">
            <a:extLst>
              <a:ext uri="{FF2B5EF4-FFF2-40B4-BE49-F238E27FC236}">
                <a16:creationId xmlns:a16="http://schemas.microsoft.com/office/drawing/2014/main" id="{2E20757F-0346-1F04-482E-AC50D72FF2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50260" y="2507015"/>
            <a:ext cx="1083468" cy="1116869"/>
          </a:xfrm>
          <a:prstGeom prst="line">
            <a:avLst/>
          </a:prstGeom>
          <a:noFill/>
          <a:ln w="25400">
            <a:solidFill>
              <a:schemeClr val="tx2">
                <a:lumMod val="75000"/>
                <a:lumOff val="25000"/>
              </a:schemeClr>
            </a:solidFill>
            <a:prstDash val="dash"/>
            <a:round/>
            <a:headEnd type="arrow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0000" tIns="82800" rIns="90000" bIns="82800">
            <a:spAutoFit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8387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  <p:bldP spid="82" grpId="0"/>
      <p:bldP spid="91" grpId="0"/>
      <p:bldP spid="102" grpId="0"/>
      <p:bldP spid="10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50" name="Group 30"/>
          <p:cNvGrpSpPr>
            <a:grpSpLocks/>
          </p:cNvGrpSpPr>
          <p:nvPr/>
        </p:nvGrpSpPr>
        <p:grpSpPr bwMode="auto">
          <a:xfrm>
            <a:off x="4140645" y="291370"/>
            <a:ext cx="3233737" cy="1095375"/>
            <a:chOff x="2591" y="846"/>
            <a:chExt cx="2037" cy="690"/>
          </a:xfrm>
        </p:grpSpPr>
        <p:sp>
          <p:nvSpPr>
            <p:cNvPr id="27672" name="Rectangle 59"/>
            <p:cNvSpPr>
              <a:spLocks noChangeArrowheads="1"/>
            </p:cNvSpPr>
            <p:nvPr/>
          </p:nvSpPr>
          <p:spPr bwMode="auto">
            <a:xfrm>
              <a:off x="2591" y="846"/>
              <a:ext cx="2037" cy="690"/>
            </a:xfrm>
            <a:prstGeom prst="rect">
              <a:avLst/>
            </a:prstGeom>
            <a:solidFill>
              <a:srgbClr val="FF99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>
                <a:solidFill>
                  <a:srgbClr val="D60093"/>
                </a:solidFill>
              </a:endParaRPr>
            </a:p>
          </p:txBody>
        </p:sp>
        <p:sp>
          <p:nvSpPr>
            <p:cNvPr id="27673" name="Text Box 39"/>
            <p:cNvSpPr txBox="1">
              <a:spLocks noChangeArrowheads="1"/>
            </p:cNvSpPr>
            <p:nvPr/>
          </p:nvSpPr>
          <p:spPr bwMode="auto">
            <a:xfrm>
              <a:off x="2660" y="1031"/>
              <a:ext cx="1015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/>
                <a:t>F</a:t>
              </a:r>
              <a:r>
                <a:rPr lang="es-ES" sz="2400" baseline="-25000"/>
                <a:t>12</a:t>
              </a:r>
              <a:r>
                <a:rPr lang="es-ES" sz="2400"/>
                <a:t> = F</a:t>
              </a:r>
              <a:r>
                <a:rPr lang="es-ES" sz="2400" baseline="-25000"/>
                <a:t>21</a:t>
              </a:r>
              <a:r>
                <a:rPr lang="es-ES" sz="2400"/>
                <a:t> =</a:t>
              </a:r>
            </a:p>
          </p:txBody>
        </p:sp>
        <p:sp>
          <p:nvSpPr>
            <p:cNvPr id="27674" name="Line 40"/>
            <p:cNvSpPr>
              <a:spLocks noChangeShapeType="1"/>
            </p:cNvSpPr>
            <p:nvPr/>
          </p:nvSpPr>
          <p:spPr bwMode="auto">
            <a:xfrm>
              <a:off x="3726" y="1209"/>
              <a:ext cx="75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27675" name="Text Box 41"/>
            <p:cNvSpPr txBox="1">
              <a:spLocks noChangeArrowheads="1"/>
            </p:cNvSpPr>
            <p:nvPr/>
          </p:nvSpPr>
          <p:spPr bwMode="auto">
            <a:xfrm>
              <a:off x="3868" y="1143"/>
              <a:ext cx="433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/>
                <a:t>2</a:t>
              </a:r>
              <a:r>
                <a:rPr lang="es-ES" sz="2400">
                  <a:sym typeface="Symbol" panose="05050102010706020507" pitchFamily="18" charset="2"/>
                </a:rPr>
                <a:t>d</a:t>
              </a:r>
            </a:p>
          </p:txBody>
        </p:sp>
        <p:sp>
          <p:nvSpPr>
            <p:cNvPr id="27676" name="Text Box 42"/>
            <p:cNvSpPr txBox="1">
              <a:spLocks noChangeArrowheads="1"/>
            </p:cNvSpPr>
            <p:nvPr/>
          </p:nvSpPr>
          <p:spPr bwMode="auto">
            <a:xfrm>
              <a:off x="3682" y="871"/>
              <a:ext cx="861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>
                  <a:sym typeface="Symbol" panose="05050102010706020507" pitchFamily="18" charset="2"/>
                </a:rPr>
                <a:t></a:t>
              </a:r>
              <a:r>
                <a:rPr lang="es-ES" sz="2400" baseline="-25000">
                  <a:sym typeface="Symbol" panose="05050102010706020507" pitchFamily="18" charset="2"/>
                </a:rPr>
                <a:t>0 </a:t>
              </a:r>
              <a:r>
                <a:rPr lang="es-ES">
                  <a:latin typeface="Comic Sans MS" panose="030F0702030302020204" pitchFamily="66" charset="0"/>
                  <a:sym typeface="Symbol" panose="05050102010706020507" pitchFamily="18" charset="2"/>
                </a:rPr>
                <a:t>I</a:t>
              </a:r>
              <a:r>
                <a:rPr lang="es-ES" sz="2400" baseline="-25000">
                  <a:sym typeface="Symbol" panose="05050102010706020507" pitchFamily="18" charset="2"/>
                </a:rPr>
                <a:t>1</a:t>
              </a:r>
              <a:r>
                <a:rPr lang="es-ES" sz="2400">
                  <a:sym typeface="Symbol" panose="05050102010706020507" pitchFamily="18" charset="2"/>
                </a:rPr>
                <a:t> </a:t>
              </a:r>
              <a:r>
                <a:rPr lang="es-ES">
                  <a:latin typeface="Comic Sans MS" panose="030F0702030302020204" pitchFamily="66" charset="0"/>
                  <a:sym typeface="Symbol" panose="05050102010706020507" pitchFamily="18" charset="2"/>
                </a:rPr>
                <a:t>I</a:t>
              </a:r>
              <a:r>
                <a:rPr lang="es-ES" sz="2400" baseline="-25000">
                  <a:sym typeface="Symbol" panose="05050102010706020507" pitchFamily="18" charset="2"/>
                </a:rPr>
                <a:t>2</a:t>
              </a:r>
              <a:r>
                <a:rPr lang="es-ES" sz="2400">
                  <a:sym typeface="Symbol" panose="05050102010706020507" pitchFamily="18" charset="2"/>
                </a:rPr>
                <a:t> L</a:t>
              </a:r>
              <a:endParaRPr lang="es-ES" sz="2400" baseline="-25000">
                <a:sym typeface="Symbol" panose="05050102010706020507" pitchFamily="18" charset="2"/>
              </a:endParaRPr>
            </a:p>
          </p:txBody>
        </p:sp>
      </p:grpSp>
      <p:sp>
        <p:nvSpPr>
          <p:cNvPr id="27669" name="Text Box 51"/>
          <p:cNvSpPr txBox="1">
            <a:spLocks noChangeArrowheads="1"/>
          </p:cNvSpPr>
          <p:nvPr/>
        </p:nvSpPr>
        <p:spPr bwMode="auto">
          <a:xfrm>
            <a:off x="6967175" y="2585111"/>
            <a:ext cx="1353553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dirty="0"/>
              <a:t>= 0,16 N</a:t>
            </a:r>
          </a:p>
        </p:txBody>
      </p:sp>
      <p:sp>
        <p:nvSpPr>
          <p:cNvPr id="27670" name="Text Box 52"/>
          <p:cNvSpPr txBox="1">
            <a:spLocks noChangeArrowheads="1"/>
          </p:cNvSpPr>
          <p:nvPr/>
        </p:nvSpPr>
        <p:spPr bwMode="auto">
          <a:xfrm>
            <a:off x="8377317" y="2483490"/>
            <a:ext cx="1957433" cy="905881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 dirty="0">
                <a:solidFill>
                  <a:schemeClr val="tx1"/>
                </a:solidFill>
              </a:rPr>
              <a:t>Peso </a:t>
            </a:r>
            <a:r>
              <a:rPr lang="es-ES" sz="2400">
                <a:solidFill>
                  <a:schemeClr val="tx1"/>
                </a:solidFill>
              </a:rPr>
              <a:t>de 16g </a:t>
            </a:r>
            <a:r>
              <a:rPr lang="es-ES" sz="2400" dirty="0">
                <a:solidFill>
                  <a:schemeClr val="tx1"/>
                </a:solidFill>
              </a:rPr>
              <a:t>de materia</a:t>
            </a:r>
          </a:p>
        </p:txBody>
      </p:sp>
      <p:sp>
        <p:nvSpPr>
          <p:cNvPr id="27671" name="Text Box 53"/>
          <p:cNvSpPr txBox="1">
            <a:spLocks noChangeArrowheads="1"/>
          </p:cNvSpPr>
          <p:nvPr/>
        </p:nvSpPr>
        <p:spPr bwMode="auto">
          <a:xfrm>
            <a:off x="4187438" y="3604299"/>
            <a:ext cx="3641914" cy="536549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>
                <a:solidFill>
                  <a:schemeClr val="tx1"/>
                </a:solidFill>
              </a:rPr>
              <a:t>Pequeñas </a:t>
            </a:r>
            <a:r>
              <a:rPr lang="es-ES" sz="2400" dirty="0">
                <a:solidFill>
                  <a:schemeClr val="tx1"/>
                </a:solidFill>
              </a:rPr>
              <a:t>en lo cotidiano</a:t>
            </a:r>
          </a:p>
        </p:txBody>
      </p:sp>
      <p:sp>
        <p:nvSpPr>
          <p:cNvPr id="607286" name="Text Box 54"/>
          <p:cNvSpPr txBox="1">
            <a:spLocks noChangeArrowheads="1"/>
          </p:cNvSpPr>
          <p:nvPr/>
        </p:nvSpPr>
        <p:spPr bwMode="auto">
          <a:xfrm>
            <a:off x="1241222" y="4490200"/>
            <a:ext cx="9149927" cy="90588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</a:rPr>
              <a:t>No </a:t>
            </a:r>
            <a:r>
              <a:rPr lang="es-ES" sz="2400" dirty="0">
                <a:solidFill>
                  <a:schemeClr val="tx1"/>
                </a:solidFill>
              </a:rPr>
              <a:t>obstante</a:t>
            </a:r>
            <a:r>
              <a:rPr lang="es-ES" sz="2400">
                <a:solidFill>
                  <a:schemeClr val="tx1"/>
                </a:solidFill>
              </a:rPr>
              <a:t>, con ella, se </a:t>
            </a:r>
            <a:r>
              <a:rPr lang="es-ES" sz="2400" dirty="0">
                <a:solidFill>
                  <a:schemeClr val="tx1"/>
                </a:solidFill>
              </a:rPr>
              <a:t>define el </a:t>
            </a:r>
            <a:r>
              <a:rPr lang="es-ES" sz="2400" dirty="0">
                <a:solidFill>
                  <a:srgbClr val="008000"/>
                </a:solidFill>
              </a:rPr>
              <a:t>Amperio</a:t>
            </a:r>
            <a:r>
              <a:rPr lang="es-ES" sz="2400" dirty="0">
                <a:solidFill>
                  <a:schemeClr val="tx1"/>
                </a:solidFill>
              </a:rPr>
              <a:t> (unidad fundamental),</a:t>
            </a:r>
          </a:p>
          <a:p>
            <a:pPr algn="ctr"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</a:rPr>
              <a:t>y </a:t>
            </a:r>
            <a:r>
              <a:rPr lang="es-ES" sz="2400" dirty="0">
                <a:solidFill>
                  <a:schemeClr val="tx1"/>
                </a:solidFill>
              </a:rPr>
              <a:t>a partir de él, el </a:t>
            </a:r>
            <a:r>
              <a:rPr lang="es-ES" sz="2400" dirty="0">
                <a:solidFill>
                  <a:srgbClr val="3333FF"/>
                </a:solidFill>
              </a:rPr>
              <a:t>Culombio</a:t>
            </a:r>
            <a:r>
              <a:rPr lang="es-ES" sz="2400" dirty="0">
                <a:solidFill>
                  <a:schemeClr val="tx1"/>
                </a:solidFill>
              </a:rPr>
              <a:t> (unidad derivada):</a:t>
            </a:r>
          </a:p>
        </p:txBody>
      </p:sp>
      <p:sp>
        <p:nvSpPr>
          <p:cNvPr id="607292" name="Text Box 60"/>
          <p:cNvSpPr txBox="1">
            <a:spLocks noChangeArrowheads="1"/>
          </p:cNvSpPr>
          <p:nvPr/>
        </p:nvSpPr>
        <p:spPr bwMode="auto">
          <a:xfrm>
            <a:off x="1241222" y="5508625"/>
            <a:ext cx="4519816" cy="127521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  <a:defRPr/>
            </a:pPr>
            <a:r>
              <a:rPr lang="es-ES" sz="2400" dirty="0">
                <a:solidFill>
                  <a:schemeClr val="tx1"/>
                </a:solidFill>
              </a:rPr>
              <a:t>Con </a:t>
            </a:r>
            <a:r>
              <a:rPr lang="es-ES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I</a:t>
            </a:r>
            <a:r>
              <a:rPr lang="es-ES" sz="2400" baseline="-25000" dirty="0">
                <a:solidFill>
                  <a:schemeClr val="tx1"/>
                </a:solidFill>
              </a:rPr>
              <a:t>1</a:t>
            </a:r>
            <a:r>
              <a:rPr lang="es-ES" sz="2400" dirty="0">
                <a:solidFill>
                  <a:schemeClr val="tx1"/>
                </a:solidFill>
              </a:rPr>
              <a:t> </a:t>
            </a:r>
            <a:r>
              <a:rPr lang="es-ES" sz="2400">
                <a:solidFill>
                  <a:schemeClr val="tx1"/>
                </a:solidFill>
              </a:rPr>
              <a:t>=</a:t>
            </a:r>
            <a:r>
              <a:rPr lang="es-ES" sz="240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s-ES" sz="2400">
                <a:solidFill>
                  <a:schemeClr val="tx1"/>
                </a:solidFill>
                <a:latin typeface="Comic Sans MS" panose="030F0702030302020204" pitchFamily="66" charset="0"/>
              </a:rPr>
              <a:t>I</a:t>
            </a:r>
            <a:r>
              <a:rPr lang="es-ES" sz="2400" baseline="-25000">
                <a:solidFill>
                  <a:schemeClr val="tx1"/>
                </a:solidFill>
              </a:rPr>
              <a:t>2</a:t>
            </a:r>
            <a:r>
              <a:rPr lang="es-ES" sz="2400">
                <a:solidFill>
                  <a:schemeClr val="tx1"/>
                </a:solidFill>
              </a:rPr>
              <a:t>, </a:t>
            </a:r>
            <a:r>
              <a:rPr lang="es-ES" sz="2400" dirty="0">
                <a:solidFill>
                  <a:schemeClr val="tx1"/>
                </a:solidFill>
              </a:rPr>
              <a:t>L </a:t>
            </a:r>
            <a:r>
              <a:rPr lang="es-ES" sz="2400">
                <a:solidFill>
                  <a:schemeClr val="tx1"/>
                </a:solidFill>
              </a:rPr>
              <a:t>= 1 m, d </a:t>
            </a:r>
            <a:r>
              <a:rPr lang="es-ES" sz="2400" dirty="0">
                <a:solidFill>
                  <a:schemeClr val="tx1"/>
                </a:solidFill>
              </a:rPr>
              <a:t>= </a:t>
            </a:r>
            <a:r>
              <a:rPr lang="es-ES" sz="2400">
                <a:solidFill>
                  <a:schemeClr val="tx1"/>
                </a:solidFill>
              </a:rPr>
              <a:t>1 mm</a:t>
            </a:r>
            <a:r>
              <a:rPr lang="es-ES" sz="2400" dirty="0">
                <a:solidFill>
                  <a:schemeClr val="tx1"/>
                </a:solidFill>
              </a:rPr>
              <a:t>,  las corrientes son de 1 </a:t>
            </a:r>
            <a:r>
              <a:rPr lang="es-ES" sz="2400">
                <a:solidFill>
                  <a:schemeClr val="tx1"/>
                </a:solidFill>
              </a:rPr>
              <a:t>A,         </a:t>
            </a:r>
            <a:r>
              <a:rPr lang="es-ES" sz="2400" dirty="0">
                <a:solidFill>
                  <a:schemeClr val="tx1"/>
                </a:solidFill>
              </a:rPr>
              <a:t>si F = </a:t>
            </a:r>
            <a:r>
              <a:rPr lang="es-ES" sz="2400">
                <a:solidFill>
                  <a:schemeClr val="tx1"/>
                </a:solidFill>
              </a:rPr>
              <a:t>2 10</a:t>
            </a:r>
            <a:r>
              <a:rPr lang="es-ES" sz="2400" baseline="30000">
                <a:solidFill>
                  <a:schemeClr val="tx1"/>
                </a:solidFill>
              </a:rPr>
              <a:t>-4</a:t>
            </a:r>
            <a:r>
              <a:rPr lang="es-ES" sz="2400">
                <a:solidFill>
                  <a:schemeClr val="tx1"/>
                </a:solidFill>
              </a:rPr>
              <a:t> </a:t>
            </a:r>
            <a:r>
              <a:rPr lang="es-ES" sz="2400" dirty="0">
                <a:solidFill>
                  <a:schemeClr val="tx1"/>
                </a:solidFill>
              </a:rPr>
              <a:t>N </a:t>
            </a:r>
            <a:r>
              <a:rPr lang="es-ES" sz="2400">
                <a:solidFill>
                  <a:schemeClr val="tx1"/>
                </a:solidFill>
              </a:rPr>
              <a:t>en el vacío</a:t>
            </a:r>
            <a:endParaRPr lang="es-ES" sz="2400" dirty="0">
              <a:solidFill>
                <a:schemeClr val="tx1"/>
              </a:solidFill>
            </a:endParaRPr>
          </a:p>
        </p:txBody>
      </p:sp>
      <p:sp>
        <p:nvSpPr>
          <p:cNvPr id="5" name="Text Box 46"/>
          <p:cNvSpPr txBox="1">
            <a:spLocks noChangeArrowheads="1"/>
          </p:cNvSpPr>
          <p:nvPr/>
        </p:nvSpPr>
        <p:spPr bwMode="auto">
          <a:xfrm>
            <a:off x="1225943" y="1392558"/>
            <a:ext cx="2630774" cy="536549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 dirty="0">
                <a:solidFill>
                  <a:schemeClr val="tx1"/>
                </a:solidFill>
              </a:rPr>
              <a:t>Cables caseros</a:t>
            </a:r>
          </a:p>
        </p:txBody>
      </p:sp>
      <p:sp>
        <p:nvSpPr>
          <p:cNvPr id="6" name="Text Box 66"/>
          <p:cNvSpPr txBox="1">
            <a:spLocks noChangeArrowheads="1"/>
          </p:cNvSpPr>
          <p:nvPr/>
        </p:nvSpPr>
        <p:spPr bwMode="auto">
          <a:xfrm>
            <a:off x="4087805" y="1675009"/>
            <a:ext cx="3488753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dirty="0" err="1">
                <a:solidFill>
                  <a:schemeClr val="tx1"/>
                </a:solidFill>
                <a:latin typeface="Comic Sans MS" panose="030F0702030302020204" pitchFamily="66" charset="0"/>
              </a:rPr>
              <a:t>I</a:t>
            </a:r>
            <a:r>
              <a:rPr lang="es-ES" sz="2400" baseline="-25000" dirty="0" err="1">
                <a:solidFill>
                  <a:schemeClr val="tx1"/>
                </a:solidFill>
              </a:rPr>
              <a:t>máx</a:t>
            </a:r>
            <a:r>
              <a:rPr lang="es-ES" sz="2400" dirty="0">
                <a:solidFill>
                  <a:schemeClr val="tx1"/>
                </a:solidFill>
              </a:rPr>
              <a:t> = 40 A  |  d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= 2 mm</a:t>
            </a:r>
          </a:p>
        </p:txBody>
      </p:sp>
      <p:grpSp>
        <p:nvGrpSpPr>
          <p:cNvPr id="9" name="Grupo 8"/>
          <p:cNvGrpSpPr/>
          <p:nvPr/>
        </p:nvGrpSpPr>
        <p:grpSpPr>
          <a:xfrm>
            <a:off x="4085861" y="2360441"/>
            <a:ext cx="2881314" cy="1050666"/>
            <a:chOff x="4202113" y="1869123"/>
            <a:chExt cx="2881314" cy="1050666"/>
          </a:xfrm>
        </p:grpSpPr>
        <p:grpSp>
          <p:nvGrpSpPr>
            <p:cNvPr id="27666" name="Group 73"/>
            <p:cNvGrpSpPr>
              <a:grpSpLocks/>
            </p:cNvGrpSpPr>
            <p:nvPr/>
          </p:nvGrpSpPr>
          <p:grpSpPr bwMode="auto">
            <a:xfrm>
              <a:off x="5221287" y="1869123"/>
              <a:ext cx="1862140" cy="1050666"/>
              <a:chOff x="3289" y="1626"/>
              <a:chExt cx="1173" cy="662"/>
            </a:xfrm>
          </p:grpSpPr>
          <p:sp>
            <p:nvSpPr>
              <p:cNvPr id="2" name="Line 48"/>
              <p:cNvSpPr>
                <a:spLocks noChangeShapeType="1"/>
              </p:cNvSpPr>
              <p:nvPr/>
            </p:nvSpPr>
            <p:spPr bwMode="auto">
              <a:xfrm flipV="1">
                <a:off x="3313" y="1943"/>
                <a:ext cx="106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 sz="2400"/>
              </a:p>
            </p:txBody>
          </p:sp>
          <p:sp>
            <p:nvSpPr>
              <p:cNvPr id="4" name="Text Box 49"/>
              <p:cNvSpPr txBox="1">
                <a:spLocks noChangeArrowheads="1"/>
              </p:cNvSpPr>
              <p:nvPr/>
            </p:nvSpPr>
            <p:spPr bwMode="auto">
              <a:xfrm>
                <a:off x="3289" y="1626"/>
                <a:ext cx="1173" cy="3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sz="2400" dirty="0"/>
                  <a:t>4</a:t>
                </a:r>
                <a:r>
                  <a:rPr lang="es-ES" sz="2400" dirty="0">
                    <a:sym typeface="Symbol" panose="05050102010706020507" pitchFamily="18" charset="2"/>
                  </a:rPr>
                  <a:t>10</a:t>
                </a:r>
                <a:r>
                  <a:rPr lang="es-ES" sz="2400" baseline="30000" dirty="0">
                    <a:sym typeface="Symbol" panose="05050102010706020507" pitchFamily="18" charset="2"/>
                  </a:rPr>
                  <a:t>7 </a:t>
                </a:r>
                <a:r>
                  <a:rPr lang="es-ES" sz="2400" dirty="0">
                    <a:sym typeface="Symbol" panose="05050102010706020507" pitchFamily="18" charset="2"/>
                  </a:rPr>
                  <a:t>40</a:t>
                </a:r>
                <a:r>
                  <a:rPr lang="es-ES" sz="2400" baseline="30000" dirty="0">
                    <a:sym typeface="Symbol" panose="05050102010706020507" pitchFamily="18" charset="2"/>
                  </a:rPr>
                  <a:t>2</a:t>
                </a:r>
                <a:r>
                  <a:rPr lang="es-ES" sz="2400" dirty="0">
                    <a:sym typeface="Symbol" panose="05050102010706020507" pitchFamily="18" charset="2"/>
                  </a:rPr>
                  <a:t> 1</a:t>
                </a:r>
                <a:endParaRPr lang="es-ES" sz="2400" baseline="30000" dirty="0">
                  <a:sym typeface="Symbol" panose="05050102010706020507" pitchFamily="18" charset="2"/>
                </a:endParaRPr>
              </a:p>
            </p:txBody>
          </p:sp>
          <p:sp>
            <p:nvSpPr>
              <p:cNvPr id="8" name="Text Box 50"/>
              <p:cNvSpPr txBox="1">
                <a:spLocks noChangeArrowheads="1"/>
              </p:cNvSpPr>
              <p:nvPr/>
            </p:nvSpPr>
            <p:spPr bwMode="auto">
              <a:xfrm>
                <a:off x="3466" y="1950"/>
                <a:ext cx="902" cy="3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sz="2400"/>
                  <a:t>2</a:t>
                </a:r>
                <a:r>
                  <a:rPr lang="es-ES" sz="2400">
                    <a:sym typeface="Symbol" panose="05050102010706020507" pitchFamily="18" charset="2"/>
                  </a:rPr>
                  <a:t> 2 10</a:t>
                </a:r>
                <a:r>
                  <a:rPr lang="es-ES" sz="2400" baseline="30000">
                    <a:sym typeface="Symbol" panose="05050102010706020507" pitchFamily="18" charset="2"/>
                  </a:rPr>
                  <a:t>3</a:t>
                </a:r>
                <a:endParaRPr lang="es-ES" sz="2400">
                  <a:sym typeface="Symbol" panose="05050102010706020507" pitchFamily="18" charset="2"/>
                </a:endParaRPr>
              </a:p>
            </p:txBody>
          </p:sp>
        </p:grpSp>
        <p:sp>
          <p:nvSpPr>
            <p:cNvPr id="27667" name="Text Box 47"/>
            <p:cNvSpPr txBox="1">
              <a:spLocks noChangeArrowheads="1"/>
            </p:cNvSpPr>
            <p:nvPr/>
          </p:nvSpPr>
          <p:spPr bwMode="auto">
            <a:xfrm>
              <a:off x="4202113" y="2103907"/>
              <a:ext cx="1106691" cy="5365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dirty="0" err="1"/>
                <a:t>F</a:t>
              </a:r>
              <a:r>
                <a:rPr lang="es-ES" sz="2400" baseline="-25000" dirty="0" err="1"/>
                <a:t>máx</a:t>
              </a:r>
              <a:r>
                <a:rPr lang="es-ES" sz="2400" dirty="0"/>
                <a:t> = </a:t>
              </a:r>
            </a:p>
          </p:txBody>
        </p:sp>
      </p:grpSp>
      <p:sp>
        <p:nvSpPr>
          <p:cNvPr id="27668" name="Text Box 67"/>
          <p:cNvSpPr txBox="1">
            <a:spLocks noChangeArrowheads="1"/>
          </p:cNvSpPr>
          <p:nvPr/>
        </p:nvSpPr>
        <p:spPr bwMode="auto">
          <a:xfrm>
            <a:off x="7335403" y="1684780"/>
            <a:ext cx="3032569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 dirty="0">
                <a:solidFill>
                  <a:schemeClr val="tx1"/>
                </a:solidFill>
              </a:rPr>
              <a:t>|  Para 1 m de cable</a:t>
            </a:r>
          </a:p>
        </p:txBody>
      </p:sp>
      <p:sp>
        <p:nvSpPr>
          <p:cNvPr id="27664" name="Text Box 76"/>
          <p:cNvSpPr txBox="1">
            <a:spLocks noChangeArrowheads="1"/>
          </p:cNvSpPr>
          <p:nvPr/>
        </p:nvSpPr>
        <p:spPr bwMode="auto">
          <a:xfrm>
            <a:off x="6341436" y="5500434"/>
            <a:ext cx="4049713" cy="1274762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</a:rPr>
              <a:t>1 C es la carga transportada por una corriente de 1 A cada segundo (Q = </a:t>
            </a:r>
            <a:r>
              <a:rPr lang="es-ES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I</a:t>
            </a:r>
            <a:r>
              <a:rPr lang="es-ES" sz="2400" dirty="0">
                <a:solidFill>
                  <a:schemeClr val="tx1"/>
                </a:solidFill>
              </a:rPr>
              <a:t> t)</a:t>
            </a:r>
          </a:p>
        </p:txBody>
      </p:sp>
      <p:sp>
        <p:nvSpPr>
          <p:cNvPr id="27665" name="AutoShape 77"/>
          <p:cNvSpPr>
            <a:spLocks noChangeArrowheads="1"/>
          </p:cNvSpPr>
          <p:nvPr/>
        </p:nvSpPr>
        <p:spPr bwMode="auto">
          <a:xfrm>
            <a:off x="5836074" y="5786184"/>
            <a:ext cx="468313" cy="685800"/>
          </a:xfrm>
          <a:prstGeom prst="rightArrow">
            <a:avLst>
              <a:gd name="adj1" fmla="val 43981"/>
              <a:gd name="adj2" fmla="val 49491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 anchor="ctr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>
              <a:solidFill>
                <a:srgbClr val="D60093"/>
              </a:solidFill>
            </a:endParaRPr>
          </a:p>
        </p:txBody>
      </p:sp>
      <p:sp>
        <p:nvSpPr>
          <p:cNvPr id="7" name="CuadroTexto 6"/>
          <p:cNvSpPr txBox="1">
            <a:spLocks noChangeArrowheads="1"/>
          </p:cNvSpPr>
          <p:nvPr/>
        </p:nvSpPr>
        <p:spPr bwMode="auto">
          <a:xfrm>
            <a:off x="1228420" y="2000854"/>
            <a:ext cx="2638025" cy="1938992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 dirty="0"/>
              <a:t>Los que tienen </a:t>
            </a:r>
            <a:r>
              <a:rPr lang="es-ES" sz="2400" dirty="0">
                <a:latin typeface="Comic Sans MS" panose="030F0702030302020204" pitchFamily="66" charset="0"/>
              </a:rPr>
              <a:t>I </a:t>
            </a:r>
            <a:r>
              <a:rPr lang="es-ES" sz="2400" dirty="0"/>
              <a:t>son un par de “hilos”, //, “rectos”, “largos”, con </a:t>
            </a:r>
            <a:r>
              <a:rPr lang="es-ES" sz="2400" dirty="0">
                <a:latin typeface="Comic Sans MS" panose="030F0702030302020204" pitchFamily="66" charset="0"/>
              </a:rPr>
              <a:t>I</a:t>
            </a:r>
            <a:r>
              <a:rPr lang="es-ES" sz="2400" dirty="0"/>
              <a:t> en sentido contrario</a:t>
            </a:r>
            <a:endParaRPr lang="es-ES" sz="2400" dirty="0">
              <a:solidFill>
                <a:srgbClr val="FF0000"/>
              </a:solidFill>
            </a:endParaRPr>
          </a:p>
        </p:txBody>
      </p:sp>
      <p:sp>
        <p:nvSpPr>
          <p:cNvPr id="29" name="Text Box 52"/>
          <p:cNvSpPr txBox="1">
            <a:spLocks noChangeArrowheads="1"/>
          </p:cNvSpPr>
          <p:nvPr/>
        </p:nvSpPr>
        <p:spPr bwMode="auto">
          <a:xfrm>
            <a:off x="8318150" y="3445717"/>
            <a:ext cx="2035945" cy="905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 dirty="0">
                <a:solidFill>
                  <a:srgbClr val="FF0000"/>
                </a:solidFill>
              </a:rPr>
              <a:t>(los cables no estallan)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953BED9-A164-AAC2-F728-3DDFE53290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8420" y="3965088"/>
            <a:ext cx="2638025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 dirty="0">
                <a:solidFill>
                  <a:srgbClr val="FF0000"/>
                </a:solidFill>
              </a:rPr>
              <a:t>(se repelen)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7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7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7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9" dur="500"/>
                                        <p:tgtEl>
                                          <p:spTgt spid="27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607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607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7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27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69" grpId="0"/>
      <p:bldP spid="27670" grpId="0" animBg="1"/>
      <p:bldP spid="27671" grpId="0" animBg="1"/>
      <p:bldP spid="607286" grpId="0" animBg="1"/>
      <p:bldP spid="607292" grpId="0" animBg="1"/>
      <p:bldP spid="5" grpId="0" animBg="1"/>
      <p:bldP spid="6" grpId="0"/>
      <p:bldP spid="27668" grpId="0"/>
      <p:bldP spid="27664" grpId="0" animBg="1"/>
      <p:bldP spid="27665" grpId="0" animBg="1"/>
      <p:bldP spid="7" grpId="0" animBg="1"/>
      <p:bldP spid="29" grpId="0"/>
      <p:bldP spid="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FNT_2012_TEMA1_1">
  <a:themeElements>
    <a:clrScheme name="FNT_2012_TEMA1_1 1">
      <a:dk1>
        <a:srgbClr val="000000"/>
      </a:dk1>
      <a:lt1>
        <a:srgbClr val="FEFDE3"/>
      </a:lt1>
      <a:dk2>
        <a:srgbClr val="221304"/>
      </a:dk2>
      <a:lt2>
        <a:srgbClr val="CBBD83"/>
      </a:lt2>
      <a:accent1>
        <a:srgbClr val="A1BD69"/>
      </a:accent1>
      <a:accent2>
        <a:srgbClr val="3694B6"/>
      </a:accent2>
      <a:accent3>
        <a:srgbClr val="FEFEEF"/>
      </a:accent3>
      <a:accent4>
        <a:srgbClr val="000000"/>
      </a:accent4>
      <a:accent5>
        <a:srgbClr val="CDDBB9"/>
      </a:accent5>
      <a:accent6>
        <a:srgbClr val="3086A5"/>
      </a:accent6>
      <a:hlink>
        <a:srgbClr val="660066"/>
      </a:hlink>
      <a:folHlink>
        <a:srgbClr val="666699"/>
      </a:folHlink>
    </a:clrScheme>
    <a:fontScheme name="FNT_2012_TEMA1_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stealth" w="lg" len="lg"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99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107763" dir="2700000" algn="ctr" rotWithShape="0">
                  <a:srgbClr val="808080"/>
                </a:outerShdw>
              </a:effectLst>
            </a14:hiddenEffects>
          </a:ext>
          <a:ext uri="{53640926-AAD7-44D8-BBD7-CCE9431645EC}">
            <a14:shadowObscured xmlns:a14="http://schemas.microsoft.com/office/drawing/2010/main" val="1"/>
          </a:ext>
        </a:extLst>
      </a:spPr>
      <a:bodyPr vert="horz" wrap="none" lIns="90000" tIns="82800" rIns="90000" bIns="82800" numCol="1" anchor="t" anchorCtr="1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s-ES" sz="20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stealth" w="lg" len="lg"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99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107763" dir="2700000" algn="ctr" rotWithShape="0">
                  <a:srgbClr val="808080"/>
                </a:outerShdw>
              </a:effectLst>
            </a14:hiddenEffects>
          </a:ext>
          <a:ext uri="{53640926-AAD7-44D8-BBD7-CCE9431645EC}">
            <a14:shadowObscured xmlns:a14="http://schemas.microsoft.com/office/drawing/2010/main" val="1"/>
          </a:ext>
        </a:extLst>
      </a:spPr>
      <a:bodyPr vert="horz" wrap="none" lIns="90000" tIns="82800" rIns="90000" bIns="82800" numCol="1" anchor="t" anchorCtr="1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s-ES" sz="20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FNT_2012_TEMA1_1 1">
        <a:dk1>
          <a:srgbClr val="000000"/>
        </a:dk1>
        <a:lt1>
          <a:srgbClr val="FEFDE3"/>
        </a:lt1>
        <a:dk2>
          <a:srgbClr val="221304"/>
        </a:dk2>
        <a:lt2>
          <a:srgbClr val="CBBD83"/>
        </a:lt2>
        <a:accent1>
          <a:srgbClr val="A1BD69"/>
        </a:accent1>
        <a:accent2>
          <a:srgbClr val="3694B6"/>
        </a:accent2>
        <a:accent3>
          <a:srgbClr val="FEFEEF"/>
        </a:accent3>
        <a:accent4>
          <a:srgbClr val="000000"/>
        </a:accent4>
        <a:accent5>
          <a:srgbClr val="CDDBB9"/>
        </a:accent5>
        <a:accent6>
          <a:srgbClr val="3086A5"/>
        </a:accent6>
        <a:hlink>
          <a:srgbClr val="6600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NT_2012_TEMA1_1 2">
        <a:dk1>
          <a:srgbClr val="000000"/>
        </a:dk1>
        <a:lt1>
          <a:srgbClr val="FFFFFF"/>
        </a:lt1>
        <a:dk2>
          <a:srgbClr val="221304"/>
        </a:dk2>
        <a:lt2>
          <a:srgbClr val="CBBD83"/>
        </a:lt2>
        <a:accent1>
          <a:srgbClr val="A1BD69"/>
        </a:accent1>
        <a:accent2>
          <a:srgbClr val="3694B6"/>
        </a:accent2>
        <a:accent3>
          <a:srgbClr val="FFFFFF"/>
        </a:accent3>
        <a:accent4>
          <a:srgbClr val="000000"/>
        </a:accent4>
        <a:accent5>
          <a:srgbClr val="CDDBB9"/>
        </a:accent5>
        <a:accent6>
          <a:srgbClr val="3086A5"/>
        </a:accent6>
        <a:hlink>
          <a:srgbClr val="6600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NT_2012_TEMA1_1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FNT_2012_TEMA1_1</Template>
  <TotalTime>14531</TotalTime>
  <Words>2511</Words>
  <Application>Microsoft Office PowerPoint</Application>
  <PresentationFormat>Personalizado</PresentationFormat>
  <Paragraphs>467</Paragraphs>
  <Slides>25</Slides>
  <Notes>24</Notes>
  <HiddenSlides>0</HiddenSlides>
  <MMClips>0</MMClips>
  <ScaleCrop>false</ScaleCrop>
  <HeadingPairs>
    <vt:vector size="8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7" baseType="lpstr">
      <vt:lpstr>Arial</vt:lpstr>
      <vt:lpstr>Cambria Math</vt:lpstr>
      <vt:lpstr>Comic Sans MS</vt:lpstr>
      <vt:lpstr>Microsoft Himalaya</vt:lpstr>
      <vt:lpstr>Symbol</vt:lpstr>
      <vt:lpstr>Times New Roman</vt:lpstr>
      <vt:lpstr>Trebuchet MS</vt:lpstr>
      <vt:lpstr>Wingdings</vt:lpstr>
      <vt:lpstr>Wingdings 2</vt:lpstr>
      <vt:lpstr>Wingdings 3</vt:lpstr>
      <vt:lpstr>FNT_2012_TEMA1_1</vt:lpstr>
      <vt:lpstr>Ecuación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DFA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FÍSICA</dc:creator>
  <cp:lastModifiedBy>Jose Enrique Martin Dominguez</cp:lastModifiedBy>
  <cp:revision>2263</cp:revision>
  <dcterms:created xsi:type="dcterms:W3CDTF">2012-02-20T13:06:36Z</dcterms:created>
  <dcterms:modified xsi:type="dcterms:W3CDTF">2024-11-19T07:17:50Z</dcterms:modified>
</cp:coreProperties>
</file>