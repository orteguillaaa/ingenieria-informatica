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654" r:id="rId2"/>
    <p:sldId id="543" r:id="rId3"/>
    <p:sldId id="655" r:id="rId4"/>
    <p:sldId id="670" r:id="rId5"/>
    <p:sldId id="685" r:id="rId6"/>
    <p:sldId id="733" r:id="rId7"/>
    <p:sldId id="684" r:id="rId8"/>
    <p:sldId id="726" r:id="rId9"/>
    <p:sldId id="690" r:id="rId10"/>
    <p:sldId id="703" r:id="rId11"/>
    <p:sldId id="728" r:id="rId12"/>
    <p:sldId id="730" r:id="rId13"/>
    <p:sldId id="644" r:id="rId14"/>
    <p:sldId id="656" r:id="rId15"/>
    <p:sldId id="692" r:id="rId16"/>
    <p:sldId id="645" r:id="rId17"/>
    <p:sldId id="739" r:id="rId18"/>
    <p:sldId id="694" r:id="rId19"/>
    <p:sldId id="646" r:id="rId20"/>
    <p:sldId id="647" r:id="rId21"/>
    <p:sldId id="648" r:id="rId22"/>
    <p:sldId id="674" r:id="rId23"/>
    <p:sldId id="649" r:id="rId24"/>
    <p:sldId id="675" r:id="rId25"/>
    <p:sldId id="650" r:id="rId26"/>
    <p:sldId id="651" r:id="rId27"/>
    <p:sldId id="652" r:id="rId28"/>
    <p:sldId id="740" r:id="rId29"/>
    <p:sldId id="638" r:id="rId30"/>
    <p:sldId id="686" r:id="rId31"/>
    <p:sldId id="736" r:id="rId32"/>
    <p:sldId id="682" r:id="rId33"/>
    <p:sldId id="641" r:id="rId34"/>
    <p:sldId id="667" r:id="rId35"/>
    <p:sldId id="732" r:id="rId36"/>
    <p:sldId id="544" r:id="rId37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629" userDrawn="1">
          <p15:clr>
            <a:srgbClr val="A4A3A4"/>
          </p15:clr>
        </p15:guide>
        <p15:guide id="3" orient="horz" pos="22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3333FF"/>
    <a:srgbClr val="FFFFFF"/>
    <a:srgbClr val="99CCFF"/>
    <a:srgbClr val="CCFFCC"/>
    <a:srgbClr val="FF00FF"/>
    <a:srgbClr val="666699"/>
    <a:srgbClr val="EDE7E3"/>
    <a:srgbClr val="FFFF99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690" y="108"/>
      </p:cViewPr>
      <p:guideLst>
        <p:guide pos="3629"/>
        <p:guide orient="horz" pos="22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D02064D-E1EE-4B69-AF87-38902ED8E99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9717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08C9859-05A1-4603-9B55-F5C2492AE06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263873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FDADA36-6D9A-4D4A-B499-0BC5669963D1}" type="slidenum">
              <a:rPr lang="es-ES"/>
              <a:pPr algn="r" eaLnBrk="1" hangingPunct="1"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51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33B40F-C1AB-4521-8C8F-870DD448BD9D}" type="slidenum">
              <a:rPr lang="es-ES" smtClean="0"/>
              <a:pPr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722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041B40-3801-4581-8BC5-AED25F6B0444}" type="slidenum">
              <a:rPr lang="es-ES"/>
              <a:pPr algn="r" eaLnBrk="1" hangingPunct="1"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206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041B40-3801-4581-8BC5-AED25F6B0444}" type="slidenum">
              <a:rPr lang="es-ES"/>
              <a:pPr algn="r" eaLnBrk="1" hangingPunct="1"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315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447E84-337C-4A09-B05E-1905FF3FEAD1}" type="slidenum">
              <a:rPr lang="es-ES"/>
              <a:pPr algn="r" eaLnBrk="1" hangingPunct="1"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606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447E84-337C-4A09-B05E-1905FF3FEAD1}" type="slidenum">
              <a:rPr lang="es-ES"/>
              <a:pPr algn="r" eaLnBrk="1" hangingPunct="1"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229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447E84-337C-4A09-B05E-1905FF3FEAD1}" type="slidenum">
              <a:rPr lang="es-ES"/>
              <a:pPr algn="r" eaLnBrk="1" hangingPunct="1"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0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447E84-337C-4A09-B05E-1905FF3FEAD1}" type="slidenum">
              <a:rPr lang="es-ES"/>
              <a:pPr algn="r" eaLnBrk="1" hangingPunct="1"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647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447E84-337C-4A09-B05E-1905FF3FEAD1}" type="slidenum">
              <a:rPr lang="es-ES"/>
              <a:pPr algn="r" eaLnBrk="1" hangingPunct="1"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792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447E84-337C-4A09-B05E-1905FF3FEAD1}" type="slidenum">
              <a:rPr lang="es-ES"/>
              <a:pPr algn="r" eaLnBrk="1" hangingPunct="1"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22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447E84-337C-4A09-B05E-1905FF3FEAD1}" type="slidenum">
              <a:rPr lang="es-ES"/>
              <a:pPr algn="r" eaLnBrk="1" hangingPunct="1"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173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447E84-337C-4A09-B05E-1905FF3FEAD1}" type="slidenum">
              <a:rPr lang="es-ES"/>
              <a:pPr algn="r" eaLnBrk="1" hangingPunct="1"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813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3EF2AF8-FC4C-4845-B981-B4F65285A8C7}" type="slidenum">
              <a:rPr lang="es-ES"/>
              <a:pPr algn="r" eaLnBrk="1" hangingPunct="1"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1119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AEB6DBC-AD35-4E69-B110-E10B168E0340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5588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F6779D2-7283-4ABE-8DAC-CE03A2CD2D5B}" type="slidenum">
              <a:rPr lang="es-ES"/>
              <a:pPr algn="r" eaLnBrk="1" hangingPunct="1"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656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F8D9F27-9A10-4DC8-A2FC-F83F44BF4219}" type="slidenum">
              <a:rPr lang="es-ES"/>
              <a:pPr algn="r" eaLnBrk="1" hangingPunct="1"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850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F8D9F27-9A10-4DC8-A2FC-F83F44BF4219}" type="slidenum">
              <a:rPr lang="es-ES"/>
              <a:pPr algn="r" eaLnBrk="1" hangingPunct="1"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5786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F8D9F27-9A10-4DC8-A2FC-F83F44BF4219}" type="slidenum">
              <a:rPr lang="es-ES"/>
              <a:pPr algn="r" eaLnBrk="1" hangingPunct="1"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4420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5B6FA96-2132-4245-850B-16F4B86011AE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2399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6EC5936-F598-44BC-951C-DF1296E2C692}" type="slidenum">
              <a:rPr lang="es-ES"/>
              <a:pPr algn="r" eaLnBrk="1" hangingPunct="1"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9014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B288C80-48E0-40C7-B1B4-FDA12A4A5623}" type="slidenum">
              <a:rPr lang="es-ES"/>
              <a:pPr algn="r" eaLnBrk="1" hangingPunct="1"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9840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B288C80-48E0-40C7-B1B4-FDA12A4A5623}" type="slidenum">
              <a:rPr lang="es-ES"/>
              <a:pPr algn="r" eaLnBrk="1" hangingPunct="1"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092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3A3C802-C61A-4964-92AD-1E2D62D9AEEE}" type="slidenum">
              <a:rPr lang="es-ES"/>
              <a:pPr algn="r" eaLnBrk="1" hangingPunct="1"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0866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3A3C802-C61A-4964-92AD-1E2D62D9AEEE}" type="slidenum">
              <a:rPr lang="es-ES"/>
              <a:pPr algn="r" eaLnBrk="1" hangingPunct="1"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2605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2F46719-565E-4847-B38D-E0EC2F996BBE}" type="slidenum">
              <a:rPr lang="es-ES"/>
              <a:pPr algn="r" eaLnBrk="1" hangingPunct="1"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8652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C35A97B-C8D8-459F-939D-9058C2E7FDD5}" type="slidenum">
              <a:rPr lang="es-ES"/>
              <a:pPr algn="r" eaLnBrk="1" hangingPunct="1">
                <a:spcBef>
                  <a:spcPct val="0"/>
                </a:spcBef>
              </a:pPr>
              <a:t>26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5696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B3CE77B-448F-4F2A-94D5-7722025869A9}" type="slidenum">
              <a:rPr lang="es-ES"/>
              <a:pPr algn="r" eaLnBrk="1" hangingPunct="1">
                <a:spcBef>
                  <a:spcPct val="0"/>
                </a:spcBef>
              </a:pPr>
              <a:t>27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619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4020F-3C74-D67A-0843-8142E0F8E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CD5ACA6-2BBC-F8EA-FD0B-E97178ABE1D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>
            <a:extLst>
              <a:ext uri="{FF2B5EF4-FFF2-40B4-BE49-F238E27FC236}">
                <a16:creationId xmlns:a16="http://schemas.microsoft.com/office/drawing/2014/main" id="{9891B30F-0504-05CF-3CE7-4B11D2D1FE8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>
            <a:extLst>
              <a:ext uri="{FF2B5EF4-FFF2-40B4-BE49-F238E27FC236}">
                <a16:creationId xmlns:a16="http://schemas.microsoft.com/office/drawing/2014/main" id="{83EE8A51-E68F-BBF2-475E-691F654B114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B3CE77B-448F-4F2A-94D5-7722025869A9}" type="slidenum">
              <a:rPr lang="es-ES"/>
              <a:pPr algn="r" eaLnBrk="1" hangingPunct="1">
                <a:spcBef>
                  <a:spcPct val="0"/>
                </a:spcBef>
              </a:pPr>
              <a:t>28</a:t>
            </a:fld>
            <a:endParaRPr lang="es-ES"/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ECE0F9A5-1351-9C6B-9C65-41BC3EA2FC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16DA24F4-99AE-7AC5-CB8B-9E5868EA05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986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301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301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9AFDAF3-03E9-423D-AFE3-0846CFF065BA}" type="slidenum">
              <a:rPr lang="es-ES"/>
              <a:pPr algn="r" eaLnBrk="1" hangingPunct="1">
                <a:spcBef>
                  <a:spcPct val="0"/>
                </a:spcBef>
              </a:pPr>
              <a:t>29</a:t>
            </a:fld>
            <a:endParaRPr lang="es-E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4855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505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506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74064F7-8206-4AF5-873C-8CDEB89D4ADC}" type="slidenum">
              <a:rPr lang="es-ES"/>
              <a:pPr algn="r" eaLnBrk="1" hangingPunct="1">
                <a:spcBef>
                  <a:spcPct val="0"/>
                </a:spcBef>
              </a:pPr>
              <a:t>30</a:t>
            </a:fld>
            <a:endParaRPr lang="es-E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0900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505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506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74064F7-8206-4AF5-873C-8CDEB89D4ADC}" type="slidenum">
              <a:rPr lang="es-ES"/>
              <a:pPr algn="r" eaLnBrk="1" hangingPunct="1">
                <a:spcBef>
                  <a:spcPct val="0"/>
                </a:spcBef>
              </a:pPr>
              <a:t>31</a:t>
            </a:fld>
            <a:endParaRPr lang="es-E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1802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505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506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74064F7-8206-4AF5-873C-8CDEB89D4ADC}" type="slidenum">
              <a:rPr lang="es-ES"/>
              <a:pPr algn="r" eaLnBrk="1" hangingPunct="1">
                <a:spcBef>
                  <a:spcPct val="0"/>
                </a:spcBef>
              </a:pPr>
              <a:t>32</a:t>
            </a:fld>
            <a:endParaRPr lang="es-E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7849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915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915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3ACF226-221E-443E-B032-01E5C6D46139}" type="slidenum">
              <a:rPr lang="es-ES"/>
              <a:pPr algn="r" eaLnBrk="1" hangingPunct="1">
                <a:spcBef>
                  <a:spcPct val="0"/>
                </a:spcBef>
              </a:pPr>
              <a:t>33</a:t>
            </a:fld>
            <a:endParaRPr lang="es-ES"/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3428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512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2A4C5D2-DE29-42BC-A0AF-49F056BCB475}" type="slidenum">
              <a:rPr lang="es-ES" smtClean="0"/>
              <a:pPr>
                <a:spcBef>
                  <a:spcPct val="0"/>
                </a:spcBef>
              </a:pPr>
              <a:t>34</a:t>
            </a:fld>
            <a:endParaRPr lang="es-ES"/>
          </a:p>
        </p:txBody>
      </p:sp>
      <p:sp>
        <p:nvSpPr>
          <p:cNvPr id="51205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51206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51207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9AF26ED-AC2D-4F88-B9F0-99242F4BFF14}" type="slidenum">
              <a:rPr lang="es-ES"/>
              <a:pPr algn="r" eaLnBrk="1" hangingPunct="1">
                <a:spcBef>
                  <a:spcPct val="0"/>
                </a:spcBef>
              </a:pPr>
              <a:t>34</a:t>
            </a:fld>
            <a:endParaRPr lang="es-ES"/>
          </a:p>
        </p:txBody>
      </p:sp>
      <p:sp>
        <p:nvSpPr>
          <p:cNvPr id="512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5980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552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9CD619-987B-419B-94D7-D3D29E681374}" type="slidenum">
              <a:rPr lang="es-ES" smtClean="0"/>
              <a:pPr>
                <a:spcBef>
                  <a:spcPct val="0"/>
                </a:spcBef>
              </a:pPr>
              <a:t>35</a:t>
            </a:fld>
            <a:endParaRPr lang="es-ES"/>
          </a:p>
        </p:txBody>
      </p:sp>
      <p:sp>
        <p:nvSpPr>
          <p:cNvPr id="55301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55302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55303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971D5B8-0693-45C8-A79E-863DCB7E5FFF}" type="slidenum">
              <a:rPr lang="es-ES"/>
              <a:pPr algn="r" eaLnBrk="1" hangingPunct="1">
                <a:spcBef>
                  <a:spcPct val="0"/>
                </a:spcBef>
              </a:pPr>
              <a:t>35</a:t>
            </a:fld>
            <a:endParaRPr lang="es-ES"/>
          </a:p>
        </p:txBody>
      </p:sp>
      <p:sp>
        <p:nvSpPr>
          <p:cNvPr id="553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001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AB774-CC42-4BFE-801E-11C5CD2E781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362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17B06-44E3-44ED-9E88-7E773023795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0829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162E4-9752-4224-834C-100C29FC2B1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546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14A52-4111-431E-970C-8FAECAFE2A8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054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F954C-AEA7-4833-965C-A6800B9DC2F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7291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8FC6D-5D6D-4E84-9B4B-32A9910CE89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608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1CE54-E3CE-4C80-BF25-9085C269BBC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085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D6951-7514-4B85-B9F8-5CCAAE4C3F0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9918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25967F-8F4E-4CB0-91DB-C15FDEA8446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121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399CF-D89F-4B22-A575-C837C7C1726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0602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2F290B-168B-4650-98B4-D236332714C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1166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979E2-B6B2-4CC3-966D-91AB298F6E1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8212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B7E873C-7AD9-47D8-B457-3C66B5D6088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197225" y="3303588"/>
            <a:ext cx="5149850" cy="53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SEMICONDUCTORES Y DIODOS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246688" y="4805363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(1/2)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9</a:t>
            </a:r>
          </a:p>
        </p:txBody>
      </p:sp>
      <p:grpSp>
        <p:nvGrpSpPr>
          <p:cNvPr id="16" name="Group 21"/>
          <p:cNvGrpSpPr>
            <a:grpSpLocks/>
          </p:cNvGrpSpPr>
          <p:nvPr/>
        </p:nvGrpSpPr>
        <p:grpSpPr bwMode="auto">
          <a:xfrm>
            <a:off x="7875895" y="4766986"/>
            <a:ext cx="2574925" cy="2143125"/>
            <a:chOff x="4896" y="2935"/>
            <a:chExt cx="1622" cy="1350"/>
          </a:xfrm>
        </p:grpSpPr>
        <p:sp>
          <p:nvSpPr>
            <p:cNvPr id="17" name="AutoShape 1056"/>
            <p:cNvSpPr>
              <a:spLocks noChangeArrowheads="1"/>
            </p:cNvSpPr>
            <p:nvPr/>
          </p:nvSpPr>
          <p:spPr bwMode="auto">
            <a:xfrm>
              <a:off x="4896" y="2935"/>
              <a:ext cx="1622" cy="135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8" name="Text Box 1057"/>
            <p:cNvSpPr txBox="1">
              <a:spLocks noChangeArrowheads="1"/>
            </p:cNvSpPr>
            <p:nvPr/>
          </p:nvSpPr>
          <p:spPr bwMode="auto">
            <a:xfrm>
              <a:off x="5044" y="3079"/>
              <a:ext cx="1330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BOLETÍN DE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PROBLEMAS</a:t>
              </a:r>
            </a:p>
          </p:txBody>
        </p:sp>
        <p:sp>
          <p:nvSpPr>
            <p:cNvPr id="19" name="Text Box 1058"/>
            <p:cNvSpPr txBox="1">
              <a:spLocks noChangeArrowheads="1"/>
            </p:cNvSpPr>
            <p:nvPr/>
          </p:nvSpPr>
          <p:spPr bwMode="auto">
            <a:xfrm>
              <a:off x="5498" y="3537"/>
              <a:ext cx="39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3333FF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</a:t>
              </a:r>
            </a:p>
          </p:txBody>
        </p:sp>
        <p:sp>
          <p:nvSpPr>
            <p:cNvPr id="20" name="Text Box 1062"/>
            <p:cNvSpPr txBox="1">
              <a:spLocks noChangeArrowheads="1"/>
            </p:cNvSpPr>
            <p:nvPr/>
          </p:nvSpPr>
          <p:spPr bwMode="auto">
            <a:xfrm>
              <a:off x="5267" y="3951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Moodle</a:t>
              </a:r>
            </a:p>
          </p:txBody>
        </p:sp>
      </p:grpSp>
      <p:sp>
        <p:nvSpPr>
          <p:cNvPr id="10" name="Text Box 65"/>
          <p:cNvSpPr txBox="1">
            <a:spLocks noChangeArrowheads="1"/>
          </p:cNvSpPr>
          <p:nvPr/>
        </p:nvSpPr>
        <p:spPr bwMode="auto">
          <a:xfrm>
            <a:off x="3197225" y="3929345"/>
            <a:ext cx="5149850" cy="58744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FÍSICA DEL ESTADO SÓLIDO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Rectangle 17"/>
          <p:cNvSpPr>
            <a:spLocks noChangeArrowheads="1"/>
          </p:cNvSpPr>
          <p:nvPr/>
        </p:nvSpPr>
        <p:spPr bwMode="auto">
          <a:xfrm>
            <a:off x="2201863" y="2837194"/>
            <a:ext cx="7897813" cy="76325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1" name="Rectangle 17"/>
          <p:cNvSpPr>
            <a:spLocks noChangeArrowheads="1"/>
          </p:cNvSpPr>
          <p:nvPr/>
        </p:nvSpPr>
        <p:spPr bwMode="auto">
          <a:xfrm>
            <a:off x="2197100" y="1819606"/>
            <a:ext cx="7897813" cy="8524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20"/>
          <p:cNvSpPr>
            <a:spLocks noChangeArrowheads="1"/>
          </p:cNvSpPr>
          <p:nvPr/>
        </p:nvSpPr>
        <p:spPr bwMode="auto">
          <a:xfrm>
            <a:off x="1470025" y="6478329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10"/>
          <p:cNvSpPr>
            <a:spLocks noChangeArrowheads="1"/>
          </p:cNvSpPr>
          <p:nvPr/>
        </p:nvSpPr>
        <p:spPr bwMode="auto">
          <a:xfrm>
            <a:off x="1465263" y="5808404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3" name="Rectangle 11"/>
          <p:cNvSpPr>
            <a:spLocks noChangeArrowheads="1"/>
          </p:cNvSpPr>
          <p:nvPr/>
        </p:nvSpPr>
        <p:spPr bwMode="auto">
          <a:xfrm>
            <a:off x="1465263" y="4833679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2"/>
          <p:cNvSpPr>
            <a:spLocks noChangeArrowheads="1"/>
          </p:cNvSpPr>
          <p:nvPr/>
        </p:nvSpPr>
        <p:spPr bwMode="auto">
          <a:xfrm>
            <a:off x="1460500" y="3868479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3"/>
          <p:cNvSpPr>
            <a:spLocks noChangeArrowheads="1"/>
          </p:cNvSpPr>
          <p:nvPr/>
        </p:nvSpPr>
        <p:spPr bwMode="auto">
          <a:xfrm>
            <a:off x="1460500" y="2865768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Rectangle 4"/>
          <p:cNvSpPr>
            <a:spLocks noChangeArrowheads="1"/>
          </p:cNvSpPr>
          <p:nvPr/>
        </p:nvSpPr>
        <p:spPr bwMode="auto">
          <a:xfrm>
            <a:off x="1476375" y="1895806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5"/>
          <p:cNvSpPr>
            <a:spLocks noChangeArrowheads="1"/>
          </p:cNvSpPr>
          <p:nvPr/>
        </p:nvSpPr>
        <p:spPr bwMode="auto">
          <a:xfrm>
            <a:off x="1509713" y="582422"/>
            <a:ext cx="5456166" cy="96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9: SEMICONDUCTORES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                Y DIODOS</a:t>
            </a:r>
          </a:p>
        </p:txBody>
      </p:sp>
      <p:sp>
        <p:nvSpPr>
          <p:cNvPr id="7178" name="Rectangle 6"/>
          <p:cNvSpPr>
            <a:spLocks noChangeArrowheads="1"/>
          </p:cNvSpPr>
          <p:nvPr/>
        </p:nvSpPr>
        <p:spPr bwMode="auto">
          <a:xfrm>
            <a:off x="1436688" y="1870406"/>
            <a:ext cx="708025" cy="5086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9.1.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9.2.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9.3.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9.4.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9.5.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9.6.</a:t>
            </a:r>
          </a:p>
        </p:txBody>
      </p:sp>
      <p:sp>
        <p:nvSpPr>
          <p:cNvPr id="7179" name="Rectangle 7"/>
          <p:cNvSpPr>
            <a:spLocks noChangeArrowheads="1"/>
          </p:cNvSpPr>
          <p:nvPr/>
        </p:nvSpPr>
        <p:spPr bwMode="auto">
          <a:xfrm>
            <a:off x="2185988" y="1859293"/>
            <a:ext cx="7969250" cy="5086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Niveles de Energía y Conductividad en Sólidos: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Conductores, Semiconductores y Aislantes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Tipos de Semiconductores: Ecuación de Neutralidad. Interés del Dopaje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Generación y Recombinación de Pares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Electrón-Hueco: Ley de Acción de Masas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Corrientes en un Semiconductor: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Corriente de Desplazamiento y Corriente de Difusión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Unión PN en equilibrio y polarizada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Curva Característica y Modelización de un Diodo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8578983" y="331968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T1: 18/12/24</a:t>
            </a:r>
          </a:p>
          <a:p>
            <a:pPr algn="r"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T2: 16/12/24</a:t>
            </a:r>
          </a:p>
          <a:p>
            <a:pPr algn="r"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T3: 17/12/24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0" grpId="0" animBg="1"/>
      <p:bldP spid="7181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1B6562D-6B72-F7CE-0725-B25CF62B265F}"/>
              </a:ext>
            </a:extLst>
          </p:cNvPr>
          <p:cNvSpPr/>
          <p:nvPr/>
        </p:nvSpPr>
        <p:spPr bwMode="auto">
          <a:xfrm>
            <a:off x="1522576" y="2372748"/>
            <a:ext cx="3863949" cy="249729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18800" rIns="91440" bIns="118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BA965152-6D6F-3E75-905A-B1388B652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444" y="396890"/>
            <a:ext cx="3344690" cy="44553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1316038" y="516955"/>
            <a:ext cx="90360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9.1 NIVELES DE ENERGÍA Y CONDUCTIVIDAD EN SÓLIDOS: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      CONDUCTORES, SEMICONDUCTORES Y AISLANTES</a:t>
            </a:r>
          </a:p>
        </p:txBody>
      </p:sp>
      <p:sp>
        <p:nvSpPr>
          <p:cNvPr id="867380" name="Text Box 52"/>
          <p:cNvSpPr txBox="1">
            <a:spLocks noChangeArrowheads="1"/>
          </p:cNvSpPr>
          <p:nvPr/>
        </p:nvSpPr>
        <p:spPr bwMode="auto">
          <a:xfrm>
            <a:off x="5592088" y="2181088"/>
            <a:ext cx="5126350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18800" rIns="108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Sólo puede tomar ciertos valores</a:t>
            </a: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denominados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niveles de energía</a:t>
            </a: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1800783" y="2464493"/>
            <a:ext cx="457200" cy="2239962"/>
            <a:chOff x="2493" y="2859"/>
            <a:chExt cx="288" cy="1411"/>
          </a:xfrm>
        </p:grpSpPr>
        <p:sp>
          <p:nvSpPr>
            <p:cNvPr id="9251" name="Line 53"/>
            <p:cNvSpPr>
              <a:spLocks noChangeShapeType="1"/>
            </p:cNvSpPr>
            <p:nvPr/>
          </p:nvSpPr>
          <p:spPr bwMode="auto">
            <a:xfrm flipV="1">
              <a:off x="2781" y="2878"/>
              <a:ext cx="0" cy="13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 sz="2400"/>
            </a:p>
          </p:txBody>
        </p:sp>
        <p:sp>
          <p:nvSpPr>
            <p:cNvPr id="9252" name="Text Box 54"/>
            <p:cNvSpPr txBox="1">
              <a:spLocks noChangeArrowheads="1"/>
            </p:cNvSpPr>
            <p:nvPr/>
          </p:nvSpPr>
          <p:spPr bwMode="auto">
            <a:xfrm>
              <a:off x="2493" y="2859"/>
              <a:ext cx="221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3" name="Group 82"/>
          <p:cNvGrpSpPr>
            <a:grpSpLocks/>
          </p:cNvGrpSpPr>
          <p:nvPr/>
        </p:nvGrpSpPr>
        <p:grpSpPr bwMode="auto">
          <a:xfrm>
            <a:off x="2454055" y="2841508"/>
            <a:ext cx="2760663" cy="1746250"/>
            <a:chOff x="2537" y="3063"/>
            <a:chExt cx="2140" cy="1100"/>
          </a:xfrm>
        </p:grpSpPr>
        <p:sp>
          <p:nvSpPr>
            <p:cNvPr id="9246" name="Line 55"/>
            <p:cNvSpPr>
              <a:spLocks noChangeShapeType="1"/>
            </p:cNvSpPr>
            <p:nvPr/>
          </p:nvSpPr>
          <p:spPr bwMode="auto">
            <a:xfrm>
              <a:off x="2537" y="41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247" name="Line 56"/>
            <p:cNvSpPr>
              <a:spLocks noChangeShapeType="1"/>
            </p:cNvSpPr>
            <p:nvPr/>
          </p:nvSpPr>
          <p:spPr bwMode="auto">
            <a:xfrm>
              <a:off x="2537" y="3735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248" name="Line 57"/>
            <p:cNvSpPr>
              <a:spLocks noChangeShapeType="1"/>
            </p:cNvSpPr>
            <p:nvPr/>
          </p:nvSpPr>
          <p:spPr bwMode="auto">
            <a:xfrm>
              <a:off x="2538" y="30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249" name="Line 58"/>
            <p:cNvSpPr>
              <a:spLocks noChangeShapeType="1"/>
            </p:cNvSpPr>
            <p:nvPr/>
          </p:nvSpPr>
          <p:spPr bwMode="auto">
            <a:xfrm>
              <a:off x="2538" y="3438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250" name="Line 59"/>
            <p:cNvSpPr>
              <a:spLocks noChangeShapeType="1"/>
            </p:cNvSpPr>
            <p:nvPr/>
          </p:nvSpPr>
          <p:spPr bwMode="auto">
            <a:xfrm>
              <a:off x="2538" y="3226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sp>
        <p:nvSpPr>
          <p:cNvPr id="867393" name="Text Box 65"/>
          <p:cNvSpPr txBox="1">
            <a:spLocks noChangeArrowheads="1"/>
          </p:cNvSpPr>
          <p:nvPr/>
        </p:nvSpPr>
        <p:spPr bwMode="auto">
          <a:xfrm>
            <a:off x="1506439" y="1306244"/>
            <a:ext cx="3890095" cy="95677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¿Energía de los electrones dentro de la materia?</a:t>
            </a:r>
          </a:p>
        </p:txBody>
      </p:sp>
      <p:sp>
        <p:nvSpPr>
          <p:cNvPr id="867394" name="Text Box 66"/>
          <p:cNvSpPr txBox="1">
            <a:spLocks noChangeArrowheads="1"/>
          </p:cNvSpPr>
          <p:nvPr/>
        </p:nvSpPr>
        <p:spPr bwMode="auto">
          <a:xfrm>
            <a:off x="7337333" y="1478665"/>
            <a:ext cx="1544626" cy="58744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ÁTOMOS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67395" name="Text Box 67"/>
          <p:cNvSpPr txBox="1">
            <a:spLocks noChangeArrowheads="1"/>
          </p:cNvSpPr>
          <p:nvPr/>
        </p:nvSpPr>
        <p:spPr bwMode="auto">
          <a:xfrm>
            <a:off x="1347721" y="5963556"/>
            <a:ext cx="9036049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Cada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nivel conlleva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ciertas formas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moverse el e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de orbitar,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en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torno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al núcleo, denominadas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orbitales atómicos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" name="Group 84"/>
          <p:cNvGrpSpPr>
            <a:grpSpLocks/>
          </p:cNvGrpSpPr>
          <p:nvPr/>
        </p:nvGrpSpPr>
        <p:grpSpPr bwMode="auto">
          <a:xfrm>
            <a:off x="1546009" y="3907679"/>
            <a:ext cx="582613" cy="676275"/>
            <a:chOff x="2366" y="3748"/>
            <a:chExt cx="367" cy="426"/>
          </a:xfrm>
        </p:grpSpPr>
        <p:sp>
          <p:nvSpPr>
            <p:cNvPr id="9244" name="Line 75"/>
            <p:cNvSpPr>
              <a:spLocks noChangeShapeType="1"/>
            </p:cNvSpPr>
            <p:nvPr/>
          </p:nvSpPr>
          <p:spPr bwMode="auto">
            <a:xfrm>
              <a:off x="2733" y="3748"/>
              <a:ext cx="0" cy="4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 sz="2400"/>
            </a:p>
          </p:txBody>
        </p:sp>
        <p:sp>
          <p:nvSpPr>
            <p:cNvPr id="9245" name="Text Box 76"/>
            <p:cNvSpPr txBox="1">
              <a:spLocks noChangeArrowheads="1"/>
            </p:cNvSpPr>
            <p:nvPr/>
          </p:nvSpPr>
          <p:spPr bwMode="auto">
            <a:xfrm>
              <a:off x="2366" y="3762"/>
              <a:ext cx="319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E</a:t>
              </a:r>
            </a:p>
          </p:txBody>
        </p:sp>
      </p:grpSp>
      <p:sp>
        <p:nvSpPr>
          <p:cNvPr id="867405" name="Text Box 77"/>
          <p:cNvSpPr txBox="1">
            <a:spLocks noChangeArrowheads="1"/>
          </p:cNvSpPr>
          <p:nvPr/>
        </p:nvSpPr>
        <p:spPr bwMode="auto">
          <a:xfrm>
            <a:off x="170465" y="3151519"/>
            <a:ext cx="1865996" cy="58744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 y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E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~ eV</a:t>
            </a:r>
          </a:p>
        </p:txBody>
      </p:sp>
      <p:sp>
        <p:nvSpPr>
          <p:cNvPr id="867409" name="Text Box 81"/>
          <p:cNvSpPr txBox="1">
            <a:spLocks noChangeArrowheads="1"/>
          </p:cNvSpPr>
          <p:nvPr/>
        </p:nvSpPr>
        <p:spPr bwMode="auto">
          <a:xfrm>
            <a:off x="5992571" y="3154974"/>
            <a:ext cx="4277186" cy="19431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216000" tIns="144000" rIns="216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En el interior </a:t>
            </a:r>
            <a:r>
              <a:rPr lang="es-ES" sz="2400" dirty="0">
                <a:latin typeface="Arial" panose="020B0604020202020204" pitchFamily="34" charset="0"/>
              </a:rPr>
              <a:t>de la materia la energía </a:t>
            </a:r>
            <a:r>
              <a:rPr lang="es-ES" sz="2400">
                <a:latin typeface="Arial" panose="020B0604020202020204" pitchFamily="34" charset="0"/>
              </a:rPr>
              <a:t>de una partícula </a:t>
            </a:r>
            <a:r>
              <a:rPr lang="es-ES" sz="2400" dirty="0">
                <a:latin typeface="Arial" panose="020B0604020202020204" pitchFamily="34" charset="0"/>
              </a:rPr>
              <a:t>es una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variable discreta</a:t>
            </a:r>
            <a:r>
              <a:rPr lang="es-ES" sz="2400">
                <a:latin typeface="Arial" panose="020B0604020202020204" pitchFamily="34" charset="0"/>
              </a:rPr>
              <a:t>, no es continua como lo es a nivel macroscópico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6BE87604-F1DD-4016-BDEB-C67B043FD6AC}"/>
              </a:ext>
            </a:extLst>
          </p:cNvPr>
          <p:cNvSpPr/>
          <p:nvPr/>
        </p:nvSpPr>
        <p:spPr bwMode="auto">
          <a:xfrm>
            <a:off x="5772150" y="1559656"/>
            <a:ext cx="1066800" cy="465210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18800" rIns="91440" bIns="118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" name="Text Box 52">
            <a:extLst>
              <a:ext uri="{FF2B5EF4-FFF2-40B4-BE49-F238E27FC236}">
                <a16:creationId xmlns:a16="http://schemas.microsoft.com/office/drawing/2014/main" id="{A32A0299-3889-BE23-AAA1-53A165181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6887" y="4072266"/>
            <a:ext cx="3115618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18800" rIns="108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nivel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energía</a:t>
            </a:r>
          </a:p>
        </p:txBody>
      </p:sp>
      <p:sp>
        <p:nvSpPr>
          <p:cNvPr id="9" name="Text Box 67">
            <a:extLst>
              <a:ext uri="{FF2B5EF4-FFF2-40B4-BE49-F238E27FC236}">
                <a16:creationId xmlns:a16="http://schemas.microsoft.com/office/drawing/2014/main" id="{372589C3-EE3E-5A52-1887-0EE3DA2F1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1326" y="5100293"/>
            <a:ext cx="8649100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(ocurre como con la alturas posibles en una escalera, las de los escalones. Y no como en una rampa, donde todas lo son)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7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7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67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7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6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6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6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86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867380" grpId="0"/>
      <p:bldP spid="867393" grpId="0" animBg="1"/>
      <p:bldP spid="867394" grpId="0" animBg="1"/>
      <p:bldP spid="867395" grpId="0"/>
      <p:bldP spid="867405" grpId="0" animBg="1"/>
      <p:bldP spid="867409" grpId="0" animBg="1"/>
      <p:bldP spid="5" grpId="0" animBg="1"/>
      <p:bldP spid="6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73321DA5-B3FC-4C6D-5EA0-8E5A2FC965CB}"/>
              </a:ext>
            </a:extLst>
          </p:cNvPr>
          <p:cNvSpPr/>
          <p:nvPr/>
        </p:nvSpPr>
        <p:spPr bwMode="auto">
          <a:xfrm>
            <a:off x="6343650" y="2405278"/>
            <a:ext cx="3692788" cy="2630233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18800" rIns="91440" bIns="118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6397595" y="2594810"/>
            <a:ext cx="457200" cy="2239962"/>
            <a:chOff x="2493" y="2859"/>
            <a:chExt cx="288" cy="1411"/>
          </a:xfrm>
        </p:grpSpPr>
        <p:sp>
          <p:nvSpPr>
            <p:cNvPr id="9251" name="Line 53"/>
            <p:cNvSpPr>
              <a:spLocks noChangeShapeType="1"/>
            </p:cNvSpPr>
            <p:nvPr/>
          </p:nvSpPr>
          <p:spPr bwMode="auto">
            <a:xfrm flipV="1">
              <a:off x="2781" y="2878"/>
              <a:ext cx="0" cy="13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 sz="2400"/>
            </a:p>
          </p:txBody>
        </p:sp>
        <p:sp>
          <p:nvSpPr>
            <p:cNvPr id="9252" name="Text Box 54"/>
            <p:cNvSpPr txBox="1">
              <a:spLocks noChangeArrowheads="1"/>
            </p:cNvSpPr>
            <p:nvPr/>
          </p:nvSpPr>
          <p:spPr bwMode="auto">
            <a:xfrm>
              <a:off x="2493" y="2859"/>
              <a:ext cx="221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3" name="Group 82"/>
          <p:cNvGrpSpPr>
            <a:grpSpLocks/>
          </p:cNvGrpSpPr>
          <p:nvPr/>
        </p:nvGrpSpPr>
        <p:grpSpPr bwMode="auto">
          <a:xfrm>
            <a:off x="7050867" y="2884275"/>
            <a:ext cx="2760663" cy="1746250"/>
            <a:chOff x="2537" y="3063"/>
            <a:chExt cx="2140" cy="1100"/>
          </a:xfrm>
        </p:grpSpPr>
        <p:sp>
          <p:nvSpPr>
            <p:cNvPr id="9246" name="Line 55"/>
            <p:cNvSpPr>
              <a:spLocks noChangeShapeType="1"/>
            </p:cNvSpPr>
            <p:nvPr/>
          </p:nvSpPr>
          <p:spPr bwMode="auto">
            <a:xfrm>
              <a:off x="2537" y="41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247" name="Line 56"/>
            <p:cNvSpPr>
              <a:spLocks noChangeShapeType="1"/>
            </p:cNvSpPr>
            <p:nvPr/>
          </p:nvSpPr>
          <p:spPr bwMode="auto">
            <a:xfrm>
              <a:off x="2537" y="3735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248" name="Line 57"/>
            <p:cNvSpPr>
              <a:spLocks noChangeShapeType="1"/>
            </p:cNvSpPr>
            <p:nvPr/>
          </p:nvSpPr>
          <p:spPr bwMode="auto">
            <a:xfrm>
              <a:off x="2538" y="30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249" name="Line 58"/>
            <p:cNvSpPr>
              <a:spLocks noChangeShapeType="1"/>
            </p:cNvSpPr>
            <p:nvPr/>
          </p:nvSpPr>
          <p:spPr bwMode="auto">
            <a:xfrm>
              <a:off x="2538" y="3438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250" name="Line 59"/>
            <p:cNvSpPr>
              <a:spLocks noChangeShapeType="1"/>
            </p:cNvSpPr>
            <p:nvPr/>
          </p:nvSpPr>
          <p:spPr bwMode="auto">
            <a:xfrm>
              <a:off x="2538" y="3226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sp>
        <p:nvSpPr>
          <p:cNvPr id="22" name="Text Box 69"/>
          <p:cNvSpPr txBox="1">
            <a:spLocks noChangeArrowheads="1"/>
          </p:cNvSpPr>
          <p:nvPr/>
        </p:nvSpPr>
        <p:spPr bwMode="auto">
          <a:xfrm>
            <a:off x="1467543" y="1257481"/>
            <a:ext cx="8764469" cy="609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Nº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 e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 cierta E = Nº de orb. con esa E  2 = 2, 6, 10, 14...</a:t>
            </a:r>
          </a:p>
        </p:txBody>
      </p:sp>
      <p:sp>
        <p:nvSpPr>
          <p:cNvPr id="23" name="Text Box 68"/>
          <p:cNvSpPr txBox="1">
            <a:spLocks noChangeArrowheads="1"/>
          </p:cNvSpPr>
          <p:nvPr/>
        </p:nvSpPr>
        <p:spPr bwMode="auto">
          <a:xfrm>
            <a:off x="1273240" y="1989496"/>
            <a:ext cx="4649193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Los electrones tienden a estar</a:t>
            </a: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en el nivel más bajo posible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4" name="Text Box 42"/>
          <p:cNvSpPr txBox="1">
            <a:spLocks noChangeArrowheads="1"/>
          </p:cNvSpPr>
          <p:nvPr/>
        </p:nvSpPr>
        <p:spPr bwMode="auto">
          <a:xfrm>
            <a:off x="1491401" y="3070282"/>
            <a:ext cx="3906921" cy="16954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/>
              <a:t>P.ej.: un </a:t>
            </a:r>
            <a:r>
              <a:rPr lang="es-ES" sz="2400" dirty="0">
                <a:solidFill>
                  <a:srgbClr val="3333FF"/>
                </a:solidFill>
              </a:rPr>
              <a:t>átomo </a:t>
            </a:r>
            <a:r>
              <a:rPr lang="es-ES" sz="2400">
                <a:solidFill>
                  <a:srgbClr val="3333FF"/>
                </a:solidFill>
              </a:rPr>
              <a:t>de Boro</a:t>
            </a:r>
            <a:r>
              <a:rPr lang="es-ES" sz="2400"/>
              <a:t>. Tiene 5 e</a:t>
            </a:r>
            <a:r>
              <a:rPr lang="es-ES" sz="2400" baseline="30000"/>
              <a:t>-</a:t>
            </a:r>
            <a:r>
              <a:rPr lang="es-ES" sz="2400"/>
              <a:t>. Los </a:t>
            </a:r>
            <a:r>
              <a:rPr lang="es-ES" sz="2400" dirty="0"/>
              <a:t>2 primeros niveles pueden </a:t>
            </a:r>
            <a:r>
              <a:rPr lang="es-ES" sz="2400"/>
              <a:t>tener 2 e</a:t>
            </a:r>
            <a:r>
              <a:rPr lang="es-ES" sz="2400" baseline="30000"/>
              <a:t>-   </a:t>
            </a:r>
            <a:r>
              <a:rPr lang="es-ES" sz="2400"/>
              <a:t>y el tercero 6</a:t>
            </a:r>
            <a:endParaRPr lang="es-ES" sz="2400" dirty="0"/>
          </a:p>
        </p:txBody>
      </p:sp>
      <p:sp>
        <p:nvSpPr>
          <p:cNvPr id="25" name="Oval 60"/>
          <p:cNvSpPr>
            <a:spLocks noChangeArrowheads="1"/>
          </p:cNvSpPr>
          <p:nvPr/>
        </p:nvSpPr>
        <p:spPr bwMode="auto">
          <a:xfrm>
            <a:off x="7377352" y="4542257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Oval 61"/>
          <p:cNvSpPr>
            <a:spLocks noChangeArrowheads="1"/>
          </p:cNvSpPr>
          <p:nvPr/>
        </p:nvSpPr>
        <p:spPr bwMode="auto">
          <a:xfrm>
            <a:off x="8966660" y="4531144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" name="Oval 62"/>
          <p:cNvSpPr>
            <a:spLocks noChangeArrowheads="1"/>
          </p:cNvSpPr>
          <p:nvPr/>
        </p:nvSpPr>
        <p:spPr bwMode="auto">
          <a:xfrm>
            <a:off x="7387626" y="3864341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8" name="Oval 63"/>
          <p:cNvSpPr>
            <a:spLocks noChangeArrowheads="1"/>
          </p:cNvSpPr>
          <p:nvPr/>
        </p:nvSpPr>
        <p:spPr bwMode="auto">
          <a:xfrm>
            <a:off x="8976934" y="3864341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Oval 64"/>
          <p:cNvSpPr>
            <a:spLocks noChangeArrowheads="1"/>
          </p:cNvSpPr>
          <p:nvPr/>
        </p:nvSpPr>
        <p:spPr bwMode="auto">
          <a:xfrm>
            <a:off x="7377352" y="3356566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30" name="Group 91"/>
          <p:cNvGrpSpPr>
            <a:grpSpLocks/>
          </p:cNvGrpSpPr>
          <p:nvPr/>
        </p:nvGrpSpPr>
        <p:grpSpPr bwMode="auto">
          <a:xfrm>
            <a:off x="7679860" y="2602510"/>
            <a:ext cx="2220913" cy="2189163"/>
            <a:chOff x="3418" y="2925"/>
            <a:chExt cx="1399" cy="1379"/>
          </a:xfrm>
        </p:grpSpPr>
        <p:sp>
          <p:nvSpPr>
            <p:cNvPr id="31" name="Text Box 85"/>
            <p:cNvSpPr txBox="1">
              <a:spLocks noChangeArrowheads="1"/>
            </p:cNvSpPr>
            <p:nvPr/>
          </p:nvSpPr>
          <p:spPr bwMode="auto">
            <a:xfrm>
              <a:off x="3554" y="4027"/>
              <a:ext cx="420" cy="2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54000" tIns="82800" rIns="54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32" name="Text Box 86"/>
            <p:cNvSpPr txBox="1">
              <a:spLocks noChangeArrowheads="1"/>
            </p:cNvSpPr>
            <p:nvPr/>
          </p:nvSpPr>
          <p:spPr bwMode="auto">
            <a:xfrm>
              <a:off x="3554" y="3595"/>
              <a:ext cx="420" cy="2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54000" tIns="82800" rIns="54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33" name="Text Box 87"/>
            <p:cNvSpPr txBox="1">
              <a:spLocks noChangeArrowheads="1"/>
            </p:cNvSpPr>
            <p:nvPr/>
          </p:nvSpPr>
          <p:spPr bwMode="auto">
            <a:xfrm>
              <a:off x="3418" y="3353"/>
              <a:ext cx="1399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0" tIns="36000" rIns="0" bIns="360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parcialmente lleno</a:t>
              </a:r>
            </a:p>
          </p:txBody>
        </p:sp>
        <p:sp>
          <p:nvSpPr>
            <p:cNvPr id="35" name="Text Box 89"/>
            <p:cNvSpPr txBox="1">
              <a:spLocks noChangeArrowheads="1"/>
            </p:cNvSpPr>
            <p:nvPr/>
          </p:nvSpPr>
          <p:spPr bwMode="auto">
            <a:xfrm>
              <a:off x="3535" y="2925"/>
              <a:ext cx="454" cy="2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54000" tIns="82800" rIns="54000" bIns="82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vacío</a:t>
              </a:r>
            </a:p>
          </p:txBody>
        </p:sp>
        <p:sp>
          <p:nvSpPr>
            <p:cNvPr id="34" name="Text Box 88"/>
            <p:cNvSpPr txBox="1">
              <a:spLocks noChangeArrowheads="1"/>
            </p:cNvSpPr>
            <p:nvPr/>
          </p:nvSpPr>
          <p:spPr bwMode="auto">
            <a:xfrm>
              <a:off x="3542" y="3152"/>
              <a:ext cx="454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54000" tIns="36000" rIns="54000" bIns="360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vacío</a:t>
              </a:r>
            </a:p>
          </p:txBody>
        </p:sp>
      </p:grpSp>
      <p:sp>
        <p:nvSpPr>
          <p:cNvPr id="36" name="Text Box 92"/>
          <p:cNvSpPr txBox="1">
            <a:spLocks noChangeArrowheads="1"/>
          </p:cNvSpPr>
          <p:nvPr/>
        </p:nvSpPr>
        <p:spPr bwMode="auto">
          <a:xfrm>
            <a:off x="1916560" y="5202079"/>
            <a:ext cx="8132869" cy="587441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Esquema de niveles o configuración electrónica del átomo</a:t>
            </a:r>
          </a:p>
        </p:txBody>
      </p:sp>
      <p:sp>
        <p:nvSpPr>
          <p:cNvPr id="7" name="Flecha a la derecha con bandas 6"/>
          <p:cNvSpPr/>
          <p:nvPr/>
        </p:nvSpPr>
        <p:spPr bwMode="auto">
          <a:xfrm>
            <a:off x="5666574" y="3619518"/>
            <a:ext cx="486576" cy="587441"/>
          </a:xfrm>
          <a:prstGeom prst="stripedRightArrow">
            <a:avLst>
              <a:gd name="adj1" fmla="val 50000"/>
              <a:gd name="adj2" fmla="val 58460"/>
            </a:avLst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18800" rIns="91440" bIns="118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1916561" y="5898938"/>
            <a:ext cx="8147286" cy="956773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Esta, la de menor E, corresponde </a:t>
            </a:r>
            <a:r>
              <a:rPr lang="es-ES" sz="2400" dirty="0">
                <a:solidFill>
                  <a:schemeClr val="tx1"/>
                </a:solidFill>
              </a:rPr>
              <a:t>al </a:t>
            </a:r>
            <a:r>
              <a:rPr lang="es-ES" sz="2400">
                <a:solidFill>
                  <a:srgbClr val="008000"/>
                </a:solidFill>
              </a:rPr>
              <a:t>estado fundamental</a:t>
            </a:r>
            <a:r>
              <a:rPr lang="es-ES" sz="2400">
                <a:solidFill>
                  <a:schemeClr val="tx1"/>
                </a:solidFill>
              </a:rPr>
              <a:t>, cualquier otra de mayor E, a un </a:t>
            </a:r>
            <a:r>
              <a:rPr lang="es-ES" sz="2400">
                <a:solidFill>
                  <a:srgbClr val="008000"/>
                </a:solidFill>
              </a:rPr>
              <a:t>estado excitado</a:t>
            </a:r>
            <a:endParaRPr lang="es-ES" sz="2400" baseline="30000" dirty="0">
              <a:solidFill>
                <a:srgbClr val="008000"/>
              </a:solidFill>
            </a:endParaRPr>
          </a:p>
        </p:txBody>
      </p:sp>
      <p:sp>
        <p:nvSpPr>
          <p:cNvPr id="12" name="Text Box 67">
            <a:extLst>
              <a:ext uri="{FF2B5EF4-FFF2-40B4-BE49-F238E27FC236}">
                <a16:creationId xmlns:a16="http://schemas.microsoft.com/office/drawing/2014/main" id="{25AD44B8-2C80-6B34-9149-CECFFDA4B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234" y="247973"/>
            <a:ext cx="7667282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Cada orbital se asocia 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 electrones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como máximo,</a:t>
            </a: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con un giro (“spin”) en sentido contrario </a:t>
            </a:r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75F51CB0-B6C1-0E84-2F92-987BDBC58FE8}"/>
              </a:ext>
            </a:extLst>
          </p:cNvPr>
          <p:cNvSpPr/>
          <p:nvPr/>
        </p:nvSpPr>
        <p:spPr bwMode="auto">
          <a:xfrm>
            <a:off x="10144125" y="3695700"/>
            <a:ext cx="428773" cy="1628775"/>
          </a:xfrm>
          <a:custGeom>
            <a:avLst/>
            <a:gdLst>
              <a:gd name="connsiteX0" fmla="*/ 38100 w 428773"/>
              <a:gd name="connsiteY0" fmla="*/ 0 h 1628775"/>
              <a:gd name="connsiteX1" fmla="*/ 428625 w 428773"/>
              <a:gd name="connsiteY1" fmla="*/ 857250 h 1628775"/>
              <a:gd name="connsiteX2" fmla="*/ 0 w 428773"/>
              <a:gd name="connsiteY2" fmla="*/ 1628775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773" h="1628775">
                <a:moveTo>
                  <a:pt x="38100" y="0"/>
                </a:moveTo>
                <a:cubicBezTo>
                  <a:pt x="236537" y="292894"/>
                  <a:pt x="434975" y="585788"/>
                  <a:pt x="428625" y="857250"/>
                </a:cubicBezTo>
                <a:cubicBezTo>
                  <a:pt x="422275" y="1128712"/>
                  <a:pt x="211137" y="1378743"/>
                  <a:pt x="0" y="1628775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118800" rIns="91440" bIns="118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667E3D2-F462-51F4-C4AA-6A376D04E67E}"/>
              </a:ext>
            </a:extLst>
          </p:cNvPr>
          <p:cNvCxnSpPr/>
          <p:nvPr/>
        </p:nvCxnSpPr>
        <p:spPr bwMode="auto">
          <a:xfrm>
            <a:off x="10172700" y="2405278"/>
            <a:ext cx="0" cy="2630233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0651754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2" grpId="0" animBg="1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6" grpId="0" animBg="1"/>
      <p:bldP spid="7" grpId="0" animBg="1"/>
      <p:bldP spid="38" grpId="0" animBg="1"/>
      <p:bldP spid="12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409" name="Text Box 81"/>
          <p:cNvSpPr txBox="1">
            <a:spLocks noChangeArrowheads="1"/>
          </p:cNvSpPr>
          <p:nvPr/>
        </p:nvSpPr>
        <p:spPr bwMode="auto">
          <a:xfrm>
            <a:off x="1519251" y="397618"/>
            <a:ext cx="8438232" cy="9567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Para que un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e</a:t>
            </a:r>
            <a:r>
              <a:rPr lang="es-ES" sz="2400" baseline="30000">
                <a:solidFill>
                  <a:srgbClr val="008000"/>
                </a:solidFill>
                <a:latin typeface="Arial" panose="020B0604020202020204" pitchFamily="34" charset="0"/>
              </a:rPr>
              <a:t>-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 gane energía</a:t>
            </a:r>
            <a:r>
              <a:rPr lang="es-ES" sz="2400">
                <a:latin typeface="Arial" panose="020B0604020202020204" pitchFamily="34" charset="0"/>
              </a:rPr>
              <a:t>, para que la gane el átomo en que está, y pase a un estado excitado, debe ocurrir que:</a:t>
            </a:r>
          </a:p>
        </p:txBody>
      </p:sp>
      <p:grpSp>
        <p:nvGrpSpPr>
          <p:cNvPr id="11281" name="Group 83"/>
          <p:cNvGrpSpPr>
            <a:grpSpLocks/>
          </p:cNvGrpSpPr>
          <p:nvPr/>
        </p:nvGrpSpPr>
        <p:grpSpPr bwMode="auto">
          <a:xfrm>
            <a:off x="1778589" y="1839313"/>
            <a:ext cx="457200" cy="2239963"/>
            <a:chOff x="2493" y="2859"/>
            <a:chExt cx="288" cy="1411"/>
          </a:xfrm>
        </p:grpSpPr>
        <p:sp>
          <p:nvSpPr>
            <p:cNvPr id="11301" name="Line 53"/>
            <p:cNvSpPr>
              <a:spLocks noChangeShapeType="1"/>
            </p:cNvSpPr>
            <p:nvPr/>
          </p:nvSpPr>
          <p:spPr bwMode="auto">
            <a:xfrm flipV="1">
              <a:off x="2781" y="2878"/>
              <a:ext cx="0" cy="13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302" name="Text Box 54"/>
            <p:cNvSpPr txBox="1">
              <a:spLocks noChangeArrowheads="1"/>
            </p:cNvSpPr>
            <p:nvPr/>
          </p:nvSpPr>
          <p:spPr bwMode="auto">
            <a:xfrm>
              <a:off x="2493" y="2859"/>
              <a:ext cx="221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11282" name="Group 82"/>
          <p:cNvGrpSpPr>
            <a:grpSpLocks/>
          </p:cNvGrpSpPr>
          <p:nvPr/>
        </p:nvGrpSpPr>
        <p:grpSpPr bwMode="auto">
          <a:xfrm>
            <a:off x="2485027" y="2163163"/>
            <a:ext cx="2760662" cy="1746250"/>
            <a:chOff x="2537" y="3063"/>
            <a:chExt cx="2140" cy="1100"/>
          </a:xfrm>
        </p:grpSpPr>
        <p:sp>
          <p:nvSpPr>
            <p:cNvPr id="11296" name="Line 55"/>
            <p:cNvSpPr>
              <a:spLocks noChangeShapeType="1"/>
            </p:cNvSpPr>
            <p:nvPr/>
          </p:nvSpPr>
          <p:spPr bwMode="auto">
            <a:xfrm>
              <a:off x="2537" y="41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297" name="Line 56"/>
            <p:cNvSpPr>
              <a:spLocks noChangeShapeType="1"/>
            </p:cNvSpPr>
            <p:nvPr/>
          </p:nvSpPr>
          <p:spPr bwMode="auto">
            <a:xfrm>
              <a:off x="2537" y="3735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298" name="Line 57"/>
            <p:cNvSpPr>
              <a:spLocks noChangeShapeType="1"/>
            </p:cNvSpPr>
            <p:nvPr/>
          </p:nvSpPr>
          <p:spPr bwMode="auto">
            <a:xfrm>
              <a:off x="2538" y="30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299" name="Line 58"/>
            <p:cNvSpPr>
              <a:spLocks noChangeShapeType="1"/>
            </p:cNvSpPr>
            <p:nvPr/>
          </p:nvSpPr>
          <p:spPr bwMode="auto">
            <a:xfrm>
              <a:off x="2538" y="3438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300" name="Line 59"/>
            <p:cNvSpPr>
              <a:spLocks noChangeShapeType="1"/>
            </p:cNvSpPr>
            <p:nvPr/>
          </p:nvSpPr>
          <p:spPr bwMode="auto">
            <a:xfrm>
              <a:off x="2538" y="3226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sp>
        <p:nvSpPr>
          <p:cNvPr id="11283" name="Oval 60"/>
          <p:cNvSpPr>
            <a:spLocks noChangeArrowheads="1"/>
          </p:cNvSpPr>
          <p:nvPr/>
        </p:nvSpPr>
        <p:spPr bwMode="auto">
          <a:xfrm>
            <a:off x="2948577" y="3823688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84" name="Oval 61"/>
          <p:cNvSpPr>
            <a:spLocks noChangeArrowheads="1"/>
          </p:cNvSpPr>
          <p:nvPr/>
        </p:nvSpPr>
        <p:spPr bwMode="auto">
          <a:xfrm>
            <a:off x="4569414" y="3812576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85" name="Oval 62"/>
          <p:cNvSpPr>
            <a:spLocks noChangeArrowheads="1"/>
          </p:cNvSpPr>
          <p:nvPr/>
        </p:nvSpPr>
        <p:spPr bwMode="auto">
          <a:xfrm>
            <a:off x="2948577" y="3134713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86" name="Oval 63"/>
          <p:cNvSpPr>
            <a:spLocks noChangeArrowheads="1"/>
          </p:cNvSpPr>
          <p:nvPr/>
        </p:nvSpPr>
        <p:spPr bwMode="auto">
          <a:xfrm>
            <a:off x="4569414" y="3134713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1288" name="Group 84"/>
          <p:cNvGrpSpPr>
            <a:grpSpLocks/>
          </p:cNvGrpSpPr>
          <p:nvPr/>
        </p:nvGrpSpPr>
        <p:grpSpPr bwMode="auto">
          <a:xfrm>
            <a:off x="1488077" y="3250601"/>
            <a:ext cx="523875" cy="676275"/>
            <a:chOff x="2310" y="3748"/>
            <a:chExt cx="330" cy="426"/>
          </a:xfrm>
        </p:grpSpPr>
        <p:sp>
          <p:nvSpPr>
            <p:cNvPr id="11294" name="Line 75"/>
            <p:cNvSpPr>
              <a:spLocks noChangeShapeType="1"/>
            </p:cNvSpPr>
            <p:nvPr/>
          </p:nvSpPr>
          <p:spPr bwMode="auto">
            <a:xfrm>
              <a:off x="2640" y="3748"/>
              <a:ext cx="0" cy="4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295" name="Text Box 76"/>
            <p:cNvSpPr txBox="1">
              <a:spLocks noChangeArrowheads="1"/>
            </p:cNvSpPr>
            <p:nvPr/>
          </p:nvSpPr>
          <p:spPr bwMode="auto">
            <a:xfrm>
              <a:off x="2310" y="3783"/>
              <a:ext cx="319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E</a:t>
              </a:r>
            </a:p>
          </p:txBody>
        </p:sp>
      </p:grpSp>
      <p:sp>
        <p:nvSpPr>
          <p:cNvPr id="40" name="Oval 64"/>
          <p:cNvSpPr>
            <a:spLocks noChangeArrowheads="1"/>
          </p:cNvSpPr>
          <p:nvPr/>
        </p:nvSpPr>
        <p:spPr bwMode="auto">
          <a:xfrm>
            <a:off x="2962972" y="2630816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2770631" y="2026638"/>
            <a:ext cx="414110" cy="1319455"/>
            <a:chOff x="5295021" y="975186"/>
            <a:chExt cx="414110" cy="1319455"/>
          </a:xfrm>
        </p:grpSpPr>
        <p:sp>
          <p:nvSpPr>
            <p:cNvPr id="11289" name="Oval 64"/>
            <p:cNvSpPr>
              <a:spLocks noChangeArrowheads="1"/>
            </p:cNvSpPr>
            <p:nvPr/>
          </p:nvSpPr>
          <p:spPr bwMode="auto">
            <a:xfrm>
              <a:off x="5493231" y="975186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90" name="Line 45"/>
            <p:cNvSpPr>
              <a:spLocks noChangeShapeType="1"/>
            </p:cNvSpPr>
            <p:nvPr/>
          </p:nvSpPr>
          <p:spPr bwMode="auto">
            <a:xfrm flipV="1">
              <a:off x="5295021" y="1115886"/>
              <a:ext cx="0" cy="105182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11287" name="Oval 64"/>
            <p:cNvSpPr>
              <a:spLocks noChangeArrowheads="1"/>
            </p:cNvSpPr>
            <p:nvPr/>
          </p:nvSpPr>
          <p:spPr bwMode="auto">
            <a:xfrm>
              <a:off x="5471349" y="207874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Text Box 42">
            <a:extLst>
              <a:ext uri="{FF2B5EF4-FFF2-40B4-BE49-F238E27FC236}">
                <a16:creationId xmlns:a16="http://schemas.microsoft.com/office/drawing/2014/main" id="{44EF80BC-F68B-47F8-AB36-0D1A28F59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51" y="5370759"/>
            <a:ext cx="8796322" cy="1695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</p:spPr>
        <p:txBody>
          <a:bodyPr wrap="square" lIns="180000" tIns="108000" rIns="18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En un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micro</a:t>
            </a:r>
            <a:r>
              <a:rPr lang="es-ES" sz="2400" b="1" dirty="0">
                <a:solidFill>
                  <a:schemeClr val="tx1"/>
                </a:solidFill>
              </a:rPr>
              <a:t>ondas</a:t>
            </a:r>
            <a:r>
              <a:rPr lang="es-ES" sz="2400" dirty="0">
                <a:solidFill>
                  <a:schemeClr val="tx1"/>
                </a:solidFill>
              </a:rPr>
              <a:t>, las moléculas de agua </a:t>
            </a:r>
            <a:r>
              <a:rPr lang="es-ES" sz="2400">
                <a:solidFill>
                  <a:schemeClr val="tx1"/>
                </a:solidFill>
              </a:rPr>
              <a:t>absorben </a:t>
            </a:r>
            <a:r>
              <a:rPr lang="es-ES" sz="2400">
                <a:solidFill>
                  <a:srgbClr val="FF0000"/>
                </a:solidFill>
              </a:rPr>
              <a:t>selectivamente</a:t>
            </a:r>
            <a:r>
              <a:rPr lang="es-ES" sz="2400">
                <a:solidFill>
                  <a:schemeClr val="tx1"/>
                </a:solidFill>
              </a:rPr>
              <a:t> OEM en el rango de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es-ES" sz="2400">
                <a:solidFill>
                  <a:schemeClr val="tx1"/>
                </a:solidFill>
              </a:rPr>
              <a:t>ondas (GHz),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porque </a:t>
            </a:r>
            <a:r>
              <a:rPr lang="es-ES" sz="2400" dirty="0">
                <a:solidFill>
                  <a:schemeClr val="tx1"/>
                </a:solidFill>
              </a:rPr>
              <a:t>tienen </a:t>
            </a:r>
            <a:r>
              <a:rPr lang="es-ES" sz="2400">
                <a:solidFill>
                  <a:schemeClr val="tx1"/>
                </a:solidFill>
              </a:rPr>
              <a:t>la E de </a:t>
            </a:r>
            <a:r>
              <a:rPr lang="es-ES" sz="2400" dirty="0">
                <a:solidFill>
                  <a:schemeClr val="tx1"/>
                </a:solidFill>
              </a:rPr>
              <a:t>un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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 a nivel</a:t>
            </a:r>
            <a:r>
              <a:rPr lang="es-ES" sz="2400">
                <a:solidFill>
                  <a:schemeClr val="tx1"/>
                </a:solidFill>
              </a:rPr>
              <a:t> molecular. La energía </a:t>
            </a:r>
            <a:r>
              <a:rPr lang="es-ES" sz="2400" dirty="0">
                <a:solidFill>
                  <a:schemeClr val="tx1"/>
                </a:solidFill>
              </a:rPr>
              <a:t>se </a:t>
            </a:r>
            <a:r>
              <a:rPr lang="es-ES" sz="2400">
                <a:solidFill>
                  <a:schemeClr val="tx1"/>
                </a:solidFill>
              </a:rPr>
              <a:t>devuelve al </a:t>
            </a:r>
            <a:r>
              <a:rPr lang="es-ES" sz="2400" dirty="0">
                <a:solidFill>
                  <a:schemeClr val="tx1"/>
                </a:solidFill>
              </a:rPr>
              <a:t>entorno </a:t>
            </a:r>
            <a:r>
              <a:rPr lang="es-ES" sz="2400">
                <a:solidFill>
                  <a:schemeClr val="tx1"/>
                </a:solidFill>
              </a:rPr>
              <a:t>provocando un aumento de temperatura</a:t>
            </a:r>
            <a:endParaRPr lang="es-ES" sz="2400" baseline="30000" dirty="0">
              <a:solidFill>
                <a:schemeClr val="tx1"/>
              </a:solidFill>
            </a:endParaRPr>
          </a:p>
        </p:txBody>
      </p:sp>
      <p:sp>
        <p:nvSpPr>
          <p:cNvPr id="4" name="Text Box 81">
            <a:extLst>
              <a:ext uri="{FF2B5EF4-FFF2-40B4-BE49-F238E27FC236}">
                <a16:creationId xmlns:a16="http://schemas.microsoft.com/office/drawing/2014/main" id="{C7DCA7F6-53FC-F052-DCDB-6803EA4D9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5824" y="1482623"/>
            <a:ext cx="4671603" cy="1326105"/>
          </a:xfrm>
          <a:prstGeom prst="rect">
            <a:avLst/>
          </a:prstGeom>
          <a:noFill/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El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 gane la E que le falta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para alcanzar otro nivel de E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posible, que este permitido</a:t>
            </a:r>
          </a:p>
        </p:txBody>
      </p:sp>
      <p:sp>
        <p:nvSpPr>
          <p:cNvPr id="5" name="Text Box 81">
            <a:extLst>
              <a:ext uri="{FF2B5EF4-FFF2-40B4-BE49-F238E27FC236}">
                <a16:creationId xmlns:a16="http://schemas.microsoft.com/office/drawing/2014/main" id="{8691E1C4-A7C6-9B2F-10FE-75C030ACD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8048" y="2794834"/>
            <a:ext cx="4679382" cy="587441"/>
          </a:xfrm>
          <a:prstGeom prst="rect">
            <a:avLst/>
          </a:prstGeom>
          <a:noFill/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Ese nivel no debe estar lleno</a:t>
            </a:r>
          </a:p>
        </p:txBody>
      </p:sp>
      <p:sp>
        <p:nvSpPr>
          <p:cNvPr id="6" name="Text Box 81">
            <a:extLst>
              <a:ext uri="{FF2B5EF4-FFF2-40B4-BE49-F238E27FC236}">
                <a16:creationId xmlns:a16="http://schemas.microsoft.com/office/drawing/2014/main" id="{11E9EE2F-0F87-B57B-E924-6B249C86D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628" y="3368381"/>
            <a:ext cx="5008993" cy="956773"/>
          </a:xfrm>
          <a:prstGeom prst="rect">
            <a:avLst/>
          </a:prstGeom>
          <a:noFill/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- </a:t>
            </a:r>
            <a:r>
              <a:rPr lang="es-ES" sz="2400">
                <a:latin typeface="Arial" panose="020B0604020202020204" pitchFamily="34" charset="0"/>
              </a:rPr>
              <a:t>Si la energía es menor, no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la toma para pasar a ese nivel</a:t>
            </a:r>
          </a:p>
        </p:txBody>
      </p:sp>
      <p:sp>
        <p:nvSpPr>
          <p:cNvPr id="2" name="Text Box 81">
            <a:extLst>
              <a:ext uri="{FF2B5EF4-FFF2-40B4-BE49-F238E27FC236}">
                <a16:creationId xmlns:a16="http://schemas.microsoft.com/office/drawing/2014/main" id="{F4CF2931-890A-BBFC-D1EA-288080436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2837" y="4331911"/>
            <a:ext cx="6484774" cy="956773"/>
          </a:xfrm>
          <a:prstGeom prst="rect">
            <a:avLst/>
          </a:prstGeom>
          <a:noFill/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- </a:t>
            </a:r>
            <a:r>
              <a:rPr lang="es-ES" sz="2400">
                <a:latin typeface="Arial" panose="020B0604020202020204" pitchFamily="34" charset="0"/>
              </a:rPr>
              <a:t>Si </a:t>
            </a:r>
            <a:r>
              <a:rPr lang="es-ES" sz="2400" dirty="0">
                <a:latin typeface="Arial" panose="020B0604020202020204" pitchFamily="34" charset="0"/>
              </a:rPr>
              <a:t>es mayor</a:t>
            </a:r>
            <a:r>
              <a:rPr lang="es-ES" sz="2400">
                <a:latin typeface="Arial" panose="020B0604020202020204" pitchFamily="34" charset="0"/>
              </a:rPr>
              <a:t>, debe poder ceder el exceso;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si no, no la toma para pasar a ese nivel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3626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6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7409" grpId="0" animBg="1"/>
      <p:bldP spid="28" grpId="0" animBg="1"/>
      <p:bldP spid="4" grpId="0" animBg="1"/>
      <p:bldP spid="5" grpId="0" animBg="1"/>
      <p:bldP spid="6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409" name="Text Box 81"/>
          <p:cNvSpPr txBox="1">
            <a:spLocks noChangeArrowheads="1"/>
          </p:cNvSpPr>
          <p:nvPr/>
        </p:nvSpPr>
        <p:spPr bwMode="auto">
          <a:xfrm>
            <a:off x="1519251" y="397618"/>
            <a:ext cx="8438232" cy="9567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Para que un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e</a:t>
            </a:r>
            <a:r>
              <a:rPr lang="es-ES" sz="2400" baseline="30000">
                <a:solidFill>
                  <a:srgbClr val="008000"/>
                </a:solidFill>
                <a:latin typeface="Arial" panose="020B0604020202020204" pitchFamily="34" charset="0"/>
              </a:rPr>
              <a:t>-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 gane energía</a:t>
            </a:r>
            <a:r>
              <a:rPr lang="es-ES" sz="2400">
                <a:latin typeface="Arial" panose="020B0604020202020204" pitchFamily="34" charset="0"/>
              </a:rPr>
              <a:t>, para que la gane el átomo en que está, y pase a un estado excitado, debe ocurrir que:</a:t>
            </a:r>
          </a:p>
        </p:txBody>
      </p:sp>
      <p:grpSp>
        <p:nvGrpSpPr>
          <p:cNvPr id="11281" name="Group 83"/>
          <p:cNvGrpSpPr>
            <a:grpSpLocks/>
          </p:cNvGrpSpPr>
          <p:nvPr/>
        </p:nvGrpSpPr>
        <p:grpSpPr bwMode="auto">
          <a:xfrm>
            <a:off x="1778589" y="1839313"/>
            <a:ext cx="457200" cy="2239963"/>
            <a:chOff x="2493" y="2859"/>
            <a:chExt cx="288" cy="1411"/>
          </a:xfrm>
        </p:grpSpPr>
        <p:sp>
          <p:nvSpPr>
            <p:cNvPr id="11301" name="Line 53"/>
            <p:cNvSpPr>
              <a:spLocks noChangeShapeType="1"/>
            </p:cNvSpPr>
            <p:nvPr/>
          </p:nvSpPr>
          <p:spPr bwMode="auto">
            <a:xfrm flipV="1">
              <a:off x="2781" y="2878"/>
              <a:ext cx="0" cy="13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302" name="Text Box 54"/>
            <p:cNvSpPr txBox="1">
              <a:spLocks noChangeArrowheads="1"/>
            </p:cNvSpPr>
            <p:nvPr/>
          </p:nvSpPr>
          <p:spPr bwMode="auto">
            <a:xfrm>
              <a:off x="2493" y="2859"/>
              <a:ext cx="221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11282" name="Group 82"/>
          <p:cNvGrpSpPr>
            <a:grpSpLocks/>
          </p:cNvGrpSpPr>
          <p:nvPr/>
        </p:nvGrpSpPr>
        <p:grpSpPr bwMode="auto">
          <a:xfrm>
            <a:off x="2485027" y="2163163"/>
            <a:ext cx="2760662" cy="1746250"/>
            <a:chOff x="2537" y="3063"/>
            <a:chExt cx="2140" cy="1100"/>
          </a:xfrm>
        </p:grpSpPr>
        <p:sp>
          <p:nvSpPr>
            <p:cNvPr id="11296" name="Line 55"/>
            <p:cNvSpPr>
              <a:spLocks noChangeShapeType="1"/>
            </p:cNvSpPr>
            <p:nvPr/>
          </p:nvSpPr>
          <p:spPr bwMode="auto">
            <a:xfrm>
              <a:off x="2537" y="41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297" name="Line 56"/>
            <p:cNvSpPr>
              <a:spLocks noChangeShapeType="1"/>
            </p:cNvSpPr>
            <p:nvPr/>
          </p:nvSpPr>
          <p:spPr bwMode="auto">
            <a:xfrm>
              <a:off x="2537" y="3735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298" name="Line 57"/>
            <p:cNvSpPr>
              <a:spLocks noChangeShapeType="1"/>
            </p:cNvSpPr>
            <p:nvPr/>
          </p:nvSpPr>
          <p:spPr bwMode="auto">
            <a:xfrm>
              <a:off x="2538" y="30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299" name="Line 58"/>
            <p:cNvSpPr>
              <a:spLocks noChangeShapeType="1"/>
            </p:cNvSpPr>
            <p:nvPr/>
          </p:nvSpPr>
          <p:spPr bwMode="auto">
            <a:xfrm>
              <a:off x="2538" y="3438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300" name="Line 59"/>
            <p:cNvSpPr>
              <a:spLocks noChangeShapeType="1"/>
            </p:cNvSpPr>
            <p:nvPr/>
          </p:nvSpPr>
          <p:spPr bwMode="auto">
            <a:xfrm>
              <a:off x="2538" y="3226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sp>
        <p:nvSpPr>
          <p:cNvPr id="11283" name="Oval 60"/>
          <p:cNvSpPr>
            <a:spLocks noChangeArrowheads="1"/>
          </p:cNvSpPr>
          <p:nvPr/>
        </p:nvSpPr>
        <p:spPr bwMode="auto">
          <a:xfrm>
            <a:off x="2948577" y="3823688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84" name="Oval 61"/>
          <p:cNvSpPr>
            <a:spLocks noChangeArrowheads="1"/>
          </p:cNvSpPr>
          <p:nvPr/>
        </p:nvSpPr>
        <p:spPr bwMode="auto">
          <a:xfrm>
            <a:off x="4569414" y="3812576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85" name="Oval 62"/>
          <p:cNvSpPr>
            <a:spLocks noChangeArrowheads="1"/>
          </p:cNvSpPr>
          <p:nvPr/>
        </p:nvSpPr>
        <p:spPr bwMode="auto">
          <a:xfrm>
            <a:off x="2948577" y="3134713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86" name="Oval 63"/>
          <p:cNvSpPr>
            <a:spLocks noChangeArrowheads="1"/>
          </p:cNvSpPr>
          <p:nvPr/>
        </p:nvSpPr>
        <p:spPr bwMode="auto">
          <a:xfrm>
            <a:off x="4569414" y="3134713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1288" name="Group 84"/>
          <p:cNvGrpSpPr>
            <a:grpSpLocks/>
          </p:cNvGrpSpPr>
          <p:nvPr/>
        </p:nvGrpSpPr>
        <p:grpSpPr bwMode="auto">
          <a:xfrm>
            <a:off x="1488077" y="3250601"/>
            <a:ext cx="523875" cy="676275"/>
            <a:chOff x="2310" y="3748"/>
            <a:chExt cx="330" cy="426"/>
          </a:xfrm>
        </p:grpSpPr>
        <p:sp>
          <p:nvSpPr>
            <p:cNvPr id="11294" name="Line 75"/>
            <p:cNvSpPr>
              <a:spLocks noChangeShapeType="1"/>
            </p:cNvSpPr>
            <p:nvPr/>
          </p:nvSpPr>
          <p:spPr bwMode="auto">
            <a:xfrm>
              <a:off x="2640" y="3748"/>
              <a:ext cx="0" cy="4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295" name="Text Box 76"/>
            <p:cNvSpPr txBox="1">
              <a:spLocks noChangeArrowheads="1"/>
            </p:cNvSpPr>
            <p:nvPr/>
          </p:nvSpPr>
          <p:spPr bwMode="auto">
            <a:xfrm>
              <a:off x="2310" y="3783"/>
              <a:ext cx="319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E</a:t>
              </a:r>
            </a:p>
          </p:txBody>
        </p:sp>
      </p:grpSp>
      <p:sp>
        <p:nvSpPr>
          <p:cNvPr id="40" name="Oval 64"/>
          <p:cNvSpPr>
            <a:spLocks noChangeArrowheads="1"/>
          </p:cNvSpPr>
          <p:nvPr/>
        </p:nvSpPr>
        <p:spPr bwMode="auto">
          <a:xfrm>
            <a:off x="2962972" y="2630816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2770631" y="2026638"/>
            <a:ext cx="414110" cy="1319455"/>
            <a:chOff x="5295021" y="975186"/>
            <a:chExt cx="414110" cy="1319455"/>
          </a:xfrm>
        </p:grpSpPr>
        <p:sp>
          <p:nvSpPr>
            <p:cNvPr id="11289" name="Oval 64"/>
            <p:cNvSpPr>
              <a:spLocks noChangeArrowheads="1"/>
            </p:cNvSpPr>
            <p:nvPr/>
          </p:nvSpPr>
          <p:spPr bwMode="auto">
            <a:xfrm>
              <a:off x="5493231" y="975186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90" name="Line 45"/>
            <p:cNvSpPr>
              <a:spLocks noChangeShapeType="1"/>
            </p:cNvSpPr>
            <p:nvPr/>
          </p:nvSpPr>
          <p:spPr bwMode="auto">
            <a:xfrm flipV="1">
              <a:off x="5295021" y="1115886"/>
              <a:ext cx="0" cy="105182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11287" name="Oval 64"/>
            <p:cNvSpPr>
              <a:spLocks noChangeArrowheads="1"/>
            </p:cNvSpPr>
            <p:nvPr/>
          </p:nvSpPr>
          <p:spPr bwMode="auto">
            <a:xfrm>
              <a:off x="5471349" y="207874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" name="Text Box 81">
            <a:extLst>
              <a:ext uri="{FF2B5EF4-FFF2-40B4-BE49-F238E27FC236}">
                <a16:creationId xmlns:a16="http://schemas.microsoft.com/office/drawing/2014/main" id="{C7DCA7F6-53FC-F052-DCDB-6803EA4D9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5824" y="1482623"/>
            <a:ext cx="4671603" cy="1326105"/>
          </a:xfrm>
          <a:prstGeom prst="rect">
            <a:avLst/>
          </a:prstGeom>
          <a:noFill/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El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 gane la E que le falta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para alcanzar otro nivel de E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posible, que este permitido</a:t>
            </a:r>
          </a:p>
        </p:txBody>
      </p:sp>
      <p:sp>
        <p:nvSpPr>
          <p:cNvPr id="5" name="Text Box 81">
            <a:extLst>
              <a:ext uri="{FF2B5EF4-FFF2-40B4-BE49-F238E27FC236}">
                <a16:creationId xmlns:a16="http://schemas.microsoft.com/office/drawing/2014/main" id="{8691E1C4-A7C6-9B2F-10FE-75C030ACD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8048" y="2794834"/>
            <a:ext cx="4679382" cy="587441"/>
          </a:xfrm>
          <a:prstGeom prst="rect">
            <a:avLst/>
          </a:prstGeom>
          <a:noFill/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Ese nivel no debe estar lleno</a:t>
            </a:r>
          </a:p>
        </p:txBody>
      </p:sp>
      <p:sp>
        <p:nvSpPr>
          <p:cNvPr id="6" name="Text Box 81">
            <a:extLst>
              <a:ext uri="{FF2B5EF4-FFF2-40B4-BE49-F238E27FC236}">
                <a16:creationId xmlns:a16="http://schemas.microsoft.com/office/drawing/2014/main" id="{11E9EE2F-0F87-B57B-E924-6B249C86D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628" y="3368381"/>
            <a:ext cx="5008993" cy="956773"/>
          </a:xfrm>
          <a:prstGeom prst="rect">
            <a:avLst/>
          </a:prstGeom>
          <a:noFill/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- </a:t>
            </a:r>
            <a:r>
              <a:rPr lang="es-ES" sz="2400">
                <a:latin typeface="Arial" panose="020B0604020202020204" pitchFamily="34" charset="0"/>
              </a:rPr>
              <a:t>Si la energía es menor, no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la toma para pasar a ese nivel</a:t>
            </a:r>
          </a:p>
        </p:txBody>
      </p:sp>
      <p:sp>
        <p:nvSpPr>
          <p:cNvPr id="7" name="Text Box 81">
            <a:extLst>
              <a:ext uri="{FF2B5EF4-FFF2-40B4-BE49-F238E27FC236}">
                <a16:creationId xmlns:a16="http://schemas.microsoft.com/office/drawing/2014/main" id="{61D26191-8418-8EC2-6642-CEA1ADD62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2837" y="4331911"/>
            <a:ext cx="6484774" cy="956773"/>
          </a:xfrm>
          <a:prstGeom prst="rect">
            <a:avLst/>
          </a:prstGeom>
          <a:noFill/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- </a:t>
            </a:r>
            <a:r>
              <a:rPr lang="es-ES" sz="2400">
                <a:latin typeface="Arial" panose="020B0604020202020204" pitchFamily="34" charset="0"/>
              </a:rPr>
              <a:t>Si </a:t>
            </a:r>
            <a:r>
              <a:rPr lang="es-ES" sz="2400" dirty="0">
                <a:latin typeface="Arial" panose="020B0604020202020204" pitchFamily="34" charset="0"/>
              </a:rPr>
              <a:t>es mayor</a:t>
            </a:r>
            <a:r>
              <a:rPr lang="es-ES" sz="2400">
                <a:latin typeface="Arial" panose="020B0604020202020204" pitchFamily="34" charset="0"/>
              </a:rPr>
              <a:t>, debe poder ceder el exceso;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si no, no la toma para pasar a ese nivel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" name="Text Box 42">
            <a:extLst>
              <a:ext uri="{FF2B5EF4-FFF2-40B4-BE49-F238E27FC236}">
                <a16:creationId xmlns:a16="http://schemas.microsoft.com/office/drawing/2014/main" id="{2F1DB8E4-EFAE-2A33-4313-288E385D4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122" y="5408859"/>
            <a:ext cx="8305797" cy="1695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</p:spPr>
        <p:txBody>
          <a:bodyPr wrap="square" lIns="180000" tIns="108000" rIns="18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Con un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móvil</a:t>
            </a:r>
            <a:r>
              <a:rPr lang="es-ES" sz="2400">
                <a:solidFill>
                  <a:schemeClr val="tx1"/>
                </a:solidFill>
              </a:rPr>
              <a:t>, que emite esas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es-ES" sz="2400">
                <a:solidFill>
                  <a:schemeClr val="tx1"/>
                </a:solidFill>
              </a:rPr>
              <a:t>ondas, sucede lo mismo, y nuestro cerebro y ojos se calientan. Por ello, se fija una tasa de absorción específica (</a:t>
            </a:r>
            <a:r>
              <a:rPr lang="es-ES" sz="2400" b="1">
                <a:solidFill>
                  <a:srgbClr val="FF0000"/>
                </a:solidFill>
              </a:rPr>
              <a:t>S</a:t>
            </a:r>
            <a:r>
              <a:rPr lang="es-ES" sz="2400">
                <a:solidFill>
                  <a:schemeClr val="tx1"/>
                </a:solidFill>
              </a:rPr>
              <a:t>pecific </a:t>
            </a:r>
            <a:r>
              <a:rPr lang="es-ES" sz="2400" b="1">
                <a:solidFill>
                  <a:srgbClr val="FF0000"/>
                </a:solidFill>
              </a:rPr>
              <a:t>A</a:t>
            </a:r>
            <a:r>
              <a:rPr lang="es-ES" sz="2400">
                <a:solidFill>
                  <a:schemeClr val="tx1"/>
                </a:solidFill>
              </a:rPr>
              <a:t>bsortion </a:t>
            </a:r>
            <a:r>
              <a:rPr lang="es-ES" sz="2400" b="1">
                <a:solidFill>
                  <a:srgbClr val="FF0000"/>
                </a:solidFill>
              </a:rPr>
              <a:t>R</a:t>
            </a:r>
            <a:r>
              <a:rPr lang="es-ES" sz="2400">
                <a:solidFill>
                  <a:schemeClr val="tx1"/>
                </a:solidFill>
              </a:rPr>
              <a:t>ate), en W/kg, a no superar, para garantizar que la sangre refrigere</a:t>
            </a:r>
            <a:endParaRPr lang="es-ES" sz="2400" baseline="30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6682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81" name="Group 83"/>
          <p:cNvGrpSpPr>
            <a:grpSpLocks/>
          </p:cNvGrpSpPr>
          <p:nvPr/>
        </p:nvGrpSpPr>
        <p:grpSpPr bwMode="auto">
          <a:xfrm>
            <a:off x="3680118" y="3293178"/>
            <a:ext cx="457200" cy="2239963"/>
            <a:chOff x="2493" y="2859"/>
            <a:chExt cx="288" cy="1411"/>
          </a:xfrm>
        </p:grpSpPr>
        <p:sp>
          <p:nvSpPr>
            <p:cNvPr id="11301" name="Line 53"/>
            <p:cNvSpPr>
              <a:spLocks noChangeShapeType="1"/>
            </p:cNvSpPr>
            <p:nvPr/>
          </p:nvSpPr>
          <p:spPr bwMode="auto">
            <a:xfrm flipV="1">
              <a:off x="2781" y="2878"/>
              <a:ext cx="0" cy="13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302" name="Text Box 54"/>
            <p:cNvSpPr txBox="1">
              <a:spLocks noChangeArrowheads="1"/>
            </p:cNvSpPr>
            <p:nvPr/>
          </p:nvSpPr>
          <p:spPr bwMode="auto">
            <a:xfrm>
              <a:off x="2493" y="2859"/>
              <a:ext cx="221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11282" name="Group 82"/>
          <p:cNvGrpSpPr>
            <a:grpSpLocks/>
          </p:cNvGrpSpPr>
          <p:nvPr/>
        </p:nvGrpSpPr>
        <p:grpSpPr bwMode="auto">
          <a:xfrm>
            <a:off x="4386556" y="3617028"/>
            <a:ext cx="2760662" cy="1746250"/>
            <a:chOff x="2537" y="3063"/>
            <a:chExt cx="2140" cy="1100"/>
          </a:xfrm>
        </p:grpSpPr>
        <p:sp>
          <p:nvSpPr>
            <p:cNvPr id="11296" name="Line 55"/>
            <p:cNvSpPr>
              <a:spLocks noChangeShapeType="1"/>
            </p:cNvSpPr>
            <p:nvPr/>
          </p:nvSpPr>
          <p:spPr bwMode="auto">
            <a:xfrm>
              <a:off x="2537" y="41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297" name="Line 56"/>
            <p:cNvSpPr>
              <a:spLocks noChangeShapeType="1"/>
            </p:cNvSpPr>
            <p:nvPr/>
          </p:nvSpPr>
          <p:spPr bwMode="auto">
            <a:xfrm>
              <a:off x="2537" y="3735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298" name="Line 57"/>
            <p:cNvSpPr>
              <a:spLocks noChangeShapeType="1"/>
            </p:cNvSpPr>
            <p:nvPr/>
          </p:nvSpPr>
          <p:spPr bwMode="auto">
            <a:xfrm>
              <a:off x="2538" y="30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299" name="Line 58"/>
            <p:cNvSpPr>
              <a:spLocks noChangeShapeType="1"/>
            </p:cNvSpPr>
            <p:nvPr/>
          </p:nvSpPr>
          <p:spPr bwMode="auto">
            <a:xfrm>
              <a:off x="2538" y="3438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300" name="Line 59"/>
            <p:cNvSpPr>
              <a:spLocks noChangeShapeType="1"/>
            </p:cNvSpPr>
            <p:nvPr/>
          </p:nvSpPr>
          <p:spPr bwMode="auto">
            <a:xfrm>
              <a:off x="2538" y="3226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sp>
        <p:nvSpPr>
          <p:cNvPr id="11283" name="Oval 60"/>
          <p:cNvSpPr>
            <a:spLocks noChangeArrowheads="1"/>
          </p:cNvSpPr>
          <p:nvPr/>
        </p:nvSpPr>
        <p:spPr bwMode="auto">
          <a:xfrm>
            <a:off x="4850106" y="5277553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84" name="Oval 61"/>
          <p:cNvSpPr>
            <a:spLocks noChangeArrowheads="1"/>
          </p:cNvSpPr>
          <p:nvPr/>
        </p:nvSpPr>
        <p:spPr bwMode="auto">
          <a:xfrm>
            <a:off x="6470943" y="5266441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85" name="Oval 62"/>
          <p:cNvSpPr>
            <a:spLocks noChangeArrowheads="1"/>
          </p:cNvSpPr>
          <p:nvPr/>
        </p:nvSpPr>
        <p:spPr bwMode="auto">
          <a:xfrm>
            <a:off x="4850106" y="4588578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86" name="Oval 63"/>
          <p:cNvSpPr>
            <a:spLocks noChangeArrowheads="1"/>
          </p:cNvSpPr>
          <p:nvPr/>
        </p:nvSpPr>
        <p:spPr bwMode="auto">
          <a:xfrm>
            <a:off x="6470943" y="4588578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1288" name="Group 84"/>
          <p:cNvGrpSpPr>
            <a:grpSpLocks/>
          </p:cNvGrpSpPr>
          <p:nvPr/>
        </p:nvGrpSpPr>
        <p:grpSpPr bwMode="auto">
          <a:xfrm>
            <a:off x="3389606" y="4704466"/>
            <a:ext cx="523875" cy="676275"/>
            <a:chOff x="2310" y="3748"/>
            <a:chExt cx="330" cy="426"/>
          </a:xfrm>
        </p:grpSpPr>
        <p:sp>
          <p:nvSpPr>
            <p:cNvPr id="11294" name="Line 75"/>
            <p:cNvSpPr>
              <a:spLocks noChangeShapeType="1"/>
            </p:cNvSpPr>
            <p:nvPr/>
          </p:nvSpPr>
          <p:spPr bwMode="auto">
            <a:xfrm>
              <a:off x="2640" y="3748"/>
              <a:ext cx="0" cy="4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1295" name="Text Box 76"/>
            <p:cNvSpPr txBox="1">
              <a:spLocks noChangeArrowheads="1"/>
            </p:cNvSpPr>
            <p:nvPr/>
          </p:nvSpPr>
          <p:spPr bwMode="auto">
            <a:xfrm>
              <a:off x="2310" y="3783"/>
              <a:ext cx="319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E</a:t>
              </a:r>
            </a:p>
          </p:txBody>
        </p:sp>
      </p:grpSp>
      <p:sp>
        <p:nvSpPr>
          <p:cNvPr id="39" name="Text Box 81"/>
          <p:cNvSpPr txBox="1">
            <a:spLocks noChangeArrowheads="1"/>
          </p:cNvSpPr>
          <p:nvPr/>
        </p:nvSpPr>
        <p:spPr bwMode="auto">
          <a:xfrm>
            <a:off x="1622628" y="486630"/>
            <a:ext cx="8305800" cy="9567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e-, el átomo, devuelve la energía</a:t>
            </a:r>
            <a:r>
              <a:rPr lang="es-ES" sz="2400">
                <a:latin typeface="Arial" panose="020B0604020202020204" pitchFamily="34" charset="0"/>
              </a:rPr>
              <a:t> en algún momento posterior, porque se tiende 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minimizar la E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</a:rPr>
              <a:t>POTENCIAL</a:t>
            </a:r>
            <a:endParaRPr lang="es-ES" sz="24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40" name="Oval 64"/>
          <p:cNvSpPr>
            <a:spLocks noChangeArrowheads="1"/>
          </p:cNvSpPr>
          <p:nvPr/>
        </p:nvSpPr>
        <p:spPr bwMode="auto">
          <a:xfrm>
            <a:off x="4864501" y="4084681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4848489" y="3480503"/>
            <a:ext cx="237780" cy="1319455"/>
            <a:chOff x="5371960" y="975186"/>
            <a:chExt cx="237780" cy="1319455"/>
          </a:xfrm>
        </p:grpSpPr>
        <p:sp>
          <p:nvSpPr>
            <p:cNvPr id="11289" name="Oval 64"/>
            <p:cNvSpPr>
              <a:spLocks noChangeArrowheads="1"/>
            </p:cNvSpPr>
            <p:nvPr/>
          </p:nvSpPr>
          <p:spPr bwMode="auto">
            <a:xfrm>
              <a:off x="5393840" y="975186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87" name="Oval 64"/>
            <p:cNvSpPr>
              <a:spLocks noChangeArrowheads="1"/>
            </p:cNvSpPr>
            <p:nvPr/>
          </p:nvSpPr>
          <p:spPr bwMode="auto">
            <a:xfrm>
              <a:off x="5371960" y="207874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4662120" y="3483659"/>
            <a:ext cx="418051" cy="1299238"/>
            <a:chOff x="5727218" y="978342"/>
            <a:chExt cx="418051" cy="1299238"/>
          </a:xfrm>
        </p:grpSpPr>
        <p:sp>
          <p:nvSpPr>
            <p:cNvPr id="11291" name="Line 46"/>
            <p:cNvSpPr>
              <a:spLocks noChangeShapeType="1"/>
            </p:cNvSpPr>
            <p:nvPr/>
          </p:nvSpPr>
          <p:spPr bwMode="auto">
            <a:xfrm>
              <a:off x="5727218" y="1126473"/>
              <a:ext cx="0" cy="105182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46" name="Oval 62"/>
            <p:cNvSpPr>
              <a:spLocks noChangeArrowheads="1"/>
            </p:cNvSpPr>
            <p:nvPr/>
          </p:nvSpPr>
          <p:spPr bwMode="auto">
            <a:xfrm>
              <a:off x="5916667" y="2061680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Oval 64"/>
            <p:cNvSpPr>
              <a:spLocks noChangeArrowheads="1"/>
            </p:cNvSpPr>
            <p:nvPr/>
          </p:nvSpPr>
          <p:spPr bwMode="auto">
            <a:xfrm>
              <a:off x="5929369" y="978342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Text Box 81">
            <a:extLst>
              <a:ext uri="{FF2B5EF4-FFF2-40B4-BE49-F238E27FC236}">
                <a16:creationId xmlns:a16="http://schemas.microsoft.com/office/drawing/2014/main" id="{6AF988EA-7BA7-839D-6202-C7F65F0F1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841" y="1694894"/>
            <a:ext cx="7488000" cy="9567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vuelve directamente, la devuelve de una vez.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Y se habla de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transición directa</a:t>
            </a:r>
          </a:p>
        </p:txBody>
      </p:sp>
    </p:spTree>
    <p:extLst>
      <p:ext uri="{BB962C8B-B14F-4D97-AF65-F5344CB8AC3E}">
        <p14:creationId xmlns:p14="http://schemas.microsoft.com/office/powerpoint/2010/main" val="31611767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81"/>
          <p:cNvSpPr txBox="1">
            <a:spLocks noChangeArrowheads="1"/>
          </p:cNvSpPr>
          <p:nvPr/>
        </p:nvSpPr>
        <p:spPr bwMode="auto">
          <a:xfrm>
            <a:off x="1622628" y="486630"/>
            <a:ext cx="8305800" cy="9567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e-, el átomo, devuelve la energía</a:t>
            </a:r>
            <a:r>
              <a:rPr lang="es-ES" sz="2400">
                <a:latin typeface="Arial" panose="020B0604020202020204" pitchFamily="34" charset="0"/>
              </a:rPr>
              <a:t> en algún momento posterior, porque se tiende 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minimizar la E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</a:rPr>
              <a:t>POTENCIAL</a:t>
            </a:r>
            <a:endParaRPr lang="es-ES" sz="24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Box 81">
            <a:extLst>
              <a:ext uri="{FF2B5EF4-FFF2-40B4-BE49-F238E27FC236}">
                <a16:creationId xmlns:a16="http://schemas.microsoft.com/office/drawing/2014/main" id="{6AF988EA-7BA7-839D-6202-C7F65F0F1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845" y="1694894"/>
            <a:ext cx="7488000" cy="9567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pasa por otros niveles, la devuelve en fracciones. Y se habla de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transición en cascada</a:t>
            </a:r>
          </a:p>
        </p:txBody>
      </p:sp>
      <p:grpSp>
        <p:nvGrpSpPr>
          <p:cNvPr id="6" name="Group 83">
            <a:extLst>
              <a:ext uri="{FF2B5EF4-FFF2-40B4-BE49-F238E27FC236}">
                <a16:creationId xmlns:a16="http://schemas.microsoft.com/office/drawing/2014/main" id="{A403612D-11CF-CEE0-FD30-715EF6E8303B}"/>
              </a:ext>
            </a:extLst>
          </p:cNvPr>
          <p:cNvGrpSpPr>
            <a:grpSpLocks/>
          </p:cNvGrpSpPr>
          <p:nvPr/>
        </p:nvGrpSpPr>
        <p:grpSpPr bwMode="auto">
          <a:xfrm>
            <a:off x="3680123" y="3293179"/>
            <a:ext cx="457200" cy="2239963"/>
            <a:chOff x="2493" y="2859"/>
            <a:chExt cx="288" cy="1411"/>
          </a:xfrm>
        </p:grpSpPr>
        <p:sp>
          <p:nvSpPr>
            <p:cNvPr id="7" name="Line 53">
              <a:extLst>
                <a:ext uri="{FF2B5EF4-FFF2-40B4-BE49-F238E27FC236}">
                  <a16:creationId xmlns:a16="http://schemas.microsoft.com/office/drawing/2014/main" id="{1682D6D3-5664-3926-EC7F-702C4D249E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1" y="2878"/>
              <a:ext cx="0" cy="13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8" name="Text Box 54">
              <a:extLst>
                <a:ext uri="{FF2B5EF4-FFF2-40B4-BE49-F238E27FC236}">
                  <a16:creationId xmlns:a16="http://schemas.microsoft.com/office/drawing/2014/main" id="{4ECF784F-7CE7-CEC7-F481-D33BBCAC9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3" y="2859"/>
              <a:ext cx="221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9" name="Group 82">
            <a:extLst>
              <a:ext uri="{FF2B5EF4-FFF2-40B4-BE49-F238E27FC236}">
                <a16:creationId xmlns:a16="http://schemas.microsoft.com/office/drawing/2014/main" id="{C602B22D-66D0-0481-DF43-D07178F20723}"/>
              </a:ext>
            </a:extLst>
          </p:cNvPr>
          <p:cNvGrpSpPr>
            <a:grpSpLocks/>
          </p:cNvGrpSpPr>
          <p:nvPr/>
        </p:nvGrpSpPr>
        <p:grpSpPr bwMode="auto">
          <a:xfrm>
            <a:off x="4376170" y="3617029"/>
            <a:ext cx="2760662" cy="1746250"/>
            <a:chOff x="2537" y="3063"/>
            <a:chExt cx="2140" cy="1100"/>
          </a:xfrm>
        </p:grpSpPr>
        <p:sp>
          <p:nvSpPr>
            <p:cNvPr id="11" name="Line 55">
              <a:extLst>
                <a:ext uri="{FF2B5EF4-FFF2-40B4-BE49-F238E27FC236}">
                  <a16:creationId xmlns:a16="http://schemas.microsoft.com/office/drawing/2014/main" id="{F376992A-1666-1030-B963-ECFE0CEED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41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2" name="Line 56">
              <a:extLst>
                <a:ext uri="{FF2B5EF4-FFF2-40B4-BE49-F238E27FC236}">
                  <a16:creationId xmlns:a16="http://schemas.microsoft.com/office/drawing/2014/main" id="{5540C44C-BD38-62C7-FC05-FFB9160CE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3735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3" name="Line 57">
              <a:extLst>
                <a:ext uri="{FF2B5EF4-FFF2-40B4-BE49-F238E27FC236}">
                  <a16:creationId xmlns:a16="http://schemas.microsoft.com/office/drawing/2014/main" id="{7CB6EB69-D565-4F49-0831-34F9DF628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30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4" name="Line 58">
              <a:extLst>
                <a:ext uri="{FF2B5EF4-FFF2-40B4-BE49-F238E27FC236}">
                  <a16:creationId xmlns:a16="http://schemas.microsoft.com/office/drawing/2014/main" id="{51E321F1-4FC9-62BC-39BB-CF67ECC63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3438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5" name="Line 59">
              <a:extLst>
                <a:ext uri="{FF2B5EF4-FFF2-40B4-BE49-F238E27FC236}">
                  <a16:creationId xmlns:a16="http://schemas.microsoft.com/office/drawing/2014/main" id="{F03C244D-612E-A2DD-EA0A-85B071D2B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3226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sp>
        <p:nvSpPr>
          <p:cNvPr id="16" name="Oval 60">
            <a:extLst>
              <a:ext uri="{FF2B5EF4-FFF2-40B4-BE49-F238E27FC236}">
                <a16:creationId xmlns:a16="http://schemas.microsoft.com/office/drawing/2014/main" id="{E239972A-4289-FB6B-596F-8D9251377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111" y="5277554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Oval 61">
            <a:extLst>
              <a:ext uri="{FF2B5EF4-FFF2-40B4-BE49-F238E27FC236}">
                <a16:creationId xmlns:a16="http://schemas.microsoft.com/office/drawing/2014/main" id="{F0F70EEB-1ACE-F9BC-D5BE-058D96273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948" y="5266442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Oval 62">
            <a:extLst>
              <a:ext uri="{FF2B5EF4-FFF2-40B4-BE49-F238E27FC236}">
                <a16:creationId xmlns:a16="http://schemas.microsoft.com/office/drawing/2014/main" id="{DE3E7F7F-3D51-0FC1-1B3F-1C508113D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111" y="4588579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" name="Oval 63">
            <a:extLst>
              <a:ext uri="{FF2B5EF4-FFF2-40B4-BE49-F238E27FC236}">
                <a16:creationId xmlns:a16="http://schemas.microsoft.com/office/drawing/2014/main" id="{55860F39-A71A-075A-2ABC-943233E86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948" y="4588579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0" name="Group 84">
            <a:extLst>
              <a:ext uri="{FF2B5EF4-FFF2-40B4-BE49-F238E27FC236}">
                <a16:creationId xmlns:a16="http://schemas.microsoft.com/office/drawing/2014/main" id="{A3DC9549-F4CB-A672-C498-68485670405D}"/>
              </a:ext>
            </a:extLst>
          </p:cNvPr>
          <p:cNvGrpSpPr>
            <a:grpSpLocks/>
          </p:cNvGrpSpPr>
          <p:nvPr/>
        </p:nvGrpSpPr>
        <p:grpSpPr bwMode="auto">
          <a:xfrm>
            <a:off x="3389611" y="4704467"/>
            <a:ext cx="523875" cy="676275"/>
            <a:chOff x="2310" y="3748"/>
            <a:chExt cx="330" cy="426"/>
          </a:xfrm>
        </p:grpSpPr>
        <p:sp>
          <p:nvSpPr>
            <p:cNvPr id="21" name="Line 75">
              <a:extLst>
                <a:ext uri="{FF2B5EF4-FFF2-40B4-BE49-F238E27FC236}">
                  <a16:creationId xmlns:a16="http://schemas.microsoft.com/office/drawing/2014/main" id="{0EA81C6C-7565-BD44-2A1E-B9CA23F1C7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748"/>
              <a:ext cx="0" cy="4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2" name="Text Box 76">
              <a:extLst>
                <a:ext uri="{FF2B5EF4-FFF2-40B4-BE49-F238E27FC236}">
                  <a16:creationId xmlns:a16="http://schemas.microsoft.com/office/drawing/2014/main" id="{AE7B1439-2B98-6FF4-C67C-C2D8353A3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0" y="3783"/>
              <a:ext cx="319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E</a:t>
              </a:r>
            </a:p>
          </p:txBody>
        </p:sp>
      </p:grpSp>
      <p:sp>
        <p:nvSpPr>
          <p:cNvPr id="25" name="Oval 64">
            <a:extLst>
              <a:ext uri="{FF2B5EF4-FFF2-40B4-BE49-F238E27FC236}">
                <a16:creationId xmlns:a16="http://schemas.microsoft.com/office/drawing/2014/main" id="{39E2A5C1-441F-9492-3FB1-FCA9CFD0B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506" y="4084682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C362BF2-1D2B-AD04-9949-FCF21A980BB4}"/>
              </a:ext>
            </a:extLst>
          </p:cNvPr>
          <p:cNvGrpSpPr/>
          <p:nvPr/>
        </p:nvGrpSpPr>
        <p:grpSpPr>
          <a:xfrm>
            <a:off x="4848494" y="3480504"/>
            <a:ext cx="237780" cy="1319455"/>
            <a:chOff x="5371960" y="975186"/>
            <a:chExt cx="237780" cy="1319455"/>
          </a:xfrm>
        </p:grpSpPr>
        <p:sp>
          <p:nvSpPr>
            <p:cNvPr id="27" name="Oval 64">
              <a:extLst>
                <a:ext uri="{FF2B5EF4-FFF2-40B4-BE49-F238E27FC236}">
                  <a16:creationId xmlns:a16="http://schemas.microsoft.com/office/drawing/2014/main" id="{68EE93F1-FCDF-03DC-75E9-0F16A0550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3840" y="975186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Oval 64">
              <a:extLst>
                <a:ext uri="{FF2B5EF4-FFF2-40B4-BE49-F238E27FC236}">
                  <a16:creationId xmlns:a16="http://schemas.microsoft.com/office/drawing/2014/main" id="{EB3C9DA4-EEDF-F02A-B391-0CC261302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1960" y="207874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5ADA09-86E6-8B75-B1FB-C075A1D7CB45}"/>
              </a:ext>
            </a:extLst>
          </p:cNvPr>
          <p:cNvGrpSpPr/>
          <p:nvPr/>
        </p:nvGrpSpPr>
        <p:grpSpPr>
          <a:xfrm>
            <a:off x="4665297" y="3493585"/>
            <a:ext cx="412545" cy="476688"/>
            <a:chOff x="6322048" y="988267"/>
            <a:chExt cx="412545" cy="476688"/>
          </a:xfrm>
        </p:grpSpPr>
        <p:sp>
          <p:nvSpPr>
            <p:cNvPr id="30" name="Line 47">
              <a:extLst>
                <a:ext uri="{FF2B5EF4-FFF2-40B4-BE49-F238E27FC236}">
                  <a16:creationId xmlns:a16="http://schemas.microsoft.com/office/drawing/2014/main" id="{5CCDD864-4BA9-391A-AE81-C01FBFD7B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2048" y="1106949"/>
              <a:ext cx="0" cy="24288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31" name="Oval 64">
              <a:extLst>
                <a:ext uri="{FF2B5EF4-FFF2-40B4-BE49-F238E27FC236}">
                  <a16:creationId xmlns:a16="http://schemas.microsoft.com/office/drawing/2014/main" id="{E9D4A85D-F0C5-E536-BE62-A8E0C6311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8693" y="988267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Oval 62">
              <a:extLst>
                <a:ext uri="{FF2B5EF4-FFF2-40B4-BE49-F238E27FC236}">
                  <a16:creationId xmlns:a16="http://schemas.microsoft.com/office/drawing/2014/main" id="{23849E0D-07FE-B393-4F88-BD9DC8E65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8520" y="1249055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C6013C69-07B2-02CA-2B3D-4A9D433B918B}"/>
              </a:ext>
            </a:extLst>
          </p:cNvPr>
          <p:cNvGrpSpPr/>
          <p:nvPr/>
        </p:nvGrpSpPr>
        <p:grpSpPr>
          <a:xfrm>
            <a:off x="4667543" y="3747619"/>
            <a:ext cx="405422" cy="1033376"/>
            <a:chOff x="6910701" y="1242301"/>
            <a:chExt cx="405422" cy="1033376"/>
          </a:xfrm>
        </p:grpSpPr>
        <p:sp>
          <p:nvSpPr>
            <p:cNvPr id="34" name="Line 48">
              <a:extLst>
                <a:ext uri="{FF2B5EF4-FFF2-40B4-BE49-F238E27FC236}">
                  <a16:creationId xmlns:a16="http://schemas.microsoft.com/office/drawing/2014/main" id="{A7E93A3B-D834-62C1-2359-476C43B46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0701" y="1379368"/>
              <a:ext cx="0" cy="83175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35" name="Oval 64">
              <a:extLst>
                <a:ext uri="{FF2B5EF4-FFF2-40B4-BE49-F238E27FC236}">
                  <a16:creationId xmlns:a16="http://schemas.microsoft.com/office/drawing/2014/main" id="{4435F61F-41A6-16E4-C42D-0F3920981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0223" y="124230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Oval 62">
              <a:extLst>
                <a:ext uri="{FF2B5EF4-FFF2-40B4-BE49-F238E27FC236}">
                  <a16:creationId xmlns:a16="http://schemas.microsoft.com/office/drawing/2014/main" id="{A1943741-6250-D982-0C1C-672AA4048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9350" y="2059777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84590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1968758" y="5765813"/>
            <a:ext cx="7595112" cy="132610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Lo 1º pasa, dos veces, en un </a:t>
            </a:r>
            <a:r>
              <a:rPr lang="es-ES" sz="2400">
                <a:solidFill>
                  <a:srgbClr val="3333FF"/>
                </a:solidFill>
              </a:rPr>
              <a:t>fluorescente</a:t>
            </a:r>
            <a:r>
              <a:rPr lang="es-ES" sz="2400">
                <a:solidFill>
                  <a:schemeClr val="tx1"/>
                </a:solidFill>
              </a:rPr>
              <a:t>, una directa en el tubo (UV) y otra en cascada en su pared (visible)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y lo 2º, p.ej., en un </a:t>
            </a:r>
            <a:r>
              <a:rPr lang="es-ES" sz="2400">
                <a:solidFill>
                  <a:srgbClr val="3333FF"/>
                </a:solidFill>
              </a:rPr>
              <a:t>reloj</a:t>
            </a:r>
            <a:r>
              <a:rPr lang="es-ES" sz="2400">
                <a:solidFill>
                  <a:schemeClr val="tx1"/>
                </a:solidFill>
              </a:rPr>
              <a:t> que se ve a oscuras</a:t>
            </a:r>
            <a:endParaRPr lang="es-ES" sz="2400" baseline="30000">
              <a:solidFill>
                <a:schemeClr val="tx1"/>
              </a:solidFill>
            </a:endParaRPr>
          </a:p>
        </p:txBody>
      </p:sp>
      <p:grpSp>
        <p:nvGrpSpPr>
          <p:cNvPr id="2" name="Group 83">
            <a:extLst>
              <a:ext uri="{FF2B5EF4-FFF2-40B4-BE49-F238E27FC236}">
                <a16:creationId xmlns:a16="http://schemas.microsoft.com/office/drawing/2014/main" id="{8B7DFA76-0059-E5BC-11C7-3E440CA7900B}"/>
              </a:ext>
            </a:extLst>
          </p:cNvPr>
          <p:cNvGrpSpPr>
            <a:grpSpLocks/>
          </p:cNvGrpSpPr>
          <p:nvPr/>
        </p:nvGrpSpPr>
        <p:grpSpPr bwMode="auto">
          <a:xfrm>
            <a:off x="3680123" y="3293179"/>
            <a:ext cx="457200" cy="2239963"/>
            <a:chOff x="2493" y="2859"/>
            <a:chExt cx="288" cy="1411"/>
          </a:xfrm>
        </p:grpSpPr>
        <p:sp>
          <p:nvSpPr>
            <p:cNvPr id="3" name="Line 53">
              <a:extLst>
                <a:ext uri="{FF2B5EF4-FFF2-40B4-BE49-F238E27FC236}">
                  <a16:creationId xmlns:a16="http://schemas.microsoft.com/office/drawing/2014/main" id="{9E3205B5-F62A-F323-6DBB-D594069825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1" y="2878"/>
              <a:ext cx="0" cy="13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" name="Text Box 54">
              <a:extLst>
                <a:ext uri="{FF2B5EF4-FFF2-40B4-BE49-F238E27FC236}">
                  <a16:creationId xmlns:a16="http://schemas.microsoft.com/office/drawing/2014/main" id="{C41A8B22-16D9-5513-1811-972F4C130F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3" y="2859"/>
              <a:ext cx="221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5" name="Group 82">
            <a:extLst>
              <a:ext uri="{FF2B5EF4-FFF2-40B4-BE49-F238E27FC236}">
                <a16:creationId xmlns:a16="http://schemas.microsoft.com/office/drawing/2014/main" id="{ADFCE7E0-C835-B0B6-D4AE-DF78EF2F8D1E}"/>
              </a:ext>
            </a:extLst>
          </p:cNvPr>
          <p:cNvGrpSpPr>
            <a:grpSpLocks/>
          </p:cNvGrpSpPr>
          <p:nvPr/>
        </p:nvGrpSpPr>
        <p:grpSpPr bwMode="auto">
          <a:xfrm>
            <a:off x="4376170" y="3617029"/>
            <a:ext cx="2760662" cy="1746250"/>
            <a:chOff x="2537" y="3063"/>
            <a:chExt cx="2140" cy="1100"/>
          </a:xfrm>
        </p:grpSpPr>
        <p:sp>
          <p:nvSpPr>
            <p:cNvPr id="6" name="Line 55">
              <a:extLst>
                <a:ext uri="{FF2B5EF4-FFF2-40B4-BE49-F238E27FC236}">
                  <a16:creationId xmlns:a16="http://schemas.microsoft.com/office/drawing/2014/main" id="{9349317D-E64D-F24B-01F3-DA5B48D2E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41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7" name="Line 56">
              <a:extLst>
                <a:ext uri="{FF2B5EF4-FFF2-40B4-BE49-F238E27FC236}">
                  <a16:creationId xmlns:a16="http://schemas.microsoft.com/office/drawing/2014/main" id="{9E62F2D0-2363-40A9-EF32-156CFA134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3735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8" name="Line 57">
              <a:extLst>
                <a:ext uri="{FF2B5EF4-FFF2-40B4-BE49-F238E27FC236}">
                  <a16:creationId xmlns:a16="http://schemas.microsoft.com/office/drawing/2014/main" id="{853B5DB6-19B0-2753-56E9-4E3EB27ABB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30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" name="Line 58">
              <a:extLst>
                <a:ext uri="{FF2B5EF4-FFF2-40B4-BE49-F238E27FC236}">
                  <a16:creationId xmlns:a16="http://schemas.microsoft.com/office/drawing/2014/main" id="{547EE7E9-4E65-7EC3-55A3-C4D7336AA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3438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0" name="Line 59">
              <a:extLst>
                <a:ext uri="{FF2B5EF4-FFF2-40B4-BE49-F238E27FC236}">
                  <a16:creationId xmlns:a16="http://schemas.microsoft.com/office/drawing/2014/main" id="{1D244655-B5A3-1483-2883-BC3FD9A9A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3226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sp>
        <p:nvSpPr>
          <p:cNvPr id="11" name="Oval 60">
            <a:extLst>
              <a:ext uri="{FF2B5EF4-FFF2-40B4-BE49-F238E27FC236}">
                <a16:creationId xmlns:a16="http://schemas.microsoft.com/office/drawing/2014/main" id="{2C2D9BB0-4815-BE9A-20B0-56D7AE41C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111" y="5277554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61">
            <a:extLst>
              <a:ext uri="{FF2B5EF4-FFF2-40B4-BE49-F238E27FC236}">
                <a16:creationId xmlns:a16="http://schemas.microsoft.com/office/drawing/2014/main" id="{B796F1F9-A6E0-527A-3AC9-6E8124594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948" y="5266442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Oval 62">
            <a:extLst>
              <a:ext uri="{FF2B5EF4-FFF2-40B4-BE49-F238E27FC236}">
                <a16:creationId xmlns:a16="http://schemas.microsoft.com/office/drawing/2014/main" id="{7000DBCD-863A-C0DD-7D0E-3891EAA5D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111" y="4588579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Oval 63">
            <a:extLst>
              <a:ext uri="{FF2B5EF4-FFF2-40B4-BE49-F238E27FC236}">
                <a16:creationId xmlns:a16="http://schemas.microsoft.com/office/drawing/2014/main" id="{7F0FD34B-76F5-59B2-8F44-972E6938C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948" y="4588579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5" name="Group 84">
            <a:extLst>
              <a:ext uri="{FF2B5EF4-FFF2-40B4-BE49-F238E27FC236}">
                <a16:creationId xmlns:a16="http://schemas.microsoft.com/office/drawing/2014/main" id="{7A631376-4D52-FBF0-0991-9A9350068824}"/>
              </a:ext>
            </a:extLst>
          </p:cNvPr>
          <p:cNvGrpSpPr>
            <a:grpSpLocks/>
          </p:cNvGrpSpPr>
          <p:nvPr/>
        </p:nvGrpSpPr>
        <p:grpSpPr bwMode="auto">
          <a:xfrm>
            <a:off x="3389611" y="4704467"/>
            <a:ext cx="523875" cy="676275"/>
            <a:chOff x="2310" y="3748"/>
            <a:chExt cx="330" cy="426"/>
          </a:xfrm>
        </p:grpSpPr>
        <p:sp>
          <p:nvSpPr>
            <p:cNvPr id="16" name="Line 75">
              <a:extLst>
                <a:ext uri="{FF2B5EF4-FFF2-40B4-BE49-F238E27FC236}">
                  <a16:creationId xmlns:a16="http://schemas.microsoft.com/office/drawing/2014/main" id="{1C37C6B3-3C9B-BC7A-80C7-0684A309FB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748"/>
              <a:ext cx="0" cy="4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7" name="Text Box 76">
              <a:extLst>
                <a:ext uri="{FF2B5EF4-FFF2-40B4-BE49-F238E27FC236}">
                  <a16:creationId xmlns:a16="http://schemas.microsoft.com/office/drawing/2014/main" id="{3B2938FD-3CC6-EB26-A417-1DB1CC1ADA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0" y="3783"/>
              <a:ext cx="319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E</a:t>
              </a:r>
            </a:p>
          </p:txBody>
        </p:sp>
      </p:grpSp>
      <p:sp>
        <p:nvSpPr>
          <p:cNvPr id="18" name="Oval 64">
            <a:extLst>
              <a:ext uri="{FF2B5EF4-FFF2-40B4-BE49-F238E27FC236}">
                <a16:creationId xmlns:a16="http://schemas.microsoft.com/office/drawing/2014/main" id="{709322D7-A9C4-B9F3-57CC-8A5045F5C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506" y="4084682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28C1125-BE91-A20C-D827-4BF4907E6EDE}"/>
              </a:ext>
            </a:extLst>
          </p:cNvPr>
          <p:cNvGrpSpPr/>
          <p:nvPr/>
        </p:nvGrpSpPr>
        <p:grpSpPr>
          <a:xfrm>
            <a:off x="4848494" y="3480504"/>
            <a:ext cx="237780" cy="1319455"/>
            <a:chOff x="5371960" y="975186"/>
            <a:chExt cx="237780" cy="1319455"/>
          </a:xfrm>
        </p:grpSpPr>
        <p:sp>
          <p:nvSpPr>
            <p:cNvPr id="20" name="Oval 64">
              <a:extLst>
                <a:ext uri="{FF2B5EF4-FFF2-40B4-BE49-F238E27FC236}">
                  <a16:creationId xmlns:a16="http://schemas.microsoft.com/office/drawing/2014/main" id="{4B6F9B72-8C8D-C925-4C59-89F5E99AD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3840" y="975186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Oval 64">
              <a:extLst>
                <a:ext uri="{FF2B5EF4-FFF2-40B4-BE49-F238E27FC236}">
                  <a16:creationId xmlns:a16="http://schemas.microsoft.com/office/drawing/2014/main" id="{7760460E-335A-17DC-A52E-27CE05955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1960" y="207874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59080DF2-832D-B1F8-F902-13BEA8558674}"/>
              </a:ext>
            </a:extLst>
          </p:cNvPr>
          <p:cNvGrpSpPr/>
          <p:nvPr/>
        </p:nvGrpSpPr>
        <p:grpSpPr>
          <a:xfrm>
            <a:off x="4665297" y="3493585"/>
            <a:ext cx="412545" cy="476688"/>
            <a:chOff x="6322048" y="988267"/>
            <a:chExt cx="412545" cy="476688"/>
          </a:xfrm>
        </p:grpSpPr>
        <p:sp>
          <p:nvSpPr>
            <p:cNvPr id="23" name="Line 47">
              <a:extLst>
                <a:ext uri="{FF2B5EF4-FFF2-40B4-BE49-F238E27FC236}">
                  <a16:creationId xmlns:a16="http://schemas.microsoft.com/office/drawing/2014/main" id="{9510BA3C-C2ED-8050-B0CA-626049776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2048" y="1106949"/>
              <a:ext cx="0" cy="24288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24" name="Oval 64">
              <a:extLst>
                <a:ext uri="{FF2B5EF4-FFF2-40B4-BE49-F238E27FC236}">
                  <a16:creationId xmlns:a16="http://schemas.microsoft.com/office/drawing/2014/main" id="{511B4191-B977-A61E-AB77-00264E720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8693" y="988267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Oval 62">
              <a:extLst>
                <a:ext uri="{FF2B5EF4-FFF2-40B4-BE49-F238E27FC236}">
                  <a16:creationId xmlns:a16="http://schemas.microsoft.com/office/drawing/2014/main" id="{87543CB7-32B4-D6EB-A67B-38CA752E6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8520" y="1249055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737798B7-6555-DE8D-255B-52861E7FB9BB}"/>
              </a:ext>
            </a:extLst>
          </p:cNvPr>
          <p:cNvGrpSpPr/>
          <p:nvPr/>
        </p:nvGrpSpPr>
        <p:grpSpPr>
          <a:xfrm>
            <a:off x="4667543" y="3747619"/>
            <a:ext cx="405422" cy="1033376"/>
            <a:chOff x="6910701" y="1242301"/>
            <a:chExt cx="405422" cy="1033376"/>
          </a:xfrm>
        </p:grpSpPr>
        <p:sp>
          <p:nvSpPr>
            <p:cNvPr id="27" name="Line 48">
              <a:extLst>
                <a:ext uri="{FF2B5EF4-FFF2-40B4-BE49-F238E27FC236}">
                  <a16:creationId xmlns:a16="http://schemas.microsoft.com/office/drawing/2014/main" id="{C757CC60-4674-5DAA-981A-0A298DB43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0701" y="1379368"/>
              <a:ext cx="0" cy="83175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28" name="Oval 64">
              <a:extLst>
                <a:ext uri="{FF2B5EF4-FFF2-40B4-BE49-F238E27FC236}">
                  <a16:creationId xmlns:a16="http://schemas.microsoft.com/office/drawing/2014/main" id="{1D84642D-8B8B-07D3-57F9-9C2EE4055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0223" y="124230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Oval 62">
              <a:extLst>
                <a:ext uri="{FF2B5EF4-FFF2-40B4-BE49-F238E27FC236}">
                  <a16:creationId xmlns:a16="http://schemas.microsoft.com/office/drawing/2014/main" id="{89205123-1415-2E3F-A094-A3A894A52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9350" y="2059777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1" name="Text Box 81">
            <a:extLst>
              <a:ext uri="{FF2B5EF4-FFF2-40B4-BE49-F238E27FC236}">
                <a16:creationId xmlns:a16="http://schemas.microsoft.com/office/drawing/2014/main" id="{BA5B6E6F-86B9-87F1-F993-84D5CB416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381893"/>
            <a:ext cx="8715375" cy="13261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el conjunto de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 que han ganado energía la devuelven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mediante la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emisión de OEM </a:t>
            </a:r>
            <a:r>
              <a:rPr lang="es-ES" sz="2400">
                <a:latin typeface="Arial" panose="020B0604020202020204" pitchFamily="34" charset="0"/>
              </a:rPr>
              <a:t>de manera instantánea (como máximo en un segundo), se habla de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fluorescencia</a:t>
            </a:r>
          </a:p>
        </p:txBody>
      </p:sp>
      <p:sp>
        <p:nvSpPr>
          <p:cNvPr id="32" name="Text Box 81">
            <a:extLst>
              <a:ext uri="{FF2B5EF4-FFF2-40B4-BE49-F238E27FC236}">
                <a16:creationId xmlns:a16="http://schemas.microsoft.com/office/drawing/2014/main" id="{DD3E9D45-0E77-AF72-9C60-7FE0222CE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1915961"/>
            <a:ext cx="8715376" cy="9567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ocurre en un tiempo mayor (segundos, minutos, horas...), se habla de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fosforescencia</a:t>
            </a:r>
          </a:p>
        </p:txBody>
      </p:sp>
    </p:spTree>
    <p:extLst>
      <p:ext uri="{BB962C8B-B14F-4D97-AF65-F5344CB8AC3E}">
        <p14:creationId xmlns:p14="http://schemas.microsoft.com/office/powerpoint/2010/main" val="16865975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81"/>
          <p:cNvSpPr txBox="1">
            <a:spLocks noChangeArrowheads="1"/>
          </p:cNvSpPr>
          <p:nvPr/>
        </p:nvSpPr>
        <p:spPr bwMode="auto">
          <a:xfrm>
            <a:off x="1809902" y="356514"/>
            <a:ext cx="6616143" cy="132610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se </a:t>
            </a:r>
            <a:r>
              <a:rPr lang="es-ES" sz="2400" dirty="0">
                <a:latin typeface="Arial" panose="020B0604020202020204" pitchFamily="34" charset="0"/>
              </a:rPr>
              <a:t>aporta </a:t>
            </a:r>
            <a:r>
              <a:rPr lang="es-ES" sz="2400">
                <a:latin typeface="Arial" panose="020B0604020202020204" pitchFamily="34" charset="0"/>
              </a:rPr>
              <a:t>energía a un </a:t>
            </a:r>
            <a:r>
              <a:rPr lang="es-ES" sz="2400" b="1">
                <a:latin typeface="Arial" panose="020B0604020202020204" pitchFamily="34" charset="0"/>
              </a:rPr>
              <a:t>material</a:t>
            </a:r>
            <a:r>
              <a:rPr lang="es-ES" sz="2400">
                <a:latin typeface="Arial" panose="020B0604020202020204" pitchFamily="34" charset="0"/>
              </a:rPr>
              <a:t> para </a:t>
            </a:r>
            <a:r>
              <a:rPr lang="es-ES" sz="2400" dirty="0">
                <a:latin typeface="Arial" panose="020B0604020202020204" pitchFamily="34" charset="0"/>
              </a:rPr>
              <a:t>que los </a:t>
            </a:r>
            <a:r>
              <a:rPr lang="es-ES" sz="2400">
                <a:latin typeface="Arial" panose="020B0604020202020204" pitchFamily="34" charset="0"/>
              </a:rPr>
              <a:t>electrones en cierto nivel </a:t>
            </a:r>
            <a:r>
              <a:rPr lang="es-ES" sz="2400" dirty="0">
                <a:latin typeface="Arial" panose="020B0604020202020204" pitchFamily="34" charset="0"/>
              </a:rPr>
              <a:t>pasen a </a:t>
            </a:r>
            <a:r>
              <a:rPr lang="es-ES" sz="2400">
                <a:latin typeface="Arial" panose="020B0604020202020204" pitchFamily="34" charset="0"/>
              </a:rPr>
              <a:t>otro nivel superior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llenándolo</a:t>
            </a:r>
            <a:r>
              <a:rPr lang="es-ES" sz="2400">
                <a:latin typeface="Arial" panose="020B0604020202020204" pitchFamily="34" charset="0"/>
              </a:rPr>
              <a:t>....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Box 81">
            <a:extLst>
              <a:ext uri="{FF2B5EF4-FFF2-40B4-BE49-F238E27FC236}">
                <a16:creationId xmlns:a16="http://schemas.microsoft.com/office/drawing/2014/main" id="{387FDC40-EFBA-1300-8585-5C8F22A9E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920" y="4780360"/>
            <a:ext cx="5977971" cy="169543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...Y luego </a:t>
            </a:r>
            <a:r>
              <a:rPr lang="es-ES" sz="2400" dirty="0">
                <a:latin typeface="Arial" panose="020B0604020202020204" pitchFamily="34" charset="0"/>
              </a:rPr>
              <a:t>se “bombardea” el </a:t>
            </a:r>
            <a:r>
              <a:rPr lang="es-ES" sz="2400">
                <a:latin typeface="Arial" panose="020B0604020202020204" pitchFamily="34" charset="0"/>
              </a:rPr>
              <a:t>material con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ondas electromagnéticas (OEM)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con la energía correspondiente al </a:t>
            </a:r>
            <a:r>
              <a:rPr lang="es-ES" sz="2400">
                <a:latin typeface="Arial" panose="020B0604020202020204" pitchFamily="34" charset="0"/>
              </a:rPr>
              <a:t>salto entre ese nivel y el inicial o uno intermedio....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28" name="Group 83">
            <a:extLst>
              <a:ext uri="{FF2B5EF4-FFF2-40B4-BE49-F238E27FC236}">
                <a16:creationId xmlns:a16="http://schemas.microsoft.com/office/drawing/2014/main" id="{2A4F9871-6F72-EAC8-D7D5-C4BD2C5F8667}"/>
              </a:ext>
            </a:extLst>
          </p:cNvPr>
          <p:cNvGrpSpPr>
            <a:grpSpLocks/>
          </p:cNvGrpSpPr>
          <p:nvPr/>
        </p:nvGrpSpPr>
        <p:grpSpPr bwMode="auto">
          <a:xfrm>
            <a:off x="1373339" y="2067055"/>
            <a:ext cx="457200" cy="2239963"/>
            <a:chOff x="2493" y="2859"/>
            <a:chExt cx="288" cy="1411"/>
          </a:xfrm>
        </p:grpSpPr>
        <p:sp>
          <p:nvSpPr>
            <p:cNvPr id="29" name="Line 53">
              <a:extLst>
                <a:ext uri="{FF2B5EF4-FFF2-40B4-BE49-F238E27FC236}">
                  <a16:creationId xmlns:a16="http://schemas.microsoft.com/office/drawing/2014/main" id="{B66D3966-87BA-4C4E-71BE-F849FFBE7C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1" y="2878"/>
              <a:ext cx="0" cy="13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30" name="Text Box 54">
              <a:extLst>
                <a:ext uri="{FF2B5EF4-FFF2-40B4-BE49-F238E27FC236}">
                  <a16:creationId xmlns:a16="http://schemas.microsoft.com/office/drawing/2014/main" id="{C154A9FD-2748-C004-E7F5-5958418AE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3" y="2859"/>
              <a:ext cx="221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80D4006C-1C88-68DC-D022-6C19DC8AFD00}"/>
              </a:ext>
            </a:extLst>
          </p:cNvPr>
          <p:cNvGrpSpPr>
            <a:grpSpLocks/>
          </p:cNvGrpSpPr>
          <p:nvPr/>
        </p:nvGrpSpPr>
        <p:grpSpPr bwMode="auto">
          <a:xfrm>
            <a:off x="2069386" y="2986220"/>
            <a:ext cx="2760662" cy="1150938"/>
            <a:chOff x="2537" y="3438"/>
            <a:chExt cx="2140" cy="725"/>
          </a:xfrm>
        </p:grpSpPr>
        <p:sp>
          <p:nvSpPr>
            <p:cNvPr id="32" name="Line 55">
              <a:extLst>
                <a:ext uri="{FF2B5EF4-FFF2-40B4-BE49-F238E27FC236}">
                  <a16:creationId xmlns:a16="http://schemas.microsoft.com/office/drawing/2014/main" id="{ED2F50A1-3FFF-FE46-3CEB-958159C4D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41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33" name="Line 56">
              <a:extLst>
                <a:ext uri="{FF2B5EF4-FFF2-40B4-BE49-F238E27FC236}">
                  <a16:creationId xmlns:a16="http://schemas.microsoft.com/office/drawing/2014/main" id="{7B471E4F-A643-499D-2D1D-CB5DAE5075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3735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35" name="Line 58">
              <a:extLst>
                <a:ext uri="{FF2B5EF4-FFF2-40B4-BE49-F238E27FC236}">
                  <a16:creationId xmlns:a16="http://schemas.microsoft.com/office/drawing/2014/main" id="{6FCB492B-B6BA-44F4-1C71-3AA515ADE6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3438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sp>
        <p:nvSpPr>
          <p:cNvPr id="39" name="Oval 60">
            <a:extLst>
              <a:ext uri="{FF2B5EF4-FFF2-40B4-BE49-F238E27FC236}">
                <a16:creationId xmlns:a16="http://schemas.microsoft.com/office/drawing/2014/main" id="{5E21795D-24AA-466B-9E9C-F396C5751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327" y="4051430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" name="Oval 61">
            <a:extLst>
              <a:ext uri="{FF2B5EF4-FFF2-40B4-BE49-F238E27FC236}">
                <a16:creationId xmlns:a16="http://schemas.microsoft.com/office/drawing/2014/main" id="{1830E727-A83C-B9C9-E70C-93C568631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164" y="4040318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58C7AB09-4D27-ACD2-7726-40FC2A2E35CD}"/>
              </a:ext>
            </a:extLst>
          </p:cNvPr>
          <p:cNvGrpSpPr/>
          <p:nvPr/>
        </p:nvGrpSpPr>
        <p:grpSpPr>
          <a:xfrm flipV="1">
            <a:off x="2546695" y="2869606"/>
            <a:ext cx="216773" cy="1386670"/>
            <a:chOff x="7099350" y="1242301"/>
            <a:chExt cx="216773" cy="1386670"/>
          </a:xfrm>
        </p:grpSpPr>
        <p:sp>
          <p:nvSpPr>
            <p:cNvPr id="4" name="Line 48">
              <a:extLst>
                <a:ext uri="{FF2B5EF4-FFF2-40B4-BE49-F238E27FC236}">
                  <a16:creationId xmlns:a16="http://schemas.microsoft.com/office/drawing/2014/main" id="{24A4B54B-B214-C33C-39ED-2EB842DB1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040" y="1483255"/>
              <a:ext cx="0" cy="9149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5" name="Oval 64">
              <a:extLst>
                <a:ext uri="{FF2B5EF4-FFF2-40B4-BE49-F238E27FC236}">
                  <a16:creationId xmlns:a16="http://schemas.microsoft.com/office/drawing/2014/main" id="{9AAD889E-D3D8-A58C-988B-8F593B09B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0223" y="124230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Oval 62">
              <a:extLst>
                <a:ext uri="{FF2B5EF4-FFF2-40B4-BE49-F238E27FC236}">
                  <a16:creationId xmlns:a16="http://schemas.microsoft.com/office/drawing/2014/main" id="{FD4D95CD-8236-33BA-BF72-803BFABAF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9350" y="2413071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6FA7167C-942B-C0DF-FA91-D1C383418FEF}"/>
              </a:ext>
            </a:extLst>
          </p:cNvPr>
          <p:cNvGrpSpPr/>
          <p:nvPr/>
        </p:nvGrpSpPr>
        <p:grpSpPr>
          <a:xfrm flipV="1">
            <a:off x="4152900" y="2844237"/>
            <a:ext cx="216773" cy="1407452"/>
            <a:chOff x="7099350" y="1242301"/>
            <a:chExt cx="216773" cy="1407452"/>
          </a:xfrm>
        </p:grpSpPr>
        <p:sp>
          <p:nvSpPr>
            <p:cNvPr id="8" name="Line 48">
              <a:extLst>
                <a:ext uri="{FF2B5EF4-FFF2-40B4-BE49-F238E27FC236}">
                  <a16:creationId xmlns:a16="http://schemas.microsoft.com/office/drawing/2014/main" id="{540DF153-E337-4BD4-BF24-28B63786A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040" y="1493646"/>
              <a:ext cx="0" cy="9149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9" name="Oval 64">
              <a:extLst>
                <a:ext uri="{FF2B5EF4-FFF2-40B4-BE49-F238E27FC236}">
                  <a16:creationId xmlns:a16="http://schemas.microsoft.com/office/drawing/2014/main" id="{64E256CF-923C-3E19-FFE4-572968386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0223" y="124230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Oval 62">
              <a:extLst>
                <a:ext uri="{FF2B5EF4-FFF2-40B4-BE49-F238E27FC236}">
                  <a16:creationId xmlns:a16="http://schemas.microsoft.com/office/drawing/2014/main" id="{E361564D-DACC-904E-94BB-3396D72B3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9350" y="2433853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8FDB0F6-C03C-634C-FC06-C6E31F50DF9E}"/>
              </a:ext>
            </a:extLst>
          </p:cNvPr>
          <p:cNvGrpSpPr/>
          <p:nvPr/>
        </p:nvGrpSpPr>
        <p:grpSpPr>
          <a:xfrm>
            <a:off x="7349993" y="2879997"/>
            <a:ext cx="1151277" cy="1216415"/>
            <a:chOff x="7349993" y="2879997"/>
            <a:chExt cx="1151277" cy="1216415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8165117-8BC5-E498-04D6-FA028E38D863}"/>
                </a:ext>
              </a:extLst>
            </p:cNvPr>
            <p:cNvSpPr/>
            <p:nvPr/>
          </p:nvSpPr>
          <p:spPr bwMode="auto">
            <a:xfrm>
              <a:off x="7356765" y="2879997"/>
              <a:ext cx="1105709" cy="730844"/>
            </a:xfrm>
            <a:prstGeom prst="rect">
              <a:avLst/>
            </a:prstGeom>
            <a:solidFill>
              <a:srgbClr val="C0C0C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1BA20997-DAF7-2F8B-DEBF-56D6F27532BC}"/>
                </a:ext>
              </a:extLst>
            </p:cNvPr>
            <p:cNvSpPr txBox="1"/>
            <p:nvPr/>
          </p:nvSpPr>
          <p:spPr>
            <a:xfrm>
              <a:off x="7349993" y="3696302"/>
              <a:ext cx="11512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/>
                <a:t>Material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37C47DBD-28B4-2118-31BA-D3772942344C}"/>
              </a:ext>
            </a:extLst>
          </p:cNvPr>
          <p:cNvGrpSpPr/>
          <p:nvPr/>
        </p:nvGrpSpPr>
        <p:grpSpPr>
          <a:xfrm>
            <a:off x="6453491" y="2479887"/>
            <a:ext cx="2654953" cy="938083"/>
            <a:chOff x="6453491" y="2479887"/>
            <a:chExt cx="2654953" cy="938083"/>
          </a:xfrm>
        </p:grpSpPr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232299B2-3593-8655-8743-46D0E7276D41}"/>
                </a:ext>
              </a:extLst>
            </p:cNvPr>
            <p:cNvSpPr/>
            <p:nvPr/>
          </p:nvSpPr>
          <p:spPr bwMode="auto">
            <a:xfrm>
              <a:off x="6669231" y="3004329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68D48282-59DD-E381-C176-547D95B5C814}"/>
                </a:ext>
              </a:extLst>
            </p:cNvPr>
            <p:cNvSpPr/>
            <p:nvPr/>
          </p:nvSpPr>
          <p:spPr bwMode="auto">
            <a:xfrm flipH="1">
              <a:off x="8692807" y="3052080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FCBD11BD-20D5-0FFA-D0B8-85A635D05DE1}"/>
                </a:ext>
              </a:extLst>
            </p:cNvPr>
            <p:cNvSpPr txBox="1"/>
            <p:nvPr/>
          </p:nvSpPr>
          <p:spPr>
            <a:xfrm>
              <a:off x="6453491" y="2479887"/>
              <a:ext cx="7681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>
                  <a:solidFill>
                    <a:srgbClr val="008000"/>
                  </a:solidFill>
                </a:rPr>
                <a:t>OEM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23274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81">
            <a:extLst>
              <a:ext uri="{FF2B5EF4-FFF2-40B4-BE49-F238E27FC236}">
                <a16:creationId xmlns:a16="http://schemas.microsoft.com/office/drawing/2014/main" id="{C64B61D0-247C-5002-884E-5BAC7E69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539" y="379227"/>
            <a:ext cx="8242846" cy="9567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 ve que esos electrones pasan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simultáneamente</a:t>
            </a:r>
            <a:r>
              <a:rPr lang="es-ES" sz="2400">
                <a:latin typeface="Arial" panose="020B0604020202020204" pitchFamily="34" charset="0"/>
              </a:rPr>
              <a:t> a ese nivel inferior, pudiendo emitir una OEM con la E del salto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 Box 81">
            <a:extLst>
              <a:ext uri="{FF2B5EF4-FFF2-40B4-BE49-F238E27FC236}">
                <a16:creationId xmlns:a16="http://schemas.microsoft.com/office/drawing/2014/main" id="{9983D8CE-021A-8016-DC47-931E61D3C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80" y="4734619"/>
            <a:ext cx="8797030" cy="95677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Las OEM que "bombardean" se pueden obtener por reflexión en un espejo y en un semiespejo, alineados y a cada lado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83">
            <a:extLst>
              <a:ext uri="{FF2B5EF4-FFF2-40B4-BE49-F238E27FC236}">
                <a16:creationId xmlns:a16="http://schemas.microsoft.com/office/drawing/2014/main" id="{B905C245-BCBF-CE31-E8F1-ACAD6B1CDBE6}"/>
              </a:ext>
            </a:extLst>
          </p:cNvPr>
          <p:cNvGrpSpPr>
            <a:grpSpLocks/>
          </p:cNvGrpSpPr>
          <p:nvPr/>
        </p:nvGrpSpPr>
        <p:grpSpPr bwMode="auto">
          <a:xfrm>
            <a:off x="1373339" y="2067055"/>
            <a:ext cx="457200" cy="2239963"/>
            <a:chOff x="2493" y="2859"/>
            <a:chExt cx="288" cy="1411"/>
          </a:xfrm>
        </p:grpSpPr>
        <p:sp>
          <p:nvSpPr>
            <p:cNvPr id="3" name="Line 53">
              <a:extLst>
                <a:ext uri="{FF2B5EF4-FFF2-40B4-BE49-F238E27FC236}">
                  <a16:creationId xmlns:a16="http://schemas.microsoft.com/office/drawing/2014/main" id="{F175A6F8-F615-F936-BC3E-8FE9DA9990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1" y="2878"/>
              <a:ext cx="0" cy="13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" name="Text Box 54">
              <a:extLst>
                <a:ext uri="{FF2B5EF4-FFF2-40B4-BE49-F238E27FC236}">
                  <a16:creationId xmlns:a16="http://schemas.microsoft.com/office/drawing/2014/main" id="{F64BB09F-927E-5C10-F6AB-3195D275B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3" y="2859"/>
              <a:ext cx="221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5" name="Group 82">
            <a:extLst>
              <a:ext uri="{FF2B5EF4-FFF2-40B4-BE49-F238E27FC236}">
                <a16:creationId xmlns:a16="http://schemas.microsoft.com/office/drawing/2014/main" id="{3D116884-559B-3F10-EE72-FDC318CE33F3}"/>
              </a:ext>
            </a:extLst>
          </p:cNvPr>
          <p:cNvGrpSpPr>
            <a:grpSpLocks/>
          </p:cNvGrpSpPr>
          <p:nvPr/>
        </p:nvGrpSpPr>
        <p:grpSpPr bwMode="auto">
          <a:xfrm>
            <a:off x="2069386" y="2986220"/>
            <a:ext cx="2760662" cy="1150938"/>
            <a:chOff x="2537" y="3438"/>
            <a:chExt cx="2140" cy="725"/>
          </a:xfrm>
        </p:grpSpPr>
        <p:sp>
          <p:nvSpPr>
            <p:cNvPr id="6" name="Line 55">
              <a:extLst>
                <a:ext uri="{FF2B5EF4-FFF2-40B4-BE49-F238E27FC236}">
                  <a16:creationId xmlns:a16="http://schemas.microsoft.com/office/drawing/2014/main" id="{B7BE3B45-85D0-DBB1-E106-CF7BBF5CE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41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7" name="Line 56">
              <a:extLst>
                <a:ext uri="{FF2B5EF4-FFF2-40B4-BE49-F238E27FC236}">
                  <a16:creationId xmlns:a16="http://schemas.microsoft.com/office/drawing/2014/main" id="{E81D124D-55EA-7F22-2EC8-C14DE1B31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3735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8" name="Line 58">
              <a:extLst>
                <a:ext uri="{FF2B5EF4-FFF2-40B4-BE49-F238E27FC236}">
                  <a16:creationId xmlns:a16="http://schemas.microsoft.com/office/drawing/2014/main" id="{078E0B88-27DA-6B9D-31D3-A35747FCD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3438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sp>
        <p:nvSpPr>
          <p:cNvPr id="9" name="Oval 60">
            <a:extLst>
              <a:ext uri="{FF2B5EF4-FFF2-40B4-BE49-F238E27FC236}">
                <a16:creationId xmlns:a16="http://schemas.microsoft.com/office/drawing/2014/main" id="{042EB8F5-A225-F396-0F92-46F51146E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327" y="2870330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val 61">
            <a:extLst>
              <a:ext uri="{FF2B5EF4-FFF2-40B4-BE49-F238E27FC236}">
                <a16:creationId xmlns:a16="http://schemas.microsoft.com/office/drawing/2014/main" id="{95734983-4226-CF53-BAD1-8CBC8300E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164" y="2859218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B0F69D3-25EF-5E5E-7F78-FEDBD52E24DD}"/>
              </a:ext>
            </a:extLst>
          </p:cNvPr>
          <p:cNvGrpSpPr/>
          <p:nvPr/>
        </p:nvGrpSpPr>
        <p:grpSpPr>
          <a:xfrm>
            <a:off x="2556220" y="2869606"/>
            <a:ext cx="216773" cy="1386670"/>
            <a:chOff x="7099350" y="1242301"/>
            <a:chExt cx="216773" cy="1386670"/>
          </a:xfrm>
        </p:grpSpPr>
        <p:sp>
          <p:nvSpPr>
            <p:cNvPr id="12" name="Line 48">
              <a:extLst>
                <a:ext uri="{FF2B5EF4-FFF2-40B4-BE49-F238E27FC236}">
                  <a16:creationId xmlns:a16="http://schemas.microsoft.com/office/drawing/2014/main" id="{27930BAD-3ED6-D0D3-0E41-F1471FC1A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040" y="1524842"/>
              <a:ext cx="0" cy="83175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13" name="Oval 64">
              <a:extLst>
                <a:ext uri="{FF2B5EF4-FFF2-40B4-BE49-F238E27FC236}">
                  <a16:creationId xmlns:a16="http://schemas.microsoft.com/office/drawing/2014/main" id="{7647A693-F490-FA79-0D06-A412F79AD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0223" y="124230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Oval 62">
              <a:extLst>
                <a:ext uri="{FF2B5EF4-FFF2-40B4-BE49-F238E27FC236}">
                  <a16:creationId xmlns:a16="http://schemas.microsoft.com/office/drawing/2014/main" id="{B87CA09A-50FF-3BB2-73A7-08FDF9F4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9350" y="2413071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45E62BA-2BFD-CB94-22C5-C7283B2E41E0}"/>
              </a:ext>
            </a:extLst>
          </p:cNvPr>
          <p:cNvGrpSpPr/>
          <p:nvPr/>
        </p:nvGrpSpPr>
        <p:grpSpPr>
          <a:xfrm>
            <a:off x="4162425" y="2844237"/>
            <a:ext cx="216773" cy="1407452"/>
            <a:chOff x="7099350" y="1242301"/>
            <a:chExt cx="216773" cy="1407452"/>
          </a:xfrm>
        </p:grpSpPr>
        <p:sp>
          <p:nvSpPr>
            <p:cNvPr id="16" name="Line 48">
              <a:extLst>
                <a:ext uri="{FF2B5EF4-FFF2-40B4-BE49-F238E27FC236}">
                  <a16:creationId xmlns:a16="http://schemas.microsoft.com/office/drawing/2014/main" id="{DBBB7C1F-AEFB-3A19-A716-CEC8E7AA4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040" y="1493645"/>
              <a:ext cx="0" cy="9149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17" name="Oval 64">
              <a:extLst>
                <a:ext uri="{FF2B5EF4-FFF2-40B4-BE49-F238E27FC236}">
                  <a16:creationId xmlns:a16="http://schemas.microsoft.com/office/drawing/2014/main" id="{A4C50E16-BACA-7921-8FD9-F23357D3F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0223" y="124230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Oval 62">
              <a:extLst>
                <a:ext uri="{FF2B5EF4-FFF2-40B4-BE49-F238E27FC236}">
                  <a16:creationId xmlns:a16="http://schemas.microsoft.com/office/drawing/2014/main" id="{5DE62EFD-CEC0-54A2-ADC5-085BC6B5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9350" y="2433853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511816C-1B3D-0711-CA19-969BBF391D66}"/>
              </a:ext>
            </a:extLst>
          </p:cNvPr>
          <p:cNvGrpSpPr/>
          <p:nvPr/>
        </p:nvGrpSpPr>
        <p:grpSpPr>
          <a:xfrm>
            <a:off x="2051968" y="3532765"/>
            <a:ext cx="2823679" cy="403250"/>
            <a:chOff x="6066554" y="3004329"/>
            <a:chExt cx="2823679" cy="403250"/>
          </a:xfrm>
        </p:grpSpPr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1842888D-83E0-7505-E369-CB4A7F5D4F0E}"/>
                </a:ext>
              </a:extLst>
            </p:cNvPr>
            <p:cNvSpPr/>
            <p:nvPr/>
          </p:nvSpPr>
          <p:spPr bwMode="auto">
            <a:xfrm flipH="1">
              <a:off x="6066554" y="3004329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1" name="Forma libre: forma 50">
              <a:extLst>
                <a:ext uri="{FF2B5EF4-FFF2-40B4-BE49-F238E27FC236}">
                  <a16:creationId xmlns:a16="http://schemas.microsoft.com/office/drawing/2014/main" id="{6A1E3C4E-138C-A07D-9C03-CAE14460B7B5}"/>
                </a:ext>
              </a:extLst>
            </p:cNvPr>
            <p:cNvSpPr/>
            <p:nvPr/>
          </p:nvSpPr>
          <p:spPr bwMode="auto">
            <a:xfrm>
              <a:off x="8474596" y="3041689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17750043-E925-2686-432C-8CD109AC0705}"/>
              </a:ext>
            </a:extLst>
          </p:cNvPr>
          <p:cNvGrpSpPr/>
          <p:nvPr/>
        </p:nvGrpSpPr>
        <p:grpSpPr>
          <a:xfrm>
            <a:off x="7356765" y="2879997"/>
            <a:ext cx="1128103" cy="1216415"/>
            <a:chOff x="7356765" y="2879997"/>
            <a:chExt cx="1128103" cy="1216415"/>
          </a:xfrm>
        </p:grpSpPr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6031FAAE-0030-CA72-AC81-351B036CC072}"/>
                </a:ext>
              </a:extLst>
            </p:cNvPr>
            <p:cNvSpPr/>
            <p:nvPr/>
          </p:nvSpPr>
          <p:spPr bwMode="auto">
            <a:xfrm>
              <a:off x="7356765" y="2879997"/>
              <a:ext cx="1105709" cy="730844"/>
            </a:xfrm>
            <a:prstGeom prst="rect">
              <a:avLst/>
            </a:prstGeom>
            <a:solidFill>
              <a:srgbClr val="C0C0C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2F0030C9-746E-6606-939D-76708311FD43}"/>
                </a:ext>
              </a:extLst>
            </p:cNvPr>
            <p:cNvSpPr txBox="1"/>
            <p:nvPr/>
          </p:nvSpPr>
          <p:spPr>
            <a:xfrm>
              <a:off x="7388093" y="3696302"/>
              <a:ext cx="10967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/>
                <a:t>Material</a:t>
              </a:r>
            </a:p>
          </p:txBody>
        </p: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0630720A-184D-9835-732D-CB73DDE9EA10}"/>
              </a:ext>
            </a:extLst>
          </p:cNvPr>
          <p:cNvGrpSpPr/>
          <p:nvPr/>
        </p:nvGrpSpPr>
        <p:grpSpPr>
          <a:xfrm>
            <a:off x="6669231" y="2973156"/>
            <a:ext cx="2459995" cy="392859"/>
            <a:chOff x="6669231" y="2973156"/>
            <a:chExt cx="2459995" cy="392859"/>
          </a:xfrm>
        </p:grpSpPr>
        <p:sp>
          <p:nvSpPr>
            <p:cNvPr id="57" name="Forma libre: forma 56">
              <a:extLst>
                <a:ext uri="{FF2B5EF4-FFF2-40B4-BE49-F238E27FC236}">
                  <a16:creationId xmlns:a16="http://schemas.microsoft.com/office/drawing/2014/main" id="{253425DE-9D59-71F6-32A7-33235E1FBD23}"/>
                </a:ext>
              </a:extLst>
            </p:cNvPr>
            <p:cNvSpPr/>
            <p:nvPr/>
          </p:nvSpPr>
          <p:spPr bwMode="auto">
            <a:xfrm flipH="1">
              <a:off x="6669231" y="2973156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8" name="Forma libre: forma 57">
              <a:extLst>
                <a:ext uri="{FF2B5EF4-FFF2-40B4-BE49-F238E27FC236}">
                  <a16:creationId xmlns:a16="http://schemas.microsoft.com/office/drawing/2014/main" id="{DA75145B-A298-B792-053F-0D9B60BC2417}"/>
                </a:ext>
              </a:extLst>
            </p:cNvPr>
            <p:cNvSpPr/>
            <p:nvPr/>
          </p:nvSpPr>
          <p:spPr bwMode="auto">
            <a:xfrm>
              <a:off x="8713589" y="3000125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6ACD9206-FAEF-D00A-230E-5E45A1C59F3C}"/>
              </a:ext>
            </a:extLst>
          </p:cNvPr>
          <p:cNvGrpSpPr/>
          <p:nvPr/>
        </p:nvGrpSpPr>
        <p:grpSpPr>
          <a:xfrm>
            <a:off x="6686548" y="3173307"/>
            <a:ext cx="2428822" cy="380485"/>
            <a:chOff x="6686548" y="3173307"/>
            <a:chExt cx="2428822" cy="380485"/>
          </a:xfrm>
        </p:grpSpPr>
        <p:sp>
          <p:nvSpPr>
            <p:cNvPr id="67" name="Forma libre: forma 66">
              <a:extLst>
                <a:ext uri="{FF2B5EF4-FFF2-40B4-BE49-F238E27FC236}">
                  <a16:creationId xmlns:a16="http://schemas.microsoft.com/office/drawing/2014/main" id="{AAD768E1-4ECF-BEBC-6CA7-0921D057A34E}"/>
                </a:ext>
              </a:extLst>
            </p:cNvPr>
            <p:cNvSpPr/>
            <p:nvPr/>
          </p:nvSpPr>
          <p:spPr bwMode="auto">
            <a:xfrm flipH="1">
              <a:off x="6686548" y="3187902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69" name="Forma libre: forma 68">
              <a:extLst>
                <a:ext uri="{FF2B5EF4-FFF2-40B4-BE49-F238E27FC236}">
                  <a16:creationId xmlns:a16="http://schemas.microsoft.com/office/drawing/2014/main" id="{280B641A-E5CB-F8FF-E8EF-AD569E977042}"/>
                </a:ext>
              </a:extLst>
            </p:cNvPr>
            <p:cNvSpPr/>
            <p:nvPr/>
          </p:nvSpPr>
          <p:spPr bwMode="auto">
            <a:xfrm>
              <a:off x="8699733" y="3173307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A60198C-D863-92C1-4146-7EC1830CAB6A}"/>
              </a:ext>
            </a:extLst>
          </p:cNvPr>
          <p:cNvGrpSpPr/>
          <p:nvPr/>
        </p:nvGrpSpPr>
        <p:grpSpPr>
          <a:xfrm>
            <a:off x="5906679" y="2869606"/>
            <a:ext cx="3959799" cy="1528018"/>
            <a:chOff x="5906679" y="2869606"/>
            <a:chExt cx="3959799" cy="1528018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11F5107B-79A5-8D59-C016-91B379239764}"/>
                </a:ext>
              </a:extLst>
            </p:cNvPr>
            <p:cNvSpPr/>
            <p:nvPr/>
          </p:nvSpPr>
          <p:spPr bwMode="auto">
            <a:xfrm>
              <a:off x="6348257" y="2869606"/>
              <a:ext cx="145938" cy="730839"/>
            </a:xfrm>
            <a:prstGeom prst="rect">
              <a:avLst/>
            </a:prstGeom>
            <a:solidFill>
              <a:srgbClr val="99CC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2F0FBE1C-DF8F-7110-842A-4479BB17BB80}"/>
                </a:ext>
              </a:extLst>
            </p:cNvPr>
            <p:cNvSpPr/>
            <p:nvPr/>
          </p:nvSpPr>
          <p:spPr bwMode="auto">
            <a:xfrm>
              <a:off x="9294077" y="2873774"/>
              <a:ext cx="145938" cy="730839"/>
            </a:xfrm>
            <a:prstGeom prst="rect">
              <a:avLst/>
            </a:prstGeom>
            <a:solidFill>
              <a:srgbClr val="99CC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10F7ADA-F38D-3D18-09C7-75DF791CC21D}"/>
                </a:ext>
              </a:extLst>
            </p:cNvPr>
            <p:cNvSpPr txBox="1"/>
            <p:nvPr/>
          </p:nvSpPr>
          <p:spPr>
            <a:xfrm>
              <a:off x="5906679" y="3664824"/>
              <a:ext cx="9701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/>
                <a:t>Espejo</a:t>
              </a:r>
            </a:p>
            <a:p>
              <a:pPr algn="ctr"/>
              <a:r>
                <a:rPr lang="es-ES"/>
                <a:t>100%</a:t>
              </a: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E5747E1-AAAF-C577-C568-364C3A1FAA5B}"/>
                </a:ext>
              </a:extLst>
            </p:cNvPr>
            <p:cNvSpPr txBox="1"/>
            <p:nvPr/>
          </p:nvSpPr>
          <p:spPr>
            <a:xfrm>
              <a:off x="8896341" y="3689738"/>
              <a:ext cx="9701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/>
                <a:t>Espejo</a:t>
              </a:r>
            </a:p>
            <a:p>
              <a:pPr algn="ctr"/>
              <a:r>
                <a:rPr lang="es-ES"/>
                <a:t>50%</a:t>
              </a:r>
            </a:p>
          </p:txBody>
        </p:sp>
      </p:grpSp>
      <p:sp>
        <p:nvSpPr>
          <p:cNvPr id="28" name="Text Box 81">
            <a:extLst>
              <a:ext uri="{FF2B5EF4-FFF2-40B4-BE49-F238E27FC236}">
                <a16:creationId xmlns:a16="http://schemas.microsoft.com/office/drawing/2014/main" id="{0523A994-3313-F577-1170-EA23F784E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15" y="1445213"/>
            <a:ext cx="5798269" cy="9567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se emiten</a:t>
            </a:r>
            <a:r>
              <a:rPr lang="es-ES" sz="2400">
                <a:latin typeface="Arial" panose="020B0604020202020204" pitchFamily="34" charset="0"/>
              </a:rPr>
              <a:t>, se tiene </a:t>
            </a:r>
            <a:r>
              <a:rPr lang="es-ES" sz="2400" dirty="0">
                <a:latin typeface="Arial" panose="020B0604020202020204" pitchFamily="34" charset="0"/>
              </a:rPr>
              <a:t>una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OEM intensa </a:t>
            </a:r>
            <a:r>
              <a:rPr lang="es-ES" sz="2400">
                <a:latin typeface="Arial" panose="020B0604020202020204" pitchFamily="34" charset="0"/>
              </a:rPr>
              <a:t>suma de las emitidas y las incidentes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9" name="Text Box 81">
            <a:extLst>
              <a:ext uri="{FF2B5EF4-FFF2-40B4-BE49-F238E27FC236}">
                <a16:creationId xmlns:a16="http://schemas.microsoft.com/office/drawing/2014/main" id="{BDB16938-92D5-BB40-3E1B-E7D87F08B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563" y="5875040"/>
            <a:ext cx="8242847" cy="95677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Al inicio, sin OEM incidiendo, los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 bajan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aleatoriamente</a:t>
            </a:r>
            <a:r>
              <a:rPr lang="es-ES" sz="2400">
                <a:latin typeface="Arial" panose="020B0604020202020204" pitchFamily="34" charset="0"/>
              </a:rPr>
              <a:t>, emitiendo las OEM que "bombardearán" al principio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103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3">
            <a:extLst>
              <a:ext uri="{FF2B5EF4-FFF2-40B4-BE49-F238E27FC236}">
                <a16:creationId xmlns:a16="http://schemas.microsoft.com/office/drawing/2014/main" id="{B905C245-BCBF-CE31-E8F1-ACAD6B1CDBE6}"/>
              </a:ext>
            </a:extLst>
          </p:cNvPr>
          <p:cNvGrpSpPr>
            <a:grpSpLocks/>
          </p:cNvGrpSpPr>
          <p:nvPr/>
        </p:nvGrpSpPr>
        <p:grpSpPr bwMode="auto">
          <a:xfrm>
            <a:off x="1373339" y="2067055"/>
            <a:ext cx="457200" cy="2239963"/>
            <a:chOff x="2493" y="2859"/>
            <a:chExt cx="288" cy="1411"/>
          </a:xfrm>
        </p:grpSpPr>
        <p:sp>
          <p:nvSpPr>
            <p:cNvPr id="3" name="Line 53">
              <a:extLst>
                <a:ext uri="{FF2B5EF4-FFF2-40B4-BE49-F238E27FC236}">
                  <a16:creationId xmlns:a16="http://schemas.microsoft.com/office/drawing/2014/main" id="{F175A6F8-F615-F936-BC3E-8FE9DA9990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1" y="2878"/>
              <a:ext cx="0" cy="13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" name="Text Box 54">
              <a:extLst>
                <a:ext uri="{FF2B5EF4-FFF2-40B4-BE49-F238E27FC236}">
                  <a16:creationId xmlns:a16="http://schemas.microsoft.com/office/drawing/2014/main" id="{F64BB09F-927E-5C10-F6AB-3195D275B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3" y="2859"/>
              <a:ext cx="221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5" name="Group 82">
            <a:extLst>
              <a:ext uri="{FF2B5EF4-FFF2-40B4-BE49-F238E27FC236}">
                <a16:creationId xmlns:a16="http://schemas.microsoft.com/office/drawing/2014/main" id="{3D116884-559B-3F10-EE72-FDC318CE33F3}"/>
              </a:ext>
            </a:extLst>
          </p:cNvPr>
          <p:cNvGrpSpPr>
            <a:grpSpLocks/>
          </p:cNvGrpSpPr>
          <p:nvPr/>
        </p:nvGrpSpPr>
        <p:grpSpPr bwMode="auto">
          <a:xfrm>
            <a:off x="2069386" y="2986220"/>
            <a:ext cx="2760662" cy="1150938"/>
            <a:chOff x="2537" y="3438"/>
            <a:chExt cx="2140" cy="725"/>
          </a:xfrm>
        </p:grpSpPr>
        <p:sp>
          <p:nvSpPr>
            <p:cNvPr id="6" name="Line 55">
              <a:extLst>
                <a:ext uri="{FF2B5EF4-FFF2-40B4-BE49-F238E27FC236}">
                  <a16:creationId xmlns:a16="http://schemas.microsoft.com/office/drawing/2014/main" id="{B7BE3B45-85D0-DBB1-E106-CF7BBF5CE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4163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7" name="Line 56">
              <a:extLst>
                <a:ext uri="{FF2B5EF4-FFF2-40B4-BE49-F238E27FC236}">
                  <a16:creationId xmlns:a16="http://schemas.microsoft.com/office/drawing/2014/main" id="{E81D124D-55EA-7F22-2EC8-C14DE1B31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3735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8" name="Line 58">
              <a:extLst>
                <a:ext uri="{FF2B5EF4-FFF2-40B4-BE49-F238E27FC236}">
                  <a16:creationId xmlns:a16="http://schemas.microsoft.com/office/drawing/2014/main" id="{078E0B88-27DA-6B9D-31D3-A35747FCD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3438"/>
              <a:ext cx="213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511816C-1B3D-0711-CA19-969BBF391D66}"/>
              </a:ext>
            </a:extLst>
          </p:cNvPr>
          <p:cNvGrpSpPr/>
          <p:nvPr/>
        </p:nvGrpSpPr>
        <p:grpSpPr>
          <a:xfrm>
            <a:off x="2051968" y="3532765"/>
            <a:ext cx="2823679" cy="403250"/>
            <a:chOff x="6066554" y="3004329"/>
            <a:chExt cx="2823679" cy="403250"/>
          </a:xfrm>
        </p:grpSpPr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1842888D-83E0-7505-E369-CB4A7F5D4F0E}"/>
                </a:ext>
              </a:extLst>
            </p:cNvPr>
            <p:cNvSpPr/>
            <p:nvPr/>
          </p:nvSpPr>
          <p:spPr bwMode="auto">
            <a:xfrm flipH="1">
              <a:off x="6066554" y="3004329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1" name="Forma libre: forma 50">
              <a:extLst>
                <a:ext uri="{FF2B5EF4-FFF2-40B4-BE49-F238E27FC236}">
                  <a16:creationId xmlns:a16="http://schemas.microsoft.com/office/drawing/2014/main" id="{6A1E3C4E-138C-A07D-9C03-CAE14460B7B5}"/>
                </a:ext>
              </a:extLst>
            </p:cNvPr>
            <p:cNvSpPr/>
            <p:nvPr/>
          </p:nvSpPr>
          <p:spPr bwMode="auto">
            <a:xfrm>
              <a:off x="8474596" y="3041689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17750043-E925-2686-432C-8CD109AC0705}"/>
              </a:ext>
            </a:extLst>
          </p:cNvPr>
          <p:cNvGrpSpPr/>
          <p:nvPr/>
        </p:nvGrpSpPr>
        <p:grpSpPr>
          <a:xfrm>
            <a:off x="7356765" y="2879997"/>
            <a:ext cx="1128103" cy="1216415"/>
            <a:chOff x="7356765" y="2879997"/>
            <a:chExt cx="1128103" cy="1216415"/>
          </a:xfrm>
        </p:grpSpPr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6031FAAE-0030-CA72-AC81-351B036CC072}"/>
                </a:ext>
              </a:extLst>
            </p:cNvPr>
            <p:cNvSpPr/>
            <p:nvPr/>
          </p:nvSpPr>
          <p:spPr bwMode="auto">
            <a:xfrm>
              <a:off x="7356765" y="2879997"/>
              <a:ext cx="1105709" cy="730844"/>
            </a:xfrm>
            <a:prstGeom prst="rect">
              <a:avLst/>
            </a:prstGeom>
            <a:solidFill>
              <a:srgbClr val="C0C0C0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2F0030C9-746E-6606-939D-76708311FD43}"/>
                </a:ext>
              </a:extLst>
            </p:cNvPr>
            <p:cNvSpPr txBox="1"/>
            <p:nvPr/>
          </p:nvSpPr>
          <p:spPr>
            <a:xfrm>
              <a:off x="7388093" y="3696302"/>
              <a:ext cx="10967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/>
                <a:t>Material</a:t>
              </a:r>
            </a:p>
          </p:txBody>
        </p: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0630720A-184D-9835-732D-CB73DDE9EA10}"/>
              </a:ext>
            </a:extLst>
          </p:cNvPr>
          <p:cNvGrpSpPr/>
          <p:nvPr/>
        </p:nvGrpSpPr>
        <p:grpSpPr>
          <a:xfrm>
            <a:off x="6669231" y="2973156"/>
            <a:ext cx="2459995" cy="392859"/>
            <a:chOff x="6669231" y="2973156"/>
            <a:chExt cx="2459995" cy="392859"/>
          </a:xfrm>
        </p:grpSpPr>
        <p:sp>
          <p:nvSpPr>
            <p:cNvPr id="57" name="Forma libre: forma 56">
              <a:extLst>
                <a:ext uri="{FF2B5EF4-FFF2-40B4-BE49-F238E27FC236}">
                  <a16:creationId xmlns:a16="http://schemas.microsoft.com/office/drawing/2014/main" id="{253425DE-9D59-71F6-32A7-33235E1FBD23}"/>
                </a:ext>
              </a:extLst>
            </p:cNvPr>
            <p:cNvSpPr/>
            <p:nvPr/>
          </p:nvSpPr>
          <p:spPr bwMode="auto">
            <a:xfrm flipH="1">
              <a:off x="6669231" y="2973156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8" name="Forma libre: forma 57">
              <a:extLst>
                <a:ext uri="{FF2B5EF4-FFF2-40B4-BE49-F238E27FC236}">
                  <a16:creationId xmlns:a16="http://schemas.microsoft.com/office/drawing/2014/main" id="{DA75145B-A298-B792-053F-0D9B60BC2417}"/>
                </a:ext>
              </a:extLst>
            </p:cNvPr>
            <p:cNvSpPr/>
            <p:nvPr/>
          </p:nvSpPr>
          <p:spPr bwMode="auto">
            <a:xfrm>
              <a:off x="8713589" y="3000125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10E676F1-A43F-6480-78A5-2AB2479D5909}"/>
              </a:ext>
            </a:extLst>
          </p:cNvPr>
          <p:cNvGrpSpPr/>
          <p:nvPr/>
        </p:nvGrpSpPr>
        <p:grpSpPr>
          <a:xfrm>
            <a:off x="5906679" y="2869606"/>
            <a:ext cx="3959799" cy="1528018"/>
            <a:chOff x="5906679" y="2869606"/>
            <a:chExt cx="3959799" cy="1528018"/>
          </a:xfrm>
        </p:grpSpPr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A557A8C9-EE7E-62DE-2914-66A837C4D747}"/>
                </a:ext>
              </a:extLst>
            </p:cNvPr>
            <p:cNvSpPr/>
            <p:nvPr/>
          </p:nvSpPr>
          <p:spPr bwMode="auto">
            <a:xfrm>
              <a:off x="6348257" y="2869606"/>
              <a:ext cx="145938" cy="730839"/>
            </a:xfrm>
            <a:prstGeom prst="rect">
              <a:avLst/>
            </a:prstGeom>
            <a:solidFill>
              <a:srgbClr val="99CC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033EDBAE-8BA2-C17D-52A4-EA25ABB7A238}"/>
                </a:ext>
              </a:extLst>
            </p:cNvPr>
            <p:cNvSpPr/>
            <p:nvPr/>
          </p:nvSpPr>
          <p:spPr bwMode="auto">
            <a:xfrm>
              <a:off x="9294077" y="2873774"/>
              <a:ext cx="145938" cy="730839"/>
            </a:xfrm>
            <a:prstGeom prst="rect">
              <a:avLst/>
            </a:prstGeom>
            <a:solidFill>
              <a:srgbClr val="99CC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316D8517-24E8-0C14-4B65-663C6FE09561}"/>
                </a:ext>
              </a:extLst>
            </p:cNvPr>
            <p:cNvSpPr txBox="1"/>
            <p:nvPr/>
          </p:nvSpPr>
          <p:spPr>
            <a:xfrm>
              <a:off x="5906679" y="3664824"/>
              <a:ext cx="9701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/>
                <a:t>Espejo</a:t>
              </a:r>
            </a:p>
            <a:p>
              <a:pPr algn="ctr"/>
              <a:r>
                <a:rPr lang="es-ES"/>
                <a:t>100%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398F7BB9-E999-AF9B-88C3-D349AB751A77}"/>
                </a:ext>
              </a:extLst>
            </p:cNvPr>
            <p:cNvSpPr txBox="1"/>
            <p:nvPr/>
          </p:nvSpPr>
          <p:spPr>
            <a:xfrm>
              <a:off x="8896341" y="3689738"/>
              <a:ext cx="9701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/>
                <a:t>Espejo</a:t>
              </a:r>
            </a:p>
            <a:p>
              <a:pPr algn="ctr"/>
              <a:r>
                <a:rPr lang="es-ES"/>
                <a:t>50%</a:t>
              </a:r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6ACD9206-FAEF-D00A-230E-5E45A1C59F3C}"/>
              </a:ext>
            </a:extLst>
          </p:cNvPr>
          <p:cNvGrpSpPr/>
          <p:nvPr/>
        </p:nvGrpSpPr>
        <p:grpSpPr>
          <a:xfrm>
            <a:off x="6686548" y="3173307"/>
            <a:ext cx="2428822" cy="380485"/>
            <a:chOff x="6686548" y="3173307"/>
            <a:chExt cx="2428822" cy="380485"/>
          </a:xfrm>
        </p:grpSpPr>
        <p:sp>
          <p:nvSpPr>
            <p:cNvPr id="67" name="Forma libre: forma 66">
              <a:extLst>
                <a:ext uri="{FF2B5EF4-FFF2-40B4-BE49-F238E27FC236}">
                  <a16:creationId xmlns:a16="http://schemas.microsoft.com/office/drawing/2014/main" id="{AAD768E1-4ECF-BEBC-6CA7-0921D057A34E}"/>
                </a:ext>
              </a:extLst>
            </p:cNvPr>
            <p:cNvSpPr/>
            <p:nvPr/>
          </p:nvSpPr>
          <p:spPr bwMode="auto">
            <a:xfrm flipH="1">
              <a:off x="6686548" y="3187902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69" name="Forma libre: forma 68">
              <a:extLst>
                <a:ext uri="{FF2B5EF4-FFF2-40B4-BE49-F238E27FC236}">
                  <a16:creationId xmlns:a16="http://schemas.microsoft.com/office/drawing/2014/main" id="{280B641A-E5CB-F8FF-E8EF-AD569E977042}"/>
                </a:ext>
              </a:extLst>
            </p:cNvPr>
            <p:cNvSpPr/>
            <p:nvPr/>
          </p:nvSpPr>
          <p:spPr bwMode="auto">
            <a:xfrm>
              <a:off x="8699733" y="3173307"/>
              <a:ext cx="415637" cy="365890"/>
            </a:xfrm>
            <a:custGeom>
              <a:avLst/>
              <a:gdLst>
                <a:gd name="connsiteX0" fmla="*/ 0 w 415637"/>
                <a:gd name="connsiteY0" fmla="*/ 241193 h 365890"/>
                <a:gd name="connsiteX1" fmla="*/ 83128 w 415637"/>
                <a:gd name="connsiteY1" fmla="*/ 2202 h 365890"/>
                <a:gd name="connsiteX2" fmla="*/ 93518 w 415637"/>
                <a:gd name="connsiteY2" fmla="*/ 365884 h 365890"/>
                <a:gd name="connsiteX3" fmla="*/ 166255 w 415637"/>
                <a:gd name="connsiteY3" fmla="*/ 12593 h 365890"/>
                <a:gd name="connsiteX4" fmla="*/ 207818 w 415637"/>
                <a:gd name="connsiteY4" fmla="*/ 365884 h 365890"/>
                <a:gd name="connsiteX5" fmla="*/ 280555 w 415637"/>
                <a:gd name="connsiteY5" fmla="*/ 12593 h 365890"/>
                <a:gd name="connsiteX6" fmla="*/ 301337 w 415637"/>
                <a:gd name="connsiteY6" fmla="*/ 241193 h 365890"/>
                <a:gd name="connsiteX7" fmla="*/ 415637 w 415637"/>
                <a:gd name="connsiteY7" fmla="*/ 241193 h 36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637" h="365890">
                  <a:moveTo>
                    <a:pt x="0" y="241193"/>
                  </a:moveTo>
                  <a:cubicBezTo>
                    <a:pt x="33771" y="111306"/>
                    <a:pt x="67542" y="-18580"/>
                    <a:pt x="83128" y="2202"/>
                  </a:cubicBezTo>
                  <a:cubicBezTo>
                    <a:pt x="98714" y="22984"/>
                    <a:pt x="79664" y="364152"/>
                    <a:pt x="93518" y="365884"/>
                  </a:cubicBezTo>
                  <a:cubicBezTo>
                    <a:pt x="107372" y="367616"/>
                    <a:pt x="147205" y="12593"/>
                    <a:pt x="166255" y="12593"/>
                  </a:cubicBezTo>
                  <a:cubicBezTo>
                    <a:pt x="185305" y="12593"/>
                    <a:pt x="188768" y="365884"/>
                    <a:pt x="207818" y="365884"/>
                  </a:cubicBezTo>
                  <a:cubicBezTo>
                    <a:pt x="226868" y="365884"/>
                    <a:pt x="264969" y="33375"/>
                    <a:pt x="280555" y="12593"/>
                  </a:cubicBezTo>
                  <a:cubicBezTo>
                    <a:pt x="296141" y="-8189"/>
                    <a:pt x="278823" y="203093"/>
                    <a:pt x="301337" y="241193"/>
                  </a:cubicBezTo>
                  <a:cubicBezTo>
                    <a:pt x="323851" y="279293"/>
                    <a:pt x="369744" y="260243"/>
                    <a:pt x="415637" y="241193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2" name="Text Box 81">
            <a:extLst>
              <a:ext uri="{FF2B5EF4-FFF2-40B4-BE49-F238E27FC236}">
                <a16:creationId xmlns:a16="http://schemas.microsoft.com/office/drawing/2014/main" id="{AA7D3931-E644-C46E-E8D1-9A8F1EBCD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633" y="600698"/>
            <a:ext cx="8305800" cy="9567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el proceso descrito se repite, </a:t>
            </a:r>
            <a:r>
              <a:rPr lang="es-ES" sz="2400" dirty="0">
                <a:latin typeface="Arial" panose="020B0604020202020204" pitchFamily="34" charset="0"/>
              </a:rPr>
              <a:t>se tiene una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emisión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continua e intensa de OEM </a:t>
            </a:r>
            <a:r>
              <a:rPr lang="es-ES" sz="2400">
                <a:latin typeface="Arial" panose="020B0604020202020204" pitchFamily="34" charset="0"/>
              </a:rPr>
              <a:t>a </a:t>
            </a:r>
            <a:r>
              <a:rPr lang="es-ES" sz="2400" dirty="0">
                <a:latin typeface="Arial" panose="020B0604020202020204" pitchFamily="34" charset="0"/>
              </a:rPr>
              <a:t>través </a:t>
            </a:r>
            <a:r>
              <a:rPr lang="es-ES" sz="2400">
                <a:latin typeface="Arial" panose="020B0604020202020204" pitchFamily="34" charset="0"/>
              </a:rPr>
              <a:t>del semiespejo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4EA8554D-B34A-72AA-7412-B23FFA86B830}"/>
              </a:ext>
            </a:extLst>
          </p:cNvPr>
          <p:cNvSpPr/>
          <p:nvPr/>
        </p:nvSpPr>
        <p:spPr bwMode="auto">
          <a:xfrm>
            <a:off x="9589890" y="3065933"/>
            <a:ext cx="415637" cy="365890"/>
          </a:xfrm>
          <a:custGeom>
            <a:avLst/>
            <a:gdLst>
              <a:gd name="connsiteX0" fmla="*/ 0 w 415637"/>
              <a:gd name="connsiteY0" fmla="*/ 241193 h 365890"/>
              <a:gd name="connsiteX1" fmla="*/ 83128 w 415637"/>
              <a:gd name="connsiteY1" fmla="*/ 2202 h 365890"/>
              <a:gd name="connsiteX2" fmla="*/ 93518 w 415637"/>
              <a:gd name="connsiteY2" fmla="*/ 365884 h 365890"/>
              <a:gd name="connsiteX3" fmla="*/ 166255 w 415637"/>
              <a:gd name="connsiteY3" fmla="*/ 12593 h 365890"/>
              <a:gd name="connsiteX4" fmla="*/ 207818 w 415637"/>
              <a:gd name="connsiteY4" fmla="*/ 365884 h 365890"/>
              <a:gd name="connsiteX5" fmla="*/ 280555 w 415637"/>
              <a:gd name="connsiteY5" fmla="*/ 12593 h 365890"/>
              <a:gd name="connsiteX6" fmla="*/ 301337 w 415637"/>
              <a:gd name="connsiteY6" fmla="*/ 241193 h 365890"/>
              <a:gd name="connsiteX7" fmla="*/ 415637 w 415637"/>
              <a:gd name="connsiteY7" fmla="*/ 241193 h 36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5637" h="365890">
                <a:moveTo>
                  <a:pt x="0" y="241193"/>
                </a:moveTo>
                <a:cubicBezTo>
                  <a:pt x="33771" y="111306"/>
                  <a:pt x="67542" y="-18580"/>
                  <a:pt x="83128" y="2202"/>
                </a:cubicBezTo>
                <a:cubicBezTo>
                  <a:pt x="98714" y="22984"/>
                  <a:pt x="79664" y="364152"/>
                  <a:pt x="93518" y="365884"/>
                </a:cubicBezTo>
                <a:cubicBezTo>
                  <a:pt x="107372" y="367616"/>
                  <a:pt x="147205" y="12593"/>
                  <a:pt x="166255" y="12593"/>
                </a:cubicBezTo>
                <a:cubicBezTo>
                  <a:pt x="185305" y="12593"/>
                  <a:pt x="188768" y="365884"/>
                  <a:pt x="207818" y="365884"/>
                </a:cubicBezTo>
                <a:cubicBezTo>
                  <a:pt x="226868" y="365884"/>
                  <a:pt x="264969" y="33375"/>
                  <a:pt x="280555" y="12593"/>
                </a:cubicBezTo>
                <a:cubicBezTo>
                  <a:pt x="296141" y="-8189"/>
                  <a:pt x="278823" y="203093"/>
                  <a:pt x="301337" y="241193"/>
                </a:cubicBezTo>
                <a:cubicBezTo>
                  <a:pt x="323851" y="279293"/>
                  <a:pt x="369744" y="260243"/>
                  <a:pt x="415637" y="241193"/>
                </a:cubicBezTo>
              </a:path>
            </a:pathLst>
          </a:cu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118800" rIns="91440" bIns="118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4" name="Text Box 42">
            <a:extLst>
              <a:ext uri="{FF2B5EF4-FFF2-40B4-BE49-F238E27FC236}">
                <a16:creationId xmlns:a16="http://schemas.microsoft.com/office/drawing/2014/main" id="{229B4357-0CBE-4E35-BA3B-B154861C6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016" y="5043565"/>
            <a:ext cx="8692597" cy="1326105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Si la frecuencia de la OEM corresponde a una de </a:t>
            </a:r>
            <a:r>
              <a:rPr lang="es-ES" sz="2400">
                <a:solidFill>
                  <a:schemeClr val="tx1"/>
                </a:solidFill>
              </a:rPr>
              <a:t>la luz (PHz),</a:t>
            </a:r>
            <a:endParaRPr lang="es-ES" sz="2400" dirty="0">
              <a:solidFill>
                <a:schemeClr val="tx1"/>
              </a:solidFill>
            </a:endParaRP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se habla de </a:t>
            </a:r>
            <a:r>
              <a:rPr lang="es-ES" sz="2400" b="1" dirty="0">
                <a:solidFill>
                  <a:srgbClr val="FF0000"/>
                </a:solidFill>
              </a:rPr>
              <a:t>LÁSER</a:t>
            </a:r>
            <a:r>
              <a:rPr lang="es-ES" sz="2400" dirty="0">
                <a:solidFill>
                  <a:schemeClr val="tx1"/>
                </a:solidFill>
              </a:rPr>
              <a:t> (</a:t>
            </a:r>
            <a:r>
              <a:rPr lang="es-ES" sz="2400" b="1" dirty="0" err="1">
                <a:solidFill>
                  <a:srgbClr val="FF0000"/>
                </a:solidFill>
              </a:rPr>
              <a:t>L</a:t>
            </a:r>
            <a:r>
              <a:rPr lang="es-ES" sz="2400" dirty="0" err="1">
                <a:solidFill>
                  <a:schemeClr val="tx1"/>
                </a:solidFill>
              </a:rPr>
              <a:t>igth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b="1" dirty="0" err="1">
                <a:solidFill>
                  <a:srgbClr val="FF0000"/>
                </a:solidFill>
              </a:rPr>
              <a:t>A</a:t>
            </a:r>
            <a:r>
              <a:rPr lang="es-ES" sz="2400" dirty="0" err="1">
                <a:solidFill>
                  <a:schemeClr val="tx1"/>
                </a:solidFill>
              </a:rPr>
              <a:t>mplification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by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b="1" dirty="0" err="1">
                <a:solidFill>
                  <a:srgbClr val="FF0000"/>
                </a:solidFill>
              </a:rPr>
              <a:t>S</a:t>
            </a:r>
            <a:r>
              <a:rPr lang="es-ES" sz="2400" dirty="0" err="1">
                <a:solidFill>
                  <a:schemeClr val="tx1"/>
                </a:solidFill>
              </a:rPr>
              <a:t>timulated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b="1" dirty="0" err="1">
                <a:solidFill>
                  <a:srgbClr val="FF0000"/>
                </a:solidFill>
              </a:rPr>
              <a:t>E</a:t>
            </a:r>
            <a:r>
              <a:rPr lang="es-ES" sz="2400" dirty="0" err="1">
                <a:solidFill>
                  <a:schemeClr val="tx1"/>
                </a:solidFill>
              </a:rPr>
              <a:t>mission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of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b="1" dirty="0" err="1">
                <a:solidFill>
                  <a:srgbClr val="FF0000"/>
                </a:solidFill>
              </a:rPr>
              <a:t>R</a:t>
            </a:r>
            <a:r>
              <a:rPr lang="es-ES" sz="2400" dirty="0" err="1">
                <a:solidFill>
                  <a:schemeClr val="tx1"/>
                </a:solidFill>
              </a:rPr>
              <a:t>adiation</a:t>
            </a:r>
            <a:r>
              <a:rPr lang="es-ES" sz="2400" dirty="0">
                <a:solidFill>
                  <a:schemeClr val="tx1"/>
                </a:solidFill>
              </a:rPr>
              <a:t>), y en el caso de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es-ES" sz="2400">
                <a:solidFill>
                  <a:schemeClr val="tx1"/>
                </a:solidFill>
              </a:rPr>
              <a:t>ondas, </a:t>
            </a:r>
            <a:r>
              <a:rPr lang="es-ES" sz="2400" dirty="0">
                <a:solidFill>
                  <a:schemeClr val="tx1"/>
                </a:solidFill>
              </a:rPr>
              <a:t>de </a:t>
            </a:r>
            <a:r>
              <a:rPr lang="es-ES" sz="2400" b="1" dirty="0">
                <a:solidFill>
                  <a:srgbClr val="FF0000"/>
                </a:solidFill>
              </a:rPr>
              <a:t>MÁSER</a:t>
            </a:r>
            <a:endParaRPr lang="es-ES" sz="2400" b="1" baseline="30000" dirty="0">
              <a:solidFill>
                <a:srgbClr val="FF0000"/>
              </a:solidFill>
            </a:endParaRPr>
          </a:p>
        </p:txBody>
      </p:sp>
      <p:sp>
        <p:nvSpPr>
          <p:cNvPr id="20" name="Oval 60">
            <a:extLst>
              <a:ext uri="{FF2B5EF4-FFF2-40B4-BE49-F238E27FC236}">
                <a16:creationId xmlns:a16="http://schemas.microsoft.com/office/drawing/2014/main" id="{694CBCC2-FCDB-63D0-BC3E-1297EA494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327" y="2870330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" name="Oval 61">
            <a:extLst>
              <a:ext uri="{FF2B5EF4-FFF2-40B4-BE49-F238E27FC236}">
                <a16:creationId xmlns:a16="http://schemas.microsoft.com/office/drawing/2014/main" id="{C81FCF8C-A881-A12F-6EA2-98B6E776B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164" y="2859218"/>
            <a:ext cx="215900" cy="2159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rgbClr val="FF0000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65014982-CDEC-BA9C-6A2A-D3FF433120CA}"/>
              </a:ext>
            </a:extLst>
          </p:cNvPr>
          <p:cNvGrpSpPr/>
          <p:nvPr/>
        </p:nvGrpSpPr>
        <p:grpSpPr>
          <a:xfrm>
            <a:off x="2556220" y="2869606"/>
            <a:ext cx="216773" cy="1386670"/>
            <a:chOff x="7099350" y="1242301"/>
            <a:chExt cx="216773" cy="1386670"/>
          </a:xfrm>
        </p:grpSpPr>
        <p:sp>
          <p:nvSpPr>
            <p:cNvPr id="26" name="Line 48">
              <a:extLst>
                <a:ext uri="{FF2B5EF4-FFF2-40B4-BE49-F238E27FC236}">
                  <a16:creationId xmlns:a16="http://schemas.microsoft.com/office/drawing/2014/main" id="{8ACE2EFD-0C12-1EA3-7AE5-0EE8C6719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040" y="1524842"/>
              <a:ext cx="0" cy="83175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27" name="Oval 64">
              <a:extLst>
                <a:ext uri="{FF2B5EF4-FFF2-40B4-BE49-F238E27FC236}">
                  <a16:creationId xmlns:a16="http://schemas.microsoft.com/office/drawing/2014/main" id="{CED23A73-CA76-8B13-A9B9-735A52586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0223" y="124230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Oval 62">
              <a:extLst>
                <a:ext uri="{FF2B5EF4-FFF2-40B4-BE49-F238E27FC236}">
                  <a16:creationId xmlns:a16="http://schemas.microsoft.com/office/drawing/2014/main" id="{80F26DF3-6D46-B795-5EEC-9C9B39A74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9350" y="2413071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C30399C5-B23E-A8BA-8893-B5DAA55CD046}"/>
              </a:ext>
            </a:extLst>
          </p:cNvPr>
          <p:cNvGrpSpPr/>
          <p:nvPr/>
        </p:nvGrpSpPr>
        <p:grpSpPr>
          <a:xfrm>
            <a:off x="4162425" y="2844237"/>
            <a:ext cx="216773" cy="1407452"/>
            <a:chOff x="7099350" y="1242301"/>
            <a:chExt cx="216773" cy="1407452"/>
          </a:xfrm>
        </p:grpSpPr>
        <p:sp>
          <p:nvSpPr>
            <p:cNvPr id="30" name="Line 48">
              <a:extLst>
                <a:ext uri="{FF2B5EF4-FFF2-40B4-BE49-F238E27FC236}">
                  <a16:creationId xmlns:a16="http://schemas.microsoft.com/office/drawing/2014/main" id="{3DF9CB7B-55EC-4892-CE9A-CA345B0E2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040" y="1493645"/>
              <a:ext cx="0" cy="9149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31" name="Oval 64">
              <a:extLst>
                <a:ext uri="{FF2B5EF4-FFF2-40B4-BE49-F238E27FC236}">
                  <a16:creationId xmlns:a16="http://schemas.microsoft.com/office/drawing/2014/main" id="{7C75A55D-7865-11DD-21B5-1C06909E0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0223" y="1242301"/>
              <a:ext cx="215900" cy="215900"/>
            </a:xfrm>
            <a:prstGeom prst="ellipse">
              <a:avLst/>
            </a:prstGeom>
            <a:solidFill>
              <a:srgbClr val="EDE7E3"/>
            </a:solidFill>
            <a:ln w="25400" algn="ctr">
              <a:solidFill>
                <a:srgbClr val="FF0000"/>
              </a:solidFill>
              <a:prstDash val="dash"/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Oval 62">
              <a:extLst>
                <a:ext uri="{FF2B5EF4-FFF2-40B4-BE49-F238E27FC236}">
                  <a16:creationId xmlns:a16="http://schemas.microsoft.com/office/drawing/2014/main" id="{E60709C2-9507-D855-71B4-C5E1DD193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9350" y="2433853"/>
              <a:ext cx="215900" cy="215900"/>
            </a:xfrm>
            <a:prstGeom prst="ellipse">
              <a:avLst/>
            </a:prstGeom>
            <a:solidFill>
              <a:srgbClr val="FF0000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63621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815" name="Text Box 31"/>
          <p:cNvSpPr txBox="1">
            <a:spLocks noChangeArrowheads="1"/>
          </p:cNvSpPr>
          <p:nvPr/>
        </p:nvSpPr>
        <p:spPr bwMode="auto">
          <a:xfrm>
            <a:off x="1278082" y="2065719"/>
            <a:ext cx="8998527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Los niveles y orbitales de esos electrones, que son los más externos de los átomos, se combinan, y los niveles y orbitales de energía superiores vacíos, también</a:t>
            </a:r>
          </a:p>
        </p:txBody>
      </p:sp>
      <p:sp>
        <p:nvSpPr>
          <p:cNvPr id="886816" name="Text Box 32"/>
          <p:cNvSpPr txBox="1">
            <a:spLocks noChangeArrowheads="1"/>
          </p:cNvSpPr>
          <p:nvPr/>
        </p:nvSpPr>
        <p:spPr bwMode="auto">
          <a:xfrm>
            <a:off x="1278082" y="3291424"/>
            <a:ext cx="8998527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 Se genera un número igual tanto de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niveles moleculares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donde se sitúan dichos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como de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orbitales moleculares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" name="Text Box 66"/>
          <p:cNvSpPr txBox="1">
            <a:spLocks noChangeArrowheads="1"/>
          </p:cNvSpPr>
          <p:nvPr/>
        </p:nvSpPr>
        <p:spPr bwMode="auto">
          <a:xfrm>
            <a:off x="7234639" y="413370"/>
            <a:ext cx="2081317" cy="60925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MOLÉCULAS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 Box 65"/>
          <p:cNvSpPr txBox="1">
            <a:spLocks noChangeArrowheads="1"/>
          </p:cNvSpPr>
          <p:nvPr/>
        </p:nvSpPr>
        <p:spPr bwMode="auto">
          <a:xfrm>
            <a:off x="1496913" y="416455"/>
            <a:ext cx="4070126" cy="58744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¿Energía de los electrones?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364ADAA6-A47C-4EB3-A560-959302F504EA}"/>
              </a:ext>
            </a:extLst>
          </p:cNvPr>
          <p:cNvSpPr/>
          <p:nvPr/>
        </p:nvSpPr>
        <p:spPr bwMode="auto">
          <a:xfrm>
            <a:off x="5943600" y="464455"/>
            <a:ext cx="1000125" cy="465210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18800" rIns="91440" bIns="118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" name="Text Box 31">
            <a:extLst>
              <a:ext uri="{FF2B5EF4-FFF2-40B4-BE49-F238E27FC236}">
                <a16:creationId xmlns:a16="http://schemas.microsoft.com/office/drawing/2014/main" id="{20228C8A-FBF3-BB65-B7E7-068238D40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7557" y="1105933"/>
            <a:ext cx="5670358" cy="905881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 las que en los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enlaces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entre átomos se comparten electrones (covalentes)</a:t>
            </a: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5CB88FD4-B963-48F2-5D20-4EAE3329EE30}"/>
              </a:ext>
            </a:extLst>
          </p:cNvPr>
          <p:cNvSpPr/>
          <p:nvPr/>
        </p:nvSpPr>
        <p:spPr bwMode="auto">
          <a:xfrm>
            <a:off x="5507847" y="5177419"/>
            <a:ext cx="517824" cy="619194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18800" rIns="91440" bIns="118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FC8174B4-E183-BC60-C216-273AB21B7549}"/>
              </a:ext>
            </a:extLst>
          </p:cNvPr>
          <p:cNvGrpSpPr/>
          <p:nvPr/>
        </p:nvGrpSpPr>
        <p:grpSpPr>
          <a:xfrm>
            <a:off x="2526394" y="4410453"/>
            <a:ext cx="2139124" cy="2145777"/>
            <a:chOff x="2526394" y="4327759"/>
            <a:chExt cx="2139124" cy="2145777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A5FCD43B-0EA3-F30A-2BFF-E35988209739}"/>
                </a:ext>
              </a:extLst>
            </p:cNvPr>
            <p:cNvSpPr/>
            <p:nvPr/>
          </p:nvSpPr>
          <p:spPr bwMode="auto">
            <a:xfrm>
              <a:off x="2526394" y="4327759"/>
              <a:ext cx="2139124" cy="2145777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6875DA56-35A9-2DED-5AA1-AF7C11923776}"/>
                </a:ext>
              </a:extLst>
            </p:cNvPr>
            <p:cNvGrpSpPr/>
            <p:nvPr/>
          </p:nvGrpSpPr>
          <p:grpSpPr>
            <a:xfrm>
              <a:off x="2855688" y="4505410"/>
              <a:ext cx="1555396" cy="1837960"/>
              <a:chOff x="6241824" y="4347086"/>
              <a:chExt cx="1555396" cy="1837960"/>
            </a:xfrm>
          </p:grpSpPr>
          <p:sp>
            <p:nvSpPr>
              <p:cNvPr id="6" name="Line 56">
                <a:extLst>
                  <a:ext uri="{FF2B5EF4-FFF2-40B4-BE49-F238E27FC236}">
                    <a16:creationId xmlns:a16="http://schemas.microsoft.com/office/drawing/2014/main" id="{EA14EEF4-C7F4-37AB-5430-03C6A1AA5C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1824" y="6058025"/>
                <a:ext cx="651043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11" name="Line 57">
                <a:extLst>
                  <a:ext uri="{FF2B5EF4-FFF2-40B4-BE49-F238E27FC236}">
                    <a16:creationId xmlns:a16="http://schemas.microsoft.com/office/drawing/2014/main" id="{F2CB8752-7F4F-4B4B-4D27-C39B4BCA76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2128" y="4565614"/>
                <a:ext cx="651043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12" name="Line 58">
                <a:extLst>
                  <a:ext uri="{FF2B5EF4-FFF2-40B4-BE49-F238E27FC236}">
                    <a16:creationId xmlns:a16="http://schemas.microsoft.com/office/drawing/2014/main" id="{42EAF4E7-9961-C5FC-A2BD-550A41F757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2128" y="5586538"/>
                <a:ext cx="651043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13" name="Line 59">
                <a:extLst>
                  <a:ext uri="{FF2B5EF4-FFF2-40B4-BE49-F238E27FC236}">
                    <a16:creationId xmlns:a16="http://schemas.microsoft.com/office/drawing/2014/main" id="{074161E0-F271-3CF3-B858-D937CB9F07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2128" y="5045433"/>
                <a:ext cx="651043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16" name="Line 56">
                <a:extLst>
                  <a:ext uri="{FF2B5EF4-FFF2-40B4-BE49-F238E27FC236}">
                    <a16:creationId xmlns:a16="http://schemas.microsoft.com/office/drawing/2014/main" id="{A666572C-AD42-16BF-3CD6-729264286D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5873" y="5927397"/>
                <a:ext cx="651043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17" name="Line 57">
                <a:extLst>
                  <a:ext uri="{FF2B5EF4-FFF2-40B4-BE49-F238E27FC236}">
                    <a16:creationId xmlns:a16="http://schemas.microsoft.com/office/drawing/2014/main" id="{0026FDE5-3FB3-5076-D28D-D22C64C74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6177" y="4481637"/>
                <a:ext cx="651043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18" name="Line 58">
                <a:extLst>
                  <a:ext uri="{FF2B5EF4-FFF2-40B4-BE49-F238E27FC236}">
                    <a16:creationId xmlns:a16="http://schemas.microsoft.com/office/drawing/2014/main" id="{F3E74FA2-4B10-278E-2887-E9DF9844F6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6177" y="5474569"/>
                <a:ext cx="651043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19" name="Line 59">
                <a:extLst>
                  <a:ext uri="{FF2B5EF4-FFF2-40B4-BE49-F238E27FC236}">
                    <a16:creationId xmlns:a16="http://schemas.microsoft.com/office/drawing/2014/main" id="{7FFC50C8-3C15-C396-7E50-92E1DCCE0B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6177" y="4905473"/>
                <a:ext cx="651043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DF72CEE6-701A-69AD-DAB5-8E7A12489FC1}"/>
                  </a:ext>
                </a:extLst>
              </p:cNvPr>
              <p:cNvSpPr/>
              <p:nvPr/>
            </p:nvSpPr>
            <p:spPr bwMode="auto">
              <a:xfrm>
                <a:off x="6511528" y="4988268"/>
                <a:ext cx="120791" cy="127585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118800" rIns="91440" bIns="118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A5ECF601-8BA1-BC34-EAD1-A36FB019F9D2}"/>
                  </a:ext>
                </a:extLst>
              </p:cNvPr>
              <p:cNvSpPr/>
              <p:nvPr/>
            </p:nvSpPr>
            <p:spPr bwMode="auto">
              <a:xfrm>
                <a:off x="7397445" y="4849988"/>
                <a:ext cx="120791" cy="127585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118800" rIns="91440" bIns="118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7" name="Text Box 85">
                <a:extLst>
                  <a:ext uri="{FF2B5EF4-FFF2-40B4-BE49-F238E27FC236}">
                    <a16:creationId xmlns:a16="http://schemas.microsoft.com/office/drawing/2014/main" id="{FA9432A4-0A80-3745-5E2D-5BCD97C281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8325" y="5474926"/>
                <a:ext cx="431208" cy="2462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0" tIns="0" rIns="0" bIns="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>
                    <a:solidFill>
                      <a:srgbClr val="3333FF"/>
                    </a:solidFill>
                    <a:latin typeface="Arial" panose="020B0604020202020204" pitchFamily="34" charset="0"/>
                  </a:rPr>
                  <a:t>lleno</a:t>
                </a:r>
              </a:p>
            </p:txBody>
          </p:sp>
          <p:sp>
            <p:nvSpPr>
              <p:cNvPr id="38" name="Text Box 85">
                <a:extLst>
                  <a:ext uri="{FF2B5EF4-FFF2-40B4-BE49-F238E27FC236}">
                    <a16:creationId xmlns:a16="http://schemas.microsoft.com/office/drawing/2014/main" id="{16B8CC2D-A51C-6281-C755-35F8E4C88D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0003" y="5938825"/>
                <a:ext cx="431208" cy="2462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0" tIns="0" rIns="0" bIns="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>
                    <a:solidFill>
                      <a:srgbClr val="3333FF"/>
                    </a:solidFill>
                    <a:latin typeface="Arial" panose="020B0604020202020204" pitchFamily="34" charset="0"/>
                  </a:rPr>
                  <a:t>lleno</a:t>
                </a:r>
              </a:p>
            </p:txBody>
          </p:sp>
          <p:sp>
            <p:nvSpPr>
              <p:cNvPr id="40" name="Text Box 85">
                <a:extLst>
                  <a:ext uri="{FF2B5EF4-FFF2-40B4-BE49-F238E27FC236}">
                    <a16:creationId xmlns:a16="http://schemas.microsoft.com/office/drawing/2014/main" id="{8D7DC2B8-8483-7412-DA41-BE23285C2F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34344" y="5374685"/>
                <a:ext cx="431208" cy="2462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0" tIns="0" rIns="0" bIns="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>
                    <a:solidFill>
                      <a:srgbClr val="3333FF"/>
                    </a:solidFill>
                    <a:latin typeface="Arial" panose="020B0604020202020204" pitchFamily="34" charset="0"/>
                  </a:rPr>
                  <a:t>lleno</a:t>
                </a:r>
              </a:p>
            </p:txBody>
          </p:sp>
          <p:sp>
            <p:nvSpPr>
              <p:cNvPr id="41" name="Text Box 85">
                <a:extLst>
                  <a:ext uri="{FF2B5EF4-FFF2-40B4-BE49-F238E27FC236}">
                    <a16:creationId xmlns:a16="http://schemas.microsoft.com/office/drawing/2014/main" id="{8D0C0466-06FC-8DA4-9013-7C7BA65422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36022" y="5819925"/>
                <a:ext cx="431208" cy="2462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0" tIns="0" rIns="0" bIns="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>
                    <a:solidFill>
                      <a:srgbClr val="3333FF"/>
                    </a:solidFill>
                    <a:latin typeface="Arial" panose="020B0604020202020204" pitchFamily="34" charset="0"/>
                  </a:rPr>
                  <a:t>lleno</a:t>
                </a:r>
              </a:p>
            </p:txBody>
          </p:sp>
          <p:sp>
            <p:nvSpPr>
              <p:cNvPr id="49" name="Text Box 85">
                <a:extLst>
                  <a:ext uri="{FF2B5EF4-FFF2-40B4-BE49-F238E27FC236}">
                    <a16:creationId xmlns:a16="http://schemas.microsoft.com/office/drawing/2014/main" id="{ACD5C425-F2D2-97C8-85C6-BFE572F86E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1584" y="4409289"/>
                <a:ext cx="490519" cy="2462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0" tIns="0" rIns="0" bIns="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>
                    <a:solidFill>
                      <a:srgbClr val="3333FF"/>
                    </a:solidFill>
                    <a:latin typeface="Arial" panose="020B0604020202020204" pitchFamily="34" charset="0"/>
                  </a:rPr>
                  <a:t>vacío</a:t>
                </a:r>
              </a:p>
            </p:txBody>
          </p:sp>
          <p:sp>
            <p:nvSpPr>
              <p:cNvPr id="50" name="Text Box 85">
                <a:extLst>
                  <a:ext uri="{FF2B5EF4-FFF2-40B4-BE49-F238E27FC236}">
                    <a16:creationId xmlns:a16="http://schemas.microsoft.com/office/drawing/2014/main" id="{BE6085A2-26C3-A5BB-EA5D-97965B9FED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7660" y="4347086"/>
                <a:ext cx="490519" cy="2462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0" tIns="0" rIns="0" bIns="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>
                    <a:solidFill>
                      <a:srgbClr val="3333FF"/>
                    </a:solidFill>
                    <a:latin typeface="Arial" panose="020B0604020202020204" pitchFamily="34" charset="0"/>
                  </a:rPr>
                  <a:t>vacío</a:t>
                </a:r>
              </a:p>
            </p:txBody>
          </p:sp>
        </p:grp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AC0B131-9411-1456-FF75-993C43CF8295}"/>
              </a:ext>
            </a:extLst>
          </p:cNvPr>
          <p:cNvGrpSpPr/>
          <p:nvPr/>
        </p:nvGrpSpPr>
        <p:grpSpPr>
          <a:xfrm>
            <a:off x="6851196" y="4410453"/>
            <a:ext cx="2199285" cy="2145777"/>
            <a:chOff x="6851196" y="4535579"/>
            <a:chExt cx="2199285" cy="2145777"/>
          </a:xfrm>
        </p:grpSpPr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D8A6840C-2628-245C-3141-3408B44EA8B0}"/>
                </a:ext>
              </a:extLst>
            </p:cNvPr>
            <p:cNvSpPr/>
            <p:nvPr/>
          </p:nvSpPr>
          <p:spPr bwMode="auto">
            <a:xfrm>
              <a:off x="6851196" y="4535579"/>
              <a:ext cx="2199285" cy="2145777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Line 56">
              <a:extLst>
                <a:ext uri="{FF2B5EF4-FFF2-40B4-BE49-F238E27FC236}">
                  <a16:creationId xmlns:a16="http://schemas.microsoft.com/office/drawing/2014/main" id="{EB2EB1B8-97E4-B98C-01BC-7676A7DD1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4491" y="6437816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5" name="Line 57">
              <a:extLst>
                <a:ext uri="{FF2B5EF4-FFF2-40B4-BE49-F238E27FC236}">
                  <a16:creationId xmlns:a16="http://schemas.microsoft.com/office/drawing/2014/main" id="{4041D3D1-5D7A-4911-6080-A6191446C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4877" y="4837413"/>
              <a:ext cx="153512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6" name="Line 58">
              <a:extLst>
                <a:ext uri="{FF2B5EF4-FFF2-40B4-BE49-F238E27FC236}">
                  <a16:creationId xmlns:a16="http://schemas.microsoft.com/office/drawing/2014/main" id="{4F087EB7-27F7-B094-DDA9-3BDCAC7D1B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4795" y="5966329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7" name="Line 59">
              <a:extLst>
                <a:ext uri="{FF2B5EF4-FFF2-40B4-BE49-F238E27FC236}">
                  <a16:creationId xmlns:a16="http://schemas.microsoft.com/office/drawing/2014/main" id="{CDCC6118-80A9-92C2-FC77-0CA89B2AC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4877" y="5354886"/>
              <a:ext cx="153512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30" name="Line 56">
              <a:extLst>
                <a:ext uri="{FF2B5EF4-FFF2-40B4-BE49-F238E27FC236}">
                  <a16:creationId xmlns:a16="http://schemas.microsoft.com/office/drawing/2014/main" id="{43E611CB-6FC6-DF5A-A241-A4E1372D3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540" y="6335176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32" name="Line 58">
              <a:extLst>
                <a:ext uri="{FF2B5EF4-FFF2-40B4-BE49-F238E27FC236}">
                  <a16:creationId xmlns:a16="http://schemas.microsoft.com/office/drawing/2014/main" id="{A8570A1E-F609-8B0E-97A8-5869AC6D8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844" y="5863692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3" name="Text Box 85">
              <a:extLst>
                <a:ext uri="{FF2B5EF4-FFF2-40B4-BE49-F238E27FC236}">
                  <a16:creationId xmlns:a16="http://schemas.microsoft.com/office/drawing/2014/main" id="{C812149C-9D20-DA9D-E107-7BAAF6AF9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0077" y="5853243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44" name="Text Box 85">
              <a:extLst>
                <a:ext uri="{FF2B5EF4-FFF2-40B4-BE49-F238E27FC236}">
                  <a16:creationId xmlns:a16="http://schemas.microsoft.com/office/drawing/2014/main" id="{16E15655-6961-5546-C6E2-DE0D58451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1755" y="6317142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46" name="Text Box 85">
              <a:extLst>
                <a:ext uri="{FF2B5EF4-FFF2-40B4-BE49-F238E27FC236}">
                  <a16:creationId xmlns:a16="http://schemas.microsoft.com/office/drawing/2014/main" id="{20BA96D9-588E-AA8D-D6CA-15D41169F7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6146" y="5752286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47" name="Text Box 85">
              <a:extLst>
                <a:ext uri="{FF2B5EF4-FFF2-40B4-BE49-F238E27FC236}">
                  <a16:creationId xmlns:a16="http://schemas.microsoft.com/office/drawing/2014/main" id="{47C89115-FF3E-1E62-58B7-538332A7B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7824" y="6216182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51" name="Line 59">
              <a:extLst>
                <a:ext uri="{FF2B5EF4-FFF2-40B4-BE49-F238E27FC236}">
                  <a16:creationId xmlns:a16="http://schemas.microsoft.com/office/drawing/2014/main" id="{7AEE2314-0AF1-F2AF-B123-48294769F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6557" y="5507286"/>
              <a:ext cx="153512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53" name="Line 59">
              <a:extLst>
                <a:ext uri="{FF2B5EF4-FFF2-40B4-BE49-F238E27FC236}">
                  <a16:creationId xmlns:a16="http://schemas.microsoft.com/office/drawing/2014/main" id="{383C7B5B-F385-A060-BD91-1B4C686FB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6555" y="4987315"/>
              <a:ext cx="153512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9F4C8F60-AA1F-D205-DEB0-16E6B7AE6124}"/>
                </a:ext>
              </a:extLst>
            </p:cNvPr>
            <p:cNvSpPr/>
            <p:nvPr/>
          </p:nvSpPr>
          <p:spPr bwMode="auto">
            <a:xfrm>
              <a:off x="7504339" y="5438410"/>
              <a:ext cx="120791" cy="127585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C8458812-6AC4-6046-E9D6-44A3AFFBCE48}"/>
                </a:ext>
              </a:extLst>
            </p:cNvPr>
            <p:cNvSpPr/>
            <p:nvPr/>
          </p:nvSpPr>
          <p:spPr bwMode="auto">
            <a:xfrm>
              <a:off x="8390256" y="5440090"/>
              <a:ext cx="120791" cy="127585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6" name="Text Box 85">
              <a:extLst>
                <a:ext uri="{FF2B5EF4-FFF2-40B4-BE49-F238E27FC236}">
                  <a16:creationId xmlns:a16="http://schemas.microsoft.com/office/drawing/2014/main" id="{A5B93288-0023-0433-9E24-E6BE6F91D8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9771" y="4870099"/>
              <a:ext cx="490519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vacío</a:t>
              </a:r>
            </a:p>
          </p:txBody>
        </p:sp>
        <p:sp>
          <p:nvSpPr>
            <p:cNvPr id="55" name="Text Box 85">
              <a:extLst>
                <a:ext uri="{FF2B5EF4-FFF2-40B4-BE49-F238E27FC236}">
                  <a16:creationId xmlns:a16="http://schemas.microsoft.com/office/drawing/2014/main" id="{FF614822-65C8-01F7-36B6-6552B0F3E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8096" y="4707651"/>
              <a:ext cx="490519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vacío</a:t>
              </a:r>
            </a:p>
          </p:txBody>
        </p:sp>
        <p:sp>
          <p:nvSpPr>
            <p:cNvPr id="57" name="Text Box 85">
              <a:extLst>
                <a:ext uri="{FF2B5EF4-FFF2-40B4-BE49-F238E27FC236}">
                  <a16:creationId xmlns:a16="http://schemas.microsoft.com/office/drawing/2014/main" id="{FD070301-2EC6-90CF-6ACA-CE7CFA3E48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1450" y="5230969"/>
              <a:ext cx="490519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vacío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8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8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6815" grpId="0"/>
      <p:bldP spid="886816" grpId="0"/>
      <p:bldP spid="9" grpId="0" animBg="1"/>
      <p:bldP spid="10" grpId="0" animBg="1"/>
      <p:bldP spid="7" grpId="0" animBg="1"/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827" name="Text Box 43"/>
          <p:cNvSpPr txBox="1">
            <a:spLocks noChangeArrowheads="1"/>
          </p:cNvSpPr>
          <p:nvPr/>
        </p:nvSpPr>
        <p:spPr bwMode="auto">
          <a:xfrm>
            <a:off x="1515963" y="2593170"/>
            <a:ext cx="8513862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Los niveles y orbitales de esos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los más externos, se combinan entre sí. Y lo hacen, también, los vacíos de mayor energía, y los más cercanos con menor energía llenos de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</a:p>
        </p:txBody>
      </p:sp>
      <p:sp>
        <p:nvSpPr>
          <p:cNvPr id="886828" name="Text Box 44"/>
          <p:cNvSpPr txBox="1">
            <a:spLocks noChangeArrowheads="1"/>
          </p:cNvSpPr>
          <p:nvPr/>
        </p:nvSpPr>
        <p:spPr bwMode="auto">
          <a:xfrm>
            <a:off x="1515963" y="3806596"/>
            <a:ext cx="8513862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Por cada nivel combinado, se genera un número igual al de átomos o moléculas participantes, tanto de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niveles del sólido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donde se sitúan dichos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como de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orbitales del sólido</a:t>
            </a:r>
          </a:p>
        </p:txBody>
      </p:sp>
      <p:sp>
        <p:nvSpPr>
          <p:cNvPr id="10" name="Text Box 66"/>
          <p:cNvSpPr txBox="1">
            <a:spLocks noChangeArrowheads="1"/>
          </p:cNvSpPr>
          <p:nvPr/>
        </p:nvSpPr>
        <p:spPr bwMode="auto">
          <a:xfrm>
            <a:off x="7234639" y="374670"/>
            <a:ext cx="2069797" cy="6092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SÓLIDOS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43">
            <a:extLst>
              <a:ext uri="{FF2B5EF4-FFF2-40B4-BE49-F238E27FC236}">
                <a16:creationId xmlns:a16="http://schemas.microsoft.com/office/drawing/2014/main" id="{98DBB674-786F-5714-6162-FFB4DE0AE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225" y="1691929"/>
            <a:ext cx="7504211" cy="88962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Y en los que los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átomos o moléculas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son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iguales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y con una distribución periódica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(estructura cristalina)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Text Box 31">
            <a:extLst>
              <a:ext uri="{FF2B5EF4-FFF2-40B4-BE49-F238E27FC236}">
                <a16:creationId xmlns:a16="http://schemas.microsoft.com/office/drawing/2014/main" id="{7A45BBCA-F211-B2AC-E28D-3C6501D2F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226" y="1052635"/>
            <a:ext cx="7506206" cy="53654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 las que en los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enlaces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se comparten electrones</a:t>
            </a:r>
          </a:p>
        </p:txBody>
      </p:sp>
      <p:sp>
        <p:nvSpPr>
          <p:cNvPr id="5" name="Text Box 65">
            <a:extLst>
              <a:ext uri="{FF2B5EF4-FFF2-40B4-BE49-F238E27FC236}">
                <a16:creationId xmlns:a16="http://schemas.microsoft.com/office/drawing/2014/main" id="{4298E91B-93BC-E0BB-FCAB-FA313AB71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6913" y="358705"/>
            <a:ext cx="4070126" cy="58744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¿Energía de los electrones?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30067DB8-631A-15E1-71F7-4F32E1D16054}"/>
              </a:ext>
            </a:extLst>
          </p:cNvPr>
          <p:cNvSpPr/>
          <p:nvPr/>
        </p:nvSpPr>
        <p:spPr bwMode="auto">
          <a:xfrm>
            <a:off x="5943600" y="406705"/>
            <a:ext cx="1000125" cy="465210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18800" rIns="91440" bIns="118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661AB357-5D00-3BEE-21DA-049BF78D9F21}"/>
              </a:ext>
            </a:extLst>
          </p:cNvPr>
          <p:cNvSpPr/>
          <p:nvPr/>
        </p:nvSpPr>
        <p:spPr bwMode="auto">
          <a:xfrm>
            <a:off x="5507847" y="5880059"/>
            <a:ext cx="517824" cy="619194"/>
          </a:xfrm>
          <a:prstGeom prst="rightArrow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18800" rIns="91440" bIns="118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886788" name="Grupo 886787">
            <a:extLst>
              <a:ext uri="{FF2B5EF4-FFF2-40B4-BE49-F238E27FC236}">
                <a16:creationId xmlns:a16="http://schemas.microsoft.com/office/drawing/2014/main" id="{B658A925-96A4-D5AD-082C-8468732600A8}"/>
              </a:ext>
            </a:extLst>
          </p:cNvPr>
          <p:cNvGrpSpPr/>
          <p:nvPr/>
        </p:nvGrpSpPr>
        <p:grpSpPr>
          <a:xfrm>
            <a:off x="2010484" y="5144183"/>
            <a:ext cx="3061809" cy="1950706"/>
            <a:chOff x="1615846" y="5144183"/>
            <a:chExt cx="3061809" cy="1950706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35B360CE-CC3A-913A-B9B5-AB10A757F62C}"/>
                </a:ext>
              </a:extLst>
            </p:cNvPr>
            <p:cNvSpPr/>
            <p:nvPr/>
          </p:nvSpPr>
          <p:spPr bwMode="auto">
            <a:xfrm>
              <a:off x="1615846" y="5144183"/>
              <a:ext cx="3061809" cy="195070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Line 56">
              <a:extLst>
                <a:ext uri="{FF2B5EF4-FFF2-40B4-BE49-F238E27FC236}">
                  <a16:creationId xmlns:a16="http://schemas.microsoft.com/office/drawing/2014/main" id="{EC86F430-11F0-4BAC-F0FA-FB41A8E94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5141" y="6841634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3" name="Line 57">
              <a:extLst>
                <a:ext uri="{FF2B5EF4-FFF2-40B4-BE49-F238E27FC236}">
                  <a16:creationId xmlns:a16="http://schemas.microsoft.com/office/drawing/2014/main" id="{DC5BB5D4-DFF1-2EF6-07AA-C1B669A92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5445" y="5433202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4" name="Line 58">
              <a:extLst>
                <a:ext uri="{FF2B5EF4-FFF2-40B4-BE49-F238E27FC236}">
                  <a16:creationId xmlns:a16="http://schemas.microsoft.com/office/drawing/2014/main" id="{85F3C8E8-87D2-BFE2-6BD9-92AD9DE25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5445" y="6370147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5" name="Line 59">
              <a:extLst>
                <a:ext uri="{FF2B5EF4-FFF2-40B4-BE49-F238E27FC236}">
                  <a16:creationId xmlns:a16="http://schemas.microsoft.com/office/drawing/2014/main" id="{4DC70C04-1FD6-F7E9-989F-5592F9B49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5445" y="5913021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6" name="Line 56">
              <a:extLst>
                <a:ext uri="{FF2B5EF4-FFF2-40B4-BE49-F238E27FC236}">
                  <a16:creationId xmlns:a16="http://schemas.microsoft.com/office/drawing/2014/main" id="{0DABA850-65B5-C210-B2CA-7364D972F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9190" y="6841634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7" name="Line 57">
              <a:extLst>
                <a:ext uri="{FF2B5EF4-FFF2-40B4-BE49-F238E27FC236}">
                  <a16:creationId xmlns:a16="http://schemas.microsoft.com/office/drawing/2014/main" id="{29449C06-EDE2-AE23-D214-2F9DEA0952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9494" y="5433202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8" name="Line 58">
              <a:extLst>
                <a:ext uri="{FF2B5EF4-FFF2-40B4-BE49-F238E27FC236}">
                  <a16:creationId xmlns:a16="http://schemas.microsoft.com/office/drawing/2014/main" id="{81186A4F-1DDF-48F4-4073-B15416F75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9494" y="6370147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9" name="Line 59">
              <a:extLst>
                <a:ext uri="{FF2B5EF4-FFF2-40B4-BE49-F238E27FC236}">
                  <a16:creationId xmlns:a16="http://schemas.microsoft.com/office/drawing/2014/main" id="{9A08D69C-0ED8-9895-101C-A5CC06097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9494" y="5913021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DD7FC862-2336-B34D-A2B9-ABA27E04A144}"/>
                </a:ext>
              </a:extLst>
            </p:cNvPr>
            <p:cNvSpPr/>
            <p:nvPr/>
          </p:nvSpPr>
          <p:spPr bwMode="auto">
            <a:xfrm>
              <a:off x="2214845" y="5855856"/>
              <a:ext cx="120791" cy="127585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13710CFD-B7D3-58FF-CD04-FFCD43B4F105}"/>
                </a:ext>
              </a:extLst>
            </p:cNvPr>
            <p:cNvSpPr/>
            <p:nvPr/>
          </p:nvSpPr>
          <p:spPr bwMode="auto">
            <a:xfrm>
              <a:off x="3100762" y="5857536"/>
              <a:ext cx="120791" cy="127585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2" name="Text Box 85">
              <a:extLst>
                <a:ext uri="{FF2B5EF4-FFF2-40B4-BE49-F238E27FC236}">
                  <a16:creationId xmlns:a16="http://schemas.microsoft.com/office/drawing/2014/main" id="{F7B094D4-2408-E448-E3C5-0D301A6BF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1642" y="6258535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23" name="Text Box 85">
              <a:extLst>
                <a:ext uri="{FF2B5EF4-FFF2-40B4-BE49-F238E27FC236}">
                  <a16:creationId xmlns:a16="http://schemas.microsoft.com/office/drawing/2014/main" id="{74C259A1-D4B9-8F47-E01F-2A065581F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320" y="6722434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24" name="Text Box 85">
              <a:extLst>
                <a:ext uri="{FF2B5EF4-FFF2-40B4-BE49-F238E27FC236}">
                  <a16:creationId xmlns:a16="http://schemas.microsoft.com/office/drawing/2014/main" id="{44424B62-92D3-C1C1-9AAB-C9230FF03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7661" y="6270263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25" name="Text Box 85">
              <a:extLst>
                <a:ext uri="{FF2B5EF4-FFF2-40B4-BE49-F238E27FC236}">
                  <a16:creationId xmlns:a16="http://schemas.microsoft.com/office/drawing/2014/main" id="{D4D73E0E-EA74-D18F-2F75-5BBC46217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9339" y="6734162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26" name="Text Box 85">
              <a:extLst>
                <a:ext uri="{FF2B5EF4-FFF2-40B4-BE49-F238E27FC236}">
                  <a16:creationId xmlns:a16="http://schemas.microsoft.com/office/drawing/2014/main" id="{561AB6AD-F52F-5F5D-2A6D-436A22767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901" y="5276877"/>
              <a:ext cx="490519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vacío</a:t>
              </a:r>
            </a:p>
          </p:txBody>
        </p:sp>
        <p:sp>
          <p:nvSpPr>
            <p:cNvPr id="27" name="Text Box 85">
              <a:extLst>
                <a:ext uri="{FF2B5EF4-FFF2-40B4-BE49-F238E27FC236}">
                  <a16:creationId xmlns:a16="http://schemas.microsoft.com/office/drawing/2014/main" id="{CAB418C3-83C8-7B59-D9EE-BEE492573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0977" y="5298651"/>
              <a:ext cx="490519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vacío</a:t>
              </a:r>
            </a:p>
          </p:txBody>
        </p:sp>
        <p:sp>
          <p:nvSpPr>
            <p:cNvPr id="47" name="Line 56">
              <a:extLst>
                <a:ext uri="{FF2B5EF4-FFF2-40B4-BE49-F238E27FC236}">
                  <a16:creationId xmlns:a16="http://schemas.microsoft.com/office/drawing/2014/main" id="{3A7EF538-147B-D84E-A9AA-77349F7B9F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365" y="6849130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8" name="Line 57">
              <a:extLst>
                <a:ext uri="{FF2B5EF4-FFF2-40B4-BE49-F238E27FC236}">
                  <a16:creationId xmlns:a16="http://schemas.microsoft.com/office/drawing/2014/main" id="{5DE658B2-CBA7-2DD1-DFE6-D8745FA2C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669" y="5440698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9" name="Line 58">
              <a:extLst>
                <a:ext uri="{FF2B5EF4-FFF2-40B4-BE49-F238E27FC236}">
                  <a16:creationId xmlns:a16="http://schemas.microsoft.com/office/drawing/2014/main" id="{96D4ED13-04D7-2F0B-3B66-5D9EF1B3E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669" y="6377643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50" name="Line 59">
              <a:extLst>
                <a:ext uri="{FF2B5EF4-FFF2-40B4-BE49-F238E27FC236}">
                  <a16:creationId xmlns:a16="http://schemas.microsoft.com/office/drawing/2014/main" id="{65D30D53-DC4C-8F67-784C-393E8E976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669" y="5920517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DFE842A6-AD9B-5381-A677-857144D48070}"/>
                </a:ext>
              </a:extLst>
            </p:cNvPr>
            <p:cNvSpPr/>
            <p:nvPr/>
          </p:nvSpPr>
          <p:spPr bwMode="auto">
            <a:xfrm>
              <a:off x="4013937" y="5865032"/>
              <a:ext cx="120791" cy="127585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2" name="Text Box 85">
              <a:extLst>
                <a:ext uri="{FF2B5EF4-FFF2-40B4-BE49-F238E27FC236}">
                  <a16:creationId xmlns:a16="http://schemas.microsoft.com/office/drawing/2014/main" id="{8B60130D-A901-1164-BF40-5738C8BD4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0836" y="6277759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53" name="Text Box 85">
              <a:extLst>
                <a:ext uri="{FF2B5EF4-FFF2-40B4-BE49-F238E27FC236}">
                  <a16:creationId xmlns:a16="http://schemas.microsoft.com/office/drawing/2014/main" id="{9B06D59E-0138-E0A5-2AFA-3F921E836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514" y="6741658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54" name="Text Box 85">
              <a:extLst>
                <a:ext uri="{FF2B5EF4-FFF2-40B4-BE49-F238E27FC236}">
                  <a16:creationId xmlns:a16="http://schemas.microsoft.com/office/drawing/2014/main" id="{0DF0F87E-8115-D819-A112-7D2976D24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152" y="5306147"/>
              <a:ext cx="490519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vacío</a:t>
              </a:r>
            </a:p>
          </p:txBody>
        </p:sp>
      </p:grpSp>
      <p:grpSp>
        <p:nvGrpSpPr>
          <p:cNvPr id="886789" name="Grupo 886788">
            <a:extLst>
              <a:ext uri="{FF2B5EF4-FFF2-40B4-BE49-F238E27FC236}">
                <a16:creationId xmlns:a16="http://schemas.microsoft.com/office/drawing/2014/main" id="{0AD0D325-531B-6A8E-DD5A-3DB1B4D0CD74}"/>
              </a:ext>
            </a:extLst>
          </p:cNvPr>
          <p:cNvGrpSpPr/>
          <p:nvPr/>
        </p:nvGrpSpPr>
        <p:grpSpPr>
          <a:xfrm>
            <a:off x="6454595" y="5144183"/>
            <a:ext cx="3061809" cy="1950706"/>
            <a:chOff x="6387220" y="5144183"/>
            <a:chExt cx="3061809" cy="1950706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AFCA5B09-121D-1454-DEB3-47001F06F533}"/>
                </a:ext>
              </a:extLst>
            </p:cNvPr>
            <p:cNvSpPr/>
            <p:nvPr/>
          </p:nvSpPr>
          <p:spPr bwMode="auto">
            <a:xfrm>
              <a:off x="6387220" y="5144183"/>
              <a:ext cx="3061809" cy="195070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886784" name="Line 58">
              <a:extLst>
                <a:ext uri="{FF2B5EF4-FFF2-40B4-BE49-F238E27FC236}">
                  <a16:creationId xmlns:a16="http://schemas.microsoft.com/office/drawing/2014/main" id="{7A476DD1-DF9C-8CF8-3BAB-4FEC1F876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1384" y="5907265"/>
              <a:ext cx="24723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886785" name="Line 59">
              <a:extLst>
                <a:ext uri="{FF2B5EF4-FFF2-40B4-BE49-F238E27FC236}">
                  <a16:creationId xmlns:a16="http://schemas.microsoft.com/office/drawing/2014/main" id="{8E2D18B5-CCBB-D637-4853-D0D9AFF7E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0443" y="6011863"/>
              <a:ext cx="24723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886786" name="Line 59">
              <a:extLst>
                <a:ext uri="{FF2B5EF4-FFF2-40B4-BE49-F238E27FC236}">
                  <a16:creationId xmlns:a16="http://schemas.microsoft.com/office/drawing/2014/main" id="{F246D054-8882-6109-9563-16863EF79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2508" y="5808204"/>
              <a:ext cx="24723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30" name="Line 56">
              <a:extLst>
                <a:ext uri="{FF2B5EF4-FFF2-40B4-BE49-F238E27FC236}">
                  <a16:creationId xmlns:a16="http://schemas.microsoft.com/office/drawing/2014/main" id="{B4CE0444-D5D2-D174-BFD4-3128CE379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0515" y="6927694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32" name="Line 58">
              <a:extLst>
                <a:ext uri="{FF2B5EF4-FFF2-40B4-BE49-F238E27FC236}">
                  <a16:creationId xmlns:a16="http://schemas.microsoft.com/office/drawing/2014/main" id="{0A389B64-3CB7-8655-21AD-C20906BEC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4570" y="6417707"/>
              <a:ext cx="24723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34" name="Line 56">
              <a:extLst>
                <a:ext uri="{FF2B5EF4-FFF2-40B4-BE49-F238E27FC236}">
                  <a16:creationId xmlns:a16="http://schemas.microsoft.com/office/drawing/2014/main" id="{0F85BB6A-444B-45C4-A507-1B12A468F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4564" y="6927694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37" name="Text Box 85">
              <a:extLst>
                <a:ext uri="{FF2B5EF4-FFF2-40B4-BE49-F238E27FC236}">
                  <a16:creationId xmlns:a16="http://schemas.microsoft.com/office/drawing/2014/main" id="{7960017D-606C-7F68-47CC-ABDFD1BAC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7779" y="6807020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39" name="Text Box 85">
              <a:extLst>
                <a:ext uri="{FF2B5EF4-FFF2-40B4-BE49-F238E27FC236}">
                  <a16:creationId xmlns:a16="http://schemas.microsoft.com/office/drawing/2014/main" id="{F11C9C4D-7DB3-F4B2-615A-06119FEAA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3848" y="6808700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6C6D344A-6ED5-F32B-9E88-A8690455210C}"/>
                </a:ext>
              </a:extLst>
            </p:cNvPr>
            <p:cNvSpPr/>
            <p:nvPr/>
          </p:nvSpPr>
          <p:spPr bwMode="auto">
            <a:xfrm>
              <a:off x="7483125" y="5944889"/>
              <a:ext cx="120791" cy="127585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A051A271-10FD-3883-8666-7291BC7792C6}"/>
                </a:ext>
              </a:extLst>
            </p:cNvPr>
            <p:cNvSpPr/>
            <p:nvPr/>
          </p:nvSpPr>
          <p:spPr bwMode="auto">
            <a:xfrm>
              <a:off x="8359416" y="5956193"/>
              <a:ext cx="120791" cy="127585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5" name="Line 59">
              <a:extLst>
                <a:ext uri="{FF2B5EF4-FFF2-40B4-BE49-F238E27FC236}">
                  <a16:creationId xmlns:a16="http://schemas.microsoft.com/office/drawing/2014/main" id="{2B243318-9674-FBED-A34A-16462852F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3629" y="6522305"/>
              <a:ext cx="24723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73C1AFAE-A074-69B7-D8F0-EA424D47F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18861" y="6935715"/>
              <a:ext cx="65104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57" name="Text Box 85">
              <a:extLst>
                <a:ext uri="{FF2B5EF4-FFF2-40B4-BE49-F238E27FC236}">
                  <a16:creationId xmlns:a16="http://schemas.microsoft.com/office/drawing/2014/main" id="{CD4F2E88-C53A-70A6-CF46-6AFF67771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8145" y="6816721"/>
              <a:ext cx="431208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</a:t>
              </a:r>
            </a:p>
          </p:txBody>
        </p:sp>
        <p:sp>
          <p:nvSpPr>
            <p:cNvPr id="58" name="Line 59">
              <a:extLst>
                <a:ext uri="{FF2B5EF4-FFF2-40B4-BE49-F238E27FC236}">
                  <a16:creationId xmlns:a16="http://schemas.microsoft.com/office/drawing/2014/main" id="{24652035-EA6E-528B-520E-931561938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5694" y="6318646"/>
              <a:ext cx="24723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36" name="Text Box 85">
              <a:extLst>
                <a:ext uri="{FF2B5EF4-FFF2-40B4-BE49-F238E27FC236}">
                  <a16:creationId xmlns:a16="http://schemas.microsoft.com/office/drawing/2014/main" id="{0D981A85-6C4F-5EDC-5183-AD6811C55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7911" y="6269143"/>
              <a:ext cx="587180" cy="2979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llenos</a:t>
              </a:r>
            </a:p>
          </p:txBody>
        </p:sp>
        <p:sp>
          <p:nvSpPr>
            <p:cNvPr id="59" name="Line 58">
              <a:extLst>
                <a:ext uri="{FF2B5EF4-FFF2-40B4-BE49-F238E27FC236}">
                  <a16:creationId xmlns:a16="http://schemas.microsoft.com/office/drawing/2014/main" id="{D7E59FCE-8483-0CA5-0BDC-61AB55238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0068" y="5425989"/>
              <a:ext cx="24723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34A74159-C93C-7B91-62C7-0BEA10310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9127" y="5530587"/>
              <a:ext cx="24723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C9FD1229-5824-961F-74D2-6FBD22AC1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1192" y="5326928"/>
              <a:ext cx="24723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63" name="Text Box 85">
              <a:extLst>
                <a:ext uri="{FF2B5EF4-FFF2-40B4-BE49-F238E27FC236}">
                  <a16:creationId xmlns:a16="http://schemas.microsoft.com/office/drawing/2014/main" id="{DBEAD4EC-5F3D-5DBE-4551-A0623AF9F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2659" y="5284364"/>
              <a:ext cx="593111" cy="2708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lIns="0" tIns="0" rIns="0" bIns="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600">
                  <a:solidFill>
                    <a:srgbClr val="3333FF"/>
                  </a:solidFill>
                  <a:latin typeface="Arial" panose="020B0604020202020204" pitchFamily="34" charset="0"/>
                </a:rPr>
                <a:t>vacíos</a:t>
              </a:r>
            </a:p>
          </p:txBody>
        </p:sp>
        <p:sp>
          <p:nvSpPr>
            <p:cNvPr id="886787" name="Elipse 886786">
              <a:extLst>
                <a:ext uri="{FF2B5EF4-FFF2-40B4-BE49-F238E27FC236}">
                  <a16:creationId xmlns:a16="http://schemas.microsoft.com/office/drawing/2014/main" id="{5B19A0C3-7216-B2EA-2FFD-298697FEE588}"/>
                </a:ext>
              </a:extLst>
            </p:cNvPr>
            <p:cNvSpPr/>
            <p:nvPr/>
          </p:nvSpPr>
          <p:spPr bwMode="auto">
            <a:xfrm>
              <a:off x="7905422" y="5839087"/>
              <a:ext cx="120791" cy="127585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86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8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8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8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6827" grpId="0"/>
      <p:bldP spid="886828" grpId="0"/>
      <p:bldP spid="10" grpId="0" animBg="1"/>
      <p:bldP spid="3" grpId="0" animBg="1"/>
      <p:bldP spid="4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8"/>
          <p:cNvSpPr txBox="1">
            <a:spLocks noChangeArrowheads="1"/>
          </p:cNvSpPr>
          <p:nvPr/>
        </p:nvSpPr>
        <p:spPr bwMode="auto">
          <a:xfrm>
            <a:off x="1330401" y="1685694"/>
            <a:ext cx="8939640" cy="884070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Y se ve que ese intervalo de energía es prácticamente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independiente del número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de átomos o moléculas que participan</a:t>
            </a:r>
          </a:p>
        </p:txBody>
      </p:sp>
      <p:sp>
        <p:nvSpPr>
          <p:cNvPr id="11" name="Text Box 38"/>
          <p:cNvSpPr txBox="1">
            <a:spLocks noChangeArrowheads="1"/>
          </p:cNvSpPr>
          <p:nvPr/>
        </p:nvSpPr>
        <p:spPr bwMode="auto">
          <a:xfrm>
            <a:off x="1543049" y="2645475"/>
            <a:ext cx="8448687" cy="95677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Estos hechos hacen que sólo varíe la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densidad de niveles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al cambiar el número de átomos o moléculas participantes</a:t>
            </a: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C4DA02A6-C543-4C3A-A50B-F3D21B3DB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049" y="3804220"/>
            <a:ext cx="4295776" cy="609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Como el número es grande: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" name="Text Box 40">
            <a:extLst>
              <a:ext uri="{FF2B5EF4-FFF2-40B4-BE49-F238E27FC236}">
                <a16:creationId xmlns:a16="http://schemas.microsoft.com/office/drawing/2014/main" id="{0A0F609F-D368-4DD9-876E-B24E944FA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049" y="4586867"/>
            <a:ext cx="8448687" cy="13261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180000" tIns="108000" rIns="180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En un esquema de niveles de energía, se aprecia cada conjunto de niveles del sólido, como algo continuo, con una anchura de algunos eV, y se denomina: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Banda de Energía</a:t>
            </a:r>
          </a:p>
        </p:txBody>
      </p:sp>
      <p:sp>
        <p:nvSpPr>
          <p:cNvPr id="9" name="Text Box 39">
            <a:extLst>
              <a:ext uri="{FF2B5EF4-FFF2-40B4-BE49-F238E27FC236}">
                <a16:creationId xmlns:a16="http://schemas.microsoft.com/office/drawing/2014/main" id="{8B92076E-331E-40DF-BDA2-28C509FF6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688" y="3804079"/>
            <a:ext cx="4365595" cy="609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es-ES" sz="2400">
                <a:latin typeface="Arial" panose="020B0604020202020204" pitchFamily="34" charset="0"/>
              </a:rPr>
              <a:t>10</a:t>
            </a:r>
            <a:r>
              <a:rPr lang="es-ES" sz="2400" baseline="30000">
                <a:latin typeface="Arial" panose="020B0604020202020204" pitchFamily="34" charset="0"/>
              </a:rPr>
              <a:t>22</a:t>
            </a:r>
            <a:r>
              <a:rPr lang="es-ES" sz="2400">
                <a:latin typeface="Arial" panose="020B0604020202020204" pitchFamily="34" charset="0"/>
              </a:rPr>
              <a:t> átomos o moléculas/cm</a:t>
            </a:r>
            <a:r>
              <a:rPr lang="es-ES" sz="2400" baseline="30000">
                <a:latin typeface="Arial" panose="020B0604020202020204" pitchFamily="34" charset="0"/>
              </a:rPr>
              <a:t>3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12" name="Text Box 40">
            <a:extLst>
              <a:ext uri="{FF2B5EF4-FFF2-40B4-BE49-F238E27FC236}">
                <a16:creationId xmlns:a16="http://schemas.microsoft.com/office/drawing/2014/main" id="{758BD0E2-420D-4AA1-86C2-3550069DD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267" y="6122241"/>
            <a:ext cx="7616102" cy="956773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216000" tIns="108000" rIns="216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El conjunto de bandas de energía se conoce como: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Esquema de Bandas de Energía del Sólido</a:t>
            </a:r>
          </a:p>
        </p:txBody>
      </p:sp>
      <p:sp>
        <p:nvSpPr>
          <p:cNvPr id="2" name="Text Box 38">
            <a:extLst>
              <a:ext uri="{FF2B5EF4-FFF2-40B4-BE49-F238E27FC236}">
                <a16:creationId xmlns:a16="http://schemas.microsoft.com/office/drawing/2014/main" id="{A3DFC671-5D21-323B-BC08-EDF780161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082" y="343138"/>
            <a:ext cx="8559150" cy="1253402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Se observa que el intervalo de energía que abarca cada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conjunto de niveles,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que corresponda a un mismo nivel de energía  individual combinado, es del orden del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electronvoltio</a:t>
            </a:r>
            <a:endParaRPr lang="es-ES" sz="240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10051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7" grpId="0" animBg="1"/>
      <p:bldP spid="8" grpId="0" animBg="1"/>
      <p:bldP spid="9" grpId="0" animBg="1"/>
      <p:bldP spid="12" grpId="0" animBg="1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5554361" y="1008239"/>
            <a:ext cx="4458970" cy="978584"/>
          </a:xfrm>
          <a:prstGeom prst="rect">
            <a:avLst/>
          </a:prstGeom>
          <a:noFill/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Los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niveles moleculares y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   atómicos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están a menor E</a:t>
            </a:r>
            <a:endParaRPr lang="es-ES" sz="2400">
              <a:solidFill>
                <a:srgbClr val="008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88874" name="Text Box 42"/>
          <p:cNvSpPr txBox="1">
            <a:spLocks noChangeArrowheads="1"/>
          </p:cNvSpPr>
          <p:nvPr/>
        </p:nvSpPr>
        <p:spPr bwMode="auto">
          <a:xfrm>
            <a:off x="2532440" y="106750"/>
            <a:ext cx="6488268" cy="609252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Esquema de Bandas de Energía de un Sólido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7EC0B04-1609-48A6-951F-FFBDBC3DE70E}"/>
              </a:ext>
            </a:extLst>
          </p:cNvPr>
          <p:cNvGrpSpPr/>
          <p:nvPr/>
        </p:nvGrpSpPr>
        <p:grpSpPr>
          <a:xfrm>
            <a:off x="1315827" y="776346"/>
            <a:ext cx="3294156" cy="3616110"/>
            <a:chOff x="1096752" y="817045"/>
            <a:chExt cx="3294156" cy="3616110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82531BA2-CA38-B616-76C4-D7A0D81670E7}"/>
                </a:ext>
              </a:extLst>
            </p:cNvPr>
            <p:cNvSpPr/>
            <p:nvPr/>
          </p:nvSpPr>
          <p:spPr bwMode="auto">
            <a:xfrm>
              <a:off x="1096752" y="915163"/>
              <a:ext cx="3294156" cy="3455173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7454577D-02BB-B94E-251B-94938D2191BB}"/>
                </a:ext>
              </a:extLst>
            </p:cNvPr>
            <p:cNvGrpSpPr/>
            <p:nvPr/>
          </p:nvGrpSpPr>
          <p:grpSpPr>
            <a:xfrm>
              <a:off x="1192002" y="817045"/>
              <a:ext cx="3038474" cy="3616110"/>
              <a:chOff x="1192002" y="817045"/>
              <a:chExt cx="3038474" cy="3616110"/>
            </a:xfrm>
          </p:grpSpPr>
          <p:grpSp>
            <p:nvGrpSpPr>
              <p:cNvPr id="71728" name="Group 48"/>
              <p:cNvGrpSpPr>
                <a:grpSpLocks/>
              </p:cNvGrpSpPr>
              <p:nvPr/>
            </p:nvGrpSpPr>
            <p:grpSpPr bwMode="auto">
              <a:xfrm>
                <a:off x="1192002" y="817045"/>
                <a:ext cx="350838" cy="3402013"/>
                <a:chOff x="1011" y="604"/>
                <a:chExt cx="221" cy="2143"/>
              </a:xfrm>
            </p:grpSpPr>
            <p:sp>
              <p:nvSpPr>
                <p:cNvPr id="19489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1110" y="903"/>
                  <a:ext cx="8" cy="1844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/>
                <a:lstStyle/>
                <a:p>
                  <a:endParaRPr lang="es-ES"/>
                </a:p>
              </p:txBody>
            </p:sp>
            <p:sp>
              <p:nvSpPr>
                <p:cNvPr id="19490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1011" y="604"/>
                  <a:ext cx="221" cy="3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5" name="Grupo 4">
                <a:extLst>
                  <a:ext uri="{FF2B5EF4-FFF2-40B4-BE49-F238E27FC236}">
                    <a16:creationId xmlns:a16="http://schemas.microsoft.com/office/drawing/2014/main" id="{A5EE182B-E1CE-484D-9EB3-81314C4C0F24}"/>
                  </a:ext>
                </a:extLst>
              </p:cNvPr>
              <p:cNvGrpSpPr/>
              <p:nvPr/>
            </p:nvGrpSpPr>
            <p:grpSpPr>
              <a:xfrm>
                <a:off x="1468225" y="1021410"/>
                <a:ext cx="2762251" cy="3411745"/>
                <a:chOff x="1573000" y="916635"/>
                <a:chExt cx="2762251" cy="3411745"/>
              </a:xfrm>
            </p:grpSpPr>
            <p:grpSp>
              <p:nvGrpSpPr>
                <p:cNvPr id="71730" name="Group 50"/>
                <p:cNvGrpSpPr>
                  <a:grpSpLocks/>
                </p:cNvGrpSpPr>
                <p:nvPr/>
              </p:nvGrpSpPr>
              <p:grpSpPr bwMode="auto">
                <a:xfrm>
                  <a:off x="1573000" y="1399657"/>
                  <a:ext cx="2762251" cy="2509837"/>
                  <a:chOff x="1185" y="1037"/>
                  <a:chExt cx="1740" cy="1581"/>
                </a:xfrm>
              </p:grpSpPr>
              <p:sp>
                <p:nvSpPr>
                  <p:cNvPr id="19481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1185" y="1078"/>
                    <a:ext cx="1723" cy="249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1202" y="1542"/>
                    <a:ext cx="1723" cy="249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9483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1198" y="2000"/>
                    <a:ext cx="1723" cy="249"/>
                  </a:xfrm>
                  <a:prstGeom prst="rect">
                    <a:avLst/>
                  </a:prstGeom>
                  <a:solidFill>
                    <a:srgbClr val="CCF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9484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1201" y="2346"/>
                    <a:ext cx="1723" cy="249"/>
                  </a:xfrm>
                  <a:prstGeom prst="rect">
                    <a:avLst/>
                  </a:prstGeom>
                  <a:solidFill>
                    <a:srgbClr val="CCF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9485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91" y="1037"/>
                    <a:ext cx="458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vacía</a:t>
                    </a:r>
                  </a:p>
                </p:txBody>
              </p:sp>
              <p:sp>
                <p:nvSpPr>
                  <p:cNvPr id="19486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01" y="1487"/>
                    <a:ext cx="458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vacía</a:t>
                    </a:r>
                  </a:p>
                </p:txBody>
              </p:sp>
              <p:sp>
                <p:nvSpPr>
                  <p:cNvPr id="19487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30" y="2295"/>
                    <a:ext cx="418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llena</a:t>
                    </a:r>
                  </a:p>
                </p:txBody>
              </p:sp>
              <p:sp>
                <p:nvSpPr>
                  <p:cNvPr id="19488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78" y="1964"/>
                    <a:ext cx="1314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llena o medio llena</a:t>
                    </a:r>
                  </a:p>
                </p:txBody>
              </p:sp>
            </p:grpSp>
            <p:sp>
              <p:nvSpPr>
                <p:cNvPr id="26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208605" y="3780683"/>
                  <a:ext cx="1411997" cy="5476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ts val="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  </a:t>
                  </a:r>
                  <a:endParaRPr lang="es-ES" sz="2000">
                    <a:solidFill>
                      <a:srgbClr val="008000"/>
                    </a:solidFill>
                    <a:latin typeface="Arial" panose="020B0604020202020204" pitchFamily="34" charset="0"/>
                    <a:sym typeface="Wingdings" panose="05000000000000000000" pitchFamily="2" charset="2"/>
                  </a:endParaRPr>
                </a:p>
              </p:txBody>
            </p:sp>
            <p:sp>
              <p:nvSpPr>
                <p:cNvPr id="27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224647" y="916635"/>
                  <a:ext cx="1411997" cy="5476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ts val="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  </a:t>
                  </a:r>
                  <a:endParaRPr lang="es-ES" sz="2000">
                    <a:solidFill>
                      <a:srgbClr val="008000"/>
                    </a:solidFill>
                    <a:latin typeface="Arial" panose="020B0604020202020204" pitchFamily="34" charset="0"/>
                    <a:sym typeface="Wingdings" panose="05000000000000000000" pitchFamily="2" charset="2"/>
                  </a:endParaRPr>
                </a:p>
              </p:txBody>
            </p:sp>
          </p:grpSp>
        </p:grpSp>
      </p:grpSp>
      <p:sp>
        <p:nvSpPr>
          <p:cNvPr id="25" name="Text Box 35">
            <a:extLst>
              <a:ext uri="{FF2B5EF4-FFF2-40B4-BE49-F238E27FC236}">
                <a16:creationId xmlns:a16="http://schemas.microsoft.com/office/drawing/2014/main" id="{F10C5F3E-A722-4502-8E91-ACAFCD7E2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742" y="2206139"/>
            <a:ext cx="4292242" cy="1992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72000" tIns="72000" rIns="72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Para c</a:t>
            </a:r>
            <a:r>
              <a:rPr lang="es-ES" sz="2400" dirty="0">
                <a:latin typeface="Arial" panose="020B0604020202020204" pitchFamily="34" charset="0"/>
              </a:rPr>
              <a:t>ada nivel de energía de una banda</a:t>
            </a:r>
            <a:r>
              <a:rPr lang="es-ES" sz="2400">
                <a:latin typeface="Arial" panose="020B0604020202020204" pitchFamily="34" charset="0"/>
              </a:rPr>
              <a:t>, hay, como máximo, 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2 electrones </a:t>
            </a:r>
            <a:r>
              <a:rPr lang="es-ES" sz="2400" dirty="0">
                <a:latin typeface="Arial" panose="020B0604020202020204" pitchFamily="34" charset="0"/>
              </a:rPr>
              <a:t>moviéndose en torno a un átomo o molécula concreto</a:t>
            </a:r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6D676145-40A5-FC41-DDAB-73DFAE8C6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815" y="4389818"/>
            <a:ext cx="8877595" cy="1622734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72000" tIns="72000" rIns="72000" bIns="720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Cada punto del material aportará el mismo número de niveles a cada banda, distribuidos por igual a lo largo de ella. Al ser el nº grande (</a:t>
            </a:r>
            <a:r>
              <a:rPr lang="en-US" sz="2400">
                <a:cs typeface="Arial" panose="020B0604020202020204" pitchFamily="34" charset="0"/>
              </a:rPr>
              <a:t>~</a:t>
            </a:r>
            <a:r>
              <a:rPr lang="es-ES" sz="2400"/>
              <a:t>10</a:t>
            </a:r>
            <a:r>
              <a:rPr lang="es-ES" sz="2400" baseline="30000"/>
              <a:t>22 </a:t>
            </a:r>
            <a:r>
              <a:rPr lang="es-ES" sz="2400"/>
              <a:t>cm</a:t>
            </a:r>
            <a:r>
              <a:rPr lang="es-ES" sz="2400" baseline="30000"/>
              <a:t>-3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), se puede considerar, para cada banda, que hay los </a:t>
            </a:r>
            <a:r>
              <a:rPr lang="es-ES" sz="2400">
                <a:solidFill>
                  <a:srgbClr val="3333FF"/>
                </a:solidFill>
                <a:sym typeface="Symbol" panose="05050102010706020507" pitchFamily="18" charset="2"/>
              </a:rPr>
              <a:t>“mismos” niveles de energía en cualquier punto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3193D3ED-542A-A551-A65C-697CD4237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2906" y="6083124"/>
            <a:ext cx="7555556" cy="99312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44000" tIns="108000" rIns="144000" bIns="1440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Siendo así, el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eje horizontal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representa posiciones diferentes a lo largo de una dirección del cristal</a:t>
            </a:r>
            <a:endParaRPr lang="es-E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74" grpId="0"/>
      <p:bldP spid="25" grpId="0"/>
      <p:bldP spid="4" grpId="0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45" name="Text Box 13"/>
          <p:cNvSpPr txBox="1">
            <a:spLocks noChangeArrowheads="1"/>
          </p:cNvSpPr>
          <p:nvPr/>
        </p:nvSpPr>
        <p:spPr bwMode="auto">
          <a:xfrm>
            <a:off x="5415280" y="2909030"/>
            <a:ext cx="4935220" cy="88407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última banda con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se conoce como: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Banda de Valencia</a:t>
            </a:r>
          </a:p>
        </p:txBody>
      </p:sp>
      <p:sp>
        <p:nvSpPr>
          <p:cNvPr id="888846" name="Text Box 14"/>
          <p:cNvSpPr txBox="1">
            <a:spLocks noChangeArrowheads="1"/>
          </p:cNvSpPr>
          <p:nvPr/>
        </p:nvSpPr>
        <p:spPr bwMode="auto">
          <a:xfrm>
            <a:off x="5421668" y="1802305"/>
            <a:ext cx="4928832" cy="88407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primera banda sin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se conoce como: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Banda de Conducción</a:t>
            </a:r>
          </a:p>
        </p:txBody>
      </p:sp>
      <p:sp>
        <p:nvSpPr>
          <p:cNvPr id="888857" name="Text Box 25"/>
          <p:cNvSpPr txBox="1">
            <a:spLocks noChangeArrowheads="1"/>
          </p:cNvSpPr>
          <p:nvPr/>
        </p:nvSpPr>
        <p:spPr bwMode="auto">
          <a:xfrm>
            <a:off x="4566007" y="2162872"/>
            <a:ext cx="549275" cy="54292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118800" rIns="90000" bIns="118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BC</a:t>
            </a:r>
          </a:p>
        </p:txBody>
      </p:sp>
      <p:sp>
        <p:nvSpPr>
          <p:cNvPr id="888858" name="Text Box 26"/>
          <p:cNvSpPr txBox="1">
            <a:spLocks noChangeArrowheads="1"/>
          </p:cNvSpPr>
          <p:nvPr/>
        </p:nvSpPr>
        <p:spPr bwMode="auto">
          <a:xfrm>
            <a:off x="4573945" y="2891534"/>
            <a:ext cx="534987" cy="54292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118800" rIns="90000" bIns="118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BV</a:t>
            </a:r>
          </a:p>
        </p:txBody>
      </p:sp>
      <p:sp>
        <p:nvSpPr>
          <p:cNvPr id="24" name="Text Box 34">
            <a:extLst>
              <a:ext uri="{FF2B5EF4-FFF2-40B4-BE49-F238E27FC236}">
                <a16:creationId xmlns:a16="http://schemas.microsoft.com/office/drawing/2014/main" id="{00E83EBD-DC26-441E-8266-70D52EA72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43" y="4763432"/>
            <a:ext cx="8033038" cy="1717248"/>
          </a:xfrm>
          <a:prstGeom prst="rect">
            <a:avLst/>
          </a:prstGeom>
          <a:noFill/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Si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el último nivel con e</a:t>
            </a:r>
            <a:r>
              <a:rPr lang="es-ES" sz="2400" baseline="30000">
                <a:solidFill>
                  <a:srgbClr val="3333FF"/>
                </a:solidFill>
                <a:latin typeface="Arial" panose="020B0604020202020204" pitchFamily="34" charset="0"/>
              </a:rPr>
              <a:t>-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de cada átomo o molécula, que es el que participa en el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enlace</a:t>
            </a:r>
            <a:r>
              <a:rPr lang="es-ES" sz="2400">
                <a:latin typeface="Arial" panose="020B0604020202020204" pitchFamily="34" charset="0"/>
              </a:rPr>
              <a:t>, aporta niveles medio llenos, está medio llena la </a:t>
            </a:r>
            <a:r>
              <a:rPr lang="es-ES" sz="2400" b="1">
                <a:latin typeface="Arial" panose="020B0604020202020204" pitchFamily="34" charset="0"/>
              </a:rPr>
              <a:t>banda de valencia</a:t>
            </a:r>
            <a:r>
              <a:rPr lang="es-ES" sz="2400">
                <a:latin typeface="Arial" panose="020B0604020202020204" pitchFamily="34" charset="0"/>
              </a:rPr>
              <a:t>, si aportan niveles llenos, está llena</a:t>
            </a:r>
          </a:p>
        </p:txBody>
      </p:sp>
      <p:sp>
        <p:nvSpPr>
          <p:cNvPr id="2" name="Text Box 42">
            <a:extLst>
              <a:ext uri="{FF2B5EF4-FFF2-40B4-BE49-F238E27FC236}">
                <a16:creationId xmlns:a16="http://schemas.microsoft.com/office/drawing/2014/main" id="{C202902A-A349-96EA-5F86-EE8F31E8C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440" y="106750"/>
            <a:ext cx="6488268" cy="609252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Esquema de Bandas de Energía de un Sólido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E3E826C-C849-26BC-C860-E6BA7A750460}"/>
              </a:ext>
            </a:extLst>
          </p:cNvPr>
          <p:cNvGrpSpPr/>
          <p:nvPr/>
        </p:nvGrpSpPr>
        <p:grpSpPr>
          <a:xfrm>
            <a:off x="1315827" y="776346"/>
            <a:ext cx="3294156" cy="3616110"/>
            <a:chOff x="1096752" y="817045"/>
            <a:chExt cx="3294156" cy="3616110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D547621C-A13D-685B-B6E2-A36BB93652B6}"/>
                </a:ext>
              </a:extLst>
            </p:cNvPr>
            <p:cNvSpPr/>
            <p:nvPr/>
          </p:nvSpPr>
          <p:spPr bwMode="auto">
            <a:xfrm>
              <a:off x="1096752" y="915163"/>
              <a:ext cx="3294156" cy="3455173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D52A06D1-B8D8-F774-B589-D88BC862EEE3}"/>
                </a:ext>
              </a:extLst>
            </p:cNvPr>
            <p:cNvGrpSpPr/>
            <p:nvPr/>
          </p:nvGrpSpPr>
          <p:grpSpPr>
            <a:xfrm>
              <a:off x="1192002" y="817045"/>
              <a:ext cx="3038474" cy="3616110"/>
              <a:chOff x="1192002" y="817045"/>
              <a:chExt cx="3038474" cy="3616110"/>
            </a:xfrm>
          </p:grpSpPr>
          <p:grpSp>
            <p:nvGrpSpPr>
              <p:cNvPr id="6" name="Group 48">
                <a:extLst>
                  <a:ext uri="{FF2B5EF4-FFF2-40B4-BE49-F238E27FC236}">
                    <a16:creationId xmlns:a16="http://schemas.microsoft.com/office/drawing/2014/main" id="{D368088F-B642-F362-3BC4-9AE0D94C2A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92002" y="817045"/>
                <a:ext cx="350838" cy="3402013"/>
                <a:chOff x="1011" y="604"/>
                <a:chExt cx="221" cy="2143"/>
              </a:xfrm>
            </p:grpSpPr>
            <p:sp>
              <p:nvSpPr>
                <p:cNvPr id="38" name="Line 21">
                  <a:extLst>
                    <a:ext uri="{FF2B5EF4-FFF2-40B4-BE49-F238E27FC236}">
                      <a16:creationId xmlns:a16="http://schemas.microsoft.com/office/drawing/2014/main" id="{0BEFCB0A-3C8F-4064-BEBE-D08F24093E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110" y="903"/>
                  <a:ext cx="8" cy="1844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/>
                <a:lstStyle/>
                <a:p>
                  <a:endParaRPr lang="es-ES"/>
                </a:p>
              </p:txBody>
            </p:sp>
            <p:sp>
              <p:nvSpPr>
                <p:cNvPr id="39" name="Text Box 22">
                  <a:extLst>
                    <a:ext uri="{FF2B5EF4-FFF2-40B4-BE49-F238E27FC236}">
                      <a16:creationId xmlns:a16="http://schemas.microsoft.com/office/drawing/2014/main" id="{CB2BA81D-E323-75C7-2612-8DFFB1CC87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11" y="604"/>
                  <a:ext cx="221" cy="3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7" name="Grupo 6">
                <a:extLst>
                  <a:ext uri="{FF2B5EF4-FFF2-40B4-BE49-F238E27FC236}">
                    <a16:creationId xmlns:a16="http://schemas.microsoft.com/office/drawing/2014/main" id="{E87E661F-C71D-C025-53F8-9CA605328F16}"/>
                  </a:ext>
                </a:extLst>
              </p:cNvPr>
              <p:cNvGrpSpPr/>
              <p:nvPr/>
            </p:nvGrpSpPr>
            <p:grpSpPr>
              <a:xfrm>
                <a:off x="1468225" y="1021410"/>
                <a:ext cx="2762251" cy="3411745"/>
                <a:chOff x="1573000" y="916635"/>
                <a:chExt cx="2762251" cy="3411745"/>
              </a:xfrm>
            </p:grpSpPr>
            <p:grpSp>
              <p:nvGrpSpPr>
                <p:cNvPr id="8" name="Group 50">
                  <a:extLst>
                    <a:ext uri="{FF2B5EF4-FFF2-40B4-BE49-F238E27FC236}">
                      <a16:creationId xmlns:a16="http://schemas.microsoft.com/office/drawing/2014/main" id="{2454C318-C5D6-3E2F-E30E-0BE7D69B38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73000" y="1399657"/>
                  <a:ext cx="2762251" cy="2509837"/>
                  <a:chOff x="1185" y="1037"/>
                  <a:chExt cx="1740" cy="1581"/>
                </a:xfrm>
              </p:grpSpPr>
              <p:sp>
                <p:nvSpPr>
                  <p:cNvPr id="11" name="Rectangle 17">
                    <a:extLst>
                      <a:ext uri="{FF2B5EF4-FFF2-40B4-BE49-F238E27FC236}">
                        <a16:creationId xmlns:a16="http://schemas.microsoft.com/office/drawing/2014/main" id="{BDD1DFE4-3103-245D-65B9-522BD1CDB3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85" y="1078"/>
                    <a:ext cx="1723" cy="249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2" name="Rectangle 18">
                    <a:extLst>
                      <a:ext uri="{FF2B5EF4-FFF2-40B4-BE49-F238E27FC236}">
                        <a16:creationId xmlns:a16="http://schemas.microsoft.com/office/drawing/2014/main" id="{12179D66-F67E-0450-16B9-4B7D210C7F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02" y="1542"/>
                    <a:ext cx="1723" cy="249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3" name="Rectangle 19">
                    <a:extLst>
                      <a:ext uri="{FF2B5EF4-FFF2-40B4-BE49-F238E27FC236}">
                        <a16:creationId xmlns:a16="http://schemas.microsoft.com/office/drawing/2014/main" id="{1BB75586-5472-A0B7-FC8B-17CD0ABF21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98" y="2000"/>
                    <a:ext cx="1723" cy="249"/>
                  </a:xfrm>
                  <a:prstGeom prst="rect">
                    <a:avLst/>
                  </a:prstGeom>
                  <a:solidFill>
                    <a:srgbClr val="CCF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4" name="Rectangle 20">
                    <a:extLst>
                      <a:ext uri="{FF2B5EF4-FFF2-40B4-BE49-F238E27FC236}">
                        <a16:creationId xmlns:a16="http://schemas.microsoft.com/office/drawing/2014/main" id="{3C5E2B43-AF05-E156-B4BA-ABDC014DEB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01" y="2346"/>
                    <a:ext cx="1723" cy="249"/>
                  </a:xfrm>
                  <a:prstGeom prst="rect">
                    <a:avLst/>
                  </a:prstGeom>
                  <a:solidFill>
                    <a:srgbClr val="CCF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5" name="Text Box 27">
                    <a:extLst>
                      <a:ext uri="{FF2B5EF4-FFF2-40B4-BE49-F238E27FC236}">
                        <a16:creationId xmlns:a16="http://schemas.microsoft.com/office/drawing/2014/main" id="{A6A3E783-23D2-5C58-CE4D-CF67E4D50C0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91" y="1037"/>
                    <a:ext cx="458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vacía</a:t>
                    </a:r>
                  </a:p>
                </p:txBody>
              </p:sp>
              <p:sp>
                <p:nvSpPr>
                  <p:cNvPr id="16" name="Text Box 28">
                    <a:extLst>
                      <a:ext uri="{FF2B5EF4-FFF2-40B4-BE49-F238E27FC236}">
                        <a16:creationId xmlns:a16="http://schemas.microsoft.com/office/drawing/2014/main" id="{B110578B-EE6E-87B3-D88D-006DC51EE95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01" y="1487"/>
                    <a:ext cx="458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vacía</a:t>
                    </a:r>
                  </a:p>
                </p:txBody>
              </p:sp>
              <p:sp>
                <p:nvSpPr>
                  <p:cNvPr id="36" name="Text Box 29">
                    <a:extLst>
                      <a:ext uri="{FF2B5EF4-FFF2-40B4-BE49-F238E27FC236}">
                        <a16:creationId xmlns:a16="http://schemas.microsoft.com/office/drawing/2014/main" id="{AEC3F725-1D2E-7E3D-9247-7A252213260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30" y="2295"/>
                    <a:ext cx="418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llena</a:t>
                    </a:r>
                  </a:p>
                </p:txBody>
              </p:sp>
              <p:sp>
                <p:nvSpPr>
                  <p:cNvPr id="37" name="Text Box 33">
                    <a:extLst>
                      <a:ext uri="{FF2B5EF4-FFF2-40B4-BE49-F238E27FC236}">
                        <a16:creationId xmlns:a16="http://schemas.microsoft.com/office/drawing/2014/main" id="{4618463A-C40B-6844-416F-F775D101DF9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78" y="1964"/>
                    <a:ext cx="1314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llena o medio llena</a:t>
                    </a:r>
                  </a:p>
                </p:txBody>
              </p:sp>
            </p:grpSp>
            <p:sp>
              <p:nvSpPr>
                <p:cNvPr id="9" name="Text Box 38">
                  <a:extLst>
                    <a:ext uri="{FF2B5EF4-FFF2-40B4-BE49-F238E27FC236}">
                      <a16:creationId xmlns:a16="http://schemas.microsoft.com/office/drawing/2014/main" id="{BAC44F41-C7E0-2BA2-D8A9-FD46238C7B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08605" y="3780683"/>
                  <a:ext cx="1411997" cy="5476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ts val="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  </a:t>
                  </a:r>
                  <a:endParaRPr lang="es-ES" sz="2000">
                    <a:solidFill>
                      <a:srgbClr val="008000"/>
                    </a:solidFill>
                    <a:latin typeface="Arial" panose="020B0604020202020204" pitchFamily="34" charset="0"/>
                    <a:sym typeface="Wingdings" panose="05000000000000000000" pitchFamily="2" charset="2"/>
                  </a:endParaRPr>
                </a:p>
              </p:txBody>
            </p:sp>
            <p:sp>
              <p:nvSpPr>
                <p:cNvPr id="10" name="Text Box 38">
                  <a:extLst>
                    <a:ext uri="{FF2B5EF4-FFF2-40B4-BE49-F238E27FC236}">
                      <a16:creationId xmlns:a16="http://schemas.microsoft.com/office/drawing/2014/main" id="{F7110910-78BB-8D7B-3C12-BA511184B1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24647" y="916635"/>
                  <a:ext cx="1411997" cy="5476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ts val="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  </a:t>
                  </a:r>
                  <a:endParaRPr lang="es-ES" sz="2000">
                    <a:solidFill>
                      <a:srgbClr val="008000"/>
                    </a:solidFill>
                    <a:latin typeface="Arial" panose="020B0604020202020204" pitchFamily="34" charset="0"/>
                    <a:sym typeface="Wingdings" panose="05000000000000000000" pitchFamily="2" charset="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6891873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88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8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8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88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88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8845" grpId="0" animBg="1"/>
      <p:bldP spid="888846" grpId="0" animBg="1"/>
      <p:bldP spid="888857" grpId="0" animBg="1"/>
      <p:bldP spid="888858" grpId="0" animBg="1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2">
            <a:extLst>
              <a:ext uri="{FF2B5EF4-FFF2-40B4-BE49-F238E27FC236}">
                <a16:creationId xmlns:a16="http://schemas.microsoft.com/office/drawing/2014/main" id="{B99DD3AC-DA96-51FD-7BDE-3E1B30829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440" y="106750"/>
            <a:ext cx="6488268" cy="609252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Esquema de Bandas de Energía de un Sólido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7E4E370-69FC-8745-52ED-0BE92D5DE257}"/>
              </a:ext>
            </a:extLst>
          </p:cNvPr>
          <p:cNvGrpSpPr/>
          <p:nvPr/>
        </p:nvGrpSpPr>
        <p:grpSpPr>
          <a:xfrm>
            <a:off x="1315827" y="776346"/>
            <a:ext cx="3294156" cy="3616110"/>
            <a:chOff x="1096752" y="817045"/>
            <a:chExt cx="3294156" cy="3616110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1A86FCB8-0529-3D22-8019-4A1A32E53FC5}"/>
                </a:ext>
              </a:extLst>
            </p:cNvPr>
            <p:cNvSpPr/>
            <p:nvPr/>
          </p:nvSpPr>
          <p:spPr bwMode="auto">
            <a:xfrm>
              <a:off x="1096752" y="915163"/>
              <a:ext cx="3294156" cy="3455173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5415D9C1-925C-8105-C00E-ACB86362A871}"/>
                </a:ext>
              </a:extLst>
            </p:cNvPr>
            <p:cNvGrpSpPr/>
            <p:nvPr/>
          </p:nvGrpSpPr>
          <p:grpSpPr>
            <a:xfrm>
              <a:off x="1192002" y="817045"/>
              <a:ext cx="3038474" cy="3616110"/>
              <a:chOff x="1192002" y="817045"/>
              <a:chExt cx="3038474" cy="3616110"/>
            </a:xfrm>
          </p:grpSpPr>
          <p:grpSp>
            <p:nvGrpSpPr>
              <p:cNvPr id="6" name="Group 48">
                <a:extLst>
                  <a:ext uri="{FF2B5EF4-FFF2-40B4-BE49-F238E27FC236}">
                    <a16:creationId xmlns:a16="http://schemas.microsoft.com/office/drawing/2014/main" id="{ED6F894E-7022-9E7F-9D32-A97C67D963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92002" y="817045"/>
                <a:ext cx="350838" cy="3402013"/>
                <a:chOff x="1011" y="604"/>
                <a:chExt cx="221" cy="2143"/>
              </a:xfrm>
            </p:grpSpPr>
            <p:sp>
              <p:nvSpPr>
                <p:cNvPr id="40" name="Line 21">
                  <a:extLst>
                    <a:ext uri="{FF2B5EF4-FFF2-40B4-BE49-F238E27FC236}">
                      <a16:creationId xmlns:a16="http://schemas.microsoft.com/office/drawing/2014/main" id="{1CB31A77-5515-AF44-2C5F-EA2B82B49F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110" y="903"/>
                  <a:ext cx="8" cy="1844"/>
                </a:xfrm>
                <a:prstGeom prst="line">
                  <a:avLst/>
                </a:prstGeom>
                <a:noFill/>
                <a:ln w="38100">
                  <a:solidFill>
                    <a:srgbClr val="008000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/>
                <a:lstStyle/>
                <a:p>
                  <a:endParaRPr lang="es-ES"/>
                </a:p>
              </p:txBody>
            </p:sp>
            <p:sp>
              <p:nvSpPr>
                <p:cNvPr id="41" name="Text Box 22">
                  <a:extLst>
                    <a:ext uri="{FF2B5EF4-FFF2-40B4-BE49-F238E27FC236}">
                      <a16:creationId xmlns:a16="http://schemas.microsoft.com/office/drawing/2014/main" id="{17E07DE5-7CAE-D82B-D7E6-3371027C0A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11" y="604"/>
                  <a:ext cx="221" cy="3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E</a:t>
                  </a:r>
                </a:p>
              </p:txBody>
            </p:sp>
          </p:grpSp>
          <p:grpSp>
            <p:nvGrpSpPr>
              <p:cNvPr id="7" name="Grupo 6">
                <a:extLst>
                  <a:ext uri="{FF2B5EF4-FFF2-40B4-BE49-F238E27FC236}">
                    <a16:creationId xmlns:a16="http://schemas.microsoft.com/office/drawing/2014/main" id="{9421374A-EC2D-A47B-6844-453F4560721C}"/>
                  </a:ext>
                </a:extLst>
              </p:cNvPr>
              <p:cNvGrpSpPr/>
              <p:nvPr/>
            </p:nvGrpSpPr>
            <p:grpSpPr>
              <a:xfrm>
                <a:off x="1468225" y="1021410"/>
                <a:ext cx="2762251" cy="3411745"/>
                <a:chOff x="1573000" y="916635"/>
                <a:chExt cx="2762251" cy="3411745"/>
              </a:xfrm>
            </p:grpSpPr>
            <p:grpSp>
              <p:nvGrpSpPr>
                <p:cNvPr id="8" name="Group 50">
                  <a:extLst>
                    <a:ext uri="{FF2B5EF4-FFF2-40B4-BE49-F238E27FC236}">
                      <a16:creationId xmlns:a16="http://schemas.microsoft.com/office/drawing/2014/main" id="{FD24EBE0-1A00-1DA5-F65E-F2D3068D1F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73000" y="1399657"/>
                  <a:ext cx="2762251" cy="2509837"/>
                  <a:chOff x="1185" y="1037"/>
                  <a:chExt cx="1740" cy="1581"/>
                </a:xfrm>
              </p:grpSpPr>
              <p:sp>
                <p:nvSpPr>
                  <p:cNvPr id="11" name="Rectangle 17">
                    <a:extLst>
                      <a:ext uri="{FF2B5EF4-FFF2-40B4-BE49-F238E27FC236}">
                        <a16:creationId xmlns:a16="http://schemas.microsoft.com/office/drawing/2014/main" id="{B93928BA-A42F-505D-9C13-F04CACD2B4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85" y="1078"/>
                    <a:ext cx="1723" cy="249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2" name="Rectangle 18">
                    <a:extLst>
                      <a:ext uri="{FF2B5EF4-FFF2-40B4-BE49-F238E27FC236}">
                        <a16:creationId xmlns:a16="http://schemas.microsoft.com/office/drawing/2014/main" id="{0380EA50-68AE-397F-8F7F-F4F344EBD8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02" y="1542"/>
                    <a:ext cx="1723" cy="249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3" name="Rectangle 19">
                    <a:extLst>
                      <a:ext uri="{FF2B5EF4-FFF2-40B4-BE49-F238E27FC236}">
                        <a16:creationId xmlns:a16="http://schemas.microsoft.com/office/drawing/2014/main" id="{D11C76AF-59FC-D147-8E57-BD89D032E0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98" y="2000"/>
                    <a:ext cx="1723" cy="249"/>
                  </a:xfrm>
                  <a:prstGeom prst="rect">
                    <a:avLst/>
                  </a:prstGeom>
                  <a:solidFill>
                    <a:srgbClr val="CCF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4" name="Rectangle 20">
                    <a:extLst>
                      <a:ext uri="{FF2B5EF4-FFF2-40B4-BE49-F238E27FC236}">
                        <a16:creationId xmlns:a16="http://schemas.microsoft.com/office/drawing/2014/main" id="{1A5B2679-2C9E-FF27-4584-5A873CA4CF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01" y="2346"/>
                    <a:ext cx="1723" cy="249"/>
                  </a:xfrm>
                  <a:prstGeom prst="rect">
                    <a:avLst/>
                  </a:prstGeom>
                  <a:solidFill>
                    <a:srgbClr val="CCFF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5" name="Text Box 27">
                    <a:extLst>
                      <a:ext uri="{FF2B5EF4-FFF2-40B4-BE49-F238E27FC236}">
                        <a16:creationId xmlns:a16="http://schemas.microsoft.com/office/drawing/2014/main" id="{31AEDA64-50CD-60A2-3CA2-F2E0B6D3167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91" y="1037"/>
                    <a:ext cx="458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vacía</a:t>
                    </a:r>
                  </a:p>
                </p:txBody>
              </p:sp>
              <p:sp>
                <p:nvSpPr>
                  <p:cNvPr id="16" name="Text Box 28">
                    <a:extLst>
                      <a:ext uri="{FF2B5EF4-FFF2-40B4-BE49-F238E27FC236}">
                        <a16:creationId xmlns:a16="http://schemas.microsoft.com/office/drawing/2014/main" id="{DF584A46-A64D-1C4E-797A-A2D2750A880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01" y="1487"/>
                    <a:ext cx="458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vacía</a:t>
                    </a:r>
                  </a:p>
                </p:txBody>
              </p:sp>
              <p:sp>
                <p:nvSpPr>
                  <p:cNvPr id="17" name="Text Box 29">
                    <a:extLst>
                      <a:ext uri="{FF2B5EF4-FFF2-40B4-BE49-F238E27FC236}">
                        <a16:creationId xmlns:a16="http://schemas.microsoft.com/office/drawing/2014/main" id="{DB155565-7F3B-36EC-D3D0-B7987C25F0C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30" y="2295"/>
                    <a:ext cx="418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llena</a:t>
                    </a:r>
                  </a:p>
                </p:txBody>
              </p:sp>
              <p:sp>
                <p:nvSpPr>
                  <p:cNvPr id="18" name="Text Box 33">
                    <a:extLst>
                      <a:ext uri="{FF2B5EF4-FFF2-40B4-BE49-F238E27FC236}">
                        <a16:creationId xmlns:a16="http://schemas.microsoft.com/office/drawing/2014/main" id="{F1B684CA-594D-D114-2AF7-067055915C4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78" y="1964"/>
                    <a:ext cx="1314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llena o medio llena</a:t>
                    </a:r>
                  </a:p>
                </p:txBody>
              </p:sp>
            </p:grpSp>
            <p:sp>
              <p:nvSpPr>
                <p:cNvPr id="9" name="Text Box 38">
                  <a:extLst>
                    <a:ext uri="{FF2B5EF4-FFF2-40B4-BE49-F238E27FC236}">
                      <a16:creationId xmlns:a16="http://schemas.microsoft.com/office/drawing/2014/main" id="{E64D7D6E-DAC0-0183-4B29-8F0A121995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08605" y="3780683"/>
                  <a:ext cx="1411997" cy="5476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ts val="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  </a:t>
                  </a:r>
                  <a:endParaRPr lang="es-ES" sz="2000">
                    <a:solidFill>
                      <a:srgbClr val="008000"/>
                    </a:solidFill>
                    <a:latin typeface="Arial" panose="020B0604020202020204" pitchFamily="34" charset="0"/>
                    <a:sym typeface="Wingdings" panose="05000000000000000000" pitchFamily="2" charset="2"/>
                  </a:endParaRPr>
                </a:p>
              </p:txBody>
            </p:sp>
            <p:sp>
              <p:nvSpPr>
                <p:cNvPr id="10" name="Text Box 38">
                  <a:extLst>
                    <a:ext uri="{FF2B5EF4-FFF2-40B4-BE49-F238E27FC236}">
                      <a16:creationId xmlns:a16="http://schemas.microsoft.com/office/drawing/2014/main" id="{14BFC4DE-00AB-AFC6-2518-D58CD9A30E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24647" y="916635"/>
                  <a:ext cx="1411997" cy="5476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ts val="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  </a:t>
                  </a:r>
                  <a:endParaRPr lang="es-ES" sz="2000">
                    <a:solidFill>
                      <a:srgbClr val="008000"/>
                    </a:solidFill>
                    <a:latin typeface="Arial" panose="020B0604020202020204" pitchFamily="34" charset="0"/>
                    <a:sym typeface="Wingdings" panose="05000000000000000000" pitchFamily="2" charset="2"/>
                  </a:endParaRPr>
                </a:p>
              </p:txBody>
            </p:sp>
          </p:grpSp>
        </p:grpSp>
      </p:grpSp>
      <p:sp>
        <p:nvSpPr>
          <p:cNvPr id="888847" name="Text Box 15"/>
          <p:cNvSpPr txBox="1">
            <a:spLocks noChangeArrowheads="1"/>
          </p:cNvSpPr>
          <p:nvPr/>
        </p:nvSpPr>
        <p:spPr bwMode="auto">
          <a:xfrm>
            <a:off x="6160363" y="1517123"/>
            <a:ext cx="3803777" cy="1347916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Cada conjunto de niveles entre dos bandas es una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Banda Prohibida</a:t>
            </a:r>
          </a:p>
        </p:txBody>
      </p:sp>
      <p:sp>
        <p:nvSpPr>
          <p:cNvPr id="888848" name="Text Box 16"/>
          <p:cNvSpPr txBox="1">
            <a:spLocks noChangeArrowheads="1"/>
          </p:cNvSpPr>
          <p:nvPr/>
        </p:nvSpPr>
        <p:spPr bwMode="auto">
          <a:xfrm>
            <a:off x="6509684" y="2941397"/>
            <a:ext cx="2853964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(un “gap” en inglés)</a:t>
            </a:r>
          </a:p>
        </p:txBody>
      </p:sp>
      <p:sp>
        <p:nvSpPr>
          <p:cNvPr id="888876" name="Text Box 44"/>
          <p:cNvSpPr txBox="1">
            <a:spLocks noChangeArrowheads="1"/>
          </p:cNvSpPr>
          <p:nvPr/>
        </p:nvSpPr>
        <p:spPr bwMode="auto">
          <a:xfrm>
            <a:off x="6539847" y="3495936"/>
            <a:ext cx="3555159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(un conjunto de energías no permitidas)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1798897" y="5049740"/>
            <a:ext cx="7924282" cy="1347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252000" tIns="118800" rIns="252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La banda de valencia y la banda de conducción son las relevantes al describir las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propiedades eléctricas</a:t>
            </a:r>
            <a:r>
              <a:rPr lang="es-ES" sz="2400">
                <a:latin typeface="Arial" panose="020B0604020202020204" pitchFamily="34" charset="0"/>
              </a:rPr>
              <a:t> de los </a:t>
            </a:r>
            <a:r>
              <a:rPr lang="es-ES" sz="2400" b="1">
                <a:latin typeface="Arial" panose="020B0604020202020204" pitchFamily="34" charset="0"/>
              </a:rPr>
              <a:t>sólidos</a:t>
            </a:r>
            <a:r>
              <a:rPr lang="es-ES" sz="2400">
                <a:latin typeface="Arial" panose="020B0604020202020204" pitchFamily="34" charset="0"/>
              </a:rPr>
              <a:t> y al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clasificarlos </a:t>
            </a:r>
            <a:r>
              <a:rPr lang="es-ES" sz="2400">
                <a:solidFill>
                  <a:schemeClr val="tx2"/>
                </a:solidFill>
                <a:latin typeface="Arial" panose="020B0604020202020204" pitchFamily="34" charset="0"/>
              </a:rPr>
              <a:t>eléctricamente</a:t>
            </a:r>
          </a:p>
        </p:txBody>
      </p:sp>
      <p:grpSp>
        <p:nvGrpSpPr>
          <p:cNvPr id="71727" name="Group 47"/>
          <p:cNvGrpSpPr>
            <a:grpSpLocks/>
          </p:cNvGrpSpPr>
          <p:nvPr/>
        </p:nvGrpSpPr>
        <p:grpSpPr bwMode="auto">
          <a:xfrm>
            <a:off x="4287436" y="1784201"/>
            <a:ext cx="1490670" cy="1911350"/>
            <a:chOff x="2949" y="1280"/>
            <a:chExt cx="939" cy="1204"/>
          </a:xfrm>
        </p:grpSpPr>
        <p:grpSp>
          <p:nvGrpSpPr>
            <p:cNvPr id="19474" name="Group 39"/>
            <p:cNvGrpSpPr>
              <a:grpSpLocks/>
            </p:cNvGrpSpPr>
            <p:nvPr/>
          </p:nvGrpSpPr>
          <p:grpSpPr bwMode="auto">
            <a:xfrm>
              <a:off x="3551" y="1280"/>
              <a:ext cx="337" cy="1204"/>
              <a:chOff x="1394" y="2901"/>
              <a:chExt cx="337" cy="1204"/>
            </a:xfrm>
          </p:grpSpPr>
          <p:sp>
            <p:nvSpPr>
              <p:cNvPr id="19478" name="Text Box 30"/>
              <p:cNvSpPr txBox="1">
                <a:spLocks noChangeArrowheads="1"/>
              </p:cNvSpPr>
              <p:nvPr/>
            </p:nvSpPr>
            <p:spPr bwMode="auto">
              <a:xfrm>
                <a:off x="1394" y="2901"/>
                <a:ext cx="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BP</a:t>
                </a:r>
              </a:p>
            </p:txBody>
          </p:sp>
          <p:sp>
            <p:nvSpPr>
              <p:cNvPr id="19479" name="Text Box 31"/>
              <p:cNvSpPr txBox="1">
                <a:spLocks noChangeArrowheads="1"/>
              </p:cNvSpPr>
              <p:nvPr/>
            </p:nvSpPr>
            <p:spPr bwMode="auto">
              <a:xfrm>
                <a:off x="1394" y="3387"/>
                <a:ext cx="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BP</a:t>
                </a:r>
              </a:p>
            </p:txBody>
          </p:sp>
          <p:sp>
            <p:nvSpPr>
              <p:cNvPr id="19480" name="Text Box 32"/>
              <p:cNvSpPr txBox="1">
                <a:spLocks noChangeArrowheads="1"/>
              </p:cNvSpPr>
              <p:nvPr/>
            </p:nvSpPr>
            <p:spPr bwMode="auto">
              <a:xfrm>
                <a:off x="1394" y="3763"/>
                <a:ext cx="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BP</a:t>
                </a:r>
              </a:p>
            </p:txBody>
          </p:sp>
        </p:grpSp>
        <p:sp>
          <p:nvSpPr>
            <p:cNvPr id="19475" name="Line 44"/>
            <p:cNvSpPr>
              <a:spLocks noChangeShapeType="1"/>
            </p:cNvSpPr>
            <p:nvPr/>
          </p:nvSpPr>
          <p:spPr bwMode="auto">
            <a:xfrm flipH="1">
              <a:off x="2949" y="1464"/>
              <a:ext cx="5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 sz="2400"/>
            </a:p>
          </p:txBody>
        </p:sp>
        <p:sp>
          <p:nvSpPr>
            <p:cNvPr id="19476" name="Line 45"/>
            <p:cNvSpPr>
              <a:spLocks noChangeShapeType="1"/>
            </p:cNvSpPr>
            <p:nvPr/>
          </p:nvSpPr>
          <p:spPr bwMode="auto">
            <a:xfrm flipH="1">
              <a:off x="2949" y="1937"/>
              <a:ext cx="5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 sz="2400"/>
            </a:p>
          </p:txBody>
        </p:sp>
        <p:sp>
          <p:nvSpPr>
            <p:cNvPr id="19477" name="Line 46"/>
            <p:cNvSpPr>
              <a:spLocks noChangeShapeType="1"/>
            </p:cNvSpPr>
            <p:nvPr/>
          </p:nvSpPr>
          <p:spPr bwMode="auto">
            <a:xfrm flipH="1">
              <a:off x="2949" y="2329"/>
              <a:ext cx="5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 sz="2400"/>
            </a:p>
          </p:txBody>
        </p:sp>
      </p:grpSp>
      <p:sp>
        <p:nvSpPr>
          <p:cNvPr id="42" name="Text Box 25">
            <a:extLst>
              <a:ext uri="{FF2B5EF4-FFF2-40B4-BE49-F238E27FC236}">
                <a16:creationId xmlns:a16="http://schemas.microsoft.com/office/drawing/2014/main" id="{5272F774-8E85-9214-AB72-22BB5D293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6007" y="2162872"/>
            <a:ext cx="549275" cy="54292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118800" rIns="90000" bIns="118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BC</a:t>
            </a: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E96E4027-1158-0C58-1E24-9B97CB4E6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3945" y="2891534"/>
            <a:ext cx="534987" cy="54292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118800" rIns="90000" bIns="118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BV</a:t>
            </a:r>
          </a:p>
        </p:txBody>
      </p:sp>
    </p:spTree>
    <p:extLst>
      <p:ext uri="{BB962C8B-B14F-4D97-AF65-F5344CB8AC3E}">
        <p14:creationId xmlns:p14="http://schemas.microsoft.com/office/powerpoint/2010/main" val="20663528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1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88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8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8847" grpId="0" animBg="1"/>
      <p:bldP spid="888848" grpId="0"/>
      <p:bldP spid="888876" grpId="0"/>
      <p:bldP spid="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3978098" y="351627"/>
            <a:ext cx="3620881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CLASIFICACIÓN</a:t>
            </a:r>
          </a:p>
        </p:txBody>
      </p:sp>
      <p:sp>
        <p:nvSpPr>
          <p:cNvPr id="73732" name="Text Box 17"/>
          <p:cNvSpPr txBox="1">
            <a:spLocks noChangeArrowheads="1"/>
          </p:cNvSpPr>
          <p:nvPr/>
        </p:nvSpPr>
        <p:spPr bwMode="auto">
          <a:xfrm>
            <a:off x="8395415" y="1078588"/>
            <a:ext cx="1947149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Aislante</a:t>
            </a:r>
            <a:endParaRPr lang="es-ES" sz="2000">
              <a:latin typeface="Arial" panose="020B0604020202020204" pitchFamily="34" charset="0"/>
            </a:endParaRPr>
          </a:p>
        </p:txBody>
      </p:sp>
      <p:sp>
        <p:nvSpPr>
          <p:cNvPr id="73733" name="Text Box 18"/>
          <p:cNvSpPr txBox="1">
            <a:spLocks noChangeArrowheads="1"/>
          </p:cNvSpPr>
          <p:nvPr/>
        </p:nvSpPr>
        <p:spPr bwMode="auto">
          <a:xfrm>
            <a:off x="5906819" y="1096051"/>
            <a:ext cx="2236808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Semiconductor</a:t>
            </a:r>
          </a:p>
        </p:txBody>
      </p:sp>
      <p:sp>
        <p:nvSpPr>
          <p:cNvPr id="884778" name="Text Box 42"/>
          <p:cNvSpPr txBox="1">
            <a:spLocks noChangeArrowheads="1"/>
          </p:cNvSpPr>
          <p:nvPr/>
        </p:nvSpPr>
        <p:spPr bwMode="auto">
          <a:xfrm>
            <a:off x="7715782" y="349672"/>
            <a:ext cx="1174850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T = 0 K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A544580F-6C3E-B9C2-6F5C-66FA37291F2A}"/>
              </a:ext>
            </a:extLst>
          </p:cNvPr>
          <p:cNvGrpSpPr/>
          <p:nvPr/>
        </p:nvGrpSpPr>
        <p:grpSpPr>
          <a:xfrm>
            <a:off x="6639457" y="2715788"/>
            <a:ext cx="1712913" cy="576083"/>
            <a:chOff x="6639457" y="2715788"/>
            <a:chExt cx="1712913" cy="576083"/>
          </a:xfrm>
        </p:grpSpPr>
        <p:sp>
          <p:nvSpPr>
            <p:cNvPr id="884789" name="Text Box 53"/>
            <p:cNvSpPr txBox="1">
              <a:spLocks noChangeArrowheads="1"/>
            </p:cNvSpPr>
            <p:nvPr/>
          </p:nvSpPr>
          <p:spPr bwMode="auto">
            <a:xfrm>
              <a:off x="7715782" y="2715788"/>
              <a:ext cx="636588" cy="547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gap</a:t>
              </a:r>
            </a:p>
          </p:txBody>
        </p:sp>
        <p:sp>
          <p:nvSpPr>
            <p:cNvPr id="23604" name="Text Box 30"/>
            <p:cNvSpPr txBox="1">
              <a:spLocks noChangeArrowheads="1"/>
            </p:cNvSpPr>
            <p:nvPr/>
          </p:nvSpPr>
          <p:spPr bwMode="auto">
            <a:xfrm>
              <a:off x="6688670" y="2779109"/>
              <a:ext cx="839788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 </a:t>
              </a: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1 eV</a:t>
              </a:r>
            </a:p>
          </p:txBody>
        </p:sp>
        <p:sp>
          <p:nvSpPr>
            <p:cNvPr id="23605" name="Line 31"/>
            <p:cNvSpPr>
              <a:spLocks noChangeShapeType="1"/>
            </p:cNvSpPr>
            <p:nvPr/>
          </p:nvSpPr>
          <p:spPr bwMode="auto">
            <a:xfrm>
              <a:off x="6639457" y="2817209"/>
              <a:ext cx="0" cy="43497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EC454A87-CA22-22CE-DB4B-1A8EA9756138}"/>
              </a:ext>
            </a:extLst>
          </p:cNvPr>
          <p:cNvGrpSpPr/>
          <p:nvPr/>
        </p:nvGrpSpPr>
        <p:grpSpPr>
          <a:xfrm>
            <a:off x="5902857" y="1683734"/>
            <a:ext cx="2033588" cy="2630487"/>
            <a:chOff x="5902857" y="1683734"/>
            <a:chExt cx="2033588" cy="2630487"/>
          </a:xfrm>
        </p:grpSpPr>
        <p:sp>
          <p:nvSpPr>
            <p:cNvPr id="23599" name="Rectangle 13"/>
            <p:cNvSpPr>
              <a:spLocks noChangeArrowheads="1"/>
            </p:cNvSpPr>
            <p:nvPr/>
          </p:nvSpPr>
          <p:spPr bwMode="auto">
            <a:xfrm>
              <a:off x="5902857" y="1683734"/>
              <a:ext cx="1412875" cy="113506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00" name="Rectangle 14"/>
            <p:cNvSpPr>
              <a:spLocks noChangeArrowheads="1"/>
            </p:cNvSpPr>
            <p:nvPr/>
          </p:nvSpPr>
          <p:spPr bwMode="auto">
            <a:xfrm>
              <a:off x="5902857" y="3263296"/>
              <a:ext cx="1412875" cy="105092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01" name="Text Box 21"/>
            <p:cNvSpPr txBox="1">
              <a:spLocks noChangeArrowheads="1"/>
            </p:cNvSpPr>
            <p:nvPr/>
          </p:nvSpPr>
          <p:spPr bwMode="auto">
            <a:xfrm>
              <a:off x="6314020" y="3509359"/>
              <a:ext cx="6635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23602" name="Text Box 26"/>
            <p:cNvSpPr txBox="1">
              <a:spLocks noChangeArrowheads="1"/>
            </p:cNvSpPr>
            <p:nvPr/>
          </p:nvSpPr>
          <p:spPr bwMode="auto">
            <a:xfrm>
              <a:off x="7387170" y="1766284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23603" name="Text Box 27"/>
            <p:cNvSpPr txBox="1">
              <a:spLocks noChangeArrowheads="1"/>
            </p:cNvSpPr>
            <p:nvPr/>
          </p:nvSpPr>
          <p:spPr bwMode="auto">
            <a:xfrm>
              <a:off x="7372882" y="3698271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23598" name="Text Box 28"/>
            <p:cNvSpPr txBox="1">
              <a:spLocks noChangeArrowheads="1"/>
            </p:cNvSpPr>
            <p:nvPr/>
          </p:nvSpPr>
          <p:spPr bwMode="auto">
            <a:xfrm>
              <a:off x="6222961" y="1981099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  <a:endParaRPr lang="es-E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" name="65 Grupo"/>
          <p:cNvGrpSpPr>
            <a:grpSpLocks/>
          </p:cNvGrpSpPr>
          <p:nvPr/>
        </p:nvGrpSpPr>
        <p:grpSpPr bwMode="auto">
          <a:xfrm>
            <a:off x="8389938" y="1696434"/>
            <a:ext cx="1981200" cy="2632075"/>
            <a:chOff x="8389938" y="2240002"/>
            <a:chExt cx="1981200" cy="2632075"/>
          </a:xfrm>
        </p:grpSpPr>
        <p:grpSp>
          <p:nvGrpSpPr>
            <p:cNvPr id="23588" name="Group 51"/>
            <p:cNvGrpSpPr>
              <a:grpSpLocks/>
            </p:cNvGrpSpPr>
            <p:nvPr/>
          </p:nvGrpSpPr>
          <p:grpSpPr bwMode="auto">
            <a:xfrm>
              <a:off x="8389938" y="2240002"/>
              <a:ext cx="1981200" cy="2632075"/>
              <a:chOff x="5285" y="1371"/>
              <a:chExt cx="1248" cy="1658"/>
            </a:xfrm>
          </p:grpSpPr>
          <p:sp>
            <p:nvSpPr>
              <p:cNvPr id="23590" name="Rectangle 15"/>
              <p:cNvSpPr>
                <a:spLocks noChangeArrowheads="1"/>
              </p:cNvSpPr>
              <p:nvPr/>
            </p:nvSpPr>
            <p:spPr bwMode="auto">
              <a:xfrm>
                <a:off x="5285" y="1371"/>
                <a:ext cx="890" cy="444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3591" name="Rectangle 16"/>
              <p:cNvSpPr>
                <a:spLocks noChangeArrowheads="1"/>
              </p:cNvSpPr>
              <p:nvPr/>
            </p:nvSpPr>
            <p:spPr bwMode="auto">
              <a:xfrm>
                <a:off x="5285" y="2585"/>
                <a:ext cx="890" cy="444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3592" name="Text Box 20"/>
              <p:cNvSpPr txBox="1">
                <a:spLocks noChangeArrowheads="1"/>
              </p:cNvSpPr>
              <p:nvPr/>
            </p:nvSpPr>
            <p:spPr bwMode="auto">
              <a:xfrm>
                <a:off x="5550" y="2644"/>
                <a:ext cx="418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llena</a:t>
                </a:r>
              </a:p>
            </p:txBody>
          </p:sp>
          <p:sp>
            <p:nvSpPr>
              <p:cNvPr id="23593" name="Text Box 24"/>
              <p:cNvSpPr txBox="1">
                <a:spLocks noChangeArrowheads="1"/>
              </p:cNvSpPr>
              <p:nvPr/>
            </p:nvSpPr>
            <p:spPr bwMode="auto">
              <a:xfrm>
                <a:off x="6187" y="1415"/>
                <a:ext cx="346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BC</a:t>
                </a:r>
              </a:p>
            </p:txBody>
          </p:sp>
          <p:sp>
            <p:nvSpPr>
              <p:cNvPr id="23594" name="Text Box 25"/>
              <p:cNvSpPr txBox="1">
                <a:spLocks noChangeArrowheads="1"/>
              </p:cNvSpPr>
              <p:nvPr/>
            </p:nvSpPr>
            <p:spPr bwMode="auto">
              <a:xfrm>
                <a:off x="6178" y="2632"/>
                <a:ext cx="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BV</a:t>
                </a:r>
              </a:p>
            </p:txBody>
          </p:sp>
          <p:sp>
            <p:nvSpPr>
              <p:cNvPr id="23595" name="Text Box 28"/>
              <p:cNvSpPr txBox="1">
                <a:spLocks noChangeArrowheads="1"/>
              </p:cNvSpPr>
              <p:nvPr/>
            </p:nvSpPr>
            <p:spPr bwMode="auto">
              <a:xfrm>
                <a:off x="5784" y="2052"/>
                <a:ext cx="738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Varios eV</a:t>
                </a:r>
              </a:p>
            </p:txBody>
          </p:sp>
          <p:sp>
            <p:nvSpPr>
              <p:cNvPr id="23596" name="Line 29"/>
              <p:cNvSpPr>
                <a:spLocks noChangeShapeType="1"/>
              </p:cNvSpPr>
              <p:nvPr/>
            </p:nvSpPr>
            <p:spPr bwMode="auto">
              <a:xfrm>
                <a:off x="5753" y="1858"/>
                <a:ext cx="0" cy="71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</p:grpSp>
        <p:sp>
          <p:nvSpPr>
            <p:cNvPr id="23589" name="Text Box 28"/>
            <p:cNvSpPr txBox="1">
              <a:spLocks noChangeArrowheads="1"/>
            </p:cNvSpPr>
            <p:nvPr/>
          </p:nvSpPr>
          <p:spPr bwMode="auto">
            <a:xfrm>
              <a:off x="8770516" y="2322236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</p:grpSp>
      <p:grpSp>
        <p:nvGrpSpPr>
          <p:cNvPr id="73769" name="Group 41"/>
          <p:cNvGrpSpPr>
            <a:grpSpLocks/>
          </p:cNvGrpSpPr>
          <p:nvPr/>
        </p:nvGrpSpPr>
        <p:grpSpPr bwMode="auto">
          <a:xfrm>
            <a:off x="3746016" y="1693259"/>
            <a:ext cx="1955800" cy="2603500"/>
            <a:chOff x="2405" y="1359"/>
            <a:chExt cx="1232" cy="1640"/>
          </a:xfrm>
        </p:grpSpPr>
        <p:sp>
          <p:nvSpPr>
            <p:cNvPr id="23572" name="Rectangle 10"/>
            <p:cNvSpPr>
              <a:spLocks noChangeArrowheads="1"/>
            </p:cNvSpPr>
            <p:nvPr/>
          </p:nvSpPr>
          <p:spPr bwMode="auto">
            <a:xfrm>
              <a:off x="2409" y="1359"/>
              <a:ext cx="890" cy="70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73" name="Rectangle 12"/>
            <p:cNvSpPr>
              <a:spLocks noChangeArrowheads="1"/>
            </p:cNvSpPr>
            <p:nvPr/>
          </p:nvSpPr>
          <p:spPr bwMode="auto">
            <a:xfrm>
              <a:off x="2405" y="2345"/>
              <a:ext cx="890" cy="6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74" name="Text Box 32"/>
            <p:cNvSpPr txBox="1">
              <a:spLocks noChangeArrowheads="1"/>
            </p:cNvSpPr>
            <p:nvPr/>
          </p:nvSpPr>
          <p:spPr bwMode="auto">
            <a:xfrm>
              <a:off x="3291" y="1405"/>
              <a:ext cx="346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23575" name="Text Box 33"/>
            <p:cNvSpPr txBox="1">
              <a:spLocks noChangeArrowheads="1"/>
            </p:cNvSpPr>
            <p:nvPr/>
          </p:nvSpPr>
          <p:spPr bwMode="auto">
            <a:xfrm>
              <a:off x="3294" y="2622"/>
              <a:ext cx="337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23576" name="Line 39"/>
            <p:cNvSpPr>
              <a:spLocks noChangeShapeType="1"/>
            </p:cNvSpPr>
            <p:nvPr/>
          </p:nvSpPr>
          <p:spPr bwMode="auto">
            <a:xfrm>
              <a:off x="2411" y="2678"/>
              <a:ext cx="8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3577" name="Text Box 22"/>
            <p:cNvSpPr txBox="1">
              <a:spLocks noChangeArrowheads="1"/>
            </p:cNvSpPr>
            <p:nvPr/>
          </p:nvSpPr>
          <p:spPr bwMode="auto">
            <a:xfrm>
              <a:off x="2598" y="2507"/>
              <a:ext cx="486" cy="32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8000" tIns="118800" rIns="18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½ llena</a:t>
              </a:r>
            </a:p>
          </p:txBody>
        </p:sp>
        <p:sp>
          <p:nvSpPr>
            <p:cNvPr id="23578" name="Text Box 28"/>
            <p:cNvSpPr txBox="1">
              <a:spLocks noChangeArrowheads="1"/>
            </p:cNvSpPr>
            <p:nvPr/>
          </p:nvSpPr>
          <p:spPr bwMode="auto">
            <a:xfrm>
              <a:off x="2637" y="1536"/>
              <a:ext cx="45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</p:grpSp>
      <p:sp>
        <p:nvSpPr>
          <p:cNvPr id="73782" name="Text Box 54"/>
          <p:cNvSpPr txBox="1">
            <a:spLocks noChangeArrowheads="1"/>
          </p:cNvSpPr>
          <p:nvPr/>
        </p:nvSpPr>
        <p:spPr bwMode="auto">
          <a:xfrm>
            <a:off x="1418666" y="4453958"/>
            <a:ext cx="8838579" cy="13479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26000" tIns="118800" rIns="126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FF0000"/>
                </a:solidFill>
              </a:rPr>
              <a:t>Si se aplica un </a:t>
            </a:r>
            <a:r>
              <a:rPr lang="es-ES" sz="2400" b="1" dirty="0">
                <a:solidFill>
                  <a:srgbClr val="FF0000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, o lo que es lo mismo, </a:t>
            </a:r>
            <a:r>
              <a:rPr lang="es-ES" sz="2400">
                <a:solidFill>
                  <a:srgbClr val="FF0000"/>
                </a:solidFill>
              </a:rPr>
              <a:t>una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ddp</a:t>
            </a:r>
            <a:r>
              <a:rPr lang="es-ES" sz="2400">
                <a:solidFill>
                  <a:schemeClr val="tx1"/>
                </a:solidFill>
              </a:rPr>
              <a:t>, </a:t>
            </a:r>
            <a:r>
              <a:rPr lang="es-ES" sz="2400" dirty="0">
                <a:solidFill>
                  <a:schemeClr val="tx1"/>
                </a:solidFill>
              </a:rPr>
              <a:t>como el potencial decrece </a:t>
            </a:r>
            <a:r>
              <a:rPr lang="es-ES" sz="2400">
                <a:solidFill>
                  <a:schemeClr val="tx1"/>
                </a:solidFill>
              </a:rPr>
              <a:t>en el sentido </a:t>
            </a:r>
            <a:r>
              <a:rPr lang="es-ES" sz="2400" dirty="0">
                <a:solidFill>
                  <a:schemeClr val="tx1"/>
                </a:solidFill>
              </a:rPr>
              <a:t>de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, </a:t>
            </a:r>
            <a:r>
              <a:rPr lang="es-ES" sz="2400">
                <a:solidFill>
                  <a:schemeClr val="tx1"/>
                </a:solidFill>
              </a:rPr>
              <a:t>la E</a:t>
            </a:r>
            <a:r>
              <a:rPr lang="es-ES" sz="2400" baseline="-25000">
                <a:solidFill>
                  <a:schemeClr val="tx1"/>
                </a:solidFill>
              </a:rPr>
              <a:t>potencial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de los </a:t>
            </a:r>
            <a:r>
              <a:rPr lang="es-ES" sz="2400">
                <a:solidFill>
                  <a:schemeClr val="tx1"/>
                </a:solidFill>
              </a:rPr>
              <a:t>e</a:t>
            </a:r>
            <a:r>
              <a:rPr lang="es-ES" sz="2400" baseline="30000">
                <a:solidFill>
                  <a:schemeClr val="tx1"/>
                </a:solidFill>
              </a:rPr>
              <a:t>-</a:t>
            </a:r>
            <a:r>
              <a:rPr lang="es-ES" sz="2400">
                <a:solidFill>
                  <a:schemeClr val="tx1"/>
                </a:solidFill>
              </a:rPr>
              <a:t> por tener q &lt; 0 decrece en sentido contrario a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endParaRPr lang="es-ES" sz="2400" dirty="0">
              <a:solidFill>
                <a:srgbClr val="3333FF"/>
              </a:solidFill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1513067" y="1694846"/>
            <a:ext cx="2062162" cy="2600326"/>
            <a:chOff x="1513067" y="1932971"/>
            <a:chExt cx="2062162" cy="2600326"/>
          </a:xfrm>
        </p:grpSpPr>
        <p:sp>
          <p:nvSpPr>
            <p:cNvPr id="23579" name="Rectangle 9"/>
            <p:cNvSpPr>
              <a:spLocks noChangeArrowheads="1"/>
            </p:cNvSpPr>
            <p:nvPr/>
          </p:nvSpPr>
          <p:spPr bwMode="auto">
            <a:xfrm>
              <a:off x="1619429" y="3172809"/>
              <a:ext cx="1412875" cy="136048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80" name="Rectangle 8"/>
            <p:cNvSpPr>
              <a:spLocks noChangeArrowheads="1"/>
            </p:cNvSpPr>
            <p:nvPr/>
          </p:nvSpPr>
          <p:spPr bwMode="auto">
            <a:xfrm>
              <a:off x="1603554" y="1932971"/>
              <a:ext cx="1412875" cy="124142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581" name="Text Box 23"/>
            <p:cNvSpPr txBox="1">
              <a:spLocks noChangeArrowheads="1"/>
            </p:cNvSpPr>
            <p:nvPr/>
          </p:nvSpPr>
          <p:spPr bwMode="auto">
            <a:xfrm>
              <a:off x="1994079" y="3718909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23582" name="Text Box 34"/>
            <p:cNvSpPr txBox="1">
              <a:spLocks noChangeArrowheads="1"/>
            </p:cNvSpPr>
            <p:nvPr/>
          </p:nvSpPr>
          <p:spPr bwMode="auto">
            <a:xfrm>
              <a:off x="3025954" y="2004409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23583" name="Text Box 35"/>
            <p:cNvSpPr txBox="1">
              <a:spLocks noChangeArrowheads="1"/>
            </p:cNvSpPr>
            <p:nvPr/>
          </p:nvSpPr>
          <p:spPr bwMode="auto">
            <a:xfrm>
              <a:off x="3011667" y="3936396"/>
              <a:ext cx="534987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23585" name="Line 45"/>
            <p:cNvSpPr>
              <a:spLocks noChangeShapeType="1"/>
            </p:cNvSpPr>
            <p:nvPr/>
          </p:nvSpPr>
          <p:spPr bwMode="auto">
            <a:xfrm>
              <a:off x="1633717" y="3129946"/>
              <a:ext cx="1376362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3586" name="Line 46"/>
            <p:cNvSpPr>
              <a:spLocks noChangeShapeType="1"/>
            </p:cNvSpPr>
            <p:nvPr/>
          </p:nvSpPr>
          <p:spPr bwMode="auto">
            <a:xfrm>
              <a:off x="1627367" y="3390296"/>
              <a:ext cx="1376362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3587" name="Text Box 28"/>
            <p:cNvSpPr txBox="1">
              <a:spLocks noChangeArrowheads="1"/>
            </p:cNvSpPr>
            <p:nvPr/>
          </p:nvSpPr>
          <p:spPr bwMode="auto">
            <a:xfrm>
              <a:off x="1951217" y="2234596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" name="Rectángulo 1"/>
            <p:cNvSpPr/>
            <p:nvPr/>
          </p:nvSpPr>
          <p:spPr bwMode="auto">
            <a:xfrm>
              <a:off x="1605918" y="3129946"/>
              <a:ext cx="1440000" cy="260350"/>
            </a:xfrm>
            <a:prstGeom prst="rect">
              <a:avLst/>
            </a:prstGeom>
            <a:solidFill>
              <a:srgbClr val="FFFF99">
                <a:alpha val="50000"/>
              </a:srgb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3584" name="Text Box 37"/>
            <p:cNvSpPr txBox="1">
              <a:spLocks noChangeArrowheads="1"/>
            </p:cNvSpPr>
            <p:nvPr/>
          </p:nvSpPr>
          <p:spPr bwMode="auto">
            <a:xfrm>
              <a:off x="1513067" y="3080734"/>
              <a:ext cx="1590675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superposición</a:t>
              </a:r>
            </a:p>
          </p:txBody>
        </p:sp>
      </p:grpSp>
      <p:sp>
        <p:nvSpPr>
          <p:cNvPr id="73735" name="Text Box 36"/>
          <p:cNvSpPr txBox="1">
            <a:spLocks noChangeArrowheads="1"/>
          </p:cNvSpPr>
          <p:nvPr/>
        </p:nvSpPr>
        <p:spPr bwMode="auto">
          <a:xfrm>
            <a:off x="3772202" y="1088113"/>
            <a:ext cx="1920090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2</a:t>
            </a:r>
          </a:p>
        </p:txBody>
      </p:sp>
      <p:sp>
        <p:nvSpPr>
          <p:cNvPr id="73734" name="Text Box 19"/>
          <p:cNvSpPr txBox="1">
            <a:spLocks noChangeArrowheads="1"/>
          </p:cNvSpPr>
          <p:nvPr/>
        </p:nvSpPr>
        <p:spPr bwMode="auto">
          <a:xfrm>
            <a:off x="1603676" y="1081763"/>
            <a:ext cx="1942977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1</a:t>
            </a:r>
          </a:p>
        </p:txBody>
      </p:sp>
      <p:sp>
        <p:nvSpPr>
          <p:cNvPr id="58" name="Text Box 54">
            <a:extLst>
              <a:ext uri="{FF2B5EF4-FFF2-40B4-BE49-F238E27FC236}">
                <a16:creationId xmlns:a16="http://schemas.microsoft.com/office/drawing/2014/main" id="{69F59010-068D-43C3-9DA4-05C0F4270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4564" y="5881965"/>
            <a:ext cx="8838579" cy="9785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26000" tIns="118800" rIns="126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chemeClr val="tx1"/>
                </a:solidFill>
              </a:rPr>
              <a:t>Esta contribución </a:t>
            </a:r>
            <a:r>
              <a:rPr lang="es-ES" sz="2400">
                <a:solidFill>
                  <a:srgbClr val="3333FF"/>
                </a:solidFill>
              </a:rPr>
              <a:t>inclina el esquema </a:t>
            </a:r>
            <a:r>
              <a:rPr lang="es-ES" sz="2400">
                <a:solidFill>
                  <a:schemeClr val="tx1"/>
                </a:solidFill>
              </a:rPr>
              <a:t>en el sentido de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haciendo que la energía de cada nivel dependa de la posición</a:t>
            </a:r>
          </a:p>
        </p:txBody>
      </p:sp>
      <p:grpSp>
        <p:nvGrpSpPr>
          <p:cNvPr id="59" name="Group 65">
            <a:extLst>
              <a:ext uri="{FF2B5EF4-FFF2-40B4-BE49-F238E27FC236}">
                <a16:creationId xmlns:a16="http://schemas.microsoft.com/office/drawing/2014/main" id="{E9372EA5-A1DB-4B69-A484-348187C5C8A2}"/>
              </a:ext>
            </a:extLst>
          </p:cNvPr>
          <p:cNvGrpSpPr>
            <a:grpSpLocks/>
          </p:cNvGrpSpPr>
          <p:nvPr/>
        </p:nvGrpSpPr>
        <p:grpSpPr bwMode="auto">
          <a:xfrm>
            <a:off x="141370" y="4805123"/>
            <a:ext cx="1150938" cy="682625"/>
            <a:chOff x="199" y="2712"/>
            <a:chExt cx="725" cy="430"/>
          </a:xfrm>
        </p:grpSpPr>
        <p:sp>
          <p:nvSpPr>
            <p:cNvPr id="60" name="Rectangle 66">
              <a:extLst>
                <a:ext uri="{FF2B5EF4-FFF2-40B4-BE49-F238E27FC236}">
                  <a16:creationId xmlns:a16="http://schemas.microsoft.com/office/drawing/2014/main" id="{C5E46476-E166-4D63-9117-35EA82749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2712"/>
              <a:ext cx="725" cy="4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" name="Text Box 67">
              <a:extLst>
                <a:ext uri="{FF2B5EF4-FFF2-40B4-BE49-F238E27FC236}">
                  <a16:creationId xmlns:a16="http://schemas.microsoft.com/office/drawing/2014/main" id="{4DF683F9-BB9B-4403-838F-C2A7CEE7D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723"/>
              <a:ext cx="263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b="1">
                  <a:solidFill>
                    <a:srgbClr val="FF33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62" name="Line 68">
              <a:extLst>
                <a:ext uri="{FF2B5EF4-FFF2-40B4-BE49-F238E27FC236}">
                  <a16:creationId xmlns:a16="http://schemas.microsoft.com/office/drawing/2014/main" id="{C167DE03-9F31-4BB6-A03B-3D5A3D2F4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" y="2808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63" name="AutoShape 69">
              <a:extLst>
                <a:ext uri="{FF2B5EF4-FFF2-40B4-BE49-F238E27FC236}">
                  <a16:creationId xmlns:a16="http://schemas.microsoft.com/office/drawing/2014/main" id="{D3154B3E-38A1-4C10-B673-C33C89ABB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" y="2838"/>
              <a:ext cx="219" cy="168"/>
            </a:xfrm>
            <a:prstGeom prst="rightArrow">
              <a:avLst>
                <a:gd name="adj1" fmla="val 50000"/>
                <a:gd name="adj2" fmla="val 32589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84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4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3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nimBg="1"/>
      <p:bldP spid="73732" grpId="0" animBg="1"/>
      <p:bldP spid="73733" grpId="0" animBg="1"/>
      <p:bldP spid="884778" grpId="0" animBg="1"/>
      <p:bldP spid="73782" grpId="0"/>
      <p:bldP spid="73735" grpId="0" animBg="1"/>
      <p:bldP spid="73734" grpId="0" animBg="1"/>
      <p:bldP spid="5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20" name="Text Box 38"/>
          <p:cNvSpPr txBox="1">
            <a:spLocks noChangeArrowheads="1"/>
          </p:cNvSpPr>
          <p:nvPr/>
        </p:nvSpPr>
        <p:spPr bwMode="auto">
          <a:xfrm>
            <a:off x="1169366" y="4347386"/>
            <a:ext cx="9273925" cy="1347916"/>
          </a:xfrm>
          <a:prstGeom prst="rect">
            <a:avLst/>
          </a:prstGeom>
          <a:noFill/>
          <a:ln>
            <a:noFill/>
          </a:ln>
        </p:spPr>
        <p:txBody>
          <a:bodyPr wrap="square" lIns="126000" tIns="118800" rIns="126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Los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 tienden a desplazarse en sentido contrario a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F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=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s-ES" sz="2400">
                <a:latin typeface="Arial" panose="020B0604020202020204" pitchFamily="34" charset="0"/>
              </a:rPr>
              <a:t>. Al hacerlo, su E</a:t>
            </a:r>
            <a:r>
              <a:rPr lang="es-ES" sz="2400" baseline="-25000">
                <a:latin typeface="Arial" panose="020B0604020202020204" pitchFamily="34" charset="0"/>
              </a:rPr>
              <a:t>p</a:t>
            </a:r>
            <a:r>
              <a:rPr lang="es-ES" sz="2400">
                <a:latin typeface="Arial" panose="020B0604020202020204" pitchFamily="34" charset="0"/>
              </a:rPr>
              <a:t> se va transformando en E</a:t>
            </a:r>
            <a:r>
              <a:rPr lang="es-ES" sz="2400" baseline="-25000">
                <a:latin typeface="Arial" panose="020B0604020202020204" pitchFamily="34" charset="0"/>
              </a:rPr>
              <a:t>c</a:t>
            </a:r>
            <a:r>
              <a:rPr lang="es-ES" sz="2400">
                <a:latin typeface="Arial" panose="020B0604020202020204" pitchFamily="34" charset="0"/>
              </a:rPr>
              <a:t>, en principio, sin pér-didas, con lo que mantienen su E (mov. horizontal en esquema)</a:t>
            </a:r>
            <a:endParaRPr lang="es-ES" sz="240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grpSp>
        <p:nvGrpSpPr>
          <p:cNvPr id="25649" name="Group 65"/>
          <p:cNvGrpSpPr>
            <a:grpSpLocks/>
          </p:cNvGrpSpPr>
          <p:nvPr/>
        </p:nvGrpSpPr>
        <p:grpSpPr bwMode="auto">
          <a:xfrm>
            <a:off x="160420" y="2625260"/>
            <a:ext cx="1150938" cy="682625"/>
            <a:chOff x="199" y="2712"/>
            <a:chExt cx="725" cy="430"/>
          </a:xfrm>
        </p:grpSpPr>
        <p:sp>
          <p:nvSpPr>
            <p:cNvPr id="25651" name="Rectangle 66"/>
            <p:cNvSpPr>
              <a:spLocks noChangeArrowheads="1"/>
            </p:cNvSpPr>
            <p:nvPr/>
          </p:nvSpPr>
          <p:spPr bwMode="auto">
            <a:xfrm>
              <a:off x="199" y="2712"/>
              <a:ext cx="725" cy="4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52" name="Text Box 67"/>
            <p:cNvSpPr txBox="1">
              <a:spLocks noChangeArrowheads="1"/>
            </p:cNvSpPr>
            <p:nvPr/>
          </p:nvSpPr>
          <p:spPr bwMode="auto">
            <a:xfrm>
              <a:off x="298" y="2723"/>
              <a:ext cx="263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b="1">
                  <a:solidFill>
                    <a:srgbClr val="FF33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25653" name="Line 68"/>
            <p:cNvSpPr>
              <a:spLocks noChangeShapeType="1"/>
            </p:cNvSpPr>
            <p:nvPr/>
          </p:nvSpPr>
          <p:spPr bwMode="auto">
            <a:xfrm>
              <a:off x="367" y="2808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5654" name="AutoShape 69"/>
            <p:cNvSpPr>
              <a:spLocks noChangeArrowheads="1"/>
            </p:cNvSpPr>
            <p:nvPr/>
          </p:nvSpPr>
          <p:spPr bwMode="auto">
            <a:xfrm>
              <a:off x="566" y="2838"/>
              <a:ext cx="219" cy="168"/>
            </a:xfrm>
            <a:prstGeom prst="rightArrow">
              <a:avLst>
                <a:gd name="adj1" fmla="val 50000"/>
                <a:gd name="adj2" fmla="val 32589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1521843" y="1618737"/>
            <a:ext cx="8859569" cy="2705100"/>
            <a:chOff x="1521843" y="1856862"/>
            <a:chExt cx="8859569" cy="2705100"/>
          </a:xfrm>
        </p:grpSpPr>
        <p:sp>
          <p:nvSpPr>
            <p:cNvPr id="25603" name="Rectangle 15"/>
            <p:cNvSpPr>
              <a:spLocks noChangeArrowheads="1"/>
            </p:cNvSpPr>
            <p:nvPr/>
          </p:nvSpPr>
          <p:spPr bwMode="auto">
            <a:xfrm>
              <a:off x="8400212" y="1929887"/>
              <a:ext cx="1412875" cy="70485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04" name="Rectangle 16"/>
            <p:cNvSpPr>
              <a:spLocks noChangeArrowheads="1"/>
            </p:cNvSpPr>
            <p:nvPr/>
          </p:nvSpPr>
          <p:spPr bwMode="auto">
            <a:xfrm>
              <a:off x="8400212" y="3857112"/>
              <a:ext cx="1412875" cy="7048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05" name="Text Box 20"/>
            <p:cNvSpPr txBox="1">
              <a:spLocks noChangeArrowheads="1"/>
            </p:cNvSpPr>
            <p:nvPr/>
          </p:nvSpPr>
          <p:spPr bwMode="auto">
            <a:xfrm>
              <a:off x="8820899" y="3950774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25606" name="Text Box 24"/>
            <p:cNvSpPr txBox="1">
              <a:spLocks noChangeArrowheads="1"/>
            </p:cNvSpPr>
            <p:nvPr/>
          </p:nvSpPr>
          <p:spPr bwMode="auto">
            <a:xfrm>
              <a:off x="9832137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25607" name="Text Box 25"/>
            <p:cNvSpPr txBox="1">
              <a:spLocks noChangeArrowheads="1"/>
            </p:cNvSpPr>
            <p:nvPr/>
          </p:nvSpPr>
          <p:spPr bwMode="auto">
            <a:xfrm>
              <a:off x="9817849" y="3931724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25608" name="Text Box 28"/>
            <p:cNvSpPr txBox="1">
              <a:spLocks noChangeArrowheads="1"/>
            </p:cNvSpPr>
            <p:nvPr/>
          </p:nvSpPr>
          <p:spPr bwMode="auto">
            <a:xfrm>
              <a:off x="9192374" y="2661724"/>
              <a:ext cx="1171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Varios eV</a:t>
              </a:r>
            </a:p>
          </p:txBody>
        </p:sp>
        <p:sp>
          <p:nvSpPr>
            <p:cNvPr id="25609" name="Rectangle 13"/>
            <p:cNvSpPr>
              <a:spLocks noChangeArrowheads="1"/>
            </p:cNvSpPr>
            <p:nvPr/>
          </p:nvSpPr>
          <p:spPr bwMode="auto">
            <a:xfrm>
              <a:off x="5933684" y="1917187"/>
              <a:ext cx="1412875" cy="113506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10" name="Rectangle 14"/>
            <p:cNvSpPr>
              <a:spLocks noChangeArrowheads="1"/>
            </p:cNvSpPr>
            <p:nvPr/>
          </p:nvSpPr>
          <p:spPr bwMode="auto">
            <a:xfrm>
              <a:off x="5933684" y="3496749"/>
              <a:ext cx="1412875" cy="105092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11" name="Text Box 21"/>
            <p:cNvSpPr txBox="1">
              <a:spLocks noChangeArrowheads="1"/>
            </p:cNvSpPr>
            <p:nvPr/>
          </p:nvSpPr>
          <p:spPr bwMode="auto">
            <a:xfrm>
              <a:off x="6344847" y="3950774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25612" name="Text Box 26"/>
            <p:cNvSpPr txBox="1">
              <a:spLocks noChangeArrowheads="1"/>
            </p:cNvSpPr>
            <p:nvPr/>
          </p:nvSpPr>
          <p:spPr bwMode="auto">
            <a:xfrm>
              <a:off x="7417997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25613" name="Text Box 27"/>
            <p:cNvSpPr txBox="1">
              <a:spLocks noChangeArrowheads="1"/>
            </p:cNvSpPr>
            <p:nvPr/>
          </p:nvSpPr>
          <p:spPr bwMode="auto">
            <a:xfrm>
              <a:off x="7403709" y="3931724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25618" name="Rectangle 10"/>
            <p:cNvSpPr>
              <a:spLocks noChangeArrowheads="1"/>
            </p:cNvSpPr>
            <p:nvPr/>
          </p:nvSpPr>
          <p:spPr bwMode="auto">
            <a:xfrm>
              <a:off x="3762644" y="1926712"/>
              <a:ext cx="1412875" cy="112077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19" name="Rectangle 12"/>
            <p:cNvSpPr>
              <a:spLocks noChangeArrowheads="1"/>
            </p:cNvSpPr>
            <p:nvPr/>
          </p:nvSpPr>
          <p:spPr bwMode="auto">
            <a:xfrm>
              <a:off x="3756294" y="3491987"/>
              <a:ext cx="1412875" cy="103822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20" name="Text Box 32"/>
            <p:cNvSpPr txBox="1">
              <a:spLocks noChangeArrowheads="1"/>
            </p:cNvSpPr>
            <p:nvPr/>
          </p:nvSpPr>
          <p:spPr bwMode="auto">
            <a:xfrm>
              <a:off x="5162819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25621" name="Text Box 33"/>
            <p:cNvSpPr txBox="1">
              <a:spLocks noChangeArrowheads="1"/>
            </p:cNvSpPr>
            <p:nvPr/>
          </p:nvSpPr>
          <p:spPr bwMode="auto">
            <a:xfrm>
              <a:off x="5148531" y="3931724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25622" name="Line 39"/>
            <p:cNvSpPr>
              <a:spLocks noChangeShapeType="1"/>
            </p:cNvSpPr>
            <p:nvPr/>
          </p:nvSpPr>
          <p:spPr bwMode="auto">
            <a:xfrm flipV="1">
              <a:off x="3765819" y="3658674"/>
              <a:ext cx="1414462" cy="465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5623" name="Text Box 22"/>
            <p:cNvSpPr txBox="1">
              <a:spLocks noChangeArrowheads="1"/>
            </p:cNvSpPr>
            <p:nvPr/>
          </p:nvSpPr>
          <p:spPr bwMode="auto">
            <a:xfrm>
              <a:off x="4080144" y="3933312"/>
              <a:ext cx="77152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8000" tIns="118800" rIns="18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25625" name="Rectangle 8"/>
            <p:cNvSpPr>
              <a:spLocks noChangeArrowheads="1"/>
            </p:cNvSpPr>
            <p:nvPr/>
          </p:nvSpPr>
          <p:spPr bwMode="auto">
            <a:xfrm>
              <a:off x="1613828" y="1937824"/>
              <a:ext cx="1412875" cy="145256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26" name="Rectangle 9"/>
            <p:cNvSpPr>
              <a:spLocks noChangeArrowheads="1"/>
            </p:cNvSpPr>
            <p:nvPr/>
          </p:nvSpPr>
          <p:spPr bwMode="auto">
            <a:xfrm>
              <a:off x="1629703" y="3355551"/>
              <a:ext cx="1412875" cy="11239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27" name="Text Box 23"/>
            <p:cNvSpPr txBox="1">
              <a:spLocks noChangeArrowheads="1"/>
            </p:cNvSpPr>
            <p:nvPr/>
          </p:nvSpPr>
          <p:spPr bwMode="auto">
            <a:xfrm>
              <a:off x="2004353" y="3940500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25628" name="Text Box 34"/>
            <p:cNvSpPr txBox="1">
              <a:spLocks noChangeArrowheads="1"/>
            </p:cNvSpPr>
            <p:nvPr/>
          </p:nvSpPr>
          <p:spPr bwMode="auto">
            <a:xfrm>
              <a:off x="3055278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25629" name="Text Box 35"/>
            <p:cNvSpPr txBox="1">
              <a:spLocks noChangeArrowheads="1"/>
            </p:cNvSpPr>
            <p:nvPr/>
          </p:nvSpPr>
          <p:spPr bwMode="auto">
            <a:xfrm>
              <a:off x="3040991" y="3931724"/>
              <a:ext cx="534987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25630" name="Text Box 53"/>
            <p:cNvSpPr txBox="1">
              <a:spLocks noChangeArrowheads="1"/>
            </p:cNvSpPr>
            <p:nvPr/>
          </p:nvSpPr>
          <p:spPr bwMode="auto">
            <a:xfrm>
              <a:off x="7798997" y="2625122"/>
              <a:ext cx="636587" cy="547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gap</a:t>
              </a:r>
            </a:p>
          </p:txBody>
        </p:sp>
        <p:sp>
          <p:nvSpPr>
            <p:cNvPr id="25631" name="49 Triángulo isósceles"/>
            <p:cNvSpPr>
              <a:spLocks noChangeArrowheads="1"/>
            </p:cNvSpPr>
            <p:nvPr/>
          </p:nvSpPr>
          <p:spPr bwMode="auto">
            <a:xfrm flipH="1">
              <a:off x="5890822" y="2560124"/>
              <a:ext cx="1458912" cy="504825"/>
            </a:xfrm>
            <a:prstGeom prst="triangle">
              <a:avLst>
                <a:gd name="adj" fmla="val 0"/>
              </a:avLst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2" name="50 Triángulo isósceles"/>
            <p:cNvSpPr>
              <a:spLocks noChangeArrowheads="1"/>
            </p:cNvSpPr>
            <p:nvPr/>
          </p:nvSpPr>
          <p:spPr bwMode="auto">
            <a:xfrm flipH="1">
              <a:off x="8362112" y="2144199"/>
              <a:ext cx="1458912" cy="504825"/>
            </a:xfrm>
            <a:prstGeom prst="triangle">
              <a:avLst>
                <a:gd name="adj" fmla="val 0"/>
              </a:avLst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3" name="51 Triángulo isósceles"/>
            <p:cNvSpPr>
              <a:spLocks noChangeArrowheads="1"/>
            </p:cNvSpPr>
            <p:nvPr/>
          </p:nvSpPr>
          <p:spPr bwMode="auto">
            <a:xfrm flipH="1">
              <a:off x="3716606" y="2542662"/>
              <a:ext cx="1458913" cy="506412"/>
            </a:xfrm>
            <a:prstGeom prst="triangle">
              <a:avLst>
                <a:gd name="adj" fmla="val 0"/>
              </a:avLst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4" name="51 Triángulo isósceles"/>
            <p:cNvSpPr>
              <a:spLocks noChangeArrowheads="1"/>
            </p:cNvSpPr>
            <p:nvPr/>
          </p:nvSpPr>
          <p:spPr bwMode="auto">
            <a:xfrm flipH="1">
              <a:off x="1571715" y="2894248"/>
              <a:ext cx="1458912" cy="506413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5" name="51 Triángulo isósceles"/>
            <p:cNvSpPr>
              <a:spLocks noChangeArrowheads="1"/>
            </p:cNvSpPr>
            <p:nvPr/>
          </p:nvSpPr>
          <p:spPr bwMode="auto">
            <a:xfrm flipH="1">
              <a:off x="5895584" y="2988749"/>
              <a:ext cx="1458913" cy="506413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6" name="52 Triángulo isósceles"/>
            <p:cNvSpPr>
              <a:spLocks noChangeArrowheads="1"/>
            </p:cNvSpPr>
            <p:nvPr/>
          </p:nvSpPr>
          <p:spPr bwMode="auto">
            <a:xfrm flipH="1">
              <a:off x="8365287" y="3349112"/>
              <a:ext cx="1458912" cy="506412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7" name="Line 29"/>
            <p:cNvSpPr>
              <a:spLocks noChangeShapeType="1"/>
            </p:cNvSpPr>
            <p:nvPr/>
          </p:nvSpPr>
          <p:spPr bwMode="auto">
            <a:xfrm>
              <a:off x="9143162" y="2410899"/>
              <a:ext cx="0" cy="11303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5638" name="Text Box 30"/>
            <p:cNvSpPr txBox="1">
              <a:spLocks noChangeArrowheads="1"/>
            </p:cNvSpPr>
            <p:nvPr/>
          </p:nvSpPr>
          <p:spPr bwMode="auto">
            <a:xfrm>
              <a:off x="6732018" y="2667895"/>
              <a:ext cx="839787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 </a:t>
              </a: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1 eV</a:t>
              </a:r>
            </a:p>
          </p:txBody>
        </p:sp>
        <p:sp>
          <p:nvSpPr>
            <p:cNvPr id="25639" name="Line 31"/>
            <p:cNvSpPr>
              <a:spLocks noChangeShapeType="1"/>
            </p:cNvSpPr>
            <p:nvPr/>
          </p:nvSpPr>
          <p:spPr bwMode="auto">
            <a:xfrm>
              <a:off x="6670284" y="2815712"/>
              <a:ext cx="0" cy="43497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5640" name="Line 39"/>
            <p:cNvSpPr>
              <a:spLocks noChangeShapeType="1"/>
            </p:cNvSpPr>
            <p:nvPr/>
          </p:nvSpPr>
          <p:spPr bwMode="auto">
            <a:xfrm flipV="1">
              <a:off x="1601128" y="2710937"/>
              <a:ext cx="1414463" cy="465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5641" name="Line 39"/>
            <p:cNvSpPr>
              <a:spLocks noChangeShapeType="1"/>
            </p:cNvSpPr>
            <p:nvPr/>
          </p:nvSpPr>
          <p:spPr bwMode="auto">
            <a:xfrm flipV="1">
              <a:off x="1612241" y="2939537"/>
              <a:ext cx="1414462" cy="465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5642" name="51 Triángulo isósceles"/>
            <p:cNvSpPr>
              <a:spLocks noChangeArrowheads="1"/>
            </p:cNvSpPr>
            <p:nvPr/>
          </p:nvSpPr>
          <p:spPr bwMode="auto">
            <a:xfrm flipH="1">
              <a:off x="3719781" y="2988749"/>
              <a:ext cx="1458913" cy="506413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44" name="Text Box 28"/>
            <p:cNvSpPr txBox="1">
              <a:spLocks noChangeArrowheads="1"/>
            </p:cNvSpPr>
            <p:nvPr/>
          </p:nvSpPr>
          <p:spPr bwMode="auto">
            <a:xfrm>
              <a:off x="1961491" y="2069587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5645" name="Text Box 28"/>
            <p:cNvSpPr txBox="1">
              <a:spLocks noChangeArrowheads="1"/>
            </p:cNvSpPr>
            <p:nvPr/>
          </p:nvSpPr>
          <p:spPr bwMode="auto">
            <a:xfrm>
              <a:off x="4081731" y="2099749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5646" name="Text Box 28"/>
            <p:cNvSpPr txBox="1">
              <a:spLocks noChangeArrowheads="1"/>
            </p:cNvSpPr>
            <p:nvPr/>
          </p:nvSpPr>
          <p:spPr bwMode="auto">
            <a:xfrm>
              <a:off x="6276584" y="2129912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5647" name="Text Box 28"/>
            <p:cNvSpPr txBox="1">
              <a:spLocks noChangeArrowheads="1"/>
            </p:cNvSpPr>
            <p:nvPr/>
          </p:nvSpPr>
          <p:spPr bwMode="auto">
            <a:xfrm>
              <a:off x="8709774" y="1856862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5648" name="Text Box 37"/>
            <p:cNvSpPr txBox="1">
              <a:spLocks noChangeArrowheads="1"/>
            </p:cNvSpPr>
            <p:nvPr/>
          </p:nvSpPr>
          <p:spPr bwMode="auto">
            <a:xfrm rot="-1080000">
              <a:off x="1521843" y="2867261"/>
              <a:ext cx="1590675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superposición</a:t>
              </a:r>
            </a:p>
          </p:txBody>
        </p:sp>
        <p:sp>
          <p:nvSpPr>
            <p:cNvPr id="25650" name="Text Box 28"/>
            <p:cNvSpPr txBox="1">
              <a:spLocks noChangeArrowheads="1"/>
            </p:cNvSpPr>
            <p:nvPr/>
          </p:nvSpPr>
          <p:spPr bwMode="auto">
            <a:xfrm>
              <a:off x="4105544" y="3311012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</p:grpSp>
      <p:sp>
        <p:nvSpPr>
          <p:cNvPr id="59" name="Text Box 38">
            <a:extLst>
              <a:ext uri="{FF2B5EF4-FFF2-40B4-BE49-F238E27FC236}">
                <a16:creationId xmlns:a16="http://schemas.microsoft.com/office/drawing/2014/main" id="{57D4701D-7915-48B8-A3AB-EF5F3A0BE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746" y="5604327"/>
            <a:ext cx="9273925" cy="1347916"/>
          </a:xfrm>
          <a:prstGeom prst="rect">
            <a:avLst/>
          </a:prstGeom>
          <a:noFill/>
          <a:ln>
            <a:noFill/>
          </a:ln>
        </p:spPr>
        <p:txBody>
          <a:bodyPr wrap="square" lIns="126000" tIns="118800" rIns="126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Como la E del nivel en que estaban es menor adonde llegan, para que haya conducción en el sólido,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corriente</a:t>
            </a:r>
            <a:r>
              <a:rPr lang="es-ES" sz="2400">
                <a:latin typeface="Arial" panose="020B0604020202020204" pitchFamily="34" charset="0"/>
              </a:rPr>
              <a:t>, deben haber niveles en la nueva posición con la E de los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 y con vacantes</a:t>
            </a:r>
            <a:endParaRPr lang="es-ES" sz="240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F9BA63-DF9D-2BF6-34C7-E06CDA153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098" y="351627"/>
            <a:ext cx="3620881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CLASIFICACIÓN</a:t>
            </a:r>
          </a:p>
        </p:txBody>
      </p:sp>
      <p:sp>
        <p:nvSpPr>
          <p:cNvPr id="4" name="Text Box 17">
            <a:extLst>
              <a:ext uri="{FF2B5EF4-FFF2-40B4-BE49-F238E27FC236}">
                <a16:creationId xmlns:a16="http://schemas.microsoft.com/office/drawing/2014/main" id="{41ACED3E-B706-624E-69DD-D7510CE2B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5415" y="1078588"/>
            <a:ext cx="1947149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Aislante</a:t>
            </a:r>
            <a:endParaRPr lang="es-ES" sz="2000">
              <a:latin typeface="Arial" panose="020B0604020202020204" pitchFamily="34" charset="0"/>
            </a:endParaRPr>
          </a:p>
        </p:txBody>
      </p:sp>
      <p:sp>
        <p:nvSpPr>
          <p:cNvPr id="5" name="Text Box 18">
            <a:extLst>
              <a:ext uri="{FF2B5EF4-FFF2-40B4-BE49-F238E27FC236}">
                <a16:creationId xmlns:a16="http://schemas.microsoft.com/office/drawing/2014/main" id="{8237E6DC-6C3D-EBFF-CDE8-2BCC471FB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6819" y="1096051"/>
            <a:ext cx="2236808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Semiconductor</a:t>
            </a:r>
          </a:p>
        </p:txBody>
      </p:sp>
      <p:sp>
        <p:nvSpPr>
          <p:cNvPr id="6" name="Text Box 42">
            <a:extLst>
              <a:ext uri="{FF2B5EF4-FFF2-40B4-BE49-F238E27FC236}">
                <a16:creationId xmlns:a16="http://schemas.microsoft.com/office/drawing/2014/main" id="{89798DDA-0B8F-AEEB-F975-F905A7E36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782" y="349672"/>
            <a:ext cx="1174850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T = 0 K</a:t>
            </a:r>
          </a:p>
        </p:txBody>
      </p:sp>
      <p:sp>
        <p:nvSpPr>
          <p:cNvPr id="7" name="Text Box 36">
            <a:extLst>
              <a:ext uri="{FF2B5EF4-FFF2-40B4-BE49-F238E27FC236}">
                <a16:creationId xmlns:a16="http://schemas.microsoft.com/office/drawing/2014/main" id="{DB0DA138-FEE3-8E5D-9D9B-CF7CD19EE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202" y="1088113"/>
            <a:ext cx="1920090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2</a:t>
            </a:r>
          </a:p>
        </p:txBody>
      </p:sp>
      <p:sp>
        <p:nvSpPr>
          <p:cNvPr id="8" name="Text Box 19">
            <a:extLst>
              <a:ext uri="{FF2B5EF4-FFF2-40B4-BE49-F238E27FC236}">
                <a16:creationId xmlns:a16="http://schemas.microsoft.com/office/drawing/2014/main" id="{4ED87A5C-309D-E119-DB52-52601E521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676" y="1081763"/>
            <a:ext cx="1942977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20" grpId="0"/>
      <p:bldP spid="5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upo 135"/>
          <p:cNvGrpSpPr/>
          <p:nvPr/>
        </p:nvGrpSpPr>
        <p:grpSpPr>
          <a:xfrm>
            <a:off x="1521843" y="1622939"/>
            <a:ext cx="8859569" cy="2705100"/>
            <a:chOff x="1521843" y="1856862"/>
            <a:chExt cx="8859569" cy="2705100"/>
          </a:xfrm>
        </p:grpSpPr>
        <p:sp>
          <p:nvSpPr>
            <p:cNvPr id="137" name="Rectangle 15"/>
            <p:cNvSpPr>
              <a:spLocks noChangeArrowheads="1"/>
            </p:cNvSpPr>
            <p:nvPr/>
          </p:nvSpPr>
          <p:spPr bwMode="auto">
            <a:xfrm>
              <a:off x="8400212" y="1929887"/>
              <a:ext cx="1412875" cy="70485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8" name="Rectangle 16"/>
            <p:cNvSpPr>
              <a:spLocks noChangeArrowheads="1"/>
            </p:cNvSpPr>
            <p:nvPr/>
          </p:nvSpPr>
          <p:spPr bwMode="auto">
            <a:xfrm>
              <a:off x="8400212" y="3857112"/>
              <a:ext cx="1412875" cy="7048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9" name="Text Box 20"/>
            <p:cNvSpPr txBox="1">
              <a:spLocks noChangeArrowheads="1"/>
            </p:cNvSpPr>
            <p:nvPr/>
          </p:nvSpPr>
          <p:spPr bwMode="auto">
            <a:xfrm>
              <a:off x="8820899" y="3950774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40" name="Text Box 24"/>
            <p:cNvSpPr txBox="1">
              <a:spLocks noChangeArrowheads="1"/>
            </p:cNvSpPr>
            <p:nvPr/>
          </p:nvSpPr>
          <p:spPr bwMode="auto">
            <a:xfrm>
              <a:off x="9832137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41" name="Text Box 25"/>
            <p:cNvSpPr txBox="1">
              <a:spLocks noChangeArrowheads="1"/>
            </p:cNvSpPr>
            <p:nvPr/>
          </p:nvSpPr>
          <p:spPr bwMode="auto">
            <a:xfrm>
              <a:off x="9817849" y="3931724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42" name="Text Box 28"/>
            <p:cNvSpPr txBox="1">
              <a:spLocks noChangeArrowheads="1"/>
            </p:cNvSpPr>
            <p:nvPr/>
          </p:nvSpPr>
          <p:spPr bwMode="auto">
            <a:xfrm>
              <a:off x="9192374" y="2661724"/>
              <a:ext cx="1171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Varios eV</a:t>
              </a:r>
            </a:p>
          </p:txBody>
        </p:sp>
        <p:sp>
          <p:nvSpPr>
            <p:cNvPr id="143" name="Rectangle 13"/>
            <p:cNvSpPr>
              <a:spLocks noChangeArrowheads="1"/>
            </p:cNvSpPr>
            <p:nvPr/>
          </p:nvSpPr>
          <p:spPr bwMode="auto">
            <a:xfrm>
              <a:off x="5933684" y="1917187"/>
              <a:ext cx="1412875" cy="113506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4" name="Rectangle 14"/>
            <p:cNvSpPr>
              <a:spLocks noChangeArrowheads="1"/>
            </p:cNvSpPr>
            <p:nvPr/>
          </p:nvSpPr>
          <p:spPr bwMode="auto">
            <a:xfrm>
              <a:off x="5933684" y="3496749"/>
              <a:ext cx="1412875" cy="105092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5" name="Text Box 21"/>
            <p:cNvSpPr txBox="1">
              <a:spLocks noChangeArrowheads="1"/>
            </p:cNvSpPr>
            <p:nvPr/>
          </p:nvSpPr>
          <p:spPr bwMode="auto">
            <a:xfrm>
              <a:off x="6344847" y="3950774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46" name="Text Box 26"/>
            <p:cNvSpPr txBox="1">
              <a:spLocks noChangeArrowheads="1"/>
            </p:cNvSpPr>
            <p:nvPr/>
          </p:nvSpPr>
          <p:spPr bwMode="auto">
            <a:xfrm>
              <a:off x="7417997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47" name="Text Box 27"/>
            <p:cNvSpPr txBox="1">
              <a:spLocks noChangeArrowheads="1"/>
            </p:cNvSpPr>
            <p:nvPr/>
          </p:nvSpPr>
          <p:spPr bwMode="auto">
            <a:xfrm>
              <a:off x="7403709" y="3931724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48" name="Rectangle 10"/>
            <p:cNvSpPr>
              <a:spLocks noChangeArrowheads="1"/>
            </p:cNvSpPr>
            <p:nvPr/>
          </p:nvSpPr>
          <p:spPr bwMode="auto">
            <a:xfrm>
              <a:off x="3762644" y="1926712"/>
              <a:ext cx="1412875" cy="112077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9" name="Rectangle 12"/>
            <p:cNvSpPr>
              <a:spLocks noChangeArrowheads="1"/>
            </p:cNvSpPr>
            <p:nvPr/>
          </p:nvSpPr>
          <p:spPr bwMode="auto">
            <a:xfrm>
              <a:off x="3756294" y="3491987"/>
              <a:ext cx="1412875" cy="103822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0" name="Text Box 32"/>
            <p:cNvSpPr txBox="1">
              <a:spLocks noChangeArrowheads="1"/>
            </p:cNvSpPr>
            <p:nvPr/>
          </p:nvSpPr>
          <p:spPr bwMode="auto">
            <a:xfrm>
              <a:off x="5162819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51" name="Text Box 33"/>
            <p:cNvSpPr txBox="1">
              <a:spLocks noChangeArrowheads="1"/>
            </p:cNvSpPr>
            <p:nvPr/>
          </p:nvSpPr>
          <p:spPr bwMode="auto">
            <a:xfrm>
              <a:off x="5148531" y="3931724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52" name="Line 39"/>
            <p:cNvSpPr>
              <a:spLocks noChangeShapeType="1"/>
            </p:cNvSpPr>
            <p:nvPr/>
          </p:nvSpPr>
          <p:spPr bwMode="auto">
            <a:xfrm flipV="1">
              <a:off x="3765819" y="3658674"/>
              <a:ext cx="1414462" cy="465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53" name="Text Box 22"/>
            <p:cNvSpPr txBox="1">
              <a:spLocks noChangeArrowheads="1"/>
            </p:cNvSpPr>
            <p:nvPr/>
          </p:nvSpPr>
          <p:spPr bwMode="auto">
            <a:xfrm>
              <a:off x="4080144" y="3933312"/>
              <a:ext cx="77152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8000" tIns="118800" rIns="18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54" name="Rectangle 8"/>
            <p:cNvSpPr>
              <a:spLocks noChangeArrowheads="1"/>
            </p:cNvSpPr>
            <p:nvPr/>
          </p:nvSpPr>
          <p:spPr bwMode="auto">
            <a:xfrm>
              <a:off x="1613828" y="1928299"/>
              <a:ext cx="1412875" cy="145256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" name="Rectangle 9"/>
            <p:cNvSpPr>
              <a:spLocks noChangeArrowheads="1"/>
            </p:cNvSpPr>
            <p:nvPr/>
          </p:nvSpPr>
          <p:spPr bwMode="auto">
            <a:xfrm>
              <a:off x="1629703" y="3355551"/>
              <a:ext cx="1412875" cy="11239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6" name="Text Box 23"/>
            <p:cNvSpPr txBox="1">
              <a:spLocks noChangeArrowheads="1"/>
            </p:cNvSpPr>
            <p:nvPr/>
          </p:nvSpPr>
          <p:spPr bwMode="auto">
            <a:xfrm>
              <a:off x="2004353" y="3940500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57" name="Text Box 34"/>
            <p:cNvSpPr txBox="1">
              <a:spLocks noChangeArrowheads="1"/>
            </p:cNvSpPr>
            <p:nvPr/>
          </p:nvSpPr>
          <p:spPr bwMode="auto">
            <a:xfrm>
              <a:off x="3055278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58" name="Text Box 35"/>
            <p:cNvSpPr txBox="1">
              <a:spLocks noChangeArrowheads="1"/>
            </p:cNvSpPr>
            <p:nvPr/>
          </p:nvSpPr>
          <p:spPr bwMode="auto">
            <a:xfrm>
              <a:off x="3040991" y="3931724"/>
              <a:ext cx="534987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59" name="Text Box 53"/>
            <p:cNvSpPr txBox="1">
              <a:spLocks noChangeArrowheads="1"/>
            </p:cNvSpPr>
            <p:nvPr/>
          </p:nvSpPr>
          <p:spPr bwMode="auto">
            <a:xfrm>
              <a:off x="7798997" y="2625122"/>
              <a:ext cx="636587" cy="547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gap</a:t>
              </a:r>
            </a:p>
          </p:txBody>
        </p:sp>
        <p:sp>
          <p:nvSpPr>
            <p:cNvPr id="160" name="49 Triángulo isósceles"/>
            <p:cNvSpPr>
              <a:spLocks noChangeArrowheads="1"/>
            </p:cNvSpPr>
            <p:nvPr/>
          </p:nvSpPr>
          <p:spPr bwMode="auto">
            <a:xfrm flipH="1">
              <a:off x="5890822" y="2560124"/>
              <a:ext cx="1458912" cy="504825"/>
            </a:xfrm>
            <a:prstGeom prst="triangle">
              <a:avLst>
                <a:gd name="adj" fmla="val 0"/>
              </a:avLst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1" name="50 Triángulo isósceles"/>
            <p:cNvSpPr>
              <a:spLocks noChangeArrowheads="1"/>
            </p:cNvSpPr>
            <p:nvPr/>
          </p:nvSpPr>
          <p:spPr bwMode="auto">
            <a:xfrm flipH="1">
              <a:off x="8362112" y="2144199"/>
              <a:ext cx="1458912" cy="504825"/>
            </a:xfrm>
            <a:prstGeom prst="triangle">
              <a:avLst>
                <a:gd name="adj" fmla="val 0"/>
              </a:avLst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2" name="51 Triángulo isósceles"/>
            <p:cNvSpPr>
              <a:spLocks noChangeArrowheads="1"/>
            </p:cNvSpPr>
            <p:nvPr/>
          </p:nvSpPr>
          <p:spPr bwMode="auto">
            <a:xfrm flipH="1">
              <a:off x="3716606" y="2542662"/>
              <a:ext cx="1458913" cy="506412"/>
            </a:xfrm>
            <a:prstGeom prst="triangle">
              <a:avLst>
                <a:gd name="adj" fmla="val 0"/>
              </a:avLst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3" name="51 Triángulo isósceles"/>
            <p:cNvSpPr>
              <a:spLocks noChangeArrowheads="1"/>
            </p:cNvSpPr>
            <p:nvPr/>
          </p:nvSpPr>
          <p:spPr bwMode="auto">
            <a:xfrm flipH="1">
              <a:off x="1571715" y="2894248"/>
              <a:ext cx="1458912" cy="506413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" name="51 Triángulo isósceles"/>
            <p:cNvSpPr>
              <a:spLocks noChangeArrowheads="1"/>
            </p:cNvSpPr>
            <p:nvPr/>
          </p:nvSpPr>
          <p:spPr bwMode="auto">
            <a:xfrm flipH="1">
              <a:off x="5895584" y="2988749"/>
              <a:ext cx="1458913" cy="506413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5" name="52 Triángulo isósceles"/>
            <p:cNvSpPr>
              <a:spLocks noChangeArrowheads="1"/>
            </p:cNvSpPr>
            <p:nvPr/>
          </p:nvSpPr>
          <p:spPr bwMode="auto">
            <a:xfrm flipH="1">
              <a:off x="8365287" y="3349112"/>
              <a:ext cx="1458912" cy="506412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6" name="Line 29"/>
            <p:cNvSpPr>
              <a:spLocks noChangeShapeType="1"/>
            </p:cNvSpPr>
            <p:nvPr/>
          </p:nvSpPr>
          <p:spPr bwMode="auto">
            <a:xfrm>
              <a:off x="9143162" y="2410899"/>
              <a:ext cx="0" cy="11303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67" name="Text Box 30"/>
            <p:cNvSpPr txBox="1">
              <a:spLocks noChangeArrowheads="1"/>
            </p:cNvSpPr>
            <p:nvPr/>
          </p:nvSpPr>
          <p:spPr bwMode="auto">
            <a:xfrm>
              <a:off x="6732018" y="2667895"/>
              <a:ext cx="839787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 </a:t>
              </a: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1 eV</a:t>
              </a:r>
            </a:p>
          </p:txBody>
        </p:sp>
        <p:sp>
          <p:nvSpPr>
            <p:cNvPr id="168" name="Line 31"/>
            <p:cNvSpPr>
              <a:spLocks noChangeShapeType="1"/>
            </p:cNvSpPr>
            <p:nvPr/>
          </p:nvSpPr>
          <p:spPr bwMode="auto">
            <a:xfrm>
              <a:off x="6670284" y="2815712"/>
              <a:ext cx="0" cy="43497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69" name="Line 39"/>
            <p:cNvSpPr>
              <a:spLocks noChangeShapeType="1"/>
            </p:cNvSpPr>
            <p:nvPr/>
          </p:nvSpPr>
          <p:spPr bwMode="auto">
            <a:xfrm flipV="1">
              <a:off x="1601128" y="2710937"/>
              <a:ext cx="1414463" cy="465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70" name="Line 39"/>
            <p:cNvSpPr>
              <a:spLocks noChangeShapeType="1"/>
            </p:cNvSpPr>
            <p:nvPr/>
          </p:nvSpPr>
          <p:spPr bwMode="auto">
            <a:xfrm flipV="1">
              <a:off x="1612241" y="2939537"/>
              <a:ext cx="1414462" cy="465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71" name="51 Triángulo isósceles"/>
            <p:cNvSpPr>
              <a:spLocks noChangeArrowheads="1"/>
            </p:cNvSpPr>
            <p:nvPr/>
          </p:nvSpPr>
          <p:spPr bwMode="auto">
            <a:xfrm flipH="1">
              <a:off x="3719781" y="2988749"/>
              <a:ext cx="1458913" cy="506413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2" name="Text Box 28"/>
            <p:cNvSpPr txBox="1">
              <a:spLocks noChangeArrowheads="1"/>
            </p:cNvSpPr>
            <p:nvPr/>
          </p:nvSpPr>
          <p:spPr bwMode="auto">
            <a:xfrm>
              <a:off x="1961491" y="2069587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173" name="Text Box 28"/>
            <p:cNvSpPr txBox="1">
              <a:spLocks noChangeArrowheads="1"/>
            </p:cNvSpPr>
            <p:nvPr/>
          </p:nvSpPr>
          <p:spPr bwMode="auto">
            <a:xfrm>
              <a:off x="4081731" y="2099749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174" name="Text Box 28"/>
            <p:cNvSpPr txBox="1">
              <a:spLocks noChangeArrowheads="1"/>
            </p:cNvSpPr>
            <p:nvPr/>
          </p:nvSpPr>
          <p:spPr bwMode="auto">
            <a:xfrm>
              <a:off x="6276584" y="2129912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175" name="Text Box 28"/>
            <p:cNvSpPr txBox="1">
              <a:spLocks noChangeArrowheads="1"/>
            </p:cNvSpPr>
            <p:nvPr/>
          </p:nvSpPr>
          <p:spPr bwMode="auto">
            <a:xfrm>
              <a:off x="8709774" y="1856862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176" name="Text Box 37"/>
            <p:cNvSpPr txBox="1">
              <a:spLocks noChangeArrowheads="1"/>
            </p:cNvSpPr>
            <p:nvPr/>
          </p:nvSpPr>
          <p:spPr bwMode="auto">
            <a:xfrm rot="-1080000">
              <a:off x="1521843" y="2867261"/>
              <a:ext cx="1590675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superposición</a:t>
              </a:r>
            </a:p>
          </p:txBody>
        </p:sp>
        <p:sp>
          <p:nvSpPr>
            <p:cNvPr id="177" name="Text Box 28"/>
            <p:cNvSpPr txBox="1">
              <a:spLocks noChangeArrowheads="1"/>
            </p:cNvSpPr>
            <p:nvPr/>
          </p:nvSpPr>
          <p:spPr bwMode="auto">
            <a:xfrm>
              <a:off x="4105544" y="3311012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</p:grpSp>
      <p:sp>
        <p:nvSpPr>
          <p:cNvPr id="884777" name="Text Box 41"/>
          <p:cNvSpPr txBox="1">
            <a:spLocks noChangeArrowheads="1"/>
          </p:cNvSpPr>
          <p:nvPr/>
        </p:nvSpPr>
        <p:spPr bwMode="auto">
          <a:xfrm>
            <a:off x="1710512" y="4629907"/>
            <a:ext cx="8107605" cy="9785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En el caso de los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conductores</a:t>
            </a:r>
            <a:r>
              <a:rPr lang="es-ES" sz="2400">
                <a:latin typeface="Arial" panose="020B0604020202020204" pitchFamily="34" charset="0"/>
              </a:rPr>
              <a:t>, se mueven todos los e-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de </a:t>
            </a:r>
            <a:r>
              <a:rPr lang="es-ES" sz="2400" b="1">
                <a:latin typeface="Arial" panose="020B0604020202020204" pitchFamily="34" charset="0"/>
              </a:rPr>
              <a:t>BV</a:t>
            </a:r>
            <a:r>
              <a:rPr lang="es-ES" sz="2400">
                <a:latin typeface="Arial" panose="020B0604020202020204" pitchFamily="34" charset="0"/>
              </a:rPr>
              <a:t> porque hay niveles con vacantes: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conducen a 0 K</a:t>
            </a:r>
          </a:p>
        </p:txBody>
      </p:sp>
      <p:sp>
        <p:nvSpPr>
          <p:cNvPr id="884779" name="Text Box 43"/>
          <p:cNvSpPr txBox="1">
            <a:spLocks noChangeArrowheads="1"/>
          </p:cNvSpPr>
          <p:nvPr/>
        </p:nvSpPr>
        <p:spPr bwMode="auto">
          <a:xfrm>
            <a:off x="1710513" y="5787372"/>
            <a:ext cx="8107604" cy="9785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el caso de los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semiconductores y aislantes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no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hay niveles con vacantes: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no conducen a 0 K</a:t>
            </a:r>
            <a:endParaRPr lang="es-ES" sz="240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1764820" y="2665265"/>
            <a:ext cx="776222" cy="150808"/>
            <a:chOff x="1764820" y="2899188"/>
            <a:chExt cx="776222" cy="150808"/>
          </a:xfrm>
        </p:grpSpPr>
        <p:sp>
          <p:nvSpPr>
            <p:cNvPr id="27728" name="60 Elipse"/>
            <p:cNvSpPr>
              <a:spLocks noChangeArrowheads="1"/>
            </p:cNvSpPr>
            <p:nvPr/>
          </p:nvSpPr>
          <p:spPr bwMode="auto">
            <a:xfrm>
              <a:off x="2380789" y="2899188"/>
              <a:ext cx="160253" cy="1508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7729" name="62 Conector recto de flecha"/>
            <p:cNvCxnSpPr>
              <a:cxnSpLocks noChangeShapeType="1"/>
            </p:cNvCxnSpPr>
            <p:nvPr/>
          </p:nvCxnSpPr>
          <p:spPr bwMode="auto">
            <a:xfrm rot="10800000">
              <a:off x="1764820" y="2955742"/>
              <a:ext cx="527891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upo 4"/>
          <p:cNvGrpSpPr/>
          <p:nvPr/>
        </p:nvGrpSpPr>
        <p:grpSpPr>
          <a:xfrm>
            <a:off x="3910667" y="3565382"/>
            <a:ext cx="725851" cy="150808"/>
            <a:chOff x="3910667" y="3799305"/>
            <a:chExt cx="725851" cy="150808"/>
          </a:xfrm>
        </p:grpSpPr>
        <p:sp>
          <p:nvSpPr>
            <p:cNvPr id="27730" name="63 Elipse"/>
            <p:cNvSpPr>
              <a:spLocks noChangeArrowheads="1"/>
            </p:cNvSpPr>
            <p:nvPr/>
          </p:nvSpPr>
          <p:spPr bwMode="auto">
            <a:xfrm>
              <a:off x="4476265" y="3799305"/>
              <a:ext cx="160253" cy="1508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7731" name="64 Conector recto de flecha"/>
            <p:cNvCxnSpPr>
              <a:cxnSpLocks noChangeShapeType="1"/>
            </p:cNvCxnSpPr>
            <p:nvPr/>
          </p:nvCxnSpPr>
          <p:spPr bwMode="auto">
            <a:xfrm rot="10800000">
              <a:off x="3910667" y="3855859"/>
              <a:ext cx="527891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" name="Grupo 9"/>
          <p:cNvGrpSpPr/>
          <p:nvPr/>
        </p:nvGrpSpPr>
        <p:grpSpPr>
          <a:xfrm>
            <a:off x="8403751" y="3131990"/>
            <a:ext cx="657226" cy="542925"/>
            <a:chOff x="8403751" y="3365913"/>
            <a:chExt cx="657226" cy="542925"/>
          </a:xfrm>
        </p:grpSpPr>
        <p:sp>
          <p:nvSpPr>
            <p:cNvPr id="27723" name="66 Elipse"/>
            <p:cNvSpPr>
              <a:spLocks noChangeArrowheads="1"/>
            </p:cNvSpPr>
            <p:nvPr/>
          </p:nvSpPr>
          <p:spPr bwMode="auto">
            <a:xfrm>
              <a:off x="8900954" y="3592821"/>
              <a:ext cx="160023" cy="15091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718" name="Line 66"/>
            <p:cNvSpPr>
              <a:spLocks noChangeShapeType="1"/>
            </p:cNvSpPr>
            <p:nvPr/>
          </p:nvSpPr>
          <p:spPr bwMode="auto">
            <a:xfrm flipH="1">
              <a:off x="8403751" y="3650075"/>
              <a:ext cx="431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27719" name="Text Box 67"/>
            <p:cNvSpPr txBox="1">
              <a:spLocks noChangeArrowheads="1"/>
            </p:cNvSpPr>
            <p:nvPr/>
          </p:nvSpPr>
          <p:spPr bwMode="auto">
            <a:xfrm>
              <a:off x="8491064" y="3365913"/>
              <a:ext cx="35083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3300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5916137" y="2835127"/>
            <a:ext cx="672786" cy="542925"/>
            <a:chOff x="5916137" y="3069050"/>
            <a:chExt cx="672786" cy="542925"/>
          </a:xfrm>
        </p:grpSpPr>
        <p:sp>
          <p:nvSpPr>
            <p:cNvPr id="27722" name="65 Elipse"/>
            <p:cNvSpPr>
              <a:spLocks noChangeArrowheads="1"/>
            </p:cNvSpPr>
            <p:nvPr/>
          </p:nvSpPr>
          <p:spPr bwMode="auto">
            <a:xfrm>
              <a:off x="6428900" y="3284950"/>
              <a:ext cx="160023" cy="15091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720" name="Line 68"/>
            <p:cNvSpPr>
              <a:spLocks noChangeShapeType="1"/>
            </p:cNvSpPr>
            <p:nvPr/>
          </p:nvSpPr>
          <p:spPr bwMode="auto">
            <a:xfrm flipH="1">
              <a:off x="5916137" y="3353213"/>
              <a:ext cx="431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27721" name="Text Box 69"/>
            <p:cNvSpPr txBox="1">
              <a:spLocks noChangeArrowheads="1"/>
            </p:cNvSpPr>
            <p:nvPr/>
          </p:nvSpPr>
          <p:spPr bwMode="auto">
            <a:xfrm>
              <a:off x="6022500" y="3069050"/>
              <a:ext cx="35083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3300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9114856" y="3125640"/>
            <a:ext cx="646112" cy="542925"/>
            <a:chOff x="9114856" y="3359563"/>
            <a:chExt cx="646112" cy="542925"/>
          </a:xfrm>
        </p:grpSpPr>
        <p:sp>
          <p:nvSpPr>
            <p:cNvPr id="27716" name="66 Elipse"/>
            <p:cNvSpPr>
              <a:spLocks noChangeArrowheads="1"/>
            </p:cNvSpPr>
            <p:nvPr/>
          </p:nvSpPr>
          <p:spPr bwMode="auto">
            <a:xfrm>
              <a:off x="9600716" y="3586471"/>
              <a:ext cx="160252" cy="15091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711" name="Line 66"/>
            <p:cNvSpPr>
              <a:spLocks noChangeShapeType="1"/>
            </p:cNvSpPr>
            <p:nvPr/>
          </p:nvSpPr>
          <p:spPr bwMode="auto">
            <a:xfrm flipH="1">
              <a:off x="9114856" y="3643725"/>
              <a:ext cx="431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27712" name="Text Box 67"/>
            <p:cNvSpPr txBox="1">
              <a:spLocks noChangeArrowheads="1"/>
            </p:cNvSpPr>
            <p:nvPr/>
          </p:nvSpPr>
          <p:spPr bwMode="auto">
            <a:xfrm>
              <a:off x="9221218" y="3359563"/>
              <a:ext cx="35083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3300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6655818" y="2828777"/>
            <a:ext cx="680952" cy="542925"/>
            <a:chOff x="6655818" y="3062700"/>
            <a:chExt cx="680952" cy="542925"/>
          </a:xfrm>
        </p:grpSpPr>
        <p:sp>
          <p:nvSpPr>
            <p:cNvPr id="27715" name="65 Elipse"/>
            <p:cNvSpPr>
              <a:spLocks noChangeArrowheads="1"/>
            </p:cNvSpPr>
            <p:nvPr/>
          </p:nvSpPr>
          <p:spPr bwMode="auto">
            <a:xfrm>
              <a:off x="7176518" y="3278600"/>
              <a:ext cx="160252" cy="15091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713" name="Line 68"/>
            <p:cNvSpPr>
              <a:spLocks noChangeShapeType="1"/>
            </p:cNvSpPr>
            <p:nvPr/>
          </p:nvSpPr>
          <p:spPr bwMode="auto">
            <a:xfrm flipH="1">
              <a:off x="6655818" y="3346863"/>
              <a:ext cx="431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27714" name="Text Box 69"/>
            <p:cNvSpPr txBox="1">
              <a:spLocks noChangeArrowheads="1"/>
            </p:cNvSpPr>
            <p:nvPr/>
          </p:nvSpPr>
          <p:spPr bwMode="auto">
            <a:xfrm>
              <a:off x="6762181" y="3062700"/>
              <a:ext cx="35083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3300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2564830" y="2677965"/>
            <a:ext cx="477137" cy="150808"/>
            <a:chOff x="2564830" y="2911888"/>
            <a:chExt cx="477137" cy="150808"/>
          </a:xfrm>
        </p:grpSpPr>
        <p:sp>
          <p:nvSpPr>
            <p:cNvPr id="27706" name="60 Elipse"/>
            <p:cNvSpPr>
              <a:spLocks noChangeArrowheads="1"/>
            </p:cNvSpPr>
            <p:nvPr/>
          </p:nvSpPr>
          <p:spPr bwMode="auto">
            <a:xfrm>
              <a:off x="2881775" y="2911888"/>
              <a:ext cx="160192" cy="1508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7707" name="62 Conector recto de flecha"/>
            <p:cNvCxnSpPr>
              <a:cxnSpLocks noChangeShapeType="1"/>
            </p:cNvCxnSpPr>
            <p:nvPr/>
          </p:nvCxnSpPr>
          <p:spPr bwMode="auto">
            <a:xfrm flipH="1" flipV="1">
              <a:off x="2564830" y="2968442"/>
              <a:ext cx="287954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" name="Grupo 7"/>
          <p:cNvGrpSpPr/>
          <p:nvPr/>
        </p:nvGrpSpPr>
        <p:grpSpPr>
          <a:xfrm>
            <a:off x="4669453" y="3578082"/>
            <a:ext cx="427440" cy="150808"/>
            <a:chOff x="4669453" y="3812005"/>
            <a:chExt cx="427440" cy="150808"/>
          </a:xfrm>
        </p:grpSpPr>
        <p:sp>
          <p:nvSpPr>
            <p:cNvPr id="27708" name="63 Elipse"/>
            <p:cNvSpPr>
              <a:spLocks noChangeArrowheads="1"/>
            </p:cNvSpPr>
            <p:nvPr/>
          </p:nvSpPr>
          <p:spPr bwMode="auto">
            <a:xfrm>
              <a:off x="4936701" y="3812005"/>
              <a:ext cx="160192" cy="1508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7709" name="64 Conector recto de flecha"/>
            <p:cNvCxnSpPr>
              <a:cxnSpLocks noChangeShapeType="1"/>
            </p:cNvCxnSpPr>
            <p:nvPr/>
          </p:nvCxnSpPr>
          <p:spPr bwMode="auto">
            <a:xfrm flipH="1">
              <a:off x="4669453" y="3875188"/>
              <a:ext cx="310613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9" name="Group 65">
            <a:extLst>
              <a:ext uri="{FF2B5EF4-FFF2-40B4-BE49-F238E27FC236}">
                <a16:creationId xmlns:a16="http://schemas.microsoft.com/office/drawing/2014/main" id="{C9E66C79-D2B1-4E03-99CF-D332385B3F46}"/>
              </a:ext>
            </a:extLst>
          </p:cNvPr>
          <p:cNvGrpSpPr>
            <a:grpSpLocks/>
          </p:cNvGrpSpPr>
          <p:nvPr/>
        </p:nvGrpSpPr>
        <p:grpSpPr bwMode="auto">
          <a:xfrm>
            <a:off x="160420" y="2625260"/>
            <a:ext cx="1150938" cy="682625"/>
            <a:chOff x="199" y="2712"/>
            <a:chExt cx="725" cy="430"/>
          </a:xfrm>
        </p:grpSpPr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3AD665F-DA29-45B1-8177-D46E99B8F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2712"/>
              <a:ext cx="725" cy="4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1" name="Text Box 67">
              <a:extLst>
                <a:ext uri="{FF2B5EF4-FFF2-40B4-BE49-F238E27FC236}">
                  <a16:creationId xmlns:a16="http://schemas.microsoft.com/office/drawing/2014/main" id="{D2BDA685-654A-4506-94CC-7C56E2317B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723"/>
              <a:ext cx="263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b="1">
                  <a:solidFill>
                    <a:srgbClr val="FF33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92" name="Line 68">
              <a:extLst>
                <a:ext uri="{FF2B5EF4-FFF2-40B4-BE49-F238E27FC236}">
                  <a16:creationId xmlns:a16="http://schemas.microsoft.com/office/drawing/2014/main" id="{04F24DF0-9F33-43AD-A543-42CFC72C2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" y="2808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4" name="AutoShape 69">
              <a:extLst>
                <a:ext uri="{FF2B5EF4-FFF2-40B4-BE49-F238E27FC236}">
                  <a16:creationId xmlns:a16="http://schemas.microsoft.com/office/drawing/2014/main" id="{A7A4AE64-1975-489A-AE4F-0370E900A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" y="2838"/>
              <a:ext cx="219" cy="168"/>
            </a:xfrm>
            <a:prstGeom prst="rightArrow">
              <a:avLst>
                <a:gd name="adj1" fmla="val 50000"/>
                <a:gd name="adj2" fmla="val 32589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F055B9B3-302C-B381-746D-DA3718A9C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098" y="351627"/>
            <a:ext cx="3620881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CLASIFICACIÓN</a:t>
            </a:r>
          </a:p>
        </p:txBody>
      </p:sp>
      <p:sp>
        <p:nvSpPr>
          <p:cNvPr id="4" name="Text Box 17">
            <a:extLst>
              <a:ext uri="{FF2B5EF4-FFF2-40B4-BE49-F238E27FC236}">
                <a16:creationId xmlns:a16="http://schemas.microsoft.com/office/drawing/2014/main" id="{70A8660A-CBCF-7720-E1BB-E2362DF7A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5415" y="1078588"/>
            <a:ext cx="1947149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Aislante</a:t>
            </a:r>
            <a:endParaRPr lang="es-ES" sz="2000">
              <a:latin typeface="Arial" panose="020B0604020202020204" pitchFamily="34" charset="0"/>
            </a:endParaRP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7A4689E8-D389-8DD8-5182-67AFE98CE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6819" y="1096051"/>
            <a:ext cx="2236808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Semiconductor</a:t>
            </a:r>
          </a:p>
        </p:txBody>
      </p:sp>
      <p:sp>
        <p:nvSpPr>
          <p:cNvPr id="11" name="Text Box 42">
            <a:extLst>
              <a:ext uri="{FF2B5EF4-FFF2-40B4-BE49-F238E27FC236}">
                <a16:creationId xmlns:a16="http://schemas.microsoft.com/office/drawing/2014/main" id="{5F3DD650-C3E4-CA18-B01B-97CC86A24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782" y="349672"/>
            <a:ext cx="1174850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T = 0 K</a:t>
            </a:r>
          </a:p>
        </p:txBody>
      </p:sp>
      <p:sp>
        <p:nvSpPr>
          <p:cNvPr id="14" name="Text Box 36">
            <a:extLst>
              <a:ext uri="{FF2B5EF4-FFF2-40B4-BE49-F238E27FC236}">
                <a16:creationId xmlns:a16="http://schemas.microsoft.com/office/drawing/2014/main" id="{5C4788AB-D6DF-AE96-34B5-0258E9CD2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202" y="1088113"/>
            <a:ext cx="1920090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2</a:t>
            </a: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529484FB-5D25-01BB-E2CA-15D963929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676" y="1081763"/>
            <a:ext cx="1942977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8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8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4777" grpId="0" animBg="1"/>
      <p:bldP spid="88477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Box 37"/>
          <p:cNvSpPr txBox="1">
            <a:spLocks noChangeArrowheads="1"/>
          </p:cNvSpPr>
          <p:nvPr/>
        </p:nvSpPr>
        <p:spPr bwMode="auto">
          <a:xfrm>
            <a:off x="1448955" y="4646315"/>
            <a:ext cx="8730323" cy="208658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 ganancia de energía en la interacción de los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 de enlace con el sólido, que supone una pérdida de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agitación térmica</a:t>
            </a:r>
            <a:r>
              <a:rPr lang="es-ES" sz="2400">
                <a:latin typeface="Arial" panose="020B0604020202020204" pitchFamily="34" charset="0"/>
              </a:rPr>
              <a:t>, puede permitir la rotura de su enlace y su paso a </a:t>
            </a:r>
            <a:r>
              <a:rPr lang="es-ES" sz="2400" b="1">
                <a:latin typeface="Arial" panose="020B0604020202020204" pitchFamily="34" charset="0"/>
              </a:rPr>
              <a:t>BC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en conductores tipo 1, semiconductores y aislantes, y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 niveles vacíos de </a:t>
            </a:r>
            <a:r>
              <a:rPr lang="es-ES" sz="2400" b="1">
                <a:latin typeface="Arial" panose="020B0604020202020204" pitchFamily="34" charset="0"/>
              </a:rPr>
              <a:t>BV</a:t>
            </a:r>
            <a:r>
              <a:rPr lang="es-ES" sz="2400">
                <a:latin typeface="Arial" panose="020B0604020202020204" pitchFamily="34" charset="0"/>
              </a:rPr>
              <a:t>, en el caso de conductores tipo 2</a:t>
            </a: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3298E78E-8A91-4A01-BA95-223062F64A34}"/>
              </a:ext>
            </a:extLst>
          </p:cNvPr>
          <p:cNvGrpSpPr/>
          <p:nvPr/>
        </p:nvGrpSpPr>
        <p:grpSpPr>
          <a:xfrm>
            <a:off x="5902857" y="1683734"/>
            <a:ext cx="2449513" cy="2630487"/>
            <a:chOff x="5902857" y="1921859"/>
            <a:chExt cx="2449513" cy="2630487"/>
          </a:xfrm>
        </p:grpSpPr>
        <p:sp>
          <p:nvSpPr>
            <p:cNvPr id="55" name="Text Box 53">
              <a:extLst>
                <a:ext uri="{FF2B5EF4-FFF2-40B4-BE49-F238E27FC236}">
                  <a16:creationId xmlns:a16="http://schemas.microsoft.com/office/drawing/2014/main" id="{8A5159C8-E760-4B51-B481-FCBD734ED1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5782" y="2953913"/>
              <a:ext cx="636588" cy="547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gap</a:t>
              </a:r>
            </a:p>
          </p:txBody>
        </p:sp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FC2883E5-2C7B-4F15-8526-A49EDCBF3744}"/>
                </a:ext>
              </a:extLst>
            </p:cNvPr>
            <p:cNvGrpSpPr/>
            <p:nvPr/>
          </p:nvGrpSpPr>
          <p:grpSpPr>
            <a:xfrm>
              <a:off x="5902857" y="1921859"/>
              <a:ext cx="2033588" cy="2630487"/>
              <a:chOff x="5902857" y="1921859"/>
              <a:chExt cx="2033588" cy="2630487"/>
            </a:xfrm>
          </p:grpSpPr>
          <p:sp>
            <p:nvSpPr>
              <p:cNvPr id="57" name="Text Box 30">
                <a:extLst>
                  <a:ext uri="{FF2B5EF4-FFF2-40B4-BE49-F238E27FC236}">
                    <a16:creationId xmlns:a16="http://schemas.microsoft.com/office/drawing/2014/main" id="{D378A394-5B1A-46F5-BD00-FCEC9DBF37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88670" y="3017234"/>
                <a:ext cx="839788" cy="5127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 </a:t>
                </a: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1 eV</a:t>
                </a:r>
              </a:p>
            </p:txBody>
          </p:sp>
          <p:sp>
            <p:nvSpPr>
              <p:cNvPr id="58" name="Line 31">
                <a:extLst>
                  <a:ext uri="{FF2B5EF4-FFF2-40B4-BE49-F238E27FC236}">
                    <a16:creationId xmlns:a16="http://schemas.microsoft.com/office/drawing/2014/main" id="{9C189987-8297-42EE-81DD-1D45AE764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39457" y="3055334"/>
                <a:ext cx="0" cy="43497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59" name="Rectangle 13">
                <a:extLst>
                  <a:ext uri="{FF2B5EF4-FFF2-40B4-BE49-F238E27FC236}">
                    <a16:creationId xmlns:a16="http://schemas.microsoft.com/office/drawing/2014/main" id="{D26F511D-AD14-4F11-AAD7-ADF1FAFCC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2857" y="1921859"/>
                <a:ext cx="1412875" cy="1135062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0" name="Rectangle 14">
                <a:extLst>
                  <a:ext uri="{FF2B5EF4-FFF2-40B4-BE49-F238E27FC236}">
                    <a16:creationId xmlns:a16="http://schemas.microsoft.com/office/drawing/2014/main" id="{4FB70A30-9214-44EB-97FD-5C556C6DE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2857" y="3501421"/>
                <a:ext cx="1412875" cy="1050925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1" name="Text Box 21">
                <a:extLst>
                  <a:ext uri="{FF2B5EF4-FFF2-40B4-BE49-F238E27FC236}">
                    <a16:creationId xmlns:a16="http://schemas.microsoft.com/office/drawing/2014/main" id="{541537C0-F480-4625-BA92-BFD937C146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4020" y="3747484"/>
                <a:ext cx="663575" cy="5127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llena</a:t>
                </a:r>
              </a:p>
            </p:txBody>
          </p:sp>
          <p:sp>
            <p:nvSpPr>
              <p:cNvPr id="62" name="Text Box 26">
                <a:extLst>
                  <a:ext uri="{FF2B5EF4-FFF2-40B4-BE49-F238E27FC236}">
                    <a16:creationId xmlns:a16="http://schemas.microsoft.com/office/drawing/2014/main" id="{C374E966-52F3-442E-9E2E-21FD7527F6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87170" y="2004409"/>
                <a:ext cx="549275" cy="542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BC</a:t>
                </a:r>
              </a:p>
            </p:txBody>
          </p:sp>
          <p:sp>
            <p:nvSpPr>
              <p:cNvPr id="63" name="Text Box 27">
                <a:extLst>
                  <a:ext uri="{FF2B5EF4-FFF2-40B4-BE49-F238E27FC236}">
                    <a16:creationId xmlns:a16="http://schemas.microsoft.com/office/drawing/2014/main" id="{883224D5-1D91-424A-809B-819AAD0DC4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72882" y="3936396"/>
                <a:ext cx="534988" cy="542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BV</a:t>
                </a:r>
              </a:p>
            </p:txBody>
          </p:sp>
          <p:sp>
            <p:nvSpPr>
              <p:cNvPr id="64" name="Text Box 28">
                <a:extLst>
                  <a:ext uri="{FF2B5EF4-FFF2-40B4-BE49-F238E27FC236}">
                    <a16:creationId xmlns:a16="http://schemas.microsoft.com/office/drawing/2014/main" id="{1B1AEB89-E481-4C5E-8C5C-0F404D3032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2961" y="2219224"/>
                <a:ext cx="727075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vacía</a:t>
                </a:r>
                <a:endParaRPr lang="es-E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65" name="65 Grupo">
            <a:extLst>
              <a:ext uri="{FF2B5EF4-FFF2-40B4-BE49-F238E27FC236}">
                <a16:creationId xmlns:a16="http://schemas.microsoft.com/office/drawing/2014/main" id="{5D906367-7DCF-49ED-9FEE-90B3B89201F2}"/>
              </a:ext>
            </a:extLst>
          </p:cNvPr>
          <p:cNvGrpSpPr>
            <a:grpSpLocks/>
          </p:cNvGrpSpPr>
          <p:nvPr/>
        </p:nvGrpSpPr>
        <p:grpSpPr bwMode="auto">
          <a:xfrm>
            <a:off x="8389938" y="1696434"/>
            <a:ext cx="1981200" cy="2632075"/>
            <a:chOff x="8389938" y="2240002"/>
            <a:chExt cx="1981200" cy="2632075"/>
          </a:xfrm>
        </p:grpSpPr>
        <p:grpSp>
          <p:nvGrpSpPr>
            <p:cNvPr id="66" name="Group 51">
              <a:extLst>
                <a:ext uri="{FF2B5EF4-FFF2-40B4-BE49-F238E27FC236}">
                  <a16:creationId xmlns:a16="http://schemas.microsoft.com/office/drawing/2014/main" id="{6AF1465E-C939-4691-8A99-02A9E31F0B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9938" y="2240002"/>
              <a:ext cx="1981200" cy="2632075"/>
              <a:chOff x="5285" y="1371"/>
              <a:chExt cx="1248" cy="1658"/>
            </a:xfrm>
          </p:grpSpPr>
          <p:sp>
            <p:nvSpPr>
              <p:cNvPr id="68" name="Rectangle 15">
                <a:extLst>
                  <a:ext uri="{FF2B5EF4-FFF2-40B4-BE49-F238E27FC236}">
                    <a16:creationId xmlns:a16="http://schemas.microsoft.com/office/drawing/2014/main" id="{BD3C81D4-A5E4-45FD-8425-5156AD720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" y="1371"/>
                <a:ext cx="890" cy="444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9" name="Rectangle 16">
                <a:extLst>
                  <a:ext uri="{FF2B5EF4-FFF2-40B4-BE49-F238E27FC236}">
                    <a16:creationId xmlns:a16="http://schemas.microsoft.com/office/drawing/2014/main" id="{8608A316-DBD0-49B2-B7FE-2E95402AA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" y="2585"/>
                <a:ext cx="890" cy="444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0" name="Text Box 20">
                <a:extLst>
                  <a:ext uri="{FF2B5EF4-FFF2-40B4-BE49-F238E27FC236}">
                    <a16:creationId xmlns:a16="http://schemas.microsoft.com/office/drawing/2014/main" id="{F9A8C685-0CDC-46C7-94DC-749390A3DC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50" y="2644"/>
                <a:ext cx="418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llena</a:t>
                </a:r>
              </a:p>
            </p:txBody>
          </p:sp>
          <p:sp>
            <p:nvSpPr>
              <p:cNvPr id="71" name="Text Box 24">
                <a:extLst>
                  <a:ext uri="{FF2B5EF4-FFF2-40B4-BE49-F238E27FC236}">
                    <a16:creationId xmlns:a16="http://schemas.microsoft.com/office/drawing/2014/main" id="{FEC771B7-9858-4A1E-85AB-938CE18BAF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87" y="1415"/>
                <a:ext cx="346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BC</a:t>
                </a:r>
              </a:p>
            </p:txBody>
          </p:sp>
          <p:sp>
            <p:nvSpPr>
              <p:cNvPr id="72" name="Text Box 25">
                <a:extLst>
                  <a:ext uri="{FF2B5EF4-FFF2-40B4-BE49-F238E27FC236}">
                    <a16:creationId xmlns:a16="http://schemas.microsoft.com/office/drawing/2014/main" id="{519A616E-EFEE-4BED-A498-8DC614E93A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8" y="2632"/>
                <a:ext cx="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BV</a:t>
                </a:r>
              </a:p>
            </p:txBody>
          </p:sp>
          <p:sp>
            <p:nvSpPr>
              <p:cNvPr id="73" name="Text Box 28">
                <a:extLst>
                  <a:ext uri="{FF2B5EF4-FFF2-40B4-BE49-F238E27FC236}">
                    <a16:creationId xmlns:a16="http://schemas.microsoft.com/office/drawing/2014/main" id="{B5625C88-9F3D-4626-8FDA-32DC78DC5D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84" y="2052"/>
                <a:ext cx="738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Varios eV</a:t>
                </a:r>
              </a:p>
            </p:txBody>
          </p:sp>
          <p:sp>
            <p:nvSpPr>
              <p:cNvPr id="74" name="Line 29">
                <a:extLst>
                  <a:ext uri="{FF2B5EF4-FFF2-40B4-BE49-F238E27FC236}">
                    <a16:creationId xmlns:a16="http://schemas.microsoft.com/office/drawing/2014/main" id="{E21E8065-10E9-4DB0-ACBF-DF4D68F647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3" y="1858"/>
                <a:ext cx="0" cy="71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</p:grpSp>
        <p:sp>
          <p:nvSpPr>
            <p:cNvPr id="67" name="Text Box 28">
              <a:extLst>
                <a:ext uri="{FF2B5EF4-FFF2-40B4-BE49-F238E27FC236}">
                  <a16:creationId xmlns:a16="http://schemas.microsoft.com/office/drawing/2014/main" id="{031801B9-3B15-42C6-BF80-D160CF02F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0516" y="2322236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</p:grpSp>
      <p:grpSp>
        <p:nvGrpSpPr>
          <p:cNvPr id="75" name="Group 41">
            <a:extLst>
              <a:ext uri="{FF2B5EF4-FFF2-40B4-BE49-F238E27FC236}">
                <a16:creationId xmlns:a16="http://schemas.microsoft.com/office/drawing/2014/main" id="{496B5441-4C57-4A98-A95E-A09BA94E9B2B}"/>
              </a:ext>
            </a:extLst>
          </p:cNvPr>
          <p:cNvGrpSpPr>
            <a:grpSpLocks/>
          </p:cNvGrpSpPr>
          <p:nvPr/>
        </p:nvGrpSpPr>
        <p:grpSpPr bwMode="auto">
          <a:xfrm>
            <a:off x="3746016" y="1693259"/>
            <a:ext cx="1955800" cy="2603500"/>
            <a:chOff x="2405" y="1359"/>
            <a:chExt cx="1232" cy="1640"/>
          </a:xfrm>
        </p:grpSpPr>
        <p:sp>
          <p:nvSpPr>
            <p:cNvPr id="76" name="Rectangle 10">
              <a:extLst>
                <a:ext uri="{FF2B5EF4-FFF2-40B4-BE49-F238E27FC236}">
                  <a16:creationId xmlns:a16="http://schemas.microsoft.com/office/drawing/2014/main" id="{2E67117C-196B-4A23-B528-0CA88E790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9" y="1359"/>
              <a:ext cx="890" cy="70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7" name="Rectangle 12">
              <a:extLst>
                <a:ext uri="{FF2B5EF4-FFF2-40B4-BE49-F238E27FC236}">
                  <a16:creationId xmlns:a16="http://schemas.microsoft.com/office/drawing/2014/main" id="{6331112A-79F5-4696-8446-B81A5B0BB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5" y="2345"/>
              <a:ext cx="890" cy="6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" name="Text Box 32">
              <a:extLst>
                <a:ext uri="{FF2B5EF4-FFF2-40B4-BE49-F238E27FC236}">
                  <a16:creationId xmlns:a16="http://schemas.microsoft.com/office/drawing/2014/main" id="{B31BCBDD-2755-4901-AD1A-9DDADC8D6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" y="1405"/>
              <a:ext cx="346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79" name="Text Box 33">
              <a:extLst>
                <a:ext uri="{FF2B5EF4-FFF2-40B4-BE49-F238E27FC236}">
                  <a16:creationId xmlns:a16="http://schemas.microsoft.com/office/drawing/2014/main" id="{8F317F2D-9624-495D-B49B-AA71840892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" y="2622"/>
              <a:ext cx="337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80" name="Line 39">
              <a:extLst>
                <a:ext uri="{FF2B5EF4-FFF2-40B4-BE49-F238E27FC236}">
                  <a16:creationId xmlns:a16="http://schemas.microsoft.com/office/drawing/2014/main" id="{E5608DD7-7E56-4FB4-9299-CC5B6D0FE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1" y="2678"/>
              <a:ext cx="8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81" name="Text Box 22">
              <a:extLst>
                <a:ext uri="{FF2B5EF4-FFF2-40B4-BE49-F238E27FC236}">
                  <a16:creationId xmlns:a16="http://schemas.microsoft.com/office/drawing/2014/main" id="{2C5DF2F3-7911-4BDE-97F3-121BD86C52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8" y="2507"/>
              <a:ext cx="486" cy="32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8000" tIns="118800" rIns="18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½ llena</a:t>
              </a:r>
            </a:p>
          </p:txBody>
        </p:sp>
        <p:sp>
          <p:nvSpPr>
            <p:cNvPr id="82" name="Text Box 28">
              <a:extLst>
                <a:ext uri="{FF2B5EF4-FFF2-40B4-BE49-F238E27FC236}">
                  <a16:creationId xmlns:a16="http://schemas.microsoft.com/office/drawing/2014/main" id="{8DF0C92D-9F28-4253-A01B-EFB08F1E3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1536"/>
              <a:ext cx="45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001198A1-92FC-4843-9E80-0147165EDCCA}"/>
              </a:ext>
            </a:extLst>
          </p:cNvPr>
          <p:cNvGrpSpPr/>
          <p:nvPr/>
        </p:nvGrpSpPr>
        <p:grpSpPr>
          <a:xfrm>
            <a:off x="1513067" y="1694846"/>
            <a:ext cx="2062162" cy="2600326"/>
            <a:chOff x="1513067" y="1932971"/>
            <a:chExt cx="2062162" cy="2600326"/>
          </a:xfrm>
        </p:grpSpPr>
        <p:sp>
          <p:nvSpPr>
            <p:cNvPr id="96" name="Rectangle 9">
              <a:extLst>
                <a:ext uri="{FF2B5EF4-FFF2-40B4-BE49-F238E27FC236}">
                  <a16:creationId xmlns:a16="http://schemas.microsoft.com/office/drawing/2014/main" id="{6E25CC3D-E1CD-4231-8149-BACE96E0B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429" y="3172809"/>
              <a:ext cx="1412875" cy="136048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7" name="Rectangle 8">
              <a:extLst>
                <a:ext uri="{FF2B5EF4-FFF2-40B4-BE49-F238E27FC236}">
                  <a16:creationId xmlns:a16="http://schemas.microsoft.com/office/drawing/2014/main" id="{11E773C0-1AEA-477D-B214-B4C1E517B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554" y="1932971"/>
              <a:ext cx="1412875" cy="124142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" name="Text Box 23">
              <a:extLst>
                <a:ext uri="{FF2B5EF4-FFF2-40B4-BE49-F238E27FC236}">
                  <a16:creationId xmlns:a16="http://schemas.microsoft.com/office/drawing/2014/main" id="{FF30241D-789F-4572-95EE-115D4A653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4079" y="3718909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99" name="Text Box 34">
              <a:extLst>
                <a:ext uri="{FF2B5EF4-FFF2-40B4-BE49-F238E27FC236}">
                  <a16:creationId xmlns:a16="http://schemas.microsoft.com/office/drawing/2014/main" id="{546578B0-F54B-441B-89FF-10AC256DF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954" y="2004409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00" name="Text Box 35">
              <a:extLst>
                <a:ext uri="{FF2B5EF4-FFF2-40B4-BE49-F238E27FC236}">
                  <a16:creationId xmlns:a16="http://schemas.microsoft.com/office/drawing/2014/main" id="{9273763C-2997-4B61-AFF9-7F5CFFCCA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1667" y="3936396"/>
              <a:ext cx="534987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36" name="Line 45">
              <a:extLst>
                <a:ext uri="{FF2B5EF4-FFF2-40B4-BE49-F238E27FC236}">
                  <a16:creationId xmlns:a16="http://schemas.microsoft.com/office/drawing/2014/main" id="{090D4F5E-8133-470E-A5C3-381D9A0FE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717" y="3129946"/>
              <a:ext cx="1376362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37" name="Line 46">
              <a:extLst>
                <a:ext uri="{FF2B5EF4-FFF2-40B4-BE49-F238E27FC236}">
                  <a16:creationId xmlns:a16="http://schemas.microsoft.com/office/drawing/2014/main" id="{0C06EF20-0D85-482C-B897-1BEEF197A2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367" y="3390296"/>
              <a:ext cx="1376362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38" name="Text Box 28">
              <a:extLst>
                <a:ext uri="{FF2B5EF4-FFF2-40B4-BE49-F238E27FC236}">
                  <a16:creationId xmlns:a16="http://schemas.microsoft.com/office/drawing/2014/main" id="{090EE308-6C05-4E90-AB8D-A58DC80EB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1217" y="2234596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DD59DBBD-4EAE-45DA-BAAE-386AB0492427}"/>
                </a:ext>
              </a:extLst>
            </p:cNvPr>
            <p:cNvSpPr/>
            <p:nvPr/>
          </p:nvSpPr>
          <p:spPr bwMode="auto">
            <a:xfrm>
              <a:off x="1605918" y="3129946"/>
              <a:ext cx="1440000" cy="260350"/>
            </a:xfrm>
            <a:prstGeom prst="rect">
              <a:avLst/>
            </a:prstGeom>
            <a:solidFill>
              <a:srgbClr val="FFFF99">
                <a:alpha val="50000"/>
              </a:srgb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Text Box 37">
              <a:extLst>
                <a:ext uri="{FF2B5EF4-FFF2-40B4-BE49-F238E27FC236}">
                  <a16:creationId xmlns:a16="http://schemas.microsoft.com/office/drawing/2014/main" id="{E92D9E4D-5401-4374-9634-ABCBD6D37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3067" y="3080734"/>
              <a:ext cx="1590675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superposición</a:t>
              </a:r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CBA70E3F-1006-C525-79E4-1F5096CC4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098" y="351627"/>
            <a:ext cx="3620881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CLASIFICACIÓN</a:t>
            </a:r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D45AE32B-1E89-115D-CAC9-10D6212A0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5415" y="1078588"/>
            <a:ext cx="1947149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Aislante</a:t>
            </a:r>
            <a:endParaRPr lang="es-ES" sz="2000">
              <a:latin typeface="Arial" panose="020B0604020202020204" pitchFamily="34" charset="0"/>
            </a:endParaRP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6928960C-573F-1358-0E24-0681EF1FE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6819" y="1096051"/>
            <a:ext cx="2236808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Semiconductor</a:t>
            </a:r>
          </a:p>
        </p:txBody>
      </p:sp>
      <p:sp>
        <p:nvSpPr>
          <p:cNvPr id="5" name="Text Box 42">
            <a:extLst>
              <a:ext uri="{FF2B5EF4-FFF2-40B4-BE49-F238E27FC236}">
                <a16:creationId xmlns:a16="http://schemas.microsoft.com/office/drawing/2014/main" id="{08F79B0A-F9B4-0F63-93BA-990A203C9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782" y="349672"/>
            <a:ext cx="1174850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T &gt; 0 K</a:t>
            </a:r>
          </a:p>
        </p:txBody>
      </p:sp>
      <p:sp>
        <p:nvSpPr>
          <p:cNvPr id="6" name="Text Box 36">
            <a:extLst>
              <a:ext uri="{FF2B5EF4-FFF2-40B4-BE49-F238E27FC236}">
                <a16:creationId xmlns:a16="http://schemas.microsoft.com/office/drawing/2014/main" id="{BC71A8BC-F6F7-0781-1C5A-737E43AFB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202" y="1088113"/>
            <a:ext cx="1920090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2</a:t>
            </a:r>
          </a:p>
        </p:txBody>
      </p:sp>
      <p:sp>
        <p:nvSpPr>
          <p:cNvPr id="7" name="Text Box 19">
            <a:extLst>
              <a:ext uri="{FF2B5EF4-FFF2-40B4-BE49-F238E27FC236}">
                <a16:creationId xmlns:a16="http://schemas.microsoft.com/office/drawing/2014/main" id="{E1F4333A-FE58-BB3E-0F8B-D0088AAC1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676" y="1081763"/>
            <a:ext cx="1942977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1</a:t>
            </a:r>
          </a:p>
        </p:txBody>
      </p:sp>
    </p:spTree>
    <p:extLst>
      <p:ext uri="{BB962C8B-B14F-4D97-AF65-F5344CB8AC3E}">
        <p14:creationId xmlns:p14="http://schemas.microsoft.com/office/powerpoint/2010/main" val="12674157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 70">
            <a:extLst>
              <a:ext uri="{FF2B5EF4-FFF2-40B4-BE49-F238E27FC236}">
                <a16:creationId xmlns:a16="http://schemas.microsoft.com/office/drawing/2014/main" id="{D4C31FC8-27AF-4F94-A12C-382B77371D63}"/>
              </a:ext>
            </a:extLst>
          </p:cNvPr>
          <p:cNvGrpSpPr/>
          <p:nvPr/>
        </p:nvGrpSpPr>
        <p:grpSpPr>
          <a:xfrm>
            <a:off x="5902857" y="1683734"/>
            <a:ext cx="2449513" cy="2630487"/>
            <a:chOff x="5902857" y="1921859"/>
            <a:chExt cx="2449513" cy="2630487"/>
          </a:xfrm>
        </p:grpSpPr>
        <p:sp>
          <p:nvSpPr>
            <p:cNvPr id="72" name="Text Box 53">
              <a:extLst>
                <a:ext uri="{FF2B5EF4-FFF2-40B4-BE49-F238E27FC236}">
                  <a16:creationId xmlns:a16="http://schemas.microsoft.com/office/drawing/2014/main" id="{F820BB9A-AD6B-4657-96A3-AE4F4A353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5782" y="2953913"/>
              <a:ext cx="636588" cy="547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gap</a:t>
              </a:r>
            </a:p>
          </p:txBody>
        </p:sp>
        <p:grpSp>
          <p:nvGrpSpPr>
            <p:cNvPr id="73" name="Grupo 72">
              <a:extLst>
                <a:ext uri="{FF2B5EF4-FFF2-40B4-BE49-F238E27FC236}">
                  <a16:creationId xmlns:a16="http://schemas.microsoft.com/office/drawing/2014/main" id="{4E434115-7846-4C5D-8729-8D1EDC414B2F}"/>
                </a:ext>
              </a:extLst>
            </p:cNvPr>
            <p:cNvGrpSpPr/>
            <p:nvPr/>
          </p:nvGrpSpPr>
          <p:grpSpPr>
            <a:xfrm>
              <a:off x="5902857" y="1921859"/>
              <a:ext cx="2033588" cy="2630487"/>
              <a:chOff x="5902857" y="1921859"/>
              <a:chExt cx="2033588" cy="2630487"/>
            </a:xfrm>
          </p:grpSpPr>
          <p:sp>
            <p:nvSpPr>
              <p:cNvPr id="74" name="Text Box 30">
                <a:extLst>
                  <a:ext uri="{FF2B5EF4-FFF2-40B4-BE49-F238E27FC236}">
                    <a16:creationId xmlns:a16="http://schemas.microsoft.com/office/drawing/2014/main" id="{26A51474-CB70-4996-A51C-E609623DF7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88670" y="3017234"/>
                <a:ext cx="839788" cy="5127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 </a:t>
                </a: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1 eV</a:t>
                </a:r>
              </a:p>
            </p:txBody>
          </p:sp>
          <p:sp>
            <p:nvSpPr>
              <p:cNvPr id="75" name="Line 31">
                <a:extLst>
                  <a:ext uri="{FF2B5EF4-FFF2-40B4-BE49-F238E27FC236}">
                    <a16:creationId xmlns:a16="http://schemas.microsoft.com/office/drawing/2014/main" id="{3DD7C0E5-430D-4227-A81A-8A76C85B36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39457" y="3055334"/>
                <a:ext cx="0" cy="43497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76" name="Rectangle 13">
                <a:extLst>
                  <a:ext uri="{FF2B5EF4-FFF2-40B4-BE49-F238E27FC236}">
                    <a16:creationId xmlns:a16="http://schemas.microsoft.com/office/drawing/2014/main" id="{E7C401BE-5CDF-4FDD-962D-568CDBB90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2857" y="1921859"/>
                <a:ext cx="1412875" cy="1135062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7" name="Rectangle 14">
                <a:extLst>
                  <a:ext uri="{FF2B5EF4-FFF2-40B4-BE49-F238E27FC236}">
                    <a16:creationId xmlns:a16="http://schemas.microsoft.com/office/drawing/2014/main" id="{3E77D3B7-5BFE-4B4A-8787-4FB4C97D2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2857" y="3501421"/>
                <a:ext cx="1412875" cy="1050925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8" name="Text Box 21">
                <a:extLst>
                  <a:ext uri="{FF2B5EF4-FFF2-40B4-BE49-F238E27FC236}">
                    <a16:creationId xmlns:a16="http://schemas.microsoft.com/office/drawing/2014/main" id="{4B85F37A-894C-45BF-8469-2E59822C74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4020" y="3747484"/>
                <a:ext cx="663575" cy="5127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llena</a:t>
                </a:r>
              </a:p>
            </p:txBody>
          </p:sp>
          <p:sp>
            <p:nvSpPr>
              <p:cNvPr id="79" name="Text Box 26">
                <a:extLst>
                  <a:ext uri="{FF2B5EF4-FFF2-40B4-BE49-F238E27FC236}">
                    <a16:creationId xmlns:a16="http://schemas.microsoft.com/office/drawing/2014/main" id="{A3AAF745-FBF8-4BB4-9284-89A03250FB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87170" y="2004409"/>
                <a:ext cx="549275" cy="542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BC</a:t>
                </a:r>
              </a:p>
            </p:txBody>
          </p:sp>
          <p:sp>
            <p:nvSpPr>
              <p:cNvPr id="80" name="Text Box 27">
                <a:extLst>
                  <a:ext uri="{FF2B5EF4-FFF2-40B4-BE49-F238E27FC236}">
                    <a16:creationId xmlns:a16="http://schemas.microsoft.com/office/drawing/2014/main" id="{9DA1A705-D1CD-477F-B095-B19DD2C66D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72882" y="3936396"/>
                <a:ext cx="534988" cy="542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BV</a:t>
                </a:r>
              </a:p>
            </p:txBody>
          </p:sp>
          <p:sp>
            <p:nvSpPr>
              <p:cNvPr id="81" name="Text Box 28">
                <a:extLst>
                  <a:ext uri="{FF2B5EF4-FFF2-40B4-BE49-F238E27FC236}">
                    <a16:creationId xmlns:a16="http://schemas.microsoft.com/office/drawing/2014/main" id="{9B0D99A0-E004-4D83-BA44-2618C85452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2961" y="2219224"/>
                <a:ext cx="727075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vacía</a:t>
                </a:r>
                <a:endParaRPr lang="es-E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82" name="65 Grupo">
            <a:extLst>
              <a:ext uri="{FF2B5EF4-FFF2-40B4-BE49-F238E27FC236}">
                <a16:creationId xmlns:a16="http://schemas.microsoft.com/office/drawing/2014/main" id="{D615BEE8-C939-42AA-A0A6-DE427C83E6B2}"/>
              </a:ext>
            </a:extLst>
          </p:cNvPr>
          <p:cNvGrpSpPr>
            <a:grpSpLocks/>
          </p:cNvGrpSpPr>
          <p:nvPr/>
        </p:nvGrpSpPr>
        <p:grpSpPr bwMode="auto">
          <a:xfrm>
            <a:off x="8389938" y="1696434"/>
            <a:ext cx="1981200" cy="2632075"/>
            <a:chOff x="8389938" y="2240002"/>
            <a:chExt cx="1981200" cy="2632075"/>
          </a:xfrm>
        </p:grpSpPr>
        <p:grpSp>
          <p:nvGrpSpPr>
            <p:cNvPr id="83" name="Group 51">
              <a:extLst>
                <a:ext uri="{FF2B5EF4-FFF2-40B4-BE49-F238E27FC236}">
                  <a16:creationId xmlns:a16="http://schemas.microsoft.com/office/drawing/2014/main" id="{8317148C-AAF0-4038-97BC-7ADD4250A7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9938" y="2240002"/>
              <a:ext cx="1981200" cy="2632075"/>
              <a:chOff x="5285" y="1371"/>
              <a:chExt cx="1248" cy="1658"/>
            </a:xfrm>
          </p:grpSpPr>
          <p:sp>
            <p:nvSpPr>
              <p:cNvPr id="85" name="Rectangle 15">
                <a:extLst>
                  <a:ext uri="{FF2B5EF4-FFF2-40B4-BE49-F238E27FC236}">
                    <a16:creationId xmlns:a16="http://schemas.microsoft.com/office/drawing/2014/main" id="{0EEC082B-F51F-4B84-9F0D-AA4BE6B9F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" y="1371"/>
                <a:ext cx="890" cy="444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6" name="Rectangle 16">
                <a:extLst>
                  <a:ext uri="{FF2B5EF4-FFF2-40B4-BE49-F238E27FC236}">
                    <a16:creationId xmlns:a16="http://schemas.microsoft.com/office/drawing/2014/main" id="{348914DB-3C98-4755-88E4-E1B86F372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" y="2585"/>
                <a:ext cx="890" cy="444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7" name="Text Box 20">
                <a:extLst>
                  <a:ext uri="{FF2B5EF4-FFF2-40B4-BE49-F238E27FC236}">
                    <a16:creationId xmlns:a16="http://schemas.microsoft.com/office/drawing/2014/main" id="{C685772C-1AC9-4ACE-8D94-4ABD4FBC16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50" y="2644"/>
                <a:ext cx="418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llena</a:t>
                </a:r>
              </a:p>
            </p:txBody>
          </p:sp>
          <p:sp>
            <p:nvSpPr>
              <p:cNvPr id="88" name="Text Box 24">
                <a:extLst>
                  <a:ext uri="{FF2B5EF4-FFF2-40B4-BE49-F238E27FC236}">
                    <a16:creationId xmlns:a16="http://schemas.microsoft.com/office/drawing/2014/main" id="{2C2A0960-3EE7-4257-8416-201BAFAA52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87" y="1415"/>
                <a:ext cx="346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BC</a:t>
                </a:r>
              </a:p>
            </p:txBody>
          </p:sp>
          <p:sp>
            <p:nvSpPr>
              <p:cNvPr id="89" name="Text Box 25">
                <a:extLst>
                  <a:ext uri="{FF2B5EF4-FFF2-40B4-BE49-F238E27FC236}">
                    <a16:creationId xmlns:a16="http://schemas.microsoft.com/office/drawing/2014/main" id="{4B90B8F4-737A-404D-BB25-08A7AFA8FA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8" y="2632"/>
                <a:ext cx="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BV</a:t>
                </a:r>
              </a:p>
            </p:txBody>
          </p:sp>
          <p:sp>
            <p:nvSpPr>
              <p:cNvPr id="90" name="Text Box 28">
                <a:extLst>
                  <a:ext uri="{FF2B5EF4-FFF2-40B4-BE49-F238E27FC236}">
                    <a16:creationId xmlns:a16="http://schemas.microsoft.com/office/drawing/2014/main" id="{AD108C2C-F579-4EE2-885E-ED5C753A44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84" y="2052"/>
                <a:ext cx="738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Varios eV</a:t>
                </a:r>
              </a:p>
            </p:txBody>
          </p:sp>
          <p:sp>
            <p:nvSpPr>
              <p:cNvPr id="91" name="Line 29">
                <a:extLst>
                  <a:ext uri="{FF2B5EF4-FFF2-40B4-BE49-F238E27FC236}">
                    <a16:creationId xmlns:a16="http://schemas.microsoft.com/office/drawing/2014/main" id="{ABC80DA6-B0C4-4353-9014-D5AAD397AA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3" y="1858"/>
                <a:ext cx="0" cy="71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</p:grpSp>
        <p:sp>
          <p:nvSpPr>
            <p:cNvPr id="84" name="Text Box 28">
              <a:extLst>
                <a:ext uri="{FF2B5EF4-FFF2-40B4-BE49-F238E27FC236}">
                  <a16:creationId xmlns:a16="http://schemas.microsoft.com/office/drawing/2014/main" id="{8147E1B9-10FB-40C6-B11D-B67B9C088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0516" y="2322236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</p:grpSp>
      <p:grpSp>
        <p:nvGrpSpPr>
          <p:cNvPr id="92" name="Group 41">
            <a:extLst>
              <a:ext uri="{FF2B5EF4-FFF2-40B4-BE49-F238E27FC236}">
                <a16:creationId xmlns:a16="http://schemas.microsoft.com/office/drawing/2014/main" id="{51317CE6-E09C-4E9C-A456-F41DDA97F7A5}"/>
              </a:ext>
            </a:extLst>
          </p:cNvPr>
          <p:cNvGrpSpPr>
            <a:grpSpLocks/>
          </p:cNvGrpSpPr>
          <p:nvPr/>
        </p:nvGrpSpPr>
        <p:grpSpPr bwMode="auto">
          <a:xfrm>
            <a:off x="3746016" y="1693259"/>
            <a:ext cx="1955800" cy="2603500"/>
            <a:chOff x="2405" y="1359"/>
            <a:chExt cx="1232" cy="1640"/>
          </a:xfrm>
        </p:grpSpPr>
        <p:sp>
          <p:nvSpPr>
            <p:cNvPr id="93" name="Rectangle 10">
              <a:extLst>
                <a:ext uri="{FF2B5EF4-FFF2-40B4-BE49-F238E27FC236}">
                  <a16:creationId xmlns:a16="http://schemas.microsoft.com/office/drawing/2014/main" id="{0070435F-6F4F-44C9-8A14-4AB6334AB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9" y="1359"/>
              <a:ext cx="890" cy="70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4" name="Rectangle 12">
              <a:extLst>
                <a:ext uri="{FF2B5EF4-FFF2-40B4-BE49-F238E27FC236}">
                  <a16:creationId xmlns:a16="http://schemas.microsoft.com/office/drawing/2014/main" id="{2CD1D27B-09C4-4C8D-9DD1-3CCEA9EF5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5" y="2345"/>
              <a:ext cx="890" cy="6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5" name="Text Box 32">
              <a:extLst>
                <a:ext uri="{FF2B5EF4-FFF2-40B4-BE49-F238E27FC236}">
                  <a16:creationId xmlns:a16="http://schemas.microsoft.com/office/drawing/2014/main" id="{45DF145D-320E-4B54-AEA2-1F5672C32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" y="1405"/>
              <a:ext cx="346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96" name="Text Box 33">
              <a:extLst>
                <a:ext uri="{FF2B5EF4-FFF2-40B4-BE49-F238E27FC236}">
                  <a16:creationId xmlns:a16="http://schemas.microsoft.com/office/drawing/2014/main" id="{DE730AC7-FE21-4A06-BED3-B1C2C4B294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" y="2622"/>
              <a:ext cx="337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97" name="Line 39">
              <a:extLst>
                <a:ext uri="{FF2B5EF4-FFF2-40B4-BE49-F238E27FC236}">
                  <a16:creationId xmlns:a16="http://schemas.microsoft.com/office/drawing/2014/main" id="{B324622F-6C74-487B-8D5B-4027ED761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1" y="2678"/>
              <a:ext cx="8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8" name="Text Box 22">
              <a:extLst>
                <a:ext uri="{FF2B5EF4-FFF2-40B4-BE49-F238E27FC236}">
                  <a16:creationId xmlns:a16="http://schemas.microsoft.com/office/drawing/2014/main" id="{7C2E1964-5147-4D5E-9B53-11218D104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8" y="2507"/>
              <a:ext cx="486" cy="32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8000" tIns="118800" rIns="18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½ llena</a:t>
              </a:r>
            </a:p>
          </p:txBody>
        </p:sp>
        <p:sp>
          <p:nvSpPr>
            <p:cNvPr id="99" name="Text Box 28">
              <a:extLst>
                <a:ext uri="{FF2B5EF4-FFF2-40B4-BE49-F238E27FC236}">
                  <a16:creationId xmlns:a16="http://schemas.microsoft.com/office/drawing/2014/main" id="{6BCC85D5-0028-45F0-BAD3-117B02B36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1536"/>
              <a:ext cx="45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5E9032F8-E28B-4ED3-89A5-68C10FEE42D9}"/>
              </a:ext>
            </a:extLst>
          </p:cNvPr>
          <p:cNvGrpSpPr/>
          <p:nvPr/>
        </p:nvGrpSpPr>
        <p:grpSpPr>
          <a:xfrm>
            <a:off x="1513067" y="1694846"/>
            <a:ext cx="2062162" cy="2600326"/>
            <a:chOff x="1513067" y="1932971"/>
            <a:chExt cx="2062162" cy="2600326"/>
          </a:xfrm>
        </p:grpSpPr>
        <p:sp>
          <p:nvSpPr>
            <p:cNvPr id="101" name="Rectangle 9">
              <a:extLst>
                <a:ext uri="{FF2B5EF4-FFF2-40B4-BE49-F238E27FC236}">
                  <a16:creationId xmlns:a16="http://schemas.microsoft.com/office/drawing/2014/main" id="{08F193FC-6643-4626-955A-D0899E427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429" y="3172809"/>
              <a:ext cx="1412875" cy="136048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2" name="Rectangle 8">
              <a:extLst>
                <a:ext uri="{FF2B5EF4-FFF2-40B4-BE49-F238E27FC236}">
                  <a16:creationId xmlns:a16="http://schemas.microsoft.com/office/drawing/2014/main" id="{C555DB67-7528-4935-9402-D28CD359E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554" y="1932971"/>
              <a:ext cx="1412875" cy="124142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" name="Text Box 23">
              <a:extLst>
                <a:ext uri="{FF2B5EF4-FFF2-40B4-BE49-F238E27FC236}">
                  <a16:creationId xmlns:a16="http://schemas.microsoft.com/office/drawing/2014/main" id="{A1E51716-AF0F-481D-AF27-A5BB458EC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4079" y="3718909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17" name="Text Box 34">
              <a:extLst>
                <a:ext uri="{FF2B5EF4-FFF2-40B4-BE49-F238E27FC236}">
                  <a16:creationId xmlns:a16="http://schemas.microsoft.com/office/drawing/2014/main" id="{53B8A538-FED2-4A80-8595-3469DFC09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954" y="2004409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18" name="Text Box 35">
              <a:extLst>
                <a:ext uri="{FF2B5EF4-FFF2-40B4-BE49-F238E27FC236}">
                  <a16:creationId xmlns:a16="http://schemas.microsoft.com/office/drawing/2014/main" id="{E34F9162-0F38-4967-A406-0D3547739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1667" y="3936396"/>
              <a:ext cx="534987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19" name="Line 45">
              <a:extLst>
                <a:ext uri="{FF2B5EF4-FFF2-40B4-BE49-F238E27FC236}">
                  <a16:creationId xmlns:a16="http://schemas.microsoft.com/office/drawing/2014/main" id="{468C4F63-AA82-434E-AEB0-8A297B9E6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717" y="3129946"/>
              <a:ext cx="1376362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20" name="Line 46">
              <a:extLst>
                <a:ext uri="{FF2B5EF4-FFF2-40B4-BE49-F238E27FC236}">
                  <a16:creationId xmlns:a16="http://schemas.microsoft.com/office/drawing/2014/main" id="{D8082A06-EAF3-47EE-BB07-59B29DAD3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367" y="3390296"/>
              <a:ext cx="1376362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21" name="Text Box 28">
              <a:extLst>
                <a:ext uri="{FF2B5EF4-FFF2-40B4-BE49-F238E27FC236}">
                  <a16:creationId xmlns:a16="http://schemas.microsoft.com/office/drawing/2014/main" id="{C1A2AA24-E0F0-4384-BA46-93D2A7C870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1217" y="2234596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156" name="Rectángulo 155">
              <a:extLst>
                <a:ext uri="{FF2B5EF4-FFF2-40B4-BE49-F238E27FC236}">
                  <a16:creationId xmlns:a16="http://schemas.microsoft.com/office/drawing/2014/main" id="{3405DD75-1F31-42C8-A400-13F1D42EDD92}"/>
                </a:ext>
              </a:extLst>
            </p:cNvPr>
            <p:cNvSpPr/>
            <p:nvPr/>
          </p:nvSpPr>
          <p:spPr bwMode="auto">
            <a:xfrm>
              <a:off x="1605918" y="3129946"/>
              <a:ext cx="1440000" cy="260350"/>
            </a:xfrm>
            <a:prstGeom prst="rect">
              <a:avLst/>
            </a:prstGeom>
            <a:solidFill>
              <a:srgbClr val="FFFF99">
                <a:alpha val="50000"/>
              </a:srgb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57" name="Text Box 37">
              <a:extLst>
                <a:ext uri="{FF2B5EF4-FFF2-40B4-BE49-F238E27FC236}">
                  <a16:creationId xmlns:a16="http://schemas.microsoft.com/office/drawing/2014/main" id="{1F2E4010-DF66-4C68-84CF-2BF59F893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3067" y="3080734"/>
              <a:ext cx="1590675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superposición</a:t>
              </a:r>
            </a:p>
          </p:txBody>
        </p:sp>
      </p:grpSp>
      <p:sp>
        <p:nvSpPr>
          <p:cNvPr id="895031" name="Text Box 55"/>
          <p:cNvSpPr txBox="1">
            <a:spLocks noChangeArrowheads="1"/>
          </p:cNvSpPr>
          <p:nvPr/>
        </p:nvSpPr>
        <p:spPr bwMode="auto">
          <a:xfrm>
            <a:off x="1389242" y="4475451"/>
            <a:ext cx="8777878" cy="60925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</a:rPr>
              <a:t>En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conductores </a:t>
            </a:r>
            <a:r>
              <a:rPr lang="es-ES" sz="2400">
                <a:latin typeface="Arial" panose="020B0604020202020204" pitchFamily="34" charset="0"/>
              </a:rPr>
              <a:t>es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lo normal</a:t>
            </a:r>
            <a:r>
              <a:rPr lang="es-ES" sz="2400">
                <a:latin typeface="Arial" panose="020B0604020202020204" pitchFamily="34" charset="0"/>
              </a:rPr>
              <a:t>: El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E necesario es despreciable</a:t>
            </a:r>
          </a:p>
        </p:txBody>
      </p:sp>
      <p:sp>
        <p:nvSpPr>
          <p:cNvPr id="115" name="Text Box 55"/>
          <p:cNvSpPr txBox="1">
            <a:spLocks noChangeArrowheads="1"/>
          </p:cNvSpPr>
          <p:nvPr/>
        </p:nvSpPr>
        <p:spPr bwMode="auto">
          <a:xfrm>
            <a:off x="1259663" y="5061870"/>
            <a:ext cx="8918090" cy="1029476"/>
          </a:xfrm>
          <a:prstGeom prst="rect">
            <a:avLst/>
          </a:prstGeom>
          <a:noFill/>
          <a:ln>
            <a:noFill/>
          </a:ln>
        </p:spPr>
        <p:txBody>
          <a:bodyPr wrap="square" lIns="216000" tIns="144000" rIns="216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Los electrones van y vienen, y sobre la mitad están en </a:t>
            </a:r>
            <a:r>
              <a:rPr lang="es-ES" sz="2400" b="1">
                <a:latin typeface="Arial" panose="020B0604020202020204" pitchFamily="34" charset="0"/>
              </a:rPr>
              <a:t>BC</a:t>
            </a:r>
            <a:r>
              <a:rPr lang="es-ES" sz="2400">
                <a:latin typeface="Arial" panose="020B0604020202020204" pitchFamily="34" charset="0"/>
              </a:rPr>
              <a:t>, tipo 1, o en </a:t>
            </a:r>
            <a:r>
              <a:rPr lang="es-ES" sz="2400" b="1">
                <a:latin typeface="Arial" panose="020B0604020202020204" pitchFamily="34" charset="0"/>
              </a:rPr>
              <a:t>BV</a:t>
            </a:r>
            <a:r>
              <a:rPr lang="es-ES" sz="2400">
                <a:latin typeface="Arial" panose="020B0604020202020204" pitchFamily="34" charset="0"/>
              </a:rPr>
              <a:t> vacía, tipo 2, con una concentración </a:t>
            </a:r>
            <a:r>
              <a:rPr lang="en-U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~10</a:t>
            </a:r>
            <a:r>
              <a:rPr lang="en-US" sz="2400" baseline="300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cm</a:t>
            </a:r>
            <a:r>
              <a:rPr lang="en-US" sz="2400" baseline="300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endParaRPr lang="es-E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2276618" y="2227927"/>
            <a:ext cx="6629523" cy="1794421"/>
            <a:chOff x="2229566" y="2353782"/>
            <a:chExt cx="6629523" cy="1794421"/>
          </a:xfrm>
        </p:grpSpPr>
        <p:grpSp>
          <p:nvGrpSpPr>
            <p:cNvPr id="2" name="Grupo 1"/>
            <p:cNvGrpSpPr/>
            <p:nvPr/>
          </p:nvGrpSpPr>
          <p:grpSpPr>
            <a:xfrm>
              <a:off x="2229566" y="2888679"/>
              <a:ext cx="166688" cy="483283"/>
              <a:chOff x="2229566" y="2888679"/>
              <a:chExt cx="166688" cy="483283"/>
            </a:xfrm>
          </p:grpSpPr>
          <p:sp>
            <p:nvSpPr>
              <p:cNvPr id="29743" name="60 Elipse"/>
              <p:cNvSpPr>
                <a:spLocks noChangeArrowheads="1"/>
              </p:cNvSpPr>
              <p:nvPr/>
            </p:nvSpPr>
            <p:spPr bwMode="auto">
              <a:xfrm>
                <a:off x="2235916" y="2888679"/>
                <a:ext cx="160338" cy="15081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29744" name="62 Conector recto de flecha"/>
              <p:cNvCxnSpPr>
                <a:cxnSpLocks noChangeShapeType="1"/>
              </p:cNvCxnSpPr>
              <p:nvPr/>
            </p:nvCxnSpPr>
            <p:spPr bwMode="auto">
              <a:xfrm flipH="1" flipV="1">
                <a:off x="2315291" y="3011323"/>
                <a:ext cx="0" cy="201612"/>
              </a:xfrm>
              <a:prstGeom prst="straightConnector1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9745" name="60 Elipse"/>
              <p:cNvSpPr>
                <a:spLocks noChangeArrowheads="1"/>
              </p:cNvSpPr>
              <p:nvPr/>
            </p:nvSpPr>
            <p:spPr bwMode="auto">
              <a:xfrm>
                <a:off x="2229566" y="3221150"/>
                <a:ext cx="160338" cy="150812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FF0000"/>
                </a:solidFill>
                <a:round/>
                <a:headEnd/>
                <a:tailEnd type="none" w="lg" len="lg"/>
              </a:ln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" name="Grupo 2"/>
            <p:cNvGrpSpPr/>
            <p:nvPr/>
          </p:nvGrpSpPr>
          <p:grpSpPr>
            <a:xfrm>
              <a:off x="4354301" y="3686240"/>
              <a:ext cx="166687" cy="461963"/>
              <a:chOff x="4354301" y="3686240"/>
              <a:chExt cx="166687" cy="461963"/>
            </a:xfrm>
          </p:grpSpPr>
          <p:sp>
            <p:nvSpPr>
              <p:cNvPr id="29746" name="60 Elipse"/>
              <p:cNvSpPr>
                <a:spLocks noChangeArrowheads="1"/>
              </p:cNvSpPr>
              <p:nvPr/>
            </p:nvSpPr>
            <p:spPr bwMode="auto">
              <a:xfrm>
                <a:off x="4360651" y="3686240"/>
                <a:ext cx="160337" cy="15081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29747" name="62 Conector recto de flecha"/>
              <p:cNvCxnSpPr>
                <a:cxnSpLocks noChangeShapeType="1"/>
              </p:cNvCxnSpPr>
              <p:nvPr/>
            </p:nvCxnSpPr>
            <p:spPr bwMode="auto">
              <a:xfrm flipH="1" flipV="1">
                <a:off x="4440026" y="3832290"/>
                <a:ext cx="0" cy="201613"/>
              </a:xfrm>
              <a:prstGeom prst="straightConnector1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9748" name="60 Elipse"/>
              <p:cNvSpPr>
                <a:spLocks noChangeArrowheads="1"/>
              </p:cNvSpPr>
              <p:nvPr/>
            </p:nvSpPr>
            <p:spPr bwMode="auto">
              <a:xfrm>
                <a:off x="4354301" y="3997390"/>
                <a:ext cx="160337" cy="150813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FF0000"/>
                </a:solidFill>
                <a:round/>
                <a:headEnd/>
                <a:tailEnd type="none" w="lg" len="lg"/>
              </a:ln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749" name="60 Elipse"/>
            <p:cNvSpPr>
              <a:spLocks noChangeArrowheads="1"/>
            </p:cNvSpPr>
            <p:nvPr/>
          </p:nvSpPr>
          <p:spPr bwMode="auto">
            <a:xfrm>
              <a:off x="6325137" y="2739659"/>
              <a:ext cx="160338" cy="15081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9750" name="62 Conector recto de flecha"/>
            <p:cNvCxnSpPr>
              <a:cxnSpLocks noChangeShapeType="1"/>
            </p:cNvCxnSpPr>
            <p:nvPr/>
          </p:nvCxnSpPr>
          <p:spPr bwMode="auto">
            <a:xfrm flipH="1" flipV="1">
              <a:off x="6409185" y="2869834"/>
              <a:ext cx="0" cy="561975"/>
            </a:xfrm>
            <a:prstGeom prst="straightConnector1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51" name="60 Elipse"/>
            <p:cNvSpPr>
              <a:spLocks noChangeArrowheads="1"/>
            </p:cNvSpPr>
            <p:nvPr/>
          </p:nvSpPr>
          <p:spPr bwMode="auto">
            <a:xfrm>
              <a:off x="6316475" y="3379739"/>
              <a:ext cx="160338" cy="1508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52" name="60 Elipse"/>
            <p:cNvSpPr>
              <a:spLocks noChangeArrowheads="1"/>
            </p:cNvSpPr>
            <p:nvPr/>
          </p:nvSpPr>
          <p:spPr bwMode="auto">
            <a:xfrm>
              <a:off x="8698751" y="2353782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9753" name="62 Conector recto de flecha"/>
            <p:cNvCxnSpPr>
              <a:cxnSpLocks noChangeShapeType="1"/>
            </p:cNvCxnSpPr>
            <p:nvPr/>
          </p:nvCxnSpPr>
          <p:spPr bwMode="auto">
            <a:xfrm flipH="1" flipV="1">
              <a:off x="8772525" y="2511034"/>
              <a:ext cx="1588" cy="1281113"/>
            </a:xfrm>
            <a:prstGeom prst="straightConnector1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54" name="60 Elipse"/>
            <p:cNvSpPr>
              <a:spLocks noChangeArrowheads="1"/>
            </p:cNvSpPr>
            <p:nvPr/>
          </p:nvSpPr>
          <p:spPr bwMode="auto">
            <a:xfrm>
              <a:off x="8692401" y="3744432"/>
              <a:ext cx="160338" cy="150813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58" name="Text Box 55">
            <a:extLst>
              <a:ext uri="{FF2B5EF4-FFF2-40B4-BE49-F238E27FC236}">
                <a16:creationId xmlns:a16="http://schemas.microsoft.com/office/drawing/2014/main" id="{189A22B1-05DB-4471-9F2A-C4F613332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138" y="5925701"/>
            <a:ext cx="9059857" cy="1029476"/>
          </a:xfrm>
          <a:prstGeom prst="rect">
            <a:avLst/>
          </a:prstGeom>
          <a:noFill/>
          <a:ln>
            <a:noFill/>
          </a:ln>
        </p:spPr>
        <p:txBody>
          <a:bodyPr wrap="square" lIns="216000" tIns="144000" rIns="216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Al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interactuar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con el material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pueden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moverse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por él,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BV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habrá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vacantes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todas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direcciones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4)</a:t>
            </a:r>
            <a:endParaRPr lang="es-E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BF58C45-9D90-B561-72B9-01203C653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098" y="351627"/>
            <a:ext cx="3620881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CLASIFICACIÓN</a:t>
            </a:r>
          </a:p>
        </p:txBody>
      </p:sp>
      <p:sp>
        <p:nvSpPr>
          <p:cNvPr id="6" name="Text Box 17">
            <a:extLst>
              <a:ext uri="{FF2B5EF4-FFF2-40B4-BE49-F238E27FC236}">
                <a16:creationId xmlns:a16="http://schemas.microsoft.com/office/drawing/2014/main" id="{797D20D5-C906-B410-63B5-592CFF53D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5415" y="1078588"/>
            <a:ext cx="1947149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Aislante</a:t>
            </a:r>
            <a:endParaRPr lang="es-ES" sz="2000">
              <a:latin typeface="Arial" panose="020B0604020202020204" pitchFamily="34" charset="0"/>
            </a:endParaRPr>
          </a:p>
        </p:txBody>
      </p:sp>
      <p:sp>
        <p:nvSpPr>
          <p:cNvPr id="7" name="Text Box 18">
            <a:extLst>
              <a:ext uri="{FF2B5EF4-FFF2-40B4-BE49-F238E27FC236}">
                <a16:creationId xmlns:a16="http://schemas.microsoft.com/office/drawing/2014/main" id="{BEA5A7CA-FC63-4606-B427-D20D008E8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6819" y="1096051"/>
            <a:ext cx="2236808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Semiconductor</a:t>
            </a:r>
          </a:p>
        </p:txBody>
      </p:sp>
      <p:sp>
        <p:nvSpPr>
          <p:cNvPr id="8" name="Text Box 42">
            <a:extLst>
              <a:ext uri="{FF2B5EF4-FFF2-40B4-BE49-F238E27FC236}">
                <a16:creationId xmlns:a16="http://schemas.microsoft.com/office/drawing/2014/main" id="{A9F675DE-37E9-F4B2-6A9B-F0C19DF7F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782" y="349672"/>
            <a:ext cx="1174850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T &gt; 0 K</a:t>
            </a:r>
          </a:p>
        </p:txBody>
      </p:sp>
      <p:sp>
        <p:nvSpPr>
          <p:cNvPr id="9" name="Text Box 36">
            <a:extLst>
              <a:ext uri="{FF2B5EF4-FFF2-40B4-BE49-F238E27FC236}">
                <a16:creationId xmlns:a16="http://schemas.microsoft.com/office/drawing/2014/main" id="{A3DE15CB-ED07-0E44-FD43-EA756E84E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202" y="1088113"/>
            <a:ext cx="1920090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2</a:t>
            </a:r>
          </a:p>
        </p:txBody>
      </p:sp>
      <p:sp>
        <p:nvSpPr>
          <p:cNvPr id="10" name="Text Box 19">
            <a:extLst>
              <a:ext uri="{FF2B5EF4-FFF2-40B4-BE49-F238E27FC236}">
                <a16:creationId xmlns:a16="http://schemas.microsoft.com/office/drawing/2014/main" id="{B7727C8E-9554-3F1C-85BF-B960DD234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676" y="1081763"/>
            <a:ext cx="1942977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95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9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5031" grpId="0" animBg="1"/>
      <p:bldP spid="115" grpId="0" animBg="1"/>
      <p:bldP spid="15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014" name="Text Box 38"/>
          <p:cNvSpPr txBox="1">
            <a:spLocks noChangeArrowheads="1"/>
          </p:cNvSpPr>
          <p:nvPr/>
        </p:nvSpPr>
        <p:spPr bwMode="auto">
          <a:xfrm>
            <a:off x="1298944" y="4471275"/>
            <a:ext cx="8902332" cy="8840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semiconductores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a temperaturas ordinarias (300 K, 27 </a:t>
            </a:r>
            <a:r>
              <a:rPr lang="es-ES" sz="2400" err="1">
                <a:latin typeface="Arial" panose="020B0604020202020204" pitchFamily="34" charset="0"/>
              </a:rPr>
              <a:t>ºC</a:t>
            </a:r>
            <a:r>
              <a:rPr lang="es-ES" sz="2400">
                <a:latin typeface="Arial" panose="020B0604020202020204" pitchFamily="34" charset="0"/>
              </a:rPr>
              <a:t>), el número de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 que pasa de la </a:t>
            </a:r>
            <a:r>
              <a:rPr lang="es-ES" sz="2400" b="1">
                <a:latin typeface="Arial" panose="020B0604020202020204" pitchFamily="34" charset="0"/>
              </a:rPr>
              <a:t>BV</a:t>
            </a:r>
            <a:r>
              <a:rPr lang="es-ES" sz="2400">
                <a:latin typeface="Arial" panose="020B0604020202020204" pitchFamily="34" charset="0"/>
              </a:rPr>
              <a:t> a la </a:t>
            </a:r>
            <a:r>
              <a:rPr lang="es-ES" sz="2400" b="1">
                <a:latin typeface="Arial" panose="020B0604020202020204" pitchFamily="34" charset="0"/>
              </a:rPr>
              <a:t>BC </a:t>
            </a:r>
            <a:r>
              <a:rPr lang="es-ES" sz="2400">
                <a:latin typeface="Arial" panose="020B0604020202020204" pitchFamily="34" charset="0"/>
              </a:rPr>
              <a:t>es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notable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104" name="Text Box 39">
            <a:extLst>
              <a:ext uri="{FF2B5EF4-FFF2-40B4-BE49-F238E27FC236}">
                <a16:creationId xmlns:a16="http://schemas.microsoft.com/office/drawing/2014/main" id="{659F6591-9FE1-4F02-BE51-D8028DD53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943" y="6530375"/>
            <a:ext cx="8902331" cy="5147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En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aislantes</a:t>
            </a:r>
            <a:r>
              <a:rPr lang="es-ES" sz="2400">
                <a:latin typeface="Arial" panose="020B0604020202020204" pitchFamily="34" charset="0"/>
              </a:rPr>
              <a:t> es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raro</a:t>
            </a:r>
            <a:r>
              <a:rPr lang="es-ES" sz="2400">
                <a:latin typeface="Arial" panose="020B0604020202020204" pitchFamily="34" charset="0"/>
              </a:rPr>
              <a:t>: La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ganancia suele ser menor que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err="1">
                <a:latin typeface="Arial" panose="020B0604020202020204" pitchFamily="34" charset="0"/>
              </a:rPr>
              <a:t>E</a:t>
            </a:r>
            <a:r>
              <a:rPr lang="es-ES" sz="2400" baseline="-25000" err="1">
                <a:latin typeface="Arial" panose="020B0604020202020204" pitchFamily="34" charset="0"/>
              </a:rPr>
              <a:t>gap</a:t>
            </a:r>
            <a:endParaRPr lang="es-ES" sz="2400">
              <a:latin typeface="Arial" panose="020B0604020202020204" pitchFamily="34" charset="0"/>
            </a:endParaRP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CE3893D6-D2FB-45F6-A5EF-CF4F865E621C}"/>
              </a:ext>
            </a:extLst>
          </p:cNvPr>
          <p:cNvGrpSpPr/>
          <p:nvPr/>
        </p:nvGrpSpPr>
        <p:grpSpPr>
          <a:xfrm>
            <a:off x="5902857" y="1683734"/>
            <a:ext cx="2449513" cy="2630487"/>
            <a:chOff x="5902857" y="1921859"/>
            <a:chExt cx="2449513" cy="2630487"/>
          </a:xfrm>
        </p:grpSpPr>
        <p:sp>
          <p:nvSpPr>
            <p:cNvPr id="66" name="Text Box 53">
              <a:extLst>
                <a:ext uri="{FF2B5EF4-FFF2-40B4-BE49-F238E27FC236}">
                  <a16:creationId xmlns:a16="http://schemas.microsoft.com/office/drawing/2014/main" id="{6D2C0E9F-8C07-4B42-BE75-D0D491CA6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5782" y="2953913"/>
              <a:ext cx="636588" cy="547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gap</a:t>
              </a:r>
            </a:p>
          </p:txBody>
        </p:sp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AE46D3A2-5008-4EFA-B0D6-E76C42B77AD8}"/>
                </a:ext>
              </a:extLst>
            </p:cNvPr>
            <p:cNvGrpSpPr/>
            <p:nvPr/>
          </p:nvGrpSpPr>
          <p:grpSpPr>
            <a:xfrm>
              <a:off x="5902857" y="1921859"/>
              <a:ext cx="2033588" cy="2630487"/>
              <a:chOff x="5902857" y="1921859"/>
              <a:chExt cx="2033588" cy="2630487"/>
            </a:xfrm>
          </p:grpSpPr>
          <p:sp>
            <p:nvSpPr>
              <p:cNvPr id="68" name="Text Box 30">
                <a:extLst>
                  <a:ext uri="{FF2B5EF4-FFF2-40B4-BE49-F238E27FC236}">
                    <a16:creationId xmlns:a16="http://schemas.microsoft.com/office/drawing/2014/main" id="{BCABEEA4-2456-4E77-A3C4-A9307A1BAF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88670" y="3017234"/>
                <a:ext cx="839788" cy="5127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 </a:t>
                </a: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1 eV</a:t>
                </a:r>
              </a:p>
            </p:txBody>
          </p:sp>
          <p:sp>
            <p:nvSpPr>
              <p:cNvPr id="69" name="Line 31">
                <a:extLst>
                  <a:ext uri="{FF2B5EF4-FFF2-40B4-BE49-F238E27FC236}">
                    <a16:creationId xmlns:a16="http://schemas.microsoft.com/office/drawing/2014/main" id="{1ADFDBBF-D76B-4C5C-A872-7CB2FACDB0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39457" y="3055334"/>
                <a:ext cx="0" cy="43497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70" name="Rectangle 13">
                <a:extLst>
                  <a:ext uri="{FF2B5EF4-FFF2-40B4-BE49-F238E27FC236}">
                    <a16:creationId xmlns:a16="http://schemas.microsoft.com/office/drawing/2014/main" id="{B113C489-12A8-4568-9493-52CD04DC0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2857" y="1921859"/>
                <a:ext cx="1412875" cy="1135062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1" name="Rectangle 14">
                <a:extLst>
                  <a:ext uri="{FF2B5EF4-FFF2-40B4-BE49-F238E27FC236}">
                    <a16:creationId xmlns:a16="http://schemas.microsoft.com/office/drawing/2014/main" id="{B4074AA1-3217-4DF6-99CC-B98F1A091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2857" y="3501421"/>
                <a:ext cx="1412875" cy="1050925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2" name="Text Box 21">
                <a:extLst>
                  <a:ext uri="{FF2B5EF4-FFF2-40B4-BE49-F238E27FC236}">
                    <a16:creationId xmlns:a16="http://schemas.microsoft.com/office/drawing/2014/main" id="{5AA2E717-0E99-448D-96A7-1D42F8581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4020" y="3747484"/>
                <a:ext cx="663575" cy="5127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llena</a:t>
                </a:r>
              </a:p>
            </p:txBody>
          </p:sp>
          <p:sp>
            <p:nvSpPr>
              <p:cNvPr id="73" name="Text Box 26">
                <a:extLst>
                  <a:ext uri="{FF2B5EF4-FFF2-40B4-BE49-F238E27FC236}">
                    <a16:creationId xmlns:a16="http://schemas.microsoft.com/office/drawing/2014/main" id="{56C3B41A-3A7B-422A-8B48-9626060C9A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87170" y="2004409"/>
                <a:ext cx="549275" cy="542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BC</a:t>
                </a:r>
              </a:p>
            </p:txBody>
          </p:sp>
          <p:sp>
            <p:nvSpPr>
              <p:cNvPr id="74" name="Text Box 27">
                <a:extLst>
                  <a:ext uri="{FF2B5EF4-FFF2-40B4-BE49-F238E27FC236}">
                    <a16:creationId xmlns:a16="http://schemas.microsoft.com/office/drawing/2014/main" id="{E14C0B28-7C53-4A00-A6A5-2071F9A557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72882" y="3936396"/>
                <a:ext cx="534988" cy="542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BV</a:t>
                </a:r>
              </a:p>
            </p:txBody>
          </p:sp>
          <p:sp>
            <p:nvSpPr>
              <p:cNvPr id="75" name="Text Box 28">
                <a:extLst>
                  <a:ext uri="{FF2B5EF4-FFF2-40B4-BE49-F238E27FC236}">
                    <a16:creationId xmlns:a16="http://schemas.microsoft.com/office/drawing/2014/main" id="{6ADAAF65-464E-4543-B0FC-1A3F17D438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2961" y="2219224"/>
                <a:ext cx="727075" cy="51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vacía</a:t>
                </a:r>
                <a:endParaRPr lang="es-ES" sz="18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76" name="65 Grupo">
            <a:extLst>
              <a:ext uri="{FF2B5EF4-FFF2-40B4-BE49-F238E27FC236}">
                <a16:creationId xmlns:a16="http://schemas.microsoft.com/office/drawing/2014/main" id="{F77A510D-0B55-463B-887E-1DF4F6350F25}"/>
              </a:ext>
            </a:extLst>
          </p:cNvPr>
          <p:cNvGrpSpPr>
            <a:grpSpLocks/>
          </p:cNvGrpSpPr>
          <p:nvPr/>
        </p:nvGrpSpPr>
        <p:grpSpPr bwMode="auto">
          <a:xfrm>
            <a:off x="8389938" y="1696434"/>
            <a:ext cx="1981200" cy="2632075"/>
            <a:chOff x="8389938" y="2240002"/>
            <a:chExt cx="1981200" cy="2632075"/>
          </a:xfrm>
        </p:grpSpPr>
        <p:grpSp>
          <p:nvGrpSpPr>
            <p:cNvPr id="77" name="Group 51">
              <a:extLst>
                <a:ext uri="{FF2B5EF4-FFF2-40B4-BE49-F238E27FC236}">
                  <a16:creationId xmlns:a16="http://schemas.microsoft.com/office/drawing/2014/main" id="{2054DD03-B77C-468E-B39A-3280441E10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9938" y="2240002"/>
              <a:ext cx="1981200" cy="2632075"/>
              <a:chOff x="5285" y="1371"/>
              <a:chExt cx="1248" cy="1658"/>
            </a:xfrm>
          </p:grpSpPr>
          <p:sp>
            <p:nvSpPr>
              <p:cNvPr id="79" name="Rectangle 15">
                <a:extLst>
                  <a:ext uri="{FF2B5EF4-FFF2-40B4-BE49-F238E27FC236}">
                    <a16:creationId xmlns:a16="http://schemas.microsoft.com/office/drawing/2014/main" id="{1B313E88-5BE9-484A-99F1-88FB146F9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" y="1371"/>
                <a:ext cx="890" cy="444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0" name="Rectangle 16">
                <a:extLst>
                  <a:ext uri="{FF2B5EF4-FFF2-40B4-BE49-F238E27FC236}">
                    <a16:creationId xmlns:a16="http://schemas.microsoft.com/office/drawing/2014/main" id="{A5D44E39-48D7-4706-AFF4-7E80607A4F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" y="2585"/>
                <a:ext cx="890" cy="444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1" name="Text Box 20">
                <a:extLst>
                  <a:ext uri="{FF2B5EF4-FFF2-40B4-BE49-F238E27FC236}">
                    <a16:creationId xmlns:a16="http://schemas.microsoft.com/office/drawing/2014/main" id="{59EB4161-FAC0-40B1-B5BF-738B71487C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50" y="2644"/>
                <a:ext cx="418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llena</a:t>
                </a:r>
              </a:p>
            </p:txBody>
          </p:sp>
          <p:sp>
            <p:nvSpPr>
              <p:cNvPr id="82" name="Text Box 24">
                <a:extLst>
                  <a:ext uri="{FF2B5EF4-FFF2-40B4-BE49-F238E27FC236}">
                    <a16:creationId xmlns:a16="http://schemas.microsoft.com/office/drawing/2014/main" id="{E0B56311-9F1C-439E-A005-E19FF7DE90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87" y="1415"/>
                <a:ext cx="346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BC</a:t>
                </a:r>
              </a:p>
            </p:txBody>
          </p:sp>
          <p:sp>
            <p:nvSpPr>
              <p:cNvPr id="83" name="Text Box 25">
                <a:extLst>
                  <a:ext uri="{FF2B5EF4-FFF2-40B4-BE49-F238E27FC236}">
                    <a16:creationId xmlns:a16="http://schemas.microsoft.com/office/drawing/2014/main" id="{2B58EC79-6F45-4925-A412-92F17CA68F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8" y="2632"/>
                <a:ext cx="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BV</a:t>
                </a:r>
              </a:p>
            </p:txBody>
          </p:sp>
          <p:sp>
            <p:nvSpPr>
              <p:cNvPr id="84" name="Text Box 28">
                <a:extLst>
                  <a:ext uri="{FF2B5EF4-FFF2-40B4-BE49-F238E27FC236}">
                    <a16:creationId xmlns:a16="http://schemas.microsoft.com/office/drawing/2014/main" id="{BACCC425-1D96-4C55-9847-42AE875A29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84" y="2052"/>
                <a:ext cx="738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Varios eV</a:t>
                </a:r>
              </a:p>
            </p:txBody>
          </p:sp>
          <p:sp>
            <p:nvSpPr>
              <p:cNvPr id="85" name="Line 29">
                <a:extLst>
                  <a:ext uri="{FF2B5EF4-FFF2-40B4-BE49-F238E27FC236}">
                    <a16:creationId xmlns:a16="http://schemas.microsoft.com/office/drawing/2014/main" id="{8ED8B534-3978-4608-B0DD-D8A16F927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3" y="1858"/>
                <a:ext cx="0" cy="71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</p:grpSp>
        <p:sp>
          <p:nvSpPr>
            <p:cNvPr id="78" name="Text Box 28">
              <a:extLst>
                <a:ext uri="{FF2B5EF4-FFF2-40B4-BE49-F238E27FC236}">
                  <a16:creationId xmlns:a16="http://schemas.microsoft.com/office/drawing/2014/main" id="{34E35F89-0629-4440-A059-2A5C643A4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0516" y="2322236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</p:grpSp>
      <p:grpSp>
        <p:nvGrpSpPr>
          <p:cNvPr id="86" name="Group 41">
            <a:extLst>
              <a:ext uri="{FF2B5EF4-FFF2-40B4-BE49-F238E27FC236}">
                <a16:creationId xmlns:a16="http://schemas.microsoft.com/office/drawing/2014/main" id="{4454A545-A4C6-4424-A009-C4AC2A38B341}"/>
              </a:ext>
            </a:extLst>
          </p:cNvPr>
          <p:cNvGrpSpPr>
            <a:grpSpLocks/>
          </p:cNvGrpSpPr>
          <p:nvPr/>
        </p:nvGrpSpPr>
        <p:grpSpPr bwMode="auto">
          <a:xfrm>
            <a:off x="3746016" y="1693259"/>
            <a:ext cx="1955800" cy="2603500"/>
            <a:chOff x="2405" y="1359"/>
            <a:chExt cx="1232" cy="1640"/>
          </a:xfrm>
        </p:grpSpPr>
        <p:sp>
          <p:nvSpPr>
            <p:cNvPr id="87" name="Rectangle 10">
              <a:extLst>
                <a:ext uri="{FF2B5EF4-FFF2-40B4-BE49-F238E27FC236}">
                  <a16:creationId xmlns:a16="http://schemas.microsoft.com/office/drawing/2014/main" id="{07C30D86-C6EC-4129-93C7-980756C0C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9" y="1359"/>
              <a:ext cx="890" cy="70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8" name="Rectangle 12">
              <a:extLst>
                <a:ext uri="{FF2B5EF4-FFF2-40B4-BE49-F238E27FC236}">
                  <a16:creationId xmlns:a16="http://schemas.microsoft.com/office/drawing/2014/main" id="{C7D3FCB8-5AFB-4400-A936-D5D10C62C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5" y="2345"/>
              <a:ext cx="890" cy="65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9" name="Text Box 32">
              <a:extLst>
                <a:ext uri="{FF2B5EF4-FFF2-40B4-BE49-F238E27FC236}">
                  <a16:creationId xmlns:a16="http://schemas.microsoft.com/office/drawing/2014/main" id="{F6ED0F9B-7F5C-4AD1-889C-4EB6F437C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" y="1405"/>
              <a:ext cx="346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90" name="Text Box 33">
              <a:extLst>
                <a:ext uri="{FF2B5EF4-FFF2-40B4-BE49-F238E27FC236}">
                  <a16:creationId xmlns:a16="http://schemas.microsoft.com/office/drawing/2014/main" id="{1FC6BFD7-6351-436C-86E5-45F230615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" y="2622"/>
              <a:ext cx="337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91" name="Line 39">
              <a:extLst>
                <a:ext uri="{FF2B5EF4-FFF2-40B4-BE49-F238E27FC236}">
                  <a16:creationId xmlns:a16="http://schemas.microsoft.com/office/drawing/2014/main" id="{FB91229C-8321-48E1-91CD-58A25E47D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1" y="2678"/>
              <a:ext cx="8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2" name="Text Box 22">
              <a:extLst>
                <a:ext uri="{FF2B5EF4-FFF2-40B4-BE49-F238E27FC236}">
                  <a16:creationId xmlns:a16="http://schemas.microsoft.com/office/drawing/2014/main" id="{E32B2316-8BB2-41AC-BF08-130D07845A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8" y="2507"/>
              <a:ext cx="486" cy="32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8000" tIns="118800" rIns="18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½ llena</a:t>
              </a:r>
            </a:p>
          </p:txBody>
        </p:sp>
        <p:sp>
          <p:nvSpPr>
            <p:cNvPr id="93" name="Text Box 28">
              <a:extLst>
                <a:ext uri="{FF2B5EF4-FFF2-40B4-BE49-F238E27FC236}">
                  <a16:creationId xmlns:a16="http://schemas.microsoft.com/office/drawing/2014/main" id="{7DA0EF44-A939-4EFF-BED3-FDE3104D6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1536"/>
              <a:ext cx="45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5FF10D0B-7406-4D58-91C1-ED863AD5418C}"/>
              </a:ext>
            </a:extLst>
          </p:cNvPr>
          <p:cNvGrpSpPr/>
          <p:nvPr/>
        </p:nvGrpSpPr>
        <p:grpSpPr>
          <a:xfrm>
            <a:off x="1513067" y="1704371"/>
            <a:ext cx="2062162" cy="2590801"/>
            <a:chOff x="1513067" y="1942496"/>
            <a:chExt cx="2062162" cy="2590801"/>
          </a:xfrm>
        </p:grpSpPr>
        <p:sp>
          <p:nvSpPr>
            <p:cNvPr id="95" name="Rectangle 9">
              <a:extLst>
                <a:ext uri="{FF2B5EF4-FFF2-40B4-BE49-F238E27FC236}">
                  <a16:creationId xmlns:a16="http://schemas.microsoft.com/office/drawing/2014/main" id="{2233980F-F585-45C9-8DCF-0818265E4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429" y="3172809"/>
              <a:ext cx="1412875" cy="136048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" name="Rectangle 8">
              <a:extLst>
                <a:ext uri="{FF2B5EF4-FFF2-40B4-BE49-F238E27FC236}">
                  <a16:creationId xmlns:a16="http://schemas.microsoft.com/office/drawing/2014/main" id="{EDC02FB9-A884-4AB8-AAF5-F1477FE83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554" y="1942496"/>
              <a:ext cx="1412875" cy="124142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7" name="Text Box 23">
              <a:extLst>
                <a:ext uri="{FF2B5EF4-FFF2-40B4-BE49-F238E27FC236}">
                  <a16:creationId xmlns:a16="http://schemas.microsoft.com/office/drawing/2014/main" id="{5AFAC83D-E93B-4DD3-8EC5-55C94FB5C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4079" y="3718909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98" name="Text Box 34">
              <a:extLst>
                <a:ext uri="{FF2B5EF4-FFF2-40B4-BE49-F238E27FC236}">
                  <a16:creationId xmlns:a16="http://schemas.microsoft.com/office/drawing/2014/main" id="{BCA938D0-E9D7-4D91-843F-097AD7055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954" y="2004409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99" name="Text Box 35">
              <a:extLst>
                <a:ext uri="{FF2B5EF4-FFF2-40B4-BE49-F238E27FC236}">
                  <a16:creationId xmlns:a16="http://schemas.microsoft.com/office/drawing/2014/main" id="{62E50756-18CA-4649-B681-1CB0F0599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1667" y="3936396"/>
              <a:ext cx="534987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00" name="Line 45">
              <a:extLst>
                <a:ext uri="{FF2B5EF4-FFF2-40B4-BE49-F238E27FC236}">
                  <a16:creationId xmlns:a16="http://schemas.microsoft.com/office/drawing/2014/main" id="{F483B264-F737-4CA3-A147-11636EC9C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717" y="3129946"/>
              <a:ext cx="1376362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01" name="Line 46">
              <a:extLst>
                <a:ext uri="{FF2B5EF4-FFF2-40B4-BE49-F238E27FC236}">
                  <a16:creationId xmlns:a16="http://schemas.microsoft.com/office/drawing/2014/main" id="{04CB1880-0973-43B8-8C4C-230180107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367" y="3390296"/>
              <a:ext cx="1376362" cy="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02" name="Text Box 28">
              <a:extLst>
                <a:ext uri="{FF2B5EF4-FFF2-40B4-BE49-F238E27FC236}">
                  <a16:creationId xmlns:a16="http://schemas.microsoft.com/office/drawing/2014/main" id="{DA6F86B5-CF48-4D75-978E-9E5FCC425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1217" y="2234596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2053FA8E-15DC-4339-B72A-CFD04592DC8D}"/>
                </a:ext>
              </a:extLst>
            </p:cNvPr>
            <p:cNvSpPr/>
            <p:nvPr/>
          </p:nvSpPr>
          <p:spPr bwMode="auto">
            <a:xfrm>
              <a:off x="1605918" y="3129946"/>
              <a:ext cx="1440000" cy="260350"/>
            </a:xfrm>
            <a:prstGeom prst="rect">
              <a:avLst/>
            </a:prstGeom>
            <a:solidFill>
              <a:srgbClr val="FFFF99">
                <a:alpha val="50000"/>
              </a:srgb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16" name="Text Box 37">
              <a:extLst>
                <a:ext uri="{FF2B5EF4-FFF2-40B4-BE49-F238E27FC236}">
                  <a16:creationId xmlns:a16="http://schemas.microsoft.com/office/drawing/2014/main" id="{2DB34877-4517-4760-B52D-7AB4F2846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3067" y="3080734"/>
              <a:ext cx="1590675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superposición</a:t>
              </a:r>
            </a:p>
          </p:txBody>
        </p:sp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97656027-3207-4539-99CD-ED70A8C9762B}"/>
              </a:ext>
            </a:extLst>
          </p:cNvPr>
          <p:cNvGrpSpPr/>
          <p:nvPr/>
        </p:nvGrpSpPr>
        <p:grpSpPr>
          <a:xfrm>
            <a:off x="2276618" y="2227927"/>
            <a:ext cx="6629523" cy="1794421"/>
            <a:chOff x="2229566" y="2353782"/>
            <a:chExt cx="6629523" cy="1794421"/>
          </a:xfrm>
        </p:grpSpPr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01DF8009-C621-41C5-AFAD-59364E5CA172}"/>
                </a:ext>
              </a:extLst>
            </p:cNvPr>
            <p:cNvGrpSpPr/>
            <p:nvPr/>
          </p:nvGrpSpPr>
          <p:grpSpPr>
            <a:xfrm>
              <a:off x="2229566" y="2888679"/>
              <a:ext cx="166688" cy="483283"/>
              <a:chOff x="2229566" y="2888679"/>
              <a:chExt cx="166688" cy="483283"/>
            </a:xfrm>
          </p:grpSpPr>
          <p:sp>
            <p:nvSpPr>
              <p:cNvPr id="179" name="60 Elipse">
                <a:extLst>
                  <a:ext uri="{FF2B5EF4-FFF2-40B4-BE49-F238E27FC236}">
                    <a16:creationId xmlns:a16="http://schemas.microsoft.com/office/drawing/2014/main" id="{FA210166-E933-40AC-B648-59D8AF754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5916" y="2888679"/>
                <a:ext cx="160338" cy="15081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80" name="62 Conector recto de flecha">
                <a:extLst>
                  <a:ext uri="{FF2B5EF4-FFF2-40B4-BE49-F238E27FC236}">
                    <a16:creationId xmlns:a16="http://schemas.microsoft.com/office/drawing/2014/main" id="{148BC159-EF4F-43B0-AEBF-552A0B92E49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315291" y="3011323"/>
                <a:ext cx="0" cy="201612"/>
              </a:xfrm>
              <a:prstGeom prst="straightConnector1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81" name="60 Elipse">
                <a:extLst>
                  <a:ext uri="{FF2B5EF4-FFF2-40B4-BE49-F238E27FC236}">
                    <a16:creationId xmlns:a16="http://schemas.microsoft.com/office/drawing/2014/main" id="{0F878909-E261-41CD-8B72-8FB036A02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566" y="3221150"/>
                <a:ext cx="160338" cy="150812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FF0000"/>
                </a:solidFill>
                <a:round/>
                <a:headEnd/>
                <a:tailEnd type="none" w="lg" len="lg"/>
              </a:ln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9" name="Grupo 118">
              <a:extLst>
                <a:ext uri="{FF2B5EF4-FFF2-40B4-BE49-F238E27FC236}">
                  <a16:creationId xmlns:a16="http://schemas.microsoft.com/office/drawing/2014/main" id="{0D1AF026-821E-435F-A8EC-79D033662C9A}"/>
                </a:ext>
              </a:extLst>
            </p:cNvPr>
            <p:cNvGrpSpPr/>
            <p:nvPr/>
          </p:nvGrpSpPr>
          <p:grpSpPr>
            <a:xfrm>
              <a:off x="4354301" y="3686240"/>
              <a:ext cx="166687" cy="461963"/>
              <a:chOff x="4354301" y="3686240"/>
              <a:chExt cx="166687" cy="461963"/>
            </a:xfrm>
          </p:grpSpPr>
          <p:sp>
            <p:nvSpPr>
              <p:cNvPr id="176" name="60 Elipse">
                <a:extLst>
                  <a:ext uri="{FF2B5EF4-FFF2-40B4-BE49-F238E27FC236}">
                    <a16:creationId xmlns:a16="http://schemas.microsoft.com/office/drawing/2014/main" id="{DBAE81C1-2043-4143-B1B5-FC63785D8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0651" y="3686240"/>
                <a:ext cx="160337" cy="15081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77" name="62 Conector recto de flecha">
                <a:extLst>
                  <a:ext uri="{FF2B5EF4-FFF2-40B4-BE49-F238E27FC236}">
                    <a16:creationId xmlns:a16="http://schemas.microsoft.com/office/drawing/2014/main" id="{76070027-3D0D-4091-AD79-D8216883409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4440026" y="3832290"/>
                <a:ext cx="0" cy="201613"/>
              </a:xfrm>
              <a:prstGeom prst="straightConnector1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8" name="60 Elipse">
                <a:extLst>
                  <a:ext uri="{FF2B5EF4-FFF2-40B4-BE49-F238E27FC236}">
                    <a16:creationId xmlns:a16="http://schemas.microsoft.com/office/drawing/2014/main" id="{9D2E8BDB-9775-4B8A-81D5-84D04FA4C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4301" y="3997390"/>
                <a:ext cx="160337" cy="150813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FF0000"/>
                </a:solidFill>
                <a:round/>
                <a:headEnd/>
                <a:tailEnd type="none" w="lg" len="lg"/>
              </a:ln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0" name="60 Elipse">
              <a:extLst>
                <a:ext uri="{FF2B5EF4-FFF2-40B4-BE49-F238E27FC236}">
                  <a16:creationId xmlns:a16="http://schemas.microsoft.com/office/drawing/2014/main" id="{E45489B4-E261-4192-944E-9D37E3DA7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5137" y="2739659"/>
              <a:ext cx="160338" cy="15081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71" name="62 Conector recto de flecha">
              <a:extLst>
                <a:ext uri="{FF2B5EF4-FFF2-40B4-BE49-F238E27FC236}">
                  <a16:creationId xmlns:a16="http://schemas.microsoft.com/office/drawing/2014/main" id="{66112DA1-3D03-4C9D-B14D-B9D4396631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409185" y="2869834"/>
              <a:ext cx="0" cy="561975"/>
            </a:xfrm>
            <a:prstGeom prst="straightConnector1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2" name="60 Elipse">
              <a:extLst>
                <a:ext uri="{FF2B5EF4-FFF2-40B4-BE49-F238E27FC236}">
                  <a16:creationId xmlns:a16="http://schemas.microsoft.com/office/drawing/2014/main" id="{0C293CD2-A4EF-404D-9656-2285E4877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6475" y="3379739"/>
              <a:ext cx="160338" cy="1508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3" name="60 Elipse">
              <a:extLst>
                <a:ext uri="{FF2B5EF4-FFF2-40B4-BE49-F238E27FC236}">
                  <a16:creationId xmlns:a16="http://schemas.microsoft.com/office/drawing/2014/main" id="{AD14F7DF-5D72-4BEC-BB4D-4A6D43524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8751" y="2353782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74" name="62 Conector recto de flecha">
              <a:extLst>
                <a:ext uri="{FF2B5EF4-FFF2-40B4-BE49-F238E27FC236}">
                  <a16:creationId xmlns:a16="http://schemas.microsoft.com/office/drawing/2014/main" id="{1E1D9858-0D7F-4A45-86A1-96E1501320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8772525" y="2511034"/>
              <a:ext cx="1588" cy="1281113"/>
            </a:xfrm>
            <a:prstGeom prst="straightConnector1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5" name="60 Elipse">
              <a:extLst>
                <a:ext uri="{FF2B5EF4-FFF2-40B4-BE49-F238E27FC236}">
                  <a16:creationId xmlns:a16="http://schemas.microsoft.com/office/drawing/2014/main" id="{0959AE20-FF74-4860-BB87-2FB39C069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2401" y="3744432"/>
              <a:ext cx="160338" cy="150813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88" name="Text Box 38">
            <a:extLst>
              <a:ext uri="{FF2B5EF4-FFF2-40B4-BE49-F238E27FC236}">
                <a16:creationId xmlns:a16="http://schemas.microsoft.com/office/drawing/2014/main" id="{00FB199E-146B-41A7-AFB6-02E67D6DB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758" y="5429995"/>
            <a:ext cx="8385324" cy="97858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En el Si, p.ej., se alcanza una concentración </a:t>
            </a:r>
            <a:r>
              <a:rPr lang="en-U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~10</a:t>
            </a:r>
            <a:r>
              <a:rPr lang="en-US" sz="2400" baseline="300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sz="2400" baseline="300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/cm</a:t>
            </a:r>
            <a:r>
              <a:rPr lang="en-US" sz="2400" baseline="300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BC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(que es mucho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que la de conductores: ~10</a:t>
            </a:r>
            <a:r>
              <a:rPr lang="en-US" sz="2400" baseline="3000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A50A3C3-47CE-24B1-4C5D-4C159BF3D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098" y="351627"/>
            <a:ext cx="3620881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CLASIFICACIÓN</a:t>
            </a:r>
          </a:p>
        </p:txBody>
      </p:sp>
      <p:sp>
        <p:nvSpPr>
          <p:cNvPr id="9" name="Text Box 17">
            <a:extLst>
              <a:ext uri="{FF2B5EF4-FFF2-40B4-BE49-F238E27FC236}">
                <a16:creationId xmlns:a16="http://schemas.microsoft.com/office/drawing/2014/main" id="{6D8CB562-EBA6-87F0-F16B-C3CABDF92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5415" y="1078588"/>
            <a:ext cx="1947149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Aislante</a:t>
            </a:r>
            <a:endParaRPr lang="es-ES" sz="2000">
              <a:latin typeface="Arial" panose="020B0604020202020204" pitchFamily="34" charset="0"/>
            </a:endParaRP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937F8902-93E8-6653-4B72-433026575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6819" y="1096051"/>
            <a:ext cx="2236808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Semiconductor</a:t>
            </a:r>
          </a:p>
        </p:txBody>
      </p:sp>
      <p:sp>
        <p:nvSpPr>
          <p:cNvPr id="11" name="Text Box 42">
            <a:extLst>
              <a:ext uri="{FF2B5EF4-FFF2-40B4-BE49-F238E27FC236}">
                <a16:creationId xmlns:a16="http://schemas.microsoft.com/office/drawing/2014/main" id="{2F0E484C-0F0E-CB9E-59BD-00FFDDEA1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782" y="349672"/>
            <a:ext cx="1174850" cy="5147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T &gt; 0 K</a:t>
            </a:r>
          </a:p>
        </p:txBody>
      </p:sp>
      <p:sp>
        <p:nvSpPr>
          <p:cNvPr id="12" name="Text Box 36">
            <a:extLst>
              <a:ext uri="{FF2B5EF4-FFF2-40B4-BE49-F238E27FC236}">
                <a16:creationId xmlns:a16="http://schemas.microsoft.com/office/drawing/2014/main" id="{4EF8D0B0-8E0C-11C0-686B-C963B7584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202" y="1088113"/>
            <a:ext cx="1920090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2</a:t>
            </a:r>
          </a:p>
        </p:txBody>
      </p:sp>
      <p:sp>
        <p:nvSpPr>
          <p:cNvPr id="13" name="Text Box 19">
            <a:extLst>
              <a:ext uri="{FF2B5EF4-FFF2-40B4-BE49-F238E27FC236}">
                <a16:creationId xmlns:a16="http://schemas.microsoft.com/office/drawing/2014/main" id="{EFA83F11-6458-B0BA-AA6B-B778343C1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676" y="1081763"/>
            <a:ext cx="1942977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1</a:t>
            </a:r>
          </a:p>
        </p:txBody>
      </p:sp>
    </p:spTree>
    <p:extLst>
      <p:ext uri="{BB962C8B-B14F-4D97-AF65-F5344CB8AC3E}">
        <p14:creationId xmlns:p14="http://schemas.microsoft.com/office/powerpoint/2010/main" val="24531391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95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9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5014" grpId="0" animBg="1"/>
      <p:bldP spid="104" grpId="0" animBg="1"/>
      <p:bldP spid="18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upo 162">
            <a:extLst>
              <a:ext uri="{FF2B5EF4-FFF2-40B4-BE49-F238E27FC236}">
                <a16:creationId xmlns:a16="http://schemas.microsoft.com/office/drawing/2014/main" id="{AC67BC0E-8CA0-44F1-8D01-D438762CDE18}"/>
              </a:ext>
            </a:extLst>
          </p:cNvPr>
          <p:cNvGrpSpPr/>
          <p:nvPr/>
        </p:nvGrpSpPr>
        <p:grpSpPr>
          <a:xfrm>
            <a:off x="1521843" y="1622939"/>
            <a:ext cx="8859569" cy="2705100"/>
            <a:chOff x="1521843" y="1856862"/>
            <a:chExt cx="8859569" cy="2705100"/>
          </a:xfrm>
        </p:grpSpPr>
        <p:sp>
          <p:nvSpPr>
            <p:cNvPr id="164" name="Rectangle 15">
              <a:extLst>
                <a:ext uri="{FF2B5EF4-FFF2-40B4-BE49-F238E27FC236}">
                  <a16:creationId xmlns:a16="http://schemas.microsoft.com/office/drawing/2014/main" id="{CF12A68D-B87D-449A-8254-18E2B945C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0212" y="1929887"/>
              <a:ext cx="1412875" cy="70485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5" name="Rectangle 16">
              <a:extLst>
                <a:ext uri="{FF2B5EF4-FFF2-40B4-BE49-F238E27FC236}">
                  <a16:creationId xmlns:a16="http://schemas.microsoft.com/office/drawing/2014/main" id="{403B1F6C-84F2-4CAE-A8AC-606182C43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0212" y="3857112"/>
              <a:ext cx="1412875" cy="7048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6" name="Text Box 20">
              <a:extLst>
                <a:ext uri="{FF2B5EF4-FFF2-40B4-BE49-F238E27FC236}">
                  <a16:creationId xmlns:a16="http://schemas.microsoft.com/office/drawing/2014/main" id="{3FD52E96-899B-409D-8175-EC87FF175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0899" y="3950774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67" name="Text Box 24">
              <a:extLst>
                <a:ext uri="{FF2B5EF4-FFF2-40B4-BE49-F238E27FC236}">
                  <a16:creationId xmlns:a16="http://schemas.microsoft.com/office/drawing/2014/main" id="{79EF3BFC-D196-4716-9E1D-8801311C5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32137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68" name="Text Box 25">
              <a:extLst>
                <a:ext uri="{FF2B5EF4-FFF2-40B4-BE49-F238E27FC236}">
                  <a16:creationId xmlns:a16="http://schemas.microsoft.com/office/drawing/2014/main" id="{E7E383C7-7C40-435C-AEC6-83A81D5B9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17849" y="3931724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69" name="Text Box 28">
              <a:extLst>
                <a:ext uri="{FF2B5EF4-FFF2-40B4-BE49-F238E27FC236}">
                  <a16:creationId xmlns:a16="http://schemas.microsoft.com/office/drawing/2014/main" id="{FDDD0148-2E7C-4F36-9237-7CDF2FAFB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92374" y="2661724"/>
              <a:ext cx="1171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Varios eV</a:t>
              </a:r>
            </a:p>
          </p:txBody>
        </p:sp>
        <p:sp>
          <p:nvSpPr>
            <p:cNvPr id="170" name="Rectangle 13">
              <a:extLst>
                <a:ext uri="{FF2B5EF4-FFF2-40B4-BE49-F238E27FC236}">
                  <a16:creationId xmlns:a16="http://schemas.microsoft.com/office/drawing/2014/main" id="{C429E4A6-5414-4E19-877F-548EB24EC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3684" y="1917187"/>
              <a:ext cx="1412875" cy="113506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1" name="Rectangle 14">
              <a:extLst>
                <a:ext uri="{FF2B5EF4-FFF2-40B4-BE49-F238E27FC236}">
                  <a16:creationId xmlns:a16="http://schemas.microsoft.com/office/drawing/2014/main" id="{BF84F236-4AFF-4777-BA7F-4167173B6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3684" y="3496749"/>
              <a:ext cx="1412875" cy="105092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2" name="Text Box 21">
              <a:extLst>
                <a:ext uri="{FF2B5EF4-FFF2-40B4-BE49-F238E27FC236}">
                  <a16:creationId xmlns:a16="http://schemas.microsoft.com/office/drawing/2014/main" id="{86FF5F96-7B04-4492-93CC-444B22EB6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4847" y="3950774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73" name="Text Box 26">
              <a:extLst>
                <a:ext uri="{FF2B5EF4-FFF2-40B4-BE49-F238E27FC236}">
                  <a16:creationId xmlns:a16="http://schemas.microsoft.com/office/drawing/2014/main" id="{6F4761C0-A435-494B-B6F1-F6754C044A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7997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74" name="Text Box 27">
              <a:extLst>
                <a:ext uri="{FF2B5EF4-FFF2-40B4-BE49-F238E27FC236}">
                  <a16:creationId xmlns:a16="http://schemas.microsoft.com/office/drawing/2014/main" id="{8D3F588A-B315-43AF-96C9-D4BE02F6E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3709" y="3931724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75" name="Rectangle 10">
              <a:extLst>
                <a:ext uri="{FF2B5EF4-FFF2-40B4-BE49-F238E27FC236}">
                  <a16:creationId xmlns:a16="http://schemas.microsoft.com/office/drawing/2014/main" id="{60D78D5C-494E-4EBE-9D32-DF65C73FB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644" y="1926712"/>
              <a:ext cx="1412875" cy="112077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6" name="Rectangle 12">
              <a:extLst>
                <a:ext uri="{FF2B5EF4-FFF2-40B4-BE49-F238E27FC236}">
                  <a16:creationId xmlns:a16="http://schemas.microsoft.com/office/drawing/2014/main" id="{B6618E19-0D08-46BA-B8B3-07149C7F9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294" y="3491987"/>
              <a:ext cx="1412875" cy="103822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7" name="Text Box 32">
              <a:extLst>
                <a:ext uri="{FF2B5EF4-FFF2-40B4-BE49-F238E27FC236}">
                  <a16:creationId xmlns:a16="http://schemas.microsoft.com/office/drawing/2014/main" id="{C99A2436-7839-41FF-8ACC-CFC851319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2819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78" name="Text Box 33">
              <a:extLst>
                <a:ext uri="{FF2B5EF4-FFF2-40B4-BE49-F238E27FC236}">
                  <a16:creationId xmlns:a16="http://schemas.microsoft.com/office/drawing/2014/main" id="{BF7BE642-5A09-4215-BED7-9838287E2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531" y="3931724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79" name="Line 39">
              <a:extLst>
                <a:ext uri="{FF2B5EF4-FFF2-40B4-BE49-F238E27FC236}">
                  <a16:creationId xmlns:a16="http://schemas.microsoft.com/office/drawing/2014/main" id="{6AEA2442-97BA-4020-95E3-7E04D597AD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5819" y="3658674"/>
              <a:ext cx="1414462" cy="465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80" name="Text Box 22">
              <a:extLst>
                <a:ext uri="{FF2B5EF4-FFF2-40B4-BE49-F238E27FC236}">
                  <a16:creationId xmlns:a16="http://schemas.microsoft.com/office/drawing/2014/main" id="{EBF8418A-26DC-4D40-8F76-F9E8F6444D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144" y="3933312"/>
              <a:ext cx="77152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8000" tIns="118800" rIns="18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81" name="Rectangle 8">
              <a:extLst>
                <a:ext uri="{FF2B5EF4-FFF2-40B4-BE49-F238E27FC236}">
                  <a16:creationId xmlns:a16="http://schemas.microsoft.com/office/drawing/2014/main" id="{9001BD3B-E4E8-426E-B4D4-4BE69F7D0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3828" y="1928299"/>
              <a:ext cx="1412875" cy="145256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2" name="Rectangle 9">
              <a:extLst>
                <a:ext uri="{FF2B5EF4-FFF2-40B4-BE49-F238E27FC236}">
                  <a16:creationId xmlns:a16="http://schemas.microsoft.com/office/drawing/2014/main" id="{5392B6E0-D5D3-4895-9E3E-0DDE84A00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703" y="3355551"/>
              <a:ext cx="1412875" cy="11239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3" name="Text Box 23">
              <a:extLst>
                <a:ext uri="{FF2B5EF4-FFF2-40B4-BE49-F238E27FC236}">
                  <a16:creationId xmlns:a16="http://schemas.microsoft.com/office/drawing/2014/main" id="{0135AE38-0E13-4014-B322-988A7415F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4353" y="3940500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84" name="Text Box 34">
              <a:extLst>
                <a:ext uri="{FF2B5EF4-FFF2-40B4-BE49-F238E27FC236}">
                  <a16:creationId xmlns:a16="http://schemas.microsoft.com/office/drawing/2014/main" id="{41370F90-7670-41FD-9774-348AF057B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5278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85" name="Text Box 35">
              <a:extLst>
                <a:ext uri="{FF2B5EF4-FFF2-40B4-BE49-F238E27FC236}">
                  <a16:creationId xmlns:a16="http://schemas.microsoft.com/office/drawing/2014/main" id="{DA0DF5B2-7678-425C-9F13-3F2A281C2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991" y="3931724"/>
              <a:ext cx="534987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86" name="Text Box 53">
              <a:extLst>
                <a:ext uri="{FF2B5EF4-FFF2-40B4-BE49-F238E27FC236}">
                  <a16:creationId xmlns:a16="http://schemas.microsoft.com/office/drawing/2014/main" id="{55F18768-0BFE-4EFB-A70D-866475952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8997" y="2625122"/>
              <a:ext cx="636587" cy="547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gap</a:t>
              </a:r>
            </a:p>
          </p:txBody>
        </p:sp>
        <p:sp>
          <p:nvSpPr>
            <p:cNvPr id="187" name="49 Triángulo isósceles">
              <a:extLst>
                <a:ext uri="{FF2B5EF4-FFF2-40B4-BE49-F238E27FC236}">
                  <a16:creationId xmlns:a16="http://schemas.microsoft.com/office/drawing/2014/main" id="{E03A28BA-C3A1-4909-80AA-2E75D05B821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890822" y="2560124"/>
              <a:ext cx="1458912" cy="504825"/>
            </a:xfrm>
            <a:prstGeom prst="triangle">
              <a:avLst>
                <a:gd name="adj" fmla="val 0"/>
              </a:avLst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8" name="50 Triángulo isósceles">
              <a:extLst>
                <a:ext uri="{FF2B5EF4-FFF2-40B4-BE49-F238E27FC236}">
                  <a16:creationId xmlns:a16="http://schemas.microsoft.com/office/drawing/2014/main" id="{639567A9-30FD-4BB9-9300-C0856AEE216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362112" y="2144199"/>
              <a:ext cx="1458912" cy="504825"/>
            </a:xfrm>
            <a:prstGeom prst="triangle">
              <a:avLst>
                <a:gd name="adj" fmla="val 0"/>
              </a:avLst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9" name="51 Triángulo isósceles">
              <a:extLst>
                <a:ext uri="{FF2B5EF4-FFF2-40B4-BE49-F238E27FC236}">
                  <a16:creationId xmlns:a16="http://schemas.microsoft.com/office/drawing/2014/main" id="{5C2F2260-2F11-4980-B545-A3BA9D1EE6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16606" y="2542662"/>
              <a:ext cx="1458913" cy="506412"/>
            </a:xfrm>
            <a:prstGeom prst="triangle">
              <a:avLst>
                <a:gd name="adj" fmla="val 0"/>
              </a:avLst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0" name="51 Triángulo isósceles">
              <a:extLst>
                <a:ext uri="{FF2B5EF4-FFF2-40B4-BE49-F238E27FC236}">
                  <a16:creationId xmlns:a16="http://schemas.microsoft.com/office/drawing/2014/main" id="{396531CD-CC10-408F-B314-D3A0AC62D7D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71715" y="2894248"/>
              <a:ext cx="1458912" cy="506413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1" name="51 Triángulo isósceles">
              <a:extLst>
                <a:ext uri="{FF2B5EF4-FFF2-40B4-BE49-F238E27FC236}">
                  <a16:creationId xmlns:a16="http://schemas.microsoft.com/office/drawing/2014/main" id="{4E776132-4E43-43B1-8D8D-2D43E0A4FC1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895584" y="2988749"/>
              <a:ext cx="1458913" cy="506413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2" name="52 Triángulo isósceles">
              <a:extLst>
                <a:ext uri="{FF2B5EF4-FFF2-40B4-BE49-F238E27FC236}">
                  <a16:creationId xmlns:a16="http://schemas.microsoft.com/office/drawing/2014/main" id="{2FA8A00F-5B7C-4F15-B1C2-A5A809C09E9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365287" y="3349112"/>
              <a:ext cx="1458912" cy="506412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3" name="Line 29">
              <a:extLst>
                <a:ext uri="{FF2B5EF4-FFF2-40B4-BE49-F238E27FC236}">
                  <a16:creationId xmlns:a16="http://schemas.microsoft.com/office/drawing/2014/main" id="{5E7BFD11-C2D5-4ACA-82BC-1294BD1E7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162" y="2410899"/>
              <a:ext cx="0" cy="11303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94" name="Text Box 30">
              <a:extLst>
                <a:ext uri="{FF2B5EF4-FFF2-40B4-BE49-F238E27FC236}">
                  <a16:creationId xmlns:a16="http://schemas.microsoft.com/office/drawing/2014/main" id="{5C125F7F-D685-432F-9347-4482592DC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018" y="2667895"/>
              <a:ext cx="839787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 </a:t>
              </a: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1 eV</a:t>
              </a:r>
            </a:p>
          </p:txBody>
        </p:sp>
        <p:sp>
          <p:nvSpPr>
            <p:cNvPr id="195" name="Line 31">
              <a:extLst>
                <a:ext uri="{FF2B5EF4-FFF2-40B4-BE49-F238E27FC236}">
                  <a16:creationId xmlns:a16="http://schemas.microsoft.com/office/drawing/2014/main" id="{36103A52-110E-489B-8CD5-D17624D25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70284" y="2815712"/>
              <a:ext cx="0" cy="43497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96" name="Line 39">
              <a:extLst>
                <a:ext uri="{FF2B5EF4-FFF2-40B4-BE49-F238E27FC236}">
                  <a16:creationId xmlns:a16="http://schemas.microsoft.com/office/drawing/2014/main" id="{163F7718-7753-474D-A9BF-74B94246A9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128" y="2710937"/>
              <a:ext cx="1414463" cy="465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97" name="Line 39">
              <a:extLst>
                <a:ext uri="{FF2B5EF4-FFF2-40B4-BE49-F238E27FC236}">
                  <a16:creationId xmlns:a16="http://schemas.microsoft.com/office/drawing/2014/main" id="{506C0FCB-5A33-4CFD-ABC9-E8276DB414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2241" y="2939537"/>
              <a:ext cx="1414462" cy="465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98" name="51 Triángulo isósceles">
              <a:extLst>
                <a:ext uri="{FF2B5EF4-FFF2-40B4-BE49-F238E27FC236}">
                  <a16:creationId xmlns:a16="http://schemas.microsoft.com/office/drawing/2014/main" id="{EE36C0A0-C2A6-4132-A10F-9A21967F8F7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19781" y="2988749"/>
              <a:ext cx="1458913" cy="506413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9" name="Text Box 28">
              <a:extLst>
                <a:ext uri="{FF2B5EF4-FFF2-40B4-BE49-F238E27FC236}">
                  <a16:creationId xmlns:a16="http://schemas.microsoft.com/office/drawing/2014/main" id="{AF11EC9F-363D-4C70-A5CB-3799582B9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1491" y="2069587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00" name="Text Box 28">
              <a:extLst>
                <a:ext uri="{FF2B5EF4-FFF2-40B4-BE49-F238E27FC236}">
                  <a16:creationId xmlns:a16="http://schemas.microsoft.com/office/drawing/2014/main" id="{25C3566D-5B34-420A-8E1B-A56562563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731" y="2099749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01" name="Text Box 28">
              <a:extLst>
                <a:ext uri="{FF2B5EF4-FFF2-40B4-BE49-F238E27FC236}">
                  <a16:creationId xmlns:a16="http://schemas.microsoft.com/office/drawing/2014/main" id="{334F9333-489B-4380-9DB6-2156CE387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6584" y="2129912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02" name="Text Box 28">
              <a:extLst>
                <a:ext uri="{FF2B5EF4-FFF2-40B4-BE49-F238E27FC236}">
                  <a16:creationId xmlns:a16="http://schemas.microsoft.com/office/drawing/2014/main" id="{674404DB-BF9E-4C95-92AB-973D6786F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9774" y="1856862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03" name="Text Box 37">
              <a:extLst>
                <a:ext uri="{FF2B5EF4-FFF2-40B4-BE49-F238E27FC236}">
                  <a16:creationId xmlns:a16="http://schemas.microsoft.com/office/drawing/2014/main" id="{2C810AC6-0694-4746-9CF4-BAD12A058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80000">
              <a:off x="1521843" y="2867261"/>
              <a:ext cx="1590675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superposición</a:t>
              </a:r>
            </a:p>
          </p:txBody>
        </p:sp>
        <p:sp>
          <p:nvSpPr>
            <p:cNvPr id="204" name="Text Box 28">
              <a:extLst>
                <a:ext uri="{FF2B5EF4-FFF2-40B4-BE49-F238E27FC236}">
                  <a16:creationId xmlns:a16="http://schemas.microsoft.com/office/drawing/2014/main" id="{4F1EB22B-561B-403D-9010-56B2693B85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544" y="3311012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</p:grpSp>
      <p:grpSp>
        <p:nvGrpSpPr>
          <p:cNvPr id="205" name="Group 65">
            <a:extLst>
              <a:ext uri="{FF2B5EF4-FFF2-40B4-BE49-F238E27FC236}">
                <a16:creationId xmlns:a16="http://schemas.microsoft.com/office/drawing/2014/main" id="{E4406856-319F-4363-B884-31912F7A87A6}"/>
              </a:ext>
            </a:extLst>
          </p:cNvPr>
          <p:cNvGrpSpPr>
            <a:grpSpLocks/>
          </p:cNvGrpSpPr>
          <p:nvPr/>
        </p:nvGrpSpPr>
        <p:grpSpPr bwMode="auto">
          <a:xfrm>
            <a:off x="160420" y="2625261"/>
            <a:ext cx="1150938" cy="682625"/>
            <a:chOff x="199" y="2712"/>
            <a:chExt cx="725" cy="430"/>
          </a:xfrm>
        </p:grpSpPr>
        <p:sp>
          <p:nvSpPr>
            <p:cNvPr id="206" name="Rectangle 66">
              <a:extLst>
                <a:ext uri="{FF2B5EF4-FFF2-40B4-BE49-F238E27FC236}">
                  <a16:creationId xmlns:a16="http://schemas.microsoft.com/office/drawing/2014/main" id="{41902641-8FE3-4DD1-9558-EA7B2500D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2712"/>
              <a:ext cx="725" cy="4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7" name="Text Box 67">
              <a:extLst>
                <a:ext uri="{FF2B5EF4-FFF2-40B4-BE49-F238E27FC236}">
                  <a16:creationId xmlns:a16="http://schemas.microsoft.com/office/drawing/2014/main" id="{08CF1B26-EF26-41E9-9D7E-158428E27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723"/>
              <a:ext cx="263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b="1">
                  <a:solidFill>
                    <a:srgbClr val="FF33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208" name="Line 68">
              <a:extLst>
                <a:ext uri="{FF2B5EF4-FFF2-40B4-BE49-F238E27FC236}">
                  <a16:creationId xmlns:a16="http://schemas.microsoft.com/office/drawing/2014/main" id="{52A178C3-EA73-409B-9A29-118D675DA6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" y="2808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09" name="AutoShape 69">
              <a:extLst>
                <a:ext uri="{FF2B5EF4-FFF2-40B4-BE49-F238E27FC236}">
                  <a16:creationId xmlns:a16="http://schemas.microsoft.com/office/drawing/2014/main" id="{5F93A818-ACA6-4214-B179-8A15B7E51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" y="2838"/>
              <a:ext cx="219" cy="168"/>
            </a:xfrm>
            <a:prstGeom prst="rightArrow">
              <a:avLst>
                <a:gd name="adj1" fmla="val 50000"/>
                <a:gd name="adj2" fmla="val 32589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8510" name="Text Box 40"/>
          <p:cNvSpPr txBox="1">
            <a:spLocks noChangeArrowheads="1"/>
          </p:cNvSpPr>
          <p:nvPr/>
        </p:nvSpPr>
        <p:spPr bwMode="auto">
          <a:xfrm>
            <a:off x="1329456" y="4332474"/>
            <a:ext cx="9013108" cy="978584"/>
          </a:xfrm>
          <a:prstGeom prst="rect">
            <a:avLst/>
          </a:prstGeom>
          <a:noFill/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Al aplicar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, los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 que han roto el enlace pueden moverse en sentido contrario, porque pueden acceder a niveles con vacantes</a:t>
            </a:r>
          </a:p>
        </p:txBody>
      </p:sp>
      <p:sp>
        <p:nvSpPr>
          <p:cNvPr id="16398" name="Text Box 41"/>
          <p:cNvSpPr txBox="1">
            <a:spLocks noChangeArrowheads="1"/>
          </p:cNvSpPr>
          <p:nvPr/>
        </p:nvSpPr>
        <p:spPr bwMode="auto">
          <a:xfrm>
            <a:off x="1239228" y="5188711"/>
            <a:ext cx="8677657" cy="978584"/>
          </a:xfrm>
          <a:prstGeom prst="rect">
            <a:avLst/>
          </a:prstGeom>
          <a:noFill/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Y los que no han roto el enlace, ir a las vacantes que dejan, o a las que dejan los que las ocupan</a:t>
            </a:r>
            <a:endParaRPr lang="es-ES" sz="2400" b="1">
              <a:latin typeface="Arial" panose="020B0604020202020204" pitchFamily="34" charset="0"/>
            </a:endParaRPr>
          </a:p>
        </p:txBody>
      </p:sp>
      <p:cxnSp>
        <p:nvCxnSpPr>
          <p:cNvPr id="31818" name="62 Conector recto de flecha"/>
          <p:cNvCxnSpPr>
            <a:cxnSpLocks noChangeShapeType="1"/>
          </p:cNvCxnSpPr>
          <p:nvPr/>
        </p:nvCxnSpPr>
        <p:spPr bwMode="auto">
          <a:xfrm rot="10800000">
            <a:off x="1778000" y="2660094"/>
            <a:ext cx="527050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9" name="62 Conector recto de flecha"/>
          <p:cNvCxnSpPr>
            <a:cxnSpLocks noChangeShapeType="1"/>
          </p:cNvCxnSpPr>
          <p:nvPr/>
        </p:nvCxnSpPr>
        <p:spPr bwMode="auto">
          <a:xfrm rot="10800000">
            <a:off x="3900488" y="3506233"/>
            <a:ext cx="527050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0" name="62 Conector recto de flecha"/>
          <p:cNvCxnSpPr>
            <a:cxnSpLocks noChangeShapeType="1"/>
          </p:cNvCxnSpPr>
          <p:nvPr/>
        </p:nvCxnSpPr>
        <p:spPr bwMode="auto">
          <a:xfrm rot="10800000">
            <a:off x="5954713" y="2555318"/>
            <a:ext cx="381000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1" name="62 Conector recto de flecha"/>
          <p:cNvCxnSpPr>
            <a:cxnSpLocks noChangeShapeType="1"/>
          </p:cNvCxnSpPr>
          <p:nvPr/>
        </p:nvCxnSpPr>
        <p:spPr bwMode="auto">
          <a:xfrm rot="10800000">
            <a:off x="8405813" y="2179080"/>
            <a:ext cx="381000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691" name="Text Box 83"/>
          <p:cNvSpPr txBox="1">
            <a:spLocks noChangeArrowheads="1"/>
          </p:cNvSpPr>
          <p:nvPr/>
        </p:nvSpPr>
        <p:spPr bwMode="auto">
          <a:xfrm>
            <a:off x="1831212" y="6176031"/>
            <a:ext cx="7874763" cy="6092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Puede haber conducción (corriente) en todos a T &gt; 0 K</a:t>
            </a:r>
          </a:p>
        </p:txBody>
      </p:sp>
      <p:grpSp>
        <p:nvGrpSpPr>
          <p:cNvPr id="134" name="Grupo 133"/>
          <p:cNvGrpSpPr/>
          <p:nvPr/>
        </p:nvGrpSpPr>
        <p:grpSpPr>
          <a:xfrm>
            <a:off x="2229566" y="2119856"/>
            <a:ext cx="6629523" cy="1771561"/>
            <a:chOff x="2229566" y="2353782"/>
            <a:chExt cx="6629523" cy="1771561"/>
          </a:xfrm>
        </p:grpSpPr>
        <p:grpSp>
          <p:nvGrpSpPr>
            <p:cNvPr id="135" name="Grupo 134"/>
            <p:cNvGrpSpPr/>
            <p:nvPr/>
          </p:nvGrpSpPr>
          <p:grpSpPr>
            <a:xfrm>
              <a:off x="2229566" y="2828219"/>
              <a:ext cx="166688" cy="502157"/>
              <a:chOff x="2229566" y="2828219"/>
              <a:chExt cx="166688" cy="502157"/>
            </a:xfrm>
          </p:grpSpPr>
          <p:sp>
            <p:nvSpPr>
              <p:cNvPr id="146" name="60 Elipse"/>
              <p:cNvSpPr>
                <a:spLocks noChangeArrowheads="1"/>
              </p:cNvSpPr>
              <p:nvPr/>
            </p:nvSpPr>
            <p:spPr bwMode="auto">
              <a:xfrm>
                <a:off x="2235916" y="2828219"/>
                <a:ext cx="160338" cy="15081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47" name="62 Conector recto de flecha"/>
              <p:cNvCxnSpPr>
                <a:cxnSpLocks noChangeShapeType="1"/>
              </p:cNvCxnSpPr>
              <p:nvPr/>
            </p:nvCxnSpPr>
            <p:spPr bwMode="auto">
              <a:xfrm flipH="1" flipV="1">
                <a:off x="2315291" y="2964221"/>
                <a:ext cx="0" cy="201612"/>
              </a:xfrm>
              <a:prstGeom prst="straightConnector1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8" name="60 Elipse"/>
              <p:cNvSpPr>
                <a:spLocks noChangeArrowheads="1"/>
              </p:cNvSpPr>
              <p:nvPr/>
            </p:nvSpPr>
            <p:spPr bwMode="auto">
              <a:xfrm>
                <a:off x="2229566" y="3179564"/>
                <a:ext cx="160338" cy="150812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FF0000"/>
                </a:solidFill>
                <a:round/>
                <a:headEnd/>
                <a:tailEnd type="none" w="lg" len="lg"/>
              </a:ln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6" name="Grupo 135"/>
            <p:cNvGrpSpPr/>
            <p:nvPr/>
          </p:nvGrpSpPr>
          <p:grpSpPr>
            <a:xfrm>
              <a:off x="4354301" y="3663380"/>
              <a:ext cx="166687" cy="461963"/>
              <a:chOff x="4354301" y="3663380"/>
              <a:chExt cx="166687" cy="461963"/>
            </a:xfrm>
          </p:grpSpPr>
          <p:sp>
            <p:nvSpPr>
              <p:cNvPr id="143" name="60 Elipse"/>
              <p:cNvSpPr>
                <a:spLocks noChangeArrowheads="1"/>
              </p:cNvSpPr>
              <p:nvPr/>
            </p:nvSpPr>
            <p:spPr bwMode="auto">
              <a:xfrm>
                <a:off x="4360651" y="3663380"/>
                <a:ext cx="160337" cy="15081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44" name="62 Conector recto de flecha"/>
              <p:cNvCxnSpPr>
                <a:cxnSpLocks noChangeShapeType="1"/>
              </p:cNvCxnSpPr>
              <p:nvPr/>
            </p:nvCxnSpPr>
            <p:spPr bwMode="auto">
              <a:xfrm flipH="1" flipV="1">
                <a:off x="4440026" y="3809430"/>
                <a:ext cx="0" cy="201613"/>
              </a:xfrm>
              <a:prstGeom prst="straightConnector1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5" name="60 Elipse"/>
              <p:cNvSpPr>
                <a:spLocks noChangeArrowheads="1"/>
              </p:cNvSpPr>
              <p:nvPr/>
            </p:nvSpPr>
            <p:spPr bwMode="auto">
              <a:xfrm>
                <a:off x="4354301" y="3974530"/>
                <a:ext cx="160337" cy="150813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FF0000"/>
                </a:solidFill>
                <a:round/>
                <a:headEnd/>
                <a:tailEnd type="none" w="lg" len="lg"/>
              </a:ln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7" name="60 Elipse"/>
            <p:cNvSpPr>
              <a:spLocks noChangeArrowheads="1"/>
            </p:cNvSpPr>
            <p:nvPr/>
          </p:nvSpPr>
          <p:spPr bwMode="auto">
            <a:xfrm>
              <a:off x="6325137" y="2705369"/>
              <a:ext cx="160338" cy="15081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38" name="62 Conector recto de flecha"/>
            <p:cNvCxnSpPr>
              <a:cxnSpLocks noChangeShapeType="1"/>
            </p:cNvCxnSpPr>
            <p:nvPr/>
          </p:nvCxnSpPr>
          <p:spPr bwMode="auto">
            <a:xfrm flipH="1" flipV="1">
              <a:off x="6409185" y="2835544"/>
              <a:ext cx="0" cy="561975"/>
            </a:xfrm>
            <a:prstGeom prst="straightConnector1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9" name="60 Elipse"/>
            <p:cNvSpPr>
              <a:spLocks noChangeArrowheads="1"/>
            </p:cNvSpPr>
            <p:nvPr/>
          </p:nvSpPr>
          <p:spPr bwMode="auto">
            <a:xfrm>
              <a:off x="6339335" y="3334019"/>
              <a:ext cx="160338" cy="1508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0" name="60 Elipse"/>
            <p:cNvSpPr>
              <a:spLocks noChangeArrowheads="1"/>
            </p:cNvSpPr>
            <p:nvPr/>
          </p:nvSpPr>
          <p:spPr bwMode="auto">
            <a:xfrm>
              <a:off x="8698751" y="2353782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41" name="62 Conector recto de flecha"/>
            <p:cNvCxnSpPr>
              <a:cxnSpLocks noChangeShapeType="1"/>
            </p:cNvCxnSpPr>
            <p:nvPr/>
          </p:nvCxnSpPr>
          <p:spPr bwMode="auto">
            <a:xfrm flipH="1" flipV="1">
              <a:off x="8772525" y="2511034"/>
              <a:ext cx="1588" cy="1281113"/>
            </a:xfrm>
            <a:prstGeom prst="straightConnector1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2" name="60 Elipse"/>
            <p:cNvSpPr>
              <a:spLocks noChangeArrowheads="1"/>
            </p:cNvSpPr>
            <p:nvPr/>
          </p:nvSpPr>
          <p:spPr bwMode="auto">
            <a:xfrm>
              <a:off x="8692401" y="3744432"/>
              <a:ext cx="160338" cy="150813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F875C16-C76B-43F3-A3A6-B11D2066F807}"/>
              </a:ext>
            </a:extLst>
          </p:cNvPr>
          <p:cNvGrpSpPr/>
          <p:nvPr/>
        </p:nvGrpSpPr>
        <p:grpSpPr>
          <a:xfrm>
            <a:off x="2739886" y="2986467"/>
            <a:ext cx="387351" cy="150813"/>
            <a:chOff x="2739886" y="5984862"/>
            <a:chExt cx="387351" cy="150813"/>
          </a:xfrm>
        </p:grpSpPr>
        <p:cxnSp>
          <p:nvCxnSpPr>
            <p:cNvPr id="123" name="62 Conector recto de flecha">
              <a:extLst>
                <a:ext uri="{FF2B5EF4-FFF2-40B4-BE49-F238E27FC236}">
                  <a16:creationId xmlns:a16="http://schemas.microsoft.com/office/drawing/2014/main" id="{703D40F9-CDC2-4E10-AE00-42699334FE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739886" y="6049950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4" name="60 Elipse">
              <a:extLst>
                <a:ext uri="{FF2B5EF4-FFF2-40B4-BE49-F238E27FC236}">
                  <a16:creationId xmlns:a16="http://schemas.microsoft.com/office/drawing/2014/main" id="{475E685B-1137-4F2E-95CB-1C7E5C3DA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899" y="5984862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E60C6838-7E1E-4B0D-809B-181E46340CB1}"/>
              </a:ext>
            </a:extLst>
          </p:cNvPr>
          <p:cNvGrpSpPr/>
          <p:nvPr/>
        </p:nvGrpSpPr>
        <p:grpSpPr>
          <a:xfrm>
            <a:off x="4846499" y="3775455"/>
            <a:ext cx="388938" cy="150813"/>
            <a:chOff x="4846499" y="6773850"/>
            <a:chExt cx="388938" cy="150813"/>
          </a:xfrm>
        </p:grpSpPr>
        <p:cxnSp>
          <p:nvCxnSpPr>
            <p:cNvPr id="125" name="62 Conector recto de flecha">
              <a:extLst>
                <a:ext uri="{FF2B5EF4-FFF2-40B4-BE49-F238E27FC236}">
                  <a16:creationId xmlns:a16="http://schemas.microsoft.com/office/drawing/2014/main" id="{511D2839-BD1E-4303-B4B7-6CA2DA37E8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846499" y="6842112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6" name="60 Elipse">
              <a:extLst>
                <a:ext uri="{FF2B5EF4-FFF2-40B4-BE49-F238E27FC236}">
                  <a16:creationId xmlns:a16="http://schemas.microsoft.com/office/drawing/2014/main" id="{10F59603-0247-4378-A96F-F8A19F58B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5099" y="6773850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2A75F4EB-77DC-4FEA-80FB-F36391627E7A}"/>
              </a:ext>
            </a:extLst>
          </p:cNvPr>
          <p:cNvGrpSpPr/>
          <p:nvPr/>
        </p:nvGrpSpPr>
        <p:grpSpPr>
          <a:xfrm>
            <a:off x="6819761" y="3148392"/>
            <a:ext cx="369888" cy="150813"/>
            <a:chOff x="6819761" y="6146787"/>
            <a:chExt cx="369888" cy="150813"/>
          </a:xfrm>
        </p:grpSpPr>
        <p:cxnSp>
          <p:nvCxnSpPr>
            <p:cNvPr id="127" name="62 Conector recto de flecha">
              <a:extLst>
                <a:ext uri="{FF2B5EF4-FFF2-40B4-BE49-F238E27FC236}">
                  <a16:creationId xmlns:a16="http://schemas.microsoft.com/office/drawing/2014/main" id="{AB26730B-A4AC-41B7-B3FC-7D25DD1A5F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819761" y="6208700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8" name="60 Elipse">
              <a:extLst>
                <a:ext uri="{FF2B5EF4-FFF2-40B4-BE49-F238E27FC236}">
                  <a16:creationId xmlns:a16="http://schemas.microsoft.com/office/drawing/2014/main" id="{020F5267-1F11-4FB2-BBD4-CEB08883F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9311" y="6146787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E351F61A-79BF-4FAA-8DF4-268CE425D010}"/>
              </a:ext>
            </a:extLst>
          </p:cNvPr>
          <p:cNvGrpSpPr/>
          <p:nvPr/>
        </p:nvGrpSpPr>
        <p:grpSpPr>
          <a:xfrm>
            <a:off x="9161901" y="3503848"/>
            <a:ext cx="333375" cy="150813"/>
            <a:chOff x="9161901" y="6502243"/>
            <a:chExt cx="333375" cy="150813"/>
          </a:xfrm>
        </p:grpSpPr>
        <p:cxnSp>
          <p:nvCxnSpPr>
            <p:cNvPr id="133" name="62 Conector recto de flecha">
              <a:extLst>
                <a:ext uri="{FF2B5EF4-FFF2-40B4-BE49-F238E27FC236}">
                  <a16:creationId xmlns:a16="http://schemas.microsoft.com/office/drawing/2014/main" id="{B3605F1B-5DE1-4BFE-9AC5-8EB89BE330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9161901" y="6586380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6" name="60 Elipse">
              <a:extLst>
                <a:ext uri="{FF2B5EF4-FFF2-40B4-BE49-F238E27FC236}">
                  <a16:creationId xmlns:a16="http://schemas.microsoft.com/office/drawing/2014/main" id="{3407E7CF-1161-4EEB-94E9-9E9921303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34938" y="6502243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21D2A282-1A11-4645-8AAF-F5AAD3CC62A3}"/>
              </a:ext>
            </a:extLst>
          </p:cNvPr>
          <p:cNvGrpSpPr/>
          <p:nvPr/>
        </p:nvGrpSpPr>
        <p:grpSpPr>
          <a:xfrm>
            <a:off x="2379674" y="2958554"/>
            <a:ext cx="387351" cy="150813"/>
            <a:chOff x="2379674" y="5786819"/>
            <a:chExt cx="387351" cy="150813"/>
          </a:xfrm>
        </p:grpSpPr>
        <p:cxnSp>
          <p:nvCxnSpPr>
            <p:cNvPr id="31810" name="62 Conector recto de flecha"/>
            <p:cNvCxnSpPr>
              <a:cxnSpLocks noChangeShapeType="1"/>
            </p:cNvCxnSpPr>
            <p:nvPr/>
          </p:nvCxnSpPr>
          <p:spPr bwMode="auto">
            <a:xfrm flipH="1" flipV="1">
              <a:off x="2379674" y="5851907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811" name="60 Elipse"/>
            <p:cNvSpPr>
              <a:spLocks noChangeArrowheads="1"/>
            </p:cNvSpPr>
            <p:nvPr/>
          </p:nvSpPr>
          <p:spPr bwMode="auto">
            <a:xfrm>
              <a:off x="2606687" y="5786819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C3D94D9-DE08-4252-964B-F2A4FE8440D4}"/>
              </a:ext>
            </a:extLst>
          </p:cNvPr>
          <p:cNvGrpSpPr/>
          <p:nvPr/>
        </p:nvGrpSpPr>
        <p:grpSpPr>
          <a:xfrm>
            <a:off x="4486293" y="3747545"/>
            <a:ext cx="388939" cy="150813"/>
            <a:chOff x="4486293" y="6575810"/>
            <a:chExt cx="388939" cy="150813"/>
          </a:xfrm>
        </p:grpSpPr>
        <p:cxnSp>
          <p:nvCxnSpPr>
            <p:cNvPr id="31812" name="62 Conector recto de flecha"/>
            <p:cNvCxnSpPr>
              <a:cxnSpLocks noChangeShapeType="1"/>
            </p:cNvCxnSpPr>
            <p:nvPr/>
          </p:nvCxnSpPr>
          <p:spPr bwMode="auto">
            <a:xfrm flipH="1" flipV="1">
              <a:off x="4486293" y="6644073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813" name="60 Elipse"/>
            <p:cNvSpPr>
              <a:spLocks noChangeArrowheads="1"/>
            </p:cNvSpPr>
            <p:nvPr/>
          </p:nvSpPr>
          <p:spPr bwMode="auto">
            <a:xfrm>
              <a:off x="4714894" y="6575810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4A0B2277-30BC-41B0-8053-5DAD5ABD64EA}"/>
              </a:ext>
            </a:extLst>
          </p:cNvPr>
          <p:cNvGrpSpPr/>
          <p:nvPr/>
        </p:nvGrpSpPr>
        <p:grpSpPr>
          <a:xfrm>
            <a:off x="6459562" y="3120480"/>
            <a:ext cx="369889" cy="150813"/>
            <a:chOff x="6459562" y="5948745"/>
            <a:chExt cx="369889" cy="150813"/>
          </a:xfrm>
        </p:grpSpPr>
        <p:cxnSp>
          <p:nvCxnSpPr>
            <p:cNvPr id="31814" name="62 Conector recto de flecha"/>
            <p:cNvCxnSpPr>
              <a:cxnSpLocks noChangeShapeType="1"/>
            </p:cNvCxnSpPr>
            <p:nvPr/>
          </p:nvCxnSpPr>
          <p:spPr bwMode="auto">
            <a:xfrm flipH="1" flipV="1">
              <a:off x="6459562" y="6010657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815" name="60 Elipse"/>
            <p:cNvSpPr>
              <a:spLocks noChangeArrowheads="1"/>
            </p:cNvSpPr>
            <p:nvPr/>
          </p:nvSpPr>
          <p:spPr bwMode="auto">
            <a:xfrm>
              <a:off x="6669113" y="5948745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EA6CFB17-C6FF-4726-8F6A-B59B5A670515}"/>
              </a:ext>
            </a:extLst>
          </p:cNvPr>
          <p:cNvGrpSpPr/>
          <p:nvPr/>
        </p:nvGrpSpPr>
        <p:grpSpPr>
          <a:xfrm>
            <a:off x="8832882" y="3496719"/>
            <a:ext cx="333376" cy="150813"/>
            <a:chOff x="8832882" y="6324984"/>
            <a:chExt cx="333376" cy="150813"/>
          </a:xfrm>
        </p:grpSpPr>
        <p:cxnSp>
          <p:nvCxnSpPr>
            <p:cNvPr id="31816" name="62 Conector recto de flecha"/>
            <p:cNvCxnSpPr>
              <a:cxnSpLocks noChangeShapeType="1"/>
            </p:cNvCxnSpPr>
            <p:nvPr/>
          </p:nvCxnSpPr>
          <p:spPr bwMode="auto">
            <a:xfrm flipH="1" flipV="1">
              <a:off x="8832882" y="6409122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817" name="60 Elipse"/>
            <p:cNvSpPr>
              <a:spLocks noChangeArrowheads="1"/>
            </p:cNvSpPr>
            <p:nvPr/>
          </p:nvSpPr>
          <p:spPr bwMode="auto">
            <a:xfrm>
              <a:off x="9005920" y="6324984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64B9ADCD-34A6-1CDB-8A65-B4EE32D9C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098" y="351627"/>
            <a:ext cx="3620881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CLASIFICACIÓN</a:t>
            </a:r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A7033D65-0B1F-D30F-2F1B-CD30D0ABB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5415" y="1078588"/>
            <a:ext cx="1947149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Aislante</a:t>
            </a:r>
            <a:endParaRPr lang="es-ES" sz="2000">
              <a:latin typeface="Arial" panose="020B0604020202020204" pitchFamily="34" charset="0"/>
            </a:endParaRP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0DB3DBDA-DA27-E72F-94D3-E6542BB60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6819" y="1096051"/>
            <a:ext cx="2236808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Semiconductor</a:t>
            </a:r>
          </a:p>
        </p:txBody>
      </p:sp>
      <p:sp>
        <p:nvSpPr>
          <p:cNvPr id="13" name="Text Box 42">
            <a:extLst>
              <a:ext uri="{FF2B5EF4-FFF2-40B4-BE49-F238E27FC236}">
                <a16:creationId xmlns:a16="http://schemas.microsoft.com/office/drawing/2014/main" id="{4F529BFA-FD40-AE82-F56E-7015D89DF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782" y="349672"/>
            <a:ext cx="1174850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T &gt; 0 K</a:t>
            </a:r>
          </a:p>
        </p:txBody>
      </p:sp>
      <p:sp>
        <p:nvSpPr>
          <p:cNvPr id="14" name="Text Box 36">
            <a:extLst>
              <a:ext uri="{FF2B5EF4-FFF2-40B4-BE49-F238E27FC236}">
                <a16:creationId xmlns:a16="http://schemas.microsoft.com/office/drawing/2014/main" id="{C7C9933A-70ED-3DF6-F88F-E7D8391EF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202" y="1088113"/>
            <a:ext cx="1920090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2</a:t>
            </a: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C26F4231-447E-E3FE-7A2C-A5F886AF7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676" y="1081763"/>
            <a:ext cx="1942977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6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10" grpId="0"/>
      <p:bldP spid="16398" grpId="0"/>
      <p:bldP spid="6869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033" name="Text Box 57"/>
          <p:cNvSpPr txBox="1">
            <a:spLocks noChangeArrowheads="1"/>
          </p:cNvSpPr>
          <p:nvPr/>
        </p:nvSpPr>
        <p:spPr bwMode="auto">
          <a:xfrm>
            <a:off x="1766606" y="4810517"/>
            <a:ext cx="7221251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En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semiconductores</a:t>
            </a:r>
            <a:r>
              <a:rPr lang="es-ES" sz="2400">
                <a:latin typeface="Arial" panose="020B0604020202020204" pitchFamily="34" charset="0"/>
              </a:rPr>
              <a:t>  la corriente es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apreciable</a:t>
            </a:r>
            <a:r>
              <a:rPr lang="es-ES" sz="24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" name="Text Box 57"/>
          <p:cNvSpPr txBox="1">
            <a:spLocks noChangeArrowheads="1"/>
          </p:cNvSpPr>
          <p:nvPr/>
        </p:nvSpPr>
        <p:spPr bwMode="auto">
          <a:xfrm>
            <a:off x="1904755" y="4344400"/>
            <a:ext cx="8437809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En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aislantes</a:t>
            </a:r>
            <a:r>
              <a:rPr lang="es-ES" sz="2400">
                <a:latin typeface="Arial" panose="020B0604020202020204" pitchFamily="34" charset="0"/>
              </a:rPr>
              <a:t> la corriente es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despreciable</a:t>
            </a:r>
            <a:r>
              <a:rPr lang="es-ES" sz="2400">
                <a:latin typeface="Arial" panose="020B0604020202020204" pitchFamily="34" charset="0"/>
              </a:rPr>
              <a:t> (pasan pocos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)</a:t>
            </a:r>
            <a:endParaRPr lang="es-ES" sz="2400">
              <a:solidFill>
                <a:srgbClr val="FF00FF"/>
              </a:solidFill>
              <a:latin typeface="Arial" panose="020B0604020202020204" pitchFamily="34" charset="0"/>
            </a:endParaRPr>
          </a:p>
        </p:txBody>
      </p:sp>
      <p:sp>
        <p:nvSpPr>
          <p:cNvPr id="163" name="Text Box 57"/>
          <p:cNvSpPr txBox="1">
            <a:spLocks noChangeArrowheads="1"/>
          </p:cNvSpPr>
          <p:nvPr/>
        </p:nvSpPr>
        <p:spPr bwMode="auto">
          <a:xfrm>
            <a:off x="1805771" y="5300124"/>
            <a:ext cx="8730097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En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conductores</a:t>
            </a:r>
            <a:r>
              <a:rPr lang="es-ES" sz="2400">
                <a:latin typeface="Arial" panose="020B0604020202020204" pitchFamily="34" charset="0"/>
              </a:rPr>
              <a:t> es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similar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a 0 K </a:t>
            </a:r>
            <a:r>
              <a:rPr lang="es-ES" sz="2400">
                <a:latin typeface="Arial" panose="020B0604020202020204" pitchFamily="34" charset="0"/>
              </a:rPr>
              <a:t>(se mueven los mismos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) </a:t>
            </a:r>
          </a:p>
        </p:txBody>
      </p:sp>
      <p:sp>
        <p:nvSpPr>
          <p:cNvPr id="165" name="Text Box 57"/>
          <p:cNvSpPr txBox="1">
            <a:spLocks noChangeArrowheads="1"/>
          </p:cNvSpPr>
          <p:nvPr/>
        </p:nvSpPr>
        <p:spPr bwMode="auto">
          <a:xfrm>
            <a:off x="271312" y="4512530"/>
            <a:ext cx="1620000" cy="12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118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Para T ordinarias</a:t>
            </a:r>
          </a:p>
        </p:txBody>
      </p:sp>
      <p:sp>
        <p:nvSpPr>
          <p:cNvPr id="123" name="Text Box 57">
            <a:extLst>
              <a:ext uri="{FF2B5EF4-FFF2-40B4-BE49-F238E27FC236}">
                <a16:creationId xmlns:a16="http://schemas.microsoft.com/office/drawing/2014/main" id="{608306C5-B18C-4355-BF25-4625ABCF0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426" y="5950269"/>
            <a:ext cx="8730097" cy="8925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36000" rIns="90000" bIns="36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</a:rPr>
              <a:t>La corriente, la conductividad, resulta mucho mayor en los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</a:rPr>
              <a:t>conductores por la concentración mucho mayor de portadores</a:t>
            </a:r>
          </a:p>
        </p:txBody>
      </p: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6F377C59-5D65-4618-854B-0023B625D6EF}"/>
              </a:ext>
            </a:extLst>
          </p:cNvPr>
          <p:cNvGrpSpPr/>
          <p:nvPr/>
        </p:nvGrpSpPr>
        <p:grpSpPr>
          <a:xfrm>
            <a:off x="1521843" y="1622939"/>
            <a:ext cx="8859569" cy="2705100"/>
            <a:chOff x="1521843" y="1856862"/>
            <a:chExt cx="8859569" cy="2705100"/>
          </a:xfrm>
        </p:grpSpPr>
        <p:sp>
          <p:nvSpPr>
            <p:cNvPr id="125" name="Rectangle 15">
              <a:extLst>
                <a:ext uri="{FF2B5EF4-FFF2-40B4-BE49-F238E27FC236}">
                  <a16:creationId xmlns:a16="http://schemas.microsoft.com/office/drawing/2014/main" id="{9DA86FF8-A263-4E65-95ED-6767CE9A9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0212" y="1929887"/>
              <a:ext cx="1412875" cy="70485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6" name="Rectangle 16">
              <a:extLst>
                <a:ext uri="{FF2B5EF4-FFF2-40B4-BE49-F238E27FC236}">
                  <a16:creationId xmlns:a16="http://schemas.microsoft.com/office/drawing/2014/main" id="{BA062E75-68CC-44E7-939F-AE42118A5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0212" y="3857112"/>
              <a:ext cx="1412875" cy="7048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7" name="Text Box 20">
              <a:extLst>
                <a:ext uri="{FF2B5EF4-FFF2-40B4-BE49-F238E27FC236}">
                  <a16:creationId xmlns:a16="http://schemas.microsoft.com/office/drawing/2014/main" id="{B79ED51E-A8E7-4EFB-9D00-1B00C17728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0899" y="3950774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28" name="Text Box 24">
              <a:extLst>
                <a:ext uri="{FF2B5EF4-FFF2-40B4-BE49-F238E27FC236}">
                  <a16:creationId xmlns:a16="http://schemas.microsoft.com/office/drawing/2014/main" id="{5BBB601B-8B8A-4E6E-80C0-AA04C42DA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32137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33" name="Text Box 25">
              <a:extLst>
                <a:ext uri="{FF2B5EF4-FFF2-40B4-BE49-F238E27FC236}">
                  <a16:creationId xmlns:a16="http://schemas.microsoft.com/office/drawing/2014/main" id="{E73FBD17-8EC7-4A30-8B4E-14D8B2CF9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17849" y="3931724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64" name="Text Box 28">
              <a:extLst>
                <a:ext uri="{FF2B5EF4-FFF2-40B4-BE49-F238E27FC236}">
                  <a16:creationId xmlns:a16="http://schemas.microsoft.com/office/drawing/2014/main" id="{406E2E57-8342-4318-85DF-9653826EE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92374" y="2661724"/>
              <a:ext cx="1171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Varios eV</a:t>
              </a:r>
            </a:p>
          </p:txBody>
        </p:sp>
        <p:sp>
          <p:nvSpPr>
            <p:cNvPr id="173" name="Rectangle 13">
              <a:extLst>
                <a:ext uri="{FF2B5EF4-FFF2-40B4-BE49-F238E27FC236}">
                  <a16:creationId xmlns:a16="http://schemas.microsoft.com/office/drawing/2014/main" id="{8F0C59E9-A562-4FC1-9776-56374CBCB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3684" y="1917187"/>
              <a:ext cx="1412875" cy="113506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" name="Rectangle 14">
              <a:extLst>
                <a:ext uri="{FF2B5EF4-FFF2-40B4-BE49-F238E27FC236}">
                  <a16:creationId xmlns:a16="http://schemas.microsoft.com/office/drawing/2014/main" id="{A2FE3C16-3C65-44C9-8B6C-5863FE46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3684" y="3496749"/>
              <a:ext cx="1412875" cy="105092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5" name="Text Box 21">
              <a:extLst>
                <a:ext uri="{FF2B5EF4-FFF2-40B4-BE49-F238E27FC236}">
                  <a16:creationId xmlns:a16="http://schemas.microsoft.com/office/drawing/2014/main" id="{EA39BDB4-CB2C-4869-800D-F7A073819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4847" y="3950774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76" name="Text Box 26">
              <a:extLst>
                <a:ext uri="{FF2B5EF4-FFF2-40B4-BE49-F238E27FC236}">
                  <a16:creationId xmlns:a16="http://schemas.microsoft.com/office/drawing/2014/main" id="{D9D20460-3755-48A8-AD01-D02A45A81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7997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77" name="Text Box 27">
              <a:extLst>
                <a:ext uri="{FF2B5EF4-FFF2-40B4-BE49-F238E27FC236}">
                  <a16:creationId xmlns:a16="http://schemas.microsoft.com/office/drawing/2014/main" id="{7545E1E2-CB12-4AF1-A69C-5CF0134EA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3709" y="3931724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78" name="Rectangle 10">
              <a:extLst>
                <a:ext uri="{FF2B5EF4-FFF2-40B4-BE49-F238E27FC236}">
                  <a16:creationId xmlns:a16="http://schemas.microsoft.com/office/drawing/2014/main" id="{3B0F6BE4-26A3-4BCC-A623-F0D84241D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644" y="1926712"/>
              <a:ext cx="1412875" cy="112077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9" name="Rectangle 12">
              <a:extLst>
                <a:ext uri="{FF2B5EF4-FFF2-40B4-BE49-F238E27FC236}">
                  <a16:creationId xmlns:a16="http://schemas.microsoft.com/office/drawing/2014/main" id="{81ED435C-0DDB-49B5-AE10-94CA43154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294" y="3491987"/>
              <a:ext cx="1412875" cy="103822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0" name="Text Box 32">
              <a:extLst>
                <a:ext uri="{FF2B5EF4-FFF2-40B4-BE49-F238E27FC236}">
                  <a16:creationId xmlns:a16="http://schemas.microsoft.com/office/drawing/2014/main" id="{1908F0A2-ED83-422F-9280-F5E4E88D5F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2819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81" name="Text Box 33">
              <a:extLst>
                <a:ext uri="{FF2B5EF4-FFF2-40B4-BE49-F238E27FC236}">
                  <a16:creationId xmlns:a16="http://schemas.microsoft.com/office/drawing/2014/main" id="{15F00FFB-45C7-43E3-8DB7-5CEF98992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531" y="3931724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82" name="Line 39">
              <a:extLst>
                <a:ext uri="{FF2B5EF4-FFF2-40B4-BE49-F238E27FC236}">
                  <a16:creationId xmlns:a16="http://schemas.microsoft.com/office/drawing/2014/main" id="{2819F238-D18F-4EF3-BE9C-CDA021FB4D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5819" y="3658674"/>
              <a:ext cx="1414462" cy="465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83" name="Text Box 22">
              <a:extLst>
                <a:ext uri="{FF2B5EF4-FFF2-40B4-BE49-F238E27FC236}">
                  <a16:creationId xmlns:a16="http://schemas.microsoft.com/office/drawing/2014/main" id="{D7B0E46E-0CDA-43DA-A033-6BEC752CE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144" y="3933312"/>
              <a:ext cx="77152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18000" tIns="118800" rIns="18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84" name="Rectangle 8">
              <a:extLst>
                <a:ext uri="{FF2B5EF4-FFF2-40B4-BE49-F238E27FC236}">
                  <a16:creationId xmlns:a16="http://schemas.microsoft.com/office/drawing/2014/main" id="{20CBF427-E5C1-478E-86CF-EE4570C9F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3828" y="1928299"/>
              <a:ext cx="1412875" cy="145256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5" name="Rectangle 9">
              <a:extLst>
                <a:ext uri="{FF2B5EF4-FFF2-40B4-BE49-F238E27FC236}">
                  <a16:creationId xmlns:a16="http://schemas.microsoft.com/office/drawing/2014/main" id="{9AF559E5-7D04-48E1-9E71-B742BCACC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703" y="3355551"/>
              <a:ext cx="1412875" cy="11239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6" name="Text Box 23">
              <a:extLst>
                <a:ext uri="{FF2B5EF4-FFF2-40B4-BE49-F238E27FC236}">
                  <a16:creationId xmlns:a16="http://schemas.microsoft.com/office/drawing/2014/main" id="{B836B453-8D64-4E46-A037-D8C8CE982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4353" y="3940500"/>
              <a:ext cx="6635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llena</a:t>
              </a:r>
            </a:p>
          </p:txBody>
        </p:sp>
        <p:sp>
          <p:nvSpPr>
            <p:cNvPr id="187" name="Text Box 34">
              <a:extLst>
                <a:ext uri="{FF2B5EF4-FFF2-40B4-BE49-F238E27FC236}">
                  <a16:creationId xmlns:a16="http://schemas.microsoft.com/office/drawing/2014/main" id="{082AF464-817C-4915-AFE2-678F127083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5278" y="1999737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88" name="Text Box 35">
              <a:extLst>
                <a:ext uri="{FF2B5EF4-FFF2-40B4-BE49-F238E27FC236}">
                  <a16:creationId xmlns:a16="http://schemas.microsoft.com/office/drawing/2014/main" id="{09FCCD51-DB47-4430-8404-DE22EBA1D3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991" y="3931724"/>
              <a:ext cx="534987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89" name="Text Box 53">
              <a:extLst>
                <a:ext uri="{FF2B5EF4-FFF2-40B4-BE49-F238E27FC236}">
                  <a16:creationId xmlns:a16="http://schemas.microsoft.com/office/drawing/2014/main" id="{7FE0C8F1-225F-41E2-A3EB-76D967D36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8997" y="2625122"/>
              <a:ext cx="636587" cy="547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gap</a:t>
              </a:r>
            </a:p>
          </p:txBody>
        </p:sp>
        <p:sp>
          <p:nvSpPr>
            <p:cNvPr id="190" name="49 Triángulo isósceles">
              <a:extLst>
                <a:ext uri="{FF2B5EF4-FFF2-40B4-BE49-F238E27FC236}">
                  <a16:creationId xmlns:a16="http://schemas.microsoft.com/office/drawing/2014/main" id="{7ECBA64B-14D4-483D-9448-B5F0A74B2AF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890822" y="2560124"/>
              <a:ext cx="1458912" cy="504825"/>
            </a:xfrm>
            <a:prstGeom prst="triangle">
              <a:avLst>
                <a:gd name="adj" fmla="val 0"/>
              </a:avLst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1" name="50 Triángulo isósceles">
              <a:extLst>
                <a:ext uri="{FF2B5EF4-FFF2-40B4-BE49-F238E27FC236}">
                  <a16:creationId xmlns:a16="http://schemas.microsoft.com/office/drawing/2014/main" id="{697AC629-21F7-4B88-802A-93028F12F3F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362112" y="2144199"/>
              <a:ext cx="1458912" cy="504825"/>
            </a:xfrm>
            <a:prstGeom prst="triangle">
              <a:avLst>
                <a:gd name="adj" fmla="val 0"/>
              </a:avLst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2" name="51 Triángulo isósceles">
              <a:extLst>
                <a:ext uri="{FF2B5EF4-FFF2-40B4-BE49-F238E27FC236}">
                  <a16:creationId xmlns:a16="http://schemas.microsoft.com/office/drawing/2014/main" id="{4B972871-3C08-4710-A8B4-666FED1EDC5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16606" y="2542662"/>
              <a:ext cx="1458913" cy="506412"/>
            </a:xfrm>
            <a:prstGeom prst="triangle">
              <a:avLst>
                <a:gd name="adj" fmla="val 0"/>
              </a:avLst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3" name="51 Triángulo isósceles">
              <a:extLst>
                <a:ext uri="{FF2B5EF4-FFF2-40B4-BE49-F238E27FC236}">
                  <a16:creationId xmlns:a16="http://schemas.microsoft.com/office/drawing/2014/main" id="{5AE8EC4E-73C9-4A51-95E5-E0E4387C21A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71715" y="2894248"/>
              <a:ext cx="1458912" cy="506413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" name="51 Triángulo isósceles">
              <a:extLst>
                <a:ext uri="{FF2B5EF4-FFF2-40B4-BE49-F238E27FC236}">
                  <a16:creationId xmlns:a16="http://schemas.microsoft.com/office/drawing/2014/main" id="{08D5B490-7C4A-4D35-9315-DF7AE22652E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895584" y="2988749"/>
              <a:ext cx="1458913" cy="506413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" name="52 Triángulo isósceles">
              <a:extLst>
                <a:ext uri="{FF2B5EF4-FFF2-40B4-BE49-F238E27FC236}">
                  <a16:creationId xmlns:a16="http://schemas.microsoft.com/office/drawing/2014/main" id="{23FE342C-E37A-4ECE-828F-CAF16AB473A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365287" y="3349112"/>
              <a:ext cx="1458912" cy="506412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6" name="Line 29">
              <a:extLst>
                <a:ext uri="{FF2B5EF4-FFF2-40B4-BE49-F238E27FC236}">
                  <a16:creationId xmlns:a16="http://schemas.microsoft.com/office/drawing/2014/main" id="{9677AD35-F401-4174-8E87-077CA0FF6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162" y="2410899"/>
              <a:ext cx="0" cy="11303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97" name="Text Box 30">
              <a:extLst>
                <a:ext uri="{FF2B5EF4-FFF2-40B4-BE49-F238E27FC236}">
                  <a16:creationId xmlns:a16="http://schemas.microsoft.com/office/drawing/2014/main" id="{A68D9D3A-E22C-4E5D-945B-57C09D52E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018" y="2667895"/>
              <a:ext cx="839787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 </a:t>
              </a: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1 eV</a:t>
              </a:r>
            </a:p>
          </p:txBody>
        </p:sp>
        <p:sp>
          <p:nvSpPr>
            <p:cNvPr id="198" name="Line 31">
              <a:extLst>
                <a:ext uri="{FF2B5EF4-FFF2-40B4-BE49-F238E27FC236}">
                  <a16:creationId xmlns:a16="http://schemas.microsoft.com/office/drawing/2014/main" id="{F63703BE-0401-4B12-8261-305AAD14C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70284" y="2815712"/>
              <a:ext cx="0" cy="43497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99" name="Line 39">
              <a:extLst>
                <a:ext uri="{FF2B5EF4-FFF2-40B4-BE49-F238E27FC236}">
                  <a16:creationId xmlns:a16="http://schemas.microsoft.com/office/drawing/2014/main" id="{B5DB8DF2-CC10-4A89-A702-8642FB81F0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128" y="2710937"/>
              <a:ext cx="1414463" cy="465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00" name="Line 39">
              <a:extLst>
                <a:ext uri="{FF2B5EF4-FFF2-40B4-BE49-F238E27FC236}">
                  <a16:creationId xmlns:a16="http://schemas.microsoft.com/office/drawing/2014/main" id="{0AE0A4B5-D70C-485F-8D24-8E9EBA620A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2241" y="2939537"/>
              <a:ext cx="1414462" cy="465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201" name="51 Triángulo isósceles">
              <a:extLst>
                <a:ext uri="{FF2B5EF4-FFF2-40B4-BE49-F238E27FC236}">
                  <a16:creationId xmlns:a16="http://schemas.microsoft.com/office/drawing/2014/main" id="{320938FE-C3E7-467C-AE09-1E32E5DB02F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19781" y="2988749"/>
              <a:ext cx="1458913" cy="506413"/>
            </a:xfrm>
            <a:prstGeom prst="triangle">
              <a:avLst>
                <a:gd name="adj" fmla="val 0"/>
              </a:avLst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2" name="Text Box 28">
              <a:extLst>
                <a:ext uri="{FF2B5EF4-FFF2-40B4-BE49-F238E27FC236}">
                  <a16:creationId xmlns:a16="http://schemas.microsoft.com/office/drawing/2014/main" id="{341187A4-35F8-4753-9FF5-500CC00ED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1491" y="2069587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03" name="Text Box 28">
              <a:extLst>
                <a:ext uri="{FF2B5EF4-FFF2-40B4-BE49-F238E27FC236}">
                  <a16:creationId xmlns:a16="http://schemas.microsoft.com/office/drawing/2014/main" id="{D53053D6-D0A4-41F7-808C-4D18B0D8E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731" y="2099749"/>
              <a:ext cx="727075" cy="512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04" name="Text Box 28">
              <a:extLst>
                <a:ext uri="{FF2B5EF4-FFF2-40B4-BE49-F238E27FC236}">
                  <a16:creationId xmlns:a16="http://schemas.microsoft.com/office/drawing/2014/main" id="{6038B267-B716-4F09-BAC0-2443379B0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6584" y="2129912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05" name="Text Box 28">
              <a:extLst>
                <a:ext uri="{FF2B5EF4-FFF2-40B4-BE49-F238E27FC236}">
                  <a16:creationId xmlns:a16="http://schemas.microsoft.com/office/drawing/2014/main" id="{7CEBA1AD-5113-4B0C-9281-9F059C632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9774" y="1856862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  <p:sp>
          <p:nvSpPr>
            <p:cNvPr id="206" name="Text Box 37">
              <a:extLst>
                <a:ext uri="{FF2B5EF4-FFF2-40B4-BE49-F238E27FC236}">
                  <a16:creationId xmlns:a16="http://schemas.microsoft.com/office/drawing/2014/main" id="{65774BD8-3E68-4600-A87E-294D6F823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80000">
              <a:off x="1521843" y="2867261"/>
              <a:ext cx="1590675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superposición</a:t>
              </a:r>
            </a:p>
          </p:txBody>
        </p:sp>
        <p:sp>
          <p:nvSpPr>
            <p:cNvPr id="207" name="Text Box 28">
              <a:extLst>
                <a:ext uri="{FF2B5EF4-FFF2-40B4-BE49-F238E27FC236}">
                  <a16:creationId xmlns:a16="http://schemas.microsoft.com/office/drawing/2014/main" id="{4995C880-A64D-4A9A-B100-8B3C87868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544" y="3311012"/>
              <a:ext cx="727075" cy="51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vacía</a:t>
              </a:r>
            </a:p>
          </p:txBody>
        </p:sp>
      </p:grpSp>
      <p:cxnSp>
        <p:nvCxnSpPr>
          <p:cNvPr id="213" name="62 Conector recto de flecha">
            <a:extLst>
              <a:ext uri="{FF2B5EF4-FFF2-40B4-BE49-F238E27FC236}">
                <a16:creationId xmlns:a16="http://schemas.microsoft.com/office/drawing/2014/main" id="{AECCC2EE-3063-4BB8-BEB0-5FB60AD9581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778000" y="2660094"/>
            <a:ext cx="527050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4" name="62 Conector recto de flecha">
            <a:extLst>
              <a:ext uri="{FF2B5EF4-FFF2-40B4-BE49-F238E27FC236}">
                <a16:creationId xmlns:a16="http://schemas.microsoft.com/office/drawing/2014/main" id="{9FD8874B-236F-4EF7-A3C8-199329746A00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3900488" y="3506233"/>
            <a:ext cx="527050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" name="62 Conector recto de flecha">
            <a:extLst>
              <a:ext uri="{FF2B5EF4-FFF2-40B4-BE49-F238E27FC236}">
                <a16:creationId xmlns:a16="http://schemas.microsoft.com/office/drawing/2014/main" id="{E27611CC-34CA-45AF-8679-E92EBBADAFF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5954713" y="2555318"/>
            <a:ext cx="381000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" name="62 Conector recto de flecha">
            <a:extLst>
              <a:ext uri="{FF2B5EF4-FFF2-40B4-BE49-F238E27FC236}">
                <a16:creationId xmlns:a16="http://schemas.microsoft.com/office/drawing/2014/main" id="{B3EA35EC-D624-4B0D-8EF0-8BA540F6E0AA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8405813" y="2179080"/>
            <a:ext cx="381000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17" name="Grupo 216">
            <a:extLst>
              <a:ext uri="{FF2B5EF4-FFF2-40B4-BE49-F238E27FC236}">
                <a16:creationId xmlns:a16="http://schemas.microsoft.com/office/drawing/2014/main" id="{CBBBB34D-B412-4F66-9BB5-2F874D344D82}"/>
              </a:ext>
            </a:extLst>
          </p:cNvPr>
          <p:cNvGrpSpPr/>
          <p:nvPr/>
        </p:nvGrpSpPr>
        <p:grpSpPr>
          <a:xfrm>
            <a:off x="2229566" y="2119856"/>
            <a:ext cx="6629523" cy="1771561"/>
            <a:chOff x="2229566" y="2353782"/>
            <a:chExt cx="6629523" cy="1771561"/>
          </a:xfrm>
        </p:grpSpPr>
        <p:grpSp>
          <p:nvGrpSpPr>
            <p:cNvPr id="218" name="Grupo 217">
              <a:extLst>
                <a:ext uri="{FF2B5EF4-FFF2-40B4-BE49-F238E27FC236}">
                  <a16:creationId xmlns:a16="http://schemas.microsoft.com/office/drawing/2014/main" id="{3567ED81-FD41-48EB-8E24-E484DE6DED1B}"/>
                </a:ext>
              </a:extLst>
            </p:cNvPr>
            <p:cNvGrpSpPr/>
            <p:nvPr/>
          </p:nvGrpSpPr>
          <p:grpSpPr>
            <a:xfrm>
              <a:off x="2229566" y="2828219"/>
              <a:ext cx="166688" cy="502157"/>
              <a:chOff x="2229566" y="2828219"/>
              <a:chExt cx="166688" cy="502157"/>
            </a:xfrm>
          </p:grpSpPr>
          <p:sp>
            <p:nvSpPr>
              <p:cNvPr id="229" name="60 Elipse">
                <a:extLst>
                  <a:ext uri="{FF2B5EF4-FFF2-40B4-BE49-F238E27FC236}">
                    <a16:creationId xmlns:a16="http://schemas.microsoft.com/office/drawing/2014/main" id="{C7D0E0B2-F26F-48E3-AC22-E7B898ADA5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5916" y="2828219"/>
                <a:ext cx="160338" cy="15081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230" name="62 Conector recto de flecha">
                <a:extLst>
                  <a:ext uri="{FF2B5EF4-FFF2-40B4-BE49-F238E27FC236}">
                    <a16:creationId xmlns:a16="http://schemas.microsoft.com/office/drawing/2014/main" id="{933EAEF2-C56A-4322-B899-7670FAC0534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315291" y="2964221"/>
                <a:ext cx="0" cy="201612"/>
              </a:xfrm>
              <a:prstGeom prst="straightConnector1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31" name="60 Elipse">
                <a:extLst>
                  <a:ext uri="{FF2B5EF4-FFF2-40B4-BE49-F238E27FC236}">
                    <a16:creationId xmlns:a16="http://schemas.microsoft.com/office/drawing/2014/main" id="{F09D80A8-A406-4BE7-B687-6012CC7E6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566" y="3179564"/>
                <a:ext cx="160338" cy="150812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FF0000"/>
                </a:solidFill>
                <a:round/>
                <a:headEnd/>
                <a:tailEnd type="none" w="lg" len="lg"/>
              </a:ln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19" name="Grupo 218">
              <a:extLst>
                <a:ext uri="{FF2B5EF4-FFF2-40B4-BE49-F238E27FC236}">
                  <a16:creationId xmlns:a16="http://schemas.microsoft.com/office/drawing/2014/main" id="{6F99082B-2B18-4EDB-82E9-EDDBDE8FB8A2}"/>
                </a:ext>
              </a:extLst>
            </p:cNvPr>
            <p:cNvGrpSpPr/>
            <p:nvPr/>
          </p:nvGrpSpPr>
          <p:grpSpPr>
            <a:xfrm>
              <a:off x="4354301" y="3663380"/>
              <a:ext cx="166687" cy="461963"/>
              <a:chOff x="4354301" y="3663380"/>
              <a:chExt cx="166687" cy="461963"/>
            </a:xfrm>
          </p:grpSpPr>
          <p:sp>
            <p:nvSpPr>
              <p:cNvPr id="226" name="60 Elipse">
                <a:extLst>
                  <a:ext uri="{FF2B5EF4-FFF2-40B4-BE49-F238E27FC236}">
                    <a16:creationId xmlns:a16="http://schemas.microsoft.com/office/drawing/2014/main" id="{B2F7C565-05D6-4129-A505-39EE57EA2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0651" y="3663380"/>
                <a:ext cx="160337" cy="15081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227" name="62 Conector recto de flecha">
                <a:extLst>
                  <a:ext uri="{FF2B5EF4-FFF2-40B4-BE49-F238E27FC236}">
                    <a16:creationId xmlns:a16="http://schemas.microsoft.com/office/drawing/2014/main" id="{88E5132C-50E9-45EF-99F2-8673ED00854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4440026" y="3809430"/>
                <a:ext cx="0" cy="201613"/>
              </a:xfrm>
              <a:prstGeom prst="straightConnector1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28" name="60 Elipse">
                <a:extLst>
                  <a:ext uri="{FF2B5EF4-FFF2-40B4-BE49-F238E27FC236}">
                    <a16:creationId xmlns:a16="http://schemas.microsoft.com/office/drawing/2014/main" id="{8BBECD03-581D-4F01-BCE7-DBDC5EC64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4301" y="3974530"/>
                <a:ext cx="160337" cy="150813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FF0000"/>
                </a:solidFill>
                <a:round/>
                <a:headEnd/>
                <a:tailEnd type="none" w="lg" len="lg"/>
              </a:ln>
            </p:spPr>
            <p:txBody>
              <a:bodyPr wrap="none" lIns="90000" tIns="118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60 Elipse">
              <a:extLst>
                <a:ext uri="{FF2B5EF4-FFF2-40B4-BE49-F238E27FC236}">
                  <a16:creationId xmlns:a16="http://schemas.microsoft.com/office/drawing/2014/main" id="{59D8EDD3-15E5-4DC6-8E47-C5A8FF5A9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5137" y="2705369"/>
              <a:ext cx="160338" cy="15081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21" name="62 Conector recto de flecha">
              <a:extLst>
                <a:ext uri="{FF2B5EF4-FFF2-40B4-BE49-F238E27FC236}">
                  <a16:creationId xmlns:a16="http://schemas.microsoft.com/office/drawing/2014/main" id="{02F9C3A9-582C-4695-A65E-B373212BB4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409185" y="2835544"/>
              <a:ext cx="0" cy="561975"/>
            </a:xfrm>
            <a:prstGeom prst="straightConnector1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2" name="60 Elipse">
              <a:extLst>
                <a:ext uri="{FF2B5EF4-FFF2-40B4-BE49-F238E27FC236}">
                  <a16:creationId xmlns:a16="http://schemas.microsoft.com/office/drawing/2014/main" id="{59EB3632-9633-4EB2-8A50-0EA4E1A15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9335" y="3334019"/>
              <a:ext cx="160338" cy="1508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3" name="60 Elipse">
              <a:extLst>
                <a:ext uri="{FF2B5EF4-FFF2-40B4-BE49-F238E27FC236}">
                  <a16:creationId xmlns:a16="http://schemas.microsoft.com/office/drawing/2014/main" id="{AA2AE822-DAD2-402B-A225-B2DC35C07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8751" y="2353782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24" name="62 Conector recto de flecha">
              <a:extLst>
                <a:ext uri="{FF2B5EF4-FFF2-40B4-BE49-F238E27FC236}">
                  <a16:creationId xmlns:a16="http://schemas.microsoft.com/office/drawing/2014/main" id="{5FC7F135-EF77-4EA6-AEB9-DC7E8FD444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8772525" y="2511034"/>
              <a:ext cx="1588" cy="1281113"/>
            </a:xfrm>
            <a:prstGeom prst="straightConnector1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" name="60 Elipse">
              <a:extLst>
                <a:ext uri="{FF2B5EF4-FFF2-40B4-BE49-F238E27FC236}">
                  <a16:creationId xmlns:a16="http://schemas.microsoft.com/office/drawing/2014/main" id="{39281F11-EC60-4803-8BC9-C388D3782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2401" y="3744432"/>
              <a:ext cx="160338" cy="150813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32" name="Grupo 231">
            <a:extLst>
              <a:ext uri="{FF2B5EF4-FFF2-40B4-BE49-F238E27FC236}">
                <a16:creationId xmlns:a16="http://schemas.microsoft.com/office/drawing/2014/main" id="{6EB50912-EEB3-4C8B-88B1-B42DA23A7237}"/>
              </a:ext>
            </a:extLst>
          </p:cNvPr>
          <p:cNvGrpSpPr/>
          <p:nvPr/>
        </p:nvGrpSpPr>
        <p:grpSpPr>
          <a:xfrm>
            <a:off x="2739886" y="2986467"/>
            <a:ext cx="387351" cy="150813"/>
            <a:chOff x="2739886" y="5984862"/>
            <a:chExt cx="387351" cy="150813"/>
          </a:xfrm>
        </p:grpSpPr>
        <p:cxnSp>
          <p:nvCxnSpPr>
            <p:cNvPr id="233" name="62 Conector recto de flecha">
              <a:extLst>
                <a:ext uri="{FF2B5EF4-FFF2-40B4-BE49-F238E27FC236}">
                  <a16:creationId xmlns:a16="http://schemas.microsoft.com/office/drawing/2014/main" id="{41116F2E-FBA5-4BAA-89E6-00BD7C621B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739886" y="6049950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4" name="60 Elipse">
              <a:extLst>
                <a:ext uri="{FF2B5EF4-FFF2-40B4-BE49-F238E27FC236}">
                  <a16:creationId xmlns:a16="http://schemas.microsoft.com/office/drawing/2014/main" id="{C287E8D7-D61B-4023-B1BC-46B74E1EB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899" y="5984862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35" name="Grupo 234">
            <a:extLst>
              <a:ext uri="{FF2B5EF4-FFF2-40B4-BE49-F238E27FC236}">
                <a16:creationId xmlns:a16="http://schemas.microsoft.com/office/drawing/2014/main" id="{259155CE-FF7D-4DF2-BA3D-154AB680308F}"/>
              </a:ext>
            </a:extLst>
          </p:cNvPr>
          <p:cNvGrpSpPr/>
          <p:nvPr/>
        </p:nvGrpSpPr>
        <p:grpSpPr>
          <a:xfrm>
            <a:off x="4846499" y="3775455"/>
            <a:ext cx="388938" cy="150813"/>
            <a:chOff x="4846499" y="6773850"/>
            <a:chExt cx="388938" cy="150813"/>
          </a:xfrm>
        </p:grpSpPr>
        <p:cxnSp>
          <p:nvCxnSpPr>
            <p:cNvPr id="236" name="62 Conector recto de flecha">
              <a:extLst>
                <a:ext uri="{FF2B5EF4-FFF2-40B4-BE49-F238E27FC236}">
                  <a16:creationId xmlns:a16="http://schemas.microsoft.com/office/drawing/2014/main" id="{75A2E873-9434-44B4-8740-A9DEB15DE7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846499" y="6842112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7" name="60 Elipse">
              <a:extLst>
                <a:ext uri="{FF2B5EF4-FFF2-40B4-BE49-F238E27FC236}">
                  <a16:creationId xmlns:a16="http://schemas.microsoft.com/office/drawing/2014/main" id="{0D231F62-1616-4349-B2BF-95AFDD8B2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5099" y="6773850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38" name="Grupo 237">
            <a:extLst>
              <a:ext uri="{FF2B5EF4-FFF2-40B4-BE49-F238E27FC236}">
                <a16:creationId xmlns:a16="http://schemas.microsoft.com/office/drawing/2014/main" id="{F502CDEF-BB97-4651-9BAF-E7803E97F6BA}"/>
              </a:ext>
            </a:extLst>
          </p:cNvPr>
          <p:cNvGrpSpPr/>
          <p:nvPr/>
        </p:nvGrpSpPr>
        <p:grpSpPr>
          <a:xfrm>
            <a:off x="6819761" y="3148392"/>
            <a:ext cx="369888" cy="150813"/>
            <a:chOff x="6819761" y="6146787"/>
            <a:chExt cx="369888" cy="150813"/>
          </a:xfrm>
        </p:grpSpPr>
        <p:cxnSp>
          <p:nvCxnSpPr>
            <p:cNvPr id="239" name="62 Conector recto de flecha">
              <a:extLst>
                <a:ext uri="{FF2B5EF4-FFF2-40B4-BE49-F238E27FC236}">
                  <a16:creationId xmlns:a16="http://schemas.microsoft.com/office/drawing/2014/main" id="{7E242EDA-9926-481B-8108-23918A8719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819761" y="6208700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0" name="60 Elipse">
              <a:extLst>
                <a:ext uri="{FF2B5EF4-FFF2-40B4-BE49-F238E27FC236}">
                  <a16:creationId xmlns:a16="http://schemas.microsoft.com/office/drawing/2014/main" id="{02984E40-22F6-402B-913A-515EDF490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9311" y="6146787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396F472A-D358-48D4-BB2D-5740006C8756}"/>
              </a:ext>
            </a:extLst>
          </p:cNvPr>
          <p:cNvGrpSpPr/>
          <p:nvPr/>
        </p:nvGrpSpPr>
        <p:grpSpPr>
          <a:xfrm>
            <a:off x="9161901" y="3503848"/>
            <a:ext cx="333375" cy="150813"/>
            <a:chOff x="9161901" y="6502243"/>
            <a:chExt cx="333375" cy="150813"/>
          </a:xfrm>
        </p:grpSpPr>
        <p:cxnSp>
          <p:nvCxnSpPr>
            <p:cNvPr id="242" name="62 Conector recto de flecha">
              <a:extLst>
                <a:ext uri="{FF2B5EF4-FFF2-40B4-BE49-F238E27FC236}">
                  <a16:creationId xmlns:a16="http://schemas.microsoft.com/office/drawing/2014/main" id="{D7FFEE31-B4A5-446E-9078-D01D3A1711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9161901" y="6586380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3" name="60 Elipse">
              <a:extLst>
                <a:ext uri="{FF2B5EF4-FFF2-40B4-BE49-F238E27FC236}">
                  <a16:creationId xmlns:a16="http://schemas.microsoft.com/office/drawing/2014/main" id="{A08F6280-A978-41AA-B833-E34436F0B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34938" y="6502243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50" name="Grupo 249">
            <a:extLst>
              <a:ext uri="{FF2B5EF4-FFF2-40B4-BE49-F238E27FC236}">
                <a16:creationId xmlns:a16="http://schemas.microsoft.com/office/drawing/2014/main" id="{06E9338D-60B5-4F64-9BC2-91F776550CAD}"/>
              </a:ext>
            </a:extLst>
          </p:cNvPr>
          <p:cNvGrpSpPr/>
          <p:nvPr/>
        </p:nvGrpSpPr>
        <p:grpSpPr>
          <a:xfrm>
            <a:off x="2379674" y="2958554"/>
            <a:ext cx="387351" cy="150813"/>
            <a:chOff x="2379674" y="5786819"/>
            <a:chExt cx="387351" cy="150813"/>
          </a:xfrm>
        </p:grpSpPr>
        <p:cxnSp>
          <p:nvCxnSpPr>
            <p:cNvPr id="251" name="62 Conector recto de flecha">
              <a:extLst>
                <a:ext uri="{FF2B5EF4-FFF2-40B4-BE49-F238E27FC236}">
                  <a16:creationId xmlns:a16="http://schemas.microsoft.com/office/drawing/2014/main" id="{467CE906-9027-418C-8E80-4743CB4F39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379674" y="5851907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2" name="60 Elipse">
              <a:extLst>
                <a:ext uri="{FF2B5EF4-FFF2-40B4-BE49-F238E27FC236}">
                  <a16:creationId xmlns:a16="http://schemas.microsoft.com/office/drawing/2014/main" id="{A3395283-4617-45F0-AB6E-3EFEF18A1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687" y="5786819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53" name="Grupo 252">
            <a:extLst>
              <a:ext uri="{FF2B5EF4-FFF2-40B4-BE49-F238E27FC236}">
                <a16:creationId xmlns:a16="http://schemas.microsoft.com/office/drawing/2014/main" id="{8D2B18B2-3960-4AE3-9B98-74282839EBF9}"/>
              </a:ext>
            </a:extLst>
          </p:cNvPr>
          <p:cNvGrpSpPr/>
          <p:nvPr/>
        </p:nvGrpSpPr>
        <p:grpSpPr>
          <a:xfrm>
            <a:off x="4486293" y="3747545"/>
            <a:ext cx="388939" cy="150813"/>
            <a:chOff x="4486293" y="6575810"/>
            <a:chExt cx="388939" cy="150813"/>
          </a:xfrm>
        </p:grpSpPr>
        <p:cxnSp>
          <p:nvCxnSpPr>
            <p:cNvPr id="254" name="62 Conector recto de flecha">
              <a:extLst>
                <a:ext uri="{FF2B5EF4-FFF2-40B4-BE49-F238E27FC236}">
                  <a16:creationId xmlns:a16="http://schemas.microsoft.com/office/drawing/2014/main" id="{39DFAE21-7856-4D66-9195-7BD323C6F8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486293" y="6644073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5" name="60 Elipse">
              <a:extLst>
                <a:ext uri="{FF2B5EF4-FFF2-40B4-BE49-F238E27FC236}">
                  <a16:creationId xmlns:a16="http://schemas.microsoft.com/office/drawing/2014/main" id="{428571EC-6F7B-4FEA-839B-C569AEDDF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4894" y="6575810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56" name="Grupo 255">
            <a:extLst>
              <a:ext uri="{FF2B5EF4-FFF2-40B4-BE49-F238E27FC236}">
                <a16:creationId xmlns:a16="http://schemas.microsoft.com/office/drawing/2014/main" id="{0FB9D349-6CF3-4EF2-AF29-9E5B2B6B617C}"/>
              </a:ext>
            </a:extLst>
          </p:cNvPr>
          <p:cNvGrpSpPr/>
          <p:nvPr/>
        </p:nvGrpSpPr>
        <p:grpSpPr>
          <a:xfrm>
            <a:off x="6459562" y="3120480"/>
            <a:ext cx="369889" cy="150813"/>
            <a:chOff x="6459562" y="5948745"/>
            <a:chExt cx="369889" cy="150813"/>
          </a:xfrm>
        </p:grpSpPr>
        <p:cxnSp>
          <p:nvCxnSpPr>
            <p:cNvPr id="257" name="62 Conector recto de flecha">
              <a:extLst>
                <a:ext uri="{FF2B5EF4-FFF2-40B4-BE49-F238E27FC236}">
                  <a16:creationId xmlns:a16="http://schemas.microsoft.com/office/drawing/2014/main" id="{7DF95712-6F54-451B-808B-330BE9239D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459562" y="6010657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8" name="60 Elipse">
              <a:extLst>
                <a:ext uri="{FF2B5EF4-FFF2-40B4-BE49-F238E27FC236}">
                  <a16:creationId xmlns:a16="http://schemas.microsoft.com/office/drawing/2014/main" id="{BAB7BBFF-3011-4775-AB9F-B7C5A127D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9113" y="5948745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59" name="Grupo 258">
            <a:extLst>
              <a:ext uri="{FF2B5EF4-FFF2-40B4-BE49-F238E27FC236}">
                <a16:creationId xmlns:a16="http://schemas.microsoft.com/office/drawing/2014/main" id="{6CE665EC-45F2-4E74-9F16-F1750848BB53}"/>
              </a:ext>
            </a:extLst>
          </p:cNvPr>
          <p:cNvGrpSpPr/>
          <p:nvPr/>
        </p:nvGrpSpPr>
        <p:grpSpPr>
          <a:xfrm>
            <a:off x="8832882" y="3496719"/>
            <a:ext cx="333376" cy="150813"/>
            <a:chOff x="8832882" y="6324984"/>
            <a:chExt cx="333376" cy="150813"/>
          </a:xfrm>
        </p:grpSpPr>
        <p:cxnSp>
          <p:nvCxnSpPr>
            <p:cNvPr id="260" name="62 Conector recto de flecha">
              <a:extLst>
                <a:ext uri="{FF2B5EF4-FFF2-40B4-BE49-F238E27FC236}">
                  <a16:creationId xmlns:a16="http://schemas.microsoft.com/office/drawing/2014/main" id="{7F8C9329-58F4-4572-8629-D1EC3B51AB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8832882" y="6409122"/>
              <a:ext cx="236538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1" name="60 Elipse">
              <a:extLst>
                <a:ext uri="{FF2B5EF4-FFF2-40B4-BE49-F238E27FC236}">
                  <a16:creationId xmlns:a16="http://schemas.microsoft.com/office/drawing/2014/main" id="{D209838E-D7D4-4208-B0BD-4256B0B63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5920" y="6324984"/>
              <a:ext cx="160338" cy="1508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985B6E1-F8A2-0F9E-5397-016A1FB46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098" y="351627"/>
            <a:ext cx="3620881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CLASIFICACIÓN</a:t>
            </a:r>
          </a:p>
        </p:txBody>
      </p:sp>
      <p:sp>
        <p:nvSpPr>
          <p:cNvPr id="4" name="Text Box 17">
            <a:extLst>
              <a:ext uri="{FF2B5EF4-FFF2-40B4-BE49-F238E27FC236}">
                <a16:creationId xmlns:a16="http://schemas.microsoft.com/office/drawing/2014/main" id="{6251DA37-E018-FBC3-9444-45075C8D3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5415" y="1078588"/>
            <a:ext cx="1947149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Aislante</a:t>
            </a:r>
            <a:endParaRPr lang="es-ES" sz="2000">
              <a:latin typeface="Arial" panose="020B0604020202020204" pitchFamily="34" charset="0"/>
            </a:endParaRPr>
          </a:p>
        </p:txBody>
      </p:sp>
      <p:sp>
        <p:nvSpPr>
          <p:cNvPr id="5" name="Text Box 18">
            <a:extLst>
              <a:ext uri="{FF2B5EF4-FFF2-40B4-BE49-F238E27FC236}">
                <a16:creationId xmlns:a16="http://schemas.microsoft.com/office/drawing/2014/main" id="{C401D0DC-CD1F-E06C-644B-29F9089FE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6819" y="1096051"/>
            <a:ext cx="2236808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Semiconductor</a:t>
            </a:r>
          </a:p>
        </p:txBody>
      </p:sp>
      <p:sp>
        <p:nvSpPr>
          <p:cNvPr id="6" name="Text Box 42">
            <a:extLst>
              <a:ext uri="{FF2B5EF4-FFF2-40B4-BE49-F238E27FC236}">
                <a16:creationId xmlns:a16="http://schemas.microsoft.com/office/drawing/2014/main" id="{F3FCA8BF-CE01-CE89-6971-569073B0A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782" y="349672"/>
            <a:ext cx="1174850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T &gt; 0 K</a:t>
            </a:r>
          </a:p>
        </p:txBody>
      </p:sp>
      <p:sp>
        <p:nvSpPr>
          <p:cNvPr id="7" name="Text Box 36">
            <a:extLst>
              <a:ext uri="{FF2B5EF4-FFF2-40B4-BE49-F238E27FC236}">
                <a16:creationId xmlns:a16="http://schemas.microsoft.com/office/drawing/2014/main" id="{A6F67076-A80F-E6ED-F7C9-64A7AEC7F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202" y="1088113"/>
            <a:ext cx="1920090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2</a:t>
            </a:r>
          </a:p>
        </p:txBody>
      </p:sp>
      <p:sp>
        <p:nvSpPr>
          <p:cNvPr id="8" name="Text Box 19">
            <a:extLst>
              <a:ext uri="{FF2B5EF4-FFF2-40B4-BE49-F238E27FC236}">
                <a16:creationId xmlns:a16="http://schemas.microsoft.com/office/drawing/2014/main" id="{D23D7E9A-8191-4A32-8AE7-A6522CF3E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676" y="1081763"/>
            <a:ext cx="1942977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Conductor 1</a:t>
            </a:r>
          </a:p>
        </p:txBody>
      </p:sp>
      <p:grpSp>
        <p:nvGrpSpPr>
          <p:cNvPr id="9" name="Group 65">
            <a:extLst>
              <a:ext uri="{FF2B5EF4-FFF2-40B4-BE49-F238E27FC236}">
                <a16:creationId xmlns:a16="http://schemas.microsoft.com/office/drawing/2014/main" id="{CD048E43-05EE-33E5-F573-2C35D96213DD}"/>
              </a:ext>
            </a:extLst>
          </p:cNvPr>
          <p:cNvGrpSpPr>
            <a:grpSpLocks/>
          </p:cNvGrpSpPr>
          <p:nvPr/>
        </p:nvGrpSpPr>
        <p:grpSpPr bwMode="auto">
          <a:xfrm>
            <a:off x="160420" y="2625261"/>
            <a:ext cx="1150938" cy="682625"/>
            <a:chOff x="199" y="2712"/>
            <a:chExt cx="725" cy="430"/>
          </a:xfrm>
        </p:grpSpPr>
        <p:sp>
          <p:nvSpPr>
            <p:cNvPr id="10" name="Rectangle 66">
              <a:extLst>
                <a:ext uri="{FF2B5EF4-FFF2-40B4-BE49-F238E27FC236}">
                  <a16:creationId xmlns:a16="http://schemas.microsoft.com/office/drawing/2014/main" id="{06F27BAD-5833-D870-350B-DBFE8C0F2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" y="2712"/>
              <a:ext cx="725" cy="4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Text Box 67">
              <a:extLst>
                <a:ext uri="{FF2B5EF4-FFF2-40B4-BE49-F238E27FC236}">
                  <a16:creationId xmlns:a16="http://schemas.microsoft.com/office/drawing/2014/main" id="{C3428C05-8573-DC99-F599-C0ACF8B2E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723"/>
              <a:ext cx="263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b="1">
                  <a:solidFill>
                    <a:srgbClr val="FF33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12" name="Line 68">
              <a:extLst>
                <a:ext uri="{FF2B5EF4-FFF2-40B4-BE49-F238E27FC236}">
                  <a16:creationId xmlns:a16="http://schemas.microsoft.com/office/drawing/2014/main" id="{61F6A176-9CF0-8054-40DC-83079A228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" y="2808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3" name="AutoShape 69">
              <a:extLst>
                <a:ext uri="{FF2B5EF4-FFF2-40B4-BE49-F238E27FC236}">
                  <a16:creationId xmlns:a16="http://schemas.microsoft.com/office/drawing/2014/main" id="{CB954473-FCC0-719F-3976-DB3676298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" y="2838"/>
              <a:ext cx="219" cy="168"/>
            </a:xfrm>
            <a:prstGeom prst="rightArrow">
              <a:avLst>
                <a:gd name="adj1" fmla="val 50000"/>
                <a:gd name="adj2" fmla="val 32589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95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95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5033" grpId="0"/>
      <p:bldP spid="2" grpId="0"/>
      <p:bldP spid="163" grpId="0"/>
      <p:bldP spid="165" grpId="0" animBg="1"/>
      <p:bldP spid="1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3983301" y="127590"/>
            <a:ext cx="3575416" cy="58744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SEMICONDUCTORES</a:t>
            </a:r>
          </a:p>
        </p:txBody>
      </p:sp>
      <p:sp>
        <p:nvSpPr>
          <p:cNvPr id="897051" name="Text Box 27"/>
          <p:cNvSpPr txBox="1">
            <a:spLocks noChangeArrowheads="1"/>
          </p:cNvSpPr>
          <p:nvPr/>
        </p:nvSpPr>
        <p:spPr bwMode="auto">
          <a:xfrm>
            <a:off x="1216438" y="712913"/>
            <a:ext cx="8225514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un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semiconductor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se puede hablar de dos tipos de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portadores de carga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en tanto a </a:t>
            </a:r>
            <a:r>
              <a:rPr lang="es-ES" sz="2400">
                <a:latin typeface="Arial" panose="020B0604020202020204" pitchFamily="34" charset="0"/>
              </a:rPr>
              <a:t>conducción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897052" name="Text Box 28"/>
          <p:cNvSpPr txBox="1">
            <a:spLocks noChangeArrowheads="1"/>
          </p:cNvSpPr>
          <p:nvPr/>
        </p:nvSpPr>
        <p:spPr bwMode="auto">
          <a:xfrm>
            <a:off x="1308904" y="1840285"/>
            <a:ext cx="5862800" cy="978584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1º) Los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electrones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que se mueven en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BC</a:t>
            </a:r>
          </a:p>
          <a:p>
            <a:pPr algn="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(con energías correspondientes a BC)</a:t>
            </a:r>
          </a:p>
        </p:txBody>
      </p:sp>
      <p:sp>
        <p:nvSpPr>
          <p:cNvPr id="897053" name="Text Box 29"/>
          <p:cNvSpPr txBox="1">
            <a:spLocks noChangeArrowheads="1"/>
          </p:cNvSpPr>
          <p:nvPr/>
        </p:nvSpPr>
        <p:spPr bwMode="auto">
          <a:xfrm>
            <a:off x="1239376" y="2832066"/>
            <a:ext cx="6086477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desplazan 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libremente</a:t>
            </a:r>
            <a:r>
              <a:rPr lang="en-US" sz="2400">
                <a:solidFill>
                  <a:srgbClr val="FF0000"/>
                </a:solidFill>
                <a:latin typeface="Arial" panose="020B0604020202020204" pitchFamily="34" charset="0"/>
              </a:rPr>
              <a:t>»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por el material</a:t>
            </a:r>
          </a:p>
        </p:txBody>
      </p:sp>
      <p:sp>
        <p:nvSpPr>
          <p:cNvPr id="897054" name="Text Box 30"/>
          <p:cNvSpPr txBox="1">
            <a:spLocks noChangeArrowheads="1"/>
          </p:cNvSpPr>
          <p:nvPr/>
        </p:nvSpPr>
        <p:spPr bwMode="auto">
          <a:xfrm>
            <a:off x="1331714" y="3615272"/>
            <a:ext cx="5789062" cy="6092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2º) Los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electrones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que se mueven en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BV</a:t>
            </a:r>
          </a:p>
        </p:txBody>
      </p:sp>
      <p:sp>
        <p:nvSpPr>
          <p:cNvPr id="897055" name="Text Box 31"/>
          <p:cNvSpPr txBox="1">
            <a:spLocks noChangeArrowheads="1"/>
          </p:cNvSpPr>
          <p:nvPr/>
        </p:nvSpPr>
        <p:spPr bwMode="auto">
          <a:xfrm>
            <a:off x="1265026" y="4243539"/>
            <a:ext cx="8959626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Pasan de un átomo o molécula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a otro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vecino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al que le falte un e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897056" name="Text Box 32"/>
          <p:cNvSpPr txBox="1">
            <a:spLocks noChangeArrowheads="1"/>
          </p:cNvSpPr>
          <p:nvPr/>
        </p:nvSpPr>
        <p:spPr bwMode="auto">
          <a:xfrm>
            <a:off x="1711837" y="5036528"/>
            <a:ext cx="8083389" cy="978584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26000" tIns="118800" rIns="126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El movimiento es equivalente al de la vacante, pero con carga positiva, moviéndose en sentido contrario</a:t>
            </a:r>
          </a:p>
        </p:txBody>
      </p:sp>
      <p:sp>
        <p:nvSpPr>
          <p:cNvPr id="897057" name="Text Box 33"/>
          <p:cNvSpPr txBox="1">
            <a:spLocks noChangeArrowheads="1"/>
          </p:cNvSpPr>
          <p:nvPr/>
        </p:nvSpPr>
        <p:spPr bwMode="auto">
          <a:xfrm>
            <a:off x="1714641" y="6319378"/>
            <a:ext cx="4026946" cy="476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Dicha entidad se denomina:</a:t>
            </a:r>
          </a:p>
        </p:txBody>
      </p:sp>
      <p:sp>
        <p:nvSpPr>
          <p:cNvPr id="35857" name="Text Box 34"/>
          <p:cNvSpPr txBox="1">
            <a:spLocks noChangeArrowheads="1"/>
          </p:cNvSpPr>
          <p:nvPr/>
        </p:nvSpPr>
        <p:spPr bwMode="auto">
          <a:xfrm>
            <a:off x="5769992" y="6198895"/>
            <a:ext cx="1293812" cy="6096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HUECO</a:t>
            </a:r>
          </a:p>
        </p:txBody>
      </p:sp>
      <p:sp>
        <p:nvSpPr>
          <p:cNvPr id="35858" name="12 CuadroTexto"/>
          <p:cNvSpPr txBox="1">
            <a:spLocks noChangeArrowheads="1"/>
          </p:cNvSpPr>
          <p:nvPr/>
        </p:nvSpPr>
        <p:spPr bwMode="auto">
          <a:xfrm>
            <a:off x="7173982" y="6268442"/>
            <a:ext cx="2597149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</a:rPr>
              <a:t>(en inglés: ”hole”)</a:t>
            </a:r>
          </a:p>
        </p:txBody>
      </p:sp>
      <p:grpSp>
        <p:nvGrpSpPr>
          <p:cNvPr id="3" name="16 Grupo"/>
          <p:cNvGrpSpPr>
            <a:grpSpLocks/>
          </p:cNvGrpSpPr>
          <p:nvPr/>
        </p:nvGrpSpPr>
        <p:grpSpPr bwMode="auto">
          <a:xfrm>
            <a:off x="7477305" y="1683862"/>
            <a:ext cx="3100388" cy="2203450"/>
            <a:chOff x="6972300" y="2136775"/>
            <a:chExt cx="3100388" cy="2203450"/>
          </a:xfrm>
        </p:grpSpPr>
        <p:pic>
          <p:nvPicPr>
            <p:cNvPr id="35854" name="Picture 25" descr="imagesCA8TKQLI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2300" y="2136775"/>
              <a:ext cx="3100388" cy="2203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5" name="14 Rectángulo"/>
            <p:cNvSpPr>
              <a:spLocks noChangeArrowheads="1"/>
            </p:cNvSpPr>
            <p:nvPr/>
          </p:nvSpPr>
          <p:spPr bwMode="auto">
            <a:xfrm>
              <a:off x="7230359" y="3817856"/>
              <a:ext cx="1640264" cy="2356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856" name="15 Rectángulo"/>
            <p:cNvSpPr>
              <a:spLocks noChangeArrowheads="1"/>
            </p:cNvSpPr>
            <p:nvPr/>
          </p:nvSpPr>
          <p:spPr bwMode="auto">
            <a:xfrm>
              <a:off x="7222500" y="3932548"/>
              <a:ext cx="912832" cy="2058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9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9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9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9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9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9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9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nimBg="1"/>
      <p:bldP spid="897051" grpId="0"/>
      <p:bldP spid="897052" grpId="0" animBg="1"/>
      <p:bldP spid="897053" grpId="0"/>
      <p:bldP spid="897054" grpId="0" animBg="1"/>
      <p:bldP spid="897055" grpId="0"/>
      <p:bldP spid="897056" grpId="0" animBg="1"/>
      <p:bldP spid="897057" grpId="0"/>
      <p:bldP spid="35857" grpId="0" animBg="1"/>
      <p:bldP spid="3585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D7330-E6EE-4D2D-1B50-E0098280F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:a16="http://schemas.microsoft.com/office/drawing/2014/main" id="{B9CD9498-4F55-79EF-1C0C-F3A66DFE4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301" y="127590"/>
            <a:ext cx="3575416" cy="58744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SEMICONDUCTORES</a:t>
            </a:r>
          </a:p>
        </p:txBody>
      </p:sp>
      <p:sp>
        <p:nvSpPr>
          <p:cNvPr id="897051" name="Text Box 27">
            <a:extLst>
              <a:ext uri="{FF2B5EF4-FFF2-40B4-BE49-F238E27FC236}">
                <a16:creationId xmlns:a16="http://schemas.microsoft.com/office/drawing/2014/main" id="{87387F50-BED5-7719-E46C-8C9195A92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438" y="712913"/>
            <a:ext cx="8225514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un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semiconductor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se puede hablar de dos tipos de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portadores de carga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en tanto a </a:t>
            </a:r>
            <a:r>
              <a:rPr lang="es-ES" sz="2400">
                <a:latin typeface="Arial" panose="020B0604020202020204" pitchFamily="34" charset="0"/>
              </a:rPr>
              <a:t>conducción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897052" name="Text Box 28">
            <a:extLst>
              <a:ext uri="{FF2B5EF4-FFF2-40B4-BE49-F238E27FC236}">
                <a16:creationId xmlns:a16="http://schemas.microsoft.com/office/drawing/2014/main" id="{6CAFE4E3-8B5C-2CEE-CB3A-91DFBF186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904" y="1840285"/>
            <a:ext cx="5806696" cy="6092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1º) Los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electrones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que se mueven en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BC</a:t>
            </a:r>
          </a:p>
        </p:txBody>
      </p:sp>
      <p:sp>
        <p:nvSpPr>
          <p:cNvPr id="897054" name="Text Box 30">
            <a:extLst>
              <a:ext uri="{FF2B5EF4-FFF2-40B4-BE49-F238E27FC236}">
                <a16:creationId xmlns:a16="http://schemas.microsoft.com/office/drawing/2014/main" id="{B3BE0153-DC2D-23D2-4510-9CE7B2DE0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714" y="2991814"/>
            <a:ext cx="5789062" cy="6092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2º) Los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electrones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que se mueven en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BV</a:t>
            </a:r>
          </a:p>
        </p:txBody>
      </p:sp>
      <p:grpSp>
        <p:nvGrpSpPr>
          <p:cNvPr id="3" name="16 Grupo">
            <a:extLst>
              <a:ext uri="{FF2B5EF4-FFF2-40B4-BE49-F238E27FC236}">
                <a16:creationId xmlns:a16="http://schemas.microsoft.com/office/drawing/2014/main" id="{F6631439-FF16-427D-54CC-E2C53D9D66D3}"/>
              </a:ext>
            </a:extLst>
          </p:cNvPr>
          <p:cNvGrpSpPr>
            <a:grpSpLocks/>
          </p:cNvGrpSpPr>
          <p:nvPr/>
        </p:nvGrpSpPr>
        <p:grpSpPr bwMode="auto">
          <a:xfrm>
            <a:off x="7477305" y="1683862"/>
            <a:ext cx="3100388" cy="2203450"/>
            <a:chOff x="6972300" y="2136775"/>
            <a:chExt cx="3100388" cy="2203450"/>
          </a:xfrm>
        </p:grpSpPr>
        <p:pic>
          <p:nvPicPr>
            <p:cNvPr id="35854" name="Picture 25" descr="imagesCA8TKQLI">
              <a:extLst>
                <a:ext uri="{FF2B5EF4-FFF2-40B4-BE49-F238E27FC236}">
                  <a16:creationId xmlns:a16="http://schemas.microsoft.com/office/drawing/2014/main" id="{FF6CF2E9-2D30-7BDD-CC32-E30E322CD2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2300" y="2136775"/>
              <a:ext cx="3100388" cy="2203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5" name="14 Rectángulo">
              <a:extLst>
                <a:ext uri="{FF2B5EF4-FFF2-40B4-BE49-F238E27FC236}">
                  <a16:creationId xmlns:a16="http://schemas.microsoft.com/office/drawing/2014/main" id="{67C1BA9B-4B59-E96A-CC31-B4EC9C545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0359" y="3817856"/>
              <a:ext cx="1640264" cy="2356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856" name="15 Rectángulo">
              <a:extLst>
                <a:ext uri="{FF2B5EF4-FFF2-40B4-BE49-F238E27FC236}">
                  <a16:creationId xmlns:a16="http://schemas.microsoft.com/office/drawing/2014/main" id="{03EC6744-8697-E33E-4022-72263AA90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2500" y="3932548"/>
              <a:ext cx="912832" cy="2058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Text Box 31">
            <a:extLst>
              <a:ext uri="{FF2B5EF4-FFF2-40B4-BE49-F238E27FC236}">
                <a16:creationId xmlns:a16="http://schemas.microsoft.com/office/drawing/2014/main" id="{931EFE75-E994-29F4-0BBB-0C1B05858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5278" y="4216073"/>
            <a:ext cx="8043914" cy="978584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denominación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electrón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se reserva para los electrones que se </a:t>
            </a:r>
            <a:r>
              <a:rPr lang="es-ES" sz="2400">
                <a:latin typeface="Arial" panose="020B0604020202020204" pitchFamily="34" charset="0"/>
              </a:rPr>
              <a:t>mueven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con energías correspondientes a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BC</a:t>
            </a:r>
            <a:endParaRPr lang="es-ES" sz="2400" b="1" baseline="30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Box 14">
            <a:extLst>
              <a:ext uri="{FF2B5EF4-FFF2-40B4-BE49-F238E27FC236}">
                <a16:creationId xmlns:a16="http://schemas.microsoft.com/office/drawing/2014/main" id="{183B33C4-7696-03D3-C869-4AD4D2449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5278" y="5423519"/>
            <a:ext cx="8043914" cy="1347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Como la creación de un hueco conlleva el paso de un electrón de </a:t>
            </a:r>
            <a:r>
              <a:rPr lang="es-ES" sz="2400" b="1">
                <a:latin typeface="Arial" panose="020B0604020202020204" pitchFamily="34" charset="0"/>
              </a:rPr>
              <a:t>BV</a:t>
            </a:r>
            <a:r>
              <a:rPr lang="es-ES" sz="2400">
                <a:latin typeface="Arial" panose="020B0604020202020204" pitchFamily="34" charset="0"/>
              </a:rPr>
              <a:t> a </a:t>
            </a:r>
            <a:r>
              <a:rPr lang="es-ES" sz="2400" b="1">
                <a:latin typeface="Arial" panose="020B0604020202020204" pitchFamily="34" charset="0"/>
              </a:rPr>
              <a:t>BC</a:t>
            </a:r>
            <a:r>
              <a:rPr lang="es-ES" sz="2400">
                <a:latin typeface="Arial" panose="020B0604020202020204" pitchFamily="34" charset="0"/>
              </a:rPr>
              <a:t>, se habla de par electrón-hueco y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de generación de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pares electrón-hueco</a:t>
            </a:r>
          </a:p>
        </p:txBody>
      </p:sp>
    </p:spTree>
    <p:extLst>
      <p:ext uri="{BB962C8B-B14F-4D97-AF65-F5344CB8AC3E}">
        <p14:creationId xmlns:p14="http://schemas.microsoft.com/office/powerpoint/2010/main" val="119547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C960E6E6-3163-7315-A688-D73ED98E4198}"/>
              </a:ext>
            </a:extLst>
          </p:cNvPr>
          <p:cNvGrpSpPr/>
          <p:nvPr/>
        </p:nvGrpSpPr>
        <p:grpSpPr>
          <a:xfrm>
            <a:off x="4875877" y="3597703"/>
            <a:ext cx="1758950" cy="2616200"/>
            <a:chOff x="4809202" y="3718279"/>
            <a:chExt cx="1758950" cy="2616200"/>
          </a:xfrm>
        </p:grpSpPr>
        <p:sp>
          <p:nvSpPr>
            <p:cNvPr id="42023" name="Rectangle 21"/>
            <p:cNvSpPr>
              <a:spLocks noChangeArrowheads="1"/>
            </p:cNvSpPr>
            <p:nvPr/>
          </p:nvSpPr>
          <p:spPr bwMode="auto">
            <a:xfrm>
              <a:off x="4809202" y="3718279"/>
              <a:ext cx="1758950" cy="261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4F372CF5-348B-0863-7A0C-68BFB2D97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8853" y="3792684"/>
              <a:ext cx="1669774" cy="2524539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996C453B-D353-5C63-4521-59E23968A8E8}"/>
              </a:ext>
            </a:extLst>
          </p:cNvPr>
          <p:cNvGrpSpPr/>
          <p:nvPr/>
        </p:nvGrpSpPr>
        <p:grpSpPr>
          <a:xfrm>
            <a:off x="4955924" y="4391686"/>
            <a:ext cx="1669774" cy="1242391"/>
            <a:chOff x="2878731" y="4333056"/>
            <a:chExt cx="1669774" cy="1242391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0C681ADF-CB2E-2E61-1948-16BDDB781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8731" y="4333056"/>
              <a:ext cx="1669774" cy="1242391"/>
            </a:xfrm>
            <a:prstGeom prst="rect">
              <a:avLst/>
            </a:prstGeom>
          </p:spPr>
        </p:pic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FF0D4E1-E43A-A6EB-43A6-2F83EF91284E}"/>
                </a:ext>
              </a:extLst>
            </p:cNvPr>
            <p:cNvGrpSpPr/>
            <p:nvPr/>
          </p:nvGrpSpPr>
          <p:grpSpPr>
            <a:xfrm>
              <a:off x="3136630" y="4552397"/>
              <a:ext cx="1226004" cy="747969"/>
              <a:chOff x="5272386" y="4736064"/>
              <a:chExt cx="1226004" cy="747969"/>
            </a:xfrm>
          </p:grpSpPr>
          <p:sp>
            <p:nvSpPr>
              <p:cNvPr id="42025" name="Line 15"/>
              <p:cNvSpPr>
                <a:spLocks noChangeShapeType="1"/>
              </p:cNvSpPr>
              <p:nvPr/>
            </p:nvSpPr>
            <p:spPr bwMode="auto">
              <a:xfrm flipV="1">
                <a:off x="5272386" y="4736064"/>
                <a:ext cx="0" cy="747969"/>
              </a:xfrm>
              <a:prstGeom prst="line">
                <a:avLst/>
              </a:prstGeom>
              <a:noFill/>
              <a:ln w="25400">
                <a:solidFill>
                  <a:srgbClr val="80808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42026" name="Line 16"/>
              <p:cNvSpPr>
                <a:spLocks noChangeShapeType="1"/>
              </p:cNvSpPr>
              <p:nvPr/>
            </p:nvSpPr>
            <p:spPr bwMode="auto">
              <a:xfrm flipV="1">
                <a:off x="5483963" y="4736064"/>
                <a:ext cx="0" cy="747969"/>
              </a:xfrm>
              <a:prstGeom prst="line">
                <a:avLst/>
              </a:prstGeom>
              <a:noFill/>
              <a:ln w="25400">
                <a:solidFill>
                  <a:srgbClr val="80808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42027" name="Line 17"/>
              <p:cNvSpPr>
                <a:spLocks noChangeShapeType="1"/>
              </p:cNvSpPr>
              <p:nvPr/>
            </p:nvSpPr>
            <p:spPr bwMode="auto">
              <a:xfrm flipV="1">
                <a:off x="5751580" y="4736064"/>
                <a:ext cx="0" cy="747969"/>
              </a:xfrm>
              <a:prstGeom prst="line">
                <a:avLst/>
              </a:prstGeom>
              <a:noFill/>
              <a:ln w="25400">
                <a:solidFill>
                  <a:srgbClr val="80808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42028" name="Line 18"/>
              <p:cNvSpPr>
                <a:spLocks noChangeShapeType="1"/>
              </p:cNvSpPr>
              <p:nvPr/>
            </p:nvSpPr>
            <p:spPr bwMode="auto">
              <a:xfrm flipV="1">
                <a:off x="5979168" y="4736064"/>
                <a:ext cx="0" cy="747969"/>
              </a:xfrm>
              <a:prstGeom prst="line">
                <a:avLst/>
              </a:prstGeom>
              <a:noFill/>
              <a:ln w="25400">
                <a:solidFill>
                  <a:srgbClr val="80808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42029" name="Line 19"/>
              <p:cNvSpPr>
                <a:spLocks noChangeShapeType="1"/>
              </p:cNvSpPr>
              <p:nvPr/>
            </p:nvSpPr>
            <p:spPr bwMode="auto">
              <a:xfrm flipV="1">
                <a:off x="6238779" y="4736064"/>
                <a:ext cx="0" cy="747969"/>
              </a:xfrm>
              <a:prstGeom prst="line">
                <a:avLst/>
              </a:prstGeom>
              <a:noFill/>
              <a:ln w="25400">
                <a:solidFill>
                  <a:srgbClr val="80808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42030" name="Line 20"/>
              <p:cNvSpPr>
                <a:spLocks noChangeShapeType="1"/>
              </p:cNvSpPr>
              <p:nvPr/>
            </p:nvSpPr>
            <p:spPr bwMode="auto">
              <a:xfrm flipV="1">
                <a:off x="6498390" y="4736064"/>
                <a:ext cx="0" cy="747969"/>
              </a:xfrm>
              <a:prstGeom prst="line">
                <a:avLst/>
              </a:prstGeom>
              <a:noFill/>
              <a:ln w="25400">
                <a:solidFill>
                  <a:srgbClr val="80808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1287551" y="368012"/>
            <a:ext cx="9174885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9.2.1 TIPOS DE SEMICONDUCTORES: EC. DE NEUTRALIDAD</a:t>
            </a:r>
          </a:p>
        </p:txBody>
      </p:sp>
      <p:pic>
        <p:nvPicPr>
          <p:cNvPr id="878597" name="Picture 5" descr="imagesCAHL33HI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565" y="3737490"/>
            <a:ext cx="2133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8601" name="Text Box 9"/>
          <p:cNvSpPr txBox="1">
            <a:spLocks noChangeArrowheads="1"/>
          </p:cNvSpPr>
          <p:nvPr/>
        </p:nvSpPr>
        <p:spPr bwMode="auto">
          <a:xfrm>
            <a:off x="1376581" y="922452"/>
            <a:ext cx="2079713" cy="60925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INTRÍNSECO</a:t>
            </a:r>
          </a:p>
        </p:txBody>
      </p:sp>
      <p:sp>
        <p:nvSpPr>
          <p:cNvPr id="878602" name="Text Box 10"/>
          <p:cNvSpPr txBox="1">
            <a:spLocks noChangeArrowheads="1"/>
          </p:cNvSpPr>
          <p:nvPr/>
        </p:nvSpPr>
        <p:spPr bwMode="auto">
          <a:xfrm>
            <a:off x="1103063" y="1596151"/>
            <a:ext cx="8863622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Cristal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que se fabrica,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sin impurezas,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ni imperfecciones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con:</a:t>
            </a:r>
          </a:p>
        </p:txBody>
      </p:sp>
      <p:sp>
        <p:nvSpPr>
          <p:cNvPr id="878603" name="Text Box 11"/>
          <p:cNvSpPr txBox="1">
            <a:spLocks noChangeArrowheads="1"/>
          </p:cNvSpPr>
          <p:nvPr/>
        </p:nvSpPr>
        <p:spPr bwMode="auto">
          <a:xfrm>
            <a:off x="1188671" y="2110692"/>
            <a:ext cx="7860398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Elementos del grupo IVA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del sistema periódico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(Si, Ge)</a:t>
            </a:r>
          </a:p>
        </p:txBody>
      </p:sp>
      <p:sp>
        <p:nvSpPr>
          <p:cNvPr id="878604" name="Text Box 12"/>
          <p:cNvSpPr txBox="1">
            <a:spLocks noChangeArrowheads="1"/>
          </p:cNvSpPr>
          <p:nvPr/>
        </p:nvSpPr>
        <p:spPr bwMode="auto">
          <a:xfrm>
            <a:off x="1117895" y="2508737"/>
            <a:ext cx="9516942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s-ES" sz="2400">
                <a:latin typeface="Arial" panose="020B0604020202020204" pitchFamily="34" charset="0"/>
              </a:rPr>
              <a:t>Compuestos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combinación de elementos del I</a:t>
            </a:r>
            <a:r>
              <a:rPr lang="es-ES" sz="2400">
                <a:latin typeface="Arial" panose="020B0604020202020204" pitchFamily="34" charset="0"/>
              </a:rPr>
              <a:t>IIA y VA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(</a:t>
            </a:r>
            <a:r>
              <a:rPr lang="es-ES" sz="2400" err="1">
                <a:solidFill>
                  <a:srgbClr val="008000"/>
                </a:solidFill>
                <a:latin typeface="Arial" panose="020B0604020202020204" pitchFamily="34" charset="0"/>
              </a:rPr>
              <a:t>GaAs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, </a:t>
            </a:r>
            <a:r>
              <a:rPr lang="es-ES" sz="2400" err="1">
                <a:solidFill>
                  <a:srgbClr val="008000"/>
                </a:solidFill>
                <a:latin typeface="Arial" panose="020B0604020202020204" pitchFamily="34" charset="0"/>
              </a:rPr>
              <a:t>GaP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878605" name="Text Box 13"/>
          <p:cNvSpPr txBox="1">
            <a:spLocks noChangeArrowheads="1"/>
          </p:cNvSpPr>
          <p:nvPr/>
        </p:nvSpPr>
        <p:spPr bwMode="auto">
          <a:xfrm>
            <a:off x="1213245" y="2931242"/>
            <a:ext cx="9267771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Compuestos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combinación de elementos del I</a:t>
            </a:r>
            <a:r>
              <a:rPr lang="es-ES" sz="2400">
                <a:latin typeface="Arial" panose="020B0604020202020204" pitchFamily="34" charset="0"/>
              </a:rPr>
              <a:t>IB y VIA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(ZnS, CdTe)</a:t>
            </a:r>
          </a:p>
        </p:txBody>
      </p: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3937453" y="4074032"/>
            <a:ext cx="1038228" cy="1662113"/>
            <a:chOff x="4181488" y="4529139"/>
            <a:chExt cx="1038228" cy="1662113"/>
          </a:xfrm>
        </p:grpSpPr>
        <p:sp>
          <p:nvSpPr>
            <p:cNvPr id="42015" name="Oval 38"/>
            <p:cNvSpPr>
              <a:spLocks noChangeArrowheads="1"/>
            </p:cNvSpPr>
            <p:nvPr/>
          </p:nvSpPr>
          <p:spPr bwMode="auto">
            <a:xfrm>
              <a:off x="4462476" y="4626578"/>
              <a:ext cx="360363" cy="360363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16" name="Oval 38"/>
            <p:cNvSpPr>
              <a:spLocks noChangeArrowheads="1"/>
            </p:cNvSpPr>
            <p:nvPr/>
          </p:nvSpPr>
          <p:spPr bwMode="auto">
            <a:xfrm>
              <a:off x="4462442" y="5753254"/>
              <a:ext cx="360363" cy="360363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2017" name="Group 43"/>
            <p:cNvGrpSpPr>
              <a:grpSpLocks/>
            </p:cNvGrpSpPr>
            <p:nvPr/>
          </p:nvGrpSpPr>
          <p:grpSpPr bwMode="auto">
            <a:xfrm>
              <a:off x="4181488" y="4529139"/>
              <a:ext cx="1038228" cy="1662113"/>
              <a:chOff x="2634" y="2853"/>
              <a:chExt cx="654" cy="1047"/>
            </a:xfrm>
          </p:grpSpPr>
          <p:sp>
            <p:nvSpPr>
              <p:cNvPr id="42018" name="Text Box 23"/>
              <p:cNvSpPr txBox="1">
                <a:spLocks noChangeArrowheads="1"/>
              </p:cNvSpPr>
              <p:nvPr/>
            </p:nvSpPr>
            <p:spPr bwMode="auto">
              <a:xfrm>
                <a:off x="2634" y="3115"/>
                <a:ext cx="581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1,1 eV</a:t>
                </a:r>
              </a:p>
            </p:txBody>
          </p:sp>
          <p:sp>
            <p:nvSpPr>
              <p:cNvPr id="42019" name="Text Box 24"/>
              <p:cNvSpPr txBox="1">
                <a:spLocks noChangeArrowheads="1"/>
              </p:cNvSpPr>
              <p:nvPr/>
            </p:nvSpPr>
            <p:spPr bwMode="auto">
              <a:xfrm>
                <a:off x="2636" y="3332"/>
                <a:ext cx="581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0,7 eV</a:t>
                </a:r>
              </a:p>
            </p:txBody>
          </p:sp>
          <p:sp>
            <p:nvSpPr>
              <p:cNvPr id="42020" name="Text Box 25"/>
              <p:cNvSpPr txBox="1">
                <a:spLocks noChangeArrowheads="1"/>
              </p:cNvSpPr>
              <p:nvPr/>
            </p:nvSpPr>
            <p:spPr bwMode="auto">
              <a:xfrm>
                <a:off x="2790" y="2853"/>
                <a:ext cx="259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latin typeface="Arial" panose="020B0604020202020204" pitchFamily="34" charset="0"/>
                  </a:rPr>
                  <a:t>Si</a:t>
                </a:r>
              </a:p>
            </p:txBody>
          </p:sp>
          <p:sp>
            <p:nvSpPr>
              <p:cNvPr id="42021" name="Text Box 26"/>
              <p:cNvSpPr txBox="1">
                <a:spLocks noChangeArrowheads="1"/>
              </p:cNvSpPr>
              <p:nvPr/>
            </p:nvSpPr>
            <p:spPr bwMode="auto">
              <a:xfrm>
                <a:off x="2738" y="3555"/>
                <a:ext cx="380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latin typeface="Arial" panose="020B0604020202020204" pitchFamily="34" charset="0"/>
                  </a:rPr>
                  <a:t>Ge</a:t>
                </a:r>
              </a:p>
            </p:txBody>
          </p:sp>
          <p:sp>
            <p:nvSpPr>
              <p:cNvPr id="42022" name="Line 27"/>
              <p:cNvSpPr>
                <a:spLocks noChangeShapeType="1"/>
              </p:cNvSpPr>
              <p:nvPr/>
            </p:nvSpPr>
            <p:spPr bwMode="auto">
              <a:xfrm flipH="1">
                <a:off x="3288" y="3154"/>
                <a:ext cx="0" cy="539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</p:grp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7E3C4E99-EAE2-7C19-2867-7562379E9D37}"/>
              </a:ext>
            </a:extLst>
          </p:cNvPr>
          <p:cNvGrpSpPr/>
          <p:nvPr/>
        </p:nvGrpSpPr>
        <p:grpSpPr>
          <a:xfrm>
            <a:off x="1469880" y="5882623"/>
            <a:ext cx="2187575" cy="793750"/>
            <a:chOff x="1469880" y="5879764"/>
            <a:chExt cx="2187575" cy="793750"/>
          </a:xfrm>
        </p:grpSpPr>
        <p:sp>
          <p:nvSpPr>
            <p:cNvPr id="42013" name="Oval 38"/>
            <p:cNvSpPr>
              <a:spLocks noChangeArrowheads="1"/>
            </p:cNvSpPr>
            <p:nvPr/>
          </p:nvSpPr>
          <p:spPr bwMode="auto">
            <a:xfrm>
              <a:off x="2760842" y="5975014"/>
              <a:ext cx="360363" cy="360363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14" name="Text Box 33"/>
            <p:cNvSpPr txBox="1">
              <a:spLocks noChangeArrowheads="1"/>
            </p:cNvSpPr>
            <p:nvPr/>
          </p:nvSpPr>
          <p:spPr bwMode="auto">
            <a:xfrm>
              <a:off x="1469880" y="5879764"/>
              <a:ext cx="2187575" cy="793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chemeClr val="tx2"/>
                  </a:solidFill>
                  <a:latin typeface="Arial" panose="020B0604020202020204" pitchFamily="34" charset="0"/>
                </a:rPr>
                <a:t>Cada  Si comparte 4 e</a:t>
              </a:r>
              <a:r>
                <a:rPr lang="es-ES" sz="2000" baseline="30000">
                  <a:solidFill>
                    <a:schemeClr val="tx2"/>
                  </a:solidFill>
                  <a:latin typeface="Arial" panose="020B0604020202020204" pitchFamily="34" charset="0"/>
                </a:rPr>
                <a:t>-</a:t>
              </a:r>
              <a:r>
                <a:rPr lang="es-ES" sz="2000">
                  <a:solidFill>
                    <a:schemeClr val="tx2"/>
                  </a:solidFill>
                  <a:latin typeface="Arial" panose="020B0604020202020204" pitchFamily="34" charset="0"/>
                </a:rPr>
                <a:t> con vecinos</a:t>
              </a:r>
            </a:p>
          </p:txBody>
        </p:sp>
      </p:grpSp>
      <p:sp>
        <p:nvSpPr>
          <p:cNvPr id="878626" name="Text Box 34"/>
          <p:cNvSpPr txBox="1">
            <a:spLocks noChangeArrowheads="1"/>
          </p:cNvSpPr>
          <p:nvPr/>
        </p:nvSpPr>
        <p:spPr bwMode="auto">
          <a:xfrm>
            <a:off x="4209341" y="6176534"/>
            <a:ext cx="3118034" cy="85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>
                <a:solidFill>
                  <a:schemeClr val="tx2"/>
                </a:solidFill>
                <a:latin typeface="Arial" panose="020B0604020202020204" pitchFamily="34" charset="0"/>
              </a:rPr>
              <a:t>Considerando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>
                <a:solidFill>
                  <a:schemeClr val="tx2"/>
                </a:solidFill>
                <a:latin typeface="Arial" panose="020B0604020202020204" pitchFamily="34" charset="0"/>
              </a:rPr>
              <a:t>la producción de pares</a:t>
            </a:r>
          </a:p>
        </p:txBody>
      </p:sp>
      <p:sp>
        <p:nvSpPr>
          <p:cNvPr id="878629" name="Text Box 37"/>
          <p:cNvSpPr txBox="1">
            <a:spLocks noChangeArrowheads="1"/>
          </p:cNvSpPr>
          <p:nvPr/>
        </p:nvSpPr>
        <p:spPr bwMode="auto">
          <a:xfrm>
            <a:off x="3661151" y="930389"/>
            <a:ext cx="2852361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denota con una: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42006" name="Text Box 43"/>
          <p:cNvSpPr txBox="1">
            <a:spLocks noChangeArrowheads="1"/>
          </p:cNvSpPr>
          <p:nvPr/>
        </p:nvSpPr>
        <p:spPr bwMode="auto">
          <a:xfrm>
            <a:off x="6657084" y="5436969"/>
            <a:ext cx="325438" cy="401638"/>
          </a:xfrm>
          <a:prstGeom prst="rect">
            <a:avLst/>
          </a:prstGeom>
          <a:solidFill>
            <a:srgbClr val="98CB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6800" rIns="54000" bIns="46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42007" name="Text Box 44"/>
          <p:cNvSpPr txBox="1">
            <a:spLocks noChangeArrowheads="1"/>
          </p:cNvSpPr>
          <p:nvPr/>
        </p:nvSpPr>
        <p:spPr bwMode="auto">
          <a:xfrm>
            <a:off x="6668197" y="4138393"/>
            <a:ext cx="325438" cy="39687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6800" rIns="54000" bIns="46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4" name="CuadroTexto 3"/>
          <p:cNvSpPr txBox="1">
            <a:spLocks noChangeArrowheads="1"/>
          </p:cNvSpPr>
          <p:nvPr/>
        </p:nvSpPr>
        <p:spPr bwMode="auto">
          <a:xfrm>
            <a:off x="6620603" y="993006"/>
            <a:ext cx="432445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0" tIns="72000" rIns="180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i</a:t>
            </a:r>
          </a:p>
        </p:txBody>
      </p:sp>
      <p:sp>
        <p:nvSpPr>
          <p:cNvPr id="43" name="Text Box 31"/>
          <p:cNvSpPr txBox="1">
            <a:spLocks noChangeArrowheads="1"/>
          </p:cNvSpPr>
          <p:nvPr/>
        </p:nvSpPr>
        <p:spPr bwMode="auto">
          <a:xfrm>
            <a:off x="8715983" y="4409959"/>
            <a:ext cx="1962695" cy="1362457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none" lIns="90000" tIns="108000" rIns="90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Ecuación de 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neutralidad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del cristal</a:t>
            </a:r>
          </a:p>
        </p:txBody>
      </p:sp>
      <p:sp>
        <p:nvSpPr>
          <p:cNvPr id="44" name="Text Box 28"/>
          <p:cNvSpPr txBox="1">
            <a:spLocks noChangeArrowheads="1"/>
          </p:cNvSpPr>
          <p:nvPr/>
        </p:nvSpPr>
        <p:spPr bwMode="auto">
          <a:xfrm>
            <a:off x="7566424" y="4734016"/>
            <a:ext cx="936625" cy="67627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26000" tIns="154800" rIns="126000" bIns="154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n = p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2AFE6C9D-BD71-40F6-A452-18829DAC72A0}"/>
              </a:ext>
            </a:extLst>
          </p:cNvPr>
          <p:cNvGrpSpPr/>
          <p:nvPr/>
        </p:nvGrpSpPr>
        <p:grpSpPr>
          <a:xfrm>
            <a:off x="7031745" y="3505095"/>
            <a:ext cx="2655309" cy="855665"/>
            <a:chOff x="7031745" y="3625671"/>
            <a:chExt cx="2655309" cy="855665"/>
          </a:xfrm>
        </p:grpSpPr>
        <p:sp>
          <p:nvSpPr>
            <p:cNvPr id="46" name="Text Box 29"/>
            <p:cNvSpPr txBox="1">
              <a:spLocks noChangeArrowheads="1"/>
            </p:cNvSpPr>
            <p:nvPr/>
          </p:nvSpPr>
          <p:spPr bwMode="auto">
            <a:xfrm>
              <a:off x="7494716" y="3625671"/>
              <a:ext cx="2192338" cy="855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Concentración de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electrones en </a:t>
              </a:r>
              <a:r>
                <a:rPr lang="es-E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49" name="Line 35"/>
            <p:cNvSpPr>
              <a:spLocks noChangeShapeType="1"/>
            </p:cNvSpPr>
            <p:nvPr/>
          </p:nvSpPr>
          <p:spPr bwMode="auto">
            <a:xfrm flipV="1">
              <a:off x="7031745" y="4108089"/>
              <a:ext cx="491701" cy="2520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2DD04C61-90E0-43FA-AFD7-007FD300BE01}"/>
              </a:ext>
            </a:extLst>
          </p:cNvPr>
          <p:cNvGrpSpPr/>
          <p:nvPr/>
        </p:nvGrpSpPr>
        <p:grpSpPr>
          <a:xfrm>
            <a:off x="7066676" y="5731330"/>
            <a:ext cx="2635244" cy="970385"/>
            <a:chOff x="7066676" y="5851906"/>
            <a:chExt cx="2635244" cy="970385"/>
          </a:xfrm>
        </p:grpSpPr>
        <p:sp>
          <p:nvSpPr>
            <p:cNvPr id="47" name="Text Box 30"/>
            <p:cNvSpPr txBox="1">
              <a:spLocks noChangeArrowheads="1"/>
            </p:cNvSpPr>
            <p:nvPr/>
          </p:nvSpPr>
          <p:spPr bwMode="auto">
            <a:xfrm>
              <a:off x="7477832" y="5966626"/>
              <a:ext cx="2224088" cy="855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600"/>
                </a:spcBef>
                <a:buFontTx/>
                <a:buNone/>
              </a:pP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Concentración de huecos en </a:t>
              </a:r>
              <a:r>
                <a:rPr lang="es-E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50" name="Line 36"/>
            <p:cNvSpPr>
              <a:spLocks noChangeShapeType="1"/>
            </p:cNvSpPr>
            <p:nvPr/>
          </p:nvSpPr>
          <p:spPr bwMode="auto">
            <a:xfrm>
              <a:off x="7066676" y="5851906"/>
              <a:ext cx="438021" cy="40163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7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7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78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7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87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87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7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87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2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2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2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2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8601" grpId="0" animBg="1"/>
      <p:bldP spid="878602" grpId="0"/>
      <p:bldP spid="878603" grpId="0"/>
      <p:bldP spid="878604" grpId="0"/>
      <p:bldP spid="878605" grpId="0"/>
      <p:bldP spid="878626" grpId="0"/>
      <p:bldP spid="878629" grpId="0"/>
      <p:bldP spid="42006" grpId="0" animBg="1"/>
      <p:bldP spid="42007" grpId="0" animBg="1"/>
      <p:bldP spid="4" grpId="0" animBg="1"/>
      <p:bldP spid="43" grpId="0" animBg="1"/>
      <p:bldP spid="4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40" name="Text Box 4"/>
          <p:cNvSpPr txBox="1">
            <a:spLocks noChangeArrowheads="1"/>
          </p:cNvSpPr>
          <p:nvPr/>
        </p:nvSpPr>
        <p:spPr bwMode="auto">
          <a:xfrm>
            <a:off x="1285430" y="334613"/>
            <a:ext cx="3291583" cy="60925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EXTRÍNSECO TIPO N</a:t>
            </a:r>
          </a:p>
        </p:txBody>
      </p:sp>
      <p:sp>
        <p:nvSpPr>
          <p:cNvPr id="910341" name="Text Box 5"/>
          <p:cNvSpPr txBox="1">
            <a:spLocks noChangeArrowheads="1"/>
          </p:cNvSpPr>
          <p:nvPr/>
        </p:nvSpPr>
        <p:spPr bwMode="auto">
          <a:xfrm>
            <a:off x="1123625" y="966057"/>
            <a:ext cx="7270568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Semiconductor intrínseco dopado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 impurezas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mediante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difusión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o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implantación iónica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10342" name="Text Box 6"/>
          <p:cNvSpPr txBox="1">
            <a:spLocks noChangeArrowheads="1"/>
          </p:cNvSpPr>
          <p:nvPr/>
        </p:nvSpPr>
        <p:spPr bwMode="auto">
          <a:xfrm>
            <a:off x="1195912" y="1758910"/>
            <a:ext cx="9256037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Impurezas: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Elementos grupo VA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del sistema periódico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(P, As, Sb)</a:t>
            </a: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1447813" y="6099179"/>
            <a:ext cx="2665413" cy="855663"/>
            <a:chOff x="912" y="3912"/>
            <a:chExt cx="1679" cy="539"/>
          </a:xfrm>
        </p:grpSpPr>
        <p:sp>
          <p:nvSpPr>
            <p:cNvPr id="44088" name="Oval 51"/>
            <p:cNvSpPr>
              <a:spLocks noChangeArrowheads="1"/>
            </p:cNvSpPr>
            <p:nvPr/>
          </p:nvSpPr>
          <p:spPr bwMode="auto">
            <a:xfrm>
              <a:off x="955" y="3976"/>
              <a:ext cx="227" cy="227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9" name="Text Box 28"/>
            <p:cNvSpPr txBox="1">
              <a:spLocks noChangeArrowheads="1"/>
            </p:cNvSpPr>
            <p:nvPr/>
          </p:nvSpPr>
          <p:spPr bwMode="auto">
            <a:xfrm>
              <a:off x="912" y="3912"/>
              <a:ext cx="1679" cy="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FFFF"/>
                  </a:solidFill>
                  <a:latin typeface="Arial" panose="020B0604020202020204" pitchFamily="34" charset="0"/>
                </a:rPr>
                <a:t>Sb</a:t>
              </a: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  </a:t>
              </a:r>
              <a:r>
                <a:rPr lang="es-ES" sz="2000">
                  <a:solidFill>
                    <a:schemeClr val="tx2"/>
                  </a:solidFill>
                  <a:latin typeface="Arial" panose="020B0604020202020204" pitchFamily="34" charset="0"/>
                </a:rPr>
                <a:t>comparte 4 e</a:t>
              </a:r>
              <a:r>
                <a:rPr lang="es-ES" sz="2000" baseline="30000">
                  <a:solidFill>
                    <a:schemeClr val="tx2"/>
                  </a:solidFill>
                  <a:latin typeface="Arial" panose="020B0604020202020204" pitchFamily="34" charset="0"/>
                </a:rPr>
                <a:t>-</a:t>
              </a:r>
              <a:r>
                <a:rPr lang="es-ES" sz="2000">
                  <a:solidFill>
                    <a:schemeClr val="tx2"/>
                  </a:solidFill>
                  <a:latin typeface="Arial" panose="020B0604020202020204" pitchFamily="34" charset="0"/>
                </a:rPr>
                <a:t> con vecinos y le sobra 1</a:t>
              </a:r>
            </a:p>
          </p:txBody>
        </p:sp>
      </p:grpSp>
      <p:pic>
        <p:nvPicPr>
          <p:cNvPr id="910370" name="Picture 34" descr="imagesCAHL33HI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3" y="3943350"/>
            <a:ext cx="2133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65"/>
          <p:cNvGrpSpPr>
            <a:grpSpLocks/>
          </p:cNvGrpSpPr>
          <p:nvPr/>
        </p:nvGrpSpPr>
        <p:grpSpPr bwMode="auto">
          <a:xfrm>
            <a:off x="2246313" y="4732338"/>
            <a:ext cx="539750" cy="539750"/>
            <a:chOff x="1585" y="3051"/>
            <a:chExt cx="340" cy="340"/>
          </a:xfrm>
        </p:grpSpPr>
        <p:sp>
          <p:nvSpPr>
            <p:cNvPr id="44086" name="Oval 35"/>
            <p:cNvSpPr>
              <a:spLocks noChangeArrowheads="1"/>
            </p:cNvSpPr>
            <p:nvPr/>
          </p:nvSpPr>
          <p:spPr bwMode="auto">
            <a:xfrm>
              <a:off x="1585" y="3051"/>
              <a:ext cx="340" cy="340"/>
            </a:xfrm>
            <a:prstGeom prst="ellipse">
              <a:avLst/>
            </a:prstGeom>
            <a:gradFill rotWithShape="1">
              <a:gsLst>
                <a:gs pos="0">
                  <a:srgbClr val="3366FF"/>
                </a:gs>
                <a:gs pos="100000">
                  <a:srgbClr val="2244A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7" name="Text Box 36"/>
            <p:cNvSpPr txBox="1">
              <a:spLocks noChangeArrowheads="1"/>
            </p:cNvSpPr>
            <p:nvPr/>
          </p:nvSpPr>
          <p:spPr bwMode="auto">
            <a:xfrm>
              <a:off x="1629" y="3070"/>
              <a:ext cx="251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400">
                  <a:solidFill>
                    <a:srgbClr val="FFFFFF"/>
                  </a:solidFill>
                  <a:latin typeface="Arial" panose="020B0604020202020204" pitchFamily="34" charset="0"/>
                </a:rPr>
                <a:t>Sb</a:t>
              </a:r>
            </a:p>
          </p:txBody>
        </p:sp>
      </p:grpSp>
      <p:sp>
        <p:nvSpPr>
          <p:cNvPr id="910373" name="Oval 37"/>
          <p:cNvSpPr>
            <a:spLocks noChangeArrowheads="1"/>
          </p:cNvSpPr>
          <p:nvPr/>
        </p:nvSpPr>
        <p:spPr bwMode="auto">
          <a:xfrm>
            <a:off x="2878138" y="45672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67"/>
          <p:cNvGrpSpPr>
            <a:grpSpLocks/>
          </p:cNvGrpSpPr>
          <p:nvPr/>
        </p:nvGrpSpPr>
        <p:grpSpPr bwMode="auto">
          <a:xfrm>
            <a:off x="1536700" y="3133726"/>
            <a:ext cx="2203450" cy="1355726"/>
            <a:chOff x="1138" y="2044"/>
            <a:chExt cx="1388" cy="854"/>
          </a:xfrm>
        </p:grpSpPr>
        <p:sp>
          <p:nvSpPr>
            <p:cNvPr id="44084" name="Line 38"/>
            <p:cNvSpPr>
              <a:spLocks noChangeShapeType="1"/>
            </p:cNvSpPr>
            <p:nvPr/>
          </p:nvSpPr>
          <p:spPr bwMode="auto">
            <a:xfrm flipH="1">
              <a:off x="2012" y="2392"/>
              <a:ext cx="28" cy="50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4085" name="Text Box 39"/>
            <p:cNvSpPr txBox="1">
              <a:spLocks noChangeArrowheads="1"/>
            </p:cNvSpPr>
            <p:nvPr/>
          </p:nvSpPr>
          <p:spPr bwMode="auto">
            <a:xfrm>
              <a:off x="1138" y="2044"/>
              <a:ext cx="138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30000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 poco ligado</a:t>
              </a:r>
            </a:p>
          </p:txBody>
        </p:sp>
      </p:grpSp>
      <p:grpSp>
        <p:nvGrpSpPr>
          <p:cNvPr id="8" name="51 Grupo"/>
          <p:cNvGrpSpPr>
            <a:grpSpLocks/>
          </p:cNvGrpSpPr>
          <p:nvPr/>
        </p:nvGrpSpPr>
        <p:grpSpPr bwMode="auto">
          <a:xfrm>
            <a:off x="5008106" y="3686175"/>
            <a:ext cx="1720850" cy="2632075"/>
            <a:chOff x="5262563" y="3686175"/>
            <a:chExt cx="1720850" cy="2632075"/>
          </a:xfrm>
        </p:grpSpPr>
        <p:pic>
          <p:nvPicPr>
            <p:cNvPr id="44065" name="Picture 3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2563" y="3686175"/>
              <a:ext cx="1720850" cy="2632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</p:pic>
        <p:grpSp>
          <p:nvGrpSpPr>
            <p:cNvPr id="44066" name="Group 70"/>
            <p:cNvGrpSpPr>
              <a:grpSpLocks/>
            </p:cNvGrpSpPr>
            <p:nvPr/>
          </p:nvGrpSpPr>
          <p:grpSpPr bwMode="auto">
            <a:xfrm>
              <a:off x="5640388" y="4654550"/>
              <a:ext cx="1284288" cy="420688"/>
              <a:chOff x="3583" y="3102"/>
              <a:chExt cx="809" cy="265"/>
            </a:xfrm>
          </p:grpSpPr>
          <p:grpSp>
            <p:nvGrpSpPr>
              <p:cNvPr id="44067" name="Group 51"/>
              <p:cNvGrpSpPr>
                <a:grpSpLocks/>
              </p:cNvGrpSpPr>
              <p:nvPr/>
            </p:nvGrpSpPr>
            <p:grpSpPr bwMode="auto">
              <a:xfrm>
                <a:off x="3583" y="3102"/>
                <a:ext cx="170" cy="265"/>
                <a:chOff x="2523" y="2408"/>
                <a:chExt cx="170" cy="265"/>
              </a:xfrm>
            </p:grpSpPr>
            <p:sp>
              <p:nvSpPr>
                <p:cNvPr id="44077" name="Oval 50"/>
                <p:cNvSpPr>
                  <a:spLocks noChangeArrowheads="1"/>
                </p:cNvSpPr>
                <p:nvPr/>
              </p:nvSpPr>
              <p:spPr bwMode="auto">
                <a:xfrm>
                  <a:off x="2574" y="2508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78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523" y="2408"/>
                  <a:ext cx="170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200"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44068" name="Group 52"/>
              <p:cNvGrpSpPr>
                <a:grpSpLocks/>
              </p:cNvGrpSpPr>
              <p:nvPr/>
            </p:nvGrpSpPr>
            <p:grpSpPr bwMode="auto">
              <a:xfrm>
                <a:off x="3747" y="3102"/>
                <a:ext cx="170" cy="265"/>
                <a:chOff x="2523" y="2408"/>
                <a:chExt cx="170" cy="265"/>
              </a:xfrm>
            </p:grpSpPr>
            <p:sp>
              <p:nvSpPr>
                <p:cNvPr id="44075" name="Oval 53"/>
                <p:cNvSpPr>
                  <a:spLocks noChangeArrowheads="1"/>
                </p:cNvSpPr>
                <p:nvPr/>
              </p:nvSpPr>
              <p:spPr bwMode="auto">
                <a:xfrm>
                  <a:off x="2574" y="2508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76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2523" y="2408"/>
                  <a:ext cx="170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200"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44069" name="Group 55"/>
              <p:cNvGrpSpPr>
                <a:grpSpLocks/>
              </p:cNvGrpSpPr>
              <p:nvPr/>
            </p:nvGrpSpPr>
            <p:grpSpPr bwMode="auto">
              <a:xfrm>
                <a:off x="4058" y="3102"/>
                <a:ext cx="170" cy="265"/>
                <a:chOff x="2523" y="2408"/>
                <a:chExt cx="170" cy="265"/>
              </a:xfrm>
            </p:grpSpPr>
            <p:sp>
              <p:nvSpPr>
                <p:cNvPr id="44073" name="Oval 56"/>
                <p:cNvSpPr>
                  <a:spLocks noChangeArrowheads="1"/>
                </p:cNvSpPr>
                <p:nvPr/>
              </p:nvSpPr>
              <p:spPr bwMode="auto">
                <a:xfrm>
                  <a:off x="2574" y="2508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74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2523" y="2408"/>
                  <a:ext cx="170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200"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44070" name="Group 58"/>
              <p:cNvGrpSpPr>
                <a:grpSpLocks/>
              </p:cNvGrpSpPr>
              <p:nvPr/>
            </p:nvGrpSpPr>
            <p:grpSpPr bwMode="auto">
              <a:xfrm>
                <a:off x="4222" y="3102"/>
                <a:ext cx="170" cy="265"/>
                <a:chOff x="2523" y="2408"/>
                <a:chExt cx="170" cy="265"/>
              </a:xfrm>
            </p:grpSpPr>
            <p:sp>
              <p:nvSpPr>
                <p:cNvPr id="44071" name="Oval 59"/>
                <p:cNvSpPr>
                  <a:spLocks noChangeArrowheads="1"/>
                </p:cNvSpPr>
                <p:nvPr/>
              </p:nvSpPr>
              <p:spPr bwMode="auto">
                <a:xfrm>
                  <a:off x="2574" y="2508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72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2523" y="2408"/>
                  <a:ext cx="170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200"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</p:grpSp>
      </p:grpSp>
      <p:sp>
        <p:nvSpPr>
          <p:cNvPr id="44058" name="Text Box 41"/>
          <p:cNvSpPr txBox="1">
            <a:spLocks noChangeArrowheads="1"/>
          </p:cNvSpPr>
          <p:nvPr/>
        </p:nvSpPr>
        <p:spPr bwMode="auto">
          <a:xfrm>
            <a:off x="7544552" y="3170765"/>
            <a:ext cx="2822575" cy="208597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u="sng">
                <a:solidFill>
                  <a:srgbClr val="FF3300"/>
                </a:solidFill>
                <a:latin typeface="Arial" panose="020B0604020202020204" pitchFamily="34" charset="0"/>
              </a:rPr>
              <a:t>Están localizados</a:t>
            </a:r>
            <a:r>
              <a:rPr lang="es-ES" sz="2400">
                <a:solidFill>
                  <a:srgbClr val="FF3300"/>
                </a:solidFill>
                <a:latin typeface="Arial" panose="020B0604020202020204" pitchFamily="34" charset="0"/>
              </a:rPr>
              <a:t>: </a:t>
            </a:r>
            <a:r>
              <a:rPr lang="es-ES" sz="2400">
                <a:latin typeface="Arial" panose="020B0604020202020204" pitchFamily="34" charset="0"/>
              </a:rPr>
              <a:t>Situados en cierto lugar del cristal.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 representan con un segmento</a:t>
            </a:r>
          </a:p>
        </p:txBody>
      </p:sp>
      <p:sp>
        <p:nvSpPr>
          <p:cNvPr id="57" name="Text Box 37"/>
          <p:cNvSpPr txBox="1">
            <a:spLocks noChangeArrowheads="1"/>
          </p:cNvSpPr>
          <p:nvPr/>
        </p:nvSpPr>
        <p:spPr bwMode="auto">
          <a:xfrm>
            <a:off x="4692753" y="327592"/>
            <a:ext cx="2852361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denota con una: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58" name="CuadroTexto 57"/>
          <p:cNvSpPr txBox="1">
            <a:spLocks noChangeArrowheads="1"/>
          </p:cNvSpPr>
          <p:nvPr/>
        </p:nvSpPr>
        <p:spPr bwMode="auto">
          <a:xfrm>
            <a:off x="7659489" y="374849"/>
            <a:ext cx="535037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0" tIns="72000" rIns="180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n</a:t>
            </a:r>
          </a:p>
        </p:txBody>
      </p:sp>
      <p:sp>
        <p:nvSpPr>
          <p:cNvPr id="42" name="Text Box 43"/>
          <p:cNvSpPr txBox="1">
            <a:spLocks noChangeArrowheads="1"/>
          </p:cNvSpPr>
          <p:nvPr/>
        </p:nvSpPr>
        <p:spPr bwMode="auto">
          <a:xfrm>
            <a:off x="6879684" y="5522089"/>
            <a:ext cx="3767136" cy="1347916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T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ambiente</a:t>
            </a:r>
            <a:r>
              <a:rPr lang="es-ES" sz="2400">
                <a:latin typeface="Arial" panose="020B0604020202020204" pitchFamily="34" charset="0"/>
              </a:rPr>
              <a:t> están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ionizadas</a:t>
            </a:r>
            <a:r>
              <a:rPr lang="es-ES" sz="2400">
                <a:latin typeface="Arial" panose="020B0604020202020204" pitchFamily="34" charset="0"/>
              </a:rPr>
              <a:t> todas las impurezas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(los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 se han “escapado”)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1222878" y="2295683"/>
            <a:ext cx="9256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>
                <a:sym typeface="Symbol" panose="05050102010706020507" pitchFamily="18" charset="2"/>
              </a:rPr>
              <a:t> El cristal, tras calentarlo y enfriarlo, se reestructura incorporando</a:t>
            </a:r>
          </a:p>
          <a:p>
            <a:r>
              <a:rPr lang="es-ES" sz="2400">
                <a:sym typeface="Symbol" panose="05050102010706020507" pitchFamily="18" charset="2"/>
              </a:rPr>
              <a:t>  las impurezas en su estructura</a:t>
            </a:r>
            <a:endParaRPr lang="es-ES" sz="2400"/>
          </a:p>
        </p:txBody>
      </p:sp>
      <p:sp>
        <p:nvSpPr>
          <p:cNvPr id="6" name="Forma libre 5"/>
          <p:cNvSpPr/>
          <p:nvPr/>
        </p:nvSpPr>
        <p:spPr bwMode="auto">
          <a:xfrm>
            <a:off x="6806881" y="4830417"/>
            <a:ext cx="258417" cy="576000"/>
          </a:xfrm>
          <a:custGeom>
            <a:avLst/>
            <a:gdLst>
              <a:gd name="connsiteX0" fmla="*/ 0 w 258417"/>
              <a:gd name="connsiteY0" fmla="*/ 0 h 506896"/>
              <a:gd name="connsiteX1" fmla="*/ 258417 w 258417"/>
              <a:gd name="connsiteY1" fmla="*/ 0 h 506896"/>
              <a:gd name="connsiteX2" fmla="*/ 258417 w 258417"/>
              <a:gd name="connsiteY2" fmla="*/ 506896 h 506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417" h="506896">
                <a:moveTo>
                  <a:pt x="0" y="0"/>
                </a:moveTo>
                <a:lnTo>
                  <a:pt x="258417" y="0"/>
                </a:lnTo>
                <a:lnTo>
                  <a:pt x="258417" y="506896"/>
                </a:lnTo>
              </a:path>
            </a:pathLst>
          </a:custGeom>
          <a:noFill/>
          <a:ln w="25400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118800" rIns="91440" bIns="118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3D626E9-7303-2D9B-D229-BA13FF3BD8BB}"/>
              </a:ext>
            </a:extLst>
          </p:cNvPr>
          <p:cNvGrpSpPr/>
          <p:nvPr/>
        </p:nvGrpSpPr>
        <p:grpSpPr>
          <a:xfrm>
            <a:off x="3701113" y="3132320"/>
            <a:ext cx="3027362" cy="1881188"/>
            <a:chOff x="3831745" y="3132320"/>
            <a:chExt cx="3027362" cy="1881188"/>
          </a:xfrm>
        </p:grpSpPr>
        <p:grpSp>
          <p:nvGrpSpPr>
            <p:cNvPr id="9" name="Group 48">
              <a:extLst>
                <a:ext uri="{FF2B5EF4-FFF2-40B4-BE49-F238E27FC236}">
                  <a16:creationId xmlns:a16="http://schemas.microsoft.com/office/drawing/2014/main" id="{ABC70C4D-EEC1-BDF5-BB67-CBA7D32037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1745" y="3132320"/>
              <a:ext cx="3027362" cy="1881188"/>
              <a:chOff x="2449" y="2020"/>
              <a:chExt cx="1907" cy="1185"/>
            </a:xfrm>
          </p:grpSpPr>
          <p:sp>
            <p:nvSpPr>
              <p:cNvPr id="11" name="Text Box 18">
                <a:extLst>
                  <a:ext uri="{FF2B5EF4-FFF2-40B4-BE49-F238E27FC236}">
                    <a16:creationId xmlns:a16="http://schemas.microsoft.com/office/drawing/2014/main" id="{983EA81C-D715-E01D-FA3F-682837DD0F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22" y="2860"/>
                <a:ext cx="671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0,01 eV</a:t>
                </a:r>
              </a:p>
            </p:txBody>
          </p:sp>
          <p:sp>
            <p:nvSpPr>
              <p:cNvPr id="12" name="Line 22">
                <a:extLst>
                  <a:ext uri="{FF2B5EF4-FFF2-40B4-BE49-F238E27FC236}">
                    <a16:creationId xmlns:a16="http://schemas.microsoft.com/office/drawing/2014/main" id="{E3E216DC-38DF-B4C7-345A-5359471AE5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9" y="2963"/>
                <a:ext cx="0" cy="136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stealth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3" name="Text Box 41">
                <a:extLst>
                  <a:ext uri="{FF2B5EF4-FFF2-40B4-BE49-F238E27FC236}">
                    <a16:creationId xmlns:a16="http://schemas.microsoft.com/office/drawing/2014/main" id="{EDE1A18F-FBDB-8F18-35DE-412BC6987D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9" y="2020"/>
                <a:ext cx="1907" cy="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Niveles de e</a:t>
                </a:r>
                <a:r>
                  <a:rPr lang="es-ES" sz="2400" baseline="30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-</a:t>
                </a: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 poco ligados</a:t>
                </a:r>
              </a:p>
            </p:txBody>
          </p:sp>
        </p:grpSp>
        <p:sp>
          <p:nvSpPr>
            <p:cNvPr id="10" name="Line 38">
              <a:extLst>
                <a:ext uri="{FF2B5EF4-FFF2-40B4-BE49-F238E27FC236}">
                  <a16:creationId xmlns:a16="http://schemas.microsoft.com/office/drawing/2014/main" id="{9916DEAA-0909-E614-2D8C-BBEDF2224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7013" y="4058413"/>
              <a:ext cx="0" cy="438424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584113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1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1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10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1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1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10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10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0340" grpId="0" animBg="1"/>
      <p:bldP spid="910341" grpId="0"/>
      <p:bldP spid="910342" grpId="0"/>
      <p:bldP spid="910373" grpId="0" animBg="1"/>
      <p:bldP spid="44058" grpId="0" animBg="1"/>
      <p:bldP spid="57" grpId="0"/>
      <p:bldP spid="58" grpId="0" animBg="1"/>
      <p:bldP spid="42" grpId="0" animBg="1"/>
      <p:bldP spid="43" grpId="0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40" name="Text Box 4"/>
          <p:cNvSpPr txBox="1">
            <a:spLocks noChangeArrowheads="1"/>
          </p:cNvSpPr>
          <p:nvPr/>
        </p:nvSpPr>
        <p:spPr bwMode="auto">
          <a:xfrm>
            <a:off x="1285430" y="334613"/>
            <a:ext cx="3291583" cy="60925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EXTRÍNSECO TIPO N</a:t>
            </a:r>
          </a:p>
        </p:txBody>
      </p:sp>
      <p:sp>
        <p:nvSpPr>
          <p:cNvPr id="910341" name="Text Box 5"/>
          <p:cNvSpPr txBox="1">
            <a:spLocks noChangeArrowheads="1"/>
          </p:cNvSpPr>
          <p:nvPr/>
        </p:nvSpPr>
        <p:spPr bwMode="auto">
          <a:xfrm>
            <a:off x="1123625" y="966057"/>
            <a:ext cx="7270568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Semiconductor intrínseco dopado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 impurezas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mediante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difusión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o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implantación iónica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10342" name="Text Box 6"/>
          <p:cNvSpPr txBox="1">
            <a:spLocks noChangeArrowheads="1"/>
          </p:cNvSpPr>
          <p:nvPr/>
        </p:nvSpPr>
        <p:spPr bwMode="auto">
          <a:xfrm>
            <a:off x="1195912" y="1758910"/>
            <a:ext cx="9256037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Impurezas: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Elementos grupo VA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del sistema periódico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(P, As, Sb)</a:t>
            </a: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1447813" y="6099179"/>
            <a:ext cx="2665413" cy="855663"/>
            <a:chOff x="912" y="3912"/>
            <a:chExt cx="1679" cy="539"/>
          </a:xfrm>
        </p:grpSpPr>
        <p:sp>
          <p:nvSpPr>
            <p:cNvPr id="44088" name="Oval 51"/>
            <p:cNvSpPr>
              <a:spLocks noChangeArrowheads="1"/>
            </p:cNvSpPr>
            <p:nvPr/>
          </p:nvSpPr>
          <p:spPr bwMode="auto">
            <a:xfrm>
              <a:off x="955" y="3976"/>
              <a:ext cx="227" cy="227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9" name="Text Box 28"/>
            <p:cNvSpPr txBox="1">
              <a:spLocks noChangeArrowheads="1"/>
            </p:cNvSpPr>
            <p:nvPr/>
          </p:nvSpPr>
          <p:spPr bwMode="auto">
            <a:xfrm>
              <a:off x="912" y="3912"/>
              <a:ext cx="1679" cy="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FFFF"/>
                  </a:solidFill>
                  <a:latin typeface="Arial" panose="020B0604020202020204" pitchFamily="34" charset="0"/>
                </a:rPr>
                <a:t>Sb</a:t>
              </a: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  </a:t>
              </a:r>
              <a:r>
                <a:rPr lang="es-ES" sz="2000">
                  <a:latin typeface="Arial" panose="020B0604020202020204" pitchFamily="34" charset="0"/>
                </a:rPr>
                <a:t>comparte 4 e</a:t>
              </a:r>
              <a:r>
                <a:rPr lang="es-ES" sz="2000" baseline="30000">
                  <a:latin typeface="Arial" panose="020B0604020202020204" pitchFamily="34" charset="0"/>
                </a:rPr>
                <a:t>-</a:t>
              </a:r>
              <a:r>
                <a:rPr lang="es-ES" sz="2000">
                  <a:latin typeface="Arial" panose="020B0604020202020204" pitchFamily="34" charset="0"/>
                </a:rPr>
                <a:t> con vecinos y le sobra 1</a:t>
              </a:r>
            </a:p>
          </p:txBody>
        </p:sp>
      </p:grpSp>
      <p:pic>
        <p:nvPicPr>
          <p:cNvPr id="910370" name="Picture 34" descr="imagesCAHL33HI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3" y="3943350"/>
            <a:ext cx="2133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65"/>
          <p:cNvGrpSpPr>
            <a:grpSpLocks/>
          </p:cNvGrpSpPr>
          <p:nvPr/>
        </p:nvGrpSpPr>
        <p:grpSpPr bwMode="auto">
          <a:xfrm>
            <a:off x="2246313" y="4732338"/>
            <a:ext cx="539750" cy="539750"/>
            <a:chOff x="1585" y="3051"/>
            <a:chExt cx="340" cy="340"/>
          </a:xfrm>
        </p:grpSpPr>
        <p:sp>
          <p:nvSpPr>
            <p:cNvPr id="44086" name="Oval 35"/>
            <p:cNvSpPr>
              <a:spLocks noChangeArrowheads="1"/>
            </p:cNvSpPr>
            <p:nvPr/>
          </p:nvSpPr>
          <p:spPr bwMode="auto">
            <a:xfrm>
              <a:off x="1585" y="3051"/>
              <a:ext cx="340" cy="340"/>
            </a:xfrm>
            <a:prstGeom prst="ellipse">
              <a:avLst/>
            </a:prstGeom>
            <a:gradFill rotWithShape="1">
              <a:gsLst>
                <a:gs pos="0">
                  <a:srgbClr val="3366FF"/>
                </a:gs>
                <a:gs pos="100000">
                  <a:srgbClr val="2244A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7" name="Text Box 36"/>
            <p:cNvSpPr txBox="1">
              <a:spLocks noChangeArrowheads="1"/>
            </p:cNvSpPr>
            <p:nvPr/>
          </p:nvSpPr>
          <p:spPr bwMode="auto">
            <a:xfrm>
              <a:off x="1629" y="3070"/>
              <a:ext cx="251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400">
                  <a:solidFill>
                    <a:srgbClr val="FFFFFF"/>
                  </a:solidFill>
                  <a:latin typeface="Arial" panose="020B0604020202020204" pitchFamily="34" charset="0"/>
                </a:rPr>
                <a:t>Sb</a:t>
              </a:r>
            </a:p>
          </p:txBody>
        </p:sp>
      </p:grpSp>
      <p:sp>
        <p:nvSpPr>
          <p:cNvPr id="910373" name="Oval 37"/>
          <p:cNvSpPr>
            <a:spLocks noChangeArrowheads="1"/>
          </p:cNvSpPr>
          <p:nvPr/>
        </p:nvSpPr>
        <p:spPr bwMode="auto">
          <a:xfrm>
            <a:off x="2878138" y="4567238"/>
            <a:ext cx="90487" cy="90487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67"/>
          <p:cNvGrpSpPr>
            <a:grpSpLocks/>
          </p:cNvGrpSpPr>
          <p:nvPr/>
        </p:nvGrpSpPr>
        <p:grpSpPr bwMode="auto">
          <a:xfrm>
            <a:off x="1536700" y="3133726"/>
            <a:ext cx="2203450" cy="1355726"/>
            <a:chOff x="1138" y="2044"/>
            <a:chExt cx="1388" cy="854"/>
          </a:xfrm>
        </p:grpSpPr>
        <p:sp>
          <p:nvSpPr>
            <p:cNvPr id="44084" name="Line 38"/>
            <p:cNvSpPr>
              <a:spLocks noChangeShapeType="1"/>
            </p:cNvSpPr>
            <p:nvPr/>
          </p:nvSpPr>
          <p:spPr bwMode="auto">
            <a:xfrm flipH="1">
              <a:off x="2012" y="2392"/>
              <a:ext cx="28" cy="50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4085" name="Text Box 39"/>
            <p:cNvSpPr txBox="1">
              <a:spLocks noChangeArrowheads="1"/>
            </p:cNvSpPr>
            <p:nvPr/>
          </p:nvSpPr>
          <p:spPr bwMode="auto">
            <a:xfrm>
              <a:off x="1138" y="2044"/>
              <a:ext cx="138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30000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 poco ligado</a:t>
              </a:r>
            </a:p>
          </p:txBody>
        </p:sp>
      </p:grpSp>
      <p:grpSp>
        <p:nvGrpSpPr>
          <p:cNvPr id="8" name="51 Grupo"/>
          <p:cNvGrpSpPr>
            <a:grpSpLocks/>
          </p:cNvGrpSpPr>
          <p:nvPr/>
        </p:nvGrpSpPr>
        <p:grpSpPr bwMode="auto">
          <a:xfrm>
            <a:off x="5008106" y="3686175"/>
            <a:ext cx="1720850" cy="2632075"/>
            <a:chOff x="5262563" y="3686175"/>
            <a:chExt cx="1720850" cy="2632075"/>
          </a:xfrm>
        </p:grpSpPr>
        <p:pic>
          <p:nvPicPr>
            <p:cNvPr id="44065" name="Picture 3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2563" y="3686175"/>
              <a:ext cx="1720850" cy="2632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</p:pic>
        <p:grpSp>
          <p:nvGrpSpPr>
            <p:cNvPr id="44066" name="Group 70"/>
            <p:cNvGrpSpPr>
              <a:grpSpLocks/>
            </p:cNvGrpSpPr>
            <p:nvPr/>
          </p:nvGrpSpPr>
          <p:grpSpPr bwMode="auto">
            <a:xfrm>
              <a:off x="5640388" y="4654550"/>
              <a:ext cx="1284288" cy="420688"/>
              <a:chOff x="3583" y="3102"/>
              <a:chExt cx="809" cy="265"/>
            </a:xfrm>
          </p:grpSpPr>
          <p:grpSp>
            <p:nvGrpSpPr>
              <p:cNvPr id="44067" name="Group 51"/>
              <p:cNvGrpSpPr>
                <a:grpSpLocks/>
              </p:cNvGrpSpPr>
              <p:nvPr/>
            </p:nvGrpSpPr>
            <p:grpSpPr bwMode="auto">
              <a:xfrm>
                <a:off x="3583" y="3102"/>
                <a:ext cx="170" cy="265"/>
                <a:chOff x="2523" y="2408"/>
                <a:chExt cx="170" cy="265"/>
              </a:xfrm>
            </p:grpSpPr>
            <p:sp>
              <p:nvSpPr>
                <p:cNvPr id="44077" name="Oval 50"/>
                <p:cNvSpPr>
                  <a:spLocks noChangeArrowheads="1"/>
                </p:cNvSpPr>
                <p:nvPr/>
              </p:nvSpPr>
              <p:spPr bwMode="auto">
                <a:xfrm>
                  <a:off x="2574" y="2508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78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523" y="2408"/>
                  <a:ext cx="170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200"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44068" name="Group 52"/>
              <p:cNvGrpSpPr>
                <a:grpSpLocks/>
              </p:cNvGrpSpPr>
              <p:nvPr/>
            </p:nvGrpSpPr>
            <p:grpSpPr bwMode="auto">
              <a:xfrm>
                <a:off x="3747" y="3102"/>
                <a:ext cx="170" cy="265"/>
                <a:chOff x="2523" y="2408"/>
                <a:chExt cx="170" cy="265"/>
              </a:xfrm>
            </p:grpSpPr>
            <p:sp>
              <p:nvSpPr>
                <p:cNvPr id="44075" name="Oval 53"/>
                <p:cNvSpPr>
                  <a:spLocks noChangeArrowheads="1"/>
                </p:cNvSpPr>
                <p:nvPr/>
              </p:nvSpPr>
              <p:spPr bwMode="auto">
                <a:xfrm>
                  <a:off x="2574" y="2508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76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2523" y="2408"/>
                  <a:ext cx="170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200"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44069" name="Group 55"/>
              <p:cNvGrpSpPr>
                <a:grpSpLocks/>
              </p:cNvGrpSpPr>
              <p:nvPr/>
            </p:nvGrpSpPr>
            <p:grpSpPr bwMode="auto">
              <a:xfrm>
                <a:off x="4058" y="3102"/>
                <a:ext cx="170" cy="265"/>
                <a:chOff x="2523" y="2408"/>
                <a:chExt cx="170" cy="265"/>
              </a:xfrm>
            </p:grpSpPr>
            <p:sp>
              <p:nvSpPr>
                <p:cNvPr id="44073" name="Oval 56"/>
                <p:cNvSpPr>
                  <a:spLocks noChangeArrowheads="1"/>
                </p:cNvSpPr>
                <p:nvPr/>
              </p:nvSpPr>
              <p:spPr bwMode="auto">
                <a:xfrm>
                  <a:off x="2574" y="2508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74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2523" y="2408"/>
                  <a:ext cx="170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200"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44070" name="Group 58"/>
              <p:cNvGrpSpPr>
                <a:grpSpLocks/>
              </p:cNvGrpSpPr>
              <p:nvPr/>
            </p:nvGrpSpPr>
            <p:grpSpPr bwMode="auto">
              <a:xfrm>
                <a:off x="4222" y="3102"/>
                <a:ext cx="170" cy="265"/>
                <a:chOff x="2523" y="2408"/>
                <a:chExt cx="170" cy="265"/>
              </a:xfrm>
            </p:grpSpPr>
            <p:sp>
              <p:nvSpPr>
                <p:cNvPr id="44071" name="Oval 59"/>
                <p:cNvSpPr>
                  <a:spLocks noChangeArrowheads="1"/>
                </p:cNvSpPr>
                <p:nvPr/>
              </p:nvSpPr>
              <p:spPr bwMode="auto">
                <a:xfrm>
                  <a:off x="2574" y="2508"/>
                  <a:ext cx="68" cy="68"/>
                </a:xfrm>
                <a:prstGeom prst="ellipse">
                  <a:avLst/>
                </a:prstGeom>
                <a:solidFill>
                  <a:srgbClr val="FFFF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72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2523" y="2408"/>
                  <a:ext cx="170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200"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</p:grpSp>
      </p:grpSp>
      <p:sp>
        <p:nvSpPr>
          <p:cNvPr id="57" name="Text Box 37"/>
          <p:cNvSpPr txBox="1">
            <a:spLocks noChangeArrowheads="1"/>
          </p:cNvSpPr>
          <p:nvPr/>
        </p:nvSpPr>
        <p:spPr bwMode="auto">
          <a:xfrm>
            <a:off x="4692753" y="327592"/>
            <a:ext cx="2852361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denota con una: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58" name="CuadroTexto 57"/>
          <p:cNvSpPr txBox="1">
            <a:spLocks noChangeArrowheads="1"/>
          </p:cNvSpPr>
          <p:nvPr/>
        </p:nvSpPr>
        <p:spPr bwMode="auto">
          <a:xfrm>
            <a:off x="7659489" y="374849"/>
            <a:ext cx="535037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0" tIns="72000" rIns="180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n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3701113" y="3132320"/>
            <a:ext cx="3027362" cy="1881188"/>
            <a:chOff x="3831745" y="3132320"/>
            <a:chExt cx="3027362" cy="1881188"/>
          </a:xfrm>
        </p:grpSpPr>
        <p:grpSp>
          <p:nvGrpSpPr>
            <p:cNvPr id="59440" name="Group 48"/>
            <p:cNvGrpSpPr>
              <a:grpSpLocks/>
            </p:cNvGrpSpPr>
            <p:nvPr/>
          </p:nvGrpSpPr>
          <p:grpSpPr bwMode="auto">
            <a:xfrm>
              <a:off x="3831745" y="3132320"/>
              <a:ext cx="3027362" cy="1881188"/>
              <a:chOff x="2449" y="2020"/>
              <a:chExt cx="1907" cy="1185"/>
            </a:xfrm>
          </p:grpSpPr>
          <p:sp>
            <p:nvSpPr>
              <p:cNvPr id="44059" name="Text Box 18"/>
              <p:cNvSpPr txBox="1">
                <a:spLocks noChangeArrowheads="1"/>
              </p:cNvSpPr>
              <p:nvPr/>
            </p:nvSpPr>
            <p:spPr bwMode="auto">
              <a:xfrm>
                <a:off x="2522" y="2860"/>
                <a:ext cx="671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0,01 eV</a:t>
                </a:r>
              </a:p>
            </p:txBody>
          </p:sp>
          <p:sp>
            <p:nvSpPr>
              <p:cNvPr id="44060" name="Line 22"/>
              <p:cNvSpPr>
                <a:spLocks noChangeShapeType="1"/>
              </p:cNvSpPr>
              <p:nvPr/>
            </p:nvSpPr>
            <p:spPr bwMode="auto">
              <a:xfrm>
                <a:off x="3229" y="2963"/>
                <a:ext cx="0" cy="136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stealth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44061" name="Text Box 41"/>
              <p:cNvSpPr txBox="1">
                <a:spLocks noChangeArrowheads="1"/>
              </p:cNvSpPr>
              <p:nvPr/>
            </p:nvSpPr>
            <p:spPr bwMode="auto">
              <a:xfrm>
                <a:off x="2449" y="2020"/>
                <a:ext cx="1907" cy="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Niveles de e</a:t>
                </a:r>
                <a:r>
                  <a:rPr lang="es-ES" sz="2400" baseline="30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-</a:t>
                </a: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 poco ligados</a:t>
                </a:r>
              </a:p>
            </p:txBody>
          </p:sp>
        </p:grpSp>
        <p:sp>
          <p:nvSpPr>
            <p:cNvPr id="59" name="Line 38"/>
            <p:cNvSpPr>
              <a:spLocks noChangeShapeType="1"/>
            </p:cNvSpPr>
            <p:nvPr/>
          </p:nvSpPr>
          <p:spPr bwMode="auto">
            <a:xfrm>
              <a:off x="4577013" y="4058413"/>
              <a:ext cx="0" cy="438424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sp>
        <p:nvSpPr>
          <p:cNvPr id="43" name="CuadroTexto 42"/>
          <p:cNvSpPr txBox="1"/>
          <p:nvPr/>
        </p:nvSpPr>
        <p:spPr>
          <a:xfrm>
            <a:off x="1222878" y="2295683"/>
            <a:ext cx="9256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>
                <a:sym typeface="Symbol" panose="05050102010706020507" pitchFamily="18" charset="2"/>
              </a:rPr>
              <a:t> El cristal, tras calentarlo y enfriarlo, se reestructura incorporando</a:t>
            </a:r>
          </a:p>
          <a:p>
            <a:r>
              <a:rPr lang="es-ES" sz="2400">
                <a:sym typeface="Symbol" panose="05050102010706020507" pitchFamily="18" charset="2"/>
              </a:rPr>
              <a:t>  las impurezas en su estructura</a:t>
            </a:r>
            <a:endParaRPr lang="es-ES" sz="2400"/>
          </a:p>
        </p:txBody>
      </p:sp>
      <p:grpSp>
        <p:nvGrpSpPr>
          <p:cNvPr id="7" name="Group 62">
            <a:extLst>
              <a:ext uri="{FF2B5EF4-FFF2-40B4-BE49-F238E27FC236}">
                <a16:creationId xmlns:a16="http://schemas.microsoft.com/office/drawing/2014/main" id="{04316E14-E1B7-A46C-60DA-3089D6724D00}"/>
              </a:ext>
            </a:extLst>
          </p:cNvPr>
          <p:cNvGrpSpPr>
            <a:grpSpLocks/>
          </p:cNvGrpSpPr>
          <p:nvPr/>
        </p:nvGrpSpPr>
        <p:grpSpPr bwMode="auto">
          <a:xfrm>
            <a:off x="6682925" y="4227513"/>
            <a:ext cx="498476" cy="1720850"/>
            <a:chOff x="4292" y="2663"/>
            <a:chExt cx="314" cy="1084"/>
          </a:xfrm>
        </p:grpSpPr>
        <p:sp>
          <p:nvSpPr>
            <p:cNvPr id="9" name="Text Box 59">
              <a:extLst>
                <a:ext uri="{FF2B5EF4-FFF2-40B4-BE49-F238E27FC236}">
                  <a16:creationId xmlns:a16="http://schemas.microsoft.com/office/drawing/2014/main" id="{7A05F91A-E810-5FA2-D584-ABEB25306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2" y="3497"/>
              <a:ext cx="205" cy="250"/>
            </a:xfrm>
            <a:prstGeom prst="rect">
              <a:avLst/>
            </a:prstGeom>
            <a:solidFill>
              <a:srgbClr val="98CB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0" name="Text Box 60">
              <a:extLst>
                <a:ext uri="{FF2B5EF4-FFF2-40B4-BE49-F238E27FC236}">
                  <a16:creationId xmlns:a16="http://schemas.microsoft.com/office/drawing/2014/main" id="{3B7340B1-34ED-43C9-A921-7D3D8480B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2" y="2663"/>
              <a:ext cx="205" cy="2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11" name="Text Box 61">
              <a:extLst>
                <a:ext uri="{FF2B5EF4-FFF2-40B4-BE49-F238E27FC236}">
                  <a16:creationId xmlns:a16="http://schemas.microsoft.com/office/drawing/2014/main" id="{B138B8B5-F35E-E7E9-A7EF-6B5F84CDA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2" y="2942"/>
              <a:ext cx="314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54000" tIns="46800" rIns="54000" bIns="46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N</a:t>
              </a:r>
              <a:r>
                <a:rPr lang="es-ES" baseline="-25000">
                  <a:solidFill>
                    <a:schemeClr val="tx1"/>
                  </a:solidFill>
                </a:rPr>
                <a:t>d</a:t>
              </a:r>
              <a:r>
                <a:rPr lang="es-ES" baseline="30000">
                  <a:solidFill>
                    <a:schemeClr val="tx1"/>
                  </a:solidFill>
                </a:rPr>
                <a:t>+</a:t>
              </a:r>
            </a:p>
          </p:txBody>
        </p:sp>
      </p:grpSp>
      <p:sp>
        <p:nvSpPr>
          <p:cNvPr id="12" name="Text Box 23">
            <a:extLst>
              <a:ext uri="{FF2B5EF4-FFF2-40B4-BE49-F238E27FC236}">
                <a16:creationId xmlns:a16="http://schemas.microsoft.com/office/drawing/2014/main" id="{997D2F9A-4404-3CFF-7D2C-91FC9AA67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2391" y="5853846"/>
            <a:ext cx="1616075" cy="6762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6000" tIns="154800" rIns="126000" bIns="154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n = p + N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 Box 25">
            <a:extLst>
              <a:ext uri="{FF2B5EF4-FFF2-40B4-BE49-F238E27FC236}">
                <a16:creationId xmlns:a16="http://schemas.microsoft.com/office/drawing/2014/main" id="{0FD6FA38-8A0D-08F7-9C65-2743F34B0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5307" y="3359241"/>
            <a:ext cx="2776235" cy="147102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N</a:t>
            </a:r>
            <a:r>
              <a:rPr lang="es-ES" sz="2000" baseline="-25000">
                <a:latin typeface="Arial" panose="020B0604020202020204" pitchFamily="34" charset="0"/>
              </a:rPr>
              <a:t>d</a:t>
            </a:r>
            <a:r>
              <a:rPr lang="es-ES" sz="2000" baseline="30000">
                <a:latin typeface="Arial" panose="020B0604020202020204" pitchFamily="34" charset="0"/>
              </a:rPr>
              <a:t>+</a:t>
            </a:r>
            <a:r>
              <a:rPr lang="es-ES" sz="2000">
                <a:latin typeface="Arial" panose="020B0604020202020204" pitchFamily="34" charset="0"/>
              </a:rPr>
              <a:t>: Concentración de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impurezas ionizadas</a:t>
            </a:r>
            <a:r>
              <a:rPr lang="es-ES" sz="2000" b="1">
                <a:latin typeface="Arial" panose="020B0604020202020204" pitchFamily="34" charset="0"/>
              </a:rPr>
              <a:t> donadoras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(porque dan e</a:t>
            </a:r>
            <a:r>
              <a:rPr lang="es-ES" sz="2000" baseline="30000">
                <a:latin typeface="Arial" panose="020B0604020202020204" pitchFamily="34" charset="0"/>
              </a:rPr>
              <a:t>-</a:t>
            </a:r>
            <a:r>
              <a:rPr lang="es-ES" sz="2000">
                <a:latin typeface="Arial" panose="020B0604020202020204" pitchFamily="34" charset="0"/>
              </a:rPr>
              <a:t>)</a:t>
            </a:r>
            <a:endParaRPr lang="es-ES" sz="2000" b="1">
              <a:latin typeface="Arial" panose="020B0604020202020204" pitchFamily="34" charset="0"/>
            </a:endParaRPr>
          </a:p>
        </p:txBody>
      </p:sp>
      <p:sp>
        <p:nvSpPr>
          <p:cNvPr id="14" name="Text Box 61">
            <a:extLst>
              <a:ext uri="{FF2B5EF4-FFF2-40B4-BE49-F238E27FC236}">
                <a16:creationId xmlns:a16="http://schemas.microsoft.com/office/drawing/2014/main" id="{262D7248-FC0C-D821-11C7-E742D577B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4417" y="5894038"/>
            <a:ext cx="14716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 N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&gt;&gt; p</a:t>
            </a:r>
          </a:p>
        </p:txBody>
      </p:sp>
      <p:sp>
        <p:nvSpPr>
          <p:cNvPr id="15" name="Text Box 48">
            <a:extLst>
              <a:ext uri="{FF2B5EF4-FFF2-40B4-BE49-F238E27FC236}">
                <a16:creationId xmlns:a16="http://schemas.microsoft.com/office/drawing/2014/main" id="{A4E13B46-A5B1-669C-CDF4-FE9962A30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9776" y="5050024"/>
            <a:ext cx="1323975" cy="609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N</a:t>
            </a:r>
            <a:r>
              <a:rPr lang="es-ES" sz="2400" baseline="-25000">
                <a:latin typeface="Arial" panose="020B0604020202020204" pitchFamily="34" charset="0"/>
              </a:rPr>
              <a:t>d</a:t>
            </a:r>
            <a:r>
              <a:rPr lang="es-ES" sz="2400" baseline="30000">
                <a:latin typeface="Arial" panose="020B0604020202020204" pitchFamily="34" charset="0"/>
              </a:rPr>
              <a:t>+</a:t>
            </a:r>
            <a:r>
              <a:rPr lang="es-ES" sz="2400">
                <a:latin typeface="Arial" panose="020B0604020202020204" pitchFamily="34" charset="0"/>
              </a:rPr>
              <a:t> = N</a:t>
            </a:r>
            <a:r>
              <a:rPr lang="es-ES" sz="2400" baseline="-25000">
                <a:latin typeface="Arial" panose="020B0604020202020204" pitchFamily="34" charset="0"/>
              </a:rPr>
              <a:t>d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16" name="Text Box 63">
            <a:extLst>
              <a:ext uri="{FF2B5EF4-FFF2-40B4-BE49-F238E27FC236}">
                <a16:creationId xmlns:a16="http://schemas.microsoft.com/office/drawing/2014/main" id="{945C4C71-3366-28B1-AF90-64AE38153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5121" y="4879480"/>
            <a:ext cx="1867448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A T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amb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todas ionizadas</a:t>
            </a:r>
            <a:endParaRPr lang="es-ES" sz="2400" baseline="-2500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 Box 39">
            <a:extLst>
              <a:ext uri="{FF2B5EF4-FFF2-40B4-BE49-F238E27FC236}">
                <a16:creationId xmlns:a16="http://schemas.microsoft.com/office/drawing/2014/main" id="{BCA166CB-3CE0-F26F-6442-BAFCA28A2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4548" y="6413499"/>
            <a:ext cx="1796749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típicamente</a:t>
            </a:r>
          </a:p>
        </p:txBody>
      </p:sp>
    </p:spTree>
    <p:extLst>
      <p:ext uri="{BB962C8B-B14F-4D97-AF65-F5344CB8AC3E}">
        <p14:creationId xmlns:p14="http://schemas.microsoft.com/office/powerpoint/2010/main" val="8771676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 animBg="1"/>
      <p:bldP spid="16" grpId="0"/>
      <p:bldP spid="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upo 65"/>
          <p:cNvGrpSpPr/>
          <p:nvPr/>
        </p:nvGrpSpPr>
        <p:grpSpPr>
          <a:xfrm>
            <a:off x="7225955" y="4999671"/>
            <a:ext cx="3075083" cy="636585"/>
            <a:chOff x="7173775" y="3678241"/>
            <a:chExt cx="3075083" cy="636585"/>
          </a:xfrm>
        </p:grpSpPr>
        <p:sp>
          <p:nvSpPr>
            <p:cNvPr id="67" name="Text Box 48"/>
            <p:cNvSpPr txBox="1">
              <a:spLocks noChangeArrowheads="1"/>
            </p:cNvSpPr>
            <p:nvPr/>
          </p:nvSpPr>
          <p:spPr bwMode="auto">
            <a:xfrm>
              <a:off x="8924883" y="3678241"/>
              <a:ext cx="1323975" cy="609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N</a:t>
              </a:r>
              <a:r>
                <a:rPr lang="es-ES" sz="2400" baseline="-25000">
                  <a:latin typeface="Arial" panose="020B0604020202020204" pitchFamily="34" charset="0"/>
                </a:rPr>
                <a:t>a</a:t>
              </a:r>
              <a:r>
                <a:rPr lang="es-ES" sz="2400" baseline="30000">
                  <a:latin typeface="Arial" panose="020B0604020202020204" pitchFamily="34" charset="0"/>
                </a:rPr>
                <a:t>-</a:t>
              </a:r>
              <a:r>
                <a:rPr lang="es-ES" sz="2400">
                  <a:latin typeface="Arial" panose="020B0604020202020204" pitchFamily="34" charset="0"/>
                </a:rPr>
                <a:t> = N</a:t>
              </a:r>
              <a:r>
                <a:rPr lang="es-ES" sz="2400" baseline="-25000">
                  <a:latin typeface="Arial" panose="020B0604020202020204" pitchFamily="34" charset="0"/>
                </a:rPr>
                <a:t>a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68" name="Text Box 63"/>
            <p:cNvSpPr txBox="1">
              <a:spLocks noChangeArrowheads="1"/>
            </p:cNvSpPr>
            <p:nvPr/>
          </p:nvSpPr>
          <p:spPr bwMode="auto">
            <a:xfrm>
              <a:off x="7173775" y="3779838"/>
              <a:ext cx="1719263" cy="534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A T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amb</a:t>
              </a:r>
            </a:p>
          </p:txBody>
        </p:sp>
        <p:sp>
          <p:nvSpPr>
            <p:cNvPr id="69" name="Line 38"/>
            <p:cNvSpPr>
              <a:spLocks noChangeShapeType="1"/>
            </p:cNvSpPr>
            <p:nvPr/>
          </p:nvSpPr>
          <p:spPr bwMode="auto">
            <a:xfrm rot="16200000">
              <a:off x="8690463" y="3845214"/>
              <a:ext cx="0" cy="29945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sp>
        <p:nvSpPr>
          <p:cNvPr id="910342" name="Text Box 6"/>
          <p:cNvSpPr txBox="1">
            <a:spLocks noChangeArrowheads="1"/>
          </p:cNvSpPr>
          <p:nvPr/>
        </p:nvSpPr>
        <p:spPr bwMode="auto">
          <a:xfrm>
            <a:off x="1174234" y="1761006"/>
            <a:ext cx="9368247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Impurezas: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Elementos grupo IIIA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del sistema periódico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(B, Ga, In)</a:t>
            </a:r>
          </a:p>
        </p:txBody>
      </p:sp>
      <p:pic>
        <p:nvPicPr>
          <p:cNvPr id="910370" name="Picture 34" descr="imagesCAHL33HI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3" y="3943350"/>
            <a:ext cx="2133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67"/>
          <p:cNvGrpSpPr>
            <a:grpSpLocks/>
          </p:cNvGrpSpPr>
          <p:nvPr/>
        </p:nvGrpSpPr>
        <p:grpSpPr bwMode="auto">
          <a:xfrm>
            <a:off x="2243136" y="3181349"/>
            <a:ext cx="1419225" cy="1603375"/>
            <a:chOff x="1583" y="2074"/>
            <a:chExt cx="894" cy="1010"/>
          </a:xfrm>
        </p:grpSpPr>
        <p:sp>
          <p:nvSpPr>
            <p:cNvPr id="44084" name="Line 38"/>
            <p:cNvSpPr>
              <a:spLocks noChangeShapeType="1"/>
            </p:cNvSpPr>
            <p:nvPr/>
          </p:nvSpPr>
          <p:spPr bwMode="auto">
            <a:xfrm flipH="1">
              <a:off x="1985" y="2436"/>
              <a:ext cx="47" cy="64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4085" name="Text Box 39"/>
            <p:cNvSpPr txBox="1">
              <a:spLocks noChangeArrowheads="1"/>
            </p:cNvSpPr>
            <p:nvPr/>
          </p:nvSpPr>
          <p:spPr bwMode="auto">
            <a:xfrm>
              <a:off x="1583" y="2074"/>
              <a:ext cx="89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hueco</a:t>
              </a: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3266369" y="3189475"/>
            <a:ext cx="3236912" cy="2439989"/>
            <a:chOff x="3407887" y="3189475"/>
            <a:chExt cx="3236912" cy="2439989"/>
          </a:xfrm>
        </p:grpSpPr>
        <p:grpSp>
          <p:nvGrpSpPr>
            <p:cNvPr id="59440" name="Group 48"/>
            <p:cNvGrpSpPr>
              <a:grpSpLocks/>
            </p:cNvGrpSpPr>
            <p:nvPr/>
          </p:nvGrpSpPr>
          <p:grpSpPr bwMode="auto">
            <a:xfrm>
              <a:off x="3407887" y="3189475"/>
              <a:ext cx="3236912" cy="2439989"/>
              <a:chOff x="2182" y="2056"/>
              <a:chExt cx="2039" cy="1537"/>
            </a:xfrm>
          </p:grpSpPr>
          <p:sp>
            <p:nvSpPr>
              <p:cNvPr id="44059" name="Text Box 18"/>
              <p:cNvSpPr txBox="1">
                <a:spLocks noChangeArrowheads="1"/>
              </p:cNvSpPr>
              <p:nvPr/>
            </p:nvSpPr>
            <p:spPr bwMode="auto">
              <a:xfrm>
                <a:off x="2522" y="3248"/>
                <a:ext cx="671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0,01 eV</a:t>
                </a:r>
              </a:p>
            </p:txBody>
          </p:sp>
          <p:sp>
            <p:nvSpPr>
              <p:cNvPr id="44060" name="Line 22"/>
              <p:cNvSpPr>
                <a:spLocks noChangeShapeType="1"/>
              </p:cNvSpPr>
              <p:nvPr/>
            </p:nvSpPr>
            <p:spPr bwMode="auto">
              <a:xfrm>
                <a:off x="3229" y="3351"/>
                <a:ext cx="0" cy="136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stealth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44061" name="Text Box 41"/>
              <p:cNvSpPr txBox="1">
                <a:spLocks noChangeArrowheads="1"/>
              </p:cNvSpPr>
              <p:nvPr/>
            </p:nvSpPr>
            <p:spPr bwMode="auto">
              <a:xfrm>
                <a:off x="2182" y="2056"/>
                <a:ext cx="2039" cy="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Niveles de esos huecos</a:t>
                </a:r>
                <a:endParaRPr lang="es-ES" sz="2400" baseline="300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9" name="Line 38"/>
            <p:cNvSpPr>
              <a:spLocks noChangeShapeType="1"/>
            </p:cNvSpPr>
            <p:nvPr/>
          </p:nvSpPr>
          <p:spPr bwMode="auto">
            <a:xfrm>
              <a:off x="4577013" y="4086084"/>
              <a:ext cx="0" cy="103378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grpSp>
        <p:nvGrpSpPr>
          <p:cNvPr id="44" name="Group 62"/>
          <p:cNvGrpSpPr>
            <a:grpSpLocks/>
          </p:cNvGrpSpPr>
          <p:nvPr/>
        </p:nvGrpSpPr>
        <p:grpSpPr bwMode="auto">
          <a:xfrm>
            <a:off x="6672039" y="4208463"/>
            <a:ext cx="498476" cy="1682750"/>
            <a:chOff x="4292" y="2651"/>
            <a:chExt cx="314" cy="1060"/>
          </a:xfrm>
        </p:grpSpPr>
        <p:sp>
          <p:nvSpPr>
            <p:cNvPr id="45" name="Text Box 59"/>
            <p:cNvSpPr txBox="1">
              <a:spLocks noChangeArrowheads="1"/>
            </p:cNvSpPr>
            <p:nvPr/>
          </p:nvSpPr>
          <p:spPr bwMode="auto">
            <a:xfrm>
              <a:off x="4292" y="3461"/>
              <a:ext cx="205" cy="250"/>
            </a:xfrm>
            <a:prstGeom prst="rect">
              <a:avLst/>
            </a:prstGeom>
            <a:solidFill>
              <a:srgbClr val="98CB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46" name="Text Box 60"/>
            <p:cNvSpPr txBox="1">
              <a:spLocks noChangeArrowheads="1"/>
            </p:cNvSpPr>
            <p:nvPr/>
          </p:nvSpPr>
          <p:spPr bwMode="auto">
            <a:xfrm>
              <a:off x="4292" y="2651"/>
              <a:ext cx="205" cy="2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47" name="Text Box 61"/>
            <p:cNvSpPr txBox="1">
              <a:spLocks noChangeArrowheads="1"/>
            </p:cNvSpPr>
            <p:nvPr/>
          </p:nvSpPr>
          <p:spPr bwMode="auto">
            <a:xfrm>
              <a:off x="4292" y="3135"/>
              <a:ext cx="314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54000" tIns="46800" rIns="54000" bIns="46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N</a:t>
              </a:r>
              <a:r>
                <a:rPr lang="es-ES" baseline="-25000">
                  <a:solidFill>
                    <a:schemeClr val="tx1"/>
                  </a:solidFill>
                </a:rPr>
                <a:t>a</a:t>
              </a:r>
              <a:r>
                <a:rPr lang="es-ES" baseline="30000">
                  <a:solidFill>
                    <a:schemeClr val="tx1"/>
                  </a:solidFill>
                </a:rPr>
                <a:t>-</a:t>
              </a:r>
            </a:p>
          </p:txBody>
        </p:sp>
      </p:grpSp>
      <p:sp>
        <p:nvSpPr>
          <p:cNvPr id="48" name="Text Box 23"/>
          <p:cNvSpPr txBox="1">
            <a:spLocks noChangeArrowheads="1"/>
          </p:cNvSpPr>
          <p:nvPr/>
        </p:nvSpPr>
        <p:spPr bwMode="auto">
          <a:xfrm>
            <a:off x="7514166" y="5825267"/>
            <a:ext cx="1633043" cy="68195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6000" tIns="154800" rIns="126000" bIns="154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n + N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p</a:t>
            </a:r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7528127" y="3358652"/>
            <a:ext cx="2802844" cy="147102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N</a:t>
            </a:r>
            <a:r>
              <a:rPr lang="es-ES" sz="2000" baseline="-25000">
                <a:latin typeface="Arial" panose="020B0604020202020204" pitchFamily="34" charset="0"/>
              </a:rPr>
              <a:t>a</a:t>
            </a:r>
            <a:r>
              <a:rPr lang="es-ES" sz="2000" baseline="30000">
                <a:latin typeface="Arial" panose="020B0604020202020204" pitchFamily="34" charset="0"/>
              </a:rPr>
              <a:t>-</a:t>
            </a:r>
            <a:r>
              <a:rPr lang="es-ES" sz="2000">
                <a:latin typeface="Arial" panose="020B0604020202020204" pitchFamily="34" charset="0"/>
              </a:rPr>
              <a:t>: Concentración de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impurezas ionizadas </a:t>
            </a:r>
            <a:r>
              <a:rPr lang="es-ES" sz="2000" b="1">
                <a:latin typeface="Arial" panose="020B0604020202020204" pitchFamily="34" charset="0"/>
              </a:rPr>
              <a:t>aceptoras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>
                <a:latin typeface="Arial" panose="020B0604020202020204" pitchFamily="34" charset="0"/>
              </a:rPr>
              <a:t>(porque aceptan e</a:t>
            </a:r>
            <a:r>
              <a:rPr lang="es-ES" sz="2000" baseline="30000">
                <a:latin typeface="Arial" panose="020B0604020202020204" pitchFamily="34" charset="0"/>
              </a:rPr>
              <a:t>-</a:t>
            </a:r>
            <a:r>
              <a:rPr lang="es-ES" sz="2000">
                <a:latin typeface="Arial" panose="020B0604020202020204" pitchFamily="34" charset="0"/>
              </a:rPr>
              <a:t>)</a:t>
            </a:r>
            <a:endParaRPr lang="es-ES" sz="2000" b="1">
              <a:latin typeface="Arial" panose="020B0604020202020204" pitchFamily="34" charset="0"/>
            </a:endParaRPr>
          </a:p>
        </p:txBody>
      </p:sp>
      <p:sp>
        <p:nvSpPr>
          <p:cNvPr id="52" name="Text Box 61"/>
          <p:cNvSpPr txBox="1">
            <a:spLocks noChangeArrowheads="1"/>
          </p:cNvSpPr>
          <p:nvPr/>
        </p:nvSpPr>
        <p:spPr bwMode="auto">
          <a:xfrm>
            <a:off x="8985779" y="5855935"/>
            <a:ext cx="14716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 N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&gt;&gt; n</a:t>
            </a:r>
          </a:p>
        </p:txBody>
      </p:sp>
      <p:grpSp>
        <p:nvGrpSpPr>
          <p:cNvPr id="55" name="Group 33"/>
          <p:cNvGrpSpPr>
            <a:grpSpLocks/>
          </p:cNvGrpSpPr>
          <p:nvPr/>
        </p:nvGrpSpPr>
        <p:grpSpPr bwMode="auto">
          <a:xfrm>
            <a:off x="2247241" y="4745429"/>
            <a:ext cx="539750" cy="539750"/>
            <a:chOff x="1585" y="3051"/>
            <a:chExt cx="340" cy="340"/>
          </a:xfrm>
        </p:grpSpPr>
        <p:sp>
          <p:nvSpPr>
            <p:cNvPr id="56" name="Oval 14"/>
            <p:cNvSpPr>
              <a:spLocks noChangeArrowheads="1"/>
            </p:cNvSpPr>
            <p:nvPr/>
          </p:nvSpPr>
          <p:spPr bwMode="auto">
            <a:xfrm>
              <a:off x="1585" y="3051"/>
              <a:ext cx="340" cy="340"/>
            </a:xfrm>
            <a:prstGeom prst="ellipse">
              <a:avLst/>
            </a:prstGeom>
            <a:gradFill rotWithShape="1">
              <a:gsLst>
                <a:gs pos="0">
                  <a:srgbClr val="3366FF"/>
                </a:gs>
                <a:gs pos="100000">
                  <a:srgbClr val="2244A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" name="Text Box 15"/>
            <p:cNvSpPr txBox="1">
              <a:spLocks noChangeArrowheads="1"/>
            </p:cNvSpPr>
            <p:nvPr/>
          </p:nvSpPr>
          <p:spPr bwMode="auto">
            <a:xfrm>
              <a:off x="1667" y="3070"/>
              <a:ext cx="1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400">
                  <a:solidFill>
                    <a:srgbClr val="FFFFFF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61" name="Oval 16"/>
          <p:cNvSpPr>
            <a:spLocks noChangeArrowheads="1"/>
          </p:cNvSpPr>
          <p:nvPr/>
        </p:nvSpPr>
        <p:spPr bwMode="auto">
          <a:xfrm>
            <a:off x="2824380" y="4969266"/>
            <a:ext cx="90488" cy="90488"/>
          </a:xfrm>
          <a:prstGeom prst="ellipse">
            <a:avLst/>
          </a:prstGeom>
          <a:solidFill>
            <a:srgbClr val="FFFFFF"/>
          </a:solidFill>
          <a:ln w="25400" algn="ctr">
            <a:solidFill>
              <a:srgbClr val="FFFFFF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62" name="Group 36"/>
          <p:cNvGrpSpPr>
            <a:grpSpLocks/>
          </p:cNvGrpSpPr>
          <p:nvPr/>
        </p:nvGrpSpPr>
        <p:grpSpPr bwMode="auto">
          <a:xfrm>
            <a:off x="1417638" y="6110292"/>
            <a:ext cx="2730500" cy="855663"/>
            <a:chOff x="893" y="3919"/>
            <a:chExt cx="1720" cy="539"/>
          </a:xfrm>
        </p:grpSpPr>
        <p:sp>
          <p:nvSpPr>
            <p:cNvPr id="63" name="Oval 37"/>
            <p:cNvSpPr>
              <a:spLocks noChangeArrowheads="1"/>
            </p:cNvSpPr>
            <p:nvPr/>
          </p:nvSpPr>
          <p:spPr bwMode="auto">
            <a:xfrm>
              <a:off x="955" y="3976"/>
              <a:ext cx="227" cy="227"/>
            </a:xfrm>
            <a:prstGeom prst="ellipse">
              <a:avLst/>
            </a:pr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4" name="Text Box 28"/>
            <p:cNvSpPr txBox="1">
              <a:spLocks noChangeArrowheads="1"/>
            </p:cNvSpPr>
            <p:nvPr/>
          </p:nvSpPr>
          <p:spPr bwMode="auto">
            <a:xfrm>
              <a:off x="893" y="3919"/>
              <a:ext cx="1720" cy="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FFFFFF"/>
                  </a:solidFill>
                  <a:latin typeface="Arial" panose="020B0604020202020204" pitchFamily="34" charset="0"/>
                </a:rPr>
                <a:t> B </a:t>
              </a: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  </a:t>
              </a:r>
              <a:r>
                <a:rPr lang="es-ES" sz="2000">
                  <a:solidFill>
                    <a:schemeClr val="tx2"/>
                  </a:solidFill>
                  <a:latin typeface="Arial" panose="020B0604020202020204" pitchFamily="34" charset="0"/>
                </a:rPr>
                <a:t>comparte 3 e</a:t>
              </a:r>
              <a:r>
                <a:rPr lang="es-ES" sz="2000" baseline="30000">
                  <a:solidFill>
                    <a:schemeClr val="tx2"/>
                  </a:solidFill>
                  <a:latin typeface="Arial" panose="020B0604020202020204" pitchFamily="34" charset="0"/>
                </a:rPr>
                <a:t>-</a:t>
              </a:r>
              <a:r>
                <a:rPr lang="es-ES" sz="2000">
                  <a:solidFill>
                    <a:schemeClr val="tx2"/>
                  </a:solidFill>
                  <a:latin typeface="Arial" panose="020B0604020202020204" pitchFamily="34" charset="0"/>
                </a:rPr>
                <a:t> con vecinos y le falta 1</a:t>
              </a:r>
            </a:p>
          </p:txBody>
        </p:sp>
      </p:grpSp>
      <p:pic>
        <p:nvPicPr>
          <p:cNvPr id="65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776" y="3695700"/>
            <a:ext cx="1727200" cy="257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sp>
        <p:nvSpPr>
          <p:cNvPr id="70" name="Text Box 39"/>
          <p:cNvSpPr txBox="1">
            <a:spLocks noChangeArrowheads="1"/>
          </p:cNvSpPr>
          <p:nvPr/>
        </p:nvSpPr>
        <p:spPr bwMode="auto">
          <a:xfrm>
            <a:off x="8544239" y="6435196"/>
            <a:ext cx="1796749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típicamente</a:t>
            </a:r>
          </a:p>
        </p:txBody>
      </p:sp>
      <p:sp>
        <p:nvSpPr>
          <p:cNvPr id="38" name="Text Box 5"/>
          <p:cNvSpPr txBox="1">
            <a:spLocks noChangeArrowheads="1"/>
          </p:cNvSpPr>
          <p:nvPr/>
        </p:nvSpPr>
        <p:spPr bwMode="auto">
          <a:xfrm>
            <a:off x="1123625" y="966057"/>
            <a:ext cx="7270568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Semiconductor intrínseco dopado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 impurezas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mediante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difusión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o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implantación iónica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0" name="Text Box 4">
            <a:extLst>
              <a:ext uri="{FF2B5EF4-FFF2-40B4-BE49-F238E27FC236}">
                <a16:creationId xmlns:a16="http://schemas.microsoft.com/office/drawing/2014/main" id="{DD1F08A7-3057-4033-9A95-5B5E96F2E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430" y="334613"/>
            <a:ext cx="3291583" cy="60925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EXTRÍNSECO TIPO P</a:t>
            </a:r>
          </a:p>
        </p:txBody>
      </p:sp>
      <p:sp>
        <p:nvSpPr>
          <p:cNvPr id="41" name="Text Box 37">
            <a:extLst>
              <a:ext uri="{FF2B5EF4-FFF2-40B4-BE49-F238E27FC236}">
                <a16:creationId xmlns:a16="http://schemas.microsoft.com/office/drawing/2014/main" id="{B1177D07-1C4C-4823-83AB-F1EB0046B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753" y="327592"/>
            <a:ext cx="2852361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denota con una: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0F311BD-5AA0-4304-98A3-66C8C73BE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9489" y="374849"/>
            <a:ext cx="535037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0" tIns="72000" rIns="180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52E287B-25DF-B695-C860-D2B499AB05EB}"/>
              </a:ext>
            </a:extLst>
          </p:cNvPr>
          <p:cNvSpPr txBox="1"/>
          <p:nvPr/>
        </p:nvSpPr>
        <p:spPr>
          <a:xfrm>
            <a:off x="1222878" y="2295683"/>
            <a:ext cx="9256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>
                <a:sym typeface="Symbol" panose="05050102010706020507" pitchFamily="18" charset="2"/>
              </a:rPr>
              <a:t> El cristal, tras calentarlo y enfriarlo, se reestructura incorporando</a:t>
            </a:r>
          </a:p>
          <a:p>
            <a:r>
              <a:rPr lang="es-ES" sz="2400">
                <a:sym typeface="Symbol" panose="05050102010706020507" pitchFamily="18" charset="2"/>
              </a:rPr>
              <a:t>  las impurezas en su estructura</a:t>
            </a: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4078339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10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1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1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0342" grpId="0"/>
      <p:bldP spid="48" grpId="0" animBg="1"/>
      <p:bldP spid="49" grpId="0" animBg="1"/>
      <p:bldP spid="52" grpId="0"/>
      <p:bldP spid="61" grpId="0" animBg="1"/>
      <p:bldP spid="70" grpId="0"/>
      <p:bldP spid="38" grpId="0"/>
      <p:bldP spid="40" grpId="0" animBg="1"/>
      <p:bldP spid="41" grpId="0"/>
      <p:bldP spid="42" grpId="0" animBg="1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36" name="Text Box 4"/>
          <p:cNvSpPr txBox="1">
            <a:spLocks noChangeArrowheads="1"/>
          </p:cNvSpPr>
          <p:nvPr/>
        </p:nvSpPr>
        <p:spPr bwMode="auto">
          <a:xfrm>
            <a:off x="1258036" y="299540"/>
            <a:ext cx="4474600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EXTRÍNSECO DEGENERADO</a:t>
            </a:r>
          </a:p>
        </p:txBody>
      </p:sp>
      <p:sp>
        <p:nvSpPr>
          <p:cNvPr id="914456" name="Text Box 24"/>
          <p:cNvSpPr txBox="1">
            <a:spLocks noChangeArrowheads="1"/>
          </p:cNvSpPr>
          <p:nvPr/>
        </p:nvSpPr>
        <p:spPr bwMode="auto">
          <a:xfrm>
            <a:off x="1182862" y="891285"/>
            <a:ext cx="9149051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Extrínseco con una concentración muy alta de impurezas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que le dota de una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conductividad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(una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conc. de portadores de carga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),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al ionizarse las impurezas, similar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 la de un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conductor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8159" name="Text Box 25"/>
          <p:cNvSpPr txBox="1">
            <a:spLocks noChangeArrowheads="1"/>
          </p:cNvSpPr>
          <p:nvPr/>
        </p:nvSpPr>
        <p:spPr bwMode="auto">
          <a:xfrm>
            <a:off x="6036879" y="419686"/>
            <a:ext cx="1273403" cy="476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TIPO P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endParaRPr lang="es-ES" sz="2400" baseline="300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14458" name="Text Box 26"/>
          <p:cNvSpPr txBox="1">
            <a:spLocks noChangeArrowheads="1"/>
          </p:cNvSpPr>
          <p:nvPr/>
        </p:nvSpPr>
        <p:spPr bwMode="auto">
          <a:xfrm>
            <a:off x="1263887" y="3337631"/>
            <a:ext cx="4508263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72000" rIns="90000" bIns="72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EXTRÍNSECO COMPENSADO</a:t>
            </a:r>
          </a:p>
        </p:txBody>
      </p:sp>
      <p:sp>
        <p:nvSpPr>
          <p:cNvPr id="914459" name="Text Box 27"/>
          <p:cNvSpPr txBox="1">
            <a:spLocks noChangeArrowheads="1"/>
          </p:cNvSpPr>
          <p:nvPr/>
        </p:nvSpPr>
        <p:spPr bwMode="auto">
          <a:xfrm>
            <a:off x="3455607" y="4004451"/>
            <a:ext cx="6804924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Extrínseco con los dos tipos de impurezas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8AECE1C-3E09-4E1D-B2F9-840129F9AF1C}"/>
              </a:ext>
            </a:extLst>
          </p:cNvPr>
          <p:cNvGrpSpPr/>
          <p:nvPr/>
        </p:nvGrpSpPr>
        <p:grpSpPr>
          <a:xfrm>
            <a:off x="4325908" y="5443781"/>
            <a:ext cx="1478588" cy="1515952"/>
            <a:chOff x="4125683" y="5443781"/>
            <a:chExt cx="1478588" cy="1515952"/>
          </a:xfrm>
        </p:grpSpPr>
        <p:sp>
          <p:nvSpPr>
            <p:cNvPr id="48154" name="Text Box 28"/>
            <p:cNvSpPr txBox="1">
              <a:spLocks noChangeArrowheads="1"/>
            </p:cNvSpPr>
            <p:nvPr/>
          </p:nvSpPr>
          <p:spPr bwMode="auto">
            <a:xfrm>
              <a:off x="4125683" y="5443781"/>
              <a:ext cx="1424086" cy="48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- </a:t>
              </a:r>
              <a:r>
                <a:rPr lang="es-ES" sz="2400" b="1">
                  <a:latin typeface="Arial" panose="020B0604020202020204" pitchFamily="34" charset="0"/>
                  <a:sym typeface="Symbol" panose="05050102010706020507" pitchFamily="18" charset="2"/>
                </a:rPr>
                <a:t>TIPO </a:t>
              </a:r>
              <a:r>
                <a:rPr lang="es-ES" sz="2400" b="1"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:</a:t>
              </a:r>
              <a:endParaRPr lang="es-ES" sz="2400" baseline="30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48155" name="Text Box 29"/>
            <p:cNvSpPr txBox="1">
              <a:spLocks noChangeArrowheads="1"/>
            </p:cNvSpPr>
            <p:nvPr/>
          </p:nvSpPr>
          <p:spPr bwMode="auto">
            <a:xfrm>
              <a:off x="4125683" y="5978769"/>
              <a:ext cx="1478588" cy="476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- </a:t>
              </a:r>
              <a:r>
                <a:rPr lang="es-ES" sz="2400" b="1">
                  <a:latin typeface="Arial" panose="020B0604020202020204" pitchFamily="34" charset="0"/>
                  <a:sym typeface="Symbol" panose="05050102010706020507" pitchFamily="18" charset="2"/>
                </a:rPr>
                <a:t>TIPO N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:</a:t>
              </a:r>
              <a:endParaRPr lang="es-ES" sz="2400" baseline="30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48156" name="Text Box 30"/>
            <p:cNvSpPr txBox="1">
              <a:spLocks noChangeArrowheads="1"/>
            </p:cNvSpPr>
            <p:nvPr/>
          </p:nvSpPr>
          <p:spPr bwMode="auto">
            <a:xfrm>
              <a:off x="4125683" y="6483594"/>
              <a:ext cx="1460954" cy="476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- </a:t>
              </a:r>
              <a:r>
                <a:rPr lang="es-ES" sz="2400" b="1">
                  <a:latin typeface="Arial" panose="020B0604020202020204" pitchFamily="34" charset="0"/>
                  <a:sym typeface="Symbol" panose="05050102010706020507" pitchFamily="18" charset="2"/>
                </a:rPr>
                <a:t>TIPO P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:</a:t>
              </a:r>
              <a:endParaRPr lang="es-ES" sz="2400" baseline="30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48153" name="Text Box 32"/>
          <p:cNvSpPr txBox="1">
            <a:spLocks noChangeArrowheads="1"/>
          </p:cNvSpPr>
          <p:nvPr/>
        </p:nvSpPr>
        <p:spPr bwMode="auto">
          <a:xfrm>
            <a:off x="7583259" y="4613212"/>
            <a:ext cx="2667000" cy="74295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26000" tIns="154800" rIns="126000" bIns="154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</a:rPr>
              <a:t>n + N</a:t>
            </a:r>
            <a:r>
              <a:rPr lang="es-ES" sz="2800" baseline="-250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</a:rPr>
              <a:t> = p + N</a:t>
            </a:r>
            <a:r>
              <a:rPr lang="es-ES" sz="2800" baseline="-250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endParaRPr lang="es-ES" sz="2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63511" name="Picture 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013" y="4247010"/>
            <a:ext cx="1766888" cy="262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63517" name="Group 29"/>
          <p:cNvGrpSpPr>
            <a:grpSpLocks/>
          </p:cNvGrpSpPr>
          <p:nvPr/>
        </p:nvGrpSpPr>
        <p:grpSpPr bwMode="auto">
          <a:xfrm>
            <a:off x="3242427" y="4716909"/>
            <a:ext cx="552450" cy="1800224"/>
            <a:chOff x="5184" y="1987"/>
            <a:chExt cx="348" cy="1134"/>
          </a:xfrm>
        </p:grpSpPr>
        <p:sp>
          <p:nvSpPr>
            <p:cNvPr id="48148" name="Text Box 25"/>
            <p:cNvSpPr txBox="1">
              <a:spLocks noChangeArrowheads="1"/>
            </p:cNvSpPr>
            <p:nvPr/>
          </p:nvSpPr>
          <p:spPr bwMode="auto">
            <a:xfrm>
              <a:off x="5188" y="2868"/>
              <a:ext cx="205" cy="253"/>
            </a:xfrm>
            <a:prstGeom prst="rect">
              <a:avLst/>
            </a:prstGeom>
            <a:solidFill>
              <a:srgbClr val="98CB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48149" name="Text Box 26"/>
            <p:cNvSpPr txBox="1">
              <a:spLocks noChangeArrowheads="1"/>
            </p:cNvSpPr>
            <p:nvPr/>
          </p:nvSpPr>
          <p:spPr bwMode="auto">
            <a:xfrm>
              <a:off x="5185" y="1987"/>
              <a:ext cx="205" cy="25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48150" name="Text Box 27"/>
            <p:cNvSpPr txBox="1">
              <a:spLocks noChangeArrowheads="1"/>
            </p:cNvSpPr>
            <p:nvPr/>
          </p:nvSpPr>
          <p:spPr bwMode="auto">
            <a:xfrm>
              <a:off x="5184" y="2576"/>
              <a:ext cx="348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N</a:t>
              </a:r>
              <a:r>
                <a:rPr lang="es-ES" baseline="-25000">
                  <a:solidFill>
                    <a:schemeClr val="tx1"/>
                  </a:solidFill>
                </a:rPr>
                <a:t>a</a:t>
              </a:r>
              <a:r>
                <a:rPr lang="es-ES" baseline="30000">
                  <a:solidFill>
                    <a:schemeClr val="tx1"/>
                  </a:solidFill>
                </a:rPr>
                <a:t>-</a:t>
              </a:r>
            </a:p>
          </p:txBody>
        </p:sp>
        <p:sp>
          <p:nvSpPr>
            <p:cNvPr id="48151" name="Text Box 28"/>
            <p:cNvSpPr txBox="1">
              <a:spLocks noChangeArrowheads="1"/>
            </p:cNvSpPr>
            <p:nvPr/>
          </p:nvSpPr>
          <p:spPr bwMode="auto">
            <a:xfrm>
              <a:off x="5184" y="2274"/>
              <a:ext cx="348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6800" rIns="54000" bIns="46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N</a:t>
              </a:r>
              <a:r>
                <a:rPr lang="es-ES" baseline="-25000">
                  <a:solidFill>
                    <a:schemeClr val="tx1"/>
                  </a:solidFill>
                </a:rPr>
                <a:t>d</a:t>
              </a:r>
              <a:r>
                <a:rPr lang="es-ES" baseline="30000">
                  <a:solidFill>
                    <a:schemeClr val="tx1"/>
                  </a:solidFill>
                </a:rPr>
                <a:t>+</a:t>
              </a:r>
            </a:p>
          </p:txBody>
        </p:sp>
      </p:grp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7628912" y="5332877"/>
            <a:ext cx="874255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n = p</a:t>
            </a:r>
          </a:p>
        </p:txBody>
      </p:sp>
      <p:sp>
        <p:nvSpPr>
          <p:cNvPr id="48145" name="Text Box 34"/>
          <p:cNvSpPr txBox="1">
            <a:spLocks noChangeArrowheads="1"/>
          </p:cNvSpPr>
          <p:nvPr/>
        </p:nvSpPr>
        <p:spPr bwMode="auto">
          <a:xfrm>
            <a:off x="7819232" y="5840037"/>
            <a:ext cx="2011362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  N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– N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&gt;&gt; p</a:t>
            </a:r>
          </a:p>
        </p:txBody>
      </p:sp>
      <p:sp>
        <p:nvSpPr>
          <p:cNvPr id="48147" name="Text Box 37"/>
          <p:cNvSpPr txBox="1">
            <a:spLocks noChangeArrowheads="1"/>
          </p:cNvSpPr>
          <p:nvPr/>
        </p:nvSpPr>
        <p:spPr bwMode="auto">
          <a:xfrm>
            <a:off x="7814618" y="6359149"/>
            <a:ext cx="2011362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  N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– N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&gt;&gt; n</a:t>
            </a:r>
          </a:p>
        </p:txBody>
      </p:sp>
      <p:sp>
        <p:nvSpPr>
          <p:cNvPr id="29" name="CuadroTexto 28"/>
          <p:cNvSpPr txBox="1">
            <a:spLocks noChangeArrowheads="1"/>
          </p:cNvSpPr>
          <p:nvPr/>
        </p:nvSpPr>
        <p:spPr bwMode="auto">
          <a:xfrm>
            <a:off x="7311880" y="3294133"/>
            <a:ext cx="540000" cy="5400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0" tIns="72000" rIns="180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i</a:t>
            </a:r>
          </a:p>
        </p:txBody>
      </p:sp>
      <p:sp>
        <p:nvSpPr>
          <p:cNvPr id="30" name="CuadroTexto 29"/>
          <p:cNvSpPr txBox="1">
            <a:spLocks noChangeArrowheads="1"/>
          </p:cNvSpPr>
          <p:nvPr/>
        </p:nvSpPr>
        <p:spPr bwMode="auto">
          <a:xfrm>
            <a:off x="8021343" y="3274729"/>
            <a:ext cx="540000" cy="5400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0" tIns="72000" rIns="180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n</a:t>
            </a:r>
          </a:p>
        </p:txBody>
      </p:sp>
      <p:sp>
        <p:nvSpPr>
          <p:cNvPr id="31" name="CuadroTexto 30"/>
          <p:cNvSpPr txBox="1">
            <a:spLocks noChangeArrowheads="1"/>
          </p:cNvSpPr>
          <p:nvPr/>
        </p:nvSpPr>
        <p:spPr bwMode="auto">
          <a:xfrm>
            <a:off x="8749855" y="3284668"/>
            <a:ext cx="540000" cy="5400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0" tIns="72000" rIns="180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/>
              <a:t>p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056F2BEB-DE4E-42E2-98AA-0D6505C04B52}"/>
              </a:ext>
            </a:extLst>
          </p:cNvPr>
          <p:cNvGrpSpPr/>
          <p:nvPr/>
        </p:nvGrpSpPr>
        <p:grpSpPr>
          <a:xfrm>
            <a:off x="7393148" y="366138"/>
            <a:ext cx="473504" cy="504194"/>
            <a:chOff x="2804748" y="2780463"/>
            <a:chExt cx="473504" cy="504194"/>
          </a:xfrm>
        </p:grpSpPr>
        <p:sp>
          <p:nvSpPr>
            <p:cNvPr id="48157" name="Rectángulo 2"/>
            <p:cNvSpPr>
              <a:spLocks noChangeArrowheads="1"/>
            </p:cNvSpPr>
            <p:nvPr/>
          </p:nvSpPr>
          <p:spPr bwMode="auto">
            <a:xfrm>
              <a:off x="2827225" y="2780463"/>
              <a:ext cx="372956" cy="4581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tIns="118800" bIns="118800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 sz="2400"/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92227932-7A78-46F7-A21A-E689E193A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4748" y="2808518"/>
              <a:ext cx="473504" cy="476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p</a:t>
              </a:r>
              <a:r>
                <a:rPr lang="es-ES" sz="2400" baseline="30000">
                  <a:latin typeface="Arial" panose="020B0604020202020204" pitchFamily="34" charset="0"/>
                  <a:sym typeface="Symbol" panose="05050102010706020507" pitchFamily="18" charset="2"/>
                </a:rPr>
                <a:t>+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5886D488-BB1A-4B64-9161-BDC2C9C8EAD5}"/>
              </a:ext>
            </a:extLst>
          </p:cNvPr>
          <p:cNvGrpSpPr/>
          <p:nvPr/>
        </p:nvGrpSpPr>
        <p:grpSpPr>
          <a:xfrm>
            <a:off x="9618488" y="345336"/>
            <a:ext cx="473504" cy="521106"/>
            <a:chOff x="5030088" y="2759661"/>
            <a:chExt cx="473504" cy="521106"/>
          </a:xfrm>
        </p:grpSpPr>
        <p:sp>
          <p:nvSpPr>
            <p:cNvPr id="48158" name="Rectángulo 27"/>
            <p:cNvSpPr>
              <a:spLocks noChangeArrowheads="1"/>
            </p:cNvSpPr>
            <p:nvPr/>
          </p:nvSpPr>
          <p:spPr bwMode="auto">
            <a:xfrm>
              <a:off x="5069755" y="2759661"/>
              <a:ext cx="372956" cy="50397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tIns="118800" bIns="118800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 sz="2400"/>
            </a:p>
          </p:txBody>
        </p:sp>
        <p:sp>
          <p:nvSpPr>
            <p:cNvPr id="32" name="Text Box 25">
              <a:extLst>
                <a:ext uri="{FF2B5EF4-FFF2-40B4-BE49-F238E27FC236}">
                  <a16:creationId xmlns:a16="http://schemas.microsoft.com/office/drawing/2014/main" id="{60D15A50-28FE-4637-A7EC-8EA8282CF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088" y="2804628"/>
              <a:ext cx="473504" cy="476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n</a:t>
              </a:r>
              <a:r>
                <a:rPr lang="es-ES" sz="2400" baseline="30000">
                  <a:latin typeface="Arial" panose="020B0604020202020204" pitchFamily="34" charset="0"/>
                  <a:sym typeface="Symbol" panose="05050102010706020507" pitchFamily="18" charset="2"/>
                </a:rPr>
                <a:t>+</a:t>
              </a:r>
            </a:p>
          </p:txBody>
        </p:sp>
      </p:grpSp>
      <p:sp>
        <p:nvSpPr>
          <p:cNvPr id="33" name="Text Box 25">
            <a:extLst>
              <a:ext uri="{FF2B5EF4-FFF2-40B4-BE49-F238E27FC236}">
                <a16:creationId xmlns:a16="http://schemas.microsoft.com/office/drawing/2014/main" id="{1A623E65-9631-4D88-A931-5DD0482AF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1357" y="3384555"/>
            <a:ext cx="1188444" cy="476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TIPOS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endParaRPr lang="es-ES" sz="2400" baseline="300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7CC9653-3763-460B-8DDF-D2CF6323D978}"/>
              </a:ext>
            </a:extLst>
          </p:cNvPr>
          <p:cNvGrpSpPr/>
          <p:nvPr/>
        </p:nvGrpSpPr>
        <p:grpSpPr>
          <a:xfrm>
            <a:off x="6030643" y="5453417"/>
            <a:ext cx="1204474" cy="1515952"/>
            <a:chOff x="5559294" y="5453417"/>
            <a:chExt cx="1204474" cy="1515952"/>
          </a:xfrm>
        </p:grpSpPr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id="{539EEEDD-F44A-4D07-94AE-D03253F51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9294" y="5453417"/>
              <a:ext cx="1204474" cy="476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N</a:t>
              </a:r>
              <a:r>
                <a:rPr lang="es-ES" sz="2400" baseline="-25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a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N</a:t>
              </a:r>
              <a:r>
                <a:rPr lang="es-ES" sz="2400" baseline="-25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</a:t>
              </a:r>
              <a:endParaRPr lang="es-ES" sz="2400" baseline="30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5" name="Text Box 29">
              <a:extLst>
                <a:ext uri="{FF2B5EF4-FFF2-40B4-BE49-F238E27FC236}">
                  <a16:creationId xmlns:a16="http://schemas.microsoft.com/office/drawing/2014/main" id="{A2CFAF53-F171-4B21-BF3A-D0644C680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9294" y="5988405"/>
              <a:ext cx="1204474" cy="476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N</a:t>
              </a:r>
              <a:r>
                <a:rPr lang="es-ES" sz="2400" baseline="-25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&gt; N</a:t>
              </a:r>
              <a:r>
                <a:rPr lang="es-ES" sz="2400" baseline="-25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a</a:t>
              </a:r>
              <a:endParaRPr lang="es-ES" sz="2400" baseline="30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6" name="Text Box 30">
              <a:extLst>
                <a:ext uri="{FF2B5EF4-FFF2-40B4-BE49-F238E27FC236}">
                  <a16:creationId xmlns:a16="http://schemas.microsoft.com/office/drawing/2014/main" id="{0E2CEE0C-37D9-4E61-BBA1-82398E8D5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9294" y="6493230"/>
              <a:ext cx="1204474" cy="476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N</a:t>
              </a:r>
              <a:r>
                <a:rPr lang="es-ES" sz="2400" baseline="-25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a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&gt; N</a:t>
              </a:r>
              <a:r>
                <a:rPr lang="es-ES" sz="2400" baseline="-250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</a:t>
              </a:r>
              <a:endParaRPr lang="es-ES" sz="2400" baseline="30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37" name="Text Box 24">
            <a:extLst>
              <a:ext uri="{FF2B5EF4-FFF2-40B4-BE49-F238E27FC236}">
                <a16:creationId xmlns:a16="http://schemas.microsoft.com/office/drawing/2014/main" id="{52BE80AF-9C3E-4800-BBCC-ED1EE9408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279" y="2124232"/>
            <a:ext cx="9068121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Se usan en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soldaduras metal-semiconductor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para que no se comporten como diodos, sino como resistencias</a:t>
            </a:r>
          </a:p>
        </p:txBody>
      </p:sp>
      <p:sp>
        <p:nvSpPr>
          <p:cNvPr id="38" name="Text Box 25">
            <a:extLst>
              <a:ext uri="{FF2B5EF4-FFF2-40B4-BE49-F238E27FC236}">
                <a16:creationId xmlns:a16="http://schemas.microsoft.com/office/drawing/2014/main" id="{D33DEFB4-CF26-408C-9AB2-3CB9F5EBA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2429" y="429285"/>
            <a:ext cx="1626064" cy="476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|  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TIPO N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endParaRPr lang="es-ES" sz="2400" baseline="300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FBC16A7-ACEA-73D6-36F6-C314BB1F7424}"/>
              </a:ext>
            </a:extLst>
          </p:cNvPr>
          <p:cNvGrpSpPr/>
          <p:nvPr/>
        </p:nvGrpSpPr>
        <p:grpSpPr>
          <a:xfrm>
            <a:off x="5571769" y="4744379"/>
            <a:ext cx="1719263" cy="534988"/>
            <a:chOff x="6067961" y="4620470"/>
            <a:chExt cx="1719263" cy="534988"/>
          </a:xfrm>
        </p:grpSpPr>
        <p:sp>
          <p:nvSpPr>
            <p:cNvPr id="2" name="Text Box 63">
              <a:extLst>
                <a:ext uri="{FF2B5EF4-FFF2-40B4-BE49-F238E27FC236}">
                  <a16:creationId xmlns:a16="http://schemas.microsoft.com/office/drawing/2014/main" id="{C7BAD350-3123-46D0-303E-E915C8E32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7961" y="4620470"/>
              <a:ext cx="1719263" cy="534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A T</a:t>
              </a:r>
              <a:r>
                <a:rPr lang="es-ES" sz="24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amb</a:t>
              </a:r>
            </a:p>
          </p:txBody>
        </p:sp>
        <p:sp>
          <p:nvSpPr>
            <p:cNvPr id="4" name="Line 38">
              <a:extLst>
                <a:ext uri="{FF2B5EF4-FFF2-40B4-BE49-F238E27FC236}">
                  <a16:creationId xmlns:a16="http://schemas.microsoft.com/office/drawing/2014/main" id="{1EF1AE82-DDFC-FDD7-1C31-DFC373978F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617992" y="4707868"/>
              <a:ext cx="0" cy="29945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1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1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91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1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3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3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3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3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4" dur="500"/>
                                        <p:tgtEl>
                                          <p:spTgt spid="4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4436" grpId="0" animBg="1"/>
      <p:bldP spid="914456" grpId="0"/>
      <p:bldP spid="48159" grpId="0"/>
      <p:bldP spid="914458" grpId="0" animBg="1"/>
      <p:bldP spid="914459" grpId="0"/>
      <p:bldP spid="48153" grpId="0" animBg="1"/>
      <p:bldP spid="22553" grpId="0"/>
      <p:bldP spid="48145" grpId="0"/>
      <p:bldP spid="48147" grpId="0"/>
      <p:bldP spid="29" grpId="0" animBg="1"/>
      <p:bldP spid="30" grpId="0" animBg="1"/>
      <p:bldP spid="31" grpId="0" animBg="1"/>
      <p:bldP spid="33" grpId="0"/>
      <p:bldP spid="37" grpId="0"/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28" name="Text Box 4"/>
          <p:cNvSpPr txBox="1">
            <a:spLocks noChangeArrowheads="1"/>
          </p:cNvSpPr>
          <p:nvPr/>
        </p:nvSpPr>
        <p:spPr bwMode="auto">
          <a:xfrm>
            <a:off x="1244935" y="1735240"/>
            <a:ext cx="9089162" cy="811367"/>
          </a:xfrm>
          <a:prstGeom prst="rect">
            <a:avLst/>
          </a:prstGeom>
          <a:noFill/>
          <a:ln>
            <a:noFill/>
          </a:ln>
        </p:spPr>
        <p:txBody>
          <a:bodyPr wrap="square" lIns="90000" tIns="36000" rIns="90000" bIns="36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(2) Para tener una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respuesta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lo más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rápida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de un dispositivo (un transitorio lo más corto, una corriente transitoria lo mayor posible)</a:t>
            </a:r>
            <a:endParaRPr lang="es-ES" sz="2400" baseline="-250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0211" name="29 CuadroTexto"/>
          <p:cNvSpPr txBox="1">
            <a:spLocks noChangeArrowheads="1"/>
          </p:cNvSpPr>
          <p:nvPr/>
        </p:nvSpPr>
        <p:spPr bwMode="auto">
          <a:xfrm>
            <a:off x="1235564" y="894448"/>
            <a:ext cx="9089161" cy="830997"/>
          </a:xfrm>
          <a:prstGeom prst="rect">
            <a:avLst/>
          </a:prstGeom>
          <a:noFill/>
          <a:ln>
            <a:noFill/>
          </a:ln>
        </p:spPr>
        <p:txBody>
          <a:bodyPr wrap="square" tIns="36000" bIns="36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(1) </a:t>
            </a:r>
            <a:r>
              <a:rPr lang="es-ES" sz="2400">
                <a:latin typeface="Arial" panose="020B0604020202020204" pitchFamily="34" charset="0"/>
              </a:rPr>
              <a:t>Obtener distintos tipos de un mismo semiconductor para fabricar diferentes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dispositivos </a:t>
            </a:r>
            <a:r>
              <a:rPr lang="es-ES" sz="2400">
                <a:latin typeface="Arial" panose="020B0604020202020204" pitchFamily="34" charset="0"/>
              </a:rPr>
              <a:t>(diodos, transistores...)</a:t>
            </a: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AC290BD5-C192-400F-93F8-9D3CFA58A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216" y="4666967"/>
            <a:ext cx="8066421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Arial" panose="020B0604020202020204" pitchFamily="34" charset="0"/>
              </a:rPr>
              <a:t> Si básicamente un solo tipo de portador contribuye a la corriente en un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dispositivo</a:t>
            </a:r>
            <a:r>
              <a:rPr lang="es-ES" sz="2400">
                <a:latin typeface="Arial" panose="020B0604020202020204" pitchFamily="34" charset="0"/>
              </a:rPr>
              <a:t>, este se denomina </a:t>
            </a:r>
            <a:r>
              <a:rPr lang="es-ES" sz="2400" b="1">
                <a:latin typeface="Arial" panose="020B0604020202020204" pitchFamily="34" charset="0"/>
              </a:rPr>
              <a:t>unipolar</a:t>
            </a:r>
            <a:endParaRPr lang="es-ES" sz="2400" b="1" baseline="30000">
              <a:latin typeface="Arial" panose="020B0604020202020204" pitchFamily="34" charset="0"/>
            </a:endParaRPr>
          </a:p>
        </p:txBody>
      </p:sp>
      <p:sp>
        <p:nvSpPr>
          <p:cNvPr id="8" name="Text Box 17">
            <a:extLst>
              <a:ext uri="{FF2B5EF4-FFF2-40B4-BE49-F238E27FC236}">
                <a16:creationId xmlns:a16="http://schemas.microsoft.com/office/drawing/2014/main" id="{F0C5B382-14B7-4BED-9039-F944C43A4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216" y="5977417"/>
            <a:ext cx="8278812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 El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portador</a:t>
            </a:r>
            <a:r>
              <a:rPr lang="es-ES" sz="2400">
                <a:latin typeface="Arial" panose="020B0604020202020204" pitchFamily="34" charset="0"/>
              </a:rPr>
              <a:t> de mayor concentración en un semiconductor, se llama </a:t>
            </a:r>
            <a:r>
              <a:rPr lang="es-ES" sz="2400" b="1">
                <a:latin typeface="Arial" panose="020B0604020202020204" pitchFamily="34" charset="0"/>
              </a:rPr>
              <a:t>mayoritario</a:t>
            </a:r>
            <a:r>
              <a:rPr lang="es-ES" sz="2400">
                <a:latin typeface="Arial" panose="020B0604020202020204" pitchFamily="34" charset="0"/>
              </a:rPr>
              <a:t>, el otro, </a:t>
            </a:r>
            <a:r>
              <a:rPr lang="es-ES" sz="2400" b="1">
                <a:latin typeface="Arial" panose="020B0604020202020204" pitchFamily="34" charset="0"/>
              </a:rPr>
              <a:t>minoritario</a:t>
            </a:r>
          </a:p>
        </p:txBody>
      </p:sp>
      <p:sp>
        <p:nvSpPr>
          <p:cNvPr id="9" name="Text Box 24">
            <a:extLst>
              <a:ext uri="{FF2B5EF4-FFF2-40B4-BE49-F238E27FC236}">
                <a16:creationId xmlns:a16="http://schemas.microsoft.com/office/drawing/2014/main" id="{CC76979B-C015-4F4C-8034-241CCE0CB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7647" y="5462145"/>
            <a:ext cx="7526717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Arial" panose="020B0604020202020204" pitchFamily="34" charset="0"/>
              </a:rPr>
              <a:t> Si contribuyen los dos, el dispositivo se dice </a:t>
            </a:r>
            <a:r>
              <a:rPr lang="es-ES" sz="2400" b="1">
                <a:latin typeface="Arial" panose="020B0604020202020204" pitchFamily="34" charset="0"/>
              </a:rPr>
              <a:t>bipolar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11064AF-E6AD-4BFD-809B-D336C2CFF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551" y="368012"/>
            <a:ext cx="9174885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9.2.2 INTERÉS DEL DOPAJE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4386F031-B400-37C9-8E3C-71DDC2909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431" y="2622218"/>
            <a:ext cx="8441451" cy="20284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44000" tIns="72000" rIns="144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Como al dopar con un tipo de impureza, e ionizarse estas, se tiene una mayor concentración total de portadores, y con ello mayor conductividad y corriente, interesa dopar, y hacerlo aumentando la concentración de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porque su movilidad es mayor, y con ello la  e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que se consiguen</a:t>
            </a:r>
            <a:endParaRPr lang="es-ES" sz="2400" baseline="-250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28" grpId="0"/>
      <p:bldP spid="50211" grpId="0"/>
      <p:bldP spid="7" grpId="0"/>
      <p:bldP spid="8" grpId="0"/>
      <p:bldP spid="9" grpId="0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n 30">
            <a:extLst>
              <a:ext uri="{FF2B5EF4-FFF2-40B4-BE49-F238E27FC236}">
                <a16:creationId xmlns:a16="http://schemas.microsoft.com/office/drawing/2014/main" id="{06B20B87-6A55-5E6F-91E3-BEF51C925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82" y="411263"/>
            <a:ext cx="3717235" cy="3120887"/>
          </a:xfrm>
          <a:prstGeom prst="rect">
            <a:avLst/>
          </a:prstGeom>
        </p:spPr>
      </p:pic>
      <p:grpSp>
        <p:nvGrpSpPr>
          <p:cNvPr id="32" name="Grupo 31">
            <a:extLst>
              <a:ext uri="{FF2B5EF4-FFF2-40B4-BE49-F238E27FC236}">
                <a16:creationId xmlns:a16="http://schemas.microsoft.com/office/drawing/2014/main" id="{8391762A-88EB-80CC-9658-3D5961A5431F}"/>
              </a:ext>
            </a:extLst>
          </p:cNvPr>
          <p:cNvGrpSpPr/>
          <p:nvPr/>
        </p:nvGrpSpPr>
        <p:grpSpPr>
          <a:xfrm>
            <a:off x="8374174" y="905771"/>
            <a:ext cx="1834299" cy="2343150"/>
            <a:chOff x="8374174" y="905771"/>
            <a:chExt cx="1834299" cy="2343150"/>
          </a:xfrm>
        </p:grpSpPr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962BEB75-FBDA-FBFF-EEB3-37B93E3B820E}"/>
                </a:ext>
              </a:extLst>
            </p:cNvPr>
            <p:cNvSpPr/>
            <p:nvPr/>
          </p:nvSpPr>
          <p:spPr bwMode="auto">
            <a:xfrm>
              <a:off x="8374174" y="905771"/>
              <a:ext cx="1314450" cy="2343150"/>
            </a:xfrm>
            <a:custGeom>
              <a:avLst/>
              <a:gdLst>
                <a:gd name="connsiteX0" fmla="*/ 1314450 w 1314450"/>
                <a:gd name="connsiteY0" fmla="*/ 0 h 2343150"/>
                <a:gd name="connsiteX1" fmla="*/ 1285875 w 1314450"/>
                <a:gd name="connsiteY1" fmla="*/ 152400 h 2343150"/>
                <a:gd name="connsiteX2" fmla="*/ 1243013 w 1314450"/>
                <a:gd name="connsiteY2" fmla="*/ 390525 h 2343150"/>
                <a:gd name="connsiteX3" fmla="*/ 1185863 w 1314450"/>
                <a:gd name="connsiteY3" fmla="*/ 590550 h 2343150"/>
                <a:gd name="connsiteX4" fmla="*/ 1133475 w 1314450"/>
                <a:gd name="connsiteY4" fmla="*/ 785812 h 2343150"/>
                <a:gd name="connsiteX5" fmla="*/ 1071563 w 1314450"/>
                <a:gd name="connsiteY5" fmla="*/ 976312 h 2343150"/>
                <a:gd name="connsiteX6" fmla="*/ 995363 w 1314450"/>
                <a:gd name="connsiteY6" fmla="*/ 1214437 h 2343150"/>
                <a:gd name="connsiteX7" fmla="*/ 919163 w 1314450"/>
                <a:gd name="connsiteY7" fmla="*/ 1390650 h 2343150"/>
                <a:gd name="connsiteX8" fmla="*/ 838200 w 1314450"/>
                <a:gd name="connsiteY8" fmla="*/ 1585912 h 2343150"/>
                <a:gd name="connsiteX9" fmla="*/ 723900 w 1314450"/>
                <a:gd name="connsiteY9" fmla="*/ 1781175 h 2343150"/>
                <a:gd name="connsiteX10" fmla="*/ 609600 w 1314450"/>
                <a:gd name="connsiteY10" fmla="*/ 1962150 h 2343150"/>
                <a:gd name="connsiteX11" fmla="*/ 466725 w 1314450"/>
                <a:gd name="connsiteY11" fmla="*/ 2133600 h 2343150"/>
                <a:gd name="connsiteX12" fmla="*/ 319088 w 1314450"/>
                <a:gd name="connsiteY12" fmla="*/ 2243137 h 2343150"/>
                <a:gd name="connsiteX13" fmla="*/ 157163 w 1314450"/>
                <a:gd name="connsiteY13" fmla="*/ 2319337 h 2343150"/>
                <a:gd name="connsiteX14" fmla="*/ 0 w 1314450"/>
                <a:gd name="connsiteY14" fmla="*/ 2343150 h 234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14450" h="2343150">
                  <a:moveTo>
                    <a:pt x="1314450" y="0"/>
                  </a:moveTo>
                  <a:cubicBezTo>
                    <a:pt x="1306115" y="43656"/>
                    <a:pt x="1297781" y="87313"/>
                    <a:pt x="1285875" y="152400"/>
                  </a:cubicBezTo>
                  <a:cubicBezTo>
                    <a:pt x="1273969" y="217487"/>
                    <a:pt x="1259682" y="317500"/>
                    <a:pt x="1243013" y="390525"/>
                  </a:cubicBezTo>
                  <a:cubicBezTo>
                    <a:pt x="1226344" y="463550"/>
                    <a:pt x="1204119" y="524669"/>
                    <a:pt x="1185863" y="590550"/>
                  </a:cubicBezTo>
                  <a:cubicBezTo>
                    <a:pt x="1167607" y="656431"/>
                    <a:pt x="1152525" y="721518"/>
                    <a:pt x="1133475" y="785812"/>
                  </a:cubicBezTo>
                  <a:cubicBezTo>
                    <a:pt x="1114425" y="850106"/>
                    <a:pt x="1094582" y="904875"/>
                    <a:pt x="1071563" y="976312"/>
                  </a:cubicBezTo>
                  <a:cubicBezTo>
                    <a:pt x="1048544" y="1047749"/>
                    <a:pt x="1020763" y="1145381"/>
                    <a:pt x="995363" y="1214437"/>
                  </a:cubicBezTo>
                  <a:cubicBezTo>
                    <a:pt x="969963" y="1283493"/>
                    <a:pt x="945357" y="1328738"/>
                    <a:pt x="919163" y="1390650"/>
                  </a:cubicBezTo>
                  <a:cubicBezTo>
                    <a:pt x="892969" y="1452562"/>
                    <a:pt x="870744" y="1520824"/>
                    <a:pt x="838200" y="1585912"/>
                  </a:cubicBezTo>
                  <a:cubicBezTo>
                    <a:pt x="805656" y="1651000"/>
                    <a:pt x="762000" y="1718469"/>
                    <a:pt x="723900" y="1781175"/>
                  </a:cubicBezTo>
                  <a:cubicBezTo>
                    <a:pt x="685800" y="1843881"/>
                    <a:pt x="652463" y="1903412"/>
                    <a:pt x="609600" y="1962150"/>
                  </a:cubicBezTo>
                  <a:cubicBezTo>
                    <a:pt x="566737" y="2020888"/>
                    <a:pt x="515144" y="2086769"/>
                    <a:pt x="466725" y="2133600"/>
                  </a:cubicBezTo>
                  <a:cubicBezTo>
                    <a:pt x="418306" y="2180431"/>
                    <a:pt x="370682" y="2212181"/>
                    <a:pt x="319088" y="2243137"/>
                  </a:cubicBezTo>
                  <a:cubicBezTo>
                    <a:pt x="267494" y="2274093"/>
                    <a:pt x="210344" y="2302668"/>
                    <a:pt x="157163" y="2319337"/>
                  </a:cubicBezTo>
                  <a:cubicBezTo>
                    <a:pt x="103982" y="2336006"/>
                    <a:pt x="51991" y="2339578"/>
                    <a:pt x="0" y="2343150"/>
                  </a:cubicBezTo>
                </a:path>
              </a:pathLst>
            </a:cu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5" name="Text Box 51"/>
            <p:cNvSpPr txBox="1">
              <a:spLocks noChangeArrowheads="1"/>
            </p:cNvSpPr>
            <p:nvPr/>
          </p:nvSpPr>
          <p:spPr bwMode="auto">
            <a:xfrm>
              <a:off x="9484900" y="1867514"/>
              <a:ext cx="723573" cy="547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tipo i</a:t>
              </a:r>
            </a:p>
          </p:txBody>
        </p:sp>
      </p:grpSp>
      <p:grpSp>
        <p:nvGrpSpPr>
          <p:cNvPr id="11346" name="Group 82"/>
          <p:cNvGrpSpPr>
            <a:grpSpLocks/>
          </p:cNvGrpSpPr>
          <p:nvPr/>
        </p:nvGrpSpPr>
        <p:grpSpPr bwMode="auto">
          <a:xfrm>
            <a:off x="1246188" y="3689914"/>
            <a:ext cx="5111750" cy="776288"/>
            <a:chOff x="780" y="2841"/>
            <a:chExt cx="3220" cy="489"/>
          </a:xfrm>
        </p:grpSpPr>
        <p:sp>
          <p:nvSpPr>
            <p:cNvPr id="54322" name="Rectangle 52"/>
            <p:cNvSpPr>
              <a:spLocks noChangeArrowheads="1"/>
            </p:cNvSpPr>
            <p:nvPr/>
          </p:nvSpPr>
          <p:spPr bwMode="auto">
            <a:xfrm>
              <a:off x="784" y="2841"/>
              <a:ext cx="184" cy="294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/>
            </a:p>
          </p:txBody>
        </p:sp>
        <p:sp>
          <p:nvSpPr>
            <p:cNvPr id="54323" name="40 CuadroTexto"/>
            <p:cNvSpPr txBox="1">
              <a:spLocks noChangeArrowheads="1"/>
            </p:cNvSpPr>
            <p:nvPr/>
          </p:nvSpPr>
          <p:spPr bwMode="auto">
            <a:xfrm>
              <a:off x="780" y="2903"/>
              <a:ext cx="3220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a  Las impurezas no están todas ionizadas.</a:t>
              </a: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     n y 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 crecen al subir T, al irse ionizando</a:t>
              </a:r>
            </a:p>
          </p:txBody>
        </p:sp>
      </p:grpSp>
      <p:grpSp>
        <p:nvGrpSpPr>
          <p:cNvPr id="11320" name="Group 56"/>
          <p:cNvGrpSpPr>
            <a:grpSpLocks/>
          </p:cNvGrpSpPr>
          <p:nvPr/>
        </p:nvGrpSpPr>
        <p:grpSpPr bwMode="auto">
          <a:xfrm>
            <a:off x="1238250" y="4679340"/>
            <a:ext cx="5338767" cy="466725"/>
            <a:chOff x="775" y="3355"/>
            <a:chExt cx="3363" cy="294"/>
          </a:xfrm>
        </p:grpSpPr>
        <p:sp>
          <p:nvSpPr>
            <p:cNvPr id="54320" name="Rectangle 53"/>
            <p:cNvSpPr>
              <a:spLocks noChangeArrowheads="1"/>
            </p:cNvSpPr>
            <p:nvPr/>
          </p:nvSpPr>
          <p:spPr bwMode="auto">
            <a:xfrm>
              <a:off x="788" y="3355"/>
              <a:ext cx="184" cy="294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/>
            </a:p>
          </p:txBody>
        </p:sp>
        <p:sp>
          <p:nvSpPr>
            <p:cNvPr id="54321" name="41 CuadroTexto"/>
            <p:cNvSpPr txBox="1">
              <a:spLocks noChangeArrowheads="1"/>
            </p:cNvSpPr>
            <p:nvPr/>
          </p:nvSpPr>
          <p:spPr bwMode="auto">
            <a:xfrm>
              <a:off x="775" y="3363"/>
              <a:ext cx="3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b </a:t>
              </a:r>
              <a:r>
                <a:rPr lang="es-ES" sz="200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000">
                  <a:latin typeface="Arial" panose="020B0604020202020204" pitchFamily="34" charset="0"/>
                </a:rPr>
                <a:t>Todas ionizadas, n 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</a:t>
              </a: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000">
                  <a:latin typeface="Arial" panose="020B0604020202020204" pitchFamily="34" charset="0"/>
                </a:rPr>
                <a:t>cte. mientras N</a:t>
              </a:r>
              <a:r>
                <a:rPr lang="es-ES" sz="2000" baseline="-25000">
                  <a:latin typeface="Arial" panose="020B0604020202020204" pitchFamily="34" charset="0"/>
                </a:rPr>
                <a:t>d</a:t>
              </a:r>
              <a:r>
                <a:rPr lang="es-ES" sz="2000">
                  <a:latin typeface="Arial" panose="020B0604020202020204" pitchFamily="34" charset="0"/>
                </a:rPr>
                <a:t> &gt;&gt; p.</a:t>
              </a:r>
            </a:p>
          </p:txBody>
        </p:sp>
      </p:grpSp>
      <p:grpSp>
        <p:nvGrpSpPr>
          <p:cNvPr id="11333" name="Group 69"/>
          <p:cNvGrpSpPr>
            <a:grpSpLocks/>
          </p:cNvGrpSpPr>
          <p:nvPr/>
        </p:nvGrpSpPr>
        <p:grpSpPr bwMode="auto">
          <a:xfrm>
            <a:off x="1249363" y="5632845"/>
            <a:ext cx="5532438" cy="769938"/>
            <a:chOff x="782" y="3857"/>
            <a:chExt cx="3485" cy="485"/>
          </a:xfrm>
        </p:grpSpPr>
        <p:sp>
          <p:nvSpPr>
            <p:cNvPr id="54318" name="Rectangle 54"/>
            <p:cNvSpPr>
              <a:spLocks noChangeArrowheads="1"/>
            </p:cNvSpPr>
            <p:nvPr/>
          </p:nvSpPr>
          <p:spPr bwMode="auto">
            <a:xfrm>
              <a:off x="786" y="3857"/>
              <a:ext cx="184" cy="294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/>
            </a:p>
          </p:txBody>
        </p:sp>
        <p:sp>
          <p:nvSpPr>
            <p:cNvPr id="54319" name="45 CuadroTexto"/>
            <p:cNvSpPr txBox="1">
              <a:spLocks noChangeArrowheads="1"/>
            </p:cNvSpPr>
            <p:nvPr/>
          </p:nvSpPr>
          <p:spPr bwMode="auto">
            <a:xfrm>
              <a:off x="782" y="3913"/>
              <a:ext cx="3485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c  La producción de pares crece al subir T.</a:t>
              </a: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    n y p crecen, y con ello 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, que tiende a </a:t>
              </a:r>
              <a:r>
                <a:rPr lang="es-ES" sz="2000" baseline="-25000">
                  <a:latin typeface="Arial" panose="020B0604020202020204" pitchFamily="34" charset="0"/>
                  <a:sym typeface="Symbol" panose="05050102010706020507" pitchFamily="18" charset="2"/>
                </a:rPr>
                <a:t>int</a:t>
              </a:r>
              <a:r>
                <a:rPr lang="es-ES" sz="2000">
                  <a:latin typeface="Arial" panose="020B0604020202020204" pitchFamily="34" charset="0"/>
                </a:rPr>
                <a:t>.</a:t>
              </a:r>
              <a:endParaRPr lang="es-E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329" name="Group 65"/>
          <p:cNvGrpSpPr>
            <a:grpSpLocks/>
          </p:cNvGrpSpPr>
          <p:nvPr/>
        </p:nvGrpSpPr>
        <p:grpSpPr bwMode="auto">
          <a:xfrm>
            <a:off x="6634652" y="3928716"/>
            <a:ext cx="1493838" cy="2584450"/>
            <a:chOff x="3908" y="2700"/>
            <a:chExt cx="941" cy="1628"/>
          </a:xfrm>
        </p:grpSpPr>
        <p:sp>
          <p:nvSpPr>
            <p:cNvPr id="54311" name="Text Box 59"/>
            <p:cNvSpPr txBox="1">
              <a:spLocks noChangeArrowheads="1"/>
            </p:cNvSpPr>
            <p:nvPr/>
          </p:nvSpPr>
          <p:spPr bwMode="auto">
            <a:xfrm>
              <a:off x="3908" y="2975"/>
              <a:ext cx="941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n = N</a:t>
              </a:r>
              <a:r>
                <a:rPr lang="es-ES" sz="2000" baseline="-25000">
                  <a:latin typeface="Arial" panose="020B0604020202020204" pitchFamily="34" charset="0"/>
                </a:rPr>
                <a:t>d</a:t>
              </a:r>
              <a:r>
                <a:rPr lang="es-ES" sz="2000" baseline="30000">
                  <a:latin typeface="Arial" panose="020B0604020202020204" pitchFamily="34" charset="0"/>
                </a:rPr>
                <a:t>+</a:t>
              </a:r>
              <a:r>
                <a:rPr lang="es-ES" sz="2000">
                  <a:latin typeface="Arial" panose="020B0604020202020204" pitchFamily="34" charset="0"/>
                </a:rPr>
                <a:t>&lt; N</a:t>
              </a:r>
              <a:r>
                <a:rPr lang="es-ES" sz="2000" baseline="-2500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54312" name="Text Box 61"/>
            <p:cNvSpPr txBox="1">
              <a:spLocks noChangeArrowheads="1"/>
            </p:cNvSpPr>
            <p:nvPr/>
          </p:nvSpPr>
          <p:spPr bwMode="auto">
            <a:xfrm>
              <a:off x="4143" y="3217"/>
              <a:ext cx="477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p 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=</a:t>
              </a:r>
              <a:r>
                <a:rPr lang="es-ES" sz="2000">
                  <a:latin typeface="Arial" panose="020B0604020202020204" pitchFamily="34" charset="0"/>
                </a:rPr>
                <a:t> 0</a:t>
              </a:r>
            </a:p>
          </p:txBody>
        </p:sp>
        <p:sp>
          <p:nvSpPr>
            <p:cNvPr id="54313" name="Text Box 48"/>
            <p:cNvSpPr txBox="1">
              <a:spLocks noChangeArrowheads="1"/>
            </p:cNvSpPr>
            <p:nvPr/>
          </p:nvSpPr>
          <p:spPr bwMode="auto">
            <a:xfrm>
              <a:off x="4277" y="2700"/>
              <a:ext cx="203" cy="25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a</a:t>
              </a:r>
            </a:p>
          </p:txBody>
        </p:sp>
        <p:pic>
          <p:nvPicPr>
            <p:cNvPr id="54314" name="Picture 6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0" y="3540"/>
              <a:ext cx="678" cy="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1330" name="Group 66"/>
          <p:cNvGrpSpPr>
            <a:grpSpLocks/>
          </p:cNvGrpSpPr>
          <p:nvPr/>
        </p:nvGrpSpPr>
        <p:grpSpPr bwMode="auto">
          <a:xfrm>
            <a:off x="8130615" y="3941416"/>
            <a:ext cx="1069975" cy="2574925"/>
            <a:chOff x="4904" y="2718"/>
            <a:chExt cx="674" cy="1622"/>
          </a:xfrm>
        </p:grpSpPr>
        <p:sp>
          <p:nvSpPr>
            <p:cNvPr id="54307" name="Text Box 48"/>
            <p:cNvSpPr txBox="1">
              <a:spLocks noChangeArrowheads="1"/>
            </p:cNvSpPr>
            <p:nvPr/>
          </p:nvSpPr>
          <p:spPr bwMode="auto">
            <a:xfrm>
              <a:off x="5140" y="2718"/>
              <a:ext cx="203" cy="25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54308" name="Text Box 60"/>
            <p:cNvSpPr txBox="1">
              <a:spLocks noChangeArrowheads="1"/>
            </p:cNvSpPr>
            <p:nvPr/>
          </p:nvSpPr>
          <p:spPr bwMode="auto">
            <a:xfrm>
              <a:off x="4962" y="2979"/>
              <a:ext cx="559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n 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</a:t>
              </a:r>
              <a:r>
                <a:rPr lang="es-ES" sz="2000">
                  <a:latin typeface="Arial" panose="020B0604020202020204" pitchFamily="34" charset="0"/>
                </a:rPr>
                <a:t> N</a:t>
              </a:r>
              <a:r>
                <a:rPr lang="es-ES" sz="2000" baseline="-2500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54309" name="Text Box 64"/>
            <p:cNvSpPr txBox="1">
              <a:spLocks noChangeArrowheads="1"/>
            </p:cNvSpPr>
            <p:nvPr/>
          </p:nvSpPr>
          <p:spPr bwMode="auto">
            <a:xfrm>
              <a:off x="4912" y="3228"/>
              <a:ext cx="658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N</a:t>
              </a:r>
              <a:r>
                <a:rPr lang="es-ES" sz="2000" baseline="-25000">
                  <a:latin typeface="Arial" panose="020B0604020202020204" pitchFamily="34" charset="0"/>
                </a:rPr>
                <a:t>d</a:t>
              </a:r>
              <a:r>
                <a:rPr lang="es-ES" sz="2000">
                  <a:latin typeface="Arial" panose="020B0604020202020204" pitchFamily="34" charset="0"/>
                </a:rPr>
                <a:t> &gt;&gt; p</a:t>
              </a:r>
              <a:endParaRPr lang="es-ES" sz="2000" baseline="-25000">
                <a:latin typeface="Arial" panose="020B0604020202020204" pitchFamily="34" charset="0"/>
              </a:endParaRPr>
            </a:p>
          </p:txBody>
        </p:sp>
        <p:pic>
          <p:nvPicPr>
            <p:cNvPr id="54310" name="Picture 6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4" y="3561"/>
              <a:ext cx="674" cy="7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1336" name="Group 72"/>
          <p:cNvGrpSpPr>
            <a:grpSpLocks/>
          </p:cNvGrpSpPr>
          <p:nvPr/>
        </p:nvGrpSpPr>
        <p:grpSpPr bwMode="auto">
          <a:xfrm>
            <a:off x="6626115" y="2389700"/>
            <a:ext cx="620713" cy="514350"/>
            <a:chOff x="4045" y="2011"/>
            <a:chExt cx="391" cy="324"/>
          </a:xfrm>
        </p:grpSpPr>
        <p:sp>
          <p:nvSpPr>
            <p:cNvPr id="54305" name="Line 51"/>
            <p:cNvSpPr>
              <a:spLocks noChangeShapeType="1"/>
            </p:cNvSpPr>
            <p:nvPr/>
          </p:nvSpPr>
          <p:spPr bwMode="auto">
            <a:xfrm>
              <a:off x="4271" y="2229"/>
              <a:ext cx="165" cy="1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54306" name="Text Box 71"/>
            <p:cNvSpPr txBox="1">
              <a:spLocks noChangeArrowheads="1"/>
            </p:cNvSpPr>
            <p:nvPr/>
          </p:nvSpPr>
          <p:spPr bwMode="auto">
            <a:xfrm>
              <a:off x="4045" y="2011"/>
              <a:ext cx="206" cy="21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72000" bIns="1188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a</a:t>
              </a:r>
            </a:p>
          </p:txBody>
        </p:sp>
      </p:grpSp>
      <p:grpSp>
        <p:nvGrpSpPr>
          <p:cNvPr id="11345" name="Group 81"/>
          <p:cNvGrpSpPr>
            <a:grpSpLocks/>
          </p:cNvGrpSpPr>
          <p:nvPr/>
        </p:nvGrpSpPr>
        <p:grpSpPr bwMode="auto">
          <a:xfrm>
            <a:off x="8594643" y="1494355"/>
            <a:ext cx="474664" cy="414338"/>
            <a:chOff x="6394" y="1275"/>
            <a:chExt cx="299" cy="261"/>
          </a:xfrm>
        </p:grpSpPr>
        <p:sp>
          <p:nvSpPr>
            <p:cNvPr id="54303" name="Line 79"/>
            <p:cNvSpPr>
              <a:spLocks noChangeShapeType="1"/>
            </p:cNvSpPr>
            <p:nvPr/>
          </p:nvSpPr>
          <p:spPr bwMode="auto">
            <a:xfrm>
              <a:off x="6612" y="1480"/>
              <a:ext cx="81" cy="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54304" name="Text Box 80"/>
            <p:cNvSpPr txBox="1">
              <a:spLocks noChangeArrowheads="1"/>
            </p:cNvSpPr>
            <p:nvPr/>
          </p:nvSpPr>
          <p:spPr bwMode="auto">
            <a:xfrm>
              <a:off x="6394" y="1275"/>
              <a:ext cx="197" cy="19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72000" bIns="1188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c</a:t>
              </a:r>
            </a:p>
          </p:txBody>
        </p:sp>
      </p:grpSp>
      <p:grpSp>
        <p:nvGrpSpPr>
          <p:cNvPr id="54297" name="Group 67"/>
          <p:cNvGrpSpPr>
            <a:grpSpLocks/>
          </p:cNvGrpSpPr>
          <p:nvPr/>
        </p:nvGrpSpPr>
        <p:grpSpPr bwMode="auto">
          <a:xfrm>
            <a:off x="9327855" y="3938241"/>
            <a:ext cx="1054100" cy="2574925"/>
            <a:chOff x="5721" y="2706"/>
            <a:chExt cx="664" cy="1622"/>
          </a:xfrm>
        </p:grpSpPr>
        <p:sp>
          <p:nvSpPr>
            <p:cNvPr id="54299" name="Text Box 49"/>
            <p:cNvSpPr txBox="1">
              <a:spLocks noChangeArrowheads="1"/>
            </p:cNvSpPr>
            <p:nvPr/>
          </p:nvSpPr>
          <p:spPr bwMode="auto">
            <a:xfrm>
              <a:off x="5938" y="2706"/>
              <a:ext cx="194" cy="25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54300" name="Text Box 63"/>
            <p:cNvSpPr txBox="1">
              <a:spLocks noChangeArrowheads="1"/>
            </p:cNvSpPr>
            <p:nvPr/>
          </p:nvSpPr>
          <p:spPr bwMode="auto">
            <a:xfrm>
              <a:off x="5817" y="2968"/>
              <a:ext cx="472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n </a:t>
              </a:r>
              <a:r>
                <a:rPr lang="es-ES" sz="2000">
                  <a:latin typeface="Arial" panose="020B0604020202020204" pitchFamily="34" charset="0"/>
                  <a:sym typeface="Symbol" panose="05050102010706020507" pitchFamily="18" charset="2"/>
                </a:rPr>
                <a:t></a:t>
              </a:r>
              <a:r>
                <a:rPr lang="es-ES" sz="2000">
                  <a:latin typeface="Arial" panose="020B0604020202020204" pitchFamily="34" charset="0"/>
                </a:rPr>
                <a:t> p</a:t>
              </a:r>
              <a:endParaRPr lang="es-ES" sz="2000" baseline="-25000">
                <a:latin typeface="Arial" panose="020B0604020202020204" pitchFamily="34" charset="0"/>
              </a:endParaRPr>
            </a:p>
          </p:txBody>
        </p:sp>
        <p:sp>
          <p:nvSpPr>
            <p:cNvPr id="54301" name="Text Box 65"/>
            <p:cNvSpPr txBox="1">
              <a:spLocks noChangeArrowheads="1"/>
            </p:cNvSpPr>
            <p:nvPr/>
          </p:nvSpPr>
          <p:spPr bwMode="auto">
            <a:xfrm>
              <a:off x="5725" y="3221"/>
              <a:ext cx="658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Arial" panose="020B0604020202020204" pitchFamily="34" charset="0"/>
                </a:rPr>
                <a:t>p &gt;&gt; N</a:t>
              </a:r>
              <a:r>
                <a:rPr lang="es-ES" sz="2000" baseline="-25000">
                  <a:latin typeface="Arial" panose="020B0604020202020204" pitchFamily="34" charset="0"/>
                </a:rPr>
                <a:t>d</a:t>
              </a:r>
            </a:p>
          </p:txBody>
        </p:sp>
        <p:pic>
          <p:nvPicPr>
            <p:cNvPr id="54302" name="Picture 6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1" y="3564"/>
              <a:ext cx="664" cy="7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45" name="Text Box 23">
            <a:extLst>
              <a:ext uri="{FF2B5EF4-FFF2-40B4-BE49-F238E27FC236}">
                <a16:creationId xmlns:a16="http://schemas.microsoft.com/office/drawing/2014/main" id="{F66915CA-F451-4399-8CA1-DECD7D449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031" y="353330"/>
            <a:ext cx="4945978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(3) Conseguir</a:t>
            </a: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cierta conductividad constante </a:t>
            </a:r>
            <a:r>
              <a:rPr lang="es-ES" sz="2400" dirty="0">
                <a:latin typeface="Arial" panose="020B0604020202020204" pitchFamily="34" charset="0"/>
              </a:rPr>
              <a:t>para </a:t>
            </a:r>
            <a:r>
              <a:rPr lang="es-ES" sz="2400" dirty="0" err="1">
                <a:latin typeface="Arial" panose="020B0604020202020204" pitchFamily="34" charset="0"/>
              </a:rPr>
              <a:t>T</a:t>
            </a:r>
            <a:r>
              <a:rPr lang="es-ES" sz="2400" baseline="-25000" dirty="0" err="1">
                <a:latin typeface="Arial" panose="020B0604020202020204" pitchFamily="34" charset="0"/>
              </a:rPr>
              <a:t>trabajo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(en torno a 300K)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0" name="Text Box 37">
            <a:extLst>
              <a:ext uri="{FF2B5EF4-FFF2-40B4-BE49-F238E27FC236}">
                <a16:creationId xmlns:a16="http://schemas.microsoft.com/office/drawing/2014/main" id="{8F050BC0-2E6D-407F-985D-B8287E5A3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714" y="1944636"/>
            <a:ext cx="4308321" cy="10512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54800" rIns="90000" bIns="154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Se consigue con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cierto dopaje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y una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mayor </a:t>
            </a:r>
            <a:r>
              <a:rPr lang="es-ES" sz="2400" err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s-ES" sz="2400" baseline="-25000" err="1">
                <a:solidFill>
                  <a:srgbClr val="FF0000"/>
                </a:solidFill>
                <a:latin typeface="Arial" panose="020B0604020202020204" pitchFamily="34" charset="0"/>
              </a:rPr>
              <a:t>gap</a:t>
            </a:r>
            <a:endParaRPr lang="es-ES" sz="2400" baseline="-25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7AA7AD2-0219-4BD6-85E2-19AAEABEEE54}"/>
              </a:ext>
            </a:extLst>
          </p:cNvPr>
          <p:cNvGrpSpPr/>
          <p:nvPr/>
        </p:nvGrpSpPr>
        <p:grpSpPr>
          <a:xfrm>
            <a:off x="7794355" y="2577131"/>
            <a:ext cx="327334" cy="551989"/>
            <a:chOff x="7794355" y="2596181"/>
            <a:chExt cx="327334" cy="551989"/>
          </a:xfrm>
        </p:grpSpPr>
        <p:sp>
          <p:nvSpPr>
            <p:cNvPr id="11341" name="Text Box 77"/>
            <p:cNvSpPr txBox="1">
              <a:spLocks noChangeArrowheads="1"/>
            </p:cNvSpPr>
            <p:nvPr/>
          </p:nvSpPr>
          <p:spPr bwMode="auto">
            <a:xfrm>
              <a:off x="7794355" y="2808093"/>
              <a:ext cx="327334" cy="34007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</p:spPr>
          <p:txBody>
            <a:bodyPr wrap="none" tIns="118800" bIns="1188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2" name="Line 51">
              <a:extLst>
                <a:ext uri="{FF2B5EF4-FFF2-40B4-BE49-F238E27FC236}">
                  <a16:creationId xmlns:a16="http://schemas.microsoft.com/office/drawing/2014/main" id="{E2BFA429-D46B-4F60-B400-621F689F77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51622" y="2596181"/>
              <a:ext cx="0" cy="1684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</p:grpSp>
      <p:sp>
        <p:nvSpPr>
          <p:cNvPr id="2" name="41 CuadroTexto">
            <a:extLst>
              <a:ext uri="{FF2B5EF4-FFF2-40B4-BE49-F238E27FC236}">
                <a16:creationId xmlns:a16="http://schemas.microsoft.com/office/drawing/2014/main" id="{B610C962-6686-B1F4-E620-AD919B5CE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9611" y="5059552"/>
            <a:ext cx="3857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Se tiene la </a:t>
            </a: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 constante deseada</a:t>
            </a:r>
            <a:endParaRPr lang="es-ES" sz="2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45 CuadroTexto">
            <a:extLst>
              <a:ext uri="{FF2B5EF4-FFF2-40B4-BE49-F238E27FC236}">
                <a16:creationId xmlns:a16="http://schemas.microsoft.com/office/drawing/2014/main" id="{3E7122CE-31ED-7628-C344-72F29CCC0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107" y="6494707"/>
            <a:ext cx="5532438" cy="312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Una </a:t>
            </a:r>
            <a:r>
              <a:rPr lang="es-ES" sz="2000" err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s-ES" sz="2000" baseline="-25000" err="1">
                <a:solidFill>
                  <a:srgbClr val="FF0000"/>
                </a:solidFill>
                <a:latin typeface="Arial" panose="020B0604020202020204" pitchFamily="34" charset="0"/>
              </a:rPr>
              <a:t>gap</a:t>
            </a: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 mayor lo retrasa (hace falta más E)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8F733B7-D6C6-52CE-4957-1FE21250AA31}"/>
              </a:ext>
            </a:extLst>
          </p:cNvPr>
          <p:cNvCxnSpPr>
            <a:endCxn id="29" idx="30"/>
          </p:cNvCxnSpPr>
          <p:nvPr/>
        </p:nvCxnSpPr>
        <p:spPr bwMode="auto">
          <a:xfrm flipH="1" flipV="1">
            <a:off x="7062295" y="3241171"/>
            <a:ext cx="1311879" cy="7750"/>
          </a:xfrm>
          <a:prstGeom prst="line">
            <a:avLst/>
          </a:pr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9FBEF5C-5BA0-E276-E821-680A8F00BA46}"/>
              </a:ext>
            </a:extLst>
          </p:cNvPr>
          <p:cNvGrpSpPr/>
          <p:nvPr/>
        </p:nvGrpSpPr>
        <p:grpSpPr>
          <a:xfrm>
            <a:off x="7062295" y="883734"/>
            <a:ext cx="2533650" cy="2357437"/>
            <a:chOff x="7062295" y="883734"/>
            <a:chExt cx="2533650" cy="2357437"/>
          </a:xfrm>
        </p:grpSpPr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55F2739D-D920-1EE0-8AAC-318B16A14A89}"/>
                </a:ext>
              </a:extLst>
            </p:cNvPr>
            <p:cNvSpPr/>
            <p:nvPr/>
          </p:nvSpPr>
          <p:spPr bwMode="auto">
            <a:xfrm>
              <a:off x="7062295" y="883734"/>
              <a:ext cx="2533650" cy="2357437"/>
            </a:xfrm>
            <a:custGeom>
              <a:avLst/>
              <a:gdLst>
                <a:gd name="connsiteX0" fmla="*/ 2533650 w 2533650"/>
                <a:gd name="connsiteY0" fmla="*/ 0 h 2357437"/>
                <a:gd name="connsiteX1" fmla="*/ 2457450 w 2533650"/>
                <a:gd name="connsiteY1" fmla="*/ 219075 h 2357437"/>
                <a:gd name="connsiteX2" fmla="*/ 2343150 w 2533650"/>
                <a:gd name="connsiteY2" fmla="*/ 509587 h 2357437"/>
                <a:gd name="connsiteX3" fmla="*/ 2243138 w 2533650"/>
                <a:gd name="connsiteY3" fmla="*/ 785812 h 2357437"/>
                <a:gd name="connsiteX4" fmla="*/ 2119313 w 2533650"/>
                <a:gd name="connsiteY4" fmla="*/ 1009650 h 2357437"/>
                <a:gd name="connsiteX5" fmla="*/ 2000250 w 2533650"/>
                <a:gd name="connsiteY5" fmla="*/ 1200150 h 2357437"/>
                <a:gd name="connsiteX6" fmla="*/ 1876425 w 2533650"/>
                <a:gd name="connsiteY6" fmla="*/ 1376362 h 2357437"/>
                <a:gd name="connsiteX7" fmla="*/ 1766888 w 2533650"/>
                <a:gd name="connsiteY7" fmla="*/ 1485900 h 2357437"/>
                <a:gd name="connsiteX8" fmla="*/ 1666875 w 2533650"/>
                <a:gd name="connsiteY8" fmla="*/ 1571625 h 2357437"/>
                <a:gd name="connsiteX9" fmla="*/ 1576388 w 2533650"/>
                <a:gd name="connsiteY9" fmla="*/ 1619250 h 2357437"/>
                <a:gd name="connsiteX10" fmla="*/ 1466850 w 2533650"/>
                <a:gd name="connsiteY10" fmla="*/ 1652587 h 2357437"/>
                <a:gd name="connsiteX11" fmla="*/ 1319213 w 2533650"/>
                <a:gd name="connsiteY11" fmla="*/ 1671637 h 2357437"/>
                <a:gd name="connsiteX12" fmla="*/ 1123950 w 2533650"/>
                <a:gd name="connsiteY12" fmla="*/ 1676400 h 2357437"/>
                <a:gd name="connsiteX13" fmla="*/ 923925 w 2533650"/>
                <a:gd name="connsiteY13" fmla="*/ 1666875 h 2357437"/>
                <a:gd name="connsiteX14" fmla="*/ 776288 w 2533650"/>
                <a:gd name="connsiteY14" fmla="*/ 1662112 h 2357437"/>
                <a:gd name="connsiteX15" fmla="*/ 647700 w 2533650"/>
                <a:gd name="connsiteY15" fmla="*/ 1671637 h 2357437"/>
                <a:gd name="connsiteX16" fmla="*/ 571500 w 2533650"/>
                <a:gd name="connsiteY16" fmla="*/ 1666875 h 2357437"/>
                <a:gd name="connsiteX17" fmla="*/ 504825 w 2533650"/>
                <a:gd name="connsiteY17" fmla="*/ 1685925 h 2357437"/>
                <a:gd name="connsiteX18" fmla="*/ 433388 w 2533650"/>
                <a:gd name="connsiteY18" fmla="*/ 1714500 h 2357437"/>
                <a:gd name="connsiteX19" fmla="*/ 385763 w 2533650"/>
                <a:gd name="connsiteY19" fmla="*/ 1752600 h 2357437"/>
                <a:gd name="connsiteX20" fmla="*/ 328613 w 2533650"/>
                <a:gd name="connsiteY20" fmla="*/ 1819275 h 2357437"/>
                <a:gd name="connsiteX21" fmla="*/ 309563 w 2533650"/>
                <a:gd name="connsiteY21" fmla="*/ 1909762 h 2357437"/>
                <a:gd name="connsiteX22" fmla="*/ 285750 w 2533650"/>
                <a:gd name="connsiteY22" fmla="*/ 2005012 h 2357437"/>
                <a:gd name="connsiteX23" fmla="*/ 271463 w 2533650"/>
                <a:gd name="connsiteY23" fmla="*/ 2090737 h 2357437"/>
                <a:gd name="connsiteX24" fmla="*/ 261938 w 2533650"/>
                <a:gd name="connsiteY24" fmla="*/ 2171700 h 2357437"/>
                <a:gd name="connsiteX25" fmla="*/ 247650 w 2533650"/>
                <a:gd name="connsiteY25" fmla="*/ 2233612 h 2357437"/>
                <a:gd name="connsiteX26" fmla="*/ 219075 w 2533650"/>
                <a:gd name="connsiteY26" fmla="*/ 2271712 h 2357437"/>
                <a:gd name="connsiteX27" fmla="*/ 176213 w 2533650"/>
                <a:gd name="connsiteY27" fmla="*/ 2309812 h 2357437"/>
                <a:gd name="connsiteX28" fmla="*/ 133350 w 2533650"/>
                <a:gd name="connsiteY28" fmla="*/ 2338387 h 2357437"/>
                <a:gd name="connsiteX29" fmla="*/ 66675 w 2533650"/>
                <a:gd name="connsiteY29" fmla="*/ 2352675 h 2357437"/>
                <a:gd name="connsiteX30" fmla="*/ 0 w 2533650"/>
                <a:gd name="connsiteY30" fmla="*/ 2357437 h 2357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33650" h="2357437">
                  <a:moveTo>
                    <a:pt x="2533650" y="0"/>
                  </a:moveTo>
                  <a:cubicBezTo>
                    <a:pt x="2511425" y="67072"/>
                    <a:pt x="2489200" y="134144"/>
                    <a:pt x="2457450" y="219075"/>
                  </a:cubicBezTo>
                  <a:cubicBezTo>
                    <a:pt x="2425700" y="304006"/>
                    <a:pt x="2378869" y="415131"/>
                    <a:pt x="2343150" y="509587"/>
                  </a:cubicBezTo>
                  <a:cubicBezTo>
                    <a:pt x="2307431" y="604043"/>
                    <a:pt x="2280444" y="702468"/>
                    <a:pt x="2243138" y="785812"/>
                  </a:cubicBezTo>
                  <a:cubicBezTo>
                    <a:pt x="2205832" y="869156"/>
                    <a:pt x="2159794" y="940594"/>
                    <a:pt x="2119313" y="1009650"/>
                  </a:cubicBezTo>
                  <a:cubicBezTo>
                    <a:pt x="2078832" y="1078706"/>
                    <a:pt x="2040731" y="1139031"/>
                    <a:pt x="2000250" y="1200150"/>
                  </a:cubicBezTo>
                  <a:cubicBezTo>
                    <a:pt x="1959769" y="1261269"/>
                    <a:pt x="1915319" y="1328737"/>
                    <a:pt x="1876425" y="1376362"/>
                  </a:cubicBezTo>
                  <a:cubicBezTo>
                    <a:pt x="1837531" y="1423987"/>
                    <a:pt x="1801813" y="1453356"/>
                    <a:pt x="1766888" y="1485900"/>
                  </a:cubicBezTo>
                  <a:cubicBezTo>
                    <a:pt x="1731963" y="1518444"/>
                    <a:pt x="1698625" y="1549400"/>
                    <a:pt x="1666875" y="1571625"/>
                  </a:cubicBezTo>
                  <a:cubicBezTo>
                    <a:pt x="1635125" y="1593850"/>
                    <a:pt x="1609725" y="1605756"/>
                    <a:pt x="1576388" y="1619250"/>
                  </a:cubicBezTo>
                  <a:cubicBezTo>
                    <a:pt x="1543051" y="1632744"/>
                    <a:pt x="1509712" y="1643856"/>
                    <a:pt x="1466850" y="1652587"/>
                  </a:cubicBezTo>
                  <a:cubicBezTo>
                    <a:pt x="1423988" y="1661318"/>
                    <a:pt x="1376363" y="1667668"/>
                    <a:pt x="1319213" y="1671637"/>
                  </a:cubicBezTo>
                  <a:cubicBezTo>
                    <a:pt x="1262063" y="1675606"/>
                    <a:pt x="1189831" y="1677194"/>
                    <a:pt x="1123950" y="1676400"/>
                  </a:cubicBezTo>
                  <a:cubicBezTo>
                    <a:pt x="1058069" y="1675606"/>
                    <a:pt x="923925" y="1666875"/>
                    <a:pt x="923925" y="1666875"/>
                  </a:cubicBezTo>
                  <a:cubicBezTo>
                    <a:pt x="865981" y="1664494"/>
                    <a:pt x="822325" y="1661318"/>
                    <a:pt x="776288" y="1662112"/>
                  </a:cubicBezTo>
                  <a:cubicBezTo>
                    <a:pt x="730251" y="1662906"/>
                    <a:pt x="681831" y="1670843"/>
                    <a:pt x="647700" y="1671637"/>
                  </a:cubicBezTo>
                  <a:cubicBezTo>
                    <a:pt x="613569" y="1672431"/>
                    <a:pt x="595313" y="1664494"/>
                    <a:pt x="571500" y="1666875"/>
                  </a:cubicBezTo>
                  <a:cubicBezTo>
                    <a:pt x="547687" y="1669256"/>
                    <a:pt x="527844" y="1677988"/>
                    <a:pt x="504825" y="1685925"/>
                  </a:cubicBezTo>
                  <a:cubicBezTo>
                    <a:pt x="481806" y="1693862"/>
                    <a:pt x="433388" y="1714500"/>
                    <a:pt x="433388" y="1714500"/>
                  </a:cubicBezTo>
                  <a:cubicBezTo>
                    <a:pt x="413544" y="1725612"/>
                    <a:pt x="403225" y="1735138"/>
                    <a:pt x="385763" y="1752600"/>
                  </a:cubicBezTo>
                  <a:cubicBezTo>
                    <a:pt x="368301" y="1770062"/>
                    <a:pt x="341313" y="1793081"/>
                    <a:pt x="328613" y="1819275"/>
                  </a:cubicBezTo>
                  <a:cubicBezTo>
                    <a:pt x="315913" y="1845469"/>
                    <a:pt x="316707" y="1878806"/>
                    <a:pt x="309563" y="1909762"/>
                  </a:cubicBezTo>
                  <a:cubicBezTo>
                    <a:pt x="302419" y="1940718"/>
                    <a:pt x="292100" y="1974850"/>
                    <a:pt x="285750" y="2005012"/>
                  </a:cubicBezTo>
                  <a:cubicBezTo>
                    <a:pt x="279400" y="2035174"/>
                    <a:pt x="275432" y="2062956"/>
                    <a:pt x="271463" y="2090737"/>
                  </a:cubicBezTo>
                  <a:cubicBezTo>
                    <a:pt x="267494" y="2118518"/>
                    <a:pt x="265907" y="2147888"/>
                    <a:pt x="261938" y="2171700"/>
                  </a:cubicBezTo>
                  <a:cubicBezTo>
                    <a:pt x="257969" y="2195513"/>
                    <a:pt x="247650" y="2233612"/>
                    <a:pt x="247650" y="2233612"/>
                  </a:cubicBezTo>
                  <a:cubicBezTo>
                    <a:pt x="240506" y="2250281"/>
                    <a:pt x="219075" y="2271712"/>
                    <a:pt x="219075" y="2271712"/>
                  </a:cubicBezTo>
                  <a:cubicBezTo>
                    <a:pt x="207169" y="2284412"/>
                    <a:pt x="176213" y="2309812"/>
                    <a:pt x="176213" y="2309812"/>
                  </a:cubicBezTo>
                  <a:cubicBezTo>
                    <a:pt x="161925" y="2320925"/>
                    <a:pt x="151606" y="2331243"/>
                    <a:pt x="133350" y="2338387"/>
                  </a:cubicBezTo>
                  <a:cubicBezTo>
                    <a:pt x="115094" y="2345531"/>
                    <a:pt x="88900" y="2349500"/>
                    <a:pt x="66675" y="2352675"/>
                  </a:cubicBezTo>
                  <a:cubicBezTo>
                    <a:pt x="44450" y="2355850"/>
                    <a:pt x="22225" y="2356643"/>
                    <a:pt x="0" y="2357437"/>
                  </a:cubicBezTo>
                </a:path>
              </a:pathLst>
            </a:custGeom>
            <a:noFill/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118800" rIns="91440" bIns="118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7" name="Text Box 50"/>
            <p:cNvSpPr txBox="1">
              <a:spLocks noChangeArrowheads="1"/>
            </p:cNvSpPr>
            <p:nvPr/>
          </p:nvSpPr>
          <p:spPr bwMode="auto">
            <a:xfrm>
              <a:off x="7632326" y="1984988"/>
              <a:ext cx="808532" cy="43683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tipo 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19851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0" grpId="0" animBg="1"/>
      <p:bldP spid="2" grpId="0"/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118800" rIns="91440" bIns="11880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118800" rIns="91440" bIns="11880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21063</TotalTime>
  <Words>3932</Words>
  <Application>Microsoft Office PowerPoint</Application>
  <PresentationFormat>Personalizado</PresentationFormat>
  <Paragraphs>758</Paragraphs>
  <Slides>36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2" baseType="lpstr">
      <vt:lpstr>Arial</vt:lpstr>
      <vt:lpstr>Comic Sans MS</vt:lpstr>
      <vt:lpstr>Symbol</vt:lpstr>
      <vt:lpstr>Times New Roman</vt:lpstr>
      <vt:lpstr>Trebuchet MS</vt:lpstr>
      <vt:lpstr>FNT_2012_TEMA1_1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KIKE</cp:lastModifiedBy>
  <cp:revision>2956</cp:revision>
  <dcterms:created xsi:type="dcterms:W3CDTF">2012-02-20T13:06:36Z</dcterms:created>
  <dcterms:modified xsi:type="dcterms:W3CDTF">2024-12-17T19:46:47Z</dcterms:modified>
</cp:coreProperties>
</file>