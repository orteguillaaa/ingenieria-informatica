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9"/>
  </p:notesMasterIdLst>
  <p:handoutMasterIdLst>
    <p:handoutMasterId r:id="rId30"/>
  </p:handoutMasterIdLst>
  <p:sldIdLst>
    <p:sldId id="399" r:id="rId2"/>
    <p:sldId id="381" r:id="rId3"/>
    <p:sldId id="382" r:id="rId4"/>
    <p:sldId id="383" r:id="rId5"/>
    <p:sldId id="427" r:id="rId6"/>
    <p:sldId id="385" r:id="rId7"/>
    <p:sldId id="386" r:id="rId8"/>
    <p:sldId id="404" r:id="rId9"/>
    <p:sldId id="411" r:id="rId10"/>
    <p:sldId id="388" r:id="rId11"/>
    <p:sldId id="436" r:id="rId12"/>
    <p:sldId id="413" r:id="rId13"/>
    <p:sldId id="434" r:id="rId14"/>
    <p:sldId id="435" r:id="rId15"/>
    <p:sldId id="414" r:id="rId16"/>
    <p:sldId id="432" r:id="rId17"/>
    <p:sldId id="419" r:id="rId18"/>
    <p:sldId id="422" r:id="rId19"/>
    <p:sldId id="429" r:id="rId20"/>
    <p:sldId id="423" r:id="rId21"/>
    <p:sldId id="431" r:id="rId22"/>
    <p:sldId id="433" r:id="rId23"/>
    <p:sldId id="392" r:id="rId24"/>
    <p:sldId id="393" r:id="rId25"/>
    <p:sldId id="424" r:id="rId26"/>
    <p:sldId id="425" r:id="rId27"/>
    <p:sldId id="327" r:id="rId28"/>
  </p:sldIdLst>
  <p:sldSz cx="10801350" cy="7200900"/>
  <p:notesSz cx="6797675" cy="987266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  <a:srgbClr val="FF99FF"/>
    <a:srgbClr val="008000"/>
    <a:srgbClr val="C0C0C0"/>
    <a:srgbClr val="EDE7E3"/>
    <a:srgbClr val="FFCCCC"/>
    <a:srgbClr val="FFFF99"/>
    <a:srgbClr val="666699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21" autoAdjust="0"/>
    <p:restoredTop sz="95084" autoAdjust="0"/>
  </p:normalViewPr>
  <p:slideViewPr>
    <p:cSldViewPr snapToGrid="0" showGuides="1">
      <p:cViewPr varScale="1">
        <p:scale>
          <a:sx n="103" d="100"/>
          <a:sy n="103" d="100"/>
        </p:scale>
        <p:origin x="1230" y="108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184" cy="494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6" tIns="45562" rIns="91126" bIns="45562" numCol="1" anchor="t" anchorCtr="0" compatLnSpc="1">
            <a:prstTxWarp prst="textNoShape">
              <a:avLst/>
            </a:prstTxWarp>
          </a:bodyPr>
          <a:lstStyle>
            <a:lvl1pPr defTabSz="911133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907" y="1"/>
            <a:ext cx="2945184" cy="494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6" tIns="45562" rIns="91126" bIns="45562" numCol="1" anchor="t" anchorCtr="0" compatLnSpc="1">
            <a:prstTxWarp prst="textNoShape">
              <a:avLst/>
            </a:prstTxWarp>
          </a:bodyPr>
          <a:lstStyle>
            <a:lvl1pPr algn="r" defTabSz="911133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6114"/>
            <a:ext cx="2945184" cy="494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6" tIns="45562" rIns="91126" bIns="45562" numCol="1" anchor="b" anchorCtr="0" compatLnSpc="1">
            <a:prstTxWarp prst="textNoShape">
              <a:avLst/>
            </a:prstTxWarp>
          </a:bodyPr>
          <a:lstStyle>
            <a:lvl1pPr defTabSz="911133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907" y="9376114"/>
            <a:ext cx="2945184" cy="494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6" tIns="45562" rIns="91126" bIns="45562" numCol="1" anchor="b" anchorCtr="0" compatLnSpc="1">
            <a:prstTxWarp prst="textNoShape">
              <a:avLst/>
            </a:prstTxWarp>
          </a:bodyPr>
          <a:lstStyle>
            <a:lvl1pPr algn="r" defTabSz="911133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123DD5B-200D-42E4-B823-5B664806A8D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9601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184" cy="494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6" tIns="45562" rIns="91126" bIns="45562" numCol="1" anchor="t" anchorCtr="0" compatLnSpc="1">
            <a:prstTxWarp prst="textNoShape">
              <a:avLst/>
            </a:prstTxWarp>
          </a:bodyPr>
          <a:lstStyle>
            <a:lvl1pPr defTabSz="911133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907" y="1"/>
            <a:ext cx="2945184" cy="494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6" tIns="45562" rIns="91126" bIns="45562" numCol="1" anchor="t" anchorCtr="0" compatLnSpc="1">
            <a:prstTxWarp prst="textNoShape">
              <a:avLst/>
            </a:prstTxWarp>
          </a:bodyPr>
          <a:lstStyle>
            <a:lvl1pPr algn="r" defTabSz="911133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20713" y="741363"/>
            <a:ext cx="5554662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293" y="4691209"/>
            <a:ext cx="5439089" cy="4440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6" tIns="45562" rIns="91126" bIns="455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6114"/>
            <a:ext cx="2945184" cy="494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6" tIns="45562" rIns="91126" bIns="45562" numCol="1" anchor="b" anchorCtr="0" compatLnSpc="1">
            <a:prstTxWarp prst="textNoShape">
              <a:avLst/>
            </a:prstTxWarp>
          </a:bodyPr>
          <a:lstStyle>
            <a:lvl1pPr defTabSz="911133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907" y="9376114"/>
            <a:ext cx="2945184" cy="494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6" tIns="45562" rIns="91126" bIns="45562" numCol="1" anchor="b" anchorCtr="0" compatLnSpc="1">
            <a:prstTxWarp prst="textNoShape">
              <a:avLst/>
            </a:prstTxWarp>
          </a:bodyPr>
          <a:lstStyle>
            <a:lvl1pPr algn="r" defTabSz="911133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DCBBE89-FA1E-4043-AA68-FF7046AFD0E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025923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61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1DFEAD-1EE8-4F82-8903-D7991D1454B1}" type="slidenum">
              <a:rPr lang="es-ES" smtClean="0"/>
              <a:pPr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09554" eaLnBrk="1" hangingPunct="1">
              <a:defRPr/>
            </a:pPr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230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E4BD6CF-3A5D-4BA9-BB1A-AE0340E0FBC6}" type="slidenum">
              <a:rPr lang="es-ES" smtClean="0"/>
              <a:pPr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945" tIns="45474" rIns="90945" bIns="45474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63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2E2D2E3-55ED-4922-BCA0-0D9296906135}" type="slidenum">
              <a:rPr lang="es-ES" smtClean="0"/>
              <a:pPr>
                <a:spcBef>
                  <a:spcPct val="0"/>
                </a:spcBef>
              </a:pPr>
              <a:t>3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09554" eaLnBrk="1" hangingPunct="1">
              <a:defRPr/>
            </a:pPr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594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97681BB-0CCB-40C6-AF85-85C4A3CD25EC}" type="slidenum">
              <a:rPr lang="es-ES" smtClean="0"/>
              <a:pPr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32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738F724-79E4-4105-9215-609D961F9968}" type="slidenum">
              <a:rPr lang="es-ES" smtClean="0"/>
              <a:pPr>
                <a:spcBef>
                  <a:spcPct val="0"/>
                </a:spcBef>
              </a:pPr>
              <a:t>5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070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 txBox="1">
            <a:spLocks noGrp="1" noChangeArrowheads="1"/>
          </p:cNvSpPr>
          <p:nvPr/>
        </p:nvSpPr>
        <p:spPr bwMode="auto">
          <a:xfrm>
            <a:off x="0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 txBox="1">
            <a:spLocks noGrp="1" noChangeArrowheads="1"/>
          </p:cNvSpPr>
          <p:nvPr/>
        </p:nvSpPr>
        <p:spPr bwMode="auto">
          <a:xfrm>
            <a:off x="3850907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750D197-6996-49A2-9444-EFDC55CB1F5C}" type="slidenum">
              <a:rPr lang="es-ES"/>
              <a:pPr algn="r" eaLnBrk="1" hangingPunct="1">
                <a:spcBef>
                  <a:spcPct val="0"/>
                </a:spcBef>
              </a:pPr>
              <a:t>6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863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65D7DF-E3AE-4C73-82F4-E0B32E93A8B0}" type="slidenum">
              <a:rPr lang="es-ES" smtClean="0"/>
              <a:pPr>
                <a:spcBef>
                  <a:spcPct val="0"/>
                </a:spcBef>
              </a:pPr>
              <a:t>7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162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84CCF3B-CC96-4F63-998F-CFD10799586A}" type="slidenum">
              <a:rPr lang="es-ES" smtClean="0"/>
              <a:pPr>
                <a:spcBef>
                  <a:spcPct val="0"/>
                </a:spcBef>
              </a:pPr>
              <a:t>8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468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84CCF3B-CC96-4F63-998F-CFD10799586A}" type="slidenum">
              <a:rPr lang="es-ES" smtClean="0"/>
              <a:pPr>
                <a:spcBef>
                  <a:spcPct val="0"/>
                </a:spcBef>
              </a:pPr>
              <a:t>9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58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800B0A5-B083-4688-8687-800FBDA52D7F}" type="slidenum">
              <a:rPr lang="es-ES" smtClean="0"/>
              <a:pPr>
                <a:spcBef>
                  <a:spcPct val="0"/>
                </a:spcBef>
              </a:pPr>
              <a:t>10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690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800B0A5-B083-4688-8687-800FBDA52D7F}" type="slidenum">
              <a:rPr lang="es-ES" smtClean="0"/>
              <a:pPr>
                <a:spcBef>
                  <a:spcPct val="0"/>
                </a:spcBef>
              </a:pPr>
              <a:t>11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879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50907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1691A8-9D80-450F-AF6F-FAFBF8207162}" type="slidenum">
              <a:rPr lang="es-ES"/>
              <a:pPr algn="r" eaLnBrk="1" hangingPunct="1">
                <a:spcBef>
                  <a:spcPct val="0"/>
                </a:spcBef>
              </a:pPr>
              <a:t>12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292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EC7E0F9-9FF5-490E-A3A7-2B6737CD07F1}" type="slidenum">
              <a:rPr lang="es-ES"/>
              <a:pPr algn="r" eaLnBrk="1" hangingPunct="1">
                <a:spcBef>
                  <a:spcPct val="0"/>
                </a:spcBef>
              </a:pPr>
              <a:t>13</a:t>
            </a:fld>
            <a:endParaRPr lang="es-E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478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EC7E0F9-9FF5-490E-A3A7-2B6737CD07F1}" type="slidenum">
              <a:rPr lang="es-ES"/>
              <a:pPr algn="r" eaLnBrk="1" hangingPunct="1"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5643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50907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1691A8-9D80-450F-AF6F-FAFBF8207162}" type="slidenum">
              <a:rPr lang="es-ES"/>
              <a:pPr algn="r" eaLnBrk="1" hangingPunct="1"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6314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50907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1691A8-9D80-450F-AF6F-FAFBF8207162}" type="slidenum">
              <a:rPr lang="es-ES"/>
              <a:pPr algn="r" eaLnBrk="1" hangingPunct="1"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264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50907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1691A8-9D80-450F-AF6F-FAFBF8207162}" type="slidenum">
              <a:rPr lang="es-ES"/>
              <a:pPr algn="r" eaLnBrk="1" hangingPunct="1"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1168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50907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1691A8-9D80-450F-AF6F-FAFBF8207162}" type="slidenum">
              <a:rPr lang="es-ES"/>
              <a:pPr algn="r" eaLnBrk="1" hangingPunct="1"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0098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50907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1691A8-9D80-450F-AF6F-FAFBF8207162}" type="slidenum">
              <a:rPr lang="es-ES"/>
              <a:pPr algn="r" eaLnBrk="1" hangingPunct="1"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6430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50907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1691A8-9D80-450F-AF6F-FAFBF8207162}" type="slidenum">
              <a:rPr lang="es-ES"/>
              <a:pPr algn="r" eaLnBrk="1" hangingPunct="1"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0962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50907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1691A8-9D80-450F-AF6F-FAFBF8207162}" type="slidenum">
              <a:rPr lang="es-ES"/>
              <a:pPr algn="r" eaLnBrk="1" hangingPunct="1">
                <a:spcBef>
                  <a:spcPct val="0"/>
                </a:spcBef>
              </a:pPr>
              <a:t>21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8224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 txBox="1">
            <a:spLocks noGrp="1" noChangeArrowheads="1"/>
          </p:cNvSpPr>
          <p:nvPr/>
        </p:nvSpPr>
        <p:spPr bwMode="auto">
          <a:xfrm>
            <a:off x="0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 txBox="1">
            <a:spLocks noGrp="1" noChangeArrowheads="1"/>
          </p:cNvSpPr>
          <p:nvPr/>
        </p:nvSpPr>
        <p:spPr bwMode="auto">
          <a:xfrm>
            <a:off x="3850907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6024F90-F7AB-439B-87D9-0751AD8BDAE4}" type="slidenum">
              <a:rPr lang="es-ES"/>
              <a:pPr algn="r" eaLnBrk="1" hangingPunct="1">
                <a:spcBef>
                  <a:spcPct val="0"/>
                </a:spcBef>
              </a:pPr>
              <a:t>22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3074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3" name="Rectangle 6"/>
          <p:cNvSpPr txBox="1">
            <a:spLocks noGrp="1" noChangeArrowheads="1"/>
          </p:cNvSpPr>
          <p:nvPr/>
        </p:nvSpPr>
        <p:spPr bwMode="auto">
          <a:xfrm>
            <a:off x="0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4" name="Rectangle 7"/>
          <p:cNvSpPr txBox="1">
            <a:spLocks noGrp="1" noChangeArrowheads="1"/>
          </p:cNvSpPr>
          <p:nvPr/>
        </p:nvSpPr>
        <p:spPr bwMode="auto">
          <a:xfrm>
            <a:off x="3850907" y="9376114"/>
            <a:ext cx="2945184" cy="494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26" tIns="45562" rIns="91126" bIns="45562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E547830-F174-4A09-B5D4-2AF154D4F578}" type="slidenum">
              <a:rPr lang="es-ES"/>
              <a:pPr algn="r" eaLnBrk="1" hangingPunct="1">
                <a:spcBef>
                  <a:spcPct val="0"/>
                </a:spcBef>
              </a:pPr>
              <a:t>23</a:t>
            </a:fld>
            <a:endParaRPr lang="es-ES"/>
          </a:p>
        </p:txBody>
      </p:sp>
      <p:sp>
        <p:nvSpPr>
          <p:cNvPr id="307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2949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C81FB5-08B2-4974-BAF4-2F084945AB3F}" type="slidenum">
              <a:rPr lang="es-ES" smtClean="0"/>
              <a:pPr>
                <a:spcBef>
                  <a:spcPct val="0"/>
                </a:spcBef>
              </a:pPr>
              <a:t>24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9935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C81FB5-08B2-4974-BAF4-2F084945AB3F}" type="slidenum">
              <a:rPr lang="es-ES" smtClean="0"/>
              <a:pPr>
                <a:spcBef>
                  <a:spcPct val="0"/>
                </a:spcBef>
              </a:pPr>
              <a:t>25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09554" eaLnBrk="1" hangingPunct="1">
              <a:defRPr/>
            </a:pPr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7447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9012" indent="-284236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942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1719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496" indent="-227388" defTabSz="91113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127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6049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0826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65603" indent="-227388" defTabSz="91113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C81FB5-08B2-4974-BAF4-2F084945AB3F}" type="slidenum">
              <a:rPr lang="es-ES" smtClean="0"/>
              <a:pPr>
                <a:spcBef>
                  <a:spcPct val="0"/>
                </a:spcBef>
              </a:pPr>
              <a:t>26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09554" eaLnBrk="1" hangingPunct="1">
              <a:defRPr/>
            </a:pPr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93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1D9B4B-8EBA-4D80-8BD4-E853FF0BB48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394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9DA40F-2EDB-46AC-AE9B-E0794FFD115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2752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18E567-65F3-4491-AB11-9BD16AE98B5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906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A7480-4714-4AA2-BEDE-F9951DBDA62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686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C0A594-1A9C-4E8D-B87C-A1DCFB764E5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4071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E56F87-9E5C-442B-A172-3EDEEB02EF1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5319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B6B88-B674-477D-9167-EAADC1DE36C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0843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D723F-9253-4074-9FAE-96B662725D6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5917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DC6D0-CC3D-4C7E-B11D-63DF2C818A0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5853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ABD00A-507D-4644-80F7-3E2E65D1213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1994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5CC57-0CA6-4B98-B619-87452379982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5104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ADEDB6-DCA1-4ACA-B780-83880CD7F55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7671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3AA4FBA-17AF-4A2B-9284-8E6545A5327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  <p:sldLayoutId id="2147483959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030"/>
          <p:cNvSpPr txBox="1">
            <a:spLocks noChangeArrowheads="1"/>
          </p:cNvSpPr>
          <p:nvPr/>
        </p:nvSpPr>
        <p:spPr bwMode="auto">
          <a:xfrm>
            <a:off x="1624013" y="3221038"/>
            <a:ext cx="8239125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CARGA ELÉCTRICA Y MATERIA. CAMPO ELÉCTRICO</a:t>
            </a:r>
          </a:p>
        </p:txBody>
      </p:sp>
      <p:sp>
        <p:nvSpPr>
          <p:cNvPr id="5123" name="Text Box 1031"/>
          <p:cNvSpPr txBox="1">
            <a:spLocks noChangeArrowheads="1"/>
          </p:cNvSpPr>
          <p:nvPr/>
        </p:nvSpPr>
        <p:spPr bwMode="auto">
          <a:xfrm>
            <a:off x="5278438" y="4105275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(1/5)</a:t>
            </a:r>
          </a:p>
        </p:txBody>
      </p:sp>
      <p:sp>
        <p:nvSpPr>
          <p:cNvPr id="5124" name="Text Box 1032"/>
          <p:cNvSpPr txBox="1">
            <a:spLocks noChangeArrowheads="1"/>
          </p:cNvSpPr>
          <p:nvPr/>
        </p:nvSpPr>
        <p:spPr bwMode="auto">
          <a:xfrm>
            <a:off x="5065713" y="234315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1</a:t>
            </a:r>
          </a:p>
        </p:txBody>
      </p:sp>
      <p:grpSp>
        <p:nvGrpSpPr>
          <p:cNvPr id="5125" name="Group 23"/>
          <p:cNvGrpSpPr>
            <a:grpSpLocks/>
          </p:cNvGrpSpPr>
          <p:nvPr/>
        </p:nvGrpSpPr>
        <p:grpSpPr bwMode="auto">
          <a:xfrm>
            <a:off x="7772400" y="398463"/>
            <a:ext cx="2571750" cy="2473325"/>
            <a:chOff x="4896" y="276"/>
            <a:chExt cx="1620" cy="1558"/>
          </a:xfrm>
        </p:grpSpPr>
        <p:sp>
          <p:nvSpPr>
            <p:cNvPr id="5131" name="AutoShape 1067"/>
            <p:cNvSpPr>
              <a:spLocks noChangeArrowheads="1"/>
            </p:cNvSpPr>
            <p:nvPr/>
          </p:nvSpPr>
          <p:spPr bwMode="auto">
            <a:xfrm>
              <a:off x="4896" y="276"/>
              <a:ext cx="1620" cy="1558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32" name="Text Box 1068"/>
            <p:cNvSpPr txBox="1">
              <a:spLocks noChangeArrowheads="1"/>
            </p:cNvSpPr>
            <p:nvPr/>
          </p:nvSpPr>
          <p:spPr bwMode="auto">
            <a:xfrm>
              <a:off x="5037" y="450"/>
              <a:ext cx="1336" cy="52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GRUPOS DE PRÁCTICAS</a:t>
              </a:r>
            </a:p>
          </p:txBody>
        </p:sp>
        <p:sp>
          <p:nvSpPr>
            <p:cNvPr id="5133" name="Text Box 1069"/>
            <p:cNvSpPr txBox="1">
              <a:spLocks noChangeArrowheads="1"/>
            </p:cNvSpPr>
            <p:nvPr/>
          </p:nvSpPr>
          <p:spPr bwMode="auto">
            <a:xfrm>
              <a:off x="5037" y="1036"/>
              <a:ext cx="1336" cy="46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HAY QUE APUNTARSE</a:t>
              </a:r>
              <a:endParaRPr lang="es-ES" sz="2400" b="1" dirty="0">
                <a:solidFill>
                  <a:srgbClr val="FFFFFF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5134" name="Text Box 1062"/>
            <p:cNvSpPr txBox="1">
              <a:spLocks noChangeArrowheads="1"/>
            </p:cNvSpPr>
            <p:nvPr/>
          </p:nvSpPr>
          <p:spPr bwMode="auto">
            <a:xfrm>
              <a:off x="5266" y="1498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En Moodle</a:t>
              </a: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62861880-AE17-4EDB-9BC3-8D1626AC5A00}"/>
              </a:ext>
            </a:extLst>
          </p:cNvPr>
          <p:cNvGrpSpPr/>
          <p:nvPr/>
        </p:nvGrpSpPr>
        <p:grpSpPr>
          <a:xfrm>
            <a:off x="7772400" y="4098926"/>
            <a:ext cx="2574925" cy="2703513"/>
            <a:chOff x="7772400" y="4098926"/>
            <a:chExt cx="2574925" cy="2703513"/>
          </a:xfrm>
        </p:grpSpPr>
        <p:grpSp>
          <p:nvGrpSpPr>
            <p:cNvPr id="5141" name="Group 21"/>
            <p:cNvGrpSpPr>
              <a:grpSpLocks/>
            </p:cNvGrpSpPr>
            <p:nvPr/>
          </p:nvGrpSpPr>
          <p:grpSpPr bwMode="auto">
            <a:xfrm>
              <a:off x="7772400" y="4098926"/>
              <a:ext cx="2574925" cy="2703513"/>
              <a:chOff x="4896" y="2582"/>
              <a:chExt cx="1622" cy="1703"/>
            </a:xfrm>
          </p:grpSpPr>
          <p:sp>
            <p:nvSpPr>
              <p:cNvPr id="5127" name="AutoShape 1056"/>
              <p:cNvSpPr>
                <a:spLocks noChangeArrowheads="1"/>
              </p:cNvSpPr>
              <p:nvPr/>
            </p:nvSpPr>
            <p:spPr bwMode="auto">
              <a:xfrm>
                <a:off x="4896" y="2582"/>
                <a:ext cx="1622" cy="1703"/>
              </a:xfrm>
              <a:prstGeom prst="foldedCorner">
                <a:avLst>
                  <a:gd name="adj" fmla="val 12500"/>
                </a:avLst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5128" name="Text Box 1057"/>
              <p:cNvSpPr txBox="1">
                <a:spLocks noChangeArrowheads="1"/>
              </p:cNvSpPr>
              <p:nvPr/>
            </p:nvSpPr>
            <p:spPr bwMode="auto">
              <a:xfrm>
                <a:off x="5044" y="2722"/>
                <a:ext cx="1330" cy="523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 dirty="0">
                    <a:latin typeface="Trebuchet MS" panose="020B0603020202020204" pitchFamily="34" charset="0"/>
                  </a:rPr>
                  <a:t>BOLETÍN DE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 dirty="0">
                    <a:latin typeface="Trebuchet MS" panose="020B0603020202020204" pitchFamily="34" charset="0"/>
                  </a:rPr>
                  <a:t>PROBLEMAS</a:t>
                </a:r>
              </a:p>
            </p:txBody>
          </p:sp>
          <p:sp>
            <p:nvSpPr>
              <p:cNvPr id="5129" name="Text Box 1058"/>
              <p:cNvSpPr txBox="1">
                <a:spLocks noChangeArrowheads="1"/>
              </p:cNvSpPr>
              <p:nvPr/>
            </p:nvSpPr>
            <p:spPr bwMode="auto">
              <a:xfrm>
                <a:off x="5505" y="3212"/>
                <a:ext cx="399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4800" dirty="0">
                    <a:solidFill>
                      <a:srgbClr val="3333FF"/>
                    </a:solidFill>
                    <a:latin typeface="Trebuchet MS" panose="020B0603020202020204" pitchFamily="34" charset="0"/>
                    <a:sym typeface="Wingdings" panose="05000000000000000000" pitchFamily="2" charset="2"/>
                  </a:rPr>
                  <a:t></a:t>
                </a:r>
              </a:p>
            </p:txBody>
          </p:sp>
          <p:sp>
            <p:nvSpPr>
              <p:cNvPr id="5130" name="Text Box 1062"/>
              <p:cNvSpPr txBox="1">
                <a:spLocks noChangeArrowheads="1"/>
              </p:cNvSpPr>
              <p:nvPr/>
            </p:nvSpPr>
            <p:spPr bwMode="auto">
              <a:xfrm>
                <a:off x="5267" y="3897"/>
                <a:ext cx="87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FF0000"/>
                    </a:solidFill>
                    <a:latin typeface="Trebuchet MS" panose="020B0603020202020204" pitchFamily="34" charset="0"/>
                  </a:rPr>
                  <a:t>En Moodle</a:t>
                </a:r>
              </a:p>
            </p:txBody>
          </p:sp>
        </p:grpSp>
        <p:sp>
          <p:nvSpPr>
            <p:cNvPr id="15" name="Text Box 1062">
              <a:extLst>
                <a:ext uri="{FF2B5EF4-FFF2-40B4-BE49-F238E27FC236}">
                  <a16:creationId xmlns:a16="http://schemas.microsoft.com/office/drawing/2014/main" id="{61E9281C-3820-4AD4-A447-0D908D2C9F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2648" y="5770811"/>
              <a:ext cx="1786492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Trebuchet MS" panose="020B0603020202020204" pitchFamily="34" charset="0"/>
                </a:rPr>
                <a:t>Temas 1 y 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>
            <a:extLst>
              <a:ext uri="{FF2B5EF4-FFF2-40B4-BE49-F238E27FC236}">
                <a16:creationId xmlns:a16="http://schemas.microsoft.com/office/drawing/2014/main" id="{58513284-8DD8-E656-06DE-E61C485E9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4696" y="2439737"/>
            <a:ext cx="4564747" cy="35094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15"/>
          <p:cNvSpPr>
            <a:spLocks noChangeArrowheads="1"/>
          </p:cNvSpPr>
          <p:nvPr/>
        </p:nvSpPr>
        <p:spPr bwMode="auto">
          <a:xfrm>
            <a:off x="2540542" y="1985964"/>
            <a:ext cx="2514934" cy="431799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825625" y="6042025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2"/>
          <p:cNvSpPr>
            <a:spLocks noChangeArrowheads="1"/>
          </p:cNvSpPr>
          <p:nvPr/>
        </p:nvSpPr>
        <p:spPr bwMode="auto">
          <a:xfrm>
            <a:off x="1825625" y="3479800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3" name="Rectangle 3"/>
          <p:cNvSpPr>
            <a:spLocks noChangeArrowheads="1"/>
          </p:cNvSpPr>
          <p:nvPr/>
        </p:nvSpPr>
        <p:spPr bwMode="auto">
          <a:xfrm>
            <a:off x="1825625" y="4581525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1825625" y="2000250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Rectangle 5"/>
          <p:cNvSpPr>
            <a:spLocks noChangeArrowheads="1"/>
          </p:cNvSpPr>
          <p:nvPr/>
        </p:nvSpPr>
        <p:spPr bwMode="auto">
          <a:xfrm>
            <a:off x="1443038" y="566738"/>
            <a:ext cx="744696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1: CARGA ELÉCTRICA Y MATERIA.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               CAMPO ELÉCTRICO</a:t>
            </a:r>
          </a:p>
        </p:txBody>
      </p:sp>
      <p:sp>
        <p:nvSpPr>
          <p:cNvPr id="7176" name="Rectangle 6"/>
          <p:cNvSpPr>
            <a:spLocks noChangeArrowheads="1"/>
          </p:cNvSpPr>
          <p:nvPr/>
        </p:nvSpPr>
        <p:spPr bwMode="auto">
          <a:xfrm>
            <a:off x="1781175" y="1974850"/>
            <a:ext cx="708025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1.1.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1.2.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1.3.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1.4.</a:t>
            </a:r>
          </a:p>
        </p:txBody>
      </p:sp>
      <p:sp>
        <p:nvSpPr>
          <p:cNvPr id="7177" name="Rectangle 7"/>
          <p:cNvSpPr>
            <a:spLocks noChangeArrowheads="1"/>
          </p:cNvSpPr>
          <p:nvPr/>
        </p:nvSpPr>
        <p:spPr bwMode="auto">
          <a:xfrm>
            <a:off x="2586038" y="1982788"/>
            <a:ext cx="7850187" cy="484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Carga Eléctrica.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Cuantización y Conservación.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Carga Puntual y Distribuciones de Carga.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Ley de Coulomb.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Principio de Superposición.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Campo Eléctrico.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Campos debidos a Distribuciones de Carga.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Campo Eléctrico: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1">
                <a:latin typeface="Arial" panose="020B0604020202020204" pitchFamily="34" charset="0"/>
              </a:rPr>
              <a:t>Líneas de Campo.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Conductores y Aislantes.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Cargas Inducidas.</a:t>
            </a:r>
            <a:endParaRPr lang="es-ES" sz="2000" b="1">
              <a:latin typeface="Arial" panose="020B0604020202020204" pitchFamily="34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8781012" y="313983"/>
            <a:ext cx="157425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19/09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T2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18/09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18/09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99E6434-4961-438D-BCA9-6D4153A28013}"/>
              </a:ext>
            </a:extLst>
          </p:cNvPr>
          <p:cNvGrpSpPr/>
          <p:nvPr/>
        </p:nvGrpSpPr>
        <p:grpSpPr>
          <a:xfrm>
            <a:off x="7378060" y="2308421"/>
            <a:ext cx="3023882" cy="2315811"/>
            <a:chOff x="7378060" y="2439272"/>
            <a:chExt cx="3023882" cy="2315811"/>
          </a:xfrm>
        </p:grpSpPr>
        <p:sp>
          <p:nvSpPr>
            <p:cNvPr id="2" name="Text Box 1062">
              <a:extLst>
                <a:ext uri="{FF2B5EF4-FFF2-40B4-BE49-F238E27FC236}">
                  <a16:creationId xmlns:a16="http://schemas.microsoft.com/office/drawing/2014/main" id="{E5C23070-4A68-4249-B8D9-DE083BFC9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8060" y="3552573"/>
              <a:ext cx="3023882" cy="120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Trebuchet MS" panose="020B0603020202020204" pitchFamily="34" charset="0"/>
                </a:rPr>
                <a:t>Hablaremos de error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Trebuchet MS" panose="020B0603020202020204" pitchFamily="34" charset="0"/>
                </a:rPr>
                <a:t>e incertidumbre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Trebuchet MS" panose="020B0603020202020204" pitchFamily="34" charset="0"/>
                </a:rPr>
                <a:t>(y redondeo)</a:t>
              </a:r>
            </a:p>
          </p:txBody>
        </p:sp>
        <p:sp>
          <p:nvSpPr>
            <p:cNvPr id="3" name="Forma libre: forma 2">
              <a:extLst>
                <a:ext uri="{FF2B5EF4-FFF2-40B4-BE49-F238E27FC236}">
                  <a16:creationId xmlns:a16="http://schemas.microsoft.com/office/drawing/2014/main" id="{3B281F4C-9BE0-41ED-9997-41453BE3A098}"/>
                </a:ext>
              </a:extLst>
            </p:cNvPr>
            <p:cNvSpPr/>
            <p:nvPr/>
          </p:nvSpPr>
          <p:spPr bwMode="auto">
            <a:xfrm rot="20424628">
              <a:off x="8827075" y="2439272"/>
              <a:ext cx="447178" cy="1011287"/>
            </a:xfrm>
            <a:custGeom>
              <a:avLst/>
              <a:gdLst>
                <a:gd name="connsiteX0" fmla="*/ 19878 w 377731"/>
                <a:gd name="connsiteY0" fmla="*/ 0 h 626165"/>
                <a:gd name="connsiteX1" fmla="*/ 377687 w 377731"/>
                <a:gd name="connsiteY1" fmla="*/ 198782 h 626165"/>
                <a:gd name="connsiteX2" fmla="*/ 0 w 377731"/>
                <a:gd name="connsiteY2" fmla="*/ 626165 h 62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7731" h="626165">
                  <a:moveTo>
                    <a:pt x="19878" y="0"/>
                  </a:moveTo>
                  <a:cubicBezTo>
                    <a:pt x="200439" y="47210"/>
                    <a:pt x="381000" y="94421"/>
                    <a:pt x="377687" y="198782"/>
                  </a:cubicBezTo>
                  <a:cubicBezTo>
                    <a:pt x="374374" y="303143"/>
                    <a:pt x="187187" y="464654"/>
                    <a:pt x="0" y="626165"/>
                  </a:cubicBezTo>
                </a:path>
              </a:pathLst>
            </a:custGeom>
            <a:noFill/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17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3" name="Rectangle 18"/>
          <p:cNvSpPr>
            <a:spLocks noChangeArrowheads="1"/>
          </p:cNvSpPr>
          <p:nvPr/>
        </p:nvSpPr>
        <p:spPr bwMode="auto">
          <a:xfrm>
            <a:off x="2201124" y="503238"/>
            <a:ext cx="3044825" cy="3968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332" name="Text Box 188"/>
          <p:cNvSpPr txBox="1">
            <a:spLocks noChangeArrowheads="1"/>
          </p:cNvSpPr>
          <p:nvPr/>
        </p:nvSpPr>
        <p:spPr bwMode="auto">
          <a:xfrm>
            <a:off x="4587769" y="5488258"/>
            <a:ext cx="2352155" cy="120251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Tras frotarlas,  y volver a enfrentarlas, sí</a:t>
            </a:r>
          </a:p>
        </p:txBody>
      </p:sp>
      <p:sp>
        <p:nvSpPr>
          <p:cNvPr id="9220" name="Rectangle 109"/>
          <p:cNvSpPr>
            <a:spLocks noChangeArrowheads="1"/>
          </p:cNvSpPr>
          <p:nvPr/>
        </p:nvSpPr>
        <p:spPr bwMode="auto">
          <a:xfrm>
            <a:off x="1301011" y="481013"/>
            <a:ext cx="678338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/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1.1.1. CARGA ELÉCTRICA</a:t>
            </a:r>
          </a:p>
        </p:txBody>
      </p:sp>
      <p:grpSp>
        <p:nvGrpSpPr>
          <p:cNvPr id="8294" name="Group 102"/>
          <p:cNvGrpSpPr>
            <a:grpSpLocks/>
          </p:cNvGrpSpPr>
          <p:nvPr/>
        </p:nvGrpSpPr>
        <p:grpSpPr bwMode="auto">
          <a:xfrm>
            <a:off x="6321579" y="4172469"/>
            <a:ext cx="3863981" cy="900112"/>
            <a:chOff x="4185" y="3649"/>
            <a:chExt cx="2434" cy="567"/>
          </a:xfrm>
        </p:grpSpPr>
        <p:sp>
          <p:nvSpPr>
            <p:cNvPr id="9297" name="AutoShape 156"/>
            <p:cNvSpPr>
              <a:spLocks noChangeArrowheads="1"/>
            </p:cNvSpPr>
            <p:nvPr/>
          </p:nvSpPr>
          <p:spPr bwMode="auto">
            <a:xfrm>
              <a:off x="4185" y="3649"/>
              <a:ext cx="1360" cy="567"/>
            </a:xfrm>
            <a:prstGeom prst="parallelogram">
              <a:avLst>
                <a:gd name="adj" fmla="val 59965"/>
              </a:avLst>
            </a:prstGeom>
            <a:gradFill rotWithShape="1">
              <a:gsLst>
                <a:gs pos="0">
                  <a:srgbClr val="471800"/>
                </a:gs>
                <a:gs pos="50000">
                  <a:srgbClr val="993300"/>
                </a:gs>
                <a:gs pos="100000">
                  <a:srgbClr val="471800"/>
                </a:gs>
              </a:gsLst>
              <a:lin ang="2700000" scaled="1"/>
            </a:gra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98" name="Text Box 158"/>
            <p:cNvSpPr txBox="1">
              <a:spLocks noChangeArrowheads="1"/>
            </p:cNvSpPr>
            <p:nvPr/>
          </p:nvSpPr>
          <p:spPr bwMode="auto">
            <a:xfrm>
              <a:off x="5745" y="3712"/>
              <a:ext cx="87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Paño de  </a:t>
              </a:r>
              <a:r>
                <a:rPr lang="es-ES" sz="24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PIEL</a:t>
              </a:r>
            </a:p>
          </p:txBody>
        </p:sp>
      </p:grpSp>
      <p:grpSp>
        <p:nvGrpSpPr>
          <p:cNvPr id="8293" name="Group 101"/>
          <p:cNvGrpSpPr>
            <a:grpSpLocks/>
          </p:cNvGrpSpPr>
          <p:nvPr/>
        </p:nvGrpSpPr>
        <p:grpSpPr bwMode="auto">
          <a:xfrm>
            <a:off x="1296984" y="4172475"/>
            <a:ext cx="3692529" cy="900113"/>
            <a:chOff x="817" y="3649"/>
            <a:chExt cx="2326" cy="567"/>
          </a:xfrm>
        </p:grpSpPr>
        <p:sp>
          <p:nvSpPr>
            <p:cNvPr id="9295" name="AutoShape 157"/>
            <p:cNvSpPr>
              <a:spLocks noChangeArrowheads="1"/>
            </p:cNvSpPr>
            <p:nvPr/>
          </p:nvSpPr>
          <p:spPr bwMode="auto">
            <a:xfrm>
              <a:off x="1783" y="3649"/>
              <a:ext cx="1360" cy="567"/>
            </a:xfrm>
            <a:prstGeom prst="parallelogram">
              <a:avLst>
                <a:gd name="adj" fmla="val 59965"/>
              </a:avLst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2700000" scaled="1"/>
            </a:gra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96" name="Text Box 159"/>
            <p:cNvSpPr txBox="1">
              <a:spLocks noChangeArrowheads="1"/>
            </p:cNvSpPr>
            <p:nvPr/>
          </p:nvSpPr>
          <p:spPr bwMode="auto">
            <a:xfrm>
              <a:off x="817" y="3714"/>
              <a:ext cx="100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Paño de </a:t>
              </a:r>
              <a:r>
                <a:rPr lang="es-ES" sz="24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SEDA</a:t>
              </a:r>
            </a:p>
          </p:txBody>
        </p:sp>
      </p:grpSp>
      <p:sp>
        <p:nvSpPr>
          <p:cNvPr id="6337" name="Text Box 193"/>
          <p:cNvSpPr txBox="1">
            <a:spLocks noChangeArrowheads="1"/>
          </p:cNvSpPr>
          <p:nvPr/>
        </p:nvSpPr>
        <p:spPr bwMode="auto">
          <a:xfrm>
            <a:off x="1299677" y="5487637"/>
            <a:ext cx="3058963" cy="12025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No pasa nada entre las barras antes de frotarlas con paños</a:t>
            </a:r>
          </a:p>
        </p:txBody>
      </p:sp>
      <p:grpSp>
        <p:nvGrpSpPr>
          <p:cNvPr id="8297" name="Group 105"/>
          <p:cNvGrpSpPr>
            <a:grpSpLocks/>
          </p:cNvGrpSpPr>
          <p:nvPr/>
        </p:nvGrpSpPr>
        <p:grpSpPr bwMode="auto">
          <a:xfrm>
            <a:off x="1784352" y="2623273"/>
            <a:ext cx="2174867" cy="488951"/>
            <a:chOff x="1124" y="1892"/>
            <a:chExt cx="1370" cy="308"/>
          </a:xfrm>
        </p:grpSpPr>
        <p:sp>
          <p:nvSpPr>
            <p:cNvPr id="9292" name="AutoShape 167"/>
            <p:cNvSpPr>
              <a:spLocks noChangeArrowheads="1"/>
            </p:cNvSpPr>
            <p:nvPr/>
          </p:nvSpPr>
          <p:spPr bwMode="auto">
            <a:xfrm>
              <a:off x="1124" y="1902"/>
              <a:ext cx="233" cy="298"/>
            </a:xfrm>
            <a:prstGeom prst="rightArrow">
              <a:avLst>
                <a:gd name="adj1" fmla="val 55037"/>
                <a:gd name="adj2" fmla="val 50213"/>
              </a:avLst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93" name="AutoShape 168"/>
            <p:cNvSpPr>
              <a:spLocks noChangeArrowheads="1"/>
            </p:cNvSpPr>
            <p:nvPr/>
          </p:nvSpPr>
          <p:spPr bwMode="auto">
            <a:xfrm flipH="1">
              <a:off x="2261" y="1902"/>
              <a:ext cx="233" cy="298"/>
            </a:xfrm>
            <a:prstGeom prst="rightArrow">
              <a:avLst>
                <a:gd name="adj1" fmla="val 55037"/>
                <a:gd name="adj2" fmla="val 50213"/>
              </a:avLst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94" name="Text Box 213"/>
            <p:cNvSpPr txBox="1">
              <a:spLocks noChangeArrowheads="1"/>
            </p:cNvSpPr>
            <p:nvPr/>
          </p:nvSpPr>
          <p:spPr bwMode="auto">
            <a:xfrm>
              <a:off x="1345" y="1892"/>
              <a:ext cx="78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se atraen</a:t>
              </a:r>
            </a:p>
          </p:txBody>
        </p:sp>
      </p:grpSp>
      <p:grpSp>
        <p:nvGrpSpPr>
          <p:cNvPr id="8298" name="Group 106"/>
          <p:cNvGrpSpPr>
            <a:grpSpLocks/>
          </p:cNvGrpSpPr>
          <p:nvPr/>
        </p:nvGrpSpPr>
        <p:grpSpPr bwMode="auto">
          <a:xfrm>
            <a:off x="7431536" y="2624856"/>
            <a:ext cx="2376498" cy="487363"/>
            <a:chOff x="4675" y="1893"/>
            <a:chExt cx="1497" cy="307"/>
          </a:xfrm>
        </p:grpSpPr>
        <p:sp>
          <p:nvSpPr>
            <p:cNvPr id="9289" name="AutoShape 170"/>
            <p:cNvSpPr>
              <a:spLocks noChangeArrowheads="1"/>
            </p:cNvSpPr>
            <p:nvPr/>
          </p:nvSpPr>
          <p:spPr bwMode="auto">
            <a:xfrm flipH="1">
              <a:off x="4675" y="1902"/>
              <a:ext cx="233" cy="298"/>
            </a:xfrm>
            <a:prstGeom prst="rightArrow">
              <a:avLst>
                <a:gd name="adj1" fmla="val 55037"/>
                <a:gd name="adj2" fmla="val 50213"/>
              </a:avLst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90" name="AutoShape 172"/>
            <p:cNvSpPr>
              <a:spLocks noChangeArrowheads="1"/>
            </p:cNvSpPr>
            <p:nvPr/>
          </p:nvSpPr>
          <p:spPr bwMode="auto">
            <a:xfrm>
              <a:off x="5939" y="1902"/>
              <a:ext cx="233" cy="298"/>
            </a:xfrm>
            <a:prstGeom prst="rightArrow">
              <a:avLst>
                <a:gd name="adj1" fmla="val 55037"/>
                <a:gd name="adj2" fmla="val 50213"/>
              </a:avLst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91" name="Text Box 214"/>
            <p:cNvSpPr txBox="1">
              <a:spLocks noChangeArrowheads="1"/>
            </p:cNvSpPr>
            <p:nvPr/>
          </p:nvSpPr>
          <p:spPr bwMode="auto">
            <a:xfrm>
              <a:off x="4934" y="1893"/>
              <a:ext cx="8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se repelen</a:t>
              </a:r>
            </a:p>
          </p:txBody>
        </p:sp>
      </p:grpSp>
      <p:grpSp>
        <p:nvGrpSpPr>
          <p:cNvPr id="8292" name="Group 100"/>
          <p:cNvGrpSpPr>
            <a:grpSpLocks/>
          </p:cNvGrpSpPr>
          <p:nvPr/>
        </p:nvGrpSpPr>
        <p:grpSpPr bwMode="auto">
          <a:xfrm>
            <a:off x="1692275" y="1446931"/>
            <a:ext cx="8110538" cy="1079500"/>
            <a:chOff x="1066" y="1151"/>
            <a:chExt cx="5109" cy="680"/>
          </a:xfrm>
        </p:grpSpPr>
        <p:sp>
          <p:nvSpPr>
            <p:cNvPr id="9277" name="Line 177"/>
            <p:cNvSpPr>
              <a:spLocks noChangeShapeType="1"/>
            </p:cNvSpPr>
            <p:nvPr/>
          </p:nvSpPr>
          <p:spPr bwMode="auto">
            <a:xfrm>
              <a:off x="5835" y="1161"/>
              <a:ext cx="0" cy="4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GB" sz="2400"/>
            </a:p>
          </p:txBody>
        </p:sp>
        <p:sp>
          <p:nvSpPr>
            <p:cNvPr id="9278" name="AutoShape 166"/>
            <p:cNvSpPr>
              <a:spLocks noChangeArrowheads="1"/>
            </p:cNvSpPr>
            <p:nvPr/>
          </p:nvSpPr>
          <p:spPr bwMode="auto">
            <a:xfrm rot="5400000">
              <a:off x="5733" y="1389"/>
              <a:ext cx="204" cy="680"/>
            </a:xfrm>
            <a:prstGeom prst="can">
              <a:avLst>
                <a:gd name="adj" fmla="val 22130"/>
              </a:avLst>
            </a:prstGeom>
            <a:gradFill rotWithShape="1">
              <a:gsLst>
                <a:gs pos="0">
                  <a:srgbClr val="C0C0C0"/>
                </a:gs>
                <a:gs pos="100000">
                  <a:srgbClr val="595959"/>
                </a:gs>
              </a:gsLst>
              <a:lin ang="0" scaled="1"/>
            </a:gra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79" name="Line 178"/>
            <p:cNvSpPr>
              <a:spLocks noChangeShapeType="1"/>
            </p:cNvSpPr>
            <p:nvPr/>
          </p:nvSpPr>
          <p:spPr bwMode="auto">
            <a:xfrm>
              <a:off x="4010" y="1159"/>
              <a:ext cx="0" cy="4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GB" sz="2400"/>
            </a:p>
          </p:txBody>
        </p:sp>
        <p:sp>
          <p:nvSpPr>
            <p:cNvPr id="9280" name="AutoShape 165"/>
            <p:cNvSpPr>
              <a:spLocks noChangeArrowheads="1"/>
            </p:cNvSpPr>
            <p:nvPr/>
          </p:nvSpPr>
          <p:spPr bwMode="auto">
            <a:xfrm rot="5400000">
              <a:off x="3908" y="1369"/>
              <a:ext cx="204" cy="680"/>
            </a:xfrm>
            <a:prstGeom prst="can">
              <a:avLst>
                <a:gd name="adj" fmla="val 22130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5E7676"/>
                </a:gs>
              </a:gsLst>
              <a:lin ang="0" scaled="1"/>
            </a:gra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81" name="Line 176"/>
            <p:cNvSpPr>
              <a:spLocks noChangeShapeType="1"/>
            </p:cNvSpPr>
            <p:nvPr/>
          </p:nvSpPr>
          <p:spPr bwMode="auto">
            <a:xfrm>
              <a:off x="5014" y="1159"/>
              <a:ext cx="0" cy="4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GB" sz="2400"/>
            </a:p>
          </p:txBody>
        </p:sp>
        <p:sp>
          <p:nvSpPr>
            <p:cNvPr id="9282" name="Line 175"/>
            <p:cNvSpPr>
              <a:spLocks noChangeShapeType="1"/>
            </p:cNvSpPr>
            <p:nvPr/>
          </p:nvSpPr>
          <p:spPr bwMode="auto">
            <a:xfrm>
              <a:off x="2217" y="1151"/>
              <a:ext cx="0" cy="4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GB" sz="2400"/>
            </a:p>
          </p:txBody>
        </p:sp>
        <p:sp>
          <p:nvSpPr>
            <p:cNvPr id="9283" name="AutoShape 154"/>
            <p:cNvSpPr>
              <a:spLocks noChangeArrowheads="1"/>
            </p:cNvSpPr>
            <p:nvPr/>
          </p:nvSpPr>
          <p:spPr bwMode="auto">
            <a:xfrm rot="5400000">
              <a:off x="4912" y="1381"/>
              <a:ext cx="204" cy="680"/>
            </a:xfrm>
            <a:prstGeom prst="can">
              <a:avLst>
                <a:gd name="adj" fmla="val 22130"/>
              </a:avLst>
            </a:prstGeom>
            <a:gradFill rotWithShape="1">
              <a:gsLst>
                <a:gs pos="0">
                  <a:srgbClr val="C0C0C0"/>
                </a:gs>
                <a:gs pos="100000">
                  <a:srgbClr val="595959"/>
                </a:gs>
              </a:gsLst>
              <a:lin ang="0" scaled="1"/>
            </a:gra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84" name="AutoShape 162"/>
            <p:cNvSpPr>
              <a:spLocks noChangeArrowheads="1"/>
            </p:cNvSpPr>
            <p:nvPr/>
          </p:nvSpPr>
          <p:spPr bwMode="auto">
            <a:xfrm rot="5400000">
              <a:off x="2115" y="1367"/>
              <a:ext cx="204" cy="680"/>
            </a:xfrm>
            <a:prstGeom prst="can">
              <a:avLst>
                <a:gd name="adj" fmla="val 22130"/>
              </a:avLst>
            </a:prstGeom>
            <a:gradFill rotWithShape="1">
              <a:gsLst>
                <a:gs pos="0">
                  <a:srgbClr val="C0C0C0"/>
                </a:gs>
                <a:gs pos="100000">
                  <a:srgbClr val="595959"/>
                </a:gs>
              </a:gsLst>
              <a:lin ang="0" scaled="1"/>
            </a:gra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85" name="AutoShape 155"/>
            <p:cNvSpPr>
              <a:spLocks noChangeArrowheads="1"/>
            </p:cNvSpPr>
            <p:nvPr/>
          </p:nvSpPr>
          <p:spPr bwMode="auto">
            <a:xfrm rot="5400000">
              <a:off x="3096" y="1366"/>
              <a:ext cx="204" cy="680"/>
            </a:xfrm>
            <a:prstGeom prst="can">
              <a:avLst>
                <a:gd name="adj" fmla="val 22130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5E7676"/>
                </a:gs>
              </a:gsLst>
              <a:lin ang="0" scaled="1"/>
            </a:gra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86" name="AutoShape 164"/>
            <p:cNvSpPr>
              <a:spLocks noChangeArrowheads="1"/>
            </p:cNvSpPr>
            <p:nvPr/>
          </p:nvSpPr>
          <p:spPr bwMode="auto">
            <a:xfrm rot="5400000">
              <a:off x="1304" y="1366"/>
              <a:ext cx="204" cy="680"/>
            </a:xfrm>
            <a:prstGeom prst="can">
              <a:avLst>
                <a:gd name="adj" fmla="val 22130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5E7676"/>
                </a:gs>
              </a:gsLst>
              <a:lin ang="0" scaled="1"/>
            </a:gra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87" name="Line 173"/>
            <p:cNvSpPr>
              <a:spLocks noChangeShapeType="1"/>
            </p:cNvSpPr>
            <p:nvPr/>
          </p:nvSpPr>
          <p:spPr bwMode="auto">
            <a:xfrm>
              <a:off x="1397" y="1159"/>
              <a:ext cx="0" cy="4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GB" sz="2400"/>
            </a:p>
          </p:txBody>
        </p:sp>
        <p:sp>
          <p:nvSpPr>
            <p:cNvPr id="9288" name="Line 174"/>
            <p:cNvSpPr>
              <a:spLocks noChangeShapeType="1"/>
            </p:cNvSpPr>
            <p:nvPr/>
          </p:nvSpPr>
          <p:spPr bwMode="auto">
            <a:xfrm>
              <a:off x="3198" y="1157"/>
              <a:ext cx="0" cy="4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8291" name="Group 99"/>
          <p:cNvGrpSpPr>
            <a:grpSpLocks/>
          </p:cNvGrpSpPr>
          <p:nvPr/>
        </p:nvGrpSpPr>
        <p:grpSpPr bwMode="auto">
          <a:xfrm>
            <a:off x="1833563" y="1188168"/>
            <a:ext cx="7920037" cy="260350"/>
            <a:chOff x="1155" y="988"/>
            <a:chExt cx="4989" cy="164"/>
          </a:xfrm>
        </p:grpSpPr>
        <p:sp>
          <p:nvSpPr>
            <p:cNvPr id="9244" name="Line 196"/>
            <p:cNvSpPr>
              <a:spLocks noChangeShapeType="1"/>
            </p:cNvSpPr>
            <p:nvPr/>
          </p:nvSpPr>
          <p:spPr bwMode="auto">
            <a:xfrm flipV="1">
              <a:off x="1155" y="1140"/>
              <a:ext cx="13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GB" sz="2400"/>
            </a:p>
          </p:txBody>
        </p:sp>
        <p:sp>
          <p:nvSpPr>
            <p:cNvPr id="9245" name="Line 196"/>
            <p:cNvSpPr>
              <a:spLocks noChangeShapeType="1"/>
            </p:cNvSpPr>
            <p:nvPr/>
          </p:nvSpPr>
          <p:spPr bwMode="auto">
            <a:xfrm flipV="1">
              <a:off x="2964" y="1150"/>
              <a:ext cx="13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GB" sz="2400"/>
            </a:p>
          </p:txBody>
        </p:sp>
        <p:sp>
          <p:nvSpPr>
            <p:cNvPr id="9246" name="Line 196"/>
            <p:cNvSpPr>
              <a:spLocks noChangeShapeType="1"/>
            </p:cNvSpPr>
            <p:nvPr/>
          </p:nvSpPr>
          <p:spPr bwMode="auto">
            <a:xfrm flipV="1">
              <a:off x="4784" y="1150"/>
              <a:ext cx="13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GB" sz="2400"/>
            </a:p>
          </p:txBody>
        </p:sp>
        <p:sp>
          <p:nvSpPr>
            <p:cNvPr id="9247" name="Line 57"/>
            <p:cNvSpPr>
              <a:spLocks noChangeShapeType="1"/>
            </p:cNvSpPr>
            <p:nvPr/>
          </p:nvSpPr>
          <p:spPr bwMode="auto">
            <a:xfrm>
              <a:off x="1191" y="989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48" name="Line 58"/>
            <p:cNvSpPr>
              <a:spLocks noChangeShapeType="1"/>
            </p:cNvSpPr>
            <p:nvPr/>
          </p:nvSpPr>
          <p:spPr bwMode="auto">
            <a:xfrm>
              <a:off x="1327" y="989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49" name="Line 59"/>
            <p:cNvSpPr>
              <a:spLocks noChangeShapeType="1"/>
            </p:cNvSpPr>
            <p:nvPr/>
          </p:nvSpPr>
          <p:spPr bwMode="auto">
            <a:xfrm>
              <a:off x="1463" y="989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50" name="Line 60"/>
            <p:cNvSpPr>
              <a:spLocks noChangeShapeType="1"/>
            </p:cNvSpPr>
            <p:nvPr/>
          </p:nvSpPr>
          <p:spPr bwMode="auto">
            <a:xfrm>
              <a:off x="1599" y="989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51" name="Line 61"/>
            <p:cNvSpPr>
              <a:spLocks noChangeShapeType="1"/>
            </p:cNvSpPr>
            <p:nvPr/>
          </p:nvSpPr>
          <p:spPr bwMode="auto">
            <a:xfrm>
              <a:off x="1735" y="989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52" name="Line 62"/>
            <p:cNvSpPr>
              <a:spLocks noChangeShapeType="1"/>
            </p:cNvSpPr>
            <p:nvPr/>
          </p:nvSpPr>
          <p:spPr bwMode="auto">
            <a:xfrm>
              <a:off x="1871" y="989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53" name="Line 63"/>
            <p:cNvSpPr>
              <a:spLocks noChangeShapeType="1"/>
            </p:cNvSpPr>
            <p:nvPr/>
          </p:nvSpPr>
          <p:spPr bwMode="auto">
            <a:xfrm>
              <a:off x="2007" y="989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54" name="Line 64"/>
            <p:cNvSpPr>
              <a:spLocks noChangeShapeType="1"/>
            </p:cNvSpPr>
            <p:nvPr/>
          </p:nvSpPr>
          <p:spPr bwMode="auto">
            <a:xfrm>
              <a:off x="2143" y="989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55" name="Line 65"/>
            <p:cNvSpPr>
              <a:spLocks noChangeShapeType="1"/>
            </p:cNvSpPr>
            <p:nvPr/>
          </p:nvSpPr>
          <p:spPr bwMode="auto">
            <a:xfrm>
              <a:off x="2279" y="989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56" name="Line 66"/>
            <p:cNvSpPr>
              <a:spLocks noChangeShapeType="1"/>
            </p:cNvSpPr>
            <p:nvPr/>
          </p:nvSpPr>
          <p:spPr bwMode="auto">
            <a:xfrm>
              <a:off x="2415" y="989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57" name="Line 68"/>
            <p:cNvSpPr>
              <a:spLocks noChangeShapeType="1"/>
            </p:cNvSpPr>
            <p:nvPr/>
          </p:nvSpPr>
          <p:spPr bwMode="auto">
            <a:xfrm>
              <a:off x="2980" y="98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58" name="Line 69"/>
            <p:cNvSpPr>
              <a:spLocks noChangeShapeType="1"/>
            </p:cNvSpPr>
            <p:nvPr/>
          </p:nvSpPr>
          <p:spPr bwMode="auto">
            <a:xfrm>
              <a:off x="3116" y="98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59" name="Line 70"/>
            <p:cNvSpPr>
              <a:spLocks noChangeShapeType="1"/>
            </p:cNvSpPr>
            <p:nvPr/>
          </p:nvSpPr>
          <p:spPr bwMode="auto">
            <a:xfrm>
              <a:off x="3252" y="98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60" name="Line 71"/>
            <p:cNvSpPr>
              <a:spLocks noChangeShapeType="1"/>
            </p:cNvSpPr>
            <p:nvPr/>
          </p:nvSpPr>
          <p:spPr bwMode="auto">
            <a:xfrm>
              <a:off x="3388" y="98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61" name="Line 72"/>
            <p:cNvSpPr>
              <a:spLocks noChangeShapeType="1"/>
            </p:cNvSpPr>
            <p:nvPr/>
          </p:nvSpPr>
          <p:spPr bwMode="auto">
            <a:xfrm>
              <a:off x="3524" y="98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62" name="Line 73"/>
            <p:cNvSpPr>
              <a:spLocks noChangeShapeType="1"/>
            </p:cNvSpPr>
            <p:nvPr/>
          </p:nvSpPr>
          <p:spPr bwMode="auto">
            <a:xfrm>
              <a:off x="3660" y="98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63" name="Line 74"/>
            <p:cNvSpPr>
              <a:spLocks noChangeShapeType="1"/>
            </p:cNvSpPr>
            <p:nvPr/>
          </p:nvSpPr>
          <p:spPr bwMode="auto">
            <a:xfrm>
              <a:off x="3796" y="98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64" name="Line 75"/>
            <p:cNvSpPr>
              <a:spLocks noChangeShapeType="1"/>
            </p:cNvSpPr>
            <p:nvPr/>
          </p:nvSpPr>
          <p:spPr bwMode="auto">
            <a:xfrm>
              <a:off x="3932" y="98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65" name="Line 76"/>
            <p:cNvSpPr>
              <a:spLocks noChangeShapeType="1"/>
            </p:cNvSpPr>
            <p:nvPr/>
          </p:nvSpPr>
          <p:spPr bwMode="auto">
            <a:xfrm>
              <a:off x="4068" y="98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66" name="Line 77"/>
            <p:cNvSpPr>
              <a:spLocks noChangeShapeType="1"/>
            </p:cNvSpPr>
            <p:nvPr/>
          </p:nvSpPr>
          <p:spPr bwMode="auto">
            <a:xfrm>
              <a:off x="4204" y="98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67" name="Line 78"/>
            <p:cNvSpPr>
              <a:spLocks noChangeShapeType="1"/>
            </p:cNvSpPr>
            <p:nvPr/>
          </p:nvSpPr>
          <p:spPr bwMode="auto">
            <a:xfrm>
              <a:off x="4817" y="100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68" name="Line 79"/>
            <p:cNvSpPr>
              <a:spLocks noChangeShapeType="1"/>
            </p:cNvSpPr>
            <p:nvPr/>
          </p:nvSpPr>
          <p:spPr bwMode="auto">
            <a:xfrm>
              <a:off x="4953" y="100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69" name="Line 80"/>
            <p:cNvSpPr>
              <a:spLocks noChangeShapeType="1"/>
            </p:cNvSpPr>
            <p:nvPr/>
          </p:nvSpPr>
          <p:spPr bwMode="auto">
            <a:xfrm>
              <a:off x="5089" y="100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70" name="Line 81"/>
            <p:cNvSpPr>
              <a:spLocks noChangeShapeType="1"/>
            </p:cNvSpPr>
            <p:nvPr/>
          </p:nvSpPr>
          <p:spPr bwMode="auto">
            <a:xfrm>
              <a:off x="5225" y="100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71" name="Line 82"/>
            <p:cNvSpPr>
              <a:spLocks noChangeShapeType="1"/>
            </p:cNvSpPr>
            <p:nvPr/>
          </p:nvSpPr>
          <p:spPr bwMode="auto">
            <a:xfrm>
              <a:off x="5361" y="100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72" name="Line 83"/>
            <p:cNvSpPr>
              <a:spLocks noChangeShapeType="1"/>
            </p:cNvSpPr>
            <p:nvPr/>
          </p:nvSpPr>
          <p:spPr bwMode="auto">
            <a:xfrm>
              <a:off x="5497" y="100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73" name="Line 84"/>
            <p:cNvSpPr>
              <a:spLocks noChangeShapeType="1"/>
            </p:cNvSpPr>
            <p:nvPr/>
          </p:nvSpPr>
          <p:spPr bwMode="auto">
            <a:xfrm>
              <a:off x="5633" y="100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74" name="Line 85"/>
            <p:cNvSpPr>
              <a:spLocks noChangeShapeType="1"/>
            </p:cNvSpPr>
            <p:nvPr/>
          </p:nvSpPr>
          <p:spPr bwMode="auto">
            <a:xfrm>
              <a:off x="5769" y="100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75" name="Line 86"/>
            <p:cNvSpPr>
              <a:spLocks noChangeShapeType="1"/>
            </p:cNvSpPr>
            <p:nvPr/>
          </p:nvSpPr>
          <p:spPr bwMode="auto">
            <a:xfrm>
              <a:off x="5905" y="100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9276" name="Line 87"/>
            <p:cNvSpPr>
              <a:spLocks noChangeShapeType="1"/>
            </p:cNvSpPr>
            <p:nvPr/>
          </p:nvSpPr>
          <p:spPr bwMode="auto">
            <a:xfrm>
              <a:off x="6041" y="1008"/>
              <a:ext cx="75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8290" name="Group 98"/>
          <p:cNvGrpSpPr>
            <a:grpSpLocks/>
          </p:cNvGrpSpPr>
          <p:nvPr/>
        </p:nvGrpSpPr>
        <p:grpSpPr bwMode="auto">
          <a:xfrm>
            <a:off x="1222513" y="3377137"/>
            <a:ext cx="9158289" cy="854076"/>
            <a:chOff x="986" y="3148"/>
            <a:chExt cx="5769" cy="538"/>
          </a:xfrm>
        </p:grpSpPr>
        <p:sp>
          <p:nvSpPr>
            <p:cNvPr id="9240" name="Text Box 161"/>
            <p:cNvSpPr txBox="1">
              <a:spLocks noChangeArrowheads="1"/>
            </p:cNvSpPr>
            <p:nvPr/>
          </p:nvSpPr>
          <p:spPr bwMode="auto">
            <a:xfrm>
              <a:off x="5649" y="3148"/>
              <a:ext cx="1106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Barra de </a:t>
              </a:r>
              <a:r>
                <a:rPr lang="es-ES" sz="24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PLÁSTICO</a:t>
              </a:r>
            </a:p>
          </p:txBody>
        </p:sp>
        <p:sp>
          <p:nvSpPr>
            <p:cNvPr id="9241" name="Text Box 160"/>
            <p:cNvSpPr txBox="1">
              <a:spLocks noChangeArrowheads="1"/>
            </p:cNvSpPr>
            <p:nvPr/>
          </p:nvSpPr>
          <p:spPr bwMode="auto">
            <a:xfrm>
              <a:off x="986" y="3161"/>
              <a:ext cx="1110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Barra de </a:t>
              </a:r>
              <a:r>
                <a:rPr lang="es-ES" sz="24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VIDRIO</a:t>
              </a:r>
            </a:p>
          </p:txBody>
        </p:sp>
        <p:sp>
          <p:nvSpPr>
            <p:cNvPr id="9242" name="AutoShape 164"/>
            <p:cNvSpPr>
              <a:spLocks noChangeArrowheads="1"/>
            </p:cNvSpPr>
            <p:nvPr/>
          </p:nvSpPr>
          <p:spPr bwMode="auto">
            <a:xfrm rot="5400000">
              <a:off x="2630" y="3057"/>
              <a:ext cx="204" cy="680"/>
            </a:xfrm>
            <a:prstGeom prst="can">
              <a:avLst>
                <a:gd name="adj" fmla="val 22130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5E7676"/>
                </a:gs>
              </a:gsLst>
              <a:lin ang="0" scaled="1"/>
            </a:gra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43" name="AutoShape 162"/>
            <p:cNvSpPr>
              <a:spLocks noChangeArrowheads="1"/>
            </p:cNvSpPr>
            <p:nvPr/>
          </p:nvSpPr>
          <p:spPr bwMode="auto">
            <a:xfrm rot="5400000">
              <a:off x="4812" y="3049"/>
              <a:ext cx="204" cy="680"/>
            </a:xfrm>
            <a:prstGeom prst="can">
              <a:avLst>
                <a:gd name="adj" fmla="val 22130"/>
              </a:avLst>
            </a:prstGeom>
            <a:gradFill rotWithShape="1">
              <a:gsLst>
                <a:gs pos="0">
                  <a:srgbClr val="C0C0C0"/>
                </a:gs>
                <a:gs pos="100000">
                  <a:srgbClr val="595959"/>
                </a:gs>
              </a:gsLst>
              <a:lin ang="0" scaled="1"/>
            </a:gra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9239" name="AutoShape 92"/>
          <p:cNvSpPr>
            <a:spLocks noChangeArrowheads="1"/>
          </p:cNvSpPr>
          <p:nvPr/>
        </p:nvSpPr>
        <p:spPr bwMode="auto">
          <a:xfrm>
            <a:off x="3813179" y="4020072"/>
            <a:ext cx="361950" cy="614363"/>
          </a:xfrm>
          <a:prstGeom prst="upDownArrow">
            <a:avLst>
              <a:gd name="adj1" fmla="val 50000"/>
              <a:gd name="adj2" fmla="val 58334"/>
            </a:avLst>
          </a:prstGeom>
          <a:solidFill>
            <a:srgbClr val="FFFF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9236" name="Text Box 211"/>
          <p:cNvSpPr txBox="1">
            <a:spLocks noChangeArrowheads="1"/>
          </p:cNvSpPr>
          <p:nvPr/>
        </p:nvSpPr>
        <p:spPr bwMode="auto">
          <a:xfrm>
            <a:off x="5081747" y="4134332"/>
            <a:ext cx="1120777" cy="36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FROTAR</a:t>
            </a:r>
          </a:p>
        </p:txBody>
      </p:sp>
      <p:sp>
        <p:nvSpPr>
          <p:cNvPr id="9237" name="AutoShape 93"/>
          <p:cNvSpPr>
            <a:spLocks noChangeArrowheads="1"/>
          </p:cNvSpPr>
          <p:nvPr/>
        </p:nvSpPr>
        <p:spPr bwMode="auto">
          <a:xfrm>
            <a:off x="7253451" y="4005745"/>
            <a:ext cx="361951" cy="614358"/>
          </a:xfrm>
          <a:prstGeom prst="upDownArrow">
            <a:avLst>
              <a:gd name="adj1" fmla="val 50000"/>
              <a:gd name="adj2" fmla="val 58334"/>
            </a:avLst>
          </a:prstGeom>
          <a:solidFill>
            <a:srgbClr val="FFFF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2400">
              <a:latin typeface="Trebuchet MS" panose="020B0603020202020204" pitchFamily="34" charset="0"/>
            </a:endParaRPr>
          </a:p>
        </p:txBody>
      </p:sp>
      <p:grpSp>
        <p:nvGrpSpPr>
          <p:cNvPr id="8299" name="Group 107"/>
          <p:cNvGrpSpPr>
            <a:grpSpLocks/>
          </p:cNvGrpSpPr>
          <p:nvPr/>
        </p:nvGrpSpPr>
        <p:grpSpPr bwMode="auto">
          <a:xfrm>
            <a:off x="4562952" y="2626441"/>
            <a:ext cx="2355880" cy="473075"/>
            <a:chOff x="2868" y="1894"/>
            <a:chExt cx="1484" cy="298"/>
          </a:xfrm>
        </p:grpSpPr>
        <p:sp>
          <p:nvSpPr>
            <p:cNvPr id="9233" name="AutoShape 170"/>
            <p:cNvSpPr>
              <a:spLocks noChangeArrowheads="1"/>
            </p:cNvSpPr>
            <p:nvPr/>
          </p:nvSpPr>
          <p:spPr bwMode="auto">
            <a:xfrm flipH="1">
              <a:off x="2868" y="1894"/>
              <a:ext cx="233" cy="298"/>
            </a:xfrm>
            <a:prstGeom prst="rightArrow">
              <a:avLst>
                <a:gd name="adj1" fmla="val 55037"/>
                <a:gd name="adj2" fmla="val 50213"/>
              </a:avLst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34" name="AutoShape 172"/>
            <p:cNvSpPr>
              <a:spLocks noChangeArrowheads="1"/>
            </p:cNvSpPr>
            <p:nvPr/>
          </p:nvSpPr>
          <p:spPr bwMode="auto">
            <a:xfrm>
              <a:off x="4119" y="1894"/>
              <a:ext cx="233" cy="298"/>
            </a:xfrm>
            <a:prstGeom prst="rightArrow">
              <a:avLst>
                <a:gd name="adj1" fmla="val 55037"/>
                <a:gd name="adj2" fmla="val 50213"/>
              </a:avLst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35" name="Text Box 214"/>
            <p:cNvSpPr txBox="1">
              <a:spLocks noChangeArrowheads="1"/>
            </p:cNvSpPr>
            <p:nvPr/>
          </p:nvSpPr>
          <p:spPr bwMode="auto">
            <a:xfrm>
              <a:off x="3109" y="1895"/>
              <a:ext cx="8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se repelen</a:t>
              </a:r>
            </a:p>
          </p:txBody>
        </p:sp>
      </p:grpSp>
      <p:sp>
        <p:nvSpPr>
          <p:cNvPr id="3" name="Text Box 193"/>
          <p:cNvSpPr txBox="1">
            <a:spLocks noChangeArrowheads="1"/>
          </p:cNvSpPr>
          <p:nvPr/>
        </p:nvSpPr>
        <p:spPr bwMode="auto">
          <a:xfrm>
            <a:off x="7073001" y="5487637"/>
            <a:ext cx="3165943" cy="120251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Algo debe transferirse que motive lo observado</a:t>
            </a:r>
          </a:p>
        </p:txBody>
      </p: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96EC755F-5249-4070-948E-364960B5FDF7}"/>
              </a:ext>
            </a:extLst>
          </p:cNvPr>
          <p:cNvSpPr/>
          <p:nvPr/>
        </p:nvSpPr>
        <p:spPr bwMode="auto">
          <a:xfrm>
            <a:off x="5371836" y="704193"/>
            <a:ext cx="5292000" cy="5436000"/>
          </a:xfrm>
          <a:custGeom>
            <a:avLst/>
            <a:gdLst>
              <a:gd name="connsiteX0" fmla="*/ 4908331 w 5202621"/>
              <a:gd name="connsiteY0" fmla="*/ 5055476 h 5055476"/>
              <a:gd name="connsiteX1" fmla="*/ 5202621 w 5202621"/>
              <a:gd name="connsiteY1" fmla="*/ 5055476 h 5055476"/>
              <a:gd name="connsiteX2" fmla="*/ 5192111 w 5202621"/>
              <a:gd name="connsiteY2" fmla="*/ 10510 h 5055476"/>
              <a:gd name="connsiteX3" fmla="*/ 0 w 5202621"/>
              <a:gd name="connsiteY3" fmla="*/ 0 h 505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2621" h="5055476">
                <a:moveTo>
                  <a:pt x="4908331" y="5055476"/>
                </a:moveTo>
                <a:lnTo>
                  <a:pt x="5202621" y="5055476"/>
                </a:lnTo>
                <a:cubicBezTo>
                  <a:pt x="5199118" y="3373821"/>
                  <a:pt x="5195614" y="1692165"/>
                  <a:pt x="5192111" y="10510"/>
                </a:cubicBezTo>
                <a:lnTo>
                  <a:pt x="0" y="0"/>
                </a:lnTo>
              </a:path>
            </a:pathLst>
          </a:cu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F68A0B20-0F10-FECB-8CCF-3E8446C66E93}"/>
              </a:ext>
            </a:extLst>
          </p:cNvPr>
          <p:cNvCxnSpPr/>
          <p:nvPr/>
        </p:nvCxnSpPr>
        <p:spPr bwMode="auto">
          <a:xfrm>
            <a:off x="10339706" y="5487637"/>
            <a:ext cx="0" cy="1202510"/>
          </a:xfrm>
          <a:prstGeom prst="lin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8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8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8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8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8" dur="500"/>
                                        <p:tgtEl>
                                          <p:spTgt spid="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8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8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03" grpId="0" animBg="1"/>
      <p:bldP spid="6332" grpId="0" animBg="1"/>
      <p:bldP spid="6337" grpId="0" animBg="1"/>
      <p:bldP spid="9239" grpId="0" animBg="1"/>
      <p:bldP spid="9236" grpId="0"/>
      <p:bldP spid="9237" grpId="0" animBg="1"/>
      <p:bldP spid="3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2" name="Text Box 4"/>
          <p:cNvSpPr txBox="1">
            <a:spLocks noChangeArrowheads="1"/>
          </p:cNvSpPr>
          <p:nvPr/>
        </p:nvSpPr>
        <p:spPr bwMode="auto">
          <a:xfrm>
            <a:off x="1241424" y="380420"/>
            <a:ext cx="8856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Este tipo de 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fenómenos se conocían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desde la antigüedad: </a:t>
            </a:r>
          </a:p>
        </p:txBody>
      </p:sp>
      <p:pic>
        <p:nvPicPr>
          <p:cNvPr id="186382" name="Picture 14" descr="imagesCAUZCDQP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598" y="1592034"/>
            <a:ext cx="4227356" cy="2689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1524286" y="4575344"/>
            <a:ext cx="3619503" cy="635004"/>
            <a:chOff x="1150" y="3270"/>
            <a:chExt cx="2280" cy="400"/>
          </a:xfrm>
        </p:grpSpPr>
        <p:sp>
          <p:nvSpPr>
            <p:cNvPr id="11282" name="AutoShape 12"/>
            <p:cNvSpPr>
              <a:spLocks noChangeArrowheads="1"/>
            </p:cNvSpPr>
            <p:nvPr/>
          </p:nvSpPr>
          <p:spPr bwMode="auto">
            <a:xfrm>
              <a:off x="1658" y="3352"/>
              <a:ext cx="1772" cy="318"/>
            </a:xfrm>
            <a:prstGeom prst="parallelogram">
              <a:avLst>
                <a:gd name="adj" fmla="val 139308"/>
              </a:avLst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2700000" scaled="1"/>
            </a:gra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83" name="Text Box 10"/>
            <p:cNvSpPr txBox="1">
              <a:spLocks noChangeArrowheads="1"/>
            </p:cNvSpPr>
            <p:nvPr/>
          </p:nvSpPr>
          <p:spPr bwMode="auto">
            <a:xfrm>
              <a:off x="1150" y="3270"/>
              <a:ext cx="662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LANA</a:t>
              </a:r>
            </a:p>
          </p:txBody>
        </p:sp>
      </p:grpSp>
      <p:sp>
        <p:nvSpPr>
          <p:cNvPr id="186386" name="Text Box 18"/>
          <p:cNvSpPr txBox="1">
            <a:spLocks noChangeArrowheads="1"/>
          </p:cNvSpPr>
          <p:nvPr/>
        </p:nvSpPr>
        <p:spPr bwMode="auto">
          <a:xfrm>
            <a:off x="1467192" y="880445"/>
            <a:ext cx="73071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Europa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 </a:t>
            </a:r>
            <a:r>
              <a:rPr lang="es-ES" sz="2400" b="1" dirty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Griegos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Thales de Mileto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(600 a.C.)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021390" y="1663777"/>
            <a:ext cx="3403601" cy="2459045"/>
            <a:chOff x="3793" y="1962"/>
            <a:chExt cx="2144" cy="1549"/>
          </a:xfrm>
        </p:grpSpPr>
        <p:sp>
          <p:nvSpPr>
            <p:cNvPr id="11279" name="Text Box 19"/>
            <p:cNvSpPr txBox="1">
              <a:spLocks noChangeArrowheads="1"/>
            </p:cNvSpPr>
            <p:nvPr/>
          </p:nvSpPr>
          <p:spPr bwMode="auto">
            <a:xfrm>
              <a:off x="5252" y="1962"/>
              <a:ext cx="68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“BOLI”</a:t>
              </a:r>
            </a:p>
          </p:txBody>
        </p:sp>
        <p:sp>
          <p:nvSpPr>
            <p:cNvPr id="11280" name="Text Box 20"/>
            <p:cNvSpPr txBox="1">
              <a:spLocks noChangeArrowheads="1"/>
            </p:cNvSpPr>
            <p:nvPr/>
          </p:nvSpPr>
          <p:spPr bwMode="auto">
            <a:xfrm>
              <a:off x="4019" y="3219"/>
              <a:ext cx="124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“VAQUERO”</a:t>
              </a:r>
            </a:p>
          </p:txBody>
        </p:sp>
        <p:sp>
          <p:nvSpPr>
            <p:cNvPr id="11281" name="Text Box 21"/>
            <p:cNvSpPr txBox="1">
              <a:spLocks noChangeArrowheads="1"/>
            </p:cNvSpPr>
            <p:nvPr/>
          </p:nvSpPr>
          <p:spPr bwMode="auto">
            <a:xfrm>
              <a:off x="3793" y="2615"/>
              <a:ext cx="189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TROZOS DE PAPEL</a:t>
              </a:r>
            </a:p>
          </p:txBody>
        </p:sp>
      </p:grpSp>
      <p:sp>
        <p:nvSpPr>
          <p:cNvPr id="186390" name="Text Box 22"/>
          <p:cNvSpPr txBox="1">
            <a:spLocks noChangeArrowheads="1"/>
          </p:cNvSpPr>
          <p:nvPr/>
        </p:nvSpPr>
        <p:spPr bwMode="auto">
          <a:xfrm>
            <a:off x="5175146" y="4713211"/>
            <a:ext cx="542018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Tras frotarlo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atraía: plumitas, pajitas...</a:t>
            </a:r>
          </a:p>
        </p:txBody>
      </p:sp>
      <p:sp>
        <p:nvSpPr>
          <p:cNvPr id="186375" name="Text Box 7"/>
          <p:cNvSpPr txBox="1">
            <a:spLocks noChangeArrowheads="1"/>
          </p:cNvSpPr>
          <p:nvPr/>
        </p:nvSpPr>
        <p:spPr bwMode="auto">
          <a:xfrm>
            <a:off x="1284288" y="5492316"/>
            <a:ext cx="9115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s-ES" sz="2400" b="1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griego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 el </a:t>
            </a:r>
            <a:r>
              <a:rPr lang="es-ES" sz="2400" b="1">
                <a:latin typeface="Arial" panose="020B0604020202020204" pitchFamily="34" charset="0"/>
                <a:cs typeface="Arial" panose="020B0604020202020204" pitchFamily="34" charset="0"/>
              </a:rPr>
              <a:t>ÁMBAR</a:t>
            </a:r>
            <a:r>
              <a:rPr lang="es-ES" sz="240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se llama </a:t>
            </a: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ELEKTRON</a:t>
            </a:r>
            <a:endParaRPr lang="es-ES" sz="24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1368997" y="1583641"/>
            <a:ext cx="4386263" cy="2708275"/>
            <a:chOff x="954" y="1774"/>
            <a:chExt cx="2763" cy="1706"/>
          </a:xfrm>
        </p:grpSpPr>
        <p:pic>
          <p:nvPicPr>
            <p:cNvPr id="11276" name="Picture 8" descr="180px-Amber_hg"/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4" y="1774"/>
              <a:ext cx="2763" cy="1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7" name="Text Box 16"/>
            <p:cNvSpPr txBox="1">
              <a:spLocks noChangeArrowheads="1"/>
            </p:cNvSpPr>
            <p:nvPr/>
          </p:nvSpPr>
          <p:spPr bwMode="auto">
            <a:xfrm>
              <a:off x="1011" y="1806"/>
              <a:ext cx="837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ÁMBAR</a:t>
              </a:r>
            </a:p>
          </p:txBody>
        </p:sp>
        <p:sp>
          <p:nvSpPr>
            <p:cNvPr id="11278" name="Text Box 26"/>
            <p:cNvSpPr txBox="1">
              <a:spLocks noChangeArrowheads="1"/>
            </p:cNvSpPr>
            <p:nvPr/>
          </p:nvSpPr>
          <p:spPr bwMode="auto">
            <a:xfrm>
              <a:off x="1801" y="1791"/>
              <a:ext cx="163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(resina fosilizada)</a:t>
              </a:r>
            </a:p>
          </p:txBody>
        </p:sp>
      </p:grp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463964" y="6029117"/>
            <a:ext cx="91154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De hay que usemos en relación con estos fenómenos palabras como: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eléctrico, electricidad, electrónica, electrón, electrodo...</a:t>
            </a:r>
          </a:p>
        </p:txBody>
      </p:sp>
      <p:sp>
        <p:nvSpPr>
          <p:cNvPr id="20" name="AutoShape 92"/>
          <p:cNvSpPr>
            <a:spLocks noChangeArrowheads="1"/>
          </p:cNvSpPr>
          <p:nvPr/>
        </p:nvSpPr>
        <p:spPr bwMode="auto">
          <a:xfrm>
            <a:off x="3219130" y="4104345"/>
            <a:ext cx="361950" cy="743379"/>
          </a:xfrm>
          <a:prstGeom prst="upDownArrow">
            <a:avLst>
              <a:gd name="adj1" fmla="val 50000"/>
              <a:gd name="adj2" fmla="val 58334"/>
            </a:avLst>
          </a:prstGeom>
          <a:solidFill>
            <a:srgbClr val="FFFF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21" name="Text Box 211">
            <a:extLst>
              <a:ext uri="{FF2B5EF4-FFF2-40B4-BE49-F238E27FC236}">
                <a16:creationId xmlns:a16="http://schemas.microsoft.com/office/drawing/2014/main" id="{D46F913F-B102-406A-8AAA-BBA812912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834" y="4251561"/>
            <a:ext cx="1120775" cy="36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FROTAR</a:t>
            </a:r>
          </a:p>
        </p:txBody>
      </p:sp>
      <p:sp>
        <p:nvSpPr>
          <p:cNvPr id="24" name="Text Box 18">
            <a:extLst>
              <a:ext uri="{FF2B5EF4-FFF2-40B4-BE49-F238E27FC236}">
                <a16:creationId xmlns:a16="http://schemas.microsoft.com/office/drawing/2014/main" id="{52BD7F2C-7C36-4C88-9669-E259CDC33F16}"/>
              </a:ext>
            </a:extLst>
          </p:cNvPr>
          <p:cNvSpPr txBox="1">
            <a:spLocks noChangeArrowheads="1"/>
          </p:cNvSpPr>
          <p:nvPr/>
        </p:nvSpPr>
        <p:spPr bwMode="auto">
          <a:xfrm rot="8082983">
            <a:off x="5712127" y="1187835"/>
            <a:ext cx="433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Box 18">
            <a:extLst>
              <a:ext uri="{FF2B5EF4-FFF2-40B4-BE49-F238E27FC236}">
                <a16:creationId xmlns:a16="http://schemas.microsoft.com/office/drawing/2014/main" id="{75ED3FD1-9A95-4D5A-8DE3-B3DD956EC40D}"/>
              </a:ext>
            </a:extLst>
          </p:cNvPr>
          <p:cNvSpPr txBox="1">
            <a:spLocks noChangeArrowheads="1"/>
          </p:cNvSpPr>
          <p:nvPr/>
        </p:nvSpPr>
        <p:spPr bwMode="auto">
          <a:xfrm rot="8082983">
            <a:off x="9148886" y="1186246"/>
            <a:ext cx="433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Box 18">
            <a:extLst>
              <a:ext uri="{FF2B5EF4-FFF2-40B4-BE49-F238E27FC236}">
                <a16:creationId xmlns:a16="http://schemas.microsoft.com/office/drawing/2014/main" id="{901284BB-A338-4A58-BDFD-C7B45086A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110" y="857092"/>
            <a:ext cx="15168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 Ahora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5" dur="500"/>
                                        <p:tgtEl>
                                          <p:spTgt spid="186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2" grpId="0"/>
      <p:bldP spid="186386" grpId="0"/>
      <p:bldP spid="186390" grpId="0"/>
      <p:bldP spid="186375" grpId="0"/>
      <p:bldP spid="5" grpId="0"/>
      <p:bldP spid="20" grpId="0" animBg="1"/>
      <p:bldP spid="21" grpId="0"/>
      <p:bldP spid="24" grpId="0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6" name="Rectangle 96"/>
          <p:cNvSpPr>
            <a:spLocks noChangeArrowheads="1"/>
          </p:cNvSpPr>
          <p:nvPr/>
        </p:nvSpPr>
        <p:spPr bwMode="auto">
          <a:xfrm>
            <a:off x="6141350" y="2883640"/>
            <a:ext cx="4222822" cy="3998941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72000" rIns="90000" bIns="72000" anchor="ctr" anchorCtr="0">
            <a:no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163853" name="Text Box 13"/>
          <p:cNvSpPr txBox="1">
            <a:spLocks noChangeArrowheads="1"/>
          </p:cNvSpPr>
          <p:nvPr/>
        </p:nvSpPr>
        <p:spPr bwMode="auto">
          <a:xfrm>
            <a:off x="1207943" y="364376"/>
            <a:ext cx="9439222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 El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estudio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de estos fenómenos se inició en el </a:t>
            </a:r>
            <a:r>
              <a:rPr lang="es-ES" sz="2400" b="1">
                <a:solidFill>
                  <a:srgbClr val="9900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siglo XVI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y su</a:t>
            </a:r>
          </a:p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descripción finalizó en el </a:t>
            </a:r>
            <a:r>
              <a:rPr lang="es-ES" sz="2400" b="1">
                <a:solidFill>
                  <a:srgbClr val="9900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XIX</a:t>
            </a:r>
            <a:r>
              <a:rPr lang="es-ES" sz="2400" b="1">
                <a:solidFill>
                  <a:schemeClr val="hlink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(Gilbert, Gray, Du Fay, Franklin...)</a:t>
            </a:r>
            <a:endParaRPr lang="es-ES" sz="24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63861" name="Text Box 21"/>
          <p:cNvSpPr txBox="1">
            <a:spLocks noChangeArrowheads="1"/>
          </p:cNvSpPr>
          <p:nvPr/>
        </p:nvSpPr>
        <p:spPr bwMode="auto">
          <a:xfrm>
            <a:off x="1378390" y="2883640"/>
            <a:ext cx="4280621" cy="88407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LOS CUERPOS SON NORMALMENTE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NEUTROS</a:t>
            </a:r>
          </a:p>
        </p:txBody>
      </p:sp>
      <p:sp>
        <p:nvSpPr>
          <p:cNvPr id="15420" name="Text Box 20"/>
          <p:cNvSpPr txBox="1">
            <a:spLocks noChangeArrowheads="1"/>
          </p:cNvSpPr>
          <p:nvPr/>
        </p:nvSpPr>
        <p:spPr bwMode="auto">
          <a:xfrm>
            <a:off x="2057582" y="4569544"/>
            <a:ext cx="2520540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Q</a:t>
            </a:r>
            <a:r>
              <a:rPr lang="es-ES" sz="2400" baseline="30000">
                <a:solidFill>
                  <a:srgbClr val="3333FF"/>
                </a:solidFill>
                <a:latin typeface="Arial" panose="020B0604020202020204" pitchFamily="34" charset="0"/>
              </a:rPr>
              <a:t>+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 + Q</a:t>
            </a:r>
            <a:r>
              <a:rPr lang="es-ES" sz="2400" baseline="30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 =  Q  = 0</a:t>
            </a:r>
          </a:p>
        </p:txBody>
      </p:sp>
      <p:sp>
        <p:nvSpPr>
          <p:cNvPr id="15421" name="Text Box 23"/>
          <p:cNvSpPr txBox="1">
            <a:spLocks noChangeArrowheads="1"/>
          </p:cNvSpPr>
          <p:nvPr/>
        </p:nvSpPr>
        <p:spPr bwMode="auto">
          <a:xfrm>
            <a:off x="2069017" y="3923543"/>
            <a:ext cx="2355430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Q</a:t>
            </a:r>
            <a:r>
              <a:rPr lang="es-ES" sz="2400" baseline="30000">
                <a:solidFill>
                  <a:srgbClr val="3333FF"/>
                </a:solidFill>
                <a:latin typeface="Arial" panose="020B0604020202020204" pitchFamily="34" charset="0"/>
              </a:rPr>
              <a:t>+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 =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Q</a:t>
            </a:r>
            <a:r>
              <a:rPr lang="es-ES" sz="2400" baseline="30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|Q</a:t>
            </a:r>
            <a:r>
              <a:rPr lang="es-ES" sz="2400" baseline="300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|</a:t>
            </a:r>
          </a:p>
        </p:txBody>
      </p:sp>
      <p:sp>
        <p:nvSpPr>
          <p:cNvPr id="163866" name="Text Box 26"/>
          <p:cNvSpPr txBox="1">
            <a:spLocks noChangeArrowheads="1"/>
          </p:cNvSpPr>
          <p:nvPr/>
        </p:nvSpPr>
        <p:spPr bwMode="auto">
          <a:xfrm>
            <a:off x="7610783" y="3722942"/>
            <a:ext cx="1343935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Al frotar:</a:t>
            </a:r>
          </a:p>
        </p:txBody>
      </p:sp>
      <p:sp>
        <p:nvSpPr>
          <p:cNvPr id="163854" name="Text Box 14"/>
          <p:cNvSpPr txBox="1">
            <a:spLocks noChangeArrowheads="1"/>
          </p:cNvSpPr>
          <p:nvPr/>
        </p:nvSpPr>
        <p:spPr bwMode="auto">
          <a:xfrm>
            <a:off x="4671146" y="1694883"/>
            <a:ext cx="3072614" cy="5147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CARGA ELÉCTRICA</a:t>
            </a:r>
          </a:p>
        </p:txBody>
      </p:sp>
      <p:sp>
        <p:nvSpPr>
          <p:cNvPr id="10311" name="Text Box 17"/>
          <p:cNvSpPr txBox="1">
            <a:spLocks noChangeArrowheads="1"/>
          </p:cNvSpPr>
          <p:nvPr/>
        </p:nvSpPr>
        <p:spPr bwMode="auto">
          <a:xfrm>
            <a:off x="8046913" y="1471800"/>
            <a:ext cx="2312790" cy="5147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POSITIVA  (Q</a:t>
            </a:r>
            <a:r>
              <a:rPr lang="es-ES" sz="2400" b="1" baseline="3000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0312" name="Text Box 18"/>
          <p:cNvSpPr txBox="1">
            <a:spLocks noChangeArrowheads="1"/>
          </p:cNvSpPr>
          <p:nvPr/>
        </p:nvSpPr>
        <p:spPr bwMode="auto">
          <a:xfrm>
            <a:off x="8046913" y="2169580"/>
            <a:ext cx="2312790" cy="5147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NEGATIVA (Q</a:t>
            </a:r>
            <a:r>
              <a:rPr lang="es-ES" sz="2400" b="1" baseline="3000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63901" name="Text Box 61"/>
          <p:cNvSpPr txBox="1">
            <a:spLocks noChangeArrowheads="1"/>
          </p:cNvSpPr>
          <p:nvPr/>
        </p:nvSpPr>
        <p:spPr bwMode="auto">
          <a:xfrm>
            <a:off x="5404121" y="2147595"/>
            <a:ext cx="1739877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de 2 clases</a:t>
            </a:r>
          </a:p>
        </p:txBody>
      </p:sp>
      <p:grpSp>
        <p:nvGrpSpPr>
          <p:cNvPr id="15427" name="Group 67"/>
          <p:cNvGrpSpPr>
            <a:grpSpLocks/>
          </p:cNvGrpSpPr>
          <p:nvPr/>
        </p:nvGrpSpPr>
        <p:grpSpPr bwMode="auto">
          <a:xfrm>
            <a:off x="6357715" y="3014648"/>
            <a:ext cx="3806842" cy="638176"/>
            <a:chOff x="1176" y="2164"/>
            <a:chExt cx="2398" cy="402"/>
          </a:xfrm>
        </p:grpSpPr>
        <p:sp>
          <p:nvSpPr>
            <p:cNvPr id="13365" name="Rectangle 109"/>
            <p:cNvSpPr>
              <a:spLocks noChangeArrowheads="1"/>
            </p:cNvSpPr>
            <p:nvPr/>
          </p:nvSpPr>
          <p:spPr bwMode="auto">
            <a:xfrm>
              <a:off x="3042" y="2164"/>
              <a:ext cx="532" cy="3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72000" rIns="90000" bIns="72000" anchor="ctr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3366" name="Picture 9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9" y="2212"/>
              <a:ext cx="15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67" name="Picture 9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3" y="2216"/>
              <a:ext cx="139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68" name="Picture 9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9" y="2362"/>
              <a:ext cx="15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69" name="Picture 9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9" y="2366"/>
              <a:ext cx="139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70" name="Rectangle 109"/>
            <p:cNvSpPr>
              <a:spLocks noChangeArrowheads="1"/>
            </p:cNvSpPr>
            <p:nvPr/>
          </p:nvSpPr>
          <p:spPr bwMode="auto">
            <a:xfrm>
              <a:off x="1176" y="2172"/>
              <a:ext cx="499" cy="3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72000" rIns="90000" bIns="72000" anchor="ctr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3371" name="Picture 1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8" y="2229"/>
              <a:ext cx="15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72" name="Picture 11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2" y="2233"/>
              <a:ext cx="139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73" name="Picture 11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379"/>
              <a:ext cx="154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74" name="Picture 11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8" y="2383"/>
              <a:ext cx="139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6499999-28ED-457D-BC6B-75953C18145C}"/>
              </a:ext>
            </a:extLst>
          </p:cNvPr>
          <p:cNvGrpSpPr/>
          <p:nvPr/>
        </p:nvGrpSpPr>
        <p:grpSpPr>
          <a:xfrm>
            <a:off x="7299247" y="4187099"/>
            <a:ext cx="1860545" cy="1254129"/>
            <a:chOff x="7157007" y="4187099"/>
            <a:chExt cx="1860545" cy="1254129"/>
          </a:xfrm>
        </p:grpSpPr>
        <p:sp>
          <p:nvSpPr>
            <p:cNvPr id="13355" name="Text Box 44"/>
            <p:cNvSpPr txBox="1">
              <a:spLocks noChangeArrowheads="1"/>
            </p:cNvSpPr>
            <p:nvPr/>
          </p:nvSpPr>
          <p:spPr bwMode="auto">
            <a:xfrm>
              <a:off x="7201457" y="4187099"/>
              <a:ext cx="1816095" cy="1254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72000" rIns="90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990099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30000">
                  <a:solidFill>
                    <a:srgbClr val="990099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  <a:r>
                <a:rPr lang="es-ES" sz="2400">
                  <a:solidFill>
                    <a:srgbClr val="990099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(electrones)</a:t>
              </a:r>
              <a:endParaRPr lang="es-ES" sz="2400" baseline="30000">
                <a:solidFill>
                  <a:srgbClr val="990099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3356" name="Line 27"/>
            <p:cNvSpPr>
              <a:spLocks noChangeShapeType="1"/>
            </p:cNvSpPr>
            <p:nvPr/>
          </p:nvSpPr>
          <p:spPr bwMode="auto">
            <a:xfrm>
              <a:off x="7157007" y="4834801"/>
              <a:ext cx="1844669" cy="0"/>
            </a:xfrm>
            <a:prstGeom prst="lin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72000" rIns="90000" bIns="72000" anchor="ctr" anchorCtr="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21BBC69F-93DC-474F-9ADE-115E1FE51CD3}"/>
              </a:ext>
            </a:extLst>
          </p:cNvPr>
          <p:cNvGrpSpPr/>
          <p:nvPr/>
        </p:nvGrpSpPr>
        <p:grpSpPr>
          <a:xfrm>
            <a:off x="6237213" y="4083911"/>
            <a:ext cx="4027475" cy="1138241"/>
            <a:chOff x="6094973" y="4083911"/>
            <a:chExt cx="4027475" cy="1138241"/>
          </a:xfrm>
        </p:grpSpPr>
        <p:sp>
          <p:nvSpPr>
            <p:cNvPr id="13350" name="Text Box 40"/>
            <p:cNvSpPr txBox="1">
              <a:spLocks noChangeArrowheads="1"/>
            </p:cNvSpPr>
            <p:nvPr/>
          </p:nvSpPr>
          <p:spPr bwMode="auto">
            <a:xfrm>
              <a:off x="6094973" y="4129949"/>
              <a:ext cx="1046159" cy="514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72000" rIns="90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Vidrio</a:t>
              </a:r>
            </a:p>
          </p:txBody>
        </p:sp>
        <p:sp>
          <p:nvSpPr>
            <p:cNvPr id="13351" name="Text Box 42"/>
            <p:cNvSpPr txBox="1">
              <a:spLocks noChangeArrowheads="1"/>
            </p:cNvSpPr>
            <p:nvPr/>
          </p:nvSpPr>
          <p:spPr bwMode="auto">
            <a:xfrm>
              <a:off x="9204876" y="4083911"/>
              <a:ext cx="917572" cy="514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72000" rIns="90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Seda</a:t>
              </a:r>
            </a:p>
          </p:txBody>
        </p:sp>
        <p:sp>
          <p:nvSpPr>
            <p:cNvPr id="13353" name="Rectangle 109"/>
            <p:cNvSpPr>
              <a:spLocks noChangeArrowheads="1"/>
            </p:cNvSpPr>
            <p:nvPr/>
          </p:nvSpPr>
          <p:spPr bwMode="auto">
            <a:xfrm>
              <a:off x="9193764" y="4564925"/>
              <a:ext cx="838197" cy="6223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72000" rIns="90000" bIns="72000" anchor="ctr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54" name="Rectangle 109"/>
            <p:cNvSpPr>
              <a:spLocks noChangeArrowheads="1"/>
            </p:cNvSpPr>
            <p:nvPr/>
          </p:nvSpPr>
          <p:spPr bwMode="auto">
            <a:xfrm>
              <a:off x="6204510" y="4599850"/>
              <a:ext cx="763585" cy="6223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72000" rIns="90000" bIns="72000" anchor="ctr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3357" name="Picture 10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65250" y="4625250"/>
              <a:ext cx="244474" cy="23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58" name="Picture 10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4101" y="4631600"/>
              <a:ext cx="220662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59" name="Picture 10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47751" y="4863376"/>
              <a:ext cx="244474" cy="23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60" name="Picture 10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81125" y="4869726"/>
              <a:ext cx="220662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61" name="Picture 12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1035" y="4658588"/>
              <a:ext cx="220662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62" name="Picture 12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4685" y="4890364"/>
              <a:ext cx="244474" cy="23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63" name="Picture 12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8059" y="4896714"/>
              <a:ext cx="220662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64" name="Picture 12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6500" y="4771301"/>
              <a:ext cx="244474" cy="23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3626E642-8640-4C7A-9451-5BD36464A937}"/>
              </a:ext>
            </a:extLst>
          </p:cNvPr>
          <p:cNvGrpSpPr/>
          <p:nvPr/>
        </p:nvGrpSpPr>
        <p:grpSpPr>
          <a:xfrm>
            <a:off x="7299272" y="5945188"/>
            <a:ext cx="1844685" cy="531815"/>
            <a:chOff x="7157032" y="5945188"/>
            <a:chExt cx="1844685" cy="531815"/>
          </a:xfrm>
        </p:grpSpPr>
        <p:sp>
          <p:nvSpPr>
            <p:cNvPr id="13340" name="Line 28"/>
            <p:cNvSpPr>
              <a:spLocks noChangeShapeType="1"/>
            </p:cNvSpPr>
            <p:nvPr/>
          </p:nvSpPr>
          <p:spPr bwMode="auto">
            <a:xfrm flipH="1">
              <a:off x="7157032" y="6477003"/>
              <a:ext cx="1844685" cy="0"/>
            </a:xfrm>
            <a:prstGeom prst="lin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72000" rIns="90000" bIns="72000" anchor="ctr" anchorCtr="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13341" name="Text Box 29"/>
            <p:cNvSpPr txBox="1">
              <a:spLocks noChangeArrowheads="1"/>
            </p:cNvSpPr>
            <p:nvPr/>
          </p:nvSpPr>
          <p:spPr bwMode="auto">
            <a:xfrm>
              <a:off x="7860298" y="5945188"/>
              <a:ext cx="465140" cy="514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72000" rIns="90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990099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30000" dirty="0">
                  <a:solidFill>
                    <a:srgbClr val="990099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020935EC-BBD5-4A4A-8540-CDD930EB62D0}"/>
              </a:ext>
            </a:extLst>
          </p:cNvPr>
          <p:cNvGrpSpPr/>
          <p:nvPr/>
        </p:nvGrpSpPr>
        <p:grpSpPr>
          <a:xfrm>
            <a:off x="6116578" y="5260973"/>
            <a:ext cx="4089421" cy="1524006"/>
            <a:chOff x="5974338" y="5260973"/>
            <a:chExt cx="4089421" cy="1524006"/>
          </a:xfrm>
        </p:grpSpPr>
        <p:sp>
          <p:nvSpPr>
            <p:cNvPr id="13335" name="Text Box 41"/>
            <p:cNvSpPr txBox="1">
              <a:spLocks noChangeArrowheads="1"/>
            </p:cNvSpPr>
            <p:nvPr/>
          </p:nvSpPr>
          <p:spPr bwMode="auto">
            <a:xfrm>
              <a:off x="5974338" y="5299073"/>
              <a:ext cx="1362082" cy="884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72000" rIns="90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Plástico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Ámbar</a:t>
              </a:r>
            </a:p>
          </p:txBody>
        </p:sp>
        <p:sp>
          <p:nvSpPr>
            <p:cNvPr id="13336" name="Text Box 43"/>
            <p:cNvSpPr txBox="1">
              <a:spLocks noChangeArrowheads="1"/>
            </p:cNvSpPr>
            <p:nvPr/>
          </p:nvSpPr>
          <p:spPr bwMode="auto">
            <a:xfrm>
              <a:off x="9163642" y="5260973"/>
              <a:ext cx="900117" cy="884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72000" rIns="90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Piel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Lana</a:t>
              </a:r>
            </a:p>
          </p:txBody>
        </p:sp>
        <p:sp>
          <p:nvSpPr>
            <p:cNvPr id="13338" name="Rectangle 109"/>
            <p:cNvSpPr>
              <a:spLocks noChangeArrowheads="1"/>
            </p:cNvSpPr>
            <p:nvPr/>
          </p:nvSpPr>
          <p:spPr bwMode="auto">
            <a:xfrm>
              <a:off x="9193805" y="6149976"/>
              <a:ext cx="833442" cy="6223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72000" rIns="90000" bIns="72000" anchor="ctr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39" name="Rectangle 109"/>
            <p:cNvSpPr>
              <a:spLocks noChangeArrowheads="1"/>
            </p:cNvSpPr>
            <p:nvPr/>
          </p:nvSpPr>
          <p:spPr bwMode="auto">
            <a:xfrm>
              <a:off x="6175952" y="6162676"/>
              <a:ext cx="762004" cy="6223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72000" rIns="90000" bIns="72000" anchor="ctr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3342" name="Picture 10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46206" y="6227764"/>
              <a:ext cx="220664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3" name="Picture 10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39856" y="6459540"/>
              <a:ext cx="244476" cy="23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4" name="Picture 10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73233" y="6465890"/>
              <a:ext cx="220664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5" name="Picture 11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0929" y="6248402"/>
              <a:ext cx="244476" cy="23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6" name="Picture 11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778" y="6254752"/>
              <a:ext cx="220664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7" name="Picture 11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3428" y="6486528"/>
              <a:ext cx="244476" cy="23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8" name="Picture 11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6804" y="6492878"/>
              <a:ext cx="220664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9" name="Picture 12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3766" y="6369052"/>
              <a:ext cx="244476" cy="23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63" name="Text Box 60"/>
          <p:cNvSpPr txBox="1">
            <a:spLocks noChangeArrowheads="1"/>
          </p:cNvSpPr>
          <p:nvPr/>
        </p:nvSpPr>
        <p:spPr bwMode="auto">
          <a:xfrm>
            <a:off x="1200345" y="1316162"/>
            <a:ext cx="3530403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 Para e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xplicarlos,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materia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debe poseer:</a:t>
            </a:r>
          </a:p>
        </p:txBody>
      </p:sp>
      <p:sp>
        <p:nvSpPr>
          <p:cNvPr id="2" name="Abrir llave 1"/>
          <p:cNvSpPr/>
          <p:nvPr/>
        </p:nvSpPr>
        <p:spPr bwMode="auto">
          <a:xfrm>
            <a:off x="7817371" y="1392742"/>
            <a:ext cx="251072" cy="1381861"/>
          </a:xfrm>
          <a:prstGeom prst="leftBrace">
            <a:avLst>
              <a:gd name="adj1" fmla="val 8333"/>
              <a:gd name="adj2" fmla="val 39678"/>
            </a:avLst>
          </a:pr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3332" name="Rectángulo 1"/>
          <p:cNvSpPr>
            <a:spLocks noChangeArrowheads="1"/>
          </p:cNvSpPr>
          <p:nvPr/>
        </p:nvSpPr>
        <p:spPr bwMode="auto">
          <a:xfrm>
            <a:off x="3508934" y="4555263"/>
            <a:ext cx="471595" cy="514739"/>
          </a:xfrm>
          <a:prstGeom prst="rect">
            <a:avLst/>
          </a:prstGeom>
          <a:noFill/>
          <a:ln w="28575" algn="ctr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72000" rIns="90000" bIns="72000" anchor="ctr" anchorCtr="0">
            <a:no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endParaRPr lang="en-US" sz="240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B2D5E4D-F808-45ED-8C5A-681D29F4CB62}"/>
              </a:ext>
            </a:extLst>
          </p:cNvPr>
          <p:cNvGrpSpPr/>
          <p:nvPr/>
        </p:nvGrpSpPr>
        <p:grpSpPr>
          <a:xfrm>
            <a:off x="1631347" y="5168444"/>
            <a:ext cx="3900315" cy="1754924"/>
            <a:chOff x="1859679" y="5261935"/>
            <a:chExt cx="3900315" cy="1754924"/>
          </a:xfrm>
        </p:grpSpPr>
        <p:sp>
          <p:nvSpPr>
            <p:cNvPr id="13333" name="Text Box 22"/>
            <p:cNvSpPr txBox="1">
              <a:spLocks noChangeArrowheads="1"/>
            </p:cNvSpPr>
            <p:nvPr/>
          </p:nvSpPr>
          <p:spPr bwMode="auto">
            <a:xfrm>
              <a:off x="1911720" y="5394125"/>
              <a:ext cx="3848274" cy="16227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72000" rIns="90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La </a:t>
              </a: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CARGA DEL CUERPO,</a:t>
              </a:r>
            </a:p>
            <a:p>
              <a:pPr eaLnBrk="1" hangingPunct="1">
                <a:spcBef>
                  <a:spcPts val="0"/>
                </a:spcBef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o su CARGA TOTAL,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o su CARGA NETA,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o su EXCESO DE CARGA</a:t>
              </a:r>
            </a:p>
          </p:txBody>
        </p:sp>
        <p:sp>
          <p:nvSpPr>
            <p:cNvPr id="64" name="Abrir llave 63"/>
            <p:cNvSpPr/>
            <p:nvPr/>
          </p:nvSpPr>
          <p:spPr bwMode="auto">
            <a:xfrm rot="5400000">
              <a:off x="3647424" y="3474190"/>
              <a:ext cx="272783" cy="3848274"/>
            </a:xfrm>
            <a:prstGeom prst="leftBrace">
              <a:avLst>
                <a:gd name="adj1" fmla="val 8333"/>
                <a:gd name="adj2" fmla="val 45070"/>
              </a:avLst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4FE6FDE3-395D-9E54-2B95-9C02B6F5A41C}"/>
              </a:ext>
            </a:extLst>
          </p:cNvPr>
          <p:cNvSpPr/>
          <p:nvPr/>
        </p:nvSpPr>
        <p:spPr bwMode="auto">
          <a:xfrm>
            <a:off x="5777634" y="3105285"/>
            <a:ext cx="303096" cy="450702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3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63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38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38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63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6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3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0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5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5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5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5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5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638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38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6" grpId="0" animBg="1"/>
      <p:bldP spid="163853" grpId="0"/>
      <p:bldP spid="163861" grpId="0" animBg="1"/>
      <p:bldP spid="15420" grpId="0"/>
      <p:bldP spid="15421" grpId="0"/>
      <p:bldP spid="163866" grpId="0" animBg="1"/>
      <p:bldP spid="163854" grpId="0" animBg="1"/>
      <p:bldP spid="10311" grpId="0" animBg="1"/>
      <p:bldP spid="10312" grpId="0" animBg="1"/>
      <p:bldP spid="163901" grpId="0"/>
      <p:bldP spid="10263" grpId="0"/>
      <p:bldP spid="2" grpId="0" animBg="1"/>
      <p:bldP spid="1333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1" name="Text Box 21"/>
          <p:cNvSpPr txBox="1">
            <a:spLocks noChangeArrowheads="1"/>
          </p:cNvSpPr>
          <p:nvPr/>
        </p:nvSpPr>
        <p:spPr bwMode="auto">
          <a:xfrm>
            <a:off x="1257068" y="307683"/>
            <a:ext cx="3611795" cy="83317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LOS CUERPOS PASAN A ESTAR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CARGADOS</a:t>
            </a:r>
          </a:p>
        </p:txBody>
      </p:sp>
      <p:grpSp>
        <p:nvGrpSpPr>
          <p:cNvPr id="55418" name="Group 122"/>
          <p:cNvGrpSpPr>
            <a:grpSpLocks/>
          </p:cNvGrpSpPr>
          <p:nvPr/>
        </p:nvGrpSpPr>
        <p:grpSpPr bwMode="auto">
          <a:xfrm>
            <a:off x="6622596" y="449484"/>
            <a:ext cx="3044826" cy="469900"/>
            <a:chOff x="971" y="2701"/>
            <a:chExt cx="1918" cy="296"/>
          </a:xfrm>
        </p:grpSpPr>
        <p:sp>
          <p:nvSpPr>
            <p:cNvPr id="15414" name="Text Box 20"/>
            <p:cNvSpPr txBox="1">
              <a:spLocks noChangeArrowheads="1"/>
            </p:cNvSpPr>
            <p:nvPr/>
          </p:nvSpPr>
          <p:spPr bwMode="auto">
            <a:xfrm>
              <a:off x="1930" y="2705"/>
              <a:ext cx="95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y   Q  </a:t>
              </a: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 </a:t>
              </a: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5415" name="Text Box 23"/>
            <p:cNvSpPr txBox="1">
              <a:spLocks noChangeArrowheads="1"/>
            </p:cNvSpPr>
            <p:nvPr/>
          </p:nvSpPr>
          <p:spPr bwMode="auto">
            <a:xfrm>
              <a:off x="971" y="2701"/>
              <a:ext cx="87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30000" dirty="0">
                  <a:solidFill>
                    <a:srgbClr val="3333FF"/>
                  </a:solidFill>
                  <a:latin typeface="Arial" panose="020B0604020202020204" pitchFamily="34" charset="0"/>
                </a:rPr>
                <a:t>+</a:t>
              </a: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 |Q</a:t>
              </a:r>
              <a:r>
                <a:rPr lang="es-ES" sz="2400" baseline="30000" dirty="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|</a:t>
              </a:r>
            </a:p>
          </p:txBody>
        </p:sp>
      </p:grpSp>
      <p:sp>
        <p:nvSpPr>
          <p:cNvPr id="55364" name="Text Box 126"/>
          <p:cNvSpPr txBox="1">
            <a:spLocks noChangeArrowheads="1"/>
          </p:cNvSpPr>
          <p:nvPr/>
        </p:nvSpPr>
        <p:spPr bwMode="auto">
          <a:xfrm>
            <a:off x="1257068" y="5400145"/>
            <a:ext cx="4397640" cy="14752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Las cargas o cuerpos cargados con un exceso de carga de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SIGNO CONTRARIO   SE ATRAEN</a:t>
            </a:r>
          </a:p>
        </p:txBody>
      </p:sp>
      <p:sp>
        <p:nvSpPr>
          <p:cNvPr id="15369" name="Text Box 40"/>
          <p:cNvSpPr txBox="1">
            <a:spLocks noChangeArrowheads="1"/>
          </p:cNvSpPr>
          <p:nvPr/>
        </p:nvSpPr>
        <p:spPr bwMode="auto">
          <a:xfrm>
            <a:off x="4373317" y="1403755"/>
            <a:ext cx="104661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Vidrio</a:t>
            </a:r>
          </a:p>
        </p:txBody>
      </p:sp>
      <p:sp>
        <p:nvSpPr>
          <p:cNvPr id="15370" name="Text Box 41"/>
          <p:cNvSpPr txBox="1">
            <a:spLocks noChangeArrowheads="1"/>
          </p:cNvSpPr>
          <p:nvPr/>
        </p:nvSpPr>
        <p:spPr bwMode="auto">
          <a:xfrm>
            <a:off x="4246730" y="4179572"/>
            <a:ext cx="1361569" cy="722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Ámbar</a:t>
            </a:r>
          </a:p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Plástico</a:t>
            </a:r>
          </a:p>
        </p:txBody>
      </p:sp>
      <p:sp>
        <p:nvSpPr>
          <p:cNvPr id="15371" name="Text Box 42"/>
          <p:cNvSpPr txBox="1">
            <a:spLocks noChangeArrowheads="1"/>
          </p:cNvSpPr>
          <p:nvPr/>
        </p:nvSpPr>
        <p:spPr bwMode="auto">
          <a:xfrm>
            <a:off x="6292883" y="1415445"/>
            <a:ext cx="91753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Seda</a:t>
            </a:r>
          </a:p>
        </p:txBody>
      </p:sp>
      <p:sp>
        <p:nvSpPr>
          <p:cNvPr id="15372" name="Text Box 43"/>
          <p:cNvSpPr txBox="1">
            <a:spLocks noChangeArrowheads="1"/>
          </p:cNvSpPr>
          <p:nvPr/>
        </p:nvSpPr>
        <p:spPr bwMode="auto">
          <a:xfrm>
            <a:off x="6268093" y="4201942"/>
            <a:ext cx="899904" cy="722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Lana</a:t>
            </a:r>
          </a:p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Piel</a:t>
            </a:r>
          </a:p>
        </p:txBody>
      </p:sp>
      <p:sp>
        <p:nvSpPr>
          <p:cNvPr id="15373" name="Rectangle 109"/>
          <p:cNvSpPr>
            <a:spLocks noChangeArrowheads="1"/>
          </p:cNvSpPr>
          <p:nvPr/>
        </p:nvSpPr>
        <p:spPr bwMode="auto">
          <a:xfrm>
            <a:off x="6306594" y="1877408"/>
            <a:ext cx="781050" cy="5715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74" name="Rectangle 109"/>
          <p:cNvSpPr>
            <a:spLocks noChangeArrowheads="1"/>
          </p:cNvSpPr>
          <p:nvPr/>
        </p:nvSpPr>
        <p:spPr bwMode="auto">
          <a:xfrm>
            <a:off x="4434653" y="1878996"/>
            <a:ext cx="781050" cy="5715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5375" name="Picture 1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981" y="1931383"/>
            <a:ext cx="244475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6" name="Picture 10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831" y="1937733"/>
            <a:ext cx="220663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7" name="Picture 10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2481" y="2169508"/>
            <a:ext cx="244475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8" name="Picture 10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856" y="2175858"/>
            <a:ext cx="220663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9" name="Picture 1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365" y="1920271"/>
            <a:ext cx="220663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0" name="Picture 1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015" y="2152046"/>
            <a:ext cx="244475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1" name="Picture 12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390" y="2158396"/>
            <a:ext cx="220663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2" name="Picture 1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231" y="2077433"/>
            <a:ext cx="244475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83" name="Rectangle 109"/>
          <p:cNvSpPr>
            <a:spLocks noChangeArrowheads="1"/>
          </p:cNvSpPr>
          <p:nvPr/>
        </p:nvSpPr>
        <p:spPr bwMode="auto">
          <a:xfrm>
            <a:off x="6295481" y="3447446"/>
            <a:ext cx="781050" cy="5715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84" name="Rectangle 109"/>
          <p:cNvSpPr>
            <a:spLocks noChangeArrowheads="1"/>
          </p:cNvSpPr>
          <p:nvPr/>
        </p:nvSpPr>
        <p:spPr bwMode="auto">
          <a:xfrm>
            <a:off x="4434653" y="3449033"/>
            <a:ext cx="781050" cy="5715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5385" name="Picture 10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006" y="3496658"/>
            <a:ext cx="220663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6" name="Picture 1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5656" y="3728433"/>
            <a:ext cx="244475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7" name="Picture 10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031" y="3734783"/>
            <a:ext cx="220663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8" name="Picture 1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690" y="3517296"/>
            <a:ext cx="244475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9" name="Picture 1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0540" y="3523646"/>
            <a:ext cx="220663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90" name="Picture 1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190" y="3755421"/>
            <a:ext cx="244475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91" name="Picture 1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7565" y="3761771"/>
            <a:ext cx="220663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92" name="Picture 1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528" y="3637946"/>
            <a:ext cx="244475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417" name="Text Box 126"/>
          <p:cNvSpPr txBox="1">
            <a:spLocks noChangeArrowheads="1"/>
          </p:cNvSpPr>
          <p:nvPr/>
        </p:nvSpPr>
        <p:spPr bwMode="auto">
          <a:xfrm>
            <a:off x="5890437" y="5403392"/>
            <a:ext cx="4423144" cy="1475213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Las cargas o cuerpos cargados con un exceso de carga del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MISMO SIGNO     SE REPELEN</a:t>
            </a:r>
          </a:p>
        </p:txBody>
      </p:sp>
      <p:grpSp>
        <p:nvGrpSpPr>
          <p:cNvPr id="55447" name="Group 151"/>
          <p:cNvGrpSpPr>
            <a:grpSpLocks/>
          </p:cNvGrpSpPr>
          <p:nvPr/>
        </p:nvGrpSpPr>
        <p:grpSpPr bwMode="auto">
          <a:xfrm>
            <a:off x="4593685" y="2517171"/>
            <a:ext cx="2382838" cy="849313"/>
            <a:chOff x="4803" y="1574"/>
            <a:chExt cx="1501" cy="535"/>
          </a:xfrm>
          <a:solidFill>
            <a:srgbClr val="008000"/>
          </a:solidFill>
        </p:grpSpPr>
        <p:sp>
          <p:nvSpPr>
            <p:cNvPr id="4" name="AutoShape 168"/>
            <p:cNvSpPr>
              <a:spLocks noChangeArrowheads="1"/>
            </p:cNvSpPr>
            <p:nvPr/>
          </p:nvSpPr>
          <p:spPr bwMode="auto">
            <a:xfrm rot="16200000" flipH="1">
              <a:off x="6033" y="1550"/>
              <a:ext cx="233" cy="298"/>
            </a:xfrm>
            <a:prstGeom prst="rightArrow">
              <a:avLst>
                <a:gd name="adj1" fmla="val 55037"/>
                <a:gd name="adj2" fmla="val 50213"/>
              </a:avLst>
            </a:prstGeom>
            <a:grpFill/>
            <a:ln w="12700" algn="ctr">
              <a:noFill/>
              <a:miter lim="800000"/>
              <a:headEnd/>
              <a:tailEnd/>
            </a:ln>
          </p:spPr>
          <p:txBody>
            <a:bodyPr vert="eaVert"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" name="AutoShape 168"/>
            <p:cNvSpPr>
              <a:spLocks noChangeArrowheads="1"/>
            </p:cNvSpPr>
            <p:nvPr/>
          </p:nvSpPr>
          <p:spPr bwMode="auto">
            <a:xfrm rot="16200000" flipH="1">
              <a:off x="4835" y="1542"/>
              <a:ext cx="233" cy="298"/>
            </a:xfrm>
            <a:prstGeom prst="rightArrow">
              <a:avLst>
                <a:gd name="adj1" fmla="val 55037"/>
                <a:gd name="adj2" fmla="val 50213"/>
              </a:avLst>
            </a:prstGeom>
            <a:grpFill/>
            <a:ln w="12700" algn="ctr">
              <a:noFill/>
              <a:miter lim="800000"/>
              <a:headEnd/>
              <a:tailEnd/>
            </a:ln>
          </p:spPr>
          <p:txBody>
            <a:bodyPr vert="eaVert"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AutoShape 168"/>
            <p:cNvSpPr>
              <a:spLocks noChangeArrowheads="1"/>
            </p:cNvSpPr>
            <p:nvPr/>
          </p:nvSpPr>
          <p:spPr bwMode="auto">
            <a:xfrm rot="5400000" flipH="1" flipV="1">
              <a:off x="6038" y="1844"/>
              <a:ext cx="233" cy="298"/>
            </a:xfrm>
            <a:prstGeom prst="rightArrow">
              <a:avLst>
                <a:gd name="adj1" fmla="val 55037"/>
                <a:gd name="adj2" fmla="val 50213"/>
              </a:avLst>
            </a:prstGeom>
            <a:grpFill/>
            <a:ln w="12700" algn="ctr">
              <a:noFill/>
              <a:miter lim="800000"/>
              <a:headEnd/>
              <a:tailEnd/>
            </a:ln>
          </p:spPr>
          <p:txBody>
            <a:bodyPr vert="eaVert"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AutoShape 168"/>
            <p:cNvSpPr>
              <a:spLocks noChangeArrowheads="1"/>
            </p:cNvSpPr>
            <p:nvPr/>
          </p:nvSpPr>
          <p:spPr bwMode="auto">
            <a:xfrm rot="5400000" flipH="1" flipV="1">
              <a:off x="4837" y="1822"/>
              <a:ext cx="233" cy="298"/>
            </a:xfrm>
            <a:prstGeom prst="rightArrow">
              <a:avLst>
                <a:gd name="adj1" fmla="val 55037"/>
                <a:gd name="adj2" fmla="val 50213"/>
              </a:avLst>
            </a:prstGeom>
            <a:grpFill/>
            <a:ln w="12700" algn="ctr">
              <a:noFill/>
              <a:miter lim="800000"/>
              <a:headEnd/>
              <a:tailEnd/>
            </a:ln>
          </p:spPr>
          <p:txBody>
            <a:bodyPr vert="eaVert"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5446" name="Group 150"/>
          <p:cNvGrpSpPr>
            <a:grpSpLocks/>
          </p:cNvGrpSpPr>
          <p:nvPr/>
        </p:nvGrpSpPr>
        <p:grpSpPr bwMode="auto">
          <a:xfrm>
            <a:off x="5338216" y="1953608"/>
            <a:ext cx="873125" cy="2052638"/>
            <a:chOff x="5272" y="1219"/>
            <a:chExt cx="550" cy="1293"/>
          </a:xfrm>
          <a:solidFill>
            <a:srgbClr val="008000"/>
          </a:solidFill>
        </p:grpSpPr>
        <p:sp>
          <p:nvSpPr>
            <p:cNvPr id="2" name="AutoShape 167"/>
            <p:cNvSpPr>
              <a:spLocks noChangeArrowheads="1"/>
            </p:cNvSpPr>
            <p:nvPr/>
          </p:nvSpPr>
          <p:spPr bwMode="auto">
            <a:xfrm>
              <a:off x="5272" y="2214"/>
              <a:ext cx="233" cy="298"/>
            </a:xfrm>
            <a:prstGeom prst="rightArrow">
              <a:avLst>
                <a:gd name="adj1" fmla="val 55037"/>
                <a:gd name="adj2" fmla="val 50213"/>
              </a:avLst>
            </a:prstGeom>
            <a:grpFill/>
            <a:ln w="12700" algn="ctr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410" name="AutoShape 168"/>
            <p:cNvSpPr>
              <a:spLocks noChangeArrowheads="1"/>
            </p:cNvSpPr>
            <p:nvPr/>
          </p:nvSpPr>
          <p:spPr bwMode="auto">
            <a:xfrm flipH="1">
              <a:off x="5574" y="2214"/>
              <a:ext cx="233" cy="298"/>
            </a:xfrm>
            <a:prstGeom prst="rightArrow">
              <a:avLst>
                <a:gd name="adj1" fmla="val 55037"/>
                <a:gd name="adj2" fmla="val 50213"/>
              </a:avLst>
            </a:prstGeom>
            <a:grpFill/>
            <a:ln w="12700" algn="ctr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411" name="AutoShape 167"/>
            <p:cNvSpPr>
              <a:spLocks noChangeArrowheads="1"/>
            </p:cNvSpPr>
            <p:nvPr/>
          </p:nvSpPr>
          <p:spPr bwMode="auto">
            <a:xfrm>
              <a:off x="5275" y="1219"/>
              <a:ext cx="233" cy="298"/>
            </a:xfrm>
            <a:prstGeom prst="rightArrow">
              <a:avLst>
                <a:gd name="adj1" fmla="val 55037"/>
                <a:gd name="adj2" fmla="val 50213"/>
              </a:avLst>
            </a:prstGeom>
            <a:grpFill/>
            <a:ln w="12700" algn="ctr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412" name="AutoShape 168"/>
            <p:cNvSpPr>
              <a:spLocks noChangeArrowheads="1"/>
            </p:cNvSpPr>
            <p:nvPr/>
          </p:nvSpPr>
          <p:spPr bwMode="auto">
            <a:xfrm flipH="1">
              <a:off x="5589" y="1219"/>
              <a:ext cx="233" cy="298"/>
            </a:xfrm>
            <a:prstGeom prst="rightArrow">
              <a:avLst>
                <a:gd name="adj1" fmla="val 55037"/>
                <a:gd name="adj2" fmla="val 50213"/>
              </a:avLst>
            </a:prstGeom>
            <a:grpFill/>
            <a:ln w="12700" algn="ctr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3793091" y="1309078"/>
            <a:ext cx="3998880" cy="3258715"/>
            <a:chOff x="3793091" y="1581142"/>
            <a:chExt cx="3998880" cy="3258715"/>
          </a:xfrm>
        </p:grpSpPr>
        <p:sp>
          <p:nvSpPr>
            <p:cNvPr id="15408" name="AutoShape 167"/>
            <p:cNvSpPr>
              <a:spLocks noChangeArrowheads="1"/>
            </p:cNvSpPr>
            <p:nvPr/>
          </p:nvSpPr>
          <p:spPr bwMode="auto">
            <a:xfrm rot="19553802" flipV="1">
              <a:off x="7422083" y="1610281"/>
              <a:ext cx="369888" cy="473075"/>
            </a:xfrm>
            <a:prstGeom prst="rightArrow">
              <a:avLst>
                <a:gd name="adj1" fmla="val 55037"/>
                <a:gd name="adj2" fmla="val 50213"/>
              </a:avLst>
            </a:prstGeom>
            <a:solidFill>
              <a:srgbClr val="0000FF"/>
            </a:solidFill>
            <a:ln w="12700" algn="ctr">
              <a:noFill/>
              <a:miter lim="800000"/>
              <a:headEnd/>
              <a:tailEnd/>
            </a:ln>
          </p:spPr>
          <p:txBody>
            <a:bodyPr rot="10800000"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dirty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409" name="AutoShape 167"/>
            <p:cNvSpPr>
              <a:spLocks noChangeArrowheads="1"/>
            </p:cNvSpPr>
            <p:nvPr/>
          </p:nvSpPr>
          <p:spPr bwMode="auto">
            <a:xfrm rot="19493138" flipH="1">
              <a:off x="3793091" y="4357388"/>
              <a:ext cx="369888" cy="473075"/>
            </a:xfrm>
            <a:prstGeom prst="rightArrow">
              <a:avLst>
                <a:gd name="adj1" fmla="val 55037"/>
                <a:gd name="adj2" fmla="val 50213"/>
              </a:avLst>
            </a:prstGeom>
            <a:solidFill>
              <a:srgbClr val="0000FF"/>
            </a:solidFill>
            <a:ln w="12700" algn="ctr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406" name="AutoShape 167"/>
            <p:cNvSpPr>
              <a:spLocks noChangeArrowheads="1"/>
            </p:cNvSpPr>
            <p:nvPr/>
          </p:nvSpPr>
          <p:spPr bwMode="auto">
            <a:xfrm rot="2234179">
              <a:off x="7417806" y="4366782"/>
              <a:ext cx="369888" cy="473075"/>
            </a:xfrm>
            <a:prstGeom prst="rightArrow">
              <a:avLst>
                <a:gd name="adj1" fmla="val 55037"/>
                <a:gd name="adj2" fmla="val 50213"/>
              </a:avLst>
            </a:prstGeom>
            <a:solidFill>
              <a:srgbClr val="0000FF"/>
            </a:solidFill>
            <a:ln w="12700" algn="ctr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407" name="AutoShape 167"/>
            <p:cNvSpPr>
              <a:spLocks noChangeArrowheads="1"/>
            </p:cNvSpPr>
            <p:nvPr/>
          </p:nvSpPr>
          <p:spPr bwMode="auto">
            <a:xfrm rot="2327299" flipH="1" flipV="1">
              <a:off x="3796610" y="1581142"/>
              <a:ext cx="369888" cy="473075"/>
            </a:xfrm>
            <a:prstGeom prst="rightArrow">
              <a:avLst>
                <a:gd name="adj1" fmla="val 55037"/>
                <a:gd name="adj2" fmla="val 50213"/>
              </a:avLst>
            </a:prstGeom>
            <a:solidFill>
              <a:srgbClr val="0000FF"/>
            </a:solidFill>
            <a:ln w="12700" algn="ctr">
              <a:noFill/>
              <a:miter lim="800000"/>
              <a:headEnd/>
              <a:tailEnd/>
            </a:ln>
          </p:spPr>
          <p:txBody>
            <a:bodyPr rot="10800000"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3276000" y="1929334"/>
            <a:ext cx="4910771" cy="2051107"/>
            <a:chOff x="3276318" y="2543822"/>
            <a:chExt cx="4910607" cy="2051884"/>
          </a:xfrm>
        </p:grpSpPr>
        <p:sp>
          <p:nvSpPr>
            <p:cNvPr id="15398" name="CuadroTexto 1"/>
            <p:cNvSpPr txBox="1">
              <a:spLocks noChangeArrowheads="1"/>
            </p:cNvSpPr>
            <p:nvPr/>
          </p:nvSpPr>
          <p:spPr bwMode="auto">
            <a:xfrm>
              <a:off x="3281053" y="2543822"/>
              <a:ext cx="944456" cy="4618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0000FF"/>
                  </a:solidFill>
                </a:rPr>
                <a:t>Q &gt; 0</a:t>
              </a:r>
            </a:p>
          </p:txBody>
        </p:sp>
        <p:sp>
          <p:nvSpPr>
            <p:cNvPr id="15399" name="CuadroTexto 61"/>
            <p:cNvSpPr txBox="1">
              <a:spLocks noChangeArrowheads="1"/>
            </p:cNvSpPr>
            <p:nvPr/>
          </p:nvSpPr>
          <p:spPr bwMode="auto">
            <a:xfrm>
              <a:off x="7242469" y="2548809"/>
              <a:ext cx="944456" cy="4618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0000FF"/>
                  </a:solidFill>
                </a:rPr>
                <a:t>Q &lt; 0</a:t>
              </a:r>
            </a:p>
          </p:txBody>
        </p:sp>
        <p:sp>
          <p:nvSpPr>
            <p:cNvPr id="15400" name="CuadroTexto 62"/>
            <p:cNvSpPr txBox="1">
              <a:spLocks noChangeArrowheads="1"/>
            </p:cNvSpPr>
            <p:nvPr/>
          </p:nvSpPr>
          <p:spPr bwMode="auto">
            <a:xfrm>
              <a:off x="3276318" y="4122917"/>
              <a:ext cx="944456" cy="4618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0000FF"/>
                  </a:solidFill>
                </a:rPr>
                <a:t>Q &lt; 0</a:t>
              </a:r>
            </a:p>
          </p:txBody>
        </p:sp>
        <p:sp>
          <p:nvSpPr>
            <p:cNvPr id="15401" name="CuadroTexto 63"/>
            <p:cNvSpPr txBox="1">
              <a:spLocks noChangeArrowheads="1"/>
            </p:cNvSpPr>
            <p:nvPr/>
          </p:nvSpPr>
          <p:spPr bwMode="auto">
            <a:xfrm>
              <a:off x="7242467" y="4133865"/>
              <a:ext cx="944456" cy="4618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0000FF"/>
                  </a:solidFill>
                </a:rPr>
                <a:t>Q &gt; 0</a:t>
              </a:r>
            </a:p>
          </p:txBody>
        </p:sp>
      </p:grpSp>
      <p:sp>
        <p:nvSpPr>
          <p:cNvPr id="52" name="Text Box 26">
            <a:extLst>
              <a:ext uri="{FF2B5EF4-FFF2-40B4-BE49-F238E27FC236}">
                <a16:creationId xmlns:a16="http://schemas.microsoft.com/office/drawing/2014/main" id="{F34A6792-ED0C-46B6-8648-4CC72A930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068" y="4905139"/>
            <a:ext cx="2182947" cy="425404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 partir de ahí:</a:t>
            </a:r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45397F0B-6C4A-44F2-820F-06EA4E932C0A}"/>
              </a:ext>
            </a:extLst>
          </p:cNvPr>
          <p:cNvSpPr/>
          <p:nvPr/>
        </p:nvSpPr>
        <p:spPr bwMode="auto">
          <a:xfrm>
            <a:off x="5400675" y="467994"/>
            <a:ext cx="746214" cy="450702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3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0" dur="500"/>
                                        <p:tgtEl>
                                          <p:spTgt spid="5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1" grpId="0" animBg="1"/>
      <p:bldP spid="55364" grpId="0" animBg="1"/>
      <p:bldP spid="55417" grpId="0" animBg="1"/>
      <p:bldP spid="52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19" name="Text Box 71"/>
          <p:cNvSpPr txBox="1">
            <a:spLocks noChangeArrowheads="1"/>
          </p:cNvSpPr>
          <p:nvPr/>
        </p:nvSpPr>
        <p:spPr bwMode="auto">
          <a:xfrm>
            <a:off x="1308827" y="334751"/>
            <a:ext cx="3480952" cy="132610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denominación de las cargas </a:t>
            </a:r>
            <a:r>
              <a:rPr lang="es-ES" sz="2400">
                <a:latin typeface="Arial" panose="020B0604020202020204" pitchFamily="34" charset="0"/>
              </a:rPr>
              <a:t>y su asignación son </a:t>
            </a:r>
            <a:r>
              <a:rPr lang="es-ES" sz="2400" b="1">
                <a:latin typeface="Arial" panose="020B0604020202020204" pitchFamily="34" charset="0"/>
              </a:rPr>
              <a:t>arbitrarias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17460" name="Text Box 76"/>
          <p:cNvSpPr txBox="1">
            <a:spLocks noChangeArrowheads="1"/>
          </p:cNvSpPr>
          <p:nvPr/>
        </p:nvSpPr>
        <p:spPr bwMode="auto">
          <a:xfrm>
            <a:off x="2659482" y="3370716"/>
            <a:ext cx="1408549" cy="463846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Du </a:t>
            </a:r>
            <a:r>
              <a:rPr lang="es-ES" sz="2400" dirty="0" err="1">
                <a:latin typeface="Arial" panose="020B0604020202020204" pitchFamily="34" charset="0"/>
              </a:rPr>
              <a:t>Fay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06936" name="Text Box 88"/>
          <p:cNvSpPr txBox="1">
            <a:spLocks noChangeArrowheads="1"/>
          </p:cNvSpPr>
          <p:nvPr/>
        </p:nvSpPr>
        <p:spPr bwMode="auto">
          <a:xfrm>
            <a:off x="4723583" y="4049599"/>
            <a:ext cx="568228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Q</a:t>
            </a:r>
            <a:r>
              <a:rPr lang="es-ES" sz="2400" baseline="30000">
                <a:solidFill>
                  <a:srgbClr val="3333FF"/>
                </a:solidFill>
                <a:latin typeface="Arial" panose="020B0604020202020204" pitchFamily="34" charset="0"/>
              </a:rPr>
              <a:t>+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: 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del vidrio tras frotarlo con seda</a:t>
            </a:r>
          </a:p>
        </p:txBody>
      </p:sp>
      <p:sp>
        <p:nvSpPr>
          <p:cNvPr id="17452" name="Text Box 80"/>
          <p:cNvSpPr txBox="1">
            <a:spLocks noChangeArrowheads="1"/>
          </p:cNvSpPr>
          <p:nvPr/>
        </p:nvSpPr>
        <p:spPr bwMode="auto">
          <a:xfrm>
            <a:off x="2659481" y="2734710"/>
            <a:ext cx="1408549" cy="53654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Franklin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436" name="Text Box 88"/>
          <p:cNvSpPr txBox="1">
            <a:spLocks noChangeArrowheads="1"/>
          </p:cNvSpPr>
          <p:nvPr/>
        </p:nvSpPr>
        <p:spPr bwMode="auto">
          <a:xfrm>
            <a:off x="8664523" y="2115271"/>
            <a:ext cx="94797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Q &lt; 0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CAC3E73-26A0-70B5-CAF4-F0B3EA4CCAF4}"/>
              </a:ext>
            </a:extLst>
          </p:cNvPr>
          <p:cNvGrpSpPr/>
          <p:nvPr/>
        </p:nvGrpSpPr>
        <p:grpSpPr>
          <a:xfrm>
            <a:off x="6643077" y="762408"/>
            <a:ext cx="1628229" cy="465304"/>
            <a:chOff x="6643077" y="813778"/>
            <a:chExt cx="1628229" cy="465304"/>
          </a:xfrm>
        </p:grpSpPr>
        <p:sp>
          <p:nvSpPr>
            <p:cNvPr id="17437" name="Text Box 44"/>
            <p:cNvSpPr txBox="1">
              <a:spLocks noChangeArrowheads="1"/>
            </p:cNvSpPr>
            <p:nvPr/>
          </p:nvSpPr>
          <p:spPr bwMode="auto">
            <a:xfrm>
              <a:off x="7176270" y="813778"/>
              <a:ext cx="561843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990099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30000" dirty="0">
                  <a:solidFill>
                    <a:srgbClr val="990099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17443" name="Line 27"/>
            <p:cNvSpPr>
              <a:spLocks noChangeShapeType="1"/>
            </p:cNvSpPr>
            <p:nvPr/>
          </p:nvSpPr>
          <p:spPr bwMode="auto">
            <a:xfrm>
              <a:off x="6643077" y="1279082"/>
              <a:ext cx="1628229" cy="0"/>
            </a:xfrm>
            <a:prstGeom prst="lin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A8928392-5BC1-4B97-B222-3CE5BF6A2CFF}"/>
              </a:ext>
            </a:extLst>
          </p:cNvPr>
          <p:cNvGrpSpPr/>
          <p:nvPr/>
        </p:nvGrpSpPr>
        <p:grpSpPr>
          <a:xfrm>
            <a:off x="8559516" y="293229"/>
            <a:ext cx="1157989" cy="1879264"/>
            <a:chOff x="4236301" y="1747900"/>
            <a:chExt cx="1157989" cy="1879264"/>
          </a:xfrm>
        </p:grpSpPr>
        <p:sp>
          <p:nvSpPr>
            <p:cNvPr id="17441" name="Rectangle 109"/>
            <p:cNvSpPr>
              <a:spLocks noChangeArrowheads="1"/>
            </p:cNvSpPr>
            <p:nvPr/>
          </p:nvSpPr>
          <p:spPr bwMode="auto">
            <a:xfrm flipH="1">
              <a:off x="4417867" y="2357930"/>
              <a:ext cx="711035" cy="6159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7444" name="Picture 10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521031" y="2435718"/>
              <a:ext cx="244418" cy="23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45" name="Picture 10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855916" y="2442068"/>
              <a:ext cx="220611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46" name="Picture 10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838457" y="2673843"/>
              <a:ext cx="244418" cy="23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47" name="Picture 10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528966" y="2680193"/>
              <a:ext cx="220611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51" name="Picture 12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679744" y="2581768"/>
              <a:ext cx="244418" cy="23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39" name="Text Box 77"/>
            <p:cNvSpPr txBox="1">
              <a:spLocks noChangeArrowheads="1"/>
            </p:cNvSpPr>
            <p:nvPr/>
          </p:nvSpPr>
          <p:spPr bwMode="auto">
            <a:xfrm>
              <a:off x="4303700" y="1747900"/>
              <a:ext cx="917541" cy="5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 b="1"/>
                <a:t>Seda</a:t>
              </a:r>
            </a:p>
          </p:txBody>
        </p:sp>
        <p:sp>
          <p:nvSpPr>
            <p:cNvPr id="17432" name="Text Box 86"/>
            <p:cNvSpPr txBox="1">
              <a:spLocks noChangeArrowheads="1"/>
            </p:cNvSpPr>
            <p:nvPr/>
          </p:nvSpPr>
          <p:spPr bwMode="auto">
            <a:xfrm>
              <a:off x="4236301" y="3090616"/>
              <a:ext cx="1157989" cy="536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 b="1" dirty="0"/>
                <a:t>Ámbar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7843A47C-8A04-435D-8DEC-87FBB67667CF}"/>
              </a:ext>
            </a:extLst>
          </p:cNvPr>
          <p:cNvGrpSpPr/>
          <p:nvPr/>
        </p:nvGrpSpPr>
        <p:grpSpPr>
          <a:xfrm>
            <a:off x="5271986" y="284038"/>
            <a:ext cx="1046614" cy="1890291"/>
            <a:chOff x="6217847" y="1728191"/>
            <a:chExt cx="1046614" cy="1890291"/>
          </a:xfrm>
        </p:grpSpPr>
        <p:sp>
          <p:nvSpPr>
            <p:cNvPr id="17442" name="Rectangle 109"/>
            <p:cNvSpPr>
              <a:spLocks noChangeArrowheads="1"/>
            </p:cNvSpPr>
            <p:nvPr/>
          </p:nvSpPr>
          <p:spPr bwMode="auto">
            <a:xfrm flipH="1">
              <a:off x="6368453" y="2381743"/>
              <a:ext cx="760236" cy="6159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7448" name="Picture 12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816024" y="2446830"/>
              <a:ext cx="220611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49" name="Picture 12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798565" y="2678605"/>
              <a:ext cx="244418" cy="23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50" name="Picture 12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489075" y="2684955"/>
              <a:ext cx="220611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40" name="Text Box 78"/>
            <p:cNvSpPr txBox="1">
              <a:spLocks noChangeArrowheads="1"/>
            </p:cNvSpPr>
            <p:nvPr/>
          </p:nvSpPr>
          <p:spPr bwMode="auto">
            <a:xfrm>
              <a:off x="6217847" y="1728191"/>
              <a:ext cx="1046614" cy="5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 b="1" dirty="0"/>
                <a:t>Vidrio</a:t>
              </a:r>
            </a:p>
          </p:txBody>
        </p:sp>
        <p:sp>
          <p:nvSpPr>
            <p:cNvPr id="17433" name="Text Box 87"/>
            <p:cNvSpPr txBox="1">
              <a:spLocks noChangeArrowheads="1"/>
            </p:cNvSpPr>
            <p:nvPr/>
          </p:nvSpPr>
          <p:spPr bwMode="auto">
            <a:xfrm>
              <a:off x="6300105" y="3081934"/>
              <a:ext cx="899905" cy="536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2400" b="1" dirty="0"/>
                <a:t>Lana</a:t>
              </a:r>
            </a:p>
          </p:txBody>
        </p:sp>
      </p:grpSp>
      <p:sp>
        <p:nvSpPr>
          <p:cNvPr id="17434" name="Text Box 88"/>
          <p:cNvSpPr txBox="1">
            <a:spLocks noChangeArrowheads="1"/>
          </p:cNvSpPr>
          <p:nvPr/>
        </p:nvSpPr>
        <p:spPr bwMode="auto">
          <a:xfrm>
            <a:off x="5305784" y="2117547"/>
            <a:ext cx="97901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Q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&gt; 0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38" name="Text Box 76">
            <a:extLst>
              <a:ext uri="{FF2B5EF4-FFF2-40B4-BE49-F238E27FC236}">
                <a16:creationId xmlns:a16="http://schemas.microsoft.com/office/drawing/2014/main" id="{75AC60DD-AD5B-4CF2-9798-F8B8A43C8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29" y="3035986"/>
            <a:ext cx="2160000" cy="504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Denominación</a:t>
            </a:r>
          </a:p>
        </p:txBody>
      </p:sp>
      <p:sp>
        <p:nvSpPr>
          <p:cNvPr id="33" name="Text Box 76">
            <a:extLst>
              <a:ext uri="{FF2B5EF4-FFF2-40B4-BE49-F238E27FC236}">
                <a16:creationId xmlns:a16="http://schemas.microsoft.com/office/drawing/2014/main" id="{FDBE0E4C-1D0E-4955-B7F6-01873A518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165" y="4047243"/>
            <a:ext cx="2160000" cy="46384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Asignación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60E058E7-5ABB-4B21-96AB-DFEC7AB231E8}"/>
              </a:ext>
            </a:extLst>
          </p:cNvPr>
          <p:cNvGrpSpPr/>
          <p:nvPr/>
        </p:nvGrpSpPr>
        <p:grpSpPr>
          <a:xfrm>
            <a:off x="6626679" y="1719177"/>
            <a:ext cx="1628229" cy="382661"/>
            <a:chOff x="6509515" y="2227202"/>
            <a:chExt cx="1628229" cy="382661"/>
          </a:xfrm>
        </p:grpSpPr>
        <p:sp>
          <p:nvSpPr>
            <p:cNvPr id="2" name="Line 27">
              <a:extLst>
                <a:ext uri="{FF2B5EF4-FFF2-40B4-BE49-F238E27FC236}">
                  <a16:creationId xmlns:a16="http://schemas.microsoft.com/office/drawing/2014/main" id="{8C66C157-E4E2-43B3-A899-CB174AA0A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09515" y="2425933"/>
              <a:ext cx="162822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7" name="Text Box 86">
              <a:extLst>
                <a:ext uri="{FF2B5EF4-FFF2-40B4-BE49-F238E27FC236}">
                  <a16:creationId xmlns:a16="http://schemas.microsoft.com/office/drawing/2014/main" id="{AA1D3344-9755-48ED-A50D-CA93D0C65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8399" y="2227202"/>
              <a:ext cx="915420" cy="382661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1400" b="1"/>
                <a:t>FROTAR</a:t>
              </a:r>
              <a:endParaRPr lang="es-ES" sz="1400" b="1" dirty="0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172660CC-591E-410C-A7C1-1A94DF0F2ABA}"/>
              </a:ext>
            </a:extLst>
          </p:cNvPr>
          <p:cNvGrpSpPr/>
          <p:nvPr/>
        </p:nvGrpSpPr>
        <p:grpSpPr>
          <a:xfrm>
            <a:off x="6626679" y="366556"/>
            <a:ext cx="1628229" cy="382661"/>
            <a:chOff x="6476719" y="730745"/>
            <a:chExt cx="1628229" cy="382661"/>
          </a:xfrm>
        </p:grpSpPr>
        <p:sp>
          <p:nvSpPr>
            <p:cNvPr id="5" name="Line 27">
              <a:extLst>
                <a:ext uri="{FF2B5EF4-FFF2-40B4-BE49-F238E27FC236}">
                  <a16:creationId xmlns:a16="http://schemas.microsoft.com/office/drawing/2014/main" id="{5C19B8A4-74DB-4CB6-9ED4-39C7AADB8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76719" y="922253"/>
              <a:ext cx="162822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8" name="Text Box 86">
              <a:extLst>
                <a:ext uri="{FF2B5EF4-FFF2-40B4-BE49-F238E27FC236}">
                  <a16:creationId xmlns:a16="http://schemas.microsoft.com/office/drawing/2014/main" id="{A4D84F0A-3EED-42BB-B387-0A1CF6827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3123" y="730745"/>
              <a:ext cx="915420" cy="382661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s-ES" sz="1400" b="1"/>
                <a:t>FROTAR</a:t>
              </a:r>
              <a:endParaRPr lang="es-ES" sz="1400" b="1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1C13A3F-781D-CC41-7C57-9F4B2B9974BE}"/>
              </a:ext>
            </a:extLst>
          </p:cNvPr>
          <p:cNvGrpSpPr/>
          <p:nvPr/>
        </p:nvGrpSpPr>
        <p:grpSpPr>
          <a:xfrm>
            <a:off x="4956937" y="2750984"/>
            <a:ext cx="5143217" cy="549093"/>
            <a:chOff x="4956937" y="3429068"/>
            <a:chExt cx="5143217" cy="549093"/>
          </a:xfrm>
        </p:grpSpPr>
        <p:sp>
          <p:nvSpPr>
            <p:cNvPr id="17454" name="Text Box 17"/>
            <p:cNvSpPr txBox="1">
              <a:spLocks noChangeArrowheads="1"/>
            </p:cNvSpPr>
            <p:nvPr/>
          </p:nvSpPr>
          <p:spPr bwMode="auto">
            <a:xfrm>
              <a:off x="4956937" y="3429068"/>
              <a:ext cx="1800000" cy="5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POSITIVA </a:t>
              </a:r>
            </a:p>
          </p:txBody>
        </p:sp>
        <p:sp>
          <p:nvSpPr>
            <p:cNvPr id="17455" name="Text Box 18"/>
            <p:cNvSpPr txBox="1">
              <a:spLocks noChangeArrowheads="1"/>
            </p:cNvSpPr>
            <p:nvPr/>
          </p:nvSpPr>
          <p:spPr bwMode="auto">
            <a:xfrm>
              <a:off x="8300154" y="3429068"/>
              <a:ext cx="1800000" cy="5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NEGATIVA</a:t>
              </a:r>
            </a:p>
          </p:txBody>
        </p:sp>
        <p:sp>
          <p:nvSpPr>
            <p:cNvPr id="11" name="Text Box 88">
              <a:extLst>
                <a:ext uri="{FF2B5EF4-FFF2-40B4-BE49-F238E27FC236}">
                  <a16:creationId xmlns:a16="http://schemas.microsoft.com/office/drawing/2014/main" id="{FD8CB990-D068-489D-B0A4-3D37A978B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9908" y="3441612"/>
              <a:ext cx="979019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y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6D08519F-1F11-88E3-9484-4DDEC8FDF0E1}"/>
              </a:ext>
            </a:extLst>
          </p:cNvPr>
          <p:cNvGrpSpPr/>
          <p:nvPr/>
        </p:nvGrpSpPr>
        <p:grpSpPr>
          <a:xfrm>
            <a:off x="4956937" y="3362368"/>
            <a:ext cx="5143217" cy="536549"/>
            <a:chOff x="4956937" y="4040452"/>
            <a:chExt cx="5143217" cy="536549"/>
          </a:xfrm>
        </p:grpSpPr>
        <p:sp>
          <p:nvSpPr>
            <p:cNvPr id="17458" name="Text Box 28"/>
            <p:cNvSpPr txBox="1">
              <a:spLocks noChangeArrowheads="1"/>
            </p:cNvSpPr>
            <p:nvPr/>
          </p:nvSpPr>
          <p:spPr bwMode="auto">
            <a:xfrm>
              <a:off x="4956937" y="4064474"/>
              <a:ext cx="1800000" cy="5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VÍTREA</a:t>
              </a:r>
            </a:p>
          </p:txBody>
        </p:sp>
        <p:sp>
          <p:nvSpPr>
            <p:cNvPr id="17459" name="Text Box 29"/>
            <p:cNvSpPr txBox="1">
              <a:spLocks noChangeArrowheads="1"/>
            </p:cNvSpPr>
            <p:nvPr/>
          </p:nvSpPr>
          <p:spPr bwMode="auto">
            <a:xfrm>
              <a:off x="8300154" y="4064474"/>
              <a:ext cx="1800000" cy="5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RESINOSA</a:t>
              </a:r>
            </a:p>
          </p:txBody>
        </p:sp>
        <p:sp>
          <p:nvSpPr>
            <p:cNvPr id="12" name="Text Box 88">
              <a:extLst>
                <a:ext uri="{FF2B5EF4-FFF2-40B4-BE49-F238E27FC236}">
                  <a16:creationId xmlns:a16="http://schemas.microsoft.com/office/drawing/2014/main" id="{923F76A3-95EB-47D9-AE83-123E80379D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9949" y="4040452"/>
              <a:ext cx="979019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y</a:t>
              </a:r>
            </a:p>
          </p:txBody>
        </p:sp>
      </p:grpSp>
      <p:sp>
        <p:nvSpPr>
          <p:cNvPr id="42" name="Text Box 88">
            <a:extLst>
              <a:ext uri="{FF2B5EF4-FFF2-40B4-BE49-F238E27FC236}">
                <a16:creationId xmlns:a16="http://schemas.microsoft.com/office/drawing/2014/main" id="{887C67A2-EF0C-4407-8929-DB2ADE5D2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9301" y="4665753"/>
            <a:ext cx="8211223" cy="9313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44000" tIns="82800" rIns="144000" bIns="108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 partir de ahí, si </a:t>
            </a:r>
            <a:r>
              <a:rPr lang="es-ES" sz="2400" dirty="0">
                <a:latin typeface="Arial" panose="020B0604020202020204" pitchFamily="34" charset="0"/>
              </a:rPr>
              <a:t>un cuerpo cargado es repelido por </a:t>
            </a:r>
            <a:r>
              <a:rPr lang="es-ES" sz="2400">
                <a:latin typeface="Arial" panose="020B0604020202020204" pitchFamily="34" charset="0"/>
              </a:rPr>
              <a:t>el vidrio </a:t>
            </a:r>
            <a:r>
              <a:rPr lang="es-ES" sz="2400" dirty="0">
                <a:latin typeface="Arial" panose="020B0604020202020204" pitchFamily="34" charset="0"/>
              </a:rPr>
              <a:t>frotado </a:t>
            </a:r>
            <a:r>
              <a:rPr lang="es-ES" sz="2400">
                <a:latin typeface="Arial" panose="020B0604020202020204" pitchFamily="34" charset="0"/>
              </a:rPr>
              <a:t>con seda, </a:t>
            </a:r>
            <a:r>
              <a:rPr lang="es-ES" sz="2400" dirty="0">
                <a:latin typeface="Arial" panose="020B0604020202020204" pitchFamily="34" charset="0"/>
              </a:rPr>
              <a:t>tiene carga positiva, y viceversa</a:t>
            </a:r>
          </a:p>
        </p:txBody>
      </p:sp>
      <p:sp>
        <p:nvSpPr>
          <p:cNvPr id="13" name="Text Box 80">
            <a:extLst>
              <a:ext uri="{FF2B5EF4-FFF2-40B4-BE49-F238E27FC236}">
                <a16:creationId xmlns:a16="http://schemas.microsoft.com/office/drawing/2014/main" id="{A503CE63-4278-1C4B-BE3A-EE71FEE7C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0990" y="4047243"/>
            <a:ext cx="1407565" cy="53654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Franklin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4" name="Text Box 71">
            <a:extLst>
              <a:ext uri="{FF2B5EF4-FFF2-40B4-BE49-F238E27FC236}">
                <a16:creationId xmlns:a16="http://schemas.microsoft.com/office/drawing/2014/main" id="{E234B4FB-8964-47FA-BF76-771DE8CCC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413" y="1701039"/>
            <a:ext cx="3439317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(se deben a Franklin)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2CA4330F-25DB-2419-408F-968EFE9D7908}"/>
              </a:ext>
            </a:extLst>
          </p:cNvPr>
          <p:cNvSpPr/>
          <p:nvPr/>
        </p:nvSpPr>
        <p:spPr bwMode="auto">
          <a:xfrm>
            <a:off x="4291801" y="2800851"/>
            <a:ext cx="476567" cy="450702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AB9DB710-0F3F-237B-C8F0-E9E9C7370665}"/>
              </a:ext>
            </a:extLst>
          </p:cNvPr>
          <p:cNvSpPr/>
          <p:nvPr/>
        </p:nvSpPr>
        <p:spPr bwMode="auto">
          <a:xfrm>
            <a:off x="4285163" y="3394476"/>
            <a:ext cx="476567" cy="450702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1FA1B0A3-4661-FED6-8522-778DF6A75952}"/>
              </a:ext>
            </a:extLst>
          </p:cNvPr>
          <p:cNvSpPr/>
          <p:nvPr/>
        </p:nvSpPr>
        <p:spPr bwMode="auto">
          <a:xfrm>
            <a:off x="4277838" y="4082354"/>
            <a:ext cx="476567" cy="450702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1" name="Text Box 83">
            <a:extLst>
              <a:ext uri="{FF2B5EF4-FFF2-40B4-BE49-F238E27FC236}">
                <a16:creationId xmlns:a16="http://schemas.microsoft.com/office/drawing/2014/main" id="{E09CA36E-7512-360F-B675-F1B3BA3B0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5705" y="5719063"/>
            <a:ext cx="2340958" cy="115928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Como los e- pasan del vidrio a la seda</a:t>
            </a:r>
          </a:p>
        </p:txBody>
      </p:sp>
      <p:grpSp>
        <p:nvGrpSpPr>
          <p:cNvPr id="22" name="Group 89">
            <a:extLst>
              <a:ext uri="{FF2B5EF4-FFF2-40B4-BE49-F238E27FC236}">
                <a16:creationId xmlns:a16="http://schemas.microsoft.com/office/drawing/2014/main" id="{02D2992B-8A42-80B1-B264-D938386CA353}"/>
              </a:ext>
            </a:extLst>
          </p:cNvPr>
          <p:cNvGrpSpPr>
            <a:grpSpLocks/>
          </p:cNvGrpSpPr>
          <p:nvPr/>
        </p:nvGrpSpPr>
        <p:grpSpPr bwMode="auto">
          <a:xfrm>
            <a:off x="5066649" y="5726875"/>
            <a:ext cx="3128968" cy="906467"/>
            <a:chOff x="4663" y="3482"/>
            <a:chExt cx="1971" cy="571"/>
          </a:xfrm>
        </p:grpSpPr>
        <p:sp>
          <p:nvSpPr>
            <p:cNvPr id="23" name="Text Box 75">
              <a:extLst>
                <a:ext uri="{FF2B5EF4-FFF2-40B4-BE49-F238E27FC236}">
                  <a16:creationId xmlns:a16="http://schemas.microsoft.com/office/drawing/2014/main" id="{EFBA4AA0-A5DC-4465-2661-A68AB1C584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8" y="3482"/>
              <a:ext cx="1656" cy="57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tIns="828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  <a:defRPr/>
              </a:pPr>
              <a:r>
                <a:rPr lang="es-ES" sz="2400">
                  <a:latin typeface="Arial" panose="020B0604020202020204" pitchFamily="34" charset="0"/>
                </a:rPr>
                <a:t>El e</a:t>
              </a:r>
              <a:r>
                <a:rPr lang="es-ES" sz="2400" baseline="30000">
                  <a:latin typeface="Arial" panose="020B0604020202020204" pitchFamily="34" charset="0"/>
                </a:rPr>
                <a:t>-</a:t>
              </a:r>
              <a:r>
                <a:rPr lang="es-ES" sz="2400">
                  <a:latin typeface="Arial" panose="020B0604020202020204" pitchFamily="34" charset="0"/>
                </a:rPr>
                <a:t> debe tener carga </a:t>
              </a:r>
              <a:r>
                <a:rPr lang="es-ES" sz="2400" b="1">
                  <a:latin typeface="Arial" panose="020B0604020202020204" pitchFamily="34" charset="0"/>
                </a:rPr>
                <a:t>NEGATIVA</a:t>
              </a:r>
            </a:p>
          </p:txBody>
        </p:sp>
        <p:sp>
          <p:nvSpPr>
            <p:cNvPr id="24" name="AutoShape 84">
              <a:extLst>
                <a:ext uri="{FF2B5EF4-FFF2-40B4-BE49-F238E27FC236}">
                  <a16:creationId xmlns:a16="http://schemas.microsoft.com/office/drawing/2014/main" id="{CC4E6EAB-527E-4C48-94B8-554674AA1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3633"/>
              <a:ext cx="269" cy="387"/>
            </a:xfrm>
            <a:prstGeom prst="rightArrow">
              <a:avLst>
                <a:gd name="adj1" fmla="val 43361"/>
                <a:gd name="adj2" fmla="val 5206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82800" rIns="90000" bIns="82800" anchor="ctr">
              <a:no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5" name="Text Box 80">
            <a:extLst>
              <a:ext uri="{FF2B5EF4-FFF2-40B4-BE49-F238E27FC236}">
                <a16:creationId xmlns:a16="http://schemas.microsoft.com/office/drawing/2014/main" id="{39FFCEE9-9026-748B-15EF-490C255AD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1894" y="5638302"/>
            <a:ext cx="2546442" cy="127521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Y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protón positiva al ser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un átomo neutro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6" name="Text Box 76">
            <a:extLst>
              <a:ext uri="{FF2B5EF4-FFF2-40B4-BE49-F238E27FC236}">
                <a16:creationId xmlns:a16="http://schemas.microsoft.com/office/drawing/2014/main" id="{0D23D759-8996-6193-0BEA-710E85D27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49" y="6019040"/>
            <a:ext cx="2160000" cy="46384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Consecuencia</a:t>
            </a:r>
          </a:p>
        </p:txBody>
      </p:sp>
      <p:sp>
        <p:nvSpPr>
          <p:cNvPr id="27" name="Text Box 71">
            <a:extLst>
              <a:ext uri="{FF2B5EF4-FFF2-40B4-BE49-F238E27FC236}">
                <a16:creationId xmlns:a16="http://schemas.microsoft.com/office/drawing/2014/main" id="{F657CC85-BCF6-644B-471E-99C70C6C2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8853" y="6454939"/>
            <a:ext cx="3439317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(arbitrario)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06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06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919" grpId="0" animBg="1"/>
      <p:bldP spid="17460" grpId="0" animBg="1"/>
      <p:bldP spid="206936" grpId="0"/>
      <p:bldP spid="17452" grpId="0" animBg="1"/>
      <p:bldP spid="38" grpId="0" animBg="1"/>
      <p:bldP spid="33" grpId="0" animBg="1"/>
      <p:bldP spid="42" grpId="0" animBg="1"/>
      <p:bldP spid="13" grpId="0" animBg="1"/>
      <p:bldP spid="14" grpId="0"/>
      <p:bldP spid="17" grpId="0" animBg="1"/>
      <p:bldP spid="18" grpId="0" animBg="1"/>
      <p:bldP spid="19" grpId="0" animBg="1"/>
      <p:bldP spid="21" grpId="0" animBg="1"/>
      <p:bldP spid="25" grpId="0"/>
      <p:bldP spid="26" grpId="0" animBg="1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8F2FA4E7-D2E9-4F7A-AA2A-078D7DFDBE38}"/>
              </a:ext>
            </a:extLst>
          </p:cNvPr>
          <p:cNvGrpSpPr/>
          <p:nvPr/>
        </p:nvGrpSpPr>
        <p:grpSpPr>
          <a:xfrm>
            <a:off x="1373670" y="1838241"/>
            <a:ext cx="4756151" cy="3719515"/>
            <a:chOff x="1373670" y="1838241"/>
            <a:chExt cx="4756151" cy="3719515"/>
          </a:xfrm>
        </p:grpSpPr>
        <p:sp>
          <p:nvSpPr>
            <p:cNvPr id="19496" name="Rectangle 75"/>
            <p:cNvSpPr>
              <a:spLocks noChangeArrowheads="1"/>
            </p:cNvSpPr>
            <p:nvPr/>
          </p:nvSpPr>
          <p:spPr bwMode="auto">
            <a:xfrm>
              <a:off x="1373670" y="1838241"/>
              <a:ext cx="4756151" cy="3719515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no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  <p:sp>
          <p:nvSpPr>
            <p:cNvPr id="19500" name="Oval 21"/>
            <p:cNvSpPr>
              <a:spLocks noChangeArrowheads="1"/>
            </p:cNvSpPr>
            <p:nvPr/>
          </p:nvSpPr>
          <p:spPr bwMode="auto">
            <a:xfrm>
              <a:off x="1980095" y="2584367"/>
              <a:ext cx="3217863" cy="2038352"/>
            </a:xfrm>
            <a:prstGeom prst="ellipse">
              <a:avLst/>
            </a:prstGeom>
            <a:noFill/>
            <a:ln w="127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01" name="Oval 15"/>
            <p:cNvSpPr>
              <a:spLocks noChangeArrowheads="1"/>
            </p:cNvSpPr>
            <p:nvPr/>
          </p:nvSpPr>
          <p:spPr bwMode="auto">
            <a:xfrm>
              <a:off x="3310420" y="3359067"/>
              <a:ext cx="360363" cy="360363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02" name="Oval 18"/>
            <p:cNvSpPr>
              <a:spLocks noChangeArrowheads="1"/>
            </p:cNvSpPr>
            <p:nvPr/>
          </p:nvSpPr>
          <p:spPr bwMode="auto">
            <a:xfrm>
              <a:off x="3332645" y="3578142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03" name="Oval 16"/>
            <p:cNvSpPr>
              <a:spLocks noChangeArrowheads="1"/>
            </p:cNvSpPr>
            <p:nvPr/>
          </p:nvSpPr>
          <p:spPr bwMode="auto">
            <a:xfrm>
              <a:off x="3526320" y="3578142"/>
              <a:ext cx="360363" cy="360363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04" name="Oval 17"/>
            <p:cNvSpPr>
              <a:spLocks noChangeArrowheads="1"/>
            </p:cNvSpPr>
            <p:nvPr/>
          </p:nvSpPr>
          <p:spPr bwMode="auto">
            <a:xfrm>
              <a:off x="3564420" y="3401930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05" name="Oval 19"/>
            <p:cNvSpPr>
              <a:spLocks noChangeArrowheads="1"/>
            </p:cNvSpPr>
            <p:nvPr/>
          </p:nvSpPr>
          <p:spPr bwMode="auto">
            <a:xfrm>
              <a:off x="5147158" y="3617830"/>
              <a:ext cx="107950" cy="107950"/>
            </a:xfrm>
            <a:prstGeom prst="ellipse">
              <a:avLst/>
            </a:prstGeom>
            <a:solidFill>
              <a:srgbClr val="3333FF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06" name="Oval 20"/>
            <p:cNvSpPr>
              <a:spLocks noChangeArrowheads="1"/>
            </p:cNvSpPr>
            <p:nvPr/>
          </p:nvSpPr>
          <p:spPr bwMode="auto">
            <a:xfrm>
              <a:off x="2627795" y="3532105"/>
              <a:ext cx="107950" cy="107950"/>
            </a:xfrm>
            <a:prstGeom prst="ellipse">
              <a:avLst/>
            </a:prstGeom>
            <a:solidFill>
              <a:srgbClr val="3333FF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07" name="Oval 22"/>
            <p:cNvSpPr>
              <a:spLocks noChangeArrowheads="1"/>
            </p:cNvSpPr>
            <p:nvPr/>
          </p:nvSpPr>
          <p:spPr bwMode="auto">
            <a:xfrm>
              <a:off x="2681770" y="2309729"/>
              <a:ext cx="1770063" cy="2686052"/>
            </a:xfrm>
            <a:prstGeom prst="ellipse">
              <a:avLst/>
            </a:prstGeom>
            <a:noFill/>
            <a:ln w="127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09" name="Text Box 25"/>
            <p:cNvSpPr txBox="1">
              <a:spLocks noChangeArrowheads="1"/>
            </p:cNvSpPr>
            <p:nvPr/>
          </p:nvSpPr>
          <p:spPr bwMode="auto">
            <a:xfrm>
              <a:off x="5250345" y="3303505"/>
              <a:ext cx="4127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19510" name="Text Box 26"/>
            <p:cNvSpPr txBox="1">
              <a:spLocks noChangeArrowheads="1"/>
            </p:cNvSpPr>
            <p:nvPr/>
          </p:nvSpPr>
          <p:spPr bwMode="auto">
            <a:xfrm>
              <a:off x="3083408" y="2963779"/>
              <a:ext cx="3222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p</a:t>
              </a:r>
            </a:p>
          </p:txBody>
        </p:sp>
        <p:sp>
          <p:nvSpPr>
            <p:cNvPr id="19511" name="Text Box 27"/>
            <p:cNvSpPr txBox="1">
              <a:spLocks noChangeArrowheads="1"/>
            </p:cNvSpPr>
            <p:nvPr/>
          </p:nvSpPr>
          <p:spPr bwMode="auto">
            <a:xfrm>
              <a:off x="3886683" y="3128880"/>
              <a:ext cx="3222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n</a:t>
              </a:r>
            </a:p>
          </p:txBody>
        </p:sp>
        <p:sp>
          <p:nvSpPr>
            <p:cNvPr id="19498" name="Text Box 67"/>
            <p:cNvSpPr txBox="1">
              <a:spLocks noChangeArrowheads="1"/>
            </p:cNvSpPr>
            <p:nvPr/>
          </p:nvSpPr>
          <p:spPr bwMode="auto">
            <a:xfrm>
              <a:off x="4562958" y="1949366"/>
              <a:ext cx="11811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p: protón</a:t>
              </a:r>
            </a:p>
          </p:txBody>
        </p:sp>
        <p:sp>
          <p:nvSpPr>
            <p:cNvPr id="19499" name="Text Box 68"/>
            <p:cNvSpPr txBox="1">
              <a:spLocks noChangeArrowheads="1"/>
            </p:cNvSpPr>
            <p:nvPr/>
          </p:nvSpPr>
          <p:spPr bwMode="auto">
            <a:xfrm>
              <a:off x="4569308" y="2312904"/>
              <a:ext cx="132238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n: neutrón</a:t>
              </a:r>
            </a:p>
          </p:txBody>
        </p:sp>
        <p:sp>
          <p:nvSpPr>
            <p:cNvPr id="64" name="Text Box 67"/>
            <p:cNvSpPr txBox="1">
              <a:spLocks noChangeArrowheads="1"/>
            </p:cNvSpPr>
            <p:nvPr/>
          </p:nvSpPr>
          <p:spPr bwMode="auto">
            <a:xfrm>
              <a:off x="1448394" y="1979600"/>
              <a:ext cx="1320724" cy="4638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ÁTOMO</a:t>
              </a:r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7377265" y="1656551"/>
            <a:ext cx="1953055" cy="1669520"/>
            <a:chOff x="1838262" y="5172189"/>
            <a:chExt cx="1953055" cy="1669520"/>
          </a:xfrm>
        </p:grpSpPr>
        <p:sp>
          <p:nvSpPr>
            <p:cNvPr id="67" name="Rectángulo 66"/>
            <p:cNvSpPr/>
            <p:nvPr/>
          </p:nvSpPr>
          <p:spPr bwMode="auto">
            <a:xfrm>
              <a:off x="1838262" y="5172189"/>
              <a:ext cx="1953055" cy="166952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4" name="71 Grupo"/>
            <p:cNvGrpSpPr>
              <a:grpSpLocks/>
            </p:cNvGrpSpPr>
            <p:nvPr/>
          </p:nvGrpSpPr>
          <p:grpSpPr bwMode="auto">
            <a:xfrm>
              <a:off x="1849028" y="5285641"/>
              <a:ext cx="1666875" cy="1420135"/>
              <a:chOff x="3414713" y="5211613"/>
              <a:chExt cx="1666875" cy="1420308"/>
            </a:xfrm>
          </p:grpSpPr>
          <p:sp>
            <p:nvSpPr>
              <p:cNvPr id="19516" name="Text Box 35"/>
              <p:cNvSpPr txBox="1">
                <a:spLocks noChangeArrowheads="1"/>
              </p:cNvSpPr>
              <p:nvPr/>
            </p:nvSpPr>
            <p:spPr bwMode="auto">
              <a:xfrm>
                <a:off x="3414713" y="5211613"/>
                <a:ext cx="1666875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M</a:t>
                </a:r>
                <a:r>
                  <a:rPr lang="es-ES" sz="2400" baseline="-25000">
                    <a:latin typeface="Arial" panose="020B0604020202020204" pitchFamily="34" charset="0"/>
                  </a:rPr>
                  <a:t>p</a:t>
                </a:r>
                <a:r>
                  <a:rPr lang="es-ES" sz="2400">
                    <a:latin typeface="Arial" panose="020B0604020202020204" pitchFamily="34" charset="0"/>
                  </a:rPr>
                  <a:t> </a:t>
                </a: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~ </a:t>
                </a:r>
                <a:r>
                  <a:rPr lang="es-ES" sz="2400">
                    <a:latin typeface="Arial" panose="020B0604020202020204" pitchFamily="34" charset="0"/>
                  </a:rPr>
                  <a:t>10</a:t>
                </a:r>
                <a:r>
                  <a:rPr lang="es-ES" sz="2400" baseline="30000">
                    <a:latin typeface="Arial" panose="020B0604020202020204" pitchFamily="34" charset="0"/>
                    <a:sym typeface="Symbol" panose="05050102010706020507" pitchFamily="18" charset="2"/>
                  </a:rPr>
                  <a:t></a:t>
                </a:r>
                <a:r>
                  <a:rPr lang="es-ES" sz="2400" baseline="30000">
                    <a:latin typeface="Arial" panose="020B0604020202020204" pitchFamily="34" charset="0"/>
                  </a:rPr>
                  <a:t>27</a:t>
                </a:r>
                <a:r>
                  <a:rPr lang="es-ES" sz="2400">
                    <a:latin typeface="Arial" panose="020B0604020202020204" pitchFamily="34" charset="0"/>
                  </a:rPr>
                  <a:t> kg</a:t>
                </a:r>
              </a:p>
            </p:txBody>
          </p:sp>
          <p:sp>
            <p:nvSpPr>
              <p:cNvPr id="19517" name="Text Box 36"/>
              <p:cNvSpPr txBox="1">
                <a:spLocks noChangeArrowheads="1"/>
              </p:cNvSpPr>
              <p:nvPr/>
            </p:nvSpPr>
            <p:spPr bwMode="auto">
              <a:xfrm>
                <a:off x="3414713" y="6235046"/>
                <a:ext cx="1119188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 dirty="0" err="1">
                    <a:latin typeface="Arial" panose="020B0604020202020204" pitchFamily="34" charset="0"/>
                  </a:rPr>
                  <a:t>M</a:t>
                </a:r>
                <a:r>
                  <a:rPr lang="es-ES" sz="2400" baseline="-25000" dirty="0" err="1">
                    <a:latin typeface="Arial" panose="020B0604020202020204" pitchFamily="34" charset="0"/>
                  </a:rPr>
                  <a:t>p</a:t>
                </a:r>
                <a:r>
                  <a:rPr lang="es-ES" sz="2400" dirty="0">
                    <a:latin typeface="Arial" panose="020B0604020202020204" pitchFamily="34" charset="0"/>
                  </a:rPr>
                  <a:t>/1836</a:t>
                </a:r>
              </a:p>
            </p:txBody>
          </p:sp>
          <p:sp>
            <p:nvSpPr>
              <p:cNvPr id="7" name="Text Box 37"/>
              <p:cNvSpPr txBox="1">
                <a:spLocks noChangeArrowheads="1"/>
              </p:cNvSpPr>
              <p:nvPr/>
            </p:nvSpPr>
            <p:spPr bwMode="auto">
              <a:xfrm>
                <a:off x="3414713" y="5671920"/>
                <a:ext cx="1490663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M</a:t>
                </a:r>
                <a:r>
                  <a:rPr lang="es-ES" sz="2400" baseline="-25000">
                    <a:latin typeface="Arial" panose="020B0604020202020204" pitchFamily="34" charset="0"/>
                  </a:rPr>
                  <a:t>p</a:t>
                </a:r>
                <a:r>
                  <a:rPr lang="es-ES" sz="2400">
                    <a:latin typeface="Arial" panose="020B0604020202020204" pitchFamily="34" charset="0"/>
                  </a:rPr>
                  <a:t> + 0,14 %</a:t>
                </a:r>
              </a:p>
            </p:txBody>
          </p:sp>
        </p:grpSp>
      </p:grp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1301009" y="477851"/>
            <a:ext cx="6783388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1.1.2. CUANTIZACIÓN Y CONSERVACIÓN</a:t>
            </a:r>
          </a:p>
        </p:txBody>
      </p:sp>
      <p:grpSp>
        <p:nvGrpSpPr>
          <p:cNvPr id="13" name="Grupo 12"/>
          <p:cNvGrpSpPr/>
          <p:nvPr/>
        </p:nvGrpSpPr>
        <p:grpSpPr>
          <a:xfrm>
            <a:off x="6826689" y="1656551"/>
            <a:ext cx="466936" cy="1669520"/>
            <a:chOff x="1287686" y="5172189"/>
            <a:chExt cx="466936" cy="1669520"/>
          </a:xfrm>
        </p:grpSpPr>
        <p:sp>
          <p:nvSpPr>
            <p:cNvPr id="12" name="Rectángulo 11"/>
            <p:cNvSpPr/>
            <p:nvPr/>
          </p:nvSpPr>
          <p:spPr bwMode="auto">
            <a:xfrm>
              <a:off x="1301009" y="5172189"/>
              <a:ext cx="453613" cy="166952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2" name="66 Grupo"/>
            <p:cNvGrpSpPr>
              <a:grpSpLocks/>
            </p:cNvGrpSpPr>
            <p:nvPr/>
          </p:nvGrpSpPr>
          <p:grpSpPr bwMode="auto">
            <a:xfrm>
              <a:off x="1287686" y="5244840"/>
              <a:ext cx="466936" cy="1460696"/>
              <a:chOff x="1430338" y="5170821"/>
              <a:chExt cx="466936" cy="1461180"/>
            </a:xfrm>
            <a:solidFill>
              <a:srgbClr val="CCFFFF"/>
            </a:solidFill>
          </p:grpSpPr>
          <p:sp>
            <p:nvSpPr>
              <p:cNvPr id="19518" name="Text Box 28"/>
              <p:cNvSpPr txBox="1">
                <a:spLocks noChangeArrowheads="1"/>
              </p:cNvSpPr>
              <p:nvPr/>
            </p:nvSpPr>
            <p:spPr bwMode="auto">
              <a:xfrm>
                <a:off x="1430338" y="5692709"/>
                <a:ext cx="424404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  <a:buFontTx/>
                  <a:buNone/>
                  <a:defRPr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9519" name="Text Box 29"/>
              <p:cNvSpPr txBox="1">
                <a:spLocks noChangeArrowheads="1"/>
              </p:cNvSpPr>
              <p:nvPr/>
            </p:nvSpPr>
            <p:spPr bwMode="auto">
              <a:xfrm>
                <a:off x="1453991" y="5170821"/>
                <a:ext cx="408529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  <a:buFontTx/>
                  <a:buNone/>
                  <a:defRPr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19520" name="Text Box 30"/>
              <p:cNvSpPr txBox="1">
                <a:spLocks noChangeArrowheads="1"/>
              </p:cNvSpPr>
              <p:nvPr/>
            </p:nvSpPr>
            <p:spPr bwMode="auto">
              <a:xfrm>
                <a:off x="1484524" y="6235126"/>
                <a:ext cx="41275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  <a:buFontTx/>
                  <a:buNone/>
                  <a:defRPr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e</a:t>
                </a:r>
                <a:r>
                  <a:rPr lang="es-ES" sz="2400" baseline="30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</a:t>
                </a:r>
              </a:p>
            </p:txBody>
          </p:sp>
        </p:grpSp>
      </p:grpSp>
      <p:sp>
        <p:nvSpPr>
          <p:cNvPr id="157738" name="Text Box 42"/>
          <p:cNvSpPr txBox="1">
            <a:spLocks noChangeArrowheads="1"/>
          </p:cNvSpPr>
          <p:nvPr/>
        </p:nvSpPr>
        <p:spPr bwMode="auto">
          <a:xfrm>
            <a:off x="6252473" y="4490604"/>
            <a:ext cx="3923289" cy="55109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Nº MÁSICO = A = N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+ N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endParaRPr lang="es-ES" sz="24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DC2A3A9C-DDBA-4236-8CBA-9B3CC13C3DBB}"/>
              </a:ext>
            </a:extLst>
          </p:cNvPr>
          <p:cNvGrpSpPr/>
          <p:nvPr/>
        </p:nvGrpSpPr>
        <p:grpSpPr>
          <a:xfrm>
            <a:off x="3083408" y="4003593"/>
            <a:ext cx="2851150" cy="565150"/>
            <a:chOff x="3083408" y="4003593"/>
            <a:chExt cx="2851150" cy="565150"/>
          </a:xfrm>
        </p:grpSpPr>
        <p:sp>
          <p:nvSpPr>
            <p:cNvPr id="19508" name="Text Box 24"/>
            <p:cNvSpPr txBox="1">
              <a:spLocks noChangeArrowheads="1"/>
            </p:cNvSpPr>
            <p:nvPr/>
          </p:nvSpPr>
          <p:spPr bwMode="auto">
            <a:xfrm>
              <a:off x="3083408" y="4003593"/>
              <a:ext cx="1163638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Núcleo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(10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</a:rPr>
                <a:t>15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m)</a:t>
              </a:r>
            </a:p>
          </p:txBody>
        </p:sp>
        <p:sp>
          <p:nvSpPr>
            <p:cNvPr id="19512" name="Text Box 31"/>
            <p:cNvSpPr txBox="1">
              <a:spLocks noChangeArrowheads="1"/>
            </p:cNvSpPr>
            <p:nvPr/>
          </p:nvSpPr>
          <p:spPr bwMode="auto">
            <a:xfrm>
              <a:off x="4770920" y="4019468"/>
              <a:ext cx="1163638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Corteza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(10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10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m)</a:t>
              </a:r>
            </a:p>
          </p:txBody>
        </p:sp>
      </p:grpSp>
      <p:sp>
        <p:nvSpPr>
          <p:cNvPr id="19491" name="Text Box 40"/>
          <p:cNvSpPr txBox="1">
            <a:spLocks noChangeArrowheads="1"/>
          </p:cNvSpPr>
          <p:nvPr/>
        </p:nvSpPr>
        <p:spPr bwMode="auto">
          <a:xfrm>
            <a:off x="1298873" y="1055156"/>
            <a:ext cx="5500448" cy="46384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materia esta formada por átomos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E1A43E6-B007-40E0-9A3B-A709E94DB2AE}"/>
              </a:ext>
            </a:extLst>
          </p:cNvPr>
          <p:cNvGrpSpPr/>
          <p:nvPr/>
        </p:nvGrpSpPr>
        <p:grpSpPr>
          <a:xfrm>
            <a:off x="2186151" y="5707117"/>
            <a:ext cx="2709412" cy="961256"/>
            <a:chOff x="2186151" y="5707117"/>
            <a:chExt cx="2709412" cy="961256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47306095-6602-450E-B679-1548401CBE62}"/>
                </a:ext>
              </a:extLst>
            </p:cNvPr>
            <p:cNvSpPr/>
            <p:nvPr/>
          </p:nvSpPr>
          <p:spPr bwMode="auto">
            <a:xfrm>
              <a:off x="2186151" y="5707117"/>
              <a:ext cx="2709412" cy="96125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12362" name="Group 74"/>
            <p:cNvGrpSpPr>
              <a:grpSpLocks/>
            </p:cNvGrpSpPr>
            <p:nvPr/>
          </p:nvGrpSpPr>
          <p:grpSpPr bwMode="auto">
            <a:xfrm>
              <a:off x="2287519" y="5759939"/>
              <a:ext cx="2576514" cy="887414"/>
              <a:chOff x="5004" y="402"/>
              <a:chExt cx="1623" cy="559"/>
            </a:xfrm>
          </p:grpSpPr>
          <p:sp>
            <p:nvSpPr>
              <p:cNvPr id="19484" name="Text Box 72"/>
              <p:cNvSpPr txBox="1">
                <a:spLocks noChangeArrowheads="1"/>
              </p:cNvSpPr>
              <p:nvPr/>
            </p:nvSpPr>
            <p:spPr bwMode="auto">
              <a:xfrm>
                <a:off x="5018" y="669"/>
                <a:ext cx="808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10</a:t>
                </a:r>
                <a:r>
                  <a:rPr lang="es-ES" sz="2400" baseline="30000">
                    <a:latin typeface="Arial" panose="020B0604020202020204" pitchFamily="34" charset="0"/>
                    <a:sym typeface="Symbol" panose="05050102010706020507" pitchFamily="18" charset="2"/>
                  </a:rPr>
                  <a:t></a:t>
                </a:r>
                <a:r>
                  <a:rPr lang="es-ES" sz="2400" baseline="30000">
                    <a:latin typeface="Arial" panose="020B0604020202020204" pitchFamily="34" charset="0"/>
                  </a:rPr>
                  <a:t>15</a:t>
                </a:r>
                <a:r>
                  <a:rPr lang="es-ES" sz="2400">
                    <a:latin typeface="Arial" panose="020B0604020202020204" pitchFamily="34" charset="0"/>
                  </a:rPr>
                  <a:t> m</a:t>
                </a: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</a:t>
                </a:r>
                <a:endParaRPr lang="es-ES" sz="2400" baseline="30000"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19485" name="Text Box 73"/>
              <p:cNvSpPr txBox="1">
                <a:spLocks noChangeArrowheads="1"/>
              </p:cNvSpPr>
              <p:nvPr/>
            </p:nvSpPr>
            <p:spPr bwMode="auto">
              <a:xfrm>
                <a:off x="5876" y="402"/>
                <a:ext cx="751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100 km</a:t>
                </a:r>
                <a:endParaRPr lang="es-ES" sz="2400" baseline="30000"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19486" name="60 CuadroTexto"/>
              <p:cNvSpPr txBox="1">
                <a:spLocks noChangeArrowheads="1"/>
              </p:cNvSpPr>
              <p:nvPr/>
            </p:nvSpPr>
            <p:spPr bwMode="auto">
              <a:xfrm>
                <a:off x="5748" y="532"/>
                <a:ext cx="22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=</a:t>
                </a:r>
              </a:p>
            </p:txBody>
          </p:sp>
          <p:sp>
            <p:nvSpPr>
              <p:cNvPr id="19487" name="Text Box 72"/>
              <p:cNvSpPr txBox="1">
                <a:spLocks noChangeArrowheads="1"/>
              </p:cNvSpPr>
              <p:nvPr/>
            </p:nvSpPr>
            <p:spPr bwMode="auto">
              <a:xfrm>
                <a:off x="5004" y="421"/>
                <a:ext cx="760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10</a:t>
                </a:r>
                <a:r>
                  <a:rPr lang="es-ES" sz="2400" baseline="30000">
                    <a:latin typeface="Arial" panose="020B0604020202020204" pitchFamily="34" charset="0"/>
                    <a:sym typeface="Symbol" panose="05050102010706020507" pitchFamily="18" charset="2"/>
                  </a:rPr>
                  <a:t>10</a:t>
                </a: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 m</a:t>
                </a:r>
                <a:endParaRPr lang="es-ES" sz="2400" baseline="30000"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19488" name="Text Box 73"/>
              <p:cNvSpPr txBox="1">
                <a:spLocks noChangeArrowheads="1"/>
              </p:cNvSpPr>
              <p:nvPr/>
            </p:nvSpPr>
            <p:spPr bwMode="auto">
              <a:xfrm>
                <a:off x="6034" y="660"/>
                <a:ext cx="438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1 m</a:t>
                </a:r>
                <a:endParaRPr lang="es-ES" sz="2400" baseline="30000"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19489" name="Line 72"/>
              <p:cNvSpPr>
                <a:spLocks noChangeShapeType="1"/>
              </p:cNvSpPr>
              <p:nvPr/>
            </p:nvSpPr>
            <p:spPr bwMode="auto">
              <a:xfrm>
                <a:off x="5015" y="673"/>
                <a:ext cx="7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pPr>
                  <a:spcBef>
                    <a:spcPts val="0"/>
                  </a:spcBef>
                </a:pPr>
                <a:endParaRPr lang="en-GB" sz="2400"/>
              </a:p>
            </p:txBody>
          </p:sp>
          <p:sp>
            <p:nvSpPr>
              <p:cNvPr id="19490" name="Line 73"/>
              <p:cNvSpPr>
                <a:spLocks noChangeShapeType="1"/>
              </p:cNvSpPr>
              <p:nvPr/>
            </p:nvSpPr>
            <p:spPr bwMode="auto">
              <a:xfrm>
                <a:off x="5970" y="669"/>
                <a:ext cx="5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pPr>
                  <a:spcBef>
                    <a:spcPts val="0"/>
                  </a:spcBef>
                </a:pPr>
                <a:endParaRPr lang="en-GB" sz="2400"/>
              </a:p>
            </p:txBody>
          </p:sp>
        </p:grpSp>
      </p:grpSp>
      <p:grpSp>
        <p:nvGrpSpPr>
          <p:cNvPr id="8" name="Grupo 7"/>
          <p:cNvGrpSpPr/>
          <p:nvPr/>
        </p:nvGrpSpPr>
        <p:grpSpPr>
          <a:xfrm>
            <a:off x="8005680" y="1358646"/>
            <a:ext cx="2017230" cy="514738"/>
            <a:chOff x="7467493" y="1112035"/>
            <a:chExt cx="2017230" cy="514738"/>
          </a:xfrm>
        </p:grpSpPr>
        <p:sp>
          <p:nvSpPr>
            <p:cNvPr id="57" name="Text Box 61"/>
            <p:cNvSpPr txBox="1">
              <a:spLocks noChangeArrowheads="1"/>
            </p:cNvSpPr>
            <p:nvPr/>
          </p:nvSpPr>
          <p:spPr bwMode="auto">
            <a:xfrm>
              <a:off x="7589355" y="1112035"/>
              <a:ext cx="1895368" cy="514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72000" rIns="90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del orden de</a:t>
              </a:r>
            </a:p>
          </p:txBody>
        </p:sp>
        <p:sp>
          <p:nvSpPr>
            <p:cNvPr id="6" name="Forma libre 5"/>
            <p:cNvSpPr/>
            <p:nvPr/>
          </p:nvSpPr>
          <p:spPr bwMode="auto">
            <a:xfrm rot="16200000" flipH="1" flipV="1">
              <a:off x="7446699" y="1423160"/>
              <a:ext cx="214249" cy="172662"/>
            </a:xfrm>
            <a:custGeom>
              <a:avLst/>
              <a:gdLst>
                <a:gd name="connsiteX0" fmla="*/ 145473 w 145473"/>
                <a:gd name="connsiteY0" fmla="*/ 259773 h 259773"/>
                <a:gd name="connsiteX1" fmla="*/ 0 w 145473"/>
                <a:gd name="connsiteY1" fmla="*/ 249382 h 259773"/>
                <a:gd name="connsiteX2" fmla="*/ 0 w 145473"/>
                <a:gd name="connsiteY2" fmla="*/ 0 h 259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473" h="259773">
                  <a:moveTo>
                    <a:pt x="145473" y="259773"/>
                  </a:moveTo>
                  <a:lnTo>
                    <a:pt x="0" y="249382"/>
                  </a:lnTo>
                  <a:lnTo>
                    <a:pt x="0" y="0"/>
                  </a:ln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65" name="Text Box 40"/>
          <p:cNvSpPr txBox="1">
            <a:spLocks noChangeArrowheads="1"/>
          </p:cNvSpPr>
          <p:nvPr/>
        </p:nvSpPr>
        <p:spPr bwMode="auto">
          <a:xfrm>
            <a:off x="6178172" y="5647739"/>
            <a:ext cx="4318147" cy="120251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: no varía para un elemento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: puede variar, es igual a N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     o parecido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(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isótopos)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6" name="Grupo 15"/>
          <p:cNvGrpSpPr/>
          <p:nvPr/>
        </p:nvGrpSpPr>
        <p:grpSpPr>
          <a:xfrm>
            <a:off x="8853679" y="4970049"/>
            <a:ext cx="1619652" cy="695972"/>
            <a:chOff x="5632201" y="2814221"/>
            <a:chExt cx="1619652" cy="695972"/>
          </a:xfrm>
        </p:grpSpPr>
        <p:cxnSp>
          <p:nvCxnSpPr>
            <p:cNvPr id="11" name="Conector recto de flecha 10"/>
            <p:cNvCxnSpPr>
              <a:cxnSpLocks/>
            </p:cNvCxnSpPr>
            <p:nvPr/>
          </p:nvCxnSpPr>
          <p:spPr bwMode="auto">
            <a:xfrm>
              <a:off x="5848573" y="2814221"/>
              <a:ext cx="0" cy="252256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0" name="Text Box 61"/>
            <p:cNvSpPr txBox="1">
              <a:spLocks noChangeArrowheads="1"/>
            </p:cNvSpPr>
            <p:nvPr/>
          </p:nvSpPr>
          <p:spPr bwMode="auto">
            <a:xfrm>
              <a:off x="5632201" y="2995455"/>
              <a:ext cx="1619652" cy="514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72000" rIns="90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N: número</a:t>
              </a:r>
            </a:p>
          </p:txBody>
        </p:sp>
      </p:grpSp>
      <p:grpSp>
        <p:nvGrpSpPr>
          <p:cNvPr id="55" name="Grupo 54"/>
          <p:cNvGrpSpPr/>
          <p:nvPr/>
        </p:nvGrpSpPr>
        <p:grpSpPr>
          <a:xfrm>
            <a:off x="7399645" y="1039117"/>
            <a:ext cx="1361568" cy="752458"/>
            <a:chOff x="5864917" y="3173128"/>
            <a:chExt cx="1361568" cy="752458"/>
          </a:xfrm>
        </p:grpSpPr>
        <p:sp>
          <p:nvSpPr>
            <p:cNvPr id="56" name="Text Box 61"/>
            <p:cNvSpPr txBox="1">
              <a:spLocks noChangeArrowheads="1"/>
            </p:cNvSpPr>
            <p:nvPr/>
          </p:nvSpPr>
          <p:spPr bwMode="auto">
            <a:xfrm>
              <a:off x="5864917" y="3173128"/>
              <a:ext cx="1361568" cy="514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72000" rIns="90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M: masa</a:t>
              </a:r>
            </a:p>
          </p:txBody>
        </p:sp>
        <p:cxnSp>
          <p:nvCxnSpPr>
            <p:cNvPr id="58" name="Conector recto de flecha 57"/>
            <p:cNvCxnSpPr>
              <a:cxnSpLocks/>
            </p:cNvCxnSpPr>
            <p:nvPr/>
          </p:nvCxnSpPr>
          <p:spPr bwMode="auto">
            <a:xfrm flipV="1">
              <a:off x="6079364" y="3673330"/>
              <a:ext cx="0" cy="252256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" name="Grupo 2"/>
          <p:cNvGrpSpPr/>
          <p:nvPr/>
        </p:nvGrpSpPr>
        <p:grpSpPr>
          <a:xfrm>
            <a:off x="7407012" y="3358547"/>
            <a:ext cx="2993425" cy="981809"/>
            <a:chOff x="7407012" y="3399643"/>
            <a:chExt cx="2993425" cy="981809"/>
          </a:xfrm>
        </p:grpSpPr>
        <p:sp>
          <p:nvSpPr>
            <p:cNvPr id="66" name="Text Box 74"/>
            <p:cNvSpPr txBox="1">
              <a:spLocks noChangeArrowheads="1"/>
            </p:cNvSpPr>
            <p:nvPr/>
          </p:nvSpPr>
          <p:spPr bwMode="auto">
            <a:xfrm>
              <a:off x="7407012" y="3871221"/>
              <a:ext cx="2993425" cy="5102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 err="1">
                  <a:latin typeface="Arial" panose="020B0604020202020204" pitchFamily="34" charset="0"/>
                </a:rPr>
                <a:t>M</a:t>
              </a:r>
              <a:r>
                <a:rPr lang="es-ES" sz="2400" baseline="-25000" dirty="0" err="1">
                  <a:latin typeface="Arial" panose="020B0604020202020204" pitchFamily="34" charset="0"/>
                </a:rPr>
                <a:t>núcleo</a:t>
              </a:r>
              <a:r>
                <a:rPr lang="es-ES" sz="2400" dirty="0">
                  <a:latin typeface="Arial" panose="020B0604020202020204" pitchFamily="34" charset="0"/>
                </a:rPr>
                <a:t> 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&gt;</a:t>
              </a:r>
              <a:r>
                <a:rPr lang="es-ES" sz="2400" dirty="0">
                  <a:latin typeface="Arial" panose="020B0604020202020204" pitchFamily="34" charset="0"/>
                </a:rPr>
                <a:t> 99 % </a:t>
              </a:r>
              <a:r>
                <a:rPr lang="es-ES" sz="2400" dirty="0" err="1">
                  <a:latin typeface="Arial" panose="020B0604020202020204" pitchFamily="34" charset="0"/>
                </a:rPr>
                <a:t>M</a:t>
              </a:r>
              <a:r>
                <a:rPr lang="es-ES" sz="2400" baseline="-25000" dirty="0" err="1">
                  <a:latin typeface="Arial" panose="020B0604020202020204" pitchFamily="34" charset="0"/>
                </a:rPr>
                <a:t>átomo</a:t>
              </a:r>
              <a:endParaRPr lang="es-ES" sz="2400" dirty="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9" name="AutoShape 84"/>
            <p:cNvSpPr>
              <a:spLocks noChangeArrowheads="1"/>
            </p:cNvSpPr>
            <p:nvPr/>
          </p:nvSpPr>
          <p:spPr bwMode="auto">
            <a:xfrm rot="5400000">
              <a:off x="7822809" y="3305980"/>
              <a:ext cx="427038" cy="614363"/>
            </a:xfrm>
            <a:prstGeom prst="rightArrow">
              <a:avLst>
                <a:gd name="adj1" fmla="val 43361"/>
                <a:gd name="adj2" fmla="val 5206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82800" rIns="90000" bIns="82800" anchor="ctr">
              <a:no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3769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157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38" grpId="0" animBg="1"/>
      <p:bldP spid="19491" grpId="0"/>
      <p:bldP spid="6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1301009" y="477851"/>
            <a:ext cx="6783388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1.1.2. CUANTIZACIÓN Y CONSERVACIÓN</a:t>
            </a:r>
          </a:p>
        </p:txBody>
      </p:sp>
      <p:grpSp>
        <p:nvGrpSpPr>
          <p:cNvPr id="13" name="Grupo 12"/>
          <p:cNvGrpSpPr/>
          <p:nvPr/>
        </p:nvGrpSpPr>
        <p:grpSpPr>
          <a:xfrm>
            <a:off x="6826689" y="1677572"/>
            <a:ext cx="466936" cy="1669520"/>
            <a:chOff x="1287686" y="5172189"/>
            <a:chExt cx="466936" cy="1669520"/>
          </a:xfrm>
        </p:grpSpPr>
        <p:sp>
          <p:nvSpPr>
            <p:cNvPr id="12" name="Rectángulo 11"/>
            <p:cNvSpPr/>
            <p:nvPr/>
          </p:nvSpPr>
          <p:spPr bwMode="auto">
            <a:xfrm>
              <a:off x="1301009" y="5172189"/>
              <a:ext cx="453613" cy="166952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2" name="66 Grupo"/>
            <p:cNvGrpSpPr>
              <a:grpSpLocks/>
            </p:cNvGrpSpPr>
            <p:nvPr/>
          </p:nvGrpSpPr>
          <p:grpSpPr bwMode="auto">
            <a:xfrm>
              <a:off x="1287686" y="5225509"/>
              <a:ext cx="466936" cy="1446355"/>
              <a:chOff x="1430338" y="5151481"/>
              <a:chExt cx="466936" cy="1446834"/>
            </a:xfrm>
            <a:solidFill>
              <a:srgbClr val="CCFFFF"/>
            </a:solidFill>
          </p:grpSpPr>
          <p:sp>
            <p:nvSpPr>
              <p:cNvPr id="19518" name="Text Box 28"/>
              <p:cNvSpPr txBox="1">
                <a:spLocks noChangeArrowheads="1"/>
              </p:cNvSpPr>
              <p:nvPr/>
            </p:nvSpPr>
            <p:spPr bwMode="auto">
              <a:xfrm>
                <a:off x="1430338" y="5692709"/>
                <a:ext cx="424404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  <a:buFontTx/>
                  <a:buNone/>
                  <a:defRPr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9519" name="Text Box 29"/>
              <p:cNvSpPr txBox="1">
                <a:spLocks noChangeArrowheads="1"/>
              </p:cNvSpPr>
              <p:nvPr/>
            </p:nvSpPr>
            <p:spPr bwMode="auto">
              <a:xfrm>
                <a:off x="1447974" y="5151481"/>
                <a:ext cx="408529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  <a:buFontTx/>
                  <a:buNone/>
                  <a:defRPr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19520" name="Text Box 30"/>
              <p:cNvSpPr txBox="1">
                <a:spLocks noChangeArrowheads="1"/>
              </p:cNvSpPr>
              <p:nvPr/>
            </p:nvSpPr>
            <p:spPr bwMode="auto">
              <a:xfrm>
                <a:off x="1484524" y="6201440"/>
                <a:ext cx="41275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  <a:buFontTx/>
                  <a:buNone/>
                  <a:defRPr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e</a:t>
                </a:r>
                <a:r>
                  <a:rPr lang="es-ES" sz="2400" baseline="30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</a:t>
                </a:r>
              </a:p>
            </p:txBody>
          </p:sp>
        </p:grpSp>
      </p:grpSp>
      <p:grpSp>
        <p:nvGrpSpPr>
          <p:cNvPr id="12365" name="Group 77"/>
          <p:cNvGrpSpPr>
            <a:grpSpLocks/>
          </p:cNvGrpSpPr>
          <p:nvPr/>
        </p:nvGrpSpPr>
        <p:grpSpPr bwMode="auto">
          <a:xfrm>
            <a:off x="1373670" y="1838241"/>
            <a:ext cx="4756151" cy="3719515"/>
            <a:chOff x="3658" y="882"/>
            <a:chExt cx="2996" cy="2343"/>
          </a:xfrm>
        </p:grpSpPr>
        <p:sp>
          <p:nvSpPr>
            <p:cNvPr id="19496" name="Rectangle 75"/>
            <p:cNvSpPr>
              <a:spLocks noChangeArrowheads="1"/>
            </p:cNvSpPr>
            <p:nvPr/>
          </p:nvSpPr>
          <p:spPr bwMode="auto">
            <a:xfrm>
              <a:off x="3658" y="882"/>
              <a:ext cx="2996" cy="234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no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  <p:grpSp>
          <p:nvGrpSpPr>
            <p:cNvPr id="19497" name="Group 54"/>
            <p:cNvGrpSpPr>
              <a:grpSpLocks/>
            </p:cNvGrpSpPr>
            <p:nvPr/>
          </p:nvGrpSpPr>
          <p:grpSpPr bwMode="auto">
            <a:xfrm>
              <a:off x="4040" y="1179"/>
              <a:ext cx="2491" cy="1692"/>
              <a:chOff x="1086" y="1241"/>
              <a:chExt cx="2491" cy="1692"/>
            </a:xfrm>
          </p:grpSpPr>
          <p:sp>
            <p:nvSpPr>
              <p:cNvPr id="19500" name="Oval 21"/>
              <p:cNvSpPr>
                <a:spLocks noChangeArrowheads="1"/>
              </p:cNvSpPr>
              <p:nvPr/>
            </p:nvSpPr>
            <p:spPr bwMode="auto">
              <a:xfrm>
                <a:off x="1086" y="1414"/>
                <a:ext cx="2027" cy="1284"/>
              </a:xfrm>
              <a:prstGeom prst="ellipse">
                <a:avLst/>
              </a:prstGeom>
              <a:noFill/>
              <a:ln w="127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501" name="Oval 15"/>
              <p:cNvSpPr>
                <a:spLocks noChangeArrowheads="1"/>
              </p:cNvSpPr>
              <p:nvPr/>
            </p:nvSpPr>
            <p:spPr bwMode="auto">
              <a:xfrm>
                <a:off x="1924" y="1902"/>
                <a:ext cx="227" cy="227"/>
              </a:xfrm>
              <a:prstGeom prst="ellipse">
                <a:avLst/>
              </a:prstGeom>
              <a:solidFill>
                <a:srgbClr val="FF0000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502" name="Oval 18"/>
              <p:cNvSpPr>
                <a:spLocks noChangeArrowheads="1"/>
              </p:cNvSpPr>
              <p:nvPr/>
            </p:nvSpPr>
            <p:spPr bwMode="auto">
              <a:xfrm>
                <a:off x="1938" y="2040"/>
                <a:ext cx="227" cy="227"/>
              </a:xfrm>
              <a:prstGeom prst="ellipse">
                <a:avLst/>
              </a:prstGeom>
              <a:solidFill>
                <a:schemeClr val="bg1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503" name="Oval 16"/>
              <p:cNvSpPr>
                <a:spLocks noChangeArrowheads="1"/>
              </p:cNvSpPr>
              <p:nvPr/>
            </p:nvSpPr>
            <p:spPr bwMode="auto">
              <a:xfrm>
                <a:off x="2060" y="2040"/>
                <a:ext cx="227" cy="227"/>
              </a:xfrm>
              <a:prstGeom prst="ellipse">
                <a:avLst/>
              </a:prstGeom>
              <a:solidFill>
                <a:srgbClr val="FF0000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504" name="Oval 17"/>
              <p:cNvSpPr>
                <a:spLocks noChangeArrowheads="1"/>
              </p:cNvSpPr>
              <p:nvPr/>
            </p:nvSpPr>
            <p:spPr bwMode="auto">
              <a:xfrm>
                <a:off x="2084" y="1929"/>
                <a:ext cx="227" cy="227"/>
              </a:xfrm>
              <a:prstGeom prst="ellipse">
                <a:avLst/>
              </a:prstGeom>
              <a:solidFill>
                <a:schemeClr val="bg1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505" name="Oval 19"/>
              <p:cNvSpPr>
                <a:spLocks noChangeArrowheads="1"/>
              </p:cNvSpPr>
              <p:nvPr/>
            </p:nvSpPr>
            <p:spPr bwMode="auto">
              <a:xfrm>
                <a:off x="3081" y="2065"/>
                <a:ext cx="68" cy="68"/>
              </a:xfrm>
              <a:prstGeom prst="ellipse">
                <a:avLst/>
              </a:prstGeom>
              <a:solidFill>
                <a:srgbClr val="3333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506" name="Oval 20"/>
              <p:cNvSpPr>
                <a:spLocks noChangeArrowheads="1"/>
              </p:cNvSpPr>
              <p:nvPr/>
            </p:nvSpPr>
            <p:spPr bwMode="auto">
              <a:xfrm>
                <a:off x="1494" y="2011"/>
                <a:ext cx="68" cy="68"/>
              </a:xfrm>
              <a:prstGeom prst="ellipse">
                <a:avLst/>
              </a:prstGeom>
              <a:solidFill>
                <a:srgbClr val="3333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507" name="Oval 22"/>
              <p:cNvSpPr>
                <a:spLocks noChangeArrowheads="1"/>
              </p:cNvSpPr>
              <p:nvPr/>
            </p:nvSpPr>
            <p:spPr bwMode="auto">
              <a:xfrm>
                <a:off x="1528" y="1241"/>
                <a:ext cx="1115" cy="1692"/>
              </a:xfrm>
              <a:prstGeom prst="ellipse">
                <a:avLst/>
              </a:prstGeom>
              <a:noFill/>
              <a:ln w="127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508" name="Text Box 24"/>
              <p:cNvSpPr txBox="1">
                <a:spLocks noChangeArrowheads="1"/>
              </p:cNvSpPr>
              <p:nvPr/>
            </p:nvSpPr>
            <p:spPr bwMode="auto">
              <a:xfrm>
                <a:off x="1781" y="2308"/>
                <a:ext cx="733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Núcleo</a:t>
                </a:r>
              </a:p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(10</a:t>
                </a:r>
                <a:r>
                  <a:rPr lang="es-ES" sz="2400" baseline="30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</a:t>
                </a:r>
                <a:r>
                  <a:rPr lang="es-ES" sz="2400" baseline="30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15 </a:t>
                </a: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m)</a:t>
                </a:r>
              </a:p>
            </p:txBody>
          </p:sp>
          <p:sp>
            <p:nvSpPr>
              <p:cNvPr id="19509" name="Text Box 25"/>
              <p:cNvSpPr txBox="1">
                <a:spLocks noChangeArrowheads="1"/>
              </p:cNvSpPr>
              <p:nvPr/>
            </p:nvSpPr>
            <p:spPr bwMode="auto">
              <a:xfrm>
                <a:off x="3146" y="1867"/>
                <a:ext cx="26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e</a:t>
                </a:r>
                <a:r>
                  <a:rPr lang="es-ES" sz="2400" baseline="30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</a:t>
                </a:r>
              </a:p>
            </p:txBody>
          </p:sp>
          <p:sp>
            <p:nvSpPr>
              <p:cNvPr id="19510" name="Text Box 26"/>
              <p:cNvSpPr txBox="1">
                <a:spLocks noChangeArrowheads="1"/>
              </p:cNvSpPr>
              <p:nvPr/>
            </p:nvSpPr>
            <p:spPr bwMode="auto">
              <a:xfrm>
                <a:off x="1781" y="1653"/>
                <a:ext cx="20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p</a:t>
                </a:r>
              </a:p>
            </p:txBody>
          </p:sp>
          <p:sp>
            <p:nvSpPr>
              <p:cNvPr id="19511" name="Text Box 27"/>
              <p:cNvSpPr txBox="1">
                <a:spLocks noChangeArrowheads="1"/>
              </p:cNvSpPr>
              <p:nvPr/>
            </p:nvSpPr>
            <p:spPr bwMode="auto">
              <a:xfrm>
                <a:off x="2287" y="1757"/>
                <a:ext cx="20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n</a:t>
                </a:r>
              </a:p>
            </p:txBody>
          </p:sp>
          <p:sp>
            <p:nvSpPr>
              <p:cNvPr id="19512" name="Text Box 31"/>
              <p:cNvSpPr txBox="1">
                <a:spLocks noChangeArrowheads="1"/>
              </p:cNvSpPr>
              <p:nvPr/>
            </p:nvSpPr>
            <p:spPr bwMode="auto">
              <a:xfrm>
                <a:off x="2844" y="2318"/>
                <a:ext cx="733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Corteza</a:t>
                </a:r>
              </a:p>
              <a:p>
                <a:pPr algn="ctr"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(10</a:t>
                </a:r>
                <a:r>
                  <a:rPr lang="es-ES" sz="2400" baseline="30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10 </a:t>
                </a: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m)</a:t>
                </a:r>
              </a:p>
            </p:txBody>
          </p:sp>
        </p:grpSp>
        <p:sp>
          <p:nvSpPr>
            <p:cNvPr id="19498" name="Text Box 67"/>
            <p:cNvSpPr txBox="1">
              <a:spLocks noChangeArrowheads="1"/>
            </p:cNvSpPr>
            <p:nvPr/>
          </p:nvSpPr>
          <p:spPr bwMode="auto">
            <a:xfrm>
              <a:off x="5667" y="952"/>
              <a:ext cx="7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p: protón</a:t>
              </a:r>
            </a:p>
          </p:txBody>
        </p:sp>
        <p:sp>
          <p:nvSpPr>
            <p:cNvPr id="19499" name="Text Box 68"/>
            <p:cNvSpPr txBox="1">
              <a:spLocks noChangeArrowheads="1"/>
            </p:cNvSpPr>
            <p:nvPr/>
          </p:nvSpPr>
          <p:spPr bwMode="auto">
            <a:xfrm>
              <a:off x="5671" y="1181"/>
              <a:ext cx="8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n: neutrón</a:t>
              </a:r>
            </a:p>
          </p:txBody>
        </p:sp>
      </p:grpSp>
      <p:sp>
        <p:nvSpPr>
          <p:cNvPr id="19491" name="Text Box 40"/>
          <p:cNvSpPr txBox="1">
            <a:spLocks noChangeArrowheads="1"/>
          </p:cNvSpPr>
          <p:nvPr/>
        </p:nvSpPr>
        <p:spPr bwMode="auto">
          <a:xfrm>
            <a:off x="1298873" y="1055156"/>
            <a:ext cx="5500448" cy="46384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materia esta formada por átomos</a:t>
            </a:r>
          </a:p>
        </p:txBody>
      </p:sp>
      <p:sp>
        <p:nvSpPr>
          <p:cNvPr id="64" name="Text Box 67"/>
          <p:cNvSpPr txBox="1">
            <a:spLocks noChangeArrowheads="1"/>
          </p:cNvSpPr>
          <p:nvPr/>
        </p:nvSpPr>
        <p:spPr bwMode="auto">
          <a:xfrm>
            <a:off x="1448394" y="1979600"/>
            <a:ext cx="1320724" cy="4638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ÁTOMO</a:t>
            </a:r>
          </a:p>
        </p:txBody>
      </p:sp>
      <p:grpSp>
        <p:nvGrpSpPr>
          <p:cNvPr id="55" name="Grupo 54"/>
          <p:cNvGrpSpPr/>
          <p:nvPr/>
        </p:nvGrpSpPr>
        <p:grpSpPr>
          <a:xfrm>
            <a:off x="7397039" y="1676856"/>
            <a:ext cx="1759375" cy="1669520"/>
            <a:chOff x="3835917" y="5171473"/>
            <a:chExt cx="1759375" cy="1669520"/>
          </a:xfrm>
        </p:grpSpPr>
        <p:sp>
          <p:nvSpPr>
            <p:cNvPr id="56" name="Rectángulo 55"/>
            <p:cNvSpPr/>
            <p:nvPr/>
          </p:nvSpPr>
          <p:spPr bwMode="auto">
            <a:xfrm>
              <a:off x="3862555" y="5171473"/>
              <a:ext cx="1732737" cy="166952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58" name="67 Grupo"/>
            <p:cNvGrpSpPr>
              <a:grpSpLocks/>
            </p:cNvGrpSpPr>
            <p:nvPr/>
          </p:nvGrpSpPr>
          <p:grpSpPr bwMode="auto">
            <a:xfrm>
              <a:off x="3835917" y="5254588"/>
              <a:ext cx="1030697" cy="1431904"/>
              <a:chOff x="2084868" y="5180553"/>
              <a:chExt cx="1030698" cy="1432810"/>
            </a:xfrm>
          </p:grpSpPr>
          <p:sp>
            <p:nvSpPr>
              <p:cNvPr id="59" name="Text Box 32"/>
              <p:cNvSpPr txBox="1">
                <a:spLocks noChangeArrowheads="1"/>
              </p:cNvSpPr>
              <p:nvPr/>
            </p:nvSpPr>
            <p:spPr bwMode="auto">
              <a:xfrm>
                <a:off x="2084868" y="5671921"/>
                <a:ext cx="80645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Q = 0</a:t>
                </a:r>
              </a:p>
            </p:txBody>
          </p:sp>
          <p:sp>
            <p:nvSpPr>
              <p:cNvPr id="60" name="Text Box 33"/>
              <p:cNvSpPr txBox="1">
                <a:spLocks noChangeArrowheads="1"/>
              </p:cNvSpPr>
              <p:nvPr/>
            </p:nvSpPr>
            <p:spPr bwMode="auto">
              <a:xfrm>
                <a:off x="2091628" y="5180553"/>
                <a:ext cx="1023938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Q = + e &gt; 0</a:t>
                </a:r>
              </a:p>
            </p:txBody>
          </p:sp>
          <p:sp>
            <p:nvSpPr>
              <p:cNvPr id="61" name="Text Box 34"/>
              <p:cNvSpPr txBox="1">
                <a:spLocks noChangeArrowheads="1"/>
              </p:cNvSpPr>
              <p:nvPr/>
            </p:nvSpPr>
            <p:spPr bwMode="auto">
              <a:xfrm>
                <a:off x="2084868" y="6216488"/>
                <a:ext cx="101600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Q = </a:t>
                </a: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 </a:t>
                </a:r>
                <a:r>
                  <a:rPr lang="es-ES" sz="2400">
                    <a:latin typeface="Arial" panose="020B0604020202020204" pitchFamily="34" charset="0"/>
                  </a:rPr>
                  <a:t>e &lt; 0</a:t>
                </a:r>
              </a:p>
            </p:txBody>
          </p:sp>
        </p:grpSp>
      </p:grpSp>
      <p:sp>
        <p:nvSpPr>
          <p:cNvPr id="63" name="Text Box 39"/>
          <p:cNvSpPr txBox="1">
            <a:spLocks noChangeArrowheads="1"/>
          </p:cNvSpPr>
          <p:nvPr/>
        </p:nvSpPr>
        <p:spPr bwMode="auto">
          <a:xfrm>
            <a:off x="6397104" y="3604825"/>
            <a:ext cx="3995193" cy="55109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Nº ATÓMICO = Z = N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= N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e-</a:t>
            </a:r>
            <a:endParaRPr lang="es-ES" sz="24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8" name="Text Box 43"/>
          <p:cNvSpPr txBox="1">
            <a:spLocks noChangeArrowheads="1"/>
          </p:cNvSpPr>
          <p:nvPr/>
        </p:nvSpPr>
        <p:spPr bwMode="auto">
          <a:xfrm>
            <a:off x="6403554" y="4580765"/>
            <a:ext cx="2533526" cy="9567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EL ÁTOMO ES NEUTRO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1" name="Text Box 52"/>
          <p:cNvSpPr txBox="1">
            <a:spLocks noChangeArrowheads="1"/>
          </p:cNvSpPr>
          <p:nvPr/>
        </p:nvSpPr>
        <p:spPr bwMode="auto">
          <a:xfrm>
            <a:off x="5886849" y="6298351"/>
            <a:ext cx="449768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Si gana   es un  </a:t>
            </a:r>
            <a:r>
              <a:rPr lang="es-ES" sz="2400" b="1">
                <a:latin typeface="Arial" panose="020B0604020202020204" pitchFamily="34" charset="0"/>
              </a:rPr>
              <a:t>ANIÓN</a:t>
            </a:r>
            <a:r>
              <a:rPr lang="es-ES" sz="2400">
                <a:latin typeface="Arial" panose="020B0604020202020204" pitchFamily="34" charset="0"/>
              </a:rPr>
              <a:t> 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(Q &lt; 0)</a:t>
            </a:r>
          </a:p>
        </p:txBody>
      </p:sp>
      <p:sp>
        <p:nvSpPr>
          <p:cNvPr id="72" name="Text Box 65"/>
          <p:cNvSpPr txBox="1">
            <a:spLocks noChangeArrowheads="1"/>
          </p:cNvSpPr>
          <p:nvPr/>
        </p:nvSpPr>
        <p:spPr bwMode="auto">
          <a:xfrm>
            <a:off x="5870706" y="5804433"/>
            <a:ext cx="451108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Si pierde es un </a:t>
            </a:r>
            <a:r>
              <a:rPr lang="es-ES" sz="2400" b="1">
                <a:latin typeface="Arial" panose="020B0604020202020204" pitchFamily="34" charset="0"/>
              </a:rPr>
              <a:t>CATIÓN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(Q &gt; 0)</a:t>
            </a:r>
          </a:p>
        </p:txBody>
      </p:sp>
      <p:sp>
        <p:nvSpPr>
          <p:cNvPr id="73" name="Text Box 65"/>
          <p:cNvSpPr txBox="1">
            <a:spLocks noChangeArrowheads="1"/>
          </p:cNvSpPr>
          <p:nvPr/>
        </p:nvSpPr>
        <p:spPr bwMode="auto">
          <a:xfrm>
            <a:off x="1663380" y="5798545"/>
            <a:ext cx="3828620" cy="95677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72000" tIns="108000" rIns="72000" bIns="108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Si gana o pierde e</a:t>
            </a:r>
            <a:r>
              <a:rPr lang="es-ES" sz="2400" baseline="30000" dirty="0">
                <a:latin typeface="Arial" panose="020B0604020202020204" pitchFamily="34" charset="0"/>
              </a:rPr>
              <a:t>-</a:t>
            </a:r>
            <a:r>
              <a:rPr lang="es-ES" sz="2400" dirty="0">
                <a:latin typeface="Arial" panose="020B0604020202020204" pitchFamily="34" charset="0"/>
              </a:rPr>
              <a:t> deja de </a:t>
            </a:r>
            <a:r>
              <a:rPr lang="es-ES" sz="2400">
                <a:latin typeface="Arial" panose="020B0604020202020204" pitchFamily="34" charset="0"/>
              </a:rPr>
              <a:t>ser neutro </a:t>
            </a:r>
            <a:r>
              <a:rPr lang="es-ES" sz="2400" dirty="0">
                <a:latin typeface="Arial" panose="020B0604020202020204" pitchFamily="34" charset="0"/>
              </a:rPr>
              <a:t>y es un </a:t>
            </a:r>
            <a:r>
              <a:rPr lang="es-ES" sz="2400" b="1" dirty="0">
                <a:latin typeface="Arial" panose="020B0604020202020204" pitchFamily="34" charset="0"/>
              </a:rPr>
              <a:t>ION</a:t>
            </a:r>
          </a:p>
        </p:txBody>
      </p:sp>
      <p:sp>
        <p:nvSpPr>
          <p:cNvPr id="74" name="AutoShape 79"/>
          <p:cNvSpPr>
            <a:spLocks/>
          </p:cNvSpPr>
          <p:nvPr/>
        </p:nvSpPr>
        <p:spPr bwMode="auto">
          <a:xfrm>
            <a:off x="5646810" y="5861929"/>
            <a:ext cx="236538" cy="892368"/>
          </a:xfrm>
          <a:prstGeom prst="leftBrace">
            <a:avLst>
              <a:gd name="adj1" fmla="val 29853"/>
              <a:gd name="adj2" fmla="val 50000"/>
            </a:avLst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51C08830-44C5-9E64-873F-5E9B161CAB1A}"/>
              </a:ext>
            </a:extLst>
          </p:cNvPr>
          <p:cNvGrpSpPr/>
          <p:nvPr/>
        </p:nvGrpSpPr>
        <p:grpSpPr>
          <a:xfrm>
            <a:off x="9269428" y="1968456"/>
            <a:ext cx="1362613" cy="3096000"/>
            <a:chOff x="9269428" y="1968456"/>
            <a:chExt cx="1362613" cy="3096000"/>
          </a:xfrm>
        </p:grpSpPr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6095C74B-F970-DC59-1E06-670895826661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9076933" y="3516456"/>
              <a:ext cx="3096000" cy="0"/>
            </a:xfrm>
            <a:prstGeom prst="line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55D05E98-FB62-47FD-8F4E-14FE3E2F34C6}"/>
                </a:ext>
              </a:extLst>
            </p:cNvPr>
            <p:cNvCxnSpPr/>
            <p:nvPr/>
          </p:nvCxnSpPr>
          <p:spPr bwMode="auto">
            <a:xfrm>
              <a:off x="9269428" y="1979600"/>
              <a:ext cx="1354049" cy="0"/>
            </a:xfrm>
            <a:prstGeom prst="line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030EC2B1-01AF-D5CA-9772-69081E341F32}"/>
                </a:ext>
              </a:extLst>
            </p:cNvPr>
            <p:cNvCxnSpPr/>
            <p:nvPr/>
          </p:nvCxnSpPr>
          <p:spPr bwMode="auto">
            <a:xfrm>
              <a:off x="9277992" y="3025848"/>
              <a:ext cx="1354049" cy="0"/>
            </a:xfrm>
            <a:prstGeom prst="line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B6E17F1F-7AF7-F457-DDF6-2CD2BAA519CE}"/>
              </a:ext>
            </a:extLst>
          </p:cNvPr>
          <p:cNvGrpSpPr/>
          <p:nvPr/>
        </p:nvGrpSpPr>
        <p:grpSpPr>
          <a:xfrm>
            <a:off x="9034991" y="4820988"/>
            <a:ext cx="1586776" cy="447547"/>
            <a:chOff x="9034991" y="4820988"/>
            <a:chExt cx="1586776" cy="447547"/>
          </a:xfrm>
        </p:grpSpPr>
        <p:sp>
          <p:nvSpPr>
            <p:cNvPr id="41" name="AutoShape 168"/>
            <p:cNvSpPr>
              <a:spLocks noChangeArrowheads="1"/>
            </p:cNvSpPr>
            <p:nvPr/>
          </p:nvSpPr>
          <p:spPr bwMode="auto">
            <a:xfrm flipH="1">
              <a:off x="9034991" y="4820988"/>
              <a:ext cx="504000" cy="447547"/>
            </a:xfrm>
            <a:prstGeom prst="rightArrow">
              <a:avLst>
                <a:gd name="adj1" fmla="val 55037"/>
                <a:gd name="adj2" fmla="val 50213"/>
              </a:avLst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</p:spPr>
          <p:txBody>
            <a:bodyPr vert="eaVert"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3952E29D-ADA5-2DD5-2096-1CAE00368A46}"/>
                </a:ext>
              </a:extLst>
            </p:cNvPr>
            <p:cNvCxnSpPr/>
            <p:nvPr/>
          </p:nvCxnSpPr>
          <p:spPr bwMode="auto">
            <a:xfrm>
              <a:off x="9267718" y="5048134"/>
              <a:ext cx="1354049" cy="0"/>
            </a:xfrm>
            <a:prstGeom prst="line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0E7DC5D8-6B02-1A49-0234-159C3C3955FF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9240668" y="4566930"/>
            <a:ext cx="924836" cy="0"/>
          </a:xfrm>
          <a:prstGeom prst="lin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16368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8" grpId="0" animBg="1"/>
      <p:bldP spid="71" grpId="0"/>
      <p:bldP spid="72" grpId="0"/>
      <p:bldP spid="73" grpId="0" animBg="1"/>
      <p:bldP spid="7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0" name="Text Box 4"/>
          <p:cNvSpPr txBox="1">
            <a:spLocks noChangeArrowheads="1"/>
          </p:cNvSpPr>
          <p:nvPr/>
        </p:nvSpPr>
        <p:spPr bwMode="auto">
          <a:xfrm>
            <a:off x="1818681" y="3339967"/>
            <a:ext cx="7575550" cy="194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Los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QUARKS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que son las únicas partículas en la Naturaleza con </a:t>
            </a:r>
            <a:r>
              <a:rPr lang="es-ES" sz="2400" i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 fraccionaria</a:t>
            </a:r>
            <a:r>
              <a:rPr lang="es-ES" sz="2400" i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(una fracción de 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«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»)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no se observan solos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siempre aparecen en grupo, con una carga total no fraccionaria, un número entero de veces 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«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»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67942" name="Text Box 6"/>
          <p:cNvSpPr txBox="1">
            <a:spLocks noChangeArrowheads="1"/>
          </p:cNvSpPr>
          <p:nvPr/>
        </p:nvSpPr>
        <p:spPr bwMode="auto">
          <a:xfrm>
            <a:off x="1828687" y="5318284"/>
            <a:ext cx="3571988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Por tanto, a todas las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partículas observadas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les pasa lo mismo.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20963AC-36A9-46FD-AFF0-C8DE37AB1007}"/>
              </a:ext>
            </a:extLst>
          </p:cNvPr>
          <p:cNvGrpSpPr/>
          <p:nvPr/>
        </p:nvGrpSpPr>
        <p:grpSpPr>
          <a:xfrm>
            <a:off x="1249745" y="877182"/>
            <a:ext cx="476030" cy="1810364"/>
            <a:chOff x="1249745" y="877182"/>
            <a:chExt cx="476030" cy="1810364"/>
          </a:xfrm>
        </p:grpSpPr>
        <p:sp>
          <p:nvSpPr>
            <p:cNvPr id="29" name="Rectángulo 28"/>
            <p:cNvSpPr/>
            <p:nvPr/>
          </p:nvSpPr>
          <p:spPr bwMode="auto">
            <a:xfrm>
              <a:off x="1249745" y="881403"/>
              <a:ext cx="453613" cy="1806143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21516" name="66 Grupo"/>
            <p:cNvGrpSpPr>
              <a:grpSpLocks/>
            </p:cNvGrpSpPr>
            <p:nvPr/>
          </p:nvGrpSpPr>
          <p:grpSpPr bwMode="auto">
            <a:xfrm>
              <a:off x="1249745" y="877182"/>
              <a:ext cx="476030" cy="1574751"/>
              <a:chOff x="1430337" y="5232665"/>
              <a:chExt cx="476031" cy="1575272"/>
            </a:xfrm>
            <a:noFill/>
          </p:grpSpPr>
          <p:sp>
            <p:nvSpPr>
              <p:cNvPr id="21532" name="Text Box 28"/>
              <p:cNvSpPr txBox="1">
                <a:spLocks noChangeArrowheads="1"/>
              </p:cNvSpPr>
              <p:nvPr/>
            </p:nvSpPr>
            <p:spPr bwMode="auto">
              <a:xfrm>
                <a:off x="1430337" y="5869174"/>
                <a:ext cx="415925" cy="3968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21533" name="Text Box 29"/>
              <p:cNvSpPr txBox="1">
                <a:spLocks noChangeArrowheads="1"/>
              </p:cNvSpPr>
              <p:nvPr/>
            </p:nvSpPr>
            <p:spPr bwMode="auto">
              <a:xfrm>
                <a:off x="1446212" y="6411062"/>
                <a:ext cx="400049" cy="3968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21534" name="Text Box 30"/>
              <p:cNvSpPr txBox="1">
                <a:spLocks noChangeArrowheads="1"/>
              </p:cNvSpPr>
              <p:nvPr/>
            </p:nvSpPr>
            <p:spPr bwMode="auto">
              <a:xfrm>
                <a:off x="1493618" y="5232665"/>
                <a:ext cx="412750" cy="3968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e</a:t>
                </a:r>
                <a:r>
                  <a:rPr lang="es-ES" sz="2400" baseline="300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</a:t>
                </a:r>
              </a:p>
            </p:txBody>
          </p:sp>
        </p:grp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DD8C881B-33B5-7EBE-E3A6-7794F18F4186}"/>
              </a:ext>
            </a:extLst>
          </p:cNvPr>
          <p:cNvGrpSpPr/>
          <p:nvPr/>
        </p:nvGrpSpPr>
        <p:grpSpPr>
          <a:xfrm>
            <a:off x="4208260" y="1575731"/>
            <a:ext cx="3298827" cy="1071562"/>
            <a:chOff x="4208260" y="1575731"/>
            <a:chExt cx="3298827" cy="1071562"/>
          </a:xfrm>
        </p:grpSpPr>
        <p:sp>
          <p:nvSpPr>
            <p:cNvPr id="21526" name="Text Box 47"/>
            <p:cNvSpPr txBox="1">
              <a:spLocks noChangeArrowheads="1"/>
            </p:cNvSpPr>
            <p:nvPr/>
          </p:nvSpPr>
          <p:spPr bwMode="auto">
            <a:xfrm>
              <a:off x="4428923" y="1575731"/>
              <a:ext cx="2859089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 = 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+ 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+ 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1527" name="Text Box 48"/>
            <p:cNvSpPr txBox="1">
              <a:spLocks noChangeArrowheads="1"/>
            </p:cNvSpPr>
            <p:nvPr/>
          </p:nvSpPr>
          <p:spPr bwMode="auto">
            <a:xfrm>
              <a:off x="4422573" y="2213906"/>
              <a:ext cx="3084514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 = 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+ 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+ 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1528" name="AutoShape 56"/>
            <p:cNvSpPr>
              <a:spLocks/>
            </p:cNvSpPr>
            <p:nvPr/>
          </p:nvSpPr>
          <p:spPr bwMode="auto">
            <a:xfrm>
              <a:off x="4208260" y="1597956"/>
              <a:ext cx="236538" cy="1049337"/>
            </a:xfrm>
            <a:prstGeom prst="leftBrace">
              <a:avLst>
                <a:gd name="adj1" fmla="val 36969"/>
                <a:gd name="adj2" fmla="val 50000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2386" name="Group 98"/>
          <p:cNvGrpSpPr>
            <a:grpSpLocks/>
          </p:cNvGrpSpPr>
          <p:nvPr/>
        </p:nvGrpSpPr>
        <p:grpSpPr bwMode="auto">
          <a:xfrm>
            <a:off x="1828687" y="901650"/>
            <a:ext cx="3617912" cy="514350"/>
            <a:chOff x="2971" y="3236"/>
            <a:chExt cx="2279" cy="324"/>
          </a:xfrm>
        </p:grpSpPr>
        <p:sp>
          <p:nvSpPr>
            <p:cNvPr id="21524" name="Text Box 63"/>
            <p:cNvSpPr txBox="1">
              <a:spLocks noChangeArrowheads="1"/>
            </p:cNvSpPr>
            <p:nvPr/>
          </p:nvSpPr>
          <p:spPr bwMode="auto">
            <a:xfrm>
              <a:off x="3243" y="3236"/>
              <a:ext cx="2007" cy="324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72000" rIns="90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Partícula fundamental</a:t>
              </a:r>
              <a:endParaRPr lang="es-ES" sz="2400" i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25" name="Line 71"/>
            <p:cNvSpPr>
              <a:spLocks noChangeShapeType="1"/>
            </p:cNvSpPr>
            <p:nvPr/>
          </p:nvSpPr>
          <p:spPr bwMode="auto">
            <a:xfrm rot="-5400000">
              <a:off x="3057" y="3304"/>
              <a:ext cx="0" cy="17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12375" name="Group 87"/>
          <p:cNvGrpSpPr>
            <a:grpSpLocks/>
          </p:cNvGrpSpPr>
          <p:nvPr/>
        </p:nvGrpSpPr>
        <p:grpSpPr bwMode="auto">
          <a:xfrm>
            <a:off x="1806877" y="1561016"/>
            <a:ext cx="2420945" cy="1308109"/>
            <a:chOff x="3302" y="3609"/>
            <a:chExt cx="1525" cy="824"/>
          </a:xfrm>
        </p:grpSpPr>
        <p:sp>
          <p:nvSpPr>
            <p:cNvPr id="21521" name="Text Box 46"/>
            <p:cNvSpPr txBox="1">
              <a:spLocks noChangeArrowheads="1"/>
            </p:cNvSpPr>
            <p:nvPr/>
          </p:nvSpPr>
          <p:spPr bwMode="auto">
            <a:xfrm>
              <a:off x="3596" y="4126"/>
              <a:ext cx="1069" cy="30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FFFF"/>
                  </a:solidFill>
                  <a:latin typeface="Arial" panose="020B0604020202020204" pitchFamily="34" charset="0"/>
                </a:rPr>
                <a:t>3 QUARKS</a:t>
              </a:r>
            </a:p>
          </p:txBody>
        </p:sp>
        <p:sp>
          <p:nvSpPr>
            <p:cNvPr id="21522" name="AutoShape 60"/>
            <p:cNvSpPr>
              <a:spLocks/>
            </p:cNvSpPr>
            <p:nvPr/>
          </p:nvSpPr>
          <p:spPr bwMode="auto">
            <a:xfrm>
              <a:off x="3302" y="3609"/>
              <a:ext cx="153" cy="703"/>
            </a:xfrm>
            <a:prstGeom prst="rightBrace">
              <a:avLst>
                <a:gd name="adj1" fmla="val 38290"/>
                <a:gd name="adj2" fmla="val 50000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23" name="Text Box 86"/>
            <p:cNvSpPr txBox="1">
              <a:spLocks noChangeArrowheads="1"/>
            </p:cNvSpPr>
            <p:nvPr/>
          </p:nvSpPr>
          <p:spPr bwMode="auto">
            <a:xfrm>
              <a:off x="3451" y="3777"/>
              <a:ext cx="1376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</a:rPr>
                <a:t>Formados por:</a:t>
              </a:r>
            </a:p>
          </p:txBody>
        </p:sp>
      </p:grpSp>
      <p:sp>
        <p:nvSpPr>
          <p:cNvPr id="31" name="Text Box 63"/>
          <p:cNvSpPr txBox="1">
            <a:spLocks noChangeArrowheads="1"/>
          </p:cNvSpPr>
          <p:nvPr/>
        </p:nvSpPr>
        <p:spPr bwMode="auto">
          <a:xfrm>
            <a:off x="5464941" y="903311"/>
            <a:ext cx="4864219" cy="514738"/>
          </a:xfrm>
          <a:prstGeom prst="rect">
            <a:avLst/>
          </a:prstGeom>
          <a:noFill/>
          <a:ln>
            <a:noFill/>
          </a:ln>
        </p:spPr>
        <p:txBody>
          <a:bodyPr wrap="squar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i="1">
                <a:solidFill>
                  <a:srgbClr val="FF0000"/>
                </a:solidFill>
                <a:latin typeface="Arial" panose="020B0604020202020204" pitchFamily="34" charset="0"/>
              </a:rPr>
              <a:t>porque no tiene estructura interna</a:t>
            </a:r>
          </a:p>
        </p:txBody>
      </p:sp>
      <p:sp>
        <p:nvSpPr>
          <p:cNvPr id="32" name="Text Box 6"/>
          <p:cNvSpPr txBox="1">
            <a:spLocks noChangeArrowheads="1"/>
          </p:cNvSpPr>
          <p:nvPr/>
        </p:nvSpPr>
        <p:spPr bwMode="auto">
          <a:xfrm>
            <a:off x="5698688" y="5712148"/>
            <a:ext cx="302382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 = N  e con N  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8CA2B4A-DF74-499C-AD13-7522396A3EA2}"/>
              </a:ext>
            </a:extLst>
          </p:cNvPr>
          <p:cNvGrpSpPr/>
          <p:nvPr/>
        </p:nvGrpSpPr>
        <p:grpSpPr>
          <a:xfrm>
            <a:off x="6274323" y="6175994"/>
            <a:ext cx="4275564" cy="643308"/>
            <a:chOff x="6331793" y="6326378"/>
            <a:chExt cx="4275564" cy="643308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47FE2EC8-C3AE-484B-A76E-5F0251F02BD1}"/>
                </a:ext>
              </a:extLst>
            </p:cNvPr>
            <p:cNvGrpSpPr/>
            <p:nvPr/>
          </p:nvGrpSpPr>
          <p:grpSpPr>
            <a:xfrm>
              <a:off x="6331793" y="6326378"/>
              <a:ext cx="4275564" cy="643308"/>
              <a:chOff x="6331793" y="6326378"/>
              <a:chExt cx="4275564" cy="643308"/>
            </a:xfrm>
          </p:grpSpPr>
          <p:sp>
            <p:nvSpPr>
              <p:cNvPr id="13335" name="Text Box 31"/>
              <p:cNvSpPr txBox="1">
                <a:spLocks noChangeArrowheads="1"/>
              </p:cNvSpPr>
              <p:nvPr/>
            </p:nvSpPr>
            <p:spPr bwMode="auto">
              <a:xfrm>
                <a:off x="6331793" y="6508021"/>
                <a:ext cx="427556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es-ES" sz="2400" dirty="0">
                    <a:solidFill>
                      <a:srgbClr val="FF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(perteneciente a los enteros) </a:t>
                </a:r>
              </a:p>
            </p:txBody>
          </p:sp>
          <p:cxnSp>
            <p:nvCxnSpPr>
              <p:cNvPr id="23" name="Conector recto de flecha 22">
                <a:extLst>
                  <a:ext uri="{FF2B5EF4-FFF2-40B4-BE49-F238E27FC236}">
                    <a16:creationId xmlns:a16="http://schemas.microsoft.com/office/drawing/2014/main" id="{01F36371-2EA2-4BCA-87FD-2032A9FD16A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235574" y="6326378"/>
                <a:ext cx="0" cy="233012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849F751F-069C-428F-9EC4-1D50E0AABAEC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8235574" y="6181083"/>
              <a:ext cx="0" cy="290591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5" name="Text Box 3">
            <a:extLst>
              <a:ext uri="{FF2B5EF4-FFF2-40B4-BE49-F238E27FC236}">
                <a16:creationId xmlns:a16="http://schemas.microsoft.com/office/drawing/2014/main" id="{E6D90726-A476-4F88-8230-0A2A7D0BE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0457" y="376458"/>
            <a:ext cx="2888704" cy="51435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CUANTIZACIÓN</a:t>
            </a:r>
          </a:p>
        </p:txBody>
      </p:sp>
      <p:sp>
        <p:nvSpPr>
          <p:cNvPr id="6" name="Text Box 47">
            <a:extLst>
              <a:ext uri="{FF2B5EF4-FFF2-40B4-BE49-F238E27FC236}">
                <a16:creationId xmlns:a16="http://schemas.microsoft.com/office/drawing/2014/main" id="{EBA00F26-EBD9-62CA-2143-03F127E18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545" y="1612714"/>
            <a:ext cx="2859089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=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2/3 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1/3 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1/3 e = 0</a:t>
            </a:r>
          </a:p>
        </p:txBody>
      </p:sp>
      <p:sp>
        <p:nvSpPr>
          <p:cNvPr id="7" name="Text Box 48">
            <a:extLst>
              <a:ext uri="{FF2B5EF4-FFF2-40B4-BE49-F238E27FC236}">
                <a16:creationId xmlns:a16="http://schemas.microsoft.com/office/drawing/2014/main" id="{5F575185-BBFC-7CBA-F8BE-05C46E60A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7307" y="2231460"/>
            <a:ext cx="3084514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=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2/3 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+ 2/3 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1/3 e = +e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84E33BE-6984-E373-A017-3F352883722B}"/>
              </a:ext>
            </a:extLst>
          </p:cNvPr>
          <p:cNvGrpSpPr/>
          <p:nvPr/>
        </p:nvGrpSpPr>
        <p:grpSpPr>
          <a:xfrm>
            <a:off x="5336397" y="5450179"/>
            <a:ext cx="283324" cy="1009849"/>
            <a:chOff x="5408315" y="5450179"/>
            <a:chExt cx="283324" cy="1009849"/>
          </a:xfrm>
        </p:grpSpPr>
        <p:sp>
          <p:nvSpPr>
            <p:cNvPr id="9" name="Line 71">
              <a:extLst>
                <a:ext uri="{FF2B5EF4-FFF2-40B4-BE49-F238E27FC236}">
                  <a16:creationId xmlns:a16="http://schemas.microsoft.com/office/drawing/2014/main" id="{F07CAE49-CC54-BA43-F2EA-3CF6726F3A2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555114" y="5827015"/>
              <a:ext cx="0" cy="27305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GB" sz="2400"/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6DD8EBC2-A1E0-211A-2B44-C8906632EF46}"/>
                </a:ext>
              </a:extLst>
            </p:cNvPr>
            <p:cNvCxnSpPr/>
            <p:nvPr/>
          </p:nvCxnSpPr>
          <p:spPr bwMode="auto">
            <a:xfrm>
              <a:off x="5408315" y="5450179"/>
              <a:ext cx="0" cy="1009849"/>
            </a:xfrm>
            <a:prstGeom prst="line">
              <a:avLst/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6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6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0" grpId="0"/>
      <p:bldP spid="167942" grpId="0"/>
      <p:bldP spid="31" grpId="0"/>
      <p:bldP spid="32" grpId="0"/>
      <p:bldP spid="5" grpId="0" animBg="1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520963AC-36A9-46FD-AFF0-C8DE37AB1007}"/>
              </a:ext>
            </a:extLst>
          </p:cNvPr>
          <p:cNvGrpSpPr/>
          <p:nvPr/>
        </p:nvGrpSpPr>
        <p:grpSpPr>
          <a:xfrm>
            <a:off x="1249745" y="877182"/>
            <a:ext cx="476030" cy="1810364"/>
            <a:chOff x="1249745" y="877182"/>
            <a:chExt cx="476030" cy="1810364"/>
          </a:xfrm>
        </p:grpSpPr>
        <p:sp>
          <p:nvSpPr>
            <p:cNvPr id="29" name="Rectángulo 28"/>
            <p:cNvSpPr/>
            <p:nvPr/>
          </p:nvSpPr>
          <p:spPr bwMode="auto">
            <a:xfrm>
              <a:off x="1249745" y="881403"/>
              <a:ext cx="453613" cy="1806143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21516" name="66 Grupo"/>
            <p:cNvGrpSpPr>
              <a:grpSpLocks/>
            </p:cNvGrpSpPr>
            <p:nvPr/>
          </p:nvGrpSpPr>
          <p:grpSpPr bwMode="auto">
            <a:xfrm>
              <a:off x="1249745" y="877182"/>
              <a:ext cx="476030" cy="1574751"/>
              <a:chOff x="1430337" y="5232665"/>
              <a:chExt cx="476031" cy="1575272"/>
            </a:xfrm>
            <a:noFill/>
          </p:grpSpPr>
          <p:sp>
            <p:nvSpPr>
              <p:cNvPr id="21532" name="Text Box 28"/>
              <p:cNvSpPr txBox="1">
                <a:spLocks noChangeArrowheads="1"/>
              </p:cNvSpPr>
              <p:nvPr/>
            </p:nvSpPr>
            <p:spPr bwMode="auto">
              <a:xfrm>
                <a:off x="1430337" y="5869174"/>
                <a:ext cx="415925" cy="3968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21533" name="Text Box 29"/>
              <p:cNvSpPr txBox="1">
                <a:spLocks noChangeArrowheads="1"/>
              </p:cNvSpPr>
              <p:nvPr/>
            </p:nvSpPr>
            <p:spPr bwMode="auto">
              <a:xfrm>
                <a:off x="1446212" y="6411062"/>
                <a:ext cx="400049" cy="3968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21534" name="Text Box 30"/>
              <p:cNvSpPr txBox="1">
                <a:spLocks noChangeArrowheads="1"/>
              </p:cNvSpPr>
              <p:nvPr/>
            </p:nvSpPr>
            <p:spPr bwMode="auto">
              <a:xfrm>
                <a:off x="1493618" y="5232665"/>
                <a:ext cx="412750" cy="3968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e</a:t>
                </a:r>
                <a:r>
                  <a:rPr lang="es-ES" sz="2400" baseline="300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</a:t>
                </a:r>
              </a:p>
            </p:txBody>
          </p:sp>
        </p:grp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DD8C881B-33B5-7EBE-E3A6-7794F18F4186}"/>
              </a:ext>
            </a:extLst>
          </p:cNvPr>
          <p:cNvGrpSpPr/>
          <p:nvPr/>
        </p:nvGrpSpPr>
        <p:grpSpPr>
          <a:xfrm>
            <a:off x="4208260" y="1575731"/>
            <a:ext cx="3298827" cy="1071562"/>
            <a:chOff x="4208260" y="1575731"/>
            <a:chExt cx="3298827" cy="1071562"/>
          </a:xfrm>
        </p:grpSpPr>
        <p:sp>
          <p:nvSpPr>
            <p:cNvPr id="21526" name="Text Box 47"/>
            <p:cNvSpPr txBox="1">
              <a:spLocks noChangeArrowheads="1"/>
            </p:cNvSpPr>
            <p:nvPr/>
          </p:nvSpPr>
          <p:spPr bwMode="auto">
            <a:xfrm>
              <a:off x="4428923" y="1575731"/>
              <a:ext cx="2859089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 = 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+ 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+ 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1527" name="Text Box 48"/>
            <p:cNvSpPr txBox="1">
              <a:spLocks noChangeArrowheads="1"/>
            </p:cNvSpPr>
            <p:nvPr/>
          </p:nvSpPr>
          <p:spPr bwMode="auto">
            <a:xfrm>
              <a:off x="4422573" y="2213906"/>
              <a:ext cx="3084514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 = 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+ 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+ 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1528" name="AutoShape 56"/>
            <p:cNvSpPr>
              <a:spLocks/>
            </p:cNvSpPr>
            <p:nvPr/>
          </p:nvSpPr>
          <p:spPr bwMode="auto">
            <a:xfrm>
              <a:off x="4208260" y="1597956"/>
              <a:ext cx="236538" cy="1049337"/>
            </a:xfrm>
            <a:prstGeom prst="leftBrace">
              <a:avLst>
                <a:gd name="adj1" fmla="val 36969"/>
                <a:gd name="adj2" fmla="val 50000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2386" name="Group 98"/>
          <p:cNvGrpSpPr>
            <a:grpSpLocks/>
          </p:cNvGrpSpPr>
          <p:nvPr/>
        </p:nvGrpSpPr>
        <p:grpSpPr bwMode="auto">
          <a:xfrm>
            <a:off x="1828687" y="901650"/>
            <a:ext cx="3617912" cy="514350"/>
            <a:chOff x="2971" y="3236"/>
            <a:chExt cx="2279" cy="324"/>
          </a:xfrm>
        </p:grpSpPr>
        <p:sp>
          <p:nvSpPr>
            <p:cNvPr id="21524" name="Text Box 63"/>
            <p:cNvSpPr txBox="1">
              <a:spLocks noChangeArrowheads="1"/>
            </p:cNvSpPr>
            <p:nvPr/>
          </p:nvSpPr>
          <p:spPr bwMode="auto">
            <a:xfrm>
              <a:off x="3243" y="3236"/>
              <a:ext cx="2007" cy="324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72000" rIns="90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Partícula fundamental</a:t>
              </a:r>
              <a:endParaRPr lang="es-ES" sz="2400" i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25" name="Line 71"/>
            <p:cNvSpPr>
              <a:spLocks noChangeShapeType="1"/>
            </p:cNvSpPr>
            <p:nvPr/>
          </p:nvSpPr>
          <p:spPr bwMode="auto">
            <a:xfrm rot="-5400000">
              <a:off x="3057" y="3304"/>
              <a:ext cx="0" cy="17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n-GB" sz="2400"/>
            </a:p>
          </p:txBody>
        </p:sp>
      </p:grpSp>
      <p:grpSp>
        <p:nvGrpSpPr>
          <p:cNvPr id="12375" name="Group 87"/>
          <p:cNvGrpSpPr>
            <a:grpSpLocks/>
          </p:cNvGrpSpPr>
          <p:nvPr/>
        </p:nvGrpSpPr>
        <p:grpSpPr bwMode="auto">
          <a:xfrm>
            <a:off x="1806877" y="1561016"/>
            <a:ext cx="2420945" cy="1308109"/>
            <a:chOff x="3302" y="3609"/>
            <a:chExt cx="1525" cy="824"/>
          </a:xfrm>
        </p:grpSpPr>
        <p:sp>
          <p:nvSpPr>
            <p:cNvPr id="21521" name="Text Box 46"/>
            <p:cNvSpPr txBox="1">
              <a:spLocks noChangeArrowheads="1"/>
            </p:cNvSpPr>
            <p:nvPr/>
          </p:nvSpPr>
          <p:spPr bwMode="auto">
            <a:xfrm>
              <a:off x="3596" y="4126"/>
              <a:ext cx="1069" cy="30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FFFF"/>
                  </a:solidFill>
                  <a:latin typeface="Arial" panose="020B0604020202020204" pitchFamily="34" charset="0"/>
                </a:rPr>
                <a:t>3 QUARKS</a:t>
              </a:r>
            </a:p>
          </p:txBody>
        </p:sp>
        <p:sp>
          <p:nvSpPr>
            <p:cNvPr id="21522" name="AutoShape 60"/>
            <p:cNvSpPr>
              <a:spLocks/>
            </p:cNvSpPr>
            <p:nvPr/>
          </p:nvSpPr>
          <p:spPr bwMode="auto">
            <a:xfrm>
              <a:off x="3302" y="3609"/>
              <a:ext cx="153" cy="703"/>
            </a:xfrm>
            <a:prstGeom prst="rightBrace">
              <a:avLst>
                <a:gd name="adj1" fmla="val 38290"/>
                <a:gd name="adj2" fmla="val 50000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23" name="Text Box 86"/>
            <p:cNvSpPr txBox="1">
              <a:spLocks noChangeArrowheads="1"/>
            </p:cNvSpPr>
            <p:nvPr/>
          </p:nvSpPr>
          <p:spPr bwMode="auto">
            <a:xfrm>
              <a:off x="3451" y="3777"/>
              <a:ext cx="1376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</a:rPr>
                <a:t>Formados por:</a:t>
              </a:r>
            </a:p>
          </p:txBody>
        </p:sp>
      </p:grpSp>
      <p:sp>
        <p:nvSpPr>
          <p:cNvPr id="5" name="Text Box 3">
            <a:extLst>
              <a:ext uri="{FF2B5EF4-FFF2-40B4-BE49-F238E27FC236}">
                <a16:creationId xmlns:a16="http://schemas.microsoft.com/office/drawing/2014/main" id="{E6D90726-A476-4F88-8230-0A2A7D0BE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0457" y="376458"/>
            <a:ext cx="2888704" cy="51435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CUANTIZACIÓN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BEC64278-1A2E-6E86-42E4-8C1A4DE61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321" y="3322461"/>
            <a:ext cx="7723562" cy="1275213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 de un sistema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(de un conjunto de partículas) resulta ser, también,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un múltiplo entero de </a:t>
            </a:r>
            <a:r>
              <a:rPr lang="en-US" sz="24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«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»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al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serlo</a:t>
            </a:r>
            <a:endParaRPr lang="en-U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carga de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cada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una de las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partículas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de ese conjunto.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1D4B6D8B-9668-7117-67A9-5DAD09C63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834" y="5232357"/>
            <a:ext cx="2706687" cy="90588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CARGA ESTÁ CUANTIZADA</a:t>
            </a: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60A43960-5159-C958-94EC-C25BF792E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3532" y="5289974"/>
            <a:ext cx="4976359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Solo toma ciertos valores,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ciertas "cantidades"</a:t>
            </a:r>
          </a:p>
        </p:txBody>
      </p:sp>
      <p:sp>
        <p:nvSpPr>
          <p:cNvPr id="15" name="Text Box 80">
            <a:extLst>
              <a:ext uri="{FF2B5EF4-FFF2-40B4-BE49-F238E27FC236}">
                <a16:creationId xmlns:a16="http://schemas.microsoft.com/office/drawing/2014/main" id="{32A18CEB-6EF9-3ECA-C4A3-7E4E35947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0864" y="4668142"/>
            <a:ext cx="2446958" cy="53654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 dice que...</a:t>
            </a: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D219435A-A4A7-2732-A61F-0D691EC0D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290" y="6237839"/>
            <a:ext cx="482800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Es una variable discreta ("digital")</a:t>
            </a:r>
          </a:p>
        </p:txBody>
      </p:sp>
      <p:sp>
        <p:nvSpPr>
          <p:cNvPr id="2" name="Text Box 63">
            <a:extLst>
              <a:ext uri="{FF2B5EF4-FFF2-40B4-BE49-F238E27FC236}">
                <a16:creationId xmlns:a16="http://schemas.microsoft.com/office/drawing/2014/main" id="{B6A40F92-D831-5778-F7E4-242207157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4941" y="903311"/>
            <a:ext cx="4864219" cy="514738"/>
          </a:xfrm>
          <a:prstGeom prst="rect">
            <a:avLst/>
          </a:prstGeom>
          <a:noFill/>
          <a:ln>
            <a:noFill/>
          </a:ln>
        </p:spPr>
        <p:txBody>
          <a:bodyPr wrap="squar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i="1">
                <a:solidFill>
                  <a:srgbClr val="FF0000"/>
                </a:solidFill>
                <a:latin typeface="Arial" panose="020B0604020202020204" pitchFamily="34" charset="0"/>
              </a:rPr>
              <a:t>porque no tiene estructura interna</a:t>
            </a:r>
          </a:p>
        </p:txBody>
      </p:sp>
      <p:sp>
        <p:nvSpPr>
          <p:cNvPr id="3" name="Text Box 47">
            <a:extLst>
              <a:ext uri="{FF2B5EF4-FFF2-40B4-BE49-F238E27FC236}">
                <a16:creationId xmlns:a16="http://schemas.microsoft.com/office/drawing/2014/main" id="{B06DF916-13D1-6094-1CAA-65B998144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545" y="1612714"/>
            <a:ext cx="2859089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=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2/3 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1/3 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1/3 e = 0</a:t>
            </a:r>
          </a:p>
        </p:txBody>
      </p:sp>
      <p:sp>
        <p:nvSpPr>
          <p:cNvPr id="9" name="Text Box 48">
            <a:extLst>
              <a:ext uri="{FF2B5EF4-FFF2-40B4-BE49-F238E27FC236}">
                <a16:creationId xmlns:a16="http://schemas.microsoft.com/office/drawing/2014/main" id="{C815D78E-2A1A-886D-1FE2-3E30C4AFE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7307" y="2231460"/>
            <a:ext cx="3084514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=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2/3 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+ 2/3 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1/3 e = +e</a:t>
            </a:r>
          </a:p>
        </p:txBody>
      </p:sp>
    </p:spTree>
    <p:extLst>
      <p:ext uri="{BB962C8B-B14F-4D97-AF65-F5344CB8AC3E}">
        <p14:creationId xmlns:p14="http://schemas.microsoft.com/office/powerpoint/2010/main" val="266753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 animBg="1"/>
      <p:bldP spid="14" grpId="0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2" name="Text Box 27"/>
          <p:cNvSpPr txBox="1">
            <a:spLocks noChangeArrowheads="1"/>
          </p:cNvSpPr>
          <p:nvPr/>
        </p:nvSpPr>
        <p:spPr bwMode="auto">
          <a:xfrm>
            <a:off x="1421389" y="3605926"/>
            <a:ext cx="4722381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72000" tIns="72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A nivel “macroscópico”, a nuestro nivel, medimos nanoculombios</a:t>
            </a:r>
          </a:p>
        </p:txBody>
      </p:sp>
      <p:sp>
        <p:nvSpPr>
          <p:cNvPr id="23588" name="Text Box 12"/>
          <p:cNvSpPr txBox="1">
            <a:spLocks noChangeArrowheads="1"/>
          </p:cNvSpPr>
          <p:nvPr/>
        </p:nvSpPr>
        <p:spPr bwMode="auto">
          <a:xfrm>
            <a:off x="1862235" y="5634818"/>
            <a:ext cx="7808539" cy="120251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46800" rIns="90000" bIns="46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Por tanto, a nivel macroscópico, la carga se observa continua ("analógica"),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«n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o cuantizada</a:t>
            </a:r>
            <a:r>
              <a:rPr 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», no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se aprecian saltos en su valor</a:t>
            </a:r>
            <a:r>
              <a:rPr 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  <a:r>
              <a:rPr lang="es-ES" sz="2400" dirty="0">
                <a:latin typeface="Arial" panose="020B0604020202020204" pitchFamily="34" charset="0"/>
              </a:rPr>
              <a:t> puede tomar cualquier valor en </a:t>
            </a:r>
            <a:r>
              <a:rPr lang="es-ES" sz="2400" dirty="0" err="1">
                <a:latin typeface="Arial" panose="020B0604020202020204" pitchFamily="34" charset="0"/>
              </a:rPr>
              <a:t>nC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6759893" y="3584424"/>
            <a:ext cx="2870295" cy="938903"/>
            <a:chOff x="3107054" y="4958151"/>
            <a:chExt cx="2870079" cy="939376"/>
          </a:xfrm>
        </p:grpSpPr>
        <p:sp>
          <p:nvSpPr>
            <p:cNvPr id="23566" name="Text Box 36"/>
            <p:cNvSpPr txBox="1">
              <a:spLocks noChangeArrowheads="1"/>
            </p:cNvSpPr>
            <p:nvPr/>
          </p:nvSpPr>
          <p:spPr bwMode="auto">
            <a:xfrm>
              <a:off x="3846584" y="5435630"/>
              <a:ext cx="2130549" cy="46189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10</a:t>
              </a:r>
              <a:r>
                <a:rPr lang="es-ES" sz="2400" baseline="300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9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: nano = n</a:t>
              </a:r>
              <a:endParaRPr lang="es-ES" sz="2400" baseline="30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3568" name="CuadroTexto 3"/>
            <p:cNvSpPr txBox="1">
              <a:spLocks noChangeArrowheads="1"/>
            </p:cNvSpPr>
            <p:nvPr/>
          </p:nvSpPr>
          <p:spPr bwMode="auto">
            <a:xfrm>
              <a:off x="3107054" y="4958151"/>
              <a:ext cx="1846841" cy="4618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s-ES" sz="2400" dirty="0" err="1"/>
                <a:t>nC</a:t>
              </a:r>
              <a:r>
                <a:rPr lang="es-ES" sz="2400" dirty="0"/>
                <a:t> = 10</a:t>
              </a:r>
              <a:r>
                <a:rPr lang="es-ES" sz="2400" baseline="30000" dirty="0"/>
                <a:t>-9</a:t>
              </a:r>
              <a:r>
                <a:rPr lang="es-ES" sz="2400" dirty="0"/>
                <a:t>  C</a:t>
              </a:r>
            </a:p>
          </p:txBody>
        </p:sp>
      </p:grpSp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1424984" y="4627651"/>
            <a:ext cx="9216022" cy="88407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72000" tIns="72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108000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Un cambio en 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el salto en carga que implica, no es apreciable  </a:t>
            </a:r>
          </a:p>
          <a:p>
            <a:pPr marL="108000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porque ocurre a 10 ordenes de magnitud  por debajo, en 10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-19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C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1455243" y="2506451"/>
            <a:ext cx="3284541" cy="4635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  1,6 10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19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C</a:t>
            </a:r>
          </a:p>
        </p:txBody>
      </p:sp>
      <p:sp>
        <p:nvSpPr>
          <p:cNvPr id="28" name="AutoShape 33"/>
          <p:cNvSpPr>
            <a:spLocks noChangeArrowheads="1"/>
          </p:cNvSpPr>
          <p:nvPr/>
        </p:nvSpPr>
        <p:spPr bwMode="auto">
          <a:xfrm flipH="1">
            <a:off x="5039822" y="2603289"/>
            <a:ext cx="730251" cy="271463"/>
          </a:xfrm>
          <a:prstGeom prst="rightArrow">
            <a:avLst>
              <a:gd name="adj1" fmla="val 50000"/>
              <a:gd name="adj2" fmla="val 67251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 anchorCtr="0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35" name="Text Box 13"/>
          <p:cNvSpPr txBox="1">
            <a:spLocks noChangeArrowheads="1"/>
          </p:cNvSpPr>
          <p:nvPr/>
        </p:nvSpPr>
        <p:spPr bwMode="auto">
          <a:xfrm>
            <a:off x="2586543" y="450088"/>
            <a:ext cx="3067644" cy="536549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Carga Fundamental</a:t>
            </a:r>
          </a:p>
        </p:txBody>
      </p:sp>
      <p:sp>
        <p:nvSpPr>
          <p:cNvPr id="36" name="Text Box 29"/>
          <p:cNvSpPr txBox="1">
            <a:spLocks noChangeArrowheads="1"/>
          </p:cNvSpPr>
          <p:nvPr/>
        </p:nvSpPr>
        <p:spPr bwMode="auto">
          <a:xfrm>
            <a:off x="7124119" y="302406"/>
            <a:ext cx="2853889" cy="1275213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Porque la carga mínima observada es +e o -e</a:t>
            </a:r>
          </a:p>
        </p:txBody>
      </p:sp>
      <p:sp>
        <p:nvSpPr>
          <p:cNvPr id="37" name="AutoShape 32"/>
          <p:cNvSpPr>
            <a:spLocks noChangeArrowheads="1"/>
          </p:cNvSpPr>
          <p:nvPr/>
        </p:nvSpPr>
        <p:spPr bwMode="auto">
          <a:xfrm>
            <a:off x="6145918" y="596022"/>
            <a:ext cx="730250" cy="271463"/>
          </a:xfrm>
          <a:prstGeom prst="rightArrow">
            <a:avLst>
              <a:gd name="adj1" fmla="val 50000"/>
              <a:gd name="adj2" fmla="val 67251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 anchorCtr="0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endParaRPr lang="en-US" sz="2400">
              <a:latin typeface="Trebuchet MS" panose="020B0603020202020204" pitchFamily="34" charset="0"/>
            </a:endParaRPr>
          </a:p>
        </p:txBody>
      </p:sp>
      <p:grpSp>
        <p:nvGrpSpPr>
          <p:cNvPr id="38" name="Group 44"/>
          <p:cNvGrpSpPr>
            <a:grpSpLocks/>
          </p:cNvGrpSpPr>
          <p:nvPr/>
        </p:nvGrpSpPr>
        <p:grpSpPr bwMode="auto">
          <a:xfrm>
            <a:off x="6178546" y="1683512"/>
            <a:ext cx="4462461" cy="1292225"/>
            <a:chOff x="3474" y="1363"/>
            <a:chExt cx="2811" cy="814"/>
          </a:xfrm>
        </p:grpSpPr>
        <p:sp>
          <p:nvSpPr>
            <p:cNvPr id="39" name="Text Box 3"/>
            <p:cNvSpPr txBox="1">
              <a:spLocks noChangeArrowheads="1"/>
            </p:cNvSpPr>
            <p:nvPr/>
          </p:nvSpPr>
          <p:spPr bwMode="auto">
            <a:xfrm>
              <a:off x="3474" y="1853"/>
              <a:ext cx="2811" cy="324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e = 1,602 176 462 (63) 10</a:t>
              </a:r>
              <a:r>
                <a:rPr lang="es-ES" sz="2400" baseline="30000">
                  <a:latin typeface="Arial" panose="020B0604020202020204" pitchFamily="34" charset="0"/>
                  <a:sym typeface="Symbol" panose="05050102010706020507" pitchFamily="18" charset="2"/>
                </a:rPr>
                <a:t>-19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 C</a:t>
              </a:r>
            </a:p>
          </p:txBody>
        </p:sp>
        <p:sp>
          <p:nvSpPr>
            <p:cNvPr id="40" name="AutoShape 34"/>
            <p:cNvSpPr>
              <a:spLocks noChangeArrowheads="1"/>
            </p:cNvSpPr>
            <p:nvPr/>
          </p:nvSpPr>
          <p:spPr bwMode="auto">
            <a:xfrm rot="5400000">
              <a:off x="4759" y="1483"/>
              <a:ext cx="412" cy="171"/>
            </a:xfrm>
            <a:prstGeom prst="rightArrow">
              <a:avLst>
                <a:gd name="adj1" fmla="val 52056"/>
                <a:gd name="adj2" fmla="val 76561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 anchorCtr="0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endParaRPr lang="en-US" sz="2400" dirty="0">
                <a:latin typeface="Trebuchet MS" panose="020B0603020202020204" pitchFamily="34" charset="0"/>
              </a:endParaRPr>
            </a:p>
          </p:txBody>
        </p:sp>
      </p:grpSp>
      <p:sp>
        <p:nvSpPr>
          <p:cNvPr id="41" name="Text Box 10"/>
          <p:cNvSpPr txBox="1">
            <a:spLocks noChangeArrowheads="1"/>
          </p:cNvSpPr>
          <p:nvPr/>
        </p:nvSpPr>
        <p:spPr bwMode="auto">
          <a:xfrm>
            <a:off x="1455243" y="1443451"/>
            <a:ext cx="2264702" cy="905881"/>
          </a:xfrm>
          <a:prstGeom prst="rect">
            <a:avLst/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Unidad Carga: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Culombio = C</a:t>
            </a:r>
          </a:p>
        </p:txBody>
      </p:sp>
      <p:sp>
        <p:nvSpPr>
          <p:cNvPr id="42" name="Text Box 43"/>
          <p:cNvSpPr txBox="1">
            <a:spLocks noChangeArrowheads="1"/>
          </p:cNvSpPr>
          <p:nvPr/>
        </p:nvSpPr>
        <p:spPr bwMode="auto">
          <a:xfrm>
            <a:off x="3861220" y="1475113"/>
            <a:ext cx="328454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3399FF"/>
                </a:solidFill>
              </a:rPr>
              <a:t>(en honor a Coulomb;</a:t>
            </a: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3399FF"/>
                </a:solidFill>
              </a:rPr>
              <a:t> en inglés: “coulomb”)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78336ED-6C4E-4140-9E5F-472C75028819}"/>
              </a:ext>
            </a:extLst>
          </p:cNvPr>
          <p:cNvGrpSpPr/>
          <p:nvPr/>
        </p:nvGrpSpPr>
        <p:grpSpPr>
          <a:xfrm>
            <a:off x="2250617" y="2892532"/>
            <a:ext cx="3642642" cy="629908"/>
            <a:chOff x="5752045" y="3105286"/>
            <a:chExt cx="3642642" cy="629908"/>
          </a:xfrm>
        </p:grpSpPr>
        <p:sp>
          <p:nvSpPr>
            <p:cNvPr id="20" name="Text Box 61">
              <a:extLst>
                <a:ext uri="{FF2B5EF4-FFF2-40B4-BE49-F238E27FC236}">
                  <a16:creationId xmlns:a16="http://schemas.microsoft.com/office/drawing/2014/main" id="{0B06F585-B44B-49A2-B079-8D323176F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2045" y="3220456"/>
              <a:ext cx="3642642" cy="514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72000" rIns="90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aproximadamente igual a</a:t>
              </a:r>
            </a:p>
          </p:txBody>
        </p: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32385C61-6733-49B0-BC5D-9AF90614342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40013" y="3105286"/>
              <a:ext cx="0" cy="252256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2" name="Text Box 13">
            <a:extLst>
              <a:ext uri="{FF2B5EF4-FFF2-40B4-BE49-F238E27FC236}">
                <a16:creationId xmlns:a16="http://schemas.microsoft.com/office/drawing/2014/main" id="{B177C9B2-EFD9-4029-B4E3-B4C9A377D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243" y="450087"/>
            <a:ext cx="733753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¿e?</a:t>
            </a:r>
          </a:p>
        </p:txBody>
      </p:sp>
    </p:spTree>
    <p:extLst>
      <p:ext uri="{BB962C8B-B14F-4D97-AF65-F5344CB8AC3E}">
        <p14:creationId xmlns:p14="http://schemas.microsoft.com/office/powerpoint/2010/main" val="100365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2" grpId="0" animBg="1"/>
      <p:bldP spid="23588" grpId="0" animBg="1"/>
      <p:bldP spid="32" grpId="0" animBg="1"/>
      <p:bldP spid="27" grpId="0" animBg="1"/>
      <p:bldP spid="28" grpId="0" animBg="1"/>
      <p:bldP spid="35" grpId="0" animBg="1"/>
      <p:bldP spid="36" grpId="0" animBg="1"/>
      <p:bldP spid="37" grpId="0" animBg="1"/>
      <p:bldP spid="41" grpId="0" animBg="1"/>
      <p:bldP spid="42" grpId="0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7" name="Text Box 3"/>
          <p:cNvSpPr txBox="1">
            <a:spLocks noChangeArrowheads="1"/>
          </p:cNvSpPr>
          <p:nvPr/>
        </p:nvSpPr>
        <p:spPr bwMode="auto">
          <a:xfrm>
            <a:off x="2236736" y="1400056"/>
            <a:ext cx="7050882" cy="536549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PRINCIPIO DE CONSERVACIÓN DE LA CARGA</a:t>
            </a:r>
          </a:p>
        </p:txBody>
      </p:sp>
      <p:sp>
        <p:nvSpPr>
          <p:cNvPr id="25657" name="Text Box 4"/>
          <p:cNvSpPr txBox="1">
            <a:spLocks noChangeArrowheads="1"/>
          </p:cNvSpPr>
          <p:nvPr/>
        </p:nvSpPr>
        <p:spPr bwMode="auto">
          <a:xfrm>
            <a:off x="2862097" y="2157834"/>
            <a:ext cx="5797898" cy="95726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s-ES" sz="2400" b="1">
                <a:latin typeface="Arial" panose="020B0604020202020204" pitchFamily="34" charset="0"/>
              </a:rPr>
              <a:t>CARGA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DE UN </a:t>
            </a:r>
            <a:r>
              <a:rPr lang="es-ES" sz="2400" b="1">
                <a:latin typeface="Arial" panose="020B0604020202020204" pitchFamily="34" charset="0"/>
              </a:rPr>
              <a:t>SISTEMA AISLADO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PERMANECE </a:t>
            </a:r>
            <a:r>
              <a:rPr lang="es-ES" sz="2400" b="1">
                <a:latin typeface="Arial" panose="020B0604020202020204" pitchFamily="34" charset="0"/>
              </a:rPr>
              <a:t>CONSTANTE</a:t>
            </a:r>
          </a:p>
        </p:txBody>
      </p:sp>
      <p:sp>
        <p:nvSpPr>
          <p:cNvPr id="169989" name="Text Box 5"/>
          <p:cNvSpPr txBox="1">
            <a:spLocks noChangeArrowheads="1"/>
          </p:cNvSpPr>
          <p:nvPr/>
        </p:nvSpPr>
        <p:spPr bwMode="auto">
          <a:xfrm>
            <a:off x="3575368" y="4619084"/>
            <a:ext cx="4364037" cy="8840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En la Naturaleza la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CARGA SE CREA Y SE DESTRUYE</a:t>
            </a:r>
          </a:p>
        </p:txBody>
      </p: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2416857" y="2765785"/>
            <a:ext cx="2181225" cy="1165225"/>
            <a:chOff x="1380" y="1841"/>
            <a:chExt cx="1374" cy="734"/>
          </a:xfrm>
        </p:grpSpPr>
        <p:sp>
          <p:nvSpPr>
            <p:cNvPr id="25655" name="Line 6"/>
            <p:cNvSpPr>
              <a:spLocks noChangeShapeType="1"/>
            </p:cNvSpPr>
            <p:nvPr/>
          </p:nvSpPr>
          <p:spPr bwMode="auto">
            <a:xfrm flipH="1">
              <a:off x="2109" y="1841"/>
              <a:ext cx="0" cy="465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80" y="2283"/>
              <a:ext cx="137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3399FF"/>
                  </a:solidFill>
                  <a:latin typeface="Arial" panose="020B0604020202020204" pitchFamily="34" charset="0"/>
                </a:rPr>
                <a:t>TOTAL | NETA</a:t>
              </a:r>
            </a:p>
          </p:txBody>
        </p:sp>
      </p:grp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6868477" y="2752350"/>
            <a:ext cx="3944938" cy="1550988"/>
            <a:chOff x="2800" y="2430"/>
            <a:chExt cx="2485" cy="977"/>
          </a:xfrm>
        </p:grpSpPr>
        <p:sp>
          <p:nvSpPr>
            <p:cNvPr id="25652" name="Line 7"/>
            <p:cNvSpPr>
              <a:spLocks noChangeShapeType="1"/>
            </p:cNvSpPr>
            <p:nvPr/>
          </p:nvSpPr>
          <p:spPr bwMode="auto">
            <a:xfrm>
              <a:off x="3465" y="2430"/>
              <a:ext cx="0" cy="465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 anchorCtr="0">
              <a:spAutoFit/>
            </a:bodyPr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25653" name="Text Box 9"/>
            <p:cNvSpPr txBox="1">
              <a:spLocks noChangeArrowheads="1"/>
            </p:cNvSpPr>
            <p:nvPr/>
          </p:nvSpPr>
          <p:spPr bwMode="auto">
            <a:xfrm>
              <a:off x="2800" y="2882"/>
              <a:ext cx="2485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3399FF"/>
                  </a:solidFill>
                  <a:latin typeface="Arial" panose="020B0604020202020204" pitchFamily="34" charset="0"/>
                </a:rPr>
                <a:t>QUE NO INTERACTÚA CON EL EXTERIOR</a:t>
              </a:r>
            </a:p>
          </p:txBody>
        </p:sp>
      </p:grpSp>
      <p:sp>
        <p:nvSpPr>
          <p:cNvPr id="6" name="Text Box 43">
            <a:extLst>
              <a:ext uri="{FF2B5EF4-FFF2-40B4-BE49-F238E27FC236}">
                <a16:creationId xmlns:a16="http://schemas.microsoft.com/office/drawing/2014/main" id="{C98FA5E8-1CB2-3339-1C77-7C11B0596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284" y="5825219"/>
            <a:ext cx="2595996" cy="9058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Para mantener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el total constante: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 Box 43">
            <a:extLst>
              <a:ext uri="{FF2B5EF4-FFF2-40B4-BE49-F238E27FC236}">
                <a16:creationId xmlns:a16="http://schemas.microsoft.com/office/drawing/2014/main" id="{F35574D2-6D7D-D938-7E04-7C2A8EF64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2263" y="5845259"/>
            <a:ext cx="3199017" cy="905881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Por igual de positiva que de negativa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3FA6B63-E1F5-4E5E-99E3-787C62FB8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0457" y="376458"/>
            <a:ext cx="2888704" cy="51435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CONSERVACIÓN</a:t>
            </a:r>
            <a:endParaRPr lang="es-ES" sz="2400" dirty="0">
              <a:solidFill>
                <a:srgbClr val="FFFF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9739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6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2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animBg="1"/>
      <p:bldP spid="25657" grpId="0" animBg="1"/>
      <p:bldP spid="169989" grpId="0" animBg="1"/>
      <p:bldP spid="6" grpId="0" animBg="1"/>
      <p:bldP spid="9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6">
            <a:extLst>
              <a:ext uri="{FF2B5EF4-FFF2-40B4-BE49-F238E27FC236}">
                <a16:creationId xmlns:a16="http://schemas.microsoft.com/office/drawing/2014/main" id="{715DC294-F114-F02E-CA9C-DDAA70E6E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4242" y="4593859"/>
            <a:ext cx="9012193" cy="2238864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 anchorCtr="0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14382" name="Rectangle 46"/>
          <p:cNvSpPr>
            <a:spLocks noChangeArrowheads="1"/>
          </p:cNvSpPr>
          <p:nvPr/>
        </p:nvSpPr>
        <p:spPr bwMode="auto">
          <a:xfrm>
            <a:off x="1364242" y="1354238"/>
            <a:ext cx="9012193" cy="2238864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 anchorCtr="0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endParaRPr lang="en-US" sz="2400">
              <a:latin typeface="Trebuchet MS" panose="020B0603020202020204" pitchFamily="34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DA12F7C-10E0-1F6E-FC44-4B0D6A20EA50}"/>
              </a:ext>
            </a:extLst>
          </p:cNvPr>
          <p:cNvGrpSpPr/>
          <p:nvPr/>
        </p:nvGrpSpPr>
        <p:grpSpPr>
          <a:xfrm>
            <a:off x="6952386" y="1837385"/>
            <a:ext cx="2800416" cy="668338"/>
            <a:chOff x="7176704" y="2203145"/>
            <a:chExt cx="2800416" cy="668338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48A427E3-62D3-4C2D-9F5D-4F02DA68EFB3}"/>
                </a:ext>
              </a:extLst>
            </p:cNvPr>
            <p:cNvGrpSpPr/>
            <p:nvPr/>
          </p:nvGrpSpPr>
          <p:grpSpPr>
            <a:xfrm>
              <a:off x="7176704" y="2203145"/>
              <a:ext cx="2800416" cy="668338"/>
              <a:chOff x="7134664" y="4264225"/>
              <a:chExt cx="2800416" cy="668338"/>
            </a:xfrm>
          </p:grpSpPr>
          <p:sp>
            <p:nvSpPr>
              <p:cNvPr id="25649" name="Freeform 18"/>
              <p:cNvSpPr>
                <a:spLocks/>
              </p:cNvSpPr>
              <p:nvPr/>
            </p:nvSpPr>
            <p:spPr bwMode="auto">
              <a:xfrm>
                <a:off x="9321973" y="4286450"/>
                <a:ext cx="613107" cy="646113"/>
              </a:xfrm>
              <a:custGeom>
                <a:avLst/>
                <a:gdLst>
                  <a:gd name="T0" fmla="*/ 0 w 562"/>
                  <a:gd name="T1" fmla="*/ 2147483646 h 407"/>
                  <a:gd name="T2" fmla="*/ 2147483646 w 562"/>
                  <a:gd name="T3" fmla="*/ 2147483646 h 407"/>
                  <a:gd name="T4" fmla="*/ 2147483646 w 562"/>
                  <a:gd name="T5" fmla="*/ 2147483646 h 407"/>
                  <a:gd name="T6" fmla="*/ 2147483646 w 562"/>
                  <a:gd name="T7" fmla="*/ 2147483646 h 407"/>
                  <a:gd name="T8" fmla="*/ 2147483646 w 562"/>
                  <a:gd name="T9" fmla="*/ 2147483646 h 407"/>
                  <a:gd name="T10" fmla="*/ 2147483646 w 562"/>
                  <a:gd name="T11" fmla="*/ 2147483646 h 407"/>
                  <a:gd name="T12" fmla="*/ 2147483646 w 562"/>
                  <a:gd name="T13" fmla="*/ 2147483646 h 407"/>
                  <a:gd name="T14" fmla="*/ 2147483646 w 562"/>
                  <a:gd name="T15" fmla="*/ 2147483646 h 407"/>
                  <a:gd name="T16" fmla="*/ 2147483646 w 562"/>
                  <a:gd name="T17" fmla="*/ 2147483646 h 407"/>
                  <a:gd name="T18" fmla="*/ 2147483646 w 562"/>
                  <a:gd name="T19" fmla="*/ 2147483646 h 407"/>
                  <a:gd name="T20" fmla="*/ 2147483646 w 562"/>
                  <a:gd name="T21" fmla="*/ 2147483646 h 407"/>
                  <a:gd name="T22" fmla="*/ 2147483646 w 562"/>
                  <a:gd name="T23" fmla="*/ 2147483646 h 407"/>
                  <a:gd name="T24" fmla="*/ 2147483646 w 562"/>
                  <a:gd name="T25" fmla="*/ 2147483646 h 407"/>
                  <a:gd name="T26" fmla="*/ 2147483646 w 562"/>
                  <a:gd name="T27" fmla="*/ 2147483646 h 407"/>
                  <a:gd name="T28" fmla="*/ 2147483646 w 562"/>
                  <a:gd name="T29" fmla="*/ 2147483646 h 40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2"/>
                  <a:gd name="T46" fmla="*/ 0 h 407"/>
                  <a:gd name="T47" fmla="*/ 562 w 562"/>
                  <a:gd name="T48" fmla="*/ 407 h 40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2" h="407">
                    <a:moveTo>
                      <a:pt x="0" y="197"/>
                    </a:moveTo>
                    <a:cubicBezTo>
                      <a:pt x="31" y="204"/>
                      <a:pt x="62" y="211"/>
                      <a:pt x="81" y="205"/>
                    </a:cubicBezTo>
                    <a:cubicBezTo>
                      <a:pt x="100" y="199"/>
                      <a:pt x="106" y="156"/>
                      <a:pt x="117" y="161"/>
                    </a:cubicBezTo>
                    <a:cubicBezTo>
                      <a:pt x="128" y="166"/>
                      <a:pt x="136" y="245"/>
                      <a:pt x="146" y="234"/>
                    </a:cubicBezTo>
                    <a:cubicBezTo>
                      <a:pt x="156" y="223"/>
                      <a:pt x="164" y="82"/>
                      <a:pt x="175" y="95"/>
                    </a:cubicBezTo>
                    <a:cubicBezTo>
                      <a:pt x="186" y="108"/>
                      <a:pt x="201" y="321"/>
                      <a:pt x="212" y="314"/>
                    </a:cubicBezTo>
                    <a:cubicBezTo>
                      <a:pt x="223" y="307"/>
                      <a:pt x="231" y="41"/>
                      <a:pt x="241" y="52"/>
                    </a:cubicBezTo>
                    <a:cubicBezTo>
                      <a:pt x="251" y="63"/>
                      <a:pt x="260" y="389"/>
                      <a:pt x="270" y="380"/>
                    </a:cubicBezTo>
                    <a:cubicBezTo>
                      <a:pt x="280" y="371"/>
                      <a:pt x="291" y="0"/>
                      <a:pt x="299" y="1"/>
                    </a:cubicBezTo>
                    <a:cubicBezTo>
                      <a:pt x="307" y="2"/>
                      <a:pt x="311" y="367"/>
                      <a:pt x="321" y="387"/>
                    </a:cubicBezTo>
                    <a:cubicBezTo>
                      <a:pt x="331" y="407"/>
                      <a:pt x="350" y="136"/>
                      <a:pt x="358" y="124"/>
                    </a:cubicBezTo>
                    <a:cubicBezTo>
                      <a:pt x="366" y="112"/>
                      <a:pt x="361" y="308"/>
                      <a:pt x="372" y="314"/>
                    </a:cubicBezTo>
                    <a:cubicBezTo>
                      <a:pt x="383" y="320"/>
                      <a:pt x="408" y="178"/>
                      <a:pt x="423" y="161"/>
                    </a:cubicBezTo>
                    <a:cubicBezTo>
                      <a:pt x="438" y="144"/>
                      <a:pt x="437" y="202"/>
                      <a:pt x="460" y="212"/>
                    </a:cubicBezTo>
                    <a:cubicBezTo>
                      <a:pt x="483" y="222"/>
                      <a:pt x="522" y="220"/>
                      <a:pt x="562" y="219"/>
                    </a:cubicBezTo>
                  </a:path>
                </a:pathLst>
              </a:custGeom>
              <a:noFill/>
              <a:ln w="12700">
                <a:solidFill>
                  <a:srgbClr val="008000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 anchorCtr="0"/>
              <a:lstStyle/>
              <a:p>
                <a:pPr>
                  <a:spcBef>
                    <a:spcPts val="0"/>
                  </a:spcBef>
                </a:pPr>
                <a:endParaRPr lang="en-GB" sz="2400"/>
              </a:p>
            </p:txBody>
          </p:sp>
          <p:sp>
            <p:nvSpPr>
              <p:cNvPr id="25651" name="Freeform 35"/>
              <p:cNvSpPr>
                <a:spLocks/>
              </p:cNvSpPr>
              <p:nvPr/>
            </p:nvSpPr>
            <p:spPr bwMode="auto">
              <a:xfrm flipH="1">
                <a:off x="7134664" y="4264225"/>
                <a:ext cx="696646" cy="646113"/>
              </a:xfrm>
              <a:custGeom>
                <a:avLst/>
                <a:gdLst>
                  <a:gd name="T0" fmla="*/ 0 w 562"/>
                  <a:gd name="T1" fmla="*/ 2147483646 h 407"/>
                  <a:gd name="T2" fmla="*/ 2147483646 w 562"/>
                  <a:gd name="T3" fmla="*/ 2147483646 h 407"/>
                  <a:gd name="T4" fmla="*/ 2147483646 w 562"/>
                  <a:gd name="T5" fmla="*/ 2147483646 h 407"/>
                  <a:gd name="T6" fmla="*/ 2147483646 w 562"/>
                  <a:gd name="T7" fmla="*/ 2147483646 h 407"/>
                  <a:gd name="T8" fmla="*/ 2147483646 w 562"/>
                  <a:gd name="T9" fmla="*/ 2147483646 h 407"/>
                  <a:gd name="T10" fmla="*/ 2147483646 w 562"/>
                  <a:gd name="T11" fmla="*/ 2147483646 h 407"/>
                  <a:gd name="T12" fmla="*/ 2147483646 w 562"/>
                  <a:gd name="T13" fmla="*/ 2147483646 h 407"/>
                  <a:gd name="T14" fmla="*/ 2147483646 w 562"/>
                  <a:gd name="T15" fmla="*/ 2147483646 h 407"/>
                  <a:gd name="T16" fmla="*/ 2147483646 w 562"/>
                  <a:gd name="T17" fmla="*/ 2147483646 h 407"/>
                  <a:gd name="T18" fmla="*/ 2147483646 w 562"/>
                  <a:gd name="T19" fmla="*/ 2147483646 h 407"/>
                  <a:gd name="T20" fmla="*/ 2147483646 w 562"/>
                  <a:gd name="T21" fmla="*/ 2147483646 h 407"/>
                  <a:gd name="T22" fmla="*/ 2147483646 w 562"/>
                  <a:gd name="T23" fmla="*/ 2147483646 h 407"/>
                  <a:gd name="T24" fmla="*/ 2147483646 w 562"/>
                  <a:gd name="T25" fmla="*/ 2147483646 h 407"/>
                  <a:gd name="T26" fmla="*/ 2147483646 w 562"/>
                  <a:gd name="T27" fmla="*/ 2147483646 h 407"/>
                  <a:gd name="T28" fmla="*/ 2147483646 w 562"/>
                  <a:gd name="T29" fmla="*/ 2147483646 h 40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2"/>
                  <a:gd name="T46" fmla="*/ 0 h 407"/>
                  <a:gd name="T47" fmla="*/ 562 w 562"/>
                  <a:gd name="T48" fmla="*/ 407 h 40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2" h="407">
                    <a:moveTo>
                      <a:pt x="0" y="197"/>
                    </a:moveTo>
                    <a:cubicBezTo>
                      <a:pt x="31" y="204"/>
                      <a:pt x="62" y="211"/>
                      <a:pt x="81" y="205"/>
                    </a:cubicBezTo>
                    <a:cubicBezTo>
                      <a:pt x="100" y="199"/>
                      <a:pt x="106" y="156"/>
                      <a:pt x="117" y="161"/>
                    </a:cubicBezTo>
                    <a:cubicBezTo>
                      <a:pt x="128" y="166"/>
                      <a:pt x="136" y="245"/>
                      <a:pt x="146" y="234"/>
                    </a:cubicBezTo>
                    <a:cubicBezTo>
                      <a:pt x="156" y="223"/>
                      <a:pt x="164" y="82"/>
                      <a:pt x="175" y="95"/>
                    </a:cubicBezTo>
                    <a:cubicBezTo>
                      <a:pt x="186" y="108"/>
                      <a:pt x="201" y="321"/>
                      <a:pt x="212" y="314"/>
                    </a:cubicBezTo>
                    <a:cubicBezTo>
                      <a:pt x="223" y="307"/>
                      <a:pt x="231" y="41"/>
                      <a:pt x="241" y="52"/>
                    </a:cubicBezTo>
                    <a:cubicBezTo>
                      <a:pt x="251" y="63"/>
                      <a:pt x="260" y="389"/>
                      <a:pt x="270" y="380"/>
                    </a:cubicBezTo>
                    <a:cubicBezTo>
                      <a:pt x="280" y="371"/>
                      <a:pt x="291" y="0"/>
                      <a:pt x="299" y="1"/>
                    </a:cubicBezTo>
                    <a:cubicBezTo>
                      <a:pt x="307" y="2"/>
                      <a:pt x="311" y="367"/>
                      <a:pt x="321" y="387"/>
                    </a:cubicBezTo>
                    <a:cubicBezTo>
                      <a:pt x="331" y="407"/>
                      <a:pt x="350" y="136"/>
                      <a:pt x="358" y="124"/>
                    </a:cubicBezTo>
                    <a:cubicBezTo>
                      <a:pt x="366" y="112"/>
                      <a:pt x="361" y="308"/>
                      <a:pt x="372" y="314"/>
                    </a:cubicBezTo>
                    <a:cubicBezTo>
                      <a:pt x="383" y="320"/>
                      <a:pt x="408" y="178"/>
                      <a:pt x="423" y="161"/>
                    </a:cubicBezTo>
                    <a:cubicBezTo>
                      <a:pt x="438" y="144"/>
                      <a:pt x="437" y="202"/>
                      <a:pt x="460" y="212"/>
                    </a:cubicBezTo>
                    <a:cubicBezTo>
                      <a:pt x="483" y="222"/>
                      <a:pt x="522" y="220"/>
                      <a:pt x="562" y="219"/>
                    </a:cubicBezTo>
                  </a:path>
                </a:pathLst>
              </a:custGeom>
              <a:noFill/>
              <a:ln w="12700">
                <a:solidFill>
                  <a:srgbClr val="008000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 anchorCtr="0"/>
              <a:lstStyle/>
              <a:p>
                <a:pPr>
                  <a:spcBef>
                    <a:spcPts val="0"/>
                  </a:spcBef>
                </a:pPr>
                <a:endParaRPr lang="en-GB" sz="2400"/>
              </a:p>
            </p:txBody>
          </p:sp>
        </p:grpSp>
        <p:sp>
          <p:nvSpPr>
            <p:cNvPr id="25650" name="Text Box 19"/>
            <p:cNvSpPr txBox="1">
              <a:spLocks noChangeArrowheads="1"/>
            </p:cNvSpPr>
            <p:nvPr/>
          </p:nvSpPr>
          <p:spPr bwMode="auto">
            <a:xfrm>
              <a:off x="8006041" y="2295220"/>
              <a:ext cx="127793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 Aparecen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2 rayos </a:t>
              </a: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</p:grpSp>
      <p:sp>
        <p:nvSpPr>
          <p:cNvPr id="14352" name="Text Box 39"/>
          <p:cNvSpPr txBox="1">
            <a:spLocks noChangeArrowheads="1"/>
          </p:cNvSpPr>
          <p:nvPr/>
        </p:nvSpPr>
        <p:spPr bwMode="auto">
          <a:xfrm>
            <a:off x="6952387" y="3083118"/>
            <a:ext cx="3286775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solidFill>
                  <a:srgbClr val="3333FF"/>
                </a:solidFill>
                <a:latin typeface="Arial" panose="020B0604020202020204" pitchFamily="34" charset="0"/>
              </a:rPr>
              <a:t>(Ondas </a:t>
            </a:r>
            <a:r>
              <a:rPr lang="es-ES" sz="2000" dirty="0" err="1">
                <a:solidFill>
                  <a:srgbClr val="3333FF"/>
                </a:solidFill>
                <a:latin typeface="Arial" panose="020B0604020202020204" pitchFamily="34" charset="0"/>
              </a:rPr>
              <a:t>ElectroMagnéticas</a:t>
            </a:r>
            <a:r>
              <a:rPr lang="es-ES" sz="2000" dirty="0">
                <a:solidFill>
                  <a:srgbClr val="3333FF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4350" name="Text Box 41"/>
          <p:cNvSpPr txBox="1">
            <a:spLocks noChangeArrowheads="1"/>
          </p:cNvSpPr>
          <p:nvPr/>
        </p:nvSpPr>
        <p:spPr bwMode="auto">
          <a:xfrm>
            <a:off x="8782649" y="2543984"/>
            <a:ext cx="1521868" cy="463846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: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amma</a:t>
            </a:r>
          </a:p>
        </p:txBody>
      </p:sp>
      <p:grpSp>
        <p:nvGrpSpPr>
          <p:cNvPr id="25663" name="Group 63"/>
          <p:cNvGrpSpPr>
            <a:grpSpLocks/>
          </p:cNvGrpSpPr>
          <p:nvPr/>
        </p:nvGrpSpPr>
        <p:grpSpPr bwMode="auto">
          <a:xfrm>
            <a:off x="2011492" y="1952663"/>
            <a:ext cx="463551" cy="911226"/>
            <a:chOff x="1243" y="3244"/>
            <a:chExt cx="292" cy="574"/>
          </a:xfrm>
        </p:grpSpPr>
        <p:pic>
          <p:nvPicPr>
            <p:cNvPr id="25647" name="Picture 1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3" y="3244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48" name="Text Box 13"/>
            <p:cNvSpPr txBox="1">
              <a:spLocks noChangeArrowheads="1"/>
            </p:cNvSpPr>
            <p:nvPr/>
          </p:nvSpPr>
          <p:spPr bwMode="auto">
            <a:xfrm>
              <a:off x="1275" y="3568"/>
              <a:ext cx="2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</p:grpSp>
      <p:grpSp>
        <p:nvGrpSpPr>
          <p:cNvPr id="25662" name="Group 62"/>
          <p:cNvGrpSpPr>
            <a:grpSpLocks/>
          </p:cNvGrpSpPr>
          <p:nvPr/>
        </p:nvGrpSpPr>
        <p:grpSpPr bwMode="auto">
          <a:xfrm>
            <a:off x="2764916" y="1961037"/>
            <a:ext cx="1273174" cy="1281118"/>
            <a:chOff x="1820" y="3243"/>
            <a:chExt cx="802" cy="807"/>
          </a:xfrm>
        </p:grpSpPr>
        <p:pic>
          <p:nvPicPr>
            <p:cNvPr id="25644" name="Picture 1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0" y="3243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45" name="Text Box 14"/>
            <p:cNvSpPr txBox="1">
              <a:spLocks noChangeArrowheads="1"/>
            </p:cNvSpPr>
            <p:nvPr/>
          </p:nvSpPr>
          <p:spPr bwMode="auto">
            <a:xfrm>
              <a:off x="1833" y="3562"/>
              <a:ext cx="2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25646" name="Text Box 15"/>
            <p:cNvSpPr txBox="1">
              <a:spLocks noChangeArrowheads="1"/>
            </p:cNvSpPr>
            <p:nvPr/>
          </p:nvSpPr>
          <p:spPr bwMode="auto">
            <a:xfrm>
              <a:off x="1833" y="3800"/>
              <a:ext cx="78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positrón</a:t>
              </a:r>
            </a:p>
          </p:txBody>
        </p:sp>
      </p:grpSp>
      <p:sp>
        <p:nvSpPr>
          <p:cNvPr id="14357" name="Text Box 44"/>
          <p:cNvSpPr txBox="1">
            <a:spLocks noChangeArrowheads="1"/>
          </p:cNvSpPr>
          <p:nvPr/>
        </p:nvSpPr>
        <p:spPr bwMode="auto">
          <a:xfrm>
            <a:off x="2003967" y="3890287"/>
            <a:ext cx="137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e      e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1244" name="Text Box 44"/>
          <p:cNvSpPr txBox="1">
            <a:spLocks noChangeArrowheads="1"/>
          </p:cNvSpPr>
          <p:nvPr/>
        </p:nvSpPr>
        <p:spPr bwMode="auto">
          <a:xfrm>
            <a:off x="1369976" y="3884987"/>
            <a:ext cx="293371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Q =       +       =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5642" name="AutoShape 17"/>
          <p:cNvSpPr>
            <a:spLocks noChangeArrowheads="1"/>
          </p:cNvSpPr>
          <p:nvPr/>
        </p:nvSpPr>
        <p:spPr bwMode="auto">
          <a:xfrm>
            <a:off x="3922534" y="1932851"/>
            <a:ext cx="368955" cy="473138"/>
          </a:xfrm>
          <a:prstGeom prst="rightArrow">
            <a:avLst>
              <a:gd name="adj1" fmla="val 55037"/>
              <a:gd name="adj2" fmla="val 50213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43" name="Text Box 23"/>
          <p:cNvSpPr txBox="1">
            <a:spLocks noChangeArrowheads="1"/>
          </p:cNvSpPr>
          <p:nvPr/>
        </p:nvSpPr>
        <p:spPr bwMode="auto">
          <a:xfrm>
            <a:off x="4483675" y="1953865"/>
            <a:ext cx="1550240" cy="397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Aniquilación</a:t>
            </a:r>
            <a:endParaRPr lang="es-ES" sz="2400" baseline="30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5641" name="Text Box 42"/>
          <p:cNvSpPr txBox="1">
            <a:spLocks noChangeArrowheads="1"/>
          </p:cNvSpPr>
          <p:nvPr/>
        </p:nvSpPr>
        <p:spPr bwMode="auto">
          <a:xfrm>
            <a:off x="4535311" y="2325342"/>
            <a:ext cx="1792292" cy="709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</a:rPr>
              <a:t>(interactúan y </a:t>
            </a:r>
            <a:r>
              <a:rPr lang="es-ES" sz="2000" dirty="0">
                <a:latin typeface="Arial" panose="020B0604020202020204" pitchFamily="34" charset="0"/>
                <a:sym typeface="Symbol" panose="05050102010706020507" pitchFamily="18" charset="2"/>
              </a:rPr>
              <a:t>desaparecen)</a:t>
            </a:r>
          </a:p>
        </p:txBody>
      </p:sp>
      <p:sp>
        <p:nvSpPr>
          <p:cNvPr id="58" name="AutoShape 17"/>
          <p:cNvSpPr>
            <a:spLocks noChangeArrowheads="1"/>
          </p:cNvSpPr>
          <p:nvPr/>
        </p:nvSpPr>
        <p:spPr bwMode="auto">
          <a:xfrm>
            <a:off x="6449350" y="1922502"/>
            <a:ext cx="369887" cy="473075"/>
          </a:xfrm>
          <a:prstGeom prst="rightArrow">
            <a:avLst>
              <a:gd name="adj1" fmla="val 55037"/>
              <a:gd name="adj2" fmla="val 50213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CuadroTexto 4"/>
          <p:cNvSpPr txBox="1">
            <a:spLocks noChangeArrowheads="1"/>
          </p:cNvSpPr>
          <p:nvPr/>
        </p:nvSpPr>
        <p:spPr bwMode="auto">
          <a:xfrm>
            <a:off x="7981915" y="3876668"/>
            <a:ext cx="9444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Q = 0</a:t>
            </a:r>
            <a:endParaRPr lang="es-ES" sz="2400"/>
          </a:p>
        </p:txBody>
      </p:sp>
      <p:sp>
        <p:nvSpPr>
          <p:cNvPr id="25634" name="AutoShape 16"/>
          <p:cNvSpPr>
            <a:spLocks noChangeArrowheads="1"/>
          </p:cNvSpPr>
          <p:nvPr/>
        </p:nvSpPr>
        <p:spPr bwMode="auto">
          <a:xfrm flipH="1">
            <a:off x="3914945" y="5405362"/>
            <a:ext cx="360354" cy="561492"/>
          </a:xfrm>
          <a:prstGeom prst="rightArrow">
            <a:avLst>
              <a:gd name="adj1" fmla="val 43981"/>
              <a:gd name="adj2" fmla="val 47139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D304F47-44C2-4C87-9401-9BA3A0362102}"/>
              </a:ext>
            </a:extLst>
          </p:cNvPr>
          <p:cNvGrpSpPr/>
          <p:nvPr/>
        </p:nvGrpSpPr>
        <p:grpSpPr>
          <a:xfrm>
            <a:off x="2009096" y="5460877"/>
            <a:ext cx="1193133" cy="880454"/>
            <a:chOff x="1918112" y="6141597"/>
            <a:chExt cx="1193133" cy="880454"/>
          </a:xfrm>
        </p:grpSpPr>
        <p:pic>
          <p:nvPicPr>
            <p:cNvPr id="25629" name="Picture 1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18112" y="6146356"/>
              <a:ext cx="449252" cy="429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30" name="Text Box 13"/>
            <p:cNvSpPr txBox="1">
              <a:spLocks noChangeArrowheads="1"/>
            </p:cNvSpPr>
            <p:nvPr/>
          </p:nvSpPr>
          <p:spPr bwMode="auto">
            <a:xfrm>
              <a:off x="1954624" y="6605284"/>
              <a:ext cx="412740" cy="396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pic>
          <p:nvPicPr>
            <p:cNvPr id="25631" name="Picture 1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1518" y="6141597"/>
              <a:ext cx="439727" cy="439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32" name="Text Box 14"/>
            <p:cNvSpPr txBox="1">
              <a:spLocks noChangeArrowheads="1"/>
            </p:cNvSpPr>
            <p:nvPr/>
          </p:nvSpPr>
          <p:spPr bwMode="auto">
            <a:xfrm>
              <a:off x="2682894" y="6625517"/>
              <a:ext cx="419090" cy="396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+</a:t>
              </a:r>
            </a:p>
          </p:txBody>
        </p:sp>
      </p:grpSp>
      <p:sp>
        <p:nvSpPr>
          <p:cNvPr id="25622" name="Text Box 24"/>
          <p:cNvSpPr txBox="1">
            <a:spLocks noChangeArrowheads="1"/>
          </p:cNvSpPr>
          <p:nvPr/>
        </p:nvSpPr>
        <p:spPr bwMode="auto">
          <a:xfrm>
            <a:off x="4452578" y="4774792"/>
            <a:ext cx="1792227" cy="1448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Con cierta probabilidad: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Producción de par e</a:t>
            </a:r>
            <a:r>
              <a:rPr lang="es-ES" sz="2400" baseline="30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-</a:t>
            </a:r>
            <a:r>
              <a:rPr lang="es-ES" sz="24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-e</a:t>
            </a:r>
            <a:r>
              <a:rPr lang="es-ES" sz="2400" baseline="30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+</a:t>
            </a:r>
            <a:endParaRPr lang="es-ES" sz="2400" baseline="30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5627" name="Text Box 42"/>
          <p:cNvSpPr txBox="1">
            <a:spLocks noChangeArrowheads="1"/>
          </p:cNvSpPr>
          <p:nvPr/>
        </p:nvSpPr>
        <p:spPr bwMode="auto">
          <a:xfrm>
            <a:off x="4245421" y="6210650"/>
            <a:ext cx="2368586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latin typeface="Arial" panose="020B0604020202020204" pitchFamily="34" charset="0"/>
              </a:rPr>
              <a:t>(</a:t>
            </a:r>
            <a:r>
              <a:rPr lang="es-ES" sz="2000" dirty="0">
                <a:latin typeface="Arial" panose="020B0604020202020204" pitchFamily="34" charset="0"/>
                <a:sym typeface="Symbol" panose="05050102010706020507" pitchFamily="18" charset="2"/>
              </a:rPr>
              <a:t>desaparece OEM)</a:t>
            </a:r>
          </a:p>
        </p:txBody>
      </p:sp>
      <p:sp>
        <p:nvSpPr>
          <p:cNvPr id="25624" name="AutoShape 16"/>
          <p:cNvSpPr>
            <a:spLocks noChangeArrowheads="1"/>
          </p:cNvSpPr>
          <p:nvPr/>
        </p:nvSpPr>
        <p:spPr bwMode="auto">
          <a:xfrm flipH="1">
            <a:off x="6484938" y="5383308"/>
            <a:ext cx="360354" cy="561489"/>
          </a:xfrm>
          <a:prstGeom prst="rightArrow">
            <a:avLst>
              <a:gd name="adj1" fmla="val 43981"/>
              <a:gd name="adj2" fmla="val 47139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03D00D1A-32C3-5D4D-42EA-3BFF079111D8}"/>
              </a:ext>
            </a:extLst>
          </p:cNvPr>
          <p:cNvGrpSpPr/>
          <p:nvPr/>
        </p:nvGrpSpPr>
        <p:grpSpPr>
          <a:xfrm>
            <a:off x="8023667" y="4840717"/>
            <a:ext cx="1687381" cy="1048117"/>
            <a:chOff x="8217163" y="4840717"/>
            <a:chExt cx="1687381" cy="1048117"/>
          </a:xfrm>
        </p:grpSpPr>
        <p:sp>
          <p:nvSpPr>
            <p:cNvPr id="25635" name="Freeform 20"/>
            <p:cNvSpPr>
              <a:spLocks/>
            </p:cNvSpPr>
            <p:nvPr/>
          </p:nvSpPr>
          <p:spPr bwMode="auto">
            <a:xfrm rot="19747096" flipH="1">
              <a:off x="8217163" y="5371754"/>
              <a:ext cx="830243" cy="517080"/>
            </a:xfrm>
            <a:custGeom>
              <a:avLst/>
              <a:gdLst>
                <a:gd name="T0" fmla="*/ 0 w 562"/>
                <a:gd name="T1" fmla="*/ 930 h 407"/>
                <a:gd name="T2" fmla="*/ 1079 w 562"/>
                <a:gd name="T3" fmla="*/ 967 h 407"/>
                <a:gd name="T4" fmla="*/ 1559 w 562"/>
                <a:gd name="T5" fmla="*/ 759 h 407"/>
                <a:gd name="T6" fmla="*/ 1944 w 562"/>
                <a:gd name="T7" fmla="*/ 1104 h 407"/>
                <a:gd name="T8" fmla="*/ 2328 w 562"/>
                <a:gd name="T9" fmla="*/ 448 h 407"/>
                <a:gd name="T10" fmla="*/ 2823 w 562"/>
                <a:gd name="T11" fmla="*/ 1481 h 407"/>
                <a:gd name="T12" fmla="*/ 3211 w 562"/>
                <a:gd name="T13" fmla="*/ 245 h 407"/>
                <a:gd name="T14" fmla="*/ 3594 w 562"/>
                <a:gd name="T15" fmla="*/ 1792 h 407"/>
                <a:gd name="T16" fmla="*/ 3982 w 562"/>
                <a:gd name="T17" fmla="*/ 5 h 407"/>
                <a:gd name="T18" fmla="*/ 4274 w 562"/>
                <a:gd name="T19" fmla="*/ 1825 h 407"/>
                <a:gd name="T20" fmla="*/ 4767 w 562"/>
                <a:gd name="T21" fmla="*/ 585 h 407"/>
                <a:gd name="T22" fmla="*/ 4953 w 562"/>
                <a:gd name="T23" fmla="*/ 1481 h 407"/>
                <a:gd name="T24" fmla="*/ 5633 w 562"/>
                <a:gd name="T25" fmla="*/ 759 h 407"/>
                <a:gd name="T26" fmla="*/ 6125 w 562"/>
                <a:gd name="T27" fmla="*/ 1000 h 407"/>
                <a:gd name="T28" fmla="*/ 7484 w 562"/>
                <a:gd name="T29" fmla="*/ 1033 h 4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62"/>
                <a:gd name="T46" fmla="*/ 0 h 407"/>
                <a:gd name="T47" fmla="*/ 562 w 562"/>
                <a:gd name="T48" fmla="*/ 407 h 4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62" h="407">
                  <a:moveTo>
                    <a:pt x="0" y="197"/>
                  </a:moveTo>
                  <a:cubicBezTo>
                    <a:pt x="31" y="204"/>
                    <a:pt x="62" y="211"/>
                    <a:pt x="81" y="205"/>
                  </a:cubicBezTo>
                  <a:cubicBezTo>
                    <a:pt x="100" y="199"/>
                    <a:pt x="106" y="156"/>
                    <a:pt x="117" y="161"/>
                  </a:cubicBezTo>
                  <a:cubicBezTo>
                    <a:pt x="128" y="166"/>
                    <a:pt x="136" y="245"/>
                    <a:pt x="146" y="234"/>
                  </a:cubicBezTo>
                  <a:cubicBezTo>
                    <a:pt x="156" y="223"/>
                    <a:pt x="164" y="82"/>
                    <a:pt x="175" y="95"/>
                  </a:cubicBezTo>
                  <a:cubicBezTo>
                    <a:pt x="186" y="108"/>
                    <a:pt x="201" y="321"/>
                    <a:pt x="212" y="314"/>
                  </a:cubicBezTo>
                  <a:cubicBezTo>
                    <a:pt x="223" y="307"/>
                    <a:pt x="231" y="41"/>
                    <a:pt x="241" y="52"/>
                  </a:cubicBezTo>
                  <a:cubicBezTo>
                    <a:pt x="251" y="63"/>
                    <a:pt x="260" y="389"/>
                    <a:pt x="270" y="380"/>
                  </a:cubicBezTo>
                  <a:cubicBezTo>
                    <a:pt x="280" y="371"/>
                    <a:pt x="291" y="0"/>
                    <a:pt x="299" y="1"/>
                  </a:cubicBezTo>
                  <a:cubicBezTo>
                    <a:pt x="307" y="2"/>
                    <a:pt x="311" y="367"/>
                    <a:pt x="321" y="387"/>
                  </a:cubicBezTo>
                  <a:cubicBezTo>
                    <a:pt x="331" y="407"/>
                    <a:pt x="350" y="136"/>
                    <a:pt x="358" y="124"/>
                  </a:cubicBezTo>
                  <a:cubicBezTo>
                    <a:pt x="366" y="112"/>
                    <a:pt x="361" y="308"/>
                    <a:pt x="372" y="314"/>
                  </a:cubicBezTo>
                  <a:cubicBezTo>
                    <a:pt x="383" y="320"/>
                    <a:pt x="408" y="178"/>
                    <a:pt x="423" y="161"/>
                  </a:cubicBezTo>
                  <a:cubicBezTo>
                    <a:pt x="438" y="144"/>
                    <a:pt x="437" y="202"/>
                    <a:pt x="460" y="212"/>
                  </a:cubicBezTo>
                  <a:cubicBezTo>
                    <a:pt x="483" y="222"/>
                    <a:pt x="522" y="220"/>
                    <a:pt x="562" y="219"/>
                  </a:cubicBezTo>
                </a:path>
              </a:pathLst>
            </a:custGeom>
            <a:noFill/>
            <a:ln w="12700">
              <a:solidFill>
                <a:srgbClr val="008000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 anchorCtr="0"/>
            <a:lstStyle/>
            <a:p>
              <a:pPr>
                <a:spcBef>
                  <a:spcPts val="0"/>
                </a:spcBef>
              </a:pPr>
              <a:endParaRPr lang="en-GB" sz="2400"/>
            </a:p>
          </p:txBody>
        </p:sp>
        <p:sp>
          <p:nvSpPr>
            <p:cNvPr id="25636" name="Text Box 21"/>
            <p:cNvSpPr txBox="1">
              <a:spLocks noChangeArrowheads="1"/>
            </p:cNvSpPr>
            <p:nvPr/>
          </p:nvSpPr>
          <p:spPr bwMode="auto">
            <a:xfrm>
              <a:off x="8823482" y="4840717"/>
              <a:ext cx="1081062" cy="456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1 </a:t>
              </a: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rayo </a:t>
              </a: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</a:t>
              </a:r>
            </a:p>
            <a:p>
              <a:pPr eaLnBrk="1" hangingPunct="1">
                <a:spcBef>
                  <a:spcPts val="0"/>
                </a:spcBef>
                <a:buNone/>
              </a:pPr>
              <a:r>
                <a:rPr lang="es-ES" sz="2400" baseline="300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(desde espacio)</a:t>
              </a:r>
              <a:endPara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5637" name="Text Box 40"/>
            <p:cNvSpPr txBox="1">
              <a:spLocks noChangeArrowheads="1"/>
            </p:cNvSpPr>
            <p:nvPr/>
          </p:nvSpPr>
          <p:spPr bwMode="auto">
            <a:xfrm>
              <a:off x="8963982" y="5516885"/>
              <a:ext cx="846118" cy="366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Arial" panose="020B0604020202020204" pitchFamily="34" charset="0"/>
                </a:rPr>
                <a:t>(OEM)</a:t>
              </a:r>
            </a:p>
          </p:txBody>
        </p:sp>
      </p:grpSp>
      <p:sp>
        <p:nvSpPr>
          <p:cNvPr id="55" name="Text Box 23"/>
          <p:cNvSpPr txBox="1">
            <a:spLocks noChangeArrowheads="1"/>
          </p:cNvSpPr>
          <p:nvPr/>
        </p:nvSpPr>
        <p:spPr bwMode="auto">
          <a:xfrm>
            <a:off x="8626596" y="6079692"/>
            <a:ext cx="1553140" cy="39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Interactúa con materia</a:t>
            </a:r>
          </a:p>
          <a:p>
            <a:pPr algn="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baseline="30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(con la atmósfera)</a:t>
            </a:r>
            <a:endParaRPr lang="es-ES" sz="2400" baseline="30000" dirty="0">
              <a:solidFill>
                <a:srgbClr val="008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D3C25840-4A9A-470B-862E-3F5AC298F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7431" y="3684560"/>
            <a:ext cx="189201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Q</a:t>
            </a:r>
          </a:p>
          <a:p>
            <a:pPr algn="ctr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se conserva</a:t>
            </a:r>
            <a:endParaRPr lang="es-ES" sz="2400"/>
          </a:p>
        </p:txBody>
      </p:sp>
      <p:sp>
        <p:nvSpPr>
          <p:cNvPr id="57" name="Text Box 23">
            <a:extLst>
              <a:ext uri="{FF2B5EF4-FFF2-40B4-BE49-F238E27FC236}">
                <a16:creationId xmlns:a16="http://schemas.microsoft.com/office/drawing/2014/main" id="{60CE0B90-CB19-44BA-B159-0C8F6C7C3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988" y="3135676"/>
            <a:ext cx="1553140" cy="39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aseline="30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(p.ej. PET)</a:t>
            </a:r>
            <a:endParaRPr lang="es-ES" sz="2400" baseline="30000" dirty="0">
              <a:solidFill>
                <a:srgbClr val="008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6A208DCC-EDBE-AC96-9192-E5CA5968C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021" y="565659"/>
            <a:ext cx="7028247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EJEMPLO DE DESTRUCCIÓN Y DE CREACIÓN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03B7D61-9085-FA92-4538-505E96CF6E37}"/>
              </a:ext>
            </a:extLst>
          </p:cNvPr>
          <p:cNvGrpSpPr/>
          <p:nvPr/>
        </p:nvGrpSpPr>
        <p:grpSpPr>
          <a:xfrm>
            <a:off x="3956218" y="4088724"/>
            <a:ext cx="2929993" cy="11334"/>
            <a:chOff x="4108618" y="4088724"/>
            <a:chExt cx="2929993" cy="11334"/>
          </a:xfrm>
        </p:grpSpPr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6A633405-D5F3-18FC-123D-82396CB826F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108618" y="4100058"/>
              <a:ext cx="360000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6186D643-BECC-9E4E-A427-C3ED6C88584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678611" y="4088724"/>
              <a:ext cx="360000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223389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4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51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25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2" grpId="0"/>
      <p:bldP spid="14350" grpId="0"/>
      <p:bldP spid="14357" grpId="0"/>
      <p:bldP spid="51244" grpId="0"/>
      <p:bldP spid="25642" grpId="0" animBg="1"/>
      <p:bldP spid="25643" grpId="0"/>
      <p:bldP spid="25641" grpId="0"/>
      <p:bldP spid="58" grpId="0" animBg="1"/>
      <p:bldP spid="5" grpId="0"/>
      <p:bldP spid="25634" grpId="0" animBg="1"/>
      <p:bldP spid="25622" grpId="0"/>
      <p:bldP spid="25627" grpId="0"/>
      <p:bldP spid="25624" grpId="0" animBg="1"/>
      <p:bldP spid="55" grpId="0"/>
      <p:bldP spid="56" grpId="0"/>
      <p:bldP spid="5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1D2ED860-6F50-4712-96F3-9FABED4441DD}"/>
              </a:ext>
            </a:extLst>
          </p:cNvPr>
          <p:cNvGrpSpPr/>
          <p:nvPr/>
        </p:nvGrpSpPr>
        <p:grpSpPr>
          <a:xfrm>
            <a:off x="2858463" y="5112918"/>
            <a:ext cx="5822731" cy="1306100"/>
            <a:chOff x="2963917" y="3003146"/>
            <a:chExt cx="5822731" cy="1306100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73E0A6D0-E08F-41CC-9BF5-82FA753439B3}"/>
                </a:ext>
              </a:extLst>
            </p:cNvPr>
            <p:cNvSpPr/>
            <p:nvPr/>
          </p:nvSpPr>
          <p:spPr bwMode="auto">
            <a:xfrm>
              <a:off x="2963917" y="3013656"/>
              <a:ext cx="5822731" cy="129559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Text Box 3"/>
            <p:cNvSpPr txBox="1">
              <a:spLocks noChangeArrowheads="1"/>
            </p:cNvSpPr>
            <p:nvPr/>
          </p:nvSpPr>
          <p:spPr bwMode="auto">
            <a:xfrm>
              <a:off x="3082790" y="3003146"/>
              <a:ext cx="5618951" cy="11849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ts val="0"/>
                </a:spcBef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Valor medio     =  1,602 176 462 10</a:t>
              </a:r>
              <a:r>
                <a:rPr lang="es-ES" sz="2400" baseline="30000" dirty="0">
                  <a:latin typeface="Arial" panose="020B0604020202020204" pitchFamily="34" charset="0"/>
                  <a:sym typeface="Symbol" panose="05050102010706020507" pitchFamily="18" charset="2"/>
                </a:rPr>
                <a:t>-19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 C</a:t>
              </a:r>
            </a:p>
            <a:p>
              <a:pPr eaLnBrk="1" hangingPunct="1">
                <a:lnSpc>
                  <a:spcPct val="150000"/>
                </a:lnSpc>
                <a:spcBef>
                  <a:spcPts val="0"/>
                </a:spcBef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Incertidumbre  =  0,000 000 063 10</a:t>
              </a:r>
              <a:r>
                <a:rPr lang="es-ES" sz="2400" baseline="30000" dirty="0">
                  <a:latin typeface="Arial" panose="020B0604020202020204" pitchFamily="34" charset="0"/>
                  <a:sym typeface="Symbol" panose="05050102010706020507" pitchFamily="18" charset="2"/>
                </a:rPr>
                <a:t>-19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 C</a:t>
              </a:r>
            </a:p>
          </p:txBody>
        </p:sp>
      </p:grpSp>
      <p:sp>
        <p:nvSpPr>
          <p:cNvPr id="14" name="Text Box 3">
            <a:extLst>
              <a:ext uri="{FF2B5EF4-FFF2-40B4-BE49-F238E27FC236}">
                <a16:creationId xmlns:a16="http://schemas.microsoft.com/office/drawing/2014/main" id="{7DC32FCE-4B10-43DB-8A09-F6D9F61FA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184" y="616064"/>
            <a:ext cx="4462461" cy="5143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 = 1,602 176 462 (63) 10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-19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C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2648283A-29BC-4042-B19A-ED3732940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077" y="376458"/>
            <a:ext cx="2888704" cy="51435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INCERTIDUMBRE</a:t>
            </a:r>
          </a:p>
        </p:txBody>
      </p:sp>
      <p:sp>
        <p:nvSpPr>
          <p:cNvPr id="9" name="Text Box 40">
            <a:extLst>
              <a:ext uri="{FF2B5EF4-FFF2-40B4-BE49-F238E27FC236}">
                <a16:creationId xmlns:a16="http://schemas.microsoft.com/office/drawing/2014/main" id="{2163A323-F680-420C-8FCC-9EA6255FC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964" y="1697031"/>
            <a:ext cx="9040644" cy="1202510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Al medir una magnitud se puede tener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duda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de su valor (una falta de certeza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incertidumbre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) o no. Al contar manzanas, p.ej., no ocurre.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0" name="Text Box 40">
            <a:extLst>
              <a:ext uri="{FF2B5EF4-FFF2-40B4-BE49-F238E27FC236}">
                <a16:creationId xmlns:a16="http://schemas.microsoft.com/office/drawing/2014/main" id="{0455D965-60A8-4CE0-A7F4-FB287FB50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964" y="2979408"/>
            <a:ext cx="9040644" cy="1571842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Si se tiene duda, para no cometer un error, se opta por dar un rango de posibles valores dando su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valor medio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y un número con el que se cubra una parte del rango de valores al sumarlo y restarlo al valor medio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(incertidumbre)</a:t>
            </a:r>
            <a:r>
              <a:rPr lang="es-ES" sz="2400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2187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40"/>
          <p:cNvSpPr txBox="1">
            <a:spLocks noChangeArrowheads="1"/>
          </p:cNvSpPr>
          <p:nvPr/>
        </p:nvSpPr>
        <p:spPr bwMode="auto">
          <a:xfrm>
            <a:off x="1210978" y="2757468"/>
            <a:ext cx="9047120" cy="1202510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Al existir duda, la incertidumbre se da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redondeada </a:t>
            </a:r>
            <a:r>
              <a:rPr lang="es-ES" sz="2400" dirty="0">
                <a:latin typeface="Arial" panose="020B0604020202020204" pitchFamily="34" charset="0"/>
              </a:rPr>
              <a:t>a 1 o 2 cifras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 partir de la primera no nula (la 2ª puede serlo), y el valor medio hasta la/s correspondiente/s.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7DC32FCE-4B10-43DB-8A09-F6D9F61FA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184" y="616064"/>
            <a:ext cx="4462461" cy="5143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 = 1,602 176 462 (63) 10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-19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C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2648283A-29BC-4042-B19A-ED3732940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077" y="376458"/>
            <a:ext cx="2888704" cy="51435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INCERTIDUMBRE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63BAD20-8765-4B00-BFFF-86B5F3672F1F}"/>
              </a:ext>
            </a:extLst>
          </p:cNvPr>
          <p:cNvGrpSpPr/>
          <p:nvPr/>
        </p:nvGrpSpPr>
        <p:grpSpPr>
          <a:xfrm>
            <a:off x="2858463" y="1292014"/>
            <a:ext cx="5822731" cy="1306100"/>
            <a:chOff x="2963917" y="3003146"/>
            <a:chExt cx="5822731" cy="1306100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EE17BE1A-78B0-42FE-831C-00498C2FC81D}"/>
                </a:ext>
              </a:extLst>
            </p:cNvPr>
            <p:cNvSpPr/>
            <p:nvPr/>
          </p:nvSpPr>
          <p:spPr bwMode="auto">
            <a:xfrm>
              <a:off x="2963917" y="3013656"/>
              <a:ext cx="5822731" cy="129559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Text Box 3">
              <a:extLst>
                <a:ext uri="{FF2B5EF4-FFF2-40B4-BE49-F238E27FC236}">
                  <a16:creationId xmlns:a16="http://schemas.microsoft.com/office/drawing/2014/main" id="{E9D90797-FE9E-4612-84E3-89E69EDB0E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2790" y="3003146"/>
              <a:ext cx="5618951" cy="11849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ts val="0"/>
                </a:spcBef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Valor medio     =  </a:t>
              </a:r>
              <a:r>
                <a:rPr lang="es-ES" sz="2400" dirty="0">
                  <a:solidFill>
                    <a:srgbClr val="0000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1,602 176 462 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10</a:t>
              </a:r>
              <a:r>
                <a:rPr lang="es-ES" sz="2400" baseline="30000" dirty="0">
                  <a:latin typeface="Arial" panose="020B0604020202020204" pitchFamily="34" charset="0"/>
                  <a:sym typeface="Symbol" panose="05050102010706020507" pitchFamily="18" charset="2"/>
                </a:rPr>
                <a:t>-19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 C</a:t>
              </a:r>
            </a:p>
            <a:p>
              <a:pPr eaLnBrk="1" hangingPunct="1">
                <a:lnSpc>
                  <a:spcPct val="150000"/>
                </a:lnSpc>
                <a:spcBef>
                  <a:spcPts val="0"/>
                </a:spcBef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Incertidumbre  =  0,000 000 0</a:t>
              </a:r>
              <a:r>
                <a:rPr lang="es-ES" sz="2400" dirty="0">
                  <a:solidFill>
                    <a:srgbClr val="0000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63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 10</a:t>
              </a:r>
              <a:r>
                <a:rPr lang="es-ES" sz="2400" baseline="30000" dirty="0">
                  <a:latin typeface="Arial" panose="020B0604020202020204" pitchFamily="34" charset="0"/>
                  <a:sym typeface="Symbol" panose="05050102010706020507" pitchFamily="18" charset="2"/>
                </a:rPr>
                <a:t>-19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 C</a:t>
              </a:r>
            </a:p>
          </p:txBody>
        </p:sp>
      </p:grpSp>
      <p:sp>
        <p:nvSpPr>
          <p:cNvPr id="17" name="Text Box 40">
            <a:extLst>
              <a:ext uri="{FF2B5EF4-FFF2-40B4-BE49-F238E27FC236}">
                <a16:creationId xmlns:a16="http://schemas.microsoft.com/office/drawing/2014/main" id="{E466D4A0-6B38-4AA9-B19F-CFBCF3C7E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7478" y="4070128"/>
            <a:ext cx="9047120" cy="1571842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Esas cifras de la inc., y las del valor medio a partir de la primera no nula, antes de esas cifras, y hasta incluir esas cifras correspondientes (que pueden ser ceros), se denominan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cifras significativas</a:t>
            </a:r>
            <a:r>
              <a:rPr lang="es-ES" sz="2400" dirty="0">
                <a:latin typeface="Arial" panose="020B0604020202020204" pitchFamily="34" charset="0"/>
              </a:rPr>
              <a:t> (al dar idea del valor de ambos).</a:t>
            </a:r>
          </a:p>
        </p:txBody>
      </p:sp>
      <p:sp>
        <p:nvSpPr>
          <p:cNvPr id="2" name="Text Box 40">
            <a:extLst>
              <a:ext uri="{FF2B5EF4-FFF2-40B4-BE49-F238E27FC236}">
                <a16:creationId xmlns:a16="http://schemas.microsoft.com/office/drawing/2014/main" id="{9044B044-F3DB-FCE9-D2F8-05594BACC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018" y="5698726"/>
            <a:ext cx="9047120" cy="1202510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Cifras significativas no es lo mismo que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enteras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o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decimales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, cuyo número depende de la posición de la coma (en el valor medio de "e" hay: 10 significativas, 1 entera y 9 decimales).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79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>
            <a:extLst>
              <a:ext uri="{FF2B5EF4-FFF2-40B4-BE49-F238E27FC236}">
                <a16:creationId xmlns:a16="http://schemas.microsoft.com/office/drawing/2014/main" id="{7DC32FCE-4B10-43DB-8A09-F6D9F61FA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184" y="616064"/>
            <a:ext cx="4462461" cy="5143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 = 1,602 176 462 (63) 10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-19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C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2648283A-29BC-4042-B19A-ED3732940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077" y="376458"/>
            <a:ext cx="2888704" cy="51435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INCERTIDUMBRE</a:t>
            </a:r>
          </a:p>
        </p:txBody>
      </p:sp>
      <p:sp>
        <p:nvSpPr>
          <p:cNvPr id="9" name="Text Box 40">
            <a:extLst>
              <a:ext uri="{FF2B5EF4-FFF2-40B4-BE49-F238E27FC236}">
                <a16:creationId xmlns:a16="http://schemas.microsoft.com/office/drawing/2014/main" id="{73968B8D-D70C-41A6-A92C-A110394D2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28" y="4225301"/>
            <a:ext cx="6222405" cy="833178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-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Da idea de cómo de grande es la duda comparada con el valor medio. 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 Box 36">
            <a:extLst>
              <a:ext uri="{FF2B5EF4-FFF2-40B4-BE49-F238E27FC236}">
                <a16:creationId xmlns:a16="http://schemas.microsoft.com/office/drawing/2014/main" id="{8D408C00-B1A8-4148-99D9-651A92EF3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7994" y="4453833"/>
            <a:ext cx="2967479" cy="46166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Inc. </a:t>
            </a: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rel.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3,9 10</a:t>
            </a:r>
            <a:r>
              <a:rPr lang="es-ES" sz="2400" baseline="30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6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%</a:t>
            </a:r>
          </a:p>
        </p:txBody>
      </p:sp>
      <p:sp>
        <p:nvSpPr>
          <p:cNvPr id="11" name="Text Box 40">
            <a:extLst>
              <a:ext uri="{FF2B5EF4-FFF2-40B4-BE49-F238E27FC236}">
                <a16:creationId xmlns:a16="http://schemas.microsoft.com/office/drawing/2014/main" id="{D0EE045E-1C0D-4236-8B53-29E486410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077" y="5326304"/>
            <a:ext cx="7937568" cy="833178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Cuanto menores son: menos duda hay sobre el valor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                                      y más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precisa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es la medida. 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 Box 40">
            <a:extLst>
              <a:ext uri="{FF2B5EF4-FFF2-40B4-BE49-F238E27FC236}">
                <a16:creationId xmlns:a16="http://schemas.microsoft.com/office/drawing/2014/main" id="{6BE17C08-1949-49D6-A4E1-03F09C005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0508" y="2280172"/>
            <a:ext cx="6222405" cy="4638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INC. ABSOLUTA = INCERTIDUMBRE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 Box 40">
            <a:extLst>
              <a:ext uri="{FF2B5EF4-FFF2-40B4-BE49-F238E27FC236}">
                <a16:creationId xmlns:a16="http://schemas.microsoft.com/office/drawing/2014/main" id="{D759583D-C0F7-451F-8071-258AFD3AB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5445" y="2894220"/>
            <a:ext cx="4455593" cy="46384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- 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 idea de cuánta duda hay. 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 Box 40">
            <a:extLst>
              <a:ext uri="{FF2B5EF4-FFF2-40B4-BE49-F238E27FC236}">
                <a16:creationId xmlns:a16="http://schemas.microsoft.com/office/drawing/2014/main" id="{C3336D90-095B-4205-A4B6-6B47F5505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0508" y="3607630"/>
            <a:ext cx="6222405" cy="4638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INC. RELATIVA   = INC. / |VALOR MEDIO|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 Box 40">
            <a:extLst>
              <a:ext uri="{FF2B5EF4-FFF2-40B4-BE49-F238E27FC236}">
                <a16:creationId xmlns:a16="http://schemas.microsoft.com/office/drawing/2014/main" id="{EC779579-DC51-4F58-967B-D0FED6EBA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077" y="6251816"/>
            <a:ext cx="2574948" cy="46384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Son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positivas</a:t>
            </a:r>
            <a:r>
              <a:rPr lang="es-ES" sz="2400" dirty="0">
                <a:latin typeface="Arial" panose="020B0604020202020204" pitchFamily="34" charset="0"/>
              </a:rPr>
              <a:t>.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 Box 40">
            <a:extLst>
              <a:ext uri="{FF2B5EF4-FFF2-40B4-BE49-F238E27FC236}">
                <a16:creationId xmlns:a16="http://schemas.microsoft.com/office/drawing/2014/main" id="{B03EDD6D-5086-4654-A2FE-BF93FA959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7343" y="1313992"/>
            <a:ext cx="6754034" cy="833178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En las prácticas aparecerán dos magnitudes relacionadas con la incertidumbre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19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 animBg="1"/>
      <p:bldP spid="13" grpId="0"/>
      <p:bldP spid="15" grpId="0" animBg="1"/>
      <p:bldP spid="21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>
            <a:extLst>
              <a:ext uri="{FF2B5EF4-FFF2-40B4-BE49-F238E27FC236}">
                <a16:creationId xmlns:a16="http://schemas.microsoft.com/office/drawing/2014/main" id="{7DC32FCE-4B10-43DB-8A09-F6D9F61FA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184" y="616064"/>
            <a:ext cx="4462461" cy="5143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 = 1,602 176 462 (63) 10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-19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C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2648283A-29BC-4042-B19A-ED3732940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077" y="376458"/>
            <a:ext cx="2888704" cy="51435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INCERTIDUMBRE</a:t>
            </a:r>
          </a:p>
        </p:txBody>
      </p:sp>
      <p:sp>
        <p:nvSpPr>
          <p:cNvPr id="11" name="Text Box 40">
            <a:extLst>
              <a:ext uri="{FF2B5EF4-FFF2-40B4-BE49-F238E27FC236}">
                <a16:creationId xmlns:a16="http://schemas.microsoft.com/office/drawing/2014/main" id="{9583E287-B05E-4A45-B9A3-78C5ACBE6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2507" y="2536679"/>
            <a:ext cx="9309882" cy="1571842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incertidumbre,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"</a:t>
            </a:r>
            <a:r>
              <a:rPr lang="es-ES" sz="2400" dirty="0" err="1">
                <a:solidFill>
                  <a:srgbClr val="0000FF"/>
                </a:solidFill>
                <a:latin typeface="Arial" panose="020B0604020202020204" pitchFamily="34" charset="0"/>
              </a:rPr>
              <a:t>uncertainty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“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en inglés, se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suele hacer corresponder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con la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desviación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estándar,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 (</a:t>
            </a:r>
            <a:r>
              <a:rPr lang="es-ES" sz="2400" b="1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igma)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, y no con la desviación máxima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en valor absoluto. 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4A4863C6-B0FC-4891-BA9B-35330B321735}"/>
              </a:ext>
            </a:extLst>
          </p:cNvPr>
          <p:cNvGrpSpPr/>
          <p:nvPr/>
        </p:nvGrpSpPr>
        <p:grpSpPr>
          <a:xfrm>
            <a:off x="1242506" y="1271818"/>
            <a:ext cx="9445813" cy="833178"/>
            <a:chOff x="1242506" y="1271818"/>
            <a:chExt cx="9445813" cy="833178"/>
          </a:xfrm>
        </p:grpSpPr>
        <p:sp>
          <p:nvSpPr>
            <p:cNvPr id="12" name="Text Box 40">
              <a:extLst>
                <a:ext uri="{FF2B5EF4-FFF2-40B4-BE49-F238E27FC236}">
                  <a16:creationId xmlns:a16="http://schemas.microsoft.com/office/drawing/2014/main" id="{96DB4ACC-E507-4DE5-B1E7-27DCC4949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2506" y="1271818"/>
              <a:ext cx="9445813" cy="8331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En la vida cotidiana solo se da el </a:t>
              </a:r>
              <a:r>
                <a:rPr lang="es-ES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valor medio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. P.ej., al medir con una regla una longitud x, se da la "raya" más cercana </a:t>
              </a:r>
              <a:r>
                <a:rPr lang="es-ES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x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.</a:t>
              </a:r>
              <a:endParaRPr lang="es-ES" sz="2400" dirty="0">
                <a:latin typeface="Arial" panose="020B0604020202020204" pitchFamily="34" charset="0"/>
              </a:endParaRPr>
            </a:p>
          </p:txBody>
        </p: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BE35C59E-FBAB-437B-837D-ACD5F9B3D7AA}"/>
                </a:ext>
              </a:extLst>
            </p:cNvPr>
            <p:cNvCxnSpPr/>
            <p:nvPr/>
          </p:nvCxnSpPr>
          <p:spPr bwMode="auto">
            <a:xfrm>
              <a:off x="8610895" y="1760404"/>
              <a:ext cx="168166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0" name="Text Box 40">
            <a:extLst>
              <a:ext uri="{FF2B5EF4-FFF2-40B4-BE49-F238E27FC236}">
                <a16:creationId xmlns:a16="http://schemas.microsoft.com/office/drawing/2014/main" id="{962EAC64-532E-4228-BFE6-9F61C45D7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2506" y="5169984"/>
            <a:ext cx="9309882" cy="1571842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Si se usa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, se denota con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y se expresa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entre ()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. Si se usa </a:t>
            </a:r>
            <a:r>
              <a:rPr lang="es-ES" sz="2400" dirty="0">
                <a:latin typeface="Arial" panose="020B0604020202020204" pitchFamily="34" charset="0"/>
              </a:rPr>
              <a:t>un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 múltiplo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de ella, </a:t>
            </a:r>
            <a:r>
              <a:rPr lang="es-ES" sz="2400" dirty="0">
                <a:latin typeface="Arial" panose="020B0604020202020204" pitchFamily="34" charset="0"/>
              </a:rPr>
              <a:t>se representa con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 U (inc. expandida) </a:t>
            </a:r>
            <a:r>
              <a:rPr lang="es-ES" sz="2400" dirty="0">
                <a:latin typeface="Arial" panose="020B0604020202020204" pitchFamily="34" charset="0"/>
              </a:rPr>
              <a:t>y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se indica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tras un ±</a:t>
            </a:r>
            <a:r>
              <a:rPr lang="es-ES" sz="2400" dirty="0">
                <a:latin typeface="Arial" panose="020B0604020202020204" pitchFamily="34" charset="0"/>
              </a:rPr>
              <a:t>. Por ejemplo, para la regla, cubriendo el rango completo,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</a:rPr>
              <a:t>al 100%:</a:t>
            </a:r>
          </a:p>
        </p:txBody>
      </p:sp>
      <p:sp>
        <p:nvSpPr>
          <p:cNvPr id="21" name="Text Box 40">
            <a:extLst>
              <a:ext uri="{FF2B5EF4-FFF2-40B4-BE49-F238E27FC236}">
                <a16:creationId xmlns:a16="http://schemas.microsoft.com/office/drawing/2014/main" id="{A714C0D2-FE9F-4B83-9FD8-C40E2C83D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2958" y="6407278"/>
            <a:ext cx="7616651" cy="4638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</a:rPr>
              <a:t>x debe estar entre 1,65 y 1,75  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   </a:t>
            </a:r>
            <a:r>
              <a:rPr lang="es-ES" sz="2400" dirty="0">
                <a:latin typeface="Arial" panose="020B0604020202020204" pitchFamily="34" charset="0"/>
              </a:rPr>
              <a:t>x = 1,70 ± 0,05 cm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CB7C737E-2C70-4B47-A9EA-FA01CF01E0B5}"/>
              </a:ext>
            </a:extLst>
          </p:cNvPr>
          <p:cNvGrpSpPr/>
          <p:nvPr/>
        </p:nvGrpSpPr>
        <p:grpSpPr>
          <a:xfrm>
            <a:off x="7617132" y="3053599"/>
            <a:ext cx="2460661" cy="1189480"/>
            <a:chOff x="4602294" y="3680944"/>
            <a:chExt cx="2460661" cy="1189480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04A8B11-F2B7-4FFA-8B45-A50CE31E2C4E}"/>
                </a:ext>
              </a:extLst>
            </p:cNvPr>
            <p:cNvSpPr/>
            <p:nvPr/>
          </p:nvSpPr>
          <p:spPr bwMode="auto">
            <a:xfrm>
              <a:off x="4602294" y="3680944"/>
              <a:ext cx="2460661" cy="118948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A64FFB99-F1FD-4D95-9977-52A4331EBD2E}"/>
                    </a:ext>
                  </a:extLst>
                </p:cNvPr>
                <p:cNvSpPr txBox="1"/>
                <p:nvPr/>
              </p:nvSpPr>
              <p:spPr>
                <a:xfrm>
                  <a:off x="4696884" y="3778740"/>
                  <a:ext cx="2184508" cy="9093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s-E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s-E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E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s-E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s-ES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s-ES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rad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A64FFB99-F1FD-4D95-9977-52A4331EBD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6884" y="3778740"/>
                  <a:ext cx="2184508" cy="90935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 Box 40">
            <a:extLst>
              <a:ext uri="{FF2B5EF4-FFF2-40B4-BE49-F238E27FC236}">
                <a16:creationId xmlns:a16="http://schemas.microsoft.com/office/drawing/2014/main" id="{B3127AC8-182E-48F6-BD7F-6F55BF5BD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1873" y="4315165"/>
            <a:ext cx="9309882" cy="833178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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una idea de la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dispersión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de los posibles valores,</a:t>
            </a:r>
            <a:r>
              <a:rPr lang="es-ES" sz="2400" dirty="0">
                <a:latin typeface="Arial" panose="020B0604020202020204" pitchFamily="34" charset="0"/>
              </a:rPr>
              <a:t> pero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 no cubre el rango</a:t>
            </a:r>
            <a:r>
              <a:rPr lang="es-ES" sz="2400" dirty="0">
                <a:latin typeface="Arial" panose="020B0604020202020204" pitchFamily="34" charset="0"/>
              </a:rPr>
              <a:t>.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La desviación media no se usa porque es nula.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BD8A4D2-55F5-4EDA-BA9D-07B7CA26D435}"/>
              </a:ext>
            </a:extLst>
          </p:cNvPr>
          <p:cNvGrpSpPr/>
          <p:nvPr/>
        </p:nvGrpSpPr>
        <p:grpSpPr>
          <a:xfrm>
            <a:off x="8045728" y="2051262"/>
            <a:ext cx="2169960" cy="487608"/>
            <a:chOff x="8350529" y="2605753"/>
            <a:chExt cx="2169960" cy="487608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0E39AE34-9186-4E50-869D-B77284F4725B}"/>
                </a:ext>
              </a:extLst>
            </p:cNvPr>
            <p:cNvGrpSpPr/>
            <p:nvPr/>
          </p:nvGrpSpPr>
          <p:grpSpPr>
            <a:xfrm>
              <a:off x="8350529" y="2605753"/>
              <a:ext cx="2169960" cy="487608"/>
              <a:chOff x="8828998" y="1701981"/>
              <a:chExt cx="2169960" cy="487608"/>
            </a:xfrm>
          </p:grpSpPr>
          <p:sp>
            <p:nvSpPr>
              <p:cNvPr id="2" name="Rectángulo 1">
                <a:extLst>
                  <a:ext uri="{FF2B5EF4-FFF2-40B4-BE49-F238E27FC236}">
                    <a16:creationId xmlns:a16="http://schemas.microsoft.com/office/drawing/2014/main" id="{B2ADC613-1D36-4ADD-A4D7-16DA0BA7839D}"/>
                  </a:ext>
                </a:extLst>
              </p:cNvPr>
              <p:cNvSpPr/>
              <p:nvPr/>
            </p:nvSpPr>
            <p:spPr bwMode="auto">
              <a:xfrm>
                <a:off x="8860896" y="1727756"/>
                <a:ext cx="2010776" cy="461833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3" name="Text Box 40">
                <a:extLst>
                  <a:ext uri="{FF2B5EF4-FFF2-40B4-BE49-F238E27FC236}">
                    <a16:creationId xmlns:a16="http://schemas.microsoft.com/office/drawing/2014/main" id="{608927FB-2AEC-49BB-8AEF-ADA0713E3B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28998" y="1701981"/>
                <a:ext cx="2169960" cy="4638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 dirty="0">
                    <a:latin typeface="Arial" panose="020B0604020202020204" pitchFamily="34" charset="0"/>
                  </a:rPr>
                  <a:t>x = x = 1,7 cm</a:t>
                </a:r>
              </a:p>
            </p:txBody>
          </p:sp>
        </p:grp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7D3F64E9-ECDC-41BC-8913-6582C435C349}"/>
                </a:ext>
              </a:extLst>
            </p:cNvPr>
            <p:cNvCxnSpPr/>
            <p:nvPr/>
          </p:nvCxnSpPr>
          <p:spPr bwMode="auto">
            <a:xfrm>
              <a:off x="8929382" y="2731515"/>
              <a:ext cx="168166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36901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  <p:bldP spid="21" grpId="0" animBg="1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>
            <a:extLst>
              <a:ext uri="{FF2B5EF4-FFF2-40B4-BE49-F238E27FC236}">
                <a16:creationId xmlns:a16="http://schemas.microsoft.com/office/drawing/2014/main" id="{7DC32FCE-4B10-43DB-8A09-F6D9F61FA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184" y="616064"/>
            <a:ext cx="4462461" cy="5143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 = 1,602 176 462 (63) 10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-19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C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2648283A-29BC-4042-B19A-ED3732940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077" y="376458"/>
            <a:ext cx="2888704" cy="51435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INCERTIDUMBRE</a:t>
            </a:r>
          </a:p>
        </p:txBody>
      </p:sp>
      <p:sp>
        <p:nvSpPr>
          <p:cNvPr id="13" name="Text Box 40">
            <a:extLst>
              <a:ext uri="{FF2B5EF4-FFF2-40B4-BE49-F238E27FC236}">
                <a16:creationId xmlns:a16="http://schemas.microsoft.com/office/drawing/2014/main" id="{5643504D-AF04-4816-82D9-794745FEB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2506" y="1248084"/>
            <a:ext cx="9152225" cy="833178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Si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distribución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de valores es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gaussiana (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normal)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, lo normal</a:t>
            </a:r>
          </a:p>
          <a:p>
            <a:pPr algn="just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  (en el caso de la regla no, todos tienen la misma probabilidad).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A625CEA-09FB-4857-8D24-42250E72D32C}"/>
              </a:ext>
            </a:extLst>
          </p:cNvPr>
          <p:cNvGrpSpPr/>
          <p:nvPr/>
        </p:nvGrpSpPr>
        <p:grpSpPr>
          <a:xfrm>
            <a:off x="5962859" y="2071255"/>
            <a:ext cx="4179348" cy="2826155"/>
            <a:chOff x="6254489" y="4241194"/>
            <a:chExt cx="4179348" cy="2826155"/>
          </a:xfrm>
        </p:grpSpPr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1E07784B-DF93-4089-A41A-E787C08B34AD}"/>
                </a:ext>
              </a:extLst>
            </p:cNvPr>
            <p:cNvCxnSpPr/>
            <p:nvPr/>
          </p:nvCxnSpPr>
          <p:spPr bwMode="auto">
            <a:xfrm>
              <a:off x="8265468" y="6734883"/>
              <a:ext cx="168166" cy="0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" name="Text Box 40">
              <a:extLst>
                <a:ext uri="{FF2B5EF4-FFF2-40B4-BE49-F238E27FC236}">
                  <a16:creationId xmlns:a16="http://schemas.microsoft.com/office/drawing/2014/main" id="{E61E1222-EBF0-4265-9286-87F3421F7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82697" y="6603503"/>
              <a:ext cx="281151" cy="4638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None/>
              </a:pPr>
              <a:r>
                <a:rPr lang="es-ES" sz="2400" dirty="0">
                  <a:solidFill>
                    <a:srgbClr val="0000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x</a:t>
              </a:r>
              <a:endParaRPr lang="es-ES" sz="2400" dirty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Freeform 79">
              <a:extLst>
                <a:ext uri="{FF2B5EF4-FFF2-40B4-BE49-F238E27FC236}">
                  <a16:creationId xmlns:a16="http://schemas.microsoft.com/office/drawing/2014/main" id="{CDD6F7C8-44FE-4E63-9AFF-D8841A43E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6143" y="6211282"/>
              <a:ext cx="3144837" cy="457200"/>
            </a:xfrm>
            <a:custGeom>
              <a:avLst/>
              <a:gdLst>
                <a:gd name="T0" fmla="*/ 42 w 1981"/>
                <a:gd name="T1" fmla="*/ 273 h 288"/>
                <a:gd name="T2" fmla="*/ 211 w 1981"/>
                <a:gd name="T3" fmla="*/ 182 h 288"/>
                <a:gd name="T4" fmla="*/ 344 w 1981"/>
                <a:gd name="T5" fmla="*/ 7 h 288"/>
                <a:gd name="T6" fmla="*/ 1643 w 1981"/>
                <a:gd name="T7" fmla="*/ 0 h 288"/>
                <a:gd name="T8" fmla="*/ 1770 w 1981"/>
                <a:gd name="T9" fmla="*/ 168 h 288"/>
                <a:gd name="T10" fmla="*/ 1882 w 1981"/>
                <a:gd name="T11" fmla="*/ 245 h 288"/>
                <a:gd name="T12" fmla="*/ 1981 w 1981"/>
                <a:gd name="T13" fmla="*/ 281 h 288"/>
                <a:gd name="T14" fmla="*/ 0 w 1981"/>
                <a:gd name="T1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81" h="288">
                  <a:moveTo>
                    <a:pt x="42" y="273"/>
                  </a:moveTo>
                  <a:lnTo>
                    <a:pt x="211" y="182"/>
                  </a:lnTo>
                  <a:lnTo>
                    <a:pt x="344" y="7"/>
                  </a:lnTo>
                  <a:lnTo>
                    <a:pt x="1643" y="0"/>
                  </a:lnTo>
                  <a:lnTo>
                    <a:pt x="1770" y="168"/>
                  </a:lnTo>
                  <a:lnTo>
                    <a:pt x="1882" y="245"/>
                  </a:lnTo>
                  <a:lnTo>
                    <a:pt x="1981" y="281"/>
                  </a:lnTo>
                  <a:lnTo>
                    <a:pt x="0" y="288"/>
                  </a:lnTo>
                </a:path>
              </a:pathLst>
            </a:cu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27" name="Freeform 78">
              <a:extLst>
                <a:ext uri="{FF2B5EF4-FFF2-40B4-BE49-F238E27FC236}">
                  <a16:creationId xmlns:a16="http://schemas.microsoft.com/office/drawing/2014/main" id="{C3DC10A9-5F32-4B36-A75A-922EC95DC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4468" y="4895244"/>
              <a:ext cx="2039937" cy="1773238"/>
            </a:xfrm>
            <a:custGeom>
              <a:avLst/>
              <a:gdLst>
                <a:gd name="T0" fmla="*/ 0 w 1285"/>
                <a:gd name="T1" fmla="*/ 822 h 1117"/>
                <a:gd name="T2" fmla="*/ 141 w 1285"/>
                <a:gd name="T3" fmla="*/ 576 h 1117"/>
                <a:gd name="T4" fmla="*/ 267 w 1285"/>
                <a:gd name="T5" fmla="*/ 210 h 1117"/>
                <a:gd name="T6" fmla="*/ 309 w 1285"/>
                <a:gd name="T7" fmla="*/ 98 h 1117"/>
                <a:gd name="T8" fmla="*/ 625 w 1285"/>
                <a:gd name="T9" fmla="*/ 0 h 1117"/>
                <a:gd name="T10" fmla="*/ 962 w 1285"/>
                <a:gd name="T11" fmla="*/ 91 h 1117"/>
                <a:gd name="T12" fmla="*/ 1075 w 1285"/>
                <a:gd name="T13" fmla="*/ 358 h 1117"/>
                <a:gd name="T14" fmla="*/ 1166 w 1285"/>
                <a:gd name="T15" fmla="*/ 632 h 1117"/>
                <a:gd name="T16" fmla="*/ 1285 w 1285"/>
                <a:gd name="T17" fmla="*/ 836 h 1117"/>
                <a:gd name="T18" fmla="*/ 1285 w 1285"/>
                <a:gd name="T19" fmla="*/ 1110 h 1117"/>
                <a:gd name="T20" fmla="*/ 0 w 1285"/>
                <a:gd name="T21" fmla="*/ 1117 h 1117"/>
                <a:gd name="T22" fmla="*/ 0 w 1285"/>
                <a:gd name="T23" fmla="*/ 822 h 1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85" h="1117">
                  <a:moveTo>
                    <a:pt x="0" y="822"/>
                  </a:moveTo>
                  <a:lnTo>
                    <a:pt x="141" y="576"/>
                  </a:lnTo>
                  <a:lnTo>
                    <a:pt x="267" y="210"/>
                  </a:lnTo>
                  <a:lnTo>
                    <a:pt x="309" y="98"/>
                  </a:lnTo>
                  <a:lnTo>
                    <a:pt x="625" y="0"/>
                  </a:lnTo>
                  <a:lnTo>
                    <a:pt x="962" y="91"/>
                  </a:lnTo>
                  <a:lnTo>
                    <a:pt x="1075" y="358"/>
                  </a:lnTo>
                  <a:lnTo>
                    <a:pt x="1166" y="632"/>
                  </a:lnTo>
                  <a:lnTo>
                    <a:pt x="1285" y="836"/>
                  </a:lnTo>
                  <a:lnTo>
                    <a:pt x="1285" y="1110"/>
                  </a:lnTo>
                  <a:lnTo>
                    <a:pt x="0" y="1117"/>
                  </a:lnTo>
                  <a:lnTo>
                    <a:pt x="0" y="822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sp>
          <p:nvSpPr>
            <p:cNvPr id="28" name="Freeform 77">
              <a:extLst>
                <a:ext uri="{FF2B5EF4-FFF2-40B4-BE49-F238E27FC236}">
                  <a16:creationId xmlns:a16="http://schemas.microsoft.com/office/drawing/2014/main" id="{2FD91F57-9BBF-4604-BD63-2BBEFFD71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9768" y="4736494"/>
              <a:ext cx="981075" cy="1908175"/>
            </a:xfrm>
            <a:custGeom>
              <a:avLst/>
              <a:gdLst>
                <a:gd name="T0" fmla="*/ 7 w 618"/>
                <a:gd name="T1" fmla="*/ 162 h 1202"/>
                <a:gd name="T2" fmla="*/ 148 w 618"/>
                <a:gd name="T3" fmla="*/ 35 h 1202"/>
                <a:gd name="T4" fmla="*/ 295 w 618"/>
                <a:gd name="T5" fmla="*/ 0 h 1202"/>
                <a:gd name="T6" fmla="*/ 485 w 618"/>
                <a:gd name="T7" fmla="*/ 50 h 1202"/>
                <a:gd name="T8" fmla="*/ 618 w 618"/>
                <a:gd name="T9" fmla="*/ 190 h 1202"/>
                <a:gd name="T10" fmla="*/ 618 w 618"/>
                <a:gd name="T11" fmla="*/ 1202 h 1202"/>
                <a:gd name="T12" fmla="*/ 0 w 618"/>
                <a:gd name="T13" fmla="*/ 1202 h 1202"/>
                <a:gd name="T14" fmla="*/ 7 w 618"/>
                <a:gd name="T15" fmla="*/ 162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8" h="1202">
                  <a:moveTo>
                    <a:pt x="7" y="162"/>
                  </a:moveTo>
                  <a:lnTo>
                    <a:pt x="148" y="35"/>
                  </a:lnTo>
                  <a:lnTo>
                    <a:pt x="295" y="0"/>
                  </a:lnTo>
                  <a:lnTo>
                    <a:pt x="485" y="50"/>
                  </a:lnTo>
                  <a:lnTo>
                    <a:pt x="618" y="190"/>
                  </a:lnTo>
                  <a:lnTo>
                    <a:pt x="618" y="1202"/>
                  </a:lnTo>
                  <a:lnTo>
                    <a:pt x="0" y="1202"/>
                  </a:lnTo>
                  <a:lnTo>
                    <a:pt x="7" y="162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ES"/>
            </a:p>
          </p:txBody>
        </p:sp>
        <p:grpSp>
          <p:nvGrpSpPr>
            <p:cNvPr id="29" name="Group 63">
              <a:extLst>
                <a:ext uri="{FF2B5EF4-FFF2-40B4-BE49-F238E27FC236}">
                  <a16:creationId xmlns:a16="http://schemas.microsoft.com/office/drawing/2014/main" id="{6F3C7A98-3167-4EC3-8E82-2D827F1292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54489" y="4553937"/>
              <a:ext cx="4125912" cy="2122488"/>
              <a:chOff x="2501" y="1703"/>
              <a:chExt cx="2599" cy="1337"/>
            </a:xfrm>
          </p:grpSpPr>
          <p:sp>
            <p:nvSpPr>
              <p:cNvPr id="30" name="Line 8">
                <a:extLst>
                  <a:ext uri="{FF2B5EF4-FFF2-40B4-BE49-F238E27FC236}">
                    <a16:creationId xmlns:a16="http://schemas.microsoft.com/office/drawing/2014/main" id="{21861770-B859-4DF7-BB37-AA300CE978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1" y="3033"/>
                <a:ext cx="259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31" name="Line 9">
                <a:extLst>
                  <a:ext uri="{FF2B5EF4-FFF2-40B4-BE49-F238E27FC236}">
                    <a16:creationId xmlns:a16="http://schemas.microsoft.com/office/drawing/2014/main" id="{2E5E3B6D-CC3A-4437-8FBC-6B058B6FAB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8" y="1703"/>
                <a:ext cx="0" cy="132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es-ES"/>
              </a:p>
            </p:txBody>
          </p:sp>
          <p:grpSp>
            <p:nvGrpSpPr>
              <p:cNvPr id="32" name="Group 11">
                <a:extLst>
                  <a:ext uri="{FF2B5EF4-FFF2-40B4-BE49-F238E27FC236}">
                    <a16:creationId xmlns:a16="http://schemas.microsoft.com/office/drawing/2014/main" id="{C77AAD39-E96C-472E-9869-7CD2839C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64" y="1823"/>
                <a:ext cx="2302" cy="1217"/>
                <a:chOff x="2149" y="1599"/>
                <a:chExt cx="2750" cy="1455"/>
              </a:xfrm>
            </p:grpSpPr>
            <p:sp>
              <p:nvSpPr>
                <p:cNvPr id="33" name="Freeform 12">
                  <a:extLst>
                    <a:ext uri="{FF2B5EF4-FFF2-40B4-BE49-F238E27FC236}">
                      <a16:creationId xmlns:a16="http://schemas.microsoft.com/office/drawing/2014/main" id="{B2017EEC-46C8-4D67-A39E-6D3E6B2C71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9" y="1600"/>
                  <a:ext cx="1371" cy="1454"/>
                </a:xfrm>
                <a:custGeom>
                  <a:avLst/>
                  <a:gdLst>
                    <a:gd name="T0" fmla="*/ 0 w 1371"/>
                    <a:gd name="T1" fmla="*/ 1079 h 1079"/>
                    <a:gd name="T2" fmla="*/ 402 w 1371"/>
                    <a:gd name="T3" fmla="*/ 997 h 1079"/>
                    <a:gd name="T4" fmla="*/ 749 w 1371"/>
                    <a:gd name="T5" fmla="*/ 631 h 1079"/>
                    <a:gd name="T6" fmla="*/ 950 w 1371"/>
                    <a:gd name="T7" fmla="*/ 229 h 1079"/>
                    <a:gd name="T8" fmla="*/ 1152 w 1371"/>
                    <a:gd name="T9" fmla="*/ 55 h 1079"/>
                    <a:gd name="T10" fmla="*/ 1371 w 1371"/>
                    <a:gd name="T11" fmla="*/ 0 h 10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71" h="1079">
                      <a:moveTo>
                        <a:pt x="0" y="1079"/>
                      </a:moveTo>
                      <a:cubicBezTo>
                        <a:pt x="138" y="1075"/>
                        <a:pt x="277" y="1072"/>
                        <a:pt x="402" y="997"/>
                      </a:cubicBezTo>
                      <a:cubicBezTo>
                        <a:pt x="527" y="922"/>
                        <a:pt x="658" y="759"/>
                        <a:pt x="749" y="631"/>
                      </a:cubicBezTo>
                      <a:cubicBezTo>
                        <a:pt x="840" y="503"/>
                        <a:pt x="883" y="325"/>
                        <a:pt x="950" y="229"/>
                      </a:cubicBezTo>
                      <a:cubicBezTo>
                        <a:pt x="1017" y="133"/>
                        <a:pt x="1082" y="93"/>
                        <a:pt x="1152" y="55"/>
                      </a:cubicBezTo>
                      <a:cubicBezTo>
                        <a:pt x="1222" y="17"/>
                        <a:pt x="1336" y="9"/>
                        <a:pt x="1371" y="0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3333FF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34" name="Freeform 13">
                  <a:extLst>
                    <a:ext uri="{FF2B5EF4-FFF2-40B4-BE49-F238E27FC236}">
                      <a16:creationId xmlns:a16="http://schemas.microsoft.com/office/drawing/2014/main" id="{1A934504-676C-4D2F-B74D-3CF711D279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528" y="1599"/>
                  <a:ext cx="1371" cy="1454"/>
                </a:xfrm>
                <a:custGeom>
                  <a:avLst/>
                  <a:gdLst>
                    <a:gd name="T0" fmla="*/ 0 w 1371"/>
                    <a:gd name="T1" fmla="*/ 1079 h 1079"/>
                    <a:gd name="T2" fmla="*/ 402 w 1371"/>
                    <a:gd name="T3" fmla="*/ 997 h 1079"/>
                    <a:gd name="T4" fmla="*/ 749 w 1371"/>
                    <a:gd name="T5" fmla="*/ 631 h 1079"/>
                    <a:gd name="T6" fmla="*/ 950 w 1371"/>
                    <a:gd name="T7" fmla="*/ 229 h 1079"/>
                    <a:gd name="T8" fmla="*/ 1152 w 1371"/>
                    <a:gd name="T9" fmla="*/ 55 h 1079"/>
                    <a:gd name="T10" fmla="*/ 1371 w 1371"/>
                    <a:gd name="T11" fmla="*/ 0 h 10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71" h="1079">
                      <a:moveTo>
                        <a:pt x="0" y="1079"/>
                      </a:moveTo>
                      <a:cubicBezTo>
                        <a:pt x="138" y="1075"/>
                        <a:pt x="277" y="1072"/>
                        <a:pt x="402" y="997"/>
                      </a:cubicBezTo>
                      <a:cubicBezTo>
                        <a:pt x="527" y="922"/>
                        <a:pt x="658" y="759"/>
                        <a:pt x="749" y="631"/>
                      </a:cubicBezTo>
                      <a:cubicBezTo>
                        <a:pt x="840" y="503"/>
                        <a:pt x="883" y="325"/>
                        <a:pt x="950" y="229"/>
                      </a:cubicBezTo>
                      <a:cubicBezTo>
                        <a:pt x="1017" y="133"/>
                        <a:pt x="1082" y="93"/>
                        <a:pt x="1152" y="55"/>
                      </a:cubicBezTo>
                      <a:cubicBezTo>
                        <a:pt x="1222" y="17"/>
                        <a:pt x="1336" y="9"/>
                        <a:pt x="1371" y="0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3333FF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es-ES"/>
                </a:p>
              </p:txBody>
            </p:sp>
          </p:grpSp>
        </p:grpSp>
        <p:sp>
          <p:nvSpPr>
            <p:cNvPr id="42" name="Text Box 70">
              <a:extLst>
                <a:ext uri="{FF2B5EF4-FFF2-40B4-BE49-F238E27FC236}">
                  <a16:creationId xmlns:a16="http://schemas.microsoft.com/office/drawing/2014/main" id="{EEFC18C5-09A2-44CA-BE10-E55FEC38BB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0931" y="6599128"/>
              <a:ext cx="3129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ES" dirty="0"/>
                <a:t>x</a:t>
              </a:r>
            </a:p>
          </p:txBody>
        </p:sp>
        <p:sp>
          <p:nvSpPr>
            <p:cNvPr id="43" name="Text Box 71">
              <a:extLst>
                <a:ext uri="{FF2B5EF4-FFF2-40B4-BE49-F238E27FC236}">
                  <a16:creationId xmlns:a16="http://schemas.microsoft.com/office/drawing/2014/main" id="{02B650F3-C1A3-4EAC-B2D0-CF456332AE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6343" y="4241194"/>
              <a:ext cx="14541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ES"/>
                <a:t>Probabilidad</a:t>
              </a:r>
            </a:p>
          </p:txBody>
        </p:sp>
      </p:grpSp>
      <p:sp>
        <p:nvSpPr>
          <p:cNvPr id="36" name="Line 15">
            <a:extLst>
              <a:ext uri="{FF2B5EF4-FFF2-40B4-BE49-F238E27FC236}">
                <a16:creationId xmlns:a16="http://schemas.microsoft.com/office/drawing/2014/main" id="{94F6DF02-7A08-42A0-95DD-ABC462863AFC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0407" y="3404755"/>
            <a:ext cx="493712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es-ES"/>
          </a:p>
        </p:txBody>
      </p:sp>
      <p:sp>
        <p:nvSpPr>
          <p:cNvPr id="37" name="Text Box 16">
            <a:extLst>
              <a:ext uri="{FF2B5EF4-FFF2-40B4-BE49-F238E27FC236}">
                <a16:creationId xmlns:a16="http://schemas.microsoft.com/office/drawing/2014/main" id="{20D3A533-B319-4DE1-9B2B-5F2083089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5239" y="2826140"/>
            <a:ext cx="36512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89970" tIns="46784" rIns="89970" bIns="46784">
            <a:spAutoFit/>
          </a:bodyPr>
          <a:lstStyle/>
          <a:p>
            <a:r>
              <a:rPr lang="es-ES" altLang="es-ES" sz="2400" dirty="0">
                <a:sym typeface="Symbol" panose="05050102010706020507" pitchFamily="18" charset="2"/>
              </a:rPr>
              <a:t></a:t>
            </a:r>
          </a:p>
        </p:txBody>
      </p:sp>
      <p:sp>
        <p:nvSpPr>
          <p:cNvPr id="39" name="Line 20">
            <a:extLst>
              <a:ext uri="{FF2B5EF4-FFF2-40B4-BE49-F238E27FC236}">
                <a16:creationId xmlns:a16="http://schemas.microsoft.com/office/drawing/2014/main" id="{14B4C873-D3A5-49F1-825F-E4E51A7292BC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8982" y="3768293"/>
            <a:ext cx="10160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es-ES"/>
          </a:p>
        </p:txBody>
      </p:sp>
      <p:sp>
        <p:nvSpPr>
          <p:cNvPr id="41" name="Line 24">
            <a:extLst>
              <a:ext uri="{FF2B5EF4-FFF2-40B4-BE49-F238E27FC236}">
                <a16:creationId xmlns:a16="http://schemas.microsoft.com/office/drawing/2014/main" id="{0467C646-46F7-4175-9716-6B38C51D4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2944" y="4276293"/>
            <a:ext cx="1595438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es-ES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4D77E01-EEB6-4050-A8A6-C624CADDFCF5}"/>
              </a:ext>
            </a:extLst>
          </p:cNvPr>
          <p:cNvGrpSpPr/>
          <p:nvPr/>
        </p:nvGrpSpPr>
        <p:grpSpPr>
          <a:xfrm>
            <a:off x="7599557" y="2896535"/>
            <a:ext cx="977900" cy="1578741"/>
            <a:chOff x="7599557" y="2886025"/>
            <a:chExt cx="977900" cy="1578741"/>
          </a:xfrm>
        </p:grpSpPr>
        <p:sp>
          <p:nvSpPr>
            <p:cNvPr id="35" name="Line 14">
              <a:extLst>
                <a:ext uri="{FF2B5EF4-FFF2-40B4-BE49-F238E27FC236}">
                  <a16:creationId xmlns:a16="http://schemas.microsoft.com/office/drawing/2014/main" id="{CF17FEF3-F21F-4E25-B4B6-E4E7B6A08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7457" y="2893963"/>
              <a:ext cx="0" cy="157080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s-ES"/>
            </a:p>
          </p:txBody>
        </p:sp>
        <p:sp>
          <p:nvSpPr>
            <p:cNvPr id="44" name="Line 73">
              <a:extLst>
                <a:ext uri="{FF2B5EF4-FFF2-40B4-BE49-F238E27FC236}">
                  <a16:creationId xmlns:a16="http://schemas.microsoft.com/office/drawing/2014/main" id="{429AEEBF-A061-40E6-9B47-E60C2C9918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99557" y="2886025"/>
              <a:ext cx="0" cy="157080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s-ES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7CF3A5CB-1D57-4DC0-9777-6E6502153C40}"/>
              </a:ext>
            </a:extLst>
          </p:cNvPr>
          <p:cNvGrpSpPr/>
          <p:nvPr/>
        </p:nvGrpSpPr>
        <p:grpSpPr>
          <a:xfrm>
            <a:off x="7067744" y="2885423"/>
            <a:ext cx="2041525" cy="1578739"/>
            <a:chOff x="7067744" y="2874913"/>
            <a:chExt cx="2041525" cy="1578739"/>
          </a:xfrm>
        </p:grpSpPr>
        <p:sp>
          <p:nvSpPr>
            <p:cNvPr id="38" name="Line 19">
              <a:extLst>
                <a:ext uri="{FF2B5EF4-FFF2-40B4-BE49-F238E27FC236}">
                  <a16:creationId xmlns:a16="http://schemas.microsoft.com/office/drawing/2014/main" id="{49D5FE47-CDB1-461D-A1DC-A34077371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09269" y="2882850"/>
              <a:ext cx="0" cy="157080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s-ES"/>
            </a:p>
          </p:txBody>
        </p:sp>
        <p:sp>
          <p:nvSpPr>
            <p:cNvPr id="45" name="Line 74">
              <a:extLst>
                <a:ext uri="{FF2B5EF4-FFF2-40B4-BE49-F238E27FC236}">
                  <a16:creationId xmlns:a16="http://schemas.microsoft.com/office/drawing/2014/main" id="{54AB6529-CB14-46F0-9DFF-748AA8233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67744" y="2874913"/>
              <a:ext cx="0" cy="157080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s-ES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174440A2-20CF-42D1-8AB5-AB9DAF727F40}"/>
              </a:ext>
            </a:extLst>
          </p:cNvPr>
          <p:cNvGrpSpPr/>
          <p:nvPr/>
        </p:nvGrpSpPr>
        <p:grpSpPr>
          <a:xfrm>
            <a:off x="6562919" y="2874310"/>
            <a:ext cx="3051175" cy="1578741"/>
            <a:chOff x="6562919" y="2863800"/>
            <a:chExt cx="3051175" cy="1578741"/>
          </a:xfrm>
        </p:grpSpPr>
        <p:sp>
          <p:nvSpPr>
            <p:cNvPr id="40" name="Line 23">
              <a:extLst>
                <a:ext uri="{FF2B5EF4-FFF2-40B4-BE49-F238E27FC236}">
                  <a16:creationId xmlns:a16="http://schemas.microsoft.com/office/drawing/2014/main" id="{01526DFB-D12B-465E-BA6C-2950C7542D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14094" y="2871738"/>
              <a:ext cx="0" cy="157080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s-ES"/>
            </a:p>
          </p:txBody>
        </p:sp>
        <p:sp>
          <p:nvSpPr>
            <p:cNvPr id="46" name="Line 75">
              <a:extLst>
                <a:ext uri="{FF2B5EF4-FFF2-40B4-BE49-F238E27FC236}">
                  <a16:creationId xmlns:a16="http://schemas.microsoft.com/office/drawing/2014/main" id="{ACFEA028-E829-461B-93F3-2966CC7C1D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62919" y="2863800"/>
              <a:ext cx="0" cy="157080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s-ES"/>
            </a:p>
          </p:txBody>
        </p:sp>
      </p:grpSp>
      <p:sp>
        <p:nvSpPr>
          <p:cNvPr id="47" name="Text Box 40">
            <a:extLst>
              <a:ext uri="{FF2B5EF4-FFF2-40B4-BE49-F238E27FC236}">
                <a16:creationId xmlns:a16="http://schemas.microsoft.com/office/drawing/2014/main" id="{485EEE72-3D2D-4841-B836-4A7E2EA0F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4532" y="4918278"/>
            <a:ext cx="8784358" cy="356189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- Con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±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se cubre un rango con el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68,3 %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de la probabilidad.</a:t>
            </a:r>
          </a:p>
        </p:txBody>
      </p:sp>
      <p:sp>
        <p:nvSpPr>
          <p:cNvPr id="55" name="Text Box 40">
            <a:extLst>
              <a:ext uri="{FF2B5EF4-FFF2-40B4-BE49-F238E27FC236}">
                <a16:creationId xmlns:a16="http://schemas.microsoft.com/office/drawing/2014/main" id="{E2A4547E-BD20-4811-BD8E-437A3FBC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522" y="5307669"/>
            <a:ext cx="8784358" cy="356189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- Con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± 2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un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95,4 %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(se suele usar en el resultado final)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6" name="Text Box 40">
            <a:extLst>
              <a:ext uri="{FF2B5EF4-FFF2-40B4-BE49-F238E27FC236}">
                <a16:creationId xmlns:a16="http://schemas.microsoft.com/office/drawing/2014/main" id="{F064167A-0431-49B9-805F-389E2CF5A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4532" y="5665635"/>
            <a:ext cx="8784358" cy="356189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- Con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± 3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un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99,7 %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8" name="Text Box 40">
            <a:extLst>
              <a:ext uri="{FF2B5EF4-FFF2-40B4-BE49-F238E27FC236}">
                <a16:creationId xmlns:a16="http://schemas.microsoft.com/office/drawing/2014/main" id="{629C9005-86D4-4097-AB07-38C481563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926" y="6054756"/>
            <a:ext cx="9230398" cy="833178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Se opta por una inc. menor en el resultado final, si se espera que el valor verdadero esté cerca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del medio (ej.: el caso del corredor).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9" name="Text Box 40">
            <a:extLst>
              <a:ext uri="{FF2B5EF4-FFF2-40B4-BE49-F238E27FC236}">
                <a16:creationId xmlns:a16="http://schemas.microsoft.com/office/drawing/2014/main" id="{D553C0BC-CE76-4233-B5FD-333B0075D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4157" y="2188749"/>
            <a:ext cx="3571083" cy="23105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P.ej., como resultado de la medidas simultáneas hechas por un “gran” número de personas del tiempo, x, empleado por un corredor en 100 m.</a:t>
            </a:r>
          </a:p>
        </p:txBody>
      </p:sp>
    </p:spTree>
    <p:extLst>
      <p:ext uri="{BB962C8B-B14F-4D97-AF65-F5344CB8AC3E}">
        <p14:creationId xmlns:p14="http://schemas.microsoft.com/office/powerpoint/2010/main" val="373335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6" grpId="0" animBg="1"/>
      <p:bldP spid="37" grpId="0" animBg="1"/>
      <p:bldP spid="39" grpId="0" animBg="1"/>
      <p:bldP spid="41" grpId="0" animBg="1"/>
      <p:bldP spid="47" grpId="0"/>
      <p:bldP spid="55" grpId="0"/>
      <p:bldP spid="56" grpId="0"/>
      <p:bldP spid="48" grpId="0"/>
      <p:bldP spid="4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4" name="Text Box 11"/>
          <p:cNvSpPr txBox="1">
            <a:spLocks noChangeArrowheads="1"/>
          </p:cNvSpPr>
          <p:nvPr/>
        </p:nvSpPr>
        <p:spPr bwMode="auto">
          <a:xfrm>
            <a:off x="5767866" y="1450777"/>
            <a:ext cx="2441186" cy="4635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  1,6 10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19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C</a:t>
            </a:r>
          </a:p>
        </p:txBody>
      </p:sp>
      <p:sp>
        <p:nvSpPr>
          <p:cNvPr id="23575" name="AutoShape 33"/>
          <p:cNvSpPr>
            <a:spLocks noChangeArrowheads="1"/>
          </p:cNvSpPr>
          <p:nvPr/>
        </p:nvSpPr>
        <p:spPr bwMode="auto">
          <a:xfrm rot="16200000" flipH="1">
            <a:off x="6157937" y="1077241"/>
            <a:ext cx="354368" cy="271463"/>
          </a:xfrm>
          <a:prstGeom prst="rightArrow">
            <a:avLst>
              <a:gd name="adj1" fmla="val 50000"/>
              <a:gd name="adj2" fmla="val 67251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 anchorCtr="0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14" name="Text Box 40"/>
          <p:cNvSpPr txBox="1">
            <a:spLocks noChangeArrowheads="1"/>
          </p:cNvSpPr>
          <p:nvPr/>
        </p:nvSpPr>
        <p:spPr bwMode="auto">
          <a:xfrm>
            <a:off x="1327480" y="2163573"/>
            <a:ext cx="8766313" cy="833178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Al tomar un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valor aproximado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, no el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verdadero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(todo el rango de valores), cometemos una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equivocación</a:t>
            </a:r>
            <a:r>
              <a:rPr lang="es-ES" sz="2400" dirty="0">
                <a:latin typeface="Arial" panose="020B0604020202020204" pitchFamily="34" charset="0"/>
              </a:rPr>
              <a:t>,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un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error,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 (</a:t>
            </a:r>
            <a:r>
              <a:rPr lang="es-ES" sz="2400" b="1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é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psilon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)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5" name="Text Box 40"/>
          <p:cNvSpPr txBox="1">
            <a:spLocks noChangeArrowheads="1"/>
          </p:cNvSpPr>
          <p:nvPr/>
        </p:nvSpPr>
        <p:spPr bwMode="auto">
          <a:xfrm>
            <a:off x="1285440" y="3116615"/>
            <a:ext cx="8977201" cy="46384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El error no debe ser relevante en el contexto en que se esté.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31232330-5FD4-4896-8D99-D958C7034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9913" y="927824"/>
            <a:ext cx="2888704" cy="5143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ERROR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C6E55FE7-4163-4B94-AFC8-661C5ABE8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690" y="469272"/>
            <a:ext cx="4462461" cy="5143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 = 1,602 176 462 (63) 10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-19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C</a:t>
            </a:r>
          </a:p>
        </p:txBody>
      </p:sp>
      <p:sp>
        <p:nvSpPr>
          <p:cNvPr id="11" name="Text Box 36">
            <a:extLst>
              <a:ext uri="{FF2B5EF4-FFF2-40B4-BE49-F238E27FC236}">
                <a16:creationId xmlns:a16="http://schemas.microsoft.com/office/drawing/2014/main" id="{F871BBF1-5711-4DA0-8290-C3C38727B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8167" y="3640422"/>
            <a:ext cx="6899397" cy="830997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Si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resulta relevante,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y ha surgido por aproximar, hay que tomar más cifras al aproximar</a:t>
            </a:r>
          </a:p>
        </p:txBody>
      </p:sp>
      <p:sp>
        <p:nvSpPr>
          <p:cNvPr id="12" name="Text Box 40">
            <a:extLst>
              <a:ext uri="{FF2B5EF4-FFF2-40B4-BE49-F238E27FC236}">
                <a16:creationId xmlns:a16="http://schemas.microsoft.com/office/drawing/2014/main" id="{57F4E883-9210-4813-A254-CF2B7FD4E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563" y="4574499"/>
            <a:ext cx="8977201" cy="833178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Se da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redondeado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a 1 o 2 cifras a partir de la primera no nula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(son sus cifras significativas al dar idea del error)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 Box 40">
            <a:extLst>
              <a:ext uri="{FF2B5EF4-FFF2-40B4-BE49-F238E27FC236}">
                <a16:creationId xmlns:a16="http://schemas.microsoft.com/office/drawing/2014/main" id="{FD2CB2AC-7DAF-45C4-AFC5-86067FD1D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563" y="5500939"/>
            <a:ext cx="8987588" cy="1202510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Puede ser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positivo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o negativo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(error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por exceso o por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defecto). P.ej., al contar más o menos manzanas, o al no poner el cero de la regla, o del cronómetro, al inicio de lo que se mide.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83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4" grpId="0" animBg="1"/>
      <p:bldP spid="23575" grpId="0" animBg="1"/>
      <p:bldP spid="14" grpId="0"/>
      <p:bldP spid="15" grpId="0"/>
      <p:bldP spid="17" grpId="0" animBg="1"/>
      <p:bldP spid="11" grpId="0"/>
      <p:bldP spid="12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0"/>
          <p:cNvSpPr txBox="1">
            <a:spLocks noChangeArrowheads="1"/>
          </p:cNvSpPr>
          <p:nvPr/>
        </p:nvSpPr>
        <p:spPr bwMode="auto">
          <a:xfrm>
            <a:off x="1470337" y="5839829"/>
            <a:ext cx="4827718" cy="833178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- Indica cuánto representa el error respecto al valor verdadero.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C6E55FE7-4163-4B94-AFC8-661C5ABE8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690" y="469272"/>
            <a:ext cx="4462461" cy="5143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 = 1,602 176 462 (63) 10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-19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C</a:t>
            </a:r>
          </a:p>
        </p:txBody>
      </p:sp>
      <p:sp>
        <p:nvSpPr>
          <p:cNvPr id="19" name="Text Box 36">
            <a:extLst>
              <a:ext uri="{FF2B5EF4-FFF2-40B4-BE49-F238E27FC236}">
                <a16:creationId xmlns:a16="http://schemas.microsoft.com/office/drawing/2014/main" id="{16D386FF-9016-4CC7-A116-89C97E7EF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3746" y="6124664"/>
            <a:ext cx="2415085" cy="46166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Err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. </a:t>
            </a: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rel.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-1,4 %</a:t>
            </a:r>
          </a:p>
        </p:txBody>
      </p:sp>
      <p:sp>
        <p:nvSpPr>
          <p:cNvPr id="20" name="Text Box 40">
            <a:extLst>
              <a:ext uri="{FF2B5EF4-FFF2-40B4-BE49-F238E27FC236}">
                <a16:creationId xmlns:a16="http://schemas.microsoft.com/office/drawing/2014/main" id="{291BB139-53F0-49DA-8065-B3CF66025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071" y="2061860"/>
            <a:ext cx="6754034" cy="833178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En las prácticas aparecerán dos magnitudes relacionadas con el error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 Box 40">
            <a:extLst>
              <a:ext uri="{FF2B5EF4-FFF2-40B4-BE49-F238E27FC236}">
                <a16:creationId xmlns:a16="http://schemas.microsoft.com/office/drawing/2014/main" id="{701EFD56-9295-4430-8D4B-589EC1CB4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2237" y="2980411"/>
            <a:ext cx="4169303" cy="4638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ERR. ABSOLUTO = ERROR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 Box 40">
            <a:extLst>
              <a:ext uri="{FF2B5EF4-FFF2-40B4-BE49-F238E27FC236}">
                <a16:creationId xmlns:a16="http://schemas.microsoft.com/office/drawing/2014/main" id="{21022769-63CF-4489-B05A-2DC5F364A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0337" y="5291530"/>
            <a:ext cx="7293901" cy="4638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ERR. RELATIVO   = ERR. / |VALOR VERDADERO|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 Box 40">
            <a:extLst>
              <a:ext uri="{FF2B5EF4-FFF2-40B4-BE49-F238E27FC236}">
                <a16:creationId xmlns:a16="http://schemas.microsoft.com/office/drawing/2014/main" id="{E10625B1-7068-4421-B9E7-D03AD6857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7559" y="2987547"/>
            <a:ext cx="3629407" cy="46384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= Valor - Valor verdadero</a:t>
            </a:r>
          </a:p>
        </p:txBody>
      </p:sp>
      <p:sp>
        <p:nvSpPr>
          <p:cNvPr id="25" name="Text Box 40">
            <a:extLst>
              <a:ext uri="{FF2B5EF4-FFF2-40B4-BE49-F238E27FC236}">
                <a16:creationId xmlns:a16="http://schemas.microsoft.com/office/drawing/2014/main" id="{3E52D89E-CAEF-4A55-BF1C-1D300F665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0337" y="3612948"/>
            <a:ext cx="8721056" cy="46384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- Indica sobre cuánto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se falla.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 Box 40">
            <a:extLst>
              <a:ext uri="{FF2B5EF4-FFF2-40B4-BE49-F238E27FC236}">
                <a16:creationId xmlns:a16="http://schemas.microsoft.com/office/drawing/2014/main" id="{4C4DB18F-724D-4C56-B11E-C225B1AF0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0337" y="4164924"/>
            <a:ext cx="9140822" cy="833178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Si el valor o/y el valor verdadero son rangos de valores,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tomaremos su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valor medio, y tendremos un error promedio.</a:t>
            </a:r>
          </a:p>
        </p:txBody>
      </p:sp>
      <p:sp>
        <p:nvSpPr>
          <p:cNvPr id="2" name="Text Box 11">
            <a:extLst>
              <a:ext uri="{FF2B5EF4-FFF2-40B4-BE49-F238E27FC236}">
                <a16:creationId xmlns:a16="http://schemas.microsoft.com/office/drawing/2014/main" id="{152F4E98-2987-78B7-5B8C-9F7A1CE8B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7866" y="1450777"/>
            <a:ext cx="2441186" cy="4635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  1,6 10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19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C</a:t>
            </a:r>
          </a:p>
        </p:txBody>
      </p:sp>
      <p:sp>
        <p:nvSpPr>
          <p:cNvPr id="3" name="AutoShape 33">
            <a:extLst>
              <a:ext uri="{FF2B5EF4-FFF2-40B4-BE49-F238E27FC236}">
                <a16:creationId xmlns:a16="http://schemas.microsoft.com/office/drawing/2014/main" id="{E2F720E7-BE2A-6546-AC09-034469FEF27C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6157937" y="1077241"/>
            <a:ext cx="354368" cy="271463"/>
          </a:xfrm>
          <a:prstGeom prst="rightArrow">
            <a:avLst>
              <a:gd name="adj1" fmla="val 50000"/>
              <a:gd name="adj2" fmla="val 67251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 anchorCtr="0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endParaRPr lang="en-US" sz="2400">
              <a:latin typeface="Trebuchet MS" panose="020B0603020202020204" pitchFamily="34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2856AB4D-C49F-5203-825D-0E3BA945F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9913" y="927824"/>
            <a:ext cx="2888704" cy="5143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36683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0" grpId="0"/>
      <p:bldP spid="21" grpId="0" animBg="1"/>
      <p:bldP spid="22" grpId="0" animBg="1"/>
      <p:bldP spid="24" grpId="0"/>
      <p:bldP spid="25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39"/>
          <p:cNvSpPr txBox="1">
            <a:spLocks noChangeArrowheads="1"/>
          </p:cNvSpPr>
          <p:nvPr/>
        </p:nvSpPr>
        <p:spPr bwMode="auto">
          <a:xfrm>
            <a:off x="1211263" y="654277"/>
            <a:ext cx="8893653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Determinar la carga positiva y negativa contenida 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un litro de agua (H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O) de densidad  = 1 g/cm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16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u="sng" dirty="0">
                <a:latin typeface="Arial" panose="020B0604020202020204" pitchFamily="34" charset="0"/>
                <a:sym typeface="Symbol" panose="05050102010706020507" pitchFamily="18" charset="2"/>
              </a:rPr>
              <a:t>Datos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:  e  1,6 10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-19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C     |   N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 6 10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23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átomos o moléculas/mol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          Hidrógeno: Z = 1  ; 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atómica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 1 g/mol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          Oxígeno:    Z = 8  ; 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atómica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 16 g/mol</a:t>
            </a:r>
          </a:p>
        </p:txBody>
      </p:sp>
      <p:sp>
        <p:nvSpPr>
          <p:cNvPr id="27651" name="Text Box 44"/>
          <p:cNvSpPr txBox="1">
            <a:spLocks noChangeArrowheads="1"/>
          </p:cNvSpPr>
          <p:nvPr/>
        </p:nvSpPr>
        <p:spPr bwMode="auto">
          <a:xfrm>
            <a:off x="3740681" y="103984"/>
            <a:ext cx="4070153" cy="46166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BOLETÍN 1 - PROBLEMA 2</a:t>
            </a:r>
          </a:p>
        </p:txBody>
      </p:sp>
      <p:sp>
        <p:nvSpPr>
          <p:cNvPr id="69682" name="Text Box 50"/>
          <p:cNvSpPr txBox="1">
            <a:spLocks noChangeArrowheads="1"/>
          </p:cNvSpPr>
          <p:nvPr/>
        </p:nvSpPr>
        <p:spPr bwMode="auto">
          <a:xfrm>
            <a:off x="1700332" y="3578839"/>
            <a:ext cx="340264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3366FF"/>
                </a:solidFill>
                <a:latin typeface="Arial" panose="020B0604020202020204" pitchFamily="34" charset="0"/>
              </a:rPr>
              <a:t>EL AGUA ES NEUTRA</a:t>
            </a:r>
            <a:endParaRPr lang="es-ES" sz="2400" b="1" dirty="0">
              <a:solidFill>
                <a:srgbClr val="3366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7671" name="Text Box 49"/>
          <p:cNvSpPr txBox="1">
            <a:spLocks noChangeArrowheads="1"/>
          </p:cNvSpPr>
          <p:nvPr/>
        </p:nvSpPr>
        <p:spPr bwMode="auto">
          <a:xfrm>
            <a:off x="6139987" y="3559937"/>
            <a:ext cx="18034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 = 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Q</a:t>
            </a:r>
            <a:r>
              <a:rPr lang="en-US" sz="2400" baseline="30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endParaRPr lang="es-ES" sz="2400" baseline="300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7672" name="AutoShape 52"/>
          <p:cNvSpPr>
            <a:spLocks noChangeArrowheads="1"/>
          </p:cNvSpPr>
          <p:nvPr/>
        </p:nvSpPr>
        <p:spPr bwMode="auto">
          <a:xfrm>
            <a:off x="5399200" y="3647249"/>
            <a:ext cx="368300" cy="342901"/>
          </a:xfrm>
          <a:prstGeom prst="rightArrow">
            <a:avLst>
              <a:gd name="adj1" fmla="val 57407"/>
              <a:gd name="adj2" fmla="val 60183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9733" name="Text Box 101"/>
          <p:cNvSpPr txBox="1">
            <a:spLocks noChangeArrowheads="1"/>
          </p:cNvSpPr>
          <p:nvPr/>
        </p:nvSpPr>
        <p:spPr bwMode="auto">
          <a:xfrm>
            <a:off x="2267220" y="4887873"/>
            <a:ext cx="2903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AGUA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Q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+ Q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9734" name="Text Box 102"/>
          <p:cNvSpPr txBox="1">
            <a:spLocks noChangeArrowheads="1"/>
          </p:cNvSpPr>
          <p:nvPr/>
        </p:nvSpPr>
        <p:spPr bwMode="auto">
          <a:xfrm>
            <a:off x="2255790" y="6390537"/>
            <a:ext cx="4735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AGUA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Q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MOLÉCULA AGUA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MOLÉCULAS AGUA</a:t>
            </a:r>
          </a:p>
        </p:txBody>
      </p:sp>
      <p:sp>
        <p:nvSpPr>
          <p:cNvPr id="69736" name="Text Box 104"/>
          <p:cNvSpPr txBox="1">
            <a:spLocks noChangeArrowheads="1"/>
          </p:cNvSpPr>
          <p:nvPr/>
        </p:nvSpPr>
        <p:spPr bwMode="auto">
          <a:xfrm>
            <a:off x="5503253" y="4518368"/>
            <a:ext cx="4170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Q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ÁTOMO 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ÁTOMOS O</a:t>
            </a:r>
          </a:p>
        </p:txBody>
      </p:sp>
      <p:sp>
        <p:nvSpPr>
          <p:cNvPr id="69737" name="Text Box 105"/>
          <p:cNvSpPr txBox="1">
            <a:spLocks noChangeArrowheads="1"/>
          </p:cNvSpPr>
          <p:nvPr/>
        </p:nvSpPr>
        <p:spPr bwMode="auto">
          <a:xfrm>
            <a:off x="5508015" y="5086058"/>
            <a:ext cx="4132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Q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ÁTOMO H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ÁTOMOS H</a:t>
            </a:r>
          </a:p>
        </p:txBody>
      </p:sp>
      <p:sp>
        <p:nvSpPr>
          <p:cNvPr id="69738" name="AutoShape 106"/>
          <p:cNvSpPr>
            <a:spLocks/>
          </p:cNvSpPr>
          <p:nvPr/>
        </p:nvSpPr>
        <p:spPr bwMode="auto">
          <a:xfrm>
            <a:off x="5230689" y="4649205"/>
            <a:ext cx="158750" cy="847541"/>
          </a:xfrm>
          <a:prstGeom prst="leftBrace">
            <a:avLst>
              <a:gd name="adj1" fmla="val 53833"/>
              <a:gd name="adj2" fmla="val 50000"/>
            </a:avLst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660" name="Line 108"/>
          <p:cNvSpPr>
            <a:spLocks noChangeShapeType="1"/>
          </p:cNvSpPr>
          <p:nvPr/>
        </p:nvSpPr>
        <p:spPr bwMode="auto">
          <a:xfrm flipV="1">
            <a:off x="1439863" y="3421634"/>
            <a:ext cx="86375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sz="2400"/>
          </a:p>
        </p:txBody>
      </p:sp>
      <p:sp>
        <p:nvSpPr>
          <p:cNvPr id="15377" name="20 CuadroTexto"/>
          <p:cNvSpPr txBox="1">
            <a:spLocks noChangeArrowheads="1"/>
          </p:cNvSpPr>
          <p:nvPr/>
        </p:nvSpPr>
        <p:spPr bwMode="auto">
          <a:xfrm>
            <a:off x="8503653" y="985345"/>
            <a:ext cx="1678665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: </a:t>
            </a: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o o rho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85D524B-C234-4A2F-99CC-D4314EAEF60D}"/>
              </a:ext>
            </a:extLst>
          </p:cNvPr>
          <p:cNvGrpSpPr/>
          <p:nvPr/>
        </p:nvGrpSpPr>
        <p:grpSpPr>
          <a:xfrm>
            <a:off x="1932864" y="4287290"/>
            <a:ext cx="2078190" cy="2579854"/>
            <a:chOff x="2054784" y="4475036"/>
            <a:chExt cx="2078190" cy="2579854"/>
          </a:xfrm>
        </p:grpSpPr>
        <p:sp>
          <p:nvSpPr>
            <p:cNvPr id="27667" name="Text Box 115"/>
            <p:cNvSpPr txBox="1">
              <a:spLocks noChangeArrowheads="1"/>
            </p:cNvSpPr>
            <p:nvPr/>
          </p:nvSpPr>
          <p:spPr bwMode="auto">
            <a:xfrm>
              <a:off x="2374024" y="4475036"/>
              <a:ext cx="1736725" cy="46355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OPCIÓN 1:</a:t>
              </a:r>
            </a:p>
          </p:txBody>
        </p:sp>
        <p:sp>
          <p:nvSpPr>
            <p:cNvPr id="27668" name="Text Box 116"/>
            <p:cNvSpPr txBox="1">
              <a:spLocks noChangeArrowheads="1"/>
            </p:cNvSpPr>
            <p:nvPr/>
          </p:nvSpPr>
          <p:spPr bwMode="auto">
            <a:xfrm>
              <a:off x="2396249" y="6058218"/>
              <a:ext cx="1736725" cy="46355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OPCIÓN 2:</a:t>
              </a:r>
            </a:p>
          </p:txBody>
        </p:sp>
        <p:sp>
          <p:nvSpPr>
            <p:cNvPr id="27669" name="AutoShape 106"/>
            <p:cNvSpPr>
              <a:spLocks/>
            </p:cNvSpPr>
            <p:nvPr/>
          </p:nvSpPr>
          <p:spPr bwMode="auto">
            <a:xfrm>
              <a:off x="2054784" y="4475036"/>
              <a:ext cx="244869" cy="2579854"/>
            </a:xfrm>
            <a:prstGeom prst="leftBrace">
              <a:avLst>
                <a:gd name="adj1" fmla="val 104375"/>
                <a:gd name="adj2" fmla="val 51494"/>
              </a:avLst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7670" name="Text Box 101"/>
          <p:cNvSpPr txBox="1">
            <a:spLocks noChangeArrowheads="1"/>
          </p:cNvSpPr>
          <p:nvPr/>
        </p:nvSpPr>
        <p:spPr bwMode="auto">
          <a:xfrm>
            <a:off x="1259205" y="5298655"/>
            <a:ext cx="573088" cy="457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678" name="Text Box 30"/>
          <p:cNvSpPr txBox="1">
            <a:spLocks noChangeArrowheads="1"/>
          </p:cNvSpPr>
          <p:nvPr/>
        </p:nvSpPr>
        <p:spPr bwMode="auto">
          <a:xfrm>
            <a:off x="8291513" y="3561473"/>
            <a:ext cx="21320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Basta calcular Q</a:t>
            </a:r>
            <a:r>
              <a:rPr lang="es-ES" sz="2400" baseline="30000" dirty="0">
                <a:solidFill>
                  <a:srgbClr val="FF0000"/>
                </a:solidFill>
                <a:latin typeface="Trebuchet MS" panose="020B0603020202020204" pitchFamily="34" charset="0"/>
              </a:rPr>
              <a:t>+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 o Q</a:t>
            </a:r>
            <a:r>
              <a:rPr lang="es-ES" sz="2400" baseline="30000" dirty="0">
                <a:solidFill>
                  <a:srgbClr val="FF0000"/>
                </a:solidFill>
                <a:latin typeface="Trebuchet MS" panose="020B0603020202020204" pitchFamily="34" charset="0"/>
              </a:rPr>
              <a:t>-</a:t>
            </a:r>
          </a:p>
        </p:txBody>
      </p:sp>
      <p:sp>
        <p:nvSpPr>
          <p:cNvPr id="27665" name="Text Box 22"/>
          <p:cNvSpPr txBox="1">
            <a:spLocks noChangeArrowheads="1"/>
          </p:cNvSpPr>
          <p:nvPr/>
        </p:nvSpPr>
        <p:spPr bwMode="auto">
          <a:xfrm>
            <a:off x="7768812" y="1992733"/>
            <a:ext cx="2238334" cy="905881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N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: Número de Avogadro</a:t>
            </a:r>
          </a:p>
        </p:txBody>
      </p:sp>
      <p:sp>
        <p:nvSpPr>
          <p:cNvPr id="25" name="Text Box 30">
            <a:extLst>
              <a:ext uri="{FF2B5EF4-FFF2-40B4-BE49-F238E27FC236}">
                <a16:creationId xmlns:a16="http://schemas.microsoft.com/office/drawing/2014/main" id="{C4842535-0608-4A12-B499-E97EBE5E0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806" y="5629847"/>
            <a:ext cx="461669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Los átomos o las moléculas tienen la misma carga</a:t>
            </a:r>
            <a:endParaRPr lang="es-ES" sz="2400" baseline="300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Text Box 22">
            <a:extLst>
              <a:ext uri="{FF2B5EF4-FFF2-40B4-BE49-F238E27FC236}">
                <a16:creationId xmlns:a16="http://schemas.microsoft.com/office/drawing/2014/main" id="{9FB78D62-50DD-39F7-1D7E-0CD88C8E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0332" y="2838832"/>
            <a:ext cx="9042843" cy="53654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u="sng" dirty="0">
                <a:solidFill>
                  <a:srgbClr val="FF0000"/>
                </a:solidFill>
                <a:latin typeface="Arial" panose="020B0604020202020204" pitchFamily="34" charset="0"/>
              </a:rPr>
              <a:t>Mol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: Cantidad de sustancia con N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de átomos o moléculas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9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9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7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9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82" grpId="0"/>
      <p:bldP spid="27671" grpId="0" animBg="1"/>
      <p:bldP spid="27672" grpId="0" animBg="1"/>
      <p:bldP spid="69733" grpId="0"/>
      <p:bldP spid="69734" grpId="0"/>
      <p:bldP spid="69736" grpId="0"/>
      <p:bldP spid="69737" grpId="0"/>
      <p:bldP spid="69738" grpId="0" animBg="1"/>
      <p:bldP spid="15377" grpId="0"/>
      <p:bldP spid="27670" grpId="0" animBg="1"/>
      <p:bldP spid="27678" grpId="0"/>
      <p:bldP spid="27665" grpId="0"/>
      <p:bldP spid="25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54" name="Text Box 30"/>
          <p:cNvSpPr txBox="1">
            <a:spLocks noChangeArrowheads="1"/>
          </p:cNvSpPr>
          <p:nvPr/>
        </p:nvSpPr>
        <p:spPr bwMode="auto">
          <a:xfrm>
            <a:off x="1291329" y="3985573"/>
            <a:ext cx="199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MOLÉCULAS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7953215" y="2031842"/>
            <a:ext cx="2141541" cy="1717675"/>
            <a:chOff x="6561146" y="1611312"/>
            <a:chExt cx="2141540" cy="1717674"/>
          </a:xfrm>
        </p:grpSpPr>
        <p:grpSp>
          <p:nvGrpSpPr>
            <p:cNvPr id="29754" name="Group 49"/>
            <p:cNvGrpSpPr>
              <a:grpSpLocks/>
            </p:cNvGrpSpPr>
            <p:nvPr/>
          </p:nvGrpSpPr>
          <p:grpSpPr bwMode="auto">
            <a:xfrm>
              <a:off x="6561146" y="2058989"/>
              <a:ext cx="654050" cy="1230313"/>
              <a:chOff x="4595" y="2042"/>
              <a:chExt cx="412" cy="775"/>
            </a:xfrm>
          </p:grpSpPr>
          <p:sp>
            <p:nvSpPr>
              <p:cNvPr id="29762" name="Text Box 72"/>
              <p:cNvSpPr txBox="1">
                <a:spLocks noChangeArrowheads="1"/>
              </p:cNvSpPr>
              <p:nvPr/>
            </p:nvSpPr>
            <p:spPr bwMode="auto">
              <a:xfrm>
                <a:off x="4675" y="2042"/>
                <a:ext cx="23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 dirty="0">
                    <a:solidFill>
                      <a:srgbClr val="008000"/>
                    </a:solidFill>
                    <a:latin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29763" name="Text Box 73"/>
              <p:cNvSpPr txBox="1">
                <a:spLocks noChangeArrowheads="1"/>
              </p:cNvSpPr>
              <p:nvPr/>
            </p:nvSpPr>
            <p:spPr bwMode="auto">
              <a:xfrm>
                <a:off x="4683" y="2297"/>
                <a:ext cx="23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29764" name="Text Box 75"/>
              <p:cNvSpPr txBox="1">
                <a:spLocks noChangeArrowheads="1"/>
              </p:cNvSpPr>
              <p:nvPr/>
            </p:nvSpPr>
            <p:spPr bwMode="auto">
              <a:xfrm>
                <a:off x="4595" y="2567"/>
                <a:ext cx="41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 dirty="0">
                    <a:solidFill>
                      <a:srgbClr val="008000"/>
                    </a:solidFill>
                    <a:latin typeface="Arial" panose="020B0604020202020204" pitchFamily="34" charset="0"/>
                  </a:rPr>
                  <a:t>H</a:t>
                </a:r>
                <a:r>
                  <a:rPr lang="es-ES" sz="2400" b="1" baseline="-25000" dirty="0">
                    <a:solidFill>
                      <a:srgbClr val="008000"/>
                    </a:solidFill>
                    <a:latin typeface="Arial" panose="020B0604020202020204" pitchFamily="34" charset="0"/>
                  </a:rPr>
                  <a:t>2</a:t>
                </a:r>
                <a:r>
                  <a:rPr lang="es-ES" sz="2400" b="1" dirty="0">
                    <a:solidFill>
                      <a:srgbClr val="008000"/>
                    </a:solidFill>
                    <a:latin typeface="Arial" panose="020B0604020202020204" pitchFamily="34" charset="0"/>
                  </a:rPr>
                  <a:t>O</a:t>
                </a:r>
              </a:p>
            </p:txBody>
          </p:sp>
        </p:grpSp>
        <p:grpSp>
          <p:nvGrpSpPr>
            <p:cNvPr id="29755" name="Group 50"/>
            <p:cNvGrpSpPr>
              <a:grpSpLocks/>
            </p:cNvGrpSpPr>
            <p:nvPr/>
          </p:nvGrpSpPr>
          <p:grpSpPr bwMode="auto">
            <a:xfrm>
              <a:off x="7558097" y="1611312"/>
              <a:ext cx="1144589" cy="1717674"/>
              <a:chOff x="5027" y="1760"/>
              <a:chExt cx="721" cy="1082"/>
            </a:xfrm>
          </p:grpSpPr>
          <p:sp>
            <p:nvSpPr>
              <p:cNvPr id="29756" name="Text Box 76"/>
              <p:cNvSpPr txBox="1">
                <a:spLocks noChangeArrowheads="1"/>
              </p:cNvSpPr>
              <p:nvPr/>
            </p:nvSpPr>
            <p:spPr bwMode="auto">
              <a:xfrm>
                <a:off x="5118" y="1760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 dirty="0">
                    <a:solidFill>
                      <a:srgbClr val="008000"/>
                    </a:solidFill>
                    <a:latin typeface="Arial" panose="020B0604020202020204" pitchFamily="34" charset="0"/>
                  </a:rPr>
                  <a:t>N</a:t>
                </a:r>
                <a:r>
                  <a:rPr lang="es-ES" sz="2400" b="1" baseline="-25000" dirty="0">
                    <a:solidFill>
                      <a:srgbClr val="008000"/>
                    </a:solidFill>
                    <a:latin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29757" name="Text Box 78"/>
              <p:cNvSpPr txBox="1">
                <a:spLocks noChangeArrowheads="1"/>
              </p:cNvSpPr>
              <p:nvPr/>
            </p:nvSpPr>
            <p:spPr bwMode="auto">
              <a:xfrm>
                <a:off x="5027" y="2051"/>
                <a:ext cx="46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 </a:t>
                </a: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 8</a:t>
                </a:r>
                <a:endParaRPr lang="es-ES" sz="240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29758" name="Text Box 79"/>
              <p:cNvSpPr txBox="1">
                <a:spLocks noChangeArrowheads="1"/>
              </p:cNvSpPr>
              <p:nvPr/>
            </p:nvSpPr>
            <p:spPr bwMode="auto">
              <a:xfrm>
                <a:off x="5031" y="2297"/>
                <a:ext cx="46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2 </a:t>
                </a: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 1</a:t>
                </a:r>
                <a:endPara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759" name="Text Box 82"/>
              <p:cNvSpPr txBox="1">
                <a:spLocks noChangeArrowheads="1"/>
              </p:cNvSpPr>
              <p:nvPr/>
            </p:nvSpPr>
            <p:spPr bwMode="auto">
              <a:xfrm>
                <a:off x="5096" y="2592"/>
                <a:ext cx="29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10</a:t>
                </a:r>
                <a:endParaRPr lang="es-ES" sz="2400" baseline="30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760" name="Line 84"/>
              <p:cNvSpPr>
                <a:spLocks noChangeShapeType="1"/>
              </p:cNvSpPr>
              <p:nvPr/>
            </p:nvSpPr>
            <p:spPr bwMode="auto">
              <a:xfrm flipV="1">
                <a:off x="5034" y="2598"/>
                <a:ext cx="53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 sz="2400"/>
              </a:p>
            </p:txBody>
          </p:sp>
          <p:sp>
            <p:nvSpPr>
              <p:cNvPr id="29761" name="Text Box 87"/>
              <p:cNvSpPr txBox="1">
                <a:spLocks noChangeArrowheads="1"/>
              </p:cNvSpPr>
              <p:nvPr/>
            </p:nvSpPr>
            <p:spPr bwMode="auto">
              <a:xfrm>
                <a:off x="5541" y="2321"/>
                <a:ext cx="20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</p:grpSp>
      </p:grpSp>
      <p:sp>
        <p:nvSpPr>
          <p:cNvPr id="29701" name="Text Box 88"/>
          <p:cNvSpPr txBox="1">
            <a:spLocks noChangeArrowheads="1"/>
          </p:cNvSpPr>
          <p:nvPr/>
        </p:nvSpPr>
        <p:spPr bwMode="auto">
          <a:xfrm>
            <a:off x="3355975" y="471142"/>
            <a:ext cx="4735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AGUA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Q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MOLÉCULA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N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MOLÉCULAS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0313" name="Text Box 89"/>
          <p:cNvSpPr txBox="1">
            <a:spLocks noChangeArrowheads="1"/>
          </p:cNvSpPr>
          <p:nvPr/>
        </p:nvSpPr>
        <p:spPr bwMode="auto">
          <a:xfrm>
            <a:off x="1289050" y="1323807"/>
            <a:ext cx="1998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MOLÉCULA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 =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80328" name="Text Box 104"/>
          <p:cNvSpPr txBox="1">
            <a:spLocks noChangeArrowheads="1"/>
          </p:cNvSpPr>
          <p:nvPr/>
        </p:nvSpPr>
        <p:spPr bwMode="auto">
          <a:xfrm>
            <a:off x="3548063" y="1325997"/>
            <a:ext cx="1209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PROTONES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  e</a:t>
            </a:r>
          </a:p>
        </p:txBody>
      </p:sp>
      <p:sp>
        <p:nvSpPr>
          <p:cNvPr id="29707" name="Rectangle 111"/>
          <p:cNvSpPr>
            <a:spLocks noChangeArrowheads="1"/>
          </p:cNvSpPr>
          <p:nvPr/>
        </p:nvSpPr>
        <p:spPr bwMode="auto">
          <a:xfrm>
            <a:off x="3241675" y="380655"/>
            <a:ext cx="4987925" cy="712787"/>
          </a:xfrm>
          <a:prstGeom prst="rect">
            <a:avLst/>
          </a:prstGeom>
          <a:noFill/>
          <a:ln w="38100" algn="ctr">
            <a:solidFill>
              <a:srgbClr val="99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708" name="Text Box 112"/>
          <p:cNvSpPr txBox="1">
            <a:spLocks noChangeArrowheads="1"/>
          </p:cNvSpPr>
          <p:nvPr/>
        </p:nvSpPr>
        <p:spPr bwMode="auto">
          <a:xfrm>
            <a:off x="1328159" y="504335"/>
            <a:ext cx="1736671" cy="463846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OPCIÓN 2:</a:t>
            </a:r>
          </a:p>
        </p:txBody>
      </p:sp>
      <p:grpSp>
        <p:nvGrpSpPr>
          <p:cNvPr id="16456" name="Group 72"/>
          <p:cNvGrpSpPr>
            <a:grpSpLocks/>
          </p:cNvGrpSpPr>
          <p:nvPr/>
        </p:nvGrpSpPr>
        <p:grpSpPr bwMode="auto">
          <a:xfrm>
            <a:off x="3450329" y="3983986"/>
            <a:ext cx="1798637" cy="458787"/>
            <a:chOff x="2211" y="2553"/>
            <a:chExt cx="1133" cy="289"/>
          </a:xfrm>
        </p:grpSpPr>
        <p:sp>
          <p:nvSpPr>
            <p:cNvPr id="29744" name="Text Box 38"/>
            <p:cNvSpPr txBox="1">
              <a:spLocks noChangeArrowheads="1"/>
            </p:cNvSpPr>
            <p:nvPr/>
          </p:nvSpPr>
          <p:spPr bwMode="auto">
            <a:xfrm>
              <a:off x="2211" y="2554"/>
              <a:ext cx="5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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45" name="Text Box 113"/>
            <p:cNvSpPr txBox="1">
              <a:spLocks noChangeArrowheads="1"/>
            </p:cNvSpPr>
            <p:nvPr/>
          </p:nvSpPr>
          <p:spPr bwMode="auto">
            <a:xfrm>
              <a:off x="2750" y="2553"/>
              <a:ext cx="5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moles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49" name="Text Box 39"/>
          <p:cNvSpPr txBox="1">
            <a:spLocks noChangeArrowheads="1"/>
          </p:cNvSpPr>
          <p:nvPr/>
        </p:nvSpPr>
        <p:spPr bwMode="auto">
          <a:xfrm>
            <a:off x="4569915" y="2378160"/>
            <a:ext cx="1097460" cy="98488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12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Z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O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= 8</a:t>
            </a:r>
          </a:p>
          <a:p>
            <a:pPr algn="ctr" eaLnBrk="1" hangingPunct="1">
              <a:spcBef>
                <a:spcPts val="12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Z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= 1</a:t>
            </a:r>
          </a:p>
        </p:txBody>
      </p:sp>
      <p:sp>
        <p:nvSpPr>
          <p:cNvPr id="50" name="Text Box 39"/>
          <p:cNvSpPr txBox="1">
            <a:spLocks noChangeArrowheads="1"/>
          </p:cNvSpPr>
          <p:nvPr/>
        </p:nvSpPr>
        <p:spPr bwMode="auto">
          <a:xfrm>
            <a:off x="4595929" y="5276956"/>
            <a:ext cx="2339975" cy="83099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at O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 16 g/mol M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at H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 1 g/mol</a:t>
            </a:r>
          </a:p>
        </p:txBody>
      </p:sp>
      <p:grpSp>
        <p:nvGrpSpPr>
          <p:cNvPr id="16449" name="Group 65"/>
          <p:cNvGrpSpPr>
            <a:grpSpLocks/>
          </p:cNvGrpSpPr>
          <p:nvPr/>
        </p:nvGrpSpPr>
        <p:grpSpPr bwMode="auto">
          <a:xfrm>
            <a:off x="7793728" y="4065328"/>
            <a:ext cx="2735263" cy="906463"/>
            <a:chOff x="4947" y="2559"/>
            <a:chExt cx="1723" cy="571"/>
          </a:xfrm>
        </p:grpSpPr>
        <p:sp>
          <p:nvSpPr>
            <p:cNvPr id="29742" name="Text Box 53"/>
            <p:cNvSpPr txBox="1">
              <a:spLocks noChangeArrowheads="1"/>
            </p:cNvSpPr>
            <p:nvPr/>
          </p:nvSpPr>
          <p:spPr bwMode="auto">
            <a:xfrm>
              <a:off x="5158" y="2559"/>
              <a:ext cx="1512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Masa de un mol de moléculas</a:t>
              </a:r>
            </a:p>
          </p:txBody>
        </p:sp>
        <p:sp>
          <p:nvSpPr>
            <p:cNvPr id="29743" name="Line 54"/>
            <p:cNvSpPr>
              <a:spLocks noChangeShapeType="1"/>
            </p:cNvSpPr>
            <p:nvPr/>
          </p:nvSpPr>
          <p:spPr bwMode="auto">
            <a:xfrm flipV="1">
              <a:off x="4947" y="2844"/>
              <a:ext cx="19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/>
            <a:lstStyle/>
            <a:p>
              <a:endParaRPr lang="en-GB" sz="2400" dirty="0"/>
            </a:p>
          </p:txBody>
        </p:sp>
      </p:grpSp>
      <p:grpSp>
        <p:nvGrpSpPr>
          <p:cNvPr id="29733" name="Group 60"/>
          <p:cNvGrpSpPr>
            <a:grpSpLocks/>
          </p:cNvGrpSpPr>
          <p:nvPr/>
        </p:nvGrpSpPr>
        <p:grpSpPr bwMode="auto">
          <a:xfrm>
            <a:off x="2436813" y="2379715"/>
            <a:ext cx="593725" cy="912812"/>
            <a:chOff x="4367" y="1958"/>
            <a:chExt cx="374" cy="575"/>
          </a:xfrm>
        </p:grpSpPr>
        <p:sp>
          <p:nvSpPr>
            <p:cNvPr id="29740" name="Text Box 58"/>
            <p:cNvSpPr txBox="1">
              <a:spLocks noChangeArrowheads="1"/>
            </p:cNvSpPr>
            <p:nvPr/>
          </p:nvSpPr>
          <p:spPr bwMode="auto">
            <a:xfrm>
              <a:off x="4370" y="1958"/>
              <a:ext cx="37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1 átomo O</a:t>
              </a:r>
            </a:p>
          </p:txBody>
        </p:sp>
        <p:sp>
          <p:nvSpPr>
            <p:cNvPr id="29741" name="Text Box 59"/>
            <p:cNvSpPr txBox="1">
              <a:spLocks noChangeArrowheads="1"/>
            </p:cNvSpPr>
            <p:nvPr/>
          </p:nvSpPr>
          <p:spPr bwMode="auto">
            <a:xfrm>
              <a:off x="4367" y="2237"/>
              <a:ext cx="363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2 átomos H</a:t>
              </a:r>
            </a:p>
          </p:txBody>
        </p:sp>
      </p:grpSp>
      <p:grpSp>
        <p:nvGrpSpPr>
          <p:cNvPr id="16457" name="Group 73"/>
          <p:cNvGrpSpPr>
            <a:grpSpLocks/>
          </p:cNvGrpSpPr>
          <p:nvPr/>
        </p:nvGrpSpPr>
        <p:grpSpPr bwMode="auto">
          <a:xfrm>
            <a:off x="5263254" y="3699823"/>
            <a:ext cx="2051050" cy="984250"/>
            <a:chOff x="3353" y="2374"/>
            <a:chExt cx="1292" cy="620"/>
          </a:xfrm>
        </p:grpSpPr>
        <p:grpSp>
          <p:nvGrpSpPr>
            <p:cNvPr id="29735" name="Group 105"/>
            <p:cNvGrpSpPr>
              <a:grpSpLocks/>
            </p:cNvGrpSpPr>
            <p:nvPr/>
          </p:nvGrpSpPr>
          <p:grpSpPr bwMode="auto">
            <a:xfrm>
              <a:off x="4087" y="2374"/>
              <a:ext cx="558" cy="620"/>
              <a:chOff x="2757" y="2516"/>
              <a:chExt cx="558" cy="620"/>
            </a:xfrm>
          </p:grpSpPr>
          <p:sp>
            <p:nvSpPr>
              <p:cNvPr id="29737" name="Line 31"/>
              <p:cNvSpPr>
                <a:spLocks noChangeShapeType="1"/>
              </p:cNvSpPr>
              <p:nvPr/>
            </p:nvSpPr>
            <p:spPr bwMode="auto">
              <a:xfrm>
                <a:off x="2798" y="2853"/>
                <a:ext cx="4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 sz="2400"/>
              </a:p>
            </p:txBody>
          </p:sp>
          <p:sp>
            <p:nvSpPr>
              <p:cNvPr id="29738" name="Text Box 36"/>
              <p:cNvSpPr txBox="1">
                <a:spLocks noChangeArrowheads="1"/>
              </p:cNvSpPr>
              <p:nvPr/>
            </p:nvSpPr>
            <p:spPr bwMode="auto">
              <a:xfrm>
                <a:off x="2757" y="2516"/>
                <a:ext cx="55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</a:t>
                </a:r>
                <a:r>
                  <a:rPr lang="es-ES" sz="24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agua</a:t>
                </a:r>
                <a:endParaRPr lang="es-E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739" name="Text Box 37"/>
              <p:cNvSpPr txBox="1">
                <a:spLocks noChangeArrowheads="1"/>
              </p:cNvSpPr>
              <p:nvPr/>
            </p:nvSpPr>
            <p:spPr bwMode="auto">
              <a:xfrm>
                <a:off x="2765" y="2844"/>
                <a:ext cx="484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</a:t>
                </a:r>
                <a:r>
                  <a:rPr lang="es-ES" sz="24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molecular</a:t>
                </a:r>
                <a:endParaRPr lang="es-E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736" name="Text Box 38"/>
            <p:cNvSpPr txBox="1">
              <a:spLocks noChangeArrowheads="1"/>
            </p:cNvSpPr>
            <p:nvPr/>
          </p:nvSpPr>
          <p:spPr bwMode="auto">
            <a:xfrm>
              <a:off x="3353" y="2544"/>
              <a:ext cx="5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= N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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6453" name="Group 69"/>
          <p:cNvGrpSpPr>
            <a:grpSpLocks/>
          </p:cNvGrpSpPr>
          <p:nvPr/>
        </p:nvGrpSpPr>
        <p:grpSpPr bwMode="auto">
          <a:xfrm>
            <a:off x="4273360" y="6039242"/>
            <a:ext cx="2676527" cy="1025526"/>
            <a:chOff x="3672" y="3195"/>
            <a:chExt cx="1686" cy="646"/>
          </a:xfrm>
        </p:grpSpPr>
        <p:sp>
          <p:nvSpPr>
            <p:cNvPr id="2" name="Text Box 56"/>
            <p:cNvSpPr txBox="1">
              <a:spLocks noChangeArrowheads="1"/>
            </p:cNvSpPr>
            <p:nvPr/>
          </p:nvSpPr>
          <p:spPr bwMode="auto">
            <a:xfrm>
              <a:off x="3672" y="3270"/>
              <a:ext cx="1686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Masa de un mol de átomos</a:t>
              </a:r>
            </a:p>
          </p:txBody>
        </p:sp>
        <p:sp>
          <p:nvSpPr>
            <p:cNvPr id="29734" name="Line 54"/>
            <p:cNvSpPr>
              <a:spLocks noChangeShapeType="1"/>
            </p:cNvSpPr>
            <p:nvPr/>
          </p:nvSpPr>
          <p:spPr bwMode="auto">
            <a:xfrm>
              <a:off x="4013" y="3195"/>
              <a:ext cx="0" cy="1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/>
            <a:lstStyle/>
            <a:p>
              <a:endParaRPr lang="en-GB" sz="2400"/>
            </a:p>
          </p:txBody>
        </p:sp>
      </p:grp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1536700" y="1994439"/>
            <a:ext cx="644525" cy="1066180"/>
            <a:chOff x="1409195" y="1795630"/>
            <a:chExt cx="644384" cy="1066519"/>
          </a:xfrm>
        </p:grpSpPr>
        <p:grpSp>
          <p:nvGrpSpPr>
            <p:cNvPr id="29728" name="Group 101"/>
            <p:cNvGrpSpPr>
              <a:grpSpLocks/>
            </p:cNvGrpSpPr>
            <p:nvPr/>
          </p:nvGrpSpPr>
          <p:grpSpPr bwMode="auto">
            <a:xfrm>
              <a:off x="1543992" y="2398599"/>
              <a:ext cx="509587" cy="463550"/>
              <a:chOff x="1022" y="3482"/>
              <a:chExt cx="321" cy="292"/>
            </a:xfrm>
          </p:grpSpPr>
          <p:sp>
            <p:nvSpPr>
              <p:cNvPr id="29730" name="Oval 71"/>
              <p:cNvSpPr>
                <a:spLocks noChangeArrowheads="1"/>
              </p:cNvSpPr>
              <p:nvPr/>
            </p:nvSpPr>
            <p:spPr bwMode="auto">
              <a:xfrm>
                <a:off x="1230" y="3661"/>
                <a:ext cx="113" cy="113"/>
              </a:xfrm>
              <a:prstGeom prst="ellipse">
                <a:avLst/>
              </a:prstGeom>
              <a:solidFill>
                <a:srgbClr val="3333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731" name="Oval 74"/>
              <p:cNvSpPr>
                <a:spLocks noChangeArrowheads="1"/>
              </p:cNvSpPr>
              <p:nvPr/>
            </p:nvSpPr>
            <p:spPr bwMode="auto">
              <a:xfrm>
                <a:off x="1022" y="3661"/>
                <a:ext cx="113" cy="113"/>
              </a:xfrm>
              <a:prstGeom prst="ellipse">
                <a:avLst/>
              </a:prstGeom>
              <a:solidFill>
                <a:srgbClr val="3333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732" name="Oval 70"/>
              <p:cNvSpPr>
                <a:spLocks noChangeArrowheads="1"/>
              </p:cNvSpPr>
              <p:nvPr/>
            </p:nvSpPr>
            <p:spPr bwMode="auto">
              <a:xfrm>
                <a:off x="1070" y="3482"/>
                <a:ext cx="227" cy="227"/>
              </a:xfrm>
              <a:prstGeom prst="ellipse">
                <a:avLst/>
              </a:prstGeom>
              <a:solidFill>
                <a:srgbClr val="FF5050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729" name="Text Box 59"/>
            <p:cNvSpPr txBox="1">
              <a:spLocks noChangeArrowheads="1"/>
            </p:cNvSpPr>
            <p:nvPr/>
          </p:nvSpPr>
          <p:spPr bwMode="auto">
            <a:xfrm>
              <a:off x="1409195" y="1795630"/>
              <a:ext cx="576262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1 molécula H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O</a:t>
              </a:r>
            </a:p>
          </p:txBody>
        </p:sp>
      </p:grpSp>
      <p:grpSp>
        <p:nvGrpSpPr>
          <p:cNvPr id="75" name="Group 60"/>
          <p:cNvGrpSpPr>
            <a:grpSpLocks/>
          </p:cNvGrpSpPr>
          <p:nvPr/>
        </p:nvGrpSpPr>
        <p:grpSpPr bwMode="auto">
          <a:xfrm>
            <a:off x="2451703" y="5239655"/>
            <a:ext cx="593725" cy="865188"/>
            <a:chOff x="4367" y="1988"/>
            <a:chExt cx="374" cy="545"/>
          </a:xfrm>
        </p:grpSpPr>
        <p:sp>
          <p:nvSpPr>
            <p:cNvPr id="29726" name="Text Box 58"/>
            <p:cNvSpPr txBox="1">
              <a:spLocks noChangeArrowheads="1"/>
            </p:cNvSpPr>
            <p:nvPr/>
          </p:nvSpPr>
          <p:spPr bwMode="auto">
            <a:xfrm>
              <a:off x="4370" y="1988"/>
              <a:ext cx="37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1 mol át. O</a:t>
              </a:r>
            </a:p>
          </p:txBody>
        </p:sp>
        <p:sp>
          <p:nvSpPr>
            <p:cNvPr id="29727" name="Text Box 59"/>
            <p:cNvSpPr txBox="1">
              <a:spLocks noChangeArrowheads="1"/>
            </p:cNvSpPr>
            <p:nvPr/>
          </p:nvSpPr>
          <p:spPr bwMode="auto">
            <a:xfrm>
              <a:off x="4367" y="2237"/>
              <a:ext cx="363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2 moles </a:t>
              </a:r>
              <a:r>
                <a:rPr lang="es-ES" sz="24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át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. H</a:t>
              </a:r>
            </a:p>
          </p:txBody>
        </p:sp>
      </p:grpSp>
      <p:grpSp>
        <p:nvGrpSpPr>
          <p:cNvPr id="78" name="Grupo 77"/>
          <p:cNvGrpSpPr>
            <a:grpSpLocks/>
          </p:cNvGrpSpPr>
          <p:nvPr/>
        </p:nvGrpSpPr>
        <p:grpSpPr bwMode="auto">
          <a:xfrm>
            <a:off x="1536700" y="4810207"/>
            <a:ext cx="644525" cy="1116980"/>
            <a:chOff x="1409195" y="1744813"/>
            <a:chExt cx="644384" cy="1117336"/>
          </a:xfrm>
        </p:grpSpPr>
        <p:grpSp>
          <p:nvGrpSpPr>
            <p:cNvPr id="29721" name="Group 101"/>
            <p:cNvGrpSpPr>
              <a:grpSpLocks/>
            </p:cNvGrpSpPr>
            <p:nvPr/>
          </p:nvGrpSpPr>
          <p:grpSpPr bwMode="auto">
            <a:xfrm>
              <a:off x="1543992" y="2398599"/>
              <a:ext cx="509587" cy="463550"/>
              <a:chOff x="1022" y="3482"/>
              <a:chExt cx="321" cy="292"/>
            </a:xfrm>
          </p:grpSpPr>
          <p:sp>
            <p:nvSpPr>
              <p:cNvPr id="29723" name="Oval 71"/>
              <p:cNvSpPr>
                <a:spLocks noChangeArrowheads="1"/>
              </p:cNvSpPr>
              <p:nvPr/>
            </p:nvSpPr>
            <p:spPr bwMode="auto">
              <a:xfrm>
                <a:off x="1230" y="3661"/>
                <a:ext cx="113" cy="113"/>
              </a:xfrm>
              <a:prstGeom prst="ellipse">
                <a:avLst/>
              </a:prstGeom>
              <a:solidFill>
                <a:srgbClr val="3333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724" name="Oval 74"/>
              <p:cNvSpPr>
                <a:spLocks noChangeArrowheads="1"/>
              </p:cNvSpPr>
              <p:nvPr/>
            </p:nvSpPr>
            <p:spPr bwMode="auto">
              <a:xfrm>
                <a:off x="1022" y="3661"/>
                <a:ext cx="113" cy="113"/>
              </a:xfrm>
              <a:prstGeom prst="ellipse">
                <a:avLst/>
              </a:prstGeom>
              <a:solidFill>
                <a:srgbClr val="3333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725" name="Oval 70"/>
              <p:cNvSpPr>
                <a:spLocks noChangeArrowheads="1"/>
              </p:cNvSpPr>
              <p:nvPr/>
            </p:nvSpPr>
            <p:spPr bwMode="auto">
              <a:xfrm>
                <a:off x="1070" y="3482"/>
                <a:ext cx="227" cy="227"/>
              </a:xfrm>
              <a:prstGeom prst="ellipse">
                <a:avLst/>
              </a:prstGeom>
              <a:solidFill>
                <a:srgbClr val="FF5050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722" name="Text Box 59"/>
            <p:cNvSpPr txBox="1">
              <a:spLocks noChangeArrowheads="1"/>
            </p:cNvSpPr>
            <p:nvPr/>
          </p:nvSpPr>
          <p:spPr bwMode="auto">
            <a:xfrm>
              <a:off x="1409195" y="1744813"/>
              <a:ext cx="576262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1 mol moléculas H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O</a:t>
              </a:r>
            </a:p>
          </p:txBody>
        </p:sp>
      </p:grpSp>
      <p:grpSp>
        <p:nvGrpSpPr>
          <p:cNvPr id="63" name="Group 69">
            <a:extLst>
              <a:ext uri="{FF2B5EF4-FFF2-40B4-BE49-F238E27FC236}">
                <a16:creationId xmlns:a16="http://schemas.microsoft.com/office/drawing/2014/main" id="{6285AAFB-BCA7-46CA-ADE2-4FA0AC6005DA}"/>
              </a:ext>
            </a:extLst>
          </p:cNvPr>
          <p:cNvGrpSpPr>
            <a:grpSpLocks/>
          </p:cNvGrpSpPr>
          <p:nvPr/>
        </p:nvGrpSpPr>
        <p:grpSpPr bwMode="auto">
          <a:xfrm>
            <a:off x="5821413" y="2617233"/>
            <a:ext cx="2043114" cy="906463"/>
            <a:chOff x="4433" y="3259"/>
            <a:chExt cx="1287" cy="571"/>
          </a:xfrm>
        </p:grpSpPr>
        <p:sp>
          <p:nvSpPr>
            <p:cNvPr id="64" name="Text Box 56">
              <a:extLst>
                <a:ext uri="{FF2B5EF4-FFF2-40B4-BE49-F238E27FC236}">
                  <a16:creationId xmlns:a16="http://schemas.microsoft.com/office/drawing/2014/main" id="{964E0D0E-BA66-4132-B012-E1D1732242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5" y="3259"/>
              <a:ext cx="1105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Protones por átomo</a:t>
              </a:r>
            </a:p>
          </p:txBody>
        </p:sp>
        <p:sp>
          <p:nvSpPr>
            <p:cNvPr id="65" name="Line 54">
              <a:extLst>
                <a:ext uri="{FF2B5EF4-FFF2-40B4-BE49-F238E27FC236}">
                  <a16:creationId xmlns:a16="http://schemas.microsoft.com/office/drawing/2014/main" id="{1ADCD2F3-5B54-40EE-85ED-BD766C7F66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3" y="3423"/>
              <a:ext cx="166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/>
            <a:lstStyle/>
            <a:p>
              <a:endParaRPr lang="en-GB" sz="240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18F5CA20-FA2A-41B3-BB0E-E4D73F0F7492}"/>
              </a:ext>
            </a:extLst>
          </p:cNvPr>
          <p:cNvGrpSpPr/>
          <p:nvPr/>
        </p:nvGrpSpPr>
        <p:grpSpPr>
          <a:xfrm>
            <a:off x="7947150" y="4889606"/>
            <a:ext cx="2181625" cy="1692277"/>
            <a:chOff x="8020550" y="4665812"/>
            <a:chExt cx="2181625" cy="1692277"/>
          </a:xfrm>
        </p:grpSpPr>
        <p:grpSp>
          <p:nvGrpSpPr>
            <p:cNvPr id="4" name="Group 13"/>
            <p:cNvGrpSpPr>
              <a:grpSpLocks/>
            </p:cNvGrpSpPr>
            <p:nvPr/>
          </p:nvGrpSpPr>
          <p:grpSpPr bwMode="auto">
            <a:xfrm>
              <a:off x="8817867" y="4665812"/>
              <a:ext cx="1384308" cy="1692277"/>
              <a:chOff x="5765" y="1751"/>
              <a:chExt cx="872" cy="1066"/>
            </a:xfrm>
          </p:grpSpPr>
          <p:sp>
            <p:nvSpPr>
              <p:cNvPr id="29765" name="Text Box 77"/>
              <p:cNvSpPr txBox="1">
                <a:spLocks noChangeArrowheads="1"/>
              </p:cNvSpPr>
              <p:nvPr/>
            </p:nvSpPr>
            <p:spPr bwMode="auto">
              <a:xfrm>
                <a:off x="5765" y="1751"/>
                <a:ext cx="505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 dirty="0" err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M</a:t>
                </a:r>
                <a:r>
                  <a:rPr lang="es-ES" sz="2400" b="1" baseline="-25000" dirty="0" err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molecular</a:t>
                </a:r>
                <a:endParaRPr lang="es-ES" sz="2400" b="1" baseline="-25000" dirty="0">
                  <a:solidFill>
                    <a:srgbClr val="008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766" name="Text Box 80"/>
              <p:cNvSpPr txBox="1">
                <a:spLocks noChangeArrowheads="1"/>
              </p:cNvSpPr>
              <p:nvPr/>
            </p:nvSpPr>
            <p:spPr bwMode="auto">
              <a:xfrm>
                <a:off x="5847" y="2013"/>
                <a:ext cx="29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1 </a:t>
                </a: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 16</a:t>
                </a:r>
                <a:endPara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29767" name="Text Box 81"/>
              <p:cNvSpPr txBox="1">
                <a:spLocks noChangeArrowheads="1"/>
              </p:cNvSpPr>
              <p:nvPr/>
            </p:nvSpPr>
            <p:spPr bwMode="auto">
              <a:xfrm>
                <a:off x="5858" y="2245"/>
                <a:ext cx="20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2 </a:t>
                </a: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 </a:t>
                </a: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1</a:t>
                </a:r>
                <a:endPara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768" name="Text Box 83"/>
              <p:cNvSpPr txBox="1">
                <a:spLocks noChangeArrowheads="1"/>
              </p:cNvSpPr>
              <p:nvPr/>
            </p:nvSpPr>
            <p:spPr bwMode="auto">
              <a:xfrm>
                <a:off x="5948" y="2567"/>
                <a:ext cx="29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18</a:t>
                </a:r>
                <a:endParaRPr lang="es-ES" sz="2400" baseline="30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769" name="Text Box 85"/>
              <p:cNvSpPr txBox="1">
                <a:spLocks noChangeArrowheads="1"/>
              </p:cNvSpPr>
              <p:nvPr/>
            </p:nvSpPr>
            <p:spPr bwMode="auto">
              <a:xfrm>
                <a:off x="6430" y="2264"/>
                <a:ext cx="20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29770" name="Line 86"/>
              <p:cNvSpPr>
                <a:spLocks noChangeShapeType="1"/>
              </p:cNvSpPr>
              <p:nvPr/>
            </p:nvSpPr>
            <p:spPr bwMode="auto">
              <a:xfrm flipV="1">
                <a:off x="5897" y="2542"/>
                <a:ext cx="53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 sz="2400"/>
              </a:p>
            </p:txBody>
          </p:sp>
        </p:grpSp>
        <p:sp>
          <p:nvSpPr>
            <p:cNvPr id="66" name="Text Box 72">
              <a:extLst>
                <a:ext uri="{FF2B5EF4-FFF2-40B4-BE49-F238E27FC236}">
                  <a16:creationId xmlns:a16="http://schemas.microsoft.com/office/drawing/2014/main" id="{A496B3E9-0DD6-475C-AD35-FC65C94B3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7550" y="5070629"/>
              <a:ext cx="3778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O</a:t>
              </a:r>
            </a:p>
          </p:txBody>
        </p:sp>
        <p:sp>
          <p:nvSpPr>
            <p:cNvPr id="67" name="Text Box 73">
              <a:extLst>
                <a:ext uri="{FF2B5EF4-FFF2-40B4-BE49-F238E27FC236}">
                  <a16:creationId xmlns:a16="http://schemas.microsoft.com/office/drawing/2014/main" id="{D5067651-A09F-4468-8086-02A50F9D6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0250" y="5475442"/>
              <a:ext cx="3651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H</a:t>
              </a:r>
            </a:p>
          </p:txBody>
        </p:sp>
        <p:sp>
          <p:nvSpPr>
            <p:cNvPr id="68" name="Text Box 75">
              <a:extLst>
                <a:ext uri="{FF2B5EF4-FFF2-40B4-BE49-F238E27FC236}">
                  <a16:creationId xmlns:a16="http://schemas.microsoft.com/office/drawing/2014/main" id="{C67067A5-0959-4EED-A206-5C0F14737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0550" y="5904068"/>
              <a:ext cx="6540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H</a:t>
              </a:r>
              <a:r>
                <a:rPr lang="es-ES" sz="2400" b="1" baseline="-25000" dirty="0">
                  <a:solidFill>
                    <a:srgbClr val="008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O</a:t>
              </a:r>
            </a:p>
          </p:txBody>
        </p:sp>
      </p:grpSp>
      <p:sp>
        <p:nvSpPr>
          <p:cNvPr id="69" name="Text Box 30">
            <a:extLst>
              <a:ext uri="{FF2B5EF4-FFF2-40B4-BE49-F238E27FC236}">
                <a16:creationId xmlns:a16="http://schemas.microsoft.com/office/drawing/2014/main" id="{62F4AC61-2D21-44A0-BA20-4E7F63729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8268" y="1331545"/>
            <a:ext cx="378763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Los protones tienen todos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la misma carga</a:t>
            </a:r>
            <a:endParaRPr lang="es-ES" sz="2400" baseline="300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0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6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54" grpId="0"/>
      <p:bldP spid="180313" grpId="0"/>
      <p:bldP spid="180328" grpId="0"/>
      <p:bldP spid="29708" grpId="0" animBg="1"/>
      <p:bldP spid="49" grpId="0" animBg="1"/>
      <p:bldP spid="50" grpId="0" animBg="1"/>
      <p:bldP spid="6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/>
        </p:nvGrpSpPr>
        <p:grpSpPr>
          <a:xfrm>
            <a:off x="124692" y="4340425"/>
            <a:ext cx="10577945" cy="1081953"/>
            <a:chOff x="124692" y="2128838"/>
            <a:chExt cx="10577945" cy="1081953"/>
          </a:xfrm>
        </p:grpSpPr>
        <p:sp>
          <p:nvSpPr>
            <p:cNvPr id="9" name="Rectángulo 8"/>
            <p:cNvSpPr/>
            <p:nvPr/>
          </p:nvSpPr>
          <p:spPr bwMode="auto">
            <a:xfrm>
              <a:off x="124692" y="2128838"/>
              <a:ext cx="10577945" cy="1081953"/>
            </a:xfrm>
            <a:prstGeom prst="rect">
              <a:avLst/>
            </a:prstGeom>
            <a:solidFill>
              <a:srgbClr val="FFFF99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4" name="Group 42"/>
            <p:cNvGrpSpPr>
              <a:grpSpLocks/>
            </p:cNvGrpSpPr>
            <p:nvPr/>
          </p:nvGrpSpPr>
          <p:grpSpPr bwMode="auto">
            <a:xfrm>
              <a:off x="273046" y="2233619"/>
              <a:ext cx="10364795" cy="868364"/>
              <a:chOff x="790" y="2683"/>
              <a:chExt cx="6529" cy="547"/>
            </a:xfrm>
          </p:grpSpPr>
          <p:sp>
            <p:nvSpPr>
              <p:cNvPr id="7" name="Text Box 27"/>
              <p:cNvSpPr txBox="1">
                <a:spLocks noChangeArrowheads="1"/>
              </p:cNvSpPr>
              <p:nvPr/>
            </p:nvSpPr>
            <p:spPr bwMode="auto">
              <a:xfrm>
                <a:off x="790" y="2805"/>
                <a:ext cx="5831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Q</a:t>
                </a:r>
                <a:r>
                  <a:rPr lang="es-ES" sz="2400" baseline="30000">
                    <a:latin typeface="Arial" panose="020B0604020202020204" pitchFamily="34" charset="0"/>
                  </a:rPr>
                  <a:t>+</a:t>
                </a:r>
                <a:r>
                  <a:rPr lang="es-ES" sz="2400" baseline="-25000">
                    <a:latin typeface="Arial" panose="020B0604020202020204" pitchFamily="34" charset="0"/>
                  </a:rPr>
                  <a:t>AGUA</a:t>
                </a:r>
                <a:r>
                  <a:rPr lang="es-ES" sz="2400">
                    <a:latin typeface="Arial" panose="020B0604020202020204" pitchFamily="34" charset="0"/>
                  </a:rPr>
                  <a:t> </a:t>
                </a: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</a:t>
                </a:r>
                <a:r>
                  <a:rPr lang="es-ES" sz="2400">
                    <a:latin typeface="Arial" panose="020B0604020202020204" pitchFamily="34" charset="0"/>
                  </a:rPr>
                  <a:t> 10                  </a:t>
                </a: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</a:t>
                </a:r>
                <a:r>
                  <a:rPr lang="es-ES" sz="2400">
                    <a:latin typeface="Arial" panose="020B0604020202020204" pitchFamily="34" charset="0"/>
                  </a:rPr>
                  <a:t> 1,6 10</a:t>
                </a:r>
                <a:r>
                  <a:rPr lang="es-ES" sz="2400" baseline="30000">
                    <a:latin typeface="Arial" panose="020B0604020202020204" pitchFamily="34" charset="0"/>
                  </a:rPr>
                  <a:t>-19</a:t>
                </a:r>
                <a:r>
                  <a:rPr lang="es-ES" sz="2400">
                    <a:latin typeface="Arial" panose="020B0604020202020204" pitchFamily="34" charset="0"/>
                  </a:rPr>
                  <a:t>            </a:t>
                </a: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 6 10</a:t>
                </a:r>
                <a:r>
                  <a:rPr lang="es-ES" sz="2400" baseline="30000">
                    <a:latin typeface="Arial" panose="020B0604020202020204" pitchFamily="34" charset="0"/>
                    <a:sym typeface="Symbol" panose="05050102010706020507" pitchFamily="18" charset="2"/>
                  </a:rPr>
                  <a:t>23</a:t>
                </a: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 moléculas/mol </a:t>
                </a:r>
              </a:p>
            </p:txBody>
          </p:sp>
          <p:sp>
            <p:nvSpPr>
              <p:cNvPr id="31763" name="Text Box 28"/>
              <p:cNvSpPr txBox="1">
                <a:spLocks noChangeArrowheads="1"/>
              </p:cNvSpPr>
              <p:nvPr/>
            </p:nvSpPr>
            <p:spPr bwMode="auto">
              <a:xfrm>
                <a:off x="1874" y="2705"/>
                <a:ext cx="870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protones</a:t>
                </a:r>
              </a:p>
            </p:txBody>
          </p:sp>
          <p:sp>
            <p:nvSpPr>
              <p:cNvPr id="31764" name="Text Box 29"/>
              <p:cNvSpPr txBox="1">
                <a:spLocks noChangeArrowheads="1"/>
              </p:cNvSpPr>
              <p:nvPr/>
            </p:nvSpPr>
            <p:spPr bwMode="auto">
              <a:xfrm>
                <a:off x="1872" y="2938"/>
                <a:ext cx="892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molécula</a:t>
                </a:r>
              </a:p>
            </p:txBody>
          </p:sp>
          <p:sp>
            <p:nvSpPr>
              <p:cNvPr id="31765" name="Text Box 30"/>
              <p:cNvSpPr txBox="1">
                <a:spLocks noChangeArrowheads="1"/>
              </p:cNvSpPr>
              <p:nvPr/>
            </p:nvSpPr>
            <p:spPr bwMode="auto">
              <a:xfrm>
                <a:off x="3882" y="2705"/>
                <a:ext cx="255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31766" name="Text Box 31"/>
              <p:cNvSpPr txBox="1">
                <a:spLocks noChangeArrowheads="1"/>
              </p:cNvSpPr>
              <p:nvPr/>
            </p:nvSpPr>
            <p:spPr bwMode="auto">
              <a:xfrm>
                <a:off x="3721" y="2938"/>
                <a:ext cx="665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</a:rPr>
                  <a:t>protón</a:t>
                </a:r>
              </a:p>
            </p:txBody>
          </p:sp>
          <p:sp>
            <p:nvSpPr>
              <p:cNvPr id="31767" name="Text Box 32"/>
              <p:cNvSpPr txBox="1">
                <a:spLocks noChangeArrowheads="1"/>
              </p:cNvSpPr>
              <p:nvPr/>
            </p:nvSpPr>
            <p:spPr bwMode="auto">
              <a:xfrm>
                <a:off x="6515" y="2683"/>
                <a:ext cx="708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1000 g</a:t>
                </a:r>
              </a:p>
            </p:txBody>
          </p:sp>
          <p:sp>
            <p:nvSpPr>
              <p:cNvPr id="31768" name="Text Box 33"/>
              <p:cNvSpPr txBox="1">
                <a:spLocks noChangeArrowheads="1"/>
              </p:cNvSpPr>
              <p:nvPr/>
            </p:nvSpPr>
            <p:spPr bwMode="auto">
              <a:xfrm>
                <a:off x="6460" y="2938"/>
                <a:ext cx="859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18 g/mol</a:t>
                </a:r>
              </a:p>
            </p:txBody>
          </p:sp>
          <p:sp>
            <p:nvSpPr>
              <p:cNvPr id="31769" name="Line 34"/>
              <p:cNvSpPr>
                <a:spLocks noChangeShapeType="1"/>
              </p:cNvSpPr>
              <p:nvPr/>
            </p:nvSpPr>
            <p:spPr bwMode="auto">
              <a:xfrm flipV="1">
                <a:off x="1947" y="2984"/>
                <a:ext cx="75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31770" name="Line 35"/>
              <p:cNvSpPr>
                <a:spLocks noChangeShapeType="1"/>
              </p:cNvSpPr>
              <p:nvPr/>
            </p:nvSpPr>
            <p:spPr bwMode="auto">
              <a:xfrm>
                <a:off x="3754" y="2956"/>
                <a:ext cx="48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31771" name="Line 36"/>
              <p:cNvSpPr>
                <a:spLocks noChangeShapeType="1"/>
              </p:cNvSpPr>
              <p:nvPr/>
            </p:nvSpPr>
            <p:spPr bwMode="auto">
              <a:xfrm>
                <a:off x="6556" y="2957"/>
                <a:ext cx="69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</p:grpSp>
      <p:grpSp>
        <p:nvGrpSpPr>
          <p:cNvPr id="3" name="Grupo 2"/>
          <p:cNvGrpSpPr/>
          <p:nvPr/>
        </p:nvGrpSpPr>
        <p:grpSpPr>
          <a:xfrm>
            <a:off x="3241675" y="2155222"/>
            <a:ext cx="5160965" cy="1777880"/>
            <a:chOff x="3241675" y="1699696"/>
            <a:chExt cx="5160965" cy="1777880"/>
          </a:xfrm>
        </p:grpSpPr>
        <p:grpSp>
          <p:nvGrpSpPr>
            <p:cNvPr id="31747" name="Group 41"/>
            <p:cNvGrpSpPr>
              <a:grpSpLocks/>
            </p:cNvGrpSpPr>
            <p:nvPr/>
          </p:nvGrpSpPr>
          <p:grpSpPr bwMode="auto">
            <a:xfrm>
              <a:off x="3375025" y="2506026"/>
              <a:ext cx="5027615" cy="971550"/>
              <a:chOff x="2205" y="1486"/>
              <a:chExt cx="3167" cy="612"/>
            </a:xfrm>
          </p:grpSpPr>
          <p:sp>
            <p:nvSpPr>
              <p:cNvPr id="31772" name="Text Box 22"/>
              <p:cNvSpPr txBox="1">
                <a:spLocks noChangeArrowheads="1"/>
              </p:cNvSpPr>
              <p:nvPr/>
            </p:nvSpPr>
            <p:spPr bwMode="auto">
              <a:xfrm>
                <a:off x="2205" y="1644"/>
                <a:ext cx="202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Q</a:t>
                </a:r>
                <a:r>
                  <a:rPr lang="es-ES" sz="2400" baseline="30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+</a:t>
                </a:r>
                <a:r>
                  <a:rPr lang="es-ES" sz="24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AGUA</a:t>
                </a: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 =     N</a:t>
                </a:r>
                <a:r>
                  <a:rPr lang="es-ES" sz="24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</a:t>
                </a: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</a:t>
                </a: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</a:t>
                </a: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e  </a:t>
                </a: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  </a:t>
                </a:r>
                <a:endPara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1773" name="Line 23"/>
              <p:cNvSpPr>
                <a:spLocks noChangeShapeType="1"/>
              </p:cNvSpPr>
              <p:nvPr/>
            </p:nvSpPr>
            <p:spPr bwMode="auto">
              <a:xfrm>
                <a:off x="4856" y="1807"/>
                <a:ext cx="4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 sz="2400"/>
              </a:p>
            </p:txBody>
          </p:sp>
          <p:sp>
            <p:nvSpPr>
              <p:cNvPr id="31774" name="Text Box 24"/>
              <p:cNvSpPr txBox="1">
                <a:spLocks noChangeArrowheads="1"/>
              </p:cNvSpPr>
              <p:nvPr/>
            </p:nvSpPr>
            <p:spPr bwMode="auto">
              <a:xfrm>
                <a:off x="4814" y="1486"/>
                <a:ext cx="55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</a:t>
                </a:r>
                <a:r>
                  <a:rPr lang="es-ES" sz="24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agua</a:t>
                </a:r>
                <a:endParaRPr lang="es-E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1775" name="Text Box 25"/>
              <p:cNvSpPr txBox="1">
                <a:spLocks noChangeArrowheads="1"/>
              </p:cNvSpPr>
              <p:nvPr/>
            </p:nvSpPr>
            <p:spPr bwMode="auto">
              <a:xfrm>
                <a:off x="4828" y="1810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</a:t>
                </a:r>
                <a:r>
                  <a:rPr lang="es-ES" sz="24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mol</a:t>
                </a:r>
                <a:endParaRPr lang="es-E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1776" name="Text Box 26"/>
              <p:cNvSpPr txBox="1">
                <a:spLocks noChangeArrowheads="1"/>
              </p:cNvSpPr>
              <p:nvPr/>
            </p:nvSpPr>
            <p:spPr bwMode="auto">
              <a:xfrm>
                <a:off x="4217" y="1644"/>
                <a:ext cx="54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N</a:t>
                </a:r>
                <a:r>
                  <a:rPr lang="es-ES" sz="24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A</a:t>
                </a: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  </a:t>
                </a: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750" name="Text Box 40"/>
            <p:cNvSpPr txBox="1">
              <a:spLocks noChangeArrowheads="1"/>
            </p:cNvSpPr>
            <p:nvPr/>
          </p:nvSpPr>
          <p:spPr bwMode="auto">
            <a:xfrm>
              <a:off x="3355975" y="1820346"/>
              <a:ext cx="47355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30000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AGUA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= Q</a:t>
              </a:r>
              <a:r>
                <a:rPr lang="es-ES" sz="2400" baseline="30000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MOLÉCULA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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N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MOLÉCULAS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51" name="Rectangle 54"/>
            <p:cNvSpPr>
              <a:spLocks noChangeArrowheads="1"/>
            </p:cNvSpPr>
            <p:nvPr/>
          </p:nvSpPr>
          <p:spPr bwMode="auto">
            <a:xfrm>
              <a:off x="3241675" y="1699696"/>
              <a:ext cx="4987925" cy="712788"/>
            </a:xfrm>
            <a:prstGeom prst="rect">
              <a:avLst/>
            </a:prstGeom>
            <a:noFill/>
            <a:ln w="38100" algn="ctr">
              <a:solidFill>
                <a:srgbClr val="99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FDCBFEB0-EED9-4913-B998-876C2E33D2B1}"/>
              </a:ext>
            </a:extLst>
          </p:cNvPr>
          <p:cNvGrpSpPr/>
          <p:nvPr/>
        </p:nvGrpSpPr>
        <p:grpSpPr>
          <a:xfrm>
            <a:off x="1336855" y="486271"/>
            <a:ext cx="1619513" cy="1081953"/>
            <a:chOff x="1336855" y="486271"/>
            <a:chExt cx="1619513" cy="1081953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F57A4EF8-B8E4-450A-B7D5-D396D0F9442B}"/>
                </a:ext>
              </a:extLst>
            </p:cNvPr>
            <p:cNvSpPr/>
            <p:nvPr/>
          </p:nvSpPr>
          <p:spPr bwMode="auto">
            <a:xfrm>
              <a:off x="1336855" y="486271"/>
              <a:ext cx="1619513" cy="1081953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27" name="48 Grupo"/>
            <p:cNvGrpSpPr>
              <a:grpSpLocks/>
            </p:cNvGrpSpPr>
            <p:nvPr/>
          </p:nvGrpSpPr>
          <p:grpSpPr bwMode="auto">
            <a:xfrm>
              <a:off x="1368385" y="486271"/>
              <a:ext cx="1495425" cy="919161"/>
              <a:chOff x="3768725" y="4889500"/>
              <a:chExt cx="1495425" cy="919162"/>
            </a:xfrm>
          </p:grpSpPr>
          <p:sp>
            <p:nvSpPr>
              <p:cNvPr id="28" name="Text Box 91"/>
              <p:cNvSpPr txBox="1">
                <a:spLocks noChangeArrowheads="1"/>
              </p:cNvSpPr>
              <p:nvPr/>
            </p:nvSpPr>
            <p:spPr bwMode="auto">
              <a:xfrm>
                <a:off x="4378325" y="4889500"/>
                <a:ext cx="885825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</a:t>
                </a:r>
                <a:r>
                  <a:rPr lang="es-ES" sz="24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agua</a:t>
                </a:r>
                <a:endParaRPr lang="es-E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" name="Text Box 92"/>
              <p:cNvSpPr txBox="1">
                <a:spLocks noChangeArrowheads="1"/>
              </p:cNvSpPr>
              <p:nvPr/>
            </p:nvSpPr>
            <p:spPr bwMode="auto">
              <a:xfrm>
                <a:off x="4398963" y="5351462"/>
                <a:ext cx="835025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V</a:t>
                </a:r>
                <a:r>
                  <a:rPr lang="es-ES" sz="24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agua</a:t>
                </a:r>
                <a:endParaRPr lang="es-E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0" name="Line 93"/>
              <p:cNvSpPr>
                <a:spLocks noChangeShapeType="1"/>
              </p:cNvSpPr>
              <p:nvPr/>
            </p:nvSpPr>
            <p:spPr bwMode="auto">
              <a:xfrm>
                <a:off x="4405313" y="5413375"/>
                <a:ext cx="7493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 sz="2400"/>
              </a:p>
            </p:txBody>
          </p:sp>
          <p:sp>
            <p:nvSpPr>
              <p:cNvPr id="31" name="Text Box 94"/>
              <p:cNvSpPr txBox="1">
                <a:spLocks noChangeArrowheads="1"/>
              </p:cNvSpPr>
              <p:nvPr/>
            </p:nvSpPr>
            <p:spPr bwMode="auto">
              <a:xfrm>
                <a:off x="3768725" y="5148264"/>
                <a:ext cx="6096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 =</a:t>
                </a:r>
              </a:p>
            </p:txBody>
          </p:sp>
        </p:grpSp>
      </p:grpSp>
      <p:grpSp>
        <p:nvGrpSpPr>
          <p:cNvPr id="32" name="Group 109"/>
          <p:cNvGrpSpPr>
            <a:grpSpLocks/>
          </p:cNvGrpSpPr>
          <p:nvPr/>
        </p:nvGrpSpPr>
        <p:grpSpPr bwMode="auto">
          <a:xfrm>
            <a:off x="3165152" y="741478"/>
            <a:ext cx="2743201" cy="457200"/>
            <a:chOff x="3395" y="3476"/>
            <a:chExt cx="1728" cy="288"/>
          </a:xfrm>
        </p:grpSpPr>
        <p:sp>
          <p:nvSpPr>
            <p:cNvPr id="33" name="AutoShape 95"/>
            <p:cNvSpPr>
              <a:spLocks noChangeArrowheads="1"/>
            </p:cNvSpPr>
            <p:nvPr/>
          </p:nvSpPr>
          <p:spPr bwMode="auto">
            <a:xfrm>
              <a:off x="3395" y="3537"/>
              <a:ext cx="232" cy="216"/>
            </a:xfrm>
            <a:prstGeom prst="rightArrow">
              <a:avLst>
                <a:gd name="adj1" fmla="val 57407"/>
                <a:gd name="adj2" fmla="val 60183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" name="Text Box 96"/>
            <p:cNvSpPr txBox="1">
              <a:spLocks noChangeArrowheads="1"/>
            </p:cNvSpPr>
            <p:nvPr/>
          </p:nvSpPr>
          <p:spPr bwMode="auto">
            <a:xfrm>
              <a:off x="3671" y="3476"/>
              <a:ext cx="14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M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agua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 = 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 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agua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35" name="Group 110"/>
          <p:cNvGrpSpPr>
            <a:grpSpLocks/>
          </p:cNvGrpSpPr>
          <p:nvPr/>
        </p:nvGrpSpPr>
        <p:grpSpPr bwMode="auto">
          <a:xfrm>
            <a:off x="5676575" y="790689"/>
            <a:ext cx="4579938" cy="458788"/>
            <a:chOff x="2699" y="3881"/>
            <a:chExt cx="2885" cy="289"/>
          </a:xfrm>
        </p:grpSpPr>
        <p:sp>
          <p:nvSpPr>
            <p:cNvPr id="36" name="Text Box 97"/>
            <p:cNvSpPr txBox="1">
              <a:spLocks noChangeArrowheads="1"/>
            </p:cNvSpPr>
            <p:nvPr/>
          </p:nvSpPr>
          <p:spPr bwMode="auto">
            <a:xfrm>
              <a:off x="4664" y="3881"/>
              <a:ext cx="9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= 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1000 g</a:t>
              </a:r>
            </a:p>
          </p:txBody>
        </p:sp>
        <p:sp>
          <p:nvSpPr>
            <p:cNvPr id="37" name="Text Box 98"/>
            <p:cNvSpPr txBox="1">
              <a:spLocks noChangeArrowheads="1"/>
            </p:cNvSpPr>
            <p:nvPr/>
          </p:nvSpPr>
          <p:spPr bwMode="auto">
            <a:xfrm>
              <a:off x="2699" y="3882"/>
              <a:ext cx="188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 = 1 g/cm</a:t>
              </a:r>
              <a:r>
                <a:rPr lang="es-ES" sz="2400" baseline="300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 1000 cm</a:t>
              </a:r>
              <a:r>
                <a:rPr lang="es-ES" sz="240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3</a:t>
              </a:r>
            </a:p>
          </p:txBody>
        </p:sp>
      </p:grpSp>
      <p:grpSp>
        <p:nvGrpSpPr>
          <p:cNvPr id="39" name="Grupo 38"/>
          <p:cNvGrpSpPr/>
          <p:nvPr/>
        </p:nvGrpSpPr>
        <p:grpSpPr>
          <a:xfrm>
            <a:off x="5278902" y="1257843"/>
            <a:ext cx="3674052" cy="486804"/>
            <a:chOff x="5387009" y="5734882"/>
            <a:chExt cx="3674052" cy="486804"/>
          </a:xfrm>
        </p:grpSpPr>
        <p:sp>
          <p:nvSpPr>
            <p:cNvPr id="40" name="Text Box 39"/>
            <p:cNvSpPr txBox="1">
              <a:spLocks noChangeArrowheads="1"/>
            </p:cNvSpPr>
            <p:nvPr/>
          </p:nvSpPr>
          <p:spPr bwMode="auto">
            <a:xfrm>
              <a:off x="5667375" y="5760021"/>
              <a:ext cx="33936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defTabSz="1008063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1008063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1008063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1008063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1008063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10080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 L = 1 dm</a:t>
              </a:r>
              <a:r>
                <a:rPr lang="es-ES" sz="2400" baseline="300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3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1000 cm</a:t>
              </a:r>
              <a:r>
                <a:rPr lang="es-ES" sz="2400" baseline="300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41" name="Forma libre 40"/>
            <p:cNvSpPr/>
            <p:nvPr/>
          </p:nvSpPr>
          <p:spPr bwMode="auto">
            <a:xfrm flipV="1">
              <a:off x="5387009" y="5734882"/>
              <a:ext cx="228600" cy="288234"/>
            </a:xfrm>
            <a:custGeom>
              <a:avLst/>
              <a:gdLst>
                <a:gd name="connsiteX0" fmla="*/ 0 w 228600"/>
                <a:gd name="connsiteY0" fmla="*/ 288234 h 288234"/>
                <a:gd name="connsiteX1" fmla="*/ 0 w 228600"/>
                <a:gd name="connsiteY1" fmla="*/ 0 h 288234"/>
                <a:gd name="connsiteX2" fmla="*/ 228600 w 228600"/>
                <a:gd name="connsiteY2" fmla="*/ 0 h 288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00" h="288234">
                  <a:moveTo>
                    <a:pt x="0" y="288234"/>
                  </a:moveTo>
                  <a:lnTo>
                    <a:pt x="0" y="0"/>
                  </a:lnTo>
                  <a:lnTo>
                    <a:pt x="228600" y="0"/>
                  </a:ln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42" name="Group 43"/>
          <p:cNvGrpSpPr>
            <a:grpSpLocks/>
          </p:cNvGrpSpPr>
          <p:nvPr/>
        </p:nvGrpSpPr>
        <p:grpSpPr bwMode="auto">
          <a:xfrm>
            <a:off x="2511039" y="5846900"/>
            <a:ext cx="6578603" cy="546100"/>
            <a:chOff x="795" y="3657"/>
            <a:chExt cx="4144" cy="344"/>
          </a:xfrm>
        </p:grpSpPr>
        <p:sp>
          <p:nvSpPr>
            <p:cNvPr id="44" name="Text Box 14"/>
            <p:cNvSpPr txBox="1">
              <a:spLocks noChangeArrowheads="1"/>
            </p:cNvSpPr>
            <p:nvPr/>
          </p:nvSpPr>
          <p:spPr bwMode="auto">
            <a:xfrm>
              <a:off x="795" y="3709"/>
              <a:ext cx="414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AGUA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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0,53333333333... 10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</a:rPr>
                <a:t>8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C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=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0,53 10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</a:rPr>
                <a:t>8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C </a:t>
              </a:r>
            </a:p>
          </p:txBody>
        </p:sp>
        <p:sp>
          <p:nvSpPr>
            <p:cNvPr id="45" name="Text Box 15"/>
            <p:cNvSpPr txBox="1">
              <a:spLocks noChangeArrowheads="1"/>
            </p:cNvSpPr>
            <p:nvPr/>
          </p:nvSpPr>
          <p:spPr bwMode="auto">
            <a:xfrm>
              <a:off x="4122" y="3657"/>
              <a:ext cx="17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ˆ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2581932" y="769756"/>
            <a:ext cx="6494465" cy="588961"/>
            <a:chOff x="795" y="3664"/>
            <a:chExt cx="4091" cy="371"/>
          </a:xfrm>
        </p:grpSpPr>
        <p:sp>
          <p:nvSpPr>
            <p:cNvPr id="31777" name="Text Box 14"/>
            <p:cNvSpPr txBox="1">
              <a:spLocks noChangeArrowheads="1"/>
            </p:cNvSpPr>
            <p:nvPr/>
          </p:nvSpPr>
          <p:spPr bwMode="auto">
            <a:xfrm>
              <a:off x="795" y="3743"/>
              <a:ext cx="409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AGUA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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0,53 10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</a:rPr>
                <a:t>8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C = 0,53333333333... 10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</a:rPr>
                <a:t>8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C</a:t>
              </a:r>
            </a:p>
          </p:txBody>
        </p:sp>
        <p:sp>
          <p:nvSpPr>
            <p:cNvPr id="31778" name="Text Box 15"/>
            <p:cNvSpPr txBox="1">
              <a:spLocks noChangeArrowheads="1"/>
            </p:cNvSpPr>
            <p:nvPr/>
          </p:nvSpPr>
          <p:spPr bwMode="auto">
            <a:xfrm>
              <a:off x="1876" y="3664"/>
              <a:ext cx="17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ˆ</a:t>
              </a:r>
            </a:p>
          </p:txBody>
        </p:sp>
      </p:grpSp>
      <p:sp>
        <p:nvSpPr>
          <p:cNvPr id="31758" name="Text Box 48"/>
          <p:cNvSpPr txBox="1">
            <a:spLocks noChangeArrowheads="1"/>
          </p:cNvSpPr>
          <p:nvPr/>
        </p:nvSpPr>
        <p:spPr bwMode="auto">
          <a:xfrm>
            <a:off x="1503970" y="3312489"/>
            <a:ext cx="8222834" cy="125340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1º)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Truncarlo</a:t>
            </a:r>
            <a:r>
              <a:rPr lang="es-ES" sz="2400" dirty="0">
                <a:latin typeface="Arial" panose="020B0604020202020204" pitchFamily="34" charset="0"/>
              </a:rPr>
              <a:t> –cortarlo– en alguna cifra.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2º)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Aproximar</a:t>
            </a:r>
            <a:r>
              <a:rPr lang="es-ES" sz="2400" dirty="0">
                <a:latin typeface="Arial" panose="020B0604020202020204" pitchFamily="34" charset="0"/>
              </a:rPr>
              <a:t> el valor del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pico</a:t>
            </a:r>
            <a:r>
              <a:rPr lang="es-ES" sz="2400" dirty="0">
                <a:latin typeface="Arial" panose="020B0604020202020204" pitchFamily="34" charset="0"/>
              </a:rPr>
              <a:t>, lo que se va a eliminar,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    a 0 o 1 en la última cifra retenida y sumarlo a esa cifra.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F4123FD-1328-4BBF-8359-8B7F539F6E4B}"/>
              </a:ext>
            </a:extLst>
          </p:cNvPr>
          <p:cNvCxnSpPr>
            <a:cxnSpLocks/>
          </p:cNvCxnSpPr>
          <p:nvPr/>
        </p:nvCxnSpPr>
        <p:spPr bwMode="auto">
          <a:xfrm>
            <a:off x="3746885" y="1530472"/>
            <a:ext cx="0" cy="544450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2" name="Text Box 48">
            <a:extLst>
              <a:ext uri="{FF2B5EF4-FFF2-40B4-BE49-F238E27FC236}">
                <a16:creationId xmlns:a16="http://schemas.microsoft.com/office/drawing/2014/main" id="{116C7FC0-FBF7-4F54-96ED-08F0473BD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2837" y="2178614"/>
            <a:ext cx="7127608" cy="88407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Como es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aproximado</a:t>
            </a:r>
            <a:r>
              <a:rPr lang="es-ES" sz="2400" dirty="0">
                <a:latin typeface="Arial" panose="020B0604020202020204" pitchFamily="34" charset="0"/>
              </a:rPr>
              <a:t>,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hay error</a:t>
            </a:r>
            <a:r>
              <a:rPr lang="es-ES" sz="2400" dirty="0">
                <a:latin typeface="Arial" panose="020B0604020202020204" pitchFamily="34" charset="0"/>
              </a:rPr>
              <a:t>, y no tiene sentido dar tantas cifras, se debe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redondear</a:t>
            </a:r>
            <a:r>
              <a:rPr lang="es-ES" sz="2400" dirty="0">
                <a:latin typeface="Arial" panose="020B0604020202020204" pitchFamily="34" charset="0"/>
              </a:rPr>
              <a:t>, es decir: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13" name="Text Box 48">
            <a:extLst>
              <a:ext uri="{FF2B5EF4-FFF2-40B4-BE49-F238E27FC236}">
                <a16:creationId xmlns:a16="http://schemas.microsoft.com/office/drawing/2014/main" id="{BDAE7CAB-02A3-4F55-B55F-8A096D066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5925" y="5963793"/>
            <a:ext cx="8597009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Pero, ¿qué número de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cifras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significativas</a:t>
            </a:r>
            <a:r>
              <a:rPr lang="es-ES" sz="2400" dirty="0">
                <a:latin typeface="Arial" panose="020B0604020202020204" pitchFamily="34" charset="0"/>
              </a:rPr>
              <a:t> hay que retener?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9" name="Text Box 69">
            <a:extLst>
              <a:ext uri="{FF2B5EF4-FFF2-40B4-BE49-F238E27FC236}">
                <a16:creationId xmlns:a16="http://schemas.microsoft.com/office/drawing/2014/main" id="{08F19882-D1C1-4A69-BBCF-2AAE10FB8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4240" y="4779775"/>
            <a:ext cx="5673595" cy="884070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(es lo mismo que hacemos con el "pico" cuando medimos con una regla)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830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8" grpId="0" animBg="1"/>
      <p:bldP spid="12" grpId="0" animBg="1"/>
      <p:bldP spid="13" grpId="0" animBg="1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2066531" y="4651292"/>
            <a:ext cx="6494465" cy="534987"/>
            <a:chOff x="795" y="3664"/>
            <a:chExt cx="4091" cy="337"/>
          </a:xfrm>
        </p:grpSpPr>
        <p:sp>
          <p:nvSpPr>
            <p:cNvPr id="31777" name="Text Box 14"/>
            <p:cNvSpPr txBox="1">
              <a:spLocks noChangeArrowheads="1"/>
            </p:cNvSpPr>
            <p:nvPr/>
          </p:nvSpPr>
          <p:spPr bwMode="auto">
            <a:xfrm>
              <a:off x="795" y="3709"/>
              <a:ext cx="409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AGUA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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0,53 10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</a:rPr>
                <a:t>8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C = 0,53333333333... 10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</a:rPr>
                <a:t>8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C</a:t>
              </a:r>
            </a:p>
          </p:txBody>
        </p:sp>
        <p:sp>
          <p:nvSpPr>
            <p:cNvPr id="31778" name="Text Box 15"/>
            <p:cNvSpPr txBox="1">
              <a:spLocks noChangeArrowheads="1"/>
            </p:cNvSpPr>
            <p:nvPr/>
          </p:nvSpPr>
          <p:spPr bwMode="auto">
            <a:xfrm>
              <a:off x="1876" y="3664"/>
              <a:ext cx="17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ˆ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3FD96CE9-D771-4EA5-91BA-6A51E3588211}"/>
              </a:ext>
            </a:extLst>
          </p:cNvPr>
          <p:cNvGrpSpPr/>
          <p:nvPr/>
        </p:nvGrpSpPr>
        <p:grpSpPr>
          <a:xfrm>
            <a:off x="5433168" y="4351004"/>
            <a:ext cx="699404" cy="1461334"/>
            <a:chOff x="5872195" y="5029200"/>
            <a:chExt cx="699404" cy="1461334"/>
          </a:xfrm>
        </p:grpSpPr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B598BD73-0F6E-4BB5-BDF6-730BA6AD6E3B}"/>
                </a:ext>
              </a:extLst>
            </p:cNvPr>
            <p:cNvCxnSpPr/>
            <p:nvPr/>
          </p:nvCxnSpPr>
          <p:spPr bwMode="auto">
            <a:xfrm>
              <a:off x="6221896" y="5029200"/>
              <a:ext cx="0" cy="884583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Text Box 69">
              <a:extLst>
                <a:ext uri="{FF2B5EF4-FFF2-40B4-BE49-F238E27FC236}">
                  <a16:creationId xmlns:a16="http://schemas.microsoft.com/office/drawing/2014/main" id="{09771261-760E-400C-968C-2E24727E07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928767" y="5847703"/>
              <a:ext cx="586259" cy="6994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dirty="0">
                  <a:solidFill>
                    <a:srgbClr val="FF0000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</a:t>
              </a:r>
              <a:endParaRPr lang="es-E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656F12AE-F461-41AD-B48B-AF6485DC2EA1}"/>
              </a:ext>
            </a:extLst>
          </p:cNvPr>
          <p:cNvGrpSpPr/>
          <p:nvPr/>
        </p:nvGrpSpPr>
        <p:grpSpPr>
          <a:xfrm>
            <a:off x="5826093" y="5077345"/>
            <a:ext cx="4244007" cy="514738"/>
            <a:chOff x="6301409" y="5552486"/>
            <a:chExt cx="4244007" cy="514738"/>
          </a:xfrm>
        </p:grpSpPr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884DEC22-9431-4B13-B970-04CB7206BEC4}"/>
                </a:ext>
              </a:extLst>
            </p:cNvPr>
            <p:cNvCxnSpPr/>
            <p:nvPr/>
          </p:nvCxnSpPr>
          <p:spPr bwMode="auto">
            <a:xfrm>
              <a:off x="6301409" y="5628446"/>
              <a:ext cx="1659834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B260EA5B-C714-4F3E-8A65-8D6887C3028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16417" y="5628446"/>
              <a:ext cx="1115225" cy="193733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" name="Text Box 69">
              <a:extLst>
                <a:ext uri="{FF2B5EF4-FFF2-40B4-BE49-F238E27FC236}">
                  <a16:creationId xmlns:a16="http://schemas.microsoft.com/office/drawing/2014/main" id="{B74515A5-5A89-4A65-81B6-9D1C52184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4481" y="5552486"/>
              <a:ext cx="2540935" cy="5147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pico &lt; 5000...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FEAE31E8-75AB-4B72-932B-33922652E1AB}"/>
              </a:ext>
            </a:extLst>
          </p:cNvPr>
          <p:cNvGrpSpPr/>
          <p:nvPr/>
        </p:nvGrpSpPr>
        <p:grpSpPr>
          <a:xfrm>
            <a:off x="5688550" y="4250695"/>
            <a:ext cx="4252866" cy="514738"/>
            <a:chOff x="5759670" y="2169969"/>
            <a:chExt cx="4252866" cy="514738"/>
          </a:xfrm>
        </p:grpSpPr>
        <p:sp>
          <p:nvSpPr>
            <p:cNvPr id="32" name="Text Box 69">
              <a:extLst>
                <a:ext uri="{FF2B5EF4-FFF2-40B4-BE49-F238E27FC236}">
                  <a16:creationId xmlns:a16="http://schemas.microsoft.com/office/drawing/2014/main" id="{46566177-8BC8-46E0-8991-4FECED38B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1601" y="2169969"/>
              <a:ext cx="2540935" cy="5147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sumamos 0</a:t>
              </a:r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2BCF3BCF-2326-4C33-AA98-AA6DAA7C112C}"/>
                </a:ext>
              </a:extLst>
            </p:cNvPr>
            <p:cNvSpPr/>
            <p:nvPr/>
          </p:nvSpPr>
          <p:spPr bwMode="auto">
            <a:xfrm>
              <a:off x="5759670" y="2459414"/>
              <a:ext cx="1996965" cy="189186"/>
            </a:xfrm>
            <a:custGeom>
              <a:avLst/>
              <a:gdLst>
                <a:gd name="connsiteX0" fmla="*/ 1996965 w 1996965"/>
                <a:gd name="connsiteY0" fmla="*/ 0 h 189186"/>
                <a:gd name="connsiteX1" fmla="*/ 0 w 1996965"/>
                <a:gd name="connsiteY1" fmla="*/ 42041 h 189186"/>
                <a:gd name="connsiteX2" fmla="*/ 0 w 1996965"/>
                <a:gd name="connsiteY2" fmla="*/ 189186 h 18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96965" h="189186">
                  <a:moveTo>
                    <a:pt x="1996965" y="0"/>
                  </a:moveTo>
                  <a:lnTo>
                    <a:pt x="0" y="42041"/>
                  </a:lnTo>
                  <a:lnTo>
                    <a:pt x="0" y="189186"/>
                  </a:lnTo>
                </a:path>
              </a:pathLst>
            </a:cu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33" name="Text Box 16">
            <a:extLst>
              <a:ext uri="{FF2B5EF4-FFF2-40B4-BE49-F238E27FC236}">
                <a16:creationId xmlns:a16="http://schemas.microsoft.com/office/drawing/2014/main" id="{6A5ABD27-20B3-44DC-8E13-AFC31B843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1765" y="5977204"/>
            <a:ext cx="3310303" cy="58744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|Q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| 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 0,53 10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C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" name="Text Box 69">
            <a:extLst>
              <a:ext uri="{FF2B5EF4-FFF2-40B4-BE49-F238E27FC236}">
                <a16:creationId xmlns:a16="http://schemas.microsoft.com/office/drawing/2014/main" id="{DFDAB1F3-544F-4889-91D1-08B08944C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7963" y="354857"/>
            <a:ext cx="4434711" cy="125340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Supongamos que el error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por los valores aproximados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ronda el 1 % en Q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8" name="Text Box 42">
            <a:extLst>
              <a:ext uri="{FF2B5EF4-FFF2-40B4-BE49-F238E27FC236}">
                <a16:creationId xmlns:a16="http://schemas.microsoft.com/office/drawing/2014/main" id="{120EB1DA-46C4-4A78-AEC5-E3C299F5C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7963" y="2139629"/>
            <a:ext cx="4434711" cy="201387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Habría que dar 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como máximo 3 o 4 cifras desde la 1ª no nula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(el “0” no es cifra significativa aquí, desaparece moviendo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coma: 5,333... 10</a:t>
            </a:r>
            <a:r>
              <a:rPr lang="es-ES" sz="24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7</a:t>
            </a:r>
            <a:r>
              <a:rPr lang="es-E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C)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" name="Flecha derecha 4">
            <a:extLst>
              <a:ext uri="{FF2B5EF4-FFF2-40B4-BE49-F238E27FC236}">
                <a16:creationId xmlns:a16="http://schemas.microsoft.com/office/drawing/2014/main" id="{C314F0CE-03A4-4E85-ABBC-34EBFB90A799}"/>
              </a:ext>
            </a:extLst>
          </p:cNvPr>
          <p:cNvSpPr/>
          <p:nvPr/>
        </p:nvSpPr>
        <p:spPr bwMode="auto">
          <a:xfrm rot="5400000">
            <a:off x="3220377" y="1442394"/>
            <a:ext cx="446809" cy="921413"/>
          </a:xfrm>
          <a:prstGeom prst="rightArrow">
            <a:avLst>
              <a:gd name="adj1" fmla="val 50000"/>
              <a:gd name="adj2" fmla="val 65551"/>
            </a:avLst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endParaRPr lang="es-ES" sz="2400" dirty="0">
              <a:latin typeface="Arial" charset="0"/>
            </a:endParaRPr>
          </a:p>
        </p:txBody>
      </p:sp>
      <p:sp>
        <p:nvSpPr>
          <p:cNvPr id="20" name="Text Box 69">
            <a:extLst>
              <a:ext uri="{FF2B5EF4-FFF2-40B4-BE49-F238E27FC236}">
                <a16:creationId xmlns:a16="http://schemas.microsoft.com/office/drawing/2014/main" id="{E972EBD6-BCFA-4F34-9693-5B829B39F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8517" y="351830"/>
            <a:ext cx="4434711" cy="125340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Eso afectaría a la 3ª cifra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(1% de 100 = 1 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El error, "1",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afecta al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2º "0" de "100")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3" name="Text Box 42">
            <a:extLst>
              <a:ext uri="{FF2B5EF4-FFF2-40B4-BE49-F238E27FC236}">
                <a16:creationId xmlns:a16="http://schemas.microsoft.com/office/drawing/2014/main" id="{5CFF45D4-F82F-4F25-B69B-B84894AFA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1590" y="2152776"/>
            <a:ext cx="4451638" cy="201387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Vamos a redondear a 2 cifras significativas en la asignatura, al ser la lectura más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agradable (aceptaremos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 error cometido)</a:t>
            </a:r>
            <a:endParaRPr lang="es-E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69">
            <a:extLst>
              <a:ext uri="{FF2B5EF4-FFF2-40B4-BE49-F238E27FC236}">
                <a16:creationId xmlns:a16="http://schemas.microsoft.com/office/drawing/2014/main" id="{E5E55E46-3259-4D04-8CD7-C5DE47EA3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8217" y="5629006"/>
            <a:ext cx="3941943" cy="1253402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(es lo mismo que hacemos con el "pico" cuando medimos con una regla)</a:t>
            </a:r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7D16CEC6-806F-4BD6-AB41-51FC8750CCC8}"/>
              </a:ext>
            </a:extLst>
          </p:cNvPr>
          <p:cNvSpPr/>
          <p:nvPr/>
        </p:nvSpPr>
        <p:spPr bwMode="auto">
          <a:xfrm>
            <a:off x="9611360" y="4541015"/>
            <a:ext cx="497961" cy="782825"/>
          </a:xfrm>
          <a:custGeom>
            <a:avLst/>
            <a:gdLst>
              <a:gd name="connsiteX0" fmla="*/ 233680 w 497961"/>
              <a:gd name="connsiteY0" fmla="*/ 782825 h 782825"/>
              <a:gd name="connsiteX1" fmla="*/ 497840 w 497961"/>
              <a:gd name="connsiteY1" fmla="*/ 447545 h 782825"/>
              <a:gd name="connsiteX2" fmla="*/ 264160 w 497961"/>
              <a:gd name="connsiteY2" fmla="*/ 71625 h 782825"/>
              <a:gd name="connsiteX3" fmla="*/ 0 w 497961"/>
              <a:gd name="connsiteY3" fmla="*/ 505 h 78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961" h="782825">
                <a:moveTo>
                  <a:pt x="233680" y="782825"/>
                </a:moveTo>
                <a:cubicBezTo>
                  <a:pt x="363220" y="674451"/>
                  <a:pt x="492760" y="566078"/>
                  <a:pt x="497840" y="447545"/>
                </a:cubicBezTo>
                <a:cubicBezTo>
                  <a:pt x="502920" y="329012"/>
                  <a:pt x="347133" y="146132"/>
                  <a:pt x="264160" y="71625"/>
                </a:cubicBezTo>
                <a:cubicBezTo>
                  <a:pt x="181187" y="-2882"/>
                  <a:pt x="90593" y="-1189"/>
                  <a:pt x="0" y="505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49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17" grpId="0" animBg="1"/>
      <p:bldP spid="18" grpId="0" animBg="1"/>
      <p:bldP spid="19" grpId="0" animBg="1"/>
      <p:bldP spid="20" grpId="0" animBg="1"/>
      <p:bldP spid="23" grpId="0" animBg="1"/>
      <p:bldP spid="3" grpId="0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9088</TotalTime>
  <Words>3138</Words>
  <Application>Microsoft Office PowerPoint</Application>
  <PresentationFormat>Personalizado</PresentationFormat>
  <Paragraphs>535</Paragraphs>
  <Slides>27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4" baseType="lpstr">
      <vt:lpstr>Arial</vt:lpstr>
      <vt:lpstr>Cambria Math</vt:lpstr>
      <vt:lpstr>Comic Sans MS</vt:lpstr>
      <vt:lpstr>Symbol</vt:lpstr>
      <vt:lpstr>Times New Roman</vt:lpstr>
      <vt:lpstr>Trebuchet MS</vt:lpstr>
      <vt:lpstr>FNT_2012_TEMA1_1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Jose Enrique Martin Dominguez</cp:lastModifiedBy>
  <cp:revision>1517</cp:revision>
  <cp:lastPrinted>2022-09-20T15:41:44Z</cp:lastPrinted>
  <dcterms:created xsi:type="dcterms:W3CDTF">2012-02-20T13:06:36Z</dcterms:created>
  <dcterms:modified xsi:type="dcterms:W3CDTF">2024-09-17T15:31:12Z</dcterms:modified>
</cp:coreProperties>
</file>