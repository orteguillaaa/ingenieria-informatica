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5"/>
  </p:notesMasterIdLst>
  <p:handoutMasterIdLst>
    <p:handoutMasterId r:id="rId36"/>
  </p:handoutMasterIdLst>
  <p:sldIdLst>
    <p:sldId id="316" r:id="rId2"/>
    <p:sldId id="554" r:id="rId3"/>
    <p:sldId id="497" r:id="rId4"/>
    <p:sldId id="555" r:id="rId5"/>
    <p:sldId id="556" r:id="rId6"/>
    <p:sldId id="557" r:id="rId7"/>
    <p:sldId id="488" r:id="rId8"/>
    <p:sldId id="489" r:id="rId9"/>
    <p:sldId id="490" r:id="rId10"/>
    <p:sldId id="564" r:id="rId11"/>
    <p:sldId id="514" r:id="rId12"/>
    <p:sldId id="492" r:id="rId13"/>
    <p:sldId id="467" r:id="rId14"/>
    <p:sldId id="487" r:id="rId15"/>
    <p:sldId id="486" r:id="rId16"/>
    <p:sldId id="485" r:id="rId17"/>
    <p:sldId id="520" r:id="rId18"/>
    <p:sldId id="561" r:id="rId19"/>
    <p:sldId id="452" r:id="rId20"/>
    <p:sldId id="503" r:id="rId21"/>
    <p:sldId id="562" r:id="rId22"/>
    <p:sldId id="563" r:id="rId23"/>
    <p:sldId id="453" r:id="rId24"/>
    <p:sldId id="515" r:id="rId25"/>
    <p:sldId id="519" r:id="rId26"/>
    <p:sldId id="528" r:id="rId27"/>
    <p:sldId id="505" r:id="rId28"/>
    <p:sldId id="517" r:id="rId29"/>
    <p:sldId id="565" r:id="rId30"/>
    <p:sldId id="507" r:id="rId31"/>
    <p:sldId id="559" r:id="rId32"/>
    <p:sldId id="560" r:id="rId33"/>
    <p:sldId id="510" r:id="rId34"/>
  </p:sldIdLst>
  <p:sldSz cx="10801350" cy="7200900"/>
  <p:notesSz cx="6815138" cy="994251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666699"/>
    <a:srgbClr val="99CCFF"/>
    <a:srgbClr val="CCFFCC"/>
    <a:srgbClr val="FFFF99"/>
    <a:srgbClr val="FF99CC"/>
    <a:srgbClr val="008000"/>
    <a:srgbClr val="C0C0C0"/>
    <a:srgbClr val="FFFFFF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0" autoAdjust="0"/>
    <p:restoredTop sz="90213" autoAdjust="0"/>
  </p:normalViewPr>
  <p:slideViewPr>
    <p:cSldViewPr snapToGrid="0" showGuides="1">
      <p:cViewPr varScale="1">
        <p:scale>
          <a:sx n="98" d="100"/>
          <a:sy n="98" d="100"/>
        </p:scale>
        <p:origin x="1500" y="90"/>
      </p:cViewPr>
      <p:guideLst>
        <p:guide orient="horz" pos="2268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D12B433-08EC-42F8-9DB6-884C07FC06A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6119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09600" y="746125"/>
            <a:ext cx="55943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4400"/>
            <a:ext cx="5453062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E5BE600-1F57-48BF-9CD8-CE0EBD5935B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410094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61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B6E66AE-DB1E-44FF-A233-27C0F05AE088}" type="slidenum">
              <a:rPr lang="es-ES" smtClean="0"/>
              <a:pPr>
                <a:spcBef>
                  <a:spcPct val="0"/>
                </a:spcBef>
              </a:pPr>
              <a:t>1</a:t>
            </a:fld>
            <a:endParaRPr lang="es-ES"/>
          </a:p>
        </p:txBody>
      </p:sp>
      <p:sp>
        <p:nvSpPr>
          <p:cNvPr id="61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796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B3108FE-A973-4343-BA67-33DCFBEB6E87}" type="slidenum">
              <a:rPr lang="es-ES" smtClean="0"/>
              <a:pPr>
                <a:spcBef>
                  <a:spcPct val="0"/>
                </a:spcBef>
              </a:pPr>
              <a:t>2</a:t>
            </a:fld>
            <a:endParaRPr lang="es-ES"/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/>
            <a:endParaRPr lang="es-ES" sz="800" b="1" i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628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97EF592-B636-412A-9239-F2C3F35DC360}" type="slidenum">
              <a:rPr lang="es-ES" smtClean="0"/>
              <a:pPr>
                <a:spcBef>
                  <a:spcPct val="0"/>
                </a:spcBef>
              </a:pPr>
              <a:t>3</a:t>
            </a:fld>
            <a:endParaRPr lang="es-ES"/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506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DDE415E-21F3-443F-BE13-230AEF82D5A0}" type="slidenum">
              <a:rPr lang="es-ES"/>
              <a:pPr algn="r" eaLnBrk="1" hangingPunct="1">
                <a:spcBef>
                  <a:spcPct val="0"/>
                </a:spcBef>
              </a:pPr>
              <a:t>4</a:t>
            </a:fld>
            <a:endParaRPr lang="es-ES"/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723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DDE415E-21F3-443F-BE13-230AEF82D5A0}" type="slidenum">
              <a:rPr lang="es-ES"/>
              <a:pPr algn="r" eaLnBrk="1" hangingPunct="1">
                <a:spcBef>
                  <a:spcPct val="0"/>
                </a:spcBef>
              </a:pPr>
              <a:t>5</a:t>
            </a:fld>
            <a:endParaRPr lang="es-ES"/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862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4AB2ADC-80AE-46E1-8EFA-460F1A9220CA}" type="slidenum">
              <a:rPr lang="es-ES" smtClean="0"/>
              <a:pPr>
                <a:spcBef>
                  <a:spcPct val="0"/>
                </a:spcBef>
              </a:pPr>
              <a:t>6</a:t>
            </a:fld>
            <a:endParaRPr lang="es-ES"/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i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5423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4AB2ADC-80AE-46E1-8EFA-460F1A9220CA}" type="slidenum">
              <a:rPr lang="es-ES" smtClean="0"/>
              <a:pPr>
                <a:spcBef>
                  <a:spcPct val="0"/>
                </a:spcBef>
              </a:pPr>
              <a:t>7</a:t>
            </a:fld>
            <a:endParaRPr lang="es-ES"/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i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6289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63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70A8EE3-3F75-480B-97B2-6752DA53E4A2}" type="slidenum">
              <a:rPr lang="es-ES" smtClean="0"/>
              <a:pPr>
                <a:spcBef>
                  <a:spcPct val="0"/>
                </a:spcBef>
              </a:pPr>
              <a:t>8</a:t>
            </a:fld>
            <a:endParaRPr lang="es-ES"/>
          </a:p>
        </p:txBody>
      </p:sp>
      <p:sp>
        <p:nvSpPr>
          <p:cNvPr id="163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09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63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70A8EE3-3F75-480B-97B2-6752DA53E4A2}" type="slidenum">
              <a:rPr lang="es-ES" smtClean="0"/>
              <a:pPr>
                <a:spcBef>
                  <a:spcPct val="0"/>
                </a:spcBef>
              </a:pPr>
              <a:t>9</a:t>
            </a:fld>
            <a:endParaRPr lang="es-ES"/>
          </a:p>
        </p:txBody>
      </p:sp>
      <p:sp>
        <p:nvSpPr>
          <p:cNvPr id="163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9235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0A0FF95-940D-46C3-9BF2-215AF4F504D3}" type="slidenum">
              <a:rPr lang="es-ES" smtClean="0"/>
              <a:pPr>
                <a:spcBef>
                  <a:spcPct val="0"/>
                </a:spcBef>
              </a:pPr>
              <a:t>10</a:t>
            </a:fld>
            <a:endParaRPr lang="es-ES"/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4693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0A0FF95-940D-46C3-9BF2-215AF4F504D3}" type="slidenum">
              <a:rPr lang="es-ES" smtClean="0"/>
              <a:pPr>
                <a:spcBef>
                  <a:spcPct val="0"/>
                </a:spcBef>
              </a:pPr>
              <a:t>11</a:t>
            </a:fld>
            <a:endParaRPr lang="es-ES"/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2676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04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FA371D6-8124-420F-ABE6-53D634E5014D}" type="slidenum">
              <a:rPr lang="es-ES" smtClean="0"/>
              <a:pPr>
                <a:spcBef>
                  <a:spcPct val="0"/>
                </a:spcBef>
              </a:pPr>
              <a:t>12</a:t>
            </a:fld>
            <a:endParaRPr lang="es-ES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2634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253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253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54CC98E-E42F-45CE-A3A9-E6B61FAB6FD5}" type="slidenum">
              <a:rPr lang="es-ES"/>
              <a:pPr algn="r" eaLnBrk="1" hangingPunct="1">
                <a:spcBef>
                  <a:spcPct val="0"/>
                </a:spcBef>
              </a:pPr>
              <a:t>13</a:t>
            </a:fld>
            <a:endParaRPr lang="es-ES"/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2269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457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458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718EEE6-7918-4F67-A58F-237ED253E92B}" type="slidenum">
              <a:rPr lang="es-ES"/>
              <a:pPr algn="r" eaLnBrk="1" hangingPunct="1">
                <a:spcBef>
                  <a:spcPct val="0"/>
                </a:spcBef>
              </a:pPr>
              <a:t>14</a:t>
            </a:fld>
            <a:endParaRPr lang="es-ES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4971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662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662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C3A03DD-ABDF-4D39-97ED-61EABB96BB35}" type="slidenum">
              <a:rPr lang="es-ES"/>
              <a:pPr algn="r" eaLnBrk="1" hangingPunct="1">
                <a:spcBef>
                  <a:spcPct val="0"/>
                </a:spcBef>
              </a:pPr>
              <a:t>15</a:t>
            </a:fld>
            <a:endParaRPr lang="es-ES"/>
          </a:p>
        </p:txBody>
      </p:sp>
      <p:sp>
        <p:nvSpPr>
          <p:cNvPr id="266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0161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867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867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C67DFE3-67EA-4D4B-BD3B-35771C23D3DC}" type="slidenum">
              <a:rPr lang="es-ES"/>
              <a:pPr algn="r" eaLnBrk="1" hangingPunct="1">
                <a:spcBef>
                  <a:spcPct val="0"/>
                </a:spcBef>
              </a:pPr>
              <a:t>16</a:t>
            </a:fld>
            <a:endParaRPr lang="es-ES"/>
          </a:p>
        </p:txBody>
      </p:sp>
      <p:sp>
        <p:nvSpPr>
          <p:cNvPr id="286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3277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89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89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26A5B32-863A-46A2-9F9E-A52D30F3897D}" type="slidenum">
              <a:rPr lang="es-ES" smtClean="0"/>
              <a:pPr>
                <a:spcBef>
                  <a:spcPct val="0"/>
                </a:spcBef>
              </a:pPr>
              <a:t>17</a:t>
            </a:fld>
            <a:endParaRPr lang="es-ES"/>
          </a:p>
        </p:txBody>
      </p:sp>
      <p:sp>
        <p:nvSpPr>
          <p:cNvPr id="389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5531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89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89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26A5B32-863A-46A2-9F9E-A52D30F3897D}" type="slidenum">
              <a:rPr lang="es-ES" smtClean="0"/>
              <a:pPr>
                <a:spcBef>
                  <a:spcPct val="0"/>
                </a:spcBef>
              </a:pPr>
              <a:t>18</a:t>
            </a:fld>
            <a:endParaRPr lang="es-ES"/>
          </a:p>
        </p:txBody>
      </p:sp>
      <p:sp>
        <p:nvSpPr>
          <p:cNvPr id="389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2378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09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09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2B911C9-3588-4635-8D2E-309A2E8FAF88}" type="slidenum">
              <a:rPr lang="es-ES" smtClean="0"/>
              <a:pPr>
                <a:spcBef>
                  <a:spcPct val="0"/>
                </a:spcBef>
              </a:pPr>
              <a:t>19</a:t>
            </a:fld>
            <a:endParaRPr lang="es-ES"/>
          </a:p>
        </p:txBody>
      </p:sp>
      <p:sp>
        <p:nvSpPr>
          <p:cNvPr id="409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4108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09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09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2B911C9-3588-4635-8D2E-309A2E8FAF88}" type="slidenum">
              <a:rPr lang="es-ES" smtClean="0"/>
              <a:pPr>
                <a:spcBef>
                  <a:spcPct val="0"/>
                </a:spcBef>
              </a:pPr>
              <a:t>20</a:t>
            </a:fld>
            <a:endParaRPr lang="es-ES"/>
          </a:p>
        </p:txBody>
      </p:sp>
      <p:sp>
        <p:nvSpPr>
          <p:cNvPr id="409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8599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09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09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2B911C9-3588-4635-8D2E-309A2E8FAF88}" type="slidenum">
              <a:rPr lang="es-ES" smtClean="0"/>
              <a:pPr>
                <a:spcBef>
                  <a:spcPct val="0"/>
                </a:spcBef>
              </a:pPr>
              <a:t>21</a:t>
            </a:fld>
            <a:endParaRPr lang="es-ES"/>
          </a:p>
        </p:txBody>
      </p:sp>
      <p:sp>
        <p:nvSpPr>
          <p:cNvPr id="409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7396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09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09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2B911C9-3588-4635-8D2E-309A2E8FAF88}" type="slidenum">
              <a:rPr lang="es-ES" smtClean="0"/>
              <a:pPr>
                <a:spcBef>
                  <a:spcPct val="0"/>
                </a:spcBef>
              </a:pPr>
              <a:t>22</a:t>
            </a:fld>
            <a:endParaRPr lang="es-ES"/>
          </a:p>
        </p:txBody>
      </p:sp>
      <p:sp>
        <p:nvSpPr>
          <p:cNvPr id="409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4036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30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30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799247B-6D67-4ADF-B0F1-E023ED5B1F12}" type="slidenum">
              <a:rPr lang="es-ES" smtClean="0"/>
              <a:pPr>
                <a:spcBef>
                  <a:spcPct val="0"/>
                </a:spcBef>
              </a:pPr>
              <a:t>23</a:t>
            </a:fld>
            <a:endParaRPr lang="es-ES"/>
          </a:p>
        </p:txBody>
      </p:sp>
      <p:sp>
        <p:nvSpPr>
          <p:cNvPr id="430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7043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30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30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799247B-6D67-4ADF-B0F1-E023ED5B1F12}" type="slidenum">
              <a:rPr lang="es-ES" smtClean="0"/>
              <a:pPr>
                <a:spcBef>
                  <a:spcPct val="0"/>
                </a:spcBef>
              </a:pPr>
              <a:t>24</a:t>
            </a:fld>
            <a:endParaRPr lang="es-ES"/>
          </a:p>
        </p:txBody>
      </p:sp>
      <p:sp>
        <p:nvSpPr>
          <p:cNvPr id="430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4228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505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50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DEEC186-91D7-4430-8B98-30A75CE44510}" type="slidenum">
              <a:rPr lang="es-ES" smtClean="0"/>
              <a:pPr>
                <a:spcBef>
                  <a:spcPct val="0"/>
                </a:spcBef>
              </a:pPr>
              <a:t>25</a:t>
            </a:fld>
            <a:endParaRPr lang="es-ES"/>
          </a:p>
        </p:txBody>
      </p:sp>
      <p:sp>
        <p:nvSpPr>
          <p:cNvPr id="450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9265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505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50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DEEC186-91D7-4430-8B98-30A75CE44510}" type="slidenum">
              <a:rPr lang="es-ES" smtClean="0"/>
              <a:pPr>
                <a:spcBef>
                  <a:spcPct val="0"/>
                </a:spcBef>
              </a:pPr>
              <a:t>26</a:t>
            </a:fld>
            <a:endParaRPr lang="es-ES"/>
          </a:p>
        </p:txBody>
      </p:sp>
      <p:sp>
        <p:nvSpPr>
          <p:cNvPr id="450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3657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915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91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BEE1E9B-1026-4EB0-B13C-BD91D8047A0A}" type="slidenum">
              <a:rPr lang="es-ES" smtClean="0"/>
              <a:pPr>
                <a:spcBef>
                  <a:spcPct val="0"/>
                </a:spcBef>
              </a:pPr>
              <a:t>27</a:t>
            </a:fld>
            <a:endParaRPr lang="es-ES"/>
          </a:p>
        </p:txBody>
      </p:sp>
      <p:sp>
        <p:nvSpPr>
          <p:cNvPr id="491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1073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915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91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BEE1E9B-1026-4EB0-B13C-BD91D8047A0A}" type="slidenum">
              <a:rPr lang="es-ES" smtClean="0"/>
              <a:pPr>
                <a:spcBef>
                  <a:spcPct val="0"/>
                </a:spcBef>
              </a:pPr>
              <a:t>28</a:t>
            </a:fld>
            <a:endParaRPr lang="es-ES"/>
          </a:p>
        </p:txBody>
      </p:sp>
      <p:sp>
        <p:nvSpPr>
          <p:cNvPr id="491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01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5120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512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F77A512-B72C-4105-91A9-E7D29BADE02A}" type="slidenum">
              <a:rPr lang="es-ES" smtClean="0"/>
              <a:pPr>
                <a:spcBef>
                  <a:spcPct val="0"/>
                </a:spcBef>
              </a:pPr>
              <a:t>29</a:t>
            </a:fld>
            <a:endParaRPr lang="es-ES"/>
          </a:p>
        </p:txBody>
      </p:sp>
      <p:sp>
        <p:nvSpPr>
          <p:cNvPr id="512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4134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5325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5325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9BB880B-4256-4F2D-875A-AC73931F8A7D}" type="slidenum">
              <a:rPr lang="es-ES" smtClean="0"/>
              <a:pPr>
                <a:spcBef>
                  <a:spcPct val="0"/>
                </a:spcBef>
              </a:pPr>
              <a:t>30</a:t>
            </a:fld>
            <a:endParaRPr lang="es-ES"/>
          </a:p>
        </p:txBody>
      </p:sp>
      <p:sp>
        <p:nvSpPr>
          <p:cNvPr id="532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7033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5529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5530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50B6847-E746-4ED0-A048-CB848159FE76}" type="slidenum">
              <a:rPr lang="es-ES" smtClean="0"/>
              <a:pPr>
                <a:spcBef>
                  <a:spcPct val="0"/>
                </a:spcBef>
              </a:pPr>
              <a:t>31</a:t>
            </a:fld>
            <a:endParaRPr lang="es-ES"/>
          </a:p>
        </p:txBody>
      </p:sp>
      <p:sp>
        <p:nvSpPr>
          <p:cNvPr id="553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6553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5529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5530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50B6847-E746-4ED0-A048-CB848159FE76}" type="slidenum">
              <a:rPr lang="es-ES" smtClean="0"/>
              <a:pPr>
                <a:spcBef>
                  <a:spcPct val="0"/>
                </a:spcBef>
              </a:pPr>
              <a:t>32</a:t>
            </a:fld>
            <a:endParaRPr lang="es-ES"/>
          </a:p>
        </p:txBody>
      </p:sp>
      <p:sp>
        <p:nvSpPr>
          <p:cNvPr id="553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602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6" descr="Canvas"/>
          <p:cNvSpPr>
            <a:spLocks noChangeArrowheads="1"/>
          </p:cNvSpPr>
          <p:nvPr/>
        </p:nvSpPr>
        <p:spPr bwMode="white">
          <a:xfrm>
            <a:off x="623888" y="211138"/>
            <a:ext cx="9920287" cy="67913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1027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53975"/>
            <a:ext cx="1395413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28" descr="Canvas"/>
          <p:cNvSpPr>
            <a:spLocks noChangeArrowheads="1"/>
          </p:cNvSpPr>
          <p:nvPr/>
        </p:nvSpPr>
        <p:spPr bwMode="white">
          <a:xfrm>
            <a:off x="704850" y="4337050"/>
            <a:ext cx="1230313" cy="4794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Picture 1029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4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079500" y="2160588"/>
            <a:ext cx="9121775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94215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920875" y="4079875"/>
            <a:ext cx="7559675" cy="18605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quarter" idx="10"/>
          </p:nvPr>
        </p:nvSpPr>
        <p:spPr>
          <a:xfrm>
            <a:off x="1281113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0838" y="6400800"/>
            <a:ext cx="3421062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12138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2E5070-185E-4DCD-913E-5C80CF59B9A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4396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B89A89-0BFE-46E7-950F-2DBDF54A4ED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4648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2488" y="4627563"/>
            <a:ext cx="9182100" cy="143033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52488" y="3052763"/>
            <a:ext cx="9182100" cy="15748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949C90-E085-4E41-AA79-BB81E0E309D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7893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60475" y="1839913"/>
            <a:ext cx="4424363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837238" y="1839913"/>
            <a:ext cx="4424362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087856-76D7-4EE3-9E62-4EDFD0A947D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1668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8925"/>
            <a:ext cx="9721850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750" y="1611313"/>
            <a:ext cx="4772025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39750" y="2284413"/>
            <a:ext cx="4772025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486400" y="1611313"/>
            <a:ext cx="4775200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486400" y="2284413"/>
            <a:ext cx="4775200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65C150-BDED-4F52-A0B2-60AA195FECA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1211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72D319-55C9-496D-846A-AC1E17DC6CB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2214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2258B6-9C9B-4D52-8E53-0DE82260BAF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6683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7338"/>
            <a:ext cx="3554413" cy="1219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22750" y="287338"/>
            <a:ext cx="6038850" cy="61452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39750" y="1506538"/>
            <a:ext cx="3554413" cy="4926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84ED95-38AB-4E24-9FCC-068AF229F02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9404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17725" y="5040313"/>
            <a:ext cx="6480175" cy="59531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117725" y="642938"/>
            <a:ext cx="6480175" cy="43211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117725" y="5635625"/>
            <a:ext cx="6480175" cy="8445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99934A-DC94-4F44-A231-CAB033F3CC5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50977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1ACC3-3F0E-4EF7-A7C5-95431741754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7345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012113" y="400050"/>
            <a:ext cx="2249487" cy="57610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60475" y="400050"/>
            <a:ext cx="6599238" cy="57610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1D946B-F849-40D6-A24F-4965EBAB703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3281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1260475" y="400050"/>
            <a:ext cx="9001125" cy="57610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626E0B-75A1-4513-A388-C0C2099F2BF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9300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720725" y="239713"/>
            <a:ext cx="9731375" cy="6710362"/>
          </a:xfrm>
          <a:prstGeom prst="rect">
            <a:avLst/>
          </a:prstGeom>
          <a:solidFill>
            <a:srgbClr val="EDE7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ltGray">
          <a:xfrm>
            <a:off x="1200150" y="1679575"/>
            <a:ext cx="906145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1028" name="Picture 4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"/>
          <a:stretch>
            <a:fillRect/>
          </a:stretch>
        </p:blipFill>
        <p:spPr bwMode="ltGray">
          <a:xfrm>
            <a:off x="0" y="53975"/>
            <a:ext cx="1395413" cy="425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400050"/>
            <a:ext cx="9001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60475" y="1839913"/>
            <a:ext cx="9001125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319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98563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78288" y="6411913"/>
            <a:ext cx="3421062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29588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9120F07-66F2-421F-BFB3-3094BA02555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0" r:id="rId1"/>
    <p:sldLayoutId id="2147483949" r:id="rId2"/>
    <p:sldLayoutId id="2147483950" r:id="rId3"/>
    <p:sldLayoutId id="2147483951" r:id="rId4"/>
    <p:sldLayoutId id="2147483952" r:id="rId5"/>
    <p:sldLayoutId id="2147483953" r:id="rId6"/>
    <p:sldLayoutId id="2147483954" r:id="rId7"/>
    <p:sldLayoutId id="2147483955" r:id="rId8"/>
    <p:sldLayoutId id="2147483956" r:id="rId9"/>
    <p:sldLayoutId id="2147483957" r:id="rId10"/>
    <p:sldLayoutId id="2147483958" r:id="rId11"/>
    <p:sldLayoutId id="2147483959" r:id="rId12"/>
  </p:sldLayoutIdLst>
  <p:txStyles>
    <p:titleStyle>
      <a:lvl1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2pPr>
      <a:lvl3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3pPr>
      <a:lvl4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4pPr>
      <a:lvl5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5pPr>
      <a:lvl6pPr marL="4572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6pPr>
      <a:lvl7pPr marL="9144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7pPr>
      <a:lvl8pPr marL="13716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8pPr>
      <a:lvl9pPr marL="18288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9pPr>
    </p:titleStyle>
    <p:bodyStyle>
      <a:lvl1pPr marL="385763" indent="-385763" algn="l" defTabSz="1028700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36613" indent="-322263" algn="l" defTabSz="1028700" rtl="0" eaLnBrk="0" fontAlgn="base" hangingPunct="0">
        <a:spcBef>
          <a:spcPct val="2000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</a:defRPr>
      </a:lvl2pPr>
      <a:lvl3pPr marL="1285875" indent="-257175" algn="l" defTabSz="1028700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800225" indent="-257175" algn="l" defTabSz="1028700" rtl="0" eaLnBrk="0" fontAlgn="base" hangingPunct="0">
        <a:spcBef>
          <a:spcPct val="20000"/>
        </a:spcBef>
        <a:spcAft>
          <a:spcPct val="0"/>
        </a:spcAft>
        <a:buChar char="–"/>
        <a:defRPr sz="2300">
          <a:solidFill>
            <a:schemeClr val="tx1"/>
          </a:solidFill>
          <a:latin typeface="+mn-lt"/>
        </a:defRPr>
      </a:lvl4pPr>
      <a:lvl5pPr marL="2314575" indent="-257175" algn="l" defTabSz="1028700" rtl="0" eaLnBrk="0" fontAlgn="base" hangingPunct="0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5pPr>
      <a:lvl6pPr marL="27717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6pPr>
      <a:lvl7pPr marL="32289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7pPr>
      <a:lvl8pPr marL="36861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8pPr>
      <a:lvl9pPr marL="41433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2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7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2.w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2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1030"/>
          <p:cNvSpPr txBox="1">
            <a:spLocks noChangeArrowheads="1"/>
          </p:cNvSpPr>
          <p:nvPr/>
        </p:nvSpPr>
        <p:spPr bwMode="auto">
          <a:xfrm>
            <a:off x="2838450" y="3221038"/>
            <a:ext cx="58166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CONDENSADORES Y DIELÉCTRICOS</a:t>
            </a:r>
          </a:p>
        </p:txBody>
      </p:sp>
      <p:sp>
        <p:nvSpPr>
          <p:cNvPr id="5123" name="Text Box 1031"/>
          <p:cNvSpPr txBox="1">
            <a:spLocks noChangeArrowheads="1"/>
          </p:cNvSpPr>
          <p:nvPr/>
        </p:nvSpPr>
        <p:spPr bwMode="auto">
          <a:xfrm>
            <a:off x="5300663" y="4105275"/>
            <a:ext cx="9334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Comic Sans MS" panose="030F0702030302020204" pitchFamily="66" charset="0"/>
              </a:rPr>
              <a:t>(4/4)</a:t>
            </a:r>
          </a:p>
        </p:txBody>
      </p:sp>
      <p:sp>
        <p:nvSpPr>
          <p:cNvPr id="5124" name="Text Box 1032"/>
          <p:cNvSpPr txBox="1">
            <a:spLocks noChangeArrowheads="1"/>
          </p:cNvSpPr>
          <p:nvPr/>
        </p:nvSpPr>
        <p:spPr bwMode="auto">
          <a:xfrm>
            <a:off x="5065713" y="2343150"/>
            <a:ext cx="1397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TEMA 3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78238258-333E-0797-5580-AB43DBA03FDC}"/>
              </a:ext>
            </a:extLst>
          </p:cNvPr>
          <p:cNvGrpSpPr/>
          <p:nvPr/>
        </p:nvGrpSpPr>
        <p:grpSpPr>
          <a:xfrm>
            <a:off x="7237879" y="306751"/>
            <a:ext cx="3209926" cy="2487613"/>
            <a:chOff x="7237879" y="306751"/>
            <a:chExt cx="3209926" cy="2487613"/>
          </a:xfrm>
        </p:grpSpPr>
        <p:grpSp>
          <p:nvGrpSpPr>
            <p:cNvPr id="3" name="Group 23">
              <a:extLst>
                <a:ext uri="{FF2B5EF4-FFF2-40B4-BE49-F238E27FC236}">
                  <a16:creationId xmlns:a16="http://schemas.microsoft.com/office/drawing/2014/main" id="{906E10DD-845D-DF5E-05BA-CDF85A9108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37879" y="306751"/>
              <a:ext cx="3209926" cy="2487613"/>
              <a:chOff x="4896" y="276"/>
              <a:chExt cx="2022" cy="1567"/>
            </a:xfrm>
          </p:grpSpPr>
          <p:sp>
            <p:nvSpPr>
              <p:cNvPr id="5" name="AutoShape 1067">
                <a:extLst>
                  <a:ext uri="{FF2B5EF4-FFF2-40B4-BE49-F238E27FC236}">
                    <a16:creationId xmlns:a16="http://schemas.microsoft.com/office/drawing/2014/main" id="{6958AE11-2183-19E6-40E4-DFDEB7E965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6" y="276"/>
                <a:ext cx="2022" cy="1567"/>
              </a:xfrm>
              <a:prstGeom prst="foldedCorner">
                <a:avLst>
                  <a:gd name="adj" fmla="val 12500"/>
                </a:avLst>
              </a:pr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Text Box 1068">
                <a:extLst>
                  <a:ext uri="{FF2B5EF4-FFF2-40B4-BE49-F238E27FC236}">
                    <a16:creationId xmlns:a16="http://schemas.microsoft.com/office/drawing/2014/main" id="{26A45369-9E35-7009-CFA6-58B9B4553E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16" y="365"/>
                <a:ext cx="1786" cy="291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b="1">
                    <a:latin typeface="Trebuchet MS" panose="020B0603020202020204" pitchFamily="34" charset="0"/>
                  </a:rPr>
                  <a:t>PRÁCTICA 2</a:t>
                </a:r>
                <a:endParaRPr lang="es-ES" sz="2400" b="1" dirty="0">
                  <a:latin typeface="Trebuchet MS" panose="020B0603020202020204" pitchFamily="34" charset="0"/>
                </a:endParaRPr>
              </a:p>
            </p:txBody>
          </p:sp>
          <p:sp>
            <p:nvSpPr>
              <p:cNvPr id="7" name="Text Box 1069">
                <a:extLst>
                  <a:ext uri="{FF2B5EF4-FFF2-40B4-BE49-F238E27FC236}">
                    <a16:creationId xmlns:a16="http://schemas.microsoft.com/office/drawing/2014/main" id="{9777BEF6-C33E-79C0-A394-EC94BC2C60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16" y="714"/>
                <a:ext cx="1786" cy="25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b="1">
                    <a:solidFill>
                      <a:srgbClr val="FFFFFF"/>
                    </a:solidFill>
                    <a:latin typeface="Trebuchet MS" panose="020B0603020202020204" pitchFamily="34" charset="0"/>
                  </a:rPr>
                  <a:t>04/11 a 08/11</a:t>
                </a:r>
                <a:endParaRPr lang="es-ES" sz="2400" b="1" dirty="0">
                  <a:solidFill>
                    <a:srgbClr val="FFFFFF"/>
                  </a:solidFill>
                  <a:latin typeface="Trebuchet MS" panose="020B0603020202020204" pitchFamily="34" charset="0"/>
                </a:endParaRPr>
              </a:p>
            </p:txBody>
          </p:sp>
          <p:sp>
            <p:nvSpPr>
              <p:cNvPr id="8" name="Text Box 1062">
                <a:extLst>
                  <a:ext uri="{FF2B5EF4-FFF2-40B4-BE49-F238E27FC236}">
                    <a16:creationId xmlns:a16="http://schemas.microsoft.com/office/drawing/2014/main" id="{F960C701-BF43-0B33-7087-F2DC73CBF6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79" y="982"/>
                <a:ext cx="87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Trebuchet MS" panose="020B0603020202020204" pitchFamily="34" charset="0"/>
                  </a:rPr>
                  <a:t>Boletín en Moodle</a:t>
                </a:r>
              </a:p>
            </p:txBody>
          </p:sp>
        </p:grpSp>
        <p:sp>
          <p:nvSpPr>
            <p:cNvPr id="4" name="Text Box 1069">
              <a:extLst>
                <a:ext uri="{FF2B5EF4-FFF2-40B4-BE49-F238E27FC236}">
                  <a16:creationId xmlns:a16="http://schemas.microsoft.com/office/drawing/2014/main" id="{74E500CA-BFB5-80B8-E4A3-0CFA480EF1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9217" y="1933789"/>
              <a:ext cx="1582504" cy="773398"/>
            </a:xfrm>
            <a:prstGeom prst="rect">
              <a:avLst/>
            </a:prstGeom>
            <a:solidFill>
              <a:srgbClr val="3333FF"/>
            </a:solidFill>
            <a:ln>
              <a:noFill/>
            </a:ln>
          </p:spPr>
          <p:txBody>
            <a:bodyPr anchor="ctr" anchorCtr="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solidFill>
                    <a:srgbClr val="FFFFFF"/>
                  </a:solidFill>
                  <a:latin typeface="Trebuchet MS" panose="020B0603020202020204" pitchFamily="34" charset="0"/>
                </a:rPr>
                <a:t>01/11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solidFill>
                    <a:srgbClr val="FFFFFF"/>
                  </a:solidFill>
                  <a:latin typeface="Trebuchet MS" panose="020B0603020202020204" pitchFamily="34" charset="0"/>
                </a:rPr>
                <a:t>FESTIVO</a:t>
              </a:r>
              <a:endParaRPr lang="es-ES" sz="2400" b="1" dirty="0">
                <a:solidFill>
                  <a:srgbClr val="FFFFFF"/>
                </a:solidFill>
                <a:latin typeface="Trebuchet MS" panose="020B0603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4">
            <a:extLst>
              <a:ext uri="{FF2B5EF4-FFF2-40B4-BE49-F238E27FC236}">
                <a16:creationId xmlns:a16="http://schemas.microsoft.com/office/drawing/2014/main" id="{B741FFC9-CDF0-4FCB-9923-150F6AC61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144" y="5734231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322" name="Rectangle 25"/>
          <p:cNvSpPr>
            <a:spLocks noChangeArrowheads="1"/>
          </p:cNvSpPr>
          <p:nvPr/>
        </p:nvSpPr>
        <p:spPr bwMode="auto">
          <a:xfrm>
            <a:off x="2230438" y="5716512"/>
            <a:ext cx="6774666" cy="115956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315" name="Rectangle 4"/>
          <p:cNvSpPr>
            <a:spLocks noChangeArrowheads="1"/>
          </p:cNvSpPr>
          <p:nvPr/>
        </p:nvSpPr>
        <p:spPr bwMode="auto">
          <a:xfrm>
            <a:off x="1476148" y="4656545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316" name="Rectangle 3"/>
          <p:cNvSpPr>
            <a:spLocks noChangeArrowheads="1"/>
          </p:cNvSpPr>
          <p:nvPr/>
        </p:nvSpPr>
        <p:spPr bwMode="auto">
          <a:xfrm>
            <a:off x="1466623" y="2457314"/>
            <a:ext cx="627062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317" name="Rectangle 4"/>
          <p:cNvSpPr>
            <a:spLocks noChangeArrowheads="1"/>
          </p:cNvSpPr>
          <p:nvPr/>
        </p:nvSpPr>
        <p:spPr bwMode="auto">
          <a:xfrm>
            <a:off x="1466623" y="3545748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318" name="Rectangle 7"/>
          <p:cNvSpPr>
            <a:spLocks noChangeArrowheads="1"/>
          </p:cNvSpPr>
          <p:nvPr/>
        </p:nvSpPr>
        <p:spPr bwMode="auto">
          <a:xfrm>
            <a:off x="1466623" y="1352414"/>
            <a:ext cx="627062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319" name="Rectangle 8"/>
          <p:cNvSpPr>
            <a:spLocks noChangeArrowheads="1"/>
          </p:cNvSpPr>
          <p:nvPr/>
        </p:nvSpPr>
        <p:spPr bwMode="auto">
          <a:xfrm>
            <a:off x="1543050" y="464231"/>
            <a:ext cx="8428038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800" b="1" dirty="0">
                <a:solidFill>
                  <a:srgbClr val="CC0000"/>
                </a:solidFill>
                <a:latin typeface="Arial" panose="020B0604020202020204" pitchFamily="34" charset="0"/>
              </a:rPr>
              <a:t>TEMA 3: CONDENSADORES Y DIELÉCTRICOS</a:t>
            </a:r>
          </a:p>
        </p:txBody>
      </p:sp>
      <p:sp>
        <p:nvSpPr>
          <p:cNvPr id="13320" name="Rectangle 14"/>
          <p:cNvSpPr>
            <a:spLocks noChangeArrowheads="1"/>
          </p:cNvSpPr>
          <p:nvPr/>
        </p:nvSpPr>
        <p:spPr bwMode="auto">
          <a:xfrm>
            <a:off x="1444398" y="1311139"/>
            <a:ext cx="708025" cy="4901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3.1.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3.2.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3.3.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3.4.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3.5.</a:t>
            </a:r>
          </a:p>
        </p:txBody>
      </p:sp>
      <p:sp>
        <p:nvSpPr>
          <p:cNvPr id="13321" name="Rectangle 15"/>
          <p:cNvSpPr>
            <a:spLocks noChangeArrowheads="1"/>
          </p:cNvSpPr>
          <p:nvPr/>
        </p:nvSpPr>
        <p:spPr bwMode="auto">
          <a:xfrm>
            <a:off x="2248127" y="1311134"/>
            <a:ext cx="8306032" cy="564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Carga, Campo y Potencial en Conductores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en Equilibrio Electrostático.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Capacidad de un Conductor. Conexión de conductores, a tierra, Jaula de Faraday. Capacidad de Condensador.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Energía Eléctrica almacenada 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un Conductor y en un Condensador.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Circuitos en Equilibrio. Asociación de Condensadores.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Asociación en Serie. Asociación en Paralelo.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Dipolos Eléctricos. Clases de Dieléctricos. Caracterización de un Dieléctrico.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Condensadores y Dieléctricos.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8610251" y="1054327"/>
            <a:ext cx="2059960" cy="1253402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T1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30/10/24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T2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28/10/24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T3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29/10/24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</p:txBody>
      </p:sp>
      <p:sp>
        <p:nvSpPr>
          <p:cNvPr id="14" name="Text Box 84">
            <a:extLst>
              <a:ext uri="{FF2B5EF4-FFF2-40B4-BE49-F238E27FC236}">
                <a16:creationId xmlns:a16="http://schemas.microsoft.com/office/drawing/2014/main" id="{92BB1471-1A76-4F5D-8C65-934F244E9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8848" y="5126013"/>
            <a:ext cx="1913168" cy="905881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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400" b="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400" b="0">
                <a:solidFill>
                  <a:srgbClr val="FF0000"/>
                </a:solidFill>
                <a:latin typeface="Arial" panose="020B0604020202020204" pitchFamily="34" charset="0"/>
              </a:rPr>
              <a:t>Problema</a:t>
            </a:r>
            <a:endParaRPr lang="es-ES" sz="2400" b="0" baseline="-25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16EA0C48-F94F-A7F0-B7F4-0BD8C5A714CB}"/>
              </a:ext>
            </a:extLst>
          </p:cNvPr>
          <p:cNvGrpSpPr/>
          <p:nvPr/>
        </p:nvGrpSpPr>
        <p:grpSpPr>
          <a:xfrm>
            <a:off x="5170304" y="6119105"/>
            <a:ext cx="5442023" cy="654215"/>
            <a:chOff x="5170304" y="6119105"/>
            <a:chExt cx="5442023" cy="654215"/>
          </a:xfrm>
        </p:grpSpPr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0DD7237B-89AE-1081-952C-D19BE91A7093}"/>
                </a:ext>
              </a:extLst>
            </p:cNvPr>
            <p:cNvGrpSpPr/>
            <p:nvPr/>
          </p:nvGrpSpPr>
          <p:grpSpPr>
            <a:xfrm>
              <a:off x="7254251" y="6119105"/>
              <a:ext cx="3358076" cy="654215"/>
              <a:chOff x="7254251" y="5973631"/>
              <a:chExt cx="3358076" cy="654215"/>
            </a:xfrm>
          </p:grpSpPr>
          <p:sp>
            <p:nvSpPr>
              <p:cNvPr id="3" name="Text Box 84">
                <a:extLst>
                  <a:ext uri="{FF2B5EF4-FFF2-40B4-BE49-F238E27FC236}">
                    <a16:creationId xmlns:a16="http://schemas.microsoft.com/office/drawing/2014/main" id="{56EE0B14-4DE6-7481-69B7-ECB6A60EB6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54251" y="6067313"/>
                <a:ext cx="3358076" cy="5365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 b="0">
                    <a:solidFill>
                      <a:srgbClr val="FF0000"/>
                    </a:solidFill>
                    <a:latin typeface="Arial" panose="020B0604020202020204" pitchFamily="34" charset="0"/>
                    <a:sym typeface="Wingdings" panose="05000000000000000000" pitchFamily="2" charset="2"/>
                  </a:rPr>
                  <a:t> </a:t>
                </a:r>
                <a:r>
                  <a:rPr lang="es-ES" sz="2400" b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en la próxima clase</a:t>
                </a:r>
                <a:endParaRPr lang="es-ES" sz="2400" b="0" baseline="-25000" dirty="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cxnSp>
            <p:nvCxnSpPr>
              <p:cNvPr id="4" name="Conector recto 3">
                <a:extLst>
                  <a:ext uri="{FF2B5EF4-FFF2-40B4-BE49-F238E27FC236}">
                    <a16:creationId xmlns:a16="http://schemas.microsoft.com/office/drawing/2014/main" id="{8E56E42D-A34C-3B5C-ECBE-333AF985A8C7}"/>
                  </a:ext>
                </a:extLst>
              </p:cNvPr>
              <p:cNvCxnSpPr/>
              <p:nvPr/>
            </p:nvCxnSpPr>
            <p:spPr bwMode="auto">
              <a:xfrm>
                <a:off x="7346669" y="5973631"/>
                <a:ext cx="0" cy="654215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lg" len="lg"/>
              </a:ln>
              <a:effectLst/>
            </p:spPr>
          </p:cxnSp>
        </p:grp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941FAF15-CC7E-B22F-8259-EBBE29049BDD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6823661" y="4467272"/>
              <a:ext cx="0" cy="3306713"/>
            </a:xfrm>
            <a:prstGeom prst="lin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2" grpId="0" animBg="1"/>
      <p:bldP spid="11" grpId="0" animBg="1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Line 3"/>
          <p:cNvSpPr>
            <a:spLocks noChangeShapeType="1"/>
          </p:cNvSpPr>
          <p:nvPr/>
        </p:nvSpPr>
        <p:spPr bwMode="auto">
          <a:xfrm flipV="1">
            <a:off x="1315825" y="2660706"/>
            <a:ext cx="900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 b="0"/>
          </a:p>
        </p:txBody>
      </p:sp>
      <p:sp>
        <p:nvSpPr>
          <p:cNvPr id="9221" name="Text Box 6"/>
          <p:cNvSpPr txBox="1">
            <a:spLocks noChangeArrowheads="1"/>
          </p:cNvSpPr>
          <p:nvPr/>
        </p:nvSpPr>
        <p:spPr bwMode="auto">
          <a:xfrm>
            <a:off x="3798888" y="6413500"/>
            <a:ext cx="113394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0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10 V</a:t>
            </a:r>
          </a:p>
        </p:txBody>
      </p:sp>
      <p:sp>
        <p:nvSpPr>
          <p:cNvPr id="9222" name="Text Box 7"/>
          <p:cNvSpPr txBox="1">
            <a:spLocks noChangeArrowheads="1"/>
          </p:cNvSpPr>
          <p:nvPr/>
        </p:nvSpPr>
        <p:spPr bwMode="auto">
          <a:xfrm>
            <a:off x="1390650" y="3095625"/>
            <a:ext cx="1270197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000" b="0" baseline="-25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0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 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</a:rPr>
              <a:t>F</a:t>
            </a:r>
            <a:endParaRPr lang="es-ES" sz="2000" b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9223" name="Text Box 8"/>
          <p:cNvSpPr txBox="1">
            <a:spLocks noChangeArrowheads="1"/>
          </p:cNvSpPr>
          <p:nvPr/>
        </p:nvSpPr>
        <p:spPr bwMode="auto">
          <a:xfrm>
            <a:off x="2911475" y="3095625"/>
            <a:ext cx="1270197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000" b="0" baseline="-25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s-ES" sz="20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5 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</a:rPr>
              <a:t>F</a:t>
            </a:r>
            <a:endParaRPr lang="es-ES" sz="2000" b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9224" name="Text Box 9"/>
          <p:cNvSpPr txBox="1">
            <a:spLocks noChangeArrowheads="1"/>
          </p:cNvSpPr>
          <p:nvPr/>
        </p:nvSpPr>
        <p:spPr bwMode="auto">
          <a:xfrm>
            <a:off x="4433888" y="3095625"/>
            <a:ext cx="1270197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000" b="0" baseline="-25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0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4 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</a:rPr>
              <a:t>F</a:t>
            </a:r>
            <a:endParaRPr lang="es-ES" sz="2000" b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9225" name="Group 10"/>
          <p:cNvGrpSpPr>
            <a:grpSpLocks/>
          </p:cNvGrpSpPr>
          <p:nvPr/>
        </p:nvGrpSpPr>
        <p:grpSpPr bwMode="auto">
          <a:xfrm>
            <a:off x="1485900" y="3598863"/>
            <a:ext cx="3986213" cy="2954337"/>
            <a:chOff x="1013" y="2493"/>
            <a:chExt cx="2511" cy="1861"/>
          </a:xfrm>
        </p:grpSpPr>
        <p:grpSp>
          <p:nvGrpSpPr>
            <p:cNvPr id="9249" name="Group 11"/>
            <p:cNvGrpSpPr>
              <a:grpSpLocks/>
            </p:cNvGrpSpPr>
            <p:nvPr/>
          </p:nvGrpSpPr>
          <p:grpSpPr bwMode="auto">
            <a:xfrm>
              <a:off x="2166" y="3987"/>
              <a:ext cx="200" cy="237"/>
              <a:chOff x="8088" y="15201"/>
              <a:chExt cx="340" cy="280"/>
            </a:xfrm>
          </p:grpSpPr>
          <p:sp>
            <p:nvSpPr>
              <p:cNvPr id="9292" name="Line 12"/>
              <p:cNvSpPr>
                <a:spLocks noChangeShapeType="1"/>
              </p:cNvSpPr>
              <p:nvPr/>
            </p:nvSpPr>
            <p:spPr bwMode="auto">
              <a:xfrm>
                <a:off x="8258" y="15201"/>
                <a:ext cx="0" cy="18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9293" name="Line 13"/>
              <p:cNvSpPr>
                <a:spLocks noChangeShapeType="1"/>
              </p:cNvSpPr>
              <p:nvPr/>
            </p:nvSpPr>
            <p:spPr bwMode="auto">
              <a:xfrm>
                <a:off x="8088" y="15384"/>
                <a:ext cx="34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9294" name="Line 14"/>
              <p:cNvSpPr>
                <a:spLocks noChangeShapeType="1"/>
              </p:cNvSpPr>
              <p:nvPr/>
            </p:nvSpPr>
            <p:spPr bwMode="auto">
              <a:xfrm>
                <a:off x="8145" y="15432"/>
                <a:ext cx="227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9295" name="Line 15"/>
              <p:cNvSpPr>
                <a:spLocks noChangeShapeType="1"/>
              </p:cNvSpPr>
              <p:nvPr/>
            </p:nvSpPr>
            <p:spPr bwMode="auto">
              <a:xfrm>
                <a:off x="8202" y="15481"/>
                <a:ext cx="113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grpSp>
          <p:nvGrpSpPr>
            <p:cNvPr id="9250" name="Group 16"/>
            <p:cNvGrpSpPr>
              <a:grpSpLocks/>
            </p:cNvGrpSpPr>
            <p:nvPr/>
          </p:nvGrpSpPr>
          <p:grpSpPr bwMode="auto">
            <a:xfrm>
              <a:off x="1671" y="2770"/>
              <a:ext cx="71" cy="304"/>
              <a:chOff x="4253" y="5198"/>
              <a:chExt cx="121" cy="360"/>
            </a:xfrm>
          </p:grpSpPr>
          <p:sp>
            <p:nvSpPr>
              <p:cNvPr id="9290" name="Line 17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9291" name="Line 18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grpSp>
          <p:nvGrpSpPr>
            <p:cNvPr id="9251" name="Group 19"/>
            <p:cNvGrpSpPr>
              <a:grpSpLocks/>
            </p:cNvGrpSpPr>
            <p:nvPr/>
          </p:nvGrpSpPr>
          <p:grpSpPr bwMode="auto">
            <a:xfrm>
              <a:off x="2838" y="2772"/>
              <a:ext cx="71" cy="305"/>
              <a:chOff x="4253" y="5198"/>
              <a:chExt cx="121" cy="360"/>
            </a:xfrm>
          </p:grpSpPr>
          <p:sp>
            <p:nvSpPr>
              <p:cNvPr id="9288" name="Line 20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9289" name="Line 21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grpSp>
          <p:nvGrpSpPr>
            <p:cNvPr id="9252" name="Group 22"/>
            <p:cNvGrpSpPr>
              <a:grpSpLocks/>
            </p:cNvGrpSpPr>
            <p:nvPr/>
          </p:nvGrpSpPr>
          <p:grpSpPr bwMode="auto">
            <a:xfrm rot="5400000">
              <a:off x="2214" y="3324"/>
              <a:ext cx="103" cy="212"/>
              <a:chOff x="4253" y="5198"/>
              <a:chExt cx="121" cy="360"/>
            </a:xfrm>
          </p:grpSpPr>
          <p:sp>
            <p:nvSpPr>
              <p:cNvPr id="9286" name="Line 23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9287" name="Line 24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sp>
          <p:nvSpPr>
            <p:cNvPr id="9253" name="Line 25"/>
            <p:cNvSpPr>
              <a:spLocks noChangeShapeType="1"/>
            </p:cNvSpPr>
            <p:nvPr/>
          </p:nvSpPr>
          <p:spPr bwMode="auto">
            <a:xfrm flipH="1">
              <a:off x="1108" y="2919"/>
              <a:ext cx="56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9254" name="Text Box 26"/>
            <p:cNvSpPr txBox="1">
              <a:spLocks noChangeArrowheads="1"/>
            </p:cNvSpPr>
            <p:nvPr/>
          </p:nvSpPr>
          <p:spPr bwMode="auto">
            <a:xfrm>
              <a:off x="1401" y="2493"/>
              <a:ext cx="317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="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2</a:t>
              </a:r>
              <a:endPara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9255" name="Text Box 27"/>
            <p:cNvSpPr txBox="1">
              <a:spLocks noChangeArrowheads="1"/>
            </p:cNvSpPr>
            <p:nvPr/>
          </p:nvSpPr>
          <p:spPr bwMode="auto">
            <a:xfrm>
              <a:off x="2571" y="2493"/>
              <a:ext cx="317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="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1</a:t>
              </a:r>
              <a:endPara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9256" name="Group 28"/>
            <p:cNvGrpSpPr>
              <a:grpSpLocks/>
            </p:cNvGrpSpPr>
            <p:nvPr/>
          </p:nvGrpSpPr>
          <p:grpSpPr bwMode="auto">
            <a:xfrm flipH="1">
              <a:off x="2766" y="3835"/>
              <a:ext cx="37" cy="304"/>
              <a:chOff x="5153" y="6274"/>
              <a:chExt cx="63" cy="360"/>
            </a:xfrm>
          </p:grpSpPr>
          <p:sp>
            <p:nvSpPr>
              <p:cNvPr id="9284" name="Line 29"/>
              <p:cNvSpPr>
                <a:spLocks noChangeShapeType="1"/>
              </p:cNvSpPr>
              <p:nvPr/>
            </p:nvSpPr>
            <p:spPr bwMode="auto">
              <a:xfrm>
                <a:off x="5216" y="6357"/>
                <a:ext cx="0" cy="193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9285" name="Line 30"/>
              <p:cNvSpPr>
                <a:spLocks noChangeShapeType="1"/>
              </p:cNvSpPr>
              <p:nvPr/>
            </p:nvSpPr>
            <p:spPr bwMode="auto">
              <a:xfrm>
                <a:off x="5153" y="6274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sp>
          <p:nvSpPr>
            <p:cNvPr id="9257" name="Line 31"/>
            <p:cNvSpPr>
              <a:spLocks noChangeShapeType="1"/>
            </p:cNvSpPr>
            <p:nvPr/>
          </p:nvSpPr>
          <p:spPr bwMode="auto">
            <a:xfrm flipH="1">
              <a:off x="2803" y="3987"/>
              <a:ext cx="634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9258" name="Text Box 32"/>
            <p:cNvSpPr txBox="1">
              <a:spLocks noChangeArrowheads="1"/>
            </p:cNvSpPr>
            <p:nvPr/>
          </p:nvSpPr>
          <p:spPr bwMode="auto">
            <a:xfrm>
              <a:off x="1864" y="3261"/>
              <a:ext cx="317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="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3</a:t>
              </a:r>
              <a:endPara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9259" name="Line 33"/>
            <p:cNvSpPr>
              <a:spLocks noChangeShapeType="1"/>
            </p:cNvSpPr>
            <p:nvPr/>
          </p:nvSpPr>
          <p:spPr bwMode="auto">
            <a:xfrm flipH="1">
              <a:off x="1747" y="2922"/>
              <a:ext cx="1091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9260" name="Line 34"/>
            <p:cNvSpPr>
              <a:spLocks noChangeShapeType="1"/>
            </p:cNvSpPr>
            <p:nvPr/>
          </p:nvSpPr>
          <p:spPr bwMode="auto">
            <a:xfrm>
              <a:off x="1118" y="2922"/>
              <a:ext cx="0" cy="106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9261" name="Line 35"/>
            <p:cNvSpPr>
              <a:spLocks noChangeShapeType="1"/>
            </p:cNvSpPr>
            <p:nvPr/>
          </p:nvSpPr>
          <p:spPr bwMode="auto">
            <a:xfrm>
              <a:off x="3419" y="2922"/>
              <a:ext cx="0" cy="106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9262" name="Line 36"/>
            <p:cNvSpPr>
              <a:spLocks noChangeShapeType="1"/>
            </p:cNvSpPr>
            <p:nvPr/>
          </p:nvSpPr>
          <p:spPr bwMode="auto">
            <a:xfrm>
              <a:off x="2909" y="2922"/>
              <a:ext cx="52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9263" name="Line 37"/>
            <p:cNvSpPr>
              <a:spLocks noChangeShapeType="1"/>
            </p:cNvSpPr>
            <p:nvPr/>
          </p:nvSpPr>
          <p:spPr bwMode="auto">
            <a:xfrm flipV="1">
              <a:off x="2266" y="2922"/>
              <a:ext cx="0" cy="45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9264" name="Line 38"/>
            <p:cNvSpPr>
              <a:spLocks noChangeShapeType="1"/>
            </p:cNvSpPr>
            <p:nvPr/>
          </p:nvSpPr>
          <p:spPr bwMode="auto">
            <a:xfrm flipV="1">
              <a:off x="2266" y="3484"/>
              <a:ext cx="0" cy="50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grpSp>
          <p:nvGrpSpPr>
            <p:cNvPr id="9265" name="Group 39"/>
            <p:cNvGrpSpPr>
              <a:grpSpLocks/>
            </p:cNvGrpSpPr>
            <p:nvPr/>
          </p:nvGrpSpPr>
          <p:grpSpPr bwMode="auto">
            <a:xfrm>
              <a:off x="1676" y="3838"/>
              <a:ext cx="71" cy="304"/>
              <a:chOff x="4253" y="5198"/>
              <a:chExt cx="121" cy="360"/>
            </a:xfrm>
          </p:grpSpPr>
          <p:sp>
            <p:nvSpPr>
              <p:cNvPr id="9282" name="Line 40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9283" name="Line 41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sp>
          <p:nvSpPr>
            <p:cNvPr id="9266" name="Line 42"/>
            <p:cNvSpPr>
              <a:spLocks noChangeShapeType="1"/>
            </p:cNvSpPr>
            <p:nvPr/>
          </p:nvSpPr>
          <p:spPr bwMode="auto">
            <a:xfrm flipH="1">
              <a:off x="1113" y="3987"/>
              <a:ext cx="56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9267" name="Text Box 43"/>
            <p:cNvSpPr txBox="1">
              <a:spLocks noChangeArrowheads="1"/>
            </p:cNvSpPr>
            <p:nvPr/>
          </p:nvSpPr>
          <p:spPr bwMode="auto">
            <a:xfrm>
              <a:off x="1401" y="3589"/>
              <a:ext cx="31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="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4</a:t>
              </a:r>
              <a:endPara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9268" name="Line 44"/>
            <p:cNvSpPr>
              <a:spLocks noChangeShapeType="1"/>
            </p:cNvSpPr>
            <p:nvPr/>
          </p:nvSpPr>
          <p:spPr bwMode="auto">
            <a:xfrm flipH="1">
              <a:off x="1752" y="3987"/>
              <a:ext cx="101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9269" name="Oval 45"/>
            <p:cNvSpPr>
              <a:spLocks noChangeArrowheads="1"/>
            </p:cNvSpPr>
            <p:nvPr/>
          </p:nvSpPr>
          <p:spPr bwMode="auto">
            <a:xfrm>
              <a:off x="1073" y="2875"/>
              <a:ext cx="91" cy="91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70" name="Oval 46"/>
            <p:cNvSpPr>
              <a:spLocks noChangeArrowheads="1"/>
            </p:cNvSpPr>
            <p:nvPr/>
          </p:nvSpPr>
          <p:spPr bwMode="auto">
            <a:xfrm>
              <a:off x="1073" y="3945"/>
              <a:ext cx="91" cy="91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71" name="Oval 47"/>
            <p:cNvSpPr>
              <a:spLocks noChangeArrowheads="1"/>
            </p:cNvSpPr>
            <p:nvPr/>
          </p:nvSpPr>
          <p:spPr bwMode="auto">
            <a:xfrm>
              <a:off x="2220" y="2875"/>
              <a:ext cx="91" cy="91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72" name="Oval 48"/>
            <p:cNvSpPr>
              <a:spLocks noChangeArrowheads="1"/>
            </p:cNvSpPr>
            <p:nvPr/>
          </p:nvSpPr>
          <p:spPr bwMode="auto">
            <a:xfrm>
              <a:off x="3373" y="2882"/>
              <a:ext cx="91" cy="91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73" name="Oval 49"/>
            <p:cNvSpPr>
              <a:spLocks noChangeArrowheads="1"/>
            </p:cNvSpPr>
            <p:nvPr/>
          </p:nvSpPr>
          <p:spPr bwMode="auto">
            <a:xfrm>
              <a:off x="2220" y="3939"/>
              <a:ext cx="91" cy="91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74" name="Oval 50"/>
            <p:cNvSpPr>
              <a:spLocks noChangeArrowheads="1"/>
            </p:cNvSpPr>
            <p:nvPr/>
          </p:nvSpPr>
          <p:spPr bwMode="auto">
            <a:xfrm>
              <a:off x="3373" y="3939"/>
              <a:ext cx="91" cy="91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75" name="Text Box 51"/>
            <p:cNvSpPr txBox="1">
              <a:spLocks noChangeArrowheads="1"/>
            </p:cNvSpPr>
            <p:nvPr/>
          </p:nvSpPr>
          <p:spPr bwMode="auto">
            <a:xfrm>
              <a:off x="1013" y="2618"/>
              <a:ext cx="211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9276" name="Text Box 52"/>
            <p:cNvSpPr txBox="1">
              <a:spLocks noChangeArrowheads="1"/>
            </p:cNvSpPr>
            <p:nvPr/>
          </p:nvSpPr>
          <p:spPr bwMode="auto">
            <a:xfrm>
              <a:off x="2160" y="2618"/>
              <a:ext cx="211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9277" name="Text Box 53"/>
            <p:cNvSpPr txBox="1">
              <a:spLocks noChangeArrowheads="1"/>
            </p:cNvSpPr>
            <p:nvPr/>
          </p:nvSpPr>
          <p:spPr bwMode="auto">
            <a:xfrm>
              <a:off x="3313" y="2618"/>
              <a:ext cx="211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9278" name="Text Box 54"/>
            <p:cNvSpPr txBox="1">
              <a:spLocks noChangeArrowheads="1"/>
            </p:cNvSpPr>
            <p:nvPr/>
          </p:nvSpPr>
          <p:spPr bwMode="auto">
            <a:xfrm>
              <a:off x="1013" y="4049"/>
              <a:ext cx="211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9279" name="Text Box 55"/>
            <p:cNvSpPr txBox="1">
              <a:spLocks noChangeArrowheads="1"/>
            </p:cNvSpPr>
            <p:nvPr/>
          </p:nvSpPr>
          <p:spPr bwMode="auto">
            <a:xfrm>
              <a:off x="2034" y="3700"/>
              <a:ext cx="211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9280" name="Text Box 56"/>
            <p:cNvSpPr txBox="1">
              <a:spLocks noChangeArrowheads="1"/>
            </p:cNvSpPr>
            <p:nvPr/>
          </p:nvSpPr>
          <p:spPr bwMode="auto">
            <a:xfrm>
              <a:off x="3313" y="4049"/>
              <a:ext cx="211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F</a:t>
              </a:r>
            </a:p>
          </p:txBody>
        </p:sp>
        <p:sp>
          <p:nvSpPr>
            <p:cNvPr id="9281" name="Text Box 57"/>
            <p:cNvSpPr txBox="1">
              <a:spLocks noChangeArrowheads="1"/>
            </p:cNvSpPr>
            <p:nvPr/>
          </p:nvSpPr>
          <p:spPr bwMode="auto">
            <a:xfrm>
              <a:off x="2812" y="3599"/>
              <a:ext cx="2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8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  <a:sym typeface="Symbol" panose="05050102010706020507" pitchFamily="18" charset="2"/>
                </a:rPr>
                <a:t></a:t>
              </a:r>
            </a:p>
          </p:txBody>
        </p:sp>
      </p:grpSp>
      <p:grpSp>
        <p:nvGrpSpPr>
          <p:cNvPr id="9" name="Group 59"/>
          <p:cNvGrpSpPr>
            <a:grpSpLocks/>
          </p:cNvGrpSpPr>
          <p:nvPr/>
        </p:nvGrpSpPr>
        <p:grpSpPr bwMode="auto">
          <a:xfrm>
            <a:off x="2230438" y="3779833"/>
            <a:ext cx="2554288" cy="2641596"/>
            <a:chOff x="1405" y="2381"/>
            <a:chExt cx="1609" cy="1664"/>
          </a:xfrm>
        </p:grpSpPr>
        <p:sp>
          <p:nvSpPr>
            <p:cNvPr id="9241" name="Text Box 60"/>
            <p:cNvSpPr txBox="1">
              <a:spLocks noChangeArrowheads="1"/>
            </p:cNvSpPr>
            <p:nvPr/>
          </p:nvSpPr>
          <p:spPr bwMode="auto">
            <a:xfrm>
              <a:off x="2806" y="2383"/>
              <a:ext cx="208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9242" name="Text Box 61"/>
            <p:cNvSpPr txBox="1">
              <a:spLocks noChangeArrowheads="1"/>
            </p:cNvSpPr>
            <p:nvPr/>
          </p:nvSpPr>
          <p:spPr bwMode="auto">
            <a:xfrm>
              <a:off x="2591" y="2382"/>
              <a:ext cx="168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9243" name="Text Box 62"/>
            <p:cNvSpPr txBox="1">
              <a:spLocks noChangeArrowheads="1"/>
            </p:cNvSpPr>
            <p:nvPr/>
          </p:nvSpPr>
          <p:spPr bwMode="auto">
            <a:xfrm>
              <a:off x="1645" y="2382"/>
              <a:ext cx="208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9244" name="Text Box 63"/>
            <p:cNvSpPr txBox="1">
              <a:spLocks noChangeArrowheads="1"/>
            </p:cNvSpPr>
            <p:nvPr/>
          </p:nvSpPr>
          <p:spPr bwMode="auto">
            <a:xfrm>
              <a:off x="1430" y="2381"/>
              <a:ext cx="168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9245" name="Text Box 64"/>
            <p:cNvSpPr txBox="1">
              <a:spLocks noChangeArrowheads="1"/>
            </p:cNvSpPr>
            <p:nvPr/>
          </p:nvSpPr>
          <p:spPr bwMode="auto">
            <a:xfrm>
              <a:off x="2195" y="2909"/>
              <a:ext cx="208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9246" name="Text Box 65"/>
            <p:cNvSpPr txBox="1">
              <a:spLocks noChangeArrowheads="1"/>
            </p:cNvSpPr>
            <p:nvPr/>
          </p:nvSpPr>
          <p:spPr bwMode="auto">
            <a:xfrm>
              <a:off x="2215" y="3146"/>
              <a:ext cx="168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9247" name="Text Box 66"/>
            <p:cNvSpPr txBox="1">
              <a:spLocks noChangeArrowheads="1"/>
            </p:cNvSpPr>
            <p:nvPr/>
          </p:nvSpPr>
          <p:spPr bwMode="auto">
            <a:xfrm>
              <a:off x="1405" y="3746"/>
              <a:ext cx="208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9248" name="Text Box 67"/>
            <p:cNvSpPr txBox="1">
              <a:spLocks noChangeArrowheads="1"/>
            </p:cNvSpPr>
            <p:nvPr/>
          </p:nvSpPr>
          <p:spPr bwMode="auto">
            <a:xfrm>
              <a:off x="1659" y="3735"/>
              <a:ext cx="168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</p:grpSp>
      <p:sp>
        <p:nvSpPr>
          <p:cNvPr id="33813" name="Text Box 83"/>
          <p:cNvSpPr txBox="1">
            <a:spLocks noChangeArrowheads="1"/>
          </p:cNvSpPr>
          <p:nvPr/>
        </p:nvSpPr>
        <p:spPr bwMode="auto">
          <a:xfrm>
            <a:off x="3959225" y="5900738"/>
            <a:ext cx="697925" cy="474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FF0000"/>
                </a:solidFill>
                <a:latin typeface="Arial" panose="020B0604020202020204" pitchFamily="34" charset="0"/>
              </a:rPr>
              <a:t>-    +</a:t>
            </a:r>
          </a:p>
        </p:txBody>
      </p:sp>
      <p:grpSp>
        <p:nvGrpSpPr>
          <p:cNvPr id="33888" name="Group 96"/>
          <p:cNvGrpSpPr>
            <a:grpSpLocks/>
          </p:cNvGrpSpPr>
          <p:nvPr/>
        </p:nvGrpSpPr>
        <p:grpSpPr bwMode="auto">
          <a:xfrm>
            <a:off x="2833688" y="5386388"/>
            <a:ext cx="1206500" cy="392112"/>
            <a:chOff x="1785" y="3393"/>
            <a:chExt cx="760" cy="247"/>
          </a:xfrm>
        </p:grpSpPr>
        <p:sp>
          <p:nvSpPr>
            <p:cNvPr id="9239" name="Line 89"/>
            <p:cNvSpPr>
              <a:spLocks noChangeShapeType="1"/>
            </p:cNvSpPr>
            <p:nvPr/>
          </p:nvSpPr>
          <p:spPr bwMode="auto">
            <a:xfrm flipH="1" flipV="1">
              <a:off x="1785" y="3633"/>
              <a:ext cx="760" cy="7"/>
            </a:xfrm>
            <a:prstGeom prst="line">
              <a:avLst/>
            </a:prstGeom>
            <a:noFill/>
            <a:ln w="25400">
              <a:solidFill>
                <a:srgbClr val="993300"/>
              </a:solidFill>
              <a:prstDash val="dash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9240" name="Line 90"/>
            <p:cNvSpPr>
              <a:spLocks noChangeShapeType="1"/>
            </p:cNvSpPr>
            <p:nvPr/>
          </p:nvSpPr>
          <p:spPr bwMode="auto">
            <a:xfrm flipV="1">
              <a:off x="2260" y="3393"/>
              <a:ext cx="0" cy="240"/>
            </a:xfrm>
            <a:prstGeom prst="line">
              <a:avLst/>
            </a:prstGeom>
            <a:noFill/>
            <a:ln w="25400">
              <a:solidFill>
                <a:srgbClr val="993300"/>
              </a:solidFill>
              <a:prstDash val="dash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b="0"/>
            </a:p>
          </p:txBody>
        </p:sp>
      </p:grpSp>
      <p:sp>
        <p:nvSpPr>
          <p:cNvPr id="33883" name="Freeform 91"/>
          <p:cNvSpPr>
            <a:spLocks/>
          </p:cNvSpPr>
          <p:nvPr/>
        </p:nvSpPr>
        <p:spPr bwMode="auto">
          <a:xfrm flipH="1" flipV="1">
            <a:off x="1798638" y="4400550"/>
            <a:ext cx="503237" cy="1376363"/>
          </a:xfrm>
          <a:custGeom>
            <a:avLst/>
            <a:gdLst>
              <a:gd name="T0" fmla="*/ 2147483646 w 317"/>
              <a:gd name="T1" fmla="*/ 0 h 867"/>
              <a:gd name="T2" fmla="*/ 2147483646 w 317"/>
              <a:gd name="T3" fmla="*/ 0 h 867"/>
              <a:gd name="T4" fmla="*/ 2147483646 w 317"/>
              <a:gd name="T5" fmla="*/ 2147483646 h 867"/>
              <a:gd name="T6" fmla="*/ 0 w 317"/>
              <a:gd name="T7" fmla="*/ 2147483646 h 86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17" h="867">
                <a:moveTo>
                  <a:pt x="13" y="0"/>
                </a:moveTo>
                <a:lnTo>
                  <a:pt x="317" y="0"/>
                </a:lnTo>
                <a:lnTo>
                  <a:pt x="317" y="867"/>
                </a:lnTo>
                <a:lnTo>
                  <a:pt x="0" y="867"/>
                </a:lnTo>
              </a:path>
            </a:pathLst>
          </a:custGeom>
          <a:noFill/>
          <a:ln w="25400" cap="flat" cmpd="sng">
            <a:solidFill>
              <a:srgbClr val="993300"/>
            </a:solidFill>
            <a:prstDash val="dash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b="0"/>
          </a:p>
        </p:txBody>
      </p:sp>
      <p:grpSp>
        <p:nvGrpSpPr>
          <p:cNvPr id="33887" name="Group 95"/>
          <p:cNvGrpSpPr>
            <a:grpSpLocks/>
          </p:cNvGrpSpPr>
          <p:nvPr/>
        </p:nvGrpSpPr>
        <p:grpSpPr bwMode="auto">
          <a:xfrm>
            <a:off x="4611688" y="4441825"/>
            <a:ext cx="503237" cy="1376363"/>
            <a:chOff x="2905" y="2798"/>
            <a:chExt cx="317" cy="867"/>
          </a:xfrm>
        </p:grpSpPr>
        <p:sp>
          <p:nvSpPr>
            <p:cNvPr id="9237" name="Freeform 88"/>
            <p:cNvSpPr>
              <a:spLocks/>
            </p:cNvSpPr>
            <p:nvPr/>
          </p:nvSpPr>
          <p:spPr bwMode="auto">
            <a:xfrm>
              <a:off x="2905" y="2798"/>
              <a:ext cx="317" cy="867"/>
            </a:xfrm>
            <a:custGeom>
              <a:avLst/>
              <a:gdLst>
                <a:gd name="T0" fmla="*/ 13 w 317"/>
                <a:gd name="T1" fmla="*/ 0 h 867"/>
                <a:gd name="T2" fmla="*/ 317 w 317"/>
                <a:gd name="T3" fmla="*/ 0 h 867"/>
                <a:gd name="T4" fmla="*/ 317 w 317"/>
                <a:gd name="T5" fmla="*/ 867 h 867"/>
                <a:gd name="T6" fmla="*/ 0 w 317"/>
                <a:gd name="T7" fmla="*/ 867 h 8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7" h="867">
                  <a:moveTo>
                    <a:pt x="13" y="0"/>
                  </a:moveTo>
                  <a:lnTo>
                    <a:pt x="317" y="0"/>
                  </a:lnTo>
                  <a:lnTo>
                    <a:pt x="317" y="867"/>
                  </a:lnTo>
                  <a:lnTo>
                    <a:pt x="0" y="867"/>
                  </a:lnTo>
                </a:path>
              </a:pathLst>
            </a:custGeom>
            <a:noFill/>
            <a:ln w="25400" cap="flat" cmpd="sng">
              <a:solidFill>
                <a:srgbClr val="993300"/>
              </a:solidFill>
              <a:prstDash val="dash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9238" name="Text Box 92"/>
            <p:cNvSpPr txBox="1">
              <a:spLocks noChangeArrowheads="1"/>
            </p:cNvSpPr>
            <p:nvPr/>
          </p:nvSpPr>
          <p:spPr bwMode="auto">
            <a:xfrm>
              <a:off x="2936" y="3068"/>
              <a:ext cx="24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0">
                  <a:solidFill>
                    <a:srgbClr val="993300"/>
                  </a:solidFill>
                </a:rPr>
                <a:t>e</a:t>
              </a:r>
              <a:r>
                <a:rPr lang="es-ES" b="0" baseline="30000">
                  <a:solidFill>
                    <a:srgbClr val="993300"/>
                  </a:solidFill>
                </a:rPr>
                <a:t>-</a:t>
              </a:r>
            </a:p>
          </p:txBody>
        </p:sp>
      </p:grpSp>
      <p:grpSp>
        <p:nvGrpSpPr>
          <p:cNvPr id="33889" name="Group 97"/>
          <p:cNvGrpSpPr>
            <a:grpSpLocks/>
          </p:cNvGrpSpPr>
          <p:nvPr/>
        </p:nvGrpSpPr>
        <p:grpSpPr bwMode="auto">
          <a:xfrm>
            <a:off x="2860675" y="4406895"/>
            <a:ext cx="1206500" cy="419100"/>
            <a:chOff x="1802" y="2776"/>
            <a:chExt cx="760" cy="264"/>
          </a:xfrm>
        </p:grpSpPr>
        <p:sp>
          <p:nvSpPr>
            <p:cNvPr id="9235" name="Line 93"/>
            <p:cNvSpPr>
              <a:spLocks noChangeShapeType="1"/>
            </p:cNvSpPr>
            <p:nvPr/>
          </p:nvSpPr>
          <p:spPr bwMode="auto">
            <a:xfrm flipV="1">
              <a:off x="1802" y="2776"/>
              <a:ext cx="760" cy="7"/>
            </a:xfrm>
            <a:prstGeom prst="line">
              <a:avLst/>
            </a:prstGeom>
            <a:noFill/>
            <a:ln w="25400">
              <a:solidFill>
                <a:srgbClr val="993300"/>
              </a:solidFill>
              <a:prstDash val="dash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9236" name="Line 94"/>
            <p:cNvSpPr>
              <a:spLocks noChangeShapeType="1"/>
            </p:cNvSpPr>
            <p:nvPr/>
          </p:nvSpPr>
          <p:spPr bwMode="auto">
            <a:xfrm flipV="1">
              <a:off x="2104" y="2800"/>
              <a:ext cx="0" cy="240"/>
            </a:xfrm>
            <a:prstGeom prst="line">
              <a:avLst/>
            </a:prstGeom>
            <a:noFill/>
            <a:ln w="25400">
              <a:solidFill>
                <a:srgbClr val="993300"/>
              </a:solidFill>
              <a:prstDash val="dash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b="0"/>
            </a:p>
          </p:txBody>
        </p:sp>
      </p:grpSp>
      <p:sp>
        <p:nvSpPr>
          <p:cNvPr id="9234" name="Text Box 44"/>
          <p:cNvSpPr txBox="1">
            <a:spLocks noChangeArrowheads="1"/>
          </p:cNvSpPr>
          <p:nvPr/>
        </p:nvSpPr>
        <p:spPr bwMode="auto">
          <a:xfrm>
            <a:off x="3635391" y="98621"/>
            <a:ext cx="4241674" cy="461665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BOLETÍN 2 - PROBLEMA 15</a:t>
            </a:r>
          </a:p>
        </p:txBody>
      </p:sp>
      <p:sp>
        <p:nvSpPr>
          <p:cNvPr id="79" name="Text Box 92"/>
          <p:cNvSpPr txBox="1">
            <a:spLocks noChangeArrowheads="1"/>
          </p:cNvSpPr>
          <p:nvPr/>
        </p:nvSpPr>
        <p:spPr bwMode="auto">
          <a:xfrm>
            <a:off x="3682209" y="5376863"/>
            <a:ext cx="38576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b="0">
                <a:solidFill>
                  <a:srgbClr val="993300"/>
                </a:solidFill>
              </a:rPr>
              <a:t>e</a:t>
            </a:r>
            <a:r>
              <a:rPr lang="es-ES" b="0" baseline="30000">
                <a:solidFill>
                  <a:srgbClr val="993300"/>
                </a:solidFill>
              </a:rPr>
              <a:t>-</a:t>
            </a:r>
          </a:p>
        </p:txBody>
      </p:sp>
      <p:sp>
        <p:nvSpPr>
          <p:cNvPr id="81" name="Text Box 92"/>
          <p:cNvSpPr txBox="1">
            <a:spLocks noChangeArrowheads="1"/>
          </p:cNvSpPr>
          <p:nvPr/>
        </p:nvSpPr>
        <p:spPr bwMode="auto">
          <a:xfrm>
            <a:off x="1818482" y="4887916"/>
            <a:ext cx="38576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b="0">
                <a:solidFill>
                  <a:srgbClr val="993300"/>
                </a:solidFill>
              </a:rPr>
              <a:t>e</a:t>
            </a:r>
            <a:r>
              <a:rPr lang="es-ES" b="0" baseline="30000">
                <a:solidFill>
                  <a:srgbClr val="993300"/>
                </a:solidFill>
              </a:rPr>
              <a:t>-</a:t>
            </a:r>
          </a:p>
        </p:txBody>
      </p:sp>
      <p:sp>
        <p:nvSpPr>
          <p:cNvPr id="82" name="Text Box 92"/>
          <p:cNvSpPr txBox="1">
            <a:spLocks noChangeArrowheads="1"/>
          </p:cNvSpPr>
          <p:nvPr/>
        </p:nvSpPr>
        <p:spPr bwMode="auto">
          <a:xfrm>
            <a:off x="2875361" y="4395790"/>
            <a:ext cx="38576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b="0">
                <a:solidFill>
                  <a:srgbClr val="993300"/>
                </a:solidFill>
              </a:rPr>
              <a:t>e</a:t>
            </a:r>
            <a:r>
              <a:rPr lang="es-ES" b="0" baseline="30000">
                <a:solidFill>
                  <a:srgbClr val="993300"/>
                </a:solidFill>
              </a:rPr>
              <a:t>-</a:t>
            </a:r>
          </a:p>
        </p:txBody>
      </p:sp>
      <p:sp>
        <p:nvSpPr>
          <p:cNvPr id="83" name="Rectangle 5">
            <a:extLst>
              <a:ext uri="{FF2B5EF4-FFF2-40B4-BE49-F238E27FC236}">
                <a16:creationId xmlns:a16="http://schemas.microsoft.com/office/drawing/2014/main" id="{D17F15C2-090F-4537-809F-AAE14595A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337" y="613404"/>
            <a:ext cx="9308950" cy="1941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s-ES_tradnl" sz="2400" b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Determinar alcanzado el equilibrio, la capacidad del condensador 4 si la carga del condensador 1 es de 25 </a:t>
            </a:r>
            <a:r>
              <a:rPr lang="es-ES_tradnl" sz="2400" b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_tradnl" sz="2400" b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C. Luego, calcular: 1º) La capacidad equivalente de la asociación. 2º) La carga adquirida por cada condensador. 3º) La energía almacenada en la asociación. Y 4º) el potencial eléctrico en los puntos A, B, C, D, E y F.</a:t>
            </a:r>
            <a:endParaRPr lang="es-ES_tradnl" sz="2400" b="0" u="sng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84" name="Text Box 77">
            <a:extLst>
              <a:ext uri="{FF2B5EF4-FFF2-40B4-BE49-F238E27FC236}">
                <a16:creationId xmlns:a16="http://schemas.microsoft.com/office/drawing/2014/main" id="{78A664F5-227C-420D-A7C0-9C1BF1F7F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3461" y="3300905"/>
            <a:ext cx="4202364" cy="164454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Suponer primero la </a:t>
            </a:r>
            <a:r>
              <a:rPr lang="es-ES" sz="2400" b="0" dirty="0">
                <a:solidFill>
                  <a:srgbClr val="0000FF"/>
                </a:solidFill>
                <a:latin typeface="Arial" panose="020B0604020202020204" pitchFamily="34" charset="0"/>
              </a:rPr>
              <a:t>polaridad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de cada condensador.                 Y si hay contradicción al resolver, era al revés</a:t>
            </a:r>
          </a:p>
        </p:txBody>
      </p:sp>
      <p:sp>
        <p:nvSpPr>
          <p:cNvPr id="85" name="Text Box 84">
            <a:extLst>
              <a:ext uri="{FF2B5EF4-FFF2-40B4-BE49-F238E27FC236}">
                <a16:creationId xmlns:a16="http://schemas.microsoft.com/office/drawing/2014/main" id="{65ADCE09-9661-45F2-B7CF-5F33D6EC9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3461" y="5120213"/>
            <a:ext cx="4202364" cy="1644545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Decidir la polaridad intuyendo el sentido de las corrientes de e</a:t>
            </a:r>
            <a:r>
              <a:rPr lang="es-ES" sz="2400" b="0" baseline="30000" dirty="0">
                <a:latin typeface="Arial" panose="020B0604020202020204" pitchFamily="34" charset="0"/>
              </a:rPr>
              <a:t>-</a:t>
            </a:r>
            <a:r>
              <a:rPr lang="es-ES" sz="2400" b="0" dirty="0">
                <a:latin typeface="Arial" panose="020B0604020202020204" pitchFamily="34" charset="0"/>
              </a:rPr>
              <a:t>, o de “q</a:t>
            </a:r>
            <a:r>
              <a:rPr lang="es-ES" sz="2400" b="0" baseline="30000" dirty="0">
                <a:latin typeface="Arial" panose="020B0604020202020204" pitchFamily="34" charset="0"/>
              </a:rPr>
              <a:t>+</a:t>
            </a:r>
            <a:r>
              <a:rPr lang="es-ES" sz="2400" b="0" dirty="0">
                <a:latin typeface="Arial" panose="020B0604020202020204" pitchFamily="34" charset="0"/>
              </a:rPr>
              <a:t>”, antes de llegar al equilibrio</a:t>
            </a:r>
          </a:p>
        </p:txBody>
      </p:sp>
    </p:spTree>
    <p:extLst>
      <p:ext uri="{BB962C8B-B14F-4D97-AF65-F5344CB8AC3E}">
        <p14:creationId xmlns:p14="http://schemas.microsoft.com/office/powerpoint/2010/main" val="3468500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38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8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3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8" dur="500"/>
                                        <p:tgtEl>
                                          <p:spTgt spid="33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3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4" dur="500"/>
                                        <p:tgtEl>
                                          <p:spTgt spid="33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13" grpId="0"/>
      <p:bldP spid="33883" grpId="0" animBg="1"/>
      <p:bldP spid="79" grpId="0"/>
      <p:bldP spid="81" grpId="0"/>
      <p:bldP spid="82" grpId="0"/>
      <p:bldP spid="84" grpId="0" animBg="1"/>
      <p:bldP spid="8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B06E8CA9-5B2E-4916-B531-AC2495625C00}"/>
              </a:ext>
            </a:extLst>
          </p:cNvPr>
          <p:cNvSpPr/>
          <p:nvPr/>
        </p:nvSpPr>
        <p:spPr bwMode="auto">
          <a:xfrm>
            <a:off x="3380537" y="1036112"/>
            <a:ext cx="1692000" cy="1512000"/>
          </a:xfrm>
          <a:prstGeom prst="rect">
            <a:avLst/>
          </a:prstGeom>
          <a:solidFill>
            <a:srgbClr val="CCFFCC"/>
          </a:solidFill>
          <a:ln w="28575" cap="flat" cmpd="sng" algn="ctr">
            <a:solidFill>
              <a:srgbClr val="008000"/>
            </a:solidFill>
            <a:prstDash val="dash"/>
            <a:round/>
            <a:headEnd type="none" w="med" len="med"/>
            <a:tailEnd type="none" w="lg" len="lg"/>
          </a:ln>
          <a:effectLst/>
        </p:spPr>
        <p:txBody>
          <a:bodyPr rot="0" spcFirstLastPara="0" vertOverflow="overflow" horzOverflow="overflow" vert="horz" wrap="none" lIns="90000" tIns="82800" rIns="90000" bIns="82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11267" name="Group 16"/>
          <p:cNvGrpSpPr>
            <a:grpSpLocks/>
          </p:cNvGrpSpPr>
          <p:nvPr/>
        </p:nvGrpSpPr>
        <p:grpSpPr bwMode="auto">
          <a:xfrm>
            <a:off x="2364219" y="712788"/>
            <a:ext cx="112713" cy="482600"/>
            <a:chOff x="4253" y="5198"/>
            <a:chExt cx="121" cy="360"/>
          </a:xfrm>
        </p:grpSpPr>
        <p:sp>
          <p:nvSpPr>
            <p:cNvPr id="11368" name="Line 17"/>
            <p:cNvSpPr>
              <a:spLocks noChangeShapeType="1"/>
            </p:cNvSpPr>
            <p:nvPr/>
          </p:nvSpPr>
          <p:spPr bwMode="auto">
            <a:xfrm>
              <a:off x="4374" y="5198"/>
              <a:ext cx="0" cy="36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1369" name="Line 18"/>
            <p:cNvSpPr>
              <a:spLocks noChangeShapeType="1"/>
            </p:cNvSpPr>
            <p:nvPr/>
          </p:nvSpPr>
          <p:spPr bwMode="auto">
            <a:xfrm>
              <a:off x="4253" y="5198"/>
              <a:ext cx="0" cy="36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</p:grpSp>
      <p:grpSp>
        <p:nvGrpSpPr>
          <p:cNvPr id="11268" name="Group 19"/>
          <p:cNvGrpSpPr>
            <a:grpSpLocks/>
          </p:cNvGrpSpPr>
          <p:nvPr/>
        </p:nvGrpSpPr>
        <p:grpSpPr bwMode="auto">
          <a:xfrm>
            <a:off x="4216832" y="715963"/>
            <a:ext cx="112712" cy="484187"/>
            <a:chOff x="4253" y="5198"/>
            <a:chExt cx="121" cy="360"/>
          </a:xfrm>
        </p:grpSpPr>
        <p:sp>
          <p:nvSpPr>
            <p:cNvPr id="11366" name="Line 20"/>
            <p:cNvSpPr>
              <a:spLocks noChangeShapeType="1"/>
            </p:cNvSpPr>
            <p:nvPr/>
          </p:nvSpPr>
          <p:spPr bwMode="auto">
            <a:xfrm>
              <a:off x="4374" y="5198"/>
              <a:ext cx="0" cy="36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1367" name="Line 21"/>
            <p:cNvSpPr>
              <a:spLocks noChangeShapeType="1"/>
            </p:cNvSpPr>
            <p:nvPr/>
          </p:nvSpPr>
          <p:spPr bwMode="auto">
            <a:xfrm>
              <a:off x="4253" y="5198"/>
              <a:ext cx="0" cy="36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</p:grpSp>
      <p:grpSp>
        <p:nvGrpSpPr>
          <p:cNvPr id="11269" name="Group 22"/>
          <p:cNvGrpSpPr>
            <a:grpSpLocks/>
          </p:cNvGrpSpPr>
          <p:nvPr/>
        </p:nvGrpSpPr>
        <p:grpSpPr bwMode="auto">
          <a:xfrm rot="5400000">
            <a:off x="3227026" y="1591469"/>
            <a:ext cx="163512" cy="336550"/>
            <a:chOff x="4253" y="5198"/>
            <a:chExt cx="121" cy="360"/>
          </a:xfrm>
        </p:grpSpPr>
        <p:sp>
          <p:nvSpPr>
            <p:cNvPr id="11364" name="Line 23"/>
            <p:cNvSpPr>
              <a:spLocks noChangeShapeType="1"/>
            </p:cNvSpPr>
            <p:nvPr/>
          </p:nvSpPr>
          <p:spPr bwMode="auto">
            <a:xfrm>
              <a:off x="4374" y="5198"/>
              <a:ext cx="0" cy="36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1365" name="Line 24"/>
            <p:cNvSpPr>
              <a:spLocks noChangeShapeType="1"/>
            </p:cNvSpPr>
            <p:nvPr/>
          </p:nvSpPr>
          <p:spPr bwMode="auto">
            <a:xfrm>
              <a:off x="4253" y="5198"/>
              <a:ext cx="0" cy="36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</p:grpSp>
      <p:sp>
        <p:nvSpPr>
          <p:cNvPr id="11270" name="Line 25"/>
          <p:cNvSpPr>
            <a:spLocks noChangeShapeType="1"/>
          </p:cNvSpPr>
          <p:nvPr/>
        </p:nvSpPr>
        <p:spPr bwMode="auto">
          <a:xfrm flipH="1">
            <a:off x="1470457" y="949325"/>
            <a:ext cx="89217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b="0"/>
          </a:p>
        </p:txBody>
      </p:sp>
      <p:sp>
        <p:nvSpPr>
          <p:cNvPr id="11271" name="Text Box 26"/>
          <p:cNvSpPr txBox="1">
            <a:spLocks noChangeArrowheads="1"/>
          </p:cNvSpPr>
          <p:nvPr/>
        </p:nvSpPr>
        <p:spPr bwMode="auto">
          <a:xfrm>
            <a:off x="1935594" y="273050"/>
            <a:ext cx="50323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</a:t>
            </a:r>
            <a:r>
              <a:rPr lang="es-ES" sz="2000" b="0" baseline="-30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endParaRPr lang="es-ES" sz="2000" b="0">
              <a:solidFill>
                <a:srgbClr val="008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1272" name="Text Box 27"/>
          <p:cNvSpPr txBox="1">
            <a:spLocks noChangeArrowheads="1"/>
          </p:cNvSpPr>
          <p:nvPr/>
        </p:nvSpPr>
        <p:spPr bwMode="auto">
          <a:xfrm>
            <a:off x="3792969" y="273050"/>
            <a:ext cx="5032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</a:t>
            </a:r>
            <a:r>
              <a:rPr lang="es-ES" sz="2000" b="0" baseline="-30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s-ES" sz="2000" b="0">
              <a:solidFill>
                <a:srgbClr val="008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11273" name="Group 28"/>
          <p:cNvGrpSpPr>
            <a:grpSpLocks/>
          </p:cNvGrpSpPr>
          <p:nvPr/>
        </p:nvGrpSpPr>
        <p:grpSpPr bwMode="auto">
          <a:xfrm flipH="1">
            <a:off x="4102532" y="2403475"/>
            <a:ext cx="58737" cy="482600"/>
            <a:chOff x="5153" y="6274"/>
            <a:chExt cx="63" cy="360"/>
          </a:xfrm>
        </p:grpSpPr>
        <p:sp>
          <p:nvSpPr>
            <p:cNvPr id="11362" name="Line 29"/>
            <p:cNvSpPr>
              <a:spLocks noChangeShapeType="1"/>
            </p:cNvSpPr>
            <p:nvPr/>
          </p:nvSpPr>
          <p:spPr bwMode="auto">
            <a:xfrm>
              <a:off x="5216" y="6357"/>
              <a:ext cx="0" cy="19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1363" name="Line 30"/>
            <p:cNvSpPr>
              <a:spLocks noChangeShapeType="1"/>
            </p:cNvSpPr>
            <p:nvPr/>
          </p:nvSpPr>
          <p:spPr bwMode="auto">
            <a:xfrm>
              <a:off x="5153" y="6274"/>
              <a:ext cx="0" cy="36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</p:grpSp>
      <p:sp>
        <p:nvSpPr>
          <p:cNvPr id="11274" name="Line 31"/>
          <p:cNvSpPr>
            <a:spLocks noChangeShapeType="1"/>
          </p:cNvSpPr>
          <p:nvPr/>
        </p:nvSpPr>
        <p:spPr bwMode="auto">
          <a:xfrm flipH="1">
            <a:off x="4161269" y="2655166"/>
            <a:ext cx="100647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b="0"/>
          </a:p>
        </p:txBody>
      </p:sp>
      <p:sp>
        <p:nvSpPr>
          <p:cNvPr id="11275" name="Text Box 32"/>
          <p:cNvSpPr txBox="1">
            <a:spLocks noChangeArrowheads="1"/>
          </p:cNvSpPr>
          <p:nvPr/>
        </p:nvSpPr>
        <p:spPr bwMode="auto">
          <a:xfrm>
            <a:off x="2629332" y="1492250"/>
            <a:ext cx="503237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</a:t>
            </a:r>
            <a:r>
              <a:rPr lang="es-ES" sz="2000" b="0" baseline="-30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</a:t>
            </a:r>
            <a:endParaRPr lang="es-ES" sz="2000" b="0">
              <a:solidFill>
                <a:srgbClr val="008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1276" name="Line 33"/>
          <p:cNvSpPr>
            <a:spLocks noChangeShapeType="1"/>
          </p:cNvSpPr>
          <p:nvPr/>
        </p:nvSpPr>
        <p:spPr bwMode="auto">
          <a:xfrm flipH="1">
            <a:off x="2484869" y="954088"/>
            <a:ext cx="1731963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b="0"/>
          </a:p>
        </p:txBody>
      </p:sp>
      <p:sp>
        <p:nvSpPr>
          <p:cNvPr id="11277" name="Line 34"/>
          <p:cNvSpPr>
            <a:spLocks noChangeShapeType="1"/>
          </p:cNvSpPr>
          <p:nvPr/>
        </p:nvSpPr>
        <p:spPr bwMode="auto">
          <a:xfrm>
            <a:off x="1486332" y="954088"/>
            <a:ext cx="0" cy="169068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b="0"/>
          </a:p>
        </p:txBody>
      </p:sp>
      <p:sp>
        <p:nvSpPr>
          <p:cNvPr id="11278" name="Line 35"/>
          <p:cNvSpPr>
            <a:spLocks noChangeShapeType="1"/>
          </p:cNvSpPr>
          <p:nvPr/>
        </p:nvSpPr>
        <p:spPr bwMode="auto">
          <a:xfrm>
            <a:off x="5148694" y="954088"/>
            <a:ext cx="0" cy="169068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b="0"/>
          </a:p>
        </p:txBody>
      </p:sp>
      <p:sp>
        <p:nvSpPr>
          <p:cNvPr id="11279" name="Line 36"/>
          <p:cNvSpPr>
            <a:spLocks noChangeShapeType="1"/>
          </p:cNvSpPr>
          <p:nvPr/>
        </p:nvSpPr>
        <p:spPr bwMode="auto">
          <a:xfrm>
            <a:off x="4329544" y="954088"/>
            <a:ext cx="8382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b="0"/>
          </a:p>
        </p:txBody>
      </p:sp>
      <p:sp>
        <p:nvSpPr>
          <p:cNvPr id="11280" name="Line 37"/>
          <p:cNvSpPr>
            <a:spLocks noChangeShapeType="1"/>
          </p:cNvSpPr>
          <p:nvPr/>
        </p:nvSpPr>
        <p:spPr bwMode="auto">
          <a:xfrm flipV="1">
            <a:off x="3308782" y="954088"/>
            <a:ext cx="0" cy="7239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b="0"/>
          </a:p>
        </p:txBody>
      </p:sp>
      <p:sp>
        <p:nvSpPr>
          <p:cNvPr id="11281" name="Line 38"/>
          <p:cNvSpPr>
            <a:spLocks noChangeShapeType="1"/>
          </p:cNvSpPr>
          <p:nvPr/>
        </p:nvSpPr>
        <p:spPr bwMode="auto">
          <a:xfrm flipV="1">
            <a:off x="3308782" y="1846263"/>
            <a:ext cx="0" cy="798512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b="0"/>
          </a:p>
        </p:txBody>
      </p:sp>
      <p:grpSp>
        <p:nvGrpSpPr>
          <p:cNvPr id="11282" name="Group 39"/>
          <p:cNvGrpSpPr>
            <a:grpSpLocks/>
          </p:cNvGrpSpPr>
          <p:nvPr/>
        </p:nvGrpSpPr>
        <p:grpSpPr bwMode="auto">
          <a:xfrm>
            <a:off x="2372157" y="2408238"/>
            <a:ext cx="112712" cy="482600"/>
            <a:chOff x="4253" y="5198"/>
            <a:chExt cx="121" cy="360"/>
          </a:xfrm>
        </p:grpSpPr>
        <p:sp>
          <p:nvSpPr>
            <p:cNvPr id="11360" name="Line 40"/>
            <p:cNvSpPr>
              <a:spLocks noChangeShapeType="1"/>
            </p:cNvSpPr>
            <p:nvPr/>
          </p:nvSpPr>
          <p:spPr bwMode="auto">
            <a:xfrm>
              <a:off x="4374" y="5198"/>
              <a:ext cx="0" cy="36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1361" name="Line 41"/>
            <p:cNvSpPr>
              <a:spLocks noChangeShapeType="1"/>
            </p:cNvSpPr>
            <p:nvPr/>
          </p:nvSpPr>
          <p:spPr bwMode="auto">
            <a:xfrm>
              <a:off x="4253" y="5198"/>
              <a:ext cx="0" cy="36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</p:grpSp>
      <p:sp>
        <p:nvSpPr>
          <p:cNvPr id="11283" name="Line 42"/>
          <p:cNvSpPr>
            <a:spLocks noChangeShapeType="1"/>
          </p:cNvSpPr>
          <p:nvPr/>
        </p:nvSpPr>
        <p:spPr bwMode="auto">
          <a:xfrm flipH="1">
            <a:off x="1478394" y="2644775"/>
            <a:ext cx="89217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b="0"/>
          </a:p>
        </p:txBody>
      </p:sp>
      <p:sp>
        <p:nvSpPr>
          <p:cNvPr id="11284" name="Text Box 43"/>
          <p:cNvSpPr txBox="1">
            <a:spLocks noChangeArrowheads="1"/>
          </p:cNvSpPr>
          <p:nvPr/>
        </p:nvSpPr>
        <p:spPr bwMode="auto">
          <a:xfrm>
            <a:off x="1935594" y="2012950"/>
            <a:ext cx="503238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</a:t>
            </a:r>
            <a:r>
              <a:rPr lang="es-ES" sz="2000" b="0" baseline="-30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</a:t>
            </a:r>
            <a:endParaRPr lang="es-ES" sz="2000" b="0">
              <a:solidFill>
                <a:srgbClr val="008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1285" name="Line 44"/>
          <p:cNvSpPr>
            <a:spLocks noChangeShapeType="1"/>
          </p:cNvSpPr>
          <p:nvPr/>
        </p:nvSpPr>
        <p:spPr bwMode="auto">
          <a:xfrm flipH="1">
            <a:off x="2492807" y="2644775"/>
            <a:ext cx="161607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b="0"/>
          </a:p>
        </p:txBody>
      </p:sp>
      <p:sp>
        <p:nvSpPr>
          <p:cNvPr id="11286" name="Text Box 57"/>
          <p:cNvSpPr txBox="1">
            <a:spLocks noChangeArrowheads="1"/>
          </p:cNvSpPr>
          <p:nvPr/>
        </p:nvSpPr>
        <p:spPr bwMode="auto">
          <a:xfrm>
            <a:off x="4175557" y="2028825"/>
            <a:ext cx="3349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385082" name="Text Box 58"/>
          <p:cNvSpPr txBox="1">
            <a:spLocks noChangeArrowheads="1"/>
          </p:cNvSpPr>
          <p:nvPr/>
        </p:nvSpPr>
        <p:spPr bwMode="auto">
          <a:xfrm>
            <a:off x="4891584" y="3161500"/>
            <a:ext cx="179437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= Q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/ C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endParaRPr lang="es-ES" sz="2400" b="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11288" name="Group 59"/>
          <p:cNvGrpSpPr>
            <a:grpSpLocks/>
          </p:cNvGrpSpPr>
          <p:nvPr/>
        </p:nvGrpSpPr>
        <p:grpSpPr bwMode="auto">
          <a:xfrm>
            <a:off x="2064182" y="463551"/>
            <a:ext cx="2554288" cy="2641601"/>
            <a:chOff x="1405" y="2381"/>
            <a:chExt cx="1609" cy="1664"/>
          </a:xfrm>
        </p:grpSpPr>
        <p:sp>
          <p:nvSpPr>
            <p:cNvPr id="11352" name="Text Box 60"/>
            <p:cNvSpPr txBox="1">
              <a:spLocks noChangeArrowheads="1"/>
            </p:cNvSpPr>
            <p:nvPr/>
          </p:nvSpPr>
          <p:spPr bwMode="auto">
            <a:xfrm>
              <a:off x="2806" y="2383"/>
              <a:ext cx="208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1353" name="Text Box 61"/>
            <p:cNvSpPr txBox="1">
              <a:spLocks noChangeArrowheads="1"/>
            </p:cNvSpPr>
            <p:nvPr/>
          </p:nvSpPr>
          <p:spPr bwMode="auto">
            <a:xfrm>
              <a:off x="2591" y="2382"/>
              <a:ext cx="168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11354" name="Text Box 62"/>
            <p:cNvSpPr txBox="1">
              <a:spLocks noChangeArrowheads="1"/>
            </p:cNvSpPr>
            <p:nvPr/>
          </p:nvSpPr>
          <p:spPr bwMode="auto">
            <a:xfrm>
              <a:off x="1645" y="2382"/>
              <a:ext cx="208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1355" name="Text Box 63"/>
            <p:cNvSpPr txBox="1">
              <a:spLocks noChangeArrowheads="1"/>
            </p:cNvSpPr>
            <p:nvPr/>
          </p:nvSpPr>
          <p:spPr bwMode="auto">
            <a:xfrm>
              <a:off x="1430" y="2381"/>
              <a:ext cx="168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11356" name="Text Box 64"/>
            <p:cNvSpPr txBox="1">
              <a:spLocks noChangeArrowheads="1"/>
            </p:cNvSpPr>
            <p:nvPr/>
          </p:nvSpPr>
          <p:spPr bwMode="auto">
            <a:xfrm>
              <a:off x="2195" y="2909"/>
              <a:ext cx="208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1357" name="Text Box 65"/>
            <p:cNvSpPr txBox="1">
              <a:spLocks noChangeArrowheads="1"/>
            </p:cNvSpPr>
            <p:nvPr/>
          </p:nvSpPr>
          <p:spPr bwMode="auto">
            <a:xfrm>
              <a:off x="2215" y="3146"/>
              <a:ext cx="168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11358" name="Text Box 66"/>
            <p:cNvSpPr txBox="1">
              <a:spLocks noChangeArrowheads="1"/>
            </p:cNvSpPr>
            <p:nvPr/>
          </p:nvSpPr>
          <p:spPr bwMode="auto">
            <a:xfrm>
              <a:off x="1405" y="3746"/>
              <a:ext cx="208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1359" name="Text Box 67"/>
            <p:cNvSpPr txBox="1">
              <a:spLocks noChangeArrowheads="1"/>
            </p:cNvSpPr>
            <p:nvPr/>
          </p:nvSpPr>
          <p:spPr bwMode="auto">
            <a:xfrm>
              <a:off x="1659" y="3735"/>
              <a:ext cx="168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</p:grpSp>
      <p:sp>
        <p:nvSpPr>
          <p:cNvPr id="385092" name="Text Box 68"/>
          <p:cNvSpPr txBox="1">
            <a:spLocks noChangeArrowheads="1"/>
          </p:cNvSpPr>
          <p:nvPr/>
        </p:nvSpPr>
        <p:spPr bwMode="auto">
          <a:xfrm>
            <a:off x="4958027" y="5624861"/>
            <a:ext cx="216306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+ V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= 0</a:t>
            </a:r>
            <a:endParaRPr lang="es-ES" sz="2400" b="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85094" name="Text Box 70"/>
          <p:cNvSpPr txBox="1">
            <a:spLocks noChangeArrowheads="1"/>
          </p:cNvSpPr>
          <p:nvPr/>
        </p:nvSpPr>
        <p:spPr bwMode="auto">
          <a:xfrm>
            <a:off x="4948501" y="6250268"/>
            <a:ext cx="1624460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= C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V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s-ES" sz="2400" b="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1350" name="Text Box 74"/>
          <p:cNvSpPr txBox="1">
            <a:spLocks noChangeArrowheads="1"/>
          </p:cNvSpPr>
          <p:nvPr/>
        </p:nvSpPr>
        <p:spPr bwMode="auto">
          <a:xfrm>
            <a:off x="6522736" y="460802"/>
            <a:ext cx="1452562" cy="53657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C = Q / V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C80E611B-7492-1919-7B22-F6DF941BC1A8}"/>
              </a:ext>
            </a:extLst>
          </p:cNvPr>
          <p:cNvGrpSpPr/>
          <p:nvPr/>
        </p:nvGrpSpPr>
        <p:grpSpPr>
          <a:xfrm>
            <a:off x="8156273" y="311577"/>
            <a:ext cx="2281236" cy="765175"/>
            <a:chOff x="8156273" y="311577"/>
            <a:chExt cx="2281236" cy="765175"/>
          </a:xfrm>
        </p:grpSpPr>
        <p:sp>
          <p:nvSpPr>
            <p:cNvPr id="11349" name="Text Box 73"/>
            <p:cNvSpPr txBox="1">
              <a:spLocks noChangeArrowheads="1"/>
            </p:cNvSpPr>
            <p:nvPr/>
          </p:nvSpPr>
          <p:spPr bwMode="auto">
            <a:xfrm>
              <a:off x="8643635" y="422702"/>
              <a:ext cx="1793874" cy="53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C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 = Q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 / V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es-ES" sz="24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351" name="AutoShape 75"/>
            <p:cNvSpPr>
              <a:spLocks noChangeArrowheads="1"/>
            </p:cNvSpPr>
            <p:nvPr/>
          </p:nvSpPr>
          <p:spPr bwMode="auto">
            <a:xfrm>
              <a:off x="8156273" y="311577"/>
              <a:ext cx="457200" cy="765175"/>
            </a:xfrm>
            <a:prstGeom prst="rightArrow">
              <a:avLst>
                <a:gd name="adj1" fmla="val 39352"/>
                <a:gd name="adj2" fmla="val 48069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1293" name="Text Box 76"/>
          <p:cNvSpPr txBox="1">
            <a:spLocks noChangeArrowheads="1"/>
          </p:cNvSpPr>
          <p:nvPr/>
        </p:nvSpPr>
        <p:spPr bwMode="auto">
          <a:xfrm>
            <a:off x="5407298" y="345643"/>
            <a:ext cx="913813" cy="754789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108000" tIns="108000" rIns="108000" bIns="144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¿C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</a:p>
        </p:txBody>
      </p:sp>
      <p:grpSp>
        <p:nvGrpSpPr>
          <p:cNvPr id="11" name="Group 87"/>
          <p:cNvGrpSpPr>
            <a:grpSpLocks/>
          </p:cNvGrpSpPr>
          <p:nvPr/>
        </p:nvGrpSpPr>
        <p:grpSpPr bwMode="auto">
          <a:xfrm>
            <a:off x="9299851" y="886307"/>
            <a:ext cx="1092201" cy="620713"/>
            <a:chOff x="5897" y="1674"/>
            <a:chExt cx="688" cy="391"/>
          </a:xfrm>
        </p:grpSpPr>
        <p:sp>
          <p:nvSpPr>
            <p:cNvPr id="11345" name="Line 78"/>
            <p:cNvSpPr>
              <a:spLocks noChangeShapeType="1"/>
            </p:cNvSpPr>
            <p:nvPr/>
          </p:nvSpPr>
          <p:spPr bwMode="auto">
            <a:xfrm>
              <a:off x="6055" y="1674"/>
              <a:ext cx="0" cy="14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 b="0" dirty="0"/>
            </a:p>
          </p:txBody>
        </p:sp>
        <p:sp>
          <p:nvSpPr>
            <p:cNvPr id="11346" name="Text Box 79"/>
            <p:cNvSpPr txBox="1">
              <a:spLocks noChangeArrowheads="1"/>
            </p:cNvSpPr>
            <p:nvPr/>
          </p:nvSpPr>
          <p:spPr bwMode="auto">
            <a:xfrm>
              <a:off x="5897" y="1718"/>
              <a:ext cx="341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FF0000"/>
                  </a:solidFill>
                  <a:latin typeface="Arial" panose="020B0604020202020204" pitchFamily="34" charset="0"/>
                </a:rPr>
                <a:t>¿?</a:t>
              </a:r>
            </a:p>
          </p:txBody>
        </p:sp>
        <p:sp>
          <p:nvSpPr>
            <p:cNvPr id="11347" name="Line 80"/>
            <p:cNvSpPr>
              <a:spLocks noChangeShapeType="1"/>
            </p:cNvSpPr>
            <p:nvPr/>
          </p:nvSpPr>
          <p:spPr bwMode="auto">
            <a:xfrm>
              <a:off x="6408" y="1683"/>
              <a:ext cx="0" cy="14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 b="0"/>
            </a:p>
          </p:txBody>
        </p:sp>
        <p:sp>
          <p:nvSpPr>
            <p:cNvPr id="11348" name="Text Box 81"/>
            <p:cNvSpPr txBox="1">
              <a:spLocks noChangeArrowheads="1"/>
            </p:cNvSpPr>
            <p:nvPr/>
          </p:nvSpPr>
          <p:spPr bwMode="auto">
            <a:xfrm>
              <a:off x="6244" y="1727"/>
              <a:ext cx="341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 dirty="0">
                  <a:solidFill>
                    <a:srgbClr val="FF0000"/>
                  </a:solidFill>
                  <a:latin typeface="Arial" panose="020B0604020202020204" pitchFamily="34" charset="0"/>
                </a:rPr>
                <a:t>¿?</a:t>
              </a:r>
            </a:p>
          </p:txBody>
        </p:sp>
      </p:grpSp>
      <p:sp>
        <p:nvSpPr>
          <p:cNvPr id="14361" name="Text Box 84"/>
          <p:cNvSpPr txBox="1">
            <a:spLocks noChangeArrowheads="1"/>
          </p:cNvSpPr>
          <p:nvPr/>
        </p:nvSpPr>
        <p:spPr bwMode="auto">
          <a:xfrm>
            <a:off x="5118581" y="3840112"/>
            <a:ext cx="4513724" cy="905881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</a:rPr>
              <a:t>En </a:t>
            </a:r>
            <a:r>
              <a:rPr lang="es-ES" sz="2400" b="0" dirty="0">
                <a:latin typeface="Arial" panose="020B0604020202020204" pitchFamily="34" charset="0"/>
              </a:rPr>
              <a:t>una malla la suma de las diferencias de potencial es cero</a:t>
            </a:r>
          </a:p>
        </p:txBody>
      </p:sp>
      <p:sp>
        <p:nvSpPr>
          <p:cNvPr id="385093" name="AutoShape 69"/>
          <p:cNvSpPr>
            <a:spLocks noChangeArrowheads="1"/>
          </p:cNvSpPr>
          <p:nvPr/>
        </p:nvSpPr>
        <p:spPr bwMode="auto">
          <a:xfrm rot="5400000" flipV="1">
            <a:off x="3932670" y="1438478"/>
            <a:ext cx="557212" cy="667931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3009" y="17145"/>
                </a:moveTo>
                <a:cubicBezTo>
                  <a:pt x="15709" y="16204"/>
                  <a:pt x="17519" y="13659"/>
                  <a:pt x="17519" y="10800"/>
                </a:cubicBezTo>
                <a:cubicBezTo>
                  <a:pt x="17519" y="7089"/>
                  <a:pt x="14510" y="4081"/>
                  <a:pt x="10800" y="4081"/>
                </a:cubicBezTo>
                <a:cubicBezTo>
                  <a:pt x="7172" y="4080"/>
                  <a:pt x="4199" y="6960"/>
                  <a:pt x="4084" y="10586"/>
                </a:cubicBezTo>
                <a:lnTo>
                  <a:pt x="5" y="10457"/>
                </a:lnTo>
                <a:cubicBezTo>
                  <a:pt x="190" y="4628"/>
                  <a:pt x="4968" y="-1"/>
                  <a:pt x="10800" y="0"/>
                </a:cubicBezTo>
                <a:cubicBezTo>
                  <a:pt x="16764" y="0"/>
                  <a:pt x="21600" y="4835"/>
                  <a:pt x="21600" y="10800"/>
                </a:cubicBezTo>
                <a:cubicBezTo>
                  <a:pt x="21600" y="15395"/>
                  <a:pt x="18691" y="19487"/>
                  <a:pt x="14351" y="20999"/>
                </a:cubicBezTo>
                <a:lnTo>
                  <a:pt x="15239" y="23549"/>
                </a:lnTo>
                <a:lnTo>
                  <a:pt x="9203" y="20631"/>
                </a:lnTo>
                <a:lnTo>
                  <a:pt x="12121" y="14595"/>
                </a:lnTo>
                <a:lnTo>
                  <a:pt x="13009" y="17145"/>
                </a:lnTo>
                <a:close/>
              </a:path>
            </a:pathLst>
          </a:custGeom>
          <a:solidFill>
            <a:srgbClr val="FF0000"/>
          </a:solidFill>
          <a:ln w="12700" algn="ctr">
            <a:solidFill>
              <a:srgbClr val="FF0000"/>
            </a:solidFill>
            <a:miter lim="800000"/>
            <a:headEnd/>
            <a:tailEnd type="none" w="lg" len="lg"/>
          </a:ln>
        </p:spPr>
        <p:txBody>
          <a:bodyPr lIns="90000" tIns="82800" rIns="90000" bIns="82800" anchor="ctr">
            <a:spAutoFit/>
          </a:bodyPr>
          <a:lstStyle/>
          <a:p>
            <a:endParaRPr lang="en-GB" b="0"/>
          </a:p>
        </p:txBody>
      </p:sp>
      <p:sp>
        <p:nvSpPr>
          <p:cNvPr id="2" name="CuadroTexto 1"/>
          <p:cNvSpPr txBox="1">
            <a:spLocks noChangeArrowheads="1"/>
          </p:cNvSpPr>
          <p:nvPr/>
        </p:nvSpPr>
        <p:spPr bwMode="auto">
          <a:xfrm>
            <a:off x="5556105" y="1481566"/>
            <a:ext cx="4752076" cy="156966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b="0" dirty="0"/>
              <a:t>Para conocer sus valores, se ve,</a:t>
            </a:r>
          </a:p>
          <a:p>
            <a:pPr algn="ctr"/>
            <a:r>
              <a:rPr lang="es-ES" sz="2400" b="0" dirty="0"/>
              <a:t>al “pelearse” con el problema, que hay que evaluar todo yendo del condensador 1 hacia el 4</a:t>
            </a:r>
          </a:p>
        </p:txBody>
      </p:sp>
      <p:sp>
        <p:nvSpPr>
          <p:cNvPr id="11301" name="Text Box 7"/>
          <p:cNvSpPr txBox="1">
            <a:spLocks noChangeArrowheads="1"/>
          </p:cNvSpPr>
          <p:nvPr/>
        </p:nvSpPr>
        <p:spPr bwMode="auto">
          <a:xfrm>
            <a:off x="2776806" y="3185538"/>
            <a:ext cx="1270197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000" b="0" baseline="-25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0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 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</a:rPr>
              <a:t>F</a:t>
            </a:r>
            <a:endParaRPr lang="es-ES" sz="2000" b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1302" name="Text Box 8"/>
          <p:cNvSpPr txBox="1">
            <a:spLocks noChangeArrowheads="1"/>
          </p:cNvSpPr>
          <p:nvPr/>
        </p:nvSpPr>
        <p:spPr bwMode="auto">
          <a:xfrm>
            <a:off x="1334419" y="3579007"/>
            <a:ext cx="1270197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000" b="0" baseline="-25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s-ES" sz="20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5 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</a:rPr>
              <a:t>F</a:t>
            </a:r>
            <a:endParaRPr lang="es-ES" sz="2000" b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1303" name="Text Box 9"/>
          <p:cNvSpPr txBox="1">
            <a:spLocks noChangeArrowheads="1"/>
          </p:cNvSpPr>
          <p:nvPr/>
        </p:nvSpPr>
        <p:spPr bwMode="auto">
          <a:xfrm>
            <a:off x="1344613" y="3172607"/>
            <a:ext cx="1270197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000" b="0" baseline="-25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0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4 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</a:rPr>
              <a:t>F</a:t>
            </a:r>
            <a:endParaRPr lang="es-ES" sz="2000" b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1304" name="Text Box 6"/>
          <p:cNvSpPr txBox="1">
            <a:spLocks noChangeArrowheads="1"/>
          </p:cNvSpPr>
          <p:nvPr/>
        </p:nvSpPr>
        <p:spPr bwMode="auto">
          <a:xfrm>
            <a:off x="2923583" y="3959020"/>
            <a:ext cx="113394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0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10 V</a:t>
            </a:r>
          </a:p>
        </p:txBody>
      </p:sp>
      <p:sp>
        <p:nvSpPr>
          <p:cNvPr id="11305" name="Text Box 9"/>
          <p:cNvSpPr txBox="1">
            <a:spLocks noChangeArrowheads="1"/>
          </p:cNvSpPr>
          <p:nvPr/>
        </p:nvSpPr>
        <p:spPr bwMode="auto">
          <a:xfrm>
            <a:off x="1321594" y="3990125"/>
            <a:ext cx="14541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lang="es-ES" sz="2000" b="0" baseline="-25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0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25 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</a:rPr>
              <a:t>C</a:t>
            </a:r>
            <a:endParaRPr lang="es-ES" sz="2000" b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06" name="Text Box 84"/>
          <p:cNvSpPr txBox="1">
            <a:spLocks noChangeArrowheads="1"/>
          </p:cNvSpPr>
          <p:nvPr/>
        </p:nvSpPr>
        <p:spPr bwMode="auto">
          <a:xfrm>
            <a:off x="5121110" y="4708892"/>
            <a:ext cx="5142224" cy="905881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</a:rPr>
              <a:t>Elegimos sentido antihorario y calcular caídas: 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</a:rPr>
              <a:t>V = </a:t>
            </a:r>
            <a:r>
              <a:rPr lang="es-ES" sz="2400" b="0" dirty="0" err="1">
                <a:solidFill>
                  <a:srgbClr val="FF0000"/>
                </a:solidFill>
                <a:latin typeface="Arial" panose="020B0604020202020204" pitchFamily="34" charset="0"/>
              </a:rPr>
              <a:t>V</a:t>
            </a:r>
            <a:r>
              <a:rPr lang="es-ES" sz="2400" b="0" baseline="-25000" dirty="0" err="1">
                <a:solidFill>
                  <a:srgbClr val="FF0000"/>
                </a:solidFill>
                <a:latin typeface="Arial" panose="020B0604020202020204" pitchFamily="34" charset="0"/>
              </a:rPr>
              <a:t>inicial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s-ES" sz="2400" b="0" dirty="0" err="1">
                <a:solidFill>
                  <a:srgbClr val="FF0000"/>
                </a:solidFill>
                <a:latin typeface="Arial" panose="020B0604020202020204" pitchFamily="34" charset="0"/>
              </a:rPr>
              <a:t>V</a:t>
            </a:r>
            <a:r>
              <a:rPr lang="es-ES" sz="2400" b="0" baseline="-25000" dirty="0" err="1">
                <a:solidFill>
                  <a:srgbClr val="FF0000"/>
                </a:solidFill>
                <a:latin typeface="Arial" panose="020B0604020202020204" pitchFamily="34" charset="0"/>
              </a:rPr>
              <a:t>final</a:t>
            </a:r>
            <a:endParaRPr lang="es-ES" sz="2400" b="0" baseline="-25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3" name="Text Box 7"/>
          <p:cNvSpPr txBox="1">
            <a:spLocks noChangeArrowheads="1"/>
          </p:cNvSpPr>
          <p:nvPr/>
        </p:nvSpPr>
        <p:spPr bwMode="auto">
          <a:xfrm>
            <a:off x="2783431" y="3572279"/>
            <a:ext cx="1052189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000" b="0" baseline="-25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es-ES" sz="20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¿?</a:t>
            </a:r>
          </a:p>
        </p:txBody>
      </p:sp>
      <p:sp>
        <p:nvSpPr>
          <p:cNvPr id="64" name="Text Box 58"/>
          <p:cNvSpPr txBox="1">
            <a:spLocks noChangeArrowheads="1"/>
          </p:cNvSpPr>
          <p:nvPr/>
        </p:nvSpPr>
        <p:spPr bwMode="auto">
          <a:xfrm>
            <a:off x="6615114" y="3166561"/>
            <a:ext cx="215184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= 25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C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/ 4 F</a:t>
            </a:r>
          </a:p>
        </p:txBody>
      </p:sp>
      <p:sp>
        <p:nvSpPr>
          <p:cNvPr id="65" name="Text Box 68"/>
          <p:cNvSpPr txBox="1">
            <a:spLocks noChangeArrowheads="1"/>
          </p:cNvSpPr>
          <p:nvPr/>
        </p:nvSpPr>
        <p:spPr bwMode="auto">
          <a:xfrm>
            <a:off x="7033655" y="5625260"/>
            <a:ext cx="211497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  V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 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endParaRPr lang="es-ES" sz="2400" b="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6" name="Text Box 70"/>
          <p:cNvSpPr txBox="1">
            <a:spLocks noChangeArrowheads="1"/>
          </p:cNvSpPr>
          <p:nvPr/>
        </p:nvSpPr>
        <p:spPr bwMode="auto">
          <a:xfrm>
            <a:off x="6415279" y="6248819"/>
            <a:ext cx="229611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 5 F  3,75 V</a:t>
            </a:r>
          </a:p>
        </p:txBody>
      </p:sp>
      <p:sp>
        <p:nvSpPr>
          <p:cNvPr id="67" name="Text Box 74">
            <a:extLst>
              <a:ext uri="{FF2B5EF4-FFF2-40B4-BE49-F238E27FC236}">
                <a16:creationId xmlns:a16="http://schemas.microsoft.com/office/drawing/2014/main" id="{85E7384F-BBB4-49A8-90DA-275C1B14C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9085" y="4918641"/>
            <a:ext cx="1452562" cy="53657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C = Q / V</a:t>
            </a:r>
          </a:p>
        </p:txBody>
      </p:sp>
      <p:sp>
        <p:nvSpPr>
          <p:cNvPr id="68" name="Text Box 74">
            <a:extLst>
              <a:ext uri="{FF2B5EF4-FFF2-40B4-BE49-F238E27FC236}">
                <a16:creationId xmlns:a16="http://schemas.microsoft.com/office/drawing/2014/main" id="{99938FFF-E1DF-4AC5-8075-41736A9C3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9085" y="5580398"/>
            <a:ext cx="1452042" cy="536549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Q = C V</a:t>
            </a:r>
          </a:p>
        </p:txBody>
      </p:sp>
      <p:sp>
        <p:nvSpPr>
          <p:cNvPr id="69" name="Text Box 74">
            <a:extLst>
              <a:ext uri="{FF2B5EF4-FFF2-40B4-BE49-F238E27FC236}">
                <a16:creationId xmlns:a16="http://schemas.microsoft.com/office/drawing/2014/main" id="{392988E7-6E2B-4F58-843A-4062579BA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8565" y="6242155"/>
            <a:ext cx="1452562" cy="53657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V = Q / C</a:t>
            </a:r>
          </a:p>
        </p:txBody>
      </p:sp>
      <p:sp>
        <p:nvSpPr>
          <p:cNvPr id="71" name="Text Box 68">
            <a:extLst>
              <a:ext uri="{FF2B5EF4-FFF2-40B4-BE49-F238E27FC236}">
                <a16:creationId xmlns:a16="http://schemas.microsoft.com/office/drawing/2014/main" id="{E979B3DB-91CF-41B3-9842-DA32B69B0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9636" y="5625165"/>
            <a:ext cx="1420880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=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3,75 V </a:t>
            </a:r>
          </a:p>
        </p:txBody>
      </p:sp>
      <p:sp>
        <p:nvSpPr>
          <p:cNvPr id="72" name="Text Box 58">
            <a:extLst>
              <a:ext uri="{FF2B5EF4-FFF2-40B4-BE49-F238E27FC236}">
                <a16:creationId xmlns:a16="http://schemas.microsoft.com/office/drawing/2014/main" id="{027C6107-54F2-47C6-8EEF-F166EFCEF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1347" y="3166466"/>
            <a:ext cx="1335920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 6,25 V</a:t>
            </a:r>
          </a:p>
        </p:txBody>
      </p:sp>
      <p:sp>
        <p:nvSpPr>
          <p:cNvPr id="73" name="Text Box 70">
            <a:extLst>
              <a:ext uri="{FF2B5EF4-FFF2-40B4-BE49-F238E27FC236}">
                <a16:creationId xmlns:a16="http://schemas.microsoft.com/office/drawing/2014/main" id="{8D75E3FE-6A5C-47F8-9DA2-ADB19ABF9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5549" y="6248819"/>
            <a:ext cx="1703008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 18,75 C</a:t>
            </a:r>
          </a:p>
        </p:txBody>
      </p:sp>
      <p:sp>
        <p:nvSpPr>
          <p:cNvPr id="74" name="Text Box 68">
            <a:extLst>
              <a:ext uri="{FF2B5EF4-FFF2-40B4-BE49-F238E27FC236}">
                <a16:creationId xmlns:a16="http://schemas.microsoft.com/office/drawing/2014/main" id="{6CFDED50-F6F5-4330-AB68-38909DA771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1777" y="3825323"/>
            <a:ext cx="455872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</a:t>
            </a:r>
            <a:endParaRPr lang="es-ES" sz="2400" b="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" name="Text Box 58">
            <a:extLst>
              <a:ext uri="{FF2B5EF4-FFF2-40B4-BE49-F238E27FC236}">
                <a16:creationId xmlns:a16="http://schemas.microsoft.com/office/drawing/2014/main" id="{ABDE64F6-186C-19A0-2753-F4712C370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2088" y="3178817"/>
            <a:ext cx="455872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</a:t>
            </a:r>
            <a:endParaRPr lang="es-ES" sz="2400" b="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328076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11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85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5" dur="500"/>
                                        <p:tgtEl>
                                          <p:spTgt spid="1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850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850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8509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85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85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85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85082" grpId="0"/>
      <p:bldP spid="385092" grpId="0"/>
      <p:bldP spid="385094" grpId="0"/>
      <p:bldP spid="11350" grpId="0" animBg="1"/>
      <p:bldP spid="11293" grpId="0" animBg="1"/>
      <p:bldP spid="14361" grpId="0" animBg="1"/>
      <p:bldP spid="385093" grpId="0" animBg="1"/>
      <p:bldP spid="2" grpId="0" animBg="1"/>
      <p:bldP spid="106" grpId="0"/>
      <p:bldP spid="64" grpId="0"/>
      <p:bldP spid="65" grpId="0"/>
      <p:bldP spid="66" grpId="0"/>
      <p:bldP spid="71" grpId="0"/>
      <p:bldP spid="72" grpId="0"/>
      <p:bldP spid="73" grpId="0"/>
      <p:bldP spid="7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40" name="Freeform 148"/>
          <p:cNvSpPr>
            <a:spLocks/>
          </p:cNvSpPr>
          <p:nvPr/>
        </p:nvSpPr>
        <p:spPr bwMode="auto">
          <a:xfrm>
            <a:off x="2405380" y="280137"/>
            <a:ext cx="1872000" cy="1476000"/>
          </a:xfrm>
          <a:custGeom>
            <a:avLst/>
            <a:gdLst>
              <a:gd name="T0" fmla="*/ 0 w 1196"/>
              <a:gd name="T1" fmla="*/ 0 h 987"/>
              <a:gd name="T2" fmla="*/ 2147483646 w 1196"/>
              <a:gd name="T3" fmla="*/ 0 h 987"/>
              <a:gd name="T4" fmla="*/ 2147483646 w 1196"/>
              <a:gd name="T5" fmla="*/ 2147483646 h 987"/>
              <a:gd name="T6" fmla="*/ 2147483646 w 1196"/>
              <a:gd name="T7" fmla="*/ 2147483646 h 987"/>
              <a:gd name="T8" fmla="*/ 2147483646 w 1196"/>
              <a:gd name="T9" fmla="*/ 2147483646 h 987"/>
              <a:gd name="T10" fmla="*/ 2147483646 w 1196"/>
              <a:gd name="T11" fmla="*/ 2147483646 h 987"/>
              <a:gd name="T12" fmla="*/ 2147483646 w 1196"/>
              <a:gd name="T13" fmla="*/ 2147483646 h 987"/>
              <a:gd name="T14" fmla="*/ 0 w 1196"/>
              <a:gd name="T15" fmla="*/ 0 h 98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196" h="987">
                <a:moveTo>
                  <a:pt x="0" y="0"/>
                </a:moveTo>
                <a:lnTo>
                  <a:pt x="1196" y="0"/>
                </a:lnTo>
                <a:lnTo>
                  <a:pt x="1171" y="956"/>
                </a:lnTo>
                <a:lnTo>
                  <a:pt x="741" y="987"/>
                </a:lnTo>
                <a:lnTo>
                  <a:pt x="418" y="987"/>
                </a:lnTo>
                <a:lnTo>
                  <a:pt x="285" y="797"/>
                </a:lnTo>
                <a:lnTo>
                  <a:pt x="13" y="690"/>
                </a:lnTo>
                <a:lnTo>
                  <a:pt x="0" y="0"/>
                </a:lnTo>
                <a:close/>
              </a:path>
            </a:pathLst>
          </a:custGeom>
          <a:solidFill>
            <a:srgbClr val="CCFFCC"/>
          </a:solidFill>
          <a:ln w="25400" cap="flat" cmpd="sng">
            <a:solidFill>
              <a:srgbClr val="008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GB" b="0"/>
          </a:p>
        </p:txBody>
      </p:sp>
      <p:sp>
        <p:nvSpPr>
          <p:cNvPr id="385095" name="Text Box 71"/>
          <p:cNvSpPr txBox="1">
            <a:spLocks noChangeArrowheads="1"/>
          </p:cNvSpPr>
          <p:nvPr/>
        </p:nvSpPr>
        <p:spPr bwMode="auto">
          <a:xfrm>
            <a:off x="4531287" y="3791829"/>
            <a:ext cx="300624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+ Q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 Q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0  </a:t>
            </a:r>
          </a:p>
        </p:txBody>
      </p:sp>
      <p:sp>
        <p:nvSpPr>
          <p:cNvPr id="14362" name="Text Box 85"/>
          <p:cNvSpPr txBox="1">
            <a:spLocks noChangeArrowheads="1"/>
          </p:cNvSpPr>
          <p:nvPr/>
        </p:nvSpPr>
        <p:spPr bwMode="auto">
          <a:xfrm>
            <a:off x="6114302" y="728001"/>
            <a:ext cx="3985196" cy="1275213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</a:rPr>
              <a:t>En un conductor neutro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</a:rPr>
              <a:t>la suma de las cargas de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</a:rPr>
              <a:t>las placas es cero</a:t>
            </a:r>
          </a:p>
        </p:txBody>
      </p:sp>
      <p:grpSp>
        <p:nvGrpSpPr>
          <p:cNvPr id="59543" name="Group 151"/>
          <p:cNvGrpSpPr>
            <a:grpSpLocks/>
          </p:cNvGrpSpPr>
          <p:nvPr/>
        </p:nvGrpSpPr>
        <p:grpSpPr bwMode="auto">
          <a:xfrm>
            <a:off x="1466533" y="271246"/>
            <a:ext cx="3697287" cy="2822574"/>
            <a:chOff x="1035" y="2409"/>
            <a:chExt cx="2329" cy="1778"/>
          </a:xfrm>
        </p:grpSpPr>
        <p:grpSp>
          <p:nvGrpSpPr>
            <p:cNvPr id="11306" name="Group 16"/>
            <p:cNvGrpSpPr>
              <a:grpSpLocks/>
            </p:cNvGrpSpPr>
            <p:nvPr/>
          </p:nvGrpSpPr>
          <p:grpSpPr bwMode="auto">
            <a:xfrm>
              <a:off x="1598" y="2686"/>
              <a:ext cx="71" cy="304"/>
              <a:chOff x="4253" y="5198"/>
              <a:chExt cx="121" cy="360"/>
            </a:xfrm>
          </p:grpSpPr>
          <p:sp>
            <p:nvSpPr>
              <p:cNvPr id="11343" name="Line 17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11344" name="Line 18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grpSp>
          <p:nvGrpSpPr>
            <p:cNvPr id="11307" name="Group 19"/>
            <p:cNvGrpSpPr>
              <a:grpSpLocks/>
            </p:cNvGrpSpPr>
            <p:nvPr/>
          </p:nvGrpSpPr>
          <p:grpSpPr bwMode="auto">
            <a:xfrm>
              <a:off x="2765" y="2688"/>
              <a:ext cx="71" cy="305"/>
              <a:chOff x="4253" y="5198"/>
              <a:chExt cx="121" cy="360"/>
            </a:xfrm>
          </p:grpSpPr>
          <p:sp>
            <p:nvSpPr>
              <p:cNvPr id="11341" name="Line 20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11342" name="Line 21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grpSp>
          <p:nvGrpSpPr>
            <p:cNvPr id="11308" name="Group 22"/>
            <p:cNvGrpSpPr>
              <a:grpSpLocks/>
            </p:cNvGrpSpPr>
            <p:nvPr/>
          </p:nvGrpSpPr>
          <p:grpSpPr bwMode="auto">
            <a:xfrm rot="5400000">
              <a:off x="2141" y="3240"/>
              <a:ext cx="103" cy="212"/>
              <a:chOff x="4253" y="5198"/>
              <a:chExt cx="121" cy="360"/>
            </a:xfrm>
          </p:grpSpPr>
          <p:sp>
            <p:nvSpPr>
              <p:cNvPr id="11339" name="Line 23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11340" name="Line 24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sp>
          <p:nvSpPr>
            <p:cNvPr id="11309" name="Line 25"/>
            <p:cNvSpPr>
              <a:spLocks noChangeShapeType="1"/>
            </p:cNvSpPr>
            <p:nvPr/>
          </p:nvSpPr>
          <p:spPr bwMode="auto">
            <a:xfrm flipH="1">
              <a:off x="1035" y="2835"/>
              <a:ext cx="56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1310" name="Text Box 26"/>
            <p:cNvSpPr txBox="1">
              <a:spLocks noChangeArrowheads="1"/>
            </p:cNvSpPr>
            <p:nvPr/>
          </p:nvSpPr>
          <p:spPr bwMode="auto">
            <a:xfrm>
              <a:off x="1328" y="2409"/>
              <a:ext cx="317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="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2</a:t>
              </a:r>
              <a:endPara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311" name="Text Box 27"/>
            <p:cNvSpPr txBox="1">
              <a:spLocks noChangeArrowheads="1"/>
            </p:cNvSpPr>
            <p:nvPr/>
          </p:nvSpPr>
          <p:spPr bwMode="auto">
            <a:xfrm>
              <a:off x="2498" y="2409"/>
              <a:ext cx="317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="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1</a:t>
              </a:r>
              <a:endPara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312" name="Group 28"/>
            <p:cNvGrpSpPr>
              <a:grpSpLocks/>
            </p:cNvGrpSpPr>
            <p:nvPr/>
          </p:nvGrpSpPr>
          <p:grpSpPr bwMode="auto">
            <a:xfrm flipH="1">
              <a:off x="2693" y="3751"/>
              <a:ext cx="37" cy="304"/>
              <a:chOff x="5153" y="6274"/>
              <a:chExt cx="63" cy="360"/>
            </a:xfrm>
          </p:grpSpPr>
          <p:sp>
            <p:nvSpPr>
              <p:cNvPr id="11337" name="Line 29"/>
              <p:cNvSpPr>
                <a:spLocks noChangeShapeType="1"/>
              </p:cNvSpPr>
              <p:nvPr/>
            </p:nvSpPr>
            <p:spPr bwMode="auto">
              <a:xfrm>
                <a:off x="5216" y="6357"/>
                <a:ext cx="0" cy="193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11338" name="Line 30"/>
              <p:cNvSpPr>
                <a:spLocks noChangeShapeType="1"/>
              </p:cNvSpPr>
              <p:nvPr/>
            </p:nvSpPr>
            <p:spPr bwMode="auto">
              <a:xfrm>
                <a:off x="5153" y="6274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sp>
          <p:nvSpPr>
            <p:cNvPr id="11313" name="Line 31"/>
            <p:cNvSpPr>
              <a:spLocks noChangeShapeType="1"/>
            </p:cNvSpPr>
            <p:nvPr/>
          </p:nvSpPr>
          <p:spPr bwMode="auto">
            <a:xfrm flipH="1">
              <a:off x="2730" y="3903"/>
              <a:ext cx="634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1314" name="Text Box 32"/>
            <p:cNvSpPr txBox="1">
              <a:spLocks noChangeArrowheads="1"/>
            </p:cNvSpPr>
            <p:nvPr/>
          </p:nvSpPr>
          <p:spPr bwMode="auto">
            <a:xfrm>
              <a:off x="1761" y="3177"/>
              <a:ext cx="317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="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3</a:t>
              </a:r>
              <a:endPara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315" name="Line 33"/>
            <p:cNvSpPr>
              <a:spLocks noChangeShapeType="1"/>
            </p:cNvSpPr>
            <p:nvPr/>
          </p:nvSpPr>
          <p:spPr bwMode="auto">
            <a:xfrm flipH="1">
              <a:off x="1674" y="2838"/>
              <a:ext cx="1091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1316" name="Line 34"/>
            <p:cNvSpPr>
              <a:spLocks noChangeShapeType="1"/>
            </p:cNvSpPr>
            <p:nvPr/>
          </p:nvSpPr>
          <p:spPr bwMode="auto">
            <a:xfrm>
              <a:off x="1045" y="2838"/>
              <a:ext cx="0" cy="106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1317" name="Line 35"/>
            <p:cNvSpPr>
              <a:spLocks noChangeShapeType="1"/>
            </p:cNvSpPr>
            <p:nvPr/>
          </p:nvSpPr>
          <p:spPr bwMode="auto">
            <a:xfrm>
              <a:off x="3352" y="2838"/>
              <a:ext cx="0" cy="106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1318" name="Line 36"/>
            <p:cNvSpPr>
              <a:spLocks noChangeShapeType="1"/>
            </p:cNvSpPr>
            <p:nvPr/>
          </p:nvSpPr>
          <p:spPr bwMode="auto">
            <a:xfrm>
              <a:off x="2836" y="2838"/>
              <a:ext cx="52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1319" name="Line 37"/>
            <p:cNvSpPr>
              <a:spLocks noChangeShapeType="1"/>
            </p:cNvSpPr>
            <p:nvPr/>
          </p:nvSpPr>
          <p:spPr bwMode="auto">
            <a:xfrm flipV="1">
              <a:off x="2193" y="2838"/>
              <a:ext cx="0" cy="45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1320" name="Line 38"/>
            <p:cNvSpPr>
              <a:spLocks noChangeShapeType="1"/>
            </p:cNvSpPr>
            <p:nvPr/>
          </p:nvSpPr>
          <p:spPr bwMode="auto">
            <a:xfrm flipV="1">
              <a:off x="2193" y="3400"/>
              <a:ext cx="0" cy="50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grpSp>
          <p:nvGrpSpPr>
            <p:cNvPr id="11321" name="Group 39"/>
            <p:cNvGrpSpPr>
              <a:grpSpLocks/>
            </p:cNvGrpSpPr>
            <p:nvPr/>
          </p:nvGrpSpPr>
          <p:grpSpPr bwMode="auto">
            <a:xfrm>
              <a:off x="1603" y="3754"/>
              <a:ext cx="71" cy="304"/>
              <a:chOff x="4253" y="5198"/>
              <a:chExt cx="121" cy="360"/>
            </a:xfrm>
          </p:grpSpPr>
          <p:sp>
            <p:nvSpPr>
              <p:cNvPr id="11335" name="Line 40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11336" name="Line 41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sp>
          <p:nvSpPr>
            <p:cNvPr id="11322" name="Line 42"/>
            <p:cNvSpPr>
              <a:spLocks noChangeShapeType="1"/>
            </p:cNvSpPr>
            <p:nvPr/>
          </p:nvSpPr>
          <p:spPr bwMode="auto">
            <a:xfrm flipH="1">
              <a:off x="1040" y="3903"/>
              <a:ext cx="56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1323" name="Text Box 43"/>
            <p:cNvSpPr txBox="1">
              <a:spLocks noChangeArrowheads="1"/>
            </p:cNvSpPr>
            <p:nvPr/>
          </p:nvSpPr>
          <p:spPr bwMode="auto">
            <a:xfrm>
              <a:off x="1328" y="3505"/>
              <a:ext cx="31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="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4</a:t>
              </a:r>
              <a:endPara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324" name="Line 44"/>
            <p:cNvSpPr>
              <a:spLocks noChangeShapeType="1"/>
            </p:cNvSpPr>
            <p:nvPr/>
          </p:nvSpPr>
          <p:spPr bwMode="auto">
            <a:xfrm flipH="1">
              <a:off x="1679" y="3903"/>
              <a:ext cx="101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1325" name="Text Box 57"/>
            <p:cNvSpPr txBox="1">
              <a:spLocks noChangeArrowheads="1"/>
            </p:cNvSpPr>
            <p:nvPr/>
          </p:nvSpPr>
          <p:spPr bwMode="auto">
            <a:xfrm>
              <a:off x="2739" y="3515"/>
              <a:ext cx="2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8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  <a:sym typeface="Symbol" panose="05050102010706020507" pitchFamily="18" charset="2"/>
                </a:rPr>
                <a:t></a:t>
              </a:r>
            </a:p>
          </p:txBody>
        </p:sp>
        <p:grpSp>
          <p:nvGrpSpPr>
            <p:cNvPr id="11326" name="Group 59"/>
            <p:cNvGrpSpPr>
              <a:grpSpLocks/>
            </p:cNvGrpSpPr>
            <p:nvPr/>
          </p:nvGrpSpPr>
          <p:grpSpPr bwMode="auto">
            <a:xfrm>
              <a:off x="1409" y="2523"/>
              <a:ext cx="1609" cy="1664"/>
              <a:chOff x="1405" y="2381"/>
              <a:chExt cx="1609" cy="1664"/>
            </a:xfrm>
          </p:grpSpPr>
          <p:sp>
            <p:nvSpPr>
              <p:cNvPr id="11327" name="Text Box 60"/>
              <p:cNvSpPr txBox="1">
                <a:spLocks noChangeArrowheads="1"/>
              </p:cNvSpPr>
              <p:nvPr/>
            </p:nvSpPr>
            <p:spPr bwMode="auto">
              <a:xfrm>
                <a:off x="2806" y="2383"/>
                <a:ext cx="208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11328" name="Text Box 61"/>
              <p:cNvSpPr txBox="1">
                <a:spLocks noChangeArrowheads="1"/>
              </p:cNvSpPr>
              <p:nvPr/>
            </p:nvSpPr>
            <p:spPr bwMode="auto">
              <a:xfrm>
                <a:off x="2591" y="2382"/>
                <a:ext cx="168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11329" name="Text Box 62"/>
              <p:cNvSpPr txBox="1">
                <a:spLocks noChangeArrowheads="1"/>
              </p:cNvSpPr>
              <p:nvPr/>
            </p:nvSpPr>
            <p:spPr bwMode="auto">
              <a:xfrm>
                <a:off x="1645" y="2382"/>
                <a:ext cx="208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11330" name="Text Box 63"/>
              <p:cNvSpPr txBox="1">
                <a:spLocks noChangeArrowheads="1"/>
              </p:cNvSpPr>
              <p:nvPr/>
            </p:nvSpPr>
            <p:spPr bwMode="auto">
              <a:xfrm>
                <a:off x="1430" y="2381"/>
                <a:ext cx="168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11331" name="Text Box 64"/>
              <p:cNvSpPr txBox="1">
                <a:spLocks noChangeArrowheads="1"/>
              </p:cNvSpPr>
              <p:nvPr/>
            </p:nvSpPr>
            <p:spPr bwMode="auto">
              <a:xfrm>
                <a:off x="2195" y="2909"/>
                <a:ext cx="208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11332" name="Text Box 65"/>
              <p:cNvSpPr txBox="1">
                <a:spLocks noChangeArrowheads="1"/>
              </p:cNvSpPr>
              <p:nvPr/>
            </p:nvSpPr>
            <p:spPr bwMode="auto">
              <a:xfrm>
                <a:off x="2215" y="3146"/>
                <a:ext cx="168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11333" name="Text Box 66"/>
              <p:cNvSpPr txBox="1">
                <a:spLocks noChangeArrowheads="1"/>
              </p:cNvSpPr>
              <p:nvPr/>
            </p:nvSpPr>
            <p:spPr bwMode="auto">
              <a:xfrm>
                <a:off x="1405" y="3746"/>
                <a:ext cx="208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11334" name="Text Box 67"/>
              <p:cNvSpPr txBox="1">
                <a:spLocks noChangeArrowheads="1"/>
              </p:cNvSpPr>
              <p:nvPr/>
            </p:nvSpPr>
            <p:spPr bwMode="auto">
              <a:xfrm>
                <a:off x="1659" y="3735"/>
                <a:ext cx="168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</p:grpSp>
      <p:sp>
        <p:nvSpPr>
          <p:cNvPr id="387142" name="Text Box 70"/>
          <p:cNvSpPr txBox="1">
            <a:spLocks noChangeArrowheads="1"/>
          </p:cNvSpPr>
          <p:nvPr/>
        </p:nvSpPr>
        <p:spPr bwMode="auto">
          <a:xfrm>
            <a:off x="4525918" y="6182280"/>
            <a:ext cx="1879338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= Q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/ C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es-ES" sz="2400" b="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11" name="Text Box 85"/>
          <p:cNvSpPr txBox="1">
            <a:spLocks noChangeArrowheads="1"/>
          </p:cNvSpPr>
          <p:nvPr/>
        </p:nvSpPr>
        <p:spPr bwMode="auto">
          <a:xfrm>
            <a:off x="6345001" y="2282026"/>
            <a:ext cx="3545550" cy="9964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Placa +:  </a:t>
            </a:r>
            <a:r>
              <a:rPr lang="es-ES" sz="2400" b="0" dirty="0" err="1">
                <a:latin typeface="Arial" panose="020B0604020202020204" pitchFamily="34" charset="0"/>
              </a:rPr>
              <a:t>Q</a:t>
            </a:r>
            <a:r>
              <a:rPr lang="es-ES" sz="2400" b="0" baseline="-25000" dirty="0" err="1">
                <a:latin typeface="Arial" panose="020B0604020202020204" pitchFamily="34" charset="0"/>
              </a:rPr>
              <a:t>i</a:t>
            </a:r>
            <a:r>
              <a:rPr lang="es-ES" sz="2400" b="0" dirty="0">
                <a:latin typeface="Arial" panose="020B0604020202020204" pitchFamily="34" charset="0"/>
              </a:rPr>
              <a:t> =    Q  &gt; 0</a:t>
            </a:r>
            <a:endParaRPr lang="es-ES" sz="2400" b="0" baseline="-25000" dirty="0">
              <a:latin typeface="Arial" panose="020B0604020202020204" pitchFamily="34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Placa  -:  </a:t>
            </a:r>
            <a:r>
              <a:rPr lang="es-ES" sz="2400" b="0" dirty="0" err="1">
                <a:latin typeface="Arial" panose="020B0604020202020204" pitchFamily="34" charset="0"/>
              </a:rPr>
              <a:t>Q</a:t>
            </a:r>
            <a:r>
              <a:rPr lang="es-ES" sz="2400" b="0" baseline="-25000" dirty="0" err="1">
                <a:latin typeface="Arial" panose="020B0604020202020204" pitchFamily="34" charset="0"/>
              </a:rPr>
              <a:t>i</a:t>
            </a:r>
            <a:r>
              <a:rPr lang="es-ES" sz="2400" b="0" dirty="0">
                <a:latin typeface="Arial" panose="020B0604020202020204" pitchFamily="34" charset="0"/>
              </a:rPr>
              <a:t> = </a:t>
            </a: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 </a:t>
            </a:r>
            <a:r>
              <a:rPr lang="es-ES" sz="2400" b="0" dirty="0">
                <a:latin typeface="Arial" panose="020B0604020202020204" pitchFamily="34" charset="0"/>
              </a:rPr>
              <a:t>Q  &lt; 0</a:t>
            </a:r>
            <a:endParaRPr lang="es-ES" sz="2400" b="0" baseline="-25000" dirty="0">
              <a:latin typeface="Arial" panose="020B0604020202020204" pitchFamily="34" charset="0"/>
            </a:endParaRPr>
          </a:p>
        </p:txBody>
      </p:sp>
      <p:sp>
        <p:nvSpPr>
          <p:cNvPr id="56" name="Text Box 7"/>
          <p:cNvSpPr txBox="1">
            <a:spLocks noChangeArrowheads="1"/>
          </p:cNvSpPr>
          <p:nvPr/>
        </p:nvSpPr>
        <p:spPr bwMode="auto">
          <a:xfrm>
            <a:off x="2776806" y="3185538"/>
            <a:ext cx="1270197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000" b="0" baseline="-25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0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 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</a:rPr>
              <a:t>F</a:t>
            </a:r>
            <a:endParaRPr lang="es-ES" sz="2000" b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7" name="Text Box 8"/>
          <p:cNvSpPr txBox="1">
            <a:spLocks noChangeArrowheads="1"/>
          </p:cNvSpPr>
          <p:nvPr/>
        </p:nvSpPr>
        <p:spPr bwMode="auto">
          <a:xfrm>
            <a:off x="1334419" y="3579007"/>
            <a:ext cx="1270197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000" b="0" baseline="-25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s-ES" sz="20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5 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</a:rPr>
              <a:t>F</a:t>
            </a:r>
            <a:endParaRPr lang="es-ES" sz="2000" b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8" name="Text Box 9"/>
          <p:cNvSpPr txBox="1">
            <a:spLocks noChangeArrowheads="1"/>
          </p:cNvSpPr>
          <p:nvPr/>
        </p:nvSpPr>
        <p:spPr bwMode="auto">
          <a:xfrm>
            <a:off x="1344613" y="3172607"/>
            <a:ext cx="1270197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000" b="0" baseline="-25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0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4 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</a:rPr>
              <a:t>F</a:t>
            </a:r>
            <a:endParaRPr lang="es-ES" sz="2000" b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9" name="Text Box 6"/>
          <p:cNvSpPr txBox="1">
            <a:spLocks noChangeArrowheads="1"/>
          </p:cNvSpPr>
          <p:nvPr/>
        </p:nvSpPr>
        <p:spPr bwMode="auto">
          <a:xfrm>
            <a:off x="2923583" y="3959020"/>
            <a:ext cx="113394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0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10 V</a:t>
            </a:r>
          </a:p>
        </p:txBody>
      </p:sp>
      <p:sp>
        <p:nvSpPr>
          <p:cNvPr id="60" name="Text Box 9"/>
          <p:cNvSpPr txBox="1">
            <a:spLocks noChangeArrowheads="1"/>
          </p:cNvSpPr>
          <p:nvPr/>
        </p:nvSpPr>
        <p:spPr bwMode="auto">
          <a:xfrm>
            <a:off x="1321594" y="3990125"/>
            <a:ext cx="14541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lang="es-ES" sz="2000" b="0" baseline="-25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0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25 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</a:rPr>
              <a:t>C</a:t>
            </a:r>
            <a:endParaRPr lang="es-ES" sz="2000" b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1" name="Text Box 7"/>
          <p:cNvSpPr txBox="1">
            <a:spLocks noChangeArrowheads="1"/>
          </p:cNvSpPr>
          <p:nvPr/>
        </p:nvSpPr>
        <p:spPr bwMode="auto">
          <a:xfrm>
            <a:off x="2783431" y="3572279"/>
            <a:ext cx="1052189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000" b="0" baseline="-25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es-ES" sz="20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¿?</a:t>
            </a:r>
          </a:p>
        </p:txBody>
      </p:sp>
      <p:sp>
        <p:nvSpPr>
          <p:cNvPr id="62" name="Text Box 71"/>
          <p:cNvSpPr txBox="1">
            <a:spLocks noChangeArrowheads="1"/>
          </p:cNvSpPr>
          <p:nvPr/>
        </p:nvSpPr>
        <p:spPr bwMode="auto">
          <a:xfrm>
            <a:off x="5327936" y="4474494"/>
            <a:ext cx="219512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Q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– Q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</a:t>
            </a:r>
          </a:p>
        </p:txBody>
      </p:sp>
      <p:sp>
        <p:nvSpPr>
          <p:cNvPr id="63" name="Text Box 70"/>
          <p:cNvSpPr txBox="1">
            <a:spLocks noChangeArrowheads="1"/>
          </p:cNvSpPr>
          <p:nvPr/>
        </p:nvSpPr>
        <p:spPr bwMode="auto">
          <a:xfrm>
            <a:off x="6218862" y="6214865"/>
            <a:ext cx="240832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= 6,25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C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/ 2 F</a:t>
            </a:r>
          </a:p>
        </p:txBody>
      </p:sp>
      <p:sp>
        <p:nvSpPr>
          <p:cNvPr id="64" name="Text Box 71">
            <a:extLst>
              <a:ext uri="{FF2B5EF4-FFF2-40B4-BE49-F238E27FC236}">
                <a16:creationId xmlns:a16="http://schemas.microsoft.com/office/drawing/2014/main" id="{6E93BA2A-1D5C-4BA6-BF37-ABC3D8D20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3991" y="5241265"/>
            <a:ext cx="2873200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 25 C – 18,75 C</a:t>
            </a:r>
          </a:p>
        </p:txBody>
      </p:sp>
      <p:sp>
        <p:nvSpPr>
          <p:cNvPr id="65" name="Text Box 71">
            <a:extLst>
              <a:ext uri="{FF2B5EF4-FFF2-40B4-BE49-F238E27FC236}">
                <a16:creationId xmlns:a16="http://schemas.microsoft.com/office/drawing/2014/main" id="{485FA207-53F8-4B93-B0D2-59648557D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1342" y="5241265"/>
            <a:ext cx="1531486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 6,25 C</a:t>
            </a:r>
          </a:p>
        </p:txBody>
      </p:sp>
      <p:sp>
        <p:nvSpPr>
          <p:cNvPr id="66" name="Text Box 70">
            <a:extLst>
              <a:ext uri="{FF2B5EF4-FFF2-40B4-BE49-F238E27FC236}">
                <a16:creationId xmlns:a16="http://schemas.microsoft.com/office/drawing/2014/main" id="{1E9267EE-3681-4164-B169-E1EF5916CB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7668" y="6186051"/>
            <a:ext cx="1507442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 3,125 V</a:t>
            </a:r>
          </a:p>
        </p:txBody>
      </p:sp>
      <p:sp>
        <p:nvSpPr>
          <p:cNvPr id="2" name="Text Box 74">
            <a:extLst>
              <a:ext uri="{FF2B5EF4-FFF2-40B4-BE49-F238E27FC236}">
                <a16:creationId xmlns:a16="http://schemas.microsoft.com/office/drawing/2014/main" id="{15BFCB93-ECE6-411C-9009-53D7116D2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9085" y="4918641"/>
            <a:ext cx="1452562" cy="53657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C = Q / V</a:t>
            </a:r>
          </a:p>
        </p:txBody>
      </p:sp>
      <p:sp>
        <p:nvSpPr>
          <p:cNvPr id="3" name="Text Box 74">
            <a:extLst>
              <a:ext uri="{FF2B5EF4-FFF2-40B4-BE49-F238E27FC236}">
                <a16:creationId xmlns:a16="http://schemas.microsoft.com/office/drawing/2014/main" id="{E28BFDEC-DF70-4F87-868E-E6CAB12F3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9085" y="5580398"/>
            <a:ext cx="1452042" cy="536549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Q = C V</a:t>
            </a:r>
          </a:p>
        </p:txBody>
      </p:sp>
      <p:sp>
        <p:nvSpPr>
          <p:cNvPr id="4" name="Text Box 74">
            <a:extLst>
              <a:ext uri="{FF2B5EF4-FFF2-40B4-BE49-F238E27FC236}">
                <a16:creationId xmlns:a16="http://schemas.microsoft.com/office/drawing/2014/main" id="{78957B2A-4850-4E4B-9C73-A9DE8F8C38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8565" y="6242155"/>
            <a:ext cx="1452562" cy="53657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V = Q / C</a:t>
            </a:r>
          </a:p>
        </p:txBody>
      </p:sp>
      <p:sp>
        <p:nvSpPr>
          <p:cNvPr id="70" name="Text Box 71">
            <a:extLst>
              <a:ext uri="{FF2B5EF4-FFF2-40B4-BE49-F238E27FC236}">
                <a16:creationId xmlns:a16="http://schemas.microsoft.com/office/drawing/2014/main" id="{C3BBBBB9-DCD1-4521-8274-E610867ABA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7674" y="575492"/>
            <a:ext cx="455872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</a:t>
            </a:r>
            <a:endParaRPr lang="es-ES" sz="2400" b="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05793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3" dur="500"/>
                                        <p:tgtEl>
                                          <p:spTgt spid="59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85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8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540" grpId="0" animBg="1"/>
      <p:bldP spid="385095" grpId="0"/>
      <p:bldP spid="14362" grpId="0" animBg="1"/>
      <p:bldP spid="387142" grpId="0"/>
      <p:bldP spid="111" grpId="0" animBg="1"/>
      <p:bldP spid="62" grpId="0"/>
      <p:bldP spid="63" grpId="0"/>
      <p:bldP spid="64" grpId="0"/>
      <p:bldP spid="65" grpId="0"/>
      <p:bldP spid="66" grpId="0"/>
      <p:bldP spid="7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ángulo 54">
            <a:extLst>
              <a:ext uri="{FF2B5EF4-FFF2-40B4-BE49-F238E27FC236}">
                <a16:creationId xmlns:a16="http://schemas.microsoft.com/office/drawing/2014/main" id="{F8E2EEB3-4820-4676-9356-D8354DF40608}"/>
              </a:ext>
            </a:extLst>
          </p:cNvPr>
          <p:cNvSpPr/>
          <p:nvPr/>
        </p:nvSpPr>
        <p:spPr bwMode="auto">
          <a:xfrm>
            <a:off x="1562352" y="1037089"/>
            <a:ext cx="1692000" cy="1512000"/>
          </a:xfrm>
          <a:prstGeom prst="rect">
            <a:avLst/>
          </a:prstGeom>
          <a:solidFill>
            <a:srgbClr val="CCFFCC"/>
          </a:solidFill>
          <a:ln w="28575" cap="flat" cmpd="sng" algn="ctr">
            <a:solidFill>
              <a:srgbClr val="008000"/>
            </a:solidFill>
            <a:prstDash val="dash"/>
            <a:round/>
            <a:headEnd type="none" w="med" len="med"/>
            <a:tailEnd type="none" w="lg" len="lg"/>
          </a:ln>
          <a:effectLst/>
        </p:spPr>
        <p:txBody>
          <a:bodyPr rot="0" spcFirstLastPara="0" vertOverflow="overflow" horzOverflow="overflow" vert="horz" wrap="none" lIns="90000" tIns="82800" rIns="90000" bIns="82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13314" name="Group 16"/>
          <p:cNvGrpSpPr>
            <a:grpSpLocks/>
          </p:cNvGrpSpPr>
          <p:nvPr/>
        </p:nvGrpSpPr>
        <p:grpSpPr bwMode="auto">
          <a:xfrm>
            <a:off x="2364219" y="709010"/>
            <a:ext cx="112713" cy="482600"/>
            <a:chOff x="4253" y="5198"/>
            <a:chExt cx="121" cy="360"/>
          </a:xfrm>
        </p:grpSpPr>
        <p:sp>
          <p:nvSpPr>
            <p:cNvPr id="13377" name="Line 17"/>
            <p:cNvSpPr>
              <a:spLocks noChangeShapeType="1"/>
            </p:cNvSpPr>
            <p:nvPr/>
          </p:nvSpPr>
          <p:spPr bwMode="auto">
            <a:xfrm>
              <a:off x="4374" y="5198"/>
              <a:ext cx="0" cy="36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3378" name="Line 18"/>
            <p:cNvSpPr>
              <a:spLocks noChangeShapeType="1"/>
            </p:cNvSpPr>
            <p:nvPr/>
          </p:nvSpPr>
          <p:spPr bwMode="auto">
            <a:xfrm>
              <a:off x="4253" y="5198"/>
              <a:ext cx="0" cy="36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</p:grpSp>
      <p:grpSp>
        <p:nvGrpSpPr>
          <p:cNvPr id="13315" name="Group 19"/>
          <p:cNvGrpSpPr>
            <a:grpSpLocks/>
          </p:cNvGrpSpPr>
          <p:nvPr/>
        </p:nvGrpSpPr>
        <p:grpSpPr bwMode="auto">
          <a:xfrm>
            <a:off x="4216832" y="712185"/>
            <a:ext cx="112712" cy="484187"/>
            <a:chOff x="4253" y="5198"/>
            <a:chExt cx="121" cy="360"/>
          </a:xfrm>
        </p:grpSpPr>
        <p:sp>
          <p:nvSpPr>
            <p:cNvPr id="13375" name="Line 20"/>
            <p:cNvSpPr>
              <a:spLocks noChangeShapeType="1"/>
            </p:cNvSpPr>
            <p:nvPr/>
          </p:nvSpPr>
          <p:spPr bwMode="auto">
            <a:xfrm>
              <a:off x="4374" y="5198"/>
              <a:ext cx="0" cy="36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3376" name="Line 21"/>
            <p:cNvSpPr>
              <a:spLocks noChangeShapeType="1"/>
            </p:cNvSpPr>
            <p:nvPr/>
          </p:nvSpPr>
          <p:spPr bwMode="auto">
            <a:xfrm>
              <a:off x="4253" y="5198"/>
              <a:ext cx="0" cy="36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</p:grpSp>
      <p:grpSp>
        <p:nvGrpSpPr>
          <p:cNvPr id="13316" name="Group 22"/>
          <p:cNvGrpSpPr>
            <a:grpSpLocks/>
          </p:cNvGrpSpPr>
          <p:nvPr/>
        </p:nvGrpSpPr>
        <p:grpSpPr bwMode="auto">
          <a:xfrm rot="5400000">
            <a:off x="3227026" y="1587691"/>
            <a:ext cx="163512" cy="336550"/>
            <a:chOff x="4253" y="5198"/>
            <a:chExt cx="121" cy="360"/>
          </a:xfrm>
        </p:grpSpPr>
        <p:sp>
          <p:nvSpPr>
            <p:cNvPr id="13373" name="Line 23"/>
            <p:cNvSpPr>
              <a:spLocks noChangeShapeType="1"/>
            </p:cNvSpPr>
            <p:nvPr/>
          </p:nvSpPr>
          <p:spPr bwMode="auto">
            <a:xfrm>
              <a:off x="4374" y="5198"/>
              <a:ext cx="0" cy="36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3374" name="Line 24"/>
            <p:cNvSpPr>
              <a:spLocks noChangeShapeType="1"/>
            </p:cNvSpPr>
            <p:nvPr/>
          </p:nvSpPr>
          <p:spPr bwMode="auto">
            <a:xfrm>
              <a:off x="4253" y="5198"/>
              <a:ext cx="0" cy="36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</p:grpSp>
      <p:sp>
        <p:nvSpPr>
          <p:cNvPr id="13317" name="Line 25"/>
          <p:cNvSpPr>
            <a:spLocks noChangeShapeType="1"/>
          </p:cNvSpPr>
          <p:nvPr/>
        </p:nvSpPr>
        <p:spPr bwMode="auto">
          <a:xfrm flipH="1">
            <a:off x="1470457" y="945547"/>
            <a:ext cx="89217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b="0"/>
          </a:p>
        </p:txBody>
      </p:sp>
      <p:sp>
        <p:nvSpPr>
          <p:cNvPr id="13318" name="Text Box 26"/>
          <p:cNvSpPr txBox="1">
            <a:spLocks noChangeArrowheads="1"/>
          </p:cNvSpPr>
          <p:nvPr/>
        </p:nvSpPr>
        <p:spPr bwMode="auto">
          <a:xfrm>
            <a:off x="1935594" y="269272"/>
            <a:ext cx="50323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</a:t>
            </a:r>
            <a:r>
              <a:rPr lang="es-ES" sz="2000" b="0" baseline="-30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endParaRPr lang="es-ES" sz="2000" b="0">
              <a:solidFill>
                <a:srgbClr val="008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3319" name="Text Box 27"/>
          <p:cNvSpPr txBox="1">
            <a:spLocks noChangeArrowheads="1"/>
          </p:cNvSpPr>
          <p:nvPr/>
        </p:nvSpPr>
        <p:spPr bwMode="auto">
          <a:xfrm>
            <a:off x="3792969" y="269272"/>
            <a:ext cx="5032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</a:t>
            </a:r>
            <a:r>
              <a:rPr lang="es-ES" sz="2000" b="0" baseline="-30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s-ES" sz="2000" b="0">
              <a:solidFill>
                <a:srgbClr val="008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13320" name="Group 28"/>
          <p:cNvGrpSpPr>
            <a:grpSpLocks/>
          </p:cNvGrpSpPr>
          <p:nvPr/>
        </p:nvGrpSpPr>
        <p:grpSpPr bwMode="auto">
          <a:xfrm flipH="1">
            <a:off x="4102532" y="2399697"/>
            <a:ext cx="58737" cy="482600"/>
            <a:chOff x="5153" y="6274"/>
            <a:chExt cx="63" cy="360"/>
          </a:xfrm>
        </p:grpSpPr>
        <p:sp>
          <p:nvSpPr>
            <p:cNvPr id="13371" name="Line 29"/>
            <p:cNvSpPr>
              <a:spLocks noChangeShapeType="1"/>
            </p:cNvSpPr>
            <p:nvPr/>
          </p:nvSpPr>
          <p:spPr bwMode="auto">
            <a:xfrm>
              <a:off x="5216" y="6357"/>
              <a:ext cx="0" cy="19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3372" name="Line 30"/>
            <p:cNvSpPr>
              <a:spLocks noChangeShapeType="1"/>
            </p:cNvSpPr>
            <p:nvPr/>
          </p:nvSpPr>
          <p:spPr bwMode="auto">
            <a:xfrm>
              <a:off x="5153" y="6274"/>
              <a:ext cx="0" cy="36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</p:grpSp>
      <p:sp>
        <p:nvSpPr>
          <p:cNvPr id="13321" name="Line 31"/>
          <p:cNvSpPr>
            <a:spLocks noChangeShapeType="1"/>
          </p:cNvSpPr>
          <p:nvPr/>
        </p:nvSpPr>
        <p:spPr bwMode="auto">
          <a:xfrm flipH="1">
            <a:off x="4161269" y="2640997"/>
            <a:ext cx="100647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b="0"/>
          </a:p>
        </p:txBody>
      </p:sp>
      <p:sp>
        <p:nvSpPr>
          <p:cNvPr id="13322" name="Text Box 32"/>
          <p:cNvSpPr txBox="1">
            <a:spLocks noChangeArrowheads="1"/>
          </p:cNvSpPr>
          <p:nvPr/>
        </p:nvSpPr>
        <p:spPr bwMode="auto">
          <a:xfrm>
            <a:off x="2670607" y="1488472"/>
            <a:ext cx="503237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</a:t>
            </a:r>
            <a:r>
              <a:rPr lang="es-ES" sz="2000" b="0" baseline="-30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</a:t>
            </a:r>
            <a:endParaRPr lang="es-ES" sz="2000" b="0">
              <a:solidFill>
                <a:srgbClr val="008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3323" name="Line 33"/>
          <p:cNvSpPr>
            <a:spLocks noChangeShapeType="1"/>
          </p:cNvSpPr>
          <p:nvPr/>
        </p:nvSpPr>
        <p:spPr bwMode="auto">
          <a:xfrm flipH="1">
            <a:off x="2484869" y="950310"/>
            <a:ext cx="1731963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b="0"/>
          </a:p>
        </p:txBody>
      </p:sp>
      <p:sp>
        <p:nvSpPr>
          <p:cNvPr id="13324" name="Line 34"/>
          <p:cNvSpPr>
            <a:spLocks noChangeShapeType="1"/>
          </p:cNvSpPr>
          <p:nvPr/>
        </p:nvSpPr>
        <p:spPr bwMode="auto">
          <a:xfrm>
            <a:off x="1486332" y="950310"/>
            <a:ext cx="0" cy="169068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b="0"/>
          </a:p>
        </p:txBody>
      </p:sp>
      <p:sp>
        <p:nvSpPr>
          <p:cNvPr id="13325" name="Line 35"/>
          <p:cNvSpPr>
            <a:spLocks noChangeShapeType="1"/>
          </p:cNvSpPr>
          <p:nvPr/>
        </p:nvSpPr>
        <p:spPr bwMode="auto">
          <a:xfrm>
            <a:off x="5148694" y="950310"/>
            <a:ext cx="0" cy="169068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b="0"/>
          </a:p>
        </p:txBody>
      </p:sp>
      <p:sp>
        <p:nvSpPr>
          <p:cNvPr id="13326" name="Line 36"/>
          <p:cNvSpPr>
            <a:spLocks noChangeShapeType="1"/>
          </p:cNvSpPr>
          <p:nvPr/>
        </p:nvSpPr>
        <p:spPr bwMode="auto">
          <a:xfrm>
            <a:off x="4329544" y="950310"/>
            <a:ext cx="8382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b="0"/>
          </a:p>
        </p:txBody>
      </p:sp>
      <p:sp>
        <p:nvSpPr>
          <p:cNvPr id="13327" name="Line 37"/>
          <p:cNvSpPr>
            <a:spLocks noChangeShapeType="1"/>
          </p:cNvSpPr>
          <p:nvPr/>
        </p:nvSpPr>
        <p:spPr bwMode="auto">
          <a:xfrm flipV="1">
            <a:off x="3308782" y="950310"/>
            <a:ext cx="0" cy="7239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b="0"/>
          </a:p>
        </p:txBody>
      </p:sp>
      <p:sp>
        <p:nvSpPr>
          <p:cNvPr id="13328" name="Line 38"/>
          <p:cNvSpPr>
            <a:spLocks noChangeShapeType="1"/>
          </p:cNvSpPr>
          <p:nvPr/>
        </p:nvSpPr>
        <p:spPr bwMode="auto">
          <a:xfrm flipV="1">
            <a:off x="3308782" y="1842485"/>
            <a:ext cx="0" cy="798512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b="0"/>
          </a:p>
        </p:txBody>
      </p:sp>
      <p:grpSp>
        <p:nvGrpSpPr>
          <p:cNvPr id="13329" name="Group 39"/>
          <p:cNvGrpSpPr>
            <a:grpSpLocks/>
          </p:cNvGrpSpPr>
          <p:nvPr/>
        </p:nvGrpSpPr>
        <p:grpSpPr bwMode="auto">
          <a:xfrm>
            <a:off x="2372157" y="2404460"/>
            <a:ext cx="112712" cy="482600"/>
            <a:chOff x="4253" y="5198"/>
            <a:chExt cx="121" cy="360"/>
          </a:xfrm>
        </p:grpSpPr>
        <p:sp>
          <p:nvSpPr>
            <p:cNvPr id="13369" name="Line 40"/>
            <p:cNvSpPr>
              <a:spLocks noChangeShapeType="1"/>
            </p:cNvSpPr>
            <p:nvPr/>
          </p:nvSpPr>
          <p:spPr bwMode="auto">
            <a:xfrm>
              <a:off x="4374" y="5198"/>
              <a:ext cx="0" cy="36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3370" name="Line 41"/>
            <p:cNvSpPr>
              <a:spLocks noChangeShapeType="1"/>
            </p:cNvSpPr>
            <p:nvPr/>
          </p:nvSpPr>
          <p:spPr bwMode="auto">
            <a:xfrm>
              <a:off x="4253" y="5198"/>
              <a:ext cx="0" cy="36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</p:grpSp>
      <p:sp>
        <p:nvSpPr>
          <p:cNvPr id="13330" name="Line 42"/>
          <p:cNvSpPr>
            <a:spLocks noChangeShapeType="1"/>
          </p:cNvSpPr>
          <p:nvPr/>
        </p:nvSpPr>
        <p:spPr bwMode="auto">
          <a:xfrm flipH="1">
            <a:off x="1478394" y="2640997"/>
            <a:ext cx="89217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b="0"/>
          </a:p>
        </p:txBody>
      </p:sp>
      <p:sp>
        <p:nvSpPr>
          <p:cNvPr id="13331" name="Text Box 43"/>
          <p:cNvSpPr txBox="1">
            <a:spLocks noChangeArrowheads="1"/>
          </p:cNvSpPr>
          <p:nvPr/>
        </p:nvSpPr>
        <p:spPr bwMode="auto">
          <a:xfrm>
            <a:off x="1935594" y="2009172"/>
            <a:ext cx="503238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</a:t>
            </a:r>
            <a:r>
              <a:rPr lang="es-ES" sz="2000" b="0" baseline="-3000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</a:t>
            </a:r>
            <a:endParaRPr lang="es-ES" sz="2000" b="0">
              <a:solidFill>
                <a:srgbClr val="008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3332" name="Line 44"/>
          <p:cNvSpPr>
            <a:spLocks noChangeShapeType="1"/>
          </p:cNvSpPr>
          <p:nvPr/>
        </p:nvSpPr>
        <p:spPr bwMode="auto">
          <a:xfrm flipH="1">
            <a:off x="2492807" y="2640997"/>
            <a:ext cx="161607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b="0"/>
          </a:p>
        </p:txBody>
      </p:sp>
      <p:sp>
        <p:nvSpPr>
          <p:cNvPr id="13333" name="Text Box 57"/>
          <p:cNvSpPr txBox="1">
            <a:spLocks noChangeArrowheads="1"/>
          </p:cNvSpPr>
          <p:nvPr/>
        </p:nvSpPr>
        <p:spPr bwMode="auto">
          <a:xfrm>
            <a:off x="4175557" y="2025047"/>
            <a:ext cx="3349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3334" name="Text Box 58"/>
          <p:cNvSpPr txBox="1">
            <a:spLocks noChangeArrowheads="1"/>
          </p:cNvSpPr>
          <p:nvPr/>
        </p:nvSpPr>
        <p:spPr bwMode="auto">
          <a:xfrm>
            <a:off x="4288269" y="442310"/>
            <a:ext cx="330838" cy="474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13335" name="Text Box 59"/>
          <p:cNvSpPr txBox="1">
            <a:spLocks noChangeArrowheads="1"/>
          </p:cNvSpPr>
          <p:nvPr/>
        </p:nvSpPr>
        <p:spPr bwMode="auto">
          <a:xfrm>
            <a:off x="3946957" y="440722"/>
            <a:ext cx="266717" cy="474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FF0000"/>
                </a:solidFill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13336" name="Text Box 60"/>
          <p:cNvSpPr txBox="1">
            <a:spLocks noChangeArrowheads="1"/>
          </p:cNvSpPr>
          <p:nvPr/>
        </p:nvSpPr>
        <p:spPr bwMode="auto">
          <a:xfrm>
            <a:off x="2445182" y="453422"/>
            <a:ext cx="330838" cy="474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13337" name="Text Box 61"/>
          <p:cNvSpPr txBox="1">
            <a:spLocks noChangeArrowheads="1"/>
          </p:cNvSpPr>
          <p:nvPr/>
        </p:nvSpPr>
        <p:spPr bwMode="auto">
          <a:xfrm>
            <a:off x="2103869" y="451835"/>
            <a:ext cx="266717" cy="474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FF0000"/>
                </a:solidFill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13338" name="Text Box 62"/>
          <p:cNvSpPr txBox="1">
            <a:spLocks noChangeArrowheads="1"/>
          </p:cNvSpPr>
          <p:nvPr/>
        </p:nvSpPr>
        <p:spPr bwMode="auto">
          <a:xfrm>
            <a:off x="3318307" y="1277335"/>
            <a:ext cx="330838" cy="474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13339" name="Text Box 63"/>
          <p:cNvSpPr txBox="1">
            <a:spLocks noChangeArrowheads="1"/>
          </p:cNvSpPr>
          <p:nvPr/>
        </p:nvSpPr>
        <p:spPr bwMode="auto">
          <a:xfrm>
            <a:off x="3350057" y="1653572"/>
            <a:ext cx="266717" cy="474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FF0000"/>
                </a:solidFill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13340" name="Text Box 64"/>
          <p:cNvSpPr txBox="1">
            <a:spLocks noChangeArrowheads="1"/>
          </p:cNvSpPr>
          <p:nvPr/>
        </p:nvSpPr>
        <p:spPr bwMode="auto">
          <a:xfrm>
            <a:off x="2064182" y="2606072"/>
            <a:ext cx="330838" cy="474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13341" name="Text Box 65"/>
          <p:cNvSpPr txBox="1">
            <a:spLocks noChangeArrowheads="1"/>
          </p:cNvSpPr>
          <p:nvPr/>
        </p:nvSpPr>
        <p:spPr bwMode="auto">
          <a:xfrm>
            <a:off x="2467407" y="2588610"/>
            <a:ext cx="266717" cy="474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FF0000"/>
                </a:solidFill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387138" name="Text Box 66"/>
          <p:cNvSpPr txBox="1">
            <a:spLocks noChangeArrowheads="1"/>
          </p:cNvSpPr>
          <p:nvPr/>
        </p:nvSpPr>
        <p:spPr bwMode="auto">
          <a:xfrm>
            <a:off x="5873762" y="3434972"/>
            <a:ext cx="2735342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+ V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 V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= 0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</a:p>
        </p:txBody>
      </p:sp>
      <p:sp>
        <p:nvSpPr>
          <p:cNvPr id="387139" name="AutoShape 67"/>
          <p:cNvSpPr>
            <a:spLocks noChangeArrowheads="1"/>
          </p:cNvSpPr>
          <p:nvPr/>
        </p:nvSpPr>
        <p:spPr bwMode="auto">
          <a:xfrm rot="5400000" flipV="1">
            <a:off x="2000682" y="1374376"/>
            <a:ext cx="557212" cy="667931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3009" y="17145"/>
                </a:moveTo>
                <a:cubicBezTo>
                  <a:pt x="15709" y="16204"/>
                  <a:pt x="17519" y="13659"/>
                  <a:pt x="17519" y="10800"/>
                </a:cubicBezTo>
                <a:cubicBezTo>
                  <a:pt x="17519" y="7089"/>
                  <a:pt x="14510" y="4081"/>
                  <a:pt x="10800" y="4081"/>
                </a:cubicBezTo>
                <a:cubicBezTo>
                  <a:pt x="7172" y="4080"/>
                  <a:pt x="4199" y="6960"/>
                  <a:pt x="4084" y="10586"/>
                </a:cubicBezTo>
                <a:lnTo>
                  <a:pt x="5" y="10457"/>
                </a:lnTo>
                <a:cubicBezTo>
                  <a:pt x="190" y="4628"/>
                  <a:pt x="4968" y="-1"/>
                  <a:pt x="10800" y="0"/>
                </a:cubicBezTo>
                <a:cubicBezTo>
                  <a:pt x="16764" y="0"/>
                  <a:pt x="21600" y="4835"/>
                  <a:pt x="21600" y="10800"/>
                </a:cubicBezTo>
                <a:cubicBezTo>
                  <a:pt x="21600" y="15395"/>
                  <a:pt x="18691" y="19487"/>
                  <a:pt x="14351" y="20999"/>
                </a:cubicBezTo>
                <a:lnTo>
                  <a:pt x="15239" y="23549"/>
                </a:lnTo>
                <a:lnTo>
                  <a:pt x="9203" y="20631"/>
                </a:lnTo>
                <a:lnTo>
                  <a:pt x="12121" y="14595"/>
                </a:lnTo>
                <a:lnTo>
                  <a:pt x="13009" y="17145"/>
                </a:lnTo>
                <a:close/>
              </a:path>
            </a:pathLst>
          </a:custGeom>
          <a:solidFill>
            <a:srgbClr val="FF0000"/>
          </a:solidFill>
          <a:ln w="12700" algn="ctr">
            <a:solidFill>
              <a:srgbClr val="FF0000"/>
            </a:solidFill>
            <a:miter lim="800000"/>
            <a:headEnd/>
            <a:tailEnd type="none" w="lg" len="lg"/>
          </a:ln>
        </p:spPr>
        <p:txBody>
          <a:bodyPr lIns="90000" tIns="82800" rIns="90000" bIns="82800" anchor="ctr">
            <a:spAutoFit/>
          </a:bodyPr>
          <a:lstStyle/>
          <a:p>
            <a:endParaRPr lang="en-GB" b="0"/>
          </a:p>
        </p:txBody>
      </p:sp>
      <p:sp>
        <p:nvSpPr>
          <p:cNvPr id="387140" name="Text Box 68"/>
          <p:cNvSpPr txBox="1">
            <a:spLocks noChangeArrowheads="1"/>
          </p:cNvSpPr>
          <p:nvPr/>
        </p:nvSpPr>
        <p:spPr bwMode="auto">
          <a:xfrm>
            <a:off x="5866676" y="6114038"/>
            <a:ext cx="4412083" cy="536549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6,25 C / 0,625 V = 10 F</a:t>
            </a:r>
          </a:p>
        </p:txBody>
      </p:sp>
      <p:sp>
        <p:nvSpPr>
          <p:cNvPr id="387141" name="Text Box 69"/>
          <p:cNvSpPr txBox="1">
            <a:spLocks noChangeArrowheads="1"/>
          </p:cNvSpPr>
          <p:nvPr/>
        </p:nvSpPr>
        <p:spPr bwMode="auto">
          <a:xfrm>
            <a:off x="5853760" y="1518704"/>
            <a:ext cx="2671222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= Q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6,25 C</a:t>
            </a:r>
          </a:p>
        </p:txBody>
      </p:sp>
      <p:sp>
        <p:nvSpPr>
          <p:cNvPr id="15388" name="Text Box 75"/>
          <p:cNvSpPr txBox="1">
            <a:spLocks noChangeArrowheads="1"/>
          </p:cNvSpPr>
          <p:nvPr/>
        </p:nvSpPr>
        <p:spPr bwMode="auto">
          <a:xfrm>
            <a:off x="5851351" y="429773"/>
            <a:ext cx="2823504" cy="905881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</a:rPr>
              <a:t>C</a:t>
            </a:r>
            <a:r>
              <a:rPr lang="es-ES" sz="2400" b="0" baseline="-25000">
                <a:latin typeface="Arial" panose="020B0604020202020204" pitchFamily="34" charset="0"/>
              </a:rPr>
              <a:t>4</a:t>
            </a:r>
            <a:r>
              <a:rPr lang="es-ES" sz="2400" b="0">
                <a:latin typeface="Arial" panose="020B0604020202020204" pitchFamily="34" charset="0"/>
              </a:rPr>
              <a:t> y C</a:t>
            </a:r>
            <a:r>
              <a:rPr lang="es-ES" sz="2400" b="0" baseline="-25000">
                <a:latin typeface="Arial" panose="020B0604020202020204" pitchFamily="34" charset="0"/>
              </a:rPr>
              <a:t>2</a:t>
            </a:r>
            <a:r>
              <a:rPr lang="es-ES" sz="2400" b="0">
                <a:latin typeface="Arial" panose="020B0604020202020204" pitchFamily="34" charset="0"/>
              </a:rPr>
              <a:t> están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</a:rPr>
              <a:t>asociados en serie</a:t>
            </a:r>
          </a:p>
        </p:txBody>
      </p:sp>
      <p:sp>
        <p:nvSpPr>
          <p:cNvPr id="63" name="Text Box 7"/>
          <p:cNvSpPr txBox="1">
            <a:spLocks noChangeArrowheads="1"/>
          </p:cNvSpPr>
          <p:nvPr/>
        </p:nvSpPr>
        <p:spPr bwMode="auto">
          <a:xfrm>
            <a:off x="2776806" y="3185538"/>
            <a:ext cx="1270197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000" b="0" baseline="-25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0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 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</a:rPr>
              <a:t>F</a:t>
            </a:r>
            <a:endParaRPr lang="es-ES" sz="2000" b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4" name="Text Box 8"/>
          <p:cNvSpPr txBox="1">
            <a:spLocks noChangeArrowheads="1"/>
          </p:cNvSpPr>
          <p:nvPr/>
        </p:nvSpPr>
        <p:spPr bwMode="auto">
          <a:xfrm>
            <a:off x="1334419" y="3579007"/>
            <a:ext cx="1270197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000" b="0" baseline="-25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s-ES" sz="20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5 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</a:rPr>
              <a:t>F</a:t>
            </a:r>
            <a:endParaRPr lang="es-ES" sz="2000" b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5" name="Text Box 9"/>
          <p:cNvSpPr txBox="1">
            <a:spLocks noChangeArrowheads="1"/>
          </p:cNvSpPr>
          <p:nvPr/>
        </p:nvSpPr>
        <p:spPr bwMode="auto">
          <a:xfrm>
            <a:off x="1344613" y="3172607"/>
            <a:ext cx="1270197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000" b="0" baseline="-25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0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4 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</a:rPr>
              <a:t>F</a:t>
            </a:r>
            <a:endParaRPr lang="es-ES" sz="2000" b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6" name="Text Box 6"/>
          <p:cNvSpPr txBox="1">
            <a:spLocks noChangeArrowheads="1"/>
          </p:cNvSpPr>
          <p:nvPr/>
        </p:nvSpPr>
        <p:spPr bwMode="auto">
          <a:xfrm>
            <a:off x="2923583" y="3959020"/>
            <a:ext cx="113394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0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10 V</a:t>
            </a:r>
          </a:p>
        </p:txBody>
      </p:sp>
      <p:sp>
        <p:nvSpPr>
          <p:cNvPr id="67" name="Text Box 9"/>
          <p:cNvSpPr txBox="1">
            <a:spLocks noChangeArrowheads="1"/>
          </p:cNvSpPr>
          <p:nvPr/>
        </p:nvSpPr>
        <p:spPr bwMode="auto">
          <a:xfrm>
            <a:off x="1321594" y="3990125"/>
            <a:ext cx="14541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lang="es-ES" sz="2000" b="0" baseline="-25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0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25 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</a:rPr>
              <a:t>C</a:t>
            </a:r>
            <a:endParaRPr lang="es-ES" sz="2000" b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8" name="Text Box 7"/>
          <p:cNvSpPr txBox="1">
            <a:spLocks noChangeArrowheads="1"/>
          </p:cNvSpPr>
          <p:nvPr/>
        </p:nvSpPr>
        <p:spPr bwMode="auto">
          <a:xfrm>
            <a:off x="2783431" y="3572279"/>
            <a:ext cx="1052189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000" b="0" baseline="-25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es-ES" sz="20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¿?</a:t>
            </a:r>
          </a:p>
        </p:txBody>
      </p:sp>
      <p:sp>
        <p:nvSpPr>
          <p:cNvPr id="56" name="Text Box 66"/>
          <p:cNvSpPr txBox="1">
            <a:spLocks noChangeArrowheads="1"/>
          </p:cNvSpPr>
          <p:nvPr/>
        </p:nvSpPr>
        <p:spPr bwMode="auto">
          <a:xfrm>
            <a:off x="5896376" y="4083364"/>
            <a:ext cx="209414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V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– V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</a:t>
            </a:r>
          </a:p>
        </p:txBody>
      </p:sp>
      <p:sp>
        <p:nvSpPr>
          <p:cNvPr id="57" name="Text Box 66">
            <a:extLst>
              <a:ext uri="{FF2B5EF4-FFF2-40B4-BE49-F238E27FC236}">
                <a16:creationId xmlns:a16="http://schemas.microsoft.com/office/drawing/2014/main" id="{73D42566-EF00-4E70-940F-09FDC8C08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9535" y="4693136"/>
            <a:ext cx="2823507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 3,75 V – 3,125 V</a:t>
            </a:r>
          </a:p>
        </p:txBody>
      </p:sp>
      <p:sp>
        <p:nvSpPr>
          <p:cNvPr id="60" name="Text Box 66">
            <a:extLst>
              <a:ext uri="{FF2B5EF4-FFF2-40B4-BE49-F238E27FC236}">
                <a16:creationId xmlns:a16="http://schemas.microsoft.com/office/drawing/2014/main" id="{9C0086B8-A0C5-4CB3-8776-671622665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9535" y="5319649"/>
            <a:ext cx="1592400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 0,625 V </a:t>
            </a:r>
          </a:p>
        </p:txBody>
      </p:sp>
      <p:sp>
        <p:nvSpPr>
          <p:cNvPr id="61" name="Text Box 69">
            <a:extLst>
              <a:ext uri="{FF2B5EF4-FFF2-40B4-BE49-F238E27FC236}">
                <a16:creationId xmlns:a16="http://schemas.microsoft.com/office/drawing/2014/main" id="{8BF9D649-8B4A-4E3B-8C32-E8196E4C4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5842" y="451644"/>
            <a:ext cx="455872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</a:t>
            </a:r>
            <a:endParaRPr lang="es-ES" sz="2400" b="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Text Box 74">
            <a:extLst>
              <a:ext uri="{FF2B5EF4-FFF2-40B4-BE49-F238E27FC236}">
                <a16:creationId xmlns:a16="http://schemas.microsoft.com/office/drawing/2014/main" id="{36DC9F42-A970-40A7-A0A2-ADF39C4BA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9085" y="4918641"/>
            <a:ext cx="1452562" cy="53657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C = Q / V</a:t>
            </a:r>
          </a:p>
        </p:txBody>
      </p:sp>
      <p:sp>
        <p:nvSpPr>
          <p:cNvPr id="3" name="Text Box 74">
            <a:extLst>
              <a:ext uri="{FF2B5EF4-FFF2-40B4-BE49-F238E27FC236}">
                <a16:creationId xmlns:a16="http://schemas.microsoft.com/office/drawing/2014/main" id="{3C27E7FB-565D-4EE2-B988-2DABF324A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9085" y="5580398"/>
            <a:ext cx="1452042" cy="536549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Q = C V</a:t>
            </a:r>
          </a:p>
        </p:txBody>
      </p:sp>
      <p:sp>
        <p:nvSpPr>
          <p:cNvPr id="4" name="Text Box 74">
            <a:extLst>
              <a:ext uri="{FF2B5EF4-FFF2-40B4-BE49-F238E27FC236}">
                <a16:creationId xmlns:a16="http://schemas.microsoft.com/office/drawing/2014/main" id="{42592B72-666D-4A28-BA58-B593FBB82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8565" y="6242155"/>
            <a:ext cx="1452562" cy="53657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V = Q / C</a:t>
            </a:r>
          </a:p>
        </p:txBody>
      </p:sp>
      <p:sp>
        <p:nvSpPr>
          <p:cNvPr id="5" name="Text Box 84">
            <a:extLst>
              <a:ext uri="{FF2B5EF4-FFF2-40B4-BE49-F238E27FC236}">
                <a16:creationId xmlns:a16="http://schemas.microsoft.com/office/drawing/2014/main" id="{14565D71-838C-9651-3C62-FDC14836F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6447" y="2343696"/>
            <a:ext cx="4513724" cy="905881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</a:rPr>
              <a:t>En </a:t>
            </a:r>
            <a:r>
              <a:rPr lang="es-ES" sz="2400" b="0" dirty="0">
                <a:latin typeface="Arial" panose="020B0604020202020204" pitchFamily="34" charset="0"/>
              </a:rPr>
              <a:t>una malla la suma de las diferencias de potencial es cero</a:t>
            </a:r>
          </a:p>
        </p:txBody>
      </p:sp>
    </p:spTree>
    <p:extLst>
      <p:ext uri="{BB962C8B-B14F-4D97-AF65-F5344CB8AC3E}">
        <p14:creationId xmlns:p14="http://schemas.microsoft.com/office/powerpoint/2010/main" val="1832651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5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87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87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87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871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7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7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87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387138" grpId="0"/>
      <p:bldP spid="387139" grpId="0" animBg="1"/>
      <p:bldP spid="387140" grpId="0" animBg="1"/>
      <p:bldP spid="387141" grpId="0"/>
      <p:bldP spid="15388" grpId="0" animBg="1"/>
      <p:bldP spid="56" grpId="0"/>
      <p:bldP spid="57" grpId="0"/>
      <p:bldP spid="60" grpId="0"/>
      <p:bldP spid="61" grpId="0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20" name="Group 28"/>
          <p:cNvGrpSpPr>
            <a:grpSpLocks/>
          </p:cNvGrpSpPr>
          <p:nvPr/>
        </p:nvGrpSpPr>
        <p:grpSpPr bwMode="auto">
          <a:xfrm flipH="1">
            <a:off x="8799393" y="2306871"/>
            <a:ext cx="58737" cy="482600"/>
            <a:chOff x="5153" y="6274"/>
            <a:chExt cx="63" cy="360"/>
          </a:xfrm>
        </p:grpSpPr>
        <p:sp>
          <p:nvSpPr>
            <p:cNvPr id="13371" name="Line 29"/>
            <p:cNvSpPr>
              <a:spLocks noChangeShapeType="1"/>
            </p:cNvSpPr>
            <p:nvPr/>
          </p:nvSpPr>
          <p:spPr bwMode="auto">
            <a:xfrm>
              <a:off x="5216" y="6357"/>
              <a:ext cx="0" cy="19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3372" name="Line 30"/>
            <p:cNvSpPr>
              <a:spLocks noChangeShapeType="1"/>
            </p:cNvSpPr>
            <p:nvPr/>
          </p:nvSpPr>
          <p:spPr bwMode="auto">
            <a:xfrm>
              <a:off x="5153" y="6274"/>
              <a:ext cx="0" cy="36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</p:grpSp>
      <p:sp>
        <p:nvSpPr>
          <p:cNvPr id="13321" name="Line 31"/>
          <p:cNvSpPr>
            <a:spLocks noChangeShapeType="1"/>
          </p:cNvSpPr>
          <p:nvPr/>
        </p:nvSpPr>
        <p:spPr bwMode="auto">
          <a:xfrm flipH="1">
            <a:off x="8858130" y="2548171"/>
            <a:ext cx="100647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b="0"/>
          </a:p>
        </p:txBody>
      </p:sp>
      <p:sp>
        <p:nvSpPr>
          <p:cNvPr id="13323" name="Line 33"/>
          <p:cNvSpPr>
            <a:spLocks noChangeShapeType="1"/>
          </p:cNvSpPr>
          <p:nvPr/>
        </p:nvSpPr>
        <p:spPr bwMode="auto">
          <a:xfrm flipH="1">
            <a:off x="7181730" y="857484"/>
            <a:ext cx="1731963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b="0"/>
          </a:p>
        </p:txBody>
      </p:sp>
      <p:sp>
        <p:nvSpPr>
          <p:cNvPr id="13325" name="Line 35"/>
          <p:cNvSpPr>
            <a:spLocks noChangeShapeType="1"/>
          </p:cNvSpPr>
          <p:nvPr/>
        </p:nvSpPr>
        <p:spPr bwMode="auto">
          <a:xfrm>
            <a:off x="9845555" y="857484"/>
            <a:ext cx="0" cy="169068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b="0"/>
          </a:p>
        </p:txBody>
      </p:sp>
      <p:sp>
        <p:nvSpPr>
          <p:cNvPr id="13332" name="Line 44"/>
          <p:cNvSpPr>
            <a:spLocks noChangeShapeType="1"/>
          </p:cNvSpPr>
          <p:nvPr/>
        </p:nvSpPr>
        <p:spPr bwMode="auto">
          <a:xfrm flipH="1">
            <a:off x="7189668" y="2548171"/>
            <a:ext cx="161607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b="0"/>
          </a:p>
        </p:txBody>
      </p:sp>
      <p:sp>
        <p:nvSpPr>
          <p:cNvPr id="13333" name="Text Box 57"/>
          <p:cNvSpPr txBox="1">
            <a:spLocks noChangeArrowheads="1"/>
          </p:cNvSpPr>
          <p:nvPr/>
        </p:nvSpPr>
        <p:spPr bwMode="auto">
          <a:xfrm>
            <a:off x="8872418" y="1932221"/>
            <a:ext cx="3349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7367468" y="857484"/>
            <a:ext cx="978538" cy="1690687"/>
            <a:chOff x="2836863" y="950310"/>
            <a:chExt cx="978538" cy="1690687"/>
          </a:xfrm>
        </p:grpSpPr>
        <p:grpSp>
          <p:nvGrpSpPr>
            <p:cNvPr id="13316" name="Group 22"/>
            <p:cNvGrpSpPr>
              <a:grpSpLocks/>
            </p:cNvGrpSpPr>
            <p:nvPr/>
          </p:nvGrpSpPr>
          <p:grpSpPr bwMode="auto">
            <a:xfrm rot="5400000">
              <a:off x="3393282" y="1587691"/>
              <a:ext cx="163512" cy="336550"/>
              <a:chOff x="4253" y="5198"/>
              <a:chExt cx="121" cy="360"/>
            </a:xfrm>
          </p:grpSpPr>
          <p:sp>
            <p:nvSpPr>
              <p:cNvPr id="13373" name="Line 23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13374" name="Line 24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sp>
          <p:nvSpPr>
            <p:cNvPr id="13322" name="Text Box 32"/>
            <p:cNvSpPr txBox="1">
              <a:spLocks noChangeArrowheads="1"/>
            </p:cNvSpPr>
            <p:nvPr/>
          </p:nvSpPr>
          <p:spPr bwMode="auto">
            <a:xfrm>
              <a:off x="2836863" y="1488472"/>
              <a:ext cx="503237" cy="495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="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3</a:t>
              </a:r>
              <a:endPara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327" name="Line 37"/>
            <p:cNvSpPr>
              <a:spLocks noChangeShapeType="1"/>
            </p:cNvSpPr>
            <p:nvPr/>
          </p:nvSpPr>
          <p:spPr bwMode="auto">
            <a:xfrm flipV="1">
              <a:off x="3475038" y="950310"/>
              <a:ext cx="0" cy="7239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3328" name="Line 38"/>
            <p:cNvSpPr>
              <a:spLocks noChangeShapeType="1"/>
            </p:cNvSpPr>
            <p:nvPr/>
          </p:nvSpPr>
          <p:spPr bwMode="auto">
            <a:xfrm flipV="1">
              <a:off x="3475038" y="1842485"/>
              <a:ext cx="0" cy="79851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3338" name="Text Box 62"/>
            <p:cNvSpPr txBox="1">
              <a:spLocks noChangeArrowheads="1"/>
            </p:cNvSpPr>
            <p:nvPr/>
          </p:nvSpPr>
          <p:spPr bwMode="auto">
            <a:xfrm>
              <a:off x="3484563" y="1277335"/>
              <a:ext cx="330838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3339" name="Text Box 63"/>
            <p:cNvSpPr txBox="1">
              <a:spLocks noChangeArrowheads="1"/>
            </p:cNvSpPr>
            <p:nvPr/>
          </p:nvSpPr>
          <p:spPr bwMode="auto">
            <a:xfrm>
              <a:off x="3516313" y="1653572"/>
              <a:ext cx="266717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</p:grpSp>
      <p:grpSp>
        <p:nvGrpSpPr>
          <p:cNvPr id="5" name="Grupo 4"/>
          <p:cNvGrpSpPr/>
          <p:nvPr/>
        </p:nvGrpSpPr>
        <p:grpSpPr>
          <a:xfrm>
            <a:off x="6167318" y="176446"/>
            <a:ext cx="1305563" cy="2811794"/>
            <a:chOff x="1636713" y="269272"/>
            <a:chExt cx="1305563" cy="2811794"/>
          </a:xfrm>
        </p:grpSpPr>
        <p:grpSp>
          <p:nvGrpSpPr>
            <p:cNvPr id="2" name="Grupo 1"/>
            <p:cNvGrpSpPr/>
            <p:nvPr/>
          </p:nvGrpSpPr>
          <p:grpSpPr>
            <a:xfrm>
              <a:off x="1636713" y="269272"/>
              <a:ext cx="1305563" cy="2617788"/>
              <a:chOff x="1636713" y="269272"/>
              <a:chExt cx="1305563" cy="2617788"/>
            </a:xfrm>
          </p:grpSpPr>
          <p:grpSp>
            <p:nvGrpSpPr>
              <p:cNvPr id="13314" name="Group 16"/>
              <p:cNvGrpSpPr>
                <a:grpSpLocks/>
              </p:cNvGrpSpPr>
              <p:nvPr/>
            </p:nvGrpSpPr>
            <p:grpSpPr bwMode="auto">
              <a:xfrm>
                <a:off x="2530475" y="709010"/>
                <a:ext cx="112713" cy="482600"/>
                <a:chOff x="4253" y="5198"/>
                <a:chExt cx="121" cy="360"/>
              </a:xfrm>
            </p:grpSpPr>
            <p:sp>
              <p:nvSpPr>
                <p:cNvPr id="13377" name="Line 17"/>
                <p:cNvSpPr>
                  <a:spLocks noChangeShapeType="1"/>
                </p:cNvSpPr>
                <p:nvPr/>
              </p:nvSpPr>
              <p:spPr bwMode="auto">
                <a:xfrm>
                  <a:off x="4374" y="5198"/>
                  <a:ext cx="0" cy="36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b="0"/>
                </a:p>
              </p:txBody>
            </p:sp>
            <p:sp>
              <p:nvSpPr>
                <p:cNvPr id="13378" name="Line 18"/>
                <p:cNvSpPr>
                  <a:spLocks noChangeShapeType="1"/>
                </p:cNvSpPr>
                <p:nvPr/>
              </p:nvSpPr>
              <p:spPr bwMode="auto">
                <a:xfrm>
                  <a:off x="4253" y="5198"/>
                  <a:ext cx="0" cy="36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b="0"/>
                </a:p>
              </p:txBody>
            </p:sp>
          </p:grpSp>
          <p:sp>
            <p:nvSpPr>
              <p:cNvPr id="13317" name="Line 25"/>
              <p:cNvSpPr>
                <a:spLocks noChangeShapeType="1"/>
              </p:cNvSpPr>
              <p:nvPr/>
            </p:nvSpPr>
            <p:spPr bwMode="auto">
              <a:xfrm flipH="1">
                <a:off x="1636713" y="945547"/>
                <a:ext cx="892175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13318" name="Text Box 26"/>
              <p:cNvSpPr txBox="1">
                <a:spLocks noChangeArrowheads="1"/>
              </p:cNvSpPr>
              <p:nvPr/>
            </p:nvSpPr>
            <p:spPr bwMode="auto">
              <a:xfrm>
                <a:off x="2101850" y="269272"/>
                <a:ext cx="503238" cy="517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 b="0">
                    <a:solidFill>
                      <a:srgbClr val="008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</a:t>
                </a:r>
                <a:r>
                  <a:rPr lang="es-ES" sz="2000" b="0" baseline="-30000">
                    <a:solidFill>
                      <a:srgbClr val="008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2</a:t>
                </a:r>
                <a:endPara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324" name="Line 34"/>
              <p:cNvSpPr>
                <a:spLocks noChangeShapeType="1"/>
              </p:cNvSpPr>
              <p:nvPr/>
            </p:nvSpPr>
            <p:spPr bwMode="auto">
              <a:xfrm>
                <a:off x="1652588" y="950310"/>
                <a:ext cx="0" cy="1690687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grpSp>
            <p:nvGrpSpPr>
              <p:cNvPr id="13329" name="Group 39"/>
              <p:cNvGrpSpPr>
                <a:grpSpLocks/>
              </p:cNvGrpSpPr>
              <p:nvPr/>
            </p:nvGrpSpPr>
            <p:grpSpPr bwMode="auto">
              <a:xfrm>
                <a:off x="2538413" y="2404460"/>
                <a:ext cx="112712" cy="482600"/>
                <a:chOff x="4253" y="5198"/>
                <a:chExt cx="121" cy="360"/>
              </a:xfrm>
            </p:grpSpPr>
            <p:sp>
              <p:nvSpPr>
                <p:cNvPr id="13369" name="Line 40"/>
                <p:cNvSpPr>
                  <a:spLocks noChangeShapeType="1"/>
                </p:cNvSpPr>
                <p:nvPr/>
              </p:nvSpPr>
              <p:spPr bwMode="auto">
                <a:xfrm>
                  <a:off x="4374" y="5198"/>
                  <a:ext cx="0" cy="36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b="0"/>
                </a:p>
              </p:txBody>
            </p:sp>
            <p:sp>
              <p:nvSpPr>
                <p:cNvPr id="13370" name="Line 41"/>
                <p:cNvSpPr>
                  <a:spLocks noChangeShapeType="1"/>
                </p:cNvSpPr>
                <p:nvPr/>
              </p:nvSpPr>
              <p:spPr bwMode="auto">
                <a:xfrm>
                  <a:off x="4253" y="5198"/>
                  <a:ext cx="0" cy="36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b="0"/>
                </a:p>
              </p:txBody>
            </p:sp>
          </p:grpSp>
          <p:sp>
            <p:nvSpPr>
              <p:cNvPr id="13330" name="Line 42"/>
              <p:cNvSpPr>
                <a:spLocks noChangeShapeType="1"/>
              </p:cNvSpPr>
              <p:nvPr/>
            </p:nvSpPr>
            <p:spPr bwMode="auto">
              <a:xfrm flipH="1">
                <a:off x="1644650" y="2640997"/>
                <a:ext cx="892175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13331" name="Text Box 43"/>
              <p:cNvSpPr txBox="1">
                <a:spLocks noChangeArrowheads="1"/>
              </p:cNvSpPr>
              <p:nvPr/>
            </p:nvSpPr>
            <p:spPr bwMode="auto">
              <a:xfrm>
                <a:off x="2101850" y="2009172"/>
                <a:ext cx="503238" cy="4699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 b="0" dirty="0">
                    <a:solidFill>
                      <a:srgbClr val="008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</a:t>
                </a:r>
                <a:r>
                  <a:rPr lang="es-ES" sz="2000" b="0" baseline="-30000" dirty="0">
                    <a:solidFill>
                      <a:srgbClr val="008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4</a:t>
                </a:r>
                <a:endParaRPr lang="es-ES" sz="2000" b="0" dirty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336" name="Text Box 60"/>
              <p:cNvSpPr txBox="1">
                <a:spLocks noChangeArrowheads="1"/>
              </p:cNvSpPr>
              <p:nvPr/>
            </p:nvSpPr>
            <p:spPr bwMode="auto">
              <a:xfrm>
                <a:off x="2611438" y="453422"/>
                <a:ext cx="330838" cy="4749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13337" name="Text Box 61"/>
              <p:cNvSpPr txBox="1">
                <a:spLocks noChangeArrowheads="1"/>
              </p:cNvSpPr>
              <p:nvPr/>
            </p:nvSpPr>
            <p:spPr bwMode="auto">
              <a:xfrm>
                <a:off x="2270125" y="451835"/>
                <a:ext cx="266717" cy="4749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sp>
          <p:nvSpPr>
            <p:cNvPr id="13340" name="Text Box 64"/>
            <p:cNvSpPr txBox="1">
              <a:spLocks noChangeArrowheads="1"/>
            </p:cNvSpPr>
            <p:nvPr/>
          </p:nvSpPr>
          <p:spPr bwMode="auto">
            <a:xfrm>
              <a:off x="2230438" y="2606072"/>
              <a:ext cx="330838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 dirty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3341" name="Text Box 65"/>
            <p:cNvSpPr txBox="1">
              <a:spLocks noChangeArrowheads="1"/>
            </p:cNvSpPr>
            <p:nvPr/>
          </p:nvSpPr>
          <p:spPr bwMode="auto">
            <a:xfrm>
              <a:off x="2633663" y="2588610"/>
              <a:ext cx="266717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</p:grpSp>
      <p:sp>
        <p:nvSpPr>
          <p:cNvPr id="389188" name="Text Box 68"/>
          <p:cNvSpPr txBox="1">
            <a:spLocks noChangeArrowheads="1"/>
          </p:cNvSpPr>
          <p:nvPr/>
        </p:nvSpPr>
        <p:spPr bwMode="auto">
          <a:xfrm>
            <a:off x="1258370" y="1294187"/>
            <a:ext cx="2999837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1/C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24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= 1/C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+ 1/C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89189" name="Text Box 69"/>
          <p:cNvSpPr txBox="1">
            <a:spLocks noChangeArrowheads="1"/>
          </p:cNvSpPr>
          <p:nvPr/>
        </p:nvSpPr>
        <p:spPr bwMode="auto">
          <a:xfrm>
            <a:off x="1708194" y="2434251"/>
            <a:ext cx="3560888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24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= C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C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/ (C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+ C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389191" name="Text Box 71"/>
          <p:cNvSpPr txBox="1">
            <a:spLocks noChangeArrowheads="1"/>
          </p:cNvSpPr>
          <p:nvPr/>
        </p:nvSpPr>
        <p:spPr bwMode="auto">
          <a:xfrm>
            <a:off x="1315339" y="5538374"/>
            <a:ext cx="2627940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234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= C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24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C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5920" name="Text Box 74"/>
          <p:cNvSpPr txBox="1">
            <a:spLocks noChangeArrowheads="1"/>
          </p:cNvSpPr>
          <p:nvPr/>
        </p:nvSpPr>
        <p:spPr bwMode="auto">
          <a:xfrm>
            <a:off x="1278501" y="359771"/>
            <a:ext cx="991275" cy="714146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¿C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eq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16403" name="Text Box 77"/>
          <p:cNvSpPr txBox="1">
            <a:spLocks noChangeArrowheads="1"/>
          </p:cNvSpPr>
          <p:nvPr/>
        </p:nvSpPr>
        <p:spPr bwMode="auto">
          <a:xfrm>
            <a:off x="4199769" y="1311638"/>
            <a:ext cx="1483396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8000"/>
                </a:solidFill>
                <a:latin typeface="Arial" panose="020B0604020202020204" pitchFamily="34" charset="0"/>
              </a:rPr>
              <a:t>(en serie)</a:t>
            </a:r>
          </a:p>
        </p:txBody>
      </p:sp>
      <p:sp>
        <p:nvSpPr>
          <p:cNvPr id="16405" name="Text Box 79"/>
          <p:cNvSpPr txBox="1">
            <a:spLocks noChangeArrowheads="1"/>
          </p:cNvSpPr>
          <p:nvPr/>
        </p:nvSpPr>
        <p:spPr bwMode="auto">
          <a:xfrm>
            <a:off x="3891972" y="5528783"/>
            <a:ext cx="191300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8000"/>
                </a:solidFill>
                <a:latin typeface="Arial" panose="020B0604020202020204" pitchFamily="34" charset="0"/>
              </a:rPr>
              <a:t>(en paralelo)</a:t>
            </a:r>
          </a:p>
        </p:txBody>
      </p:sp>
      <p:grpSp>
        <p:nvGrpSpPr>
          <p:cNvPr id="35932" name="Group 92"/>
          <p:cNvGrpSpPr>
            <a:grpSpLocks/>
          </p:cNvGrpSpPr>
          <p:nvPr/>
        </p:nvGrpSpPr>
        <p:grpSpPr bwMode="auto">
          <a:xfrm>
            <a:off x="6316635" y="4727827"/>
            <a:ext cx="3508378" cy="2014541"/>
            <a:chOff x="4173" y="2623"/>
            <a:chExt cx="2210" cy="1269"/>
          </a:xfrm>
        </p:grpSpPr>
        <p:sp>
          <p:nvSpPr>
            <p:cNvPr id="13367" name="Rectangle 3"/>
            <p:cNvSpPr>
              <a:spLocks noChangeArrowheads="1"/>
            </p:cNvSpPr>
            <p:nvPr/>
          </p:nvSpPr>
          <p:spPr bwMode="auto">
            <a:xfrm>
              <a:off x="5669" y="3554"/>
              <a:ext cx="714" cy="33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68" name="Rectangle 4"/>
            <p:cNvSpPr>
              <a:spLocks noChangeArrowheads="1"/>
            </p:cNvSpPr>
            <p:nvPr/>
          </p:nvSpPr>
          <p:spPr bwMode="auto">
            <a:xfrm>
              <a:off x="4173" y="2623"/>
              <a:ext cx="443" cy="33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89192" name="Text Box 72"/>
          <p:cNvSpPr txBox="1">
            <a:spLocks noChangeArrowheads="1"/>
          </p:cNvSpPr>
          <p:nvPr/>
        </p:nvSpPr>
        <p:spPr bwMode="auto">
          <a:xfrm>
            <a:off x="5839808" y="4038639"/>
            <a:ext cx="3312423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1/C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eq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= 1/C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234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1/C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89193" name="Text Box 73"/>
          <p:cNvSpPr txBox="1">
            <a:spLocks noChangeArrowheads="1"/>
          </p:cNvSpPr>
          <p:nvPr/>
        </p:nvSpPr>
        <p:spPr bwMode="auto">
          <a:xfrm>
            <a:off x="6316985" y="4716324"/>
            <a:ext cx="401614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eq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= C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234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C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/ (C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234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+ C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389195" name="Text Box 75"/>
          <p:cNvSpPr txBox="1">
            <a:spLocks noChangeArrowheads="1"/>
          </p:cNvSpPr>
          <p:nvPr/>
        </p:nvSpPr>
        <p:spPr bwMode="auto">
          <a:xfrm>
            <a:off x="6865621" y="5517791"/>
            <a:ext cx="3479135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= 80/12 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4 / (80/12 + 4)</a:t>
            </a:r>
          </a:p>
        </p:txBody>
      </p:sp>
      <p:sp>
        <p:nvSpPr>
          <p:cNvPr id="389196" name="Text Box 76"/>
          <p:cNvSpPr txBox="1">
            <a:spLocks noChangeArrowheads="1"/>
          </p:cNvSpPr>
          <p:nvPr/>
        </p:nvSpPr>
        <p:spPr bwMode="auto">
          <a:xfrm>
            <a:off x="6882552" y="6208844"/>
            <a:ext cx="173025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= 320 / 128</a:t>
            </a:r>
            <a:endParaRPr lang="es-ES" sz="2400" b="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6404" name="Text Box 78"/>
          <p:cNvSpPr txBox="1">
            <a:spLocks noChangeArrowheads="1"/>
          </p:cNvSpPr>
          <p:nvPr/>
        </p:nvSpPr>
        <p:spPr bwMode="auto">
          <a:xfrm>
            <a:off x="8932766" y="4034906"/>
            <a:ext cx="1483396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8000"/>
                </a:solidFill>
                <a:latin typeface="Arial" panose="020B0604020202020204" pitchFamily="34" charset="0"/>
              </a:rPr>
              <a:t>(en serie)</a:t>
            </a:r>
          </a:p>
        </p:txBody>
      </p:sp>
      <p:sp>
        <p:nvSpPr>
          <p:cNvPr id="62" name="Oval 45"/>
          <p:cNvSpPr>
            <a:spLocks noChangeArrowheads="1"/>
          </p:cNvSpPr>
          <p:nvPr/>
        </p:nvSpPr>
        <p:spPr bwMode="auto">
          <a:xfrm>
            <a:off x="9772530" y="2467209"/>
            <a:ext cx="144463" cy="144462"/>
          </a:xfrm>
          <a:prstGeom prst="ellipse">
            <a:avLst/>
          </a:prstGeom>
          <a:solidFill>
            <a:srgbClr val="FF0000"/>
          </a:solidFill>
          <a:ln w="25400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3" name="Text Box 69"/>
          <p:cNvSpPr txBox="1">
            <a:spLocks noChangeArrowheads="1"/>
          </p:cNvSpPr>
          <p:nvPr/>
        </p:nvSpPr>
        <p:spPr bwMode="auto">
          <a:xfrm>
            <a:off x="1470245" y="1848187"/>
            <a:ext cx="3937594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1/C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24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= (C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C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) / (C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C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13364" name="Text Box 7"/>
          <p:cNvSpPr txBox="1">
            <a:spLocks noChangeArrowheads="1"/>
          </p:cNvSpPr>
          <p:nvPr/>
        </p:nvSpPr>
        <p:spPr bwMode="auto">
          <a:xfrm>
            <a:off x="7279288" y="2884858"/>
            <a:ext cx="1270197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000" b="0" baseline="-25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0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 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</a:rPr>
              <a:t>F</a:t>
            </a:r>
            <a:endParaRPr lang="es-ES" sz="2000" b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3365" name="Text Box 8"/>
          <p:cNvSpPr txBox="1">
            <a:spLocks noChangeArrowheads="1"/>
          </p:cNvSpPr>
          <p:nvPr/>
        </p:nvSpPr>
        <p:spPr bwMode="auto">
          <a:xfrm>
            <a:off x="5952282" y="3238152"/>
            <a:ext cx="1270197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000" b="0" baseline="-250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s-ES" sz="20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000" b="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5 </a:t>
            </a:r>
            <a:r>
              <a:rPr lang="es-ES_tradnl" sz="2000" b="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_tradnl" sz="2000" b="0" dirty="0">
                <a:solidFill>
                  <a:srgbClr val="3333FF"/>
                </a:solidFill>
                <a:latin typeface="Arial" panose="020B0604020202020204" pitchFamily="34" charset="0"/>
              </a:rPr>
              <a:t>F</a:t>
            </a:r>
            <a:endParaRPr lang="es-ES" sz="2000" b="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3366" name="Text Box 9"/>
          <p:cNvSpPr txBox="1">
            <a:spLocks noChangeArrowheads="1"/>
          </p:cNvSpPr>
          <p:nvPr/>
        </p:nvSpPr>
        <p:spPr bwMode="auto">
          <a:xfrm>
            <a:off x="5958199" y="2884858"/>
            <a:ext cx="1270197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000" b="0" baseline="-25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0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4 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</a:rPr>
              <a:t>F</a:t>
            </a:r>
            <a:endParaRPr lang="es-ES" sz="2000" b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0" name="Text Box 69"/>
          <p:cNvSpPr txBox="1">
            <a:spLocks noChangeArrowheads="1"/>
          </p:cNvSpPr>
          <p:nvPr/>
        </p:nvSpPr>
        <p:spPr bwMode="auto">
          <a:xfrm>
            <a:off x="2237496" y="3004566"/>
            <a:ext cx="175270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= 20/12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F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64" name="Text Box 8"/>
          <p:cNvSpPr txBox="1">
            <a:spLocks noChangeArrowheads="1"/>
          </p:cNvSpPr>
          <p:nvPr/>
        </p:nvSpPr>
        <p:spPr bwMode="auto">
          <a:xfrm>
            <a:off x="7275096" y="3237166"/>
            <a:ext cx="1412864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000" b="0" baseline="-250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es-ES" sz="20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000" b="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10 </a:t>
            </a:r>
            <a:r>
              <a:rPr lang="es-ES_tradnl" sz="2000" b="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_tradnl" sz="2000" b="0" dirty="0">
                <a:solidFill>
                  <a:srgbClr val="3333FF"/>
                </a:solidFill>
                <a:latin typeface="Arial" panose="020B0604020202020204" pitchFamily="34" charset="0"/>
              </a:rPr>
              <a:t>F</a:t>
            </a:r>
            <a:endParaRPr lang="es-ES" sz="2000" b="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5" name="Text Box 71"/>
          <p:cNvSpPr txBox="1">
            <a:spLocks noChangeArrowheads="1"/>
          </p:cNvSpPr>
          <p:nvPr/>
        </p:nvSpPr>
        <p:spPr bwMode="auto">
          <a:xfrm>
            <a:off x="2163342" y="6210735"/>
            <a:ext cx="1738274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= 20/12 + 5</a:t>
            </a:r>
          </a:p>
        </p:txBody>
      </p:sp>
      <p:grpSp>
        <p:nvGrpSpPr>
          <p:cNvPr id="66" name="Grupo 65"/>
          <p:cNvGrpSpPr/>
          <p:nvPr/>
        </p:nvGrpSpPr>
        <p:grpSpPr>
          <a:xfrm>
            <a:off x="6450896" y="853917"/>
            <a:ext cx="1069026" cy="1690687"/>
            <a:chOff x="2746375" y="950310"/>
            <a:chExt cx="1069026" cy="1690687"/>
          </a:xfrm>
        </p:grpSpPr>
        <p:grpSp>
          <p:nvGrpSpPr>
            <p:cNvPr id="67" name="Group 22"/>
            <p:cNvGrpSpPr>
              <a:grpSpLocks/>
            </p:cNvGrpSpPr>
            <p:nvPr/>
          </p:nvGrpSpPr>
          <p:grpSpPr bwMode="auto">
            <a:xfrm rot="5400000">
              <a:off x="3393282" y="1587691"/>
              <a:ext cx="163512" cy="336550"/>
              <a:chOff x="4253" y="5198"/>
              <a:chExt cx="121" cy="360"/>
            </a:xfrm>
          </p:grpSpPr>
          <p:sp>
            <p:nvSpPr>
              <p:cNvPr id="73" name="Line 23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74" name="Line 24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sp>
          <p:nvSpPr>
            <p:cNvPr id="68" name="Text Box 32"/>
            <p:cNvSpPr txBox="1">
              <a:spLocks noChangeArrowheads="1"/>
            </p:cNvSpPr>
            <p:nvPr/>
          </p:nvSpPr>
          <p:spPr bwMode="auto">
            <a:xfrm>
              <a:off x="2746375" y="1488472"/>
              <a:ext cx="593725" cy="495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 dirty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="0" baseline="-30000" dirty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24</a:t>
              </a:r>
              <a:endParaRPr lang="es-ES" sz="2000" b="0" dirty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69" name="Line 37"/>
            <p:cNvSpPr>
              <a:spLocks noChangeShapeType="1"/>
            </p:cNvSpPr>
            <p:nvPr/>
          </p:nvSpPr>
          <p:spPr bwMode="auto">
            <a:xfrm flipV="1">
              <a:off x="3475038" y="950310"/>
              <a:ext cx="0" cy="7239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70" name="Line 38"/>
            <p:cNvSpPr>
              <a:spLocks noChangeShapeType="1"/>
            </p:cNvSpPr>
            <p:nvPr/>
          </p:nvSpPr>
          <p:spPr bwMode="auto">
            <a:xfrm flipV="1">
              <a:off x="3475038" y="1842485"/>
              <a:ext cx="0" cy="79851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71" name="Text Box 62"/>
            <p:cNvSpPr txBox="1">
              <a:spLocks noChangeArrowheads="1"/>
            </p:cNvSpPr>
            <p:nvPr/>
          </p:nvSpPr>
          <p:spPr bwMode="auto">
            <a:xfrm>
              <a:off x="3484563" y="1277335"/>
              <a:ext cx="330838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72" name="Text Box 63"/>
            <p:cNvSpPr txBox="1">
              <a:spLocks noChangeArrowheads="1"/>
            </p:cNvSpPr>
            <p:nvPr/>
          </p:nvSpPr>
          <p:spPr bwMode="auto">
            <a:xfrm>
              <a:off x="3516313" y="1653572"/>
              <a:ext cx="266717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</p:grpSp>
      <p:grpSp>
        <p:nvGrpSpPr>
          <p:cNvPr id="75" name="Grupo 74"/>
          <p:cNvGrpSpPr/>
          <p:nvPr/>
        </p:nvGrpSpPr>
        <p:grpSpPr>
          <a:xfrm>
            <a:off x="6744378" y="854308"/>
            <a:ext cx="1162686" cy="1690687"/>
            <a:chOff x="2652715" y="950310"/>
            <a:chExt cx="1162686" cy="1690687"/>
          </a:xfrm>
        </p:grpSpPr>
        <p:grpSp>
          <p:nvGrpSpPr>
            <p:cNvPr id="76" name="Group 22"/>
            <p:cNvGrpSpPr>
              <a:grpSpLocks/>
            </p:cNvGrpSpPr>
            <p:nvPr/>
          </p:nvGrpSpPr>
          <p:grpSpPr bwMode="auto">
            <a:xfrm rot="5400000">
              <a:off x="3393282" y="1587691"/>
              <a:ext cx="163512" cy="336550"/>
              <a:chOff x="4253" y="5198"/>
              <a:chExt cx="121" cy="360"/>
            </a:xfrm>
          </p:grpSpPr>
          <p:sp>
            <p:nvSpPr>
              <p:cNvPr id="82" name="Line 23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83" name="Line 24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sp>
          <p:nvSpPr>
            <p:cNvPr id="77" name="Text Box 32"/>
            <p:cNvSpPr txBox="1">
              <a:spLocks noChangeArrowheads="1"/>
            </p:cNvSpPr>
            <p:nvPr/>
          </p:nvSpPr>
          <p:spPr bwMode="auto">
            <a:xfrm>
              <a:off x="2652715" y="1488472"/>
              <a:ext cx="687386" cy="495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 dirty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="0" baseline="-30000" dirty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234</a:t>
              </a:r>
              <a:endParaRPr lang="es-ES" sz="2000" b="0" dirty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8" name="Line 37"/>
            <p:cNvSpPr>
              <a:spLocks noChangeShapeType="1"/>
            </p:cNvSpPr>
            <p:nvPr/>
          </p:nvSpPr>
          <p:spPr bwMode="auto">
            <a:xfrm flipV="1">
              <a:off x="3475038" y="950310"/>
              <a:ext cx="0" cy="7239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79" name="Line 38"/>
            <p:cNvSpPr>
              <a:spLocks noChangeShapeType="1"/>
            </p:cNvSpPr>
            <p:nvPr/>
          </p:nvSpPr>
          <p:spPr bwMode="auto">
            <a:xfrm flipV="1">
              <a:off x="3475038" y="1842485"/>
              <a:ext cx="0" cy="79851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80" name="Text Box 62"/>
            <p:cNvSpPr txBox="1">
              <a:spLocks noChangeArrowheads="1"/>
            </p:cNvSpPr>
            <p:nvPr/>
          </p:nvSpPr>
          <p:spPr bwMode="auto">
            <a:xfrm>
              <a:off x="3484563" y="1277335"/>
              <a:ext cx="330838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81" name="Text Box 63"/>
            <p:cNvSpPr txBox="1">
              <a:spLocks noChangeArrowheads="1"/>
            </p:cNvSpPr>
            <p:nvPr/>
          </p:nvSpPr>
          <p:spPr bwMode="auto">
            <a:xfrm>
              <a:off x="3516313" y="1653572"/>
              <a:ext cx="266717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</p:grpSp>
      <p:sp>
        <p:nvSpPr>
          <p:cNvPr id="84" name="Line 33"/>
          <p:cNvSpPr>
            <a:spLocks noChangeShapeType="1"/>
          </p:cNvSpPr>
          <p:nvPr/>
        </p:nvSpPr>
        <p:spPr bwMode="auto">
          <a:xfrm flipH="1">
            <a:off x="7580658" y="854019"/>
            <a:ext cx="1301253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b="0"/>
          </a:p>
        </p:txBody>
      </p:sp>
      <p:sp>
        <p:nvSpPr>
          <p:cNvPr id="85" name="Line 33"/>
          <p:cNvSpPr>
            <a:spLocks noChangeShapeType="1"/>
          </p:cNvSpPr>
          <p:nvPr/>
        </p:nvSpPr>
        <p:spPr bwMode="auto">
          <a:xfrm flipH="1">
            <a:off x="7582440" y="2547496"/>
            <a:ext cx="118295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b="0"/>
          </a:p>
        </p:txBody>
      </p:sp>
      <p:grpSp>
        <p:nvGrpSpPr>
          <p:cNvPr id="4" name="Grupo 3"/>
          <p:cNvGrpSpPr/>
          <p:nvPr/>
        </p:nvGrpSpPr>
        <p:grpSpPr>
          <a:xfrm>
            <a:off x="8001644" y="176446"/>
            <a:ext cx="1862961" cy="927100"/>
            <a:chOff x="3471039" y="269272"/>
            <a:chExt cx="1862961" cy="927100"/>
          </a:xfrm>
        </p:grpSpPr>
        <p:grpSp>
          <p:nvGrpSpPr>
            <p:cNvPr id="13315" name="Group 19"/>
            <p:cNvGrpSpPr>
              <a:grpSpLocks/>
            </p:cNvGrpSpPr>
            <p:nvPr/>
          </p:nvGrpSpPr>
          <p:grpSpPr bwMode="auto">
            <a:xfrm>
              <a:off x="4383088" y="712185"/>
              <a:ext cx="112712" cy="484187"/>
              <a:chOff x="4253" y="5198"/>
              <a:chExt cx="121" cy="360"/>
            </a:xfrm>
          </p:grpSpPr>
          <p:sp>
            <p:nvSpPr>
              <p:cNvPr id="13375" name="Line 20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13376" name="Line 21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sp>
          <p:nvSpPr>
            <p:cNvPr id="13319" name="Text Box 27"/>
            <p:cNvSpPr txBox="1">
              <a:spLocks noChangeArrowheads="1"/>
            </p:cNvSpPr>
            <p:nvPr/>
          </p:nvSpPr>
          <p:spPr bwMode="auto">
            <a:xfrm>
              <a:off x="3959225" y="269272"/>
              <a:ext cx="503238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="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1</a:t>
              </a:r>
              <a:endPara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326" name="Line 36"/>
            <p:cNvSpPr>
              <a:spLocks noChangeShapeType="1"/>
            </p:cNvSpPr>
            <p:nvPr/>
          </p:nvSpPr>
          <p:spPr bwMode="auto">
            <a:xfrm>
              <a:off x="4495800" y="950310"/>
              <a:ext cx="8382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3334" name="Text Box 58"/>
            <p:cNvSpPr txBox="1">
              <a:spLocks noChangeArrowheads="1"/>
            </p:cNvSpPr>
            <p:nvPr/>
          </p:nvSpPr>
          <p:spPr bwMode="auto">
            <a:xfrm>
              <a:off x="4454525" y="442310"/>
              <a:ext cx="330838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3335" name="Text Box 59"/>
            <p:cNvSpPr txBox="1">
              <a:spLocks noChangeArrowheads="1"/>
            </p:cNvSpPr>
            <p:nvPr/>
          </p:nvSpPr>
          <p:spPr bwMode="auto">
            <a:xfrm>
              <a:off x="4113213" y="440722"/>
              <a:ext cx="266717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86" name="Line 33"/>
            <p:cNvSpPr>
              <a:spLocks noChangeShapeType="1"/>
            </p:cNvSpPr>
            <p:nvPr/>
          </p:nvSpPr>
          <p:spPr bwMode="auto">
            <a:xfrm flipH="1">
              <a:off x="3471039" y="953771"/>
              <a:ext cx="88877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</p:grpSp>
      <p:grpSp>
        <p:nvGrpSpPr>
          <p:cNvPr id="87" name="Grupo 86"/>
          <p:cNvGrpSpPr/>
          <p:nvPr/>
        </p:nvGrpSpPr>
        <p:grpSpPr>
          <a:xfrm>
            <a:off x="7997768" y="972578"/>
            <a:ext cx="1862961" cy="927100"/>
            <a:chOff x="3471039" y="269272"/>
            <a:chExt cx="1862961" cy="927100"/>
          </a:xfrm>
        </p:grpSpPr>
        <p:grpSp>
          <p:nvGrpSpPr>
            <p:cNvPr id="88" name="Group 19"/>
            <p:cNvGrpSpPr>
              <a:grpSpLocks/>
            </p:cNvGrpSpPr>
            <p:nvPr/>
          </p:nvGrpSpPr>
          <p:grpSpPr bwMode="auto">
            <a:xfrm>
              <a:off x="4383088" y="712185"/>
              <a:ext cx="112712" cy="484187"/>
              <a:chOff x="4253" y="5198"/>
              <a:chExt cx="121" cy="360"/>
            </a:xfrm>
          </p:grpSpPr>
          <p:sp>
            <p:nvSpPr>
              <p:cNvPr id="94" name="Line 20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95" name="Line 21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sp>
          <p:nvSpPr>
            <p:cNvPr id="89" name="Text Box 27"/>
            <p:cNvSpPr txBox="1">
              <a:spLocks noChangeArrowheads="1"/>
            </p:cNvSpPr>
            <p:nvPr/>
          </p:nvSpPr>
          <p:spPr bwMode="auto">
            <a:xfrm>
              <a:off x="3959224" y="269272"/>
              <a:ext cx="614273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="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eq</a:t>
              </a:r>
              <a:endParaRPr lang="es-ES" sz="2000" b="0" dirty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90" name="Line 36"/>
            <p:cNvSpPr>
              <a:spLocks noChangeShapeType="1"/>
            </p:cNvSpPr>
            <p:nvPr/>
          </p:nvSpPr>
          <p:spPr bwMode="auto">
            <a:xfrm>
              <a:off x="4495800" y="950310"/>
              <a:ext cx="8382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91" name="Text Box 58"/>
            <p:cNvSpPr txBox="1">
              <a:spLocks noChangeArrowheads="1"/>
            </p:cNvSpPr>
            <p:nvPr/>
          </p:nvSpPr>
          <p:spPr bwMode="auto">
            <a:xfrm>
              <a:off x="4454525" y="442310"/>
              <a:ext cx="330838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92" name="Text Box 59"/>
            <p:cNvSpPr txBox="1">
              <a:spLocks noChangeArrowheads="1"/>
            </p:cNvSpPr>
            <p:nvPr/>
          </p:nvSpPr>
          <p:spPr bwMode="auto">
            <a:xfrm>
              <a:off x="4113213" y="440722"/>
              <a:ext cx="266717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 dirty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93" name="Line 33"/>
            <p:cNvSpPr>
              <a:spLocks noChangeShapeType="1"/>
            </p:cNvSpPr>
            <p:nvPr/>
          </p:nvSpPr>
          <p:spPr bwMode="auto">
            <a:xfrm flipH="1">
              <a:off x="3471039" y="943380"/>
              <a:ext cx="88877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</p:grpSp>
      <p:sp>
        <p:nvSpPr>
          <p:cNvPr id="96" name="Line 38"/>
          <p:cNvSpPr>
            <a:spLocks noChangeShapeType="1"/>
          </p:cNvSpPr>
          <p:nvPr/>
        </p:nvSpPr>
        <p:spPr bwMode="auto">
          <a:xfrm flipV="1">
            <a:off x="7998779" y="1637934"/>
            <a:ext cx="0" cy="878363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b="0"/>
          </a:p>
        </p:txBody>
      </p:sp>
      <p:sp>
        <p:nvSpPr>
          <p:cNvPr id="61" name="Oval 45"/>
          <p:cNvSpPr>
            <a:spLocks noChangeArrowheads="1"/>
          </p:cNvSpPr>
          <p:nvPr/>
        </p:nvSpPr>
        <p:spPr bwMode="auto">
          <a:xfrm>
            <a:off x="7943730" y="2487846"/>
            <a:ext cx="144463" cy="144463"/>
          </a:xfrm>
          <a:prstGeom prst="ellipse">
            <a:avLst/>
          </a:prstGeom>
          <a:solidFill>
            <a:srgbClr val="FF0000"/>
          </a:solidFill>
          <a:ln w="25400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8" name="Line 33"/>
          <p:cNvSpPr>
            <a:spLocks noChangeShapeType="1"/>
          </p:cNvSpPr>
          <p:nvPr/>
        </p:nvSpPr>
        <p:spPr bwMode="auto">
          <a:xfrm flipH="1">
            <a:off x="8098300" y="2551200"/>
            <a:ext cx="667748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b="0"/>
          </a:p>
        </p:txBody>
      </p:sp>
      <p:sp>
        <p:nvSpPr>
          <p:cNvPr id="99" name="Line 35"/>
          <p:cNvSpPr>
            <a:spLocks noChangeShapeType="1"/>
          </p:cNvSpPr>
          <p:nvPr/>
        </p:nvSpPr>
        <p:spPr bwMode="auto">
          <a:xfrm>
            <a:off x="9852481" y="1658297"/>
            <a:ext cx="0" cy="78871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b="0"/>
          </a:p>
        </p:txBody>
      </p:sp>
      <p:sp>
        <p:nvSpPr>
          <p:cNvPr id="100" name="Text Box 78"/>
          <p:cNvSpPr txBox="1">
            <a:spLocks noChangeArrowheads="1"/>
          </p:cNvSpPr>
          <p:nvPr/>
        </p:nvSpPr>
        <p:spPr bwMode="auto">
          <a:xfrm>
            <a:off x="1554059" y="3629983"/>
            <a:ext cx="3582928" cy="1644545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Mantenemos fracciones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para no redondear en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cálculos intermedios y no añadir errores</a:t>
            </a:r>
          </a:p>
        </p:txBody>
      </p:sp>
      <p:grpSp>
        <p:nvGrpSpPr>
          <p:cNvPr id="11" name="Grupo 10"/>
          <p:cNvGrpSpPr/>
          <p:nvPr/>
        </p:nvGrpSpPr>
        <p:grpSpPr>
          <a:xfrm>
            <a:off x="8207985" y="2666636"/>
            <a:ext cx="2186923" cy="689928"/>
            <a:chOff x="3511124" y="2697116"/>
            <a:chExt cx="2186923" cy="689928"/>
          </a:xfrm>
        </p:grpSpPr>
        <p:sp>
          <p:nvSpPr>
            <p:cNvPr id="101" name="Text Box 78"/>
            <p:cNvSpPr txBox="1">
              <a:spLocks noChangeArrowheads="1"/>
            </p:cNvSpPr>
            <p:nvPr/>
          </p:nvSpPr>
          <p:spPr bwMode="auto">
            <a:xfrm>
              <a:off x="4015327" y="2963346"/>
              <a:ext cx="1682720" cy="423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ts val="2000"/>
                </a:lnSpc>
                <a:spcBef>
                  <a:spcPts val="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Terminales</a:t>
              </a:r>
              <a:endParaRPr lang="es-ES" sz="2000" b="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7" name="Conector recto de flecha 6"/>
            <p:cNvCxnSpPr>
              <a:cxnSpLocks/>
            </p:cNvCxnSpPr>
            <p:nvPr/>
          </p:nvCxnSpPr>
          <p:spPr bwMode="auto">
            <a:xfrm flipH="1">
              <a:off x="5151914" y="2697116"/>
              <a:ext cx="0" cy="269913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5" name="Conector recto de flecha 104"/>
            <p:cNvCxnSpPr>
              <a:cxnSpLocks/>
            </p:cNvCxnSpPr>
            <p:nvPr/>
          </p:nvCxnSpPr>
          <p:spPr bwMode="auto">
            <a:xfrm>
              <a:off x="3511124" y="2702017"/>
              <a:ext cx="648000" cy="288000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106" name="Text Box 71">
            <a:extLst>
              <a:ext uri="{FF2B5EF4-FFF2-40B4-BE49-F238E27FC236}">
                <a16:creationId xmlns:a16="http://schemas.microsoft.com/office/drawing/2014/main" id="{5B7DBE5F-367E-4801-9A65-6C40D5781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6730" y="6210735"/>
            <a:ext cx="175270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= 80/12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F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07" name="Text Box 76">
            <a:extLst>
              <a:ext uri="{FF2B5EF4-FFF2-40B4-BE49-F238E27FC236}">
                <a16:creationId xmlns:a16="http://schemas.microsoft.com/office/drawing/2014/main" id="{AEF8C544-FCE1-4434-8774-882F680C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9458" y="6208844"/>
            <a:ext cx="132469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= 2,5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F</a:t>
            </a:r>
          </a:p>
        </p:txBody>
      </p:sp>
      <p:sp>
        <p:nvSpPr>
          <p:cNvPr id="6" name="Text Box 78">
            <a:extLst>
              <a:ext uri="{FF2B5EF4-FFF2-40B4-BE49-F238E27FC236}">
                <a16:creationId xmlns:a16="http://schemas.microsoft.com/office/drawing/2014/main" id="{E9891D0D-345C-ED0D-4E40-95F1A7F8E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7199" y="549509"/>
            <a:ext cx="3395966" cy="686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ts val="2000"/>
              </a:lnSpc>
              <a:spcBef>
                <a:spcPts val="0"/>
              </a:spcBef>
              <a:buFontTx/>
              <a:buNone/>
            </a:pPr>
            <a:r>
              <a:rPr lang="es-ES" sz="2400" b="0">
                <a:solidFill>
                  <a:srgbClr val="FF0000"/>
                </a:solidFill>
                <a:latin typeface="Arial" panose="020B0604020202020204" pitchFamily="34" charset="0"/>
              </a:rPr>
              <a:t>Desde los terminales 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</a:rPr>
              <a:t>de la asociación</a:t>
            </a:r>
          </a:p>
        </p:txBody>
      </p:sp>
    </p:spTree>
    <p:extLst>
      <p:ext uri="{BB962C8B-B14F-4D97-AF65-F5344CB8AC3E}">
        <p14:creationId xmlns:p14="http://schemas.microsoft.com/office/powerpoint/2010/main" val="2574389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9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89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89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89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389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89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89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35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3" grpId="0" animBg="1"/>
      <p:bldP spid="13325" grpId="0" animBg="1"/>
      <p:bldP spid="13332" grpId="0" animBg="1"/>
      <p:bldP spid="389188" grpId="0"/>
      <p:bldP spid="389189" grpId="0"/>
      <p:bldP spid="389191" grpId="0"/>
      <p:bldP spid="35920" grpId="0" animBg="1"/>
      <p:bldP spid="16403" grpId="0"/>
      <p:bldP spid="16405" grpId="0"/>
      <p:bldP spid="389192" grpId="0"/>
      <p:bldP spid="389193" grpId="0"/>
      <p:bldP spid="389195" grpId="0"/>
      <p:bldP spid="389196" grpId="0"/>
      <p:bldP spid="16404" grpId="0"/>
      <p:bldP spid="62" grpId="0" animBg="1"/>
      <p:bldP spid="63" grpId="0"/>
      <p:bldP spid="60" grpId="0"/>
      <p:bldP spid="65" grpId="0"/>
      <p:bldP spid="84" grpId="0" animBg="1"/>
      <p:bldP spid="84" grpId="1" animBg="1"/>
      <p:bldP spid="85" grpId="0" animBg="1"/>
      <p:bldP spid="85" grpId="1" animBg="1"/>
      <p:bldP spid="96" grpId="0" animBg="1"/>
      <p:bldP spid="61" grpId="0" animBg="1"/>
      <p:bldP spid="100" grpId="0" animBg="1"/>
      <p:bldP spid="106" grpId="0"/>
      <p:bldP spid="107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52" name="Text Box 6"/>
          <p:cNvSpPr txBox="1">
            <a:spLocks noChangeArrowheads="1"/>
          </p:cNvSpPr>
          <p:nvPr/>
        </p:nvSpPr>
        <p:spPr bwMode="auto">
          <a:xfrm>
            <a:off x="1352728" y="365393"/>
            <a:ext cx="860914" cy="710804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¿Q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</a:p>
        </p:txBody>
      </p:sp>
      <p:grpSp>
        <p:nvGrpSpPr>
          <p:cNvPr id="39958" name="Group 22"/>
          <p:cNvGrpSpPr>
            <a:grpSpLocks/>
          </p:cNvGrpSpPr>
          <p:nvPr/>
        </p:nvGrpSpPr>
        <p:grpSpPr bwMode="auto">
          <a:xfrm>
            <a:off x="1789222" y="1446007"/>
            <a:ext cx="2185988" cy="2679701"/>
            <a:chOff x="1138" y="1217"/>
            <a:chExt cx="1377" cy="1688"/>
          </a:xfrm>
        </p:grpSpPr>
        <p:sp>
          <p:nvSpPr>
            <p:cNvPr id="15418" name="Text Box 7"/>
            <p:cNvSpPr txBox="1">
              <a:spLocks noChangeArrowheads="1"/>
            </p:cNvSpPr>
            <p:nvPr/>
          </p:nvSpPr>
          <p:spPr bwMode="auto">
            <a:xfrm>
              <a:off x="1141" y="1217"/>
              <a:ext cx="1372" cy="32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 25 C</a:t>
              </a:r>
            </a:p>
          </p:txBody>
        </p:sp>
        <p:sp>
          <p:nvSpPr>
            <p:cNvPr id="15419" name="Text Box 8"/>
            <p:cNvSpPr txBox="1">
              <a:spLocks noChangeArrowheads="1"/>
            </p:cNvSpPr>
            <p:nvPr/>
          </p:nvSpPr>
          <p:spPr bwMode="auto">
            <a:xfrm>
              <a:off x="1141" y="1685"/>
              <a:ext cx="1372" cy="32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 6,25 C</a:t>
              </a:r>
            </a:p>
          </p:txBody>
        </p:sp>
        <p:sp>
          <p:nvSpPr>
            <p:cNvPr id="15420" name="Text Box 9"/>
            <p:cNvSpPr txBox="1">
              <a:spLocks noChangeArrowheads="1"/>
            </p:cNvSpPr>
            <p:nvPr/>
          </p:nvSpPr>
          <p:spPr bwMode="auto">
            <a:xfrm>
              <a:off x="1143" y="2132"/>
              <a:ext cx="1372" cy="32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 18,75 C</a:t>
              </a:r>
            </a:p>
          </p:txBody>
        </p:sp>
        <p:sp>
          <p:nvSpPr>
            <p:cNvPr id="15421" name="Text Box 10"/>
            <p:cNvSpPr txBox="1">
              <a:spLocks noChangeArrowheads="1"/>
            </p:cNvSpPr>
            <p:nvPr/>
          </p:nvSpPr>
          <p:spPr bwMode="auto">
            <a:xfrm>
              <a:off x="1138" y="2579"/>
              <a:ext cx="1372" cy="32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 6,25 C</a:t>
              </a:r>
            </a:p>
          </p:txBody>
        </p:sp>
      </p:grpSp>
      <p:sp>
        <p:nvSpPr>
          <p:cNvPr id="40017" name="Text Box 81"/>
          <p:cNvSpPr txBox="1">
            <a:spLocks noChangeArrowheads="1"/>
          </p:cNvSpPr>
          <p:nvPr/>
        </p:nvSpPr>
        <p:spPr bwMode="auto">
          <a:xfrm>
            <a:off x="1808243" y="4328885"/>
            <a:ext cx="6032080" cy="120032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b="0" dirty="0">
                <a:solidFill>
                  <a:schemeClr val="tx1"/>
                </a:solidFill>
              </a:rPr>
              <a:t>Es la </a:t>
            </a:r>
            <a:r>
              <a:rPr lang="es-ES" sz="2400" b="0" dirty="0">
                <a:solidFill>
                  <a:srgbClr val="0000FF"/>
                </a:solidFill>
              </a:rPr>
              <a:t>carga almacenada por la asociación </a:t>
            </a:r>
            <a:r>
              <a:rPr lang="es-ES" sz="2400" b="0" dirty="0">
                <a:solidFill>
                  <a:schemeClr val="tx1"/>
                </a:solidFill>
              </a:rPr>
              <a:t>de condensadores: La que llega, positiva, desde el exterior a la asociación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0BCADFB-E134-4650-979C-116AC4DF7209}"/>
              </a:ext>
            </a:extLst>
          </p:cNvPr>
          <p:cNvGrpSpPr/>
          <p:nvPr/>
        </p:nvGrpSpPr>
        <p:grpSpPr>
          <a:xfrm>
            <a:off x="6170273" y="181577"/>
            <a:ext cx="3749675" cy="3084681"/>
            <a:chOff x="1470457" y="269272"/>
            <a:chExt cx="3749675" cy="3084681"/>
          </a:xfrm>
        </p:grpSpPr>
        <p:sp>
          <p:nvSpPr>
            <p:cNvPr id="15405" name="Text Box 6"/>
            <p:cNvSpPr txBox="1">
              <a:spLocks noChangeArrowheads="1"/>
            </p:cNvSpPr>
            <p:nvPr/>
          </p:nvSpPr>
          <p:spPr bwMode="auto">
            <a:xfrm>
              <a:off x="3575482" y="2890107"/>
              <a:ext cx="1133942" cy="463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</a:t>
              </a:r>
              <a:r>
                <a:rPr lang="es-ES" sz="20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 </a:t>
              </a:r>
              <a:r>
                <a:rPr lang="es-ES" sz="2000" b="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10 V</a:t>
              </a:r>
            </a:p>
          </p:txBody>
        </p:sp>
        <p:grpSp>
          <p:nvGrpSpPr>
            <p:cNvPr id="64" name="Group 16"/>
            <p:cNvGrpSpPr>
              <a:grpSpLocks/>
            </p:cNvGrpSpPr>
            <p:nvPr/>
          </p:nvGrpSpPr>
          <p:grpSpPr bwMode="auto">
            <a:xfrm>
              <a:off x="2364219" y="709010"/>
              <a:ext cx="112713" cy="482600"/>
              <a:chOff x="4253" y="5198"/>
              <a:chExt cx="121" cy="360"/>
            </a:xfrm>
          </p:grpSpPr>
          <p:sp>
            <p:nvSpPr>
              <p:cNvPr id="65" name="Line 17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66" name="Line 18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grpSp>
          <p:nvGrpSpPr>
            <p:cNvPr id="67" name="Group 19"/>
            <p:cNvGrpSpPr>
              <a:grpSpLocks/>
            </p:cNvGrpSpPr>
            <p:nvPr/>
          </p:nvGrpSpPr>
          <p:grpSpPr bwMode="auto">
            <a:xfrm>
              <a:off x="4216832" y="712185"/>
              <a:ext cx="112712" cy="484187"/>
              <a:chOff x="4253" y="5198"/>
              <a:chExt cx="121" cy="360"/>
            </a:xfrm>
          </p:grpSpPr>
          <p:sp>
            <p:nvSpPr>
              <p:cNvPr id="68" name="Line 20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69" name="Line 21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grpSp>
          <p:nvGrpSpPr>
            <p:cNvPr id="70" name="Group 22"/>
            <p:cNvGrpSpPr>
              <a:grpSpLocks/>
            </p:cNvGrpSpPr>
            <p:nvPr/>
          </p:nvGrpSpPr>
          <p:grpSpPr bwMode="auto">
            <a:xfrm rot="5400000">
              <a:off x="3227026" y="1587691"/>
              <a:ext cx="163512" cy="336550"/>
              <a:chOff x="4253" y="5198"/>
              <a:chExt cx="121" cy="360"/>
            </a:xfrm>
          </p:grpSpPr>
          <p:sp>
            <p:nvSpPr>
              <p:cNvPr id="71" name="Line 23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72" name="Line 24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sp>
          <p:nvSpPr>
            <p:cNvPr id="73" name="Line 25"/>
            <p:cNvSpPr>
              <a:spLocks noChangeShapeType="1"/>
            </p:cNvSpPr>
            <p:nvPr/>
          </p:nvSpPr>
          <p:spPr bwMode="auto">
            <a:xfrm flipH="1">
              <a:off x="1470457" y="945547"/>
              <a:ext cx="89217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74" name="Text Box 26"/>
            <p:cNvSpPr txBox="1">
              <a:spLocks noChangeArrowheads="1"/>
            </p:cNvSpPr>
            <p:nvPr/>
          </p:nvSpPr>
          <p:spPr bwMode="auto">
            <a:xfrm>
              <a:off x="1935594" y="269272"/>
              <a:ext cx="503238" cy="517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="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2</a:t>
              </a:r>
              <a:endPara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5" name="Text Box 27"/>
            <p:cNvSpPr txBox="1">
              <a:spLocks noChangeArrowheads="1"/>
            </p:cNvSpPr>
            <p:nvPr/>
          </p:nvSpPr>
          <p:spPr bwMode="auto">
            <a:xfrm>
              <a:off x="3792969" y="269272"/>
              <a:ext cx="503238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="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1</a:t>
              </a:r>
              <a:endPara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76" name="Group 28"/>
            <p:cNvGrpSpPr>
              <a:grpSpLocks/>
            </p:cNvGrpSpPr>
            <p:nvPr/>
          </p:nvGrpSpPr>
          <p:grpSpPr bwMode="auto">
            <a:xfrm flipH="1">
              <a:off x="4102532" y="2399697"/>
              <a:ext cx="58737" cy="482600"/>
              <a:chOff x="5153" y="6274"/>
              <a:chExt cx="63" cy="360"/>
            </a:xfrm>
          </p:grpSpPr>
          <p:sp>
            <p:nvSpPr>
              <p:cNvPr id="77" name="Line 29"/>
              <p:cNvSpPr>
                <a:spLocks noChangeShapeType="1"/>
              </p:cNvSpPr>
              <p:nvPr/>
            </p:nvSpPr>
            <p:spPr bwMode="auto">
              <a:xfrm>
                <a:off x="5216" y="6357"/>
                <a:ext cx="0" cy="193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78" name="Line 30"/>
              <p:cNvSpPr>
                <a:spLocks noChangeShapeType="1"/>
              </p:cNvSpPr>
              <p:nvPr/>
            </p:nvSpPr>
            <p:spPr bwMode="auto">
              <a:xfrm>
                <a:off x="5153" y="6274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sp>
          <p:nvSpPr>
            <p:cNvPr id="79" name="Line 31"/>
            <p:cNvSpPr>
              <a:spLocks noChangeShapeType="1"/>
            </p:cNvSpPr>
            <p:nvPr/>
          </p:nvSpPr>
          <p:spPr bwMode="auto">
            <a:xfrm flipH="1">
              <a:off x="4161269" y="2640997"/>
              <a:ext cx="100647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80" name="Text Box 32"/>
            <p:cNvSpPr txBox="1">
              <a:spLocks noChangeArrowheads="1"/>
            </p:cNvSpPr>
            <p:nvPr/>
          </p:nvSpPr>
          <p:spPr bwMode="auto">
            <a:xfrm>
              <a:off x="2670607" y="1488472"/>
              <a:ext cx="503237" cy="495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="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3</a:t>
              </a:r>
              <a:endPara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1" name="Line 33"/>
            <p:cNvSpPr>
              <a:spLocks noChangeShapeType="1"/>
            </p:cNvSpPr>
            <p:nvPr/>
          </p:nvSpPr>
          <p:spPr bwMode="auto">
            <a:xfrm flipH="1">
              <a:off x="2484869" y="950310"/>
              <a:ext cx="173196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82" name="Line 34"/>
            <p:cNvSpPr>
              <a:spLocks noChangeShapeType="1"/>
            </p:cNvSpPr>
            <p:nvPr/>
          </p:nvSpPr>
          <p:spPr bwMode="auto">
            <a:xfrm>
              <a:off x="1486332" y="950310"/>
              <a:ext cx="0" cy="169068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83" name="Line 35"/>
            <p:cNvSpPr>
              <a:spLocks noChangeShapeType="1"/>
            </p:cNvSpPr>
            <p:nvPr/>
          </p:nvSpPr>
          <p:spPr bwMode="auto">
            <a:xfrm>
              <a:off x="5148694" y="950310"/>
              <a:ext cx="0" cy="169068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84" name="Line 36"/>
            <p:cNvSpPr>
              <a:spLocks noChangeShapeType="1"/>
            </p:cNvSpPr>
            <p:nvPr/>
          </p:nvSpPr>
          <p:spPr bwMode="auto">
            <a:xfrm>
              <a:off x="4329544" y="950310"/>
              <a:ext cx="8382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85" name="Line 37"/>
            <p:cNvSpPr>
              <a:spLocks noChangeShapeType="1"/>
            </p:cNvSpPr>
            <p:nvPr/>
          </p:nvSpPr>
          <p:spPr bwMode="auto">
            <a:xfrm flipV="1">
              <a:off x="3308782" y="950310"/>
              <a:ext cx="0" cy="7239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86" name="Line 38"/>
            <p:cNvSpPr>
              <a:spLocks noChangeShapeType="1"/>
            </p:cNvSpPr>
            <p:nvPr/>
          </p:nvSpPr>
          <p:spPr bwMode="auto">
            <a:xfrm flipV="1">
              <a:off x="3308782" y="1842485"/>
              <a:ext cx="0" cy="79851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grpSp>
          <p:nvGrpSpPr>
            <p:cNvPr id="87" name="Group 39"/>
            <p:cNvGrpSpPr>
              <a:grpSpLocks/>
            </p:cNvGrpSpPr>
            <p:nvPr/>
          </p:nvGrpSpPr>
          <p:grpSpPr bwMode="auto">
            <a:xfrm>
              <a:off x="2372157" y="2404460"/>
              <a:ext cx="112712" cy="482600"/>
              <a:chOff x="4253" y="5198"/>
              <a:chExt cx="121" cy="360"/>
            </a:xfrm>
          </p:grpSpPr>
          <p:sp>
            <p:nvSpPr>
              <p:cNvPr id="88" name="Line 40"/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89" name="Line 41"/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sp>
          <p:nvSpPr>
            <p:cNvPr id="90" name="Line 42"/>
            <p:cNvSpPr>
              <a:spLocks noChangeShapeType="1"/>
            </p:cNvSpPr>
            <p:nvPr/>
          </p:nvSpPr>
          <p:spPr bwMode="auto">
            <a:xfrm flipH="1">
              <a:off x="1478394" y="2640997"/>
              <a:ext cx="89217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91" name="Text Box 43"/>
            <p:cNvSpPr txBox="1">
              <a:spLocks noChangeArrowheads="1"/>
            </p:cNvSpPr>
            <p:nvPr/>
          </p:nvSpPr>
          <p:spPr bwMode="auto">
            <a:xfrm>
              <a:off x="1935594" y="2009172"/>
              <a:ext cx="503238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="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4</a:t>
              </a:r>
              <a:endPara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92" name="Line 44"/>
            <p:cNvSpPr>
              <a:spLocks noChangeShapeType="1"/>
            </p:cNvSpPr>
            <p:nvPr/>
          </p:nvSpPr>
          <p:spPr bwMode="auto">
            <a:xfrm flipH="1">
              <a:off x="2492807" y="2640997"/>
              <a:ext cx="161607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93" name="Text Box 57"/>
            <p:cNvSpPr txBox="1">
              <a:spLocks noChangeArrowheads="1"/>
            </p:cNvSpPr>
            <p:nvPr/>
          </p:nvSpPr>
          <p:spPr bwMode="auto">
            <a:xfrm>
              <a:off x="4175557" y="2025047"/>
              <a:ext cx="334962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8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94" name="Text Box 58"/>
            <p:cNvSpPr txBox="1">
              <a:spLocks noChangeArrowheads="1"/>
            </p:cNvSpPr>
            <p:nvPr/>
          </p:nvSpPr>
          <p:spPr bwMode="auto">
            <a:xfrm>
              <a:off x="4288269" y="442310"/>
              <a:ext cx="330838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95" name="Text Box 59"/>
            <p:cNvSpPr txBox="1">
              <a:spLocks noChangeArrowheads="1"/>
            </p:cNvSpPr>
            <p:nvPr/>
          </p:nvSpPr>
          <p:spPr bwMode="auto">
            <a:xfrm>
              <a:off x="3946957" y="440722"/>
              <a:ext cx="266717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96" name="Text Box 60"/>
            <p:cNvSpPr txBox="1">
              <a:spLocks noChangeArrowheads="1"/>
            </p:cNvSpPr>
            <p:nvPr/>
          </p:nvSpPr>
          <p:spPr bwMode="auto">
            <a:xfrm>
              <a:off x="2445182" y="453422"/>
              <a:ext cx="330838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97" name="Text Box 61"/>
            <p:cNvSpPr txBox="1">
              <a:spLocks noChangeArrowheads="1"/>
            </p:cNvSpPr>
            <p:nvPr/>
          </p:nvSpPr>
          <p:spPr bwMode="auto">
            <a:xfrm>
              <a:off x="2103869" y="451835"/>
              <a:ext cx="266717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98" name="Text Box 62"/>
            <p:cNvSpPr txBox="1">
              <a:spLocks noChangeArrowheads="1"/>
            </p:cNvSpPr>
            <p:nvPr/>
          </p:nvSpPr>
          <p:spPr bwMode="auto">
            <a:xfrm>
              <a:off x="3318307" y="1277335"/>
              <a:ext cx="330838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99" name="Text Box 63"/>
            <p:cNvSpPr txBox="1">
              <a:spLocks noChangeArrowheads="1"/>
            </p:cNvSpPr>
            <p:nvPr/>
          </p:nvSpPr>
          <p:spPr bwMode="auto">
            <a:xfrm>
              <a:off x="3350057" y="1653572"/>
              <a:ext cx="266717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100" name="Text Box 64"/>
            <p:cNvSpPr txBox="1">
              <a:spLocks noChangeArrowheads="1"/>
            </p:cNvSpPr>
            <p:nvPr/>
          </p:nvSpPr>
          <p:spPr bwMode="auto">
            <a:xfrm>
              <a:off x="2064182" y="2606072"/>
              <a:ext cx="330838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01" name="Text Box 65"/>
            <p:cNvSpPr txBox="1">
              <a:spLocks noChangeArrowheads="1"/>
            </p:cNvSpPr>
            <p:nvPr/>
          </p:nvSpPr>
          <p:spPr bwMode="auto">
            <a:xfrm>
              <a:off x="2467407" y="2588610"/>
              <a:ext cx="266717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49" name="Oval 45"/>
            <p:cNvSpPr>
              <a:spLocks noChangeArrowheads="1"/>
            </p:cNvSpPr>
            <p:nvPr/>
          </p:nvSpPr>
          <p:spPr bwMode="auto">
            <a:xfrm>
              <a:off x="3246869" y="2580672"/>
              <a:ext cx="144463" cy="144463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0" name="Oval 45"/>
            <p:cNvSpPr>
              <a:spLocks noChangeArrowheads="1"/>
            </p:cNvSpPr>
            <p:nvPr/>
          </p:nvSpPr>
          <p:spPr bwMode="auto">
            <a:xfrm>
              <a:off x="5075669" y="2560035"/>
              <a:ext cx="144463" cy="144462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55" name="Rectangle 3"/>
          <p:cNvSpPr>
            <a:spLocks noChangeArrowheads="1"/>
          </p:cNvSpPr>
          <p:nvPr/>
        </p:nvSpPr>
        <p:spPr bwMode="auto">
          <a:xfrm>
            <a:off x="9242473" y="6198918"/>
            <a:ext cx="1133475" cy="536576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6" name="Rectangle 4"/>
          <p:cNvSpPr>
            <a:spLocks noChangeArrowheads="1"/>
          </p:cNvSpPr>
          <p:nvPr/>
        </p:nvSpPr>
        <p:spPr bwMode="auto">
          <a:xfrm>
            <a:off x="5261023" y="6206856"/>
            <a:ext cx="855663" cy="536576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3" name="Text Box 73"/>
          <p:cNvSpPr txBox="1">
            <a:spLocks noChangeArrowheads="1"/>
          </p:cNvSpPr>
          <p:nvPr/>
        </p:nvSpPr>
        <p:spPr bwMode="auto">
          <a:xfrm>
            <a:off x="7006042" y="6206233"/>
            <a:ext cx="216306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 25 C / 10 V</a:t>
            </a:r>
            <a:endParaRPr lang="es-ES" sz="2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" name="Text Box 81"/>
          <p:cNvSpPr txBox="1">
            <a:spLocks noChangeArrowheads="1"/>
          </p:cNvSpPr>
          <p:nvPr/>
        </p:nvSpPr>
        <p:spPr bwMode="auto">
          <a:xfrm>
            <a:off x="1783185" y="5815304"/>
            <a:ext cx="3433051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Por tanto, </a:t>
            </a:r>
            <a:r>
              <a:rPr lang="es-ES" sz="2400" b="0">
                <a:solidFill>
                  <a:schemeClr val="tx1"/>
                </a:solidFill>
              </a:rPr>
              <a:t>C</a:t>
            </a:r>
            <a:r>
              <a:rPr lang="es-ES" sz="2400" b="0" baseline="-25000">
                <a:solidFill>
                  <a:schemeClr val="tx1"/>
                </a:solidFill>
              </a:rPr>
              <a:t>eq</a:t>
            </a:r>
            <a:r>
              <a:rPr lang="es-ES" sz="2400" b="0">
                <a:solidFill>
                  <a:schemeClr val="tx1"/>
                </a:solidFill>
              </a:rPr>
              <a:t> </a:t>
            </a:r>
            <a:r>
              <a:rPr lang="es-ES" sz="2400" b="0" dirty="0">
                <a:solidFill>
                  <a:schemeClr val="tx1"/>
                </a:solidFill>
              </a:rPr>
              <a:t>se puede calcular también así:</a:t>
            </a:r>
          </a:p>
        </p:txBody>
      </p:sp>
      <p:sp>
        <p:nvSpPr>
          <p:cNvPr id="57" name="Text Box 73"/>
          <p:cNvSpPr txBox="1">
            <a:spLocks noChangeArrowheads="1"/>
          </p:cNvSpPr>
          <p:nvPr/>
        </p:nvSpPr>
        <p:spPr bwMode="auto">
          <a:xfrm>
            <a:off x="5392267" y="6204404"/>
            <a:ext cx="1723847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eq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= Q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/ 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endParaRPr lang="es-ES" sz="2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C0EE0EB5-FB70-4B9D-BFA6-E10A11843A87}"/>
              </a:ext>
            </a:extLst>
          </p:cNvPr>
          <p:cNvSpPr/>
          <p:nvPr/>
        </p:nvSpPr>
        <p:spPr bwMode="auto">
          <a:xfrm>
            <a:off x="3991851" y="1696098"/>
            <a:ext cx="1111639" cy="2592000"/>
          </a:xfrm>
          <a:custGeom>
            <a:avLst/>
            <a:gdLst>
              <a:gd name="connsiteX0" fmla="*/ 0 w 327259"/>
              <a:gd name="connsiteY0" fmla="*/ 0 h 2887579"/>
              <a:gd name="connsiteX1" fmla="*/ 327259 w 327259"/>
              <a:gd name="connsiteY1" fmla="*/ 0 h 2887579"/>
              <a:gd name="connsiteX2" fmla="*/ 317633 w 327259"/>
              <a:gd name="connsiteY2" fmla="*/ 2887579 h 2887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259" h="2887579">
                <a:moveTo>
                  <a:pt x="0" y="0"/>
                </a:moveTo>
                <a:lnTo>
                  <a:pt x="327259" y="0"/>
                </a:lnTo>
                <a:cubicBezTo>
                  <a:pt x="324050" y="962526"/>
                  <a:pt x="320842" y="1925053"/>
                  <a:pt x="317633" y="2887579"/>
                </a:cubicBezTo>
              </a:path>
            </a:pathLst>
          </a:cu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58" name="Text Box 74">
            <a:extLst>
              <a:ext uri="{FF2B5EF4-FFF2-40B4-BE49-F238E27FC236}">
                <a16:creationId xmlns:a16="http://schemas.microsoft.com/office/drawing/2014/main" id="{6AAEAF92-10E5-434B-AF86-76686BEFC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0867" y="3609600"/>
            <a:ext cx="1452562" cy="53657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C = Q / V</a:t>
            </a:r>
          </a:p>
        </p:txBody>
      </p:sp>
      <p:sp>
        <p:nvSpPr>
          <p:cNvPr id="59" name="Text Box 74">
            <a:extLst>
              <a:ext uri="{FF2B5EF4-FFF2-40B4-BE49-F238E27FC236}">
                <a16:creationId xmlns:a16="http://schemas.microsoft.com/office/drawing/2014/main" id="{ABF7D6B5-913C-42C2-91A0-35B8CD0DA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0867" y="4271357"/>
            <a:ext cx="1452042" cy="536549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Q = C V</a:t>
            </a:r>
          </a:p>
        </p:txBody>
      </p:sp>
      <p:sp>
        <p:nvSpPr>
          <p:cNvPr id="60" name="Text Box 74">
            <a:extLst>
              <a:ext uri="{FF2B5EF4-FFF2-40B4-BE49-F238E27FC236}">
                <a16:creationId xmlns:a16="http://schemas.microsoft.com/office/drawing/2014/main" id="{EA5C4FD6-FD43-42A3-887A-2EB94F533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0347" y="4933114"/>
            <a:ext cx="1452562" cy="53657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V = Q / C</a:t>
            </a:r>
          </a:p>
        </p:txBody>
      </p:sp>
      <p:sp>
        <p:nvSpPr>
          <p:cNvPr id="61" name="Text Box 73">
            <a:extLst>
              <a:ext uri="{FF2B5EF4-FFF2-40B4-BE49-F238E27FC236}">
                <a16:creationId xmlns:a16="http://schemas.microsoft.com/office/drawing/2014/main" id="{A67AAD60-A6ED-4FFE-A9A7-5487C2BF7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1249" y="6206233"/>
            <a:ext cx="132469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 2,5 F</a:t>
            </a:r>
            <a:endParaRPr lang="es-ES" sz="2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 Box 78">
            <a:extLst>
              <a:ext uri="{FF2B5EF4-FFF2-40B4-BE49-F238E27FC236}">
                <a16:creationId xmlns:a16="http://schemas.microsoft.com/office/drawing/2014/main" id="{39C254E7-4B91-14E8-B2A7-F07276256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5244" y="601464"/>
            <a:ext cx="3501643" cy="429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ts val="2000"/>
              </a:lnSpc>
              <a:spcBef>
                <a:spcPts val="0"/>
              </a:spcBef>
              <a:buFontTx/>
              <a:buNone/>
            </a:pPr>
            <a:r>
              <a:rPr lang="es-ES" sz="2400" b="0">
                <a:solidFill>
                  <a:srgbClr val="FF0000"/>
                </a:solidFill>
                <a:latin typeface="Arial" panose="020B0604020202020204" pitchFamily="34" charset="0"/>
              </a:rPr>
              <a:t>Ya las hemos calculado</a:t>
            </a:r>
            <a:endParaRPr lang="es-ES" sz="2400" b="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214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9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9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9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0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52" grpId="0" animBg="1"/>
      <p:bldP spid="40017" grpId="0" animBg="1"/>
      <p:bldP spid="55" grpId="0" animBg="1"/>
      <p:bldP spid="56" grpId="0" animBg="1"/>
      <p:bldP spid="53" grpId="0"/>
      <p:bldP spid="54" grpId="0"/>
      <p:bldP spid="57" grpId="0"/>
      <p:bldP spid="4" grpId="0" animBg="1"/>
      <p:bldP spid="61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68" name="Group 132"/>
          <p:cNvGrpSpPr>
            <a:grpSpLocks/>
          </p:cNvGrpSpPr>
          <p:nvPr/>
        </p:nvGrpSpPr>
        <p:grpSpPr bwMode="auto">
          <a:xfrm>
            <a:off x="1684979" y="6153144"/>
            <a:ext cx="6794492" cy="514350"/>
            <a:chOff x="1154" y="3876"/>
            <a:chExt cx="4280" cy="324"/>
          </a:xfrm>
        </p:grpSpPr>
        <p:sp>
          <p:nvSpPr>
            <p:cNvPr id="15422" name="Rectangle 130"/>
            <p:cNvSpPr>
              <a:spLocks noChangeArrowheads="1"/>
            </p:cNvSpPr>
            <p:nvPr/>
          </p:nvSpPr>
          <p:spPr bwMode="auto">
            <a:xfrm>
              <a:off x="1154" y="3879"/>
              <a:ext cx="320" cy="32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b="0"/>
            </a:p>
          </p:txBody>
        </p:sp>
        <p:sp>
          <p:nvSpPr>
            <p:cNvPr id="15423" name="Rectangle 131"/>
            <p:cNvSpPr>
              <a:spLocks noChangeArrowheads="1"/>
            </p:cNvSpPr>
            <p:nvPr/>
          </p:nvSpPr>
          <p:spPr bwMode="auto">
            <a:xfrm>
              <a:off x="4651" y="3876"/>
              <a:ext cx="783" cy="32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b="0"/>
            </a:p>
          </p:txBody>
        </p:sp>
      </p:grpSp>
      <p:sp>
        <p:nvSpPr>
          <p:cNvPr id="391172" name="Text Box 4"/>
          <p:cNvSpPr txBox="1">
            <a:spLocks noChangeArrowheads="1"/>
          </p:cNvSpPr>
          <p:nvPr/>
        </p:nvSpPr>
        <p:spPr bwMode="auto">
          <a:xfrm>
            <a:off x="1655932" y="1457294"/>
            <a:ext cx="3374940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U = U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+ U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+ U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+ U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9950" name="Text Box 12"/>
          <p:cNvSpPr txBox="1">
            <a:spLocks noChangeArrowheads="1"/>
          </p:cNvSpPr>
          <p:nvPr/>
        </p:nvSpPr>
        <p:spPr bwMode="auto">
          <a:xfrm>
            <a:off x="1417562" y="383019"/>
            <a:ext cx="763648" cy="714146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¿U?</a:t>
            </a:r>
          </a:p>
        </p:txBody>
      </p:sp>
      <p:sp>
        <p:nvSpPr>
          <p:cNvPr id="39951" name="Text Box 13"/>
          <p:cNvSpPr txBox="1">
            <a:spLocks noChangeArrowheads="1"/>
          </p:cNvSpPr>
          <p:nvPr/>
        </p:nvSpPr>
        <p:spPr bwMode="auto">
          <a:xfrm>
            <a:off x="1421322" y="5293361"/>
            <a:ext cx="4907924" cy="536549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U = ½ Q V = ½ C V</a:t>
            </a:r>
            <a:r>
              <a:rPr lang="es-ES" sz="2400" b="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= ½ Q</a:t>
            </a:r>
            <a:r>
              <a:rPr lang="es-ES" sz="2400" b="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/ C</a:t>
            </a:r>
          </a:p>
        </p:txBody>
      </p:sp>
      <p:sp>
        <p:nvSpPr>
          <p:cNvPr id="391182" name="Text Box 14"/>
          <p:cNvSpPr txBox="1">
            <a:spLocks noChangeArrowheads="1"/>
          </p:cNvSpPr>
          <p:nvPr/>
        </p:nvSpPr>
        <p:spPr bwMode="auto">
          <a:xfrm>
            <a:off x="7056375" y="6141104"/>
            <a:ext cx="1462558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= 125 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J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91183" name="Text Box 15"/>
          <p:cNvSpPr txBox="1">
            <a:spLocks noChangeArrowheads="1"/>
          </p:cNvSpPr>
          <p:nvPr/>
        </p:nvSpPr>
        <p:spPr bwMode="auto">
          <a:xfrm>
            <a:off x="1656162" y="2092197"/>
            <a:ext cx="349195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U = </a:t>
            </a:r>
            <a:r>
              <a:rPr lang="es-ES" sz="2400" b="0" dirty="0" err="1">
                <a:solidFill>
                  <a:srgbClr val="000000"/>
                </a:solidFill>
                <a:latin typeface="Arial" panose="020B0604020202020204" pitchFamily="34" charset="0"/>
              </a:rPr>
              <a:t>U</a:t>
            </a:r>
            <a:r>
              <a:rPr lang="es-ES" sz="2400" b="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condensador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 equivalente</a:t>
            </a:r>
            <a:endParaRPr lang="es-ES" sz="2400" b="0" baseline="300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91184" name="Text Box 16"/>
          <p:cNvSpPr txBox="1">
            <a:spLocks noChangeArrowheads="1"/>
          </p:cNvSpPr>
          <p:nvPr/>
        </p:nvSpPr>
        <p:spPr bwMode="auto">
          <a:xfrm>
            <a:off x="1705617" y="6146800"/>
            <a:ext cx="2700076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U = U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Ceq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= ½ Q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endParaRPr lang="es-ES" sz="2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0069" name="Text Box 133"/>
          <p:cNvSpPr txBox="1">
            <a:spLocks noChangeArrowheads="1"/>
          </p:cNvSpPr>
          <p:nvPr/>
        </p:nvSpPr>
        <p:spPr bwMode="auto">
          <a:xfrm>
            <a:off x="1420145" y="2878510"/>
            <a:ext cx="4909101" cy="15696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b="0"/>
              <a:t>C</a:t>
            </a:r>
            <a:r>
              <a:rPr lang="es-ES" sz="2400" b="0" baseline="-25000"/>
              <a:t>eq</a:t>
            </a:r>
            <a:r>
              <a:rPr lang="es-ES" sz="2400" b="0"/>
              <a:t> es equivalente a la asociación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 b="0"/>
              <a:t>si almacena la misma carga y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 b="0"/>
              <a:t>la misma energía cuando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 b="0"/>
              <a:t>se le aplica la misma tensión</a:t>
            </a:r>
          </a:p>
        </p:txBody>
      </p:sp>
      <p:sp>
        <p:nvSpPr>
          <p:cNvPr id="15417" name="Text Box 19"/>
          <p:cNvSpPr txBox="1">
            <a:spLocks noChangeArrowheads="1"/>
          </p:cNvSpPr>
          <p:nvPr/>
        </p:nvSpPr>
        <p:spPr bwMode="auto">
          <a:xfrm>
            <a:off x="2323660" y="441536"/>
            <a:ext cx="2364280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</a:rPr>
              <a:t>Hay 2 formas de calcularla</a:t>
            </a:r>
          </a:p>
        </p:txBody>
      </p:sp>
      <p:sp>
        <p:nvSpPr>
          <p:cNvPr id="105" name="Text Box 9"/>
          <p:cNvSpPr txBox="1">
            <a:spLocks noChangeArrowheads="1"/>
          </p:cNvSpPr>
          <p:nvPr/>
        </p:nvSpPr>
        <p:spPr bwMode="auto">
          <a:xfrm>
            <a:off x="8129425" y="3620630"/>
            <a:ext cx="1454542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b="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lang="es-ES" sz="2000" b="0" baseline="-250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0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25 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_tradnl" sz="2000" b="0">
                <a:solidFill>
                  <a:srgbClr val="3333FF"/>
                </a:solidFill>
                <a:latin typeface="Arial" panose="020B0604020202020204" pitchFamily="34" charset="0"/>
              </a:rPr>
              <a:t>C</a:t>
            </a:r>
            <a:endParaRPr lang="es-ES" sz="2000" b="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06" name="Text Box 16"/>
          <p:cNvSpPr txBox="1">
            <a:spLocks noChangeArrowheads="1"/>
          </p:cNvSpPr>
          <p:nvPr/>
        </p:nvSpPr>
        <p:spPr bwMode="auto">
          <a:xfrm>
            <a:off x="4207114" y="6143352"/>
            <a:ext cx="3011058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 ½ 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 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25 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C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 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10 V </a:t>
            </a:r>
          </a:p>
        </p:txBody>
      </p:sp>
      <p:grpSp>
        <p:nvGrpSpPr>
          <p:cNvPr id="107" name="Grupo 106">
            <a:extLst>
              <a:ext uri="{FF2B5EF4-FFF2-40B4-BE49-F238E27FC236}">
                <a16:creationId xmlns:a16="http://schemas.microsoft.com/office/drawing/2014/main" id="{2B6D6B59-6850-46E8-9D37-17E21805B85E}"/>
              </a:ext>
            </a:extLst>
          </p:cNvPr>
          <p:cNvGrpSpPr/>
          <p:nvPr/>
        </p:nvGrpSpPr>
        <p:grpSpPr>
          <a:xfrm>
            <a:off x="6170273" y="181577"/>
            <a:ext cx="3749675" cy="3178200"/>
            <a:chOff x="1470457" y="269272"/>
            <a:chExt cx="3749675" cy="3178200"/>
          </a:xfrm>
        </p:grpSpPr>
        <p:sp>
          <p:nvSpPr>
            <p:cNvPr id="108" name="Text Box 6">
              <a:extLst>
                <a:ext uri="{FF2B5EF4-FFF2-40B4-BE49-F238E27FC236}">
                  <a16:creationId xmlns:a16="http://schemas.microsoft.com/office/drawing/2014/main" id="{E7C59047-40D2-4CD3-AE57-10ABDC14D0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5482" y="2983626"/>
              <a:ext cx="1133942" cy="463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</a:t>
              </a:r>
              <a:r>
                <a:rPr lang="es-ES" sz="2000" b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 </a:t>
              </a:r>
              <a:r>
                <a:rPr lang="es-ES" sz="2000" b="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10 V</a:t>
              </a:r>
            </a:p>
          </p:txBody>
        </p:sp>
        <p:grpSp>
          <p:nvGrpSpPr>
            <p:cNvPr id="109" name="Group 16">
              <a:extLst>
                <a:ext uri="{FF2B5EF4-FFF2-40B4-BE49-F238E27FC236}">
                  <a16:creationId xmlns:a16="http://schemas.microsoft.com/office/drawing/2014/main" id="{D488B88E-3807-4EE7-AFA2-7793A9AC65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4219" y="709010"/>
              <a:ext cx="112713" cy="482600"/>
              <a:chOff x="4253" y="5198"/>
              <a:chExt cx="121" cy="360"/>
            </a:xfrm>
          </p:grpSpPr>
          <p:sp>
            <p:nvSpPr>
              <p:cNvPr id="147" name="Line 17">
                <a:extLst>
                  <a:ext uri="{FF2B5EF4-FFF2-40B4-BE49-F238E27FC236}">
                    <a16:creationId xmlns:a16="http://schemas.microsoft.com/office/drawing/2014/main" id="{1306510F-3172-4271-A507-5ADB779D0C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148" name="Line 18">
                <a:extLst>
                  <a:ext uri="{FF2B5EF4-FFF2-40B4-BE49-F238E27FC236}">
                    <a16:creationId xmlns:a16="http://schemas.microsoft.com/office/drawing/2014/main" id="{C9A3FC7A-E02C-4116-885F-849575F129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grpSp>
          <p:nvGrpSpPr>
            <p:cNvPr id="110" name="Group 19">
              <a:extLst>
                <a:ext uri="{FF2B5EF4-FFF2-40B4-BE49-F238E27FC236}">
                  <a16:creationId xmlns:a16="http://schemas.microsoft.com/office/drawing/2014/main" id="{ABC067EC-6447-4A08-8B0D-ABAC3E40AF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16832" y="712185"/>
              <a:ext cx="112712" cy="484187"/>
              <a:chOff x="4253" y="5198"/>
              <a:chExt cx="121" cy="360"/>
            </a:xfrm>
          </p:grpSpPr>
          <p:sp>
            <p:nvSpPr>
              <p:cNvPr id="145" name="Line 20">
                <a:extLst>
                  <a:ext uri="{FF2B5EF4-FFF2-40B4-BE49-F238E27FC236}">
                    <a16:creationId xmlns:a16="http://schemas.microsoft.com/office/drawing/2014/main" id="{818FE324-EFD6-4A79-BB92-C527DFA72E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146" name="Line 21">
                <a:extLst>
                  <a:ext uri="{FF2B5EF4-FFF2-40B4-BE49-F238E27FC236}">
                    <a16:creationId xmlns:a16="http://schemas.microsoft.com/office/drawing/2014/main" id="{313655C0-CF1D-4392-809A-891EF1C6D4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grpSp>
          <p:nvGrpSpPr>
            <p:cNvPr id="111" name="Group 22">
              <a:extLst>
                <a:ext uri="{FF2B5EF4-FFF2-40B4-BE49-F238E27FC236}">
                  <a16:creationId xmlns:a16="http://schemas.microsoft.com/office/drawing/2014/main" id="{E4697336-E3D5-46C3-8D19-D79578166F19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227026" y="1587691"/>
              <a:ext cx="163512" cy="336550"/>
              <a:chOff x="4253" y="5198"/>
              <a:chExt cx="121" cy="360"/>
            </a:xfrm>
          </p:grpSpPr>
          <p:sp>
            <p:nvSpPr>
              <p:cNvPr id="143" name="Line 23">
                <a:extLst>
                  <a:ext uri="{FF2B5EF4-FFF2-40B4-BE49-F238E27FC236}">
                    <a16:creationId xmlns:a16="http://schemas.microsoft.com/office/drawing/2014/main" id="{FD7B9D97-FA09-4993-AC05-55F57C9591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144" name="Line 24">
                <a:extLst>
                  <a:ext uri="{FF2B5EF4-FFF2-40B4-BE49-F238E27FC236}">
                    <a16:creationId xmlns:a16="http://schemas.microsoft.com/office/drawing/2014/main" id="{9D6EB13B-2A94-43A0-AFA9-F01492225C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sp>
          <p:nvSpPr>
            <p:cNvPr id="112" name="Line 25">
              <a:extLst>
                <a:ext uri="{FF2B5EF4-FFF2-40B4-BE49-F238E27FC236}">
                  <a16:creationId xmlns:a16="http://schemas.microsoft.com/office/drawing/2014/main" id="{EC399301-2F73-4823-ADAA-44EDEDD7E0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0457" y="945547"/>
              <a:ext cx="89217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13" name="Text Box 26">
              <a:extLst>
                <a:ext uri="{FF2B5EF4-FFF2-40B4-BE49-F238E27FC236}">
                  <a16:creationId xmlns:a16="http://schemas.microsoft.com/office/drawing/2014/main" id="{1588D885-BE03-4184-B7E4-4E17EA4D9B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5594" y="269272"/>
              <a:ext cx="503238" cy="517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="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2</a:t>
              </a:r>
              <a:endPara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4" name="Text Box 27">
              <a:extLst>
                <a:ext uri="{FF2B5EF4-FFF2-40B4-BE49-F238E27FC236}">
                  <a16:creationId xmlns:a16="http://schemas.microsoft.com/office/drawing/2014/main" id="{376D9793-13EE-49D2-89BE-99585B4FD9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969" y="269272"/>
              <a:ext cx="503238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="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1</a:t>
              </a:r>
              <a:endPara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15" name="Group 28">
              <a:extLst>
                <a:ext uri="{FF2B5EF4-FFF2-40B4-BE49-F238E27FC236}">
                  <a16:creationId xmlns:a16="http://schemas.microsoft.com/office/drawing/2014/main" id="{7508DBE3-B902-4612-9B1D-4CB237B8F3D3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102532" y="2399697"/>
              <a:ext cx="58737" cy="482600"/>
              <a:chOff x="5153" y="6274"/>
              <a:chExt cx="63" cy="360"/>
            </a:xfrm>
          </p:grpSpPr>
          <p:sp>
            <p:nvSpPr>
              <p:cNvPr id="141" name="Line 29">
                <a:extLst>
                  <a:ext uri="{FF2B5EF4-FFF2-40B4-BE49-F238E27FC236}">
                    <a16:creationId xmlns:a16="http://schemas.microsoft.com/office/drawing/2014/main" id="{B7C0041C-406D-4A95-A351-A4C4741E7E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16" y="6357"/>
                <a:ext cx="0" cy="193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142" name="Line 30">
                <a:extLst>
                  <a:ext uri="{FF2B5EF4-FFF2-40B4-BE49-F238E27FC236}">
                    <a16:creationId xmlns:a16="http://schemas.microsoft.com/office/drawing/2014/main" id="{7637B5B3-45DA-4036-AC83-EEA240C148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53" y="6274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sp>
          <p:nvSpPr>
            <p:cNvPr id="116" name="Line 31">
              <a:extLst>
                <a:ext uri="{FF2B5EF4-FFF2-40B4-BE49-F238E27FC236}">
                  <a16:creationId xmlns:a16="http://schemas.microsoft.com/office/drawing/2014/main" id="{A18FF15F-9B10-40F0-81F1-53DC0FF843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61269" y="2640997"/>
              <a:ext cx="100647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17" name="Text Box 32">
              <a:extLst>
                <a:ext uri="{FF2B5EF4-FFF2-40B4-BE49-F238E27FC236}">
                  <a16:creationId xmlns:a16="http://schemas.microsoft.com/office/drawing/2014/main" id="{43427735-384F-4FD6-98CF-6D884E0409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0607" y="1488472"/>
              <a:ext cx="503237" cy="495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="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3</a:t>
              </a:r>
              <a:endPara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8" name="Line 33">
              <a:extLst>
                <a:ext uri="{FF2B5EF4-FFF2-40B4-BE49-F238E27FC236}">
                  <a16:creationId xmlns:a16="http://schemas.microsoft.com/office/drawing/2014/main" id="{093B4FD3-27F4-49BC-96D0-6498291823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84869" y="950310"/>
              <a:ext cx="173196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19" name="Line 34">
              <a:extLst>
                <a:ext uri="{FF2B5EF4-FFF2-40B4-BE49-F238E27FC236}">
                  <a16:creationId xmlns:a16="http://schemas.microsoft.com/office/drawing/2014/main" id="{0D5274AD-12F5-466B-B4A4-436E495B08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6332" y="950310"/>
              <a:ext cx="0" cy="169068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20" name="Line 35">
              <a:extLst>
                <a:ext uri="{FF2B5EF4-FFF2-40B4-BE49-F238E27FC236}">
                  <a16:creationId xmlns:a16="http://schemas.microsoft.com/office/drawing/2014/main" id="{F39ABB7F-91CB-44E3-83B7-7F76D40599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8694" y="950310"/>
              <a:ext cx="0" cy="169068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21" name="Line 36">
              <a:extLst>
                <a:ext uri="{FF2B5EF4-FFF2-40B4-BE49-F238E27FC236}">
                  <a16:creationId xmlns:a16="http://schemas.microsoft.com/office/drawing/2014/main" id="{880CF17C-1043-47E1-BC18-3E0420C97A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9544" y="950310"/>
              <a:ext cx="8382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22" name="Line 37">
              <a:extLst>
                <a:ext uri="{FF2B5EF4-FFF2-40B4-BE49-F238E27FC236}">
                  <a16:creationId xmlns:a16="http://schemas.microsoft.com/office/drawing/2014/main" id="{6A222722-A728-4F1E-954C-18830319F0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8782" y="950310"/>
              <a:ext cx="0" cy="7239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23" name="Line 38">
              <a:extLst>
                <a:ext uri="{FF2B5EF4-FFF2-40B4-BE49-F238E27FC236}">
                  <a16:creationId xmlns:a16="http://schemas.microsoft.com/office/drawing/2014/main" id="{692846B2-2C1C-4F79-BDAE-303ABF32C9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8782" y="1842485"/>
              <a:ext cx="0" cy="79851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grpSp>
          <p:nvGrpSpPr>
            <p:cNvPr id="124" name="Group 39">
              <a:extLst>
                <a:ext uri="{FF2B5EF4-FFF2-40B4-BE49-F238E27FC236}">
                  <a16:creationId xmlns:a16="http://schemas.microsoft.com/office/drawing/2014/main" id="{883222AC-AB1D-43C6-847F-DE1020B09D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72157" y="2404460"/>
              <a:ext cx="112712" cy="482600"/>
              <a:chOff x="4253" y="5198"/>
              <a:chExt cx="121" cy="360"/>
            </a:xfrm>
          </p:grpSpPr>
          <p:sp>
            <p:nvSpPr>
              <p:cNvPr id="139" name="Line 40">
                <a:extLst>
                  <a:ext uri="{FF2B5EF4-FFF2-40B4-BE49-F238E27FC236}">
                    <a16:creationId xmlns:a16="http://schemas.microsoft.com/office/drawing/2014/main" id="{C5E94489-99B5-40DA-B984-71DB2AB41B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140" name="Line 41">
                <a:extLst>
                  <a:ext uri="{FF2B5EF4-FFF2-40B4-BE49-F238E27FC236}">
                    <a16:creationId xmlns:a16="http://schemas.microsoft.com/office/drawing/2014/main" id="{8ED03250-2906-4AEE-9476-F1364A9BBE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sp>
          <p:nvSpPr>
            <p:cNvPr id="125" name="Line 42">
              <a:extLst>
                <a:ext uri="{FF2B5EF4-FFF2-40B4-BE49-F238E27FC236}">
                  <a16:creationId xmlns:a16="http://schemas.microsoft.com/office/drawing/2014/main" id="{E2973EFC-5D67-452B-8AEA-4312003702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8394" y="2640997"/>
              <a:ext cx="89217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26" name="Text Box 43">
              <a:extLst>
                <a:ext uri="{FF2B5EF4-FFF2-40B4-BE49-F238E27FC236}">
                  <a16:creationId xmlns:a16="http://schemas.microsoft.com/office/drawing/2014/main" id="{1AC12759-CB33-433E-B8D7-C35DDB3AC7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5594" y="2009172"/>
              <a:ext cx="503238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="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4</a:t>
              </a:r>
              <a:endPara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27" name="Line 44">
              <a:extLst>
                <a:ext uri="{FF2B5EF4-FFF2-40B4-BE49-F238E27FC236}">
                  <a16:creationId xmlns:a16="http://schemas.microsoft.com/office/drawing/2014/main" id="{0D25534C-361B-4520-926D-7CABC63CDF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2807" y="2640997"/>
              <a:ext cx="161607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28" name="Text Box 57">
              <a:extLst>
                <a:ext uri="{FF2B5EF4-FFF2-40B4-BE49-F238E27FC236}">
                  <a16:creationId xmlns:a16="http://schemas.microsoft.com/office/drawing/2014/main" id="{CE4CE4B4-48F4-4E19-A3F5-A1654F2505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5557" y="2025047"/>
              <a:ext cx="334962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8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29" name="Text Box 58">
              <a:extLst>
                <a:ext uri="{FF2B5EF4-FFF2-40B4-BE49-F238E27FC236}">
                  <a16:creationId xmlns:a16="http://schemas.microsoft.com/office/drawing/2014/main" id="{047A3B31-8504-469B-9EB6-A25BB083DF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8269" y="442310"/>
              <a:ext cx="330838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30" name="Text Box 59">
              <a:extLst>
                <a:ext uri="{FF2B5EF4-FFF2-40B4-BE49-F238E27FC236}">
                  <a16:creationId xmlns:a16="http://schemas.microsoft.com/office/drawing/2014/main" id="{21FF722B-509F-47EE-BB0A-11B2FF4C77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6957" y="440722"/>
              <a:ext cx="266717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131" name="Text Box 60">
              <a:extLst>
                <a:ext uri="{FF2B5EF4-FFF2-40B4-BE49-F238E27FC236}">
                  <a16:creationId xmlns:a16="http://schemas.microsoft.com/office/drawing/2014/main" id="{1DC0F841-20BA-4809-AC5F-BB61C52EE0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5182" y="453422"/>
              <a:ext cx="330838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32" name="Text Box 61">
              <a:extLst>
                <a:ext uri="{FF2B5EF4-FFF2-40B4-BE49-F238E27FC236}">
                  <a16:creationId xmlns:a16="http://schemas.microsoft.com/office/drawing/2014/main" id="{E0F5C28F-D658-4841-BB13-228B76AF92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3869" y="451835"/>
              <a:ext cx="266717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133" name="Text Box 62">
              <a:extLst>
                <a:ext uri="{FF2B5EF4-FFF2-40B4-BE49-F238E27FC236}">
                  <a16:creationId xmlns:a16="http://schemas.microsoft.com/office/drawing/2014/main" id="{23269986-10CB-4075-BB8D-E2A6E6A2BF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8307" y="1277335"/>
              <a:ext cx="330838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34" name="Text Box 63">
              <a:extLst>
                <a:ext uri="{FF2B5EF4-FFF2-40B4-BE49-F238E27FC236}">
                  <a16:creationId xmlns:a16="http://schemas.microsoft.com/office/drawing/2014/main" id="{65C11C16-917B-4A7E-BC55-9F295B12F0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0057" y="1653572"/>
              <a:ext cx="266717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135" name="Text Box 64">
              <a:extLst>
                <a:ext uri="{FF2B5EF4-FFF2-40B4-BE49-F238E27FC236}">
                  <a16:creationId xmlns:a16="http://schemas.microsoft.com/office/drawing/2014/main" id="{A29B30C0-14B5-4AEE-B9AD-D9198A90AF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182" y="2606072"/>
              <a:ext cx="330838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36" name="Text Box 65">
              <a:extLst>
                <a:ext uri="{FF2B5EF4-FFF2-40B4-BE49-F238E27FC236}">
                  <a16:creationId xmlns:a16="http://schemas.microsoft.com/office/drawing/2014/main" id="{400E0B1A-54F6-4E6E-9F34-D49F861713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7407" y="2588610"/>
              <a:ext cx="266717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137" name="Oval 45">
              <a:extLst>
                <a:ext uri="{FF2B5EF4-FFF2-40B4-BE49-F238E27FC236}">
                  <a16:creationId xmlns:a16="http://schemas.microsoft.com/office/drawing/2014/main" id="{5F476012-5442-4830-8422-DBE973F3A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6869" y="2580672"/>
              <a:ext cx="144463" cy="144463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8" name="Oval 45">
              <a:extLst>
                <a:ext uri="{FF2B5EF4-FFF2-40B4-BE49-F238E27FC236}">
                  <a16:creationId xmlns:a16="http://schemas.microsoft.com/office/drawing/2014/main" id="{9AE3D285-88AE-47FF-A80F-7982BC384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5669" y="2560035"/>
              <a:ext cx="144463" cy="144462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Text Box 19">
            <a:extLst>
              <a:ext uri="{FF2B5EF4-FFF2-40B4-BE49-F238E27FC236}">
                <a16:creationId xmlns:a16="http://schemas.microsoft.com/office/drawing/2014/main" id="{191AA684-EA07-F94F-FF4E-0E89A6B9F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1210" y="4594016"/>
            <a:ext cx="2144526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FF0000"/>
                </a:solidFill>
                <a:latin typeface="Arial" panose="020B0604020202020204" pitchFamily="34" charset="0"/>
              </a:rPr>
              <a:t>Elegimos la 2ª</a:t>
            </a:r>
            <a:endParaRPr lang="es-ES" sz="2400" b="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14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9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9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5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5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9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91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40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39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91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91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0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72" grpId="0"/>
      <p:bldP spid="39950" grpId="0" animBg="1"/>
      <p:bldP spid="39951" grpId="0" animBg="1"/>
      <p:bldP spid="391182" grpId="0"/>
      <p:bldP spid="391183" grpId="0"/>
      <p:bldP spid="391184" grpId="0"/>
      <p:bldP spid="40069" grpId="0" animBg="1"/>
      <p:bldP spid="15417" grpId="0"/>
      <p:bldP spid="106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roup 4">
            <a:extLst>
              <a:ext uri="{FF2B5EF4-FFF2-40B4-BE49-F238E27FC236}">
                <a16:creationId xmlns:a16="http://schemas.microsoft.com/office/drawing/2014/main" id="{C52C0BFE-6023-44B5-8753-9591CD46D033}"/>
              </a:ext>
            </a:extLst>
          </p:cNvPr>
          <p:cNvGrpSpPr>
            <a:grpSpLocks/>
          </p:cNvGrpSpPr>
          <p:nvPr/>
        </p:nvGrpSpPr>
        <p:grpSpPr bwMode="auto">
          <a:xfrm>
            <a:off x="7854152" y="2557420"/>
            <a:ext cx="317500" cy="376237"/>
            <a:chOff x="8088" y="15201"/>
            <a:chExt cx="340" cy="280"/>
          </a:xfrm>
        </p:grpSpPr>
        <p:sp>
          <p:nvSpPr>
            <p:cNvPr id="115" name="Line 5">
              <a:extLst>
                <a:ext uri="{FF2B5EF4-FFF2-40B4-BE49-F238E27FC236}">
                  <a16:creationId xmlns:a16="http://schemas.microsoft.com/office/drawing/2014/main" id="{B961C0F0-0571-4218-AE13-AE47CCF04F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58" y="15201"/>
              <a:ext cx="0" cy="1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b="0"/>
            </a:p>
          </p:txBody>
        </p:sp>
        <p:sp>
          <p:nvSpPr>
            <p:cNvPr id="116" name="Line 6">
              <a:extLst>
                <a:ext uri="{FF2B5EF4-FFF2-40B4-BE49-F238E27FC236}">
                  <a16:creationId xmlns:a16="http://schemas.microsoft.com/office/drawing/2014/main" id="{CEF00D05-024A-4214-BE2E-703D6A5149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88" y="15384"/>
              <a:ext cx="34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b="0"/>
            </a:p>
          </p:txBody>
        </p:sp>
        <p:sp>
          <p:nvSpPr>
            <p:cNvPr id="117" name="Line 7">
              <a:extLst>
                <a:ext uri="{FF2B5EF4-FFF2-40B4-BE49-F238E27FC236}">
                  <a16:creationId xmlns:a16="http://schemas.microsoft.com/office/drawing/2014/main" id="{30B3576F-ADFB-46A3-BA22-4EC8AC9CD9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45" y="15432"/>
              <a:ext cx="22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b="0"/>
            </a:p>
          </p:txBody>
        </p:sp>
        <p:sp>
          <p:nvSpPr>
            <p:cNvPr id="118" name="Line 8">
              <a:extLst>
                <a:ext uri="{FF2B5EF4-FFF2-40B4-BE49-F238E27FC236}">
                  <a16:creationId xmlns:a16="http://schemas.microsoft.com/office/drawing/2014/main" id="{FB6F1411-1D60-4D89-B120-4FB8EDA560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02" y="15481"/>
              <a:ext cx="11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b="0"/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DE6FBD10-6E6C-41B2-9D0F-A6B53044EFBE}"/>
              </a:ext>
            </a:extLst>
          </p:cNvPr>
          <p:cNvGrpSpPr/>
          <p:nvPr/>
        </p:nvGrpSpPr>
        <p:grpSpPr>
          <a:xfrm>
            <a:off x="1400594" y="3331596"/>
            <a:ext cx="8732543" cy="1297363"/>
            <a:chOff x="1431062" y="5234184"/>
            <a:chExt cx="8732543" cy="1427099"/>
          </a:xfrm>
        </p:grpSpPr>
        <p:sp>
          <p:nvSpPr>
            <p:cNvPr id="17487" name="Rectangle 129"/>
            <p:cNvSpPr>
              <a:spLocks noChangeArrowheads="1"/>
            </p:cNvSpPr>
            <p:nvPr/>
          </p:nvSpPr>
          <p:spPr bwMode="auto">
            <a:xfrm>
              <a:off x="1431062" y="5234184"/>
              <a:ext cx="8732543" cy="142709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b="0"/>
                <a:t>    </a:t>
              </a:r>
            </a:p>
          </p:txBody>
        </p:sp>
        <p:sp>
          <p:nvSpPr>
            <p:cNvPr id="17489" name="Text Box 131"/>
            <p:cNvSpPr txBox="1">
              <a:spLocks noChangeArrowheads="1"/>
            </p:cNvSpPr>
            <p:nvPr/>
          </p:nvSpPr>
          <p:spPr bwMode="auto">
            <a:xfrm>
              <a:off x="5413804" y="5303206"/>
              <a:ext cx="4625976" cy="1275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 dirty="0">
                  <a:latin typeface="Arial" panose="020B0604020202020204" pitchFamily="34" charset="0"/>
                </a:rPr>
                <a:t>La suma de las caídas de V de uno a otro por cualquier camino a través del circuito</a:t>
              </a:r>
            </a:p>
          </p:txBody>
        </p:sp>
        <p:sp>
          <p:nvSpPr>
            <p:cNvPr id="17490" name="Text Box 128"/>
            <p:cNvSpPr txBox="1">
              <a:spLocks noChangeArrowheads="1"/>
            </p:cNvSpPr>
            <p:nvPr/>
          </p:nvSpPr>
          <p:spPr bwMode="auto">
            <a:xfrm>
              <a:off x="4978068" y="5689096"/>
              <a:ext cx="363538" cy="4619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0" dirty="0">
                  <a:solidFill>
                    <a:schemeClr val="tx1"/>
                  </a:solidFill>
                </a:rPr>
                <a:t>=</a:t>
              </a:r>
            </a:p>
          </p:txBody>
        </p:sp>
        <p:sp>
          <p:nvSpPr>
            <p:cNvPr id="98" name="Text Box 70"/>
            <p:cNvSpPr txBox="1">
              <a:spLocks noChangeArrowheads="1"/>
            </p:cNvSpPr>
            <p:nvPr/>
          </p:nvSpPr>
          <p:spPr bwMode="auto">
            <a:xfrm>
              <a:off x="1530732" y="5304335"/>
              <a:ext cx="3379748" cy="1275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b="0" dirty="0">
                  <a:latin typeface="Arial" panose="020B0604020202020204" pitchFamily="34" charset="0"/>
                </a:rPr>
                <a:t>La caída de potencial entre 2 puntos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b="0" dirty="0">
                  <a:latin typeface="Arial" panose="020B0604020202020204" pitchFamily="34" charset="0"/>
                </a:rPr>
                <a:t>de un circuito</a:t>
              </a:r>
            </a:p>
          </p:txBody>
        </p:sp>
      </p:grpSp>
      <p:sp>
        <p:nvSpPr>
          <p:cNvPr id="42029" name="Text Box 59"/>
          <p:cNvSpPr txBox="1">
            <a:spLocks noChangeArrowheads="1"/>
          </p:cNvSpPr>
          <p:nvPr/>
        </p:nvSpPr>
        <p:spPr bwMode="auto">
          <a:xfrm>
            <a:off x="1431062" y="507030"/>
            <a:ext cx="746015" cy="714146"/>
          </a:xfrm>
          <a:prstGeom prst="rect">
            <a:avLst/>
          </a:prstGeom>
          <a:solidFill>
            <a:srgbClr val="FF99CC"/>
          </a:solidFill>
          <a:ln>
            <a:noFill/>
          </a:ln>
        </p:spPr>
        <p:txBody>
          <a:bodyPr wrap="non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¿V?</a:t>
            </a:r>
            <a:endParaRPr lang="es-ES" sz="2400" b="0" baseline="-25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2042" name="Text Box 130"/>
          <p:cNvSpPr txBox="1">
            <a:spLocks noChangeArrowheads="1"/>
          </p:cNvSpPr>
          <p:nvPr/>
        </p:nvSpPr>
        <p:spPr bwMode="auto">
          <a:xfrm>
            <a:off x="2350711" y="432482"/>
            <a:ext cx="2030161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u="sng" dirty="0">
                <a:solidFill>
                  <a:srgbClr val="FF0000"/>
                </a:solidFill>
                <a:latin typeface="Arial" panose="020B0604020202020204" pitchFamily="34" charset="0"/>
              </a:rPr>
              <a:t>Potencial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</a:rPr>
              <a:t> en varios puntos</a:t>
            </a:r>
          </a:p>
        </p:txBody>
      </p:sp>
      <p:grpSp>
        <p:nvGrpSpPr>
          <p:cNvPr id="69" name="Grupo 68">
            <a:extLst>
              <a:ext uri="{FF2B5EF4-FFF2-40B4-BE49-F238E27FC236}">
                <a16:creationId xmlns:a16="http://schemas.microsoft.com/office/drawing/2014/main" id="{D401591E-1BA7-4779-A103-4FE70A57597D}"/>
              </a:ext>
            </a:extLst>
          </p:cNvPr>
          <p:cNvGrpSpPr/>
          <p:nvPr/>
        </p:nvGrpSpPr>
        <p:grpSpPr>
          <a:xfrm>
            <a:off x="6170273" y="181577"/>
            <a:ext cx="3697287" cy="2811794"/>
            <a:chOff x="1470457" y="269272"/>
            <a:chExt cx="3697287" cy="2811794"/>
          </a:xfrm>
        </p:grpSpPr>
        <p:grpSp>
          <p:nvGrpSpPr>
            <p:cNvPr id="71" name="Group 16">
              <a:extLst>
                <a:ext uri="{FF2B5EF4-FFF2-40B4-BE49-F238E27FC236}">
                  <a16:creationId xmlns:a16="http://schemas.microsoft.com/office/drawing/2014/main" id="{9A062B97-E90D-4957-8AB9-643A0C75DE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4219" y="709010"/>
              <a:ext cx="112713" cy="482600"/>
              <a:chOff x="4253" y="5198"/>
              <a:chExt cx="121" cy="360"/>
            </a:xfrm>
          </p:grpSpPr>
          <p:sp>
            <p:nvSpPr>
              <p:cNvPr id="112" name="Line 17">
                <a:extLst>
                  <a:ext uri="{FF2B5EF4-FFF2-40B4-BE49-F238E27FC236}">
                    <a16:creationId xmlns:a16="http://schemas.microsoft.com/office/drawing/2014/main" id="{A1319ED7-976D-483C-9E6B-4A72C90734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113" name="Line 18">
                <a:extLst>
                  <a:ext uri="{FF2B5EF4-FFF2-40B4-BE49-F238E27FC236}">
                    <a16:creationId xmlns:a16="http://schemas.microsoft.com/office/drawing/2014/main" id="{EB62A578-1850-4D4B-9BD2-63DEE4DA73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grpSp>
          <p:nvGrpSpPr>
            <p:cNvPr id="72" name="Group 19">
              <a:extLst>
                <a:ext uri="{FF2B5EF4-FFF2-40B4-BE49-F238E27FC236}">
                  <a16:creationId xmlns:a16="http://schemas.microsoft.com/office/drawing/2014/main" id="{39959239-CDB6-49A2-8E30-1F5CF7851F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16832" y="712185"/>
              <a:ext cx="112712" cy="484187"/>
              <a:chOff x="4253" y="5198"/>
              <a:chExt cx="121" cy="360"/>
            </a:xfrm>
          </p:grpSpPr>
          <p:sp>
            <p:nvSpPr>
              <p:cNvPr id="110" name="Line 20">
                <a:extLst>
                  <a:ext uri="{FF2B5EF4-FFF2-40B4-BE49-F238E27FC236}">
                    <a16:creationId xmlns:a16="http://schemas.microsoft.com/office/drawing/2014/main" id="{EB26F091-FF4C-4B3B-9B0D-8E32487069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111" name="Line 21">
                <a:extLst>
                  <a:ext uri="{FF2B5EF4-FFF2-40B4-BE49-F238E27FC236}">
                    <a16:creationId xmlns:a16="http://schemas.microsoft.com/office/drawing/2014/main" id="{A1D64B13-AFBF-446E-89D9-21CC1400C9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grpSp>
          <p:nvGrpSpPr>
            <p:cNvPr id="73" name="Group 22">
              <a:extLst>
                <a:ext uri="{FF2B5EF4-FFF2-40B4-BE49-F238E27FC236}">
                  <a16:creationId xmlns:a16="http://schemas.microsoft.com/office/drawing/2014/main" id="{F8C0ACD8-6C95-4BFE-9F3E-2FD55F293EAE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227026" y="1587691"/>
              <a:ext cx="163512" cy="336550"/>
              <a:chOff x="4253" y="5198"/>
              <a:chExt cx="121" cy="360"/>
            </a:xfrm>
          </p:grpSpPr>
          <p:sp>
            <p:nvSpPr>
              <p:cNvPr id="108" name="Line 23">
                <a:extLst>
                  <a:ext uri="{FF2B5EF4-FFF2-40B4-BE49-F238E27FC236}">
                    <a16:creationId xmlns:a16="http://schemas.microsoft.com/office/drawing/2014/main" id="{A8713023-BE36-4866-A208-0B11CF0E83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109" name="Line 24">
                <a:extLst>
                  <a:ext uri="{FF2B5EF4-FFF2-40B4-BE49-F238E27FC236}">
                    <a16:creationId xmlns:a16="http://schemas.microsoft.com/office/drawing/2014/main" id="{21338051-88B7-4E7E-A7CE-8CACFE9660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sp>
          <p:nvSpPr>
            <p:cNvPr id="74" name="Line 25">
              <a:extLst>
                <a:ext uri="{FF2B5EF4-FFF2-40B4-BE49-F238E27FC236}">
                  <a16:creationId xmlns:a16="http://schemas.microsoft.com/office/drawing/2014/main" id="{CF739BBD-D323-4E11-B120-4CB5465AA2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0457" y="945547"/>
              <a:ext cx="89217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75" name="Text Box 26">
              <a:extLst>
                <a:ext uri="{FF2B5EF4-FFF2-40B4-BE49-F238E27FC236}">
                  <a16:creationId xmlns:a16="http://schemas.microsoft.com/office/drawing/2014/main" id="{419756C5-A418-4281-9F27-42E286A9CA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5594" y="269272"/>
              <a:ext cx="503238" cy="517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="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2</a:t>
              </a:r>
              <a:endPara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76" name="Text Box 27">
              <a:extLst>
                <a:ext uri="{FF2B5EF4-FFF2-40B4-BE49-F238E27FC236}">
                  <a16:creationId xmlns:a16="http://schemas.microsoft.com/office/drawing/2014/main" id="{3785BCB5-93C1-4CE1-AD5D-543750055A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969" y="269272"/>
              <a:ext cx="503238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="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1</a:t>
              </a:r>
              <a:endPara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77" name="Group 28">
              <a:extLst>
                <a:ext uri="{FF2B5EF4-FFF2-40B4-BE49-F238E27FC236}">
                  <a16:creationId xmlns:a16="http://schemas.microsoft.com/office/drawing/2014/main" id="{5E10066E-9D6D-4421-9FE0-39A972D31181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102532" y="2399697"/>
              <a:ext cx="58737" cy="482600"/>
              <a:chOff x="5153" y="6274"/>
              <a:chExt cx="63" cy="360"/>
            </a:xfrm>
          </p:grpSpPr>
          <p:sp>
            <p:nvSpPr>
              <p:cNvPr id="106" name="Line 29">
                <a:extLst>
                  <a:ext uri="{FF2B5EF4-FFF2-40B4-BE49-F238E27FC236}">
                    <a16:creationId xmlns:a16="http://schemas.microsoft.com/office/drawing/2014/main" id="{AE2A2289-96BF-4009-B910-870FA695DB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16" y="6357"/>
                <a:ext cx="0" cy="193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107" name="Line 30">
                <a:extLst>
                  <a:ext uri="{FF2B5EF4-FFF2-40B4-BE49-F238E27FC236}">
                    <a16:creationId xmlns:a16="http://schemas.microsoft.com/office/drawing/2014/main" id="{2956F8DB-B918-4B2C-A8AE-467653FDF8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53" y="6274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sp>
          <p:nvSpPr>
            <p:cNvPr id="78" name="Line 31">
              <a:extLst>
                <a:ext uri="{FF2B5EF4-FFF2-40B4-BE49-F238E27FC236}">
                  <a16:creationId xmlns:a16="http://schemas.microsoft.com/office/drawing/2014/main" id="{D4DE15E5-26FB-41D3-8CDC-3CCA8C88B3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61269" y="2640997"/>
              <a:ext cx="100647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79" name="Text Box 32">
              <a:extLst>
                <a:ext uri="{FF2B5EF4-FFF2-40B4-BE49-F238E27FC236}">
                  <a16:creationId xmlns:a16="http://schemas.microsoft.com/office/drawing/2014/main" id="{DEE13975-01D6-4FEC-8C3B-1664208D4A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0607" y="1488472"/>
              <a:ext cx="503237" cy="495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="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3</a:t>
              </a:r>
              <a:endPara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0" name="Line 33">
              <a:extLst>
                <a:ext uri="{FF2B5EF4-FFF2-40B4-BE49-F238E27FC236}">
                  <a16:creationId xmlns:a16="http://schemas.microsoft.com/office/drawing/2014/main" id="{A1E430EB-A0A3-4486-87C6-A430ECA5A1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84869" y="950310"/>
              <a:ext cx="173196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81" name="Line 34">
              <a:extLst>
                <a:ext uri="{FF2B5EF4-FFF2-40B4-BE49-F238E27FC236}">
                  <a16:creationId xmlns:a16="http://schemas.microsoft.com/office/drawing/2014/main" id="{7405858F-756A-4C8F-A6F5-D05F6AAB35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6332" y="950310"/>
              <a:ext cx="0" cy="169068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82" name="Line 35">
              <a:extLst>
                <a:ext uri="{FF2B5EF4-FFF2-40B4-BE49-F238E27FC236}">
                  <a16:creationId xmlns:a16="http://schemas.microsoft.com/office/drawing/2014/main" id="{54EDE08E-358F-4FB1-96BE-B505E0F95E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8694" y="950310"/>
              <a:ext cx="0" cy="169068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83" name="Line 36">
              <a:extLst>
                <a:ext uri="{FF2B5EF4-FFF2-40B4-BE49-F238E27FC236}">
                  <a16:creationId xmlns:a16="http://schemas.microsoft.com/office/drawing/2014/main" id="{AE713C25-19EA-4F3B-8C79-2168DDBB31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9544" y="950310"/>
              <a:ext cx="8382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84" name="Line 37">
              <a:extLst>
                <a:ext uri="{FF2B5EF4-FFF2-40B4-BE49-F238E27FC236}">
                  <a16:creationId xmlns:a16="http://schemas.microsoft.com/office/drawing/2014/main" id="{82ECBDC9-5BAF-4430-9D18-A246E408EE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8782" y="950310"/>
              <a:ext cx="0" cy="7239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85" name="Line 38">
              <a:extLst>
                <a:ext uri="{FF2B5EF4-FFF2-40B4-BE49-F238E27FC236}">
                  <a16:creationId xmlns:a16="http://schemas.microsoft.com/office/drawing/2014/main" id="{F63AA49C-1BFF-4A82-ACB7-4CF6C0C5F9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8782" y="1842485"/>
              <a:ext cx="0" cy="79851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grpSp>
          <p:nvGrpSpPr>
            <p:cNvPr id="86" name="Group 39">
              <a:extLst>
                <a:ext uri="{FF2B5EF4-FFF2-40B4-BE49-F238E27FC236}">
                  <a16:creationId xmlns:a16="http://schemas.microsoft.com/office/drawing/2014/main" id="{EFFD7AF8-0EF4-469E-8A98-935CC46B70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72157" y="2404460"/>
              <a:ext cx="112712" cy="482600"/>
              <a:chOff x="4253" y="5198"/>
              <a:chExt cx="121" cy="360"/>
            </a:xfrm>
          </p:grpSpPr>
          <p:sp>
            <p:nvSpPr>
              <p:cNvPr id="102" name="Line 40">
                <a:extLst>
                  <a:ext uri="{FF2B5EF4-FFF2-40B4-BE49-F238E27FC236}">
                    <a16:creationId xmlns:a16="http://schemas.microsoft.com/office/drawing/2014/main" id="{E9B09405-5898-4879-ADF8-5BF9B37357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103" name="Line 41">
                <a:extLst>
                  <a:ext uri="{FF2B5EF4-FFF2-40B4-BE49-F238E27FC236}">
                    <a16:creationId xmlns:a16="http://schemas.microsoft.com/office/drawing/2014/main" id="{1C2C8690-74D3-4C19-82CD-761F4C3B1D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sp>
          <p:nvSpPr>
            <p:cNvPr id="87" name="Line 42">
              <a:extLst>
                <a:ext uri="{FF2B5EF4-FFF2-40B4-BE49-F238E27FC236}">
                  <a16:creationId xmlns:a16="http://schemas.microsoft.com/office/drawing/2014/main" id="{BDFF5B9D-F2E3-49E1-9B81-AC71E05A81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8394" y="2640997"/>
              <a:ext cx="89217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88" name="Text Box 43">
              <a:extLst>
                <a:ext uri="{FF2B5EF4-FFF2-40B4-BE49-F238E27FC236}">
                  <a16:creationId xmlns:a16="http://schemas.microsoft.com/office/drawing/2014/main" id="{1F5197A6-EC80-4071-9C40-BA306C988D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5594" y="2009172"/>
              <a:ext cx="503238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="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4</a:t>
              </a:r>
              <a:endPara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9" name="Line 44">
              <a:extLst>
                <a:ext uri="{FF2B5EF4-FFF2-40B4-BE49-F238E27FC236}">
                  <a16:creationId xmlns:a16="http://schemas.microsoft.com/office/drawing/2014/main" id="{E1EBF2AC-3172-46C1-BD15-EF27DB9A51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2807" y="2640997"/>
              <a:ext cx="161607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90" name="Text Box 57">
              <a:extLst>
                <a:ext uri="{FF2B5EF4-FFF2-40B4-BE49-F238E27FC236}">
                  <a16:creationId xmlns:a16="http://schemas.microsoft.com/office/drawing/2014/main" id="{71DF48C4-3F08-4082-BA9B-40A5597ACD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5557" y="2025047"/>
              <a:ext cx="334962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8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91" name="Text Box 58">
              <a:extLst>
                <a:ext uri="{FF2B5EF4-FFF2-40B4-BE49-F238E27FC236}">
                  <a16:creationId xmlns:a16="http://schemas.microsoft.com/office/drawing/2014/main" id="{1736C11E-DF8A-45B0-A0AD-E3D18E0CB8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8269" y="442310"/>
              <a:ext cx="330838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92" name="Text Box 59">
              <a:extLst>
                <a:ext uri="{FF2B5EF4-FFF2-40B4-BE49-F238E27FC236}">
                  <a16:creationId xmlns:a16="http://schemas.microsoft.com/office/drawing/2014/main" id="{6E95879A-9EB7-450F-B9D9-75FDA616B8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6957" y="440722"/>
              <a:ext cx="266717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93" name="Text Box 60">
              <a:extLst>
                <a:ext uri="{FF2B5EF4-FFF2-40B4-BE49-F238E27FC236}">
                  <a16:creationId xmlns:a16="http://schemas.microsoft.com/office/drawing/2014/main" id="{81098A38-0132-4368-A2ED-CC5B52F75F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5182" y="453422"/>
              <a:ext cx="330838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94" name="Text Box 61">
              <a:extLst>
                <a:ext uri="{FF2B5EF4-FFF2-40B4-BE49-F238E27FC236}">
                  <a16:creationId xmlns:a16="http://schemas.microsoft.com/office/drawing/2014/main" id="{B0074B94-06F1-4E0D-A600-6D8E4D2435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3869" y="451835"/>
              <a:ext cx="266717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95" name="Text Box 62">
              <a:extLst>
                <a:ext uri="{FF2B5EF4-FFF2-40B4-BE49-F238E27FC236}">
                  <a16:creationId xmlns:a16="http://schemas.microsoft.com/office/drawing/2014/main" id="{BCB2ACDB-D3EA-482C-B498-7F12785AFA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8307" y="1277335"/>
              <a:ext cx="330838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96" name="Text Box 63">
              <a:extLst>
                <a:ext uri="{FF2B5EF4-FFF2-40B4-BE49-F238E27FC236}">
                  <a16:creationId xmlns:a16="http://schemas.microsoft.com/office/drawing/2014/main" id="{FD4535E9-3330-48AE-868A-1DCA20C908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0057" y="1653572"/>
              <a:ext cx="266717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97" name="Text Box 64">
              <a:extLst>
                <a:ext uri="{FF2B5EF4-FFF2-40B4-BE49-F238E27FC236}">
                  <a16:creationId xmlns:a16="http://schemas.microsoft.com/office/drawing/2014/main" id="{0DBF08A6-9207-4D9D-AB8A-31E46F35DD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182" y="2606072"/>
              <a:ext cx="330838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99" name="Text Box 65">
              <a:extLst>
                <a:ext uri="{FF2B5EF4-FFF2-40B4-BE49-F238E27FC236}">
                  <a16:creationId xmlns:a16="http://schemas.microsoft.com/office/drawing/2014/main" id="{66D5D130-F65D-4136-B1FF-6D7E4688A4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7407" y="2588610"/>
              <a:ext cx="266717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</p:grpSp>
      <p:grpSp>
        <p:nvGrpSpPr>
          <p:cNvPr id="3" name="Grupo 2"/>
          <p:cNvGrpSpPr/>
          <p:nvPr/>
        </p:nvGrpSpPr>
        <p:grpSpPr>
          <a:xfrm>
            <a:off x="6011340" y="367315"/>
            <a:ext cx="3986213" cy="2755900"/>
            <a:chOff x="1498513" y="461774"/>
            <a:chExt cx="3986213" cy="2755900"/>
          </a:xfrm>
        </p:grpSpPr>
        <p:sp>
          <p:nvSpPr>
            <p:cNvPr id="17430" name="Oval 38"/>
            <p:cNvSpPr>
              <a:spLocks noChangeArrowheads="1"/>
            </p:cNvSpPr>
            <p:nvPr/>
          </p:nvSpPr>
          <p:spPr bwMode="auto">
            <a:xfrm>
              <a:off x="1593763" y="869762"/>
              <a:ext cx="144463" cy="144462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31" name="Oval 39"/>
            <p:cNvSpPr>
              <a:spLocks noChangeArrowheads="1"/>
            </p:cNvSpPr>
            <p:nvPr/>
          </p:nvSpPr>
          <p:spPr bwMode="auto">
            <a:xfrm>
              <a:off x="1593763" y="2568387"/>
              <a:ext cx="144463" cy="144462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32" name="Oval 40"/>
            <p:cNvSpPr>
              <a:spLocks noChangeArrowheads="1"/>
            </p:cNvSpPr>
            <p:nvPr/>
          </p:nvSpPr>
          <p:spPr bwMode="auto">
            <a:xfrm>
              <a:off x="3414626" y="869762"/>
              <a:ext cx="144462" cy="144462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33" name="Oval 41"/>
            <p:cNvSpPr>
              <a:spLocks noChangeArrowheads="1"/>
            </p:cNvSpPr>
            <p:nvPr/>
          </p:nvSpPr>
          <p:spPr bwMode="auto">
            <a:xfrm>
              <a:off x="5245013" y="880874"/>
              <a:ext cx="144463" cy="144463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34" name="Oval 42"/>
            <p:cNvSpPr>
              <a:spLocks noChangeArrowheads="1"/>
            </p:cNvSpPr>
            <p:nvPr/>
          </p:nvSpPr>
          <p:spPr bwMode="auto">
            <a:xfrm>
              <a:off x="3424151" y="2558862"/>
              <a:ext cx="144462" cy="144462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35" name="Oval 43"/>
            <p:cNvSpPr>
              <a:spLocks noChangeArrowheads="1"/>
            </p:cNvSpPr>
            <p:nvPr/>
          </p:nvSpPr>
          <p:spPr bwMode="auto">
            <a:xfrm>
              <a:off x="5245013" y="2558862"/>
              <a:ext cx="144463" cy="144462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36" name="Text Box 44"/>
            <p:cNvSpPr txBox="1">
              <a:spLocks noChangeArrowheads="1"/>
            </p:cNvSpPr>
            <p:nvPr/>
          </p:nvSpPr>
          <p:spPr bwMode="auto">
            <a:xfrm>
              <a:off x="1498513" y="461774"/>
              <a:ext cx="334963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7437" name="Text Box 45"/>
            <p:cNvSpPr txBox="1">
              <a:spLocks noChangeArrowheads="1"/>
            </p:cNvSpPr>
            <p:nvPr/>
          </p:nvSpPr>
          <p:spPr bwMode="auto">
            <a:xfrm>
              <a:off x="3319376" y="461774"/>
              <a:ext cx="334962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7438" name="Text Box 46"/>
            <p:cNvSpPr txBox="1">
              <a:spLocks noChangeArrowheads="1"/>
            </p:cNvSpPr>
            <p:nvPr/>
          </p:nvSpPr>
          <p:spPr bwMode="auto">
            <a:xfrm>
              <a:off x="5149763" y="461774"/>
              <a:ext cx="334963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17439" name="Text Box 47"/>
            <p:cNvSpPr txBox="1">
              <a:spLocks noChangeArrowheads="1"/>
            </p:cNvSpPr>
            <p:nvPr/>
          </p:nvSpPr>
          <p:spPr bwMode="auto">
            <a:xfrm>
              <a:off x="1498513" y="2733487"/>
              <a:ext cx="334963" cy="484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17440" name="Text Box 48"/>
            <p:cNvSpPr txBox="1">
              <a:spLocks noChangeArrowheads="1"/>
            </p:cNvSpPr>
            <p:nvPr/>
          </p:nvSpPr>
          <p:spPr bwMode="auto">
            <a:xfrm>
              <a:off x="3119351" y="2179449"/>
              <a:ext cx="334962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7441" name="Text Box 49"/>
            <p:cNvSpPr txBox="1">
              <a:spLocks noChangeArrowheads="1"/>
            </p:cNvSpPr>
            <p:nvPr/>
          </p:nvSpPr>
          <p:spPr bwMode="auto">
            <a:xfrm>
              <a:off x="5149763" y="2733487"/>
              <a:ext cx="334963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F</a:t>
              </a: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8877E236-7F2E-AE3C-FBAB-0F58EC64BA15}"/>
              </a:ext>
            </a:extLst>
          </p:cNvPr>
          <p:cNvGrpSpPr/>
          <p:nvPr/>
        </p:nvGrpSpPr>
        <p:grpSpPr>
          <a:xfrm>
            <a:off x="4333322" y="4831721"/>
            <a:ext cx="1747994" cy="1866300"/>
            <a:chOff x="2874728" y="1433950"/>
            <a:chExt cx="1747994" cy="1866300"/>
          </a:xfrm>
        </p:grpSpPr>
        <p:sp>
          <p:nvSpPr>
            <p:cNvPr id="100" name="Rectángulo 99">
              <a:extLst>
                <a:ext uri="{FF2B5EF4-FFF2-40B4-BE49-F238E27FC236}">
                  <a16:creationId xmlns:a16="http://schemas.microsoft.com/office/drawing/2014/main" id="{0C03693E-6F85-11D4-2BC4-9522FA80954E}"/>
                </a:ext>
              </a:extLst>
            </p:cNvPr>
            <p:cNvSpPr/>
            <p:nvPr/>
          </p:nvSpPr>
          <p:spPr bwMode="auto">
            <a:xfrm>
              <a:off x="2874728" y="1433950"/>
              <a:ext cx="1747994" cy="186630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118800" rIns="90000" bIns="828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101" name="Grupo 100">
              <a:extLst>
                <a:ext uri="{FF2B5EF4-FFF2-40B4-BE49-F238E27FC236}">
                  <a16:creationId xmlns:a16="http://schemas.microsoft.com/office/drawing/2014/main" id="{F56C3C6F-09FD-018A-37A5-2C83E8F3D3E7}"/>
                </a:ext>
              </a:extLst>
            </p:cNvPr>
            <p:cNvGrpSpPr/>
            <p:nvPr/>
          </p:nvGrpSpPr>
          <p:grpSpPr>
            <a:xfrm>
              <a:off x="2943286" y="1530734"/>
              <a:ext cx="1444624" cy="1684337"/>
              <a:chOff x="3023851" y="1017872"/>
              <a:chExt cx="1444624" cy="1684337"/>
            </a:xfrm>
          </p:grpSpPr>
          <p:grpSp>
            <p:nvGrpSpPr>
              <p:cNvPr id="104" name="Group 87">
                <a:extLst>
                  <a:ext uri="{FF2B5EF4-FFF2-40B4-BE49-F238E27FC236}">
                    <a16:creationId xmlns:a16="http://schemas.microsoft.com/office/drawing/2014/main" id="{65755D98-E66A-315F-98C8-615F87D24E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25538" y="1665571"/>
                <a:ext cx="58737" cy="482600"/>
                <a:chOff x="5153" y="6274"/>
                <a:chExt cx="63" cy="360"/>
              </a:xfrm>
            </p:grpSpPr>
            <p:sp>
              <p:nvSpPr>
                <p:cNvPr id="125" name="Line 88">
                  <a:extLst>
                    <a:ext uri="{FF2B5EF4-FFF2-40B4-BE49-F238E27FC236}">
                      <a16:creationId xmlns:a16="http://schemas.microsoft.com/office/drawing/2014/main" id="{9FB82F66-F54F-C1C4-0018-3485EF014B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16" y="6357"/>
                  <a:ext cx="0" cy="193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2400" b="0"/>
                </a:p>
              </p:txBody>
            </p:sp>
            <p:sp>
              <p:nvSpPr>
                <p:cNvPr id="126" name="Line 89">
                  <a:extLst>
                    <a:ext uri="{FF2B5EF4-FFF2-40B4-BE49-F238E27FC236}">
                      <a16:creationId xmlns:a16="http://schemas.microsoft.com/office/drawing/2014/main" id="{3BAC0744-47B9-6EE6-877E-98D5F5A966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153" y="6274"/>
                  <a:ext cx="0" cy="36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2400" b="0"/>
                </a:p>
              </p:txBody>
            </p:sp>
          </p:grpSp>
          <p:sp>
            <p:nvSpPr>
              <p:cNvPr id="105" name="Text Box 90">
                <a:extLst>
                  <a:ext uri="{FF2B5EF4-FFF2-40B4-BE49-F238E27FC236}">
                    <a16:creationId xmlns:a16="http://schemas.microsoft.com/office/drawing/2014/main" id="{C9F23DBA-B5DE-3B23-329C-0521CE6155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98563" y="1424272"/>
                <a:ext cx="334962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b="0">
                    <a:solidFill>
                      <a:srgbClr val="008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  <a:sym typeface="Symbol" panose="05050102010706020507" pitchFamily="18" charset="2"/>
                  </a:rPr>
                  <a:t></a:t>
                </a:r>
              </a:p>
            </p:txBody>
          </p:sp>
          <p:sp>
            <p:nvSpPr>
              <p:cNvPr id="119" name="Line 96">
                <a:extLst>
                  <a:ext uri="{FF2B5EF4-FFF2-40B4-BE49-F238E27FC236}">
                    <a16:creationId xmlns:a16="http://schemas.microsoft.com/office/drawing/2014/main" id="{EBAED2C5-32E4-AABC-7AA6-B04A5CBF32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42926" y="1903696"/>
                <a:ext cx="554037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>
                <a:spAutoFit/>
              </a:bodyPr>
              <a:lstStyle/>
              <a:p>
                <a:endParaRPr lang="en-GB" sz="2400" b="0"/>
              </a:p>
            </p:txBody>
          </p:sp>
          <p:sp>
            <p:nvSpPr>
              <p:cNvPr id="120" name="Line 97">
                <a:extLst>
                  <a:ext uri="{FF2B5EF4-FFF2-40B4-BE49-F238E27FC236}">
                    <a16:creationId xmlns:a16="http://schemas.microsoft.com/office/drawing/2014/main" id="{90969FF0-9A4E-A1D5-408F-06611FCAC3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14438" y="1897346"/>
                <a:ext cx="554037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>
                <a:spAutoFit/>
              </a:bodyPr>
              <a:lstStyle/>
              <a:p>
                <a:endParaRPr lang="en-GB" sz="2400" b="0"/>
              </a:p>
            </p:txBody>
          </p:sp>
          <p:sp>
            <p:nvSpPr>
              <p:cNvPr id="121" name="Line 100">
                <a:extLst>
                  <a:ext uri="{FF2B5EF4-FFF2-40B4-BE49-F238E27FC236}">
                    <a16:creationId xmlns:a16="http://schemas.microsoft.com/office/drawing/2014/main" id="{685780C1-3DFB-753F-7737-1C2F07FFD3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46181" y="1349659"/>
                <a:ext cx="417450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 sz="2400" b="0"/>
              </a:p>
            </p:txBody>
          </p:sp>
          <p:sp>
            <p:nvSpPr>
              <p:cNvPr id="122" name="Line 102">
                <a:extLst>
                  <a:ext uri="{FF2B5EF4-FFF2-40B4-BE49-F238E27FC236}">
                    <a16:creationId xmlns:a16="http://schemas.microsoft.com/office/drawing/2014/main" id="{4F3624AC-08B9-664D-E20A-2B1BA0E049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46181" y="2472021"/>
                <a:ext cx="417450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 sz="2400" b="0"/>
              </a:p>
            </p:txBody>
          </p:sp>
          <p:sp>
            <p:nvSpPr>
              <p:cNvPr id="123" name="Text Box 104">
                <a:extLst>
                  <a:ext uri="{FF2B5EF4-FFF2-40B4-BE49-F238E27FC236}">
                    <a16:creationId xmlns:a16="http://schemas.microsoft.com/office/drawing/2014/main" id="{567A6C26-AD12-B8BC-9604-A7D579F29E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3851" y="1017872"/>
                <a:ext cx="581025" cy="536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+ </a:t>
                </a:r>
                <a:r>
                  <a:rPr lang="es-ES" sz="2400" b="0">
                    <a:solidFill>
                      <a:srgbClr val="FF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</a:t>
                </a:r>
              </a:p>
            </p:txBody>
          </p:sp>
          <p:sp>
            <p:nvSpPr>
              <p:cNvPr id="124" name="Text Box 105">
                <a:extLst>
                  <a:ext uri="{FF2B5EF4-FFF2-40B4-BE49-F238E27FC236}">
                    <a16:creationId xmlns:a16="http://schemas.microsoft.com/office/drawing/2014/main" id="{097806FD-FDD8-33D4-8D8B-D694F504A0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4963" y="2165634"/>
                <a:ext cx="569912" cy="536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0">
                    <a:solidFill>
                      <a:srgbClr val="FF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</a:t>
                </a:r>
                <a:r>
                  <a:rPr lang="es-ES" sz="2400" b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s-ES" sz="2400" b="0">
                    <a:solidFill>
                      <a:srgbClr val="FF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</a:t>
                </a:r>
              </a:p>
            </p:txBody>
          </p:sp>
        </p:grpSp>
      </p:grpSp>
      <p:grpSp>
        <p:nvGrpSpPr>
          <p:cNvPr id="127" name="Grupo 126">
            <a:extLst>
              <a:ext uri="{FF2B5EF4-FFF2-40B4-BE49-F238E27FC236}">
                <a16:creationId xmlns:a16="http://schemas.microsoft.com/office/drawing/2014/main" id="{366D1D15-A766-F265-38AE-2277A7B7413A}"/>
              </a:ext>
            </a:extLst>
          </p:cNvPr>
          <p:cNvGrpSpPr/>
          <p:nvPr/>
        </p:nvGrpSpPr>
        <p:grpSpPr>
          <a:xfrm>
            <a:off x="6345896" y="4838648"/>
            <a:ext cx="1768577" cy="1866300"/>
            <a:chOff x="5261378" y="1440877"/>
            <a:chExt cx="1768577" cy="1866300"/>
          </a:xfrm>
        </p:grpSpPr>
        <p:sp>
          <p:nvSpPr>
            <p:cNvPr id="128" name="Rectángulo 127">
              <a:extLst>
                <a:ext uri="{FF2B5EF4-FFF2-40B4-BE49-F238E27FC236}">
                  <a16:creationId xmlns:a16="http://schemas.microsoft.com/office/drawing/2014/main" id="{0C8AF9E1-92EA-EDDB-3615-AD12CB0B5F33}"/>
                </a:ext>
              </a:extLst>
            </p:cNvPr>
            <p:cNvSpPr/>
            <p:nvPr/>
          </p:nvSpPr>
          <p:spPr bwMode="auto">
            <a:xfrm>
              <a:off x="5281961" y="1440877"/>
              <a:ext cx="1747994" cy="186630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118800" rIns="90000" bIns="828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129" name="Grupo 128">
              <a:extLst>
                <a:ext uri="{FF2B5EF4-FFF2-40B4-BE49-F238E27FC236}">
                  <a16:creationId xmlns:a16="http://schemas.microsoft.com/office/drawing/2014/main" id="{75062C2C-019F-C776-6021-F22C1B68D591}"/>
                </a:ext>
              </a:extLst>
            </p:cNvPr>
            <p:cNvGrpSpPr/>
            <p:nvPr/>
          </p:nvGrpSpPr>
          <p:grpSpPr>
            <a:xfrm>
              <a:off x="5261378" y="1567895"/>
              <a:ext cx="1525587" cy="1655762"/>
              <a:chOff x="1471276" y="1090897"/>
              <a:chExt cx="1525587" cy="1655762"/>
            </a:xfrm>
          </p:grpSpPr>
          <p:grpSp>
            <p:nvGrpSpPr>
              <p:cNvPr id="130" name="Group 91">
                <a:extLst>
                  <a:ext uri="{FF2B5EF4-FFF2-40B4-BE49-F238E27FC236}">
                    <a16:creationId xmlns:a16="http://schemas.microsoft.com/office/drawing/2014/main" id="{351C6228-A295-271C-3E13-53E2D0C531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22176" y="1686209"/>
                <a:ext cx="112712" cy="484187"/>
                <a:chOff x="4253" y="5198"/>
                <a:chExt cx="121" cy="360"/>
              </a:xfrm>
            </p:grpSpPr>
            <p:sp>
              <p:nvSpPr>
                <p:cNvPr id="139" name="Line 92">
                  <a:extLst>
                    <a:ext uri="{FF2B5EF4-FFF2-40B4-BE49-F238E27FC236}">
                      <a16:creationId xmlns:a16="http://schemas.microsoft.com/office/drawing/2014/main" id="{55BD367D-65DC-261E-1C71-23CDB09654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4" y="5198"/>
                  <a:ext cx="0" cy="36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2400" b="0"/>
                </a:p>
              </p:txBody>
            </p:sp>
            <p:sp>
              <p:nvSpPr>
                <p:cNvPr id="140" name="Line 93">
                  <a:extLst>
                    <a:ext uri="{FF2B5EF4-FFF2-40B4-BE49-F238E27FC236}">
                      <a16:creationId xmlns:a16="http://schemas.microsoft.com/office/drawing/2014/main" id="{5E1BB9CD-6F4B-AF30-63A6-4D0795C667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53" y="5198"/>
                  <a:ext cx="0" cy="36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2400" b="0"/>
                </a:p>
              </p:txBody>
            </p:sp>
          </p:grpSp>
          <p:sp>
            <p:nvSpPr>
              <p:cNvPr id="131" name="Text Box 94">
                <a:extLst>
                  <a:ext uri="{FF2B5EF4-FFF2-40B4-BE49-F238E27FC236}">
                    <a16:creationId xmlns:a16="http://schemas.microsoft.com/office/drawing/2014/main" id="{92DB301B-72B2-7DBE-2CEA-9913929F5C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8963" y="1370297"/>
                <a:ext cx="361950" cy="536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132" name="Text Box 95">
                <a:extLst>
                  <a:ext uri="{FF2B5EF4-FFF2-40B4-BE49-F238E27FC236}">
                    <a16:creationId xmlns:a16="http://schemas.microsoft.com/office/drawing/2014/main" id="{0F136A59-5C95-138D-5086-ECE394BBD2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5838" y="1376647"/>
                <a:ext cx="284162" cy="536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133" name="Line 98">
                <a:extLst>
                  <a:ext uri="{FF2B5EF4-FFF2-40B4-BE49-F238E27FC236}">
                    <a16:creationId xmlns:a16="http://schemas.microsoft.com/office/drawing/2014/main" id="{ED3BBAC2-96B7-DE6F-2777-99EA55D762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52263" y="1903696"/>
                <a:ext cx="554037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>
                <a:spAutoFit/>
              </a:bodyPr>
              <a:lstStyle/>
              <a:p>
                <a:endParaRPr lang="en-GB" sz="2400" b="0"/>
              </a:p>
            </p:txBody>
          </p:sp>
          <p:sp>
            <p:nvSpPr>
              <p:cNvPr id="134" name="Line 99">
                <a:extLst>
                  <a:ext uri="{FF2B5EF4-FFF2-40B4-BE49-F238E27FC236}">
                    <a16:creationId xmlns:a16="http://schemas.microsoft.com/office/drawing/2014/main" id="{F5493A31-2B57-0600-956A-91C6066E50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42826" y="1897346"/>
                <a:ext cx="554037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>
                <a:spAutoFit/>
              </a:bodyPr>
              <a:lstStyle/>
              <a:p>
                <a:endParaRPr lang="en-GB" sz="2400" b="0"/>
              </a:p>
            </p:txBody>
          </p:sp>
          <p:sp>
            <p:nvSpPr>
              <p:cNvPr id="135" name="Line 101">
                <a:extLst>
                  <a:ext uri="{FF2B5EF4-FFF2-40B4-BE49-F238E27FC236}">
                    <a16:creationId xmlns:a16="http://schemas.microsoft.com/office/drawing/2014/main" id="{F9D5E77A-2AE3-6A24-1275-9ED47F1CD9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45994" y="1333784"/>
                <a:ext cx="417450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 sz="2400" b="0"/>
              </a:p>
            </p:txBody>
          </p:sp>
          <p:sp>
            <p:nvSpPr>
              <p:cNvPr id="136" name="Line 103">
                <a:extLst>
                  <a:ext uri="{FF2B5EF4-FFF2-40B4-BE49-F238E27FC236}">
                    <a16:creationId xmlns:a16="http://schemas.microsoft.com/office/drawing/2014/main" id="{D0CF948F-D21A-6130-A36C-50A8FBBDEA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145994" y="2456146"/>
                <a:ext cx="417450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 sz="2400" b="0"/>
              </a:p>
            </p:txBody>
          </p:sp>
          <p:sp>
            <p:nvSpPr>
              <p:cNvPr id="137" name="Text Box 106">
                <a:extLst>
                  <a:ext uri="{FF2B5EF4-FFF2-40B4-BE49-F238E27FC236}">
                    <a16:creationId xmlns:a16="http://schemas.microsoft.com/office/drawing/2014/main" id="{AF1697C8-E78D-3324-91FB-CEC4D6B1B6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1276" y="1090897"/>
                <a:ext cx="650875" cy="536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+ V</a:t>
                </a:r>
              </a:p>
            </p:txBody>
          </p:sp>
          <p:sp>
            <p:nvSpPr>
              <p:cNvPr id="138" name="Text Box 107">
                <a:extLst>
                  <a:ext uri="{FF2B5EF4-FFF2-40B4-BE49-F238E27FC236}">
                    <a16:creationId xmlns:a16="http://schemas.microsoft.com/office/drawing/2014/main" id="{23A2BFDF-E364-19DC-7718-9A92BBD4B3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03026" y="2210084"/>
                <a:ext cx="639762" cy="536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0">
                    <a:solidFill>
                      <a:srgbClr val="FF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</a:t>
                </a:r>
                <a:r>
                  <a:rPr lang="es-ES" sz="2400" b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 V</a:t>
                </a:r>
              </a:p>
            </p:txBody>
          </p:sp>
        </p:grpSp>
      </p:grpSp>
      <p:grpSp>
        <p:nvGrpSpPr>
          <p:cNvPr id="141" name="Grupo 140">
            <a:extLst>
              <a:ext uri="{FF2B5EF4-FFF2-40B4-BE49-F238E27FC236}">
                <a16:creationId xmlns:a16="http://schemas.microsoft.com/office/drawing/2014/main" id="{FE81CE2D-C0E1-E27D-7D78-955CA32A45D1}"/>
              </a:ext>
            </a:extLst>
          </p:cNvPr>
          <p:cNvGrpSpPr/>
          <p:nvPr/>
        </p:nvGrpSpPr>
        <p:grpSpPr>
          <a:xfrm>
            <a:off x="8389246" y="4845574"/>
            <a:ext cx="1747994" cy="1866300"/>
            <a:chOff x="7304728" y="1447803"/>
            <a:chExt cx="1747994" cy="1866300"/>
          </a:xfrm>
        </p:grpSpPr>
        <p:sp>
          <p:nvSpPr>
            <p:cNvPr id="142" name="Rectángulo 141">
              <a:extLst>
                <a:ext uri="{FF2B5EF4-FFF2-40B4-BE49-F238E27FC236}">
                  <a16:creationId xmlns:a16="http://schemas.microsoft.com/office/drawing/2014/main" id="{DA3F4F2E-510E-0ADA-CF68-CA0FBBC70123}"/>
                </a:ext>
              </a:extLst>
            </p:cNvPr>
            <p:cNvSpPr/>
            <p:nvPr/>
          </p:nvSpPr>
          <p:spPr bwMode="auto">
            <a:xfrm>
              <a:off x="7304728" y="1447803"/>
              <a:ext cx="1747994" cy="186630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118800" rIns="90000" bIns="828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143" name="Grupo 142">
              <a:extLst>
                <a:ext uri="{FF2B5EF4-FFF2-40B4-BE49-F238E27FC236}">
                  <a16:creationId xmlns:a16="http://schemas.microsoft.com/office/drawing/2014/main" id="{9C7C8095-FBD7-7254-C916-EFCB53AD86CF}"/>
                </a:ext>
              </a:extLst>
            </p:cNvPr>
            <p:cNvGrpSpPr/>
            <p:nvPr/>
          </p:nvGrpSpPr>
          <p:grpSpPr>
            <a:xfrm>
              <a:off x="7535597" y="1817382"/>
              <a:ext cx="1281112" cy="1462087"/>
              <a:chOff x="4386719" y="2118008"/>
              <a:chExt cx="1281112" cy="1462087"/>
            </a:xfrm>
          </p:grpSpPr>
          <p:sp>
            <p:nvSpPr>
              <p:cNvPr id="144" name="Line 108">
                <a:extLst>
                  <a:ext uri="{FF2B5EF4-FFF2-40B4-BE49-F238E27FC236}">
                    <a16:creationId xmlns:a16="http://schemas.microsoft.com/office/drawing/2014/main" id="{8A42BA38-D2A5-B604-BFEB-E2366BABD8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01019" y="2673633"/>
                <a:ext cx="1052512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 sz="2400" b="0"/>
              </a:p>
            </p:txBody>
          </p:sp>
          <p:sp>
            <p:nvSpPr>
              <p:cNvPr id="145" name="Text Box 109">
                <a:extLst>
                  <a:ext uri="{FF2B5EF4-FFF2-40B4-BE49-F238E27FC236}">
                    <a16:creationId xmlns:a16="http://schemas.microsoft.com/office/drawing/2014/main" id="{8943ED71-3E3A-5CCB-5D3E-F3B6B5989E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47683" y="2118008"/>
                <a:ext cx="907919" cy="5365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V </a:t>
                </a:r>
                <a:r>
                  <a:rPr lang="es-ES" sz="2400" b="0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= 0</a:t>
                </a:r>
              </a:p>
            </p:txBody>
          </p:sp>
          <p:sp>
            <p:nvSpPr>
              <p:cNvPr id="146" name="Text Box 134">
                <a:extLst>
                  <a:ext uri="{FF2B5EF4-FFF2-40B4-BE49-F238E27FC236}">
                    <a16:creationId xmlns:a16="http://schemas.microsoft.com/office/drawing/2014/main" id="{AC888E3C-9264-71BD-B5BF-1047B3F0F4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6719" y="2673633"/>
                <a:ext cx="1281112" cy="9064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squar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0" dirty="0">
                    <a:solidFill>
                      <a:srgbClr val="008000"/>
                    </a:solidFill>
                    <a:latin typeface="Arial" panose="020B0604020202020204" pitchFamily="34" charset="0"/>
                  </a:rPr>
                  <a:t>CABLE IDEAL</a:t>
                </a:r>
              </a:p>
            </p:txBody>
          </p:sp>
        </p:grpSp>
      </p:grpSp>
      <p:sp>
        <p:nvSpPr>
          <p:cNvPr id="147" name="Text Box 136">
            <a:extLst>
              <a:ext uri="{FF2B5EF4-FFF2-40B4-BE49-F238E27FC236}">
                <a16:creationId xmlns:a16="http://schemas.microsoft.com/office/drawing/2014/main" id="{AE2BA356-FC2B-01CA-AB78-1D722B3D3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0227" y="6084780"/>
            <a:ext cx="235941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b="0" dirty="0">
                <a:solidFill>
                  <a:srgbClr val="FF0000"/>
                </a:solidFill>
              </a:rPr>
              <a:t>(valor según cómo se cruce)</a:t>
            </a:r>
          </a:p>
        </p:txBody>
      </p:sp>
      <p:sp>
        <p:nvSpPr>
          <p:cNvPr id="148" name="Text Box 71">
            <a:extLst>
              <a:ext uri="{FF2B5EF4-FFF2-40B4-BE49-F238E27FC236}">
                <a16:creationId xmlns:a16="http://schemas.microsoft.com/office/drawing/2014/main" id="{1584F505-2ACA-022E-DBA0-14A47612B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8827" y="4829753"/>
            <a:ext cx="1397475" cy="551090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90000" tIns="72000" rIns="90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b="0" dirty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Caídas</a:t>
            </a:r>
            <a:endParaRPr lang="es-ES" sz="2400" b="0" baseline="-25000" dirty="0">
              <a:solidFill>
                <a:srgbClr val="FFFF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49" name="Text Box 71">
            <a:extLst>
              <a:ext uri="{FF2B5EF4-FFF2-40B4-BE49-F238E27FC236}">
                <a16:creationId xmlns:a16="http://schemas.microsoft.com/office/drawing/2014/main" id="{AA03FC49-622D-C7A7-3078-55D348B4F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7205" y="5509850"/>
            <a:ext cx="2504390" cy="551090"/>
          </a:xfrm>
          <a:prstGeom prst="rect">
            <a:avLst/>
          </a:prstGeom>
          <a:solidFill>
            <a:srgbClr val="FF99CC"/>
          </a:solidFill>
          <a:ln>
            <a:noFill/>
          </a:ln>
        </p:spPr>
        <p:txBody>
          <a:bodyPr wrap="square" lIns="90000" tIns="72000" rIns="90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V = </a:t>
            </a:r>
            <a:r>
              <a:rPr lang="es-ES" sz="2400" b="0" dirty="0" err="1"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400" b="0" baseline="-25000" dirty="0" err="1">
                <a:latin typeface="Arial" panose="020B0604020202020204" pitchFamily="34" charset="0"/>
                <a:sym typeface="Symbol" panose="05050102010706020507" pitchFamily="18" charset="2"/>
              </a:rPr>
              <a:t>inicial</a:t>
            </a:r>
            <a:r>
              <a:rPr lang="es-ES" sz="2400" b="0" dirty="0">
                <a:latin typeface="Arial" panose="020B0604020202020204" pitchFamily="34" charset="0"/>
                <a:sym typeface="Symbol" panose="05050102010706020507" pitchFamily="18" charset="2"/>
              </a:rPr>
              <a:t>  </a:t>
            </a:r>
            <a:r>
              <a:rPr lang="es-ES" sz="2400" b="0" dirty="0" err="1"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400" b="0" baseline="-25000" dirty="0" err="1">
                <a:latin typeface="Arial" panose="020B0604020202020204" pitchFamily="34" charset="0"/>
                <a:sym typeface="Symbol" panose="05050102010706020507" pitchFamily="18" charset="2"/>
              </a:rPr>
              <a:t>final</a:t>
            </a:r>
            <a:endParaRPr lang="es-ES" sz="2400" b="0" baseline="-250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83997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0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0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29" grpId="0" animBg="1"/>
      <p:bldP spid="42042" grpId="0"/>
      <p:bldP spid="147" grpId="0"/>
      <p:bldP spid="148" grpId="0" animBg="1"/>
      <p:bldP spid="14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uadroTexto 64">
            <a:extLst>
              <a:ext uri="{FF2B5EF4-FFF2-40B4-BE49-F238E27FC236}">
                <a16:creationId xmlns:a16="http://schemas.microsoft.com/office/drawing/2014/main" id="{FF0BE771-CEF0-4D8A-AD68-671AAD6E13CE}"/>
              </a:ext>
            </a:extLst>
          </p:cNvPr>
          <p:cNvSpPr txBox="1"/>
          <p:nvPr/>
        </p:nvSpPr>
        <p:spPr>
          <a:xfrm>
            <a:off x="1770358" y="2605240"/>
            <a:ext cx="80032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0" dirty="0">
                <a:solidFill>
                  <a:srgbClr val="FF0000"/>
                </a:solidFill>
              </a:rPr>
              <a:t>Como se calcula la caída de potencial entre “P” y “</a:t>
            </a:r>
            <a:r>
              <a:rPr lang="es-ES" sz="2400" b="0" dirty="0" err="1">
                <a:solidFill>
                  <a:srgbClr val="FF0000"/>
                </a:solidFill>
              </a:rPr>
              <a:t>Ref</a:t>
            </a:r>
            <a:r>
              <a:rPr lang="es-ES" sz="2400" b="0" dirty="0">
                <a:solidFill>
                  <a:srgbClr val="FF0000"/>
                </a:solidFill>
              </a:rPr>
              <a:t>”, hay que ir de “P” a “</a:t>
            </a:r>
            <a:r>
              <a:rPr lang="es-ES" sz="2400" b="0" dirty="0" err="1">
                <a:solidFill>
                  <a:srgbClr val="FF0000"/>
                </a:solidFill>
              </a:rPr>
              <a:t>Ref</a:t>
            </a:r>
            <a:r>
              <a:rPr lang="es-ES" sz="2400" b="0" dirty="0">
                <a:solidFill>
                  <a:srgbClr val="FF0000"/>
                </a:solidFill>
              </a:rPr>
              <a:t>” al calcular las caídas</a:t>
            </a:r>
            <a:endParaRPr lang="en-GB" sz="2400" b="0" dirty="0">
              <a:solidFill>
                <a:srgbClr val="FF0000"/>
              </a:solidFill>
            </a:endParaRPr>
          </a:p>
        </p:txBody>
      </p:sp>
      <p:sp>
        <p:nvSpPr>
          <p:cNvPr id="66" name="Text Box 65">
            <a:extLst>
              <a:ext uri="{FF2B5EF4-FFF2-40B4-BE49-F238E27FC236}">
                <a16:creationId xmlns:a16="http://schemas.microsoft.com/office/drawing/2014/main" id="{2F0702FC-D832-40F8-8B34-C05C7DA2F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9177" y="683986"/>
            <a:ext cx="5803545" cy="609252"/>
          </a:xfrm>
          <a:prstGeom prst="rect">
            <a:avLst/>
          </a:prstGeom>
          <a:solidFill>
            <a:srgbClr val="FF99CC"/>
          </a:solidFill>
          <a:ln>
            <a:noFill/>
          </a:ln>
        </p:spPr>
        <p:txBody>
          <a:bodyPr wrap="square" lIns="90000" tIns="118800" rIns="90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0" dirty="0" err="1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s-ES" sz="2400" b="0" baseline="-25000" dirty="0" err="1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Punto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 </a:t>
            </a:r>
            <a:r>
              <a:rPr lang="es-ES" sz="2400" b="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400" b="0" baseline="-250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Punto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de Referencia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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V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+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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j</a:t>
            </a:r>
            <a:endParaRPr lang="es-ES" sz="2400" b="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6CAC5BD0-4543-4A01-8FDE-08347E510FD8}"/>
              </a:ext>
            </a:extLst>
          </p:cNvPr>
          <p:cNvGrpSpPr/>
          <p:nvPr/>
        </p:nvGrpSpPr>
        <p:grpSpPr>
          <a:xfrm>
            <a:off x="8609893" y="1269114"/>
            <a:ext cx="1702736" cy="1174422"/>
            <a:chOff x="8599502" y="4608657"/>
            <a:chExt cx="1702736" cy="1174422"/>
          </a:xfrm>
        </p:grpSpPr>
        <p:sp>
          <p:nvSpPr>
            <p:cNvPr id="114" name="CuadroTexto 113">
              <a:extLst>
                <a:ext uri="{FF2B5EF4-FFF2-40B4-BE49-F238E27FC236}">
                  <a16:creationId xmlns:a16="http://schemas.microsoft.com/office/drawing/2014/main" id="{C94A4149-9EA3-4376-A2B0-0AEB39CC95D3}"/>
                </a:ext>
              </a:extLst>
            </p:cNvPr>
            <p:cNvSpPr txBox="1"/>
            <p:nvPr/>
          </p:nvSpPr>
          <p:spPr>
            <a:xfrm>
              <a:off x="8864192" y="4952082"/>
              <a:ext cx="143804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400" b="0" dirty="0">
                  <a:solidFill>
                    <a:srgbClr val="3333FF"/>
                  </a:solidFill>
                </a:rPr>
                <a:t>Caídas en pilas</a:t>
              </a:r>
              <a:endParaRPr lang="en-GB" sz="2400" b="0" dirty="0">
                <a:solidFill>
                  <a:srgbClr val="3333FF"/>
                </a:solidFill>
              </a:endParaRPr>
            </a:p>
          </p:txBody>
        </p:sp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4B4E0D6C-7737-405B-B0D4-1BF8E338E22F}"/>
                </a:ext>
              </a:extLst>
            </p:cNvPr>
            <p:cNvCxnSpPr/>
            <p:nvPr/>
          </p:nvCxnSpPr>
          <p:spPr bwMode="auto">
            <a:xfrm>
              <a:off x="8599502" y="4608657"/>
              <a:ext cx="253663" cy="342900"/>
            </a:xfrm>
            <a:prstGeom prst="straightConnector1">
              <a:avLst/>
            </a:prstGeom>
            <a:noFill/>
            <a:ln w="3810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E4326333-954B-41D9-8DB8-42C6A369C371}"/>
              </a:ext>
            </a:extLst>
          </p:cNvPr>
          <p:cNvGrpSpPr/>
          <p:nvPr/>
        </p:nvGrpSpPr>
        <p:grpSpPr>
          <a:xfrm>
            <a:off x="7198860" y="1273978"/>
            <a:ext cx="1732601" cy="1171291"/>
            <a:chOff x="7188469" y="4613521"/>
            <a:chExt cx="1732601" cy="1171291"/>
          </a:xfrm>
        </p:grpSpPr>
        <p:sp>
          <p:nvSpPr>
            <p:cNvPr id="146" name="CuadroTexto 145">
              <a:extLst>
                <a:ext uri="{FF2B5EF4-FFF2-40B4-BE49-F238E27FC236}">
                  <a16:creationId xmlns:a16="http://schemas.microsoft.com/office/drawing/2014/main" id="{99F65CDC-47BE-49D1-A3EC-F058957F98EF}"/>
                </a:ext>
              </a:extLst>
            </p:cNvPr>
            <p:cNvSpPr txBox="1"/>
            <p:nvPr/>
          </p:nvSpPr>
          <p:spPr>
            <a:xfrm>
              <a:off x="7188469" y="4953815"/>
              <a:ext cx="173260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0" dirty="0">
                  <a:solidFill>
                    <a:srgbClr val="3333FF"/>
                  </a:solidFill>
                </a:rPr>
                <a:t>Caídas   en </a:t>
              </a:r>
              <a:r>
                <a:rPr lang="es-ES" sz="2400" b="0" dirty="0" err="1">
                  <a:solidFill>
                    <a:srgbClr val="3333FF"/>
                  </a:solidFill>
                </a:rPr>
                <a:t>conds</a:t>
              </a:r>
              <a:r>
                <a:rPr lang="es-ES" sz="2400" b="0" dirty="0">
                  <a:solidFill>
                    <a:srgbClr val="3333FF"/>
                  </a:solidFill>
                </a:rPr>
                <a:t>.</a:t>
              </a:r>
              <a:endParaRPr lang="en-GB" sz="2400" b="0" dirty="0">
                <a:solidFill>
                  <a:srgbClr val="3333FF"/>
                </a:solidFill>
              </a:endParaRPr>
            </a:p>
          </p:txBody>
        </p:sp>
        <p:cxnSp>
          <p:nvCxnSpPr>
            <p:cNvPr id="147" name="Conector recto de flecha 146">
              <a:extLst>
                <a:ext uri="{FF2B5EF4-FFF2-40B4-BE49-F238E27FC236}">
                  <a16:creationId xmlns:a16="http://schemas.microsoft.com/office/drawing/2014/main" id="{A1F18D4A-C72E-49AD-AE40-1ADA74E31E3E}"/>
                </a:ext>
              </a:extLst>
            </p:cNvPr>
            <p:cNvCxnSpPr/>
            <p:nvPr/>
          </p:nvCxnSpPr>
          <p:spPr bwMode="auto">
            <a:xfrm>
              <a:off x="7694699" y="4613521"/>
              <a:ext cx="253663" cy="342900"/>
            </a:xfrm>
            <a:prstGeom prst="straightConnector1">
              <a:avLst/>
            </a:prstGeom>
            <a:noFill/>
            <a:ln w="3810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</p:grpSp>
      <p:sp>
        <p:nvSpPr>
          <p:cNvPr id="148" name="CuadroTexto 147">
            <a:extLst>
              <a:ext uri="{FF2B5EF4-FFF2-40B4-BE49-F238E27FC236}">
                <a16:creationId xmlns:a16="http://schemas.microsoft.com/office/drawing/2014/main" id="{C6EE4E28-56D3-4574-8D00-2344E917B60C}"/>
              </a:ext>
            </a:extLst>
          </p:cNvPr>
          <p:cNvSpPr txBox="1"/>
          <p:nvPr/>
        </p:nvSpPr>
        <p:spPr>
          <a:xfrm>
            <a:off x="1529904" y="709422"/>
            <a:ext cx="1620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0" dirty="0">
                <a:solidFill>
                  <a:schemeClr val="tx1"/>
                </a:solidFill>
              </a:rPr>
              <a:t>Por tanto:</a:t>
            </a:r>
            <a:endParaRPr lang="en-GB" sz="2400" b="0" dirty="0">
              <a:solidFill>
                <a:schemeClr val="tx1"/>
              </a:solidFill>
            </a:endParaRPr>
          </a:p>
        </p:txBody>
      </p:sp>
      <p:sp>
        <p:nvSpPr>
          <p:cNvPr id="47" name="Text Box 76">
            <a:extLst>
              <a:ext uri="{FF2B5EF4-FFF2-40B4-BE49-F238E27FC236}">
                <a16:creationId xmlns:a16="http://schemas.microsoft.com/office/drawing/2014/main" id="{651102E0-81F6-B1D1-AA30-091EA4FCC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9610" y="4624872"/>
            <a:ext cx="4323469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Tomando E como Referencia:</a:t>
            </a:r>
          </a:p>
        </p:txBody>
      </p:sp>
      <p:grpSp>
        <p:nvGrpSpPr>
          <p:cNvPr id="48" name="Group 122">
            <a:extLst>
              <a:ext uri="{FF2B5EF4-FFF2-40B4-BE49-F238E27FC236}">
                <a16:creationId xmlns:a16="http://schemas.microsoft.com/office/drawing/2014/main" id="{48E3738C-BFFC-F834-92B1-CFBB0485F557}"/>
              </a:ext>
            </a:extLst>
          </p:cNvPr>
          <p:cNvGrpSpPr>
            <a:grpSpLocks/>
          </p:cNvGrpSpPr>
          <p:nvPr/>
        </p:nvGrpSpPr>
        <p:grpSpPr bwMode="auto">
          <a:xfrm>
            <a:off x="5981674" y="3821597"/>
            <a:ext cx="4248153" cy="542925"/>
            <a:chOff x="3774" y="2837"/>
            <a:chExt cx="2676" cy="342"/>
          </a:xfrm>
        </p:grpSpPr>
        <p:sp>
          <p:nvSpPr>
            <p:cNvPr id="49" name="Text Box 123">
              <a:extLst>
                <a:ext uri="{FF2B5EF4-FFF2-40B4-BE49-F238E27FC236}">
                  <a16:creationId xmlns:a16="http://schemas.microsoft.com/office/drawing/2014/main" id="{19ED3A07-2D2B-065F-0F22-623E22AC25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4" y="2841"/>
              <a:ext cx="841" cy="33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V</a:t>
              </a:r>
              <a:r>
                <a:rPr lang="es-ES" sz="2400" b="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="0">
                  <a:solidFill>
                    <a:srgbClr val="000000"/>
                  </a:solidFill>
                  <a:latin typeface="Arial" panose="020B0604020202020204" pitchFamily="34" charset="0"/>
                </a:rPr>
                <a:t> = 0 V</a:t>
              </a:r>
            </a:p>
          </p:txBody>
        </p:sp>
        <p:sp>
          <p:nvSpPr>
            <p:cNvPr id="50" name="Text Box 124">
              <a:extLst>
                <a:ext uri="{FF2B5EF4-FFF2-40B4-BE49-F238E27FC236}">
                  <a16:creationId xmlns:a16="http://schemas.microsoft.com/office/drawing/2014/main" id="{451A475E-5F82-1829-FA7B-2826AB49CF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3" y="2837"/>
              <a:ext cx="1797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0" dirty="0">
                  <a:solidFill>
                    <a:srgbClr val="FF0000"/>
                  </a:solidFill>
                  <a:latin typeface="Arial" panose="020B0604020202020204" pitchFamily="34" charset="0"/>
                </a:rPr>
                <a:t>(conectado a tierra)</a:t>
              </a:r>
            </a:p>
          </p:txBody>
        </p:sp>
      </p:grpSp>
      <p:sp>
        <p:nvSpPr>
          <p:cNvPr id="51" name="Text Box 65">
            <a:extLst>
              <a:ext uri="{FF2B5EF4-FFF2-40B4-BE49-F238E27FC236}">
                <a16:creationId xmlns:a16="http://schemas.microsoft.com/office/drawing/2014/main" id="{3CE035FC-3095-48EC-18DD-12ADD9ED5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9610" y="5441851"/>
            <a:ext cx="2879725" cy="609252"/>
          </a:xfrm>
          <a:prstGeom prst="rect">
            <a:avLst/>
          </a:prstGeom>
          <a:solidFill>
            <a:srgbClr val="FF99CC"/>
          </a:solidFill>
          <a:ln>
            <a:noFill/>
          </a:ln>
        </p:spPr>
        <p:txBody>
          <a:bodyPr lIns="90000" tIns="118800" rIns="90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Punto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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V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+ 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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b="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j</a:t>
            </a:r>
            <a:endParaRPr lang="es-ES" sz="2400" b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2" name="Text Box 124">
            <a:extLst>
              <a:ext uri="{FF2B5EF4-FFF2-40B4-BE49-F238E27FC236}">
                <a16:creationId xmlns:a16="http://schemas.microsoft.com/office/drawing/2014/main" id="{AAE412A0-60F9-48A5-B843-C6A922521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412" y="6170419"/>
            <a:ext cx="4400746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</a:rPr>
              <a:t>(Hay que ir de cada punto a E)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3AC8CF2D-7692-870D-6037-B97415C97582}"/>
              </a:ext>
            </a:extLst>
          </p:cNvPr>
          <p:cNvGrpSpPr/>
          <p:nvPr/>
        </p:nvGrpSpPr>
        <p:grpSpPr>
          <a:xfrm>
            <a:off x="1378380" y="3809353"/>
            <a:ext cx="3986213" cy="2941638"/>
            <a:chOff x="6011340" y="3809353"/>
            <a:chExt cx="3986213" cy="2941638"/>
          </a:xfrm>
        </p:grpSpPr>
        <p:grpSp>
          <p:nvGrpSpPr>
            <p:cNvPr id="53" name="Group 4">
              <a:extLst>
                <a:ext uri="{FF2B5EF4-FFF2-40B4-BE49-F238E27FC236}">
                  <a16:creationId xmlns:a16="http://schemas.microsoft.com/office/drawing/2014/main" id="{5670FF77-FB85-3968-0EA4-641D414D7A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54152" y="6185196"/>
              <a:ext cx="317500" cy="376237"/>
              <a:chOff x="8088" y="15201"/>
              <a:chExt cx="340" cy="280"/>
            </a:xfrm>
          </p:grpSpPr>
          <p:sp>
            <p:nvSpPr>
              <p:cNvPr id="54" name="Line 5">
                <a:extLst>
                  <a:ext uri="{FF2B5EF4-FFF2-40B4-BE49-F238E27FC236}">
                    <a16:creationId xmlns:a16="http://schemas.microsoft.com/office/drawing/2014/main" id="{924EEBBB-B4C0-2EE6-C352-22E1653084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58" y="15201"/>
                <a:ext cx="0" cy="18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 b="0"/>
              </a:p>
            </p:txBody>
          </p:sp>
          <p:sp>
            <p:nvSpPr>
              <p:cNvPr id="55" name="Line 6">
                <a:extLst>
                  <a:ext uri="{FF2B5EF4-FFF2-40B4-BE49-F238E27FC236}">
                    <a16:creationId xmlns:a16="http://schemas.microsoft.com/office/drawing/2014/main" id="{9196B309-8D3C-79E6-AE75-B25A1D9478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88" y="15384"/>
                <a:ext cx="34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 b="0"/>
              </a:p>
            </p:txBody>
          </p:sp>
          <p:sp>
            <p:nvSpPr>
              <p:cNvPr id="56" name="Line 7">
                <a:extLst>
                  <a:ext uri="{FF2B5EF4-FFF2-40B4-BE49-F238E27FC236}">
                    <a16:creationId xmlns:a16="http://schemas.microsoft.com/office/drawing/2014/main" id="{A2636BE8-6E7A-1731-9D36-5B66D7FDC4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45" y="15432"/>
                <a:ext cx="227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 b="0"/>
              </a:p>
            </p:txBody>
          </p:sp>
          <p:sp>
            <p:nvSpPr>
              <p:cNvPr id="57" name="Line 8">
                <a:extLst>
                  <a:ext uri="{FF2B5EF4-FFF2-40B4-BE49-F238E27FC236}">
                    <a16:creationId xmlns:a16="http://schemas.microsoft.com/office/drawing/2014/main" id="{7E217DA4-BB1E-4661-6C77-948FFF9BD1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02" y="15481"/>
                <a:ext cx="113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 b="0"/>
              </a:p>
            </p:txBody>
          </p:sp>
        </p:grpSp>
        <p:grpSp>
          <p:nvGrpSpPr>
            <p:cNvPr id="58" name="Grupo 57">
              <a:extLst>
                <a:ext uri="{FF2B5EF4-FFF2-40B4-BE49-F238E27FC236}">
                  <a16:creationId xmlns:a16="http://schemas.microsoft.com/office/drawing/2014/main" id="{3861CECB-BDA2-F223-1DB7-47EE3002512F}"/>
                </a:ext>
              </a:extLst>
            </p:cNvPr>
            <p:cNvGrpSpPr/>
            <p:nvPr/>
          </p:nvGrpSpPr>
          <p:grpSpPr>
            <a:xfrm>
              <a:off x="6170273" y="3809353"/>
              <a:ext cx="3697287" cy="2811794"/>
              <a:chOff x="1470457" y="269272"/>
              <a:chExt cx="3697287" cy="2811794"/>
            </a:xfrm>
          </p:grpSpPr>
          <p:grpSp>
            <p:nvGrpSpPr>
              <p:cNvPr id="59" name="Group 16">
                <a:extLst>
                  <a:ext uri="{FF2B5EF4-FFF2-40B4-BE49-F238E27FC236}">
                    <a16:creationId xmlns:a16="http://schemas.microsoft.com/office/drawing/2014/main" id="{29ADB6CE-7E74-62CB-68B2-9EE452873B0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64219" y="709010"/>
                <a:ext cx="112713" cy="482600"/>
                <a:chOff x="4253" y="5198"/>
                <a:chExt cx="121" cy="360"/>
              </a:xfrm>
            </p:grpSpPr>
            <p:sp>
              <p:nvSpPr>
                <p:cNvPr id="97" name="Line 17">
                  <a:extLst>
                    <a:ext uri="{FF2B5EF4-FFF2-40B4-BE49-F238E27FC236}">
                      <a16:creationId xmlns:a16="http://schemas.microsoft.com/office/drawing/2014/main" id="{D37F707F-5BEC-71DC-9C64-A674E2AB66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4" y="5198"/>
                  <a:ext cx="0" cy="36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b="0"/>
                </a:p>
              </p:txBody>
            </p:sp>
            <p:sp>
              <p:nvSpPr>
                <p:cNvPr id="98" name="Line 18">
                  <a:extLst>
                    <a:ext uri="{FF2B5EF4-FFF2-40B4-BE49-F238E27FC236}">
                      <a16:creationId xmlns:a16="http://schemas.microsoft.com/office/drawing/2014/main" id="{6BED5737-C2F0-370C-FFDD-BDDB1C5C9E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53" y="5198"/>
                  <a:ext cx="0" cy="36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b="0"/>
                </a:p>
              </p:txBody>
            </p:sp>
          </p:grpSp>
          <p:grpSp>
            <p:nvGrpSpPr>
              <p:cNvPr id="60" name="Group 19">
                <a:extLst>
                  <a:ext uri="{FF2B5EF4-FFF2-40B4-BE49-F238E27FC236}">
                    <a16:creationId xmlns:a16="http://schemas.microsoft.com/office/drawing/2014/main" id="{4E3D60AA-AD4B-8A53-8166-98D680BC69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16832" y="712185"/>
                <a:ext cx="112712" cy="484187"/>
                <a:chOff x="4253" y="5198"/>
                <a:chExt cx="121" cy="360"/>
              </a:xfrm>
            </p:grpSpPr>
            <p:sp>
              <p:nvSpPr>
                <p:cNvPr id="95" name="Line 20">
                  <a:extLst>
                    <a:ext uri="{FF2B5EF4-FFF2-40B4-BE49-F238E27FC236}">
                      <a16:creationId xmlns:a16="http://schemas.microsoft.com/office/drawing/2014/main" id="{AEE348BE-78D4-4BEE-69DC-F2E5DD12E5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4" y="5198"/>
                  <a:ext cx="0" cy="36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b="0"/>
                </a:p>
              </p:txBody>
            </p:sp>
            <p:sp>
              <p:nvSpPr>
                <p:cNvPr id="96" name="Line 21">
                  <a:extLst>
                    <a:ext uri="{FF2B5EF4-FFF2-40B4-BE49-F238E27FC236}">
                      <a16:creationId xmlns:a16="http://schemas.microsoft.com/office/drawing/2014/main" id="{A7773197-7AEA-E4B1-6F3D-C602C0C53D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53" y="5198"/>
                  <a:ext cx="0" cy="36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b="0"/>
                </a:p>
              </p:txBody>
            </p:sp>
          </p:grpSp>
          <p:grpSp>
            <p:nvGrpSpPr>
              <p:cNvPr id="61" name="Group 22">
                <a:extLst>
                  <a:ext uri="{FF2B5EF4-FFF2-40B4-BE49-F238E27FC236}">
                    <a16:creationId xmlns:a16="http://schemas.microsoft.com/office/drawing/2014/main" id="{A4123F80-3C36-55CC-6E17-07D214A86C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3227026" y="1587691"/>
                <a:ext cx="163512" cy="336550"/>
                <a:chOff x="4253" y="5198"/>
                <a:chExt cx="121" cy="360"/>
              </a:xfrm>
            </p:grpSpPr>
            <p:sp>
              <p:nvSpPr>
                <p:cNvPr id="93" name="Line 23">
                  <a:extLst>
                    <a:ext uri="{FF2B5EF4-FFF2-40B4-BE49-F238E27FC236}">
                      <a16:creationId xmlns:a16="http://schemas.microsoft.com/office/drawing/2014/main" id="{1922CF99-CA71-351D-C4B0-BE6AC433AC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4" y="5198"/>
                  <a:ext cx="0" cy="36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b="0"/>
                </a:p>
              </p:txBody>
            </p:sp>
            <p:sp>
              <p:nvSpPr>
                <p:cNvPr id="94" name="Line 24">
                  <a:extLst>
                    <a:ext uri="{FF2B5EF4-FFF2-40B4-BE49-F238E27FC236}">
                      <a16:creationId xmlns:a16="http://schemas.microsoft.com/office/drawing/2014/main" id="{D344BF26-9DF1-A89A-A618-6AEA7866EE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53" y="5198"/>
                  <a:ext cx="0" cy="36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b="0"/>
                </a:p>
              </p:txBody>
            </p:sp>
          </p:grpSp>
          <p:sp>
            <p:nvSpPr>
              <p:cNvPr id="62" name="Line 25">
                <a:extLst>
                  <a:ext uri="{FF2B5EF4-FFF2-40B4-BE49-F238E27FC236}">
                    <a16:creationId xmlns:a16="http://schemas.microsoft.com/office/drawing/2014/main" id="{A9190BC0-7CD6-4CCA-EA0E-3C58766267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70457" y="945547"/>
                <a:ext cx="892175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63" name="Text Box 26">
                <a:extLst>
                  <a:ext uri="{FF2B5EF4-FFF2-40B4-BE49-F238E27FC236}">
                    <a16:creationId xmlns:a16="http://schemas.microsoft.com/office/drawing/2014/main" id="{F3BB9CEF-4A5A-74B7-B1AA-E1D1C3266F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5594" y="269272"/>
                <a:ext cx="503238" cy="517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 b="0">
                    <a:solidFill>
                      <a:srgbClr val="008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</a:t>
                </a:r>
                <a:r>
                  <a:rPr lang="es-ES" sz="2000" b="0" baseline="-30000">
                    <a:solidFill>
                      <a:srgbClr val="008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2</a:t>
                </a:r>
                <a:endPara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" name="Text Box 27">
                <a:extLst>
                  <a:ext uri="{FF2B5EF4-FFF2-40B4-BE49-F238E27FC236}">
                    <a16:creationId xmlns:a16="http://schemas.microsoft.com/office/drawing/2014/main" id="{83F082FF-03A9-1606-872C-AEB3F7F319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92969" y="269272"/>
                <a:ext cx="50323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 b="0">
                    <a:solidFill>
                      <a:srgbClr val="008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</a:t>
                </a:r>
                <a:r>
                  <a:rPr lang="es-ES" sz="2000" b="0" baseline="-30000">
                    <a:solidFill>
                      <a:srgbClr val="008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1</a:t>
                </a:r>
                <a:endPara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7" name="Group 28">
                <a:extLst>
                  <a:ext uri="{FF2B5EF4-FFF2-40B4-BE49-F238E27FC236}">
                    <a16:creationId xmlns:a16="http://schemas.microsoft.com/office/drawing/2014/main" id="{00EB1101-C9BC-081F-C6BB-520D3767FD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4102532" y="2399697"/>
                <a:ext cx="58737" cy="482600"/>
                <a:chOff x="5153" y="6274"/>
                <a:chExt cx="63" cy="360"/>
              </a:xfrm>
            </p:grpSpPr>
            <p:sp>
              <p:nvSpPr>
                <p:cNvPr id="91" name="Line 29">
                  <a:extLst>
                    <a:ext uri="{FF2B5EF4-FFF2-40B4-BE49-F238E27FC236}">
                      <a16:creationId xmlns:a16="http://schemas.microsoft.com/office/drawing/2014/main" id="{DAC57281-2FCF-F631-2C54-366C090067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16" y="6357"/>
                  <a:ext cx="0" cy="193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b="0"/>
                </a:p>
              </p:txBody>
            </p:sp>
            <p:sp>
              <p:nvSpPr>
                <p:cNvPr id="92" name="Line 30">
                  <a:extLst>
                    <a:ext uri="{FF2B5EF4-FFF2-40B4-BE49-F238E27FC236}">
                      <a16:creationId xmlns:a16="http://schemas.microsoft.com/office/drawing/2014/main" id="{8EC837B3-F5F7-E1D1-5E7E-F9D5749406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153" y="6274"/>
                  <a:ext cx="0" cy="36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b="0"/>
                </a:p>
              </p:txBody>
            </p:sp>
          </p:grpSp>
          <p:sp>
            <p:nvSpPr>
              <p:cNvPr id="68" name="Line 31">
                <a:extLst>
                  <a:ext uri="{FF2B5EF4-FFF2-40B4-BE49-F238E27FC236}">
                    <a16:creationId xmlns:a16="http://schemas.microsoft.com/office/drawing/2014/main" id="{5BF85918-E49D-3D16-8F9D-965F00497A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61269" y="2640997"/>
                <a:ext cx="1006475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69" name="Text Box 32">
                <a:extLst>
                  <a:ext uri="{FF2B5EF4-FFF2-40B4-BE49-F238E27FC236}">
                    <a16:creationId xmlns:a16="http://schemas.microsoft.com/office/drawing/2014/main" id="{9255DAA1-77A1-A312-8057-6E7789FB53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70607" y="1488472"/>
                <a:ext cx="503237" cy="495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 b="0">
                    <a:solidFill>
                      <a:srgbClr val="008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</a:t>
                </a:r>
                <a:r>
                  <a:rPr lang="es-ES" sz="2000" b="0" baseline="-30000">
                    <a:solidFill>
                      <a:srgbClr val="008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3</a:t>
                </a:r>
                <a:endPara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0" name="Line 33">
                <a:extLst>
                  <a:ext uri="{FF2B5EF4-FFF2-40B4-BE49-F238E27FC236}">
                    <a16:creationId xmlns:a16="http://schemas.microsoft.com/office/drawing/2014/main" id="{BBC7784A-E179-D3A6-AAD2-2466D33394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84869" y="950310"/>
                <a:ext cx="1731963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71" name="Line 34">
                <a:extLst>
                  <a:ext uri="{FF2B5EF4-FFF2-40B4-BE49-F238E27FC236}">
                    <a16:creationId xmlns:a16="http://schemas.microsoft.com/office/drawing/2014/main" id="{0D5835C0-540A-0C12-7572-76CE2562F7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6332" y="950310"/>
                <a:ext cx="0" cy="1690687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72" name="Line 35">
                <a:extLst>
                  <a:ext uri="{FF2B5EF4-FFF2-40B4-BE49-F238E27FC236}">
                    <a16:creationId xmlns:a16="http://schemas.microsoft.com/office/drawing/2014/main" id="{166D41BF-4F35-951C-5D56-AB4BD31AC9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48694" y="950310"/>
                <a:ext cx="0" cy="1690687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73" name="Line 36">
                <a:extLst>
                  <a:ext uri="{FF2B5EF4-FFF2-40B4-BE49-F238E27FC236}">
                    <a16:creationId xmlns:a16="http://schemas.microsoft.com/office/drawing/2014/main" id="{11170A5C-900A-5C2B-EB64-C2060063C8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9544" y="950310"/>
                <a:ext cx="83820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74" name="Line 37">
                <a:extLst>
                  <a:ext uri="{FF2B5EF4-FFF2-40B4-BE49-F238E27FC236}">
                    <a16:creationId xmlns:a16="http://schemas.microsoft.com/office/drawing/2014/main" id="{A47B939F-5F6F-BDFF-5DE9-13AE13AFC3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08782" y="950310"/>
                <a:ext cx="0" cy="72390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75" name="Line 38">
                <a:extLst>
                  <a:ext uri="{FF2B5EF4-FFF2-40B4-BE49-F238E27FC236}">
                    <a16:creationId xmlns:a16="http://schemas.microsoft.com/office/drawing/2014/main" id="{DFD4E100-B2FB-983A-C849-F48D54535D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08782" y="1842485"/>
                <a:ext cx="0" cy="798512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grpSp>
            <p:nvGrpSpPr>
              <p:cNvPr id="76" name="Group 39">
                <a:extLst>
                  <a:ext uri="{FF2B5EF4-FFF2-40B4-BE49-F238E27FC236}">
                    <a16:creationId xmlns:a16="http://schemas.microsoft.com/office/drawing/2014/main" id="{B30EBAD2-9A63-4575-B440-126F9195D8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72157" y="2404460"/>
                <a:ext cx="112712" cy="482600"/>
                <a:chOff x="4253" y="5198"/>
                <a:chExt cx="121" cy="360"/>
              </a:xfrm>
            </p:grpSpPr>
            <p:sp>
              <p:nvSpPr>
                <p:cNvPr id="89" name="Line 40">
                  <a:extLst>
                    <a:ext uri="{FF2B5EF4-FFF2-40B4-BE49-F238E27FC236}">
                      <a16:creationId xmlns:a16="http://schemas.microsoft.com/office/drawing/2014/main" id="{55CD326A-D6BC-777C-3731-3616EEE29D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74" y="5198"/>
                  <a:ext cx="0" cy="36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b="0"/>
                </a:p>
              </p:txBody>
            </p:sp>
            <p:sp>
              <p:nvSpPr>
                <p:cNvPr id="90" name="Line 41">
                  <a:extLst>
                    <a:ext uri="{FF2B5EF4-FFF2-40B4-BE49-F238E27FC236}">
                      <a16:creationId xmlns:a16="http://schemas.microsoft.com/office/drawing/2014/main" id="{4B71029F-9584-65D4-3F41-E3B38CEBF2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53" y="5198"/>
                  <a:ext cx="0" cy="36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b="0"/>
                </a:p>
              </p:txBody>
            </p:sp>
          </p:grpSp>
          <p:sp>
            <p:nvSpPr>
              <p:cNvPr id="77" name="Line 42">
                <a:extLst>
                  <a:ext uri="{FF2B5EF4-FFF2-40B4-BE49-F238E27FC236}">
                    <a16:creationId xmlns:a16="http://schemas.microsoft.com/office/drawing/2014/main" id="{27EBD6FC-023F-14A9-C299-50AE591EE3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78394" y="2640997"/>
                <a:ext cx="892175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78" name="Text Box 43">
                <a:extLst>
                  <a:ext uri="{FF2B5EF4-FFF2-40B4-BE49-F238E27FC236}">
                    <a16:creationId xmlns:a16="http://schemas.microsoft.com/office/drawing/2014/main" id="{D0D01ED8-D414-BAED-AEA5-D59DC1C3DD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5594" y="2009172"/>
                <a:ext cx="503238" cy="4699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 b="0">
                    <a:solidFill>
                      <a:srgbClr val="008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</a:t>
                </a:r>
                <a:r>
                  <a:rPr lang="es-ES" sz="2000" b="0" baseline="-30000">
                    <a:solidFill>
                      <a:srgbClr val="008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4</a:t>
                </a:r>
                <a:endPara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9" name="Line 44">
                <a:extLst>
                  <a:ext uri="{FF2B5EF4-FFF2-40B4-BE49-F238E27FC236}">
                    <a16:creationId xmlns:a16="http://schemas.microsoft.com/office/drawing/2014/main" id="{CF0C621C-54A6-079B-C957-0F48B23376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92807" y="2640997"/>
                <a:ext cx="1616075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80" name="Text Box 57">
                <a:extLst>
                  <a:ext uri="{FF2B5EF4-FFF2-40B4-BE49-F238E27FC236}">
                    <a16:creationId xmlns:a16="http://schemas.microsoft.com/office/drawing/2014/main" id="{1DCD66F9-CC06-0C53-F823-0E6B13934B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5557" y="2025047"/>
                <a:ext cx="334962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800" b="0">
                    <a:solidFill>
                      <a:srgbClr val="008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  <a:sym typeface="Symbol" panose="05050102010706020507" pitchFamily="18" charset="2"/>
                  </a:rPr>
                  <a:t></a:t>
                </a:r>
              </a:p>
            </p:txBody>
          </p:sp>
          <p:sp>
            <p:nvSpPr>
              <p:cNvPr id="81" name="Text Box 58">
                <a:extLst>
                  <a:ext uri="{FF2B5EF4-FFF2-40B4-BE49-F238E27FC236}">
                    <a16:creationId xmlns:a16="http://schemas.microsoft.com/office/drawing/2014/main" id="{1B46417B-EDDC-3DBD-BCB5-AAC58C6E1C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88269" y="442310"/>
                <a:ext cx="330838" cy="4749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82" name="Text Box 59">
                <a:extLst>
                  <a:ext uri="{FF2B5EF4-FFF2-40B4-BE49-F238E27FC236}">
                    <a16:creationId xmlns:a16="http://schemas.microsoft.com/office/drawing/2014/main" id="{04F5E752-1602-1DD1-1129-EEC716BA5D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46957" y="440722"/>
                <a:ext cx="266717" cy="4749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83" name="Text Box 60">
                <a:extLst>
                  <a:ext uri="{FF2B5EF4-FFF2-40B4-BE49-F238E27FC236}">
                    <a16:creationId xmlns:a16="http://schemas.microsoft.com/office/drawing/2014/main" id="{274FA69F-6F11-DCCC-8EA8-6A0A9F25B2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5182" y="453422"/>
                <a:ext cx="330838" cy="4749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84" name="Text Box 61">
                <a:extLst>
                  <a:ext uri="{FF2B5EF4-FFF2-40B4-BE49-F238E27FC236}">
                    <a16:creationId xmlns:a16="http://schemas.microsoft.com/office/drawing/2014/main" id="{8D13ADA6-FB98-A9EA-7FB0-24DD2F9097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3869" y="451835"/>
                <a:ext cx="266717" cy="4749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85" name="Text Box 62">
                <a:extLst>
                  <a:ext uri="{FF2B5EF4-FFF2-40B4-BE49-F238E27FC236}">
                    <a16:creationId xmlns:a16="http://schemas.microsoft.com/office/drawing/2014/main" id="{05ADD1EE-E4AB-9797-20CF-38A9E86CD6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18307" y="1277335"/>
                <a:ext cx="330838" cy="4749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86" name="Text Box 63">
                <a:extLst>
                  <a:ext uri="{FF2B5EF4-FFF2-40B4-BE49-F238E27FC236}">
                    <a16:creationId xmlns:a16="http://schemas.microsoft.com/office/drawing/2014/main" id="{074B638E-38D0-3245-D986-2596489521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50057" y="1653572"/>
                <a:ext cx="266717" cy="4749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87" name="Text Box 64">
                <a:extLst>
                  <a:ext uri="{FF2B5EF4-FFF2-40B4-BE49-F238E27FC236}">
                    <a16:creationId xmlns:a16="http://schemas.microsoft.com/office/drawing/2014/main" id="{2FC7869E-4F9C-55B0-C67E-EA23E351EE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4182" y="2606072"/>
                <a:ext cx="330838" cy="4749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88" name="Text Box 65">
                <a:extLst>
                  <a:ext uri="{FF2B5EF4-FFF2-40B4-BE49-F238E27FC236}">
                    <a16:creationId xmlns:a16="http://schemas.microsoft.com/office/drawing/2014/main" id="{FBF02BBC-B487-FB3B-0902-09A198D630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7407" y="2588610"/>
                <a:ext cx="266717" cy="4749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99" name="Grupo 98">
              <a:extLst>
                <a:ext uri="{FF2B5EF4-FFF2-40B4-BE49-F238E27FC236}">
                  <a16:creationId xmlns:a16="http://schemas.microsoft.com/office/drawing/2014/main" id="{4A5B3E87-0839-8A14-CDAC-63EEB55FEC6E}"/>
                </a:ext>
              </a:extLst>
            </p:cNvPr>
            <p:cNvGrpSpPr/>
            <p:nvPr/>
          </p:nvGrpSpPr>
          <p:grpSpPr>
            <a:xfrm>
              <a:off x="6011340" y="3995091"/>
              <a:ext cx="3986213" cy="2755900"/>
              <a:chOff x="1498513" y="461774"/>
              <a:chExt cx="3986213" cy="2755900"/>
            </a:xfrm>
          </p:grpSpPr>
          <p:sp>
            <p:nvSpPr>
              <p:cNvPr id="101" name="Oval 38">
                <a:extLst>
                  <a:ext uri="{FF2B5EF4-FFF2-40B4-BE49-F238E27FC236}">
                    <a16:creationId xmlns:a16="http://schemas.microsoft.com/office/drawing/2014/main" id="{F3E1739F-40EA-ACEA-A385-D39EC21B44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3763" y="869762"/>
                <a:ext cx="144463" cy="144462"/>
              </a:xfrm>
              <a:prstGeom prst="ellipse">
                <a:avLst/>
              </a:prstGeom>
              <a:solidFill>
                <a:srgbClr val="FF0000"/>
              </a:solidFill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02" name="Oval 39">
                <a:extLst>
                  <a:ext uri="{FF2B5EF4-FFF2-40B4-BE49-F238E27FC236}">
                    <a16:creationId xmlns:a16="http://schemas.microsoft.com/office/drawing/2014/main" id="{DB7F6DDE-8F5F-7B50-7898-2DBCA3DF5B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3763" y="2568387"/>
                <a:ext cx="144463" cy="144462"/>
              </a:xfrm>
              <a:prstGeom prst="ellipse">
                <a:avLst/>
              </a:prstGeom>
              <a:solidFill>
                <a:srgbClr val="FF0000"/>
              </a:solidFill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03" name="Oval 40">
                <a:extLst>
                  <a:ext uri="{FF2B5EF4-FFF2-40B4-BE49-F238E27FC236}">
                    <a16:creationId xmlns:a16="http://schemas.microsoft.com/office/drawing/2014/main" id="{262F9D70-87E5-FE85-1F90-188F3F89C0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4626" y="869762"/>
                <a:ext cx="144462" cy="144462"/>
              </a:xfrm>
              <a:prstGeom prst="ellipse">
                <a:avLst/>
              </a:prstGeom>
              <a:solidFill>
                <a:srgbClr val="FF0000"/>
              </a:solidFill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04" name="Oval 41">
                <a:extLst>
                  <a:ext uri="{FF2B5EF4-FFF2-40B4-BE49-F238E27FC236}">
                    <a16:creationId xmlns:a16="http://schemas.microsoft.com/office/drawing/2014/main" id="{DB737046-4993-E567-9486-EFC1A1B0B9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5013" y="880874"/>
                <a:ext cx="144463" cy="144463"/>
              </a:xfrm>
              <a:prstGeom prst="ellipse">
                <a:avLst/>
              </a:prstGeom>
              <a:solidFill>
                <a:srgbClr val="FF0000"/>
              </a:solidFill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05" name="Oval 42">
                <a:extLst>
                  <a:ext uri="{FF2B5EF4-FFF2-40B4-BE49-F238E27FC236}">
                    <a16:creationId xmlns:a16="http://schemas.microsoft.com/office/drawing/2014/main" id="{C7229635-9703-F254-479E-76A4AFDA69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151" y="2558862"/>
                <a:ext cx="144462" cy="144462"/>
              </a:xfrm>
              <a:prstGeom prst="ellipse">
                <a:avLst/>
              </a:prstGeom>
              <a:solidFill>
                <a:srgbClr val="FF0000"/>
              </a:solidFill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06" name="Oval 43">
                <a:extLst>
                  <a:ext uri="{FF2B5EF4-FFF2-40B4-BE49-F238E27FC236}">
                    <a16:creationId xmlns:a16="http://schemas.microsoft.com/office/drawing/2014/main" id="{06F74B32-B06E-5773-23EE-82AEC20BE4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5013" y="2558862"/>
                <a:ext cx="144463" cy="144462"/>
              </a:xfrm>
              <a:prstGeom prst="ellipse">
                <a:avLst/>
              </a:prstGeom>
              <a:solidFill>
                <a:srgbClr val="FF0000"/>
              </a:solidFill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 b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07" name="Text Box 44">
                <a:extLst>
                  <a:ext uri="{FF2B5EF4-FFF2-40B4-BE49-F238E27FC236}">
                    <a16:creationId xmlns:a16="http://schemas.microsoft.com/office/drawing/2014/main" id="{BFDA3DDB-E69A-9301-5CFF-D1809C6222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8513" y="461774"/>
                <a:ext cx="334963" cy="482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 b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08" name="Text Box 45">
                <a:extLst>
                  <a:ext uri="{FF2B5EF4-FFF2-40B4-BE49-F238E27FC236}">
                    <a16:creationId xmlns:a16="http://schemas.microsoft.com/office/drawing/2014/main" id="{041FE775-AD13-B1BC-D9D1-AD3A048D6C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19376" y="461774"/>
                <a:ext cx="334962" cy="482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 b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</a:t>
                </a:r>
              </a:p>
            </p:txBody>
          </p:sp>
          <p:sp>
            <p:nvSpPr>
              <p:cNvPr id="109" name="Text Box 46">
                <a:extLst>
                  <a:ext uri="{FF2B5EF4-FFF2-40B4-BE49-F238E27FC236}">
                    <a16:creationId xmlns:a16="http://schemas.microsoft.com/office/drawing/2014/main" id="{7FA42510-3946-3FEF-DE2F-E726B74A30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49763" y="461774"/>
                <a:ext cx="334963" cy="482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 b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110" name="Text Box 47">
                <a:extLst>
                  <a:ext uri="{FF2B5EF4-FFF2-40B4-BE49-F238E27FC236}">
                    <a16:creationId xmlns:a16="http://schemas.microsoft.com/office/drawing/2014/main" id="{19078E12-426A-D2AE-053E-41E6FE7128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8513" y="2733487"/>
                <a:ext cx="334963" cy="484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 b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D</a:t>
                </a:r>
              </a:p>
            </p:txBody>
          </p:sp>
          <p:sp>
            <p:nvSpPr>
              <p:cNvPr id="111" name="Text Box 48">
                <a:extLst>
                  <a:ext uri="{FF2B5EF4-FFF2-40B4-BE49-F238E27FC236}">
                    <a16:creationId xmlns:a16="http://schemas.microsoft.com/office/drawing/2014/main" id="{400D3FCF-5814-28CA-4278-F272DEEEB6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9351" y="2179449"/>
                <a:ext cx="334962" cy="482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 b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112" name="Text Box 49">
                <a:extLst>
                  <a:ext uri="{FF2B5EF4-FFF2-40B4-BE49-F238E27FC236}">
                    <a16:creationId xmlns:a16="http://schemas.microsoft.com/office/drawing/2014/main" id="{24FC3C6A-D8A3-AA78-59AE-E5CB38C3C5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49763" y="2733487"/>
                <a:ext cx="334963" cy="482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000" b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F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72834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66" grpId="0" animBg="1"/>
      <p:bldP spid="148" grpId="0"/>
      <p:bldP spid="47" grpId="0" animBg="1"/>
      <p:bldP spid="51" grpId="0" animBg="1"/>
      <p:bldP spid="5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/>
          <p:cNvGrpSpPr>
            <a:grpSpLocks/>
          </p:cNvGrpSpPr>
          <p:nvPr/>
        </p:nvGrpSpPr>
        <p:grpSpPr bwMode="auto">
          <a:xfrm>
            <a:off x="1809411" y="6376201"/>
            <a:ext cx="6325461" cy="547661"/>
            <a:chOff x="1539439" y="6175356"/>
            <a:chExt cx="6325461" cy="547661"/>
          </a:xfrm>
        </p:grpSpPr>
        <p:sp>
          <p:nvSpPr>
            <p:cNvPr id="19530" name="Rectangle 62"/>
            <p:cNvSpPr>
              <a:spLocks noChangeArrowheads="1"/>
            </p:cNvSpPr>
            <p:nvPr/>
          </p:nvSpPr>
          <p:spPr bwMode="auto">
            <a:xfrm>
              <a:off x="6879414" y="6175356"/>
              <a:ext cx="985486" cy="53654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531" name="Rectangle 63"/>
            <p:cNvSpPr>
              <a:spLocks noChangeArrowheads="1"/>
            </p:cNvSpPr>
            <p:nvPr/>
          </p:nvSpPr>
          <p:spPr bwMode="auto">
            <a:xfrm>
              <a:off x="1539439" y="6186468"/>
              <a:ext cx="1262539" cy="53654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7518" name="Rectangle 64"/>
          <p:cNvSpPr>
            <a:spLocks noChangeArrowheads="1"/>
          </p:cNvSpPr>
          <p:nvPr/>
        </p:nvSpPr>
        <p:spPr bwMode="auto">
          <a:xfrm>
            <a:off x="1820922" y="6446102"/>
            <a:ext cx="6451109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sz="2400" b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_tradnl" sz="2400" b="0" baseline="-30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_tradnl" sz="2400" b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 = V</a:t>
            </a:r>
            <a:r>
              <a:rPr lang="es-ES_tradnl" sz="2400" b="0" baseline="-30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s-ES_tradnl" sz="2400" b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 </a:t>
            </a:r>
            <a:endParaRPr lang="es-ES" sz="2400" b="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1802323" y="4979886"/>
            <a:ext cx="6695598" cy="541311"/>
            <a:chOff x="1539875" y="5128946"/>
            <a:chExt cx="6695599" cy="541310"/>
          </a:xfrm>
        </p:grpSpPr>
        <p:sp>
          <p:nvSpPr>
            <p:cNvPr id="19528" name="Rectangle 78"/>
            <p:cNvSpPr>
              <a:spLocks noChangeArrowheads="1"/>
            </p:cNvSpPr>
            <p:nvPr/>
          </p:nvSpPr>
          <p:spPr bwMode="auto">
            <a:xfrm>
              <a:off x="6921210" y="5133708"/>
              <a:ext cx="1314264" cy="53654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529" name="Rectangle 79"/>
            <p:cNvSpPr>
              <a:spLocks noChangeArrowheads="1"/>
            </p:cNvSpPr>
            <p:nvPr/>
          </p:nvSpPr>
          <p:spPr bwMode="auto">
            <a:xfrm>
              <a:off x="1539875" y="5128946"/>
              <a:ext cx="1169988" cy="53654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7515" name="Text Box 80"/>
          <p:cNvSpPr txBox="1">
            <a:spLocks noChangeArrowheads="1"/>
          </p:cNvSpPr>
          <p:nvPr/>
        </p:nvSpPr>
        <p:spPr bwMode="auto">
          <a:xfrm>
            <a:off x="1818198" y="4956061"/>
            <a:ext cx="1136635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A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=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  <a:endParaRPr lang="es-ES" sz="2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5" name="Grupo 4"/>
          <p:cNvGrpSpPr>
            <a:grpSpLocks/>
          </p:cNvGrpSpPr>
          <p:nvPr/>
        </p:nvGrpSpPr>
        <p:grpSpPr bwMode="auto">
          <a:xfrm>
            <a:off x="1808556" y="3593099"/>
            <a:ext cx="5489230" cy="565418"/>
            <a:chOff x="1560512" y="4013980"/>
            <a:chExt cx="5489230" cy="565418"/>
          </a:xfrm>
        </p:grpSpPr>
        <p:sp>
          <p:nvSpPr>
            <p:cNvPr id="19526" name="Rectangle 82"/>
            <p:cNvSpPr>
              <a:spLocks noChangeArrowheads="1"/>
            </p:cNvSpPr>
            <p:nvPr/>
          </p:nvSpPr>
          <p:spPr bwMode="auto">
            <a:xfrm>
              <a:off x="5831830" y="4013980"/>
              <a:ext cx="1217912" cy="53654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527" name="Rectangle 83"/>
            <p:cNvSpPr>
              <a:spLocks noChangeArrowheads="1"/>
            </p:cNvSpPr>
            <p:nvPr/>
          </p:nvSpPr>
          <p:spPr bwMode="auto">
            <a:xfrm>
              <a:off x="1560512" y="4042849"/>
              <a:ext cx="471488" cy="53654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7512" name="Rectangle 84"/>
          <p:cNvSpPr>
            <a:spLocks noChangeArrowheads="1"/>
          </p:cNvSpPr>
          <p:nvPr/>
        </p:nvSpPr>
        <p:spPr bwMode="auto">
          <a:xfrm>
            <a:off x="1804851" y="3643618"/>
            <a:ext cx="723895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sz="2400" b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_tradnl" sz="2400" b="0" baseline="-30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s-ES_tradnl" sz="2400" b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 </a:t>
            </a:r>
            <a:endParaRPr lang="es-ES" sz="2400" b="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17" name="Group 126"/>
          <p:cNvGrpSpPr>
            <a:grpSpLocks/>
          </p:cNvGrpSpPr>
          <p:nvPr/>
        </p:nvGrpSpPr>
        <p:grpSpPr bwMode="auto">
          <a:xfrm>
            <a:off x="6514302" y="1087395"/>
            <a:ext cx="3257550" cy="1436687"/>
            <a:chOff x="991" y="2927"/>
            <a:chExt cx="2052" cy="905"/>
          </a:xfrm>
        </p:grpSpPr>
        <p:sp>
          <p:nvSpPr>
            <p:cNvPr id="19521" name="Freeform 137"/>
            <p:cNvSpPr>
              <a:spLocks/>
            </p:cNvSpPr>
            <p:nvPr/>
          </p:nvSpPr>
          <p:spPr bwMode="auto">
            <a:xfrm>
              <a:off x="991" y="2927"/>
              <a:ext cx="871" cy="904"/>
            </a:xfrm>
            <a:custGeom>
              <a:avLst/>
              <a:gdLst>
                <a:gd name="T0" fmla="*/ 871 w 871"/>
                <a:gd name="T1" fmla="*/ 0 h 904"/>
                <a:gd name="T2" fmla="*/ 0 w 871"/>
                <a:gd name="T3" fmla="*/ 0 h 904"/>
                <a:gd name="T4" fmla="*/ 0 w 871"/>
                <a:gd name="T5" fmla="*/ 904 h 904"/>
                <a:gd name="T6" fmla="*/ 777 w 871"/>
                <a:gd name="T7" fmla="*/ 904 h 9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1"/>
                <a:gd name="T13" fmla="*/ 0 h 904"/>
                <a:gd name="T14" fmla="*/ 871 w 871"/>
                <a:gd name="T15" fmla="*/ 904 h 9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1" h="904">
                  <a:moveTo>
                    <a:pt x="871" y="0"/>
                  </a:moveTo>
                  <a:lnTo>
                    <a:pt x="0" y="0"/>
                  </a:lnTo>
                  <a:lnTo>
                    <a:pt x="0" y="904"/>
                  </a:lnTo>
                  <a:lnTo>
                    <a:pt x="777" y="904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b="0"/>
            </a:p>
          </p:txBody>
        </p:sp>
        <p:sp>
          <p:nvSpPr>
            <p:cNvPr id="19522" name="Freeform 138"/>
            <p:cNvSpPr>
              <a:spLocks/>
            </p:cNvSpPr>
            <p:nvPr/>
          </p:nvSpPr>
          <p:spPr bwMode="auto">
            <a:xfrm flipH="1">
              <a:off x="2172" y="2928"/>
              <a:ext cx="871" cy="904"/>
            </a:xfrm>
            <a:custGeom>
              <a:avLst/>
              <a:gdLst>
                <a:gd name="T0" fmla="*/ 871 w 871"/>
                <a:gd name="T1" fmla="*/ 0 h 904"/>
                <a:gd name="T2" fmla="*/ 0 w 871"/>
                <a:gd name="T3" fmla="*/ 0 h 904"/>
                <a:gd name="T4" fmla="*/ 0 w 871"/>
                <a:gd name="T5" fmla="*/ 904 h 904"/>
                <a:gd name="T6" fmla="*/ 777 w 871"/>
                <a:gd name="T7" fmla="*/ 904 h 9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1"/>
                <a:gd name="T13" fmla="*/ 0 h 904"/>
                <a:gd name="T14" fmla="*/ 871 w 871"/>
                <a:gd name="T15" fmla="*/ 904 h 9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1" h="904">
                  <a:moveTo>
                    <a:pt x="871" y="0"/>
                  </a:moveTo>
                  <a:lnTo>
                    <a:pt x="0" y="0"/>
                  </a:lnTo>
                  <a:lnTo>
                    <a:pt x="0" y="904"/>
                  </a:lnTo>
                  <a:lnTo>
                    <a:pt x="777" y="904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b="0"/>
            </a:p>
          </p:txBody>
        </p:sp>
        <p:sp>
          <p:nvSpPr>
            <p:cNvPr id="19523" name="Line 139"/>
            <p:cNvSpPr>
              <a:spLocks noChangeShapeType="1"/>
            </p:cNvSpPr>
            <p:nvPr/>
          </p:nvSpPr>
          <p:spPr bwMode="auto">
            <a:xfrm>
              <a:off x="1949" y="2960"/>
              <a:ext cx="0" cy="69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b="0"/>
            </a:p>
          </p:txBody>
        </p:sp>
      </p:grpSp>
      <p:grpSp>
        <p:nvGrpSpPr>
          <p:cNvPr id="42128" name="Group 144"/>
          <p:cNvGrpSpPr>
            <a:grpSpLocks/>
          </p:cNvGrpSpPr>
          <p:nvPr/>
        </p:nvGrpSpPr>
        <p:grpSpPr bwMode="auto">
          <a:xfrm>
            <a:off x="6387302" y="350795"/>
            <a:ext cx="3822700" cy="2867025"/>
            <a:chOff x="4065" y="321"/>
            <a:chExt cx="2408" cy="1806"/>
          </a:xfrm>
        </p:grpSpPr>
        <p:sp>
          <p:nvSpPr>
            <p:cNvPr id="19518" name="Freeform 140"/>
            <p:cNvSpPr>
              <a:spLocks/>
            </p:cNvSpPr>
            <p:nvPr/>
          </p:nvSpPr>
          <p:spPr bwMode="auto">
            <a:xfrm>
              <a:off x="4065" y="321"/>
              <a:ext cx="1289" cy="1216"/>
            </a:xfrm>
            <a:custGeom>
              <a:avLst/>
              <a:gdLst>
                <a:gd name="T0" fmla="*/ 0 w 964"/>
                <a:gd name="T1" fmla="*/ 0 h 690"/>
                <a:gd name="T2" fmla="*/ 276170 w 964"/>
                <a:gd name="T3" fmla="*/ 0 h 690"/>
                <a:gd name="T4" fmla="*/ 276170 w 964"/>
                <a:gd name="T5" fmla="*/ 31137504 h 690"/>
                <a:gd name="T6" fmla="*/ 0 60000 65536"/>
                <a:gd name="T7" fmla="*/ 0 60000 65536"/>
                <a:gd name="T8" fmla="*/ 0 60000 65536"/>
                <a:gd name="T9" fmla="*/ 0 w 964"/>
                <a:gd name="T10" fmla="*/ 0 h 690"/>
                <a:gd name="T11" fmla="*/ 964 w 964"/>
                <a:gd name="T12" fmla="*/ 690 h 6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4" h="690">
                  <a:moveTo>
                    <a:pt x="0" y="0"/>
                  </a:moveTo>
                  <a:lnTo>
                    <a:pt x="964" y="0"/>
                  </a:lnTo>
                  <a:lnTo>
                    <a:pt x="964" y="690"/>
                  </a:lnTo>
                </a:path>
              </a:pathLst>
            </a:custGeom>
            <a:noFill/>
            <a:ln w="25400" cap="flat">
              <a:solidFill>
                <a:srgbClr val="000000"/>
              </a:solidFill>
              <a:prstDash val="dash"/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b="0"/>
            </a:p>
          </p:txBody>
        </p:sp>
        <p:sp>
          <p:nvSpPr>
            <p:cNvPr id="19519" name="Line 141"/>
            <p:cNvSpPr>
              <a:spLocks noChangeShapeType="1"/>
            </p:cNvSpPr>
            <p:nvPr/>
          </p:nvSpPr>
          <p:spPr bwMode="auto">
            <a:xfrm rot="-5400000">
              <a:off x="4497" y="1761"/>
              <a:ext cx="0" cy="69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b="0"/>
            </a:p>
          </p:txBody>
        </p:sp>
        <p:sp>
          <p:nvSpPr>
            <p:cNvPr id="19520" name="Freeform 143"/>
            <p:cNvSpPr>
              <a:spLocks/>
            </p:cNvSpPr>
            <p:nvPr/>
          </p:nvSpPr>
          <p:spPr bwMode="auto">
            <a:xfrm>
              <a:off x="5387" y="321"/>
              <a:ext cx="1086" cy="1806"/>
            </a:xfrm>
            <a:custGeom>
              <a:avLst/>
              <a:gdLst>
                <a:gd name="T0" fmla="*/ 0 w 1086"/>
                <a:gd name="T1" fmla="*/ 0 h 1806"/>
                <a:gd name="T2" fmla="*/ 1086 w 1086"/>
                <a:gd name="T3" fmla="*/ 0 h 1806"/>
                <a:gd name="T4" fmla="*/ 1086 w 1086"/>
                <a:gd name="T5" fmla="*/ 1806 h 1806"/>
                <a:gd name="T6" fmla="*/ 0 w 1086"/>
                <a:gd name="T7" fmla="*/ 1806 h 180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86" h="1806">
                  <a:moveTo>
                    <a:pt x="0" y="0"/>
                  </a:moveTo>
                  <a:lnTo>
                    <a:pt x="1086" y="0"/>
                  </a:lnTo>
                  <a:lnTo>
                    <a:pt x="1086" y="1806"/>
                  </a:lnTo>
                  <a:lnTo>
                    <a:pt x="0" y="1806"/>
                  </a:lnTo>
                </a:path>
              </a:pathLst>
            </a:custGeom>
            <a:noFill/>
            <a:ln w="25400" cap="flat" cmpd="sng">
              <a:solidFill>
                <a:srgbClr val="000000"/>
              </a:solidFill>
              <a:prstDash val="dash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b="0"/>
            </a:p>
          </p:txBody>
        </p:sp>
      </p:grpSp>
      <p:grpSp>
        <p:nvGrpSpPr>
          <p:cNvPr id="42139" name="Group 155"/>
          <p:cNvGrpSpPr>
            <a:grpSpLocks/>
          </p:cNvGrpSpPr>
          <p:nvPr/>
        </p:nvGrpSpPr>
        <p:grpSpPr bwMode="auto">
          <a:xfrm>
            <a:off x="5944389" y="1290595"/>
            <a:ext cx="3983038" cy="2144713"/>
            <a:chOff x="3764" y="924"/>
            <a:chExt cx="2509" cy="1351"/>
          </a:xfrm>
        </p:grpSpPr>
        <p:sp>
          <p:nvSpPr>
            <p:cNvPr id="19515" name="Freeform 143"/>
            <p:cNvSpPr>
              <a:spLocks/>
            </p:cNvSpPr>
            <p:nvPr/>
          </p:nvSpPr>
          <p:spPr bwMode="auto">
            <a:xfrm flipH="1">
              <a:off x="5445" y="924"/>
              <a:ext cx="828" cy="614"/>
            </a:xfrm>
            <a:custGeom>
              <a:avLst/>
              <a:gdLst>
                <a:gd name="T0" fmla="*/ 0 w 964"/>
                <a:gd name="T1" fmla="*/ 0 h 690"/>
                <a:gd name="T2" fmla="*/ 29 w 964"/>
                <a:gd name="T3" fmla="*/ 0 h 690"/>
                <a:gd name="T4" fmla="*/ 29 w 964"/>
                <a:gd name="T5" fmla="*/ 320709562 h 690"/>
                <a:gd name="T6" fmla="*/ 0 60000 65536"/>
                <a:gd name="T7" fmla="*/ 0 60000 65536"/>
                <a:gd name="T8" fmla="*/ 0 60000 65536"/>
                <a:gd name="T9" fmla="*/ 0 w 964"/>
                <a:gd name="T10" fmla="*/ 0 h 690"/>
                <a:gd name="T11" fmla="*/ 964 w 964"/>
                <a:gd name="T12" fmla="*/ 690 h 6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4" h="690">
                  <a:moveTo>
                    <a:pt x="0" y="0"/>
                  </a:moveTo>
                  <a:lnTo>
                    <a:pt x="964" y="0"/>
                  </a:lnTo>
                  <a:lnTo>
                    <a:pt x="964" y="690"/>
                  </a:lnTo>
                </a:path>
              </a:pathLst>
            </a:custGeom>
            <a:noFill/>
            <a:ln w="38100" cap="flat">
              <a:solidFill>
                <a:srgbClr val="008000"/>
              </a:solidFill>
              <a:prstDash val="sysDot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b="0"/>
            </a:p>
          </p:txBody>
        </p:sp>
        <p:sp>
          <p:nvSpPr>
            <p:cNvPr id="19516" name="Line 145"/>
            <p:cNvSpPr>
              <a:spLocks noChangeShapeType="1"/>
            </p:cNvSpPr>
            <p:nvPr/>
          </p:nvSpPr>
          <p:spPr bwMode="auto">
            <a:xfrm rot="5400000" flipH="1">
              <a:off x="5728" y="1657"/>
              <a:ext cx="0" cy="69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sysDot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b="0"/>
            </a:p>
          </p:txBody>
        </p:sp>
        <p:sp>
          <p:nvSpPr>
            <p:cNvPr id="19517" name="Freeform 152"/>
            <p:cNvSpPr>
              <a:spLocks/>
            </p:cNvSpPr>
            <p:nvPr/>
          </p:nvSpPr>
          <p:spPr bwMode="auto">
            <a:xfrm>
              <a:off x="3764" y="928"/>
              <a:ext cx="1656" cy="1347"/>
            </a:xfrm>
            <a:custGeom>
              <a:avLst/>
              <a:gdLst>
                <a:gd name="T0" fmla="*/ 4141 w 1578"/>
                <a:gd name="T1" fmla="*/ 0 h 2062"/>
                <a:gd name="T2" fmla="*/ 0 w 1578"/>
                <a:gd name="T3" fmla="*/ 0 h 2062"/>
                <a:gd name="T4" fmla="*/ 7 w 1578"/>
                <a:gd name="T5" fmla="*/ 2062 h 2062"/>
                <a:gd name="T6" fmla="*/ 2647 w 1578"/>
                <a:gd name="T7" fmla="*/ 2062 h 20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78" h="2062">
                  <a:moveTo>
                    <a:pt x="1578" y="0"/>
                  </a:moveTo>
                  <a:lnTo>
                    <a:pt x="0" y="0"/>
                  </a:lnTo>
                  <a:lnTo>
                    <a:pt x="7" y="2062"/>
                  </a:lnTo>
                  <a:lnTo>
                    <a:pt x="1008" y="2062"/>
                  </a:lnTo>
                </a:path>
              </a:pathLst>
            </a:custGeom>
            <a:noFill/>
            <a:ln w="38100" cap="flat" cmpd="sng">
              <a:solidFill>
                <a:srgbClr val="008000"/>
              </a:solidFill>
              <a:prstDash val="sysDot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b="0"/>
            </a:p>
          </p:txBody>
        </p:sp>
      </p:grpSp>
      <p:sp>
        <p:nvSpPr>
          <p:cNvPr id="123" name="Text Box 76"/>
          <p:cNvSpPr txBox="1">
            <a:spLocks noChangeArrowheads="1"/>
          </p:cNvSpPr>
          <p:nvPr/>
        </p:nvSpPr>
        <p:spPr bwMode="auto">
          <a:xfrm>
            <a:off x="1802323" y="4259170"/>
            <a:ext cx="3221862" cy="536549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V</a:t>
            </a:r>
            <a:r>
              <a:rPr lang="es-ES" sz="2400" b="0" baseline="-25000">
                <a:latin typeface="Arial" panose="020B0604020202020204" pitchFamily="34" charset="0"/>
                <a:sym typeface="Symbol" panose="05050102010706020507" pitchFamily="18" charset="2"/>
              </a:rPr>
              <a:t>AD</a:t>
            </a: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 = 0      </a:t>
            </a:r>
            <a:r>
              <a:rPr lang="es-ES" sz="2400" b="0">
                <a:latin typeface="Arial" panose="020B0604020202020204" pitchFamily="34" charset="0"/>
              </a:rPr>
              <a:t>V</a:t>
            </a:r>
            <a:r>
              <a:rPr lang="es-ES" sz="2400" b="0" baseline="-25000">
                <a:latin typeface="Arial" panose="020B0604020202020204" pitchFamily="34" charset="0"/>
              </a:rPr>
              <a:t>A</a:t>
            </a:r>
            <a:r>
              <a:rPr lang="es-ES" sz="2400" b="0">
                <a:latin typeface="Arial" panose="020B0604020202020204" pitchFamily="34" charset="0"/>
              </a:rPr>
              <a:t> = V</a:t>
            </a:r>
            <a:r>
              <a:rPr lang="es-ES" sz="2400" b="0" baseline="-25000">
                <a:latin typeface="Arial" panose="020B0604020202020204" pitchFamily="34" charset="0"/>
              </a:rPr>
              <a:t>D</a:t>
            </a:r>
            <a:endParaRPr lang="es-ES" sz="2400" b="0">
              <a:latin typeface="Arial" panose="020B0604020202020204" pitchFamily="34" charset="0"/>
            </a:endParaRPr>
          </a:p>
        </p:txBody>
      </p:sp>
      <p:sp>
        <p:nvSpPr>
          <p:cNvPr id="128" name="Text Box 76"/>
          <p:cNvSpPr txBox="1">
            <a:spLocks noChangeArrowheads="1"/>
          </p:cNvSpPr>
          <p:nvPr/>
        </p:nvSpPr>
        <p:spPr bwMode="auto">
          <a:xfrm>
            <a:off x="1815053" y="5750066"/>
            <a:ext cx="3209132" cy="536549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V</a:t>
            </a:r>
            <a:r>
              <a:rPr lang="es-ES" sz="2400" b="0" baseline="-25000">
                <a:latin typeface="Arial" panose="020B0604020202020204" pitchFamily="34" charset="0"/>
                <a:sym typeface="Symbol" panose="05050102010706020507" pitchFamily="18" charset="2"/>
              </a:rPr>
              <a:t>CF</a:t>
            </a:r>
            <a:r>
              <a:rPr lang="es-ES" sz="2400" b="0">
                <a:latin typeface="Arial" panose="020B0604020202020204" pitchFamily="34" charset="0"/>
                <a:sym typeface="Symbol" panose="05050102010706020507" pitchFamily="18" charset="2"/>
              </a:rPr>
              <a:t> = 0      </a:t>
            </a:r>
            <a:r>
              <a:rPr lang="es-ES" sz="2400" b="0">
                <a:latin typeface="Arial" panose="020B0604020202020204" pitchFamily="34" charset="0"/>
              </a:rPr>
              <a:t>V</a:t>
            </a:r>
            <a:r>
              <a:rPr lang="es-ES" sz="2400" b="0" baseline="-25000">
                <a:latin typeface="Arial" panose="020B0604020202020204" pitchFamily="34" charset="0"/>
              </a:rPr>
              <a:t>C</a:t>
            </a:r>
            <a:r>
              <a:rPr lang="es-ES" sz="2400" b="0">
                <a:latin typeface="Arial" panose="020B0604020202020204" pitchFamily="34" charset="0"/>
              </a:rPr>
              <a:t> = V</a:t>
            </a:r>
            <a:r>
              <a:rPr lang="es-ES" sz="2400" b="0" baseline="-25000">
                <a:latin typeface="Arial" panose="020B0604020202020204" pitchFamily="34" charset="0"/>
              </a:rPr>
              <a:t>F</a:t>
            </a:r>
            <a:endParaRPr lang="es-ES" sz="2400" b="0">
              <a:latin typeface="Arial" panose="020B0604020202020204" pitchFamily="34" charset="0"/>
            </a:endParaRPr>
          </a:p>
        </p:txBody>
      </p:sp>
      <p:sp>
        <p:nvSpPr>
          <p:cNvPr id="89" name="Text Box 124"/>
          <p:cNvSpPr txBox="1">
            <a:spLocks noChangeArrowheads="1"/>
          </p:cNvSpPr>
          <p:nvPr/>
        </p:nvSpPr>
        <p:spPr bwMode="auto">
          <a:xfrm>
            <a:off x="1798169" y="928036"/>
            <a:ext cx="2642272" cy="1644545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En cada caso,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debe dar igual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0" dirty="0">
                <a:latin typeface="Arial" panose="020B0604020202020204" pitchFamily="34" charset="0"/>
              </a:rPr>
              <a:t>por todos los caminos posibles</a:t>
            </a:r>
            <a:endParaRPr lang="es-ES" sz="2400" b="0" baseline="-25000" dirty="0">
              <a:latin typeface="Arial" panose="020B0604020202020204" pitchFamily="34" charset="0"/>
            </a:endParaRPr>
          </a:p>
        </p:txBody>
      </p:sp>
      <p:grpSp>
        <p:nvGrpSpPr>
          <p:cNvPr id="96" name="Group 4">
            <a:extLst>
              <a:ext uri="{FF2B5EF4-FFF2-40B4-BE49-F238E27FC236}">
                <a16:creationId xmlns:a16="http://schemas.microsoft.com/office/drawing/2014/main" id="{1DB4759E-82D4-4E78-A5FE-E199432A2B51}"/>
              </a:ext>
            </a:extLst>
          </p:cNvPr>
          <p:cNvGrpSpPr>
            <a:grpSpLocks/>
          </p:cNvGrpSpPr>
          <p:nvPr/>
        </p:nvGrpSpPr>
        <p:grpSpPr bwMode="auto">
          <a:xfrm>
            <a:off x="8006552" y="2659020"/>
            <a:ext cx="317500" cy="376237"/>
            <a:chOff x="8088" y="15201"/>
            <a:chExt cx="340" cy="280"/>
          </a:xfrm>
        </p:grpSpPr>
        <p:sp>
          <p:nvSpPr>
            <p:cNvPr id="97" name="Line 5">
              <a:extLst>
                <a:ext uri="{FF2B5EF4-FFF2-40B4-BE49-F238E27FC236}">
                  <a16:creationId xmlns:a16="http://schemas.microsoft.com/office/drawing/2014/main" id="{A9798489-3B9F-4C76-B726-45DAB2BD7A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58" y="15201"/>
              <a:ext cx="0" cy="18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b="0"/>
            </a:p>
          </p:txBody>
        </p:sp>
        <p:sp>
          <p:nvSpPr>
            <p:cNvPr id="98" name="Line 6">
              <a:extLst>
                <a:ext uri="{FF2B5EF4-FFF2-40B4-BE49-F238E27FC236}">
                  <a16:creationId xmlns:a16="http://schemas.microsoft.com/office/drawing/2014/main" id="{F44AA752-BDBF-4E58-80C7-0F1556C9D0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88" y="15384"/>
              <a:ext cx="34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b="0"/>
            </a:p>
          </p:txBody>
        </p:sp>
        <p:sp>
          <p:nvSpPr>
            <p:cNvPr id="99" name="Line 7">
              <a:extLst>
                <a:ext uri="{FF2B5EF4-FFF2-40B4-BE49-F238E27FC236}">
                  <a16:creationId xmlns:a16="http://schemas.microsoft.com/office/drawing/2014/main" id="{50DD1FB6-7260-441D-8C70-BB21E1065E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45" y="15432"/>
              <a:ext cx="22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b="0"/>
            </a:p>
          </p:txBody>
        </p:sp>
        <p:sp>
          <p:nvSpPr>
            <p:cNvPr id="100" name="Line 8">
              <a:extLst>
                <a:ext uri="{FF2B5EF4-FFF2-40B4-BE49-F238E27FC236}">
                  <a16:creationId xmlns:a16="http://schemas.microsoft.com/office/drawing/2014/main" id="{ACF70678-1320-4323-8FF0-E1B8B992E7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02" y="15481"/>
              <a:ext cx="11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 b="0"/>
            </a:p>
          </p:txBody>
        </p:sp>
      </p:grpSp>
      <p:grpSp>
        <p:nvGrpSpPr>
          <p:cNvPr id="101" name="Grupo 100">
            <a:extLst>
              <a:ext uri="{FF2B5EF4-FFF2-40B4-BE49-F238E27FC236}">
                <a16:creationId xmlns:a16="http://schemas.microsoft.com/office/drawing/2014/main" id="{242112B4-BE8E-4C2B-9B58-2F9809566B56}"/>
              </a:ext>
            </a:extLst>
          </p:cNvPr>
          <p:cNvGrpSpPr/>
          <p:nvPr/>
        </p:nvGrpSpPr>
        <p:grpSpPr>
          <a:xfrm>
            <a:off x="6322673" y="283177"/>
            <a:ext cx="3697287" cy="2811794"/>
            <a:chOff x="1470457" y="269272"/>
            <a:chExt cx="3697287" cy="2811794"/>
          </a:xfrm>
        </p:grpSpPr>
        <p:grpSp>
          <p:nvGrpSpPr>
            <p:cNvPr id="102" name="Group 16">
              <a:extLst>
                <a:ext uri="{FF2B5EF4-FFF2-40B4-BE49-F238E27FC236}">
                  <a16:creationId xmlns:a16="http://schemas.microsoft.com/office/drawing/2014/main" id="{98997E9C-66E9-452B-A0F9-CEDCE0D359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4219" y="709010"/>
              <a:ext cx="112713" cy="482600"/>
              <a:chOff x="4253" y="5198"/>
              <a:chExt cx="121" cy="360"/>
            </a:xfrm>
          </p:grpSpPr>
          <p:sp>
            <p:nvSpPr>
              <p:cNvPr id="141" name="Line 17">
                <a:extLst>
                  <a:ext uri="{FF2B5EF4-FFF2-40B4-BE49-F238E27FC236}">
                    <a16:creationId xmlns:a16="http://schemas.microsoft.com/office/drawing/2014/main" id="{4876F35B-738F-489A-8538-4803E7B2A2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142" name="Line 18">
                <a:extLst>
                  <a:ext uri="{FF2B5EF4-FFF2-40B4-BE49-F238E27FC236}">
                    <a16:creationId xmlns:a16="http://schemas.microsoft.com/office/drawing/2014/main" id="{45FAF811-0B4B-403D-884D-DD4B179DAA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grpSp>
          <p:nvGrpSpPr>
            <p:cNvPr id="103" name="Group 19">
              <a:extLst>
                <a:ext uri="{FF2B5EF4-FFF2-40B4-BE49-F238E27FC236}">
                  <a16:creationId xmlns:a16="http://schemas.microsoft.com/office/drawing/2014/main" id="{FBF60B39-60BF-4004-AAF3-FA36CE4053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16832" y="712185"/>
              <a:ext cx="112712" cy="484187"/>
              <a:chOff x="4253" y="5198"/>
              <a:chExt cx="121" cy="360"/>
            </a:xfrm>
          </p:grpSpPr>
          <p:sp>
            <p:nvSpPr>
              <p:cNvPr id="139" name="Line 20">
                <a:extLst>
                  <a:ext uri="{FF2B5EF4-FFF2-40B4-BE49-F238E27FC236}">
                    <a16:creationId xmlns:a16="http://schemas.microsoft.com/office/drawing/2014/main" id="{FCBCFFA0-14E2-472A-9DFC-4A0BD6146F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140" name="Line 21">
                <a:extLst>
                  <a:ext uri="{FF2B5EF4-FFF2-40B4-BE49-F238E27FC236}">
                    <a16:creationId xmlns:a16="http://schemas.microsoft.com/office/drawing/2014/main" id="{DD313EAF-3482-43EB-9600-FC9E940148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grpSp>
          <p:nvGrpSpPr>
            <p:cNvPr id="104" name="Group 22">
              <a:extLst>
                <a:ext uri="{FF2B5EF4-FFF2-40B4-BE49-F238E27FC236}">
                  <a16:creationId xmlns:a16="http://schemas.microsoft.com/office/drawing/2014/main" id="{F04E36E9-0F09-42C2-850A-91F7F6D58C11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227026" y="1587691"/>
              <a:ext cx="163512" cy="336550"/>
              <a:chOff x="4253" y="5198"/>
              <a:chExt cx="121" cy="360"/>
            </a:xfrm>
          </p:grpSpPr>
          <p:sp>
            <p:nvSpPr>
              <p:cNvPr id="137" name="Line 23">
                <a:extLst>
                  <a:ext uri="{FF2B5EF4-FFF2-40B4-BE49-F238E27FC236}">
                    <a16:creationId xmlns:a16="http://schemas.microsoft.com/office/drawing/2014/main" id="{A2B2EE6D-523D-4F50-B523-E6475DC12C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138" name="Line 24">
                <a:extLst>
                  <a:ext uri="{FF2B5EF4-FFF2-40B4-BE49-F238E27FC236}">
                    <a16:creationId xmlns:a16="http://schemas.microsoft.com/office/drawing/2014/main" id="{58362416-EF21-410F-AE05-7BADD6F7D7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sp>
          <p:nvSpPr>
            <p:cNvPr id="105" name="Line 25">
              <a:extLst>
                <a:ext uri="{FF2B5EF4-FFF2-40B4-BE49-F238E27FC236}">
                  <a16:creationId xmlns:a16="http://schemas.microsoft.com/office/drawing/2014/main" id="{73CE450D-48FF-4786-834A-6A08A1D6C5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0457" y="945547"/>
              <a:ext cx="89217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06" name="Text Box 26">
              <a:extLst>
                <a:ext uri="{FF2B5EF4-FFF2-40B4-BE49-F238E27FC236}">
                  <a16:creationId xmlns:a16="http://schemas.microsoft.com/office/drawing/2014/main" id="{6B76B20F-D928-43A5-9EB7-1D76D4F44E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5594" y="269272"/>
              <a:ext cx="503238" cy="517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 dirty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="0" baseline="-30000" dirty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2</a:t>
              </a:r>
              <a:endParaRPr lang="es-ES" sz="2000" b="0" dirty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7" name="Text Box 27">
              <a:extLst>
                <a:ext uri="{FF2B5EF4-FFF2-40B4-BE49-F238E27FC236}">
                  <a16:creationId xmlns:a16="http://schemas.microsoft.com/office/drawing/2014/main" id="{2170A9D2-E93F-4CC8-AFAD-D173A39C3A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969" y="269272"/>
              <a:ext cx="503238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="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1</a:t>
              </a:r>
              <a:endPara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08" name="Group 28">
              <a:extLst>
                <a:ext uri="{FF2B5EF4-FFF2-40B4-BE49-F238E27FC236}">
                  <a16:creationId xmlns:a16="http://schemas.microsoft.com/office/drawing/2014/main" id="{B5B4FB28-6ADE-4CBD-81D3-1C2B96CB2E37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102532" y="2399697"/>
              <a:ext cx="58737" cy="482600"/>
              <a:chOff x="5153" y="6274"/>
              <a:chExt cx="63" cy="360"/>
            </a:xfrm>
          </p:grpSpPr>
          <p:sp>
            <p:nvSpPr>
              <p:cNvPr id="135" name="Line 29">
                <a:extLst>
                  <a:ext uri="{FF2B5EF4-FFF2-40B4-BE49-F238E27FC236}">
                    <a16:creationId xmlns:a16="http://schemas.microsoft.com/office/drawing/2014/main" id="{27D36E50-9093-40F8-86EE-8C0471313A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16" y="6357"/>
                <a:ext cx="0" cy="193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136" name="Line 30">
                <a:extLst>
                  <a:ext uri="{FF2B5EF4-FFF2-40B4-BE49-F238E27FC236}">
                    <a16:creationId xmlns:a16="http://schemas.microsoft.com/office/drawing/2014/main" id="{C503677D-06D4-40CF-8ABF-13AFEE8DF8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53" y="6274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sp>
          <p:nvSpPr>
            <p:cNvPr id="109" name="Line 31">
              <a:extLst>
                <a:ext uri="{FF2B5EF4-FFF2-40B4-BE49-F238E27FC236}">
                  <a16:creationId xmlns:a16="http://schemas.microsoft.com/office/drawing/2014/main" id="{B1F62053-FA95-41E0-927B-3B7E68715B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61269" y="2640997"/>
              <a:ext cx="100647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10" name="Text Box 32">
              <a:extLst>
                <a:ext uri="{FF2B5EF4-FFF2-40B4-BE49-F238E27FC236}">
                  <a16:creationId xmlns:a16="http://schemas.microsoft.com/office/drawing/2014/main" id="{C22D9441-C54A-4C1C-A3E5-DE0827DE56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0607" y="1488472"/>
              <a:ext cx="503237" cy="495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="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3</a:t>
              </a:r>
              <a:endPara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11" name="Line 33">
              <a:extLst>
                <a:ext uri="{FF2B5EF4-FFF2-40B4-BE49-F238E27FC236}">
                  <a16:creationId xmlns:a16="http://schemas.microsoft.com/office/drawing/2014/main" id="{B531D776-1F7E-41D7-A28A-61D73ACF6D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84869" y="950310"/>
              <a:ext cx="173196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12" name="Line 34">
              <a:extLst>
                <a:ext uri="{FF2B5EF4-FFF2-40B4-BE49-F238E27FC236}">
                  <a16:creationId xmlns:a16="http://schemas.microsoft.com/office/drawing/2014/main" id="{FB1F48D6-7366-42D9-B2BB-FBEFD3907E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6332" y="950310"/>
              <a:ext cx="0" cy="169068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13" name="Line 35">
              <a:extLst>
                <a:ext uri="{FF2B5EF4-FFF2-40B4-BE49-F238E27FC236}">
                  <a16:creationId xmlns:a16="http://schemas.microsoft.com/office/drawing/2014/main" id="{CA4EBBB5-B424-4C80-B856-B4A12CDEAA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8694" y="950310"/>
              <a:ext cx="0" cy="169068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14" name="Line 36">
              <a:extLst>
                <a:ext uri="{FF2B5EF4-FFF2-40B4-BE49-F238E27FC236}">
                  <a16:creationId xmlns:a16="http://schemas.microsoft.com/office/drawing/2014/main" id="{130AC51D-492C-45B9-B7F0-5A71700D10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9544" y="950310"/>
              <a:ext cx="8382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15" name="Line 37">
              <a:extLst>
                <a:ext uri="{FF2B5EF4-FFF2-40B4-BE49-F238E27FC236}">
                  <a16:creationId xmlns:a16="http://schemas.microsoft.com/office/drawing/2014/main" id="{8D8008BB-B0E5-499C-B49B-CABABE6E46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8782" y="950310"/>
              <a:ext cx="0" cy="7239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16" name="Line 38">
              <a:extLst>
                <a:ext uri="{FF2B5EF4-FFF2-40B4-BE49-F238E27FC236}">
                  <a16:creationId xmlns:a16="http://schemas.microsoft.com/office/drawing/2014/main" id="{BD852DD5-2E06-4752-8DEF-3464220563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8782" y="1842485"/>
              <a:ext cx="0" cy="79851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grpSp>
          <p:nvGrpSpPr>
            <p:cNvPr id="117" name="Group 39">
              <a:extLst>
                <a:ext uri="{FF2B5EF4-FFF2-40B4-BE49-F238E27FC236}">
                  <a16:creationId xmlns:a16="http://schemas.microsoft.com/office/drawing/2014/main" id="{E3C3C8DC-4B1D-4997-88A9-C5308D808B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72157" y="2404460"/>
              <a:ext cx="112712" cy="482600"/>
              <a:chOff x="4253" y="5198"/>
              <a:chExt cx="121" cy="360"/>
            </a:xfrm>
          </p:grpSpPr>
          <p:sp>
            <p:nvSpPr>
              <p:cNvPr id="133" name="Line 40">
                <a:extLst>
                  <a:ext uri="{FF2B5EF4-FFF2-40B4-BE49-F238E27FC236}">
                    <a16:creationId xmlns:a16="http://schemas.microsoft.com/office/drawing/2014/main" id="{5009555D-42F7-43C9-9F6C-F3B4E44D7E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4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  <p:sp>
            <p:nvSpPr>
              <p:cNvPr id="134" name="Line 41">
                <a:extLst>
                  <a:ext uri="{FF2B5EF4-FFF2-40B4-BE49-F238E27FC236}">
                    <a16:creationId xmlns:a16="http://schemas.microsoft.com/office/drawing/2014/main" id="{203BEF4A-7478-48CB-89B5-D29C2560CD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3" y="5198"/>
                <a:ext cx="0" cy="3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b="0"/>
              </a:p>
            </p:txBody>
          </p:sp>
        </p:grpSp>
        <p:sp>
          <p:nvSpPr>
            <p:cNvPr id="118" name="Line 42">
              <a:extLst>
                <a:ext uri="{FF2B5EF4-FFF2-40B4-BE49-F238E27FC236}">
                  <a16:creationId xmlns:a16="http://schemas.microsoft.com/office/drawing/2014/main" id="{185B675E-058A-4294-B8FD-70B4264E77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8394" y="2640997"/>
              <a:ext cx="89217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19" name="Text Box 43">
              <a:extLst>
                <a:ext uri="{FF2B5EF4-FFF2-40B4-BE49-F238E27FC236}">
                  <a16:creationId xmlns:a16="http://schemas.microsoft.com/office/drawing/2014/main" id="{03EA2F51-F8F4-4B39-9B5A-3CE9D783BB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5594" y="2009172"/>
              <a:ext cx="503238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  <a:r>
                <a:rPr lang="es-ES" sz="2000" b="0" baseline="-3000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4</a:t>
              </a:r>
              <a:endParaRPr lang="es-ES" sz="2000" b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20" name="Line 44">
              <a:extLst>
                <a:ext uri="{FF2B5EF4-FFF2-40B4-BE49-F238E27FC236}">
                  <a16:creationId xmlns:a16="http://schemas.microsoft.com/office/drawing/2014/main" id="{BCE57863-436F-42B9-9427-63CE60F3CE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2807" y="2640997"/>
              <a:ext cx="161607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b="0"/>
            </a:p>
          </p:txBody>
        </p:sp>
        <p:sp>
          <p:nvSpPr>
            <p:cNvPr id="121" name="Text Box 57">
              <a:extLst>
                <a:ext uri="{FF2B5EF4-FFF2-40B4-BE49-F238E27FC236}">
                  <a16:creationId xmlns:a16="http://schemas.microsoft.com/office/drawing/2014/main" id="{E9BE70CC-B1B2-41DC-9563-0DD855F00C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5557" y="2025047"/>
              <a:ext cx="334962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800" b="0">
                  <a:solidFill>
                    <a:srgbClr val="008000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22" name="Text Box 58">
              <a:extLst>
                <a:ext uri="{FF2B5EF4-FFF2-40B4-BE49-F238E27FC236}">
                  <a16:creationId xmlns:a16="http://schemas.microsoft.com/office/drawing/2014/main" id="{5BC73DC6-0019-4281-8468-3EA25E54A4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8269" y="442310"/>
              <a:ext cx="330838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24" name="Text Box 59">
              <a:extLst>
                <a:ext uri="{FF2B5EF4-FFF2-40B4-BE49-F238E27FC236}">
                  <a16:creationId xmlns:a16="http://schemas.microsoft.com/office/drawing/2014/main" id="{1C41EDB1-389D-465A-833F-C528F725FC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6957" y="440722"/>
              <a:ext cx="266717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125" name="Text Box 60">
              <a:extLst>
                <a:ext uri="{FF2B5EF4-FFF2-40B4-BE49-F238E27FC236}">
                  <a16:creationId xmlns:a16="http://schemas.microsoft.com/office/drawing/2014/main" id="{055094FC-BC6A-4EEA-96A1-45D998D607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5182" y="453422"/>
              <a:ext cx="330838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26" name="Text Box 61">
              <a:extLst>
                <a:ext uri="{FF2B5EF4-FFF2-40B4-BE49-F238E27FC236}">
                  <a16:creationId xmlns:a16="http://schemas.microsoft.com/office/drawing/2014/main" id="{00C2536B-8F1B-43E7-B7EA-979AF7B86C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3869" y="451835"/>
              <a:ext cx="266717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127" name="Text Box 62">
              <a:extLst>
                <a:ext uri="{FF2B5EF4-FFF2-40B4-BE49-F238E27FC236}">
                  <a16:creationId xmlns:a16="http://schemas.microsoft.com/office/drawing/2014/main" id="{2B6752CB-63E8-478A-BB69-150B675E86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8307" y="1277335"/>
              <a:ext cx="330838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29" name="Text Box 63">
              <a:extLst>
                <a:ext uri="{FF2B5EF4-FFF2-40B4-BE49-F238E27FC236}">
                  <a16:creationId xmlns:a16="http://schemas.microsoft.com/office/drawing/2014/main" id="{72FB4E2B-979F-489B-9CAB-93F1C0DC84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0057" y="1653572"/>
              <a:ext cx="266717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131" name="Text Box 64">
              <a:extLst>
                <a:ext uri="{FF2B5EF4-FFF2-40B4-BE49-F238E27FC236}">
                  <a16:creationId xmlns:a16="http://schemas.microsoft.com/office/drawing/2014/main" id="{5BAAEAA4-396C-4FC5-9877-22C03385B1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182" y="2606072"/>
              <a:ext cx="330838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32" name="Text Box 65">
              <a:extLst>
                <a:ext uri="{FF2B5EF4-FFF2-40B4-BE49-F238E27FC236}">
                  <a16:creationId xmlns:a16="http://schemas.microsoft.com/office/drawing/2014/main" id="{56C56F32-3089-452B-A777-CC4615047E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7407" y="2588610"/>
              <a:ext cx="266717" cy="474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</p:grpSp>
      <p:grpSp>
        <p:nvGrpSpPr>
          <p:cNvPr id="143" name="Grupo 142">
            <a:extLst>
              <a:ext uri="{FF2B5EF4-FFF2-40B4-BE49-F238E27FC236}">
                <a16:creationId xmlns:a16="http://schemas.microsoft.com/office/drawing/2014/main" id="{7F874211-B2CD-4E7A-AE4E-25493513F17C}"/>
              </a:ext>
            </a:extLst>
          </p:cNvPr>
          <p:cNvGrpSpPr/>
          <p:nvPr/>
        </p:nvGrpSpPr>
        <p:grpSpPr>
          <a:xfrm>
            <a:off x="6163740" y="468915"/>
            <a:ext cx="3986213" cy="2755900"/>
            <a:chOff x="1498513" y="461774"/>
            <a:chExt cx="3986213" cy="2755900"/>
          </a:xfrm>
        </p:grpSpPr>
        <p:sp>
          <p:nvSpPr>
            <p:cNvPr id="144" name="Oval 38">
              <a:extLst>
                <a:ext uri="{FF2B5EF4-FFF2-40B4-BE49-F238E27FC236}">
                  <a16:creationId xmlns:a16="http://schemas.microsoft.com/office/drawing/2014/main" id="{7F1FBE25-B8A7-429A-9993-A0C5102592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3763" y="869762"/>
              <a:ext cx="144463" cy="144462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5" name="Oval 39">
              <a:extLst>
                <a:ext uri="{FF2B5EF4-FFF2-40B4-BE49-F238E27FC236}">
                  <a16:creationId xmlns:a16="http://schemas.microsoft.com/office/drawing/2014/main" id="{929FC507-5204-4EF8-99A5-4D9B0FFC10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3763" y="2568387"/>
              <a:ext cx="144463" cy="144462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6" name="Oval 40">
              <a:extLst>
                <a:ext uri="{FF2B5EF4-FFF2-40B4-BE49-F238E27FC236}">
                  <a16:creationId xmlns:a16="http://schemas.microsoft.com/office/drawing/2014/main" id="{39819D7F-5F6B-4637-B9FD-27B4D3E07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4626" y="869762"/>
              <a:ext cx="144462" cy="144462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7" name="Oval 41">
              <a:extLst>
                <a:ext uri="{FF2B5EF4-FFF2-40B4-BE49-F238E27FC236}">
                  <a16:creationId xmlns:a16="http://schemas.microsoft.com/office/drawing/2014/main" id="{0396EA00-4F44-45F0-8927-99FCD470B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5013" y="880874"/>
              <a:ext cx="144463" cy="144463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8" name="Oval 42">
              <a:extLst>
                <a:ext uri="{FF2B5EF4-FFF2-40B4-BE49-F238E27FC236}">
                  <a16:creationId xmlns:a16="http://schemas.microsoft.com/office/drawing/2014/main" id="{1D01C300-ADBF-4090-B1F9-CDC0267C5F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151" y="2558862"/>
              <a:ext cx="144462" cy="144462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9" name="Oval 43">
              <a:extLst>
                <a:ext uri="{FF2B5EF4-FFF2-40B4-BE49-F238E27FC236}">
                  <a16:creationId xmlns:a16="http://schemas.microsoft.com/office/drawing/2014/main" id="{5A966ABC-1EBA-437D-B435-C83D39231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5013" y="2558862"/>
              <a:ext cx="144463" cy="144462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b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0" name="Text Box 44">
              <a:extLst>
                <a:ext uri="{FF2B5EF4-FFF2-40B4-BE49-F238E27FC236}">
                  <a16:creationId xmlns:a16="http://schemas.microsoft.com/office/drawing/2014/main" id="{31AC6B7D-2838-477C-AA24-5FEF500E7D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8513" y="461774"/>
              <a:ext cx="334963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51" name="Text Box 45">
              <a:extLst>
                <a:ext uri="{FF2B5EF4-FFF2-40B4-BE49-F238E27FC236}">
                  <a16:creationId xmlns:a16="http://schemas.microsoft.com/office/drawing/2014/main" id="{71857340-BDD5-482A-A715-00B94213FF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9376" y="461774"/>
              <a:ext cx="334962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52" name="Text Box 46">
              <a:extLst>
                <a:ext uri="{FF2B5EF4-FFF2-40B4-BE49-F238E27FC236}">
                  <a16:creationId xmlns:a16="http://schemas.microsoft.com/office/drawing/2014/main" id="{84E4DAFF-DD9A-4740-8D69-133C0D9ECB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9763" y="461774"/>
              <a:ext cx="334963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153" name="Text Box 47">
              <a:extLst>
                <a:ext uri="{FF2B5EF4-FFF2-40B4-BE49-F238E27FC236}">
                  <a16:creationId xmlns:a16="http://schemas.microsoft.com/office/drawing/2014/main" id="{AA90B3D7-5B5F-4130-9045-583829475D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8513" y="2733487"/>
              <a:ext cx="334963" cy="484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154" name="Text Box 48">
              <a:extLst>
                <a:ext uri="{FF2B5EF4-FFF2-40B4-BE49-F238E27FC236}">
                  <a16:creationId xmlns:a16="http://schemas.microsoft.com/office/drawing/2014/main" id="{63AFD7D0-A0DF-4CEE-B396-9CB3A1218D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9351" y="2179449"/>
              <a:ext cx="334962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55" name="Text Box 49">
              <a:extLst>
                <a:ext uri="{FF2B5EF4-FFF2-40B4-BE49-F238E27FC236}">
                  <a16:creationId xmlns:a16="http://schemas.microsoft.com/office/drawing/2014/main" id="{A18CF729-D624-42E0-B7C3-4DA16F997B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9763" y="2733487"/>
              <a:ext cx="334963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b="0"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F</a:t>
              </a:r>
            </a:p>
          </p:txBody>
        </p:sp>
      </p:grpSp>
      <p:sp>
        <p:nvSpPr>
          <p:cNvPr id="93" name="Rectangle 84">
            <a:extLst>
              <a:ext uri="{FF2B5EF4-FFF2-40B4-BE49-F238E27FC236}">
                <a16:creationId xmlns:a16="http://schemas.microsoft.com/office/drawing/2014/main" id="{A71FBA8F-63DB-4117-8DEF-CE5D4A4C4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408" y="3669145"/>
            <a:ext cx="1455235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sz="2400" b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= V</a:t>
            </a:r>
            <a:r>
              <a:rPr lang="es-ES_tradnl" sz="2400" b="0" baseline="-25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_tradnl" sz="2400" b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+ V</a:t>
            </a:r>
            <a:r>
              <a:rPr lang="es-ES_tradnl" sz="2400" b="0" baseline="-25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4</a:t>
            </a:r>
            <a:endParaRPr lang="es-ES" sz="2400" b="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94" name="Rectangle 84">
            <a:extLst>
              <a:ext uri="{FF2B5EF4-FFF2-40B4-BE49-F238E27FC236}">
                <a16:creationId xmlns:a16="http://schemas.microsoft.com/office/drawing/2014/main" id="{3CD36A50-C84C-45E7-AA29-B90CD38BA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8134" y="3662092"/>
            <a:ext cx="1154494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sz="2400" b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= + V</a:t>
            </a:r>
            <a:r>
              <a:rPr lang="es-ES_tradnl" sz="2400" b="0" baseline="-25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s-ES" sz="2400" b="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95" name="Rectangle 84">
            <a:extLst>
              <a:ext uri="{FF2B5EF4-FFF2-40B4-BE49-F238E27FC236}">
                <a16:creationId xmlns:a16="http://schemas.microsoft.com/office/drawing/2014/main" id="{0E613EFB-97B1-46B5-8E27-9898DB4A1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925" y="3658981"/>
            <a:ext cx="1525588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sz="2400" b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=  V</a:t>
            </a:r>
            <a:r>
              <a:rPr lang="es-ES_tradnl" sz="2400" b="0" baseline="-25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_tradnl" sz="2400" b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+ </a:t>
            </a:r>
            <a:endParaRPr lang="es-ES" sz="2400" b="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56" name="Rectangle 84">
            <a:extLst>
              <a:ext uri="{FF2B5EF4-FFF2-40B4-BE49-F238E27FC236}">
                <a16:creationId xmlns:a16="http://schemas.microsoft.com/office/drawing/2014/main" id="{F7E95A0A-8695-4FC9-9EE6-757FC1192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9736" y="3665305"/>
            <a:ext cx="1401489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sz="2400" b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= 3,75 V</a:t>
            </a:r>
            <a:endParaRPr lang="es-ES" sz="2400" b="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57" name="Text Box 124">
            <a:extLst>
              <a:ext uri="{FF2B5EF4-FFF2-40B4-BE49-F238E27FC236}">
                <a16:creationId xmlns:a16="http://schemas.microsoft.com/office/drawing/2014/main" id="{6E885EFC-0554-4DE2-A68B-CF17A84DE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902" y="4076846"/>
            <a:ext cx="3433649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s-ES" sz="2400" b="0">
                <a:solidFill>
                  <a:srgbClr val="FF0000"/>
                </a:solidFill>
                <a:latin typeface="Arial" panose="020B0604020202020204" pitchFamily="34" charset="0"/>
              </a:rPr>
              <a:t>eléctricamente A y D son 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</a:rPr>
              <a:t>el mismo punto)</a:t>
            </a:r>
          </a:p>
        </p:txBody>
      </p:sp>
      <p:sp>
        <p:nvSpPr>
          <p:cNvPr id="158" name="Text Box 80">
            <a:extLst>
              <a:ext uri="{FF2B5EF4-FFF2-40B4-BE49-F238E27FC236}">
                <a16:creationId xmlns:a16="http://schemas.microsoft.com/office/drawing/2014/main" id="{DAE3E683-9ACF-439F-A02B-897A8E957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5643" y="4955314"/>
            <a:ext cx="1577974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=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s-ES" sz="2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9" name="Text Box 80">
            <a:extLst>
              <a:ext uri="{FF2B5EF4-FFF2-40B4-BE49-F238E27FC236}">
                <a16:creationId xmlns:a16="http://schemas.microsoft.com/office/drawing/2014/main" id="{463F7D38-1DCD-44F0-A8C4-D658D6F8D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975" y="4954314"/>
            <a:ext cx="205085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  V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endParaRPr lang="es-ES" sz="2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0" name="Text Box 80">
            <a:extLst>
              <a:ext uri="{FF2B5EF4-FFF2-40B4-BE49-F238E27FC236}">
                <a16:creationId xmlns:a16="http://schemas.microsoft.com/office/drawing/2014/main" id="{AC089E4E-B5DC-4A45-8CB9-3A87D35C21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7579" y="4954315"/>
            <a:ext cx="1452940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0,625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</a:p>
        </p:txBody>
      </p:sp>
      <p:sp>
        <p:nvSpPr>
          <p:cNvPr id="161" name="Text Box 80">
            <a:extLst>
              <a:ext uri="{FF2B5EF4-FFF2-40B4-BE49-F238E27FC236}">
                <a16:creationId xmlns:a16="http://schemas.microsoft.com/office/drawing/2014/main" id="{3F184D18-5246-4FA5-9BBA-C1BF36B3D2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8589" y="4952116"/>
            <a:ext cx="975245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=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b="0" dirty="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s-ES" sz="2400" b="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endParaRPr lang="es-ES" sz="2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2" name="Rectangle 64">
            <a:extLst>
              <a:ext uri="{FF2B5EF4-FFF2-40B4-BE49-F238E27FC236}">
                <a16:creationId xmlns:a16="http://schemas.microsoft.com/office/drawing/2014/main" id="{0E81D9F5-3900-4689-AEAA-C92BB0B0B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0765" y="6448166"/>
            <a:ext cx="108408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sz="2400" b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= + </a:t>
            </a:r>
            <a:endParaRPr lang="es-ES" sz="2400" b="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63" name="Rectangle 64">
            <a:extLst>
              <a:ext uri="{FF2B5EF4-FFF2-40B4-BE49-F238E27FC236}">
                <a16:creationId xmlns:a16="http://schemas.microsoft.com/office/drawing/2014/main" id="{E752381F-2183-42AA-B172-6342AF439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3149" y="6453059"/>
            <a:ext cx="1471073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sz="2400" b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= V</a:t>
            </a:r>
            <a:r>
              <a:rPr lang="es-ES_tradnl" sz="2400" b="0" baseline="-25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_tradnl" sz="2400" b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+ V</a:t>
            </a:r>
            <a:r>
              <a:rPr lang="es-ES_tradnl" sz="2400" b="0" baseline="-25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s-ES" sz="2400" b="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64" name="Rectangle 64">
            <a:extLst>
              <a:ext uri="{FF2B5EF4-FFF2-40B4-BE49-F238E27FC236}">
                <a16:creationId xmlns:a16="http://schemas.microsoft.com/office/drawing/2014/main" id="{7A0FA3EE-5899-478A-A5D7-3BB468408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35" y="6432188"/>
            <a:ext cx="2201355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sz="2400" b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= V</a:t>
            </a:r>
            <a:r>
              <a:rPr lang="es-ES_tradnl" sz="2400" b="0" baseline="-25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_tradnl" sz="2400" b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+ V</a:t>
            </a:r>
            <a:r>
              <a:rPr lang="es-ES_tradnl" sz="2400" b="0" baseline="-25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_tradnl" sz="2400" b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+ V</a:t>
            </a:r>
            <a:r>
              <a:rPr lang="es-ES_tradnl" sz="2400" b="0" baseline="-25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4</a:t>
            </a:r>
            <a:endParaRPr lang="es-ES" sz="2400" b="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65" name="Rectangle 64">
            <a:extLst>
              <a:ext uri="{FF2B5EF4-FFF2-40B4-BE49-F238E27FC236}">
                <a16:creationId xmlns:a16="http://schemas.microsoft.com/office/drawing/2014/main" id="{D091130B-A389-4DAD-960D-CDCA02976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1000" y="6425231"/>
            <a:ext cx="1111281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sz="2400" b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s-ES_tradnl" sz="2400" b="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_tradnl" sz="2400" b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10 V</a:t>
            </a:r>
            <a:endParaRPr lang="es-ES" sz="2400" b="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Text Box 124">
            <a:extLst>
              <a:ext uri="{FF2B5EF4-FFF2-40B4-BE49-F238E27FC236}">
                <a16:creationId xmlns:a16="http://schemas.microsoft.com/office/drawing/2014/main" id="{C99FE976-4326-E857-9246-88AC56B50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2475" y="5532035"/>
            <a:ext cx="3433649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s-ES" sz="2400" b="0">
                <a:solidFill>
                  <a:srgbClr val="FF0000"/>
                </a:solidFill>
                <a:latin typeface="Arial" panose="020B0604020202020204" pitchFamily="34" charset="0"/>
              </a:rPr>
              <a:t>eléctricamente C y F son </a:t>
            </a:r>
            <a:r>
              <a:rPr lang="es-ES" sz="2400" b="0" dirty="0">
                <a:solidFill>
                  <a:srgbClr val="FF0000"/>
                </a:solidFill>
                <a:latin typeface="Arial" panose="020B0604020202020204" pitchFamily="34" charset="0"/>
              </a:rPr>
              <a:t>el mismo punto)</a:t>
            </a:r>
          </a:p>
        </p:txBody>
      </p:sp>
    </p:spTree>
    <p:extLst>
      <p:ext uri="{BB962C8B-B14F-4D97-AF65-F5344CB8AC3E}">
        <p14:creationId xmlns:p14="http://schemas.microsoft.com/office/powerpoint/2010/main" val="913682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5" dur="500"/>
                                        <p:tgtEl>
                                          <p:spTgt spid="42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9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7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3" dur="500"/>
                                        <p:tgtEl>
                                          <p:spTgt spid="42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8" grpId="0"/>
      <p:bldP spid="17515" grpId="0"/>
      <p:bldP spid="17512" grpId="0"/>
      <p:bldP spid="123" grpId="0" animBg="1"/>
      <p:bldP spid="128" grpId="0" animBg="1"/>
      <p:bldP spid="89" grpId="0" animBg="1"/>
      <p:bldP spid="93" grpId="0"/>
      <p:bldP spid="94" grpId="0"/>
      <p:bldP spid="95" grpId="0"/>
      <p:bldP spid="156" grpId="0"/>
      <p:bldP spid="157" grpId="0"/>
      <p:bldP spid="158" grpId="0"/>
      <p:bldP spid="159" grpId="0"/>
      <p:bldP spid="160" grpId="0"/>
      <p:bldP spid="161" grpId="0"/>
      <p:bldP spid="162" grpId="0"/>
      <p:bldP spid="163" grpId="0"/>
      <p:bldP spid="164" grpId="0"/>
      <p:bldP spid="165" grpId="0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13"/>
          <p:cNvSpPr>
            <a:spLocks noChangeArrowheads="1"/>
          </p:cNvSpPr>
          <p:nvPr/>
        </p:nvSpPr>
        <p:spPr bwMode="auto">
          <a:xfrm>
            <a:off x="1967199" y="1207089"/>
            <a:ext cx="7637339" cy="31155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6" name="Group 41"/>
          <p:cNvGrpSpPr>
            <a:grpSpLocks/>
          </p:cNvGrpSpPr>
          <p:nvPr/>
        </p:nvGrpSpPr>
        <p:grpSpPr bwMode="auto">
          <a:xfrm>
            <a:off x="3730429" y="2997522"/>
            <a:ext cx="2203451" cy="530225"/>
            <a:chOff x="1802" y="1316"/>
            <a:chExt cx="1388" cy="334"/>
          </a:xfrm>
        </p:grpSpPr>
        <p:sp>
          <p:nvSpPr>
            <p:cNvPr id="21532" name="Line 207"/>
            <p:cNvSpPr>
              <a:spLocks noChangeShapeType="1"/>
            </p:cNvSpPr>
            <p:nvPr/>
          </p:nvSpPr>
          <p:spPr bwMode="auto">
            <a:xfrm flipV="1">
              <a:off x="1802" y="1485"/>
              <a:ext cx="13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arrow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  <p:sp>
          <p:nvSpPr>
            <p:cNvPr id="21531" name="Text Box 170"/>
            <p:cNvSpPr txBox="1">
              <a:spLocks noChangeArrowheads="1"/>
            </p:cNvSpPr>
            <p:nvPr/>
          </p:nvSpPr>
          <p:spPr bwMode="auto">
            <a:xfrm>
              <a:off x="2408" y="1316"/>
              <a:ext cx="231" cy="3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L</a:t>
              </a:r>
            </a:p>
          </p:txBody>
        </p:sp>
      </p:grpSp>
      <p:sp>
        <p:nvSpPr>
          <p:cNvPr id="21507" name="Rectangle 2"/>
          <p:cNvSpPr>
            <a:spLocks noChangeArrowheads="1"/>
          </p:cNvSpPr>
          <p:nvPr/>
        </p:nvSpPr>
        <p:spPr bwMode="auto">
          <a:xfrm>
            <a:off x="1269076" y="386880"/>
            <a:ext cx="8653462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569" tIns="49785" rIns="99569" bIns="49785" anchor="ctr"/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3.5.1 DIPOLOS ELÉCTRICOS</a:t>
            </a:r>
          </a:p>
        </p:txBody>
      </p:sp>
      <p:sp>
        <p:nvSpPr>
          <p:cNvPr id="1043" name="Line 169"/>
          <p:cNvSpPr>
            <a:spLocks noChangeShapeType="1"/>
          </p:cNvSpPr>
          <p:nvPr/>
        </p:nvSpPr>
        <p:spPr bwMode="auto">
          <a:xfrm>
            <a:off x="2424843" y="2478191"/>
            <a:ext cx="4836571" cy="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82800" rIns="90000" bIns="82800"/>
          <a:lstStyle/>
          <a:p>
            <a:endParaRPr lang="en-GB"/>
          </a:p>
        </p:txBody>
      </p:sp>
      <p:pic>
        <p:nvPicPr>
          <p:cNvPr id="1045" name="Picture 165" descr="Image1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842" y="2194028"/>
            <a:ext cx="571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6" name="Picture 166" descr="Image2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730" y="2209903"/>
            <a:ext cx="5842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7" name="Text Box 167"/>
          <p:cNvSpPr txBox="1">
            <a:spLocks noChangeArrowheads="1"/>
          </p:cNvSpPr>
          <p:nvPr/>
        </p:nvSpPr>
        <p:spPr bwMode="auto">
          <a:xfrm>
            <a:off x="5981985" y="2480299"/>
            <a:ext cx="528638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+q</a:t>
            </a:r>
          </a:p>
        </p:txBody>
      </p:sp>
      <p:sp>
        <p:nvSpPr>
          <p:cNvPr id="1048" name="Text Box 168"/>
          <p:cNvSpPr txBox="1">
            <a:spLocks noChangeArrowheads="1"/>
          </p:cNvSpPr>
          <p:nvPr/>
        </p:nvSpPr>
        <p:spPr bwMode="auto">
          <a:xfrm>
            <a:off x="2992055" y="2485839"/>
            <a:ext cx="51752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</a:p>
        </p:txBody>
      </p:sp>
      <p:sp>
        <p:nvSpPr>
          <p:cNvPr id="1049" name="Text Box 204"/>
          <p:cNvSpPr txBox="1">
            <a:spLocks noChangeArrowheads="1"/>
          </p:cNvSpPr>
          <p:nvPr/>
        </p:nvSpPr>
        <p:spPr bwMode="auto">
          <a:xfrm>
            <a:off x="5719570" y="1679157"/>
            <a:ext cx="1085850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PUNTUAL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0" name="Text Box 205"/>
          <p:cNvSpPr txBox="1">
            <a:spLocks noChangeArrowheads="1"/>
          </p:cNvSpPr>
          <p:nvPr/>
        </p:nvSpPr>
        <p:spPr bwMode="auto">
          <a:xfrm>
            <a:off x="3542963" y="1679157"/>
            <a:ext cx="1085850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PUNTUAL</a:t>
            </a:r>
          </a:p>
        </p:txBody>
      </p:sp>
      <p:sp>
        <p:nvSpPr>
          <p:cNvPr id="1052" name="Text Box 211"/>
          <p:cNvSpPr txBox="1">
            <a:spLocks noChangeArrowheads="1"/>
          </p:cNvSpPr>
          <p:nvPr/>
        </p:nvSpPr>
        <p:spPr bwMode="auto">
          <a:xfrm>
            <a:off x="7574280" y="1981674"/>
            <a:ext cx="1484312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EJE DEL DIPOLO </a:t>
            </a:r>
          </a:p>
        </p:txBody>
      </p:sp>
      <p:sp>
        <p:nvSpPr>
          <p:cNvPr id="21523" name="Text Box 189"/>
          <p:cNvSpPr txBox="1">
            <a:spLocks noChangeArrowheads="1"/>
          </p:cNvSpPr>
          <p:nvPr/>
        </p:nvSpPr>
        <p:spPr bwMode="auto">
          <a:xfrm>
            <a:off x="1967199" y="4618600"/>
            <a:ext cx="7637339" cy="164454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A </a:t>
            </a:r>
            <a:r>
              <a:rPr lang="es-ES" sz="2400">
                <a:latin typeface="Arial" panose="020B0604020202020204" pitchFamily="34" charset="0"/>
              </a:rPr>
              <a:t>mayor valor de q y L, </a:t>
            </a:r>
            <a:r>
              <a:rPr lang="es-ES" sz="2400" dirty="0">
                <a:latin typeface="Arial" panose="020B0604020202020204" pitchFamily="34" charset="0"/>
              </a:rPr>
              <a:t>mayores son el </a:t>
            </a:r>
            <a:r>
              <a:rPr lang="es-ES" sz="2400" b="1" dirty="0">
                <a:latin typeface="Arial" panose="020B0604020202020204" pitchFamily="34" charset="0"/>
              </a:rPr>
              <a:t>E</a:t>
            </a:r>
            <a:r>
              <a:rPr lang="es-ES" sz="2400" dirty="0">
                <a:latin typeface="Arial" panose="020B0604020202020204" pitchFamily="34" charset="0"/>
              </a:rPr>
              <a:t> y V debidos al dipolo en cada punto</a:t>
            </a:r>
            <a:r>
              <a:rPr lang="es-ES" sz="2400">
                <a:latin typeface="Arial" panose="020B0604020202020204" pitchFamily="34" charset="0"/>
              </a:rPr>
              <a:t>, porque, respectivamente,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las contribuciones de las cargas son </a:t>
            </a:r>
            <a:r>
              <a:rPr lang="es-ES" sz="2400" dirty="0">
                <a:latin typeface="Arial" panose="020B0604020202020204" pitchFamily="34" charset="0"/>
              </a:rPr>
              <a:t>más </a:t>
            </a:r>
            <a:r>
              <a:rPr lang="es-ES" sz="2400">
                <a:latin typeface="Arial" panose="020B0604020202020204" pitchFamily="34" charset="0"/>
              </a:rPr>
              <a:t>grandes,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y </a:t>
            </a:r>
            <a:r>
              <a:rPr lang="es-ES" sz="2400" dirty="0">
                <a:latin typeface="Arial" panose="020B0604020202020204" pitchFamily="34" charset="0"/>
              </a:rPr>
              <a:t>se </a:t>
            </a:r>
            <a:r>
              <a:rPr lang="es-ES" sz="2400">
                <a:latin typeface="Arial" panose="020B0604020202020204" pitchFamily="34" charset="0"/>
              </a:rPr>
              <a:t>cancelan menos, al </a:t>
            </a:r>
            <a:r>
              <a:rPr lang="es-ES" sz="2400" dirty="0">
                <a:latin typeface="Arial" panose="020B0604020202020204" pitchFamily="34" charset="0"/>
              </a:rPr>
              <a:t>estar más alejadas </a:t>
            </a:r>
            <a:r>
              <a:rPr lang="es-ES" sz="2400">
                <a:latin typeface="Arial" panose="020B0604020202020204" pitchFamily="34" charset="0"/>
              </a:rPr>
              <a:t>entre sí</a:t>
            </a:r>
            <a:endParaRPr lang="es-E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1" grpId="0" animBg="1"/>
      <p:bldP spid="1043" grpId="0" animBg="1"/>
      <p:bldP spid="1047" grpId="0"/>
      <p:bldP spid="1048" grpId="0"/>
      <p:bldP spid="1049" grpId="0"/>
      <p:bldP spid="1050" grpId="0"/>
      <p:bldP spid="1052" grpId="0"/>
      <p:bldP spid="215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852" name="Text Box 188"/>
          <p:cNvSpPr txBox="1">
            <a:spLocks noChangeArrowheads="1"/>
          </p:cNvSpPr>
          <p:nvPr/>
        </p:nvSpPr>
        <p:spPr bwMode="auto">
          <a:xfrm>
            <a:off x="5757568" y="2248061"/>
            <a:ext cx="4330457" cy="8320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Decaen con la distancia más rápido que los de 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puntual</a:t>
            </a:r>
          </a:p>
        </p:txBody>
      </p:sp>
      <p:sp>
        <p:nvSpPr>
          <p:cNvPr id="1056" name="Text Box 221"/>
          <p:cNvSpPr txBox="1">
            <a:spLocks noChangeArrowheads="1"/>
          </p:cNvSpPr>
          <p:nvPr/>
        </p:nvSpPr>
        <p:spPr bwMode="auto">
          <a:xfrm>
            <a:off x="6070042" y="3174832"/>
            <a:ext cx="4017984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u="sng">
                <a:solidFill>
                  <a:srgbClr val="FF0000"/>
                </a:solidFill>
                <a:latin typeface="Arial" panose="020B0604020202020204" pitchFamily="34" charset="0"/>
              </a:rPr>
              <a:t>Lógico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: Lejos el dipolo es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  como una Q</a:t>
            </a:r>
            <a:r>
              <a:rPr lang="es-ES" sz="2400" baseline="-25000">
                <a:solidFill>
                  <a:srgbClr val="FF0000"/>
                </a:solidFill>
                <a:latin typeface="Arial" panose="020B0604020202020204" pitchFamily="34" charset="0"/>
              </a:rPr>
              <a:t>PUNTUAL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 nula</a:t>
            </a:r>
          </a:p>
        </p:txBody>
      </p:sp>
      <p:grpSp>
        <p:nvGrpSpPr>
          <p:cNvPr id="75829" name="Group 53"/>
          <p:cNvGrpSpPr>
            <a:grpSpLocks/>
          </p:cNvGrpSpPr>
          <p:nvPr/>
        </p:nvGrpSpPr>
        <p:grpSpPr bwMode="auto">
          <a:xfrm>
            <a:off x="1733619" y="2114615"/>
            <a:ext cx="3171825" cy="1093788"/>
            <a:chOff x="1353" y="3437"/>
            <a:chExt cx="1998" cy="689"/>
          </a:xfrm>
        </p:grpSpPr>
        <p:graphicFrame>
          <p:nvGraphicFramePr>
            <p:cNvPr id="23563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0468775"/>
                </p:ext>
              </p:extLst>
            </p:nvPr>
          </p:nvGraphicFramePr>
          <p:xfrm>
            <a:off x="1353" y="3437"/>
            <a:ext cx="999" cy="6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571252" imgH="393529" progId="Equation.3">
                    <p:embed/>
                  </p:oleObj>
                </mc:Choice>
                <mc:Fallback>
                  <p:oleObj name="Ecuación" r:id="rId3" imgW="571252" imgH="393529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3" y="3437"/>
                          <a:ext cx="999" cy="6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4" name="Object 5"/>
            <p:cNvGraphicFramePr>
              <a:graphicFrameLocks noChangeAspect="1"/>
            </p:cNvGraphicFramePr>
            <p:nvPr/>
          </p:nvGraphicFramePr>
          <p:xfrm>
            <a:off x="2504" y="3468"/>
            <a:ext cx="847" cy="6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533169" imgH="393529" progId="Equation.3">
                    <p:embed/>
                  </p:oleObj>
                </mc:Choice>
                <mc:Fallback>
                  <p:oleObj name="Ecuación" r:id="rId5" imgW="533169" imgH="393529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4" y="3468"/>
                          <a:ext cx="847" cy="6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" name="Text Box 65"/>
          <p:cNvSpPr txBox="1">
            <a:spLocks noChangeArrowheads="1"/>
          </p:cNvSpPr>
          <p:nvPr/>
        </p:nvSpPr>
        <p:spPr bwMode="auto">
          <a:xfrm>
            <a:off x="1552359" y="4343382"/>
            <a:ext cx="8439351" cy="243410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288000" tIns="108000" rIns="28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Una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molécula</a:t>
            </a:r>
            <a:r>
              <a:rPr lang="es-ES" sz="2400" dirty="0">
                <a:latin typeface="Arial" panose="020B0604020202020204" pitchFamily="34" charset="0"/>
              </a:rPr>
              <a:t> es equivalente a un dipolo eléctrico con cargas puntuales iguales a la Q</a:t>
            </a:r>
            <a:r>
              <a:rPr lang="es-ES" sz="2400" baseline="30000" dirty="0">
                <a:latin typeface="Arial" panose="020B0604020202020204" pitchFamily="34" charset="0"/>
              </a:rPr>
              <a:t>+</a:t>
            </a:r>
            <a:r>
              <a:rPr lang="es-ES" sz="2400" dirty="0">
                <a:latin typeface="Arial" panose="020B0604020202020204" pitchFamily="34" charset="0"/>
              </a:rPr>
              <a:t> y Q</a:t>
            </a:r>
            <a:r>
              <a:rPr lang="es-ES" sz="2400" baseline="30000" dirty="0">
                <a:latin typeface="Arial" panose="020B0604020202020204" pitchFamily="34" charset="0"/>
              </a:rPr>
              <a:t>-</a:t>
            </a:r>
            <a:r>
              <a:rPr lang="es-ES" sz="2400" dirty="0">
                <a:latin typeface="Arial" panose="020B0604020202020204" pitchFamily="34" charset="0"/>
              </a:rPr>
              <a:t> de la molécula, unidas por un “palito” (que da cuenta de </a:t>
            </a:r>
            <a:r>
              <a:rPr lang="es-ES" sz="2400">
                <a:latin typeface="Arial" panose="020B0604020202020204" pitchFamily="34" charset="0"/>
              </a:rPr>
              <a:t>lo que no se ha considerado </a:t>
            </a:r>
            <a:r>
              <a:rPr lang="es-ES" sz="2400" dirty="0">
                <a:latin typeface="Arial" panose="020B0604020202020204" pitchFamily="34" charset="0"/>
              </a:rPr>
              <a:t>de la molécula), y situadas a una distancia y en unas </a:t>
            </a:r>
            <a:r>
              <a:rPr lang="es-ES" sz="2400">
                <a:latin typeface="Arial" panose="020B0604020202020204" pitchFamily="34" charset="0"/>
              </a:rPr>
              <a:t>posiciones (posiciones promedio)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</a:rPr>
              <a:t>acordes </a:t>
            </a:r>
            <a:r>
              <a:rPr lang="es-ES" sz="2400" dirty="0">
                <a:latin typeface="Arial" panose="020B0604020202020204" pitchFamily="34" charset="0"/>
              </a:rPr>
              <a:t>al campo eléctrico (de tipo dipolar) que genera </a:t>
            </a:r>
            <a:r>
              <a:rPr lang="es-ES" sz="2400">
                <a:latin typeface="Arial" panose="020B0604020202020204" pitchFamily="34" charset="0"/>
              </a:rPr>
              <a:t>la molécula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 Box 187">
            <a:extLst>
              <a:ext uri="{FF2B5EF4-FFF2-40B4-BE49-F238E27FC236}">
                <a16:creationId xmlns:a16="http://schemas.microsoft.com/office/drawing/2014/main" id="{08AA6810-9194-AF96-3B6F-D390E763B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0455" y="658577"/>
            <a:ext cx="1419679" cy="905881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Si r &gt;&gt; L (lejos)</a:t>
            </a:r>
          </a:p>
        </p:txBody>
      </p:sp>
      <p:sp>
        <p:nvSpPr>
          <p:cNvPr id="3" name="Text Box 54">
            <a:extLst>
              <a:ext uri="{FF2B5EF4-FFF2-40B4-BE49-F238E27FC236}">
                <a16:creationId xmlns:a16="http://schemas.microsoft.com/office/drawing/2014/main" id="{70E12208-A859-490E-8992-3DCFD8ABF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1254" y="750544"/>
            <a:ext cx="6957384" cy="819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ts val="2400"/>
              </a:lnSpc>
            </a:pPr>
            <a:r>
              <a:rPr lang="es-ES" sz="2400">
                <a:solidFill>
                  <a:srgbClr val="FF0000"/>
                </a:solidFill>
              </a:rPr>
              <a:t>Lejos es algo </a:t>
            </a:r>
            <a:r>
              <a:rPr lang="es-ES" sz="2400" u="sng">
                <a:solidFill>
                  <a:srgbClr val="FF0000"/>
                </a:solidFill>
              </a:rPr>
              <a:t>relativo</a:t>
            </a:r>
            <a:r>
              <a:rPr lang="es-ES" sz="2400">
                <a:solidFill>
                  <a:srgbClr val="FF0000"/>
                </a:solidFill>
              </a:rPr>
              <a:t>: si 1 km es lejos para 1 m, </a:t>
            </a:r>
          </a:p>
          <a:p>
            <a:pPr eaLnBrk="1" hangingPunct="1">
              <a:lnSpc>
                <a:spcPts val="2400"/>
              </a:lnSpc>
            </a:pPr>
            <a:r>
              <a:rPr lang="es-ES" sz="2400">
                <a:solidFill>
                  <a:srgbClr val="FF0000"/>
                </a:solidFill>
              </a:rPr>
              <a:t>                                        1 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m es lejos para 1 nm</a:t>
            </a:r>
            <a:endParaRPr lang="es-ES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5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41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852" grpId="0" animBg="1"/>
      <p:bldP spid="1056" grpId="0"/>
      <p:bldP spid="35" grpId="0" animBg="1"/>
      <p:bldP spid="2" grpId="0" animBg="1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Line 3"/>
          <p:cNvSpPr>
            <a:spLocks noChangeShapeType="1"/>
          </p:cNvSpPr>
          <p:nvPr/>
        </p:nvSpPr>
        <p:spPr bwMode="auto">
          <a:xfrm>
            <a:off x="1566918" y="2887229"/>
            <a:ext cx="3633788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dash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82800" rIns="90000" bIns="82800"/>
          <a:lstStyle/>
          <a:p>
            <a:endParaRPr lang="en-GB"/>
          </a:p>
        </p:txBody>
      </p:sp>
      <p:pic>
        <p:nvPicPr>
          <p:cNvPr id="25603" name="Picture 4" descr="Image1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6268" y="2598304"/>
            <a:ext cx="571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Picture 5" descr="Image2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7331" y="2598304"/>
            <a:ext cx="5842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605" name="Group 90"/>
          <p:cNvGrpSpPr>
            <a:grpSpLocks/>
          </p:cNvGrpSpPr>
          <p:nvPr/>
        </p:nvGrpSpPr>
        <p:grpSpPr bwMode="auto">
          <a:xfrm>
            <a:off x="1601843" y="1409267"/>
            <a:ext cx="368300" cy="769937"/>
            <a:chOff x="1066" y="1251"/>
            <a:chExt cx="232" cy="485"/>
          </a:xfrm>
        </p:grpSpPr>
        <p:sp>
          <p:nvSpPr>
            <p:cNvPr id="25645" name="Line 21"/>
            <p:cNvSpPr>
              <a:spLocks noChangeShapeType="1"/>
            </p:cNvSpPr>
            <p:nvPr/>
          </p:nvSpPr>
          <p:spPr bwMode="auto">
            <a:xfrm rot="1800000" flipH="1" flipV="1">
              <a:off x="1298" y="1313"/>
              <a:ext cx="0" cy="42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  <p:sp>
          <p:nvSpPr>
            <p:cNvPr id="25646" name="Text Box 22"/>
            <p:cNvSpPr txBox="1">
              <a:spLocks noChangeArrowheads="1"/>
            </p:cNvSpPr>
            <p:nvPr/>
          </p:nvSpPr>
          <p:spPr bwMode="auto">
            <a:xfrm>
              <a:off x="1066" y="1251"/>
              <a:ext cx="22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25647" name="Line 23"/>
            <p:cNvSpPr>
              <a:spLocks noChangeShapeType="1"/>
            </p:cNvSpPr>
            <p:nvPr/>
          </p:nvSpPr>
          <p:spPr bwMode="auto">
            <a:xfrm>
              <a:off x="1118" y="1279"/>
              <a:ext cx="13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</p:grpSp>
      <p:grpSp>
        <p:nvGrpSpPr>
          <p:cNvPr id="3" name="Group 88"/>
          <p:cNvGrpSpPr>
            <a:grpSpLocks/>
          </p:cNvGrpSpPr>
          <p:nvPr/>
        </p:nvGrpSpPr>
        <p:grpSpPr bwMode="auto">
          <a:xfrm>
            <a:off x="4759381" y="1021917"/>
            <a:ext cx="793750" cy="1625600"/>
            <a:chOff x="3055" y="1007"/>
            <a:chExt cx="500" cy="1024"/>
          </a:xfrm>
        </p:grpSpPr>
        <p:grpSp>
          <p:nvGrpSpPr>
            <p:cNvPr id="25641" name="Group 87"/>
            <p:cNvGrpSpPr>
              <a:grpSpLocks/>
            </p:cNvGrpSpPr>
            <p:nvPr/>
          </p:nvGrpSpPr>
          <p:grpSpPr bwMode="auto">
            <a:xfrm>
              <a:off x="3055" y="1007"/>
              <a:ext cx="500" cy="1024"/>
              <a:chOff x="3055" y="1007"/>
              <a:chExt cx="500" cy="1024"/>
            </a:xfrm>
          </p:grpSpPr>
          <p:sp>
            <p:nvSpPr>
              <p:cNvPr id="25643" name="Line 25"/>
              <p:cNvSpPr>
                <a:spLocks noChangeShapeType="1"/>
              </p:cNvSpPr>
              <p:nvPr/>
            </p:nvSpPr>
            <p:spPr bwMode="auto">
              <a:xfrm rot="1800000" flipH="1" flipV="1">
                <a:off x="3055" y="1180"/>
                <a:ext cx="3" cy="851"/>
              </a:xfrm>
              <a:prstGeom prst="line">
                <a:avLst/>
              </a:prstGeom>
              <a:noFill/>
              <a:ln w="50800">
                <a:solidFill>
                  <a:srgbClr val="00800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 sz="2400"/>
              </a:p>
            </p:txBody>
          </p:sp>
          <p:sp>
            <p:nvSpPr>
              <p:cNvPr id="25644" name="Text Box 26"/>
              <p:cNvSpPr txBox="1">
                <a:spLocks noChangeArrowheads="1"/>
              </p:cNvSpPr>
              <p:nvPr/>
            </p:nvSpPr>
            <p:spPr bwMode="auto">
              <a:xfrm>
                <a:off x="3282" y="1007"/>
                <a:ext cx="273" cy="2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8000"/>
                    </a:solidFill>
                    <a:latin typeface="Arial" panose="020B0604020202020204" pitchFamily="34" charset="0"/>
                  </a:rPr>
                  <a:t>F</a:t>
                </a:r>
                <a:r>
                  <a:rPr lang="es-ES" sz="2400" baseline="-25000">
                    <a:solidFill>
                      <a:srgbClr val="008000"/>
                    </a:solidFill>
                    <a:latin typeface="Arial" panose="020B0604020202020204" pitchFamily="34" charset="0"/>
                  </a:rPr>
                  <a:t>+</a:t>
                </a:r>
                <a:endParaRPr lang="es-ES" sz="2400">
                  <a:solidFill>
                    <a:srgbClr val="008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5642" name="Line 27"/>
            <p:cNvSpPr>
              <a:spLocks noChangeShapeType="1"/>
            </p:cNvSpPr>
            <p:nvPr/>
          </p:nvSpPr>
          <p:spPr bwMode="auto">
            <a:xfrm>
              <a:off x="3334" y="1065"/>
              <a:ext cx="13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</p:grpSp>
      <p:grpSp>
        <p:nvGrpSpPr>
          <p:cNvPr id="5" name="Group 89"/>
          <p:cNvGrpSpPr>
            <a:grpSpLocks/>
          </p:cNvGrpSpPr>
          <p:nvPr/>
        </p:nvGrpSpPr>
        <p:grpSpPr bwMode="auto">
          <a:xfrm>
            <a:off x="1314506" y="3111067"/>
            <a:ext cx="790575" cy="1350962"/>
            <a:chOff x="885" y="2323"/>
            <a:chExt cx="498" cy="851"/>
          </a:xfrm>
        </p:grpSpPr>
        <p:sp>
          <p:nvSpPr>
            <p:cNvPr id="25638" name="Line 24"/>
            <p:cNvSpPr>
              <a:spLocks noChangeShapeType="1"/>
            </p:cNvSpPr>
            <p:nvPr/>
          </p:nvSpPr>
          <p:spPr bwMode="auto">
            <a:xfrm rot="1800000">
              <a:off x="1380" y="2323"/>
              <a:ext cx="3" cy="851"/>
            </a:xfrm>
            <a:prstGeom prst="line">
              <a:avLst/>
            </a:prstGeom>
            <a:noFill/>
            <a:ln w="50800">
              <a:solidFill>
                <a:srgbClr val="008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  <p:sp>
          <p:nvSpPr>
            <p:cNvPr id="25639" name="Text Box 28"/>
            <p:cNvSpPr txBox="1">
              <a:spLocks noChangeArrowheads="1"/>
            </p:cNvSpPr>
            <p:nvPr/>
          </p:nvSpPr>
          <p:spPr bwMode="auto">
            <a:xfrm>
              <a:off x="885" y="2844"/>
              <a:ext cx="24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F</a:t>
              </a:r>
              <a:r>
                <a:rPr lang="es-ES" sz="2400" baseline="-25000">
                  <a:solidFill>
                    <a:srgbClr val="008000"/>
                  </a:solidFill>
                  <a:latin typeface="Arial" panose="020B0604020202020204" pitchFamily="34" charset="0"/>
                </a:rPr>
                <a:t>-</a:t>
              </a:r>
              <a:endParaRPr lang="es-ES" sz="240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40" name="Line 29"/>
            <p:cNvSpPr>
              <a:spLocks noChangeShapeType="1"/>
            </p:cNvSpPr>
            <p:nvPr/>
          </p:nvSpPr>
          <p:spPr bwMode="auto">
            <a:xfrm>
              <a:off x="937" y="2902"/>
              <a:ext cx="13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</p:grpSp>
      <p:grpSp>
        <p:nvGrpSpPr>
          <p:cNvPr id="6" name="Group 93"/>
          <p:cNvGrpSpPr>
            <a:grpSpLocks/>
          </p:cNvGrpSpPr>
          <p:nvPr/>
        </p:nvGrpSpPr>
        <p:grpSpPr bwMode="auto">
          <a:xfrm>
            <a:off x="4257731" y="1374342"/>
            <a:ext cx="887412" cy="1512887"/>
            <a:chOff x="2739" y="1229"/>
            <a:chExt cx="559" cy="953"/>
          </a:xfrm>
        </p:grpSpPr>
        <p:sp>
          <p:nvSpPr>
            <p:cNvPr id="25636" name="Line 30"/>
            <p:cNvSpPr>
              <a:spLocks noChangeShapeType="1"/>
            </p:cNvSpPr>
            <p:nvPr/>
          </p:nvSpPr>
          <p:spPr bwMode="auto">
            <a:xfrm flipH="1" flipV="1">
              <a:off x="2739" y="1229"/>
              <a:ext cx="3" cy="727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2" name="Line 31"/>
            <p:cNvSpPr>
              <a:spLocks noChangeShapeType="1"/>
            </p:cNvSpPr>
            <p:nvPr/>
          </p:nvSpPr>
          <p:spPr bwMode="auto">
            <a:xfrm rot="5400000" flipH="1" flipV="1">
              <a:off x="3128" y="2011"/>
              <a:ext cx="0" cy="341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grpSp>
        <p:nvGrpSpPr>
          <p:cNvPr id="7" name="Group 94"/>
          <p:cNvGrpSpPr>
            <a:grpSpLocks/>
          </p:cNvGrpSpPr>
          <p:nvPr/>
        </p:nvGrpSpPr>
        <p:grpSpPr bwMode="auto">
          <a:xfrm>
            <a:off x="1755831" y="2887229"/>
            <a:ext cx="860425" cy="1443038"/>
            <a:chOff x="1163" y="2182"/>
            <a:chExt cx="542" cy="909"/>
          </a:xfrm>
        </p:grpSpPr>
        <p:sp>
          <p:nvSpPr>
            <p:cNvPr id="25634" name="Line 32"/>
            <p:cNvSpPr>
              <a:spLocks noChangeShapeType="1"/>
            </p:cNvSpPr>
            <p:nvPr/>
          </p:nvSpPr>
          <p:spPr bwMode="auto">
            <a:xfrm flipH="1">
              <a:off x="1702" y="2364"/>
              <a:ext cx="3" cy="727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25635" name="Line 33"/>
            <p:cNvSpPr>
              <a:spLocks noChangeShapeType="1"/>
            </p:cNvSpPr>
            <p:nvPr/>
          </p:nvSpPr>
          <p:spPr bwMode="auto">
            <a:xfrm rot="16200000" flipV="1">
              <a:off x="1334" y="2011"/>
              <a:ext cx="0" cy="341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sp>
        <p:nvSpPr>
          <p:cNvPr id="341034" name="Text Box 42"/>
          <p:cNvSpPr txBox="1">
            <a:spLocks noChangeArrowheads="1"/>
          </p:cNvSpPr>
          <p:nvPr/>
        </p:nvSpPr>
        <p:spPr bwMode="auto">
          <a:xfrm>
            <a:off x="5768975" y="3064453"/>
            <a:ext cx="3225861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Componentes  a eje:</a:t>
            </a:r>
          </a:p>
        </p:txBody>
      </p:sp>
      <p:sp>
        <p:nvSpPr>
          <p:cNvPr id="3088" name="Text Box 43"/>
          <p:cNvSpPr txBox="1">
            <a:spLocks noChangeArrowheads="1"/>
          </p:cNvSpPr>
          <p:nvPr/>
        </p:nvSpPr>
        <p:spPr bwMode="auto">
          <a:xfrm>
            <a:off x="5768558" y="3553082"/>
            <a:ext cx="3413412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 H</a:t>
            </a:r>
            <a:r>
              <a:rPr lang="es-ES" sz="2400">
                <a:latin typeface="Arial" panose="020B0604020202020204" pitchFamily="34" charset="0"/>
              </a:rPr>
              <a:t>acen rotar al dipolo</a:t>
            </a:r>
          </a:p>
        </p:txBody>
      </p:sp>
      <p:sp>
        <p:nvSpPr>
          <p:cNvPr id="25637" name="Text Box 44"/>
          <p:cNvSpPr txBox="1">
            <a:spLocks noChangeArrowheads="1"/>
          </p:cNvSpPr>
          <p:nvPr/>
        </p:nvSpPr>
        <p:spPr bwMode="auto">
          <a:xfrm>
            <a:off x="5748460" y="4027201"/>
            <a:ext cx="473172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 Tienden a alinear -  + con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25613" name="Text Box 49"/>
          <p:cNvSpPr txBox="1">
            <a:spLocks noChangeArrowheads="1"/>
          </p:cNvSpPr>
          <p:nvPr/>
        </p:nvSpPr>
        <p:spPr bwMode="auto">
          <a:xfrm>
            <a:off x="1218228" y="2885642"/>
            <a:ext cx="54927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Eje</a:t>
            </a:r>
          </a:p>
        </p:txBody>
      </p:sp>
      <p:grpSp>
        <p:nvGrpSpPr>
          <p:cNvPr id="9" name="Group 102"/>
          <p:cNvGrpSpPr>
            <a:grpSpLocks/>
          </p:cNvGrpSpPr>
          <p:nvPr/>
        </p:nvGrpSpPr>
        <p:grpSpPr bwMode="auto">
          <a:xfrm>
            <a:off x="3702106" y="3911167"/>
            <a:ext cx="1323975" cy="625475"/>
            <a:chOff x="2605" y="2631"/>
            <a:chExt cx="834" cy="394"/>
          </a:xfrm>
        </p:grpSpPr>
        <p:sp>
          <p:nvSpPr>
            <p:cNvPr id="25630" name="Rectangle 64"/>
            <p:cNvSpPr>
              <a:spLocks noChangeArrowheads="1"/>
            </p:cNvSpPr>
            <p:nvPr/>
          </p:nvSpPr>
          <p:spPr bwMode="auto">
            <a:xfrm>
              <a:off x="2605" y="2631"/>
              <a:ext cx="834" cy="39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latin typeface="Arial" panose="020B0604020202020204" pitchFamily="34" charset="0"/>
              </a:endParaRPr>
            </a:p>
          </p:txBody>
        </p:sp>
        <p:sp>
          <p:nvSpPr>
            <p:cNvPr id="4" name="Text Box 61"/>
            <p:cNvSpPr txBox="1">
              <a:spLocks noChangeArrowheads="1"/>
            </p:cNvSpPr>
            <p:nvPr/>
          </p:nvSpPr>
          <p:spPr bwMode="auto">
            <a:xfrm>
              <a:off x="2645" y="2667"/>
              <a:ext cx="668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F = Q E</a:t>
              </a:r>
            </a:p>
          </p:txBody>
        </p:sp>
        <p:sp>
          <p:nvSpPr>
            <p:cNvPr id="25632" name="Line 62"/>
            <p:cNvSpPr>
              <a:spLocks noChangeShapeType="1"/>
            </p:cNvSpPr>
            <p:nvPr/>
          </p:nvSpPr>
          <p:spPr bwMode="auto">
            <a:xfrm>
              <a:off x="2703" y="2719"/>
              <a:ext cx="1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  <p:sp>
          <p:nvSpPr>
            <p:cNvPr id="25633" name="Line 63"/>
            <p:cNvSpPr>
              <a:spLocks noChangeShapeType="1"/>
            </p:cNvSpPr>
            <p:nvPr/>
          </p:nvSpPr>
          <p:spPr bwMode="auto">
            <a:xfrm>
              <a:off x="3244" y="2716"/>
              <a:ext cx="1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</p:grpSp>
      <p:sp>
        <p:nvSpPr>
          <p:cNvPr id="25631" name="Text Box 34"/>
          <p:cNvSpPr txBox="1">
            <a:spLocks noChangeArrowheads="1"/>
          </p:cNvSpPr>
          <p:nvPr/>
        </p:nvSpPr>
        <p:spPr bwMode="auto">
          <a:xfrm>
            <a:off x="5620363" y="1093088"/>
            <a:ext cx="3796530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Si el campo es uniforme:</a:t>
            </a:r>
          </a:p>
        </p:txBody>
      </p:sp>
      <p:grpSp>
        <p:nvGrpSpPr>
          <p:cNvPr id="55359" name="Group 63"/>
          <p:cNvGrpSpPr>
            <a:grpSpLocks/>
          </p:cNvGrpSpPr>
          <p:nvPr/>
        </p:nvGrpSpPr>
        <p:grpSpPr bwMode="auto">
          <a:xfrm>
            <a:off x="5861290" y="1632962"/>
            <a:ext cx="1293812" cy="701675"/>
            <a:chOff x="3672" y="1458"/>
            <a:chExt cx="815" cy="442"/>
          </a:xfrm>
        </p:grpSpPr>
        <p:sp>
          <p:nvSpPr>
            <p:cNvPr id="25628" name="Rectangle 85"/>
            <p:cNvSpPr>
              <a:spLocks noChangeArrowheads="1"/>
            </p:cNvSpPr>
            <p:nvPr/>
          </p:nvSpPr>
          <p:spPr bwMode="auto">
            <a:xfrm>
              <a:off x="3672" y="1458"/>
              <a:ext cx="815" cy="44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25629" name="Object 4"/>
            <p:cNvGraphicFramePr>
              <a:graphicFrameLocks noChangeAspect="1"/>
            </p:cNvGraphicFramePr>
            <p:nvPr/>
          </p:nvGraphicFramePr>
          <p:xfrm>
            <a:off x="3701" y="1488"/>
            <a:ext cx="768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520474" imgH="241195" progId="Equation.3">
                    <p:embed/>
                  </p:oleObj>
                </mc:Choice>
                <mc:Fallback>
                  <p:oleObj name="Ecuación" r:id="rId5" imgW="520474" imgH="241195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1" y="1488"/>
                          <a:ext cx="768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340" name="Text Box 37"/>
          <p:cNvSpPr txBox="1">
            <a:spLocks noChangeArrowheads="1"/>
          </p:cNvSpPr>
          <p:nvPr/>
        </p:nvSpPr>
        <p:spPr bwMode="auto">
          <a:xfrm>
            <a:off x="7264641" y="1672668"/>
            <a:ext cx="3484208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Sigue donde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está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     </a:t>
            </a:r>
            <a:r>
              <a:rPr lang="es-ES" sz="2400" dirty="0">
                <a:latin typeface="Arial" panose="020B0604020202020204" pitchFamily="34" charset="0"/>
              </a:rPr>
              <a:t>No se desplaza</a:t>
            </a:r>
          </a:p>
        </p:txBody>
      </p:sp>
      <p:sp>
        <p:nvSpPr>
          <p:cNvPr id="25624" name="Text Box 60"/>
          <p:cNvSpPr txBox="1">
            <a:spLocks noChangeArrowheads="1"/>
          </p:cNvSpPr>
          <p:nvPr/>
        </p:nvSpPr>
        <p:spPr bwMode="auto">
          <a:xfrm>
            <a:off x="1346812" y="333411"/>
            <a:ext cx="8875712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</a:rPr>
              <a:t>EFECTO DE UN CAMPO ELÉCTRICO SOBRE UN DIPOLO</a:t>
            </a:r>
          </a:p>
        </p:txBody>
      </p:sp>
      <p:sp>
        <p:nvSpPr>
          <p:cNvPr id="58" name="Text Box 44"/>
          <p:cNvSpPr txBox="1">
            <a:spLocks noChangeArrowheads="1"/>
          </p:cNvSpPr>
          <p:nvPr/>
        </p:nvSpPr>
        <p:spPr bwMode="auto">
          <a:xfrm>
            <a:off x="1270593" y="5093044"/>
            <a:ext cx="9264240" cy="20138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44000" tIns="82800" rIns="144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El dipolo oscila en torno a la dirección de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, como un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columpio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, hasta que el rozamiento (la interacción con otros dipolos) lo para. Se transforma </a:t>
            </a:r>
            <a:r>
              <a:rPr lang="es-ES" sz="2400" dirty="0" err="1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baseline="-25000" dirty="0" err="1">
                <a:latin typeface="Arial" panose="020B0604020202020204" pitchFamily="34" charset="0"/>
                <a:sym typeface="Symbol" panose="05050102010706020507" pitchFamily="18" charset="2"/>
              </a:rPr>
              <a:t>Peléctrica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en E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en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la rotación,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y E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en </a:t>
            </a:r>
            <a:r>
              <a:rPr lang="es-ES" sz="2400" dirty="0" err="1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baseline="-25000" dirty="0" err="1">
                <a:latin typeface="Arial" panose="020B0604020202020204" pitchFamily="34" charset="0"/>
                <a:sym typeface="Symbol" panose="05050102010706020507" pitchFamily="18" charset="2"/>
              </a:rPr>
              <a:t>térmica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con el rozamiento. Esto aumenta la agitación térmica, el movimiento de unos dipolos respecto a otros, y con ello, la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temperatura</a:t>
            </a:r>
            <a:endParaRPr lang="es-ES" sz="24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47" name="Text Box 44"/>
          <p:cNvSpPr txBox="1">
            <a:spLocks noChangeArrowheads="1"/>
          </p:cNvSpPr>
          <p:nvPr/>
        </p:nvSpPr>
        <p:spPr bwMode="auto">
          <a:xfrm>
            <a:off x="5758509" y="4514529"/>
            <a:ext cx="4545132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 Se anulan en el alineamiento</a:t>
            </a:r>
            <a:endParaRPr lang="es-ES" sz="2400">
              <a:latin typeface="Arial" panose="020B0604020202020204" pitchFamily="34" charset="0"/>
            </a:endParaRPr>
          </a:p>
        </p:txBody>
      </p:sp>
      <p:sp>
        <p:nvSpPr>
          <p:cNvPr id="48" name="Line 207"/>
          <p:cNvSpPr>
            <a:spLocks noChangeShapeType="1"/>
          </p:cNvSpPr>
          <p:nvPr/>
        </p:nvSpPr>
        <p:spPr bwMode="auto">
          <a:xfrm flipV="1">
            <a:off x="2875414" y="2891274"/>
            <a:ext cx="1130908" cy="0"/>
          </a:xfrm>
          <a:prstGeom prst="line">
            <a:avLst/>
          </a:prstGeom>
          <a:noFill/>
          <a:ln w="76200">
            <a:solidFill>
              <a:schemeClr val="tx2">
                <a:lumMod val="75000"/>
                <a:lumOff val="25000"/>
              </a:schemeClr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82800" rIns="90000" bIns="82800"/>
          <a:lstStyle/>
          <a:p>
            <a:endParaRPr lang="en-GB" sz="2400"/>
          </a:p>
        </p:txBody>
      </p:sp>
      <p:sp>
        <p:nvSpPr>
          <p:cNvPr id="49" name="Text Box 37"/>
          <p:cNvSpPr txBox="1">
            <a:spLocks noChangeArrowheads="1"/>
          </p:cNvSpPr>
          <p:nvPr/>
        </p:nvSpPr>
        <p:spPr bwMode="auto">
          <a:xfrm>
            <a:off x="5898358" y="2454800"/>
            <a:ext cx="4771233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(no era así con boli y papelitos)</a:t>
            </a:r>
          </a:p>
        </p:txBody>
      </p:sp>
      <p:sp>
        <p:nvSpPr>
          <p:cNvPr id="50" name="Text Box 37">
            <a:extLst>
              <a:ext uri="{FF2B5EF4-FFF2-40B4-BE49-F238E27FC236}">
                <a16:creationId xmlns:a16="http://schemas.microsoft.com/office/drawing/2014/main" id="{8B5F028B-1C64-41B7-84F2-5FB04FB73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1968" y="618467"/>
            <a:ext cx="3350574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(sobre una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molécula)</a:t>
            </a:r>
          </a:p>
        </p:txBody>
      </p:sp>
      <p:sp>
        <p:nvSpPr>
          <p:cNvPr id="8" name="Text Box 37">
            <a:extLst>
              <a:ext uri="{FF2B5EF4-FFF2-40B4-BE49-F238E27FC236}">
                <a16:creationId xmlns:a16="http://schemas.microsoft.com/office/drawing/2014/main" id="{616AC94B-8A27-AB16-7E59-EE1E29586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2549" y="1663848"/>
            <a:ext cx="1915320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(en todos los puntos)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5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5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5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5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4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1034" grpId="0" animBg="1"/>
      <p:bldP spid="3088" grpId="0"/>
      <p:bldP spid="25637" grpId="0"/>
      <p:bldP spid="25631" grpId="0"/>
      <p:bldP spid="55340" grpId="0"/>
      <p:bldP spid="25624" grpId="0" animBg="1"/>
      <p:bldP spid="58" grpId="0" animBg="1"/>
      <p:bldP spid="47" grpId="0"/>
      <p:bldP spid="49" grpId="0"/>
      <p:bldP spid="50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Box 59"/>
          <p:cNvSpPr txBox="1">
            <a:spLocks noChangeArrowheads="1"/>
          </p:cNvSpPr>
          <p:nvPr/>
        </p:nvSpPr>
        <p:spPr bwMode="auto">
          <a:xfrm>
            <a:off x="5768994" y="1144625"/>
            <a:ext cx="2937320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Componentes // eje:</a:t>
            </a:r>
          </a:p>
        </p:txBody>
      </p:sp>
      <p:sp>
        <p:nvSpPr>
          <p:cNvPr id="55" name="Text Box 61"/>
          <p:cNvSpPr txBox="1">
            <a:spLocks noChangeArrowheads="1"/>
          </p:cNvSpPr>
          <p:nvPr/>
        </p:nvSpPr>
        <p:spPr bwMode="auto">
          <a:xfrm>
            <a:off x="5703942" y="1878064"/>
            <a:ext cx="4831121" cy="164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 Con un ángulo entre -  + y 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</a:t>
            </a: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  de 0º a 90º, tienden a estirar</a:t>
            </a: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  al dipolo, de 90º a 180º, </a:t>
            </a: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  tienden a comprimirlo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9" name="Text Box 61"/>
          <p:cNvSpPr txBox="1">
            <a:spLocks noChangeArrowheads="1"/>
          </p:cNvSpPr>
          <p:nvPr/>
        </p:nvSpPr>
        <p:spPr bwMode="auto">
          <a:xfrm>
            <a:off x="1260771" y="5098622"/>
            <a:ext cx="9274293" cy="20138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44000" tIns="82800" rIns="144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 typeface="Symbol" panose="05050102010706020507" pitchFamily="18" charset="2"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Una molécula se estira venciendo a las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fuerzas de cohesión</a:t>
            </a:r>
            <a:r>
              <a:rPr lang="es-ES" sz="2400" dirty="0">
                <a:latin typeface="Arial" panose="020B0604020202020204" pitchFamily="34" charset="0"/>
              </a:rPr>
              <a:t>. Estas fuerzas crecen en principio con el estiramiento, pero luego decrecen. Son las totales entre e</a:t>
            </a:r>
            <a:r>
              <a:rPr lang="es-ES" sz="2400" baseline="30000" dirty="0">
                <a:latin typeface="Arial" panose="020B0604020202020204" pitchFamily="34" charset="0"/>
              </a:rPr>
              <a:t>-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</a:rPr>
              <a:t>y protones: </a:t>
            </a:r>
            <a:r>
              <a:rPr lang="es-ES" sz="2400" dirty="0">
                <a:latin typeface="Arial" panose="020B0604020202020204" pitchFamily="34" charset="0"/>
              </a:rPr>
              <a:t>nulas al inicio, crecen al separar posiciones promedio y decrecen al aumentar su distancia. Si se supera su valor máximo, la molécula se rompe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90" name="Text Box 61"/>
          <p:cNvSpPr txBox="1">
            <a:spLocks noChangeArrowheads="1"/>
          </p:cNvSpPr>
          <p:nvPr/>
        </p:nvSpPr>
        <p:spPr bwMode="auto">
          <a:xfrm>
            <a:off x="5703942" y="3452576"/>
            <a:ext cx="4724328" cy="164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 Como se va hacia el</a:t>
            </a: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  alineamiento, hacen crecer</a:t>
            </a: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  al dipolo, </a:t>
            </a:r>
            <a:r>
              <a:rPr lang="es-ES" sz="2400">
                <a:latin typeface="Arial" panose="020B0604020202020204" pitchFamily="34" charset="0"/>
              </a:rPr>
              <a:t>alcanzando para 0º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s-ES" sz="2400">
                <a:latin typeface="Arial" panose="020B0604020202020204" pitchFamily="34" charset="0"/>
              </a:rPr>
              <a:t>    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su máximo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valor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2" name="Line 3"/>
          <p:cNvSpPr>
            <a:spLocks noChangeShapeType="1"/>
          </p:cNvSpPr>
          <p:nvPr/>
        </p:nvSpPr>
        <p:spPr bwMode="auto">
          <a:xfrm>
            <a:off x="1566918" y="2887229"/>
            <a:ext cx="3633788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dash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82800" rIns="90000" bIns="82800"/>
          <a:lstStyle/>
          <a:p>
            <a:endParaRPr lang="en-GB"/>
          </a:p>
        </p:txBody>
      </p:sp>
      <p:pic>
        <p:nvPicPr>
          <p:cNvPr id="43" name="Picture 4" descr="Image1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6268" y="2598304"/>
            <a:ext cx="571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Picture 5" descr="Image2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7331" y="2598304"/>
            <a:ext cx="5842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5" name="Group 90"/>
          <p:cNvGrpSpPr>
            <a:grpSpLocks/>
          </p:cNvGrpSpPr>
          <p:nvPr/>
        </p:nvGrpSpPr>
        <p:grpSpPr bwMode="auto">
          <a:xfrm>
            <a:off x="1601843" y="1409267"/>
            <a:ext cx="368300" cy="769937"/>
            <a:chOff x="1066" y="1251"/>
            <a:chExt cx="232" cy="485"/>
          </a:xfrm>
        </p:grpSpPr>
        <p:sp>
          <p:nvSpPr>
            <p:cNvPr id="46" name="Line 21"/>
            <p:cNvSpPr>
              <a:spLocks noChangeShapeType="1"/>
            </p:cNvSpPr>
            <p:nvPr/>
          </p:nvSpPr>
          <p:spPr bwMode="auto">
            <a:xfrm rot="1800000" flipH="1" flipV="1">
              <a:off x="1298" y="1313"/>
              <a:ext cx="0" cy="42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  <p:sp>
          <p:nvSpPr>
            <p:cNvPr id="47" name="Text Box 22"/>
            <p:cNvSpPr txBox="1">
              <a:spLocks noChangeArrowheads="1"/>
            </p:cNvSpPr>
            <p:nvPr/>
          </p:nvSpPr>
          <p:spPr bwMode="auto">
            <a:xfrm>
              <a:off x="1066" y="1251"/>
              <a:ext cx="22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48" name="Line 23"/>
            <p:cNvSpPr>
              <a:spLocks noChangeShapeType="1"/>
            </p:cNvSpPr>
            <p:nvPr/>
          </p:nvSpPr>
          <p:spPr bwMode="auto">
            <a:xfrm>
              <a:off x="1118" y="1279"/>
              <a:ext cx="13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</p:grpSp>
      <p:grpSp>
        <p:nvGrpSpPr>
          <p:cNvPr id="49" name="Group 88"/>
          <p:cNvGrpSpPr>
            <a:grpSpLocks/>
          </p:cNvGrpSpPr>
          <p:nvPr/>
        </p:nvGrpSpPr>
        <p:grpSpPr bwMode="auto">
          <a:xfrm>
            <a:off x="4759381" y="1021917"/>
            <a:ext cx="793750" cy="1625600"/>
            <a:chOff x="3055" y="1007"/>
            <a:chExt cx="500" cy="1024"/>
          </a:xfrm>
        </p:grpSpPr>
        <p:grpSp>
          <p:nvGrpSpPr>
            <p:cNvPr id="50" name="Group 87"/>
            <p:cNvGrpSpPr>
              <a:grpSpLocks/>
            </p:cNvGrpSpPr>
            <p:nvPr/>
          </p:nvGrpSpPr>
          <p:grpSpPr bwMode="auto">
            <a:xfrm>
              <a:off x="3055" y="1007"/>
              <a:ext cx="500" cy="1024"/>
              <a:chOff x="3055" y="1007"/>
              <a:chExt cx="500" cy="1024"/>
            </a:xfrm>
          </p:grpSpPr>
          <p:sp>
            <p:nvSpPr>
              <p:cNvPr id="52" name="Line 25"/>
              <p:cNvSpPr>
                <a:spLocks noChangeShapeType="1"/>
              </p:cNvSpPr>
              <p:nvPr/>
            </p:nvSpPr>
            <p:spPr bwMode="auto">
              <a:xfrm rot="1800000" flipH="1" flipV="1">
                <a:off x="3055" y="1180"/>
                <a:ext cx="3" cy="851"/>
              </a:xfrm>
              <a:prstGeom prst="line">
                <a:avLst/>
              </a:prstGeom>
              <a:noFill/>
              <a:ln w="50800">
                <a:solidFill>
                  <a:srgbClr val="00800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 sz="2400"/>
              </a:p>
            </p:txBody>
          </p:sp>
          <p:sp>
            <p:nvSpPr>
              <p:cNvPr id="53" name="Text Box 26"/>
              <p:cNvSpPr txBox="1">
                <a:spLocks noChangeArrowheads="1"/>
              </p:cNvSpPr>
              <p:nvPr/>
            </p:nvSpPr>
            <p:spPr bwMode="auto">
              <a:xfrm>
                <a:off x="3282" y="1007"/>
                <a:ext cx="273" cy="2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8000"/>
                    </a:solidFill>
                    <a:latin typeface="Arial" panose="020B0604020202020204" pitchFamily="34" charset="0"/>
                  </a:rPr>
                  <a:t>F</a:t>
                </a:r>
                <a:r>
                  <a:rPr lang="es-ES" sz="2400" baseline="-25000">
                    <a:solidFill>
                      <a:srgbClr val="008000"/>
                    </a:solidFill>
                    <a:latin typeface="Arial" panose="020B0604020202020204" pitchFamily="34" charset="0"/>
                  </a:rPr>
                  <a:t>+</a:t>
                </a:r>
                <a:endParaRPr lang="es-ES" sz="2400">
                  <a:solidFill>
                    <a:srgbClr val="008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1" name="Line 27"/>
            <p:cNvSpPr>
              <a:spLocks noChangeShapeType="1"/>
            </p:cNvSpPr>
            <p:nvPr/>
          </p:nvSpPr>
          <p:spPr bwMode="auto">
            <a:xfrm>
              <a:off x="3334" y="1065"/>
              <a:ext cx="13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</p:grpSp>
      <p:grpSp>
        <p:nvGrpSpPr>
          <p:cNvPr id="56" name="Group 89"/>
          <p:cNvGrpSpPr>
            <a:grpSpLocks/>
          </p:cNvGrpSpPr>
          <p:nvPr/>
        </p:nvGrpSpPr>
        <p:grpSpPr bwMode="auto">
          <a:xfrm>
            <a:off x="1314506" y="3111067"/>
            <a:ext cx="790575" cy="1350962"/>
            <a:chOff x="885" y="2323"/>
            <a:chExt cx="498" cy="851"/>
          </a:xfrm>
        </p:grpSpPr>
        <p:sp>
          <p:nvSpPr>
            <p:cNvPr id="57" name="Line 24"/>
            <p:cNvSpPr>
              <a:spLocks noChangeShapeType="1"/>
            </p:cNvSpPr>
            <p:nvPr/>
          </p:nvSpPr>
          <p:spPr bwMode="auto">
            <a:xfrm rot="1800000">
              <a:off x="1380" y="2323"/>
              <a:ext cx="3" cy="851"/>
            </a:xfrm>
            <a:prstGeom prst="line">
              <a:avLst/>
            </a:prstGeom>
            <a:noFill/>
            <a:ln w="50800">
              <a:solidFill>
                <a:srgbClr val="008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  <p:sp>
          <p:nvSpPr>
            <p:cNvPr id="58" name="Text Box 28"/>
            <p:cNvSpPr txBox="1">
              <a:spLocks noChangeArrowheads="1"/>
            </p:cNvSpPr>
            <p:nvPr/>
          </p:nvSpPr>
          <p:spPr bwMode="auto">
            <a:xfrm>
              <a:off x="885" y="2844"/>
              <a:ext cx="24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F</a:t>
              </a:r>
              <a:r>
                <a:rPr lang="es-ES" sz="2400" baseline="-25000">
                  <a:solidFill>
                    <a:srgbClr val="008000"/>
                  </a:solidFill>
                  <a:latin typeface="Arial" panose="020B0604020202020204" pitchFamily="34" charset="0"/>
                </a:rPr>
                <a:t>-</a:t>
              </a:r>
              <a:endParaRPr lang="es-ES" sz="240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0" name="Line 29"/>
            <p:cNvSpPr>
              <a:spLocks noChangeShapeType="1"/>
            </p:cNvSpPr>
            <p:nvPr/>
          </p:nvSpPr>
          <p:spPr bwMode="auto">
            <a:xfrm>
              <a:off x="937" y="2902"/>
              <a:ext cx="13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</p:grpSp>
      <p:grpSp>
        <p:nvGrpSpPr>
          <p:cNvPr id="61" name="Group 93"/>
          <p:cNvGrpSpPr>
            <a:grpSpLocks/>
          </p:cNvGrpSpPr>
          <p:nvPr/>
        </p:nvGrpSpPr>
        <p:grpSpPr bwMode="auto">
          <a:xfrm>
            <a:off x="4257731" y="1374342"/>
            <a:ext cx="887412" cy="1512887"/>
            <a:chOff x="2739" y="1229"/>
            <a:chExt cx="559" cy="953"/>
          </a:xfrm>
        </p:grpSpPr>
        <p:sp>
          <p:nvSpPr>
            <p:cNvPr id="62" name="Line 30"/>
            <p:cNvSpPr>
              <a:spLocks noChangeShapeType="1"/>
            </p:cNvSpPr>
            <p:nvPr/>
          </p:nvSpPr>
          <p:spPr bwMode="auto">
            <a:xfrm flipH="1" flipV="1">
              <a:off x="2739" y="1229"/>
              <a:ext cx="3" cy="727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63" name="Line 31"/>
            <p:cNvSpPr>
              <a:spLocks noChangeShapeType="1"/>
            </p:cNvSpPr>
            <p:nvPr/>
          </p:nvSpPr>
          <p:spPr bwMode="auto">
            <a:xfrm rot="5400000" flipH="1" flipV="1">
              <a:off x="3128" y="2011"/>
              <a:ext cx="0" cy="341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grpSp>
        <p:nvGrpSpPr>
          <p:cNvPr id="64" name="Group 94"/>
          <p:cNvGrpSpPr>
            <a:grpSpLocks/>
          </p:cNvGrpSpPr>
          <p:nvPr/>
        </p:nvGrpSpPr>
        <p:grpSpPr bwMode="auto">
          <a:xfrm>
            <a:off x="1755831" y="2887229"/>
            <a:ext cx="860425" cy="1443038"/>
            <a:chOff x="1163" y="2182"/>
            <a:chExt cx="542" cy="909"/>
          </a:xfrm>
        </p:grpSpPr>
        <p:sp>
          <p:nvSpPr>
            <p:cNvPr id="65" name="Line 32"/>
            <p:cNvSpPr>
              <a:spLocks noChangeShapeType="1"/>
            </p:cNvSpPr>
            <p:nvPr/>
          </p:nvSpPr>
          <p:spPr bwMode="auto">
            <a:xfrm flipH="1">
              <a:off x="1702" y="2364"/>
              <a:ext cx="3" cy="727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66" name="Line 33"/>
            <p:cNvSpPr>
              <a:spLocks noChangeShapeType="1"/>
            </p:cNvSpPr>
            <p:nvPr/>
          </p:nvSpPr>
          <p:spPr bwMode="auto">
            <a:xfrm rot="16200000" flipV="1">
              <a:off x="1334" y="2011"/>
              <a:ext cx="0" cy="341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sp>
        <p:nvSpPr>
          <p:cNvPr id="67" name="Text Box 49"/>
          <p:cNvSpPr txBox="1">
            <a:spLocks noChangeArrowheads="1"/>
          </p:cNvSpPr>
          <p:nvPr/>
        </p:nvSpPr>
        <p:spPr bwMode="auto">
          <a:xfrm>
            <a:off x="1218228" y="2885642"/>
            <a:ext cx="54927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Eje</a:t>
            </a:r>
          </a:p>
        </p:txBody>
      </p:sp>
      <p:grpSp>
        <p:nvGrpSpPr>
          <p:cNvPr id="68" name="Group 102"/>
          <p:cNvGrpSpPr>
            <a:grpSpLocks/>
          </p:cNvGrpSpPr>
          <p:nvPr/>
        </p:nvGrpSpPr>
        <p:grpSpPr bwMode="auto">
          <a:xfrm>
            <a:off x="3702106" y="3911167"/>
            <a:ext cx="1323975" cy="625475"/>
            <a:chOff x="2605" y="2631"/>
            <a:chExt cx="834" cy="394"/>
          </a:xfrm>
        </p:grpSpPr>
        <p:sp>
          <p:nvSpPr>
            <p:cNvPr id="69" name="Rectangle 64"/>
            <p:cNvSpPr>
              <a:spLocks noChangeArrowheads="1"/>
            </p:cNvSpPr>
            <p:nvPr/>
          </p:nvSpPr>
          <p:spPr bwMode="auto">
            <a:xfrm>
              <a:off x="2605" y="2631"/>
              <a:ext cx="834" cy="39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latin typeface="Arial" panose="020B0604020202020204" pitchFamily="34" charset="0"/>
              </a:endParaRPr>
            </a:p>
          </p:txBody>
        </p:sp>
        <p:sp>
          <p:nvSpPr>
            <p:cNvPr id="70" name="Text Box 61"/>
            <p:cNvSpPr txBox="1">
              <a:spLocks noChangeArrowheads="1"/>
            </p:cNvSpPr>
            <p:nvPr/>
          </p:nvSpPr>
          <p:spPr bwMode="auto">
            <a:xfrm>
              <a:off x="2645" y="2667"/>
              <a:ext cx="668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F = Q E</a:t>
              </a:r>
            </a:p>
          </p:txBody>
        </p:sp>
        <p:sp>
          <p:nvSpPr>
            <p:cNvPr id="71" name="Line 62"/>
            <p:cNvSpPr>
              <a:spLocks noChangeShapeType="1"/>
            </p:cNvSpPr>
            <p:nvPr/>
          </p:nvSpPr>
          <p:spPr bwMode="auto">
            <a:xfrm>
              <a:off x="2703" y="2719"/>
              <a:ext cx="1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  <p:sp>
          <p:nvSpPr>
            <p:cNvPr id="72" name="Line 63"/>
            <p:cNvSpPr>
              <a:spLocks noChangeShapeType="1"/>
            </p:cNvSpPr>
            <p:nvPr/>
          </p:nvSpPr>
          <p:spPr bwMode="auto">
            <a:xfrm>
              <a:off x="3244" y="2716"/>
              <a:ext cx="1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</p:grpSp>
      <p:sp>
        <p:nvSpPr>
          <p:cNvPr id="79" name="Line 207"/>
          <p:cNvSpPr>
            <a:spLocks noChangeShapeType="1"/>
          </p:cNvSpPr>
          <p:nvPr/>
        </p:nvSpPr>
        <p:spPr bwMode="auto">
          <a:xfrm flipV="1">
            <a:off x="2875414" y="2891274"/>
            <a:ext cx="1130908" cy="0"/>
          </a:xfrm>
          <a:prstGeom prst="line">
            <a:avLst/>
          </a:prstGeom>
          <a:noFill/>
          <a:ln w="76200">
            <a:solidFill>
              <a:schemeClr val="tx2">
                <a:lumMod val="75000"/>
                <a:lumOff val="25000"/>
              </a:schemeClr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82800" rIns="90000" bIns="82800"/>
          <a:lstStyle/>
          <a:p>
            <a:endParaRPr lang="en-GB" sz="2400"/>
          </a:p>
        </p:txBody>
      </p:sp>
      <p:sp>
        <p:nvSpPr>
          <p:cNvPr id="80" name="Text Box 60">
            <a:extLst>
              <a:ext uri="{FF2B5EF4-FFF2-40B4-BE49-F238E27FC236}">
                <a16:creationId xmlns:a16="http://schemas.microsoft.com/office/drawing/2014/main" id="{0B5DB628-6390-487E-8FE9-1A6575750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6812" y="333411"/>
            <a:ext cx="8875712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</a:rPr>
              <a:t>EFECTO DE UN CAMPO ELÉCTRICO SOBRE UN DIPOLO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5" grpId="0"/>
      <p:bldP spid="59" grpId="0" animBg="1"/>
      <p:bldP spid="9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 bwMode="auto">
          <a:xfrm>
            <a:off x="1384184" y="2294061"/>
            <a:ext cx="3137951" cy="177819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118800" rIns="90000" bIns="82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7891" name="Rectangle 7"/>
          <p:cNvSpPr>
            <a:spLocks noChangeArrowheads="1"/>
          </p:cNvSpPr>
          <p:nvPr/>
        </p:nvSpPr>
        <p:spPr bwMode="auto">
          <a:xfrm>
            <a:off x="1289175" y="384753"/>
            <a:ext cx="8653462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9569" tIns="49785" rIns="99569" bIns="49785" anchor="ctr"/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3.5.2 CLASES DE DIELÉCTRICOS</a:t>
            </a:r>
          </a:p>
        </p:txBody>
      </p:sp>
      <p:sp>
        <p:nvSpPr>
          <p:cNvPr id="444427" name="Text Box 11"/>
          <p:cNvSpPr txBox="1">
            <a:spLocks noChangeArrowheads="1"/>
          </p:cNvSpPr>
          <p:nvPr/>
        </p:nvSpPr>
        <p:spPr bwMode="auto">
          <a:xfrm>
            <a:off x="4991985" y="2835652"/>
            <a:ext cx="3137951" cy="905881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Posición </a:t>
            </a:r>
            <a:r>
              <a:rPr lang="es-ES" sz="2400">
                <a:latin typeface="Arial" panose="020B0604020202020204" pitchFamily="34" charset="0"/>
              </a:rPr>
              <a:t>promedio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de Q</a:t>
            </a:r>
            <a:r>
              <a:rPr lang="es-ES" sz="2400" baseline="30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y Q</a:t>
            </a:r>
            <a:r>
              <a:rPr lang="es-ES" sz="2400" baseline="3000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coinciden</a:t>
            </a:r>
          </a:p>
        </p:txBody>
      </p:sp>
      <p:grpSp>
        <p:nvGrpSpPr>
          <p:cNvPr id="37932" name="Group 48"/>
          <p:cNvGrpSpPr>
            <a:grpSpLocks/>
          </p:cNvGrpSpPr>
          <p:nvPr/>
        </p:nvGrpSpPr>
        <p:grpSpPr bwMode="auto">
          <a:xfrm>
            <a:off x="1485426" y="2445790"/>
            <a:ext cx="2995613" cy="1616078"/>
            <a:chOff x="1097" y="1140"/>
            <a:chExt cx="1887" cy="1018"/>
          </a:xfrm>
        </p:grpSpPr>
        <p:sp>
          <p:nvSpPr>
            <p:cNvPr id="37934" name="Oval 17"/>
            <p:cNvSpPr>
              <a:spLocks noChangeArrowheads="1"/>
            </p:cNvSpPr>
            <p:nvPr/>
          </p:nvSpPr>
          <p:spPr bwMode="auto">
            <a:xfrm>
              <a:off x="1722" y="1140"/>
              <a:ext cx="680" cy="680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35" name="Text Box 18"/>
            <p:cNvSpPr txBox="1">
              <a:spLocks noChangeArrowheads="1"/>
            </p:cNvSpPr>
            <p:nvPr/>
          </p:nvSpPr>
          <p:spPr bwMode="auto">
            <a:xfrm>
              <a:off x="1097" y="1820"/>
              <a:ext cx="1887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latin typeface="Arial" panose="020B0604020202020204" pitchFamily="34" charset="0"/>
                </a:rPr>
                <a:t>Molécula</a:t>
              </a:r>
              <a:r>
                <a:rPr lang="es-ES" sz="2400" b="1" dirty="0">
                  <a:solidFill>
                    <a:srgbClr val="008000"/>
                  </a:solidFill>
                  <a:latin typeface="Arial" panose="020B0604020202020204" pitchFamily="34" charset="0"/>
                </a:rPr>
                <a:t> No Polar</a:t>
              </a:r>
            </a:p>
          </p:txBody>
        </p:sp>
      </p:grpSp>
      <p:sp>
        <p:nvSpPr>
          <p:cNvPr id="37933" name="Text Box 19"/>
          <p:cNvSpPr txBox="1">
            <a:spLocks noChangeArrowheads="1"/>
          </p:cNvSpPr>
          <p:nvPr/>
        </p:nvSpPr>
        <p:spPr bwMode="auto">
          <a:xfrm>
            <a:off x="1472527" y="3954899"/>
            <a:ext cx="2932929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Son esféricas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(ej.: gases nobles)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44442" name="Text Box 26"/>
          <p:cNvSpPr txBox="1">
            <a:spLocks noChangeArrowheads="1"/>
          </p:cNvSpPr>
          <p:nvPr/>
        </p:nvSpPr>
        <p:spPr bwMode="auto">
          <a:xfrm>
            <a:off x="3824856" y="944482"/>
            <a:ext cx="3877766" cy="514738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De Moléculas </a:t>
            </a: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No Polares</a:t>
            </a:r>
          </a:p>
        </p:txBody>
      </p:sp>
      <p:grpSp>
        <p:nvGrpSpPr>
          <p:cNvPr id="6" name="Group 54"/>
          <p:cNvGrpSpPr>
            <a:grpSpLocks/>
          </p:cNvGrpSpPr>
          <p:nvPr/>
        </p:nvGrpSpPr>
        <p:grpSpPr bwMode="auto">
          <a:xfrm>
            <a:off x="2687970" y="4903658"/>
            <a:ext cx="2386013" cy="538163"/>
            <a:chOff x="3674" y="1204"/>
            <a:chExt cx="1503" cy="339"/>
          </a:xfrm>
        </p:grpSpPr>
        <p:sp>
          <p:nvSpPr>
            <p:cNvPr id="37929" name="AutoShape 28"/>
            <p:cNvSpPr>
              <a:spLocks noChangeArrowheads="1"/>
            </p:cNvSpPr>
            <p:nvPr/>
          </p:nvSpPr>
          <p:spPr bwMode="auto">
            <a:xfrm rot="5400000">
              <a:off x="3689" y="1232"/>
              <a:ext cx="296" cy="326"/>
            </a:xfrm>
            <a:prstGeom prst="rightArrow">
              <a:avLst>
                <a:gd name="adj1" fmla="val 39898"/>
                <a:gd name="adj2" fmla="val 50512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30" name="Text Box 29"/>
            <p:cNvSpPr txBox="1">
              <a:spLocks noChangeArrowheads="1"/>
            </p:cNvSpPr>
            <p:nvPr/>
          </p:nvSpPr>
          <p:spPr bwMode="auto">
            <a:xfrm>
              <a:off x="4081" y="1204"/>
              <a:ext cx="1096" cy="338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Al aplicar E</a:t>
              </a:r>
            </a:p>
          </p:txBody>
        </p:sp>
        <p:sp>
          <p:nvSpPr>
            <p:cNvPr id="37931" name="Line 30"/>
            <p:cNvSpPr>
              <a:spLocks noChangeShapeType="1"/>
            </p:cNvSpPr>
            <p:nvPr/>
          </p:nvSpPr>
          <p:spPr bwMode="auto">
            <a:xfrm>
              <a:off x="4971" y="1256"/>
              <a:ext cx="136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sp>
        <p:nvSpPr>
          <p:cNvPr id="13372" name="Text Box 60"/>
          <p:cNvSpPr txBox="1">
            <a:spLocks noChangeArrowheads="1"/>
          </p:cNvSpPr>
          <p:nvPr/>
        </p:nvSpPr>
        <p:spPr bwMode="auto">
          <a:xfrm>
            <a:off x="5136329" y="3658294"/>
            <a:ext cx="2802325" cy="572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FF0000"/>
                </a:solidFill>
              </a:rPr>
              <a:t>(</a:t>
            </a:r>
            <a:r>
              <a:rPr lang="es-ES" sz="2400">
                <a:solidFill>
                  <a:srgbClr val="FF0000"/>
                </a:solidFill>
              </a:rPr>
              <a:t>No hay </a:t>
            </a:r>
            <a:r>
              <a:rPr lang="es-ES" sz="2400" b="1" dirty="0">
                <a:solidFill>
                  <a:srgbClr val="FF0000"/>
                </a:solidFill>
              </a:rPr>
              <a:t>E</a:t>
            </a:r>
            <a:r>
              <a:rPr lang="es-ES" sz="2400" baseline="-25000" dirty="0">
                <a:solidFill>
                  <a:srgbClr val="FF0000"/>
                </a:solidFill>
              </a:rPr>
              <a:t>DIPOLAR</a:t>
            </a:r>
            <a:r>
              <a:rPr lang="es-ES" sz="24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3373" name="Text Box 61"/>
          <p:cNvSpPr txBox="1">
            <a:spLocks noChangeArrowheads="1"/>
          </p:cNvSpPr>
          <p:nvPr/>
        </p:nvSpPr>
        <p:spPr bwMode="auto">
          <a:xfrm>
            <a:off x="8294145" y="2844245"/>
            <a:ext cx="2070577" cy="88407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NO ES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UN DIPOLO</a:t>
            </a:r>
          </a:p>
        </p:txBody>
      </p:sp>
      <p:sp>
        <p:nvSpPr>
          <p:cNvPr id="56" name="Text Box 14">
            <a:extLst>
              <a:ext uri="{FF2B5EF4-FFF2-40B4-BE49-F238E27FC236}">
                <a16:creationId xmlns:a16="http://schemas.microsoft.com/office/drawing/2014/main" id="{49A658D5-D19A-4536-BDBA-BFBE4F034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184" y="5571561"/>
            <a:ext cx="8993411" cy="12752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Tanto los protones como la electrones tienden a desplazarse, pero los protones menos, por su mayor masa, mayor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aún,</a:t>
            </a:r>
          </a:p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por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ser parte del núcleo (&gt;99 % de la masa del átomo)</a:t>
            </a:r>
          </a:p>
        </p:txBody>
      </p:sp>
      <p:sp>
        <p:nvSpPr>
          <p:cNvPr id="41" name="Text Box 60">
            <a:extLst>
              <a:ext uri="{FF2B5EF4-FFF2-40B4-BE49-F238E27FC236}">
                <a16:creationId xmlns:a16="http://schemas.microsoft.com/office/drawing/2014/main" id="{DBF41A77-CF73-4B72-A3F8-A231D2549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6591" y="1368634"/>
            <a:ext cx="5310049" cy="942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</a:rPr>
              <a:t>(se </a:t>
            </a:r>
            <a:r>
              <a:rPr lang="es-ES" sz="2400" dirty="0">
                <a:solidFill>
                  <a:srgbClr val="FF0000"/>
                </a:solidFill>
              </a:rPr>
              <a:t>suelen usar en condensadores por </a:t>
            </a:r>
            <a:r>
              <a:rPr lang="es-ES" sz="2400">
                <a:solidFill>
                  <a:srgbClr val="FF0000"/>
                </a:solidFill>
              </a:rPr>
              <a:t>tener un </a:t>
            </a:r>
            <a:r>
              <a:rPr lang="es-ES" sz="2400" dirty="0">
                <a:solidFill>
                  <a:srgbClr val="FF0000"/>
                </a:solidFill>
              </a:rPr>
              <a:t>comportamiento lineal)</a:t>
            </a:r>
          </a:p>
        </p:txBody>
      </p:sp>
      <p:sp>
        <p:nvSpPr>
          <p:cNvPr id="43" name="AutoShape 28">
            <a:extLst>
              <a:ext uri="{FF2B5EF4-FFF2-40B4-BE49-F238E27FC236}">
                <a16:creationId xmlns:a16="http://schemas.microsoft.com/office/drawing/2014/main" id="{F28BA6D3-2DAB-4A5A-A996-348786EBFA2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574253" y="3019278"/>
            <a:ext cx="305860" cy="569913"/>
          </a:xfrm>
          <a:prstGeom prst="rightArrow">
            <a:avLst>
              <a:gd name="adj1" fmla="val 39898"/>
              <a:gd name="adj2" fmla="val 48345"/>
            </a:avLst>
          </a:prstGeom>
          <a:solidFill>
            <a:schemeClr val="accent1"/>
          </a:solidFill>
          <a:ln>
            <a:noFill/>
          </a:ln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125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4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7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7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7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444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3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3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44427" grpId="0" animBg="1"/>
      <p:bldP spid="37933" grpId="0"/>
      <p:bldP spid="444442" grpId="0" animBg="1"/>
      <p:bldP spid="13372" grpId="0"/>
      <p:bldP spid="13373" grpId="0" animBg="1"/>
      <p:bldP spid="56" grpId="0" animBg="1"/>
      <p:bldP spid="41" grpId="0"/>
      <p:bldP spid="4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ángulo 38"/>
          <p:cNvSpPr/>
          <p:nvPr/>
        </p:nvSpPr>
        <p:spPr bwMode="auto">
          <a:xfrm>
            <a:off x="1388551" y="851300"/>
            <a:ext cx="3137951" cy="1980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118800" rIns="90000" bIns="82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2" name="Grupo 1"/>
          <p:cNvGrpSpPr>
            <a:grpSpLocks/>
          </p:cNvGrpSpPr>
          <p:nvPr/>
        </p:nvGrpSpPr>
        <p:grpSpPr bwMode="auto">
          <a:xfrm>
            <a:off x="1420038" y="1190195"/>
            <a:ext cx="3104033" cy="1359017"/>
            <a:chOff x="6908185" y="2020523"/>
            <a:chExt cx="3104033" cy="1359017"/>
          </a:xfrm>
        </p:grpSpPr>
        <p:grpSp>
          <p:nvGrpSpPr>
            <p:cNvPr id="37908" name="Group 63"/>
            <p:cNvGrpSpPr>
              <a:grpSpLocks/>
            </p:cNvGrpSpPr>
            <p:nvPr/>
          </p:nvGrpSpPr>
          <p:grpSpPr bwMode="auto">
            <a:xfrm>
              <a:off x="7656507" y="2020523"/>
              <a:ext cx="1566862" cy="782638"/>
              <a:chOff x="4865" y="1270"/>
              <a:chExt cx="987" cy="493"/>
            </a:xfrm>
          </p:grpSpPr>
          <p:sp>
            <p:nvSpPr>
              <p:cNvPr id="37910" name="Oval 3"/>
              <p:cNvSpPr>
                <a:spLocks noChangeArrowheads="1"/>
              </p:cNvSpPr>
              <p:nvPr/>
            </p:nvSpPr>
            <p:spPr bwMode="auto">
              <a:xfrm>
                <a:off x="4865" y="1270"/>
                <a:ext cx="987" cy="493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7911" name="Text Box 9"/>
              <p:cNvSpPr txBox="1">
                <a:spLocks noChangeArrowheads="1"/>
              </p:cNvSpPr>
              <p:nvPr/>
            </p:nvSpPr>
            <p:spPr bwMode="auto">
              <a:xfrm>
                <a:off x="5522" y="1307"/>
                <a:ext cx="264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32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37912" name="Text Box 10"/>
              <p:cNvSpPr txBox="1">
                <a:spLocks noChangeArrowheads="1"/>
              </p:cNvSpPr>
              <p:nvPr/>
            </p:nvSpPr>
            <p:spPr bwMode="auto">
              <a:xfrm>
                <a:off x="4942" y="1290"/>
                <a:ext cx="199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32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sp>
          <p:nvSpPr>
            <p:cNvPr id="37909" name="Text Box 15"/>
            <p:cNvSpPr txBox="1">
              <a:spLocks noChangeArrowheads="1"/>
            </p:cNvSpPr>
            <p:nvPr/>
          </p:nvSpPr>
          <p:spPr bwMode="auto">
            <a:xfrm>
              <a:off x="6908185" y="2842991"/>
              <a:ext cx="3104033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latin typeface="Arial" panose="020B0604020202020204" pitchFamily="34" charset="0"/>
                </a:rPr>
                <a:t>Molécula</a:t>
              </a: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 polarizada</a:t>
              </a:r>
            </a:p>
          </p:txBody>
        </p:sp>
      </p:grpSp>
      <p:grpSp>
        <p:nvGrpSpPr>
          <p:cNvPr id="37914" name="Group 58"/>
          <p:cNvGrpSpPr>
            <a:grpSpLocks/>
          </p:cNvGrpSpPr>
          <p:nvPr/>
        </p:nvGrpSpPr>
        <p:grpSpPr bwMode="auto">
          <a:xfrm>
            <a:off x="1399542" y="872550"/>
            <a:ext cx="869951" cy="469900"/>
            <a:chOff x="5530" y="1120"/>
            <a:chExt cx="548" cy="296"/>
          </a:xfrm>
        </p:grpSpPr>
        <p:sp>
          <p:nvSpPr>
            <p:cNvPr id="37915" name="Line 4"/>
            <p:cNvSpPr>
              <a:spLocks noChangeShapeType="1"/>
            </p:cNvSpPr>
            <p:nvPr/>
          </p:nvSpPr>
          <p:spPr bwMode="auto">
            <a:xfrm flipV="1">
              <a:off x="5759" y="1300"/>
              <a:ext cx="31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  <p:sp>
          <p:nvSpPr>
            <p:cNvPr id="37916" name="Text Box 5"/>
            <p:cNvSpPr txBox="1">
              <a:spLocks noChangeArrowheads="1"/>
            </p:cNvSpPr>
            <p:nvPr/>
          </p:nvSpPr>
          <p:spPr bwMode="auto">
            <a:xfrm>
              <a:off x="5530" y="1120"/>
              <a:ext cx="22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37917" name="Line 6"/>
            <p:cNvSpPr>
              <a:spLocks noChangeShapeType="1"/>
            </p:cNvSpPr>
            <p:nvPr/>
          </p:nvSpPr>
          <p:spPr bwMode="auto">
            <a:xfrm>
              <a:off x="5594" y="1173"/>
              <a:ext cx="136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</p:grpSp>
      <p:sp>
        <p:nvSpPr>
          <p:cNvPr id="44" name="Text Box 60"/>
          <p:cNvSpPr txBox="1">
            <a:spLocks noChangeArrowheads="1"/>
          </p:cNvSpPr>
          <p:nvPr/>
        </p:nvSpPr>
        <p:spPr bwMode="auto">
          <a:xfrm>
            <a:off x="1410636" y="2319385"/>
            <a:ext cx="2957177" cy="572901"/>
          </a:xfrm>
          <a:prstGeom prst="rect">
            <a:avLst/>
          </a:prstGeom>
          <a:noFill/>
          <a:ln>
            <a:noFill/>
          </a:ln>
        </p:spPr>
        <p:txBody>
          <a:bodyPr wrap="square" lIns="90000" tIns="118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y orientada</a:t>
            </a:r>
          </a:p>
        </p:txBody>
      </p:sp>
      <p:sp>
        <p:nvSpPr>
          <p:cNvPr id="45" name="Text Box 19"/>
          <p:cNvSpPr txBox="1">
            <a:spLocks noChangeArrowheads="1"/>
          </p:cNvSpPr>
          <p:nvPr/>
        </p:nvSpPr>
        <p:spPr bwMode="auto">
          <a:xfrm>
            <a:off x="1373514" y="2827903"/>
            <a:ext cx="3150557" cy="1275213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si al polarizarse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no lo está,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debe poder girar)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7" name="Text Box 12">
            <a:extLst>
              <a:ext uri="{FF2B5EF4-FFF2-40B4-BE49-F238E27FC236}">
                <a16:creationId xmlns:a16="http://schemas.microsoft.com/office/drawing/2014/main" id="{D82DF810-99AF-41F6-B4C7-B7FB52FAB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9870" y="1061774"/>
            <a:ext cx="3125309" cy="905881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Posiciones </a:t>
            </a:r>
            <a:r>
              <a:rPr lang="es-ES" sz="2400" dirty="0">
                <a:latin typeface="Arial" panose="020B0604020202020204" pitchFamily="34" charset="0"/>
              </a:rPr>
              <a:t>promedio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no coinciden</a:t>
            </a:r>
          </a:p>
        </p:txBody>
      </p:sp>
      <p:sp>
        <p:nvSpPr>
          <p:cNvPr id="38" name="Text Box 24">
            <a:extLst>
              <a:ext uri="{FF2B5EF4-FFF2-40B4-BE49-F238E27FC236}">
                <a16:creationId xmlns:a16="http://schemas.microsoft.com/office/drawing/2014/main" id="{352853F7-4C18-4E72-B4CE-B94D4607E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4145" y="914310"/>
            <a:ext cx="2070577" cy="125340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ES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UN DIPOLO INDUCIDO</a:t>
            </a:r>
          </a:p>
        </p:txBody>
      </p:sp>
      <p:sp>
        <p:nvSpPr>
          <p:cNvPr id="40" name="Text Box 60">
            <a:extLst>
              <a:ext uri="{FF2B5EF4-FFF2-40B4-BE49-F238E27FC236}">
                <a16:creationId xmlns:a16="http://schemas.microsoft.com/office/drawing/2014/main" id="{0C6976B8-0D1C-40EB-A351-E514927F0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2075" y="1881855"/>
            <a:ext cx="2626969" cy="942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FF0000"/>
                </a:solidFill>
              </a:rPr>
              <a:t>(</a:t>
            </a:r>
            <a:r>
              <a:rPr lang="es-ES" sz="2400">
                <a:solidFill>
                  <a:srgbClr val="FF0000"/>
                </a:solidFill>
              </a:rPr>
              <a:t>Hay </a:t>
            </a:r>
            <a:r>
              <a:rPr lang="es-ES" sz="2400" b="1">
                <a:solidFill>
                  <a:srgbClr val="FF0000"/>
                </a:solidFill>
              </a:rPr>
              <a:t>E</a:t>
            </a:r>
            <a:r>
              <a:rPr lang="es-ES" sz="2400" baseline="-25000">
                <a:solidFill>
                  <a:srgbClr val="FF0000"/>
                </a:solidFill>
              </a:rPr>
              <a:t>D</a:t>
            </a:r>
            <a:r>
              <a:rPr lang="es-ES" sz="2400">
                <a:solidFill>
                  <a:srgbClr val="FF0000"/>
                </a:solidFill>
              </a:rPr>
              <a:t> </a:t>
            </a:r>
            <a:r>
              <a:rPr lang="es-ES" sz="2400" dirty="0">
                <a:solidFill>
                  <a:srgbClr val="FF0000"/>
                </a:solidFill>
              </a:rPr>
              <a:t>individual y colectivo)</a:t>
            </a:r>
          </a:p>
        </p:txBody>
      </p:sp>
      <p:sp>
        <p:nvSpPr>
          <p:cNvPr id="46" name="AutoShape 28">
            <a:extLst>
              <a:ext uri="{FF2B5EF4-FFF2-40B4-BE49-F238E27FC236}">
                <a16:creationId xmlns:a16="http://schemas.microsoft.com/office/drawing/2014/main" id="{2A673E50-87DA-407B-A6BD-068A07F769B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631948" y="1210301"/>
            <a:ext cx="305860" cy="569913"/>
          </a:xfrm>
          <a:prstGeom prst="rightArrow">
            <a:avLst>
              <a:gd name="adj1" fmla="val 39898"/>
              <a:gd name="adj2" fmla="val 48345"/>
            </a:avLst>
          </a:prstGeom>
          <a:solidFill>
            <a:schemeClr val="accent1"/>
          </a:solidFill>
          <a:ln>
            <a:noFill/>
          </a:ln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5" name="Group 54">
            <a:extLst>
              <a:ext uri="{FF2B5EF4-FFF2-40B4-BE49-F238E27FC236}">
                <a16:creationId xmlns:a16="http://schemas.microsoft.com/office/drawing/2014/main" id="{D7B7F17D-9E01-B7AD-D42D-628D0D598D9E}"/>
              </a:ext>
            </a:extLst>
          </p:cNvPr>
          <p:cNvGrpSpPr>
            <a:grpSpLocks/>
          </p:cNvGrpSpPr>
          <p:nvPr/>
        </p:nvGrpSpPr>
        <p:grpSpPr bwMode="auto">
          <a:xfrm>
            <a:off x="2687970" y="227746"/>
            <a:ext cx="2386013" cy="538163"/>
            <a:chOff x="3674" y="1204"/>
            <a:chExt cx="1503" cy="339"/>
          </a:xfrm>
        </p:grpSpPr>
        <p:sp>
          <p:nvSpPr>
            <p:cNvPr id="7" name="AutoShape 28">
              <a:extLst>
                <a:ext uri="{FF2B5EF4-FFF2-40B4-BE49-F238E27FC236}">
                  <a16:creationId xmlns:a16="http://schemas.microsoft.com/office/drawing/2014/main" id="{64F8B813-5F3E-0FEE-7BCB-1DBA664344D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689" y="1232"/>
              <a:ext cx="296" cy="326"/>
            </a:xfrm>
            <a:prstGeom prst="rightArrow">
              <a:avLst>
                <a:gd name="adj1" fmla="val 39898"/>
                <a:gd name="adj2" fmla="val 50512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" name="Text Box 29">
              <a:extLst>
                <a:ext uri="{FF2B5EF4-FFF2-40B4-BE49-F238E27FC236}">
                  <a16:creationId xmlns:a16="http://schemas.microsoft.com/office/drawing/2014/main" id="{7D1748F0-E141-D986-E9DD-BD02602757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1" y="1204"/>
              <a:ext cx="1096" cy="338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Al aplicar E</a:t>
              </a:r>
            </a:p>
          </p:txBody>
        </p:sp>
        <p:sp>
          <p:nvSpPr>
            <p:cNvPr id="9" name="Line 30">
              <a:extLst>
                <a:ext uri="{FF2B5EF4-FFF2-40B4-BE49-F238E27FC236}">
                  <a16:creationId xmlns:a16="http://schemas.microsoft.com/office/drawing/2014/main" id="{E200766F-F98D-52F6-360F-EC4ED626EE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1" y="1256"/>
              <a:ext cx="136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sp>
        <p:nvSpPr>
          <p:cNvPr id="10" name="Rectángulo 9">
            <a:extLst>
              <a:ext uri="{FF2B5EF4-FFF2-40B4-BE49-F238E27FC236}">
                <a16:creationId xmlns:a16="http://schemas.microsoft.com/office/drawing/2014/main" id="{F25ACE65-B3C5-0FF0-5343-D89257A1C11A}"/>
              </a:ext>
            </a:extLst>
          </p:cNvPr>
          <p:cNvSpPr/>
          <p:nvPr/>
        </p:nvSpPr>
        <p:spPr bwMode="auto">
          <a:xfrm>
            <a:off x="1323306" y="5075327"/>
            <a:ext cx="3137951" cy="177819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118800" rIns="90000" bIns="82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11" name="Group 48">
            <a:extLst>
              <a:ext uri="{FF2B5EF4-FFF2-40B4-BE49-F238E27FC236}">
                <a16:creationId xmlns:a16="http://schemas.microsoft.com/office/drawing/2014/main" id="{26114F1E-166F-4DF2-0583-CD83C46FDDFD}"/>
              </a:ext>
            </a:extLst>
          </p:cNvPr>
          <p:cNvGrpSpPr>
            <a:grpSpLocks/>
          </p:cNvGrpSpPr>
          <p:nvPr/>
        </p:nvGrpSpPr>
        <p:grpSpPr bwMode="auto">
          <a:xfrm>
            <a:off x="1424548" y="5237447"/>
            <a:ext cx="2995613" cy="1616078"/>
            <a:chOff x="1097" y="1140"/>
            <a:chExt cx="1887" cy="1018"/>
          </a:xfrm>
        </p:grpSpPr>
        <p:sp>
          <p:nvSpPr>
            <p:cNvPr id="12" name="Oval 17">
              <a:extLst>
                <a:ext uri="{FF2B5EF4-FFF2-40B4-BE49-F238E27FC236}">
                  <a16:creationId xmlns:a16="http://schemas.microsoft.com/office/drawing/2014/main" id="{0C6DBF5E-A1D5-15BD-BD59-A3A5A3EF6C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" y="1140"/>
              <a:ext cx="680" cy="680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Text Box 18">
              <a:extLst>
                <a:ext uri="{FF2B5EF4-FFF2-40B4-BE49-F238E27FC236}">
                  <a16:creationId xmlns:a16="http://schemas.microsoft.com/office/drawing/2014/main" id="{4EE69771-C304-B1C3-099A-07E7936B82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7" y="1820"/>
              <a:ext cx="1887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latin typeface="Arial" panose="020B0604020202020204" pitchFamily="34" charset="0"/>
                </a:rPr>
                <a:t>Molécula</a:t>
              </a:r>
              <a:r>
                <a:rPr lang="es-ES" sz="2400" b="1" dirty="0">
                  <a:solidFill>
                    <a:srgbClr val="008000"/>
                  </a:solidFill>
                  <a:latin typeface="Arial" panose="020B0604020202020204" pitchFamily="34" charset="0"/>
                </a:rPr>
                <a:t> No Polar</a:t>
              </a:r>
            </a:p>
          </p:txBody>
        </p:sp>
      </p:grpSp>
      <p:grpSp>
        <p:nvGrpSpPr>
          <p:cNvPr id="14" name="Group 54">
            <a:extLst>
              <a:ext uri="{FF2B5EF4-FFF2-40B4-BE49-F238E27FC236}">
                <a16:creationId xmlns:a16="http://schemas.microsoft.com/office/drawing/2014/main" id="{BE0037AD-A3B0-D86B-4C2D-57F4B310FA9A}"/>
              </a:ext>
            </a:extLst>
          </p:cNvPr>
          <p:cNvGrpSpPr>
            <a:grpSpLocks/>
          </p:cNvGrpSpPr>
          <p:nvPr/>
        </p:nvGrpSpPr>
        <p:grpSpPr bwMode="auto">
          <a:xfrm>
            <a:off x="2649581" y="4287400"/>
            <a:ext cx="2247900" cy="538163"/>
            <a:chOff x="3674" y="1204"/>
            <a:chExt cx="1416" cy="339"/>
          </a:xfrm>
        </p:grpSpPr>
        <p:sp>
          <p:nvSpPr>
            <p:cNvPr id="15" name="AutoShape 28">
              <a:extLst>
                <a:ext uri="{FF2B5EF4-FFF2-40B4-BE49-F238E27FC236}">
                  <a16:creationId xmlns:a16="http://schemas.microsoft.com/office/drawing/2014/main" id="{402D1CEE-B441-5363-9A8B-AADDEBC0B7D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689" y="1232"/>
              <a:ext cx="296" cy="326"/>
            </a:xfrm>
            <a:prstGeom prst="rightArrow">
              <a:avLst>
                <a:gd name="adj1" fmla="val 39898"/>
                <a:gd name="adj2" fmla="val 50512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Text Box 29">
              <a:extLst>
                <a:ext uri="{FF2B5EF4-FFF2-40B4-BE49-F238E27FC236}">
                  <a16:creationId xmlns:a16="http://schemas.microsoft.com/office/drawing/2014/main" id="{7D9FC191-B35F-0303-2F28-E8A7D4D048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1" y="1204"/>
              <a:ext cx="1009" cy="338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Al quitar E</a:t>
              </a:r>
            </a:p>
          </p:txBody>
        </p:sp>
        <p:sp>
          <p:nvSpPr>
            <p:cNvPr id="17" name="Line 30">
              <a:extLst>
                <a:ext uri="{FF2B5EF4-FFF2-40B4-BE49-F238E27FC236}">
                  <a16:creationId xmlns:a16="http://schemas.microsoft.com/office/drawing/2014/main" id="{9F29C14B-0B4A-9220-3876-0D04A6D2CC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1" y="1256"/>
              <a:ext cx="136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sp>
        <p:nvSpPr>
          <p:cNvPr id="18" name="Text Box 25">
            <a:extLst>
              <a:ext uri="{FF2B5EF4-FFF2-40B4-BE49-F238E27FC236}">
                <a16:creationId xmlns:a16="http://schemas.microsoft.com/office/drawing/2014/main" id="{CD0784CF-51CD-22FA-66E4-CD86BDFEB5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4585" y="5305240"/>
            <a:ext cx="2070577" cy="1311564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118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Polarización no permanente</a:t>
            </a:r>
          </a:p>
        </p:txBody>
      </p:sp>
      <p:sp>
        <p:nvSpPr>
          <p:cNvPr id="20" name="Text Box 60">
            <a:extLst>
              <a:ext uri="{FF2B5EF4-FFF2-40B4-BE49-F238E27FC236}">
                <a16:creationId xmlns:a16="http://schemas.microsoft.com/office/drawing/2014/main" id="{5B5A4F0D-755F-1BB1-17AE-0D581FECBB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8421" y="5311750"/>
            <a:ext cx="3136758" cy="131156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118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Las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fuerzas de </a:t>
            </a: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</a:rPr>
              <a:t>cohesión </a:t>
            </a:r>
            <a:r>
              <a:rPr lang="es-ES" sz="2400">
                <a:latin typeface="Arial" panose="020B0604020202020204" pitchFamily="34" charset="0"/>
              </a:rPr>
              <a:t>deshacen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la </a:t>
            </a:r>
            <a:r>
              <a:rPr lang="es-ES" sz="2400" dirty="0">
                <a:latin typeface="Arial" panose="020B0604020202020204" pitchFamily="34" charset="0"/>
              </a:rPr>
              <a:t>polarización</a:t>
            </a:r>
          </a:p>
        </p:txBody>
      </p:sp>
      <p:sp>
        <p:nvSpPr>
          <p:cNvPr id="21" name="AutoShape 28">
            <a:extLst>
              <a:ext uri="{FF2B5EF4-FFF2-40B4-BE49-F238E27FC236}">
                <a16:creationId xmlns:a16="http://schemas.microsoft.com/office/drawing/2014/main" id="{BFA212D8-F219-6B87-8F68-E9BF81A1C2A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626851" y="5698689"/>
            <a:ext cx="305860" cy="569913"/>
          </a:xfrm>
          <a:prstGeom prst="rightArrow">
            <a:avLst>
              <a:gd name="adj1" fmla="val 39898"/>
              <a:gd name="adj2" fmla="val 48345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C3A718B5-BDB0-6CE8-ED5E-6BBD9C1FE54B}"/>
              </a:ext>
            </a:extLst>
          </p:cNvPr>
          <p:cNvGrpSpPr/>
          <p:nvPr/>
        </p:nvGrpSpPr>
        <p:grpSpPr>
          <a:xfrm>
            <a:off x="8148439" y="2573975"/>
            <a:ext cx="2353076" cy="2428251"/>
            <a:chOff x="5247310" y="4636243"/>
            <a:chExt cx="2353076" cy="2428251"/>
          </a:xfrm>
        </p:grpSpPr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AA903831-FC64-A779-A514-E03A5B4A5037}"/>
                </a:ext>
              </a:extLst>
            </p:cNvPr>
            <p:cNvGrpSpPr/>
            <p:nvPr/>
          </p:nvGrpSpPr>
          <p:grpSpPr>
            <a:xfrm>
              <a:off x="5438645" y="4636243"/>
              <a:ext cx="1972993" cy="1980000"/>
              <a:chOff x="7434333" y="1872868"/>
              <a:chExt cx="1972993" cy="1980000"/>
            </a:xfrm>
          </p:grpSpPr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D8B692B9-7662-F31D-C6BB-B77D9B314055}"/>
                  </a:ext>
                </a:extLst>
              </p:cNvPr>
              <p:cNvSpPr/>
              <p:nvPr/>
            </p:nvSpPr>
            <p:spPr bwMode="auto">
              <a:xfrm>
                <a:off x="7434333" y="1872868"/>
                <a:ext cx="1972993" cy="1980000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lg" len="lg"/>
              </a:ln>
              <a:effectLst/>
            </p:spPr>
            <p:txBody>
              <a:bodyPr vert="horz" wrap="square" lIns="90000" tIns="118800" rIns="90000" bIns="8280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endParaRPr>
              </a:p>
            </p:txBody>
          </p:sp>
          <p:grpSp>
            <p:nvGrpSpPr>
              <p:cNvPr id="26" name="Group 144">
                <a:extLst>
                  <a:ext uri="{FF2B5EF4-FFF2-40B4-BE49-F238E27FC236}">
                    <a16:creationId xmlns:a16="http://schemas.microsoft.com/office/drawing/2014/main" id="{F31E23AD-21F9-0749-3A16-AADB7DE922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25416" y="1941429"/>
                <a:ext cx="979487" cy="469900"/>
                <a:chOff x="5049" y="2476"/>
                <a:chExt cx="617" cy="296"/>
              </a:xfrm>
            </p:grpSpPr>
            <p:sp>
              <p:nvSpPr>
                <p:cNvPr id="444416" name="Line 68">
                  <a:extLst>
                    <a:ext uri="{FF2B5EF4-FFF2-40B4-BE49-F238E27FC236}">
                      <a16:creationId xmlns:a16="http://schemas.microsoft.com/office/drawing/2014/main" id="{FA3E91C9-8678-C075-4416-67D5A188A6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49" y="2750"/>
                  <a:ext cx="617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82800" rIns="90000" bIns="82800"/>
                <a:lstStyle/>
                <a:p>
                  <a:endParaRPr lang="en-GB"/>
                </a:p>
              </p:txBody>
            </p:sp>
            <p:sp>
              <p:nvSpPr>
                <p:cNvPr id="444417" name="Text Box 69">
                  <a:extLst>
                    <a:ext uri="{FF2B5EF4-FFF2-40B4-BE49-F238E27FC236}">
                      <a16:creationId xmlns:a16="http://schemas.microsoft.com/office/drawing/2014/main" id="{622B3891-60D2-F8F9-AEFD-FBF1F60E129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228" y="2476"/>
                  <a:ext cx="221" cy="2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 b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444418" name="Line 70">
                  <a:extLst>
                    <a:ext uri="{FF2B5EF4-FFF2-40B4-BE49-F238E27FC236}">
                      <a16:creationId xmlns:a16="http://schemas.microsoft.com/office/drawing/2014/main" id="{2162BFB1-F051-1F83-E96F-D61B95B27F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9" y="2533"/>
                  <a:ext cx="136" cy="0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/>
                  <a:tailEnd type="stealth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82800" rIns="90000" bIns="82800"/>
                <a:lstStyle/>
                <a:p>
                  <a:endParaRPr lang="en-GB"/>
                </a:p>
              </p:txBody>
            </p:sp>
          </p:grpSp>
          <p:sp>
            <p:nvSpPr>
              <p:cNvPr id="27" name="Oval 72">
                <a:extLst>
                  <a:ext uri="{FF2B5EF4-FFF2-40B4-BE49-F238E27FC236}">
                    <a16:creationId xmlns:a16="http://schemas.microsoft.com/office/drawing/2014/main" id="{0946C8FC-83DA-A259-6765-7B5FD46267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57629" y="2656138"/>
                <a:ext cx="534014" cy="26700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8" name="Text Box 73">
                <a:extLst>
                  <a:ext uri="{FF2B5EF4-FFF2-40B4-BE49-F238E27FC236}">
                    <a16:creationId xmlns:a16="http://schemas.microsoft.com/office/drawing/2014/main" id="{EEF0F018-2D5F-4569-C5E1-0378286630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36899" y="2562997"/>
                <a:ext cx="223069" cy="3120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29" name="Text Box 74">
                <a:extLst>
                  <a:ext uri="{FF2B5EF4-FFF2-40B4-BE49-F238E27FC236}">
                    <a16:creationId xmlns:a16="http://schemas.microsoft.com/office/drawing/2014/main" id="{DC64F785-30EA-692C-3961-9F32BCED9F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16941" y="2543845"/>
                <a:ext cx="182511" cy="3120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30" name="Oval 76">
                <a:extLst>
                  <a:ext uri="{FF2B5EF4-FFF2-40B4-BE49-F238E27FC236}">
                    <a16:creationId xmlns:a16="http://schemas.microsoft.com/office/drawing/2014/main" id="{AB508B9B-A312-8A86-D836-5743A4E7B0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21204" y="2656138"/>
                <a:ext cx="534014" cy="26700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1" name="Text Box 77">
                <a:extLst>
                  <a:ext uri="{FF2B5EF4-FFF2-40B4-BE49-F238E27FC236}">
                    <a16:creationId xmlns:a16="http://schemas.microsoft.com/office/drawing/2014/main" id="{5EC847DB-22A4-21FB-C5D5-07CF7BA802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00474" y="2562997"/>
                <a:ext cx="223069" cy="3120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32" name="Text Box 78">
                <a:extLst>
                  <a:ext uri="{FF2B5EF4-FFF2-40B4-BE49-F238E27FC236}">
                    <a16:creationId xmlns:a16="http://schemas.microsoft.com/office/drawing/2014/main" id="{A297DD51-0D8F-D98E-C4D6-0575919120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80516" y="2543845"/>
                <a:ext cx="182511" cy="3120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33" name="Oval 80">
                <a:extLst>
                  <a:ext uri="{FF2B5EF4-FFF2-40B4-BE49-F238E27FC236}">
                    <a16:creationId xmlns:a16="http://schemas.microsoft.com/office/drawing/2014/main" id="{A7529594-740E-446A-42C9-830490835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5599" y="2656138"/>
                <a:ext cx="534014" cy="26700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4" name="Text Box 81">
                <a:extLst>
                  <a:ext uri="{FF2B5EF4-FFF2-40B4-BE49-F238E27FC236}">
                    <a16:creationId xmlns:a16="http://schemas.microsoft.com/office/drawing/2014/main" id="{7E2F6061-5BD4-13E5-0C86-66E057E3D3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04869" y="2562997"/>
                <a:ext cx="223069" cy="3120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35" name="Text Box 82">
                <a:extLst>
                  <a:ext uri="{FF2B5EF4-FFF2-40B4-BE49-F238E27FC236}">
                    <a16:creationId xmlns:a16="http://schemas.microsoft.com/office/drawing/2014/main" id="{9FF97A4D-6D5C-585B-2312-46D4DA24E3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84911" y="2543845"/>
                <a:ext cx="182511" cy="3120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36" name="Oval 84">
                <a:extLst>
                  <a:ext uri="{FF2B5EF4-FFF2-40B4-BE49-F238E27FC236}">
                    <a16:creationId xmlns:a16="http://schemas.microsoft.com/office/drawing/2014/main" id="{9B534676-C965-1468-33FE-987F854353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53122" y="3023414"/>
                <a:ext cx="534014" cy="26700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2" name="Text Box 85">
                <a:extLst>
                  <a:ext uri="{FF2B5EF4-FFF2-40B4-BE49-F238E27FC236}">
                    <a16:creationId xmlns:a16="http://schemas.microsoft.com/office/drawing/2014/main" id="{197F37D1-93FF-0370-357D-DAA7EF9AEE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32392" y="2930273"/>
                <a:ext cx="223069" cy="3120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7" name="Text Box 86">
                <a:extLst>
                  <a:ext uri="{FF2B5EF4-FFF2-40B4-BE49-F238E27FC236}">
                    <a16:creationId xmlns:a16="http://schemas.microsoft.com/office/drawing/2014/main" id="{6C7F57DB-B22E-C9C5-6EB5-7FCA3D57DF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12434" y="2911121"/>
                <a:ext cx="182511" cy="3120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48" name="Oval 88">
                <a:extLst>
                  <a:ext uri="{FF2B5EF4-FFF2-40B4-BE49-F238E27FC236}">
                    <a16:creationId xmlns:a16="http://schemas.microsoft.com/office/drawing/2014/main" id="{FF1ECADE-BCD3-D71F-BF91-09FDF5DD8E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16697" y="3023414"/>
                <a:ext cx="534014" cy="26700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9" name="Text Box 89">
                <a:extLst>
                  <a:ext uri="{FF2B5EF4-FFF2-40B4-BE49-F238E27FC236}">
                    <a16:creationId xmlns:a16="http://schemas.microsoft.com/office/drawing/2014/main" id="{9303EBF0-255E-1265-7A63-D4B041FF13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95967" y="2930273"/>
                <a:ext cx="223069" cy="3120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50" name="Text Box 90">
                <a:extLst>
                  <a:ext uri="{FF2B5EF4-FFF2-40B4-BE49-F238E27FC236}">
                    <a16:creationId xmlns:a16="http://schemas.microsoft.com/office/drawing/2014/main" id="{B7AA7628-523C-0AC3-5D05-5CCC0077B7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76009" y="2911121"/>
                <a:ext cx="182511" cy="3120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51" name="Oval 92">
                <a:extLst>
                  <a:ext uri="{FF2B5EF4-FFF2-40B4-BE49-F238E27FC236}">
                    <a16:creationId xmlns:a16="http://schemas.microsoft.com/office/drawing/2014/main" id="{B0115479-C8EB-61A6-1E78-1F236098B9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1092" y="3023414"/>
                <a:ext cx="534014" cy="26700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2" name="Text Box 93">
                <a:extLst>
                  <a:ext uri="{FF2B5EF4-FFF2-40B4-BE49-F238E27FC236}">
                    <a16:creationId xmlns:a16="http://schemas.microsoft.com/office/drawing/2014/main" id="{DF532857-EC55-E035-0242-A5A96681E5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00362" y="2930273"/>
                <a:ext cx="223069" cy="3120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53" name="Text Box 94">
                <a:extLst>
                  <a:ext uri="{FF2B5EF4-FFF2-40B4-BE49-F238E27FC236}">
                    <a16:creationId xmlns:a16="http://schemas.microsoft.com/office/drawing/2014/main" id="{4E5051D0-6E3E-35D0-D65C-746A38624F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80404" y="2911121"/>
                <a:ext cx="182511" cy="3120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54" name="Oval 96">
                <a:extLst>
                  <a:ext uri="{FF2B5EF4-FFF2-40B4-BE49-F238E27FC236}">
                    <a16:creationId xmlns:a16="http://schemas.microsoft.com/office/drawing/2014/main" id="{388AFF00-57CC-3066-7B4B-EAFE567DB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8616" y="3401956"/>
                <a:ext cx="534014" cy="26700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5" name="Text Box 97">
                <a:extLst>
                  <a:ext uri="{FF2B5EF4-FFF2-40B4-BE49-F238E27FC236}">
                    <a16:creationId xmlns:a16="http://schemas.microsoft.com/office/drawing/2014/main" id="{3BF64CF0-1CD9-7939-2F2B-BEA8C1FC78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27886" y="3308815"/>
                <a:ext cx="223069" cy="3120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57" name="Text Box 98">
                <a:extLst>
                  <a:ext uri="{FF2B5EF4-FFF2-40B4-BE49-F238E27FC236}">
                    <a16:creationId xmlns:a16="http://schemas.microsoft.com/office/drawing/2014/main" id="{03C0B993-D887-BBD0-2DF0-A607A1DD2B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07928" y="3289663"/>
                <a:ext cx="182511" cy="3120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58" name="Oval 100">
                <a:extLst>
                  <a:ext uri="{FF2B5EF4-FFF2-40B4-BE49-F238E27FC236}">
                    <a16:creationId xmlns:a16="http://schemas.microsoft.com/office/drawing/2014/main" id="{31EAF667-B91E-FB8B-53BA-5B71F9D2C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12191" y="3401956"/>
                <a:ext cx="534014" cy="26700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9" name="Text Box 101">
                <a:extLst>
                  <a:ext uri="{FF2B5EF4-FFF2-40B4-BE49-F238E27FC236}">
                    <a16:creationId xmlns:a16="http://schemas.microsoft.com/office/drawing/2014/main" id="{3E6F9128-9C6D-3718-A1B6-AEEE64E063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91461" y="3308815"/>
                <a:ext cx="223069" cy="3120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60" name="Text Box 102">
                <a:extLst>
                  <a:ext uri="{FF2B5EF4-FFF2-40B4-BE49-F238E27FC236}">
                    <a16:creationId xmlns:a16="http://schemas.microsoft.com/office/drawing/2014/main" id="{61CAAFCD-E479-7738-A008-D189533D33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71503" y="3289663"/>
                <a:ext cx="182511" cy="3120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61" name="Oval 104">
                <a:extLst>
                  <a:ext uri="{FF2B5EF4-FFF2-40B4-BE49-F238E27FC236}">
                    <a16:creationId xmlns:a16="http://schemas.microsoft.com/office/drawing/2014/main" id="{E0970A1C-F532-59DC-01A3-57A81C3687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16586" y="3401956"/>
                <a:ext cx="534014" cy="26700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2" name="Text Box 105">
                <a:extLst>
                  <a:ext uri="{FF2B5EF4-FFF2-40B4-BE49-F238E27FC236}">
                    <a16:creationId xmlns:a16="http://schemas.microsoft.com/office/drawing/2014/main" id="{21058B02-3135-5883-5DB3-1B7BE71A77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95856" y="3308815"/>
                <a:ext cx="223069" cy="3120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63" name="Text Box 106">
                <a:extLst>
                  <a:ext uri="{FF2B5EF4-FFF2-40B4-BE49-F238E27FC236}">
                    <a16:creationId xmlns:a16="http://schemas.microsoft.com/office/drawing/2014/main" id="{A2F09548-286A-DE82-A9DA-D674876D26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75898" y="3289663"/>
                <a:ext cx="182511" cy="3120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sp>
          <p:nvSpPr>
            <p:cNvPr id="24" name="Text Box 60">
              <a:extLst>
                <a:ext uri="{FF2B5EF4-FFF2-40B4-BE49-F238E27FC236}">
                  <a16:creationId xmlns:a16="http://schemas.microsoft.com/office/drawing/2014/main" id="{8110D88E-61B2-FC41-8658-333BFF86AE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7310" y="6491593"/>
              <a:ext cx="2353076" cy="5729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118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FF0000"/>
                  </a:solidFill>
                </a:rPr>
                <a:t>(un conjunto</a:t>
              </a:r>
              <a:r>
                <a:rPr lang="es-ES" sz="2400" dirty="0">
                  <a:solidFill>
                    <a:srgbClr val="FF0000"/>
                  </a:solidFill>
                </a:rPr>
                <a:t>)</a:t>
              </a:r>
            </a:p>
          </p:txBody>
        </p:sp>
      </p:grpSp>
      <p:sp>
        <p:nvSpPr>
          <p:cNvPr id="444419" name="Text Box 60">
            <a:extLst>
              <a:ext uri="{FF2B5EF4-FFF2-40B4-BE49-F238E27FC236}">
                <a16:creationId xmlns:a16="http://schemas.microsoft.com/office/drawing/2014/main" id="{11E895BD-CA1D-C4D7-B343-997C6B2310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1909" y="2943866"/>
            <a:ext cx="3136758" cy="13115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A mayor </a:t>
            </a:r>
            <a:r>
              <a:rPr lang="es-ES" sz="2400" b="1">
                <a:solidFill>
                  <a:schemeClr val="tx1"/>
                </a:solidFill>
              </a:rPr>
              <a:t>E</a:t>
            </a:r>
            <a:r>
              <a:rPr lang="es-ES" sz="2400">
                <a:solidFill>
                  <a:schemeClr val="tx1"/>
                </a:solidFill>
              </a:rPr>
              <a:t>,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hay más polarización, 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mayor L y mayor </a:t>
            </a:r>
            <a:r>
              <a:rPr lang="es-ES" sz="2400" b="1">
                <a:solidFill>
                  <a:schemeClr val="tx1"/>
                </a:solidFill>
              </a:rPr>
              <a:t>E</a:t>
            </a:r>
            <a:r>
              <a:rPr lang="es-ES" sz="2400" baseline="-25000">
                <a:solidFill>
                  <a:schemeClr val="tx1"/>
                </a:solidFill>
              </a:rPr>
              <a:t>D</a:t>
            </a:r>
            <a:endParaRPr lang="es-E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276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444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4" grpId="0"/>
      <p:bldP spid="45" grpId="0"/>
      <p:bldP spid="37" grpId="0" animBg="1"/>
      <p:bldP spid="38" grpId="0" animBg="1"/>
      <p:bldP spid="40" grpId="0"/>
      <p:bldP spid="46" grpId="0" animBg="1"/>
      <p:bldP spid="10" grpId="0" animBg="1"/>
      <p:bldP spid="18" grpId="0" animBg="1"/>
      <p:bldP spid="20" grpId="0" animBg="1"/>
      <p:bldP spid="21" grpId="0" animBg="1"/>
      <p:bldP spid="4444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4">
            <a:extLst>
              <a:ext uri="{FF2B5EF4-FFF2-40B4-BE49-F238E27FC236}">
                <a16:creationId xmlns:a16="http://schemas.microsoft.com/office/drawing/2014/main" id="{814E1333-5647-40D0-96F6-630BAC021BC6}"/>
              </a:ext>
            </a:extLst>
          </p:cNvPr>
          <p:cNvGrpSpPr>
            <a:grpSpLocks/>
          </p:cNvGrpSpPr>
          <p:nvPr/>
        </p:nvGrpSpPr>
        <p:grpSpPr bwMode="auto">
          <a:xfrm>
            <a:off x="1402472" y="3285237"/>
            <a:ext cx="1414463" cy="919163"/>
            <a:chOff x="3173" y="1038"/>
            <a:chExt cx="891" cy="579"/>
          </a:xfrm>
        </p:grpSpPr>
        <p:sp>
          <p:nvSpPr>
            <p:cNvPr id="52" name="AutoShape 28">
              <a:extLst>
                <a:ext uri="{FF2B5EF4-FFF2-40B4-BE49-F238E27FC236}">
                  <a16:creationId xmlns:a16="http://schemas.microsoft.com/office/drawing/2014/main" id="{AA5EB7D6-9096-4413-A825-76DBAA180B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341" y="1148"/>
              <a:ext cx="579" cy="359"/>
            </a:xfrm>
            <a:prstGeom prst="rightArrow">
              <a:avLst>
                <a:gd name="adj1" fmla="val 39898"/>
                <a:gd name="adj2" fmla="val 50512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" name="Text Box 29">
              <a:extLst>
                <a:ext uri="{FF2B5EF4-FFF2-40B4-BE49-F238E27FC236}">
                  <a16:creationId xmlns:a16="http://schemas.microsoft.com/office/drawing/2014/main" id="{08F7E644-14C7-403F-9608-166C418AD4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3" y="1105"/>
              <a:ext cx="891" cy="338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Aplicar E</a:t>
              </a:r>
            </a:p>
          </p:txBody>
        </p:sp>
        <p:sp>
          <p:nvSpPr>
            <p:cNvPr id="54" name="Line 30">
              <a:extLst>
                <a:ext uri="{FF2B5EF4-FFF2-40B4-BE49-F238E27FC236}">
                  <a16:creationId xmlns:a16="http://schemas.microsoft.com/office/drawing/2014/main" id="{D3E78D7D-983E-4D85-A3E4-49A289D3A9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0" y="1161"/>
              <a:ext cx="136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sp>
        <p:nvSpPr>
          <p:cNvPr id="446468" name="Text Box 4"/>
          <p:cNvSpPr txBox="1">
            <a:spLocks noChangeArrowheads="1"/>
          </p:cNvSpPr>
          <p:nvPr/>
        </p:nvSpPr>
        <p:spPr bwMode="auto">
          <a:xfrm>
            <a:off x="4069093" y="454058"/>
            <a:ext cx="3382437" cy="514738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De Moléculas </a:t>
            </a: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Polares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5A3BCC9F-3FFE-46AA-AF34-3B704E1BBC86}"/>
              </a:ext>
            </a:extLst>
          </p:cNvPr>
          <p:cNvGrpSpPr/>
          <p:nvPr/>
        </p:nvGrpSpPr>
        <p:grpSpPr>
          <a:xfrm>
            <a:off x="1384184" y="1078321"/>
            <a:ext cx="3137951" cy="1778198"/>
            <a:chOff x="1384184" y="1078321"/>
            <a:chExt cx="3137951" cy="1778198"/>
          </a:xfrm>
        </p:grpSpPr>
        <p:sp>
          <p:nvSpPr>
            <p:cNvPr id="59" name="Rectángulo 58">
              <a:extLst>
                <a:ext uri="{FF2B5EF4-FFF2-40B4-BE49-F238E27FC236}">
                  <a16:creationId xmlns:a16="http://schemas.microsoft.com/office/drawing/2014/main" id="{C9154766-CA8C-430C-94B6-E307CFA75E47}"/>
                </a:ext>
              </a:extLst>
            </p:cNvPr>
            <p:cNvSpPr/>
            <p:nvPr/>
          </p:nvSpPr>
          <p:spPr bwMode="auto">
            <a:xfrm>
              <a:off x="1384184" y="1078321"/>
              <a:ext cx="3137951" cy="177819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118800" rIns="90000" bIns="828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3" name="Grupo 2"/>
            <p:cNvGrpSpPr/>
            <p:nvPr/>
          </p:nvGrpSpPr>
          <p:grpSpPr>
            <a:xfrm>
              <a:off x="1698269" y="1279982"/>
              <a:ext cx="2352674" cy="1484313"/>
              <a:chOff x="1698269" y="2065175"/>
              <a:chExt cx="2352674" cy="1484313"/>
            </a:xfrm>
          </p:grpSpPr>
          <p:sp>
            <p:nvSpPr>
              <p:cNvPr id="39959" name="Text Box 109"/>
              <p:cNvSpPr txBox="1">
                <a:spLocks noChangeArrowheads="1"/>
              </p:cNvSpPr>
              <p:nvPr/>
            </p:nvSpPr>
            <p:spPr bwMode="auto">
              <a:xfrm>
                <a:off x="1698269" y="3012913"/>
                <a:ext cx="2352674" cy="536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1">
                    <a:latin typeface="Arial" panose="020B0604020202020204" pitchFamily="34" charset="0"/>
                  </a:rPr>
                  <a:t>Molécula </a:t>
                </a:r>
                <a:r>
                  <a:rPr lang="es-ES" sz="2400" b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Polar</a:t>
                </a:r>
              </a:p>
            </p:txBody>
          </p:sp>
          <p:grpSp>
            <p:nvGrpSpPr>
              <p:cNvPr id="39955" name="Group 138"/>
              <p:cNvGrpSpPr>
                <a:grpSpLocks/>
              </p:cNvGrpSpPr>
              <p:nvPr/>
            </p:nvGrpSpPr>
            <p:grpSpPr bwMode="auto">
              <a:xfrm>
                <a:off x="2252304" y="2065175"/>
                <a:ext cx="1076325" cy="757238"/>
                <a:chOff x="5163" y="824"/>
                <a:chExt cx="678" cy="477"/>
              </a:xfrm>
            </p:grpSpPr>
            <p:sp>
              <p:nvSpPr>
                <p:cNvPr id="39956" name="Oval 26"/>
                <p:cNvSpPr>
                  <a:spLocks noChangeArrowheads="1"/>
                </p:cNvSpPr>
                <p:nvPr/>
              </p:nvSpPr>
              <p:spPr bwMode="auto">
                <a:xfrm rot="18953056">
                  <a:off x="5163" y="878"/>
                  <a:ext cx="678" cy="416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9957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5473" y="824"/>
                  <a:ext cx="301" cy="3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39958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5300" y="995"/>
                  <a:ext cx="246" cy="3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</p:grpSp>
      </p:grpSp>
      <p:sp>
        <p:nvSpPr>
          <p:cNvPr id="48" name="Text Box 19"/>
          <p:cNvSpPr txBox="1">
            <a:spLocks noChangeArrowheads="1"/>
          </p:cNvSpPr>
          <p:nvPr/>
        </p:nvSpPr>
        <p:spPr bwMode="auto">
          <a:xfrm>
            <a:off x="4995506" y="4677488"/>
            <a:ext cx="5089422" cy="127521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Y la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agitación térmica </a:t>
            </a:r>
            <a:r>
              <a:rPr lang="es-ES" sz="2400" dirty="0">
                <a:latin typeface="Arial" panose="020B0604020202020204" pitchFamily="34" charset="0"/>
              </a:rPr>
              <a:t>va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desorientando a las moléculas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al hacer interactuar unas con otras</a:t>
            </a:r>
          </a:p>
        </p:txBody>
      </p:sp>
      <p:sp>
        <p:nvSpPr>
          <p:cNvPr id="60" name="Text Box 11">
            <a:extLst>
              <a:ext uri="{FF2B5EF4-FFF2-40B4-BE49-F238E27FC236}">
                <a16:creationId xmlns:a16="http://schemas.microsoft.com/office/drawing/2014/main" id="{CE664D73-8A3B-444B-A183-1F0AE5718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2376" y="1311436"/>
            <a:ext cx="3137951" cy="905881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Posición </a:t>
            </a:r>
            <a:r>
              <a:rPr lang="es-ES" sz="2400" dirty="0">
                <a:latin typeface="Arial" panose="020B0604020202020204" pitchFamily="34" charset="0"/>
              </a:rPr>
              <a:t>promedio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de Q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y Q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no coinciden</a:t>
            </a:r>
          </a:p>
        </p:txBody>
      </p:sp>
      <p:sp>
        <p:nvSpPr>
          <p:cNvPr id="61" name="Text Box 61">
            <a:extLst>
              <a:ext uri="{FF2B5EF4-FFF2-40B4-BE49-F238E27FC236}">
                <a16:creationId xmlns:a16="http://schemas.microsoft.com/office/drawing/2014/main" id="{73F30307-BA3F-44C7-8940-E03870938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4145" y="1320029"/>
            <a:ext cx="2070577" cy="88407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ES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UN DIPOLO</a:t>
            </a:r>
          </a:p>
        </p:txBody>
      </p:sp>
      <p:sp>
        <p:nvSpPr>
          <p:cNvPr id="62" name="Text Box 60">
            <a:extLst>
              <a:ext uri="{FF2B5EF4-FFF2-40B4-BE49-F238E27FC236}">
                <a16:creationId xmlns:a16="http://schemas.microsoft.com/office/drawing/2014/main" id="{D05ACD39-BA06-4198-9B25-93F1E70C7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681" y="2143805"/>
            <a:ext cx="2227867" cy="572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FF0000"/>
                </a:solidFill>
              </a:rPr>
              <a:t>(Hay </a:t>
            </a:r>
            <a:r>
              <a:rPr lang="es-ES" sz="2400" b="1" dirty="0">
                <a:solidFill>
                  <a:srgbClr val="FF0000"/>
                </a:solidFill>
              </a:rPr>
              <a:t>E</a:t>
            </a:r>
            <a:r>
              <a:rPr lang="es-ES" sz="2400" baseline="-25000" dirty="0">
                <a:solidFill>
                  <a:srgbClr val="FF0000"/>
                </a:solidFill>
              </a:rPr>
              <a:t>DIPOLAR</a:t>
            </a:r>
            <a:r>
              <a:rPr lang="es-ES" sz="24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EE9CD850-570A-4C40-A49E-697782F31430}"/>
              </a:ext>
            </a:extLst>
          </p:cNvPr>
          <p:cNvSpPr/>
          <p:nvPr/>
        </p:nvSpPr>
        <p:spPr bwMode="auto">
          <a:xfrm>
            <a:off x="1388551" y="4323896"/>
            <a:ext cx="3137951" cy="226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118800" rIns="90000" bIns="82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7" name="Grupo 6"/>
          <p:cNvGrpSpPr>
            <a:grpSpLocks/>
          </p:cNvGrpSpPr>
          <p:nvPr/>
        </p:nvGrpSpPr>
        <p:grpSpPr bwMode="auto">
          <a:xfrm>
            <a:off x="1754537" y="4722010"/>
            <a:ext cx="2199939" cy="1506203"/>
            <a:chOff x="6126516" y="2039938"/>
            <a:chExt cx="2199939" cy="1506203"/>
          </a:xfrm>
        </p:grpSpPr>
        <p:grpSp>
          <p:nvGrpSpPr>
            <p:cNvPr id="39967" name="Group 133"/>
            <p:cNvGrpSpPr>
              <a:grpSpLocks/>
            </p:cNvGrpSpPr>
            <p:nvPr/>
          </p:nvGrpSpPr>
          <p:grpSpPr bwMode="auto">
            <a:xfrm>
              <a:off x="6689725" y="2039938"/>
              <a:ext cx="1281113" cy="611187"/>
              <a:chOff x="4214" y="1325"/>
              <a:chExt cx="807" cy="385"/>
            </a:xfrm>
          </p:grpSpPr>
          <p:sp>
            <p:nvSpPr>
              <p:cNvPr id="39968" name="Oval 26"/>
              <p:cNvSpPr>
                <a:spLocks noChangeArrowheads="1"/>
              </p:cNvSpPr>
              <p:nvPr/>
            </p:nvSpPr>
            <p:spPr bwMode="auto">
              <a:xfrm>
                <a:off x="4214" y="1342"/>
                <a:ext cx="760" cy="368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9969" name="Text Box 27"/>
              <p:cNvSpPr txBox="1">
                <a:spLocks noChangeArrowheads="1"/>
              </p:cNvSpPr>
              <p:nvPr/>
            </p:nvSpPr>
            <p:spPr bwMode="auto">
              <a:xfrm>
                <a:off x="4720" y="1353"/>
                <a:ext cx="301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39970" name="Text Box 28"/>
              <p:cNvSpPr txBox="1">
                <a:spLocks noChangeArrowheads="1"/>
              </p:cNvSpPr>
              <p:nvPr/>
            </p:nvSpPr>
            <p:spPr bwMode="auto">
              <a:xfrm>
                <a:off x="4219" y="1325"/>
                <a:ext cx="246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sp>
          <p:nvSpPr>
            <p:cNvPr id="39964" name="Text Box 24"/>
            <p:cNvSpPr txBox="1">
              <a:spLocks noChangeArrowheads="1"/>
            </p:cNvSpPr>
            <p:nvPr/>
          </p:nvSpPr>
          <p:spPr bwMode="auto">
            <a:xfrm>
              <a:off x="6126516" y="2640260"/>
              <a:ext cx="2199939" cy="905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latin typeface="Arial" panose="020B0604020202020204" pitchFamily="34" charset="0"/>
                </a:rPr>
                <a:t>Molécula</a:t>
              </a: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 más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polarizada</a:t>
              </a:r>
            </a:p>
          </p:txBody>
        </p:sp>
      </p:grpSp>
      <p:sp>
        <p:nvSpPr>
          <p:cNvPr id="46" name="Text Box 60"/>
          <p:cNvSpPr txBox="1">
            <a:spLocks noChangeArrowheads="1"/>
          </p:cNvSpPr>
          <p:nvPr/>
        </p:nvSpPr>
        <p:spPr bwMode="auto">
          <a:xfrm>
            <a:off x="1384184" y="6004656"/>
            <a:ext cx="3137950" cy="572901"/>
          </a:xfrm>
          <a:prstGeom prst="rect">
            <a:avLst/>
          </a:prstGeom>
          <a:noFill/>
          <a:ln>
            <a:noFill/>
          </a:ln>
        </p:spPr>
        <p:txBody>
          <a:bodyPr wrap="square" lIns="90000" tIns="118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y orientada</a:t>
            </a:r>
          </a:p>
        </p:txBody>
      </p:sp>
      <p:sp>
        <p:nvSpPr>
          <p:cNvPr id="47" name="Text Box 19"/>
          <p:cNvSpPr txBox="1">
            <a:spLocks noChangeArrowheads="1"/>
          </p:cNvSpPr>
          <p:nvPr/>
        </p:nvSpPr>
        <p:spPr bwMode="auto">
          <a:xfrm>
            <a:off x="2083116" y="6477408"/>
            <a:ext cx="5089421" cy="536549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si no queda así, debe poder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girar)</a:t>
            </a:r>
          </a:p>
        </p:txBody>
      </p:sp>
      <p:sp>
        <p:nvSpPr>
          <p:cNvPr id="65" name="Text Box 60">
            <a:extLst>
              <a:ext uri="{FF2B5EF4-FFF2-40B4-BE49-F238E27FC236}">
                <a16:creationId xmlns:a16="http://schemas.microsoft.com/office/drawing/2014/main" id="{93082CAF-4601-4793-9E33-3E46D406AD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3851" y="3260936"/>
            <a:ext cx="3734709" cy="131156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118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Las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fuerzas de cohesión </a:t>
            </a:r>
            <a:r>
              <a:rPr lang="es-ES" sz="2400" dirty="0">
                <a:latin typeface="Arial" panose="020B0604020202020204" pitchFamily="34" charset="0"/>
              </a:rPr>
              <a:t>deshacen </a:t>
            </a:r>
            <a:r>
              <a:rPr lang="es-ES" sz="2400">
                <a:latin typeface="Arial" panose="020B0604020202020204" pitchFamily="34" charset="0"/>
              </a:rPr>
              <a:t>el plus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de polarización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66" name="AutoShape 28">
            <a:extLst>
              <a:ext uri="{FF2B5EF4-FFF2-40B4-BE49-F238E27FC236}">
                <a16:creationId xmlns:a16="http://schemas.microsoft.com/office/drawing/2014/main" id="{22F27ABC-CC54-45C2-BC55-55818684C22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577244" y="3287066"/>
            <a:ext cx="314879" cy="569913"/>
          </a:xfrm>
          <a:prstGeom prst="rightArrow">
            <a:avLst>
              <a:gd name="adj1" fmla="val 39898"/>
              <a:gd name="adj2" fmla="val 48345"/>
            </a:avLst>
          </a:prstGeom>
          <a:solidFill>
            <a:schemeClr val="accent1"/>
          </a:solidFill>
          <a:ln>
            <a:noFill/>
          </a:ln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9960" name="Text Box 110"/>
          <p:cNvSpPr txBox="1">
            <a:spLocks noChangeArrowheads="1"/>
          </p:cNvSpPr>
          <p:nvPr/>
        </p:nvSpPr>
        <p:spPr bwMode="auto">
          <a:xfrm>
            <a:off x="1837029" y="2866722"/>
            <a:ext cx="2228793" cy="375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ej.: H</a:t>
            </a:r>
            <a:r>
              <a:rPr lang="es-ES" sz="240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O (agua)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4D6F41B0-30CB-41C4-BF55-42CA3D4D9E52}"/>
              </a:ext>
            </a:extLst>
          </p:cNvPr>
          <p:cNvGrpSpPr/>
          <p:nvPr/>
        </p:nvGrpSpPr>
        <p:grpSpPr>
          <a:xfrm>
            <a:off x="3124243" y="3231825"/>
            <a:ext cx="1309688" cy="919307"/>
            <a:chOff x="3124243" y="3252607"/>
            <a:chExt cx="1309688" cy="919307"/>
          </a:xfrm>
        </p:grpSpPr>
        <p:sp>
          <p:nvSpPr>
            <p:cNvPr id="49" name="AutoShape 28">
              <a:extLst>
                <a:ext uri="{FF2B5EF4-FFF2-40B4-BE49-F238E27FC236}">
                  <a16:creationId xmlns:a16="http://schemas.microsoft.com/office/drawing/2014/main" id="{89BC8678-CC10-412E-81B7-BEBEA8F7021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3260258" y="3427304"/>
              <a:ext cx="919307" cy="569913"/>
            </a:xfrm>
            <a:prstGeom prst="rightArrow">
              <a:avLst>
                <a:gd name="adj1" fmla="val 39898"/>
                <a:gd name="adj2" fmla="val 50512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FB72DDCD-0A2D-4675-8C1E-500A4DF672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4243" y="3624315"/>
              <a:ext cx="1309688" cy="536575"/>
              <a:chOff x="3173" y="1105"/>
              <a:chExt cx="825" cy="338"/>
            </a:xfrm>
          </p:grpSpPr>
          <p:sp>
            <p:nvSpPr>
              <p:cNvPr id="57" name="Text Box 29">
                <a:extLst>
                  <a:ext uri="{FF2B5EF4-FFF2-40B4-BE49-F238E27FC236}">
                    <a16:creationId xmlns:a16="http://schemas.microsoft.com/office/drawing/2014/main" id="{7FCCB713-54F3-4FA1-9346-6846EFEF8A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73" y="1105"/>
                <a:ext cx="825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8000"/>
                    </a:solidFill>
                    <a:latin typeface="Arial" panose="020B0604020202020204" pitchFamily="34" charset="0"/>
                  </a:rPr>
                  <a:t>Quitar E</a:t>
                </a:r>
              </a:p>
            </p:txBody>
          </p:sp>
          <p:sp>
            <p:nvSpPr>
              <p:cNvPr id="58" name="Line 30">
                <a:extLst>
                  <a:ext uri="{FF2B5EF4-FFF2-40B4-BE49-F238E27FC236}">
                    <a16:creationId xmlns:a16="http://schemas.microsoft.com/office/drawing/2014/main" id="{96326750-D628-4653-B2FF-4DD7E428D9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8" y="1161"/>
                <a:ext cx="136" cy="0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 dirty="0"/>
              </a:p>
            </p:txBody>
          </p:sp>
        </p:grpSp>
      </p:grpSp>
      <p:sp>
        <p:nvSpPr>
          <p:cNvPr id="56" name="AutoShape 28">
            <a:extLst>
              <a:ext uri="{FF2B5EF4-FFF2-40B4-BE49-F238E27FC236}">
                <a16:creationId xmlns:a16="http://schemas.microsoft.com/office/drawing/2014/main" id="{3E813A02-6F9A-405E-8E2C-A005436EBA7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586263" y="1486763"/>
            <a:ext cx="305860" cy="569913"/>
          </a:xfrm>
          <a:prstGeom prst="rightArrow">
            <a:avLst>
              <a:gd name="adj1" fmla="val 39898"/>
              <a:gd name="adj2" fmla="val 48345"/>
            </a:avLst>
          </a:prstGeom>
          <a:solidFill>
            <a:schemeClr val="accent1"/>
          </a:solidFill>
          <a:ln>
            <a:noFill/>
          </a:ln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5" name="Group 58">
            <a:extLst>
              <a:ext uri="{FF2B5EF4-FFF2-40B4-BE49-F238E27FC236}">
                <a16:creationId xmlns:a16="http://schemas.microsoft.com/office/drawing/2014/main" id="{B4B33C9F-D1C7-C707-6976-9FE14C873559}"/>
              </a:ext>
            </a:extLst>
          </p:cNvPr>
          <p:cNvGrpSpPr>
            <a:grpSpLocks/>
          </p:cNvGrpSpPr>
          <p:nvPr/>
        </p:nvGrpSpPr>
        <p:grpSpPr bwMode="auto">
          <a:xfrm>
            <a:off x="1399542" y="4363895"/>
            <a:ext cx="869951" cy="469900"/>
            <a:chOff x="5530" y="1120"/>
            <a:chExt cx="548" cy="296"/>
          </a:xfrm>
        </p:grpSpPr>
        <p:sp>
          <p:nvSpPr>
            <p:cNvPr id="6" name="Line 4">
              <a:extLst>
                <a:ext uri="{FF2B5EF4-FFF2-40B4-BE49-F238E27FC236}">
                  <a16:creationId xmlns:a16="http://schemas.microsoft.com/office/drawing/2014/main" id="{66213F03-846A-F1A6-4A89-A41694AEF4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59" y="1300"/>
              <a:ext cx="31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  <p:sp>
          <p:nvSpPr>
            <p:cNvPr id="8" name="Text Box 5">
              <a:extLst>
                <a:ext uri="{FF2B5EF4-FFF2-40B4-BE49-F238E27FC236}">
                  <a16:creationId xmlns:a16="http://schemas.microsoft.com/office/drawing/2014/main" id="{BA1B0349-8BF3-F3AA-8960-F38B2F9ADE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0" y="1120"/>
              <a:ext cx="22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64E067BF-8E0B-0106-9AE1-F0FA4476C3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94" y="1173"/>
              <a:ext cx="136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6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9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9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6468" grpId="0" animBg="1"/>
      <p:bldP spid="48" grpId="0" animBg="1"/>
      <p:bldP spid="60" grpId="0" animBg="1"/>
      <p:bldP spid="61" grpId="0" animBg="1"/>
      <p:bldP spid="62" grpId="0"/>
      <p:bldP spid="63" grpId="0" animBg="1"/>
      <p:bldP spid="46" grpId="0"/>
      <p:bldP spid="47" grpId="0"/>
      <p:bldP spid="65" grpId="0" animBg="1"/>
      <p:bldP spid="66" grpId="0" animBg="1"/>
      <p:bldP spid="39960" grpId="0"/>
      <p:bldP spid="5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ángulo 107"/>
          <p:cNvSpPr/>
          <p:nvPr/>
        </p:nvSpPr>
        <p:spPr bwMode="auto">
          <a:xfrm>
            <a:off x="1227291" y="983969"/>
            <a:ext cx="3621369" cy="3960000"/>
          </a:xfrm>
          <a:prstGeom prst="rect">
            <a:avLst/>
          </a:prstGeom>
          <a:solidFill>
            <a:srgbClr val="C0C0C0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118800" rIns="90000" bIns="82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1301360" y="331209"/>
            <a:ext cx="5436257" cy="3780274"/>
            <a:chOff x="1301360" y="463162"/>
            <a:chExt cx="5436257" cy="3780274"/>
          </a:xfrm>
        </p:grpSpPr>
        <p:sp>
          <p:nvSpPr>
            <p:cNvPr id="99" name="Rectángulo 98"/>
            <p:cNvSpPr/>
            <p:nvPr/>
          </p:nvSpPr>
          <p:spPr bwMode="auto">
            <a:xfrm>
              <a:off x="1301360" y="1183436"/>
              <a:ext cx="3451746" cy="306000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118800" rIns="90000" bIns="82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40024" name="Group 31"/>
            <p:cNvGrpSpPr>
              <a:grpSpLocks/>
            </p:cNvGrpSpPr>
            <p:nvPr/>
          </p:nvGrpSpPr>
          <p:grpSpPr bwMode="auto">
            <a:xfrm>
              <a:off x="2082410" y="2237411"/>
              <a:ext cx="752475" cy="466725"/>
              <a:chOff x="2477" y="1406"/>
              <a:chExt cx="474" cy="294"/>
            </a:xfrm>
          </p:grpSpPr>
          <p:sp>
            <p:nvSpPr>
              <p:cNvPr id="40057" name="Oval 32"/>
              <p:cNvSpPr>
                <a:spLocks noChangeArrowheads="1"/>
              </p:cNvSpPr>
              <p:nvPr/>
            </p:nvSpPr>
            <p:spPr bwMode="auto">
              <a:xfrm>
                <a:off x="2477" y="14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58" name="Text Box 33"/>
              <p:cNvSpPr txBox="1">
                <a:spLocks noChangeArrowheads="1"/>
              </p:cNvSpPr>
              <p:nvPr/>
            </p:nvSpPr>
            <p:spPr bwMode="auto">
              <a:xfrm>
                <a:off x="2724" y="1423"/>
                <a:ext cx="19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0059" name="Text Box 34"/>
              <p:cNvSpPr txBox="1">
                <a:spLocks noChangeArrowheads="1"/>
              </p:cNvSpPr>
              <p:nvPr/>
            </p:nvSpPr>
            <p:spPr bwMode="auto">
              <a:xfrm>
                <a:off x="2530" y="1406"/>
                <a:ext cx="16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0025" name="Group 35"/>
            <p:cNvGrpSpPr>
              <a:grpSpLocks/>
            </p:cNvGrpSpPr>
            <p:nvPr/>
          </p:nvGrpSpPr>
          <p:grpSpPr bwMode="auto">
            <a:xfrm flipH="1">
              <a:off x="2477697" y="3497887"/>
              <a:ext cx="752475" cy="466725"/>
              <a:chOff x="2477" y="1406"/>
              <a:chExt cx="474" cy="294"/>
            </a:xfrm>
          </p:grpSpPr>
          <p:sp>
            <p:nvSpPr>
              <p:cNvPr id="40054" name="Oval 36"/>
              <p:cNvSpPr>
                <a:spLocks noChangeArrowheads="1"/>
              </p:cNvSpPr>
              <p:nvPr/>
            </p:nvSpPr>
            <p:spPr bwMode="auto">
              <a:xfrm>
                <a:off x="2477" y="14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55" name="Text Box 37"/>
              <p:cNvSpPr txBox="1">
                <a:spLocks noChangeArrowheads="1"/>
              </p:cNvSpPr>
              <p:nvPr/>
            </p:nvSpPr>
            <p:spPr bwMode="auto">
              <a:xfrm>
                <a:off x="2724" y="1423"/>
                <a:ext cx="19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0056" name="Text Box 38"/>
              <p:cNvSpPr txBox="1">
                <a:spLocks noChangeArrowheads="1"/>
              </p:cNvSpPr>
              <p:nvPr/>
            </p:nvSpPr>
            <p:spPr bwMode="auto">
              <a:xfrm>
                <a:off x="2530" y="1406"/>
                <a:ext cx="16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0026" name="Group 39"/>
            <p:cNvGrpSpPr>
              <a:grpSpLocks/>
            </p:cNvGrpSpPr>
            <p:nvPr/>
          </p:nvGrpSpPr>
          <p:grpSpPr bwMode="auto">
            <a:xfrm rot="16200000">
              <a:off x="3195247" y="2356474"/>
              <a:ext cx="752475" cy="466725"/>
              <a:chOff x="2477" y="1406"/>
              <a:chExt cx="474" cy="294"/>
            </a:xfrm>
          </p:grpSpPr>
          <p:sp>
            <p:nvSpPr>
              <p:cNvPr id="40051" name="Oval 40"/>
              <p:cNvSpPr>
                <a:spLocks noChangeArrowheads="1"/>
              </p:cNvSpPr>
              <p:nvPr/>
            </p:nvSpPr>
            <p:spPr bwMode="auto">
              <a:xfrm>
                <a:off x="2477" y="14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vert="eaVert"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52" name="Text Box 41"/>
              <p:cNvSpPr txBox="1">
                <a:spLocks noChangeArrowheads="1"/>
              </p:cNvSpPr>
              <p:nvPr/>
            </p:nvSpPr>
            <p:spPr bwMode="auto">
              <a:xfrm>
                <a:off x="2724" y="1423"/>
                <a:ext cx="19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0053" name="Text Box 42"/>
              <p:cNvSpPr txBox="1">
                <a:spLocks noChangeArrowheads="1"/>
              </p:cNvSpPr>
              <p:nvPr/>
            </p:nvSpPr>
            <p:spPr bwMode="auto">
              <a:xfrm>
                <a:off x="2530" y="1406"/>
                <a:ext cx="16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0027" name="Group 43"/>
            <p:cNvGrpSpPr>
              <a:grpSpLocks/>
            </p:cNvGrpSpPr>
            <p:nvPr/>
          </p:nvGrpSpPr>
          <p:grpSpPr bwMode="auto">
            <a:xfrm rot="5400000" flipV="1">
              <a:off x="1321997" y="2521574"/>
              <a:ext cx="752475" cy="466725"/>
              <a:chOff x="2477" y="1406"/>
              <a:chExt cx="474" cy="294"/>
            </a:xfrm>
          </p:grpSpPr>
          <p:sp>
            <p:nvSpPr>
              <p:cNvPr id="40048" name="Oval 44"/>
              <p:cNvSpPr>
                <a:spLocks noChangeArrowheads="1"/>
              </p:cNvSpPr>
              <p:nvPr/>
            </p:nvSpPr>
            <p:spPr bwMode="auto">
              <a:xfrm>
                <a:off x="2477" y="14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vert="eaVert"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49" name="Text Box 45"/>
              <p:cNvSpPr txBox="1">
                <a:spLocks noChangeArrowheads="1"/>
              </p:cNvSpPr>
              <p:nvPr/>
            </p:nvSpPr>
            <p:spPr bwMode="auto">
              <a:xfrm>
                <a:off x="2724" y="1423"/>
                <a:ext cx="19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0050" name="Text Box 46"/>
              <p:cNvSpPr txBox="1">
                <a:spLocks noChangeArrowheads="1"/>
              </p:cNvSpPr>
              <p:nvPr/>
            </p:nvSpPr>
            <p:spPr bwMode="auto">
              <a:xfrm>
                <a:off x="2530" y="1406"/>
                <a:ext cx="16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0028" name="Group 47"/>
            <p:cNvGrpSpPr>
              <a:grpSpLocks/>
            </p:cNvGrpSpPr>
            <p:nvPr/>
          </p:nvGrpSpPr>
          <p:grpSpPr bwMode="auto">
            <a:xfrm rot="2700000">
              <a:off x="2769797" y="2731124"/>
              <a:ext cx="752475" cy="466725"/>
              <a:chOff x="2477" y="1406"/>
              <a:chExt cx="474" cy="294"/>
            </a:xfrm>
          </p:grpSpPr>
          <p:sp>
            <p:nvSpPr>
              <p:cNvPr id="40045" name="Oval 48"/>
              <p:cNvSpPr>
                <a:spLocks noChangeArrowheads="1"/>
              </p:cNvSpPr>
              <p:nvPr/>
            </p:nvSpPr>
            <p:spPr bwMode="auto">
              <a:xfrm>
                <a:off x="2477" y="14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rot="10800000" vert="eaVert"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46" name="Text Box 49"/>
              <p:cNvSpPr txBox="1">
                <a:spLocks noChangeArrowheads="1"/>
              </p:cNvSpPr>
              <p:nvPr/>
            </p:nvSpPr>
            <p:spPr bwMode="auto">
              <a:xfrm>
                <a:off x="2724" y="1423"/>
                <a:ext cx="19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0047" name="Text Box 50"/>
              <p:cNvSpPr txBox="1">
                <a:spLocks noChangeArrowheads="1"/>
              </p:cNvSpPr>
              <p:nvPr/>
            </p:nvSpPr>
            <p:spPr bwMode="auto">
              <a:xfrm>
                <a:off x="2530" y="1406"/>
                <a:ext cx="16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0029" name="Group 51"/>
            <p:cNvGrpSpPr>
              <a:grpSpLocks/>
            </p:cNvGrpSpPr>
            <p:nvPr/>
          </p:nvGrpSpPr>
          <p:grpSpPr bwMode="auto">
            <a:xfrm rot="18900000" flipV="1">
              <a:off x="1550597" y="3305799"/>
              <a:ext cx="752475" cy="466725"/>
              <a:chOff x="2477" y="1406"/>
              <a:chExt cx="474" cy="294"/>
            </a:xfrm>
          </p:grpSpPr>
          <p:sp>
            <p:nvSpPr>
              <p:cNvPr id="40042" name="Oval 52"/>
              <p:cNvSpPr>
                <a:spLocks noChangeArrowheads="1"/>
              </p:cNvSpPr>
              <p:nvPr/>
            </p:nvSpPr>
            <p:spPr bwMode="auto">
              <a:xfrm>
                <a:off x="2477" y="14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rot="10800000" vert="eaVert"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43" name="Text Box 53"/>
              <p:cNvSpPr txBox="1">
                <a:spLocks noChangeArrowheads="1"/>
              </p:cNvSpPr>
              <p:nvPr/>
            </p:nvSpPr>
            <p:spPr bwMode="auto">
              <a:xfrm>
                <a:off x="2724" y="1423"/>
                <a:ext cx="19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0044" name="Text Box 54"/>
              <p:cNvSpPr txBox="1">
                <a:spLocks noChangeArrowheads="1"/>
              </p:cNvSpPr>
              <p:nvPr/>
            </p:nvSpPr>
            <p:spPr bwMode="auto">
              <a:xfrm>
                <a:off x="2530" y="1406"/>
                <a:ext cx="16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0030" name="Group 55"/>
            <p:cNvGrpSpPr>
              <a:grpSpLocks/>
            </p:cNvGrpSpPr>
            <p:nvPr/>
          </p:nvGrpSpPr>
          <p:grpSpPr bwMode="auto">
            <a:xfrm rot="2700000" flipH="1" flipV="1">
              <a:off x="2042722" y="2866062"/>
              <a:ext cx="752475" cy="466725"/>
              <a:chOff x="2477" y="1406"/>
              <a:chExt cx="474" cy="294"/>
            </a:xfrm>
          </p:grpSpPr>
          <p:sp>
            <p:nvSpPr>
              <p:cNvPr id="40039" name="Oval 56"/>
              <p:cNvSpPr>
                <a:spLocks noChangeArrowheads="1"/>
              </p:cNvSpPr>
              <p:nvPr/>
            </p:nvSpPr>
            <p:spPr bwMode="auto">
              <a:xfrm>
                <a:off x="2477" y="14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vert="eaVert"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40" name="Text Box 57"/>
              <p:cNvSpPr txBox="1">
                <a:spLocks noChangeArrowheads="1"/>
              </p:cNvSpPr>
              <p:nvPr/>
            </p:nvSpPr>
            <p:spPr bwMode="auto">
              <a:xfrm>
                <a:off x="2724" y="1423"/>
                <a:ext cx="19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0041" name="Text Box 58"/>
              <p:cNvSpPr txBox="1">
                <a:spLocks noChangeArrowheads="1"/>
              </p:cNvSpPr>
              <p:nvPr/>
            </p:nvSpPr>
            <p:spPr bwMode="auto">
              <a:xfrm>
                <a:off x="2530" y="1406"/>
                <a:ext cx="16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0031" name="Group 59"/>
            <p:cNvGrpSpPr>
              <a:grpSpLocks/>
            </p:cNvGrpSpPr>
            <p:nvPr/>
          </p:nvGrpSpPr>
          <p:grpSpPr bwMode="auto">
            <a:xfrm rot="8100000" flipV="1">
              <a:off x="3301609" y="3196262"/>
              <a:ext cx="752475" cy="466725"/>
              <a:chOff x="2477" y="1406"/>
              <a:chExt cx="474" cy="294"/>
            </a:xfrm>
          </p:grpSpPr>
          <p:sp>
            <p:nvSpPr>
              <p:cNvPr id="40036" name="Oval 60"/>
              <p:cNvSpPr>
                <a:spLocks noChangeArrowheads="1"/>
              </p:cNvSpPr>
              <p:nvPr/>
            </p:nvSpPr>
            <p:spPr bwMode="auto">
              <a:xfrm>
                <a:off x="2477" y="14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vert="eaVert"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37" name="Text Box 61"/>
              <p:cNvSpPr txBox="1">
                <a:spLocks noChangeArrowheads="1"/>
              </p:cNvSpPr>
              <p:nvPr/>
            </p:nvSpPr>
            <p:spPr bwMode="auto">
              <a:xfrm>
                <a:off x="2724" y="1423"/>
                <a:ext cx="19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0038" name="Text Box 62"/>
              <p:cNvSpPr txBox="1">
                <a:spLocks noChangeArrowheads="1"/>
              </p:cNvSpPr>
              <p:nvPr/>
            </p:nvSpPr>
            <p:spPr bwMode="auto">
              <a:xfrm>
                <a:off x="2530" y="1406"/>
                <a:ext cx="16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0032" name="Group 63"/>
            <p:cNvGrpSpPr>
              <a:grpSpLocks/>
            </p:cNvGrpSpPr>
            <p:nvPr/>
          </p:nvGrpSpPr>
          <p:grpSpPr bwMode="auto">
            <a:xfrm rot="1800000">
              <a:off x="3884222" y="2488236"/>
              <a:ext cx="752475" cy="466725"/>
              <a:chOff x="2477" y="1406"/>
              <a:chExt cx="474" cy="294"/>
            </a:xfrm>
          </p:grpSpPr>
          <p:sp>
            <p:nvSpPr>
              <p:cNvPr id="40033" name="Oval 64"/>
              <p:cNvSpPr>
                <a:spLocks noChangeArrowheads="1"/>
              </p:cNvSpPr>
              <p:nvPr/>
            </p:nvSpPr>
            <p:spPr bwMode="auto">
              <a:xfrm>
                <a:off x="2477" y="14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34" name="Text Box 65"/>
              <p:cNvSpPr txBox="1">
                <a:spLocks noChangeArrowheads="1"/>
              </p:cNvSpPr>
              <p:nvPr/>
            </p:nvSpPr>
            <p:spPr bwMode="auto">
              <a:xfrm>
                <a:off x="2724" y="1423"/>
                <a:ext cx="19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0035" name="Text Box 66"/>
              <p:cNvSpPr txBox="1">
                <a:spLocks noChangeArrowheads="1"/>
              </p:cNvSpPr>
              <p:nvPr/>
            </p:nvSpPr>
            <p:spPr bwMode="auto">
              <a:xfrm>
                <a:off x="2530" y="1406"/>
                <a:ext cx="16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sp>
          <p:nvSpPr>
            <p:cNvPr id="123" name="Text Box 116"/>
            <p:cNvSpPr txBox="1">
              <a:spLocks noChangeArrowheads="1"/>
            </p:cNvSpPr>
            <p:nvPr/>
          </p:nvSpPr>
          <p:spPr bwMode="auto">
            <a:xfrm>
              <a:off x="4833400" y="463162"/>
              <a:ext cx="1904217" cy="536549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latin typeface="Arial" panose="020B0604020202020204" pitchFamily="34" charset="0"/>
                </a:rPr>
                <a:t>CONJUNTO</a:t>
              </a:r>
            </a:p>
          </p:txBody>
        </p:sp>
      </p:grpSp>
      <p:sp>
        <p:nvSpPr>
          <p:cNvPr id="109" name="Rectángulo 108"/>
          <p:cNvSpPr/>
          <p:nvPr/>
        </p:nvSpPr>
        <p:spPr bwMode="auto">
          <a:xfrm>
            <a:off x="7040152" y="978728"/>
            <a:ext cx="3314713" cy="3960000"/>
          </a:xfrm>
          <a:prstGeom prst="rect">
            <a:avLst/>
          </a:prstGeom>
          <a:solidFill>
            <a:srgbClr val="C0C0C0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118800" rIns="90000" bIns="82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40023" name="Text Box 30"/>
          <p:cNvSpPr txBox="1">
            <a:spLocks noChangeArrowheads="1"/>
          </p:cNvSpPr>
          <p:nvPr/>
        </p:nvSpPr>
        <p:spPr bwMode="auto">
          <a:xfrm>
            <a:off x="1691885" y="1452850"/>
            <a:ext cx="2616200" cy="30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Orientadas al azar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7126400" y="1050511"/>
            <a:ext cx="3137951" cy="3060000"/>
            <a:chOff x="7148434" y="1182464"/>
            <a:chExt cx="3137951" cy="3060000"/>
          </a:xfrm>
        </p:grpSpPr>
        <p:sp>
          <p:nvSpPr>
            <p:cNvPr id="100" name="Rectángulo 99"/>
            <p:cNvSpPr/>
            <p:nvPr/>
          </p:nvSpPr>
          <p:spPr bwMode="auto">
            <a:xfrm>
              <a:off x="7148434" y="1182464"/>
              <a:ext cx="3137951" cy="306000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118800" rIns="90000" bIns="82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14" name="Group 144"/>
            <p:cNvGrpSpPr>
              <a:grpSpLocks/>
            </p:cNvGrpSpPr>
            <p:nvPr/>
          </p:nvGrpSpPr>
          <p:grpSpPr bwMode="auto">
            <a:xfrm>
              <a:off x="8344056" y="1677025"/>
              <a:ext cx="979487" cy="469900"/>
              <a:chOff x="5049" y="2476"/>
              <a:chExt cx="617" cy="296"/>
            </a:xfrm>
          </p:grpSpPr>
          <p:sp>
            <p:nvSpPr>
              <p:cNvPr id="40020" name="Line 68"/>
              <p:cNvSpPr>
                <a:spLocks noChangeShapeType="1"/>
              </p:cNvSpPr>
              <p:nvPr/>
            </p:nvSpPr>
            <p:spPr bwMode="auto">
              <a:xfrm>
                <a:off x="5049" y="2750"/>
                <a:ext cx="617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/>
              </a:p>
            </p:txBody>
          </p:sp>
          <p:sp>
            <p:nvSpPr>
              <p:cNvPr id="40021" name="Text Box 69"/>
              <p:cNvSpPr txBox="1">
                <a:spLocks noChangeArrowheads="1"/>
              </p:cNvSpPr>
              <p:nvPr/>
            </p:nvSpPr>
            <p:spPr bwMode="auto">
              <a:xfrm>
                <a:off x="5228" y="2476"/>
                <a:ext cx="221" cy="2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1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40022" name="Line 70"/>
              <p:cNvSpPr>
                <a:spLocks noChangeShapeType="1"/>
              </p:cNvSpPr>
              <p:nvPr/>
            </p:nvSpPr>
            <p:spPr bwMode="auto">
              <a:xfrm>
                <a:off x="5289" y="2533"/>
                <a:ext cx="136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/>
              </a:p>
            </p:txBody>
          </p:sp>
        </p:grpSp>
        <p:grpSp>
          <p:nvGrpSpPr>
            <p:cNvPr id="15" name="Group 145"/>
            <p:cNvGrpSpPr>
              <a:grpSpLocks/>
            </p:cNvGrpSpPr>
            <p:nvPr/>
          </p:nvGrpSpPr>
          <p:grpSpPr bwMode="auto">
            <a:xfrm>
              <a:off x="7472518" y="2191373"/>
              <a:ext cx="2608263" cy="1517650"/>
              <a:chOff x="4540" y="2832"/>
              <a:chExt cx="1643" cy="956"/>
            </a:xfrm>
          </p:grpSpPr>
          <p:grpSp>
            <p:nvGrpSpPr>
              <p:cNvPr id="39984" name="Group 71"/>
              <p:cNvGrpSpPr>
                <a:grpSpLocks/>
              </p:cNvGrpSpPr>
              <p:nvPr/>
            </p:nvGrpSpPr>
            <p:grpSpPr bwMode="auto">
              <a:xfrm>
                <a:off x="5109" y="2832"/>
                <a:ext cx="485" cy="294"/>
                <a:chOff x="1823" y="3206"/>
                <a:chExt cx="485" cy="294"/>
              </a:xfrm>
            </p:grpSpPr>
            <p:sp>
              <p:nvSpPr>
                <p:cNvPr id="40017" name="Oval 72"/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018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0019" name="Text Box 74"/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39985" name="Group 75"/>
              <p:cNvGrpSpPr>
                <a:grpSpLocks/>
              </p:cNvGrpSpPr>
              <p:nvPr/>
            </p:nvGrpSpPr>
            <p:grpSpPr bwMode="auto">
              <a:xfrm>
                <a:off x="5698" y="2832"/>
                <a:ext cx="485" cy="294"/>
                <a:chOff x="1823" y="3206"/>
                <a:chExt cx="485" cy="294"/>
              </a:xfrm>
            </p:grpSpPr>
            <p:sp>
              <p:nvSpPr>
                <p:cNvPr id="40014" name="Oval 76"/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015" name="Text Box 77"/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0016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39986" name="Group 79"/>
              <p:cNvGrpSpPr>
                <a:grpSpLocks/>
              </p:cNvGrpSpPr>
              <p:nvPr/>
            </p:nvGrpSpPr>
            <p:grpSpPr bwMode="auto">
              <a:xfrm>
                <a:off x="4548" y="2832"/>
                <a:ext cx="485" cy="294"/>
                <a:chOff x="1823" y="3206"/>
                <a:chExt cx="485" cy="294"/>
              </a:xfrm>
            </p:grpSpPr>
            <p:sp>
              <p:nvSpPr>
                <p:cNvPr id="40011" name="Oval 80"/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012" name="Text Box 81"/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0013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39987" name="Group 83"/>
              <p:cNvGrpSpPr>
                <a:grpSpLocks/>
              </p:cNvGrpSpPr>
              <p:nvPr/>
            </p:nvGrpSpPr>
            <p:grpSpPr bwMode="auto">
              <a:xfrm>
                <a:off x="5105" y="3158"/>
                <a:ext cx="485" cy="294"/>
                <a:chOff x="1823" y="3206"/>
                <a:chExt cx="485" cy="294"/>
              </a:xfrm>
            </p:grpSpPr>
            <p:sp>
              <p:nvSpPr>
                <p:cNvPr id="40008" name="Oval 84"/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009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0010" name="Text Box 86"/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39988" name="Group 87"/>
              <p:cNvGrpSpPr>
                <a:grpSpLocks/>
              </p:cNvGrpSpPr>
              <p:nvPr/>
            </p:nvGrpSpPr>
            <p:grpSpPr bwMode="auto">
              <a:xfrm>
                <a:off x="5694" y="3158"/>
                <a:ext cx="485" cy="294"/>
                <a:chOff x="1823" y="3206"/>
                <a:chExt cx="485" cy="294"/>
              </a:xfrm>
            </p:grpSpPr>
            <p:sp>
              <p:nvSpPr>
                <p:cNvPr id="40005" name="Oval 88"/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006" name="Text Box 89"/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0007" name="Text Box 90"/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39989" name="Group 91"/>
              <p:cNvGrpSpPr>
                <a:grpSpLocks/>
              </p:cNvGrpSpPr>
              <p:nvPr/>
            </p:nvGrpSpPr>
            <p:grpSpPr bwMode="auto">
              <a:xfrm>
                <a:off x="4544" y="3158"/>
                <a:ext cx="485" cy="294"/>
                <a:chOff x="1823" y="3206"/>
                <a:chExt cx="485" cy="294"/>
              </a:xfrm>
            </p:grpSpPr>
            <p:sp>
              <p:nvSpPr>
                <p:cNvPr id="40002" name="Oval 92"/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003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0004" name="Text Box 94"/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39990" name="Group 95"/>
              <p:cNvGrpSpPr>
                <a:grpSpLocks/>
              </p:cNvGrpSpPr>
              <p:nvPr/>
            </p:nvGrpSpPr>
            <p:grpSpPr bwMode="auto">
              <a:xfrm>
                <a:off x="5101" y="3494"/>
                <a:ext cx="485" cy="294"/>
                <a:chOff x="1823" y="3206"/>
                <a:chExt cx="485" cy="294"/>
              </a:xfrm>
            </p:grpSpPr>
            <p:sp>
              <p:nvSpPr>
                <p:cNvPr id="39999" name="Oval 96"/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000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0001" name="Text Box 98"/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39991" name="Group 99"/>
              <p:cNvGrpSpPr>
                <a:grpSpLocks/>
              </p:cNvGrpSpPr>
              <p:nvPr/>
            </p:nvGrpSpPr>
            <p:grpSpPr bwMode="auto">
              <a:xfrm>
                <a:off x="5690" y="3494"/>
                <a:ext cx="485" cy="294"/>
                <a:chOff x="1823" y="3206"/>
                <a:chExt cx="485" cy="294"/>
              </a:xfrm>
            </p:grpSpPr>
            <p:sp>
              <p:nvSpPr>
                <p:cNvPr id="39996" name="Oval 100"/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9997" name="Text Box 101"/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39998" name="Text Box 102"/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39992" name="Group 103"/>
              <p:cNvGrpSpPr>
                <a:grpSpLocks/>
              </p:cNvGrpSpPr>
              <p:nvPr/>
            </p:nvGrpSpPr>
            <p:grpSpPr bwMode="auto">
              <a:xfrm>
                <a:off x="4540" y="3494"/>
                <a:ext cx="485" cy="294"/>
                <a:chOff x="1823" y="3206"/>
                <a:chExt cx="485" cy="294"/>
              </a:xfrm>
            </p:grpSpPr>
            <p:sp>
              <p:nvSpPr>
                <p:cNvPr id="39993" name="Oval 104"/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9994" name="Text Box 105"/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39995" name="Text Box 106"/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</p:grpSp>
      </p:grpSp>
      <p:grpSp>
        <p:nvGrpSpPr>
          <p:cNvPr id="121" name="Group 144"/>
          <p:cNvGrpSpPr>
            <a:grpSpLocks/>
          </p:cNvGrpSpPr>
          <p:nvPr/>
        </p:nvGrpSpPr>
        <p:grpSpPr bwMode="auto">
          <a:xfrm>
            <a:off x="2172899" y="4197064"/>
            <a:ext cx="350837" cy="469900"/>
            <a:chOff x="5228" y="2476"/>
            <a:chExt cx="221" cy="296"/>
          </a:xfrm>
        </p:grpSpPr>
        <p:sp>
          <p:nvSpPr>
            <p:cNvPr id="124" name="Text Box 69"/>
            <p:cNvSpPr txBox="1">
              <a:spLocks noChangeArrowheads="1"/>
            </p:cNvSpPr>
            <p:nvPr/>
          </p:nvSpPr>
          <p:spPr bwMode="auto">
            <a:xfrm>
              <a:off x="5228" y="2476"/>
              <a:ext cx="22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-25000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aislante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 = </a:t>
              </a:r>
              <a:r>
                <a:rPr lang="es-ES" sz="24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125" name="Line 70"/>
            <p:cNvSpPr>
              <a:spLocks noChangeShapeType="1"/>
            </p:cNvSpPr>
            <p:nvPr/>
          </p:nvSpPr>
          <p:spPr bwMode="auto">
            <a:xfrm>
              <a:off x="5289" y="2533"/>
              <a:ext cx="136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grpSp>
        <p:nvGrpSpPr>
          <p:cNvPr id="126" name="Group 144"/>
          <p:cNvGrpSpPr>
            <a:grpSpLocks/>
          </p:cNvGrpSpPr>
          <p:nvPr/>
        </p:nvGrpSpPr>
        <p:grpSpPr bwMode="auto">
          <a:xfrm>
            <a:off x="8023635" y="4184086"/>
            <a:ext cx="350837" cy="469900"/>
            <a:chOff x="5228" y="2476"/>
            <a:chExt cx="221" cy="296"/>
          </a:xfrm>
        </p:grpSpPr>
        <p:sp>
          <p:nvSpPr>
            <p:cNvPr id="128" name="Text Box 69"/>
            <p:cNvSpPr txBox="1">
              <a:spLocks noChangeArrowheads="1"/>
            </p:cNvSpPr>
            <p:nvPr/>
          </p:nvSpPr>
          <p:spPr bwMode="auto">
            <a:xfrm>
              <a:off x="5228" y="2476"/>
              <a:ext cx="22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-25000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aislante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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129" name="Line 70"/>
            <p:cNvSpPr>
              <a:spLocks noChangeShapeType="1"/>
            </p:cNvSpPr>
            <p:nvPr/>
          </p:nvSpPr>
          <p:spPr bwMode="auto">
            <a:xfrm>
              <a:off x="5289" y="2533"/>
              <a:ext cx="136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grpSp>
        <p:nvGrpSpPr>
          <p:cNvPr id="101" name="Group 54"/>
          <p:cNvGrpSpPr>
            <a:grpSpLocks/>
          </p:cNvGrpSpPr>
          <p:nvPr/>
        </p:nvGrpSpPr>
        <p:grpSpPr bwMode="auto">
          <a:xfrm>
            <a:off x="4922562" y="1917455"/>
            <a:ext cx="1706563" cy="782638"/>
            <a:chOff x="3179" y="802"/>
            <a:chExt cx="1075" cy="493"/>
          </a:xfrm>
        </p:grpSpPr>
        <p:sp>
          <p:nvSpPr>
            <p:cNvPr id="102" name="AutoShape 28"/>
            <p:cNvSpPr>
              <a:spLocks noChangeArrowheads="1"/>
            </p:cNvSpPr>
            <p:nvPr/>
          </p:nvSpPr>
          <p:spPr bwMode="auto">
            <a:xfrm>
              <a:off x="3228" y="1092"/>
              <a:ext cx="1026" cy="203"/>
            </a:xfrm>
            <a:prstGeom prst="rightArrow">
              <a:avLst>
                <a:gd name="adj1" fmla="val 39898"/>
                <a:gd name="adj2" fmla="val 97042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" name="Text Box 29"/>
            <p:cNvSpPr txBox="1">
              <a:spLocks noChangeArrowheads="1"/>
            </p:cNvSpPr>
            <p:nvPr/>
          </p:nvSpPr>
          <p:spPr bwMode="auto">
            <a:xfrm>
              <a:off x="3179" y="802"/>
              <a:ext cx="891" cy="338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Aplicar E</a:t>
              </a:r>
            </a:p>
          </p:txBody>
        </p:sp>
        <p:sp>
          <p:nvSpPr>
            <p:cNvPr id="104" name="Line 30"/>
            <p:cNvSpPr>
              <a:spLocks noChangeShapeType="1"/>
            </p:cNvSpPr>
            <p:nvPr/>
          </p:nvSpPr>
          <p:spPr bwMode="auto">
            <a:xfrm>
              <a:off x="3884" y="869"/>
              <a:ext cx="136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sp>
        <p:nvSpPr>
          <p:cNvPr id="111" name="Text Box 19"/>
          <p:cNvSpPr txBox="1">
            <a:spLocks noChangeArrowheads="1"/>
          </p:cNvSpPr>
          <p:nvPr/>
        </p:nvSpPr>
        <p:spPr bwMode="auto">
          <a:xfrm>
            <a:off x="4905493" y="1079205"/>
            <a:ext cx="1957100" cy="905881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Si pueden girar</a:t>
            </a:r>
          </a:p>
        </p:txBody>
      </p:sp>
      <p:sp>
        <p:nvSpPr>
          <p:cNvPr id="105" name="Text Box 118">
            <a:extLst>
              <a:ext uri="{FF2B5EF4-FFF2-40B4-BE49-F238E27FC236}">
                <a16:creationId xmlns:a16="http://schemas.microsoft.com/office/drawing/2014/main" id="{DD5B854A-CB6B-43EA-9D1C-BFD4AAA6E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9918" y="5046206"/>
            <a:ext cx="8174442" cy="199206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El </a:t>
            </a: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 baseline="-25000">
                <a:latin typeface="Arial" panose="020B0604020202020204" pitchFamily="34" charset="0"/>
              </a:rPr>
              <a:t>ais</a:t>
            </a:r>
            <a:r>
              <a:rPr lang="es-ES" sz="2400">
                <a:latin typeface="Arial" panose="020B0604020202020204" pitchFamily="34" charset="0"/>
              </a:rPr>
              <a:t> que se consigue es inferior al esperado debido a la </a:t>
            </a: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</a:rPr>
              <a:t>agitación térmica</a:t>
            </a:r>
            <a:r>
              <a:rPr lang="es-ES" sz="2400">
                <a:latin typeface="Arial" panose="020B0604020202020204" pitchFamily="34" charset="0"/>
              </a:rPr>
              <a:t>. Se está más cerca de él cuanto mayor son q, L y </a:t>
            </a: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>
                <a:latin typeface="Arial" panose="020B0604020202020204" pitchFamily="34" charset="0"/>
              </a:rPr>
              <a:t>, ya que se tiene un </a:t>
            </a:r>
            <a:r>
              <a:rPr lang="es-ES" sz="2400" dirty="0">
                <a:latin typeface="Arial" panose="020B0604020202020204" pitchFamily="34" charset="0"/>
              </a:rPr>
              <a:t>par </a:t>
            </a:r>
            <a:r>
              <a:rPr lang="es-ES" sz="2400">
                <a:latin typeface="Arial" panose="020B0604020202020204" pitchFamily="34" charset="0"/>
              </a:rPr>
              <a:t>de fuerzas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 al dipolo</a:t>
            </a:r>
            <a:r>
              <a:rPr lang="es-ES" sz="2400">
                <a:latin typeface="Arial" panose="020B0604020202020204" pitchFamily="34" charset="0"/>
              </a:rPr>
              <a:t> mayor para contrarrestar el efecto de </a:t>
            </a:r>
            <a:r>
              <a:rPr lang="es-ES" sz="2400" dirty="0">
                <a:latin typeface="Arial" panose="020B0604020202020204" pitchFamily="34" charset="0"/>
              </a:rPr>
              <a:t>la </a:t>
            </a:r>
            <a:r>
              <a:rPr lang="es-ES" sz="2400">
                <a:latin typeface="Arial" panose="020B0604020202020204" pitchFamily="34" charset="0"/>
              </a:rPr>
              <a:t>agitación térmica.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Ocurre en </a:t>
            </a:r>
            <a:r>
              <a:rPr lang="es-ES" sz="2400" dirty="0">
                <a:latin typeface="Arial" panose="020B0604020202020204" pitchFamily="34" charset="0"/>
              </a:rPr>
              <a:t>dieléctricos con moléculas polares y no polares</a:t>
            </a:r>
          </a:p>
        </p:txBody>
      </p:sp>
    </p:spTree>
    <p:extLst>
      <p:ext uri="{BB962C8B-B14F-4D97-AF65-F5344CB8AC3E}">
        <p14:creationId xmlns:p14="http://schemas.microsoft.com/office/powerpoint/2010/main" val="2451386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0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0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  <p:bldP spid="109" grpId="0" animBg="1"/>
      <p:bldP spid="40023" grpId="0"/>
      <p:bldP spid="111" grpId="0"/>
      <p:bldP spid="10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ángulo 107"/>
          <p:cNvSpPr/>
          <p:nvPr/>
        </p:nvSpPr>
        <p:spPr bwMode="auto">
          <a:xfrm>
            <a:off x="1227291" y="983969"/>
            <a:ext cx="3621369" cy="3960000"/>
          </a:xfrm>
          <a:prstGeom prst="rect">
            <a:avLst/>
          </a:prstGeom>
          <a:solidFill>
            <a:srgbClr val="C0C0C0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118800" rIns="90000" bIns="82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1301360" y="331209"/>
            <a:ext cx="5436257" cy="3780274"/>
            <a:chOff x="1301360" y="463162"/>
            <a:chExt cx="5436257" cy="3780274"/>
          </a:xfrm>
        </p:grpSpPr>
        <p:sp>
          <p:nvSpPr>
            <p:cNvPr id="99" name="Rectángulo 98"/>
            <p:cNvSpPr/>
            <p:nvPr/>
          </p:nvSpPr>
          <p:spPr bwMode="auto">
            <a:xfrm>
              <a:off x="1301360" y="1183436"/>
              <a:ext cx="3451746" cy="306000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118800" rIns="90000" bIns="82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40024" name="Group 31"/>
            <p:cNvGrpSpPr>
              <a:grpSpLocks/>
            </p:cNvGrpSpPr>
            <p:nvPr/>
          </p:nvGrpSpPr>
          <p:grpSpPr bwMode="auto">
            <a:xfrm>
              <a:off x="2082410" y="2237411"/>
              <a:ext cx="752475" cy="466725"/>
              <a:chOff x="2477" y="1406"/>
              <a:chExt cx="474" cy="294"/>
            </a:xfrm>
          </p:grpSpPr>
          <p:sp>
            <p:nvSpPr>
              <p:cNvPr id="40057" name="Oval 32"/>
              <p:cNvSpPr>
                <a:spLocks noChangeArrowheads="1"/>
              </p:cNvSpPr>
              <p:nvPr/>
            </p:nvSpPr>
            <p:spPr bwMode="auto">
              <a:xfrm>
                <a:off x="2477" y="14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58" name="Text Box 33"/>
              <p:cNvSpPr txBox="1">
                <a:spLocks noChangeArrowheads="1"/>
              </p:cNvSpPr>
              <p:nvPr/>
            </p:nvSpPr>
            <p:spPr bwMode="auto">
              <a:xfrm>
                <a:off x="2724" y="1423"/>
                <a:ext cx="19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0059" name="Text Box 34"/>
              <p:cNvSpPr txBox="1">
                <a:spLocks noChangeArrowheads="1"/>
              </p:cNvSpPr>
              <p:nvPr/>
            </p:nvSpPr>
            <p:spPr bwMode="auto">
              <a:xfrm>
                <a:off x="2530" y="1406"/>
                <a:ext cx="16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0025" name="Group 35"/>
            <p:cNvGrpSpPr>
              <a:grpSpLocks/>
            </p:cNvGrpSpPr>
            <p:nvPr/>
          </p:nvGrpSpPr>
          <p:grpSpPr bwMode="auto">
            <a:xfrm flipH="1">
              <a:off x="2477697" y="3497887"/>
              <a:ext cx="752475" cy="466725"/>
              <a:chOff x="2477" y="1406"/>
              <a:chExt cx="474" cy="294"/>
            </a:xfrm>
          </p:grpSpPr>
          <p:sp>
            <p:nvSpPr>
              <p:cNvPr id="40054" name="Oval 36"/>
              <p:cNvSpPr>
                <a:spLocks noChangeArrowheads="1"/>
              </p:cNvSpPr>
              <p:nvPr/>
            </p:nvSpPr>
            <p:spPr bwMode="auto">
              <a:xfrm>
                <a:off x="2477" y="14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55" name="Text Box 37"/>
              <p:cNvSpPr txBox="1">
                <a:spLocks noChangeArrowheads="1"/>
              </p:cNvSpPr>
              <p:nvPr/>
            </p:nvSpPr>
            <p:spPr bwMode="auto">
              <a:xfrm>
                <a:off x="2724" y="1423"/>
                <a:ext cx="19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0056" name="Text Box 38"/>
              <p:cNvSpPr txBox="1">
                <a:spLocks noChangeArrowheads="1"/>
              </p:cNvSpPr>
              <p:nvPr/>
            </p:nvSpPr>
            <p:spPr bwMode="auto">
              <a:xfrm>
                <a:off x="2530" y="1406"/>
                <a:ext cx="16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0026" name="Group 39"/>
            <p:cNvGrpSpPr>
              <a:grpSpLocks/>
            </p:cNvGrpSpPr>
            <p:nvPr/>
          </p:nvGrpSpPr>
          <p:grpSpPr bwMode="auto">
            <a:xfrm rot="16200000">
              <a:off x="3195247" y="2356474"/>
              <a:ext cx="752475" cy="466725"/>
              <a:chOff x="2477" y="1406"/>
              <a:chExt cx="474" cy="294"/>
            </a:xfrm>
          </p:grpSpPr>
          <p:sp>
            <p:nvSpPr>
              <p:cNvPr id="40051" name="Oval 40"/>
              <p:cNvSpPr>
                <a:spLocks noChangeArrowheads="1"/>
              </p:cNvSpPr>
              <p:nvPr/>
            </p:nvSpPr>
            <p:spPr bwMode="auto">
              <a:xfrm>
                <a:off x="2477" y="14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vert="eaVert"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52" name="Text Box 41"/>
              <p:cNvSpPr txBox="1">
                <a:spLocks noChangeArrowheads="1"/>
              </p:cNvSpPr>
              <p:nvPr/>
            </p:nvSpPr>
            <p:spPr bwMode="auto">
              <a:xfrm>
                <a:off x="2724" y="1423"/>
                <a:ext cx="19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0053" name="Text Box 42"/>
              <p:cNvSpPr txBox="1">
                <a:spLocks noChangeArrowheads="1"/>
              </p:cNvSpPr>
              <p:nvPr/>
            </p:nvSpPr>
            <p:spPr bwMode="auto">
              <a:xfrm>
                <a:off x="2530" y="1406"/>
                <a:ext cx="16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0027" name="Group 43"/>
            <p:cNvGrpSpPr>
              <a:grpSpLocks/>
            </p:cNvGrpSpPr>
            <p:nvPr/>
          </p:nvGrpSpPr>
          <p:grpSpPr bwMode="auto">
            <a:xfrm rot="5400000" flipV="1">
              <a:off x="1321997" y="2521574"/>
              <a:ext cx="752475" cy="466725"/>
              <a:chOff x="2477" y="1406"/>
              <a:chExt cx="474" cy="294"/>
            </a:xfrm>
          </p:grpSpPr>
          <p:sp>
            <p:nvSpPr>
              <p:cNvPr id="40048" name="Oval 44"/>
              <p:cNvSpPr>
                <a:spLocks noChangeArrowheads="1"/>
              </p:cNvSpPr>
              <p:nvPr/>
            </p:nvSpPr>
            <p:spPr bwMode="auto">
              <a:xfrm>
                <a:off x="2477" y="14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vert="eaVert"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49" name="Text Box 45"/>
              <p:cNvSpPr txBox="1">
                <a:spLocks noChangeArrowheads="1"/>
              </p:cNvSpPr>
              <p:nvPr/>
            </p:nvSpPr>
            <p:spPr bwMode="auto">
              <a:xfrm>
                <a:off x="2724" y="1423"/>
                <a:ext cx="19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0050" name="Text Box 46"/>
              <p:cNvSpPr txBox="1">
                <a:spLocks noChangeArrowheads="1"/>
              </p:cNvSpPr>
              <p:nvPr/>
            </p:nvSpPr>
            <p:spPr bwMode="auto">
              <a:xfrm>
                <a:off x="2530" y="1406"/>
                <a:ext cx="16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0028" name="Group 47"/>
            <p:cNvGrpSpPr>
              <a:grpSpLocks/>
            </p:cNvGrpSpPr>
            <p:nvPr/>
          </p:nvGrpSpPr>
          <p:grpSpPr bwMode="auto">
            <a:xfrm rot="2700000">
              <a:off x="2769797" y="2731124"/>
              <a:ext cx="752475" cy="466725"/>
              <a:chOff x="2477" y="1406"/>
              <a:chExt cx="474" cy="294"/>
            </a:xfrm>
          </p:grpSpPr>
          <p:sp>
            <p:nvSpPr>
              <p:cNvPr id="40045" name="Oval 48"/>
              <p:cNvSpPr>
                <a:spLocks noChangeArrowheads="1"/>
              </p:cNvSpPr>
              <p:nvPr/>
            </p:nvSpPr>
            <p:spPr bwMode="auto">
              <a:xfrm>
                <a:off x="2477" y="14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rot="10800000" vert="eaVert"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46" name="Text Box 49"/>
              <p:cNvSpPr txBox="1">
                <a:spLocks noChangeArrowheads="1"/>
              </p:cNvSpPr>
              <p:nvPr/>
            </p:nvSpPr>
            <p:spPr bwMode="auto">
              <a:xfrm>
                <a:off x="2724" y="1423"/>
                <a:ext cx="19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0047" name="Text Box 50"/>
              <p:cNvSpPr txBox="1">
                <a:spLocks noChangeArrowheads="1"/>
              </p:cNvSpPr>
              <p:nvPr/>
            </p:nvSpPr>
            <p:spPr bwMode="auto">
              <a:xfrm>
                <a:off x="2530" y="1406"/>
                <a:ext cx="16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0029" name="Group 51"/>
            <p:cNvGrpSpPr>
              <a:grpSpLocks/>
            </p:cNvGrpSpPr>
            <p:nvPr/>
          </p:nvGrpSpPr>
          <p:grpSpPr bwMode="auto">
            <a:xfrm rot="18900000" flipV="1">
              <a:off x="1550597" y="3305799"/>
              <a:ext cx="752475" cy="466725"/>
              <a:chOff x="2477" y="1406"/>
              <a:chExt cx="474" cy="294"/>
            </a:xfrm>
          </p:grpSpPr>
          <p:sp>
            <p:nvSpPr>
              <p:cNvPr id="40042" name="Oval 52"/>
              <p:cNvSpPr>
                <a:spLocks noChangeArrowheads="1"/>
              </p:cNvSpPr>
              <p:nvPr/>
            </p:nvSpPr>
            <p:spPr bwMode="auto">
              <a:xfrm>
                <a:off x="2477" y="14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rot="10800000" vert="eaVert"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43" name="Text Box 53"/>
              <p:cNvSpPr txBox="1">
                <a:spLocks noChangeArrowheads="1"/>
              </p:cNvSpPr>
              <p:nvPr/>
            </p:nvSpPr>
            <p:spPr bwMode="auto">
              <a:xfrm>
                <a:off x="2724" y="1423"/>
                <a:ext cx="19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0044" name="Text Box 54"/>
              <p:cNvSpPr txBox="1">
                <a:spLocks noChangeArrowheads="1"/>
              </p:cNvSpPr>
              <p:nvPr/>
            </p:nvSpPr>
            <p:spPr bwMode="auto">
              <a:xfrm>
                <a:off x="2530" y="1406"/>
                <a:ext cx="16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0030" name="Group 55"/>
            <p:cNvGrpSpPr>
              <a:grpSpLocks/>
            </p:cNvGrpSpPr>
            <p:nvPr/>
          </p:nvGrpSpPr>
          <p:grpSpPr bwMode="auto">
            <a:xfrm rot="2700000" flipH="1" flipV="1">
              <a:off x="2042722" y="2866062"/>
              <a:ext cx="752475" cy="466725"/>
              <a:chOff x="2477" y="1406"/>
              <a:chExt cx="474" cy="294"/>
            </a:xfrm>
          </p:grpSpPr>
          <p:sp>
            <p:nvSpPr>
              <p:cNvPr id="40039" name="Oval 56"/>
              <p:cNvSpPr>
                <a:spLocks noChangeArrowheads="1"/>
              </p:cNvSpPr>
              <p:nvPr/>
            </p:nvSpPr>
            <p:spPr bwMode="auto">
              <a:xfrm>
                <a:off x="2477" y="14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vert="eaVert"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40" name="Text Box 57"/>
              <p:cNvSpPr txBox="1">
                <a:spLocks noChangeArrowheads="1"/>
              </p:cNvSpPr>
              <p:nvPr/>
            </p:nvSpPr>
            <p:spPr bwMode="auto">
              <a:xfrm>
                <a:off x="2724" y="1423"/>
                <a:ext cx="19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0041" name="Text Box 58"/>
              <p:cNvSpPr txBox="1">
                <a:spLocks noChangeArrowheads="1"/>
              </p:cNvSpPr>
              <p:nvPr/>
            </p:nvSpPr>
            <p:spPr bwMode="auto">
              <a:xfrm>
                <a:off x="2530" y="1406"/>
                <a:ext cx="16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0031" name="Group 59"/>
            <p:cNvGrpSpPr>
              <a:grpSpLocks/>
            </p:cNvGrpSpPr>
            <p:nvPr/>
          </p:nvGrpSpPr>
          <p:grpSpPr bwMode="auto">
            <a:xfrm rot="8100000" flipV="1">
              <a:off x="3301609" y="3196262"/>
              <a:ext cx="752475" cy="466725"/>
              <a:chOff x="2477" y="1406"/>
              <a:chExt cx="474" cy="294"/>
            </a:xfrm>
          </p:grpSpPr>
          <p:sp>
            <p:nvSpPr>
              <p:cNvPr id="40036" name="Oval 60"/>
              <p:cNvSpPr>
                <a:spLocks noChangeArrowheads="1"/>
              </p:cNvSpPr>
              <p:nvPr/>
            </p:nvSpPr>
            <p:spPr bwMode="auto">
              <a:xfrm>
                <a:off x="2477" y="14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vert="eaVert"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37" name="Text Box 61"/>
              <p:cNvSpPr txBox="1">
                <a:spLocks noChangeArrowheads="1"/>
              </p:cNvSpPr>
              <p:nvPr/>
            </p:nvSpPr>
            <p:spPr bwMode="auto">
              <a:xfrm>
                <a:off x="2724" y="1423"/>
                <a:ext cx="19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0038" name="Text Box 62"/>
              <p:cNvSpPr txBox="1">
                <a:spLocks noChangeArrowheads="1"/>
              </p:cNvSpPr>
              <p:nvPr/>
            </p:nvSpPr>
            <p:spPr bwMode="auto">
              <a:xfrm>
                <a:off x="2530" y="1406"/>
                <a:ext cx="16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0032" name="Group 63"/>
            <p:cNvGrpSpPr>
              <a:grpSpLocks/>
            </p:cNvGrpSpPr>
            <p:nvPr/>
          </p:nvGrpSpPr>
          <p:grpSpPr bwMode="auto">
            <a:xfrm rot="1800000">
              <a:off x="3884222" y="2488236"/>
              <a:ext cx="752475" cy="466725"/>
              <a:chOff x="2477" y="1406"/>
              <a:chExt cx="474" cy="294"/>
            </a:xfrm>
          </p:grpSpPr>
          <p:sp>
            <p:nvSpPr>
              <p:cNvPr id="40033" name="Oval 64"/>
              <p:cNvSpPr>
                <a:spLocks noChangeArrowheads="1"/>
              </p:cNvSpPr>
              <p:nvPr/>
            </p:nvSpPr>
            <p:spPr bwMode="auto">
              <a:xfrm>
                <a:off x="2477" y="14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34" name="Text Box 65"/>
              <p:cNvSpPr txBox="1">
                <a:spLocks noChangeArrowheads="1"/>
              </p:cNvSpPr>
              <p:nvPr/>
            </p:nvSpPr>
            <p:spPr bwMode="auto">
              <a:xfrm>
                <a:off x="2724" y="1423"/>
                <a:ext cx="19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0035" name="Text Box 66"/>
              <p:cNvSpPr txBox="1">
                <a:spLocks noChangeArrowheads="1"/>
              </p:cNvSpPr>
              <p:nvPr/>
            </p:nvSpPr>
            <p:spPr bwMode="auto">
              <a:xfrm>
                <a:off x="2530" y="1406"/>
                <a:ext cx="16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sp>
          <p:nvSpPr>
            <p:cNvPr id="123" name="Text Box 116"/>
            <p:cNvSpPr txBox="1">
              <a:spLocks noChangeArrowheads="1"/>
            </p:cNvSpPr>
            <p:nvPr/>
          </p:nvSpPr>
          <p:spPr bwMode="auto">
            <a:xfrm>
              <a:off x="4833400" y="463162"/>
              <a:ext cx="1904217" cy="536549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latin typeface="Arial" panose="020B0604020202020204" pitchFamily="34" charset="0"/>
                </a:rPr>
                <a:t>CONJUNTO</a:t>
              </a:r>
            </a:p>
          </p:txBody>
        </p:sp>
      </p:grpSp>
      <p:sp>
        <p:nvSpPr>
          <p:cNvPr id="109" name="Rectángulo 108"/>
          <p:cNvSpPr/>
          <p:nvPr/>
        </p:nvSpPr>
        <p:spPr bwMode="auto">
          <a:xfrm>
            <a:off x="7040152" y="978728"/>
            <a:ext cx="3314713" cy="3960000"/>
          </a:xfrm>
          <a:prstGeom prst="rect">
            <a:avLst/>
          </a:prstGeom>
          <a:solidFill>
            <a:srgbClr val="C0C0C0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118800" rIns="90000" bIns="82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40023" name="Text Box 30"/>
          <p:cNvSpPr txBox="1">
            <a:spLocks noChangeArrowheads="1"/>
          </p:cNvSpPr>
          <p:nvPr/>
        </p:nvSpPr>
        <p:spPr bwMode="auto">
          <a:xfrm>
            <a:off x="1691885" y="1452850"/>
            <a:ext cx="2616200" cy="30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Orientadas al azar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7126400" y="1050511"/>
            <a:ext cx="3137951" cy="3060000"/>
            <a:chOff x="7148434" y="1182464"/>
            <a:chExt cx="3137951" cy="3060000"/>
          </a:xfrm>
        </p:grpSpPr>
        <p:sp>
          <p:nvSpPr>
            <p:cNvPr id="100" name="Rectángulo 99"/>
            <p:cNvSpPr/>
            <p:nvPr/>
          </p:nvSpPr>
          <p:spPr bwMode="auto">
            <a:xfrm>
              <a:off x="7148434" y="1182464"/>
              <a:ext cx="3137951" cy="306000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118800" rIns="90000" bIns="82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14" name="Group 144"/>
            <p:cNvGrpSpPr>
              <a:grpSpLocks/>
            </p:cNvGrpSpPr>
            <p:nvPr/>
          </p:nvGrpSpPr>
          <p:grpSpPr bwMode="auto">
            <a:xfrm>
              <a:off x="8344056" y="1677025"/>
              <a:ext cx="979487" cy="469900"/>
              <a:chOff x="5049" y="2476"/>
              <a:chExt cx="617" cy="296"/>
            </a:xfrm>
          </p:grpSpPr>
          <p:sp>
            <p:nvSpPr>
              <p:cNvPr id="40020" name="Line 68"/>
              <p:cNvSpPr>
                <a:spLocks noChangeShapeType="1"/>
              </p:cNvSpPr>
              <p:nvPr/>
            </p:nvSpPr>
            <p:spPr bwMode="auto">
              <a:xfrm>
                <a:off x="5049" y="2750"/>
                <a:ext cx="617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/>
              </a:p>
            </p:txBody>
          </p:sp>
          <p:sp>
            <p:nvSpPr>
              <p:cNvPr id="40021" name="Text Box 69"/>
              <p:cNvSpPr txBox="1">
                <a:spLocks noChangeArrowheads="1"/>
              </p:cNvSpPr>
              <p:nvPr/>
            </p:nvSpPr>
            <p:spPr bwMode="auto">
              <a:xfrm>
                <a:off x="5228" y="2476"/>
                <a:ext cx="221" cy="2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1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40022" name="Line 70"/>
              <p:cNvSpPr>
                <a:spLocks noChangeShapeType="1"/>
              </p:cNvSpPr>
              <p:nvPr/>
            </p:nvSpPr>
            <p:spPr bwMode="auto">
              <a:xfrm>
                <a:off x="5289" y="2533"/>
                <a:ext cx="136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/>
              </a:p>
            </p:txBody>
          </p:sp>
        </p:grpSp>
        <p:grpSp>
          <p:nvGrpSpPr>
            <p:cNvPr id="15" name="Group 145"/>
            <p:cNvGrpSpPr>
              <a:grpSpLocks/>
            </p:cNvGrpSpPr>
            <p:nvPr/>
          </p:nvGrpSpPr>
          <p:grpSpPr bwMode="auto">
            <a:xfrm>
              <a:off x="7472518" y="2191373"/>
              <a:ext cx="2608263" cy="1517650"/>
              <a:chOff x="4540" y="2832"/>
              <a:chExt cx="1643" cy="956"/>
            </a:xfrm>
          </p:grpSpPr>
          <p:grpSp>
            <p:nvGrpSpPr>
              <p:cNvPr id="39984" name="Group 71"/>
              <p:cNvGrpSpPr>
                <a:grpSpLocks/>
              </p:cNvGrpSpPr>
              <p:nvPr/>
            </p:nvGrpSpPr>
            <p:grpSpPr bwMode="auto">
              <a:xfrm>
                <a:off x="5109" y="2832"/>
                <a:ext cx="485" cy="294"/>
                <a:chOff x="1823" y="3206"/>
                <a:chExt cx="485" cy="294"/>
              </a:xfrm>
            </p:grpSpPr>
            <p:sp>
              <p:nvSpPr>
                <p:cNvPr id="40017" name="Oval 72"/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018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0019" name="Text Box 74"/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39985" name="Group 75"/>
              <p:cNvGrpSpPr>
                <a:grpSpLocks/>
              </p:cNvGrpSpPr>
              <p:nvPr/>
            </p:nvGrpSpPr>
            <p:grpSpPr bwMode="auto">
              <a:xfrm>
                <a:off x="5698" y="2832"/>
                <a:ext cx="485" cy="294"/>
                <a:chOff x="1823" y="3206"/>
                <a:chExt cx="485" cy="294"/>
              </a:xfrm>
            </p:grpSpPr>
            <p:sp>
              <p:nvSpPr>
                <p:cNvPr id="40014" name="Oval 76"/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015" name="Text Box 77"/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0016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39986" name="Group 79"/>
              <p:cNvGrpSpPr>
                <a:grpSpLocks/>
              </p:cNvGrpSpPr>
              <p:nvPr/>
            </p:nvGrpSpPr>
            <p:grpSpPr bwMode="auto">
              <a:xfrm>
                <a:off x="4548" y="2832"/>
                <a:ext cx="485" cy="294"/>
                <a:chOff x="1823" y="3206"/>
                <a:chExt cx="485" cy="294"/>
              </a:xfrm>
            </p:grpSpPr>
            <p:sp>
              <p:nvSpPr>
                <p:cNvPr id="40011" name="Oval 80"/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012" name="Text Box 81"/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0013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39987" name="Group 83"/>
              <p:cNvGrpSpPr>
                <a:grpSpLocks/>
              </p:cNvGrpSpPr>
              <p:nvPr/>
            </p:nvGrpSpPr>
            <p:grpSpPr bwMode="auto">
              <a:xfrm>
                <a:off x="5105" y="3158"/>
                <a:ext cx="485" cy="294"/>
                <a:chOff x="1823" y="3206"/>
                <a:chExt cx="485" cy="294"/>
              </a:xfrm>
            </p:grpSpPr>
            <p:sp>
              <p:nvSpPr>
                <p:cNvPr id="40008" name="Oval 84"/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009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0010" name="Text Box 86"/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39988" name="Group 87"/>
              <p:cNvGrpSpPr>
                <a:grpSpLocks/>
              </p:cNvGrpSpPr>
              <p:nvPr/>
            </p:nvGrpSpPr>
            <p:grpSpPr bwMode="auto">
              <a:xfrm>
                <a:off x="5694" y="3158"/>
                <a:ext cx="485" cy="294"/>
                <a:chOff x="1823" y="3206"/>
                <a:chExt cx="485" cy="294"/>
              </a:xfrm>
            </p:grpSpPr>
            <p:sp>
              <p:nvSpPr>
                <p:cNvPr id="40005" name="Oval 88"/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006" name="Text Box 89"/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0007" name="Text Box 90"/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39989" name="Group 91"/>
              <p:cNvGrpSpPr>
                <a:grpSpLocks/>
              </p:cNvGrpSpPr>
              <p:nvPr/>
            </p:nvGrpSpPr>
            <p:grpSpPr bwMode="auto">
              <a:xfrm>
                <a:off x="4544" y="3158"/>
                <a:ext cx="485" cy="294"/>
                <a:chOff x="1823" y="3206"/>
                <a:chExt cx="485" cy="294"/>
              </a:xfrm>
            </p:grpSpPr>
            <p:sp>
              <p:nvSpPr>
                <p:cNvPr id="40002" name="Oval 92"/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003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0004" name="Text Box 94"/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39990" name="Group 95"/>
              <p:cNvGrpSpPr>
                <a:grpSpLocks/>
              </p:cNvGrpSpPr>
              <p:nvPr/>
            </p:nvGrpSpPr>
            <p:grpSpPr bwMode="auto">
              <a:xfrm>
                <a:off x="5101" y="3494"/>
                <a:ext cx="485" cy="294"/>
                <a:chOff x="1823" y="3206"/>
                <a:chExt cx="485" cy="294"/>
              </a:xfrm>
            </p:grpSpPr>
            <p:sp>
              <p:nvSpPr>
                <p:cNvPr id="39999" name="Oval 96"/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000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0001" name="Text Box 98"/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39991" name="Group 99"/>
              <p:cNvGrpSpPr>
                <a:grpSpLocks/>
              </p:cNvGrpSpPr>
              <p:nvPr/>
            </p:nvGrpSpPr>
            <p:grpSpPr bwMode="auto">
              <a:xfrm>
                <a:off x="5690" y="3494"/>
                <a:ext cx="485" cy="294"/>
                <a:chOff x="1823" y="3206"/>
                <a:chExt cx="485" cy="294"/>
              </a:xfrm>
            </p:grpSpPr>
            <p:sp>
              <p:nvSpPr>
                <p:cNvPr id="39996" name="Oval 100"/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9997" name="Text Box 101"/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39998" name="Text Box 102"/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39992" name="Group 103"/>
              <p:cNvGrpSpPr>
                <a:grpSpLocks/>
              </p:cNvGrpSpPr>
              <p:nvPr/>
            </p:nvGrpSpPr>
            <p:grpSpPr bwMode="auto">
              <a:xfrm>
                <a:off x="4540" y="3494"/>
                <a:ext cx="485" cy="294"/>
                <a:chOff x="1823" y="3206"/>
                <a:chExt cx="485" cy="294"/>
              </a:xfrm>
            </p:grpSpPr>
            <p:sp>
              <p:nvSpPr>
                <p:cNvPr id="39993" name="Oval 104"/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9994" name="Text Box 105"/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39995" name="Text Box 106"/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</p:grpSp>
      </p:grpSp>
      <p:grpSp>
        <p:nvGrpSpPr>
          <p:cNvPr id="121" name="Group 144"/>
          <p:cNvGrpSpPr>
            <a:grpSpLocks/>
          </p:cNvGrpSpPr>
          <p:nvPr/>
        </p:nvGrpSpPr>
        <p:grpSpPr bwMode="auto">
          <a:xfrm>
            <a:off x="2172899" y="4197064"/>
            <a:ext cx="350837" cy="469900"/>
            <a:chOff x="5228" y="2476"/>
            <a:chExt cx="221" cy="296"/>
          </a:xfrm>
        </p:grpSpPr>
        <p:sp>
          <p:nvSpPr>
            <p:cNvPr id="124" name="Text Box 69"/>
            <p:cNvSpPr txBox="1">
              <a:spLocks noChangeArrowheads="1"/>
            </p:cNvSpPr>
            <p:nvPr/>
          </p:nvSpPr>
          <p:spPr bwMode="auto">
            <a:xfrm>
              <a:off x="5228" y="2476"/>
              <a:ext cx="22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-25000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aislante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 = </a:t>
              </a:r>
              <a:r>
                <a:rPr lang="es-ES" sz="24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125" name="Line 70"/>
            <p:cNvSpPr>
              <a:spLocks noChangeShapeType="1"/>
            </p:cNvSpPr>
            <p:nvPr/>
          </p:nvSpPr>
          <p:spPr bwMode="auto">
            <a:xfrm>
              <a:off x="5289" y="2533"/>
              <a:ext cx="136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grpSp>
        <p:nvGrpSpPr>
          <p:cNvPr id="126" name="Group 144"/>
          <p:cNvGrpSpPr>
            <a:grpSpLocks/>
          </p:cNvGrpSpPr>
          <p:nvPr/>
        </p:nvGrpSpPr>
        <p:grpSpPr bwMode="auto">
          <a:xfrm>
            <a:off x="8023635" y="4184086"/>
            <a:ext cx="350837" cy="469900"/>
            <a:chOff x="5228" y="2476"/>
            <a:chExt cx="221" cy="296"/>
          </a:xfrm>
        </p:grpSpPr>
        <p:sp>
          <p:nvSpPr>
            <p:cNvPr id="128" name="Text Box 69"/>
            <p:cNvSpPr txBox="1">
              <a:spLocks noChangeArrowheads="1"/>
            </p:cNvSpPr>
            <p:nvPr/>
          </p:nvSpPr>
          <p:spPr bwMode="auto">
            <a:xfrm>
              <a:off x="5228" y="2476"/>
              <a:ext cx="22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-25000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aislante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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129" name="Line 70"/>
            <p:cNvSpPr>
              <a:spLocks noChangeShapeType="1"/>
            </p:cNvSpPr>
            <p:nvPr/>
          </p:nvSpPr>
          <p:spPr bwMode="auto">
            <a:xfrm>
              <a:off x="5289" y="2533"/>
              <a:ext cx="136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grpSp>
        <p:nvGrpSpPr>
          <p:cNvPr id="101" name="Group 54"/>
          <p:cNvGrpSpPr>
            <a:grpSpLocks/>
          </p:cNvGrpSpPr>
          <p:nvPr/>
        </p:nvGrpSpPr>
        <p:grpSpPr bwMode="auto">
          <a:xfrm>
            <a:off x="4922562" y="1917455"/>
            <a:ext cx="1706563" cy="782638"/>
            <a:chOff x="3179" y="802"/>
            <a:chExt cx="1075" cy="493"/>
          </a:xfrm>
        </p:grpSpPr>
        <p:sp>
          <p:nvSpPr>
            <p:cNvPr id="102" name="AutoShape 28"/>
            <p:cNvSpPr>
              <a:spLocks noChangeArrowheads="1"/>
            </p:cNvSpPr>
            <p:nvPr/>
          </p:nvSpPr>
          <p:spPr bwMode="auto">
            <a:xfrm>
              <a:off x="3228" y="1092"/>
              <a:ext cx="1026" cy="203"/>
            </a:xfrm>
            <a:prstGeom prst="rightArrow">
              <a:avLst>
                <a:gd name="adj1" fmla="val 39898"/>
                <a:gd name="adj2" fmla="val 97042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" name="Text Box 29"/>
            <p:cNvSpPr txBox="1">
              <a:spLocks noChangeArrowheads="1"/>
            </p:cNvSpPr>
            <p:nvPr/>
          </p:nvSpPr>
          <p:spPr bwMode="auto">
            <a:xfrm>
              <a:off x="3179" y="802"/>
              <a:ext cx="891" cy="338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Aplicar E</a:t>
              </a:r>
            </a:p>
          </p:txBody>
        </p:sp>
        <p:sp>
          <p:nvSpPr>
            <p:cNvPr id="104" name="Line 30"/>
            <p:cNvSpPr>
              <a:spLocks noChangeShapeType="1"/>
            </p:cNvSpPr>
            <p:nvPr/>
          </p:nvSpPr>
          <p:spPr bwMode="auto">
            <a:xfrm>
              <a:off x="3884" y="869"/>
              <a:ext cx="136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sp>
        <p:nvSpPr>
          <p:cNvPr id="111" name="Text Box 19"/>
          <p:cNvSpPr txBox="1">
            <a:spLocks noChangeArrowheads="1"/>
          </p:cNvSpPr>
          <p:nvPr/>
        </p:nvSpPr>
        <p:spPr bwMode="auto">
          <a:xfrm>
            <a:off x="4905493" y="1079205"/>
            <a:ext cx="1957100" cy="905881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Si pueden girar</a:t>
            </a:r>
          </a:p>
        </p:txBody>
      </p:sp>
      <p:sp>
        <p:nvSpPr>
          <p:cNvPr id="4" name="Text Box 118">
            <a:extLst>
              <a:ext uri="{FF2B5EF4-FFF2-40B4-BE49-F238E27FC236}">
                <a16:creationId xmlns:a16="http://schemas.microsoft.com/office/drawing/2014/main" id="{BCDA5B9C-C956-0306-B5EE-5058E3047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7521" y="4981705"/>
            <a:ext cx="8423267" cy="162273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Si </a:t>
            </a: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>
                <a:latin typeface="Arial" panose="020B0604020202020204" pitchFamily="34" charset="0"/>
              </a:rPr>
              <a:t> va creciendo, </a:t>
            </a: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 baseline="-25000">
                <a:latin typeface="Arial" panose="020B0604020202020204" pitchFamily="34" charset="0"/>
              </a:rPr>
              <a:t>ais</a:t>
            </a:r>
            <a:r>
              <a:rPr lang="es-ES" sz="2400">
                <a:latin typeface="Arial" panose="020B0604020202020204" pitchFamily="34" charset="0"/>
              </a:rPr>
              <a:t> crece mas rápido al principio cuando se van orientando los dipolos, al ir venciendo a las fuerzas de cohesión entre moléculas, luego crece más lento por deberse sólo a la orientación y polarización adicionales</a:t>
            </a:r>
          </a:p>
        </p:txBody>
      </p:sp>
      <p:sp>
        <p:nvSpPr>
          <p:cNvPr id="5" name="Text Box 19">
            <a:extLst>
              <a:ext uri="{FF2B5EF4-FFF2-40B4-BE49-F238E27FC236}">
                <a16:creationId xmlns:a16="http://schemas.microsoft.com/office/drawing/2014/main" id="{F467A7D6-9807-6137-BC33-C510D68E3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8230" y="6477765"/>
            <a:ext cx="3955502" cy="536549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(comportamiento no lineal)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515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ángulo 107"/>
          <p:cNvSpPr/>
          <p:nvPr/>
        </p:nvSpPr>
        <p:spPr bwMode="auto">
          <a:xfrm>
            <a:off x="1227291" y="983969"/>
            <a:ext cx="3621369" cy="3960000"/>
          </a:xfrm>
          <a:prstGeom prst="rect">
            <a:avLst/>
          </a:prstGeom>
          <a:solidFill>
            <a:srgbClr val="C0C0C0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118800" rIns="90000" bIns="82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1301360" y="331209"/>
            <a:ext cx="5436257" cy="3780274"/>
            <a:chOff x="1301360" y="463162"/>
            <a:chExt cx="5436257" cy="3780274"/>
          </a:xfrm>
        </p:grpSpPr>
        <p:sp>
          <p:nvSpPr>
            <p:cNvPr id="99" name="Rectángulo 98"/>
            <p:cNvSpPr/>
            <p:nvPr/>
          </p:nvSpPr>
          <p:spPr bwMode="auto">
            <a:xfrm>
              <a:off x="1301360" y="1183436"/>
              <a:ext cx="3451746" cy="306000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118800" rIns="90000" bIns="82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40024" name="Group 31"/>
            <p:cNvGrpSpPr>
              <a:grpSpLocks/>
            </p:cNvGrpSpPr>
            <p:nvPr/>
          </p:nvGrpSpPr>
          <p:grpSpPr bwMode="auto">
            <a:xfrm>
              <a:off x="2082410" y="2237411"/>
              <a:ext cx="752475" cy="466725"/>
              <a:chOff x="2477" y="1406"/>
              <a:chExt cx="474" cy="294"/>
            </a:xfrm>
          </p:grpSpPr>
          <p:sp>
            <p:nvSpPr>
              <p:cNvPr id="40057" name="Oval 32"/>
              <p:cNvSpPr>
                <a:spLocks noChangeArrowheads="1"/>
              </p:cNvSpPr>
              <p:nvPr/>
            </p:nvSpPr>
            <p:spPr bwMode="auto">
              <a:xfrm>
                <a:off x="2477" y="14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58" name="Text Box 33"/>
              <p:cNvSpPr txBox="1">
                <a:spLocks noChangeArrowheads="1"/>
              </p:cNvSpPr>
              <p:nvPr/>
            </p:nvSpPr>
            <p:spPr bwMode="auto">
              <a:xfrm>
                <a:off x="2724" y="1423"/>
                <a:ext cx="19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0059" name="Text Box 34"/>
              <p:cNvSpPr txBox="1">
                <a:spLocks noChangeArrowheads="1"/>
              </p:cNvSpPr>
              <p:nvPr/>
            </p:nvSpPr>
            <p:spPr bwMode="auto">
              <a:xfrm>
                <a:off x="2530" y="1406"/>
                <a:ext cx="16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0025" name="Group 35"/>
            <p:cNvGrpSpPr>
              <a:grpSpLocks/>
            </p:cNvGrpSpPr>
            <p:nvPr/>
          </p:nvGrpSpPr>
          <p:grpSpPr bwMode="auto">
            <a:xfrm flipH="1">
              <a:off x="2477697" y="3497887"/>
              <a:ext cx="752475" cy="466725"/>
              <a:chOff x="2477" y="1406"/>
              <a:chExt cx="474" cy="294"/>
            </a:xfrm>
          </p:grpSpPr>
          <p:sp>
            <p:nvSpPr>
              <p:cNvPr id="40054" name="Oval 36"/>
              <p:cNvSpPr>
                <a:spLocks noChangeArrowheads="1"/>
              </p:cNvSpPr>
              <p:nvPr/>
            </p:nvSpPr>
            <p:spPr bwMode="auto">
              <a:xfrm>
                <a:off x="2477" y="14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55" name="Text Box 37"/>
              <p:cNvSpPr txBox="1">
                <a:spLocks noChangeArrowheads="1"/>
              </p:cNvSpPr>
              <p:nvPr/>
            </p:nvSpPr>
            <p:spPr bwMode="auto">
              <a:xfrm>
                <a:off x="2724" y="1423"/>
                <a:ext cx="19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0056" name="Text Box 38"/>
              <p:cNvSpPr txBox="1">
                <a:spLocks noChangeArrowheads="1"/>
              </p:cNvSpPr>
              <p:nvPr/>
            </p:nvSpPr>
            <p:spPr bwMode="auto">
              <a:xfrm>
                <a:off x="2530" y="1406"/>
                <a:ext cx="16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0026" name="Group 39"/>
            <p:cNvGrpSpPr>
              <a:grpSpLocks/>
            </p:cNvGrpSpPr>
            <p:nvPr/>
          </p:nvGrpSpPr>
          <p:grpSpPr bwMode="auto">
            <a:xfrm rot="16200000">
              <a:off x="3195247" y="2356474"/>
              <a:ext cx="752475" cy="466725"/>
              <a:chOff x="2477" y="1406"/>
              <a:chExt cx="474" cy="294"/>
            </a:xfrm>
          </p:grpSpPr>
          <p:sp>
            <p:nvSpPr>
              <p:cNvPr id="40051" name="Oval 40"/>
              <p:cNvSpPr>
                <a:spLocks noChangeArrowheads="1"/>
              </p:cNvSpPr>
              <p:nvPr/>
            </p:nvSpPr>
            <p:spPr bwMode="auto">
              <a:xfrm>
                <a:off x="2477" y="14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vert="eaVert"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52" name="Text Box 41"/>
              <p:cNvSpPr txBox="1">
                <a:spLocks noChangeArrowheads="1"/>
              </p:cNvSpPr>
              <p:nvPr/>
            </p:nvSpPr>
            <p:spPr bwMode="auto">
              <a:xfrm>
                <a:off x="2724" y="1423"/>
                <a:ext cx="19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0053" name="Text Box 42"/>
              <p:cNvSpPr txBox="1">
                <a:spLocks noChangeArrowheads="1"/>
              </p:cNvSpPr>
              <p:nvPr/>
            </p:nvSpPr>
            <p:spPr bwMode="auto">
              <a:xfrm>
                <a:off x="2530" y="1406"/>
                <a:ext cx="16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0027" name="Group 43"/>
            <p:cNvGrpSpPr>
              <a:grpSpLocks/>
            </p:cNvGrpSpPr>
            <p:nvPr/>
          </p:nvGrpSpPr>
          <p:grpSpPr bwMode="auto">
            <a:xfrm rot="5400000" flipV="1">
              <a:off x="1321997" y="2521574"/>
              <a:ext cx="752475" cy="466725"/>
              <a:chOff x="2477" y="1406"/>
              <a:chExt cx="474" cy="294"/>
            </a:xfrm>
          </p:grpSpPr>
          <p:sp>
            <p:nvSpPr>
              <p:cNvPr id="40048" name="Oval 44"/>
              <p:cNvSpPr>
                <a:spLocks noChangeArrowheads="1"/>
              </p:cNvSpPr>
              <p:nvPr/>
            </p:nvSpPr>
            <p:spPr bwMode="auto">
              <a:xfrm>
                <a:off x="2477" y="14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vert="eaVert"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49" name="Text Box 45"/>
              <p:cNvSpPr txBox="1">
                <a:spLocks noChangeArrowheads="1"/>
              </p:cNvSpPr>
              <p:nvPr/>
            </p:nvSpPr>
            <p:spPr bwMode="auto">
              <a:xfrm>
                <a:off x="2724" y="1423"/>
                <a:ext cx="19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0050" name="Text Box 46"/>
              <p:cNvSpPr txBox="1">
                <a:spLocks noChangeArrowheads="1"/>
              </p:cNvSpPr>
              <p:nvPr/>
            </p:nvSpPr>
            <p:spPr bwMode="auto">
              <a:xfrm>
                <a:off x="2530" y="1406"/>
                <a:ext cx="16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0028" name="Group 47"/>
            <p:cNvGrpSpPr>
              <a:grpSpLocks/>
            </p:cNvGrpSpPr>
            <p:nvPr/>
          </p:nvGrpSpPr>
          <p:grpSpPr bwMode="auto">
            <a:xfrm rot="2700000">
              <a:off x="2769797" y="2731124"/>
              <a:ext cx="752475" cy="466725"/>
              <a:chOff x="2477" y="1406"/>
              <a:chExt cx="474" cy="294"/>
            </a:xfrm>
          </p:grpSpPr>
          <p:sp>
            <p:nvSpPr>
              <p:cNvPr id="40045" name="Oval 48"/>
              <p:cNvSpPr>
                <a:spLocks noChangeArrowheads="1"/>
              </p:cNvSpPr>
              <p:nvPr/>
            </p:nvSpPr>
            <p:spPr bwMode="auto">
              <a:xfrm>
                <a:off x="2477" y="14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rot="10800000" vert="eaVert"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46" name="Text Box 49"/>
              <p:cNvSpPr txBox="1">
                <a:spLocks noChangeArrowheads="1"/>
              </p:cNvSpPr>
              <p:nvPr/>
            </p:nvSpPr>
            <p:spPr bwMode="auto">
              <a:xfrm>
                <a:off x="2724" y="1423"/>
                <a:ext cx="19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0047" name="Text Box 50"/>
              <p:cNvSpPr txBox="1">
                <a:spLocks noChangeArrowheads="1"/>
              </p:cNvSpPr>
              <p:nvPr/>
            </p:nvSpPr>
            <p:spPr bwMode="auto">
              <a:xfrm>
                <a:off x="2530" y="1406"/>
                <a:ext cx="16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0029" name="Group 51"/>
            <p:cNvGrpSpPr>
              <a:grpSpLocks/>
            </p:cNvGrpSpPr>
            <p:nvPr/>
          </p:nvGrpSpPr>
          <p:grpSpPr bwMode="auto">
            <a:xfrm rot="18900000" flipV="1">
              <a:off x="1550597" y="3305799"/>
              <a:ext cx="752475" cy="466725"/>
              <a:chOff x="2477" y="1406"/>
              <a:chExt cx="474" cy="294"/>
            </a:xfrm>
          </p:grpSpPr>
          <p:sp>
            <p:nvSpPr>
              <p:cNvPr id="40042" name="Oval 52"/>
              <p:cNvSpPr>
                <a:spLocks noChangeArrowheads="1"/>
              </p:cNvSpPr>
              <p:nvPr/>
            </p:nvSpPr>
            <p:spPr bwMode="auto">
              <a:xfrm>
                <a:off x="2477" y="14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rot="10800000" vert="eaVert"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43" name="Text Box 53"/>
              <p:cNvSpPr txBox="1">
                <a:spLocks noChangeArrowheads="1"/>
              </p:cNvSpPr>
              <p:nvPr/>
            </p:nvSpPr>
            <p:spPr bwMode="auto">
              <a:xfrm>
                <a:off x="2724" y="1423"/>
                <a:ext cx="19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0044" name="Text Box 54"/>
              <p:cNvSpPr txBox="1">
                <a:spLocks noChangeArrowheads="1"/>
              </p:cNvSpPr>
              <p:nvPr/>
            </p:nvSpPr>
            <p:spPr bwMode="auto">
              <a:xfrm>
                <a:off x="2530" y="1406"/>
                <a:ext cx="16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0030" name="Group 55"/>
            <p:cNvGrpSpPr>
              <a:grpSpLocks/>
            </p:cNvGrpSpPr>
            <p:nvPr/>
          </p:nvGrpSpPr>
          <p:grpSpPr bwMode="auto">
            <a:xfrm rot="2700000" flipH="1" flipV="1">
              <a:off x="2042722" y="2866062"/>
              <a:ext cx="752475" cy="466725"/>
              <a:chOff x="2477" y="1406"/>
              <a:chExt cx="474" cy="294"/>
            </a:xfrm>
          </p:grpSpPr>
          <p:sp>
            <p:nvSpPr>
              <p:cNvPr id="40039" name="Oval 56"/>
              <p:cNvSpPr>
                <a:spLocks noChangeArrowheads="1"/>
              </p:cNvSpPr>
              <p:nvPr/>
            </p:nvSpPr>
            <p:spPr bwMode="auto">
              <a:xfrm>
                <a:off x="2477" y="14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vert="eaVert"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40" name="Text Box 57"/>
              <p:cNvSpPr txBox="1">
                <a:spLocks noChangeArrowheads="1"/>
              </p:cNvSpPr>
              <p:nvPr/>
            </p:nvSpPr>
            <p:spPr bwMode="auto">
              <a:xfrm>
                <a:off x="2724" y="1423"/>
                <a:ext cx="19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0041" name="Text Box 58"/>
              <p:cNvSpPr txBox="1">
                <a:spLocks noChangeArrowheads="1"/>
              </p:cNvSpPr>
              <p:nvPr/>
            </p:nvSpPr>
            <p:spPr bwMode="auto">
              <a:xfrm>
                <a:off x="2530" y="1406"/>
                <a:ext cx="16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0031" name="Group 59"/>
            <p:cNvGrpSpPr>
              <a:grpSpLocks/>
            </p:cNvGrpSpPr>
            <p:nvPr/>
          </p:nvGrpSpPr>
          <p:grpSpPr bwMode="auto">
            <a:xfrm rot="8100000" flipV="1">
              <a:off x="3301609" y="3196262"/>
              <a:ext cx="752475" cy="466725"/>
              <a:chOff x="2477" y="1406"/>
              <a:chExt cx="474" cy="294"/>
            </a:xfrm>
          </p:grpSpPr>
          <p:sp>
            <p:nvSpPr>
              <p:cNvPr id="40036" name="Oval 60"/>
              <p:cNvSpPr>
                <a:spLocks noChangeArrowheads="1"/>
              </p:cNvSpPr>
              <p:nvPr/>
            </p:nvSpPr>
            <p:spPr bwMode="auto">
              <a:xfrm>
                <a:off x="2477" y="14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vert="eaVert"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37" name="Text Box 61"/>
              <p:cNvSpPr txBox="1">
                <a:spLocks noChangeArrowheads="1"/>
              </p:cNvSpPr>
              <p:nvPr/>
            </p:nvSpPr>
            <p:spPr bwMode="auto">
              <a:xfrm>
                <a:off x="2724" y="1423"/>
                <a:ext cx="19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0038" name="Text Box 62"/>
              <p:cNvSpPr txBox="1">
                <a:spLocks noChangeArrowheads="1"/>
              </p:cNvSpPr>
              <p:nvPr/>
            </p:nvSpPr>
            <p:spPr bwMode="auto">
              <a:xfrm>
                <a:off x="2530" y="1406"/>
                <a:ext cx="16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0032" name="Group 63"/>
            <p:cNvGrpSpPr>
              <a:grpSpLocks/>
            </p:cNvGrpSpPr>
            <p:nvPr/>
          </p:nvGrpSpPr>
          <p:grpSpPr bwMode="auto">
            <a:xfrm rot="1800000">
              <a:off x="3884222" y="2488236"/>
              <a:ext cx="752475" cy="466725"/>
              <a:chOff x="2477" y="1406"/>
              <a:chExt cx="474" cy="294"/>
            </a:xfrm>
          </p:grpSpPr>
          <p:sp>
            <p:nvSpPr>
              <p:cNvPr id="40033" name="Oval 64"/>
              <p:cNvSpPr>
                <a:spLocks noChangeArrowheads="1"/>
              </p:cNvSpPr>
              <p:nvPr/>
            </p:nvSpPr>
            <p:spPr bwMode="auto">
              <a:xfrm>
                <a:off x="2477" y="14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034" name="Text Box 65"/>
              <p:cNvSpPr txBox="1">
                <a:spLocks noChangeArrowheads="1"/>
              </p:cNvSpPr>
              <p:nvPr/>
            </p:nvSpPr>
            <p:spPr bwMode="auto">
              <a:xfrm>
                <a:off x="2724" y="1423"/>
                <a:ext cx="198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0035" name="Text Box 66"/>
              <p:cNvSpPr txBox="1">
                <a:spLocks noChangeArrowheads="1"/>
              </p:cNvSpPr>
              <p:nvPr/>
            </p:nvSpPr>
            <p:spPr bwMode="auto">
              <a:xfrm>
                <a:off x="2530" y="1406"/>
                <a:ext cx="16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sp>
          <p:nvSpPr>
            <p:cNvPr id="123" name="Text Box 116"/>
            <p:cNvSpPr txBox="1">
              <a:spLocks noChangeArrowheads="1"/>
            </p:cNvSpPr>
            <p:nvPr/>
          </p:nvSpPr>
          <p:spPr bwMode="auto">
            <a:xfrm>
              <a:off x="4833400" y="463162"/>
              <a:ext cx="1904217" cy="536549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latin typeface="Arial" panose="020B0604020202020204" pitchFamily="34" charset="0"/>
                </a:rPr>
                <a:t>CONJUNTO</a:t>
              </a:r>
            </a:p>
          </p:txBody>
        </p:sp>
      </p:grpSp>
      <p:sp>
        <p:nvSpPr>
          <p:cNvPr id="109" name="Rectángulo 108"/>
          <p:cNvSpPr/>
          <p:nvPr/>
        </p:nvSpPr>
        <p:spPr bwMode="auto">
          <a:xfrm>
            <a:off x="7040152" y="978728"/>
            <a:ext cx="3314713" cy="3960000"/>
          </a:xfrm>
          <a:prstGeom prst="rect">
            <a:avLst/>
          </a:prstGeom>
          <a:solidFill>
            <a:srgbClr val="C0C0C0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118800" rIns="90000" bIns="82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40023" name="Text Box 30"/>
          <p:cNvSpPr txBox="1">
            <a:spLocks noChangeArrowheads="1"/>
          </p:cNvSpPr>
          <p:nvPr/>
        </p:nvSpPr>
        <p:spPr bwMode="auto">
          <a:xfrm>
            <a:off x="1691885" y="1452850"/>
            <a:ext cx="2616200" cy="30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Orientadas al azar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7126400" y="1050511"/>
            <a:ext cx="3137951" cy="3060000"/>
            <a:chOff x="7148434" y="1182464"/>
            <a:chExt cx="3137951" cy="3060000"/>
          </a:xfrm>
        </p:grpSpPr>
        <p:sp>
          <p:nvSpPr>
            <p:cNvPr id="100" name="Rectángulo 99"/>
            <p:cNvSpPr/>
            <p:nvPr/>
          </p:nvSpPr>
          <p:spPr bwMode="auto">
            <a:xfrm>
              <a:off x="7148434" y="1182464"/>
              <a:ext cx="3137951" cy="306000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118800" rIns="90000" bIns="82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14" name="Group 144"/>
            <p:cNvGrpSpPr>
              <a:grpSpLocks/>
            </p:cNvGrpSpPr>
            <p:nvPr/>
          </p:nvGrpSpPr>
          <p:grpSpPr bwMode="auto">
            <a:xfrm>
              <a:off x="8344056" y="1677025"/>
              <a:ext cx="979487" cy="469900"/>
              <a:chOff x="5049" y="2476"/>
              <a:chExt cx="617" cy="296"/>
            </a:xfrm>
          </p:grpSpPr>
          <p:sp>
            <p:nvSpPr>
              <p:cNvPr id="40020" name="Line 68"/>
              <p:cNvSpPr>
                <a:spLocks noChangeShapeType="1"/>
              </p:cNvSpPr>
              <p:nvPr/>
            </p:nvSpPr>
            <p:spPr bwMode="auto">
              <a:xfrm>
                <a:off x="5049" y="2750"/>
                <a:ext cx="617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/>
              </a:p>
            </p:txBody>
          </p:sp>
          <p:sp>
            <p:nvSpPr>
              <p:cNvPr id="40021" name="Text Box 69"/>
              <p:cNvSpPr txBox="1">
                <a:spLocks noChangeArrowheads="1"/>
              </p:cNvSpPr>
              <p:nvPr/>
            </p:nvSpPr>
            <p:spPr bwMode="auto">
              <a:xfrm>
                <a:off x="5228" y="2476"/>
                <a:ext cx="221" cy="2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1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40022" name="Line 70"/>
              <p:cNvSpPr>
                <a:spLocks noChangeShapeType="1"/>
              </p:cNvSpPr>
              <p:nvPr/>
            </p:nvSpPr>
            <p:spPr bwMode="auto">
              <a:xfrm>
                <a:off x="5289" y="2533"/>
                <a:ext cx="136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/>
              </a:p>
            </p:txBody>
          </p:sp>
        </p:grpSp>
        <p:grpSp>
          <p:nvGrpSpPr>
            <p:cNvPr id="15" name="Group 145"/>
            <p:cNvGrpSpPr>
              <a:grpSpLocks/>
            </p:cNvGrpSpPr>
            <p:nvPr/>
          </p:nvGrpSpPr>
          <p:grpSpPr bwMode="auto">
            <a:xfrm>
              <a:off x="7472518" y="2191373"/>
              <a:ext cx="2608263" cy="1517650"/>
              <a:chOff x="4540" y="2832"/>
              <a:chExt cx="1643" cy="956"/>
            </a:xfrm>
          </p:grpSpPr>
          <p:grpSp>
            <p:nvGrpSpPr>
              <p:cNvPr id="39984" name="Group 71"/>
              <p:cNvGrpSpPr>
                <a:grpSpLocks/>
              </p:cNvGrpSpPr>
              <p:nvPr/>
            </p:nvGrpSpPr>
            <p:grpSpPr bwMode="auto">
              <a:xfrm>
                <a:off x="5109" y="2832"/>
                <a:ext cx="485" cy="294"/>
                <a:chOff x="1823" y="3206"/>
                <a:chExt cx="485" cy="294"/>
              </a:xfrm>
            </p:grpSpPr>
            <p:sp>
              <p:nvSpPr>
                <p:cNvPr id="40017" name="Oval 72"/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018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0019" name="Text Box 74"/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39985" name="Group 75"/>
              <p:cNvGrpSpPr>
                <a:grpSpLocks/>
              </p:cNvGrpSpPr>
              <p:nvPr/>
            </p:nvGrpSpPr>
            <p:grpSpPr bwMode="auto">
              <a:xfrm>
                <a:off x="5698" y="2832"/>
                <a:ext cx="485" cy="294"/>
                <a:chOff x="1823" y="3206"/>
                <a:chExt cx="485" cy="294"/>
              </a:xfrm>
            </p:grpSpPr>
            <p:sp>
              <p:nvSpPr>
                <p:cNvPr id="40014" name="Oval 76"/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015" name="Text Box 77"/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0016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39986" name="Group 79"/>
              <p:cNvGrpSpPr>
                <a:grpSpLocks/>
              </p:cNvGrpSpPr>
              <p:nvPr/>
            </p:nvGrpSpPr>
            <p:grpSpPr bwMode="auto">
              <a:xfrm>
                <a:off x="4548" y="2832"/>
                <a:ext cx="485" cy="294"/>
                <a:chOff x="1823" y="3206"/>
                <a:chExt cx="485" cy="294"/>
              </a:xfrm>
            </p:grpSpPr>
            <p:sp>
              <p:nvSpPr>
                <p:cNvPr id="40011" name="Oval 80"/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012" name="Text Box 81"/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0013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39987" name="Group 83"/>
              <p:cNvGrpSpPr>
                <a:grpSpLocks/>
              </p:cNvGrpSpPr>
              <p:nvPr/>
            </p:nvGrpSpPr>
            <p:grpSpPr bwMode="auto">
              <a:xfrm>
                <a:off x="5105" y="3158"/>
                <a:ext cx="485" cy="294"/>
                <a:chOff x="1823" y="3206"/>
                <a:chExt cx="485" cy="294"/>
              </a:xfrm>
            </p:grpSpPr>
            <p:sp>
              <p:nvSpPr>
                <p:cNvPr id="40008" name="Oval 84"/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009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0010" name="Text Box 86"/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39988" name="Group 87"/>
              <p:cNvGrpSpPr>
                <a:grpSpLocks/>
              </p:cNvGrpSpPr>
              <p:nvPr/>
            </p:nvGrpSpPr>
            <p:grpSpPr bwMode="auto">
              <a:xfrm>
                <a:off x="5694" y="3158"/>
                <a:ext cx="485" cy="294"/>
                <a:chOff x="1823" y="3206"/>
                <a:chExt cx="485" cy="294"/>
              </a:xfrm>
            </p:grpSpPr>
            <p:sp>
              <p:nvSpPr>
                <p:cNvPr id="40005" name="Oval 88"/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006" name="Text Box 89"/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0007" name="Text Box 90"/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39989" name="Group 91"/>
              <p:cNvGrpSpPr>
                <a:grpSpLocks/>
              </p:cNvGrpSpPr>
              <p:nvPr/>
            </p:nvGrpSpPr>
            <p:grpSpPr bwMode="auto">
              <a:xfrm>
                <a:off x="4544" y="3158"/>
                <a:ext cx="485" cy="294"/>
                <a:chOff x="1823" y="3206"/>
                <a:chExt cx="485" cy="294"/>
              </a:xfrm>
            </p:grpSpPr>
            <p:sp>
              <p:nvSpPr>
                <p:cNvPr id="40002" name="Oval 92"/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003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0004" name="Text Box 94"/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39990" name="Group 95"/>
              <p:cNvGrpSpPr>
                <a:grpSpLocks/>
              </p:cNvGrpSpPr>
              <p:nvPr/>
            </p:nvGrpSpPr>
            <p:grpSpPr bwMode="auto">
              <a:xfrm>
                <a:off x="5101" y="3494"/>
                <a:ext cx="485" cy="294"/>
                <a:chOff x="1823" y="3206"/>
                <a:chExt cx="485" cy="294"/>
              </a:xfrm>
            </p:grpSpPr>
            <p:sp>
              <p:nvSpPr>
                <p:cNvPr id="39999" name="Oval 96"/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000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0001" name="Text Box 98"/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39991" name="Group 99"/>
              <p:cNvGrpSpPr>
                <a:grpSpLocks/>
              </p:cNvGrpSpPr>
              <p:nvPr/>
            </p:nvGrpSpPr>
            <p:grpSpPr bwMode="auto">
              <a:xfrm>
                <a:off x="5690" y="3494"/>
                <a:ext cx="485" cy="294"/>
                <a:chOff x="1823" y="3206"/>
                <a:chExt cx="485" cy="294"/>
              </a:xfrm>
            </p:grpSpPr>
            <p:sp>
              <p:nvSpPr>
                <p:cNvPr id="39996" name="Oval 100"/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9997" name="Text Box 101"/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39998" name="Text Box 102"/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39992" name="Group 103"/>
              <p:cNvGrpSpPr>
                <a:grpSpLocks/>
              </p:cNvGrpSpPr>
              <p:nvPr/>
            </p:nvGrpSpPr>
            <p:grpSpPr bwMode="auto">
              <a:xfrm>
                <a:off x="4540" y="3494"/>
                <a:ext cx="485" cy="294"/>
                <a:chOff x="1823" y="3206"/>
                <a:chExt cx="485" cy="294"/>
              </a:xfrm>
            </p:grpSpPr>
            <p:sp>
              <p:nvSpPr>
                <p:cNvPr id="39993" name="Oval 104"/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9994" name="Text Box 105"/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39995" name="Text Box 106"/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</p:grpSp>
      </p:grpSp>
      <p:grpSp>
        <p:nvGrpSpPr>
          <p:cNvPr id="121" name="Group 144"/>
          <p:cNvGrpSpPr>
            <a:grpSpLocks/>
          </p:cNvGrpSpPr>
          <p:nvPr/>
        </p:nvGrpSpPr>
        <p:grpSpPr bwMode="auto">
          <a:xfrm>
            <a:off x="2172899" y="4197064"/>
            <a:ext cx="350837" cy="469900"/>
            <a:chOff x="5228" y="2476"/>
            <a:chExt cx="221" cy="296"/>
          </a:xfrm>
        </p:grpSpPr>
        <p:sp>
          <p:nvSpPr>
            <p:cNvPr id="124" name="Text Box 69"/>
            <p:cNvSpPr txBox="1">
              <a:spLocks noChangeArrowheads="1"/>
            </p:cNvSpPr>
            <p:nvPr/>
          </p:nvSpPr>
          <p:spPr bwMode="auto">
            <a:xfrm>
              <a:off x="5228" y="2476"/>
              <a:ext cx="22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-25000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aislante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 = </a:t>
              </a:r>
              <a:r>
                <a:rPr lang="es-ES" sz="24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125" name="Line 70"/>
            <p:cNvSpPr>
              <a:spLocks noChangeShapeType="1"/>
            </p:cNvSpPr>
            <p:nvPr/>
          </p:nvSpPr>
          <p:spPr bwMode="auto">
            <a:xfrm>
              <a:off x="5289" y="2533"/>
              <a:ext cx="136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grpSp>
        <p:nvGrpSpPr>
          <p:cNvPr id="126" name="Group 144"/>
          <p:cNvGrpSpPr>
            <a:grpSpLocks/>
          </p:cNvGrpSpPr>
          <p:nvPr/>
        </p:nvGrpSpPr>
        <p:grpSpPr bwMode="auto">
          <a:xfrm>
            <a:off x="8023635" y="4184086"/>
            <a:ext cx="350837" cy="469900"/>
            <a:chOff x="5228" y="2476"/>
            <a:chExt cx="221" cy="296"/>
          </a:xfrm>
        </p:grpSpPr>
        <p:sp>
          <p:nvSpPr>
            <p:cNvPr id="128" name="Text Box 69"/>
            <p:cNvSpPr txBox="1">
              <a:spLocks noChangeArrowheads="1"/>
            </p:cNvSpPr>
            <p:nvPr/>
          </p:nvSpPr>
          <p:spPr bwMode="auto">
            <a:xfrm>
              <a:off x="5228" y="2476"/>
              <a:ext cx="22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-25000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aislante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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129" name="Line 70"/>
            <p:cNvSpPr>
              <a:spLocks noChangeShapeType="1"/>
            </p:cNvSpPr>
            <p:nvPr/>
          </p:nvSpPr>
          <p:spPr bwMode="auto">
            <a:xfrm>
              <a:off x="5289" y="2533"/>
              <a:ext cx="136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grpSp>
        <p:nvGrpSpPr>
          <p:cNvPr id="101" name="Group 54"/>
          <p:cNvGrpSpPr>
            <a:grpSpLocks/>
          </p:cNvGrpSpPr>
          <p:nvPr/>
        </p:nvGrpSpPr>
        <p:grpSpPr bwMode="auto">
          <a:xfrm>
            <a:off x="4922562" y="1917455"/>
            <a:ext cx="1706563" cy="782638"/>
            <a:chOff x="3179" y="802"/>
            <a:chExt cx="1075" cy="493"/>
          </a:xfrm>
        </p:grpSpPr>
        <p:sp>
          <p:nvSpPr>
            <p:cNvPr id="102" name="AutoShape 28"/>
            <p:cNvSpPr>
              <a:spLocks noChangeArrowheads="1"/>
            </p:cNvSpPr>
            <p:nvPr/>
          </p:nvSpPr>
          <p:spPr bwMode="auto">
            <a:xfrm>
              <a:off x="3228" y="1092"/>
              <a:ext cx="1026" cy="203"/>
            </a:xfrm>
            <a:prstGeom prst="rightArrow">
              <a:avLst>
                <a:gd name="adj1" fmla="val 39898"/>
                <a:gd name="adj2" fmla="val 97042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" name="Text Box 29"/>
            <p:cNvSpPr txBox="1">
              <a:spLocks noChangeArrowheads="1"/>
            </p:cNvSpPr>
            <p:nvPr/>
          </p:nvSpPr>
          <p:spPr bwMode="auto">
            <a:xfrm>
              <a:off x="3179" y="802"/>
              <a:ext cx="891" cy="338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Aplicar E</a:t>
              </a:r>
            </a:p>
          </p:txBody>
        </p:sp>
        <p:sp>
          <p:nvSpPr>
            <p:cNvPr id="104" name="Line 30"/>
            <p:cNvSpPr>
              <a:spLocks noChangeShapeType="1"/>
            </p:cNvSpPr>
            <p:nvPr/>
          </p:nvSpPr>
          <p:spPr bwMode="auto">
            <a:xfrm>
              <a:off x="3884" y="869"/>
              <a:ext cx="136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sp>
        <p:nvSpPr>
          <p:cNvPr id="111" name="Text Box 19"/>
          <p:cNvSpPr txBox="1">
            <a:spLocks noChangeArrowheads="1"/>
          </p:cNvSpPr>
          <p:nvPr/>
        </p:nvSpPr>
        <p:spPr bwMode="auto">
          <a:xfrm>
            <a:off x="4905493" y="1079205"/>
            <a:ext cx="1957100" cy="905881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Si pueden girar</a:t>
            </a:r>
          </a:p>
        </p:txBody>
      </p:sp>
      <p:sp>
        <p:nvSpPr>
          <p:cNvPr id="6" name="Text Box 111">
            <a:extLst>
              <a:ext uri="{FF2B5EF4-FFF2-40B4-BE49-F238E27FC236}">
                <a16:creationId xmlns:a16="http://schemas.microsoft.com/office/drawing/2014/main" id="{345E8500-038C-0080-48ED-C54B02852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144" y="5410396"/>
            <a:ext cx="7230021" cy="5147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La polarización del dieléctrico no es permanente</a:t>
            </a:r>
          </a:p>
        </p:txBody>
      </p:sp>
      <p:sp>
        <p:nvSpPr>
          <p:cNvPr id="7" name="Text Box 19">
            <a:extLst>
              <a:ext uri="{FF2B5EF4-FFF2-40B4-BE49-F238E27FC236}">
                <a16:creationId xmlns:a16="http://schemas.microsoft.com/office/drawing/2014/main" id="{B7990A87-D8D2-2777-9DCF-48030ABA0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3957" y="3775758"/>
            <a:ext cx="3077061" cy="1644545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La agitación térmica las va desorientando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al vencer la cohesión entre moléculas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2EAB9CEE-18CB-845A-940E-55F03FDCD90E}"/>
              </a:ext>
            </a:extLst>
          </p:cNvPr>
          <p:cNvGrpSpPr/>
          <p:nvPr/>
        </p:nvGrpSpPr>
        <p:grpSpPr>
          <a:xfrm>
            <a:off x="5304818" y="2962869"/>
            <a:ext cx="1657352" cy="801690"/>
            <a:chOff x="4974075" y="2907784"/>
            <a:chExt cx="1657352" cy="801690"/>
          </a:xfrm>
        </p:grpSpPr>
        <p:grpSp>
          <p:nvGrpSpPr>
            <p:cNvPr id="9" name="Group 31">
              <a:extLst>
                <a:ext uri="{FF2B5EF4-FFF2-40B4-BE49-F238E27FC236}">
                  <a16:creationId xmlns:a16="http://schemas.microsoft.com/office/drawing/2014/main" id="{765704B3-8972-7E70-A1B7-E88444018C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74075" y="2907784"/>
              <a:ext cx="1657352" cy="801690"/>
              <a:chOff x="3055" y="1267"/>
              <a:chExt cx="1044" cy="505"/>
            </a:xfrm>
          </p:grpSpPr>
          <p:sp>
            <p:nvSpPr>
              <p:cNvPr id="11" name="AutoShape 33">
                <a:extLst>
                  <a:ext uri="{FF2B5EF4-FFF2-40B4-BE49-F238E27FC236}">
                    <a16:creationId xmlns:a16="http://schemas.microsoft.com/office/drawing/2014/main" id="{3F826EC7-1993-5D8C-5DD0-862161639F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055" y="1267"/>
                <a:ext cx="995" cy="224"/>
              </a:xfrm>
              <a:prstGeom prst="rightArrow">
                <a:avLst>
                  <a:gd name="adj1" fmla="val 39898"/>
                  <a:gd name="adj2" fmla="val 97030"/>
                </a:avLst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2" name="Text Box 32">
                <a:extLst>
                  <a:ext uri="{FF2B5EF4-FFF2-40B4-BE49-F238E27FC236}">
                    <a16:creationId xmlns:a16="http://schemas.microsoft.com/office/drawing/2014/main" id="{4D14B997-52B4-0FAC-D3A9-56C462F62C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74" y="1434"/>
                <a:ext cx="825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8000"/>
                    </a:solidFill>
                    <a:latin typeface="Arial" panose="020B0604020202020204" pitchFamily="34" charset="0"/>
                  </a:rPr>
                  <a:t>Quitar E</a:t>
                </a:r>
              </a:p>
            </p:txBody>
          </p:sp>
        </p:grpSp>
        <p:sp>
          <p:nvSpPr>
            <p:cNvPr id="10" name="Line 30">
              <a:extLst>
                <a:ext uri="{FF2B5EF4-FFF2-40B4-BE49-F238E27FC236}">
                  <a16:creationId xmlns:a16="http://schemas.microsoft.com/office/drawing/2014/main" id="{E5F184AD-CFD0-1A10-61BC-C933C7A2D9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2496" y="3274524"/>
              <a:ext cx="215900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sp>
        <p:nvSpPr>
          <p:cNvPr id="13" name="Text Box 49">
            <a:extLst>
              <a:ext uri="{FF2B5EF4-FFF2-40B4-BE49-F238E27FC236}">
                <a16:creationId xmlns:a16="http://schemas.microsoft.com/office/drawing/2014/main" id="{E04190F9-DA54-8454-DBB7-BC0697BF3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5390" y="5998635"/>
            <a:ext cx="7244495" cy="88407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Mientras </a:t>
            </a:r>
            <a:r>
              <a:rPr lang="es-ES" sz="2400" dirty="0">
                <a:latin typeface="Arial" panose="020B0604020202020204" pitchFamily="34" charset="0"/>
              </a:rPr>
              <a:t>se mantenga </a:t>
            </a:r>
            <a:r>
              <a:rPr lang="es-ES" sz="2400">
                <a:latin typeface="Arial" panose="020B0604020202020204" pitchFamily="34" charset="0"/>
              </a:rPr>
              <a:t>algún alineamiento, </a:t>
            </a:r>
            <a:r>
              <a:rPr lang="es-ES" sz="2400" dirty="0">
                <a:latin typeface="Arial" panose="020B0604020202020204" pitchFamily="34" charset="0"/>
              </a:rPr>
              <a:t>se tiene un </a:t>
            </a:r>
            <a:r>
              <a:rPr lang="es-ES" sz="2400" b="1" dirty="0" err="1">
                <a:solidFill>
                  <a:srgbClr val="0000FF"/>
                </a:solidFill>
                <a:latin typeface="Arial" panose="020B0604020202020204" pitchFamily="34" charset="0"/>
              </a:rPr>
              <a:t>electrete</a:t>
            </a:r>
            <a:r>
              <a:rPr lang="es-ES" sz="2400" dirty="0">
                <a:latin typeface="Arial" panose="020B0604020202020204" pitchFamily="34" charset="0"/>
              </a:rPr>
              <a:t>, que actúa como un </a:t>
            </a:r>
            <a:r>
              <a:rPr lang="es-ES" sz="2400">
                <a:latin typeface="Arial" panose="020B0604020202020204" pitchFamily="34" charset="0"/>
              </a:rPr>
              <a:t>cuerpo cargado</a:t>
            </a:r>
            <a:endParaRPr lang="es-E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985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5" name="Text Box 3"/>
          <p:cNvSpPr txBox="1">
            <a:spLocks noChangeArrowheads="1"/>
          </p:cNvSpPr>
          <p:nvPr/>
        </p:nvSpPr>
        <p:spPr bwMode="auto">
          <a:xfrm>
            <a:off x="4125901" y="410628"/>
            <a:ext cx="3241891" cy="536549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FERROELÉCTRICOS</a:t>
            </a:r>
            <a:endParaRPr lang="es-ES" sz="24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48517" name="Text Box 5"/>
          <p:cNvSpPr txBox="1">
            <a:spLocks noChangeArrowheads="1"/>
          </p:cNvSpPr>
          <p:nvPr/>
        </p:nvSpPr>
        <p:spPr bwMode="auto">
          <a:xfrm>
            <a:off x="5110999" y="1254082"/>
            <a:ext cx="5213351" cy="127521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Reciben el nombre por mostrar un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comportamiento no lineal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similar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al de los </a:t>
            </a: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ferromagnéticos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(Tema 5)</a:t>
            </a:r>
          </a:p>
        </p:txBody>
      </p:sp>
      <p:sp>
        <p:nvSpPr>
          <p:cNvPr id="42004" name="Text Box 49"/>
          <p:cNvSpPr txBox="1">
            <a:spLocks noChangeArrowheads="1"/>
          </p:cNvSpPr>
          <p:nvPr/>
        </p:nvSpPr>
        <p:spPr bwMode="auto">
          <a:xfrm>
            <a:off x="1582439" y="3608617"/>
            <a:ext cx="2757489" cy="884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ej.: TiO</a:t>
            </a:r>
            <a:r>
              <a:rPr lang="es-ES" sz="240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Ba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(Titanato de Bario)</a:t>
            </a:r>
          </a:p>
        </p:txBody>
      </p:sp>
      <p:sp>
        <p:nvSpPr>
          <p:cNvPr id="98" name="Text Box 94"/>
          <p:cNvSpPr txBox="1">
            <a:spLocks noChangeArrowheads="1"/>
          </p:cNvSpPr>
          <p:nvPr/>
        </p:nvSpPr>
        <p:spPr bwMode="auto">
          <a:xfrm>
            <a:off x="5599113" y="5257554"/>
            <a:ext cx="3434273" cy="1275213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Ocurre </a:t>
            </a:r>
            <a:r>
              <a:rPr lang="es-ES" sz="2400" dirty="0">
                <a:latin typeface="Arial" panose="020B0604020202020204" pitchFamily="34" charset="0"/>
              </a:rPr>
              <a:t>lo mismo que en los dieléctricos con moléculas polares </a:t>
            </a:r>
          </a:p>
        </p:txBody>
      </p:sp>
      <p:sp>
        <p:nvSpPr>
          <p:cNvPr id="41999" name="Text Box 50"/>
          <p:cNvSpPr txBox="1">
            <a:spLocks noChangeArrowheads="1"/>
          </p:cNvSpPr>
          <p:nvPr/>
        </p:nvSpPr>
        <p:spPr bwMode="auto">
          <a:xfrm>
            <a:off x="2069039" y="5481300"/>
            <a:ext cx="1916388" cy="88407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ES UN DIPOLO</a:t>
            </a:r>
          </a:p>
        </p:txBody>
      </p:sp>
      <p:grpSp>
        <p:nvGrpSpPr>
          <p:cNvPr id="26" name="Grupo 25"/>
          <p:cNvGrpSpPr/>
          <p:nvPr/>
        </p:nvGrpSpPr>
        <p:grpSpPr>
          <a:xfrm>
            <a:off x="5110999" y="2769453"/>
            <a:ext cx="5213351" cy="1938992"/>
            <a:chOff x="5826611" y="853862"/>
            <a:chExt cx="5213351" cy="1938992"/>
          </a:xfrm>
        </p:grpSpPr>
        <p:sp>
          <p:nvSpPr>
            <p:cNvPr id="27" name="CuadroTexto 26"/>
            <p:cNvSpPr txBox="1"/>
            <p:nvPr/>
          </p:nvSpPr>
          <p:spPr>
            <a:xfrm>
              <a:off x="5826611" y="853862"/>
              <a:ext cx="5213351" cy="1938992"/>
            </a:xfrm>
            <a:prstGeom prst="rect">
              <a:avLst/>
            </a:prstGeom>
            <a:solidFill>
              <a:srgbClr val="99CC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dirty="0"/>
                <a:t>Un comportamiento no lineal hace que en un condensador</a:t>
              </a:r>
            </a:p>
            <a:p>
              <a:pPr algn="ctr"/>
              <a:r>
                <a:rPr lang="es-ES" sz="2400" dirty="0"/>
                <a:t>Q </a:t>
              </a:r>
              <a:r>
                <a:rPr lang="es-ES" sz="2400" dirty="0">
                  <a:sym typeface="Symbol" panose="05050102010706020507" pitchFamily="18" charset="2"/>
                </a:rPr>
                <a:t> </a:t>
              </a:r>
              <a:r>
                <a:rPr lang="es-ES" sz="2400" dirty="0"/>
                <a:t>V </a:t>
              </a:r>
              <a:r>
                <a:rPr lang="es-ES" sz="2400">
                  <a:sym typeface="Symbol" panose="05050102010706020507" pitchFamily="18" charset="2"/>
                </a:rPr>
                <a:t></a:t>
              </a:r>
              <a:r>
                <a:rPr lang="es-ES" sz="2400"/>
                <a:t> C dependa de Q o V</a:t>
              </a:r>
            </a:p>
            <a:p>
              <a:pPr algn="ctr"/>
              <a:r>
                <a:rPr lang="es-ES" sz="2400"/>
                <a:t>(porque Q y V no estarán relacionados linealmente)</a:t>
              </a:r>
              <a:endParaRPr lang="en-GB" sz="2400" dirty="0"/>
            </a:p>
          </p:txBody>
        </p:sp>
        <p:cxnSp>
          <p:nvCxnSpPr>
            <p:cNvPr id="28" name="Conector recto 27"/>
            <p:cNvCxnSpPr/>
            <p:nvPr/>
          </p:nvCxnSpPr>
          <p:spPr bwMode="auto">
            <a:xfrm flipH="1">
              <a:off x="6761653" y="1696278"/>
              <a:ext cx="122146" cy="28649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</p:cxnSp>
      </p:grpSp>
      <p:grpSp>
        <p:nvGrpSpPr>
          <p:cNvPr id="2" name="Grupo 1"/>
          <p:cNvGrpSpPr/>
          <p:nvPr/>
        </p:nvGrpSpPr>
        <p:grpSpPr>
          <a:xfrm>
            <a:off x="1301360" y="1236096"/>
            <a:ext cx="3451746" cy="2366782"/>
            <a:chOff x="1301360" y="1236096"/>
            <a:chExt cx="3451746" cy="2366782"/>
          </a:xfrm>
        </p:grpSpPr>
        <p:sp>
          <p:nvSpPr>
            <p:cNvPr id="29" name="Rectángulo 28"/>
            <p:cNvSpPr/>
            <p:nvPr/>
          </p:nvSpPr>
          <p:spPr bwMode="auto">
            <a:xfrm>
              <a:off x="1301360" y="1236096"/>
              <a:ext cx="3451746" cy="2366782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118800" rIns="90000" bIns="828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42003" name="Text Box 48"/>
            <p:cNvSpPr txBox="1">
              <a:spLocks noChangeArrowheads="1"/>
            </p:cNvSpPr>
            <p:nvPr/>
          </p:nvSpPr>
          <p:spPr bwMode="auto">
            <a:xfrm>
              <a:off x="1853902" y="2935515"/>
              <a:ext cx="2352676" cy="536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latin typeface="Arial" panose="020B0604020202020204" pitchFamily="34" charset="0"/>
                </a:rPr>
                <a:t>Molécula</a:t>
              </a: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 Polar</a:t>
              </a:r>
            </a:p>
          </p:txBody>
        </p:sp>
        <p:grpSp>
          <p:nvGrpSpPr>
            <p:cNvPr id="32" name="Group 138"/>
            <p:cNvGrpSpPr>
              <a:grpSpLocks/>
            </p:cNvGrpSpPr>
            <p:nvPr/>
          </p:nvGrpSpPr>
          <p:grpSpPr bwMode="auto">
            <a:xfrm>
              <a:off x="2423021" y="1823399"/>
              <a:ext cx="1076325" cy="757238"/>
              <a:chOff x="5163" y="824"/>
              <a:chExt cx="678" cy="477"/>
            </a:xfrm>
          </p:grpSpPr>
          <p:sp>
            <p:nvSpPr>
              <p:cNvPr id="33" name="Oval 26"/>
              <p:cNvSpPr>
                <a:spLocks noChangeArrowheads="1"/>
              </p:cNvSpPr>
              <p:nvPr/>
            </p:nvSpPr>
            <p:spPr bwMode="auto">
              <a:xfrm rot="18953056">
                <a:off x="5163" y="878"/>
                <a:ext cx="678" cy="416"/>
              </a:xfrm>
              <a:prstGeom prst="ellipse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4" name="Text Box 27"/>
              <p:cNvSpPr txBox="1">
                <a:spLocks noChangeArrowheads="1"/>
              </p:cNvSpPr>
              <p:nvPr/>
            </p:nvSpPr>
            <p:spPr bwMode="auto">
              <a:xfrm>
                <a:off x="5473" y="824"/>
                <a:ext cx="301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35" name="Text Box 28"/>
              <p:cNvSpPr txBox="1">
                <a:spLocks noChangeArrowheads="1"/>
              </p:cNvSpPr>
              <p:nvPr/>
            </p:nvSpPr>
            <p:spPr bwMode="auto">
              <a:xfrm>
                <a:off x="5300" y="995"/>
                <a:ext cx="246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</p:grpSp>
      <p:grpSp>
        <p:nvGrpSpPr>
          <p:cNvPr id="20" name="Group 54">
            <a:extLst>
              <a:ext uri="{FF2B5EF4-FFF2-40B4-BE49-F238E27FC236}">
                <a16:creationId xmlns:a16="http://schemas.microsoft.com/office/drawing/2014/main" id="{F8A8A8EF-C9C2-45C2-B240-68E5928AFD83}"/>
              </a:ext>
            </a:extLst>
          </p:cNvPr>
          <p:cNvGrpSpPr>
            <a:grpSpLocks/>
          </p:cNvGrpSpPr>
          <p:nvPr/>
        </p:nvGrpSpPr>
        <p:grpSpPr bwMode="auto">
          <a:xfrm>
            <a:off x="4119943" y="5200404"/>
            <a:ext cx="1414463" cy="1009650"/>
            <a:chOff x="3173" y="1105"/>
            <a:chExt cx="891" cy="636"/>
          </a:xfrm>
        </p:grpSpPr>
        <p:sp>
          <p:nvSpPr>
            <p:cNvPr id="21" name="AutoShape 28">
              <a:extLst>
                <a:ext uri="{FF2B5EF4-FFF2-40B4-BE49-F238E27FC236}">
                  <a16:creationId xmlns:a16="http://schemas.microsoft.com/office/drawing/2014/main" id="{30817A79-F04F-40F5-B596-54C61029E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1382"/>
              <a:ext cx="637" cy="359"/>
            </a:xfrm>
            <a:prstGeom prst="rightArrow">
              <a:avLst>
                <a:gd name="adj1" fmla="val 39898"/>
                <a:gd name="adj2" fmla="val 50512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Text Box 29">
              <a:extLst>
                <a:ext uri="{FF2B5EF4-FFF2-40B4-BE49-F238E27FC236}">
                  <a16:creationId xmlns:a16="http://schemas.microsoft.com/office/drawing/2014/main" id="{C3553762-775E-4011-B957-EA944A8C7C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3" y="1105"/>
              <a:ext cx="891" cy="338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Aplicar E</a:t>
              </a:r>
            </a:p>
          </p:txBody>
        </p:sp>
        <p:sp>
          <p:nvSpPr>
            <p:cNvPr id="23" name="Line 30">
              <a:extLst>
                <a:ext uri="{FF2B5EF4-FFF2-40B4-BE49-F238E27FC236}">
                  <a16:creationId xmlns:a16="http://schemas.microsoft.com/office/drawing/2014/main" id="{AEC8D928-C63A-4DA8-85FD-DECFFDF904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0" y="1161"/>
              <a:ext cx="136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grpSp>
        <p:nvGrpSpPr>
          <p:cNvPr id="24" name="Group 54">
            <a:extLst>
              <a:ext uri="{FF2B5EF4-FFF2-40B4-BE49-F238E27FC236}">
                <a16:creationId xmlns:a16="http://schemas.microsoft.com/office/drawing/2014/main" id="{D73FE9DD-AF93-4528-9CD7-62FEB74CAB93}"/>
              </a:ext>
            </a:extLst>
          </p:cNvPr>
          <p:cNvGrpSpPr>
            <a:grpSpLocks/>
          </p:cNvGrpSpPr>
          <p:nvPr/>
        </p:nvGrpSpPr>
        <p:grpSpPr bwMode="auto">
          <a:xfrm>
            <a:off x="9073480" y="5232154"/>
            <a:ext cx="1309688" cy="1009650"/>
            <a:chOff x="3173" y="1105"/>
            <a:chExt cx="825" cy="636"/>
          </a:xfrm>
        </p:grpSpPr>
        <p:sp>
          <p:nvSpPr>
            <p:cNvPr id="25" name="AutoShape 28">
              <a:extLst>
                <a:ext uri="{FF2B5EF4-FFF2-40B4-BE49-F238E27FC236}">
                  <a16:creationId xmlns:a16="http://schemas.microsoft.com/office/drawing/2014/main" id="{B9A2480D-5688-47EA-BBBE-64967C2E82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1382"/>
              <a:ext cx="637" cy="359"/>
            </a:xfrm>
            <a:prstGeom prst="rightArrow">
              <a:avLst>
                <a:gd name="adj1" fmla="val 39898"/>
                <a:gd name="adj2" fmla="val 50512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" name="Text Box 29">
              <a:extLst>
                <a:ext uri="{FF2B5EF4-FFF2-40B4-BE49-F238E27FC236}">
                  <a16:creationId xmlns:a16="http://schemas.microsoft.com/office/drawing/2014/main" id="{9C93BBA0-A010-4BA8-889A-33221AECA1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3" y="1105"/>
              <a:ext cx="825" cy="338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Quitar E</a:t>
              </a:r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18D954D5-8587-4BA6-9276-9B00FC8CD7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8" y="1161"/>
              <a:ext cx="136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2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48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9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19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nimBg="1"/>
      <p:bldP spid="448517" grpId="0" animBg="1"/>
      <p:bldP spid="42004" grpId="0"/>
      <p:bldP spid="98" grpId="0" animBg="1"/>
      <p:bldP spid="4199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57" name="Text Box 45"/>
          <p:cNvSpPr txBox="1">
            <a:spLocks noChangeArrowheads="1"/>
          </p:cNvSpPr>
          <p:nvPr/>
        </p:nvSpPr>
        <p:spPr bwMode="auto">
          <a:xfrm>
            <a:off x="2393881" y="5774930"/>
            <a:ext cx="6739847" cy="88407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Pero si se aumenta lo suficiente la </a:t>
            </a:r>
            <a:r>
              <a:rPr lang="es-ES" sz="2400">
                <a:latin typeface="Arial" panose="020B0604020202020204" pitchFamily="34" charset="0"/>
              </a:rPr>
              <a:t>temperatura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, se deshace la configuración</a:t>
            </a:r>
          </a:p>
        </p:txBody>
      </p:sp>
      <p:sp>
        <p:nvSpPr>
          <p:cNvPr id="16401" name="Text Box 44"/>
          <p:cNvSpPr txBox="1">
            <a:spLocks noChangeArrowheads="1"/>
          </p:cNvSpPr>
          <p:nvPr/>
        </p:nvSpPr>
        <p:spPr bwMode="auto">
          <a:xfrm>
            <a:off x="2404272" y="4648772"/>
            <a:ext cx="6739847" cy="8840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Se debe a que resulta relevante el </a:t>
            </a:r>
            <a:r>
              <a:rPr lang="es-ES" sz="2400">
                <a:latin typeface="Arial" panose="020B0604020202020204" pitchFamily="34" charset="0"/>
              </a:rPr>
              <a:t>efecto sobre un dipolo del </a:t>
            </a:r>
            <a:r>
              <a:rPr lang="es-ES" sz="2400" dirty="0">
                <a:latin typeface="Arial" panose="020B0604020202020204" pitchFamily="34" charset="0"/>
              </a:rPr>
              <a:t>campo </a:t>
            </a:r>
            <a:r>
              <a:rPr lang="es-ES" sz="2400">
                <a:latin typeface="Arial" panose="020B0604020202020204" pitchFamily="34" charset="0"/>
              </a:rPr>
              <a:t>que ejerce el resto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42001" name="Text Box 96"/>
          <p:cNvSpPr txBox="1">
            <a:spLocks noChangeArrowheads="1"/>
          </p:cNvSpPr>
          <p:nvPr/>
        </p:nvSpPr>
        <p:spPr bwMode="auto">
          <a:xfrm>
            <a:off x="5240642" y="3245873"/>
            <a:ext cx="3934351" cy="88407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La polarización del dieléctrico </a:t>
            </a:r>
            <a:r>
              <a:rPr lang="es-ES" sz="2400">
                <a:latin typeface="Arial" panose="020B0604020202020204" pitchFamily="34" charset="0"/>
              </a:rPr>
              <a:t>es “permanente”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42002" name="Flecha derecha 2"/>
          <p:cNvSpPr>
            <a:spLocks noChangeArrowheads="1"/>
          </p:cNvSpPr>
          <p:nvPr/>
        </p:nvSpPr>
        <p:spPr bwMode="auto">
          <a:xfrm rot="5400000">
            <a:off x="6999468" y="2512518"/>
            <a:ext cx="432938" cy="577178"/>
          </a:xfrm>
          <a:prstGeom prst="rightArrow">
            <a:avLst>
              <a:gd name="adj1" fmla="val 50000"/>
              <a:gd name="adj2" fmla="val 50002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lIns="108000" tIns="72000" rIns="108000" bIns="720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endParaRPr lang="en-US" sz="2400"/>
          </a:p>
        </p:txBody>
      </p:sp>
      <p:sp>
        <p:nvSpPr>
          <p:cNvPr id="448516" name="Text Box 4"/>
          <p:cNvSpPr txBox="1">
            <a:spLocks noChangeArrowheads="1"/>
          </p:cNvSpPr>
          <p:nvPr/>
        </p:nvSpPr>
        <p:spPr bwMode="auto">
          <a:xfrm>
            <a:off x="4646115" y="1494422"/>
            <a:ext cx="5139644" cy="88407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La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interacción entre dipolos </a:t>
            </a:r>
            <a:r>
              <a:rPr lang="es-ES" sz="2400" dirty="0">
                <a:latin typeface="Arial" panose="020B0604020202020204" pitchFamily="34" charset="0"/>
              </a:rPr>
              <a:t>tiende a mantener el alineamiento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0F31F6BD-D028-4CA5-B95A-628A00C0E892}"/>
              </a:ext>
            </a:extLst>
          </p:cNvPr>
          <p:cNvGrpSpPr/>
          <p:nvPr/>
        </p:nvGrpSpPr>
        <p:grpSpPr>
          <a:xfrm>
            <a:off x="1363897" y="2462017"/>
            <a:ext cx="2880000" cy="1620000"/>
            <a:chOff x="7293908" y="2148192"/>
            <a:chExt cx="2880000" cy="1620000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EA7F3852-CE1D-4C19-A61C-F6CEC225B094}"/>
                </a:ext>
              </a:extLst>
            </p:cNvPr>
            <p:cNvSpPr/>
            <p:nvPr/>
          </p:nvSpPr>
          <p:spPr bwMode="auto">
            <a:xfrm>
              <a:off x="7293908" y="2148192"/>
              <a:ext cx="2880000" cy="162000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118800" rIns="90000" bIns="82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16" name="Group 145">
              <a:extLst>
                <a:ext uri="{FF2B5EF4-FFF2-40B4-BE49-F238E27FC236}">
                  <a16:creationId xmlns:a16="http://schemas.microsoft.com/office/drawing/2014/main" id="{C4A508D2-293B-4C5A-9B17-37368B8CED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72518" y="2191373"/>
              <a:ext cx="2608263" cy="1517650"/>
              <a:chOff x="4540" y="2832"/>
              <a:chExt cx="1643" cy="956"/>
            </a:xfrm>
          </p:grpSpPr>
          <p:grpSp>
            <p:nvGrpSpPr>
              <p:cNvPr id="17" name="Group 71">
                <a:extLst>
                  <a:ext uri="{FF2B5EF4-FFF2-40B4-BE49-F238E27FC236}">
                    <a16:creationId xmlns:a16="http://schemas.microsoft.com/office/drawing/2014/main" id="{1131B057-A62D-4888-877D-E18CDFBE4A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09" y="2832"/>
                <a:ext cx="485" cy="294"/>
                <a:chOff x="1823" y="3206"/>
                <a:chExt cx="485" cy="294"/>
              </a:xfrm>
            </p:grpSpPr>
            <p:sp>
              <p:nvSpPr>
                <p:cNvPr id="50" name="Oval 72">
                  <a:extLst>
                    <a:ext uri="{FF2B5EF4-FFF2-40B4-BE49-F238E27FC236}">
                      <a16:creationId xmlns:a16="http://schemas.microsoft.com/office/drawing/2014/main" id="{EF77FEE6-2CF4-4DE6-B1E5-066D910720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1" name="Text Box 73">
                  <a:extLst>
                    <a:ext uri="{FF2B5EF4-FFF2-40B4-BE49-F238E27FC236}">
                      <a16:creationId xmlns:a16="http://schemas.microsoft.com/office/drawing/2014/main" id="{082D72BD-4E17-4F15-8D93-E4AE45E46E7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52" name="Text Box 74">
                  <a:extLst>
                    <a:ext uri="{FF2B5EF4-FFF2-40B4-BE49-F238E27FC236}">
                      <a16:creationId xmlns:a16="http://schemas.microsoft.com/office/drawing/2014/main" id="{A4F5B2F8-2128-42FD-9126-B74758C062B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18" name="Group 75">
                <a:extLst>
                  <a:ext uri="{FF2B5EF4-FFF2-40B4-BE49-F238E27FC236}">
                    <a16:creationId xmlns:a16="http://schemas.microsoft.com/office/drawing/2014/main" id="{7FE86830-430B-449A-94EA-30B51C3CCE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698" y="2832"/>
                <a:ext cx="485" cy="294"/>
                <a:chOff x="1823" y="3206"/>
                <a:chExt cx="485" cy="294"/>
              </a:xfrm>
            </p:grpSpPr>
            <p:sp>
              <p:nvSpPr>
                <p:cNvPr id="47" name="Oval 76">
                  <a:extLst>
                    <a:ext uri="{FF2B5EF4-FFF2-40B4-BE49-F238E27FC236}">
                      <a16:creationId xmlns:a16="http://schemas.microsoft.com/office/drawing/2014/main" id="{320CD5FC-14A8-40F9-BE60-46452F1600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" name="Text Box 77">
                  <a:extLst>
                    <a:ext uri="{FF2B5EF4-FFF2-40B4-BE49-F238E27FC236}">
                      <a16:creationId xmlns:a16="http://schemas.microsoft.com/office/drawing/2014/main" id="{D4656266-AF4A-49D6-B243-EAE059EC787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9" name="Text Box 78">
                  <a:extLst>
                    <a:ext uri="{FF2B5EF4-FFF2-40B4-BE49-F238E27FC236}">
                      <a16:creationId xmlns:a16="http://schemas.microsoft.com/office/drawing/2014/main" id="{434168C5-1D2B-447A-A944-9B25A6C397A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19" name="Group 79">
                <a:extLst>
                  <a:ext uri="{FF2B5EF4-FFF2-40B4-BE49-F238E27FC236}">
                    <a16:creationId xmlns:a16="http://schemas.microsoft.com/office/drawing/2014/main" id="{A8939816-7116-4F60-BDD8-911240DCEF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48" y="2832"/>
                <a:ext cx="485" cy="294"/>
                <a:chOff x="1823" y="3206"/>
                <a:chExt cx="485" cy="294"/>
              </a:xfrm>
            </p:grpSpPr>
            <p:sp>
              <p:nvSpPr>
                <p:cNvPr id="44" name="Oval 80">
                  <a:extLst>
                    <a:ext uri="{FF2B5EF4-FFF2-40B4-BE49-F238E27FC236}">
                      <a16:creationId xmlns:a16="http://schemas.microsoft.com/office/drawing/2014/main" id="{BEF5C5FE-668A-4BBE-9A3A-E4C303903C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" name="Text Box 81">
                  <a:extLst>
                    <a:ext uri="{FF2B5EF4-FFF2-40B4-BE49-F238E27FC236}">
                      <a16:creationId xmlns:a16="http://schemas.microsoft.com/office/drawing/2014/main" id="{F35F6E86-72E1-4F42-9C85-53B44C7A76E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6" name="Text Box 82">
                  <a:extLst>
                    <a:ext uri="{FF2B5EF4-FFF2-40B4-BE49-F238E27FC236}">
                      <a16:creationId xmlns:a16="http://schemas.microsoft.com/office/drawing/2014/main" id="{45FD714D-A6BD-4265-A3AE-C513C624348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20" name="Group 83">
                <a:extLst>
                  <a:ext uri="{FF2B5EF4-FFF2-40B4-BE49-F238E27FC236}">
                    <a16:creationId xmlns:a16="http://schemas.microsoft.com/office/drawing/2014/main" id="{6523550F-B6FB-4956-9145-E2E271FAB6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05" y="3158"/>
                <a:ext cx="485" cy="294"/>
                <a:chOff x="1823" y="3206"/>
                <a:chExt cx="485" cy="294"/>
              </a:xfrm>
            </p:grpSpPr>
            <p:sp>
              <p:nvSpPr>
                <p:cNvPr id="41" name="Oval 84">
                  <a:extLst>
                    <a:ext uri="{FF2B5EF4-FFF2-40B4-BE49-F238E27FC236}">
                      <a16:creationId xmlns:a16="http://schemas.microsoft.com/office/drawing/2014/main" id="{CE1365B1-AF73-40B8-905E-049CF29921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2" name="Text Box 85">
                  <a:extLst>
                    <a:ext uri="{FF2B5EF4-FFF2-40B4-BE49-F238E27FC236}">
                      <a16:creationId xmlns:a16="http://schemas.microsoft.com/office/drawing/2014/main" id="{ABA8485F-62E4-4A27-BF03-17606D25FFD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3" name="Text Box 86">
                  <a:extLst>
                    <a:ext uri="{FF2B5EF4-FFF2-40B4-BE49-F238E27FC236}">
                      <a16:creationId xmlns:a16="http://schemas.microsoft.com/office/drawing/2014/main" id="{82938309-7FEA-437E-B3A5-6DE08972FCA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21" name="Group 87">
                <a:extLst>
                  <a:ext uri="{FF2B5EF4-FFF2-40B4-BE49-F238E27FC236}">
                    <a16:creationId xmlns:a16="http://schemas.microsoft.com/office/drawing/2014/main" id="{A6675087-35BC-448D-9B68-B36C370FCD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694" y="3158"/>
                <a:ext cx="485" cy="294"/>
                <a:chOff x="1823" y="3206"/>
                <a:chExt cx="485" cy="294"/>
              </a:xfrm>
            </p:grpSpPr>
            <p:sp>
              <p:nvSpPr>
                <p:cNvPr id="38" name="Oval 88">
                  <a:extLst>
                    <a:ext uri="{FF2B5EF4-FFF2-40B4-BE49-F238E27FC236}">
                      <a16:creationId xmlns:a16="http://schemas.microsoft.com/office/drawing/2014/main" id="{4EBF3937-7F92-49AD-B5D3-2343459EC7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9" name="Text Box 89">
                  <a:extLst>
                    <a:ext uri="{FF2B5EF4-FFF2-40B4-BE49-F238E27FC236}">
                      <a16:creationId xmlns:a16="http://schemas.microsoft.com/office/drawing/2014/main" id="{283C30DD-E09A-4CBC-B915-620C64DEC8D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0" name="Text Box 90">
                  <a:extLst>
                    <a:ext uri="{FF2B5EF4-FFF2-40B4-BE49-F238E27FC236}">
                      <a16:creationId xmlns:a16="http://schemas.microsoft.com/office/drawing/2014/main" id="{2CF0E413-8193-41B6-8B41-E41E259CC53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22" name="Group 91">
                <a:extLst>
                  <a:ext uri="{FF2B5EF4-FFF2-40B4-BE49-F238E27FC236}">
                    <a16:creationId xmlns:a16="http://schemas.microsoft.com/office/drawing/2014/main" id="{5E48B5DD-AA0D-4FF2-A894-45F3B82CD5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44" y="3158"/>
                <a:ext cx="485" cy="294"/>
                <a:chOff x="1823" y="3206"/>
                <a:chExt cx="485" cy="294"/>
              </a:xfrm>
            </p:grpSpPr>
            <p:sp>
              <p:nvSpPr>
                <p:cNvPr id="35" name="Oval 92">
                  <a:extLst>
                    <a:ext uri="{FF2B5EF4-FFF2-40B4-BE49-F238E27FC236}">
                      <a16:creationId xmlns:a16="http://schemas.microsoft.com/office/drawing/2014/main" id="{629A1FD1-8F1A-4845-BC8A-E3BEF07A07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" name="Text Box 93">
                  <a:extLst>
                    <a:ext uri="{FF2B5EF4-FFF2-40B4-BE49-F238E27FC236}">
                      <a16:creationId xmlns:a16="http://schemas.microsoft.com/office/drawing/2014/main" id="{7BB26971-3557-491E-9D80-773887D15DD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37" name="Text Box 94">
                  <a:extLst>
                    <a:ext uri="{FF2B5EF4-FFF2-40B4-BE49-F238E27FC236}">
                      <a16:creationId xmlns:a16="http://schemas.microsoft.com/office/drawing/2014/main" id="{472611DD-2C20-4ED5-9DAD-95581C5519F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23" name="Group 95">
                <a:extLst>
                  <a:ext uri="{FF2B5EF4-FFF2-40B4-BE49-F238E27FC236}">
                    <a16:creationId xmlns:a16="http://schemas.microsoft.com/office/drawing/2014/main" id="{559733A7-3D47-4966-8032-98CCEF1DED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01" y="3494"/>
                <a:ext cx="485" cy="294"/>
                <a:chOff x="1823" y="3206"/>
                <a:chExt cx="485" cy="294"/>
              </a:xfrm>
            </p:grpSpPr>
            <p:sp>
              <p:nvSpPr>
                <p:cNvPr id="32" name="Oval 96">
                  <a:extLst>
                    <a:ext uri="{FF2B5EF4-FFF2-40B4-BE49-F238E27FC236}">
                      <a16:creationId xmlns:a16="http://schemas.microsoft.com/office/drawing/2014/main" id="{BC4BD046-B433-4367-A3DF-092040F115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3" name="Text Box 97">
                  <a:extLst>
                    <a:ext uri="{FF2B5EF4-FFF2-40B4-BE49-F238E27FC236}">
                      <a16:creationId xmlns:a16="http://schemas.microsoft.com/office/drawing/2014/main" id="{AE792024-5902-4BAE-9EC3-46CD04F62EB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34" name="Text Box 98">
                  <a:extLst>
                    <a:ext uri="{FF2B5EF4-FFF2-40B4-BE49-F238E27FC236}">
                      <a16:creationId xmlns:a16="http://schemas.microsoft.com/office/drawing/2014/main" id="{CE61D648-056A-4C0A-A1C9-3838E25F604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24" name="Group 99">
                <a:extLst>
                  <a:ext uri="{FF2B5EF4-FFF2-40B4-BE49-F238E27FC236}">
                    <a16:creationId xmlns:a16="http://schemas.microsoft.com/office/drawing/2014/main" id="{51E1370F-287A-40EA-BEEB-CECDD33FF8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690" y="3494"/>
                <a:ext cx="485" cy="294"/>
                <a:chOff x="1823" y="3206"/>
                <a:chExt cx="485" cy="294"/>
              </a:xfrm>
            </p:grpSpPr>
            <p:sp>
              <p:nvSpPr>
                <p:cNvPr id="29" name="Oval 100">
                  <a:extLst>
                    <a:ext uri="{FF2B5EF4-FFF2-40B4-BE49-F238E27FC236}">
                      <a16:creationId xmlns:a16="http://schemas.microsoft.com/office/drawing/2014/main" id="{1244D999-040F-4C55-8A79-06E1E90E19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" name="Text Box 101">
                  <a:extLst>
                    <a:ext uri="{FF2B5EF4-FFF2-40B4-BE49-F238E27FC236}">
                      <a16:creationId xmlns:a16="http://schemas.microsoft.com/office/drawing/2014/main" id="{45DFE918-BF7C-48E6-ABAA-3C110288E04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31" name="Text Box 102">
                  <a:extLst>
                    <a:ext uri="{FF2B5EF4-FFF2-40B4-BE49-F238E27FC236}">
                      <a16:creationId xmlns:a16="http://schemas.microsoft.com/office/drawing/2014/main" id="{4D32CD8D-7556-48A7-BA20-284358A611C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25" name="Group 103">
                <a:extLst>
                  <a:ext uri="{FF2B5EF4-FFF2-40B4-BE49-F238E27FC236}">
                    <a16:creationId xmlns:a16="http://schemas.microsoft.com/office/drawing/2014/main" id="{527EE5C1-3590-4247-863E-0F6ED478B3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40" y="3494"/>
                <a:ext cx="485" cy="294"/>
                <a:chOff x="1823" y="3206"/>
                <a:chExt cx="485" cy="294"/>
              </a:xfrm>
            </p:grpSpPr>
            <p:sp>
              <p:nvSpPr>
                <p:cNvPr id="26" name="Oval 104">
                  <a:extLst>
                    <a:ext uri="{FF2B5EF4-FFF2-40B4-BE49-F238E27FC236}">
                      <a16:creationId xmlns:a16="http://schemas.microsoft.com/office/drawing/2014/main" id="{CE6B7D44-E80F-4225-AF07-8DF1A4FF01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3" y="3247"/>
                  <a:ext cx="474" cy="237"/>
                </a:xfrm>
                <a:prstGeom prst="ellipse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round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" name="Text Box 105">
                  <a:extLst>
                    <a:ext uri="{FF2B5EF4-FFF2-40B4-BE49-F238E27FC236}">
                      <a16:creationId xmlns:a16="http://schemas.microsoft.com/office/drawing/2014/main" id="{4F8DD8D2-7387-4A49-A93A-BBEBD2159D6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10" y="3223"/>
                  <a:ext cx="198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28" name="Text Box 106">
                  <a:extLst>
                    <a:ext uri="{FF2B5EF4-FFF2-40B4-BE49-F238E27FC236}">
                      <a16:creationId xmlns:a16="http://schemas.microsoft.com/office/drawing/2014/main" id="{C1CE53C0-648C-4B46-A19B-7F87C846E15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26" y="3206"/>
                  <a:ext cx="162" cy="2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</p:grpSp>
      </p:grpSp>
      <p:sp>
        <p:nvSpPr>
          <p:cNvPr id="2" name="Text Box 94">
            <a:extLst>
              <a:ext uri="{FF2B5EF4-FFF2-40B4-BE49-F238E27FC236}">
                <a16:creationId xmlns:a16="http://schemas.microsoft.com/office/drawing/2014/main" id="{6DEF93A0-3516-114F-7BF0-6864E6ACD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3555" y="402518"/>
            <a:ext cx="5541728" cy="536549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Las moléculas reducen </a:t>
            </a:r>
            <a:r>
              <a:rPr lang="es-ES" sz="2400">
                <a:latin typeface="Arial" panose="020B0604020202020204" pitchFamily="34" charset="0"/>
              </a:rPr>
              <a:t>su polarización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3" name="Text Box 94">
            <a:extLst>
              <a:ext uri="{FF2B5EF4-FFF2-40B4-BE49-F238E27FC236}">
                <a16:creationId xmlns:a16="http://schemas.microsoft.com/office/drawing/2014/main" id="{D02955CD-F4D9-ED1C-985A-7D5A4E555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2952" y="1438778"/>
            <a:ext cx="2858160" cy="536549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Pero </a:t>
            </a:r>
            <a:r>
              <a:rPr lang="es-ES" sz="2400" dirty="0">
                <a:latin typeface="Arial" panose="020B0604020202020204" pitchFamily="34" charset="0"/>
              </a:rPr>
              <a:t>si han girado:</a:t>
            </a:r>
          </a:p>
        </p:txBody>
      </p:sp>
      <p:grpSp>
        <p:nvGrpSpPr>
          <p:cNvPr id="4" name="Group 54">
            <a:extLst>
              <a:ext uri="{FF2B5EF4-FFF2-40B4-BE49-F238E27FC236}">
                <a16:creationId xmlns:a16="http://schemas.microsoft.com/office/drawing/2014/main" id="{6C5879C2-1921-858D-6F78-FD12A62D0A94}"/>
              </a:ext>
            </a:extLst>
          </p:cNvPr>
          <p:cNvGrpSpPr>
            <a:grpSpLocks/>
          </p:cNvGrpSpPr>
          <p:nvPr/>
        </p:nvGrpSpPr>
        <p:grpSpPr bwMode="auto">
          <a:xfrm>
            <a:off x="1585144" y="414867"/>
            <a:ext cx="2566988" cy="573088"/>
            <a:chOff x="3173" y="1105"/>
            <a:chExt cx="1617" cy="361"/>
          </a:xfrm>
        </p:grpSpPr>
        <p:sp>
          <p:nvSpPr>
            <p:cNvPr id="5" name="AutoShape 28">
              <a:extLst>
                <a:ext uri="{FF2B5EF4-FFF2-40B4-BE49-F238E27FC236}">
                  <a16:creationId xmlns:a16="http://schemas.microsoft.com/office/drawing/2014/main" id="{9B3B9773-4020-9DD5-3225-18849FAFF6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3" y="1107"/>
              <a:ext cx="637" cy="359"/>
            </a:xfrm>
            <a:prstGeom prst="rightArrow">
              <a:avLst>
                <a:gd name="adj1" fmla="val 39898"/>
                <a:gd name="adj2" fmla="val 50512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Text Box 29">
              <a:extLst>
                <a:ext uri="{FF2B5EF4-FFF2-40B4-BE49-F238E27FC236}">
                  <a16:creationId xmlns:a16="http://schemas.microsoft.com/office/drawing/2014/main" id="{856ACB38-456A-D14E-15F7-8CA528E870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3" y="1105"/>
              <a:ext cx="825" cy="338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Quitar E</a:t>
              </a:r>
            </a:p>
          </p:txBody>
        </p:sp>
        <p:sp>
          <p:nvSpPr>
            <p:cNvPr id="7" name="Line 30">
              <a:extLst>
                <a:ext uri="{FF2B5EF4-FFF2-40B4-BE49-F238E27FC236}">
                  <a16:creationId xmlns:a16="http://schemas.microsoft.com/office/drawing/2014/main" id="{2C6306AC-4865-168F-1595-639CE4D0D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8" y="1161"/>
              <a:ext cx="136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474952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48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20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0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48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57" grpId="0" animBg="1"/>
      <p:bldP spid="16401" grpId="0" animBg="1"/>
      <p:bldP spid="42001" grpId="0" animBg="1"/>
      <p:bldP spid="42002" grpId="0" animBg="1"/>
      <p:bldP spid="448516" grpId="0" animBg="1"/>
      <p:bldP spid="2" grpId="0" animBg="1"/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98" name="Text Box 15"/>
          <p:cNvSpPr txBox="1">
            <a:spLocks noChangeArrowheads="1"/>
          </p:cNvSpPr>
          <p:nvPr/>
        </p:nvSpPr>
        <p:spPr bwMode="auto">
          <a:xfrm>
            <a:off x="1929768" y="2619165"/>
            <a:ext cx="77946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3333FF"/>
                </a:solidFill>
                <a:latin typeface="Arial" panose="020B0604020202020204" pitchFamily="34" charset="0"/>
              </a:rPr>
              <a:t>Aplicar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3333FF"/>
                </a:solidFill>
                <a:latin typeface="Arial" panose="020B0604020202020204" pitchFamily="34" charset="0"/>
              </a:rPr>
              <a:t>V </a:t>
            </a:r>
            <a:r>
              <a:rPr lang="es-ES" sz="2400" b="1" dirty="0">
                <a:solidFill>
                  <a:srgbClr val="3333FF"/>
                </a:solidFill>
                <a:latin typeface="Arial" panose="020B0604020202020204" pitchFamily="34" charset="0"/>
              </a:rPr>
              <a:t>&gt; 0</a:t>
            </a:r>
          </a:p>
        </p:txBody>
      </p:sp>
      <p:sp>
        <p:nvSpPr>
          <p:cNvPr id="44144" name="Text Box 70"/>
          <p:cNvSpPr txBox="1">
            <a:spLocks noChangeArrowheads="1"/>
          </p:cNvSpPr>
          <p:nvPr/>
        </p:nvSpPr>
        <p:spPr bwMode="auto">
          <a:xfrm>
            <a:off x="1940556" y="4384592"/>
            <a:ext cx="77946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3333FF"/>
                </a:solidFill>
                <a:latin typeface="Arial" panose="020B0604020202020204" pitchFamily="34" charset="0"/>
              </a:rPr>
              <a:t>Aplicar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3333FF"/>
                </a:solidFill>
                <a:latin typeface="Arial" panose="020B0604020202020204" pitchFamily="34" charset="0"/>
              </a:rPr>
              <a:t>V </a:t>
            </a:r>
            <a:r>
              <a:rPr lang="es-ES" sz="2400" b="1" dirty="0">
                <a:solidFill>
                  <a:srgbClr val="3333FF"/>
                </a:solidFill>
                <a:latin typeface="Arial" panose="020B0604020202020204" pitchFamily="34" charset="0"/>
              </a:rPr>
              <a:t>&lt; 0</a:t>
            </a:r>
          </a:p>
        </p:txBody>
      </p:sp>
      <p:grpSp>
        <p:nvGrpSpPr>
          <p:cNvPr id="6" name="Grupo 5"/>
          <p:cNvGrpSpPr/>
          <p:nvPr/>
        </p:nvGrpSpPr>
        <p:grpSpPr>
          <a:xfrm>
            <a:off x="3272699" y="3851755"/>
            <a:ext cx="2881313" cy="1780695"/>
            <a:chOff x="3268130" y="4062548"/>
            <a:chExt cx="2881313" cy="1780695"/>
          </a:xfrm>
        </p:grpSpPr>
        <p:sp>
          <p:nvSpPr>
            <p:cNvPr id="44147" name="Line 73"/>
            <p:cNvSpPr>
              <a:spLocks noChangeShapeType="1"/>
            </p:cNvSpPr>
            <p:nvPr/>
          </p:nvSpPr>
          <p:spPr bwMode="auto">
            <a:xfrm>
              <a:off x="4744505" y="4139674"/>
              <a:ext cx="215900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grpSp>
          <p:nvGrpSpPr>
            <p:cNvPr id="4" name="Grupo 3"/>
            <p:cNvGrpSpPr/>
            <p:nvPr/>
          </p:nvGrpSpPr>
          <p:grpSpPr>
            <a:xfrm>
              <a:off x="3268130" y="4062548"/>
              <a:ext cx="2881313" cy="1780695"/>
              <a:chOff x="3370771" y="4062548"/>
              <a:chExt cx="2881313" cy="1780695"/>
            </a:xfrm>
          </p:grpSpPr>
          <p:sp>
            <p:nvSpPr>
              <p:cNvPr id="44145" name="Line 71"/>
              <p:cNvSpPr>
                <a:spLocks noChangeShapeType="1"/>
              </p:cNvSpPr>
              <p:nvPr/>
            </p:nvSpPr>
            <p:spPr bwMode="auto">
              <a:xfrm>
                <a:off x="4464558" y="4487998"/>
                <a:ext cx="831850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triangl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/>
              </a:p>
            </p:txBody>
          </p:sp>
          <p:sp>
            <p:nvSpPr>
              <p:cNvPr id="44146" name="Text Box 72"/>
              <p:cNvSpPr txBox="1">
                <a:spLocks noChangeArrowheads="1"/>
              </p:cNvSpPr>
              <p:nvPr/>
            </p:nvSpPr>
            <p:spPr bwMode="auto">
              <a:xfrm>
                <a:off x="4750308" y="4062548"/>
                <a:ext cx="350838" cy="4699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E</a:t>
                </a:r>
              </a:p>
            </p:txBody>
          </p:sp>
          <p:grpSp>
            <p:nvGrpSpPr>
              <p:cNvPr id="44149" name="Group 75"/>
              <p:cNvGrpSpPr>
                <a:grpSpLocks/>
              </p:cNvGrpSpPr>
              <p:nvPr/>
            </p:nvGrpSpPr>
            <p:grpSpPr bwMode="auto">
              <a:xfrm flipH="1">
                <a:off x="3707321" y="4547843"/>
                <a:ext cx="2157413" cy="1212850"/>
                <a:chOff x="4543" y="1255"/>
                <a:chExt cx="1359" cy="764"/>
              </a:xfrm>
            </p:grpSpPr>
            <p:grpSp>
              <p:nvGrpSpPr>
                <p:cNvPr id="44168" name="Group 76"/>
                <p:cNvGrpSpPr>
                  <a:grpSpLocks/>
                </p:cNvGrpSpPr>
                <p:nvPr/>
              </p:nvGrpSpPr>
              <p:grpSpPr bwMode="auto">
                <a:xfrm>
                  <a:off x="4559" y="1255"/>
                  <a:ext cx="1342" cy="258"/>
                  <a:chOff x="1651" y="1444"/>
                  <a:chExt cx="1342" cy="258"/>
                </a:xfrm>
              </p:grpSpPr>
              <p:sp>
                <p:nvSpPr>
                  <p:cNvPr id="44189" name="Oval 77"/>
                  <p:cNvSpPr>
                    <a:spLocks noChangeArrowheads="1"/>
                  </p:cNvSpPr>
                  <p:nvPr/>
                </p:nvSpPr>
                <p:spPr bwMode="auto">
                  <a:xfrm>
                    <a:off x="2101" y="1478"/>
                    <a:ext cx="380" cy="190"/>
                  </a:xfrm>
                  <a:prstGeom prst="ellipse">
                    <a:avLst/>
                  </a:prstGeom>
                  <a:solidFill>
                    <a:srgbClr val="99CCFF"/>
                  </a:solidFill>
                  <a:ln w="12700" algn="ctr">
                    <a:solidFill>
                      <a:schemeClr val="tx1"/>
                    </a:solidFill>
                    <a:round/>
                    <a:headEnd/>
                    <a:tailEnd type="none" w="lg" len="lg"/>
                  </a:ln>
                </p:spPr>
                <p:txBody>
                  <a:bodyPr wrap="none" lIns="90000" tIns="82800" rIns="90000" bIns="82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n-U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44190" name="Text Box 7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30" y="1444"/>
                    <a:ext cx="189" cy="25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1600" b="1">
                        <a:solidFill>
                          <a:srgbClr val="FF0000"/>
                        </a:solidFill>
                        <a:latin typeface="Arial" panose="020B0604020202020204" pitchFamily="34" charset="0"/>
                      </a:rPr>
                      <a:t>+</a:t>
                    </a:r>
                  </a:p>
                </p:txBody>
              </p:sp>
              <p:sp>
                <p:nvSpPr>
                  <p:cNvPr id="44191" name="Text Box 7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03" y="1444"/>
                    <a:ext cx="157" cy="25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1600" b="1">
                        <a:solidFill>
                          <a:srgbClr val="FF0000"/>
                        </a:solidFill>
                        <a:latin typeface="Arial" panose="020B0604020202020204" pitchFamily="34" charset="0"/>
                      </a:rPr>
                      <a:t>-</a:t>
                    </a:r>
                  </a:p>
                </p:txBody>
              </p:sp>
              <p:sp>
                <p:nvSpPr>
                  <p:cNvPr id="44192" name="Oval 80"/>
                  <p:cNvSpPr>
                    <a:spLocks noChangeArrowheads="1"/>
                  </p:cNvSpPr>
                  <p:nvPr/>
                </p:nvSpPr>
                <p:spPr bwMode="auto">
                  <a:xfrm>
                    <a:off x="2574" y="1478"/>
                    <a:ext cx="380" cy="190"/>
                  </a:xfrm>
                  <a:prstGeom prst="ellipse">
                    <a:avLst/>
                  </a:prstGeom>
                  <a:solidFill>
                    <a:srgbClr val="99CCFF"/>
                  </a:solidFill>
                  <a:ln w="12700" algn="ctr">
                    <a:solidFill>
                      <a:schemeClr val="tx1"/>
                    </a:solidFill>
                    <a:round/>
                    <a:headEnd/>
                    <a:tailEnd type="none" w="lg" len="lg"/>
                  </a:ln>
                </p:spPr>
                <p:txBody>
                  <a:bodyPr wrap="none" lIns="90000" tIns="82800" rIns="90000" bIns="82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n-U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44193" name="Text Box 8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04" y="1445"/>
                    <a:ext cx="189" cy="25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1600" b="1">
                        <a:solidFill>
                          <a:srgbClr val="FF0000"/>
                        </a:solidFill>
                        <a:latin typeface="Arial" panose="020B0604020202020204" pitchFamily="34" charset="0"/>
                      </a:rPr>
                      <a:t>+</a:t>
                    </a:r>
                  </a:p>
                </p:txBody>
              </p:sp>
              <p:sp>
                <p:nvSpPr>
                  <p:cNvPr id="44194" name="Text Box 8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76" y="1444"/>
                    <a:ext cx="157" cy="25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1600" b="1">
                        <a:solidFill>
                          <a:srgbClr val="FF0000"/>
                        </a:solidFill>
                        <a:latin typeface="Arial" panose="020B0604020202020204" pitchFamily="34" charset="0"/>
                      </a:rPr>
                      <a:t>-</a:t>
                    </a:r>
                  </a:p>
                </p:txBody>
              </p:sp>
              <p:sp>
                <p:nvSpPr>
                  <p:cNvPr id="44195" name="Oval 83"/>
                  <p:cNvSpPr>
                    <a:spLocks noChangeArrowheads="1"/>
                  </p:cNvSpPr>
                  <p:nvPr/>
                </p:nvSpPr>
                <p:spPr bwMode="auto">
                  <a:xfrm>
                    <a:off x="1651" y="1478"/>
                    <a:ext cx="381" cy="190"/>
                  </a:xfrm>
                  <a:prstGeom prst="ellipse">
                    <a:avLst/>
                  </a:prstGeom>
                  <a:solidFill>
                    <a:srgbClr val="99CCFF"/>
                  </a:solidFill>
                  <a:ln w="12700" algn="ctr">
                    <a:solidFill>
                      <a:schemeClr val="tx1"/>
                    </a:solidFill>
                    <a:round/>
                    <a:headEnd/>
                    <a:tailEnd type="none" w="lg" len="lg"/>
                  </a:ln>
                </p:spPr>
                <p:txBody>
                  <a:bodyPr wrap="none" lIns="90000" tIns="82800" rIns="90000" bIns="82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n-U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44196" name="Text Box 8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81" y="1445"/>
                    <a:ext cx="190" cy="25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1600" b="1">
                        <a:solidFill>
                          <a:srgbClr val="FF0000"/>
                        </a:solidFill>
                        <a:latin typeface="Arial" panose="020B0604020202020204" pitchFamily="34" charset="0"/>
                      </a:rPr>
                      <a:t>+</a:t>
                    </a:r>
                  </a:p>
                </p:txBody>
              </p:sp>
              <p:sp>
                <p:nvSpPr>
                  <p:cNvPr id="44197" name="Text Box 8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53" y="1444"/>
                    <a:ext cx="157" cy="25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1600" b="1">
                        <a:solidFill>
                          <a:srgbClr val="FF0000"/>
                        </a:solidFill>
                        <a:latin typeface="Arial" panose="020B0604020202020204" pitchFamily="34" charset="0"/>
                      </a:rPr>
                      <a:t>-</a:t>
                    </a:r>
                  </a:p>
                </p:txBody>
              </p:sp>
            </p:grpSp>
            <p:grpSp>
              <p:nvGrpSpPr>
                <p:cNvPr id="44169" name="Group 86"/>
                <p:cNvGrpSpPr>
                  <a:grpSpLocks/>
                </p:cNvGrpSpPr>
                <p:nvPr/>
              </p:nvGrpSpPr>
              <p:grpSpPr bwMode="auto">
                <a:xfrm>
                  <a:off x="4560" y="1508"/>
                  <a:ext cx="1342" cy="258"/>
                  <a:chOff x="1651" y="1444"/>
                  <a:chExt cx="1342" cy="258"/>
                </a:xfrm>
              </p:grpSpPr>
              <p:sp>
                <p:nvSpPr>
                  <p:cNvPr id="44180" name="Oval 87"/>
                  <p:cNvSpPr>
                    <a:spLocks noChangeArrowheads="1"/>
                  </p:cNvSpPr>
                  <p:nvPr/>
                </p:nvSpPr>
                <p:spPr bwMode="auto">
                  <a:xfrm>
                    <a:off x="2101" y="1478"/>
                    <a:ext cx="380" cy="190"/>
                  </a:xfrm>
                  <a:prstGeom prst="ellipse">
                    <a:avLst/>
                  </a:prstGeom>
                  <a:solidFill>
                    <a:srgbClr val="99CCFF"/>
                  </a:solidFill>
                  <a:ln w="12700" algn="ctr">
                    <a:solidFill>
                      <a:schemeClr val="tx1"/>
                    </a:solidFill>
                    <a:round/>
                    <a:headEnd/>
                    <a:tailEnd type="none" w="lg" len="lg"/>
                  </a:ln>
                </p:spPr>
                <p:txBody>
                  <a:bodyPr wrap="none" lIns="90000" tIns="82800" rIns="90000" bIns="82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n-U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44181" name="Text Box 8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30" y="1444"/>
                    <a:ext cx="189" cy="25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1600" b="1">
                        <a:solidFill>
                          <a:srgbClr val="FF0000"/>
                        </a:solidFill>
                        <a:latin typeface="Arial" panose="020B0604020202020204" pitchFamily="34" charset="0"/>
                      </a:rPr>
                      <a:t>+</a:t>
                    </a:r>
                  </a:p>
                </p:txBody>
              </p:sp>
              <p:sp>
                <p:nvSpPr>
                  <p:cNvPr id="44182" name="Text Box 8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03" y="1444"/>
                    <a:ext cx="157" cy="25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1600" b="1">
                        <a:solidFill>
                          <a:srgbClr val="FF0000"/>
                        </a:solidFill>
                        <a:latin typeface="Arial" panose="020B0604020202020204" pitchFamily="34" charset="0"/>
                      </a:rPr>
                      <a:t>-</a:t>
                    </a:r>
                  </a:p>
                </p:txBody>
              </p:sp>
              <p:sp>
                <p:nvSpPr>
                  <p:cNvPr id="44183" name="Oval 90"/>
                  <p:cNvSpPr>
                    <a:spLocks noChangeArrowheads="1"/>
                  </p:cNvSpPr>
                  <p:nvPr/>
                </p:nvSpPr>
                <p:spPr bwMode="auto">
                  <a:xfrm>
                    <a:off x="2574" y="1478"/>
                    <a:ext cx="380" cy="190"/>
                  </a:xfrm>
                  <a:prstGeom prst="ellipse">
                    <a:avLst/>
                  </a:prstGeom>
                  <a:solidFill>
                    <a:srgbClr val="99CCFF"/>
                  </a:solidFill>
                  <a:ln w="12700" algn="ctr">
                    <a:solidFill>
                      <a:schemeClr val="tx1"/>
                    </a:solidFill>
                    <a:round/>
                    <a:headEnd/>
                    <a:tailEnd type="none" w="lg" len="lg"/>
                  </a:ln>
                </p:spPr>
                <p:txBody>
                  <a:bodyPr wrap="none" lIns="90000" tIns="82800" rIns="90000" bIns="82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n-U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44184" name="Text Box 9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04" y="1445"/>
                    <a:ext cx="189" cy="25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1600" b="1">
                        <a:solidFill>
                          <a:srgbClr val="FF0000"/>
                        </a:solidFill>
                        <a:latin typeface="Arial" panose="020B0604020202020204" pitchFamily="34" charset="0"/>
                      </a:rPr>
                      <a:t>+</a:t>
                    </a:r>
                  </a:p>
                </p:txBody>
              </p:sp>
              <p:sp>
                <p:nvSpPr>
                  <p:cNvPr id="44185" name="Text Box 9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76" y="1444"/>
                    <a:ext cx="157" cy="25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1600" b="1">
                        <a:solidFill>
                          <a:srgbClr val="FF0000"/>
                        </a:solidFill>
                        <a:latin typeface="Arial" panose="020B0604020202020204" pitchFamily="34" charset="0"/>
                      </a:rPr>
                      <a:t>-</a:t>
                    </a:r>
                  </a:p>
                </p:txBody>
              </p:sp>
              <p:sp>
                <p:nvSpPr>
                  <p:cNvPr id="44186" name="Oval 93"/>
                  <p:cNvSpPr>
                    <a:spLocks noChangeArrowheads="1"/>
                  </p:cNvSpPr>
                  <p:nvPr/>
                </p:nvSpPr>
                <p:spPr bwMode="auto">
                  <a:xfrm>
                    <a:off x="1651" y="1478"/>
                    <a:ext cx="381" cy="190"/>
                  </a:xfrm>
                  <a:prstGeom prst="ellipse">
                    <a:avLst/>
                  </a:prstGeom>
                  <a:solidFill>
                    <a:srgbClr val="99CCFF"/>
                  </a:solidFill>
                  <a:ln w="12700" algn="ctr">
                    <a:solidFill>
                      <a:schemeClr val="tx1"/>
                    </a:solidFill>
                    <a:round/>
                    <a:headEnd/>
                    <a:tailEnd type="none" w="lg" len="lg"/>
                  </a:ln>
                </p:spPr>
                <p:txBody>
                  <a:bodyPr wrap="none" lIns="90000" tIns="82800" rIns="90000" bIns="82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n-U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44187" name="Text Box 9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81" y="1445"/>
                    <a:ext cx="190" cy="25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1600" b="1">
                        <a:solidFill>
                          <a:srgbClr val="FF0000"/>
                        </a:solidFill>
                        <a:latin typeface="Arial" panose="020B0604020202020204" pitchFamily="34" charset="0"/>
                      </a:rPr>
                      <a:t>+</a:t>
                    </a:r>
                  </a:p>
                </p:txBody>
              </p:sp>
              <p:sp>
                <p:nvSpPr>
                  <p:cNvPr id="44188" name="Text Box 9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53" y="1444"/>
                    <a:ext cx="157" cy="25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1600" b="1">
                        <a:solidFill>
                          <a:srgbClr val="FF0000"/>
                        </a:solidFill>
                        <a:latin typeface="Arial" panose="020B0604020202020204" pitchFamily="34" charset="0"/>
                      </a:rPr>
                      <a:t>-</a:t>
                    </a:r>
                  </a:p>
                </p:txBody>
              </p:sp>
            </p:grpSp>
            <p:grpSp>
              <p:nvGrpSpPr>
                <p:cNvPr id="44170" name="Group 96"/>
                <p:cNvGrpSpPr>
                  <a:grpSpLocks/>
                </p:cNvGrpSpPr>
                <p:nvPr/>
              </p:nvGrpSpPr>
              <p:grpSpPr bwMode="auto">
                <a:xfrm>
                  <a:off x="4543" y="1761"/>
                  <a:ext cx="1342" cy="258"/>
                  <a:chOff x="1651" y="1444"/>
                  <a:chExt cx="1342" cy="258"/>
                </a:xfrm>
              </p:grpSpPr>
              <p:sp>
                <p:nvSpPr>
                  <p:cNvPr id="44171" name="Oval 97"/>
                  <p:cNvSpPr>
                    <a:spLocks noChangeArrowheads="1"/>
                  </p:cNvSpPr>
                  <p:nvPr/>
                </p:nvSpPr>
                <p:spPr bwMode="auto">
                  <a:xfrm>
                    <a:off x="2101" y="1478"/>
                    <a:ext cx="380" cy="190"/>
                  </a:xfrm>
                  <a:prstGeom prst="ellipse">
                    <a:avLst/>
                  </a:prstGeom>
                  <a:solidFill>
                    <a:srgbClr val="99CCFF"/>
                  </a:solidFill>
                  <a:ln w="12700" algn="ctr">
                    <a:solidFill>
                      <a:schemeClr val="tx1"/>
                    </a:solidFill>
                    <a:round/>
                    <a:headEnd/>
                    <a:tailEnd type="none" w="lg" len="lg"/>
                  </a:ln>
                </p:spPr>
                <p:txBody>
                  <a:bodyPr wrap="none" lIns="90000" tIns="82800" rIns="90000" bIns="82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n-U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44172" name="Text Box 9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30" y="1444"/>
                    <a:ext cx="189" cy="25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1600" b="1">
                        <a:solidFill>
                          <a:srgbClr val="FF0000"/>
                        </a:solidFill>
                        <a:latin typeface="Arial" panose="020B0604020202020204" pitchFamily="34" charset="0"/>
                      </a:rPr>
                      <a:t>+</a:t>
                    </a:r>
                  </a:p>
                </p:txBody>
              </p:sp>
              <p:sp>
                <p:nvSpPr>
                  <p:cNvPr id="44173" name="Text Box 9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03" y="1444"/>
                    <a:ext cx="157" cy="25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1600" b="1">
                        <a:solidFill>
                          <a:srgbClr val="FF0000"/>
                        </a:solidFill>
                        <a:latin typeface="Arial" panose="020B0604020202020204" pitchFamily="34" charset="0"/>
                      </a:rPr>
                      <a:t>-</a:t>
                    </a:r>
                  </a:p>
                </p:txBody>
              </p:sp>
              <p:sp>
                <p:nvSpPr>
                  <p:cNvPr id="44174" name="Oval 100"/>
                  <p:cNvSpPr>
                    <a:spLocks noChangeArrowheads="1"/>
                  </p:cNvSpPr>
                  <p:nvPr/>
                </p:nvSpPr>
                <p:spPr bwMode="auto">
                  <a:xfrm>
                    <a:off x="2574" y="1478"/>
                    <a:ext cx="380" cy="190"/>
                  </a:xfrm>
                  <a:prstGeom prst="ellipse">
                    <a:avLst/>
                  </a:prstGeom>
                  <a:solidFill>
                    <a:srgbClr val="99CCFF"/>
                  </a:solidFill>
                  <a:ln w="12700" algn="ctr">
                    <a:solidFill>
                      <a:schemeClr val="tx1"/>
                    </a:solidFill>
                    <a:round/>
                    <a:headEnd/>
                    <a:tailEnd type="none" w="lg" len="lg"/>
                  </a:ln>
                </p:spPr>
                <p:txBody>
                  <a:bodyPr wrap="none" lIns="90000" tIns="82800" rIns="90000" bIns="82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n-U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44175" name="Text Box 10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04" y="1445"/>
                    <a:ext cx="189" cy="25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1600" b="1">
                        <a:solidFill>
                          <a:srgbClr val="FF0000"/>
                        </a:solidFill>
                        <a:latin typeface="Arial" panose="020B0604020202020204" pitchFamily="34" charset="0"/>
                      </a:rPr>
                      <a:t>+</a:t>
                    </a:r>
                  </a:p>
                </p:txBody>
              </p:sp>
              <p:sp>
                <p:nvSpPr>
                  <p:cNvPr id="44176" name="Text Box 10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76" y="1444"/>
                    <a:ext cx="157" cy="25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1600" b="1">
                        <a:solidFill>
                          <a:srgbClr val="FF0000"/>
                        </a:solidFill>
                        <a:latin typeface="Arial" panose="020B0604020202020204" pitchFamily="34" charset="0"/>
                      </a:rPr>
                      <a:t>-</a:t>
                    </a:r>
                  </a:p>
                </p:txBody>
              </p:sp>
              <p:sp>
                <p:nvSpPr>
                  <p:cNvPr id="44177" name="Oval 103"/>
                  <p:cNvSpPr>
                    <a:spLocks noChangeArrowheads="1"/>
                  </p:cNvSpPr>
                  <p:nvPr/>
                </p:nvSpPr>
                <p:spPr bwMode="auto">
                  <a:xfrm>
                    <a:off x="1651" y="1478"/>
                    <a:ext cx="381" cy="190"/>
                  </a:xfrm>
                  <a:prstGeom prst="ellipse">
                    <a:avLst/>
                  </a:prstGeom>
                  <a:solidFill>
                    <a:srgbClr val="99CCFF"/>
                  </a:solidFill>
                  <a:ln w="12700" algn="ctr">
                    <a:solidFill>
                      <a:schemeClr val="tx1"/>
                    </a:solidFill>
                    <a:round/>
                    <a:headEnd/>
                    <a:tailEnd type="none" w="lg" len="lg"/>
                  </a:ln>
                </p:spPr>
                <p:txBody>
                  <a:bodyPr wrap="none" lIns="90000" tIns="82800" rIns="90000" bIns="82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n-U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44178" name="Text Box 10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81" y="1445"/>
                    <a:ext cx="190" cy="25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1600" b="1">
                        <a:solidFill>
                          <a:srgbClr val="FF0000"/>
                        </a:solidFill>
                        <a:latin typeface="Arial" panose="020B0604020202020204" pitchFamily="34" charset="0"/>
                      </a:rPr>
                      <a:t>+</a:t>
                    </a:r>
                  </a:p>
                </p:txBody>
              </p:sp>
              <p:sp>
                <p:nvSpPr>
                  <p:cNvPr id="44179" name="Text Box 10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53" y="1444"/>
                    <a:ext cx="157" cy="25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82800" rIns="90000" bIns="82800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1600" b="1">
                        <a:solidFill>
                          <a:srgbClr val="FF0000"/>
                        </a:solidFill>
                        <a:latin typeface="Arial" panose="020B0604020202020204" pitchFamily="34" charset="0"/>
                      </a:rPr>
                      <a:t>-</a:t>
                    </a:r>
                  </a:p>
                </p:txBody>
              </p:sp>
            </p:grpSp>
          </p:grpSp>
          <p:grpSp>
            <p:nvGrpSpPr>
              <p:cNvPr id="44150" name="Group 106"/>
              <p:cNvGrpSpPr>
                <a:grpSpLocks/>
              </p:cNvGrpSpPr>
              <p:nvPr/>
            </p:nvGrpSpPr>
            <p:grpSpPr bwMode="auto">
              <a:xfrm flipH="1">
                <a:off x="5866321" y="4474818"/>
                <a:ext cx="385763" cy="1314450"/>
                <a:chOff x="1398" y="1373"/>
                <a:chExt cx="243" cy="828"/>
              </a:xfrm>
            </p:grpSpPr>
            <p:grpSp>
              <p:nvGrpSpPr>
                <p:cNvPr id="44160" name="Group 107"/>
                <p:cNvGrpSpPr>
                  <a:grpSpLocks/>
                </p:cNvGrpSpPr>
                <p:nvPr/>
              </p:nvGrpSpPr>
              <p:grpSpPr bwMode="auto">
                <a:xfrm>
                  <a:off x="1398" y="1443"/>
                  <a:ext cx="193" cy="745"/>
                  <a:chOff x="1398" y="1443"/>
                  <a:chExt cx="193" cy="745"/>
                </a:xfrm>
              </p:grpSpPr>
              <p:sp>
                <p:nvSpPr>
                  <p:cNvPr id="44166" name="Rectangle 108"/>
                  <p:cNvSpPr>
                    <a:spLocks noChangeArrowheads="1"/>
                  </p:cNvSpPr>
                  <p:nvPr/>
                </p:nvSpPr>
                <p:spPr bwMode="auto">
                  <a:xfrm>
                    <a:off x="1495" y="1443"/>
                    <a:ext cx="96" cy="745"/>
                  </a:xfrm>
                  <a:prstGeom prst="rect">
                    <a:avLst/>
                  </a:prstGeom>
                  <a:solidFill>
                    <a:srgbClr val="FFFF99"/>
                  </a:solidFill>
                  <a:ln w="12700" algn="ctr">
                    <a:solidFill>
                      <a:srgbClr val="FFFF99"/>
                    </a:solidFill>
                    <a:miter lim="800000"/>
                    <a:headEnd/>
                    <a:tailEnd type="none" w="lg" len="lg"/>
                  </a:ln>
                </p:spPr>
                <p:txBody>
                  <a:bodyPr wrap="none" lIns="90000" tIns="82800" rIns="90000" bIns="82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n-U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44167" name="Rectangle 109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1472" y="1737"/>
                    <a:ext cx="25" cy="173"/>
                  </a:xfrm>
                  <a:prstGeom prst="rect">
                    <a:avLst/>
                  </a:prstGeom>
                  <a:solidFill>
                    <a:srgbClr val="FFFF99"/>
                  </a:solidFill>
                  <a:ln w="12700" algn="ctr">
                    <a:solidFill>
                      <a:srgbClr val="FFFF99"/>
                    </a:solidFill>
                    <a:miter lim="800000"/>
                    <a:headEnd/>
                    <a:tailEnd type="none" w="lg" len="lg"/>
                  </a:ln>
                </p:spPr>
                <p:txBody>
                  <a:bodyPr rot="10800000" vert="eaVert" wrap="none" lIns="90000" tIns="82800" rIns="90000" bIns="82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n-U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44161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1447" y="1373"/>
                  <a:ext cx="190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4162" name="Text Box 111"/>
                <p:cNvSpPr txBox="1">
                  <a:spLocks noChangeArrowheads="1"/>
                </p:cNvSpPr>
                <p:nvPr/>
              </p:nvSpPr>
              <p:spPr bwMode="auto">
                <a:xfrm>
                  <a:off x="1448" y="1527"/>
                  <a:ext cx="190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4163" name="Text Box 112"/>
                <p:cNvSpPr txBox="1">
                  <a:spLocks noChangeArrowheads="1"/>
                </p:cNvSpPr>
                <p:nvPr/>
              </p:nvSpPr>
              <p:spPr bwMode="auto">
                <a:xfrm>
                  <a:off x="1449" y="1690"/>
                  <a:ext cx="190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4164" name="Text Box 113"/>
                <p:cNvSpPr txBox="1">
                  <a:spLocks noChangeArrowheads="1"/>
                </p:cNvSpPr>
                <p:nvPr/>
              </p:nvSpPr>
              <p:spPr bwMode="auto">
                <a:xfrm>
                  <a:off x="1450" y="1817"/>
                  <a:ext cx="190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4165" name="Text Box 114"/>
                <p:cNvSpPr txBox="1">
                  <a:spLocks noChangeArrowheads="1"/>
                </p:cNvSpPr>
                <p:nvPr/>
              </p:nvSpPr>
              <p:spPr bwMode="auto">
                <a:xfrm>
                  <a:off x="1451" y="1944"/>
                  <a:ext cx="190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</p:grpSp>
          <p:grpSp>
            <p:nvGrpSpPr>
              <p:cNvPr id="44151" name="Group 115"/>
              <p:cNvGrpSpPr>
                <a:grpSpLocks/>
              </p:cNvGrpSpPr>
              <p:nvPr/>
            </p:nvGrpSpPr>
            <p:grpSpPr bwMode="auto">
              <a:xfrm flipH="1">
                <a:off x="3370771" y="4408143"/>
                <a:ext cx="382588" cy="1435100"/>
                <a:chOff x="2967" y="1374"/>
                <a:chExt cx="241" cy="904"/>
              </a:xfrm>
            </p:grpSpPr>
            <p:grpSp>
              <p:nvGrpSpPr>
                <p:cNvPr id="44152" name="Group 116"/>
                <p:cNvGrpSpPr>
                  <a:grpSpLocks/>
                </p:cNvGrpSpPr>
                <p:nvPr/>
              </p:nvGrpSpPr>
              <p:grpSpPr bwMode="auto">
                <a:xfrm flipH="1">
                  <a:off x="3015" y="1444"/>
                  <a:ext cx="193" cy="745"/>
                  <a:chOff x="1398" y="1443"/>
                  <a:chExt cx="193" cy="745"/>
                </a:xfrm>
              </p:grpSpPr>
              <p:sp>
                <p:nvSpPr>
                  <p:cNvPr id="44158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1495" y="1443"/>
                    <a:ext cx="96" cy="745"/>
                  </a:xfrm>
                  <a:prstGeom prst="rect">
                    <a:avLst/>
                  </a:prstGeom>
                  <a:solidFill>
                    <a:srgbClr val="FFFF99"/>
                  </a:solidFill>
                  <a:ln w="12700" algn="ctr">
                    <a:solidFill>
                      <a:srgbClr val="FFFF99"/>
                    </a:solidFill>
                    <a:miter lim="800000"/>
                    <a:headEnd/>
                    <a:tailEnd type="none" w="lg" len="lg"/>
                  </a:ln>
                </p:spPr>
                <p:txBody>
                  <a:bodyPr wrap="none" lIns="90000" tIns="82800" rIns="90000" bIns="82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n-U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44159" name="Rectangle 118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1472" y="1737"/>
                    <a:ext cx="25" cy="173"/>
                  </a:xfrm>
                  <a:prstGeom prst="rect">
                    <a:avLst/>
                  </a:prstGeom>
                  <a:solidFill>
                    <a:srgbClr val="FFFF99"/>
                  </a:solidFill>
                  <a:ln w="12700" algn="ctr">
                    <a:solidFill>
                      <a:srgbClr val="FFFF99"/>
                    </a:solidFill>
                    <a:miter lim="800000"/>
                    <a:headEnd/>
                    <a:tailEnd type="none" w="lg" len="lg"/>
                  </a:ln>
                </p:spPr>
                <p:txBody>
                  <a:bodyPr vert="eaVert" wrap="none" lIns="90000" tIns="82800" rIns="90000" bIns="82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n-U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44153" name="Text Box 119"/>
                <p:cNvSpPr txBox="1">
                  <a:spLocks noChangeArrowheads="1"/>
                </p:cNvSpPr>
                <p:nvPr/>
              </p:nvSpPr>
              <p:spPr bwMode="auto">
                <a:xfrm flipH="1">
                  <a:off x="2967" y="1374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44154" name="Text Box 120"/>
                <p:cNvSpPr txBox="1">
                  <a:spLocks noChangeArrowheads="1"/>
                </p:cNvSpPr>
                <p:nvPr/>
              </p:nvSpPr>
              <p:spPr bwMode="auto">
                <a:xfrm flipH="1">
                  <a:off x="2967" y="1528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44155" name="Text Box 121"/>
                <p:cNvSpPr txBox="1">
                  <a:spLocks noChangeArrowheads="1"/>
                </p:cNvSpPr>
                <p:nvPr/>
              </p:nvSpPr>
              <p:spPr bwMode="auto">
                <a:xfrm flipH="1">
                  <a:off x="2967" y="1691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44156" name="Text Box 122"/>
                <p:cNvSpPr txBox="1">
                  <a:spLocks noChangeArrowheads="1"/>
                </p:cNvSpPr>
                <p:nvPr/>
              </p:nvSpPr>
              <p:spPr bwMode="auto">
                <a:xfrm flipH="1">
                  <a:off x="2967" y="1837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44157" name="Text Box 123"/>
                <p:cNvSpPr txBox="1">
                  <a:spLocks noChangeArrowheads="1"/>
                </p:cNvSpPr>
                <p:nvPr/>
              </p:nvSpPr>
              <p:spPr bwMode="auto">
                <a:xfrm flipH="1">
                  <a:off x="2967" y="2020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</p:grpSp>
      </p:grpSp>
      <p:grpSp>
        <p:nvGrpSpPr>
          <p:cNvPr id="44096" name="Group 125"/>
          <p:cNvGrpSpPr>
            <a:grpSpLocks/>
          </p:cNvGrpSpPr>
          <p:nvPr/>
        </p:nvGrpSpPr>
        <p:grpSpPr bwMode="auto">
          <a:xfrm>
            <a:off x="7482391" y="2567516"/>
            <a:ext cx="2887663" cy="1236662"/>
            <a:chOff x="1282" y="2258"/>
            <a:chExt cx="1819" cy="779"/>
          </a:xfrm>
        </p:grpSpPr>
        <p:grpSp>
          <p:nvGrpSpPr>
            <p:cNvPr id="44099" name="Group 127"/>
            <p:cNvGrpSpPr>
              <a:grpSpLocks/>
            </p:cNvGrpSpPr>
            <p:nvPr/>
          </p:nvGrpSpPr>
          <p:grpSpPr bwMode="auto">
            <a:xfrm>
              <a:off x="1544" y="2273"/>
              <a:ext cx="1342" cy="258"/>
              <a:chOff x="1651" y="1444"/>
              <a:chExt cx="1342" cy="258"/>
            </a:xfrm>
          </p:grpSpPr>
          <p:sp>
            <p:nvSpPr>
              <p:cNvPr id="44135" name="Oval 128"/>
              <p:cNvSpPr>
                <a:spLocks noChangeArrowheads="1"/>
              </p:cNvSpPr>
              <p:nvPr/>
            </p:nvSpPr>
            <p:spPr bwMode="auto">
              <a:xfrm>
                <a:off x="2101" y="1478"/>
                <a:ext cx="380" cy="190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4136" name="Text Box 129"/>
              <p:cNvSpPr txBox="1">
                <a:spLocks noChangeArrowheads="1"/>
              </p:cNvSpPr>
              <p:nvPr/>
            </p:nvSpPr>
            <p:spPr bwMode="auto">
              <a:xfrm>
                <a:off x="2330" y="1444"/>
                <a:ext cx="189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4137" name="Text Box 130"/>
              <p:cNvSpPr txBox="1">
                <a:spLocks noChangeArrowheads="1"/>
              </p:cNvSpPr>
              <p:nvPr/>
            </p:nvSpPr>
            <p:spPr bwMode="auto">
              <a:xfrm>
                <a:off x="2103" y="1444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44138" name="Oval 131"/>
              <p:cNvSpPr>
                <a:spLocks noChangeArrowheads="1"/>
              </p:cNvSpPr>
              <p:nvPr/>
            </p:nvSpPr>
            <p:spPr bwMode="auto">
              <a:xfrm>
                <a:off x="2574" y="1478"/>
                <a:ext cx="380" cy="190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4139" name="Text Box 132"/>
              <p:cNvSpPr txBox="1">
                <a:spLocks noChangeArrowheads="1"/>
              </p:cNvSpPr>
              <p:nvPr/>
            </p:nvSpPr>
            <p:spPr bwMode="auto">
              <a:xfrm>
                <a:off x="2804" y="1445"/>
                <a:ext cx="189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4140" name="Text Box 133"/>
              <p:cNvSpPr txBox="1">
                <a:spLocks noChangeArrowheads="1"/>
              </p:cNvSpPr>
              <p:nvPr/>
            </p:nvSpPr>
            <p:spPr bwMode="auto">
              <a:xfrm>
                <a:off x="2576" y="1444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44141" name="Oval 134"/>
              <p:cNvSpPr>
                <a:spLocks noChangeArrowheads="1"/>
              </p:cNvSpPr>
              <p:nvPr/>
            </p:nvSpPr>
            <p:spPr bwMode="auto">
              <a:xfrm>
                <a:off x="1651" y="1478"/>
                <a:ext cx="381" cy="190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4142" name="Text Box 135"/>
              <p:cNvSpPr txBox="1">
                <a:spLocks noChangeArrowheads="1"/>
              </p:cNvSpPr>
              <p:nvPr/>
            </p:nvSpPr>
            <p:spPr bwMode="auto">
              <a:xfrm>
                <a:off x="1881" y="1445"/>
                <a:ext cx="190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4143" name="Text Box 136"/>
              <p:cNvSpPr txBox="1">
                <a:spLocks noChangeArrowheads="1"/>
              </p:cNvSpPr>
              <p:nvPr/>
            </p:nvSpPr>
            <p:spPr bwMode="auto">
              <a:xfrm>
                <a:off x="1653" y="1444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4100" name="Group 137"/>
            <p:cNvGrpSpPr>
              <a:grpSpLocks/>
            </p:cNvGrpSpPr>
            <p:nvPr/>
          </p:nvGrpSpPr>
          <p:grpSpPr bwMode="auto">
            <a:xfrm>
              <a:off x="1545" y="2526"/>
              <a:ext cx="1342" cy="258"/>
              <a:chOff x="1651" y="1444"/>
              <a:chExt cx="1342" cy="258"/>
            </a:xfrm>
          </p:grpSpPr>
          <p:sp>
            <p:nvSpPr>
              <p:cNvPr id="44126" name="Oval 138"/>
              <p:cNvSpPr>
                <a:spLocks noChangeArrowheads="1"/>
              </p:cNvSpPr>
              <p:nvPr/>
            </p:nvSpPr>
            <p:spPr bwMode="auto">
              <a:xfrm>
                <a:off x="2101" y="1478"/>
                <a:ext cx="380" cy="190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4127" name="Text Box 139"/>
              <p:cNvSpPr txBox="1">
                <a:spLocks noChangeArrowheads="1"/>
              </p:cNvSpPr>
              <p:nvPr/>
            </p:nvSpPr>
            <p:spPr bwMode="auto">
              <a:xfrm>
                <a:off x="2330" y="1444"/>
                <a:ext cx="189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4128" name="Text Box 140"/>
              <p:cNvSpPr txBox="1">
                <a:spLocks noChangeArrowheads="1"/>
              </p:cNvSpPr>
              <p:nvPr/>
            </p:nvSpPr>
            <p:spPr bwMode="auto">
              <a:xfrm>
                <a:off x="2103" y="1444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44129" name="Oval 141"/>
              <p:cNvSpPr>
                <a:spLocks noChangeArrowheads="1"/>
              </p:cNvSpPr>
              <p:nvPr/>
            </p:nvSpPr>
            <p:spPr bwMode="auto">
              <a:xfrm>
                <a:off x="2574" y="1478"/>
                <a:ext cx="380" cy="190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4130" name="Text Box 142"/>
              <p:cNvSpPr txBox="1">
                <a:spLocks noChangeArrowheads="1"/>
              </p:cNvSpPr>
              <p:nvPr/>
            </p:nvSpPr>
            <p:spPr bwMode="auto">
              <a:xfrm>
                <a:off x="2804" y="1445"/>
                <a:ext cx="189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4131" name="Text Box 143"/>
              <p:cNvSpPr txBox="1">
                <a:spLocks noChangeArrowheads="1"/>
              </p:cNvSpPr>
              <p:nvPr/>
            </p:nvSpPr>
            <p:spPr bwMode="auto">
              <a:xfrm>
                <a:off x="2576" y="1444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44132" name="Oval 144"/>
              <p:cNvSpPr>
                <a:spLocks noChangeArrowheads="1"/>
              </p:cNvSpPr>
              <p:nvPr/>
            </p:nvSpPr>
            <p:spPr bwMode="auto">
              <a:xfrm>
                <a:off x="1651" y="1478"/>
                <a:ext cx="381" cy="190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4133" name="Text Box 145"/>
              <p:cNvSpPr txBox="1">
                <a:spLocks noChangeArrowheads="1"/>
              </p:cNvSpPr>
              <p:nvPr/>
            </p:nvSpPr>
            <p:spPr bwMode="auto">
              <a:xfrm>
                <a:off x="1881" y="1445"/>
                <a:ext cx="190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4134" name="Text Box 146"/>
              <p:cNvSpPr txBox="1">
                <a:spLocks noChangeArrowheads="1"/>
              </p:cNvSpPr>
              <p:nvPr/>
            </p:nvSpPr>
            <p:spPr bwMode="auto">
              <a:xfrm>
                <a:off x="1653" y="1444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4101" name="Group 147"/>
            <p:cNvGrpSpPr>
              <a:grpSpLocks/>
            </p:cNvGrpSpPr>
            <p:nvPr/>
          </p:nvGrpSpPr>
          <p:grpSpPr bwMode="auto">
            <a:xfrm>
              <a:off x="1528" y="2779"/>
              <a:ext cx="1342" cy="258"/>
              <a:chOff x="1651" y="1444"/>
              <a:chExt cx="1342" cy="258"/>
            </a:xfrm>
          </p:grpSpPr>
          <p:sp>
            <p:nvSpPr>
              <p:cNvPr id="44117" name="Oval 148"/>
              <p:cNvSpPr>
                <a:spLocks noChangeArrowheads="1"/>
              </p:cNvSpPr>
              <p:nvPr/>
            </p:nvSpPr>
            <p:spPr bwMode="auto">
              <a:xfrm>
                <a:off x="2101" y="1478"/>
                <a:ext cx="380" cy="190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4118" name="Text Box 149"/>
              <p:cNvSpPr txBox="1">
                <a:spLocks noChangeArrowheads="1"/>
              </p:cNvSpPr>
              <p:nvPr/>
            </p:nvSpPr>
            <p:spPr bwMode="auto">
              <a:xfrm>
                <a:off x="2330" y="1444"/>
                <a:ext cx="189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4119" name="Text Box 150"/>
              <p:cNvSpPr txBox="1">
                <a:spLocks noChangeArrowheads="1"/>
              </p:cNvSpPr>
              <p:nvPr/>
            </p:nvSpPr>
            <p:spPr bwMode="auto">
              <a:xfrm>
                <a:off x="2103" y="1444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44120" name="Oval 151"/>
              <p:cNvSpPr>
                <a:spLocks noChangeArrowheads="1"/>
              </p:cNvSpPr>
              <p:nvPr/>
            </p:nvSpPr>
            <p:spPr bwMode="auto">
              <a:xfrm>
                <a:off x="2574" y="1478"/>
                <a:ext cx="380" cy="190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4121" name="Text Box 152"/>
              <p:cNvSpPr txBox="1">
                <a:spLocks noChangeArrowheads="1"/>
              </p:cNvSpPr>
              <p:nvPr/>
            </p:nvSpPr>
            <p:spPr bwMode="auto">
              <a:xfrm>
                <a:off x="2804" y="1445"/>
                <a:ext cx="189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4122" name="Text Box 153"/>
              <p:cNvSpPr txBox="1">
                <a:spLocks noChangeArrowheads="1"/>
              </p:cNvSpPr>
              <p:nvPr/>
            </p:nvSpPr>
            <p:spPr bwMode="auto">
              <a:xfrm>
                <a:off x="2576" y="1444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44123" name="Oval 154"/>
              <p:cNvSpPr>
                <a:spLocks noChangeArrowheads="1"/>
              </p:cNvSpPr>
              <p:nvPr/>
            </p:nvSpPr>
            <p:spPr bwMode="auto">
              <a:xfrm>
                <a:off x="1651" y="1478"/>
                <a:ext cx="381" cy="190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4124" name="Text Box 155"/>
              <p:cNvSpPr txBox="1">
                <a:spLocks noChangeArrowheads="1"/>
              </p:cNvSpPr>
              <p:nvPr/>
            </p:nvSpPr>
            <p:spPr bwMode="auto">
              <a:xfrm>
                <a:off x="1881" y="1445"/>
                <a:ext cx="190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4125" name="Text Box 156"/>
              <p:cNvSpPr txBox="1">
                <a:spLocks noChangeArrowheads="1"/>
              </p:cNvSpPr>
              <p:nvPr/>
            </p:nvSpPr>
            <p:spPr bwMode="auto">
              <a:xfrm>
                <a:off x="1653" y="1444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4102" name="Group 157"/>
            <p:cNvGrpSpPr>
              <a:grpSpLocks/>
            </p:cNvGrpSpPr>
            <p:nvPr/>
          </p:nvGrpSpPr>
          <p:grpSpPr bwMode="auto">
            <a:xfrm>
              <a:off x="1282" y="2266"/>
              <a:ext cx="242" cy="766"/>
              <a:chOff x="1282" y="2266"/>
              <a:chExt cx="242" cy="766"/>
            </a:xfrm>
          </p:grpSpPr>
          <p:grpSp>
            <p:nvGrpSpPr>
              <p:cNvPr id="44110" name="Group 158"/>
              <p:cNvGrpSpPr>
                <a:grpSpLocks/>
              </p:cNvGrpSpPr>
              <p:nvPr/>
            </p:nvGrpSpPr>
            <p:grpSpPr bwMode="auto">
              <a:xfrm>
                <a:off x="1282" y="2267"/>
                <a:ext cx="193" cy="745"/>
                <a:chOff x="1398" y="1443"/>
                <a:chExt cx="193" cy="745"/>
              </a:xfrm>
            </p:grpSpPr>
            <p:sp>
              <p:nvSpPr>
                <p:cNvPr id="44115" name="Rectangle 159"/>
                <p:cNvSpPr>
                  <a:spLocks noChangeArrowheads="1"/>
                </p:cNvSpPr>
                <p:nvPr/>
              </p:nvSpPr>
              <p:spPr bwMode="auto">
                <a:xfrm>
                  <a:off x="1495" y="1443"/>
                  <a:ext cx="96" cy="745"/>
                </a:xfrm>
                <a:prstGeom prst="rect">
                  <a:avLst/>
                </a:prstGeom>
                <a:solidFill>
                  <a:srgbClr val="FFFF99"/>
                </a:solidFill>
                <a:ln w="12700" algn="ctr">
                  <a:solidFill>
                    <a:srgbClr val="FFFF99"/>
                  </a:solidFill>
                  <a:miter lim="800000"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116" name="Rectangle 160"/>
                <p:cNvSpPr>
                  <a:spLocks noChangeArrowheads="1"/>
                </p:cNvSpPr>
                <p:nvPr/>
              </p:nvSpPr>
              <p:spPr bwMode="auto">
                <a:xfrm rot="-5400000">
                  <a:off x="1472" y="1737"/>
                  <a:ext cx="25" cy="173"/>
                </a:xfrm>
                <a:prstGeom prst="rect">
                  <a:avLst/>
                </a:prstGeom>
                <a:solidFill>
                  <a:srgbClr val="FFFF99"/>
                </a:solidFill>
                <a:ln w="12700" algn="ctr">
                  <a:solidFill>
                    <a:srgbClr val="FFFF99"/>
                  </a:solidFill>
                  <a:miter lim="800000"/>
                  <a:headEnd/>
                  <a:tailEnd type="none" w="lg" len="lg"/>
                </a:ln>
              </p:spPr>
              <p:txBody>
                <a:bodyPr vert="eaVert"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4111" name="Text Box 161"/>
              <p:cNvSpPr txBox="1">
                <a:spLocks noChangeArrowheads="1"/>
              </p:cNvSpPr>
              <p:nvPr/>
            </p:nvSpPr>
            <p:spPr bwMode="auto">
              <a:xfrm>
                <a:off x="1331" y="2266"/>
                <a:ext cx="190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4112" name="Text Box 162"/>
              <p:cNvSpPr txBox="1">
                <a:spLocks noChangeArrowheads="1"/>
              </p:cNvSpPr>
              <p:nvPr/>
            </p:nvSpPr>
            <p:spPr bwMode="auto">
              <a:xfrm>
                <a:off x="1332" y="2351"/>
                <a:ext cx="114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1600" b="1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4113" name="Text Box 163"/>
              <p:cNvSpPr txBox="1">
                <a:spLocks noChangeArrowheads="1"/>
              </p:cNvSpPr>
              <p:nvPr/>
            </p:nvSpPr>
            <p:spPr bwMode="auto">
              <a:xfrm>
                <a:off x="1333" y="2514"/>
                <a:ext cx="190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4114" name="Text Box 164"/>
              <p:cNvSpPr txBox="1">
                <a:spLocks noChangeArrowheads="1"/>
              </p:cNvSpPr>
              <p:nvPr/>
            </p:nvSpPr>
            <p:spPr bwMode="auto">
              <a:xfrm>
                <a:off x="1334" y="2775"/>
                <a:ext cx="190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</p:grpSp>
        <p:grpSp>
          <p:nvGrpSpPr>
            <p:cNvPr id="44103" name="Group 165"/>
            <p:cNvGrpSpPr>
              <a:grpSpLocks/>
            </p:cNvGrpSpPr>
            <p:nvPr/>
          </p:nvGrpSpPr>
          <p:grpSpPr bwMode="auto">
            <a:xfrm>
              <a:off x="2860" y="2258"/>
              <a:ext cx="241" cy="771"/>
              <a:chOff x="2860" y="2258"/>
              <a:chExt cx="241" cy="771"/>
            </a:xfrm>
          </p:grpSpPr>
          <p:grpSp>
            <p:nvGrpSpPr>
              <p:cNvPr id="44104" name="Group 166"/>
              <p:cNvGrpSpPr>
                <a:grpSpLocks/>
              </p:cNvGrpSpPr>
              <p:nvPr/>
            </p:nvGrpSpPr>
            <p:grpSpPr bwMode="auto">
              <a:xfrm flipH="1">
                <a:off x="2908" y="2258"/>
                <a:ext cx="193" cy="745"/>
                <a:chOff x="1398" y="1443"/>
                <a:chExt cx="193" cy="745"/>
              </a:xfrm>
            </p:grpSpPr>
            <p:sp>
              <p:nvSpPr>
                <p:cNvPr id="44108" name="Rectangle 167"/>
                <p:cNvSpPr>
                  <a:spLocks noChangeArrowheads="1"/>
                </p:cNvSpPr>
                <p:nvPr/>
              </p:nvSpPr>
              <p:spPr bwMode="auto">
                <a:xfrm>
                  <a:off x="1495" y="1443"/>
                  <a:ext cx="96" cy="745"/>
                </a:xfrm>
                <a:prstGeom prst="rect">
                  <a:avLst/>
                </a:prstGeom>
                <a:solidFill>
                  <a:srgbClr val="FFFF99"/>
                </a:solidFill>
                <a:ln w="12700" algn="ctr">
                  <a:solidFill>
                    <a:srgbClr val="FFFF99"/>
                  </a:solidFill>
                  <a:miter lim="800000"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109" name="Rectangle 168"/>
                <p:cNvSpPr>
                  <a:spLocks noChangeArrowheads="1"/>
                </p:cNvSpPr>
                <p:nvPr/>
              </p:nvSpPr>
              <p:spPr bwMode="auto">
                <a:xfrm rot="-5400000">
                  <a:off x="1472" y="1737"/>
                  <a:ext cx="25" cy="173"/>
                </a:xfrm>
                <a:prstGeom prst="rect">
                  <a:avLst/>
                </a:prstGeom>
                <a:solidFill>
                  <a:srgbClr val="FFFF99"/>
                </a:solidFill>
                <a:ln w="12700" algn="ctr">
                  <a:solidFill>
                    <a:srgbClr val="FFFF99"/>
                  </a:solidFill>
                  <a:miter lim="800000"/>
                  <a:headEnd/>
                  <a:tailEnd type="none" w="lg" len="lg"/>
                </a:ln>
              </p:spPr>
              <p:txBody>
                <a:bodyPr rot="10800000" vert="eaVert"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4105" name="Text Box 169"/>
              <p:cNvSpPr txBox="1">
                <a:spLocks noChangeArrowheads="1"/>
              </p:cNvSpPr>
              <p:nvPr/>
            </p:nvSpPr>
            <p:spPr bwMode="auto">
              <a:xfrm flipH="1">
                <a:off x="2860" y="2269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44106" name="Text Box 170"/>
              <p:cNvSpPr txBox="1">
                <a:spLocks noChangeArrowheads="1"/>
              </p:cNvSpPr>
              <p:nvPr/>
            </p:nvSpPr>
            <p:spPr bwMode="auto">
              <a:xfrm flipH="1">
                <a:off x="2860" y="2505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44107" name="Text Box 171"/>
              <p:cNvSpPr txBox="1">
                <a:spLocks noChangeArrowheads="1"/>
              </p:cNvSpPr>
              <p:nvPr/>
            </p:nvSpPr>
            <p:spPr bwMode="auto">
              <a:xfrm flipH="1">
                <a:off x="2860" y="2771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</p:grpSp>
      <p:grpSp>
        <p:nvGrpSpPr>
          <p:cNvPr id="44049" name="Group 175"/>
          <p:cNvGrpSpPr>
            <a:grpSpLocks/>
          </p:cNvGrpSpPr>
          <p:nvPr/>
        </p:nvGrpSpPr>
        <p:grpSpPr bwMode="auto">
          <a:xfrm flipH="1">
            <a:off x="7466759" y="4293680"/>
            <a:ext cx="2887663" cy="1236662"/>
            <a:chOff x="4364" y="2744"/>
            <a:chExt cx="1819" cy="779"/>
          </a:xfrm>
        </p:grpSpPr>
        <p:grpSp>
          <p:nvGrpSpPr>
            <p:cNvPr id="44051" name="Group 176"/>
            <p:cNvGrpSpPr>
              <a:grpSpLocks/>
            </p:cNvGrpSpPr>
            <p:nvPr/>
          </p:nvGrpSpPr>
          <p:grpSpPr bwMode="auto">
            <a:xfrm>
              <a:off x="4626" y="2759"/>
              <a:ext cx="1342" cy="258"/>
              <a:chOff x="1651" y="1444"/>
              <a:chExt cx="1342" cy="258"/>
            </a:xfrm>
          </p:grpSpPr>
          <p:sp>
            <p:nvSpPr>
              <p:cNvPr id="44087" name="Oval 177"/>
              <p:cNvSpPr>
                <a:spLocks noChangeArrowheads="1"/>
              </p:cNvSpPr>
              <p:nvPr/>
            </p:nvSpPr>
            <p:spPr bwMode="auto">
              <a:xfrm>
                <a:off x="2101" y="1478"/>
                <a:ext cx="380" cy="190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4088" name="Text Box 178"/>
              <p:cNvSpPr txBox="1">
                <a:spLocks noChangeArrowheads="1"/>
              </p:cNvSpPr>
              <p:nvPr/>
            </p:nvSpPr>
            <p:spPr bwMode="auto">
              <a:xfrm>
                <a:off x="2330" y="1444"/>
                <a:ext cx="189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4089" name="Text Box 179"/>
              <p:cNvSpPr txBox="1">
                <a:spLocks noChangeArrowheads="1"/>
              </p:cNvSpPr>
              <p:nvPr/>
            </p:nvSpPr>
            <p:spPr bwMode="auto">
              <a:xfrm>
                <a:off x="2103" y="1444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44090" name="Oval 180"/>
              <p:cNvSpPr>
                <a:spLocks noChangeArrowheads="1"/>
              </p:cNvSpPr>
              <p:nvPr/>
            </p:nvSpPr>
            <p:spPr bwMode="auto">
              <a:xfrm>
                <a:off x="2574" y="1478"/>
                <a:ext cx="380" cy="190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4091" name="Text Box 181"/>
              <p:cNvSpPr txBox="1">
                <a:spLocks noChangeArrowheads="1"/>
              </p:cNvSpPr>
              <p:nvPr/>
            </p:nvSpPr>
            <p:spPr bwMode="auto">
              <a:xfrm>
                <a:off x="2804" y="1445"/>
                <a:ext cx="189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4092" name="Text Box 182"/>
              <p:cNvSpPr txBox="1">
                <a:spLocks noChangeArrowheads="1"/>
              </p:cNvSpPr>
              <p:nvPr/>
            </p:nvSpPr>
            <p:spPr bwMode="auto">
              <a:xfrm>
                <a:off x="2576" y="1444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44093" name="Oval 183"/>
              <p:cNvSpPr>
                <a:spLocks noChangeArrowheads="1"/>
              </p:cNvSpPr>
              <p:nvPr/>
            </p:nvSpPr>
            <p:spPr bwMode="auto">
              <a:xfrm>
                <a:off x="1651" y="1478"/>
                <a:ext cx="381" cy="190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4094" name="Text Box 184"/>
              <p:cNvSpPr txBox="1">
                <a:spLocks noChangeArrowheads="1"/>
              </p:cNvSpPr>
              <p:nvPr/>
            </p:nvSpPr>
            <p:spPr bwMode="auto">
              <a:xfrm>
                <a:off x="1881" y="1445"/>
                <a:ext cx="190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4095" name="Text Box 185"/>
              <p:cNvSpPr txBox="1">
                <a:spLocks noChangeArrowheads="1"/>
              </p:cNvSpPr>
              <p:nvPr/>
            </p:nvSpPr>
            <p:spPr bwMode="auto">
              <a:xfrm>
                <a:off x="1653" y="1444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4052" name="Group 186"/>
            <p:cNvGrpSpPr>
              <a:grpSpLocks/>
            </p:cNvGrpSpPr>
            <p:nvPr/>
          </p:nvGrpSpPr>
          <p:grpSpPr bwMode="auto">
            <a:xfrm>
              <a:off x="4627" y="3012"/>
              <a:ext cx="1342" cy="258"/>
              <a:chOff x="1651" y="1444"/>
              <a:chExt cx="1342" cy="258"/>
            </a:xfrm>
          </p:grpSpPr>
          <p:sp>
            <p:nvSpPr>
              <p:cNvPr id="44078" name="Oval 187"/>
              <p:cNvSpPr>
                <a:spLocks noChangeArrowheads="1"/>
              </p:cNvSpPr>
              <p:nvPr/>
            </p:nvSpPr>
            <p:spPr bwMode="auto">
              <a:xfrm>
                <a:off x="2101" y="1478"/>
                <a:ext cx="380" cy="190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4079" name="Text Box 188"/>
              <p:cNvSpPr txBox="1">
                <a:spLocks noChangeArrowheads="1"/>
              </p:cNvSpPr>
              <p:nvPr/>
            </p:nvSpPr>
            <p:spPr bwMode="auto">
              <a:xfrm>
                <a:off x="2330" y="1444"/>
                <a:ext cx="189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4080" name="Text Box 189"/>
              <p:cNvSpPr txBox="1">
                <a:spLocks noChangeArrowheads="1"/>
              </p:cNvSpPr>
              <p:nvPr/>
            </p:nvSpPr>
            <p:spPr bwMode="auto">
              <a:xfrm>
                <a:off x="2103" y="1444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44081" name="Oval 190"/>
              <p:cNvSpPr>
                <a:spLocks noChangeArrowheads="1"/>
              </p:cNvSpPr>
              <p:nvPr/>
            </p:nvSpPr>
            <p:spPr bwMode="auto">
              <a:xfrm>
                <a:off x="2574" y="1478"/>
                <a:ext cx="380" cy="190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4082" name="Text Box 191"/>
              <p:cNvSpPr txBox="1">
                <a:spLocks noChangeArrowheads="1"/>
              </p:cNvSpPr>
              <p:nvPr/>
            </p:nvSpPr>
            <p:spPr bwMode="auto">
              <a:xfrm>
                <a:off x="2804" y="1445"/>
                <a:ext cx="189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4083" name="Text Box 192"/>
              <p:cNvSpPr txBox="1">
                <a:spLocks noChangeArrowheads="1"/>
              </p:cNvSpPr>
              <p:nvPr/>
            </p:nvSpPr>
            <p:spPr bwMode="auto">
              <a:xfrm>
                <a:off x="2576" y="1444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44084" name="Oval 193"/>
              <p:cNvSpPr>
                <a:spLocks noChangeArrowheads="1"/>
              </p:cNvSpPr>
              <p:nvPr/>
            </p:nvSpPr>
            <p:spPr bwMode="auto">
              <a:xfrm>
                <a:off x="1651" y="1478"/>
                <a:ext cx="381" cy="190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4085" name="Text Box 194"/>
              <p:cNvSpPr txBox="1">
                <a:spLocks noChangeArrowheads="1"/>
              </p:cNvSpPr>
              <p:nvPr/>
            </p:nvSpPr>
            <p:spPr bwMode="auto">
              <a:xfrm>
                <a:off x="1881" y="1445"/>
                <a:ext cx="190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4086" name="Text Box 195"/>
              <p:cNvSpPr txBox="1">
                <a:spLocks noChangeArrowheads="1"/>
              </p:cNvSpPr>
              <p:nvPr/>
            </p:nvSpPr>
            <p:spPr bwMode="auto">
              <a:xfrm>
                <a:off x="1653" y="1444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4053" name="Group 196"/>
            <p:cNvGrpSpPr>
              <a:grpSpLocks/>
            </p:cNvGrpSpPr>
            <p:nvPr/>
          </p:nvGrpSpPr>
          <p:grpSpPr bwMode="auto">
            <a:xfrm>
              <a:off x="4610" y="3265"/>
              <a:ext cx="1342" cy="258"/>
              <a:chOff x="1651" y="1444"/>
              <a:chExt cx="1342" cy="258"/>
            </a:xfrm>
          </p:grpSpPr>
          <p:sp>
            <p:nvSpPr>
              <p:cNvPr id="44069" name="Oval 197"/>
              <p:cNvSpPr>
                <a:spLocks noChangeArrowheads="1"/>
              </p:cNvSpPr>
              <p:nvPr/>
            </p:nvSpPr>
            <p:spPr bwMode="auto">
              <a:xfrm>
                <a:off x="2101" y="1478"/>
                <a:ext cx="380" cy="190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4070" name="Text Box 198"/>
              <p:cNvSpPr txBox="1">
                <a:spLocks noChangeArrowheads="1"/>
              </p:cNvSpPr>
              <p:nvPr/>
            </p:nvSpPr>
            <p:spPr bwMode="auto">
              <a:xfrm>
                <a:off x="2330" y="1444"/>
                <a:ext cx="189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4071" name="Text Box 199"/>
              <p:cNvSpPr txBox="1">
                <a:spLocks noChangeArrowheads="1"/>
              </p:cNvSpPr>
              <p:nvPr/>
            </p:nvSpPr>
            <p:spPr bwMode="auto">
              <a:xfrm>
                <a:off x="2103" y="1444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44072" name="Oval 200"/>
              <p:cNvSpPr>
                <a:spLocks noChangeArrowheads="1"/>
              </p:cNvSpPr>
              <p:nvPr/>
            </p:nvSpPr>
            <p:spPr bwMode="auto">
              <a:xfrm>
                <a:off x="2574" y="1478"/>
                <a:ext cx="380" cy="190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4073" name="Text Box 201"/>
              <p:cNvSpPr txBox="1">
                <a:spLocks noChangeArrowheads="1"/>
              </p:cNvSpPr>
              <p:nvPr/>
            </p:nvSpPr>
            <p:spPr bwMode="auto">
              <a:xfrm>
                <a:off x="2804" y="1445"/>
                <a:ext cx="189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4074" name="Text Box 202"/>
              <p:cNvSpPr txBox="1">
                <a:spLocks noChangeArrowheads="1"/>
              </p:cNvSpPr>
              <p:nvPr/>
            </p:nvSpPr>
            <p:spPr bwMode="auto">
              <a:xfrm>
                <a:off x="2576" y="1444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44075" name="Oval 203"/>
              <p:cNvSpPr>
                <a:spLocks noChangeArrowheads="1"/>
              </p:cNvSpPr>
              <p:nvPr/>
            </p:nvSpPr>
            <p:spPr bwMode="auto">
              <a:xfrm>
                <a:off x="1651" y="1478"/>
                <a:ext cx="381" cy="190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4076" name="Text Box 204"/>
              <p:cNvSpPr txBox="1">
                <a:spLocks noChangeArrowheads="1"/>
              </p:cNvSpPr>
              <p:nvPr/>
            </p:nvSpPr>
            <p:spPr bwMode="auto">
              <a:xfrm>
                <a:off x="1881" y="1445"/>
                <a:ext cx="190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4077" name="Text Box 205"/>
              <p:cNvSpPr txBox="1">
                <a:spLocks noChangeArrowheads="1"/>
              </p:cNvSpPr>
              <p:nvPr/>
            </p:nvSpPr>
            <p:spPr bwMode="auto">
              <a:xfrm>
                <a:off x="1653" y="1444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4054" name="Group 206"/>
            <p:cNvGrpSpPr>
              <a:grpSpLocks/>
            </p:cNvGrpSpPr>
            <p:nvPr/>
          </p:nvGrpSpPr>
          <p:grpSpPr bwMode="auto">
            <a:xfrm>
              <a:off x="4364" y="2752"/>
              <a:ext cx="242" cy="766"/>
              <a:chOff x="1282" y="2266"/>
              <a:chExt cx="242" cy="766"/>
            </a:xfrm>
          </p:grpSpPr>
          <p:grpSp>
            <p:nvGrpSpPr>
              <p:cNvPr id="44062" name="Group 207"/>
              <p:cNvGrpSpPr>
                <a:grpSpLocks/>
              </p:cNvGrpSpPr>
              <p:nvPr/>
            </p:nvGrpSpPr>
            <p:grpSpPr bwMode="auto">
              <a:xfrm>
                <a:off x="1282" y="2267"/>
                <a:ext cx="193" cy="745"/>
                <a:chOff x="1398" y="1443"/>
                <a:chExt cx="193" cy="745"/>
              </a:xfrm>
            </p:grpSpPr>
            <p:sp>
              <p:nvSpPr>
                <p:cNvPr id="44067" name="Rectangle 208"/>
                <p:cNvSpPr>
                  <a:spLocks noChangeArrowheads="1"/>
                </p:cNvSpPr>
                <p:nvPr/>
              </p:nvSpPr>
              <p:spPr bwMode="auto">
                <a:xfrm>
                  <a:off x="1495" y="1443"/>
                  <a:ext cx="96" cy="745"/>
                </a:xfrm>
                <a:prstGeom prst="rect">
                  <a:avLst/>
                </a:prstGeom>
                <a:solidFill>
                  <a:srgbClr val="FFFF99"/>
                </a:solidFill>
                <a:ln w="12700" algn="ctr">
                  <a:solidFill>
                    <a:srgbClr val="FFFF99"/>
                  </a:solidFill>
                  <a:miter lim="800000"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068" name="Rectangle 209"/>
                <p:cNvSpPr>
                  <a:spLocks noChangeArrowheads="1"/>
                </p:cNvSpPr>
                <p:nvPr/>
              </p:nvSpPr>
              <p:spPr bwMode="auto">
                <a:xfrm rot="-5400000">
                  <a:off x="1472" y="1737"/>
                  <a:ext cx="25" cy="173"/>
                </a:xfrm>
                <a:prstGeom prst="rect">
                  <a:avLst/>
                </a:prstGeom>
                <a:solidFill>
                  <a:srgbClr val="FFFF99"/>
                </a:solidFill>
                <a:ln w="12700" algn="ctr">
                  <a:solidFill>
                    <a:srgbClr val="FFFF99"/>
                  </a:solidFill>
                  <a:miter lim="800000"/>
                  <a:headEnd/>
                  <a:tailEnd type="none" w="lg" len="lg"/>
                </a:ln>
              </p:spPr>
              <p:txBody>
                <a:bodyPr rot="10800000" vert="eaVert"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4063" name="Text Box 210"/>
              <p:cNvSpPr txBox="1">
                <a:spLocks noChangeArrowheads="1"/>
              </p:cNvSpPr>
              <p:nvPr/>
            </p:nvSpPr>
            <p:spPr bwMode="auto">
              <a:xfrm>
                <a:off x="1331" y="2266"/>
                <a:ext cx="190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4064" name="Text Box 211"/>
              <p:cNvSpPr txBox="1">
                <a:spLocks noChangeArrowheads="1"/>
              </p:cNvSpPr>
              <p:nvPr/>
            </p:nvSpPr>
            <p:spPr bwMode="auto">
              <a:xfrm>
                <a:off x="1332" y="2351"/>
                <a:ext cx="114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1600" b="1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4065" name="Text Box 212"/>
              <p:cNvSpPr txBox="1">
                <a:spLocks noChangeArrowheads="1"/>
              </p:cNvSpPr>
              <p:nvPr/>
            </p:nvSpPr>
            <p:spPr bwMode="auto">
              <a:xfrm>
                <a:off x="1333" y="2514"/>
                <a:ext cx="190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4066" name="Text Box 213"/>
              <p:cNvSpPr txBox="1">
                <a:spLocks noChangeArrowheads="1"/>
              </p:cNvSpPr>
              <p:nvPr/>
            </p:nvSpPr>
            <p:spPr bwMode="auto">
              <a:xfrm>
                <a:off x="1334" y="2775"/>
                <a:ext cx="190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</p:grpSp>
        <p:grpSp>
          <p:nvGrpSpPr>
            <p:cNvPr id="44055" name="Group 214"/>
            <p:cNvGrpSpPr>
              <a:grpSpLocks/>
            </p:cNvGrpSpPr>
            <p:nvPr/>
          </p:nvGrpSpPr>
          <p:grpSpPr bwMode="auto">
            <a:xfrm>
              <a:off x="5942" y="2744"/>
              <a:ext cx="241" cy="771"/>
              <a:chOff x="2860" y="2258"/>
              <a:chExt cx="241" cy="771"/>
            </a:xfrm>
          </p:grpSpPr>
          <p:grpSp>
            <p:nvGrpSpPr>
              <p:cNvPr id="44056" name="Group 215"/>
              <p:cNvGrpSpPr>
                <a:grpSpLocks/>
              </p:cNvGrpSpPr>
              <p:nvPr/>
            </p:nvGrpSpPr>
            <p:grpSpPr bwMode="auto">
              <a:xfrm flipH="1">
                <a:off x="2908" y="2258"/>
                <a:ext cx="193" cy="745"/>
                <a:chOff x="1398" y="1443"/>
                <a:chExt cx="193" cy="745"/>
              </a:xfrm>
            </p:grpSpPr>
            <p:sp>
              <p:nvSpPr>
                <p:cNvPr id="44060" name="Rectangle 216"/>
                <p:cNvSpPr>
                  <a:spLocks noChangeArrowheads="1"/>
                </p:cNvSpPr>
                <p:nvPr/>
              </p:nvSpPr>
              <p:spPr bwMode="auto">
                <a:xfrm>
                  <a:off x="1495" y="1443"/>
                  <a:ext cx="96" cy="745"/>
                </a:xfrm>
                <a:prstGeom prst="rect">
                  <a:avLst/>
                </a:prstGeom>
                <a:solidFill>
                  <a:srgbClr val="FFFF99"/>
                </a:solidFill>
                <a:ln w="12700" algn="ctr">
                  <a:solidFill>
                    <a:srgbClr val="FFFF99"/>
                  </a:solidFill>
                  <a:miter lim="800000"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061" name="Rectangle 217"/>
                <p:cNvSpPr>
                  <a:spLocks noChangeArrowheads="1"/>
                </p:cNvSpPr>
                <p:nvPr/>
              </p:nvSpPr>
              <p:spPr bwMode="auto">
                <a:xfrm rot="-5400000">
                  <a:off x="1472" y="1737"/>
                  <a:ext cx="25" cy="173"/>
                </a:xfrm>
                <a:prstGeom prst="rect">
                  <a:avLst/>
                </a:prstGeom>
                <a:solidFill>
                  <a:srgbClr val="FFFF99"/>
                </a:solidFill>
                <a:ln w="12700" algn="ctr">
                  <a:solidFill>
                    <a:srgbClr val="FFFF99"/>
                  </a:solidFill>
                  <a:miter lim="800000"/>
                  <a:headEnd/>
                  <a:tailEnd type="none" w="lg" len="lg"/>
                </a:ln>
              </p:spPr>
              <p:txBody>
                <a:bodyPr vert="eaVert"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4057" name="Text Box 218"/>
              <p:cNvSpPr txBox="1">
                <a:spLocks noChangeArrowheads="1"/>
              </p:cNvSpPr>
              <p:nvPr/>
            </p:nvSpPr>
            <p:spPr bwMode="auto">
              <a:xfrm flipH="1">
                <a:off x="2860" y="2269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44058" name="Text Box 219"/>
              <p:cNvSpPr txBox="1">
                <a:spLocks noChangeArrowheads="1"/>
              </p:cNvSpPr>
              <p:nvPr/>
            </p:nvSpPr>
            <p:spPr bwMode="auto">
              <a:xfrm flipH="1">
                <a:off x="2860" y="2505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44059" name="Text Box 220"/>
              <p:cNvSpPr txBox="1">
                <a:spLocks noChangeArrowheads="1"/>
              </p:cNvSpPr>
              <p:nvPr/>
            </p:nvSpPr>
            <p:spPr bwMode="auto">
              <a:xfrm flipH="1">
                <a:off x="2860" y="2771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</p:grpSp>
      <p:sp>
        <p:nvSpPr>
          <p:cNvPr id="44050" name="Text Box 221"/>
          <p:cNvSpPr txBox="1">
            <a:spLocks noChangeArrowheads="1"/>
          </p:cNvSpPr>
          <p:nvPr/>
        </p:nvSpPr>
        <p:spPr bwMode="auto">
          <a:xfrm>
            <a:off x="6472741" y="3472687"/>
            <a:ext cx="77946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3333FF"/>
                </a:solidFill>
                <a:latin typeface="Arial" panose="020B0604020202020204" pitchFamily="34" charset="0"/>
              </a:rPr>
              <a:t>Pasar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3333FF"/>
                </a:solidFill>
                <a:latin typeface="Arial" panose="020B0604020202020204" pitchFamily="34" charset="0"/>
              </a:rPr>
              <a:t>a 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3333FF"/>
                </a:solidFill>
                <a:latin typeface="Arial" panose="020B0604020202020204" pitchFamily="34" charset="0"/>
              </a:rPr>
              <a:t>V = 0</a:t>
            </a:r>
          </a:p>
        </p:txBody>
      </p:sp>
      <p:sp>
        <p:nvSpPr>
          <p:cNvPr id="222" name="Text Box 99"/>
          <p:cNvSpPr txBox="1">
            <a:spLocks noChangeArrowheads="1"/>
          </p:cNvSpPr>
          <p:nvPr/>
        </p:nvSpPr>
        <p:spPr bwMode="auto">
          <a:xfrm>
            <a:off x="1266940" y="369372"/>
            <a:ext cx="8996180" cy="88407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square" lIns="108000" tIns="72000" rIns="108000" bIns="720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Un condensador con ferroeléctrico es útil para fabricar </a:t>
            </a:r>
            <a:r>
              <a:rPr lang="es-ES" sz="2400" dirty="0">
                <a:solidFill>
                  <a:srgbClr val="0000FF"/>
                </a:solidFill>
              </a:rPr>
              <a:t>memorias </a:t>
            </a:r>
            <a:r>
              <a:rPr lang="es-ES" sz="2400" dirty="0">
                <a:solidFill>
                  <a:schemeClr val="tx1"/>
                </a:solidFill>
              </a:rPr>
              <a:t>al mantenerse el alineamiento de los dipolos en ausencia de </a:t>
            </a:r>
            <a:r>
              <a:rPr lang="es-ES" sz="2400" dirty="0" err="1">
                <a:solidFill>
                  <a:schemeClr val="tx1"/>
                </a:solidFill>
              </a:rPr>
              <a:t>ddp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280" name="Text Box 99"/>
          <p:cNvSpPr txBox="1">
            <a:spLocks noChangeArrowheads="1"/>
          </p:cNvSpPr>
          <p:nvPr/>
        </p:nvSpPr>
        <p:spPr bwMode="auto">
          <a:xfrm>
            <a:off x="6337462" y="1251847"/>
            <a:ext cx="3916584" cy="884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ts val="0"/>
              </a:spcBef>
            </a:pPr>
            <a:r>
              <a:rPr lang="es-ES" sz="2400" dirty="0">
                <a:solidFill>
                  <a:srgbClr val="FF0000"/>
                </a:solidFill>
              </a:rPr>
              <a:t>Una orientación es un 1</a:t>
            </a:r>
          </a:p>
          <a:p>
            <a:pPr algn="r" eaLnBrk="1" hangingPunct="1">
              <a:spcBef>
                <a:spcPts val="0"/>
              </a:spcBef>
            </a:pPr>
            <a:r>
              <a:rPr lang="es-ES" sz="2400" dirty="0">
                <a:solidFill>
                  <a:srgbClr val="FF0000"/>
                </a:solidFill>
              </a:rPr>
              <a:t>La otra orientación es un 0</a:t>
            </a:r>
          </a:p>
        </p:txBody>
      </p:sp>
      <p:sp>
        <p:nvSpPr>
          <p:cNvPr id="450574" name="Text Box 14"/>
          <p:cNvSpPr txBox="1">
            <a:spLocks noChangeArrowheads="1"/>
          </p:cNvSpPr>
          <p:nvPr/>
        </p:nvSpPr>
        <p:spPr bwMode="auto">
          <a:xfrm>
            <a:off x="1289684" y="1660746"/>
            <a:ext cx="2133948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ESCRITURA</a:t>
            </a:r>
          </a:p>
        </p:txBody>
      </p:sp>
      <p:sp>
        <p:nvSpPr>
          <p:cNvPr id="44202" name="Text Box 19"/>
          <p:cNvSpPr txBox="1">
            <a:spLocks noChangeArrowheads="1"/>
          </p:cNvSpPr>
          <p:nvPr/>
        </p:nvSpPr>
        <p:spPr bwMode="auto">
          <a:xfrm>
            <a:off x="1282509" y="2485836"/>
            <a:ext cx="455613" cy="13986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 anchorCtr="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3200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4148" name="Text Box 74"/>
          <p:cNvSpPr txBox="1">
            <a:spLocks noChangeArrowheads="1"/>
          </p:cNvSpPr>
          <p:nvPr/>
        </p:nvSpPr>
        <p:spPr bwMode="auto">
          <a:xfrm>
            <a:off x="1282873" y="4085133"/>
            <a:ext cx="455613" cy="153847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 anchorCtr="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32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3265720" y="2057714"/>
            <a:ext cx="2873375" cy="1848867"/>
            <a:chOff x="3298475" y="2052592"/>
            <a:chExt cx="2873375" cy="1848867"/>
          </a:xfrm>
        </p:grpSpPr>
        <p:sp>
          <p:nvSpPr>
            <p:cNvPr id="44199" name="Line 16"/>
            <p:cNvSpPr>
              <a:spLocks noChangeShapeType="1"/>
            </p:cNvSpPr>
            <p:nvPr/>
          </p:nvSpPr>
          <p:spPr bwMode="auto">
            <a:xfrm>
              <a:off x="4354162" y="2478042"/>
              <a:ext cx="831850" cy="1587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44200" name="Text Box 17"/>
            <p:cNvSpPr txBox="1">
              <a:spLocks noChangeArrowheads="1"/>
            </p:cNvSpPr>
            <p:nvPr/>
          </p:nvSpPr>
          <p:spPr bwMode="auto">
            <a:xfrm>
              <a:off x="4560537" y="2052592"/>
              <a:ext cx="350838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44201" name="Line 18"/>
            <p:cNvSpPr>
              <a:spLocks noChangeShapeType="1"/>
            </p:cNvSpPr>
            <p:nvPr/>
          </p:nvSpPr>
          <p:spPr bwMode="auto">
            <a:xfrm>
              <a:off x="4657375" y="2158954"/>
              <a:ext cx="215900" cy="1587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grpSp>
          <p:nvGrpSpPr>
            <p:cNvPr id="44203" name="Group 20"/>
            <p:cNvGrpSpPr>
              <a:grpSpLocks/>
            </p:cNvGrpSpPr>
            <p:nvPr/>
          </p:nvGrpSpPr>
          <p:grpSpPr bwMode="auto">
            <a:xfrm>
              <a:off x="3298475" y="2464772"/>
              <a:ext cx="2873375" cy="1436687"/>
              <a:chOff x="1299" y="1193"/>
              <a:chExt cx="1810" cy="905"/>
            </a:xfrm>
          </p:grpSpPr>
          <p:grpSp>
            <p:nvGrpSpPr>
              <p:cNvPr id="44204" name="Group 21"/>
              <p:cNvGrpSpPr>
                <a:grpSpLocks/>
              </p:cNvGrpSpPr>
              <p:nvPr/>
            </p:nvGrpSpPr>
            <p:grpSpPr bwMode="auto">
              <a:xfrm>
                <a:off x="1552" y="1264"/>
                <a:ext cx="1342" cy="258"/>
                <a:chOff x="1651" y="1444"/>
                <a:chExt cx="1342" cy="258"/>
              </a:xfrm>
            </p:grpSpPr>
            <p:sp>
              <p:nvSpPr>
                <p:cNvPr id="44243" name="Oval 22"/>
                <p:cNvSpPr>
                  <a:spLocks noChangeArrowheads="1"/>
                </p:cNvSpPr>
                <p:nvPr/>
              </p:nvSpPr>
              <p:spPr bwMode="auto">
                <a:xfrm>
                  <a:off x="2101" y="1478"/>
                  <a:ext cx="380" cy="190"/>
                </a:xfrm>
                <a:prstGeom prst="ellipse">
                  <a:avLst/>
                </a:prstGeom>
                <a:solidFill>
                  <a:srgbClr val="99CC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244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2330" y="1444"/>
                  <a:ext cx="189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4245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2103" y="1444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44246" name="Oval 25"/>
                <p:cNvSpPr>
                  <a:spLocks noChangeArrowheads="1"/>
                </p:cNvSpPr>
                <p:nvPr/>
              </p:nvSpPr>
              <p:spPr bwMode="auto">
                <a:xfrm>
                  <a:off x="2574" y="1478"/>
                  <a:ext cx="380" cy="190"/>
                </a:xfrm>
                <a:prstGeom prst="ellipse">
                  <a:avLst/>
                </a:prstGeom>
                <a:solidFill>
                  <a:srgbClr val="99CC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247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2804" y="1445"/>
                  <a:ext cx="189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4248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576" y="1444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44249" name="Oval 28"/>
                <p:cNvSpPr>
                  <a:spLocks noChangeArrowheads="1"/>
                </p:cNvSpPr>
                <p:nvPr/>
              </p:nvSpPr>
              <p:spPr bwMode="auto">
                <a:xfrm>
                  <a:off x="1651" y="1478"/>
                  <a:ext cx="381" cy="190"/>
                </a:xfrm>
                <a:prstGeom prst="ellipse">
                  <a:avLst/>
                </a:prstGeom>
                <a:solidFill>
                  <a:srgbClr val="99CC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250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1881" y="1445"/>
                  <a:ext cx="190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4251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1653" y="1444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44205" name="Group 31"/>
              <p:cNvGrpSpPr>
                <a:grpSpLocks/>
              </p:cNvGrpSpPr>
              <p:nvPr/>
            </p:nvGrpSpPr>
            <p:grpSpPr bwMode="auto">
              <a:xfrm>
                <a:off x="1553" y="1517"/>
                <a:ext cx="1342" cy="258"/>
                <a:chOff x="1651" y="1444"/>
                <a:chExt cx="1342" cy="258"/>
              </a:xfrm>
            </p:grpSpPr>
            <p:sp>
              <p:nvSpPr>
                <p:cNvPr id="44234" name="Oval 32"/>
                <p:cNvSpPr>
                  <a:spLocks noChangeArrowheads="1"/>
                </p:cNvSpPr>
                <p:nvPr/>
              </p:nvSpPr>
              <p:spPr bwMode="auto">
                <a:xfrm>
                  <a:off x="2101" y="1478"/>
                  <a:ext cx="380" cy="190"/>
                </a:xfrm>
                <a:prstGeom prst="ellipse">
                  <a:avLst/>
                </a:prstGeom>
                <a:solidFill>
                  <a:srgbClr val="99CC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235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2330" y="1444"/>
                  <a:ext cx="189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4236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2103" y="1444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44237" name="Oval 35"/>
                <p:cNvSpPr>
                  <a:spLocks noChangeArrowheads="1"/>
                </p:cNvSpPr>
                <p:nvPr/>
              </p:nvSpPr>
              <p:spPr bwMode="auto">
                <a:xfrm>
                  <a:off x="2574" y="1478"/>
                  <a:ext cx="380" cy="190"/>
                </a:xfrm>
                <a:prstGeom prst="ellipse">
                  <a:avLst/>
                </a:prstGeom>
                <a:solidFill>
                  <a:srgbClr val="99CC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238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2804" y="1445"/>
                  <a:ext cx="189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4239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2576" y="1444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44240" name="Oval 38"/>
                <p:cNvSpPr>
                  <a:spLocks noChangeArrowheads="1"/>
                </p:cNvSpPr>
                <p:nvPr/>
              </p:nvSpPr>
              <p:spPr bwMode="auto">
                <a:xfrm>
                  <a:off x="1651" y="1478"/>
                  <a:ext cx="381" cy="190"/>
                </a:xfrm>
                <a:prstGeom prst="ellipse">
                  <a:avLst/>
                </a:prstGeom>
                <a:solidFill>
                  <a:srgbClr val="99CC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241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1881" y="1445"/>
                  <a:ext cx="190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4242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1653" y="1444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44206" name="Group 41"/>
              <p:cNvGrpSpPr>
                <a:grpSpLocks/>
              </p:cNvGrpSpPr>
              <p:nvPr/>
            </p:nvGrpSpPr>
            <p:grpSpPr bwMode="auto">
              <a:xfrm>
                <a:off x="1536" y="1770"/>
                <a:ext cx="1342" cy="258"/>
                <a:chOff x="1651" y="1444"/>
                <a:chExt cx="1342" cy="258"/>
              </a:xfrm>
            </p:grpSpPr>
            <p:sp>
              <p:nvSpPr>
                <p:cNvPr id="44225" name="Oval 42"/>
                <p:cNvSpPr>
                  <a:spLocks noChangeArrowheads="1"/>
                </p:cNvSpPr>
                <p:nvPr/>
              </p:nvSpPr>
              <p:spPr bwMode="auto">
                <a:xfrm>
                  <a:off x="2101" y="1478"/>
                  <a:ext cx="380" cy="190"/>
                </a:xfrm>
                <a:prstGeom prst="ellipse">
                  <a:avLst/>
                </a:prstGeom>
                <a:solidFill>
                  <a:srgbClr val="99CC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226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2330" y="1444"/>
                  <a:ext cx="189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4227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2103" y="1444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44228" name="Oval 45"/>
                <p:cNvSpPr>
                  <a:spLocks noChangeArrowheads="1"/>
                </p:cNvSpPr>
                <p:nvPr/>
              </p:nvSpPr>
              <p:spPr bwMode="auto">
                <a:xfrm>
                  <a:off x="2574" y="1478"/>
                  <a:ext cx="380" cy="190"/>
                </a:xfrm>
                <a:prstGeom prst="ellipse">
                  <a:avLst/>
                </a:prstGeom>
                <a:solidFill>
                  <a:srgbClr val="99CC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229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2804" y="1445"/>
                  <a:ext cx="189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4230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2576" y="1444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44231" name="Oval 48"/>
                <p:cNvSpPr>
                  <a:spLocks noChangeArrowheads="1"/>
                </p:cNvSpPr>
                <p:nvPr/>
              </p:nvSpPr>
              <p:spPr bwMode="auto">
                <a:xfrm>
                  <a:off x="1651" y="1478"/>
                  <a:ext cx="381" cy="190"/>
                </a:xfrm>
                <a:prstGeom prst="ellipse">
                  <a:avLst/>
                </a:prstGeom>
                <a:solidFill>
                  <a:srgbClr val="99CC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232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1881" y="1445"/>
                  <a:ext cx="190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4233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1653" y="1444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44207" name="Group 51"/>
              <p:cNvGrpSpPr>
                <a:grpSpLocks/>
              </p:cNvGrpSpPr>
              <p:nvPr/>
            </p:nvGrpSpPr>
            <p:grpSpPr bwMode="auto">
              <a:xfrm>
                <a:off x="1299" y="1193"/>
                <a:ext cx="243" cy="828"/>
                <a:chOff x="1398" y="1373"/>
                <a:chExt cx="243" cy="828"/>
              </a:xfrm>
            </p:grpSpPr>
            <p:grpSp>
              <p:nvGrpSpPr>
                <p:cNvPr id="44217" name="Group 52"/>
                <p:cNvGrpSpPr>
                  <a:grpSpLocks/>
                </p:cNvGrpSpPr>
                <p:nvPr/>
              </p:nvGrpSpPr>
              <p:grpSpPr bwMode="auto">
                <a:xfrm>
                  <a:off x="1398" y="1443"/>
                  <a:ext cx="193" cy="745"/>
                  <a:chOff x="1398" y="1443"/>
                  <a:chExt cx="193" cy="745"/>
                </a:xfrm>
              </p:grpSpPr>
              <p:sp>
                <p:nvSpPr>
                  <p:cNvPr id="44223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1495" y="1443"/>
                    <a:ext cx="96" cy="745"/>
                  </a:xfrm>
                  <a:prstGeom prst="rect">
                    <a:avLst/>
                  </a:prstGeom>
                  <a:solidFill>
                    <a:srgbClr val="FFFF99"/>
                  </a:solidFill>
                  <a:ln w="12700" algn="ctr">
                    <a:solidFill>
                      <a:srgbClr val="FFFF99"/>
                    </a:solidFill>
                    <a:miter lim="800000"/>
                    <a:headEnd/>
                    <a:tailEnd type="none" w="lg" len="lg"/>
                  </a:ln>
                </p:spPr>
                <p:txBody>
                  <a:bodyPr wrap="none" lIns="90000" tIns="82800" rIns="90000" bIns="82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n-U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44224" name="Rectangle 54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1472" y="1737"/>
                    <a:ext cx="25" cy="173"/>
                  </a:xfrm>
                  <a:prstGeom prst="rect">
                    <a:avLst/>
                  </a:prstGeom>
                  <a:solidFill>
                    <a:srgbClr val="FFFF99"/>
                  </a:solidFill>
                  <a:ln w="12700" algn="ctr">
                    <a:solidFill>
                      <a:srgbClr val="FFFF99"/>
                    </a:solidFill>
                    <a:miter lim="800000"/>
                    <a:headEnd/>
                    <a:tailEnd type="none" w="lg" len="lg"/>
                  </a:ln>
                </p:spPr>
                <p:txBody>
                  <a:bodyPr vert="eaVert" wrap="none" lIns="90000" tIns="82800" rIns="90000" bIns="82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n-U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44218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1447" y="1373"/>
                  <a:ext cx="190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4219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1448" y="1527"/>
                  <a:ext cx="190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4220" name="Text Box 57"/>
                <p:cNvSpPr txBox="1">
                  <a:spLocks noChangeArrowheads="1"/>
                </p:cNvSpPr>
                <p:nvPr/>
              </p:nvSpPr>
              <p:spPr bwMode="auto">
                <a:xfrm>
                  <a:off x="1449" y="1690"/>
                  <a:ext cx="190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4221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1450" y="1817"/>
                  <a:ext cx="190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44222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1451" y="1944"/>
                  <a:ext cx="190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</p:grpSp>
          <p:grpSp>
            <p:nvGrpSpPr>
              <p:cNvPr id="44208" name="Group 60"/>
              <p:cNvGrpSpPr>
                <a:grpSpLocks/>
              </p:cNvGrpSpPr>
              <p:nvPr/>
            </p:nvGrpSpPr>
            <p:grpSpPr bwMode="auto">
              <a:xfrm>
                <a:off x="2868" y="1194"/>
                <a:ext cx="241" cy="904"/>
                <a:chOff x="2967" y="1374"/>
                <a:chExt cx="241" cy="904"/>
              </a:xfrm>
            </p:grpSpPr>
            <p:grpSp>
              <p:nvGrpSpPr>
                <p:cNvPr id="44209" name="Group 61"/>
                <p:cNvGrpSpPr>
                  <a:grpSpLocks/>
                </p:cNvGrpSpPr>
                <p:nvPr/>
              </p:nvGrpSpPr>
              <p:grpSpPr bwMode="auto">
                <a:xfrm flipH="1">
                  <a:off x="3015" y="1444"/>
                  <a:ext cx="193" cy="745"/>
                  <a:chOff x="1398" y="1443"/>
                  <a:chExt cx="193" cy="745"/>
                </a:xfrm>
              </p:grpSpPr>
              <p:sp>
                <p:nvSpPr>
                  <p:cNvPr id="44215" name="Rectangle 62"/>
                  <p:cNvSpPr>
                    <a:spLocks noChangeArrowheads="1"/>
                  </p:cNvSpPr>
                  <p:nvPr/>
                </p:nvSpPr>
                <p:spPr bwMode="auto">
                  <a:xfrm>
                    <a:off x="1495" y="1443"/>
                    <a:ext cx="96" cy="745"/>
                  </a:xfrm>
                  <a:prstGeom prst="rect">
                    <a:avLst/>
                  </a:prstGeom>
                  <a:solidFill>
                    <a:srgbClr val="FFFF99"/>
                  </a:solidFill>
                  <a:ln w="12700" algn="ctr">
                    <a:solidFill>
                      <a:srgbClr val="FFFF99"/>
                    </a:solidFill>
                    <a:miter lim="800000"/>
                    <a:headEnd/>
                    <a:tailEnd type="none" w="lg" len="lg"/>
                  </a:ln>
                </p:spPr>
                <p:txBody>
                  <a:bodyPr wrap="none" lIns="90000" tIns="82800" rIns="90000" bIns="82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n-U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44216" name="Rectangle 63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1472" y="1737"/>
                    <a:ext cx="25" cy="173"/>
                  </a:xfrm>
                  <a:prstGeom prst="rect">
                    <a:avLst/>
                  </a:prstGeom>
                  <a:solidFill>
                    <a:srgbClr val="FFFF99"/>
                  </a:solidFill>
                  <a:ln w="12700" algn="ctr">
                    <a:solidFill>
                      <a:srgbClr val="FFFF99"/>
                    </a:solidFill>
                    <a:miter lim="800000"/>
                    <a:headEnd/>
                    <a:tailEnd type="none" w="lg" len="lg"/>
                  </a:ln>
                </p:spPr>
                <p:txBody>
                  <a:bodyPr rot="10800000" vert="eaVert" wrap="none" lIns="90000" tIns="82800" rIns="90000" bIns="82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n-U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44210" name="Text Box 64"/>
                <p:cNvSpPr txBox="1">
                  <a:spLocks noChangeArrowheads="1"/>
                </p:cNvSpPr>
                <p:nvPr/>
              </p:nvSpPr>
              <p:spPr bwMode="auto">
                <a:xfrm flipH="1">
                  <a:off x="2967" y="1374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44211" name="Text Box 65"/>
                <p:cNvSpPr txBox="1">
                  <a:spLocks noChangeArrowheads="1"/>
                </p:cNvSpPr>
                <p:nvPr/>
              </p:nvSpPr>
              <p:spPr bwMode="auto">
                <a:xfrm flipH="1">
                  <a:off x="2967" y="1528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44212" name="Text Box 66"/>
                <p:cNvSpPr txBox="1">
                  <a:spLocks noChangeArrowheads="1"/>
                </p:cNvSpPr>
                <p:nvPr/>
              </p:nvSpPr>
              <p:spPr bwMode="auto">
                <a:xfrm flipH="1">
                  <a:off x="2967" y="1691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44213" name="Text Box 67"/>
                <p:cNvSpPr txBox="1">
                  <a:spLocks noChangeArrowheads="1"/>
                </p:cNvSpPr>
                <p:nvPr/>
              </p:nvSpPr>
              <p:spPr bwMode="auto">
                <a:xfrm flipH="1">
                  <a:off x="2967" y="1837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44214" name="Text Box 68"/>
                <p:cNvSpPr txBox="1">
                  <a:spLocks noChangeArrowheads="1"/>
                </p:cNvSpPr>
                <p:nvPr/>
              </p:nvSpPr>
              <p:spPr bwMode="auto">
                <a:xfrm flipH="1">
                  <a:off x="2967" y="2020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</p:grpSp>
      </p:grpSp>
      <p:sp>
        <p:nvSpPr>
          <p:cNvPr id="216" name="Flecha derecha 215"/>
          <p:cNvSpPr/>
          <p:nvPr/>
        </p:nvSpPr>
        <p:spPr bwMode="auto">
          <a:xfrm>
            <a:off x="6729849" y="2863645"/>
            <a:ext cx="281371" cy="668215"/>
          </a:xfrm>
          <a:prstGeom prst="right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118800" rIns="90000" bIns="82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44252" name="Text Box 11"/>
          <p:cNvSpPr txBox="1">
            <a:spLocks noChangeArrowheads="1"/>
          </p:cNvSpPr>
          <p:nvPr/>
        </p:nvSpPr>
        <p:spPr bwMode="auto">
          <a:xfrm>
            <a:off x="1426296" y="5927506"/>
            <a:ext cx="8691350" cy="905881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Se mantiene cierta Q en placas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para generar un </a:t>
            </a:r>
            <a:r>
              <a:rPr lang="es-ES" sz="2400" b="1" dirty="0">
                <a:latin typeface="Arial" panose="020B0604020202020204" pitchFamily="34" charset="0"/>
              </a:rPr>
              <a:t>E</a:t>
            </a:r>
            <a:r>
              <a:rPr lang="es-ES" sz="2400" dirty="0">
                <a:latin typeface="Arial" panose="020B0604020202020204" pitchFamily="34" charset="0"/>
              </a:rPr>
              <a:t> que 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anule el </a:t>
            </a:r>
            <a:r>
              <a:rPr lang="es-ES" sz="2400" b="1" dirty="0">
                <a:latin typeface="Arial" panose="020B0604020202020204" pitchFamily="34" charset="0"/>
              </a:rPr>
              <a:t>E</a:t>
            </a:r>
            <a:r>
              <a:rPr lang="es-ES" sz="2400" baseline="-25000" dirty="0">
                <a:latin typeface="Arial" panose="020B0604020202020204" pitchFamily="34" charset="0"/>
              </a:rPr>
              <a:t>FERROELÉCTRICO</a:t>
            </a:r>
            <a:r>
              <a:rPr lang="es-ES" sz="2400" dirty="0">
                <a:latin typeface="Arial" panose="020B0604020202020204" pitchFamily="34" charset="0"/>
              </a:rPr>
              <a:t> (así </a:t>
            </a:r>
            <a:r>
              <a:rPr lang="es-ES" sz="2400" b="1" dirty="0" err="1">
                <a:latin typeface="Arial" panose="020B0604020202020204" pitchFamily="34" charset="0"/>
              </a:rPr>
              <a:t>E</a:t>
            </a:r>
            <a:r>
              <a:rPr lang="es-ES" sz="2400" baseline="-25000" dirty="0" err="1">
                <a:latin typeface="Arial" panose="020B0604020202020204" pitchFamily="34" charset="0"/>
              </a:rPr>
              <a:t>total</a:t>
            </a:r>
            <a:r>
              <a:rPr lang="es-ES" sz="2400" dirty="0">
                <a:latin typeface="Arial" panose="020B0604020202020204" pitchFamily="34" charset="0"/>
              </a:rPr>
              <a:t> es nulo y V = </a:t>
            </a:r>
            <a:r>
              <a:rPr lang="es-ES" sz="2400" dirty="0" err="1">
                <a:latin typeface="Arial" panose="020B0604020202020204" pitchFamily="34" charset="0"/>
              </a:rPr>
              <a:t>E</a:t>
            </a:r>
            <a:r>
              <a:rPr lang="es-ES" sz="2400" baseline="-25000" dirty="0" err="1">
                <a:latin typeface="Arial" panose="020B0604020202020204" pitchFamily="34" charset="0"/>
              </a:rPr>
              <a:t>total</a:t>
            </a:r>
            <a:r>
              <a:rPr lang="es-ES" sz="2400" dirty="0">
                <a:latin typeface="Arial" panose="020B0604020202020204" pitchFamily="34" charset="0"/>
              </a:rPr>
              <a:t> d = 0)</a:t>
            </a:r>
          </a:p>
        </p:txBody>
      </p:sp>
      <p:sp>
        <p:nvSpPr>
          <p:cNvPr id="2" name="Flecha derecha 215">
            <a:extLst>
              <a:ext uri="{FF2B5EF4-FFF2-40B4-BE49-F238E27FC236}">
                <a16:creationId xmlns:a16="http://schemas.microsoft.com/office/drawing/2014/main" id="{7A9DFEB5-D0DD-126B-D024-EA844F68B77C}"/>
              </a:ext>
            </a:extLst>
          </p:cNvPr>
          <p:cNvSpPr/>
          <p:nvPr/>
        </p:nvSpPr>
        <p:spPr bwMode="auto">
          <a:xfrm>
            <a:off x="2928121" y="2856946"/>
            <a:ext cx="281371" cy="668215"/>
          </a:xfrm>
          <a:prstGeom prst="right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118800" rIns="90000" bIns="82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" name="Flecha derecha 216">
            <a:extLst>
              <a:ext uri="{FF2B5EF4-FFF2-40B4-BE49-F238E27FC236}">
                <a16:creationId xmlns:a16="http://schemas.microsoft.com/office/drawing/2014/main" id="{455364B8-920F-33B3-9133-84A4A0D0F88D}"/>
              </a:ext>
            </a:extLst>
          </p:cNvPr>
          <p:cNvSpPr/>
          <p:nvPr/>
        </p:nvSpPr>
        <p:spPr bwMode="auto">
          <a:xfrm>
            <a:off x="2931934" y="4586070"/>
            <a:ext cx="281371" cy="668215"/>
          </a:xfrm>
          <a:prstGeom prst="right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118800" rIns="90000" bIns="82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043176-0E8E-8C2B-6011-87E9FC0A8DED}"/>
              </a:ext>
            </a:extLst>
          </p:cNvPr>
          <p:cNvCxnSpPr/>
          <p:nvPr/>
        </p:nvCxnSpPr>
        <p:spPr bwMode="auto">
          <a:xfrm>
            <a:off x="6245480" y="2542384"/>
            <a:ext cx="0" cy="2996295"/>
          </a:xfrm>
          <a:prstGeom prst="lin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sp>
        <p:nvSpPr>
          <p:cNvPr id="8" name="Flecha derecha 215">
            <a:extLst>
              <a:ext uri="{FF2B5EF4-FFF2-40B4-BE49-F238E27FC236}">
                <a16:creationId xmlns:a16="http://schemas.microsoft.com/office/drawing/2014/main" id="{6BB49FA3-4E29-24A6-6F94-19C04A61495B}"/>
              </a:ext>
            </a:extLst>
          </p:cNvPr>
          <p:cNvSpPr/>
          <p:nvPr/>
        </p:nvSpPr>
        <p:spPr bwMode="auto">
          <a:xfrm>
            <a:off x="6723184" y="4632386"/>
            <a:ext cx="281371" cy="668215"/>
          </a:xfrm>
          <a:prstGeom prst="right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118800" rIns="90000" bIns="82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4135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505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505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4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4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4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4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4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44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44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44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98" grpId="0"/>
      <p:bldP spid="44144" grpId="0"/>
      <p:bldP spid="44050" grpId="0"/>
      <p:bldP spid="222" grpId="0" animBg="1"/>
      <p:bldP spid="280" grpId="0"/>
      <p:bldP spid="450574" grpId="0" animBg="1"/>
      <p:bldP spid="44202" grpId="0" animBg="1"/>
      <p:bldP spid="44148" grpId="0" animBg="1"/>
      <p:bldP spid="216" grpId="0" animBg="1"/>
      <p:bldP spid="44252" grpId="0" animBg="1"/>
      <p:bldP spid="2" grpId="0" animBg="1"/>
      <p:bldP spid="3" grpId="0" animBg="1"/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4" name="Text Box 14"/>
          <p:cNvSpPr txBox="1">
            <a:spLocks noChangeArrowheads="1"/>
          </p:cNvSpPr>
          <p:nvPr/>
        </p:nvSpPr>
        <p:spPr bwMode="auto">
          <a:xfrm>
            <a:off x="1345670" y="819075"/>
            <a:ext cx="2133948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LECTURA</a:t>
            </a:r>
          </a:p>
        </p:txBody>
      </p:sp>
      <p:sp>
        <p:nvSpPr>
          <p:cNvPr id="44202" name="Text Box 19"/>
          <p:cNvSpPr txBox="1">
            <a:spLocks noChangeArrowheads="1"/>
          </p:cNvSpPr>
          <p:nvPr/>
        </p:nvSpPr>
        <p:spPr bwMode="auto">
          <a:xfrm>
            <a:off x="1338495" y="1703113"/>
            <a:ext cx="455613" cy="13986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 anchorCtr="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3200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4148" name="Text Box 74"/>
          <p:cNvSpPr txBox="1">
            <a:spLocks noChangeArrowheads="1"/>
          </p:cNvSpPr>
          <p:nvPr/>
        </p:nvSpPr>
        <p:spPr bwMode="auto">
          <a:xfrm>
            <a:off x="1338859" y="4608122"/>
            <a:ext cx="455613" cy="153847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 anchorCtr="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32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14" name="Text Box 11">
            <a:extLst>
              <a:ext uri="{FF2B5EF4-FFF2-40B4-BE49-F238E27FC236}">
                <a16:creationId xmlns:a16="http://schemas.microsoft.com/office/drawing/2014/main" id="{2015B372-0070-4EE9-9098-A8A55B622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1616" y="3284529"/>
            <a:ext cx="1225313" cy="1090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3333FF"/>
                </a:solidFill>
                <a:latin typeface="Arial" panose="020B0604020202020204" pitchFamily="34" charset="0"/>
              </a:rPr>
              <a:t>Aplicar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3333FF"/>
                </a:solidFill>
                <a:latin typeface="Arial" panose="020B0604020202020204" pitchFamily="34" charset="0"/>
              </a:rPr>
              <a:t>V </a:t>
            </a:r>
            <a:r>
              <a:rPr lang="es-ES" sz="2400" b="1" dirty="0">
                <a:solidFill>
                  <a:srgbClr val="3333FF"/>
                </a:solidFill>
                <a:latin typeface="Arial" panose="020B0604020202020204" pitchFamily="34" charset="0"/>
              </a:rPr>
              <a:t>&gt; 0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15" name="Text Box 8">
            <a:extLst>
              <a:ext uri="{FF2B5EF4-FFF2-40B4-BE49-F238E27FC236}">
                <a16:creationId xmlns:a16="http://schemas.microsoft.com/office/drawing/2014/main" id="{58C77244-583B-467E-A611-DADC37BD1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0725" y="1730288"/>
            <a:ext cx="3845117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La corriente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de carga</a:t>
            </a:r>
          </a:p>
          <a:p>
            <a:pPr algn="ctr"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es menor (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5 – 3 = 2)</a:t>
            </a:r>
          </a:p>
        </p:txBody>
      </p:sp>
      <p:sp>
        <p:nvSpPr>
          <p:cNvPr id="218" name="Text Box 9">
            <a:extLst>
              <a:ext uri="{FF2B5EF4-FFF2-40B4-BE49-F238E27FC236}">
                <a16:creationId xmlns:a16="http://schemas.microsoft.com/office/drawing/2014/main" id="{DAEFB325-7462-4E34-AE10-0FB1539F5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7790" y="5128447"/>
            <a:ext cx="3971149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La corriente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de carga</a:t>
            </a:r>
          </a:p>
          <a:p>
            <a:pPr algn="ctr"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es mayor (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5 – (–3) = 8)</a:t>
            </a:r>
          </a:p>
        </p:txBody>
      </p:sp>
      <p:grpSp>
        <p:nvGrpSpPr>
          <p:cNvPr id="219" name="Group 227">
            <a:extLst>
              <a:ext uri="{FF2B5EF4-FFF2-40B4-BE49-F238E27FC236}">
                <a16:creationId xmlns:a16="http://schemas.microsoft.com/office/drawing/2014/main" id="{41BEF0ED-A008-444A-8E97-7D2261B325D9}"/>
              </a:ext>
            </a:extLst>
          </p:cNvPr>
          <p:cNvGrpSpPr>
            <a:grpSpLocks/>
          </p:cNvGrpSpPr>
          <p:nvPr/>
        </p:nvGrpSpPr>
        <p:grpSpPr bwMode="auto">
          <a:xfrm>
            <a:off x="7403279" y="3147286"/>
            <a:ext cx="2873375" cy="1436688"/>
            <a:chOff x="1299" y="1193"/>
            <a:chExt cx="1810" cy="905"/>
          </a:xfrm>
        </p:grpSpPr>
        <p:grpSp>
          <p:nvGrpSpPr>
            <p:cNvPr id="220" name="Group 228">
              <a:extLst>
                <a:ext uri="{FF2B5EF4-FFF2-40B4-BE49-F238E27FC236}">
                  <a16:creationId xmlns:a16="http://schemas.microsoft.com/office/drawing/2014/main" id="{B576E276-0709-4097-9BAD-AAF76B5946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52" y="1264"/>
              <a:ext cx="1342" cy="258"/>
              <a:chOff x="1651" y="1444"/>
              <a:chExt cx="1342" cy="258"/>
            </a:xfrm>
          </p:grpSpPr>
          <p:sp>
            <p:nvSpPr>
              <p:cNvPr id="260" name="Oval 229">
                <a:extLst>
                  <a:ext uri="{FF2B5EF4-FFF2-40B4-BE49-F238E27FC236}">
                    <a16:creationId xmlns:a16="http://schemas.microsoft.com/office/drawing/2014/main" id="{6AF76594-3E63-4C4F-8087-2B8061C643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" y="1478"/>
                <a:ext cx="380" cy="190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lIns="90000" tIns="82800" rIns="90000" bIns="82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61" name="Text Box 230">
                <a:extLst>
                  <a:ext uri="{FF2B5EF4-FFF2-40B4-BE49-F238E27FC236}">
                    <a16:creationId xmlns:a16="http://schemas.microsoft.com/office/drawing/2014/main" id="{3D3FE7E9-AE9E-45C0-9E58-63B705FADB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30" y="1444"/>
                <a:ext cx="189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262" name="Text Box 231">
                <a:extLst>
                  <a:ext uri="{FF2B5EF4-FFF2-40B4-BE49-F238E27FC236}">
                    <a16:creationId xmlns:a16="http://schemas.microsoft.com/office/drawing/2014/main" id="{F8BD0F98-3E48-4506-9C8C-5CBB4D200A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3" y="1444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263" name="Oval 232">
                <a:extLst>
                  <a:ext uri="{FF2B5EF4-FFF2-40B4-BE49-F238E27FC236}">
                    <a16:creationId xmlns:a16="http://schemas.microsoft.com/office/drawing/2014/main" id="{C8FB149B-C93D-4E89-9C0F-47E056329F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74" y="1478"/>
                <a:ext cx="380" cy="190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lIns="90000" tIns="82800" rIns="90000" bIns="82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64" name="Text Box 233">
                <a:extLst>
                  <a:ext uri="{FF2B5EF4-FFF2-40B4-BE49-F238E27FC236}">
                    <a16:creationId xmlns:a16="http://schemas.microsoft.com/office/drawing/2014/main" id="{19DCF89B-DE35-4F51-AC2D-558C78C0AD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04" y="1445"/>
                <a:ext cx="189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265" name="Text Box 234">
                <a:extLst>
                  <a:ext uri="{FF2B5EF4-FFF2-40B4-BE49-F238E27FC236}">
                    <a16:creationId xmlns:a16="http://schemas.microsoft.com/office/drawing/2014/main" id="{32299D7F-5E84-487C-884C-79E17D0549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76" y="1444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266" name="Oval 235">
                <a:extLst>
                  <a:ext uri="{FF2B5EF4-FFF2-40B4-BE49-F238E27FC236}">
                    <a16:creationId xmlns:a16="http://schemas.microsoft.com/office/drawing/2014/main" id="{4CA2EDD5-FB88-4A6C-8FEF-6A22F28AA8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1" y="1478"/>
                <a:ext cx="381" cy="190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lIns="90000" tIns="82800" rIns="90000" bIns="82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67" name="Text Box 236">
                <a:extLst>
                  <a:ext uri="{FF2B5EF4-FFF2-40B4-BE49-F238E27FC236}">
                    <a16:creationId xmlns:a16="http://schemas.microsoft.com/office/drawing/2014/main" id="{470C6DF5-32EE-449E-A28D-888A5BAB25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1" y="1445"/>
                <a:ext cx="190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268" name="Text Box 237">
                <a:extLst>
                  <a:ext uri="{FF2B5EF4-FFF2-40B4-BE49-F238E27FC236}">
                    <a16:creationId xmlns:a16="http://schemas.microsoft.com/office/drawing/2014/main" id="{502B867C-5ABC-430A-8997-67D68A9E76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3" y="1444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221" name="Group 238">
              <a:extLst>
                <a:ext uri="{FF2B5EF4-FFF2-40B4-BE49-F238E27FC236}">
                  <a16:creationId xmlns:a16="http://schemas.microsoft.com/office/drawing/2014/main" id="{673F20A0-062C-4994-8D9A-F5B02C1398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53" y="1517"/>
              <a:ext cx="1342" cy="258"/>
              <a:chOff x="1651" y="1444"/>
              <a:chExt cx="1342" cy="258"/>
            </a:xfrm>
          </p:grpSpPr>
          <p:sp>
            <p:nvSpPr>
              <p:cNvPr id="251" name="Oval 239">
                <a:extLst>
                  <a:ext uri="{FF2B5EF4-FFF2-40B4-BE49-F238E27FC236}">
                    <a16:creationId xmlns:a16="http://schemas.microsoft.com/office/drawing/2014/main" id="{C694C93E-8A81-41BE-BEA6-507CD5E28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" y="1478"/>
                <a:ext cx="380" cy="190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lIns="90000" tIns="82800" rIns="90000" bIns="82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2" name="Text Box 240">
                <a:extLst>
                  <a:ext uri="{FF2B5EF4-FFF2-40B4-BE49-F238E27FC236}">
                    <a16:creationId xmlns:a16="http://schemas.microsoft.com/office/drawing/2014/main" id="{E0AE915E-A161-4B31-8C17-4CEA309294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30" y="1444"/>
                <a:ext cx="189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253" name="Text Box 241">
                <a:extLst>
                  <a:ext uri="{FF2B5EF4-FFF2-40B4-BE49-F238E27FC236}">
                    <a16:creationId xmlns:a16="http://schemas.microsoft.com/office/drawing/2014/main" id="{BC917E9B-ABA5-4832-A499-69508EB8AF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3" y="1444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254" name="Oval 242">
                <a:extLst>
                  <a:ext uri="{FF2B5EF4-FFF2-40B4-BE49-F238E27FC236}">
                    <a16:creationId xmlns:a16="http://schemas.microsoft.com/office/drawing/2014/main" id="{A006FEE5-B449-4F7E-9731-DF4F9F808E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74" y="1478"/>
                <a:ext cx="380" cy="190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lIns="90000" tIns="82800" rIns="90000" bIns="82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5" name="Text Box 243">
                <a:extLst>
                  <a:ext uri="{FF2B5EF4-FFF2-40B4-BE49-F238E27FC236}">
                    <a16:creationId xmlns:a16="http://schemas.microsoft.com/office/drawing/2014/main" id="{6BE1AC5F-76A3-4F43-BD4B-33BA704118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04" y="1445"/>
                <a:ext cx="189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256" name="Text Box 244">
                <a:extLst>
                  <a:ext uri="{FF2B5EF4-FFF2-40B4-BE49-F238E27FC236}">
                    <a16:creationId xmlns:a16="http://schemas.microsoft.com/office/drawing/2014/main" id="{89829AEF-B3E0-4236-88ED-B26081AD99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76" y="1444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257" name="Oval 245">
                <a:extLst>
                  <a:ext uri="{FF2B5EF4-FFF2-40B4-BE49-F238E27FC236}">
                    <a16:creationId xmlns:a16="http://schemas.microsoft.com/office/drawing/2014/main" id="{2D17D19C-B2E7-484A-974C-E05C9C31B5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1" y="1478"/>
                <a:ext cx="381" cy="190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lIns="90000" tIns="82800" rIns="90000" bIns="82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8" name="Text Box 246">
                <a:extLst>
                  <a:ext uri="{FF2B5EF4-FFF2-40B4-BE49-F238E27FC236}">
                    <a16:creationId xmlns:a16="http://schemas.microsoft.com/office/drawing/2014/main" id="{9EA1503B-8462-49A9-A9C1-638FC2B5B5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1" y="1445"/>
                <a:ext cx="190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259" name="Text Box 247">
                <a:extLst>
                  <a:ext uri="{FF2B5EF4-FFF2-40B4-BE49-F238E27FC236}">
                    <a16:creationId xmlns:a16="http://schemas.microsoft.com/office/drawing/2014/main" id="{F3E6C961-2111-460D-8F18-5FE1A9B622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3" y="1444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223" name="Group 248">
              <a:extLst>
                <a:ext uri="{FF2B5EF4-FFF2-40B4-BE49-F238E27FC236}">
                  <a16:creationId xmlns:a16="http://schemas.microsoft.com/office/drawing/2014/main" id="{5B36355F-FFEB-44AB-B98C-32CD045824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770"/>
              <a:ext cx="1342" cy="258"/>
              <a:chOff x="1651" y="1444"/>
              <a:chExt cx="1342" cy="258"/>
            </a:xfrm>
          </p:grpSpPr>
          <p:sp>
            <p:nvSpPr>
              <p:cNvPr id="242" name="Oval 249">
                <a:extLst>
                  <a:ext uri="{FF2B5EF4-FFF2-40B4-BE49-F238E27FC236}">
                    <a16:creationId xmlns:a16="http://schemas.microsoft.com/office/drawing/2014/main" id="{87AC6965-5B0B-4074-9A05-4EDBA26D1F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1" y="1478"/>
                <a:ext cx="380" cy="190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lIns="90000" tIns="82800" rIns="90000" bIns="82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3" name="Text Box 250">
                <a:extLst>
                  <a:ext uri="{FF2B5EF4-FFF2-40B4-BE49-F238E27FC236}">
                    <a16:creationId xmlns:a16="http://schemas.microsoft.com/office/drawing/2014/main" id="{1D1D0E47-B49F-4352-A688-C1D4CED70F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30" y="1444"/>
                <a:ext cx="189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244" name="Text Box 251">
                <a:extLst>
                  <a:ext uri="{FF2B5EF4-FFF2-40B4-BE49-F238E27FC236}">
                    <a16:creationId xmlns:a16="http://schemas.microsoft.com/office/drawing/2014/main" id="{788BCFF1-04EB-46C3-BCE2-E0A975BAA5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3" y="1444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245" name="Oval 252">
                <a:extLst>
                  <a:ext uri="{FF2B5EF4-FFF2-40B4-BE49-F238E27FC236}">
                    <a16:creationId xmlns:a16="http://schemas.microsoft.com/office/drawing/2014/main" id="{49B3AE04-97EB-4A05-986D-6139E06653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74" y="1478"/>
                <a:ext cx="380" cy="190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lIns="90000" tIns="82800" rIns="90000" bIns="82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6" name="Text Box 253">
                <a:extLst>
                  <a:ext uri="{FF2B5EF4-FFF2-40B4-BE49-F238E27FC236}">
                    <a16:creationId xmlns:a16="http://schemas.microsoft.com/office/drawing/2014/main" id="{8DA15A0D-C81A-40E8-B262-594E5B0D68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04" y="1445"/>
                <a:ext cx="189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247" name="Text Box 254">
                <a:extLst>
                  <a:ext uri="{FF2B5EF4-FFF2-40B4-BE49-F238E27FC236}">
                    <a16:creationId xmlns:a16="http://schemas.microsoft.com/office/drawing/2014/main" id="{A9D5FB96-19A9-4007-A2D5-D338CAFE2D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76" y="1444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248" name="Oval 255">
                <a:extLst>
                  <a:ext uri="{FF2B5EF4-FFF2-40B4-BE49-F238E27FC236}">
                    <a16:creationId xmlns:a16="http://schemas.microsoft.com/office/drawing/2014/main" id="{EBC6F008-EA83-4120-AB13-3F433A15F5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1" y="1478"/>
                <a:ext cx="381" cy="190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lIns="90000" tIns="82800" rIns="90000" bIns="82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9" name="Text Box 256">
                <a:extLst>
                  <a:ext uri="{FF2B5EF4-FFF2-40B4-BE49-F238E27FC236}">
                    <a16:creationId xmlns:a16="http://schemas.microsoft.com/office/drawing/2014/main" id="{A41F4070-811D-4CE5-A38C-76F9832BC3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1" y="1445"/>
                <a:ext cx="190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250" name="Text Box 257">
                <a:extLst>
                  <a:ext uri="{FF2B5EF4-FFF2-40B4-BE49-F238E27FC236}">
                    <a16:creationId xmlns:a16="http://schemas.microsoft.com/office/drawing/2014/main" id="{0B83D930-A531-45B6-A5F5-28105FC3D3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3" y="1444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224" name="Group 258">
              <a:extLst>
                <a:ext uri="{FF2B5EF4-FFF2-40B4-BE49-F238E27FC236}">
                  <a16:creationId xmlns:a16="http://schemas.microsoft.com/office/drawing/2014/main" id="{BEED8192-44E2-4E21-BC3F-A5D90E5ABA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9" y="1193"/>
              <a:ext cx="243" cy="828"/>
              <a:chOff x="1398" y="1373"/>
              <a:chExt cx="243" cy="828"/>
            </a:xfrm>
          </p:grpSpPr>
          <p:grpSp>
            <p:nvGrpSpPr>
              <p:cNvPr id="234" name="Group 259">
                <a:extLst>
                  <a:ext uri="{FF2B5EF4-FFF2-40B4-BE49-F238E27FC236}">
                    <a16:creationId xmlns:a16="http://schemas.microsoft.com/office/drawing/2014/main" id="{37956C41-2600-43CA-8422-62606AFB06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8" y="1443"/>
                <a:ext cx="193" cy="745"/>
                <a:chOff x="1398" y="1443"/>
                <a:chExt cx="193" cy="745"/>
              </a:xfrm>
            </p:grpSpPr>
            <p:sp>
              <p:nvSpPr>
                <p:cNvPr id="240" name="Rectangle 260">
                  <a:extLst>
                    <a:ext uri="{FF2B5EF4-FFF2-40B4-BE49-F238E27FC236}">
                      <a16:creationId xmlns:a16="http://schemas.microsoft.com/office/drawing/2014/main" id="{D8D74232-BB6E-41E8-B622-597B9D0537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95" y="1443"/>
                  <a:ext cx="96" cy="745"/>
                </a:xfrm>
                <a:prstGeom prst="rect">
                  <a:avLst/>
                </a:prstGeom>
                <a:solidFill>
                  <a:srgbClr val="FFFF99"/>
                </a:solidFill>
                <a:ln w="12700" algn="ctr">
                  <a:solidFill>
                    <a:srgbClr val="FFFF99"/>
                  </a:solidFill>
                  <a:miter lim="800000"/>
                  <a:headEnd/>
                  <a:tailEnd type="none" w="lg" len="lg"/>
                </a:ln>
              </p:spPr>
              <p:txBody>
                <a:bodyPr lIns="90000" tIns="82800" rIns="90000" bIns="82800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41" name="Rectangle 261">
                  <a:extLst>
                    <a:ext uri="{FF2B5EF4-FFF2-40B4-BE49-F238E27FC236}">
                      <a16:creationId xmlns:a16="http://schemas.microsoft.com/office/drawing/2014/main" id="{A62FD046-2040-44A3-BBA2-52517A2257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1472" y="1737"/>
                  <a:ext cx="25" cy="173"/>
                </a:xfrm>
                <a:prstGeom prst="rect">
                  <a:avLst/>
                </a:prstGeom>
                <a:solidFill>
                  <a:srgbClr val="FFFF99"/>
                </a:solidFill>
                <a:ln w="12700" algn="ctr">
                  <a:solidFill>
                    <a:srgbClr val="FFFF99"/>
                  </a:solidFill>
                  <a:miter lim="800000"/>
                  <a:headEnd/>
                  <a:tailEnd type="none" w="lg" len="lg"/>
                </a:ln>
              </p:spPr>
              <p:txBody>
                <a:bodyPr lIns="90000" tIns="82800" rIns="90000" bIns="82800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35" name="Text Box 262">
                <a:extLst>
                  <a:ext uri="{FF2B5EF4-FFF2-40B4-BE49-F238E27FC236}">
                    <a16:creationId xmlns:a16="http://schemas.microsoft.com/office/drawing/2014/main" id="{DDBFE711-8786-48CD-B2FD-CEBAA252BC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7" y="1373"/>
                <a:ext cx="190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236" name="Text Box 263">
                <a:extLst>
                  <a:ext uri="{FF2B5EF4-FFF2-40B4-BE49-F238E27FC236}">
                    <a16:creationId xmlns:a16="http://schemas.microsoft.com/office/drawing/2014/main" id="{B6E47896-9761-4011-BCE5-4943EB5EE6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8" y="1527"/>
                <a:ext cx="190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237" name="Text Box 264">
                <a:extLst>
                  <a:ext uri="{FF2B5EF4-FFF2-40B4-BE49-F238E27FC236}">
                    <a16:creationId xmlns:a16="http://schemas.microsoft.com/office/drawing/2014/main" id="{31F6FD0D-F4C0-4683-88A8-1D9065470B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9" y="1690"/>
                <a:ext cx="190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238" name="Text Box 265">
                <a:extLst>
                  <a:ext uri="{FF2B5EF4-FFF2-40B4-BE49-F238E27FC236}">
                    <a16:creationId xmlns:a16="http://schemas.microsoft.com/office/drawing/2014/main" id="{94514BCB-06D4-4E1A-93D8-E7404BCAB9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50" y="1817"/>
                <a:ext cx="190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239" name="Text Box 266">
                <a:extLst>
                  <a:ext uri="{FF2B5EF4-FFF2-40B4-BE49-F238E27FC236}">
                    <a16:creationId xmlns:a16="http://schemas.microsoft.com/office/drawing/2014/main" id="{C4BD9B6D-E91C-4C8C-8C10-650B9999BA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51" y="1944"/>
                <a:ext cx="190" cy="2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</p:grpSp>
        <p:grpSp>
          <p:nvGrpSpPr>
            <p:cNvPr id="225" name="Group 267">
              <a:extLst>
                <a:ext uri="{FF2B5EF4-FFF2-40B4-BE49-F238E27FC236}">
                  <a16:creationId xmlns:a16="http://schemas.microsoft.com/office/drawing/2014/main" id="{86D9DE35-ED45-448A-87A3-F8EFB6B20C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8" y="1194"/>
              <a:ext cx="241" cy="904"/>
              <a:chOff x="2967" y="1374"/>
              <a:chExt cx="241" cy="904"/>
            </a:xfrm>
          </p:grpSpPr>
          <p:grpSp>
            <p:nvGrpSpPr>
              <p:cNvPr id="226" name="Group 268">
                <a:extLst>
                  <a:ext uri="{FF2B5EF4-FFF2-40B4-BE49-F238E27FC236}">
                    <a16:creationId xmlns:a16="http://schemas.microsoft.com/office/drawing/2014/main" id="{5C0B667F-CA8C-47DC-B213-3C22F113F6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3015" y="1444"/>
                <a:ext cx="193" cy="745"/>
                <a:chOff x="1398" y="1443"/>
                <a:chExt cx="193" cy="745"/>
              </a:xfrm>
            </p:grpSpPr>
            <p:sp>
              <p:nvSpPr>
                <p:cNvPr id="232" name="Rectangle 269">
                  <a:extLst>
                    <a:ext uri="{FF2B5EF4-FFF2-40B4-BE49-F238E27FC236}">
                      <a16:creationId xmlns:a16="http://schemas.microsoft.com/office/drawing/2014/main" id="{7685300D-C1F3-44FC-BDBF-6B19717355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95" y="1443"/>
                  <a:ext cx="96" cy="745"/>
                </a:xfrm>
                <a:prstGeom prst="rect">
                  <a:avLst/>
                </a:prstGeom>
                <a:solidFill>
                  <a:srgbClr val="FFFF99"/>
                </a:solidFill>
                <a:ln w="12700" algn="ctr">
                  <a:solidFill>
                    <a:srgbClr val="FFFF99"/>
                  </a:solidFill>
                  <a:miter lim="800000"/>
                  <a:headEnd/>
                  <a:tailEnd type="none" w="lg" len="lg"/>
                </a:ln>
              </p:spPr>
              <p:txBody>
                <a:bodyPr lIns="90000" tIns="82800" rIns="90000" bIns="82800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33" name="Rectangle 270">
                  <a:extLst>
                    <a:ext uri="{FF2B5EF4-FFF2-40B4-BE49-F238E27FC236}">
                      <a16:creationId xmlns:a16="http://schemas.microsoft.com/office/drawing/2014/main" id="{5A851744-45F1-441B-9E36-E5502C53A1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1472" y="1737"/>
                  <a:ext cx="25" cy="173"/>
                </a:xfrm>
                <a:prstGeom prst="rect">
                  <a:avLst/>
                </a:prstGeom>
                <a:solidFill>
                  <a:srgbClr val="FFFF99"/>
                </a:solidFill>
                <a:ln w="12700" algn="ctr">
                  <a:solidFill>
                    <a:srgbClr val="FFFF99"/>
                  </a:solidFill>
                  <a:miter lim="800000"/>
                  <a:headEnd/>
                  <a:tailEnd type="none" w="lg" len="lg"/>
                </a:ln>
              </p:spPr>
              <p:txBody>
                <a:bodyPr lIns="90000" tIns="82800" rIns="90000" bIns="82800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27" name="Text Box 271">
                <a:extLst>
                  <a:ext uri="{FF2B5EF4-FFF2-40B4-BE49-F238E27FC236}">
                    <a16:creationId xmlns:a16="http://schemas.microsoft.com/office/drawing/2014/main" id="{14943568-1841-4E01-B071-FDF2B54014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2967" y="1374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228" name="Text Box 272">
                <a:extLst>
                  <a:ext uri="{FF2B5EF4-FFF2-40B4-BE49-F238E27FC236}">
                    <a16:creationId xmlns:a16="http://schemas.microsoft.com/office/drawing/2014/main" id="{F8005ADC-7198-4876-8911-86F1F7DB59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2967" y="1528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229" name="Text Box 273">
                <a:extLst>
                  <a:ext uri="{FF2B5EF4-FFF2-40B4-BE49-F238E27FC236}">
                    <a16:creationId xmlns:a16="http://schemas.microsoft.com/office/drawing/2014/main" id="{51B7366B-CE77-4229-9952-819907A078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2967" y="1691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230" name="Text Box 274">
                <a:extLst>
                  <a:ext uri="{FF2B5EF4-FFF2-40B4-BE49-F238E27FC236}">
                    <a16:creationId xmlns:a16="http://schemas.microsoft.com/office/drawing/2014/main" id="{AF2451C9-0D5B-4C00-9E6C-4FB9CB23DC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2967" y="1837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231" name="Text Box 275">
                <a:extLst>
                  <a:ext uri="{FF2B5EF4-FFF2-40B4-BE49-F238E27FC236}">
                    <a16:creationId xmlns:a16="http://schemas.microsoft.com/office/drawing/2014/main" id="{0A67C9C1-8A5F-4252-97D7-CF3391D9AF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2967" y="2020"/>
                <a:ext cx="157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</p:grpSp>
      <p:grpSp>
        <p:nvGrpSpPr>
          <p:cNvPr id="269" name="Group 124">
            <a:extLst>
              <a:ext uri="{FF2B5EF4-FFF2-40B4-BE49-F238E27FC236}">
                <a16:creationId xmlns:a16="http://schemas.microsoft.com/office/drawing/2014/main" id="{64EC285D-01B4-4D79-875E-7877EF2ECC5E}"/>
              </a:ext>
            </a:extLst>
          </p:cNvPr>
          <p:cNvGrpSpPr>
            <a:grpSpLocks/>
          </p:cNvGrpSpPr>
          <p:nvPr/>
        </p:nvGrpSpPr>
        <p:grpSpPr bwMode="auto">
          <a:xfrm>
            <a:off x="1915168" y="1778822"/>
            <a:ext cx="3876679" cy="1236662"/>
            <a:chOff x="659" y="2395"/>
            <a:chExt cx="2442" cy="779"/>
          </a:xfrm>
        </p:grpSpPr>
        <p:grpSp>
          <p:nvGrpSpPr>
            <p:cNvPr id="270" name="Group 125">
              <a:extLst>
                <a:ext uri="{FF2B5EF4-FFF2-40B4-BE49-F238E27FC236}">
                  <a16:creationId xmlns:a16="http://schemas.microsoft.com/office/drawing/2014/main" id="{B7F1407E-9BFB-4AC5-983E-AA35A75C49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82" y="2395"/>
              <a:ext cx="1819" cy="779"/>
              <a:chOff x="1282" y="2258"/>
              <a:chExt cx="1819" cy="779"/>
            </a:xfrm>
          </p:grpSpPr>
          <p:grpSp>
            <p:nvGrpSpPr>
              <p:cNvPr id="272" name="Group 127">
                <a:extLst>
                  <a:ext uri="{FF2B5EF4-FFF2-40B4-BE49-F238E27FC236}">
                    <a16:creationId xmlns:a16="http://schemas.microsoft.com/office/drawing/2014/main" id="{A781A43D-0493-45DD-B920-D5531311C6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44" y="2273"/>
                <a:ext cx="1342" cy="258"/>
                <a:chOff x="1651" y="1444"/>
                <a:chExt cx="1342" cy="258"/>
              </a:xfrm>
            </p:grpSpPr>
            <p:sp>
              <p:nvSpPr>
                <p:cNvPr id="309" name="Oval 128">
                  <a:extLst>
                    <a:ext uri="{FF2B5EF4-FFF2-40B4-BE49-F238E27FC236}">
                      <a16:creationId xmlns:a16="http://schemas.microsoft.com/office/drawing/2014/main" id="{5B050FD8-FAEB-4D25-858B-A7D07817ED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01" y="1478"/>
                  <a:ext cx="380" cy="190"/>
                </a:xfrm>
                <a:prstGeom prst="ellipse">
                  <a:avLst/>
                </a:prstGeom>
                <a:solidFill>
                  <a:srgbClr val="99CC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0" name="Text Box 129">
                  <a:extLst>
                    <a:ext uri="{FF2B5EF4-FFF2-40B4-BE49-F238E27FC236}">
                      <a16:creationId xmlns:a16="http://schemas.microsoft.com/office/drawing/2014/main" id="{23A91B10-C1EF-4CF3-A168-11B82834430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30" y="1444"/>
                  <a:ext cx="189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311" name="Text Box 130">
                  <a:extLst>
                    <a:ext uri="{FF2B5EF4-FFF2-40B4-BE49-F238E27FC236}">
                      <a16:creationId xmlns:a16="http://schemas.microsoft.com/office/drawing/2014/main" id="{E51A8ECA-40F4-4116-92FA-D9DE4D44B8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03" y="1444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312" name="Oval 131">
                  <a:extLst>
                    <a:ext uri="{FF2B5EF4-FFF2-40B4-BE49-F238E27FC236}">
                      <a16:creationId xmlns:a16="http://schemas.microsoft.com/office/drawing/2014/main" id="{DAC11805-564B-4FA2-A8C4-D785A6C7D8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4" y="1478"/>
                  <a:ext cx="380" cy="190"/>
                </a:xfrm>
                <a:prstGeom prst="ellipse">
                  <a:avLst/>
                </a:prstGeom>
                <a:solidFill>
                  <a:srgbClr val="99CC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3" name="Text Box 132">
                  <a:extLst>
                    <a:ext uri="{FF2B5EF4-FFF2-40B4-BE49-F238E27FC236}">
                      <a16:creationId xmlns:a16="http://schemas.microsoft.com/office/drawing/2014/main" id="{28562B75-FF5D-4FA0-8AC5-1C5F0515A5D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04" y="1445"/>
                  <a:ext cx="189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314" name="Text Box 133">
                  <a:extLst>
                    <a:ext uri="{FF2B5EF4-FFF2-40B4-BE49-F238E27FC236}">
                      <a16:creationId xmlns:a16="http://schemas.microsoft.com/office/drawing/2014/main" id="{940C8B5C-5726-4C18-B161-837275883D5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76" y="1444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315" name="Oval 134">
                  <a:extLst>
                    <a:ext uri="{FF2B5EF4-FFF2-40B4-BE49-F238E27FC236}">
                      <a16:creationId xmlns:a16="http://schemas.microsoft.com/office/drawing/2014/main" id="{447C13C1-9D22-49B6-929D-6564616426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1" y="1478"/>
                  <a:ext cx="381" cy="190"/>
                </a:xfrm>
                <a:prstGeom prst="ellipse">
                  <a:avLst/>
                </a:prstGeom>
                <a:solidFill>
                  <a:srgbClr val="99CC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6" name="Text Box 135">
                  <a:extLst>
                    <a:ext uri="{FF2B5EF4-FFF2-40B4-BE49-F238E27FC236}">
                      <a16:creationId xmlns:a16="http://schemas.microsoft.com/office/drawing/2014/main" id="{55EE5362-A928-419D-A2AB-D1A05338D4C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81" y="1445"/>
                  <a:ext cx="190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317" name="Text Box 136">
                  <a:extLst>
                    <a:ext uri="{FF2B5EF4-FFF2-40B4-BE49-F238E27FC236}">
                      <a16:creationId xmlns:a16="http://schemas.microsoft.com/office/drawing/2014/main" id="{7EEE148C-4EE9-4E36-AFB9-9460447BD5C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53" y="1444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273" name="Group 137">
                <a:extLst>
                  <a:ext uri="{FF2B5EF4-FFF2-40B4-BE49-F238E27FC236}">
                    <a16:creationId xmlns:a16="http://schemas.microsoft.com/office/drawing/2014/main" id="{F126DE69-4538-46DD-B63E-5C7973FE0E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45" y="2526"/>
                <a:ext cx="1342" cy="258"/>
                <a:chOff x="1651" y="1444"/>
                <a:chExt cx="1342" cy="258"/>
              </a:xfrm>
            </p:grpSpPr>
            <p:sp>
              <p:nvSpPr>
                <p:cNvPr id="300" name="Oval 138">
                  <a:extLst>
                    <a:ext uri="{FF2B5EF4-FFF2-40B4-BE49-F238E27FC236}">
                      <a16:creationId xmlns:a16="http://schemas.microsoft.com/office/drawing/2014/main" id="{364DD8B3-50A2-40F4-A88A-EF997B5C0A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01" y="1478"/>
                  <a:ext cx="380" cy="190"/>
                </a:xfrm>
                <a:prstGeom prst="ellipse">
                  <a:avLst/>
                </a:prstGeom>
                <a:solidFill>
                  <a:srgbClr val="99CC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1" name="Text Box 139">
                  <a:extLst>
                    <a:ext uri="{FF2B5EF4-FFF2-40B4-BE49-F238E27FC236}">
                      <a16:creationId xmlns:a16="http://schemas.microsoft.com/office/drawing/2014/main" id="{11AE6CD4-6937-44FA-A6C7-0F36CEA8BD8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30" y="1444"/>
                  <a:ext cx="189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302" name="Text Box 140">
                  <a:extLst>
                    <a:ext uri="{FF2B5EF4-FFF2-40B4-BE49-F238E27FC236}">
                      <a16:creationId xmlns:a16="http://schemas.microsoft.com/office/drawing/2014/main" id="{38ECFF64-907D-4B1C-9E5A-5707D35E90B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03" y="1444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303" name="Oval 141">
                  <a:extLst>
                    <a:ext uri="{FF2B5EF4-FFF2-40B4-BE49-F238E27FC236}">
                      <a16:creationId xmlns:a16="http://schemas.microsoft.com/office/drawing/2014/main" id="{0C6CB832-F663-4235-B684-18411845B4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4" y="1478"/>
                  <a:ext cx="380" cy="190"/>
                </a:xfrm>
                <a:prstGeom prst="ellipse">
                  <a:avLst/>
                </a:prstGeom>
                <a:solidFill>
                  <a:srgbClr val="99CC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4" name="Text Box 142">
                  <a:extLst>
                    <a:ext uri="{FF2B5EF4-FFF2-40B4-BE49-F238E27FC236}">
                      <a16:creationId xmlns:a16="http://schemas.microsoft.com/office/drawing/2014/main" id="{82C93698-E914-449E-AC43-CC1D16E54AC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04" y="1445"/>
                  <a:ext cx="189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305" name="Text Box 143">
                  <a:extLst>
                    <a:ext uri="{FF2B5EF4-FFF2-40B4-BE49-F238E27FC236}">
                      <a16:creationId xmlns:a16="http://schemas.microsoft.com/office/drawing/2014/main" id="{AC1338B5-335A-43F1-B572-5BC3E11B78C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76" y="1444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306" name="Oval 144">
                  <a:extLst>
                    <a:ext uri="{FF2B5EF4-FFF2-40B4-BE49-F238E27FC236}">
                      <a16:creationId xmlns:a16="http://schemas.microsoft.com/office/drawing/2014/main" id="{BC37349C-64E1-4997-8C74-B5E1127CB7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1" y="1478"/>
                  <a:ext cx="381" cy="190"/>
                </a:xfrm>
                <a:prstGeom prst="ellipse">
                  <a:avLst/>
                </a:prstGeom>
                <a:solidFill>
                  <a:srgbClr val="99CC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7" name="Text Box 145">
                  <a:extLst>
                    <a:ext uri="{FF2B5EF4-FFF2-40B4-BE49-F238E27FC236}">
                      <a16:creationId xmlns:a16="http://schemas.microsoft.com/office/drawing/2014/main" id="{916E7FE5-3AB3-4704-8332-B979EF9F82A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81" y="1445"/>
                  <a:ext cx="190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308" name="Text Box 146">
                  <a:extLst>
                    <a:ext uri="{FF2B5EF4-FFF2-40B4-BE49-F238E27FC236}">
                      <a16:creationId xmlns:a16="http://schemas.microsoft.com/office/drawing/2014/main" id="{078A300D-B80E-4272-8125-5DE86F0F0F4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53" y="1444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274" name="Group 147">
                <a:extLst>
                  <a:ext uri="{FF2B5EF4-FFF2-40B4-BE49-F238E27FC236}">
                    <a16:creationId xmlns:a16="http://schemas.microsoft.com/office/drawing/2014/main" id="{617DD017-A969-4FCB-B9F8-93C71E09E0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8" y="2779"/>
                <a:ext cx="1342" cy="258"/>
                <a:chOff x="1651" y="1444"/>
                <a:chExt cx="1342" cy="258"/>
              </a:xfrm>
            </p:grpSpPr>
            <p:sp>
              <p:nvSpPr>
                <p:cNvPr id="291" name="Oval 148">
                  <a:extLst>
                    <a:ext uri="{FF2B5EF4-FFF2-40B4-BE49-F238E27FC236}">
                      <a16:creationId xmlns:a16="http://schemas.microsoft.com/office/drawing/2014/main" id="{3C79DF2E-EDF1-453F-9CF7-A584F7E5FD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01" y="1478"/>
                  <a:ext cx="380" cy="190"/>
                </a:xfrm>
                <a:prstGeom prst="ellipse">
                  <a:avLst/>
                </a:prstGeom>
                <a:solidFill>
                  <a:srgbClr val="99CC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2" name="Text Box 149">
                  <a:extLst>
                    <a:ext uri="{FF2B5EF4-FFF2-40B4-BE49-F238E27FC236}">
                      <a16:creationId xmlns:a16="http://schemas.microsoft.com/office/drawing/2014/main" id="{B694CF35-19C3-4309-B1A6-2F6046EED74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30" y="1444"/>
                  <a:ext cx="189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293" name="Text Box 150">
                  <a:extLst>
                    <a:ext uri="{FF2B5EF4-FFF2-40B4-BE49-F238E27FC236}">
                      <a16:creationId xmlns:a16="http://schemas.microsoft.com/office/drawing/2014/main" id="{6FDAFE0C-C722-4724-B04A-FCF5371E5B5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03" y="1444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294" name="Oval 151">
                  <a:extLst>
                    <a:ext uri="{FF2B5EF4-FFF2-40B4-BE49-F238E27FC236}">
                      <a16:creationId xmlns:a16="http://schemas.microsoft.com/office/drawing/2014/main" id="{BBAC0B47-7595-42F4-9931-8AFBEFC07F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4" y="1478"/>
                  <a:ext cx="380" cy="190"/>
                </a:xfrm>
                <a:prstGeom prst="ellipse">
                  <a:avLst/>
                </a:prstGeom>
                <a:solidFill>
                  <a:srgbClr val="99CC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5" name="Text Box 152">
                  <a:extLst>
                    <a:ext uri="{FF2B5EF4-FFF2-40B4-BE49-F238E27FC236}">
                      <a16:creationId xmlns:a16="http://schemas.microsoft.com/office/drawing/2014/main" id="{F113D0A2-36EE-41EA-A6B3-4BCECDE4F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04" y="1445"/>
                  <a:ext cx="189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296" name="Text Box 153">
                  <a:extLst>
                    <a:ext uri="{FF2B5EF4-FFF2-40B4-BE49-F238E27FC236}">
                      <a16:creationId xmlns:a16="http://schemas.microsoft.com/office/drawing/2014/main" id="{5AA11530-340B-4A6C-AC5A-5D7382E2925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76" y="1444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297" name="Oval 154">
                  <a:extLst>
                    <a:ext uri="{FF2B5EF4-FFF2-40B4-BE49-F238E27FC236}">
                      <a16:creationId xmlns:a16="http://schemas.microsoft.com/office/drawing/2014/main" id="{376F22D8-12B8-4597-8F8F-94D2CDB5C3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1" y="1478"/>
                  <a:ext cx="381" cy="190"/>
                </a:xfrm>
                <a:prstGeom prst="ellipse">
                  <a:avLst/>
                </a:prstGeom>
                <a:solidFill>
                  <a:srgbClr val="99CC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8" name="Text Box 155">
                  <a:extLst>
                    <a:ext uri="{FF2B5EF4-FFF2-40B4-BE49-F238E27FC236}">
                      <a16:creationId xmlns:a16="http://schemas.microsoft.com/office/drawing/2014/main" id="{8503657A-AC5C-4A9A-9E8C-D63642D2E8C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81" y="1445"/>
                  <a:ext cx="190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299" name="Text Box 156">
                  <a:extLst>
                    <a:ext uri="{FF2B5EF4-FFF2-40B4-BE49-F238E27FC236}">
                      <a16:creationId xmlns:a16="http://schemas.microsoft.com/office/drawing/2014/main" id="{DA9354C4-AA74-4B63-8AF7-23217F87D02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53" y="1444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275" name="Group 157">
                <a:extLst>
                  <a:ext uri="{FF2B5EF4-FFF2-40B4-BE49-F238E27FC236}">
                    <a16:creationId xmlns:a16="http://schemas.microsoft.com/office/drawing/2014/main" id="{BDD4298B-E3AC-4964-A1DA-3E3700B916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82" y="2266"/>
                <a:ext cx="242" cy="766"/>
                <a:chOff x="1282" y="2266"/>
                <a:chExt cx="242" cy="766"/>
              </a:xfrm>
            </p:grpSpPr>
            <p:grpSp>
              <p:nvGrpSpPr>
                <p:cNvPr id="284" name="Group 158">
                  <a:extLst>
                    <a:ext uri="{FF2B5EF4-FFF2-40B4-BE49-F238E27FC236}">
                      <a16:creationId xmlns:a16="http://schemas.microsoft.com/office/drawing/2014/main" id="{F17B92C1-39A3-435C-BEE9-EAF9A0D6973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82" y="2267"/>
                  <a:ext cx="193" cy="745"/>
                  <a:chOff x="1398" y="1443"/>
                  <a:chExt cx="193" cy="745"/>
                </a:xfrm>
              </p:grpSpPr>
              <p:sp>
                <p:nvSpPr>
                  <p:cNvPr id="289" name="Rectangle 159">
                    <a:extLst>
                      <a:ext uri="{FF2B5EF4-FFF2-40B4-BE49-F238E27FC236}">
                        <a16:creationId xmlns:a16="http://schemas.microsoft.com/office/drawing/2014/main" id="{308A2F82-62BB-4C57-9F9B-19337D575E7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5" y="1443"/>
                    <a:ext cx="96" cy="745"/>
                  </a:xfrm>
                  <a:prstGeom prst="rect">
                    <a:avLst/>
                  </a:prstGeom>
                  <a:solidFill>
                    <a:srgbClr val="FFFF99"/>
                  </a:solidFill>
                  <a:ln w="12700" algn="ctr">
                    <a:solidFill>
                      <a:srgbClr val="FFFF99"/>
                    </a:solidFill>
                    <a:miter lim="800000"/>
                    <a:headEnd/>
                    <a:tailEnd type="none" w="lg" len="lg"/>
                  </a:ln>
                </p:spPr>
                <p:txBody>
                  <a:bodyPr wrap="none" lIns="90000" tIns="82800" rIns="90000" bIns="82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n-U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90" name="Rectangle 160">
                    <a:extLst>
                      <a:ext uri="{FF2B5EF4-FFF2-40B4-BE49-F238E27FC236}">
                        <a16:creationId xmlns:a16="http://schemas.microsoft.com/office/drawing/2014/main" id="{A1EE6FED-64D3-4F7B-BE2F-983D4772C86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1472" y="1737"/>
                    <a:ext cx="25" cy="173"/>
                  </a:xfrm>
                  <a:prstGeom prst="rect">
                    <a:avLst/>
                  </a:prstGeom>
                  <a:solidFill>
                    <a:srgbClr val="FFFF99"/>
                  </a:solidFill>
                  <a:ln w="12700" algn="ctr">
                    <a:solidFill>
                      <a:srgbClr val="FFFF99"/>
                    </a:solidFill>
                    <a:miter lim="800000"/>
                    <a:headEnd/>
                    <a:tailEnd type="none" w="lg" len="lg"/>
                  </a:ln>
                </p:spPr>
                <p:txBody>
                  <a:bodyPr vert="eaVert" wrap="none" lIns="90000" tIns="82800" rIns="90000" bIns="82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n-U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85" name="Text Box 161">
                  <a:extLst>
                    <a:ext uri="{FF2B5EF4-FFF2-40B4-BE49-F238E27FC236}">
                      <a16:creationId xmlns:a16="http://schemas.microsoft.com/office/drawing/2014/main" id="{967FCA5F-790E-46B5-95E1-7D89B157E1E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31" y="2266"/>
                  <a:ext cx="190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286" name="Text Box 162">
                  <a:extLst>
                    <a:ext uri="{FF2B5EF4-FFF2-40B4-BE49-F238E27FC236}">
                      <a16:creationId xmlns:a16="http://schemas.microsoft.com/office/drawing/2014/main" id="{E2C75198-BAC7-4B0E-9953-EB0AB197E2E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32" y="2351"/>
                  <a:ext cx="114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1600" b="1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7" name="Text Box 163">
                  <a:extLst>
                    <a:ext uri="{FF2B5EF4-FFF2-40B4-BE49-F238E27FC236}">
                      <a16:creationId xmlns:a16="http://schemas.microsoft.com/office/drawing/2014/main" id="{C5F8C959-B972-404F-9FE3-DE6D511620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33" y="2514"/>
                  <a:ext cx="190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288" name="Text Box 164">
                  <a:extLst>
                    <a:ext uri="{FF2B5EF4-FFF2-40B4-BE49-F238E27FC236}">
                      <a16:creationId xmlns:a16="http://schemas.microsoft.com/office/drawing/2014/main" id="{4AABEBBC-D826-45BC-A856-6B95E2706AB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34" y="2775"/>
                  <a:ext cx="190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</p:grpSp>
          <p:grpSp>
            <p:nvGrpSpPr>
              <p:cNvPr id="276" name="Group 165">
                <a:extLst>
                  <a:ext uri="{FF2B5EF4-FFF2-40B4-BE49-F238E27FC236}">
                    <a16:creationId xmlns:a16="http://schemas.microsoft.com/office/drawing/2014/main" id="{2B5C12ED-3667-48E1-9A43-00ADE8279A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60" y="2258"/>
                <a:ext cx="241" cy="771"/>
                <a:chOff x="2860" y="2258"/>
                <a:chExt cx="241" cy="771"/>
              </a:xfrm>
            </p:grpSpPr>
            <p:grpSp>
              <p:nvGrpSpPr>
                <p:cNvPr id="277" name="Group 166">
                  <a:extLst>
                    <a:ext uri="{FF2B5EF4-FFF2-40B4-BE49-F238E27FC236}">
                      <a16:creationId xmlns:a16="http://schemas.microsoft.com/office/drawing/2014/main" id="{9DDAE76E-1937-43E1-B060-DEB6E68F110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2908" y="2258"/>
                  <a:ext cx="193" cy="745"/>
                  <a:chOff x="1398" y="1443"/>
                  <a:chExt cx="193" cy="745"/>
                </a:xfrm>
              </p:grpSpPr>
              <p:sp>
                <p:nvSpPr>
                  <p:cNvPr id="282" name="Rectangle 167">
                    <a:extLst>
                      <a:ext uri="{FF2B5EF4-FFF2-40B4-BE49-F238E27FC236}">
                        <a16:creationId xmlns:a16="http://schemas.microsoft.com/office/drawing/2014/main" id="{DADEC1B1-5CF2-4969-B852-0764D4FAAE9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5" y="1443"/>
                    <a:ext cx="96" cy="745"/>
                  </a:xfrm>
                  <a:prstGeom prst="rect">
                    <a:avLst/>
                  </a:prstGeom>
                  <a:solidFill>
                    <a:srgbClr val="FFFF99"/>
                  </a:solidFill>
                  <a:ln w="12700" algn="ctr">
                    <a:solidFill>
                      <a:srgbClr val="FFFF99"/>
                    </a:solidFill>
                    <a:miter lim="800000"/>
                    <a:headEnd/>
                    <a:tailEnd type="none" w="lg" len="lg"/>
                  </a:ln>
                </p:spPr>
                <p:txBody>
                  <a:bodyPr wrap="none" lIns="90000" tIns="82800" rIns="90000" bIns="82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n-U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3" name="Rectangle 168">
                    <a:extLst>
                      <a:ext uri="{FF2B5EF4-FFF2-40B4-BE49-F238E27FC236}">
                        <a16:creationId xmlns:a16="http://schemas.microsoft.com/office/drawing/2014/main" id="{8F08316D-53A9-4DD8-B50B-CB90D31145A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1472" y="1737"/>
                    <a:ext cx="25" cy="173"/>
                  </a:xfrm>
                  <a:prstGeom prst="rect">
                    <a:avLst/>
                  </a:prstGeom>
                  <a:solidFill>
                    <a:srgbClr val="FFFF99"/>
                  </a:solidFill>
                  <a:ln w="12700" algn="ctr">
                    <a:solidFill>
                      <a:srgbClr val="FFFF99"/>
                    </a:solidFill>
                    <a:miter lim="800000"/>
                    <a:headEnd/>
                    <a:tailEnd type="none" w="lg" len="lg"/>
                  </a:ln>
                </p:spPr>
                <p:txBody>
                  <a:bodyPr rot="10800000" vert="eaVert" wrap="none" lIns="90000" tIns="82800" rIns="90000" bIns="82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n-U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78" name="Text Box 169">
                  <a:extLst>
                    <a:ext uri="{FF2B5EF4-FFF2-40B4-BE49-F238E27FC236}">
                      <a16:creationId xmlns:a16="http://schemas.microsoft.com/office/drawing/2014/main" id="{928F0725-1DB3-4144-84AF-8BFA26818C1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2860" y="2269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279" name="Text Box 170">
                  <a:extLst>
                    <a:ext uri="{FF2B5EF4-FFF2-40B4-BE49-F238E27FC236}">
                      <a16:creationId xmlns:a16="http://schemas.microsoft.com/office/drawing/2014/main" id="{7124AB2F-1C92-42F4-A988-F860E34BB62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2860" y="2505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281" name="Text Box 171">
                  <a:extLst>
                    <a:ext uri="{FF2B5EF4-FFF2-40B4-BE49-F238E27FC236}">
                      <a16:creationId xmlns:a16="http://schemas.microsoft.com/office/drawing/2014/main" id="{FCEC0357-1DF0-4448-AF2C-54FD488E138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2860" y="2771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</p:grpSp>
        <p:sp>
          <p:nvSpPr>
            <p:cNvPr id="271" name="Text Box 172">
              <a:extLst>
                <a:ext uri="{FF2B5EF4-FFF2-40B4-BE49-F238E27FC236}">
                  <a16:creationId xmlns:a16="http://schemas.microsoft.com/office/drawing/2014/main" id="{7A49F206-4790-459F-BFE5-D34F505CA3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9" y="2623"/>
              <a:ext cx="49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solidFill>
                    <a:srgbClr val="3333FF"/>
                  </a:solidFill>
                  <a:latin typeface="Arial" panose="020B0604020202020204" pitchFamily="34" charset="0"/>
                </a:rPr>
                <a:t>V = 0</a:t>
              </a:r>
            </a:p>
          </p:txBody>
        </p:sp>
      </p:grpSp>
      <p:grpSp>
        <p:nvGrpSpPr>
          <p:cNvPr id="318" name="Group 173">
            <a:extLst>
              <a:ext uri="{FF2B5EF4-FFF2-40B4-BE49-F238E27FC236}">
                <a16:creationId xmlns:a16="http://schemas.microsoft.com/office/drawing/2014/main" id="{59A8EF5B-176F-4AC2-9871-119AA47AD0A5}"/>
              </a:ext>
            </a:extLst>
          </p:cNvPr>
          <p:cNvGrpSpPr>
            <a:grpSpLocks/>
          </p:cNvGrpSpPr>
          <p:nvPr/>
        </p:nvGrpSpPr>
        <p:grpSpPr bwMode="auto">
          <a:xfrm>
            <a:off x="1940061" y="4760538"/>
            <a:ext cx="3835400" cy="1236662"/>
            <a:chOff x="3695" y="2393"/>
            <a:chExt cx="2416" cy="779"/>
          </a:xfrm>
        </p:grpSpPr>
        <p:grpSp>
          <p:nvGrpSpPr>
            <p:cNvPr id="319" name="Group 175">
              <a:extLst>
                <a:ext uri="{FF2B5EF4-FFF2-40B4-BE49-F238E27FC236}">
                  <a16:creationId xmlns:a16="http://schemas.microsoft.com/office/drawing/2014/main" id="{13DEFFA7-8B03-464E-AC6B-6FC572D6A5AE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292" y="2393"/>
              <a:ext cx="1819" cy="779"/>
              <a:chOff x="4364" y="2744"/>
              <a:chExt cx="1819" cy="779"/>
            </a:xfrm>
          </p:grpSpPr>
          <p:grpSp>
            <p:nvGrpSpPr>
              <p:cNvPr id="321" name="Group 176">
                <a:extLst>
                  <a:ext uri="{FF2B5EF4-FFF2-40B4-BE49-F238E27FC236}">
                    <a16:creationId xmlns:a16="http://schemas.microsoft.com/office/drawing/2014/main" id="{899071C7-91D8-495B-81EC-E50BA2D192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26" y="2759"/>
                <a:ext cx="1342" cy="258"/>
                <a:chOff x="1651" y="1444"/>
                <a:chExt cx="1342" cy="258"/>
              </a:xfrm>
            </p:grpSpPr>
            <p:sp>
              <p:nvSpPr>
                <p:cNvPr id="357" name="Oval 177">
                  <a:extLst>
                    <a:ext uri="{FF2B5EF4-FFF2-40B4-BE49-F238E27FC236}">
                      <a16:creationId xmlns:a16="http://schemas.microsoft.com/office/drawing/2014/main" id="{EDF80454-78C9-4681-90CB-B8A770C597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01" y="1478"/>
                  <a:ext cx="380" cy="190"/>
                </a:xfrm>
                <a:prstGeom prst="ellipse">
                  <a:avLst/>
                </a:prstGeom>
                <a:solidFill>
                  <a:srgbClr val="99CC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8" name="Text Box 178">
                  <a:extLst>
                    <a:ext uri="{FF2B5EF4-FFF2-40B4-BE49-F238E27FC236}">
                      <a16:creationId xmlns:a16="http://schemas.microsoft.com/office/drawing/2014/main" id="{A52A22C4-5533-4057-8FA1-10B2BB751AA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30" y="1444"/>
                  <a:ext cx="189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359" name="Text Box 179">
                  <a:extLst>
                    <a:ext uri="{FF2B5EF4-FFF2-40B4-BE49-F238E27FC236}">
                      <a16:creationId xmlns:a16="http://schemas.microsoft.com/office/drawing/2014/main" id="{FA73A715-12E5-4B73-B8C7-C146B29ED01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03" y="1444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360" name="Oval 180">
                  <a:extLst>
                    <a:ext uri="{FF2B5EF4-FFF2-40B4-BE49-F238E27FC236}">
                      <a16:creationId xmlns:a16="http://schemas.microsoft.com/office/drawing/2014/main" id="{54F5BF6D-D0AD-4BFB-885C-DFA8AD59BD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4" y="1478"/>
                  <a:ext cx="380" cy="190"/>
                </a:xfrm>
                <a:prstGeom prst="ellipse">
                  <a:avLst/>
                </a:prstGeom>
                <a:solidFill>
                  <a:srgbClr val="99CC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1" name="Text Box 181">
                  <a:extLst>
                    <a:ext uri="{FF2B5EF4-FFF2-40B4-BE49-F238E27FC236}">
                      <a16:creationId xmlns:a16="http://schemas.microsoft.com/office/drawing/2014/main" id="{A4EF0B5F-B8B8-4080-8F1E-63F4CD98789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04" y="1445"/>
                  <a:ext cx="189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362" name="Text Box 182">
                  <a:extLst>
                    <a:ext uri="{FF2B5EF4-FFF2-40B4-BE49-F238E27FC236}">
                      <a16:creationId xmlns:a16="http://schemas.microsoft.com/office/drawing/2014/main" id="{5C9E8110-8A89-4E54-982D-66E4F19E8B5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76" y="1444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363" name="Oval 183">
                  <a:extLst>
                    <a:ext uri="{FF2B5EF4-FFF2-40B4-BE49-F238E27FC236}">
                      <a16:creationId xmlns:a16="http://schemas.microsoft.com/office/drawing/2014/main" id="{9150F94E-AAC7-409F-8341-2253CC7424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1" y="1478"/>
                  <a:ext cx="381" cy="190"/>
                </a:xfrm>
                <a:prstGeom prst="ellipse">
                  <a:avLst/>
                </a:prstGeom>
                <a:solidFill>
                  <a:srgbClr val="99CC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4" name="Text Box 184">
                  <a:extLst>
                    <a:ext uri="{FF2B5EF4-FFF2-40B4-BE49-F238E27FC236}">
                      <a16:creationId xmlns:a16="http://schemas.microsoft.com/office/drawing/2014/main" id="{2ACC03AC-6DF4-4099-ABCE-D4E983A23BD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81" y="1445"/>
                  <a:ext cx="190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365" name="Text Box 185">
                  <a:extLst>
                    <a:ext uri="{FF2B5EF4-FFF2-40B4-BE49-F238E27FC236}">
                      <a16:creationId xmlns:a16="http://schemas.microsoft.com/office/drawing/2014/main" id="{687A266F-58C5-4DFC-947F-41841EF24BE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53" y="1444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322" name="Group 186">
                <a:extLst>
                  <a:ext uri="{FF2B5EF4-FFF2-40B4-BE49-F238E27FC236}">
                    <a16:creationId xmlns:a16="http://schemas.microsoft.com/office/drawing/2014/main" id="{A26BD8C9-364C-45ED-AD44-A74A94756A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27" y="3012"/>
                <a:ext cx="1342" cy="258"/>
                <a:chOff x="1651" y="1444"/>
                <a:chExt cx="1342" cy="258"/>
              </a:xfrm>
            </p:grpSpPr>
            <p:sp>
              <p:nvSpPr>
                <p:cNvPr id="348" name="Oval 187">
                  <a:extLst>
                    <a:ext uri="{FF2B5EF4-FFF2-40B4-BE49-F238E27FC236}">
                      <a16:creationId xmlns:a16="http://schemas.microsoft.com/office/drawing/2014/main" id="{A8B2530B-91B9-42A4-8032-7A9006CA80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01" y="1478"/>
                  <a:ext cx="380" cy="190"/>
                </a:xfrm>
                <a:prstGeom prst="ellipse">
                  <a:avLst/>
                </a:prstGeom>
                <a:solidFill>
                  <a:srgbClr val="99CC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49" name="Text Box 188">
                  <a:extLst>
                    <a:ext uri="{FF2B5EF4-FFF2-40B4-BE49-F238E27FC236}">
                      <a16:creationId xmlns:a16="http://schemas.microsoft.com/office/drawing/2014/main" id="{DD95E732-7697-4F5F-B722-C6827223CE7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30" y="1444"/>
                  <a:ext cx="189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350" name="Text Box 189">
                  <a:extLst>
                    <a:ext uri="{FF2B5EF4-FFF2-40B4-BE49-F238E27FC236}">
                      <a16:creationId xmlns:a16="http://schemas.microsoft.com/office/drawing/2014/main" id="{1B2C7EA5-FDC3-48DF-8100-4BEACF10FD0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03" y="1444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351" name="Oval 190">
                  <a:extLst>
                    <a:ext uri="{FF2B5EF4-FFF2-40B4-BE49-F238E27FC236}">
                      <a16:creationId xmlns:a16="http://schemas.microsoft.com/office/drawing/2014/main" id="{CFC93BBC-FAF0-4A13-ADA2-2BC1FB06F0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4" y="1478"/>
                  <a:ext cx="380" cy="190"/>
                </a:xfrm>
                <a:prstGeom prst="ellipse">
                  <a:avLst/>
                </a:prstGeom>
                <a:solidFill>
                  <a:srgbClr val="99CC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2" name="Text Box 191">
                  <a:extLst>
                    <a:ext uri="{FF2B5EF4-FFF2-40B4-BE49-F238E27FC236}">
                      <a16:creationId xmlns:a16="http://schemas.microsoft.com/office/drawing/2014/main" id="{2303367A-0E9A-422B-8843-2EEF4197DF4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04" y="1445"/>
                  <a:ext cx="189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353" name="Text Box 192">
                  <a:extLst>
                    <a:ext uri="{FF2B5EF4-FFF2-40B4-BE49-F238E27FC236}">
                      <a16:creationId xmlns:a16="http://schemas.microsoft.com/office/drawing/2014/main" id="{8F569B25-F13F-473D-8ED4-8939FE0466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76" y="1444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354" name="Oval 193">
                  <a:extLst>
                    <a:ext uri="{FF2B5EF4-FFF2-40B4-BE49-F238E27FC236}">
                      <a16:creationId xmlns:a16="http://schemas.microsoft.com/office/drawing/2014/main" id="{473D9896-8806-4A16-B045-F78326DF93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1" y="1478"/>
                  <a:ext cx="381" cy="190"/>
                </a:xfrm>
                <a:prstGeom prst="ellipse">
                  <a:avLst/>
                </a:prstGeom>
                <a:solidFill>
                  <a:srgbClr val="99CC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5" name="Text Box 194">
                  <a:extLst>
                    <a:ext uri="{FF2B5EF4-FFF2-40B4-BE49-F238E27FC236}">
                      <a16:creationId xmlns:a16="http://schemas.microsoft.com/office/drawing/2014/main" id="{91391384-F277-4E01-B649-887E5E1D4E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81" y="1445"/>
                  <a:ext cx="190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356" name="Text Box 195">
                  <a:extLst>
                    <a:ext uri="{FF2B5EF4-FFF2-40B4-BE49-F238E27FC236}">
                      <a16:creationId xmlns:a16="http://schemas.microsoft.com/office/drawing/2014/main" id="{781FFED7-5B16-4801-B842-AD03D8D8FD0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53" y="1444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323" name="Group 196">
                <a:extLst>
                  <a:ext uri="{FF2B5EF4-FFF2-40B4-BE49-F238E27FC236}">
                    <a16:creationId xmlns:a16="http://schemas.microsoft.com/office/drawing/2014/main" id="{1254C7DB-E444-4469-9587-F7E2420646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10" y="3265"/>
                <a:ext cx="1342" cy="258"/>
                <a:chOff x="1651" y="1444"/>
                <a:chExt cx="1342" cy="258"/>
              </a:xfrm>
            </p:grpSpPr>
            <p:sp>
              <p:nvSpPr>
                <p:cNvPr id="339" name="Oval 197">
                  <a:extLst>
                    <a:ext uri="{FF2B5EF4-FFF2-40B4-BE49-F238E27FC236}">
                      <a16:creationId xmlns:a16="http://schemas.microsoft.com/office/drawing/2014/main" id="{55713F80-7AA1-405B-9DCC-7AC8EDAFCA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01" y="1478"/>
                  <a:ext cx="380" cy="190"/>
                </a:xfrm>
                <a:prstGeom prst="ellipse">
                  <a:avLst/>
                </a:prstGeom>
                <a:solidFill>
                  <a:srgbClr val="99CC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40" name="Text Box 198">
                  <a:extLst>
                    <a:ext uri="{FF2B5EF4-FFF2-40B4-BE49-F238E27FC236}">
                      <a16:creationId xmlns:a16="http://schemas.microsoft.com/office/drawing/2014/main" id="{2EF555C8-9435-434B-836F-48169E80E1D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30" y="1444"/>
                  <a:ext cx="189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341" name="Text Box 199">
                  <a:extLst>
                    <a:ext uri="{FF2B5EF4-FFF2-40B4-BE49-F238E27FC236}">
                      <a16:creationId xmlns:a16="http://schemas.microsoft.com/office/drawing/2014/main" id="{251DEAB8-4FFD-418C-B174-4C3AB86D60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03" y="1444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342" name="Oval 200">
                  <a:extLst>
                    <a:ext uri="{FF2B5EF4-FFF2-40B4-BE49-F238E27FC236}">
                      <a16:creationId xmlns:a16="http://schemas.microsoft.com/office/drawing/2014/main" id="{86270C98-7E27-4E2E-A88B-F0E42F3BF2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4" y="1478"/>
                  <a:ext cx="380" cy="190"/>
                </a:xfrm>
                <a:prstGeom prst="ellipse">
                  <a:avLst/>
                </a:prstGeom>
                <a:solidFill>
                  <a:srgbClr val="99CC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43" name="Text Box 201">
                  <a:extLst>
                    <a:ext uri="{FF2B5EF4-FFF2-40B4-BE49-F238E27FC236}">
                      <a16:creationId xmlns:a16="http://schemas.microsoft.com/office/drawing/2014/main" id="{54515BA7-9636-4008-A1C0-266C7D82F3B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04" y="1445"/>
                  <a:ext cx="189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344" name="Text Box 202">
                  <a:extLst>
                    <a:ext uri="{FF2B5EF4-FFF2-40B4-BE49-F238E27FC236}">
                      <a16:creationId xmlns:a16="http://schemas.microsoft.com/office/drawing/2014/main" id="{3E442A11-1CAE-4ED9-9EF1-F552D5EEA86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76" y="1444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345" name="Oval 203">
                  <a:extLst>
                    <a:ext uri="{FF2B5EF4-FFF2-40B4-BE49-F238E27FC236}">
                      <a16:creationId xmlns:a16="http://schemas.microsoft.com/office/drawing/2014/main" id="{8D551D6B-F381-4590-8D85-7CF2340182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1" y="1478"/>
                  <a:ext cx="381" cy="190"/>
                </a:xfrm>
                <a:prstGeom prst="ellipse">
                  <a:avLst/>
                </a:prstGeom>
                <a:solidFill>
                  <a:srgbClr val="99CCFF"/>
                </a:solidFill>
                <a:ln w="12700" algn="ctr">
                  <a:solidFill>
                    <a:schemeClr val="tx1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82800" rIns="90000" bIns="82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46" name="Text Box 204">
                  <a:extLst>
                    <a:ext uri="{FF2B5EF4-FFF2-40B4-BE49-F238E27FC236}">
                      <a16:creationId xmlns:a16="http://schemas.microsoft.com/office/drawing/2014/main" id="{274A71DD-EAEF-448B-963E-FFDEA77AC5B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81" y="1445"/>
                  <a:ext cx="190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347" name="Text Box 205">
                  <a:extLst>
                    <a:ext uri="{FF2B5EF4-FFF2-40B4-BE49-F238E27FC236}">
                      <a16:creationId xmlns:a16="http://schemas.microsoft.com/office/drawing/2014/main" id="{EEB4D576-783D-4422-857B-B33C75CAB04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53" y="1444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324" name="Group 206">
                <a:extLst>
                  <a:ext uri="{FF2B5EF4-FFF2-40B4-BE49-F238E27FC236}">
                    <a16:creationId xmlns:a16="http://schemas.microsoft.com/office/drawing/2014/main" id="{8C78318E-4037-4AFC-B5C9-872CC9BDBA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64" y="2752"/>
                <a:ext cx="242" cy="766"/>
                <a:chOff x="1282" y="2266"/>
                <a:chExt cx="242" cy="766"/>
              </a:xfrm>
            </p:grpSpPr>
            <p:grpSp>
              <p:nvGrpSpPr>
                <p:cNvPr id="332" name="Group 207">
                  <a:extLst>
                    <a:ext uri="{FF2B5EF4-FFF2-40B4-BE49-F238E27FC236}">
                      <a16:creationId xmlns:a16="http://schemas.microsoft.com/office/drawing/2014/main" id="{F3590FA1-C015-4260-BDDF-32E5990B1DF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82" y="2267"/>
                  <a:ext cx="193" cy="745"/>
                  <a:chOff x="1398" y="1443"/>
                  <a:chExt cx="193" cy="745"/>
                </a:xfrm>
              </p:grpSpPr>
              <p:sp>
                <p:nvSpPr>
                  <p:cNvPr id="337" name="Rectangle 208">
                    <a:extLst>
                      <a:ext uri="{FF2B5EF4-FFF2-40B4-BE49-F238E27FC236}">
                        <a16:creationId xmlns:a16="http://schemas.microsoft.com/office/drawing/2014/main" id="{D172FF70-1A78-4AEE-84F1-BB8540F600C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5" y="1443"/>
                    <a:ext cx="96" cy="745"/>
                  </a:xfrm>
                  <a:prstGeom prst="rect">
                    <a:avLst/>
                  </a:prstGeom>
                  <a:solidFill>
                    <a:srgbClr val="FFFF99"/>
                  </a:solidFill>
                  <a:ln w="12700" algn="ctr">
                    <a:solidFill>
                      <a:srgbClr val="FFFF99"/>
                    </a:solidFill>
                    <a:miter lim="800000"/>
                    <a:headEnd/>
                    <a:tailEnd type="none" w="lg" len="lg"/>
                  </a:ln>
                </p:spPr>
                <p:txBody>
                  <a:bodyPr wrap="none" lIns="90000" tIns="82800" rIns="90000" bIns="82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n-U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38" name="Rectangle 209">
                    <a:extLst>
                      <a:ext uri="{FF2B5EF4-FFF2-40B4-BE49-F238E27FC236}">
                        <a16:creationId xmlns:a16="http://schemas.microsoft.com/office/drawing/2014/main" id="{108A4E6F-AEEE-42C1-AEE4-17CD0BE5525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1472" y="1737"/>
                    <a:ext cx="25" cy="173"/>
                  </a:xfrm>
                  <a:prstGeom prst="rect">
                    <a:avLst/>
                  </a:prstGeom>
                  <a:solidFill>
                    <a:srgbClr val="FFFF99"/>
                  </a:solidFill>
                  <a:ln w="12700" algn="ctr">
                    <a:solidFill>
                      <a:srgbClr val="FFFF99"/>
                    </a:solidFill>
                    <a:miter lim="800000"/>
                    <a:headEnd/>
                    <a:tailEnd type="none" w="lg" len="lg"/>
                  </a:ln>
                </p:spPr>
                <p:txBody>
                  <a:bodyPr rot="10800000" vert="eaVert" wrap="none" lIns="90000" tIns="82800" rIns="90000" bIns="82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n-U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33" name="Text Box 210">
                  <a:extLst>
                    <a:ext uri="{FF2B5EF4-FFF2-40B4-BE49-F238E27FC236}">
                      <a16:creationId xmlns:a16="http://schemas.microsoft.com/office/drawing/2014/main" id="{0F4F0BE6-5DEE-42BC-9012-61011343A83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31" y="2266"/>
                  <a:ext cx="190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334" name="Text Box 211">
                  <a:extLst>
                    <a:ext uri="{FF2B5EF4-FFF2-40B4-BE49-F238E27FC236}">
                      <a16:creationId xmlns:a16="http://schemas.microsoft.com/office/drawing/2014/main" id="{49AACB53-B1BB-4E82-A15F-FF95A55C0D7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32" y="2351"/>
                  <a:ext cx="114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n-US" sz="1600" b="1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35" name="Text Box 212">
                  <a:extLst>
                    <a:ext uri="{FF2B5EF4-FFF2-40B4-BE49-F238E27FC236}">
                      <a16:creationId xmlns:a16="http://schemas.microsoft.com/office/drawing/2014/main" id="{7ED7BA28-28A0-478A-9A51-7A12391939C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33" y="2514"/>
                  <a:ext cx="190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  <p:sp>
              <p:nvSpPr>
                <p:cNvPr id="336" name="Text Box 213">
                  <a:extLst>
                    <a:ext uri="{FF2B5EF4-FFF2-40B4-BE49-F238E27FC236}">
                      <a16:creationId xmlns:a16="http://schemas.microsoft.com/office/drawing/2014/main" id="{E41D86F9-55C7-4132-A356-9D16BFC4482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34" y="2775"/>
                  <a:ext cx="190" cy="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+</a:t>
                  </a:r>
                </a:p>
              </p:txBody>
            </p:sp>
          </p:grpSp>
          <p:grpSp>
            <p:nvGrpSpPr>
              <p:cNvPr id="325" name="Group 214">
                <a:extLst>
                  <a:ext uri="{FF2B5EF4-FFF2-40B4-BE49-F238E27FC236}">
                    <a16:creationId xmlns:a16="http://schemas.microsoft.com/office/drawing/2014/main" id="{C432BA53-176A-4CC2-85F2-237FD05A5C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942" y="2744"/>
                <a:ext cx="241" cy="771"/>
                <a:chOff x="2860" y="2258"/>
                <a:chExt cx="241" cy="771"/>
              </a:xfrm>
            </p:grpSpPr>
            <p:grpSp>
              <p:nvGrpSpPr>
                <p:cNvPr id="326" name="Group 215">
                  <a:extLst>
                    <a:ext uri="{FF2B5EF4-FFF2-40B4-BE49-F238E27FC236}">
                      <a16:creationId xmlns:a16="http://schemas.microsoft.com/office/drawing/2014/main" id="{81CAB5E3-BEA5-4BE3-B84E-AB4DCD611FD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2908" y="2258"/>
                  <a:ext cx="193" cy="745"/>
                  <a:chOff x="1398" y="1443"/>
                  <a:chExt cx="193" cy="745"/>
                </a:xfrm>
              </p:grpSpPr>
              <p:sp>
                <p:nvSpPr>
                  <p:cNvPr id="330" name="Rectangle 216">
                    <a:extLst>
                      <a:ext uri="{FF2B5EF4-FFF2-40B4-BE49-F238E27FC236}">
                        <a16:creationId xmlns:a16="http://schemas.microsoft.com/office/drawing/2014/main" id="{941C6B01-E543-42E6-BA4E-D93DE51432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5" y="1443"/>
                    <a:ext cx="96" cy="745"/>
                  </a:xfrm>
                  <a:prstGeom prst="rect">
                    <a:avLst/>
                  </a:prstGeom>
                  <a:solidFill>
                    <a:srgbClr val="FFFF99"/>
                  </a:solidFill>
                  <a:ln w="12700" algn="ctr">
                    <a:solidFill>
                      <a:srgbClr val="FFFF99"/>
                    </a:solidFill>
                    <a:miter lim="800000"/>
                    <a:headEnd/>
                    <a:tailEnd type="none" w="lg" len="lg"/>
                  </a:ln>
                </p:spPr>
                <p:txBody>
                  <a:bodyPr wrap="none" lIns="90000" tIns="82800" rIns="90000" bIns="82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n-U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31" name="Rectangle 217">
                    <a:extLst>
                      <a:ext uri="{FF2B5EF4-FFF2-40B4-BE49-F238E27FC236}">
                        <a16:creationId xmlns:a16="http://schemas.microsoft.com/office/drawing/2014/main" id="{8BA775B5-F7F6-49BD-9A69-E4980D80B4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1472" y="1737"/>
                    <a:ext cx="25" cy="173"/>
                  </a:xfrm>
                  <a:prstGeom prst="rect">
                    <a:avLst/>
                  </a:prstGeom>
                  <a:solidFill>
                    <a:srgbClr val="FFFF99"/>
                  </a:solidFill>
                  <a:ln w="12700" algn="ctr">
                    <a:solidFill>
                      <a:srgbClr val="FFFF99"/>
                    </a:solidFill>
                    <a:miter lim="800000"/>
                    <a:headEnd/>
                    <a:tailEnd type="none" w="lg" len="lg"/>
                  </a:ln>
                </p:spPr>
                <p:txBody>
                  <a:bodyPr vert="eaVert" wrap="none" lIns="90000" tIns="82800" rIns="90000" bIns="82800" anchor="ctr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n-US" sz="20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27" name="Text Box 218">
                  <a:extLst>
                    <a:ext uri="{FF2B5EF4-FFF2-40B4-BE49-F238E27FC236}">
                      <a16:creationId xmlns:a16="http://schemas.microsoft.com/office/drawing/2014/main" id="{179F4F83-B173-4BE7-95AF-500171C7F9B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2860" y="2269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328" name="Text Box 219">
                  <a:extLst>
                    <a:ext uri="{FF2B5EF4-FFF2-40B4-BE49-F238E27FC236}">
                      <a16:creationId xmlns:a16="http://schemas.microsoft.com/office/drawing/2014/main" id="{76D64184-860D-4A01-85C4-4EB5EDEF507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2860" y="2505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  <p:sp>
              <p:nvSpPr>
                <p:cNvPr id="329" name="Text Box 220">
                  <a:extLst>
                    <a:ext uri="{FF2B5EF4-FFF2-40B4-BE49-F238E27FC236}">
                      <a16:creationId xmlns:a16="http://schemas.microsoft.com/office/drawing/2014/main" id="{851E78D5-DC7B-4F12-86BB-EA0239B9621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H="1">
                  <a:off x="2860" y="2771"/>
                  <a:ext cx="157" cy="2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</p:grpSp>
        <p:sp>
          <p:nvSpPr>
            <p:cNvPr id="320" name="Text Box 221">
              <a:extLst>
                <a:ext uri="{FF2B5EF4-FFF2-40B4-BE49-F238E27FC236}">
                  <a16:creationId xmlns:a16="http://schemas.microsoft.com/office/drawing/2014/main" id="{025490AD-8EEA-4F20-8485-7F32D0F147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5" y="2604"/>
              <a:ext cx="491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solidFill>
                    <a:srgbClr val="3333FF"/>
                  </a:solidFill>
                  <a:latin typeface="Arial" panose="020B0604020202020204" pitchFamily="34" charset="0"/>
                </a:rPr>
                <a:t>V = 0</a:t>
              </a:r>
            </a:p>
          </p:txBody>
        </p:sp>
      </p:grpSp>
      <p:sp>
        <p:nvSpPr>
          <p:cNvPr id="416" name="Flecha derecha 215">
            <a:extLst>
              <a:ext uri="{FF2B5EF4-FFF2-40B4-BE49-F238E27FC236}">
                <a16:creationId xmlns:a16="http://schemas.microsoft.com/office/drawing/2014/main" id="{4C239A0E-235F-4D55-AB5D-01725089FF6F}"/>
              </a:ext>
            </a:extLst>
          </p:cNvPr>
          <p:cNvSpPr/>
          <p:nvPr/>
        </p:nvSpPr>
        <p:spPr bwMode="auto">
          <a:xfrm>
            <a:off x="5900233" y="3556672"/>
            <a:ext cx="281371" cy="668215"/>
          </a:xfrm>
          <a:prstGeom prst="right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118800" rIns="90000" bIns="82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D6206418-BE67-47C6-8E72-B9DFBF727FA1}"/>
              </a:ext>
            </a:extLst>
          </p:cNvPr>
          <p:cNvGrpSpPr/>
          <p:nvPr/>
        </p:nvGrpSpPr>
        <p:grpSpPr>
          <a:xfrm>
            <a:off x="8421093" y="2800968"/>
            <a:ext cx="831850" cy="469900"/>
            <a:chOff x="8498918" y="1662828"/>
            <a:chExt cx="831850" cy="469900"/>
          </a:xfrm>
        </p:grpSpPr>
        <p:sp>
          <p:nvSpPr>
            <p:cNvPr id="207" name="Line 16">
              <a:extLst>
                <a:ext uri="{FF2B5EF4-FFF2-40B4-BE49-F238E27FC236}">
                  <a16:creationId xmlns:a16="http://schemas.microsoft.com/office/drawing/2014/main" id="{C1179F67-43B3-4007-8330-6157EB6DEB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98918" y="2088278"/>
              <a:ext cx="831850" cy="1587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208" name="Text Box 17">
              <a:extLst>
                <a:ext uri="{FF2B5EF4-FFF2-40B4-BE49-F238E27FC236}">
                  <a16:creationId xmlns:a16="http://schemas.microsoft.com/office/drawing/2014/main" id="{2FA2584F-DB40-477C-9120-38091D349B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05293" y="1662828"/>
              <a:ext cx="350838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209" name="Line 18">
              <a:extLst>
                <a:ext uri="{FF2B5EF4-FFF2-40B4-BE49-F238E27FC236}">
                  <a16:creationId xmlns:a16="http://schemas.microsoft.com/office/drawing/2014/main" id="{CB894912-AD7C-4B4B-A5E2-01A4845F44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2131" y="1769190"/>
              <a:ext cx="215900" cy="1587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4C49FAA-9241-4673-AA41-C007AD83401C}"/>
              </a:ext>
            </a:extLst>
          </p:cNvPr>
          <p:cNvCxnSpPr/>
          <p:nvPr/>
        </p:nvCxnSpPr>
        <p:spPr bwMode="auto">
          <a:xfrm>
            <a:off x="5900233" y="2402419"/>
            <a:ext cx="0" cy="2996295"/>
          </a:xfrm>
          <a:prstGeom prst="lin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690144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05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05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74" grpId="0" animBg="1"/>
      <p:bldP spid="214" grpId="0"/>
      <p:bldP spid="215" grpId="0"/>
      <p:bldP spid="218" grpId="0"/>
      <p:bldP spid="4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6"/>
          <p:cNvSpPr>
            <a:spLocks noChangeArrowheads="1"/>
          </p:cNvSpPr>
          <p:nvPr/>
        </p:nvSpPr>
        <p:spPr bwMode="auto">
          <a:xfrm>
            <a:off x="1259029" y="382653"/>
            <a:ext cx="8653462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3.5.3 CARACTERIZACIÓN DE UN DIELÉCTRICO</a:t>
            </a:r>
          </a:p>
        </p:txBody>
      </p:sp>
      <p:sp>
        <p:nvSpPr>
          <p:cNvPr id="19466" name="Text Box 47"/>
          <p:cNvSpPr txBox="1">
            <a:spLocks noChangeArrowheads="1"/>
          </p:cNvSpPr>
          <p:nvPr/>
        </p:nvSpPr>
        <p:spPr bwMode="auto">
          <a:xfrm>
            <a:off x="7935138" y="2913055"/>
            <a:ext cx="1794763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s-ES" sz="2400" dirty="0">
                <a:latin typeface="Arial" panose="020B0604020202020204" pitchFamily="34" charset="0"/>
              </a:rPr>
              <a:t>V</a:t>
            </a:r>
            <a:r>
              <a:rPr lang="es-ES" sz="2400" baseline="-25000" dirty="0">
                <a:latin typeface="Arial" panose="020B0604020202020204" pitchFamily="34" charset="0"/>
              </a:rPr>
              <a:t>INICIAL</a:t>
            </a:r>
            <a:r>
              <a:rPr lang="es-ES" sz="2400" dirty="0">
                <a:latin typeface="Arial" panose="020B0604020202020204" pitchFamily="34" charset="0"/>
              </a:rPr>
              <a:t> ≠ 0</a:t>
            </a:r>
          </a:p>
        </p:txBody>
      </p:sp>
      <p:grpSp>
        <p:nvGrpSpPr>
          <p:cNvPr id="11" name="Group 125"/>
          <p:cNvGrpSpPr>
            <a:grpSpLocks/>
          </p:cNvGrpSpPr>
          <p:nvPr/>
        </p:nvGrpSpPr>
        <p:grpSpPr bwMode="auto">
          <a:xfrm>
            <a:off x="4057279" y="2357514"/>
            <a:ext cx="3524250" cy="1743075"/>
            <a:chOff x="1135" y="1415"/>
            <a:chExt cx="2220" cy="1098"/>
          </a:xfrm>
        </p:grpSpPr>
        <p:grpSp>
          <p:nvGrpSpPr>
            <p:cNvPr id="48207" name="Group 120"/>
            <p:cNvGrpSpPr>
              <a:grpSpLocks/>
            </p:cNvGrpSpPr>
            <p:nvPr/>
          </p:nvGrpSpPr>
          <p:grpSpPr bwMode="auto">
            <a:xfrm>
              <a:off x="1135" y="1415"/>
              <a:ext cx="321" cy="1098"/>
              <a:chOff x="1135" y="1415"/>
              <a:chExt cx="321" cy="1098"/>
            </a:xfrm>
          </p:grpSpPr>
          <p:sp>
            <p:nvSpPr>
              <p:cNvPr id="48216" name="Rectangle 43"/>
              <p:cNvSpPr>
                <a:spLocks noChangeArrowheads="1"/>
              </p:cNvSpPr>
              <p:nvPr/>
            </p:nvSpPr>
            <p:spPr bwMode="auto">
              <a:xfrm>
                <a:off x="1312" y="1512"/>
                <a:ext cx="61" cy="926"/>
              </a:xfrm>
              <a:prstGeom prst="rect">
                <a:avLst/>
              </a:prstGeom>
              <a:solidFill>
                <a:srgbClr val="FFFF00"/>
              </a:solidFill>
              <a:ln w="12700" algn="ctr">
                <a:solidFill>
                  <a:srgbClr val="FFFF00"/>
                </a:solidFill>
                <a:miter lim="800000"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8217" name="Rectangle 46"/>
              <p:cNvSpPr>
                <a:spLocks noChangeArrowheads="1"/>
              </p:cNvSpPr>
              <p:nvPr/>
            </p:nvSpPr>
            <p:spPr bwMode="auto">
              <a:xfrm rot="-5400000">
                <a:off x="1227" y="1876"/>
                <a:ext cx="31" cy="216"/>
              </a:xfrm>
              <a:prstGeom prst="rect">
                <a:avLst/>
              </a:prstGeom>
              <a:solidFill>
                <a:srgbClr val="FFFF00"/>
              </a:solidFill>
              <a:ln w="12700" algn="ctr">
                <a:solidFill>
                  <a:srgbClr val="FFFF00"/>
                </a:solidFill>
                <a:miter lim="800000"/>
                <a:headEnd/>
                <a:tailEnd type="none" w="lg" len="lg"/>
              </a:ln>
            </p:spPr>
            <p:txBody>
              <a:bodyPr vert="eaVert"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8218" name="Text Box 53"/>
              <p:cNvSpPr txBox="1">
                <a:spLocks noChangeArrowheads="1"/>
              </p:cNvSpPr>
              <p:nvPr/>
            </p:nvSpPr>
            <p:spPr bwMode="auto">
              <a:xfrm>
                <a:off x="1230" y="1415"/>
                <a:ext cx="226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8219" name="Text Box 54"/>
              <p:cNvSpPr txBox="1">
                <a:spLocks noChangeArrowheads="1"/>
              </p:cNvSpPr>
              <p:nvPr/>
            </p:nvSpPr>
            <p:spPr bwMode="auto">
              <a:xfrm>
                <a:off x="1230" y="1581"/>
                <a:ext cx="226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8220" name="Text Box 55"/>
              <p:cNvSpPr txBox="1">
                <a:spLocks noChangeArrowheads="1"/>
              </p:cNvSpPr>
              <p:nvPr/>
            </p:nvSpPr>
            <p:spPr bwMode="auto">
              <a:xfrm>
                <a:off x="1230" y="1797"/>
                <a:ext cx="226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8221" name="Text Box 56"/>
              <p:cNvSpPr txBox="1">
                <a:spLocks noChangeArrowheads="1"/>
              </p:cNvSpPr>
              <p:nvPr/>
            </p:nvSpPr>
            <p:spPr bwMode="auto">
              <a:xfrm>
                <a:off x="1230" y="1993"/>
                <a:ext cx="226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8222" name="Text Box 57"/>
              <p:cNvSpPr txBox="1">
                <a:spLocks noChangeArrowheads="1"/>
              </p:cNvSpPr>
              <p:nvPr/>
            </p:nvSpPr>
            <p:spPr bwMode="auto">
              <a:xfrm>
                <a:off x="1230" y="2179"/>
                <a:ext cx="226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</p:grpSp>
        <p:grpSp>
          <p:nvGrpSpPr>
            <p:cNvPr id="48208" name="Group 121"/>
            <p:cNvGrpSpPr>
              <a:grpSpLocks/>
            </p:cNvGrpSpPr>
            <p:nvPr/>
          </p:nvGrpSpPr>
          <p:grpSpPr bwMode="auto">
            <a:xfrm>
              <a:off x="3020" y="1420"/>
              <a:ext cx="335" cy="1078"/>
              <a:chOff x="3020" y="1420"/>
              <a:chExt cx="335" cy="1078"/>
            </a:xfrm>
          </p:grpSpPr>
          <p:sp>
            <p:nvSpPr>
              <p:cNvPr id="48209" name="Rectangle 44"/>
              <p:cNvSpPr>
                <a:spLocks noChangeArrowheads="1"/>
              </p:cNvSpPr>
              <p:nvPr/>
            </p:nvSpPr>
            <p:spPr bwMode="auto">
              <a:xfrm>
                <a:off x="3120" y="1512"/>
                <a:ext cx="61" cy="926"/>
              </a:xfrm>
              <a:prstGeom prst="rect">
                <a:avLst/>
              </a:prstGeom>
              <a:solidFill>
                <a:srgbClr val="FFFF00"/>
              </a:solidFill>
              <a:ln w="12700" algn="ctr">
                <a:solidFill>
                  <a:srgbClr val="FFFF00"/>
                </a:solidFill>
                <a:miter lim="800000"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8210" name="Rectangle 45"/>
              <p:cNvSpPr>
                <a:spLocks noChangeArrowheads="1"/>
              </p:cNvSpPr>
              <p:nvPr/>
            </p:nvSpPr>
            <p:spPr bwMode="auto">
              <a:xfrm rot="-5400000">
                <a:off x="3231" y="1875"/>
                <a:ext cx="31" cy="216"/>
              </a:xfrm>
              <a:prstGeom prst="rect">
                <a:avLst/>
              </a:prstGeom>
              <a:solidFill>
                <a:srgbClr val="FFFF00"/>
              </a:solidFill>
              <a:ln w="12700" algn="ctr">
                <a:solidFill>
                  <a:srgbClr val="FFFF00"/>
                </a:solidFill>
                <a:miter lim="800000"/>
                <a:headEnd/>
                <a:tailEnd type="none" w="lg" len="lg"/>
              </a:ln>
            </p:spPr>
            <p:txBody>
              <a:bodyPr vert="eaVert"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8211" name="Text Box 58"/>
              <p:cNvSpPr txBox="1">
                <a:spLocks noChangeArrowheads="1"/>
              </p:cNvSpPr>
              <p:nvPr/>
            </p:nvSpPr>
            <p:spPr bwMode="auto">
              <a:xfrm>
                <a:off x="3064" y="1420"/>
                <a:ext cx="178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48212" name="Text Box 59"/>
              <p:cNvSpPr txBox="1">
                <a:spLocks noChangeArrowheads="1"/>
              </p:cNvSpPr>
              <p:nvPr/>
            </p:nvSpPr>
            <p:spPr bwMode="auto">
              <a:xfrm>
                <a:off x="3064" y="1606"/>
                <a:ext cx="178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48213" name="Text Box 60"/>
              <p:cNvSpPr txBox="1">
                <a:spLocks noChangeArrowheads="1"/>
              </p:cNvSpPr>
              <p:nvPr/>
            </p:nvSpPr>
            <p:spPr bwMode="auto">
              <a:xfrm>
                <a:off x="3064" y="1792"/>
                <a:ext cx="178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48214" name="Text Box 61"/>
              <p:cNvSpPr txBox="1">
                <a:spLocks noChangeArrowheads="1"/>
              </p:cNvSpPr>
              <p:nvPr/>
            </p:nvSpPr>
            <p:spPr bwMode="auto">
              <a:xfrm>
                <a:off x="3064" y="1978"/>
                <a:ext cx="178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48215" name="Text Box 62"/>
              <p:cNvSpPr txBox="1">
                <a:spLocks noChangeArrowheads="1"/>
              </p:cNvSpPr>
              <p:nvPr/>
            </p:nvSpPr>
            <p:spPr bwMode="auto">
              <a:xfrm>
                <a:off x="3020" y="2164"/>
                <a:ext cx="267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</p:grpSp>
      <p:sp>
        <p:nvSpPr>
          <p:cNvPr id="48205" name="Rectangle 52"/>
          <p:cNvSpPr>
            <a:spLocks noChangeArrowheads="1"/>
          </p:cNvSpPr>
          <p:nvPr/>
        </p:nvSpPr>
        <p:spPr bwMode="auto">
          <a:xfrm>
            <a:off x="4539435" y="2554364"/>
            <a:ext cx="2514600" cy="144462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8206" name="Text Box 63"/>
          <p:cNvSpPr txBox="1">
            <a:spLocks noChangeArrowheads="1"/>
          </p:cNvSpPr>
          <p:nvPr/>
        </p:nvSpPr>
        <p:spPr bwMode="auto">
          <a:xfrm>
            <a:off x="1353025" y="1900856"/>
            <a:ext cx="1736671" cy="536549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Conductor</a:t>
            </a:r>
          </a:p>
        </p:txBody>
      </p:sp>
      <p:grpSp>
        <p:nvGrpSpPr>
          <p:cNvPr id="14" name="Group 64"/>
          <p:cNvGrpSpPr>
            <a:grpSpLocks/>
          </p:cNvGrpSpPr>
          <p:nvPr/>
        </p:nvGrpSpPr>
        <p:grpSpPr bwMode="auto">
          <a:xfrm>
            <a:off x="4462092" y="2351164"/>
            <a:ext cx="2647950" cy="1765300"/>
            <a:chOff x="1390" y="1411"/>
            <a:chExt cx="1668" cy="1112"/>
          </a:xfrm>
        </p:grpSpPr>
        <p:grpSp>
          <p:nvGrpSpPr>
            <p:cNvPr id="48193" name="Group 65"/>
            <p:cNvGrpSpPr>
              <a:grpSpLocks/>
            </p:cNvGrpSpPr>
            <p:nvPr/>
          </p:nvGrpSpPr>
          <p:grpSpPr bwMode="auto">
            <a:xfrm>
              <a:off x="1390" y="1411"/>
              <a:ext cx="267" cy="1078"/>
              <a:chOff x="4302" y="2257"/>
              <a:chExt cx="267" cy="1078"/>
            </a:xfrm>
          </p:grpSpPr>
          <p:sp>
            <p:nvSpPr>
              <p:cNvPr id="48200" name="Text Box 66"/>
              <p:cNvSpPr txBox="1">
                <a:spLocks noChangeArrowheads="1"/>
              </p:cNvSpPr>
              <p:nvPr/>
            </p:nvSpPr>
            <p:spPr bwMode="auto">
              <a:xfrm>
                <a:off x="4346" y="2629"/>
                <a:ext cx="178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48201" name="Text Box 67"/>
              <p:cNvSpPr txBox="1">
                <a:spLocks noChangeArrowheads="1"/>
              </p:cNvSpPr>
              <p:nvPr/>
            </p:nvSpPr>
            <p:spPr bwMode="auto">
              <a:xfrm>
                <a:off x="4346" y="2815"/>
                <a:ext cx="178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48202" name="Text Box 68"/>
              <p:cNvSpPr txBox="1">
                <a:spLocks noChangeArrowheads="1"/>
              </p:cNvSpPr>
              <p:nvPr/>
            </p:nvSpPr>
            <p:spPr bwMode="auto">
              <a:xfrm>
                <a:off x="4302" y="3001"/>
                <a:ext cx="267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48203" name="Text Box 69"/>
              <p:cNvSpPr txBox="1">
                <a:spLocks noChangeArrowheads="1"/>
              </p:cNvSpPr>
              <p:nvPr/>
            </p:nvSpPr>
            <p:spPr bwMode="auto">
              <a:xfrm>
                <a:off x="4346" y="2257"/>
                <a:ext cx="178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48204" name="Text Box 70"/>
              <p:cNvSpPr txBox="1">
                <a:spLocks noChangeArrowheads="1"/>
              </p:cNvSpPr>
              <p:nvPr/>
            </p:nvSpPr>
            <p:spPr bwMode="auto">
              <a:xfrm>
                <a:off x="4346" y="2443"/>
                <a:ext cx="178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8194" name="Group 71"/>
            <p:cNvGrpSpPr>
              <a:grpSpLocks/>
            </p:cNvGrpSpPr>
            <p:nvPr/>
          </p:nvGrpSpPr>
          <p:grpSpPr bwMode="auto">
            <a:xfrm>
              <a:off x="2832" y="1425"/>
              <a:ext cx="226" cy="1098"/>
              <a:chOff x="4492" y="2278"/>
              <a:chExt cx="226" cy="1098"/>
            </a:xfrm>
          </p:grpSpPr>
          <p:sp>
            <p:nvSpPr>
              <p:cNvPr id="48195" name="Text Box 72"/>
              <p:cNvSpPr txBox="1">
                <a:spLocks noChangeArrowheads="1"/>
              </p:cNvSpPr>
              <p:nvPr/>
            </p:nvSpPr>
            <p:spPr bwMode="auto">
              <a:xfrm>
                <a:off x="4492" y="2660"/>
                <a:ext cx="226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8196" name="Text Box 73"/>
              <p:cNvSpPr txBox="1">
                <a:spLocks noChangeArrowheads="1"/>
              </p:cNvSpPr>
              <p:nvPr/>
            </p:nvSpPr>
            <p:spPr bwMode="auto">
              <a:xfrm>
                <a:off x="4492" y="2856"/>
                <a:ext cx="226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8197" name="Text Box 74"/>
              <p:cNvSpPr txBox="1">
                <a:spLocks noChangeArrowheads="1"/>
              </p:cNvSpPr>
              <p:nvPr/>
            </p:nvSpPr>
            <p:spPr bwMode="auto">
              <a:xfrm>
                <a:off x="4492" y="3042"/>
                <a:ext cx="226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8198" name="Text Box 75"/>
              <p:cNvSpPr txBox="1">
                <a:spLocks noChangeArrowheads="1"/>
              </p:cNvSpPr>
              <p:nvPr/>
            </p:nvSpPr>
            <p:spPr bwMode="auto">
              <a:xfrm>
                <a:off x="4492" y="2278"/>
                <a:ext cx="226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8199" name="Text Box 76"/>
              <p:cNvSpPr txBox="1">
                <a:spLocks noChangeArrowheads="1"/>
              </p:cNvSpPr>
              <p:nvPr/>
            </p:nvSpPr>
            <p:spPr bwMode="auto">
              <a:xfrm>
                <a:off x="4492" y="2444"/>
                <a:ext cx="226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</p:grpSp>
      </p:grpSp>
      <p:grpSp>
        <p:nvGrpSpPr>
          <p:cNvPr id="17" name="Group 77"/>
          <p:cNvGrpSpPr>
            <a:grpSpLocks/>
          </p:cNvGrpSpPr>
          <p:nvPr/>
        </p:nvGrpSpPr>
        <p:grpSpPr bwMode="auto">
          <a:xfrm>
            <a:off x="4982503" y="2884567"/>
            <a:ext cx="1422400" cy="512763"/>
            <a:chOff x="1768" y="1747"/>
            <a:chExt cx="896" cy="323"/>
          </a:xfrm>
        </p:grpSpPr>
        <p:sp>
          <p:nvSpPr>
            <p:cNvPr id="48190" name="Line 78"/>
            <p:cNvSpPr>
              <a:spLocks noChangeShapeType="1"/>
            </p:cNvSpPr>
            <p:nvPr/>
          </p:nvSpPr>
          <p:spPr bwMode="auto">
            <a:xfrm>
              <a:off x="1975" y="2069"/>
              <a:ext cx="524" cy="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48191" name="Text Box 79"/>
            <p:cNvSpPr txBox="1">
              <a:spLocks noChangeArrowheads="1"/>
            </p:cNvSpPr>
            <p:nvPr/>
          </p:nvSpPr>
          <p:spPr bwMode="auto">
            <a:xfrm>
              <a:off x="1768" y="1747"/>
              <a:ext cx="896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 </a:t>
              </a: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="1" baseline="-25000">
                  <a:solidFill>
                    <a:srgbClr val="FF0000"/>
                  </a:solidFill>
                  <a:latin typeface="Arial" panose="020B0604020202020204" pitchFamily="34" charset="0"/>
                </a:rPr>
                <a:t>APLICADO</a:t>
              </a:r>
              <a:endParaRPr lang="es-ES" sz="2400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8192" name="Line 80"/>
            <p:cNvSpPr>
              <a:spLocks noChangeShapeType="1"/>
            </p:cNvSpPr>
            <p:nvPr/>
          </p:nvSpPr>
          <p:spPr bwMode="auto">
            <a:xfrm>
              <a:off x="1982" y="1814"/>
              <a:ext cx="136" cy="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sp>
        <p:nvSpPr>
          <p:cNvPr id="452689" name="Text Box 81"/>
          <p:cNvSpPr txBox="1">
            <a:spLocks noChangeArrowheads="1"/>
          </p:cNvSpPr>
          <p:nvPr/>
        </p:nvSpPr>
        <p:spPr bwMode="auto">
          <a:xfrm>
            <a:off x="4806134" y="5467585"/>
            <a:ext cx="394560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b="1" dirty="0" err="1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baseline="-25000" dirty="0" err="1">
                <a:latin typeface="Arial" panose="020B0604020202020204" pitchFamily="34" charset="0"/>
                <a:sym typeface="Symbol" panose="05050102010706020507" pitchFamily="18" charset="2"/>
              </a:rPr>
              <a:t>total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en conductor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es nulo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18" name="Group 128"/>
          <p:cNvGrpSpPr>
            <a:grpSpLocks/>
          </p:cNvGrpSpPr>
          <p:nvPr/>
        </p:nvGrpSpPr>
        <p:grpSpPr bwMode="auto">
          <a:xfrm>
            <a:off x="5231696" y="1787400"/>
            <a:ext cx="1455737" cy="554038"/>
            <a:chOff x="1940" y="1277"/>
            <a:chExt cx="917" cy="349"/>
          </a:xfrm>
        </p:grpSpPr>
        <p:sp>
          <p:nvSpPr>
            <p:cNvPr id="48187" name="Line 48"/>
            <p:cNvSpPr>
              <a:spLocks noChangeShapeType="1"/>
            </p:cNvSpPr>
            <p:nvPr/>
          </p:nvSpPr>
          <p:spPr bwMode="auto">
            <a:xfrm>
              <a:off x="2008" y="1625"/>
              <a:ext cx="524" cy="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48188" name="Text Box 49"/>
            <p:cNvSpPr txBox="1">
              <a:spLocks noChangeArrowheads="1"/>
            </p:cNvSpPr>
            <p:nvPr/>
          </p:nvSpPr>
          <p:spPr bwMode="auto">
            <a:xfrm>
              <a:off x="1940" y="1277"/>
              <a:ext cx="917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="1" baseline="-25000">
                  <a:solidFill>
                    <a:srgbClr val="FF0000"/>
                  </a:solidFill>
                  <a:latin typeface="Arial" panose="020B0604020202020204" pitchFamily="34" charset="0"/>
                </a:rPr>
                <a:t>APLICADO</a:t>
              </a:r>
              <a:endParaRPr lang="es-ES" sz="2400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8189" name="Line 50"/>
            <p:cNvSpPr>
              <a:spLocks noChangeShapeType="1"/>
            </p:cNvSpPr>
            <p:nvPr/>
          </p:nvSpPr>
          <p:spPr bwMode="auto">
            <a:xfrm>
              <a:off x="1974" y="1350"/>
              <a:ext cx="136" cy="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</p:grpSp>
      <p:sp>
        <p:nvSpPr>
          <p:cNvPr id="452714" name="Text Box 106"/>
          <p:cNvSpPr txBox="1">
            <a:spLocks noChangeArrowheads="1"/>
          </p:cNvSpPr>
          <p:nvPr/>
        </p:nvSpPr>
        <p:spPr bwMode="auto">
          <a:xfrm>
            <a:off x="7924821" y="6372180"/>
            <a:ext cx="1805080" cy="5412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s-ES" sz="2400" dirty="0">
                <a:latin typeface="Arial" panose="020B0604020202020204" pitchFamily="34" charset="0"/>
              </a:rPr>
              <a:t>V</a:t>
            </a:r>
            <a:r>
              <a:rPr lang="es-ES" sz="2400" baseline="-25000" dirty="0">
                <a:latin typeface="Arial" panose="020B0604020202020204" pitchFamily="34" charset="0"/>
              </a:rPr>
              <a:t>FINAL</a:t>
            </a:r>
            <a:r>
              <a:rPr lang="es-ES" sz="2400" dirty="0">
                <a:latin typeface="Arial" panose="020B0604020202020204" pitchFamily="34" charset="0"/>
              </a:rPr>
              <a:t> = 0</a:t>
            </a:r>
          </a:p>
        </p:txBody>
      </p:sp>
      <p:sp>
        <p:nvSpPr>
          <p:cNvPr id="452718" name="Text Box 110"/>
          <p:cNvSpPr txBox="1">
            <a:spLocks noChangeArrowheads="1"/>
          </p:cNvSpPr>
          <p:nvPr/>
        </p:nvSpPr>
        <p:spPr bwMode="auto">
          <a:xfrm>
            <a:off x="4795117" y="5937763"/>
            <a:ext cx="2443595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V es constante</a:t>
            </a:r>
          </a:p>
        </p:txBody>
      </p:sp>
      <p:sp>
        <p:nvSpPr>
          <p:cNvPr id="452724" name="Text Box 116"/>
          <p:cNvSpPr txBox="1">
            <a:spLocks noChangeArrowheads="1"/>
          </p:cNvSpPr>
          <p:nvPr/>
        </p:nvSpPr>
        <p:spPr bwMode="auto">
          <a:xfrm>
            <a:off x="4917527" y="4120113"/>
            <a:ext cx="1723847" cy="536549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Se polariza</a:t>
            </a:r>
          </a:p>
        </p:txBody>
      </p:sp>
      <p:grpSp>
        <p:nvGrpSpPr>
          <p:cNvPr id="6" name="Grupo 5"/>
          <p:cNvGrpSpPr>
            <a:grpSpLocks/>
          </p:cNvGrpSpPr>
          <p:nvPr/>
        </p:nvGrpSpPr>
        <p:grpSpPr bwMode="auto">
          <a:xfrm>
            <a:off x="1669967" y="3860463"/>
            <a:ext cx="2815016" cy="1200338"/>
            <a:chOff x="1604231" y="4160833"/>
            <a:chExt cx="2816836" cy="1199593"/>
          </a:xfrm>
        </p:grpSpPr>
        <p:sp>
          <p:nvSpPr>
            <p:cNvPr id="48162" name="CuadroTexto 2"/>
            <p:cNvSpPr txBox="1">
              <a:spLocks noChangeArrowheads="1"/>
            </p:cNvSpPr>
            <p:nvPr/>
          </p:nvSpPr>
          <p:spPr bwMode="auto">
            <a:xfrm>
              <a:off x="1604231" y="4160833"/>
              <a:ext cx="2148990" cy="1199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s-ES" sz="2400" dirty="0">
                  <a:solidFill>
                    <a:srgbClr val="D60093"/>
                  </a:solidFill>
                </a:rPr>
                <a:t>Sin tocar</a:t>
              </a:r>
            </a:p>
            <a:p>
              <a:pPr algn="ctr"/>
              <a:r>
                <a:rPr lang="es-ES" sz="2400" dirty="0">
                  <a:solidFill>
                    <a:srgbClr val="D60093"/>
                  </a:solidFill>
                </a:rPr>
                <a:t>para evitar neutralización</a:t>
              </a:r>
            </a:p>
          </p:txBody>
        </p:sp>
        <p:cxnSp>
          <p:nvCxnSpPr>
            <p:cNvPr id="48163" name="Conector recto de flecha 4"/>
            <p:cNvCxnSpPr>
              <a:cxnSpLocks noChangeShapeType="1"/>
            </p:cNvCxnSpPr>
            <p:nvPr/>
          </p:nvCxnSpPr>
          <p:spPr bwMode="auto">
            <a:xfrm flipH="1">
              <a:off x="3761249" y="4358921"/>
              <a:ext cx="659818" cy="298911"/>
            </a:xfrm>
            <a:prstGeom prst="straightConnector1">
              <a:avLst/>
            </a:prstGeom>
            <a:noFill/>
            <a:ln w="38100" algn="ctr">
              <a:solidFill>
                <a:srgbClr val="D6009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" name="CuadroTexto 2"/>
          <p:cNvSpPr txBox="1">
            <a:spLocks noChangeArrowheads="1"/>
          </p:cNvSpPr>
          <p:nvPr/>
        </p:nvSpPr>
        <p:spPr bwMode="auto">
          <a:xfrm>
            <a:off x="6684967" y="1855576"/>
            <a:ext cx="31643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>
                <a:solidFill>
                  <a:srgbClr val="FF0000"/>
                </a:solidFill>
              </a:rPr>
              <a:t>(en todos sus puntos)</a:t>
            </a:r>
          </a:p>
        </p:txBody>
      </p:sp>
      <p:grpSp>
        <p:nvGrpSpPr>
          <p:cNvPr id="15" name="Grupo 14"/>
          <p:cNvGrpSpPr>
            <a:grpSpLocks/>
          </p:cNvGrpSpPr>
          <p:nvPr/>
        </p:nvGrpSpPr>
        <p:grpSpPr bwMode="auto">
          <a:xfrm>
            <a:off x="4857066" y="4707933"/>
            <a:ext cx="1879338" cy="812851"/>
            <a:chOff x="4901975" y="4377379"/>
            <a:chExt cx="1879536" cy="813060"/>
          </a:xfrm>
        </p:grpSpPr>
        <p:sp>
          <p:nvSpPr>
            <p:cNvPr id="48156" name="Text Box 4"/>
            <p:cNvSpPr txBox="1">
              <a:spLocks noChangeArrowheads="1"/>
            </p:cNvSpPr>
            <p:nvPr/>
          </p:nvSpPr>
          <p:spPr bwMode="auto">
            <a:xfrm>
              <a:off x="4901975" y="4653750"/>
              <a:ext cx="1879536" cy="5366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En equilibrio</a:t>
              </a:r>
            </a:p>
          </p:txBody>
        </p:sp>
        <p:sp>
          <p:nvSpPr>
            <p:cNvPr id="48157" name="Flecha abajo 12"/>
            <p:cNvSpPr>
              <a:spLocks noChangeArrowheads="1"/>
            </p:cNvSpPr>
            <p:nvPr/>
          </p:nvSpPr>
          <p:spPr bwMode="auto">
            <a:xfrm>
              <a:off x="5636241" y="4377379"/>
              <a:ext cx="422915" cy="180047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lIns="90000" tIns="118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</p:grpSp>
      <p:sp>
        <p:nvSpPr>
          <p:cNvPr id="134" name="Flecha abajo 12"/>
          <p:cNvSpPr>
            <a:spLocks noChangeArrowheads="1"/>
          </p:cNvSpPr>
          <p:nvPr/>
        </p:nvSpPr>
        <p:spPr bwMode="auto">
          <a:xfrm>
            <a:off x="8521438" y="2501342"/>
            <a:ext cx="422870" cy="312659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lIns="90000" tIns="118800" rIns="90000" bIns="828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10" name="Forma libre 9"/>
          <p:cNvSpPr/>
          <p:nvPr/>
        </p:nvSpPr>
        <p:spPr bwMode="auto">
          <a:xfrm>
            <a:off x="6848855" y="3651771"/>
            <a:ext cx="1885569" cy="720000"/>
          </a:xfrm>
          <a:custGeom>
            <a:avLst/>
            <a:gdLst>
              <a:gd name="connsiteX0" fmla="*/ 1380744 w 1380744"/>
              <a:gd name="connsiteY0" fmla="*/ 0 h 685800"/>
              <a:gd name="connsiteX1" fmla="*/ 1380744 w 1380744"/>
              <a:gd name="connsiteY1" fmla="*/ 676656 h 685800"/>
              <a:gd name="connsiteX2" fmla="*/ 0 w 1380744"/>
              <a:gd name="connsiteY2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0744" h="685800">
                <a:moveTo>
                  <a:pt x="1380744" y="0"/>
                </a:moveTo>
                <a:lnTo>
                  <a:pt x="1380744" y="676656"/>
                </a:lnTo>
                <a:lnTo>
                  <a:pt x="0" y="685800"/>
                </a:lnTo>
              </a:path>
            </a:pathLst>
          </a:custGeom>
          <a:noFill/>
          <a:ln w="1143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118800" rIns="90000" bIns="82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3" name="Forma libre 12"/>
          <p:cNvSpPr/>
          <p:nvPr/>
        </p:nvSpPr>
        <p:spPr bwMode="auto">
          <a:xfrm>
            <a:off x="5761038" y="6473185"/>
            <a:ext cx="1956498" cy="232183"/>
          </a:xfrm>
          <a:custGeom>
            <a:avLst/>
            <a:gdLst>
              <a:gd name="connsiteX0" fmla="*/ 0 w 2679192"/>
              <a:gd name="connsiteY0" fmla="*/ 0 h 219456"/>
              <a:gd name="connsiteX1" fmla="*/ 0 w 2679192"/>
              <a:gd name="connsiteY1" fmla="*/ 219456 h 219456"/>
              <a:gd name="connsiteX2" fmla="*/ 2679192 w 2679192"/>
              <a:gd name="connsiteY2" fmla="*/ 210312 h 219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9192" h="219456">
                <a:moveTo>
                  <a:pt x="0" y="0"/>
                </a:moveTo>
                <a:lnTo>
                  <a:pt x="0" y="219456"/>
                </a:lnTo>
                <a:lnTo>
                  <a:pt x="2679192" y="210312"/>
                </a:lnTo>
              </a:path>
            </a:pathLst>
          </a:custGeom>
          <a:noFill/>
          <a:ln w="1143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118800" rIns="90000" bIns="82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58" name="Text Box 110">
            <a:extLst>
              <a:ext uri="{FF2B5EF4-FFF2-40B4-BE49-F238E27FC236}">
                <a16:creationId xmlns:a16="http://schemas.microsoft.com/office/drawing/2014/main" id="{B42F77B1-073C-4BED-99E7-E54C5EDB0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1372" y="847947"/>
            <a:ext cx="7719014" cy="834066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ts val="2600"/>
              </a:lnSpc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¿Qué ocurre si se introduce un conductor o un aislante entre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las placas de un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condensador cargado?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411D9A6C-A1A9-4AB4-89A3-ACAAE761E355}"/>
              </a:ext>
            </a:extLst>
          </p:cNvPr>
          <p:cNvSpPr/>
          <p:nvPr/>
        </p:nvSpPr>
        <p:spPr bwMode="auto">
          <a:xfrm>
            <a:off x="3327093" y="2132388"/>
            <a:ext cx="1266940" cy="181154"/>
          </a:xfrm>
          <a:custGeom>
            <a:avLst/>
            <a:gdLst>
              <a:gd name="connsiteX0" fmla="*/ 0 w 1266940"/>
              <a:gd name="connsiteY0" fmla="*/ 15901 h 181154"/>
              <a:gd name="connsiteX1" fmla="*/ 914400 w 1266940"/>
              <a:gd name="connsiteY1" fmla="*/ 15901 h 181154"/>
              <a:gd name="connsiteX2" fmla="*/ 1266940 w 1266940"/>
              <a:gd name="connsiteY2" fmla="*/ 181154 h 181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66940" h="181154">
                <a:moveTo>
                  <a:pt x="0" y="15901"/>
                </a:moveTo>
                <a:cubicBezTo>
                  <a:pt x="351621" y="2130"/>
                  <a:pt x="703243" y="-11641"/>
                  <a:pt x="914400" y="15901"/>
                </a:cubicBezTo>
                <a:cubicBezTo>
                  <a:pt x="1125557" y="43443"/>
                  <a:pt x="1196248" y="112298"/>
                  <a:pt x="1266940" y="181154"/>
                </a:cubicBezTo>
              </a:path>
            </a:pathLst>
          </a:cu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0000" tIns="118800" rIns="90000" bIns="82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E639E06A-3AE0-6B42-6DDB-4320D73F54ED}"/>
              </a:ext>
            </a:extLst>
          </p:cNvPr>
          <p:cNvGrpSpPr/>
          <p:nvPr/>
        </p:nvGrpSpPr>
        <p:grpSpPr>
          <a:xfrm>
            <a:off x="1164549" y="4656662"/>
            <a:ext cx="3630568" cy="2215282"/>
            <a:chOff x="1164549" y="4656662"/>
            <a:chExt cx="3630568" cy="2215282"/>
          </a:xfrm>
        </p:grpSpPr>
        <p:sp>
          <p:nvSpPr>
            <p:cNvPr id="5" name="Text Box 112">
              <a:extLst>
                <a:ext uri="{FF2B5EF4-FFF2-40B4-BE49-F238E27FC236}">
                  <a16:creationId xmlns:a16="http://schemas.microsoft.com/office/drawing/2014/main" id="{FA4786B6-B83D-5736-7617-DA523E242A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4549" y="5227399"/>
              <a:ext cx="3056613" cy="1644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D60093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Hasta que las cargas inducidas crean en el conductor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D60093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-</a:t>
              </a:r>
              <a:r>
                <a:rPr lang="es-ES" sz="2400" b="1">
                  <a:solidFill>
                    <a:srgbClr val="D60093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E</a:t>
              </a:r>
              <a:r>
                <a:rPr lang="es-ES" sz="2400" baseline="-25000">
                  <a:solidFill>
                    <a:srgbClr val="D60093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APLICADO</a:t>
              </a:r>
              <a:endParaRPr lang="es-ES" sz="2400" baseline="-25000" dirty="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cxnSp>
          <p:nvCxnSpPr>
            <p:cNvPr id="4" name="Conector recto de flecha 4">
              <a:extLst>
                <a:ext uri="{FF2B5EF4-FFF2-40B4-BE49-F238E27FC236}">
                  <a16:creationId xmlns:a16="http://schemas.microsoft.com/office/drawing/2014/main" id="{EB414268-E286-315E-DD79-DC42C4B8051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817569" y="4656662"/>
              <a:ext cx="977548" cy="595846"/>
            </a:xfrm>
            <a:prstGeom prst="straightConnector1">
              <a:avLst/>
            </a:prstGeom>
            <a:noFill/>
            <a:ln w="38100" algn="ctr">
              <a:solidFill>
                <a:srgbClr val="D6009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739910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8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8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8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452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52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52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5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6" grpId="0" animBg="1"/>
      <p:bldP spid="48205" grpId="0" animBg="1"/>
      <p:bldP spid="48206" grpId="0" animBg="1"/>
      <p:bldP spid="452689" grpId="0"/>
      <p:bldP spid="452714" grpId="0" animBg="1"/>
      <p:bldP spid="452718" grpId="0"/>
      <p:bldP spid="452724" grpId="0" animBg="1"/>
      <p:bldP spid="3" grpId="0"/>
      <p:bldP spid="134" grpId="0" animBg="1"/>
      <p:bldP spid="10" grpId="0" animBg="1"/>
      <p:bldP spid="13" grpId="0" animBg="1"/>
      <p:bldP spid="58" grpId="0" animBg="1"/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58" name="Rectangle 5"/>
          <p:cNvSpPr>
            <a:spLocks noChangeArrowheads="1"/>
          </p:cNvSpPr>
          <p:nvPr/>
        </p:nvSpPr>
        <p:spPr bwMode="auto">
          <a:xfrm>
            <a:off x="4527359" y="1077956"/>
            <a:ext cx="2514858" cy="1445431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8259" name="Text Box 101"/>
          <p:cNvSpPr txBox="1">
            <a:spLocks noChangeArrowheads="1"/>
          </p:cNvSpPr>
          <p:nvPr/>
        </p:nvSpPr>
        <p:spPr bwMode="auto">
          <a:xfrm>
            <a:off x="1355130" y="434150"/>
            <a:ext cx="1755906" cy="536549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Dieléctrico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580001" y="1013671"/>
            <a:ext cx="2479675" cy="1517650"/>
            <a:chOff x="1459" y="3191"/>
            <a:chExt cx="1655" cy="956"/>
          </a:xfrm>
        </p:grpSpPr>
        <p:grpSp>
          <p:nvGrpSpPr>
            <p:cNvPr id="48223" name="Group 8"/>
            <p:cNvGrpSpPr>
              <a:grpSpLocks/>
            </p:cNvGrpSpPr>
            <p:nvPr/>
          </p:nvGrpSpPr>
          <p:grpSpPr bwMode="auto">
            <a:xfrm>
              <a:off x="2028" y="3191"/>
              <a:ext cx="497" cy="294"/>
              <a:chOff x="1823" y="3206"/>
              <a:chExt cx="497" cy="294"/>
            </a:xfrm>
          </p:grpSpPr>
          <p:sp>
            <p:nvSpPr>
              <p:cNvPr id="48255" name="Oval 9"/>
              <p:cNvSpPr>
                <a:spLocks noChangeArrowheads="1"/>
              </p:cNvSpPr>
              <p:nvPr/>
            </p:nvSpPr>
            <p:spPr bwMode="auto">
              <a:xfrm>
                <a:off x="1823" y="32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8256" name="Text Box 10"/>
              <p:cNvSpPr txBox="1">
                <a:spLocks noChangeArrowheads="1"/>
              </p:cNvSpPr>
              <p:nvPr/>
            </p:nvSpPr>
            <p:spPr bwMode="auto">
              <a:xfrm>
                <a:off x="2110" y="3223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8257" name="Text Box 11"/>
              <p:cNvSpPr txBox="1">
                <a:spLocks noChangeArrowheads="1"/>
              </p:cNvSpPr>
              <p:nvPr/>
            </p:nvSpPr>
            <p:spPr bwMode="auto">
              <a:xfrm>
                <a:off x="1826" y="3206"/>
                <a:ext cx="17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8224" name="Group 12"/>
            <p:cNvGrpSpPr>
              <a:grpSpLocks/>
            </p:cNvGrpSpPr>
            <p:nvPr/>
          </p:nvGrpSpPr>
          <p:grpSpPr bwMode="auto">
            <a:xfrm>
              <a:off x="2617" y="3191"/>
              <a:ext cx="497" cy="294"/>
              <a:chOff x="1823" y="3206"/>
              <a:chExt cx="497" cy="294"/>
            </a:xfrm>
          </p:grpSpPr>
          <p:sp>
            <p:nvSpPr>
              <p:cNvPr id="48252" name="Oval 13"/>
              <p:cNvSpPr>
                <a:spLocks noChangeArrowheads="1"/>
              </p:cNvSpPr>
              <p:nvPr/>
            </p:nvSpPr>
            <p:spPr bwMode="auto">
              <a:xfrm>
                <a:off x="1823" y="32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8253" name="Text Box 14"/>
              <p:cNvSpPr txBox="1">
                <a:spLocks noChangeArrowheads="1"/>
              </p:cNvSpPr>
              <p:nvPr/>
            </p:nvSpPr>
            <p:spPr bwMode="auto">
              <a:xfrm>
                <a:off x="2110" y="3223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8254" name="Text Box 15"/>
              <p:cNvSpPr txBox="1">
                <a:spLocks noChangeArrowheads="1"/>
              </p:cNvSpPr>
              <p:nvPr/>
            </p:nvSpPr>
            <p:spPr bwMode="auto">
              <a:xfrm>
                <a:off x="1826" y="3206"/>
                <a:ext cx="17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8225" name="Group 16"/>
            <p:cNvGrpSpPr>
              <a:grpSpLocks/>
            </p:cNvGrpSpPr>
            <p:nvPr/>
          </p:nvGrpSpPr>
          <p:grpSpPr bwMode="auto">
            <a:xfrm>
              <a:off x="1467" y="3191"/>
              <a:ext cx="497" cy="294"/>
              <a:chOff x="1823" y="3206"/>
              <a:chExt cx="497" cy="294"/>
            </a:xfrm>
          </p:grpSpPr>
          <p:sp>
            <p:nvSpPr>
              <p:cNvPr id="48249" name="Oval 17"/>
              <p:cNvSpPr>
                <a:spLocks noChangeArrowheads="1"/>
              </p:cNvSpPr>
              <p:nvPr/>
            </p:nvSpPr>
            <p:spPr bwMode="auto">
              <a:xfrm>
                <a:off x="1823" y="32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8250" name="Text Box 18"/>
              <p:cNvSpPr txBox="1">
                <a:spLocks noChangeArrowheads="1"/>
              </p:cNvSpPr>
              <p:nvPr/>
            </p:nvSpPr>
            <p:spPr bwMode="auto">
              <a:xfrm>
                <a:off x="2110" y="3223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8251" name="Text Box 19"/>
              <p:cNvSpPr txBox="1">
                <a:spLocks noChangeArrowheads="1"/>
              </p:cNvSpPr>
              <p:nvPr/>
            </p:nvSpPr>
            <p:spPr bwMode="auto">
              <a:xfrm>
                <a:off x="1826" y="3206"/>
                <a:ext cx="17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8226" name="Group 20"/>
            <p:cNvGrpSpPr>
              <a:grpSpLocks/>
            </p:cNvGrpSpPr>
            <p:nvPr/>
          </p:nvGrpSpPr>
          <p:grpSpPr bwMode="auto">
            <a:xfrm>
              <a:off x="2024" y="3517"/>
              <a:ext cx="497" cy="294"/>
              <a:chOff x="1823" y="3206"/>
              <a:chExt cx="497" cy="294"/>
            </a:xfrm>
          </p:grpSpPr>
          <p:sp>
            <p:nvSpPr>
              <p:cNvPr id="48246" name="Oval 21"/>
              <p:cNvSpPr>
                <a:spLocks noChangeArrowheads="1"/>
              </p:cNvSpPr>
              <p:nvPr/>
            </p:nvSpPr>
            <p:spPr bwMode="auto">
              <a:xfrm>
                <a:off x="1823" y="32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8247" name="Text Box 22"/>
              <p:cNvSpPr txBox="1">
                <a:spLocks noChangeArrowheads="1"/>
              </p:cNvSpPr>
              <p:nvPr/>
            </p:nvSpPr>
            <p:spPr bwMode="auto">
              <a:xfrm>
                <a:off x="2110" y="3223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8248" name="Text Box 23"/>
              <p:cNvSpPr txBox="1">
                <a:spLocks noChangeArrowheads="1"/>
              </p:cNvSpPr>
              <p:nvPr/>
            </p:nvSpPr>
            <p:spPr bwMode="auto">
              <a:xfrm>
                <a:off x="1826" y="3206"/>
                <a:ext cx="17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8227" name="Group 24"/>
            <p:cNvGrpSpPr>
              <a:grpSpLocks/>
            </p:cNvGrpSpPr>
            <p:nvPr/>
          </p:nvGrpSpPr>
          <p:grpSpPr bwMode="auto">
            <a:xfrm>
              <a:off x="2613" y="3517"/>
              <a:ext cx="497" cy="294"/>
              <a:chOff x="1823" y="3206"/>
              <a:chExt cx="497" cy="294"/>
            </a:xfrm>
          </p:grpSpPr>
          <p:sp>
            <p:nvSpPr>
              <p:cNvPr id="48243" name="Oval 25"/>
              <p:cNvSpPr>
                <a:spLocks noChangeArrowheads="1"/>
              </p:cNvSpPr>
              <p:nvPr/>
            </p:nvSpPr>
            <p:spPr bwMode="auto">
              <a:xfrm>
                <a:off x="1823" y="32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8244" name="Text Box 26"/>
              <p:cNvSpPr txBox="1">
                <a:spLocks noChangeArrowheads="1"/>
              </p:cNvSpPr>
              <p:nvPr/>
            </p:nvSpPr>
            <p:spPr bwMode="auto">
              <a:xfrm>
                <a:off x="2110" y="3223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8245" name="Text Box 27"/>
              <p:cNvSpPr txBox="1">
                <a:spLocks noChangeArrowheads="1"/>
              </p:cNvSpPr>
              <p:nvPr/>
            </p:nvSpPr>
            <p:spPr bwMode="auto">
              <a:xfrm>
                <a:off x="1826" y="3206"/>
                <a:ext cx="17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8228" name="Group 28"/>
            <p:cNvGrpSpPr>
              <a:grpSpLocks/>
            </p:cNvGrpSpPr>
            <p:nvPr/>
          </p:nvGrpSpPr>
          <p:grpSpPr bwMode="auto">
            <a:xfrm>
              <a:off x="1463" y="3517"/>
              <a:ext cx="497" cy="294"/>
              <a:chOff x="1823" y="3206"/>
              <a:chExt cx="497" cy="294"/>
            </a:xfrm>
          </p:grpSpPr>
          <p:sp>
            <p:nvSpPr>
              <p:cNvPr id="48240" name="Oval 29"/>
              <p:cNvSpPr>
                <a:spLocks noChangeArrowheads="1"/>
              </p:cNvSpPr>
              <p:nvPr/>
            </p:nvSpPr>
            <p:spPr bwMode="auto">
              <a:xfrm>
                <a:off x="1823" y="32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8241" name="Text Box 30"/>
              <p:cNvSpPr txBox="1">
                <a:spLocks noChangeArrowheads="1"/>
              </p:cNvSpPr>
              <p:nvPr/>
            </p:nvSpPr>
            <p:spPr bwMode="auto">
              <a:xfrm>
                <a:off x="2110" y="3223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8242" name="Text Box 31"/>
              <p:cNvSpPr txBox="1">
                <a:spLocks noChangeArrowheads="1"/>
              </p:cNvSpPr>
              <p:nvPr/>
            </p:nvSpPr>
            <p:spPr bwMode="auto">
              <a:xfrm>
                <a:off x="1826" y="3206"/>
                <a:ext cx="17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8229" name="Group 32"/>
            <p:cNvGrpSpPr>
              <a:grpSpLocks/>
            </p:cNvGrpSpPr>
            <p:nvPr/>
          </p:nvGrpSpPr>
          <p:grpSpPr bwMode="auto">
            <a:xfrm>
              <a:off x="2020" y="3853"/>
              <a:ext cx="497" cy="294"/>
              <a:chOff x="1823" y="3206"/>
              <a:chExt cx="497" cy="294"/>
            </a:xfrm>
          </p:grpSpPr>
          <p:sp>
            <p:nvSpPr>
              <p:cNvPr id="48237" name="Oval 33"/>
              <p:cNvSpPr>
                <a:spLocks noChangeArrowheads="1"/>
              </p:cNvSpPr>
              <p:nvPr/>
            </p:nvSpPr>
            <p:spPr bwMode="auto">
              <a:xfrm>
                <a:off x="1823" y="32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8238" name="Text Box 34"/>
              <p:cNvSpPr txBox="1">
                <a:spLocks noChangeArrowheads="1"/>
              </p:cNvSpPr>
              <p:nvPr/>
            </p:nvSpPr>
            <p:spPr bwMode="auto">
              <a:xfrm>
                <a:off x="2110" y="3223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8239" name="Text Box 35"/>
              <p:cNvSpPr txBox="1">
                <a:spLocks noChangeArrowheads="1"/>
              </p:cNvSpPr>
              <p:nvPr/>
            </p:nvSpPr>
            <p:spPr bwMode="auto">
              <a:xfrm>
                <a:off x="1826" y="3206"/>
                <a:ext cx="17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grpSp>
          <p:nvGrpSpPr>
            <p:cNvPr id="48230" name="Group 36"/>
            <p:cNvGrpSpPr>
              <a:grpSpLocks/>
            </p:cNvGrpSpPr>
            <p:nvPr/>
          </p:nvGrpSpPr>
          <p:grpSpPr bwMode="auto">
            <a:xfrm>
              <a:off x="2609" y="3853"/>
              <a:ext cx="497" cy="294"/>
              <a:chOff x="1823" y="3206"/>
              <a:chExt cx="497" cy="294"/>
            </a:xfrm>
          </p:grpSpPr>
          <p:sp>
            <p:nvSpPr>
              <p:cNvPr id="48234" name="Oval 37"/>
              <p:cNvSpPr>
                <a:spLocks noChangeArrowheads="1"/>
              </p:cNvSpPr>
              <p:nvPr/>
            </p:nvSpPr>
            <p:spPr bwMode="auto">
              <a:xfrm>
                <a:off x="1823" y="3247"/>
                <a:ext cx="474" cy="237"/>
              </a:xfrm>
              <a:prstGeom prst="ellipse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8235" name="Text Box 38"/>
              <p:cNvSpPr txBox="1">
                <a:spLocks noChangeArrowheads="1"/>
              </p:cNvSpPr>
              <p:nvPr/>
            </p:nvSpPr>
            <p:spPr bwMode="auto">
              <a:xfrm>
                <a:off x="2110" y="3223"/>
                <a:ext cx="210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48236" name="Text Box 39"/>
              <p:cNvSpPr txBox="1">
                <a:spLocks noChangeArrowheads="1"/>
              </p:cNvSpPr>
              <p:nvPr/>
            </p:nvSpPr>
            <p:spPr bwMode="auto">
              <a:xfrm>
                <a:off x="1826" y="3206"/>
                <a:ext cx="172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  <p:sp>
          <p:nvSpPr>
            <p:cNvPr id="48231" name="Oval 40"/>
            <p:cNvSpPr>
              <a:spLocks noChangeArrowheads="1"/>
            </p:cNvSpPr>
            <p:nvPr/>
          </p:nvSpPr>
          <p:spPr bwMode="auto">
            <a:xfrm>
              <a:off x="1459" y="3894"/>
              <a:ext cx="474" cy="237"/>
            </a:xfrm>
            <a:prstGeom prst="ellipse">
              <a:avLst/>
            </a:prstGeom>
            <a:solidFill>
              <a:srgbClr val="99CCFF"/>
            </a:solidFill>
            <a:ln w="12700" algn="ctr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8232" name="Text Box 41"/>
            <p:cNvSpPr txBox="1">
              <a:spLocks noChangeArrowheads="1"/>
            </p:cNvSpPr>
            <p:nvPr/>
          </p:nvSpPr>
          <p:spPr bwMode="auto">
            <a:xfrm>
              <a:off x="1746" y="3870"/>
              <a:ext cx="210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8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48233" name="Text Box 42"/>
            <p:cNvSpPr txBox="1">
              <a:spLocks noChangeArrowheads="1"/>
            </p:cNvSpPr>
            <p:nvPr/>
          </p:nvSpPr>
          <p:spPr bwMode="auto">
            <a:xfrm>
              <a:off x="1462" y="3853"/>
              <a:ext cx="172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800" b="1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</p:grpSp>
      <p:sp>
        <p:nvSpPr>
          <p:cNvPr id="19490" name="Text Box 86"/>
          <p:cNvSpPr txBox="1">
            <a:spLocks noChangeArrowheads="1"/>
          </p:cNvSpPr>
          <p:nvPr/>
        </p:nvSpPr>
        <p:spPr bwMode="auto">
          <a:xfrm>
            <a:off x="7903768" y="1465762"/>
            <a:ext cx="1794763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s-ES" sz="2400" dirty="0">
                <a:latin typeface="Arial" panose="020B0604020202020204" pitchFamily="34" charset="0"/>
              </a:rPr>
              <a:t>V</a:t>
            </a:r>
            <a:r>
              <a:rPr lang="es-ES" sz="2400" baseline="-25000" dirty="0">
                <a:latin typeface="Arial" panose="020B0604020202020204" pitchFamily="34" charset="0"/>
              </a:rPr>
              <a:t>INICIAL</a:t>
            </a:r>
            <a:r>
              <a:rPr lang="es-ES" sz="2400" dirty="0">
                <a:latin typeface="Arial" panose="020B0604020202020204" pitchFamily="34" charset="0"/>
              </a:rPr>
              <a:t> ≠ 0</a:t>
            </a:r>
          </a:p>
        </p:txBody>
      </p:sp>
      <p:sp>
        <p:nvSpPr>
          <p:cNvPr id="452715" name="Rectangle 107"/>
          <p:cNvSpPr>
            <a:spLocks noChangeArrowheads="1"/>
          </p:cNvSpPr>
          <p:nvPr/>
        </p:nvSpPr>
        <p:spPr bwMode="auto">
          <a:xfrm>
            <a:off x="4814951" y="1070821"/>
            <a:ext cx="1957388" cy="1470025"/>
          </a:xfrm>
          <a:prstGeom prst="rect">
            <a:avLst/>
          </a:prstGeom>
          <a:solidFill>
            <a:srgbClr val="99CCFF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lgDash"/>
                <a:round/>
                <a:headEnd/>
                <a:tailEnd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52716" name="Text Box 108"/>
          <p:cNvSpPr txBox="1">
            <a:spLocks noChangeArrowheads="1"/>
          </p:cNvSpPr>
          <p:nvPr/>
        </p:nvSpPr>
        <p:spPr bwMode="auto">
          <a:xfrm>
            <a:off x="4751640" y="4002711"/>
            <a:ext cx="5812145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b="1" dirty="0" err="1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baseline="-25000" dirty="0" err="1">
                <a:latin typeface="Arial" panose="020B0604020202020204" pitchFamily="34" charset="0"/>
                <a:sym typeface="Symbol" panose="05050102010706020507" pitchFamily="18" charset="2"/>
              </a:rPr>
              <a:t>total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en aislante es menor,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pero no nulo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52717" name="Text Box 109"/>
          <p:cNvSpPr txBox="1">
            <a:spLocks noChangeArrowheads="1"/>
          </p:cNvSpPr>
          <p:nvPr/>
        </p:nvSpPr>
        <p:spPr bwMode="auto">
          <a:xfrm>
            <a:off x="7878177" y="4863274"/>
            <a:ext cx="1842388" cy="8906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>
            <a:no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s-ES" sz="2400" dirty="0">
                <a:latin typeface="Arial" panose="020B0604020202020204" pitchFamily="34" charset="0"/>
              </a:rPr>
              <a:t>V</a:t>
            </a:r>
            <a:r>
              <a:rPr lang="es-ES" sz="2400" baseline="-25000" dirty="0">
                <a:latin typeface="Arial" panose="020B0604020202020204" pitchFamily="34" charset="0"/>
              </a:rPr>
              <a:t>FINAL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</a:t>
            </a:r>
            <a:r>
              <a:rPr lang="es-ES" sz="2400" dirty="0">
                <a:latin typeface="Arial" panose="020B0604020202020204" pitchFamily="34" charset="0"/>
              </a:rPr>
              <a:t> 0   </a:t>
            </a:r>
            <a:r>
              <a:rPr lang="es-ES" sz="2400">
                <a:latin typeface="Arial" panose="020B0604020202020204" pitchFamily="34" charset="0"/>
              </a:rPr>
              <a:t>pero menor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452722" name="Text Box 114"/>
          <p:cNvSpPr txBox="1">
            <a:spLocks noChangeArrowheads="1"/>
          </p:cNvSpPr>
          <p:nvPr/>
        </p:nvSpPr>
        <p:spPr bwMode="auto">
          <a:xfrm>
            <a:off x="4751640" y="4522630"/>
            <a:ext cx="2871597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V no es constante</a:t>
            </a:r>
          </a:p>
        </p:txBody>
      </p:sp>
      <p:grpSp>
        <p:nvGrpSpPr>
          <p:cNvPr id="25" name="Group 117"/>
          <p:cNvGrpSpPr>
            <a:grpSpLocks/>
          </p:cNvGrpSpPr>
          <p:nvPr/>
        </p:nvGrpSpPr>
        <p:grpSpPr bwMode="auto">
          <a:xfrm>
            <a:off x="4778439" y="1383559"/>
            <a:ext cx="1677987" cy="550862"/>
            <a:chOff x="5437" y="2616"/>
            <a:chExt cx="1057" cy="347"/>
          </a:xfrm>
        </p:grpSpPr>
        <p:sp>
          <p:nvSpPr>
            <p:cNvPr id="48164" name="Line 103"/>
            <p:cNvSpPr>
              <a:spLocks noChangeShapeType="1"/>
            </p:cNvSpPr>
            <p:nvPr/>
          </p:nvSpPr>
          <p:spPr bwMode="auto">
            <a:xfrm>
              <a:off x="5756" y="2962"/>
              <a:ext cx="524" cy="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48165" name="Text Box 104"/>
            <p:cNvSpPr txBox="1">
              <a:spLocks noChangeArrowheads="1"/>
            </p:cNvSpPr>
            <p:nvPr/>
          </p:nvSpPr>
          <p:spPr bwMode="auto">
            <a:xfrm>
              <a:off x="5437" y="2616"/>
              <a:ext cx="105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</a:t>
              </a:r>
              <a:r>
                <a:rPr lang="es-ES" sz="24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="1" baseline="-25000" dirty="0">
                  <a:solidFill>
                    <a:srgbClr val="FF0000"/>
                  </a:solidFill>
                  <a:latin typeface="Arial" panose="020B0604020202020204" pitchFamily="34" charset="0"/>
                </a:rPr>
                <a:t>POLARIZACIÓN</a:t>
              </a:r>
              <a:endParaRPr lang="es-ES" sz="2400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8166" name="Line 105"/>
            <p:cNvSpPr>
              <a:spLocks noChangeShapeType="1"/>
            </p:cNvSpPr>
            <p:nvPr/>
          </p:nvSpPr>
          <p:spPr bwMode="auto">
            <a:xfrm>
              <a:off x="5548" y="2673"/>
              <a:ext cx="136" cy="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grpSp>
        <p:nvGrpSpPr>
          <p:cNvPr id="48158" name="Group 111"/>
          <p:cNvGrpSpPr>
            <a:grpSpLocks/>
          </p:cNvGrpSpPr>
          <p:nvPr/>
        </p:nvGrpSpPr>
        <p:grpSpPr bwMode="auto">
          <a:xfrm>
            <a:off x="1063958" y="2457211"/>
            <a:ext cx="3886202" cy="1497791"/>
            <a:chOff x="4090" y="2457"/>
            <a:chExt cx="2448" cy="944"/>
          </a:xfrm>
        </p:grpSpPr>
        <p:sp>
          <p:nvSpPr>
            <p:cNvPr id="48160" name="Text Box 112"/>
            <p:cNvSpPr txBox="1">
              <a:spLocks noChangeArrowheads="1"/>
            </p:cNvSpPr>
            <p:nvPr/>
          </p:nvSpPr>
          <p:spPr bwMode="auto">
            <a:xfrm>
              <a:off x="4090" y="2597"/>
              <a:ext cx="2142" cy="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D60093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Se </a:t>
              </a:r>
              <a:r>
                <a:rPr lang="es-ES" sz="2400">
                  <a:solidFill>
                    <a:srgbClr val="D60093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cancela su efecto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D60093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al estar </a:t>
              </a:r>
              <a:r>
                <a:rPr lang="es-ES" sz="2400" dirty="0">
                  <a:solidFill>
                    <a:srgbClr val="D60093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próximas          (son </a:t>
              </a:r>
              <a:r>
                <a:rPr lang="es-ES" sz="2400">
                  <a:solidFill>
                    <a:srgbClr val="D60093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como Q</a:t>
              </a:r>
              <a:r>
                <a:rPr lang="es-ES" sz="2400" baseline="-25000">
                  <a:solidFill>
                    <a:srgbClr val="D60093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puntual</a:t>
              </a:r>
              <a:r>
                <a:rPr lang="es-ES" sz="2400">
                  <a:solidFill>
                    <a:srgbClr val="D60093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</a:t>
              </a:r>
              <a:r>
                <a:rPr lang="es-ES" sz="2400" dirty="0">
                  <a:solidFill>
                    <a:srgbClr val="D60093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nula)</a:t>
              </a:r>
              <a:endParaRPr lang="es-ES" sz="2400" baseline="-25000" dirty="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48161" name="Line 113"/>
            <p:cNvSpPr>
              <a:spLocks noChangeShapeType="1"/>
            </p:cNvSpPr>
            <p:nvPr/>
          </p:nvSpPr>
          <p:spPr bwMode="auto">
            <a:xfrm flipH="1">
              <a:off x="6124" y="2457"/>
              <a:ext cx="414" cy="244"/>
            </a:xfrm>
            <a:prstGeom prst="line">
              <a:avLst/>
            </a:prstGeom>
            <a:noFill/>
            <a:ln w="38100">
              <a:solidFill>
                <a:srgbClr val="D6009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n-GB"/>
            </a:p>
          </p:txBody>
        </p:sp>
      </p:grpSp>
      <p:sp>
        <p:nvSpPr>
          <p:cNvPr id="48159" name="Elipse 9"/>
          <p:cNvSpPr>
            <a:spLocks noChangeArrowheads="1"/>
          </p:cNvSpPr>
          <p:nvPr/>
        </p:nvSpPr>
        <p:spPr bwMode="auto">
          <a:xfrm>
            <a:off x="5016439" y="2192049"/>
            <a:ext cx="618943" cy="225907"/>
          </a:xfrm>
          <a:prstGeom prst="ellipse">
            <a:avLst/>
          </a:prstGeom>
          <a:noFill/>
          <a:ln w="25400" algn="ctr">
            <a:solidFill>
              <a:srgbClr val="D60093"/>
            </a:solidFill>
            <a:prstDash val="dash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118800" rIns="90000" bIns="828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143" name="Flecha abajo 12"/>
          <p:cNvSpPr>
            <a:spLocks noChangeArrowheads="1"/>
          </p:cNvSpPr>
          <p:nvPr/>
        </p:nvSpPr>
        <p:spPr bwMode="auto">
          <a:xfrm>
            <a:off x="8511913" y="1045231"/>
            <a:ext cx="422870" cy="312659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lIns="90000" tIns="118800" rIns="90000" bIns="828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145" name="Forma libre 144"/>
          <p:cNvSpPr/>
          <p:nvPr/>
        </p:nvSpPr>
        <p:spPr bwMode="auto">
          <a:xfrm>
            <a:off x="5761038" y="5082548"/>
            <a:ext cx="1956498" cy="232183"/>
          </a:xfrm>
          <a:custGeom>
            <a:avLst/>
            <a:gdLst>
              <a:gd name="connsiteX0" fmla="*/ 0 w 2679192"/>
              <a:gd name="connsiteY0" fmla="*/ 0 h 219456"/>
              <a:gd name="connsiteX1" fmla="*/ 0 w 2679192"/>
              <a:gd name="connsiteY1" fmla="*/ 219456 h 219456"/>
              <a:gd name="connsiteX2" fmla="*/ 2679192 w 2679192"/>
              <a:gd name="connsiteY2" fmla="*/ 210312 h 219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9192" h="219456">
                <a:moveTo>
                  <a:pt x="0" y="0"/>
                </a:moveTo>
                <a:lnTo>
                  <a:pt x="0" y="219456"/>
                </a:lnTo>
                <a:lnTo>
                  <a:pt x="2679192" y="210312"/>
                </a:lnTo>
              </a:path>
            </a:pathLst>
          </a:custGeom>
          <a:noFill/>
          <a:ln w="1143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118800" rIns="90000" bIns="82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84" name="Group 125">
            <a:extLst>
              <a:ext uri="{FF2B5EF4-FFF2-40B4-BE49-F238E27FC236}">
                <a16:creationId xmlns:a16="http://schemas.microsoft.com/office/drawing/2014/main" id="{913BAC38-9B74-4D72-8634-C628162D0D87}"/>
              </a:ext>
            </a:extLst>
          </p:cNvPr>
          <p:cNvGrpSpPr>
            <a:grpSpLocks/>
          </p:cNvGrpSpPr>
          <p:nvPr/>
        </p:nvGrpSpPr>
        <p:grpSpPr bwMode="auto">
          <a:xfrm>
            <a:off x="4057279" y="892259"/>
            <a:ext cx="3524250" cy="1743075"/>
            <a:chOff x="1135" y="1415"/>
            <a:chExt cx="2220" cy="1098"/>
          </a:xfrm>
        </p:grpSpPr>
        <p:grpSp>
          <p:nvGrpSpPr>
            <p:cNvPr id="86" name="Group 120">
              <a:extLst>
                <a:ext uri="{FF2B5EF4-FFF2-40B4-BE49-F238E27FC236}">
                  <a16:creationId xmlns:a16="http://schemas.microsoft.com/office/drawing/2014/main" id="{CCD6BDBD-53B6-48FC-96AB-5B9B0114EC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35" y="1415"/>
              <a:ext cx="321" cy="1098"/>
              <a:chOff x="1135" y="1415"/>
              <a:chExt cx="321" cy="1098"/>
            </a:xfrm>
          </p:grpSpPr>
          <p:sp>
            <p:nvSpPr>
              <p:cNvPr id="95" name="Rectangle 43">
                <a:extLst>
                  <a:ext uri="{FF2B5EF4-FFF2-40B4-BE49-F238E27FC236}">
                    <a16:creationId xmlns:a16="http://schemas.microsoft.com/office/drawing/2014/main" id="{F2856C8F-EF83-4E63-B5B9-5D34D540BD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2" y="1512"/>
                <a:ext cx="61" cy="926"/>
              </a:xfrm>
              <a:prstGeom prst="rect">
                <a:avLst/>
              </a:prstGeom>
              <a:solidFill>
                <a:srgbClr val="FFFF00"/>
              </a:solidFill>
              <a:ln w="12700" algn="ctr">
                <a:solidFill>
                  <a:srgbClr val="FFFF00"/>
                </a:solidFill>
                <a:miter lim="800000"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96" name="Rectangle 46">
                <a:extLst>
                  <a:ext uri="{FF2B5EF4-FFF2-40B4-BE49-F238E27FC236}">
                    <a16:creationId xmlns:a16="http://schemas.microsoft.com/office/drawing/2014/main" id="{5AF8AA96-2032-41D2-8CF1-0C415686A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1227" y="1876"/>
                <a:ext cx="31" cy="216"/>
              </a:xfrm>
              <a:prstGeom prst="rect">
                <a:avLst/>
              </a:prstGeom>
              <a:solidFill>
                <a:srgbClr val="FFFF00"/>
              </a:solidFill>
              <a:ln w="12700" algn="ctr">
                <a:solidFill>
                  <a:srgbClr val="FFFF00"/>
                </a:solidFill>
                <a:miter lim="800000"/>
                <a:headEnd/>
                <a:tailEnd type="none" w="lg" len="lg"/>
              </a:ln>
            </p:spPr>
            <p:txBody>
              <a:bodyPr vert="eaVert"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97" name="Text Box 53">
                <a:extLst>
                  <a:ext uri="{FF2B5EF4-FFF2-40B4-BE49-F238E27FC236}">
                    <a16:creationId xmlns:a16="http://schemas.microsoft.com/office/drawing/2014/main" id="{B29DC919-85D6-4B57-98F3-6E56A5F61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30" y="1415"/>
                <a:ext cx="226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98" name="Text Box 54">
                <a:extLst>
                  <a:ext uri="{FF2B5EF4-FFF2-40B4-BE49-F238E27FC236}">
                    <a16:creationId xmlns:a16="http://schemas.microsoft.com/office/drawing/2014/main" id="{64FFC061-A801-4CA2-8BDF-65332C9423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30" y="1581"/>
                <a:ext cx="226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99" name="Text Box 55">
                <a:extLst>
                  <a:ext uri="{FF2B5EF4-FFF2-40B4-BE49-F238E27FC236}">
                    <a16:creationId xmlns:a16="http://schemas.microsoft.com/office/drawing/2014/main" id="{2B0308A8-D94B-487D-91C6-5DAE771382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30" y="1797"/>
                <a:ext cx="226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100" name="Text Box 56">
                <a:extLst>
                  <a:ext uri="{FF2B5EF4-FFF2-40B4-BE49-F238E27FC236}">
                    <a16:creationId xmlns:a16="http://schemas.microsoft.com/office/drawing/2014/main" id="{ACA929CB-C754-48A8-A24E-F6D0E2973C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30" y="1993"/>
                <a:ext cx="226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  <p:sp>
            <p:nvSpPr>
              <p:cNvPr id="101" name="Text Box 57">
                <a:extLst>
                  <a:ext uri="{FF2B5EF4-FFF2-40B4-BE49-F238E27FC236}">
                    <a16:creationId xmlns:a16="http://schemas.microsoft.com/office/drawing/2014/main" id="{941D21D2-A3C1-430E-B317-677364C861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30" y="2179"/>
                <a:ext cx="226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</p:grpSp>
        <p:grpSp>
          <p:nvGrpSpPr>
            <p:cNvPr id="87" name="Group 121">
              <a:extLst>
                <a:ext uri="{FF2B5EF4-FFF2-40B4-BE49-F238E27FC236}">
                  <a16:creationId xmlns:a16="http://schemas.microsoft.com/office/drawing/2014/main" id="{58C4C7BB-CA58-467A-AA95-CA9ADB9DC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0" y="1420"/>
              <a:ext cx="335" cy="1078"/>
              <a:chOff x="3020" y="1420"/>
              <a:chExt cx="335" cy="1078"/>
            </a:xfrm>
          </p:grpSpPr>
          <p:sp>
            <p:nvSpPr>
              <p:cNvPr id="88" name="Rectangle 44">
                <a:extLst>
                  <a:ext uri="{FF2B5EF4-FFF2-40B4-BE49-F238E27FC236}">
                    <a16:creationId xmlns:a16="http://schemas.microsoft.com/office/drawing/2014/main" id="{7E21AD5D-6F69-4B58-81DA-7ACF382C9E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512"/>
                <a:ext cx="61" cy="926"/>
              </a:xfrm>
              <a:prstGeom prst="rect">
                <a:avLst/>
              </a:prstGeom>
              <a:solidFill>
                <a:srgbClr val="FFFF00"/>
              </a:solidFill>
              <a:ln w="12700" algn="ctr">
                <a:solidFill>
                  <a:srgbClr val="FFFF00"/>
                </a:solidFill>
                <a:miter lim="800000"/>
                <a:headEnd/>
                <a:tailEnd type="none" w="lg" len="lg"/>
              </a:ln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89" name="Rectangle 45">
                <a:extLst>
                  <a:ext uri="{FF2B5EF4-FFF2-40B4-BE49-F238E27FC236}">
                    <a16:creationId xmlns:a16="http://schemas.microsoft.com/office/drawing/2014/main" id="{9E4DE9A3-4227-49CA-833C-0368CFF874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3231" y="1875"/>
                <a:ext cx="31" cy="216"/>
              </a:xfrm>
              <a:prstGeom prst="rect">
                <a:avLst/>
              </a:prstGeom>
              <a:solidFill>
                <a:srgbClr val="FFFF00"/>
              </a:solidFill>
              <a:ln w="12700" algn="ctr">
                <a:solidFill>
                  <a:srgbClr val="FFFF00"/>
                </a:solidFill>
                <a:miter lim="800000"/>
                <a:headEnd/>
                <a:tailEnd type="none" w="lg" len="lg"/>
              </a:ln>
            </p:spPr>
            <p:txBody>
              <a:bodyPr vert="eaVert"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90" name="Text Box 58">
                <a:extLst>
                  <a:ext uri="{FF2B5EF4-FFF2-40B4-BE49-F238E27FC236}">
                    <a16:creationId xmlns:a16="http://schemas.microsoft.com/office/drawing/2014/main" id="{6B93551C-3AA6-4A4D-B4D9-49804370BF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4" y="1420"/>
                <a:ext cx="178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91" name="Text Box 59">
                <a:extLst>
                  <a:ext uri="{FF2B5EF4-FFF2-40B4-BE49-F238E27FC236}">
                    <a16:creationId xmlns:a16="http://schemas.microsoft.com/office/drawing/2014/main" id="{D6E00026-EA17-4C28-B68C-8571645F14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4" y="1606"/>
                <a:ext cx="178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92" name="Text Box 60">
                <a:extLst>
                  <a:ext uri="{FF2B5EF4-FFF2-40B4-BE49-F238E27FC236}">
                    <a16:creationId xmlns:a16="http://schemas.microsoft.com/office/drawing/2014/main" id="{014DE73B-1948-4964-9F48-DD0745DEE4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4" y="1792"/>
                <a:ext cx="178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93" name="Text Box 61">
                <a:extLst>
                  <a:ext uri="{FF2B5EF4-FFF2-40B4-BE49-F238E27FC236}">
                    <a16:creationId xmlns:a16="http://schemas.microsoft.com/office/drawing/2014/main" id="{03F0F359-749C-4BDA-83B8-A6097E7584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4" y="1978"/>
                <a:ext cx="178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94" name="Text Box 62">
                <a:extLst>
                  <a:ext uri="{FF2B5EF4-FFF2-40B4-BE49-F238E27FC236}">
                    <a16:creationId xmlns:a16="http://schemas.microsoft.com/office/drawing/2014/main" id="{92FB31BA-F375-47CF-8160-9BF030FA40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0" y="2164"/>
                <a:ext cx="267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</p:grpSp>
      </p:grpSp>
      <p:sp>
        <p:nvSpPr>
          <p:cNvPr id="106" name="Forma libre: forma 105">
            <a:extLst>
              <a:ext uri="{FF2B5EF4-FFF2-40B4-BE49-F238E27FC236}">
                <a16:creationId xmlns:a16="http://schemas.microsoft.com/office/drawing/2014/main" id="{C98C778B-C443-4297-86DD-989BD94A79C2}"/>
              </a:ext>
            </a:extLst>
          </p:cNvPr>
          <p:cNvSpPr/>
          <p:nvPr/>
        </p:nvSpPr>
        <p:spPr bwMode="auto">
          <a:xfrm>
            <a:off x="3327093" y="656127"/>
            <a:ext cx="1266940" cy="181154"/>
          </a:xfrm>
          <a:custGeom>
            <a:avLst/>
            <a:gdLst>
              <a:gd name="connsiteX0" fmla="*/ 0 w 1266940"/>
              <a:gd name="connsiteY0" fmla="*/ 15901 h 181154"/>
              <a:gd name="connsiteX1" fmla="*/ 914400 w 1266940"/>
              <a:gd name="connsiteY1" fmla="*/ 15901 h 181154"/>
              <a:gd name="connsiteX2" fmla="*/ 1266940 w 1266940"/>
              <a:gd name="connsiteY2" fmla="*/ 181154 h 181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66940" h="181154">
                <a:moveTo>
                  <a:pt x="0" y="15901"/>
                </a:moveTo>
                <a:cubicBezTo>
                  <a:pt x="351621" y="2130"/>
                  <a:pt x="703243" y="-11641"/>
                  <a:pt x="914400" y="15901"/>
                </a:cubicBezTo>
                <a:cubicBezTo>
                  <a:pt x="1125557" y="43443"/>
                  <a:pt x="1196248" y="112298"/>
                  <a:pt x="1266940" y="181154"/>
                </a:cubicBezTo>
              </a:path>
            </a:pathLst>
          </a:cu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0000" tIns="118800" rIns="90000" bIns="82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107" name="Group 128">
            <a:extLst>
              <a:ext uri="{FF2B5EF4-FFF2-40B4-BE49-F238E27FC236}">
                <a16:creationId xmlns:a16="http://schemas.microsoft.com/office/drawing/2014/main" id="{9ABDE89F-C2CC-4CFB-BD7A-00A5ED6C828B}"/>
              </a:ext>
            </a:extLst>
          </p:cNvPr>
          <p:cNvGrpSpPr>
            <a:grpSpLocks/>
          </p:cNvGrpSpPr>
          <p:nvPr/>
        </p:nvGrpSpPr>
        <p:grpSpPr bwMode="auto">
          <a:xfrm>
            <a:off x="5273260" y="311139"/>
            <a:ext cx="1455737" cy="554038"/>
            <a:chOff x="1940" y="1277"/>
            <a:chExt cx="917" cy="349"/>
          </a:xfrm>
        </p:grpSpPr>
        <p:sp>
          <p:nvSpPr>
            <p:cNvPr id="108" name="Line 48">
              <a:extLst>
                <a:ext uri="{FF2B5EF4-FFF2-40B4-BE49-F238E27FC236}">
                  <a16:creationId xmlns:a16="http://schemas.microsoft.com/office/drawing/2014/main" id="{667641BF-CD3F-4604-B99F-95DCB04F92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8" y="1625"/>
              <a:ext cx="524" cy="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09" name="Text Box 49">
              <a:extLst>
                <a:ext uri="{FF2B5EF4-FFF2-40B4-BE49-F238E27FC236}">
                  <a16:creationId xmlns:a16="http://schemas.microsoft.com/office/drawing/2014/main" id="{19CAA338-5312-459F-9432-D4EC5A1BC6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0" y="1277"/>
              <a:ext cx="917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="1" baseline="-25000">
                  <a:solidFill>
                    <a:srgbClr val="FF0000"/>
                  </a:solidFill>
                  <a:latin typeface="Arial" panose="020B0604020202020204" pitchFamily="34" charset="0"/>
                </a:rPr>
                <a:t>APLICADO</a:t>
              </a:r>
              <a:endParaRPr lang="es-ES" sz="2400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0" name="Line 50">
              <a:extLst>
                <a:ext uri="{FF2B5EF4-FFF2-40B4-BE49-F238E27FC236}">
                  <a16:creationId xmlns:a16="http://schemas.microsoft.com/office/drawing/2014/main" id="{4704A052-7022-4EC8-9E94-0DC5DA16E4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4" y="1350"/>
              <a:ext cx="136" cy="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</p:grp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C91738CB-48C1-4478-943A-51C0DC732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6531" y="379315"/>
            <a:ext cx="31643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>
                <a:solidFill>
                  <a:srgbClr val="FF0000"/>
                </a:solidFill>
              </a:rPr>
              <a:t>(en todos sus puntos)</a:t>
            </a:r>
          </a:p>
        </p:txBody>
      </p:sp>
      <p:sp>
        <p:nvSpPr>
          <p:cNvPr id="112" name="Text Box 116">
            <a:extLst>
              <a:ext uri="{FF2B5EF4-FFF2-40B4-BE49-F238E27FC236}">
                <a16:creationId xmlns:a16="http://schemas.microsoft.com/office/drawing/2014/main" id="{68F86991-DFD4-45F3-91A2-59F72F555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7527" y="2643852"/>
            <a:ext cx="1723847" cy="536549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Se polariza</a:t>
            </a:r>
          </a:p>
        </p:txBody>
      </p:sp>
      <p:sp>
        <p:nvSpPr>
          <p:cNvPr id="113" name="Forma libre 9">
            <a:extLst>
              <a:ext uri="{FF2B5EF4-FFF2-40B4-BE49-F238E27FC236}">
                <a16:creationId xmlns:a16="http://schemas.microsoft.com/office/drawing/2014/main" id="{0544E92A-CF9A-4222-9754-6CDBB5B98668}"/>
              </a:ext>
            </a:extLst>
          </p:cNvPr>
          <p:cNvSpPr/>
          <p:nvPr/>
        </p:nvSpPr>
        <p:spPr bwMode="auto">
          <a:xfrm>
            <a:off x="6848855" y="2175510"/>
            <a:ext cx="1885569" cy="720000"/>
          </a:xfrm>
          <a:custGeom>
            <a:avLst/>
            <a:gdLst>
              <a:gd name="connsiteX0" fmla="*/ 1380744 w 1380744"/>
              <a:gd name="connsiteY0" fmla="*/ 0 h 685800"/>
              <a:gd name="connsiteX1" fmla="*/ 1380744 w 1380744"/>
              <a:gd name="connsiteY1" fmla="*/ 676656 h 685800"/>
              <a:gd name="connsiteX2" fmla="*/ 0 w 1380744"/>
              <a:gd name="connsiteY2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0744" h="685800">
                <a:moveTo>
                  <a:pt x="1380744" y="0"/>
                </a:moveTo>
                <a:lnTo>
                  <a:pt x="1380744" y="676656"/>
                </a:lnTo>
                <a:lnTo>
                  <a:pt x="0" y="685800"/>
                </a:lnTo>
              </a:path>
            </a:pathLst>
          </a:custGeom>
          <a:noFill/>
          <a:ln w="1143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118800" rIns="90000" bIns="82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90C731DF-3624-49EF-826A-B9D127764187}"/>
              </a:ext>
            </a:extLst>
          </p:cNvPr>
          <p:cNvGrpSpPr>
            <a:grpSpLocks/>
          </p:cNvGrpSpPr>
          <p:nvPr/>
        </p:nvGrpSpPr>
        <p:grpSpPr bwMode="auto">
          <a:xfrm>
            <a:off x="4857066" y="3231672"/>
            <a:ext cx="1879338" cy="812851"/>
            <a:chOff x="4901975" y="4377379"/>
            <a:chExt cx="1879536" cy="813060"/>
          </a:xfrm>
        </p:grpSpPr>
        <p:sp>
          <p:nvSpPr>
            <p:cNvPr id="115" name="Text Box 4">
              <a:extLst>
                <a:ext uri="{FF2B5EF4-FFF2-40B4-BE49-F238E27FC236}">
                  <a16:creationId xmlns:a16="http://schemas.microsoft.com/office/drawing/2014/main" id="{05E271DB-3C61-4F4C-AECF-9D5A3F02E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1975" y="4653750"/>
              <a:ext cx="1879536" cy="5366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En equilibrio</a:t>
              </a:r>
            </a:p>
          </p:txBody>
        </p:sp>
        <p:sp>
          <p:nvSpPr>
            <p:cNvPr id="116" name="Flecha abajo 12">
              <a:extLst>
                <a:ext uri="{FF2B5EF4-FFF2-40B4-BE49-F238E27FC236}">
                  <a16:creationId xmlns:a16="http://schemas.microsoft.com/office/drawing/2014/main" id="{BC6D68E4-D300-4615-AF82-4AB6E04B5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6241" y="4377379"/>
              <a:ext cx="422915" cy="180047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lIns="90000" tIns="118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</p:grpSp>
      <p:sp>
        <p:nvSpPr>
          <p:cNvPr id="85" name="Text Box 3">
            <a:extLst>
              <a:ext uri="{FF2B5EF4-FFF2-40B4-BE49-F238E27FC236}">
                <a16:creationId xmlns:a16="http://schemas.microsoft.com/office/drawing/2014/main" id="{C9774113-3BF2-4CD6-AE35-CD927F0B4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3076" y="5917512"/>
            <a:ext cx="6860562" cy="9058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La </a:t>
            </a:r>
            <a:r>
              <a:rPr lang="es-ES" sz="2400">
                <a:latin typeface="Arial" panose="020B0604020202020204" pitchFamily="34" charset="0"/>
              </a:rPr>
              <a:t>situación en </a:t>
            </a:r>
            <a:r>
              <a:rPr lang="es-ES" sz="2400" dirty="0">
                <a:latin typeface="Arial" panose="020B0604020202020204" pitchFamily="34" charset="0"/>
              </a:rPr>
              <a:t>un condensador con dieléctrico se puede entender y caracterizar de 2 maneras</a:t>
            </a:r>
          </a:p>
        </p:txBody>
      </p:sp>
      <p:sp>
        <p:nvSpPr>
          <p:cNvPr id="102" name="Text Box 112">
            <a:extLst>
              <a:ext uri="{FF2B5EF4-FFF2-40B4-BE49-F238E27FC236}">
                <a16:creationId xmlns:a16="http://schemas.microsoft.com/office/drawing/2014/main" id="{FC7CCF29-D3C0-440C-8CD5-69E3E3069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5243" y="4034012"/>
            <a:ext cx="3212150" cy="164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Sólo son relevantes las cargas cerca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 las placas.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Crean </a:t>
            </a:r>
            <a:r>
              <a:rPr lang="es-ES" sz="2400" b="1" dirty="0" err="1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baseline="-25000" dirty="0" err="1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polarización</a:t>
            </a:r>
            <a:endParaRPr lang="es-ES" sz="2400" baseline="-25000" dirty="0">
              <a:solidFill>
                <a:srgbClr val="D60093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33846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8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8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500"/>
                                        <p:tgtEl>
                                          <p:spTgt spid="48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48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3" dur="500"/>
                                        <p:tgtEl>
                                          <p:spTgt spid="45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5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5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5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58" grpId="0" animBg="1"/>
      <p:bldP spid="48259" grpId="0" animBg="1"/>
      <p:bldP spid="19490" grpId="0" animBg="1"/>
      <p:bldP spid="452715" grpId="0" animBg="1"/>
      <p:bldP spid="452716" grpId="0"/>
      <p:bldP spid="452717" grpId="0" animBg="1"/>
      <p:bldP spid="452722" grpId="0"/>
      <p:bldP spid="48159" grpId="0" animBg="1"/>
      <p:bldP spid="143" grpId="0" animBg="1"/>
      <p:bldP spid="145" grpId="0" animBg="1"/>
      <p:bldP spid="106" grpId="0" animBg="1"/>
      <p:bldP spid="111" grpId="0"/>
      <p:bldP spid="112" grpId="0" animBg="1"/>
      <p:bldP spid="113" grpId="0" animBg="1"/>
      <p:bldP spid="85" grpId="0" animBg="1"/>
      <p:bldP spid="10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61" name="Text Box 5"/>
          <p:cNvSpPr txBox="1">
            <a:spLocks noChangeArrowheads="1"/>
          </p:cNvSpPr>
          <p:nvPr/>
        </p:nvSpPr>
        <p:spPr bwMode="auto">
          <a:xfrm>
            <a:off x="3203369" y="1887778"/>
            <a:ext cx="5107267" cy="5334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EFECTIVA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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PLACA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 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POLARIZACIÓN</a:t>
            </a:r>
            <a:endParaRPr lang="es-ES" sz="240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54662" name="Text Box 6"/>
          <p:cNvSpPr txBox="1">
            <a:spLocks noChangeArrowheads="1"/>
          </p:cNvSpPr>
          <p:nvPr/>
        </p:nvSpPr>
        <p:spPr bwMode="auto">
          <a:xfrm>
            <a:off x="3203369" y="5721321"/>
            <a:ext cx="5107268" cy="51473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EFECTIVO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E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APLICADO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 E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POLARIZACIÓN</a:t>
            </a:r>
            <a:endParaRPr lang="es-ES" sz="240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9476" name="Rectangle 8"/>
          <p:cNvSpPr>
            <a:spLocks noChangeArrowheads="1"/>
          </p:cNvSpPr>
          <p:nvPr/>
        </p:nvSpPr>
        <p:spPr bwMode="auto">
          <a:xfrm>
            <a:off x="5655082" y="2766374"/>
            <a:ext cx="5012917" cy="1109662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9480" name="Text Box 12"/>
          <p:cNvSpPr txBox="1">
            <a:spLocks noChangeArrowheads="1"/>
          </p:cNvSpPr>
          <p:nvPr/>
        </p:nvSpPr>
        <p:spPr bwMode="auto">
          <a:xfrm>
            <a:off x="5767796" y="3006086"/>
            <a:ext cx="335646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k</a:t>
            </a:r>
          </a:p>
        </p:txBody>
      </p:sp>
      <p:grpSp>
        <p:nvGrpSpPr>
          <p:cNvPr id="3" name="29 Grupo"/>
          <p:cNvGrpSpPr>
            <a:grpSpLocks/>
          </p:cNvGrpSpPr>
          <p:nvPr/>
        </p:nvGrpSpPr>
        <p:grpSpPr bwMode="auto">
          <a:xfrm>
            <a:off x="7685496" y="2798124"/>
            <a:ext cx="1792370" cy="987399"/>
            <a:chOff x="8015288" y="5427663"/>
            <a:chExt cx="1792372" cy="987399"/>
          </a:xfrm>
        </p:grpSpPr>
        <p:sp>
          <p:nvSpPr>
            <p:cNvPr id="50203" name="Text Box 13"/>
            <p:cNvSpPr txBox="1">
              <a:spLocks noChangeArrowheads="1"/>
            </p:cNvSpPr>
            <p:nvPr/>
          </p:nvSpPr>
          <p:spPr bwMode="auto">
            <a:xfrm>
              <a:off x="8015288" y="5641471"/>
              <a:ext cx="361294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=</a:t>
              </a:r>
            </a:p>
          </p:txBody>
        </p:sp>
        <p:sp>
          <p:nvSpPr>
            <p:cNvPr id="50204" name="Text Box 14"/>
            <p:cNvSpPr txBox="1">
              <a:spLocks noChangeArrowheads="1"/>
            </p:cNvSpPr>
            <p:nvPr/>
          </p:nvSpPr>
          <p:spPr bwMode="auto">
            <a:xfrm>
              <a:off x="8394701" y="5878513"/>
              <a:ext cx="1411264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E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EFECTIVO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50205" name="Text Box 15"/>
            <p:cNvSpPr txBox="1">
              <a:spLocks noChangeArrowheads="1"/>
            </p:cNvSpPr>
            <p:nvPr/>
          </p:nvSpPr>
          <p:spPr bwMode="auto">
            <a:xfrm>
              <a:off x="8385176" y="5427663"/>
              <a:ext cx="1422484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E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APLICADO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50206" name="Line 16"/>
            <p:cNvSpPr>
              <a:spLocks noChangeShapeType="1"/>
            </p:cNvSpPr>
            <p:nvPr/>
          </p:nvSpPr>
          <p:spPr bwMode="auto">
            <a:xfrm>
              <a:off x="8401765" y="5921376"/>
              <a:ext cx="136382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>
              <a:noAutofit/>
            </a:bodyPr>
            <a:lstStyle/>
            <a:p>
              <a:endParaRPr lang="en-GB" sz="2400"/>
            </a:p>
          </p:txBody>
        </p:sp>
      </p:grpSp>
      <p:sp>
        <p:nvSpPr>
          <p:cNvPr id="454673" name="Text Box 17"/>
          <p:cNvSpPr txBox="1">
            <a:spLocks noChangeArrowheads="1"/>
          </p:cNvSpPr>
          <p:nvPr/>
        </p:nvSpPr>
        <p:spPr bwMode="auto">
          <a:xfrm>
            <a:off x="3536964" y="2779630"/>
            <a:ext cx="2008188" cy="1065828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44000" tIns="144000" rIns="144000" bIns="180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FFFFFF"/>
                </a:solidFill>
                <a:latin typeface="Arial" panose="020B0604020202020204" pitchFamily="34" charset="0"/>
              </a:rPr>
              <a:t>Constante Dieléctrica</a:t>
            </a:r>
          </a:p>
        </p:txBody>
      </p:sp>
      <p:sp>
        <p:nvSpPr>
          <p:cNvPr id="46105" name="Text Box 52"/>
          <p:cNvSpPr txBox="1">
            <a:spLocks noChangeArrowheads="1"/>
          </p:cNvSpPr>
          <p:nvPr/>
        </p:nvSpPr>
        <p:spPr bwMode="auto">
          <a:xfrm>
            <a:off x="2024934" y="402199"/>
            <a:ext cx="8158163" cy="1311564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Es como tener un condensador sin dieléctrico, con una    densidad de carga reducida en la que aporta el dieléctrico en la zona de contacto con las placas al polarizarse</a:t>
            </a:r>
          </a:p>
        </p:txBody>
      </p:sp>
      <p:sp>
        <p:nvSpPr>
          <p:cNvPr id="46106" name="Text Box 53"/>
          <p:cNvSpPr txBox="1">
            <a:spLocks noChangeArrowheads="1"/>
          </p:cNvSpPr>
          <p:nvPr/>
        </p:nvSpPr>
        <p:spPr bwMode="auto">
          <a:xfrm>
            <a:off x="1261459" y="402199"/>
            <a:ext cx="699390" cy="1311564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82800" anchor="ctr" anchorCtr="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4800">
                <a:solidFill>
                  <a:srgbClr val="FFFF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1ª</a:t>
            </a:r>
          </a:p>
        </p:txBody>
      </p:sp>
      <p:sp>
        <p:nvSpPr>
          <p:cNvPr id="31" name="Text Box 33"/>
          <p:cNvSpPr txBox="1">
            <a:spLocks noChangeArrowheads="1"/>
          </p:cNvSpPr>
          <p:nvPr/>
        </p:nvSpPr>
        <p:spPr bwMode="auto">
          <a:xfrm>
            <a:off x="1352280" y="4730586"/>
            <a:ext cx="8825242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Si el medio es lineal, k no depende del E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APLICADO</a:t>
            </a:r>
            <a:r>
              <a:rPr lang="es-ES" sz="2400" dirty="0">
                <a:latin typeface="Arial" panose="020B0604020202020204" pitchFamily="34" charset="0"/>
              </a:rPr>
              <a:t>, de la carga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</a:rPr>
              <a:t>   que lo genera</a:t>
            </a:r>
            <a:r>
              <a:rPr lang="es-ES" sz="2400">
                <a:latin typeface="Arial" panose="020B0604020202020204" pitchFamily="34" charset="0"/>
              </a:rPr>
              <a:t>, porque </a:t>
            </a:r>
            <a:r>
              <a:rPr lang="es-ES" sz="2400" dirty="0">
                <a:latin typeface="Arial" panose="020B0604020202020204" pitchFamily="34" charset="0"/>
              </a:rPr>
              <a:t>E</a:t>
            </a:r>
            <a:r>
              <a:rPr lang="es-ES" sz="2400" baseline="-25000" dirty="0">
                <a:latin typeface="Arial" panose="020B0604020202020204" pitchFamily="34" charset="0"/>
              </a:rPr>
              <a:t>POL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 E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APL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(Tema 1)</a:t>
            </a:r>
          </a:p>
        </p:txBody>
      </p:sp>
      <p:sp>
        <p:nvSpPr>
          <p:cNvPr id="32" name="31 CuadroTexto"/>
          <p:cNvSpPr txBox="1">
            <a:spLocks noChangeArrowheads="1"/>
          </p:cNvSpPr>
          <p:nvPr/>
        </p:nvSpPr>
        <p:spPr bwMode="auto">
          <a:xfrm>
            <a:off x="5114482" y="6358183"/>
            <a:ext cx="5245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2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3" name="32 CuadroTexto"/>
          <p:cNvSpPr txBox="1">
            <a:spLocks noChangeArrowheads="1"/>
          </p:cNvSpPr>
          <p:nvPr/>
        </p:nvSpPr>
        <p:spPr bwMode="auto">
          <a:xfrm>
            <a:off x="6424169" y="6358183"/>
            <a:ext cx="9124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 2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4" name="33 CuadroTexto"/>
          <p:cNvSpPr txBox="1">
            <a:spLocks noChangeArrowheads="1"/>
          </p:cNvSpPr>
          <p:nvPr/>
        </p:nvSpPr>
        <p:spPr bwMode="auto">
          <a:xfrm>
            <a:off x="3687319" y="6358183"/>
            <a:ext cx="9124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2 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5" name="34 CuadroTexto"/>
          <p:cNvSpPr txBox="1">
            <a:spLocks noChangeArrowheads="1"/>
          </p:cNvSpPr>
          <p:nvPr/>
        </p:nvSpPr>
        <p:spPr bwMode="auto">
          <a:xfrm>
            <a:off x="8161276" y="6358183"/>
            <a:ext cx="19239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 k no varía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9496" name="Text Box 40"/>
          <p:cNvSpPr txBox="1">
            <a:spLocks noChangeArrowheads="1"/>
          </p:cNvSpPr>
          <p:nvPr/>
        </p:nvSpPr>
        <p:spPr bwMode="auto">
          <a:xfrm>
            <a:off x="1346346" y="4209828"/>
            <a:ext cx="4892984" cy="572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118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 Es constante </a:t>
            </a:r>
            <a:r>
              <a:rPr lang="es-ES" sz="2400">
                <a:solidFill>
                  <a:schemeClr val="tx1"/>
                </a:solidFill>
              </a:rPr>
              <a:t>si el medio es ideal</a:t>
            </a:r>
          </a:p>
        </p:txBody>
      </p:sp>
      <p:sp>
        <p:nvSpPr>
          <p:cNvPr id="36" name="Text Box 40">
            <a:extLst>
              <a:ext uri="{FF2B5EF4-FFF2-40B4-BE49-F238E27FC236}">
                <a16:creationId xmlns:a16="http://schemas.microsoft.com/office/drawing/2014/main" id="{42FF5064-AFB4-44C3-8B94-DD3D00FD7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6076" y="2595071"/>
            <a:ext cx="2162437" cy="1311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Se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caracteriza el dieléctrico</a:t>
            </a: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con la:</a:t>
            </a:r>
            <a:endParaRPr lang="es-ES" sz="2400" dirty="0">
              <a:solidFill>
                <a:schemeClr val="tx1"/>
              </a:solidFill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E6BCC8EE-E518-4E8B-AFCF-DF41717B61FF}"/>
              </a:ext>
            </a:extLst>
          </p:cNvPr>
          <p:cNvGrpSpPr/>
          <p:nvPr/>
        </p:nvGrpSpPr>
        <p:grpSpPr>
          <a:xfrm>
            <a:off x="6009308" y="2788599"/>
            <a:ext cx="1795419" cy="987399"/>
            <a:chOff x="4205500" y="3605886"/>
            <a:chExt cx="1795419" cy="987399"/>
          </a:xfrm>
        </p:grpSpPr>
        <p:grpSp>
          <p:nvGrpSpPr>
            <p:cNvPr id="2" name="28 Grupo"/>
            <p:cNvGrpSpPr>
              <a:grpSpLocks/>
            </p:cNvGrpSpPr>
            <p:nvPr/>
          </p:nvGrpSpPr>
          <p:grpSpPr bwMode="auto">
            <a:xfrm>
              <a:off x="4648200" y="3605886"/>
              <a:ext cx="1352719" cy="987399"/>
              <a:chOff x="6829426" y="5430838"/>
              <a:chExt cx="1352719" cy="987399"/>
            </a:xfrm>
          </p:grpSpPr>
          <p:sp>
            <p:nvSpPr>
              <p:cNvPr id="50207" name="Text Box 9"/>
              <p:cNvSpPr txBox="1">
                <a:spLocks noChangeArrowheads="1"/>
              </p:cNvSpPr>
              <p:nvPr/>
            </p:nvSpPr>
            <p:spPr bwMode="auto">
              <a:xfrm>
                <a:off x="6829426" y="5881688"/>
                <a:ext cx="1352719" cy="5365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</a:t>
                </a:r>
                <a:r>
                  <a:rPr lang="es-ES" sz="2400" baseline="-25000" dirty="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EFECTIVA</a:t>
                </a:r>
                <a:endPara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50208" name="Text Box 10"/>
              <p:cNvSpPr txBox="1">
                <a:spLocks noChangeArrowheads="1"/>
              </p:cNvSpPr>
              <p:nvPr/>
            </p:nvSpPr>
            <p:spPr bwMode="auto">
              <a:xfrm>
                <a:off x="6931026" y="5430838"/>
                <a:ext cx="1037761" cy="5365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</a:t>
                </a:r>
                <a:r>
                  <a:rPr lang="es-ES" sz="2400" baseline="-25000" dirty="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PLACA</a:t>
                </a:r>
                <a:endPara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50209" name="Line 11"/>
              <p:cNvSpPr>
                <a:spLocks noChangeShapeType="1"/>
              </p:cNvSpPr>
              <p:nvPr/>
            </p:nvSpPr>
            <p:spPr bwMode="auto">
              <a:xfrm>
                <a:off x="6831013" y="5927726"/>
                <a:ext cx="112712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>
                <a:spAutoFit/>
              </a:bodyPr>
              <a:lstStyle/>
              <a:p>
                <a:endParaRPr lang="en-GB" sz="2400"/>
              </a:p>
            </p:txBody>
          </p:sp>
        </p:grpSp>
        <p:sp>
          <p:nvSpPr>
            <p:cNvPr id="37" name="Text Box 13">
              <a:extLst>
                <a:ext uri="{FF2B5EF4-FFF2-40B4-BE49-F238E27FC236}">
                  <a16:creationId xmlns:a16="http://schemas.microsoft.com/office/drawing/2014/main" id="{4B84FFEF-9247-4045-BB6D-FEA96A59F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5500" y="3818785"/>
              <a:ext cx="361294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=</a:t>
              </a:r>
            </a:p>
          </p:txBody>
        </p:sp>
      </p:grpSp>
      <p:sp>
        <p:nvSpPr>
          <p:cNvPr id="6" name="Rectángulo 5">
            <a:extLst>
              <a:ext uri="{FF2B5EF4-FFF2-40B4-BE49-F238E27FC236}">
                <a16:creationId xmlns:a16="http://schemas.microsoft.com/office/drawing/2014/main" id="{FB956083-B372-42A7-B753-48CC5CA4CEB1}"/>
              </a:ext>
            </a:extLst>
          </p:cNvPr>
          <p:cNvSpPr/>
          <p:nvPr/>
        </p:nvSpPr>
        <p:spPr bwMode="auto">
          <a:xfrm>
            <a:off x="4504384" y="6430537"/>
            <a:ext cx="3024163" cy="355414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ot="0" spcFirstLastPara="0" vertOverflow="overflow" horzOverflow="overflow" vert="horz" wrap="square" lIns="90000" tIns="118800" rIns="90000" bIns="82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51CA19E-6631-4285-B223-6DCCA8BE422A}"/>
              </a:ext>
            </a:extLst>
          </p:cNvPr>
          <p:cNvSpPr/>
          <p:nvPr/>
        </p:nvSpPr>
        <p:spPr bwMode="auto">
          <a:xfrm>
            <a:off x="3393195" y="6346356"/>
            <a:ext cx="4812149" cy="526296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118800" rIns="90000" bIns="82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83754642-6D9F-9147-EE6D-4302C3638D2D}"/>
              </a:ext>
            </a:extLst>
          </p:cNvPr>
          <p:cNvGrpSpPr/>
          <p:nvPr/>
        </p:nvGrpSpPr>
        <p:grpSpPr>
          <a:xfrm>
            <a:off x="7340509" y="3556744"/>
            <a:ext cx="1123950" cy="966078"/>
            <a:chOff x="7508669" y="3556744"/>
            <a:chExt cx="1123950" cy="966078"/>
          </a:xfrm>
        </p:grpSpPr>
        <p:grpSp>
          <p:nvGrpSpPr>
            <p:cNvPr id="35861" name="Group 42"/>
            <p:cNvGrpSpPr>
              <a:grpSpLocks/>
            </p:cNvGrpSpPr>
            <p:nvPr/>
          </p:nvGrpSpPr>
          <p:grpSpPr bwMode="auto">
            <a:xfrm>
              <a:off x="7508669" y="3940209"/>
              <a:ext cx="1123950" cy="582613"/>
              <a:chOff x="1453" y="2527"/>
              <a:chExt cx="708" cy="367"/>
            </a:xfrm>
          </p:grpSpPr>
          <p:sp>
            <p:nvSpPr>
              <p:cNvPr id="46101" name="Rectangle 56"/>
              <p:cNvSpPr>
                <a:spLocks noChangeArrowheads="1"/>
              </p:cNvSpPr>
              <p:nvPr/>
            </p:nvSpPr>
            <p:spPr bwMode="auto">
              <a:xfrm>
                <a:off x="1453" y="2527"/>
                <a:ext cx="708" cy="361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 w="25400" algn="ctr">
                <a:noFill/>
                <a:miter lim="800000"/>
                <a:headEnd/>
                <a:tailEnd type="none" w="lg" len="lg"/>
              </a:ln>
            </p:spPr>
            <p:txBody>
              <a:bodyPr lIns="90000" tIns="118800" rIns="90000" bIns="82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  <a:defRPr/>
                </a:pPr>
                <a:endParaRPr lang="es-E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50199" name="Group 55"/>
              <p:cNvGrpSpPr>
                <a:grpSpLocks/>
              </p:cNvGrpSpPr>
              <p:nvPr/>
            </p:nvGrpSpPr>
            <p:grpSpPr bwMode="auto">
              <a:xfrm>
                <a:off x="1534" y="2538"/>
                <a:ext cx="548" cy="356"/>
                <a:chOff x="3372" y="2905"/>
                <a:chExt cx="548" cy="356"/>
              </a:xfrm>
            </p:grpSpPr>
            <p:sp>
              <p:nvSpPr>
                <p:cNvPr id="50200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3524" y="2923"/>
                  <a:ext cx="253" cy="3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000000"/>
                      </a:solidFill>
                      <a:latin typeface="Arial" panose="020B0604020202020204" pitchFamily="34" charset="0"/>
                      <a:sym typeface="Symbol" panose="05050102010706020507" pitchFamily="18" charset="2"/>
                    </a:rPr>
                    <a:t></a:t>
                  </a:r>
                </a:p>
              </p:txBody>
            </p:sp>
            <p:sp>
              <p:nvSpPr>
                <p:cNvPr id="50201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3372" y="2923"/>
                  <a:ext cx="244" cy="3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50202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3688" y="2905"/>
                  <a:ext cx="232" cy="3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000000"/>
                      </a:solidFill>
                      <a:latin typeface="Arial" panose="020B0604020202020204" pitchFamily="34" charset="0"/>
                      <a:sym typeface="Symbol" panose="05050102010706020507" pitchFamily="18" charset="2"/>
                    </a:rPr>
                    <a:t></a:t>
                  </a:r>
                </a:p>
              </p:txBody>
            </p:sp>
          </p:grpSp>
        </p:grpSp>
        <p:cxnSp>
          <p:nvCxnSpPr>
            <p:cNvPr id="9" name="Conector recto de flecha 8">
              <a:extLst>
                <a:ext uri="{FF2B5EF4-FFF2-40B4-BE49-F238E27FC236}">
                  <a16:creationId xmlns:a16="http://schemas.microsoft.com/office/drawing/2014/main" id="{2C44C95B-236A-0653-8C3F-4B1121CCE265}"/>
                </a:ext>
              </a:extLst>
            </p:cNvPr>
            <p:cNvCxnSpPr/>
            <p:nvPr/>
          </p:nvCxnSpPr>
          <p:spPr bwMode="auto">
            <a:xfrm flipV="1">
              <a:off x="8060705" y="3556744"/>
              <a:ext cx="0" cy="517793"/>
            </a:xfrm>
            <a:prstGeom prst="straightConnector1">
              <a:avLst/>
            </a:prstGeom>
            <a:noFill/>
            <a:ln w="38100" cap="flat" cmpd="sng" algn="ctr">
              <a:solidFill>
                <a:srgbClr val="666699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DB3B3375-BCA5-4730-B45B-00196EAA3317}"/>
              </a:ext>
            </a:extLst>
          </p:cNvPr>
          <p:cNvGrpSpPr/>
          <p:nvPr/>
        </p:nvGrpSpPr>
        <p:grpSpPr>
          <a:xfrm>
            <a:off x="9313608" y="2310066"/>
            <a:ext cx="637926" cy="1918277"/>
            <a:chOff x="9313608" y="2310066"/>
            <a:chExt cx="637926" cy="1918277"/>
          </a:xfrm>
        </p:grpSpPr>
        <p:sp>
          <p:nvSpPr>
            <p:cNvPr id="22" name="Rectangle 56">
              <a:extLst>
                <a:ext uri="{FF2B5EF4-FFF2-40B4-BE49-F238E27FC236}">
                  <a16:creationId xmlns:a16="http://schemas.microsoft.com/office/drawing/2014/main" id="{2BA350AE-2593-DD3C-7225-EFD4744CB7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3608" y="2402471"/>
              <a:ext cx="630238" cy="390526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25400" algn="ctr">
              <a:noFill/>
              <a:miter lim="800000"/>
              <a:headEnd/>
              <a:tailEnd type="none" w="lg" len="lg"/>
            </a:ln>
          </p:spPr>
          <p:txBody>
            <a:bodyPr wrap="square" lIns="90000" tIns="118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" name="Rectangle 56">
              <a:extLst>
                <a:ext uri="{FF2B5EF4-FFF2-40B4-BE49-F238E27FC236}">
                  <a16:creationId xmlns:a16="http://schemas.microsoft.com/office/drawing/2014/main" id="{8261DEB5-8591-68E7-2FF6-F5F502C3A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1296" y="3816605"/>
              <a:ext cx="630238" cy="390526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25400" algn="ctr">
              <a:noFill/>
              <a:miter lim="800000"/>
              <a:headEnd/>
              <a:tailEnd type="none" w="lg" len="lg"/>
            </a:ln>
          </p:spPr>
          <p:txBody>
            <a:bodyPr wrap="square" lIns="90000" tIns="118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" name="Text Box 39">
              <a:extLst>
                <a:ext uri="{FF2B5EF4-FFF2-40B4-BE49-F238E27FC236}">
                  <a16:creationId xmlns:a16="http://schemas.microsoft.com/office/drawing/2014/main" id="{6BDDB279-9590-15CA-FEA3-BBB0CADA30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21296" y="2310066"/>
              <a:ext cx="606425" cy="536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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d</a:t>
              </a:r>
            </a:p>
          </p:txBody>
        </p:sp>
        <p:sp>
          <p:nvSpPr>
            <p:cNvPr id="17" name="Text Box 39">
              <a:extLst>
                <a:ext uri="{FF2B5EF4-FFF2-40B4-BE49-F238E27FC236}">
                  <a16:creationId xmlns:a16="http://schemas.microsoft.com/office/drawing/2014/main" id="{AB54D626-B51C-8834-E12D-B1163D9573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35204" y="3691794"/>
              <a:ext cx="606554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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d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B1A15AC6-BE5B-F308-425B-61AC3C055D22}"/>
              </a:ext>
            </a:extLst>
          </p:cNvPr>
          <p:cNvGrpSpPr/>
          <p:nvPr/>
        </p:nvGrpSpPr>
        <p:grpSpPr>
          <a:xfrm>
            <a:off x="9573269" y="2736774"/>
            <a:ext cx="965717" cy="1057307"/>
            <a:chOff x="9573269" y="2736774"/>
            <a:chExt cx="965717" cy="1057307"/>
          </a:xfrm>
        </p:grpSpPr>
        <p:sp>
          <p:nvSpPr>
            <p:cNvPr id="18" name="Text Box 13">
              <a:extLst>
                <a:ext uri="{FF2B5EF4-FFF2-40B4-BE49-F238E27FC236}">
                  <a16:creationId xmlns:a16="http://schemas.microsoft.com/office/drawing/2014/main" id="{797C4E54-6C7E-0366-4B8E-395D3893A5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73269" y="3020195"/>
              <a:ext cx="361294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=</a:t>
              </a:r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9E6D6260-9281-5526-35BB-4EE95ECB13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78372" y="3266839"/>
              <a:ext cx="4345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>
              <a:noAutofit/>
            </a:bodyPr>
            <a:lstStyle/>
            <a:p>
              <a:endParaRPr lang="en-GB" sz="2400"/>
            </a:p>
          </p:txBody>
        </p:sp>
        <p:sp>
          <p:nvSpPr>
            <p:cNvPr id="20" name="Text Box 15">
              <a:extLst>
                <a:ext uri="{FF2B5EF4-FFF2-40B4-BE49-F238E27FC236}">
                  <a16:creationId xmlns:a16="http://schemas.microsoft.com/office/drawing/2014/main" id="{31F58B97-F6C0-F56C-0BDA-A7201FC6EF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94117" y="2736774"/>
              <a:ext cx="636626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V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AP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21" name="Text Box 15">
              <a:extLst>
                <a:ext uri="{FF2B5EF4-FFF2-40B4-BE49-F238E27FC236}">
                  <a16:creationId xmlns:a16="http://schemas.microsoft.com/office/drawing/2014/main" id="{685E17C2-B45E-7211-E244-5B74D4089E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90754" y="3257532"/>
              <a:ext cx="648232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V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EF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2433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4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54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454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9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9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9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454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4661" grpId="0" animBg="1"/>
      <p:bldP spid="454662" grpId="0" animBg="1"/>
      <p:bldP spid="19476" grpId="0" animBg="1"/>
      <p:bldP spid="19480" grpId="0"/>
      <p:bldP spid="454673" grpId="0" animBg="1"/>
      <p:bldP spid="46105" grpId="0" animBg="1"/>
      <p:bldP spid="46106" grpId="0" animBg="1"/>
      <p:bldP spid="31" grpId="0"/>
      <p:bldP spid="32" grpId="0"/>
      <p:bldP spid="33" grpId="0"/>
      <p:bldP spid="34" grpId="0"/>
      <p:bldP spid="35" grpId="0"/>
      <p:bldP spid="19496" grpId="0"/>
      <p:bldP spid="36" grpId="0"/>
      <p:bldP spid="6" grpId="0" animBg="1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70C9097-340A-D15D-ABAE-60FA85766F4A}"/>
              </a:ext>
            </a:extLst>
          </p:cNvPr>
          <p:cNvSpPr/>
          <p:nvPr/>
        </p:nvSpPr>
        <p:spPr bwMode="auto">
          <a:xfrm>
            <a:off x="5612789" y="4683147"/>
            <a:ext cx="889003" cy="502491"/>
          </a:xfrm>
          <a:prstGeom prst="rect">
            <a:avLst/>
          </a:prstGeom>
          <a:solidFill>
            <a:srgbClr val="FFFF00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118800" rIns="90000" bIns="82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456776" name="Text Box 72"/>
          <p:cNvSpPr txBox="1">
            <a:spLocks noChangeArrowheads="1"/>
          </p:cNvSpPr>
          <p:nvPr/>
        </p:nvSpPr>
        <p:spPr bwMode="auto">
          <a:xfrm>
            <a:off x="1313190" y="5169715"/>
            <a:ext cx="3716987" cy="536549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latin typeface="Arial" panose="020B0604020202020204" pitchFamily="34" charset="0"/>
              </a:rPr>
              <a:t>Conductor </a:t>
            </a:r>
            <a:r>
              <a:rPr lang="es-ES" sz="2400">
                <a:latin typeface="Arial" panose="020B0604020202020204" pitchFamily="34" charset="0"/>
              </a:rPr>
              <a:t>en equilibrio: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21507" name="Rectangle 20"/>
          <p:cNvSpPr>
            <a:spLocks noChangeArrowheads="1"/>
          </p:cNvSpPr>
          <p:nvPr/>
        </p:nvSpPr>
        <p:spPr bwMode="auto">
          <a:xfrm>
            <a:off x="4689326" y="1987048"/>
            <a:ext cx="3802062" cy="1106488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1541" name="Text Box 24"/>
          <p:cNvSpPr txBox="1">
            <a:spLocks noChangeArrowheads="1"/>
          </p:cNvSpPr>
          <p:nvPr/>
        </p:nvSpPr>
        <p:spPr bwMode="auto">
          <a:xfrm>
            <a:off x="4841726" y="2215648"/>
            <a:ext cx="385340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</a:t>
            </a:r>
            <a:endParaRPr lang="es-E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43 Grupo"/>
          <p:cNvGrpSpPr>
            <a:grpSpLocks/>
          </p:cNvGrpSpPr>
          <p:nvPr/>
        </p:nvGrpSpPr>
        <p:grpSpPr bwMode="auto">
          <a:xfrm>
            <a:off x="6632426" y="2015623"/>
            <a:ext cx="1792370" cy="987399"/>
            <a:chOff x="5907088" y="3227388"/>
            <a:chExt cx="1792371" cy="987399"/>
          </a:xfrm>
        </p:grpSpPr>
        <p:sp>
          <p:nvSpPr>
            <p:cNvPr id="52257" name="Text Box 25"/>
            <p:cNvSpPr txBox="1">
              <a:spLocks noChangeArrowheads="1"/>
            </p:cNvSpPr>
            <p:nvPr/>
          </p:nvSpPr>
          <p:spPr bwMode="auto">
            <a:xfrm>
              <a:off x="5907088" y="3481388"/>
              <a:ext cx="361294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=</a:t>
              </a:r>
            </a:p>
          </p:txBody>
        </p:sp>
        <p:sp>
          <p:nvSpPr>
            <p:cNvPr id="52258" name="Text Box 26"/>
            <p:cNvSpPr txBox="1">
              <a:spLocks noChangeArrowheads="1"/>
            </p:cNvSpPr>
            <p:nvPr/>
          </p:nvSpPr>
          <p:spPr bwMode="auto">
            <a:xfrm>
              <a:off x="6286501" y="3678238"/>
              <a:ext cx="1411263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E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EFECTIVO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52259" name="Text Box 27"/>
            <p:cNvSpPr txBox="1">
              <a:spLocks noChangeArrowheads="1"/>
            </p:cNvSpPr>
            <p:nvPr/>
          </p:nvSpPr>
          <p:spPr bwMode="auto">
            <a:xfrm>
              <a:off x="6276976" y="3227388"/>
              <a:ext cx="1422483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E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APLICADO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52260" name="Line 28"/>
            <p:cNvSpPr>
              <a:spLocks noChangeShapeType="1"/>
            </p:cNvSpPr>
            <p:nvPr/>
          </p:nvSpPr>
          <p:spPr bwMode="auto">
            <a:xfrm>
              <a:off x="6288088" y="3721100"/>
              <a:ext cx="11271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456734" name="Text Box 30"/>
          <p:cNvSpPr txBox="1">
            <a:spLocks noChangeArrowheads="1"/>
          </p:cNvSpPr>
          <p:nvPr/>
        </p:nvSpPr>
        <p:spPr bwMode="auto">
          <a:xfrm>
            <a:off x="5132061" y="4635109"/>
            <a:ext cx="1482199" cy="536549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 </a:t>
            </a:r>
            <a:r>
              <a:rPr lang="es-ES" sz="2400" dirty="0">
                <a:latin typeface="Arial" panose="020B0604020202020204" pitchFamily="34" charset="0"/>
              </a:rPr>
              <a:t> &gt;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o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56735" name="Text Box 31"/>
          <p:cNvSpPr txBox="1">
            <a:spLocks noChangeArrowheads="1"/>
          </p:cNvSpPr>
          <p:nvPr/>
        </p:nvSpPr>
        <p:spPr bwMode="auto">
          <a:xfrm>
            <a:off x="2398659" y="1985689"/>
            <a:ext cx="2168668" cy="1107848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108000" tIns="108000" rIns="108000" bIns="10800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FFFFFF"/>
                </a:solidFill>
                <a:latin typeface="Arial" panose="020B0604020202020204" pitchFamily="34" charset="0"/>
              </a:rPr>
              <a:t>Permitividad Relativa</a:t>
            </a:r>
          </a:p>
        </p:txBody>
      </p:sp>
      <p:sp>
        <p:nvSpPr>
          <p:cNvPr id="456738" name="Text Box 34"/>
          <p:cNvSpPr txBox="1">
            <a:spLocks noChangeArrowheads="1"/>
          </p:cNvSpPr>
          <p:nvPr/>
        </p:nvSpPr>
        <p:spPr bwMode="auto">
          <a:xfrm>
            <a:off x="1332646" y="4127936"/>
            <a:ext cx="6385592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Es </a:t>
            </a:r>
            <a:r>
              <a:rPr lang="es-ES" sz="2400">
                <a:latin typeface="Arial" panose="020B0604020202020204" pitchFamily="34" charset="0"/>
              </a:rPr>
              <a:t>adimensional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(no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tiene unidad)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8168" name="Text Box 52"/>
          <p:cNvSpPr txBox="1">
            <a:spLocks noChangeArrowheads="1"/>
          </p:cNvSpPr>
          <p:nvPr/>
        </p:nvSpPr>
        <p:spPr bwMode="auto">
          <a:xfrm>
            <a:off x="2044318" y="336084"/>
            <a:ext cx="7810502" cy="942233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Wingdings" panose="05000000000000000000" pitchFamily="2" charset="2"/>
              </a:rPr>
              <a:t>La introducción del dieléctrico cambia las propiedades eléctricas del medio entre las placas (la permitividad)</a:t>
            </a:r>
          </a:p>
        </p:txBody>
      </p:sp>
      <p:sp>
        <p:nvSpPr>
          <p:cNvPr id="456771" name="Text Box 67"/>
          <p:cNvSpPr txBox="1">
            <a:spLocks noChangeArrowheads="1"/>
          </p:cNvSpPr>
          <p:nvPr/>
        </p:nvSpPr>
        <p:spPr bwMode="auto">
          <a:xfrm>
            <a:off x="1324567" y="4635109"/>
            <a:ext cx="3997290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Como </a:t>
            </a:r>
            <a:r>
              <a:rPr lang="es-ES" sz="2400" dirty="0">
                <a:latin typeface="Arial" panose="020B0604020202020204" pitchFamily="34" charset="0"/>
              </a:rPr>
              <a:t>E</a:t>
            </a:r>
            <a:r>
              <a:rPr lang="es-ES" sz="2400" baseline="-25000" dirty="0">
                <a:latin typeface="Arial" panose="020B0604020202020204" pitchFamily="34" charset="0"/>
              </a:rPr>
              <a:t>APL</a:t>
            </a:r>
            <a:r>
              <a:rPr lang="es-ES" sz="2400" dirty="0">
                <a:latin typeface="Arial" panose="020B0604020202020204" pitchFamily="34" charset="0"/>
              </a:rPr>
              <a:t> &gt; E</a:t>
            </a:r>
            <a:r>
              <a:rPr lang="es-ES" sz="2400" baseline="-25000" dirty="0">
                <a:latin typeface="Arial" panose="020B0604020202020204" pitchFamily="34" charset="0"/>
              </a:rPr>
              <a:t>EF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  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&gt; 1</a:t>
            </a:r>
          </a:p>
        </p:txBody>
      </p:sp>
      <p:sp>
        <p:nvSpPr>
          <p:cNvPr id="20515" name="Text Box 68"/>
          <p:cNvSpPr txBox="1">
            <a:spLocks noChangeArrowheads="1"/>
          </p:cNvSpPr>
          <p:nvPr/>
        </p:nvSpPr>
        <p:spPr bwMode="auto">
          <a:xfrm>
            <a:off x="5617974" y="3129410"/>
            <a:ext cx="1499426" cy="572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con vacío</a:t>
            </a:r>
          </a:p>
        </p:txBody>
      </p:sp>
      <p:sp>
        <p:nvSpPr>
          <p:cNvPr id="20516" name="Text Box 69"/>
          <p:cNvSpPr txBox="1">
            <a:spLocks noChangeArrowheads="1"/>
          </p:cNvSpPr>
          <p:nvPr/>
        </p:nvSpPr>
        <p:spPr bwMode="auto">
          <a:xfrm>
            <a:off x="5617974" y="1341717"/>
            <a:ext cx="2151849" cy="572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con dieléctrico</a:t>
            </a:r>
          </a:p>
        </p:txBody>
      </p:sp>
      <p:sp>
        <p:nvSpPr>
          <p:cNvPr id="456777" name="Text Box 73"/>
          <p:cNvSpPr txBox="1">
            <a:spLocks noChangeArrowheads="1"/>
          </p:cNvSpPr>
          <p:nvPr/>
        </p:nvSpPr>
        <p:spPr bwMode="auto">
          <a:xfrm>
            <a:off x="1321784" y="3604995"/>
            <a:ext cx="1187450" cy="53022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126000" tIns="118800" rIns="126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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s-ES" sz="2400">
                <a:latin typeface="Arial" panose="020B0604020202020204" pitchFamily="34" charset="0"/>
              </a:rPr>
              <a:t> =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k</a:t>
            </a:r>
          </a:p>
        </p:txBody>
      </p:sp>
      <p:grpSp>
        <p:nvGrpSpPr>
          <p:cNvPr id="6" name="39 Grupo"/>
          <p:cNvGrpSpPr>
            <a:grpSpLocks/>
          </p:cNvGrpSpPr>
          <p:nvPr/>
        </p:nvGrpSpPr>
        <p:grpSpPr bwMode="auto">
          <a:xfrm>
            <a:off x="5160811" y="1969585"/>
            <a:ext cx="1435244" cy="987563"/>
            <a:chOff x="4434969" y="3181350"/>
            <a:chExt cx="1435758" cy="987203"/>
          </a:xfrm>
        </p:grpSpPr>
        <p:sp>
          <p:nvSpPr>
            <p:cNvPr id="52253" name="Text Box 21"/>
            <p:cNvSpPr txBox="1">
              <a:spLocks noChangeArrowheads="1"/>
            </p:cNvSpPr>
            <p:nvPr/>
          </p:nvSpPr>
          <p:spPr bwMode="auto">
            <a:xfrm>
              <a:off x="5017790" y="3632200"/>
              <a:ext cx="430378" cy="5363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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o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52254" name="Text Box 22"/>
            <p:cNvSpPr txBox="1">
              <a:spLocks noChangeArrowheads="1"/>
            </p:cNvSpPr>
            <p:nvPr/>
          </p:nvSpPr>
          <p:spPr bwMode="auto">
            <a:xfrm>
              <a:off x="5067020" y="3181350"/>
              <a:ext cx="316523" cy="5363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52255" name="Line 23"/>
            <p:cNvSpPr>
              <a:spLocks noChangeShapeType="1"/>
            </p:cNvSpPr>
            <p:nvPr/>
          </p:nvSpPr>
          <p:spPr bwMode="auto">
            <a:xfrm>
              <a:off x="4743602" y="3748224"/>
              <a:ext cx="11271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52256" name="Text Box 25"/>
            <p:cNvSpPr txBox="1">
              <a:spLocks noChangeArrowheads="1"/>
            </p:cNvSpPr>
            <p:nvPr/>
          </p:nvSpPr>
          <p:spPr bwMode="auto">
            <a:xfrm>
              <a:off x="4434969" y="3487873"/>
              <a:ext cx="361423" cy="5363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=</a:t>
              </a:r>
            </a:p>
          </p:txBody>
        </p:sp>
      </p:grpSp>
      <p:sp>
        <p:nvSpPr>
          <p:cNvPr id="20528" name="Text Box 48"/>
          <p:cNvSpPr txBox="1">
            <a:spLocks noChangeArrowheads="1"/>
          </p:cNvSpPr>
          <p:nvPr/>
        </p:nvSpPr>
        <p:spPr bwMode="auto">
          <a:xfrm>
            <a:off x="2597817" y="3559676"/>
            <a:ext cx="4822452" cy="572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118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u="sng">
                <a:solidFill>
                  <a:srgbClr val="FF0000"/>
                </a:solidFill>
              </a:rPr>
              <a:t>Razonable</a:t>
            </a:r>
            <a:r>
              <a:rPr lang="es-ES" sz="2400">
                <a:solidFill>
                  <a:srgbClr val="FF0000"/>
                </a:solidFill>
              </a:rPr>
              <a:t>: caracterizan lo mismo</a:t>
            </a:r>
          </a:p>
        </p:txBody>
      </p:sp>
      <p:sp>
        <p:nvSpPr>
          <p:cNvPr id="20531" name="Text Box 51"/>
          <p:cNvSpPr txBox="1">
            <a:spLocks noChangeArrowheads="1"/>
          </p:cNvSpPr>
          <p:nvPr/>
        </p:nvSpPr>
        <p:spPr bwMode="auto">
          <a:xfrm>
            <a:off x="1426781" y="6165349"/>
            <a:ext cx="8903989" cy="942233"/>
          </a:xfrm>
          <a:prstGeom prst="rect">
            <a:avLst/>
          </a:prstGeom>
          <a:solidFill>
            <a:srgbClr val="6666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sym typeface="Symbol" panose="05050102010706020507" pitchFamily="18" charset="2"/>
              </a:rPr>
              <a:t>La intensidad de la interacción eléctrica es menor en la materia. </a:t>
            </a:r>
            <a:r>
              <a:rPr lang="es-ES" sz="2400" dirty="0">
                <a:solidFill>
                  <a:srgbClr val="FFFFFF"/>
                </a:solidFill>
              </a:rPr>
              <a:t>La materia la apantalla. Es nula en conductores en equilibrio</a:t>
            </a:r>
            <a:endParaRPr lang="es-ES" sz="2400" dirty="0">
              <a:solidFill>
                <a:srgbClr val="FFFFFF"/>
              </a:solidFill>
              <a:sym typeface="Symbol" panose="05050102010706020507" pitchFamily="18" charset="2"/>
            </a:endParaRPr>
          </a:p>
        </p:txBody>
      </p:sp>
      <p:sp>
        <p:nvSpPr>
          <p:cNvPr id="46" name="Text Box 53"/>
          <p:cNvSpPr txBox="1">
            <a:spLocks noChangeArrowheads="1"/>
          </p:cNvSpPr>
          <p:nvPr/>
        </p:nvSpPr>
        <p:spPr bwMode="auto">
          <a:xfrm>
            <a:off x="1291177" y="336084"/>
            <a:ext cx="699390" cy="942233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72000" rIns="90000" bIns="720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4800">
                <a:solidFill>
                  <a:srgbClr val="FFFF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2ª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C670FC42-5476-FFA8-AB9E-63EBAF16D8B8}"/>
              </a:ext>
            </a:extLst>
          </p:cNvPr>
          <p:cNvGrpSpPr/>
          <p:nvPr/>
        </p:nvGrpSpPr>
        <p:grpSpPr>
          <a:xfrm>
            <a:off x="8586454" y="2014864"/>
            <a:ext cx="1691946" cy="1003300"/>
            <a:chOff x="8586454" y="2014864"/>
            <a:chExt cx="1691946" cy="1003300"/>
          </a:xfrm>
        </p:grpSpPr>
        <p:grpSp>
          <p:nvGrpSpPr>
            <p:cNvPr id="37911" name="Group 47"/>
            <p:cNvGrpSpPr>
              <a:grpSpLocks/>
            </p:cNvGrpSpPr>
            <p:nvPr/>
          </p:nvGrpSpPr>
          <p:grpSpPr bwMode="auto">
            <a:xfrm>
              <a:off x="9084600" y="2014864"/>
              <a:ext cx="1193800" cy="1003300"/>
              <a:chOff x="2144" y="3528"/>
              <a:chExt cx="752" cy="632"/>
            </a:xfrm>
          </p:grpSpPr>
          <p:sp>
            <p:nvSpPr>
              <p:cNvPr id="48153" name="Rectangle 59"/>
              <p:cNvSpPr>
                <a:spLocks noChangeArrowheads="1"/>
              </p:cNvSpPr>
              <p:nvPr/>
            </p:nvSpPr>
            <p:spPr bwMode="auto">
              <a:xfrm>
                <a:off x="2144" y="3540"/>
                <a:ext cx="752" cy="620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 w="25400" algn="ctr">
                <a:noFill/>
                <a:miter lim="800000"/>
                <a:headEnd/>
                <a:tailEnd type="none" w="lg" len="lg"/>
              </a:ln>
            </p:spPr>
            <p:txBody>
              <a:bodyPr wrap="none" lIns="90000" tIns="118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  <a:defRPr/>
                </a:pPr>
                <a:endParaRPr lang="es-E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52247" name="Group 60"/>
              <p:cNvGrpSpPr>
                <a:grpSpLocks/>
              </p:cNvGrpSpPr>
              <p:nvPr/>
            </p:nvGrpSpPr>
            <p:grpSpPr bwMode="auto">
              <a:xfrm>
                <a:off x="2154" y="3528"/>
                <a:ext cx="680" cy="595"/>
                <a:chOff x="5486" y="1975"/>
                <a:chExt cx="680" cy="595"/>
              </a:xfrm>
            </p:grpSpPr>
            <p:sp>
              <p:nvSpPr>
                <p:cNvPr id="52248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5698" y="2117"/>
                  <a:ext cx="253" cy="3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000000"/>
                      </a:solidFill>
                      <a:latin typeface="Arial" panose="020B0604020202020204" pitchFamily="34" charset="0"/>
                      <a:sym typeface="Symbol" panose="05050102010706020507" pitchFamily="18" charset="2"/>
                    </a:rPr>
                    <a:t></a:t>
                  </a:r>
                </a:p>
              </p:txBody>
            </p:sp>
            <p:sp>
              <p:nvSpPr>
                <p:cNvPr id="52249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5486" y="2131"/>
                  <a:ext cx="244" cy="3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52250" name="Line 48"/>
                <p:cNvSpPr>
                  <a:spLocks noChangeShapeType="1"/>
                </p:cNvSpPr>
                <p:nvPr/>
              </p:nvSpPr>
              <p:spPr bwMode="auto">
                <a:xfrm>
                  <a:off x="5938" y="2285"/>
                  <a:ext cx="213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82800" rIns="90000" bIns="82800">
                  <a:spAutoFit/>
                </a:bodyPr>
                <a:lstStyle/>
                <a:p>
                  <a:endParaRPr lang="en-GB" sz="2400"/>
                </a:p>
              </p:txBody>
            </p:sp>
            <p:sp>
              <p:nvSpPr>
                <p:cNvPr id="52251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5943" y="1975"/>
                  <a:ext cx="223" cy="3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52252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5947" y="2232"/>
                  <a:ext cx="199" cy="3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82800" rIns="90000" bIns="8280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000000"/>
                      </a:solidFill>
                      <a:latin typeface="Arial" panose="020B0604020202020204" pitchFamily="34" charset="0"/>
                      <a:sym typeface="Symbol" panose="05050102010706020507" pitchFamily="18" charset="2"/>
                    </a:rPr>
                    <a:t></a:t>
                  </a:r>
                </a:p>
              </p:txBody>
            </p:sp>
          </p:grpSp>
        </p:grpSp>
        <p:cxnSp>
          <p:nvCxnSpPr>
            <p:cNvPr id="47" name="Conector recto de flecha 46"/>
            <p:cNvCxnSpPr>
              <a:cxnSpLocks noChangeShapeType="1"/>
            </p:cNvCxnSpPr>
            <p:nvPr/>
          </p:nvCxnSpPr>
          <p:spPr bwMode="auto">
            <a:xfrm flipH="1">
              <a:off x="8586454" y="2515686"/>
              <a:ext cx="373062" cy="0"/>
            </a:xfrm>
            <a:prstGeom prst="straightConnector1">
              <a:avLst/>
            </a:prstGeom>
            <a:noFill/>
            <a:ln w="38100" algn="ctr">
              <a:solidFill>
                <a:srgbClr val="666699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6" name="Text Box 30"/>
          <p:cNvSpPr txBox="1">
            <a:spLocks noChangeArrowheads="1"/>
          </p:cNvSpPr>
          <p:nvPr/>
        </p:nvSpPr>
        <p:spPr bwMode="auto">
          <a:xfrm>
            <a:off x="6397219" y="4647257"/>
            <a:ext cx="1848881" cy="536549"/>
          </a:xfrm>
          <a:prstGeom prst="rect">
            <a:avLst/>
          </a:prstGeom>
          <a:noFill/>
          <a:ln>
            <a:noFill/>
          </a:ln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 E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</a:rPr>
              <a:t>&lt;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Qo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8" name="Text Box 40">
            <a:extLst>
              <a:ext uri="{FF2B5EF4-FFF2-40B4-BE49-F238E27FC236}">
                <a16:creationId xmlns:a16="http://schemas.microsoft.com/office/drawing/2014/main" id="{03E848CC-AF4E-48AA-8057-433A4D60B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5656" y="1357285"/>
            <a:ext cx="2168668" cy="942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Se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caracteriza con la: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39" name="Text Box 72">
            <a:extLst>
              <a:ext uri="{FF2B5EF4-FFF2-40B4-BE49-F238E27FC236}">
                <a16:creationId xmlns:a16="http://schemas.microsoft.com/office/drawing/2014/main" id="{57ADD72E-2A29-4B88-8B4B-93DC38DDCB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6344" y="5586637"/>
            <a:ext cx="2619906" cy="536549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  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=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 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 </a:t>
            </a:r>
            <a:r>
              <a:rPr lang="es-ES" sz="2400">
                <a:latin typeface="Arial" panose="020B0604020202020204" pitchFamily="34" charset="0"/>
              </a:rPr>
              <a:t>=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</a:t>
            </a:r>
            <a:endParaRPr lang="es-ES" sz="2400" dirty="0">
              <a:latin typeface="Arial" panose="020B0604020202020204" pitchFamily="34" charset="0"/>
            </a:endParaRPr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4857DBFA-5435-4076-8713-4ED99B26011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941384" y="1818862"/>
            <a:ext cx="0" cy="279503"/>
          </a:xfrm>
          <a:prstGeom prst="straightConnector1">
            <a:avLst/>
          </a:prstGeom>
          <a:noFill/>
          <a:ln w="38100" algn="ctr">
            <a:solidFill>
              <a:srgbClr val="666699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E7BBC2B8-5C0C-4093-82FA-49A74A68E4E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58501" y="2951491"/>
            <a:ext cx="0" cy="324000"/>
          </a:xfrm>
          <a:prstGeom prst="straightConnector1">
            <a:avLst/>
          </a:prstGeom>
          <a:noFill/>
          <a:ln w="38100" algn="ctr">
            <a:solidFill>
              <a:srgbClr val="666699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" name="Text Box 72">
            <a:extLst>
              <a:ext uri="{FF2B5EF4-FFF2-40B4-BE49-F238E27FC236}">
                <a16:creationId xmlns:a16="http://schemas.microsoft.com/office/drawing/2014/main" id="{43A8B61C-2E0F-4CE9-9C9D-AE5E604C6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8385" y="5564029"/>
            <a:ext cx="2722117" cy="536549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s-ES" sz="2400" dirty="0">
                <a:latin typeface="Arial" panose="020B0604020202020204" pitchFamily="34" charset="0"/>
              </a:rPr>
              <a:t>K = (4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</a:t>
            </a:r>
            <a:r>
              <a:rPr lang="es-ES" sz="2400">
                <a:latin typeface="Arial" panose="020B0604020202020204" pitchFamily="34" charset="0"/>
              </a:rPr>
              <a:t>)</a:t>
            </a:r>
            <a:r>
              <a:rPr lang="es-ES" sz="2400" baseline="30000">
                <a:latin typeface="Arial" panose="020B0604020202020204" pitchFamily="34" charset="0"/>
              </a:rPr>
              <a:t>-1</a:t>
            </a:r>
            <a:r>
              <a:rPr lang="es-ES" sz="2400">
                <a:latin typeface="Arial" panose="020B0604020202020204" pitchFamily="34" charset="0"/>
              </a:rPr>
              <a:t> =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49" name="Text Box 72">
            <a:extLst>
              <a:ext uri="{FF2B5EF4-FFF2-40B4-BE49-F238E27FC236}">
                <a16:creationId xmlns:a16="http://schemas.microsoft.com/office/drawing/2014/main" id="{AB394CBA-F286-4886-8A76-5443FC508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5589" y="5525267"/>
            <a:ext cx="1516558" cy="536549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 F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Qq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= 0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50" name="Text Box 30">
            <a:extLst>
              <a:ext uri="{FF2B5EF4-FFF2-40B4-BE49-F238E27FC236}">
                <a16:creationId xmlns:a16="http://schemas.microsoft.com/office/drawing/2014/main" id="{70C69699-92EA-4D8B-9068-F4D4562AA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0830" y="4642081"/>
            <a:ext cx="1956283" cy="536549"/>
          </a:xfrm>
          <a:prstGeom prst="rect">
            <a:avLst/>
          </a:prstGeom>
          <a:noFill/>
          <a:ln>
            <a:noFill/>
          </a:ln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s-ES" sz="2400" dirty="0" err="1">
                <a:latin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s-ES" sz="2400" baseline="-25000" dirty="0" err="1">
                <a:latin typeface="Arial" panose="020B0604020202020204" pitchFamily="34" charset="0"/>
                <a:sym typeface="Symbol" panose="05050102010706020507" pitchFamily="18" charset="2"/>
              </a:rPr>
              <a:t>Qq</a:t>
            </a:r>
            <a:r>
              <a:rPr lang="es-ES" sz="2400" dirty="0">
                <a:latin typeface="Arial" panose="020B0604020202020204" pitchFamily="34" charset="0"/>
              </a:rPr>
              <a:t> &lt; </a:t>
            </a:r>
            <a:r>
              <a:rPr lang="es-ES" sz="2400" dirty="0" err="1">
                <a:latin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s-ES" sz="2400" baseline="-25000" dirty="0" err="1">
                <a:latin typeface="Arial" panose="020B0604020202020204" pitchFamily="34" charset="0"/>
                <a:sym typeface="Symbol" panose="05050102010706020507" pitchFamily="18" charset="2"/>
              </a:rPr>
              <a:t>Qqo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" name="Text Box 72">
            <a:extLst>
              <a:ext uri="{FF2B5EF4-FFF2-40B4-BE49-F238E27FC236}">
                <a16:creationId xmlns:a16="http://schemas.microsoft.com/office/drawing/2014/main" id="{9CB42D75-ADDD-DF10-E708-BD6759849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187" y="5609245"/>
            <a:ext cx="1262279" cy="536549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</a:rPr>
              <a:t>E</a:t>
            </a:r>
            <a:r>
              <a:rPr lang="es-ES" sz="2400" baseline="-25000">
                <a:latin typeface="Arial" panose="020B0604020202020204" pitchFamily="34" charset="0"/>
              </a:rPr>
              <a:t>EF</a:t>
            </a:r>
            <a:r>
              <a:rPr lang="es-ES" sz="2400">
                <a:latin typeface="Arial" panose="020B0604020202020204" pitchFamily="34" charset="0"/>
              </a:rPr>
              <a:t> = 0</a:t>
            </a:r>
            <a:endParaRPr lang="es-E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470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48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456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0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456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56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456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456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456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456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56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456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456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5" dur="500"/>
                                        <p:tgtEl>
                                          <p:spTgt spid="20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56776" grpId="0"/>
      <p:bldP spid="21507" grpId="0" animBg="1"/>
      <p:bldP spid="21541" grpId="0"/>
      <p:bldP spid="456734" grpId="0"/>
      <p:bldP spid="456735" grpId="0" animBg="1"/>
      <p:bldP spid="456738" grpId="0"/>
      <p:bldP spid="48168" grpId="0" animBg="1"/>
      <p:bldP spid="456771" grpId="0"/>
      <p:bldP spid="20515" grpId="0"/>
      <p:bldP spid="20516" grpId="0"/>
      <p:bldP spid="456777" grpId="0" animBg="1"/>
      <p:bldP spid="20528" grpId="0"/>
      <p:bldP spid="20531" grpId="0" animBg="1"/>
      <p:bldP spid="46" grpId="0" animBg="1"/>
      <p:bldP spid="36" grpId="0"/>
      <p:bldP spid="38" grpId="0"/>
      <p:bldP spid="39" grpId="0"/>
      <p:bldP spid="44" grpId="0"/>
      <p:bldP spid="49" grpId="0"/>
      <p:bldP spid="50" grpId="0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/>
          <p:cNvSpPr>
            <a:spLocks noChangeArrowheads="1"/>
          </p:cNvSpPr>
          <p:nvPr/>
        </p:nvSpPr>
        <p:spPr bwMode="auto">
          <a:xfrm>
            <a:off x="1273823" y="381068"/>
            <a:ext cx="8653462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3.5.4 CONDENSADORES Y DIELÉCTRICOS</a:t>
            </a:r>
          </a:p>
        </p:txBody>
      </p:sp>
      <p:sp>
        <p:nvSpPr>
          <p:cNvPr id="440327" name="Text Box 7"/>
          <p:cNvSpPr txBox="1">
            <a:spLocks noChangeArrowheads="1"/>
          </p:cNvSpPr>
          <p:nvPr/>
        </p:nvSpPr>
        <p:spPr bwMode="auto">
          <a:xfrm>
            <a:off x="1396891" y="6359980"/>
            <a:ext cx="2371460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Como  = k 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s-ES" sz="2400" baseline="-250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40328" name="Text Box 8"/>
          <p:cNvSpPr txBox="1">
            <a:spLocks noChangeArrowheads="1"/>
          </p:cNvSpPr>
          <p:nvPr/>
        </p:nvSpPr>
        <p:spPr bwMode="auto">
          <a:xfrm>
            <a:off x="1380154" y="5751453"/>
            <a:ext cx="8769351" cy="536549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 La </a:t>
            </a: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introducción de un dieléctrico aumenta C, más a </a:t>
            </a: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mayor k</a:t>
            </a:r>
            <a:endParaRPr lang="es-ES" sz="24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40336" name="Text Box 16"/>
          <p:cNvSpPr txBox="1">
            <a:spLocks noChangeArrowheads="1"/>
          </p:cNvSpPr>
          <p:nvPr/>
        </p:nvSpPr>
        <p:spPr bwMode="auto">
          <a:xfrm>
            <a:off x="1380154" y="1609203"/>
            <a:ext cx="8769350" cy="1275213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Introducir un </a:t>
            </a: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dieléctrico </a:t>
            </a:r>
            <a:r>
              <a:rPr lang="es-ES" sz="2400" u="sng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sólido</a:t>
            </a: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permite colocar dos </a:t>
            </a: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conductores cerca</a:t>
            </a: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evitando de forma sencilla y barata, que </a:t>
            </a: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vez </a:t>
            </a: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cargados, al </a:t>
            </a: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atraerse, contacten y </a:t>
            </a: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neutralicen</a:t>
            </a:r>
            <a:endParaRPr lang="es-ES" sz="24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98" name="Text Box 26"/>
          <p:cNvSpPr txBox="1">
            <a:spLocks noChangeArrowheads="1"/>
          </p:cNvSpPr>
          <p:nvPr/>
        </p:nvSpPr>
        <p:spPr bwMode="auto">
          <a:xfrm>
            <a:off x="1380154" y="960522"/>
            <a:ext cx="4975225" cy="51473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es-ES" sz="2400"/>
              <a:t>¿Qué aportan a un condensador?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D048D88A-FFF7-40FD-B43A-9B3C958F78CF}"/>
              </a:ext>
            </a:extLst>
          </p:cNvPr>
          <p:cNvGrpSpPr/>
          <p:nvPr/>
        </p:nvGrpSpPr>
        <p:grpSpPr>
          <a:xfrm>
            <a:off x="1380154" y="4462367"/>
            <a:ext cx="8769350" cy="1130300"/>
            <a:chOff x="1468151" y="2718162"/>
            <a:chExt cx="8769350" cy="1130300"/>
          </a:xfrm>
        </p:grpSpPr>
        <p:grpSp>
          <p:nvGrpSpPr>
            <p:cNvPr id="3122" name="Group 50"/>
            <p:cNvGrpSpPr>
              <a:grpSpLocks/>
            </p:cNvGrpSpPr>
            <p:nvPr/>
          </p:nvGrpSpPr>
          <p:grpSpPr bwMode="auto">
            <a:xfrm>
              <a:off x="1468151" y="2718162"/>
              <a:ext cx="8769350" cy="1130300"/>
              <a:chOff x="868" y="849"/>
              <a:chExt cx="5524" cy="712"/>
            </a:xfrm>
          </p:grpSpPr>
          <p:sp>
            <p:nvSpPr>
              <p:cNvPr id="54288" name="Rectangle 31"/>
              <p:cNvSpPr>
                <a:spLocks noChangeArrowheads="1"/>
              </p:cNvSpPr>
              <p:nvPr/>
            </p:nvSpPr>
            <p:spPr bwMode="auto">
              <a:xfrm>
                <a:off x="868" y="849"/>
                <a:ext cx="5524" cy="712"/>
              </a:xfrm>
              <a:prstGeom prst="rect">
                <a:avLst/>
              </a:prstGeom>
              <a:solidFill>
                <a:srgbClr val="FF99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54289" name="Object 33"/>
              <p:cNvGraphicFramePr>
                <a:graphicFrameLocks noChangeAspect="1"/>
              </p:cNvGraphicFramePr>
              <p:nvPr/>
            </p:nvGraphicFramePr>
            <p:xfrm>
              <a:off x="5461" y="1061"/>
              <a:ext cx="755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3" imgW="533169" imgH="203112" progId="Equation.3">
                      <p:embed/>
                    </p:oleObj>
                  </mc:Choice>
                  <mc:Fallback>
                    <p:oleObj name="Ecuación" r:id="rId3" imgW="533169" imgH="203112" progId="Equation.3">
                      <p:embed/>
                      <p:pic>
                        <p:nvPicPr>
                          <p:cNvPr id="54289" name="Object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61" y="1061"/>
                            <a:ext cx="755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4290" name="Object 35"/>
              <p:cNvGraphicFramePr>
                <a:graphicFrameLocks noChangeAspect="1"/>
              </p:cNvGraphicFramePr>
              <p:nvPr/>
            </p:nvGraphicFramePr>
            <p:xfrm>
              <a:off x="2158" y="920"/>
              <a:ext cx="771" cy="5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5" imgW="533169" imgH="393529" progId="Equation.3">
                      <p:embed/>
                    </p:oleObj>
                  </mc:Choice>
                  <mc:Fallback>
                    <p:oleObj name="Ecuación" r:id="rId5" imgW="533169" imgH="393529" progId="Equation.3">
                      <p:embed/>
                      <p:pic>
                        <p:nvPicPr>
                          <p:cNvPr id="54290" name="Object 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58" y="920"/>
                            <a:ext cx="771" cy="57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4291" name="Object 36"/>
              <p:cNvGraphicFramePr>
                <a:graphicFrameLocks noChangeAspect="1"/>
              </p:cNvGraphicFramePr>
              <p:nvPr/>
            </p:nvGraphicFramePr>
            <p:xfrm>
              <a:off x="4128" y="1004"/>
              <a:ext cx="1203" cy="3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7" imgW="850531" imgH="241195" progId="Equation.3">
                      <p:embed/>
                    </p:oleObj>
                  </mc:Choice>
                  <mc:Fallback>
                    <p:oleObj name="Ecuación" r:id="rId7" imgW="850531" imgH="241195" progId="Equation.3">
                      <p:embed/>
                      <p:pic>
                        <p:nvPicPr>
                          <p:cNvPr id="54291" name="Object 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28" y="1004"/>
                            <a:ext cx="1203" cy="3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4292" name="Object 34"/>
              <p:cNvGraphicFramePr>
                <a:graphicFrameLocks noChangeAspect="1"/>
              </p:cNvGraphicFramePr>
              <p:nvPr/>
            </p:nvGraphicFramePr>
            <p:xfrm>
              <a:off x="3161" y="1061"/>
              <a:ext cx="826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9" imgW="583947" imgH="203112" progId="Equation.3">
                      <p:embed/>
                    </p:oleObj>
                  </mc:Choice>
                  <mc:Fallback>
                    <p:oleObj name="Ecuación" r:id="rId9" imgW="583947" imgH="203112" progId="Equation.3">
                      <p:embed/>
                      <p:pic>
                        <p:nvPicPr>
                          <p:cNvPr id="54292" name="Object 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61" y="1061"/>
                            <a:ext cx="826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4293" name="Object 35"/>
              <p:cNvGraphicFramePr>
                <a:graphicFrameLocks noChangeAspect="1"/>
              </p:cNvGraphicFramePr>
              <p:nvPr/>
            </p:nvGraphicFramePr>
            <p:xfrm>
              <a:off x="1062" y="898"/>
              <a:ext cx="661" cy="6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11" imgW="457200" imgH="431800" progId="Equation.3">
                      <p:embed/>
                    </p:oleObj>
                  </mc:Choice>
                  <mc:Fallback>
                    <p:oleObj name="Ecuación" r:id="rId11" imgW="457200" imgH="431800" progId="Equation.3">
                      <p:embed/>
                      <p:pic>
                        <p:nvPicPr>
                          <p:cNvPr id="54293" name="Object 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62" y="898"/>
                            <a:ext cx="661" cy="6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9" name="Text Box 7">
              <a:extLst>
                <a:ext uri="{FF2B5EF4-FFF2-40B4-BE49-F238E27FC236}">
                  <a16:creationId xmlns:a16="http://schemas.microsoft.com/office/drawing/2014/main" id="{2415624E-ED29-4493-A44A-6F9486E67E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2476" y="2985011"/>
              <a:ext cx="617775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&gt; 1</a:t>
              </a:r>
              <a:endParaRPr lang="es-ES" sz="2400" baseline="-25000" dirty="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11C0A14-8A34-4316-8AD1-2B4DE33C7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0159" y="2879982"/>
            <a:ext cx="874934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 E</a:t>
            </a:r>
            <a:r>
              <a:rPr lang="es-ES" sz="2400" dirty="0">
                <a:solidFill>
                  <a:schemeClr val="tx1"/>
                </a:solidFill>
              </a:rPr>
              <a:t>l </a:t>
            </a:r>
            <a:r>
              <a:rPr lang="es-ES" sz="2400" dirty="0">
                <a:solidFill>
                  <a:srgbClr val="0000FF"/>
                </a:solidFill>
              </a:rPr>
              <a:t>vacío</a:t>
            </a:r>
            <a:r>
              <a:rPr lang="es-ES" sz="2400" dirty="0">
                <a:solidFill>
                  <a:schemeClr val="tx1"/>
                </a:solidFill>
              </a:rPr>
              <a:t> tendría como ventaja que el </a:t>
            </a:r>
            <a:r>
              <a:rPr lang="es-ES" sz="2400" b="1" dirty="0" err="1">
                <a:solidFill>
                  <a:schemeClr val="tx1"/>
                </a:solidFill>
              </a:rPr>
              <a:t>E</a:t>
            </a:r>
            <a:r>
              <a:rPr lang="es-ES" sz="2400" baseline="-25000" dirty="0" err="1">
                <a:solidFill>
                  <a:schemeClr val="tx1"/>
                </a:solidFill>
              </a:rPr>
              <a:t>mínimo</a:t>
            </a:r>
            <a:r>
              <a:rPr lang="es-ES" sz="2400" dirty="0">
                <a:solidFill>
                  <a:schemeClr val="tx1"/>
                </a:solidFill>
              </a:rPr>
              <a:t> para arrancar e</a:t>
            </a:r>
            <a:r>
              <a:rPr lang="es-ES" sz="2400" baseline="30000" dirty="0">
                <a:solidFill>
                  <a:schemeClr val="tx1"/>
                </a:solidFill>
              </a:rPr>
              <a:t>-</a:t>
            </a:r>
            <a:r>
              <a:rPr lang="es-ES" sz="2400" dirty="0">
                <a:solidFill>
                  <a:schemeClr val="tx1"/>
                </a:solidFill>
              </a:rPr>
              <a:t> de las placas y producir ruptura es mayor que el </a:t>
            </a:r>
            <a:r>
              <a:rPr lang="es-ES" sz="2400" b="1" dirty="0" err="1">
                <a:solidFill>
                  <a:schemeClr val="tx1"/>
                </a:solidFill>
              </a:rPr>
              <a:t>E</a:t>
            </a:r>
            <a:r>
              <a:rPr lang="es-ES" sz="2400" baseline="-25000" dirty="0" err="1">
                <a:solidFill>
                  <a:schemeClr val="tx1"/>
                </a:solidFill>
              </a:rPr>
              <a:t>ruptura</a:t>
            </a:r>
            <a:r>
              <a:rPr lang="es-ES" sz="2400" dirty="0">
                <a:solidFill>
                  <a:schemeClr val="tx1"/>
                </a:solidFill>
              </a:rPr>
              <a:t> de cualquier dieléctrico, pero el sistema sería más voluminoso y caro (habría que "agarrar" las placas y mantener el vacío)</a:t>
            </a:r>
          </a:p>
        </p:txBody>
      </p:sp>
      <p:sp>
        <p:nvSpPr>
          <p:cNvPr id="22" name="Text Box 7">
            <a:extLst>
              <a:ext uri="{FF2B5EF4-FFF2-40B4-BE49-F238E27FC236}">
                <a16:creationId xmlns:a16="http://schemas.microsoft.com/office/drawing/2014/main" id="{C6BF81DA-682B-4295-844A-C0D35B585D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2105" y="6359979"/>
            <a:ext cx="1717435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 C =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k C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endParaRPr lang="es-ES" sz="2400" baseline="-250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489785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40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440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440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40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27" grpId="0"/>
      <p:bldP spid="440328" grpId="0" animBg="1"/>
      <p:bldP spid="440336" grpId="0" animBg="1"/>
      <p:bldP spid="3098" grpId="0" animBg="1"/>
      <p:bldP spid="21" grpId="0"/>
      <p:bldP spid="2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Box 7"/>
          <p:cNvSpPr txBox="1">
            <a:spLocks noChangeArrowheads="1"/>
          </p:cNvSpPr>
          <p:nvPr/>
        </p:nvSpPr>
        <p:spPr bwMode="auto">
          <a:xfrm>
            <a:off x="1375237" y="3062135"/>
            <a:ext cx="8776539" cy="905881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Un </a:t>
            </a: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dieléctrico contribuye a la miniaturización </a:t>
            </a: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del condensador. Más </a:t>
            </a: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a </a:t>
            </a: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mayor k y a mayor E</a:t>
            </a:r>
            <a:r>
              <a:rPr lang="es-ES" sz="2400" baseline="-25000">
                <a:solidFill>
                  <a:srgbClr val="FFFFFF"/>
                </a:solidFill>
                <a:latin typeface="Arial" panose="020B0604020202020204" pitchFamily="34" charset="0"/>
              </a:rPr>
              <a:t>ruptura</a:t>
            </a:r>
            <a:endParaRPr lang="es-ES" sz="2400" baseline="-250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1471105" y="5273162"/>
            <a:ext cx="2769005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Para la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misma C: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1479826" y="5936390"/>
            <a:ext cx="3020542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Un E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RUPTURA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mayor 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3" name="CuadroTexto 22"/>
          <p:cNvSpPr txBox="1">
            <a:spLocks noChangeArrowheads="1"/>
          </p:cNvSpPr>
          <p:nvPr/>
        </p:nvSpPr>
        <p:spPr bwMode="auto">
          <a:xfrm>
            <a:off x="1171794" y="3981255"/>
            <a:ext cx="915330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>
                <a:solidFill>
                  <a:srgbClr val="FF0000"/>
                </a:solidFill>
              </a:rPr>
              <a:t>(combinando ambas cosas se consigue un factor 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</a:t>
            </a:r>
            <a:r>
              <a:rPr lang="es-ES" sz="2400" dirty="0">
                <a:solidFill>
                  <a:srgbClr val="FF0000"/>
                </a:solidFill>
              </a:rPr>
              <a:t>1000 respecto a aire, un factor 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</a:t>
            </a:r>
            <a:r>
              <a:rPr lang="es-ES" sz="2400" dirty="0">
                <a:solidFill>
                  <a:srgbClr val="FF0000"/>
                </a:solidFill>
              </a:rPr>
              <a:t>10 –del orden de 10– en cada dimensión:</a:t>
            </a:r>
          </a:p>
          <a:p>
            <a:pPr algn="ctr"/>
            <a:r>
              <a:rPr lang="es-ES" sz="2400" dirty="0">
                <a:solidFill>
                  <a:srgbClr val="FF0000"/>
                </a:solidFill>
              </a:rPr>
              <a:t>“De un cubo de Rubik a un dado”)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195D802D-6DE9-4D19-8165-F48ABF78F2BB}"/>
              </a:ext>
            </a:extLst>
          </p:cNvPr>
          <p:cNvGrpSpPr/>
          <p:nvPr/>
        </p:nvGrpSpPr>
        <p:grpSpPr>
          <a:xfrm>
            <a:off x="1382426" y="384537"/>
            <a:ext cx="8769350" cy="1130300"/>
            <a:chOff x="1468151" y="2718162"/>
            <a:chExt cx="8769350" cy="1130300"/>
          </a:xfrm>
        </p:grpSpPr>
        <p:grpSp>
          <p:nvGrpSpPr>
            <p:cNvPr id="15" name="Group 50">
              <a:extLst>
                <a:ext uri="{FF2B5EF4-FFF2-40B4-BE49-F238E27FC236}">
                  <a16:creationId xmlns:a16="http://schemas.microsoft.com/office/drawing/2014/main" id="{DF5F7260-90FB-48A9-9238-52ABA4D20B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68151" y="2718162"/>
              <a:ext cx="8769350" cy="1130300"/>
              <a:chOff x="868" y="849"/>
              <a:chExt cx="5524" cy="712"/>
            </a:xfrm>
          </p:grpSpPr>
          <p:sp>
            <p:nvSpPr>
              <p:cNvPr id="17" name="Rectangle 31">
                <a:extLst>
                  <a:ext uri="{FF2B5EF4-FFF2-40B4-BE49-F238E27FC236}">
                    <a16:creationId xmlns:a16="http://schemas.microsoft.com/office/drawing/2014/main" id="{2ED26CD4-789D-47A8-8220-43E037CFE5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8" y="849"/>
                <a:ext cx="5524" cy="712"/>
              </a:xfrm>
              <a:prstGeom prst="rect">
                <a:avLst/>
              </a:prstGeom>
              <a:solidFill>
                <a:srgbClr val="FF99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18" name="Object 33">
                <a:extLst>
                  <a:ext uri="{FF2B5EF4-FFF2-40B4-BE49-F238E27FC236}">
                    <a16:creationId xmlns:a16="http://schemas.microsoft.com/office/drawing/2014/main" id="{3893D139-D622-4229-8EAE-5394F8A18A2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461" y="1061"/>
              <a:ext cx="755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3" imgW="533169" imgH="203112" progId="Equation.3">
                      <p:embed/>
                    </p:oleObj>
                  </mc:Choice>
                  <mc:Fallback>
                    <p:oleObj name="Ecuación" r:id="rId3" imgW="533169" imgH="203112" progId="Equation.3">
                      <p:embed/>
                      <p:pic>
                        <p:nvPicPr>
                          <p:cNvPr id="18" name="Object 33">
                            <a:extLst>
                              <a:ext uri="{FF2B5EF4-FFF2-40B4-BE49-F238E27FC236}">
                                <a16:creationId xmlns:a16="http://schemas.microsoft.com/office/drawing/2014/main" id="{3893D139-D622-4229-8EAE-5394F8A18A2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61" y="1061"/>
                            <a:ext cx="755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" name="Object 35">
                <a:extLst>
                  <a:ext uri="{FF2B5EF4-FFF2-40B4-BE49-F238E27FC236}">
                    <a16:creationId xmlns:a16="http://schemas.microsoft.com/office/drawing/2014/main" id="{B8394C68-1D49-416F-A885-CC5BBB1DB23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158" y="920"/>
              <a:ext cx="771" cy="5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5" imgW="533169" imgH="393529" progId="Equation.3">
                      <p:embed/>
                    </p:oleObj>
                  </mc:Choice>
                  <mc:Fallback>
                    <p:oleObj name="Ecuación" r:id="rId5" imgW="533169" imgH="393529" progId="Equation.3">
                      <p:embed/>
                      <p:pic>
                        <p:nvPicPr>
                          <p:cNvPr id="24" name="Object 35">
                            <a:extLst>
                              <a:ext uri="{FF2B5EF4-FFF2-40B4-BE49-F238E27FC236}">
                                <a16:creationId xmlns:a16="http://schemas.microsoft.com/office/drawing/2014/main" id="{B8394C68-1D49-416F-A885-CC5BBB1DB23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58" y="920"/>
                            <a:ext cx="771" cy="57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" name="Object 36">
                <a:extLst>
                  <a:ext uri="{FF2B5EF4-FFF2-40B4-BE49-F238E27FC236}">
                    <a16:creationId xmlns:a16="http://schemas.microsoft.com/office/drawing/2014/main" id="{3733B086-C12D-47B5-9714-53049D26CD3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128" y="1004"/>
              <a:ext cx="1203" cy="3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7" imgW="850531" imgH="241195" progId="Equation.3">
                      <p:embed/>
                    </p:oleObj>
                  </mc:Choice>
                  <mc:Fallback>
                    <p:oleObj name="Ecuación" r:id="rId7" imgW="850531" imgH="241195" progId="Equation.3">
                      <p:embed/>
                      <p:pic>
                        <p:nvPicPr>
                          <p:cNvPr id="25" name="Object 36">
                            <a:extLst>
                              <a:ext uri="{FF2B5EF4-FFF2-40B4-BE49-F238E27FC236}">
                                <a16:creationId xmlns:a16="http://schemas.microsoft.com/office/drawing/2014/main" id="{3733B086-C12D-47B5-9714-53049D26CD3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28" y="1004"/>
                            <a:ext cx="1203" cy="3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" name="Object 34">
                <a:extLst>
                  <a:ext uri="{FF2B5EF4-FFF2-40B4-BE49-F238E27FC236}">
                    <a16:creationId xmlns:a16="http://schemas.microsoft.com/office/drawing/2014/main" id="{4A64AA1B-2B91-456E-9293-73E0C870C9C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61" y="1061"/>
              <a:ext cx="826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9" imgW="583947" imgH="203112" progId="Equation.3">
                      <p:embed/>
                    </p:oleObj>
                  </mc:Choice>
                  <mc:Fallback>
                    <p:oleObj name="Ecuación" r:id="rId9" imgW="583947" imgH="203112" progId="Equation.3">
                      <p:embed/>
                      <p:pic>
                        <p:nvPicPr>
                          <p:cNvPr id="26" name="Object 34">
                            <a:extLst>
                              <a:ext uri="{FF2B5EF4-FFF2-40B4-BE49-F238E27FC236}">
                                <a16:creationId xmlns:a16="http://schemas.microsoft.com/office/drawing/2014/main" id="{4A64AA1B-2B91-456E-9293-73E0C870C9C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61" y="1061"/>
                            <a:ext cx="826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Object 35">
                <a:extLst>
                  <a:ext uri="{FF2B5EF4-FFF2-40B4-BE49-F238E27FC236}">
                    <a16:creationId xmlns:a16="http://schemas.microsoft.com/office/drawing/2014/main" id="{EDA1DC0E-DDB3-4A0F-96E8-F61E7F8EEC0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62" y="898"/>
              <a:ext cx="661" cy="6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11" imgW="457200" imgH="431800" progId="Equation.3">
                      <p:embed/>
                    </p:oleObj>
                  </mc:Choice>
                  <mc:Fallback>
                    <p:oleObj name="Ecuación" r:id="rId11" imgW="457200" imgH="431800" progId="Equation.3">
                      <p:embed/>
                      <p:pic>
                        <p:nvPicPr>
                          <p:cNvPr id="27" name="Object 35">
                            <a:extLst>
                              <a:ext uri="{FF2B5EF4-FFF2-40B4-BE49-F238E27FC236}">
                                <a16:creationId xmlns:a16="http://schemas.microsoft.com/office/drawing/2014/main" id="{EDA1DC0E-DDB3-4A0F-96E8-F61E7F8EEC0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62" y="898"/>
                            <a:ext cx="661" cy="6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6" name="Text Box 7">
              <a:extLst>
                <a:ext uri="{FF2B5EF4-FFF2-40B4-BE49-F238E27FC236}">
                  <a16:creationId xmlns:a16="http://schemas.microsoft.com/office/drawing/2014/main" id="{BD94BE39-4982-4F28-BE7D-F595FF1BF4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2476" y="2985011"/>
              <a:ext cx="617775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&gt; 1</a:t>
              </a:r>
              <a:endParaRPr lang="es-ES" sz="2400" baseline="-25000" dirty="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22" name="Text Box 7">
            <a:extLst>
              <a:ext uri="{FF2B5EF4-FFF2-40B4-BE49-F238E27FC236}">
                <a16:creationId xmlns:a16="http://schemas.microsoft.com/office/drawing/2014/main" id="{C0C400C5-5EDA-4FF7-B734-D7014E34C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2048" y="1692790"/>
            <a:ext cx="8739728" cy="536549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Y </a:t>
            </a: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también, para una V aplicada, la Q y U almacenadas</a:t>
            </a:r>
          </a:p>
        </p:txBody>
      </p:sp>
      <p:sp>
        <p:nvSpPr>
          <p:cNvPr id="29" name="Text Box 6">
            <a:extLst>
              <a:ext uri="{FF2B5EF4-FFF2-40B4-BE49-F238E27FC236}">
                <a16:creationId xmlns:a16="http://schemas.microsoft.com/office/drawing/2014/main" id="{1022B7CF-C421-49CF-8612-057EF95A8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2980" y="2378903"/>
            <a:ext cx="1653315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y  U =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k U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endParaRPr lang="es-ES" sz="2400" baseline="-250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0" name="Text Box 6">
            <a:extLst>
              <a:ext uri="{FF2B5EF4-FFF2-40B4-BE49-F238E27FC236}">
                <a16:creationId xmlns:a16="http://schemas.microsoft.com/office/drawing/2014/main" id="{33E064E9-771E-4FCD-BDB1-93353C12A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9699" y="2359092"/>
            <a:ext cx="1834454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  Q =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k Q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endParaRPr lang="es-ES" sz="2400" baseline="-250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1" name="Text Box 6">
            <a:extLst>
              <a:ext uri="{FF2B5EF4-FFF2-40B4-BE49-F238E27FC236}">
                <a16:creationId xmlns:a16="http://schemas.microsoft.com/office/drawing/2014/main" id="{5F203F16-9DA3-48C6-B84A-53566C052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0052" y="2359092"/>
            <a:ext cx="4230943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C = k C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 y una V aplicada 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32" name="Text Box 19">
            <a:extLst>
              <a:ext uri="{FF2B5EF4-FFF2-40B4-BE49-F238E27FC236}">
                <a16:creationId xmlns:a16="http://schemas.microsoft.com/office/drawing/2014/main" id="{C3DA07CD-DE21-4D24-B02E-5D63EACD7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6188" y="5293173"/>
            <a:ext cx="1801432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  Menor A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3" name="Text Box 21">
            <a:extLst>
              <a:ext uri="{FF2B5EF4-FFF2-40B4-BE49-F238E27FC236}">
                <a16:creationId xmlns:a16="http://schemas.microsoft.com/office/drawing/2014/main" id="{E842705F-6B6B-4970-8883-FC85C68B0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8180" y="5939051"/>
            <a:ext cx="3117299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  Una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menor A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    para la misma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</a:p>
        </p:txBody>
      </p:sp>
      <p:sp>
        <p:nvSpPr>
          <p:cNvPr id="34" name="Text Box 21">
            <a:extLst>
              <a:ext uri="{FF2B5EF4-FFF2-40B4-BE49-F238E27FC236}">
                <a16:creationId xmlns:a16="http://schemas.microsoft.com/office/drawing/2014/main" id="{E2FC61EA-3866-4160-9150-90D459D34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9682" y="5942082"/>
            <a:ext cx="3451623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  Una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menor d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    para la misma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</a:p>
        </p:txBody>
      </p:sp>
      <p:sp>
        <p:nvSpPr>
          <p:cNvPr id="2" name="Text Box 19">
            <a:extLst>
              <a:ext uri="{FF2B5EF4-FFF2-40B4-BE49-F238E27FC236}">
                <a16:creationId xmlns:a16="http://schemas.microsoft.com/office/drawing/2014/main" id="{0E1CA2C3-8F82-6C8C-FF29-98FBF3112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5364" y="5289719"/>
            <a:ext cx="173025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  Mayor 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" name="Text Box 19">
            <a:extLst>
              <a:ext uri="{FF2B5EF4-FFF2-40B4-BE49-F238E27FC236}">
                <a16:creationId xmlns:a16="http://schemas.microsoft.com/office/drawing/2014/main" id="{02A1405C-96B1-9C15-DF4F-7953AE677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330" y="5273162"/>
            <a:ext cx="154976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A mayor k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257592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1" grpId="0"/>
      <p:bldP spid="23" grpId="0"/>
      <p:bldP spid="22" grpId="0" animBg="1"/>
      <p:bldP spid="29" grpId="0"/>
      <p:bldP spid="30" grpId="0"/>
      <p:bldP spid="31" grpId="0"/>
      <p:bldP spid="32" grpId="0"/>
      <p:bldP spid="33" grpId="0"/>
      <p:bldP spid="34" grpId="0"/>
      <p:bldP spid="2" grpId="0"/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7882111"/>
      </p:ext>
    </p:extLst>
  </p:cSld>
  <p:clrMapOvr>
    <a:masterClrMapping/>
  </p:clrMapOvr>
</p:sld>
</file>

<file path=ppt/theme/theme1.xml><?xml version="1.0" encoding="utf-8"?>
<a:theme xmlns:a="http://schemas.openxmlformats.org/drawingml/2006/main" name="FNT_2012_TEMA1_1">
  <a:themeElements>
    <a:clrScheme name="FNT_2012_TEMA1_1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FNT_2012_TEMA1_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  <a:effectLst/>
      </a:spPr>
      <a:bodyPr vert="horz" wrap="square" lIns="90000" tIns="118800" rIns="90000" bIns="8280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  <a:effectLst/>
      </a:spPr>
      <a:bodyPr vert="horz" wrap="square" lIns="90000" tIns="118800" rIns="90000" bIns="8280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NT_2012_TEMA1_1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FNT_2012_TEMA1_1</Template>
  <TotalTime>12243</TotalTime>
  <Words>3913</Words>
  <Application>Microsoft Office PowerPoint</Application>
  <PresentationFormat>Personalizado</PresentationFormat>
  <Paragraphs>1168</Paragraphs>
  <Slides>33</Slides>
  <Notes>32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40" baseType="lpstr">
      <vt:lpstr>Arial</vt:lpstr>
      <vt:lpstr>Comic Sans MS</vt:lpstr>
      <vt:lpstr>Symbol</vt:lpstr>
      <vt:lpstr>Times New Roman</vt:lpstr>
      <vt:lpstr>Trebuchet MS</vt:lpstr>
      <vt:lpstr>FNT_2012_TEMA1_1</vt:lpstr>
      <vt:lpstr>Ecuación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FÍSICA</dc:creator>
  <cp:lastModifiedBy>Jose Enrique Martin Dominguez</cp:lastModifiedBy>
  <cp:revision>1747</cp:revision>
  <dcterms:created xsi:type="dcterms:W3CDTF">2012-02-20T13:06:36Z</dcterms:created>
  <dcterms:modified xsi:type="dcterms:W3CDTF">2024-10-30T13:07:42Z</dcterms:modified>
</cp:coreProperties>
</file>