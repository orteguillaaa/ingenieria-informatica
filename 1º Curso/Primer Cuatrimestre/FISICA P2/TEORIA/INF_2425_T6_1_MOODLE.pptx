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578" r:id="rId2"/>
    <p:sldId id="284" r:id="rId3"/>
    <p:sldId id="570" r:id="rId4"/>
    <p:sldId id="611" r:id="rId5"/>
    <p:sldId id="627" r:id="rId6"/>
    <p:sldId id="628" r:id="rId7"/>
    <p:sldId id="572" r:id="rId8"/>
    <p:sldId id="618" r:id="rId9"/>
    <p:sldId id="587" r:id="rId10"/>
    <p:sldId id="635" r:id="rId11"/>
  </p:sldIdLst>
  <p:sldSz cx="10801350" cy="7200900"/>
  <p:notesSz cx="6815138" cy="99425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99CCFF"/>
    <a:srgbClr val="FF99CC"/>
    <a:srgbClr val="CCFFCC"/>
    <a:srgbClr val="008000"/>
    <a:srgbClr val="FFFFFF"/>
    <a:srgbClr val="EDE7E3"/>
    <a:srgbClr val="000000"/>
    <a:srgbClr val="FFFF99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6283" autoAdjust="0"/>
  </p:normalViewPr>
  <p:slideViewPr>
    <p:cSldViewPr snapToGrid="0" showGuides="1">
      <p:cViewPr varScale="1">
        <p:scale>
          <a:sx n="103" d="100"/>
          <a:sy n="103" d="100"/>
        </p:scale>
        <p:origin x="1302" y="108"/>
      </p:cViewPr>
      <p:guideLst>
        <p:guide orient="horz" pos="2268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741A8E7-CD32-4CE8-BCC0-4EDDBF2EFA6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3160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09600" y="746125"/>
            <a:ext cx="55943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3062" cy="447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42450"/>
            <a:ext cx="295275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12" tIns="45805" rIns="91612" bIns="45805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28AC81D-71D2-46FB-8FEF-0C5A551529E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345194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562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514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390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6" rIns="91430" bIns="45716"/>
          <a:lstStyle/>
          <a:p>
            <a:pPr>
              <a:spcBef>
                <a:spcPct val="50000"/>
              </a:spcBef>
            </a:pPr>
            <a:endParaRPr 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531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s-E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772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368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TEMA 1: ECUACIONES DE MAXWELL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FNT - CURSO 2005/2006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8AC81D-71D2-46FB-8FEF-0C5A551529EF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3456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143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15988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fld id="{8B19E42C-8476-4798-8D88-78ADFD13C921}" type="slidenum">
              <a:rPr lang="es-ES" sz="1200" smtClean="0">
                <a:solidFill>
                  <a:schemeClr val="tx1"/>
                </a:solidFill>
              </a:rPr>
              <a:pPr/>
              <a:t>9</a:t>
            </a:fld>
            <a:endParaRPr lang="es-ES" sz="1200">
              <a:solidFill>
                <a:schemeClr val="tx1"/>
              </a:solidFill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E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75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6" descr="Canvas"/>
          <p:cNvSpPr>
            <a:spLocks noChangeArrowheads="1"/>
          </p:cNvSpPr>
          <p:nvPr/>
        </p:nvSpPr>
        <p:spPr bwMode="white">
          <a:xfrm>
            <a:off x="623888" y="211138"/>
            <a:ext cx="9920287" cy="67913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Picture 1027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53975"/>
            <a:ext cx="1395413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028" descr="Canvas"/>
          <p:cNvSpPr>
            <a:spLocks noChangeArrowheads="1"/>
          </p:cNvSpPr>
          <p:nvPr/>
        </p:nvSpPr>
        <p:spPr bwMode="white">
          <a:xfrm>
            <a:off x="704850" y="4337050"/>
            <a:ext cx="1230313" cy="479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7" name="Picture 1029" descr="minispi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079500" y="2160588"/>
            <a:ext cx="9121775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94215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920875" y="4079875"/>
            <a:ext cx="7559675" cy="1860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dt" sz="quarter" idx="10"/>
          </p:nvPr>
        </p:nvSpPr>
        <p:spPr>
          <a:xfrm>
            <a:off x="1281113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3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0838" y="6400800"/>
            <a:ext cx="3421062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" name="Rectangle 10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2138" y="6400800"/>
            <a:ext cx="2249487" cy="4794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66E4D-467C-4080-BAB9-6987E278061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700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E0795-BB3D-4C87-B089-DCC5DDD190C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979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2488" y="4627563"/>
            <a:ext cx="9182100" cy="143033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2488" y="3052763"/>
            <a:ext cx="9182100" cy="15748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FD2B1-C462-4F15-8ABB-430E2B82BC0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8755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260475" y="1839913"/>
            <a:ext cx="4424363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837238" y="1839913"/>
            <a:ext cx="4424362" cy="4321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D24C9-0DD7-4DEF-945C-52AF6146976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050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8925"/>
            <a:ext cx="9721850" cy="12001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9750" y="1611313"/>
            <a:ext cx="4772025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39750" y="2284413"/>
            <a:ext cx="4772025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486400" y="1611313"/>
            <a:ext cx="4775200" cy="6731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486400" y="2284413"/>
            <a:ext cx="4775200" cy="41481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6FE49-5F52-4C47-8B21-6810BD1F4DE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04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FA862E-3469-4C92-A496-5DE813A6D281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759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72859-E346-4574-A2D7-8A30B55D76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273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750" y="287338"/>
            <a:ext cx="3554413" cy="12192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22750" y="287338"/>
            <a:ext cx="6038850" cy="61452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9750" y="1506538"/>
            <a:ext cx="3554413" cy="49260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05CFB-ADBE-4EB6-98D8-B5C9ADD8E304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696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117725" y="5040313"/>
            <a:ext cx="6480175" cy="59531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117725" y="642938"/>
            <a:ext cx="6480175" cy="43211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117725" y="5635625"/>
            <a:ext cx="6480175" cy="8445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552E0-DCA9-4559-8D64-FC59F9CBD73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938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8E6AF-D245-48DB-BBD4-85CC1FDA936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737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012113" y="400050"/>
            <a:ext cx="2249487" cy="57610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260475" y="400050"/>
            <a:ext cx="6599238" cy="57610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87191-D6BA-49C9-B7CC-79F2A154FC92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88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260475" y="400050"/>
            <a:ext cx="9001125" cy="57610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E6CE8-97FA-44D6-B372-7B74AAFF398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985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rgbClr val="906D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720725" y="239713"/>
            <a:ext cx="9731375" cy="6710362"/>
          </a:xfrm>
          <a:prstGeom prst="rect">
            <a:avLst/>
          </a:prstGeom>
          <a:solidFill>
            <a:srgbClr val="EDE7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2870" tIns="51435" rIns="102870" bIns="51435" anchor="ctr"/>
          <a:lstStyle>
            <a:lvl1pPr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1028700">
              <a:spcBef>
                <a:spcPct val="50000"/>
              </a:spcBef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1028700" eaLnBrk="0" fontAlgn="base" hangingPunct="0">
              <a:spcBef>
                <a:spcPct val="5000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defRPr/>
            </a:pPr>
            <a:endParaRPr kumimoji="1" lang="es-ES" sz="27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Line 3"/>
          <p:cNvSpPr>
            <a:spLocks noChangeShapeType="1"/>
          </p:cNvSpPr>
          <p:nvPr/>
        </p:nvSpPr>
        <p:spPr bwMode="ltGray">
          <a:xfrm>
            <a:off x="1200150" y="1679575"/>
            <a:ext cx="906145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1028" name="Picture 4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"/>
          <a:stretch>
            <a:fillRect/>
          </a:stretch>
        </p:blipFill>
        <p:spPr bwMode="ltGray">
          <a:xfrm>
            <a:off x="0" y="53975"/>
            <a:ext cx="1395413" cy="425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minispir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99"/>
          <a:stretch>
            <a:fillRect/>
          </a:stretch>
        </p:blipFill>
        <p:spPr bwMode="ltGray">
          <a:xfrm>
            <a:off x="0" y="4433888"/>
            <a:ext cx="1395413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400050"/>
            <a:ext cx="900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60475" y="1839913"/>
            <a:ext cx="9001125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319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98563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78288" y="6411913"/>
            <a:ext cx="3421062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319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29588" y="6411913"/>
            <a:ext cx="224948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1F63009-D131-49F5-B24F-DFE98357E26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</p:sldLayoutIdLst>
  <p:txStyles>
    <p:titleStyle>
      <a:lvl1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2pPr>
      <a:lvl3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3pPr>
      <a:lvl4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4pPr>
      <a:lvl5pPr algn="ctr" defTabSz="1028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5pPr>
      <a:lvl6pPr marL="4572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6pPr>
      <a:lvl7pPr marL="9144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7pPr>
      <a:lvl8pPr marL="13716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8pPr>
      <a:lvl9pPr marL="1828800" algn="ctr" defTabSz="1028700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imes New Roman" pitchFamily="18" charset="0"/>
        </a:defRPr>
      </a:lvl9pPr>
    </p:titleStyle>
    <p:bodyStyle>
      <a:lvl1pPr marL="385763" indent="-385763" algn="l" defTabSz="1028700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36613" indent="-322263" algn="l" defTabSz="1028700" rtl="0" eaLnBrk="0" fontAlgn="base" hangingPunct="0">
        <a:spcBef>
          <a:spcPct val="20000"/>
        </a:spcBef>
        <a:spcAft>
          <a:spcPct val="0"/>
        </a:spcAft>
        <a:buChar char="–"/>
        <a:defRPr sz="3200">
          <a:solidFill>
            <a:schemeClr val="tx1"/>
          </a:solidFill>
          <a:latin typeface="+mn-lt"/>
        </a:defRPr>
      </a:lvl2pPr>
      <a:lvl3pPr marL="1285875" indent="-257175" algn="l" defTabSz="1028700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800225" indent="-257175" algn="l" defTabSz="1028700" rtl="0" eaLnBrk="0" fontAlgn="base" hangingPunct="0">
        <a:spcBef>
          <a:spcPct val="20000"/>
        </a:spcBef>
        <a:spcAft>
          <a:spcPct val="0"/>
        </a:spcAft>
        <a:buChar char="–"/>
        <a:defRPr sz="2300">
          <a:solidFill>
            <a:schemeClr val="tx1"/>
          </a:solidFill>
          <a:latin typeface="+mn-lt"/>
        </a:defRPr>
      </a:lvl4pPr>
      <a:lvl5pPr marL="2314575" indent="-257175" algn="l" defTabSz="1028700" rtl="0" eaLnBrk="0" fontAlgn="base" hangingPunct="0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5pPr>
      <a:lvl6pPr marL="27717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6pPr>
      <a:lvl7pPr marL="32289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7pPr>
      <a:lvl8pPr marL="36861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8pPr>
      <a:lvl9pPr marL="4143375" indent="-257175" algn="l" defTabSz="1028700" rtl="0" fontAlgn="base">
        <a:spcBef>
          <a:spcPct val="20000"/>
        </a:spcBef>
        <a:spcAft>
          <a:spcPct val="0"/>
        </a:spcAft>
        <a:buChar char="»"/>
        <a:defRPr sz="23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540125" y="3303588"/>
            <a:ext cx="4468813" cy="968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RÉGIMEN TRANSITORIO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EN CORRIENTE CONTINUA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5292725" y="4805363"/>
            <a:ext cx="9334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(1/1)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5065713" y="2298700"/>
            <a:ext cx="1397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>
                <a:latin typeface="Comic Sans MS" panose="030F0702030302020204" pitchFamily="66" charset="0"/>
              </a:rPr>
              <a:t>TEMA 6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4913E1DD-F62F-4C6C-F97C-6C06C0A50E78}"/>
              </a:ext>
            </a:extLst>
          </p:cNvPr>
          <p:cNvGrpSpPr>
            <a:grpSpLocks/>
          </p:cNvGrpSpPr>
          <p:nvPr/>
        </p:nvGrpSpPr>
        <p:grpSpPr bwMode="auto">
          <a:xfrm>
            <a:off x="7239528" y="295654"/>
            <a:ext cx="3209926" cy="2159000"/>
            <a:chOff x="4896" y="276"/>
            <a:chExt cx="2022" cy="1360"/>
          </a:xfrm>
        </p:grpSpPr>
        <p:sp>
          <p:nvSpPr>
            <p:cNvPr id="3" name="AutoShape 1067">
              <a:extLst>
                <a:ext uri="{FF2B5EF4-FFF2-40B4-BE49-F238E27FC236}">
                  <a16:creationId xmlns:a16="http://schemas.microsoft.com/office/drawing/2014/main" id="{5257003E-551B-4157-0556-A4E6E7E3C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76"/>
              <a:ext cx="2022" cy="1360"/>
            </a:xfrm>
            <a:prstGeom prst="foldedCorner">
              <a:avLst>
                <a:gd name="adj" fmla="val 12500"/>
              </a:avLst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" name="Text Box 1068">
              <a:extLst>
                <a:ext uri="{FF2B5EF4-FFF2-40B4-BE49-F238E27FC236}">
                  <a16:creationId xmlns:a16="http://schemas.microsoft.com/office/drawing/2014/main" id="{9FF24CB0-D25C-11FC-F413-07F89CAF9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450"/>
              <a:ext cx="1786" cy="523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Trebuchet MS" panose="020B0603020202020204" pitchFamily="34" charset="0"/>
                </a:rPr>
                <a:t>2ª SESIÓN DE PROBLEMAS</a:t>
              </a:r>
            </a:p>
          </p:txBody>
        </p:sp>
        <p:sp>
          <p:nvSpPr>
            <p:cNvPr id="5" name="Text Box 1069">
              <a:extLst>
                <a:ext uri="{FF2B5EF4-FFF2-40B4-BE49-F238E27FC236}">
                  <a16:creationId xmlns:a16="http://schemas.microsoft.com/office/drawing/2014/main" id="{A83A569F-1CDD-A3CE-B033-BA24C7FDB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7" y="1036"/>
              <a:ext cx="1786" cy="2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FFFFFF"/>
                  </a:solidFill>
                  <a:latin typeface="Trebuchet MS" panose="020B0603020202020204" pitchFamily="34" charset="0"/>
                </a:rPr>
                <a:t>10 a 13/12</a:t>
              </a:r>
            </a:p>
          </p:txBody>
        </p:sp>
        <p:sp>
          <p:nvSpPr>
            <p:cNvPr id="6" name="Text Box 1062">
              <a:extLst>
                <a:ext uri="{FF2B5EF4-FFF2-40B4-BE49-F238E27FC236}">
                  <a16:creationId xmlns:a16="http://schemas.microsoft.com/office/drawing/2014/main" id="{6A2A14A7-D81E-D846-C61E-7B341B12D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4" y="1320"/>
              <a:ext cx="8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FF0000"/>
                  </a:solidFill>
                  <a:latin typeface="Trebuchet MS" panose="020B0603020202020204" pitchFamily="34" charset="0"/>
                </a:rPr>
                <a:t>BOL. 4: 3, 4 Y 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abla 2">
            <a:extLst>
              <a:ext uri="{FF2B5EF4-FFF2-40B4-BE49-F238E27FC236}">
                <a16:creationId xmlns:a16="http://schemas.microsoft.com/office/drawing/2014/main" id="{60285E6C-8978-4647-9A76-036D0DE4D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214303"/>
              </p:ext>
            </p:extLst>
          </p:nvPr>
        </p:nvGraphicFramePr>
        <p:xfrm>
          <a:off x="1137424" y="946302"/>
          <a:ext cx="9314381" cy="433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377">
                  <a:extLst>
                    <a:ext uri="{9D8B030D-6E8A-4147-A177-3AD203B41FA5}">
                      <a16:colId xmlns:a16="http://schemas.microsoft.com/office/drawing/2014/main" val="3889970370"/>
                    </a:ext>
                  </a:extLst>
                </a:gridCol>
                <a:gridCol w="900255">
                  <a:extLst>
                    <a:ext uri="{9D8B030D-6E8A-4147-A177-3AD203B41FA5}">
                      <a16:colId xmlns:a16="http://schemas.microsoft.com/office/drawing/2014/main" val="2960715721"/>
                    </a:ext>
                  </a:extLst>
                </a:gridCol>
                <a:gridCol w="1168901">
                  <a:extLst>
                    <a:ext uri="{9D8B030D-6E8A-4147-A177-3AD203B41FA5}">
                      <a16:colId xmlns:a16="http://schemas.microsoft.com/office/drawing/2014/main" val="1251989476"/>
                    </a:ext>
                  </a:extLst>
                </a:gridCol>
                <a:gridCol w="1053435">
                  <a:extLst>
                    <a:ext uri="{9D8B030D-6E8A-4147-A177-3AD203B41FA5}">
                      <a16:colId xmlns:a16="http://schemas.microsoft.com/office/drawing/2014/main" val="1868777160"/>
                    </a:ext>
                  </a:extLst>
                </a:gridCol>
                <a:gridCol w="940178">
                  <a:extLst>
                    <a:ext uri="{9D8B030D-6E8A-4147-A177-3AD203B41FA5}">
                      <a16:colId xmlns:a16="http://schemas.microsoft.com/office/drawing/2014/main" val="2286851830"/>
                    </a:ext>
                  </a:extLst>
                </a:gridCol>
                <a:gridCol w="1291895">
                  <a:extLst>
                    <a:ext uri="{9D8B030D-6E8A-4147-A177-3AD203B41FA5}">
                      <a16:colId xmlns:a16="http://schemas.microsoft.com/office/drawing/2014/main" val="1015353480"/>
                    </a:ext>
                  </a:extLst>
                </a:gridCol>
                <a:gridCol w="1241445">
                  <a:extLst>
                    <a:ext uri="{9D8B030D-6E8A-4147-A177-3AD203B41FA5}">
                      <a16:colId xmlns:a16="http://schemas.microsoft.com/office/drawing/2014/main" val="966296471"/>
                    </a:ext>
                  </a:extLst>
                </a:gridCol>
                <a:gridCol w="1389895">
                  <a:extLst>
                    <a:ext uri="{9D8B030D-6E8A-4147-A177-3AD203B41FA5}">
                      <a16:colId xmlns:a16="http://schemas.microsoft.com/office/drawing/2014/main" val="1808274697"/>
                    </a:ext>
                  </a:extLst>
                </a:gridCol>
              </a:tblGrid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GRUPO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47091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TURNOS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 Y T3</a:t>
                      </a:r>
                      <a:endParaRPr lang="es-E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Y 3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 Y T3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</a:t>
                      </a:r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399902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 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 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 2.11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 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8780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</a:t>
                      </a:r>
                    </a:p>
                    <a:p>
                      <a:pPr algn="ctr"/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  <a:p>
                      <a:pPr algn="ctr"/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</a:t>
                      </a:r>
                    </a:p>
                    <a:p>
                      <a:pPr algn="ctr"/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</a:p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</a:p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</a:p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90575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HORARIO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– 17:30</a:t>
                      </a:r>
                      <a:endParaRPr lang="es-E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– 17:30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12-13:30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9:30-11:00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720824"/>
                  </a:ext>
                </a:extLst>
              </a:tr>
              <a:tr h="721896"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20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JESÚS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JESÚS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JESÚS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FERNANDO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803400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8146C738-4E84-56EA-BF77-D99337DBE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438" y="342569"/>
            <a:ext cx="5974397" cy="4699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latin typeface="Arial" panose="020B0604020202020204" pitchFamily="34" charset="0"/>
              </a:rPr>
              <a:t>SEGUNDA SESIÓN DE PROBLEMAS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311F51-3D88-27AF-5FAC-2991F2D36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270" y="6021087"/>
            <a:ext cx="7937593" cy="37754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1800" b="1" dirty="0">
                <a:latin typeface="Arial" panose="020B0604020202020204" pitchFamily="34" charset="0"/>
              </a:rPr>
              <a:t>IM 1.2 o 1.8: AULARIO ISIDORO MORALES - PLANTA 1 - PUERTA 2 o 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B766F3-816F-6A5C-9358-7F18B30E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8438" y="6484998"/>
            <a:ext cx="5974398" cy="377541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1800" b="1">
                <a:latin typeface="Arial" panose="020B0604020202020204" pitchFamily="34" charset="0"/>
              </a:rPr>
              <a:t>  G 2.11: AULARIO GALILEO - PLANTA 2 - PUERTA 11</a:t>
            </a:r>
            <a:endParaRPr lang="es-ES" sz="1800" b="1" dirty="0"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4967BE-BDCD-5EB8-FD48-FC6494F07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3678" y="5513777"/>
            <a:ext cx="8242776" cy="377541"/>
          </a:xfrm>
          <a:prstGeom prst="rect">
            <a:avLst/>
          </a:prstGeom>
          <a:noFill/>
          <a:ln>
            <a:noFill/>
          </a:ln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A1</a:t>
            </a:r>
            <a:r>
              <a:rPr lang="es-ES" sz="1800" dirty="0">
                <a:solidFill>
                  <a:srgbClr val="FF0000"/>
                </a:solidFill>
                <a:latin typeface="Arial" panose="020B0604020202020204" pitchFamily="34" charset="0"/>
              </a:rPr>
              <a:t>: POR SER FESTIVO 09/12 CON A3 O A4 –MISMO PROFESOR–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ChangeArrowheads="1"/>
          </p:cNvSpPr>
          <p:nvPr/>
        </p:nvSpPr>
        <p:spPr bwMode="auto">
          <a:xfrm>
            <a:off x="1501775" y="455613"/>
            <a:ext cx="8520113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6: RÉGIMEN TRANSITORIO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EN CORRIENTE CONTINUA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F13EDEF2-768E-456A-9B18-502FB4B4E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8366" y="436878"/>
            <a:ext cx="2722418" cy="5365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 lIns="90000" tIns="82800" rIns="90000" bIns="82800" anchor="ctr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INTRODUCCIÓN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2" name="Text Box 27">
            <a:extLst>
              <a:ext uri="{FF2B5EF4-FFF2-40B4-BE49-F238E27FC236}">
                <a16:creationId xmlns:a16="http://schemas.microsoft.com/office/drawing/2014/main" id="{34904618-3648-603F-A470-993C8F345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512" y="4400267"/>
            <a:ext cx="8470900" cy="2086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Una situación transitoria se tiene también, por la presencia de </a:t>
            </a:r>
            <a:r>
              <a:rPr lang="es-ES" sz="2400" dirty="0">
                <a:solidFill>
                  <a:srgbClr val="008000"/>
                </a:solidFill>
              </a:rPr>
              <a:t>condensadores</a:t>
            </a:r>
            <a:r>
              <a:rPr lang="es-ES" sz="2400" dirty="0"/>
              <a:t> o/y </a:t>
            </a:r>
            <a:r>
              <a:rPr lang="es-ES" sz="2400" dirty="0">
                <a:solidFill>
                  <a:srgbClr val="008000"/>
                </a:solidFill>
              </a:rPr>
              <a:t>bobinas</a:t>
            </a:r>
            <a:r>
              <a:rPr lang="es-ES" sz="2400" dirty="0"/>
              <a:t>, al desconectar cualquier circuito al que se esté aplicando una tensión: las tensiones e intensidades evolucionan desde los </a:t>
            </a:r>
            <a:r>
              <a:rPr lang="es-ES" sz="2400" dirty="0">
                <a:solidFill>
                  <a:srgbClr val="3333FF"/>
                </a:solidFill>
              </a:rPr>
              <a:t>valores en ese instante</a:t>
            </a:r>
            <a:r>
              <a:rPr lang="es-ES" sz="2400" dirty="0"/>
              <a:t> (instantáneos) hasta el </a:t>
            </a:r>
            <a:r>
              <a:rPr lang="es-ES" sz="2400" dirty="0">
                <a:solidFill>
                  <a:srgbClr val="3333FF"/>
                </a:solidFill>
              </a:rPr>
              <a:t>equilibrio</a:t>
            </a:r>
            <a:r>
              <a:rPr lang="es-ES" sz="2400" dirty="0"/>
              <a:t> (hasta ser nulas)</a:t>
            </a:r>
          </a:p>
        </p:txBody>
      </p:sp>
      <p:sp>
        <p:nvSpPr>
          <p:cNvPr id="3" name="Text Box 27">
            <a:extLst>
              <a:ext uri="{FF2B5EF4-FFF2-40B4-BE49-F238E27FC236}">
                <a16:creationId xmlns:a16="http://schemas.microsoft.com/office/drawing/2014/main" id="{DD6EB69D-A2F8-37CE-80F5-67BF5CC17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022" y="1829420"/>
            <a:ext cx="8470900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La presencia de </a:t>
            </a:r>
            <a:r>
              <a:rPr lang="es-ES" sz="2400" dirty="0">
                <a:solidFill>
                  <a:srgbClr val="008000"/>
                </a:solidFill>
              </a:rPr>
              <a:t>condensadores</a:t>
            </a:r>
            <a:r>
              <a:rPr lang="es-ES" sz="2400" dirty="0"/>
              <a:t> o/y </a:t>
            </a:r>
            <a:r>
              <a:rPr lang="es-ES" sz="2400" dirty="0">
                <a:solidFill>
                  <a:srgbClr val="008000"/>
                </a:solidFill>
              </a:rPr>
              <a:t>bobinas</a:t>
            </a:r>
            <a:r>
              <a:rPr lang="es-ES" sz="2400" dirty="0"/>
              <a:t> en un circuito da lugar, al aplicar una </a:t>
            </a:r>
            <a:r>
              <a:rPr lang="es-ES" sz="2400" dirty="0">
                <a:solidFill>
                  <a:schemeClr val="tx1"/>
                </a:solidFill>
              </a:rPr>
              <a:t>tensión continua,</a:t>
            </a:r>
            <a:r>
              <a:rPr lang="es-ES" sz="2400" dirty="0"/>
              <a:t> a un régimen transitorio: las tensiones e intensidades en los componentes evolucionan, sin repetir valores, hasta la situación de </a:t>
            </a:r>
            <a:r>
              <a:rPr lang="es-ES" sz="2400" dirty="0">
                <a:solidFill>
                  <a:srgbClr val="3333FF"/>
                </a:solidFill>
              </a:rPr>
              <a:t>corriente continua</a:t>
            </a:r>
            <a:r>
              <a:rPr lang="es-ES" sz="2400" dirty="0">
                <a:solidFill>
                  <a:schemeClr val="tx1"/>
                </a:solidFill>
              </a:rPr>
              <a:t>,</a:t>
            </a:r>
            <a:r>
              <a:rPr lang="es-ES" sz="2400" dirty="0">
                <a:solidFill>
                  <a:srgbClr val="3333FF"/>
                </a:solidFill>
              </a:rPr>
              <a:t> </a:t>
            </a:r>
            <a:r>
              <a:rPr lang="es-ES" sz="2400" dirty="0"/>
              <a:t>donde todas son constantes (lo que incluye que algunas puedan ser nulas)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>
            <a:extLst>
              <a:ext uri="{FF2B5EF4-FFF2-40B4-BE49-F238E27FC236}">
                <a16:creationId xmlns:a16="http://schemas.microsoft.com/office/drawing/2014/main" id="{750BE0E5-5E23-7C39-A031-7F89344FC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658" y="1821381"/>
            <a:ext cx="2715637" cy="609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6000" tIns="118800" rIns="126000" bIns="118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>
                <a:sym typeface="Symbol" panose="05050102010706020507" pitchFamily="18" charset="2"/>
              </a:rPr>
              <a:t>En este 2º caso:</a:t>
            </a:r>
            <a:endParaRPr lang="es-ES" sz="2400" dirty="0"/>
          </a:p>
        </p:txBody>
      </p:sp>
      <p:sp>
        <p:nvSpPr>
          <p:cNvPr id="5" name="Text Box 27">
            <a:extLst>
              <a:ext uri="{FF2B5EF4-FFF2-40B4-BE49-F238E27FC236}">
                <a16:creationId xmlns:a16="http://schemas.microsoft.com/office/drawing/2014/main" id="{73FD22DC-66FC-D119-975C-8C0D1D47B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2440" y="391988"/>
            <a:ext cx="8470900" cy="134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6000" tIns="118800" rIns="126000" bIns="118800" anchor="ctr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En el 1</a:t>
            </a:r>
            <a:r>
              <a:rPr lang="es-ES" sz="2400" baseline="30000" dirty="0"/>
              <a:t>er</a:t>
            </a:r>
            <a:r>
              <a:rPr lang="es-ES" sz="2400" dirty="0"/>
              <a:t> caso (transitando hacia corriente continua), condensadores y bobinas </a:t>
            </a:r>
            <a:r>
              <a:rPr lang="es-ES" sz="2400" dirty="0">
                <a:solidFill>
                  <a:srgbClr val="FF0000"/>
                </a:solidFill>
              </a:rPr>
              <a:t>almacenan energía</a:t>
            </a:r>
            <a:r>
              <a:rPr lang="es-ES" sz="2400" dirty="0"/>
              <a:t>, en el 2º caso (transitando hacia el equilibrio), </a:t>
            </a:r>
            <a:r>
              <a:rPr lang="es-ES" sz="2400" dirty="0">
                <a:solidFill>
                  <a:srgbClr val="FF0000"/>
                </a:solidFill>
              </a:rPr>
              <a:t>tienden a suministrarla</a:t>
            </a:r>
            <a:endParaRPr lang="es-ES" sz="2400" dirty="0"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01B8F7BF-A0D0-6992-A1C0-52D0587E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683" y="2299155"/>
            <a:ext cx="8482012" cy="1717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6000" tIns="118800" rIns="126000" bIns="118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s-ES" sz="2400">
                <a:sym typeface="Symbol" panose="05050102010706020507" pitchFamily="18" charset="2"/>
              </a:rPr>
              <a:t>- L</a:t>
            </a:r>
            <a:r>
              <a:rPr lang="es-ES" sz="2400"/>
              <a:t>os </a:t>
            </a:r>
            <a:r>
              <a:rPr lang="es-ES" sz="2400" dirty="0">
                <a:solidFill>
                  <a:srgbClr val="008000"/>
                </a:solidFill>
              </a:rPr>
              <a:t>condensadores</a:t>
            </a:r>
            <a:r>
              <a:rPr lang="es-ES" sz="2400" dirty="0"/>
              <a:t> pueden quedar </a:t>
            </a:r>
            <a:r>
              <a:rPr lang="es-ES" sz="2400" dirty="0">
                <a:solidFill>
                  <a:srgbClr val="3333FF"/>
                </a:solidFill>
              </a:rPr>
              <a:t>cargados</a:t>
            </a:r>
            <a:r>
              <a:rPr lang="es-ES" sz="2400" dirty="0"/>
              <a:t>, si no es </a:t>
            </a:r>
            <a:r>
              <a:rPr lang="es-ES" sz="2400"/>
              <a:t>posible la transición, su descarga (</a:t>
            </a:r>
            <a:r>
              <a:rPr lang="es-ES" sz="2400" dirty="0"/>
              <a:t>si sus placas no quedan conectadas a través del </a:t>
            </a:r>
            <a:r>
              <a:rPr lang="es-ES" sz="2400"/>
              <a:t>circuito). Esto puede conllevar un mal funcionamiento del circuito en que estén al reconectar</a:t>
            </a:r>
            <a:endParaRPr lang="es-ES" sz="2400" dirty="0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C81DBFB5-E216-519C-66E0-604E548A1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515" y="3987220"/>
            <a:ext cx="8482012" cy="2825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6000" tIns="118800" rIns="126000" bIns="118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s-ES" sz="2400" dirty="0">
                <a:sym typeface="Symbol" panose="05050102010706020507" pitchFamily="18" charset="2"/>
              </a:rPr>
              <a:t>- L</a:t>
            </a:r>
            <a:r>
              <a:rPr lang="es-ES" sz="2400" dirty="0"/>
              <a:t>as </a:t>
            </a:r>
            <a:r>
              <a:rPr lang="es-ES" sz="2400" dirty="0">
                <a:solidFill>
                  <a:srgbClr val="008000"/>
                </a:solidFill>
              </a:rPr>
              <a:t>bobinas</a:t>
            </a:r>
            <a:r>
              <a:rPr lang="es-ES" sz="2400" dirty="0"/>
              <a:t> tienden a devolver la energía al tratar de mantener la corriente. Si no es viable, la diferencia de potencial inducida por las </a:t>
            </a:r>
            <a:r>
              <a:rPr lang="es-ES" sz="2400" dirty="0">
                <a:solidFill>
                  <a:schemeClr val="tx1"/>
                </a:solidFill>
              </a:rPr>
              <a:t>bobinas</a:t>
            </a:r>
            <a:r>
              <a:rPr lang="es-ES" sz="2400" dirty="0"/>
              <a:t> en los interruptores al abrirlos, o en los transistores que hagan su papel, al acumular carga en sus terminales, puede provocar </a:t>
            </a:r>
            <a:r>
              <a:rPr lang="es-ES" sz="2400" dirty="0">
                <a:solidFill>
                  <a:srgbClr val="3333FF"/>
                </a:solidFill>
              </a:rPr>
              <a:t>ruptura dieléctrica</a:t>
            </a:r>
            <a:r>
              <a:rPr lang="es-ES" sz="2400" dirty="0"/>
              <a:t>, corriente, y la devolución brusca y dañina de la energía (es algo a evitar, p.ej., con un diodo </a:t>
            </a:r>
            <a:r>
              <a:rPr lang="es-ES" sz="2400" dirty="0">
                <a:solidFill>
                  <a:srgbClr val="FF0000"/>
                </a:solidFill>
              </a:rPr>
              <a:t>-Tema 9-</a:t>
            </a:r>
            <a:r>
              <a:rPr lang="es-E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2775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8CB31B0-ECB1-4C6C-B1F0-04B3DC794162}"/>
              </a:ext>
            </a:extLst>
          </p:cNvPr>
          <p:cNvGrpSpPr/>
          <p:nvPr/>
        </p:nvGrpSpPr>
        <p:grpSpPr>
          <a:xfrm>
            <a:off x="4327112" y="1885954"/>
            <a:ext cx="349037" cy="1979615"/>
            <a:chOff x="4316952" y="1885954"/>
            <a:chExt cx="349037" cy="1979615"/>
          </a:xfrm>
        </p:grpSpPr>
        <p:sp>
          <p:nvSpPr>
            <p:cNvPr id="25612" name="Line 35"/>
            <p:cNvSpPr>
              <a:spLocks noChangeShapeType="1"/>
            </p:cNvSpPr>
            <p:nvPr/>
          </p:nvSpPr>
          <p:spPr bwMode="auto">
            <a:xfrm>
              <a:off x="4665989" y="1885954"/>
              <a:ext cx="0" cy="197961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0000" tIns="82800" rIns="90000" bIns="82800" anchorCtr="1">
              <a:spAutoFit/>
            </a:bodyPr>
            <a:lstStyle/>
            <a:p>
              <a:endParaRPr lang="en-GB"/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868DA935-788F-4AB8-A80F-010C9AD38AF9}"/>
                </a:ext>
              </a:extLst>
            </p:cNvPr>
            <p:cNvCxnSpPr/>
            <p:nvPr/>
          </p:nvCxnSpPr>
          <p:spPr bwMode="auto">
            <a:xfrm>
              <a:off x="4316952" y="1885954"/>
              <a:ext cx="346603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</p:cxnSp>
      </p:grpSp>
      <p:sp>
        <p:nvSpPr>
          <p:cNvPr id="26" name="Rectangle 10">
            <a:extLst>
              <a:ext uri="{FF2B5EF4-FFF2-40B4-BE49-F238E27FC236}">
                <a16:creationId xmlns:a16="http://schemas.microsoft.com/office/drawing/2014/main" id="{65A63972-F668-490E-AC2A-A94F621F6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6970" y="1682751"/>
            <a:ext cx="2005013" cy="4699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406650" y="3116474"/>
            <a:ext cx="2005014" cy="4699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22" name="Rectangle 10"/>
          <p:cNvSpPr>
            <a:spLocks noChangeArrowheads="1"/>
          </p:cNvSpPr>
          <p:nvPr/>
        </p:nvSpPr>
        <p:spPr bwMode="auto">
          <a:xfrm>
            <a:off x="2406650" y="2393951"/>
            <a:ext cx="2005013" cy="4699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291" name="Text Box 12"/>
          <p:cNvSpPr txBox="1">
            <a:spLocks noChangeArrowheads="1"/>
          </p:cNvSpPr>
          <p:nvPr/>
        </p:nvSpPr>
        <p:spPr bwMode="auto">
          <a:xfrm>
            <a:off x="1540514" y="4740512"/>
            <a:ext cx="8805703" cy="2345006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square" lIns="180000" tIns="180000" rIns="180000" bIns="180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  <a:defRPr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Refleja que si hay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bobinas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y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condensadores</a:t>
            </a: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 en serie, pueden aparecer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V e </a:t>
            </a:r>
            <a:r>
              <a:rPr lang="es-ES" sz="240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 alternas</a:t>
            </a:r>
            <a:r>
              <a:rPr lang="es-ES" sz="2400">
                <a:latin typeface="Arial" panose="020B0604020202020204" pitchFamily="34" charset="0"/>
              </a:rPr>
              <a:t> (debidas al comportamiento de L y C)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decrecientes</a:t>
            </a:r>
            <a:r>
              <a:rPr lang="es-ES" sz="2400">
                <a:latin typeface="Arial" panose="020B0604020202020204" pitchFamily="34" charset="0"/>
              </a:rPr>
              <a:t> (por efecto de R)</a:t>
            </a:r>
            <a:r>
              <a:rPr lang="es-ES" sz="240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durante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cierto tiempo </a:t>
            </a:r>
            <a:r>
              <a:rPr lang="es-ES" sz="2400" dirty="0">
                <a:latin typeface="Arial" panose="020B0604020202020204" pitchFamily="34" charset="0"/>
              </a:rPr>
              <a:t>(</a:t>
            </a:r>
            <a:r>
              <a:rPr lang="es-ES" sz="2400">
                <a:latin typeface="Arial" panose="020B0604020202020204" pitchFamily="34" charset="0"/>
              </a:rPr>
              <a:t>transitorio), tras aplicar al circuito una tensión continua, o dejar </a:t>
            </a:r>
            <a:r>
              <a:rPr lang="es-ES" sz="2400" dirty="0">
                <a:latin typeface="Arial" panose="020B0604020202020204" pitchFamily="34" charset="0"/>
              </a:rPr>
              <a:t>de aplicarle </a:t>
            </a:r>
            <a:r>
              <a:rPr lang="es-ES" sz="2400">
                <a:latin typeface="Arial" panose="020B0604020202020204" pitchFamily="34" charset="0"/>
              </a:rPr>
              <a:t>una cualquiera. L y C se van pasando la energía asociada a la oscilación, que se va disipando en R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1501775" y="455613"/>
            <a:ext cx="8520113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TEMA 6: RÉGIMEN TRANSITORIO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800" b="1">
                <a:solidFill>
                  <a:srgbClr val="CC0000"/>
                </a:solidFill>
                <a:latin typeface="Arial" panose="020B0604020202020204" pitchFamily="34" charset="0"/>
              </a:rPr>
              <a:t>                EN CORRIENTE CONTINUA</a:t>
            </a:r>
          </a:p>
        </p:txBody>
      </p:sp>
      <p:grpSp>
        <p:nvGrpSpPr>
          <p:cNvPr id="25606" name="Group 36"/>
          <p:cNvGrpSpPr>
            <a:grpSpLocks/>
          </p:cNvGrpSpPr>
          <p:nvPr/>
        </p:nvGrpSpPr>
        <p:grpSpPr bwMode="auto">
          <a:xfrm>
            <a:off x="1514475" y="1643063"/>
            <a:ext cx="3152775" cy="1924050"/>
            <a:chOff x="954" y="1035"/>
            <a:chExt cx="1986" cy="1212"/>
          </a:xfrm>
        </p:grpSpPr>
        <p:sp>
          <p:nvSpPr>
            <p:cNvPr id="25617" name="Rectangle 2"/>
            <p:cNvSpPr>
              <a:spLocks noChangeArrowheads="1"/>
            </p:cNvSpPr>
            <p:nvPr/>
          </p:nvSpPr>
          <p:spPr bwMode="auto">
            <a:xfrm>
              <a:off x="969" y="1979"/>
              <a:ext cx="395" cy="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18" name="Rectangle 3"/>
            <p:cNvSpPr>
              <a:spLocks noChangeArrowheads="1"/>
            </p:cNvSpPr>
            <p:nvPr/>
          </p:nvSpPr>
          <p:spPr bwMode="auto">
            <a:xfrm>
              <a:off x="969" y="1521"/>
              <a:ext cx="395" cy="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19" name="Rectangle 4"/>
            <p:cNvSpPr>
              <a:spLocks noChangeArrowheads="1"/>
            </p:cNvSpPr>
            <p:nvPr/>
          </p:nvSpPr>
          <p:spPr bwMode="auto">
            <a:xfrm>
              <a:off x="979" y="1071"/>
              <a:ext cx="395" cy="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620" name="Rectangle 6"/>
            <p:cNvSpPr>
              <a:spLocks noChangeArrowheads="1"/>
            </p:cNvSpPr>
            <p:nvPr/>
          </p:nvSpPr>
          <p:spPr bwMode="auto">
            <a:xfrm>
              <a:off x="954" y="1035"/>
              <a:ext cx="446" cy="1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569" tIns="49785" rIns="99569" bIns="49785">
              <a:spAutoFit/>
            </a:bodyPr>
            <a:lstStyle>
              <a:lvl1pPr defTabSz="995363">
                <a:spcBef>
                  <a:spcPct val="20000"/>
                </a:spcBef>
                <a:buChar char="•"/>
                <a:tabLst>
                  <a:tab pos="196850" algn="r"/>
                  <a:tab pos="2940050" algn="ctr"/>
                  <a:tab pos="5880100" algn="r"/>
                </a:tabLs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995363">
                <a:spcBef>
                  <a:spcPct val="20000"/>
                </a:spcBef>
                <a:buChar char="–"/>
                <a:tabLst>
                  <a:tab pos="196850" algn="r"/>
                  <a:tab pos="2940050" algn="ctr"/>
                  <a:tab pos="5880100" algn="r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995363">
                <a:spcBef>
                  <a:spcPct val="20000"/>
                </a:spcBef>
                <a:buChar char="•"/>
                <a:tabLst>
                  <a:tab pos="196850" algn="r"/>
                  <a:tab pos="2940050" algn="ctr"/>
                  <a:tab pos="5880100" algn="r"/>
                </a:tabLst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995363">
                <a:spcBef>
                  <a:spcPct val="20000"/>
                </a:spcBef>
                <a:buChar char="–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995363">
                <a:spcBef>
                  <a:spcPct val="20000"/>
                </a:spcBef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6.1.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sz="2400" b="1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6.2.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sz="2400" b="1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latin typeface="Arial" panose="020B0604020202020204" pitchFamily="34" charset="0"/>
                </a:rPr>
                <a:t>6.3.</a:t>
              </a:r>
            </a:p>
          </p:txBody>
        </p:sp>
        <p:sp>
          <p:nvSpPr>
            <p:cNvPr id="25621" name="Rectangle 7"/>
            <p:cNvSpPr>
              <a:spLocks noChangeArrowheads="1"/>
            </p:cNvSpPr>
            <p:nvPr/>
          </p:nvSpPr>
          <p:spPr bwMode="auto">
            <a:xfrm>
              <a:off x="1517" y="1035"/>
              <a:ext cx="1423" cy="1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569" tIns="49785" rIns="99569" bIns="49785">
              <a:spAutoFit/>
            </a:bodyPr>
            <a:lstStyle>
              <a:lvl1pPr defTabSz="995363">
                <a:spcBef>
                  <a:spcPct val="20000"/>
                </a:spcBef>
                <a:buChar char="•"/>
                <a:tabLst>
                  <a:tab pos="196850" algn="r"/>
                  <a:tab pos="2940050" algn="ctr"/>
                  <a:tab pos="5880100" algn="r"/>
                </a:tabLst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995363">
                <a:spcBef>
                  <a:spcPct val="20000"/>
                </a:spcBef>
                <a:buChar char="–"/>
                <a:tabLst>
                  <a:tab pos="196850" algn="r"/>
                  <a:tab pos="2940050" algn="ctr"/>
                  <a:tab pos="5880100" algn="r"/>
                </a:tabLst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995363">
                <a:spcBef>
                  <a:spcPct val="20000"/>
                </a:spcBef>
                <a:buChar char="•"/>
                <a:tabLst>
                  <a:tab pos="196850" algn="r"/>
                  <a:tab pos="2940050" algn="ctr"/>
                  <a:tab pos="5880100" algn="r"/>
                </a:tabLst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995363">
                <a:spcBef>
                  <a:spcPct val="20000"/>
                </a:spcBef>
                <a:buChar char="–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995363">
                <a:spcBef>
                  <a:spcPct val="20000"/>
                </a:spcBef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96850" algn="r"/>
                  <a:tab pos="2940050" algn="ctr"/>
                  <a:tab pos="5880100" algn="r"/>
                </a:tabLst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Circuito RC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sz="24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Circuito RL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s-ES" sz="24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latin typeface="Arial" panose="020B0604020202020204" pitchFamily="34" charset="0"/>
                </a:rPr>
                <a:t>Circuito RLC</a:t>
              </a:r>
            </a:p>
          </p:txBody>
        </p:sp>
      </p:grpSp>
      <p:sp>
        <p:nvSpPr>
          <p:cNvPr id="25615" name="AutoShape 28"/>
          <p:cNvSpPr>
            <a:spLocks/>
          </p:cNvSpPr>
          <p:nvPr/>
        </p:nvSpPr>
        <p:spPr bwMode="auto">
          <a:xfrm>
            <a:off x="4981574" y="1741487"/>
            <a:ext cx="219075" cy="1820863"/>
          </a:xfrm>
          <a:prstGeom prst="rightBrace">
            <a:avLst>
              <a:gd name="adj1" fmla="val 62983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0000" tIns="82800" rIns="90000" bIns="82800" anchor="ctr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endParaRPr lang="en-US"/>
          </a:p>
        </p:txBody>
      </p:sp>
      <p:sp>
        <p:nvSpPr>
          <p:cNvPr id="25616" name="Text Box 29"/>
          <p:cNvSpPr txBox="1">
            <a:spLocks noChangeArrowheads="1"/>
          </p:cNvSpPr>
          <p:nvPr/>
        </p:nvSpPr>
        <p:spPr bwMode="auto">
          <a:xfrm>
            <a:off x="5038724" y="2398712"/>
            <a:ext cx="439261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rgbClr val="008000"/>
                </a:solidFill>
              </a:rPr>
              <a:t>CIRCUITOS MÁS SIMPLES</a:t>
            </a:r>
          </a:p>
        </p:txBody>
      </p:sp>
      <p:sp>
        <p:nvSpPr>
          <p:cNvPr id="25614" name="Text Box 31"/>
          <p:cNvSpPr txBox="1">
            <a:spLocks noChangeArrowheads="1"/>
          </p:cNvSpPr>
          <p:nvPr/>
        </p:nvSpPr>
        <p:spPr bwMode="auto">
          <a:xfrm>
            <a:off x="5853261" y="2771198"/>
            <a:ext cx="2831658" cy="905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>
                <a:solidFill>
                  <a:srgbClr val="008000"/>
                </a:solidFill>
              </a:rPr>
              <a:t>(porque siempre </a:t>
            </a:r>
            <a:r>
              <a:rPr lang="es-ES" sz="2400" dirty="0">
                <a:solidFill>
                  <a:srgbClr val="008000"/>
                </a:solidFill>
              </a:rPr>
              <a:t>hay resistencia)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477076" y="4003682"/>
            <a:ext cx="2019300" cy="536576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b="1">
                <a:latin typeface="Arial" panose="020B0604020202020204" pitchFamily="34" charset="0"/>
              </a:rPr>
              <a:t>PRÁCTICA 2</a:t>
            </a: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D9A0F61F-09C1-495F-9A79-0124F20EF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6933" y="337014"/>
            <a:ext cx="2221863" cy="1253402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108000" tIns="72000" rIns="108000" bIns="72000" anchor="ctr" anchorCtr="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T1: 11/12/24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T2: 04/12/24</a:t>
            </a:r>
          </a:p>
          <a:p>
            <a:pPr eaLnBrk="1" hangingPunct="1">
              <a:spcBef>
                <a:spcPts val="0"/>
              </a:spcBef>
            </a:pPr>
            <a:r>
              <a:rPr lang="es-ES" sz="2400" dirty="0">
                <a:solidFill>
                  <a:srgbClr val="FFFFFF"/>
                </a:solidFill>
                <a:latin typeface="Trebuchet MS" panose="020B0603020202020204" pitchFamily="34" charset="0"/>
              </a:rPr>
              <a:t>T3: 04/12/24 </a:t>
            </a:r>
          </a:p>
        </p:txBody>
      </p:sp>
      <p:sp>
        <p:nvSpPr>
          <p:cNvPr id="22" name="Line 35">
            <a:extLst>
              <a:ext uri="{FF2B5EF4-FFF2-40B4-BE49-F238E27FC236}">
                <a16:creationId xmlns:a16="http://schemas.microsoft.com/office/drawing/2014/main" id="{483C4A2A-9DCD-4224-8937-E2BF88488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6469" y="3775328"/>
            <a:ext cx="0" cy="839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2942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0" grpId="0" animBg="1"/>
      <p:bldP spid="25622" grpId="0" animBg="1"/>
      <p:bldP spid="12291" grpId="0" animBg="1"/>
      <p:bldP spid="25615" grpId="0" animBg="1"/>
      <p:bldP spid="25616" grpId="0"/>
      <p:bldP spid="25614" grpId="0"/>
      <p:bldP spid="25611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1 Grupo"/>
          <p:cNvGrpSpPr>
            <a:grpSpLocks/>
          </p:cNvGrpSpPr>
          <p:nvPr/>
        </p:nvGrpSpPr>
        <p:grpSpPr bwMode="auto">
          <a:xfrm>
            <a:off x="1224971" y="2264905"/>
            <a:ext cx="2994643" cy="483040"/>
            <a:chOff x="1735138" y="2786063"/>
            <a:chExt cx="2994644" cy="483039"/>
          </a:xfrm>
        </p:grpSpPr>
        <p:sp>
          <p:nvSpPr>
            <p:cNvPr id="27706" name="Text Box 63"/>
            <p:cNvSpPr txBox="1">
              <a:spLocks noChangeArrowheads="1"/>
            </p:cNvSpPr>
            <p:nvPr/>
          </p:nvSpPr>
          <p:spPr bwMode="auto">
            <a:xfrm>
              <a:off x="1735138" y="2786063"/>
              <a:ext cx="322881" cy="449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7707" name="Text Box 64"/>
            <p:cNvSpPr txBox="1">
              <a:spLocks noChangeArrowheads="1"/>
            </p:cNvSpPr>
            <p:nvPr/>
          </p:nvSpPr>
          <p:spPr bwMode="auto">
            <a:xfrm>
              <a:off x="4406901" y="2819400"/>
              <a:ext cx="322881" cy="449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I</a:t>
              </a:r>
            </a:p>
          </p:txBody>
        </p:sp>
        <p:sp>
          <p:nvSpPr>
            <p:cNvPr id="27708" name="Line 65"/>
            <p:cNvSpPr>
              <a:spLocks noChangeShapeType="1"/>
            </p:cNvSpPr>
            <p:nvPr/>
          </p:nvSpPr>
          <p:spPr bwMode="auto">
            <a:xfrm rot="5400000" flipH="1">
              <a:off x="2025650" y="3017838"/>
              <a:ext cx="185738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709" name="Line 66"/>
            <p:cNvSpPr>
              <a:spLocks noChangeShapeType="1"/>
            </p:cNvSpPr>
            <p:nvPr/>
          </p:nvSpPr>
          <p:spPr bwMode="auto">
            <a:xfrm rot="16200000" flipH="1">
              <a:off x="4186238" y="3032125"/>
              <a:ext cx="187325" cy="0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C6D135E5-1504-EDCD-6BE4-D3EC2D1A9E5B}"/>
              </a:ext>
            </a:extLst>
          </p:cNvPr>
          <p:cNvGrpSpPr/>
          <p:nvPr/>
        </p:nvGrpSpPr>
        <p:grpSpPr>
          <a:xfrm>
            <a:off x="1606593" y="1019214"/>
            <a:ext cx="2176463" cy="2371456"/>
            <a:chOff x="1791525" y="1143906"/>
            <a:chExt cx="2176463" cy="2371456"/>
          </a:xfrm>
        </p:grpSpPr>
        <p:sp>
          <p:nvSpPr>
            <p:cNvPr id="27657" name="Line 48"/>
            <p:cNvSpPr>
              <a:spLocks noChangeShapeType="1"/>
            </p:cNvSpPr>
            <p:nvPr/>
          </p:nvSpPr>
          <p:spPr bwMode="auto">
            <a:xfrm flipH="1">
              <a:off x="3633025" y="1965962"/>
              <a:ext cx="3349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658" name="Line 49"/>
            <p:cNvSpPr>
              <a:spLocks noChangeShapeType="1"/>
            </p:cNvSpPr>
            <p:nvPr/>
          </p:nvSpPr>
          <p:spPr bwMode="auto">
            <a:xfrm flipH="1">
              <a:off x="1816925" y="3267712"/>
              <a:ext cx="9763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grpSp>
          <p:nvGrpSpPr>
            <p:cNvPr id="27659" name="Group 50"/>
            <p:cNvGrpSpPr>
              <a:grpSpLocks/>
            </p:cNvGrpSpPr>
            <p:nvPr/>
          </p:nvGrpSpPr>
          <p:grpSpPr bwMode="auto">
            <a:xfrm>
              <a:off x="3123438" y="1684975"/>
              <a:ext cx="515937" cy="579437"/>
              <a:chOff x="2592" y="1344"/>
              <a:chExt cx="1728" cy="672"/>
            </a:xfrm>
          </p:grpSpPr>
          <p:sp>
            <p:nvSpPr>
              <p:cNvPr id="27710" name="Line 51"/>
              <p:cNvSpPr>
                <a:spLocks noChangeShapeType="1"/>
              </p:cNvSpPr>
              <p:nvPr/>
            </p:nvSpPr>
            <p:spPr bwMode="auto">
              <a:xfrm flipV="1">
                <a:off x="2592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1" name="Line 52"/>
              <p:cNvSpPr>
                <a:spLocks noChangeShapeType="1"/>
              </p:cNvSpPr>
              <p:nvPr/>
            </p:nvSpPr>
            <p:spPr bwMode="auto">
              <a:xfrm flipH="1" flipV="1">
                <a:off x="2738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2" name="Line 53"/>
              <p:cNvSpPr>
                <a:spLocks noChangeShapeType="1"/>
              </p:cNvSpPr>
              <p:nvPr/>
            </p:nvSpPr>
            <p:spPr bwMode="auto">
              <a:xfrm flipH="1" flipV="1">
                <a:off x="2880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3" name="Line 54"/>
              <p:cNvSpPr>
                <a:spLocks noChangeShapeType="1"/>
              </p:cNvSpPr>
              <p:nvPr/>
            </p:nvSpPr>
            <p:spPr bwMode="auto">
              <a:xfrm flipV="1">
                <a:off x="3024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4" name="Line 55"/>
              <p:cNvSpPr>
                <a:spLocks noChangeShapeType="1"/>
              </p:cNvSpPr>
              <p:nvPr/>
            </p:nvSpPr>
            <p:spPr bwMode="auto">
              <a:xfrm flipV="1">
                <a:off x="3168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5" name="Line 56"/>
              <p:cNvSpPr>
                <a:spLocks noChangeShapeType="1"/>
              </p:cNvSpPr>
              <p:nvPr/>
            </p:nvSpPr>
            <p:spPr bwMode="auto">
              <a:xfrm flipH="1" flipV="1">
                <a:off x="3314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6" name="Line 57"/>
              <p:cNvSpPr>
                <a:spLocks noChangeShapeType="1"/>
              </p:cNvSpPr>
              <p:nvPr/>
            </p:nvSpPr>
            <p:spPr bwMode="auto">
              <a:xfrm flipH="1" flipV="1">
                <a:off x="3456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7" name="Line 58"/>
              <p:cNvSpPr>
                <a:spLocks noChangeShapeType="1"/>
              </p:cNvSpPr>
              <p:nvPr/>
            </p:nvSpPr>
            <p:spPr bwMode="auto">
              <a:xfrm flipV="1">
                <a:off x="3600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8" name="Line 59"/>
              <p:cNvSpPr>
                <a:spLocks noChangeShapeType="1"/>
              </p:cNvSpPr>
              <p:nvPr/>
            </p:nvSpPr>
            <p:spPr bwMode="auto">
              <a:xfrm flipV="1">
                <a:off x="3744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19" name="Line 60"/>
              <p:cNvSpPr>
                <a:spLocks noChangeShapeType="1"/>
              </p:cNvSpPr>
              <p:nvPr/>
            </p:nvSpPr>
            <p:spPr bwMode="auto">
              <a:xfrm flipH="1" flipV="1">
                <a:off x="3890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20" name="Line 61"/>
              <p:cNvSpPr>
                <a:spLocks noChangeShapeType="1"/>
              </p:cNvSpPr>
              <p:nvPr/>
            </p:nvSpPr>
            <p:spPr bwMode="auto">
              <a:xfrm flipH="1" flipV="1">
                <a:off x="4032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21" name="Line 62"/>
              <p:cNvSpPr>
                <a:spLocks noChangeShapeType="1"/>
              </p:cNvSpPr>
              <p:nvPr/>
            </p:nvSpPr>
            <p:spPr bwMode="auto">
              <a:xfrm flipV="1">
                <a:off x="4176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27661" name="Text Box 67"/>
            <p:cNvSpPr txBox="1">
              <a:spLocks noChangeArrowheads="1"/>
            </p:cNvSpPr>
            <p:nvPr/>
          </p:nvSpPr>
          <p:spPr bwMode="auto">
            <a:xfrm>
              <a:off x="3225038" y="1169306"/>
              <a:ext cx="351735" cy="449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27662" name="Text Box 68"/>
            <p:cNvSpPr txBox="1">
              <a:spLocks noChangeArrowheads="1"/>
            </p:cNvSpPr>
            <p:nvPr/>
          </p:nvSpPr>
          <p:spPr bwMode="auto">
            <a:xfrm>
              <a:off x="2285238" y="1143906"/>
              <a:ext cx="324483" cy="449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L</a:t>
              </a:r>
            </a:p>
          </p:txBody>
        </p:sp>
        <p:sp>
          <p:nvSpPr>
            <p:cNvPr id="27663" name="Line 69"/>
            <p:cNvSpPr>
              <a:spLocks noChangeShapeType="1"/>
            </p:cNvSpPr>
            <p:nvPr/>
          </p:nvSpPr>
          <p:spPr bwMode="auto">
            <a:xfrm rot="16200000" flipH="1">
              <a:off x="1141444" y="2589056"/>
              <a:ext cx="1325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664" name="Line 70"/>
            <p:cNvSpPr>
              <a:spLocks noChangeShapeType="1"/>
            </p:cNvSpPr>
            <p:nvPr/>
          </p:nvSpPr>
          <p:spPr bwMode="auto">
            <a:xfrm rot="16200000" flipH="1">
              <a:off x="3298063" y="2623187"/>
              <a:ext cx="13271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665" name="Line 71"/>
            <p:cNvSpPr>
              <a:spLocks noChangeShapeType="1"/>
            </p:cNvSpPr>
            <p:nvPr/>
          </p:nvSpPr>
          <p:spPr bwMode="auto">
            <a:xfrm>
              <a:off x="2832925" y="3031175"/>
              <a:ext cx="0" cy="48418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666" name="Line 72"/>
            <p:cNvSpPr>
              <a:spLocks noChangeShapeType="1"/>
            </p:cNvSpPr>
            <p:nvPr/>
          </p:nvSpPr>
          <p:spPr bwMode="auto">
            <a:xfrm>
              <a:off x="2926588" y="3174050"/>
              <a:ext cx="0" cy="17938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667" name="Line 73"/>
            <p:cNvSpPr>
              <a:spLocks noChangeShapeType="1"/>
            </p:cNvSpPr>
            <p:nvPr/>
          </p:nvSpPr>
          <p:spPr bwMode="auto">
            <a:xfrm flipH="1">
              <a:off x="2959925" y="3266125"/>
              <a:ext cx="97631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7668" name="Text Box 74"/>
            <p:cNvSpPr txBox="1">
              <a:spLocks noChangeArrowheads="1"/>
            </p:cNvSpPr>
            <p:nvPr/>
          </p:nvSpPr>
          <p:spPr bwMode="auto">
            <a:xfrm>
              <a:off x="2702750" y="2569782"/>
              <a:ext cx="362955" cy="449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  <a:sym typeface="Symbol" panose="05050102010706020507" pitchFamily="18" charset="2"/>
                </a:rPr>
                <a:t>V</a:t>
              </a:r>
            </a:p>
          </p:txBody>
        </p:sp>
        <p:grpSp>
          <p:nvGrpSpPr>
            <p:cNvPr id="27669" name="Group 75"/>
            <p:cNvGrpSpPr>
              <a:grpSpLocks/>
            </p:cNvGrpSpPr>
            <p:nvPr/>
          </p:nvGrpSpPr>
          <p:grpSpPr bwMode="auto">
            <a:xfrm>
              <a:off x="1791525" y="1615125"/>
              <a:ext cx="1295400" cy="358775"/>
              <a:chOff x="2472" y="2949"/>
              <a:chExt cx="1099" cy="226"/>
            </a:xfrm>
          </p:grpSpPr>
          <p:sp>
            <p:nvSpPr>
              <p:cNvPr id="27701" name="Line 76"/>
              <p:cNvSpPr>
                <a:spLocks noChangeShapeType="1"/>
              </p:cNvSpPr>
              <p:nvPr/>
            </p:nvSpPr>
            <p:spPr bwMode="auto">
              <a:xfrm>
                <a:off x="2472" y="3152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02" name="Freeform 77"/>
              <p:cNvSpPr>
                <a:spLocks/>
              </p:cNvSpPr>
              <p:nvPr/>
            </p:nvSpPr>
            <p:spPr bwMode="auto">
              <a:xfrm>
                <a:off x="2702" y="2949"/>
                <a:ext cx="212" cy="214"/>
              </a:xfrm>
              <a:custGeom>
                <a:avLst/>
                <a:gdLst>
                  <a:gd name="T0" fmla="*/ 0 w 180"/>
                  <a:gd name="T1" fmla="*/ 194 h 214"/>
                  <a:gd name="T2" fmla="*/ 3108 w 180"/>
                  <a:gd name="T3" fmla="*/ 47 h 214"/>
                  <a:gd name="T4" fmla="*/ 10284 w 180"/>
                  <a:gd name="T5" fmla="*/ 5 h 214"/>
                  <a:gd name="T6" fmla="*/ 16411 w 180"/>
                  <a:gd name="T7" fmla="*/ 78 h 214"/>
                  <a:gd name="T8" fmla="*/ 17431 w 180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03" name="Freeform 78"/>
              <p:cNvSpPr>
                <a:spLocks/>
              </p:cNvSpPr>
              <p:nvPr/>
            </p:nvSpPr>
            <p:spPr bwMode="auto">
              <a:xfrm>
                <a:off x="2918" y="2955"/>
                <a:ext cx="212" cy="214"/>
              </a:xfrm>
              <a:custGeom>
                <a:avLst/>
                <a:gdLst>
                  <a:gd name="T0" fmla="*/ 0 w 180"/>
                  <a:gd name="T1" fmla="*/ 194 h 214"/>
                  <a:gd name="T2" fmla="*/ 3108 w 180"/>
                  <a:gd name="T3" fmla="*/ 47 h 214"/>
                  <a:gd name="T4" fmla="*/ 10284 w 180"/>
                  <a:gd name="T5" fmla="*/ 5 h 214"/>
                  <a:gd name="T6" fmla="*/ 16411 w 180"/>
                  <a:gd name="T7" fmla="*/ 78 h 214"/>
                  <a:gd name="T8" fmla="*/ 17431 w 180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04" name="Freeform 79"/>
              <p:cNvSpPr>
                <a:spLocks/>
              </p:cNvSpPr>
              <p:nvPr/>
            </p:nvSpPr>
            <p:spPr bwMode="auto">
              <a:xfrm>
                <a:off x="3134" y="2961"/>
                <a:ext cx="212" cy="214"/>
              </a:xfrm>
              <a:custGeom>
                <a:avLst/>
                <a:gdLst>
                  <a:gd name="T0" fmla="*/ 0 w 180"/>
                  <a:gd name="T1" fmla="*/ 194 h 214"/>
                  <a:gd name="T2" fmla="*/ 3108 w 180"/>
                  <a:gd name="T3" fmla="*/ 47 h 214"/>
                  <a:gd name="T4" fmla="*/ 10284 w 180"/>
                  <a:gd name="T5" fmla="*/ 5 h 214"/>
                  <a:gd name="T6" fmla="*/ 16411 w 180"/>
                  <a:gd name="T7" fmla="*/ 78 h 214"/>
                  <a:gd name="T8" fmla="*/ 17431 w 180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27705" name="Line 80"/>
              <p:cNvSpPr>
                <a:spLocks noChangeShapeType="1"/>
              </p:cNvSpPr>
              <p:nvPr/>
            </p:nvSpPr>
            <p:spPr bwMode="auto">
              <a:xfrm>
                <a:off x="3351" y="3161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27698" name="83 CuadroTexto"/>
          <p:cNvSpPr txBox="1">
            <a:spLocks noChangeArrowheads="1"/>
          </p:cNvSpPr>
          <p:nvPr/>
        </p:nvSpPr>
        <p:spPr bwMode="auto">
          <a:xfrm>
            <a:off x="1655807" y="1705142"/>
            <a:ext cx="1172116" cy="461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         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1976416" y="1977634"/>
            <a:ext cx="662644" cy="553342"/>
            <a:chOff x="2695577" y="2077089"/>
            <a:chExt cx="662644" cy="553342"/>
          </a:xfrm>
        </p:grpSpPr>
        <p:cxnSp>
          <p:nvCxnSpPr>
            <p:cNvPr id="27697" name="82 Conector recto de flecha"/>
            <p:cNvCxnSpPr>
              <a:cxnSpLocks noChangeShapeType="1"/>
            </p:cNvCxnSpPr>
            <p:nvPr/>
          </p:nvCxnSpPr>
          <p:spPr bwMode="auto">
            <a:xfrm rot="10800000">
              <a:off x="2695577" y="2077089"/>
              <a:ext cx="532526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699" name="84 CuadroTexto"/>
            <p:cNvSpPr txBox="1">
              <a:spLocks noChangeArrowheads="1"/>
            </p:cNvSpPr>
            <p:nvPr/>
          </p:nvSpPr>
          <p:spPr bwMode="auto">
            <a:xfrm>
              <a:off x="2695860" y="2168765"/>
              <a:ext cx="662361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ind</a:t>
              </a:r>
              <a:endPara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7700" name="86 Conector recto de flecha"/>
            <p:cNvCxnSpPr>
              <a:cxnSpLocks noChangeShapeType="1"/>
            </p:cNvCxnSpPr>
            <p:nvPr/>
          </p:nvCxnSpPr>
          <p:spPr bwMode="auto">
            <a:xfrm>
              <a:off x="2807804" y="2197380"/>
              <a:ext cx="207595" cy="1584"/>
            </a:xfrm>
            <a:prstGeom prst="straightConnector1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B1B3CA3-C7B9-01BE-D41A-C6C634779B02}"/>
              </a:ext>
            </a:extLst>
          </p:cNvPr>
          <p:cNvGrpSpPr/>
          <p:nvPr/>
        </p:nvGrpSpPr>
        <p:grpSpPr>
          <a:xfrm>
            <a:off x="4127740" y="2635184"/>
            <a:ext cx="873125" cy="1036656"/>
            <a:chOff x="4540924" y="2635184"/>
            <a:chExt cx="873125" cy="1036656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184A4A6C-116A-EA23-E5BC-4F2C428D1817}"/>
                </a:ext>
              </a:extLst>
            </p:cNvPr>
            <p:cNvSpPr/>
            <p:nvPr/>
          </p:nvSpPr>
          <p:spPr bwMode="auto">
            <a:xfrm>
              <a:off x="4670853" y="2656278"/>
              <a:ext cx="553103" cy="101556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66" name="Text Box 22"/>
            <p:cNvSpPr txBox="1">
              <a:spLocks noChangeArrowheads="1"/>
            </p:cNvSpPr>
            <p:nvPr/>
          </p:nvSpPr>
          <p:spPr bwMode="auto">
            <a:xfrm>
              <a:off x="4540924" y="2635184"/>
              <a:ext cx="873125" cy="53657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latin typeface="Arial" panose="020B0604020202020204" pitchFamily="34" charset="0"/>
                </a:rPr>
                <a:t>L</a:t>
              </a:r>
              <a:endParaRPr lang="es-ES" sz="2400">
                <a:latin typeface="Arial" panose="020B0604020202020204" pitchFamily="34" charset="0"/>
              </a:endParaRPr>
            </a:p>
          </p:txBody>
        </p:sp>
        <p:sp>
          <p:nvSpPr>
            <p:cNvPr id="67" name="Text Box 23"/>
            <p:cNvSpPr txBox="1">
              <a:spLocks noChangeArrowheads="1"/>
            </p:cNvSpPr>
            <p:nvPr/>
          </p:nvSpPr>
          <p:spPr bwMode="auto">
            <a:xfrm>
              <a:off x="4540924" y="3080048"/>
              <a:ext cx="873125" cy="53657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latin typeface="Arial" panose="020B0604020202020204" pitchFamily="34" charset="0"/>
                </a:rPr>
                <a:t>V</a:t>
              </a:r>
              <a:r>
                <a:rPr lang="es-ES" sz="2400" baseline="-25000">
                  <a:latin typeface="Arial" panose="020B0604020202020204" pitchFamily="34" charset="0"/>
                </a:rPr>
                <a:t>R</a:t>
              </a:r>
              <a:endParaRPr lang="es-ES" sz="2400">
                <a:latin typeface="Arial" panose="020B0604020202020204" pitchFamily="34" charset="0"/>
              </a:endParaRPr>
            </a:p>
          </p:txBody>
        </p:sp>
      </p:grpSp>
      <p:sp>
        <p:nvSpPr>
          <p:cNvPr id="74" name="Text Box 40"/>
          <p:cNvSpPr txBox="1">
            <a:spLocks noChangeArrowheads="1"/>
          </p:cNvSpPr>
          <p:nvPr/>
        </p:nvSpPr>
        <p:spPr bwMode="auto">
          <a:xfrm>
            <a:off x="1451456" y="5005767"/>
            <a:ext cx="2426699" cy="5365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¿R equivalente?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4385169" y="4862774"/>
            <a:ext cx="1346754" cy="862012"/>
            <a:chOff x="8465296" y="3703641"/>
            <a:chExt cx="1346754" cy="862012"/>
          </a:xfrm>
        </p:grpSpPr>
        <p:sp>
          <p:nvSpPr>
            <p:cNvPr id="73" name="Rectangle 39"/>
            <p:cNvSpPr>
              <a:spLocks noChangeArrowheads="1"/>
            </p:cNvSpPr>
            <p:nvPr/>
          </p:nvSpPr>
          <p:spPr bwMode="auto">
            <a:xfrm>
              <a:off x="8465296" y="3703641"/>
              <a:ext cx="1346754" cy="862012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Text Box 41"/>
            <p:cNvSpPr txBox="1">
              <a:spLocks noChangeArrowheads="1"/>
            </p:cNvSpPr>
            <p:nvPr/>
          </p:nvSpPr>
          <p:spPr bwMode="auto">
            <a:xfrm>
              <a:off x="8636816" y="3933828"/>
              <a:ext cx="582852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R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L </a:t>
              </a:r>
              <a:r>
                <a:rPr lang="es-ES" sz="2400" dirty="0">
                  <a:latin typeface="Comic Sans MS" panose="030F0702030302020204" pitchFamily="66" charset="0"/>
                </a:rPr>
                <a:t>=</a:t>
              </a:r>
            </a:p>
          </p:txBody>
        </p:sp>
        <p:sp>
          <p:nvSpPr>
            <p:cNvPr id="76" name="Text Box 42"/>
            <p:cNvSpPr txBox="1">
              <a:spLocks noChangeArrowheads="1"/>
            </p:cNvSpPr>
            <p:nvPr/>
          </p:nvSpPr>
          <p:spPr bwMode="auto">
            <a:xfrm>
              <a:off x="9192670" y="3740153"/>
              <a:ext cx="408155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V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L</a:t>
              </a:r>
            </a:p>
          </p:txBody>
        </p:sp>
        <p:sp>
          <p:nvSpPr>
            <p:cNvPr id="77" name="Text Box 43"/>
            <p:cNvSpPr txBox="1">
              <a:spLocks noChangeArrowheads="1"/>
            </p:cNvSpPr>
            <p:nvPr/>
          </p:nvSpPr>
          <p:spPr bwMode="auto">
            <a:xfrm>
              <a:off x="9235550" y="4117978"/>
              <a:ext cx="381157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/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I</a:t>
              </a:r>
              <a:r>
                <a:rPr lang="es-ES" sz="2400" baseline="-25000">
                  <a:latin typeface="Comic Sans MS" panose="030F0702030302020204" pitchFamily="66" charset="0"/>
                </a:rPr>
                <a:t>L</a:t>
              </a:r>
            </a:p>
          </p:txBody>
        </p:sp>
        <p:sp>
          <p:nvSpPr>
            <p:cNvPr id="78" name="Line 44"/>
            <p:cNvSpPr>
              <a:spLocks noChangeShapeType="1"/>
            </p:cNvSpPr>
            <p:nvPr/>
          </p:nvSpPr>
          <p:spPr bwMode="auto">
            <a:xfrm>
              <a:off x="9241903" y="4176716"/>
              <a:ext cx="31127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/>
            <a:lstStyle/>
            <a:p>
              <a:endParaRPr lang="en-GB"/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1463742" y="5739082"/>
            <a:ext cx="1508948" cy="536549"/>
            <a:chOff x="5478207" y="4693288"/>
            <a:chExt cx="1508948" cy="536549"/>
          </a:xfrm>
        </p:grpSpPr>
        <p:sp>
          <p:nvSpPr>
            <p:cNvPr id="3" name="Rectángulo 2"/>
            <p:cNvSpPr/>
            <p:nvPr/>
          </p:nvSpPr>
          <p:spPr bwMode="auto">
            <a:xfrm>
              <a:off x="5478207" y="4726462"/>
              <a:ext cx="1508948" cy="47231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79" name="Text Box 45"/>
            <p:cNvSpPr txBox="1">
              <a:spLocks noChangeArrowheads="1"/>
            </p:cNvSpPr>
            <p:nvPr/>
          </p:nvSpPr>
          <p:spPr bwMode="auto">
            <a:xfrm>
              <a:off x="5495671" y="4693288"/>
              <a:ext cx="986465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Inicio: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0" name="Text Box 99"/>
          <p:cNvSpPr txBox="1">
            <a:spLocks noChangeArrowheads="1"/>
          </p:cNvSpPr>
          <p:nvPr/>
        </p:nvSpPr>
        <p:spPr bwMode="auto">
          <a:xfrm>
            <a:off x="1414846" y="3868807"/>
            <a:ext cx="4859338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/>
              <a:t>Visto como una </a:t>
            </a:r>
            <a:r>
              <a:rPr lang="es-ES" sz="2400"/>
              <a:t>situación alterna: </a:t>
            </a:r>
            <a:r>
              <a:rPr lang="es-ES" sz="2400" dirty="0">
                <a:solidFill>
                  <a:srgbClr val="FF0000"/>
                </a:solidFill>
              </a:rPr>
              <a:t>V</a:t>
            </a:r>
            <a:r>
              <a:rPr lang="es-ES" sz="2400" baseline="-25000" dirty="0">
                <a:solidFill>
                  <a:srgbClr val="FF0000"/>
                </a:solidFill>
              </a:rPr>
              <a:t>L</a:t>
            </a:r>
            <a:r>
              <a:rPr lang="es-ES" sz="2400" dirty="0">
                <a:solidFill>
                  <a:srgbClr val="FF0000"/>
                </a:solidFill>
              </a:rPr>
              <a:t> está 90º por delante de </a:t>
            </a:r>
            <a:r>
              <a:rPr lang="es-E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I</a:t>
            </a:r>
          </a:p>
        </p:txBody>
      </p:sp>
      <p:grpSp>
        <p:nvGrpSpPr>
          <p:cNvPr id="6" name="Grupo 5"/>
          <p:cNvGrpSpPr/>
          <p:nvPr/>
        </p:nvGrpSpPr>
        <p:grpSpPr>
          <a:xfrm>
            <a:off x="1441011" y="6345194"/>
            <a:ext cx="1531680" cy="494051"/>
            <a:chOff x="5455476" y="5361746"/>
            <a:chExt cx="1531680" cy="494051"/>
          </a:xfrm>
        </p:grpSpPr>
        <p:sp>
          <p:nvSpPr>
            <p:cNvPr id="97" name="Rectángulo 96"/>
            <p:cNvSpPr/>
            <p:nvPr/>
          </p:nvSpPr>
          <p:spPr bwMode="auto">
            <a:xfrm>
              <a:off x="5455476" y="5361746"/>
              <a:ext cx="1531680" cy="472314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95" name="Text Box 46"/>
            <p:cNvSpPr txBox="1">
              <a:spLocks noChangeArrowheads="1"/>
            </p:cNvSpPr>
            <p:nvPr/>
          </p:nvSpPr>
          <p:spPr bwMode="auto">
            <a:xfrm>
              <a:off x="5466693" y="5385693"/>
              <a:ext cx="1520462" cy="470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="ctr" anchorCtr="0"/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Continua:</a:t>
              </a:r>
              <a:endParaRPr lang="es-ES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0" name="88 CuadroTexto"/>
          <p:cNvSpPr txBox="1">
            <a:spLocks noChangeArrowheads="1"/>
          </p:cNvSpPr>
          <p:nvPr/>
        </p:nvSpPr>
        <p:spPr bwMode="auto">
          <a:xfrm>
            <a:off x="7417117" y="4894924"/>
            <a:ext cx="2493910" cy="81136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tIns="36000" bIns="360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Para </a:t>
            </a:r>
            <a:r>
              <a:rPr lang="es-ES" sz="2400">
                <a:latin typeface="Arial" panose="020B0604020202020204" pitchFamily="34" charset="0"/>
              </a:rPr>
              <a:t>un C </a:t>
            </a:r>
            <a:r>
              <a:rPr lang="es-ES" sz="2400" dirty="0">
                <a:latin typeface="Arial" panose="020B0604020202020204" pitchFamily="34" charset="0"/>
              </a:rPr>
              <a:t>pasa lo contrario</a:t>
            </a:r>
          </a:p>
        </p:txBody>
      </p:sp>
      <p:sp>
        <p:nvSpPr>
          <p:cNvPr id="4" name="Abrir llave 3"/>
          <p:cNvSpPr/>
          <p:nvPr/>
        </p:nvSpPr>
        <p:spPr bwMode="auto">
          <a:xfrm flipH="1">
            <a:off x="6528093" y="3893790"/>
            <a:ext cx="452340" cy="2945455"/>
          </a:xfrm>
          <a:prstGeom prst="leftBrace">
            <a:avLst>
              <a:gd name="adj1" fmla="val 8333"/>
              <a:gd name="adj2" fmla="val 47902"/>
            </a:avLst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1" name="Text Box 6">
            <a:extLst>
              <a:ext uri="{FF2B5EF4-FFF2-40B4-BE49-F238E27FC236}">
                <a16:creationId xmlns:a16="http://schemas.microsoft.com/office/drawing/2014/main" id="{7BB51B18-ACB2-460E-8F38-74F2BF03A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856" y="2041345"/>
            <a:ext cx="1698257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V 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= V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+ V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R</a:t>
            </a:r>
          </a:p>
        </p:txBody>
      </p:sp>
      <p:sp>
        <p:nvSpPr>
          <p:cNvPr id="92" name="Text Box 7">
            <a:extLst>
              <a:ext uri="{FF2B5EF4-FFF2-40B4-BE49-F238E27FC236}">
                <a16:creationId xmlns:a16="http://schemas.microsoft.com/office/drawing/2014/main" id="{55B40755-E2C4-4139-8519-71DBF59696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6621" y="2039880"/>
            <a:ext cx="2158318" cy="449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=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 </a:t>
            </a:r>
            <a:r>
              <a:rPr lang="es-ES" sz="2400" dirty="0" err="1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dI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/</a:t>
            </a:r>
            <a:r>
              <a:rPr lang="es-ES" sz="2400" dirty="0" err="1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dt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+ RI</a:t>
            </a:r>
            <a:endParaRPr lang="es-ES" sz="2400" baseline="-250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  <p:sp>
        <p:nvSpPr>
          <p:cNvPr id="96" name="Text Box 45">
            <a:extLst>
              <a:ext uri="{FF2B5EF4-FFF2-40B4-BE49-F238E27FC236}">
                <a16:creationId xmlns:a16="http://schemas.microsoft.com/office/drawing/2014/main" id="{D7659E4B-32D2-4B11-9AFF-E3582802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050" y="5741251"/>
            <a:ext cx="2637943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L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=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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  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(bloqueo)</a:t>
            </a:r>
          </a:p>
        </p:txBody>
      </p:sp>
      <p:sp>
        <p:nvSpPr>
          <p:cNvPr id="100" name="Text Box 46">
            <a:extLst>
              <a:ext uri="{FF2B5EF4-FFF2-40B4-BE49-F238E27FC236}">
                <a16:creationId xmlns:a16="http://schemas.microsoft.com/office/drawing/2014/main" id="{83F39BF2-DAB6-41FD-B9EB-6704299A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384" y="6308181"/>
            <a:ext cx="2894025" cy="47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0"/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R</a:t>
            </a:r>
            <a:r>
              <a:rPr lang="es-ES" sz="2400" baseline="-25000" dirty="0">
                <a:solidFill>
                  <a:srgbClr val="3333FF"/>
                </a:solidFill>
                <a:latin typeface="Arial" panose="020B0604020202020204" pitchFamily="34" charset="0"/>
              </a:rPr>
              <a:t>L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 =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    </a:t>
            </a:r>
            <a:r>
              <a:rPr lang="es-ES" sz="2400">
                <a:solidFill>
                  <a:srgbClr val="008000"/>
                </a:solidFill>
                <a:latin typeface="Arial" panose="020B0604020202020204" pitchFamily="34" charset="0"/>
              </a:rPr>
              <a:t>(</a:t>
            </a:r>
            <a:r>
              <a:rPr lang="es-ES" sz="2400" dirty="0">
                <a:solidFill>
                  <a:srgbClr val="008000"/>
                </a:solidFill>
                <a:latin typeface="Arial" panose="020B0604020202020204" pitchFamily="34" charset="0"/>
              </a:rPr>
              <a:t>cable ideal)</a:t>
            </a:r>
          </a:p>
        </p:txBody>
      </p:sp>
      <p:sp>
        <p:nvSpPr>
          <p:cNvPr id="94" name="Rectangle 82">
            <a:extLst>
              <a:ext uri="{FF2B5EF4-FFF2-40B4-BE49-F238E27FC236}">
                <a16:creationId xmlns:a16="http://schemas.microsoft.com/office/drawing/2014/main" id="{9326DB65-6BBF-47A4-B262-063E1E38E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847" y="350955"/>
            <a:ext cx="280993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6.2 CIRCUITO RL</a:t>
            </a:r>
          </a:p>
        </p:txBody>
      </p:sp>
      <p:sp>
        <p:nvSpPr>
          <p:cNvPr id="98" name="Text Box 46">
            <a:extLst>
              <a:ext uri="{FF2B5EF4-FFF2-40B4-BE49-F238E27FC236}">
                <a16:creationId xmlns:a16="http://schemas.microsoft.com/office/drawing/2014/main" id="{7DE5CD7E-6244-45E5-923B-F82B87EB0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3770" y="5656653"/>
            <a:ext cx="3173127" cy="12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Un C en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continua no deja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</a:rPr>
              <a:t>pasar corriente (en su rama no hay)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 Box 3">
            <a:extLst>
              <a:ext uri="{FF2B5EF4-FFF2-40B4-BE49-F238E27FC236}">
                <a16:creationId xmlns:a16="http://schemas.microsoft.com/office/drawing/2014/main" id="{B1BC3EE1-6445-4A3E-9402-65DAE65BB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470" y="307089"/>
            <a:ext cx="2170113" cy="536576"/>
          </a:xfrm>
          <a:prstGeom prst="rec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>
                <a:solidFill>
                  <a:srgbClr val="000000"/>
                </a:solidFill>
                <a:latin typeface="Arial" panose="020B0604020202020204" pitchFamily="34" charset="0"/>
              </a:rPr>
              <a:t>con generador</a:t>
            </a:r>
          </a:p>
        </p:txBody>
      </p:sp>
      <p:sp>
        <p:nvSpPr>
          <p:cNvPr id="7" name="Text Box 46">
            <a:extLst>
              <a:ext uri="{FF2B5EF4-FFF2-40B4-BE49-F238E27FC236}">
                <a16:creationId xmlns:a16="http://schemas.microsoft.com/office/drawing/2014/main" id="{8D1C0CB3-7690-984C-C4E4-693ECB8D0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9952" y="984539"/>
            <a:ext cx="5761533" cy="90588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None/>
            </a:pPr>
            <a:r>
              <a:rPr lang="es-ES" sz="2400" dirty="0">
                <a:latin typeface="Arial" panose="020B0604020202020204" pitchFamily="34" charset="0"/>
              </a:rPr>
              <a:t>L se opone a que circule </a:t>
            </a:r>
            <a:r>
              <a:rPr lang="es-ES" sz="2400" dirty="0">
                <a:latin typeface="Comic Sans MS" panose="030F0702030302020204" pitchFamily="66" charset="0"/>
              </a:rPr>
              <a:t>I, </a:t>
            </a:r>
            <a:r>
              <a:rPr lang="es-ES" sz="2400" dirty="0">
                <a:latin typeface="Arial" panose="020B0604020202020204" pitchFamily="34" charset="0"/>
              </a:rPr>
              <a:t>pero cada vez menos: Es como una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R decreciente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5C43893A-725E-6378-1028-8618D9C2C303}"/>
              </a:ext>
            </a:extLst>
          </p:cNvPr>
          <p:cNvGrpSpPr/>
          <p:nvPr/>
        </p:nvGrpSpPr>
        <p:grpSpPr>
          <a:xfrm>
            <a:off x="5683970" y="2604908"/>
            <a:ext cx="2189606" cy="1047610"/>
            <a:chOff x="6236518" y="2635184"/>
            <a:chExt cx="2189606" cy="104761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8F1510DE-65C1-3E38-7879-F0BFC2C8529B}"/>
                </a:ext>
              </a:extLst>
            </p:cNvPr>
            <p:cNvSpPr/>
            <p:nvPr/>
          </p:nvSpPr>
          <p:spPr bwMode="auto">
            <a:xfrm>
              <a:off x="6236518" y="2667232"/>
              <a:ext cx="2128771" cy="101556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3" name="Text Box 9"/>
            <p:cNvSpPr txBox="1">
              <a:spLocks noChangeArrowheads="1"/>
            </p:cNvSpPr>
            <p:nvPr/>
          </p:nvSpPr>
          <p:spPr bwMode="auto">
            <a:xfrm>
              <a:off x="7576993" y="2635184"/>
              <a:ext cx="849131" cy="536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</a:rPr>
                <a:t>Máx.</a:t>
              </a:r>
              <a:endParaRPr lang="es-ES" sz="24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Text Box 10"/>
            <p:cNvSpPr txBox="1">
              <a:spLocks noChangeArrowheads="1"/>
            </p:cNvSpPr>
            <p:nvPr/>
          </p:nvSpPr>
          <p:spPr bwMode="auto">
            <a:xfrm>
              <a:off x="7242804" y="2635184"/>
              <a:ext cx="386942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</a:p>
          </p:txBody>
        </p:sp>
        <p:sp>
          <p:nvSpPr>
            <p:cNvPr id="55" name="Text Box 11"/>
            <p:cNvSpPr txBox="1">
              <a:spLocks noChangeArrowheads="1"/>
            </p:cNvSpPr>
            <p:nvPr/>
          </p:nvSpPr>
          <p:spPr bwMode="auto">
            <a:xfrm>
              <a:off x="7816278" y="3142394"/>
              <a:ext cx="35328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56" name="Text Box 12"/>
            <p:cNvSpPr txBox="1">
              <a:spLocks noChangeArrowheads="1"/>
            </p:cNvSpPr>
            <p:nvPr/>
          </p:nvSpPr>
          <p:spPr bwMode="auto">
            <a:xfrm>
              <a:off x="7260252" y="3142394"/>
              <a:ext cx="353280" cy="536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9" name="Text Box 19">
              <a:extLst>
                <a:ext uri="{FF2B5EF4-FFF2-40B4-BE49-F238E27FC236}">
                  <a16:creationId xmlns:a16="http://schemas.microsoft.com/office/drawing/2014/main" id="{FDEAA1C2-8CE3-D405-4568-E2E995066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94329" y="2932608"/>
              <a:ext cx="956196" cy="48929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360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>
                  <a:solidFill>
                    <a:srgbClr val="000000"/>
                  </a:solidFill>
                  <a:latin typeface="Arial" panose="020B0604020202020204" pitchFamily="34" charset="0"/>
                </a:rPr>
                <a:t>Inicio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421F005-AF20-21B0-AEDB-7AA73F7F1774}"/>
              </a:ext>
            </a:extLst>
          </p:cNvPr>
          <p:cNvGrpSpPr/>
          <p:nvPr/>
        </p:nvGrpSpPr>
        <p:grpSpPr>
          <a:xfrm>
            <a:off x="8793889" y="2605844"/>
            <a:ext cx="1912082" cy="1050320"/>
            <a:chOff x="8710261" y="2635183"/>
            <a:chExt cx="1912082" cy="1050320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F9EBC5B-822E-DF2C-D7D9-20E8A436973F}"/>
                </a:ext>
              </a:extLst>
            </p:cNvPr>
            <p:cNvSpPr/>
            <p:nvPr/>
          </p:nvSpPr>
          <p:spPr bwMode="auto">
            <a:xfrm>
              <a:off x="8710261" y="2669941"/>
              <a:ext cx="1895621" cy="1015562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Text Box 14"/>
            <p:cNvSpPr txBox="1">
              <a:spLocks noChangeArrowheads="1"/>
            </p:cNvSpPr>
            <p:nvPr/>
          </p:nvSpPr>
          <p:spPr bwMode="auto">
            <a:xfrm>
              <a:off x="9665977" y="3142393"/>
              <a:ext cx="387351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V</a:t>
              </a:r>
            </a:p>
          </p:txBody>
        </p:sp>
        <p:sp>
          <p:nvSpPr>
            <p:cNvPr id="59" name="Text Box 15"/>
            <p:cNvSpPr txBox="1">
              <a:spLocks noChangeArrowheads="1"/>
            </p:cNvSpPr>
            <p:nvPr/>
          </p:nvSpPr>
          <p:spPr bwMode="auto">
            <a:xfrm>
              <a:off x="9927017" y="3142393"/>
              <a:ext cx="695326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V/R</a:t>
              </a:r>
            </a:p>
          </p:txBody>
        </p:sp>
        <p:sp>
          <p:nvSpPr>
            <p:cNvPr id="60" name="Text Box 16"/>
            <p:cNvSpPr txBox="1">
              <a:spLocks noChangeArrowheads="1"/>
            </p:cNvSpPr>
            <p:nvPr/>
          </p:nvSpPr>
          <p:spPr bwMode="auto">
            <a:xfrm>
              <a:off x="10097674" y="2635183"/>
              <a:ext cx="354013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61" name="Text Box 17"/>
            <p:cNvSpPr txBox="1">
              <a:spLocks noChangeArrowheads="1"/>
            </p:cNvSpPr>
            <p:nvPr/>
          </p:nvSpPr>
          <p:spPr bwMode="auto">
            <a:xfrm>
              <a:off x="9672372" y="2635183"/>
              <a:ext cx="354013" cy="53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solidFill>
                    <a:srgbClr val="3333FF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endParaRPr lang="es-ES" sz="28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1935CA81-01D0-7A9A-E1F2-2CAA5BB1B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2179" y="2893349"/>
              <a:ext cx="852096" cy="48929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36000" rIns="90000" bIns="8280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lang="es-ES" sz="2400" dirty="0">
                  <a:solidFill>
                    <a:srgbClr val="000000"/>
                  </a:solidFill>
                  <a:latin typeface="Arial" panose="020B0604020202020204" pitchFamily="34" charset="0"/>
                </a:rPr>
                <a:t>Final</a:t>
              </a:r>
            </a:p>
          </p:txBody>
        </p:sp>
      </p:grpSp>
      <p:sp>
        <p:nvSpPr>
          <p:cNvPr id="19" name="Text Box 46">
            <a:extLst>
              <a:ext uri="{FF2B5EF4-FFF2-40B4-BE49-F238E27FC236}">
                <a16:creationId xmlns:a16="http://schemas.microsoft.com/office/drawing/2014/main" id="{FC3B614D-D4EC-902B-E9B0-564B50AEC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0474" y="3611297"/>
            <a:ext cx="2022266" cy="5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(continua)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B408A22F-A77C-6D6A-8165-0A18A70BC51B}"/>
              </a:ext>
            </a:extLst>
          </p:cNvPr>
          <p:cNvGrpSpPr/>
          <p:nvPr/>
        </p:nvGrpSpPr>
        <p:grpSpPr>
          <a:xfrm>
            <a:off x="4747540" y="2636022"/>
            <a:ext cx="873125" cy="1043785"/>
            <a:chOff x="5174468" y="2635184"/>
            <a:chExt cx="873125" cy="1043785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1E0C9AB1-ADEB-3BD8-FFC7-C824F9C69E4D}"/>
                </a:ext>
              </a:extLst>
            </p:cNvPr>
            <p:cNvSpPr/>
            <p:nvPr/>
          </p:nvSpPr>
          <p:spPr bwMode="auto">
            <a:xfrm>
              <a:off x="5231712" y="2656278"/>
              <a:ext cx="805946" cy="101556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vert="horz" wrap="square" lIns="90000" tIns="82800" rIns="90000" bIns="82800" numCol="1" rtlCol="0" anchor="t" anchorCtr="1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Text Box 21">
              <a:extLst>
                <a:ext uri="{FF2B5EF4-FFF2-40B4-BE49-F238E27FC236}">
                  <a16:creationId xmlns:a16="http://schemas.microsoft.com/office/drawing/2014/main" id="{70EDC6BA-72DB-BA3A-205C-B5C823280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6055" y="2635184"/>
              <a:ext cx="869950" cy="53657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latin typeface="Arial" panose="020B0604020202020204" pitchFamily="34" charset="0"/>
                </a:rPr>
                <a:t>d</a:t>
              </a:r>
              <a:r>
                <a:rPr lang="es-ES" sz="2400" dirty="0" err="1"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latin typeface="Arial" panose="020B0604020202020204" pitchFamily="34" charset="0"/>
                </a:rPr>
                <a:t>/</a:t>
              </a:r>
              <a:r>
                <a:rPr lang="es-ES" sz="2400" dirty="0" err="1">
                  <a:latin typeface="Arial" panose="020B0604020202020204" pitchFamily="34" charset="0"/>
                </a:rPr>
                <a:t>dt</a:t>
              </a:r>
              <a:endParaRPr lang="es-ES" sz="2400" dirty="0">
                <a:latin typeface="Arial" panose="020B0604020202020204" pitchFamily="34" charset="0"/>
              </a:endParaRPr>
            </a:p>
          </p:txBody>
        </p:sp>
        <p:sp>
          <p:nvSpPr>
            <p:cNvPr id="28" name="Text Box 24">
              <a:extLst>
                <a:ext uri="{FF2B5EF4-FFF2-40B4-BE49-F238E27FC236}">
                  <a16:creationId xmlns:a16="http://schemas.microsoft.com/office/drawing/2014/main" id="{C5F8FFEE-CA62-83B8-0E27-AE9F8E05F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468" y="3142394"/>
              <a:ext cx="873125" cy="53657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squar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26" name="Text Box 11">
            <a:extLst>
              <a:ext uri="{FF2B5EF4-FFF2-40B4-BE49-F238E27FC236}">
                <a16:creationId xmlns:a16="http://schemas.microsoft.com/office/drawing/2014/main" id="{87EC697C-6666-7717-453F-C1300F91E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832" y="2604631"/>
            <a:ext cx="1021731" cy="109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bajan</a:t>
            </a:r>
          </a:p>
          <a:p>
            <a:pPr algn="ctr" eaLnBrk="1" hangingPunct="1">
              <a:spcBef>
                <a:spcPts val="1200"/>
              </a:spcBef>
              <a:buFontTx/>
              <a:buNone/>
            </a:pP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suben</a:t>
            </a:r>
          </a:p>
        </p:txBody>
      </p:sp>
    </p:spTree>
    <p:extLst>
      <p:ext uri="{BB962C8B-B14F-4D97-AF65-F5344CB8AC3E}">
        <p14:creationId xmlns:p14="http://schemas.microsoft.com/office/powerpoint/2010/main" val="22147632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8" grpId="0"/>
      <p:bldP spid="74" grpId="0" animBg="1"/>
      <p:bldP spid="80" grpId="0" animBg="1"/>
      <p:bldP spid="90" grpId="0" animBg="1"/>
      <p:bldP spid="4" grpId="0" animBg="1"/>
      <p:bldP spid="91" grpId="0"/>
      <p:bldP spid="92" grpId="0"/>
      <p:bldP spid="96" grpId="0"/>
      <p:bldP spid="100" grpId="0"/>
      <p:bldP spid="98" grpId="0"/>
      <p:bldP spid="99" grpId="0" animBg="1"/>
      <p:bldP spid="7" grpId="0" animBg="1"/>
      <p:bldP spid="19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227654" y="2663758"/>
            <a:ext cx="3140076" cy="2389188"/>
            <a:chOff x="4296" y="1809"/>
            <a:chExt cx="1978" cy="1505"/>
          </a:xfrm>
        </p:grpSpPr>
        <p:sp>
          <p:nvSpPr>
            <p:cNvPr id="29734" name="Rectangle 3"/>
            <p:cNvSpPr>
              <a:spLocks noChangeArrowheads="1"/>
            </p:cNvSpPr>
            <p:nvPr/>
          </p:nvSpPr>
          <p:spPr bwMode="auto">
            <a:xfrm>
              <a:off x="4296" y="1809"/>
              <a:ext cx="1939" cy="1488"/>
            </a:xfrm>
            <a:prstGeom prst="rect">
              <a:avLst/>
            </a:prstGeom>
            <a:solidFill>
              <a:srgbClr val="C0C0C0"/>
            </a:solidFill>
            <a:ln w="12700" algn="ctr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lIns="79200" tIns="39600" rIns="79200" bIns="396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35" name="Line 4"/>
            <p:cNvSpPr>
              <a:spLocks noChangeShapeType="1"/>
            </p:cNvSpPr>
            <p:nvPr/>
          </p:nvSpPr>
          <p:spPr bwMode="auto">
            <a:xfrm>
              <a:off x="4651" y="2012"/>
              <a:ext cx="0" cy="1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36" name="Line 5"/>
            <p:cNvSpPr>
              <a:spLocks noChangeShapeType="1"/>
            </p:cNvSpPr>
            <p:nvPr/>
          </p:nvSpPr>
          <p:spPr bwMode="auto">
            <a:xfrm rot="5400000">
              <a:off x="5241" y="2499"/>
              <a:ext cx="0" cy="11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37" name="Text Box 6"/>
            <p:cNvSpPr txBox="1">
              <a:spLocks noChangeArrowheads="1"/>
            </p:cNvSpPr>
            <p:nvPr/>
          </p:nvSpPr>
          <p:spPr bwMode="auto">
            <a:xfrm>
              <a:off x="5827" y="2963"/>
              <a:ext cx="17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t</a:t>
              </a:r>
            </a:p>
          </p:txBody>
        </p:sp>
        <p:sp>
          <p:nvSpPr>
            <p:cNvPr id="29738" name="Text Box 7"/>
            <p:cNvSpPr txBox="1">
              <a:spLocks noChangeArrowheads="1"/>
            </p:cNvSpPr>
            <p:nvPr/>
          </p:nvSpPr>
          <p:spPr bwMode="auto">
            <a:xfrm>
              <a:off x="4413" y="1849"/>
              <a:ext cx="74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latin typeface="Comic Sans MS" panose="030F0702030302020204" pitchFamily="66" charset="0"/>
                </a:rPr>
                <a:t>V</a:t>
              </a:r>
              <a:r>
                <a:rPr lang="es-ES" sz="2000" baseline="-25000" dirty="0">
                  <a:latin typeface="Comic Sans MS" panose="030F0702030302020204" pitchFamily="66" charset="0"/>
                </a:rPr>
                <a:t>L</a:t>
              </a:r>
              <a:r>
                <a:rPr lang="es-ES" sz="2000" dirty="0">
                  <a:latin typeface="Comic Sans MS" panose="030F0702030302020204" pitchFamily="66" charset="0"/>
                </a:rPr>
                <a:t> </a:t>
              </a:r>
              <a:r>
                <a:rPr lang="es-ES" sz="2000" dirty="0" err="1">
                  <a:latin typeface="Comic Sans MS" panose="030F0702030302020204" pitchFamily="66" charset="0"/>
                </a:rPr>
                <a:t>dI</a:t>
              </a:r>
              <a:r>
                <a:rPr lang="es-ES" sz="2000" dirty="0">
                  <a:latin typeface="Comic Sans MS" panose="030F0702030302020204" pitchFamily="66" charset="0"/>
                </a:rPr>
                <a:t>/</a:t>
              </a:r>
              <a:r>
                <a:rPr lang="es-ES" sz="2000" dirty="0" err="1">
                  <a:latin typeface="Comic Sans MS" panose="030F0702030302020204" pitchFamily="66" charset="0"/>
                </a:rPr>
                <a:t>dt</a:t>
              </a:r>
              <a:endParaRPr lang="es-ES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29739" name="Line 8"/>
            <p:cNvSpPr>
              <a:spLocks noChangeShapeType="1"/>
            </p:cNvSpPr>
            <p:nvPr/>
          </p:nvSpPr>
          <p:spPr bwMode="auto">
            <a:xfrm>
              <a:off x="4617" y="2238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40" name="Freeform 9"/>
            <p:cNvSpPr>
              <a:spLocks/>
            </p:cNvSpPr>
            <p:nvPr/>
          </p:nvSpPr>
          <p:spPr bwMode="auto">
            <a:xfrm>
              <a:off x="4651" y="2226"/>
              <a:ext cx="983" cy="820"/>
            </a:xfrm>
            <a:custGeom>
              <a:avLst/>
              <a:gdLst>
                <a:gd name="T0" fmla="*/ 0 w 6000"/>
                <a:gd name="T1" fmla="*/ 0 h 4560"/>
                <a:gd name="T2" fmla="*/ 0 w 6000"/>
                <a:gd name="T3" fmla="*/ 0 h 4560"/>
                <a:gd name="T4" fmla="*/ 0 w 6000"/>
                <a:gd name="T5" fmla="*/ 0 h 4560"/>
                <a:gd name="T6" fmla="*/ 0 w 6000"/>
                <a:gd name="T7" fmla="*/ 0 h 4560"/>
                <a:gd name="T8" fmla="*/ 0 w 6000"/>
                <a:gd name="T9" fmla="*/ 0 h 4560"/>
                <a:gd name="T10" fmla="*/ 0 w 6000"/>
                <a:gd name="T11" fmla="*/ 0 h 4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000"/>
                <a:gd name="T19" fmla="*/ 0 h 4560"/>
                <a:gd name="T20" fmla="*/ 6000 w 6000"/>
                <a:gd name="T21" fmla="*/ 4560 h 45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000" h="4560">
                  <a:moveTo>
                    <a:pt x="0" y="0"/>
                  </a:moveTo>
                  <a:cubicBezTo>
                    <a:pt x="448" y="1076"/>
                    <a:pt x="896" y="2152"/>
                    <a:pt x="1296" y="2784"/>
                  </a:cubicBezTo>
                  <a:cubicBezTo>
                    <a:pt x="1696" y="3416"/>
                    <a:pt x="2032" y="3552"/>
                    <a:pt x="2400" y="3792"/>
                  </a:cubicBezTo>
                  <a:cubicBezTo>
                    <a:pt x="2768" y="4032"/>
                    <a:pt x="3104" y="4120"/>
                    <a:pt x="3504" y="4224"/>
                  </a:cubicBezTo>
                  <a:cubicBezTo>
                    <a:pt x="3904" y="4328"/>
                    <a:pt x="4384" y="4360"/>
                    <a:pt x="4800" y="4416"/>
                  </a:cubicBezTo>
                  <a:cubicBezTo>
                    <a:pt x="5216" y="4472"/>
                    <a:pt x="5608" y="4516"/>
                    <a:pt x="6000" y="4560"/>
                  </a:cubicBezTo>
                </a:path>
              </a:pathLst>
            </a:custGeom>
            <a:noFill/>
            <a:ln w="38100">
              <a:solidFill>
                <a:srgbClr val="3333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41" name="Line 10"/>
            <p:cNvSpPr>
              <a:spLocks noChangeShapeType="1"/>
            </p:cNvSpPr>
            <p:nvPr/>
          </p:nvSpPr>
          <p:spPr bwMode="auto">
            <a:xfrm>
              <a:off x="4848" y="2012"/>
              <a:ext cx="0" cy="10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42" name="Text Box 11"/>
            <p:cNvSpPr txBox="1">
              <a:spLocks noChangeArrowheads="1"/>
            </p:cNvSpPr>
            <p:nvPr/>
          </p:nvSpPr>
          <p:spPr bwMode="auto">
            <a:xfrm>
              <a:off x="4743" y="3069"/>
              <a:ext cx="24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1</a:t>
              </a:r>
              <a:r>
                <a:rPr lang="es-ES" sz="200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29743" name="Text Box 12"/>
            <p:cNvSpPr txBox="1">
              <a:spLocks noChangeArrowheads="1"/>
            </p:cNvSpPr>
            <p:nvPr/>
          </p:nvSpPr>
          <p:spPr bwMode="auto">
            <a:xfrm>
              <a:off x="4876" y="2569"/>
              <a:ext cx="61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36,8 %</a:t>
              </a:r>
            </a:p>
          </p:txBody>
        </p:sp>
        <p:sp>
          <p:nvSpPr>
            <p:cNvPr id="29744" name="Line 13"/>
            <p:cNvSpPr>
              <a:spLocks noChangeShapeType="1"/>
            </p:cNvSpPr>
            <p:nvPr/>
          </p:nvSpPr>
          <p:spPr bwMode="auto">
            <a:xfrm>
              <a:off x="5634" y="2012"/>
              <a:ext cx="0" cy="10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45" name="Text Box 14"/>
            <p:cNvSpPr txBox="1">
              <a:spLocks noChangeArrowheads="1"/>
            </p:cNvSpPr>
            <p:nvPr/>
          </p:nvSpPr>
          <p:spPr bwMode="auto">
            <a:xfrm>
              <a:off x="5517" y="3060"/>
              <a:ext cx="26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5</a:t>
              </a:r>
              <a:r>
                <a:rPr lang="es-ES" sz="200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29746" name="Text Box 15"/>
            <p:cNvSpPr txBox="1">
              <a:spLocks noChangeArrowheads="1"/>
            </p:cNvSpPr>
            <p:nvPr/>
          </p:nvSpPr>
          <p:spPr bwMode="auto">
            <a:xfrm>
              <a:off x="5655" y="2564"/>
              <a:ext cx="61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0,67 %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299471" y="2657409"/>
            <a:ext cx="3149601" cy="2397126"/>
            <a:chOff x="3642" y="2319"/>
            <a:chExt cx="1984" cy="1510"/>
          </a:xfrm>
        </p:grpSpPr>
        <p:sp>
          <p:nvSpPr>
            <p:cNvPr id="29721" name="Rectangle 17"/>
            <p:cNvSpPr>
              <a:spLocks noChangeArrowheads="1"/>
            </p:cNvSpPr>
            <p:nvPr/>
          </p:nvSpPr>
          <p:spPr bwMode="auto">
            <a:xfrm>
              <a:off x="3642" y="2319"/>
              <a:ext cx="1939" cy="1488"/>
            </a:xfrm>
            <a:prstGeom prst="rect">
              <a:avLst/>
            </a:prstGeom>
            <a:solidFill>
              <a:srgbClr val="C0C0C0"/>
            </a:solidFill>
            <a:ln w="12700" algn="ctr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lIns="79200" tIns="39600" rIns="79200" bIns="3960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22" name="Line 18"/>
            <p:cNvSpPr>
              <a:spLocks noChangeShapeType="1"/>
            </p:cNvSpPr>
            <p:nvPr/>
          </p:nvSpPr>
          <p:spPr bwMode="auto">
            <a:xfrm>
              <a:off x="3997" y="2515"/>
              <a:ext cx="0" cy="10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23" name="Line 19"/>
            <p:cNvSpPr>
              <a:spLocks noChangeShapeType="1"/>
            </p:cNvSpPr>
            <p:nvPr/>
          </p:nvSpPr>
          <p:spPr bwMode="auto">
            <a:xfrm rot="5400000">
              <a:off x="4587" y="3002"/>
              <a:ext cx="0" cy="11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24" name="Text Box 20"/>
            <p:cNvSpPr txBox="1">
              <a:spLocks noChangeArrowheads="1"/>
            </p:cNvSpPr>
            <p:nvPr/>
          </p:nvSpPr>
          <p:spPr bwMode="auto">
            <a:xfrm>
              <a:off x="5173" y="3466"/>
              <a:ext cx="17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t</a:t>
              </a:r>
            </a:p>
          </p:txBody>
        </p:sp>
        <p:sp>
          <p:nvSpPr>
            <p:cNvPr id="29725" name="Text Box 21"/>
            <p:cNvSpPr txBox="1">
              <a:spLocks noChangeArrowheads="1"/>
            </p:cNvSpPr>
            <p:nvPr/>
          </p:nvSpPr>
          <p:spPr bwMode="auto">
            <a:xfrm>
              <a:off x="3739" y="2359"/>
              <a:ext cx="45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latin typeface="Comic Sans MS" panose="030F0702030302020204" pitchFamily="66" charset="0"/>
                </a:rPr>
                <a:t>V</a:t>
              </a:r>
              <a:r>
                <a:rPr lang="es-ES" sz="2000" baseline="-25000" dirty="0">
                  <a:latin typeface="Comic Sans MS" panose="030F0702030302020204" pitchFamily="66" charset="0"/>
                </a:rPr>
                <a:t>R</a:t>
              </a:r>
              <a:r>
                <a:rPr lang="es-ES" sz="2000" dirty="0">
                  <a:latin typeface="Comic Sans MS" panose="030F0702030302020204" pitchFamily="66" charset="0"/>
                </a:rPr>
                <a:t>  I</a:t>
              </a:r>
            </a:p>
          </p:txBody>
        </p:sp>
        <p:sp>
          <p:nvSpPr>
            <p:cNvPr id="29726" name="Line 22"/>
            <p:cNvSpPr>
              <a:spLocks noChangeShapeType="1"/>
            </p:cNvSpPr>
            <p:nvPr/>
          </p:nvSpPr>
          <p:spPr bwMode="auto">
            <a:xfrm>
              <a:off x="3956" y="2756"/>
              <a:ext cx="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27" name="Freeform 23"/>
            <p:cNvSpPr>
              <a:spLocks/>
            </p:cNvSpPr>
            <p:nvPr/>
          </p:nvSpPr>
          <p:spPr bwMode="auto">
            <a:xfrm flipV="1">
              <a:off x="3997" y="2774"/>
              <a:ext cx="983" cy="820"/>
            </a:xfrm>
            <a:custGeom>
              <a:avLst/>
              <a:gdLst>
                <a:gd name="T0" fmla="*/ 0 w 6000"/>
                <a:gd name="T1" fmla="*/ 0 h 4560"/>
                <a:gd name="T2" fmla="*/ 0 w 6000"/>
                <a:gd name="T3" fmla="*/ 0 h 4560"/>
                <a:gd name="T4" fmla="*/ 0 w 6000"/>
                <a:gd name="T5" fmla="*/ 0 h 4560"/>
                <a:gd name="T6" fmla="*/ 0 w 6000"/>
                <a:gd name="T7" fmla="*/ 0 h 4560"/>
                <a:gd name="T8" fmla="*/ 0 w 6000"/>
                <a:gd name="T9" fmla="*/ 0 h 4560"/>
                <a:gd name="T10" fmla="*/ 0 w 6000"/>
                <a:gd name="T11" fmla="*/ 0 h 4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000"/>
                <a:gd name="T19" fmla="*/ 0 h 4560"/>
                <a:gd name="T20" fmla="*/ 6000 w 6000"/>
                <a:gd name="T21" fmla="*/ 4560 h 45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000" h="4560">
                  <a:moveTo>
                    <a:pt x="0" y="0"/>
                  </a:moveTo>
                  <a:cubicBezTo>
                    <a:pt x="448" y="1076"/>
                    <a:pt x="896" y="2152"/>
                    <a:pt x="1296" y="2784"/>
                  </a:cubicBezTo>
                  <a:cubicBezTo>
                    <a:pt x="1696" y="3416"/>
                    <a:pt x="2032" y="3552"/>
                    <a:pt x="2400" y="3792"/>
                  </a:cubicBezTo>
                  <a:cubicBezTo>
                    <a:pt x="2768" y="4032"/>
                    <a:pt x="3104" y="4120"/>
                    <a:pt x="3504" y="4224"/>
                  </a:cubicBezTo>
                  <a:cubicBezTo>
                    <a:pt x="3904" y="4328"/>
                    <a:pt x="4384" y="4360"/>
                    <a:pt x="4800" y="4416"/>
                  </a:cubicBezTo>
                  <a:cubicBezTo>
                    <a:pt x="5216" y="4472"/>
                    <a:pt x="5608" y="4516"/>
                    <a:pt x="6000" y="4560"/>
                  </a:cubicBezTo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28" name="Line 24"/>
            <p:cNvSpPr>
              <a:spLocks noChangeShapeType="1"/>
            </p:cNvSpPr>
            <p:nvPr/>
          </p:nvSpPr>
          <p:spPr bwMode="auto">
            <a:xfrm>
              <a:off x="4194" y="2515"/>
              <a:ext cx="0" cy="10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29" name="Text Box 25"/>
            <p:cNvSpPr txBox="1">
              <a:spLocks noChangeArrowheads="1"/>
            </p:cNvSpPr>
            <p:nvPr/>
          </p:nvSpPr>
          <p:spPr bwMode="auto">
            <a:xfrm>
              <a:off x="4089" y="3584"/>
              <a:ext cx="241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1</a:t>
              </a:r>
              <a:r>
                <a:rPr lang="es-ES" sz="200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29730" name="Text Box 26"/>
            <p:cNvSpPr txBox="1">
              <a:spLocks noChangeArrowheads="1"/>
            </p:cNvSpPr>
            <p:nvPr/>
          </p:nvSpPr>
          <p:spPr bwMode="auto">
            <a:xfrm>
              <a:off x="4228" y="3055"/>
              <a:ext cx="61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63,2 %</a:t>
              </a:r>
            </a:p>
          </p:txBody>
        </p:sp>
        <p:sp>
          <p:nvSpPr>
            <p:cNvPr id="29731" name="Line 27"/>
            <p:cNvSpPr>
              <a:spLocks noChangeShapeType="1"/>
            </p:cNvSpPr>
            <p:nvPr/>
          </p:nvSpPr>
          <p:spPr bwMode="auto">
            <a:xfrm>
              <a:off x="4980" y="2515"/>
              <a:ext cx="0" cy="10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29732" name="Text Box 28"/>
            <p:cNvSpPr txBox="1">
              <a:spLocks noChangeArrowheads="1"/>
            </p:cNvSpPr>
            <p:nvPr/>
          </p:nvSpPr>
          <p:spPr bwMode="auto">
            <a:xfrm>
              <a:off x="4863" y="3575"/>
              <a:ext cx="267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>
                  <a:latin typeface="Comic Sans MS" panose="030F0702030302020204" pitchFamily="66" charset="0"/>
                </a:rPr>
                <a:t>5</a:t>
              </a:r>
              <a:r>
                <a:rPr lang="es-ES" sz="200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</a:p>
          </p:txBody>
        </p:sp>
        <p:sp>
          <p:nvSpPr>
            <p:cNvPr id="29733" name="Text Box 29"/>
            <p:cNvSpPr txBox="1">
              <a:spLocks noChangeArrowheads="1"/>
            </p:cNvSpPr>
            <p:nvPr/>
          </p:nvSpPr>
          <p:spPr bwMode="auto">
            <a:xfrm>
              <a:off x="5007" y="3049"/>
              <a:ext cx="61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000" dirty="0">
                  <a:latin typeface="Comic Sans MS" panose="030F0702030302020204" pitchFamily="66" charset="0"/>
                </a:rPr>
                <a:t>99,3 %</a:t>
              </a:r>
            </a:p>
          </p:txBody>
        </p:sp>
      </p:grpSp>
      <p:sp>
        <p:nvSpPr>
          <p:cNvPr id="28676" name="Text Box 30"/>
          <p:cNvSpPr txBox="1">
            <a:spLocks noChangeArrowheads="1"/>
          </p:cNvSpPr>
          <p:nvPr/>
        </p:nvSpPr>
        <p:spPr bwMode="auto">
          <a:xfrm>
            <a:off x="1453459" y="370359"/>
            <a:ext cx="1984944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¿Transitorio?</a:t>
            </a:r>
          </a:p>
        </p:txBody>
      </p:sp>
      <p:sp>
        <p:nvSpPr>
          <p:cNvPr id="811039" name="Text Box 31"/>
          <p:cNvSpPr txBox="1">
            <a:spLocks noChangeArrowheads="1"/>
          </p:cNvSpPr>
          <p:nvPr/>
        </p:nvSpPr>
        <p:spPr bwMode="auto">
          <a:xfrm>
            <a:off x="5209428" y="2186487"/>
            <a:ext cx="1254037" cy="565146"/>
          </a:xfrm>
          <a:prstGeom prst="rect">
            <a:avLst/>
          </a:prstGeom>
          <a:solidFill>
            <a:srgbClr val="99CCFF"/>
          </a:solidFill>
          <a:ln w="12700">
            <a:solidFill>
              <a:srgbClr val="99CCFF"/>
            </a:solidFill>
            <a:miter lim="800000"/>
            <a:headEnd/>
            <a:tailEnd/>
          </a:ln>
        </p:spPr>
        <p:txBody>
          <a:bodyPr wrap="square" lIns="108000" tIns="0" rIns="108000" bIns="72000" anchor="t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3200" dirty="0">
                <a:latin typeface="Comic Sans MS" panose="030F0702030302020204" pitchFamily="66" charset="0"/>
                <a:sym typeface="Symbol" panose="05050102010706020507" pitchFamily="18" charset="2"/>
              </a:rPr>
              <a:t>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= L/R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1419817" y="1109663"/>
            <a:ext cx="2540000" cy="1092200"/>
            <a:chOff x="1146" y="991"/>
            <a:chExt cx="1600" cy="688"/>
          </a:xfrm>
          <a:solidFill>
            <a:srgbClr val="FF99CC"/>
          </a:solidFill>
        </p:grpSpPr>
        <p:sp>
          <p:nvSpPr>
            <p:cNvPr id="29719" name="Text Box 33"/>
            <p:cNvSpPr txBox="1">
              <a:spLocks noChangeArrowheads="1"/>
            </p:cNvSpPr>
            <p:nvPr/>
          </p:nvSpPr>
          <p:spPr bwMode="auto">
            <a:xfrm>
              <a:off x="1280" y="1399"/>
              <a:ext cx="1400" cy="2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I = I</a:t>
              </a:r>
              <a:r>
                <a:rPr lang="es-ES" sz="2400" baseline="-25000">
                  <a:latin typeface="Comic Sans MS" panose="030F0702030302020204" pitchFamily="66" charset="0"/>
                </a:rPr>
                <a:t>f</a:t>
              </a:r>
              <a:r>
                <a:rPr lang="es-ES" sz="2400">
                  <a:latin typeface="Comic Sans MS" panose="030F0702030302020204" pitchFamily="66" charset="0"/>
                </a:rPr>
                <a:t> (1 - e</a:t>
              </a:r>
              <a:r>
                <a:rPr lang="es-ES" sz="2400" baseline="30000">
                  <a:latin typeface="Comic Sans MS" panose="030F0702030302020204" pitchFamily="66" charset="0"/>
                </a:rPr>
                <a:t>-t/</a:t>
              </a:r>
              <a:r>
                <a:rPr lang="es-ES" sz="2400" baseline="3000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  <a:r>
                <a:rPr lang="es-ES" sz="2400">
                  <a:latin typeface="Comic Sans MS" panose="030F0702030302020204" pitchFamily="66" charset="0"/>
                  <a:sym typeface="Symbol" panose="05050102010706020507" pitchFamily="18" charset="2"/>
                </a:rPr>
                <a:t>)</a:t>
              </a:r>
              <a:endParaRPr lang="es-ES" sz="2400">
                <a:latin typeface="Comic Sans MS" panose="030F0702030302020204" pitchFamily="66" charset="0"/>
              </a:endParaRPr>
            </a:p>
          </p:txBody>
        </p:sp>
        <p:sp>
          <p:nvSpPr>
            <p:cNvPr id="29720" name="Text Box 34"/>
            <p:cNvSpPr txBox="1">
              <a:spLocks noChangeArrowheads="1"/>
            </p:cNvSpPr>
            <p:nvPr/>
          </p:nvSpPr>
          <p:spPr bwMode="auto">
            <a:xfrm>
              <a:off x="1146" y="991"/>
              <a:ext cx="1600" cy="2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>
                  <a:latin typeface="Comic Sans MS" panose="030F0702030302020204" pitchFamily="66" charset="0"/>
                </a:rPr>
                <a:t>V</a:t>
              </a:r>
              <a:r>
                <a:rPr lang="es-ES" sz="2400" baseline="-25000">
                  <a:latin typeface="Comic Sans MS" panose="030F0702030302020204" pitchFamily="66" charset="0"/>
                </a:rPr>
                <a:t>R</a:t>
              </a:r>
              <a:r>
                <a:rPr lang="es-ES" sz="2400">
                  <a:latin typeface="Comic Sans MS" panose="030F0702030302020204" pitchFamily="66" charset="0"/>
                </a:rPr>
                <a:t> = V</a:t>
              </a:r>
              <a:r>
                <a:rPr lang="es-ES" sz="2400" baseline="-25000">
                  <a:latin typeface="Comic Sans MS" panose="030F0702030302020204" pitchFamily="66" charset="0"/>
                </a:rPr>
                <a:t>Rf</a:t>
              </a:r>
              <a:r>
                <a:rPr lang="es-ES" sz="2400">
                  <a:latin typeface="Comic Sans MS" panose="030F0702030302020204" pitchFamily="66" charset="0"/>
                </a:rPr>
                <a:t> (1 - e</a:t>
              </a:r>
              <a:r>
                <a:rPr lang="es-ES" sz="2400" baseline="30000">
                  <a:latin typeface="Comic Sans MS" panose="030F0702030302020204" pitchFamily="66" charset="0"/>
                </a:rPr>
                <a:t>-t/</a:t>
              </a:r>
              <a:r>
                <a:rPr lang="es-ES" sz="2400" baseline="3000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  <a:r>
                <a:rPr lang="es-ES" sz="2400">
                  <a:latin typeface="Comic Sans MS" panose="030F0702030302020204" pitchFamily="66" charset="0"/>
                  <a:sym typeface="Symbol" panose="05050102010706020507" pitchFamily="18" charset="2"/>
                </a:rPr>
                <a:t>)</a:t>
              </a:r>
              <a:endParaRPr lang="es-ES" sz="2400">
                <a:latin typeface="Comic Sans MS" panose="030F0702030302020204" pitchFamily="66" charset="0"/>
              </a:endParaRPr>
            </a:p>
          </p:txBody>
        </p:sp>
      </p:grpSp>
      <p:sp>
        <p:nvSpPr>
          <p:cNvPr id="811044" name="Text Box 36"/>
          <p:cNvSpPr txBox="1">
            <a:spLocks noChangeArrowheads="1"/>
          </p:cNvSpPr>
          <p:nvPr/>
        </p:nvSpPr>
        <p:spPr bwMode="auto">
          <a:xfrm>
            <a:off x="4261904" y="1219453"/>
            <a:ext cx="3023882" cy="90588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txBody>
          <a:bodyPr wrap="non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Constante de tiempo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del Circuito RL</a:t>
            </a:r>
          </a:p>
        </p:txBody>
      </p:sp>
      <p:sp>
        <p:nvSpPr>
          <p:cNvPr id="811045" name="Text Box 37"/>
          <p:cNvSpPr txBox="1">
            <a:spLocks noChangeArrowheads="1"/>
          </p:cNvSpPr>
          <p:nvPr/>
        </p:nvSpPr>
        <p:spPr bwMode="auto">
          <a:xfrm>
            <a:off x="1053468" y="5531121"/>
            <a:ext cx="8165273" cy="9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0"/>
              </a:spcBef>
              <a:buNone/>
            </a:pPr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Hace falta un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 = 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para alcanzar un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régimen continuo.</a:t>
            </a:r>
            <a:endParaRPr lang="es-ES" sz="2400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  A nivel práctico, en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 = </a:t>
            </a:r>
            <a:r>
              <a:rPr lang="es-ES" sz="24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r>
              <a:rPr lang="es-ES" sz="2800">
                <a:solidFill>
                  <a:srgbClr val="3333FF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</a:t>
            </a:r>
            <a:r>
              <a:rPr lang="es-ES" sz="2800"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</a:t>
            </a:r>
            <a:r>
              <a:rPr lang="es-ES" sz="2400">
                <a:latin typeface="Arial" panose="020B0604020202020204" pitchFamily="34" charset="0"/>
                <a:sym typeface="Symbol" panose="05050102010706020507" pitchFamily="18" charset="2"/>
              </a:rPr>
              <a:t>considera que </a:t>
            </a:r>
            <a:r>
              <a:rPr lang="es-ES" sz="2400" dirty="0">
                <a:latin typeface="Arial" panose="020B0604020202020204" pitchFamily="34" charset="0"/>
                <a:sym typeface="Symbol" panose="05050102010706020507" pitchFamily="18" charset="2"/>
              </a:rPr>
              <a:t>se tiene</a:t>
            </a:r>
            <a:endParaRPr lang="es-ES" sz="2800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7499329" y="1122363"/>
            <a:ext cx="2873375" cy="1049337"/>
            <a:chOff x="4383" y="999"/>
            <a:chExt cx="1810" cy="661"/>
          </a:xfrm>
          <a:solidFill>
            <a:srgbClr val="FF99CC"/>
          </a:solidFill>
        </p:grpSpPr>
        <p:sp>
          <p:nvSpPr>
            <p:cNvPr id="29717" name="Text Box 44"/>
            <p:cNvSpPr txBox="1">
              <a:spLocks noChangeArrowheads="1"/>
            </p:cNvSpPr>
            <p:nvPr/>
          </p:nvSpPr>
          <p:spPr bwMode="auto">
            <a:xfrm>
              <a:off x="4716" y="999"/>
              <a:ext cx="1164" cy="2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>
                  <a:latin typeface="Comic Sans MS" panose="030F0702030302020204" pitchFamily="66" charset="0"/>
                </a:rPr>
                <a:t>V</a:t>
              </a:r>
              <a:r>
                <a:rPr lang="es-ES" sz="2400" baseline="-25000" dirty="0">
                  <a:latin typeface="Comic Sans MS" panose="030F0702030302020204" pitchFamily="66" charset="0"/>
                </a:rPr>
                <a:t>L</a:t>
              </a:r>
              <a:r>
                <a:rPr lang="es-ES" sz="2400" dirty="0">
                  <a:latin typeface="Comic Sans MS" panose="030F0702030302020204" pitchFamily="66" charset="0"/>
                </a:rPr>
                <a:t> = </a:t>
              </a:r>
              <a:r>
                <a:rPr lang="es-ES" sz="2400" dirty="0" err="1">
                  <a:latin typeface="Comic Sans MS" panose="030F0702030302020204" pitchFamily="66" charset="0"/>
                </a:rPr>
                <a:t>V</a:t>
              </a:r>
              <a:r>
                <a:rPr lang="es-ES" sz="2400" baseline="-25000" dirty="0" err="1">
                  <a:latin typeface="Comic Sans MS" panose="030F0702030302020204" pitchFamily="66" charset="0"/>
                </a:rPr>
                <a:t>Lo</a:t>
              </a:r>
              <a:r>
                <a:rPr lang="es-ES" sz="2400" dirty="0">
                  <a:latin typeface="Comic Sans MS" panose="030F0702030302020204" pitchFamily="66" charset="0"/>
                </a:rPr>
                <a:t> e</a:t>
              </a:r>
              <a:r>
                <a:rPr lang="es-ES" sz="2400" baseline="30000" dirty="0">
                  <a:latin typeface="Comic Sans MS" panose="030F0702030302020204" pitchFamily="66" charset="0"/>
                </a:rPr>
                <a:t>-t/</a:t>
              </a:r>
              <a:r>
                <a:rPr lang="es-ES" sz="2400" baseline="30000" dirty="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  <a:endParaRPr lang="es-ES" sz="2400" baseline="30000" dirty="0">
                <a:latin typeface="Comic Sans MS" panose="030F0702030302020204" pitchFamily="66" charset="0"/>
              </a:endParaRPr>
            </a:p>
          </p:txBody>
        </p:sp>
        <p:sp>
          <p:nvSpPr>
            <p:cNvPr id="29718" name="Text Box 45"/>
            <p:cNvSpPr txBox="1">
              <a:spLocks noChangeArrowheads="1"/>
            </p:cNvSpPr>
            <p:nvPr/>
          </p:nvSpPr>
          <p:spPr bwMode="auto">
            <a:xfrm>
              <a:off x="4383" y="1380"/>
              <a:ext cx="1810" cy="2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dirty="0" err="1">
                  <a:latin typeface="Comic Sans MS" panose="030F0702030302020204" pitchFamily="66" charset="0"/>
                </a:rPr>
                <a:t>dI</a:t>
              </a:r>
              <a:r>
                <a:rPr lang="es-ES" sz="2400" dirty="0">
                  <a:latin typeface="Comic Sans MS" panose="030F0702030302020204" pitchFamily="66" charset="0"/>
                </a:rPr>
                <a:t>/</a:t>
              </a:r>
              <a:r>
                <a:rPr lang="es-ES" sz="2400" dirty="0" err="1">
                  <a:latin typeface="Comic Sans MS" panose="030F0702030302020204" pitchFamily="66" charset="0"/>
                </a:rPr>
                <a:t>dt</a:t>
              </a:r>
              <a:r>
                <a:rPr lang="es-ES" sz="2400" dirty="0">
                  <a:latin typeface="Comic Sans MS" panose="030F0702030302020204" pitchFamily="66" charset="0"/>
                </a:rPr>
                <a:t> = </a:t>
              </a:r>
              <a:r>
                <a:rPr lang="es-ES" sz="2400" dirty="0" err="1">
                  <a:latin typeface="Comic Sans MS" panose="030F0702030302020204" pitchFamily="66" charset="0"/>
                </a:rPr>
                <a:t>dI</a:t>
              </a:r>
              <a:r>
                <a:rPr lang="es-ES" sz="2400" dirty="0">
                  <a:latin typeface="Comic Sans MS" panose="030F0702030302020204" pitchFamily="66" charset="0"/>
                </a:rPr>
                <a:t>/</a:t>
              </a:r>
              <a:r>
                <a:rPr lang="es-ES" sz="2400" dirty="0" err="1">
                  <a:latin typeface="Comic Sans MS" panose="030F0702030302020204" pitchFamily="66" charset="0"/>
                </a:rPr>
                <a:t>dt</a:t>
              </a:r>
              <a:r>
                <a:rPr lang="es-ES" sz="2400" baseline="-25000" dirty="0" err="1">
                  <a:latin typeface="Comic Sans MS" panose="030F0702030302020204" pitchFamily="66" charset="0"/>
                </a:rPr>
                <a:t>o</a:t>
              </a:r>
              <a:r>
                <a:rPr lang="es-ES" sz="2400" dirty="0">
                  <a:latin typeface="Comic Sans MS" panose="030F0702030302020204" pitchFamily="66" charset="0"/>
                </a:rPr>
                <a:t> e</a:t>
              </a:r>
              <a:r>
                <a:rPr lang="es-ES" sz="2400" baseline="30000" dirty="0">
                  <a:latin typeface="Comic Sans MS" panose="030F0702030302020204" pitchFamily="66" charset="0"/>
                </a:rPr>
                <a:t>-t/</a:t>
              </a:r>
              <a:r>
                <a:rPr lang="es-ES" sz="2400" baseline="30000" dirty="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  <a:endParaRPr lang="es-ES" sz="2400" baseline="300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9713" name="Text Box 31"/>
          <p:cNvSpPr txBox="1">
            <a:spLocks noChangeArrowheads="1"/>
          </p:cNvSpPr>
          <p:nvPr/>
        </p:nvSpPr>
        <p:spPr bwMode="auto">
          <a:xfrm>
            <a:off x="5209428" y="3386607"/>
            <a:ext cx="1254037" cy="528794"/>
          </a:xfrm>
          <a:prstGeom prst="rect">
            <a:avLst/>
          </a:prstGeom>
          <a:solidFill>
            <a:srgbClr val="99CCFF"/>
          </a:solidFill>
          <a:ln w="12700">
            <a:solidFill>
              <a:srgbClr val="99CCFF"/>
            </a:solidFill>
            <a:miter lim="800000"/>
            <a:headEnd/>
            <a:tailEnd/>
          </a:ln>
        </p:spPr>
        <p:txBody>
          <a:bodyPr wrap="square" lIns="108000" tIns="0" rIns="108000" bIns="36000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3200" dirty="0">
                <a:latin typeface="Comic Sans MS" panose="030F0702030302020204" pitchFamily="66" charset="0"/>
                <a:sym typeface="Symbol" panose="05050102010706020507" pitchFamily="18" charset="2"/>
              </a:rPr>
              <a:t>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 = RC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904CB26-2E74-4052-A16D-2215436ECE7E}"/>
              </a:ext>
            </a:extLst>
          </p:cNvPr>
          <p:cNvGrpSpPr/>
          <p:nvPr/>
        </p:nvGrpSpPr>
        <p:grpSpPr>
          <a:xfrm>
            <a:off x="4761931" y="2836046"/>
            <a:ext cx="2023829" cy="2183565"/>
            <a:chOff x="4761931" y="2836046"/>
            <a:chExt cx="2023829" cy="2183565"/>
          </a:xfrm>
        </p:grpSpPr>
        <p:sp>
          <p:nvSpPr>
            <p:cNvPr id="29712" name="50 Rectángulo"/>
            <p:cNvSpPr>
              <a:spLocks noChangeArrowheads="1"/>
            </p:cNvSpPr>
            <p:nvPr/>
          </p:nvSpPr>
          <p:spPr bwMode="auto">
            <a:xfrm>
              <a:off x="4761931" y="3047246"/>
              <a:ext cx="2023829" cy="1972365"/>
            </a:xfrm>
            <a:prstGeom prst="rect">
              <a:avLst/>
            </a:prstGeom>
            <a:noFill/>
            <a:ln w="25400" algn="ctr">
              <a:solidFill>
                <a:srgbClr val="0099FF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82800" rIns="90000" bIns="82800" anchorCtr="1">
              <a:no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14" name="47 CuadroTexto"/>
            <p:cNvSpPr txBox="1">
              <a:spLocks noChangeArrowheads="1"/>
            </p:cNvSpPr>
            <p:nvPr/>
          </p:nvSpPr>
          <p:spPr bwMode="auto">
            <a:xfrm>
              <a:off x="4901723" y="2836046"/>
              <a:ext cx="1760419" cy="461665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s-ES" sz="2400">
                  <a:solidFill>
                    <a:schemeClr val="tx1"/>
                  </a:solidFill>
                </a:rPr>
                <a:t>Circuito RC</a:t>
              </a:r>
            </a:p>
          </p:txBody>
        </p:sp>
      </p:grpSp>
      <p:sp>
        <p:nvSpPr>
          <p:cNvPr id="29715" name="48 CuadroTexto"/>
          <p:cNvSpPr txBox="1">
            <a:spLocks noChangeArrowheads="1"/>
          </p:cNvSpPr>
          <p:nvPr/>
        </p:nvSpPr>
        <p:spPr bwMode="auto">
          <a:xfrm>
            <a:off x="4911085" y="4103957"/>
            <a:ext cx="13340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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Q,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716" name="49 CuadroTexto"/>
          <p:cNvSpPr txBox="1">
            <a:spLocks noChangeArrowheads="1"/>
          </p:cNvSpPr>
          <p:nvPr/>
        </p:nvSpPr>
        <p:spPr bwMode="auto">
          <a:xfrm>
            <a:off x="5366511" y="4537850"/>
            <a:ext cx="1263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Comic Sans MS" panose="030F0702030302020204" pitchFamily="66" charset="0"/>
              </a:rPr>
              <a:t>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, V</a:t>
            </a:r>
            <a:r>
              <a:rPr lang="es-ES" sz="2400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CuadroTexto 6"/>
          <p:cNvSpPr txBox="1">
            <a:spLocks noChangeArrowheads="1"/>
          </p:cNvSpPr>
          <p:nvPr/>
        </p:nvSpPr>
        <p:spPr bwMode="auto">
          <a:xfrm>
            <a:off x="2988735" y="428779"/>
            <a:ext cx="5245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>
                <a:solidFill>
                  <a:schemeClr val="tx1"/>
                </a:solidFill>
              </a:rPr>
              <a:t>Resolviendo la </a:t>
            </a:r>
            <a:r>
              <a:rPr lang="es-ES" sz="2400" dirty="0" err="1">
                <a:solidFill>
                  <a:schemeClr val="tx1"/>
                </a:solidFill>
              </a:rPr>
              <a:t>ec</a:t>
            </a:r>
            <a:r>
              <a:rPr lang="es-ES" sz="2400" dirty="0">
                <a:solidFill>
                  <a:schemeClr val="tx1"/>
                </a:solidFill>
              </a:rPr>
              <a:t>. diferencial:</a:t>
            </a:r>
          </a:p>
        </p:txBody>
      </p:sp>
      <p:sp>
        <p:nvSpPr>
          <p:cNvPr id="8" name="CuadroTexto 7"/>
          <p:cNvSpPr txBox="1">
            <a:spLocks noChangeArrowheads="1"/>
          </p:cNvSpPr>
          <p:nvPr/>
        </p:nvSpPr>
        <p:spPr bwMode="auto">
          <a:xfrm>
            <a:off x="1244745" y="5105622"/>
            <a:ext cx="6875280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ym typeface="Symbol" panose="05050102010706020507" pitchFamily="18" charset="2"/>
              </a:rPr>
              <a:t> </a:t>
            </a:r>
            <a:r>
              <a:rPr lang="es-ES" sz="2400" dirty="0"/>
              <a:t>A menor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 </a:t>
            </a:r>
            <a:r>
              <a:rPr lang="es-ES" sz="2400" dirty="0">
                <a:solidFill>
                  <a:srgbClr val="3333FF"/>
                </a:solidFill>
              </a:rPr>
              <a:t>(tau)</a:t>
            </a:r>
            <a:r>
              <a:rPr lang="es-ES" sz="2400" dirty="0"/>
              <a:t>, más rápido ocurren las cosas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FA48F7-47C4-9304-60C2-8DB44378B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354" y="6434024"/>
            <a:ext cx="9220794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>
                <a:sym typeface="Symbol" panose="05050102010706020507" pitchFamily="18" charset="2"/>
              </a:rPr>
              <a:t> </a:t>
            </a:r>
            <a:r>
              <a:rPr lang="es-ES" sz="2400"/>
              <a:t>Si </a:t>
            </a:r>
            <a:r>
              <a:rPr lang="es-ES" sz="2400">
                <a:solidFill>
                  <a:srgbClr val="3333FF"/>
                </a:solidFill>
              </a:rPr>
              <a:t>Q</a:t>
            </a:r>
            <a:r>
              <a:rPr lang="es-ES" sz="2400"/>
              <a:t> o </a:t>
            </a:r>
            <a:r>
              <a:rPr lang="es-ES" sz="2400">
                <a:solidFill>
                  <a:srgbClr val="3333FF"/>
                </a:solidFill>
                <a:latin typeface="Comic Sans MS" panose="030F0702030302020204" pitchFamily="66" charset="0"/>
              </a:rPr>
              <a:t>I</a:t>
            </a:r>
            <a:r>
              <a:rPr lang="es-ES" sz="2400">
                <a:solidFill>
                  <a:srgbClr val="3333FF"/>
                </a:solidFill>
              </a:rPr>
              <a:t> </a:t>
            </a:r>
            <a:r>
              <a:rPr lang="es-ES" sz="2400"/>
              <a:t>son </a:t>
            </a:r>
            <a:r>
              <a:rPr lang="es-ES" sz="2400">
                <a:solidFill>
                  <a:srgbClr val="3333FF"/>
                </a:solidFill>
                <a:sym typeface="Symbol" panose="05050102010706020507" pitchFamily="18" charset="2"/>
              </a:rPr>
              <a:t> 0</a:t>
            </a:r>
            <a:r>
              <a:rPr lang="es-ES" sz="2400">
                <a:solidFill>
                  <a:srgbClr val="3333FF"/>
                </a:solidFill>
              </a:rPr>
              <a:t> al inicio</a:t>
            </a:r>
            <a:r>
              <a:rPr lang="es-ES" sz="2400"/>
              <a:t>, la evolución es similar y se acaba igual</a:t>
            </a:r>
            <a:endParaRPr lang="es-E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1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1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1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7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811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81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811039" grpId="0" animBg="1"/>
      <p:bldP spid="811044" grpId="0" animBg="1"/>
      <p:bldP spid="811045" grpId="0"/>
      <p:bldP spid="29713" grpId="0" animBg="1"/>
      <p:bldP spid="29715" grpId="0"/>
      <p:bldP spid="29716" grpId="0"/>
      <p:bldP spid="7" grpId="0"/>
      <p:bldP spid="8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40"/>
          <p:cNvSpPr txBox="1">
            <a:spLocks noChangeArrowheads="1"/>
          </p:cNvSpPr>
          <p:nvPr/>
        </p:nvSpPr>
        <p:spPr bwMode="auto">
          <a:xfrm>
            <a:off x="4676331" y="3793262"/>
            <a:ext cx="2139325" cy="53654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</a:rPr>
              <a:t>¿Transitorio?</a:t>
            </a:r>
          </a:p>
        </p:txBody>
      </p:sp>
      <p:sp>
        <p:nvSpPr>
          <p:cNvPr id="80" name="Text Box 99"/>
          <p:cNvSpPr txBox="1">
            <a:spLocks noChangeArrowheads="1"/>
          </p:cNvSpPr>
          <p:nvPr/>
        </p:nvSpPr>
        <p:spPr bwMode="auto">
          <a:xfrm>
            <a:off x="4670543" y="5916734"/>
            <a:ext cx="5228529" cy="9058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90000" tIns="82800" rIns="90000" bIns="82800" anchorCtr="1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s-ES" sz="2400" dirty="0"/>
              <a:t>La energía aportada por L a costa del campo (de </a:t>
            </a:r>
            <a:r>
              <a:rPr lang="es-ES" sz="2400" b="1" dirty="0"/>
              <a:t>B</a:t>
            </a:r>
            <a:r>
              <a:rPr lang="es-ES" sz="2400" dirty="0"/>
              <a:t>) es la disipada en R</a:t>
            </a:r>
            <a:endParaRPr lang="es-ES" sz="2400" dirty="0">
              <a:latin typeface="Comic Sans MS" panose="030F0702030302020204" pitchFamily="66" charset="0"/>
            </a:endParaRPr>
          </a:p>
        </p:txBody>
      </p:sp>
      <p:sp>
        <p:nvSpPr>
          <p:cNvPr id="90" name="88 CuadroTexto"/>
          <p:cNvSpPr txBox="1">
            <a:spLocks noChangeArrowheads="1"/>
          </p:cNvSpPr>
          <p:nvPr/>
        </p:nvSpPr>
        <p:spPr bwMode="auto">
          <a:xfrm>
            <a:off x="1465348" y="4694391"/>
            <a:ext cx="2493910" cy="90588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wrap="square" tIns="828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Para un C pasa </a:t>
            </a:r>
            <a:r>
              <a:rPr lang="es-ES" sz="2400" dirty="0">
                <a:latin typeface="Arial" panose="020B0604020202020204" pitchFamily="34" charset="0"/>
              </a:rPr>
              <a:t>lo mismo</a:t>
            </a:r>
          </a:p>
        </p:txBody>
      </p:sp>
      <p:sp>
        <p:nvSpPr>
          <p:cNvPr id="4" name="Abrir llave 3"/>
          <p:cNvSpPr/>
          <p:nvPr/>
        </p:nvSpPr>
        <p:spPr bwMode="auto">
          <a:xfrm>
            <a:off x="4069811" y="3688909"/>
            <a:ext cx="452340" cy="3211428"/>
          </a:xfrm>
          <a:prstGeom prst="leftBrace">
            <a:avLst>
              <a:gd name="adj1" fmla="val 8333"/>
              <a:gd name="adj2" fmla="val 45368"/>
            </a:avLst>
          </a:prstGeom>
          <a:noFill/>
          <a:ln w="38100" cap="flat" cmpd="sng" algn="ctr">
            <a:solidFill>
              <a:srgbClr val="008000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square" lIns="90000" tIns="82800" rIns="90000" bIns="8280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sp>
        <p:nvSpPr>
          <p:cNvPr id="92" name="Text Box 3"/>
          <p:cNvSpPr txBox="1">
            <a:spLocks noChangeArrowheads="1"/>
          </p:cNvSpPr>
          <p:nvPr/>
        </p:nvSpPr>
        <p:spPr bwMode="auto">
          <a:xfrm>
            <a:off x="3950359" y="308117"/>
            <a:ext cx="2170113" cy="5365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lIns="90000" tIns="82800" rIns="90000" bIns="8280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FFFF"/>
                </a:solidFill>
                <a:latin typeface="Arial" panose="020B0604020202020204" pitchFamily="34" charset="0"/>
              </a:rPr>
              <a:t>sin generador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B92D09FC-0DB1-6EF2-583E-81ADCC4DD518}"/>
              </a:ext>
            </a:extLst>
          </p:cNvPr>
          <p:cNvGrpSpPr/>
          <p:nvPr/>
        </p:nvGrpSpPr>
        <p:grpSpPr>
          <a:xfrm>
            <a:off x="1417955" y="1120617"/>
            <a:ext cx="2994643" cy="2142856"/>
            <a:chOff x="1664531" y="1120617"/>
            <a:chExt cx="2994643" cy="2142856"/>
          </a:xfrm>
        </p:grpSpPr>
        <p:sp>
          <p:nvSpPr>
            <p:cNvPr id="99" name="Line 48"/>
            <p:cNvSpPr>
              <a:spLocks noChangeShapeType="1"/>
            </p:cNvSpPr>
            <p:nvPr/>
          </p:nvSpPr>
          <p:spPr bwMode="auto">
            <a:xfrm flipH="1">
              <a:off x="3882268" y="1942673"/>
              <a:ext cx="334963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100" name="Line 49"/>
            <p:cNvSpPr>
              <a:spLocks noChangeShapeType="1"/>
            </p:cNvSpPr>
            <p:nvPr/>
          </p:nvSpPr>
          <p:spPr bwMode="auto">
            <a:xfrm flipH="1">
              <a:off x="2062722" y="3244423"/>
              <a:ext cx="21600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grpSp>
          <p:nvGrpSpPr>
            <p:cNvPr id="101" name="Group 50"/>
            <p:cNvGrpSpPr>
              <a:grpSpLocks/>
            </p:cNvGrpSpPr>
            <p:nvPr/>
          </p:nvGrpSpPr>
          <p:grpSpPr bwMode="auto">
            <a:xfrm>
              <a:off x="3372681" y="1661686"/>
              <a:ext cx="515937" cy="579437"/>
              <a:chOff x="2592" y="1344"/>
              <a:chExt cx="1728" cy="672"/>
            </a:xfrm>
          </p:grpSpPr>
          <p:sp>
            <p:nvSpPr>
              <p:cNvPr id="102" name="Line 51"/>
              <p:cNvSpPr>
                <a:spLocks noChangeShapeType="1"/>
              </p:cNvSpPr>
              <p:nvPr/>
            </p:nvSpPr>
            <p:spPr bwMode="auto">
              <a:xfrm flipV="1">
                <a:off x="2592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3" name="Line 52"/>
              <p:cNvSpPr>
                <a:spLocks noChangeShapeType="1"/>
              </p:cNvSpPr>
              <p:nvPr/>
            </p:nvSpPr>
            <p:spPr bwMode="auto">
              <a:xfrm flipH="1" flipV="1">
                <a:off x="2738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4" name="Line 53"/>
              <p:cNvSpPr>
                <a:spLocks noChangeShapeType="1"/>
              </p:cNvSpPr>
              <p:nvPr/>
            </p:nvSpPr>
            <p:spPr bwMode="auto">
              <a:xfrm flipH="1" flipV="1">
                <a:off x="2880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5" name="Line 54"/>
              <p:cNvSpPr>
                <a:spLocks noChangeShapeType="1"/>
              </p:cNvSpPr>
              <p:nvPr/>
            </p:nvSpPr>
            <p:spPr bwMode="auto">
              <a:xfrm flipV="1">
                <a:off x="3024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6" name="Line 55"/>
              <p:cNvSpPr>
                <a:spLocks noChangeShapeType="1"/>
              </p:cNvSpPr>
              <p:nvPr/>
            </p:nvSpPr>
            <p:spPr bwMode="auto">
              <a:xfrm flipV="1">
                <a:off x="3168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7" name="Line 56"/>
              <p:cNvSpPr>
                <a:spLocks noChangeShapeType="1"/>
              </p:cNvSpPr>
              <p:nvPr/>
            </p:nvSpPr>
            <p:spPr bwMode="auto">
              <a:xfrm flipH="1" flipV="1">
                <a:off x="3314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8" name="Line 57"/>
              <p:cNvSpPr>
                <a:spLocks noChangeShapeType="1"/>
              </p:cNvSpPr>
              <p:nvPr/>
            </p:nvSpPr>
            <p:spPr bwMode="auto">
              <a:xfrm flipH="1" flipV="1">
                <a:off x="3456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09" name="Line 58"/>
              <p:cNvSpPr>
                <a:spLocks noChangeShapeType="1"/>
              </p:cNvSpPr>
              <p:nvPr/>
            </p:nvSpPr>
            <p:spPr bwMode="auto">
              <a:xfrm flipV="1">
                <a:off x="3600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0" name="Line 59"/>
              <p:cNvSpPr>
                <a:spLocks noChangeShapeType="1"/>
              </p:cNvSpPr>
              <p:nvPr/>
            </p:nvSpPr>
            <p:spPr bwMode="auto">
              <a:xfrm flipV="1">
                <a:off x="3744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1" name="Line 60"/>
              <p:cNvSpPr>
                <a:spLocks noChangeShapeType="1"/>
              </p:cNvSpPr>
              <p:nvPr/>
            </p:nvSpPr>
            <p:spPr bwMode="auto">
              <a:xfrm flipH="1" flipV="1">
                <a:off x="3890" y="1344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2" name="Line 61"/>
              <p:cNvSpPr>
                <a:spLocks noChangeShapeType="1"/>
              </p:cNvSpPr>
              <p:nvPr/>
            </p:nvSpPr>
            <p:spPr bwMode="auto">
              <a:xfrm flipH="1" flipV="1">
                <a:off x="4032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3" name="Line 62"/>
              <p:cNvSpPr>
                <a:spLocks noChangeShapeType="1"/>
              </p:cNvSpPr>
              <p:nvPr/>
            </p:nvSpPr>
            <p:spPr bwMode="auto">
              <a:xfrm flipV="1">
                <a:off x="4176" y="1680"/>
                <a:ext cx="144" cy="336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</p:grpSp>
        <p:grpSp>
          <p:nvGrpSpPr>
            <p:cNvPr id="114" name="91 Grupo"/>
            <p:cNvGrpSpPr>
              <a:grpSpLocks/>
            </p:cNvGrpSpPr>
            <p:nvPr/>
          </p:nvGrpSpPr>
          <p:grpSpPr bwMode="auto">
            <a:xfrm>
              <a:off x="1664531" y="2441147"/>
              <a:ext cx="2994643" cy="483040"/>
              <a:chOff x="1735138" y="2786063"/>
              <a:chExt cx="2994644" cy="483039"/>
            </a:xfrm>
          </p:grpSpPr>
          <p:sp>
            <p:nvSpPr>
              <p:cNvPr id="115" name="Text Box 63"/>
              <p:cNvSpPr txBox="1">
                <a:spLocks noChangeArrowheads="1"/>
              </p:cNvSpPr>
              <p:nvPr/>
            </p:nvSpPr>
            <p:spPr bwMode="auto">
              <a:xfrm>
                <a:off x="1735138" y="2786063"/>
                <a:ext cx="322881" cy="449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  <p:sp>
            <p:nvSpPr>
              <p:cNvPr id="116" name="Text Box 64"/>
              <p:cNvSpPr txBox="1">
                <a:spLocks noChangeArrowheads="1"/>
              </p:cNvSpPr>
              <p:nvPr/>
            </p:nvSpPr>
            <p:spPr bwMode="auto">
              <a:xfrm>
                <a:off x="4406901" y="2819400"/>
                <a:ext cx="322881" cy="4497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76535" tIns="39797" rIns="76535" bIns="39797" anchorCtr="1">
                <a:spAutoFit/>
              </a:bodyPr>
              <a:lstStyle>
                <a:lvl1pPr defTabSz="777875">
                  <a:spcBef>
                    <a:spcPct val="20000"/>
                  </a:spcBef>
                  <a:buChar char="•"/>
                  <a:defRPr sz="36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defTabSz="777875">
                  <a:spcBef>
                    <a:spcPct val="20000"/>
                  </a:spcBef>
                  <a:buChar char="–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defTabSz="777875">
                  <a:spcBef>
                    <a:spcPct val="20000"/>
                  </a:spcBef>
                  <a:buChar char="•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defTabSz="777875">
                  <a:spcBef>
                    <a:spcPct val="20000"/>
                  </a:spcBef>
                  <a:buChar char="–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defTabSz="777875">
                  <a:spcBef>
                    <a:spcPct val="20000"/>
                  </a:spcBef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defTabSz="777875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s-ES" sz="2400" b="1" dirty="0">
                    <a:solidFill>
                      <a:srgbClr val="3333FF"/>
                    </a:solidFill>
                    <a:latin typeface="Comic Sans MS" panose="030F0702030302020204" pitchFamily="66" charset="0"/>
                  </a:rPr>
                  <a:t>I</a:t>
                </a:r>
              </a:p>
            </p:txBody>
          </p:sp>
          <p:sp>
            <p:nvSpPr>
              <p:cNvPr id="117" name="Line 65"/>
              <p:cNvSpPr>
                <a:spLocks noChangeShapeType="1"/>
              </p:cNvSpPr>
              <p:nvPr/>
            </p:nvSpPr>
            <p:spPr bwMode="auto">
              <a:xfrm rot="5400000" flipH="1">
                <a:off x="2025650" y="3017838"/>
                <a:ext cx="185738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18" name="Line 66"/>
              <p:cNvSpPr>
                <a:spLocks noChangeShapeType="1"/>
              </p:cNvSpPr>
              <p:nvPr/>
            </p:nvSpPr>
            <p:spPr bwMode="auto">
              <a:xfrm rot="16200000" flipH="1">
                <a:off x="4186238" y="3032125"/>
                <a:ext cx="187325" cy="0"/>
              </a:xfrm>
              <a:prstGeom prst="line">
                <a:avLst/>
              </a:prstGeom>
              <a:noFill/>
              <a:ln w="12700">
                <a:solidFill>
                  <a:srgbClr val="3333FF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 anchor="ctr" anchorCtr="1">
                <a:spAutoFit/>
              </a:bodyPr>
              <a:lstStyle/>
              <a:p>
                <a:endParaRPr lang="en-GB"/>
              </a:p>
            </p:txBody>
          </p:sp>
        </p:grpSp>
        <p:sp>
          <p:nvSpPr>
            <p:cNvPr id="119" name="Text Box 67"/>
            <p:cNvSpPr txBox="1">
              <a:spLocks noChangeArrowheads="1"/>
            </p:cNvSpPr>
            <p:nvPr/>
          </p:nvSpPr>
          <p:spPr bwMode="auto">
            <a:xfrm>
              <a:off x="3474281" y="1146017"/>
              <a:ext cx="351735" cy="449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R</a:t>
              </a:r>
            </a:p>
          </p:txBody>
        </p:sp>
        <p:sp>
          <p:nvSpPr>
            <p:cNvPr id="120" name="Text Box 68"/>
            <p:cNvSpPr txBox="1">
              <a:spLocks noChangeArrowheads="1"/>
            </p:cNvSpPr>
            <p:nvPr/>
          </p:nvSpPr>
          <p:spPr bwMode="auto">
            <a:xfrm>
              <a:off x="2534481" y="1120617"/>
              <a:ext cx="324483" cy="4497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535" tIns="39797" rIns="76535" bIns="39797" anchorCtr="1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s-ES" sz="2400" b="1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L</a:t>
              </a:r>
            </a:p>
          </p:txBody>
        </p:sp>
        <p:sp>
          <p:nvSpPr>
            <p:cNvPr id="121" name="Line 69"/>
            <p:cNvSpPr>
              <a:spLocks noChangeShapeType="1"/>
            </p:cNvSpPr>
            <p:nvPr/>
          </p:nvSpPr>
          <p:spPr bwMode="auto">
            <a:xfrm rot="16200000" flipH="1">
              <a:off x="1390687" y="2565767"/>
              <a:ext cx="132556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sp>
          <p:nvSpPr>
            <p:cNvPr id="122" name="Line 70"/>
            <p:cNvSpPr>
              <a:spLocks noChangeShapeType="1"/>
            </p:cNvSpPr>
            <p:nvPr/>
          </p:nvSpPr>
          <p:spPr bwMode="auto">
            <a:xfrm rot="16200000" flipH="1">
              <a:off x="3547306" y="2599898"/>
              <a:ext cx="132715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 anchorCtr="1">
              <a:spAutoFit/>
            </a:bodyPr>
            <a:lstStyle/>
            <a:p>
              <a:endParaRPr lang="en-GB"/>
            </a:p>
          </p:txBody>
        </p:sp>
        <p:grpSp>
          <p:nvGrpSpPr>
            <p:cNvPr id="123" name="Group 75"/>
            <p:cNvGrpSpPr>
              <a:grpSpLocks/>
            </p:cNvGrpSpPr>
            <p:nvPr/>
          </p:nvGrpSpPr>
          <p:grpSpPr bwMode="auto">
            <a:xfrm>
              <a:off x="2040768" y="1591836"/>
              <a:ext cx="1295400" cy="358775"/>
              <a:chOff x="2472" y="2949"/>
              <a:chExt cx="1099" cy="226"/>
            </a:xfrm>
          </p:grpSpPr>
          <p:sp>
            <p:nvSpPr>
              <p:cNvPr id="124" name="Line 76"/>
              <p:cNvSpPr>
                <a:spLocks noChangeShapeType="1"/>
              </p:cNvSpPr>
              <p:nvPr/>
            </p:nvSpPr>
            <p:spPr bwMode="auto">
              <a:xfrm>
                <a:off x="2472" y="3152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5" name="Freeform 77"/>
              <p:cNvSpPr>
                <a:spLocks/>
              </p:cNvSpPr>
              <p:nvPr/>
            </p:nvSpPr>
            <p:spPr bwMode="auto">
              <a:xfrm>
                <a:off x="2702" y="2949"/>
                <a:ext cx="212" cy="214"/>
              </a:xfrm>
              <a:custGeom>
                <a:avLst/>
                <a:gdLst>
                  <a:gd name="T0" fmla="*/ 0 w 180"/>
                  <a:gd name="T1" fmla="*/ 194 h 214"/>
                  <a:gd name="T2" fmla="*/ 3108 w 180"/>
                  <a:gd name="T3" fmla="*/ 47 h 214"/>
                  <a:gd name="T4" fmla="*/ 10284 w 180"/>
                  <a:gd name="T5" fmla="*/ 5 h 214"/>
                  <a:gd name="T6" fmla="*/ 16411 w 180"/>
                  <a:gd name="T7" fmla="*/ 78 h 214"/>
                  <a:gd name="T8" fmla="*/ 17431 w 180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6" name="Freeform 78"/>
              <p:cNvSpPr>
                <a:spLocks/>
              </p:cNvSpPr>
              <p:nvPr/>
            </p:nvSpPr>
            <p:spPr bwMode="auto">
              <a:xfrm>
                <a:off x="2918" y="2955"/>
                <a:ext cx="212" cy="214"/>
              </a:xfrm>
              <a:custGeom>
                <a:avLst/>
                <a:gdLst>
                  <a:gd name="T0" fmla="*/ 0 w 180"/>
                  <a:gd name="T1" fmla="*/ 194 h 214"/>
                  <a:gd name="T2" fmla="*/ 3108 w 180"/>
                  <a:gd name="T3" fmla="*/ 47 h 214"/>
                  <a:gd name="T4" fmla="*/ 10284 w 180"/>
                  <a:gd name="T5" fmla="*/ 5 h 214"/>
                  <a:gd name="T6" fmla="*/ 16411 w 180"/>
                  <a:gd name="T7" fmla="*/ 78 h 214"/>
                  <a:gd name="T8" fmla="*/ 17431 w 180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7" name="Freeform 79"/>
              <p:cNvSpPr>
                <a:spLocks/>
              </p:cNvSpPr>
              <p:nvPr/>
            </p:nvSpPr>
            <p:spPr bwMode="auto">
              <a:xfrm>
                <a:off x="3134" y="2961"/>
                <a:ext cx="212" cy="214"/>
              </a:xfrm>
              <a:custGeom>
                <a:avLst/>
                <a:gdLst>
                  <a:gd name="T0" fmla="*/ 0 w 180"/>
                  <a:gd name="T1" fmla="*/ 194 h 214"/>
                  <a:gd name="T2" fmla="*/ 3108 w 180"/>
                  <a:gd name="T3" fmla="*/ 47 h 214"/>
                  <a:gd name="T4" fmla="*/ 10284 w 180"/>
                  <a:gd name="T5" fmla="*/ 5 h 214"/>
                  <a:gd name="T6" fmla="*/ 16411 w 180"/>
                  <a:gd name="T7" fmla="*/ 78 h 214"/>
                  <a:gd name="T8" fmla="*/ 17431 w 180"/>
                  <a:gd name="T9" fmla="*/ 214 h 2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0"/>
                  <a:gd name="T16" fmla="*/ 0 h 214"/>
                  <a:gd name="T17" fmla="*/ 180 w 180"/>
                  <a:gd name="T18" fmla="*/ 214 h 21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0" h="214">
                    <a:moveTo>
                      <a:pt x="0" y="194"/>
                    </a:moveTo>
                    <a:cubicBezTo>
                      <a:pt x="7" y="136"/>
                      <a:pt x="14" y="78"/>
                      <a:pt x="31" y="47"/>
                    </a:cubicBezTo>
                    <a:cubicBezTo>
                      <a:pt x="48" y="16"/>
                      <a:pt x="82" y="0"/>
                      <a:pt x="105" y="5"/>
                    </a:cubicBezTo>
                    <a:cubicBezTo>
                      <a:pt x="128" y="10"/>
                      <a:pt x="156" y="43"/>
                      <a:pt x="168" y="78"/>
                    </a:cubicBezTo>
                    <a:cubicBezTo>
                      <a:pt x="180" y="113"/>
                      <a:pt x="179" y="163"/>
                      <a:pt x="178" y="214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  <p:sp>
            <p:nvSpPr>
              <p:cNvPr id="128" name="Line 80"/>
              <p:cNvSpPr>
                <a:spLocks noChangeShapeType="1"/>
              </p:cNvSpPr>
              <p:nvPr/>
            </p:nvSpPr>
            <p:spPr bwMode="auto">
              <a:xfrm>
                <a:off x="3351" y="3161"/>
                <a:ext cx="22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82800" rIns="90000" bIns="82800" anchorCtr="1">
                <a:spAutoFit/>
              </a:bodyPr>
              <a:lstStyle/>
              <a:p>
                <a:endParaRPr lang="en-GB"/>
              </a:p>
            </p:txBody>
          </p:sp>
        </p:grpSp>
      </p:grpSp>
      <p:sp>
        <p:nvSpPr>
          <p:cNvPr id="129" name="83 CuadroTexto"/>
          <p:cNvSpPr txBox="1">
            <a:spLocks noChangeArrowheads="1"/>
          </p:cNvSpPr>
          <p:nvPr/>
        </p:nvSpPr>
        <p:spPr bwMode="auto">
          <a:xfrm>
            <a:off x="1836766" y="1826462"/>
            <a:ext cx="12426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s-ES" sz="2000" dirty="0">
                <a:solidFill>
                  <a:srgbClr val="FF0000"/>
                </a:solidFill>
                <a:latin typeface="Arial" panose="020B0604020202020204" pitchFamily="34" charset="0"/>
              </a:rPr>
              <a:t>          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+</a:t>
            </a:r>
            <a:endParaRPr lang="es-ES" sz="2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30" name="Grupo 129"/>
          <p:cNvGrpSpPr/>
          <p:nvPr/>
        </p:nvGrpSpPr>
        <p:grpSpPr>
          <a:xfrm>
            <a:off x="2148342" y="2086401"/>
            <a:ext cx="662644" cy="553342"/>
            <a:chOff x="2695577" y="2077089"/>
            <a:chExt cx="662644" cy="553342"/>
          </a:xfrm>
        </p:grpSpPr>
        <p:cxnSp>
          <p:nvCxnSpPr>
            <p:cNvPr id="131" name="82 Conector recto de flecha"/>
            <p:cNvCxnSpPr>
              <a:cxnSpLocks noChangeShapeType="1"/>
            </p:cNvCxnSpPr>
            <p:nvPr/>
          </p:nvCxnSpPr>
          <p:spPr bwMode="auto">
            <a:xfrm rot="10800000" flipH="1">
              <a:off x="2695577" y="2077089"/>
              <a:ext cx="532526" cy="0"/>
            </a:xfrm>
            <a:prstGeom prst="straightConnector1">
              <a:avLst/>
            </a:prstGeom>
            <a:noFill/>
            <a:ln w="254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2" name="84 CuadroTexto"/>
            <p:cNvSpPr txBox="1">
              <a:spLocks noChangeArrowheads="1"/>
            </p:cNvSpPr>
            <p:nvPr/>
          </p:nvSpPr>
          <p:spPr bwMode="auto">
            <a:xfrm>
              <a:off x="2695860" y="2168765"/>
              <a:ext cx="662361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E</a:t>
              </a:r>
              <a:r>
                <a:rPr lang="es-ES" sz="2400" baseline="-250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ind</a:t>
              </a:r>
              <a:endParaRPr lang="es-ES" sz="2400" baseline="-250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33" name="86 Conector recto de flecha"/>
            <p:cNvCxnSpPr>
              <a:cxnSpLocks noChangeShapeType="1"/>
            </p:cNvCxnSpPr>
            <p:nvPr/>
          </p:nvCxnSpPr>
          <p:spPr bwMode="auto">
            <a:xfrm>
              <a:off x="2807804" y="2197380"/>
              <a:ext cx="207595" cy="1584"/>
            </a:xfrm>
            <a:prstGeom prst="straightConnector1">
              <a:avLst/>
            </a:prstGeom>
            <a:noFill/>
            <a:ln w="127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Group 95"/>
          <p:cNvGrpSpPr>
            <a:grpSpLocks/>
          </p:cNvGrpSpPr>
          <p:nvPr/>
        </p:nvGrpSpPr>
        <p:grpSpPr bwMode="auto">
          <a:xfrm>
            <a:off x="4670954" y="4512239"/>
            <a:ext cx="5222881" cy="633413"/>
            <a:chOff x="4549" y="2366"/>
            <a:chExt cx="3290" cy="399"/>
          </a:xfrm>
        </p:grpSpPr>
        <p:sp>
          <p:nvSpPr>
            <p:cNvPr id="145" name="Text Box 30"/>
            <p:cNvSpPr txBox="1">
              <a:spLocks noChangeArrowheads="1"/>
            </p:cNvSpPr>
            <p:nvPr/>
          </p:nvSpPr>
          <p:spPr bwMode="auto">
            <a:xfrm>
              <a:off x="4549" y="2366"/>
              <a:ext cx="1351" cy="399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08000" tIns="72000" rIns="108000" bIns="72000" anchor="ctr" anchorCtr="0">
              <a:spAutoFit/>
            </a:bodyPr>
            <a:lstStyle>
              <a:lvl1pPr defTabSz="777875"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defTabSz="777875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defTabSz="777875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defTabSz="777875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defTabSz="777875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defTabSz="77787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s-ES" sz="2800" dirty="0">
                  <a:latin typeface="Comic Sans MS" panose="030F0702030302020204" pitchFamily="66" charset="0"/>
                </a:rPr>
                <a:t>A = </a:t>
              </a:r>
              <a:r>
                <a:rPr lang="es-ES" sz="2800" dirty="0" err="1">
                  <a:latin typeface="Comic Sans MS" panose="030F0702030302020204" pitchFamily="66" charset="0"/>
                </a:rPr>
                <a:t>A</a:t>
              </a:r>
              <a:r>
                <a:rPr lang="es-ES" sz="2800" baseline="-25000" dirty="0" err="1">
                  <a:latin typeface="Comic Sans MS" panose="030F0702030302020204" pitchFamily="66" charset="0"/>
                </a:rPr>
                <a:t>o</a:t>
              </a:r>
              <a:r>
                <a:rPr lang="es-ES" sz="2800" dirty="0">
                  <a:latin typeface="Comic Sans MS" panose="030F0702030302020204" pitchFamily="66" charset="0"/>
                </a:rPr>
                <a:t> e</a:t>
              </a:r>
              <a:r>
                <a:rPr lang="es-ES" sz="2800" baseline="30000" dirty="0">
                  <a:latin typeface="Comic Sans MS" panose="030F0702030302020204" pitchFamily="66" charset="0"/>
                </a:rPr>
                <a:t>-t/</a:t>
              </a:r>
              <a:r>
                <a:rPr lang="es-ES" sz="2800" baseline="30000" dirty="0">
                  <a:latin typeface="Comic Sans MS" panose="030F0702030302020204" pitchFamily="66" charset="0"/>
                  <a:sym typeface="Symbol" panose="05050102010706020507" pitchFamily="18" charset="2"/>
                </a:rPr>
                <a:t></a:t>
              </a:r>
              <a:endParaRPr lang="es-ES" sz="2800" baseline="30000" dirty="0">
                <a:latin typeface="Comic Sans MS" panose="030F0702030302020204" pitchFamily="66" charset="0"/>
              </a:endParaRPr>
            </a:p>
          </p:txBody>
        </p:sp>
        <p:sp>
          <p:nvSpPr>
            <p:cNvPr id="146" name="Text Box 31"/>
            <p:cNvSpPr txBox="1">
              <a:spLocks noChangeArrowheads="1"/>
            </p:cNvSpPr>
            <p:nvPr/>
          </p:nvSpPr>
          <p:spPr bwMode="auto">
            <a:xfrm>
              <a:off x="5956" y="2394"/>
              <a:ext cx="1883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 lIns="90000" tIns="82800" rIns="90000" bIns="82800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3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7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3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s-ES" sz="2400" dirty="0">
                  <a:latin typeface="Arial" panose="020B0604020202020204" pitchFamily="34" charset="0"/>
                </a:rPr>
                <a:t>A = </a:t>
              </a:r>
              <a:r>
                <a:rPr lang="es-ES" sz="2400" dirty="0" err="1">
                  <a:latin typeface="Arial" panose="020B0604020202020204" pitchFamily="34" charset="0"/>
                </a:rPr>
                <a:t>d</a:t>
              </a:r>
              <a:r>
                <a:rPr lang="es-ES" sz="2400" dirty="0" err="1">
                  <a:latin typeface="Comic Sans MS" panose="030F0702030302020204" pitchFamily="66" charset="0"/>
                </a:rPr>
                <a:t>I</a:t>
              </a:r>
              <a:r>
                <a:rPr lang="es-ES" sz="2400" dirty="0">
                  <a:latin typeface="Arial" panose="020B0604020202020204" pitchFamily="34" charset="0"/>
                </a:rPr>
                <a:t>/</a:t>
              </a:r>
              <a:r>
                <a:rPr lang="es-ES" sz="2400" dirty="0" err="1">
                  <a:latin typeface="Arial" panose="020B0604020202020204" pitchFamily="34" charset="0"/>
                </a:rPr>
                <a:t>dt</a:t>
              </a:r>
              <a:r>
                <a:rPr lang="es-ES" sz="2400" dirty="0">
                  <a:latin typeface="Arial" panose="020B0604020202020204" pitchFamily="34" charset="0"/>
                </a:rPr>
                <a:t>, V</a:t>
              </a:r>
              <a:r>
                <a:rPr lang="es-ES" sz="2400" baseline="-25000" dirty="0">
                  <a:latin typeface="Arial" panose="020B0604020202020204" pitchFamily="34" charset="0"/>
                </a:rPr>
                <a:t>L</a:t>
              </a:r>
              <a:r>
                <a:rPr lang="es-ES" sz="2400" dirty="0">
                  <a:latin typeface="Arial" panose="020B0604020202020204" pitchFamily="34" charset="0"/>
                </a:rPr>
                <a:t>, V</a:t>
              </a:r>
              <a:r>
                <a:rPr lang="es-ES" sz="2400" baseline="-25000" dirty="0">
                  <a:latin typeface="Arial" panose="020B0604020202020204" pitchFamily="34" charset="0"/>
                </a:rPr>
                <a:t>R</a:t>
              </a:r>
              <a:r>
                <a:rPr lang="es-ES" sz="2400" dirty="0">
                  <a:latin typeface="Arial" panose="020B0604020202020204" pitchFamily="34" charset="0"/>
                </a:rPr>
                <a:t> o </a:t>
              </a:r>
              <a:r>
                <a:rPr lang="es-ES" sz="2400" dirty="0">
                  <a:latin typeface="Comic Sans MS" panose="030F0702030302020204" pitchFamily="66" charset="0"/>
                </a:rPr>
                <a:t>I</a:t>
              </a:r>
            </a:p>
          </p:txBody>
        </p:sp>
      </p:grpSp>
      <p:sp>
        <p:nvSpPr>
          <p:cNvPr id="147" name="Text Box 32"/>
          <p:cNvSpPr txBox="1">
            <a:spLocks noChangeArrowheads="1"/>
          </p:cNvSpPr>
          <p:nvPr/>
        </p:nvSpPr>
        <p:spPr bwMode="auto">
          <a:xfrm>
            <a:off x="4826348" y="5201589"/>
            <a:ext cx="5683322" cy="572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 typeface="Symbol" panose="05050102010706020507" pitchFamily="18" charset="2"/>
              <a:buNone/>
            </a:pPr>
            <a:r>
              <a:rPr lang="es-ES" sz="3200">
                <a:latin typeface="Comic Sans MS" panose="030F0702030302020204" pitchFamily="66" charset="0"/>
                <a:sym typeface="Symbol" panose="05050102010706020507" pitchFamily="18" charset="2"/>
              </a:rPr>
              <a:t>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latin typeface="Comic Sans MS" panose="030F0702030302020204" pitchFamily="66" charset="0"/>
                <a:sym typeface="Symbol" panose="05050102010706020507" pitchFamily="18" charset="2"/>
              </a:rPr>
              <a:t>= L/</a:t>
            </a:r>
            <a:r>
              <a:rPr lang="es-ES" sz="2400">
                <a:latin typeface="Comic Sans MS" panose="030F0702030302020204" pitchFamily="66" charset="0"/>
                <a:sym typeface="Symbol" panose="05050102010706020507" pitchFamily="18" charset="2"/>
              </a:rPr>
              <a:t>R </a:t>
            </a:r>
            <a:r>
              <a:rPr lang="es-ES" sz="240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(la misma, es el mismo circuito)</a:t>
            </a:r>
            <a:endParaRPr lang="es-E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46">
            <a:extLst>
              <a:ext uri="{FF2B5EF4-FFF2-40B4-BE49-F238E27FC236}">
                <a16:creationId xmlns:a16="http://schemas.microsoft.com/office/drawing/2014/main" id="{6001B725-5D3C-C0CC-1781-E32E50EA9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5" y="934137"/>
            <a:ext cx="5566349" cy="1275213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R tiende a hacer desaparecer la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.        L se comporta como una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pila con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 decreciente </a:t>
            </a:r>
            <a:r>
              <a:rPr lang="es-ES" sz="2400" dirty="0">
                <a:latin typeface="Arial" panose="020B0604020202020204" pitchFamily="34" charset="0"/>
              </a:rPr>
              <a:t>que trata de mantener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</a:p>
        </p:txBody>
      </p:sp>
      <p:sp>
        <p:nvSpPr>
          <p:cNvPr id="3" name="Rectangle 82">
            <a:extLst>
              <a:ext uri="{FF2B5EF4-FFF2-40B4-BE49-F238E27FC236}">
                <a16:creationId xmlns:a16="http://schemas.microsoft.com/office/drawing/2014/main" id="{7B5A5E88-EE31-2744-ABE9-D0AF02801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847" y="350955"/>
            <a:ext cx="2809933" cy="46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9569" tIns="49785" rIns="99569" bIns="49785" anchor="ctr">
            <a:spAutoFit/>
          </a:bodyPr>
          <a:lstStyle>
            <a:lvl1pPr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95363">
              <a:spcBef>
                <a:spcPct val="20000"/>
              </a:spcBef>
              <a:buChar char="•"/>
              <a:tabLst>
                <a:tab pos="196850" algn="r"/>
                <a:tab pos="2940050" algn="ctr"/>
                <a:tab pos="5880100" algn="r"/>
              </a:tabLst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95363">
              <a:spcBef>
                <a:spcPct val="20000"/>
              </a:spcBef>
              <a:buChar char="–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95363">
              <a:spcBef>
                <a:spcPct val="20000"/>
              </a:spcBef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96850" algn="r"/>
                <a:tab pos="2940050" algn="ctr"/>
                <a:tab pos="5880100" algn="r"/>
              </a:tabLst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ES" sz="2400" b="1" dirty="0">
                <a:solidFill>
                  <a:srgbClr val="EDE7E3"/>
                </a:solidFill>
                <a:latin typeface="Arial" panose="020B0604020202020204" pitchFamily="34" charset="0"/>
              </a:rPr>
              <a:t>6.2</a:t>
            </a:r>
            <a:r>
              <a:rPr lang="es-ES" sz="2400" b="1" dirty="0">
                <a:solidFill>
                  <a:srgbClr val="CC0000"/>
                </a:solidFill>
                <a:latin typeface="Arial" panose="020B0604020202020204" pitchFamily="34" charset="0"/>
              </a:rPr>
              <a:t> CIRCUITO RL</a:t>
            </a:r>
          </a:p>
        </p:txBody>
      </p:sp>
      <p:sp>
        <p:nvSpPr>
          <p:cNvPr id="7" name="Text Box 46">
            <a:extLst>
              <a:ext uri="{FF2B5EF4-FFF2-40B4-BE49-F238E27FC236}">
                <a16:creationId xmlns:a16="http://schemas.microsoft.com/office/drawing/2014/main" id="{8FF37FCB-95B4-BCF9-0B2D-F94BBDC3C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4" y="2318334"/>
            <a:ext cx="5566349" cy="12752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0000" tIns="82800" rIns="90000" bIns="82800" anchor="ctr" anchorCtr="0">
            <a:spAutoFit/>
          </a:bodyPr>
          <a:lstStyle>
            <a:lvl1pPr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 dirty="0">
                <a:latin typeface="Arial" panose="020B0604020202020204" pitchFamily="34" charset="0"/>
              </a:rPr>
              <a:t>Al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inicio</a:t>
            </a:r>
            <a:r>
              <a:rPr lang="es-ES" sz="2400" dirty="0">
                <a:latin typeface="Arial" panose="020B0604020202020204" pitchFamily="34" charset="0"/>
              </a:rPr>
              <a:t> |V</a:t>
            </a:r>
            <a:r>
              <a:rPr lang="es-ES" sz="2400" baseline="-25000" dirty="0">
                <a:latin typeface="Arial" panose="020B0604020202020204" pitchFamily="34" charset="0"/>
              </a:rPr>
              <a:t>L</a:t>
            </a:r>
            <a:r>
              <a:rPr lang="es-ES" sz="2400" dirty="0">
                <a:latin typeface="Arial" panose="020B0604020202020204" pitchFamily="34" charset="0"/>
              </a:rPr>
              <a:t>|, V</a:t>
            </a:r>
            <a:r>
              <a:rPr lang="es-ES" sz="2400" baseline="-25000" dirty="0">
                <a:latin typeface="Arial" panose="020B0604020202020204" pitchFamily="34" charset="0"/>
              </a:rPr>
              <a:t>R</a:t>
            </a:r>
            <a:r>
              <a:rPr lang="es-ES" sz="2400" dirty="0">
                <a:latin typeface="Arial" panose="020B0604020202020204" pitchFamily="34" charset="0"/>
              </a:rPr>
              <a:t>, |</a:t>
            </a:r>
            <a:r>
              <a:rPr lang="es-ES" sz="2400" dirty="0" err="1">
                <a:latin typeface="Arial" panose="020B0604020202020204" pitchFamily="34" charset="0"/>
              </a:rPr>
              <a:t>d</a:t>
            </a:r>
            <a:r>
              <a:rPr lang="es-ES" sz="2400" dirty="0" err="1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/</a:t>
            </a:r>
            <a:r>
              <a:rPr lang="es-ES" sz="2400" dirty="0" err="1">
                <a:latin typeface="Arial" panose="020B0604020202020204" pitchFamily="34" charset="0"/>
              </a:rPr>
              <a:t>dt</a:t>
            </a:r>
            <a:r>
              <a:rPr lang="es-ES" sz="2400" dirty="0">
                <a:latin typeface="Arial" panose="020B0604020202020204" pitchFamily="34" charset="0"/>
              </a:rPr>
              <a:t>| e </a:t>
            </a:r>
            <a:r>
              <a:rPr lang="es-ES" sz="2400" dirty="0">
                <a:latin typeface="Comic Sans MS" panose="030F0702030302020204" pitchFamily="66" charset="0"/>
              </a:rPr>
              <a:t>I</a:t>
            </a:r>
            <a:r>
              <a:rPr lang="es-ES" sz="2400" dirty="0">
                <a:latin typeface="Arial" panose="020B0604020202020204" pitchFamily="34" charset="0"/>
              </a:rPr>
              <a:t> son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máximas</a:t>
            </a:r>
            <a:r>
              <a:rPr lang="es-ES" sz="2400" dirty="0">
                <a:latin typeface="Arial" panose="020B0604020202020204" pitchFamily="34" charset="0"/>
              </a:rPr>
              <a:t>. Luego van decreciendo.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r>
              <a:rPr lang="es-ES" sz="2400">
                <a:latin typeface="Arial" panose="020B0604020202020204" pitchFamily="34" charset="0"/>
              </a:rPr>
              <a:t>Y al </a:t>
            </a:r>
            <a:r>
              <a:rPr lang="es-ES" sz="2400" dirty="0">
                <a:latin typeface="Arial" panose="020B0604020202020204" pitchFamily="34" charset="0"/>
              </a:rPr>
              <a:t>final, </a:t>
            </a:r>
            <a:r>
              <a:rPr lang="es-ES" sz="2400" dirty="0">
                <a:solidFill>
                  <a:srgbClr val="FF0000"/>
                </a:solidFill>
                <a:latin typeface="Arial" panose="020B0604020202020204" pitchFamily="34" charset="0"/>
              </a:rPr>
              <a:t>en el equilibrio</a:t>
            </a:r>
            <a:r>
              <a:rPr lang="es-ES" sz="2400" dirty="0">
                <a:latin typeface="Arial" panose="020B0604020202020204" pitchFamily="34" charset="0"/>
              </a:rPr>
              <a:t>, son </a:t>
            </a:r>
            <a:r>
              <a:rPr lang="es-ES" sz="2400" dirty="0">
                <a:solidFill>
                  <a:srgbClr val="3333FF"/>
                </a:solidFill>
                <a:latin typeface="Arial" panose="020B0604020202020204" pitchFamily="34" charset="0"/>
              </a:rPr>
              <a:t>nulas</a:t>
            </a:r>
            <a:endParaRPr lang="es-ES" sz="2400" dirty="0">
              <a:solidFill>
                <a:srgbClr val="3333FF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8FFA71D5-D1A6-CE08-BD22-DDDD36958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01" y="3364937"/>
            <a:ext cx="1685432" cy="895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6535" tIns="39797" rIns="76535" bIns="39797" anchorCtr="1">
            <a:spAutoFit/>
          </a:bodyPr>
          <a:lstStyle>
            <a:lvl1pPr defTabSz="777875">
              <a:spcBef>
                <a:spcPct val="20000"/>
              </a:spcBef>
              <a:buChar char="•"/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77875">
              <a:spcBef>
                <a:spcPct val="20000"/>
              </a:spcBef>
              <a:buChar char="–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77875">
              <a:spcBef>
                <a:spcPct val="20000"/>
              </a:spcBef>
              <a:buChar char="•"/>
              <a:defRPr sz="2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77875">
              <a:spcBef>
                <a:spcPct val="20000"/>
              </a:spcBef>
              <a:buChar char="–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77875">
              <a:spcBef>
                <a:spcPct val="20000"/>
              </a:spcBef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778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3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ts val="6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V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+ V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R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= 0</a:t>
            </a:r>
          </a:p>
          <a:p>
            <a:pPr algn="ctr" eaLnBrk="1" hangingPunct="1">
              <a:spcBef>
                <a:spcPts val="600"/>
              </a:spcBef>
              <a:buFontTx/>
              <a:buNone/>
            </a:pP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(V</a:t>
            </a:r>
            <a:r>
              <a:rPr lang="es-ES" sz="2400" baseline="-250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</a:t>
            </a:r>
            <a:r>
              <a:rPr lang="es-ES" sz="2400" dirty="0">
                <a:solidFill>
                  <a:srgbClr val="3333FF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&lt; 0)</a:t>
            </a:r>
            <a:endParaRPr lang="es-ES" sz="2400" baseline="-25000" dirty="0">
              <a:solidFill>
                <a:srgbClr val="3333FF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357442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80" grpId="0" animBg="1"/>
      <p:bldP spid="90" grpId="0" animBg="1"/>
      <p:bldP spid="4" grpId="0" animBg="1"/>
      <p:bldP spid="92" grpId="0" animBg="1"/>
      <p:bldP spid="129" grpId="0"/>
      <p:bldP spid="147" grpId="0"/>
      <p:bldP spid="2" grpId="0" animBg="1"/>
      <p:bldP spid="7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25" name="Rectangle 73"/>
          <p:cNvSpPr>
            <a:spLocks noChangeArrowheads="1"/>
          </p:cNvSpPr>
          <p:nvPr/>
        </p:nvSpPr>
        <p:spPr bwMode="auto">
          <a:xfrm>
            <a:off x="4364038" y="1613945"/>
            <a:ext cx="2841625" cy="2155825"/>
          </a:xfrm>
          <a:prstGeom prst="rect">
            <a:avLst/>
          </a:prstGeom>
          <a:solidFill>
            <a:srgbClr val="C0C0C0"/>
          </a:solidFill>
          <a:ln w="2540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lIns="94741" tIns="87162" rIns="94741" bIns="87162" anchor="ctr"/>
          <a:lstStyle/>
          <a:p>
            <a:pPr>
              <a:defRPr/>
            </a:pPr>
            <a:endParaRPr lang="es-ES" sz="2105"/>
          </a:p>
        </p:txBody>
      </p:sp>
      <p:sp>
        <p:nvSpPr>
          <p:cNvPr id="74828" name="Text Box 76"/>
          <p:cNvSpPr txBox="1">
            <a:spLocks noChangeArrowheads="1"/>
          </p:cNvSpPr>
          <p:nvPr/>
        </p:nvSpPr>
        <p:spPr bwMode="auto">
          <a:xfrm>
            <a:off x="3396595" y="422431"/>
            <a:ext cx="4731407" cy="60658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square" lIns="85267" tIns="117479" rIns="85267" bIns="117479" anchor="ctr" anchorCtr="1">
            <a:spAutoFit/>
          </a:bodyPr>
          <a:lstStyle>
            <a:lvl1pPr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11163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2232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3507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646238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0"/>
              </a:spcBef>
              <a:defRPr/>
            </a:pPr>
            <a:r>
              <a:rPr lang="es-ES" dirty="0">
                <a:latin typeface="Arial" panose="020B0604020202020204" pitchFamily="34" charset="0"/>
              </a:rPr>
              <a:t>Pantalla Táctil Capacitiva Simple</a:t>
            </a:r>
          </a:p>
        </p:txBody>
      </p:sp>
      <p:sp>
        <p:nvSpPr>
          <p:cNvPr id="74826" name="Rectangle 74"/>
          <p:cNvSpPr>
            <a:spLocks noChangeArrowheads="1"/>
          </p:cNvSpPr>
          <p:nvPr/>
        </p:nvSpPr>
        <p:spPr bwMode="auto">
          <a:xfrm>
            <a:off x="4522788" y="1769520"/>
            <a:ext cx="2921000" cy="2278062"/>
          </a:xfrm>
          <a:prstGeom prst="rect">
            <a:avLst/>
          </a:prstGeom>
          <a:solidFill>
            <a:srgbClr val="CCFFFF">
              <a:alpha val="50000"/>
            </a:srgbClr>
          </a:solidFill>
          <a:ln w="2540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53640926-AAD7-44D8-BBD7-CCE9431645EC}">
              <a14:shadowObscured xmlns:a14="http://schemas.microsoft.com/office/drawing/2010/main" val="1"/>
            </a:ext>
          </a:extLst>
        </p:spPr>
        <p:txBody>
          <a:bodyPr wrap="none" lIns="85267" tIns="78446" rIns="85267" bIns="78446" anchor="ctr"/>
          <a:lstStyle>
            <a:lvl1pPr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11163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2232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35075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646238" defTabSz="8223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1034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5606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0178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475038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endParaRPr lang="es-ES" sz="1895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E347857-B09A-48E9-9988-86C7D5D05DCE}"/>
              </a:ext>
            </a:extLst>
          </p:cNvPr>
          <p:cNvGrpSpPr/>
          <p:nvPr/>
        </p:nvGrpSpPr>
        <p:grpSpPr>
          <a:xfrm>
            <a:off x="5848509" y="2283217"/>
            <a:ext cx="2592387" cy="1135063"/>
            <a:chOff x="993741" y="2612153"/>
            <a:chExt cx="2592387" cy="1135063"/>
          </a:xfrm>
        </p:grpSpPr>
        <p:sp>
          <p:nvSpPr>
            <p:cNvPr id="74827" name="Text Box 75"/>
            <p:cNvSpPr txBox="1">
              <a:spLocks noChangeArrowheads="1"/>
            </p:cNvSpPr>
            <p:nvPr/>
          </p:nvSpPr>
          <p:spPr bwMode="auto">
            <a:xfrm>
              <a:off x="993741" y="2612153"/>
              <a:ext cx="719137" cy="85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85267" tIns="78446" rIns="85267" bIns="78446" anchorCtr="1">
              <a:spAutoFit/>
            </a:bodyPr>
            <a:lstStyle>
              <a:lvl1pPr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s-ES" sz="4527" dirty="0">
                  <a:solidFill>
                    <a:srgbClr val="000000"/>
                  </a:solidFill>
                  <a:latin typeface="Arial" panose="020B0604020202020204" pitchFamily="34" charset="0"/>
                  <a:sym typeface="Wingdings" panose="05000000000000000000" pitchFamily="2" charset="2"/>
                </a:rPr>
                <a:t></a:t>
              </a:r>
            </a:p>
          </p:txBody>
        </p:sp>
        <p:sp>
          <p:nvSpPr>
            <p:cNvPr id="74829" name="Freeform 77"/>
            <p:cNvSpPr>
              <a:spLocks/>
            </p:cNvSpPr>
            <p:nvPr/>
          </p:nvSpPr>
          <p:spPr bwMode="auto">
            <a:xfrm>
              <a:off x="1662078" y="3002678"/>
              <a:ext cx="1690688" cy="517525"/>
            </a:xfrm>
            <a:custGeom>
              <a:avLst/>
              <a:gdLst>
                <a:gd name="T0" fmla="*/ 0 w 786"/>
                <a:gd name="T1" fmla="*/ 0 h 220"/>
                <a:gd name="T2" fmla="*/ 566 w 786"/>
                <a:gd name="T3" fmla="*/ 53 h 220"/>
                <a:gd name="T4" fmla="*/ 786 w 786"/>
                <a:gd name="T5" fmla="*/ 22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86" h="220">
                  <a:moveTo>
                    <a:pt x="0" y="0"/>
                  </a:moveTo>
                  <a:cubicBezTo>
                    <a:pt x="217" y="8"/>
                    <a:pt x="435" y="16"/>
                    <a:pt x="566" y="53"/>
                  </a:cubicBezTo>
                  <a:cubicBezTo>
                    <a:pt x="697" y="90"/>
                    <a:pt x="741" y="155"/>
                    <a:pt x="786" y="220"/>
                  </a:cubicBezTo>
                </a:path>
              </a:pathLst>
            </a:custGeom>
            <a:noFill/>
            <a:ln w="25400" cap="flat" cmpd="sng">
              <a:solidFill>
                <a:srgbClr val="0000FF"/>
              </a:solidFill>
              <a:prstDash val="sysDot"/>
              <a:round/>
              <a:headEnd type="none" w="med" len="med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0" name="Line 78"/>
            <p:cNvSpPr>
              <a:spLocks noChangeShapeType="1"/>
            </p:cNvSpPr>
            <p:nvPr/>
          </p:nvSpPr>
          <p:spPr bwMode="auto">
            <a:xfrm>
              <a:off x="3167028" y="3542428"/>
              <a:ext cx="41910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1" name="Line 79"/>
            <p:cNvSpPr>
              <a:spLocks noChangeShapeType="1"/>
            </p:cNvSpPr>
            <p:nvPr/>
          </p:nvSpPr>
          <p:spPr bwMode="auto">
            <a:xfrm>
              <a:off x="3282916" y="3628153"/>
              <a:ext cx="18732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2" name="Line 80"/>
            <p:cNvSpPr>
              <a:spLocks noChangeShapeType="1"/>
            </p:cNvSpPr>
            <p:nvPr/>
          </p:nvSpPr>
          <p:spPr bwMode="auto">
            <a:xfrm>
              <a:off x="3317841" y="3747216"/>
              <a:ext cx="1174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C6EF85C1-9129-4DF4-A9E7-B4F770E15842}"/>
              </a:ext>
            </a:extLst>
          </p:cNvPr>
          <p:cNvGrpSpPr/>
          <p:nvPr/>
        </p:nvGrpSpPr>
        <p:grpSpPr>
          <a:xfrm>
            <a:off x="4338885" y="1600451"/>
            <a:ext cx="2867025" cy="2182812"/>
            <a:chOff x="629877" y="2339891"/>
            <a:chExt cx="2867025" cy="2182812"/>
          </a:xfrm>
        </p:grpSpPr>
        <p:sp>
          <p:nvSpPr>
            <p:cNvPr id="74835" name="Line 83"/>
            <p:cNvSpPr>
              <a:spLocks noChangeShapeType="1"/>
            </p:cNvSpPr>
            <p:nvPr/>
          </p:nvSpPr>
          <p:spPr bwMode="auto">
            <a:xfrm flipH="1" flipV="1">
              <a:off x="633052" y="2349416"/>
              <a:ext cx="1428750" cy="93503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6" name="Line 84"/>
            <p:cNvSpPr>
              <a:spLocks noChangeShapeType="1"/>
            </p:cNvSpPr>
            <p:nvPr/>
          </p:nvSpPr>
          <p:spPr bwMode="auto">
            <a:xfrm flipH="1">
              <a:off x="629877" y="3295566"/>
              <a:ext cx="1427162" cy="12065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7" name="Line 85"/>
            <p:cNvSpPr>
              <a:spLocks noChangeShapeType="1"/>
            </p:cNvSpPr>
            <p:nvPr/>
          </p:nvSpPr>
          <p:spPr bwMode="auto">
            <a:xfrm flipH="1">
              <a:off x="2071327" y="2339891"/>
              <a:ext cx="1425575" cy="94456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8" name="Line 86"/>
            <p:cNvSpPr>
              <a:spLocks noChangeShapeType="1"/>
            </p:cNvSpPr>
            <p:nvPr/>
          </p:nvSpPr>
          <p:spPr bwMode="auto">
            <a:xfrm flipH="1" flipV="1">
              <a:off x="2034814" y="3236828"/>
              <a:ext cx="1449388" cy="128587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ysDot"/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9" name="Text Box 87"/>
            <p:cNvSpPr txBox="1">
              <a:spLocks noChangeArrowheads="1"/>
            </p:cNvSpPr>
            <p:nvPr/>
          </p:nvSpPr>
          <p:spPr bwMode="auto">
            <a:xfrm>
              <a:off x="1134702" y="2805028"/>
              <a:ext cx="508830" cy="527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85267" tIns="78446" rIns="85267" bIns="78446" anchorCtr="1">
              <a:spAutoFit/>
            </a:bodyPr>
            <a:lstStyle>
              <a:lvl1pPr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s-ES" dirty="0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  <a:r>
                <a:rPr lang="es-ES" baseline="-25000" dirty="0">
                  <a:solidFill>
                    <a:srgbClr val="3333FF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4840" name="Text Box 88"/>
            <p:cNvSpPr txBox="1">
              <a:spLocks noChangeArrowheads="1"/>
            </p:cNvSpPr>
            <p:nvPr/>
          </p:nvSpPr>
          <p:spPr bwMode="auto">
            <a:xfrm>
              <a:off x="2746014" y="2730416"/>
              <a:ext cx="508830" cy="527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85267" tIns="78446" rIns="85267" bIns="78446" anchorCtr="1">
              <a:spAutoFit/>
            </a:bodyPr>
            <a:lstStyle>
              <a:lvl1pPr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s-ES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  <a:r>
                <a:rPr lang="es-ES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74841" name="Text Box 89"/>
            <p:cNvSpPr txBox="1">
              <a:spLocks noChangeArrowheads="1"/>
            </p:cNvSpPr>
            <p:nvPr/>
          </p:nvSpPr>
          <p:spPr bwMode="auto">
            <a:xfrm>
              <a:off x="2403114" y="3806741"/>
              <a:ext cx="508830" cy="527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85267" tIns="78446" rIns="85267" bIns="78446" anchorCtr="1">
              <a:spAutoFit/>
            </a:bodyPr>
            <a:lstStyle>
              <a:lvl1pPr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s-ES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  <a:r>
                <a:rPr lang="es-ES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74842" name="Text Box 90"/>
            <p:cNvSpPr txBox="1">
              <a:spLocks noChangeArrowheads="1"/>
            </p:cNvSpPr>
            <p:nvPr/>
          </p:nvSpPr>
          <p:spPr bwMode="auto">
            <a:xfrm>
              <a:off x="1304564" y="3798803"/>
              <a:ext cx="508830" cy="527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85267" tIns="78446" rIns="85267" bIns="78446" anchorCtr="1">
              <a:spAutoFit/>
            </a:bodyPr>
            <a:lstStyle>
              <a:lvl1pPr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s-ES">
                  <a:solidFill>
                    <a:srgbClr val="3333FF"/>
                  </a:solidFill>
                  <a:latin typeface="Arial" panose="020B0604020202020204" pitchFamily="34" charset="0"/>
                </a:rPr>
                <a:t>R</a:t>
              </a:r>
              <a:r>
                <a:rPr lang="es-ES" baseline="-25000">
                  <a:solidFill>
                    <a:srgbClr val="3333FF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6C8B8E18-7D10-4F34-A23A-CF573AC80015}"/>
              </a:ext>
            </a:extLst>
          </p:cNvPr>
          <p:cNvGrpSpPr/>
          <p:nvPr/>
        </p:nvGrpSpPr>
        <p:grpSpPr>
          <a:xfrm>
            <a:off x="5722977" y="1776117"/>
            <a:ext cx="395017" cy="1103749"/>
            <a:chOff x="5712817" y="1908197"/>
            <a:chExt cx="395017" cy="1103749"/>
          </a:xfrm>
        </p:grpSpPr>
        <p:sp>
          <p:nvSpPr>
            <p:cNvPr id="74833" name="Line 81"/>
            <p:cNvSpPr>
              <a:spLocks noChangeShapeType="1"/>
            </p:cNvSpPr>
            <p:nvPr/>
          </p:nvSpPr>
          <p:spPr bwMode="auto">
            <a:xfrm>
              <a:off x="5888629" y="2538646"/>
              <a:ext cx="3810" cy="47330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square"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34" name="Line 82"/>
            <p:cNvSpPr>
              <a:spLocks noChangeShapeType="1"/>
            </p:cNvSpPr>
            <p:nvPr/>
          </p:nvSpPr>
          <p:spPr bwMode="auto">
            <a:xfrm>
              <a:off x="5772742" y="2404343"/>
              <a:ext cx="0" cy="5175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lIns="94741" tIns="87162" rIns="94741" bIns="87162" anchorCtr="1">
              <a:spAutoFit/>
            </a:bodyPr>
            <a:lstStyle/>
            <a:p>
              <a:pPr>
                <a:defRPr/>
              </a:pPr>
              <a:endParaRPr lang="es-ES" sz="2105"/>
            </a:p>
          </p:txBody>
        </p:sp>
        <p:sp>
          <p:nvSpPr>
            <p:cNvPr id="74843" name="Text Box 91"/>
            <p:cNvSpPr txBox="1">
              <a:spLocks noChangeArrowheads="1"/>
            </p:cNvSpPr>
            <p:nvPr/>
          </p:nvSpPr>
          <p:spPr bwMode="auto">
            <a:xfrm>
              <a:off x="5712817" y="1908197"/>
              <a:ext cx="395017" cy="527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  <a:ext uri="{53640926-AAD7-44D8-BBD7-CCE9431645EC}">
                <a14:shadowObscured xmlns:a14="http://schemas.microsoft.com/office/drawing/2010/main" val="1"/>
              </a:ext>
            </a:extLst>
          </p:spPr>
          <p:txBody>
            <a:bodyPr wrap="none" lIns="85267" tIns="78446" rIns="85267" bIns="78446" anchorCtr="1">
              <a:spAutoFit/>
            </a:bodyPr>
            <a:lstStyle>
              <a:lvl1pPr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411163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82232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235075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1646238" defTabSz="8223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1034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5606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0178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475038" defTabSz="822325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s-ES" dirty="0">
                  <a:solidFill>
                    <a:srgbClr val="3333FF"/>
                  </a:solidFill>
                  <a:latin typeface="Arial" panose="020B0604020202020204" pitchFamily="34" charset="0"/>
                </a:rPr>
                <a:t>C</a:t>
              </a:r>
              <a:endParaRPr lang="es-ES" baseline="-25000" dirty="0">
                <a:solidFill>
                  <a:srgbClr val="3333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8254369-FAB9-4E74-956E-3D898FADFD6D}"/>
              </a:ext>
            </a:extLst>
          </p:cNvPr>
          <p:cNvGrpSpPr/>
          <p:nvPr/>
        </p:nvGrpSpPr>
        <p:grpSpPr>
          <a:xfrm>
            <a:off x="4065651" y="1275807"/>
            <a:ext cx="3416180" cy="2811793"/>
            <a:chOff x="4065651" y="1407887"/>
            <a:chExt cx="3416180" cy="2811793"/>
          </a:xfrm>
        </p:grpSpPr>
        <p:sp>
          <p:nvSpPr>
            <p:cNvPr id="74852" name="Text Box 100"/>
            <p:cNvSpPr txBox="1">
              <a:spLocks noChangeArrowheads="1"/>
            </p:cNvSpPr>
            <p:nvPr/>
          </p:nvSpPr>
          <p:spPr bwMode="auto">
            <a:xfrm>
              <a:off x="4086225" y="1411062"/>
              <a:ext cx="315849" cy="453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3372" tIns="41686" rIns="83372" bIns="41686">
              <a:spAutoFit/>
            </a:bodyPr>
            <a:lstStyle>
              <a:lvl1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s-ES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+</a:t>
              </a:r>
            </a:p>
          </p:txBody>
        </p:sp>
        <p:sp>
          <p:nvSpPr>
            <p:cNvPr id="74861" name="Text Box 109"/>
            <p:cNvSpPr txBox="1">
              <a:spLocks noChangeArrowheads="1"/>
            </p:cNvSpPr>
            <p:nvPr/>
          </p:nvSpPr>
          <p:spPr bwMode="auto">
            <a:xfrm>
              <a:off x="7140575" y="1407887"/>
              <a:ext cx="323850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3372" tIns="41686" rIns="83372" bIns="41686">
              <a:spAutoFit/>
            </a:bodyPr>
            <a:lstStyle>
              <a:lvl1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s-ES">
                  <a:solidFill>
                    <a:srgbClr val="3333FF"/>
                  </a:solidFill>
                  <a:latin typeface="Comic Sans MS" panose="030F0702030302020204" pitchFamily="66" charset="0"/>
                </a:rPr>
                <a:t>+</a:t>
              </a:r>
            </a:p>
          </p:txBody>
        </p:sp>
        <p:sp>
          <p:nvSpPr>
            <p:cNvPr id="74862" name="Text Box 110"/>
            <p:cNvSpPr txBox="1">
              <a:spLocks noChangeArrowheads="1"/>
            </p:cNvSpPr>
            <p:nvPr/>
          </p:nvSpPr>
          <p:spPr bwMode="auto">
            <a:xfrm>
              <a:off x="4065651" y="3766162"/>
              <a:ext cx="315849" cy="453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3372" tIns="41686" rIns="83372" bIns="41686">
              <a:spAutoFit/>
            </a:bodyPr>
            <a:lstStyle>
              <a:lvl1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s-ES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+</a:t>
              </a:r>
            </a:p>
          </p:txBody>
        </p:sp>
        <p:sp>
          <p:nvSpPr>
            <p:cNvPr id="74863" name="Text Box 111"/>
            <p:cNvSpPr txBox="1">
              <a:spLocks noChangeArrowheads="1"/>
            </p:cNvSpPr>
            <p:nvPr/>
          </p:nvSpPr>
          <p:spPr bwMode="auto">
            <a:xfrm>
              <a:off x="7165982" y="3735892"/>
              <a:ext cx="315849" cy="453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3372" tIns="41686" rIns="83372" bIns="41686">
              <a:spAutoFit/>
            </a:bodyPr>
            <a:lstStyle>
              <a:lvl1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defTabSz="661988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defTabSz="6619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defRPr/>
              </a:pPr>
              <a:r>
                <a:rPr lang="es-ES" dirty="0">
                  <a:solidFill>
                    <a:srgbClr val="3333FF"/>
                  </a:solidFill>
                  <a:latin typeface="Comic Sans MS" panose="030F0702030302020204" pitchFamily="66" charset="0"/>
                </a:rPr>
                <a:t>+</a:t>
              </a:r>
            </a:p>
          </p:txBody>
        </p:sp>
      </p:grpSp>
      <p:sp>
        <p:nvSpPr>
          <p:cNvPr id="2" name="CuadroTexto 1"/>
          <p:cNvSpPr txBox="1">
            <a:spLocks noChangeArrowheads="1"/>
          </p:cNvSpPr>
          <p:nvPr/>
        </p:nvSpPr>
        <p:spPr bwMode="auto">
          <a:xfrm>
            <a:off x="1389558" y="4325499"/>
            <a:ext cx="8931347" cy="280343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8000" tIns="108000" rIns="108000" bIns="108000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s-ES" sz="2400" dirty="0"/>
              <a:t>Al tocar definimos un condensador que se carga a través de     4 resistencias en paralelo (la de los caminos hasta los bordes). Se tiene un </a:t>
            </a:r>
            <a:r>
              <a:rPr lang="es-ES" sz="2400" dirty="0">
                <a:solidFill>
                  <a:srgbClr val="3333FF"/>
                </a:solidFill>
              </a:rPr>
              <a:t>circuito RC</a:t>
            </a:r>
            <a:r>
              <a:rPr lang="es-ES" sz="2400" dirty="0"/>
              <a:t>. Con la medida de las 4 corrientes de carga, se calcula donde se ha tocado la pantalla. Con la descarga y carga de C, </a:t>
            </a:r>
            <a:r>
              <a:rPr lang="es-ES" sz="2400"/>
              <a:t>eliminando y </a:t>
            </a:r>
            <a:r>
              <a:rPr lang="es-ES" sz="2400" dirty="0"/>
              <a:t>aplicando la </a:t>
            </a:r>
            <a:r>
              <a:rPr lang="es-ES" sz="2400" dirty="0" err="1"/>
              <a:t>ddp</a:t>
            </a:r>
            <a:r>
              <a:rPr lang="es-ES" sz="2400" dirty="0"/>
              <a:t> entre el dispositivo y nosotros, se chequea la posición en </a:t>
            </a:r>
            <a:r>
              <a:rPr lang="es-ES" sz="2400"/>
              <a:t>el tiempo.</a:t>
            </a:r>
          </a:p>
          <a:p>
            <a:pPr algn="ctr"/>
            <a:r>
              <a:rPr lang="es-ES" sz="2400"/>
              <a:t>Si no hay corrientes es que no se está tocando</a:t>
            </a:r>
            <a:endParaRPr lang="es-ES" sz="2400" dirty="0"/>
          </a:p>
        </p:txBody>
      </p:sp>
      <p:sp>
        <p:nvSpPr>
          <p:cNvPr id="30747" name="CuadroTexto 2"/>
          <p:cNvSpPr txBox="1">
            <a:spLocks noChangeArrowheads="1"/>
          </p:cNvSpPr>
          <p:nvPr/>
        </p:nvSpPr>
        <p:spPr bwMode="auto">
          <a:xfrm>
            <a:off x="7607371" y="1714224"/>
            <a:ext cx="193969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r>
              <a:rPr lang="es-ES" sz="2400" dirty="0">
                <a:solidFill>
                  <a:srgbClr val="008000"/>
                </a:solidFill>
              </a:rPr>
              <a:t>Aislante transparente</a:t>
            </a:r>
          </a:p>
        </p:txBody>
      </p:sp>
      <p:sp>
        <p:nvSpPr>
          <p:cNvPr id="30748" name="CuadroTexto 28"/>
          <p:cNvSpPr txBox="1">
            <a:spLocks noChangeArrowheads="1"/>
          </p:cNvSpPr>
          <p:nvPr/>
        </p:nvSpPr>
        <p:spPr bwMode="auto">
          <a:xfrm>
            <a:off x="2261816" y="1554473"/>
            <a:ext cx="196764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s-ES" sz="2400" dirty="0">
                <a:solidFill>
                  <a:srgbClr val="008000"/>
                </a:solidFill>
              </a:rPr>
              <a:t>Conductor transparente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851967"/>
      </p:ext>
    </p:extLst>
  </p:cSld>
  <p:clrMapOvr>
    <a:masterClrMapping/>
  </p:clrMapOvr>
</p:sld>
</file>

<file path=ppt/theme/theme1.xml><?xml version="1.0" encoding="utf-8"?>
<a:theme xmlns:a="http://schemas.openxmlformats.org/drawingml/2006/main" name="FNT_2012_TEMA1_1">
  <a:themeElements>
    <a:clrScheme name="FNT_2012_TEMA1_1 1">
      <a:dk1>
        <a:srgbClr val="000000"/>
      </a:dk1>
      <a:lt1>
        <a:srgbClr val="FEFDE3"/>
      </a:lt1>
      <a:dk2>
        <a:srgbClr val="221304"/>
      </a:dk2>
      <a:lt2>
        <a:srgbClr val="CBBD83"/>
      </a:lt2>
      <a:accent1>
        <a:srgbClr val="A1BD69"/>
      </a:accent1>
      <a:accent2>
        <a:srgbClr val="3694B6"/>
      </a:accent2>
      <a:accent3>
        <a:srgbClr val="FEFEEF"/>
      </a:accent3>
      <a:accent4>
        <a:srgbClr val="000000"/>
      </a:accent4>
      <a:accent5>
        <a:srgbClr val="CDDBB9"/>
      </a:accent5>
      <a:accent6>
        <a:srgbClr val="3086A5"/>
      </a:accent6>
      <a:hlink>
        <a:srgbClr val="660066"/>
      </a:hlink>
      <a:folHlink>
        <a:srgbClr val="666699"/>
      </a:folHlink>
    </a:clrScheme>
    <a:fontScheme name="FNT_2012_TEMA1_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vert="horz" wrap="none" lIns="90000" tIns="82800" rIns="90000" bIns="8280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s-E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NT_2012_TEMA1_1 1">
        <a:dk1>
          <a:srgbClr val="000000"/>
        </a:dk1>
        <a:lt1>
          <a:srgbClr val="FEFDE3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EFEE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2">
        <a:dk1>
          <a:srgbClr val="000000"/>
        </a:dk1>
        <a:lt1>
          <a:srgbClr val="FFFFFF"/>
        </a:lt1>
        <a:dk2>
          <a:srgbClr val="221304"/>
        </a:dk2>
        <a:lt2>
          <a:srgbClr val="CBBD83"/>
        </a:lt2>
        <a:accent1>
          <a:srgbClr val="A1BD69"/>
        </a:accent1>
        <a:accent2>
          <a:srgbClr val="3694B6"/>
        </a:accent2>
        <a:accent3>
          <a:srgbClr val="FFFFFF"/>
        </a:accent3>
        <a:accent4>
          <a:srgbClr val="000000"/>
        </a:accent4>
        <a:accent5>
          <a:srgbClr val="CDDBB9"/>
        </a:accent5>
        <a:accent6>
          <a:srgbClr val="3086A5"/>
        </a:accent6>
        <a:hlink>
          <a:srgbClr val="6600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NT_2012_TEMA1_1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FNT_2012_TEMA1_1</Template>
  <TotalTime>15416</TotalTime>
  <Words>1055</Words>
  <Application>Microsoft Office PowerPoint</Application>
  <PresentationFormat>Personalizado</PresentationFormat>
  <Paragraphs>191</Paragraphs>
  <Slides>10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Comic Sans MS</vt:lpstr>
      <vt:lpstr>Symbol</vt:lpstr>
      <vt:lpstr>Times New Roman</vt:lpstr>
      <vt:lpstr>Trebuchet MS</vt:lpstr>
      <vt:lpstr>FNT_2012_TEMA1_1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FÍSICA</dc:creator>
  <cp:lastModifiedBy>Jose Enrique Martin Dominguez</cp:lastModifiedBy>
  <cp:revision>2198</cp:revision>
  <dcterms:created xsi:type="dcterms:W3CDTF">2012-02-20T13:06:36Z</dcterms:created>
  <dcterms:modified xsi:type="dcterms:W3CDTF">2024-12-03T13:08:05Z</dcterms:modified>
</cp:coreProperties>
</file>