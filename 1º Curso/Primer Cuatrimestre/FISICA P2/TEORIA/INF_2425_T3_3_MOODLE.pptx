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316" r:id="rId2"/>
    <p:sldId id="554" r:id="rId3"/>
    <p:sldId id="475" r:id="rId4"/>
    <p:sldId id="476" r:id="rId5"/>
    <p:sldId id="515" r:id="rId6"/>
    <p:sldId id="478" r:id="rId7"/>
    <p:sldId id="479" r:id="rId8"/>
    <p:sldId id="480" r:id="rId9"/>
    <p:sldId id="499" r:id="rId10"/>
    <p:sldId id="555" r:id="rId11"/>
    <p:sldId id="500" r:id="rId12"/>
    <p:sldId id="481" r:id="rId13"/>
    <p:sldId id="511" r:id="rId14"/>
    <p:sldId id="512" r:id="rId15"/>
    <p:sldId id="556" r:id="rId16"/>
    <p:sldId id="558" r:id="rId17"/>
    <p:sldId id="449" r:id="rId18"/>
    <p:sldId id="513" r:id="rId19"/>
    <p:sldId id="450" r:id="rId20"/>
    <p:sldId id="508" r:id="rId21"/>
    <p:sldId id="442" r:id="rId22"/>
    <p:sldId id="502" r:id="rId23"/>
    <p:sldId id="496" r:id="rId24"/>
    <p:sldId id="505" r:id="rId25"/>
    <p:sldId id="466" r:id="rId26"/>
    <p:sldId id="559" r:id="rId27"/>
    <p:sldId id="506" r:id="rId28"/>
    <p:sldId id="483" r:id="rId29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333FF"/>
    <a:srgbClr val="CCFFCC"/>
    <a:srgbClr val="FFCC99"/>
    <a:srgbClr val="FFFFFF"/>
    <a:srgbClr val="FF99CC"/>
    <a:srgbClr val="FFFF99"/>
    <a:srgbClr val="666699"/>
    <a:srgbClr val="99CC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9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600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0949789-E993-4C46-A109-4E785A4611F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432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14385FA-8C4A-43C1-BBBF-712227AC989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59352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E0A0BC-F811-4045-8064-0B1AEB364934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56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3108FE-A973-4343-BA67-33DCFBEB6E87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sz="800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628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77757F-C7FE-44EF-A776-3EACE8092B19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831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77757F-C7FE-44EF-A776-3EACE8092B19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066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77757F-C7FE-44EF-A776-3EACE8092B19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0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B9A3B6-1A99-4BF0-8E39-BD745D1A655E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39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BAB5C4-0CF6-4885-A44C-7F79B1799EA0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748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0E36DD-C240-4A31-86BD-81A49F393902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106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CEC39A-463E-4F27-A045-0F80DA54B68E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579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CEC39A-463E-4F27-A045-0F80DA54B68E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301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D2CAE9-96B9-40D2-8480-FD9E6193B95F}" type="slidenum">
              <a:rPr lang="es-ES" b="0"/>
              <a:pPr algn="r" eaLnBrk="1" hangingPunct="1">
                <a:spcBef>
                  <a:spcPct val="0"/>
                </a:spcBef>
              </a:pPr>
              <a:t>11</a:t>
            </a:fld>
            <a:endParaRPr lang="es-ES" b="0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880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D2CAE9-96B9-40D2-8480-FD9E6193B95F}" type="slidenum">
              <a:rPr lang="es-ES" b="0"/>
              <a:pPr algn="r" eaLnBrk="1" hangingPunct="1">
                <a:spcBef>
                  <a:spcPct val="0"/>
                </a:spcBef>
              </a:pPr>
              <a:t>12</a:t>
            </a:fld>
            <a:endParaRPr lang="es-ES" b="0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99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4441E4-66E5-41D3-84D6-FACB275459F7}" type="slidenum">
              <a:rPr lang="es-ES" b="0"/>
              <a:pPr algn="r" eaLnBrk="1" hangingPunct="1">
                <a:spcBef>
                  <a:spcPct val="0"/>
                </a:spcBef>
              </a:pPr>
              <a:t>13</a:t>
            </a:fld>
            <a:endParaRPr lang="es-ES" b="0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384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 b="0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4441E4-66E5-41D3-84D6-FACB275459F7}" type="slidenum">
              <a:rPr lang="es-ES" b="0"/>
              <a:pPr algn="r" eaLnBrk="1" hangingPunct="1">
                <a:spcBef>
                  <a:spcPct val="0"/>
                </a:spcBef>
              </a:pPr>
              <a:t>14</a:t>
            </a:fld>
            <a:endParaRPr lang="es-ES" b="0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733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A76AC4-EFD7-430C-8ABF-2F55534CCAE1}" type="slidenum">
              <a:rPr lang="es-ES" smtClean="0"/>
              <a:pPr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640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9AA8-55BE-078A-9BFB-72F3F126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1B3F8E8-C9BC-61DB-D38B-ECF7C33A64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5DFE5F19-1CD9-4FA2-0883-D434C146460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002A2E38-CF2C-9CDD-D8A8-AE80497E3D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A76AC4-EFD7-430C-8ABF-2F55534CCAE1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DB2C9759-C541-B5E4-3B96-A3D4229541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FBF30D20-80D4-5DFD-2B21-8C95A6D41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149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A0BA43-8652-450B-B500-869B6237F3CD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68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A0BA43-8652-450B-B500-869B6237F3CD}" type="slidenum">
              <a:rPr lang="es-ES" smtClean="0"/>
              <a:pPr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026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BB990D-7193-48AF-B045-B46342E45DFF}" type="slidenum">
              <a:rPr lang="es-ES" smtClean="0"/>
              <a:pPr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45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BB990D-7193-48AF-B045-B46342E45DFF}" type="slidenum">
              <a:rPr lang="es-ES" smtClean="0"/>
              <a:pPr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01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F4219C-F798-4593-A7F5-C8D580EFDDBE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658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F4219C-F798-4593-A7F5-C8D580EFDDBE}" type="slidenum">
              <a:rPr lang="es-ES" smtClean="0"/>
              <a:pPr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73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F4219C-F798-4593-A7F5-C8D580EFDDBE}" type="slidenum">
              <a:rPr lang="es-ES" smtClean="0"/>
              <a:pPr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8596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8910A1-FFCF-476D-956D-D8EBC85A90ED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9809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7E44C7-EBCB-4993-B342-A07B3FF1186E}" type="slidenum">
              <a:rPr lang="es-ES" smtClean="0"/>
              <a:pPr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68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50BC11-B85B-4AA5-AB84-4632901BF765}" type="slidenum">
              <a:rPr lang="es-ES" smtClean="0"/>
              <a:pPr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47376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50BC11-B85B-4AA5-AB84-4632901BF765}" type="slidenum">
              <a:rPr lang="es-ES" smtClean="0"/>
              <a:pPr>
                <a:spcBef>
                  <a:spcPct val="0"/>
                </a:spcBef>
              </a:pPr>
              <a:t>27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522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0CE1F-0F78-4A57-92BE-21B4184492F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11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F92F6-EA4B-40A3-A10D-F1115B43AFC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42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8BDAF-6B1B-40E6-9E15-E327779507F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863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93359-98C1-4FC5-94C2-394306433DF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664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973B5-D093-4B28-80A0-348A15FB3BE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98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D0760-F7B3-40E6-A1FC-74BD9D9924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99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D2D51-6F8C-4A4B-B295-8F220C90D11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31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00CAA-506F-4290-A27B-961702B0DCE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423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85586-E1DD-43F0-9E62-BA723F6599A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30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D36D9-9E67-4954-99BB-FDAFC7283F7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722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6408B-38CE-466B-BFCE-28E156DA540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4374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3A5D7-552D-48F4-B3F2-F393EC061A1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03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 eaLnBrk="0" hangingPunct="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D4F4A6F-7511-4DEA-9C85-D61742769B2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30"/>
          <p:cNvSpPr txBox="1">
            <a:spLocks noChangeArrowheads="1"/>
          </p:cNvSpPr>
          <p:nvPr/>
        </p:nvSpPr>
        <p:spPr bwMode="auto">
          <a:xfrm>
            <a:off x="2838450" y="3221038"/>
            <a:ext cx="5816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CONDENSADORES Y DIELÉCTRICOS</a:t>
            </a:r>
          </a:p>
        </p:txBody>
      </p:sp>
      <p:sp>
        <p:nvSpPr>
          <p:cNvPr id="7171" name="Text Box 1031"/>
          <p:cNvSpPr txBox="1">
            <a:spLocks noChangeArrowheads="1"/>
          </p:cNvSpPr>
          <p:nvPr/>
        </p:nvSpPr>
        <p:spPr bwMode="auto">
          <a:xfrm>
            <a:off x="5311775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(3/4)</a:t>
            </a:r>
          </a:p>
        </p:txBody>
      </p:sp>
      <p:sp>
        <p:nvSpPr>
          <p:cNvPr id="7172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TEMA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5">
            <a:extLst>
              <a:ext uri="{FF2B5EF4-FFF2-40B4-BE49-F238E27FC236}">
                <a16:creationId xmlns:a16="http://schemas.microsoft.com/office/drawing/2014/main" id="{339F2560-76A3-4F53-9E40-CF08C43CB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791" y="4639447"/>
            <a:ext cx="8169501" cy="7920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741FFC9-CDF0-4FCB-9923-150F6AC6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144" y="573423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22" name="Rectangle 25"/>
          <p:cNvSpPr>
            <a:spLocks noChangeArrowheads="1"/>
          </p:cNvSpPr>
          <p:nvPr/>
        </p:nvSpPr>
        <p:spPr bwMode="auto">
          <a:xfrm>
            <a:off x="2230438" y="3527489"/>
            <a:ext cx="5570184" cy="7920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1476148" y="4656545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466623" y="24573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466623" y="3545748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1466623" y="13524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1543050" y="464231"/>
            <a:ext cx="8428038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TEMA 3: CONDENSADORES Y DIELÉCTRICOS</a:t>
            </a:r>
          </a:p>
        </p:txBody>
      </p:sp>
      <p:sp>
        <p:nvSpPr>
          <p:cNvPr id="13320" name="Rectangle 14"/>
          <p:cNvSpPr>
            <a:spLocks noChangeArrowheads="1"/>
          </p:cNvSpPr>
          <p:nvPr/>
        </p:nvSpPr>
        <p:spPr bwMode="auto">
          <a:xfrm>
            <a:off x="1444398" y="1311139"/>
            <a:ext cx="708025" cy="4901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3.4.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3.5.</a:t>
            </a:r>
          </a:p>
        </p:txBody>
      </p:sp>
      <p:sp>
        <p:nvSpPr>
          <p:cNvPr id="13321" name="Rectangle 15"/>
          <p:cNvSpPr>
            <a:spLocks noChangeArrowheads="1"/>
          </p:cNvSpPr>
          <p:nvPr/>
        </p:nvSpPr>
        <p:spPr bwMode="auto">
          <a:xfrm>
            <a:off x="2248126" y="1311134"/>
            <a:ext cx="8340851" cy="564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Carga, Campo y Potencial en Conductores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 Equilibrio Electrostático.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Capacidad de un Conductor. Conexión de conductores, a tierra, Jaula de Faraday. Capacidad de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Energía Eléctrica almacenada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un Conductor y en un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Circuitos en Equilibrio. Asociación de Condensadores.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Asociación en Serie. Asociación en Paralelo.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Dipolos Eléctricos. Clases de Dieléctricos. Caracterización de un Dieléctrico.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Condensadores y Dieléctricos.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611967" y="1042052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b="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 b="0">
                <a:solidFill>
                  <a:srgbClr val="FFFFFF"/>
                </a:solidFill>
                <a:latin typeface="Trebuchet MS" panose="020B0603020202020204" pitchFamily="34" charset="0"/>
              </a:rPr>
              <a:t>: 24/10/24</a:t>
            </a:r>
            <a:endParaRPr lang="es-ES" sz="2400" b="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b="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 b="0">
                <a:solidFill>
                  <a:srgbClr val="FFFFFF"/>
                </a:solidFill>
                <a:latin typeface="Trebuchet MS" panose="020B0603020202020204" pitchFamily="34" charset="0"/>
              </a:rPr>
              <a:t>: 23/10/24</a:t>
            </a:r>
            <a:endParaRPr lang="es-ES" sz="2400" b="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b="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 b="0">
                <a:solidFill>
                  <a:srgbClr val="FFFFFF"/>
                </a:solidFill>
                <a:latin typeface="Trebuchet MS" panose="020B0603020202020204" pitchFamily="34" charset="0"/>
              </a:rPr>
              <a:t>: 23/10/24</a:t>
            </a:r>
            <a:endParaRPr lang="es-ES" sz="2400" b="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322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303541" y="377091"/>
            <a:ext cx="86518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3.3. ENERGÍA ELÉCTRICA ALMACENADA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       UN CONDUCTOR Y EN UN CONDENSADOR</a:t>
            </a: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334312" y="1528936"/>
            <a:ext cx="4051300" cy="2341932"/>
            <a:chOff x="1334314" y="1461091"/>
            <a:chExt cx="4051302" cy="2340424"/>
          </a:xfrm>
        </p:grpSpPr>
        <p:pic>
          <p:nvPicPr>
            <p:cNvPr id="11281" name="Picture 12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184" y="1829182"/>
              <a:ext cx="439738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2" name="Picture 12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6871" y="2069530"/>
              <a:ext cx="449263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3" name="Picture 12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539" y="2435480"/>
              <a:ext cx="449263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4" name="Picture 13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6884" y="2875472"/>
              <a:ext cx="439738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85" name="Text Box 131"/>
            <p:cNvSpPr txBox="1">
              <a:spLocks noChangeArrowheads="1"/>
            </p:cNvSpPr>
            <p:nvPr/>
          </p:nvSpPr>
          <p:spPr bwMode="auto">
            <a:xfrm>
              <a:off x="3122996" y="1675195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86" name="Text Box 132"/>
            <p:cNvSpPr txBox="1">
              <a:spLocks noChangeArrowheads="1"/>
            </p:cNvSpPr>
            <p:nvPr/>
          </p:nvSpPr>
          <p:spPr bwMode="auto">
            <a:xfrm>
              <a:off x="4532634" y="2210817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latin typeface="Arial" panose="020B0604020202020204" pitchFamily="34" charset="0"/>
                </a:rPr>
                <a:t>2</a:t>
              </a:r>
              <a:endParaRPr lang="es-ES" sz="2400" b="0">
                <a:latin typeface="Arial" panose="020B0604020202020204" pitchFamily="34" charset="0"/>
              </a:endParaRPr>
            </a:p>
          </p:txBody>
        </p:sp>
        <p:sp>
          <p:nvSpPr>
            <p:cNvPr id="11287" name="Text Box 133"/>
            <p:cNvSpPr txBox="1">
              <a:spLocks noChangeArrowheads="1"/>
            </p:cNvSpPr>
            <p:nvPr/>
          </p:nvSpPr>
          <p:spPr bwMode="auto">
            <a:xfrm>
              <a:off x="1612902" y="2727580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88" name="Text Box 134"/>
            <p:cNvSpPr txBox="1">
              <a:spLocks noChangeArrowheads="1"/>
            </p:cNvSpPr>
            <p:nvPr/>
          </p:nvSpPr>
          <p:spPr bwMode="auto">
            <a:xfrm>
              <a:off x="3640585" y="3046922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89" name="Rectangle 138"/>
            <p:cNvSpPr>
              <a:spLocks noChangeArrowheads="1"/>
            </p:cNvSpPr>
            <p:nvPr/>
          </p:nvSpPr>
          <p:spPr bwMode="auto">
            <a:xfrm>
              <a:off x="1334314" y="1461091"/>
              <a:ext cx="4051302" cy="2340424"/>
            </a:xfrm>
            <a:prstGeom prst="rect">
              <a:avLst/>
            </a:prstGeom>
            <a:noFill/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279" name="Text Box 149"/>
          <p:cNvSpPr txBox="1">
            <a:spLocks noChangeArrowheads="1"/>
          </p:cNvSpPr>
          <p:nvPr/>
        </p:nvSpPr>
        <p:spPr bwMode="auto">
          <a:xfrm>
            <a:off x="7058354" y="3280818"/>
            <a:ext cx="2196733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b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Por ejemplo q</a:t>
            </a:r>
            <a:r>
              <a:rPr lang="es-ES" sz="2400" b="0" baseline="-25000">
                <a:latin typeface="Arial" panose="020B0604020202020204" pitchFamily="34" charset="0"/>
              </a:rPr>
              <a:t>2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11280" name="Text Box 150"/>
          <p:cNvSpPr txBox="1">
            <a:spLocks noChangeArrowheads="1"/>
          </p:cNvSpPr>
          <p:nvPr/>
        </p:nvSpPr>
        <p:spPr bwMode="auto">
          <a:xfrm>
            <a:off x="6382737" y="2478023"/>
            <a:ext cx="3413124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8000"/>
                </a:solidFill>
                <a:latin typeface="Arial" panose="020B0604020202020204" pitchFamily="34" charset="0"/>
              </a:rPr>
              <a:t>Una parte del sistema</a:t>
            </a:r>
          </a:p>
        </p:txBody>
      </p:sp>
      <p:sp>
        <p:nvSpPr>
          <p:cNvPr id="241824" name="Text Box 160"/>
          <p:cNvSpPr txBox="1">
            <a:spLocks noChangeArrowheads="1"/>
          </p:cNvSpPr>
          <p:nvPr/>
        </p:nvSpPr>
        <p:spPr bwMode="auto">
          <a:xfrm>
            <a:off x="2532790" y="5975926"/>
            <a:ext cx="6475019" cy="65966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 b="0" dirty="0" err="1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3200" b="1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3200" b="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eléctrica</a:t>
            </a:r>
            <a:r>
              <a:rPr lang="es-ES" sz="32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conservativa</a:t>
            </a:r>
            <a:r>
              <a:rPr lang="es-ES" sz="3200" b="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32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E</a:t>
            </a:r>
            <a:r>
              <a:rPr lang="es-ES" sz="32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32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q</a:t>
            </a:r>
            <a:r>
              <a:rPr lang="es-ES" sz="32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32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V</a:t>
            </a:r>
          </a:p>
        </p:txBody>
      </p:sp>
      <p:sp>
        <p:nvSpPr>
          <p:cNvPr id="31" name="Text Box 155"/>
          <p:cNvSpPr txBox="1">
            <a:spLocks noChangeArrowheads="1"/>
          </p:cNvSpPr>
          <p:nvPr/>
        </p:nvSpPr>
        <p:spPr bwMode="auto">
          <a:xfrm>
            <a:off x="1617765" y="4326576"/>
            <a:ext cx="8283208" cy="132610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Al estudiar el movimiento de q</a:t>
            </a:r>
            <a:r>
              <a:rPr lang="es-ES" sz="2400" b="0" baseline="-25000" dirty="0">
                <a:latin typeface="Arial" panose="020B0604020202020204" pitchFamily="34" charset="0"/>
              </a:rPr>
              <a:t>2</a:t>
            </a:r>
            <a:r>
              <a:rPr lang="es-ES" sz="2400" b="0" dirty="0">
                <a:latin typeface="Arial" panose="020B0604020202020204" pitchFamily="34" charset="0"/>
              </a:rPr>
              <a:t>, para evaluar el W del resto sobre ella, la E</a:t>
            </a:r>
            <a:r>
              <a:rPr lang="es-ES" sz="2400" b="0" baseline="-25000" dirty="0">
                <a:latin typeface="Arial" panose="020B0604020202020204" pitchFamily="34" charset="0"/>
              </a:rPr>
              <a:t>P</a:t>
            </a:r>
            <a:r>
              <a:rPr lang="es-ES" sz="2400" b="0" dirty="0">
                <a:latin typeface="Arial" panose="020B0604020202020204" pitchFamily="34" charset="0"/>
              </a:rPr>
              <a:t> o el V resultan útiles si la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0" dirty="0">
                <a:latin typeface="Arial" panose="020B0604020202020204" pitchFamily="34" charset="0"/>
              </a:rPr>
              <a:t> que le ejercen es conservativa, o si parte de ella lo es, ya que:</a:t>
            </a:r>
          </a:p>
        </p:txBody>
      </p: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5953038" y="1562941"/>
            <a:ext cx="428623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b="0" dirty="0"/>
              <a:t>La energía potencial eléctrica aparece al considerar:</a:t>
            </a:r>
          </a:p>
        </p:txBody>
      </p:sp>
    </p:spTree>
    <p:extLst>
      <p:ext uri="{BB962C8B-B14F-4D97-AF65-F5344CB8AC3E}">
        <p14:creationId xmlns:p14="http://schemas.microsoft.com/office/powerpoint/2010/main" val="14326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24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9" grpId="0" animBg="1"/>
      <p:bldP spid="11280" grpId="0"/>
      <p:bldP spid="241824" grpId="0" animBg="1"/>
      <p:bldP spid="31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48"/>
          <p:cNvSpPr txBox="1">
            <a:spLocks noChangeArrowheads="1"/>
          </p:cNvSpPr>
          <p:nvPr/>
        </p:nvSpPr>
        <p:spPr bwMode="auto">
          <a:xfrm>
            <a:off x="6568500" y="2433407"/>
            <a:ext cx="2688887" cy="90588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Porque tiene asociada una E</a:t>
            </a:r>
            <a:r>
              <a:rPr lang="es-ES" sz="2400" b="0" baseline="-25000" dirty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21" name="Text Box 150"/>
          <p:cNvSpPr txBox="1">
            <a:spLocks noChangeArrowheads="1"/>
          </p:cNvSpPr>
          <p:nvPr/>
        </p:nvSpPr>
        <p:spPr bwMode="auto">
          <a:xfrm>
            <a:off x="6223839" y="1688624"/>
            <a:ext cx="3391197" cy="536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El sistema completo</a:t>
            </a:r>
          </a:p>
        </p:txBody>
      </p:sp>
      <p:sp>
        <p:nvSpPr>
          <p:cNvPr id="22" name="Text Box 158"/>
          <p:cNvSpPr txBox="1">
            <a:spLocks noChangeArrowheads="1"/>
          </p:cNvSpPr>
          <p:nvPr/>
        </p:nvSpPr>
        <p:spPr bwMode="auto">
          <a:xfrm>
            <a:off x="1243254" y="4101850"/>
            <a:ext cx="9065352" cy="132610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Se deduce al estudiar </a:t>
            </a:r>
            <a:r>
              <a:rPr lang="es-ES" sz="2400" b="0" dirty="0">
                <a:latin typeface="Arial" panose="020B0604020202020204" pitchFamily="34" charset="0"/>
              </a:rPr>
              <a:t>la evolución del sistema desde </a:t>
            </a:r>
            <a:r>
              <a:rPr lang="es-ES" sz="2400" b="0">
                <a:latin typeface="Arial" panose="020B0604020202020204" pitchFamily="34" charset="0"/>
              </a:rPr>
              <a:t>el reposo. Como </a:t>
            </a:r>
            <a:r>
              <a:rPr lang="es-ES" sz="2400" b="0" dirty="0">
                <a:latin typeface="Arial" panose="020B0604020202020204" pitchFamily="34" charset="0"/>
              </a:rPr>
              <a:t>el conjunto de cargas </a:t>
            </a:r>
            <a:r>
              <a:rPr lang="es-ES" sz="2400" b="0">
                <a:latin typeface="Arial" panose="020B0604020202020204" pitchFamily="34" charset="0"/>
              </a:rPr>
              <a:t>gana 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debido a su interacción eléctrica conservativa (por estar fijas), se concluye que: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23" name="Text Box 170"/>
          <p:cNvSpPr txBox="1">
            <a:spLocks noChangeArrowheads="1"/>
          </p:cNvSpPr>
          <p:nvPr/>
        </p:nvSpPr>
        <p:spPr bwMode="auto">
          <a:xfrm>
            <a:off x="1515982" y="5565496"/>
            <a:ext cx="8484284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El sistema debe poseer energía potencial de tipo eléctrico, ya que la energía de un sistema aislado, ni se crea,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ni se destruye, sólo se transforma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78D5FBE-D1F9-CEE3-1069-53D7B7D846D9}"/>
              </a:ext>
            </a:extLst>
          </p:cNvPr>
          <p:cNvGrpSpPr>
            <a:grpSpLocks/>
          </p:cNvGrpSpPr>
          <p:nvPr/>
        </p:nvGrpSpPr>
        <p:grpSpPr bwMode="auto">
          <a:xfrm>
            <a:off x="1334312" y="1528936"/>
            <a:ext cx="4051300" cy="2341932"/>
            <a:chOff x="1334314" y="1461091"/>
            <a:chExt cx="4051302" cy="2340424"/>
          </a:xfrm>
        </p:grpSpPr>
        <p:pic>
          <p:nvPicPr>
            <p:cNvPr id="4" name="Picture 127">
              <a:extLst>
                <a:ext uri="{FF2B5EF4-FFF2-40B4-BE49-F238E27FC236}">
                  <a16:creationId xmlns:a16="http://schemas.microsoft.com/office/drawing/2014/main" id="{F77F3CB0-B9AB-B018-485A-33A0F7434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184" y="1829182"/>
              <a:ext cx="439738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128">
              <a:extLst>
                <a:ext uri="{FF2B5EF4-FFF2-40B4-BE49-F238E27FC236}">
                  <a16:creationId xmlns:a16="http://schemas.microsoft.com/office/drawing/2014/main" id="{FEA08126-1298-5245-7BB5-47FC8538DC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6871" y="2069530"/>
              <a:ext cx="449263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29">
              <a:extLst>
                <a:ext uri="{FF2B5EF4-FFF2-40B4-BE49-F238E27FC236}">
                  <a16:creationId xmlns:a16="http://schemas.microsoft.com/office/drawing/2014/main" id="{45795B35-69EF-AABC-1FE3-B00BFEB2E1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539" y="2435480"/>
              <a:ext cx="449263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30">
              <a:extLst>
                <a:ext uri="{FF2B5EF4-FFF2-40B4-BE49-F238E27FC236}">
                  <a16:creationId xmlns:a16="http://schemas.microsoft.com/office/drawing/2014/main" id="{4246D794-0CE8-0573-9681-B61222F7DA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6884" y="2875472"/>
              <a:ext cx="439738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31">
              <a:extLst>
                <a:ext uri="{FF2B5EF4-FFF2-40B4-BE49-F238E27FC236}">
                  <a16:creationId xmlns:a16="http://schemas.microsoft.com/office/drawing/2014/main" id="{8DD73554-5896-22DE-CCE9-046A6810E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2996" y="1675195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Text Box 132">
              <a:extLst>
                <a:ext uri="{FF2B5EF4-FFF2-40B4-BE49-F238E27FC236}">
                  <a16:creationId xmlns:a16="http://schemas.microsoft.com/office/drawing/2014/main" id="{0A35A9C1-DA6D-04BB-16EB-ECF6D7339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2634" y="2210817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latin typeface="Arial" panose="020B0604020202020204" pitchFamily="34" charset="0"/>
                </a:rPr>
                <a:t>2</a:t>
              </a:r>
              <a:endParaRPr lang="es-ES" sz="2400" b="0">
                <a:latin typeface="Arial" panose="020B0604020202020204" pitchFamily="34" charset="0"/>
              </a:endParaRPr>
            </a:p>
          </p:txBody>
        </p:sp>
        <p:sp>
          <p:nvSpPr>
            <p:cNvPr id="11" name="Text Box 133">
              <a:extLst>
                <a:ext uri="{FF2B5EF4-FFF2-40B4-BE49-F238E27FC236}">
                  <a16:creationId xmlns:a16="http://schemas.microsoft.com/office/drawing/2014/main" id="{1F86A4B7-453D-422F-53EC-DB665BEB9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2902" y="2727580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Text Box 134">
              <a:extLst>
                <a:ext uri="{FF2B5EF4-FFF2-40B4-BE49-F238E27FC236}">
                  <a16:creationId xmlns:a16="http://schemas.microsoft.com/office/drawing/2014/main" id="{11932502-A426-D5AE-052F-314F47617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585" y="3046922"/>
              <a:ext cx="467092" cy="46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Rectangle 138">
              <a:extLst>
                <a:ext uri="{FF2B5EF4-FFF2-40B4-BE49-F238E27FC236}">
                  <a16:creationId xmlns:a16="http://schemas.microsoft.com/office/drawing/2014/main" id="{D17FE9B8-9CEC-DFA0-FAAB-EDF911021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314" y="1461091"/>
              <a:ext cx="4051302" cy="2340424"/>
            </a:xfrm>
            <a:prstGeom prst="rect">
              <a:avLst/>
            </a:prstGeom>
            <a:noFill/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1FF8A1-144A-1047-85C4-CA3A45A67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433" y="747610"/>
            <a:ext cx="8972173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b="0" dirty="0"/>
              <a:t>La energía potencial eléctrica aparece, también, si se considera:</a:t>
            </a:r>
          </a:p>
        </p:txBody>
      </p:sp>
    </p:spTree>
    <p:extLst>
      <p:ext uri="{BB962C8B-B14F-4D97-AF65-F5344CB8AC3E}">
        <p14:creationId xmlns:p14="http://schemas.microsoft.com/office/powerpoint/2010/main" val="117409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161"/>
          <p:cNvSpPr txBox="1">
            <a:spLocks noChangeArrowheads="1"/>
          </p:cNvSpPr>
          <p:nvPr/>
        </p:nvSpPr>
        <p:spPr bwMode="auto">
          <a:xfrm>
            <a:off x="1384807" y="1133467"/>
            <a:ext cx="8754894" cy="171724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FFFFFF"/>
                </a:solidFill>
                <a:latin typeface="Arial" panose="020B0604020202020204" pitchFamily="34" charset="0"/>
              </a:rPr>
              <a:t>La energía potencial eléctrica almacenada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por el sistema,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por la </a:t>
            </a:r>
            <a:r>
              <a:rPr lang="es-ES" sz="2400" b="0" dirty="0">
                <a:solidFill>
                  <a:srgbClr val="FFFFFF"/>
                </a:solidFill>
                <a:latin typeface="Arial" panose="020B0604020202020204" pitchFamily="34" charset="0"/>
              </a:rPr>
              <a:t>distribución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de carga, </a:t>
            </a:r>
            <a:r>
              <a:rPr lang="es-ES" sz="2400" b="0" dirty="0">
                <a:solidFill>
                  <a:srgbClr val="FFFFFF"/>
                </a:solidFill>
                <a:latin typeface="Arial" panose="020B0604020202020204" pitchFamily="34" charset="0"/>
              </a:rPr>
              <a:t>es igual al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trabajo necesario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para construirla trayendo una carga  tras otra desde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el infinito hasta su posición dejándola en reposo</a:t>
            </a:r>
            <a:endParaRPr lang="es-ES" sz="2400" b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1387177" y="3096073"/>
            <a:ext cx="8754894" cy="20138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4000" tIns="82800" rIns="144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 cada paso hay que ejercer una fuerza igual pero de sentido contrario a la que, de tipo conservativo, ejerce el sistema de cargas fijas ya construido. Hay que realizar el </a:t>
            </a:r>
            <a:r>
              <a:rPr lang="es-ES" sz="2400" b="0">
                <a:latin typeface="Arial" panose="020B0604020202020204" pitchFamily="34" charset="0"/>
              </a:rPr>
              <a:t>mismo trabajo, </a:t>
            </a:r>
            <a:r>
              <a:rPr lang="es-ES" sz="2400" b="0" dirty="0">
                <a:latin typeface="Arial" panose="020B0604020202020204" pitchFamily="34" charset="0"/>
              </a:rPr>
              <a:t>pero con signo contrario: detener la carga, si la atrae el sistema, o traerla, si </a:t>
            </a:r>
            <a:r>
              <a:rPr lang="es-ES" sz="2400" b="0">
                <a:latin typeface="Arial" panose="020B0604020202020204" pitchFamily="34" charset="0"/>
              </a:rPr>
              <a:t>la repele</a:t>
            </a:r>
            <a:endParaRPr lang="es-ES" sz="2400" b="0" baseline="-25000" dirty="0">
              <a:latin typeface="Arial" panose="020B0604020202020204" pitchFamily="34" charset="0"/>
            </a:endParaRPr>
          </a:p>
        </p:txBody>
      </p:sp>
      <p:sp>
        <p:nvSpPr>
          <p:cNvPr id="29" name="Rectángulo 33"/>
          <p:cNvSpPr>
            <a:spLocks noChangeArrowheads="1"/>
          </p:cNvSpPr>
          <p:nvPr/>
        </p:nvSpPr>
        <p:spPr bwMode="auto">
          <a:xfrm>
            <a:off x="8317504" y="6132527"/>
            <a:ext cx="1252988" cy="649224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lIns="90000" tIns="82800" rIns="90000" bIns="82800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 b="0"/>
          </a:p>
        </p:txBody>
      </p:sp>
      <p:sp>
        <p:nvSpPr>
          <p:cNvPr id="30" name="Rectángulo 6"/>
          <p:cNvSpPr>
            <a:spLocks noChangeArrowheads="1"/>
          </p:cNvSpPr>
          <p:nvPr/>
        </p:nvSpPr>
        <p:spPr bwMode="auto">
          <a:xfrm>
            <a:off x="2217970" y="5344027"/>
            <a:ext cx="1670749" cy="687981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 b="0"/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2217970" y="5428398"/>
            <a:ext cx="342920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W</a:t>
            </a:r>
            <a:r>
              <a:rPr lang="es-ES" sz="2400" b="0" baseline="-25000" dirty="0">
                <a:latin typeface="Arial" panose="020B0604020202020204" pitchFamily="34" charset="0"/>
              </a:rPr>
              <a:t>EXTERIOR</a:t>
            </a:r>
            <a:r>
              <a:rPr lang="es-ES" sz="2400" b="0" dirty="0">
                <a:latin typeface="Arial" panose="020B0604020202020204" pitchFamily="34" charset="0"/>
              </a:rPr>
              <a:t>  = 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 W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SISTEMA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6739131" y="5976095"/>
            <a:ext cx="1317994" cy="791199"/>
            <a:chOff x="7643191" y="6000164"/>
            <a:chExt cx="1317994" cy="791199"/>
          </a:xfrm>
        </p:grpSpPr>
        <p:cxnSp>
          <p:nvCxnSpPr>
            <p:cNvPr id="33" name="Conector recto de flecha 4"/>
            <p:cNvCxnSpPr>
              <a:cxnSpLocks noChangeShapeType="1"/>
            </p:cNvCxnSpPr>
            <p:nvPr/>
          </p:nvCxnSpPr>
          <p:spPr bwMode="auto">
            <a:xfrm flipV="1">
              <a:off x="7643191" y="6301409"/>
              <a:ext cx="961806" cy="489954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CuadroTexto 6"/>
            <p:cNvSpPr txBox="1">
              <a:spLocks noChangeArrowheads="1"/>
            </p:cNvSpPr>
            <p:nvPr/>
          </p:nvSpPr>
          <p:spPr bwMode="auto">
            <a:xfrm>
              <a:off x="8604997" y="6000164"/>
              <a:ext cx="356188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b="0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35" name="CuadroTexto 10"/>
          <p:cNvSpPr txBox="1">
            <a:spLocks noChangeArrowheads="1"/>
          </p:cNvSpPr>
          <p:nvPr/>
        </p:nvSpPr>
        <p:spPr bwMode="auto">
          <a:xfrm>
            <a:off x="1397225" y="459813"/>
            <a:ext cx="2220182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b="0">
                <a:solidFill>
                  <a:schemeClr val="tx1"/>
                </a:solidFill>
              </a:rPr>
              <a:t>¿Cuánto vale?</a:t>
            </a:r>
            <a:endParaRPr lang="es-ES" sz="2400" b="0" dirty="0">
              <a:solidFill>
                <a:schemeClr val="tx1"/>
              </a:solidFill>
            </a:endParaRPr>
          </a:p>
        </p:txBody>
      </p:sp>
      <p:sp>
        <p:nvSpPr>
          <p:cNvPr id="2" name="Text Box 25">
            <a:extLst>
              <a:ext uri="{FF2B5EF4-FFF2-40B4-BE49-F238E27FC236}">
                <a16:creationId xmlns:a16="http://schemas.microsoft.com/office/drawing/2014/main" id="{9870CCE9-6646-40A1-5A80-97A44F32F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841" y="5492673"/>
            <a:ext cx="265381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 ( E</a:t>
            </a:r>
            <a:r>
              <a:rPr lang="es-ES" sz="2400" b="0" baseline="-25000" dirty="0">
                <a:latin typeface="Arial" panose="020B0604020202020204" pitchFamily="34" charset="0"/>
                <a:sym typeface="Symbol" panose="05050102010706020507" pitchFamily="18" charset="2"/>
              </a:rPr>
              <a:t>PSIST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) =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Text Box 25">
            <a:extLst>
              <a:ext uri="{FF2B5EF4-FFF2-40B4-BE49-F238E27FC236}">
                <a16:creationId xmlns:a16="http://schemas.microsoft.com/office/drawing/2014/main" id="{8D1E4501-A627-00E6-9793-1DB56B707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196" y="6145501"/>
            <a:ext cx="450731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= E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PSIST</a:t>
            </a:r>
            <a:r>
              <a:rPr lang="es-ES" sz="2400" b="0" baseline="-25000" dirty="0">
                <a:latin typeface="Arial" panose="020B0604020202020204" pitchFamily="34" charset="0"/>
                <a:sym typeface="Symbol" panose="05050102010706020507" pitchFamily="18" charset="2"/>
              </a:rPr>
              <a:t>. CONSTRUIDO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 E</a:t>
            </a:r>
            <a:r>
              <a:rPr lang="es-ES" sz="2400" b="0" baseline="-25000" dirty="0">
                <a:latin typeface="Arial" panose="020B0604020202020204" pitchFamily="34" charset="0"/>
                <a:sym typeface="Symbol" panose="05050102010706020507" pitchFamily="18" charset="2"/>
              </a:rPr>
              <a:t>PSIST. 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EN 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25">
            <a:extLst>
              <a:ext uri="{FF2B5EF4-FFF2-40B4-BE49-F238E27FC236}">
                <a16:creationId xmlns:a16="http://schemas.microsoft.com/office/drawing/2014/main" id="{62CC8A92-1413-B1D1-9007-16367D4F0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510" y="6196880"/>
            <a:ext cx="146603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="0" baseline="-25000" dirty="0"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= U</a:t>
            </a:r>
          </a:p>
        </p:txBody>
      </p:sp>
    </p:spTree>
    <p:extLst>
      <p:ext uri="{BB962C8B-B14F-4D97-AF65-F5344CB8AC3E}">
        <p14:creationId xmlns:p14="http://schemas.microsoft.com/office/powerpoint/2010/main" val="96664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0" grpId="0" animBg="1"/>
      <p:bldP spid="31" grpId="0"/>
      <p:bldP spid="35" grpId="0" animBg="1"/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798966" y="1438753"/>
            <a:ext cx="3251200" cy="1816100"/>
            <a:chOff x="824" y="2567"/>
            <a:chExt cx="2048" cy="1144"/>
          </a:xfrm>
        </p:grpSpPr>
        <p:sp>
          <p:nvSpPr>
            <p:cNvPr id="13344" name="Text Box 4"/>
            <p:cNvSpPr txBox="1">
              <a:spLocks noChangeArrowheads="1"/>
            </p:cNvSpPr>
            <p:nvPr/>
          </p:nvSpPr>
          <p:spPr bwMode="auto">
            <a:xfrm>
              <a:off x="824" y="2567"/>
              <a:ext cx="2048" cy="38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Distribución discreta</a:t>
              </a:r>
            </a:p>
          </p:txBody>
        </p:sp>
        <p:grpSp>
          <p:nvGrpSpPr>
            <p:cNvPr id="13345" name="Group 19"/>
            <p:cNvGrpSpPr>
              <a:grpSpLocks/>
            </p:cNvGrpSpPr>
            <p:nvPr/>
          </p:nvGrpSpPr>
          <p:grpSpPr bwMode="auto">
            <a:xfrm>
              <a:off x="1199" y="3025"/>
              <a:ext cx="1274" cy="686"/>
              <a:chOff x="1639" y="2265"/>
              <a:chExt cx="1274" cy="686"/>
            </a:xfrm>
          </p:grpSpPr>
          <p:sp>
            <p:nvSpPr>
              <p:cNvPr id="13346" name="Rectangle 17"/>
              <p:cNvSpPr>
                <a:spLocks noChangeArrowheads="1"/>
              </p:cNvSpPr>
              <p:nvPr/>
            </p:nvSpPr>
            <p:spPr bwMode="auto">
              <a:xfrm>
                <a:off x="1639" y="2265"/>
                <a:ext cx="1274" cy="686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3347" name="Object 5"/>
              <p:cNvGraphicFramePr>
                <a:graphicFrameLocks noChangeAspect="1"/>
              </p:cNvGraphicFramePr>
              <p:nvPr/>
            </p:nvGraphicFramePr>
            <p:xfrm>
              <a:off x="1707" y="2343"/>
              <a:ext cx="1126" cy="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825500" imgH="393700" progId="Equation.3">
                      <p:embed/>
                    </p:oleObj>
                  </mc:Choice>
                  <mc:Fallback>
                    <p:oleObj name="Ecuación" r:id="rId3" imgW="825500" imgH="393700" progId="Equation.3">
                      <p:embed/>
                      <p:pic>
                        <p:nvPicPr>
                          <p:cNvPr id="13347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07" y="2343"/>
                            <a:ext cx="1126" cy="5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5671785" y="1429808"/>
            <a:ext cx="3348037" cy="1819275"/>
            <a:chOff x="2794" y="2583"/>
            <a:chExt cx="2109" cy="1146"/>
          </a:xfrm>
        </p:grpSpPr>
        <p:sp>
          <p:nvSpPr>
            <p:cNvPr id="13340" name="Text Box 7"/>
            <p:cNvSpPr txBox="1">
              <a:spLocks noChangeArrowheads="1"/>
            </p:cNvSpPr>
            <p:nvPr/>
          </p:nvSpPr>
          <p:spPr bwMode="auto">
            <a:xfrm>
              <a:off x="2794" y="2583"/>
              <a:ext cx="2109" cy="38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Distribución continua</a:t>
              </a:r>
            </a:p>
          </p:txBody>
        </p:sp>
        <p:grpSp>
          <p:nvGrpSpPr>
            <p:cNvPr id="13341" name="Group 21"/>
            <p:cNvGrpSpPr>
              <a:grpSpLocks/>
            </p:cNvGrpSpPr>
            <p:nvPr/>
          </p:nvGrpSpPr>
          <p:grpSpPr bwMode="auto">
            <a:xfrm>
              <a:off x="3201" y="3043"/>
              <a:ext cx="1274" cy="686"/>
              <a:chOff x="1711" y="3583"/>
              <a:chExt cx="1274" cy="686"/>
            </a:xfrm>
          </p:grpSpPr>
          <p:sp>
            <p:nvSpPr>
              <p:cNvPr id="13342" name="Rectangle 18"/>
              <p:cNvSpPr>
                <a:spLocks noChangeArrowheads="1"/>
              </p:cNvSpPr>
              <p:nvPr/>
            </p:nvSpPr>
            <p:spPr bwMode="auto">
              <a:xfrm>
                <a:off x="1711" y="3583"/>
                <a:ext cx="1274" cy="686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3343" name="Object 8"/>
              <p:cNvGraphicFramePr>
                <a:graphicFrameLocks noChangeAspect="1"/>
              </p:cNvGraphicFramePr>
              <p:nvPr/>
            </p:nvGraphicFramePr>
            <p:xfrm>
              <a:off x="1794" y="3641"/>
              <a:ext cx="1074" cy="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787058" imgH="393529" progId="Equation.3">
                      <p:embed/>
                    </p:oleObj>
                  </mc:Choice>
                  <mc:Fallback>
                    <p:oleObj name="Ecuación" r:id="rId5" imgW="787058" imgH="393529" progId="Equation.3">
                      <p:embed/>
                      <p:pic>
                        <p:nvPicPr>
                          <p:cNvPr id="13343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4" y="3641"/>
                            <a:ext cx="1074" cy="5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1807670" y="5413291"/>
            <a:ext cx="3593006" cy="129436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72000" rIns="90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Conductor en equilibrio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una carga Q</a:t>
            </a:r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6243351" y="3600489"/>
            <a:ext cx="2022475" cy="3006727"/>
            <a:chOff x="5541" y="1820"/>
            <a:chExt cx="1274" cy="1894"/>
          </a:xfrm>
        </p:grpSpPr>
        <p:grpSp>
          <p:nvGrpSpPr>
            <p:cNvPr id="13336" name="Group 24"/>
            <p:cNvGrpSpPr>
              <a:grpSpLocks/>
            </p:cNvGrpSpPr>
            <p:nvPr/>
          </p:nvGrpSpPr>
          <p:grpSpPr bwMode="auto">
            <a:xfrm>
              <a:off x="5541" y="3078"/>
              <a:ext cx="1274" cy="636"/>
              <a:chOff x="4561" y="3618"/>
              <a:chExt cx="1274" cy="636"/>
            </a:xfrm>
          </p:grpSpPr>
          <p:sp>
            <p:nvSpPr>
              <p:cNvPr id="13338" name="Rectangle 23"/>
              <p:cNvSpPr>
                <a:spLocks noChangeArrowheads="1"/>
              </p:cNvSpPr>
              <p:nvPr/>
            </p:nvSpPr>
            <p:spPr bwMode="auto">
              <a:xfrm>
                <a:off x="4561" y="3618"/>
                <a:ext cx="1274" cy="636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3339" name="Object 10"/>
              <p:cNvGraphicFramePr>
                <a:graphicFrameLocks noChangeAspect="1"/>
              </p:cNvGraphicFramePr>
              <p:nvPr/>
            </p:nvGraphicFramePr>
            <p:xfrm>
              <a:off x="4750" y="3655"/>
              <a:ext cx="937" cy="5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660113" imgH="393529" progId="Equation.3">
                      <p:embed/>
                    </p:oleObj>
                  </mc:Choice>
                  <mc:Fallback>
                    <p:oleObj name="Ecuación" r:id="rId7" imgW="660113" imgH="393529" progId="Equation.3">
                      <p:embed/>
                      <p:pic>
                        <p:nvPicPr>
                          <p:cNvPr id="13339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0" y="3655"/>
                            <a:ext cx="937" cy="5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37" name="AutoShape 47"/>
            <p:cNvSpPr>
              <a:spLocks noChangeArrowheads="1"/>
            </p:cNvSpPr>
            <p:nvPr/>
          </p:nvSpPr>
          <p:spPr bwMode="auto">
            <a:xfrm rot="5400000">
              <a:off x="5664" y="2186"/>
              <a:ext cx="1100" cy="367"/>
            </a:xfrm>
            <a:prstGeom prst="rightArrow">
              <a:avLst>
                <a:gd name="adj1" fmla="val 50000"/>
                <a:gd name="adj2" fmla="val 5215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084" name="Freeform 48"/>
          <p:cNvSpPr>
            <a:spLocks/>
          </p:cNvSpPr>
          <p:nvPr/>
        </p:nvSpPr>
        <p:spPr bwMode="auto">
          <a:xfrm>
            <a:off x="7368989" y="2158471"/>
            <a:ext cx="606323" cy="350837"/>
          </a:xfrm>
          <a:custGeom>
            <a:avLst/>
            <a:gdLst>
              <a:gd name="T0" fmla="*/ 2147483646 w 379"/>
              <a:gd name="T1" fmla="*/ 2147483646 h 129"/>
              <a:gd name="T2" fmla="*/ 2147483646 w 379"/>
              <a:gd name="T3" fmla="*/ 2147483646 h 129"/>
              <a:gd name="T4" fmla="*/ 0 w 379"/>
              <a:gd name="T5" fmla="*/ 2147483646 h 129"/>
              <a:gd name="T6" fmla="*/ 0 60000 65536"/>
              <a:gd name="T7" fmla="*/ 0 60000 65536"/>
              <a:gd name="T8" fmla="*/ 0 60000 65536"/>
              <a:gd name="T9" fmla="*/ 0 w 379"/>
              <a:gd name="T10" fmla="*/ 0 h 129"/>
              <a:gd name="T11" fmla="*/ 379 w 379"/>
              <a:gd name="T12" fmla="*/ 129 h 1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9" h="129">
                <a:moveTo>
                  <a:pt x="379" y="129"/>
                </a:moveTo>
                <a:cubicBezTo>
                  <a:pt x="330" y="76"/>
                  <a:pt x="282" y="24"/>
                  <a:pt x="219" y="12"/>
                </a:cubicBezTo>
                <a:cubicBezTo>
                  <a:pt x="156" y="0"/>
                  <a:pt x="36" y="45"/>
                  <a:pt x="0" y="56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2533650" y="3007290"/>
            <a:ext cx="2903538" cy="1797049"/>
            <a:chOff x="1763" y="3613"/>
            <a:chExt cx="1829" cy="1132"/>
          </a:xfrm>
        </p:grpSpPr>
        <p:sp>
          <p:nvSpPr>
            <p:cNvPr id="13334" name="Text Box 49"/>
            <p:cNvSpPr txBox="1">
              <a:spLocks noChangeArrowheads="1"/>
            </p:cNvSpPr>
            <p:nvPr/>
          </p:nvSpPr>
          <p:spPr bwMode="auto">
            <a:xfrm>
              <a:off x="1763" y="3942"/>
              <a:ext cx="1829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V generado por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el resto de cargas donde está q</a:t>
              </a:r>
              <a:r>
                <a:rPr lang="es-ES" sz="2400" b="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13335" name="Line 50"/>
            <p:cNvSpPr>
              <a:spLocks noChangeShapeType="1"/>
            </p:cNvSpPr>
            <p:nvPr/>
          </p:nvSpPr>
          <p:spPr bwMode="auto">
            <a:xfrm>
              <a:off x="2741" y="3613"/>
              <a:ext cx="5" cy="3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6177123" y="4134918"/>
            <a:ext cx="3143248" cy="544513"/>
            <a:chOff x="5265" y="3798"/>
            <a:chExt cx="1980" cy="343"/>
          </a:xfrm>
        </p:grpSpPr>
        <p:sp>
          <p:nvSpPr>
            <p:cNvPr id="13332" name="Text Box 11"/>
            <p:cNvSpPr txBox="1">
              <a:spLocks noChangeArrowheads="1"/>
            </p:cNvSpPr>
            <p:nvPr/>
          </p:nvSpPr>
          <p:spPr bwMode="auto">
            <a:xfrm>
              <a:off x="6391" y="3798"/>
              <a:ext cx="854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 </a:t>
              </a:r>
              <a:r>
                <a:rPr lang="es-ES" sz="2400" b="0" dirty="0">
                  <a:solidFill>
                    <a:srgbClr val="3333FF"/>
                  </a:solidFill>
                  <a:latin typeface="Arial" panose="020B0604020202020204" pitchFamily="34" charset="0"/>
                </a:rPr>
                <a:t>V cte.</a:t>
              </a:r>
            </a:p>
          </p:txBody>
        </p:sp>
        <p:sp>
          <p:nvSpPr>
            <p:cNvPr id="13333" name="Text Box 51"/>
            <p:cNvSpPr txBox="1">
              <a:spLocks noChangeArrowheads="1"/>
            </p:cNvSpPr>
            <p:nvPr/>
          </p:nvSpPr>
          <p:spPr bwMode="auto">
            <a:xfrm>
              <a:off x="5265" y="3803"/>
              <a:ext cx="1184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3333FF"/>
                  </a:solidFill>
                  <a:latin typeface="Arial" panose="020B0604020202020204" pitchFamily="34" charset="0"/>
                </a:rPr>
                <a:t>En equilibrio</a:t>
              </a:r>
            </a:p>
          </p:txBody>
        </p:sp>
      </p:grp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355046" y="5435435"/>
            <a:ext cx="2191302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(energía almacenada asociada a Q)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1235390" y="309054"/>
            <a:ext cx="9124461" cy="978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Calculando el trabajo a realizar, se tiene que la energía potencial eléctrica almacenada en las diferentes distribuciones de carga es:</a:t>
            </a:r>
          </a:p>
        </p:txBody>
      </p:sp>
      <p:sp>
        <p:nvSpPr>
          <p:cNvPr id="3" name="Forma libre 2"/>
          <p:cNvSpPr/>
          <p:nvPr/>
        </p:nvSpPr>
        <p:spPr bwMode="auto">
          <a:xfrm>
            <a:off x="8062021" y="2752388"/>
            <a:ext cx="1112727" cy="1475813"/>
          </a:xfrm>
          <a:custGeom>
            <a:avLst/>
            <a:gdLst>
              <a:gd name="connsiteX0" fmla="*/ 1160980 w 1160980"/>
              <a:gd name="connsiteY0" fmla="*/ 801384 h 801384"/>
              <a:gd name="connsiteX1" fmla="*/ 1027415 w 1160980"/>
              <a:gd name="connsiteY1" fmla="*/ 554805 h 801384"/>
              <a:gd name="connsiteX2" fmla="*/ 513708 w 1160980"/>
              <a:gd name="connsiteY2" fmla="*/ 431515 h 801384"/>
              <a:gd name="connsiteX3" fmla="*/ 0 w 1160980"/>
              <a:gd name="connsiteY3" fmla="*/ 0 h 80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0980" h="801384">
                <a:moveTo>
                  <a:pt x="1160980" y="801384"/>
                </a:moveTo>
                <a:cubicBezTo>
                  <a:pt x="1148137" y="708917"/>
                  <a:pt x="1135294" y="616450"/>
                  <a:pt x="1027415" y="554805"/>
                </a:cubicBezTo>
                <a:cubicBezTo>
                  <a:pt x="919536" y="493160"/>
                  <a:pt x="684944" y="523982"/>
                  <a:pt x="513708" y="431515"/>
                </a:cubicBezTo>
                <a:cubicBezTo>
                  <a:pt x="342472" y="339048"/>
                  <a:pt x="171236" y="169524"/>
                  <a:pt x="0" y="0"/>
                </a:cubicBezTo>
              </a:path>
            </a:pathLst>
          </a:cu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69E9F80-E3AE-4865-B09A-3FD155346ED4}"/>
              </a:ext>
            </a:extLst>
          </p:cNvPr>
          <p:cNvCxnSpPr>
            <a:cxnSpLocks/>
          </p:cNvCxnSpPr>
          <p:nvPr/>
        </p:nvCxnSpPr>
        <p:spPr bwMode="auto">
          <a:xfrm flipV="1">
            <a:off x="5525911" y="4603759"/>
            <a:ext cx="639923" cy="675248"/>
          </a:xfrm>
          <a:prstGeom prst="straightConnector1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22010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1" grpId="0" animBg="1"/>
      <p:bldP spid="3084" grpId="0" animBg="1"/>
      <p:bldP spid="3110" grpId="0"/>
      <p:bldP spid="27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55" name="Text Box 19"/>
          <p:cNvSpPr txBox="1">
            <a:spLocks noChangeArrowheads="1"/>
          </p:cNvSpPr>
          <p:nvPr/>
        </p:nvSpPr>
        <p:spPr bwMode="auto">
          <a:xfrm>
            <a:off x="5755745" y="5917637"/>
            <a:ext cx="4214913" cy="587441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non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 = Q/V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Q = CV o V = Q/C</a:t>
            </a:r>
          </a:p>
        </p:txBody>
      </p:sp>
      <p:sp>
        <p:nvSpPr>
          <p:cNvPr id="4102" name="Text Box 15"/>
          <p:cNvSpPr txBox="1">
            <a:spLocks noChangeArrowheads="1"/>
          </p:cNvSpPr>
          <p:nvPr/>
        </p:nvSpPr>
        <p:spPr bwMode="auto">
          <a:xfrm>
            <a:off x="3748235" y="3311062"/>
            <a:ext cx="31242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30000" dirty="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30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 = V =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Tensión</a:t>
            </a:r>
            <a:endParaRPr lang="es-ES" sz="2400" b="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103" name="Text Box 14"/>
          <p:cNvSpPr txBox="1">
            <a:spLocks noChangeArrowheads="1"/>
          </p:cNvSpPr>
          <p:nvPr/>
        </p:nvSpPr>
        <p:spPr bwMode="auto">
          <a:xfrm>
            <a:off x="3719444" y="1756713"/>
            <a:ext cx="49403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30000" dirty="0">
                <a:solidFill>
                  <a:srgbClr val="3333FF"/>
                </a:solidFill>
                <a:latin typeface="Arial" panose="020B0604020202020204" pitchFamily="34" charset="0"/>
              </a:rPr>
              <a:t>+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=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Q</a:t>
            </a:r>
            <a:r>
              <a:rPr lang="es-ES" sz="2400" b="0" baseline="30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 = Q = Carga almacenada</a:t>
            </a:r>
          </a:p>
        </p:txBody>
      </p:sp>
      <p:sp>
        <p:nvSpPr>
          <p:cNvPr id="4104" name="Text Box 13"/>
          <p:cNvSpPr txBox="1">
            <a:spLocks noChangeArrowheads="1"/>
          </p:cNvSpPr>
          <p:nvPr/>
        </p:nvSpPr>
        <p:spPr bwMode="auto">
          <a:xfrm>
            <a:off x="1321192" y="1150277"/>
            <a:ext cx="8792591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 dirty="0">
                <a:latin typeface="Arial" panose="020B0604020202020204" pitchFamily="34" charset="0"/>
              </a:rPr>
              <a:t>Posee dos </a:t>
            </a:r>
            <a:r>
              <a:rPr lang="es-ES" sz="2400" b="0">
                <a:latin typeface="Arial" panose="020B0604020202020204" pitchFamily="34" charset="0"/>
              </a:rPr>
              <a:t>conductores que adquieren una </a:t>
            </a:r>
            <a:r>
              <a:rPr lang="es-ES" sz="2400" b="0" dirty="0">
                <a:latin typeface="Arial" panose="020B0604020202020204" pitchFamily="34" charset="0"/>
              </a:rPr>
              <a:t>carga Q</a:t>
            </a:r>
            <a:r>
              <a:rPr lang="es-ES" sz="2400" b="0" baseline="30000" dirty="0">
                <a:latin typeface="Arial" panose="020B0604020202020204" pitchFamily="34" charset="0"/>
              </a:rPr>
              <a:t>+</a:t>
            </a:r>
            <a:r>
              <a:rPr lang="es-ES" sz="2400" b="0" dirty="0">
                <a:latin typeface="Arial" panose="020B0604020202020204" pitchFamily="34" charset="0"/>
              </a:rPr>
              <a:t> </a:t>
            </a:r>
            <a:r>
              <a:rPr lang="es-ES" sz="2400" b="0">
                <a:latin typeface="Arial" panose="020B0604020202020204" pitchFamily="34" charset="0"/>
              </a:rPr>
              <a:t>y Q</a:t>
            </a:r>
            <a:r>
              <a:rPr lang="es-ES" sz="2400" b="0" baseline="30000">
                <a:latin typeface="Arial" panose="020B0604020202020204" pitchFamily="34" charset="0"/>
              </a:rPr>
              <a:t>-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05" name="Text Box 12"/>
          <p:cNvSpPr txBox="1">
            <a:spLocks noChangeArrowheads="1"/>
          </p:cNvSpPr>
          <p:nvPr/>
        </p:nvSpPr>
        <p:spPr bwMode="auto">
          <a:xfrm>
            <a:off x="4678324" y="447725"/>
            <a:ext cx="2164673" cy="536549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Condensador</a:t>
            </a:r>
            <a:endParaRPr lang="es-ES" sz="2400" b="1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06" name="Rectangle 42"/>
          <p:cNvSpPr>
            <a:spLocks noChangeArrowheads="1"/>
          </p:cNvSpPr>
          <p:nvPr/>
        </p:nvSpPr>
        <p:spPr bwMode="auto">
          <a:xfrm>
            <a:off x="6243811" y="4548730"/>
            <a:ext cx="3732212" cy="113823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08" name="Rectangle 17"/>
          <p:cNvSpPr>
            <a:spLocks noChangeArrowheads="1"/>
          </p:cNvSpPr>
          <p:nvPr/>
        </p:nvSpPr>
        <p:spPr bwMode="auto">
          <a:xfrm>
            <a:off x="2416348" y="4563017"/>
            <a:ext cx="717550" cy="112395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Object 18"/>
              <p:cNvSpPr txBox="1"/>
              <p:nvPr/>
            </p:nvSpPr>
            <p:spPr bwMode="auto">
              <a:xfrm>
                <a:off x="2511597" y="4623713"/>
                <a:ext cx="7464425" cy="1047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sSup>
                        <m:sSup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409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1597" y="4623713"/>
                <a:ext cx="7464425" cy="104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1" name="Text Box 13"/>
          <p:cNvSpPr txBox="1">
            <a:spLocks noChangeArrowheads="1"/>
          </p:cNvSpPr>
          <p:nvPr/>
        </p:nvSpPr>
        <p:spPr bwMode="auto">
          <a:xfrm>
            <a:off x="1282047" y="2357253"/>
            <a:ext cx="5289575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>
                <a:latin typeface="Arial" panose="020B0604020202020204" pitchFamily="34" charset="0"/>
              </a:rPr>
              <a:t>El </a:t>
            </a:r>
            <a:r>
              <a:rPr lang="es-ES" sz="2400" b="0" dirty="0">
                <a:latin typeface="Arial" panose="020B0604020202020204" pitchFamily="34" charset="0"/>
              </a:rPr>
              <a:t>potencial de cada uno, V</a:t>
            </a:r>
            <a:r>
              <a:rPr lang="es-ES" sz="2400" b="0" baseline="30000" dirty="0">
                <a:latin typeface="Arial" panose="020B0604020202020204" pitchFamily="34" charset="0"/>
              </a:rPr>
              <a:t>+</a:t>
            </a:r>
            <a:r>
              <a:rPr lang="es-ES" sz="2400" b="0" dirty="0">
                <a:latin typeface="Arial" panose="020B0604020202020204" pitchFamily="34" charset="0"/>
              </a:rPr>
              <a:t> y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V</a:t>
            </a:r>
            <a:r>
              <a:rPr lang="es-ES" sz="2400" b="0" baseline="3000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b="0">
                <a:latin typeface="Arial" panose="020B0604020202020204" pitchFamily="34" charset="0"/>
              </a:rPr>
              <a:t>   es </a:t>
            </a:r>
            <a:r>
              <a:rPr lang="es-ES" sz="2400" b="0" dirty="0">
                <a:latin typeface="Arial" panose="020B0604020202020204" pitchFamily="34" charset="0"/>
              </a:rPr>
              <a:t>igual en todos </a:t>
            </a:r>
            <a:r>
              <a:rPr lang="es-ES" sz="2400" b="0">
                <a:latin typeface="Arial" panose="020B0604020202020204" pitchFamily="34" charset="0"/>
              </a:rPr>
              <a:t>sus puntos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42" name="Text Box 46"/>
          <p:cNvSpPr txBox="1">
            <a:spLocks noChangeArrowheads="1"/>
          </p:cNvSpPr>
          <p:nvPr/>
        </p:nvSpPr>
        <p:spPr bwMode="auto">
          <a:xfrm>
            <a:off x="1169157" y="5758418"/>
            <a:ext cx="313091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(energía almacenada asociada a Q)</a:t>
            </a:r>
          </a:p>
        </p:txBody>
      </p:sp>
      <p:sp>
        <p:nvSpPr>
          <p:cNvPr id="4143" name="Text Box 47"/>
          <p:cNvSpPr txBox="1">
            <a:spLocks noChangeArrowheads="1"/>
          </p:cNvSpPr>
          <p:nvPr/>
        </p:nvSpPr>
        <p:spPr bwMode="auto">
          <a:xfrm>
            <a:off x="3357667" y="4053024"/>
            <a:ext cx="121729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Placa +</a:t>
            </a:r>
          </a:p>
        </p:txBody>
      </p:sp>
      <p:sp>
        <p:nvSpPr>
          <p:cNvPr id="4144" name="Text Box 48"/>
          <p:cNvSpPr txBox="1">
            <a:spLocks noChangeArrowheads="1"/>
          </p:cNvSpPr>
          <p:nvPr/>
        </p:nvSpPr>
        <p:spPr bwMode="auto">
          <a:xfrm>
            <a:off x="4776892" y="4068899"/>
            <a:ext cx="11403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Placa 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8">
                <a:extLst>
                  <a:ext uri="{FF2B5EF4-FFF2-40B4-BE49-F238E27FC236}">
                    <a16:creationId xmlns:a16="http://schemas.microsoft.com/office/drawing/2014/main" id="{1B8A5845-D937-4282-951A-25ECF54F5C3C}"/>
                  </a:ext>
                </a:extLst>
              </p:cNvPr>
              <p:cNvSpPr txBox="1"/>
              <p:nvPr/>
            </p:nvSpPr>
            <p:spPr bwMode="auto">
              <a:xfrm>
                <a:off x="7261152" y="4566995"/>
                <a:ext cx="2859333" cy="1047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6" name="Object 18">
                <a:extLst>
                  <a:ext uri="{FF2B5EF4-FFF2-40B4-BE49-F238E27FC236}">
                    <a16:creationId xmlns:a16="http://schemas.microsoft.com/office/drawing/2014/main" id="{1B8A5845-D937-4282-951A-25ECF54F5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61152" y="4566995"/>
                <a:ext cx="2859333" cy="104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4">
            <a:extLst>
              <a:ext uri="{FF2B5EF4-FFF2-40B4-BE49-F238E27FC236}">
                <a16:creationId xmlns:a16="http://schemas.microsoft.com/office/drawing/2014/main" id="{D4786E2F-BAD3-45BF-81CA-00B86A288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997" y="451402"/>
            <a:ext cx="221917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(en un circuito)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9EDE1A79-FFFB-42D3-B275-FADC54075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565" y="2378991"/>
            <a:ext cx="3523693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(con o sin equilibrio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Tema 4–)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3A94D46F-ED62-486A-8527-D7C74A3A637E}"/>
                  </a:ext>
                </a:extLst>
              </p:cNvPr>
              <p:cNvSpPr txBox="1"/>
              <p:nvPr/>
            </p:nvSpPr>
            <p:spPr bwMode="auto">
              <a:xfrm>
                <a:off x="6011318" y="4616825"/>
                <a:ext cx="1398848" cy="1047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𝑄𝑉</m:t>
                      </m:r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3A94D46F-ED62-486A-8527-D7C74A3A6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1318" y="4616825"/>
                <a:ext cx="1398848" cy="10477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25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55" grpId="0" animBg="1"/>
      <p:bldP spid="4102" grpId="0"/>
      <p:bldP spid="4103" grpId="0"/>
      <p:bldP spid="4104" grpId="0"/>
      <p:bldP spid="4105" grpId="0" animBg="1"/>
      <p:bldP spid="4106" grpId="0" animBg="1"/>
      <p:bldP spid="4108" grpId="0" animBg="1"/>
      <p:bldP spid="4098" grpId="0"/>
      <p:bldP spid="4141" grpId="0"/>
      <p:bldP spid="4142" grpId="0"/>
      <p:bldP spid="4143" grpId="0"/>
      <p:bldP spid="4144" grpId="0"/>
      <p:bldP spid="16" grpId="0"/>
      <p:bldP spid="15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1"/>
          <p:cNvSpPr txBox="1">
            <a:spLocks noChangeArrowheads="1"/>
          </p:cNvSpPr>
          <p:nvPr/>
        </p:nvSpPr>
        <p:spPr bwMode="auto">
          <a:xfrm>
            <a:off x="1665152" y="995622"/>
            <a:ext cx="3600000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</a:t>
            </a:r>
          </a:p>
        </p:txBody>
      </p:sp>
      <p:sp>
        <p:nvSpPr>
          <p:cNvPr id="17417" name="Text Box 30"/>
          <p:cNvSpPr txBox="1">
            <a:spLocks noChangeArrowheads="1"/>
          </p:cNvSpPr>
          <p:nvPr/>
        </p:nvSpPr>
        <p:spPr bwMode="auto">
          <a:xfrm>
            <a:off x="2594845" y="1866063"/>
            <a:ext cx="2850442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Se transfieren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para incrementar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3000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 Y Q</a:t>
            </a:r>
            <a:r>
              <a:rPr lang="es-ES" sz="2400" b="0" baseline="30000">
                <a:solidFill>
                  <a:srgbClr val="3333FF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46" name="45 CuadroTexto"/>
          <p:cNvSpPr txBox="1">
            <a:spLocks noChangeArrowheads="1"/>
          </p:cNvSpPr>
          <p:nvPr/>
        </p:nvSpPr>
        <p:spPr bwMode="auto">
          <a:xfrm>
            <a:off x="1650577" y="6339903"/>
            <a:ext cx="38314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(es como elevar un objeto)</a:t>
            </a:r>
          </a:p>
        </p:txBody>
      </p:sp>
      <p:sp>
        <p:nvSpPr>
          <p:cNvPr id="17420" name="Text Box 31"/>
          <p:cNvSpPr txBox="1">
            <a:spLocks noChangeArrowheads="1"/>
          </p:cNvSpPr>
          <p:nvPr/>
        </p:nvSpPr>
        <p:spPr bwMode="auto">
          <a:xfrm>
            <a:off x="1370681" y="4776830"/>
            <a:ext cx="439129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Se almacena </a:t>
            </a: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energía construyendo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la configuración</a:t>
            </a:r>
          </a:p>
        </p:txBody>
      </p:sp>
      <p:sp>
        <p:nvSpPr>
          <p:cNvPr id="17421" name="Text Box 31"/>
          <p:cNvSpPr txBox="1">
            <a:spLocks noChangeArrowheads="1"/>
          </p:cNvSpPr>
          <p:nvPr/>
        </p:nvSpPr>
        <p:spPr bwMode="auto">
          <a:xfrm>
            <a:off x="1309450" y="3447463"/>
            <a:ext cx="4513753" cy="12752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PROCESO NO ESPONTÁNEO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(se separan cargas + y 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, y se juntan cargas del mismo signo)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6405835" y="1001778"/>
            <a:ext cx="3600000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DESCARGA</a:t>
            </a:r>
          </a:p>
        </p:txBody>
      </p:sp>
      <p:sp>
        <p:nvSpPr>
          <p:cNvPr id="22" name="45 CuadroTexto"/>
          <p:cNvSpPr txBox="1">
            <a:spLocks noChangeArrowheads="1"/>
          </p:cNvSpPr>
          <p:nvPr/>
        </p:nvSpPr>
        <p:spPr bwMode="auto">
          <a:xfrm>
            <a:off x="5984319" y="6311900"/>
            <a:ext cx="4362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(es como dejar caer un objeto)</a:t>
            </a:r>
          </a:p>
        </p:txBody>
      </p:sp>
      <p:sp>
        <p:nvSpPr>
          <p:cNvPr id="17424" name="Text Box 31"/>
          <p:cNvSpPr txBox="1">
            <a:spLocks noChangeArrowheads="1"/>
          </p:cNvSpPr>
          <p:nvPr/>
        </p:nvSpPr>
        <p:spPr bwMode="auto">
          <a:xfrm>
            <a:off x="5994992" y="4778959"/>
            <a:ext cx="4340747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Se devuelve energía deshaciendo la configuración</a:t>
            </a:r>
          </a:p>
        </p:txBody>
      </p:sp>
      <p:sp>
        <p:nvSpPr>
          <p:cNvPr id="17425" name="Text Box 31"/>
          <p:cNvSpPr txBox="1">
            <a:spLocks noChangeArrowheads="1"/>
          </p:cNvSpPr>
          <p:nvPr/>
        </p:nvSpPr>
        <p:spPr bwMode="auto">
          <a:xfrm>
            <a:off x="6030972" y="3450232"/>
            <a:ext cx="4268787" cy="12752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PROCESO ESPONTÁNEO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(se juntan cargas + y 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, y se separan del mismo signo)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17432" name="Text Box 72"/>
          <p:cNvSpPr txBox="1">
            <a:spLocks noChangeArrowheads="1"/>
          </p:cNvSpPr>
          <p:nvPr/>
        </p:nvSpPr>
        <p:spPr bwMode="auto">
          <a:xfrm>
            <a:off x="7185042" y="1866063"/>
            <a:ext cx="3263901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Se transfieren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para reducir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3000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 y Q</a:t>
            </a:r>
            <a:r>
              <a:rPr lang="es-ES" sz="2400" b="0" baseline="30000">
                <a:solidFill>
                  <a:srgbClr val="3333FF"/>
                </a:solidFill>
                <a:latin typeface="Arial" panose="020B0604020202020204" pitchFamily="34" charset="0"/>
              </a:rPr>
              <a:t>-</a:t>
            </a:r>
            <a:endParaRPr lang="es-ES" sz="2400" b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>
            <a:spLocks noChangeArrowheads="1"/>
          </p:cNvSpPr>
          <p:nvPr/>
        </p:nvSpPr>
        <p:spPr bwMode="auto">
          <a:xfrm>
            <a:off x="2354988" y="354372"/>
            <a:ext cx="6848670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PROCESOS TÍPICOS EN UN CONDENSADOR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1417693" y="1789936"/>
            <a:ext cx="931876" cy="1443037"/>
            <a:chOff x="1627991" y="2163154"/>
            <a:chExt cx="931876" cy="1443037"/>
          </a:xfrm>
        </p:grpSpPr>
        <p:sp>
          <p:nvSpPr>
            <p:cNvPr id="17411" name="Line 21"/>
            <p:cNvSpPr>
              <a:spLocks noChangeShapeType="1"/>
            </p:cNvSpPr>
            <p:nvPr/>
          </p:nvSpPr>
          <p:spPr bwMode="auto">
            <a:xfrm>
              <a:off x="2018421" y="2163154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12" name="Line 22"/>
            <p:cNvSpPr>
              <a:spLocks noChangeShapeType="1"/>
            </p:cNvSpPr>
            <p:nvPr/>
          </p:nvSpPr>
          <p:spPr bwMode="auto">
            <a:xfrm>
              <a:off x="2167646" y="2164741"/>
              <a:ext cx="0" cy="719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13" name="Line 23"/>
            <p:cNvSpPr>
              <a:spLocks noChangeShapeType="1"/>
            </p:cNvSpPr>
            <p:nvPr/>
          </p:nvSpPr>
          <p:spPr bwMode="auto">
            <a:xfrm rot="5400000">
              <a:off x="2375351" y="2335825"/>
              <a:ext cx="0" cy="3690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14" name="Line 24"/>
            <p:cNvSpPr>
              <a:spLocks noChangeShapeType="1"/>
            </p:cNvSpPr>
            <p:nvPr/>
          </p:nvSpPr>
          <p:spPr bwMode="auto">
            <a:xfrm rot="5400000">
              <a:off x="1812507" y="2335825"/>
              <a:ext cx="0" cy="3690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37" name="Text Box 27"/>
            <p:cNvSpPr txBox="1">
              <a:spLocks noChangeArrowheads="1"/>
            </p:cNvSpPr>
            <p:nvPr/>
          </p:nvSpPr>
          <p:spPr bwMode="auto">
            <a:xfrm>
              <a:off x="1902534" y="3136291"/>
              <a:ext cx="3778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="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" name="Forma libre 8"/>
            <p:cNvSpPr/>
            <p:nvPr/>
          </p:nvSpPr>
          <p:spPr bwMode="auto">
            <a:xfrm>
              <a:off x="1680254" y="2966935"/>
              <a:ext cx="763858" cy="214145"/>
            </a:xfrm>
            <a:custGeom>
              <a:avLst/>
              <a:gdLst>
                <a:gd name="connsiteX0" fmla="*/ 275007 w 763858"/>
                <a:gd name="connsiteY0" fmla="*/ 0 h 214145"/>
                <a:gd name="connsiteX1" fmla="*/ 2632 w 763858"/>
                <a:gd name="connsiteY1" fmla="*/ 126460 h 214145"/>
                <a:gd name="connsiteX2" fmla="*/ 420921 w 763858"/>
                <a:gd name="connsiteY2" fmla="*/ 214009 h 214145"/>
                <a:gd name="connsiteX3" fmla="*/ 761390 w 763858"/>
                <a:gd name="connsiteY3" fmla="*/ 107005 h 214145"/>
                <a:gd name="connsiteX4" fmla="*/ 547381 w 763858"/>
                <a:gd name="connsiteY4" fmla="*/ 0 h 21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3858" h="214145">
                  <a:moveTo>
                    <a:pt x="275007" y="0"/>
                  </a:moveTo>
                  <a:cubicBezTo>
                    <a:pt x="126660" y="45396"/>
                    <a:pt x="-21687" y="90792"/>
                    <a:pt x="2632" y="126460"/>
                  </a:cubicBezTo>
                  <a:cubicBezTo>
                    <a:pt x="26951" y="162128"/>
                    <a:pt x="294461" y="217251"/>
                    <a:pt x="420921" y="214009"/>
                  </a:cubicBezTo>
                  <a:cubicBezTo>
                    <a:pt x="547381" y="210767"/>
                    <a:pt x="740313" y="142673"/>
                    <a:pt x="761390" y="107005"/>
                  </a:cubicBezTo>
                  <a:cubicBezTo>
                    <a:pt x="782467" y="71337"/>
                    <a:pt x="664924" y="35668"/>
                    <a:pt x="547381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6130385" y="1569882"/>
            <a:ext cx="1007697" cy="1629920"/>
            <a:chOff x="5910753" y="1943100"/>
            <a:chExt cx="1007697" cy="1629920"/>
          </a:xfrm>
        </p:grpSpPr>
        <p:sp>
          <p:nvSpPr>
            <p:cNvPr id="6" name="Line 65"/>
            <p:cNvSpPr>
              <a:spLocks noChangeShapeType="1"/>
            </p:cNvSpPr>
            <p:nvPr/>
          </p:nvSpPr>
          <p:spPr bwMode="auto">
            <a:xfrm>
              <a:off x="6339090" y="2197100"/>
              <a:ext cx="0" cy="719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26" name="Line 66"/>
            <p:cNvSpPr>
              <a:spLocks noChangeShapeType="1"/>
            </p:cNvSpPr>
            <p:nvPr/>
          </p:nvSpPr>
          <p:spPr bwMode="auto">
            <a:xfrm>
              <a:off x="6488315" y="2198688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27" name="Line 67"/>
            <p:cNvSpPr>
              <a:spLocks noChangeShapeType="1"/>
            </p:cNvSpPr>
            <p:nvPr/>
          </p:nvSpPr>
          <p:spPr bwMode="auto">
            <a:xfrm rot="5400000">
              <a:off x="6715483" y="2351320"/>
              <a:ext cx="0" cy="4059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28" name="Line 68"/>
            <p:cNvSpPr>
              <a:spLocks noChangeShapeType="1"/>
            </p:cNvSpPr>
            <p:nvPr/>
          </p:nvSpPr>
          <p:spPr bwMode="auto">
            <a:xfrm rot="5400000">
              <a:off x="6113720" y="2351320"/>
              <a:ext cx="0" cy="4059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35" name="Text Box 71"/>
            <p:cNvSpPr txBox="1">
              <a:spLocks noChangeArrowheads="1"/>
            </p:cNvSpPr>
            <p:nvPr/>
          </p:nvSpPr>
          <p:spPr bwMode="auto">
            <a:xfrm>
              <a:off x="6223202" y="3101533"/>
              <a:ext cx="3778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="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7431" name="Text Box 73"/>
            <p:cNvSpPr txBox="1">
              <a:spLocks noChangeArrowheads="1"/>
            </p:cNvSpPr>
            <p:nvPr/>
          </p:nvSpPr>
          <p:spPr bwMode="auto">
            <a:xfrm>
              <a:off x="6026352" y="1943100"/>
              <a:ext cx="32861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7" name="Text Box 74"/>
            <p:cNvSpPr txBox="1">
              <a:spLocks noChangeArrowheads="1"/>
            </p:cNvSpPr>
            <p:nvPr/>
          </p:nvSpPr>
          <p:spPr bwMode="auto">
            <a:xfrm>
              <a:off x="6483552" y="1946275"/>
              <a:ext cx="3206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31" name="Forma libre 30"/>
            <p:cNvSpPr/>
            <p:nvPr/>
          </p:nvSpPr>
          <p:spPr bwMode="auto">
            <a:xfrm flipH="1">
              <a:off x="6050860" y="2971829"/>
              <a:ext cx="763858" cy="214145"/>
            </a:xfrm>
            <a:custGeom>
              <a:avLst/>
              <a:gdLst>
                <a:gd name="connsiteX0" fmla="*/ 275007 w 763858"/>
                <a:gd name="connsiteY0" fmla="*/ 0 h 214145"/>
                <a:gd name="connsiteX1" fmla="*/ 2632 w 763858"/>
                <a:gd name="connsiteY1" fmla="*/ 126460 h 214145"/>
                <a:gd name="connsiteX2" fmla="*/ 420921 w 763858"/>
                <a:gd name="connsiteY2" fmla="*/ 214009 h 214145"/>
                <a:gd name="connsiteX3" fmla="*/ 761390 w 763858"/>
                <a:gd name="connsiteY3" fmla="*/ 107005 h 214145"/>
                <a:gd name="connsiteX4" fmla="*/ 547381 w 763858"/>
                <a:gd name="connsiteY4" fmla="*/ 0 h 21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3858" h="214145">
                  <a:moveTo>
                    <a:pt x="275007" y="0"/>
                  </a:moveTo>
                  <a:cubicBezTo>
                    <a:pt x="126660" y="45396"/>
                    <a:pt x="-21687" y="90792"/>
                    <a:pt x="2632" y="126460"/>
                  </a:cubicBezTo>
                  <a:cubicBezTo>
                    <a:pt x="26951" y="162128"/>
                    <a:pt x="294461" y="217251"/>
                    <a:pt x="420921" y="214009"/>
                  </a:cubicBezTo>
                  <a:cubicBezTo>
                    <a:pt x="547381" y="210767"/>
                    <a:pt x="740313" y="142673"/>
                    <a:pt x="761390" y="107005"/>
                  </a:cubicBezTo>
                  <a:cubicBezTo>
                    <a:pt x="782467" y="71337"/>
                    <a:pt x="664924" y="35668"/>
                    <a:pt x="547381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1493204" y="5782940"/>
            <a:ext cx="4146245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La distribución gana E</a:t>
            </a:r>
            <a:r>
              <a:rPr lang="es-ES" sz="2400" b="0" baseline="-25000">
                <a:latin typeface="Arial" panose="020B0604020202020204" pitchFamily="34" charset="0"/>
              </a:rPr>
              <a:t>Peléctrica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30" name="Text Box 31"/>
          <p:cNvSpPr txBox="1">
            <a:spLocks noChangeArrowheads="1"/>
          </p:cNvSpPr>
          <p:nvPr/>
        </p:nvSpPr>
        <p:spPr bwMode="auto">
          <a:xfrm>
            <a:off x="5994992" y="5782939"/>
            <a:ext cx="4340747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La distribución pierde E</a:t>
            </a:r>
            <a:r>
              <a:rPr lang="es-ES" sz="2400" b="0" baseline="-25000">
                <a:latin typeface="Arial" panose="020B0604020202020204" pitchFamily="34" charset="0"/>
              </a:rPr>
              <a:t>Peléctrica</a:t>
            </a:r>
            <a:endParaRPr lang="es-ES" sz="24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71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  <p:bldP spid="17417" grpId="0"/>
      <p:bldP spid="46" grpId="0"/>
      <p:bldP spid="17420" grpId="0"/>
      <p:bldP spid="17421" grpId="0" animBg="1"/>
      <p:bldP spid="5" grpId="0" animBg="1"/>
      <p:bldP spid="22" grpId="0"/>
      <p:bldP spid="17424" grpId="0"/>
      <p:bldP spid="17425" grpId="0" animBg="1"/>
      <p:bldP spid="17432" grpId="0"/>
      <p:bldP spid="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B33327D-566A-759E-A7B1-248C2DE17C14}"/>
              </a:ext>
            </a:extLst>
          </p:cNvPr>
          <p:cNvSpPr/>
          <p:nvPr/>
        </p:nvSpPr>
        <p:spPr bwMode="auto">
          <a:xfrm>
            <a:off x="2093636" y="433785"/>
            <a:ext cx="4236826" cy="371595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7477" name="Text Box 69"/>
          <p:cNvSpPr txBox="1">
            <a:spLocks noChangeArrowheads="1"/>
          </p:cNvSpPr>
          <p:nvPr/>
        </p:nvSpPr>
        <p:spPr bwMode="auto">
          <a:xfrm>
            <a:off x="1335980" y="1347370"/>
            <a:ext cx="5752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sz="2400" b="0" dirty="0"/>
              <a:t>Circuitos en los que no hay corrientes.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95269" y="395109"/>
            <a:ext cx="8653462" cy="83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3.4.1 CIRCUITOS EN EQUILIBRIO.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         ASOCIACIÓN DE CONDENSADORES</a:t>
            </a:r>
          </a:p>
        </p:txBody>
      </p:sp>
      <p:sp>
        <p:nvSpPr>
          <p:cNvPr id="8" name="Text Box 69"/>
          <p:cNvSpPr txBox="1">
            <a:spLocks noChangeArrowheads="1"/>
          </p:cNvSpPr>
          <p:nvPr/>
        </p:nvSpPr>
        <p:spPr bwMode="auto">
          <a:xfrm>
            <a:off x="1346061" y="1840752"/>
            <a:ext cx="61587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</a:pPr>
            <a:r>
              <a:rPr lang="es-ES" sz="2400" b="0" dirty="0"/>
              <a:t>Y donde los componentes relevantes son:</a:t>
            </a:r>
          </a:p>
        </p:txBody>
      </p:sp>
      <p:sp>
        <p:nvSpPr>
          <p:cNvPr id="10" name="AutoShape 25">
            <a:extLst>
              <a:ext uri="{FF2B5EF4-FFF2-40B4-BE49-F238E27FC236}">
                <a16:creationId xmlns:a16="http://schemas.microsoft.com/office/drawing/2014/main" id="{673BA56C-8E44-41F4-92AE-C84ED4EE3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966" y="5386326"/>
            <a:ext cx="309021" cy="439737"/>
          </a:xfrm>
          <a:prstGeom prst="rightArrow">
            <a:avLst>
              <a:gd name="adj1" fmla="val 39352"/>
              <a:gd name="adj2" fmla="val 4945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11">
            <a:extLst>
              <a:ext uri="{FF2B5EF4-FFF2-40B4-BE49-F238E27FC236}">
                <a16:creationId xmlns:a16="http://schemas.microsoft.com/office/drawing/2014/main" id="{A5E34C11-D6DB-499C-9AA6-5F7AA9E06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852" y="5096679"/>
            <a:ext cx="1951038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12" name="Text Box 27">
            <a:extLst>
              <a:ext uri="{FF2B5EF4-FFF2-40B4-BE49-F238E27FC236}">
                <a16:creationId xmlns:a16="http://schemas.microsoft.com/office/drawing/2014/main" id="{2A7611FE-4C21-4B51-8349-E9008462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465" y="4738539"/>
            <a:ext cx="3365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lang="es-ES" sz="280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" name="Text Box 41">
            <a:extLst>
              <a:ext uri="{FF2B5EF4-FFF2-40B4-BE49-F238E27FC236}">
                <a16:creationId xmlns:a16="http://schemas.microsoft.com/office/drawing/2014/main" id="{5DDEDFF8-8B3F-47B7-8535-4004A5AB0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390" y="5331632"/>
            <a:ext cx="3587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4" name="Text Box 42">
            <a:extLst>
              <a:ext uri="{FF2B5EF4-FFF2-40B4-BE49-F238E27FC236}">
                <a16:creationId xmlns:a16="http://schemas.microsoft.com/office/drawing/2014/main" id="{BF204CEA-E2A3-4CA1-9569-63CD43EF2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0677" y="5322104"/>
            <a:ext cx="300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</a:p>
        </p:txBody>
      </p:sp>
      <p:grpSp>
        <p:nvGrpSpPr>
          <p:cNvPr id="15" name="56 Grupo">
            <a:extLst>
              <a:ext uri="{FF2B5EF4-FFF2-40B4-BE49-F238E27FC236}">
                <a16:creationId xmlns:a16="http://schemas.microsoft.com/office/drawing/2014/main" id="{3C146F27-9260-4629-8818-3D652FD2B3BC}"/>
              </a:ext>
            </a:extLst>
          </p:cNvPr>
          <p:cNvGrpSpPr>
            <a:grpSpLocks/>
          </p:cNvGrpSpPr>
          <p:nvPr/>
        </p:nvGrpSpPr>
        <p:grpSpPr bwMode="auto">
          <a:xfrm>
            <a:off x="4682818" y="4310406"/>
            <a:ext cx="2153406" cy="1810211"/>
            <a:chOff x="6846888" y="636993"/>
            <a:chExt cx="2152650" cy="1810211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54039535-93D9-40B6-A33D-AF5E3316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6888" y="1352217"/>
              <a:ext cx="2152650" cy="1094987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Group 47">
              <a:extLst>
                <a:ext uri="{FF2B5EF4-FFF2-40B4-BE49-F238E27FC236}">
                  <a16:creationId xmlns:a16="http://schemas.microsoft.com/office/drawing/2014/main" id="{B32C1548-A034-43F1-A4C8-CA92FDAF20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9788" y="1547813"/>
              <a:ext cx="1544637" cy="719137"/>
              <a:chOff x="3976" y="1339"/>
              <a:chExt cx="973" cy="453"/>
            </a:xfrm>
          </p:grpSpPr>
          <p:sp>
            <p:nvSpPr>
              <p:cNvPr id="20" name="Line 43">
                <a:extLst>
                  <a:ext uri="{FF2B5EF4-FFF2-40B4-BE49-F238E27FC236}">
                    <a16:creationId xmlns:a16="http://schemas.microsoft.com/office/drawing/2014/main" id="{2CF46E4F-19B3-4C41-929B-68DD7DE95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3" y="1339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21" name="Line 44">
                <a:extLst>
                  <a:ext uri="{FF2B5EF4-FFF2-40B4-BE49-F238E27FC236}">
                    <a16:creationId xmlns:a16="http://schemas.microsoft.com/office/drawing/2014/main" id="{7EEF9ABE-7AE2-4217-B463-6ABC0351BF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2" y="1452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22" name="Line 45">
                <a:extLst>
                  <a:ext uri="{FF2B5EF4-FFF2-40B4-BE49-F238E27FC236}">
                    <a16:creationId xmlns:a16="http://schemas.microsoft.com/office/drawing/2014/main" id="{76E3ECFB-0445-46F7-8810-B6DDA8128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23" y="1338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23" name="Line 46">
                <a:extLst>
                  <a:ext uri="{FF2B5EF4-FFF2-40B4-BE49-F238E27FC236}">
                    <a16:creationId xmlns:a16="http://schemas.microsoft.com/office/drawing/2014/main" id="{4174ACE3-3E1E-42FC-A434-FFBC57C7F9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203" y="1338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</p:grpSp>
        <p:sp>
          <p:nvSpPr>
            <p:cNvPr id="18" name="Text Box 48">
              <a:extLst>
                <a:ext uri="{FF2B5EF4-FFF2-40B4-BE49-F238E27FC236}">
                  <a16:creationId xmlns:a16="http://schemas.microsoft.com/office/drawing/2014/main" id="{531C59C3-DC89-4EF1-A4DE-F066105D0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0775" y="1206500"/>
              <a:ext cx="336550" cy="592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endParaRPr lang="es-ES" sz="2800" baseline="300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9" name="Text Box 112">
              <a:extLst>
                <a:ext uri="{FF2B5EF4-FFF2-40B4-BE49-F238E27FC236}">
                  <a16:creationId xmlns:a16="http://schemas.microsoft.com/office/drawing/2014/main" id="{3F5B25C8-361B-4A14-B23A-C42BEDFC6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7505" y="636993"/>
              <a:ext cx="1311414" cy="536549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Símbolo</a:t>
              </a:r>
            </a:p>
          </p:txBody>
        </p:sp>
      </p:grpSp>
      <p:sp>
        <p:nvSpPr>
          <p:cNvPr id="24" name="Text Box 112">
            <a:extLst>
              <a:ext uri="{FF2B5EF4-FFF2-40B4-BE49-F238E27FC236}">
                <a16:creationId xmlns:a16="http://schemas.microsoft.com/office/drawing/2014/main" id="{92AB23F6-3DE0-4232-9F53-41863C170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540" y="4315424"/>
            <a:ext cx="1654918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Generador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669C73E-0C42-4E69-BC24-89D7CDB3A105}"/>
              </a:ext>
            </a:extLst>
          </p:cNvPr>
          <p:cNvGrpSpPr/>
          <p:nvPr/>
        </p:nvGrpSpPr>
        <p:grpSpPr>
          <a:xfrm>
            <a:off x="7088117" y="3910262"/>
            <a:ext cx="3284597" cy="2972708"/>
            <a:chOff x="7005600" y="4489645"/>
            <a:chExt cx="3284597" cy="2937206"/>
          </a:xfrm>
        </p:grpSpPr>
        <p:sp>
          <p:nvSpPr>
            <p:cNvPr id="2" name="Rectángulo: esquina doblada 1">
              <a:extLst>
                <a:ext uri="{FF2B5EF4-FFF2-40B4-BE49-F238E27FC236}">
                  <a16:creationId xmlns:a16="http://schemas.microsoft.com/office/drawing/2014/main" id="{DB1D53A9-48DF-4B0F-A958-7D62DB1F65D3}"/>
                </a:ext>
              </a:extLst>
            </p:cNvPr>
            <p:cNvSpPr/>
            <p:nvPr/>
          </p:nvSpPr>
          <p:spPr bwMode="auto">
            <a:xfrm>
              <a:off x="7005600" y="4489645"/>
              <a:ext cx="3284597" cy="2937205"/>
            </a:xfrm>
            <a:prstGeom prst="foldedCorner">
              <a:avLst>
                <a:gd name="adj" fmla="val 9189"/>
              </a:avLst>
            </a:prstGeom>
            <a:solidFill>
              <a:srgbClr val="FFFF99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Text Box 112">
              <a:extLst>
                <a:ext uri="{FF2B5EF4-FFF2-40B4-BE49-F238E27FC236}">
                  <a16:creationId xmlns:a16="http://schemas.microsoft.com/office/drawing/2014/main" id="{36DAC393-C99B-4070-B561-6FE9BFB55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2954" y="4525147"/>
              <a:ext cx="3236945" cy="29372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4000" tIns="82800" rIns="144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Para una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batería</a:t>
              </a:r>
              <a:r>
                <a:rPr lang="es-ES" sz="2400" b="0" dirty="0">
                  <a:latin typeface="Arial" panose="020B0604020202020204" pitchFamily="34" charset="0"/>
                </a:rPr>
                <a:t> se repite varias veces, reflejando que tiene varias celdas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Una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pila</a:t>
              </a:r>
              <a:r>
                <a:rPr lang="es-ES" sz="2400" b="0" dirty="0">
                  <a:latin typeface="Arial" panose="020B0604020202020204" pitchFamily="34" charset="0"/>
                </a:rPr>
                <a:t> actual, o tiene, o parece que tiene, una sola</a:t>
              </a:r>
            </a:p>
          </p:txBody>
        </p:sp>
      </p:grpSp>
      <p:sp>
        <p:nvSpPr>
          <p:cNvPr id="26" name="Text Box 69">
            <a:extLst>
              <a:ext uri="{FF2B5EF4-FFF2-40B4-BE49-F238E27FC236}">
                <a16:creationId xmlns:a16="http://schemas.microsoft.com/office/drawing/2014/main" id="{EA0B8697-D022-4C31-8BE8-67C5CBCE1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376" y="2446105"/>
            <a:ext cx="61587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</a:pPr>
            <a:r>
              <a:rPr lang="es-ES" sz="2400" b="0" dirty="0">
                <a:sym typeface="Symbol" panose="05050102010706020507" pitchFamily="18" charset="2"/>
              </a:rPr>
              <a:t> </a:t>
            </a:r>
            <a:r>
              <a:rPr lang="es-ES" sz="2400" b="0" dirty="0"/>
              <a:t>Los </a:t>
            </a:r>
            <a:r>
              <a:rPr lang="es-ES" sz="2400" dirty="0">
                <a:solidFill>
                  <a:srgbClr val="008000"/>
                </a:solidFill>
              </a:rPr>
              <a:t>generadores</a:t>
            </a:r>
            <a:r>
              <a:rPr lang="es-ES" sz="2400" b="0" dirty="0"/>
              <a:t>, que aportan energía</a:t>
            </a:r>
          </a:p>
        </p:txBody>
      </p:sp>
      <p:sp>
        <p:nvSpPr>
          <p:cNvPr id="27" name="Text Box 69">
            <a:extLst>
              <a:ext uri="{FF2B5EF4-FFF2-40B4-BE49-F238E27FC236}">
                <a16:creationId xmlns:a16="http://schemas.microsoft.com/office/drawing/2014/main" id="{6AE6F663-0BB6-48C3-B49D-904749AEC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504" y="3047062"/>
            <a:ext cx="61587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</a:pPr>
            <a:r>
              <a:rPr lang="es-ES" sz="2400" b="0" dirty="0">
                <a:sym typeface="Symbol" panose="05050102010706020507" pitchFamily="18" charset="2"/>
              </a:rPr>
              <a:t> </a:t>
            </a:r>
            <a:r>
              <a:rPr lang="es-ES" sz="2400" b="0" dirty="0"/>
              <a:t>Los </a:t>
            </a:r>
            <a:r>
              <a:rPr lang="es-ES" sz="2400" dirty="0">
                <a:solidFill>
                  <a:srgbClr val="008000"/>
                </a:solidFill>
              </a:rPr>
              <a:t>condensadores</a:t>
            </a:r>
            <a:r>
              <a:rPr lang="es-ES" sz="2400" b="0" dirty="0"/>
              <a:t>, que la almacenan</a:t>
            </a:r>
          </a:p>
        </p:txBody>
      </p:sp>
    </p:spTree>
    <p:extLst>
      <p:ext uri="{BB962C8B-B14F-4D97-AF65-F5344CB8AC3E}">
        <p14:creationId xmlns:p14="http://schemas.microsoft.com/office/powerpoint/2010/main" val="59136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477" grpId="0"/>
      <p:bldP spid="8" grpId="0"/>
      <p:bldP spid="10" grpId="0" animBg="1"/>
      <p:bldP spid="12" grpId="0"/>
      <p:bldP spid="13" grpId="0"/>
      <p:bldP spid="14" grpId="0"/>
      <p:bldP spid="24" grpId="0" animBg="1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B33327D-566A-759E-A7B1-248C2DE17C14}"/>
              </a:ext>
            </a:extLst>
          </p:cNvPr>
          <p:cNvSpPr/>
          <p:nvPr/>
        </p:nvSpPr>
        <p:spPr bwMode="auto">
          <a:xfrm>
            <a:off x="2093636" y="433785"/>
            <a:ext cx="4236826" cy="371595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95269" y="395109"/>
            <a:ext cx="8653462" cy="83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3.4.1 CIRCUITOS EN EQUILIBRIO.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         ASOCIACIÓN DE CONDENSADORES</a:t>
            </a:r>
          </a:p>
        </p:txBody>
      </p:sp>
      <p:sp>
        <p:nvSpPr>
          <p:cNvPr id="5" name="Text Box 70">
            <a:extLst>
              <a:ext uri="{FF2B5EF4-FFF2-40B4-BE49-F238E27FC236}">
                <a16:creationId xmlns:a16="http://schemas.microsoft.com/office/drawing/2014/main" id="{BC41D983-4985-1C2E-04CB-D8C680053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988" y="3961346"/>
            <a:ext cx="7462802" cy="21374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216000" tIns="144000" rIns="216000" bIns="144000" anchor="ctr" anchorCtr="0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sz="2400" dirty="0">
                <a:solidFill>
                  <a:srgbClr val="3333FF"/>
                </a:solidFill>
              </a:rPr>
              <a:t>Resolver un circuito</a:t>
            </a:r>
            <a:r>
              <a:rPr lang="es-ES" sz="2400" b="0" dirty="0"/>
              <a:t> </a:t>
            </a:r>
            <a:r>
              <a:rPr lang="es-ES" sz="2400" dirty="0">
                <a:solidFill>
                  <a:srgbClr val="3333FF"/>
                </a:solidFill>
              </a:rPr>
              <a:t>en equilibrio</a:t>
            </a:r>
            <a:r>
              <a:rPr lang="es-ES" sz="2400" b="0" dirty="0"/>
              <a:t> consiste en obtener la información que se desconozca en tanto a: capacidad, C, carga almacenada, Q, y tensión, V, de cada condensador del circuito, y fuerza electromotriz, </a:t>
            </a:r>
            <a:r>
              <a:rPr lang="es-ES" sz="2400" b="0" dirty="0">
                <a:sym typeface="Symbol" panose="05050102010706020507" pitchFamily="18" charset="2"/>
              </a:rPr>
              <a:t></a:t>
            </a:r>
            <a:r>
              <a:rPr lang="es-ES" sz="2400" b="0" dirty="0"/>
              <a:t>, de cada generador del mismo</a:t>
            </a:r>
          </a:p>
        </p:txBody>
      </p:sp>
      <p:sp>
        <p:nvSpPr>
          <p:cNvPr id="7" name="Text Box 69">
            <a:extLst>
              <a:ext uri="{FF2B5EF4-FFF2-40B4-BE49-F238E27FC236}">
                <a16:creationId xmlns:a16="http://schemas.microsoft.com/office/drawing/2014/main" id="{1E6D642F-A320-CE78-DB1C-312E02B0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980" y="1347370"/>
            <a:ext cx="5752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sz="2400" b="0" dirty="0"/>
              <a:t>Circuitos en los que no hay corrientes.</a:t>
            </a:r>
          </a:p>
        </p:txBody>
      </p:sp>
      <p:sp>
        <p:nvSpPr>
          <p:cNvPr id="9" name="Text Box 69">
            <a:extLst>
              <a:ext uri="{FF2B5EF4-FFF2-40B4-BE49-F238E27FC236}">
                <a16:creationId xmlns:a16="http://schemas.microsoft.com/office/drawing/2014/main" id="{9C44422D-C8A0-6E38-5ED1-5AA5FBAE6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061" y="1840752"/>
            <a:ext cx="61587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</a:pPr>
            <a:r>
              <a:rPr lang="es-ES" sz="2400" b="0" dirty="0"/>
              <a:t>Y donde los componentes relevantes son:</a:t>
            </a:r>
          </a:p>
        </p:txBody>
      </p:sp>
      <p:sp>
        <p:nvSpPr>
          <p:cNvPr id="28" name="Text Box 69">
            <a:extLst>
              <a:ext uri="{FF2B5EF4-FFF2-40B4-BE49-F238E27FC236}">
                <a16:creationId xmlns:a16="http://schemas.microsoft.com/office/drawing/2014/main" id="{9113E9A2-3FCA-3E52-3E00-AA6879ABA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376" y="2446105"/>
            <a:ext cx="61587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</a:pPr>
            <a:r>
              <a:rPr lang="es-ES" sz="2400" b="0" dirty="0">
                <a:sym typeface="Symbol" panose="05050102010706020507" pitchFamily="18" charset="2"/>
              </a:rPr>
              <a:t> </a:t>
            </a:r>
            <a:r>
              <a:rPr lang="es-ES" sz="2400" b="0" dirty="0"/>
              <a:t>Los </a:t>
            </a:r>
            <a:r>
              <a:rPr lang="es-ES" sz="2400" dirty="0">
                <a:solidFill>
                  <a:srgbClr val="008000"/>
                </a:solidFill>
              </a:rPr>
              <a:t>generadores</a:t>
            </a:r>
            <a:r>
              <a:rPr lang="es-ES" sz="2400" b="0" dirty="0"/>
              <a:t>, que aportan energía</a:t>
            </a:r>
          </a:p>
        </p:txBody>
      </p:sp>
      <p:sp>
        <p:nvSpPr>
          <p:cNvPr id="29" name="Text Box 69">
            <a:extLst>
              <a:ext uri="{FF2B5EF4-FFF2-40B4-BE49-F238E27FC236}">
                <a16:creationId xmlns:a16="http://schemas.microsoft.com/office/drawing/2014/main" id="{213E63B5-81F4-BF6E-DA0A-9B8BB1977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504" y="3047062"/>
            <a:ext cx="61587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</a:pPr>
            <a:r>
              <a:rPr lang="es-ES" sz="2400" b="0" dirty="0">
                <a:sym typeface="Symbol" panose="05050102010706020507" pitchFamily="18" charset="2"/>
              </a:rPr>
              <a:t> </a:t>
            </a:r>
            <a:r>
              <a:rPr lang="es-ES" sz="2400" b="0" dirty="0"/>
              <a:t>Los </a:t>
            </a:r>
            <a:r>
              <a:rPr lang="es-ES" sz="2400" dirty="0">
                <a:solidFill>
                  <a:srgbClr val="008000"/>
                </a:solidFill>
              </a:rPr>
              <a:t>condensadores</a:t>
            </a:r>
            <a:r>
              <a:rPr lang="es-ES" sz="2400" b="0" dirty="0"/>
              <a:t>, que la almacenan</a:t>
            </a:r>
          </a:p>
        </p:txBody>
      </p:sp>
    </p:spTree>
    <p:extLst>
      <p:ext uri="{BB962C8B-B14F-4D97-AF65-F5344CB8AC3E}">
        <p14:creationId xmlns:p14="http://schemas.microsoft.com/office/powerpoint/2010/main" val="368480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68 Grupo"/>
          <p:cNvGrpSpPr>
            <a:grpSpLocks/>
          </p:cNvGrpSpPr>
          <p:nvPr/>
        </p:nvGrpSpPr>
        <p:grpSpPr bwMode="auto">
          <a:xfrm>
            <a:off x="1904556" y="4585858"/>
            <a:ext cx="1530350" cy="1455737"/>
            <a:chOff x="2380422" y="3468688"/>
            <a:chExt cx="1529591" cy="1455737"/>
          </a:xfrm>
        </p:grpSpPr>
        <p:sp>
          <p:nvSpPr>
            <p:cNvPr id="9" name="Line 59"/>
            <p:cNvSpPr>
              <a:spLocks noChangeShapeType="1"/>
            </p:cNvSpPr>
            <p:nvPr/>
          </p:nvSpPr>
          <p:spPr bwMode="auto">
            <a:xfrm>
              <a:off x="2380422" y="3484563"/>
              <a:ext cx="0" cy="1439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14" name="Line 60"/>
            <p:cNvSpPr>
              <a:spLocks noChangeShapeType="1"/>
            </p:cNvSpPr>
            <p:nvPr/>
          </p:nvSpPr>
          <p:spPr bwMode="auto">
            <a:xfrm>
              <a:off x="3910013" y="3468688"/>
              <a:ext cx="0" cy="1439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4" name="67 Grupo"/>
          <p:cNvGrpSpPr>
            <a:grpSpLocks/>
          </p:cNvGrpSpPr>
          <p:nvPr/>
        </p:nvGrpSpPr>
        <p:grpSpPr bwMode="auto">
          <a:xfrm>
            <a:off x="1901381" y="5082745"/>
            <a:ext cx="1544637" cy="1328738"/>
            <a:chOff x="2386013" y="3965575"/>
            <a:chExt cx="1544637" cy="1328738"/>
          </a:xfrm>
        </p:grpSpPr>
        <p:grpSp>
          <p:nvGrpSpPr>
            <p:cNvPr id="19507" name="Group 49"/>
            <p:cNvGrpSpPr>
              <a:grpSpLocks/>
            </p:cNvGrpSpPr>
            <p:nvPr/>
          </p:nvGrpSpPr>
          <p:grpSpPr bwMode="auto">
            <a:xfrm>
              <a:off x="2386013" y="4575175"/>
              <a:ext cx="1544637" cy="719138"/>
              <a:chOff x="3976" y="1339"/>
              <a:chExt cx="973" cy="453"/>
            </a:xfrm>
          </p:grpSpPr>
          <p:sp>
            <p:nvSpPr>
              <p:cNvPr id="19509" name="Line 50"/>
              <p:cNvSpPr>
                <a:spLocks noChangeShapeType="1"/>
              </p:cNvSpPr>
              <p:nvPr/>
            </p:nvSpPr>
            <p:spPr bwMode="auto">
              <a:xfrm>
                <a:off x="4433" y="1339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2" name="Line 51"/>
              <p:cNvSpPr>
                <a:spLocks noChangeShapeType="1"/>
              </p:cNvSpPr>
              <p:nvPr/>
            </p:nvSpPr>
            <p:spPr bwMode="auto">
              <a:xfrm>
                <a:off x="4492" y="1452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3" name="Line 52"/>
              <p:cNvSpPr>
                <a:spLocks noChangeShapeType="1"/>
              </p:cNvSpPr>
              <p:nvPr/>
            </p:nvSpPr>
            <p:spPr bwMode="auto">
              <a:xfrm rot="5400000">
                <a:off x="4723" y="1338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4" name="Line 53"/>
              <p:cNvSpPr>
                <a:spLocks noChangeShapeType="1"/>
              </p:cNvSpPr>
              <p:nvPr/>
            </p:nvSpPr>
            <p:spPr bwMode="auto">
              <a:xfrm rot="5400000">
                <a:off x="4203" y="1338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19508" name="Text Box 61"/>
            <p:cNvSpPr txBox="1">
              <a:spLocks noChangeArrowheads="1"/>
            </p:cNvSpPr>
            <p:nvPr/>
          </p:nvSpPr>
          <p:spPr bwMode="auto">
            <a:xfrm>
              <a:off x="2978150" y="3965575"/>
              <a:ext cx="336550" cy="592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endParaRPr lang="es-ES" sz="28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6" name="66 Grupo"/>
          <p:cNvGrpSpPr>
            <a:grpSpLocks/>
          </p:cNvGrpSpPr>
          <p:nvPr/>
        </p:nvGrpSpPr>
        <p:grpSpPr bwMode="auto">
          <a:xfrm>
            <a:off x="1895031" y="3695270"/>
            <a:ext cx="1557337" cy="1266825"/>
            <a:chOff x="2370138" y="2578100"/>
            <a:chExt cx="1557337" cy="1266825"/>
          </a:xfrm>
        </p:grpSpPr>
        <p:sp>
          <p:nvSpPr>
            <p:cNvPr id="19502" name="Line 55"/>
            <p:cNvSpPr>
              <a:spLocks noChangeShapeType="1"/>
            </p:cNvSpPr>
            <p:nvPr/>
          </p:nvSpPr>
          <p:spPr bwMode="auto">
            <a:xfrm>
              <a:off x="3073400" y="3124200"/>
              <a:ext cx="0" cy="719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3" name="Line 56"/>
            <p:cNvSpPr>
              <a:spLocks noChangeShapeType="1"/>
            </p:cNvSpPr>
            <p:nvPr/>
          </p:nvSpPr>
          <p:spPr bwMode="auto">
            <a:xfrm>
              <a:off x="3222625" y="3125788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4" name="Line 57"/>
            <p:cNvSpPr>
              <a:spLocks noChangeShapeType="1"/>
            </p:cNvSpPr>
            <p:nvPr/>
          </p:nvSpPr>
          <p:spPr bwMode="auto">
            <a:xfrm rot="5400000">
              <a:off x="3567907" y="3123406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5" name="Line 58"/>
            <p:cNvSpPr>
              <a:spLocks noChangeShapeType="1"/>
            </p:cNvSpPr>
            <p:nvPr/>
          </p:nvSpPr>
          <p:spPr bwMode="auto">
            <a:xfrm rot="5400000">
              <a:off x="2729707" y="3123406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6" name="Text Box 62"/>
            <p:cNvSpPr txBox="1">
              <a:spLocks noChangeArrowheads="1"/>
            </p:cNvSpPr>
            <p:nvPr/>
          </p:nvSpPr>
          <p:spPr bwMode="auto">
            <a:xfrm>
              <a:off x="2981008" y="2578100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endParaRPr lang="es-ES" sz="20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8" name="Group 96"/>
          <p:cNvGrpSpPr>
            <a:grpSpLocks/>
          </p:cNvGrpSpPr>
          <p:nvPr/>
        </p:nvGrpSpPr>
        <p:grpSpPr bwMode="auto">
          <a:xfrm>
            <a:off x="2269681" y="5465333"/>
            <a:ext cx="708025" cy="488950"/>
            <a:chOff x="1729" y="2732"/>
            <a:chExt cx="446" cy="308"/>
          </a:xfrm>
        </p:grpSpPr>
        <p:sp>
          <p:nvSpPr>
            <p:cNvPr id="19498" name="Text Box 65"/>
            <p:cNvSpPr txBox="1">
              <a:spLocks noChangeArrowheads="1"/>
            </p:cNvSpPr>
            <p:nvPr/>
          </p:nvSpPr>
          <p:spPr bwMode="auto">
            <a:xfrm>
              <a:off x="1729" y="2744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9499" name="Text Box 66"/>
            <p:cNvSpPr txBox="1">
              <a:spLocks noChangeArrowheads="1"/>
            </p:cNvSpPr>
            <p:nvPr/>
          </p:nvSpPr>
          <p:spPr bwMode="auto">
            <a:xfrm>
              <a:off x="2008" y="2732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339026" name="Text Box 82"/>
          <p:cNvSpPr txBox="1">
            <a:spLocks noChangeArrowheads="1"/>
          </p:cNvSpPr>
          <p:nvPr/>
        </p:nvSpPr>
        <p:spPr bwMode="auto">
          <a:xfrm>
            <a:off x="4346362" y="251042"/>
            <a:ext cx="5898650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Al conectar hay aplicado un campo en cada punto de los cables, en sentido horario, debido a los excesos de carga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en los polos de la pila.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grpSp>
        <p:nvGrpSpPr>
          <p:cNvPr id="15" name="62 Grupo"/>
          <p:cNvGrpSpPr>
            <a:grpSpLocks/>
          </p:cNvGrpSpPr>
          <p:nvPr/>
        </p:nvGrpSpPr>
        <p:grpSpPr bwMode="auto">
          <a:xfrm>
            <a:off x="694748" y="4919992"/>
            <a:ext cx="1733550" cy="558800"/>
            <a:chOff x="1172817" y="3765550"/>
            <a:chExt cx="1733896" cy="558997"/>
          </a:xfrm>
        </p:grpSpPr>
        <p:sp>
          <p:nvSpPr>
            <p:cNvPr id="19485" name="Line 74"/>
            <p:cNvSpPr>
              <a:spLocks noChangeShapeType="1"/>
            </p:cNvSpPr>
            <p:nvPr/>
          </p:nvSpPr>
          <p:spPr bwMode="auto">
            <a:xfrm flipV="1">
              <a:off x="2503488" y="3970338"/>
              <a:ext cx="0" cy="3333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86" name="Text Box 76"/>
            <p:cNvSpPr txBox="1">
              <a:spLocks noChangeArrowheads="1"/>
            </p:cNvSpPr>
            <p:nvPr/>
          </p:nvSpPr>
          <p:spPr bwMode="auto">
            <a:xfrm>
              <a:off x="2506583" y="3765550"/>
              <a:ext cx="400130" cy="470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000" baseline="30000" dirty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9487" name="59 CuadroTexto"/>
            <p:cNvSpPr txBox="1">
              <a:spLocks noChangeArrowheads="1"/>
            </p:cNvSpPr>
            <p:nvPr/>
          </p:nvSpPr>
          <p:spPr bwMode="auto">
            <a:xfrm>
              <a:off x="1172817" y="3927532"/>
              <a:ext cx="184187" cy="397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63 Grupo"/>
          <p:cNvGrpSpPr>
            <a:grpSpLocks/>
          </p:cNvGrpSpPr>
          <p:nvPr/>
        </p:nvGrpSpPr>
        <p:grpSpPr bwMode="auto">
          <a:xfrm>
            <a:off x="2952306" y="5044645"/>
            <a:ext cx="646112" cy="596900"/>
            <a:chOff x="3427413" y="3927613"/>
            <a:chExt cx="645966" cy="596755"/>
          </a:xfrm>
        </p:grpSpPr>
        <p:sp>
          <p:nvSpPr>
            <p:cNvPr id="19482" name="Line 75"/>
            <p:cNvSpPr>
              <a:spLocks noChangeShapeType="1"/>
            </p:cNvSpPr>
            <p:nvPr/>
          </p:nvSpPr>
          <p:spPr bwMode="auto">
            <a:xfrm flipV="1">
              <a:off x="3767138" y="3975100"/>
              <a:ext cx="0" cy="3333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83" name="Text Box 77"/>
            <p:cNvSpPr txBox="1">
              <a:spLocks noChangeArrowheads="1"/>
            </p:cNvSpPr>
            <p:nvPr/>
          </p:nvSpPr>
          <p:spPr bwMode="auto">
            <a:xfrm>
              <a:off x="3427413" y="4054582"/>
              <a:ext cx="377739" cy="469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00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9484" name="60 CuadroTexto"/>
            <p:cNvSpPr txBox="1">
              <a:spLocks noChangeArrowheads="1"/>
            </p:cNvSpPr>
            <p:nvPr/>
          </p:nvSpPr>
          <p:spPr bwMode="auto">
            <a:xfrm>
              <a:off x="3889271" y="3927613"/>
              <a:ext cx="184108" cy="396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" name="CuadroTexto 4"/>
          <p:cNvSpPr txBox="1"/>
          <p:nvPr/>
        </p:nvSpPr>
        <p:spPr>
          <a:xfrm>
            <a:off x="1482579" y="437406"/>
            <a:ext cx="2396079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lIns="108000" tIns="72000" rIns="108000" bIns="72000">
            <a:spAutoFit/>
          </a:bodyPr>
          <a:lstStyle/>
          <a:p>
            <a:pPr algn="ctr">
              <a:defRPr/>
            </a:pPr>
            <a:r>
              <a:rPr lang="es-ES" sz="2400"/>
              <a:t>EL CIRCUITO MÁS SIMPLE</a:t>
            </a:r>
          </a:p>
        </p:txBody>
      </p:sp>
      <p:sp>
        <p:nvSpPr>
          <p:cNvPr id="62" name="Text Box 112"/>
          <p:cNvSpPr txBox="1">
            <a:spLocks noChangeArrowheads="1"/>
          </p:cNvSpPr>
          <p:nvPr/>
        </p:nvSpPr>
        <p:spPr bwMode="auto">
          <a:xfrm>
            <a:off x="1482579" y="1654138"/>
            <a:ext cx="2396079" cy="110250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44000" tIns="180000" rIns="144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1 generador</a:t>
            </a:r>
          </a:p>
          <a:p>
            <a:pPr algn="ctr" eaLnBrk="1" hangingPunct="1">
              <a:lnSpc>
                <a:spcPts val="2000"/>
              </a:lnSpc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ts val="2000"/>
              </a:lnSpc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1 condensador</a:t>
            </a:r>
          </a:p>
        </p:txBody>
      </p:sp>
      <p:sp>
        <p:nvSpPr>
          <p:cNvPr id="70" name="Text Box 82"/>
          <p:cNvSpPr txBox="1">
            <a:spLocks noChangeArrowheads="1"/>
          </p:cNvSpPr>
          <p:nvPr/>
        </p:nvSpPr>
        <p:spPr bwMode="auto">
          <a:xfrm>
            <a:off x="4336837" y="1796712"/>
            <a:ext cx="589865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Se generan corrientes de e</a:t>
            </a:r>
            <a:r>
              <a:rPr lang="es-ES" sz="2400" b="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en sentido contrario.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49" name="Text Box 82">
            <a:extLst>
              <a:ext uri="{FF2B5EF4-FFF2-40B4-BE49-F238E27FC236}">
                <a16:creationId xmlns:a16="http://schemas.microsoft.com/office/drawing/2014/main" id="{926A7599-C26E-4884-8CBD-CC0DD7729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905" y="3780056"/>
            <a:ext cx="5996085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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Hay c</a:t>
            </a:r>
            <a:r>
              <a:rPr lang="es-ES" sz="2400" b="0" dirty="0">
                <a:latin typeface="Arial" panose="020B0604020202020204" pitchFamily="34" charset="0"/>
              </a:rPr>
              <a:t>orrientes hasta que se alcanza    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equilibrio</a:t>
            </a:r>
            <a:r>
              <a:rPr lang="es-ES" sz="2400" b="0" dirty="0">
                <a:latin typeface="Arial" panose="020B0604020202020204" pitchFamily="34" charset="0"/>
              </a:rPr>
              <a:t>, hasta que el campo opuesto creado en el circuito por los excesos de carga del condensador iguala al de la pila.</a:t>
            </a:r>
          </a:p>
        </p:txBody>
      </p:sp>
      <p:sp>
        <p:nvSpPr>
          <p:cNvPr id="50" name="Text Box 82">
            <a:extLst>
              <a:ext uri="{FF2B5EF4-FFF2-40B4-BE49-F238E27FC236}">
                <a16:creationId xmlns:a16="http://schemas.microsoft.com/office/drawing/2014/main" id="{49D29018-5CF9-450D-A9AC-84AFB339B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703" y="2603718"/>
            <a:ext cx="5898650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 acumulan excesos de carga en el condensador. Inicialmente no habría si lo consideramos descargado.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grpSp>
        <p:nvGrpSpPr>
          <p:cNvPr id="51" name="Group 100">
            <a:extLst>
              <a:ext uri="{FF2B5EF4-FFF2-40B4-BE49-F238E27FC236}">
                <a16:creationId xmlns:a16="http://schemas.microsoft.com/office/drawing/2014/main" id="{F4EF3A27-8D8F-4D0E-9434-5ABC4DE54EA3}"/>
              </a:ext>
            </a:extLst>
          </p:cNvPr>
          <p:cNvGrpSpPr>
            <a:grpSpLocks/>
          </p:cNvGrpSpPr>
          <p:nvPr/>
        </p:nvGrpSpPr>
        <p:grpSpPr bwMode="auto">
          <a:xfrm>
            <a:off x="2273650" y="3996101"/>
            <a:ext cx="769938" cy="488950"/>
            <a:chOff x="1722" y="1819"/>
            <a:chExt cx="485" cy="308"/>
          </a:xfrm>
        </p:grpSpPr>
        <p:sp>
          <p:nvSpPr>
            <p:cNvPr id="53" name="Text Box 63">
              <a:extLst>
                <a:ext uri="{FF2B5EF4-FFF2-40B4-BE49-F238E27FC236}">
                  <a16:creationId xmlns:a16="http://schemas.microsoft.com/office/drawing/2014/main" id="{ACACA3FD-D24D-4983-8136-5148EDC09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2" y="1831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54" name="Text Box 64">
              <a:extLst>
                <a:ext uri="{FF2B5EF4-FFF2-40B4-BE49-F238E27FC236}">
                  <a16:creationId xmlns:a16="http://schemas.microsoft.com/office/drawing/2014/main" id="{DD3E9608-5CFB-4C5F-AA7B-5F87016B4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819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38" name="Text Box 82">
            <a:extLst>
              <a:ext uri="{FF2B5EF4-FFF2-40B4-BE49-F238E27FC236}">
                <a16:creationId xmlns:a16="http://schemas.microsoft.com/office/drawing/2014/main" id="{C24ED8DC-BEA6-49B6-ACD2-5D1567F59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703" y="5325727"/>
            <a:ext cx="5898650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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La pila, al debilitarse sus excesos de carga y la </a:t>
            </a:r>
            <a:r>
              <a:rPr lang="es-ES" sz="2400" b="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ddp</a:t>
            </a:r>
            <a:r>
              <a:rPr lang="es-ES" sz="2400" b="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entre sus polos por las corrientes, trabaja y mantiene la </a:t>
            </a:r>
            <a:r>
              <a:rPr lang="es-ES" sz="2400" b="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ddp</a:t>
            </a:r>
            <a:r>
              <a:rPr lang="es-ES" sz="2400" b="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que coincide con .</a:t>
            </a:r>
            <a:endParaRPr lang="es-ES" sz="24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73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3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026" grpId="0"/>
      <p:bldP spid="5" grpId="0" animBg="1"/>
      <p:bldP spid="62" grpId="0" animBg="1"/>
      <p:bldP spid="70" grpId="0"/>
      <p:bldP spid="49" grpId="0"/>
      <p:bldP spid="50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21"/>
          <p:cNvSpPr>
            <a:spLocks noChangeArrowheads="1"/>
          </p:cNvSpPr>
          <p:nvPr/>
        </p:nvSpPr>
        <p:spPr bwMode="auto">
          <a:xfrm>
            <a:off x="5845467" y="631833"/>
            <a:ext cx="957263" cy="2460624"/>
          </a:xfrm>
          <a:prstGeom prst="rect">
            <a:avLst/>
          </a:prstGeom>
          <a:solidFill>
            <a:srgbClr val="CCFFFF"/>
          </a:solidFill>
          <a:ln w="19050" algn="ctr">
            <a:solidFill>
              <a:srgbClr val="008000"/>
            </a:solidFill>
            <a:prstDash val="dash"/>
            <a:miter lim="800000"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Text Box 70"/>
          <p:cNvSpPr txBox="1">
            <a:spLocks noChangeArrowheads="1"/>
          </p:cNvSpPr>
          <p:nvPr/>
        </p:nvSpPr>
        <p:spPr bwMode="auto">
          <a:xfrm>
            <a:off x="7324947" y="1194693"/>
            <a:ext cx="2258588" cy="536575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58" name="Rectangle 116"/>
          <p:cNvSpPr>
            <a:spLocks noChangeArrowheads="1"/>
          </p:cNvSpPr>
          <p:nvPr/>
        </p:nvSpPr>
        <p:spPr bwMode="auto">
          <a:xfrm>
            <a:off x="4835817" y="635008"/>
            <a:ext cx="957263" cy="2460624"/>
          </a:xfrm>
          <a:prstGeom prst="rect">
            <a:avLst/>
          </a:prstGeom>
          <a:solidFill>
            <a:srgbClr val="FFCCFF"/>
          </a:solidFill>
          <a:ln w="19050" algn="ctr">
            <a:solidFill>
              <a:srgbClr val="008000"/>
            </a:solidFill>
            <a:prstDash val="dash"/>
            <a:miter lim="800000"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 Box 68"/>
          <p:cNvSpPr txBox="1">
            <a:spLocks noChangeArrowheads="1"/>
          </p:cNvSpPr>
          <p:nvPr/>
        </p:nvSpPr>
        <p:spPr bwMode="auto">
          <a:xfrm>
            <a:off x="1786459" y="1189931"/>
            <a:ext cx="2465157" cy="536575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Conductor 1</a:t>
            </a:r>
          </a:p>
        </p:txBody>
      </p:sp>
      <p:grpSp>
        <p:nvGrpSpPr>
          <p:cNvPr id="3" name="68 Grupo"/>
          <p:cNvGrpSpPr>
            <a:grpSpLocks/>
          </p:cNvGrpSpPr>
          <p:nvPr/>
        </p:nvGrpSpPr>
        <p:grpSpPr bwMode="auto">
          <a:xfrm>
            <a:off x="5040604" y="1157796"/>
            <a:ext cx="1530350" cy="1455737"/>
            <a:chOff x="2380422" y="3468688"/>
            <a:chExt cx="1529591" cy="1455737"/>
          </a:xfrm>
        </p:grpSpPr>
        <p:sp>
          <p:nvSpPr>
            <p:cNvPr id="9" name="Line 59"/>
            <p:cNvSpPr>
              <a:spLocks noChangeShapeType="1"/>
            </p:cNvSpPr>
            <p:nvPr/>
          </p:nvSpPr>
          <p:spPr bwMode="auto">
            <a:xfrm>
              <a:off x="2380422" y="3484563"/>
              <a:ext cx="0" cy="1439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14" name="Line 60"/>
            <p:cNvSpPr>
              <a:spLocks noChangeShapeType="1"/>
            </p:cNvSpPr>
            <p:nvPr/>
          </p:nvSpPr>
          <p:spPr bwMode="auto">
            <a:xfrm>
              <a:off x="3910013" y="3468688"/>
              <a:ext cx="0" cy="1439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4" name="67 Grupo"/>
          <p:cNvGrpSpPr>
            <a:grpSpLocks/>
          </p:cNvGrpSpPr>
          <p:nvPr/>
        </p:nvGrpSpPr>
        <p:grpSpPr bwMode="auto">
          <a:xfrm>
            <a:off x="5037429" y="1654683"/>
            <a:ext cx="1544637" cy="1328738"/>
            <a:chOff x="2386013" y="3965575"/>
            <a:chExt cx="1544637" cy="1328738"/>
          </a:xfrm>
        </p:grpSpPr>
        <p:grpSp>
          <p:nvGrpSpPr>
            <p:cNvPr id="19507" name="Group 49"/>
            <p:cNvGrpSpPr>
              <a:grpSpLocks/>
            </p:cNvGrpSpPr>
            <p:nvPr/>
          </p:nvGrpSpPr>
          <p:grpSpPr bwMode="auto">
            <a:xfrm>
              <a:off x="2386013" y="4575175"/>
              <a:ext cx="1544637" cy="719138"/>
              <a:chOff x="3976" y="1339"/>
              <a:chExt cx="973" cy="453"/>
            </a:xfrm>
          </p:grpSpPr>
          <p:sp>
            <p:nvSpPr>
              <p:cNvPr id="19509" name="Line 50"/>
              <p:cNvSpPr>
                <a:spLocks noChangeShapeType="1"/>
              </p:cNvSpPr>
              <p:nvPr/>
            </p:nvSpPr>
            <p:spPr bwMode="auto">
              <a:xfrm>
                <a:off x="4433" y="1339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2" name="Line 51"/>
              <p:cNvSpPr>
                <a:spLocks noChangeShapeType="1"/>
              </p:cNvSpPr>
              <p:nvPr/>
            </p:nvSpPr>
            <p:spPr bwMode="auto">
              <a:xfrm>
                <a:off x="4492" y="1452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3" name="Line 52"/>
              <p:cNvSpPr>
                <a:spLocks noChangeShapeType="1"/>
              </p:cNvSpPr>
              <p:nvPr/>
            </p:nvSpPr>
            <p:spPr bwMode="auto">
              <a:xfrm rot="5400000">
                <a:off x="4723" y="1338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4" name="Line 53"/>
              <p:cNvSpPr>
                <a:spLocks noChangeShapeType="1"/>
              </p:cNvSpPr>
              <p:nvPr/>
            </p:nvSpPr>
            <p:spPr bwMode="auto">
              <a:xfrm rot="5400000">
                <a:off x="4203" y="1338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19508" name="Text Box 61"/>
            <p:cNvSpPr txBox="1">
              <a:spLocks noChangeArrowheads="1"/>
            </p:cNvSpPr>
            <p:nvPr/>
          </p:nvSpPr>
          <p:spPr bwMode="auto">
            <a:xfrm>
              <a:off x="2978150" y="3965575"/>
              <a:ext cx="336550" cy="592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endParaRPr lang="es-ES" sz="28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6" name="66 Grupo"/>
          <p:cNvGrpSpPr>
            <a:grpSpLocks/>
          </p:cNvGrpSpPr>
          <p:nvPr/>
        </p:nvGrpSpPr>
        <p:grpSpPr bwMode="auto">
          <a:xfrm>
            <a:off x="5031079" y="257160"/>
            <a:ext cx="1557337" cy="1266825"/>
            <a:chOff x="2370138" y="2578100"/>
            <a:chExt cx="1557337" cy="1266825"/>
          </a:xfrm>
        </p:grpSpPr>
        <p:sp>
          <p:nvSpPr>
            <p:cNvPr id="19502" name="Line 55"/>
            <p:cNvSpPr>
              <a:spLocks noChangeShapeType="1"/>
            </p:cNvSpPr>
            <p:nvPr/>
          </p:nvSpPr>
          <p:spPr bwMode="auto">
            <a:xfrm>
              <a:off x="3073400" y="3124200"/>
              <a:ext cx="0" cy="719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3" name="Line 56"/>
            <p:cNvSpPr>
              <a:spLocks noChangeShapeType="1"/>
            </p:cNvSpPr>
            <p:nvPr/>
          </p:nvSpPr>
          <p:spPr bwMode="auto">
            <a:xfrm>
              <a:off x="3222625" y="3125788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4" name="Line 57"/>
            <p:cNvSpPr>
              <a:spLocks noChangeShapeType="1"/>
            </p:cNvSpPr>
            <p:nvPr/>
          </p:nvSpPr>
          <p:spPr bwMode="auto">
            <a:xfrm rot="5400000">
              <a:off x="3567907" y="3123406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5" name="Line 58"/>
            <p:cNvSpPr>
              <a:spLocks noChangeShapeType="1"/>
            </p:cNvSpPr>
            <p:nvPr/>
          </p:nvSpPr>
          <p:spPr bwMode="auto">
            <a:xfrm rot="5400000">
              <a:off x="2729707" y="3123406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506" name="Text Box 62"/>
            <p:cNvSpPr txBox="1">
              <a:spLocks noChangeArrowheads="1"/>
            </p:cNvSpPr>
            <p:nvPr/>
          </p:nvSpPr>
          <p:spPr bwMode="auto">
            <a:xfrm>
              <a:off x="2981008" y="2578100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endParaRPr lang="es-ES" sz="20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7" name="Group 100"/>
          <p:cNvGrpSpPr>
            <a:grpSpLocks/>
          </p:cNvGrpSpPr>
          <p:nvPr/>
        </p:nvGrpSpPr>
        <p:grpSpPr bwMode="auto">
          <a:xfrm>
            <a:off x="5394616" y="643404"/>
            <a:ext cx="769938" cy="488950"/>
            <a:chOff x="1722" y="1819"/>
            <a:chExt cx="485" cy="308"/>
          </a:xfrm>
        </p:grpSpPr>
        <p:sp>
          <p:nvSpPr>
            <p:cNvPr id="19500" name="Text Box 63"/>
            <p:cNvSpPr txBox="1">
              <a:spLocks noChangeArrowheads="1"/>
            </p:cNvSpPr>
            <p:nvPr/>
          </p:nvSpPr>
          <p:spPr bwMode="auto">
            <a:xfrm>
              <a:off x="1722" y="1831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9501" name="Text Box 64"/>
            <p:cNvSpPr txBox="1">
              <a:spLocks noChangeArrowheads="1"/>
            </p:cNvSpPr>
            <p:nvPr/>
          </p:nvSpPr>
          <p:spPr bwMode="auto">
            <a:xfrm>
              <a:off x="2040" y="1819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8" name="Group 96"/>
          <p:cNvGrpSpPr>
            <a:grpSpLocks/>
          </p:cNvGrpSpPr>
          <p:nvPr/>
        </p:nvGrpSpPr>
        <p:grpSpPr bwMode="auto">
          <a:xfrm>
            <a:off x="5405729" y="2037271"/>
            <a:ext cx="708025" cy="488950"/>
            <a:chOff x="1729" y="2732"/>
            <a:chExt cx="446" cy="308"/>
          </a:xfrm>
        </p:grpSpPr>
        <p:sp>
          <p:nvSpPr>
            <p:cNvPr id="19498" name="Text Box 65"/>
            <p:cNvSpPr txBox="1">
              <a:spLocks noChangeArrowheads="1"/>
            </p:cNvSpPr>
            <p:nvPr/>
          </p:nvSpPr>
          <p:spPr bwMode="auto">
            <a:xfrm>
              <a:off x="1729" y="2744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9499" name="Text Box 66"/>
            <p:cNvSpPr txBox="1">
              <a:spLocks noChangeArrowheads="1"/>
            </p:cNvSpPr>
            <p:nvPr/>
          </p:nvSpPr>
          <p:spPr bwMode="auto">
            <a:xfrm>
              <a:off x="2008" y="2732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39" name="Text Box 71"/>
          <p:cNvSpPr txBox="1">
            <a:spLocks noChangeArrowheads="1"/>
          </p:cNvSpPr>
          <p:nvPr/>
        </p:nvSpPr>
        <p:spPr bwMode="auto">
          <a:xfrm>
            <a:off x="1292391" y="354818"/>
            <a:ext cx="1964297" cy="53654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 equilibrio:</a:t>
            </a:r>
            <a:endParaRPr lang="es-ES" sz="2400" b="0" baseline="300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6" name="Text Box 92">
            <a:extLst>
              <a:ext uri="{FF2B5EF4-FFF2-40B4-BE49-F238E27FC236}">
                <a16:creationId xmlns:a16="http://schemas.microsoft.com/office/drawing/2014/main" id="{8E1F4B0A-DD44-48A3-ABED-FBDCCA77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963" y="4546398"/>
            <a:ext cx="8661679" cy="1051287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26000" tIns="154800" rIns="126000" bIns="154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carga (o descarga) de un condensador termina cuando    la </a:t>
            </a:r>
            <a:r>
              <a:rPr lang="es-ES" sz="2400" b="0" dirty="0" err="1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ddp</a:t>
            </a:r>
            <a:r>
              <a:rPr lang="es-ES" sz="2400" b="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entre sus terminales alcanza la aplicada</a:t>
            </a:r>
          </a:p>
        </p:txBody>
      </p:sp>
      <p:sp>
        <p:nvSpPr>
          <p:cNvPr id="48" name="Text Box 70">
            <a:extLst>
              <a:ext uri="{FF2B5EF4-FFF2-40B4-BE49-F238E27FC236}">
                <a16:creationId xmlns:a16="http://schemas.microsoft.com/office/drawing/2014/main" id="{FDF8F9D9-430E-4745-902F-B6918DB8E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308" y="5924748"/>
            <a:ext cx="6837997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El límite de carga lo marca la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ruptura dieléctrica </a:t>
            </a:r>
            <a:r>
              <a:rPr lang="es-ES" sz="2400" b="0" dirty="0">
                <a:latin typeface="Arial" panose="020B0604020202020204" pitchFamily="34" charset="0"/>
              </a:rPr>
              <a:t>del medio entre las placas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64BAA9C-1E40-4800-A382-55A56112AD84}"/>
              </a:ext>
            </a:extLst>
          </p:cNvPr>
          <p:cNvCxnSpPr/>
          <p:nvPr/>
        </p:nvCxnSpPr>
        <p:spPr bwMode="auto">
          <a:xfrm>
            <a:off x="6788151" y="1493394"/>
            <a:ext cx="558567" cy="0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806D1EB6-1EF1-4A76-B5AF-01997031A686}"/>
              </a:ext>
            </a:extLst>
          </p:cNvPr>
          <p:cNvCxnSpPr/>
          <p:nvPr/>
        </p:nvCxnSpPr>
        <p:spPr bwMode="auto">
          <a:xfrm>
            <a:off x="4246593" y="1493394"/>
            <a:ext cx="558567" cy="0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D4C2FDD7-08F2-47CF-B734-D1BCC1E5A4EA}"/>
              </a:ext>
            </a:extLst>
          </p:cNvPr>
          <p:cNvGrpSpPr/>
          <p:nvPr/>
        </p:nvGrpSpPr>
        <p:grpSpPr>
          <a:xfrm>
            <a:off x="4796214" y="3641936"/>
            <a:ext cx="4942962" cy="598104"/>
            <a:chOff x="3939824" y="3587470"/>
            <a:chExt cx="4942962" cy="598104"/>
          </a:xfrm>
        </p:grpSpPr>
        <p:sp>
          <p:nvSpPr>
            <p:cNvPr id="44" name="Text Box 122">
              <a:extLst>
                <a:ext uri="{FF2B5EF4-FFF2-40B4-BE49-F238E27FC236}">
                  <a16:creationId xmlns:a16="http://schemas.microsoft.com/office/drawing/2014/main" id="{D3588A4A-3405-41B4-BD35-62A1FF4A4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824" y="3595728"/>
              <a:ext cx="4942962" cy="536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              </a:t>
              </a:r>
              <a:r>
                <a:rPr lang="es-ES" sz="2400" b="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(FEM = Tensión)</a:t>
              </a:r>
            </a:p>
          </p:txBody>
        </p:sp>
        <p:sp>
          <p:nvSpPr>
            <p:cNvPr id="63" name="Text Box 122"/>
            <p:cNvSpPr txBox="1">
              <a:spLocks noChangeArrowheads="1"/>
            </p:cNvSpPr>
            <p:nvPr/>
          </p:nvSpPr>
          <p:spPr bwMode="auto">
            <a:xfrm>
              <a:off x="4434008" y="3587470"/>
              <a:ext cx="952200" cy="5981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800" b="0" dirty="0"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 = V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1979D9F-12F8-4841-A072-1A267919FE86}"/>
              </a:ext>
            </a:extLst>
          </p:cNvPr>
          <p:cNvGrpSpPr/>
          <p:nvPr/>
        </p:nvGrpSpPr>
        <p:grpSpPr>
          <a:xfrm>
            <a:off x="1046478" y="1720999"/>
            <a:ext cx="4010418" cy="1770801"/>
            <a:chOff x="1046478" y="1833889"/>
            <a:chExt cx="4010418" cy="1770801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878A795D-ACFE-4BC5-81A6-F979C3BB04F7}"/>
                </a:ext>
              </a:extLst>
            </p:cNvPr>
            <p:cNvGrpSpPr/>
            <p:nvPr/>
          </p:nvGrpSpPr>
          <p:grpSpPr>
            <a:xfrm>
              <a:off x="1331604" y="1833889"/>
              <a:ext cx="2909762" cy="1770801"/>
              <a:chOff x="1332559" y="1826204"/>
              <a:chExt cx="2909762" cy="1770801"/>
            </a:xfrm>
          </p:grpSpPr>
          <p:sp>
            <p:nvSpPr>
              <p:cNvPr id="2" name="Rectángulo 1"/>
              <p:cNvSpPr/>
              <p:nvPr/>
            </p:nvSpPr>
            <p:spPr bwMode="auto">
              <a:xfrm>
                <a:off x="1787414" y="2085005"/>
                <a:ext cx="2454907" cy="1512000"/>
              </a:xfrm>
              <a:prstGeom prst="rect">
                <a:avLst/>
              </a:prstGeom>
              <a:solidFill>
                <a:srgbClr val="FFCC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1" name="Text Box 71"/>
              <p:cNvSpPr txBox="1">
                <a:spLocks noChangeArrowheads="1"/>
              </p:cNvSpPr>
              <p:nvPr/>
            </p:nvSpPr>
            <p:spPr bwMode="auto">
              <a:xfrm>
                <a:off x="1332559" y="2081624"/>
                <a:ext cx="2426996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1200"/>
                  </a:spcBef>
                  <a:buFontTx/>
                  <a:buNone/>
                </a:pPr>
                <a:r>
                  <a:rPr lang="es-ES" sz="2400" b="0" dirty="0">
                    <a:latin typeface="Arial" panose="020B0604020202020204" pitchFamily="34" charset="0"/>
                    <a:sym typeface="Symbol" panose="05050102010706020507" pitchFamily="18" charset="2"/>
                  </a:rPr>
                  <a:t>V</a:t>
                </a:r>
                <a:r>
                  <a:rPr lang="es-ES" sz="2400" b="0" baseline="-25000" dirty="0">
                    <a:latin typeface="Arial" panose="020B0604020202020204" pitchFamily="34" charset="0"/>
                    <a:sym typeface="Symbol" panose="05050102010706020507" pitchFamily="18" charset="2"/>
                  </a:rPr>
                  <a:t>1</a:t>
                </a:r>
                <a:r>
                  <a:rPr lang="es-ES" sz="2400" b="0" dirty="0">
                    <a:latin typeface="Arial" panose="020B0604020202020204" pitchFamily="34" charset="0"/>
                    <a:sym typeface="Symbol" panose="05050102010706020507" pitchFamily="18" charset="2"/>
                  </a:rPr>
                  <a:t> = cte.</a:t>
                </a:r>
                <a:endParaRPr lang="es-ES" sz="2400" b="0" baseline="30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55" name="Conector recto de flecha 54">
                <a:extLst>
                  <a:ext uri="{FF2B5EF4-FFF2-40B4-BE49-F238E27FC236}">
                    <a16:creationId xmlns:a16="http://schemas.microsoft.com/office/drawing/2014/main" id="{3F459661-DC8D-4EF8-AD8E-899271BC6EC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2310991" y="1983852"/>
                <a:ext cx="315295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2" name="Text Box 71">
              <a:extLst>
                <a:ext uri="{FF2B5EF4-FFF2-40B4-BE49-F238E27FC236}">
                  <a16:creationId xmlns:a16="http://schemas.microsoft.com/office/drawing/2014/main" id="{76C6A14B-2CB4-4490-AF7B-64AD75B69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478" y="2585624"/>
              <a:ext cx="4010418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1200"/>
                </a:spcBef>
                <a:buNone/>
              </a:pP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="0" baseline="-250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 = V</a:t>
              </a:r>
              <a:r>
                <a:rPr lang="es-ES" sz="2400" b="0" baseline="-25000">
                  <a:latin typeface="Arial" panose="020B0604020202020204" pitchFamily="34" charset="0"/>
                  <a:sym typeface="Symbol" panose="05050102010706020507" pitchFamily="18" charset="2"/>
                </a:rPr>
                <a:t>placa +</a:t>
              </a: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 = V</a:t>
              </a:r>
              <a:r>
                <a:rPr lang="es-ES" sz="2400" b="0" baseline="30000">
                  <a:latin typeface="Arial" panose="020B0604020202020204" pitchFamily="34" charset="0"/>
                  <a:sym typeface="Symbol" panose="05050102010706020507" pitchFamily="18" charset="2"/>
                </a:rPr>
                <a:t>+</a:t>
              </a:r>
              <a:endParaRPr lang="es-ES" sz="2400" b="0" baseline="30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6" name="Text Box 71">
              <a:extLst>
                <a:ext uri="{FF2B5EF4-FFF2-40B4-BE49-F238E27FC236}">
                  <a16:creationId xmlns:a16="http://schemas.microsoft.com/office/drawing/2014/main" id="{2F4F0E9E-020E-4F77-BCFD-C6CC24A5D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660" y="3043422"/>
              <a:ext cx="1896869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12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="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 = </a:t>
              </a:r>
              <a:r>
                <a:rPr lang="es-ES" sz="2400" b="0" dirty="0" err="1"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="0" baseline="-25000" dirty="0" err="1">
                  <a:latin typeface="Arial" panose="020B0604020202020204" pitchFamily="34" charset="0"/>
                  <a:sym typeface="Symbol" panose="05050102010706020507" pitchFamily="18" charset="2"/>
                </a:rPr>
                <a:t>cátodo</a:t>
              </a:r>
              <a:endPara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B71D08-CDB4-4D82-BD31-CAA51944AF54}"/>
              </a:ext>
            </a:extLst>
          </p:cNvPr>
          <p:cNvGrpSpPr/>
          <p:nvPr/>
        </p:nvGrpSpPr>
        <p:grpSpPr>
          <a:xfrm>
            <a:off x="6852346" y="1723362"/>
            <a:ext cx="2786681" cy="1762905"/>
            <a:chOff x="6852346" y="1836252"/>
            <a:chExt cx="2786681" cy="1762905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E3A8D042-A4A3-4648-8DCE-F5270CAD8BAC}"/>
                </a:ext>
              </a:extLst>
            </p:cNvPr>
            <p:cNvGrpSpPr/>
            <p:nvPr/>
          </p:nvGrpSpPr>
          <p:grpSpPr>
            <a:xfrm>
              <a:off x="6852346" y="1836252"/>
              <a:ext cx="2731189" cy="1762905"/>
              <a:chOff x="6852346" y="1836252"/>
              <a:chExt cx="2731189" cy="1762905"/>
            </a:xfrm>
          </p:grpSpPr>
          <p:sp>
            <p:nvSpPr>
              <p:cNvPr id="38" name="Rectángulo 37"/>
              <p:cNvSpPr/>
              <p:nvPr/>
            </p:nvSpPr>
            <p:spPr bwMode="auto">
              <a:xfrm>
                <a:off x="7324946" y="2087157"/>
                <a:ext cx="2258589" cy="1512000"/>
              </a:xfrm>
              <a:prstGeom prst="rect">
                <a:avLst/>
              </a:prstGeom>
              <a:solidFill>
                <a:srgbClr val="CCEC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1" name="Text Box 71">
                <a:extLst>
                  <a:ext uri="{FF2B5EF4-FFF2-40B4-BE49-F238E27FC236}">
                    <a16:creationId xmlns:a16="http://schemas.microsoft.com/office/drawing/2014/main" id="{0B5D1184-9093-4AB7-B0DB-905C92E405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2346" y="2097545"/>
                <a:ext cx="2357457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 dirty="0">
                    <a:latin typeface="Arial" panose="020B0604020202020204" pitchFamily="34" charset="0"/>
                    <a:sym typeface="Symbol" panose="05050102010706020507" pitchFamily="18" charset="2"/>
                  </a:rPr>
                  <a:t>V</a:t>
                </a:r>
                <a:r>
                  <a:rPr lang="es-ES" sz="2400" b="0" baseline="-25000" dirty="0">
                    <a:latin typeface="Arial" panose="020B0604020202020204" pitchFamily="34" charset="0"/>
                    <a:sym typeface="Symbol" panose="05050102010706020507" pitchFamily="18" charset="2"/>
                  </a:rPr>
                  <a:t>2</a:t>
                </a:r>
                <a:r>
                  <a:rPr lang="es-ES" sz="2400" b="0" dirty="0">
                    <a:latin typeface="Arial" panose="020B0604020202020204" pitchFamily="34" charset="0"/>
                    <a:sym typeface="Symbol" panose="05050102010706020507" pitchFamily="18" charset="2"/>
                  </a:rPr>
                  <a:t> = cte.</a:t>
                </a:r>
                <a:endParaRPr lang="es-ES" sz="2400" b="0" baseline="30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51" name="Conector recto de flecha 50">
                <a:extLst>
                  <a:ext uri="{FF2B5EF4-FFF2-40B4-BE49-F238E27FC236}">
                    <a16:creationId xmlns:a16="http://schemas.microsoft.com/office/drawing/2014/main" id="{6A0F016A-0920-49B7-B170-E5349DBA5BF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7775625" y="1993900"/>
                <a:ext cx="315295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0" name="Text Box 71">
              <a:extLst>
                <a:ext uri="{FF2B5EF4-FFF2-40B4-BE49-F238E27FC236}">
                  <a16:creationId xmlns:a16="http://schemas.microsoft.com/office/drawing/2014/main" id="{06F05CA6-D85C-4759-AA34-702983242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7439" y="2528531"/>
              <a:ext cx="2381588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1200"/>
                </a:spcBef>
                <a:buNone/>
              </a:pP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="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= V</a:t>
              </a:r>
              <a:r>
                <a:rPr lang="es-ES" sz="2400" b="0" baseline="-25000">
                  <a:latin typeface="Arial" panose="020B0604020202020204" pitchFamily="34" charset="0"/>
                  <a:sym typeface="Symbol" panose="05050102010706020507" pitchFamily="18" charset="2"/>
                </a:rPr>
                <a:t>placa -</a:t>
              </a: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= V</a:t>
              </a:r>
              <a:r>
                <a:rPr lang="es-ES" sz="2400" b="0" baseline="30000">
                  <a:latin typeface="Arial" panose="020B0604020202020204" pitchFamily="34" charset="0"/>
                  <a:sym typeface="Symbol" panose="05050102010706020507" pitchFamily="18" charset="2"/>
                </a:rPr>
                <a:t>-</a:t>
              </a:r>
              <a:endParaRPr lang="es-ES" sz="2400" b="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64" name="Text Box 71">
              <a:extLst>
                <a:ext uri="{FF2B5EF4-FFF2-40B4-BE49-F238E27FC236}">
                  <a16:creationId xmlns:a16="http://schemas.microsoft.com/office/drawing/2014/main" id="{98A5B790-92EF-483F-B0A5-C406B41AD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1958" y="3043422"/>
              <a:ext cx="1896869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12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="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 = </a:t>
              </a:r>
              <a:r>
                <a:rPr lang="es-ES" sz="2400" b="0" dirty="0" err="1"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="0" baseline="-25000" dirty="0" err="1">
                  <a:latin typeface="Arial" panose="020B0604020202020204" pitchFamily="34" charset="0"/>
                  <a:sym typeface="Symbol" panose="05050102010706020507" pitchFamily="18" charset="2"/>
                </a:rPr>
                <a:t>ánodo</a:t>
              </a:r>
              <a:endPara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5" name="Text Box 122">
            <a:extLst>
              <a:ext uri="{FF2B5EF4-FFF2-40B4-BE49-F238E27FC236}">
                <a16:creationId xmlns:a16="http://schemas.microsoft.com/office/drawing/2014/main" id="{FABDA10A-0F78-41AA-B8B8-11C0C6026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3547" y="3682011"/>
            <a:ext cx="3549821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 err="1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cátodo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- </a:t>
            </a:r>
            <a:r>
              <a:rPr lang="es-ES" sz="2400" b="0" dirty="0" err="1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ánodo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= V</a:t>
            </a:r>
            <a:r>
              <a:rPr lang="es-ES" sz="2400" b="0" baseline="30000" dirty="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- V</a:t>
            </a:r>
            <a:r>
              <a:rPr lang="es-ES" sz="2400" b="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0084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3" grpId="0" animBg="1"/>
      <p:bldP spid="58" grpId="0" animBg="1"/>
      <p:bldP spid="57" grpId="0" animBg="1"/>
      <p:bldP spid="39" grpId="0" animBg="1"/>
      <p:bldP spid="46" grpId="0" animBg="1"/>
      <p:bldP spid="48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2" name="Group 4"/>
          <p:cNvGrpSpPr>
            <a:grpSpLocks/>
          </p:cNvGrpSpPr>
          <p:nvPr/>
        </p:nvGrpSpPr>
        <p:grpSpPr bwMode="auto">
          <a:xfrm>
            <a:off x="1561849" y="3016250"/>
            <a:ext cx="3697287" cy="3213101"/>
            <a:chOff x="-2100" y="1466"/>
            <a:chExt cx="2329" cy="2024"/>
          </a:xfrm>
        </p:grpSpPr>
        <p:grpSp>
          <p:nvGrpSpPr>
            <p:cNvPr id="23584" name="Group 10"/>
            <p:cNvGrpSpPr>
              <a:grpSpLocks/>
            </p:cNvGrpSpPr>
            <p:nvPr/>
          </p:nvGrpSpPr>
          <p:grpSpPr bwMode="auto">
            <a:xfrm>
              <a:off x="-1537" y="1801"/>
              <a:ext cx="71" cy="304"/>
              <a:chOff x="4253" y="5198"/>
              <a:chExt cx="121" cy="360"/>
            </a:xfrm>
          </p:grpSpPr>
          <p:sp>
            <p:nvSpPr>
              <p:cNvPr id="23612" name="Line 11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13" name="Line 12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23585" name="Group 13"/>
            <p:cNvGrpSpPr>
              <a:grpSpLocks/>
            </p:cNvGrpSpPr>
            <p:nvPr/>
          </p:nvGrpSpPr>
          <p:grpSpPr bwMode="auto">
            <a:xfrm>
              <a:off x="-370" y="1803"/>
              <a:ext cx="71" cy="305"/>
              <a:chOff x="4253" y="5198"/>
              <a:chExt cx="121" cy="360"/>
            </a:xfrm>
          </p:grpSpPr>
          <p:sp>
            <p:nvSpPr>
              <p:cNvPr id="23610" name="Line 14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11" name="Line 15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23586" name="Group 16"/>
            <p:cNvGrpSpPr>
              <a:grpSpLocks/>
            </p:cNvGrpSpPr>
            <p:nvPr/>
          </p:nvGrpSpPr>
          <p:grpSpPr bwMode="auto">
            <a:xfrm rot="5400000">
              <a:off x="-994" y="2355"/>
              <a:ext cx="103" cy="212"/>
              <a:chOff x="4253" y="5198"/>
              <a:chExt cx="121" cy="360"/>
            </a:xfrm>
          </p:grpSpPr>
          <p:sp>
            <p:nvSpPr>
              <p:cNvPr id="23608" name="Line 1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09" name="Line 1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3587" name="Line 19"/>
            <p:cNvSpPr>
              <a:spLocks noChangeShapeType="1"/>
            </p:cNvSpPr>
            <p:nvPr/>
          </p:nvSpPr>
          <p:spPr bwMode="auto">
            <a:xfrm flipH="1">
              <a:off x="-2100" y="1950"/>
              <a:ext cx="5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88" name="Text Box 20"/>
            <p:cNvSpPr txBox="1">
              <a:spLocks noChangeArrowheads="1"/>
            </p:cNvSpPr>
            <p:nvPr/>
          </p:nvSpPr>
          <p:spPr bwMode="auto">
            <a:xfrm>
              <a:off x="-1646" y="1466"/>
              <a:ext cx="317" cy="32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589" name="Text Box 21"/>
            <p:cNvSpPr txBox="1">
              <a:spLocks noChangeArrowheads="1"/>
            </p:cNvSpPr>
            <p:nvPr/>
          </p:nvSpPr>
          <p:spPr bwMode="auto">
            <a:xfrm>
              <a:off x="-480" y="1490"/>
              <a:ext cx="317" cy="29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3590" name="Group 22"/>
            <p:cNvGrpSpPr>
              <a:grpSpLocks/>
            </p:cNvGrpSpPr>
            <p:nvPr/>
          </p:nvGrpSpPr>
          <p:grpSpPr bwMode="auto">
            <a:xfrm flipH="1">
              <a:off x="-442" y="2866"/>
              <a:ext cx="37" cy="304"/>
              <a:chOff x="5153" y="6274"/>
              <a:chExt cx="63" cy="360"/>
            </a:xfrm>
          </p:grpSpPr>
          <p:sp>
            <p:nvSpPr>
              <p:cNvPr id="23606" name="Line 23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07" name="Line 24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3591" name="Line 25"/>
            <p:cNvSpPr>
              <a:spLocks noChangeShapeType="1"/>
            </p:cNvSpPr>
            <p:nvPr/>
          </p:nvSpPr>
          <p:spPr bwMode="auto">
            <a:xfrm flipH="1">
              <a:off x="-405" y="3018"/>
              <a:ext cx="634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2" name="Text Box 26"/>
            <p:cNvSpPr txBox="1">
              <a:spLocks noChangeArrowheads="1"/>
            </p:cNvSpPr>
            <p:nvPr/>
          </p:nvSpPr>
          <p:spPr bwMode="auto">
            <a:xfrm>
              <a:off x="-1422" y="2312"/>
              <a:ext cx="317" cy="3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593" name="Line 27"/>
            <p:cNvSpPr>
              <a:spLocks noChangeShapeType="1"/>
            </p:cNvSpPr>
            <p:nvPr/>
          </p:nvSpPr>
          <p:spPr bwMode="auto">
            <a:xfrm flipH="1">
              <a:off x="-1461" y="1953"/>
              <a:ext cx="1091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4" name="Line 28"/>
            <p:cNvSpPr>
              <a:spLocks noChangeShapeType="1"/>
            </p:cNvSpPr>
            <p:nvPr/>
          </p:nvSpPr>
          <p:spPr bwMode="auto">
            <a:xfrm>
              <a:off x="-2090" y="1953"/>
              <a:ext cx="0" cy="1065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5" name="Line 29"/>
            <p:cNvSpPr>
              <a:spLocks noChangeShapeType="1"/>
            </p:cNvSpPr>
            <p:nvPr/>
          </p:nvSpPr>
          <p:spPr bwMode="auto">
            <a:xfrm>
              <a:off x="218" y="1953"/>
              <a:ext cx="0" cy="1065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6" name="Line 30"/>
            <p:cNvSpPr>
              <a:spLocks noChangeShapeType="1"/>
            </p:cNvSpPr>
            <p:nvPr/>
          </p:nvSpPr>
          <p:spPr bwMode="auto">
            <a:xfrm>
              <a:off x="-299" y="1953"/>
              <a:ext cx="528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7" name="Line 31"/>
            <p:cNvSpPr>
              <a:spLocks noChangeShapeType="1"/>
            </p:cNvSpPr>
            <p:nvPr/>
          </p:nvSpPr>
          <p:spPr bwMode="auto">
            <a:xfrm flipV="1">
              <a:off x="-942" y="1953"/>
              <a:ext cx="0" cy="456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8" name="Line 32"/>
            <p:cNvSpPr>
              <a:spLocks noChangeShapeType="1"/>
            </p:cNvSpPr>
            <p:nvPr/>
          </p:nvSpPr>
          <p:spPr bwMode="auto">
            <a:xfrm flipV="1">
              <a:off x="-942" y="2515"/>
              <a:ext cx="0" cy="50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23599" name="Group 33"/>
            <p:cNvGrpSpPr>
              <a:grpSpLocks/>
            </p:cNvGrpSpPr>
            <p:nvPr/>
          </p:nvGrpSpPr>
          <p:grpSpPr bwMode="auto">
            <a:xfrm>
              <a:off x="-1532" y="2869"/>
              <a:ext cx="71" cy="304"/>
              <a:chOff x="4253" y="5198"/>
              <a:chExt cx="121" cy="360"/>
            </a:xfrm>
          </p:grpSpPr>
          <p:sp>
            <p:nvSpPr>
              <p:cNvPr id="23604" name="Line 34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05" name="Line 35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3600" name="Line 36"/>
            <p:cNvSpPr>
              <a:spLocks noChangeShapeType="1"/>
            </p:cNvSpPr>
            <p:nvPr/>
          </p:nvSpPr>
          <p:spPr bwMode="auto">
            <a:xfrm flipH="1">
              <a:off x="-2095" y="3018"/>
              <a:ext cx="5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1" name="Text Box 37"/>
            <p:cNvSpPr txBox="1">
              <a:spLocks noChangeArrowheads="1"/>
            </p:cNvSpPr>
            <p:nvPr/>
          </p:nvSpPr>
          <p:spPr bwMode="auto">
            <a:xfrm>
              <a:off x="-1639" y="3194"/>
              <a:ext cx="317" cy="29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602" name="Line 38"/>
            <p:cNvSpPr>
              <a:spLocks noChangeShapeType="1"/>
            </p:cNvSpPr>
            <p:nvPr/>
          </p:nvSpPr>
          <p:spPr bwMode="auto">
            <a:xfrm flipH="1">
              <a:off x="-1456" y="3018"/>
              <a:ext cx="1018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3" name="Text Box 51"/>
            <p:cNvSpPr txBox="1">
              <a:spLocks noChangeArrowheads="1"/>
            </p:cNvSpPr>
            <p:nvPr/>
          </p:nvSpPr>
          <p:spPr bwMode="auto">
            <a:xfrm>
              <a:off x="-532" y="3120"/>
              <a:ext cx="211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23572" name="Oval 43"/>
          <p:cNvSpPr>
            <a:spLocks noChangeArrowheads="1"/>
          </p:cNvSpPr>
          <p:nvPr/>
        </p:nvSpPr>
        <p:spPr bwMode="auto">
          <a:xfrm>
            <a:off x="3331916" y="5389579"/>
            <a:ext cx="144463" cy="144463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latin typeface="Arial" panose="020B0604020202020204" pitchFamily="34" charset="0"/>
            </a:endParaRPr>
          </a:p>
        </p:txBody>
      </p:sp>
      <p:sp>
        <p:nvSpPr>
          <p:cNvPr id="23573" name="Oval 44"/>
          <p:cNvSpPr>
            <a:spLocks noChangeArrowheads="1"/>
          </p:cNvSpPr>
          <p:nvPr/>
        </p:nvSpPr>
        <p:spPr bwMode="auto">
          <a:xfrm>
            <a:off x="5162305" y="5389579"/>
            <a:ext cx="144463" cy="144463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C3AA46B-3D75-4BC6-813D-ACC81E98CE8F}"/>
              </a:ext>
            </a:extLst>
          </p:cNvPr>
          <p:cNvGrpSpPr/>
          <p:nvPr/>
        </p:nvGrpSpPr>
        <p:grpSpPr>
          <a:xfrm>
            <a:off x="3530358" y="5694377"/>
            <a:ext cx="1855072" cy="1081093"/>
            <a:chOff x="5785878" y="5694377"/>
            <a:chExt cx="1855072" cy="1081093"/>
          </a:xfrm>
        </p:grpSpPr>
        <p:sp>
          <p:nvSpPr>
            <p:cNvPr id="23574" name="Line 56"/>
            <p:cNvSpPr>
              <a:spLocks noChangeShapeType="1"/>
            </p:cNvSpPr>
            <p:nvPr/>
          </p:nvSpPr>
          <p:spPr bwMode="auto">
            <a:xfrm flipH="1">
              <a:off x="6882309" y="5714473"/>
              <a:ext cx="468312" cy="59200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3575" name="Text Box 57"/>
            <p:cNvSpPr txBox="1">
              <a:spLocks noChangeArrowheads="1"/>
            </p:cNvSpPr>
            <p:nvPr/>
          </p:nvSpPr>
          <p:spPr bwMode="auto">
            <a:xfrm>
              <a:off x="6118536" y="6305569"/>
              <a:ext cx="1522414" cy="46990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lg" len="lg"/>
            </a:ln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TERMINALES</a:t>
              </a:r>
            </a:p>
          </p:txBody>
        </p:sp>
        <p:sp>
          <p:nvSpPr>
            <p:cNvPr id="23576" name="Line 56"/>
            <p:cNvSpPr>
              <a:spLocks noChangeShapeType="1"/>
            </p:cNvSpPr>
            <p:nvPr/>
          </p:nvSpPr>
          <p:spPr bwMode="auto">
            <a:xfrm>
              <a:off x="5785878" y="5694377"/>
              <a:ext cx="436551" cy="62547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66" name="Text Box 3">
            <a:extLst>
              <a:ext uri="{FF2B5EF4-FFF2-40B4-BE49-F238E27FC236}">
                <a16:creationId xmlns:a16="http://schemas.microsoft.com/office/drawing/2014/main" id="{63F33990-04EC-4144-AA34-D9AC1FEE2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098" y="1197110"/>
            <a:ext cx="7642370" cy="169543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44000" tIns="108000" rIns="144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Es un conjunto de condensadores conectados entre sí, directamente, o mediante cables, con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2 terminales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de conexión al exterior, a través de los que suministra o recibe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energía eléctrica,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al descargarse o cargarse</a:t>
            </a:r>
          </a:p>
        </p:txBody>
      </p:sp>
      <p:sp>
        <p:nvSpPr>
          <p:cNvPr id="67" name="Rectangle 2">
            <a:extLst>
              <a:ext uri="{FF2B5EF4-FFF2-40B4-BE49-F238E27FC236}">
                <a16:creationId xmlns:a16="http://schemas.microsoft.com/office/drawing/2014/main" id="{9BDD48C0-5F22-4262-BE9D-D5A56CCF5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780" y="498308"/>
            <a:ext cx="5572062" cy="4698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ASOCIACIÓN DE CONDENSADORES</a:t>
            </a:r>
          </a:p>
        </p:txBody>
      </p:sp>
      <p:sp>
        <p:nvSpPr>
          <p:cNvPr id="41" name="Text Box 69">
            <a:extLst>
              <a:ext uri="{FF2B5EF4-FFF2-40B4-BE49-F238E27FC236}">
                <a16:creationId xmlns:a16="http://schemas.microsoft.com/office/drawing/2014/main" id="{CBFB3CD5-9000-4C21-AB24-4B8DE6CF5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162" y="3787313"/>
            <a:ext cx="4260084" cy="1695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wrap="square" lIns="144000" tIns="108000" rIns="144000" bIns="108000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sz="2400" b="0" dirty="0"/>
              <a:t>Cuando hablemos de </a:t>
            </a:r>
            <a:r>
              <a:rPr lang="es-ES" sz="2400" b="0" dirty="0">
                <a:solidFill>
                  <a:srgbClr val="3333FF"/>
                </a:solidFill>
              </a:rPr>
              <a:t>cables</a:t>
            </a:r>
            <a:r>
              <a:rPr lang="es-ES" sz="2400" b="0" dirty="0"/>
              <a:t>, nos referiremos sólo a su parte conductora, no a la parte  aislante que la rodea</a:t>
            </a:r>
          </a:p>
        </p:txBody>
      </p:sp>
    </p:spTree>
    <p:extLst>
      <p:ext uri="{BB962C8B-B14F-4D97-AF65-F5344CB8AC3E}">
        <p14:creationId xmlns:p14="http://schemas.microsoft.com/office/powerpoint/2010/main" val="126083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2" grpId="0" animBg="1"/>
      <p:bldP spid="23573" grpId="0" animBg="1"/>
      <p:bldP spid="67" grpId="0" animBg="1"/>
      <p:bldP spid="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2" name="Group 4"/>
          <p:cNvGrpSpPr>
            <a:grpSpLocks/>
          </p:cNvGrpSpPr>
          <p:nvPr/>
        </p:nvGrpSpPr>
        <p:grpSpPr bwMode="auto">
          <a:xfrm>
            <a:off x="1547891" y="522595"/>
            <a:ext cx="3697287" cy="3213101"/>
            <a:chOff x="-2100" y="1466"/>
            <a:chExt cx="2329" cy="2024"/>
          </a:xfrm>
        </p:grpSpPr>
        <p:grpSp>
          <p:nvGrpSpPr>
            <p:cNvPr id="23584" name="Group 10"/>
            <p:cNvGrpSpPr>
              <a:grpSpLocks/>
            </p:cNvGrpSpPr>
            <p:nvPr/>
          </p:nvGrpSpPr>
          <p:grpSpPr bwMode="auto">
            <a:xfrm>
              <a:off x="-1537" y="1801"/>
              <a:ext cx="71" cy="304"/>
              <a:chOff x="4253" y="5198"/>
              <a:chExt cx="121" cy="360"/>
            </a:xfrm>
          </p:grpSpPr>
          <p:sp>
            <p:nvSpPr>
              <p:cNvPr id="23612" name="Line 11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13" name="Line 12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23585" name="Group 13"/>
            <p:cNvGrpSpPr>
              <a:grpSpLocks/>
            </p:cNvGrpSpPr>
            <p:nvPr/>
          </p:nvGrpSpPr>
          <p:grpSpPr bwMode="auto">
            <a:xfrm>
              <a:off x="-370" y="1803"/>
              <a:ext cx="71" cy="305"/>
              <a:chOff x="4253" y="5198"/>
              <a:chExt cx="121" cy="360"/>
            </a:xfrm>
          </p:grpSpPr>
          <p:sp>
            <p:nvSpPr>
              <p:cNvPr id="23610" name="Line 14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11" name="Line 15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23586" name="Group 16"/>
            <p:cNvGrpSpPr>
              <a:grpSpLocks/>
            </p:cNvGrpSpPr>
            <p:nvPr/>
          </p:nvGrpSpPr>
          <p:grpSpPr bwMode="auto">
            <a:xfrm rot="5400000">
              <a:off x="-994" y="2355"/>
              <a:ext cx="103" cy="212"/>
              <a:chOff x="4253" y="5198"/>
              <a:chExt cx="121" cy="360"/>
            </a:xfrm>
          </p:grpSpPr>
          <p:sp>
            <p:nvSpPr>
              <p:cNvPr id="23608" name="Line 1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09" name="Line 1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3587" name="Line 19"/>
            <p:cNvSpPr>
              <a:spLocks noChangeShapeType="1"/>
            </p:cNvSpPr>
            <p:nvPr/>
          </p:nvSpPr>
          <p:spPr bwMode="auto">
            <a:xfrm flipH="1">
              <a:off x="-2100" y="1950"/>
              <a:ext cx="5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88" name="Text Box 20"/>
            <p:cNvSpPr txBox="1">
              <a:spLocks noChangeArrowheads="1"/>
            </p:cNvSpPr>
            <p:nvPr/>
          </p:nvSpPr>
          <p:spPr bwMode="auto">
            <a:xfrm>
              <a:off x="-1646" y="1466"/>
              <a:ext cx="317" cy="32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589" name="Text Box 21"/>
            <p:cNvSpPr txBox="1">
              <a:spLocks noChangeArrowheads="1"/>
            </p:cNvSpPr>
            <p:nvPr/>
          </p:nvSpPr>
          <p:spPr bwMode="auto">
            <a:xfrm>
              <a:off x="-480" y="1490"/>
              <a:ext cx="317" cy="29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3590" name="Group 22"/>
            <p:cNvGrpSpPr>
              <a:grpSpLocks/>
            </p:cNvGrpSpPr>
            <p:nvPr/>
          </p:nvGrpSpPr>
          <p:grpSpPr bwMode="auto">
            <a:xfrm flipH="1">
              <a:off x="-442" y="2866"/>
              <a:ext cx="37" cy="304"/>
              <a:chOff x="5153" y="6274"/>
              <a:chExt cx="63" cy="360"/>
            </a:xfrm>
          </p:grpSpPr>
          <p:sp>
            <p:nvSpPr>
              <p:cNvPr id="23606" name="Line 23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07" name="Line 24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3591" name="Line 25"/>
            <p:cNvSpPr>
              <a:spLocks noChangeShapeType="1"/>
            </p:cNvSpPr>
            <p:nvPr/>
          </p:nvSpPr>
          <p:spPr bwMode="auto">
            <a:xfrm flipH="1">
              <a:off x="-405" y="3018"/>
              <a:ext cx="634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2" name="Text Box 26"/>
            <p:cNvSpPr txBox="1">
              <a:spLocks noChangeArrowheads="1"/>
            </p:cNvSpPr>
            <p:nvPr/>
          </p:nvSpPr>
          <p:spPr bwMode="auto">
            <a:xfrm>
              <a:off x="-1422" y="2312"/>
              <a:ext cx="317" cy="3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593" name="Line 27"/>
            <p:cNvSpPr>
              <a:spLocks noChangeShapeType="1"/>
            </p:cNvSpPr>
            <p:nvPr/>
          </p:nvSpPr>
          <p:spPr bwMode="auto">
            <a:xfrm flipH="1">
              <a:off x="-1461" y="1953"/>
              <a:ext cx="1091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4" name="Line 28"/>
            <p:cNvSpPr>
              <a:spLocks noChangeShapeType="1"/>
            </p:cNvSpPr>
            <p:nvPr/>
          </p:nvSpPr>
          <p:spPr bwMode="auto">
            <a:xfrm>
              <a:off x="-2090" y="1953"/>
              <a:ext cx="0" cy="1065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5" name="Line 29"/>
            <p:cNvSpPr>
              <a:spLocks noChangeShapeType="1"/>
            </p:cNvSpPr>
            <p:nvPr/>
          </p:nvSpPr>
          <p:spPr bwMode="auto">
            <a:xfrm>
              <a:off x="218" y="1953"/>
              <a:ext cx="0" cy="1065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6" name="Line 30"/>
            <p:cNvSpPr>
              <a:spLocks noChangeShapeType="1"/>
            </p:cNvSpPr>
            <p:nvPr/>
          </p:nvSpPr>
          <p:spPr bwMode="auto">
            <a:xfrm>
              <a:off x="-299" y="1953"/>
              <a:ext cx="528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7" name="Line 31"/>
            <p:cNvSpPr>
              <a:spLocks noChangeShapeType="1"/>
            </p:cNvSpPr>
            <p:nvPr/>
          </p:nvSpPr>
          <p:spPr bwMode="auto">
            <a:xfrm flipV="1">
              <a:off x="-942" y="1953"/>
              <a:ext cx="0" cy="456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598" name="Line 32"/>
            <p:cNvSpPr>
              <a:spLocks noChangeShapeType="1"/>
            </p:cNvSpPr>
            <p:nvPr/>
          </p:nvSpPr>
          <p:spPr bwMode="auto">
            <a:xfrm flipV="1">
              <a:off x="-942" y="2515"/>
              <a:ext cx="0" cy="50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23599" name="Group 33"/>
            <p:cNvGrpSpPr>
              <a:grpSpLocks/>
            </p:cNvGrpSpPr>
            <p:nvPr/>
          </p:nvGrpSpPr>
          <p:grpSpPr bwMode="auto">
            <a:xfrm>
              <a:off x="-1532" y="2869"/>
              <a:ext cx="71" cy="304"/>
              <a:chOff x="4253" y="5198"/>
              <a:chExt cx="121" cy="360"/>
            </a:xfrm>
          </p:grpSpPr>
          <p:sp>
            <p:nvSpPr>
              <p:cNvPr id="23604" name="Line 34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05" name="Line 35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3600" name="Line 36"/>
            <p:cNvSpPr>
              <a:spLocks noChangeShapeType="1"/>
            </p:cNvSpPr>
            <p:nvPr/>
          </p:nvSpPr>
          <p:spPr bwMode="auto">
            <a:xfrm flipH="1">
              <a:off x="-2095" y="3018"/>
              <a:ext cx="5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1" name="Text Box 37"/>
            <p:cNvSpPr txBox="1">
              <a:spLocks noChangeArrowheads="1"/>
            </p:cNvSpPr>
            <p:nvPr/>
          </p:nvSpPr>
          <p:spPr bwMode="auto">
            <a:xfrm>
              <a:off x="-1639" y="3194"/>
              <a:ext cx="317" cy="29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602" name="Line 38"/>
            <p:cNvSpPr>
              <a:spLocks noChangeShapeType="1"/>
            </p:cNvSpPr>
            <p:nvPr/>
          </p:nvSpPr>
          <p:spPr bwMode="auto">
            <a:xfrm flipH="1">
              <a:off x="-1456" y="3018"/>
              <a:ext cx="1018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3" name="Text Box 51"/>
            <p:cNvSpPr txBox="1">
              <a:spLocks noChangeArrowheads="1"/>
            </p:cNvSpPr>
            <p:nvPr/>
          </p:nvSpPr>
          <p:spPr bwMode="auto">
            <a:xfrm>
              <a:off x="-532" y="3120"/>
              <a:ext cx="211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308277" name="Text Box 53"/>
          <p:cNvSpPr txBox="1">
            <a:spLocks noChangeArrowheads="1"/>
          </p:cNvSpPr>
          <p:nvPr/>
        </p:nvSpPr>
        <p:spPr bwMode="auto">
          <a:xfrm>
            <a:off x="6151949" y="1072179"/>
            <a:ext cx="3087446" cy="12534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Punto del circuito al que llegan 3 o más conductores</a:t>
            </a:r>
          </a:p>
        </p:txBody>
      </p:sp>
      <p:sp>
        <p:nvSpPr>
          <p:cNvPr id="308282" name="Text Box 58"/>
          <p:cNvSpPr txBox="1">
            <a:spLocks noChangeArrowheads="1"/>
          </p:cNvSpPr>
          <p:nvPr/>
        </p:nvSpPr>
        <p:spPr bwMode="auto">
          <a:xfrm>
            <a:off x="6152557" y="3277503"/>
            <a:ext cx="3117246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Porción del circuito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entre 2 nudos</a:t>
            </a: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                                  </a:t>
            </a:r>
            <a:endParaRPr lang="es-ES" sz="2400" b="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08283" name="Text Box 59"/>
          <p:cNvSpPr txBox="1">
            <a:spLocks noChangeArrowheads="1"/>
          </p:cNvSpPr>
          <p:nvPr/>
        </p:nvSpPr>
        <p:spPr bwMode="auto">
          <a:xfrm>
            <a:off x="1441528" y="4329181"/>
            <a:ext cx="1309837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 algn="ctr">
            <a:noFill/>
            <a:miter lim="800000"/>
            <a:headEnd/>
            <a:tailEnd type="none" w="lg" len="lg"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MALLA</a:t>
            </a:r>
            <a:r>
              <a:rPr lang="es-ES" sz="2400" b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7177" name="44 CuadroTexto"/>
          <p:cNvSpPr txBox="1">
            <a:spLocks noChangeArrowheads="1"/>
          </p:cNvSpPr>
          <p:nvPr/>
        </p:nvSpPr>
        <p:spPr bwMode="auto">
          <a:xfrm>
            <a:off x="6162604" y="4976084"/>
            <a:ext cx="3127295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Si </a:t>
            </a:r>
            <a:r>
              <a:rPr lang="es-ES" sz="2400" b="0" dirty="0">
                <a:latin typeface="Arial" panose="020B0604020202020204" pitchFamily="34" charset="0"/>
              </a:rPr>
              <a:t>se exige: sin que haya ramas dentro</a:t>
            </a:r>
          </a:p>
        </p:txBody>
      </p:sp>
      <p:sp>
        <p:nvSpPr>
          <p:cNvPr id="3" name="Text Box 58"/>
          <p:cNvSpPr txBox="1">
            <a:spLocks noChangeArrowheads="1"/>
          </p:cNvSpPr>
          <p:nvPr/>
        </p:nvSpPr>
        <p:spPr bwMode="auto">
          <a:xfrm>
            <a:off x="9252453" y="3457167"/>
            <a:ext cx="1052706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Hay 3</a:t>
            </a:r>
          </a:p>
        </p:txBody>
      </p:sp>
      <p:grpSp>
        <p:nvGrpSpPr>
          <p:cNvPr id="12" name="Group 59"/>
          <p:cNvGrpSpPr>
            <a:grpSpLocks/>
          </p:cNvGrpSpPr>
          <p:nvPr/>
        </p:nvGrpSpPr>
        <p:grpSpPr bwMode="auto">
          <a:xfrm>
            <a:off x="1670128" y="1427470"/>
            <a:ext cx="3429000" cy="1384300"/>
            <a:chOff x="1128" y="2800"/>
            <a:chExt cx="2160" cy="872"/>
          </a:xfrm>
        </p:grpSpPr>
        <p:sp>
          <p:nvSpPr>
            <p:cNvPr id="23581" name="Freeform 56"/>
            <p:cNvSpPr>
              <a:spLocks/>
            </p:cNvSpPr>
            <p:nvPr/>
          </p:nvSpPr>
          <p:spPr bwMode="auto">
            <a:xfrm>
              <a:off x="1128" y="2800"/>
              <a:ext cx="904" cy="864"/>
            </a:xfrm>
            <a:custGeom>
              <a:avLst/>
              <a:gdLst>
                <a:gd name="T0" fmla="*/ 133 w 1000"/>
                <a:gd name="T1" fmla="*/ 0 h 864"/>
                <a:gd name="T2" fmla="*/ 0 w 1000"/>
                <a:gd name="T3" fmla="*/ 8 h 864"/>
                <a:gd name="T4" fmla="*/ 0 w 1000"/>
                <a:gd name="T5" fmla="*/ 864 h 864"/>
                <a:gd name="T6" fmla="*/ 128 w 1000"/>
                <a:gd name="T7" fmla="*/ 864 h 8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0"/>
                <a:gd name="T13" fmla="*/ 0 h 864"/>
                <a:gd name="T14" fmla="*/ 1000 w 1000"/>
                <a:gd name="T15" fmla="*/ 864 h 8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0" h="864">
                  <a:moveTo>
                    <a:pt x="1000" y="0"/>
                  </a:moveTo>
                  <a:lnTo>
                    <a:pt x="0" y="8"/>
                  </a:lnTo>
                  <a:lnTo>
                    <a:pt x="0" y="864"/>
                  </a:lnTo>
                  <a:lnTo>
                    <a:pt x="968" y="864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3582" name="Freeform 57"/>
            <p:cNvSpPr>
              <a:spLocks/>
            </p:cNvSpPr>
            <p:nvPr/>
          </p:nvSpPr>
          <p:spPr bwMode="auto">
            <a:xfrm flipH="1">
              <a:off x="2376" y="2800"/>
              <a:ext cx="912" cy="864"/>
            </a:xfrm>
            <a:custGeom>
              <a:avLst/>
              <a:gdLst>
                <a:gd name="T0" fmla="*/ 159 w 1000"/>
                <a:gd name="T1" fmla="*/ 0 h 864"/>
                <a:gd name="T2" fmla="*/ 0 w 1000"/>
                <a:gd name="T3" fmla="*/ 8 h 864"/>
                <a:gd name="T4" fmla="*/ 0 w 1000"/>
                <a:gd name="T5" fmla="*/ 864 h 864"/>
                <a:gd name="T6" fmla="*/ 153 w 1000"/>
                <a:gd name="T7" fmla="*/ 864 h 8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0"/>
                <a:gd name="T13" fmla="*/ 0 h 864"/>
                <a:gd name="T14" fmla="*/ 1000 w 1000"/>
                <a:gd name="T15" fmla="*/ 864 h 8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0" h="864">
                  <a:moveTo>
                    <a:pt x="1000" y="0"/>
                  </a:moveTo>
                  <a:lnTo>
                    <a:pt x="0" y="8"/>
                  </a:lnTo>
                  <a:lnTo>
                    <a:pt x="0" y="864"/>
                  </a:lnTo>
                  <a:lnTo>
                    <a:pt x="968" y="864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3583" name="Line 58"/>
            <p:cNvSpPr>
              <a:spLocks noChangeShapeType="1"/>
            </p:cNvSpPr>
            <p:nvPr/>
          </p:nvSpPr>
          <p:spPr bwMode="auto">
            <a:xfrm>
              <a:off x="2144" y="2800"/>
              <a:ext cx="0" cy="87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7228" name="Rectangle 60"/>
          <p:cNvSpPr>
            <a:spLocks noChangeArrowheads="1"/>
          </p:cNvSpPr>
          <p:nvPr/>
        </p:nvSpPr>
        <p:spPr bwMode="auto">
          <a:xfrm>
            <a:off x="1895553" y="1673533"/>
            <a:ext cx="1135063" cy="928687"/>
          </a:xfrm>
          <a:prstGeom prst="rect">
            <a:avLst/>
          </a:prstGeom>
          <a:noFill/>
          <a:ln w="25400" algn="ctr">
            <a:solidFill>
              <a:schemeClr val="tx2">
                <a:lumMod val="75000"/>
                <a:lumOff val="25000"/>
              </a:schemeClr>
            </a:solidFill>
            <a:prstDash val="dashDot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s-ES" sz="2000" b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229" name="Rectangle 61"/>
          <p:cNvSpPr>
            <a:spLocks noChangeArrowheads="1"/>
          </p:cNvSpPr>
          <p:nvPr/>
        </p:nvSpPr>
        <p:spPr bwMode="auto">
          <a:xfrm>
            <a:off x="3822778" y="1676708"/>
            <a:ext cx="1104900" cy="936625"/>
          </a:xfrm>
          <a:prstGeom prst="rect">
            <a:avLst/>
          </a:prstGeom>
          <a:noFill/>
          <a:ln w="25400" algn="ctr">
            <a:solidFill>
              <a:schemeClr val="tx2">
                <a:lumMod val="75000"/>
                <a:lumOff val="25000"/>
              </a:schemeClr>
            </a:solidFill>
            <a:prstDash val="dashDot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s-ES" sz="2000" b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230" name="Rectangle 62"/>
          <p:cNvSpPr>
            <a:spLocks noChangeArrowheads="1"/>
          </p:cNvSpPr>
          <p:nvPr/>
        </p:nvSpPr>
        <p:spPr bwMode="auto">
          <a:xfrm>
            <a:off x="1441528" y="1135370"/>
            <a:ext cx="3924300" cy="1955800"/>
          </a:xfrm>
          <a:prstGeom prst="rect">
            <a:avLst/>
          </a:prstGeom>
          <a:noFill/>
          <a:ln w="25400" algn="ctr">
            <a:solidFill>
              <a:schemeClr val="tx2">
                <a:lumMod val="75000"/>
                <a:lumOff val="25000"/>
              </a:schemeClr>
            </a:solidFill>
            <a:prstDash val="dashDot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s-ES" sz="2000" b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59"/>
          <p:cNvSpPr txBox="1">
            <a:spLocks noChangeArrowheads="1"/>
          </p:cNvSpPr>
          <p:nvPr/>
        </p:nvSpPr>
        <p:spPr bwMode="auto">
          <a:xfrm>
            <a:off x="5073072" y="5160750"/>
            <a:ext cx="1052706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Hay 3</a:t>
            </a:r>
          </a:p>
        </p:txBody>
      </p:sp>
      <p:sp>
        <p:nvSpPr>
          <p:cNvPr id="7233" name="44 CuadroTexto"/>
          <p:cNvSpPr txBox="1">
            <a:spLocks noChangeArrowheads="1"/>
          </p:cNvSpPr>
          <p:nvPr/>
        </p:nvSpPr>
        <p:spPr bwMode="auto">
          <a:xfrm>
            <a:off x="9353695" y="5190646"/>
            <a:ext cx="96774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Hay 2</a:t>
            </a:r>
          </a:p>
        </p:txBody>
      </p: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2860750" y="347970"/>
            <a:ext cx="1056998" cy="3632200"/>
            <a:chOff x="1954" y="2132"/>
            <a:chExt cx="494" cy="2288"/>
          </a:xfrm>
        </p:grpSpPr>
        <p:sp>
          <p:nvSpPr>
            <p:cNvPr id="23577" name="Line 54"/>
            <p:cNvSpPr>
              <a:spLocks noChangeShapeType="1"/>
            </p:cNvSpPr>
            <p:nvPr/>
          </p:nvSpPr>
          <p:spPr bwMode="auto">
            <a:xfrm flipH="1">
              <a:off x="2198" y="2419"/>
              <a:ext cx="0" cy="2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3578" name="Text Box 55"/>
            <p:cNvSpPr txBox="1">
              <a:spLocks noChangeArrowheads="1"/>
            </p:cNvSpPr>
            <p:nvPr/>
          </p:nvSpPr>
          <p:spPr bwMode="auto">
            <a:xfrm>
              <a:off x="1958" y="2132"/>
              <a:ext cx="490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FF0000"/>
                  </a:solidFill>
                  <a:latin typeface="Arial" panose="020B0604020202020204" pitchFamily="34" charset="0"/>
                </a:rPr>
                <a:t>NUDO</a:t>
              </a:r>
            </a:p>
          </p:txBody>
        </p:sp>
        <p:sp>
          <p:nvSpPr>
            <p:cNvPr id="23579" name="Line 56"/>
            <p:cNvSpPr>
              <a:spLocks noChangeShapeType="1"/>
            </p:cNvSpPr>
            <p:nvPr/>
          </p:nvSpPr>
          <p:spPr bwMode="auto">
            <a:xfrm flipH="1" flipV="1">
              <a:off x="2199" y="3883"/>
              <a:ext cx="0" cy="2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3580" name="Text Box 57"/>
            <p:cNvSpPr txBox="1">
              <a:spLocks noChangeArrowheads="1"/>
            </p:cNvSpPr>
            <p:nvPr/>
          </p:nvSpPr>
          <p:spPr bwMode="auto">
            <a:xfrm>
              <a:off x="1954" y="4124"/>
              <a:ext cx="490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NUDO</a:t>
              </a:r>
            </a:p>
          </p:txBody>
        </p:sp>
      </p:grpSp>
      <p:sp>
        <p:nvSpPr>
          <p:cNvPr id="2" name="44 CuadroTexto"/>
          <p:cNvSpPr txBox="1">
            <a:spLocks noChangeArrowheads="1"/>
          </p:cNvSpPr>
          <p:nvPr/>
        </p:nvSpPr>
        <p:spPr bwMode="auto">
          <a:xfrm>
            <a:off x="9353695" y="1441052"/>
            <a:ext cx="96774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Hay 2</a:t>
            </a:r>
          </a:p>
        </p:txBody>
      </p:sp>
      <p:sp>
        <p:nvSpPr>
          <p:cNvPr id="61" name="Text Box 53"/>
          <p:cNvSpPr txBox="1">
            <a:spLocks noChangeArrowheads="1"/>
          </p:cNvSpPr>
          <p:nvPr/>
        </p:nvSpPr>
        <p:spPr bwMode="auto">
          <a:xfrm>
            <a:off x="6153745" y="452358"/>
            <a:ext cx="1276728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NUDO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63" name="Text Box 58"/>
          <p:cNvSpPr txBox="1">
            <a:spLocks noChangeArrowheads="1"/>
          </p:cNvSpPr>
          <p:nvPr/>
        </p:nvSpPr>
        <p:spPr bwMode="auto">
          <a:xfrm>
            <a:off x="6142509" y="2637272"/>
            <a:ext cx="1276728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RAMA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64" name="Text Box 59"/>
          <p:cNvSpPr txBox="1">
            <a:spLocks noChangeArrowheads="1"/>
          </p:cNvSpPr>
          <p:nvPr/>
        </p:nvSpPr>
        <p:spPr bwMode="auto">
          <a:xfrm>
            <a:off x="1436200" y="4976084"/>
            <a:ext cx="3662928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Circuito cerrado formado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por ramas, sin repetirlas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           </a:t>
            </a:r>
            <a:endParaRPr lang="es-ES" sz="2400" b="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 Box 55"/>
          <p:cNvSpPr txBox="1">
            <a:spLocks noChangeArrowheads="1"/>
          </p:cNvSpPr>
          <p:nvPr/>
        </p:nvSpPr>
        <p:spPr bwMode="auto">
          <a:xfrm>
            <a:off x="7434540" y="452358"/>
            <a:ext cx="1048439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o NODO</a:t>
            </a:r>
          </a:p>
        </p:txBody>
      </p:sp>
      <p:sp>
        <p:nvSpPr>
          <p:cNvPr id="68" name="Text Box 59">
            <a:extLst>
              <a:ext uri="{FF2B5EF4-FFF2-40B4-BE49-F238E27FC236}">
                <a16:creationId xmlns:a16="http://schemas.microsoft.com/office/drawing/2014/main" id="{542D5647-715D-40F6-BB11-00D4333F1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200" y="6214095"/>
            <a:ext cx="2880660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 algn="ctr">
            <a:noFill/>
            <a:miter lim="800000"/>
            <a:headEnd/>
            <a:tailEnd type="none" w="lg" len="lg"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CIRCUITO o RED</a:t>
            </a:r>
            <a:r>
              <a:rPr lang="es-ES" sz="2400" b="0" dirty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69" name="44 CuadroTexto">
            <a:extLst>
              <a:ext uri="{FF2B5EF4-FFF2-40B4-BE49-F238E27FC236}">
                <a16:creationId xmlns:a16="http://schemas.microsoft.com/office/drawing/2014/main" id="{10382F48-4D6A-4ABF-869E-492C62805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7" y="6240631"/>
            <a:ext cx="3355553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Un conjunto </a:t>
            </a:r>
            <a:r>
              <a:rPr lang="es-ES" sz="2400" b="0" dirty="0">
                <a:latin typeface="Arial" panose="020B0604020202020204" pitchFamily="34" charset="0"/>
              </a:rPr>
              <a:t>de mallas</a:t>
            </a:r>
          </a:p>
        </p:txBody>
      </p:sp>
      <p:sp>
        <p:nvSpPr>
          <p:cNvPr id="70" name="Oval 43">
            <a:extLst>
              <a:ext uri="{FF2B5EF4-FFF2-40B4-BE49-F238E27FC236}">
                <a16:creationId xmlns:a16="http://schemas.microsoft.com/office/drawing/2014/main" id="{58BF972A-9901-4DB3-9E54-8965C0ADE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3779" y="2897041"/>
            <a:ext cx="144463" cy="144463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latin typeface="Arial" panose="020B0604020202020204" pitchFamily="34" charset="0"/>
            </a:endParaRPr>
          </a:p>
        </p:txBody>
      </p:sp>
      <p:sp>
        <p:nvSpPr>
          <p:cNvPr id="71" name="Oval 44">
            <a:extLst>
              <a:ext uri="{FF2B5EF4-FFF2-40B4-BE49-F238E27FC236}">
                <a16:creationId xmlns:a16="http://schemas.microsoft.com/office/drawing/2014/main" id="{66629F9E-D082-45C0-8B17-CCA75812B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745" y="1239137"/>
            <a:ext cx="144463" cy="144463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58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0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77" grpId="0" animBg="1"/>
      <p:bldP spid="308282" grpId="0" animBg="1"/>
      <p:bldP spid="308283" grpId="0" animBg="1"/>
      <p:bldP spid="7177" grpId="0" animBg="1"/>
      <p:bldP spid="3" grpId="0"/>
      <p:bldP spid="7228" grpId="0" animBg="1"/>
      <p:bldP spid="7229" grpId="0" animBg="1"/>
      <p:bldP spid="7230" grpId="0" animBg="1"/>
      <p:bldP spid="7230" grpId="1" animBg="1"/>
      <p:bldP spid="4" grpId="0"/>
      <p:bldP spid="7233" grpId="0"/>
      <p:bldP spid="2" grpId="0"/>
      <p:bldP spid="61" grpId="0" animBg="1"/>
      <p:bldP spid="63" grpId="0" animBg="1"/>
      <p:bldP spid="64" grpId="0" animBg="1"/>
      <p:bldP spid="65" grpId="0"/>
      <p:bldP spid="68" grpId="0" animBg="1"/>
      <p:bldP spid="69" grpId="0" animBg="1"/>
      <p:bldP spid="70" grpId="0" animBg="1"/>
      <p:bldP spid="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73"/>
          <p:cNvGrpSpPr>
            <a:grpSpLocks/>
          </p:cNvGrpSpPr>
          <p:nvPr/>
        </p:nvGrpSpPr>
        <p:grpSpPr bwMode="auto">
          <a:xfrm>
            <a:off x="1382713" y="273413"/>
            <a:ext cx="3697288" cy="2628900"/>
            <a:chOff x="1081" y="1829"/>
            <a:chExt cx="2329" cy="1656"/>
          </a:xfrm>
        </p:grpSpPr>
        <p:grpSp>
          <p:nvGrpSpPr>
            <p:cNvPr id="25646" name="Group 4"/>
            <p:cNvGrpSpPr>
              <a:grpSpLocks/>
            </p:cNvGrpSpPr>
            <p:nvPr/>
          </p:nvGrpSpPr>
          <p:grpSpPr bwMode="auto">
            <a:xfrm>
              <a:off x="1644" y="2113"/>
              <a:ext cx="71" cy="304"/>
              <a:chOff x="4253" y="5198"/>
              <a:chExt cx="121" cy="360"/>
            </a:xfrm>
          </p:grpSpPr>
          <p:sp>
            <p:nvSpPr>
              <p:cNvPr id="25676" name="Line 5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7" name="Line 6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grpSp>
          <p:nvGrpSpPr>
            <p:cNvPr id="25647" name="Group 7"/>
            <p:cNvGrpSpPr>
              <a:grpSpLocks/>
            </p:cNvGrpSpPr>
            <p:nvPr/>
          </p:nvGrpSpPr>
          <p:grpSpPr bwMode="auto">
            <a:xfrm>
              <a:off x="2811" y="2115"/>
              <a:ext cx="71" cy="305"/>
              <a:chOff x="4253" y="5198"/>
              <a:chExt cx="121" cy="360"/>
            </a:xfrm>
          </p:grpSpPr>
          <p:sp>
            <p:nvSpPr>
              <p:cNvPr id="25674" name="Line 8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5" name="Line 9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grpSp>
          <p:nvGrpSpPr>
            <p:cNvPr id="25648" name="Group 10"/>
            <p:cNvGrpSpPr>
              <a:grpSpLocks/>
            </p:cNvGrpSpPr>
            <p:nvPr/>
          </p:nvGrpSpPr>
          <p:grpSpPr bwMode="auto">
            <a:xfrm rot="5400000">
              <a:off x="2187" y="2667"/>
              <a:ext cx="103" cy="212"/>
              <a:chOff x="4253" y="5198"/>
              <a:chExt cx="121" cy="360"/>
            </a:xfrm>
          </p:grpSpPr>
          <p:sp>
            <p:nvSpPr>
              <p:cNvPr id="25672" name="Line 11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3" name="Line 12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sp>
          <p:nvSpPr>
            <p:cNvPr id="25649" name="Line 13"/>
            <p:cNvSpPr>
              <a:spLocks noChangeShapeType="1"/>
            </p:cNvSpPr>
            <p:nvPr/>
          </p:nvSpPr>
          <p:spPr bwMode="auto">
            <a:xfrm flipH="1">
              <a:off x="1081" y="2262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0" name="Text Box 14"/>
            <p:cNvSpPr txBox="1">
              <a:spLocks noChangeArrowheads="1"/>
            </p:cNvSpPr>
            <p:nvPr/>
          </p:nvSpPr>
          <p:spPr bwMode="auto">
            <a:xfrm>
              <a:off x="1374" y="1829"/>
              <a:ext cx="3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51" name="Text Box 15"/>
            <p:cNvSpPr txBox="1">
              <a:spLocks noChangeArrowheads="1"/>
            </p:cNvSpPr>
            <p:nvPr/>
          </p:nvSpPr>
          <p:spPr bwMode="auto">
            <a:xfrm>
              <a:off x="2544" y="1829"/>
              <a:ext cx="31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5652" name="Group 16"/>
            <p:cNvGrpSpPr>
              <a:grpSpLocks/>
            </p:cNvGrpSpPr>
            <p:nvPr/>
          </p:nvGrpSpPr>
          <p:grpSpPr bwMode="auto">
            <a:xfrm flipH="1">
              <a:off x="2739" y="3178"/>
              <a:ext cx="37" cy="304"/>
              <a:chOff x="5153" y="6274"/>
              <a:chExt cx="63" cy="360"/>
            </a:xfrm>
          </p:grpSpPr>
          <p:sp>
            <p:nvSpPr>
              <p:cNvPr id="25670" name="Line 17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1" name="Line 18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sp>
          <p:nvSpPr>
            <p:cNvPr id="25653" name="Line 19"/>
            <p:cNvSpPr>
              <a:spLocks noChangeShapeType="1"/>
            </p:cNvSpPr>
            <p:nvPr/>
          </p:nvSpPr>
          <p:spPr bwMode="auto">
            <a:xfrm flipH="1">
              <a:off x="2776" y="3330"/>
              <a:ext cx="63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4" name="Text Box 20"/>
            <p:cNvSpPr txBox="1">
              <a:spLocks noChangeArrowheads="1"/>
            </p:cNvSpPr>
            <p:nvPr/>
          </p:nvSpPr>
          <p:spPr bwMode="auto">
            <a:xfrm>
              <a:off x="1837" y="2604"/>
              <a:ext cx="31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55" name="Line 21"/>
            <p:cNvSpPr>
              <a:spLocks noChangeShapeType="1"/>
            </p:cNvSpPr>
            <p:nvPr/>
          </p:nvSpPr>
          <p:spPr bwMode="auto">
            <a:xfrm flipH="1">
              <a:off x="1720" y="2265"/>
              <a:ext cx="109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6" name="Line 22"/>
            <p:cNvSpPr>
              <a:spLocks noChangeShapeType="1"/>
            </p:cNvSpPr>
            <p:nvPr/>
          </p:nvSpPr>
          <p:spPr bwMode="auto">
            <a:xfrm>
              <a:off x="1091" y="2265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7" name="Line 23"/>
            <p:cNvSpPr>
              <a:spLocks noChangeShapeType="1"/>
            </p:cNvSpPr>
            <p:nvPr/>
          </p:nvSpPr>
          <p:spPr bwMode="auto">
            <a:xfrm>
              <a:off x="3399" y="2265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8" name="Line 24"/>
            <p:cNvSpPr>
              <a:spLocks noChangeShapeType="1"/>
            </p:cNvSpPr>
            <p:nvPr/>
          </p:nvSpPr>
          <p:spPr bwMode="auto">
            <a:xfrm>
              <a:off x="2882" y="2265"/>
              <a:ext cx="52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9" name="Line 25"/>
            <p:cNvSpPr>
              <a:spLocks noChangeShapeType="1"/>
            </p:cNvSpPr>
            <p:nvPr/>
          </p:nvSpPr>
          <p:spPr bwMode="auto">
            <a:xfrm flipV="1">
              <a:off x="2239" y="2265"/>
              <a:ext cx="0" cy="4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60" name="Line 26"/>
            <p:cNvSpPr>
              <a:spLocks noChangeShapeType="1"/>
            </p:cNvSpPr>
            <p:nvPr/>
          </p:nvSpPr>
          <p:spPr bwMode="auto">
            <a:xfrm flipV="1">
              <a:off x="2239" y="2827"/>
              <a:ext cx="0" cy="5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grpSp>
          <p:nvGrpSpPr>
            <p:cNvPr id="25661" name="Group 27"/>
            <p:cNvGrpSpPr>
              <a:grpSpLocks/>
            </p:cNvGrpSpPr>
            <p:nvPr/>
          </p:nvGrpSpPr>
          <p:grpSpPr bwMode="auto">
            <a:xfrm>
              <a:off x="1649" y="3181"/>
              <a:ext cx="71" cy="304"/>
              <a:chOff x="4253" y="5198"/>
              <a:chExt cx="121" cy="360"/>
            </a:xfrm>
          </p:grpSpPr>
          <p:sp>
            <p:nvSpPr>
              <p:cNvPr id="25668" name="Line 28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69" name="Line 29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sp>
          <p:nvSpPr>
            <p:cNvPr id="25662" name="Line 30"/>
            <p:cNvSpPr>
              <a:spLocks noChangeShapeType="1"/>
            </p:cNvSpPr>
            <p:nvPr/>
          </p:nvSpPr>
          <p:spPr bwMode="auto">
            <a:xfrm flipH="1">
              <a:off x="1086" y="3330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63" name="Text Box 31"/>
            <p:cNvSpPr txBox="1">
              <a:spLocks noChangeArrowheads="1"/>
            </p:cNvSpPr>
            <p:nvPr/>
          </p:nvSpPr>
          <p:spPr bwMode="auto">
            <a:xfrm>
              <a:off x="1374" y="2932"/>
              <a:ext cx="31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64" name="Line 32"/>
            <p:cNvSpPr>
              <a:spLocks noChangeShapeType="1"/>
            </p:cNvSpPr>
            <p:nvPr/>
          </p:nvSpPr>
          <p:spPr bwMode="auto">
            <a:xfrm flipH="1">
              <a:off x="1725" y="3330"/>
              <a:ext cx="10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67" name="Text Box 35"/>
            <p:cNvSpPr txBox="1">
              <a:spLocks noChangeArrowheads="1"/>
            </p:cNvSpPr>
            <p:nvPr/>
          </p:nvSpPr>
          <p:spPr bwMode="auto">
            <a:xfrm>
              <a:off x="2785" y="2942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25644" name="Text Box 57"/>
          <p:cNvSpPr txBox="1">
            <a:spLocks noChangeArrowheads="1"/>
          </p:cNvSpPr>
          <p:nvPr/>
        </p:nvSpPr>
        <p:spPr bwMode="auto">
          <a:xfrm>
            <a:off x="7986711" y="332718"/>
            <a:ext cx="2349499" cy="12747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Magnitud que caracteriza a un elemento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45" name="Line 58"/>
          <p:cNvSpPr>
            <a:spLocks noChangeShapeType="1"/>
          </p:cNvSpPr>
          <p:nvPr/>
        </p:nvSpPr>
        <p:spPr bwMode="auto">
          <a:xfrm flipH="1" flipV="1">
            <a:off x="4205256" y="534265"/>
            <a:ext cx="1195415" cy="43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>
            <a:spAutoFit/>
          </a:bodyPr>
          <a:lstStyle/>
          <a:p>
            <a:pPr algn="ctr">
              <a:spcBef>
                <a:spcPts val="0"/>
              </a:spcBef>
            </a:pPr>
            <a:endParaRPr lang="en-GB"/>
          </a:p>
        </p:txBody>
      </p:sp>
      <p:sp>
        <p:nvSpPr>
          <p:cNvPr id="8201" name="Freeform 79"/>
          <p:cNvSpPr>
            <a:spLocks/>
          </p:cNvSpPr>
          <p:nvPr/>
        </p:nvSpPr>
        <p:spPr bwMode="auto">
          <a:xfrm>
            <a:off x="2436813" y="643301"/>
            <a:ext cx="1590675" cy="965200"/>
          </a:xfrm>
          <a:custGeom>
            <a:avLst/>
            <a:gdLst>
              <a:gd name="T0" fmla="*/ 0 w 1064"/>
              <a:gd name="T1" fmla="*/ 2147483646 h 671"/>
              <a:gd name="T2" fmla="*/ 2147483646 w 1064"/>
              <a:gd name="T3" fmla="*/ 0 h 671"/>
              <a:gd name="T4" fmla="*/ 2147483646 w 1064"/>
              <a:gd name="T5" fmla="*/ 2147483646 h 671"/>
              <a:gd name="T6" fmla="*/ 2147483646 w 1064"/>
              <a:gd name="T7" fmla="*/ 2147483646 h 671"/>
              <a:gd name="T8" fmla="*/ 2147483646 w 1064"/>
              <a:gd name="T9" fmla="*/ 2147483646 h 671"/>
              <a:gd name="T10" fmla="*/ 2147483646 w 1064"/>
              <a:gd name="T11" fmla="*/ 2147483646 h 671"/>
              <a:gd name="T12" fmla="*/ 0 w 1064"/>
              <a:gd name="T13" fmla="*/ 2147483646 h 6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64"/>
              <a:gd name="T22" fmla="*/ 0 h 671"/>
              <a:gd name="T23" fmla="*/ 1064 w 1064"/>
              <a:gd name="T24" fmla="*/ 671 h 6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64" h="671">
                <a:moveTo>
                  <a:pt x="0" y="226"/>
                </a:moveTo>
                <a:lnTo>
                  <a:pt x="496" y="0"/>
                </a:lnTo>
                <a:lnTo>
                  <a:pt x="1064" y="226"/>
                </a:lnTo>
                <a:lnTo>
                  <a:pt x="889" y="584"/>
                </a:lnTo>
                <a:lnTo>
                  <a:pt x="517" y="671"/>
                </a:lnTo>
                <a:lnTo>
                  <a:pt x="182" y="562"/>
                </a:lnTo>
                <a:lnTo>
                  <a:pt x="0" y="226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pPr>
              <a:spcBef>
                <a:spcPts val="0"/>
              </a:spcBef>
            </a:pPr>
            <a:endParaRPr lang="en-GB"/>
          </a:p>
        </p:txBody>
      </p:sp>
      <p:sp>
        <p:nvSpPr>
          <p:cNvPr id="19482" name="Text Box 59"/>
          <p:cNvSpPr txBox="1">
            <a:spLocks noChangeArrowheads="1"/>
          </p:cNvSpPr>
          <p:nvPr/>
        </p:nvSpPr>
        <p:spPr bwMode="auto">
          <a:xfrm>
            <a:off x="1312377" y="5544463"/>
            <a:ext cx="9018127" cy="127521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 la realidad puede no estar (si los condensadores están conectados directamente) o estar y tener cualquier forma. Lo relevante es lo que conecta, que en equilibrio está al mismo V</a:t>
            </a:r>
          </a:p>
        </p:txBody>
      </p:sp>
      <p:sp>
        <p:nvSpPr>
          <p:cNvPr id="25618" name="Text Box 36"/>
          <p:cNvSpPr txBox="1">
            <a:spLocks noChangeArrowheads="1"/>
          </p:cNvSpPr>
          <p:nvPr/>
        </p:nvSpPr>
        <p:spPr bwMode="auto">
          <a:xfrm>
            <a:off x="6112889" y="4849129"/>
            <a:ext cx="3678498" cy="590204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Q = C V = 0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b="0" dirty="0">
                <a:latin typeface="Arial" panose="020B0604020202020204" pitchFamily="34" charset="0"/>
              </a:rPr>
              <a:t>cte. = 0</a:t>
            </a:r>
          </a:p>
        </p:txBody>
      </p:sp>
      <p:sp>
        <p:nvSpPr>
          <p:cNvPr id="19539" name="Text Box 36"/>
          <p:cNvSpPr txBox="1">
            <a:spLocks noChangeArrowheads="1"/>
          </p:cNvSpPr>
          <p:nvPr/>
        </p:nvSpPr>
        <p:spPr bwMode="auto">
          <a:xfrm>
            <a:off x="5519958" y="3832364"/>
            <a:ext cx="4810547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Como en equilibrio su potencial es constante, no acumula carga</a:t>
            </a:r>
          </a:p>
        </p:txBody>
      </p:sp>
      <p:sp>
        <p:nvSpPr>
          <p:cNvPr id="25615" name="Text Box 36"/>
          <p:cNvSpPr txBox="1">
            <a:spLocks noChangeArrowheads="1"/>
          </p:cNvSpPr>
          <p:nvPr/>
        </p:nvSpPr>
        <p:spPr bwMode="auto">
          <a:xfrm>
            <a:off x="5542143" y="2272395"/>
            <a:ext cx="4794068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Conductor que conecta elementos en el dibujo del circuito</a:t>
            </a:r>
            <a:endParaRPr lang="es-ES" sz="2400" b="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9" name="Text Box 53">
            <a:extLst>
              <a:ext uri="{FF2B5EF4-FFF2-40B4-BE49-F238E27FC236}">
                <a16:creationId xmlns:a16="http://schemas.microsoft.com/office/drawing/2014/main" id="{69A5FD7B-C1C9-468E-A108-512DBFAA5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899" y="343646"/>
            <a:ext cx="2341384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PARÁMETRO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80" name="Text Box 53">
            <a:extLst>
              <a:ext uri="{FF2B5EF4-FFF2-40B4-BE49-F238E27FC236}">
                <a16:creationId xmlns:a16="http://schemas.microsoft.com/office/drawing/2014/main" id="{A4C39BE1-D76E-4D00-9D48-75D2CF9E8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2143" y="1680341"/>
            <a:ext cx="2349140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CABLE IDEAL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7A8A919-95CB-4035-8B71-9700DB8595BC}"/>
              </a:ext>
            </a:extLst>
          </p:cNvPr>
          <p:cNvGrpSpPr/>
          <p:nvPr/>
        </p:nvGrpSpPr>
        <p:grpSpPr>
          <a:xfrm>
            <a:off x="3066332" y="4578402"/>
            <a:ext cx="1820863" cy="660400"/>
            <a:chOff x="3027364" y="4103211"/>
            <a:chExt cx="1820863" cy="660400"/>
          </a:xfrm>
        </p:grpSpPr>
        <p:sp>
          <p:nvSpPr>
            <p:cNvPr id="25634" name="Text Box 62"/>
            <p:cNvSpPr txBox="1">
              <a:spLocks noChangeArrowheads="1"/>
            </p:cNvSpPr>
            <p:nvPr/>
          </p:nvSpPr>
          <p:spPr bwMode="auto">
            <a:xfrm>
              <a:off x="3027364" y="4103211"/>
              <a:ext cx="422275" cy="660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3200" b="0">
                  <a:solidFill>
                    <a:srgbClr val="008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25635" name="Line 63"/>
            <p:cNvSpPr>
              <a:spLocks noChangeShapeType="1"/>
            </p:cNvSpPr>
            <p:nvPr/>
          </p:nvSpPr>
          <p:spPr bwMode="auto">
            <a:xfrm>
              <a:off x="3613152" y="4250848"/>
              <a:ext cx="12033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36" name="Line 64"/>
            <p:cNvSpPr>
              <a:spLocks noChangeShapeType="1"/>
            </p:cNvSpPr>
            <p:nvPr/>
          </p:nvSpPr>
          <p:spPr bwMode="auto">
            <a:xfrm>
              <a:off x="3624264" y="4276248"/>
              <a:ext cx="649288" cy="3460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40" name="Oval 68"/>
            <p:cNvSpPr>
              <a:spLocks noChangeArrowheads="1"/>
            </p:cNvSpPr>
            <p:nvPr/>
          </p:nvSpPr>
          <p:spPr bwMode="auto">
            <a:xfrm>
              <a:off x="3568702" y="4203746"/>
              <a:ext cx="107950" cy="10795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1" name="Oval 69"/>
            <p:cNvSpPr>
              <a:spLocks noChangeArrowheads="1"/>
            </p:cNvSpPr>
            <p:nvPr/>
          </p:nvSpPr>
          <p:spPr bwMode="auto">
            <a:xfrm>
              <a:off x="4740277" y="4187348"/>
              <a:ext cx="107950" cy="10795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2" name="Oval 70"/>
            <p:cNvSpPr>
              <a:spLocks noChangeArrowheads="1"/>
            </p:cNvSpPr>
            <p:nvPr/>
          </p:nvSpPr>
          <p:spPr bwMode="auto">
            <a:xfrm>
              <a:off x="4211639" y="4547711"/>
              <a:ext cx="107950" cy="10795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B52F699-A3CA-4F94-A6CD-F01CE42B3CFC}"/>
              </a:ext>
            </a:extLst>
          </p:cNvPr>
          <p:cNvGrpSpPr/>
          <p:nvPr/>
        </p:nvGrpSpPr>
        <p:grpSpPr>
          <a:xfrm>
            <a:off x="1575160" y="4676303"/>
            <a:ext cx="1284288" cy="465137"/>
            <a:chOff x="2088860" y="4268281"/>
            <a:chExt cx="1284288" cy="465137"/>
          </a:xfrm>
        </p:grpSpPr>
        <p:sp>
          <p:nvSpPr>
            <p:cNvPr id="25632" name="Line 60"/>
            <p:cNvSpPr>
              <a:spLocks noChangeShapeType="1"/>
            </p:cNvSpPr>
            <p:nvPr/>
          </p:nvSpPr>
          <p:spPr bwMode="auto">
            <a:xfrm>
              <a:off x="2104735" y="4322256"/>
              <a:ext cx="12033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33" name="Line 61"/>
            <p:cNvSpPr>
              <a:spLocks noChangeShapeType="1"/>
            </p:cNvSpPr>
            <p:nvPr/>
          </p:nvSpPr>
          <p:spPr bwMode="auto">
            <a:xfrm>
              <a:off x="2760373" y="4333368"/>
              <a:ext cx="0" cy="3460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37" name="Oval 65"/>
            <p:cNvSpPr>
              <a:spLocks noChangeArrowheads="1"/>
            </p:cNvSpPr>
            <p:nvPr/>
          </p:nvSpPr>
          <p:spPr bwMode="auto">
            <a:xfrm>
              <a:off x="2088860" y="4269868"/>
              <a:ext cx="107950" cy="10795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8" name="Oval 66"/>
            <p:cNvSpPr>
              <a:spLocks noChangeArrowheads="1"/>
            </p:cNvSpPr>
            <p:nvPr/>
          </p:nvSpPr>
          <p:spPr bwMode="auto">
            <a:xfrm>
              <a:off x="2704810" y="4625468"/>
              <a:ext cx="107950" cy="10795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9" name="Oval 67"/>
            <p:cNvSpPr>
              <a:spLocks noChangeArrowheads="1"/>
            </p:cNvSpPr>
            <p:nvPr/>
          </p:nvSpPr>
          <p:spPr bwMode="auto">
            <a:xfrm>
              <a:off x="3265198" y="4268281"/>
              <a:ext cx="107950" cy="10795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BE8E2889-2881-49DB-8A03-1D1BACEE2D26}"/>
              </a:ext>
            </a:extLst>
          </p:cNvPr>
          <p:cNvSpPr/>
          <p:nvPr/>
        </p:nvSpPr>
        <p:spPr bwMode="auto">
          <a:xfrm>
            <a:off x="4133850" y="872089"/>
            <a:ext cx="1019175" cy="1857375"/>
          </a:xfrm>
          <a:custGeom>
            <a:avLst/>
            <a:gdLst>
              <a:gd name="connsiteX0" fmla="*/ 152400 w 1019175"/>
              <a:gd name="connsiteY0" fmla="*/ 104775 h 1857375"/>
              <a:gd name="connsiteX1" fmla="*/ 361950 w 1019175"/>
              <a:gd name="connsiteY1" fmla="*/ 0 h 1857375"/>
              <a:gd name="connsiteX2" fmla="*/ 1019175 w 1019175"/>
              <a:gd name="connsiteY2" fmla="*/ 9525 h 1857375"/>
              <a:gd name="connsiteX3" fmla="*/ 1019175 w 1019175"/>
              <a:gd name="connsiteY3" fmla="*/ 1847850 h 1857375"/>
              <a:gd name="connsiteX4" fmla="*/ 133350 w 1019175"/>
              <a:gd name="connsiteY4" fmla="*/ 1857375 h 1857375"/>
              <a:gd name="connsiteX5" fmla="*/ 0 w 1019175"/>
              <a:gd name="connsiteY5" fmla="*/ 1790700 h 1857375"/>
              <a:gd name="connsiteX6" fmla="*/ 171450 w 1019175"/>
              <a:gd name="connsiteY6" fmla="*/ 1714500 h 1857375"/>
              <a:gd name="connsiteX7" fmla="*/ 800100 w 1019175"/>
              <a:gd name="connsiteY7" fmla="*/ 1714500 h 1857375"/>
              <a:gd name="connsiteX8" fmla="*/ 790575 w 1019175"/>
              <a:gd name="connsiteY8" fmla="*/ 200025 h 1857375"/>
              <a:gd name="connsiteX9" fmla="*/ 342900 w 1019175"/>
              <a:gd name="connsiteY9" fmla="*/ 190500 h 1857375"/>
              <a:gd name="connsiteX10" fmla="*/ 209550 w 1019175"/>
              <a:gd name="connsiteY10" fmla="*/ 133350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9175" h="1857375">
                <a:moveTo>
                  <a:pt x="152400" y="104775"/>
                </a:moveTo>
                <a:lnTo>
                  <a:pt x="361950" y="0"/>
                </a:lnTo>
                <a:lnTo>
                  <a:pt x="1019175" y="9525"/>
                </a:lnTo>
                <a:lnTo>
                  <a:pt x="1019175" y="1847850"/>
                </a:lnTo>
                <a:lnTo>
                  <a:pt x="133350" y="1857375"/>
                </a:lnTo>
                <a:lnTo>
                  <a:pt x="0" y="1790700"/>
                </a:lnTo>
                <a:lnTo>
                  <a:pt x="171450" y="1714500"/>
                </a:lnTo>
                <a:lnTo>
                  <a:pt x="800100" y="1714500"/>
                </a:lnTo>
                <a:lnTo>
                  <a:pt x="790575" y="200025"/>
                </a:lnTo>
                <a:lnTo>
                  <a:pt x="342900" y="190500"/>
                </a:lnTo>
                <a:lnTo>
                  <a:pt x="209550" y="133350"/>
                </a:lnTo>
              </a:path>
            </a:pathLst>
          </a:custGeom>
          <a:noFill/>
          <a:ln w="28575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5" name="Line 80">
            <a:extLst>
              <a:ext uri="{FF2B5EF4-FFF2-40B4-BE49-F238E27FC236}">
                <a16:creationId xmlns:a16="http://schemas.microsoft.com/office/drawing/2014/main" id="{00219AE0-426B-4816-B59B-DBA52950C9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53025" y="1914007"/>
            <a:ext cx="389118" cy="7939"/>
          </a:xfrm>
          <a:prstGeom prst="line">
            <a:avLst/>
          </a:prstGeom>
          <a:noFill/>
          <a:ln w="25400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>
            <a:spAutoFit/>
          </a:bodyPr>
          <a:lstStyle/>
          <a:p>
            <a:pPr>
              <a:spcBef>
                <a:spcPts val="0"/>
              </a:spcBef>
            </a:pPr>
            <a:endParaRPr lang="en-GB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06FB931-79E3-4541-8FFB-F03F6F68A447}"/>
              </a:ext>
            </a:extLst>
          </p:cNvPr>
          <p:cNvGrpSpPr/>
          <p:nvPr/>
        </p:nvGrpSpPr>
        <p:grpSpPr>
          <a:xfrm>
            <a:off x="1591034" y="1386521"/>
            <a:ext cx="1107541" cy="3010817"/>
            <a:chOff x="1601082" y="1446810"/>
            <a:chExt cx="1107541" cy="2842477"/>
          </a:xfrm>
        </p:grpSpPr>
        <p:sp>
          <p:nvSpPr>
            <p:cNvPr id="25643" name="Line 80"/>
            <p:cNvSpPr>
              <a:spLocks noChangeShapeType="1"/>
            </p:cNvSpPr>
            <p:nvPr/>
          </p:nvSpPr>
          <p:spPr bwMode="auto">
            <a:xfrm flipH="1">
              <a:off x="1621253" y="1446810"/>
              <a:ext cx="1087370" cy="70672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81FE550A-2F6C-42FB-8DC4-63F127032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082" y="3834949"/>
              <a:ext cx="504893" cy="4543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5" name="Line 80">
              <a:extLst>
                <a:ext uri="{FF2B5EF4-FFF2-40B4-BE49-F238E27FC236}">
                  <a16:creationId xmlns:a16="http://schemas.microsoft.com/office/drawing/2014/main" id="{61DFFB70-CC94-4956-8315-009F43225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4943" y="2153533"/>
              <a:ext cx="14722" cy="168141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</p:grpSp>
      <p:sp>
        <p:nvSpPr>
          <p:cNvPr id="7" name="Text Box 36">
            <a:extLst>
              <a:ext uri="{FF2B5EF4-FFF2-40B4-BE49-F238E27FC236}">
                <a16:creationId xmlns:a16="http://schemas.microsoft.com/office/drawing/2014/main" id="{B0E7389E-7B69-279F-6AED-6D426037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946" y="3223692"/>
            <a:ext cx="4794067" cy="53654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Se le asigna una capacidad nula</a:t>
            </a:r>
            <a:endParaRPr lang="es-ES" sz="2400" b="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44" grpId="0" animBg="1"/>
      <p:bldP spid="25645" grpId="0" animBg="1"/>
      <p:bldP spid="8201" grpId="0" animBg="1"/>
      <p:bldP spid="19482" grpId="0" animBg="1"/>
      <p:bldP spid="25618" grpId="0" animBg="1"/>
      <p:bldP spid="19539" grpId="0" animBg="1"/>
      <p:bldP spid="25615" grpId="0" animBg="1"/>
      <p:bldP spid="79" grpId="0" animBg="1"/>
      <p:bldP spid="80" grpId="0" animBg="1"/>
      <p:bldP spid="3" grpId="0" animBg="1"/>
      <p:bldP spid="8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F9C12-766F-FBAD-DE8D-D829FAA9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73">
            <a:extLst>
              <a:ext uri="{FF2B5EF4-FFF2-40B4-BE49-F238E27FC236}">
                <a16:creationId xmlns:a16="http://schemas.microsoft.com/office/drawing/2014/main" id="{ACE206C8-46DA-0565-BF0A-43EAA2FD5152}"/>
              </a:ext>
            </a:extLst>
          </p:cNvPr>
          <p:cNvGrpSpPr>
            <a:grpSpLocks/>
          </p:cNvGrpSpPr>
          <p:nvPr/>
        </p:nvGrpSpPr>
        <p:grpSpPr bwMode="auto">
          <a:xfrm>
            <a:off x="1382713" y="273413"/>
            <a:ext cx="3697288" cy="2628900"/>
            <a:chOff x="1081" y="1829"/>
            <a:chExt cx="2329" cy="1656"/>
          </a:xfrm>
        </p:grpSpPr>
        <p:grpSp>
          <p:nvGrpSpPr>
            <p:cNvPr id="25646" name="Group 4">
              <a:extLst>
                <a:ext uri="{FF2B5EF4-FFF2-40B4-BE49-F238E27FC236}">
                  <a16:creationId xmlns:a16="http://schemas.microsoft.com/office/drawing/2014/main" id="{98974B8A-E77A-0E04-5E23-FD5AAA5824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4" y="2113"/>
              <a:ext cx="71" cy="304"/>
              <a:chOff x="4253" y="5198"/>
              <a:chExt cx="121" cy="360"/>
            </a:xfrm>
          </p:grpSpPr>
          <p:sp>
            <p:nvSpPr>
              <p:cNvPr id="25676" name="Line 5">
                <a:extLst>
                  <a:ext uri="{FF2B5EF4-FFF2-40B4-BE49-F238E27FC236}">
                    <a16:creationId xmlns:a16="http://schemas.microsoft.com/office/drawing/2014/main" id="{B09427D3-0AD6-E36D-2C90-8B85A59F3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7" name="Line 6">
                <a:extLst>
                  <a:ext uri="{FF2B5EF4-FFF2-40B4-BE49-F238E27FC236}">
                    <a16:creationId xmlns:a16="http://schemas.microsoft.com/office/drawing/2014/main" id="{A1060B32-BF59-84C8-77B3-1FE10E667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grpSp>
          <p:nvGrpSpPr>
            <p:cNvPr id="25647" name="Group 7">
              <a:extLst>
                <a:ext uri="{FF2B5EF4-FFF2-40B4-BE49-F238E27FC236}">
                  <a16:creationId xmlns:a16="http://schemas.microsoft.com/office/drawing/2014/main" id="{A0C97A87-3FE5-97AC-973E-8C8D512199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1" y="2115"/>
              <a:ext cx="71" cy="305"/>
              <a:chOff x="4253" y="5198"/>
              <a:chExt cx="121" cy="360"/>
            </a:xfrm>
          </p:grpSpPr>
          <p:sp>
            <p:nvSpPr>
              <p:cNvPr id="25674" name="Line 8">
                <a:extLst>
                  <a:ext uri="{FF2B5EF4-FFF2-40B4-BE49-F238E27FC236}">
                    <a16:creationId xmlns:a16="http://schemas.microsoft.com/office/drawing/2014/main" id="{C040740C-DE3D-E60A-63CA-C7A5AD359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5" name="Line 9">
                <a:extLst>
                  <a:ext uri="{FF2B5EF4-FFF2-40B4-BE49-F238E27FC236}">
                    <a16:creationId xmlns:a16="http://schemas.microsoft.com/office/drawing/2014/main" id="{C713DBE9-FC44-77CE-D3EE-64DE397C84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grpSp>
          <p:nvGrpSpPr>
            <p:cNvPr id="25648" name="Group 10">
              <a:extLst>
                <a:ext uri="{FF2B5EF4-FFF2-40B4-BE49-F238E27FC236}">
                  <a16:creationId xmlns:a16="http://schemas.microsoft.com/office/drawing/2014/main" id="{F9D34B27-B891-C794-9B43-D51692C932B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187" y="2667"/>
              <a:ext cx="103" cy="212"/>
              <a:chOff x="4253" y="5198"/>
              <a:chExt cx="121" cy="360"/>
            </a:xfrm>
          </p:grpSpPr>
          <p:sp>
            <p:nvSpPr>
              <p:cNvPr id="25672" name="Line 11">
                <a:extLst>
                  <a:ext uri="{FF2B5EF4-FFF2-40B4-BE49-F238E27FC236}">
                    <a16:creationId xmlns:a16="http://schemas.microsoft.com/office/drawing/2014/main" id="{57A303F2-A1F6-D250-F984-603AB7D04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3" name="Line 12">
                <a:extLst>
                  <a:ext uri="{FF2B5EF4-FFF2-40B4-BE49-F238E27FC236}">
                    <a16:creationId xmlns:a16="http://schemas.microsoft.com/office/drawing/2014/main" id="{7F047993-4706-FE72-F3C0-C6696C0A4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sp>
          <p:nvSpPr>
            <p:cNvPr id="25649" name="Line 13">
              <a:extLst>
                <a:ext uri="{FF2B5EF4-FFF2-40B4-BE49-F238E27FC236}">
                  <a16:creationId xmlns:a16="http://schemas.microsoft.com/office/drawing/2014/main" id="{8359F32B-2979-0591-EBBE-E82CD9613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2262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0" name="Text Box 14">
              <a:extLst>
                <a:ext uri="{FF2B5EF4-FFF2-40B4-BE49-F238E27FC236}">
                  <a16:creationId xmlns:a16="http://schemas.microsoft.com/office/drawing/2014/main" id="{607565DB-B3B5-4C49-6B80-EC6345CF6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1829"/>
              <a:ext cx="3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51" name="Text Box 15">
              <a:extLst>
                <a:ext uri="{FF2B5EF4-FFF2-40B4-BE49-F238E27FC236}">
                  <a16:creationId xmlns:a16="http://schemas.microsoft.com/office/drawing/2014/main" id="{EB946867-3053-2D61-78EB-535C0A0C5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829"/>
              <a:ext cx="31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5652" name="Group 16">
              <a:extLst>
                <a:ext uri="{FF2B5EF4-FFF2-40B4-BE49-F238E27FC236}">
                  <a16:creationId xmlns:a16="http://schemas.microsoft.com/office/drawing/2014/main" id="{B3A1CE33-0F8B-3640-D119-33950DDC5F0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739" y="3178"/>
              <a:ext cx="37" cy="304"/>
              <a:chOff x="5153" y="6274"/>
              <a:chExt cx="63" cy="360"/>
            </a:xfrm>
          </p:grpSpPr>
          <p:sp>
            <p:nvSpPr>
              <p:cNvPr id="25670" name="Line 17">
                <a:extLst>
                  <a:ext uri="{FF2B5EF4-FFF2-40B4-BE49-F238E27FC236}">
                    <a16:creationId xmlns:a16="http://schemas.microsoft.com/office/drawing/2014/main" id="{CD3230B3-30B1-0505-E221-9B5FD697E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71" name="Line 18">
                <a:extLst>
                  <a:ext uri="{FF2B5EF4-FFF2-40B4-BE49-F238E27FC236}">
                    <a16:creationId xmlns:a16="http://schemas.microsoft.com/office/drawing/2014/main" id="{91B665C2-90DC-703E-6BAE-706DB3740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sp>
          <p:nvSpPr>
            <p:cNvPr id="25653" name="Line 19">
              <a:extLst>
                <a:ext uri="{FF2B5EF4-FFF2-40B4-BE49-F238E27FC236}">
                  <a16:creationId xmlns:a16="http://schemas.microsoft.com/office/drawing/2014/main" id="{D5BAC00E-2368-FF2A-D3E9-FD737E080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6" y="3330"/>
              <a:ext cx="63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4" name="Text Box 20">
              <a:extLst>
                <a:ext uri="{FF2B5EF4-FFF2-40B4-BE49-F238E27FC236}">
                  <a16:creationId xmlns:a16="http://schemas.microsoft.com/office/drawing/2014/main" id="{8CBBDD77-26B7-ED63-2620-2FFD73A8B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2604"/>
              <a:ext cx="31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55" name="Line 21">
              <a:extLst>
                <a:ext uri="{FF2B5EF4-FFF2-40B4-BE49-F238E27FC236}">
                  <a16:creationId xmlns:a16="http://schemas.microsoft.com/office/drawing/2014/main" id="{872ABD61-5E8D-9465-42EE-4085897B2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0" y="2265"/>
              <a:ext cx="109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6" name="Line 22">
              <a:extLst>
                <a:ext uri="{FF2B5EF4-FFF2-40B4-BE49-F238E27FC236}">
                  <a16:creationId xmlns:a16="http://schemas.microsoft.com/office/drawing/2014/main" id="{B0F25EB8-813D-53A5-0B5B-66B11C76E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1" y="2265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7" name="Line 23">
              <a:extLst>
                <a:ext uri="{FF2B5EF4-FFF2-40B4-BE49-F238E27FC236}">
                  <a16:creationId xmlns:a16="http://schemas.microsoft.com/office/drawing/2014/main" id="{4CF9AA66-0CFB-778F-80A2-073500771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9" y="2265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8" name="Line 24">
              <a:extLst>
                <a:ext uri="{FF2B5EF4-FFF2-40B4-BE49-F238E27FC236}">
                  <a16:creationId xmlns:a16="http://schemas.microsoft.com/office/drawing/2014/main" id="{7CFD650F-FC73-F950-5C32-1EA7B44E2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2265"/>
              <a:ext cx="52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59" name="Line 25">
              <a:extLst>
                <a:ext uri="{FF2B5EF4-FFF2-40B4-BE49-F238E27FC236}">
                  <a16:creationId xmlns:a16="http://schemas.microsoft.com/office/drawing/2014/main" id="{263D2225-E67D-572D-DFF6-24F87F9079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2265"/>
              <a:ext cx="0" cy="4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60" name="Line 26">
              <a:extLst>
                <a:ext uri="{FF2B5EF4-FFF2-40B4-BE49-F238E27FC236}">
                  <a16:creationId xmlns:a16="http://schemas.microsoft.com/office/drawing/2014/main" id="{B9F34ABF-FE9C-DC57-8DCB-A5E44D701F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2827"/>
              <a:ext cx="0" cy="5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grpSp>
          <p:nvGrpSpPr>
            <p:cNvPr id="25661" name="Group 27">
              <a:extLst>
                <a:ext uri="{FF2B5EF4-FFF2-40B4-BE49-F238E27FC236}">
                  <a16:creationId xmlns:a16="http://schemas.microsoft.com/office/drawing/2014/main" id="{72FF5844-A048-7963-2572-6C1330DAF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9" y="3181"/>
              <a:ext cx="71" cy="304"/>
              <a:chOff x="4253" y="5198"/>
              <a:chExt cx="121" cy="360"/>
            </a:xfrm>
          </p:grpSpPr>
          <p:sp>
            <p:nvSpPr>
              <p:cNvPr id="25668" name="Line 28">
                <a:extLst>
                  <a:ext uri="{FF2B5EF4-FFF2-40B4-BE49-F238E27FC236}">
                    <a16:creationId xmlns:a16="http://schemas.microsoft.com/office/drawing/2014/main" id="{055360AB-3A91-915F-E495-785FA94BC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  <p:sp>
            <p:nvSpPr>
              <p:cNvPr id="25669" name="Line 29">
                <a:extLst>
                  <a:ext uri="{FF2B5EF4-FFF2-40B4-BE49-F238E27FC236}">
                    <a16:creationId xmlns:a16="http://schemas.microsoft.com/office/drawing/2014/main" id="{B3E1AC2A-0FB3-341D-04D5-56D41C97D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endParaRPr lang="en-GB"/>
              </a:p>
            </p:txBody>
          </p:sp>
        </p:grpSp>
        <p:sp>
          <p:nvSpPr>
            <p:cNvPr id="25662" name="Line 30">
              <a:extLst>
                <a:ext uri="{FF2B5EF4-FFF2-40B4-BE49-F238E27FC236}">
                  <a16:creationId xmlns:a16="http://schemas.microsoft.com/office/drawing/2014/main" id="{683215D3-D911-17CD-717A-2ABDF8A2F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6" y="3330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63" name="Text Box 31">
              <a:extLst>
                <a:ext uri="{FF2B5EF4-FFF2-40B4-BE49-F238E27FC236}">
                  <a16:creationId xmlns:a16="http://schemas.microsoft.com/office/drawing/2014/main" id="{50011724-33ED-2E67-4F62-8DDCD7916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2932"/>
              <a:ext cx="31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64" name="Line 32">
              <a:extLst>
                <a:ext uri="{FF2B5EF4-FFF2-40B4-BE49-F238E27FC236}">
                  <a16:creationId xmlns:a16="http://schemas.microsoft.com/office/drawing/2014/main" id="{3C1DDF48-4F7E-EE9A-DA87-4A6C6B759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5" y="3330"/>
              <a:ext cx="10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GB"/>
            </a:p>
          </p:txBody>
        </p:sp>
        <p:sp>
          <p:nvSpPr>
            <p:cNvPr id="25667" name="Text Box 35">
              <a:extLst>
                <a:ext uri="{FF2B5EF4-FFF2-40B4-BE49-F238E27FC236}">
                  <a16:creationId xmlns:a16="http://schemas.microsoft.com/office/drawing/2014/main" id="{9C8F7329-4FD9-1D33-0DD8-4E2638820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5" y="2942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25644" name="Text Box 57">
            <a:extLst>
              <a:ext uri="{FF2B5EF4-FFF2-40B4-BE49-F238E27FC236}">
                <a16:creationId xmlns:a16="http://schemas.microsoft.com/office/drawing/2014/main" id="{2EEDE40E-33F9-5283-36A6-C911F5F31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711" y="332718"/>
            <a:ext cx="2349499" cy="12747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Magnitud que caracteriza a un elemento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45" name="Line 58">
            <a:extLst>
              <a:ext uri="{FF2B5EF4-FFF2-40B4-BE49-F238E27FC236}">
                <a16:creationId xmlns:a16="http://schemas.microsoft.com/office/drawing/2014/main" id="{FB3CBC61-496B-22E4-C951-1B9378B046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05256" y="534265"/>
            <a:ext cx="1195415" cy="43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>
            <a:spAutoFit/>
          </a:bodyPr>
          <a:lstStyle/>
          <a:p>
            <a:pPr algn="ctr">
              <a:spcBef>
                <a:spcPts val="0"/>
              </a:spcBef>
            </a:pPr>
            <a:endParaRPr lang="en-GB" dirty="0"/>
          </a:p>
        </p:txBody>
      </p:sp>
      <p:sp>
        <p:nvSpPr>
          <p:cNvPr id="79" name="Text Box 53">
            <a:extLst>
              <a:ext uri="{FF2B5EF4-FFF2-40B4-BE49-F238E27FC236}">
                <a16:creationId xmlns:a16="http://schemas.microsoft.com/office/drawing/2014/main" id="{8F2A0614-ED92-7540-F3C3-259E28038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899" y="343646"/>
            <a:ext cx="2341384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PARÁMETRO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80" name="Text Box 53">
            <a:extLst>
              <a:ext uri="{FF2B5EF4-FFF2-40B4-BE49-F238E27FC236}">
                <a16:creationId xmlns:a16="http://schemas.microsoft.com/office/drawing/2014/main" id="{DEE15FBA-FF48-5DA2-C518-850D93471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2143" y="1680341"/>
            <a:ext cx="2349140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CABLE IDEAL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C8A47193-93EF-DDCD-FB44-AE7B9FA6398A}"/>
              </a:ext>
            </a:extLst>
          </p:cNvPr>
          <p:cNvSpPr/>
          <p:nvPr/>
        </p:nvSpPr>
        <p:spPr bwMode="auto">
          <a:xfrm>
            <a:off x="4133850" y="872089"/>
            <a:ext cx="1019175" cy="1857375"/>
          </a:xfrm>
          <a:custGeom>
            <a:avLst/>
            <a:gdLst>
              <a:gd name="connsiteX0" fmla="*/ 152400 w 1019175"/>
              <a:gd name="connsiteY0" fmla="*/ 104775 h 1857375"/>
              <a:gd name="connsiteX1" fmla="*/ 361950 w 1019175"/>
              <a:gd name="connsiteY1" fmla="*/ 0 h 1857375"/>
              <a:gd name="connsiteX2" fmla="*/ 1019175 w 1019175"/>
              <a:gd name="connsiteY2" fmla="*/ 9525 h 1857375"/>
              <a:gd name="connsiteX3" fmla="*/ 1019175 w 1019175"/>
              <a:gd name="connsiteY3" fmla="*/ 1847850 h 1857375"/>
              <a:gd name="connsiteX4" fmla="*/ 133350 w 1019175"/>
              <a:gd name="connsiteY4" fmla="*/ 1857375 h 1857375"/>
              <a:gd name="connsiteX5" fmla="*/ 0 w 1019175"/>
              <a:gd name="connsiteY5" fmla="*/ 1790700 h 1857375"/>
              <a:gd name="connsiteX6" fmla="*/ 171450 w 1019175"/>
              <a:gd name="connsiteY6" fmla="*/ 1714500 h 1857375"/>
              <a:gd name="connsiteX7" fmla="*/ 800100 w 1019175"/>
              <a:gd name="connsiteY7" fmla="*/ 1714500 h 1857375"/>
              <a:gd name="connsiteX8" fmla="*/ 790575 w 1019175"/>
              <a:gd name="connsiteY8" fmla="*/ 200025 h 1857375"/>
              <a:gd name="connsiteX9" fmla="*/ 342900 w 1019175"/>
              <a:gd name="connsiteY9" fmla="*/ 190500 h 1857375"/>
              <a:gd name="connsiteX10" fmla="*/ 209550 w 1019175"/>
              <a:gd name="connsiteY10" fmla="*/ 133350 h 185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9175" h="1857375">
                <a:moveTo>
                  <a:pt x="152400" y="104775"/>
                </a:moveTo>
                <a:lnTo>
                  <a:pt x="361950" y="0"/>
                </a:lnTo>
                <a:lnTo>
                  <a:pt x="1019175" y="9525"/>
                </a:lnTo>
                <a:lnTo>
                  <a:pt x="1019175" y="1847850"/>
                </a:lnTo>
                <a:lnTo>
                  <a:pt x="133350" y="1857375"/>
                </a:lnTo>
                <a:lnTo>
                  <a:pt x="0" y="1790700"/>
                </a:lnTo>
                <a:lnTo>
                  <a:pt x="171450" y="1714500"/>
                </a:lnTo>
                <a:lnTo>
                  <a:pt x="800100" y="1714500"/>
                </a:lnTo>
                <a:lnTo>
                  <a:pt x="790575" y="200025"/>
                </a:lnTo>
                <a:lnTo>
                  <a:pt x="342900" y="190500"/>
                </a:lnTo>
                <a:lnTo>
                  <a:pt x="209550" y="133350"/>
                </a:lnTo>
              </a:path>
            </a:pathLst>
          </a:custGeom>
          <a:noFill/>
          <a:ln w="28575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5" name="Line 80">
            <a:extLst>
              <a:ext uri="{FF2B5EF4-FFF2-40B4-BE49-F238E27FC236}">
                <a16:creationId xmlns:a16="http://schemas.microsoft.com/office/drawing/2014/main" id="{A5368B86-F22E-9E5B-3FCA-66A42387D0C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53025" y="1914007"/>
            <a:ext cx="389118" cy="7939"/>
          </a:xfrm>
          <a:prstGeom prst="line">
            <a:avLst/>
          </a:prstGeom>
          <a:noFill/>
          <a:ln w="25400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82800" rIns="90000" bIns="82800">
            <a:spAutoFit/>
          </a:bodyPr>
          <a:lstStyle/>
          <a:p>
            <a:pPr>
              <a:spcBef>
                <a:spcPts val="0"/>
              </a:spcBef>
            </a:pPr>
            <a:endParaRPr lang="en-GB"/>
          </a:p>
        </p:txBody>
      </p:sp>
      <p:sp>
        <p:nvSpPr>
          <p:cNvPr id="2" name="Text Box 44">
            <a:extLst>
              <a:ext uri="{FF2B5EF4-FFF2-40B4-BE49-F238E27FC236}">
                <a16:creationId xmlns:a16="http://schemas.microsoft.com/office/drawing/2014/main" id="{82D85F27-F49A-61A1-1FE3-17FE62413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4889" y="4831189"/>
            <a:ext cx="2180489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CABLE REAL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4" name="Text Box 68">
            <a:extLst>
              <a:ext uri="{FF2B5EF4-FFF2-40B4-BE49-F238E27FC236}">
                <a16:creationId xmlns:a16="http://schemas.microsoft.com/office/drawing/2014/main" id="{5B701F10-F8BD-155C-1F6B-29A13D846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5567581"/>
            <a:ext cx="5489575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Se representa con un </a:t>
            </a:r>
            <a:r>
              <a:rPr lang="es-ES" sz="2400" b="0">
                <a:latin typeface="Arial" panose="020B0604020202020204" pitchFamily="34" charset="0"/>
              </a:rPr>
              <a:t>cable ideal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y </a:t>
            </a:r>
            <a:r>
              <a:rPr lang="es-ES" sz="2400" b="0" dirty="0">
                <a:latin typeface="Arial" panose="020B0604020202020204" pitchFamily="34" charset="0"/>
              </a:rPr>
              <a:t>un condensador con su C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BBFFDAE-BAF1-E894-CD67-44F2C6B520E5}"/>
              </a:ext>
            </a:extLst>
          </p:cNvPr>
          <p:cNvGrpSpPr/>
          <p:nvPr/>
        </p:nvGrpSpPr>
        <p:grpSpPr>
          <a:xfrm>
            <a:off x="7883118" y="5432271"/>
            <a:ext cx="2317842" cy="1096116"/>
            <a:chOff x="7891283" y="5800848"/>
            <a:chExt cx="2317842" cy="1096116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EEC3120C-B51B-473A-A784-8C3227BD9D12}"/>
                </a:ext>
              </a:extLst>
            </p:cNvPr>
            <p:cNvSpPr/>
            <p:nvPr/>
          </p:nvSpPr>
          <p:spPr bwMode="auto">
            <a:xfrm>
              <a:off x="7891283" y="5800848"/>
              <a:ext cx="2317842" cy="109611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2" name="Group 119">
              <a:extLst>
                <a:ext uri="{FF2B5EF4-FFF2-40B4-BE49-F238E27FC236}">
                  <a16:creationId xmlns:a16="http://schemas.microsoft.com/office/drawing/2014/main" id="{2061BAA5-D1D0-A343-5D7A-42121FC17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7416" y="5825029"/>
              <a:ext cx="1833563" cy="877888"/>
              <a:chOff x="1392" y="3620"/>
              <a:chExt cx="1155" cy="553"/>
            </a:xfrm>
          </p:grpSpPr>
          <p:grpSp>
            <p:nvGrpSpPr>
              <p:cNvPr id="13" name="Group 103">
                <a:extLst>
                  <a:ext uri="{FF2B5EF4-FFF2-40B4-BE49-F238E27FC236}">
                    <a16:creationId xmlns:a16="http://schemas.microsoft.com/office/drawing/2014/main" id="{6E43F7EC-C2BB-B8FC-F119-224ACBFE94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2" y="3620"/>
                <a:ext cx="1096" cy="553"/>
                <a:chOff x="1430" y="4692"/>
                <a:chExt cx="1096" cy="553"/>
              </a:xfrm>
            </p:grpSpPr>
            <p:grpSp>
              <p:nvGrpSpPr>
                <p:cNvPr id="17" name="Group 27">
                  <a:extLst>
                    <a:ext uri="{FF2B5EF4-FFF2-40B4-BE49-F238E27FC236}">
                      <a16:creationId xmlns:a16="http://schemas.microsoft.com/office/drawing/2014/main" id="{D9B979B2-8417-DB32-5115-A4AD7B86F6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57" y="4941"/>
                  <a:ext cx="71" cy="304"/>
                  <a:chOff x="4253" y="5198"/>
                  <a:chExt cx="121" cy="360"/>
                </a:xfrm>
              </p:grpSpPr>
              <p:sp>
                <p:nvSpPr>
                  <p:cNvPr id="21" name="Line 28">
                    <a:extLst>
                      <a:ext uri="{FF2B5EF4-FFF2-40B4-BE49-F238E27FC236}">
                        <a16:creationId xmlns:a16="http://schemas.microsoft.com/office/drawing/2014/main" id="{87C99859-7F71-9C70-9924-D07A0F8240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74" y="5198"/>
                    <a:ext cx="0" cy="36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ts val="0"/>
                      </a:spcBef>
                    </a:pPr>
                    <a:endParaRPr lang="en-GB"/>
                  </a:p>
                </p:txBody>
              </p:sp>
              <p:sp>
                <p:nvSpPr>
                  <p:cNvPr id="22" name="Line 29">
                    <a:extLst>
                      <a:ext uri="{FF2B5EF4-FFF2-40B4-BE49-F238E27FC236}">
                        <a16:creationId xmlns:a16="http://schemas.microsoft.com/office/drawing/2014/main" id="{F59E0389-0B80-E0E5-F915-BC26BB49BA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53" y="5198"/>
                    <a:ext cx="0" cy="36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ts val="0"/>
                      </a:spcBef>
                    </a:pPr>
                    <a:endParaRPr lang="en-GB"/>
                  </a:p>
                </p:txBody>
              </p:sp>
            </p:grpSp>
            <p:sp>
              <p:nvSpPr>
                <p:cNvPr id="18" name="Line 30">
                  <a:extLst>
                    <a:ext uri="{FF2B5EF4-FFF2-40B4-BE49-F238E27FC236}">
                      <a16:creationId xmlns:a16="http://schemas.microsoft.com/office/drawing/2014/main" id="{AD89A697-F4BB-B6B6-85EB-8191AD29CB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30" y="5090"/>
                  <a:ext cx="227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spcBef>
                      <a:spcPts val="0"/>
                    </a:spcBef>
                  </a:pPr>
                  <a:endParaRPr lang="en-GB"/>
                </a:p>
              </p:txBody>
            </p:sp>
            <p:sp>
              <p:nvSpPr>
                <p:cNvPr id="19" name="Text Box 31">
                  <a:extLst>
                    <a:ext uri="{FF2B5EF4-FFF2-40B4-BE49-F238E27FC236}">
                      <a16:creationId xmlns:a16="http://schemas.microsoft.com/office/drawing/2014/main" id="{7094412B-AE3F-A607-66BC-9E9164356F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82" y="4692"/>
                  <a:ext cx="31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8000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20" name="Line 32">
                  <a:extLst>
                    <a:ext uri="{FF2B5EF4-FFF2-40B4-BE49-F238E27FC236}">
                      <a16:creationId xmlns:a16="http://schemas.microsoft.com/office/drawing/2014/main" id="{CC16C288-5264-E9C7-CB07-F5DF0E0174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51" y="5090"/>
                  <a:ext cx="775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spcBef>
                      <a:spcPts val="0"/>
                    </a:spcBef>
                  </a:pPr>
                  <a:endParaRPr lang="en-GB"/>
                </a:p>
              </p:txBody>
            </p:sp>
          </p:grpSp>
          <p:sp>
            <p:nvSpPr>
              <p:cNvPr id="14" name="Oval 65">
                <a:extLst>
                  <a:ext uri="{FF2B5EF4-FFF2-40B4-BE49-F238E27FC236}">
                    <a16:creationId xmlns:a16="http://schemas.microsoft.com/office/drawing/2014/main" id="{457252F4-70CF-0EB4-EDCA-5681136F0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976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Oval 66">
                <a:extLst>
                  <a:ext uri="{FF2B5EF4-FFF2-40B4-BE49-F238E27FC236}">
                    <a16:creationId xmlns:a16="http://schemas.microsoft.com/office/drawing/2014/main" id="{166A9B43-473A-A040-3A70-1C970BC75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9" y="3984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Oval 67">
                <a:extLst>
                  <a:ext uri="{FF2B5EF4-FFF2-40B4-BE49-F238E27FC236}">
                    <a16:creationId xmlns:a16="http://schemas.microsoft.com/office/drawing/2014/main" id="{0720A913-9F6F-95A1-6D65-C4932CB55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3983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3" name="Text Box 44">
            <a:extLst>
              <a:ext uri="{FF2B5EF4-FFF2-40B4-BE49-F238E27FC236}">
                <a16:creationId xmlns:a16="http://schemas.microsoft.com/office/drawing/2014/main" id="{4C9E4E32-03A4-86AD-B5D2-CA5A8460C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263" y="4837178"/>
            <a:ext cx="3010158" cy="536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Cable con C no nula</a:t>
            </a:r>
            <a:endParaRPr lang="es-ES" sz="2400" b="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AutoShape 63">
            <a:extLst>
              <a:ext uri="{FF2B5EF4-FFF2-40B4-BE49-F238E27FC236}">
                <a16:creationId xmlns:a16="http://schemas.microsoft.com/office/drawing/2014/main" id="{0382223F-027A-CB89-F9F5-EAE626B7141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089859" y="5838739"/>
            <a:ext cx="660400" cy="431800"/>
          </a:xfrm>
          <a:prstGeom prst="downArrow">
            <a:avLst>
              <a:gd name="adj1" fmla="val 50000"/>
              <a:gd name="adj2" fmla="val 5058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 Box 36">
            <a:extLst>
              <a:ext uri="{FF2B5EF4-FFF2-40B4-BE49-F238E27FC236}">
                <a16:creationId xmlns:a16="http://schemas.microsoft.com/office/drawing/2014/main" id="{FDCF87A1-3492-A31D-EA8C-DD7F36996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2143" y="2272395"/>
            <a:ext cx="4794068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Conductor que conecta elementos en el dibujo del circuito</a:t>
            </a:r>
            <a:endParaRPr lang="es-ES" sz="2400" b="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36">
            <a:extLst>
              <a:ext uri="{FF2B5EF4-FFF2-40B4-BE49-F238E27FC236}">
                <a16:creationId xmlns:a16="http://schemas.microsoft.com/office/drawing/2014/main" id="{BCA25A11-E067-F66C-952B-ED2BB96CE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946" y="3223692"/>
            <a:ext cx="4794067" cy="53654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Se le asigna una capacidad nula</a:t>
            </a:r>
            <a:endParaRPr lang="es-ES" sz="2400" b="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F5590906-DACB-E123-659B-4D0FA057F77E}"/>
              </a:ext>
            </a:extLst>
          </p:cNvPr>
          <p:cNvSpPr/>
          <p:nvPr/>
        </p:nvSpPr>
        <p:spPr bwMode="auto">
          <a:xfrm>
            <a:off x="1263721" y="832207"/>
            <a:ext cx="1921268" cy="2280863"/>
          </a:xfrm>
          <a:custGeom>
            <a:avLst/>
            <a:gdLst>
              <a:gd name="connsiteX0" fmla="*/ 955497 w 1921268"/>
              <a:gd name="connsiteY0" fmla="*/ 102741 h 2280863"/>
              <a:gd name="connsiteX1" fmla="*/ 739740 w 1921268"/>
              <a:gd name="connsiteY1" fmla="*/ 0 h 2280863"/>
              <a:gd name="connsiteX2" fmla="*/ 0 w 1921268"/>
              <a:gd name="connsiteY2" fmla="*/ 0 h 2280863"/>
              <a:gd name="connsiteX3" fmla="*/ 20549 w 1921268"/>
              <a:gd name="connsiteY3" fmla="*/ 2024009 h 2280863"/>
              <a:gd name="connsiteX4" fmla="*/ 1325367 w 1921268"/>
              <a:gd name="connsiteY4" fmla="*/ 2280863 h 2280863"/>
              <a:gd name="connsiteX5" fmla="*/ 1921268 w 1921268"/>
              <a:gd name="connsiteY5" fmla="*/ 1869896 h 2280863"/>
              <a:gd name="connsiteX6" fmla="*/ 1037690 w 1921268"/>
              <a:gd name="connsiteY6" fmla="*/ 924674 h 2280863"/>
              <a:gd name="connsiteX7" fmla="*/ 657546 w 1921268"/>
              <a:gd name="connsiteY7" fmla="*/ 503433 h 2280863"/>
              <a:gd name="connsiteX8" fmla="*/ 934949 w 1921268"/>
              <a:gd name="connsiteY8" fmla="*/ 174660 h 2280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21268" h="2280863">
                <a:moveTo>
                  <a:pt x="955497" y="102741"/>
                </a:moveTo>
                <a:lnTo>
                  <a:pt x="739740" y="0"/>
                </a:lnTo>
                <a:lnTo>
                  <a:pt x="0" y="0"/>
                </a:lnTo>
                <a:lnTo>
                  <a:pt x="20549" y="2024009"/>
                </a:lnTo>
                <a:lnTo>
                  <a:pt x="1325367" y="2280863"/>
                </a:lnTo>
                <a:lnTo>
                  <a:pt x="1921268" y="1869896"/>
                </a:lnTo>
                <a:lnTo>
                  <a:pt x="1037690" y="924674"/>
                </a:lnTo>
                <a:lnTo>
                  <a:pt x="657546" y="503433"/>
                </a:lnTo>
                <a:lnTo>
                  <a:pt x="934949" y="174660"/>
                </a:ln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2BF730B-82B3-E244-9220-21CE3162C6E6}"/>
              </a:ext>
            </a:extLst>
          </p:cNvPr>
          <p:cNvGrpSpPr/>
          <p:nvPr/>
        </p:nvGrpSpPr>
        <p:grpSpPr>
          <a:xfrm>
            <a:off x="2365360" y="3381800"/>
            <a:ext cx="2094320" cy="1238632"/>
            <a:chOff x="2365360" y="3381800"/>
            <a:chExt cx="2094320" cy="1238632"/>
          </a:xfrm>
        </p:grpSpPr>
        <p:sp>
          <p:nvSpPr>
            <p:cNvPr id="28" name="Line 58">
              <a:extLst>
                <a:ext uri="{FF2B5EF4-FFF2-40B4-BE49-F238E27FC236}">
                  <a16:creationId xmlns:a16="http://schemas.microsoft.com/office/drawing/2014/main" id="{CD3B7E63-0E58-C062-00BA-884B778D0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65360" y="3381800"/>
              <a:ext cx="217502" cy="123863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pPr algn="ctr">
                <a:spcBef>
                  <a:spcPts val="0"/>
                </a:spcBef>
              </a:pPr>
              <a:endParaRPr lang="en-GB" dirty="0"/>
            </a:p>
          </p:txBody>
        </p:sp>
        <p:sp>
          <p:nvSpPr>
            <p:cNvPr id="29" name="Text Box 31">
              <a:extLst>
                <a:ext uri="{FF2B5EF4-FFF2-40B4-BE49-F238E27FC236}">
                  <a16:creationId xmlns:a16="http://schemas.microsoft.com/office/drawing/2014/main" id="{D915D942-713B-7B5E-1BE5-CFCB0C30B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075" y="3669287"/>
              <a:ext cx="182860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b="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Podría ser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b="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un cable real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632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23" grpId="0" animBg="1"/>
      <p:bldP spid="24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53"/>
          <p:cNvGrpSpPr>
            <a:grpSpLocks/>
          </p:cNvGrpSpPr>
          <p:nvPr/>
        </p:nvGrpSpPr>
        <p:grpSpPr bwMode="auto">
          <a:xfrm>
            <a:off x="3890963" y="3927425"/>
            <a:ext cx="3740150" cy="2617787"/>
            <a:chOff x="1081" y="1220"/>
            <a:chExt cx="2356" cy="1649"/>
          </a:xfrm>
        </p:grpSpPr>
        <p:grpSp>
          <p:nvGrpSpPr>
            <p:cNvPr id="27675" name="Group 3"/>
            <p:cNvGrpSpPr>
              <a:grpSpLocks/>
            </p:cNvGrpSpPr>
            <p:nvPr/>
          </p:nvGrpSpPr>
          <p:grpSpPr bwMode="auto">
            <a:xfrm>
              <a:off x="1644" y="1497"/>
              <a:ext cx="71" cy="304"/>
              <a:chOff x="4253" y="5198"/>
              <a:chExt cx="121" cy="360"/>
            </a:xfrm>
          </p:grpSpPr>
          <p:sp>
            <p:nvSpPr>
              <p:cNvPr id="27705" name="Line 4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7706" name="Line 5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27676" name="Group 6"/>
            <p:cNvGrpSpPr>
              <a:grpSpLocks/>
            </p:cNvGrpSpPr>
            <p:nvPr/>
          </p:nvGrpSpPr>
          <p:grpSpPr bwMode="auto">
            <a:xfrm>
              <a:off x="2811" y="1499"/>
              <a:ext cx="71" cy="305"/>
              <a:chOff x="4253" y="5198"/>
              <a:chExt cx="121" cy="360"/>
            </a:xfrm>
          </p:grpSpPr>
          <p:sp>
            <p:nvSpPr>
              <p:cNvPr id="27703" name="Line 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7704" name="Line 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27677" name="Group 9"/>
            <p:cNvGrpSpPr>
              <a:grpSpLocks/>
            </p:cNvGrpSpPr>
            <p:nvPr/>
          </p:nvGrpSpPr>
          <p:grpSpPr bwMode="auto">
            <a:xfrm rot="5400000">
              <a:off x="2187" y="2051"/>
              <a:ext cx="103" cy="212"/>
              <a:chOff x="4253" y="5198"/>
              <a:chExt cx="121" cy="360"/>
            </a:xfrm>
          </p:grpSpPr>
          <p:sp>
            <p:nvSpPr>
              <p:cNvPr id="27701" name="Line 1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7702" name="Line 1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7678" name="Line 12"/>
            <p:cNvSpPr>
              <a:spLocks noChangeShapeType="1"/>
            </p:cNvSpPr>
            <p:nvPr/>
          </p:nvSpPr>
          <p:spPr bwMode="auto">
            <a:xfrm flipH="1">
              <a:off x="1081" y="1646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79" name="Text Box 13"/>
            <p:cNvSpPr txBox="1">
              <a:spLocks noChangeArrowheads="1"/>
            </p:cNvSpPr>
            <p:nvPr/>
          </p:nvSpPr>
          <p:spPr bwMode="auto">
            <a:xfrm>
              <a:off x="1374" y="1220"/>
              <a:ext cx="3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7680" name="Text Box 14"/>
            <p:cNvSpPr txBox="1">
              <a:spLocks noChangeArrowheads="1"/>
            </p:cNvSpPr>
            <p:nvPr/>
          </p:nvSpPr>
          <p:spPr bwMode="auto">
            <a:xfrm>
              <a:off x="2544" y="1220"/>
              <a:ext cx="31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7681" name="Group 15"/>
            <p:cNvGrpSpPr>
              <a:grpSpLocks/>
            </p:cNvGrpSpPr>
            <p:nvPr/>
          </p:nvGrpSpPr>
          <p:grpSpPr bwMode="auto">
            <a:xfrm flipH="1">
              <a:off x="2739" y="2562"/>
              <a:ext cx="37" cy="304"/>
              <a:chOff x="5153" y="6274"/>
              <a:chExt cx="63" cy="360"/>
            </a:xfrm>
          </p:grpSpPr>
          <p:sp>
            <p:nvSpPr>
              <p:cNvPr id="27699" name="Line 16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7700" name="Line 17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7682" name="Line 18"/>
            <p:cNvSpPr>
              <a:spLocks noChangeShapeType="1"/>
            </p:cNvSpPr>
            <p:nvPr/>
          </p:nvSpPr>
          <p:spPr bwMode="auto">
            <a:xfrm flipH="1">
              <a:off x="2776" y="2714"/>
              <a:ext cx="63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83" name="Text Box 19"/>
            <p:cNvSpPr txBox="1">
              <a:spLocks noChangeArrowheads="1"/>
            </p:cNvSpPr>
            <p:nvPr/>
          </p:nvSpPr>
          <p:spPr bwMode="auto">
            <a:xfrm>
              <a:off x="1837" y="1988"/>
              <a:ext cx="31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7684" name="Line 20"/>
            <p:cNvSpPr>
              <a:spLocks noChangeShapeType="1"/>
            </p:cNvSpPr>
            <p:nvPr/>
          </p:nvSpPr>
          <p:spPr bwMode="auto">
            <a:xfrm flipH="1">
              <a:off x="1720" y="1649"/>
              <a:ext cx="109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85" name="Line 21"/>
            <p:cNvSpPr>
              <a:spLocks noChangeShapeType="1"/>
            </p:cNvSpPr>
            <p:nvPr/>
          </p:nvSpPr>
          <p:spPr bwMode="auto">
            <a:xfrm>
              <a:off x="1091" y="1649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86" name="Line 22"/>
            <p:cNvSpPr>
              <a:spLocks noChangeShapeType="1"/>
            </p:cNvSpPr>
            <p:nvPr/>
          </p:nvSpPr>
          <p:spPr bwMode="auto">
            <a:xfrm>
              <a:off x="3399" y="1649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87" name="Line 23"/>
            <p:cNvSpPr>
              <a:spLocks noChangeShapeType="1"/>
            </p:cNvSpPr>
            <p:nvPr/>
          </p:nvSpPr>
          <p:spPr bwMode="auto">
            <a:xfrm>
              <a:off x="2882" y="1649"/>
              <a:ext cx="52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88" name="Line 24"/>
            <p:cNvSpPr>
              <a:spLocks noChangeShapeType="1"/>
            </p:cNvSpPr>
            <p:nvPr/>
          </p:nvSpPr>
          <p:spPr bwMode="auto">
            <a:xfrm flipV="1">
              <a:off x="2239" y="1649"/>
              <a:ext cx="0" cy="4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89" name="Line 25"/>
            <p:cNvSpPr>
              <a:spLocks noChangeShapeType="1"/>
            </p:cNvSpPr>
            <p:nvPr/>
          </p:nvSpPr>
          <p:spPr bwMode="auto">
            <a:xfrm flipV="1">
              <a:off x="2239" y="2211"/>
              <a:ext cx="0" cy="5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27690" name="Group 26"/>
            <p:cNvGrpSpPr>
              <a:grpSpLocks/>
            </p:cNvGrpSpPr>
            <p:nvPr/>
          </p:nvGrpSpPr>
          <p:grpSpPr bwMode="auto">
            <a:xfrm>
              <a:off x="1649" y="2565"/>
              <a:ext cx="71" cy="304"/>
              <a:chOff x="4253" y="5198"/>
              <a:chExt cx="121" cy="360"/>
            </a:xfrm>
          </p:grpSpPr>
          <p:sp>
            <p:nvSpPr>
              <p:cNvPr id="27697" name="Line 2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7698" name="Line 2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7691" name="Line 29"/>
            <p:cNvSpPr>
              <a:spLocks noChangeShapeType="1"/>
            </p:cNvSpPr>
            <p:nvPr/>
          </p:nvSpPr>
          <p:spPr bwMode="auto">
            <a:xfrm flipH="1">
              <a:off x="1086" y="2714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92" name="Text Box 30"/>
            <p:cNvSpPr txBox="1">
              <a:spLocks noChangeArrowheads="1"/>
            </p:cNvSpPr>
            <p:nvPr/>
          </p:nvSpPr>
          <p:spPr bwMode="auto">
            <a:xfrm>
              <a:off x="1374" y="2316"/>
              <a:ext cx="31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7693" name="Line 31"/>
            <p:cNvSpPr>
              <a:spLocks noChangeShapeType="1"/>
            </p:cNvSpPr>
            <p:nvPr/>
          </p:nvSpPr>
          <p:spPr bwMode="auto">
            <a:xfrm flipH="1">
              <a:off x="1725" y="2714"/>
              <a:ext cx="10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694" name="Oval 32"/>
            <p:cNvSpPr>
              <a:spLocks noChangeArrowheads="1"/>
            </p:cNvSpPr>
            <p:nvPr/>
          </p:nvSpPr>
          <p:spPr bwMode="auto">
            <a:xfrm>
              <a:off x="2193" y="2666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95" name="Oval 33"/>
            <p:cNvSpPr>
              <a:spLocks noChangeArrowheads="1"/>
            </p:cNvSpPr>
            <p:nvPr/>
          </p:nvSpPr>
          <p:spPr bwMode="auto">
            <a:xfrm>
              <a:off x="3346" y="2666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96" name="Text Box 34"/>
            <p:cNvSpPr txBox="1">
              <a:spLocks noChangeArrowheads="1"/>
            </p:cNvSpPr>
            <p:nvPr/>
          </p:nvSpPr>
          <p:spPr bwMode="auto">
            <a:xfrm>
              <a:off x="2785" y="2326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336951" name="Freeform 55"/>
          <p:cNvSpPr>
            <a:spLocks/>
          </p:cNvSpPr>
          <p:nvPr/>
        </p:nvSpPr>
        <p:spPr bwMode="auto">
          <a:xfrm>
            <a:off x="4826001" y="3915536"/>
            <a:ext cx="1885950" cy="1503363"/>
          </a:xfrm>
          <a:custGeom>
            <a:avLst/>
            <a:gdLst>
              <a:gd name="T0" fmla="*/ 0 w 1188"/>
              <a:gd name="T1" fmla="*/ 2147483646 h 947"/>
              <a:gd name="T2" fmla="*/ 0 w 1188"/>
              <a:gd name="T3" fmla="*/ 2147483646 h 947"/>
              <a:gd name="T4" fmla="*/ 2147483646 w 1188"/>
              <a:gd name="T5" fmla="*/ 2147483646 h 947"/>
              <a:gd name="T6" fmla="*/ 2147483646 w 1188"/>
              <a:gd name="T7" fmla="*/ 2147483646 h 947"/>
              <a:gd name="T8" fmla="*/ 2147483646 w 1188"/>
              <a:gd name="T9" fmla="*/ 2147483646 h 947"/>
              <a:gd name="T10" fmla="*/ 2147483646 w 1188"/>
              <a:gd name="T11" fmla="*/ 2147483646 h 947"/>
              <a:gd name="T12" fmla="*/ 2147483646 w 1188"/>
              <a:gd name="T13" fmla="*/ 0 h 947"/>
              <a:gd name="T14" fmla="*/ 2147483646 w 1188"/>
              <a:gd name="T15" fmla="*/ 0 h 947"/>
              <a:gd name="T16" fmla="*/ 0 w 1188"/>
              <a:gd name="T17" fmla="*/ 2147483646 h 94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88"/>
              <a:gd name="T28" fmla="*/ 0 h 947"/>
              <a:gd name="T29" fmla="*/ 1188 w 1188"/>
              <a:gd name="T30" fmla="*/ 947 h 94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88" h="947">
                <a:moveTo>
                  <a:pt x="0" y="160"/>
                </a:moveTo>
                <a:lnTo>
                  <a:pt x="0" y="765"/>
                </a:lnTo>
                <a:lnTo>
                  <a:pt x="342" y="751"/>
                </a:lnTo>
                <a:lnTo>
                  <a:pt x="415" y="926"/>
                </a:lnTo>
                <a:lnTo>
                  <a:pt x="707" y="947"/>
                </a:lnTo>
                <a:lnTo>
                  <a:pt x="1181" y="678"/>
                </a:lnTo>
                <a:lnTo>
                  <a:pt x="1188" y="0"/>
                </a:lnTo>
                <a:lnTo>
                  <a:pt x="7" y="0"/>
                </a:lnTo>
                <a:lnTo>
                  <a:pt x="0" y="160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336952" name="Freeform 56"/>
          <p:cNvSpPr>
            <a:spLocks/>
          </p:cNvSpPr>
          <p:nvPr/>
        </p:nvSpPr>
        <p:spPr bwMode="auto">
          <a:xfrm>
            <a:off x="3725863" y="4344937"/>
            <a:ext cx="1100138" cy="2406650"/>
          </a:xfrm>
          <a:custGeom>
            <a:avLst/>
            <a:gdLst>
              <a:gd name="T0" fmla="*/ 2147483646 w 693"/>
              <a:gd name="T1" fmla="*/ 2147483646 h 1516"/>
              <a:gd name="T2" fmla="*/ 2147483646 w 693"/>
              <a:gd name="T3" fmla="*/ 2147483646 h 1516"/>
              <a:gd name="T4" fmla="*/ 0 w 693"/>
              <a:gd name="T5" fmla="*/ 2147483646 h 1516"/>
              <a:gd name="T6" fmla="*/ 0 w 693"/>
              <a:gd name="T7" fmla="*/ 2147483646 h 1516"/>
              <a:gd name="T8" fmla="*/ 2147483646 w 693"/>
              <a:gd name="T9" fmla="*/ 0 h 1516"/>
              <a:gd name="T10" fmla="*/ 2147483646 w 693"/>
              <a:gd name="T11" fmla="*/ 2147483646 h 15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3"/>
              <a:gd name="T19" fmla="*/ 0 h 1516"/>
              <a:gd name="T20" fmla="*/ 693 w 693"/>
              <a:gd name="T21" fmla="*/ 1516 h 15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3" h="1516">
                <a:moveTo>
                  <a:pt x="693" y="868"/>
                </a:moveTo>
                <a:lnTo>
                  <a:pt x="693" y="1516"/>
                </a:lnTo>
                <a:lnTo>
                  <a:pt x="0" y="1320"/>
                </a:lnTo>
                <a:lnTo>
                  <a:pt x="0" y="51"/>
                </a:lnTo>
                <a:lnTo>
                  <a:pt x="693" y="0"/>
                </a:lnTo>
                <a:lnTo>
                  <a:pt x="693" y="868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9227" name="Text Box 85"/>
          <p:cNvSpPr txBox="1">
            <a:spLocks noChangeArrowheads="1"/>
          </p:cNvSpPr>
          <p:nvPr/>
        </p:nvSpPr>
        <p:spPr bwMode="auto">
          <a:xfrm>
            <a:off x="6602413" y="6259462"/>
            <a:ext cx="3286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9228" name="Text Box 86"/>
          <p:cNvSpPr txBox="1">
            <a:spLocks noChangeArrowheads="1"/>
          </p:cNvSpPr>
          <p:nvPr/>
        </p:nvSpPr>
        <p:spPr bwMode="auto">
          <a:xfrm>
            <a:off x="6215063" y="6256287"/>
            <a:ext cx="2651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27672" name="Text Box 92"/>
          <p:cNvSpPr txBox="1">
            <a:spLocks noChangeArrowheads="1"/>
          </p:cNvSpPr>
          <p:nvPr/>
        </p:nvSpPr>
        <p:spPr bwMode="auto">
          <a:xfrm>
            <a:off x="2866307" y="3139355"/>
            <a:ext cx="418766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Hay dos conductores neutros</a:t>
            </a:r>
          </a:p>
        </p:txBody>
      </p:sp>
      <p:sp>
        <p:nvSpPr>
          <p:cNvPr id="27673" name="Line 93"/>
          <p:cNvSpPr>
            <a:spLocks noChangeShapeType="1"/>
          </p:cNvSpPr>
          <p:nvPr/>
        </p:nvSpPr>
        <p:spPr bwMode="auto">
          <a:xfrm>
            <a:off x="4121590" y="3629751"/>
            <a:ext cx="503238" cy="26275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27674" name="Line 94"/>
          <p:cNvSpPr>
            <a:spLocks noChangeShapeType="1"/>
          </p:cNvSpPr>
          <p:nvPr/>
        </p:nvSpPr>
        <p:spPr bwMode="auto">
          <a:xfrm>
            <a:off x="3932232" y="3686904"/>
            <a:ext cx="189357" cy="5175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9274" name="Text Box 58"/>
          <p:cNvSpPr txBox="1">
            <a:spLocks noChangeArrowheads="1"/>
          </p:cNvSpPr>
          <p:nvPr/>
        </p:nvSpPr>
        <p:spPr bwMode="auto">
          <a:xfrm>
            <a:off x="1675160" y="1107483"/>
            <a:ext cx="8473675" cy="884070"/>
          </a:xfrm>
          <a:prstGeom prst="rect">
            <a:avLst/>
          </a:prstGeom>
          <a:noFill/>
          <a:ln>
            <a:noFill/>
          </a:ln>
        </p:spPr>
        <p:txBody>
          <a:bodyPr wrap="square" lIns="216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 dirty="0">
                <a:latin typeface="Arial" panose="020B0604020202020204" pitchFamily="34" charset="0"/>
              </a:rPr>
              <a:t>En el circuito de abajo, los cables y los condensadores están inicialmente descargados. Los terminales de la pila no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1788050" y="2065668"/>
            <a:ext cx="8044566" cy="884070"/>
          </a:xfrm>
          <a:prstGeom prst="rect">
            <a:avLst/>
          </a:prstGeom>
          <a:noFill/>
          <a:ln>
            <a:noFill/>
          </a:ln>
        </p:spPr>
        <p:txBody>
          <a:bodyPr wrap="square" tIns="72000" bIns="72000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b="0" dirty="0">
                <a:sym typeface="Symbol" panose="05050102010706020507" pitchFamily="18" charset="2"/>
              </a:rPr>
              <a:t> </a:t>
            </a:r>
            <a:r>
              <a:rPr lang="es-ES" sz="2400" b="0" dirty="0"/>
              <a:t>Los conductores en contacto con la pila están cargados, al haber carga en los polos de la pila. El resto no lo está</a:t>
            </a:r>
          </a:p>
        </p:txBody>
      </p:sp>
      <p:sp>
        <p:nvSpPr>
          <p:cNvPr id="59" name="CuadroTexto 58"/>
          <p:cNvSpPr txBox="1"/>
          <p:nvPr/>
        </p:nvSpPr>
        <p:spPr>
          <a:xfrm>
            <a:off x="7202994" y="498424"/>
            <a:ext cx="2180405" cy="461665"/>
          </a:xfrm>
          <a:prstGeom prst="rect">
            <a:avLst/>
          </a:prstGeom>
          <a:solidFill>
            <a:srgbClr val="666699"/>
          </a:solidFill>
        </p:spPr>
        <p:txBody>
          <a:bodyPr wrap="none" rtlCol="0">
            <a:spAutoFit/>
          </a:bodyPr>
          <a:lstStyle/>
          <a:p>
            <a:r>
              <a:rPr lang="es-ES" sz="2400" b="0" dirty="0">
                <a:solidFill>
                  <a:srgbClr val="FFFFFF"/>
                </a:solidFill>
              </a:rPr>
              <a:t>1ª ECUACIÓN</a:t>
            </a:r>
            <a:endParaRPr lang="en-GB" sz="2400" b="0" dirty="0">
              <a:solidFill>
                <a:srgbClr val="FFFFFF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1328-B880-0AD2-77E1-1EDB3665C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277" y="508464"/>
            <a:ext cx="4289831" cy="4698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CIRCUITOS EN EQUILIBRIO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3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51" grpId="0" animBg="1"/>
      <p:bldP spid="336952" grpId="0" animBg="1"/>
      <p:bldP spid="9227" grpId="0"/>
      <p:bldP spid="9228" grpId="0"/>
      <p:bldP spid="27672" grpId="0"/>
      <p:bldP spid="27673" grpId="0" animBg="1"/>
      <p:bldP spid="27674" grpId="0" animBg="1"/>
      <p:bldP spid="9274" grpId="0"/>
      <p:bldP spid="3" grpId="0"/>
      <p:bldP spid="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52">
            <a:extLst>
              <a:ext uri="{FF2B5EF4-FFF2-40B4-BE49-F238E27FC236}">
                <a16:creationId xmlns:a16="http://schemas.microsoft.com/office/drawing/2014/main" id="{D25F6812-D957-4B2C-BEEA-B29273739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312" y="364749"/>
            <a:ext cx="7046553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 cada conductor inicialmente neutro la carga total debe ser siempre nula, al no participar la pila</a:t>
            </a:r>
          </a:p>
        </p:txBody>
      </p:sp>
      <p:sp>
        <p:nvSpPr>
          <p:cNvPr id="52" name="Text Box 65">
            <a:extLst>
              <a:ext uri="{FF2B5EF4-FFF2-40B4-BE49-F238E27FC236}">
                <a16:creationId xmlns:a16="http://schemas.microsoft.com/office/drawing/2014/main" id="{465D7B5A-5EBA-4D1F-B5D3-092B84E2D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313" y="1353409"/>
            <a:ext cx="70465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b="0" dirty="0">
                <a:solidFill>
                  <a:srgbClr val="FF0000"/>
                </a:solidFill>
              </a:rPr>
              <a:t>(la carga se redistribuye al evolucionar hacia el equilibrio, pero no se transfiere entre conductores)</a:t>
            </a:r>
          </a:p>
        </p:txBody>
      </p:sp>
      <p:sp>
        <p:nvSpPr>
          <p:cNvPr id="53" name="Text Box 75">
            <a:extLst>
              <a:ext uri="{FF2B5EF4-FFF2-40B4-BE49-F238E27FC236}">
                <a16:creationId xmlns:a16="http://schemas.microsoft.com/office/drawing/2014/main" id="{8A7673ED-92D6-4ACC-8C41-9055C7FA9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211" y="2347618"/>
            <a:ext cx="7884757" cy="978584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FFFFFF"/>
                </a:solidFill>
                <a:latin typeface="Arial" panose="020B0604020202020204" pitchFamily="34" charset="0"/>
              </a:rPr>
              <a:t>Con cables ideales, la suma de las cargas en las placas que formen parte de un conductor neutro debe ser cero</a:t>
            </a:r>
          </a:p>
        </p:txBody>
      </p:sp>
      <p:grpSp>
        <p:nvGrpSpPr>
          <p:cNvPr id="57" name="Group 60">
            <a:extLst>
              <a:ext uri="{FF2B5EF4-FFF2-40B4-BE49-F238E27FC236}">
                <a16:creationId xmlns:a16="http://schemas.microsoft.com/office/drawing/2014/main" id="{81130376-117F-4AAB-995B-3C962E1D8C16}"/>
              </a:ext>
            </a:extLst>
          </p:cNvPr>
          <p:cNvGrpSpPr>
            <a:grpSpLocks/>
          </p:cNvGrpSpPr>
          <p:nvPr/>
        </p:nvGrpSpPr>
        <p:grpSpPr bwMode="auto">
          <a:xfrm>
            <a:off x="8158296" y="3606134"/>
            <a:ext cx="2014537" cy="1076325"/>
            <a:chOff x="4576" y="3349"/>
            <a:chExt cx="1269" cy="678"/>
          </a:xfrm>
        </p:grpSpPr>
        <p:sp>
          <p:nvSpPr>
            <p:cNvPr id="58" name="Rectangle 98">
              <a:extLst>
                <a:ext uri="{FF2B5EF4-FFF2-40B4-BE49-F238E27FC236}">
                  <a16:creationId xmlns:a16="http://schemas.microsoft.com/office/drawing/2014/main" id="{D4F944CC-105D-42A7-99CE-82CA716C4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3349"/>
              <a:ext cx="1269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 b="0">
                <a:latin typeface="Arial" panose="020B0604020202020204" pitchFamily="34" charset="0"/>
              </a:endParaRPr>
            </a:p>
          </p:txBody>
        </p:sp>
        <p:sp>
          <p:nvSpPr>
            <p:cNvPr id="60" name="Text Box 99">
              <a:extLst>
                <a:ext uri="{FF2B5EF4-FFF2-40B4-BE49-F238E27FC236}">
                  <a16:creationId xmlns:a16="http://schemas.microsoft.com/office/drawing/2014/main" id="{C546A594-A07F-4528-BDEE-014220592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6" y="3431"/>
              <a:ext cx="945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 Q</a:t>
              </a:r>
              <a:r>
                <a:rPr lang="es-ES" sz="2400" b="0" baseline="-25000">
                  <a:latin typeface="Arial" panose="020B0604020202020204" pitchFamily="34" charset="0"/>
                  <a:sym typeface="Symbol" panose="05050102010706020507" pitchFamily="18" charset="2"/>
                </a:rPr>
                <a:t>i</a:t>
              </a: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 = 0</a:t>
              </a:r>
            </a:p>
          </p:txBody>
        </p:sp>
        <p:sp>
          <p:nvSpPr>
            <p:cNvPr id="61" name="Text Box 100">
              <a:extLst>
                <a:ext uri="{FF2B5EF4-FFF2-40B4-BE49-F238E27FC236}">
                  <a16:creationId xmlns:a16="http://schemas.microsoft.com/office/drawing/2014/main" id="{7F315AD2-A1AC-43E7-A1FB-307FF300D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705"/>
              <a:ext cx="653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</a:rPr>
                <a:t>NEUTRO</a:t>
              </a:r>
            </a:p>
          </p:txBody>
        </p:sp>
      </p:grpSp>
      <p:sp>
        <p:nvSpPr>
          <p:cNvPr id="62" name="Text Box 101">
            <a:extLst>
              <a:ext uri="{FF2B5EF4-FFF2-40B4-BE49-F238E27FC236}">
                <a16:creationId xmlns:a16="http://schemas.microsoft.com/office/drawing/2014/main" id="{91B37CEB-140E-47B1-AA98-02D8C8DAD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292" y="4869929"/>
            <a:ext cx="2014537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 err="1">
                <a:latin typeface="Arial" panose="020B0604020202020204" pitchFamily="34" charset="0"/>
              </a:rPr>
              <a:t>Q</a:t>
            </a:r>
            <a:r>
              <a:rPr lang="es-ES" sz="2400" b="0" baseline="-25000" dirty="0" err="1">
                <a:latin typeface="Arial" panose="020B0604020202020204" pitchFamily="34" charset="0"/>
              </a:rPr>
              <a:t>i</a:t>
            </a:r>
            <a:r>
              <a:rPr lang="es-ES" sz="2400" b="0" dirty="0">
                <a:latin typeface="Arial" panose="020B0604020202020204" pitchFamily="34" charset="0"/>
              </a:rPr>
              <a:t> </a:t>
            </a:r>
            <a:r>
              <a:rPr lang="es-ES" sz="2400" b="0">
                <a:latin typeface="Arial" panose="020B0604020202020204" pitchFamily="34" charset="0"/>
              </a:rPr>
              <a:t>=  Q  (&gt; 0)</a:t>
            </a:r>
            <a:endParaRPr lang="es-ES" sz="2400" b="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si placa +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3" name="Text Box 101">
            <a:extLst>
              <a:ext uri="{FF2B5EF4-FFF2-40B4-BE49-F238E27FC236}">
                <a16:creationId xmlns:a16="http://schemas.microsoft.com/office/drawing/2014/main" id="{F9C1949A-84DB-423C-AFDE-676E57CBA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290" y="5875321"/>
            <a:ext cx="2014537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 err="1">
                <a:latin typeface="Arial" panose="020B0604020202020204" pitchFamily="34" charset="0"/>
              </a:rPr>
              <a:t>Q</a:t>
            </a:r>
            <a:r>
              <a:rPr lang="es-ES" sz="2400" b="0" baseline="-25000" dirty="0" err="1">
                <a:latin typeface="Arial" panose="020B0604020202020204" pitchFamily="34" charset="0"/>
              </a:rPr>
              <a:t>i</a:t>
            </a:r>
            <a:r>
              <a:rPr lang="es-ES" sz="2400" b="0" dirty="0">
                <a:latin typeface="Arial" panose="020B0604020202020204" pitchFamily="34" charset="0"/>
              </a:rPr>
              <a:t> =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Q  (&lt; 0)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si placa -</a:t>
            </a:r>
          </a:p>
        </p:txBody>
      </p:sp>
      <p:grpSp>
        <p:nvGrpSpPr>
          <p:cNvPr id="48" name="Group 53">
            <a:extLst>
              <a:ext uri="{FF2B5EF4-FFF2-40B4-BE49-F238E27FC236}">
                <a16:creationId xmlns:a16="http://schemas.microsoft.com/office/drawing/2014/main" id="{28A00283-4ABF-42AC-9122-77E071AEE6C5}"/>
              </a:ext>
            </a:extLst>
          </p:cNvPr>
          <p:cNvGrpSpPr>
            <a:grpSpLocks/>
          </p:cNvGrpSpPr>
          <p:nvPr/>
        </p:nvGrpSpPr>
        <p:grpSpPr bwMode="auto">
          <a:xfrm>
            <a:off x="3890963" y="3927425"/>
            <a:ext cx="3740150" cy="2617787"/>
            <a:chOff x="1081" y="1220"/>
            <a:chExt cx="2356" cy="1649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2C16ACB7-92B5-4A8B-AC74-FEFC26E6FF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4" y="1497"/>
              <a:ext cx="71" cy="304"/>
              <a:chOff x="4253" y="5198"/>
              <a:chExt cx="121" cy="360"/>
            </a:xfrm>
          </p:grpSpPr>
          <p:sp>
            <p:nvSpPr>
              <p:cNvPr id="88" name="Line 4">
                <a:extLst>
                  <a:ext uri="{FF2B5EF4-FFF2-40B4-BE49-F238E27FC236}">
                    <a16:creationId xmlns:a16="http://schemas.microsoft.com/office/drawing/2014/main" id="{61AC38E7-F3F0-4F78-AEA6-E0C9B50A2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9" name="Line 5">
                <a:extLst>
                  <a:ext uri="{FF2B5EF4-FFF2-40B4-BE49-F238E27FC236}">
                    <a16:creationId xmlns:a16="http://schemas.microsoft.com/office/drawing/2014/main" id="{16269986-79A7-4ECC-876B-D90ACDAE7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C03E817D-4678-4E2D-BE01-6BD628BD16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1" y="1499"/>
              <a:ext cx="71" cy="305"/>
              <a:chOff x="4253" y="5198"/>
              <a:chExt cx="121" cy="360"/>
            </a:xfrm>
          </p:grpSpPr>
          <p:sp>
            <p:nvSpPr>
              <p:cNvPr id="86" name="Line 7">
                <a:extLst>
                  <a:ext uri="{FF2B5EF4-FFF2-40B4-BE49-F238E27FC236}">
                    <a16:creationId xmlns:a16="http://schemas.microsoft.com/office/drawing/2014/main" id="{B39F3CD5-6B62-4184-8A22-8F7A69BA1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7" name="Line 8">
                <a:extLst>
                  <a:ext uri="{FF2B5EF4-FFF2-40B4-BE49-F238E27FC236}">
                    <a16:creationId xmlns:a16="http://schemas.microsoft.com/office/drawing/2014/main" id="{6CECC747-BCE7-43AE-B808-E2F631F36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54" name="Group 9">
              <a:extLst>
                <a:ext uri="{FF2B5EF4-FFF2-40B4-BE49-F238E27FC236}">
                  <a16:creationId xmlns:a16="http://schemas.microsoft.com/office/drawing/2014/main" id="{79695547-0ABE-4B75-8DA6-2C376D2B2E9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187" y="2051"/>
              <a:ext cx="103" cy="212"/>
              <a:chOff x="4253" y="5198"/>
              <a:chExt cx="121" cy="360"/>
            </a:xfrm>
          </p:grpSpPr>
          <p:sp>
            <p:nvSpPr>
              <p:cNvPr id="84" name="Line 10">
                <a:extLst>
                  <a:ext uri="{FF2B5EF4-FFF2-40B4-BE49-F238E27FC236}">
                    <a16:creationId xmlns:a16="http://schemas.microsoft.com/office/drawing/2014/main" id="{33EA827B-B600-4A6C-AC15-949721F36B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5" name="Line 11">
                <a:extLst>
                  <a:ext uri="{FF2B5EF4-FFF2-40B4-BE49-F238E27FC236}">
                    <a16:creationId xmlns:a16="http://schemas.microsoft.com/office/drawing/2014/main" id="{9FE065E7-DC68-426D-B7D3-1FA3DD78D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55" name="Line 12">
              <a:extLst>
                <a:ext uri="{FF2B5EF4-FFF2-40B4-BE49-F238E27FC236}">
                  <a16:creationId xmlns:a16="http://schemas.microsoft.com/office/drawing/2014/main" id="{DB4C6B9C-D9D4-481A-8F88-2C963D032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1646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" name="Text Box 13">
              <a:extLst>
                <a:ext uri="{FF2B5EF4-FFF2-40B4-BE49-F238E27FC236}">
                  <a16:creationId xmlns:a16="http://schemas.microsoft.com/office/drawing/2014/main" id="{0FC01E5C-A622-4512-AECA-E714ABB71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1220"/>
              <a:ext cx="3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9" name="Text Box 14">
              <a:extLst>
                <a:ext uri="{FF2B5EF4-FFF2-40B4-BE49-F238E27FC236}">
                  <a16:creationId xmlns:a16="http://schemas.microsoft.com/office/drawing/2014/main" id="{BCC70573-E965-49C7-B2C9-D5B2F88B5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220"/>
              <a:ext cx="31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64" name="Group 15">
              <a:extLst>
                <a:ext uri="{FF2B5EF4-FFF2-40B4-BE49-F238E27FC236}">
                  <a16:creationId xmlns:a16="http://schemas.microsoft.com/office/drawing/2014/main" id="{BBC5A04F-3458-4048-AA69-B498F69357B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739" y="2562"/>
              <a:ext cx="37" cy="304"/>
              <a:chOff x="5153" y="6274"/>
              <a:chExt cx="63" cy="360"/>
            </a:xfrm>
          </p:grpSpPr>
          <p:sp>
            <p:nvSpPr>
              <p:cNvPr id="82" name="Line 16">
                <a:extLst>
                  <a:ext uri="{FF2B5EF4-FFF2-40B4-BE49-F238E27FC236}">
                    <a16:creationId xmlns:a16="http://schemas.microsoft.com/office/drawing/2014/main" id="{C8294F0F-86DE-4C0F-B90F-654241930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3" name="Line 17">
                <a:extLst>
                  <a:ext uri="{FF2B5EF4-FFF2-40B4-BE49-F238E27FC236}">
                    <a16:creationId xmlns:a16="http://schemas.microsoft.com/office/drawing/2014/main" id="{2045E52B-2499-459F-A7E4-AE3947CD6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65" name="Line 18">
              <a:extLst>
                <a:ext uri="{FF2B5EF4-FFF2-40B4-BE49-F238E27FC236}">
                  <a16:creationId xmlns:a16="http://schemas.microsoft.com/office/drawing/2014/main" id="{DCF88BC8-BAEE-4744-9A3E-86F0CC46D7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6" y="2714"/>
              <a:ext cx="63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6" name="Text Box 19">
              <a:extLst>
                <a:ext uri="{FF2B5EF4-FFF2-40B4-BE49-F238E27FC236}">
                  <a16:creationId xmlns:a16="http://schemas.microsoft.com/office/drawing/2014/main" id="{F69CB63D-2C13-418B-8797-C6A408D77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1988"/>
              <a:ext cx="31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67" name="Line 20">
              <a:extLst>
                <a:ext uri="{FF2B5EF4-FFF2-40B4-BE49-F238E27FC236}">
                  <a16:creationId xmlns:a16="http://schemas.microsoft.com/office/drawing/2014/main" id="{40415564-313F-4B21-AFD4-A22B15971A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0" y="1649"/>
              <a:ext cx="109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8" name="Line 21">
              <a:extLst>
                <a:ext uri="{FF2B5EF4-FFF2-40B4-BE49-F238E27FC236}">
                  <a16:creationId xmlns:a16="http://schemas.microsoft.com/office/drawing/2014/main" id="{31447C46-9752-4B77-95DE-5E4803C02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1" y="1649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9" name="Line 22">
              <a:extLst>
                <a:ext uri="{FF2B5EF4-FFF2-40B4-BE49-F238E27FC236}">
                  <a16:creationId xmlns:a16="http://schemas.microsoft.com/office/drawing/2014/main" id="{886DE491-5EA6-473B-A074-27D3D1340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9" y="1649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0" name="Line 23">
              <a:extLst>
                <a:ext uri="{FF2B5EF4-FFF2-40B4-BE49-F238E27FC236}">
                  <a16:creationId xmlns:a16="http://schemas.microsoft.com/office/drawing/2014/main" id="{EC225CEE-64C3-4B17-A3DF-E20B591D8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1649"/>
              <a:ext cx="52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" name="Line 24">
              <a:extLst>
                <a:ext uri="{FF2B5EF4-FFF2-40B4-BE49-F238E27FC236}">
                  <a16:creationId xmlns:a16="http://schemas.microsoft.com/office/drawing/2014/main" id="{F53475DC-BC7C-4E05-8484-E1649C358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1649"/>
              <a:ext cx="0" cy="4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2" name="Line 25">
              <a:extLst>
                <a:ext uri="{FF2B5EF4-FFF2-40B4-BE49-F238E27FC236}">
                  <a16:creationId xmlns:a16="http://schemas.microsoft.com/office/drawing/2014/main" id="{3A255A00-08DF-4B33-909A-8EF65A134D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2211"/>
              <a:ext cx="0" cy="5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73" name="Group 26">
              <a:extLst>
                <a:ext uri="{FF2B5EF4-FFF2-40B4-BE49-F238E27FC236}">
                  <a16:creationId xmlns:a16="http://schemas.microsoft.com/office/drawing/2014/main" id="{5FBDDCB3-B369-4F5C-BEA9-4A3B9516F8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9" y="2565"/>
              <a:ext cx="71" cy="304"/>
              <a:chOff x="4253" y="5198"/>
              <a:chExt cx="121" cy="360"/>
            </a:xfrm>
          </p:grpSpPr>
          <p:sp>
            <p:nvSpPr>
              <p:cNvPr id="80" name="Line 27">
                <a:extLst>
                  <a:ext uri="{FF2B5EF4-FFF2-40B4-BE49-F238E27FC236}">
                    <a16:creationId xmlns:a16="http://schemas.microsoft.com/office/drawing/2014/main" id="{4D45C19D-4479-4400-B1CC-35888E45F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1" name="Line 28">
                <a:extLst>
                  <a:ext uri="{FF2B5EF4-FFF2-40B4-BE49-F238E27FC236}">
                    <a16:creationId xmlns:a16="http://schemas.microsoft.com/office/drawing/2014/main" id="{9175F874-225E-4F96-A550-F7DB45E1A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74" name="Line 29">
              <a:extLst>
                <a:ext uri="{FF2B5EF4-FFF2-40B4-BE49-F238E27FC236}">
                  <a16:creationId xmlns:a16="http://schemas.microsoft.com/office/drawing/2014/main" id="{5A421C60-B5A7-4A17-A3E4-9527ACB56C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6" y="2714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5" name="Text Box 30">
              <a:extLst>
                <a:ext uri="{FF2B5EF4-FFF2-40B4-BE49-F238E27FC236}">
                  <a16:creationId xmlns:a16="http://schemas.microsoft.com/office/drawing/2014/main" id="{68D8017F-F027-4CFE-920A-672C80F2E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4" y="2316"/>
              <a:ext cx="31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Line 31">
              <a:extLst>
                <a:ext uri="{FF2B5EF4-FFF2-40B4-BE49-F238E27FC236}">
                  <a16:creationId xmlns:a16="http://schemas.microsoft.com/office/drawing/2014/main" id="{70CBC898-F5F0-466F-9220-D58CAB401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5" y="2714"/>
              <a:ext cx="10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7" name="Oval 32">
              <a:extLst>
                <a:ext uri="{FF2B5EF4-FFF2-40B4-BE49-F238E27FC236}">
                  <a16:creationId xmlns:a16="http://schemas.microsoft.com/office/drawing/2014/main" id="{860C7F85-D39B-43CD-A0A1-50267DAF5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" y="2666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Oval 33">
              <a:extLst>
                <a:ext uri="{FF2B5EF4-FFF2-40B4-BE49-F238E27FC236}">
                  <a16:creationId xmlns:a16="http://schemas.microsoft.com/office/drawing/2014/main" id="{31EED26F-806E-4EF8-8047-8369ECBF3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" y="2666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" name="Text Box 34">
              <a:extLst>
                <a:ext uri="{FF2B5EF4-FFF2-40B4-BE49-F238E27FC236}">
                  <a16:creationId xmlns:a16="http://schemas.microsoft.com/office/drawing/2014/main" id="{DBBCC3C3-8387-47FC-904C-D71F44135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5" y="2326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90" name="Freeform 55">
            <a:extLst>
              <a:ext uri="{FF2B5EF4-FFF2-40B4-BE49-F238E27FC236}">
                <a16:creationId xmlns:a16="http://schemas.microsoft.com/office/drawing/2014/main" id="{123C48B4-08CB-4CA9-8CC2-C93E13FFF35C}"/>
              </a:ext>
            </a:extLst>
          </p:cNvPr>
          <p:cNvSpPr>
            <a:spLocks/>
          </p:cNvSpPr>
          <p:nvPr/>
        </p:nvSpPr>
        <p:spPr bwMode="auto">
          <a:xfrm>
            <a:off x="4826001" y="3915536"/>
            <a:ext cx="1885950" cy="1503363"/>
          </a:xfrm>
          <a:custGeom>
            <a:avLst/>
            <a:gdLst>
              <a:gd name="T0" fmla="*/ 0 w 1188"/>
              <a:gd name="T1" fmla="*/ 2147483646 h 947"/>
              <a:gd name="T2" fmla="*/ 0 w 1188"/>
              <a:gd name="T3" fmla="*/ 2147483646 h 947"/>
              <a:gd name="T4" fmla="*/ 2147483646 w 1188"/>
              <a:gd name="T5" fmla="*/ 2147483646 h 947"/>
              <a:gd name="T6" fmla="*/ 2147483646 w 1188"/>
              <a:gd name="T7" fmla="*/ 2147483646 h 947"/>
              <a:gd name="T8" fmla="*/ 2147483646 w 1188"/>
              <a:gd name="T9" fmla="*/ 2147483646 h 947"/>
              <a:gd name="T10" fmla="*/ 2147483646 w 1188"/>
              <a:gd name="T11" fmla="*/ 2147483646 h 947"/>
              <a:gd name="T12" fmla="*/ 2147483646 w 1188"/>
              <a:gd name="T13" fmla="*/ 0 h 947"/>
              <a:gd name="T14" fmla="*/ 2147483646 w 1188"/>
              <a:gd name="T15" fmla="*/ 0 h 947"/>
              <a:gd name="T16" fmla="*/ 0 w 1188"/>
              <a:gd name="T17" fmla="*/ 2147483646 h 94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88"/>
              <a:gd name="T28" fmla="*/ 0 h 947"/>
              <a:gd name="T29" fmla="*/ 1188 w 1188"/>
              <a:gd name="T30" fmla="*/ 947 h 94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88" h="947">
                <a:moveTo>
                  <a:pt x="0" y="160"/>
                </a:moveTo>
                <a:lnTo>
                  <a:pt x="0" y="765"/>
                </a:lnTo>
                <a:lnTo>
                  <a:pt x="342" y="751"/>
                </a:lnTo>
                <a:lnTo>
                  <a:pt x="415" y="926"/>
                </a:lnTo>
                <a:lnTo>
                  <a:pt x="707" y="947"/>
                </a:lnTo>
                <a:lnTo>
                  <a:pt x="1181" y="678"/>
                </a:lnTo>
                <a:lnTo>
                  <a:pt x="1188" y="0"/>
                </a:lnTo>
                <a:lnTo>
                  <a:pt x="7" y="0"/>
                </a:lnTo>
                <a:lnTo>
                  <a:pt x="0" y="160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91" name="Freeform 56">
            <a:extLst>
              <a:ext uri="{FF2B5EF4-FFF2-40B4-BE49-F238E27FC236}">
                <a16:creationId xmlns:a16="http://schemas.microsoft.com/office/drawing/2014/main" id="{ED249A89-2BDE-4A0D-9EA0-43559A9CB730}"/>
              </a:ext>
            </a:extLst>
          </p:cNvPr>
          <p:cNvSpPr>
            <a:spLocks/>
          </p:cNvSpPr>
          <p:nvPr/>
        </p:nvSpPr>
        <p:spPr bwMode="auto">
          <a:xfrm>
            <a:off x="3725863" y="4344937"/>
            <a:ext cx="1100138" cy="2406650"/>
          </a:xfrm>
          <a:custGeom>
            <a:avLst/>
            <a:gdLst>
              <a:gd name="T0" fmla="*/ 2147483646 w 693"/>
              <a:gd name="T1" fmla="*/ 2147483646 h 1516"/>
              <a:gd name="T2" fmla="*/ 2147483646 w 693"/>
              <a:gd name="T3" fmla="*/ 2147483646 h 1516"/>
              <a:gd name="T4" fmla="*/ 0 w 693"/>
              <a:gd name="T5" fmla="*/ 2147483646 h 1516"/>
              <a:gd name="T6" fmla="*/ 0 w 693"/>
              <a:gd name="T7" fmla="*/ 2147483646 h 1516"/>
              <a:gd name="T8" fmla="*/ 2147483646 w 693"/>
              <a:gd name="T9" fmla="*/ 0 h 1516"/>
              <a:gd name="T10" fmla="*/ 2147483646 w 693"/>
              <a:gd name="T11" fmla="*/ 2147483646 h 15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3"/>
              <a:gd name="T19" fmla="*/ 0 h 1516"/>
              <a:gd name="T20" fmla="*/ 693 w 693"/>
              <a:gd name="T21" fmla="*/ 1516 h 15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3" h="1516">
                <a:moveTo>
                  <a:pt x="693" y="868"/>
                </a:moveTo>
                <a:lnTo>
                  <a:pt x="693" y="1516"/>
                </a:lnTo>
                <a:lnTo>
                  <a:pt x="0" y="1320"/>
                </a:lnTo>
                <a:lnTo>
                  <a:pt x="0" y="51"/>
                </a:lnTo>
                <a:lnTo>
                  <a:pt x="693" y="0"/>
                </a:lnTo>
                <a:lnTo>
                  <a:pt x="693" y="868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92" name="Text Box 85">
            <a:extLst>
              <a:ext uri="{FF2B5EF4-FFF2-40B4-BE49-F238E27FC236}">
                <a16:creationId xmlns:a16="http://schemas.microsoft.com/office/drawing/2014/main" id="{42C0CC2A-BD0D-492F-A052-508AF6C8E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413" y="6259462"/>
            <a:ext cx="3286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93" name="Text Box 86">
            <a:extLst>
              <a:ext uri="{FF2B5EF4-FFF2-40B4-BE49-F238E27FC236}">
                <a16:creationId xmlns:a16="http://schemas.microsoft.com/office/drawing/2014/main" id="{75BAE392-CA96-4980-A273-7E94AE9B2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6256287"/>
            <a:ext cx="2651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73116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/>
      <p:bldP spid="53" grpId="0" animBg="1"/>
      <p:bldP spid="62" grpId="0" animBg="1"/>
      <p:bldP spid="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3" name="Text Box 46"/>
          <p:cNvSpPr txBox="1">
            <a:spLocks noChangeArrowheads="1"/>
          </p:cNvSpPr>
          <p:nvPr/>
        </p:nvSpPr>
        <p:spPr bwMode="auto">
          <a:xfrm>
            <a:off x="1954925" y="3332175"/>
            <a:ext cx="486628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Una 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MALLA es un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camino cerrado</a:t>
            </a:r>
          </a:p>
        </p:txBody>
      </p:sp>
      <p:sp>
        <p:nvSpPr>
          <p:cNvPr id="351282" name="Text Box 50"/>
          <p:cNvSpPr txBox="1">
            <a:spLocks noChangeArrowheads="1"/>
          </p:cNvSpPr>
          <p:nvPr/>
        </p:nvSpPr>
        <p:spPr bwMode="auto">
          <a:xfrm>
            <a:off x="1990508" y="4327480"/>
            <a:ext cx="4715290" cy="48929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72000" tIns="36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V se suele representar con V</a:t>
            </a:r>
          </a:p>
        </p:txBody>
      </p:sp>
      <p:sp>
        <p:nvSpPr>
          <p:cNvPr id="351299" name="Text Box 67"/>
          <p:cNvSpPr txBox="1">
            <a:spLocks noChangeArrowheads="1"/>
          </p:cNvSpPr>
          <p:nvPr/>
        </p:nvSpPr>
        <p:spPr bwMode="auto">
          <a:xfrm>
            <a:off x="1990508" y="4928294"/>
            <a:ext cx="4715290" cy="48202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144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Y si se parte en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trozos la malla:</a:t>
            </a:r>
          </a:p>
        </p:txBody>
      </p:sp>
      <p:sp>
        <p:nvSpPr>
          <p:cNvPr id="30" name="Text Box 50"/>
          <p:cNvSpPr txBox="1">
            <a:spLocks noChangeArrowheads="1"/>
          </p:cNvSpPr>
          <p:nvPr/>
        </p:nvSpPr>
        <p:spPr bwMode="auto">
          <a:xfrm>
            <a:off x="1337826" y="1223076"/>
            <a:ext cx="5886004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En cada punto del espacio el potencial eléctrico tiene un determinado valor</a:t>
            </a:r>
          </a:p>
        </p:txBody>
      </p:sp>
      <p:sp>
        <p:nvSpPr>
          <p:cNvPr id="351281" name="Text Box 49"/>
          <p:cNvSpPr txBox="1">
            <a:spLocks noChangeArrowheads="1"/>
          </p:cNvSpPr>
          <p:nvPr/>
        </p:nvSpPr>
        <p:spPr bwMode="auto">
          <a:xfrm>
            <a:off x="7860017" y="3274599"/>
            <a:ext cx="2471652" cy="670808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8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8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MALLA</a:t>
            </a:r>
            <a:r>
              <a:rPr lang="es-ES" sz="28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= </a:t>
            </a:r>
            <a:r>
              <a:rPr lang="es-ES" sz="28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7861953" y="5680718"/>
            <a:ext cx="1830387" cy="1076325"/>
            <a:chOff x="4297" y="2523"/>
            <a:chExt cx="1153" cy="678"/>
          </a:xfrm>
        </p:grpSpPr>
        <p:sp>
          <p:nvSpPr>
            <p:cNvPr id="29720" name="Rectangle 53"/>
            <p:cNvSpPr>
              <a:spLocks noChangeArrowheads="1"/>
            </p:cNvSpPr>
            <p:nvPr/>
          </p:nvSpPr>
          <p:spPr bwMode="auto">
            <a:xfrm>
              <a:off x="4297" y="2523"/>
              <a:ext cx="1107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29721" name="Text Box 54"/>
            <p:cNvSpPr txBox="1">
              <a:spLocks noChangeArrowheads="1"/>
            </p:cNvSpPr>
            <p:nvPr/>
          </p:nvSpPr>
          <p:spPr bwMode="auto">
            <a:xfrm>
              <a:off x="4551" y="2579"/>
              <a:ext cx="89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 V</a:t>
              </a:r>
              <a:r>
                <a:rPr lang="es-ES" sz="2400" b="0" baseline="-25000">
                  <a:latin typeface="Arial" panose="020B0604020202020204" pitchFamily="34" charset="0"/>
                  <a:sym typeface="Symbol" panose="05050102010706020507" pitchFamily="18" charset="2"/>
                </a:rPr>
                <a:t>i</a:t>
              </a: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 = 0</a:t>
              </a:r>
            </a:p>
          </p:txBody>
        </p:sp>
        <p:sp>
          <p:nvSpPr>
            <p:cNvPr id="29722" name="Text Box 55"/>
            <p:cNvSpPr txBox="1">
              <a:spLocks noChangeArrowheads="1"/>
            </p:cNvSpPr>
            <p:nvPr/>
          </p:nvSpPr>
          <p:spPr bwMode="auto">
            <a:xfrm>
              <a:off x="4363" y="2862"/>
              <a:ext cx="533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</a:rPr>
                <a:t>MALLA</a:t>
              </a:r>
            </a:p>
          </p:txBody>
        </p:sp>
      </p:grpSp>
      <p:sp>
        <p:nvSpPr>
          <p:cNvPr id="35" name="Text Box 56"/>
          <p:cNvSpPr txBox="1">
            <a:spLocks noChangeArrowheads="1"/>
          </p:cNvSpPr>
          <p:nvPr/>
        </p:nvSpPr>
        <p:spPr bwMode="auto">
          <a:xfrm>
            <a:off x="1796609" y="5660173"/>
            <a:ext cx="5766737" cy="1076442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6000" tIns="118800" rIns="126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La suma de las diferencias de potencial (ddp) a lo largo de una malla es cero</a:t>
            </a:r>
          </a:p>
        </p:txBody>
      </p:sp>
      <p:sp>
        <p:nvSpPr>
          <p:cNvPr id="28" name="AutoShape 47">
            <a:extLst>
              <a:ext uri="{FF2B5EF4-FFF2-40B4-BE49-F238E27FC236}">
                <a16:creationId xmlns:a16="http://schemas.microsoft.com/office/drawing/2014/main" id="{813ECAEB-7536-4260-9C6A-B92476A7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3757" y="3236107"/>
            <a:ext cx="360000" cy="741363"/>
          </a:xfrm>
          <a:prstGeom prst="rightArrow">
            <a:avLst>
              <a:gd name="adj1" fmla="val 48611"/>
              <a:gd name="adj2" fmla="val 5245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ACF531-11C6-914E-694C-AB84422BD3D6}"/>
              </a:ext>
            </a:extLst>
          </p:cNvPr>
          <p:cNvSpPr txBox="1"/>
          <p:nvPr/>
        </p:nvSpPr>
        <p:spPr>
          <a:xfrm>
            <a:off x="7202994" y="498424"/>
            <a:ext cx="2180405" cy="461665"/>
          </a:xfrm>
          <a:prstGeom prst="rect">
            <a:avLst/>
          </a:prstGeom>
          <a:solidFill>
            <a:srgbClr val="666699"/>
          </a:solidFill>
        </p:spPr>
        <p:txBody>
          <a:bodyPr wrap="none" rtlCol="0">
            <a:spAutoFit/>
          </a:bodyPr>
          <a:lstStyle/>
          <a:p>
            <a:r>
              <a:rPr lang="es-ES" sz="2400" b="0" dirty="0">
                <a:solidFill>
                  <a:srgbClr val="FFFFFF"/>
                </a:solidFill>
              </a:rPr>
              <a:t>2ª ECUACIÓN</a:t>
            </a:r>
            <a:endParaRPr lang="en-GB" sz="2400" b="0" dirty="0">
              <a:solidFill>
                <a:srgbClr val="FFFFFF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D5C822-5976-A7C2-9766-AB29CD400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277" y="508464"/>
            <a:ext cx="4289831" cy="4698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CIRCUITOS EN EQUILIBRIO</a:t>
            </a:r>
          </a:p>
        </p:txBody>
      </p:sp>
      <p:sp>
        <p:nvSpPr>
          <p:cNvPr id="7" name="Text Box 50">
            <a:extLst>
              <a:ext uri="{FF2B5EF4-FFF2-40B4-BE49-F238E27FC236}">
                <a16:creationId xmlns:a16="http://schemas.microsoft.com/office/drawing/2014/main" id="{8164C26E-E1F0-2A33-2A04-A621D92BF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327" y="2192980"/>
            <a:ext cx="5886005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Si se recorre un </a:t>
            </a: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circuito cerrado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(si se parte de un punto y se vuelve a él)</a:t>
            </a:r>
          </a:p>
        </p:txBody>
      </p:sp>
      <p:sp>
        <p:nvSpPr>
          <p:cNvPr id="8" name="AutoShape 47">
            <a:extLst>
              <a:ext uri="{FF2B5EF4-FFF2-40B4-BE49-F238E27FC236}">
                <a16:creationId xmlns:a16="http://schemas.microsoft.com/office/drawing/2014/main" id="{D3A4B43B-8662-BC3B-471F-FBB686AC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247" y="2250657"/>
            <a:ext cx="360000" cy="741363"/>
          </a:xfrm>
          <a:prstGeom prst="rightArrow">
            <a:avLst>
              <a:gd name="adj1" fmla="val 48611"/>
              <a:gd name="adj2" fmla="val 5245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49">
            <a:extLst>
              <a:ext uri="{FF2B5EF4-FFF2-40B4-BE49-F238E27FC236}">
                <a16:creationId xmlns:a16="http://schemas.microsoft.com/office/drawing/2014/main" id="{15A571B2-5F98-8D38-D184-868662B2F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017" y="2292671"/>
            <a:ext cx="2458728" cy="67080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</a:t>
            </a:r>
            <a:r>
              <a:rPr lang="es-ES" sz="28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c. cerrado</a:t>
            </a:r>
            <a:r>
              <a:rPr lang="es-ES" sz="28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8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5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5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5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5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3" grpId="0"/>
      <p:bldP spid="351282" grpId="0" animBg="1"/>
      <p:bldP spid="351299" grpId="0" animBg="1"/>
      <p:bldP spid="30" grpId="0" animBg="1"/>
      <p:bldP spid="351281" grpId="0" animBg="1"/>
      <p:bldP spid="35" grpId="0" animBg="1"/>
      <p:bldP spid="28" grpId="0" animBg="1"/>
      <p:bldP spid="3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Text Box 71"/>
          <p:cNvSpPr txBox="1">
            <a:spLocks noChangeArrowheads="1"/>
          </p:cNvSpPr>
          <p:nvPr/>
        </p:nvSpPr>
        <p:spPr bwMode="auto">
          <a:xfrm>
            <a:off x="1759245" y="4839351"/>
            <a:ext cx="8033656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>
                <a:latin typeface="Arial" panose="020B0604020202020204" pitchFamily="34" charset="0"/>
              </a:rPr>
              <a:t>Si se toma cada 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ddp = V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inicial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final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, se está calculando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  una </a:t>
            </a: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</a:rPr>
              <a:t>caída de potencial</a:t>
            </a:r>
            <a:r>
              <a:rPr lang="es-ES" sz="2400" b="0">
                <a:latin typeface="Arial" panose="020B0604020202020204" pitchFamily="34" charset="0"/>
              </a:rPr>
              <a:t>, ya que será positiva si V cae</a:t>
            </a:r>
            <a:endParaRPr lang="es-ES" sz="2400" b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48" name="Text Box 72"/>
          <p:cNvSpPr txBox="1">
            <a:spLocks noChangeArrowheads="1"/>
          </p:cNvSpPr>
          <p:nvPr/>
        </p:nvSpPr>
        <p:spPr bwMode="auto">
          <a:xfrm>
            <a:off x="1759245" y="5881590"/>
            <a:ext cx="8033656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 dirty="0">
                <a:latin typeface="Arial" panose="020B0604020202020204" pitchFamily="34" charset="0"/>
              </a:rPr>
              <a:t>Si se toma cada </a:t>
            </a:r>
            <a:r>
              <a:rPr lang="es-ES" sz="2400" b="0" dirty="0" err="1">
                <a:latin typeface="Arial" panose="020B0604020202020204" pitchFamily="34" charset="0"/>
              </a:rPr>
              <a:t>ddp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400" b="0" dirty="0" err="1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final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 </a:t>
            </a:r>
            <a:r>
              <a:rPr lang="es-ES" sz="2400" b="0" dirty="0" err="1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inicial</a:t>
            </a:r>
            <a:r>
              <a:rPr lang="es-ES" sz="2400" b="0" dirty="0">
                <a:latin typeface="Arial" panose="020B0604020202020204" pitchFamily="34" charset="0"/>
              </a:rPr>
              <a:t>, se está calculando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0" dirty="0">
                <a:latin typeface="Arial" panose="020B0604020202020204" pitchFamily="34" charset="0"/>
              </a:rPr>
              <a:t>  una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subida de potencial</a:t>
            </a:r>
            <a:r>
              <a:rPr lang="es-ES" sz="2400" b="0" dirty="0">
                <a:latin typeface="Arial" panose="020B0604020202020204" pitchFamily="34" charset="0"/>
              </a:rPr>
              <a:t>, porque será positiva si V sube</a:t>
            </a:r>
          </a:p>
        </p:txBody>
      </p:sp>
      <p:sp>
        <p:nvSpPr>
          <p:cNvPr id="1053" name="Text Box 77"/>
          <p:cNvSpPr txBox="1">
            <a:spLocks noChangeArrowheads="1"/>
          </p:cNvSpPr>
          <p:nvPr/>
        </p:nvSpPr>
        <p:spPr bwMode="auto">
          <a:xfrm>
            <a:off x="4454207" y="2712852"/>
            <a:ext cx="5345112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Hay que elegir el sentido horario o antihorario para calcular las </a:t>
            </a:r>
            <a:r>
              <a:rPr lang="es-ES" sz="2400" b="0" dirty="0" err="1">
                <a:latin typeface="Arial" panose="020B0604020202020204" pitchFamily="34" charset="0"/>
              </a:rPr>
              <a:t>ddp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28" name="Text Box 77"/>
          <p:cNvSpPr txBox="1">
            <a:spLocks noChangeArrowheads="1"/>
          </p:cNvSpPr>
          <p:nvPr/>
        </p:nvSpPr>
        <p:spPr bwMode="auto">
          <a:xfrm>
            <a:off x="4449361" y="3742373"/>
            <a:ext cx="5345112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Hay que optar por calcular la </a:t>
            </a:r>
            <a:r>
              <a:rPr lang="es-ES" sz="2400" b="0" dirty="0" err="1">
                <a:latin typeface="Arial" panose="020B0604020202020204" pitchFamily="34" charset="0"/>
              </a:rPr>
              <a:t>ddp</a:t>
            </a:r>
            <a:r>
              <a:rPr lang="es-ES" sz="2400" b="0" dirty="0">
                <a:latin typeface="Arial" panose="020B0604020202020204" pitchFamily="34" charset="0"/>
              </a:rPr>
              <a:t> como una caída o como una subida</a:t>
            </a:r>
          </a:p>
        </p:txBody>
      </p:sp>
      <p:sp>
        <p:nvSpPr>
          <p:cNvPr id="2" name="Abrir llave 1">
            <a:extLst>
              <a:ext uri="{FF2B5EF4-FFF2-40B4-BE49-F238E27FC236}">
                <a16:creationId xmlns:a16="http://schemas.microsoft.com/office/drawing/2014/main" id="{AA75C1C9-FA71-4E39-B067-22B11F087CC1}"/>
              </a:ext>
            </a:extLst>
          </p:cNvPr>
          <p:cNvSpPr/>
          <p:nvPr/>
        </p:nvSpPr>
        <p:spPr bwMode="auto">
          <a:xfrm>
            <a:off x="3788228" y="2712852"/>
            <a:ext cx="351693" cy="1935402"/>
          </a:xfrm>
          <a:prstGeom prst="leftBrac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" name="Text Box 77">
            <a:extLst>
              <a:ext uri="{FF2B5EF4-FFF2-40B4-BE49-F238E27FC236}">
                <a16:creationId xmlns:a16="http://schemas.microsoft.com/office/drawing/2014/main" id="{9CA6E825-FAF7-4EE1-9AD6-AF4CD718B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93" y="3019079"/>
            <a:ext cx="207258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Para aplicar la ecuación:</a:t>
            </a:r>
            <a:endParaRPr lang="es-ES" sz="2400" b="0" dirty="0">
              <a:latin typeface="Arial" panose="020B0604020202020204" pitchFamily="34" charset="0"/>
            </a:endParaRPr>
          </a:p>
        </p:txBody>
      </p:sp>
      <p:sp>
        <p:nvSpPr>
          <p:cNvPr id="3" name="Text Box 77">
            <a:extLst>
              <a:ext uri="{FF2B5EF4-FFF2-40B4-BE49-F238E27FC236}">
                <a16:creationId xmlns:a16="http://schemas.microsoft.com/office/drawing/2014/main" id="{BF4ABF85-D74F-BB5B-E925-C72915311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8736" y="560491"/>
            <a:ext cx="8040074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Al recorrer la malla habrá </a:t>
            </a:r>
            <a:r>
              <a:rPr lang="es-ES" sz="2400" b="0" dirty="0">
                <a:latin typeface="Arial" panose="020B0604020202020204" pitchFamily="34" charset="0"/>
              </a:rPr>
              <a:t>subidas </a:t>
            </a:r>
            <a:r>
              <a:rPr lang="es-ES" sz="2400" b="0">
                <a:latin typeface="Arial" panose="020B0604020202020204" pitchFamily="34" charset="0"/>
              </a:rPr>
              <a:t>y bajadas de potencial, </a:t>
            </a:r>
            <a:r>
              <a:rPr lang="es-ES" sz="2400" b="0" dirty="0">
                <a:latin typeface="Arial" panose="020B0604020202020204" pitchFamily="34" charset="0"/>
              </a:rPr>
              <a:t>trabajos del campo negativos y positivos, por igual</a:t>
            </a:r>
          </a:p>
        </p:txBody>
      </p:sp>
      <p:sp>
        <p:nvSpPr>
          <p:cNvPr id="4" name="Text Box 65">
            <a:extLst>
              <a:ext uri="{FF2B5EF4-FFF2-40B4-BE49-F238E27FC236}">
                <a16:creationId xmlns:a16="http://schemas.microsoft.com/office/drawing/2014/main" id="{BF694FD5-0C05-F597-F739-A839FF9B9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155" y="1618069"/>
            <a:ext cx="80336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b="0">
                <a:solidFill>
                  <a:srgbClr val="FF0000"/>
                </a:solidFill>
              </a:rPr>
              <a:t>En el caso gravitatorio ocurre lo mismo si se recorre un circuito cerrado en un edificio: se sube y baja por igual</a:t>
            </a:r>
            <a:endParaRPr lang="es-ES" sz="24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16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" grpId="0" animBg="1"/>
      <p:bldP spid="1048" grpId="0" animBg="1"/>
      <p:bldP spid="1053" grpId="0" animBg="1"/>
      <p:bldP spid="28" grpId="0" animBg="1"/>
      <p:bldP spid="2" grpId="0" animBg="1"/>
      <p:bldP spid="9" grpId="0"/>
      <p:bldP spid="3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18" name="Group 118"/>
          <p:cNvGrpSpPr>
            <a:grpSpLocks/>
          </p:cNvGrpSpPr>
          <p:nvPr/>
        </p:nvGrpSpPr>
        <p:grpSpPr bwMode="auto">
          <a:xfrm>
            <a:off x="1466850" y="2892297"/>
            <a:ext cx="2581275" cy="1890712"/>
            <a:chOff x="960" y="1757"/>
            <a:chExt cx="1626" cy="1191"/>
          </a:xfrm>
        </p:grpSpPr>
        <p:sp>
          <p:nvSpPr>
            <p:cNvPr id="31839" name="Text Box 15"/>
            <p:cNvSpPr txBox="1">
              <a:spLocks noChangeArrowheads="1"/>
            </p:cNvSpPr>
            <p:nvPr/>
          </p:nvSpPr>
          <p:spPr bwMode="auto">
            <a:xfrm>
              <a:off x="1557" y="2346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grpSp>
          <p:nvGrpSpPr>
            <p:cNvPr id="31840" name="Group 11"/>
            <p:cNvGrpSpPr>
              <a:grpSpLocks/>
            </p:cNvGrpSpPr>
            <p:nvPr/>
          </p:nvGrpSpPr>
          <p:grpSpPr bwMode="auto">
            <a:xfrm>
              <a:off x="1786" y="2506"/>
              <a:ext cx="37" cy="304"/>
              <a:chOff x="5153" y="6274"/>
              <a:chExt cx="63" cy="360"/>
            </a:xfrm>
          </p:grpSpPr>
          <p:sp>
            <p:nvSpPr>
              <p:cNvPr id="31847" name="Line 12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48" name="Line 13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1841" name="Line 14"/>
            <p:cNvSpPr>
              <a:spLocks noChangeShapeType="1"/>
            </p:cNvSpPr>
            <p:nvPr/>
          </p:nvSpPr>
          <p:spPr bwMode="auto">
            <a:xfrm flipH="1">
              <a:off x="1831" y="2660"/>
              <a:ext cx="74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842" name="Line 22"/>
            <p:cNvSpPr>
              <a:spLocks noChangeShapeType="1"/>
            </p:cNvSpPr>
            <p:nvPr/>
          </p:nvSpPr>
          <p:spPr bwMode="auto">
            <a:xfrm flipH="1">
              <a:off x="960" y="2656"/>
              <a:ext cx="81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843" name="Line 60"/>
            <p:cNvSpPr>
              <a:spLocks noChangeAspect="1" noChangeShapeType="1"/>
            </p:cNvSpPr>
            <p:nvPr/>
          </p:nvSpPr>
          <p:spPr bwMode="auto">
            <a:xfrm rot="16200000" flipH="1">
              <a:off x="510" y="2210"/>
              <a:ext cx="907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844" name="Line 61"/>
            <p:cNvSpPr>
              <a:spLocks noChangeAspect="1" noChangeShapeType="1"/>
            </p:cNvSpPr>
            <p:nvPr/>
          </p:nvSpPr>
          <p:spPr bwMode="auto">
            <a:xfrm rot="16200000" flipH="1">
              <a:off x="2132" y="2216"/>
              <a:ext cx="907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845" name="Text Box 89"/>
            <p:cNvSpPr txBox="1">
              <a:spLocks noChangeArrowheads="1"/>
            </p:cNvSpPr>
            <p:nvPr/>
          </p:nvSpPr>
          <p:spPr bwMode="auto">
            <a:xfrm>
              <a:off x="1578" y="2614"/>
              <a:ext cx="22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846" name="Text Box 90"/>
            <p:cNvSpPr txBox="1">
              <a:spLocks noChangeArrowheads="1"/>
            </p:cNvSpPr>
            <p:nvPr/>
          </p:nvSpPr>
          <p:spPr bwMode="auto">
            <a:xfrm>
              <a:off x="1805" y="2607"/>
              <a:ext cx="21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</p:grpSp>
      <p:sp>
        <p:nvSpPr>
          <p:cNvPr id="10297" name="Text Box 100"/>
          <p:cNvSpPr txBox="1">
            <a:spLocks noChangeArrowheads="1"/>
          </p:cNvSpPr>
          <p:nvPr/>
        </p:nvSpPr>
        <p:spPr bwMode="auto">
          <a:xfrm>
            <a:off x="1454291" y="872278"/>
            <a:ext cx="8629048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26000" tIns="82800" rIns="126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Conectar un terminal libre de cada condensador a un terminal libre del siguiente. El conjunto tiene dos terminales al exterior</a:t>
            </a:r>
          </a:p>
        </p:txBody>
      </p:sp>
      <p:sp>
        <p:nvSpPr>
          <p:cNvPr id="31750" name="Rectangle 10"/>
          <p:cNvSpPr>
            <a:spLocks noChangeArrowheads="1"/>
          </p:cNvSpPr>
          <p:nvPr/>
        </p:nvSpPr>
        <p:spPr bwMode="auto">
          <a:xfrm>
            <a:off x="1285806" y="353966"/>
            <a:ext cx="8653463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3.4.2 ASOCIACIÓN EN SERIE DE CONDENSADORES</a:t>
            </a:r>
          </a:p>
        </p:txBody>
      </p:sp>
      <p:grpSp>
        <p:nvGrpSpPr>
          <p:cNvPr id="11" name="Group 50"/>
          <p:cNvGrpSpPr>
            <a:grpSpLocks/>
          </p:cNvGrpSpPr>
          <p:nvPr/>
        </p:nvGrpSpPr>
        <p:grpSpPr bwMode="auto">
          <a:xfrm>
            <a:off x="1765300" y="2414459"/>
            <a:ext cx="2005013" cy="481013"/>
            <a:chOff x="1148" y="1054"/>
            <a:chExt cx="1263" cy="303"/>
          </a:xfrm>
        </p:grpSpPr>
        <p:sp>
          <p:nvSpPr>
            <p:cNvPr id="31818" name="Text Box 51"/>
            <p:cNvSpPr txBox="1">
              <a:spLocks noChangeArrowheads="1"/>
            </p:cNvSpPr>
            <p:nvPr/>
          </p:nvSpPr>
          <p:spPr bwMode="auto">
            <a:xfrm>
              <a:off x="1148" y="1054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819" name="Text Box 52"/>
            <p:cNvSpPr txBox="1">
              <a:spLocks noChangeArrowheads="1"/>
            </p:cNvSpPr>
            <p:nvPr/>
          </p:nvSpPr>
          <p:spPr bwMode="auto">
            <a:xfrm>
              <a:off x="2244" y="1061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12" name="Group 53"/>
          <p:cNvGrpSpPr>
            <a:grpSpLocks/>
          </p:cNvGrpSpPr>
          <p:nvPr/>
        </p:nvGrpSpPr>
        <p:grpSpPr bwMode="auto">
          <a:xfrm>
            <a:off x="2151063" y="2412872"/>
            <a:ext cx="1296987" cy="477837"/>
            <a:chOff x="1391" y="1053"/>
            <a:chExt cx="817" cy="301"/>
          </a:xfrm>
        </p:grpSpPr>
        <p:sp>
          <p:nvSpPr>
            <p:cNvPr id="31814" name="Text Box 54"/>
            <p:cNvSpPr txBox="1">
              <a:spLocks noChangeArrowheads="1"/>
            </p:cNvSpPr>
            <p:nvPr/>
          </p:nvSpPr>
          <p:spPr bwMode="auto">
            <a:xfrm>
              <a:off x="1391" y="1055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1815" name="Text Box 55"/>
            <p:cNvSpPr txBox="1">
              <a:spLocks noChangeArrowheads="1"/>
            </p:cNvSpPr>
            <p:nvPr/>
          </p:nvSpPr>
          <p:spPr bwMode="auto">
            <a:xfrm>
              <a:off x="1821" y="1058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1816" name="Text Box 56"/>
            <p:cNvSpPr txBox="1">
              <a:spLocks noChangeArrowheads="1"/>
            </p:cNvSpPr>
            <p:nvPr/>
          </p:nvSpPr>
          <p:spPr bwMode="auto">
            <a:xfrm>
              <a:off x="1578" y="1057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817" name="Text Box 57"/>
            <p:cNvSpPr txBox="1">
              <a:spLocks noChangeArrowheads="1"/>
            </p:cNvSpPr>
            <p:nvPr/>
          </p:nvSpPr>
          <p:spPr bwMode="auto">
            <a:xfrm>
              <a:off x="2001" y="1053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414463" y="2101722"/>
            <a:ext cx="2709862" cy="1046162"/>
            <a:chOff x="1471613" y="1998663"/>
            <a:chExt cx="2709862" cy="1046162"/>
          </a:xfrm>
        </p:grpSpPr>
        <p:grpSp>
          <p:nvGrpSpPr>
            <p:cNvPr id="31788" name="Group 16"/>
            <p:cNvGrpSpPr>
              <a:grpSpLocks/>
            </p:cNvGrpSpPr>
            <p:nvPr/>
          </p:nvGrpSpPr>
          <p:grpSpPr bwMode="auto">
            <a:xfrm>
              <a:off x="2105025" y="2557463"/>
              <a:ext cx="112713" cy="482600"/>
              <a:chOff x="4253" y="5198"/>
              <a:chExt cx="121" cy="360"/>
            </a:xfrm>
          </p:grpSpPr>
          <p:sp>
            <p:nvSpPr>
              <p:cNvPr id="31804" name="Line 1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05" name="Line 1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1789" name="Line 19"/>
            <p:cNvSpPr>
              <a:spLocks noChangeShapeType="1"/>
            </p:cNvSpPr>
            <p:nvPr/>
          </p:nvSpPr>
          <p:spPr bwMode="auto">
            <a:xfrm flipH="1">
              <a:off x="1533525" y="2782888"/>
              <a:ext cx="539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790" name="Text Box 20"/>
            <p:cNvSpPr txBox="1">
              <a:spLocks noChangeArrowheads="1"/>
            </p:cNvSpPr>
            <p:nvPr/>
          </p:nvSpPr>
          <p:spPr bwMode="auto">
            <a:xfrm>
              <a:off x="1943100" y="2006600"/>
              <a:ext cx="5032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1791" name="Line 21"/>
            <p:cNvSpPr>
              <a:spLocks noChangeShapeType="1"/>
            </p:cNvSpPr>
            <p:nvPr/>
          </p:nvSpPr>
          <p:spPr bwMode="auto">
            <a:xfrm flipH="1">
              <a:off x="2224088" y="2779713"/>
              <a:ext cx="539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1792" name="Group 42"/>
            <p:cNvGrpSpPr>
              <a:grpSpLocks/>
            </p:cNvGrpSpPr>
            <p:nvPr/>
          </p:nvGrpSpPr>
          <p:grpSpPr bwMode="auto">
            <a:xfrm>
              <a:off x="2787650" y="2562225"/>
              <a:ext cx="112713" cy="482600"/>
              <a:chOff x="4253" y="5198"/>
              <a:chExt cx="121" cy="360"/>
            </a:xfrm>
          </p:grpSpPr>
          <p:sp>
            <p:nvSpPr>
              <p:cNvPr id="31802" name="Line 43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03" name="Line 44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1793" name="Text Box 45"/>
            <p:cNvSpPr txBox="1">
              <a:spLocks noChangeArrowheads="1"/>
            </p:cNvSpPr>
            <p:nvPr/>
          </p:nvSpPr>
          <p:spPr bwMode="auto">
            <a:xfrm>
              <a:off x="2628900" y="2014538"/>
              <a:ext cx="5032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1794" name="Line 46"/>
            <p:cNvSpPr>
              <a:spLocks noChangeShapeType="1"/>
            </p:cNvSpPr>
            <p:nvPr/>
          </p:nvSpPr>
          <p:spPr bwMode="auto">
            <a:xfrm flipH="1">
              <a:off x="2906713" y="2784475"/>
              <a:ext cx="539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1795" name="Group 47"/>
            <p:cNvGrpSpPr>
              <a:grpSpLocks/>
            </p:cNvGrpSpPr>
            <p:nvPr/>
          </p:nvGrpSpPr>
          <p:grpSpPr bwMode="auto">
            <a:xfrm>
              <a:off x="3459163" y="2555875"/>
              <a:ext cx="112712" cy="482600"/>
              <a:chOff x="4253" y="5198"/>
              <a:chExt cx="121" cy="360"/>
            </a:xfrm>
          </p:grpSpPr>
          <p:sp>
            <p:nvSpPr>
              <p:cNvPr id="31800" name="Line 48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01" name="Line 49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1796" name="Line 58"/>
            <p:cNvSpPr>
              <a:spLocks noChangeShapeType="1"/>
            </p:cNvSpPr>
            <p:nvPr/>
          </p:nvSpPr>
          <p:spPr bwMode="auto">
            <a:xfrm flipH="1">
              <a:off x="3578225" y="2789238"/>
              <a:ext cx="539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797" name="Text Box 59"/>
            <p:cNvSpPr txBox="1">
              <a:spLocks noChangeArrowheads="1"/>
            </p:cNvSpPr>
            <p:nvPr/>
          </p:nvSpPr>
          <p:spPr bwMode="auto">
            <a:xfrm>
              <a:off x="3281363" y="1998663"/>
              <a:ext cx="503237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1798" name="Oval 82"/>
            <p:cNvSpPr>
              <a:spLocks noChangeArrowheads="1"/>
            </p:cNvSpPr>
            <p:nvPr/>
          </p:nvSpPr>
          <p:spPr bwMode="auto">
            <a:xfrm>
              <a:off x="4037013" y="2716213"/>
              <a:ext cx="144462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99" name="Oval 83"/>
            <p:cNvSpPr>
              <a:spLocks noChangeArrowheads="1"/>
            </p:cNvSpPr>
            <p:nvPr/>
          </p:nvSpPr>
          <p:spPr bwMode="auto">
            <a:xfrm>
              <a:off x="1471613" y="2709863"/>
              <a:ext cx="144462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479550" y="3079850"/>
            <a:ext cx="2568575" cy="1115784"/>
            <a:chOff x="1536700" y="2892812"/>
            <a:chExt cx="2568575" cy="1115784"/>
          </a:xfrm>
        </p:grpSpPr>
        <p:grpSp>
          <p:nvGrpSpPr>
            <p:cNvPr id="25707" name="Group 107"/>
            <p:cNvGrpSpPr>
              <a:grpSpLocks/>
            </p:cNvGrpSpPr>
            <p:nvPr/>
          </p:nvGrpSpPr>
          <p:grpSpPr bwMode="auto">
            <a:xfrm>
              <a:off x="1536700" y="3029109"/>
              <a:ext cx="2568575" cy="979487"/>
              <a:chOff x="968" y="1821"/>
              <a:chExt cx="1618" cy="617"/>
            </a:xfrm>
          </p:grpSpPr>
          <p:sp>
            <p:nvSpPr>
              <p:cNvPr id="31784" name="Line 85"/>
              <p:cNvSpPr>
                <a:spLocks noChangeShapeType="1"/>
              </p:cNvSpPr>
              <p:nvPr/>
            </p:nvSpPr>
            <p:spPr bwMode="auto">
              <a:xfrm flipV="1">
                <a:off x="1069" y="2109"/>
                <a:ext cx="0" cy="2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31785" name="Text Box 86"/>
              <p:cNvSpPr txBox="1">
                <a:spLocks noChangeArrowheads="1"/>
              </p:cNvSpPr>
              <p:nvPr/>
            </p:nvSpPr>
            <p:spPr bwMode="auto">
              <a:xfrm>
                <a:off x="968" y="1821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000" b="0" baseline="300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31786" name="Line 87"/>
              <p:cNvSpPr>
                <a:spLocks noChangeShapeType="1"/>
              </p:cNvSpPr>
              <p:nvPr/>
            </p:nvSpPr>
            <p:spPr bwMode="auto">
              <a:xfrm>
                <a:off x="2473" y="1928"/>
                <a:ext cx="0" cy="2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31787" name="Text Box 88"/>
              <p:cNvSpPr txBox="1">
                <a:spLocks noChangeArrowheads="1"/>
              </p:cNvSpPr>
              <p:nvPr/>
            </p:nvSpPr>
            <p:spPr bwMode="auto">
              <a:xfrm>
                <a:off x="2360" y="2104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000" b="0" baseline="300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106" name="Text Box 86"/>
            <p:cNvSpPr txBox="1">
              <a:spLocks noChangeArrowheads="1"/>
            </p:cNvSpPr>
            <p:nvPr/>
          </p:nvSpPr>
          <p:spPr bwMode="auto">
            <a:xfrm>
              <a:off x="2527337" y="2892812"/>
              <a:ext cx="358775" cy="53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000" b="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07" name="Line 85"/>
            <p:cNvSpPr>
              <a:spLocks noChangeShapeType="1"/>
            </p:cNvSpPr>
            <p:nvPr/>
          </p:nvSpPr>
          <p:spPr bwMode="auto">
            <a:xfrm rot="5400000" flipV="1">
              <a:off x="2396755" y="2978793"/>
              <a:ext cx="0" cy="3333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08" name="Text Box 86"/>
            <p:cNvSpPr txBox="1">
              <a:spLocks noChangeArrowheads="1"/>
            </p:cNvSpPr>
            <p:nvPr/>
          </p:nvSpPr>
          <p:spPr bwMode="auto">
            <a:xfrm>
              <a:off x="3201988" y="2894965"/>
              <a:ext cx="358775" cy="53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000" b="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09" name="Line 85"/>
            <p:cNvSpPr>
              <a:spLocks noChangeShapeType="1"/>
            </p:cNvSpPr>
            <p:nvPr/>
          </p:nvSpPr>
          <p:spPr bwMode="auto">
            <a:xfrm rot="5400000" flipV="1">
              <a:off x="3071406" y="2980946"/>
              <a:ext cx="0" cy="3333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00" name="Text Box 91"/>
          <p:cNvSpPr txBox="1">
            <a:spLocks noChangeArrowheads="1"/>
          </p:cNvSpPr>
          <p:nvPr/>
        </p:nvSpPr>
        <p:spPr bwMode="auto">
          <a:xfrm>
            <a:off x="4427392" y="1945993"/>
            <a:ext cx="5999884" cy="139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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Al conectar a una pila se producen  corrientes en los conductores debido al campo creado en cada punto de los cables por los excesos de carga de la pila.</a:t>
            </a:r>
          </a:p>
        </p:txBody>
      </p:sp>
      <p:sp>
        <p:nvSpPr>
          <p:cNvPr id="101" name="Text Box 91"/>
          <p:cNvSpPr txBox="1">
            <a:spLocks noChangeArrowheads="1"/>
          </p:cNvSpPr>
          <p:nvPr/>
        </p:nvSpPr>
        <p:spPr bwMode="auto">
          <a:xfrm>
            <a:off x="4425687" y="3427845"/>
            <a:ext cx="5453251" cy="139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Los conductores no conectados a la pila se polarizan por ello: su carga se redistribuye apareciendo excesos de carga inducidos, pero siguen neutros.</a:t>
            </a:r>
          </a:p>
        </p:txBody>
      </p:sp>
      <p:sp>
        <p:nvSpPr>
          <p:cNvPr id="102" name="Text Box 91"/>
          <p:cNvSpPr txBox="1">
            <a:spLocks noChangeArrowheads="1"/>
          </p:cNvSpPr>
          <p:nvPr/>
        </p:nvSpPr>
        <p:spPr bwMode="auto">
          <a:xfrm>
            <a:off x="1655907" y="4915784"/>
            <a:ext cx="8610311" cy="109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El equilibrio se alcanzará, las corrientes cesarán, cuando el campo eléctrico en todos los puntos de todos los conductores, debido a todos los excesos de carga, sea nulo.</a:t>
            </a:r>
          </a:p>
        </p:txBody>
      </p:sp>
      <p:sp>
        <p:nvSpPr>
          <p:cNvPr id="103" name="Text Box 91"/>
          <p:cNvSpPr txBox="1">
            <a:spLocks noChangeArrowheads="1"/>
          </p:cNvSpPr>
          <p:nvPr/>
        </p:nvSpPr>
        <p:spPr bwMode="auto">
          <a:xfrm>
            <a:off x="1637170" y="6059638"/>
            <a:ext cx="8610311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Wingdings" panose="05000000000000000000" pitchFamily="2" charset="2"/>
              </a:rPr>
              <a:t>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En la pila y en los condensadores el campo no será nulo, apuntará en el sentido + </a:t>
            </a:r>
            <a:r>
              <a:rPr lang="es-ES" sz="2400" b="0" dirty="0">
                <a:latin typeface="Arial" panose="020B0604020202020204" pitchFamily="34" charset="0"/>
                <a:sym typeface="Wingdings 3" panose="05040102010807070707" pitchFamily="18" charset="2"/>
              </a:rPr>
              <a:t>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-.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7" grpId="0" animBg="1"/>
      <p:bldP spid="100" grpId="0"/>
      <p:bldP spid="101" grpId="0"/>
      <p:bldP spid="102" grpId="0"/>
      <p:bldP spid="10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09"/>
          <p:cNvGrpSpPr>
            <a:grpSpLocks/>
          </p:cNvGrpSpPr>
          <p:nvPr/>
        </p:nvGrpSpPr>
        <p:grpSpPr bwMode="auto">
          <a:xfrm>
            <a:off x="4356539" y="5039228"/>
            <a:ext cx="1851025" cy="1152525"/>
            <a:chOff x="870" y="2920"/>
            <a:chExt cx="1166" cy="726"/>
          </a:xfrm>
        </p:grpSpPr>
        <p:sp>
          <p:nvSpPr>
            <p:cNvPr id="31829" name="Text Box 26"/>
            <p:cNvSpPr txBox="1">
              <a:spLocks noChangeArrowheads="1"/>
            </p:cNvSpPr>
            <p:nvPr/>
          </p:nvSpPr>
          <p:spPr bwMode="auto">
            <a:xfrm>
              <a:off x="870" y="2920"/>
              <a:ext cx="116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1830" name="Text Box 28"/>
            <p:cNvSpPr txBox="1">
              <a:spLocks noChangeArrowheads="1"/>
            </p:cNvSpPr>
            <p:nvPr/>
          </p:nvSpPr>
          <p:spPr bwMode="auto">
            <a:xfrm>
              <a:off x="1029" y="3322"/>
              <a:ext cx="831" cy="32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latin typeface="Arial" panose="020B0604020202020204" pitchFamily="34" charset="0"/>
                </a:rPr>
                <a:t>Q = C V</a:t>
              </a:r>
            </a:p>
          </p:txBody>
        </p:sp>
      </p:grpSp>
      <p:sp>
        <p:nvSpPr>
          <p:cNvPr id="405581" name="Text Box 77"/>
          <p:cNvSpPr txBox="1">
            <a:spLocks noChangeArrowheads="1"/>
          </p:cNvSpPr>
          <p:nvPr/>
        </p:nvSpPr>
        <p:spPr bwMode="auto">
          <a:xfrm>
            <a:off x="1268791" y="445449"/>
            <a:ext cx="1964297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 equilibrio: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281" name="Text Box 80"/>
          <p:cNvSpPr txBox="1">
            <a:spLocks noChangeArrowheads="1"/>
          </p:cNvSpPr>
          <p:nvPr/>
        </p:nvSpPr>
        <p:spPr bwMode="auto">
          <a:xfrm>
            <a:off x="3907121" y="3010061"/>
            <a:ext cx="2691032" cy="5921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1440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=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lang="es-ES" sz="2400" b="0">
              <a:solidFill>
                <a:srgbClr val="FFFF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2707F66A-2969-42C0-94A8-22DC568A4BEC}"/>
              </a:ext>
            </a:extLst>
          </p:cNvPr>
          <p:cNvGrpSpPr/>
          <p:nvPr/>
        </p:nvGrpSpPr>
        <p:grpSpPr>
          <a:xfrm>
            <a:off x="7508730" y="276888"/>
            <a:ext cx="2709862" cy="2681287"/>
            <a:chOff x="1336530" y="231355"/>
            <a:chExt cx="2709862" cy="2681287"/>
          </a:xfrm>
        </p:grpSpPr>
        <p:grpSp>
          <p:nvGrpSpPr>
            <p:cNvPr id="25718" name="Group 118"/>
            <p:cNvGrpSpPr>
              <a:grpSpLocks/>
            </p:cNvGrpSpPr>
            <p:nvPr/>
          </p:nvGrpSpPr>
          <p:grpSpPr bwMode="auto">
            <a:xfrm>
              <a:off x="1388917" y="1021930"/>
              <a:ext cx="2581275" cy="1890712"/>
              <a:chOff x="960" y="1757"/>
              <a:chExt cx="1626" cy="1191"/>
            </a:xfrm>
          </p:grpSpPr>
          <p:sp>
            <p:nvSpPr>
              <p:cNvPr id="31839" name="Text Box 15"/>
              <p:cNvSpPr txBox="1">
                <a:spLocks noChangeArrowheads="1"/>
              </p:cNvSpPr>
              <p:nvPr/>
            </p:nvSpPr>
            <p:spPr bwMode="auto">
              <a:xfrm>
                <a:off x="1557" y="2346"/>
                <a:ext cx="21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grpSp>
            <p:nvGrpSpPr>
              <p:cNvPr id="31840" name="Group 11"/>
              <p:cNvGrpSpPr>
                <a:grpSpLocks/>
              </p:cNvGrpSpPr>
              <p:nvPr/>
            </p:nvGrpSpPr>
            <p:grpSpPr bwMode="auto">
              <a:xfrm>
                <a:off x="1786" y="2506"/>
                <a:ext cx="37" cy="304"/>
                <a:chOff x="5153" y="6274"/>
                <a:chExt cx="63" cy="360"/>
              </a:xfrm>
            </p:grpSpPr>
            <p:sp>
              <p:nvSpPr>
                <p:cNvPr id="31847" name="Line 12"/>
                <p:cNvSpPr>
                  <a:spLocks noChangeShapeType="1"/>
                </p:cNvSpPr>
                <p:nvPr/>
              </p:nvSpPr>
              <p:spPr bwMode="auto">
                <a:xfrm>
                  <a:off x="5216" y="6357"/>
                  <a:ext cx="0" cy="19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1848" name="Line 13"/>
                <p:cNvSpPr>
                  <a:spLocks noChangeShapeType="1"/>
                </p:cNvSpPr>
                <p:nvPr/>
              </p:nvSpPr>
              <p:spPr bwMode="auto">
                <a:xfrm>
                  <a:off x="5153" y="6274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31841" name="Line 14"/>
              <p:cNvSpPr>
                <a:spLocks noChangeShapeType="1"/>
              </p:cNvSpPr>
              <p:nvPr/>
            </p:nvSpPr>
            <p:spPr bwMode="auto">
              <a:xfrm flipH="1">
                <a:off x="1831" y="2660"/>
                <a:ext cx="74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42" name="Line 22"/>
              <p:cNvSpPr>
                <a:spLocks noChangeShapeType="1"/>
              </p:cNvSpPr>
              <p:nvPr/>
            </p:nvSpPr>
            <p:spPr bwMode="auto">
              <a:xfrm flipH="1">
                <a:off x="960" y="2656"/>
                <a:ext cx="81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43" name="Line 60"/>
              <p:cNvSpPr>
                <a:spLocks noChangeAspect="1" noChangeShapeType="1"/>
              </p:cNvSpPr>
              <p:nvPr/>
            </p:nvSpPr>
            <p:spPr bwMode="auto">
              <a:xfrm rot="16200000" flipH="1">
                <a:off x="510" y="2210"/>
                <a:ext cx="907" cy="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44" name="Line 61"/>
              <p:cNvSpPr>
                <a:spLocks noChangeAspect="1" noChangeShapeType="1"/>
              </p:cNvSpPr>
              <p:nvPr/>
            </p:nvSpPr>
            <p:spPr bwMode="auto">
              <a:xfrm rot="16200000" flipH="1">
                <a:off x="2132" y="2216"/>
                <a:ext cx="907" cy="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845" name="Text Box 89"/>
              <p:cNvSpPr txBox="1">
                <a:spLocks noChangeArrowheads="1"/>
              </p:cNvSpPr>
              <p:nvPr/>
            </p:nvSpPr>
            <p:spPr bwMode="auto">
              <a:xfrm>
                <a:off x="1578" y="2614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1846" name="Text Box 90"/>
              <p:cNvSpPr txBox="1">
                <a:spLocks noChangeArrowheads="1"/>
              </p:cNvSpPr>
              <p:nvPr/>
            </p:nvSpPr>
            <p:spPr bwMode="auto">
              <a:xfrm>
                <a:off x="1805" y="2607"/>
                <a:ext cx="219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</a:p>
            </p:txBody>
          </p:sp>
        </p:grpSp>
        <p:grpSp>
          <p:nvGrpSpPr>
            <p:cNvPr id="9" name="Grupo 8"/>
            <p:cNvGrpSpPr/>
            <p:nvPr/>
          </p:nvGrpSpPr>
          <p:grpSpPr>
            <a:xfrm>
              <a:off x="1687367" y="542505"/>
              <a:ext cx="2005013" cy="482600"/>
              <a:chOff x="1822450" y="2225834"/>
              <a:chExt cx="2005013" cy="482600"/>
            </a:xfrm>
          </p:grpSpPr>
          <p:grpSp>
            <p:nvGrpSpPr>
              <p:cNvPr id="11" name="Group 50"/>
              <p:cNvGrpSpPr>
                <a:grpSpLocks/>
              </p:cNvGrpSpPr>
              <p:nvPr/>
            </p:nvGrpSpPr>
            <p:grpSpPr bwMode="auto">
              <a:xfrm>
                <a:off x="1822450" y="2227421"/>
                <a:ext cx="2005013" cy="481013"/>
                <a:chOff x="1148" y="1054"/>
                <a:chExt cx="1263" cy="303"/>
              </a:xfrm>
            </p:grpSpPr>
            <p:sp>
              <p:nvSpPr>
                <p:cNvPr id="3181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148" y="1054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181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244" y="1061"/>
                  <a:ext cx="16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12" name="Group 53"/>
              <p:cNvGrpSpPr>
                <a:grpSpLocks/>
              </p:cNvGrpSpPr>
              <p:nvPr/>
            </p:nvGrpSpPr>
            <p:grpSpPr bwMode="auto">
              <a:xfrm>
                <a:off x="2208213" y="2225834"/>
                <a:ext cx="1296987" cy="477837"/>
                <a:chOff x="1391" y="1053"/>
                <a:chExt cx="817" cy="301"/>
              </a:xfrm>
            </p:grpSpPr>
            <p:sp>
              <p:nvSpPr>
                <p:cNvPr id="31814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1391" y="1055"/>
                  <a:ext cx="16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1815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821" y="1058"/>
                  <a:ext cx="16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1816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578" y="1057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1817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001" y="1053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</p:grpSp>
        <p:grpSp>
          <p:nvGrpSpPr>
            <p:cNvPr id="2" name="Grupo 1"/>
            <p:cNvGrpSpPr>
              <a:grpSpLocks/>
            </p:cNvGrpSpPr>
            <p:nvPr/>
          </p:nvGrpSpPr>
          <p:grpSpPr bwMode="auto">
            <a:xfrm>
              <a:off x="1336530" y="231355"/>
              <a:ext cx="2709862" cy="1046162"/>
              <a:chOff x="1471613" y="1998663"/>
              <a:chExt cx="2709862" cy="1046162"/>
            </a:xfrm>
          </p:grpSpPr>
          <p:grpSp>
            <p:nvGrpSpPr>
              <p:cNvPr id="31788" name="Group 16"/>
              <p:cNvGrpSpPr>
                <a:grpSpLocks/>
              </p:cNvGrpSpPr>
              <p:nvPr/>
            </p:nvGrpSpPr>
            <p:grpSpPr bwMode="auto">
              <a:xfrm>
                <a:off x="2105025" y="2557463"/>
                <a:ext cx="112713" cy="482600"/>
                <a:chOff x="4253" y="5198"/>
                <a:chExt cx="121" cy="360"/>
              </a:xfrm>
            </p:grpSpPr>
            <p:sp>
              <p:nvSpPr>
                <p:cNvPr id="31804" name="Line 17"/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1805" name="Line 18"/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31789" name="Line 19"/>
              <p:cNvSpPr>
                <a:spLocks noChangeShapeType="1"/>
              </p:cNvSpPr>
              <p:nvPr/>
            </p:nvSpPr>
            <p:spPr bwMode="auto">
              <a:xfrm flipH="1">
                <a:off x="1533525" y="2782888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790" name="Text Box 20"/>
              <p:cNvSpPr txBox="1">
                <a:spLocks noChangeArrowheads="1"/>
              </p:cNvSpPr>
              <p:nvPr/>
            </p:nvSpPr>
            <p:spPr bwMode="auto">
              <a:xfrm>
                <a:off x="1943100" y="2006600"/>
                <a:ext cx="503238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1</a:t>
                </a:r>
                <a:endPara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791" name="Line 21"/>
              <p:cNvSpPr>
                <a:spLocks noChangeShapeType="1"/>
              </p:cNvSpPr>
              <p:nvPr/>
            </p:nvSpPr>
            <p:spPr bwMode="auto">
              <a:xfrm flipH="1">
                <a:off x="2224088" y="2779713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pSp>
            <p:nvGrpSpPr>
              <p:cNvPr id="31792" name="Group 42"/>
              <p:cNvGrpSpPr>
                <a:grpSpLocks/>
              </p:cNvGrpSpPr>
              <p:nvPr/>
            </p:nvGrpSpPr>
            <p:grpSpPr bwMode="auto">
              <a:xfrm>
                <a:off x="2787650" y="2562225"/>
                <a:ext cx="112713" cy="482600"/>
                <a:chOff x="4253" y="5198"/>
                <a:chExt cx="121" cy="360"/>
              </a:xfrm>
            </p:grpSpPr>
            <p:sp>
              <p:nvSpPr>
                <p:cNvPr id="31802" name="Line 43"/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1803" name="Line 44"/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31793" name="Text Box 45"/>
              <p:cNvSpPr txBox="1">
                <a:spLocks noChangeArrowheads="1"/>
              </p:cNvSpPr>
              <p:nvPr/>
            </p:nvSpPr>
            <p:spPr bwMode="auto">
              <a:xfrm>
                <a:off x="2628900" y="2014538"/>
                <a:ext cx="503238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2</a:t>
                </a:r>
                <a:endPara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794" name="Line 46"/>
              <p:cNvSpPr>
                <a:spLocks noChangeShapeType="1"/>
              </p:cNvSpPr>
              <p:nvPr/>
            </p:nvSpPr>
            <p:spPr bwMode="auto">
              <a:xfrm flipH="1">
                <a:off x="2906713" y="2784475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pSp>
            <p:nvGrpSpPr>
              <p:cNvPr id="31795" name="Group 47"/>
              <p:cNvGrpSpPr>
                <a:grpSpLocks/>
              </p:cNvGrpSpPr>
              <p:nvPr/>
            </p:nvGrpSpPr>
            <p:grpSpPr bwMode="auto">
              <a:xfrm>
                <a:off x="3459163" y="2555875"/>
                <a:ext cx="112712" cy="482600"/>
                <a:chOff x="4253" y="5198"/>
                <a:chExt cx="121" cy="360"/>
              </a:xfrm>
            </p:grpSpPr>
            <p:sp>
              <p:nvSpPr>
                <p:cNvPr id="31800" name="Line 48"/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31801" name="Line 49"/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31796" name="Line 58"/>
              <p:cNvSpPr>
                <a:spLocks noChangeShapeType="1"/>
              </p:cNvSpPr>
              <p:nvPr/>
            </p:nvSpPr>
            <p:spPr bwMode="auto">
              <a:xfrm flipH="1">
                <a:off x="3578225" y="2789238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797" name="Text Box 59"/>
              <p:cNvSpPr txBox="1">
                <a:spLocks noChangeArrowheads="1"/>
              </p:cNvSpPr>
              <p:nvPr/>
            </p:nvSpPr>
            <p:spPr bwMode="auto">
              <a:xfrm>
                <a:off x="3281363" y="1998663"/>
                <a:ext cx="503237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3</a:t>
                </a:r>
                <a:endPara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798" name="Oval 82"/>
              <p:cNvSpPr>
                <a:spLocks noChangeArrowheads="1"/>
              </p:cNvSpPr>
              <p:nvPr/>
            </p:nvSpPr>
            <p:spPr bwMode="auto">
              <a:xfrm>
                <a:off x="4037013" y="2716213"/>
                <a:ext cx="144462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799" name="Oval 83"/>
              <p:cNvSpPr>
                <a:spLocks noChangeArrowheads="1"/>
              </p:cNvSpPr>
              <p:nvPr/>
            </p:nvSpPr>
            <p:spPr bwMode="auto">
              <a:xfrm>
                <a:off x="1471613" y="2709863"/>
                <a:ext cx="144462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05595" name="Text Box 91"/>
          <p:cNvSpPr txBox="1">
            <a:spLocks noChangeArrowheads="1"/>
          </p:cNvSpPr>
          <p:nvPr/>
        </p:nvSpPr>
        <p:spPr bwMode="auto">
          <a:xfrm>
            <a:off x="1271139" y="1150055"/>
            <a:ext cx="602713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V es cte. en cada conductor 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(Hay 4)</a:t>
            </a:r>
          </a:p>
        </p:txBody>
      </p:sp>
      <p:sp>
        <p:nvSpPr>
          <p:cNvPr id="10252" name="Text Box 23"/>
          <p:cNvSpPr txBox="1">
            <a:spLocks noChangeArrowheads="1"/>
          </p:cNvSpPr>
          <p:nvPr/>
        </p:nvSpPr>
        <p:spPr bwMode="auto">
          <a:xfrm>
            <a:off x="3903634" y="4344015"/>
            <a:ext cx="2047704" cy="587441"/>
          </a:xfrm>
          <a:prstGeom prst="rect">
            <a:avLst/>
          </a:prstGeom>
          <a:solidFill>
            <a:srgbClr val="666699"/>
          </a:solidFill>
          <a:ln w="12700" algn="ctr">
            <a:noFill/>
            <a:miter lim="800000"/>
            <a:headEnd/>
            <a:tailEnd type="none" w="lg" len="lg"/>
          </a:ln>
        </p:spPr>
        <p:txBody>
          <a:bodyPr wrap="none" lIns="144000" tIns="108000" rIns="144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= Q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= Q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344" name="Text Box 23"/>
          <p:cNvSpPr txBox="1">
            <a:spLocks noChangeArrowheads="1"/>
          </p:cNvSpPr>
          <p:nvPr/>
        </p:nvSpPr>
        <p:spPr bwMode="auto">
          <a:xfrm>
            <a:off x="5893461" y="4346111"/>
            <a:ext cx="714217" cy="586800"/>
          </a:xfrm>
          <a:prstGeom prst="rect">
            <a:avLst/>
          </a:prstGeom>
          <a:solidFill>
            <a:srgbClr val="666699"/>
          </a:solidFill>
          <a:ln w="12700" algn="ctr">
            <a:noFill/>
            <a:miter lim="800000"/>
            <a:headEnd/>
            <a:tailEnd type="none" w="lg" len="lg"/>
          </a:ln>
        </p:spPr>
        <p:txBody>
          <a:bodyPr wrap="none" lIns="90000" tIns="82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= Q </a:t>
            </a:r>
            <a:endParaRPr lang="es-ES" sz="2400" b="0" baseline="-25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78" name="Text Box 30"/>
          <p:cNvSpPr txBox="1">
            <a:spLocks noChangeArrowheads="1"/>
          </p:cNvSpPr>
          <p:nvPr/>
        </p:nvSpPr>
        <p:spPr bwMode="auto">
          <a:xfrm>
            <a:off x="6838116" y="4255671"/>
            <a:ext cx="3524936" cy="7827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0" dirty="0">
                <a:latin typeface="Arial" panose="020B0604020202020204" pitchFamily="34" charset="0"/>
              </a:rPr>
              <a:t>Q es la carga almacenada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0" dirty="0">
                <a:latin typeface="Arial" panose="020B0604020202020204" pitchFamily="34" charset="0"/>
              </a:rPr>
              <a:t>por la asociación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848626" y="2953883"/>
            <a:ext cx="3524936" cy="7609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36000" tIns="72000" rIns="108000" bIns="72000" rtlCol="0" anchor="ctr" anchorCtr="0">
            <a:spAutoFit/>
          </a:bodyPr>
          <a:lstStyle/>
          <a:p>
            <a:r>
              <a:rPr lang="es-ES" b="0" dirty="0">
                <a:solidFill>
                  <a:schemeClr val="tx1"/>
                </a:solidFill>
              </a:rPr>
              <a:t> Caída   =    Suma de caídas</a:t>
            </a:r>
          </a:p>
          <a:p>
            <a:r>
              <a:rPr lang="es-ES" b="0" dirty="0">
                <a:solidFill>
                  <a:schemeClr val="tx1"/>
                </a:solidFill>
              </a:rPr>
              <a:t> en pila      en condensadores</a:t>
            </a:r>
            <a:endParaRPr lang="en-GB" b="0" dirty="0">
              <a:solidFill>
                <a:schemeClr val="tx1"/>
              </a:solidFill>
            </a:endParaRPr>
          </a:p>
        </p:txBody>
      </p:sp>
      <p:sp>
        <p:nvSpPr>
          <p:cNvPr id="99" name="Text Box 91"/>
          <p:cNvSpPr txBox="1">
            <a:spLocks noChangeArrowheads="1"/>
          </p:cNvSpPr>
          <p:nvPr/>
        </p:nvSpPr>
        <p:spPr bwMode="auto">
          <a:xfrm>
            <a:off x="1271139" y="1802463"/>
            <a:ext cx="6028726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V cae en la pila y en los condensadores,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  donde hay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en el sentido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(+  -)</a:t>
            </a:r>
          </a:p>
        </p:txBody>
      </p:sp>
      <p:sp>
        <p:nvSpPr>
          <p:cNvPr id="100" name="Text Box 91"/>
          <p:cNvSpPr txBox="1">
            <a:spLocks noChangeArrowheads="1"/>
          </p:cNvSpPr>
          <p:nvPr/>
        </p:nvSpPr>
        <p:spPr bwMode="auto">
          <a:xfrm>
            <a:off x="1271139" y="3024329"/>
            <a:ext cx="253015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Se verifica que: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831" name="Text Box 25"/>
          <p:cNvSpPr txBox="1">
            <a:spLocks noChangeArrowheads="1"/>
          </p:cNvSpPr>
          <p:nvPr/>
        </p:nvSpPr>
        <p:spPr bwMode="auto">
          <a:xfrm>
            <a:off x="4422235" y="6324765"/>
            <a:ext cx="1798641" cy="438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0" name="Text Box 91"/>
          <p:cNvSpPr txBox="1">
            <a:spLocks noChangeArrowheads="1"/>
          </p:cNvSpPr>
          <p:nvPr/>
        </p:nvSpPr>
        <p:spPr bwMode="auto">
          <a:xfrm>
            <a:off x="1271139" y="3732123"/>
            <a:ext cx="628997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Por la polarización y por la influencia total: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2" name="Text Box 30">
            <a:extLst>
              <a:ext uri="{FF2B5EF4-FFF2-40B4-BE49-F238E27FC236}">
                <a16:creationId xmlns:a16="http://schemas.microsoft.com/office/drawing/2014/main" id="{DFA6C83E-FAC6-4836-921D-FA792680E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116" y="5042536"/>
            <a:ext cx="3524936" cy="201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(la “q</a:t>
            </a:r>
            <a:r>
              <a:rPr lang="es-ES" sz="2400" b="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” que llega, si se consideran partículas como el e</a:t>
            </a:r>
            <a:r>
              <a:rPr lang="es-ES" sz="2400" b="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 con carga 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+e que se moverán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en sentido contrario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5D8A47E-949E-4CB5-9CDB-BD733F2EF334}"/>
              </a:ext>
            </a:extLst>
          </p:cNvPr>
          <p:cNvCxnSpPr/>
          <p:nvPr/>
        </p:nvCxnSpPr>
        <p:spPr bwMode="auto">
          <a:xfrm>
            <a:off x="3465689" y="4340905"/>
            <a:ext cx="0" cy="1850848"/>
          </a:xfrm>
          <a:prstGeom prst="lin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654EB767-6FFE-4FDC-A2AC-64A78E7AABA0}"/>
              </a:ext>
            </a:extLst>
          </p:cNvPr>
          <p:cNvSpPr/>
          <p:nvPr/>
        </p:nvSpPr>
        <p:spPr bwMode="auto">
          <a:xfrm>
            <a:off x="2957689" y="5239164"/>
            <a:ext cx="1196622" cy="1388534"/>
          </a:xfrm>
          <a:custGeom>
            <a:avLst/>
            <a:gdLst>
              <a:gd name="connsiteX0" fmla="*/ 496711 w 1196622"/>
              <a:gd name="connsiteY0" fmla="*/ 0 h 1388534"/>
              <a:gd name="connsiteX1" fmla="*/ 0 w 1196622"/>
              <a:gd name="connsiteY1" fmla="*/ 11289 h 1388534"/>
              <a:gd name="connsiteX2" fmla="*/ 0 w 1196622"/>
              <a:gd name="connsiteY2" fmla="*/ 1388534 h 1388534"/>
              <a:gd name="connsiteX3" fmla="*/ 1196622 w 1196622"/>
              <a:gd name="connsiteY3" fmla="*/ 1388534 h 1388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622" h="1388534">
                <a:moveTo>
                  <a:pt x="496711" y="0"/>
                </a:moveTo>
                <a:lnTo>
                  <a:pt x="0" y="11289"/>
                </a:lnTo>
                <a:lnTo>
                  <a:pt x="0" y="1388534"/>
                </a:lnTo>
                <a:lnTo>
                  <a:pt x="1196622" y="1388534"/>
                </a:ln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69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0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05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0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1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81" grpId="0" animBg="1"/>
      <p:bldP spid="10281" grpId="0" animBg="1"/>
      <p:bldP spid="405595" grpId="0"/>
      <p:bldP spid="10252" grpId="0" animBg="1"/>
      <p:bldP spid="10344" grpId="0" animBg="1"/>
      <p:bldP spid="31778" grpId="0" animBg="1"/>
      <p:bldP spid="4" grpId="0" animBg="1"/>
      <p:bldP spid="99" grpId="0"/>
      <p:bldP spid="100" grpId="0"/>
      <p:bldP spid="31831" grpId="0"/>
      <p:bldP spid="60" grpId="0"/>
      <p:bldP spid="62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9" name="Rectangle 3"/>
          <p:cNvSpPr>
            <a:spLocks noChangeArrowheads="1"/>
          </p:cNvSpPr>
          <p:nvPr/>
        </p:nvSpPr>
        <p:spPr bwMode="auto">
          <a:xfrm>
            <a:off x="7498897" y="5765515"/>
            <a:ext cx="2062163" cy="1006475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5716" name="Group 116"/>
          <p:cNvGrpSpPr>
            <a:grpSpLocks/>
          </p:cNvGrpSpPr>
          <p:nvPr/>
        </p:nvGrpSpPr>
        <p:grpSpPr bwMode="auto">
          <a:xfrm>
            <a:off x="7626314" y="5757577"/>
            <a:ext cx="1938337" cy="981075"/>
            <a:chOff x="5285" y="3650"/>
            <a:chExt cx="1221" cy="618"/>
          </a:xfrm>
        </p:grpSpPr>
        <p:sp>
          <p:nvSpPr>
            <p:cNvPr id="31833" name="Text Box 4"/>
            <p:cNvSpPr txBox="1">
              <a:spLocks noChangeArrowheads="1"/>
            </p:cNvSpPr>
            <p:nvPr/>
          </p:nvSpPr>
          <p:spPr bwMode="auto">
            <a:xfrm>
              <a:off x="5285" y="3934"/>
              <a:ext cx="1221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   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  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834" name="Text Box 5"/>
            <p:cNvSpPr txBox="1">
              <a:spLocks noChangeArrowheads="1"/>
            </p:cNvSpPr>
            <p:nvPr/>
          </p:nvSpPr>
          <p:spPr bwMode="auto">
            <a:xfrm>
              <a:off x="5549" y="3815"/>
              <a:ext cx="76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+       + </a:t>
              </a:r>
            </a:p>
          </p:txBody>
        </p:sp>
        <p:sp>
          <p:nvSpPr>
            <p:cNvPr id="31835" name="Line 6"/>
            <p:cNvSpPr>
              <a:spLocks noChangeShapeType="1"/>
            </p:cNvSpPr>
            <p:nvPr/>
          </p:nvSpPr>
          <p:spPr bwMode="auto">
            <a:xfrm flipV="1">
              <a:off x="5322" y="3969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1836" name="Line 7"/>
            <p:cNvSpPr>
              <a:spLocks noChangeShapeType="1"/>
            </p:cNvSpPr>
            <p:nvPr/>
          </p:nvSpPr>
          <p:spPr bwMode="auto">
            <a:xfrm flipV="1">
              <a:off x="5788" y="3976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1837" name="Line 8"/>
            <p:cNvSpPr>
              <a:spLocks noChangeShapeType="1"/>
            </p:cNvSpPr>
            <p:nvPr/>
          </p:nvSpPr>
          <p:spPr bwMode="auto">
            <a:xfrm flipV="1">
              <a:off x="6239" y="3972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1838" name="Text Box 9"/>
            <p:cNvSpPr txBox="1">
              <a:spLocks noChangeArrowheads="1"/>
            </p:cNvSpPr>
            <p:nvPr/>
          </p:nvSpPr>
          <p:spPr bwMode="auto">
            <a:xfrm>
              <a:off x="5306" y="3650"/>
              <a:ext cx="112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1       1      1</a:t>
              </a:r>
            </a:p>
          </p:txBody>
        </p:sp>
      </p:grpSp>
      <p:sp>
        <p:nvSpPr>
          <p:cNvPr id="31830" name="Text Box 28"/>
          <p:cNvSpPr txBox="1">
            <a:spLocks noChangeArrowheads="1"/>
          </p:cNvSpPr>
          <p:nvPr/>
        </p:nvSpPr>
        <p:spPr bwMode="auto">
          <a:xfrm>
            <a:off x="1828575" y="2360576"/>
            <a:ext cx="1435416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b="0" dirty="0">
                <a:latin typeface="Arial" panose="020B0604020202020204" pitchFamily="34" charset="0"/>
              </a:rPr>
              <a:t>Q = C V</a:t>
            </a:r>
          </a:p>
        </p:txBody>
      </p: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3567976" y="4749614"/>
            <a:ext cx="863600" cy="877887"/>
            <a:chOff x="1914" y="3625"/>
            <a:chExt cx="544" cy="553"/>
          </a:xfrm>
        </p:grpSpPr>
        <p:sp>
          <p:nvSpPr>
            <p:cNvPr id="31825" name="Line 32"/>
            <p:cNvSpPr>
              <a:spLocks noChangeShapeType="1"/>
            </p:cNvSpPr>
            <p:nvPr/>
          </p:nvSpPr>
          <p:spPr bwMode="auto">
            <a:xfrm>
              <a:off x="1914" y="3928"/>
              <a:ext cx="3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31826" name="Text Box 33"/>
            <p:cNvSpPr txBox="1">
              <a:spLocks noChangeArrowheads="1"/>
            </p:cNvSpPr>
            <p:nvPr/>
          </p:nvSpPr>
          <p:spPr bwMode="auto">
            <a:xfrm>
              <a:off x="1975" y="3882"/>
              <a:ext cx="23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31827" name="Text Box 34"/>
            <p:cNvSpPr txBox="1">
              <a:spLocks noChangeArrowheads="1"/>
            </p:cNvSpPr>
            <p:nvPr/>
          </p:nvSpPr>
          <p:spPr bwMode="auto">
            <a:xfrm>
              <a:off x="1987" y="3625"/>
              <a:ext cx="19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1828" name="Text Box 35"/>
            <p:cNvSpPr txBox="1">
              <a:spLocks noChangeArrowheads="1"/>
            </p:cNvSpPr>
            <p:nvPr/>
          </p:nvSpPr>
          <p:spPr bwMode="auto">
            <a:xfrm>
              <a:off x="2251" y="3763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grpSp>
        <p:nvGrpSpPr>
          <p:cNvPr id="13" name="Group 62"/>
          <p:cNvGrpSpPr>
            <a:grpSpLocks/>
          </p:cNvGrpSpPr>
          <p:nvPr/>
        </p:nvGrpSpPr>
        <p:grpSpPr bwMode="auto">
          <a:xfrm>
            <a:off x="4404987" y="4685920"/>
            <a:ext cx="2003425" cy="949325"/>
            <a:chOff x="2453" y="3579"/>
            <a:chExt cx="1262" cy="598"/>
          </a:xfrm>
        </p:grpSpPr>
        <p:sp>
          <p:nvSpPr>
            <p:cNvPr id="31810" name="Line 63"/>
            <p:cNvSpPr>
              <a:spLocks noChangeShapeType="1"/>
            </p:cNvSpPr>
            <p:nvPr/>
          </p:nvSpPr>
          <p:spPr bwMode="auto">
            <a:xfrm>
              <a:off x="2460" y="3931"/>
              <a:ext cx="11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31811" name="Text Box 64"/>
            <p:cNvSpPr txBox="1">
              <a:spLocks noChangeArrowheads="1"/>
            </p:cNvSpPr>
            <p:nvPr/>
          </p:nvSpPr>
          <p:spPr bwMode="auto">
            <a:xfrm>
              <a:off x="2453" y="3579"/>
              <a:ext cx="97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V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V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1812" name="Text Box 65"/>
            <p:cNvSpPr txBox="1">
              <a:spLocks noChangeArrowheads="1"/>
            </p:cNvSpPr>
            <p:nvPr/>
          </p:nvSpPr>
          <p:spPr bwMode="auto">
            <a:xfrm>
              <a:off x="3508" y="3759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31813" name="Text Box 66"/>
            <p:cNvSpPr txBox="1">
              <a:spLocks noChangeArrowheads="1"/>
            </p:cNvSpPr>
            <p:nvPr/>
          </p:nvSpPr>
          <p:spPr bwMode="auto">
            <a:xfrm>
              <a:off x="2824" y="3881"/>
              <a:ext cx="23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sp>
        <p:nvSpPr>
          <p:cNvPr id="25663" name="Rectangle 68"/>
          <p:cNvSpPr>
            <a:spLocks noChangeArrowheads="1"/>
          </p:cNvSpPr>
          <p:nvPr/>
        </p:nvSpPr>
        <p:spPr bwMode="auto">
          <a:xfrm>
            <a:off x="1786226" y="4692076"/>
            <a:ext cx="1665288" cy="1082675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5715" name="Group 115"/>
          <p:cNvGrpSpPr>
            <a:grpSpLocks/>
          </p:cNvGrpSpPr>
          <p:nvPr/>
        </p:nvGrpSpPr>
        <p:grpSpPr bwMode="auto">
          <a:xfrm>
            <a:off x="1827303" y="4693663"/>
            <a:ext cx="1795463" cy="1047750"/>
            <a:chOff x="794" y="3654"/>
            <a:chExt cx="1131" cy="660"/>
          </a:xfrm>
        </p:grpSpPr>
        <p:sp>
          <p:nvSpPr>
            <p:cNvPr id="31806" name="Text Box 69"/>
            <p:cNvSpPr txBox="1">
              <a:spLocks noChangeArrowheads="1"/>
            </p:cNvSpPr>
            <p:nvPr/>
          </p:nvSpPr>
          <p:spPr bwMode="auto">
            <a:xfrm>
              <a:off x="794" y="3980"/>
              <a:ext cx="957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equivalente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807" name="Text Box 70"/>
            <p:cNvSpPr txBox="1">
              <a:spLocks noChangeArrowheads="1"/>
            </p:cNvSpPr>
            <p:nvPr/>
          </p:nvSpPr>
          <p:spPr bwMode="auto">
            <a:xfrm>
              <a:off x="1699" y="3826"/>
              <a:ext cx="22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31808" name="Line 71"/>
            <p:cNvSpPr>
              <a:spLocks noChangeShapeType="1"/>
            </p:cNvSpPr>
            <p:nvPr/>
          </p:nvSpPr>
          <p:spPr bwMode="auto">
            <a:xfrm flipV="1">
              <a:off x="830" y="3997"/>
              <a:ext cx="8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1809" name="Text Box 72"/>
            <p:cNvSpPr txBox="1">
              <a:spLocks noChangeArrowheads="1"/>
            </p:cNvSpPr>
            <p:nvPr/>
          </p:nvSpPr>
          <p:spPr bwMode="auto">
            <a:xfrm>
              <a:off x="1163" y="3654"/>
              <a:ext cx="221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10295" name="Text Box 98"/>
          <p:cNvSpPr txBox="1">
            <a:spLocks noChangeArrowheads="1"/>
          </p:cNvSpPr>
          <p:nvPr/>
        </p:nvSpPr>
        <p:spPr bwMode="auto">
          <a:xfrm>
            <a:off x="2337956" y="3317290"/>
            <a:ext cx="6978936" cy="1018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80000" tIns="72000" rIns="180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="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equivalente asociación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: C, que para misma </a:t>
            </a:r>
            <a:r>
              <a:rPr lang="es-ES" sz="2800" b="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 aplicada,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                             almacena la misma Q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4091153" y="5803615"/>
            <a:ext cx="3604370" cy="901700"/>
            <a:chOff x="4091153" y="5803615"/>
            <a:chExt cx="3604370" cy="901700"/>
          </a:xfrm>
        </p:grpSpPr>
        <p:grpSp>
          <p:nvGrpSpPr>
            <p:cNvPr id="8" name="Group 36"/>
            <p:cNvGrpSpPr>
              <a:grpSpLocks/>
            </p:cNvGrpSpPr>
            <p:nvPr/>
          </p:nvGrpSpPr>
          <p:grpSpPr bwMode="auto">
            <a:xfrm>
              <a:off x="4315731" y="5803615"/>
              <a:ext cx="3379792" cy="901700"/>
              <a:chOff x="3564" y="3603"/>
              <a:chExt cx="2129" cy="568"/>
            </a:xfrm>
          </p:grpSpPr>
          <p:sp>
            <p:nvSpPr>
              <p:cNvPr id="31820" name="Line 37"/>
              <p:cNvSpPr>
                <a:spLocks noChangeShapeType="1"/>
              </p:cNvSpPr>
              <p:nvPr/>
            </p:nvSpPr>
            <p:spPr bwMode="auto">
              <a:xfrm flipV="1">
                <a:off x="3682" y="3920"/>
                <a:ext cx="17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1821" name="Text Box 38"/>
              <p:cNvSpPr txBox="1">
                <a:spLocks noChangeArrowheads="1"/>
              </p:cNvSpPr>
              <p:nvPr/>
            </p:nvSpPr>
            <p:spPr bwMode="auto">
              <a:xfrm>
                <a:off x="3564" y="3603"/>
                <a:ext cx="1478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(C</a:t>
                </a:r>
                <a:r>
                  <a:rPr lang="es-ES" sz="2400" b="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r>
                  <a:rPr lang="es-ES" sz="2400" b="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1</a:t>
                </a:r>
                <a:r>
                  <a:rPr lang="es-ES" sz="2400" b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+ C</a:t>
                </a:r>
                <a:r>
                  <a:rPr lang="es-ES" sz="2400" b="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 </a:t>
                </a:r>
                <a:r>
                  <a:rPr lang="es-ES" sz="2400" b="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1</a:t>
                </a:r>
                <a:r>
                  <a:rPr lang="es-ES" sz="2400" b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+ C</a:t>
                </a:r>
                <a:r>
                  <a:rPr lang="es-ES" sz="2400" b="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3</a:t>
                </a:r>
                <a:r>
                  <a:rPr lang="es-ES" sz="2400" b="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1</a:t>
                </a:r>
                <a:r>
                  <a:rPr lang="es-ES" sz="2400" b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31822" name="Text Box 39"/>
              <p:cNvSpPr txBox="1">
                <a:spLocks noChangeArrowheads="1"/>
              </p:cNvSpPr>
              <p:nvPr/>
            </p:nvSpPr>
            <p:spPr bwMode="auto">
              <a:xfrm>
                <a:off x="4276" y="3875"/>
                <a:ext cx="238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Q</a:t>
                </a:r>
              </a:p>
            </p:txBody>
          </p:sp>
          <p:sp>
            <p:nvSpPr>
              <p:cNvPr id="31823" name="Text Box 40"/>
              <p:cNvSpPr txBox="1">
                <a:spLocks noChangeArrowheads="1"/>
              </p:cNvSpPr>
              <p:nvPr/>
            </p:nvSpPr>
            <p:spPr bwMode="auto">
              <a:xfrm>
                <a:off x="5467" y="3739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=</a:t>
                </a:r>
              </a:p>
            </p:txBody>
          </p:sp>
          <p:sp>
            <p:nvSpPr>
              <p:cNvPr id="31824" name="Text Box 41"/>
              <p:cNvSpPr txBox="1">
                <a:spLocks noChangeArrowheads="1"/>
              </p:cNvSpPr>
              <p:nvPr/>
            </p:nvSpPr>
            <p:spPr bwMode="auto">
              <a:xfrm>
                <a:off x="5235" y="3618"/>
                <a:ext cx="238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Q</a:t>
                </a:r>
              </a:p>
            </p:txBody>
          </p:sp>
        </p:grpSp>
        <p:sp>
          <p:nvSpPr>
            <p:cNvPr id="87" name="Text Box 65"/>
            <p:cNvSpPr txBox="1">
              <a:spLocks noChangeArrowheads="1"/>
            </p:cNvSpPr>
            <p:nvPr/>
          </p:nvSpPr>
          <p:spPr bwMode="auto">
            <a:xfrm>
              <a:off x="4091153" y="6017882"/>
              <a:ext cx="334855" cy="435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grpSp>
        <p:nvGrpSpPr>
          <p:cNvPr id="88" name="Group 36"/>
          <p:cNvGrpSpPr>
            <a:grpSpLocks/>
          </p:cNvGrpSpPr>
          <p:nvPr/>
        </p:nvGrpSpPr>
        <p:grpSpPr bwMode="auto">
          <a:xfrm>
            <a:off x="6300486" y="4719548"/>
            <a:ext cx="4110045" cy="898525"/>
            <a:chOff x="3564" y="3603"/>
            <a:chExt cx="2589" cy="566"/>
          </a:xfrm>
        </p:grpSpPr>
        <p:sp>
          <p:nvSpPr>
            <p:cNvPr id="89" name="Line 37"/>
            <p:cNvSpPr>
              <a:spLocks noChangeShapeType="1"/>
            </p:cNvSpPr>
            <p:nvPr/>
          </p:nvSpPr>
          <p:spPr bwMode="auto">
            <a:xfrm flipV="1">
              <a:off x="3712" y="3920"/>
              <a:ext cx="21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90" name="Text Box 38"/>
            <p:cNvSpPr txBox="1">
              <a:spLocks noChangeArrowheads="1"/>
            </p:cNvSpPr>
            <p:nvPr/>
          </p:nvSpPr>
          <p:spPr bwMode="auto">
            <a:xfrm>
              <a:off x="3564" y="3603"/>
              <a:ext cx="147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(Q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 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91" name="Text Box 39"/>
            <p:cNvSpPr txBox="1">
              <a:spLocks noChangeArrowheads="1"/>
            </p:cNvSpPr>
            <p:nvPr/>
          </p:nvSpPr>
          <p:spPr bwMode="auto">
            <a:xfrm>
              <a:off x="4630" y="3873"/>
              <a:ext cx="23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Q</a:t>
              </a:r>
            </a:p>
          </p:txBody>
        </p:sp>
        <p:sp>
          <p:nvSpPr>
            <p:cNvPr id="92" name="Text Box 40"/>
            <p:cNvSpPr txBox="1">
              <a:spLocks noChangeArrowheads="1"/>
            </p:cNvSpPr>
            <p:nvPr/>
          </p:nvSpPr>
          <p:spPr bwMode="auto">
            <a:xfrm>
              <a:off x="5927" y="3739"/>
              <a:ext cx="22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sp>
        <p:nvSpPr>
          <p:cNvPr id="83" name="Text Box 80">
            <a:extLst>
              <a:ext uri="{FF2B5EF4-FFF2-40B4-BE49-F238E27FC236}">
                <a16:creationId xmlns:a16="http://schemas.microsoft.com/office/drawing/2014/main" id="{1D6E3256-FF22-4B3A-BC22-DCCD8DCBF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190" y="716336"/>
            <a:ext cx="2691032" cy="5921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1440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=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lang="es-ES" sz="2400" b="0">
              <a:solidFill>
                <a:srgbClr val="FFFF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0ABADF-A24E-49C3-A64B-22B05639AEA0}"/>
              </a:ext>
            </a:extLst>
          </p:cNvPr>
          <p:cNvGrpSpPr/>
          <p:nvPr/>
        </p:nvGrpSpPr>
        <p:grpSpPr>
          <a:xfrm>
            <a:off x="1807703" y="1540804"/>
            <a:ext cx="2704044" cy="587441"/>
            <a:chOff x="1807703" y="1545493"/>
            <a:chExt cx="2704044" cy="587441"/>
          </a:xfrm>
        </p:grpSpPr>
        <p:sp>
          <p:nvSpPr>
            <p:cNvPr id="84" name="Text Box 23">
              <a:extLst>
                <a:ext uri="{FF2B5EF4-FFF2-40B4-BE49-F238E27FC236}">
                  <a16:creationId xmlns:a16="http://schemas.microsoft.com/office/drawing/2014/main" id="{DB38EB93-FCBE-475B-842A-AB0328001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7703" y="1545493"/>
              <a:ext cx="2047704" cy="587441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44000" tIns="108000" rIns="144000" bIns="108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FFFF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FFFFFF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>
                  <a:solidFill>
                    <a:srgbClr val="FFFFFF"/>
                  </a:solidFill>
                  <a:latin typeface="Arial" panose="020B0604020202020204" pitchFamily="34" charset="0"/>
                </a:rPr>
                <a:t> = Q</a:t>
              </a:r>
              <a:r>
                <a:rPr lang="es-ES" sz="2400" b="0" baseline="-25000">
                  <a:solidFill>
                    <a:srgbClr val="FFFFFF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>
                  <a:solidFill>
                    <a:srgbClr val="FFFFFF"/>
                  </a:solidFill>
                  <a:latin typeface="Arial" panose="020B0604020202020204" pitchFamily="34" charset="0"/>
                </a:rPr>
                <a:t> = Q</a:t>
              </a:r>
              <a:r>
                <a:rPr lang="es-ES" sz="2400" b="0" baseline="-25000">
                  <a:solidFill>
                    <a:srgbClr val="FFFFFF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85" name="Text Box 23">
              <a:extLst>
                <a:ext uri="{FF2B5EF4-FFF2-40B4-BE49-F238E27FC236}">
                  <a16:creationId xmlns:a16="http://schemas.microsoft.com/office/drawing/2014/main" id="{870FC192-30D4-483C-9B90-9B5C34EDA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530" y="1545858"/>
              <a:ext cx="714217" cy="583248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FFFF"/>
                  </a:solidFill>
                  <a:latin typeface="Arial" panose="020B0604020202020204" pitchFamily="34" charset="0"/>
                </a:rPr>
                <a:t>= Q </a:t>
              </a:r>
              <a:endParaRPr lang="es-ES" sz="2400" b="0" baseline="-25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7BDA0B4D-69CB-40AB-A623-C4724B33A6E1}"/>
              </a:ext>
            </a:extLst>
          </p:cNvPr>
          <p:cNvGrpSpPr/>
          <p:nvPr/>
        </p:nvGrpSpPr>
        <p:grpSpPr>
          <a:xfrm>
            <a:off x="7508730" y="276888"/>
            <a:ext cx="2709862" cy="2681287"/>
            <a:chOff x="1336530" y="231355"/>
            <a:chExt cx="2709862" cy="2681287"/>
          </a:xfrm>
        </p:grpSpPr>
        <p:grpSp>
          <p:nvGrpSpPr>
            <p:cNvPr id="93" name="Group 118">
              <a:extLst>
                <a:ext uri="{FF2B5EF4-FFF2-40B4-BE49-F238E27FC236}">
                  <a16:creationId xmlns:a16="http://schemas.microsoft.com/office/drawing/2014/main" id="{B0652C6C-CC76-4B80-92DE-0C3DD32579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8917" y="1021930"/>
              <a:ext cx="2581275" cy="1890712"/>
              <a:chOff x="960" y="1757"/>
              <a:chExt cx="1626" cy="1191"/>
            </a:xfrm>
          </p:grpSpPr>
          <p:sp>
            <p:nvSpPr>
              <p:cNvPr id="122" name="Text Box 15">
                <a:extLst>
                  <a:ext uri="{FF2B5EF4-FFF2-40B4-BE49-F238E27FC236}">
                    <a16:creationId xmlns:a16="http://schemas.microsoft.com/office/drawing/2014/main" id="{66680287-4AE5-435C-B345-515678980D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7" y="2346"/>
                <a:ext cx="21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grpSp>
            <p:nvGrpSpPr>
              <p:cNvPr id="123" name="Group 11">
                <a:extLst>
                  <a:ext uri="{FF2B5EF4-FFF2-40B4-BE49-F238E27FC236}">
                    <a16:creationId xmlns:a16="http://schemas.microsoft.com/office/drawing/2014/main" id="{70678ACC-0137-44E4-9480-DFDDB29221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6" y="2506"/>
                <a:ext cx="37" cy="304"/>
                <a:chOff x="5153" y="6274"/>
                <a:chExt cx="63" cy="360"/>
              </a:xfrm>
            </p:grpSpPr>
            <p:sp>
              <p:nvSpPr>
                <p:cNvPr id="130" name="Line 12">
                  <a:extLst>
                    <a:ext uri="{FF2B5EF4-FFF2-40B4-BE49-F238E27FC236}">
                      <a16:creationId xmlns:a16="http://schemas.microsoft.com/office/drawing/2014/main" id="{39667060-6C1B-45B3-8A39-7631FA6EC9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6" y="6357"/>
                  <a:ext cx="0" cy="19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31" name="Line 13">
                  <a:extLst>
                    <a:ext uri="{FF2B5EF4-FFF2-40B4-BE49-F238E27FC236}">
                      <a16:creationId xmlns:a16="http://schemas.microsoft.com/office/drawing/2014/main" id="{B0C0BF61-751D-4256-BD53-4078E27CD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53" y="6274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124" name="Line 14">
                <a:extLst>
                  <a:ext uri="{FF2B5EF4-FFF2-40B4-BE49-F238E27FC236}">
                    <a16:creationId xmlns:a16="http://schemas.microsoft.com/office/drawing/2014/main" id="{B07496D1-2C1F-4049-AFD0-97C223C38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1" y="2660"/>
                <a:ext cx="74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25" name="Line 22">
                <a:extLst>
                  <a:ext uri="{FF2B5EF4-FFF2-40B4-BE49-F238E27FC236}">
                    <a16:creationId xmlns:a16="http://schemas.microsoft.com/office/drawing/2014/main" id="{4930B61A-457A-4452-8E43-D09ADB75C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0" y="2656"/>
                <a:ext cx="81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26" name="Line 60">
                <a:extLst>
                  <a:ext uri="{FF2B5EF4-FFF2-40B4-BE49-F238E27FC236}">
                    <a16:creationId xmlns:a16="http://schemas.microsoft.com/office/drawing/2014/main" id="{CAB392E9-E947-4A20-983F-8031A608AE2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16200000" flipH="1">
                <a:off x="510" y="2210"/>
                <a:ext cx="907" cy="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27" name="Line 61">
                <a:extLst>
                  <a:ext uri="{FF2B5EF4-FFF2-40B4-BE49-F238E27FC236}">
                    <a16:creationId xmlns:a16="http://schemas.microsoft.com/office/drawing/2014/main" id="{8C0359BC-E874-46D5-A966-B7A2615EF2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16200000" flipH="1">
                <a:off x="2132" y="2216"/>
                <a:ext cx="907" cy="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28" name="Text Box 89">
                <a:extLst>
                  <a:ext uri="{FF2B5EF4-FFF2-40B4-BE49-F238E27FC236}">
                    <a16:creationId xmlns:a16="http://schemas.microsoft.com/office/drawing/2014/main" id="{15147080-63DC-4C63-B9B7-E0D0793C44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8" y="2614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29" name="Text Box 90">
                <a:extLst>
                  <a:ext uri="{FF2B5EF4-FFF2-40B4-BE49-F238E27FC236}">
                    <a16:creationId xmlns:a16="http://schemas.microsoft.com/office/drawing/2014/main" id="{54820F14-20BC-49EF-9CCA-B0AA37EC7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5" y="2607"/>
                <a:ext cx="219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</a:p>
            </p:txBody>
          </p:sp>
        </p:grpSp>
        <p:grpSp>
          <p:nvGrpSpPr>
            <p:cNvPr id="94" name="Grupo 93">
              <a:extLst>
                <a:ext uri="{FF2B5EF4-FFF2-40B4-BE49-F238E27FC236}">
                  <a16:creationId xmlns:a16="http://schemas.microsoft.com/office/drawing/2014/main" id="{64355103-B2D7-4E57-A3B8-6451F34F0FB5}"/>
                </a:ext>
              </a:extLst>
            </p:cNvPr>
            <p:cNvGrpSpPr/>
            <p:nvPr/>
          </p:nvGrpSpPr>
          <p:grpSpPr>
            <a:xfrm>
              <a:off x="1687367" y="542505"/>
              <a:ext cx="2005013" cy="482600"/>
              <a:chOff x="1822450" y="2225834"/>
              <a:chExt cx="2005013" cy="482600"/>
            </a:xfrm>
          </p:grpSpPr>
          <p:grpSp>
            <p:nvGrpSpPr>
              <p:cNvPr id="114" name="Group 50">
                <a:extLst>
                  <a:ext uri="{FF2B5EF4-FFF2-40B4-BE49-F238E27FC236}">
                    <a16:creationId xmlns:a16="http://schemas.microsoft.com/office/drawing/2014/main" id="{D7445A64-AC5E-4629-9DD4-222EF1E1CC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2450" y="2227421"/>
                <a:ext cx="2005013" cy="481013"/>
                <a:chOff x="1148" y="1054"/>
                <a:chExt cx="1263" cy="303"/>
              </a:xfrm>
            </p:grpSpPr>
            <p:sp>
              <p:nvSpPr>
                <p:cNvPr id="120" name="Text Box 51">
                  <a:extLst>
                    <a:ext uri="{FF2B5EF4-FFF2-40B4-BE49-F238E27FC236}">
                      <a16:creationId xmlns:a16="http://schemas.microsoft.com/office/drawing/2014/main" id="{79977843-EB40-4F93-8976-A77ECF972B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8" y="1054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121" name="Text Box 52">
                  <a:extLst>
                    <a:ext uri="{FF2B5EF4-FFF2-40B4-BE49-F238E27FC236}">
                      <a16:creationId xmlns:a16="http://schemas.microsoft.com/office/drawing/2014/main" id="{4DAC25CD-7B71-4FB5-8DD2-666F508CAD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4" y="1061"/>
                  <a:ext cx="16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115" name="Group 53">
                <a:extLst>
                  <a:ext uri="{FF2B5EF4-FFF2-40B4-BE49-F238E27FC236}">
                    <a16:creationId xmlns:a16="http://schemas.microsoft.com/office/drawing/2014/main" id="{B2624998-6A35-41D1-BBDF-AD7D82C171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213" y="2225834"/>
                <a:ext cx="1296987" cy="477837"/>
                <a:chOff x="1391" y="1053"/>
                <a:chExt cx="817" cy="301"/>
              </a:xfrm>
            </p:grpSpPr>
            <p:sp>
              <p:nvSpPr>
                <p:cNvPr id="116" name="Text Box 54">
                  <a:extLst>
                    <a:ext uri="{FF2B5EF4-FFF2-40B4-BE49-F238E27FC236}">
                      <a16:creationId xmlns:a16="http://schemas.microsoft.com/office/drawing/2014/main" id="{B5D2A0F1-854C-4BB1-BDB4-863ED09102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1" y="1055"/>
                  <a:ext cx="16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117" name="Text Box 55">
                  <a:extLst>
                    <a:ext uri="{FF2B5EF4-FFF2-40B4-BE49-F238E27FC236}">
                      <a16:creationId xmlns:a16="http://schemas.microsoft.com/office/drawing/2014/main" id="{12701448-2DD8-4740-99FC-62796854A5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1" y="1058"/>
                  <a:ext cx="16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118" name="Text Box 56">
                  <a:extLst>
                    <a:ext uri="{FF2B5EF4-FFF2-40B4-BE49-F238E27FC236}">
                      <a16:creationId xmlns:a16="http://schemas.microsoft.com/office/drawing/2014/main" id="{61FFABF5-BEDC-4FC6-937C-58EA5926A1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78" y="1057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119" name="Text Box 57">
                  <a:extLst>
                    <a:ext uri="{FF2B5EF4-FFF2-40B4-BE49-F238E27FC236}">
                      <a16:creationId xmlns:a16="http://schemas.microsoft.com/office/drawing/2014/main" id="{A97F1815-3159-4C7E-85A7-E0BA87CBF6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01" y="1053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</p:grpSp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3109368B-2102-46C8-B03D-EABF729EE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6530" y="231355"/>
              <a:ext cx="2709862" cy="1046162"/>
              <a:chOff x="1471613" y="1998663"/>
              <a:chExt cx="2709862" cy="1046162"/>
            </a:xfrm>
          </p:grpSpPr>
          <p:grpSp>
            <p:nvGrpSpPr>
              <p:cNvPr id="96" name="Group 16">
                <a:extLst>
                  <a:ext uri="{FF2B5EF4-FFF2-40B4-BE49-F238E27FC236}">
                    <a16:creationId xmlns:a16="http://schemas.microsoft.com/office/drawing/2014/main" id="{6F894A12-DC19-479D-A2EA-D6A07A05DC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5025" y="2557463"/>
                <a:ext cx="112713" cy="482600"/>
                <a:chOff x="4253" y="5198"/>
                <a:chExt cx="121" cy="360"/>
              </a:xfrm>
            </p:grpSpPr>
            <p:sp>
              <p:nvSpPr>
                <p:cNvPr id="112" name="Line 17">
                  <a:extLst>
                    <a:ext uri="{FF2B5EF4-FFF2-40B4-BE49-F238E27FC236}">
                      <a16:creationId xmlns:a16="http://schemas.microsoft.com/office/drawing/2014/main" id="{4C4578AE-68EA-4141-A7B0-FB7EB69CAF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13" name="Line 18">
                  <a:extLst>
                    <a:ext uri="{FF2B5EF4-FFF2-40B4-BE49-F238E27FC236}">
                      <a16:creationId xmlns:a16="http://schemas.microsoft.com/office/drawing/2014/main" id="{99C320E7-0028-4598-BE54-51F35802B8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97" name="Line 19">
                <a:extLst>
                  <a:ext uri="{FF2B5EF4-FFF2-40B4-BE49-F238E27FC236}">
                    <a16:creationId xmlns:a16="http://schemas.microsoft.com/office/drawing/2014/main" id="{AA1B86AC-369E-4B7B-958A-7295D026CE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3525" y="2782888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98" name="Text Box 20">
                <a:extLst>
                  <a:ext uri="{FF2B5EF4-FFF2-40B4-BE49-F238E27FC236}">
                    <a16:creationId xmlns:a16="http://schemas.microsoft.com/office/drawing/2014/main" id="{B0598D5D-1719-42E4-829C-FE1CE496A6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3100" y="2006600"/>
                <a:ext cx="503238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1</a:t>
                </a:r>
                <a:endPara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Line 21">
                <a:extLst>
                  <a:ext uri="{FF2B5EF4-FFF2-40B4-BE49-F238E27FC236}">
                    <a16:creationId xmlns:a16="http://schemas.microsoft.com/office/drawing/2014/main" id="{7C1B800B-42B1-4224-A3A4-C50B3E7387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4088" y="2779713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pSp>
            <p:nvGrpSpPr>
              <p:cNvPr id="100" name="Group 42">
                <a:extLst>
                  <a:ext uri="{FF2B5EF4-FFF2-40B4-BE49-F238E27FC236}">
                    <a16:creationId xmlns:a16="http://schemas.microsoft.com/office/drawing/2014/main" id="{0F21E35B-216E-4372-987B-3418FEBCDA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7650" y="2562225"/>
                <a:ext cx="112713" cy="482600"/>
                <a:chOff x="4253" y="5198"/>
                <a:chExt cx="121" cy="360"/>
              </a:xfrm>
            </p:grpSpPr>
            <p:sp>
              <p:nvSpPr>
                <p:cNvPr id="110" name="Line 43">
                  <a:extLst>
                    <a:ext uri="{FF2B5EF4-FFF2-40B4-BE49-F238E27FC236}">
                      <a16:creationId xmlns:a16="http://schemas.microsoft.com/office/drawing/2014/main" id="{53021584-BF68-46D6-AAA4-2E123C6031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11" name="Line 44">
                  <a:extLst>
                    <a:ext uri="{FF2B5EF4-FFF2-40B4-BE49-F238E27FC236}">
                      <a16:creationId xmlns:a16="http://schemas.microsoft.com/office/drawing/2014/main" id="{34E6A0C4-BD6D-4726-9831-89A494A87B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101" name="Text Box 45">
                <a:extLst>
                  <a:ext uri="{FF2B5EF4-FFF2-40B4-BE49-F238E27FC236}">
                    <a16:creationId xmlns:a16="http://schemas.microsoft.com/office/drawing/2014/main" id="{9FBA64B1-3A7D-4AF1-93AE-61FB456E7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8900" y="2014538"/>
                <a:ext cx="503238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2</a:t>
                </a:r>
                <a:endPara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Line 46">
                <a:extLst>
                  <a:ext uri="{FF2B5EF4-FFF2-40B4-BE49-F238E27FC236}">
                    <a16:creationId xmlns:a16="http://schemas.microsoft.com/office/drawing/2014/main" id="{47F1A69F-5A12-4263-A2B0-01D143ABC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06713" y="2784475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grpSp>
            <p:nvGrpSpPr>
              <p:cNvPr id="103" name="Group 47">
                <a:extLst>
                  <a:ext uri="{FF2B5EF4-FFF2-40B4-BE49-F238E27FC236}">
                    <a16:creationId xmlns:a16="http://schemas.microsoft.com/office/drawing/2014/main" id="{CE37B2C8-A99E-4C71-BFBA-F796D9EABB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9163" y="2555875"/>
                <a:ext cx="112712" cy="482600"/>
                <a:chOff x="4253" y="5198"/>
                <a:chExt cx="121" cy="360"/>
              </a:xfrm>
            </p:grpSpPr>
            <p:sp>
              <p:nvSpPr>
                <p:cNvPr id="108" name="Line 48">
                  <a:extLst>
                    <a:ext uri="{FF2B5EF4-FFF2-40B4-BE49-F238E27FC236}">
                      <a16:creationId xmlns:a16="http://schemas.microsoft.com/office/drawing/2014/main" id="{6A2C7B0B-9C02-472D-8BDB-F37C6C39CB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09" name="Line 49">
                  <a:extLst>
                    <a:ext uri="{FF2B5EF4-FFF2-40B4-BE49-F238E27FC236}">
                      <a16:creationId xmlns:a16="http://schemas.microsoft.com/office/drawing/2014/main" id="{1FC7E519-9346-4FBE-92FB-3037611E9D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104" name="Line 58">
                <a:extLst>
                  <a:ext uri="{FF2B5EF4-FFF2-40B4-BE49-F238E27FC236}">
                    <a16:creationId xmlns:a16="http://schemas.microsoft.com/office/drawing/2014/main" id="{C95FF60E-A670-46D2-B069-82844F325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78225" y="2789238"/>
                <a:ext cx="539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5" name="Text Box 59">
                <a:extLst>
                  <a:ext uri="{FF2B5EF4-FFF2-40B4-BE49-F238E27FC236}">
                    <a16:creationId xmlns:a16="http://schemas.microsoft.com/office/drawing/2014/main" id="{17572958-FE2A-401D-86F6-4CD2A35C90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1363" y="1998663"/>
                <a:ext cx="503237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3</a:t>
                </a:r>
                <a:endPara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" name="Oval 82">
                <a:extLst>
                  <a:ext uri="{FF2B5EF4-FFF2-40B4-BE49-F238E27FC236}">
                    <a16:creationId xmlns:a16="http://schemas.microsoft.com/office/drawing/2014/main" id="{A684B6BE-B765-4493-BB7C-F67907BDE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7013" y="2716213"/>
                <a:ext cx="144462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Oval 83">
                <a:extLst>
                  <a:ext uri="{FF2B5EF4-FFF2-40B4-BE49-F238E27FC236}">
                    <a16:creationId xmlns:a16="http://schemas.microsoft.com/office/drawing/2014/main" id="{31CC6C29-4F20-4FC0-AAA4-2C6CEE1A7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1613" y="2709863"/>
                <a:ext cx="144462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336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99" grpId="0" animBg="1"/>
      <p:bldP spid="25663" grpId="0" animBg="1"/>
      <p:bldP spid="1029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596336" y="1806242"/>
            <a:ext cx="8501748" cy="1216589"/>
            <a:chOff x="1596336" y="2749375"/>
            <a:chExt cx="8501748" cy="1216957"/>
          </a:xfrm>
        </p:grpSpPr>
        <p:sp>
          <p:nvSpPr>
            <p:cNvPr id="33818" name="Rectangle 5"/>
            <p:cNvSpPr>
              <a:spLocks noChangeArrowheads="1"/>
            </p:cNvSpPr>
            <p:nvPr/>
          </p:nvSpPr>
          <p:spPr bwMode="auto">
            <a:xfrm>
              <a:off x="7159012" y="3397753"/>
              <a:ext cx="2939072" cy="56857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9" name="Rectangle 6"/>
            <p:cNvSpPr>
              <a:spLocks noChangeArrowheads="1"/>
            </p:cNvSpPr>
            <p:nvPr/>
          </p:nvSpPr>
          <p:spPr bwMode="auto">
            <a:xfrm>
              <a:off x="1596336" y="2749375"/>
              <a:ext cx="1490807" cy="5168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333500" y="1780711"/>
            <a:ext cx="7534275" cy="1157287"/>
            <a:chOff x="1333500" y="2723849"/>
            <a:chExt cx="7534276" cy="1156986"/>
          </a:xfrm>
        </p:grpSpPr>
        <p:sp>
          <p:nvSpPr>
            <p:cNvPr id="33816" name="Text Box 7"/>
            <p:cNvSpPr txBox="1">
              <a:spLocks noChangeArrowheads="1"/>
            </p:cNvSpPr>
            <p:nvPr/>
          </p:nvSpPr>
          <p:spPr bwMode="auto">
            <a:xfrm>
              <a:off x="1333500" y="2723849"/>
              <a:ext cx="69119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equivalente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½ Q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/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equivalente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½ Q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(1/C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+ 1/C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+ 1/C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) =</a:t>
              </a:r>
            </a:p>
          </p:txBody>
        </p:sp>
        <p:sp>
          <p:nvSpPr>
            <p:cNvPr id="33817" name="Text Box 8"/>
            <p:cNvSpPr txBox="1">
              <a:spLocks noChangeArrowheads="1"/>
            </p:cNvSpPr>
            <p:nvPr/>
          </p:nvSpPr>
          <p:spPr bwMode="auto">
            <a:xfrm>
              <a:off x="2633663" y="3410935"/>
              <a:ext cx="6234113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= ½ Q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/C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½ Q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/C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½ Q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/C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total</a:t>
              </a:r>
            </a:p>
          </p:txBody>
        </p:sp>
      </p:grpSp>
      <p:sp>
        <p:nvSpPr>
          <p:cNvPr id="27662" name="Text Box 12"/>
          <p:cNvSpPr txBox="1">
            <a:spLocks noChangeArrowheads="1"/>
          </p:cNvSpPr>
          <p:nvPr/>
        </p:nvSpPr>
        <p:spPr bwMode="auto">
          <a:xfrm>
            <a:off x="1333500" y="431923"/>
            <a:ext cx="52355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 N condensadores iguales de capacidad C</a:t>
            </a:r>
            <a:endParaRPr lang="es-ES" sz="2400" b="0" baseline="-25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344807" y="4163345"/>
            <a:ext cx="3689962" cy="981170"/>
            <a:chOff x="1354138" y="4521915"/>
            <a:chExt cx="3689127" cy="981337"/>
          </a:xfrm>
        </p:grpSpPr>
        <p:sp>
          <p:nvSpPr>
            <p:cNvPr id="33814" name="Text Box 10"/>
            <p:cNvSpPr txBox="1">
              <a:spLocks noChangeArrowheads="1"/>
            </p:cNvSpPr>
            <p:nvPr/>
          </p:nvSpPr>
          <p:spPr bwMode="auto">
            <a:xfrm>
              <a:off x="1354138" y="4521915"/>
              <a:ext cx="3689127" cy="536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Como: 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i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V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i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Q =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</a:t>
              </a:r>
            </a:p>
          </p:txBody>
        </p:sp>
        <p:sp>
          <p:nvSpPr>
            <p:cNvPr id="33815" name="Text Box 14"/>
            <p:cNvSpPr txBox="1">
              <a:spLocks noChangeArrowheads="1"/>
            </p:cNvSpPr>
            <p:nvPr/>
          </p:nvSpPr>
          <p:spPr bwMode="auto">
            <a:xfrm>
              <a:off x="3198702" y="5033352"/>
              <a:ext cx="15779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i = 1, 2, 3, ...</a:t>
              </a:r>
            </a:p>
          </p:txBody>
        </p:sp>
      </p:grpSp>
      <p:sp>
        <p:nvSpPr>
          <p:cNvPr id="33807" name="Text Box 13"/>
          <p:cNvSpPr txBox="1">
            <a:spLocks noChangeArrowheads="1"/>
          </p:cNvSpPr>
          <p:nvPr/>
        </p:nvSpPr>
        <p:spPr bwMode="auto">
          <a:xfrm>
            <a:off x="1812012" y="1071781"/>
            <a:ext cx="635319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="0" baseline="-250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&lt; C</a:t>
            </a:r>
            <a:r>
              <a: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, siempre, con C</a:t>
            </a:r>
            <a:r>
              <a: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 iguales o diferentes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7373886" y="399145"/>
            <a:ext cx="2240014" cy="647919"/>
            <a:chOff x="6586539" y="1357871"/>
            <a:chExt cx="2240014" cy="647919"/>
          </a:xfrm>
        </p:grpSpPr>
        <p:sp>
          <p:nvSpPr>
            <p:cNvPr id="33812" name="Rectangle 11"/>
            <p:cNvSpPr>
              <a:spLocks noChangeArrowheads="1"/>
            </p:cNvSpPr>
            <p:nvPr/>
          </p:nvSpPr>
          <p:spPr bwMode="auto">
            <a:xfrm>
              <a:off x="7035010" y="1357871"/>
              <a:ext cx="1761400" cy="647919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3" name="Text Box 12"/>
            <p:cNvSpPr txBox="1">
              <a:spLocks noChangeArrowheads="1"/>
            </p:cNvSpPr>
            <p:nvPr/>
          </p:nvSpPr>
          <p:spPr bwMode="auto">
            <a:xfrm>
              <a:off x="6586539" y="1390649"/>
              <a:ext cx="224001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  </a:t>
              </a:r>
              <a:r>
                <a:rPr lang="es-ES" sz="2400" b="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b="0" baseline="-250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C / N</a:t>
              </a:r>
              <a:endPara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3801" name="Text Box 16"/>
          <p:cNvSpPr txBox="1">
            <a:spLocks noChangeArrowheads="1"/>
          </p:cNvSpPr>
          <p:nvPr/>
        </p:nvSpPr>
        <p:spPr bwMode="auto">
          <a:xfrm>
            <a:off x="1436715" y="5256197"/>
            <a:ext cx="1408113" cy="53657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Si son 2:</a:t>
            </a:r>
          </a:p>
        </p:txBody>
      </p:sp>
      <p:sp>
        <p:nvSpPr>
          <p:cNvPr id="33808" name="Text Box 17"/>
          <p:cNvSpPr txBox="1">
            <a:spLocks noChangeArrowheads="1"/>
          </p:cNvSpPr>
          <p:nvPr/>
        </p:nvSpPr>
        <p:spPr bwMode="auto">
          <a:xfrm>
            <a:off x="2971209" y="5259923"/>
            <a:ext cx="3150572" cy="12576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8000" tIns="36000" rIns="18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1/C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1/C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+ 1/C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/ (C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1773573" y="3151664"/>
            <a:ext cx="825395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 u="sng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Lógico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Para 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ser equivalente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energía almacenada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debe coincidir con la total de la asociación de condensadores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5062068" y="4134137"/>
            <a:ext cx="5049953" cy="669821"/>
            <a:chOff x="3999563" y="4698365"/>
            <a:chExt cx="5049953" cy="669821"/>
          </a:xfrm>
        </p:grpSpPr>
        <p:grpSp>
          <p:nvGrpSpPr>
            <p:cNvPr id="7" name="Grupo 6"/>
            <p:cNvGrpSpPr>
              <a:grpSpLocks/>
            </p:cNvGrpSpPr>
            <p:nvPr/>
          </p:nvGrpSpPr>
          <p:grpSpPr bwMode="auto">
            <a:xfrm>
              <a:off x="6759851" y="4698365"/>
              <a:ext cx="2289665" cy="669821"/>
              <a:chOff x="4829890" y="4656370"/>
              <a:chExt cx="2288456" cy="670560"/>
            </a:xfrm>
          </p:grpSpPr>
          <p:sp>
            <p:nvSpPr>
              <p:cNvPr id="33804" name="Rectangle 9"/>
              <p:cNvSpPr>
                <a:spLocks noChangeArrowheads="1"/>
              </p:cNvSpPr>
              <p:nvPr/>
            </p:nvSpPr>
            <p:spPr bwMode="auto">
              <a:xfrm>
                <a:off x="4829890" y="4656370"/>
                <a:ext cx="2288456" cy="670560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805" name="Text Box 10"/>
              <p:cNvSpPr txBox="1">
                <a:spLocks noChangeArrowheads="1"/>
              </p:cNvSpPr>
              <p:nvPr/>
            </p:nvSpPr>
            <p:spPr bwMode="auto">
              <a:xfrm>
                <a:off x="4942081" y="4713641"/>
                <a:ext cx="2172377" cy="537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V</a:t>
                </a:r>
                <a:r>
                  <a:rPr lang="es-ES" sz="2400" b="0" baseline="-25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i</a:t>
                </a: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=  (</a:t>
                </a:r>
                <a:r>
                  <a:rPr lang="es-ES" sz="2400" b="0" dirty="0" err="1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C</a:t>
                </a:r>
                <a:r>
                  <a:rPr lang="es-ES" sz="2400" b="0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eq</a:t>
                </a: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/ C</a:t>
                </a:r>
                <a:r>
                  <a:rPr lang="es-ES" sz="2400" b="0" baseline="-25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i</a:t>
                </a: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)</a:t>
                </a:r>
              </a:p>
            </p:txBody>
          </p:sp>
        </p:grpSp>
        <p:cxnSp>
          <p:nvCxnSpPr>
            <p:cNvPr id="8" name="Conector recto 7"/>
            <p:cNvCxnSpPr>
              <a:cxnSpLocks/>
            </p:cNvCxnSpPr>
            <p:nvPr/>
          </p:nvCxnSpPr>
          <p:spPr bwMode="auto">
            <a:xfrm flipH="1">
              <a:off x="3999563" y="5017011"/>
              <a:ext cx="27000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lg"/>
              <a:tailEnd type="none" w="med" len="lg"/>
            </a:ln>
            <a:effectLst/>
          </p:spPr>
        </p:cxn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94E6852-745F-4A06-87BC-02B258B4862F}"/>
              </a:ext>
            </a:extLst>
          </p:cNvPr>
          <p:cNvGrpSpPr/>
          <p:nvPr/>
        </p:nvGrpSpPr>
        <p:grpSpPr>
          <a:xfrm>
            <a:off x="6157979" y="5366725"/>
            <a:ext cx="3940104" cy="1150818"/>
            <a:chOff x="6157979" y="5647282"/>
            <a:chExt cx="3940104" cy="1150818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ADE3CB67-66EF-4B3A-A841-F147FB7C69AA}"/>
                </a:ext>
              </a:extLst>
            </p:cNvPr>
            <p:cNvSpPr/>
            <p:nvPr/>
          </p:nvSpPr>
          <p:spPr bwMode="auto">
            <a:xfrm>
              <a:off x="7812308" y="5647282"/>
              <a:ext cx="2285775" cy="1150818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3806" name="Text Box 15"/>
            <p:cNvSpPr txBox="1">
              <a:spLocks noChangeArrowheads="1"/>
            </p:cNvSpPr>
            <p:nvPr/>
          </p:nvSpPr>
          <p:spPr bwMode="auto">
            <a:xfrm>
              <a:off x="7741826" y="5885954"/>
              <a:ext cx="1247219" cy="53654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82800" rIns="54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</a:t>
              </a: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184E8434-3BDA-4E07-8B31-14EA5A06024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157979" y="6163434"/>
              <a:ext cx="15840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lg"/>
              <a:tailEnd type="none" w="med" len="lg"/>
            </a:ln>
            <a:effectLst/>
          </p:spPr>
        </p:cxnSp>
        <p:sp>
          <p:nvSpPr>
            <p:cNvPr id="30" name="Text Box 15">
              <a:extLst>
                <a:ext uri="{FF2B5EF4-FFF2-40B4-BE49-F238E27FC236}">
                  <a16:creationId xmlns:a16="http://schemas.microsoft.com/office/drawing/2014/main" id="{63DCCF79-58FD-4EA8-A039-FFE96BA15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2502" y="6190840"/>
              <a:ext cx="1331846" cy="53654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82800" rIns="54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+ 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1" name="Text Box 15">
              <a:extLst>
                <a:ext uri="{FF2B5EF4-FFF2-40B4-BE49-F238E27FC236}">
                  <a16:creationId xmlns:a16="http://schemas.microsoft.com/office/drawing/2014/main" id="{FB233E65-76D9-41BF-A4C5-78ADA04F1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8535" y="5647282"/>
              <a:ext cx="559781" cy="53654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82800" rIns="54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792F2CE-E300-4078-9879-063174BAB72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58425" y="6194421"/>
              <a:ext cx="1080000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9" name="Text Box 13">
            <a:extLst>
              <a:ext uri="{FF2B5EF4-FFF2-40B4-BE49-F238E27FC236}">
                <a16:creationId xmlns:a16="http://schemas.microsoft.com/office/drawing/2014/main" id="{9D99670C-0AD4-E5DC-0CE9-C6E012DCC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330" y="6433059"/>
            <a:ext cx="862883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Cada uno se queda de  el porcentaje de capacidad del otro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731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2" grpId="0"/>
      <p:bldP spid="33807" grpId="0"/>
      <p:bldP spid="33801" grpId="0" animBg="1"/>
      <p:bldP spid="33808" grpId="0" animBg="1"/>
      <p:bldP spid="2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19" name="Group 123"/>
          <p:cNvGrpSpPr>
            <a:grpSpLocks/>
          </p:cNvGrpSpPr>
          <p:nvPr/>
        </p:nvGrpSpPr>
        <p:grpSpPr bwMode="auto">
          <a:xfrm>
            <a:off x="1490663" y="3287477"/>
            <a:ext cx="2489200" cy="2301875"/>
            <a:chOff x="1127" y="2165"/>
            <a:chExt cx="1568" cy="1450"/>
          </a:xfrm>
        </p:grpSpPr>
        <p:grpSp>
          <p:nvGrpSpPr>
            <p:cNvPr id="35923" name="Group 9"/>
            <p:cNvGrpSpPr>
              <a:grpSpLocks/>
            </p:cNvGrpSpPr>
            <p:nvPr/>
          </p:nvGrpSpPr>
          <p:grpSpPr bwMode="auto">
            <a:xfrm>
              <a:off x="1891" y="3142"/>
              <a:ext cx="37" cy="304"/>
              <a:chOff x="5153" y="6274"/>
              <a:chExt cx="63" cy="360"/>
            </a:xfrm>
          </p:grpSpPr>
          <p:sp>
            <p:nvSpPr>
              <p:cNvPr id="35929" name="Line 10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0" name="Line 11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5924" name="Text Box 14"/>
            <p:cNvSpPr txBox="1">
              <a:spLocks noChangeArrowheads="1"/>
            </p:cNvSpPr>
            <p:nvPr/>
          </p:nvSpPr>
          <p:spPr bwMode="auto">
            <a:xfrm>
              <a:off x="1662" y="2946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5925" name="Text Box 97"/>
            <p:cNvSpPr txBox="1">
              <a:spLocks noChangeArrowheads="1"/>
            </p:cNvSpPr>
            <p:nvPr/>
          </p:nvSpPr>
          <p:spPr bwMode="auto">
            <a:xfrm>
              <a:off x="1700" y="3277"/>
              <a:ext cx="22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5926" name="Text Box 98"/>
            <p:cNvSpPr txBox="1">
              <a:spLocks noChangeArrowheads="1"/>
            </p:cNvSpPr>
            <p:nvPr/>
          </p:nvSpPr>
          <p:spPr bwMode="auto">
            <a:xfrm>
              <a:off x="1927" y="3270"/>
              <a:ext cx="22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35927" name="Freeform 121"/>
            <p:cNvSpPr>
              <a:spLocks/>
            </p:cNvSpPr>
            <p:nvPr/>
          </p:nvSpPr>
          <p:spPr bwMode="auto">
            <a:xfrm>
              <a:off x="1127" y="2165"/>
              <a:ext cx="753" cy="1114"/>
            </a:xfrm>
            <a:custGeom>
              <a:avLst/>
              <a:gdLst>
                <a:gd name="T0" fmla="*/ 0 w 753"/>
                <a:gd name="T1" fmla="*/ 0 h 1114"/>
                <a:gd name="T2" fmla="*/ 0 w 753"/>
                <a:gd name="T3" fmla="*/ 1114 h 1114"/>
                <a:gd name="T4" fmla="*/ 753 w 753"/>
                <a:gd name="T5" fmla="*/ 1114 h 1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3" h="1114">
                  <a:moveTo>
                    <a:pt x="0" y="0"/>
                  </a:moveTo>
                  <a:lnTo>
                    <a:pt x="0" y="1114"/>
                  </a:lnTo>
                  <a:lnTo>
                    <a:pt x="753" y="1114"/>
                  </a:ln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928" name="Freeform 122"/>
            <p:cNvSpPr>
              <a:spLocks/>
            </p:cNvSpPr>
            <p:nvPr/>
          </p:nvSpPr>
          <p:spPr bwMode="auto">
            <a:xfrm flipH="1">
              <a:off x="1942" y="2166"/>
              <a:ext cx="753" cy="1114"/>
            </a:xfrm>
            <a:custGeom>
              <a:avLst/>
              <a:gdLst>
                <a:gd name="T0" fmla="*/ 0 w 753"/>
                <a:gd name="T1" fmla="*/ 0 h 1114"/>
                <a:gd name="T2" fmla="*/ 0 w 753"/>
                <a:gd name="T3" fmla="*/ 1114 h 1114"/>
                <a:gd name="T4" fmla="*/ 753 w 753"/>
                <a:gd name="T5" fmla="*/ 1114 h 1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3" h="1114">
                  <a:moveTo>
                    <a:pt x="0" y="0"/>
                  </a:moveTo>
                  <a:lnTo>
                    <a:pt x="0" y="1114"/>
                  </a:lnTo>
                  <a:lnTo>
                    <a:pt x="753" y="1114"/>
                  </a:ln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9799" name="Group 103"/>
          <p:cNvGrpSpPr>
            <a:grpSpLocks/>
          </p:cNvGrpSpPr>
          <p:nvPr/>
        </p:nvGrpSpPr>
        <p:grpSpPr bwMode="auto">
          <a:xfrm>
            <a:off x="1276350" y="6113150"/>
            <a:ext cx="9355138" cy="661988"/>
            <a:chOff x="818" y="3864"/>
            <a:chExt cx="5893" cy="417"/>
          </a:xfrm>
        </p:grpSpPr>
        <p:sp>
          <p:nvSpPr>
            <p:cNvPr id="35921" name="Rectangle 3"/>
            <p:cNvSpPr>
              <a:spLocks noChangeArrowheads="1"/>
            </p:cNvSpPr>
            <p:nvPr/>
          </p:nvSpPr>
          <p:spPr bwMode="auto">
            <a:xfrm>
              <a:off x="5476" y="3864"/>
              <a:ext cx="1235" cy="411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922" name="Rectangle 63"/>
            <p:cNvSpPr>
              <a:spLocks noChangeArrowheads="1"/>
            </p:cNvSpPr>
            <p:nvPr/>
          </p:nvSpPr>
          <p:spPr bwMode="auto">
            <a:xfrm>
              <a:off x="818" y="3870"/>
              <a:ext cx="1030" cy="411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9766" name="Text Box 64"/>
          <p:cNvSpPr txBox="1">
            <a:spLocks noChangeArrowheads="1"/>
          </p:cNvSpPr>
          <p:nvPr/>
        </p:nvSpPr>
        <p:spPr bwMode="auto">
          <a:xfrm>
            <a:off x="1390650" y="6181408"/>
            <a:ext cx="171608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equivalente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=</a:t>
            </a:r>
          </a:p>
        </p:txBody>
      </p:sp>
      <p:sp>
        <p:nvSpPr>
          <p:cNvPr id="29795" name="Text Box 4"/>
          <p:cNvSpPr txBox="1">
            <a:spLocks noChangeArrowheads="1"/>
          </p:cNvSpPr>
          <p:nvPr/>
        </p:nvSpPr>
        <p:spPr bwMode="auto">
          <a:xfrm>
            <a:off x="8758204" y="6163945"/>
            <a:ext cx="18907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+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+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s-E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328" name="Text Box 86"/>
          <p:cNvSpPr txBox="1">
            <a:spLocks noChangeArrowheads="1"/>
          </p:cNvSpPr>
          <p:nvPr/>
        </p:nvSpPr>
        <p:spPr bwMode="auto">
          <a:xfrm>
            <a:off x="1359441" y="899470"/>
            <a:ext cx="8978901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Tomar un terminal por condensador y conectarlos entre sí. Y con el otro hacer lo mismo. El conjunto tiene 2 terminales al exterior</a:t>
            </a:r>
          </a:p>
        </p:txBody>
      </p: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390775" y="2153831"/>
            <a:ext cx="657225" cy="1936750"/>
            <a:chOff x="1700" y="1054"/>
            <a:chExt cx="414" cy="1220"/>
          </a:xfrm>
        </p:grpSpPr>
        <p:sp>
          <p:nvSpPr>
            <p:cNvPr id="35915" name="Text Box 33"/>
            <p:cNvSpPr txBox="1">
              <a:spLocks noChangeArrowheads="1"/>
            </p:cNvSpPr>
            <p:nvPr/>
          </p:nvSpPr>
          <p:spPr bwMode="auto">
            <a:xfrm>
              <a:off x="1944" y="1055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5916" name="Text Box 34"/>
            <p:cNvSpPr txBox="1">
              <a:spLocks noChangeArrowheads="1"/>
            </p:cNvSpPr>
            <p:nvPr/>
          </p:nvSpPr>
          <p:spPr bwMode="auto">
            <a:xfrm>
              <a:off x="1701" y="1054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5917" name="Text Box 35"/>
            <p:cNvSpPr txBox="1">
              <a:spLocks noChangeArrowheads="1"/>
            </p:cNvSpPr>
            <p:nvPr/>
          </p:nvSpPr>
          <p:spPr bwMode="auto">
            <a:xfrm>
              <a:off x="1947" y="1513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5918" name="Text Box 36"/>
            <p:cNvSpPr txBox="1">
              <a:spLocks noChangeArrowheads="1"/>
            </p:cNvSpPr>
            <p:nvPr/>
          </p:nvSpPr>
          <p:spPr bwMode="auto">
            <a:xfrm>
              <a:off x="1704" y="1520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5919" name="Text Box 37"/>
            <p:cNvSpPr txBox="1">
              <a:spLocks noChangeArrowheads="1"/>
            </p:cNvSpPr>
            <p:nvPr/>
          </p:nvSpPr>
          <p:spPr bwMode="auto">
            <a:xfrm>
              <a:off x="1943" y="1971"/>
              <a:ext cx="16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5920" name="Text Box 38"/>
            <p:cNvSpPr txBox="1">
              <a:spLocks noChangeArrowheads="1"/>
            </p:cNvSpPr>
            <p:nvPr/>
          </p:nvSpPr>
          <p:spPr bwMode="auto">
            <a:xfrm>
              <a:off x="1700" y="1978"/>
              <a:ext cx="20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12361" name="Text Box 52"/>
          <p:cNvSpPr txBox="1">
            <a:spLocks noChangeArrowheads="1"/>
          </p:cNvSpPr>
          <p:nvPr/>
        </p:nvSpPr>
        <p:spPr bwMode="auto">
          <a:xfrm>
            <a:off x="4529223" y="3078890"/>
            <a:ext cx="2492375" cy="592137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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=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=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= V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3 </a:t>
            </a:r>
          </a:p>
        </p:txBody>
      </p:sp>
      <p:grpSp>
        <p:nvGrpSpPr>
          <p:cNvPr id="12" name="Group 102"/>
          <p:cNvGrpSpPr>
            <a:grpSpLocks/>
          </p:cNvGrpSpPr>
          <p:nvPr/>
        </p:nvGrpSpPr>
        <p:grpSpPr bwMode="auto">
          <a:xfrm>
            <a:off x="7198904" y="5171218"/>
            <a:ext cx="2439988" cy="530225"/>
            <a:chOff x="4610" y="3032"/>
            <a:chExt cx="1537" cy="334"/>
          </a:xfrm>
        </p:grpSpPr>
        <p:sp>
          <p:nvSpPr>
            <p:cNvPr id="35913" name="AutoShape 56"/>
            <p:cNvSpPr>
              <a:spLocks noChangeArrowheads="1"/>
            </p:cNvSpPr>
            <p:nvPr/>
          </p:nvSpPr>
          <p:spPr bwMode="auto">
            <a:xfrm>
              <a:off x="4610" y="3073"/>
              <a:ext cx="285" cy="277"/>
            </a:xfrm>
            <a:prstGeom prst="rightArrow">
              <a:avLst>
                <a:gd name="adj1" fmla="val 39352"/>
                <a:gd name="adj2" fmla="val 49458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914" name="Text Box 57"/>
            <p:cNvSpPr txBox="1">
              <a:spLocks noChangeArrowheads="1"/>
            </p:cNvSpPr>
            <p:nvPr/>
          </p:nvSpPr>
          <p:spPr bwMode="auto">
            <a:xfrm>
              <a:off x="4951" y="3032"/>
              <a:ext cx="119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Q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Q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8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3" name="Group 101"/>
          <p:cNvGrpSpPr>
            <a:grpSpLocks/>
          </p:cNvGrpSpPr>
          <p:nvPr/>
        </p:nvGrpSpPr>
        <p:grpSpPr bwMode="auto">
          <a:xfrm>
            <a:off x="4826849" y="4611032"/>
            <a:ext cx="1851025" cy="1173164"/>
            <a:chOff x="2937" y="2800"/>
            <a:chExt cx="1166" cy="739"/>
          </a:xfrm>
        </p:grpSpPr>
        <p:sp>
          <p:nvSpPr>
            <p:cNvPr id="35910" name="Text Box 55"/>
            <p:cNvSpPr txBox="1">
              <a:spLocks noChangeArrowheads="1"/>
            </p:cNvSpPr>
            <p:nvPr/>
          </p:nvSpPr>
          <p:spPr bwMode="auto">
            <a:xfrm>
              <a:off x="2937" y="2800"/>
              <a:ext cx="116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  </a:t>
              </a:r>
              <a:endParaRPr lang="es-ES" sz="28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5911" name="Text Box 58"/>
            <p:cNvSpPr txBox="1">
              <a:spLocks noChangeArrowheads="1"/>
            </p:cNvSpPr>
            <p:nvPr/>
          </p:nvSpPr>
          <p:spPr bwMode="auto">
            <a:xfrm>
              <a:off x="3135" y="3205"/>
              <a:ext cx="801" cy="33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latin typeface="Arial" panose="020B0604020202020204" pitchFamily="34" charset="0"/>
                </a:rPr>
                <a:t>Q = C V</a:t>
              </a:r>
            </a:p>
          </p:txBody>
        </p:sp>
      </p:grpSp>
      <p:sp>
        <p:nvSpPr>
          <p:cNvPr id="12318" name="Text Box 61"/>
          <p:cNvSpPr txBox="1">
            <a:spLocks noChangeArrowheads="1"/>
          </p:cNvSpPr>
          <p:nvPr/>
        </p:nvSpPr>
        <p:spPr bwMode="auto">
          <a:xfrm>
            <a:off x="7202019" y="3937138"/>
            <a:ext cx="2896564" cy="5370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144000" rIns="144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s-ES" sz="2000" b="0" dirty="0">
                <a:latin typeface="Arial" panose="020B0604020202020204" pitchFamily="34" charset="0"/>
              </a:rPr>
              <a:t>Q: carga almacenada</a:t>
            </a:r>
          </a:p>
        </p:txBody>
      </p:sp>
      <p:grpSp>
        <p:nvGrpSpPr>
          <p:cNvPr id="15" name="Group 65"/>
          <p:cNvGrpSpPr>
            <a:grpSpLocks/>
          </p:cNvGrpSpPr>
          <p:nvPr/>
        </p:nvGrpSpPr>
        <p:grpSpPr bwMode="auto">
          <a:xfrm>
            <a:off x="3106740" y="6019483"/>
            <a:ext cx="922338" cy="900112"/>
            <a:chOff x="1957" y="3634"/>
            <a:chExt cx="581" cy="567"/>
          </a:xfrm>
        </p:grpSpPr>
        <p:sp>
          <p:nvSpPr>
            <p:cNvPr id="35906" name="Line 66"/>
            <p:cNvSpPr>
              <a:spLocks noChangeShapeType="1"/>
            </p:cNvSpPr>
            <p:nvPr/>
          </p:nvSpPr>
          <p:spPr bwMode="auto">
            <a:xfrm>
              <a:off x="1957" y="3928"/>
              <a:ext cx="3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35907" name="Text Box 67"/>
            <p:cNvSpPr txBox="1">
              <a:spLocks noChangeArrowheads="1"/>
            </p:cNvSpPr>
            <p:nvPr/>
          </p:nvSpPr>
          <p:spPr bwMode="auto">
            <a:xfrm>
              <a:off x="2020" y="3634"/>
              <a:ext cx="26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35908" name="Text Box 68"/>
            <p:cNvSpPr txBox="1">
              <a:spLocks noChangeArrowheads="1"/>
            </p:cNvSpPr>
            <p:nvPr/>
          </p:nvSpPr>
          <p:spPr bwMode="auto">
            <a:xfrm>
              <a:off x="2030" y="3863"/>
              <a:ext cx="19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5909" name="Text Box 69"/>
            <p:cNvSpPr txBox="1">
              <a:spLocks noChangeArrowheads="1"/>
            </p:cNvSpPr>
            <p:nvPr/>
          </p:nvSpPr>
          <p:spPr bwMode="auto">
            <a:xfrm>
              <a:off x="2310" y="3769"/>
              <a:ext cx="22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grpSp>
        <p:nvGrpSpPr>
          <p:cNvPr id="16" name="Group 70"/>
          <p:cNvGrpSpPr>
            <a:grpSpLocks/>
          </p:cNvGrpSpPr>
          <p:nvPr/>
        </p:nvGrpSpPr>
        <p:grpSpPr bwMode="auto">
          <a:xfrm>
            <a:off x="4029077" y="5995674"/>
            <a:ext cx="2284414" cy="930275"/>
            <a:chOff x="2538" y="3619"/>
            <a:chExt cx="1439" cy="586"/>
          </a:xfrm>
        </p:grpSpPr>
        <p:sp>
          <p:nvSpPr>
            <p:cNvPr id="35902" name="Line 71"/>
            <p:cNvSpPr>
              <a:spLocks noChangeShapeType="1"/>
            </p:cNvSpPr>
            <p:nvPr/>
          </p:nvSpPr>
          <p:spPr bwMode="auto">
            <a:xfrm>
              <a:off x="2596" y="3924"/>
              <a:ext cx="1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35903" name="Text Box 72"/>
            <p:cNvSpPr txBox="1">
              <a:spLocks noChangeArrowheads="1"/>
            </p:cNvSpPr>
            <p:nvPr/>
          </p:nvSpPr>
          <p:spPr bwMode="auto">
            <a:xfrm>
              <a:off x="2538" y="3619"/>
              <a:ext cx="122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5904" name="Text Box 73"/>
            <p:cNvSpPr txBox="1">
              <a:spLocks noChangeArrowheads="1"/>
            </p:cNvSpPr>
            <p:nvPr/>
          </p:nvSpPr>
          <p:spPr bwMode="auto">
            <a:xfrm>
              <a:off x="3041" y="3867"/>
              <a:ext cx="19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5905" name="Text Box 74"/>
            <p:cNvSpPr txBox="1">
              <a:spLocks noChangeArrowheads="1"/>
            </p:cNvSpPr>
            <p:nvPr/>
          </p:nvSpPr>
          <p:spPr bwMode="auto">
            <a:xfrm>
              <a:off x="3749" y="3766"/>
              <a:ext cx="22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grpSp>
        <p:nvGrpSpPr>
          <p:cNvPr id="17" name="Group 75"/>
          <p:cNvGrpSpPr>
            <a:grpSpLocks/>
          </p:cNvGrpSpPr>
          <p:nvPr/>
        </p:nvGrpSpPr>
        <p:grpSpPr bwMode="auto">
          <a:xfrm>
            <a:off x="6197600" y="5992498"/>
            <a:ext cx="2651125" cy="938213"/>
            <a:chOff x="3904" y="3617"/>
            <a:chExt cx="1670" cy="591"/>
          </a:xfrm>
        </p:grpSpPr>
        <p:sp>
          <p:nvSpPr>
            <p:cNvPr id="35897" name="Line 76"/>
            <p:cNvSpPr>
              <a:spLocks noChangeShapeType="1"/>
            </p:cNvSpPr>
            <p:nvPr/>
          </p:nvSpPr>
          <p:spPr bwMode="auto">
            <a:xfrm>
              <a:off x="3958" y="3927"/>
              <a:ext cx="1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35898" name="Text Box 77"/>
            <p:cNvSpPr txBox="1">
              <a:spLocks noChangeArrowheads="1"/>
            </p:cNvSpPr>
            <p:nvPr/>
          </p:nvSpPr>
          <p:spPr bwMode="auto">
            <a:xfrm>
              <a:off x="3904" y="3617"/>
              <a:ext cx="1320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(C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+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35899" name="Text Box 78"/>
            <p:cNvSpPr txBox="1">
              <a:spLocks noChangeArrowheads="1"/>
            </p:cNvSpPr>
            <p:nvPr/>
          </p:nvSpPr>
          <p:spPr bwMode="auto">
            <a:xfrm>
              <a:off x="4409" y="3870"/>
              <a:ext cx="19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5900" name="Text Box 79"/>
            <p:cNvSpPr txBox="1">
              <a:spLocks noChangeArrowheads="1"/>
            </p:cNvSpPr>
            <p:nvPr/>
          </p:nvSpPr>
          <p:spPr bwMode="auto">
            <a:xfrm>
              <a:off x="5346" y="3739"/>
              <a:ext cx="22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35901" name="Text Box 80"/>
            <p:cNvSpPr txBox="1">
              <a:spLocks noChangeArrowheads="1"/>
            </p:cNvSpPr>
            <p:nvPr/>
          </p:nvSpPr>
          <p:spPr bwMode="auto">
            <a:xfrm>
              <a:off x="5152" y="3624"/>
              <a:ext cx="19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423988" y="2045881"/>
            <a:ext cx="2619375" cy="2290762"/>
            <a:chOff x="1731963" y="2127250"/>
            <a:chExt cx="2619375" cy="2290763"/>
          </a:xfrm>
        </p:grpSpPr>
        <p:sp>
          <p:nvSpPr>
            <p:cNvPr id="35875" name="Line 13"/>
            <p:cNvSpPr>
              <a:spLocks noChangeShapeType="1"/>
            </p:cNvSpPr>
            <p:nvPr/>
          </p:nvSpPr>
          <p:spPr bwMode="auto">
            <a:xfrm flipH="1">
              <a:off x="2252663" y="2706688"/>
              <a:ext cx="0" cy="143986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5876" name="Group 15"/>
            <p:cNvGrpSpPr>
              <a:grpSpLocks/>
            </p:cNvGrpSpPr>
            <p:nvPr/>
          </p:nvGrpSpPr>
          <p:grpSpPr bwMode="auto">
            <a:xfrm>
              <a:off x="2982913" y="2481263"/>
              <a:ext cx="112712" cy="482600"/>
              <a:chOff x="4253" y="5198"/>
              <a:chExt cx="121" cy="360"/>
            </a:xfrm>
          </p:grpSpPr>
          <p:sp>
            <p:nvSpPr>
              <p:cNvPr id="35895" name="Line 16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896" name="Line 17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5877" name="Line 18"/>
            <p:cNvSpPr>
              <a:spLocks noChangeShapeType="1"/>
            </p:cNvSpPr>
            <p:nvPr/>
          </p:nvSpPr>
          <p:spPr bwMode="auto">
            <a:xfrm flipH="1">
              <a:off x="2266950" y="2706688"/>
              <a:ext cx="71913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78" name="Text Box 19"/>
            <p:cNvSpPr txBox="1">
              <a:spLocks noChangeArrowheads="1"/>
            </p:cNvSpPr>
            <p:nvPr/>
          </p:nvSpPr>
          <p:spPr bwMode="auto">
            <a:xfrm>
              <a:off x="2343150" y="2127250"/>
              <a:ext cx="5032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879" name="Line 20"/>
            <p:cNvSpPr>
              <a:spLocks noChangeShapeType="1"/>
            </p:cNvSpPr>
            <p:nvPr/>
          </p:nvSpPr>
          <p:spPr bwMode="auto">
            <a:xfrm flipH="1">
              <a:off x="3101975" y="2703513"/>
              <a:ext cx="71913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5880" name="Group 21"/>
            <p:cNvGrpSpPr>
              <a:grpSpLocks/>
            </p:cNvGrpSpPr>
            <p:nvPr/>
          </p:nvGrpSpPr>
          <p:grpSpPr bwMode="auto">
            <a:xfrm>
              <a:off x="2987675" y="3208338"/>
              <a:ext cx="112713" cy="482600"/>
              <a:chOff x="4253" y="5198"/>
              <a:chExt cx="121" cy="360"/>
            </a:xfrm>
          </p:grpSpPr>
          <p:sp>
            <p:nvSpPr>
              <p:cNvPr id="35893" name="Line 22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894" name="Line 23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5881" name="Line 24"/>
            <p:cNvSpPr>
              <a:spLocks noChangeShapeType="1"/>
            </p:cNvSpPr>
            <p:nvPr/>
          </p:nvSpPr>
          <p:spPr bwMode="auto">
            <a:xfrm flipH="1" flipV="1">
              <a:off x="1770063" y="3432175"/>
              <a:ext cx="122078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82" name="Text Box 25"/>
            <p:cNvSpPr txBox="1">
              <a:spLocks noChangeArrowheads="1"/>
            </p:cNvSpPr>
            <p:nvPr/>
          </p:nvSpPr>
          <p:spPr bwMode="auto">
            <a:xfrm>
              <a:off x="2347913" y="2854325"/>
              <a:ext cx="503237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883" name="Line 26"/>
            <p:cNvSpPr>
              <a:spLocks noChangeShapeType="1"/>
            </p:cNvSpPr>
            <p:nvPr/>
          </p:nvSpPr>
          <p:spPr bwMode="auto">
            <a:xfrm flipH="1" flipV="1">
              <a:off x="3106738" y="3430588"/>
              <a:ext cx="11811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5884" name="Group 27"/>
            <p:cNvGrpSpPr>
              <a:grpSpLocks/>
            </p:cNvGrpSpPr>
            <p:nvPr/>
          </p:nvGrpSpPr>
          <p:grpSpPr bwMode="auto">
            <a:xfrm>
              <a:off x="2981325" y="3935413"/>
              <a:ext cx="112713" cy="482600"/>
              <a:chOff x="4253" y="5198"/>
              <a:chExt cx="121" cy="360"/>
            </a:xfrm>
          </p:grpSpPr>
          <p:sp>
            <p:nvSpPr>
              <p:cNvPr id="35891" name="Line 28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892" name="Line 29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5885" name="Line 30"/>
            <p:cNvSpPr>
              <a:spLocks noChangeShapeType="1"/>
            </p:cNvSpPr>
            <p:nvPr/>
          </p:nvSpPr>
          <p:spPr bwMode="auto">
            <a:xfrm flipH="1">
              <a:off x="2265363" y="4160838"/>
              <a:ext cx="7191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86" name="Text Box 31"/>
            <p:cNvSpPr txBox="1">
              <a:spLocks noChangeArrowheads="1"/>
            </p:cNvSpPr>
            <p:nvPr/>
          </p:nvSpPr>
          <p:spPr bwMode="auto">
            <a:xfrm>
              <a:off x="2341563" y="3581400"/>
              <a:ext cx="503237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887" name="Line 39"/>
            <p:cNvSpPr>
              <a:spLocks noChangeShapeType="1"/>
            </p:cNvSpPr>
            <p:nvPr/>
          </p:nvSpPr>
          <p:spPr bwMode="auto">
            <a:xfrm flipH="1">
              <a:off x="3100388" y="4157663"/>
              <a:ext cx="71913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88" name="Line 40"/>
            <p:cNvSpPr>
              <a:spLocks noChangeShapeType="1"/>
            </p:cNvSpPr>
            <p:nvPr/>
          </p:nvSpPr>
          <p:spPr bwMode="auto">
            <a:xfrm flipH="1">
              <a:off x="3810000" y="2690813"/>
              <a:ext cx="0" cy="143986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89" name="Oval 81"/>
            <p:cNvSpPr>
              <a:spLocks noChangeArrowheads="1"/>
            </p:cNvSpPr>
            <p:nvPr/>
          </p:nvSpPr>
          <p:spPr bwMode="auto">
            <a:xfrm>
              <a:off x="1731963" y="3354388"/>
              <a:ext cx="144462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890" name="Oval 82"/>
            <p:cNvSpPr>
              <a:spLocks noChangeArrowheads="1"/>
            </p:cNvSpPr>
            <p:nvPr/>
          </p:nvSpPr>
          <p:spPr bwMode="auto">
            <a:xfrm>
              <a:off x="4206875" y="3352800"/>
              <a:ext cx="144463" cy="144463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09687" name="Text Box 87"/>
          <p:cNvSpPr txBox="1">
            <a:spLocks noChangeArrowheads="1"/>
          </p:cNvSpPr>
          <p:nvPr/>
        </p:nvSpPr>
        <p:spPr bwMode="auto">
          <a:xfrm>
            <a:off x="4570787" y="2018883"/>
            <a:ext cx="1964297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 equilibrio:</a:t>
            </a:r>
            <a:endParaRPr lang="es-ES"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5872" name="Text Box 88"/>
          <p:cNvSpPr txBox="1">
            <a:spLocks noChangeArrowheads="1"/>
          </p:cNvSpPr>
          <p:nvPr/>
        </p:nvSpPr>
        <p:spPr bwMode="auto">
          <a:xfrm>
            <a:off x="7198902" y="2012174"/>
            <a:ext cx="289656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 V es cte. en cada conductor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(Hay 2)</a:t>
            </a:r>
          </a:p>
        </p:txBody>
      </p:sp>
      <p:sp>
        <p:nvSpPr>
          <p:cNvPr id="35858" name="Rectangle 10"/>
          <p:cNvSpPr>
            <a:spLocks noChangeArrowheads="1"/>
          </p:cNvSpPr>
          <p:nvPr/>
        </p:nvSpPr>
        <p:spPr bwMode="auto">
          <a:xfrm>
            <a:off x="1282127" y="362369"/>
            <a:ext cx="8653463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3.4.3 ASOCIACIÓN EN PARALELO DE CONDENSADORES</a:t>
            </a:r>
          </a:p>
        </p:txBody>
      </p:sp>
      <p:grpSp>
        <p:nvGrpSpPr>
          <p:cNvPr id="29807" name="Group 111"/>
          <p:cNvGrpSpPr>
            <a:grpSpLocks/>
          </p:cNvGrpSpPr>
          <p:nvPr/>
        </p:nvGrpSpPr>
        <p:grpSpPr bwMode="auto">
          <a:xfrm>
            <a:off x="1485900" y="3879443"/>
            <a:ext cx="358775" cy="790575"/>
            <a:chOff x="1130" y="2507"/>
            <a:chExt cx="226" cy="498"/>
          </a:xfrm>
        </p:grpSpPr>
        <p:sp>
          <p:nvSpPr>
            <p:cNvPr id="35870" name="Line 85"/>
            <p:cNvSpPr>
              <a:spLocks noChangeShapeType="1"/>
            </p:cNvSpPr>
            <p:nvPr/>
          </p:nvSpPr>
          <p:spPr bwMode="auto">
            <a:xfrm flipV="1">
              <a:off x="1231" y="2795"/>
              <a:ext cx="0" cy="21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5871" name="Text Box 86"/>
            <p:cNvSpPr txBox="1">
              <a:spLocks noChangeArrowheads="1"/>
            </p:cNvSpPr>
            <p:nvPr/>
          </p:nvSpPr>
          <p:spPr bwMode="auto">
            <a:xfrm>
              <a:off x="1130" y="2507"/>
              <a:ext cx="22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000" b="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29808" name="Group 112"/>
          <p:cNvGrpSpPr>
            <a:grpSpLocks/>
          </p:cNvGrpSpPr>
          <p:nvPr/>
        </p:nvGrpSpPr>
        <p:grpSpPr bwMode="auto">
          <a:xfrm>
            <a:off x="3609975" y="4049306"/>
            <a:ext cx="358775" cy="809625"/>
            <a:chOff x="2468" y="2614"/>
            <a:chExt cx="226" cy="510"/>
          </a:xfrm>
        </p:grpSpPr>
        <p:sp>
          <p:nvSpPr>
            <p:cNvPr id="35868" name="Line 87"/>
            <p:cNvSpPr>
              <a:spLocks noChangeShapeType="1"/>
            </p:cNvSpPr>
            <p:nvPr/>
          </p:nvSpPr>
          <p:spPr bwMode="auto">
            <a:xfrm>
              <a:off x="2581" y="2614"/>
              <a:ext cx="0" cy="21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5869" name="Text Box 88"/>
            <p:cNvSpPr txBox="1">
              <a:spLocks noChangeArrowheads="1"/>
            </p:cNvSpPr>
            <p:nvPr/>
          </p:nvSpPr>
          <p:spPr bwMode="auto">
            <a:xfrm>
              <a:off x="2468" y="2790"/>
              <a:ext cx="22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000" b="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88" name="CuadroTexto 87"/>
          <p:cNvSpPr txBox="1">
            <a:spLocks noChangeArrowheads="1"/>
          </p:cNvSpPr>
          <p:nvPr/>
        </p:nvSpPr>
        <p:spPr bwMode="auto">
          <a:xfrm>
            <a:off x="7294814" y="4426297"/>
            <a:ext cx="2800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b="0" dirty="0">
                <a:solidFill>
                  <a:srgbClr val="FF0000"/>
                </a:solidFill>
              </a:rPr>
              <a:t>(la “q</a:t>
            </a:r>
            <a:r>
              <a:rPr lang="es-ES" sz="2400" b="0" baseline="30000" dirty="0">
                <a:solidFill>
                  <a:srgbClr val="FF0000"/>
                </a:solidFill>
              </a:rPr>
              <a:t>+</a:t>
            </a:r>
            <a:r>
              <a:rPr lang="es-ES" sz="2400" b="0" dirty="0">
                <a:solidFill>
                  <a:srgbClr val="FF0000"/>
                </a:solidFill>
              </a:rPr>
              <a:t>” que llega)</a:t>
            </a:r>
          </a:p>
        </p:txBody>
      </p:sp>
      <p:sp>
        <p:nvSpPr>
          <p:cNvPr id="35864" name="Text Box 60"/>
          <p:cNvSpPr txBox="1">
            <a:spLocks noChangeArrowheads="1"/>
          </p:cNvSpPr>
          <p:nvPr/>
        </p:nvSpPr>
        <p:spPr bwMode="auto">
          <a:xfrm>
            <a:off x="4529673" y="3920394"/>
            <a:ext cx="2526952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Q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Q</a:t>
            </a:r>
            <a:r>
              <a:rPr lang="es-ES" sz="2400" b="0" baseline="-2500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r>
              <a:rPr lang="es-ES" sz="2400" b="0">
                <a:solidFill>
                  <a:srgbClr val="FFFFFF"/>
                </a:solidFill>
                <a:latin typeface="Arial" panose="020B0604020202020204" pitchFamily="34" charset="0"/>
              </a:rPr>
              <a:t> = Q</a:t>
            </a:r>
            <a:endParaRPr lang="es-ES" sz="2400" b="0">
              <a:solidFill>
                <a:srgbClr val="FFFF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4" name="CuadroTexto 83"/>
          <p:cNvSpPr txBox="1"/>
          <p:nvPr/>
        </p:nvSpPr>
        <p:spPr>
          <a:xfrm>
            <a:off x="7212066" y="3034260"/>
            <a:ext cx="2886516" cy="7078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0" dirty="0">
                <a:solidFill>
                  <a:schemeClr val="tx1"/>
                </a:solidFill>
              </a:rPr>
              <a:t>    Caída   =    Caída</a:t>
            </a:r>
          </a:p>
          <a:p>
            <a:r>
              <a:rPr lang="es-ES" b="0" dirty="0">
                <a:solidFill>
                  <a:schemeClr val="tx1"/>
                </a:solidFill>
              </a:rPr>
              <a:t>   en pila      en cada C</a:t>
            </a:r>
            <a:endParaRPr lang="en-GB" b="0" baseline="-25000" dirty="0">
              <a:solidFill>
                <a:schemeClr val="tx1"/>
              </a:solidFill>
            </a:endParaRP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0F471891-EFDA-4EA2-BCB0-970F94CA77B1}"/>
              </a:ext>
            </a:extLst>
          </p:cNvPr>
          <p:cNvCxnSpPr/>
          <p:nvPr/>
        </p:nvCxnSpPr>
        <p:spPr bwMode="auto">
          <a:xfrm>
            <a:off x="7109386" y="3913041"/>
            <a:ext cx="0" cy="1850848"/>
          </a:xfrm>
          <a:prstGeom prst="lin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9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9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1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66" grpId="0"/>
      <p:bldP spid="29795" grpId="0"/>
      <p:bldP spid="12328" grpId="0" animBg="1"/>
      <p:bldP spid="12361" grpId="0" animBg="1"/>
      <p:bldP spid="12318" grpId="0" animBg="1"/>
      <p:bldP spid="409687" grpId="0" animBg="1"/>
      <p:bldP spid="35872" grpId="0"/>
      <p:bldP spid="88" grpId="0"/>
      <p:bldP spid="35864" grpId="0" animBg="1"/>
      <p:bldP spid="8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1465580" y="2147535"/>
            <a:ext cx="8311642" cy="1180310"/>
            <a:chOff x="1511300" y="1765917"/>
            <a:chExt cx="8311642" cy="1180311"/>
          </a:xfrm>
        </p:grpSpPr>
        <p:sp>
          <p:nvSpPr>
            <p:cNvPr id="37920" name="Rectangle 4"/>
            <p:cNvSpPr>
              <a:spLocks noChangeArrowheads="1"/>
            </p:cNvSpPr>
            <p:nvPr/>
          </p:nvSpPr>
          <p:spPr bwMode="auto">
            <a:xfrm>
              <a:off x="6803517" y="2409679"/>
              <a:ext cx="3019425" cy="53654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1" name="Rectangle 5"/>
            <p:cNvSpPr>
              <a:spLocks noChangeArrowheads="1"/>
            </p:cNvSpPr>
            <p:nvPr/>
          </p:nvSpPr>
          <p:spPr bwMode="auto">
            <a:xfrm>
              <a:off x="1511300" y="1765917"/>
              <a:ext cx="1519238" cy="53654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1230630" y="2147172"/>
            <a:ext cx="8498265" cy="1179487"/>
            <a:chOff x="1276350" y="1847850"/>
            <a:chExt cx="8498266" cy="1179487"/>
          </a:xfrm>
        </p:grpSpPr>
        <p:sp>
          <p:nvSpPr>
            <p:cNvPr id="37918" name="Text Box 6"/>
            <p:cNvSpPr txBox="1">
              <a:spLocks noChangeArrowheads="1"/>
            </p:cNvSpPr>
            <p:nvPr/>
          </p:nvSpPr>
          <p:spPr bwMode="auto">
            <a:xfrm>
              <a:off x="1276350" y="1847850"/>
              <a:ext cx="7174058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equivalente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½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equivalente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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½ (C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) 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</a:t>
              </a:r>
            </a:p>
          </p:txBody>
        </p:sp>
        <p:sp>
          <p:nvSpPr>
            <p:cNvPr id="37919" name="Text Box 7"/>
            <p:cNvSpPr txBox="1">
              <a:spLocks noChangeArrowheads="1"/>
            </p:cNvSpPr>
            <p:nvPr/>
          </p:nvSpPr>
          <p:spPr bwMode="auto">
            <a:xfrm>
              <a:off x="2576513" y="2490788"/>
              <a:ext cx="7198103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= ½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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½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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½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</a:t>
              </a:r>
              <a:r>
                <a:rPr lang="es-ES" sz="2400" b="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+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U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total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7238403" y="385784"/>
            <a:ext cx="2239963" cy="590550"/>
            <a:chOff x="4002" y="957"/>
            <a:chExt cx="1411" cy="372"/>
          </a:xfrm>
        </p:grpSpPr>
        <p:sp>
          <p:nvSpPr>
            <p:cNvPr id="37913" name="Rectangle 14"/>
            <p:cNvSpPr>
              <a:spLocks noChangeArrowheads="1"/>
            </p:cNvSpPr>
            <p:nvPr/>
          </p:nvSpPr>
          <p:spPr bwMode="auto">
            <a:xfrm>
              <a:off x="4376" y="957"/>
              <a:ext cx="1021" cy="37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14" name="Text Box 15"/>
            <p:cNvSpPr txBox="1">
              <a:spLocks noChangeArrowheads="1"/>
            </p:cNvSpPr>
            <p:nvPr/>
          </p:nvSpPr>
          <p:spPr bwMode="auto">
            <a:xfrm>
              <a:off x="4002" y="977"/>
              <a:ext cx="141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    </a:t>
              </a:r>
              <a:r>
                <a:rPr lang="es-ES" sz="2400" b="0" dirty="0" err="1"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b="0" baseline="-25000" dirty="0" err="1">
                  <a:latin typeface="Arial" panose="020B0604020202020204" pitchFamily="34" charset="0"/>
                  <a:sym typeface="Symbol" panose="05050102010706020507" pitchFamily="18" charset="2"/>
                </a:rPr>
                <a:t>eq</a:t>
              </a:r>
              <a:r>
                <a:rPr lang="es-ES" sz="2400" b="0" dirty="0">
                  <a:latin typeface="Arial" panose="020B0604020202020204" pitchFamily="34" charset="0"/>
                  <a:sym typeface="Symbol" panose="05050102010706020507" pitchFamily="18" charset="2"/>
                </a:rPr>
                <a:t> = N C</a:t>
              </a:r>
              <a:endPara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7905" name="Text Box 21"/>
          <p:cNvSpPr txBox="1">
            <a:spLocks noChangeArrowheads="1"/>
          </p:cNvSpPr>
          <p:nvPr/>
        </p:nvSpPr>
        <p:spPr bwMode="auto">
          <a:xfrm>
            <a:off x="3419415" y="5385457"/>
            <a:ext cx="1976438" cy="6492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s-ES" sz="2400" b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1548672" y="5374345"/>
            <a:ext cx="1586413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Si son 2:</a:t>
            </a: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229043" y="3985506"/>
            <a:ext cx="4238959" cy="1042576"/>
            <a:chOff x="1274640" y="3392032"/>
            <a:chExt cx="4239639" cy="1043674"/>
          </a:xfrm>
        </p:grpSpPr>
        <p:sp>
          <p:nvSpPr>
            <p:cNvPr id="37902" name="Text Box 14"/>
            <p:cNvSpPr txBox="1">
              <a:spLocks noChangeArrowheads="1"/>
            </p:cNvSpPr>
            <p:nvPr/>
          </p:nvSpPr>
          <p:spPr bwMode="auto">
            <a:xfrm>
              <a:off x="3456815" y="3965806"/>
              <a:ext cx="15779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i = 1, 2, 3, ...</a:t>
              </a:r>
            </a:p>
          </p:txBody>
        </p:sp>
        <p:sp>
          <p:nvSpPr>
            <p:cNvPr id="37903" name="Text Box 13"/>
            <p:cNvSpPr txBox="1">
              <a:spLocks noChangeArrowheads="1"/>
            </p:cNvSpPr>
            <p:nvPr/>
          </p:nvSpPr>
          <p:spPr bwMode="auto">
            <a:xfrm>
              <a:off x="1274640" y="3392032"/>
              <a:ext cx="4239639" cy="537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Como:    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i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/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i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 = Q /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</a:t>
              </a:r>
              <a:endParaRPr lang="es-ES" sz="2400" b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1238568" y="443404"/>
            <a:ext cx="611286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 N condensadores iguales de capacidad C</a:t>
            </a:r>
            <a:endParaRPr lang="es-ES" sz="2400" b="0" baseline="-2500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" name="Text Box 13">
            <a:extLst>
              <a:ext uri="{FF2B5EF4-FFF2-40B4-BE49-F238E27FC236}">
                <a16:creationId xmlns:a16="http://schemas.microsoft.com/office/drawing/2014/main" id="{F9F96B4D-83D9-4B28-87CC-294F63A3C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012" y="1071781"/>
            <a:ext cx="635319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="0" baseline="-250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 C</a:t>
            </a:r>
            <a:r>
              <a: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, siempre, con C</a:t>
            </a:r>
            <a:r>
              <a: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 iguales o diferentes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35D47A-8721-45D8-8041-9023B53CA7DC}"/>
              </a:ext>
            </a:extLst>
          </p:cNvPr>
          <p:cNvGrpSpPr/>
          <p:nvPr/>
        </p:nvGrpSpPr>
        <p:grpSpPr>
          <a:xfrm>
            <a:off x="5596824" y="3982313"/>
            <a:ext cx="4640943" cy="670177"/>
            <a:chOff x="5596824" y="4013135"/>
            <a:chExt cx="4640943" cy="670177"/>
          </a:xfrm>
        </p:grpSpPr>
        <p:grpSp>
          <p:nvGrpSpPr>
            <p:cNvPr id="5" name="Grupo 4"/>
            <p:cNvGrpSpPr>
              <a:grpSpLocks/>
            </p:cNvGrpSpPr>
            <p:nvPr/>
          </p:nvGrpSpPr>
          <p:grpSpPr bwMode="auto">
            <a:xfrm>
              <a:off x="7594162" y="4013135"/>
              <a:ext cx="2643605" cy="670177"/>
              <a:chOff x="5053707" y="3530475"/>
              <a:chExt cx="2643605" cy="670177"/>
            </a:xfrm>
          </p:grpSpPr>
          <p:sp>
            <p:nvSpPr>
              <p:cNvPr id="37909" name="Rectangle 12"/>
              <p:cNvSpPr>
                <a:spLocks noChangeArrowheads="1"/>
              </p:cNvSpPr>
              <p:nvPr/>
            </p:nvSpPr>
            <p:spPr bwMode="auto">
              <a:xfrm>
                <a:off x="5279549" y="3530475"/>
                <a:ext cx="2417763" cy="670177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910" name="Text Box 13"/>
              <p:cNvSpPr txBox="1">
                <a:spLocks noChangeArrowheads="1"/>
              </p:cNvSpPr>
              <p:nvPr/>
            </p:nvSpPr>
            <p:spPr bwMode="auto">
              <a:xfrm>
                <a:off x="5053707" y="3600433"/>
                <a:ext cx="2629544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   </a:t>
                </a:r>
                <a:r>
                  <a:rPr lang="es-ES" sz="2400" b="0" dirty="0" err="1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Q</a:t>
                </a:r>
                <a:r>
                  <a:rPr lang="es-ES" sz="2400" b="0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i</a:t>
                </a: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= Q (C</a:t>
                </a:r>
                <a:r>
                  <a:rPr lang="es-ES" sz="2400" b="0" baseline="-25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i </a:t>
                </a: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/ </a:t>
                </a:r>
                <a:r>
                  <a:rPr lang="es-ES" sz="2400" b="0" dirty="0" err="1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C</a:t>
                </a:r>
                <a:r>
                  <a:rPr lang="es-ES" sz="2400" b="0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eq</a:t>
                </a:r>
                <a:r>
                  <a:rPr lang="es-ES" sz="2400" b="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)</a:t>
                </a:r>
                <a:endParaRPr lang="es-ES" sz="2400" b="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p:grp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FF7016C-FB90-4FA7-8BBD-2ACDEF56AE5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596824" y="4328323"/>
              <a:ext cx="217215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lg"/>
              <a:tailEnd type="none" w="med" len="lg"/>
            </a:ln>
            <a:effectLst/>
          </p:spPr>
        </p:cxn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4B86D43D-BF73-44E3-BB4C-ABFEE56B3A91}"/>
              </a:ext>
            </a:extLst>
          </p:cNvPr>
          <p:cNvGrpSpPr/>
          <p:nvPr/>
        </p:nvGrpSpPr>
        <p:grpSpPr>
          <a:xfrm>
            <a:off x="5596824" y="5260257"/>
            <a:ext cx="4626882" cy="1150818"/>
            <a:chOff x="5596824" y="5647282"/>
            <a:chExt cx="4626882" cy="1150818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AD5F4BAD-9090-4993-BF6E-61C90079947D}"/>
                </a:ext>
              </a:extLst>
            </p:cNvPr>
            <p:cNvSpPr/>
            <p:nvPr/>
          </p:nvSpPr>
          <p:spPr bwMode="auto">
            <a:xfrm>
              <a:off x="7812308" y="5647282"/>
              <a:ext cx="2411398" cy="1150818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Text Box 15">
              <a:extLst>
                <a:ext uri="{FF2B5EF4-FFF2-40B4-BE49-F238E27FC236}">
                  <a16:creationId xmlns:a16="http://schemas.microsoft.com/office/drawing/2014/main" id="{D9FA57C4-112A-436E-B0D8-951AADDCA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2258" y="5885954"/>
              <a:ext cx="1247219" cy="53654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82800" rIns="54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Q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Q</a:t>
              </a:r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CB307A1F-CC4A-4C14-9764-2C57C7A4680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596824" y="6163434"/>
              <a:ext cx="2145155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lg"/>
              <a:tailEnd type="none" w="med" len="lg"/>
            </a:ln>
            <a:effectLst/>
          </p:spPr>
        </p:cxnSp>
        <p:sp>
          <p:nvSpPr>
            <p:cNvPr id="31" name="Text Box 15">
              <a:extLst>
                <a:ext uri="{FF2B5EF4-FFF2-40B4-BE49-F238E27FC236}">
                  <a16:creationId xmlns:a16="http://schemas.microsoft.com/office/drawing/2014/main" id="{553CA990-F085-453B-81DF-17E076C53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3078" y="6190840"/>
              <a:ext cx="1331846" cy="53654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82800" rIns="54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 </a:t>
              </a: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+ 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2" name="Text Box 15">
              <a:extLst>
                <a:ext uri="{FF2B5EF4-FFF2-40B4-BE49-F238E27FC236}">
                  <a16:creationId xmlns:a16="http://schemas.microsoft.com/office/drawing/2014/main" id="{B3374C1B-B510-48A4-9B85-9E75CBA41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39111" y="5647282"/>
              <a:ext cx="559781" cy="53654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82800" rIns="54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b="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endPara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047DBC63-BEC3-4FF9-BE23-FC3917FB72B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79001" y="6194421"/>
              <a:ext cx="1080000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2" name="Text Box 13">
            <a:extLst>
              <a:ext uri="{FF2B5EF4-FFF2-40B4-BE49-F238E27FC236}">
                <a16:creationId xmlns:a16="http://schemas.microsoft.com/office/drawing/2014/main" id="{459578C9-899B-0E60-8CE2-D16EC1DF5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330" y="6433059"/>
            <a:ext cx="862883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Cada uno se queda de Q su porcentaje de capacidad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5" grpId="0" animBg="1"/>
      <p:bldP spid="8" grpId="0" animBg="1"/>
      <p:bldP spid="34" grpId="0"/>
      <p:bldP spid="24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6" name="Text Box 8"/>
          <p:cNvSpPr txBox="1">
            <a:spLocks noChangeArrowheads="1"/>
          </p:cNvSpPr>
          <p:nvPr/>
        </p:nvSpPr>
        <p:spPr bwMode="auto">
          <a:xfrm>
            <a:off x="1316138" y="429584"/>
            <a:ext cx="874499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Para los </a:t>
            </a: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mismos condensadores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para la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misma V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aplicada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7424784" y="6022085"/>
            <a:ext cx="2655887" cy="609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0">
                <a:latin typeface="Arial" panose="020B0604020202020204" pitchFamily="34" charset="0"/>
              </a:rPr>
              <a:t>U</a:t>
            </a:r>
            <a:r>
              <a:rPr lang="es-ES" sz="2400" b="0" baseline="-25000">
                <a:latin typeface="Arial" panose="020B0604020202020204" pitchFamily="34" charset="0"/>
              </a:rPr>
              <a:t>PARALELO</a:t>
            </a:r>
            <a:r>
              <a:rPr lang="es-ES" sz="2400" b="0">
                <a:latin typeface="Arial" panose="020B0604020202020204" pitchFamily="34" charset="0"/>
              </a:rPr>
              <a:t> &gt; U</a:t>
            </a:r>
            <a:r>
              <a:rPr lang="es-ES" sz="2400" b="0" baseline="-25000">
                <a:latin typeface="Arial" panose="020B0604020202020204" pitchFamily="34" charset="0"/>
              </a:rPr>
              <a:t>SERIE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7418237" y="5099452"/>
            <a:ext cx="2687637" cy="609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0">
                <a:latin typeface="Arial" panose="020B0604020202020204" pitchFamily="34" charset="0"/>
              </a:rPr>
              <a:t>Q</a:t>
            </a:r>
            <a:r>
              <a:rPr lang="es-ES" sz="2400" b="0" baseline="-25000">
                <a:latin typeface="Arial" panose="020B0604020202020204" pitchFamily="34" charset="0"/>
              </a:rPr>
              <a:t>PARALELO</a:t>
            </a:r>
            <a:r>
              <a:rPr lang="es-ES" sz="2400" b="0">
                <a:latin typeface="Arial" panose="020B0604020202020204" pitchFamily="34" charset="0"/>
              </a:rPr>
              <a:t> &gt; Q</a:t>
            </a:r>
            <a:r>
              <a:rPr lang="es-ES" sz="2400" b="0" baseline="-25000">
                <a:latin typeface="Arial" panose="020B0604020202020204" pitchFamily="34" charset="0"/>
              </a:rPr>
              <a:t>SERIE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411659" name="Text Box 11"/>
          <p:cNvSpPr txBox="1">
            <a:spLocks noChangeArrowheads="1"/>
          </p:cNvSpPr>
          <p:nvPr/>
        </p:nvSpPr>
        <p:spPr bwMode="auto">
          <a:xfrm>
            <a:off x="5370052" y="2075851"/>
            <a:ext cx="3524250" cy="6080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EQ(PARALELO)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&gt;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EQ(SERIE)</a:t>
            </a:r>
            <a:endParaRPr lang="es-E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911" name="Text Box 18"/>
          <p:cNvSpPr txBox="1">
            <a:spLocks noChangeArrowheads="1"/>
          </p:cNvSpPr>
          <p:nvPr/>
        </p:nvSpPr>
        <p:spPr bwMode="auto">
          <a:xfrm>
            <a:off x="4576823" y="5164539"/>
            <a:ext cx="1637284" cy="53654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Q = CV</a:t>
            </a:r>
          </a:p>
        </p:txBody>
      </p:sp>
      <p:sp>
        <p:nvSpPr>
          <p:cNvPr id="37912" name="Text Box 19"/>
          <p:cNvSpPr txBox="1">
            <a:spLocks noChangeArrowheads="1"/>
          </p:cNvSpPr>
          <p:nvPr/>
        </p:nvSpPr>
        <p:spPr bwMode="auto">
          <a:xfrm>
            <a:off x="4568020" y="6085585"/>
            <a:ext cx="1637284" cy="53654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U = ½ CV</a:t>
            </a:r>
            <a:r>
              <a:rPr lang="es-ES" sz="2400" b="0" baseline="30000">
                <a:latin typeface="Arial" panose="020B0604020202020204" pitchFamily="34" charset="0"/>
              </a:rPr>
              <a:t>2</a:t>
            </a:r>
            <a:endParaRPr lang="es-ES" sz="2400" b="0"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485317" y="5941408"/>
            <a:ext cx="2671446" cy="830997"/>
            <a:chOff x="2151385" y="5356036"/>
            <a:chExt cx="2671446" cy="830997"/>
          </a:xfrm>
        </p:grpSpPr>
        <p:sp>
          <p:nvSpPr>
            <p:cNvPr id="2" name="CuadroTexto 1"/>
            <p:cNvSpPr txBox="1"/>
            <p:nvPr/>
          </p:nvSpPr>
          <p:spPr>
            <a:xfrm>
              <a:off x="2151385" y="5356036"/>
              <a:ext cx="26250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0" dirty="0">
                  <a:solidFill>
                    <a:srgbClr val="008000"/>
                  </a:solidFill>
                </a:rPr>
                <a:t>Energía almacenada</a:t>
              </a:r>
              <a:endParaRPr lang="en-GB" sz="2400" b="0" dirty="0">
                <a:solidFill>
                  <a:srgbClr val="008000"/>
                </a:solidFill>
              </a:endParaRPr>
            </a:p>
          </p:txBody>
        </p:sp>
        <p:cxnSp>
          <p:nvCxnSpPr>
            <p:cNvPr id="12" name="Conector recto de flecha 11"/>
            <p:cNvCxnSpPr/>
            <p:nvPr/>
          </p:nvCxnSpPr>
          <p:spPr bwMode="auto">
            <a:xfrm>
              <a:off x="4141274" y="5768500"/>
              <a:ext cx="681557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35" name="Group 23"/>
          <p:cNvGrpSpPr>
            <a:grpSpLocks/>
          </p:cNvGrpSpPr>
          <p:nvPr/>
        </p:nvGrpSpPr>
        <p:grpSpPr bwMode="auto">
          <a:xfrm>
            <a:off x="2248054" y="2438630"/>
            <a:ext cx="2378076" cy="590550"/>
            <a:chOff x="3972" y="975"/>
            <a:chExt cx="1498" cy="372"/>
          </a:xfrm>
        </p:grpSpPr>
        <p:sp>
          <p:nvSpPr>
            <p:cNvPr id="36" name="Rectangle 14"/>
            <p:cNvSpPr>
              <a:spLocks noChangeArrowheads="1"/>
            </p:cNvSpPr>
            <p:nvPr/>
          </p:nvSpPr>
          <p:spPr bwMode="auto">
            <a:xfrm>
              <a:off x="3972" y="975"/>
              <a:ext cx="1498" cy="37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 Box 15"/>
            <p:cNvSpPr txBox="1">
              <a:spLocks noChangeArrowheads="1"/>
            </p:cNvSpPr>
            <p:nvPr/>
          </p:nvSpPr>
          <p:spPr bwMode="auto">
            <a:xfrm>
              <a:off x="3972" y="977"/>
              <a:ext cx="149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b="0" baseline="-25000">
                  <a:latin typeface="Arial" panose="020B0604020202020204" pitchFamily="34" charset="0"/>
                  <a:sym typeface="Symbol" panose="05050102010706020507" pitchFamily="18" charset="2"/>
                </a:rPr>
                <a:t>eq(paralelo)</a:t>
              </a:r>
              <a:r>
                <a:rPr lang="es-ES" sz="2400" b="0">
                  <a:latin typeface="Arial" panose="020B0604020202020204" pitchFamily="34" charset="0"/>
                  <a:sym typeface="Symbol" panose="05050102010706020507" pitchFamily="18" charset="2"/>
                </a:rPr>
                <a:t> = N C</a:t>
              </a:r>
              <a:endParaRPr lang="es-ES" sz="2400" b="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8" name="Grupo 37"/>
          <p:cNvGrpSpPr>
            <a:grpSpLocks/>
          </p:cNvGrpSpPr>
          <p:nvPr/>
        </p:nvGrpSpPr>
        <p:grpSpPr bwMode="auto">
          <a:xfrm>
            <a:off x="2050900" y="1678497"/>
            <a:ext cx="2575230" cy="660782"/>
            <a:chOff x="6540886" y="1506219"/>
            <a:chExt cx="2575230" cy="660782"/>
          </a:xfrm>
        </p:grpSpPr>
        <p:sp>
          <p:nvSpPr>
            <p:cNvPr id="39" name="Rectangle 11"/>
            <p:cNvSpPr>
              <a:spLocks noChangeArrowheads="1"/>
            </p:cNvSpPr>
            <p:nvPr/>
          </p:nvSpPr>
          <p:spPr bwMode="auto">
            <a:xfrm>
              <a:off x="6741975" y="1506219"/>
              <a:ext cx="2374141" cy="66078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Text Box 12"/>
            <p:cNvSpPr txBox="1">
              <a:spLocks noChangeArrowheads="1"/>
            </p:cNvSpPr>
            <p:nvPr/>
          </p:nvSpPr>
          <p:spPr bwMode="auto">
            <a:xfrm>
              <a:off x="6540886" y="1547252"/>
              <a:ext cx="2518936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eq(serie)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C / N</a:t>
              </a:r>
              <a:endParaRPr lang="es-ES" sz="2400" b="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1" name="Flecha derecha 10"/>
          <p:cNvSpPr/>
          <p:nvPr/>
        </p:nvSpPr>
        <p:spPr bwMode="auto">
          <a:xfrm>
            <a:off x="4728690" y="2117023"/>
            <a:ext cx="541963" cy="55530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8" name="Grupo 17"/>
          <p:cNvGrpSpPr/>
          <p:nvPr/>
        </p:nvGrpSpPr>
        <p:grpSpPr>
          <a:xfrm>
            <a:off x="1505402" y="5012839"/>
            <a:ext cx="2656597" cy="830997"/>
            <a:chOff x="2787543" y="6200078"/>
            <a:chExt cx="2656597" cy="830997"/>
          </a:xfrm>
        </p:grpSpPr>
        <p:sp>
          <p:nvSpPr>
            <p:cNvPr id="20" name="CuadroTexto 19"/>
            <p:cNvSpPr txBox="1"/>
            <p:nvPr/>
          </p:nvSpPr>
          <p:spPr>
            <a:xfrm>
              <a:off x="2787543" y="6200078"/>
              <a:ext cx="25189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0" dirty="0">
                  <a:solidFill>
                    <a:srgbClr val="008000"/>
                  </a:solidFill>
                </a:rPr>
                <a:t>Carga almacenada</a:t>
              </a:r>
              <a:endParaRPr lang="en-GB" sz="2400" b="0" dirty="0">
                <a:solidFill>
                  <a:srgbClr val="008000"/>
                </a:solidFill>
              </a:endParaRPr>
            </a:p>
          </p:txBody>
        </p:sp>
        <p:cxnSp>
          <p:nvCxnSpPr>
            <p:cNvPr id="21" name="Conector recto de flecha 20"/>
            <p:cNvCxnSpPr/>
            <p:nvPr/>
          </p:nvCxnSpPr>
          <p:spPr bwMode="auto">
            <a:xfrm>
              <a:off x="4762583" y="6618478"/>
              <a:ext cx="681557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sp>
        <p:nvSpPr>
          <p:cNvPr id="22" name="Flecha derecha 21"/>
          <p:cNvSpPr/>
          <p:nvPr/>
        </p:nvSpPr>
        <p:spPr bwMode="auto">
          <a:xfrm>
            <a:off x="6591055" y="5159656"/>
            <a:ext cx="492694" cy="55530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3" name="Flecha derecha 22"/>
          <p:cNvSpPr/>
          <p:nvPr/>
        </p:nvSpPr>
        <p:spPr bwMode="auto">
          <a:xfrm>
            <a:off x="6608372" y="6064385"/>
            <a:ext cx="492694" cy="55530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5260605" y="2709653"/>
            <a:ext cx="524243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(se verifica con C</a:t>
            </a:r>
            <a:r>
              <a:rPr lang="es-ES" sz="2400" b="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iguales o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distintas)</a:t>
            </a:r>
            <a:endParaRPr lang="es-ES" sz="2400" b="0" baseline="-250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1534194" y="1073902"/>
            <a:ext cx="218551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b="0">
                <a:latin typeface="Arial" panose="020B0604020202020204" pitchFamily="34" charset="0"/>
              </a:rPr>
              <a:t>Si son </a:t>
            </a:r>
            <a:r>
              <a:rPr lang="es-ES" sz="2400" b="0" dirty="0">
                <a:latin typeface="Arial" panose="020B0604020202020204" pitchFamily="34" charset="0"/>
              </a:rPr>
              <a:t>iguales:</a:t>
            </a:r>
            <a:endParaRPr lang="es-ES" sz="2400" b="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2231769" y="3412770"/>
            <a:ext cx="7087778" cy="132610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08000" rIns="144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 b="0" dirty="0">
                <a:latin typeface="Arial" panose="020B0604020202020204" pitchFamily="34" charset="0"/>
              </a:rPr>
              <a:t>Para obtener una </a:t>
            </a:r>
            <a:r>
              <a:rPr lang="es-ES" sz="2400" b="0" dirty="0">
                <a:solidFill>
                  <a:srgbClr val="3333FF"/>
                </a:solidFill>
                <a:latin typeface="Arial" panose="020B0604020202020204" pitchFamily="34" charset="0"/>
              </a:rPr>
              <a:t>C distinta de las que se venden</a:t>
            </a:r>
            <a:r>
              <a:rPr lang="es-ES" sz="2400" b="0" dirty="0">
                <a:latin typeface="Arial" panose="020B0604020202020204" pitchFamily="34" charset="0"/>
              </a:rPr>
              <a:t>, se pueden asociar las que se venden: en serie, en paralelo, o en una mezcla de serie y paralelo</a:t>
            </a:r>
            <a:endParaRPr lang="es-ES" sz="2400" b="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8178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6" grpId="0"/>
      <p:bldP spid="6" grpId="0" animBg="1"/>
      <p:bldP spid="7" grpId="0" animBg="1"/>
      <p:bldP spid="411659" grpId="0" animBg="1"/>
      <p:bldP spid="37911" grpId="0" animBg="1"/>
      <p:bldP spid="37912" grpId="0" animBg="1"/>
      <p:bldP spid="11" grpId="0" animBg="1"/>
      <p:bldP spid="22" grpId="0" animBg="1"/>
      <p:bldP spid="23" grpId="0" animBg="1"/>
      <p:bldP spid="24" grpId="0"/>
      <p:bldP spid="25" grpId="0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00587"/>
      </p:ext>
    </p:extLst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10545</TotalTime>
  <Words>2910</Words>
  <Application>Microsoft Office PowerPoint</Application>
  <PresentationFormat>Personalizado</PresentationFormat>
  <Paragraphs>543</Paragraphs>
  <Slides>28</Slides>
  <Notes>27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1584</cp:revision>
  <dcterms:created xsi:type="dcterms:W3CDTF">2012-02-20T13:06:36Z</dcterms:created>
  <dcterms:modified xsi:type="dcterms:W3CDTF">2024-10-25T09:11:38Z</dcterms:modified>
</cp:coreProperties>
</file>