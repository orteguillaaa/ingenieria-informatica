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handoutMasterIdLst>
    <p:handoutMasterId r:id="rId27"/>
  </p:handoutMasterIdLst>
  <p:sldIdLst>
    <p:sldId id="442" r:id="rId2"/>
    <p:sldId id="586" r:id="rId3"/>
    <p:sldId id="500" r:id="rId4"/>
    <p:sldId id="535" r:id="rId5"/>
    <p:sldId id="522" r:id="rId6"/>
    <p:sldId id="510" r:id="rId7"/>
    <p:sldId id="537" r:id="rId8"/>
    <p:sldId id="494" r:id="rId9"/>
    <p:sldId id="495" r:id="rId10"/>
    <p:sldId id="539" r:id="rId11"/>
    <p:sldId id="544" r:id="rId12"/>
    <p:sldId id="524" r:id="rId13"/>
    <p:sldId id="545" r:id="rId14"/>
    <p:sldId id="497" r:id="rId15"/>
    <p:sldId id="557" r:id="rId16"/>
    <p:sldId id="498" r:id="rId17"/>
    <p:sldId id="556" r:id="rId18"/>
    <p:sldId id="553" r:id="rId19"/>
    <p:sldId id="516" r:id="rId20"/>
    <p:sldId id="540" r:id="rId21"/>
    <p:sldId id="517" r:id="rId22"/>
    <p:sldId id="581" r:id="rId23"/>
    <p:sldId id="521" r:id="rId24"/>
    <p:sldId id="327" r:id="rId25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D60093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7A5"/>
    <a:srgbClr val="FFFF99"/>
    <a:srgbClr val="3333FF"/>
    <a:srgbClr val="CCFFCC"/>
    <a:srgbClr val="FFFFFF"/>
    <a:srgbClr val="008000"/>
    <a:srgbClr val="C0C0C0"/>
    <a:srgbClr val="FF99CC"/>
    <a:srgbClr val="99CCFF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236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AD7634F-7F8F-4AB9-81F6-49A7ED84001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931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841037A-B00A-4E0D-810C-3672DCDB88F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539409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B9659729-7A06-434B-B4B9-F1FDB41A4329}" type="slidenum">
              <a:rPr lang="es-ES" sz="1200" smtClean="0">
                <a:solidFill>
                  <a:schemeClr val="tx1"/>
                </a:solidFill>
              </a:rPr>
              <a:pPr/>
              <a:t>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1947889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ED54D28-C454-45EF-9776-12C9DE92A777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58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0B2F4DD-76C4-43A8-97F4-C679FAB51DCF}" type="slidenum">
              <a:rPr lang="es-ES" sz="1200" smtClean="0">
                <a:solidFill>
                  <a:schemeClr val="tx1"/>
                </a:solidFill>
              </a:rPr>
              <a:pPr/>
              <a:t>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6629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6630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6631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B8EEC5DD-515F-4EB2-B343-D7E3FE58D76B}" type="slidenum">
              <a:rPr lang="es-ES" sz="1200">
                <a:solidFill>
                  <a:schemeClr val="tx1"/>
                </a:solidFill>
              </a:rPr>
              <a:pPr algn="r" eaLnBrk="1" hangingPunct="1"/>
              <a:t>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66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0075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6339440C-765A-460D-ABB2-91C2D52A5D34}" type="slidenum">
              <a:rPr lang="es-ES" sz="1200" smtClean="0">
                <a:solidFill>
                  <a:schemeClr val="tx1"/>
                </a:solidFill>
              </a:rPr>
              <a:pPr/>
              <a:t>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8677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28678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28679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118089DF-161B-427C-8917-E952E1A09C7B}" type="slidenum">
              <a:rPr lang="es-ES" sz="1200">
                <a:solidFill>
                  <a:schemeClr val="tx1"/>
                </a:solidFill>
              </a:rPr>
              <a:pPr algn="r" eaLnBrk="1" hangingPunct="1"/>
              <a:t>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286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8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135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5FB7534A-0653-4F71-A69F-CC6647348177}" type="slidenum">
              <a:rPr lang="es-ES" sz="1200" smtClean="0">
                <a:solidFill>
                  <a:schemeClr val="tx1"/>
                </a:solidFill>
              </a:rPr>
              <a:pPr/>
              <a:t>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0725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0726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0727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06C65A2F-00BC-436E-BDB2-3E4BD1951403}" type="slidenum">
              <a:rPr lang="es-ES" sz="1200">
                <a:solidFill>
                  <a:schemeClr val="tx1"/>
                </a:solidFill>
              </a:rPr>
              <a:pPr algn="r" eaLnBrk="1" hangingPunct="1"/>
              <a:t>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07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21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818BB29-48D5-4DB7-86FC-2211EA1A1166}" type="slidenum">
              <a:rPr lang="es-ES" sz="1200">
                <a:solidFill>
                  <a:schemeClr val="tx1"/>
                </a:solidFill>
              </a:rPr>
              <a:pPr algn="r" eaLnBrk="1" hangingPunct="1"/>
              <a:t>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932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6818BB29-48D5-4DB7-86FC-2211EA1A1166}" type="slidenum">
              <a:rPr lang="es-ES" sz="1200">
                <a:solidFill>
                  <a:schemeClr val="tx1"/>
                </a:solidFill>
              </a:rPr>
              <a:pPr algn="r" eaLnBrk="1" hangingPunct="1"/>
              <a:t>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389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E1CC155E-178B-48ED-9F4F-F210228CE9F2}" type="slidenum">
              <a:rPr lang="es-ES" sz="1200" smtClean="0">
                <a:solidFill>
                  <a:schemeClr val="tx1"/>
                </a:solidFill>
              </a:rPr>
              <a:pPr/>
              <a:t>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3116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093A2B7-0A79-4A0E-94C5-6F07E76236AF}" type="slidenum">
              <a:rPr lang="es-ES" sz="1200" smtClean="0">
                <a:solidFill>
                  <a:schemeClr val="tx1"/>
                </a:solidFill>
              </a:rPr>
              <a:pPr/>
              <a:t>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18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093A2B7-0A79-4A0E-94C5-6F07E76236AF}" type="slidenum">
              <a:rPr lang="es-ES" sz="1200" smtClean="0">
                <a:solidFill>
                  <a:schemeClr val="tx1"/>
                </a:solidFill>
              </a:rPr>
              <a:pPr/>
              <a:t>10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093A2B7-0A79-4A0E-94C5-6F07E76236AF}" type="slidenum">
              <a:rPr lang="es-ES" sz="1200" smtClean="0">
                <a:solidFill>
                  <a:schemeClr val="tx1"/>
                </a:solidFill>
              </a:rPr>
              <a:pPr/>
              <a:t>11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58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37359A2C-8F1D-47E0-A3E2-3C90DB3784B4}" type="slidenum">
              <a:rPr lang="es-ES" sz="1200" smtClean="0">
                <a:solidFill>
                  <a:schemeClr val="tx1"/>
                </a:solidFill>
              </a:rPr>
              <a:pPr/>
              <a:t>12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201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37359A2C-8F1D-47E0-A3E2-3C90DB3784B4}" type="slidenum">
              <a:rPr lang="es-ES" sz="1200" smtClean="0">
                <a:solidFill>
                  <a:schemeClr val="tx1"/>
                </a:solidFill>
              </a:rPr>
              <a:pPr/>
              <a:t>13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416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1B7D050F-9663-4C74-8E39-A1E8DA6AF977}" type="slidenum">
              <a:rPr lang="es-ES" sz="1200" smtClean="0">
                <a:solidFill>
                  <a:schemeClr val="tx1"/>
                </a:solidFill>
              </a:rPr>
              <a:pPr/>
              <a:t>14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/>
          </a:p>
        </p:txBody>
      </p:sp>
    </p:spTree>
    <p:extLst>
      <p:ext uri="{BB962C8B-B14F-4D97-AF65-F5344CB8AC3E}">
        <p14:creationId xmlns:p14="http://schemas.microsoft.com/office/powerpoint/2010/main" val="1318882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1B7D050F-9663-4C74-8E39-A1E8DA6AF977}" type="slidenum">
              <a:rPr lang="es-ES" sz="1200" smtClean="0">
                <a:solidFill>
                  <a:schemeClr val="tx1"/>
                </a:solidFill>
              </a:rPr>
              <a:pPr/>
              <a:t>15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3306630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B663B70C-84BD-4F57-92A9-3FF75A76862E}" type="slidenum">
              <a:rPr lang="es-ES" sz="1200" smtClean="0">
                <a:solidFill>
                  <a:schemeClr val="tx1"/>
                </a:solidFill>
              </a:rPr>
              <a:pPr/>
              <a:t>16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820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B663B70C-84BD-4F57-92A9-3FF75A76862E}" type="slidenum">
              <a:rPr lang="es-ES" sz="1200" smtClean="0">
                <a:solidFill>
                  <a:schemeClr val="tx1"/>
                </a:solidFill>
              </a:rPr>
              <a:pPr/>
              <a:t>17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5553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68656" indent="-295637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68656" indent="-295637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68656" indent="-295637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82548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55567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128586" indent="-236510" defTabSz="947681"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601605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3074624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54764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4020663" indent="-236510" defTabSz="947681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29922BEE-9905-49FC-851A-557A242948DD}" type="slidenum">
              <a:rPr lang="es-ES" sz="1200">
                <a:solidFill>
                  <a:schemeClr val="tx1"/>
                </a:solidFill>
              </a:rPr>
              <a:pPr/>
              <a:t>18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7057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DD8B2FD3-48EA-493A-A42E-58B07CFC3395}" type="slidenum">
              <a:rPr lang="es-ES" sz="1200" smtClean="0">
                <a:solidFill>
                  <a:schemeClr val="tx1"/>
                </a:solidFill>
              </a:rPr>
              <a:pPr/>
              <a:t>19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167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2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DD8B2FD3-48EA-493A-A42E-58B07CFC3395}" type="slidenum">
              <a:rPr lang="es-ES" sz="1200" smtClean="0">
                <a:solidFill>
                  <a:schemeClr val="tx1"/>
                </a:solidFill>
              </a:rPr>
              <a:pPr/>
              <a:t>20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571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fld id="{AEB83FEF-7A3B-4597-9F34-C2F1073EEC05}" type="slidenum">
              <a:rPr lang="es-ES" sz="1200" smtClean="0">
                <a:solidFill>
                  <a:schemeClr val="tx1"/>
                </a:solidFill>
              </a:rPr>
              <a:pPr/>
              <a:t>21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53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B91E849-57E5-4DA0-ACA6-C9A4EE315A78}" type="slidenum">
              <a:rPr lang="es-ES" sz="1200">
                <a:solidFill>
                  <a:schemeClr val="tx1"/>
                </a:solidFill>
              </a:rPr>
              <a:pPr algn="r" eaLnBrk="1" hangingPunct="1"/>
              <a:t>22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134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1200">
                <a:solidFill>
                  <a:schemeClr val="tx1"/>
                </a:solidFill>
              </a:rPr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612" tIns="45805" rIns="91612" bIns="45805" anchor="b"/>
          <a:lstStyle>
            <a:lvl1pPr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5B91E849-57E5-4DA0-ACA6-C9A4EE315A78}" type="slidenum">
              <a:rPr lang="es-ES" sz="1200">
                <a:solidFill>
                  <a:schemeClr val="tx1"/>
                </a:solidFill>
              </a:rPr>
              <a:pPr algn="r" eaLnBrk="1" hangingPunct="1"/>
              <a:t>23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569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2748F-9115-4660-A543-E7FD11B5BE2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69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3E794-82E9-43A7-A56A-350E6AB900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816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6600" y="1795463"/>
            <a:ext cx="9317038" cy="29956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36600" y="4819650"/>
            <a:ext cx="9317038" cy="15748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0861C-658C-482D-ADFD-FA01DFA555B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77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B4F11-90C2-4B52-803C-F9977E1C6C3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97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384175"/>
            <a:ext cx="9315450" cy="13906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4538" y="1765300"/>
            <a:ext cx="4568825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44538" y="2630488"/>
            <a:ext cx="4568825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468938" y="1765300"/>
            <a:ext cx="4591050" cy="8651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468938" y="2630488"/>
            <a:ext cx="4591050" cy="38687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52C9B-1A11-4AF8-96F6-C1B3A0EB040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939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CA3CC-B6EE-4288-B499-B9C93C0A386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724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73E290-7C60-4E1B-BBD9-15612CFFCE7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214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DF37E-5E83-446E-9607-80A5DB217C2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22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4538" y="479425"/>
            <a:ext cx="3482975" cy="16811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92638" y="1036638"/>
            <a:ext cx="5467350" cy="5118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44538" y="2160588"/>
            <a:ext cx="3482975" cy="40020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0908C-771B-4BD7-8949-3C34291C5EF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98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C6E0A-6299-4432-BDE2-2D9B22E9C72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634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15FCE-7E84-4978-8701-21F8DBD6F5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42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E0B1E-463A-4989-B0FE-576BA6219E6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90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143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287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4305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defTabSz="10287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s-ES" sz="2700"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defTabSz="1028700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FC40925-6E82-4D7F-B573-E3910E9C73D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3.bin"/><Relationship Id="rId25" Type="http://schemas.openxmlformats.org/officeDocument/2006/relationships/oleObject" Target="../embeddings/oleObject80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wmf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0.bin"/><Relationship Id="rId28" Type="http://schemas.openxmlformats.org/officeDocument/2006/relationships/image" Target="../media/image16.wmf"/><Relationship Id="rId10" Type="http://schemas.openxmlformats.org/officeDocument/2006/relationships/image" Target="../media/image6.png"/><Relationship Id="rId4" Type="http://schemas.openxmlformats.org/officeDocument/2006/relationships/image" Target="../media/image11.wmf"/><Relationship Id="rId9" Type="http://schemas.openxmlformats.org/officeDocument/2006/relationships/image" Target="../media/image7.png"/><Relationship Id="rId14" Type="http://schemas.openxmlformats.org/officeDocument/2006/relationships/image" Target="../media/image15.wmf"/><Relationship Id="rId27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8.png"/><Relationship Id="rId3" Type="http://schemas.openxmlformats.org/officeDocument/2006/relationships/oleObject" Target="../embeddings/oleObject13.bin"/><Relationship Id="rId21" Type="http://schemas.openxmlformats.org/officeDocument/2006/relationships/image" Target="../media/image38.png"/><Relationship Id="rId7" Type="http://schemas.openxmlformats.org/officeDocument/2006/relationships/image" Target="../media/image13.wmf"/><Relationship Id="rId17" Type="http://schemas.openxmlformats.org/officeDocument/2006/relationships/image" Target="../media/image22.wmf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17.bin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0.wmf"/><Relationship Id="rId5" Type="http://schemas.openxmlformats.org/officeDocument/2006/relationships/image" Target="../media/image6.png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15.bin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8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2.bin"/><Relationship Id="rId26" Type="http://schemas.openxmlformats.org/officeDocument/2006/relationships/image" Target="../media/image38.png"/><Relationship Id="rId3" Type="http://schemas.openxmlformats.org/officeDocument/2006/relationships/oleObject" Target="../embeddings/oleObject13.bin"/><Relationship Id="rId21" Type="http://schemas.openxmlformats.org/officeDocument/2006/relationships/image" Target="../media/image22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5.wmf"/><Relationship Id="rId25" Type="http://schemas.openxmlformats.org/officeDocument/2006/relationships/image" Target="../media/image22.w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0.w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6.png"/><Relationship Id="rId15" Type="http://schemas.openxmlformats.org/officeDocument/2006/relationships/image" Target="../media/image24.wmf"/><Relationship Id="rId28" Type="http://schemas.openxmlformats.org/officeDocument/2006/relationships/image" Target="../media/image27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6.wmf"/><Relationship Id="rId4" Type="http://schemas.openxmlformats.org/officeDocument/2006/relationships/image" Target="../media/image18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Relationship Id="rId27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8" Type="http://schemas.openxmlformats.org/officeDocument/2006/relationships/image" Target="../media/image38.png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15.bin"/><Relationship Id="rId7" Type="http://schemas.openxmlformats.org/officeDocument/2006/relationships/image" Target="../media/image6.png"/><Relationship Id="rId17" Type="http://schemas.openxmlformats.org/officeDocument/2006/relationships/image" Target="../media/image22.wmf"/><Relationship Id="rId2" Type="http://schemas.openxmlformats.org/officeDocument/2006/relationships/notesSlide" Target="../notesSlides/notesSlide11.xml"/><Relationship Id="rId16" Type="http://schemas.openxmlformats.org/officeDocument/2006/relationships/oleObject" Target="../embeddings/oleObject17.bin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wmf"/><Relationship Id="rId11" Type="http://schemas.openxmlformats.org/officeDocument/2006/relationships/image" Target="../media/image22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7.bin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9.wmf"/><Relationship Id="rId9" Type="http://schemas.openxmlformats.org/officeDocument/2006/relationships/image" Target="../media/image13.wmf"/><Relationship Id="rId22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0.wmf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6.bin"/><Relationship Id="rId4" Type="http://schemas.openxmlformats.org/officeDocument/2006/relationships/image" Target="../media/image27.wmf"/><Relationship Id="rId9" Type="http://schemas.openxmlformats.org/officeDocument/2006/relationships/image" Target="../media/image6.png"/><Relationship Id="rId14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7.w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6.bin"/><Relationship Id="rId4" Type="http://schemas.openxmlformats.org/officeDocument/2006/relationships/image" Target="../media/image26.wmf"/><Relationship Id="rId9" Type="http://schemas.openxmlformats.org/officeDocument/2006/relationships/image" Target="../media/image6.png"/><Relationship Id="rId1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0.jpeg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3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3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oleObject" Target="../embeddings/oleObject27.bin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3.wmf"/><Relationship Id="rId5" Type="http://schemas.openxmlformats.org/officeDocument/2006/relationships/image" Target="../media/image30.jpeg"/><Relationship Id="rId10" Type="http://schemas.openxmlformats.org/officeDocument/2006/relationships/oleObject" Target="../embeddings/oleObject28.bin"/><Relationship Id="rId4" Type="http://schemas.openxmlformats.org/officeDocument/2006/relationships/image" Target="../media/image32.wmf"/><Relationship Id="rId9" Type="http://schemas.openxmlformats.org/officeDocument/2006/relationships/image" Target="../media/image3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40.wmf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380.png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32.bin"/><Relationship Id="rId2" Type="http://schemas.openxmlformats.org/officeDocument/2006/relationships/notesSlide" Target="../notesSlides/notesSlide19.xml"/><Relationship Id="rId20" Type="http://schemas.openxmlformats.org/officeDocument/2006/relationships/image" Target="../media/image22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20.wmf"/><Relationship Id="rId5" Type="http://schemas.openxmlformats.org/officeDocument/2006/relationships/image" Target="../media/image7.png"/><Relationship Id="rId15" Type="http://schemas.openxmlformats.org/officeDocument/2006/relationships/image" Target="../media/image22.wmf"/><Relationship Id="rId23" Type="http://schemas.openxmlformats.org/officeDocument/2006/relationships/image" Target="../media/image32.wmf"/><Relationship Id="rId10" Type="http://schemas.openxmlformats.org/officeDocument/2006/relationships/oleObject" Target="../embeddings/oleObject15.bin"/><Relationship Id="rId19" Type="http://schemas.openxmlformats.org/officeDocument/2006/relationships/oleObject" Target="../embeddings/oleObject50.bin"/><Relationship Id="rId4" Type="http://schemas.openxmlformats.org/officeDocument/2006/relationships/image" Target="../media/image38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40.wmf"/><Relationship Id="rId3" Type="http://schemas.openxmlformats.org/officeDocument/2006/relationships/oleObject" Target="../embeddings/oleObject30.bin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3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20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15.bin"/><Relationship Id="rId4" Type="http://schemas.openxmlformats.org/officeDocument/2006/relationships/image" Target="../media/image38.wmf"/><Relationship Id="rId9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43.wmf"/><Relationship Id="rId3" Type="http://schemas.openxmlformats.org/officeDocument/2006/relationships/oleObject" Target="../embeddings/oleObject33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3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2.wmf"/><Relationship Id="rId5" Type="http://schemas.openxmlformats.org/officeDocument/2006/relationships/image" Target="../media/image6.png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4.bin"/><Relationship Id="rId4" Type="http://schemas.openxmlformats.org/officeDocument/2006/relationships/image" Target="../media/image41.wmf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3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38.wmf"/><Relationship Id="rId3" Type="http://schemas.openxmlformats.org/officeDocument/2006/relationships/oleObject" Target="../embeddings/oleObject33.bin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3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2.w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34.bin"/><Relationship Id="rId4" Type="http://schemas.openxmlformats.org/officeDocument/2006/relationships/image" Target="../media/image41.wmf"/><Relationship Id="rId9" Type="http://schemas.openxmlformats.org/officeDocument/2006/relationships/image" Target="../media/image20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509963" y="3319463"/>
            <a:ext cx="4514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INTERACCIÓN MAGNÉTICA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5300663" y="4440238"/>
            <a:ext cx="941387" cy="461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(2/7)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chemeClr val="tx1"/>
                </a:solidFill>
                <a:latin typeface="Comic Sans MS" panose="030F0702030302020204" pitchFamily="66" charset="0"/>
              </a:rPr>
              <a:t>TEMA 5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7EE8016-DE16-4C5D-816A-EC9F45D6038C}"/>
              </a:ext>
            </a:extLst>
          </p:cNvPr>
          <p:cNvGrpSpPr/>
          <p:nvPr/>
        </p:nvGrpSpPr>
        <p:grpSpPr>
          <a:xfrm>
            <a:off x="6094674" y="5046616"/>
            <a:ext cx="4360864" cy="1865782"/>
            <a:chOff x="6310314" y="5021133"/>
            <a:chExt cx="4360864" cy="1865782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3B0EC09D-688D-4039-875A-E3E9DA0BD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0314" y="5021133"/>
              <a:ext cx="4360864" cy="1865313"/>
              <a:chOff x="3975" y="3030"/>
              <a:chExt cx="2747" cy="1175"/>
            </a:xfrm>
          </p:grpSpPr>
          <p:sp>
            <p:nvSpPr>
              <p:cNvPr id="27" name="AutoShape 1056">
                <a:extLst>
                  <a:ext uri="{FF2B5EF4-FFF2-40B4-BE49-F238E27FC236}">
                    <a16:creationId xmlns:a16="http://schemas.microsoft.com/office/drawing/2014/main" id="{32143C13-3AE1-4775-B864-0E4A67761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030"/>
                <a:ext cx="2747" cy="1175"/>
              </a:xfrm>
              <a:prstGeom prst="foldedCorner">
                <a:avLst>
                  <a:gd name="adj" fmla="val 12500"/>
                </a:avLst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</p:txBody>
          </p:sp>
          <p:sp>
            <p:nvSpPr>
              <p:cNvPr id="28" name="Text Box 1057">
                <a:extLst>
                  <a:ext uri="{FF2B5EF4-FFF2-40B4-BE49-F238E27FC236}">
                    <a16:creationId xmlns:a16="http://schemas.microsoft.com/office/drawing/2014/main" id="{6B8016E7-7168-43C5-9CCE-5498A63FAA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0" y="3120"/>
                <a:ext cx="2561" cy="52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PROBLEMA PROPUESTO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latin typeface="Trebuchet MS" panose="020B0603020202020204" pitchFamily="34" charset="0"/>
                  </a:rPr>
                  <a:t>(2ª SESIÓN DE PROBLEMAS)</a:t>
                </a:r>
              </a:p>
            </p:txBody>
          </p:sp>
          <p:sp>
            <p:nvSpPr>
              <p:cNvPr id="29" name="Text Box 1058">
                <a:extLst>
                  <a:ext uri="{FF2B5EF4-FFF2-40B4-BE49-F238E27FC236}">
                    <a16:creationId xmlns:a16="http://schemas.microsoft.com/office/drawing/2014/main" id="{9F7B9AF9-538D-48ED-9914-4C164D6EE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0" y="3767"/>
                <a:ext cx="950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FF0000"/>
                    </a:solidFill>
                    <a:latin typeface="Trebuchet MS" panose="020B0603020202020204" pitchFamily="34" charset="0"/>
                    <a:sym typeface="Wingdings" panose="05000000000000000000" pitchFamily="2" charset="2"/>
                  </a:rPr>
                  <a:t>Problema</a:t>
                </a:r>
                <a:endPara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endParaRPr>
              </a:p>
            </p:txBody>
          </p:sp>
          <p:sp>
            <p:nvSpPr>
              <p:cNvPr id="30" name="Text Box 1062">
                <a:extLst>
                  <a:ext uri="{FF2B5EF4-FFF2-40B4-BE49-F238E27FC236}">
                    <a16:creationId xmlns:a16="http://schemas.microsoft.com/office/drawing/2014/main" id="{A68657DD-1423-41E5-AE63-D7136AC40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8" y="3767"/>
                <a:ext cx="753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FF"/>
                    </a:solidFill>
                    <a:latin typeface="Trebuchet MS" panose="020B0603020202020204" pitchFamily="34" charset="0"/>
                  </a:rPr>
                  <a:t>Boletín</a:t>
                </a:r>
              </a:p>
            </p:txBody>
          </p:sp>
        </p:grpSp>
        <p:sp>
          <p:nvSpPr>
            <p:cNvPr id="25" name="Text Box 1058">
              <a:extLst>
                <a:ext uri="{FF2B5EF4-FFF2-40B4-BE49-F238E27FC236}">
                  <a16:creationId xmlns:a16="http://schemas.microsoft.com/office/drawing/2014/main" id="{A10CB857-8A9C-459C-8BDA-6F7A70136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3294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FF0000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</a:t>
              </a:r>
            </a:p>
          </p:txBody>
        </p:sp>
        <p:sp>
          <p:nvSpPr>
            <p:cNvPr id="26" name="Text Box 1058">
              <a:extLst>
                <a:ext uri="{FF2B5EF4-FFF2-40B4-BE49-F238E27FC236}">
                  <a16:creationId xmlns:a16="http://schemas.microsoft.com/office/drawing/2014/main" id="{6FBAF445-92E7-4337-8B2B-DE2CAC091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6895" y="6053737"/>
              <a:ext cx="729985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0000FF"/>
                  </a:solidFill>
                  <a:latin typeface="Trebuchet MS" panose="020B0603020202020204" pitchFamily="34" charset="0"/>
                  <a:sym typeface="Wingdings" panose="05000000000000000000" pitchFamily="2" charset="2"/>
                </a:rPr>
                <a:t></a:t>
              </a:r>
            </a:p>
          </p:txBody>
        </p:sp>
      </p:grpSp>
      <p:grpSp>
        <p:nvGrpSpPr>
          <p:cNvPr id="2" name="Group 23">
            <a:extLst>
              <a:ext uri="{FF2B5EF4-FFF2-40B4-BE49-F238E27FC236}">
                <a16:creationId xmlns:a16="http://schemas.microsoft.com/office/drawing/2014/main" id="{B1A011A6-0B01-AE36-9C8F-CF83C1DB7E8E}"/>
              </a:ext>
            </a:extLst>
          </p:cNvPr>
          <p:cNvGrpSpPr>
            <a:grpSpLocks/>
          </p:cNvGrpSpPr>
          <p:nvPr/>
        </p:nvGrpSpPr>
        <p:grpSpPr bwMode="auto">
          <a:xfrm>
            <a:off x="7257424" y="295979"/>
            <a:ext cx="3209926" cy="1858963"/>
            <a:chOff x="4896" y="276"/>
            <a:chExt cx="2022" cy="1171"/>
          </a:xfrm>
        </p:grpSpPr>
        <p:sp>
          <p:nvSpPr>
            <p:cNvPr id="3" name="AutoShape 1067">
              <a:extLst>
                <a:ext uri="{FF2B5EF4-FFF2-40B4-BE49-F238E27FC236}">
                  <a16:creationId xmlns:a16="http://schemas.microsoft.com/office/drawing/2014/main" id="{8C01A76D-3262-0122-2B00-96183AEB7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171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" name="Text Box 1068">
              <a:extLst>
                <a:ext uri="{FF2B5EF4-FFF2-40B4-BE49-F238E27FC236}">
                  <a16:creationId xmlns:a16="http://schemas.microsoft.com/office/drawing/2014/main" id="{B9BB0248-F5C3-BB42-C0EA-D4142EF68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416"/>
              <a:ext cx="1786" cy="291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PRÁCTICA 4</a:t>
              </a:r>
              <a:endParaRPr lang="es-ES" sz="2400" b="1" dirty="0">
                <a:latin typeface="Trebuchet MS" panose="020B0603020202020204" pitchFamily="34" charset="0"/>
              </a:endParaRPr>
            </a:p>
          </p:txBody>
        </p:sp>
        <p:sp>
          <p:nvSpPr>
            <p:cNvPr id="5" name="Text Box 1069">
              <a:extLst>
                <a:ext uri="{FF2B5EF4-FFF2-40B4-BE49-F238E27FC236}">
                  <a16:creationId xmlns:a16="http://schemas.microsoft.com/office/drawing/2014/main" id="{B0FC54AB-7BD4-37BC-3A65-173016220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6" y="839"/>
              <a:ext cx="178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18/11 a 21/11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6" name="Text Box 1062">
              <a:extLst>
                <a:ext uri="{FF2B5EF4-FFF2-40B4-BE49-F238E27FC236}">
                  <a16:creationId xmlns:a16="http://schemas.microsoft.com/office/drawing/2014/main" id="{C937EDD6-C5F5-29F2-591E-D3E741164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9" y="1125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Trebuchet MS" panose="020B0603020202020204" pitchFamily="34" charset="0"/>
                </a:rPr>
                <a:t>Boletín 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>
            <a:extLst>
              <a:ext uri="{FF2B5EF4-FFF2-40B4-BE49-F238E27FC236}">
                <a16:creationId xmlns:a16="http://schemas.microsoft.com/office/drawing/2014/main" id="{9C44FF57-3252-DB5D-A0F3-706D71234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234" y="2573225"/>
            <a:ext cx="1846846" cy="34505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B3C576F0-7CFA-119A-9316-9A9B58922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4460" y="1462616"/>
            <a:ext cx="3189828" cy="52032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F2DF6CC1-5D69-AA6B-D776-1E4FE7CF0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2168123"/>
            <a:ext cx="7974013" cy="41751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11">
            <a:extLst>
              <a:ext uri="{FF2B5EF4-FFF2-40B4-BE49-F238E27FC236}">
                <a16:creationId xmlns:a16="http://schemas.microsoft.com/office/drawing/2014/main" id="{16D68CEF-C3AD-845F-57AC-FAC9D224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859" y="93987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20/11/24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13/11/24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13/11/24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B0841032-58A6-2D80-81B0-21184A0A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135" y="6467047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1498600" y="578470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19"/>
          <p:cNvSpPr>
            <a:spLocks noChangeArrowheads="1"/>
          </p:cNvSpPr>
          <p:nvPr/>
        </p:nvSpPr>
        <p:spPr bwMode="auto">
          <a:xfrm>
            <a:off x="1493838" y="5124309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19"/>
          <p:cNvSpPr>
            <a:spLocks noChangeArrowheads="1"/>
          </p:cNvSpPr>
          <p:nvPr/>
        </p:nvSpPr>
        <p:spPr bwMode="auto">
          <a:xfrm>
            <a:off x="1489075" y="4152759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18"/>
          <p:cNvSpPr>
            <a:spLocks noChangeArrowheads="1"/>
          </p:cNvSpPr>
          <p:nvPr/>
        </p:nvSpPr>
        <p:spPr bwMode="auto">
          <a:xfrm>
            <a:off x="1487488" y="3481246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2"/>
          <p:cNvSpPr>
            <a:spLocks noChangeArrowheads="1"/>
          </p:cNvSpPr>
          <p:nvPr/>
        </p:nvSpPr>
        <p:spPr bwMode="auto">
          <a:xfrm>
            <a:off x="1487488" y="2193784"/>
            <a:ext cx="627062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1487488" y="1560371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8" name="Rectangle 5"/>
          <p:cNvSpPr>
            <a:spLocks noChangeArrowheads="1"/>
          </p:cNvSpPr>
          <p:nvPr/>
        </p:nvSpPr>
        <p:spPr bwMode="auto">
          <a:xfrm>
            <a:off x="1409700" y="590550"/>
            <a:ext cx="8520113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5: INTERACCIÓN MAGNÉTICA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1470025" y="1525446"/>
            <a:ext cx="708025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5.6.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5.7.</a:t>
            </a:r>
          </a:p>
        </p:txBody>
      </p:sp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2197100" y="1536559"/>
            <a:ext cx="8237538" cy="5418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Concepto de Campo Magnético. Ley de Gauss para B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Efectos de B sobre: una Carga (Fuerza de Lorentz y Efecto Hall), un Conductor (Ley de Laplace) y una Espira (Dipolo Magnético)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Fuentes de B: Leyes de Biot-Savart y </a:t>
            </a:r>
            <a:r>
              <a:rPr lang="es-ES" sz="2400" b="1" dirty="0" err="1">
                <a:latin typeface="Arial" panose="020B0604020202020204" pitchFamily="34" charset="0"/>
              </a:rPr>
              <a:t>Ampère</a:t>
            </a:r>
            <a:r>
              <a:rPr lang="es-ES" sz="2400" b="1" dirty="0">
                <a:latin typeface="Arial" panose="020B0604020202020204" pitchFamily="34" charset="0"/>
              </a:rPr>
              <a:t>-Maxwell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Ley de Inducción de Henry-Faraday. Ley de Lenz.    FEM por inducción o por movimiento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s-ES" sz="2400" b="1">
                <a:latin typeface="Arial" panose="020B0604020202020204" pitchFamily="34" charset="0"/>
              </a:rPr>
              <a:t>Ecuaciones de Maxwell: Ondas Electromagnéticas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Campo Magnético en </a:t>
            </a:r>
            <a:r>
              <a:rPr lang="es-ES" sz="2400" b="1">
                <a:latin typeface="Arial" panose="020B0604020202020204" pitchFamily="34" charset="0"/>
              </a:rPr>
              <a:t>la Materia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Bobinas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7181" name="Line 20"/>
          <p:cNvSpPr>
            <a:spLocks noChangeShapeType="1"/>
          </p:cNvSpPr>
          <p:nvPr/>
        </p:nvSpPr>
        <p:spPr bwMode="auto">
          <a:xfrm flipV="1">
            <a:off x="9848850" y="1579421"/>
            <a:ext cx="2190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2" name="Line 21"/>
          <p:cNvSpPr>
            <a:spLocks noChangeShapeType="1"/>
          </p:cNvSpPr>
          <p:nvPr/>
        </p:nvSpPr>
        <p:spPr bwMode="auto">
          <a:xfrm flipV="1">
            <a:off x="3925888" y="2228709"/>
            <a:ext cx="21907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7183" name="Line 22"/>
          <p:cNvSpPr>
            <a:spLocks noChangeShapeType="1"/>
          </p:cNvSpPr>
          <p:nvPr/>
        </p:nvSpPr>
        <p:spPr bwMode="auto">
          <a:xfrm flipV="1">
            <a:off x="4006850" y="3546334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66" name="Text Box 70"/>
          <p:cNvSpPr txBox="1">
            <a:spLocks noChangeArrowheads="1"/>
          </p:cNvSpPr>
          <p:nvPr/>
        </p:nvSpPr>
        <p:spPr bwMode="auto">
          <a:xfrm>
            <a:off x="4387235" y="1183691"/>
            <a:ext cx="5359438" cy="978584"/>
          </a:xfrm>
          <a:prstGeom prst="rect">
            <a:avLst/>
          </a:prstGeom>
          <a:solidFill>
            <a:srgbClr val="C7D7A5"/>
          </a:solidFill>
          <a:ln>
            <a:noFill/>
          </a:ln>
        </p:spPr>
        <p:txBody>
          <a:bodyPr wrap="square" lIns="126000" tIns="118800" rIns="126000" bIns="118800" anchor="ctr" anchorCtr="1">
            <a:spAutoFit/>
          </a:bodyPr>
          <a:lstStyle>
            <a:lvl1pPr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ES" sz="2400">
                <a:solidFill>
                  <a:schemeClr val="tx1"/>
                </a:solidFill>
              </a:rPr>
              <a:t>El </a:t>
            </a:r>
            <a:r>
              <a:rPr lang="es-ES" sz="2400">
                <a:solidFill>
                  <a:srgbClr val="0000FF"/>
                </a:solidFill>
              </a:rPr>
              <a:t>flujo magnético (</a:t>
            </a:r>
            <a:r>
              <a:rPr lang="es-ES" sz="2400">
                <a:solidFill>
                  <a:srgbClr val="0000FF"/>
                </a:solidFill>
                <a:sym typeface="Symbol" panose="05050102010706020507" pitchFamily="18" charset="2"/>
              </a:rPr>
              <a:t></a:t>
            </a:r>
            <a:r>
              <a:rPr lang="es-ES" sz="2400">
                <a:solidFill>
                  <a:srgbClr val="0000FF"/>
                </a:solidFill>
              </a:rPr>
              <a:t>)</a:t>
            </a:r>
            <a:r>
              <a:rPr lang="es-ES" sz="2400">
                <a:solidFill>
                  <a:schemeClr val="tx1"/>
                </a:solidFill>
              </a:rPr>
              <a:t> a través de cualquier superficie cerrada es nulo</a:t>
            </a:r>
            <a:endParaRPr lang="es-ES" sz="2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810375" y="1139879"/>
            <a:ext cx="2191532" cy="1081087"/>
            <a:chOff x="5955514" y="1731962"/>
            <a:chExt cx="2191536" cy="1081088"/>
          </a:xfrm>
        </p:grpSpPr>
        <p:sp>
          <p:nvSpPr>
            <p:cNvPr id="25644" name="Rectangle 71"/>
            <p:cNvSpPr>
              <a:spLocks noChangeArrowheads="1"/>
            </p:cNvSpPr>
            <p:nvPr/>
          </p:nvSpPr>
          <p:spPr bwMode="auto">
            <a:xfrm>
              <a:off x="5955514" y="1731962"/>
              <a:ext cx="2191536" cy="10683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25646" name="Object 73"/>
            <p:cNvGraphicFramePr>
              <a:graphicFrameLocks noChangeAspect="1"/>
            </p:cNvGraphicFramePr>
            <p:nvPr/>
          </p:nvGraphicFramePr>
          <p:xfrm>
            <a:off x="6109873" y="1908175"/>
            <a:ext cx="1650998" cy="904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685800" imgH="381000" progId="Equation.3">
                    <p:embed/>
                  </p:oleObj>
                </mc:Choice>
                <mc:Fallback>
                  <p:oleObj name="Ecuación" r:id="rId3" imgW="685800" imgH="381000" progId="Equation.3">
                    <p:embed/>
                    <p:pic>
                      <p:nvPicPr>
                        <p:cNvPr id="25646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9873" y="1908175"/>
                          <a:ext cx="1650998" cy="904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3637" name="Text Box 110"/>
          <p:cNvSpPr txBox="1">
            <a:spLocks noChangeArrowheads="1"/>
          </p:cNvSpPr>
          <p:nvPr/>
        </p:nvSpPr>
        <p:spPr bwMode="auto">
          <a:xfrm>
            <a:off x="6113913" y="389072"/>
            <a:ext cx="1018525" cy="46384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chemeClr val="tx1"/>
                </a:solidFill>
              </a:rPr>
              <a:t>s. XIX</a:t>
            </a:r>
          </a:p>
        </p:txBody>
      </p:sp>
      <p:sp>
        <p:nvSpPr>
          <p:cNvPr id="25613" name="Rectangle 3"/>
          <p:cNvSpPr>
            <a:spLocks noChangeArrowheads="1"/>
          </p:cNvSpPr>
          <p:nvPr/>
        </p:nvSpPr>
        <p:spPr bwMode="auto">
          <a:xfrm>
            <a:off x="1295184" y="374450"/>
            <a:ext cx="46370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5.1.2 LEY DE GAUSS PARA B </a:t>
            </a:r>
          </a:p>
        </p:txBody>
      </p:sp>
      <p:sp>
        <p:nvSpPr>
          <p:cNvPr id="25614" name="Line 4"/>
          <p:cNvSpPr>
            <a:spLocks noChangeShapeType="1"/>
          </p:cNvSpPr>
          <p:nvPr/>
        </p:nvSpPr>
        <p:spPr bwMode="auto">
          <a:xfrm flipV="1">
            <a:off x="5425033" y="434775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49" name="Text Box 108">
            <a:extLst>
              <a:ext uri="{FF2B5EF4-FFF2-40B4-BE49-F238E27FC236}">
                <a16:creationId xmlns:a16="http://schemas.microsoft.com/office/drawing/2014/main" id="{F3B69FF9-F9F2-4174-B7C9-5B0DBBB13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9983" y="2895498"/>
            <a:ext cx="2201923" cy="536549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bg1"/>
                </a:solidFill>
                <a:sym typeface="Symbol" panose="05050102010706020507" pitchFamily="18" charset="2"/>
              </a:rPr>
              <a:t>UNIDAD</a:t>
            </a:r>
            <a:r>
              <a:rPr lang="es-ES" sz="2400">
                <a:solidFill>
                  <a:srgbClr val="FFFFFF"/>
                </a:solidFill>
                <a:sym typeface="Symbol" panose="05050102010706020507" pitchFamily="18" charset="2"/>
              </a:rPr>
              <a:t> </a:t>
            </a:r>
            <a:r>
              <a:rPr lang="es-ES" sz="2400" b="1" baseline="-25000">
                <a:solidFill>
                  <a:srgbClr val="FFFFFF"/>
                </a:solidFill>
                <a:sym typeface="Symbol" panose="05050102010706020507" pitchFamily="18" charset="2"/>
              </a:rPr>
              <a:t>B</a:t>
            </a:r>
          </a:p>
        </p:txBody>
      </p:sp>
      <p:sp>
        <p:nvSpPr>
          <p:cNvPr id="51" name="Text Box 116">
            <a:extLst>
              <a:ext uri="{FF2B5EF4-FFF2-40B4-BE49-F238E27FC236}">
                <a16:creationId xmlns:a16="http://schemas.microsoft.com/office/drawing/2014/main" id="{D21A099A-6E7F-4E4E-AF09-D0F66D66F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794" y="2889849"/>
            <a:ext cx="2148627" cy="5365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Wb = Weber</a:t>
            </a:r>
          </a:p>
        </p:txBody>
      </p:sp>
      <p:sp>
        <p:nvSpPr>
          <p:cNvPr id="56" name="Text Box 117">
            <a:extLst>
              <a:ext uri="{FF2B5EF4-FFF2-40B4-BE49-F238E27FC236}">
                <a16:creationId xmlns:a16="http://schemas.microsoft.com/office/drawing/2014/main" id="{83AAC57C-CDA1-4379-A0EF-6626FE3A0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937" y="3678495"/>
            <a:ext cx="2137486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/>
              <a:t>1 T = 1 Wb/m</a:t>
            </a:r>
            <a:r>
              <a:rPr lang="es-ES" sz="2400" baseline="30000" dirty="0"/>
              <a:t>2</a:t>
            </a:r>
            <a:endParaRPr lang="es-ES" sz="2400" dirty="0"/>
          </a:p>
        </p:txBody>
      </p:sp>
      <p:sp>
        <p:nvSpPr>
          <p:cNvPr id="57" name="Text Box 39">
            <a:extLst>
              <a:ext uri="{FF2B5EF4-FFF2-40B4-BE49-F238E27FC236}">
                <a16:creationId xmlns:a16="http://schemas.microsoft.com/office/drawing/2014/main" id="{1858E995-B1C0-47C2-A7EC-CFB56E708A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566" y="3655920"/>
            <a:ext cx="3955127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(unidad alternativa para </a:t>
            </a:r>
            <a:r>
              <a:rPr lang="es-ES" sz="2400" b="1" dirty="0">
                <a:solidFill>
                  <a:srgbClr val="FF0000"/>
                </a:solidFill>
              </a:rPr>
              <a:t>B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8" name="Text Box 39">
            <a:extLst>
              <a:ext uri="{FF2B5EF4-FFF2-40B4-BE49-F238E27FC236}">
                <a16:creationId xmlns:a16="http://schemas.microsoft.com/office/drawing/2014/main" id="{A5D74AB3-E680-432A-B890-0DCEC1DB2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238" y="2908133"/>
            <a:ext cx="3312483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00B0F0"/>
                </a:solidFill>
              </a:rPr>
              <a:t>(en honor de Weber; en inglés igual)</a:t>
            </a:r>
          </a:p>
        </p:txBody>
      </p:sp>
      <p:sp>
        <p:nvSpPr>
          <p:cNvPr id="59" name="Text Box 137">
            <a:extLst>
              <a:ext uri="{FF2B5EF4-FFF2-40B4-BE49-F238E27FC236}">
                <a16:creationId xmlns:a16="http://schemas.microsoft.com/office/drawing/2014/main" id="{A850D28F-6FCC-45F9-8D32-A802B96F7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763" y="1861590"/>
            <a:ext cx="1705445" cy="874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         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s-ES" sz="2400" dirty="0">
                <a:solidFill>
                  <a:srgbClr val="3333FF"/>
                </a:solidFill>
              </a:rPr>
              <a:t>T    m</a:t>
            </a:r>
            <a:r>
              <a:rPr lang="es-ES" sz="2400" baseline="30000" dirty="0">
                <a:solidFill>
                  <a:srgbClr val="3333FF"/>
                </a:solidFill>
              </a:rPr>
              <a:t>2</a:t>
            </a:r>
            <a:r>
              <a:rPr lang="es-ES" sz="2400" dirty="0">
                <a:solidFill>
                  <a:srgbClr val="3333FF"/>
                </a:solidFill>
              </a:rPr>
              <a:t>  Wb</a:t>
            </a:r>
          </a:p>
        </p:txBody>
      </p:sp>
      <p:sp>
        <p:nvSpPr>
          <p:cNvPr id="15" name="Text Box 48">
            <a:extLst>
              <a:ext uri="{FF2B5EF4-FFF2-40B4-BE49-F238E27FC236}">
                <a16:creationId xmlns:a16="http://schemas.microsoft.com/office/drawing/2014/main" id="{681221C2-5BD3-4B67-AA35-E6A5FBEBC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147" y="4667833"/>
            <a:ext cx="7935526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Refleja que </a:t>
            </a:r>
            <a:r>
              <a:rPr lang="es-ES" sz="240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s-ES" sz="2400">
                <a:solidFill>
                  <a:srgbClr val="0000FF"/>
                </a:solidFill>
              </a:rPr>
              <a:t>o existen cargas magnéticas</a:t>
            </a:r>
          </a:p>
        </p:txBody>
      </p:sp>
      <p:sp>
        <p:nvSpPr>
          <p:cNvPr id="16" name="Text Box 64">
            <a:extLst>
              <a:ext uri="{FF2B5EF4-FFF2-40B4-BE49-F238E27FC236}">
                <a16:creationId xmlns:a16="http://schemas.microsoft.com/office/drawing/2014/main" id="{89F2A36B-971F-496F-9239-F53B8BF38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015" y="5581199"/>
            <a:ext cx="3154362" cy="56621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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Scerrada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 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Q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encerrada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18" name="Grupo 30">
            <a:extLst>
              <a:ext uri="{FF2B5EF4-FFF2-40B4-BE49-F238E27FC236}">
                <a16:creationId xmlns:a16="http://schemas.microsoft.com/office/drawing/2014/main" id="{3CBAF0F1-2B94-4A02-8BEC-32240CFF508A}"/>
              </a:ext>
            </a:extLst>
          </p:cNvPr>
          <p:cNvGrpSpPr>
            <a:grpSpLocks/>
          </p:cNvGrpSpPr>
          <p:nvPr/>
        </p:nvGrpSpPr>
        <p:grpSpPr bwMode="auto">
          <a:xfrm>
            <a:off x="1799983" y="5353507"/>
            <a:ext cx="2189163" cy="1081860"/>
            <a:chOff x="6167692" y="1503381"/>
            <a:chExt cx="2189203" cy="1081795"/>
          </a:xfrm>
        </p:grpSpPr>
        <p:sp>
          <p:nvSpPr>
            <p:cNvPr id="21" name="Rectangle 71">
              <a:extLst>
                <a:ext uri="{FF2B5EF4-FFF2-40B4-BE49-F238E27FC236}">
                  <a16:creationId xmlns:a16="http://schemas.microsoft.com/office/drawing/2014/main" id="{BDBFE5BB-EBA1-4179-82E9-91A23943C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692" y="1503381"/>
              <a:ext cx="2189203" cy="10683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22" name="Object 73">
              <a:extLst>
                <a:ext uri="{FF2B5EF4-FFF2-40B4-BE49-F238E27FC236}">
                  <a16:creationId xmlns:a16="http://schemas.microsoft.com/office/drawing/2014/main" id="{A413B192-13A8-4CFC-9FF2-4F0F160DB6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99685" y="1678768"/>
            <a:ext cx="2109827" cy="906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876300" imgH="381000" progId="Equation.3">
                    <p:embed/>
                  </p:oleObj>
                </mc:Choice>
                <mc:Fallback>
                  <p:oleObj name="Ecuación" r:id="rId5" imgW="876300" imgH="381000" progId="Equation.3">
                    <p:embed/>
                    <p:pic>
                      <p:nvPicPr>
                        <p:cNvPr id="22" name="Object 73">
                          <a:extLst>
                            <a:ext uri="{FF2B5EF4-FFF2-40B4-BE49-F238E27FC236}">
                              <a16:creationId xmlns:a16="http://schemas.microsoft.com/office/drawing/2014/main" id="{A413B192-13A8-4CFC-9FF2-4F0F160DB6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9685" y="1678768"/>
                          <a:ext cx="2109827" cy="906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13525F9-5BEA-464B-A92C-4875C1A68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808" y="4667833"/>
            <a:ext cx="389630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FFFFFF"/>
                </a:solidFill>
              </a:rPr>
              <a:t>1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1127ED12-4BEA-4659-ACDA-960E2A675585}"/>
              </a:ext>
            </a:extLst>
          </p:cNvPr>
          <p:cNvGrpSpPr>
            <a:grpSpLocks/>
          </p:cNvGrpSpPr>
          <p:nvPr/>
        </p:nvGrpSpPr>
        <p:grpSpPr bwMode="auto">
          <a:xfrm>
            <a:off x="4778778" y="6234672"/>
            <a:ext cx="4835514" cy="514738"/>
            <a:chOff x="5567677" y="3184756"/>
            <a:chExt cx="4425700" cy="514757"/>
          </a:xfrm>
        </p:grpSpPr>
        <p:sp>
          <p:nvSpPr>
            <p:cNvPr id="25" name="Text Box 64">
              <a:extLst>
                <a:ext uri="{FF2B5EF4-FFF2-40B4-BE49-F238E27FC236}">
                  <a16:creationId xmlns:a16="http://schemas.microsoft.com/office/drawing/2014/main" id="{980EC8D2-5434-4179-B31A-A5EF6AAA1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7677" y="3184756"/>
              <a:ext cx="4425700" cy="514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Si  </a:t>
              </a: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= 0  </a:t>
              </a:r>
              <a:r>
                <a:rPr lang="es-ES" sz="2400" err="1">
                  <a:solidFill>
                    <a:schemeClr val="tx1"/>
                  </a:solidFill>
                  <a:sym typeface="Symbol" panose="05050102010706020507" pitchFamily="18" charset="2"/>
                </a:rPr>
                <a:t>S</a:t>
              </a:r>
              <a:r>
                <a:rPr lang="es-ES" sz="2400" baseline="-25000" err="1">
                  <a:solidFill>
                    <a:schemeClr val="tx1"/>
                  </a:solidFill>
                  <a:sym typeface="Symbol" panose="05050102010706020507" pitchFamily="18" charset="2"/>
                </a:rPr>
                <a:t>cerrada</a:t>
              </a: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    Q</a:t>
              </a:r>
              <a:r>
                <a:rPr lang="es-ES" sz="2400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magnética</a:t>
              </a:r>
              <a:endPara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cxnSp>
          <p:nvCxnSpPr>
            <p:cNvPr id="26" name="Conector recto 3">
              <a:extLst>
                <a:ext uri="{FF2B5EF4-FFF2-40B4-BE49-F238E27FC236}">
                  <a16:creationId xmlns:a16="http://schemas.microsoft.com/office/drawing/2014/main" id="{62AC2705-83E0-46C4-A46E-2541F5D7AE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44838" y="3276241"/>
              <a:ext cx="105103" cy="3317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2FFC66A7-63F6-4ED1-ADEB-AA6A58A8270D}"/>
              </a:ext>
            </a:extLst>
          </p:cNvPr>
          <p:cNvSpPr/>
          <p:nvPr/>
        </p:nvSpPr>
        <p:spPr bwMode="auto">
          <a:xfrm>
            <a:off x="4149875" y="5649579"/>
            <a:ext cx="359489" cy="459831"/>
          </a:xfrm>
          <a:prstGeom prst="right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D60093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66" grpId="0" animBg="1"/>
      <p:bldP spid="623637" grpId="0" animBg="1"/>
      <p:bldP spid="49" grpId="0" animBg="1"/>
      <p:bldP spid="51" grpId="0" animBg="1"/>
      <p:bldP spid="56" grpId="0" animBg="1"/>
      <p:bldP spid="57" grpId="0"/>
      <p:bldP spid="58" grpId="0"/>
      <p:bldP spid="59" grpId="0"/>
      <p:bldP spid="15" grpId="0" animBg="1"/>
      <p:bldP spid="16" grpId="0" animBg="1"/>
      <p:bldP spid="23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61"/>
          <p:cNvGrpSpPr>
            <a:grpSpLocks/>
          </p:cNvGrpSpPr>
          <p:nvPr/>
        </p:nvGrpSpPr>
        <p:grpSpPr bwMode="auto">
          <a:xfrm>
            <a:off x="5879555" y="3622041"/>
            <a:ext cx="4169169" cy="3121026"/>
            <a:chOff x="3632" y="2122"/>
            <a:chExt cx="2582" cy="1966"/>
          </a:xfrm>
        </p:grpSpPr>
        <p:pic>
          <p:nvPicPr>
            <p:cNvPr id="27666" name="Picture 31"/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" y="2122"/>
              <a:ext cx="2582" cy="1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</p:pic>
        <p:sp>
          <p:nvSpPr>
            <p:cNvPr id="27667" name="Text Box 69"/>
            <p:cNvSpPr txBox="1">
              <a:spLocks noChangeArrowheads="1"/>
            </p:cNvSpPr>
            <p:nvPr/>
          </p:nvSpPr>
          <p:spPr bwMode="auto">
            <a:xfrm>
              <a:off x="4574" y="2867"/>
              <a:ext cx="58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IMÁN</a:t>
              </a:r>
            </a:p>
          </p:txBody>
        </p:sp>
      </p:grpSp>
      <p:sp>
        <p:nvSpPr>
          <p:cNvPr id="22" name="Text Box 64"/>
          <p:cNvSpPr txBox="1">
            <a:spLocks noChangeArrowheads="1"/>
          </p:cNvSpPr>
          <p:nvPr/>
        </p:nvSpPr>
        <p:spPr bwMode="auto">
          <a:xfrm>
            <a:off x="1810889" y="1847336"/>
            <a:ext cx="8237120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Al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pintar líneas de campo, el nº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neto que cruza una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S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cerrada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es proporcional a la </a:t>
            </a:r>
            <a:r>
              <a:rPr lang="es-ES" sz="2400" dirty="0" err="1">
                <a:solidFill>
                  <a:schemeClr val="tx1"/>
                </a:solidFill>
                <a:sym typeface="Symbol" panose="05050102010706020507" pitchFamily="18" charset="2"/>
              </a:rPr>
              <a:t>Q</a:t>
            </a:r>
            <a:r>
              <a:rPr lang="es-ES" sz="2400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encerrada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(Tema 1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. Como eso le pasa también al flujo, flujo y nº de líneas son proporcionales</a:t>
            </a:r>
            <a:endParaRPr lang="es-ES" sz="2400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7" name="CuadroTexto 26"/>
          <p:cNvSpPr txBox="1">
            <a:spLocks noChangeArrowheads="1"/>
          </p:cNvSpPr>
          <p:nvPr/>
        </p:nvSpPr>
        <p:spPr bwMode="auto">
          <a:xfrm>
            <a:off x="1332808" y="635270"/>
            <a:ext cx="389630" cy="885856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668" name="Text Box 64"/>
          <p:cNvSpPr txBox="1">
            <a:spLocks noChangeArrowheads="1"/>
          </p:cNvSpPr>
          <p:nvPr/>
        </p:nvSpPr>
        <p:spPr bwMode="auto">
          <a:xfrm>
            <a:off x="2111192" y="5935977"/>
            <a:ext cx="3143590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 Líneas   =   Líneas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entrantes     salientes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1810889" y="637056"/>
            <a:ext cx="8237119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r"/>
                <a:tab pos="2700338" algn="ctr"/>
                <a:tab pos="5400675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s-ES" sz="2400">
                <a:solidFill>
                  <a:schemeClr val="tx1"/>
                </a:solidFill>
                <a:cs typeface="Times New Roman" panose="02020603050405020304" pitchFamily="18" charset="0"/>
              </a:rPr>
              <a:t>Indica que el número de líneas de </a:t>
            </a:r>
            <a:r>
              <a:rPr lang="es-ES" sz="2400" b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s-ES" sz="2400">
                <a:solidFill>
                  <a:schemeClr val="tx1"/>
                </a:solidFill>
                <a:cs typeface="Times New Roman" panose="02020603050405020304" pitchFamily="18" charset="0"/>
              </a:rPr>
              <a:t> que entran en</a:t>
            </a:r>
          </a:p>
          <a:p>
            <a:pPr algn="just" eaLnBrk="1" hangingPunct="1"/>
            <a:r>
              <a:rPr lang="es-ES" sz="2400">
                <a:solidFill>
                  <a:schemeClr val="tx1"/>
                </a:solidFill>
                <a:cs typeface="Times New Roman" panose="02020603050405020304" pitchFamily="18" charset="0"/>
              </a:rPr>
              <a:t>una S</a:t>
            </a:r>
            <a:r>
              <a:rPr lang="es-ES" sz="2400" baseline="-25000">
                <a:solidFill>
                  <a:schemeClr val="tx1"/>
                </a:solidFill>
                <a:cs typeface="Times New Roman" panose="02020603050405020304" pitchFamily="18" charset="0"/>
              </a:rPr>
              <a:t>cerrada</a:t>
            </a:r>
            <a:r>
              <a:rPr lang="es-ES" sz="2400">
                <a:solidFill>
                  <a:schemeClr val="tx1"/>
                </a:solidFill>
                <a:cs typeface="Times New Roman" panose="02020603050405020304" pitchFamily="18" charset="0"/>
              </a:rPr>
              <a:t> es el mismo número de líneas que salen</a:t>
            </a:r>
          </a:p>
        </p:txBody>
      </p:sp>
      <p:sp>
        <p:nvSpPr>
          <p:cNvPr id="23" name="Text Box 64">
            <a:extLst>
              <a:ext uri="{FF2B5EF4-FFF2-40B4-BE49-F238E27FC236}">
                <a16:creationId xmlns:a16="http://schemas.microsoft.com/office/drawing/2014/main" id="{33B4598F-CC98-4ECF-BBA1-36E94CA15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403" y="4283210"/>
            <a:ext cx="265788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|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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entrante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| = 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saliente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3" name="Text Box 64">
            <a:extLst>
              <a:ext uri="{FF2B5EF4-FFF2-40B4-BE49-F238E27FC236}">
                <a16:creationId xmlns:a16="http://schemas.microsoft.com/office/drawing/2014/main" id="{62A915FA-94C4-489E-A330-BC38CF55E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486" y="4982699"/>
            <a:ext cx="2941612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Como   nº líneas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CF2596B-B8A2-4109-B531-73380304F38E}"/>
              </a:ext>
            </a:extLst>
          </p:cNvPr>
          <p:cNvSpPr txBox="1"/>
          <p:nvPr/>
        </p:nvSpPr>
        <p:spPr>
          <a:xfrm>
            <a:off x="3553788" y="388362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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83853A2-A15B-478B-BF6F-DA5B0D569E2D}"/>
              </a:ext>
            </a:extLst>
          </p:cNvPr>
          <p:cNvSpPr txBox="1"/>
          <p:nvPr/>
        </p:nvSpPr>
        <p:spPr>
          <a:xfrm>
            <a:off x="3539933" y="5601433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</a:t>
            </a:r>
            <a:endParaRPr lang="es-ES" sz="2400" dirty="0">
              <a:solidFill>
                <a:schemeClr val="tx1"/>
              </a:solidFill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FB1428-702D-4597-BB86-F70BBEE663A6}"/>
              </a:ext>
            </a:extLst>
          </p:cNvPr>
          <p:cNvGrpSpPr/>
          <p:nvPr/>
        </p:nvGrpSpPr>
        <p:grpSpPr>
          <a:xfrm>
            <a:off x="2108507" y="3339674"/>
            <a:ext cx="3248202" cy="535709"/>
            <a:chOff x="2813808" y="4094590"/>
            <a:chExt cx="3248202" cy="535709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08D84488-6AED-4A11-B878-44AE82E0209F}"/>
                </a:ext>
              </a:extLst>
            </p:cNvPr>
            <p:cNvGrpSpPr/>
            <p:nvPr/>
          </p:nvGrpSpPr>
          <p:grpSpPr>
            <a:xfrm>
              <a:off x="3335802" y="4094590"/>
              <a:ext cx="2726208" cy="535709"/>
              <a:chOff x="3335802" y="4354365"/>
              <a:chExt cx="2726208" cy="535709"/>
            </a:xfrm>
          </p:grpSpPr>
          <p:sp>
            <p:nvSpPr>
              <p:cNvPr id="27660" name="Text Box 64"/>
              <p:cNvSpPr txBox="1">
                <a:spLocks noChangeArrowheads="1"/>
              </p:cNvSpPr>
              <p:nvPr/>
            </p:nvSpPr>
            <p:spPr bwMode="auto">
              <a:xfrm>
                <a:off x="3335802" y="4375336"/>
                <a:ext cx="974727" cy="514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8000" tIns="72000" rIns="108000" bIns="72000" anchor="ctr" anchorCtr="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chemeClr val="tx1"/>
                    </a:solidFill>
                    <a:sym typeface="Symbol" panose="05050102010706020507" pitchFamily="18" charset="2"/>
                  </a:rPr>
                  <a:t> </a:t>
                </a:r>
                <a:r>
                  <a:rPr lang="es-E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= 0</a:t>
                </a:r>
              </a:p>
            </p:txBody>
          </p:sp>
          <p:sp>
            <p:nvSpPr>
              <p:cNvPr id="12" name="Text Box 64">
                <a:extLst>
                  <a:ext uri="{FF2B5EF4-FFF2-40B4-BE49-F238E27FC236}">
                    <a16:creationId xmlns:a16="http://schemas.microsoft.com/office/drawing/2014/main" id="{E963A31F-6531-430B-BF21-8308900AC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5538" y="4354365"/>
                <a:ext cx="1926472" cy="514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108000" tIns="72000" rIns="108000" bIns="72000" anchor="ctr" anchorCtr="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chemeClr val="tx1"/>
                    </a:solidFill>
                    <a:sym typeface="Symbol" panose="05050102010706020507" pitchFamily="18" charset="2"/>
                  </a:rPr>
                  <a:t> en S</a:t>
                </a:r>
                <a:r>
                  <a:rPr lang="es-ES" sz="2400" baseline="-25000">
                    <a:solidFill>
                      <a:schemeClr val="tx1"/>
                    </a:solidFill>
                    <a:sym typeface="Symbol" panose="05050102010706020507" pitchFamily="18" charset="2"/>
                  </a:rPr>
                  <a:t>cerrada</a:t>
                </a:r>
                <a:r>
                  <a:rPr lang="es-ES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</a:t>
                </a:r>
                <a:endParaRPr lang="es-ES" sz="2400" baseline="-25000" dirty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24" name="Text Box 64">
              <a:extLst>
                <a:ext uri="{FF2B5EF4-FFF2-40B4-BE49-F238E27FC236}">
                  <a16:creationId xmlns:a16="http://schemas.microsoft.com/office/drawing/2014/main" id="{98AD71B2-FFBF-48D5-A12C-69F8CA371C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808" y="4094779"/>
              <a:ext cx="752549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 Si</a:t>
              </a:r>
              <a:endPara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93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 animBg="1"/>
      <p:bldP spid="27668" grpId="0"/>
      <p:bldP spid="37" grpId="0" animBg="1"/>
      <p:bldP spid="23" grpId="0"/>
      <p:bldP spid="13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AutoShape 15">
            <a:extLst>
              <a:ext uri="{FF2B5EF4-FFF2-40B4-BE49-F238E27FC236}">
                <a16:creationId xmlns:a16="http://schemas.microsoft.com/office/drawing/2014/main" id="{EEA56AE8-D0C7-4A51-9294-CA6585C16E2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372776" y="4759990"/>
            <a:ext cx="731837" cy="695325"/>
          </a:xfrm>
          <a:prstGeom prst="cube">
            <a:avLst>
              <a:gd name="adj" fmla="val 30204"/>
            </a:avLst>
          </a:prstGeom>
          <a:solidFill>
            <a:srgbClr val="FFFF99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rot="10800000"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60" name="AutoShape 14">
            <a:extLst>
              <a:ext uri="{FF2B5EF4-FFF2-40B4-BE49-F238E27FC236}">
                <a16:creationId xmlns:a16="http://schemas.microsoft.com/office/drawing/2014/main" id="{81C48EA2-40AC-49F5-8876-67EF642DB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776" y="4759990"/>
            <a:ext cx="731837" cy="695325"/>
          </a:xfrm>
          <a:prstGeom prst="cube">
            <a:avLst>
              <a:gd name="adj" fmla="val 3020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65" name="AutoShape 39"/>
          <p:cNvSpPr>
            <a:spLocks noChangeArrowheads="1"/>
          </p:cNvSpPr>
          <p:nvPr/>
        </p:nvSpPr>
        <p:spPr bwMode="auto">
          <a:xfrm rot="10800000">
            <a:off x="7969038" y="5762817"/>
            <a:ext cx="445685" cy="423449"/>
          </a:xfrm>
          <a:prstGeom prst="cube">
            <a:avLst>
              <a:gd name="adj" fmla="val 30204"/>
            </a:avLst>
          </a:prstGeom>
          <a:solidFill>
            <a:srgbClr val="FFFF99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rot="10800000"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543792" name="Text Box 48"/>
          <p:cNvSpPr txBox="1">
            <a:spLocks noChangeArrowheads="1"/>
          </p:cNvSpPr>
          <p:nvPr/>
        </p:nvSpPr>
        <p:spPr bwMode="auto">
          <a:xfrm>
            <a:off x="1799019" y="399339"/>
            <a:ext cx="8477590" cy="125340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Indica que </a:t>
            </a:r>
            <a:r>
              <a:rPr lang="es-E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las líneas de campo </a:t>
            </a:r>
            <a:r>
              <a:rPr lang="es-ES" sz="2400">
                <a:solidFill>
                  <a:srgbClr val="0000FF"/>
                </a:solidFill>
                <a:cs typeface="Times New Roman" panose="02020603050405020304" pitchFamily="18" charset="0"/>
              </a:rPr>
              <a:t>magnético siempre son </a:t>
            </a:r>
            <a:r>
              <a:rPr lang="es-ES" sz="2400" dirty="0">
                <a:solidFill>
                  <a:srgbClr val="0000FF"/>
                </a:solidFill>
                <a:cs typeface="Times New Roman" panose="02020603050405020304" pitchFamily="18" charset="0"/>
              </a:rPr>
              <a:t>cerradas</a:t>
            </a:r>
            <a:r>
              <a:rPr lang="es-E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no emergen o convergen sobre </a:t>
            </a:r>
            <a:r>
              <a:rPr lang="es-ES" sz="2400">
                <a:solidFill>
                  <a:schemeClr val="tx1"/>
                </a:solidFill>
                <a:cs typeface="Times New Roman" panose="02020603050405020304" pitchFamily="18" charset="0"/>
              </a:rPr>
              <a:t>cargas eléctricas</a:t>
            </a:r>
            <a:r>
              <a:rPr lang="es-E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como en el caso eléctrico, las rodean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6" name="CuadroTexto 25"/>
          <p:cNvSpPr txBox="1">
            <a:spLocks noChangeArrowheads="1"/>
          </p:cNvSpPr>
          <p:nvPr/>
        </p:nvSpPr>
        <p:spPr bwMode="auto">
          <a:xfrm>
            <a:off x="1339069" y="388432"/>
            <a:ext cx="389631" cy="1275213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no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AutoShape 15"/>
          <p:cNvSpPr>
            <a:spLocks noChangeArrowheads="1"/>
          </p:cNvSpPr>
          <p:nvPr/>
        </p:nvSpPr>
        <p:spPr bwMode="auto">
          <a:xfrm rot="10800000">
            <a:off x="2756780" y="3841085"/>
            <a:ext cx="731837" cy="695325"/>
          </a:xfrm>
          <a:prstGeom prst="cube">
            <a:avLst>
              <a:gd name="adj" fmla="val 30204"/>
            </a:avLst>
          </a:prstGeom>
          <a:solidFill>
            <a:srgbClr val="FFFF99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rot="10800000"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8" name="AutoShape 14"/>
          <p:cNvSpPr>
            <a:spLocks noChangeArrowheads="1"/>
          </p:cNvSpPr>
          <p:nvPr/>
        </p:nvSpPr>
        <p:spPr bwMode="auto">
          <a:xfrm>
            <a:off x="2756780" y="3841085"/>
            <a:ext cx="731837" cy="695325"/>
          </a:xfrm>
          <a:prstGeom prst="cube">
            <a:avLst>
              <a:gd name="adj" fmla="val 3020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29" name="Group 49"/>
          <p:cNvGrpSpPr>
            <a:grpSpLocks/>
          </p:cNvGrpSpPr>
          <p:nvPr/>
        </p:nvGrpSpPr>
        <p:grpSpPr bwMode="auto">
          <a:xfrm>
            <a:off x="3429078" y="4863688"/>
            <a:ext cx="445685" cy="423449"/>
            <a:chOff x="3133" y="3641"/>
            <a:chExt cx="461" cy="438"/>
          </a:xfrm>
        </p:grpSpPr>
        <p:sp>
          <p:nvSpPr>
            <p:cNvPr id="29727" name="AutoShape 39"/>
            <p:cNvSpPr>
              <a:spLocks noChangeArrowheads="1"/>
            </p:cNvSpPr>
            <p:nvPr/>
          </p:nvSpPr>
          <p:spPr bwMode="auto">
            <a:xfrm rot="10800000">
              <a:off x="3133" y="3641"/>
              <a:ext cx="461" cy="438"/>
            </a:xfrm>
            <a:prstGeom prst="cube">
              <a:avLst>
                <a:gd name="adj" fmla="val 30204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9728" name="AutoShape 38"/>
            <p:cNvSpPr>
              <a:spLocks noChangeArrowheads="1"/>
            </p:cNvSpPr>
            <p:nvPr/>
          </p:nvSpPr>
          <p:spPr bwMode="auto">
            <a:xfrm>
              <a:off x="3133" y="3641"/>
              <a:ext cx="461" cy="438"/>
            </a:xfrm>
            <a:prstGeom prst="cube">
              <a:avLst>
                <a:gd name="adj" fmla="val 3020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32" name="Group 48"/>
          <p:cNvGrpSpPr>
            <a:grpSpLocks/>
          </p:cNvGrpSpPr>
          <p:nvPr/>
        </p:nvGrpSpPr>
        <p:grpSpPr bwMode="auto">
          <a:xfrm>
            <a:off x="3915398" y="4773442"/>
            <a:ext cx="471964" cy="448417"/>
            <a:chOff x="3689" y="3677"/>
            <a:chExt cx="461" cy="438"/>
          </a:xfrm>
        </p:grpSpPr>
        <p:sp>
          <p:nvSpPr>
            <p:cNvPr id="29725" name="AutoShape 42"/>
            <p:cNvSpPr>
              <a:spLocks noChangeArrowheads="1"/>
            </p:cNvSpPr>
            <p:nvPr/>
          </p:nvSpPr>
          <p:spPr bwMode="auto">
            <a:xfrm rot="10800000">
              <a:off x="3689" y="3677"/>
              <a:ext cx="461" cy="438"/>
            </a:xfrm>
            <a:prstGeom prst="cube">
              <a:avLst>
                <a:gd name="adj" fmla="val 30204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rot="10800000"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29726" name="AutoShape 41"/>
            <p:cNvSpPr>
              <a:spLocks noChangeArrowheads="1"/>
            </p:cNvSpPr>
            <p:nvPr/>
          </p:nvSpPr>
          <p:spPr bwMode="auto">
            <a:xfrm>
              <a:off x="3689" y="3677"/>
              <a:ext cx="461" cy="438"/>
            </a:xfrm>
            <a:prstGeom prst="cube">
              <a:avLst>
                <a:gd name="adj" fmla="val 3020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sp>
        <p:nvSpPr>
          <p:cNvPr id="35" name="Text Box 43"/>
          <p:cNvSpPr txBox="1">
            <a:spLocks noChangeArrowheads="1"/>
          </p:cNvSpPr>
          <p:nvPr/>
        </p:nvSpPr>
        <p:spPr bwMode="auto">
          <a:xfrm>
            <a:off x="3551207" y="3684907"/>
            <a:ext cx="3467914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Nº</a:t>
            </a:r>
            <a:r>
              <a:rPr lang="es-ES" baseline="-25000">
                <a:solidFill>
                  <a:srgbClr val="008000"/>
                </a:solidFill>
                <a:sym typeface="Symbol" panose="05050102010706020507" pitchFamily="18" charset="2"/>
              </a:rPr>
              <a:t>líneas</a:t>
            </a: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 = 1 </a:t>
            </a:r>
            <a:r>
              <a:rPr lang="es-ES" sz="1600">
                <a:solidFill>
                  <a:srgbClr val="008000"/>
                </a:solidFill>
                <a:sym typeface="Symbol" panose="05050102010706020507" pitchFamily="18" charset="2"/>
              </a:rPr>
              <a:t>(sale)</a:t>
            </a: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 – 1 </a:t>
            </a:r>
            <a:r>
              <a:rPr lang="es-ES" sz="1600">
                <a:solidFill>
                  <a:srgbClr val="008000"/>
                </a:solidFill>
                <a:sym typeface="Symbol" panose="05050102010706020507" pitchFamily="18" charset="2"/>
              </a:rPr>
              <a:t>(entra)</a:t>
            </a: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 = 0</a:t>
            </a:r>
            <a:endParaRPr lang="es-ES" baseline="-2500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  <p:sp>
        <p:nvSpPr>
          <p:cNvPr id="36" name="Text Box 44"/>
          <p:cNvSpPr txBox="1">
            <a:spLocks noChangeArrowheads="1"/>
          </p:cNvSpPr>
          <p:nvPr/>
        </p:nvSpPr>
        <p:spPr bwMode="auto">
          <a:xfrm>
            <a:off x="3952986" y="5255456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 &lt; 0</a:t>
            </a:r>
            <a:endParaRPr lang="es-ES" baseline="30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3022461" y="5325735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 &gt; 0</a:t>
            </a:r>
            <a:endParaRPr lang="es-ES" baseline="30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39" name="Group 44"/>
          <p:cNvGrpSpPr>
            <a:grpSpLocks/>
          </p:cNvGrpSpPr>
          <p:nvPr/>
        </p:nvGrpSpPr>
        <p:grpSpPr bwMode="auto">
          <a:xfrm flipH="1">
            <a:off x="1411021" y="4203954"/>
            <a:ext cx="3590035" cy="879475"/>
            <a:chOff x="4490" y="2740"/>
            <a:chExt cx="3925" cy="554"/>
          </a:xfrm>
        </p:grpSpPr>
        <p:sp>
          <p:nvSpPr>
            <p:cNvPr id="29715" name="Line 20"/>
            <p:cNvSpPr>
              <a:spLocks noChangeShapeType="1"/>
            </p:cNvSpPr>
            <p:nvPr/>
          </p:nvSpPr>
          <p:spPr bwMode="auto">
            <a:xfrm flipV="1">
              <a:off x="6407" y="274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6" name="Line 18"/>
            <p:cNvSpPr>
              <a:spLocks noChangeShapeType="1"/>
            </p:cNvSpPr>
            <p:nvPr/>
          </p:nvSpPr>
          <p:spPr bwMode="auto">
            <a:xfrm flipV="1">
              <a:off x="5689" y="276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7" name="Line 19"/>
            <p:cNvSpPr>
              <a:spLocks noChangeShapeType="1"/>
            </p:cNvSpPr>
            <p:nvPr/>
          </p:nvSpPr>
          <p:spPr bwMode="auto">
            <a:xfrm flipV="1">
              <a:off x="7117" y="2768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8" name="Line 21"/>
            <p:cNvSpPr>
              <a:spLocks noChangeShapeType="1"/>
            </p:cNvSpPr>
            <p:nvPr/>
          </p:nvSpPr>
          <p:spPr bwMode="auto">
            <a:xfrm flipV="1">
              <a:off x="5022" y="2822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9" name="Line 22"/>
            <p:cNvSpPr>
              <a:spLocks noChangeShapeType="1"/>
            </p:cNvSpPr>
            <p:nvPr/>
          </p:nvSpPr>
          <p:spPr bwMode="auto">
            <a:xfrm flipV="1">
              <a:off x="7815" y="2815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20" name="Line 23"/>
            <p:cNvSpPr>
              <a:spLocks noChangeShapeType="1"/>
            </p:cNvSpPr>
            <p:nvPr/>
          </p:nvSpPr>
          <p:spPr bwMode="auto">
            <a:xfrm flipH="1" flipV="1">
              <a:off x="7171" y="3266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21" name="Line 24"/>
            <p:cNvSpPr>
              <a:spLocks noChangeShapeType="1"/>
            </p:cNvSpPr>
            <p:nvPr/>
          </p:nvSpPr>
          <p:spPr bwMode="auto">
            <a:xfrm flipH="1" flipV="1">
              <a:off x="6429" y="3286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22" name="Line 25"/>
            <p:cNvSpPr>
              <a:spLocks noChangeShapeType="1"/>
            </p:cNvSpPr>
            <p:nvPr/>
          </p:nvSpPr>
          <p:spPr bwMode="auto">
            <a:xfrm flipH="1" flipV="1">
              <a:off x="5006" y="320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23" name="Line 26"/>
            <p:cNvSpPr>
              <a:spLocks noChangeShapeType="1"/>
            </p:cNvSpPr>
            <p:nvPr/>
          </p:nvSpPr>
          <p:spPr bwMode="auto">
            <a:xfrm flipH="1" flipV="1">
              <a:off x="7911" y="3182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24" name="Freeform 47"/>
            <p:cNvSpPr>
              <a:spLocks/>
            </p:cNvSpPr>
            <p:nvPr/>
          </p:nvSpPr>
          <p:spPr bwMode="auto">
            <a:xfrm>
              <a:off x="4490" y="2745"/>
              <a:ext cx="3925" cy="549"/>
            </a:xfrm>
            <a:custGeom>
              <a:avLst/>
              <a:gdLst>
                <a:gd name="T0" fmla="*/ 1270 w 3857"/>
                <a:gd name="T1" fmla="*/ 217 h 576"/>
                <a:gd name="T2" fmla="*/ 681 w 3857"/>
                <a:gd name="T3" fmla="*/ 201 h 576"/>
                <a:gd name="T4" fmla="*/ 133 w 3857"/>
                <a:gd name="T5" fmla="*/ 152 h 576"/>
                <a:gd name="T6" fmla="*/ 47 w 3857"/>
                <a:gd name="T7" fmla="*/ 114 h 576"/>
                <a:gd name="T8" fmla="*/ 373 w 3857"/>
                <a:gd name="T9" fmla="*/ 61 h 576"/>
                <a:gd name="T10" fmla="*/ 1150 w 3857"/>
                <a:gd name="T11" fmla="*/ 25 h 576"/>
                <a:gd name="T12" fmla="*/ 2219 w 3857"/>
                <a:gd name="T13" fmla="*/ 8 h 576"/>
                <a:gd name="T14" fmla="*/ 3115 w 3857"/>
                <a:gd name="T15" fmla="*/ 8 h 576"/>
                <a:gd name="T16" fmla="*/ 4097 w 3857"/>
                <a:gd name="T17" fmla="*/ 25 h 576"/>
                <a:gd name="T18" fmla="*/ 4759 w 3857"/>
                <a:gd name="T19" fmla="*/ 45 h 576"/>
                <a:gd name="T20" fmla="*/ 5187 w 3857"/>
                <a:gd name="T21" fmla="*/ 94 h 576"/>
                <a:gd name="T22" fmla="*/ 5268 w 3857"/>
                <a:gd name="T23" fmla="*/ 119 h 576"/>
                <a:gd name="T24" fmla="*/ 5094 w 3857"/>
                <a:gd name="T25" fmla="*/ 159 h 576"/>
                <a:gd name="T26" fmla="*/ 4465 w 3857"/>
                <a:gd name="T27" fmla="*/ 204 h 576"/>
                <a:gd name="T28" fmla="*/ 3558 w 3857"/>
                <a:gd name="T29" fmla="*/ 234 h 576"/>
                <a:gd name="T30" fmla="*/ 2687 w 3857"/>
                <a:gd name="T31" fmla="*/ 242 h 576"/>
                <a:gd name="T32" fmla="*/ 1911 w 3857"/>
                <a:gd name="T33" fmla="*/ 238 h 5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857"/>
                <a:gd name="T52" fmla="*/ 0 h 576"/>
                <a:gd name="T53" fmla="*/ 3857 w 3857"/>
                <a:gd name="T54" fmla="*/ 576 h 5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857" h="576">
                  <a:moveTo>
                    <a:pt x="927" y="515"/>
                  </a:moveTo>
                  <a:cubicBezTo>
                    <a:pt x="781" y="508"/>
                    <a:pt x="635" y="502"/>
                    <a:pt x="497" y="476"/>
                  </a:cubicBezTo>
                  <a:cubicBezTo>
                    <a:pt x="359" y="450"/>
                    <a:pt x="175" y="393"/>
                    <a:pt x="97" y="359"/>
                  </a:cubicBezTo>
                  <a:cubicBezTo>
                    <a:pt x="19" y="325"/>
                    <a:pt x="0" y="307"/>
                    <a:pt x="29" y="271"/>
                  </a:cubicBezTo>
                  <a:cubicBezTo>
                    <a:pt x="58" y="235"/>
                    <a:pt x="138" y="180"/>
                    <a:pt x="273" y="144"/>
                  </a:cubicBezTo>
                  <a:cubicBezTo>
                    <a:pt x="408" y="108"/>
                    <a:pt x="615" y="79"/>
                    <a:pt x="839" y="56"/>
                  </a:cubicBezTo>
                  <a:cubicBezTo>
                    <a:pt x="1063" y="33"/>
                    <a:pt x="1381" y="16"/>
                    <a:pt x="1620" y="8"/>
                  </a:cubicBezTo>
                  <a:cubicBezTo>
                    <a:pt x="1859" y="0"/>
                    <a:pt x="2046" y="0"/>
                    <a:pt x="2274" y="8"/>
                  </a:cubicBezTo>
                  <a:cubicBezTo>
                    <a:pt x="2502" y="16"/>
                    <a:pt x="2787" y="40"/>
                    <a:pt x="2987" y="56"/>
                  </a:cubicBezTo>
                  <a:cubicBezTo>
                    <a:pt x="3187" y="72"/>
                    <a:pt x="3342" y="77"/>
                    <a:pt x="3475" y="105"/>
                  </a:cubicBezTo>
                  <a:cubicBezTo>
                    <a:pt x="3608" y="133"/>
                    <a:pt x="3725" y="193"/>
                    <a:pt x="3787" y="222"/>
                  </a:cubicBezTo>
                  <a:cubicBezTo>
                    <a:pt x="3849" y="251"/>
                    <a:pt x="3857" y="255"/>
                    <a:pt x="3846" y="281"/>
                  </a:cubicBezTo>
                  <a:cubicBezTo>
                    <a:pt x="3835" y="307"/>
                    <a:pt x="3817" y="345"/>
                    <a:pt x="3719" y="379"/>
                  </a:cubicBezTo>
                  <a:cubicBezTo>
                    <a:pt x="3621" y="413"/>
                    <a:pt x="3447" y="457"/>
                    <a:pt x="3260" y="486"/>
                  </a:cubicBezTo>
                  <a:cubicBezTo>
                    <a:pt x="3073" y="515"/>
                    <a:pt x="2812" y="539"/>
                    <a:pt x="2596" y="554"/>
                  </a:cubicBezTo>
                  <a:cubicBezTo>
                    <a:pt x="2380" y="569"/>
                    <a:pt x="2162" y="572"/>
                    <a:pt x="1962" y="574"/>
                  </a:cubicBezTo>
                  <a:cubicBezTo>
                    <a:pt x="1762" y="576"/>
                    <a:pt x="1579" y="570"/>
                    <a:pt x="1396" y="564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sp>
        <p:nvSpPr>
          <p:cNvPr id="50" name="Text Box 66"/>
          <p:cNvSpPr txBox="1">
            <a:spLocks noChangeArrowheads="1"/>
          </p:cNvSpPr>
          <p:nvPr/>
        </p:nvSpPr>
        <p:spPr bwMode="auto">
          <a:xfrm>
            <a:off x="1799019" y="1929647"/>
            <a:ext cx="8477589" cy="1275213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Si no fuese así, como </a:t>
            </a:r>
            <a:r>
              <a:rPr lang="es-ES" sz="2400">
                <a:solidFill>
                  <a:schemeClr val="tx1"/>
                </a:solidFill>
              </a:rPr>
              <a:t>el flujo neto a través de una S</a:t>
            </a:r>
            <a:r>
              <a:rPr lang="es-ES" sz="2400" baseline="-25000">
                <a:solidFill>
                  <a:schemeClr val="tx1"/>
                </a:solidFill>
              </a:rPr>
              <a:t>cerrada</a:t>
            </a:r>
            <a:r>
              <a:rPr lang="es-ES" sz="2400">
                <a:solidFill>
                  <a:schemeClr val="tx1"/>
                </a:solidFill>
              </a:rPr>
              <a:t> es proporcional al número neto </a:t>
            </a:r>
            <a:r>
              <a:rPr lang="es-ES" sz="2400" dirty="0">
                <a:solidFill>
                  <a:schemeClr val="tx1"/>
                </a:solidFill>
              </a:rPr>
              <a:t>de líneas </a:t>
            </a:r>
            <a:r>
              <a:rPr lang="es-ES" sz="2400">
                <a:solidFill>
                  <a:schemeClr val="tx1"/>
                </a:solidFill>
              </a:rPr>
              <a:t>que la cruza, </a:t>
            </a:r>
            <a:r>
              <a:rPr lang="es-ES" sz="2400" dirty="0">
                <a:solidFill>
                  <a:schemeClr val="tx1"/>
                </a:solidFill>
              </a:rPr>
              <a:t>habría contradicción</a:t>
            </a:r>
            <a:r>
              <a:rPr lang="es-ES" sz="2400">
                <a:solidFill>
                  <a:schemeClr val="tx1"/>
                </a:solidFill>
              </a:rPr>
              <a:t>: 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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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0 en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una </a:t>
            </a:r>
            <a:r>
              <a:rPr lang="es-ES" sz="2400" dirty="0" err="1">
                <a:solidFill>
                  <a:schemeClr val="tx1"/>
                </a:solidFill>
              </a:rPr>
              <a:t>S</a:t>
            </a:r>
            <a:r>
              <a:rPr lang="es-ES" sz="2400" baseline="-25000" dirty="0" err="1">
                <a:solidFill>
                  <a:schemeClr val="tx1"/>
                </a:solidFill>
              </a:rPr>
              <a:t>cerrada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68" name="AutoShape 42"/>
          <p:cNvSpPr>
            <a:spLocks noChangeArrowheads="1"/>
          </p:cNvSpPr>
          <p:nvPr/>
        </p:nvSpPr>
        <p:spPr bwMode="auto">
          <a:xfrm rot="10800000">
            <a:off x="8629094" y="5681682"/>
            <a:ext cx="471964" cy="448415"/>
          </a:xfrm>
          <a:prstGeom prst="cube">
            <a:avLst>
              <a:gd name="adj" fmla="val 30204"/>
            </a:avLst>
          </a:prstGeom>
          <a:solidFill>
            <a:srgbClr val="FFFF99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rot="10800000"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pSp>
        <p:nvGrpSpPr>
          <p:cNvPr id="46" name="Group 44"/>
          <p:cNvGrpSpPr>
            <a:grpSpLocks/>
          </p:cNvGrpSpPr>
          <p:nvPr/>
        </p:nvGrpSpPr>
        <p:grpSpPr bwMode="auto">
          <a:xfrm flipH="1">
            <a:off x="6025944" y="5118359"/>
            <a:ext cx="3590035" cy="879475"/>
            <a:chOff x="4490" y="2740"/>
            <a:chExt cx="3925" cy="554"/>
          </a:xfrm>
        </p:grpSpPr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V="1">
              <a:off x="6407" y="274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8" name="Line 18"/>
            <p:cNvSpPr>
              <a:spLocks noChangeShapeType="1"/>
            </p:cNvSpPr>
            <p:nvPr/>
          </p:nvSpPr>
          <p:spPr bwMode="auto">
            <a:xfrm flipV="1">
              <a:off x="5689" y="276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9" name="Line 19"/>
            <p:cNvSpPr>
              <a:spLocks noChangeShapeType="1"/>
            </p:cNvSpPr>
            <p:nvPr/>
          </p:nvSpPr>
          <p:spPr bwMode="auto">
            <a:xfrm flipV="1">
              <a:off x="7117" y="2768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2" name="Line 21"/>
            <p:cNvSpPr>
              <a:spLocks noChangeShapeType="1"/>
            </p:cNvSpPr>
            <p:nvPr/>
          </p:nvSpPr>
          <p:spPr bwMode="auto">
            <a:xfrm flipV="1">
              <a:off x="5022" y="2822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 flipV="1">
              <a:off x="7815" y="2815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4" name="Line 23"/>
            <p:cNvSpPr>
              <a:spLocks noChangeShapeType="1"/>
            </p:cNvSpPr>
            <p:nvPr/>
          </p:nvSpPr>
          <p:spPr bwMode="auto">
            <a:xfrm flipH="1" flipV="1">
              <a:off x="7171" y="3266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5" name="Line 24"/>
            <p:cNvSpPr>
              <a:spLocks noChangeShapeType="1"/>
            </p:cNvSpPr>
            <p:nvPr/>
          </p:nvSpPr>
          <p:spPr bwMode="auto">
            <a:xfrm flipH="1" flipV="1">
              <a:off x="6429" y="3286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H="1" flipV="1">
              <a:off x="5006" y="3200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 flipH="1" flipV="1">
              <a:off x="7911" y="3182"/>
              <a:ext cx="6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miter lim="800000"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59" name="Freeform 47"/>
            <p:cNvSpPr>
              <a:spLocks/>
            </p:cNvSpPr>
            <p:nvPr/>
          </p:nvSpPr>
          <p:spPr bwMode="auto">
            <a:xfrm>
              <a:off x="4490" y="2745"/>
              <a:ext cx="3925" cy="549"/>
            </a:xfrm>
            <a:custGeom>
              <a:avLst/>
              <a:gdLst>
                <a:gd name="T0" fmla="*/ 1270 w 3857"/>
                <a:gd name="T1" fmla="*/ 217 h 576"/>
                <a:gd name="T2" fmla="*/ 681 w 3857"/>
                <a:gd name="T3" fmla="*/ 201 h 576"/>
                <a:gd name="T4" fmla="*/ 133 w 3857"/>
                <a:gd name="T5" fmla="*/ 152 h 576"/>
                <a:gd name="T6" fmla="*/ 47 w 3857"/>
                <a:gd name="T7" fmla="*/ 114 h 576"/>
                <a:gd name="T8" fmla="*/ 373 w 3857"/>
                <a:gd name="T9" fmla="*/ 61 h 576"/>
                <a:gd name="T10" fmla="*/ 1150 w 3857"/>
                <a:gd name="T11" fmla="*/ 25 h 576"/>
                <a:gd name="T12" fmla="*/ 2219 w 3857"/>
                <a:gd name="T13" fmla="*/ 8 h 576"/>
                <a:gd name="T14" fmla="*/ 3115 w 3857"/>
                <a:gd name="T15" fmla="*/ 8 h 576"/>
                <a:gd name="T16" fmla="*/ 4097 w 3857"/>
                <a:gd name="T17" fmla="*/ 25 h 576"/>
                <a:gd name="T18" fmla="*/ 4759 w 3857"/>
                <a:gd name="T19" fmla="*/ 45 h 576"/>
                <a:gd name="T20" fmla="*/ 5187 w 3857"/>
                <a:gd name="T21" fmla="*/ 94 h 576"/>
                <a:gd name="T22" fmla="*/ 5268 w 3857"/>
                <a:gd name="T23" fmla="*/ 119 h 576"/>
                <a:gd name="T24" fmla="*/ 5094 w 3857"/>
                <a:gd name="T25" fmla="*/ 159 h 576"/>
                <a:gd name="T26" fmla="*/ 4465 w 3857"/>
                <a:gd name="T27" fmla="*/ 204 h 576"/>
                <a:gd name="T28" fmla="*/ 3558 w 3857"/>
                <a:gd name="T29" fmla="*/ 234 h 576"/>
                <a:gd name="T30" fmla="*/ 2687 w 3857"/>
                <a:gd name="T31" fmla="*/ 242 h 576"/>
                <a:gd name="T32" fmla="*/ 1911 w 3857"/>
                <a:gd name="T33" fmla="*/ 238 h 57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857"/>
                <a:gd name="T52" fmla="*/ 0 h 576"/>
                <a:gd name="T53" fmla="*/ 3857 w 3857"/>
                <a:gd name="T54" fmla="*/ 576 h 57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857" h="576">
                  <a:moveTo>
                    <a:pt x="927" y="515"/>
                  </a:moveTo>
                  <a:cubicBezTo>
                    <a:pt x="781" y="508"/>
                    <a:pt x="635" y="502"/>
                    <a:pt x="497" y="476"/>
                  </a:cubicBezTo>
                  <a:cubicBezTo>
                    <a:pt x="359" y="450"/>
                    <a:pt x="175" y="393"/>
                    <a:pt x="97" y="359"/>
                  </a:cubicBezTo>
                  <a:cubicBezTo>
                    <a:pt x="19" y="325"/>
                    <a:pt x="0" y="307"/>
                    <a:pt x="29" y="271"/>
                  </a:cubicBezTo>
                  <a:cubicBezTo>
                    <a:pt x="58" y="235"/>
                    <a:pt x="138" y="180"/>
                    <a:pt x="273" y="144"/>
                  </a:cubicBezTo>
                  <a:cubicBezTo>
                    <a:pt x="408" y="108"/>
                    <a:pt x="615" y="79"/>
                    <a:pt x="839" y="56"/>
                  </a:cubicBezTo>
                  <a:cubicBezTo>
                    <a:pt x="1063" y="33"/>
                    <a:pt x="1381" y="16"/>
                    <a:pt x="1620" y="8"/>
                  </a:cubicBezTo>
                  <a:cubicBezTo>
                    <a:pt x="1859" y="0"/>
                    <a:pt x="2046" y="0"/>
                    <a:pt x="2274" y="8"/>
                  </a:cubicBezTo>
                  <a:cubicBezTo>
                    <a:pt x="2502" y="16"/>
                    <a:pt x="2787" y="40"/>
                    <a:pt x="2987" y="56"/>
                  </a:cubicBezTo>
                  <a:cubicBezTo>
                    <a:pt x="3187" y="72"/>
                    <a:pt x="3342" y="77"/>
                    <a:pt x="3475" y="105"/>
                  </a:cubicBezTo>
                  <a:cubicBezTo>
                    <a:pt x="3608" y="133"/>
                    <a:pt x="3725" y="193"/>
                    <a:pt x="3787" y="222"/>
                  </a:cubicBezTo>
                  <a:cubicBezTo>
                    <a:pt x="3849" y="251"/>
                    <a:pt x="3857" y="255"/>
                    <a:pt x="3846" y="281"/>
                  </a:cubicBezTo>
                  <a:cubicBezTo>
                    <a:pt x="3835" y="307"/>
                    <a:pt x="3817" y="345"/>
                    <a:pt x="3719" y="379"/>
                  </a:cubicBezTo>
                  <a:cubicBezTo>
                    <a:pt x="3621" y="413"/>
                    <a:pt x="3447" y="457"/>
                    <a:pt x="3260" y="486"/>
                  </a:cubicBezTo>
                  <a:cubicBezTo>
                    <a:pt x="3073" y="515"/>
                    <a:pt x="2812" y="539"/>
                    <a:pt x="2596" y="554"/>
                  </a:cubicBezTo>
                  <a:cubicBezTo>
                    <a:pt x="2380" y="569"/>
                    <a:pt x="2162" y="572"/>
                    <a:pt x="1962" y="574"/>
                  </a:cubicBezTo>
                  <a:cubicBezTo>
                    <a:pt x="1762" y="576"/>
                    <a:pt x="1579" y="570"/>
                    <a:pt x="1396" y="564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82800" rIns="90000" bIns="82800"/>
            <a:lstStyle/>
            <a:p>
              <a:endParaRPr lang="en-GB"/>
            </a:p>
          </p:txBody>
        </p:sp>
      </p:grpSp>
      <p:pic>
        <p:nvPicPr>
          <p:cNvPr id="56" name="Picture 57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658" y="5741262"/>
            <a:ext cx="3556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AutoShape 41"/>
          <p:cNvSpPr>
            <a:spLocks noChangeArrowheads="1"/>
          </p:cNvSpPr>
          <p:nvPr/>
        </p:nvSpPr>
        <p:spPr bwMode="auto">
          <a:xfrm>
            <a:off x="8629094" y="5685130"/>
            <a:ext cx="471964" cy="448415"/>
          </a:xfrm>
          <a:prstGeom prst="cube">
            <a:avLst>
              <a:gd name="adj" fmla="val 3020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pic>
        <p:nvPicPr>
          <p:cNvPr id="61" name="Picture 56" descr="Image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527" y="5810890"/>
            <a:ext cx="3429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AutoShape 38"/>
          <p:cNvSpPr>
            <a:spLocks noChangeArrowheads="1"/>
          </p:cNvSpPr>
          <p:nvPr/>
        </p:nvSpPr>
        <p:spPr bwMode="auto">
          <a:xfrm>
            <a:off x="7969038" y="5762817"/>
            <a:ext cx="445685" cy="423449"/>
          </a:xfrm>
          <a:prstGeom prst="cube">
            <a:avLst>
              <a:gd name="adj" fmla="val 3020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70" name="Text Box 44"/>
          <p:cNvSpPr txBox="1">
            <a:spLocks noChangeArrowheads="1"/>
          </p:cNvSpPr>
          <p:nvPr/>
        </p:nvSpPr>
        <p:spPr bwMode="auto">
          <a:xfrm>
            <a:off x="8466941" y="6225797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 &lt; 0</a:t>
            </a:r>
            <a:endParaRPr lang="es-ES" baseline="30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71" name="Text Box 45"/>
          <p:cNvSpPr txBox="1">
            <a:spLocks noChangeArrowheads="1"/>
          </p:cNvSpPr>
          <p:nvPr/>
        </p:nvSpPr>
        <p:spPr bwMode="auto">
          <a:xfrm>
            <a:off x="7617908" y="6285685"/>
            <a:ext cx="803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FF0000"/>
                </a:solidFill>
                <a:sym typeface="Symbol" panose="05050102010706020507" pitchFamily="18" charset="2"/>
              </a:rPr>
              <a:t> &gt; 0</a:t>
            </a:r>
            <a:endParaRPr lang="es-ES" baseline="3000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62" name="Text Box 43">
            <a:extLst>
              <a:ext uri="{FF2B5EF4-FFF2-40B4-BE49-F238E27FC236}">
                <a16:creationId xmlns:a16="http://schemas.microsoft.com/office/drawing/2014/main" id="{B277E827-D902-45A2-947D-3F9AD5406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7732" y="4550035"/>
            <a:ext cx="198673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 = 0 en S</a:t>
            </a:r>
            <a:r>
              <a:rPr lang="es-ES" baseline="-25000">
                <a:solidFill>
                  <a:srgbClr val="008000"/>
                </a:solidFill>
                <a:sym typeface="Symbol" panose="05050102010706020507" pitchFamily="18" charset="2"/>
              </a:rPr>
              <a:t>cerrada</a:t>
            </a:r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300E0A50-A4E3-DCC3-27D2-6223B1FD6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483" y="3684906"/>
            <a:ext cx="2381078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008000"/>
                </a:solidFill>
                <a:sym typeface="Symbol" panose="05050102010706020507" pitchFamily="18" charset="2"/>
              </a:rPr>
              <a:t>   = 0 en S</a:t>
            </a:r>
            <a:r>
              <a:rPr lang="es-ES" baseline="-25000">
                <a:solidFill>
                  <a:srgbClr val="008000"/>
                </a:solidFill>
                <a:sym typeface="Symbol" panose="05050102010706020507" pitchFamily="18" charset="2"/>
              </a:rPr>
              <a:t>cerrada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4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60" grpId="0" animBg="1"/>
      <p:bldP spid="65" grpId="0" animBg="1"/>
      <p:bldP spid="543792" grpId="0" animBg="1"/>
      <p:bldP spid="26" grpId="0" animBg="1"/>
      <p:bldP spid="27" grpId="0" animBg="1"/>
      <p:bldP spid="28" grpId="0" animBg="1"/>
      <p:bldP spid="35" grpId="0"/>
      <p:bldP spid="36" grpId="0"/>
      <p:bldP spid="38" grpId="0"/>
      <p:bldP spid="50" grpId="0" animBg="1"/>
      <p:bldP spid="68" grpId="0" animBg="1"/>
      <p:bldP spid="69" grpId="0" animBg="1"/>
      <p:bldP spid="66" grpId="0" animBg="1"/>
      <p:bldP spid="70" grpId="0"/>
      <p:bldP spid="71" grpId="0"/>
      <p:bldP spid="62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306" name="Group 26"/>
          <p:cNvGrpSpPr>
            <a:grpSpLocks/>
          </p:cNvGrpSpPr>
          <p:nvPr/>
        </p:nvGrpSpPr>
        <p:grpSpPr bwMode="auto">
          <a:xfrm>
            <a:off x="2390724" y="1770863"/>
            <a:ext cx="3086100" cy="979488"/>
            <a:chOff x="2633" y="1048"/>
            <a:chExt cx="1944" cy="617"/>
          </a:xfrm>
        </p:grpSpPr>
        <p:sp>
          <p:nvSpPr>
            <p:cNvPr id="35907" name="Rectangle 27"/>
            <p:cNvSpPr>
              <a:spLocks noChangeArrowheads="1"/>
            </p:cNvSpPr>
            <p:nvPr/>
          </p:nvSpPr>
          <p:spPr bwMode="auto">
            <a:xfrm>
              <a:off x="2633" y="1048"/>
              <a:ext cx="1944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5908" name="Object 28"/>
            <p:cNvGraphicFramePr>
              <a:graphicFrameLocks noChangeAspect="1"/>
            </p:cNvGraphicFramePr>
            <p:nvPr/>
          </p:nvGraphicFramePr>
          <p:xfrm>
            <a:off x="2736" y="1070"/>
            <a:ext cx="1796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12447" imgH="241195" progId="Equation.3">
                    <p:embed/>
                  </p:oleObj>
                </mc:Choice>
                <mc:Fallback>
                  <p:oleObj name="Ecuación" r:id="rId3" imgW="812447" imgH="241195" progId="Equation.3">
                    <p:embed/>
                    <p:pic>
                      <p:nvPicPr>
                        <p:cNvPr id="35908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070"/>
                          <a:ext cx="1796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68" name="Rectangle 12"/>
          <p:cNvSpPr>
            <a:spLocks noChangeArrowheads="1"/>
          </p:cNvSpPr>
          <p:nvPr/>
        </p:nvSpPr>
        <p:spPr bwMode="auto">
          <a:xfrm>
            <a:off x="1291909" y="372963"/>
            <a:ext cx="6632575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5.2.1 EFECTOS DE B SOBRE:  UNA CARGA</a:t>
            </a:r>
          </a:p>
        </p:txBody>
      </p:sp>
      <p:sp>
        <p:nvSpPr>
          <p:cNvPr id="80" name="Text Box 80"/>
          <p:cNvSpPr txBox="1">
            <a:spLocks noChangeArrowheads="1"/>
          </p:cNvSpPr>
          <p:nvPr/>
        </p:nvSpPr>
        <p:spPr bwMode="auto">
          <a:xfrm>
            <a:off x="4412296" y="4285909"/>
            <a:ext cx="323984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(al plano que definen)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7941757" y="320053"/>
            <a:ext cx="2603500" cy="2809875"/>
            <a:chOff x="8138701" y="5422"/>
            <a:chExt cx="2602871" cy="2811023"/>
          </a:xfrm>
        </p:grpSpPr>
        <p:sp>
          <p:nvSpPr>
            <p:cNvPr id="35876" name="Rectángulo 2"/>
            <p:cNvSpPr>
              <a:spLocks noChangeArrowheads="1"/>
            </p:cNvSpPr>
            <p:nvPr/>
          </p:nvSpPr>
          <p:spPr bwMode="auto">
            <a:xfrm>
              <a:off x="8138701" y="84084"/>
              <a:ext cx="2602871" cy="27323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pSp>
          <p:nvGrpSpPr>
            <p:cNvPr id="35879" name="Group 74"/>
            <p:cNvGrpSpPr>
              <a:grpSpLocks/>
            </p:cNvGrpSpPr>
            <p:nvPr/>
          </p:nvGrpSpPr>
          <p:grpSpPr bwMode="auto">
            <a:xfrm>
              <a:off x="8395357" y="5422"/>
              <a:ext cx="2257425" cy="2620962"/>
              <a:chOff x="5156" y="78"/>
              <a:chExt cx="1422" cy="1651"/>
            </a:xfrm>
          </p:grpSpPr>
          <p:sp>
            <p:nvSpPr>
              <p:cNvPr id="35882" name="Text Box 75"/>
              <p:cNvSpPr txBox="1">
                <a:spLocks noChangeArrowheads="1"/>
              </p:cNvSpPr>
              <p:nvPr/>
            </p:nvSpPr>
            <p:spPr bwMode="auto">
              <a:xfrm>
                <a:off x="5196" y="397"/>
                <a:ext cx="795" cy="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s-ES">
                    <a:solidFill>
                      <a:srgbClr val="D60093"/>
                    </a:solidFill>
                  </a:rPr>
                  <a:t>Mano Derecha</a:t>
                </a:r>
              </a:p>
            </p:txBody>
          </p:sp>
          <p:pic>
            <p:nvPicPr>
              <p:cNvPr id="35883" name="Picture 76" descr="Image1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6" y="78"/>
                <a:ext cx="1422" cy="16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5878" name="CuadroTexto 1"/>
            <p:cNvSpPr txBox="1">
              <a:spLocks noChangeArrowheads="1"/>
            </p:cNvSpPr>
            <p:nvPr/>
          </p:nvSpPr>
          <p:spPr bwMode="auto">
            <a:xfrm>
              <a:off x="8389829" y="223774"/>
              <a:ext cx="129594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>
                  <a:solidFill>
                    <a:srgbClr val="D60093"/>
                  </a:solidFill>
                </a:rPr>
                <a:t>Regla de la</a:t>
              </a:r>
            </a:p>
          </p:txBody>
        </p:sp>
      </p:grpSp>
      <p:sp>
        <p:nvSpPr>
          <p:cNvPr id="35874" name="Text Box 29"/>
          <p:cNvSpPr txBox="1">
            <a:spLocks noChangeArrowheads="1"/>
          </p:cNvSpPr>
          <p:nvPr/>
        </p:nvSpPr>
        <p:spPr bwMode="auto">
          <a:xfrm>
            <a:off x="2229900" y="1026944"/>
            <a:ext cx="3404687" cy="587441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FUERZA MAGNÉTICA</a:t>
            </a:r>
          </a:p>
        </p:txBody>
      </p:sp>
      <p:sp>
        <p:nvSpPr>
          <p:cNvPr id="72" name="Line 13">
            <a:extLst>
              <a:ext uri="{FF2B5EF4-FFF2-40B4-BE49-F238E27FC236}">
                <a16:creationId xmlns:a16="http://schemas.microsoft.com/office/drawing/2014/main" id="{A1CBDD98-2DAB-43BE-8BD7-33781F2EC0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4809" y="442813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D32114F-5A49-412C-B25C-73F0ADECD6FD}"/>
              </a:ext>
            </a:extLst>
          </p:cNvPr>
          <p:cNvGrpSpPr/>
          <p:nvPr/>
        </p:nvGrpSpPr>
        <p:grpSpPr>
          <a:xfrm>
            <a:off x="3135582" y="2521025"/>
            <a:ext cx="2818881" cy="734319"/>
            <a:chOff x="2786550" y="2471864"/>
            <a:chExt cx="2818881" cy="734319"/>
          </a:xfrm>
        </p:grpSpPr>
        <p:sp>
          <p:nvSpPr>
            <p:cNvPr id="73" name="Text Box 80">
              <a:extLst>
                <a:ext uri="{FF2B5EF4-FFF2-40B4-BE49-F238E27FC236}">
                  <a16:creationId xmlns:a16="http://schemas.microsoft.com/office/drawing/2014/main" id="{0BAE2A57-215E-4B3B-A118-87016F4C7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6550" y="2669634"/>
              <a:ext cx="2818881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(producto vectorial)</a:t>
              </a:r>
            </a:p>
          </p:txBody>
        </p:sp>
        <p:cxnSp>
          <p:nvCxnSpPr>
            <p:cNvPr id="3" name="Conector recto de flecha 2">
              <a:extLst>
                <a:ext uri="{FF2B5EF4-FFF2-40B4-BE49-F238E27FC236}">
                  <a16:creationId xmlns:a16="http://schemas.microsoft.com/office/drawing/2014/main" id="{80342615-6019-42EA-B7F5-6E9DE449B2B1}"/>
                </a:ext>
              </a:extLst>
            </p:cNvPr>
            <p:cNvCxnSpPr/>
            <p:nvPr/>
          </p:nvCxnSpPr>
          <p:spPr bwMode="auto">
            <a:xfrm>
              <a:off x="4182561" y="2471864"/>
              <a:ext cx="0" cy="294222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1BE8B2E-2CCD-4C1E-8968-7DB5DF8F7ED0}"/>
              </a:ext>
            </a:extLst>
          </p:cNvPr>
          <p:cNvGrpSpPr/>
          <p:nvPr/>
        </p:nvGrpSpPr>
        <p:grpSpPr>
          <a:xfrm>
            <a:off x="5761038" y="842863"/>
            <a:ext cx="1974056" cy="506710"/>
            <a:chOff x="5761038" y="842863"/>
            <a:chExt cx="1974056" cy="506710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B27EF32-3DAD-4E51-945C-71F83108048F}"/>
                </a:ext>
              </a:extLst>
            </p:cNvPr>
            <p:cNvCxnSpPr/>
            <p:nvPr/>
          </p:nvCxnSpPr>
          <p:spPr bwMode="auto">
            <a:xfrm>
              <a:off x="5886450" y="842863"/>
              <a:ext cx="1848644" cy="0"/>
            </a:xfrm>
            <a:prstGeom prst="line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28B9CF7D-74DB-49E1-B5F1-49BFF187FD0F}"/>
                </a:ext>
              </a:extLst>
            </p:cNvPr>
            <p:cNvSpPr/>
            <p:nvPr/>
          </p:nvSpPr>
          <p:spPr bwMode="auto">
            <a:xfrm>
              <a:off x="5761038" y="845573"/>
              <a:ext cx="1072380" cy="504000"/>
            </a:xfrm>
            <a:custGeom>
              <a:avLst/>
              <a:gdLst>
                <a:gd name="connsiteX0" fmla="*/ 1455174 w 1455174"/>
                <a:gd name="connsiteY0" fmla="*/ 0 h 481781"/>
                <a:gd name="connsiteX1" fmla="*/ 1455174 w 1455174"/>
                <a:gd name="connsiteY1" fmla="*/ 481781 h 481781"/>
                <a:gd name="connsiteX2" fmla="*/ 0 w 1455174"/>
                <a:gd name="connsiteY2" fmla="*/ 481781 h 48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174" h="481781">
                  <a:moveTo>
                    <a:pt x="1455174" y="0"/>
                  </a:moveTo>
                  <a:lnTo>
                    <a:pt x="1455174" y="481781"/>
                  </a:lnTo>
                  <a:lnTo>
                    <a:pt x="0" y="481781"/>
                  </a:ln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5" name="Text Box 80">
            <a:extLst>
              <a:ext uri="{FF2B5EF4-FFF2-40B4-BE49-F238E27FC236}">
                <a16:creationId xmlns:a16="http://schemas.microsoft.com/office/drawing/2014/main" id="{9EBDAEF3-B7E4-440B-B97A-076DF4AA2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906" y="3311688"/>
            <a:ext cx="771904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El resultado de un producto vectorial es un vector</a:t>
            </a:r>
          </a:p>
        </p:txBody>
      </p:sp>
      <p:sp>
        <p:nvSpPr>
          <p:cNvPr id="98" name="Text Box 80">
            <a:extLst>
              <a:ext uri="{FF2B5EF4-FFF2-40B4-BE49-F238E27FC236}">
                <a16:creationId xmlns:a16="http://schemas.microsoft.com/office/drawing/2014/main" id="{24F4EFF6-B0E7-4EBE-ABFA-9DAFD242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083" y="5614703"/>
            <a:ext cx="9035009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El vector,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x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, por un número, q, da un vector,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dirty="0">
                <a:solidFill>
                  <a:schemeClr val="tx1"/>
                </a:solidFill>
              </a:rPr>
              <a:t>, con igual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   dirección. Es decir,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dirty="0">
                <a:solidFill>
                  <a:schemeClr val="tx1"/>
                </a:solidFill>
              </a:rPr>
              <a:t> también 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y </a:t>
            </a:r>
            <a:r>
              <a:rPr lang="es-ES" sz="2400" b="1" dirty="0">
                <a:solidFill>
                  <a:schemeClr val="tx1"/>
                </a:solidFill>
              </a:rPr>
              <a:t>B. </a:t>
            </a:r>
            <a:r>
              <a:rPr lang="es-ES" sz="2400" dirty="0">
                <a:solidFill>
                  <a:schemeClr val="tx1"/>
                </a:solidFill>
              </a:rPr>
              <a:t>El sentido de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</a:p>
          <a:p>
            <a:pPr eaLnBrk="1" hangingPunct="1">
              <a:spcBef>
                <a:spcPts val="0"/>
              </a:spcBef>
            </a:pPr>
            <a:r>
              <a:rPr lang="es-ES" sz="2400" b="1" dirty="0">
                <a:solidFill>
                  <a:schemeClr val="tx1"/>
                </a:solidFill>
              </a:rPr>
              <a:t>  </a:t>
            </a:r>
            <a:r>
              <a:rPr lang="es-ES" sz="2400" dirty="0">
                <a:solidFill>
                  <a:schemeClr val="tx1"/>
                </a:solidFill>
              </a:rPr>
              <a:t> depende del signo del número, del signo de q</a:t>
            </a:r>
            <a:r>
              <a:rPr lang="es-ES" sz="2400" b="1" dirty="0">
                <a:solidFill>
                  <a:schemeClr val="tx1"/>
                </a:solidFill>
              </a:rPr>
              <a:t>   </a:t>
            </a:r>
            <a:r>
              <a:rPr lang="es-ES" sz="2400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100" name="Text Box 80">
            <a:extLst>
              <a:ext uri="{FF2B5EF4-FFF2-40B4-BE49-F238E27FC236}">
                <a16:creationId xmlns:a16="http://schemas.microsoft.com/office/drawing/2014/main" id="{093CC7BF-6CD0-482F-9B59-2FB1B1C1B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160" y="3898345"/>
            <a:ext cx="886882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El vector,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x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, es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</a:rPr>
              <a:t> a los dos vectores del producto, a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y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103" name="Text Box 80">
            <a:extLst>
              <a:ext uri="{FF2B5EF4-FFF2-40B4-BE49-F238E27FC236}">
                <a16:creationId xmlns:a16="http://schemas.microsoft.com/office/drawing/2014/main" id="{CD0CE1B2-D13B-42A6-BF5E-21B308FA5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229" y="4754375"/>
            <a:ext cx="8715638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Si girando de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a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por el camino corto el giro es antihorario,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 su sentido es hacia nosotros. Si no, se aleja de nosotros</a:t>
            </a:r>
            <a:endParaRPr lang="es-ES" sz="2400" dirty="0">
              <a:solidFill>
                <a:schemeClr val="tx1"/>
              </a:solidFill>
            </a:endParaRPr>
          </a:p>
        </p:txBody>
      </p:sp>
      <p:pic>
        <p:nvPicPr>
          <p:cNvPr id="28" name="Picture 18" descr="Image2">
            <a:extLst>
              <a:ext uri="{FF2B5EF4-FFF2-40B4-BE49-F238E27FC236}">
                <a16:creationId xmlns:a16="http://schemas.microsoft.com/office/drawing/2014/main" id="{B0DAF3A7-3FB4-40B4-82D8-FA196D6C2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420" y="1795260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n 14" descr="Imagen que contiene Forma&#10;&#10;Descripción generada automáticamente">
            <a:extLst>
              <a:ext uri="{FF2B5EF4-FFF2-40B4-BE49-F238E27FC236}">
                <a16:creationId xmlns:a16="http://schemas.microsoft.com/office/drawing/2014/main" id="{1E73791D-C403-486D-92AB-69F589A945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609" y="2149819"/>
            <a:ext cx="576000" cy="1440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7BA3635-752E-C33D-20F5-F13C101B4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269" y="3143210"/>
            <a:ext cx="14824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>
                <a:solidFill>
                  <a:srgbClr val="D60093"/>
                </a:solidFill>
              </a:rPr>
              <a:t>O usar</a:t>
            </a:r>
          </a:p>
          <a:p>
            <a:r>
              <a:rPr lang="es-ES">
                <a:solidFill>
                  <a:srgbClr val="D60093"/>
                </a:solidFill>
              </a:rPr>
              <a:t>la Izqda.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0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35874" grpId="0" animBg="1"/>
      <p:bldP spid="95" grpId="0"/>
      <p:bldP spid="98" grpId="0"/>
      <p:bldP spid="100" grpId="0"/>
      <p:bldP spid="10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 42"/>
          <p:cNvSpPr txBox="1">
            <a:spLocks noChangeArrowheads="1"/>
          </p:cNvSpPr>
          <p:nvPr/>
        </p:nvSpPr>
        <p:spPr bwMode="auto">
          <a:xfrm>
            <a:off x="1266554" y="5172269"/>
            <a:ext cx="4919934" cy="77470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18800" rIns="126000" bIns="118800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dirty="0"/>
              <a:t> F = |q| </a:t>
            </a:r>
            <a:r>
              <a:rPr lang="es-ES" sz="3200" dirty="0">
                <a:sym typeface="Symbol" panose="05050102010706020507" pitchFamily="18" charset="2"/>
              </a:rPr>
              <a:t>v B sen</a:t>
            </a:r>
          </a:p>
        </p:txBody>
      </p:sp>
      <p:sp>
        <p:nvSpPr>
          <p:cNvPr id="74" name="Text Box 81"/>
          <p:cNvSpPr txBox="1">
            <a:spLocks noChangeArrowheads="1"/>
          </p:cNvSpPr>
          <p:nvPr/>
        </p:nvSpPr>
        <p:spPr bwMode="auto">
          <a:xfrm>
            <a:off x="1269251" y="4297423"/>
            <a:ext cx="1566862" cy="699272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08000" tIns="216000" rIns="108000" bIns="180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FFFF"/>
                </a:solidFill>
              </a:rPr>
              <a:t>MÓDULO</a:t>
            </a:r>
          </a:p>
        </p:txBody>
      </p:sp>
      <p:sp>
        <p:nvSpPr>
          <p:cNvPr id="146" name="Text Box 80">
            <a:extLst>
              <a:ext uri="{FF2B5EF4-FFF2-40B4-BE49-F238E27FC236}">
                <a16:creationId xmlns:a16="http://schemas.microsoft.com/office/drawing/2014/main" id="{B9238E85-2B04-4FB6-B87D-9017C32E9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146" y="6034414"/>
            <a:ext cx="4745388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 se debe tomar </a:t>
            </a:r>
            <a:r>
              <a:rPr lang="es-ES" sz="2400">
                <a:solidFill>
                  <a:srgbClr val="FF0000"/>
                </a:solidFill>
              </a:rPr>
              <a:t>positivo y por el </a:t>
            </a:r>
            <a:r>
              <a:rPr lang="es-ES" sz="2400" dirty="0">
                <a:solidFill>
                  <a:srgbClr val="FF0000"/>
                </a:solidFill>
              </a:rPr>
              <a:t>camino </a:t>
            </a:r>
            <a:r>
              <a:rPr lang="es-ES" sz="2400">
                <a:solidFill>
                  <a:srgbClr val="FF0000"/>
                </a:solidFill>
              </a:rPr>
              <a:t>corto, así el seno es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s-ES" sz="2400" dirty="0">
                <a:solidFill>
                  <a:srgbClr val="FF0000"/>
                </a:solidFill>
              </a:rPr>
              <a:t> 0)</a:t>
            </a:r>
          </a:p>
        </p:txBody>
      </p:sp>
      <p:sp>
        <p:nvSpPr>
          <p:cNvPr id="147" name="Text Box 42">
            <a:extLst>
              <a:ext uri="{FF2B5EF4-FFF2-40B4-BE49-F238E27FC236}">
                <a16:creationId xmlns:a16="http://schemas.microsoft.com/office/drawing/2014/main" id="{A9DDD2DC-7C29-4CF0-88CA-F3D68A68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159" y="5170995"/>
            <a:ext cx="1965127" cy="77470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18800" rIns="126000" bIns="118800" anchor="ctr" anchorCtr="1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dirty="0"/>
              <a:t>= |q| </a:t>
            </a:r>
            <a:r>
              <a:rPr lang="es-ES" sz="3200" dirty="0">
                <a:sym typeface="Symbol" panose="05050102010706020507" pitchFamily="18" charset="2"/>
              </a:rPr>
              <a:t>v</a:t>
            </a:r>
            <a:r>
              <a:rPr lang="es-ES" sz="3200" baseline="-25000" dirty="0">
                <a:sym typeface="Symbol" panose="05050102010706020507" pitchFamily="18" charset="2"/>
              </a:rPr>
              <a:t></a:t>
            </a:r>
            <a:r>
              <a:rPr lang="es-ES" sz="3200" dirty="0">
                <a:sym typeface="Symbol" panose="05050102010706020507" pitchFamily="18" charset="2"/>
              </a:rPr>
              <a:t> B</a:t>
            </a:r>
          </a:p>
        </p:txBody>
      </p:sp>
      <p:grpSp>
        <p:nvGrpSpPr>
          <p:cNvPr id="75" name="Group 76">
            <a:extLst>
              <a:ext uri="{FF2B5EF4-FFF2-40B4-BE49-F238E27FC236}">
                <a16:creationId xmlns:a16="http://schemas.microsoft.com/office/drawing/2014/main" id="{24B5AC07-9AD5-469C-B902-5E64B31D6717}"/>
              </a:ext>
            </a:extLst>
          </p:cNvPr>
          <p:cNvGrpSpPr>
            <a:grpSpLocks/>
          </p:cNvGrpSpPr>
          <p:nvPr/>
        </p:nvGrpSpPr>
        <p:grpSpPr bwMode="auto">
          <a:xfrm>
            <a:off x="2151063" y="485411"/>
            <a:ext cx="7631112" cy="3059112"/>
            <a:chOff x="1355" y="1771"/>
            <a:chExt cx="4807" cy="1927"/>
          </a:xfrm>
        </p:grpSpPr>
        <p:sp>
          <p:nvSpPr>
            <p:cNvPr id="76" name="Line 2">
              <a:extLst>
                <a:ext uri="{FF2B5EF4-FFF2-40B4-BE49-F238E27FC236}">
                  <a16:creationId xmlns:a16="http://schemas.microsoft.com/office/drawing/2014/main" id="{437827F9-9386-46E8-868C-AC60B6A0F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5" y="2527"/>
              <a:ext cx="2047" cy="8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7" name="Line 3">
              <a:extLst>
                <a:ext uri="{FF2B5EF4-FFF2-40B4-BE49-F238E27FC236}">
                  <a16:creationId xmlns:a16="http://schemas.microsoft.com/office/drawing/2014/main" id="{8E95B988-AA15-4D1A-B35D-5BC78B522D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5" y="2509"/>
              <a:ext cx="2047" cy="87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8" name="Line 4">
              <a:extLst>
                <a:ext uri="{FF2B5EF4-FFF2-40B4-BE49-F238E27FC236}">
                  <a16:creationId xmlns:a16="http://schemas.microsoft.com/office/drawing/2014/main" id="{A8D43EB9-5222-41C3-9DCA-51047A381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" y="2488"/>
              <a:ext cx="1656" cy="10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9" name="Line 5">
              <a:extLst>
                <a:ext uri="{FF2B5EF4-FFF2-40B4-BE49-F238E27FC236}">
                  <a16:creationId xmlns:a16="http://schemas.microsoft.com/office/drawing/2014/main" id="{2B3CB198-B359-4057-9C4B-30824F111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2" y="2572"/>
              <a:ext cx="1656" cy="109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81" name="Line 6">
              <a:extLst>
                <a:ext uri="{FF2B5EF4-FFF2-40B4-BE49-F238E27FC236}">
                  <a16:creationId xmlns:a16="http://schemas.microsoft.com/office/drawing/2014/main" id="{16F50258-5270-44A6-A3EA-D532DBC33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1771"/>
              <a:ext cx="0" cy="192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15147C1B-7A01-472F-9D94-033CF21F6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0" y="1775"/>
              <a:ext cx="0" cy="192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83" name="Group 66">
            <a:extLst>
              <a:ext uri="{FF2B5EF4-FFF2-40B4-BE49-F238E27FC236}">
                <a16:creationId xmlns:a16="http://schemas.microsoft.com/office/drawing/2014/main" id="{321A05F5-6E6A-420A-99A8-0D040036A434}"/>
              </a:ext>
            </a:extLst>
          </p:cNvPr>
          <p:cNvGrpSpPr>
            <a:grpSpLocks/>
          </p:cNvGrpSpPr>
          <p:nvPr/>
        </p:nvGrpSpPr>
        <p:grpSpPr bwMode="auto">
          <a:xfrm>
            <a:off x="8378660" y="971265"/>
            <a:ext cx="1500188" cy="1341438"/>
            <a:chOff x="5278" y="2058"/>
            <a:chExt cx="945" cy="845"/>
          </a:xfrm>
        </p:grpSpPr>
        <p:sp>
          <p:nvSpPr>
            <p:cNvPr id="84" name="Line 36">
              <a:extLst>
                <a:ext uri="{FF2B5EF4-FFF2-40B4-BE49-F238E27FC236}">
                  <a16:creationId xmlns:a16="http://schemas.microsoft.com/office/drawing/2014/main" id="{0F69FE89-B971-4D28-8733-A1B6289A1B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5504" y="2327"/>
              <a:ext cx="350" cy="801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48" name="Object 37">
              <a:extLst>
                <a:ext uri="{FF2B5EF4-FFF2-40B4-BE49-F238E27FC236}">
                  <a16:creationId xmlns:a16="http://schemas.microsoft.com/office/drawing/2014/main" id="{6FFD4E83-9B74-4324-87C8-514E2F9F95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43" y="2058"/>
            <a:ext cx="28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148" name="Object 37">
                          <a:extLst>
                            <a:ext uri="{FF2B5EF4-FFF2-40B4-BE49-F238E27FC236}">
                              <a16:creationId xmlns:a16="http://schemas.microsoft.com/office/drawing/2014/main" id="{6FFD4E83-9B74-4324-87C8-514E2F9F95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3" y="2058"/>
                          <a:ext cx="280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" name="Freeform 64">
            <a:extLst>
              <a:ext uri="{FF2B5EF4-FFF2-40B4-BE49-F238E27FC236}">
                <a16:creationId xmlns:a16="http://schemas.microsoft.com/office/drawing/2014/main" id="{7FADC2CB-0782-4DB3-B963-2F0EBC37ADEF}"/>
              </a:ext>
            </a:extLst>
          </p:cNvPr>
          <p:cNvSpPr>
            <a:spLocks/>
          </p:cNvSpPr>
          <p:nvPr/>
        </p:nvSpPr>
        <p:spPr bwMode="auto">
          <a:xfrm>
            <a:off x="7458075" y="456836"/>
            <a:ext cx="1763713" cy="3592512"/>
          </a:xfrm>
          <a:custGeom>
            <a:avLst/>
            <a:gdLst>
              <a:gd name="T0" fmla="*/ 0 w 1111"/>
              <a:gd name="T1" fmla="*/ 0 h 2263"/>
              <a:gd name="T2" fmla="*/ 0 w 1111"/>
              <a:gd name="T3" fmla="*/ 2147483646 h 2263"/>
              <a:gd name="T4" fmla="*/ 2147483646 w 1111"/>
              <a:gd name="T5" fmla="*/ 2147483646 h 2263"/>
              <a:gd name="T6" fmla="*/ 2147483646 w 1111"/>
              <a:gd name="T7" fmla="*/ 2147483646 h 2263"/>
              <a:gd name="T8" fmla="*/ 0 w 1111"/>
              <a:gd name="T9" fmla="*/ 0 h 22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11" h="2263">
                <a:moveTo>
                  <a:pt x="0" y="0"/>
                </a:moveTo>
                <a:lnTo>
                  <a:pt x="0" y="1533"/>
                </a:lnTo>
                <a:lnTo>
                  <a:pt x="1111" y="2263"/>
                </a:lnTo>
                <a:lnTo>
                  <a:pt x="1100" y="576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50" name="Freeform 63">
            <a:extLst>
              <a:ext uri="{FF2B5EF4-FFF2-40B4-BE49-F238E27FC236}">
                <a16:creationId xmlns:a16="http://schemas.microsoft.com/office/drawing/2014/main" id="{999FD9A6-278C-40DB-BF06-A40AC9CC6871}"/>
              </a:ext>
            </a:extLst>
          </p:cNvPr>
          <p:cNvSpPr>
            <a:spLocks/>
          </p:cNvSpPr>
          <p:nvPr/>
        </p:nvSpPr>
        <p:spPr bwMode="auto">
          <a:xfrm>
            <a:off x="2997200" y="434611"/>
            <a:ext cx="1763713" cy="3592512"/>
          </a:xfrm>
          <a:custGeom>
            <a:avLst/>
            <a:gdLst>
              <a:gd name="T0" fmla="*/ 0 w 1111"/>
              <a:gd name="T1" fmla="*/ 0 h 2263"/>
              <a:gd name="T2" fmla="*/ 0 w 1111"/>
              <a:gd name="T3" fmla="*/ 2147483646 h 2263"/>
              <a:gd name="T4" fmla="*/ 2147483646 w 1111"/>
              <a:gd name="T5" fmla="*/ 2147483646 h 2263"/>
              <a:gd name="T6" fmla="*/ 2147483646 w 1111"/>
              <a:gd name="T7" fmla="*/ 2147483646 h 2263"/>
              <a:gd name="T8" fmla="*/ 0 w 1111"/>
              <a:gd name="T9" fmla="*/ 0 h 22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11" h="2263">
                <a:moveTo>
                  <a:pt x="0" y="0"/>
                </a:moveTo>
                <a:lnTo>
                  <a:pt x="0" y="1533"/>
                </a:lnTo>
                <a:lnTo>
                  <a:pt x="1111" y="2263"/>
                </a:lnTo>
                <a:lnTo>
                  <a:pt x="1100" y="576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151" name="Group 60">
            <a:extLst>
              <a:ext uri="{FF2B5EF4-FFF2-40B4-BE49-F238E27FC236}">
                <a16:creationId xmlns:a16="http://schemas.microsoft.com/office/drawing/2014/main" id="{ABD24394-93BC-485E-9D96-37C5396F70E5}"/>
              </a:ext>
            </a:extLst>
          </p:cNvPr>
          <p:cNvGrpSpPr>
            <a:grpSpLocks/>
          </p:cNvGrpSpPr>
          <p:nvPr/>
        </p:nvGrpSpPr>
        <p:grpSpPr bwMode="auto">
          <a:xfrm>
            <a:off x="3016250" y="1052148"/>
            <a:ext cx="579438" cy="1063625"/>
            <a:chOff x="1900" y="2128"/>
            <a:chExt cx="365" cy="670"/>
          </a:xfrm>
        </p:grpSpPr>
        <p:sp>
          <p:nvSpPr>
            <p:cNvPr id="152" name="Line 11">
              <a:extLst>
                <a:ext uri="{FF2B5EF4-FFF2-40B4-BE49-F238E27FC236}">
                  <a16:creationId xmlns:a16="http://schemas.microsoft.com/office/drawing/2014/main" id="{2B0B997F-5A46-49CA-8FE2-FD735B5E4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5" y="2306"/>
              <a:ext cx="0" cy="49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53" name="Object 13">
              <a:extLst>
                <a:ext uri="{FF2B5EF4-FFF2-40B4-BE49-F238E27FC236}">
                  <a16:creationId xmlns:a16="http://schemas.microsoft.com/office/drawing/2014/main" id="{B326CEC0-248F-466C-958E-B9FCD0AC3C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0" y="2128"/>
            <a:ext cx="26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9579" imgH="177646" progId="Equation.3">
                    <p:embed/>
                  </p:oleObj>
                </mc:Choice>
                <mc:Fallback>
                  <p:oleObj name="Ecuación" r:id="rId5" imgW="139579" imgH="177646" progId="Equation.3">
                    <p:embed/>
                    <p:pic>
                      <p:nvPicPr>
                        <p:cNvPr id="153" name="Object 13">
                          <a:extLst>
                            <a:ext uri="{FF2B5EF4-FFF2-40B4-BE49-F238E27FC236}">
                              <a16:creationId xmlns:a16="http://schemas.microsoft.com/office/drawing/2014/main" id="{B326CEC0-248F-466C-958E-B9FCD0AC3C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0" y="2128"/>
                          <a:ext cx="261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4" name="Group 14">
            <a:extLst>
              <a:ext uri="{FF2B5EF4-FFF2-40B4-BE49-F238E27FC236}">
                <a16:creationId xmlns:a16="http://schemas.microsoft.com/office/drawing/2014/main" id="{FF0247EB-6DAD-4662-9840-EB0A7EE10E43}"/>
              </a:ext>
            </a:extLst>
          </p:cNvPr>
          <p:cNvGrpSpPr>
            <a:grpSpLocks/>
          </p:cNvGrpSpPr>
          <p:nvPr/>
        </p:nvGrpSpPr>
        <p:grpSpPr bwMode="auto">
          <a:xfrm>
            <a:off x="1481074" y="2933336"/>
            <a:ext cx="407988" cy="422275"/>
            <a:chOff x="1240" y="3526"/>
            <a:chExt cx="257" cy="266"/>
          </a:xfrm>
        </p:grpSpPr>
        <p:sp>
          <p:nvSpPr>
            <p:cNvPr id="155" name="Line 15">
              <a:extLst>
                <a:ext uri="{FF2B5EF4-FFF2-40B4-BE49-F238E27FC236}">
                  <a16:creationId xmlns:a16="http://schemas.microsoft.com/office/drawing/2014/main" id="{C776244B-F8F6-45BC-9C95-5C69ADEF7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0" y="3526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6" name="Line 16">
              <a:extLst>
                <a:ext uri="{FF2B5EF4-FFF2-40B4-BE49-F238E27FC236}">
                  <a16:creationId xmlns:a16="http://schemas.microsoft.com/office/drawing/2014/main" id="{A42D65F2-6580-41AE-B2BF-D195BAE4B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6" y="3685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7" name="Oval 17">
              <a:extLst>
                <a:ext uri="{FF2B5EF4-FFF2-40B4-BE49-F238E27FC236}">
                  <a16:creationId xmlns:a16="http://schemas.microsoft.com/office/drawing/2014/main" id="{61240CCD-A512-438A-B5DD-67600C9F3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3562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158" name="Group 79">
            <a:extLst>
              <a:ext uri="{FF2B5EF4-FFF2-40B4-BE49-F238E27FC236}">
                <a16:creationId xmlns:a16="http://schemas.microsoft.com/office/drawing/2014/main" id="{93378BBC-3066-4699-ADDB-FEB38C6C2637}"/>
              </a:ext>
            </a:extLst>
          </p:cNvPr>
          <p:cNvGrpSpPr>
            <a:grpSpLocks/>
          </p:cNvGrpSpPr>
          <p:nvPr/>
        </p:nvGrpSpPr>
        <p:grpSpPr bwMode="auto">
          <a:xfrm>
            <a:off x="3940175" y="2231661"/>
            <a:ext cx="830263" cy="447675"/>
            <a:chOff x="2482" y="2645"/>
            <a:chExt cx="523" cy="282"/>
          </a:xfrm>
        </p:grpSpPr>
        <p:sp>
          <p:nvSpPr>
            <p:cNvPr id="159" name="Line 12">
              <a:extLst>
                <a:ext uri="{FF2B5EF4-FFF2-40B4-BE49-F238E27FC236}">
                  <a16:creationId xmlns:a16="http://schemas.microsoft.com/office/drawing/2014/main" id="{582C3029-CA1E-49D8-87ED-10A34FFC7F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828182" flipH="1" flipV="1">
              <a:off x="2528" y="2635"/>
              <a:ext cx="187" cy="27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60" name="Object 18">
              <a:extLst>
                <a:ext uri="{FF2B5EF4-FFF2-40B4-BE49-F238E27FC236}">
                  <a16:creationId xmlns:a16="http://schemas.microsoft.com/office/drawing/2014/main" id="{1ACFE600-678A-41E4-9560-6E08EA162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06" y="2645"/>
            <a:ext cx="199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6725" imgH="177415" progId="Equation.3">
                    <p:embed/>
                  </p:oleObj>
                </mc:Choice>
                <mc:Fallback>
                  <p:oleObj name="Ecuación" r:id="rId7" imgW="126725" imgH="177415" progId="Equation.3">
                    <p:embed/>
                    <p:pic>
                      <p:nvPicPr>
                        <p:cNvPr id="160" name="Object 18">
                          <a:extLst>
                            <a:ext uri="{FF2B5EF4-FFF2-40B4-BE49-F238E27FC236}">
                              <a16:creationId xmlns:a16="http://schemas.microsoft.com/office/drawing/2014/main" id="{1ACFE600-678A-41E4-9560-6E08EA1622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6" y="2645"/>
                          <a:ext cx="199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1" name="Group 65">
            <a:extLst>
              <a:ext uri="{FF2B5EF4-FFF2-40B4-BE49-F238E27FC236}">
                <a16:creationId xmlns:a16="http://schemas.microsoft.com/office/drawing/2014/main" id="{D9AEBAA1-8076-4F14-97D3-A765161A844B}"/>
              </a:ext>
            </a:extLst>
          </p:cNvPr>
          <p:cNvGrpSpPr>
            <a:grpSpLocks/>
          </p:cNvGrpSpPr>
          <p:nvPr/>
        </p:nvGrpSpPr>
        <p:grpSpPr bwMode="auto">
          <a:xfrm>
            <a:off x="2268537" y="2523725"/>
            <a:ext cx="1092200" cy="989013"/>
            <a:chOff x="1207" y="2714"/>
            <a:chExt cx="688" cy="623"/>
          </a:xfrm>
        </p:grpSpPr>
        <p:sp>
          <p:nvSpPr>
            <p:cNvPr id="162" name="Line 20">
              <a:extLst>
                <a:ext uri="{FF2B5EF4-FFF2-40B4-BE49-F238E27FC236}">
                  <a16:creationId xmlns:a16="http://schemas.microsoft.com/office/drawing/2014/main" id="{3BD540ED-4237-4AE2-AD18-EB92CF2174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06" y="2515"/>
              <a:ext cx="289" cy="688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63" name="Object 21">
              <a:extLst>
                <a:ext uri="{FF2B5EF4-FFF2-40B4-BE49-F238E27FC236}">
                  <a16:creationId xmlns:a16="http://schemas.microsoft.com/office/drawing/2014/main" id="{68797F49-E986-4588-9EBE-A363C8114A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3" y="2976"/>
            <a:ext cx="28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579" imgH="177646" progId="Equation.3">
                    <p:embed/>
                  </p:oleObj>
                </mc:Choice>
                <mc:Fallback>
                  <p:oleObj name="Ecuación" r:id="rId3" imgW="139579" imgH="177646" progId="Equation.3">
                    <p:embed/>
                    <p:pic>
                      <p:nvPicPr>
                        <p:cNvPr id="163" name="Object 21">
                          <a:extLst>
                            <a:ext uri="{FF2B5EF4-FFF2-40B4-BE49-F238E27FC236}">
                              <a16:creationId xmlns:a16="http://schemas.microsoft.com/office/drawing/2014/main" id="{68797F49-E986-4588-9EBE-A363C8114A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" y="2976"/>
                          <a:ext cx="280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" name="Group 61">
            <a:extLst>
              <a:ext uri="{FF2B5EF4-FFF2-40B4-BE49-F238E27FC236}">
                <a16:creationId xmlns:a16="http://schemas.microsoft.com/office/drawing/2014/main" id="{2572E739-626D-4133-91C5-9D2D0ADA36F7}"/>
              </a:ext>
            </a:extLst>
          </p:cNvPr>
          <p:cNvGrpSpPr>
            <a:grpSpLocks/>
          </p:cNvGrpSpPr>
          <p:nvPr/>
        </p:nvGrpSpPr>
        <p:grpSpPr bwMode="auto">
          <a:xfrm>
            <a:off x="7527925" y="1052148"/>
            <a:ext cx="579438" cy="1066800"/>
            <a:chOff x="4742" y="2128"/>
            <a:chExt cx="365" cy="672"/>
          </a:xfrm>
        </p:grpSpPr>
        <p:sp>
          <p:nvSpPr>
            <p:cNvPr id="165" name="Line 30">
              <a:extLst>
                <a:ext uri="{FF2B5EF4-FFF2-40B4-BE49-F238E27FC236}">
                  <a16:creationId xmlns:a16="http://schemas.microsoft.com/office/drawing/2014/main" id="{13A5B454-D268-41A5-9067-FA13DDF1F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7" y="2308"/>
              <a:ext cx="0" cy="492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66" name="Object 31">
              <a:extLst>
                <a:ext uri="{FF2B5EF4-FFF2-40B4-BE49-F238E27FC236}">
                  <a16:creationId xmlns:a16="http://schemas.microsoft.com/office/drawing/2014/main" id="{6707FEE7-8A03-4373-B095-52CCB05519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2" y="2128"/>
            <a:ext cx="26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9579" imgH="177646" progId="Equation.3">
                    <p:embed/>
                  </p:oleObj>
                </mc:Choice>
                <mc:Fallback>
                  <p:oleObj name="Ecuación" r:id="rId5" imgW="139579" imgH="177646" progId="Equation.3">
                    <p:embed/>
                    <p:pic>
                      <p:nvPicPr>
                        <p:cNvPr id="166" name="Object 31">
                          <a:extLst>
                            <a:ext uri="{FF2B5EF4-FFF2-40B4-BE49-F238E27FC236}">
                              <a16:creationId xmlns:a16="http://schemas.microsoft.com/office/drawing/2014/main" id="{6707FEE7-8A03-4373-B095-52CCB05519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2" y="2128"/>
                          <a:ext cx="261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7" name="Group 56">
            <a:extLst>
              <a:ext uri="{FF2B5EF4-FFF2-40B4-BE49-F238E27FC236}">
                <a16:creationId xmlns:a16="http://schemas.microsoft.com/office/drawing/2014/main" id="{07816964-EBA9-4F74-A31F-E1664804936A}"/>
              </a:ext>
            </a:extLst>
          </p:cNvPr>
          <p:cNvGrpSpPr>
            <a:grpSpLocks/>
          </p:cNvGrpSpPr>
          <p:nvPr/>
        </p:nvGrpSpPr>
        <p:grpSpPr bwMode="auto">
          <a:xfrm>
            <a:off x="3316288" y="2128473"/>
            <a:ext cx="5200650" cy="992188"/>
            <a:chOff x="2089" y="2806"/>
            <a:chExt cx="3276" cy="625"/>
          </a:xfrm>
        </p:grpSpPr>
        <p:sp>
          <p:nvSpPr>
            <p:cNvPr id="168" name="Text Box 22">
              <a:extLst>
                <a:ext uri="{FF2B5EF4-FFF2-40B4-BE49-F238E27FC236}">
                  <a16:creationId xmlns:a16="http://schemas.microsoft.com/office/drawing/2014/main" id="{7BDF9083-36D7-4735-9F47-9845EC4A7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" y="3139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q</a:t>
              </a:r>
            </a:p>
          </p:txBody>
        </p:sp>
        <p:pic>
          <p:nvPicPr>
            <p:cNvPr id="169" name="Picture 23" descr="Image1">
              <a:extLst>
                <a:ext uri="{FF2B5EF4-FFF2-40B4-BE49-F238E27FC236}">
                  <a16:creationId xmlns:a16="http://schemas.microsoft.com/office/drawing/2014/main" id="{08E9A9FA-A025-468E-B2FE-A916BB0D34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9" y="280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0" name="Picture 24" descr="Image2">
              <a:extLst>
                <a:ext uri="{FF2B5EF4-FFF2-40B4-BE49-F238E27FC236}">
                  <a16:creationId xmlns:a16="http://schemas.microsoft.com/office/drawing/2014/main" id="{D4BEF925-2497-4A44-AE31-0FD15E97ED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23" y="2806"/>
              <a:ext cx="36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Text Box 34">
              <a:extLst>
                <a:ext uri="{FF2B5EF4-FFF2-40B4-BE49-F238E27FC236}">
                  <a16:creationId xmlns:a16="http://schemas.microsoft.com/office/drawing/2014/main" id="{7195F810-E5D2-4706-BC4C-FD54BE7ED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" y="3101"/>
              <a:ext cx="223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q</a:t>
              </a:r>
            </a:p>
          </p:txBody>
        </p:sp>
      </p:grpSp>
      <p:grpSp>
        <p:nvGrpSpPr>
          <p:cNvPr id="172" name="Group 38">
            <a:extLst>
              <a:ext uri="{FF2B5EF4-FFF2-40B4-BE49-F238E27FC236}">
                <a16:creationId xmlns:a16="http://schemas.microsoft.com/office/drawing/2014/main" id="{A5360041-D792-442B-8BB2-17932FAEBA53}"/>
              </a:ext>
            </a:extLst>
          </p:cNvPr>
          <p:cNvGrpSpPr>
            <a:grpSpLocks/>
          </p:cNvGrpSpPr>
          <p:nvPr/>
        </p:nvGrpSpPr>
        <p:grpSpPr bwMode="auto">
          <a:xfrm>
            <a:off x="5929313" y="2936511"/>
            <a:ext cx="407987" cy="422275"/>
            <a:chOff x="1240" y="3526"/>
            <a:chExt cx="257" cy="266"/>
          </a:xfrm>
        </p:grpSpPr>
        <p:sp>
          <p:nvSpPr>
            <p:cNvPr id="173" name="Line 39">
              <a:extLst>
                <a:ext uri="{FF2B5EF4-FFF2-40B4-BE49-F238E27FC236}">
                  <a16:creationId xmlns:a16="http://schemas.microsoft.com/office/drawing/2014/main" id="{4F1529DF-0E2E-4472-8564-3D629E376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0" y="3526"/>
              <a:ext cx="257" cy="1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" name="Line 40">
              <a:extLst>
                <a:ext uri="{FF2B5EF4-FFF2-40B4-BE49-F238E27FC236}">
                  <a16:creationId xmlns:a16="http://schemas.microsoft.com/office/drawing/2014/main" id="{AF96487C-F6EA-4466-A74E-D7B53DA64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6" y="3685"/>
              <a:ext cx="251" cy="1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" name="Oval 41">
              <a:extLst>
                <a:ext uri="{FF2B5EF4-FFF2-40B4-BE49-F238E27FC236}">
                  <a16:creationId xmlns:a16="http://schemas.microsoft.com/office/drawing/2014/main" id="{78627232-738F-4E25-840F-368DBCB78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3562"/>
              <a:ext cx="56" cy="19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</p:grpSp>
      <p:grpSp>
        <p:nvGrpSpPr>
          <p:cNvPr id="176" name="Group 87">
            <a:extLst>
              <a:ext uri="{FF2B5EF4-FFF2-40B4-BE49-F238E27FC236}">
                <a16:creationId xmlns:a16="http://schemas.microsoft.com/office/drawing/2014/main" id="{00753FE0-E21E-48C1-A2F3-737420313674}"/>
              </a:ext>
            </a:extLst>
          </p:cNvPr>
          <p:cNvGrpSpPr>
            <a:grpSpLocks/>
          </p:cNvGrpSpPr>
          <p:nvPr/>
        </p:nvGrpSpPr>
        <p:grpSpPr bwMode="auto">
          <a:xfrm>
            <a:off x="3706810" y="1285511"/>
            <a:ext cx="590549" cy="1117600"/>
            <a:chOff x="2335" y="2049"/>
            <a:chExt cx="372" cy="704"/>
          </a:xfrm>
        </p:grpSpPr>
        <p:sp>
          <p:nvSpPr>
            <p:cNvPr id="177" name="Freeform 46">
              <a:extLst>
                <a:ext uri="{FF2B5EF4-FFF2-40B4-BE49-F238E27FC236}">
                  <a16:creationId xmlns:a16="http://schemas.microsoft.com/office/drawing/2014/main" id="{2C74A846-4AD1-436D-8454-6BE5364432D3}"/>
                </a:ext>
              </a:extLst>
            </p:cNvPr>
            <p:cNvSpPr>
              <a:spLocks/>
            </p:cNvSpPr>
            <p:nvPr/>
          </p:nvSpPr>
          <p:spPr bwMode="auto">
            <a:xfrm rot="-685711">
              <a:off x="2335" y="2327"/>
              <a:ext cx="225" cy="426"/>
            </a:xfrm>
            <a:custGeom>
              <a:avLst/>
              <a:gdLst>
                <a:gd name="T0" fmla="*/ 1813883 w 131"/>
                <a:gd name="T1" fmla="*/ 5 h 557"/>
                <a:gd name="T2" fmla="*/ 1909802 w 131"/>
                <a:gd name="T3" fmla="*/ 2 h 557"/>
                <a:gd name="T4" fmla="*/ 0 w 131"/>
                <a:gd name="T5" fmla="*/ 0 h 5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1" h="557">
                  <a:moveTo>
                    <a:pt x="107" y="557"/>
                  </a:moveTo>
                  <a:cubicBezTo>
                    <a:pt x="119" y="444"/>
                    <a:pt x="131" y="331"/>
                    <a:pt x="113" y="238"/>
                  </a:cubicBezTo>
                  <a:cubicBezTo>
                    <a:pt x="95" y="145"/>
                    <a:pt x="47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miter lim="800000"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800"/>
            </a:p>
          </p:txBody>
        </p:sp>
        <p:sp>
          <p:nvSpPr>
            <p:cNvPr id="178" name="Text Box 47">
              <a:extLst>
                <a:ext uri="{FF2B5EF4-FFF2-40B4-BE49-F238E27FC236}">
                  <a16:creationId xmlns:a16="http://schemas.microsoft.com/office/drawing/2014/main" id="{7DB87035-73D7-40C8-BFFE-6BC06CB25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" y="2049"/>
              <a:ext cx="233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>
                  <a:solidFill>
                    <a:srgbClr val="008000"/>
                  </a:solidFill>
                  <a:sym typeface="Symbol" panose="05050102010706020507" pitchFamily="18" charset="2"/>
                </a:rPr>
                <a:t></a:t>
              </a:r>
            </a:p>
          </p:txBody>
        </p:sp>
      </p:grpSp>
      <p:sp>
        <p:nvSpPr>
          <p:cNvPr id="179" name="Text Box 70">
            <a:extLst>
              <a:ext uri="{FF2B5EF4-FFF2-40B4-BE49-F238E27FC236}">
                <a16:creationId xmlns:a16="http://schemas.microsoft.com/office/drawing/2014/main" id="{853C0268-8630-4758-8625-4895235B9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75" y="463132"/>
            <a:ext cx="890285" cy="536549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chemeClr val="tx1"/>
                </a:solidFill>
              </a:rPr>
              <a:t>q &gt; 0</a:t>
            </a:r>
          </a:p>
        </p:txBody>
      </p:sp>
      <p:sp>
        <p:nvSpPr>
          <p:cNvPr id="180" name="Text Box 71">
            <a:extLst>
              <a:ext uri="{FF2B5EF4-FFF2-40B4-BE49-F238E27FC236}">
                <a16:creationId xmlns:a16="http://schemas.microsoft.com/office/drawing/2014/main" id="{38AA0E28-063C-4C9E-9E2B-7FE5CF661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0845" y="438687"/>
            <a:ext cx="890285" cy="536549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chemeClr val="tx1"/>
                </a:solidFill>
              </a:rPr>
              <a:t>q &lt; 0</a:t>
            </a:r>
          </a:p>
        </p:txBody>
      </p:sp>
      <p:grpSp>
        <p:nvGrpSpPr>
          <p:cNvPr id="181" name="Group 75">
            <a:extLst>
              <a:ext uri="{FF2B5EF4-FFF2-40B4-BE49-F238E27FC236}">
                <a16:creationId xmlns:a16="http://schemas.microsoft.com/office/drawing/2014/main" id="{4C38DC13-3C0E-4E7B-8E0D-C4E03C39A403}"/>
              </a:ext>
            </a:extLst>
          </p:cNvPr>
          <p:cNvGrpSpPr>
            <a:grpSpLocks/>
          </p:cNvGrpSpPr>
          <p:nvPr/>
        </p:nvGrpSpPr>
        <p:grpSpPr bwMode="auto">
          <a:xfrm>
            <a:off x="6410328" y="2069735"/>
            <a:ext cx="1474788" cy="771525"/>
            <a:chOff x="4023" y="2759"/>
            <a:chExt cx="929" cy="486"/>
          </a:xfrm>
        </p:grpSpPr>
        <p:sp>
          <p:nvSpPr>
            <p:cNvPr id="182" name="Line 73">
              <a:extLst>
                <a:ext uri="{FF2B5EF4-FFF2-40B4-BE49-F238E27FC236}">
                  <a16:creationId xmlns:a16="http://schemas.microsoft.com/office/drawing/2014/main" id="{F01F22C4-3C53-43AB-91CE-7A90C1500E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85" y="2879"/>
              <a:ext cx="217" cy="516"/>
            </a:xfrm>
            <a:prstGeom prst="line">
              <a:avLst/>
            </a:prstGeom>
            <a:noFill/>
            <a:ln w="63500">
              <a:solidFill>
                <a:srgbClr val="D60093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83" name="Object 74">
              <a:extLst>
                <a:ext uri="{FF2B5EF4-FFF2-40B4-BE49-F238E27FC236}">
                  <a16:creationId xmlns:a16="http://schemas.microsoft.com/office/drawing/2014/main" id="{CE8E2C79-DBB4-4BDA-9DB0-E53519DC05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3" y="2759"/>
            <a:ext cx="49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342603" imgH="215713" progId="Equation.3">
                    <p:embed/>
                  </p:oleObj>
                </mc:Choice>
                <mc:Fallback>
                  <p:oleObj name="Ecuación" r:id="rId11" imgW="342603" imgH="215713" progId="Equation.3">
                    <p:embed/>
                    <p:pic>
                      <p:nvPicPr>
                        <p:cNvPr id="183" name="Object 74">
                          <a:extLst>
                            <a:ext uri="{FF2B5EF4-FFF2-40B4-BE49-F238E27FC236}">
                              <a16:creationId xmlns:a16="http://schemas.microsoft.com/office/drawing/2014/main" id="{CE8E2C79-DBB4-4BDA-9DB0-E53519DC05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3" y="2759"/>
                          <a:ext cx="49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" name="Text Box 80">
            <a:extLst>
              <a:ext uri="{FF2B5EF4-FFF2-40B4-BE49-F238E27FC236}">
                <a16:creationId xmlns:a16="http://schemas.microsoft.com/office/drawing/2014/main" id="{BD51FDFE-7E19-4679-9104-C27C8FEAE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137" y="3542364"/>
            <a:ext cx="223841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D60093"/>
                </a:solidFill>
              </a:rPr>
              <a:t>giro antihorario</a:t>
            </a:r>
          </a:p>
        </p:txBody>
      </p:sp>
      <p:grpSp>
        <p:nvGrpSpPr>
          <p:cNvPr id="185" name="Group 80">
            <a:extLst>
              <a:ext uri="{FF2B5EF4-FFF2-40B4-BE49-F238E27FC236}">
                <a16:creationId xmlns:a16="http://schemas.microsoft.com/office/drawing/2014/main" id="{17472994-F5F9-4303-A83B-DB9A7CEB3D51}"/>
              </a:ext>
            </a:extLst>
          </p:cNvPr>
          <p:cNvGrpSpPr>
            <a:grpSpLocks/>
          </p:cNvGrpSpPr>
          <p:nvPr/>
        </p:nvGrpSpPr>
        <p:grpSpPr bwMode="auto">
          <a:xfrm>
            <a:off x="8426450" y="2220548"/>
            <a:ext cx="830263" cy="447675"/>
            <a:chOff x="2482" y="2645"/>
            <a:chExt cx="523" cy="282"/>
          </a:xfrm>
        </p:grpSpPr>
        <p:sp>
          <p:nvSpPr>
            <p:cNvPr id="186" name="Line 12">
              <a:extLst>
                <a:ext uri="{FF2B5EF4-FFF2-40B4-BE49-F238E27FC236}">
                  <a16:creationId xmlns:a16="http://schemas.microsoft.com/office/drawing/2014/main" id="{A7ABD094-2E7F-48A6-9B7D-4D2788BEAE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828182" flipH="1" flipV="1">
              <a:off x="2528" y="2635"/>
              <a:ext cx="187" cy="27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87" name="Object 18">
              <a:extLst>
                <a:ext uri="{FF2B5EF4-FFF2-40B4-BE49-F238E27FC236}">
                  <a16:creationId xmlns:a16="http://schemas.microsoft.com/office/drawing/2014/main" id="{5A08B402-5F68-4E8D-98C8-945FBF3B37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06" y="2645"/>
            <a:ext cx="199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26725" imgH="177415" progId="Equation.3">
                    <p:embed/>
                  </p:oleObj>
                </mc:Choice>
                <mc:Fallback>
                  <p:oleObj name="Ecuación" r:id="rId7" imgW="126725" imgH="177415" progId="Equation.3">
                    <p:embed/>
                    <p:pic>
                      <p:nvPicPr>
                        <p:cNvPr id="187" name="Object 18">
                          <a:extLst>
                            <a:ext uri="{FF2B5EF4-FFF2-40B4-BE49-F238E27FC236}">
                              <a16:creationId xmlns:a16="http://schemas.microsoft.com/office/drawing/2014/main" id="{5A08B402-5F68-4E8D-98C8-945FBF3B37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6" y="2645"/>
                          <a:ext cx="199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8" name="Group 88">
            <a:extLst>
              <a:ext uri="{FF2B5EF4-FFF2-40B4-BE49-F238E27FC236}">
                <a16:creationId xmlns:a16="http://schemas.microsoft.com/office/drawing/2014/main" id="{88A10A86-55DE-4CE6-9630-4ECCFAE6BA84}"/>
              </a:ext>
            </a:extLst>
          </p:cNvPr>
          <p:cNvGrpSpPr>
            <a:grpSpLocks/>
          </p:cNvGrpSpPr>
          <p:nvPr/>
        </p:nvGrpSpPr>
        <p:grpSpPr bwMode="auto">
          <a:xfrm>
            <a:off x="8235953" y="1299798"/>
            <a:ext cx="590551" cy="1117600"/>
            <a:chOff x="2335" y="2049"/>
            <a:chExt cx="372" cy="704"/>
          </a:xfrm>
        </p:grpSpPr>
        <p:sp>
          <p:nvSpPr>
            <p:cNvPr id="189" name="Freeform 46">
              <a:extLst>
                <a:ext uri="{FF2B5EF4-FFF2-40B4-BE49-F238E27FC236}">
                  <a16:creationId xmlns:a16="http://schemas.microsoft.com/office/drawing/2014/main" id="{9CD55D0F-8CED-40EF-ACC3-0CDC127CDA65}"/>
                </a:ext>
              </a:extLst>
            </p:cNvPr>
            <p:cNvSpPr>
              <a:spLocks/>
            </p:cNvSpPr>
            <p:nvPr/>
          </p:nvSpPr>
          <p:spPr bwMode="auto">
            <a:xfrm rot="-685711">
              <a:off x="2335" y="2327"/>
              <a:ext cx="225" cy="426"/>
            </a:xfrm>
            <a:custGeom>
              <a:avLst/>
              <a:gdLst>
                <a:gd name="T0" fmla="*/ 1813883 w 131"/>
                <a:gd name="T1" fmla="*/ 5 h 557"/>
                <a:gd name="T2" fmla="*/ 1909802 w 131"/>
                <a:gd name="T3" fmla="*/ 2 h 557"/>
                <a:gd name="T4" fmla="*/ 0 w 131"/>
                <a:gd name="T5" fmla="*/ 0 h 5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1" h="557">
                  <a:moveTo>
                    <a:pt x="107" y="557"/>
                  </a:moveTo>
                  <a:cubicBezTo>
                    <a:pt x="119" y="444"/>
                    <a:pt x="131" y="331"/>
                    <a:pt x="113" y="238"/>
                  </a:cubicBezTo>
                  <a:cubicBezTo>
                    <a:pt x="95" y="145"/>
                    <a:pt x="47" y="72"/>
                    <a:pt x="0" y="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miter lim="800000"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sz="2800"/>
            </a:p>
          </p:txBody>
        </p:sp>
        <p:sp>
          <p:nvSpPr>
            <p:cNvPr id="190" name="Text Box 47">
              <a:extLst>
                <a:ext uri="{FF2B5EF4-FFF2-40B4-BE49-F238E27FC236}">
                  <a16:creationId xmlns:a16="http://schemas.microsoft.com/office/drawing/2014/main" id="{A4AE1495-32B0-4EF9-8A6E-78A5FFAEC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4" y="2049"/>
              <a:ext cx="233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 dirty="0">
                  <a:solidFill>
                    <a:srgbClr val="008000"/>
                  </a:solidFill>
                  <a:sym typeface="Symbol" panose="05050102010706020507" pitchFamily="18" charset="2"/>
                </a:rPr>
                <a:t></a:t>
              </a:r>
            </a:p>
          </p:txBody>
        </p:sp>
      </p:grpSp>
      <p:sp>
        <p:nvSpPr>
          <p:cNvPr id="191" name="Text Box 80">
            <a:extLst>
              <a:ext uri="{FF2B5EF4-FFF2-40B4-BE49-F238E27FC236}">
                <a16:creationId xmlns:a16="http://schemas.microsoft.com/office/drawing/2014/main" id="{BDDFAB2E-1450-48F5-A705-B67DD6881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3550" y="3499438"/>
            <a:ext cx="223841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D60093"/>
                </a:solidFill>
              </a:rPr>
              <a:t>giro antihorario</a:t>
            </a:r>
          </a:p>
        </p:txBody>
      </p:sp>
      <p:grpSp>
        <p:nvGrpSpPr>
          <p:cNvPr id="192" name="Grupo 191">
            <a:extLst>
              <a:ext uri="{FF2B5EF4-FFF2-40B4-BE49-F238E27FC236}">
                <a16:creationId xmlns:a16="http://schemas.microsoft.com/office/drawing/2014/main" id="{C0FB5C8D-CD4A-4058-BAAD-935DF4B612FF}"/>
              </a:ext>
            </a:extLst>
          </p:cNvPr>
          <p:cNvGrpSpPr/>
          <p:nvPr/>
        </p:nvGrpSpPr>
        <p:grpSpPr>
          <a:xfrm>
            <a:off x="1891905" y="2085214"/>
            <a:ext cx="1473994" cy="782151"/>
            <a:chOff x="1891905" y="4958923"/>
            <a:chExt cx="1473994" cy="782151"/>
          </a:xfrm>
        </p:grpSpPr>
        <p:sp>
          <p:nvSpPr>
            <p:cNvPr id="193" name="Line 73">
              <a:extLst>
                <a:ext uri="{FF2B5EF4-FFF2-40B4-BE49-F238E27FC236}">
                  <a16:creationId xmlns:a16="http://schemas.microsoft.com/office/drawing/2014/main" id="{4F023730-B518-463D-8D5A-6F0CFD00BF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84080" y="5159255"/>
              <a:ext cx="344488" cy="819150"/>
            </a:xfrm>
            <a:prstGeom prst="line">
              <a:avLst/>
            </a:prstGeom>
            <a:noFill/>
            <a:ln w="63500">
              <a:solidFill>
                <a:srgbClr val="D60093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94" name="Object 74">
              <a:extLst>
                <a:ext uri="{FF2B5EF4-FFF2-40B4-BE49-F238E27FC236}">
                  <a16:creationId xmlns:a16="http://schemas.microsoft.com/office/drawing/2014/main" id="{B3456AAA-0C41-4751-9448-1831F0067C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91905" y="4958923"/>
            <a:ext cx="790575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342603" imgH="215713" progId="Equation.3">
                    <p:embed/>
                  </p:oleObj>
                </mc:Choice>
                <mc:Fallback>
                  <p:oleObj name="Ecuación" r:id="rId11" imgW="342603" imgH="215713" progId="Equation.3">
                    <p:embed/>
                    <p:pic>
                      <p:nvPicPr>
                        <p:cNvPr id="194" name="Object 74">
                          <a:extLst>
                            <a:ext uri="{FF2B5EF4-FFF2-40B4-BE49-F238E27FC236}">
                              <a16:creationId xmlns:a16="http://schemas.microsoft.com/office/drawing/2014/main" id="{B3456AAA-0C41-4751-9448-1831F0067C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905" y="4958923"/>
                          <a:ext cx="790575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5" name="Line 67">
            <a:extLst>
              <a:ext uri="{FF2B5EF4-FFF2-40B4-BE49-F238E27FC236}">
                <a16:creationId xmlns:a16="http://schemas.microsoft.com/office/drawing/2014/main" id="{0F3F4308-0C75-43D8-8862-ED2DB1A35F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97975" y="1769157"/>
            <a:ext cx="407988" cy="18097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grpSp>
        <p:nvGrpSpPr>
          <p:cNvPr id="138" name="Group 85">
            <a:extLst>
              <a:ext uri="{FF2B5EF4-FFF2-40B4-BE49-F238E27FC236}">
                <a16:creationId xmlns:a16="http://schemas.microsoft.com/office/drawing/2014/main" id="{DE9E337C-0A67-4DCB-B921-AFA7036D5D0E}"/>
              </a:ext>
            </a:extLst>
          </p:cNvPr>
          <p:cNvGrpSpPr>
            <a:grpSpLocks/>
          </p:cNvGrpSpPr>
          <p:nvPr/>
        </p:nvGrpSpPr>
        <p:grpSpPr bwMode="auto">
          <a:xfrm>
            <a:off x="3810503" y="2486262"/>
            <a:ext cx="823912" cy="981075"/>
            <a:chOff x="2403" y="2801"/>
            <a:chExt cx="519" cy="618"/>
          </a:xfrm>
        </p:grpSpPr>
        <p:sp>
          <p:nvSpPr>
            <p:cNvPr id="139" name="Line 50">
              <a:extLst>
                <a:ext uri="{FF2B5EF4-FFF2-40B4-BE49-F238E27FC236}">
                  <a16:creationId xmlns:a16="http://schemas.microsoft.com/office/drawing/2014/main" id="{36BA431C-3D36-49E7-B692-402FD7807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4" y="2801"/>
              <a:ext cx="5" cy="3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40" name="Line 52">
              <a:extLst>
                <a:ext uri="{FF2B5EF4-FFF2-40B4-BE49-F238E27FC236}">
                  <a16:creationId xmlns:a16="http://schemas.microsoft.com/office/drawing/2014/main" id="{777F2F4B-A846-42B9-A6D1-A097491BD4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828182" flipH="1" flipV="1">
              <a:off x="2562" y="2794"/>
              <a:ext cx="57" cy="3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41" name="Object 54">
              <a:extLst>
                <a:ext uri="{FF2B5EF4-FFF2-40B4-BE49-F238E27FC236}">
                  <a16:creationId xmlns:a16="http://schemas.microsoft.com/office/drawing/2014/main" id="{655EE301-BD7E-45F8-A878-9C86339808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3" y="3077"/>
            <a:ext cx="319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203024" imgH="215713" progId="Equation.3">
                    <p:embed/>
                  </p:oleObj>
                </mc:Choice>
                <mc:Fallback>
                  <p:oleObj name="Ecuación" r:id="rId13" imgW="203024" imgH="215713" progId="Equation.3">
                    <p:embed/>
                    <p:pic>
                      <p:nvPicPr>
                        <p:cNvPr id="141" name="Object 54">
                          <a:extLst>
                            <a:ext uri="{FF2B5EF4-FFF2-40B4-BE49-F238E27FC236}">
                              <a16:creationId xmlns:a16="http://schemas.microsoft.com/office/drawing/2014/main" id="{655EE301-BD7E-45F8-A878-9C86339808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3" y="3077"/>
                          <a:ext cx="319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" name="Group 86">
            <a:extLst>
              <a:ext uri="{FF2B5EF4-FFF2-40B4-BE49-F238E27FC236}">
                <a16:creationId xmlns:a16="http://schemas.microsoft.com/office/drawing/2014/main" id="{FD498B44-76F1-458A-9FE8-0303432A69DB}"/>
              </a:ext>
            </a:extLst>
          </p:cNvPr>
          <p:cNvGrpSpPr>
            <a:grpSpLocks/>
          </p:cNvGrpSpPr>
          <p:nvPr/>
        </p:nvGrpSpPr>
        <p:grpSpPr bwMode="auto">
          <a:xfrm>
            <a:off x="8290428" y="2465624"/>
            <a:ext cx="820737" cy="989013"/>
            <a:chOff x="5225" y="2788"/>
            <a:chExt cx="517" cy="623"/>
          </a:xfrm>
        </p:grpSpPr>
        <p:sp>
          <p:nvSpPr>
            <p:cNvPr id="143" name="Line 53">
              <a:extLst>
                <a:ext uri="{FF2B5EF4-FFF2-40B4-BE49-F238E27FC236}">
                  <a16:creationId xmlns:a16="http://schemas.microsoft.com/office/drawing/2014/main" id="{341AF01B-FDB6-404A-AEE3-F162B1A2DB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7828182" flipH="1" flipV="1">
              <a:off x="5384" y="2771"/>
              <a:ext cx="57" cy="3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144" name="Object 55">
              <a:extLst>
                <a:ext uri="{FF2B5EF4-FFF2-40B4-BE49-F238E27FC236}">
                  <a16:creationId xmlns:a16="http://schemas.microsoft.com/office/drawing/2014/main" id="{AEC55E71-CDA9-4B02-9168-093A1BDA8C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3" y="3069"/>
            <a:ext cx="319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5" imgW="203024" imgH="215713" progId="Equation.3">
                    <p:embed/>
                  </p:oleObj>
                </mc:Choice>
                <mc:Fallback>
                  <p:oleObj name="Ecuación" r:id="rId15" imgW="203024" imgH="215713" progId="Equation.3">
                    <p:embed/>
                    <p:pic>
                      <p:nvPicPr>
                        <p:cNvPr id="144" name="Object 55">
                          <a:extLst>
                            <a:ext uri="{FF2B5EF4-FFF2-40B4-BE49-F238E27FC236}">
                              <a16:creationId xmlns:a16="http://schemas.microsoft.com/office/drawing/2014/main" id="{AEC55E71-CDA9-4B02-9168-093A1BDA8C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3" y="3069"/>
                          <a:ext cx="319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5" name="Line 50">
              <a:extLst>
                <a:ext uri="{FF2B5EF4-FFF2-40B4-BE49-F238E27FC236}">
                  <a16:creationId xmlns:a16="http://schemas.microsoft.com/office/drawing/2014/main" id="{A234DD9C-696F-4ABF-AC62-B9186B3B4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87" y="2788"/>
              <a:ext cx="5" cy="31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D092CE5-D3D8-4D5F-8B63-56F0D3BD7E59}"/>
              </a:ext>
            </a:extLst>
          </p:cNvPr>
          <p:cNvGrpSpPr/>
          <p:nvPr/>
        </p:nvGrpSpPr>
        <p:grpSpPr>
          <a:xfrm>
            <a:off x="1602634" y="5855992"/>
            <a:ext cx="3910790" cy="703497"/>
            <a:chOff x="3550504" y="5331478"/>
            <a:chExt cx="3910790" cy="703497"/>
          </a:xfrm>
        </p:grpSpPr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E38A7F0F-B850-41C9-B207-6A0A80AFF870}"/>
                </a:ext>
              </a:extLst>
            </p:cNvPr>
            <p:cNvGrpSpPr/>
            <p:nvPr/>
          </p:nvGrpSpPr>
          <p:grpSpPr>
            <a:xfrm>
              <a:off x="3550504" y="5331478"/>
              <a:ext cx="3910790" cy="703497"/>
              <a:chOff x="2228895" y="2502686"/>
              <a:chExt cx="3910790" cy="703497"/>
            </a:xfrm>
          </p:grpSpPr>
          <p:sp>
            <p:nvSpPr>
              <p:cNvPr id="197" name="Text Box 80">
                <a:extLst>
                  <a:ext uri="{FF2B5EF4-FFF2-40B4-BE49-F238E27FC236}">
                    <a16:creationId xmlns:a16="http://schemas.microsoft.com/office/drawing/2014/main" id="{BF129C7A-DEFB-46C1-9A02-198FCE0D35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895" y="2669634"/>
                <a:ext cx="3910790" cy="5365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rgbClr val="FF0000"/>
                    </a:solidFill>
                  </a:rPr>
                  <a:t>Módulo producto vectorial</a:t>
                </a:r>
                <a:endParaRPr lang="es-ES" sz="2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98" name="Conector recto de flecha 197">
                <a:extLst>
                  <a:ext uri="{FF2B5EF4-FFF2-40B4-BE49-F238E27FC236}">
                    <a16:creationId xmlns:a16="http://schemas.microsoft.com/office/drawing/2014/main" id="{5EA95CB1-412A-4231-9410-0BC375A742BA}"/>
                  </a:ext>
                </a:extLst>
              </p:cNvPr>
              <p:cNvCxnSpPr/>
              <p:nvPr/>
            </p:nvCxnSpPr>
            <p:spPr bwMode="auto">
              <a:xfrm>
                <a:off x="4182561" y="2502686"/>
                <a:ext cx="0" cy="29422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</p:cxnSp>
        </p:grp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702D53A-70AF-4504-9C3B-5E95DFE8B2A4}"/>
                </a:ext>
              </a:extLst>
            </p:cNvPr>
            <p:cNvCxnSpPr/>
            <p:nvPr/>
          </p:nvCxnSpPr>
          <p:spPr bwMode="auto">
            <a:xfrm>
              <a:off x="4715186" y="5339503"/>
              <a:ext cx="1616406" cy="3836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</p:grpSp>
      <p:grpSp>
        <p:nvGrpSpPr>
          <p:cNvPr id="87" name="Group 26">
            <a:extLst>
              <a:ext uri="{FF2B5EF4-FFF2-40B4-BE49-F238E27FC236}">
                <a16:creationId xmlns:a16="http://schemas.microsoft.com/office/drawing/2014/main" id="{EE7EE381-E020-449F-95BB-57167025E467}"/>
              </a:ext>
            </a:extLst>
          </p:cNvPr>
          <p:cNvGrpSpPr>
            <a:grpSpLocks/>
          </p:cNvGrpSpPr>
          <p:nvPr/>
        </p:nvGrpSpPr>
        <p:grpSpPr bwMode="auto">
          <a:xfrm>
            <a:off x="4213740" y="274360"/>
            <a:ext cx="3086100" cy="979488"/>
            <a:chOff x="2633" y="1048"/>
            <a:chExt cx="1944" cy="617"/>
          </a:xfrm>
        </p:grpSpPr>
        <p:sp>
          <p:nvSpPr>
            <p:cNvPr id="88" name="Rectangle 27">
              <a:extLst>
                <a:ext uri="{FF2B5EF4-FFF2-40B4-BE49-F238E27FC236}">
                  <a16:creationId xmlns:a16="http://schemas.microsoft.com/office/drawing/2014/main" id="{CE00F80D-BFBC-4B6B-A105-1F2ABC9D2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" y="1048"/>
              <a:ext cx="1944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89" name="Object 28">
              <a:extLst>
                <a:ext uri="{FF2B5EF4-FFF2-40B4-BE49-F238E27FC236}">
                  <a16:creationId xmlns:a16="http://schemas.microsoft.com/office/drawing/2014/main" id="{E1D15FDF-B6BB-4F70-B258-115791D4B9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070"/>
            <a:ext cx="1796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7" imgW="812447" imgH="241195" progId="Equation.3">
                    <p:embed/>
                  </p:oleObj>
                </mc:Choice>
                <mc:Fallback>
                  <p:oleObj name="Ecuación" r:id="rId17" imgW="812447" imgH="241195" progId="Equation.3">
                    <p:embed/>
                    <p:pic>
                      <p:nvPicPr>
                        <p:cNvPr id="89" name="Object 28">
                          <a:extLst>
                            <a:ext uri="{FF2B5EF4-FFF2-40B4-BE49-F238E27FC236}">
                              <a16:creationId xmlns:a16="http://schemas.microsoft.com/office/drawing/2014/main" id="{E1D15FDF-B6BB-4F70-B258-115791D4B9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070"/>
                          <a:ext cx="1796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F89288C-7A4A-4F1F-861A-0637ED48C283}"/>
              </a:ext>
            </a:extLst>
          </p:cNvPr>
          <p:cNvGrpSpPr/>
          <p:nvPr/>
        </p:nvGrpSpPr>
        <p:grpSpPr>
          <a:xfrm>
            <a:off x="6303327" y="4216432"/>
            <a:ext cx="2153714" cy="1699892"/>
            <a:chOff x="8313171" y="5305900"/>
            <a:chExt cx="2153714" cy="1699892"/>
          </a:xfrm>
        </p:grpSpPr>
        <p:grpSp>
          <p:nvGrpSpPr>
            <p:cNvPr id="90" name="Group 80">
              <a:extLst>
                <a:ext uri="{FF2B5EF4-FFF2-40B4-BE49-F238E27FC236}">
                  <a16:creationId xmlns:a16="http://schemas.microsoft.com/office/drawing/2014/main" id="{937DB9DE-C302-4634-868C-20756624B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66301" y="5623075"/>
              <a:ext cx="1008064" cy="1382717"/>
              <a:chOff x="2717" y="2016"/>
              <a:chExt cx="635" cy="871"/>
            </a:xfrm>
          </p:grpSpPr>
          <p:sp>
            <p:nvSpPr>
              <p:cNvPr id="91" name="Line 12">
                <a:extLst>
                  <a:ext uri="{FF2B5EF4-FFF2-40B4-BE49-F238E27FC236}">
                    <a16:creationId xmlns:a16="http://schemas.microsoft.com/office/drawing/2014/main" id="{8F032B62-3E39-4C57-AAE5-408BCA161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7828182" flipH="1" flipV="1">
                <a:off x="2422" y="2388"/>
                <a:ext cx="794" cy="20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92" name="Object 18">
                    <a:extLst>
                      <a:ext uri="{FF2B5EF4-FFF2-40B4-BE49-F238E27FC236}">
                        <a16:creationId xmlns:a16="http://schemas.microsoft.com/office/drawing/2014/main" id="{8F8D3FD1-F023-42E8-82E5-99D5C377438F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3153" y="2016"/>
                  <a:ext cx="199" cy="28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7" imgW="126725" imgH="177415" progId="Equation.3">
                          <p:embed/>
                        </p:oleObj>
                      </mc:Choice>
                      <mc:Fallback>
                        <p:oleObj name="Ecuación" r:id="rId7" imgW="126725" imgH="177415" progId="Equation.3">
                          <p:embed/>
                          <p:pic>
                            <p:nvPicPr>
                              <p:cNvPr id="92" name="Object 18">
                                <a:extLst>
                                  <a:ext uri="{FF2B5EF4-FFF2-40B4-BE49-F238E27FC236}">
                                    <a16:creationId xmlns:a16="http://schemas.microsoft.com/office/drawing/2014/main" id="{8F8D3FD1-F023-42E8-82E5-99D5C377438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53" y="2016"/>
                                <a:ext cx="199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92" name="Object 18">
                    <a:extLst>
                      <a:ext uri="{FF2B5EF4-FFF2-40B4-BE49-F238E27FC236}">
                        <a16:creationId xmlns:a16="http://schemas.microsoft.com/office/drawing/2014/main" id="{8F8D3FD1-F023-42E8-82E5-99D5C377438F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094660496"/>
                      </p:ext>
                    </p:extLst>
                  </p:nvPr>
                </p:nvGraphicFramePr>
                <p:xfrm>
                  <a:off x="3153" y="2016"/>
                  <a:ext cx="199" cy="282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6070" name="Ecuación" r:id="rId23" imgW="126725" imgH="177415" progId="Equation.3">
                          <p:embed/>
                        </p:oleObj>
                      </mc:Choice>
                      <mc:Fallback>
                        <p:oleObj name="Ecuación" r:id="rId23" imgW="126725" imgH="177415" progId="Equation.3">
                          <p:embed/>
                          <p:pic>
                            <p:nvPicPr>
                              <p:cNvPr id="187" name="Object 18">
                                <a:extLst>
                                  <a:ext uri="{FF2B5EF4-FFF2-40B4-BE49-F238E27FC236}">
                                    <a16:creationId xmlns:a16="http://schemas.microsoft.com/office/drawing/2014/main" id="{5A08B402-5F68-4E8D-98C8-945FBF3B374B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153" y="2016"/>
                                <a:ext cx="199" cy="28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93" name="Group 61">
              <a:extLst>
                <a:ext uri="{FF2B5EF4-FFF2-40B4-BE49-F238E27FC236}">
                  <a16:creationId xmlns:a16="http://schemas.microsoft.com/office/drawing/2014/main" id="{3648A1B2-A899-40B5-A596-B9BABF71E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13171" y="5305900"/>
              <a:ext cx="557213" cy="1474795"/>
              <a:chOff x="4756" y="2121"/>
              <a:chExt cx="351" cy="929"/>
            </a:xfrm>
          </p:grpSpPr>
          <p:sp>
            <p:nvSpPr>
              <p:cNvPr id="94" name="Line 30">
                <a:extLst>
                  <a:ext uri="{FF2B5EF4-FFF2-40B4-BE49-F238E27FC236}">
                    <a16:creationId xmlns:a16="http://schemas.microsoft.com/office/drawing/2014/main" id="{399A4A1A-4E90-4913-ABC5-5DC6564B9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07" y="2180"/>
                <a:ext cx="0" cy="87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95" name="Object 31">
                    <a:extLst>
                      <a:ext uri="{FF2B5EF4-FFF2-40B4-BE49-F238E27FC236}">
                        <a16:creationId xmlns:a16="http://schemas.microsoft.com/office/drawing/2014/main" id="{C11C902F-51ED-44F9-9D62-F25A77EC60F2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756" y="2121"/>
                  <a:ext cx="261" cy="33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5" imgW="139579" imgH="177646" progId="Equation.3">
                          <p:embed/>
                        </p:oleObj>
                      </mc:Choice>
                      <mc:Fallback>
                        <p:oleObj name="Ecuación" r:id="rId5" imgW="139579" imgH="177646" progId="Equation.3">
                          <p:embed/>
                          <p:pic>
                            <p:nvPicPr>
                              <p:cNvPr id="95" name="Object 31">
                                <a:extLst>
                                  <a:ext uri="{FF2B5EF4-FFF2-40B4-BE49-F238E27FC236}">
                                    <a16:creationId xmlns:a16="http://schemas.microsoft.com/office/drawing/2014/main" id="{C11C902F-51ED-44F9-9D62-F25A77EC60F2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756" y="2121"/>
                                <a:ext cx="261" cy="3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95" name="Object 31">
                    <a:extLst>
                      <a:ext uri="{FF2B5EF4-FFF2-40B4-BE49-F238E27FC236}">
                        <a16:creationId xmlns:a16="http://schemas.microsoft.com/office/drawing/2014/main" id="{C11C902F-51ED-44F9-9D62-F25A77EC60F2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120736378"/>
                      </p:ext>
                    </p:extLst>
                  </p:nvPr>
                </p:nvGraphicFramePr>
                <p:xfrm>
                  <a:off x="4756" y="2121"/>
                  <a:ext cx="261" cy="336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6071" name="Ecuación" r:id="rId25" imgW="139579" imgH="177646" progId="Equation.3">
                          <p:embed/>
                        </p:oleObj>
                      </mc:Choice>
                      <mc:Fallback>
                        <p:oleObj name="Ecuación" r:id="rId25" imgW="139579" imgH="177646" progId="Equation.3">
                          <p:embed/>
                          <p:pic>
                            <p:nvPicPr>
                              <p:cNvPr id="166" name="Object 31">
                                <a:extLst>
                                  <a:ext uri="{FF2B5EF4-FFF2-40B4-BE49-F238E27FC236}">
                                    <a16:creationId xmlns:a16="http://schemas.microsoft.com/office/drawing/2014/main" id="{6707FEE7-8A03-4373-B095-52CCB0551951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756" y="2121"/>
                                <a:ext cx="261" cy="33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96" name="Text Box 47">
              <a:extLst>
                <a:ext uri="{FF2B5EF4-FFF2-40B4-BE49-F238E27FC236}">
                  <a16:creationId xmlns:a16="http://schemas.microsoft.com/office/drawing/2014/main" id="{17D46529-5EAB-4913-BB2D-740E50960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1916" y="5933321"/>
              <a:ext cx="369888" cy="598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 dirty="0">
                  <a:solidFill>
                    <a:srgbClr val="008000"/>
                  </a:solidFill>
                  <a:sym typeface="Symbol" panose="05050102010706020507" pitchFamily="18" charset="2"/>
                </a:rPr>
                <a:t></a:t>
              </a:r>
            </a:p>
          </p:txBody>
        </p:sp>
        <p:sp>
          <p:nvSpPr>
            <p:cNvPr id="2" name="Arco 1">
              <a:extLst>
                <a:ext uri="{FF2B5EF4-FFF2-40B4-BE49-F238E27FC236}">
                  <a16:creationId xmlns:a16="http://schemas.microsoft.com/office/drawing/2014/main" id="{1CA503DA-FBE4-446A-9C9A-52CEA789DBAB}"/>
                </a:ext>
              </a:extLst>
            </p:cNvPr>
            <p:cNvSpPr/>
            <p:nvPr/>
          </p:nvSpPr>
          <p:spPr bwMode="auto">
            <a:xfrm>
              <a:off x="8734585" y="6439386"/>
              <a:ext cx="360000" cy="360000"/>
            </a:xfrm>
            <a:prstGeom prst="arc">
              <a:avLst/>
            </a:prstGeom>
            <a:noFill/>
            <a:ln w="28575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07364635-4673-4855-9432-3547E0D6D164}"/>
                </a:ext>
              </a:extLst>
            </p:cNvPr>
            <p:cNvCxnSpPr/>
            <p:nvPr/>
          </p:nvCxnSpPr>
          <p:spPr bwMode="auto">
            <a:xfrm flipV="1">
              <a:off x="8870903" y="5978360"/>
              <a:ext cx="0" cy="792000"/>
            </a:xfrm>
            <a:prstGeom prst="straightConnector1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cxnSp>
          <p:nvCxnSpPr>
            <p:cNvPr id="98" name="Conector recto de flecha 97">
              <a:extLst>
                <a:ext uri="{FF2B5EF4-FFF2-40B4-BE49-F238E27FC236}">
                  <a16:creationId xmlns:a16="http://schemas.microsoft.com/office/drawing/2014/main" id="{D53A045F-FFE3-4602-92BF-AACC7120D63A}"/>
                </a:ext>
              </a:extLst>
            </p:cNvPr>
            <p:cNvCxnSpPr/>
            <p:nvPr/>
          </p:nvCxnSpPr>
          <p:spPr bwMode="auto">
            <a:xfrm rot="5400000" flipV="1">
              <a:off x="9399401" y="6216399"/>
              <a:ext cx="0" cy="1080000"/>
            </a:xfrm>
            <a:prstGeom prst="straightConnector1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cxnSp>
        <p:sp>
          <p:nvSpPr>
            <p:cNvPr id="99" name="Line 50">
              <a:extLst>
                <a:ext uri="{FF2B5EF4-FFF2-40B4-BE49-F238E27FC236}">
                  <a16:creationId xmlns:a16="http://schemas.microsoft.com/office/drawing/2014/main" id="{B12AA6FA-B873-4DCA-9C9E-03FE15D11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32624" y="6064782"/>
              <a:ext cx="7937" cy="7228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00" name="Line 50">
              <a:extLst>
                <a:ext uri="{FF2B5EF4-FFF2-40B4-BE49-F238E27FC236}">
                  <a16:creationId xmlns:a16="http://schemas.microsoft.com/office/drawing/2014/main" id="{E4A2A6C4-C837-4DC3-AB6F-A893AD93D8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385376" y="5527393"/>
              <a:ext cx="8731" cy="96210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1" name="Object 55">
                  <a:extLst>
                    <a:ext uri="{FF2B5EF4-FFF2-40B4-BE49-F238E27FC236}">
                      <a16:creationId xmlns:a16="http://schemas.microsoft.com/office/drawing/2014/main" id="{3EBE753A-23C1-4766-93F3-0CDE9BA9696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9960473" y="6395876"/>
                <a:ext cx="506412" cy="5429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cuación" r:id="rId15" imgW="203024" imgH="215713" progId="Equation.3">
                        <p:embed/>
                      </p:oleObj>
                    </mc:Choice>
                    <mc:Fallback>
                      <p:oleObj name="Ecuación" r:id="rId15" imgW="203024" imgH="215713" progId="Equation.3">
                        <p:embed/>
                        <p:pic>
                          <p:nvPicPr>
                            <p:cNvPr id="101" name="Object 55">
                              <a:extLst>
                                <a:ext uri="{FF2B5EF4-FFF2-40B4-BE49-F238E27FC236}">
                                  <a16:creationId xmlns:a16="http://schemas.microsoft.com/office/drawing/2014/main" id="{3EBE753A-23C1-4766-93F3-0CDE9BA9696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960473" y="6395876"/>
                              <a:ext cx="506412" cy="5429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1" name="Object 55">
                  <a:extLst>
                    <a:ext uri="{FF2B5EF4-FFF2-40B4-BE49-F238E27FC236}">
                      <a16:creationId xmlns:a16="http://schemas.microsoft.com/office/drawing/2014/main" id="{3EBE753A-23C1-4766-93F3-0CDE9BA9696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80081333"/>
                    </p:ext>
                  </p:extLst>
                </p:nvPr>
              </p:nvGraphicFramePr>
              <p:xfrm>
                <a:off x="9960473" y="6395876"/>
                <a:ext cx="506412" cy="5429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86072" name="Ecuación" r:id="rId27" imgW="203024" imgH="215713" progId="Equation.3">
                        <p:embed/>
                      </p:oleObj>
                    </mc:Choice>
                    <mc:Fallback>
                      <p:oleObj name="Ecuación" r:id="rId27" imgW="203024" imgH="215713" progId="Equation.3">
                        <p:embed/>
                        <p:pic>
                          <p:nvPicPr>
                            <p:cNvPr id="144" name="Object 55">
                              <a:extLst>
                                <a:ext uri="{FF2B5EF4-FFF2-40B4-BE49-F238E27FC236}">
                                  <a16:creationId xmlns:a16="http://schemas.microsoft.com/office/drawing/2014/main" id="{AEC55E71-CDA9-4B02-9168-093A1BDA8C6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960473" y="6395876"/>
                              <a:ext cx="506412" cy="5429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Object 55">
                  <a:extLst>
                    <a:ext uri="{FF2B5EF4-FFF2-40B4-BE49-F238E27FC236}">
                      <a16:creationId xmlns:a16="http://schemas.microsoft.com/office/drawing/2014/main" id="{8D904122-E45A-43C7-AD4A-335CEC47E1BF}"/>
                    </a:ext>
                  </a:extLst>
                </p:cNvPr>
                <p:cNvSpPr txBox="1"/>
                <p:nvPr/>
              </p:nvSpPr>
              <p:spPr bwMode="auto">
                <a:xfrm>
                  <a:off x="8327143" y="5870991"/>
                  <a:ext cx="506412" cy="542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s-E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s-E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</m:acc>
                          </m:e>
                          <m:sub>
                            <m:r>
                              <a:rPr lang="es-ES" sz="280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oMath>
                    </m:oMathPara>
                  </a14:m>
                  <a:endParaRPr lang="es-ES" dirty="0"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2" name="Object 55">
                  <a:extLst>
                    <a:ext uri="{FF2B5EF4-FFF2-40B4-BE49-F238E27FC236}">
                      <a16:creationId xmlns:a16="http://schemas.microsoft.com/office/drawing/2014/main" id="{8D904122-E45A-43C7-AD4A-335CEC47E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27143" y="5870991"/>
                  <a:ext cx="506412" cy="54292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 Box 42">
            <a:extLst>
              <a:ext uri="{FF2B5EF4-FFF2-40B4-BE49-F238E27FC236}">
                <a16:creationId xmlns:a16="http://schemas.microsoft.com/office/drawing/2014/main" id="{27C17120-E53F-072A-ACF5-9413617DD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882" y="5187392"/>
            <a:ext cx="1889300" cy="77470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126000" tIns="118800" rIns="126000" bIns="118800" anchor="ctr" anchorCtr="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/>
              <a:t> </a:t>
            </a:r>
            <a:r>
              <a:rPr lang="es-ES" sz="2400">
                <a:sym typeface="Symbol" panose="05050102010706020507" pitchFamily="18" charset="2"/>
              </a:rPr>
              <a:t>v</a:t>
            </a:r>
            <a:r>
              <a:rPr lang="es-ES" sz="2400" baseline="-25000">
                <a:sym typeface="Symbol" panose="05050102010706020507" pitchFamily="18" charset="2"/>
              </a:rPr>
              <a:t></a:t>
            </a:r>
            <a:r>
              <a:rPr lang="es-ES" sz="2400"/>
              <a:t>= </a:t>
            </a:r>
            <a:r>
              <a:rPr lang="es-ES" sz="2400">
                <a:sym typeface="Symbol" panose="05050102010706020507" pitchFamily="18" charset="2"/>
              </a:rPr>
              <a:t>v sen</a:t>
            </a:r>
            <a:r>
              <a:rPr lang="es-ES" sz="2400" dirty="0">
                <a:sym typeface="Symbol" panose="05050102010706020507" pitchFamily="18" charset="2"/>
              </a:rPr>
              <a:t></a:t>
            </a:r>
          </a:p>
        </p:txBody>
      </p:sp>
    </p:spTree>
    <p:extLst>
      <p:ext uri="{BB962C8B-B14F-4D97-AF65-F5344CB8AC3E}">
        <p14:creationId xmlns:p14="http://schemas.microsoft.com/office/powerpoint/2010/main" val="356700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146" grpId="0"/>
      <p:bldP spid="147" grpId="0"/>
      <p:bldP spid="149" grpId="0" animBg="1"/>
      <p:bldP spid="150" grpId="0" animBg="1"/>
      <p:bldP spid="179" grpId="0" animBg="1"/>
      <p:bldP spid="180" grpId="0" animBg="1"/>
      <p:bldP spid="184" grpId="0"/>
      <p:bldP spid="191" grpId="0"/>
      <p:bldP spid="195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1289770" y="358339"/>
            <a:ext cx="3086100" cy="97948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37891" name="Object 6"/>
          <p:cNvGraphicFramePr>
            <a:graphicFrameLocks noGrp="1" noChangeAspect="1"/>
          </p:cNvGraphicFramePr>
          <p:nvPr>
            <p:ph/>
          </p:nvPr>
        </p:nvGraphicFramePr>
        <p:xfrm>
          <a:off x="1453282" y="446280"/>
          <a:ext cx="28511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812447" imgH="241195" progId="Equation.3">
                  <p:embed/>
                </p:oleObj>
              </mc:Choice>
              <mc:Fallback>
                <p:oleObj name="Ecuación" r:id="rId3" imgW="812447" imgH="241195" progId="Equation.3">
                  <p:embed/>
                  <p:pic>
                    <p:nvPicPr>
                      <p:cNvPr id="37891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282" y="446280"/>
                        <a:ext cx="285115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7"/>
          <p:cNvSpPr txBox="1">
            <a:spLocks noChangeArrowheads="1"/>
          </p:cNvSpPr>
          <p:nvPr/>
        </p:nvSpPr>
        <p:spPr bwMode="auto">
          <a:xfrm>
            <a:off x="1289770" y="1426089"/>
            <a:ext cx="3086100" cy="987425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98000" tIns="262800" rIns="198000" bIns="262800" anchor="ctr" anchorCtr="1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600"/>
              <a:t>F = |q</a:t>
            </a:r>
            <a:r>
              <a:rPr lang="es-ES" sz="3600">
                <a:sym typeface="Symbol" panose="05050102010706020507" pitchFamily="18" charset="2"/>
              </a:rPr>
              <a:t>| v</a:t>
            </a:r>
            <a:r>
              <a:rPr lang="es-ES" sz="3600" baseline="-25000">
                <a:sym typeface="Symbol" panose="05050102010706020507" pitchFamily="18" charset="2"/>
              </a:rPr>
              <a:t></a:t>
            </a:r>
            <a:r>
              <a:rPr lang="es-ES" sz="3600">
                <a:sym typeface="Symbol" panose="05050102010706020507" pitchFamily="18" charset="2"/>
              </a:rPr>
              <a:t> B</a:t>
            </a:r>
          </a:p>
        </p:txBody>
      </p:sp>
      <p:sp>
        <p:nvSpPr>
          <p:cNvPr id="42009" name="Text Box 17"/>
          <p:cNvSpPr txBox="1">
            <a:spLocks noChangeArrowheads="1"/>
          </p:cNvSpPr>
          <p:nvPr/>
        </p:nvSpPr>
        <p:spPr bwMode="auto">
          <a:xfrm>
            <a:off x="1276683" y="2895726"/>
            <a:ext cx="2267265" cy="53654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Si existe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y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</a:p>
        </p:txBody>
      </p:sp>
      <p:grpSp>
        <p:nvGrpSpPr>
          <p:cNvPr id="611349" name="Group 21"/>
          <p:cNvGrpSpPr>
            <a:grpSpLocks/>
          </p:cNvGrpSpPr>
          <p:nvPr/>
        </p:nvGrpSpPr>
        <p:grpSpPr bwMode="auto">
          <a:xfrm>
            <a:off x="1275682" y="3601851"/>
            <a:ext cx="3713162" cy="979488"/>
            <a:chOff x="1316" y="2706"/>
            <a:chExt cx="2339" cy="617"/>
          </a:xfrm>
        </p:grpSpPr>
        <p:sp>
          <p:nvSpPr>
            <p:cNvPr id="37902" name="Rectangle 22"/>
            <p:cNvSpPr>
              <a:spLocks noChangeArrowheads="1"/>
            </p:cNvSpPr>
            <p:nvPr/>
          </p:nvSpPr>
          <p:spPr bwMode="auto">
            <a:xfrm>
              <a:off x="1316" y="2706"/>
              <a:ext cx="2339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7903" name="Object 23"/>
            <p:cNvGraphicFramePr>
              <a:graphicFrameLocks noChangeAspect="1"/>
            </p:cNvGraphicFramePr>
            <p:nvPr/>
          </p:nvGraphicFramePr>
          <p:xfrm>
            <a:off x="1400" y="2728"/>
            <a:ext cx="2244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016000" imgH="241300" progId="Equation.3">
                    <p:embed/>
                  </p:oleObj>
                </mc:Choice>
                <mc:Fallback>
                  <p:oleObj name="Ecuación" r:id="rId5" imgW="1016000" imgH="241300" progId="Equation.3">
                    <p:embed/>
                    <p:pic>
                      <p:nvPicPr>
                        <p:cNvPr id="3790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0" y="2728"/>
                          <a:ext cx="2244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0" name="Text Box 24"/>
          <p:cNvSpPr txBox="1">
            <a:spLocks noChangeArrowheads="1"/>
          </p:cNvSpPr>
          <p:nvPr/>
        </p:nvSpPr>
        <p:spPr bwMode="auto">
          <a:xfrm>
            <a:off x="5809394" y="3608057"/>
            <a:ext cx="2849562" cy="58737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Fuerza de Lorentz</a:t>
            </a:r>
          </a:p>
        </p:txBody>
      </p:sp>
      <p:sp>
        <p:nvSpPr>
          <p:cNvPr id="37901" name="Text Box 25"/>
          <p:cNvSpPr txBox="1">
            <a:spLocks noChangeArrowheads="1"/>
          </p:cNvSpPr>
          <p:nvPr/>
        </p:nvSpPr>
        <p:spPr bwMode="auto">
          <a:xfrm>
            <a:off x="5253769" y="4152569"/>
            <a:ext cx="4000499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 cap="small">
                <a:solidFill>
                  <a:srgbClr val="0099FF"/>
                </a:solidFill>
              </a:rPr>
              <a:t>Fuerza Electromagnética</a:t>
            </a:r>
          </a:p>
        </p:txBody>
      </p:sp>
      <p:sp>
        <p:nvSpPr>
          <p:cNvPr id="41998" name="Text Box 9"/>
          <p:cNvSpPr txBox="1">
            <a:spLocks noChangeArrowheads="1"/>
          </p:cNvSpPr>
          <p:nvPr/>
        </p:nvSpPr>
        <p:spPr bwMode="auto">
          <a:xfrm>
            <a:off x="4695005" y="366071"/>
            <a:ext cx="5405925" cy="13261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La fuerza magnética es nula si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v = 0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(si q no se mueve), o si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tiene la misma dirección de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(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41996" name="Text Box 26"/>
          <p:cNvSpPr txBox="1">
            <a:spLocks noChangeArrowheads="1"/>
          </p:cNvSpPr>
          <p:nvPr/>
        </p:nvSpPr>
        <p:spPr bwMode="auto">
          <a:xfrm>
            <a:off x="1278522" y="4865806"/>
            <a:ext cx="9013143" cy="9567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0000FF"/>
                </a:solidFill>
                <a:sym typeface="Symbol" panose="05050102010706020507" pitchFamily="18" charset="2"/>
              </a:rPr>
              <a:t>fuerza eléctrica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puede variar la velocidad de q alterando su módulo y dirección, porque puede tener componente // y  a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7645D474-3268-4EC5-9E67-EC80A26C6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22" y="5909845"/>
            <a:ext cx="9013143" cy="9567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28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0000FF"/>
                </a:solidFill>
                <a:sym typeface="Symbol" panose="05050102010706020507" pitchFamily="18" charset="2"/>
              </a:rPr>
              <a:t>fuerza magnética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tiende 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modificar sólo la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dirección de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 ya que siempre es  al movimiento (a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62C6F3A1-B37D-4A15-8193-726196886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890" y="2893221"/>
            <a:ext cx="612088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Se suman las fuerzas eléctrica y magnética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A828A8E8-3499-481F-AE93-FAA7CD93C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871" y="1758512"/>
            <a:ext cx="5415059" cy="972000"/>
          </a:xfrm>
          <a:prstGeom prst="rect">
            <a:avLst/>
          </a:prstGeom>
          <a:solidFill>
            <a:srgbClr val="C7D7A5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No es nula si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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Y es máxima si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(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=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1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9" grpId="0" animBg="1"/>
      <p:bldP spid="37900" grpId="0" animBg="1"/>
      <p:bldP spid="37901" grpId="0"/>
      <p:bldP spid="41998" grpId="0" animBg="1"/>
      <p:bldP spid="41996" grpId="0" animBg="1"/>
      <p:bldP spid="14" grpId="0" animBg="1"/>
      <p:bldP spid="15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378" name="Group 2"/>
          <p:cNvGrpSpPr>
            <a:grpSpLocks/>
          </p:cNvGrpSpPr>
          <p:nvPr/>
        </p:nvGrpSpPr>
        <p:grpSpPr bwMode="auto">
          <a:xfrm>
            <a:off x="3511322" y="4552498"/>
            <a:ext cx="688974" cy="906463"/>
            <a:chOff x="2315" y="2762"/>
            <a:chExt cx="434" cy="571"/>
          </a:xfrm>
        </p:grpSpPr>
        <p:graphicFrame>
          <p:nvGraphicFramePr>
            <p:cNvPr id="40019" name="Object 3"/>
            <p:cNvGraphicFramePr>
              <a:graphicFrameLocks noChangeAspect="1"/>
            </p:cNvGraphicFramePr>
            <p:nvPr/>
          </p:nvGraphicFramePr>
          <p:xfrm>
            <a:off x="2427" y="2880"/>
            <a:ext cx="32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335" imgH="266469" progId="Equation.3">
                    <p:embed/>
                  </p:oleObj>
                </mc:Choice>
                <mc:Fallback>
                  <p:oleObj name="Ecuación" r:id="rId3" imgW="190335" imgH="266469" progId="Equation.3">
                    <p:embed/>
                    <p:pic>
                      <p:nvPicPr>
                        <p:cNvPr id="400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880"/>
                          <a:ext cx="32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20" name="Line 4"/>
            <p:cNvSpPr>
              <a:spLocks noChangeShapeType="1"/>
            </p:cNvSpPr>
            <p:nvPr/>
          </p:nvSpPr>
          <p:spPr bwMode="auto">
            <a:xfrm>
              <a:off x="2315" y="2762"/>
              <a:ext cx="0" cy="473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39939" name="Line 6"/>
          <p:cNvSpPr>
            <a:spLocks noChangeShapeType="1"/>
          </p:cNvSpPr>
          <p:nvPr/>
        </p:nvSpPr>
        <p:spPr bwMode="auto">
          <a:xfrm flipV="1">
            <a:off x="1339850" y="2887667"/>
            <a:ext cx="8983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/>
          </a:p>
        </p:txBody>
      </p:sp>
      <p:sp>
        <p:nvSpPr>
          <p:cNvPr id="39944" name="Rectangle 13"/>
          <p:cNvSpPr>
            <a:spLocks noChangeArrowheads="1"/>
          </p:cNvSpPr>
          <p:nvPr/>
        </p:nvSpPr>
        <p:spPr bwMode="auto">
          <a:xfrm>
            <a:off x="2261961" y="3306311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5" name="Rectangle 14"/>
          <p:cNvSpPr>
            <a:spLocks noChangeArrowheads="1"/>
          </p:cNvSpPr>
          <p:nvPr/>
        </p:nvSpPr>
        <p:spPr bwMode="auto">
          <a:xfrm>
            <a:off x="2277836" y="5455786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6" name="Line 15"/>
          <p:cNvSpPr>
            <a:spLocks noChangeShapeType="1"/>
          </p:cNvSpPr>
          <p:nvPr/>
        </p:nvSpPr>
        <p:spPr bwMode="auto">
          <a:xfrm>
            <a:off x="1717449" y="4468587"/>
            <a:ext cx="522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7" name="Text Box 16"/>
          <p:cNvSpPr txBox="1">
            <a:spLocks noChangeArrowheads="1"/>
          </p:cNvSpPr>
          <p:nvPr/>
        </p:nvSpPr>
        <p:spPr bwMode="auto">
          <a:xfrm>
            <a:off x="1822224" y="3118986"/>
            <a:ext cx="5127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+</a:t>
            </a:r>
            <a:endParaRPr lang="es-ES" sz="4800" b="1">
              <a:solidFill>
                <a:srgbClr val="008000"/>
              </a:solidFill>
            </a:endParaRPr>
          </a:p>
        </p:txBody>
      </p:sp>
      <p:sp>
        <p:nvSpPr>
          <p:cNvPr id="39948" name="Text Box 17"/>
          <p:cNvSpPr txBox="1">
            <a:spLocks noChangeArrowheads="1"/>
          </p:cNvSpPr>
          <p:nvPr/>
        </p:nvSpPr>
        <p:spPr bwMode="auto">
          <a:xfrm>
            <a:off x="1873024" y="5211311"/>
            <a:ext cx="284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-</a:t>
            </a:r>
          </a:p>
        </p:txBody>
      </p:sp>
      <p:pic>
        <p:nvPicPr>
          <p:cNvPr id="39949" name="Picture 18" descr="Image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36" y="4273098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9950" name="Object 19"/>
          <p:cNvGraphicFramePr>
            <a:graphicFrameLocks noGrp="1" noChangeAspect="1"/>
          </p:cNvGraphicFramePr>
          <p:nvPr>
            <p:ph/>
          </p:nvPr>
        </p:nvGraphicFramePr>
        <p:xfrm>
          <a:off x="1728560" y="3962948"/>
          <a:ext cx="351939" cy="492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6725" imgH="177415" progId="Equation.3">
                  <p:embed/>
                </p:oleObj>
              </mc:Choice>
              <mc:Fallback>
                <p:oleObj name="Ecuación" r:id="rId6" imgW="126725" imgH="177415" progId="Equation.3">
                  <p:embed/>
                  <p:pic>
                    <p:nvPicPr>
                      <p:cNvPr id="3995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0" y="3962948"/>
                        <a:ext cx="351939" cy="492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1" name="Line 20"/>
          <p:cNvSpPr>
            <a:spLocks noChangeShapeType="1"/>
          </p:cNvSpPr>
          <p:nvPr/>
        </p:nvSpPr>
        <p:spPr bwMode="auto">
          <a:xfrm>
            <a:off x="3476399" y="5611361"/>
            <a:ext cx="0" cy="27781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2" name="Line 21"/>
          <p:cNvSpPr>
            <a:spLocks noChangeShapeType="1"/>
          </p:cNvSpPr>
          <p:nvPr/>
        </p:nvSpPr>
        <p:spPr bwMode="auto">
          <a:xfrm>
            <a:off x="3517674" y="3028498"/>
            <a:ext cx="0" cy="277813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3" name="Text Box 22"/>
          <p:cNvSpPr txBox="1">
            <a:spLocks noChangeArrowheads="1"/>
          </p:cNvSpPr>
          <p:nvPr/>
        </p:nvSpPr>
        <p:spPr bwMode="auto">
          <a:xfrm>
            <a:off x="1269774" y="4633461"/>
            <a:ext cx="3693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q</a:t>
            </a:r>
          </a:p>
        </p:txBody>
      </p:sp>
      <p:sp>
        <p:nvSpPr>
          <p:cNvPr id="39954" name="Text Box 23"/>
          <p:cNvSpPr txBox="1">
            <a:spLocks noChangeArrowheads="1"/>
          </p:cNvSpPr>
          <p:nvPr/>
        </p:nvSpPr>
        <p:spPr bwMode="auto">
          <a:xfrm>
            <a:off x="1454242" y="5982835"/>
            <a:ext cx="39780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 dirty="0">
                <a:solidFill>
                  <a:srgbClr val="008000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: Tensión del condensador</a:t>
            </a:r>
          </a:p>
        </p:txBody>
      </p:sp>
      <p:sp>
        <p:nvSpPr>
          <p:cNvPr id="39955" name="Text Box 24"/>
          <p:cNvSpPr txBox="1">
            <a:spLocks noChangeArrowheads="1"/>
          </p:cNvSpPr>
          <p:nvPr/>
        </p:nvSpPr>
        <p:spPr bwMode="auto">
          <a:xfrm>
            <a:off x="1473429" y="6435726"/>
            <a:ext cx="357050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00FF"/>
                </a:solidFill>
              </a:rPr>
              <a:t>d</a:t>
            </a:r>
            <a:r>
              <a:rPr lang="es-ES" sz="2400"/>
              <a:t>: Distancia entre placas</a:t>
            </a:r>
          </a:p>
        </p:txBody>
      </p:sp>
      <p:grpSp>
        <p:nvGrpSpPr>
          <p:cNvPr id="613431" name="Group 55"/>
          <p:cNvGrpSpPr>
            <a:grpSpLocks/>
          </p:cNvGrpSpPr>
          <p:nvPr/>
        </p:nvGrpSpPr>
        <p:grpSpPr bwMode="auto">
          <a:xfrm>
            <a:off x="2571521" y="3757147"/>
            <a:ext cx="415924" cy="1073146"/>
            <a:chOff x="1723" y="2341"/>
            <a:chExt cx="262" cy="676"/>
          </a:xfrm>
        </p:grpSpPr>
        <p:sp>
          <p:nvSpPr>
            <p:cNvPr id="40015" name="Line 25"/>
            <p:cNvSpPr>
              <a:spLocks noChangeShapeType="1"/>
            </p:cNvSpPr>
            <p:nvPr/>
          </p:nvSpPr>
          <p:spPr bwMode="auto">
            <a:xfrm>
              <a:off x="1723" y="2544"/>
              <a:ext cx="0" cy="47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6" name="Object 26"/>
            <p:cNvGraphicFramePr>
              <a:graphicFrameLocks noChangeAspect="1"/>
            </p:cNvGraphicFramePr>
            <p:nvPr/>
          </p:nvGraphicFramePr>
          <p:xfrm>
            <a:off x="1751" y="2341"/>
            <a:ext cx="2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39639" imgH="203112" progId="Equation.3">
                    <p:embed/>
                  </p:oleObj>
                </mc:Choice>
                <mc:Fallback>
                  <p:oleObj name="Ecuación" r:id="rId8" imgW="139639" imgH="203112" progId="Equation.3">
                    <p:embed/>
                    <p:pic>
                      <p:nvPicPr>
                        <p:cNvPr id="4001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2341"/>
                          <a:ext cx="2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3403" name="Group 27"/>
          <p:cNvGrpSpPr>
            <a:grpSpLocks/>
          </p:cNvGrpSpPr>
          <p:nvPr/>
        </p:nvGrpSpPr>
        <p:grpSpPr bwMode="auto">
          <a:xfrm>
            <a:off x="3513138" y="3469823"/>
            <a:ext cx="681037" cy="908050"/>
            <a:chOff x="2323" y="2160"/>
            <a:chExt cx="429" cy="572"/>
          </a:xfrm>
        </p:grpSpPr>
        <p:sp>
          <p:nvSpPr>
            <p:cNvPr id="40013" name="Line 28"/>
            <p:cNvSpPr>
              <a:spLocks noChangeShapeType="1"/>
            </p:cNvSpPr>
            <p:nvPr/>
          </p:nvSpPr>
          <p:spPr bwMode="auto">
            <a:xfrm flipV="1">
              <a:off x="2323" y="2259"/>
              <a:ext cx="0" cy="473"/>
            </a:xfrm>
            <a:prstGeom prst="line">
              <a:avLst/>
            </a:prstGeom>
            <a:noFill/>
            <a:ln w="63500">
              <a:solidFill>
                <a:srgbClr val="8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4" name="Object 29"/>
            <p:cNvGraphicFramePr>
              <a:graphicFrameLocks noChangeAspect="1"/>
            </p:cNvGraphicFramePr>
            <p:nvPr/>
          </p:nvGraphicFramePr>
          <p:xfrm>
            <a:off x="2427" y="2160"/>
            <a:ext cx="32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90335" imgH="266469" progId="Equation.3">
                    <p:embed/>
                  </p:oleObj>
                </mc:Choice>
                <mc:Fallback>
                  <p:oleObj name="Ecuación" r:id="rId10" imgW="190335" imgH="266469" progId="Equation.3">
                    <p:embed/>
                    <p:pic>
                      <p:nvPicPr>
                        <p:cNvPr id="4001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160"/>
                          <a:ext cx="32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3422" name="Group 46"/>
          <p:cNvGrpSpPr>
            <a:grpSpLocks/>
          </p:cNvGrpSpPr>
          <p:nvPr/>
        </p:nvGrpSpPr>
        <p:grpSpPr bwMode="auto">
          <a:xfrm>
            <a:off x="2285774" y="4282623"/>
            <a:ext cx="2732087" cy="684213"/>
            <a:chOff x="1563" y="2672"/>
            <a:chExt cx="1721" cy="431"/>
          </a:xfrm>
        </p:grpSpPr>
        <p:grpSp>
          <p:nvGrpSpPr>
            <p:cNvPr id="40008" name="Group 47"/>
            <p:cNvGrpSpPr>
              <a:grpSpLocks/>
            </p:cNvGrpSpPr>
            <p:nvPr/>
          </p:nvGrpSpPr>
          <p:grpSpPr bwMode="auto">
            <a:xfrm>
              <a:off x="1563" y="2672"/>
              <a:ext cx="1721" cy="238"/>
              <a:chOff x="1563" y="2672"/>
              <a:chExt cx="1721" cy="238"/>
            </a:xfrm>
          </p:grpSpPr>
          <p:sp>
            <p:nvSpPr>
              <p:cNvPr id="40010" name="Line 48"/>
              <p:cNvSpPr>
                <a:spLocks noChangeShapeType="1"/>
              </p:cNvSpPr>
              <p:nvPr/>
            </p:nvSpPr>
            <p:spPr bwMode="auto">
              <a:xfrm>
                <a:off x="1563" y="2792"/>
                <a:ext cx="17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pic>
            <p:nvPicPr>
              <p:cNvPr id="40011" name="Picture 49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" y="2672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012" name="Line 50"/>
              <p:cNvSpPr>
                <a:spLocks noChangeShapeType="1"/>
              </p:cNvSpPr>
              <p:nvPr/>
            </p:nvSpPr>
            <p:spPr bwMode="auto">
              <a:xfrm>
                <a:off x="2443" y="2790"/>
                <a:ext cx="32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40009" name="Object 51"/>
            <p:cNvGraphicFramePr>
              <a:graphicFrameLocks noChangeAspect="1"/>
            </p:cNvGraphicFramePr>
            <p:nvPr/>
          </p:nvGraphicFramePr>
          <p:xfrm>
            <a:off x="2728" y="2792"/>
            <a:ext cx="22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26725" imgH="177415" progId="Equation.3">
                    <p:embed/>
                  </p:oleObj>
                </mc:Choice>
                <mc:Fallback>
                  <p:oleObj name="Ecuación" r:id="rId6" imgW="126725" imgH="177415" progId="Equation.3">
                    <p:embed/>
                    <p:pic>
                      <p:nvPicPr>
                        <p:cNvPr id="4000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2792"/>
                          <a:ext cx="22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85" name="Text Box 32"/>
          <p:cNvSpPr txBox="1">
            <a:spLocks noChangeArrowheads="1"/>
          </p:cNvSpPr>
          <p:nvPr/>
        </p:nvSpPr>
        <p:spPr bwMode="auto">
          <a:xfrm>
            <a:off x="5654736" y="4188030"/>
            <a:ext cx="2206351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ym typeface="Symbol" panose="05050102010706020507" pitchFamily="18" charset="2"/>
              </a:rPr>
              <a:t> No desviarse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89" name="Object 61"/>
              <p:cNvSpPr txBox="1"/>
              <p:nvPr/>
            </p:nvSpPr>
            <p:spPr bwMode="auto">
              <a:xfrm>
                <a:off x="7821613" y="4077740"/>
                <a:ext cx="1877191" cy="668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3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l-GR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acc>
                        <m:accPr>
                          <m:chr m:val="⃗"/>
                          <m:ctrlPr>
                            <a:rPr lang="es-ES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acc>
                      <m:r>
                        <a:rPr lang="es-ES" sz="3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E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s-ES" sz="3200" dirty="0"/>
              </a:p>
            </p:txBody>
          </p:sp>
        </mc:Choice>
        <mc:Fallback xmlns="">
          <p:sp>
            <p:nvSpPr>
              <p:cNvPr id="39989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1613" y="4077740"/>
                <a:ext cx="1877191" cy="6683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99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733991"/>
              </p:ext>
            </p:extLst>
          </p:nvPr>
        </p:nvGraphicFramePr>
        <p:xfrm>
          <a:off x="7915423" y="6245852"/>
          <a:ext cx="1783379" cy="637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749160" imgH="266400" progId="Equation.3">
                  <p:embed/>
                </p:oleObj>
              </mc:Choice>
              <mc:Fallback>
                <p:oleObj name="Ecuación" r:id="rId14" imgW="749160" imgH="266400" progId="Equation.3">
                  <p:embed/>
                  <p:pic>
                    <p:nvPicPr>
                      <p:cNvPr id="3999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423" y="6245852"/>
                        <a:ext cx="1783379" cy="637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8" name="Text Box 44"/>
          <p:cNvSpPr txBox="1">
            <a:spLocks noChangeArrowheads="1"/>
          </p:cNvSpPr>
          <p:nvPr/>
        </p:nvSpPr>
        <p:spPr bwMode="auto">
          <a:xfrm>
            <a:off x="3746565" y="130944"/>
            <a:ext cx="4070153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BOLETÍN 4 - PROBLEMA 1</a:t>
            </a:r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28D0A03E-5E5B-4D7D-83F6-3C6B5AC14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469" y="541693"/>
            <a:ext cx="9185275" cy="2383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</a:pPr>
            <a:r>
              <a:rPr lang="es-ES" sz="2400" dirty="0"/>
              <a:t>Una partícula de carga negativa se desplaza con una velocidad </a:t>
            </a:r>
            <a:r>
              <a:rPr lang="es-ES" sz="2400" dirty="0">
                <a:solidFill>
                  <a:schemeClr val="tx1"/>
                </a:solidFill>
              </a:rPr>
              <a:t>v</a:t>
            </a:r>
            <a:r>
              <a:rPr lang="es-ES" sz="2400" dirty="0"/>
              <a:t>. La partícula penetra entre las placas de un </a:t>
            </a:r>
            <a:r>
              <a:rPr lang="es-ES" sz="2400" b="1" dirty="0"/>
              <a:t>condensador plano</a:t>
            </a:r>
            <a:r>
              <a:rPr lang="es-ES" sz="2400" dirty="0"/>
              <a:t>, siendo </a:t>
            </a:r>
            <a:r>
              <a:rPr lang="es-ES" sz="2400" dirty="0">
                <a:solidFill>
                  <a:schemeClr val="tx1"/>
                </a:solidFill>
              </a:rPr>
              <a:t>d</a:t>
            </a:r>
            <a:r>
              <a:rPr lang="es-ES" sz="2400" dirty="0"/>
              <a:t> la distancia entre las placas y </a:t>
            </a:r>
            <a:r>
              <a:rPr lang="es-ES" sz="2400" dirty="0">
                <a:solidFill>
                  <a:schemeClr val="tx1"/>
                </a:solidFill>
              </a:rPr>
              <a:t>V</a:t>
            </a:r>
            <a:r>
              <a:rPr lang="es-ES" sz="2400" b="1" dirty="0">
                <a:solidFill>
                  <a:srgbClr val="3333FF"/>
                </a:solidFill>
              </a:rPr>
              <a:t> </a:t>
            </a:r>
            <a:r>
              <a:rPr lang="es-ES" sz="2400" dirty="0"/>
              <a:t>la caída de potencial entre ellas hacia abajo. Determinar el campo magnético </a:t>
            </a:r>
            <a:r>
              <a:rPr lang="es-ES" sz="2400" b="1" i="1" u="sng" dirty="0"/>
              <a:t>mínimo</a:t>
            </a:r>
            <a:r>
              <a:rPr lang="es-ES" sz="2400" dirty="0"/>
              <a:t> que debemos aplicar sobre la carga para que no se desvíe de su trayectoria inicial (paralela a las placas del condensador). </a:t>
            </a:r>
          </a:p>
        </p:txBody>
      </p:sp>
      <p:sp>
        <p:nvSpPr>
          <p:cNvPr id="39" name="Text Box 23">
            <a:extLst>
              <a:ext uri="{FF2B5EF4-FFF2-40B4-BE49-F238E27FC236}">
                <a16:creationId xmlns:a16="http://schemas.microsoft.com/office/drawing/2014/main" id="{466AA0E0-4835-4780-9223-FE7254544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9838" y="4686817"/>
            <a:ext cx="4744906" cy="164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(como se habla de </a:t>
            </a:r>
            <a:r>
              <a:rPr lang="es-ES" sz="2400" b="1">
                <a:solidFill>
                  <a:srgbClr val="FF0000"/>
                </a:solidFill>
              </a:rPr>
              <a:t>B</a:t>
            </a:r>
            <a:r>
              <a:rPr lang="es-ES" sz="2400">
                <a:solidFill>
                  <a:srgbClr val="FF0000"/>
                </a:solidFill>
              </a:rPr>
              <a:t>, se aplicará una </a:t>
            </a:r>
            <a:r>
              <a:rPr lang="es-ES" sz="2400" b="1">
                <a:solidFill>
                  <a:srgbClr val="FF0000"/>
                </a:solidFill>
              </a:rPr>
              <a:t>F</a:t>
            </a:r>
            <a:r>
              <a:rPr lang="es-ES" sz="2400" baseline="-25000">
                <a:solidFill>
                  <a:srgbClr val="FF0000"/>
                </a:solidFill>
              </a:rPr>
              <a:t>magnética</a:t>
            </a:r>
            <a:r>
              <a:rPr lang="es-ES" sz="2400">
                <a:solidFill>
                  <a:srgbClr val="FF0000"/>
                </a:solidFill>
              </a:rPr>
              <a:t> para compensar.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Al no mencionar la masa, la gravitatoria será despreciable)</a:t>
            </a:r>
            <a:endParaRPr lang="es-ES" sz="2400" dirty="0">
              <a:solidFill>
                <a:srgbClr val="FF0000"/>
              </a:solidFill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FEB816B-70AC-418D-99A0-D1C6EA622702}"/>
              </a:ext>
            </a:extLst>
          </p:cNvPr>
          <p:cNvGrpSpPr/>
          <p:nvPr/>
        </p:nvGrpSpPr>
        <p:grpSpPr>
          <a:xfrm>
            <a:off x="5761063" y="3106244"/>
            <a:ext cx="1608138" cy="902423"/>
            <a:chOff x="5761063" y="3106241"/>
            <a:chExt cx="1608138" cy="902423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EE7A0DEF-103D-4731-93A0-C7166C5D1A1D}"/>
                </a:ext>
              </a:extLst>
            </p:cNvPr>
            <p:cNvGrpSpPr/>
            <p:nvPr/>
          </p:nvGrpSpPr>
          <p:grpSpPr>
            <a:xfrm>
              <a:off x="5761063" y="3106241"/>
              <a:ext cx="1608138" cy="803275"/>
              <a:chOff x="6710381" y="6082957"/>
              <a:chExt cx="1608138" cy="803275"/>
            </a:xfrm>
          </p:grpSpPr>
          <p:sp>
            <p:nvSpPr>
              <p:cNvPr id="46" name="Rectangle 49">
                <a:extLst>
                  <a:ext uri="{FF2B5EF4-FFF2-40B4-BE49-F238E27FC236}">
                    <a16:creationId xmlns:a16="http://schemas.microsoft.com/office/drawing/2014/main" id="{464B6653-47E2-4CDF-9280-188C948B2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0381" y="6082957"/>
                <a:ext cx="1608138" cy="8032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43" name="Object 55">
                    <a:extLst>
                      <a:ext uri="{FF2B5EF4-FFF2-40B4-BE49-F238E27FC236}">
                        <a16:creationId xmlns:a16="http://schemas.microsoft.com/office/drawing/2014/main" id="{CA3DBE38-6BA6-4109-9BD0-B95A9C5161E7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16" imgW="457200" imgH="241300" progId="Equation.3">
                          <p:embed/>
                        </p:oleObj>
                      </mc:Choice>
                      <mc:Fallback>
                        <p:oleObj name="Ecuación" r:id="rId16" imgW="457200" imgH="241300" progId="Equation.3">
                          <p:embed/>
                          <p:pic>
                            <p:nvPicPr>
                              <p:cNvPr id="43" name="Object 55">
                                <a:extLst>
                                  <a:ext uri="{FF2B5EF4-FFF2-40B4-BE49-F238E27FC236}">
                                    <a16:creationId xmlns:a16="http://schemas.microsoft.com/office/drawing/2014/main" id="{CA3DBE38-6BA6-4109-9BD0-B95A9C5161E7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3" name="Object 55">
                    <a:extLst>
                      <a:ext uri="{FF2B5EF4-FFF2-40B4-BE49-F238E27FC236}">
                        <a16:creationId xmlns:a16="http://schemas.microsoft.com/office/drawing/2014/main" id="{CA3DBE38-6BA6-4109-9BD0-B95A9C5161E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337335713"/>
                      </p:ext>
                    </p:extLst>
                  </p:nvPr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8246" name="Ecuación" r:id="rId19" imgW="457200" imgH="241300" progId="Equation.3">
                          <p:embed/>
                        </p:oleObj>
                      </mc:Choice>
                      <mc:Fallback>
                        <p:oleObj name="Ecuación" r:id="rId19" imgW="457200" imgH="241300" progId="Equation.3">
                          <p:embed/>
                          <p:pic>
                            <p:nvPicPr>
                              <p:cNvPr id="58" name="Object 55">
                                <a:extLst>
                                  <a:ext uri="{FF2B5EF4-FFF2-40B4-BE49-F238E27FC236}">
                                    <a16:creationId xmlns:a16="http://schemas.microsoft.com/office/drawing/2014/main" id="{AB9ADE89-DC3E-4D39-888F-0DD19254511C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55">
                  <a:extLst>
                    <a:ext uri="{FF2B5EF4-FFF2-40B4-BE49-F238E27FC236}">
                      <a16:creationId xmlns:a16="http://schemas.microsoft.com/office/drawing/2014/main" id="{24CC9A1A-FBCF-452F-A1FE-66FF3B457093}"/>
                    </a:ext>
                  </a:extLst>
                </p:cNvPr>
                <p:cNvSpPr txBox="1"/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52" name="Object 55">
                  <a:extLst>
                    <a:ext uri="{FF2B5EF4-FFF2-40B4-BE49-F238E27FC236}">
                      <a16:creationId xmlns:a16="http://schemas.microsoft.com/office/drawing/2014/main" id="{24CC9A1A-FBCF-452F-A1FE-66FF3B457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85" grpId="0"/>
      <p:bldP spid="39989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378" name="Group 2"/>
          <p:cNvGrpSpPr>
            <a:grpSpLocks/>
          </p:cNvGrpSpPr>
          <p:nvPr/>
        </p:nvGrpSpPr>
        <p:grpSpPr bwMode="auto">
          <a:xfrm>
            <a:off x="3511322" y="2839336"/>
            <a:ext cx="688974" cy="906463"/>
            <a:chOff x="2315" y="2762"/>
            <a:chExt cx="434" cy="571"/>
          </a:xfrm>
        </p:grpSpPr>
        <p:graphicFrame>
          <p:nvGraphicFramePr>
            <p:cNvPr id="40019" name="Object 3"/>
            <p:cNvGraphicFramePr>
              <a:graphicFrameLocks noChangeAspect="1"/>
            </p:cNvGraphicFramePr>
            <p:nvPr/>
          </p:nvGraphicFramePr>
          <p:xfrm>
            <a:off x="2427" y="2880"/>
            <a:ext cx="32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90335" imgH="266469" progId="Equation.3">
                    <p:embed/>
                  </p:oleObj>
                </mc:Choice>
                <mc:Fallback>
                  <p:oleObj name="Ecuación" r:id="rId3" imgW="190335" imgH="266469" progId="Equation.3">
                    <p:embed/>
                    <p:pic>
                      <p:nvPicPr>
                        <p:cNvPr id="400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880"/>
                          <a:ext cx="32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20" name="Line 4"/>
            <p:cNvSpPr>
              <a:spLocks noChangeShapeType="1"/>
            </p:cNvSpPr>
            <p:nvPr/>
          </p:nvSpPr>
          <p:spPr bwMode="auto">
            <a:xfrm>
              <a:off x="2315" y="2762"/>
              <a:ext cx="0" cy="473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39944" name="Rectangle 13"/>
          <p:cNvSpPr>
            <a:spLocks noChangeArrowheads="1"/>
          </p:cNvSpPr>
          <p:nvPr/>
        </p:nvSpPr>
        <p:spPr bwMode="auto">
          <a:xfrm>
            <a:off x="2261961" y="1593149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5" name="Rectangle 14"/>
          <p:cNvSpPr>
            <a:spLocks noChangeArrowheads="1"/>
          </p:cNvSpPr>
          <p:nvPr/>
        </p:nvSpPr>
        <p:spPr bwMode="auto">
          <a:xfrm>
            <a:off x="2277836" y="3742624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6" name="Line 15"/>
          <p:cNvSpPr>
            <a:spLocks noChangeShapeType="1"/>
          </p:cNvSpPr>
          <p:nvPr/>
        </p:nvSpPr>
        <p:spPr bwMode="auto">
          <a:xfrm>
            <a:off x="1717449" y="2755425"/>
            <a:ext cx="522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7" name="Text Box 16"/>
          <p:cNvSpPr txBox="1">
            <a:spLocks noChangeArrowheads="1"/>
          </p:cNvSpPr>
          <p:nvPr/>
        </p:nvSpPr>
        <p:spPr bwMode="auto">
          <a:xfrm>
            <a:off x="1822224" y="1405824"/>
            <a:ext cx="5127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+</a:t>
            </a:r>
            <a:endParaRPr lang="es-ES" sz="4800" b="1">
              <a:solidFill>
                <a:srgbClr val="008000"/>
              </a:solidFill>
            </a:endParaRPr>
          </a:p>
        </p:txBody>
      </p:sp>
      <p:sp>
        <p:nvSpPr>
          <p:cNvPr id="39948" name="Text Box 17"/>
          <p:cNvSpPr txBox="1">
            <a:spLocks noChangeArrowheads="1"/>
          </p:cNvSpPr>
          <p:nvPr/>
        </p:nvSpPr>
        <p:spPr bwMode="auto">
          <a:xfrm>
            <a:off x="1873024" y="3498149"/>
            <a:ext cx="284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-</a:t>
            </a:r>
          </a:p>
        </p:txBody>
      </p:sp>
      <p:pic>
        <p:nvPicPr>
          <p:cNvPr id="39949" name="Picture 18" descr="Image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36" y="2559936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9950" name="Object 1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43428079"/>
              </p:ext>
            </p:extLst>
          </p:nvPr>
        </p:nvGraphicFramePr>
        <p:xfrm>
          <a:off x="1728560" y="2249786"/>
          <a:ext cx="351939" cy="492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6725" imgH="177415" progId="Equation.3">
                  <p:embed/>
                </p:oleObj>
              </mc:Choice>
              <mc:Fallback>
                <p:oleObj name="Ecuación" r:id="rId6" imgW="126725" imgH="177415" progId="Equation.3">
                  <p:embed/>
                  <p:pic>
                    <p:nvPicPr>
                      <p:cNvPr id="3995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0" y="2249786"/>
                        <a:ext cx="351939" cy="492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1" name="Line 20"/>
          <p:cNvSpPr>
            <a:spLocks noChangeShapeType="1"/>
          </p:cNvSpPr>
          <p:nvPr/>
        </p:nvSpPr>
        <p:spPr bwMode="auto">
          <a:xfrm>
            <a:off x="3476399" y="3898199"/>
            <a:ext cx="0" cy="27781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2" name="Line 21"/>
          <p:cNvSpPr>
            <a:spLocks noChangeShapeType="1"/>
          </p:cNvSpPr>
          <p:nvPr/>
        </p:nvSpPr>
        <p:spPr bwMode="auto">
          <a:xfrm>
            <a:off x="3506788" y="1315336"/>
            <a:ext cx="0" cy="277813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3" name="Text Box 22"/>
          <p:cNvSpPr txBox="1">
            <a:spLocks noChangeArrowheads="1"/>
          </p:cNvSpPr>
          <p:nvPr/>
        </p:nvSpPr>
        <p:spPr bwMode="auto">
          <a:xfrm>
            <a:off x="1269774" y="2920299"/>
            <a:ext cx="3693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q</a:t>
            </a:r>
          </a:p>
        </p:txBody>
      </p:sp>
      <p:sp>
        <p:nvSpPr>
          <p:cNvPr id="39954" name="Text Box 23"/>
          <p:cNvSpPr txBox="1">
            <a:spLocks noChangeArrowheads="1"/>
          </p:cNvSpPr>
          <p:nvPr/>
        </p:nvSpPr>
        <p:spPr bwMode="auto">
          <a:xfrm>
            <a:off x="1454242" y="4269673"/>
            <a:ext cx="39780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: Tensión del condensador</a:t>
            </a:r>
          </a:p>
        </p:txBody>
      </p:sp>
      <p:sp>
        <p:nvSpPr>
          <p:cNvPr id="39955" name="Text Box 24"/>
          <p:cNvSpPr txBox="1">
            <a:spLocks noChangeArrowheads="1"/>
          </p:cNvSpPr>
          <p:nvPr/>
        </p:nvSpPr>
        <p:spPr bwMode="auto">
          <a:xfrm>
            <a:off x="1473429" y="4722564"/>
            <a:ext cx="357050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00FF"/>
                </a:solidFill>
              </a:rPr>
              <a:t>d</a:t>
            </a:r>
            <a:r>
              <a:rPr lang="es-ES" sz="2400"/>
              <a:t>: Distancia entre placas</a:t>
            </a:r>
          </a:p>
        </p:txBody>
      </p:sp>
      <p:grpSp>
        <p:nvGrpSpPr>
          <p:cNvPr id="613431" name="Group 55"/>
          <p:cNvGrpSpPr>
            <a:grpSpLocks/>
          </p:cNvGrpSpPr>
          <p:nvPr/>
        </p:nvGrpSpPr>
        <p:grpSpPr bwMode="auto">
          <a:xfrm>
            <a:off x="2571521" y="2043985"/>
            <a:ext cx="415924" cy="1073146"/>
            <a:chOff x="1723" y="2341"/>
            <a:chExt cx="262" cy="676"/>
          </a:xfrm>
        </p:grpSpPr>
        <p:sp>
          <p:nvSpPr>
            <p:cNvPr id="40015" name="Line 25"/>
            <p:cNvSpPr>
              <a:spLocks noChangeShapeType="1"/>
            </p:cNvSpPr>
            <p:nvPr/>
          </p:nvSpPr>
          <p:spPr bwMode="auto">
            <a:xfrm>
              <a:off x="1723" y="2544"/>
              <a:ext cx="0" cy="47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6" name="Object 26"/>
            <p:cNvGraphicFramePr>
              <a:graphicFrameLocks noChangeAspect="1"/>
            </p:cNvGraphicFramePr>
            <p:nvPr/>
          </p:nvGraphicFramePr>
          <p:xfrm>
            <a:off x="1751" y="2341"/>
            <a:ext cx="2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39639" imgH="203112" progId="Equation.3">
                    <p:embed/>
                  </p:oleObj>
                </mc:Choice>
                <mc:Fallback>
                  <p:oleObj name="Ecuación" r:id="rId8" imgW="139639" imgH="203112" progId="Equation.3">
                    <p:embed/>
                    <p:pic>
                      <p:nvPicPr>
                        <p:cNvPr id="4001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2341"/>
                          <a:ext cx="2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3403" name="Group 27"/>
          <p:cNvGrpSpPr>
            <a:grpSpLocks/>
          </p:cNvGrpSpPr>
          <p:nvPr/>
        </p:nvGrpSpPr>
        <p:grpSpPr bwMode="auto">
          <a:xfrm>
            <a:off x="3513144" y="1689995"/>
            <a:ext cx="658813" cy="974728"/>
            <a:chOff x="2323" y="2118"/>
            <a:chExt cx="415" cy="614"/>
          </a:xfrm>
        </p:grpSpPr>
        <p:sp>
          <p:nvSpPr>
            <p:cNvPr id="40013" name="Line 28"/>
            <p:cNvSpPr>
              <a:spLocks noChangeShapeType="1"/>
            </p:cNvSpPr>
            <p:nvPr/>
          </p:nvSpPr>
          <p:spPr bwMode="auto">
            <a:xfrm flipV="1">
              <a:off x="2323" y="2259"/>
              <a:ext cx="0" cy="473"/>
            </a:xfrm>
            <a:prstGeom prst="line">
              <a:avLst/>
            </a:prstGeom>
            <a:noFill/>
            <a:ln w="63500">
              <a:solidFill>
                <a:srgbClr val="8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9452787"/>
                </p:ext>
              </p:extLst>
            </p:nvPr>
          </p:nvGraphicFramePr>
          <p:xfrm>
            <a:off x="2413" y="2118"/>
            <a:ext cx="32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90335" imgH="266469" progId="Equation.3">
                    <p:embed/>
                  </p:oleObj>
                </mc:Choice>
                <mc:Fallback>
                  <p:oleObj name="Ecuación" r:id="rId10" imgW="190335" imgH="266469" progId="Equation.3">
                    <p:embed/>
                    <p:pic>
                      <p:nvPicPr>
                        <p:cNvPr id="4001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2118"/>
                          <a:ext cx="32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3422" name="Group 46"/>
          <p:cNvGrpSpPr>
            <a:grpSpLocks/>
          </p:cNvGrpSpPr>
          <p:nvPr/>
        </p:nvGrpSpPr>
        <p:grpSpPr bwMode="auto">
          <a:xfrm>
            <a:off x="2285774" y="2569461"/>
            <a:ext cx="2732087" cy="684213"/>
            <a:chOff x="1563" y="2672"/>
            <a:chExt cx="1721" cy="431"/>
          </a:xfrm>
        </p:grpSpPr>
        <p:grpSp>
          <p:nvGrpSpPr>
            <p:cNvPr id="40008" name="Group 47"/>
            <p:cNvGrpSpPr>
              <a:grpSpLocks/>
            </p:cNvGrpSpPr>
            <p:nvPr/>
          </p:nvGrpSpPr>
          <p:grpSpPr bwMode="auto">
            <a:xfrm>
              <a:off x="1563" y="2672"/>
              <a:ext cx="1721" cy="238"/>
              <a:chOff x="1563" y="2672"/>
              <a:chExt cx="1721" cy="238"/>
            </a:xfrm>
          </p:grpSpPr>
          <p:sp>
            <p:nvSpPr>
              <p:cNvPr id="40010" name="Line 48"/>
              <p:cNvSpPr>
                <a:spLocks noChangeShapeType="1"/>
              </p:cNvSpPr>
              <p:nvPr/>
            </p:nvSpPr>
            <p:spPr bwMode="auto">
              <a:xfrm>
                <a:off x="1563" y="2792"/>
                <a:ext cx="17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pic>
            <p:nvPicPr>
              <p:cNvPr id="40011" name="Picture 49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" y="2672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012" name="Line 50"/>
              <p:cNvSpPr>
                <a:spLocks noChangeShapeType="1"/>
              </p:cNvSpPr>
              <p:nvPr/>
            </p:nvSpPr>
            <p:spPr bwMode="auto">
              <a:xfrm>
                <a:off x="2443" y="2790"/>
                <a:ext cx="32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aphicFrame>
          <p:nvGraphicFramePr>
            <p:cNvPr id="40009" name="Object 51"/>
            <p:cNvGraphicFramePr>
              <a:graphicFrameLocks noChangeAspect="1"/>
            </p:cNvGraphicFramePr>
            <p:nvPr/>
          </p:nvGraphicFramePr>
          <p:xfrm>
            <a:off x="2728" y="2792"/>
            <a:ext cx="22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26725" imgH="177415" progId="Equation.3">
                    <p:embed/>
                  </p:oleObj>
                </mc:Choice>
                <mc:Fallback>
                  <p:oleObj name="Ecuación" r:id="rId6" imgW="126725" imgH="177415" progId="Equation.3">
                    <p:embed/>
                    <p:pic>
                      <p:nvPicPr>
                        <p:cNvPr id="4000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2792"/>
                          <a:ext cx="22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7497556" y="3859302"/>
            <a:ext cx="3313397" cy="682236"/>
            <a:chOff x="7692474" y="4341697"/>
            <a:chExt cx="3313226" cy="682236"/>
          </a:xfrm>
        </p:grpSpPr>
        <p:graphicFrame>
          <p:nvGraphicFramePr>
            <p:cNvPr id="39994" name="Object 73"/>
            <p:cNvGraphicFramePr>
              <a:graphicFrameLocks noChangeAspect="1"/>
            </p:cNvGraphicFramePr>
            <p:nvPr/>
          </p:nvGraphicFramePr>
          <p:xfrm>
            <a:off x="8161112" y="4341697"/>
            <a:ext cx="483675" cy="682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90335" imgH="266469" progId="Equation.3">
                    <p:embed/>
                  </p:oleObj>
                </mc:Choice>
                <mc:Fallback>
                  <p:oleObj name="Ecuación" r:id="rId12" imgW="190335" imgH="266469" progId="Equation.3">
                    <p:embed/>
                    <p:pic>
                      <p:nvPicPr>
                        <p:cNvPr id="39994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1112" y="4341697"/>
                          <a:ext cx="483675" cy="682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5" name="Text Box 77"/>
            <p:cNvSpPr txBox="1">
              <a:spLocks noChangeArrowheads="1"/>
            </p:cNvSpPr>
            <p:nvPr/>
          </p:nvSpPr>
          <p:spPr bwMode="auto">
            <a:xfrm>
              <a:off x="7692474" y="4437237"/>
              <a:ext cx="484701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9996" name="Text Box 80"/>
            <p:cNvSpPr txBox="1">
              <a:spLocks noChangeArrowheads="1"/>
            </p:cNvSpPr>
            <p:nvPr/>
          </p:nvSpPr>
          <p:spPr bwMode="auto">
            <a:xfrm>
              <a:off x="8596196" y="4468767"/>
              <a:ext cx="240950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es uniforme</a:t>
              </a:r>
              <a:endParaRPr lang="es-ES" sz="2400" dirty="0"/>
            </a:p>
          </p:txBody>
        </p:sp>
      </p:grp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7495875" y="4715116"/>
            <a:ext cx="2960229" cy="703779"/>
            <a:chOff x="7686712" y="4910499"/>
            <a:chExt cx="2961439" cy="703779"/>
          </a:xfrm>
        </p:grpSpPr>
        <p:graphicFrame>
          <p:nvGraphicFramePr>
            <p:cNvPr id="39991" name="Object 74"/>
            <p:cNvGraphicFramePr>
              <a:graphicFrameLocks noChangeAspect="1"/>
            </p:cNvGraphicFramePr>
            <p:nvPr/>
          </p:nvGraphicFramePr>
          <p:xfrm>
            <a:off x="8159355" y="4910499"/>
            <a:ext cx="500192" cy="703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190335" imgH="266469" progId="Equation.3">
                    <p:embed/>
                  </p:oleObj>
                </mc:Choice>
                <mc:Fallback>
                  <p:oleObj name="Ecuación" r:id="rId14" imgW="190335" imgH="266469" progId="Equation.3">
                    <p:embed/>
                    <p:pic>
                      <p:nvPicPr>
                        <p:cNvPr id="39991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9355" y="4910499"/>
                          <a:ext cx="500192" cy="7037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2" name="Text Box 82"/>
            <p:cNvSpPr txBox="1">
              <a:spLocks noChangeArrowheads="1"/>
            </p:cNvSpPr>
            <p:nvPr/>
          </p:nvSpPr>
          <p:spPr bwMode="auto">
            <a:xfrm>
              <a:off x="7686712" y="5014203"/>
              <a:ext cx="484924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39993" name="Text Box 83"/>
            <p:cNvSpPr txBox="1">
              <a:spLocks noChangeArrowheads="1"/>
            </p:cNvSpPr>
            <p:nvPr/>
          </p:nvSpPr>
          <p:spPr bwMode="auto">
            <a:xfrm>
              <a:off x="8582020" y="5030316"/>
              <a:ext cx="2066131" cy="5365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/>
                <a:t>será uniforme</a:t>
              </a:r>
            </a:p>
          </p:txBody>
        </p:sp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7497513" y="5755668"/>
            <a:ext cx="2948386" cy="574266"/>
            <a:chOff x="7802622" y="5792499"/>
            <a:chExt cx="2949267" cy="575367"/>
          </a:xfrm>
        </p:grpSpPr>
        <p:sp>
          <p:nvSpPr>
            <p:cNvPr id="11" name="Rectangle 31"/>
            <p:cNvSpPr>
              <a:spLocks noChangeArrowheads="1"/>
            </p:cNvSpPr>
            <p:nvPr/>
          </p:nvSpPr>
          <p:spPr bwMode="auto">
            <a:xfrm>
              <a:off x="8314740" y="5793679"/>
              <a:ext cx="2375975" cy="5741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/>
            </a:p>
          </p:txBody>
        </p:sp>
        <p:sp>
          <p:nvSpPr>
            <p:cNvPr id="39986" name="Text Box 85"/>
            <p:cNvSpPr txBox="1">
              <a:spLocks noChangeArrowheads="1"/>
            </p:cNvSpPr>
            <p:nvPr/>
          </p:nvSpPr>
          <p:spPr bwMode="auto">
            <a:xfrm>
              <a:off x="8685984" y="5792499"/>
              <a:ext cx="2065905" cy="537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será uniforme</a:t>
              </a:r>
            </a:p>
          </p:txBody>
        </p:sp>
        <p:sp>
          <p:nvSpPr>
            <p:cNvPr id="39987" name="Text Box 86"/>
            <p:cNvSpPr txBox="1">
              <a:spLocks noChangeArrowheads="1"/>
            </p:cNvSpPr>
            <p:nvPr/>
          </p:nvSpPr>
          <p:spPr bwMode="auto">
            <a:xfrm>
              <a:off x="7802622" y="5826493"/>
              <a:ext cx="484871" cy="5375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ym typeface="Symbol" panose="05050102010706020507" pitchFamily="18" charset="2"/>
                </a:rPr>
                <a:t></a:t>
              </a:r>
            </a:p>
          </p:txBody>
        </p:sp>
        <p:grpSp>
          <p:nvGrpSpPr>
            <p:cNvPr id="39988" name="Group 92"/>
            <p:cNvGrpSpPr>
              <a:grpSpLocks/>
            </p:cNvGrpSpPr>
            <p:nvPr/>
          </p:nvGrpSpPr>
          <p:grpSpPr bwMode="auto">
            <a:xfrm>
              <a:off x="8355436" y="5831291"/>
              <a:ext cx="387350" cy="536575"/>
              <a:chOff x="6152" y="3377"/>
              <a:chExt cx="244" cy="338"/>
            </a:xfrm>
          </p:grpSpPr>
          <p:sp>
            <p:nvSpPr>
              <p:cNvPr id="12" name="Text Box 88"/>
              <p:cNvSpPr txBox="1">
                <a:spLocks noChangeArrowheads="1"/>
              </p:cNvSpPr>
              <p:nvPr/>
            </p:nvSpPr>
            <p:spPr bwMode="auto">
              <a:xfrm>
                <a:off x="6152" y="3377"/>
                <a:ext cx="244" cy="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sz="2400">
                    <a:solidFill>
                      <a:schemeClr val="tx1"/>
                    </a:solidFill>
                    <a:sym typeface="Symbol" panose="05050102010706020507" pitchFamily="18" charset="2"/>
                  </a:rPr>
                  <a:t>B</a:t>
                </a:r>
              </a:p>
            </p:txBody>
          </p:sp>
          <p:sp>
            <p:nvSpPr>
              <p:cNvPr id="39990" name="Line 89"/>
              <p:cNvSpPr>
                <a:spLocks noChangeShapeType="1"/>
              </p:cNvSpPr>
              <p:nvPr/>
            </p:nvSpPr>
            <p:spPr bwMode="auto">
              <a:xfrm>
                <a:off x="6210" y="3442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/>
              </a:p>
            </p:txBody>
          </p:sp>
        </p:grpSp>
      </p:grp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5978411" y="5799488"/>
            <a:ext cx="1565150" cy="536549"/>
            <a:chOff x="6613462" y="5391530"/>
            <a:chExt cx="1565794" cy="536923"/>
          </a:xfrm>
        </p:grpSpPr>
        <p:sp>
          <p:nvSpPr>
            <p:cNvPr id="39983" name="Text Box 95"/>
            <p:cNvSpPr txBox="1">
              <a:spLocks noChangeArrowheads="1"/>
            </p:cNvSpPr>
            <p:nvPr/>
          </p:nvSpPr>
          <p:spPr bwMode="auto">
            <a:xfrm>
              <a:off x="6613462" y="5391530"/>
              <a:ext cx="1565794" cy="536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q y v ctes.</a:t>
              </a:r>
            </a:p>
          </p:txBody>
        </p:sp>
        <p:sp>
          <p:nvSpPr>
            <p:cNvPr id="39984" name="Line 96"/>
            <p:cNvSpPr>
              <a:spLocks noChangeShapeType="1"/>
            </p:cNvSpPr>
            <p:nvPr/>
          </p:nvSpPr>
          <p:spPr bwMode="auto">
            <a:xfrm flipV="1">
              <a:off x="7177233" y="5503258"/>
              <a:ext cx="179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5946881" y="3205212"/>
            <a:ext cx="4255902" cy="585874"/>
            <a:chOff x="5898109" y="4381454"/>
            <a:chExt cx="4257140" cy="586119"/>
          </a:xfrm>
        </p:grpSpPr>
        <p:graphicFrame>
          <p:nvGraphicFramePr>
            <p:cNvPr id="39980" name="Object 78"/>
            <p:cNvGraphicFramePr>
              <a:graphicFrameLocks noChangeAspect="1"/>
            </p:cNvGraphicFramePr>
            <p:nvPr/>
          </p:nvGraphicFramePr>
          <p:xfrm>
            <a:off x="5898109" y="4381454"/>
            <a:ext cx="331788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6" imgW="139639" imgH="203112" progId="Equation.3">
                    <p:embed/>
                  </p:oleObj>
                </mc:Choice>
                <mc:Fallback>
                  <p:oleObj name="Ecuación" r:id="rId16" imgW="139639" imgH="203112" progId="Equation.3">
                    <p:embed/>
                    <p:pic>
                      <p:nvPicPr>
                        <p:cNvPr id="3998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8109" y="4381454"/>
                          <a:ext cx="331788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81" name="Text Box 79"/>
            <p:cNvSpPr txBox="1">
              <a:spLocks noChangeArrowheads="1"/>
            </p:cNvSpPr>
            <p:nvPr/>
          </p:nvSpPr>
          <p:spPr bwMode="auto">
            <a:xfrm>
              <a:off x="6192713" y="4424982"/>
              <a:ext cx="1791694" cy="536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/>
                <a:t>es uniforme</a:t>
              </a:r>
            </a:p>
          </p:txBody>
        </p:sp>
        <p:sp>
          <p:nvSpPr>
            <p:cNvPr id="39982" name="Text Box 54"/>
            <p:cNvSpPr txBox="1">
              <a:spLocks noChangeArrowheads="1"/>
            </p:cNvSpPr>
            <p:nvPr/>
          </p:nvSpPr>
          <p:spPr bwMode="auto">
            <a:xfrm>
              <a:off x="7914750" y="4430799"/>
              <a:ext cx="2240499" cy="536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s-ES" sz="2400" dirty="0">
                  <a:solidFill>
                    <a:srgbClr val="FF0000"/>
                  </a:solidFill>
                </a:rPr>
                <a:t>(</a:t>
              </a:r>
              <a:r>
                <a:rPr lang="es-ES" sz="2400" dirty="0" err="1">
                  <a:solidFill>
                    <a:srgbClr val="FF0000"/>
                  </a:solidFill>
                </a:rPr>
                <a:t>cond</a:t>
              </a:r>
              <a:r>
                <a:rPr lang="es-ES" sz="2400" dirty="0">
                  <a:solidFill>
                    <a:srgbClr val="FF0000"/>
                  </a:solidFill>
                </a:rPr>
                <a:t>. plano)</a:t>
              </a:r>
            </a:p>
          </p:txBody>
        </p:sp>
      </p:grpSp>
      <p:sp>
        <p:nvSpPr>
          <p:cNvPr id="7" name="CuadroTexto 6"/>
          <p:cNvSpPr txBox="1">
            <a:spLocks noChangeArrowheads="1"/>
          </p:cNvSpPr>
          <p:nvPr/>
        </p:nvSpPr>
        <p:spPr bwMode="auto">
          <a:xfrm>
            <a:off x="5938513" y="3991981"/>
            <a:ext cx="15856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/>
              <a:t>y q es cte.</a:t>
            </a:r>
          </a:p>
        </p:txBody>
      </p:sp>
      <p:graphicFrame>
        <p:nvGraphicFramePr>
          <p:cNvPr id="6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285092"/>
              </p:ext>
            </p:extLst>
          </p:nvPr>
        </p:nvGraphicFramePr>
        <p:xfrm>
          <a:off x="5912626" y="4713157"/>
          <a:ext cx="1574800" cy="754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558720" imgH="266400" progId="Equation.3">
                  <p:embed/>
                </p:oleObj>
              </mc:Choice>
              <mc:Fallback>
                <p:oleObj name="Ecuación" r:id="rId18" imgW="558720" imgH="266400" progId="Equation.3">
                  <p:embed/>
                  <p:pic>
                    <p:nvPicPr>
                      <p:cNvPr id="6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626" y="4713157"/>
                        <a:ext cx="1574800" cy="754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Grupo 63">
            <a:extLst>
              <a:ext uri="{FF2B5EF4-FFF2-40B4-BE49-F238E27FC236}">
                <a16:creationId xmlns:a16="http://schemas.microsoft.com/office/drawing/2014/main" id="{7380B05E-1BB3-424A-BEFA-8EA5EFC7C1AE}"/>
              </a:ext>
            </a:extLst>
          </p:cNvPr>
          <p:cNvGrpSpPr/>
          <p:nvPr/>
        </p:nvGrpSpPr>
        <p:grpSpPr>
          <a:xfrm>
            <a:off x="5761063" y="1218905"/>
            <a:ext cx="1608138" cy="902423"/>
            <a:chOff x="5761063" y="3106241"/>
            <a:chExt cx="1608138" cy="902423"/>
          </a:xfrm>
        </p:grpSpPr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08EC4EDD-D831-4113-BAC6-4AA09B775C67}"/>
                </a:ext>
              </a:extLst>
            </p:cNvPr>
            <p:cNvGrpSpPr/>
            <p:nvPr/>
          </p:nvGrpSpPr>
          <p:grpSpPr>
            <a:xfrm>
              <a:off x="5761063" y="3106241"/>
              <a:ext cx="1608138" cy="803275"/>
              <a:chOff x="6710381" y="6082957"/>
              <a:chExt cx="1608138" cy="803275"/>
            </a:xfrm>
          </p:grpSpPr>
          <p:sp>
            <p:nvSpPr>
              <p:cNvPr id="67" name="Rectangle 49">
                <a:extLst>
                  <a:ext uri="{FF2B5EF4-FFF2-40B4-BE49-F238E27FC236}">
                    <a16:creationId xmlns:a16="http://schemas.microsoft.com/office/drawing/2014/main" id="{8EA8AF1B-2974-46B3-8725-413836A90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0381" y="6082957"/>
                <a:ext cx="1608138" cy="8032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68" name="Object 55">
                    <a:extLst>
                      <a:ext uri="{FF2B5EF4-FFF2-40B4-BE49-F238E27FC236}">
                        <a16:creationId xmlns:a16="http://schemas.microsoft.com/office/drawing/2014/main" id="{5AD30C21-EE83-44DE-9133-B31C86560EBA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20" imgW="457200" imgH="241300" progId="Equation.3">
                          <p:embed/>
                        </p:oleObj>
                      </mc:Choice>
                      <mc:Fallback>
                        <p:oleObj name="Ecuación" r:id="rId20" imgW="457200" imgH="241300" progId="Equation.3">
                          <p:embed/>
                          <p:pic>
                            <p:nvPicPr>
                              <p:cNvPr id="68" name="Object 55">
                                <a:extLst>
                                  <a:ext uri="{FF2B5EF4-FFF2-40B4-BE49-F238E27FC236}">
                                    <a16:creationId xmlns:a16="http://schemas.microsoft.com/office/drawing/2014/main" id="{5AD30C21-EE83-44DE-9133-B31C86560EB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68" name="Object 55">
                    <a:extLst>
                      <a:ext uri="{FF2B5EF4-FFF2-40B4-BE49-F238E27FC236}">
                        <a16:creationId xmlns:a16="http://schemas.microsoft.com/office/drawing/2014/main" id="{5AD30C21-EE83-44DE-9133-B31C86560EB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909610275"/>
                      </p:ext>
                    </p:extLst>
                  </p:nvPr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1682" name="Ecuación" r:id="rId24" imgW="457200" imgH="241300" progId="Equation.3">
                          <p:embed/>
                        </p:oleObj>
                      </mc:Choice>
                      <mc:Fallback>
                        <p:oleObj name="Ecuación" r:id="rId24" imgW="457200" imgH="241300" progId="Equation.3">
                          <p:embed/>
                          <p:pic>
                            <p:nvPicPr>
                              <p:cNvPr id="43" name="Object 55">
                                <a:extLst>
                                  <a:ext uri="{FF2B5EF4-FFF2-40B4-BE49-F238E27FC236}">
                                    <a16:creationId xmlns:a16="http://schemas.microsoft.com/office/drawing/2014/main" id="{CA3DBE38-6BA6-4109-9BD0-B95A9C5161E7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bject 55">
                  <a:extLst>
                    <a:ext uri="{FF2B5EF4-FFF2-40B4-BE49-F238E27FC236}">
                      <a16:creationId xmlns:a16="http://schemas.microsoft.com/office/drawing/2014/main" id="{91BC172C-429A-46CF-9DD4-58A822115382}"/>
                    </a:ext>
                  </a:extLst>
                </p:cNvPr>
                <p:cNvSpPr txBox="1"/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66" name="Object 55">
                  <a:extLst>
                    <a:ext uri="{FF2B5EF4-FFF2-40B4-BE49-F238E27FC236}">
                      <a16:creationId xmlns:a16="http://schemas.microsoft.com/office/drawing/2014/main" id="{91BC172C-429A-46CF-9DD4-58A822115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114">
            <a:extLst>
              <a:ext uri="{FF2B5EF4-FFF2-40B4-BE49-F238E27FC236}">
                <a16:creationId xmlns:a16="http://schemas.microsoft.com/office/drawing/2014/main" id="{5B87F834-BAC0-4789-9EE2-29E80B9816D4}"/>
              </a:ext>
            </a:extLst>
          </p:cNvPr>
          <p:cNvGrpSpPr>
            <a:grpSpLocks/>
          </p:cNvGrpSpPr>
          <p:nvPr/>
        </p:nvGrpSpPr>
        <p:grpSpPr bwMode="auto">
          <a:xfrm>
            <a:off x="7567824" y="1223370"/>
            <a:ext cx="2676525" cy="804862"/>
            <a:chOff x="1294" y="758"/>
            <a:chExt cx="1686" cy="507"/>
          </a:xfrm>
        </p:grpSpPr>
        <p:sp>
          <p:nvSpPr>
            <p:cNvPr id="73" name="Rectangle 30">
              <a:extLst>
                <a:ext uri="{FF2B5EF4-FFF2-40B4-BE49-F238E27FC236}">
                  <a16:creationId xmlns:a16="http://schemas.microsoft.com/office/drawing/2014/main" id="{05676360-A128-4702-9DB9-4FF11BBF3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758"/>
              <a:ext cx="1686" cy="50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4" name="Object 31">
              <a:extLst>
                <a:ext uri="{FF2B5EF4-FFF2-40B4-BE49-F238E27FC236}">
                  <a16:creationId xmlns:a16="http://schemas.microsoft.com/office/drawing/2014/main" id="{35354E32-4B32-42FC-A85E-B3CB14EBA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2192228"/>
                </p:ext>
              </p:extLst>
            </p:nvPr>
          </p:nvGraphicFramePr>
          <p:xfrm>
            <a:off x="1361" y="776"/>
            <a:ext cx="1556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7" imgW="850531" imgH="266584" progId="Equation.3">
                    <p:embed/>
                  </p:oleObj>
                </mc:Choice>
                <mc:Fallback>
                  <p:oleObj name="Ecuación" r:id="rId27" imgW="850531" imgH="266584" progId="Equation.3">
                    <p:embed/>
                    <p:pic>
                      <p:nvPicPr>
                        <p:cNvPr id="42109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776"/>
                          <a:ext cx="1556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D198858-B0BD-84E1-00C1-D21410573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389" y="2514744"/>
            <a:ext cx="26869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 u="sng"/>
              <a:t>Entre las placas</a:t>
            </a:r>
            <a:r>
              <a:rPr lang="es-ES" sz="2400"/>
              <a:t>: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85141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431" name="Group 55"/>
          <p:cNvGrpSpPr>
            <a:grpSpLocks/>
          </p:cNvGrpSpPr>
          <p:nvPr/>
        </p:nvGrpSpPr>
        <p:grpSpPr bwMode="auto">
          <a:xfrm>
            <a:off x="2571521" y="2044017"/>
            <a:ext cx="415924" cy="1073146"/>
            <a:chOff x="1723" y="2341"/>
            <a:chExt cx="262" cy="676"/>
          </a:xfrm>
        </p:grpSpPr>
        <p:sp>
          <p:nvSpPr>
            <p:cNvPr id="40015" name="Line 25"/>
            <p:cNvSpPr>
              <a:spLocks noChangeShapeType="1"/>
            </p:cNvSpPr>
            <p:nvPr/>
          </p:nvSpPr>
          <p:spPr bwMode="auto">
            <a:xfrm>
              <a:off x="1723" y="2544"/>
              <a:ext cx="0" cy="47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6" name="Object 26"/>
            <p:cNvGraphicFramePr>
              <a:graphicFrameLocks noChangeAspect="1"/>
            </p:cNvGraphicFramePr>
            <p:nvPr/>
          </p:nvGraphicFramePr>
          <p:xfrm>
            <a:off x="1751" y="2341"/>
            <a:ext cx="2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9639" imgH="203112" progId="Equation.3">
                    <p:embed/>
                  </p:oleObj>
                </mc:Choice>
                <mc:Fallback>
                  <p:oleObj name="Ecuación" r:id="rId3" imgW="139639" imgH="203112" progId="Equation.3">
                    <p:embed/>
                    <p:pic>
                      <p:nvPicPr>
                        <p:cNvPr id="4001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2341"/>
                          <a:ext cx="2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3378" name="Group 2"/>
          <p:cNvGrpSpPr>
            <a:grpSpLocks/>
          </p:cNvGrpSpPr>
          <p:nvPr/>
        </p:nvGrpSpPr>
        <p:grpSpPr bwMode="auto">
          <a:xfrm>
            <a:off x="3511322" y="2839368"/>
            <a:ext cx="688974" cy="906463"/>
            <a:chOff x="2315" y="2762"/>
            <a:chExt cx="434" cy="571"/>
          </a:xfrm>
        </p:grpSpPr>
        <p:graphicFrame>
          <p:nvGraphicFramePr>
            <p:cNvPr id="40019" name="Object 3"/>
            <p:cNvGraphicFramePr>
              <a:graphicFrameLocks noChangeAspect="1"/>
            </p:cNvGraphicFramePr>
            <p:nvPr/>
          </p:nvGraphicFramePr>
          <p:xfrm>
            <a:off x="2427" y="2880"/>
            <a:ext cx="32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90335" imgH="266469" progId="Equation.3">
                    <p:embed/>
                  </p:oleObj>
                </mc:Choice>
                <mc:Fallback>
                  <p:oleObj name="Ecuación" r:id="rId5" imgW="190335" imgH="266469" progId="Equation.3">
                    <p:embed/>
                    <p:pic>
                      <p:nvPicPr>
                        <p:cNvPr id="400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880"/>
                          <a:ext cx="32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20" name="Line 4"/>
            <p:cNvSpPr>
              <a:spLocks noChangeShapeType="1"/>
            </p:cNvSpPr>
            <p:nvPr/>
          </p:nvSpPr>
          <p:spPr bwMode="auto">
            <a:xfrm>
              <a:off x="2315" y="2762"/>
              <a:ext cx="0" cy="473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61" name="AutoShape 10"/>
          <p:cNvSpPr>
            <a:spLocks noChangeArrowheads="1"/>
          </p:cNvSpPr>
          <p:nvPr/>
        </p:nvSpPr>
        <p:spPr bwMode="auto">
          <a:xfrm>
            <a:off x="1182688" y="2177833"/>
            <a:ext cx="4605337" cy="1241425"/>
          </a:xfrm>
          <a:prstGeom prst="parallelogram">
            <a:avLst>
              <a:gd name="adj" fmla="val 167367"/>
            </a:avLst>
          </a:prstGeom>
          <a:solidFill>
            <a:srgbClr val="FFFF99">
              <a:alpha val="7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613388" name="Line 12"/>
          <p:cNvSpPr>
            <a:spLocks noChangeShapeType="1"/>
          </p:cNvSpPr>
          <p:nvPr/>
        </p:nvSpPr>
        <p:spPr bwMode="auto">
          <a:xfrm flipH="1">
            <a:off x="2555649" y="2183731"/>
            <a:ext cx="1844675" cy="11922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44" name="Rectangle 13"/>
          <p:cNvSpPr>
            <a:spLocks noChangeArrowheads="1"/>
          </p:cNvSpPr>
          <p:nvPr/>
        </p:nvSpPr>
        <p:spPr bwMode="auto">
          <a:xfrm>
            <a:off x="2261961" y="1593181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5" name="Rectangle 14"/>
          <p:cNvSpPr>
            <a:spLocks noChangeArrowheads="1"/>
          </p:cNvSpPr>
          <p:nvPr/>
        </p:nvSpPr>
        <p:spPr bwMode="auto">
          <a:xfrm>
            <a:off x="2277836" y="3742656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39946" name="Line 15"/>
          <p:cNvSpPr>
            <a:spLocks noChangeShapeType="1"/>
          </p:cNvSpPr>
          <p:nvPr/>
        </p:nvSpPr>
        <p:spPr bwMode="auto">
          <a:xfrm>
            <a:off x="1717449" y="2755457"/>
            <a:ext cx="522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7" name="Text Box 16"/>
          <p:cNvSpPr txBox="1">
            <a:spLocks noChangeArrowheads="1"/>
          </p:cNvSpPr>
          <p:nvPr/>
        </p:nvSpPr>
        <p:spPr bwMode="auto">
          <a:xfrm>
            <a:off x="1822224" y="1405856"/>
            <a:ext cx="5127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+</a:t>
            </a:r>
            <a:endParaRPr lang="es-ES" sz="4800" b="1">
              <a:solidFill>
                <a:srgbClr val="008000"/>
              </a:solidFill>
            </a:endParaRPr>
          </a:p>
        </p:txBody>
      </p:sp>
      <p:sp>
        <p:nvSpPr>
          <p:cNvPr id="39948" name="Text Box 17"/>
          <p:cNvSpPr txBox="1">
            <a:spLocks noChangeArrowheads="1"/>
          </p:cNvSpPr>
          <p:nvPr/>
        </p:nvSpPr>
        <p:spPr bwMode="auto">
          <a:xfrm>
            <a:off x="1873024" y="3498181"/>
            <a:ext cx="284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-</a:t>
            </a:r>
          </a:p>
        </p:txBody>
      </p:sp>
      <p:pic>
        <p:nvPicPr>
          <p:cNvPr id="39949" name="Picture 18" descr="Image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36" y="2559968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9950" name="Object 1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40010252"/>
              </p:ext>
            </p:extLst>
          </p:nvPr>
        </p:nvGraphicFramePr>
        <p:xfrm>
          <a:off x="1728560" y="2249818"/>
          <a:ext cx="351939" cy="492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26725" imgH="177415" progId="Equation.3">
                  <p:embed/>
                </p:oleObj>
              </mc:Choice>
              <mc:Fallback>
                <p:oleObj name="Ecuación" r:id="rId8" imgW="126725" imgH="177415" progId="Equation.3">
                  <p:embed/>
                  <p:pic>
                    <p:nvPicPr>
                      <p:cNvPr id="3995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0" y="2249818"/>
                        <a:ext cx="351939" cy="492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1" name="Line 20"/>
          <p:cNvSpPr>
            <a:spLocks noChangeShapeType="1"/>
          </p:cNvSpPr>
          <p:nvPr/>
        </p:nvSpPr>
        <p:spPr bwMode="auto">
          <a:xfrm>
            <a:off x="3476399" y="3898231"/>
            <a:ext cx="0" cy="27781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2" name="Line 21"/>
          <p:cNvSpPr>
            <a:spLocks noChangeShapeType="1"/>
          </p:cNvSpPr>
          <p:nvPr/>
        </p:nvSpPr>
        <p:spPr bwMode="auto">
          <a:xfrm>
            <a:off x="3508149" y="1315368"/>
            <a:ext cx="0" cy="277813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9953" name="Text Box 22"/>
          <p:cNvSpPr txBox="1">
            <a:spLocks noChangeArrowheads="1"/>
          </p:cNvSpPr>
          <p:nvPr/>
        </p:nvSpPr>
        <p:spPr bwMode="auto">
          <a:xfrm>
            <a:off x="1269774" y="2920331"/>
            <a:ext cx="3693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q</a:t>
            </a:r>
          </a:p>
        </p:txBody>
      </p:sp>
      <p:sp>
        <p:nvSpPr>
          <p:cNvPr id="39954" name="Text Box 23"/>
          <p:cNvSpPr txBox="1">
            <a:spLocks noChangeArrowheads="1"/>
          </p:cNvSpPr>
          <p:nvPr/>
        </p:nvSpPr>
        <p:spPr bwMode="auto">
          <a:xfrm>
            <a:off x="1454242" y="4269705"/>
            <a:ext cx="39780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: Tensión del condensador</a:t>
            </a:r>
          </a:p>
        </p:txBody>
      </p:sp>
      <p:sp>
        <p:nvSpPr>
          <p:cNvPr id="39955" name="Text Box 24"/>
          <p:cNvSpPr txBox="1">
            <a:spLocks noChangeArrowheads="1"/>
          </p:cNvSpPr>
          <p:nvPr/>
        </p:nvSpPr>
        <p:spPr bwMode="auto">
          <a:xfrm>
            <a:off x="1473429" y="4722596"/>
            <a:ext cx="357050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00FF"/>
                </a:solidFill>
              </a:rPr>
              <a:t>d</a:t>
            </a:r>
            <a:r>
              <a:rPr lang="es-ES" sz="2400"/>
              <a:t>: Distancia entre placas</a:t>
            </a:r>
          </a:p>
        </p:txBody>
      </p:sp>
      <p:grpSp>
        <p:nvGrpSpPr>
          <p:cNvPr id="613422" name="Group 46"/>
          <p:cNvGrpSpPr>
            <a:grpSpLocks/>
          </p:cNvGrpSpPr>
          <p:nvPr/>
        </p:nvGrpSpPr>
        <p:grpSpPr bwMode="auto">
          <a:xfrm>
            <a:off x="2285774" y="2569493"/>
            <a:ext cx="2732087" cy="684213"/>
            <a:chOff x="1563" y="2672"/>
            <a:chExt cx="1721" cy="431"/>
          </a:xfrm>
        </p:grpSpPr>
        <p:grpSp>
          <p:nvGrpSpPr>
            <p:cNvPr id="40008" name="Group 47"/>
            <p:cNvGrpSpPr>
              <a:grpSpLocks/>
            </p:cNvGrpSpPr>
            <p:nvPr/>
          </p:nvGrpSpPr>
          <p:grpSpPr bwMode="auto">
            <a:xfrm>
              <a:off x="1563" y="2672"/>
              <a:ext cx="1721" cy="238"/>
              <a:chOff x="1563" y="2672"/>
              <a:chExt cx="1721" cy="238"/>
            </a:xfrm>
          </p:grpSpPr>
          <p:sp>
            <p:nvSpPr>
              <p:cNvPr id="40010" name="Line 48"/>
              <p:cNvSpPr>
                <a:spLocks noChangeShapeType="1"/>
              </p:cNvSpPr>
              <p:nvPr/>
            </p:nvSpPr>
            <p:spPr bwMode="auto">
              <a:xfrm>
                <a:off x="1563" y="2792"/>
                <a:ext cx="17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0012" name="Line 50"/>
              <p:cNvSpPr>
                <a:spLocks noChangeShapeType="1"/>
              </p:cNvSpPr>
              <p:nvPr/>
            </p:nvSpPr>
            <p:spPr bwMode="auto">
              <a:xfrm>
                <a:off x="2443" y="2790"/>
                <a:ext cx="32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40011" name="Picture 49" descr="Image2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" y="2672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aphicFrame>
          <p:nvGraphicFramePr>
            <p:cNvPr id="40009" name="Object 51"/>
            <p:cNvGraphicFramePr>
              <a:graphicFrameLocks noChangeAspect="1"/>
            </p:cNvGraphicFramePr>
            <p:nvPr/>
          </p:nvGraphicFramePr>
          <p:xfrm>
            <a:off x="2728" y="2792"/>
            <a:ext cx="22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26725" imgH="177415" progId="Equation.3">
                    <p:embed/>
                  </p:oleObj>
                </mc:Choice>
                <mc:Fallback>
                  <p:oleObj name="Ecuación" r:id="rId8" imgW="126725" imgH="177415" progId="Equation.3">
                    <p:embed/>
                    <p:pic>
                      <p:nvPicPr>
                        <p:cNvPr id="4000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2792"/>
                          <a:ext cx="22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Line 53"/>
          <p:cNvSpPr>
            <a:spLocks noChangeShapeType="1"/>
          </p:cNvSpPr>
          <p:nvPr/>
        </p:nvSpPr>
        <p:spPr bwMode="auto">
          <a:xfrm flipH="1" flipV="1">
            <a:off x="4724400" y="3087469"/>
            <a:ext cx="1333500" cy="6953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66" name="Text Box 54"/>
          <p:cNvSpPr txBox="1">
            <a:spLocks noChangeArrowheads="1"/>
          </p:cNvSpPr>
          <p:nvPr/>
        </p:nvSpPr>
        <p:spPr bwMode="auto">
          <a:xfrm>
            <a:off x="5890090" y="3619282"/>
            <a:ext cx="2001838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 dirty="0">
                <a:solidFill>
                  <a:srgbClr val="FF0000"/>
                </a:solidFill>
              </a:rPr>
              <a:t>Estará en ese plano</a:t>
            </a:r>
          </a:p>
          <a:p>
            <a:pPr algn="ctr" eaLnBrk="1" hangingPunct="1"/>
            <a:r>
              <a:rPr lang="es-ES" sz="2400" dirty="0">
                <a:solidFill>
                  <a:srgbClr val="FF0000"/>
                </a:solidFill>
              </a:rPr>
              <a:t>(// a placas)</a:t>
            </a:r>
          </a:p>
        </p:txBody>
      </p:sp>
      <p:grpSp>
        <p:nvGrpSpPr>
          <p:cNvPr id="67" name="Grupo 66"/>
          <p:cNvGrpSpPr>
            <a:grpSpLocks/>
          </p:cNvGrpSpPr>
          <p:nvPr/>
        </p:nvGrpSpPr>
        <p:grpSpPr bwMode="auto">
          <a:xfrm>
            <a:off x="8359529" y="2469255"/>
            <a:ext cx="1690686" cy="574449"/>
            <a:chOff x="5507609" y="6311832"/>
            <a:chExt cx="1689597" cy="574187"/>
          </a:xfrm>
        </p:grpSpPr>
        <p:sp>
          <p:nvSpPr>
            <p:cNvPr id="68" name="Rectangle 31"/>
            <p:cNvSpPr>
              <a:spLocks noChangeArrowheads="1"/>
            </p:cNvSpPr>
            <p:nvPr/>
          </p:nvSpPr>
          <p:spPr bwMode="auto">
            <a:xfrm>
              <a:off x="6033057" y="6311832"/>
              <a:ext cx="1164149" cy="5741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69" name="Text Box 37"/>
            <p:cNvSpPr txBox="1">
              <a:spLocks noChangeArrowheads="1"/>
            </p:cNvSpPr>
            <p:nvPr/>
          </p:nvSpPr>
          <p:spPr bwMode="auto">
            <a:xfrm>
              <a:off x="5507609" y="6327480"/>
              <a:ext cx="1639433" cy="536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   B  F</a:t>
              </a:r>
              <a:r>
                <a:rPr lang="es-ES" sz="2400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B</a:t>
              </a:r>
              <a:endParaRPr lang="es-ES" sz="2400">
                <a:solidFill>
                  <a:schemeClr val="tx1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70" name="Line 38"/>
            <p:cNvSpPr>
              <a:spLocks noChangeShapeType="1"/>
            </p:cNvSpPr>
            <p:nvPr/>
          </p:nvSpPr>
          <p:spPr bwMode="auto">
            <a:xfrm>
              <a:off x="6147058" y="6422888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71" name="Line 39"/>
            <p:cNvSpPr>
              <a:spLocks noChangeShapeType="1"/>
            </p:cNvSpPr>
            <p:nvPr/>
          </p:nvSpPr>
          <p:spPr bwMode="auto">
            <a:xfrm>
              <a:off x="6737601" y="6435579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72" name="Line 58"/>
            <p:cNvSpPr>
              <a:spLocks noChangeShapeType="1"/>
            </p:cNvSpPr>
            <p:nvPr/>
          </p:nvSpPr>
          <p:spPr bwMode="auto">
            <a:xfrm>
              <a:off x="6927437" y="6595631"/>
              <a:ext cx="107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73" name="Grupo 72"/>
          <p:cNvGrpSpPr>
            <a:grpSpLocks/>
          </p:cNvGrpSpPr>
          <p:nvPr/>
        </p:nvGrpSpPr>
        <p:grpSpPr bwMode="auto">
          <a:xfrm>
            <a:off x="5665002" y="2485358"/>
            <a:ext cx="2651986" cy="536549"/>
            <a:chOff x="5624974" y="6468437"/>
            <a:chExt cx="2650750" cy="536523"/>
          </a:xfrm>
        </p:grpSpPr>
        <p:sp>
          <p:nvSpPr>
            <p:cNvPr id="74" name="Text Box 37"/>
            <p:cNvSpPr txBox="1">
              <a:spLocks noChangeArrowheads="1"/>
            </p:cNvSpPr>
            <p:nvPr/>
          </p:nvSpPr>
          <p:spPr bwMode="auto">
            <a:xfrm>
              <a:off x="5624974" y="6468437"/>
              <a:ext cx="2650750" cy="536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 F</a:t>
              </a:r>
              <a:r>
                <a:rPr lang="es-ES" sz="2400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B</a:t>
              </a: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  v  y  F</a:t>
              </a:r>
              <a:r>
                <a:rPr lang="es-ES" sz="2400" baseline="-25000">
                  <a:solidFill>
                    <a:schemeClr val="tx1"/>
                  </a:solidFill>
                  <a:sym typeface="Symbol" panose="05050102010706020507" pitchFamily="18" charset="2"/>
                </a:rPr>
                <a:t>B</a:t>
              </a:r>
              <a:r>
                <a:rPr lang="es-ES" sz="2400">
                  <a:solidFill>
                    <a:schemeClr val="tx1"/>
                  </a:solidFill>
                  <a:sym typeface="Symbol" panose="05050102010706020507" pitchFamily="18" charset="2"/>
                </a:rPr>
                <a:t>  B</a:t>
              </a:r>
            </a:p>
          </p:txBody>
        </p:sp>
        <p:sp>
          <p:nvSpPr>
            <p:cNvPr id="75" name="Line 38"/>
            <p:cNvSpPr>
              <a:spLocks noChangeShapeType="1"/>
            </p:cNvSpPr>
            <p:nvPr/>
          </p:nvSpPr>
          <p:spPr bwMode="auto">
            <a:xfrm>
              <a:off x="5911481" y="656649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76" name="Line 38"/>
            <p:cNvSpPr>
              <a:spLocks noChangeShapeType="1"/>
            </p:cNvSpPr>
            <p:nvPr/>
          </p:nvSpPr>
          <p:spPr bwMode="auto">
            <a:xfrm>
              <a:off x="6575945" y="6618306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7294039" y="6560394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7967644" y="6566490"/>
              <a:ext cx="215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  <p:sp>
          <p:nvSpPr>
            <p:cNvPr id="80" name="Line 58"/>
            <p:cNvSpPr>
              <a:spLocks noChangeShapeType="1"/>
            </p:cNvSpPr>
            <p:nvPr/>
          </p:nvSpPr>
          <p:spPr bwMode="auto">
            <a:xfrm>
              <a:off x="6114086" y="6732090"/>
              <a:ext cx="107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3" name="Forma libre 2"/>
          <p:cNvSpPr/>
          <p:nvPr/>
        </p:nvSpPr>
        <p:spPr bwMode="auto">
          <a:xfrm>
            <a:off x="7816718" y="3253706"/>
            <a:ext cx="1530390" cy="1342524"/>
          </a:xfrm>
          <a:custGeom>
            <a:avLst/>
            <a:gdLst>
              <a:gd name="connsiteX0" fmla="*/ 1801368 w 1801368"/>
              <a:gd name="connsiteY0" fmla="*/ 0 h 960869"/>
              <a:gd name="connsiteX1" fmla="*/ 1490472 w 1801368"/>
              <a:gd name="connsiteY1" fmla="*/ 621792 h 960869"/>
              <a:gd name="connsiteX2" fmla="*/ 996696 w 1801368"/>
              <a:gd name="connsiteY2" fmla="*/ 960120 h 960869"/>
              <a:gd name="connsiteX3" fmla="*/ 0 w 1801368"/>
              <a:gd name="connsiteY3" fmla="*/ 694944 h 96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1368" h="960869">
                <a:moveTo>
                  <a:pt x="1801368" y="0"/>
                </a:moveTo>
                <a:cubicBezTo>
                  <a:pt x="1712976" y="230886"/>
                  <a:pt x="1624584" y="461772"/>
                  <a:pt x="1490472" y="621792"/>
                </a:cubicBezTo>
                <a:cubicBezTo>
                  <a:pt x="1356360" y="781812"/>
                  <a:pt x="1245108" y="947928"/>
                  <a:pt x="996696" y="960120"/>
                </a:cubicBezTo>
                <a:cubicBezTo>
                  <a:pt x="748284" y="972312"/>
                  <a:pt x="374142" y="833628"/>
                  <a:pt x="0" y="694944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40170C82-E58D-48A6-8044-615AFB9E1894}"/>
              </a:ext>
            </a:extLst>
          </p:cNvPr>
          <p:cNvGrpSpPr/>
          <p:nvPr/>
        </p:nvGrpSpPr>
        <p:grpSpPr>
          <a:xfrm>
            <a:off x="5761063" y="1218941"/>
            <a:ext cx="1608138" cy="902423"/>
            <a:chOff x="5761063" y="3106241"/>
            <a:chExt cx="1608138" cy="902423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A5E5222E-4BE1-40C1-AFCB-FB85C3EDB5A2}"/>
                </a:ext>
              </a:extLst>
            </p:cNvPr>
            <p:cNvGrpSpPr/>
            <p:nvPr/>
          </p:nvGrpSpPr>
          <p:grpSpPr>
            <a:xfrm>
              <a:off x="5761063" y="3106241"/>
              <a:ext cx="1608138" cy="803275"/>
              <a:chOff x="6710381" y="6082957"/>
              <a:chExt cx="1608138" cy="803275"/>
            </a:xfrm>
          </p:grpSpPr>
          <p:sp>
            <p:nvSpPr>
              <p:cNvPr id="57" name="Rectangle 49">
                <a:extLst>
                  <a:ext uri="{FF2B5EF4-FFF2-40B4-BE49-F238E27FC236}">
                    <a16:creationId xmlns:a16="http://schemas.microsoft.com/office/drawing/2014/main" id="{00F3FCBB-358D-4E36-AEFE-3026A903E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0381" y="6082957"/>
                <a:ext cx="1608138" cy="8032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58" name="Object 55">
                    <a:extLst>
                      <a:ext uri="{FF2B5EF4-FFF2-40B4-BE49-F238E27FC236}">
                        <a16:creationId xmlns:a16="http://schemas.microsoft.com/office/drawing/2014/main" id="{D4C46984-5901-46EC-97B9-F3990DA551AE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10" imgW="457200" imgH="241300" progId="Equation.3">
                          <p:embed/>
                        </p:oleObj>
                      </mc:Choice>
                      <mc:Fallback>
                        <p:oleObj name="Ecuación" r:id="rId10" imgW="457200" imgH="241300" progId="Equation.3">
                          <p:embed/>
                          <p:pic>
                            <p:nvPicPr>
                              <p:cNvPr id="58" name="Object 55">
                                <a:extLst>
                                  <a:ext uri="{FF2B5EF4-FFF2-40B4-BE49-F238E27FC236}">
                                    <a16:creationId xmlns:a16="http://schemas.microsoft.com/office/drawing/2014/main" id="{D4C46984-5901-46EC-97B9-F3990DA551AE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58" name="Object 55">
                    <a:extLst>
                      <a:ext uri="{FF2B5EF4-FFF2-40B4-BE49-F238E27FC236}">
                        <a16:creationId xmlns:a16="http://schemas.microsoft.com/office/drawing/2014/main" id="{D4C46984-5901-46EC-97B9-F3990DA551AE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118041494"/>
                      </p:ext>
                    </p:extLst>
                  </p:nvPr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6262" name="Ecuación" r:id="rId16" imgW="457200" imgH="241300" progId="Equation.3">
                          <p:embed/>
                        </p:oleObj>
                      </mc:Choice>
                      <mc:Fallback>
                        <p:oleObj name="Ecuación" r:id="rId16" imgW="457200" imgH="241300" progId="Equation.3">
                          <p:embed/>
                          <p:pic>
                            <p:nvPicPr>
                              <p:cNvPr id="68" name="Object 55">
                                <a:extLst>
                                  <a:ext uri="{FF2B5EF4-FFF2-40B4-BE49-F238E27FC236}">
                                    <a16:creationId xmlns:a16="http://schemas.microsoft.com/office/drawing/2014/main" id="{5AD30C21-EE83-44DE-9133-B31C86560EB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55">
                  <a:extLst>
                    <a:ext uri="{FF2B5EF4-FFF2-40B4-BE49-F238E27FC236}">
                      <a16:creationId xmlns:a16="http://schemas.microsoft.com/office/drawing/2014/main" id="{A3A4982A-A11A-45DF-B39C-97336E4F3C40}"/>
                    </a:ext>
                  </a:extLst>
                </p:cNvPr>
                <p:cNvSpPr txBox="1"/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56" name="Object 55">
                  <a:extLst>
                    <a:ext uri="{FF2B5EF4-FFF2-40B4-BE49-F238E27FC236}">
                      <a16:creationId xmlns:a16="http://schemas.microsoft.com/office/drawing/2014/main" id="{A3A4982A-A11A-45DF-B39C-97336E4F3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114">
            <a:extLst>
              <a:ext uri="{FF2B5EF4-FFF2-40B4-BE49-F238E27FC236}">
                <a16:creationId xmlns:a16="http://schemas.microsoft.com/office/drawing/2014/main" id="{054040A2-4141-4D5E-8F18-5CF46E2B7B72}"/>
              </a:ext>
            </a:extLst>
          </p:cNvPr>
          <p:cNvGrpSpPr>
            <a:grpSpLocks/>
          </p:cNvGrpSpPr>
          <p:nvPr/>
        </p:nvGrpSpPr>
        <p:grpSpPr bwMode="auto">
          <a:xfrm>
            <a:off x="7567824" y="1223406"/>
            <a:ext cx="2676525" cy="804862"/>
            <a:chOff x="1294" y="758"/>
            <a:chExt cx="1686" cy="507"/>
          </a:xfrm>
        </p:grpSpPr>
        <p:sp>
          <p:nvSpPr>
            <p:cNvPr id="64" name="Rectangle 30">
              <a:extLst>
                <a:ext uri="{FF2B5EF4-FFF2-40B4-BE49-F238E27FC236}">
                  <a16:creationId xmlns:a16="http://schemas.microsoft.com/office/drawing/2014/main" id="{6252D8A9-54F9-4484-B56A-6AFF95953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758"/>
              <a:ext cx="1686" cy="50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9" name="Object 31">
              <a:extLst>
                <a:ext uri="{FF2B5EF4-FFF2-40B4-BE49-F238E27FC236}">
                  <a16:creationId xmlns:a16="http://schemas.microsoft.com/office/drawing/2014/main" id="{4397BB38-644D-46BE-902E-66231D0D43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6633241"/>
                </p:ext>
              </p:extLst>
            </p:nvPr>
          </p:nvGraphicFramePr>
          <p:xfrm>
            <a:off x="1361" y="776"/>
            <a:ext cx="1556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9" imgW="850531" imgH="266584" progId="Equation.3">
                    <p:embed/>
                  </p:oleObj>
                </mc:Choice>
                <mc:Fallback>
                  <p:oleObj name="Ecuación" r:id="rId19" imgW="850531" imgH="266584" progId="Equation.3">
                    <p:embed/>
                    <p:pic>
                      <p:nvPicPr>
                        <p:cNvPr id="74" name="Object 31">
                          <a:extLst>
                            <a:ext uri="{FF2B5EF4-FFF2-40B4-BE49-F238E27FC236}">
                              <a16:creationId xmlns:a16="http://schemas.microsoft.com/office/drawing/2014/main" id="{35354E32-4B32-42FC-A85E-B3CB14EBA9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776"/>
                          <a:ext cx="1556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 Box 32">
            <a:extLst>
              <a:ext uri="{FF2B5EF4-FFF2-40B4-BE49-F238E27FC236}">
                <a16:creationId xmlns:a16="http://schemas.microsoft.com/office/drawing/2014/main" id="{8BE12A97-86DC-D5F3-CE5A-6D3ECEC60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399" y="5430386"/>
            <a:ext cx="2203450" cy="670808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B</a:t>
            </a:r>
            <a:r>
              <a:rPr lang="es-ES" sz="2800" dirty="0"/>
              <a:t> = |q| v</a:t>
            </a:r>
            <a:r>
              <a:rPr lang="es-ES" sz="2800" baseline="-25000" dirty="0">
                <a:sym typeface="Symbol" panose="05050102010706020507" pitchFamily="18" charset="2"/>
              </a:rPr>
              <a:t></a:t>
            </a:r>
            <a:r>
              <a:rPr lang="es-ES" sz="2800" dirty="0"/>
              <a:t> B</a:t>
            </a:r>
          </a:p>
        </p:txBody>
      </p:sp>
      <p:sp>
        <p:nvSpPr>
          <p:cNvPr id="4" name="Text Box 43">
            <a:extLst>
              <a:ext uri="{FF2B5EF4-FFF2-40B4-BE49-F238E27FC236}">
                <a16:creationId xmlns:a16="http://schemas.microsoft.com/office/drawing/2014/main" id="{49ADFE66-BF84-B57D-7F2A-77F29194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663" y="5432712"/>
            <a:ext cx="3572933" cy="13320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6000" tIns="154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2400">
                <a:solidFill>
                  <a:schemeClr val="tx1"/>
                </a:solidFill>
              </a:rPr>
              <a:t>Para la misma F</a:t>
            </a:r>
            <a:r>
              <a:rPr lang="es-ES" sz="2400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, el B mínimo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se tiene cuando v = v</a:t>
            </a:r>
            <a:r>
              <a:rPr lang="es-ES" sz="2400" baseline="-2500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, cuando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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DABD9CD6-7E5C-8089-82E8-93D1CA29410E}"/>
              </a:ext>
            </a:extLst>
          </p:cNvPr>
          <p:cNvSpPr/>
          <p:nvPr/>
        </p:nvSpPr>
        <p:spPr bwMode="auto">
          <a:xfrm>
            <a:off x="5866246" y="5649265"/>
            <a:ext cx="497425" cy="320004"/>
          </a:xfrm>
          <a:prstGeom prst="rightArrow">
            <a:avLst>
              <a:gd name="adj1" fmla="val 50000"/>
              <a:gd name="adj2" fmla="val 98056"/>
            </a:avLst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99A4774-0CB1-A210-E046-3D93D7670576}"/>
              </a:ext>
            </a:extLst>
          </p:cNvPr>
          <p:cNvGrpSpPr/>
          <p:nvPr/>
        </p:nvGrpSpPr>
        <p:grpSpPr>
          <a:xfrm>
            <a:off x="1789763" y="5468659"/>
            <a:ext cx="1425726" cy="604728"/>
            <a:chOff x="1476617" y="383817"/>
            <a:chExt cx="1425726" cy="6047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C01692E-880D-437D-F46F-B12F208687E0}"/>
                </a:ext>
              </a:extLst>
            </p:cNvPr>
            <p:cNvSpPr/>
            <p:nvPr/>
          </p:nvSpPr>
          <p:spPr bwMode="auto">
            <a:xfrm>
              <a:off x="1476617" y="383817"/>
              <a:ext cx="1407871" cy="604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749F487-405D-EEAE-551E-807881F2C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617" y="424913"/>
              <a:ext cx="14257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chemeClr val="tx1"/>
                  </a:solidFill>
                </a:rPr>
                <a:t>¿</a:t>
              </a:r>
              <a:r>
                <a:rPr lang="es-ES" sz="2400" dirty="0" err="1">
                  <a:solidFill>
                    <a:schemeClr val="tx1"/>
                  </a:solidFill>
                </a:rPr>
                <a:t>B</a:t>
              </a:r>
              <a:r>
                <a:rPr lang="es-ES" sz="2400" baseline="-25000" dirty="0" err="1">
                  <a:solidFill>
                    <a:schemeClr val="tx1"/>
                  </a:solidFill>
                </a:rPr>
                <a:t>mínimo</a:t>
              </a:r>
              <a:r>
                <a:rPr lang="es-ES" sz="2400" dirty="0">
                  <a:solidFill>
                    <a:schemeClr val="tx1"/>
                  </a:solidFill>
                </a:rPr>
                <a:t>?</a:t>
              </a:r>
              <a:endParaRPr lang="es-ES" sz="2400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3403" name="Group 27"/>
          <p:cNvGrpSpPr>
            <a:grpSpLocks/>
          </p:cNvGrpSpPr>
          <p:nvPr/>
        </p:nvGrpSpPr>
        <p:grpSpPr bwMode="auto">
          <a:xfrm>
            <a:off x="3513144" y="1690027"/>
            <a:ext cx="658813" cy="974728"/>
            <a:chOff x="2323" y="2118"/>
            <a:chExt cx="415" cy="614"/>
          </a:xfrm>
        </p:grpSpPr>
        <p:sp>
          <p:nvSpPr>
            <p:cNvPr id="40013" name="Line 28"/>
            <p:cNvSpPr>
              <a:spLocks noChangeShapeType="1"/>
            </p:cNvSpPr>
            <p:nvPr/>
          </p:nvSpPr>
          <p:spPr bwMode="auto">
            <a:xfrm flipV="1">
              <a:off x="2323" y="2259"/>
              <a:ext cx="0" cy="473"/>
            </a:xfrm>
            <a:prstGeom prst="line">
              <a:avLst/>
            </a:prstGeom>
            <a:noFill/>
            <a:ln w="63500">
              <a:solidFill>
                <a:srgbClr val="8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001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9544039"/>
                </p:ext>
              </p:extLst>
            </p:nvPr>
          </p:nvGraphicFramePr>
          <p:xfrm>
            <a:off x="2413" y="2118"/>
            <a:ext cx="32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1" imgW="190335" imgH="266469" progId="Equation.3">
                    <p:embed/>
                  </p:oleObj>
                </mc:Choice>
                <mc:Fallback>
                  <p:oleObj name="Ecuación" r:id="rId21" imgW="190335" imgH="266469" progId="Equation.3">
                    <p:embed/>
                    <p:pic>
                      <p:nvPicPr>
                        <p:cNvPr id="4001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2118"/>
                          <a:ext cx="32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4541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13388" grpId="0" animBg="1"/>
      <p:bldP spid="65" grpId="0" animBg="1"/>
      <p:bldP spid="66" grpId="0"/>
      <p:bldP spid="3" grpId="0" animBg="1"/>
      <p:bldP spid="2" grpId="0" animBg="1"/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1395355" y="1718496"/>
            <a:ext cx="533853" cy="587629"/>
            <a:chOff x="1311275" y="1763840"/>
            <a:chExt cx="533853" cy="587629"/>
          </a:xfrm>
        </p:grpSpPr>
        <p:sp>
          <p:nvSpPr>
            <p:cNvPr id="4" name="Rectángulo 3"/>
            <p:cNvSpPr/>
            <p:nvPr/>
          </p:nvSpPr>
          <p:spPr bwMode="auto">
            <a:xfrm rot="2485886">
              <a:off x="1315538" y="1763840"/>
              <a:ext cx="529590" cy="587629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615446" name="Group 22"/>
            <p:cNvGrpSpPr>
              <a:grpSpLocks/>
            </p:cNvGrpSpPr>
            <p:nvPr/>
          </p:nvGrpSpPr>
          <p:grpSpPr bwMode="auto">
            <a:xfrm rot="1079436" flipV="1">
              <a:off x="1311275" y="1863090"/>
              <a:ext cx="407988" cy="422275"/>
              <a:chOff x="1240" y="3526"/>
              <a:chExt cx="257" cy="266"/>
            </a:xfrm>
          </p:grpSpPr>
          <p:sp>
            <p:nvSpPr>
              <p:cNvPr id="42110" name="Line 23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1" name="Line 24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2" name="Oval 25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  <p:grpSp>
        <p:nvGrpSpPr>
          <p:cNvPr id="615538" name="Group 114"/>
          <p:cNvGrpSpPr>
            <a:grpSpLocks/>
          </p:cNvGrpSpPr>
          <p:nvPr/>
        </p:nvGrpSpPr>
        <p:grpSpPr bwMode="auto">
          <a:xfrm>
            <a:off x="1797939" y="5680646"/>
            <a:ext cx="3270250" cy="979487"/>
            <a:chOff x="1231" y="758"/>
            <a:chExt cx="2060" cy="617"/>
          </a:xfrm>
        </p:grpSpPr>
        <p:sp>
          <p:nvSpPr>
            <p:cNvPr id="42108" name="Rectangle 30"/>
            <p:cNvSpPr>
              <a:spLocks noChangeArrowheads="1"/>
            </p:cNvSpPr>
            <p:nvPr/>
          </p:nvSpPr>
          <p:spPr bwMode="auto">
            <a:xfrm>
              <a:off x="1231" y="758"/>
              <a:ext cx="2060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42109" name="Object 31"/>
            <p:cNvGraphicFramePr>
              <a:graphicFrameLocks noChangeAspect="1"/>
            </p:cNvGraphicFramePr>
            <p:nvPr/>
          </p:nvGraphicFramePr>
          <p:xfrm>
            <a:off x="1326" y="762"/>
            <a:ext cx="1879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50531" imgH="266584" progId="Equation.3">
                    <p:embed/>
                  </p:oleObj>
                </mc:Choice>
                <mc:Fallback>
                  <p:oleObj name="Ecuación" r:id="rId3" imgW="850531" imgH="266584" progId="Equation.3">
                    <p:embed/>
                    <p:pic>
                      <p:nvPicPr>
                        <p:cNvPr id="42109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762"/>
                          <a:ext cx="1879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465" name="Group 41"/>
          <p:cNvGrpSpPr>
            <a:grpSpLocks/>
          </p:cNvGrpSpPr>
          <p:nvPr/>
        </p:nvGrpSpPr>
        <p:grpSpPr bwMode="auto">
          <a:xfrm>
            <a:off x="5729288" y="2154275"/>
            <a:ext cx="2214562" cy="2182812"/>
            <a:chOff x="3572" y="1967"/>
            <a:chExt cx="1395" cy="1375"/>
          </a:xfrm>
        </p:grpSpPr>
        <p:grpSp>
          <p:nvGrpSpPr>
            <p:cNvPr id="42075" name="Group 42"/>
            <p:cNvGrpSpPr>
              <a:grpSpLocks/>
            </p:cNvGrpSpPr>
            <p:nvPr/>
          </p:nvGrpSpPr>
          <p:grpSpPr bwMode="auto">
            <a:xfrm>
              <a:off x="3584" y="2338"/>
              <a:ext cx="1383" cy="296"/>
              <a:chOff x="3634" y="2304"/>
              <a:chExt cx="1383" cy="296"/>
            </a:xfrm>
          </p:grpSpPr>
          <p:sp>
            <p:nvSpPr>
              <p:cNvPr id="42098" name="Text Box 43"/>
              <p:cNvSpPr txBox="1">
                <a:spLocks noChangeArrowheads="1"/>
              </p:cNvSpPr>
              <p:nvPr/>
            </p:nvSpPr>
            <p:spPr bwMode="auto">
              <a:xfrm>
                <a:off x="3634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9" name="Text Box 44"/>
              <p:cNvSpPr txBox="1">
                <a:spLocks noChangeArrowheads="1"/>
              </p:cNvSpPr>
              <p:nvPr/>
            </p:nvSpPr>
            <p:spPr bwMode="auto">
              <a:xfrm>
                <a:off x="3873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100" name="Text Box 45"/>
              <p:cNvSpPr txBox="1">
                <a:spLocks noChangeArrowheads="1"/>
              </p:cNvSpPr>
              <p:nvPr/>
            </p:nvSpPr>
            <p:spPr bwMode="auto">
              <a:xfrm>
                <a:off x="4112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101" name="Text Box 46"/>
              <p:cNvSpPr txBox="1">
                <a:spLocks noChangeArrowheads="1"/>
              </p:cNvSpPr>
              <p:nvPr/>
            </p:nvSpPr>
            <p:spPr bwMode="auto">
              <a:xfrm>
                <a:off x="4351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102" name="Text Box 47"/>
              <p:cNvSpPr txBox="1">
                <a:spLocks noChangeArrowheads="1"/>
              </p:cNvSpPr>
              <p:nvPr/>
            </p:nvSpPr>
            <p:spPr bwMode="auto">
              <a:xfrm>
                <a:off x="4590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103" name="Text Box 48"/>
              <p:cNvSpPr txBox="1">
                <a:spLocks noChangeArrowheads="1"/>
              </p:cNvSpPr>
              <p:nvPr/>
            </p:nvSpPr>
            <p:spPr bwMode="auto">
              <a:xfrm>
                <a:off x="4829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grpSp>
          <p:nvGrpSpPr>
            <p:cNvPr id="42076" name="Group 49"/>
            <p:cNvGrpSpPr>
              <a:grpSpLocks/>
            </p:cNvGrpSpPr>
            <p:nvPr/>
          </p:nvGrpSpPr>
          <p:grpSpPr bwMode="auto">
            <a:xfrm>
              <a:off x="3580" y="2574"/>
              <a:ext cx="1383" cy="296"/>
              <a:chOff x="3634" y="2304"/>
              <a:chExt cx="1383" cy="296"/>
            </a:xfrm>
          </p:grpSpPr>
          <p:sp>
            <p:nvSpPr>
              <p:cNvPr id="42092" name="Text Box 50"/>
              <p:cNvSpPr txBox="1">
                <a:spLocks noChangeArrowheads="1"/>
              </p:cNvSpPr>
              <p:nvPr/>
            </p:nvSpPr>
            <p:spPr bwMode="auto">
              <a:xfrm>
                <a:off x="3634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3" name="Text Box 51"/>
              <p:cNvSpPr txBox="1">
                <a:spLocks noChangeArrowheads="1"/>
              </p:cNvSpPr>
              <p:nvPr/>
            </p:nvSpPr>
            <p:spPr bwMode="auto">
              <a:xfrm>
                <a:off x="3873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4" name="Text Box 52"/>
              <p:cNvSpPr txBox="1">
                <a:spLocks noChangeArrowheads="1"/>
              </p:cNvSpPr>
              <p:nvPr/>
            </p:nvSpPr>
            <p:spPr bwMode="auto">
              <a:xfrm>
                <a:off x="4112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5" name="Text Box 53"/>
              <p:cNvSpPr txBox="1">
                <a:spLocks noChangeArrowheads="1"/>
              </p:cNvSpPr>
              <p:nvPr/>
            </p:nvSpPr>
            <p:spPr bwMode="auto">
              <a:xfrm>
                <a:off x="4351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6" name="Text Box 54"/>
              <p:cNvSpPr txBox="1">
                <a:spLocks noChangeArrowheads="1"/>
              </p:cNvSpPr>
              <p:nvPr/>
            </p:nvSpPr>
            <p:spPr bwMode="auto">
              <a:xfrm>
                <a:off x="4590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7" name="Text Box 55"/>
              <p:cNvSpPr txBox="1">
                <a:spLocks noChangeArrowheads="1"/>
              </p:cNvSpPr>
              <p:nvPr/>
            </p:nvSpPr>
            <p:spPr bwMode="auto">
              <a:xfrm>
                <a:off x="4829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grpSp>
          <p:nvGrpSpPr>
            <p:cNvPr id="42077" name="Group 56"/>
            <p:cNvGrpSpPr>
              <a:grpSpLocks/>
            </p:cNvGrpSpPr>
            <p:nvPr/>
          </p:nvGrpSpPr>
          <p:grpSpPr bwMode="auto">
            <a:xfrm>
              <a:off x="3576" y="2810"/>
              <a:ext cx="1383" cy="296"/>
              <a:chOff x="3634" y="2304"/>
              <a:chExt cx="1383" cy="296"/>
            </a:xfrm>
          </p:grpSpPr>
          <p:sp>
            <p:nvSpPr>
              <p:cNvPr id="42086" name="Text Box 57"/>
              <p:cNvSpPr txBox="1">
                <a:spLocks noChangeArrowheads="1"/>
              </p:cNvSpPr>
              <p:nvPr/>
            </p:nvSpPr>
            <p:spPr bwMode="auto">
              <a:xfrm>
                <a:off x="3634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7" name="Text Box 58"/>
              <p:cNvSpPr txBox="1">
                <a:spLocks noChangeArrowheads="1"/>
              </p:cNvSpPr>
              <p:nvPr/>
            </p:nvSpPr>
            <p:spPr bwMode="auto">
              <a:xfrm>
                <a:off x="3873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8" name="Text Box 59"/>
              <p:cNvSpPr txBox="1">
                <a:spLocks noChangeArrowheads="1"/>
              </p:cNvSpPr>
              <p:nvPr/>
            </p:nvSpPr>
            <p:spPr bwMode="auto">
              <a:xfrm>
                <a:off x="4112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9" name="Text Box 60"/>
              <p:cNvSpPr txBox="1">
                <a:spLocks noChangeArrowheads="1"/>
              </p:cNvSpPr>
              <p:nvPr/>
            </p:nvSpPr>
            <p:spPr bwMode="auto">
              <a:xfrm>
                <a:off x="4351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0" name="Text Box 61"/>
              <p:cNvSpPr txBox="1">
                <a:spLocks noChangeArrowheads="1"/>
              </p:cNvSpPr>
              <p:nvPr/>
            </p:nvSpPr>
            <p:spPr bwMode="auto">
              <a:xfrm>
                <a:off x="4590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91" name="Text Box 62"/>
              <p:cNvSpPr txBox="1">
                <a:spLocks noChangeArrowheads="1"/>
              </p:cNvSpPr>
              <p:nvPr/>
            </p:nvSpPr>
            <p:spPr bwMode="auto">
              <a:xfrm>
                <a:off x="4829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grpSp>
          <p:nvGrpSpPr>
            <p:cNvPr id="42078" name="Group 63"/>
            <p:cNvGrpSpPr>
              <a:grpSpLocks/>
            </p:cNvGrpSpPr>
            <p:nvPr/>
          </p:nvGrpSpPr>
          <p:grpSpPr bwMode="auto">
            <a:xfrm>
              <a:off x="3572" y="3046"/>
              <a:ext cx="1383" cy="296"/>
              <a:chOff x="3634" y="2304"/>
              <a:chExt cx="1383" cy="296"/>
            </a:xfrm>
          </p:grpSpPr>
          <p:sp>
            <p:nvSpPr>
              <p:cNvPr id="42080" name="Text Box 64"/>
              <p:cNvSpPr txBox="1">
                <a:spLocks noChangeArrowheads="1"/>
              </p:cNvSpPr>
              <p:nvPr/>
            </p:nvSpPr>
            <p:spPr bwMode="auto">
              <a:xfrm>
                <a:off x="3634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1" name="Text Box 65"/>
              <p:cNvSpPr txBox="1">
                <a:spLocks noChangeArrowheads="1"/>
              </p:cNvSpPr>
              <p:nvPr/>
            </p:nvSpPr>
            <p:spPr bwMode="auto">
              <a:xfrm>
                <a:off x="3873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2" name="Text Box 66"/>
              <p:cNvSpPr txBox="1">
                <a:spLocks noChangeArrowheads="1"/>
              </p:cNvSpPr>
              <p:nvPr/>
            </p:nvSpPr>
            <p:spPr bwMode="auto">
              <a:xfrm>
                <a:off x="4112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3" name="Text Box 67"/>
              <p:cNvSpPr txBox="1">
                <a:spLocks noChangeArrowheads="1"/>
              </p:cNvSpPr>
              <p:nvPr/>
            </p:nvSpPr>
            <p:spPr bwMode="auto">
              <a:xfrm>
                <a:off x="4351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4" name="Text Box 68"/>
              <p:cNvSpPr txBox="1">
                <a:spLocks noChangeArrowheads="1"/>
              </p:cNvSpPr>
              <p:nvPr/>
            </p:nvSpPr>
            <p:spPr bwMode="auto">
              <a:xfrm>
                <a:off x="4590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42085" name="Text Box 69"/>
              <p:cNvSpPr txBox="1">
                <a:spLocks noChangeArrowheads="1"/>
              </p:cNvSpPr>
              <p:nvPr/>
            </p:nvSpPr>
            <p:spPr bwMode="auto">
              <a:xfrm>
                <a:off x="4829" y="2304"/>
                <a:ext cx="188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sp>
          <p:nvSpPr>
            <p:cNvPr id="42079" name="Text Box 70"/>
            <p:cNvSpPr txBox="1">
              <a:spLocks noChangeArrowheads="1"/>
            </p:cNvSpPr>
            <p:nvPr/>
          </p:nvSpPr>
          <p:spPr bwMode="auto">
            <a:xfrm>
              <a:off x="3853" y="1967"/>
              <a:ext cx="858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chemeClr val="tx1"/>
                  </a:solidFill>
                </a:rPr>
                <a:t>Saliente</a:t>
              </a:r>
            </a:p>
          </p:txBody>
        </p:sp>
      </p:grpSp>
      <p:grpSp>
        <p:nvGrpSpPr>
          <p:cNvPr id="615495" name="Group 71"/>
          <p:cNvGrpSpPr>
            <a:grpSpLocks/>
          </p:cNvGrpSpPr>
          <p:nvPr/>
        </p:nvGrpSpPr>
        <p:grpSpPr bwMode="auto">
          <a:xfrm>
            <a:off x="8192276" y="2154645"/>
            <a:ext cx="2219325" cy="2168525"/>
            <a:chOff x="5098" y="2004"/>
            <a:chExt cx="1398" cy="1366"/>
          </a:xfrm>
        </p:grpSpPr>
        <p:grpSp>
          <p:nvGrpSpPr>
            <p:cNvPr id="42046" name="Group 72"/>
            <p:cNvGrpSpPr>
              <a:grpSpLocks/>
            </p:cNvGrpSpPr>
            <p:nvPr/>
          </p:nvGrpSpPr>
          <p:grpSpPr bwMode="auto">
            <a:xfrm>
              <a:off x="5098" y="2336"/>
              <a:ext cx="1398" cy="296"/>
              <a:chOff x="3634" y="2306"/>
              <a:chExt cx="1398" cy="296"/>
            </a:xfrm>
          </p:grpSpPr>
          <p:sp>
            <p:nvSpPr>
              <p:cNvPr id="42069" name="Text Box 73"/>
              <p:cNvSpPr txBox="1">
                <a:spLocks noChangeArrowheads="1"/>
              </p:cNvSpPr>
              <p:nvPr/>
            </p:nvSpPr>
            <p:spPr bwMode="auto">
              <a:xfrm>
                <a:off x="3634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70" name="Text Box 74"/>
              <p:cNvSpPr txBox="1">
                <a:spLocks noChangeArrowheads="1"/>
              </p:cNvSpPr>
              <p:nvPr/>
            </p:nvSpPr>
            <p:spPr bwMode="auto">
              <a:xfrm>
                <a:off x="3873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71" name="Text Box 75"/>
              <p:cNvSpPr txBox="1">
                <a:spLocks noChangeArrowheads="1"/>
              </p:cNvSpPr>
              <p:nvPr/>
            </p:nvSpPr>
            <p:spPr bwMode="auto">
              <a:xfrm>
                <a:off x="4112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72" name="Text Box 76"/>
              <p:cNvSpPr txBox="1">
                <a:spLocks noChangeArrowheads="1"/>
              </p:cNvSpPr>
              <p:nvPr/>
            </p:nvSpPr>
            <p:spPr bwMode="auto">
              <a:xfrm>
                <a:off x="4351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73" name="Text Box 77"/>
              <p:cNvSpPr txBox="1">
                <a:spLocks noChangeArrowheads="1"/>
              </p:cNvSpPr>
              <p:nvPr/>
            </p:nvSpPr>
            <p:spPr bwMode="auto">
              <a:xfrm>
                <a:off x="4590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74" name="Text Box 78"/>
              <p:cNvSpPr txBox="1">
                <a:spLocks noChangeArrowheads="1"/>
              </p:cNvSpPr>
              <p:nvPr/>
            </p:nvSpPr>
            <p:spPr bwMode="auto">
              <a:xfrm>
                <a:off x="4829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42047" name="Group 79"/>
            <p:cNvGrpSpPr>
              <a:grpSpLocks/>
            </p:cNvGrpSpPr>
            <p:nvPr/>
          </p:nvGrpSpPr>
          <p:grpSpPr bwMode="auto">
            <a:xfrm>
              <a:off x="5098" y="2582"/>
              <a:ext cx="1398" cy="296"/>
              <a:chOff x="3650" y="2552"/>
              <a:chExt cx="1398" cy="296"/>
            </a:xfrm>
          </p:grpSpPr>
          <p:sp>
            <p:nvSpPr>
              <p:cNvPr id="42063" name="Text Box 80"/>
              <p:cNvSpPr txBox="1">
                <a:spLocks noChangeArrowheads="1"/>
              </p:cNvSpPr>
              <p:nvPr/>
            </p:nvSpPr>
            <p:spPr bwMode="auto">
              <a:xfrm>
                <a:off x="3650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4" name="Text Box 81"/>
              <p:cNvSpPr txBox="1">
                <a:spLocks noChangeArrowheads="1"/>
              </p:cNvSpPr>
              <p:nvPr/>
            </p:nvSpPr>
            <p:spPr bwMode="auto">
              <a:xfrm>
                <a:off x="3889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5" name="Text Box 82"/>
              <p:cNvSpPr txBox="1">
                <a:spLocks noChangeArrowheads="1"/>
              </p:cNvSpPr>
              <p:nvPr/>
            </p:nvSpPr>
            <p:spPr bwMode="auto">
              <a:xfrm>
                <a:off x="4128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6" name="Text Box 83"/>
              <p:cNvSpPr txBox="1">
                <a:spLocks noChangeArrowheads="1"/>
              </p:cNvSpPr>
              <p:nvPr/>
            </p:nvSpPr>
            <p:spPr bwMode="auto">
              <a:xfrm>
                <a:off x="4367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7" name="Text Box 84"/>
              <p:cNvSpPr txBox="1">
                <a:spLocks noChangeArrowheads="1"/>
              </p:cNvSpPr>
              <p:nvPr/>
            </p:nvSpPr>
            <p:spPr bwMode="auto">
              <a:xfrm>
                <a:off x="4606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8" name="Text Box 85"/>
              <p:cNvSpPr txBox="1">
                <a:spLocks noChangeArrowheads="1"/>
              </p:cNvSpPr>
              <p:nvPr/>
            </p:nvSpPr>
            <p:spPr bwMode="auto">
              <a:xfrm>
                <a:off x="4845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42048" name="Group 86"/>
            <p:cNvGrpSpPr>
              <a:grpSpLocks/>
            </p:cNvGrpSpPr>
            <p:nvPr/>
          </p:nvGrpSpPr>
          <p:grpSpPr bwMode="auto">
            <a:xfrm>
              <a:off x="5098" y="2828"/>
              <a:ext cx="1398" cy="296"/>
              <a:chOff x="3666" y="2798"/>
              <a:chExt cx="1398" cy="296"/>
            </a:xfrm>
          </p:grpSpPr>
          <p:sp>
            <p:nvSpPr>
              <p:cNvPr id="42057" name="Text Box 87"/>
              <p:cNvSpPr txBox="1">
                <a:spLocks noChangeArrowheads="1"/>
              </p:cNvSpPr>
              <p:nvPr/>
            </p:nvSpPr>
            <p:spPr bwMode="auto">
              <a:xfrm>
                <a:off x="3666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8" name="Text Box 88"/>
              <p:cNvSpPr txBox="1">
                <a:spLocks noChangeArrowheads="1"/>
              </p:cNvSpPr>
              <p:nvPr/>
            </p:nvSpPr>
            <p:spPr bwMode="auto">
              <a:xfrm>
                <a:off x="3905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9" name="Text Box 89"/>
              <p:cNvSpPr txBox="1">
                <a:spLocks noChangeArrowheads="1"/>
              </p:cNvSpPr>
              <p:nvPr/>
            </p:nvSpPr>
            <p:spPr bwMode="auto">
              <a:xfrm>
                <a:off x="4144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0" name="Text Box 90"/>
              <p:cNvSpPr txBox="1">
                <a:spLocks noChangeArrowheads="1"/>
              </p:cNvSpPr>
              <p:nvPr/>
            </p:nvSpPr>
            <p:spPr bwMode="auto">
              <a:xfrm>
                <a:off x="4383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1" name="Text Box 91"/>
              <p:cNvSpPr txBox="1">
                <a:spLocks noChangeArrowheads="1"/>
              </p:cNvSpPr>
              <p:nvPr/>
            </p:nvSpPr>
            <p:spPr bwMode="auto">
              <a:xfrm>
                <a:off x="4622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62" name="Text Box 92"/>
              <p:cNvSpPr txBox="1">
                <a:spLocks noChangeArrowheads="1"/>
              </p:cNvSpPr>
              <p:nvPr/>
            </p:nvSpPr>
            <p:spPr bwMode="auto">
              <a:xfrm>
                <a:off x="4861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42049" name="Group 93"/>
            <p:cNvGrpSpPr>
              <a:grpSpLocks/>
            </p:cNvGrpSpPr>
            <p:nvPr/>
          </p:nvGrpSpPr>
          <p:grpSpPr bwMode="auto">
            <a:xfrm>
              <a:off x="5098" y="3074"/>
              <a:ext cx="1398" cy="296"/>
              <a:chOff x="3682" y="3044"/>
              <a:chExt cx="1398" cy="296"/>
            </a:xfrm>
          </p:grpSpPr>
          <p:sp>
            <p:nvSpPr>
              <p:cNvPr id="42051" name="Text Box 94"/>
              <p:cNvSpPr txBox="1">
                <a:spLocks noChangeArrowheads="1"/>
              </p:cNvSpPr>
              <p:nvPr/>
            </p:nvSpPr>
            <p:spPr bwMode="auto">
              <a:xfrm>
                <a:off x="3682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2" name="Text Box 95"/>
              <p:cNvSpPr txBox="1">
                <a:spLocks noChangeArrowheads="1"/>
              </p:cNvSpPr>
              <p:nvPr/>
            </p:nvSpPr>
            <p:spPr bwMode="auto">
              <a:xfrm>
                <a:off x="3921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3" name="Text Box 96"/>
              <p:cNvSpPr txBox="1">
                <a:spLocks noChangeArrowheads="1"/>
              </p:cNvSpPr>
              <p:nvPr/>
            </p:nvSpPr>
            <p:spPr bwMode="auto">
              <a:xfrm>
                <a:off x="4160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4" name="Text Box 97"/>
              <p:cNvSpPr txBox="1">
                <a:spLocks noChangeArrowheads="1"/>
              </p:cNvSpPr>
              <p:nvPr/>
            </p:nvSpPr>
            <p:spPr bwMode="auto">
              <a:xfrm>
                <a:off x="4399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5" name="Text Box 98"/>
              <p:cNvSpPr txBox="1">
                <a:spLocks noChangeArrowheads="1"/>
              </p:cNvSpPr>
              <p:nvPr/>
            </p:nvSpPr>
            <p:spPr bwMode="auto">
              <a:xfrm>
                <a:off x="4638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42056" name="Text Box 99"/>
              <p:cNvSpPr txBox="1">
                <a:spLocks noChangeArrowheads="1"/>
              </p:cNvSpPr>
              <p:nvPr/>
            </p:nvSpPr>
            <p:spPr bwMode="auto">
              <a:xfrm>
                <a:off x="4877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sp>
          <p:nvSpPr>
            <p:cNvPr id="42050" name="Text Box 100"/>
            <p:cNvSpPr txBox="1">
              <a:spLocks noChangeArrowheads="1"/>
            </p:cNvSpPr>
            <p:nvPr/>
          </p:nvSpPr>
          <p:spPr bwMode="auto">
            <a:xfrm>
              <a:off x="5374" y="2004"/>
              <a:ext cx="901" cy="3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chemeClr val="tx1"/>
                  </a:solidFill>
                </a:rPr>
                <a:t>Entrante</a:t>
              </a:r>
            </a:p>
          </p:txBody>
        </p:sp>
      </p:grpSp>
      <p:grpSp>
        <p:nvGrpSpPr>
          <p:cNvPr id="615525" name="Group 101"/>
          <p:cNvGrpSpPr>
            <a:grpSpLocks/>
          </p:cNvGrpSpPr>
          <p:nvPr/>
        </p:nvGrpSpPr>
        <p:grpSpPr bwMode="auto">
          <a:xfrm>
            <a:off x="6043613" y="2218600"/>
            <a:ext cx="1568450" cy="446088"/>
            <a:chOff x="3858" y="2085"/>
            <a:chExt cx="988" cy="281"/>
          </a:xfrm>
        </p:grpSpPr>
        <p:sp>
          <p:nvSpPr>
            <p:cNvPr id="42044" name="Line 102"/>
            <p:cNvSpPr>
              <a:spLocks noChangeShapeType="1"/>
            </p:cNvSpPr>
            <p:nvPr/>
          </p:nvSpPr>
          <p:spPr bwMode="auto">
            <a:xfrm>
              <a:off x="3872" y="2099"/>
              <a:ext cx="974" cy="26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2045" name="Line 103"/>
            <p:cNvSpPr>
              <a:spLocks noChangeShapeType="1"/>
            </p:cNvSpPr>
            <p:nvPr/>
          </p:nvSpPr>
          <p:spPr bwMode="auto">
            <a:xfrm flipH="1">
              <a:off x="3858" y="2085"/>
              <a:ext cx="974" cy="26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9" name="CuadroTexto 8"/>
          <p:cNvSpPr txBox="1">
            <a:spLocks noChangeArrowheads="1"/>
          </p:cNvSpPr>
          <p:nvPr/>
        </p:nvSpPr>
        <p:spPr bwMode="auto">
          <a:xfrm>
            <a:off x="6044184" y="4419210"/>
            <a:ext cx="40934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 u="sng" dirty="0">
                <a:solidFill>
                  <a:srgbClr val="FF0000"/>
                </a:solidFill>
              </a:rPr>
              <a:t>campo uniforme</a:t>
            </a:r>
            <a:r>
              <a:rPr lang="es-ES" sz="2400" dirty="0">
                <a:solidFill>
                  <a:srgbClr val="FF0000"/>
                </a:solidFill>
              </a:rPr>
              <a:t>: líneas paralelas y equiespaciadas)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5724027" y="1414829"/>
            <a:ext cx="4638675" cy="536549"/>
            <a:chOff x="5946774" y="2635395"/>
            <a:chExt cx="4638675" cy="536549"/>
          </a:xfrm>
        </p:grpSpPr>
        <p:grpSp>
          <p:nvGrpSpPr>
            <p:cNvPr id="8" name="Grupo 7"/>
            <p:cNvGrpSpPr>
              <a:grpSpLocks/>
            </p:cNvGrpSpPr>
            <p:nvPr/>
          </p:nvGrpSpPr>
          <p:grpSpPr bwMode="auto">
            <a:xfrm>
              <a:off x="5946774" y="2635395"/>
              <a:ext cx="4638675" cy="536549"/>
              <a:chOff x="5949950" y="1538734"/>
              <a:chExt cx="4638675" cy="536206"/>
            </a:xfrm>
          </p:grpSpPr>
          <p:grpSp>
            <p:nvGrpSpPr>
              <p:cNvPr id="42027" name="Grupo 5"/>
              <p:cNvGrpSpPr>
                <a:grpSpLocks/>
              </p:cNvGrpSpPr>
              <p:nvPr/>
            </p:nvGrpSpPr>
            <p:grpSpPr bwMode="auto">
              <a:xfrm>
                <a:off x="5949950" y="1538734"/>
                <a:ext cx="4638675" cy="536206"/>
                <a:chOff x="5949950" y="1282702"/>
                <a:chExt cx="4638675" cy="536206"/>
              </a:xfrm>
            </p:grpSpPr>
            <p:grpSp>
              <p:nvGrpSpPr>
                <p:cNvPr id="42029" name="Grupo 1"/>
                <p:cNvGrpSpPr>
                  <a:grpSpLocks/>
                </p:cNvGrpSpPr>
                <p:nvPr/>
              </p:nvGrpSpPr>
              <p:grpSpPr bwMode="auto">
                <a:xfrm>
                  <a:off x="5949950" y="1282702"/>
                  <a:ext cx="4638675" cy="536206"/>
                  <a:chOff x="5949951" y="1329502"/>
                  <a:chExt cx="4638802" cy="535518"/>
                </a:xfrm>
              </p:grpSpPr>
              <p:sp>
                <p:nvSpPr>
                  <p:cNvPr id="42031" name="Text Box 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949951" y="1329502"/>
                    <a:ext cx="4638802" cy="535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es-ES" sz="2400"/>
                      <a:t>Siendo </a:t>
                    </a:r>
                    <a:r>
                      <a:rPr lang="es-ES" sz="2400">
                        <a:solidFill>
                          <a:schemeClr val="tx1"/>
                        </a:solidFill>
                      </a:rPr>
                      <a:t>B </a:t>
                    </a:r>
                    <a:r>
                      <a:rPr lang="es-ES" sz="240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a:t> v y F</a:t>
                    </a:r>
                    <a:r>
                      <a:rPr lang="es-ES" sz="2400" baseline="-2500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a:t>B</a:t>
                    </a:r>
                    <a:r>
                      <a:rPr lang="es-ES" sz="240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a:t>, B puede ser:</a:t>
                    </a:r>
                  </a:p>
                </p:txBody>
              </p:sp>
              <p:sp>
                <p:nvSpPr>
                  <p:cNvPr id="42032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7064516" y="1437281"/>
                    <a:ext cx="21590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 sz="2400"/>
                  </a:p>
                </p:txBody>
              </p:sp>
              <p:sp>
                <p:nvSpPr>
                  <p:cNvPr id="4203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610794" y="1490889"/>
                    <a:ext cx="21590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107763" dir="2700000" algn="ctr" rotWithShape="0">
                            <a:srgbClr val="808080"/>
                          </a:outerShdw>
                        </a:effectLst>
                      </a14:hiddenEffects>
                    </a:ext>
                    <a:ext uri="{53640926-AAD7-44D8-BBD7-CCE9431645EC}">
                      <a14:shadowObscured xmlns:a14="http://schemas.microsoft.com/office/drawing/2010/main" val="1"/>
                    </a:ext>
                  </a:extLst>
                </p:spPr>
                <p:txBody>
                  <a:bodyPr lIns="90000" tIns="82800" rIns="90000" bIns="82800">
                    <a:spAutoFit/>
                  </a:bodyPr>
                  <a:lstStyle/>
                  <a:p>
                    <a:endParaRPr lang="en-GB" sz="2400"/>
                  </a:p>
                </p:txBody>
              </p:sp>
            </p:grpSp>
            <p:sp>
              <p:nvSpPr>
                <p:cNvPr id="42030" name="Line 28"/>
                <p:cNvSpPr>
                  <a:spLocks noChangeShapeType="1"/>
                </p:cNvSpPr>
                <p:nvPr/>
              </p:nvSpPr>
              <p:spPr bwMode="auto">
                <a:xfrm>
                  <a:off x="8105602" y="1396134"/>
                  <a:ext cx="21589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a14:hiddenEffects>
                  </a:ext>
                  <a:ext uri="{53640926-AAD7-44D8-BBD7-CCE9431645EC}">
                    <a14:shadowObscured xmlns:a14="http://schemas.microsoft.com/office/drawing/2010/main" val="1"/>
                  </a:ext>
                </a:extLst>
              </p:spPr>
              <p:txBody>
                <a:bodyPr lIns="90000" tIns="82800" rIns="90000" bIns="82800">
                  <a:spAutoFit/>
                </a:bodyPr>
                <a:lstStyle/>
                <a:p>
                  <a:endParaRPr lang="en-GB" sz="2400"/>
                </a:p>
              </p:txBody>
            </p:sp>
          </p:grpSp>
          <p:sp>
            <p:nvSpPr>
              <p:cNvPr id="42028" name="Line 28"/>
              <p:cNvSpPr>
                <a:spLocks noChangeShapeType="1"/>
              </p:cNvSpPr>
              <p:nvPr/>
            </p:nvSpPr>
            <p:spPr bwMode="auto">
              <a:xfrm>
                <a:off x="8607810" y="1658840"/>
                <a:ext cx="21589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sz="2400"/>
              </a:p>
            </p:txBody>
          </p:sp>
        </p:grpSp>
        <p:sp>
          <p:nvSpPr>
            <p:cNvPr id="131" name="Line 28"/>
            <p:cNvSpPr>
              <a:spLocks noChangeShapeType="1"/>
            </p:cNvSpPr>
            <p:nvPr/>
          </p:nvSpPr>
          <p:spPr bwMode="auto">
            <a:xfrm>
              <a:off x="8310855" y="2901300"/>
              <a:ext cx="1622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sp>
        <p:nvSpPr>
          <p:cNvPr id="117" name="CuadroTexto 116"/>
          <p:cNvSpPr txBox="1">
            <a:spLocks noChangeArrowheads="1"/>
          </p:cNvSpPr>
          <p:nvPr/>
        </p:nvSpPr>
        <p:spPr bwMode="auto">
          <a:xfrm>
            <a:off x="5845927" y="5493441"/>
            <a:ext cx="4559171" cy="13261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80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Hay que girar antihorariamente de </a:t>
            </a:r>
            <a:r>
              <a:rPr lang="es-ES" sz="2400" b="1">
                <a:solidFill>
                  <a:schemeClr val="tx1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 a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para tener 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hacia abajo: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debe ser entrante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7D5FF93F-C1B7-1C63-898B-A39915FE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961" y="1593181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BDFAE3F-CC87-08A0-1EB5-08B57649D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836" y="3742656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54CF821A-6835-3356-1CA5-4C9547082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024" y="3498181"/>
            <a:ext cx="284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-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809BB0FB-5D44-6EA9-3FD5-6D25C5275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399" y="3898231"/>
            <a:ext cx="0" cy="27781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A67D1E00-B8B1-D45A-6937-E11C94017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149" y="1315368"/>
            <a:ext cx="0" cy="277813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A6CCD12-6197-7689-A857-7FCE889B8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224" y="1405856"/>
            <a:ext cx="5127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+</a:t>
            </a:r>
            <a:endParaRPr lang="es-ES" sz="4800" b="1">
              <a:solidFill>
                <a:srgbClr val="008000"/>
              </a:solidFill>
            </a:endParaRPr>
          </a:p>
        </p:txBody>
      </p:sp>
      <p:sp>
        <p:nvSpPr>
          <p:cNvPr id="18" name="Text Box 23">
            <a:extLst>
              <a:ext uri="{FF2B5EF4-FFF2-40B4-BE49-F238E27FC236}">
                <a16:creationId xmlns:a16="http://schemas.microsoft.com/office/drawing/2014/main" id="{686CD4F3-11E1-9023-1200-2D4625EFE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242" y="4269705"/>
            <a:ext cx="39780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: Tensión del condensador</a:t>
            </a:r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6D5C8EB9-A6CD-5CE1-8EBA-9CE13C6CA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29" y="4722596"/>
            <a:ext cx="357050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00FF"/>
                </a:solidFill>
              </a:rPr>
              <a:t>d</a:t>
            </a:r>
            <a:r>
              <a:rPr lang="es-ES" sz="2400"/>
              <a:t>: Distancia entre placas</a:t>
            </a:r>
          </a:p>
        </p:txBody>
      </p:sp>
      <p:grpSp>
        <p:nvGrpSpPr>
          <p:cNvPr id="20" name="Group 55">
            <a:extLst>
              <a:ext uri="{FF2B5EF4-FFF2-40B4-BE49-F238E27FC236}">
                <a16:creationId xmlns:a16="http://schemas.microsoft.com/office/drawing/2014/main" id="{0B7EF853-56B7-FDD8-E14F-4ECA0A997FF2}"/>
              </a:ext>
            </a:extLst>
          </p:cNvPr>
          <p:cNvGrpSpPr>
            <a:grpSpLocks/>
          </p:cNvGrpSpPr>
          <p:nvPr/>
        </p:nvGrpSpPr>
        <p:grpSpPr bwMode="auto">
          <a:xfrm>
            <a:off x="2571521" y="2044017"/>
            <a:ext cx="415924" cy="1073146"/>
            <a:chOff x="1723" y="2341"/>
            <a:chExt cx="262" cy="676"/>
          </a:xfrm>
        </p:grpSpPr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B9A79C7C-3756-D27C-F5ED-F27633A4F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2544"/>
              <a:ext cx="0" cy="47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2" name="Object 26">
              <a:extLst>
                <a:ext uri="{FF2B5EF4-FFF2-40B4-BE49-F238E27FC236}">
                  <a16:creationId xmlns:a16="http://schemas.microsoft.com/office/drawing/2014/main" id="{E220C331-A75B-A034-9739-63293A2C43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1" y="2341"/>
            <a:ext cx="2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9639" imgH="203112" progId="Equation.3">
                    <p:embed/>
                  </p:oleObj>
                </mc:Choice>
                <mc:Fallback>
                  <p:oleObj name="Ecuación" r:id="rId5" imgW="139639" imgH="203112" progId="Equation.3">
                    <p:embed/>
                    <p:pic>
                      <p:nvPicPr>
                        <p:cNvPr id="4001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2341"/>
                          <a:ext cx="2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">
            <a:extLst>
              <a:ext uri="{FF2B5EF4-FFF2-40B4-BE49-F238E27FC236}">
                <a16:creationId xmlns:a16="http://schemas.microsoft.com/office/drawing/2014/main" id="{847A9AA8-640A-4758-49DA-D2604BC9286E}"/>
              </a:ext>
            </a:extLst>
          </p:cNvPr>
          <p:cNvGrpSpPr>
            <a:grpSpLocks/>
          </p:cNvGrpSpPr>
          <p:nvPr/>
        </p:nvGrpSpPr>
        <p:grpSpPr bwMode="auto">
          <a:xfrm>
            <a:off x="3511322" y="2839368"/>
            <a:ext cx="688974" cy="906463"/>
            <a:chOff x="2315" y="2762"/>
            <a:chExt cx="434" cy="571"/>
          </a:xfrm>
        </p:grpSpPr>
        <p:graphicFrame>
          <p:nvGraphicFramePr>
            <p:cNvPr id="24" name="Object 3">
              <a:extLst>
                <a:ext uri="{FF2B5EF4-FFF2-40B4-BE49-F238E27FC236}">
                  <a16:creationId xmlns:a16="http://schemas.microsoft.com/office/drawing/2014/main" id="{128F923A-99A0-0F13-FCC6-8A6E7FA685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7" y="2880"/>
            <a:ext cx="32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90335" imgH="266469" progId="Equation.3">
                    <p:embed/>
                  </p:oleObj>
                </mc:Choice>
                <mc:Fallback>
                  <p:oleObj name="Ecuación" r:id="rId7" imgW="190335" imgH="266469" progId="Equation.3">
                    <p:embed/>
                    <p:pic>
                      <p:nvPicPr>
                        <p:cNvPr id="400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880"/>
                          <a:ext cx="32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4">
              <a:extLst>
                <a:ext uri="{FF2B5EF4-FFF2-40B4-BE49-F238E27FC236}">
                  <a16:creationId xmlns:a16="http://schemas.microsoft.com/office/drawing/2014/main" id="{CD175E47-B34F-5C30-2B8B-1B159C6AD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2762"/>
              <a:ext cx="0" cy="473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6" name="AutoShape 10">
            <a:extLst>
              <a:ext uri="{FF2B5EF4-FFF2-40B4-BE49-F238E27FC236}">
                <a16:creationId xmlns:a16="http://schemas.microsoft.com/office/drawing/2014/main" id="{D1B962ED-7388-70A8-CCA5-152E27F3E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2177833"/>
            <a:ext cx="4605337" cy="1241425"/>
          </a:xfrm>
          <a:prstGeom prst="parallelogram">
            <a:avLst>
              <a:gd name="adj" fmla="val 167367"/>
            </a:avLst>
          </a:prstGeom>
          <a:solidFill>
            <a:srgbClr val="FFFF99">
              <a:alpha val="7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7" name="Line 12">
            <a:extLst>
              <a:ext uri="{FF2B5EF4-FFF2-40B4-BE49-F238E27FC236}">
                <a16:creationId xmlns:a16="http://schemas.microsoft.com/office/drawing/2014/main" id="{ACAE342C-5046-4F0D-D52E-D5C02AF81D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649" y="2183731"/>
            <a:ext cx="1844675" cy="11922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28" name="Line 15">
            <a:extLst>
              <a:ext uri="{FF2B5EF4-FFF2-40B4-BE49-F238E27FC236}">
                <a16:creationId xmlns:a16="http://schemas.microsoft.com/office/drawing/2014/main" id="{7ED41994-4C9D-9F47-C0DF-4545EDAED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449" y="2755457"/>
            <a:ext cx="522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29" name="Picture 18" descr="Image2">
            <a:extLst>
              <a:ext uri="{FF2B5EF4-FFF2-40B4-BE49-F238E27FC236}">
                <a16:creationId xmlns:a16="http://schemas.microsoft.com/office/drawing/2014/main" id="{363F3D22-1B49-74BB-6E39-FCEAF4A08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36" y="2559968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" name="Object 19">
            <a:extLst>
              <a:ext uri="{FF2B5EF4-FFF2-40B4-BE49-F238E27FC236}">
                <a16:creationId xmlns:a16="http://schemas.microsoft.com/office/drawing/2014/main" id="{7C19EC4D-28BA-1965-C41C-17DB7D3D1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41208"/>
              </p:ext>
            </p:extLst>
          </p:nvPr>
        </p:nvGraphicFramePr>
        <p:xfrm>
          <a:off x="1728560" y="2249818"/>
          <a:ext cx="351939" cy="492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126725" imgH="177415" progId="Equation.3">
                  <p:embed/>
                </p:oleObj>
              </mc:Choice>
              <mc:Fallback>
                <p:oleObj name="Ecuación" r:id="rId10" imgW="126725" imgH="177415" progId="Equation.3">
                  <p:embed/>
                  <p:pic>
                    <p:nvPicPr>
                      <p:cNvPr id="3995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0" y="2249818"/>
                        <a:ext cx="351939" cy="492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2">
            <a:extLst>
              <a:ext uri="{FF2B5EF4-FFF2-40B4-BE49-F238E27FC236}">
                <a16:creationId xmlns:a16="http://schemas.microsoft.com/office/drawing/2014/main" id="{9DC3AFB8-B383-489B-0727-7DA3A7A34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774" y="2920331"/>
            <a:ext cx="3693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q</a:t>
            </a:r>
          </a:p>
        </p:txBody>
      </p:sp>
      <p:grpSp>
        <p:nvGrpSpPr>
          <p:cNvPr id="35" name="Group 46">
            <a:extLst>
              <a:ext uri="{FF2B5EF4-FFF2-40B4-BE49-F238E27FC236}">
                <a16:creationId xmlns:a16="http://schemas.microsoft.com/office/drawing/2014/main" id="{9CA93E89-BD52-E8D3-5B24-1ACC20557BD8}"/>
              </a:ext>
            </a:extLst>
          </p:cNvPr>
          <p:cNvGrpSpPr>
            <a:grpSpLocks/>
          </p:cNvGrpSpPr>
          <p:nvPr/>
        </p:nvGrpSpPr>
        <p:grpSpPr bwMode="auto">
          <a:xfrm>
            <a:off x="2285774" y="2569493"/>
            <a:ext cx="2732087" cy="684213"/>
            <a:chOff x="1563" y="2672"/>
            <a:chExt cx="1721" cy="431"/>
          </a:xfrm>
        </p:grpSpPr>
        <p:grpSp>
          <p:nvGrpSpPr>
            <p:cNvPr id="36" name="Group 47">
              <a:extLst>
                <a:ext uri="{FF2B5EF4-FFF2-40B4-BE49-F238E27FC236}">
                  <a16:creationId xmlns:a16="http://schemas.microsoft.com/office/drawing/2014/main" id="{A619F15D-B1F4-B70B-12D8-E64549B7A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3" y="2672"/>
              <a:ext cx="1721" cy="238"/>
              <a:chOff x="1563" y="2672"/>
              <a:chExt cx="1721" cy="238"/>
            </a:xfrm>
          </p:grpSpPr>
          <p:sp>
            <p:nvSpPr>
              <p:cNvPr id="38" name="Line 48">
                <a:extLst>
                  <a:ext uri="{FF2B5EF4-FFF2-40B4-BE49-F238E27FC236}">
                    <a16:creationId xmlns:a16="http://schemas.microsoft.com/office/drawing/2014/main" id="{8FE93557-6963-6DCE-A38A-29E90927D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792"/>
                <a:ext cx="17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9" name="Line 50">
                <a:extLst>
                  <a:ext uri="{FF2B5EF4-FFF2-40B4-BE49-F238E27FC236}">
                    <a16:creationId xmlns:a16="http://schemas.microsoft.com/office/drawing/2014/main" id="{31B301C2-39C4-6F37-2F06-03E39A2A3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3" y="2790"/>
                <a:ext cx="32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40" name="Picture 49" descr="Image2">
                <a:extLst>
                  <a:ext uri="{FF2B5EF4-FFF2-40B4-BE49-F238E27FC236}">
                    <a16:creationId xmlns:a16="http://schemas.microsoft.com/office/drawing/2014/main" id="{94D62911-32B9-AFC2-2B0B-743728ABE2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" y="2672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aphicFrame>
          <p:nvGraphicFramePr>
            <p:cNvPr id="37" name="Object 51">
              <a:extLst>
                <a:ext uri="{FF2B5EF4-FFF2-40B4-BE49-F238E27FC236}">
                  <a16:creationId xmlns:a16="http://schemas.microsoft.com/office/drawing/2014/main" id="{AB04740D-DDE9-33AC-BA83-7601B88A9A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8" y="2792"/>
            <a:ext cx="22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26725" imgH="177415" progId="Equation.3">
                    <p:embed/>
                  </p:oleObj>
                </mc:Choice>
                <mc:Fallback>
                  <p:oleObj name="Ecuación" r:id="rId10" imgW="126725" imgH="177415" progId="Equation.3">
                    <p:embed/>
                    <p:pic>
                      <p:nvPicPr>
                        <p:cNvPr id="40009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2792"/>
                          <a:ext cx="22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5542" name="Freeform 118"/>
          <p:cNvSpPr>
            <a:spLocks/>
          </p:cNvSpPr>
          <p:nvPr/>
        </p:nvSpPr>
        <p:spPr bwMode="auto">
          <a:xfrm>
            <a:off x="4279844" y="2335272"/>
            <a:ext cx="325112" cy="379411"/>
          </a:xfrm>
          <a:custGeom>
            <a:avLst/>
            <a:gdLst>
              <a:gd name="T0" fmla="*/ 2147483646 w 185"/>
              <a:gd name="T1" fmla="*/ 2147483646 h 329"/>
              <a:gd name="T2" fmla="*/ 2147483646 w 185"/>
              <a:gd name="T3" fmla="*/ 2147483646 h 329"/>
              <a:gd name="T4" fmla="*/ 0 w 185"/>
              <a:gd name="T5" fmla="*/ 0 h 3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5" h="329">
                <a:moveTo>
                  <a:pt x="185" y="329"/>
                </a:moveTo>
                <a:cubicBezTo>
                  <a:pt x="180" y="253"/>
                  <a:pt x="175" y="178"/>
                  <a:pt x="144" y="123"/>
                </a:cubicBezTo>
                <a:cubicBezTo>
                  <a:pt x="113" y="68"/>
                  <a:pt x="56" y="34"/>
                  <a:pt x="0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/>
          <a:lstStyle/>
          <a:p>
            <a:endParaRPr lang="en-GB">
              <a:solidFill>
                <a:srgbClr val="008000"/>
              </a:solidFill>
            </a:endParaRPr>
          </a:p>
        </p:txBody>
      </p:sp>
      <p:grpSp>
        <p:nvGrpSpPr>
          <p:cNvPr id="615540" name="Group 116"/>
          <p:cNvGrpSpPr>
            <a:grpSpLocks/>
          </p:cNvGrpSpPr>
          <p:nvPr/>
        </p:nvGrpSpPr>
        <p:grpSpPr bwMode="auto">
          <a:xfrm>
            <a:off x="3699238" y="1825708"/>
            <a:ext cx="1141414" cy="836610"/>
            <a:chOff x="2435" y="2245"/>
            <a:chExt cx="719" cy="527"/>
          </a:xfrm>
        </p:grpSpPr>
        <p:graphicFrame>
          <p:nvGraphicFramePr>
            <p:cNvPr id="2" name="Object 39"/>
            <p:cNvGraphicFramePr>
              <a:graphicFrameLocks noChangeAspect="1"/>
            </p:cNvGraphicFramePr>
            <p:nvPr/>
          </p:nvGraphicFramePr>
          <p:xfrm>
            <a:off x="2926" y="2245"/>
            <a:ext cx="22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52268" imgH="203024" progId="Equation.3">
                    <p:embed/>
                  </p:oleObj>
                </mc:Choice>
                <mc:Fallback>
                  <p:oleObj name="Ecuación" r:id="rId12" imgW="152268" imgH="203024" progId="Equation.3">
                    <p:embed/>
                    <p:pic>
                      <p:nvPicPr>
                        <p:cNvPr id="2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2245"/>
                          <a:ext cx="22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105" name="Line 40"/>
            <p:cNvSpPr>
              <a:spLocks noChangeShapeType="1"/>
            </p:cNvSpPr>
            <p:nvPr/>
          </p:nvSpPr>
          <p:spPr bwMode="auto">
            <a:xfrm flipV="1">
              <a:off x="2435" y="2515"/>
              <a:ext cx="390" cy="25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15541" name="Group 117"/>
          <p:cNvGrpSpPr>
            <a:grpSpLocks/>
          </p:cNvGrpSpPr>
          <p:nvPr/>
        </p:nvGrpSpPr>
        <p:grpSpPr bwMode="auto">
          <a:xfrm>
            <a:off x="2756905" y="2838971"/>
            <a:ext cx="654052" cy="754065"/>
            <a:chOff x="1799" y="2929"/>
            <a:chExt cx="412" cy="475"/>
          </a:xfrm>
        </p:grpSpPr>
        <p:sp>
          <p:nvSpPr>
            <p:cNvPr id="42106" name="Line 36"/>
            <p:cNvSpPr>
              <a:spLocks noChangeShapeType="1"/>
            </p:cNvSpPr>
            <p:nvPr/>
          </p:nvSpPr>
          <p:spPr bwMode="auto">
            <a:xfrm flipH="1">
              <a:off x="1821" y="2929"/>
              <a:ext cx="390" cy="23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2107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591195"/>
                </p:ext>
              </p:extLst>
            </p:nvPr>
          </p:nvGraphicFramePr>
          <p:xfrm>
            <a:off x="1799" y="3099"/>
            <a:ext cx="22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152268" imgH="203024" progId="Equation.3">
                    <p:embed/>
                  </p:oleObj>
                </mc:Choice>
                <mc:Fallback>
                  <p:oleObj name="Ecuación" r:id="rId14" imgW="152268" imgH="203024" progId="Equation.3">
                    <p:embed/>
                    <p:pic>
                      <p:nvPicPr>
                        <p:cNvPr id="42107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9" y="3099"/>
                          <a:ext cx="22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" name="Group 101">
            <a:extLst>
              <a:ext uri="{FF2B5EF4-FFF2-40B4-BE49-F238E27FC236}">
                <a16:creationId xmlns:a16="http://schemas.microsoft.com/office/drawing/2014/main" id="{C9D77D21-A519-4994-904B-928D13E778B7}"/>
              </a:ext>
            </a:extLst>
          </p:cNvPr>
          <p:cNvGrpSpPr>
            <a:grpSpLocks/>
          </p:cNvGrpSpPr>
          <p:nvPr/>
        </p:nvGrpSpPr>
        <p:grpSpPr bwMode="auto">
          <a:xfrm>
            <a:off x="2755527" y="2912250"/>
            <a:ext cx="698130" cy="267049"/>
            <a:chOff x="3858" y="2085"/>
            <a:chExt cx="988" cy="281"/>
          </a:xfrm>
        </p:grpSpPr>
        <p:sp>
          <p:nvSpPr>
            <p:cNvPr id="123" name="Line 102">
              <a:extLst>
                <a:ext uri="{FF2B5EF4-FFF2-40B4-BE49-F238E27FC236}">
                  <a16:creationId xmlns:a16="http://schemas.microsoft.com/office/drawing/2014/main" id="{D6438569-D71A-4A96-A946-617677B76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2099"/>
              <a:ext cx="974" cy="26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24" name="Line 103">
              <a:extLst>
                <a:ext uri="{FF2B5EF4-FFF2-40B4-BE49-F238E27FC236}">
                  <a16:creationId xmlns:a16="http://schemas.microsoft.com/office/drawing/2014/main" id="{334BBBA3-DD6D-4D25-9FA2-58C563654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8" y="2085"/>
              <a:ext cx="974" cy="26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1" name="Group 27">
            <a:extLst>
              <a:ext uri="{FF2B5EF4-FFF2-40B4-BE49-F238E27FC236}">
                <a16:creationId xmlns:a16="http://schemas.microsoft.com/office/drawing/2014/main" id="{AAEAF512-6A36-AF9D-A15C-E3FF90EB9297}"/>
              </a:ext>
            </a:extLst>
          </p:cNvPr>
          <p:cNvGrpSpPr>
            <a:grpSpLocks/>
          </p:cNvGrpSpPr>
          <p:nvPr/>
        </p:nvGrpSpPr>
        <p:grpSpPr bwMode="auto">
          <a:xfrm>
            <a:off x="3513144" y="1690027"/>
            <a:ext cx="658813" cy="974728"/>
            <a:chOff x="2323" y="2118"/>
            <a:chExt cx="415" cy="614"/>
          </a:xfrm>
        </p:grpSpPr>
        <p:sp>
          <p:nvSpPr>
            <p:cNvPr id="42" name="Line 28">
              <a:extLst>
                <a:ext uri="{FF2B5EF4-FFF2-40B4-BE49-F238E27FC236}">
                  <a16:creationId xmlns:a16="http://schemas.microsoft.com/office/drawing/2014/main" id="{8105E710-F1E3-267D-10DE-B08990D66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3" y="2259"/>
              <a:ext cx="0" cy="473"/>
            </a:xfrm>
            <a:prstGeom prst="line">
              <a:avLst/>
            </a:prstGeom>
            <a:noFill/>
            <a:ln w="63500">
              <a:solidFill>
                <a:srgbClr val="8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3" name="Object 29">
              <a:extLst>
                <a:ext uri="{FF2B5EF4-FFF2-40B4-BE49-F238E27FC236}">
                  <a16:creationId xmlns:a16="http://schemas.microsoft.com/office/drawing/2014/main" id="{B843D8B5-DE37-A28F-D820-968B23E04D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8242263"/>
                </p:ext>
              </p:extLst>
            </p:nvPr>
          </p:nvGraphicFramePr>
          <p:xfrm>
            <a:off x="2413" y="2118"/>
            <a:ext cx="32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6" imgW="190335" imgH="266469" progId="Equation.3">
                    <p:embed/>
                  </p:oleObj>
                </mc:Choice>
                <mc:Fallback>
                  <p:oleObj name="Ecuación" r:id="rId16" imgW="190335" imgH="266469" progId="Equation.3">
                    <p:embed/>
                    <p:pic>
                      <p:nvPicPr>
                        <p:cNvPr id="40014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3" y="2118"/>
                          <a:ext cx="32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6509E76C-F010-5A78-1998-7DC7C0AF949E}"/>
              </a:ext>
            </a:extLst>
          </p:cNvPr>
          <p:cNvSpPr/>
          <p:nvPr/>
        </p:nvSpPr>
        <p:spPr bwMode="auto">
          <a:xfrm>
            <a:off x="5180446" y="6019378"/>
            <a:ext cx="497425" cy="320004"/>
          </a:xfrm>
          <a:prstGeom prst="rightArrow">
            <a:avLst>
              <a:gd name="adj1" fmla="val 50000"/>
              <a:gd name="adj2" fmla="val 98056"/>
            </a:avLst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1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1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1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1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1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61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7" grpId="0" animBg="1"/>
      <p:bldP spid="61554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Box 121"/>
          <p:cNvSpPr txBox="1">
            <a:spLocks noChangeArrowheads="1"/>
          </p:cNvSpPr>
          <p:nvPr/>
        </p:nvSpPr>
        <p:spPr bwMode="auto">
          <a:xfrm>
            <a:off x="4463410" y="400129"/>
            <a:ext cx="2134394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>
                <a:sym typeface="Symbol" panose="05050102010706020507" pitchFamily="18" charset="2"/>
              </a:rPr>
              <a:t>   </a:t>
            </a:r>
            <a:r>
              <a:rPr lang="es-ES" sz="2800" dirty="0"/>
              <a:t>F</a:t>
            </a:r>
            <a:r>
              <a:rPr lang="es-ES" sz="2800" baseline="-25000" dirty="0"/>
              <a:t>B</a:t>
            </a:r>
            <a:r>
              <a:rPr lang="es-ES" sz="2800" dirty="0"/>
              <a:t> = F</a:t>
            </a:r>
            <a:r>
              <a:rPr lang="es-ES" sz="2800" baseline="-25000" dirty="0"/>
              <a:t>E</a:t>
            </a:r>
            <a:endParaRPr lang="es-ES" sz="2800" dirty="0"/>
          </a:p>
        </p:txBody>
      </p:sp>
      <p:sp>
        <p:nvSpPr>
          <p:cNvPr id="118" name="Text Box 104"/>
          <p:cNvSpPr txBox="1">
            <a:spLocks noChangeArrowheads="1"/>
          </p:cNvSpPr>
          <p:nvPr/>
        </p:nvSpPr>
        <p:spPr bwMode="auto">
          <a:xfrm>
            <a:off x="6283820" y="2180120"/>
            <a:ext cx="2897753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/>
              <a:t>|q| v B = |q| E</a:t>
            </a:r>
          </a:p>
        </p:txBody>
      </p:sp>
      <p:sp>
        <p:nvSpPr>
          <p:cNvPr id="119" name="Text Box 123"/>
          <p:cNvSpPr txBox="1">
            <a:spLocks noChangeArrowheads="1"/>
          </p:cNvSpPr>
          <p:nvPr/>
        </p:nvSpPr>
        <p:spPr bwMode="auto">
          <a:xfrm>
            <a:off x="6811769" y="3672382"/>
            <a:ext cx="1738044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/>
              <a:t>v </a:t>
            </a:r>
            <a:r>
              <a:rPr lang="es-ES" sz="2800" dirty="0"/>
              <a:t>B </a:t>
            </a:r>
            <a:r>
              <a:rPr lang="es-ES" sz="2800"/>
              <a:t>= V</a:t>
            </a:r>
            <a:r>
              <a:rPr lang="es-ES" sz="2800" dirty="0"/>
              <a:t>/d</a:t>
            </a:r>
          </a:p>
        </p:txBody>
      </p:sp>
      <p:sp>
        <p:nvSpPr>
          <p:cNvPr id="123" name="Text Box 32"/>
          <p:cNvSpPr txBox="1">
            <a:spLocks noChangeArrowheads="1"/>
          </p:cNvSpPr>
          <p:nvPr/>
        </p:nvSpPr>
        <p:spPr bwMode="auto">
          <a:xfrm>
            <a:off x="6850299" y="1179092"/>
            <a:ext cx="2192100" cy="738664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26000" tIns="118800" rIns="126000" bIns="118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E</a:t>
            </a:r>
            <a:r>
              <a:rPr lang="es-ES" sz="2800" dirty="0"/>
              <a:t> = |</a:t>
            </a:r>
            <a:r>
              <a:rPr lang="es-ES" sz="2800" dirty="0" err="1"/>
              <a:t>q|E</a:t>
            </a:r>
            <a:endParaRPr lang="es-ES" sz="2800" dirty="0"/>
          </a:p>
        </p:txBody>
      </p:sp>
      <p:grpSp>
        <p:nvGrpSpPr>
          <p:cNvPr id="124" name="Grupo 123"/>
          <p:cNvGrpSpPr>
            <a:grpSpLocks/>
          </p:cNvGrpSpPr>
          <p:nvPr/>
        </p:nvGrpSpPr>
        <p:grpSpPr bwMode="auto">
          <a:xfrm>
            <a:off x="6919319" y="4479264"/>
            <a:ext cx="1924667" cy="1282089"/>
            <a:chOff x="7327173" y="5564494"/>
            <a:chExt cx="1924270" cy="1282089"/>
          </a:xfrm>
        </p:grpSpPr>
        <p:sp>
          <p:nvSpPr>
            <p:cNvPr id="126" name="Rectangle 106"/>
            <p:cNvSpPr>
              <a:spLocks noChangeArrowheads="1"/>
            </p:cNvSpPr>
            <p:nvPr/>
          </p:nvSpPr>
          <p:spPr bwMode="auto">
            <a:xfrm>
              <a:off x="7327173" y="5564494"/>
              <a:ext cx="1924270" cy="12820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800"/>
            </a:p>
          </p:txBody>
        </p:sp>
        <p:sp>
          <p:nvSpPr>
            <p:cNvPr id="127" name="Text Box 107"/>
            <p:cNvSpPr txBox="1">
              <a:spLocks noChangeArrowheads="1"/>
            </p:cNvSpPr>
            <p:nvPr/>
          </p:nvSpPr>
          <p:spPr bwMode="auto">
            <a:xfrm>
              <a:off x="7466172" y="5862232"/>
              <a:ext cx="875216" cy="65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/>
                <a:t>B </a:t>
              </a:r>
              <a:r>
                <a:rPr lang="es-ES" sz="2800"/>
                <a:t>=</a:t>
              </a:r>
              <a:endParaRPr lang="es-ES" sz="3200"/>
            </a:p>
          </p:txBody>
        </p:sp>
        <p:sp>
          <p:nvSpPr>
            <p:cNvPr id="128" name="Line 108"/>
            <p:cNvSpPr>
              <a:spLocks noChangeShapeType="1"/>
            </p:cNvSpPr>
            <p:nvPr/>
          </p:nvSpPr>
          <p:spPr bwMode="auto">
            <a:xfrm>
              <a:off x="8354314" y="6191250"/>
              <a:ext cx="5715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800"/>
            </a:p>
          </p:txBody>
        </p:sp>
        <p:sp>
          <p:nvSpPr>
            <p:cNvPr id="129" name="Text Box 109"/>
            <p:cNvSpPr txBox="1">
              <a:spLocks noChangeArrowheads="1"/>
            </p:cNvSpPr>
            <p:nvPr/>
          </p:nvSpPr>
          <p:spPr bwMode="auto">
            <a:xfrm>
              <a:off x="8427339" y="5649913"/>
              <a:ext cx="455778" cy="65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/>
                <a:t>V</a:t>
              </a:r>
            </a:p>
          </p:txBody>
        </p:sp>
        <p:sp>
          <p:nvSpPr>
            <p:cNvPr id="130" name="Text Box 110"/>
            <p:cNvSpPr txBox="1">
              <a:spLocks noChangeArrowheads="1"/>
            </p:cNvSpPr>
            <p:nvPr/>
          </p:nvSpPr>
          <p:spPr bwMode="auto">
            <a:xfrm>
              <a:off x="8327327" y="6126163"/>
              <a:ext cx="728232" cy="65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 dirty="0"/>
                <a:t>v d</a:t>
              </a: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7633805" y="2738963"/>
            <a:ext cx="1924667" cy="1008000"/>
            <a:chOff x="8221066" y="2710212"/>
            <a:chExt cx="1924667" cy="1008000"/>
          </a:xfrm>
        </p:grpSpPr>
        <p:sp>
          <p:nvSpPr>
            <p:cNvPr id="4" name="Forma libre 3"/>
            <p:cNvSpPr/>
            <p:nvPr/>
          </p:nvSpPr>
          <p:spPr bwMode="auto">
            <a:xfrm rot="1258142">
              <a:off x="8917223" y="2710212"/>
              <a:ext cx="283845" cy="1008000"/>
            </a:xfrm>
            <a:custGeom>
              <a:avLst/>
              <a:gdLst>
                <a:gd name="connsiteX0" fmla="*/ 0 w 433884"/>
                <a:gd name="connsiteY0" fmla="*/ 0 h 1190625"/>
                <a:gd name="connsiteX1" fmla="*/ 428625 w 433884"/>
                <a:gd name="connsiteY1" fmla="*/ 628650 h 1190625"/>
                <a:gd name="connsiteX2" fmla="*/ 200025 w 433884"/>
                <a:gd name="connsiteY2" fmla="*/ 1190625 h 11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3884" h="1190625">
                  <a:moveTo>
                    <a:pt x="0" y="0"/>
                  </a:moveTo>
                  <a:cubicBezTo>
                    <a:pt x="197644" y="215106"/>
                    <a:pt x="395288" y="430213"/>
                    <a:pt x="428625" y="628650"/>
                  </a:cubicBezTo>
                  <a:cubicBezTo>
                    <a:pt x="461963" y="827088"/>
                    <a:pt x="330994" y="1008856"/>
                    <a:pt x="200025" y="1190625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Text Box 124"/>
            <p:cNvSpPr txBox="1">
              <a:spLocks noChangeArrowheads="1"/>
            </p:cNvSpPr>
            <p:nvPr/>
          </p:nvSpPr>
          <p:spPr bwMode="auto">
            <a:xfrm>
              <a:off x="8221066" y="2885813"/>
              <a:ext cx="1924667" cy="44203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36000" rIns="90000" bIns="360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Cond. plano</a:t>
              </a:r>
            </a:p>
          </p:txBody>
        </p:sp>
      </p:grpSp>
      <p:sp>
        <p:nvSpPr>
          <p:cNvPr id="48" name="Text Box 32">
            <a:extLst>
              <a:ext uri="{FF2B5EF4-FFF2-40B4-BE49-F238E27FC236}">
                <a16:creationId xmlns:a16="http://schemas.microsoft.com/office/drawing/2014/main" id="{0F0823A4-24C0-407F-8C57-C2E5A88D0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299" y="343258"/>
            <a:ext cx="2203450" cy="73866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B</a:t>
            </a:r>
            <a:r>
              <a:rPr lang="es-ES" sz="2800" dirty="0"/>
              <a:t> = |q| v</a:t>
            </a:r>
            <a:r>
              <a:rPr lang="es-ES" sz="2800" baseline="-25000" dirty="0">
                <a:sym typeface="Symbol" panose="05050102010706020507" pitchFamily="18" charset="2"/>
              </a:rPr>
              <a:t></a:t>
            </a:r>
            <a:r>
              <a:rPr lang="es-ES" sz="2800" dirty="0"/>
              <a:t> B</a:t>
            </a:r>
          </a:p>
        </p:txBody>
      </p:sp>
      <p:graphicFrame>
        <p:nvGraphicFramePr>
          <p:cNvPr id="55" name="Object 34">
            <a:extLst>
              <a:ext uri="{FF2B5EF4-FFF2-40B4-BE49-F238E27FC236}">
                <a16:creationId xmlns:a16="http://schemas.microsoft.com/office/drawing/2014/main" id="{5D2649E8-4F00-4F49-AF21-F95A29B06D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919127"/>
              </p:ext>
            </p:extLst>
          </p:nvPr>
        </p:nvGraphicFramePr>
        <p:xfrm>
          <a:off x="2648928" y="342492"/>
          <a:ext cx="1574800" cy="754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58720" imgH="266400" progId="Equation.3">
                  <p:embed/>
                </p:oleObj>
              </mc:Choice>
              <mc:Fallback>
                <p:oleObj name="Ecuación" r:id="rId3" imgW="558720" imgH="266400" progId="Equation.3">
                  <p:embed/>
                  <p:pic>
                    <p:nvPicPr>
                      <p:cNvPr id="55" name="Object 34">
                        <a:extLst>
                          <a:ext uri="{FF2B5EF4-FFF2-40B4-BE49-F238E27FC236}">
                            <a16:creationId xmlns:a16="http://schemas.microsoft.com/office/drawing/2014/main" id="{5D2649E8-4F00-4F49-AF21-F95A29B06D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8928" y="342492"/>
                        <a:ext cx="1574800" cy="754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upo 55">
            <a:extLst>
              <a:ext uri="{FF2B5EF4-FFF2-40B4-BE49-F238E27FC236}">
                <a16:creationId xmlns:a16="http://schemas.microsoft.com/office/drawing/2014/main" id="{5D7C6891-6001-484F-8ED1-2836841B8717}"/>
              </a:ext>
            </a:extLst>
          </p:cNvPr>
          <p:cNvGrpSpPr/>
          <p:nvPr/>
        </p:nvGrpSpPr>
        <p:grpSpPr>
          <a:xfrm>
            <a:off x="1085764" y="436194"/>
            <a:ext cx="1425726" cy="604728"/>
            <a:chOff x="1476617" y="383817"/>
            <a:chExt cx="1425726" cy="604728"/>
          </a:xfrm>
        </p:grpSpPr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EA91E20E-720F-4631-86C9-62B15B995A8C}"/>
                </a:ext>
              </a:extLst>
            </p:cNvPr>
            <p:cNvSpPr/>
            <p:nvPr/>
          </p:nvSpPr>
          <p:spPr bwMode="auto">
            <a:xfrm>
              <a:off x="1809750" y="383817"/>
              <a:ext cx="742950" cy="604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23836DC1-32AB-479C-8584-F1C37D7D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617" y="424913"/>
              <a:ext cx="14257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 dirty="0">
                  <a:solidFill>
                    <a:schemeClr val="tx1"/>
                  </a:solidFill>
                </a:rPr>
                <a:t>¿B?</a:t>
              </a:r>
              <a:endParaRPr lang="es-ES" sz="2400" baseline="-25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67">
            <a:extLst>
              <a:ext uri="{FF2B5EF4-FFF2-40B4-BE49-F238E27FC236}">
                <a16:creationId xmlns:a16="http://schemas.microsoft.com/office/drawing/2014/main" id="{B06DCE66-656B-4C34-8DC6-054C58DF0A70}"/>
              </a:ext>
            </a:extLst>
          </p:cNvPr>
          <p:cNvGrpSpPr>
            <a:grpSpLocks/>
          </p:cNvGrpSpPr>
          <p:nvPr/>
        </p:nvGrpSpPr>
        <p:grpSpPr bwMode="auto">
          <a:xfrm>
            <a:off x="8726819" y="739285"/>
            <a:ext cx="925516" cy="660402"/>
            <a:chOff x="5951" y="-389"/>
            <a:chExt cx="583" cy="416"/>
          </a:xfrm>
        </p:grpSpPr>
        <p:sp>
          <p:nvSpPr>
            <p:cNvPr id="59" name="Line 63">
              <a:extLst>
                <a:ext uri="{FF2B5EF4-FFF2-40B4-BE49-F238E27FC236}">
                  <a16:creationId xmlns:a16="http://schemas.microsoft.com/office/drawing/2014/main" id="{5647FB71-C871-4452-B395-ACB72808D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1" y="-238"/>
              <a:ext cx="360" cy="6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60" name="Text Box 64">
              <a:extLst>
                <a:ext uri="{FF2B5EF4-FFF2-40B4-BE49-F238E27FC236}">
                  <a16:creationId xmlns:a16="http://schemas.microsoft.com/office/drawing/2014/main" id="{AE4219DC-BEFE-431C-9052-E3F47E00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0" y="-389"/>
              <a:ext cx="244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sp>
        <p:nvSpPr>
          <p:cNvPr id="61" name="Text Box 124">
            <a:extLst>
              <a:ext uri="{FF2B5EF4-FFF2-40B4-BE49-F238E27FC236}">
                <a16:creationId xmlns:a16="http://schemas.microsoft.com/office/drawing/2014/main" id="{EC47706F-0B05-41D1-BC95-882268633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382" y="5900014"/>
            <a:ext cx="5183277" cy="811367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36000" rIns="90000" bIns="36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(</a:t>
            </a:r>
            <a:r>
              <a:rPr lang="es-ES" sz="2400" u="sng">
                <a:solidFill>
                  <a:srgbClr val="FF0000"/>
                </a:solidFill>
              </a:rPr>
              <a:t>Selector de velocidades</a:t>
            </a:r>
            <a:r>
              <a:rPr lang="es-ES" sz="2400">
                <a:solidFill>
                  <a:srgbClr val="FF0000"/>
                </a:solidFill>
              </a:rPr>
              <a:t>: Fijando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B, V y d, solo q con v no se desvía)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D2F29-A21D-C67D-14F3-F9B64F249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1961" y="1593181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AF475-810E-B92F-124B-C9F8A9829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836" y="3742656"/>
            <a:ext cx="2397125" cy="16351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476681EF-95BA-0F65-D9D9-336322AF2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024" y="3498181"/>
            <a:ext cx="284162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-</a:t>
            </a: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B3CDF9D7-BA03-7824-AEF5-916476448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399" y="3898231"/>
            <a:ext cx="0" cy="277812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0B56EA27-703B-5BDE-7A3A-DE92AA183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8149" y="1315368"/>
            <a:ext cx="0" cy="277813"/>
          </a:xfrm>
          <a:prstGeom prst="line">
            <a:avLst/>
          </a:prstGeom>
          <a:noFill/>
          <a:ln w="76200">
            <a:solidFill>
              <a:srgbClr val="80808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12A672C4-B3E7-D964-CBE4-BBC72B883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224" y="1405856"/>
            <a:ext cx="5127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b="1">
                <a:solidFill>
                  <a:srgbClr val="008000"/>
                </a:solidFill>
              </a:rPr>
              <a:t>+</a:t>
            </a:r>
            <a:endParaRPr lang="es-ES" sz="4800" b="1">
              <a:solidFill>
                <a:srgbClr val="008000"/>
              </a:solidFill>
            </a:endParaRP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1CEE9055-4C26-32AA-BB43-3655A8083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242" y="4269705"/>
            <a:ext cx="3978053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: Tensión del condensador</a:t>
            </a: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F0189B8F-6D25-B1CD-CE46-1D4FFF9A0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29" y="4722596"/>
            <a:ext cx="3570506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00FF"/>
                </a:solidFill>
              </a:rPr>
              <a:t>d</a:t>
            </a:r>
            <a:r>
              <a:rPr lang="es-ES" sz="2400"/>
              <a:t>: Distancia entre placas</a:t>
            </a:r>
          </a:p>
        </p:txBody>
      </p:sp>
      <p:grpSp>
        <p:nvGrpSpPr>
          <p:cNvPr id="22" name="Group 55">
            <a:extLst>
              <a:ext uri="{FF2B5EF4-FFF2-40B4-BE49-F238E27FC236}">
                <a16:creationId xmlns:a16="http://schemas.microsoft.com/office/drawing/2014/main" id="{8FDDD87E-79A4-9569-9583-335E22C17FF7}"/>
              </a:ext>
            </a:extLst>
          </p:cNvPr>
          <p:cNvGrpSpPr>
            <a:grpSpLocks/>
          </p:cNvGrpSpPr>
          <p:nvPr/>
        </p:nvGrpSpPr>
        <p:grpSpPr bwMode="auto">
          <a:xfrm>
            <a:off x="2571521" y="2044017"/>
            <a:ext cx="415924" cy="1073146"/>
            <a:chOff x="1723" y="2341"/>
            <a:chExt cx="262" cy="676"/>
          </a:xfrm>
        </p:grpSpPr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339B0595-0BC3-3EA3-470C-C484255F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2544"/>
              <a:ext cx="0" cy="473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24" name="Object 26">
              <a:extLst>
                <a:ext uri="{FF2B5EF4-FFF2-40B4-BE49-F238E27FC236}">
                  <a16:creationId xmlns:a16="http://schemas.microsoft.com/office/drawing/2014/main" id="{D040B782-4DB7-A9BC-16E9-6719E5A46E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1" y="2341"/>
            <a:ext cx="2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39639" imgH="203112" progId="Equation.3">
                    <p:embed/>
                  </p:oleObj>
                </mc:Choice>
                <mc:Fallback>
                  <p:oleObj name="Ecuación" r:id="rId5" imgW="139639" imgH="203112" progId="Equation.3">
                    <p:embed/>
                    <p:pic>
                      <p:nvPicPr>
                        <p:cNvPr id="22" name="Object 26">
                          <a:extLst>
                            <a:ext uri="{FF2B5EF4-FFF2-40B4-BE49-F238E27FC236}">
                              <a16:creationId xmlns:a16="http://schemas.microsoft.com/office/drawing/2014/main" id="{E220C331-A75B-A034-9739-63293A2C43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1" y="2341"/>
                          <a:ext cx="2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38762978-3E54-A8B0-3F7A-7B20EE231397}"/>
              </a:ext>
            </a:extLst>
          </p:cNvPr>
          <p:cNvGrpSpPr>
            <a:grpSpLocks/>
          </p:cNvGrpSpPr>
          <p:nvPr/>
        </p:nvGrpSpPr>
        <p:grpSpPr bwMode="auto">
          <a:xfrm>
            <a:off x="3511322" y="2839368"/>
            <a:ext cx="688974" cy="906463"/>
            <a:chOff x="2315" y="2762"/>
            <a:chExt cx="434" cy="571"/>
          </a:xfrm>
        </p:grpSpPr>
        <p:graphicFrame>
          <p:nvGraphicFramePr>
            <p:cNvPr id="26" name="Object 3">
              <a:extLst>
                <a:ext uri="{FF2B5EF4-FFF2-40B4-BE49-F238E27FC236}">
                  <a16:creationId xmlns:a16="http://schemas.microsoft.com/office/drawing/2014/main" id="{97354967-F213-9BD0-CE3B-9FEA53F1FE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7" y="2880"/>
            <a:ext cx="32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90335" imgH="266469" progId="Equation.3">
                    <p:embed/>
                  </p:oleObj>
                </mc:Choice>
                <mc:Fallback>
                  <p:oleObj name="Ecuación" r:id="rId7" imgW="190335" imgH="266469" progId="Equation.3">
                    <p:embed/>
                    <p:pic>
                      <p:nvPicPr>
                        <p:cNvPr id="24" name="Object 3">
                          <a:extLst>
                            <a:ext uri="{FF2B5EF4-FFF2-40B4-BE49-F238E27FC236}">
                              <a16:creationId xmlns:a16="http://schemas.microsoft.com/office/drawing/2014/main" id="{128F923A-99A0-0F13-FCC6-8A6E7FA685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880"/>
                          <a:ext cx="32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4">
              <a:extLst>
                <a:ext uri="{FF2B5EF4-FFF2-40B4-BE49-F238E27FC236}">
                  <a16:creationId xmlns:a16="http://schemas.microsoft.com/office/drawing/2014/main" id="{6412A668-DC3B-B918-A12B-8A273C587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2762"/>
              <a:ext cx="0" cy="473"/>
            </a:xfrm>
            <a:prstGeom prst="line">
              <a:avLst/>
            </a:prstGeom>
            <a:noFill/>
            <a:ln w="63500">
              <a:solidFill>
                <a:srgbClr val="8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28" name="AutoShape 10">
            <a:extLst>
              <a:ext uri="{FF2B5EF4-FFF2-40B4-BE49-F238E27FC236}">
                <a16:creationId xmlns:a16="http://schemas.microsoft.com/office/drawing/2014/main" id="{3FAC27CE-2409-4E8E-8FA0-F06F58031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2177833"/>
            <a:ext cx="4605337" cy="1241425"/>
          </a:xfrm>
          <a:prstGeom prst="parallelogram">
            <a:avLst>
              <a:gd name="adj" fmla="val 167367"/>
            </a:avLst>
          </a:prstGeom>
          <a:solidFill>
            <a:srgbClr val="FFFF99">
              <a:alpha val="7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29" name="Line 12">
            <a:extLst>
              <a:ext uri="{FF2B5EF4-FFF2-40B4-BE49-F238E27FC236}">
                <a16:creationId xmlns:a16="http://schemas.microsoft.com/office/drawing/2014/main" id="{C3A55E48-8131-1E23-628B-A8679B95FF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649" y="2183731"/>
            <a:ext cx="1844675" cy="11922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30" name="Line 15">
            <a:extLst>
              <a:ext uri="{FF2B5EF4-FFF2-40B4-BE49-F238E27FC236}">
                <a16:creationId xmlns:a16="http://schemas.microsoft.com/office/drawing/2014/main" id="{5A164793-F6C7-FBCC-6CF0-F5240F995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449" y="2755457"/>
            <a:ext cx="522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31" name="Picture 18" descr="Image2">
            <a:extLst>
              <a:ext uri="{FF2B5EF4-FFF2-40B4-BE49-F238E27FC236}">
                <a16:creationId xmlns:a16="http://schemas.microsoft.com/office/drawing/2014/main" id="{12C681CA-2F09-64D2-EC2A-8EB43A26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36" y="2559968"/>
            <a:ext cx="3952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" name="Object 19">
            <a:extLst>
              <a:ext uri="{FF2B5EF4-FFF2-40B4-BE49-F238E27FC236}">
                <a16:creationId xmlns:a16="http://schemas.microsoft.com/office/drawing/2014/main" id="{B05FB4E6-98DC-AB6A-A1DD-C558EA16B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952890"/>
              </p:ext>
            </p:extLst>
          </p:nvPr>
        </p:nvGraphicFramePr>
        <p:xfrm>
          <a:off x="1728560" y="2249818"/>
          <a:ext cx="351939" cy="492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126725" imgH="177415" progId="Equation.3">
                  <p:embed/>
                </p:oleObj>
              </mc:Choice>
              <mc:Fallback>
                <p:oleObj name="Ecuación" r:id="rId10" imgW="126725" imgH="177415" progId="Equation.3">
                  <p:embed/>
                  <p:pic>
                    <p:nvPicPr>
                      <p:cNvPr id="30" name="Object 19">
                        <a:extLst>
                          <a:ext uri="{FF2B5EF4-FFF2-40B4-BE49-F238E27FC236}">
                            <a16:creationId xmlns:a16="http://schemas.microsoft.com/office/drawing/2014/main" id="{7C19EC4D-28BA-1965-C41C-17DB7D3D100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560" y="2249818"/>
                        <a:ext cx="351939" cy="492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2">
            <a:extLst>
              <a:ext uri="{FF2B5EF4-FFF2-40B4-BE49-F238E27FC236}">
                <a16:creationId xmlns:a16="http://schemas.microsoft.com/office/drawing/2014/main" id="{704C403F-6387-9A63-6A81-BA68C1F01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774" y="2920331"/>
            <a:ext cx="369310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008000"/>
                </a:solidFill>
              </a:rPr>
              <a:t>q</a:t>
            </a:r>
          </a:p>
        </p:txBody>
      </p:sp>
      <p:grpSp>
        <p:nvGrpSpPr>
          <p:cNvPr id="34" name="Group 46">
            <a:extLst>
              <a:ext uri="{FF2B5EF4-FFF2-40B4-BE49-F238E27FC236}">
                <a16:creationId xmlns:a16="http://schemas.microsoft.com/office/drawing/2014/main" id="{10833F3D-4FAB-833A-4599-527029226DAB}"/>
              </a:ext>
            </a:extLst>
          </p:cNvPr>
          <p:cNvGrpSpPr>
            <a:grpSpLocks/>
          </p:cNvGrpSpPr>
          <p:nvPr/>
        </p:nvGrpSpPr>
        <p:grpSpPr bwMode="auto">
          <a:xfrm>
            <a:off x="2285774" y="2569493"/>
            <a:ext cx="2732087" cy="684213"/>
            <a:chOff x="1563" y="2672"/>
            <a:chExt cx="1721" cy="431"/>
          </a:xfrm>
        </p:grpSpPr>
        <p:grpSp>
          <p:nvGrpSpPr>
            <p:cNvPr id="35" name="Group 47">
              <a:extLst>
                <a:ext uri="{FF2B5EF4-FFF2-40B4-BE49-F238E27FC236}">
                  <a16:creationId xmlns:a16="http://schemas.microsoft.com/office/drawing/2014/main" id="{A4BB3C1A-546B-65F0-D3B5-C5A918E668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3" y="2672"/>
              <a:ext cx="1721" cy="238"/>
              <a:chOff x="1563" y="2672"/>
              <a:chExt cx="1721" cy="238"/>
            </a:xfrm>
          </p:grpSpPr>
          <p:sp>
            <p:nvSpPr>
              <p:cNvPr id="37" name="Line 48">
                <a:extLst>
                  <a:ext uri="{FF2B5EF4-FFF2-40B4-BE49-F238E27FC236}">
                    <a16:creationId xmlns:a16="http://schemas.microsoft.com/office/drawing/2014/main" id="{B391533F-9B42-ED6D-8A38-E672116CF9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3" y="2792"/>
                <a:ext cx="172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8" name="Line 50">
                <a:extLst>
                  <a:ext uri="{FF2B5EF4-FFF2-40B4-BE49-F238E27FC236}">
                    <a16:creationId xmlns:a16="http://schemas.microsoft.com/office/drawing/2014/main" id="{322A1482-7264-5473-3C0F-138C3D1D2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3" y="2790"/>
                <a:ext cx="32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39" name="Picture 49" descr="Image2">
                <a:extLst>
                  <a:ext uri="{FF2B5EF4-FFF2-40B4-BE49-F238E27FC236}">
                    <a16:creationId xmlns:a16="http://schemas.microsoft.com/office/drawing/2014/main" id="{AFA81592-E491-3317-1977-5EBAF22F2C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8" y="2672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aphicFrame>
          <p:nvGraphicFramePr>
            <p:cNvPr id="36" name="Object 51">
              <a:extLst>
                <a:ext uri="{FF2B5EF4-FFF2-40B4-BE49-F238E27FC236}">
                  <a16:creationId xmlns:a16="http://schemas.microsoft.com/office/drawing/2014/main" id="{30203A8F-4112-A2EB-59D8-21675CDCB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8" y="2792"/>
            <a:ext cx="22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26725" imgH="177415" progId="Equation.3">
                    <p:embed/>
                  </p:oleObj>
                </mc:Choice>
                <mc:Fallback>
                  <p:oleObj name="Ecuación" r:id="rId10" imgW="126725" imgH="177415" progId="Equation.3">
                    <p:embed/>
                    <p:pic>
                      <p:nvPicPr>
                        <p:cNvPr id="37" name="Object 51">
                          <a:extLst>
                            <a:ext uri="{FF2B5EF4-FFF2-40B4-BE49-F238E27FC236}">
                              <a16:creationId xmlns:a16="http://schemas.microsoft.com/office/drawing/2014/main" id="{AB04740D-DDE9-33AC-BA83-7601B88A9A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2792"/>
                          <a:ext cx="22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Group 116">
            <a:extLst>
              <a:ext uri="{FF2B5EF4-FFF2-40B4-BE49-F238E27FC236}">
                <a16:creationId xmlns:a16="http://schemas.microsoft.com/office/drawing/2014/main" id="{1DE67053-1FDA-E9AF-8C8F-5933C3CEA9EB}"/>
              </a:ext>
            </a:extLst>
          </p:cNvPr>
          <p:cNvGrpSpPr>
            <a:grpSpLocks/>
          </p:cNvGrpSpPr>
          <p:nvPr/>
        </p:nvGrpSpPr>
        <p:grpSpPr bwMode="auto">
          <a:xfrm>
            <a:off x="3699238" y="1825708"/>
            <a:ext cx="1141414" cy="836610"/>
            <a:chOff x="2435" y="2245"/>
            <a:chExt cx="719" cy="527"/>
          </a:xfrm>
        </p:grpSpPr>
        <p:graphicFrame>
          <p:nvGraphicFramePr>
            <p:cNvPr id="42" name="Object 39">
              <a:extLst>
                <a:ext uri="{FF2B5EF4-FFF2-40B4-BE49-F238E27FC236}">
                  <a16:creationId xmlns:a16="http://schemas.microsoft.com/office/drawing/2014/main" id="{C3981688-4CFB-5F0C-27A8-7E8DA550BE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6" y="2245"/>
            <a:ext cx="22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52268" imgH="203024" progId="Equation.3">
                    <p:embed/>
                  </p:oleObj>
                </mc:Choice>
                <mc:Fallback>
                  <p:oleObj name="Ecuación" r:id="rId12" imgW="152268" imgH="203024" progId="Equation.3">
                    <p:embed/>
                    <p:pic>
                      <p:nvPicPr>
                        <p:cNvPr id="2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2245"/>
                          <a:ext cx="22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9C81735F-2E7B-E4D6-8BC7-9319F37E6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5" y="2515"/>
              <a:ext cx="390" cy="257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2" name="Group 27">
            <a:extLst>
              <a:ext uri="{FF2B5EF4-FFF2-40B4-BE49-F238E27FC236}">
                <a16:creationId xmlns:a16="http://schemas.microsoft.com/office/drawing/2014/main" id="{1D28C4E6-F562-CE70-1958-550BD6FCED8F}"/>
              </a:ext>
            </a:extLst>
          </p:cNvPr>
          <p:cNvGrpSpPr>
            <a:grpSpLocks/>
          </p:cNvGrpSpPr>
          <p:nvPr/>
        </p:nvGrpSpPr>
        <p:grpSpPr bwMode="auto">
          <a:xfrm>
            <a:off x="3513138" y="1756693"/>
            <a:ext cx="681037" cy="908050"/>
            <a:chOff x="2323" y="2160"/>
            <a:chExt cx="429" cy="572"/>
          </a:xfrm>
        </p:grpSpPr>
        <p:sp>
          <p:nvSpPr>
            <p:cNvPr id="63" name="Line 28">
              <a:extLst>
                <a:ext uri="{FF2B5EF4-FFF2-40B4-BE49-F238E27FC236}">
                  <a16:creationId xmlns:a16="http://schemas.microsoft.com/office/drawing/2014/main" id="{04297993-9FB4-E842-4815-B702455DC8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3" y="2259"/>
              <a:ext cx="0" cy="473"/>
            </a:xfrm>
            <a:prstGeom prst="line">
              <a:avLst/>
            </a:prstGeom>
            <a:noFill/>
            <a:ln w="63500">
              <a:solidFill>
                <a:srgbClr val="8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42112" name="Object 29">
              <a:extLst>
                <a:ext uri="{FF2B5EF4-FFF2-40B4-BE49-F238E27FC236}">
                  <a16:creationId xmlns:a16="http://schemas.microsoft.com/office/drawing/2014/main" id="{3B1D1255-3568-1FF2-A078-1B539EFB8B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7" y="2160"/>
            <a:ext cx="325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190335" imgH="266469" progId="Equation.3">
                    <p:embed/>
                  </p:oleObj>
                </mc:Choice>
                <mc:Fallback>
                  <p:oleObj name="Ecuación" r:id="rId14" imgW="190335" imgH="266469" progId="Equation.3">
                    <p:embed/>
                    <p:pic>
                      <p:nvPicPr>
                        <p:cNvPr id="43" name="Object 29">
                          <a:extLst>
                            <a:ext uri="{FF2B5EF4-FFF2-40B4-BE49-F238E27FC236}">
                              <a16:creationId xmlns:a16="http://schemas.microsoft.com/office/drawing/2014/main" id="{B843D8B5-DE37-A28F-D820-968B23E04D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2160"/>
                          <a:ext cx="325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14">
            <a:extLst>
              <a:ext uri="{FF2B5EF4-FFF2-40B4-BE49-F238E27FC236}">
                <a16:creationId xmlns:a16="http://schemas.microsoft.com/office/drawing/2014/main" id="{F4B6EB04-1A80-316E-0356-C744CA0C3944}"/>
              </a:ext>
            </a:extLst>
          </p:cNvPr>
          <p:cNvGrpSpPr>
            <a:grpSpLocks/>
          </p:cNvGrpSpPr>
          <p:nvPr/>
        </p:nvGrpSpPr>
        <p:grpSpPr bwMode="auto">
          <a:xfrm>
            <a:off x="1797939" y="5680646"/>
            <a:ext cx="3270250" cy="979487"/>
            <a:chOff x="1231" y="758"/>
            <a:chExt cx="2060" cy="617"/>
          </a:xfrm>
        </p:grpSpPr>
        <p:sp>
          <p:nvSpPr>
            <p:cNvPr id="3" name="Rectangle 30">
              <a:extLst>
                <a:ext uri="{FF2B5EF4-FFF2-40B4-BE49-F238E27FC236}">
                  <a16:creationId xmlns:a16="http://schemas.microsoft.com/office/drawing/2014/main" id="{98532C2D-B656-673D-3FD2-6E051901B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758"/>
              <a:ext cx="2060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6" name="Object 31">
              <a:extLst>
                <a:ext uri="{FF2B5EF4-FFF2-40B4-BE49-F238E27FC236}">
                  <a16:creationId xmlns:a16="http://schemas.microsoft.com/office/drawing/2014/main" id="{AEE190F8-3D15-A347-F51E-B1F2F7319B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26" y="762"/>
            <a:ext cx="1879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6" imgW="850531" imgH="266584" progId="Equation.3">
                    <p:embed/>
                  </p:oleObj>
                </mc:Choice>
                <mc:Fallback>
                  <p:oleObj name="Ecuación" r:id="rId16" imgW="850531" imgH="266584" progId="Equation.3">
                    <p:embed/>
                    <p:pic>
                      <p:nvPicPr>
                        <p:cNvPr id="42109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762"/>
                          <a:ext cx="1879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8268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  <p:bldP spid="123" grpId="0" animBg="1"/>
      <p:bldP spid="48" grpId="0" animBg="1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479" name="Picture 7" descr="imagesCA2RLQO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082" y="1448559"/>
            <a:ext cx="3582987" cy="390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7487" name="Object 15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425580926"/>
              </p:ext>
            </p:extLst>
          </p:nvPr>
        </p:nvGraphicFramePr>
        <p:xfrm>
          <a:off x="3296207" y="4022261"/>
          <a:ext cx="3349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26725" imgH="177415" progId="Equation.3">
                  <p:embed/>
                </p:oleObj>
              </mc:Choice>
              <mc:Fallback>
                <p:oleObj name="Ecuación" r:id="rId4" imgW="126725" imgH="177415" progId="Equation.3">
                  <p:embed/>
                  <p:pic>
                    <p:nvPicPr>
                      <p:cNvPr id="617487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6207" y="4022261"/>
                        <a:ext cx="3349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4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65986"/>
              </p:ext>
            </p:extLst>
          </p:nvPr>
        </p:nvGraphicFramePr>
        <p:xfrm>
          <a:off x="3057094" y="3158296"/>
          <a:ext cx="50006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90335" imgH="266469" progId="Equation.3">
                  <p:embed/>
                </p:oleObj>
              </mc:Choice>
              <mc:Fallback>
                <p:oleObj name="Ecuación" r:id="rId6" imgW="190335" imgH="266469" progId="Equation.3">
                  <p:embed/>
                  <p:pic>
                    <p:nvPicPr>
                      <p:cNvPr id="6174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094" y="3158296"/>
                        <a:ext cx="500063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490" name="Text Box 18"/>
          <p:cNvSpPr txBox="1">
            <a:spLocks noChangeArrowheads="1"/>
          </p:cNvSpPr>
          <p:nvPr/>
        </p:nvSpPr>
        <p:spPr bwMode="auto">
          <a:xfrm>
            <a:off x="3912234" y="3654408"/>
            <a:ext cx="87425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q &gt; 0</a:t>
            </a:r>
          </a:p>
        </p:txBody>
      </p:sp>
      <p:grpSp>
        <p:nvGrpSpPr>
          <p:cNvPr id="617516" name="Group 44"/>
          <p:cNvGrpSpPr>
            <a:grpSpLocks/>
          </p:cNvGrpSpPr>
          <p:nvPr/>
        </p:nvGrpSpPr>
        <p:grpSpPr bwMode="auto">
          <a:xfrm>
            <a:off x="5180159" y="350988"/>
            <a:ext cx="2805112" cy="900113"/>
            <a:chOff x="4157" y="1070"/>
            <a:chExt cx="1767" cy="567"/>
          </a:xfrm>
        </p:grpSpPr>
        <p:sp>
          <p:nvSpPr>
            <p:cNvPr id="44090" name="Rectangle 20"/>
            <p:cNvSpPr>
              <a:spLocks noChangeArrowheads="1"/>
            </p:cNvSpPr>
            <p:nvPr/>
          </p:nvSpPr>
          <p:spPr bwMode="auto">
            <a:xfrm>
              <a:off x="4157" y="1070"/>
              <a:ext cx="1767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5" name="Object 21"/>
            <p:cNvGraphicFramePr>
              <a:graphicFrameLocks noChangeAspect="1"/>
            </p:cNvGraphicFramePr>
            <p:nvPr/>
          </p:nvGraphicFramePr>
          <p:xfrm>
            <a:off x="4201" y="1076"/>
            <a:ext cx="1701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850531" imgH="266584" progId="Equation.3">
                    <p:embed/>
                  </p:oleObj>
                </mc:Choice>
                <mc:Fallback>
                  <p:oleObj name="Ecuación" r:id="rId8" imgW="850531" imgH="266584" progId="Equation.3">
                    <p:embed/>
                    <p:pic>
                      <p:nvPicPr>
                        <p:cNvPr id="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" y="1076"/>
                          <a:ext cx="1701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494" name="Text Box 22"/>
          <p:cNvSpPr txBox="1">
            <a:spLocks noChangeArrowheads="1"/>
          </p:cNvSpPr>
          <p:nvPr/>
        </p:nvSpPr>
        <p:spPr bwMode="auto">
          <a:xfrm>
            <a:off x="5089257" y="2463222"/>
            <a:ext cx="5226409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 Si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q &lt; 0</a:t>
            </a:r>
            <a:r>
              <a:rPr lang="es-ES" sz="2400" dirty="0">
                <a:sym typeface="Symbol" panose="05050102010706020507" pitchFamily="18" charset="2"/>
              </a:rPr>
              <a:t> provoca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un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giro antihorario</a:t>
            </a:r>
          </a:p>
        </p:txBody>
      </p:sp>
      <p:grpSp>
        <p:nvGrpSpPr>
          <p:cNvPr id="617522" name="Group 50"/>
          <p:cNvGrpSpPr>
            <a:grpSpLocks/>
          </p:cNvGrpSpPr>
          <p:nvPr/>
        </p:nvGrpSpPr>
        <p:grpSpPr bwMode="auto">
          <a:xfrm>
            <a:off x="2152219" y="3399596"/>
            <a:ext cx="855663" cy="528638"/>
            <a:chOff x="1634" y="2264"/>
            <a:chExt cx="539" cy="333"/>
          </a:xfrm>
        </p:grpSpPr>
        <p:sp>
          <p:nvSpPr>
            <p:cNvPr id="44077" name="Line 47"/>
            <p:cNvSpPr>
              <a:spLocks noChangeShapeType="1"/>
            </p:cNvSpPr>
            <p:nvPr/>
          </p:nvSpPr>
          <p:spPr bwMode="auto">
            <a:xfrm flipH="1" flipV="1">
              <a:off x="1634" y="2390"/>
              <a:ext cx="277" cy="13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4078" name="Line 49"/>
            <p:cNvSpPr>
              <a:spLocks noChangeShapeType="1"/>
            </p:cNvSpPr>
            <p:nvPr/>
          </p:nvSpPr>
          <p:spPr bwMode="auto">
            <a:xfrm rot="5400000" flipH="1" flipV="1">
              <a:off x="1921" y="2269"/>
              <a:ext cx="257" cy="24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4080" name="Oval 48"/>
            <p:cNvSpPr>
              <a:spLocks noChangeArrowheads="1"/>
            </p:cNvSpPr>
            <p:nvPr/>
          </p:nvSpPr>
          <p:spPr bwMode="auto">
            <a:xfrm>
              <a:off x="1864" y="2461"/>
              <a:ext cx="136" cy="136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sp>
        <p:nvSpPr>
          <p:cNvPr id="44071" name="Text Box 60"/>
          <p:cNvSpPr txBox="1">
            <a:spLocks noChangeArrowheads="1"/>
          </p:cNvSpPr>
          <p:nvPr/>
        </p:nvSpPr>
        <p:spPr bwMode="auto">
          <a:xfrm>
            <a:off x="5348505" y="4388772"/>
            <a:ext cx="5018531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s-ES" sz="2400">
                <a:solidFill>
                  <a:schemeClr val="tx1"/>
                </a:solidFill>
              </a:rPr>
              <a:t>El módulo de</a:t>
            </a:r>
            <a:r>
              <a:rPr lang="es-ES" sz="2400" b="1">
                <a:solidFill>
                  <a:schemeClr val="tx1"/>
                </a:solidFill>
              </a:rPr>
              <a:t> 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no cambia y</a:t>
            </a:r>
            <a:r>
              <a:rPr lang="es-ES" sz="2400" b="1">
                <a:solidFill>
                  <a:schemeClr val="tx1"/>
                </a:solidFill>
              </a:rPr>
              <a:t> 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endParaRPr lang="es-ES" sz="2400">
              <a:solidFill>
                <a:schemeClr val="tx1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     provoca el mismo giro cada vez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44068" name="Text Box 26"/>
          <p:cNvSpPr txBox="1">
            <a:spLocks noChangeArrowheads="1"/>
          </p:cNvSpPr>
          <p:nvPr/>
        </p:nvSpPr>
        <p:spPr bwMode="auto">
          <a:xfrm>
            <a:off x="1395065" y="6317482"/>
            <a:ext cx="8745504" cy="5365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Se produce un Movimiento Circular Uniforme </a:t>
            </a:r>
            <a:r>
              <a:rPr lang="es-ES" sz="2400" dirty="0">
                <a:solidFill>
                  <a:srgbClr val="3333FF"/>
                </a:solidFill>
              </a:rPr>
              <a:t>(MCU) </a:t>
            </a:r>
            <a:r>
              <a:rPr lang="es-ES" sz="2400" dirty="0">
                <a:solidFill>
                  <a:schemeClr val="tx1"/>
                </a:solidFill>
              </a:rPr>
              <a:t>de radio R</a:t>
            </a:r>
          </a:p>
        </p:txBody>
      </p:sp>
      <p:sp>
        <p:nvSpPr>
          <p:cNvPr id="617534" name="Text Box 62"/>
          <p:cNvSpPr txBox="1">
            <a:spLocks noChangeArrowheads="1"/>
          </p:cNvSpPr>
          <p:nvPr/>
        </p:nvSpPr>
        <p:spPr bwMode="auto">
          <a:xfrm>
            <a:off x="8129734" y="351044"/>
            <a:ext cx="2030412" cy="90000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 anchor="ctr" anchorCtr="1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dirty="0"/>
              <a:t>F</a:t>
            </a:r>
            <a:r>
              <a:rPr lang="es-ES" sz="3200" b="1" baseline="-25000" dirty="0"/>
              <a:t>B</a:t>
            </a:r>
            <a:r>
              <a:rPr lang="es-ES" sz="3200" dirty="0"/>
              <a:t>=|</a:t>
            </a:r>
            <a:r>
              <a:rPr lang="es-ES" sz="3200" dirty="0" err="1"/>
              <a:t>q|v</a:t>
            </a:r>
            <a:r>
              <a:rPr lang="es-ES" sz="3200" baseline="-25000" dirty="0" err="1">
                <a:sym typeface="Symbol" panose="05050102010706020507" pitchFamily="18" charset="2"/>
              </a:rPr>
              <a:t></a:t>
            </a:r>
            <a:r>
              <a:rPr lang="es-ES" sz="3200" dirty="0" err="1"/>
              <a:t>B</a:t>
            </a:r>
            <a:endParaRPr lang="es-ES" sz="3200" dirty="0"/>
          </a:p>
        </p:txBody>
      </p:sp>
      <p:grpSp>
        <p:nvGrpSpPr>
          <p:cNvPr id="617539" name="Group 67"/>
          <p:cNvGrpSpPr>
            <a:grpSpLocks/>
          </p:cNvGrpSpPr>
          <p:nvPr/>
        </p:nvGrpSpPr>
        <p:grpSpPr bwMode="auto">
          <a:xfrm>
            <a:off x="9719273" y="1089711"/>
            <a:ext cx="557215" cy="660402"/>
            <a:chOff x="5864" y="-230"/>
            <a:chExt cx="351" cy="416"/>
          </a:xfrm>
        </p:grpSpPr>
        <p:sp>
          <p:nvSpPr>
            <p:cNvPr id="44075" name="Line 63"/>
            <p:cNvSpPr>
              <a:spLocks noChangeShapeType="1"/>
            </p:cNvSpPr>
            <p:nvPr/>
          </p:nvSpPr>
          <p:spPr bwMode="auto">
            <a:xfrm>
              <a:off x="5864" y="-221"/>
              <a:ext cx="107" cy="1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4076" name="Text Box 64"/>
            <p:cNvSpPr txBox="1">
              <a:spLocks noChangeArrowheads="1"/>
            </p:cNvSpPr>
            <p:nvPr/>
          </p:nvSpPr>
          <p:spPr bwMode="auto">
            <a:xfrm>
              <a:off x="5971" y="-230"/>
              <a:ext cx="244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sp>
        <p:nvSpPr>
          <p:cNvPr id="44063" name="Text Box 23"/>
          <p:cNvSpPr txBox="1">
            <a:spLocks noChangeArrowheads="1"/>
          </p:cNvSpPr>
          <p:nvPr/>
        </p:nvSpPr>
        <p:spPr bwMode="auto">
          <a:xfrm>
            <a:off x="5090843" y="3058937"/>
            <a:ext cx="451206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ym typeface="Symbol" panose="05050102010706020507" pitchFamily="18" charset="2"/>
              </a:rPr>
              <a:t> Como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ym typeface="Symbol" panose="05050102010706020507" pitchFamily="18" charset="2"/>
              </a:rPr>
              <a:t> siempre es </a:t>
            </a:r>
            <a:r>
              <a:rPr lang="es-ES" sz="2400">
                <a:sym typeface="Symbol" panose="05050102010706020507" pitchFamily="18" charset="2"/>
              </a:rPr>
              <a:t> a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>
                <a:sym typeface="Symbol" panose="05050102010706020507" pitchFamily="18" charset="2"/>
              </a:rPr>
              <a:t>: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2220482" y="2726496"/>
            <a:ext cx="587375" cy="569913"/>
            <a:chOff x="2662504" y="2921000"/>
            <a:chExt cx="587109" cy="569913"/>
          </a:xfrm>
        </p:grpSpPr>
        <p:grpSp>
          <p:nvGrpSpPr>
            <p:cNvPr id="44067" name="Group 59"/>
            <p:cNvGrpSpPr>
              <a:grpSpLocks/>
            </p:cNvGrpSpPr>
            <p:nvPr/>
          </p:nvGrpSpPr>
          <p:grpSpPr bwMode="auto">
            <a:xfrm>
              <a:off x="2703513" y="2921000"/>
              <a:ext cx="546100" cy="569913"/>
              <a:chOff x="1703" y="1840"/>
              <a:chExt cx="344" cy="359"/>
            </a:xfrm>
          </p:grpSpPr>
          <p:sp>
            <p:nvSpPr>
              <p:cNvPr id="6" name="Line 56"/>
              <p:cNvSpPr>
                <a:spLocks noChangeShapeType="1"/>
              </p:cNvSpPr>
              <p:nvPr/>
            </p:nvSpPr>
            <p:spPr bwMode="auto">
              <a:xfrm rot="3858810" flipH="1" flipV="1">
                <a:off x="1794" y="1749"/>
                <a:ext cx="109" cy="29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4072" name="Line 57"/>
              <p:cNvSpPr>
                <a:spLocks noChangeShapeType="1"/>
              </p:cNvSpPr>
              <p:nvPr/>
            </p:nvSpPr>
            <p:spPr bwMode="auto">
              <a:xfrm rot="9258810" flipH="1" flipV="1">
                <a:off x="1790" y="1952"/>
                <a:ext cx="257" cy="24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5" name="Oval 48"/>
            <p:cNvSpPr>
              <a:spLocks noChangeArrowheads="1"/>
            </p:cNvSpPr>
            <p:nvPr/>
          </p:nvSpPr>
          <p:spPr bwMode="auto">
            <a:xfrm>
              <a:off x="2662504" y="3083046"/>
              <a:ext cx="215900" cy="215900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3215844" y="2631246"/>
            <a:ext cx="874713" cy="539750"/>
            <a:chOff x="3657600" y="2825177"/>
            <a:chExt cx="874713" cy="540319"/>
          </a:xfrm>
        </p:grpSpPr>
        <p:grpSp>
          <p:nvGrpSpPr>
            <p:cNvPr id="7" name="Group 51"/>
            <p:cNvGrpSpPr>
              <a:grpSpLocks/>
            </p:cNvGrpSpPr>
            <p:nvPr/>
          </p:nvGrpSpPr>
          <p:grpSpPr bwMode="auto">
            <a:xfrm flipH="1" flipV="1">
              <a:off x="3657600" y="2935283"/>
              <a:ext cx="874713" cy="430213"/>
              <a:chOff x="1622" y="2264"/>
              <a:chExt cx="551" cy="271"/>
            </a:xfrm>
          </p:grpSpPr>
          <p:sp>
            <p:nvSpPr>
              <p:cNvPr id="44065" name="Line 52"/>
              <p:cNvSpPr>
                <a:spLocks noChangeShapeType="1"/>
              </p:cNvSpPr>
              <p:nvPr/>
            </p:nvSpPr>
            <p:spPr bwMode="auto">
              <a:xfrm flipH="1" flipV="1">
                <a:off x="1622" y="2402"/>
                <a:ext cx="277" cy="133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44066" name="Line 53"/>
              <p:cNvSpPr>
                <a:spLocks noChangeShapeType="1"/>
              </p:cNvSpPr>
              <p:nvPr/>
            </p:nvSpPr>
            <p:spPr bwMode="auto">
              <a:xfrm rot="5400000" flipH="1" flipV="1">
                <a:off x="1921" y="2269"/>
                <a:ext cx="257" cy="24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66" name="Oval 48"/>
            <p:cNvSpPr>
              <a:spLocks noChangeArrowheads="1"/>
            </p:cNvSpPr>
            <p:nvPr/>
          </p:nvSpPr>
          <p:spPr bwMode="auto">
            <a:xfrm>
              <a:off x="3960019" y="2825177"/>
              <a:ext cx="215900" cy="215900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sp>
        <p:nvSpPr>
          <p:cNvPr id="70" name="Text Box 23"/>
          <p:cNvSpPr txBox="1">
            <a:spLocks noChangeArrowheads="1"/>
          </p:cNvSpPr>
          <p:nvPr/>
        </p:nvSpPr>
        <p:spPr bwMode="auto">
          <a:xfrm>
            <a:off x="5363894" y="3552918"/>
            <a:ext cx="4778375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dirty="0">
                <a:sym typeface="Symbol" panose="05050102010706020507" pitchFamily="18" charset="2"/>
              </a:rPr>
              <a:t> N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o trabaja, no varía la E</a:t>
            </a:r>
            <a:r>
              <a:rPr lang="es-ES" sz="24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de q,</a:t>
            </a:r>
          </a:p>
          <a:p>
            <a:pPr eaLnBrk="1" hangingPunct="1"/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   no cambia el módulo de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BEE8DE8-46BD-489D-BE8C-57AB2146B667}"/>
              </a:ext>
            </a:extLst>
          </p:cNvPr>
          <p:cNvGrpSpPr/>
          <p:nvPr/>
        </p:nvGrpSpPr>
        <p:grpSpPr>
          <a:xfrm>
            <a:off x="1303871" y="350985"/>
            <a:ext cx="3674808" cy="900118"/>
            <a:chOff x="1282099" y="350985"/>
            <a:chExt cx="3674808" cy="900118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71B2F7E-E377-42E9-A3F8-ACC58B8FF53E}"/>
                </a:ext>
              </a:extLst>
            </p:cNvPr>
            <p:cNvSpPr/>
            <p:nvPr/>
          </p:nvSpPr>
          <p:spPr bwMode="auto">
            <a:xfrm>
              <a:off x="1282099" y="462952"/>
              <a:ext cx="3665904" cy="67618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091" name="Text Box 12"/>
            <p:cNvSpPr txBox="1">
              <a:spLocks noChangeArrowheads="1"/>
            </p:cNvSpPr>
            <p:nvPr/>
          </p:nvSpPr>
          <p:spPr bwMode="auto">
            <a:xfrm>
              <a:off x="1333543" y="350985"/>
              <a:ext cx="1963812" cy="900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s-ES" sz="2400" dirty="0">
                  <a:solidFill>
                    <a:schemeClr val="tx1"/>
                  </a:solidFill>
                </a:rPr>
                <a:t>Si  v</a:t>
              </a:r>
              <a:r>
                <a:rPr lang="es-ES" sz="2800" dirty="0">
                  <a:solidFill>
                    <a:schemeClr val="tx1"/>
                  </a:solidFill>
                </a:rPr>
                <a:t> </a:t>
              </a: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      y</a:t>
              </a:r>
              <a:r>
                <a:rPr lang="es-ES" dirty="0">
                  <a:solidFill>
                    <a:schemeClr val="tx1"/>
                  </a:solidFill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44092" name="Line 13"/>
            <p:cNvSpPr>
              <a:spLocks noChangeShapeType="1"/>
            </p:cNvSpPr>
            <p:nvPr/>
          </p:nvSpPr>
          <p:spPr bwMode="auto">
            <a:xfrm>
              <a:off x="1854666" y="722150"/>
              <a:ext cx="206621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defRPr/>
              </a:pPr>
              <a:endParaRPr lang="es-ES" dirty="0"/>
            </a:p>
          </p:txBody>
        </p:sp>
        <p:grpSp>
          <p:nvGrpSpPr>
            <p:cNvPr id="4" name="Grupo 3"/>
            <p:cNvGrpSpPr>
              <a:grpSpLocks/>
            </p:cNvGrpSpPr>
            <p:nvPr/>
          </p:nvGrpSpPr>
          <p:grpSpPr bwMode="auto">
            <a:xfrm>
              <a:off x="3042094" y="472306"/>
              <a:ext cx="1914813" cy="593418"/>
              <a:chOff x="952070" y="1236419"/>
              <a:chExt cx="1914073" cy="593441"/>
            </a:xfrm>
          </p:grpSpPr>
          <p:sp>
            <p:nvSpPr>
              <p:cNvPr id="44059" name="Text Box 8"/>
              <p:cNvSpPr txBox="1">
                <a:spLocks noChangeArrowheads="1"/>
              </p:cNvSpPr>
              <p:nvPr/>
            </p:nvSpPr>
            <p:spPr bwMode="auto">
              <a:xfrm>
                <a:off x="1246619" y="1293291"/>
                <a:ext cx="1619524" cy="5365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008000"/>
                    </a:solidFill>
                  </a:rPr>
                  <a:t>(uniforme)</a:t>
                </a:r>
              </a:p>
            </p:txBody>
          </p:sp>
          <p:graphicFrame>
            <p:nvGraphicFramePr>
              <p:cNvPr id="44060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9789743"/>
                  </p:ext>
                </p:extLst>
              </p:nvPr>
            </p:nvGraphicFramePr>
            <p:xfrm>
              <a:off x="952070" y="1236419"/>
              <a:ext cx="380925" cy="5073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52268" imgH="203024" progId="Equation.3">
                      <p:embed/>
                    </p:oleObj>
                  </mc:Choice>
                  <mc:Fallback>
                    <p:oleObj name="Ecuación" r:id="rId10" imgW="152268" imgH="203024" progId="Equation.3">
                      <p:embed/>
                      <p:pic>
                        <p:nvPicPr>
                          <p:cNvPr id="4406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2070" y="1236419"/>
                            <a:ext cx="380925" cy="5073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3" name="Object 16">
              <a:extLst>
                <a:ext uri="{FF2B5EF4-FFF2-40B4-BE49-F238E27FC236}">
                  <a16:creationId xmlns:a16="http://schemas.microsoft.com/office/drawing/2014/main" id="{711CE4DB-7012-4941-92B4-79C51420D5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037830"/>
                </p:ext>
              </p:extLst>
            </p:nvPr>
          </p:nvGraphicFramePr>
          <p:xfrm>
            <a:off x="2345337" y="490702"/>
            <a:ext cx="381072" cy="507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52268" imgH="203024" progId="Equation.3">
                    <p:embed/>
                  </p:oleObj>
                </mc:Choice>
                <mc:Fallback>
                  <p:oleObj name="Ecuación" r:id="rId10" imgW="152268" imgH="203024" progId="Equation.3">
                    <p:embed/>
                    <p:pic>
                      <p:nvPicPr>
                        <p:cNvPr id="53" name="Object 16">
                          <a:extLst>
                            <a:ext uri="{FF2B5EF4-FFF2-40B4-BE49-F238E27FC236}">
                              <a16:creationId xmlns:a16="http://schemas.microsoft.com/office/drawing/2014/main" id="{711CE4DB-7012-4941-92B4-79C51420D5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5337" y="490702"/>
                          <a:ext cx="381072" cy="507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" name="Text Box 23">
            <a:extLst>
              <a:ext uri="{FF2B5EF4-FFF2-40B4-BE49-F238E27FC236}">
                <a16:creationId xmlns:a16="http://schemas.microsoft.com/office/drawing/2014/main" id="{73A3D707-2C73-4BC1-AF07-35656238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8012" y="1602279"/>
            <a:ext cx="5467034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 Con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q &gt; 0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ym typeface="Symbol" panose="05050102010706020507" pitchFamily="18" charset="2"/>
              </a:rPr>
              <a:t> provoca un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giro horario </a:t>
            </a:r>
            <a:r>
              <a:rPr lang="es-ES" sz="2400" dirty="0">
                <a:sym typeface="Symbol" panose="05050102010706020507" pitchFamily="18" charset="2"/>
              </a:rPr>
              <a:t>al cambiar la dirección del movimiento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0314B3-1E25-4EE5-ABC6-E69449C207A4}"/>
              </a:ext>
            </a:extLst>
          </p:cNvPr>
          <p:cNvSpPr/>
          <p:nvPr/>
        </p:nvSpPr>
        <p:spPr bwMode="auto">
          <a:xfrm>
            <a:off x="1302950" y="4907593"/>
            <a:ext cx="3582988" cy="47139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Text Box 23"/>
          <p:cNvSpPr txBox="1">
            <a:spLocks noChangeArrowheads="1"/>
          </p:cNvSpPr>
          <p:nvPr/>
        </p:nvSpPr>
        <p:spPr bwMode="auto">
          <a:xfrm>
            <a:off x="1309003" y="5378231"/>
            <a:ext cx="9276520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ym typeface="Symbol" panose="05050102010706020507" pitchFamily="18" charset="2"/>
              </a:rPr>
              <a:t>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En estas condiciones, y al mantenerse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ym typeface="Symbol" panose="05050102010706020507" pitchFamily="18" charset="2"/>
              </a:rPr>
              <a:t>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no lo altera, q describe una circunferencia. La dirección de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pasa por su centro</a:t>
            </a:r>
          </a:p>
        </p:txBody>
      </p:sp>
      <p:grpSp>
        <p:nvGrpSpPr>
          <p:cNvPr id="11" name="Grupo 10"/>
          <p:cNvGrpSpPr/>
          <p:nvPr/>
        </p:nvGrpSpPr>
        <p:grpSpPr>
          <a:xfrm rot="15298235">
            <a:off x="4173434" y="4650584"/>
            <a:ext cx="554348" cy="558738"/>
            <a:chOff x="626557" y="4492091"/>
            <a:chExt cx="554348" cy="558738"/>
          </a:xfrm>
        </p:grpSpPr>
        <p:sp>
          <p:nvSpPr>
            <p:cNvPr id="10" name="Rectángulo 9"/>
            <p:cNvSpPr/>
            <p:nvPr/>
          </p:nvSpPr>
          <p:spPr bwMode="auto">
            <a:xfrm rot="2800461">
              <a:off x="624362" y="4494286"/>
              <a:ext cx="558738" cy="554348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617499" name="Group 27"/>
            <p:cNvGrpSpPr>
              <a:grpSpLocks/>
            </p:cNvGrpSpPr>
            <p:nvPr/>
          </p:nvGrpSpPr>
          <p:grpSpPr bwMode="auto">
            <a:xfrm rot="19791021" flipV="1">
              <a:off x="682418" y="4564777"/>
              <a:ext cx="407987" cy="422275"/>
              <a:chOff x="1240" y="3526"/>
              <a:chExt cx="257" cy="266"/>
            </a:xfrm>
          </p:grpSpPr>
          <p:sp>
            <p:nvSpPr>
              <p:cNvPr id="44087" name="Line 28"/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8" name="Line 29"/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9" name="Oval 30"/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7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1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1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7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7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3" dur="500"/>
                                        <p:tgtEl>
                                          <p:spTgt spid="61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1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17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17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9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90" grpId="0"/>
      <p:bldP spid="617494" grpId="0"/>
      <p:bldP spid="44071" grpId="0"/>
      <p:bldP spid="44068" grpId="0" animBg="1"/>
      <p:bldP spid="617534" grpId="0" animBg="1"/>
      <p:bldP spid="44063" grpId="0"/>
      <p:bldP spid="70" grpId="0"/>
      <p:bldP spid="56" grpId="0"/>
      <p:bldP spid="14" grpId="0" animBg="1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516" name="Group 44"/>
          <p:cNvGrpSpPr>
            <a:grpSpLocks/>
          </p:cNvGrpSpPr>
          <p:nvPr/>
        </p:nvGrpSpPr>
        <p:grpSpPr bwMode="auto">
          <a:xfrm>
            <a:off x="5180159" y="350988"/>
            <a:ext cx="2805112" cy="900113"/>
            <a:chOff x="4157" y="1070"/>
            <a:chExt cx="1767" cy="567"/>
          </a:xfrm>
        </p:grpSpPr>
        <p:sp>
          <p:nvSpPr>
            <p:cNvPr id="44090" name="Rectangle 20"/>
            <p:cNvSpPr>
              <a:spLocks noChangeArrowheads="1"/>
            </p:cNvSpPr>
            <p:nvPr/>
          </p:nvSpPr>
          <p:spPr bwMode="auto">
            <a:xfrm>
              <a:off x="4157" y="1070"/>
              <a:ext cx="1767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5" name="Object 21"/>
            <p:cNvGraphicFramePr>
              <a:graphicFrameLocks noChangeAspect="1"/>
            </p:cNvGraphicFramePr>
            <p:nvPr/>
          </p:nvGraphicFramePr>
          <p:xfrm>
            <a:off x="4201" y="1076"/>
            <a:ext cx="1701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50531" imgH="266584" progId="Equation.3">
                    <p:embed/>
                  </p:oleObj>
                </mc:Choice>
                <mc:Fallback>
                  <p:oleObj name="Ecuación" r:id="rId3" imgW="850531" imgH="266584" progId="Equation.3">
                    <p:embed/>
                    <p:pic>
                      <p:nvPicPr>
                        <p:cNvPr id="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" y="1076"/>
                          <a:ext cx="1701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7534" name="Text Box 62"/>
          <p:cNvSpPr txBox="1">
            <a:spLocks noChangeArrowheads="1"/>
          </p:cNvSpPr>
          <p:nvPr/>
        </p:nvSpPr>
        <p:spPr bwMode="auto">
          <a:xfrm>
            <a:off x="8129734" y="351044"/>
            <a:ext cx="2030412" cy="90000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 anchor="ctr" anchorCtr="1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3200" dirty="0"/>
              <a:t>F</a:t>
            </a:r>
            <a:r>
              <a:rPr lang="es-ES" sz="3200" b="1" baseline="-25000" dirty="0"/>
              <a:t>B</a:t>
            </a:r>
            <a:r>
              <a:rPr lang="es-ES" sz="3200" dirty="0"/>
              <a:t>=|</a:t>
            </a:r>
            <a:r>
              <a:rPr lang="es-ES" sz="3200" dirty="0" err="1"/>
              <a:t>q|v</a:t>
            </a:r>
            <a:r>
              <a:rPr lang="es-ES" sz="3200" baseline="-25000" dirty="0" err="1">
                <a:sym typeface="Symbol" panose="05050102010706020507" pitchFamily="18" charset="2"/>
              </a:rPr>
              <a:t></a:t>
            </a:r>
            <a:r>
              <a:rPr lang="es-ES" sz="3200" dirty="0" err="1"/>
              <a:t>B</a:t>
            </a:r>
            <a:endParaRPr lang="es-ES" sz="3200" dirty="0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F4E5CD32-E678-487E-BCEB-99B83F3E3013}"/>
              </a:ext>
            </a:extLst>
          </p:cNvPr>
          <p:cNvGrpSpPr/>
          <p:nvPr/>
        </p:nvGrpSpPr>
        <p:grpSpPr>
          <a:xfrm>
            <a:off x="4864875" y="1431160"/>
            <a:ext cx="1425726" cy="604728"/>
            <a:chOff x="1476617" y="383817"/>
            <a:chExt cx="1425726" cy="604728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981702CC-F29F-4DC8-8791-EE22AAD16DEB}"/>
                </a:ext>
              </a:extLst>
            </p:cNvPr>
            <p:cNvSpPr/>
            <p:nvPr/>
          </p:nvSpPr>
          <p:spPr bwMode="auto">
            <a:xfrm>
              <a:off x="1809750" y="383817"/>
              <a:ext cx="742950" cy="60472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4AEB98DA-B6A3-4147-8A01-E03A01831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6617" y="424913"/>
              <a:ext cx="14257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s-ES" sz="2400">
                  <a:solidFill>
                    <a:schemeClr val="tx1"/>
                  </a:solidFill>
                </a:rPr>
                <a:t>¿R?</a:t>
              </a:r>
              <a:endParaRPr lang="es-ES" sz="2400" baseline="-25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8E8D326-CF4C-4262-88A0-CA87D5E3670A}"/>
              </a:ext>
            </a:extLst>
          </p:cNvPr>
          <p:cNvSpPr txBox="1"/>
          <p:nvPr/>
        </p:nvSpPr>
        <p:spPr>
          <a:xfrm>
            <a:off x="5178669" y="2222310"/>
            <a:ext cx="4941149" cy="243410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En un </a:t>
            </a:r>
            <a:r>
              <a:rPr lang="es-ES" sz="2400" b="1" dirty="0">
                <a:solidFill>
                  <a:schemeClr val="tx1"/>
                </a:solidFill>
              </a:rPr>
              <a:t>MCU</a:t>
            </a:r>
            <a:r>
              <a:rPr lang="es-ES" sz="2400" dirty="0">
                <a:solidFill>
                  <a:schemeClr val="tx1"/>
                </a:solidFill>
              </a:rPr>
              <a:t> no hay aceleración tangencial (en la dirección del movimiento), porque el módulo    de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no cambia, pero sí normal (en la dirección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</a:rPr>
              <a:t> a él), porque    </a:t>
            </a:r>
            <a:r>
              <a:rPr lang="es-ES" sz="2400">
                <a:solidFill>
                  <a:schemeClr val="tx1"/>
                </a:solidFill>
              </a:rPr>
              <a:t>la dirección de </a:t>
            </a:r>
            <a:r>
              <a:rPr lang="es-ES" sz="2400" b="1">
                <a:solidFill>
                  <a:schemeClr val="tx1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sí cambia </a:t>
            </a:r>
          </a:p>
        </p:txBody>
      </p:sp>
      <p:sp>
        <p:nvSpPr>
          <p:cNvPr id="54" name="Text Box 31">
            <a:extLst>
              <a:ext uri="{FF2B5EF4-FFF2-40B4-BE49-F238E27FC236}">
                <a16:creationId xmlns:a16="http://schemas.microsoft.com/office/drawing/2014/main" id="{466051C9-A06A-44FA-A319-F07D6A485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6160" y="4974644"/>
            <a:ext cx="1760716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= m v</a:t>
            </a:r>
            <a:r>
              <a:rPr lang="es-ES" sz="2800" baseline="30000" dirty="0"/>
              <a:t>2</a:t>
            </a:r>
            <a:r>
              <a:rPr lang="es-ES" sz="2800" dirty="0"/>
              <a:t> / R</a:t>
            </a:r>
          </a:p>
        </p:txBody>
      </p:sp>
      <p:grpSp>
        <p:nvGrpSpPr>
          <p:cNvPr id="57" name="Group 75">
            <a:extLst>
              <a:ext uri="{FF2B5EF4-FFF2-40B4-BE49-F238E27FC236}">
                <a16:creationId xmlns:a16="http://schemas.microsoft.com/office/drawing/2014/main" id="{8C1D60F5-3B38-4CDF-B9FA-6639A1F646EB}"/>
              </a:ext>
            </a:extLst>
          </p:cNvPr>
          <p:cNvGrpSpPr>
            <a:grpSpLocks/>
          </p:cNvGrpSpPr>
          <p:nvPr/>
        </p:nvGrpSpPr>
        <p:grpSpPr bwMode="auto">
          <a:xfrm>
            <a:off x="6721618" y="5676946"/>
            <a:ext cx="1871661" cy="1138239"/>
            <a:chOff x="3790" y="3686"/>
            <a:chExt cx="1179" cy="717"/>
          </a:xfrm>
        </p:grpSpPr>
        <p:sp>
          <p:nvSpPr>
            <p:cNvPr id="58" name="Rectangle 33">
              <a:extLst>
                <a:ext uri="{FF2B5EF4-FFF2-40B4-BE49-F238E27FC236}">
                  <a16:creationId xmlns:a16="http://schemas.microsoft.com/office/drawing/2014/main" id="{2044095A-0D17-4A8C-A697-636135417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0" y="3735"/>
              <a:ext cx="1179" cy="66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no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800"/>
            </a:p>
          </p:txBody>
        </p:sp>
        <p:sp>
          <p:nvSpPr>
            <p:cNvPr id="59" name="Text Box 34">
              <a:extLst>
                <a:ext uri="{FF2B5EF4-FFF2-40B4-BE49-F238E27FC236}">
                  <a16:creationId xmlns:a16="http://schemas.microsoft.com/office/drawing/2014/main" id="{5AC56C9E-AD81-4DE4-8D56-71218B56A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5" y="3857"/>
              <a:ext cx="585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/>
                <a:t>R = </a:t>
              </a:r>
            </a:p>
          </p:txBody>
        </p:sp>
        <p:sp>
          <p:nvSpPr>
            <p:cNvPr id="60" name="Line 35">
              <a:extLst>
                <a:ext uri="{FF2B5EF4-FFF2-40B4-BE49-F238E27FC236}">
                  <a16:creationId xmlns:a16="http://schemas.microsoft.com/office/drawing/2014/main" id="{727005AA-E6E0-4DE0-8DE1-77E22B5B6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4041"/>
              <a:ext cx="4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800"/>
            </a:p>
          </p:txBody>
        </p:sp>
        <p:sp>
          <p:nvSpPr>
            <p:cNvPr id="61" name="Text Box 36">
              <a:extLst>
                <a:ext uri="{FF2B5EF4-FFF2-40B4-BE49-F238E27FC236}">
                  <a16:creationId xmlns:a16="http://schemas.microsoft.com/office/drawing/2014/main" id="{DC2D3093-E1C9-45DB-A972-607F484DA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" y="3686"/>
              <a:ext cx="47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/>
                <a:t>m v</a:t>
              </a:r>
            </a:p>
          </p:txBody>
        </p:sp>
        <p:sp>
          <p:nvSpPr>
            <p:cNvPr id="62" name="Text Box 37">
              <a:extLst>
                <a:ext uri="{FF2B5EF4-FFF2-40B4-BE49-F238E27FC236}">
                  <a16:creationId xmlns:a16="http://schemas.microsoft.com/office/drawing/2014/main" id="{249E1DC6-B32D-4375-A83C-035298A48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1" y="4015"/>
              <a:ext cx="508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/>
                <a:t>|q|B</a:t>
              </a:r>
            </a:p>
          </p:txBody>
        </p:sp>
      </p:grpSp>
      <p:sp>
        <p:nvSpPr>
          <p:cNvPr id="63" name="Text Box 31">
            <a:extLst>
              <a:ext uri="{FF2B5EF4-FFF2-40B4-BE49-F238E27FC236}">
                <a16:creationId xmlns:a16="http://schemas.microsoft.com/office/drawing/2014/main" id="{F1531ABE-9BCF-4C90-8760-F5C8BF05F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137" y="4951234"/>
            <a:ext cx="2300928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F</a:t>
            </a:r>
            <a:r>
              <a:rPr lang="es-ES" sz="2800" b="1" baseline="-25000" dirty="0"/>
              <a:t>B</a:t>
            </a:r>
            <a:r>
              <a:rPr lang="es-ES" sz="2800" dirty="0"/>
              <a:t> = m a</a:t>
            </a:r>
            <a:r>
              <a:rPr lang="es-ES" sz="2800" baseline="-25000" dirty="0"/>
              <a:t>normal</a:t>
            </a:r>
            <a:endParaRPr lang="es-ES" sz="2800" dirty="0"/>
          </a:p>
        </p:txBody>
      </p:sp>
      <p:sp>
        <p:nvSpPr>
          <p:cNvPr id="64" name="Text Box 31">
            <a:extLst>
              <a:ext uri="{FF2B5EF4-FFF2-40B4-BE49-F238E27FC236}">
                <a16:creationId xmlns:a16="http://schemas.microsoft.com/office/drawing/2014/main" id="{B1367E46-68DC-4096-81F2-7E509FE56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3047" y="4962829"/>
            <a:ext cx="1494618" cy="621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 dirty="0"/>
              <a:t>= |q| v B</a:t>
            </a:r>
          </a:p>
        </p:txBody>
      </p:sp>
      <p:sp>
        <p:nvSpPr>
          <p:cNvPr id="67" name="Text Box 53">
            <a:extLst>
              <a:ext uri="{FF2B5EF4-FFF2-40B4-BE49-F238E27FC236}">
                <a16:creationId xmlns:a16="http://schemas.microsoft.com/office/drawing/2014/main" id="{36F954DB-8C2B-4090-8D5E-0F1E36A06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3917" y="5927235"/>
            <a:ext cx="1172132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800">
                <a:solidFill>
                  <a:srgbClr val="FF0000"/>
                </a:solidFill>
                <a:sym typeface="Symbol" panose="05050102010706020507" pitchFamily="18" charset="2"/>
              </a:rPr>
              <a:t> 1/</a:t>
            </a:r>
            <a:r>
              <a:rPr lang="es-ES" sz="2800">
                <a:solidFill>
                  <a:srgbClr val="FF0000"/>
                </a:solidFill>
              </a:rPr>
              <a:t>B</a:t>
            </a:r>
            <a:endParaRPr lang="es-ES" sz="2800" dirty="0">
              <a:solidFill>
                <a:srgbClr val="FF0000"/>
              </a:solidFill>
            </a:endParaRPr>
          </a:p>
        </p:txBody>
      </p:sp>
      <p:sp>
        <p:nvSpPr>
          <p:cNvPr id="68" name="Forma libre 61">
            <a:extLst>
              <a:ext uri="{FF2B5EF4-FFF2-40B4-BE49-F238E27FC236}">
                <a16:creationId xmlns:a16="http://schemas.microsoft.com/office/drawing/2014/main" id="{52E0D3D6-1FDA-4922-A3EE-4C1EA634BF84}"/>
              </a:ext>
            </a:extLst>
          </p:cNvPr>
          <p:cNvSpPr/>
          <p:nvPr/>
        </p:nvSpPr>
        <p:spPr bwMode="auto">
          <a:xfrm>
            <a:off x="9987199" y="1309716"/>
            <a:ext cx="464259" cy="3600000"/>
          </a:xfrm>
          <a:custGeom>
            <a:avLst/>
            <a:gdLst>
              <a:gd name="connsiteX0" fmla="*/ 282102 w 600994"/>
              <a:gd name="connsiteY0" fmla="*/ 0 h 2461098"/>
              <a:gd name="connsiteX1" fmla="*/ 593388 w 600994"/>
              <a:gd name="connsiteY1" fmla="*/ 1011676 h 2461098"/>
              <a:gd name="connsiteX2" fmla="*/ 0 w 600994"/>
              <a:gd name="connsiteY2" fmla="*/ 2461098 h 246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0994" h="2461098">
                <a:moveTo>
                  <a:pt x="282102" y="0"/>
                </a:moveTo>
                <a:cubicBezTo>
                  <a:pt x="461253" y="300746"/>
                  <a:pt x="640405" y="601493"/>
                  <a:pt x="593388" y="1011676"/>
                </a:cubicBezTo>
                <a:cubicBezTo>
                  <a:pt x="546371" y="1421859"/>
                  <a:pt x="273185" y="1941478"/>
                  <a:pt x="0" y="2461098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2" name="Group 67">
            <a:extLst>
              <a:ext uri="{FF2B5EF4-FFF2-40B4-BE49-F238E27FC236}">
                <a16:creationId xmlns:a16="http://schemas.microsoft.com/office/drawing/2014/main" id="{65952A68-9EA1-F14E-EFF8-E2061D548E48}"/>
              </a:ext>
            </a:extLst>
          </p:cNvPr>
          <p:cNvGrpSpPr>
            <a:grpSpLocks/>
          </p:cNvGrpSpPr>
          <p:nvPr/>
        </p:nvGrpSpPr>
        <p:grpSpPr bwMode="auto">
          <a:xfrm>
            <a:off x="9697501" y="1133255"/>
            <a:ext cx="557215" cy="660402"/>
            <a:chOff x="5864" y="-230"/>
            <a:chExt cx="351" cy="416"/>
          </a:xfrm>
        </p:grpSpPr>
        <p:sp>
          <p:nvSpPr>
            <p:cNvPr id="13" name="Line 63">
              <a:extLst>
                <a:ext uri="{FF2B5EF4-FFF2-40B4-BE49-F238E27FC236}">
                  <a16:creationId xmlns:a16="http://schemas.microsoft.com/office/drawing/2014/main" id="{DE17E9A0-7EAB-11AC-5391-7F78357A8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4" y="-221"/>
              <a:ext cx="107" cy="1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5" name="Text Box 64">
              <a:extLst>
                <a:ext uri="{FF2B5EF4-FFF2-40B4-BE49-F238E27FC236}">
                  <a16:creationId xmlns:a16="http://schemas.microsoft.com/office/drawing/2014/main" id="{729591CE-F6F0-37C0-6305-602929AC1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1" y="-230"/>
              <a:ext cx="244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pic>
        <p:nvPicPr>
          <p:cNvPr id="17" name="Picture 7" descr="imagesCA2RLQOZ">
            <a:extLst>
              <a:ext uri="{FF2B5EF4-FFF2-40B4-BE49-F238E27FC236}">
                <a16:creationId xmlns:a16="http://schemas.microsoft.com/office/drawing/2014/main" id="{FA9308E7-34D5-5E0D-91E3-879FAE09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082" y="1448559"/>
            <a:ext cx="3582987" cy="390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" name="Object 15">
            <a:extLst>
              <a:ext uri="{FF2B5EF4-FFF2-40B4-BE49-F238E27FC236}">
                <a16:creationId xmlns:a16="http://schemas.microsoft.com/office/drawing/2014/main" id="{6DEBBACD-3523-127E-E2DB-D1B77E4E855E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450938654"/>
              </p:ext>
            </p:extLst>
          </p:nvPr>
        </p:nvGraphicFramePr>
        <p:xfrm>
          <a:off x="3296207" y="4022261"/>
          <a:ext cx="3349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6725" imgH="177415" progId="Equation.3">
                  <p:embed/>
                </p:oleObj>
              </mc:Choice>
              <mc:Fallback>
                <p:oleObj name="Ecuación" r:id="rId6" imgW="126725" imgH="177415" progId="Equation.3">
                  <p:embed/>
                  <p:pic>
                    <p:nvPicPr>
                      <p:cNvPr id="617487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6207" y="4022261"/>
                        <a:ext cx="3349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F866CE3D-984B-DB23-CB67-E7CDD34F0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858709"/>
              </p:ext>
            </p:extLst>
          </p:nvPr>
        </p:nvGraphicFramePr>
        <p:xfrm>
          <a:off x="3057094" y="3158296"/>
          <a:ext cx="50006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90335" imgH="266469" progId="Equation.3">
                  <p:embed/>
                </p:oleObj>
              </mc:Choice>
              <mc:Fallback>
                <p:oleObj name="Ecuación" r:id="rId8" imgW="190335" imgH="266469" progId="Equation.3">
                  <p:embed/>
                  <p:pic>
                    <p:nvPicPr>
                      <p:cNvPr id="6174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094" y="3158296"/>
                        <a:ext cx="500063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8">
            <a:extLst>
              <a:ext uri="{FF2B5EF4-FFF2-40B4-BE49-F238E27FC236}">
                <a16:creationId xmlns:a16="http://schemas.microsoft.com/office/drawing/2014/main" id="{1B820354-C362-B63E-130B-ECCF4CF39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2234" y="3654408"/>
            <a:ext cx="874255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</a:rPr>
              <a:t>q &gt; 0</a:t>
            </a:r>
          </a:p>
        </p:txBody>
      </p:sp>
      <p:grpSp>
        <p:nvGrpSpPr>
          <p:cNvPr id="21" name="Group 50">
            <a:extLst>
              <a:ext uri="{FF2B5EF4-FFF2-40B4-BE49-F238E27FC236}">
                <a16:creationId xmlns:a16="http://schemas.microsoft.com/office/drawing/2014/main" id="{9281686D-698E-5B03-CCE7-064BFC6FD108}"/>
              </a:ext>
            </a:extLst>
          </p:cNvPr>
          <p:cNvGrpSpPr>
            <a:grpSpLocks/>
          </p:cNvGrpSpPr>
          <p:nvPr/>
        </p:nvGrpSpPr>
        <p:grpSpPr bwMode="auto">
          <a:xfrm>
            <a:off x="2152219" y="3399596"/>
            <a:ext cx="855663" cy="528638"/>
            <a:chOff x="1634" y="2264"/>
            <a:chExt cx="539" cy="333"/>
          </a:xfrm>
        </p:grpSpPr>
        <p:sp>
          <p:nvSpPr>
            <p:cNvPr id="22" name="Line 47">
              <a:extLst>
                <a:ext uri="{FF2B5EF4-FFF2-40B4-BE49-F238E27FC236}">
                  <a16:creationId xmlns:a16="http://schemas.microsoft.com/office/drawing/2014/main" id="{58EADCB8-56F9-F1A1-8A6A-84055ABD4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4" y="2390"/>
              <a:ext cx="277" cy="13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3" name="Line 49">
              <a:extLst>
                <a:ext uri="{FF2B5EF4-FFF2-40B4-BE49-F238E27FC236}">
                  <a16:creationId xmlns:a16="http://schemas.microsoft.com/office/drawing/2014/main" id="{54A6D56B-55E4-8BAA-8F42-E3A8A12A2B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1921" y="2269"/>
              <a:ext cx="257" cy="24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4" name="Oval 48">
              <a:extLst>
                <a:ext uri="{FF2B5EF4-FFF2-40B4-BE49-F238E27FC236}">
                  <a16:creationId xmlns:a16="http://schemas.microsoft.com/office/drawing/2014/main" id="{B1BAF019-2F8B-8F89-37E9-32847CC5E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461"/>
              <a:ext cx="136" cy="136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538E80FF-66ED-A8B2-AB9E-4ADCE07EA1CF}"/>
              </a:ext>
            </a:extLst>
          </p:cNvPr>
          <p:cNvGrpSpPr>
            <a:grpSpLocks/>
          </p:cNvGrpSpPr>
          <p:nvPr/>
        </p:nvGrpSpPr>
        <p:grpSpPr bwMode="auto">
          <a:xfrm>
            <a:off x="2220482" y="2726496"/>
            <a:ext cx="587375" cy="569913"/>
            <a:chOff x="2662504" y="2921000"/>
            <a:chExt cx="587109" cy="569913"/>
          </a:xfrm>
        </p:grpSpPr>
        <p:grpSp>
          <p:nvGrpSpPr>
            <p:cNvPr id="26" name="Group 59">
              <a:extLst>
                <a:ext uri="{FF2B5EF4-FFF2-40B4-BE49-F238E27FC236}">
                  <a16:creationId xmlns:a16="http://schemas.microsoft.com/office/drawing/2014/main" id="{CBB9DB26-4A93-B651-F6AA-B7A3012DC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03513" y="2921000"/>
              <a:ext cx="546100" cy="569913"/>
              <a:chOff x="1703" y="1840"/>
              <a:chExt cx="344" cy="359"/>
            </a:xfrm>
          </p:grpSpPr>
          <p:sp>
            <p:nvSpPr>
              <p:cNvPr id="28" name="Line 56">
                <a:extLst>
                  <a:ext uri="{FF2B5EF4-FFF2-40B4-BE49-F238E27FC236}">
                    <a16:creationId xmlns:a16="http://schemas.microsoft.com/office/drawing/2014/main" id="{4CE4A937-9FF9-5C10-D85D-7FA08E4BB0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3858810" flipH="1" flipV="1">
                <a:off x="1794" y="1749"/>
                <a:ext cx="109" cy="291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9" name="Line 57">
                <a:extLst>
                  <a:ext uri="{FF2B5EF4-FFF2-40B4-BE49-F238E27FC236}">
                    <a16:creationId xmlns:a16="http://schemas.microsoft.com/office/drawing/2014/main" id="{CF66F2AE-F048-D894-4133-06AF388B4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9258810" flipH="1" flipV="1">
                <a:off x="1790" y="1952"/>
                <a:ext cx="257" cy="24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27" name="Oval 48">
              <a:extLst>
                <a:ext uri="{FF2B5EF4-FFF2-40B4-BE49-F238E27FC236}">
                  <a16:creationId xmlns:a16="http://schemas.microsoft.com/office/drawing/2014/main" id="{F1868C96-3071-7A93-0015-2DD5131BF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504" y="3083046"/>
              <a:ext cx="215900" cy="215900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9622CF2E-161A-A109-961C-5FD05A6DA84D}"/>
              </a:ext>
            </a:extLst>
          </p:cNvPr>
          <p:cNvGrpSpPr>
            <a:grpSpLocks/>
          </p:cNvGrpSpPr>
          <p:nvPr/>
        </p:nvGrpSpPr>
        <p:grpSpPr bwMode="auto">
          <a:xfrm>
            <a:off x="3215844" y="2631246"/>
            <a:ext cx="874713" cy="539750"/>
            <a:chOff x="3657600" y="2825177"/>
            <a:chExt cx="874713" cy="540319"/>
          </a:xfrm>
        </p:grpSpPr>
        <p:grpSp>
          <p:nvGrpSpPr>
            <p:cNvPr id="31" name="Group 51">
              <a:extLst>
                <a:ext uri="{FF2B5EF4-FFF2-40B4-BE49-F238E27FC236}">
                  <a16:creationId xmlns:a16="http://schemas.microsoft.com/office/drawing/2014/main" id="{893DEAC7-499F-66DC-C431-34BCE7C5CA83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657600" y="2935283"/>
              <a:ext cx="874713" cy="430213"/>
              <a:chOff x="1622" y="2264"/>
              <a:chExt cx="551" cy="271"/>
            </a:xfrm>
          </p:grpSpPr>
          <p:sp>
            <p:nvSpPr>
              <p:cNvPr id="33" name="Line 52">
                <a:extLst>
                  <a:ext uri="{FF2B5EF4-FFF2-40B4-BE49-F238E27FC236}">
                    <a16:creationId xmlns:a16="http://schemas.microsoft.com/office/drawing/2014/main" id="{1876C663-232E-A5CD-7EB9-EBF5C9A7B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22" y="2402"/>
                <a:ext cx="277" cy="133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4" name="Line 53">
                <a:extLst>
                  <a:ext uri="{FF2B5EF4-FFF2-40B4-BE49-F238E27FC236}">
                    <a16:creationId xmlns:a16="http://schemas.microsoft.com/office/drawing/2014/main" id="{4B09CC36-AEF0-A3DB-12F4-AB3793BE0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1921" y="2269"/>
                <a:ext cx="257" cy="24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32" name="Oval 48">
              <a:extLst>
                <a:ext uri="{FF2B5EF4-FFF2-40B4-BE49-F238E27FC236}">
                  <a16:creationId xmlns:a16="http://schemas.microsoft.com/office/drawing/2014/main" id="{776E156F-1CDE-2546-74FA-5385C57A1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019" y="2825177"/>
              <a:ext cx="215900" cy="215900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60000">
                  <a:srgbClr val="800000"/>
                </a:gs>
                <a:gs pos="90000">
                  <a:srgbClr val="FF0000"/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s-ES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729BE61-CAE9-98F2-AABB-28C895B82391}"/>
              </a:ext>
            </a:extLst>
          </p:cNvPr>
          <p:cNvGrpSpPr/>
          <p:nvPr/>
        </p:nvGrpSpPr>
        <p:grpSpPr>
          <a:xfrm>
            <a:off x="1303871" y="350985"/>
            <a:ext cx="3674808" cy="900118"/>
            <a:chOff x="1282099" y="350985"/>
            <a:chExt cx="3674808" cy="900118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47686915-DB7B-9ABA-4FCB-8C9666908007}"/>
                </a:ext>
              </a:extLst>
            </p:cNvPr>
            <p:cNvSpPr/>
            <p:nvPr/>
          </p:nvSpPr>
          <p:spPr bwMode="auto">
            <a:xfrm>
              <a:off x="1282099" y="462952"/>
              <a:ext cx="3665904" cy="67618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square" lIns="90000" tIns="82800" rIns="90000" bIns="8280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Text Box 12">
              <a:extLst>
                <a:ext uri="{FF2B5EF4-FFF2-40B4-BE49-F238E27FC236}">
                  <a16:creationId xmlns:a16="http://schemas.microsoft.com/office/drawing/2014/main" id="{85A8589E-9A8D-4F5B-413B-8BEAF42B7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3543" y="350985"/>
              <a:ext cx="1963812" cy="900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s-ES" sz="2400" dirty="0">
                  <a:solidFill>
                    <a:schemeClr val="tx1"/>
                  </a:solidFill>
                </a:rPr>
                <a:t>Si  v</a:t>
              </a:r>
              <a:r>
                <a:rPr lang="es-ES" sz="2800" dirty="0">
                  <a:solidFill>
                    <a:schemeClr val="tx1"/>
                  </a:solidFill>
                </a:rPr>
                <a:t> </a:t>
              </a:r>
              <a:r>
                <a:rPr lang="es-ES" sz="2400" dirty="0">
                  <a:solidFill>
                    <a:schemeClr val="tx1"/>
                  </a:solidFill>
                  <a:sym typeface="Symbol" panose="05050102010706020507" pitchFamily="18" charset="2"/>
                </a:rPr>
                <a:t>      y</a:t>
              </a:r>
              <a:r>
                <a:rPr lang="es-ES" dirty="0">
                  <a:solidFill>
                    <a:schemeClr val="tx1"/>
                  </a:solidFill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38" name="Line 13">
              <a:extLst>
                <a:ext uri="{FF2B5EF4-FFF2-40B4-BE49-F238E27FC236}">
                  <a16:creationId xmlns:a16="http://schemas.microsoft.com/office/drawing/2014/main" id="{42D5ACA7-31C3-9050-55B9-C009FECA8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4666" y="722150"/>
              <a:ext cx="206621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pPr>
                <a:defRPr/>
              </a:pPr>
              <a:endParaRPr lang="es-ES" dirty="0"/>
            </a:p>
          </p:txBody>
        </p:sp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4BD5E288-CBEB-828A-38F9-DDBDC02F10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2094" y="472306"/>
              <a:ext cx="1914813" cy="593418"/>
              <a:chOff x="952070" y="1236419"/>
              <a:chExt cx="1914073" cy="593441"/>
            </a:xfrm>
          </p:grpSpPr>
          <p:sp>
            <p:nvSpPr>
              <p:cNvPr id="41" name="Text Box 8">
                <a:extLst>
                  <a:ext uri="{FF2B5EF4-FFF2-40B4-BE49-F238E27FC236}">
                    <a16:creationId xmlns:a16="http://schemas.microsoft.com/office/drawing/2014/main" id="{D1EA4B6F-7504-C1BB-BDD4-4F1826462E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6619" y="1293291"/>
                <a:ext cx="1619524" cy="5365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square" lIns="90000" tIns="82800" rIns="90000" bIns="82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sz="2400" dirty="0">
                    <a:solidFill>
                      <a:srgbClr val="008000"/>
                    </a:solidFill>
                  </a:rPr>
                  <a:t>(uniforme)</a:t>
                </a:r>
              </a:p>
            </p:txBody>
          </p:sp>
          <p:graphicFrame>
            <p:nvGraphicFramePr>
              <p:cNvPr id="42" name="Object 16">
                <a:extLst>
                  <a:ext uri="{FF2B5EF4-FFF2-40B4-BE49-F238E27FC236}">
                    <a16:creationId xmlns:a16="http://schemas.microsoft.com/office/drawing/2014/main" id="{97FC13E0-AB96-85D0-8409-C8908BD9E9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9587201"/>
                  </p:ext>
                </p:extLst>
              </p:nvPr>
            </p:nvGraphicFramePr>
            <p:xfrm>
              <a:off x="952070" y="1236419"/>
              <a:ext cx="380925" cy="5073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10" imgW="152268" imgH="203024" progId="Equation.3">
                      <p:embed/>
                    </p:oleObj>
                  </mc:Choice>
                  <mc:Fallback>
                    <p:oleObj name="Ecuación" r:id="rId10" imgW="152268" imgH="203024" progId="Equation.3">
                      <p:embed/>
                      <p:pic>
                        <p:nvPicPr>
                          <p:cNvPr id="4406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2070" y="1236419"/>
                            <a:ext cx="380925" cy="5073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" name="Object 16">
              <a:extLst>
                <a:ext uri="{FF2B5EF4-FFF2-40B4-BE49-F238E27FC236}">
                  <a16:creationId xmlns:a16="http://schemas.microsoft.com/office/drawing/2014/main" id="{A0B816FE-A505-031F-C7BE-F1D43995C8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2029851"/>
                </p:ext>
              </p:extLst>
            </p:nvPr>
          </p:nvGraphicFramePr>
          <p:xfrm>
            <a:off x="2345337" y="490702"/>
            <a:ext cx="381072" cy="507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52268" imgH="203024" progId="Equation.3">
                    <p:embed/>
                  </p:oleObj>
                </mc:Choice>
                <mc:Fallback>
                  <p:oleObj name="Ecuación" r:id="rId10" imgW="152268" imgH="203024" progId="Equation.3">
                    <p:embed/>
                    <p:pic>
                      <p:nvPicPr>
                        <p:cNvPr id="53" name="Object 16">
                          <a:extLst>
                            <a:ext uri="{FF2B5EF4-FFF2-40B4-BE49-F238E27FC236}">
                              <a16:creationId xmlns:a16="http://schemas.microsoft.com/office/drawing/2014/main" id="{711CE4DB-7012-4941-92B4-79C51420D5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5337" y="490702"/>
                          <a:ext cx="381072" cy="507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74467C5-2F49-86B2-EDF1-6F02C2C9E248}"/>
              </a:ext>
            </a:extLst>
          </p:cNvPr>
          <p:cNvSpPr/>
          <p:nvPr/>
        </p:nvSpPr>
        <p:spPr bwMode="auto">
          <a:xfrm>
            <a:off x="1302950" y="4907593"/>
            <a:ext cx="3582988" cy="47139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24CE69B-EE17-A0D9-D83E-C3E4D56E8501}"/>
              </a:ext>
            </a:extLst>
          </p:cNvPr>
          <p:cNvGrpSpPr/>
          <p:nvPr/>
        </p:nvGrpSpPr>
        <p:grpSpPr>
          <a:xfrm rot="15298235">
            <a:off x="4173434" y="4650584"/>
            <a:ext cx="554348" cy="558738"/>
            <a:chOff x="626557" y="4492091"/>
            <a:chExt cx="554348" cy="558738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AD56BDA4-D629-C34B-7DB2-3E417A7CD3B4}"/>
                </a:ext>
              </a:extLst>
            </p:cNvPr>
            <p:cNvSpPr/>
            <p:nvPr/>
          </p:nvSpPr>
          <p:spPr bwMode="auto">
            <a:xfrm rot="2800461">
              <a:off x="624362" y="4494286"/>
              <a:ext cx="558738" cy="554348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vert="horz" wrap="none" lIns="90000" tIns="82800" rIns="90000" bIns="82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46" name="Group 27">
              <a:extLst>
                <a:ext uri="{FF2B5EF4-FFF2-40B4-BE49-F238E27FC236}">
                  <a16:creationId xmlns:a16="http://schemas.microsoft.com/office/drawing/2014/main" id="{DF2D25D2-45FE-D08D-A350-7D79EF442AFF}"/>
                </a:ext>
              </a:extLst>
            </p:cNvPr>
            <p:cNvGrpSpPr>
              <a:grpSpLocks/>
            </p:cNvGrpSpPr>
            <p:nvPr/>
          </p:nvGrpSpPr>
          <p:grpSpPr bwMode="auto">
            <a:xfrm rot="19791021" flipV="1">
              <a:off x="682418" y="4564777"/>
              <a:ext cx="407987" cy="422275"/>
              <a:chOff x="1240" y="3526"/>
              <a:chExt cx="257" cy="266"/>
            </a:xfrm>
          </p:grpSpPr>
          <p:sp>
            <p:nvSpPr>
              <p:cNvPr id="47" name="Line 28">
                <a:extLst>
                  <a:ext uri="{FF2B5EF4-FFF2-40B4-BE49-F238E27FC236}">
                    <a16:creationId xmlns:a16="http://schemas.microsoft.com/office/drawing/2014/main" id="{2FA7DC58-BAA6-F4A8-EBB9-0668C351EA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0" y="3526"/>
                <a:ext cx="257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8" name="Line 29">
                <a:extLst>
                  <a:ext uri="{FF2B5EF4-FFF2-40B4-BE49-F238E27FC236}">
                    <a16:creationId xmlns:a16="http://schemas.microsoft.com/office/drawing/2014/main" id="{DBA57D56-7B34-A579-7635-AE9ACDDC0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6" y="3685"/>
                <a:ext cx="251" cy="1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55" name="Oval 30">
                <a:extLst>
                  <a:ext uri="{FF2B5EF4-FFF2-40B4-BE49-F238E27FC236}">
                    <a16:creationId xmlns:a16="http://schemas.microsoft.com/office/drawing/2014/main" id="{0ECF7EB9-0E9E-ECE4-98EF-086174A54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" y="3562"/>
                <a:ext cx="56" cy="19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45402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/>
      <p:bldP spid="63" grpId="0"/>
      <p:bldP spid="64" grpId="0"/>
      <p:bldP spid="67" grpId="0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566" name="Group 46"/>
          <p:cNvGrpSpPr>
            <a:grpSpLocks/>
          </p:cNvGrpSpPr>
          <p:nvPr/>
        </p:nvGrpSpPr>
        <p:grpSpPr bwMode="auto">
          <a:xfrm>
            <a:off x="5781675" y="2882596"/>
            <a:ext cx="4486355" cy="3432315"/>
            <a:chOff x="841" y="897"/>
            <a:chExt cx="3028" cy="2426"/>
          </a:xfrm>
        </p:grpSpPr>
        <p:pic>
          <p:nvPicPr>
            <p:cNvPr id="46100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" y="897"/>
              <a:ext cx="3028" cy="2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</p:pic>
        <p:sp>
          <p:nvSpPr>
            <p:cNvPr id="2" name="Line 44"/>
            <p:cNvSpPr>
              <a:spLocks noChangeShapeType="1"/>
            </p:cNvSpPr>
            <p:nvPr/>
          </p:nvSpPr>
          <p:spPr bwMode="auto">
            <a:xfrm>
              <a:off x="1963" y="1206"/>
              <a:ext cx="91" cy="0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6102" name="Line 45"/>
            <p:cNvSpPr>
              <a:spLocks noChangeShapeType="1"/>
            </p:cNvSpPr>
            <p:nvPr/>
          </p:nvSpPr>
          <p:spPr bwMode="auto">
            <a:xfrm>
              <a:off x="2011" y="1749"/>
              <a:ext cx="91" cy="0"/>
            </a:xfrm>
            <a:prstGeom prst="line">
              <a:avLst/>
            </a:prstGeom>
            <a:noFill/>
            <a:ln w="12700">
              <a:solidFill>
                <a:srgbClr val="C0C0C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46112" name="Text Box 10"/>
          <p:cNvSpPr txBox="1">
            <a:spLocks noChangeArrowheads="1"/>
          </p:cNvSpPr>
          <p:nvPr/>
        </p:nvSpPr>
        <p:spPr bwMode="auto">
          <a:xfrm>
            <a:off x="1286883" y="517653"/>
            <a:ext cx="6039107" cy="53654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Si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tiene </a:t>
            </a:r>
            <a:r>
              <a:rPr lang="es-ES" sz="2400" dirty="0">
                <a:solidFill>
                  <a:schemeClr val="tx1"/>
                </a:solidFill>
              </a:rPr>
              <a:t>componente </a:t>
            </a:r>
            <a:r>
              <a:rPr lang="es-ES" sz="2400">
                <a:solidFill>
                  <a:schemeClr val="tx1"/>
                </a:solidFill>
              </a:rPr>
              <a:t>en la dirección de</a:t>
            </a:r>
            <a:r>
              <a:rPr lang="es-ES" sz="2400" b="1">
                <a:solidFill>
                  <a:schemeClr val="tx1"/>
                </a:solidFill>
              </a:rPr>
              <a:t> B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619533" name="Text Box 13"/>
          <p:cNvSpPr txBox="1">
            <a:spLocks noChangeArrowheads="1"/>
          </p:cNvSpPr>
          <p:nvPr/>
        </p:nvSpPr>
        <p:spPr bwMode="auto">
          <a:xfrm>
            <a:off x="1782311" y="5365635"/>
            <a:ext cx="3453487" cy="95677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108000" rIns="72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/>
              <a:t>Movimiento Helicoidal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3333FF"/>
                </a:solidFill>
              </a:rPr>
              <a:t>(se describe una hélice)</a:t>
            </a:r>
          </a:p>
        </p:txBody>
      </p:sp>
      <p:sp>
        <p:nvSpPr>
          <p:cNvPr id="46101" name="Text Box 30"/>
          <p:cNvSpPr txBox="1">
            <a:spLocks noChangeArrowheads="1"/>
          </p:cNvSpPr>
          <p:nvPr/>
        </p:nvSpPr>
        <p:spPr bwMode="auto">
          <a:xfrm>
            <a:off x="1490663" y="2898309"/>
            <a:ext cx="4083050" cy="13261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queda igual, </a:t>
            </a:r>
            <a:r>
              <a:rPr lang="es-ES" sz="2400" dirty="0">
                <a:solidFill>
                  <a:schemeClr val="tx1"/>
                </a:solidFill>
              </a:rPr>
              <a:t>pero al girar, al no ser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, q avanza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en </a:t>
            </a:r>
            <a:r>
              <a:rPr lang="es-ES" sz="2400" dirty="0">
                <a:solidFill>
                  <a:schemeClr val="tx1"/>
                </a:solidFill>
              </a:rPr>
              <a:t>la dirección </a:t>
            </a:r>
            <a:r>
              <a:rPr lang="es-ES" sz="2400">
                <a:solidFill>
                  <a:schemeClr val="tx1"/>
                </a:solidFill>
              </a:rPr>
              <a:t>de </a:t>
            </a:r>
            <a:r>
              <a:rPr lang="es-ES" sz="2400" b="1">
                <a:solidFill>
                  <a:schemeClr val="tx1"/>
                </a:solidFill>
              </a:rPr>
              <a:t>B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619587" name="Group 67"/>
          <p:cNvGrpSpPr>
            <a:grpSpLocks/>
          </p:cNvGrpSpPr>
          <p:nvPr/>
        </p:nvGrpSpPr>
        <p:grpSpPr bwMode="auto">
          <a:xfrm>
            <a:off x="1482725" y="1562645"/>
            <a:ext cx="7559676" cy="762000"/>
            <a:chOff x="3440" y="847"/>
            <a:chExt cx="4762" cy="480"/>
          </a:xfrm>
        </p:grpSpPr>
        <p:sp>
          <p:nvSpPr>
            <p:cNvPr id="46098" name="Rectangle 61"/>
            <p:cNvSpPr>
              <a:spLocks noChangeArrowheads="1"/>
            </p:cNvSpPr>
            <p:nvPr/>
          </p:nvSpPr>
          <p:spPr bwMode="auto">
            <a:xfrm>
              <a:off x="3440" y="957"/>
              <a:ext cx="3075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3" name="Object 62"/>
            <p:cNvGraphicFramePr>
              <a:graphicFrameLocks noChangeAspect="1"/>
            </p:cNvGraphicFramePr>
            <p:nvPr/>
          </p:nvGraphicFramePr>
          <p:xfrm>
            <a:off x="3822" y="847"/>
            <a:ext cx="4380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2590800" imgH="266700" progId="Equation.3">
                    <p:embed/>
                  </p:oleObj>
                </mc:Choice>
                <mc:Fallback>
                  <p:oleObj name="Ecuación" r:id="rId4" imgW="2590800" imgH="266700" progId="Equation.3">
                    <p:embed/>
                    <p:pic>
                      <p:nvPicPr>
                        <p:cNvPr id="3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2" y="847"/>
                          <a:ext cx="4380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9586" name="Group 66"/>
          <p:cNvGrpSpPr>
            <a:grpSpLocks/>
          </p:cNvGrpSpPr>
          <p:nvPr/>
        </p:nvGrpSpPr>
        <p:grpSpPr bwMode="auto">
          <a:xfrm>
            <a:off x="7826377" y="1728597"/>
            <a:ext cx="1570037" cy="781050"/>
            <a:chOff x="5841" y="1006"/>
            <a:chExt cx="989" cy="492"/>
          </a:xfrm>
        </p:grpSpPr>
        <p:sp>
          <p:nvSpPr>
            <p:cNvPr id="46096" name="Line 64"/>
            <p:cNvSpPr>
              <a:spLocks noChangeShapeType="1"/>
            </p:cNvSpPr>
            <p:nvPr/>
          </p:nvSpPr>
          <p:spPr bwMode="auto">
            <a:xfrm>
              <a:off x="5841" y="1006"/>
              <a:ext cx="769" cy="29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6097" name="Text Box 65"/>
            <p:cNvSpPr txBox="1">
              <a:spLocks noChangeArrowheads="1"/>
            </p:cNvSpPr>
            <p:nvPr/>
          </p:nvSpPr>
          <p:spPr bwMode="auto">
            <a:xfrm>
              <a:off x="6607" y="1160"/>
              <a:ext cx="223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4" name="Flecha abajo 3"/>
          <p:cNvSpPr/>
          <p:nvPr/>
        </p:nvSpPr>
        <p:spPr bwMode="auto">
          <a:xfrm>
            <a:off x="3234328" y="4579827"/>
            <a:ext cx="559837" cy="466530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4">
            <a:extLst>
              <a:ext uri="{FF2B5EF4-FFF2-40B4-BE49-F238E27FC236}">
                <a16:creationId xmlns:a16="http://schemas.microsoft.com/office/drawing/2014/main" id="{759F04E6-0DC0-2F65-E3EC-D12087149716}"/>
              </a:ext>
            </a:extLst>
          </p:cNvPr>
          <p:cNvGrpSpPr>
            <a:grpSpLocks/>
          </p:cNvGrpSpPr>
          <p:nvPr/>
        </p:nvGrpSpPr>
        <p:grpSpPr bwMode="auto">
          <a:xfrm>
            <a:off x="7462918" y="324630"/>
            <a:ext cx="2805112" cy="900113"/>
            <a:chOff x="4157" y="1070"/>
            <a:chExt cx="1767" cy="567"/>
          </a:xfrm>
        </p:grpSpPr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5B5F472E-93F5-0E28-69AC-5FB3A36FE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1070"/>
              <a:ext cx="1767" cy="56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7" name="Object 21">
              <a:extLst>
                <a:ext uri="{FF2B5EF4-FFF2-40B4-BE49-F238E27FC236}">
                  <a16:creationId xmlns:a16="http://schemas.microsoft.com/office/drawing/2014/main" id="{E0516DBC-F4A2-537A-046C-0B3A09289C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1" y="1076"/>
            <a:ext cx="1701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850531" imgH="266584" progId="Equation.3">
                    <p:embed/>
                  </p:oleObj>
                </mc:Choice>
                <mc:Fallback>
                  <p:oleObj name="Ecuación" r:id="rId6" imgW="850531" imgH="266584" progId="Equation.3">
                    <p:embed/>
                    <p:pic>
                      <p:nvPicPr>
                        <p:cNvPr id="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" y="1076"/>
                          <a:ext cx="1701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1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1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1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2" grpId="0" animBg="1"/>
      <p:bldP spid="619533" grpId="0" animBg="1"/>
      <p:bldP spid="46101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5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88" y="1670331"/>
            <a:ext cx="5991225" cy="3385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pic>
      <p:sp>
        <p:nvSpPr>
          <p:cNvPr id="46110" name="Text Box 15"/>
          <p:cNvSpPr txBox="1">
            <a:spLocks noChangeArrowheads="1"/>
          </p:cNvSpPr>
          <p:nvPr/>
        </p:nvSpPr>
        <p:spPr bwMode="auto">
          <a:xfrm>
            <a:off x="1329459" y="482023"/>
            <a:ext cx="4441825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/>
              <a:t>Si, además,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no es uniforme,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en concreto, como en </a:t>
            </a:r>
            <a:r>
              <a:rPr lang="es-ES" sz="2400">
                <a:solidFill>
                  <a:schemeClr val="tx1"/>
                </a:solidFill>
              </a:rPr>
              <a:t>la figura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46108" name="Text Box 26"/>
          <p:cNvSpPr txBox="1">
            <a:spLocks noChangeArrowheads="1"/>
          </p:cNvSpPr>
          <p:nvPr/>
        </p:nvSpPr>
        <p:spPr bwMode="auto">
          <a:xfrm>
            <a:off x="6429969" y="5341881"/>
            <a:ext cx="3854450" cy="90588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/>
              <a:t>Movimiento de Ida y Vuelta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0000FF"/>
                </a:solidFill>
              </a:rPr>
              <a:t>(confinado)</a:t>
            </a:r>
          </a:p>
        </p:txBody>
      </p:sp>
      <p:sp>
        <p:nvSpPr>
          <p:cNvPr id="46109" name="Text Box 27"/>
          <p:cNvSpPr txBox="1">
            <a:spLocks noChangeArrowheads="1"/>
          </p:cNvSpPr>
          <p:nvPr/>
        </p:nvSpPr>
        <p:spPr bwMode="auto">
          <a:xfrm>
            <a:off x="6429969" y="635094"/>
            <a:ext cx="3854450" cy="587441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BOTELLA MAGNÉTICA</a:t>
            </a:r>
          </a:p>
        </p:txBody>
      </p:sp>
      <p:sp>
        <p:nvSpPr>
          <p:cNvPr id="46106" name="Text Box 39"/>
          <p:cNvSpPr txBox="1">
            <a:spLocks noChangeArrowheads="1"/>
          </p:cNvSpPr>
          <p:nvPr/>
        </p:nvSpPr>
        <p:spPr bwMode="auto">
          <a:xfrm>
            <a:off x="1363806" y="5349933"/>
            <a:ext cx="4036869" cy="12752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Hacia los extremos 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no es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 al eje del sistema y </a:t>
            </a:r>
            <a:r>
              <a:rPr lang="es-ES" sz="2400">
                <a:solidFill>
                  <a:schemeClr val="tx1"/>
                </a:solidFill>
              </a:rPr>
              <a:t>al girar se retorna al sistema</a:t>
            </a:r>
          </a:p>
        </p:txBody>
      </p:sp>
      <p:sp>
        <p:nvSpPr>
          <p:cNvPr id="46099" name="Text Box 53"/>
          <p:cNvSpPr txBox="1">
            <a:spLocks noChangeArrowheads="1"/>
          </p:cNvSpPr>
          <p:nvPr/>
        </p:nvSpPr>
        <p:spPr bwMode="auto">
          <a:xfrm>
            <a:off x="7717188" y="1690259"/>
            <a:ext cx="2400206" cy="164454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A mayor densidad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de líneas,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mayor es</a:t>
            </a:r>
            <a:r>
              <a:rPr lang="es-ES" sz="2400" dirty="0">
                <a:solidFill>
                  <a:schemeClr val="tx1"/>
                </a:solidFill>
              </a:rPr>
              <a:t> B</a:t>
            </a:r>
          </a:p>
        </p:txBody>
      </p:sp>
      <p:sp>
        <p:nvSpPr>
          <p:cNvPr id="8" name="Flecha abajo 7"/>
          <p:cNvSpPr/>
          <p:nvPr/>
        </p:nvSpPr>
        <p:spPr bwMode="auto">
          <a:xfrm rot="16200000">
            <a:off x="5652893" y="5827448"/>
            <a:ext cx="576000" cy="360000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53">
            <a:extLst>
              <a:ext uri="{FF2B5EF4-FFF2-40B4-BE49-F238E27FC236}">
                <a16:creationId xmlns:a16="http://schemas.microsoft.com/office/drawing/2014/main" id="{8DABB41A-2D2C-45DD-8465-39969E0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7188" y="3412324"/>
            <a:ext cx="2400206" cy="164454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A mayor B, se tiene un r</a:t>
            </a:r>
            <a:r>
              <a:rPr lang="es-ES" sz="2400" dirty="0">
                <a:solidFill>
                  <a:schemeClr val="tx1"/>
                </a:solidFill>
              </a:rPr>
              <a:t>adio de giro menor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</a:rPr>
              <a:t>(R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 1/</a:t>
            </a:r>
            <a:r>
              <a:rPr lang="es-ES" sz="2400" dirty="0">
                <a:solidFill>
                  <a:schemeClr val="tx1"/>
                </a:solidFill>
              </a:rPr>
              <a:t>B)</a:t>
            </a:r>
          </a:p>
        </p:txBody>
      </p:sp>
      <p:sp>
        <p:nvSpPr>
          <p:cNvPr id="2" name="Text Box 25">
            <a:extLst>
              <a:ext uri="{FF2B5EF4-FFF2-40B4-BE49-F238E27FC236}">
                <a16:creationId xmlns:a16="http://schemas.microsoft.com/office/drawing/2014/main" id="{A4353B51-A9B1-AF2F-B118-67723A72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218" y="6253408"/>
            <a:ext cx="2335951" cy="499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</a:rPr>
              <a:t>(fusión nuclear)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0537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6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4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0" grpId="0" animBg="1"/>
      <p:bldP spid="46108" grpId="0" animBg="1"/>
      <p:bldP spid="46109" grpId="0" animBg="1"/>
      <p:bldP spid="46106" grpId="0" animBg="1"/>
      <p:bldP spid="46099" grpId="0" animBg="1"/>
      <p:bldP spid="8" grpId="0" animBg="1"/>
      <p:bldP spid="9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8" name="Picture 8" descr="vanallen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848" y="719852"/>
            <a:ext cx="4524375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9" name="Text Box 9"/>
          <p:cNvSpPr txBox="1">
            <a:spLocks noChangeArrowheads="1"/>
          </p:cNvSpPr>
          <p:nvPr/>
        </p:nvSpPr>
        <p:spPr bwMode="auto">
          <a:xfrm>
            <a:off x="7180661" y="442934"/>
            <a:ext cx="174783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008000"/>
                </a:solidFill>
              </a:rPr>
              <a:t>Aurora Boreal</a:t>
            </a:r>
          </a:p>
        </p:txBody>
      </p:sp>
      <p:sp>
        <p:nvSpPr>
          <p:cNvPr id="48140" name="Text Box 10"/>
          <p:cNvSpPr txBox="1">
            <a:spLocks noChangeArrowheads="1"/>
          </p:cNvSpPr>
          <p:nvPr/>
        </p:nvSpPr>
        <p:spPr bwMode="auto">
          <a:xfrm>
            <a:off x="7106048" y="4069778"/>
            <a:ext cx="1803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>
                <a:solidFill>
                  <a:srgbClr val="008000"/>
                </a:solidFill>
              </a:rPr>
              <a:t>Aurora Austral</a:t>
            </a:r>
          </a:p>
        </p:txBody>
      </p:sp>
      <p:sp>
        <p:nvSpPr>
          <p:cNvPr id="33800" name="Text Box 24"/>
          <p:cNvSpPr txBox="1">
            <a:spLocks noChangeArrowheads="1"/>
          </p:cNvSpPr>
          <p:nvPr/>
        </p:nvSpPr>
        <p:spPr bwMode="auto">
          <a:xfrm>
            <a:off x="1529340" y="729856"/>
            <a:ext cx="3707210" cy="714146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Cinturones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de Van Allen</a:t>
            </a:r>
          </a:p>
        </p:txBody>
      </p:sp>
      <p:sp>
        <p:nvSpPr>
          <p:cNvPr id="33801" name="Text Box 25"/>
          <p:cNvSpPr txBox="1">
            <a:spLocks noChangeArrowheads="1"/>
          </p:cNvSpPr>
          <p:nvPr/>
        </p:nvSpPr>
        <p:spPr bwMode="auto">
          <a:xfrm>
            <a:off x="1436564" y="4797209"/>
            <a:ext cx="8176418" cy="149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La interacción con la atmósfera</a:t>
            </a:r>
            <a:r>
              <a:rPr lang="es-ES" sz="2400" dirty="0"/>
              <a:t> </a:t>
            </a:r>
            <a:r>
              <a:rPr lang="es-ES" sz="2400" dirty="0">
                <a:solidFill>
                  <a:schemeClr val="tx1"/>
                </a:solidFill>
              </a:rPr>
              <a:t>de las partículas cargadas retenidas en ellos, provenientes del espacio, cerca de los polos (donde más se adentran en la atmósfera), da lugar a las </a:t>
            </a:r>
            <a:r>
              <a:rPr lang="es-ES" sz="2400" dirty="0">
                <a:solidFill>
                  <a:srgbClr val="008000"/>
                </a:solidFill>
              </a:rPr>
              <a:t>auroras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rgbClr val="008000"/>
                </a:solidFill>
              </a:rPr>
              <a:t>(emisiones de luz)</a:t>
            </a:r>
            <a:r>
              <a:rPr lang="es-ES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429919" y="2013963"/>
            <a:ext cx="3988593" cy="164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 dirty="0"/>
              <a:t>Son las </a:t>
            </a:r>
            <a:r>
              <a:rPr lang="es-ES" sz="2400" dirty="0">
                <a:solidFill>
                  <a:srgbClr val="008000"/>
                </a:solidFill>
              </a:rPr>
              <a:t>botellas magnéticas </a:t>
            </a:r>
            <a:r>
              <a:rPr lang="es-ES" sz="2400" dirty="0"/>
              <a:t>formadas por las líneas del campo magnético terrestre entre los polos.</a:t>
            </a:r>
          </a:p>
        </p:txBody>
      </p:sp>
    </p:spTree>
    <p:extLst>
      <p:ext uri="{BB962C8B-B14F-4D97-AF65-F5344CB8AC3E}">
        <p14:creationId xmlns:p14="http://schemas.microsoft.com/office/powerpoint/2010/main" val="140027485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9" grpId="0"/>
      <p:bldP spid="48140" grpId="0"/>
      <p:bldP spid="33800" grpId="0" animBg="1"/>
      <p:bldP spid="33801" grpId="0"/>
      <p:bldP spid="338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236663" y="1879689"/>
            <a:ext cx="371475" cy="530225"/>
            <a:chOff x="1237295" y="2112546"/>
            <a:chExt cx="371475" cy="530225"/>
          </a:xfrm>
        </p:grpSpPr>
        <p:sp>
          <p:nvSpPr>
            <p:cNvPr id="11351" name="Line 48"/>
            <p:cNvSpPr>
              <a:spLocks noChangeShapeType="1"/>
            </p:cNvSpPr>
            <p:nvPr/>
          </p:nvSpPr>
          <p:spPr bwMode="auto">
            <a:xfrm>
              <a:off x="1608770" y="2156996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352" name="Text Box 50"/>
            <p:cNvSpPr txBox="1">
              <a:spLocks noChangeArrowheads="1"/>
            </p:cNvSpPr>
            <p:nvPr/>
          </p:nvSpPr>
          <p:spPr bwMode="auto">
            <a:xfrm>
              <a:off x="1237295" y="211254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5206454" y="1886039"/>
            <a:ext cx="390525" cy="549275"/>
            <a:chOff x="5207633" y="2118896"/>
            <a:chExt cx="390525" cy="549276"/>
          </a:xfrm>
        </p:grpSpPr>
        <p:sp>
          <p:nvSpPr>
            <p:cNvPr id="11349" name="Line 49"/>
            <p:cNvSpPr>
              <a:spLocks noChangeShapeType="1"/>
            </p:cNvSpPr>
            <p:nvPr/>
          </p:nvSpPr>
          <p:spPr bwMode="auto">
            <a:xfrm flipV="1">
              <a:off x="5207633" y="2298284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350" name="Text Box 51"/>
            <p:cNvSpPr txBox="1">
              <a:spLocks noChangeArrowheads="1"/>
            </p:cNvSpPr>
            <p:nvPr/>
          </p:nvSpPr>
          <p:spPr bwMode="auto">
            <a:xfrm>
              <a:off x="5250495" y="211889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589088" y="911023"/>
            <a:ext cx="3636962" cy="4038269"/>
            <a:chOff x="1589088" y="1144297"/>
            <a:chExt cx="3636962" cy="4038269"/>
          </a:xfrm>
        </p:grpSpPr>
        <p:grpSp>
          <p:nvGrpSpPr>
            <p:cNvPr id="6" name="Grupo 5"/>
            <p:cNvGrpSpPr/>
            <p:nvPr/>
          </p:nvGrpSpPr>
          <p:grpSpPr>
            <a:xfrm>
              <a:off x="1589088" y="1144297"/>
              <a:ext cx="3636962" cy="2735553"/>
              <a:chOff x="1589088" y="1144297"/>
              <a:chExt cx="3636962" cy="2735553"/>
            </a:xfrm>
          </p:grpSpPr>
          <p:sp>
            <p:nvSpPr>
              <p:cNvPr id="11266" name="Line 7"/>
              <p:cNvSpPr>
                <a:spLocks noChangeShapeType="1"/>
              </p:cNvSpPr>
              <p:nvPr/>
            </p:nvSpPr>
            <p:spPr bwMode="auto">
              <a:xfrm flipH="1">
                <a:off x="1616075" y="1403059"/>
                <a:ext cx="17240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7" name="Line 8"/>
              <p:cNvSpPr>
                <a:spLocks noChangeShapeType="1"/>
              </p:cNvSpPr>
              <p:nvPr/>
            </p:nvSpPr>
            <p:spPr bwMode="auto">
              <a:xfrm flipH="1">
                <a:off x="3462338" y="1409409"/>
                <a:ext cx="176371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8" name="Line 9"/>
              <p:cNvSpPr>
                <a:spLocks noChangeShapeType="1"/>
              </p:cNvSpPr>
              <p:nvPr/>
            </p:nvSpPr>
            <p:spPr bwMode="auto">
              <a:xfrm flipH="1">
                <a:off x="1589088" y="3132138"/>
                <a:ext cx="76358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9" name="Line 10"/>
              <p:cNvSpPr>
                <a:spLocks noChangeShapeType="1"/>
              </p:cNvSpPr>
              <p:nvPr/>
            </p:nvSpPr>
            <p:spPr bwMode="auto">
              <a:xfrm rot="5400000" flipH="1">
                <a:off x="739903" y="2254826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0" name="Line 11"/>
              <p:cNvSpPr>
                <a:spLocks noChangeShapeType="1"/>
              </p:cNvSpPr>
              <p:nvPr/>
            </p:nvSpPr>
            <p:spPr bwMode="auto">
              <a:xfrm rot="5400000" flipH="1">
                <a:off x="4345864" y="2262764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1" name="Line 12"/>
              <p:cNvSpPr>
                <a:spLocks noChangeShapeType="1"/>
              </p:cNvSpPr>
              <p:nvPr/>
            </p:nvSpPr>
            <p:spPr bwMode="auto">
              <a:xfrm flipH="1">
                <a:off x="4445000" y="3128963"/>
                <a:ext cx="76358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2" name="Line 14"/>
              <p:cNvSpPr>
                <a:spLocks noChangeShapeType="1"/>
              </p:cNvSpPr>
              <p:nvPr/>
            </p:nvSpPr>
            <p:spPr bwMode="auto">
              <a:xfrm>
                <a:off x="3375025" y="1144297"/>
                <a:ext cx="0" cy="53975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3" name="Line 15"/>
              <p:cNvSpPr>
                <a:spLocks noChangeShapeType="1"/>
              </p:cNvSpPr>
              <p:nvPr/>
            </p:nvSpPr>
            <p:spPr bwMode="auto">
              <a:xfrm>
                <a:off x="3444875" y="1234784"/>
                <a:ext cx="0" cy="36036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6" name="Rectangle 13"/>
              <p:cNvSpPr>
                <a:spLocks noChangeArrowheads="1"/>
              </p:cNvSpPr>
              <p:nvPr/>
            </p:nvSpPr>
            <p:spPr bwMode="auto">
              <a:xfrm>
                <a:off x="2303463" y="2424113"/>
                <a:ext cx="2163762" cy="1455737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277" name="Line 152"/>
            <p:cNvSpPr>
              <a:spLocks noChangeShapeType="1"/>
            </p:cNvSpPr>
            <p:nvPr/>
          </p:nvSpPr>
          <p:spPr bwMode="auto">
            <a:xfrm>
              <a:off x="4823397" y="2474913"/>
              <a:ext cx="0" cy="1381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78" name="Text Box 153"/>
            <p:cNvSpPr txBox="1">
              <a:spLocks noChangeArrowheads="1"/>
            </p:cNvSpPr>
            <p:nvPr/>
          </p:nvSpPr>
          <p:spPr bwMode="auto">
            <a:xfrm>
              <a:off x="4698712" y="3205653"/>
              <a:ext cx="244225" cy="44203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279" name="Text Box 160"/>
            <p:cNvSpPr txBox="1">
              <a:spLocks noChangeArrowheads="1"/>
            </p:cNvSpPr>
            <p:nvPr/>
          </p:nvSpPr>
          <p:spPr bwMode="auto">
            <a:xfrm>
              <a:off x="2405088" y="4276685"/>
              <a:ext cx="1870024" cy="90588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Lámina conductora</a:t>
              </a:r>
            </a:p>
          </p:txBody>
        </p:sp>
      </p:grpSp>
      <p:sp>
        <p:nvSpPr>
          <p:cNvPr id="11281" name="Rectangle 3"/>
          <p:cNvSpPr>
            <a:spLocks noChangeArrowheads="1"/>
          </p:cNvSpPr>
          <p:nvPr/>
        </p:nvSpPr>
        <p:spPr bwMode="auto">
          <a:xfrm>
            <a:off x="1304244" y="371926"/>
            <a:ext cx="8931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 defTabSz="995363"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tabLst>
                <a:tab pos="196850" algn="r"/>
                <a:tab pos="2940050" algn="ctr"/>
                <a:tab pos="5880100" algn="r"/>
              </a:tabLs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s-ES" sz="2400" b="1">
                <a:solidFill>
                  <a:srgbClr val="CC0000"/>
                </a:solidFill>
              </a:rPr>
              <a:t>5.2.1 EFECTOS DE B SOBRE:  UNA CARGA</a:t>
            </a:r>
          </a:p>
        </p:txBody>
      </p:sp>
      <p:sp>
        <p:nvSpPr>
          <p:cNvPr id="11282" name="Line 4"/>
          <p:cNvSpPr>
            <a:spLocks noChangeShapeType="1"/>
          </p:cNvSpPr>
          <p:nvPr/>
        </p:nvSpPr>
        <p:spPr bwMode="auto">
          <a:xfrm flipV="1">
            <a:off x="4177619" y="438601"/>
            <a:ext cx="2159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>
            <a:spAutoFit/>
          </a:bodyPr>
          <a:lstStyle/>
          <a:p>
            <a:endParaRPr lang="en-GB"/>
          </a:p>
        </p:txBody>
      </p:sp>
      <p:sp>
        <p:nvSpPr>
          <p:cNvPr id="519226" name="Text Box 58"/>
          <p:cNvSpPr txBox="1">
            <a:spLocks noChangeArrowheads="1"/>
          </p:cNvSpPr>
          <p:nvPr/>
        </p:nvSpPr>
        <p:spPr bwMode="auto">
          <a:xfrm>
            <a:off x="7990287" y="308271"/>
            <a:ext cx="2401715" cy="609252"/>
          </a:xfrm>
          <a:prstGeom prst="rect">
            <a:avLst/>
          </a:prstGeom>
          <a:solidFill>
            <a:srgbClr val="66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26000" tIns="118800" rIns="126000" bIns="118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b="1">
                <a:solidFill>
                  <a:srgbClr val="FFFFFF"/>
                </a:solidFill>
              </a:rPr>
              <a:t>EFECTO HALL</a:t>
            </a:r>
          </a:p>
        </p:txBody>
      </p:sp>
      <p:grpSp>
        <p:nvGrpSpPr>
          <p:cNvPr id="519335" name="Group 167"/>
          <p:cNvGrpSpPr>
            <a:grpSpLocks/>
          </p:cNvGrpSpPr>
          <p:nvPr/>
        </p:nvGrpSpPr>
        <p:grpSpPr bwMode="auto">
          <a:xfrm>
            <a:off x="2271713" y="2081301"/>
            <a:ext cx="2219325" cy="1590675"/>
            <a:chOff x="1569" y="1578"/>
            <a:chExt cx="1398" cy="1002"/>
          </a:xfrm>
        </p:grpSpPr>
        <p:grpSp>
          <p:nvGrpSpPr>
            <p:cNvPr id="11318" name="Group 17"/>
            <p:cNvGrpSpPr>
              <a:grpSpLocks/>
            </p:cNvGrpSpPr>
            <p:nvPr/>
          </p:nvGrpSpPr>
          <p:grpSpPr bwMode="auto">
            <a:xfrm>
              <a:off x="1569" y="1578"/>
              <a:ext cx="1398" cy="296"/>
              <a:chOff x="3634" y="2306"/>
              <a:chExt cx="1398" cy="296"/>
            </a:xfrm>
          </p:grpSpPr>
          <p:sp>
            <p:nvSpPr>
              <p:cNvPr id="11341" name="Text Box 18"/>
              <p:cNvSpPr txBox="1">
                <a:spLocks noChangeArrowheads="1"/>
              </p:cNvSpPr>
              <p:nvPr/>
            </p:nvSpPr>
            <p:spPr bwMode="auto">
              <a:xfrm>
                <a:off x="3634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2" name="Text Box 19"/>
              <p:cNvSpPr txBox="1">
                <a:spLocks noChangeArrowheads="1"/>
              </p:cNvSpPr>
              <p:nvPr/>
            </p:nvSpPr>
            <p:spPr bwMode="auto">
              <a:xfrm>
                <a:off x="3873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3" name="Text Box 20"/>
              <p:cNvSpPr txBox="1">
                <a:spLocks noChangeArrowheads="1"/>
              </p:cNvSpPr>
              <p:nvPr/>
            </p:nvSpPr>
            <p:spPr bwMode="auto">
              <a:xfrm>
                <a:off x="4112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4" name="Text Box 21"/>
              <p:cNvSpPr txBox="1">
                <a:spLocks noChangeArrowheads="1"/>
              </p:cNvSpPr>
              <p:nvPr/>
            </p:nvSpPr>
            <p:spPr bwMode="auto">
              <a:xfrm>
                <a:off x="4351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5" name="Text Box 22"/>
              <p:cNvSpPr txBox="1">
                <a:spLocks noChangeArrowheads="1"/>
              </p:cNvSpPr>
              <p:nvPr/>
            </p:nvSpPr>
            <p:spPr bwMode="auto">
              <a:xfrm>
                <a:off x="4590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6" name="Text Box 23"/>
              <p:cNvSpPr txBox="1">
                <a:spLocks noChangeArrowheads="1"/>
              </p:cNvSpPr>
              <p:nvPr/>
            </p:nvSpPr>
            <p:spPr bwMode="auto">
              <a:xfrm>
                <a:off x="4829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 dirty="0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19" name="Group 24"/>
            <p:cNvGrpSpPr>
              <a:grpSpLocks/>
            </p:cNvGrpSpPr>
            <p:nvPr/>
          </p:nvGrpSpPr>
          <p:grpSpPr bwMode="auto">
            <a:xfrm>
              <a:off x="1569" y="1824"/>
              <a:ext cx="1398" cy="296"/>
              <a:chOff x="3650" y="2552"/>
              <a:chExt cx="1398" cy="296"/>
            </a:xfrm>
          </p:grpSpPr>
          <p:sp>
            <p:nvSpPr>
              <p:cNvPr id="11335" name="Text Box 25"/>
              <p:cNvSpPr txBox="1">
                <a:spLocks noChangeArrowheads="1"/>
              </p:cNvSpPr>
              <p:nvPr/>
            </p:nvSpPr>
            <p:spPr bwMode="auto">
              <a:xfrm>
                <a:off x="3650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6" name="Text Box 26"/>
              <p:cNvSpPr txBox="1">
                <a:spLocks noChangeArrowheads="1"/>
              </p:cNvSpPr>
              <p:nvPr/>
            </p:nvSpPr>
            <p:spPr bwMode="auto">
              <a:xfrm>
                <a:off x="3889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7" name="Text Box 27"/>
              <p:cNvSpPr txBox="1">
                <a:spLocks noChangeArrowheads="1"/>
              </p:cNvSpPr>
              <p:nvPr/>
            </p:nvSpPr>
            <p:spPr bwMode="auto">
              <a:xfrm>
                <a:off x="4128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8" name="Text Box 28"/>
              <p:cNvSpPr txBox="1">
                <a:spLocks noChangeArrowheads="1"/>
              </p:cNvSpPr>
              <p:nvPr/>
            </p:nvSpPr>
            <p:spPr bwMode="auto">
              <a:xfrm>
                <a:off x="4367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9" name="Text Box 29"/>
              <p:cNvSpPr txBox="1">
                <a:spLocks noChangeArrowheads="1"/>
              </p:cNvSpPr>
              <p:nvPr/>
            </p:nvSpPr>
            <p:spPr bwMode="auto">
              <a:xfrm>
                <a:off x="4606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0" name="Text Box 30"/>
              <p:cNvSpPr txBox="1">
                <a:spLocks noChangeArrowheads="1"/>
              </p:cNvSpPr>
              <p:nvPr/>
            </p:nvSpPr>
            <p:spPr bwMode="auto">
              <a:xfrm>
                <a:off x="4845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20" name="Group 31"/>
            <p:cNvGrpSpPr>
              <a:grpSpLocks/>
            </p:cNvGrpSpPr>
            <p:nvPr/>
          </p:nvGrpSpPr>
          <p:grpSpPr bwMode="auto">
            <a:xfrm>
              <a:off x="1569" y="2070"/>
              <a:ext cx="1398" cy="296"/>
              <a:chOff x="3666" y="2798"/>
              <a:chExt cx="1398" cy="296"/>
            </a:xfrm>
          </p:grpSpPr>
          <p:sp>
            <p:nvSpPr>
              <p:cNvPr id="11329" name="Text Box 32"/>
              <p:cNvSpPr txBox="1">
                <a:spLocks noChangeArrowheads="1"/>
              </p:cNvSpPr>
              <p:nvPr/>
            </p:nvSpPr>
            <p:spPr bwMode="auto">
              <a:xfrm>
                <a:off x="3666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0" name="Text Box 33"/>
              <p:cNvSpPr txBox="1">
                <a:spLocks noChangeArrowheads="1"/>
              </p:cNvSpPr>
              <p:nvPr/>
            </p:nvSpPr>
            <p:spPr bwMode="auto">
              <a:xfrm>
                <a:off x="3905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1" name="Text Box 34"/>
              <p:cNvSpPr txBox="1">
                <a:spLocks noChangeArrowheads="1"/>
              </p:cNvSpPr>
              <p:nvPr/>
            </p:nvSpPr>
            <p:spPr bwMode="auto">
              <a:xfrm>
                <a:off x="4144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2" name="Text Box 35"/>
              <p:cNvSpPr txBox="1">
                <a:spLocks noChangeArrowheads="1"/>
              </p:cNvSpPr>
              <p:nvPr/>
            </p:nvSpPr>
            <p:spPr bwMode="auto">
              <a:xfrm>
                <a:off x="4383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3" name="Text Box 36"/>
              <p:cNvSpPr txBox="1">
                <a:spLocks noChangeArrowheads="1"/>
              </p:cNvSpPr>
              <p:nvPr/>
            </p:nvSpPr>
            <p:spPr bwMode="auto">
              <a:xfrm>
                <a:off x="4622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4" name="Text Box 37"/>
              <p:cNvSpPr txBox="1">
                <a:spLocks noChangeArrowheads="1"/>
              </p:cNvSpPr>
              <p:nvPr/>
            </p:nvSpPr>
            <p:spPr bwMode="auto">
              <a:xfrm>
                <a:off x="4861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21" name="Group 38"/>
            <p:cNvGrpSpPr>
              <a:grpSpLocks/>
            </p:cNvGrpSpPr>
            <p:nvPr/>
          </p:nvGrpSpPr>
          <p:grpSpPr bwMode="auto">
            <a:xfrm>
              <a:off x="1569" y="2284"/>
              <a:ext cx="1398" cy="296"/>
              <a:chOff x="3682" y="3044"/>
              <a:chExt cx="1398" cy="296"/>
            </a:xfrm>
          </p:grpSpPr>
          <p:sp>
            <p:nvSpPr>
              <p:cNvPr id="11323" name="Text Box 39"/>
              <p:cNvSpPr txBox="1">
                <a:spLocks noChangeArrowheads="1"/>
              </p:cNvSpPr>
              <p:nvPr/>
            </p:nvSpPr>
            <p:spPr bwMode="auto">
              <a:xfrm>
                <a:off x="3682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4" name="Text Box 40"/>
              <p:cNvSpPr txBox="1">
                <a:spLocks noChangeArrowheads="1"/>
              </p:cNvSpPr>
              <p:nvPr/>
            </p:nvSpPr>
            <p:spPr bwMode="auto">
              <a:xfrm>
                <a:off x="3921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5" name="Text Box 41"/>
              <p:cNvSpPr txBox="1">
                <a:spLocks noChangeArrowheads="1"/>
              </p:cNvSpPr>
              <p:nvPr/>
            </p:nvSpPr>
            <p:spPr bwMode="auto">
              <a:xfrm>
                <a:off x="4160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6" name="Text Box 42"/>
              <p:cNvSpPr txBox="1">
                <a:spLocks noChangeArrowheads="1"/>
              </p:cNvSpPr>
              <p:nvPr/>
            </p:nvSpPr>
            <p:spPr bwMode="auto">
              <a:xfrm>
                <a:off x="4399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7" name="Text Box 43"/>
              <p:cNvSpPr txBox="1">
                <a:spLocks noChangeArrowheads="1"/>
              </p:cNvSpPr>
              <p:nvPr/>
            </p:nvSpPr>
            <p:spPr bwMode="auto">
              <a:xfrm>
                <a:off x="4638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8" name="Text Box 44"/>
              <p:cNvSpPr txBox="1">
                <a:spLocks noChangeArrowheads="1"/>
              </p:cNvSpPr>
              <p:nvPr/>
            </p:nvSpPr>
            <p:spPr bwMode="auto">
              <a:xfrm>
                <a:off x="4877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aphicFrame>
          <p:nvGraphicFramePr>
            <p:cNvPr id="11322" name="Object 46"/>
            <p:cNvGraphicFramePr>
              <a:graphicFrameLocks noChangeAspect="1"/>
            </p:cNvGraphicFramePr>
            <p:nvPr/>
          </p:nvGraphicFramePr>
          <p:xfrm>
            <a:off x="2169" y="1671"/>
            <a:ext cx="212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80" imgH="203040" progId="Equation.3">
                    <p:embed/>
                  </p:oleObj>
                </mc:Choice>
                <mc:Fallback>
                  <p:oleObj name="Ecuación" r:id="rId3" imgW="152280" imgH="203040" progId="Equation.3">
                    <p:embed/>
                    <p:pic>
                      <p:nvPicPr>
                        <p:cNvPr id="11322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9" y="1671"/>
                          <a:ext cx="212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334" name="Group 166"/>
          <p:cNvGrpSpPr>
            <a:grpSpLocks/>
          </p:cNvGrpSpPr>
          <p:nvPr/>
        </p:nvGrpSpPr>
        <p:grpSpPr bwMode="auto">
          <a:xfrm>
            <a:off x="2447925" y="2716305"/>
            <a:ext cx="1068388" cy="392113"/>
            <a:chOff x="1680" y="1978"/>
            <a:chExt cx="673" cy="247"/>
          </a:xfrm>
        </p:grpSpPr>
        <p:pic>
          <p:nvPicPr>
            <p:cNvPr id="11315" name="Picture 52" descr="Image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978"/>
              <a:ext cx="24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16" name="Line 53"/>
            <p:cNvSpPr>
              <a:spLocks noChangeShapeType="1"/>
            </p:cNvSpPr>
            <p:nvPr/>
          </p:nvSpPr>
          <p:spPr bwMode="auto">
            <a:xfrm>
              <a:off x="1922" y="2092"/>
              <a:ext cx="21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1317" name="Object 54"/>
            <p:cNvGraphicFramePr>
              <a:graphicFrameLocks noChangeAspect="1"/>
            </p:cNvGraphicFramePr>
            <p:nvPr/>
          </p:nvGraphicFramePr>
          <p:xfrm>
            <a:off x="2199" y="1986"/>
            <a:ext cx="15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26725" imgH="177415" progId="Equation.3">
                    <p:embed/>
                  </p:oleObj>
                </mc:Choice>
                <mc:Fallback>
                  <p:oleObj name="Ecuación" r:id="rId6" imgW="126725" imgH="177415" progId="Equation.3">
                    <p:embed/>
                    <p:pic>
                      <p:nvPicPr>
                        <p:cNvPr id="11317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1986"/>
                          <a:ext cx="15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336" name="Group 168"/>
          <p:cNvGrpSpPr>
            <a:grpSpLocks/>
          </p:cNvGrpSpPr>
          <p:nvPr/>
        </p:nvGrpSpPr>
        <p:grpSpPr bwMode="auto">
          <a:xfrm>
            <a:off x="1809750" y="2098764"/>
            <a:ext cx="812800" cy="636587"/>
            <a:chOff x="1278" y="1589"/>
            <a:chExt cx="512" cy="401"/>
          </a:xfrm>
        </p:grpSpPr>
        <p:graphicFrame>
          <p:nvGraphicFramePr>
            <p:cNvPr id="11313" name="Object 64"/>
            <p:cNvGraphicFramePr>
              <a:graphicFrameLocks noChangeAspect="1"/>
            </p:cNvGraphicFramePr>
            <p:nvPr/>
          </p:nvGraphicFramePr>
          <p:xfrm>
            <a:off x="1278" y="1589"/>
            <a:ext cx="28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90335" imgH="266469" progId="Equation.3">
                    <p:embed/>
                  </p:oleObj>
                </mc:Choice>
                <mc:Fallback>
                  <p:oleObj name="Ecuación" r:id="rId8" imgW="190335" imgH="266469" progId="Equation.3">
                    <p:embed/>
                    <p:pic>
                      <p:nvPicPr>
                        <p:cNvPr id="11313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" y="1589"/>
                          <a:ext cx="285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4" name="Line 65"/>
            <p:cNvSpPr>
              <a:spLocks noChangeShapeType="1"/>
            </p:cNvSpPr>
            <p:nvPr/>
          </p:nvSpPr>
          <p:spPr bwMode="auto">
            <a:xfrm flipH="1" flipV="1">
              <a:off x="1790" y="1690"/>
              <a:ext cx="0" cy="2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19338" name="Group 170"/>
          <p:cNvGrpSpPr>
            <a:grpSpLocks/>
          </p:cNvGrpSpPr>
          <p:nvPr/>
        </p:nvGrpSpPr>
        <p:grpSpPr bwMode="auto">
          <a:xfrm>
            <a:off x="1835150" y="2863939"/>
            <a:ext cx="793750" cy="681037"/>
            <a:chOff x="1294" y="2071"/>
            <a:chExt cx="500" cy="429"/>
          </a:xfrm>
        </p:grpSpPr>
        <p:graphicFrame>
          <p:nvGraphicFramePr>
            <p:cNvPr id="11311" name="Object 62"/>
            <p:cNvGraphicFramePr>
              <a:graphicFrameLocks noChangeAspect="1"/>
            </p:cNvGraphicFramePr>
            <p:nvPr/>
          </p:nvGraphicFramePr>
          <p:xfrm>
            <a:off x="1294" y="2071"/>
            <a:ext cx="285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90335" imgH="266469" progId="Equation.3">
                    <p:embed/>
                  </p:oleObj>
                </mc:Choice>
                <mc:Fallback>
                  <p:oleObj name="Ecuación" r:id="rId10" imgW="190335" imgH="266469" progId="Equation.3">
                    <p:embed/>
                    <p:pic>
                      <p:nvPicPr>
                        <p:cNvPr id="11311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4" y="2071"/>
                          <a:ext cx="285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2" name="Line 80"/>
            <p:cNvSpPr>
              <a:spLocks noChangeShapeType="1"/>
            </p:cNvSpPr>
            <p:nvPr/>
          </p:nvSpPr>
          <p:spPr bwMode="auto">
            <a:xfrm flipH="1">
              <a:off x="1794" y="2232"/>
              <a:ext cx="0" cy="268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298" name="Group 66"/>
          <p:cNvGrpSpPr>
            <a:grpSpLocks/>
          </p:cNvGrpSpPr>
          <p:nvPr/>
        </p:nvGrpSpPr>
        <p:grpSpPr bwMode="auto">
          <a:xfrm>
            <a:off x="2287588" y="1801584"/>
            <a:ext cx="2225675" cy="474662"/>
            <a:chOff x="3682" y="3044"/>
            <a:chExt cx="1403" cy="299"/>
          </a:xfrm>
        </p:grpSpPr>
        <p:sp>
          <p:nvSpPr>
            <p:cNvPr id="11305" name="Text Box 67"/>
            <p:cNvSpPr txBox="1">
              <a:spLocks noChangeArrowheads="1"/>
            </p:cNvSpPr>
            <p:nvPr/>
          </p:nvSpPr>
          <p:spPr bwMode="auto">
            <a:xfrm>
              <a:off x="3682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6" name="Text Box 68"/>
            <p:cNvSpPr txBox="1">
              <a:spLocks noChangeArrowheads="1"/>
            </p:cNvSpPr>
            <p:nvPr/>
          </p:nvSpPr>
          <p:spPr bwMode="auto">
            <a:xfrm>
              <a:off x="3921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7" name="Text Box 69"/>
            <p:cNvSpPr txBox="1">
              <a:spLocks noChangeArrowheads="1"/>
            </p:cNvSpPr>
            <p:nvPr/>
          </p:nvSpPr>
          <p:spPr bwMode="auto">
            <a:xfrm>
              <a:off x="4160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8" name="Text Box 70"/>
            <p:cNvSpPr txBox="1">
              <a:spLocks noChangeArrowheads="1"/>
            </p:cNvSpPr>
            <p:nvPr/>
          </p:nvSpPr>
          <p:spPr bwMode="auto">
            <a:xfrm>
              <a:off x="4399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9" name="Text Box 71"/>
            <p:cNvSpPr txBox="1">
              <a:spLocks noChangeArrowheads="1"/>
            </p:cNvSpPr>
            <p:nvPr/>
          </p:nvSpPr>
          <p:spPr bwMode="auto">
            <a:xfrm>
              <a:off x="4638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10" name="Text Box 72"/>
            <p:cNvSpPr txBox="1">
              <a:spLocks noChangeArrowheads="1"/>
            </p:cNvSpPr>
            <p:nvPr/>
          </p:nvSpPr>
          <p:spPr bwMode="auto">
            <a:xfrm>
              <a:off x="4877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519345" name="Group 177"/>
          <p:cNvGrpSpPr>
            <a:grpSpLocks/>
          </p:cNvGrpSpPr>
          <p:nvPr/>
        </p:nvGrpSpPr>
        <p:grpSpPr bwMode="auto">
          <a:xfrm>
            <a:off x="3770332" y="2686144"/>
            <a:ext cx="523878" cy="452438"/>
            <a:chOff x="2513" y="1979"/>
            <a:chExt cx="330" cy="285"/>
          </a:xfrm>
        </p:grpSpPr>
        <p:graphicFrame>
          <p:nvGraphicFramePr>
            <p:cNvPr id="11303" name="Object 81"/>
            <p:cNvGraphicFramePr>
              <a:graphicFrameLocks noChangeAspect="1"/>
            </p:cNvGraphicFramePr>
            <p:nvPr/>
          </p:nvGraphicFramePr>
          <p:xfrm>
            <a:off x="2674" y="1979"/>
            <a:ext cx="16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39639" imgH="203112" progId="Equation.3">
                    <p:embed/>
                  </p:oleObj>
                </mc:Choice>
                <mc:Fallback>
                  <p:oleObj name="Ecuación" r:id="rId12" imgW="139639" imgH="203112" progId="Equation.3">
                    <p:embed/>
                    <p:pic>
                      <p:nvPicPr>
                        <p:cNvPr id="11303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4" y="1979"/>
                          <a:ext cx="16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4" name="Line 82"/>
            <p:cNvSpPr>
              <a:spLocks noChangeShapeType="1"/>
            </p:cNvSpPr>
            <p:nvPr/>
          </p:nvSpPr>
          <p:spPr bwMode="auto">
            <a:xfrm flipH="1">
              <a:off x="2513" y="199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519322" name="Text Box 154"/>
          <p:cNvSpPr txBox="1">
            <a:spLocks noChangeArrowheads="1"/>
          </p:cNvSpPr>
          <p:nvPr/>
        </p:nvSpPr>
        <p:spPr bwMode="auto">
          <a:xfrm>
            <a:off x="1396522" y="6037136"/>
            <a:ext cx="8913287" cy="905881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Cuando F</a:t>
            </a:r>
            <a:r>
              <a:rPr lang="es-ES" sz="2400" baseline="-25000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iguala a F</a:t>
            </a:r>
            <a:r>
              <a:rPr lang="es-ES" sz="2400" baseline="-25000" dirty="0">
                <a:solidFill>
                  <a:schemeClr val="tx1"/>
                </a:solidFill>
              </a:rPr>
              <a:t>B</a:t>
            </a:r>
            <a:r>
              <a:rPr lang="es-ES" sz="2400" b="1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dejan de desviarse portadores de carga y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 no se incrementa más 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92" name="Group 73"/>
          <p:cNvGrpSpPr>
            <a:grpSpLocks/>
          </p:cNvGrpSpPr>
          <p:nvPr/>
        </p:nvGrpSpPr>
        <p:grpSpPr bwMode="auto">
          <a:xfrm>
            <a:off x="2295525" y="3505924"/>
            <a:ext cx="2163763" cy="474662"/>
            <a:chOff x="3681" y="3044"/>
            <a:chExt cx="1363" cy="299"/>
          </a:xfrm>
        </p:grpSpPr>
        <p:sp>
          <p:nvSpPr>
            <p:cNvPr id="11297" name="Text Box 74"/>
            <p:cNvSpPr txBox="1">
              <a:spLocks noChangeArrowheads="1"/>
            </p:cNvSpPr>
            <p:nvPr/>
          </p:nvSpPr>
          <p:spPr bwMode="auto">
            <a:xfrm>
              <a:off x="3681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" name="Text Box 75"/>
            <p:cNvSpPr txBox="1">
              <a:spLocks noChangeArrowheads="1"/>
            </p:cNvSpPr>
            <p:nvPr/>
          </p:nvSpPr>
          <p:spPr bwMode="auto">
            <a:xfrm>
              <a:off x="3920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299" name="Text Box 76"/>
            <p:cNvSpPr txBox="1">
              <a:spLocks noChangeArrowheads="1"/>
            </p:cNvSpPr>
            <p:nvPr/>
          </p:nvSpPr>
          <p:spPr bwMode="auto">
            <a:xfrm>
              <a:off x="4159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0" name="Text Box 77"/>
            <p:cNvSpPr txBox="1">
              <a:spLocks noChangeArrowheads="1"/>
            </p:cNvSpPr>
            <p:nvPr/>
          </p:nvSpPr>
          <p:spPr bwMode="auto">
            <a:xfrm>
              <a:off x="4399" y="3044"/>
              <a:ext cx="16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1" name="Text Box 78"/>
            <p:cNvSpPr txBox="1">
              <a:spLocks noChangeArrowheads="1"/>
            </p:cNvSpPr>
            <p:nvPr/>
          </p:nvSpPr>
          <p:spPr bwMode="auto">
            <a:xfrm>
              <a:off x="4637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2" name="Text Box 79"/>
            <p:cNvSpPr txBox="1">
              <a:spLocks noChangeArrowheads="1"/>
            </p:cNvSpPr>
            <p:nvPr/>
          </p:nvSpPr>
          <p:spPr bwMode="auto">
            <a:xfrm>
              <a:off x="4876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93" name="Text Box 154"/>
          <p:cNvSpPr txBox="1">
            <a:spLocks noChangeArrowheads="1"/>
          </p:cNvSpPr>
          <p:nvPr/>
        </p:nvSpPr>
        <p:spPr bwMode="auto">
          <a:xfrm>
            <a:off x="1396522" y="5219305"/>
            <a:ext cx="8841497" cy="905881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Los excesos de carga, el de arriba y el de abajo, generan </a:t>
            </a:r>
            <a:r>
              <a:rPr lang="es-ES" sz="2400">
                <a:solidFill>
                  <a:schemeClr val="tx1"/>
                </a:solidFill>
              </a:rPr>
              <a:t>un </a:t>
            </a:r>
            <a:r>
              <a:rPr lang="es-ES" sz="2400" b="1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,</a:t>
            </a:r>
            <a:r>
              <a:rPr lang="es-ES" sz="2400" b="1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</a:rPr>
              <a:t>en </a:t>
            </a:r>
            <a:r>
              <a:rPr lang="es-ES" sz="2400" dirty="0">
                <a:solidFill>
                  <a:schemeClr val="tx1"/>
                </a:solidFill>
              </a:rPr>
              <a:t>la lámina hacia abajo, que sienten los no acumulados</a:t>
            </a:r>
          </a:p>
        </p:txBody>
      </p:sp>
      <p:sp>
        <p:nvSpPr>
          <p:cNvPr id="94" name="Text Box 154"/>
          <p:cNvSpPr txBox="1">
            <a:spLocks noChangeArrowheads="1"/>
          </p:cNvSpPr>
          <p:nvPr/>
        </p:nvSpPr>
        <p:spPr bwMode="auto">
          <a:xfrm>
            <a:off x="5612905" y="2076055"/>
            <a:ext cx="4929577" cy="2013877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va desviando a los portadores de carga de la corriente</a:t>
            </a:r>
            <a:r>
              <a:rPr lang="es-ES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s-ES" sz="2400" dirty="0">
                <a:solidFill>
                  <a:schemeClr val="tx1"/>
                </a:solidFill>
              </a:rPr>
              <a:t>hacia arriba cuando van cruzando </a:t>
            </a:r>
            <a:r>
              <a:rPr lang="es-ES" sz="2400">
                <a:solidFill>
                  <a:schemeClr val="tx1"/>
                </a:solidFill>
              </a:rPr>
              <a:t>la lámina (</a:t>
            </a:r>
            <a:r>
              <a:rPr lang="es-ES" sz="2400" b="1">
                <a:solidFill>
                  <a:schemeClr val="tx1"/>
                </a:solidFill>
              </a:rPr>
              <a:t>F</a:t>
            </a:r>
            <a:r>
              <a:rPr lang="es-ES" sz="2400" b="1" baseline="-25000">
                <a:solidFill>
                  <a:schemeClr val="tx1"/>
                </a:solidFill>
              </a:rPr>
              <a:t>B</a:t>
            </a:r>
            <a:r>
              <a:rPr lang="es-ES" sz="2400">
                <a:solidFill>
                  <a:schemeClr val="tx1"/>
                </a:solidFill>
              </a:rPr>
              <a:t>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 </a:t>
            </a:r>
            <a:r>
              <a:rPr lang="es-ES" sz="2400" b="1">
                <a:solidFill>
                  <a:schemeClr val="tx1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), acumulándose progresivamente </a:t>
            </a:r>
            <a:r>
              <a:rPr lang="es-ES" sz="2400" dirty="0">
                <a:solidFill>
                  <a:schemeClr val="tx1"/>
                </a:solidFill>
              </a:rPr>
              <a:t>arriba</a:t>
            </a:r>
            <a:endParaRPr lang="es-E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96" name="Text Box 154">
            <a:extLst>
              <a:ext uri="{FF2B5EF4-FFF2-40B4-BE49-F238E27FC236}">
                <a16:creationId xmlns:a16="http://schemas.microsoft.com/office/drawing/2014/main" id="{749A57F6-81C6-47A9-969E-343D85121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404" y="4026027"/>
            <a:ext cx="4609228" cy="1275213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Como la lámina es neutra, va apareciendo un exceso de carga negativa inducido abajo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AB22FB15-8A6D-47A1-A4AF-03F0A44CBFDD}"/>
              </a:ext>
            </a:extLst>
          </p:cNvPr>
          <p:cNvGrpSpPr/>
          <p:nvPr/>
        </p:nvGrpSpPr>
        <p:grpSpPr>
          <a:xfrm>
            <a:off x="8712074" y="1171329"/>
            <a:ext cx="1608138" cy="902423"/>
            <a:chOff x="5761063" y="3106241"/>
            <a:chExt cx="1608138" cy="902423"/>
          </a:xfrm>
        </p:grpSpPr>
        <p:grpSp>
          <p:nvGrpSpPr>
            <p:cNvPr id="97" name="Grupo 96">
              <a:extLst>
                <a:ext uri="{FF2B5EF4-FFF2-40B4-BE49-F238E27FC236}">
                  <a16:creationId xmlns:a16="http://schemas.microsoft.com/office/drawing/2014/main" id="{896B10B8-A8E1-4B50-8A8E-A08EED0B26C4}"/>
                </a:ext>
              </a:extLst>
            </p:cNvPr>
            <p:cNvGrpSpPr/>
            <p:nvPr/>
          </p:nvGrpSpPr>
          <p:grpSpPr>
            <a:xfrm>
              <a:off x="5761063" y="3106241"/>
              <a:ext cx="1608138" cy="803275"/>
              <a:chOff x="6710381" y="6082957"/>
              <a:chExt cx="1608138" cy="803275"/>
            </a:xfrm>
          </p:grpSpPr>
          <p:sp>
            <p:nvSpPr>
              <p:cNvPr id="99" name="Rectangle 49">
                <a:extLst>
                  <a:ext uri="{FF2B5EF4-FFF2-40B4-BE49-F238E27FC236}">
                    <a16:creationId xmlns:a16="http://schemas.microsoft.com/office/drawing/2014/main" id="{36845184-7938-42F5-8890-FC82440F6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10381" y="6082957"/>
                <a:ext cx="1608138" cy="8032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00" name="Object 55">
                    <a:extLst>
                      <a:ext uri="{FF2B5EF4-FFF2-40B4-BE49-F238E27FC236}">
                        <a16:creationId xmlns:a16="http://schemas.microsoft.com/office/drawing/2014/main" id="{65A55BF9-71DE-4003-AF05-080EBA5AB32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cuación" r:id="rId14" imgW="457200" imgH="241300" progId="Equation.3">
                          <p:embed/>
                        </p:oleObj>
                      </mc:Choice>
                      <mc:Fallback>
                        <p:oleObj name="Ecuación" r:id="rId14" imgW="457200" imgH="241300" progId="Equation.3">
                          <p:embed/>
                          <p:pic>
                            <p:nvPicPr>
                              <p:cNvPr id="100" name="Object 55">
                                <a:extLst>
                                  <a:ext uri="{FF2B5EF4-FFF2-40B4-BE49-F238E27FC236}">
                                    <a16:creationId xmlns:a16="http://schemas.microsoft.com/office/drawing/2014/main" id="{65A55BF9-71DE-4003-AF05-080EBA5AB32D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43" name="Object 55">
                    <a:extLst>
                      <a:ext uri="{FF2B5EF4-FFF2-40B4-BE49-F238E27FC236}">
                        <a16:creationId xmlns:a16="http://schemas.microsoft.com/office/drawing/2014/main" id="{CA3DBE38-6BA6-4109-9BD0-B95A9C5161E7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337335713"/>
                      </p:ext>
                    </p:extLst>
                  </p:nvPr>
                </p:nvGraphicFramePr>
                <p:xfrm>
                  <a:off x="6801663" y="6087031"/>
                  <a:ext cx="1425575" cy="75247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88246" name="Ecuación" r:id="rId19" imgW="457200" imgH="241300" progId="Equation.3">
                          <p:embed/>
                        </p:oleObj>
                      </mc:Choice>
                      <mc:Fallback>
                        <p:oleObj name="Ecuación" r:id="rId19" imgW="457200" imgH="241300" progId="Equation.3">
                          <p:embed/>
                          <p:pic>
                            <p:nvPicPr>
                              <p:cNvPr id="58" name="Object 55">
                                <a:extLst>
                                  <a:ext uri="{FF2B5EF4-FFF2-40B4-BE49-F238E27FC236}">
                                    <a16:creationId xmlns:a16="http://schemas.microsoft.com/office/drawing/2014/main" id="{AB9ADE89-DC3E-4D39-888F-0DD19254511C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01663" y="6087031"/>
                                <a:ext cx="1425575" cy="7524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Object 55">
                  <a:extLst>
                    <a:ext uri="{FF2B5EF4-FFF2-40B4-BE49-F238E27FC236}">
                      <a16:creationId xmlns:a16="http://schemas.microsoft.com/office/drawing/2014/main" id="{4087D837-B780-42A2-A91D-C98767AB4644}"/>
                    </a:ext>
                  </a:extLst>
                </p:cNvPr>
                <p:cNvSpPr txBox="1"/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52" name="Object 55">
                  <a:extLst>
                    <a:ext uri="{FF2B5EF4-FFF2-40B4-BE49-F238E27FC236}">
                      <a16:creationId xmlns:a16="http://schemas.microsoft.com/office/drawing/2014/main" id="{24CC9A1A-FBCF-452F-A1FE-66FF3B457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998025" y="3490004"/>
                  <a:ext cx="333748" cy="51866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44">
            <a:extLst>
              <a:ext uri="{FF2B5EF4-FFF2-40B4-BE49-F238E27FC236}">
                <a16:creationId xmlns:a16="http://schemas.microsoft.com/office/drawing/2014/main" id="{2B7B2AEE-AECE-41E9-99FF-DE3DF5E5FEBB}"/>
              </a:ext>
            </a:extLst>
          </p:cNvPr>
          <p:cNvGrpSpPr>
            <a:grpSpLocks/>
          </p:cNvGrpSpPr>
          <p:nvPr/>
        </p:nvGrpSpPr>
        <p:grpSpPr bwMode="auto">
          <a:xfrm>
            <a:off x="5742659" y="1148914"/>
            <a:ext cx="2805112" cy="855663"/>
            <a:chOff x="4157" y="1070"/>
            <a:chExt cx="1767" cy="539"/>
          </a:xfrm>
        </p:grpSpPr>
        <p:sp>
          <p:nvSpPr>
            <p:cNvPr id="104" name="Rectangle 20">
              <a:extLst>
                <a:ext uri="{FF2B5EF4-FFF2-40B4-BE49-F238E27FC236}">
                  <a16:creationId xmlns:a16="http://schemas.microsoft.com/office/drawing/2014/main" id="{4B7B7ACE-4E90-4B47-8D6E-031EB70A1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1070"/>
              <a:ext cx="1767" cy="52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/>
            </a:p>
          </p:txBody>
        </p:sp>
        <p:graphicFrame>
          <p:nvGraphicFramePr>
            <p:cNvPr id="105" name="Object 21">
              <a:extLst>
                <a:ext uri="{FF2B5EF4-FFF2-40B4-BE49-F238E27FC236}">
                  <a16:creationId xmlns:a16="http://schemas.microsoft.com/office/drawing/2014/main" id="{AA2C8A67-DB00-4A54-9774-B04C4EAFBE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01" y="1076"/>
            <a:ext cx="1701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22" imgW="850531" imgH="266584" progId="Equation.3">
                    <p:embed/>
                  </p:oleObj>
                </mc:Choice>
                <mc:Fallback>
                  <p:oleObj name="Ecuación" r:id="rId22" imgW="850531" imgH="266584" progId="Equation.3">
                    <p:embed/>
                    <p:pic>
                      <p:nvPicPr>
                        <p:cNvPr id="105" name="Object 21">
                          <a:extLst>
                            <a:ext uri="{FF2B5EF4-FFF2-40B4-BE49-F238E27FC236}">
                              <a16:creationId xmlns:a16="http://schemas.microsoft.com/office/drawing/2014/main" id="{AA2C8A67-DB00-4A54-9774-B04C4EAFBE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" y="1076"/>
                          <a:ext cx="1701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1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1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1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1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1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226" grpId="0" animBg="1"/>
      <p:bldP spid="519322" grpId="0"/>
      <p:bldP spid="93" grpId="0"/>
      <p:bldP spid="94" grpId="0"/>
      <p:bldP spid="9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1236663" y="1879689"/>
            <a:ext cx="371475" cy="530225"/>
            <a:chOff x="1237295" y="2112546"/>
            <a:chExt cx="371475" cy="530225"/>
          </a:xfrm>
        </p:grpSpPr>
        <p:sp>
          <p:nvSpPr>
            <p:cNvPr id="11351" name="Line 48"/>
            <p:cNvSpPr>
              <a:spLocks noChangeShapeType="1"/>
            </p:cNvSpPr>
            <p:nvPr/>
          </p:nvSpPr>
          <p:spPr bwMode="auto">
            <a:xfrm>
              <a:off x="1608770" y="2156996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352" name="Text Box 50"/>
            <p:cNvSpPr txBox="1">
              <a:spLocks noChangeArrowheads="1"/>
            </p:cNvSpPr>
            <p:nvPr/>
          </p:nvSpPr>
          <p:spPr bwMode="auto">
            <a:xfrm>
              <a:off x="1237295" y="211254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5206454" y="1886039"/>
            <a:ext cx="390525" cy="549275"/>
            <a:chOff x="5207633" y="2118896"/>
            <a:chExt cx="390525" cy="549276"/>
          </a:xfrm>
        </p:grpSpPr>
        <p:sp>
          <p:nvSpPr>
            <p:cNvPr id="11349" name="Line 49"/>
            <p:cNvSpPr>
              <a:spLocks noChangeShapeType="1"/>
            </p:cNvSpPr>
            <p:nvPr/>
          </p:nvSpPr>
          <p:spPr bwMode="auto">
            <a:xfrm flipV="1">
              <a:off x="5207633" y="2298284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350" name="Text Box 51"/>
            <p:cNvSpPr txBox="1">
              <a:spLocks noChangeArrowheads="1"/>
            </p:cNvSpPr>
            <p:nvPr/>
          </p:nvSpPr>
          <p:spPr bwMode="auto">
            <a:xfrm>
              <a:off x="5250495" y="211889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589088" y="911023"/>
            <a:ext cx="3636962" cy="2735553"/>
            <a:chOff x="1589088" y="1144297"/>
            <a:chExt cx="3636962" cy="2735553"/>
          </a:xfrm>
        </p:grpSpPr>
        <p:grpSp>
          <p:nvGrpSpPr>
            <p:cNvPr id="6" name="Grupo 5"/>
            <p:cNvGrpSpPr/>
            <p:nvPr/>
          </p:nvGrpSpPr>
          <p:grpSpPr>
            <a:xfrm>
              <a:off x="1589088" y="1144297"/>
              <a:ext cx="3636962" cy="2735553"/>
              <a:chOff x="1589088" y="1144297"/>
              <a:chExt cx="3636962" cy="2735553"/>
            </a:xfrm>
          </p:grpSpPr>
          <p:sp>
            <p:nvSpPr>
              <p:cNvPr id="11266" name="Line 7"/>
              <p:cNvSpPr>
                <a:spLocks noChangeShapeType="1"/>
              </p:cNvSpPr>
              <p:nvPr/>
            </p:nvSpPr>
            <p:spPr bwMode="auto">
              <a:xfrm flipH="1">
                <a:off x="1616075" y="1403059"/>
                <a:ext cx="17240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7" name="Line 8"/>
              <p:cNvSpPr>
                <a:spLocks noChangeShapeType="1"/>
              </p:cNvSpPr>
              <p:nvPr/>
            </p:nvSpPr>
            <p:spPr bwMode="auto">
              <a:xfrm flipH="1">
                <a:off x="3462338" y="1409409"/>
                <a:ext cx="176371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8" name="Line 9"/>
              <p:cNvSpPr>
                <a:spLocks noChangeShapeType="1"/>
              </p:cNvSpPr>
              <p:nvPr/>
            </p:nvSpPr>
            <p:spPr bwMode="auto">
              <a:xfrm flipH="1">
                <a:off x="1589088" y="3132138"/>
                <a:ext cx="76358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69" name="Line 10"/>
              <p:cNvSpPr>
                <a:spLocks noChangeShapeType="1"/>
              </p:cNvSpPr>
              <p:nvPr/>
            </p:nvSpPr>
            <p:spPr bwMode="auto">
              <a:xfrm rot="5400000" flipH="1">
                <a:off x="739903" y="2254826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0" name="Line 11"/>
              <p:cNvSpPr>
                <a:spLocks noChangeShapeType="1"/>
              </p:cNvSpPr>
              <p:nvPr/>
            </p:nvSpPr>
            <p:spPr bwMode="auto">
              <a:xfrm rot="5400000" flipH="1">
                <a:off x="4345864" y="2262764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1" name="Line 12"/>
              <p:cNvSpPr>
                <a:spLocks noChangeShapeType="1"/>
              </p:cNvSpPr>
              <p:nvPr/>
            </p:nvSpPr>
            <p:spPr bwMode="auto">
              <a:xfrm flipH="1">
                <a:off x="4445000" y="3128963"/>
                <a:ext cx="76358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2" name="Line 14"/>
              <p:cNvSpPr>
                <a:spLocks noChangeShapeType="1"/>
              </p:cNvSpPr>
              <p:nvPr/>
            </p:nvSpPr>
            <p:spPr bwMode="auto">
              <a:xfrm>
                <a:off x="3375025" y="1144297"/>
                <a:ext cx="0" cy="53975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3" name="Line 15"/>
              <p:cNvSpPr>
                <a:spLocks noChangeShapeType="1"/>
              </p:cNvSpPr>
              <p:nvPr/>
            </p:nvSpPr>
            <p:spPr bwMode="auto">
              <a:xfrm>
                <a:off x="3444875" y="1234784"/>
                <a:ext cx="0" cy="36036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76" name="Rectangle 13"/>
              <p:cNvSpPr>
                <a:spLocks noChangeArrowheads="1"/>
              </p:cNvSpPr>
              <p:nvPr/>
            </p:nvSpPr>
            <p:spPr bwMode="auto">
              <a:xfrm>
                <a:off x="2303463" y="2424113"/>
                <a:ext cx="2163762" cy="1455737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277" name="Line 152"/>
            <p:cNvSpPr>
              <a:spLocks noChangeShapeType="1"/>
            </p:cNvSpPr>
            <p:nvPr/>
          </p:nvSpPr>
          <p:spPr bwMode="auto">
            <a:xfrm>
              <a:off x="4823397" y="2474913"/>
              <a:ext cx="0" cy="1381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1278" name="Text Box 153"/>
            <p:cNvSpPr txBox="1">
              <a:spLocks noChangeArrowheads="1"/>
            </p:cNvSpPr>
            <p:nvPr/>
          </p:nvSpPr>
          <p:spPr bwMode="auto">
            <a:xfrm>
              <a:off x="4698712" y="3205653"/>
              <a:ext cx="244225" cy="44203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519335" name="Group 167"/>
          <p:cNvGrpSpPr>
            <a:grpSpLocks/>
          </p:cNvGrpSpPr>
          <p:nvPr/>
        </p:nvGrpSpPr>
        <p:grpSpPr bwMode="auto">
          <a:xfrm>
            <a:off x="2271713" y="2081301"/>
            <a:ext cx="2219325" cy="1590675"/>
            <a:chOff x="1569" y="1578"/>
            <a:chExt cx="1398" cy="1002"/>
          </a:xfrm>
        </p:grpSpPr>
        <p:grpSp>
          <p:nvGrpSpPr>
            <p:cNvPr id="11318" name="Group 17"/>
            <p:cNvGrpSpPr>
              <a:grpSpLocks/>
            </p:cNvGrpSpPr>
            <p:nvPr/>
          </p:nvGrpSpPr>
          <p:grpSpPr bwMode="auto">
            <a:xfrm>
              <a:off x="1569" y="1578"/>
              <a:ext cx="1398" cy="296"/>
              <a:chOff x="3634" y="2306"/>
              <a:chExt cx="1398" cy="296"/>
            </a:xfrm>
          </p:grpSpPr>
          <p:sp>
            <p:nvSpPr>
              <p:cNvPr id="11341" name="Text Box 18"/>
              <p:cNvSpPr txBox="1">
                <a:spLocks noChangeArrowheads="1"/>
              </p:cNvSpPr>
              <p:nvPr/>
            </p:nvSpPr>
            <p:spPr bwMode="auto">
              <a:xfrm>
                <a:off x="3634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2" name="Text Box 19"/>
              <p:cNvSpPr txBox="1">
                <a:spLocks noChangeArrowheads="1"/>
              </p:cNvSpPr>
              <p:nvPr/>
            </p:nvSpPr>
            <p:spPr bwMode="auto">
              <a:xfrm>
                <a:off x="3873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3" name="Text Box 20"/>
              <p:cNvSpPr txBox="1">
                <a:spLocks noChangeArrowheads="1"/>
              </p:cNvSpPr>
              <p:nvPr/>
            </p:nvSpPr>
            <p:spPr bwMode="auto">
              <a:xfrm>
                <a:off x="4112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4" name="Text Box 21"/>
              <p:cNvSpPr txBox="1">
                <a:spLocks noChangeArrowheads="1"/>
              </p:cNvSpPr>
              <p:nvPr/>
            </p:nvSpPr>
            <p:spPr bwMode="auto">
              <a:xfrm>
                <a:off x="4351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5" name="Text Box 22"/>
              <p:cNvSpPr txBox="1">
                <a:spLocks noChangeArrowheads="1"/>
              </p:cNvSpPr>
              <p:nvPr/>
            </p:nvSpPr>
            <p:spPr bwMode="auto">
              <a:xfrm>
                <a:off x="4590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6" name="Text Box 23"/>
              <p:cNvSpPr txBox="1">
                <a:spLocks noChangeArrowheads="1"/>
              </p:cNvSpPr>
              <p:nvPr/>
            </p:nvSpPr>
            <p:spPr bwMode="auto">
              <a:xfrm>
                <a:off x="4829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 dirty="0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19" name="Group 24"/>
            <p:cNvGrpSpPr>
              <a:grpSpLocks/>
            </p:cNvGrpSpPr>
            <p:nvPr/>
          </p:nvGrpSpPr>
          <p:grpSpPr bwMode="auto">
            <a:xfrm>
              <a:off x="1569" y="1824"/>
              <a:ext cx="1398" cy="296"/>
              <a:chOff x="3650" y="2552"/>
              <a:chExt cx="1398" cy="296"/>
            </a:xfrm>
          </p:grpSpPr>
          <p:sp>
            <p:nvSpPr>
              <p:cNvPr id="11335" name="Text Box 25"/>
              <p:cNvSpPr txBox="1">
                <a:spLocks noChangeArrowheads="1"/>
              </p:cNvSpPr>
              <p:nvPr/>
            </p:nvSpPr>
            <p:spPr bwMode="auto">
              <a:xfrm>
                <a:off x="3650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6" name="Text Box 26"/>
              <p:cNvSpPr txBox="1">
                <a:spLocks noChangeArrowheads="1"/>
              </p:cNvSpPr>
              <p:nvPr/>
            </p:nvSpPr>
            <p:spPr bwMode="auto">
              <a:xfrm>
                <a:off x="3889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7" name="Text Box 27"/>
              <p:cNvSpPr txBox="1">
                <a:spLocks noChangeArrowheads="1"/>
              </p:cNvSpPr>
              <p:nvPr/>
            </p:nvSpPr>
            <p:spPr bwMode="auto">
              <a:xfrm>
                <a:off x="4128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8" name="Text Box 28"/>
              <p:cNvSpPr txBox="1">
                <a:spLocks noChangeArrowheads="1"/>
              </p:cNvSpPr>
              <p:nvPr/>
            </p:nvSpPr>
            <p:spPr bwMode="auto">
              <a:xfrm>
                <a:off x="4367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9" name="Text Box 29"/>
              <p:cNvSpPr txBox="1">
                <a:spLocks noChangeArrowheads="1"/>
              </p:cNvSpPr>
              <p:nvPr/>
            </p:nvSpPr>
            <p:spPr bwMode="auto">
              <a:xfrm>
                <a:off x="4606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40" name="Text Box 30"/>
              <p:cNvSpPr txBox="1">
                <a:spLocks noChangeArrowheads="1"/>
              </p:cNvSpPr>
              <p:nvPr/>
            </p:nvSpPr>
            <p:spPr bwMode="auto">
              <a:xfrm>
                <a:off x="4845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20" name="Group 31"/>
            <p:cNvGrpSpPr>
              <a:grpSpLocks/>
            </p:cNvGrpSpPr>
            <p:nvPr/>
          </p:nvGrpSpPr>
          <p:grpSpPr bwMode="auto">
            <a:xfrm>
              <a:off x="1569" y="2070"/>
              <a:ext cx="1398" cy="296"/>
              <a:chOff x="3666" y="2798"/>
              <a:chExt cx="1398" cy="296"/>
            </a:xfrm>
          </p:grpSpPr>
          <p:sp>
            <p:nvSpPr>
              <p:cNvPr id="11329" name="Text Box 32"/>
              <p:cNvSpPr txBox="1">
                <a:spLocks noChangeArrowheads="1"/>
              </p:cNvSpPr>
              <p:nvPr/>
            </p:nvSpPr>
            <p:spPr bwMode="auto">
              <a:xfrm>
                <a:off x="3666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0" name="Text Box 33"/>
              <p:cNvSpPr txBox="1">
                <a:spLocks noChangeArrowheads="1"/>
              </p:cNvSpPr>
              <p:nvPr/>
            </p:nvSpPr>
            <p:spPr bwMode="auto">
              <a:xfrm>
                <a:off x="3905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1" name="Text Box 34"/>
              <p:cNvSpPr txBox="1">
                <a:spLocks noChangeArrowheads="1"/>
              </p:cNvSpPr>
              <p:nvPr/>
            </p:nvSpPr>
            <p:spPr bwMode="auto">
              <a:xfrm>
                <a:off x="4144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2" name="Text Box 35"/>
              <p:cNvSpPr txBox="1">
                <a:spLocks noChangeArrowheads="1"/>
              </p:cNvSpPr>
              <p:nvPr/>
            </p:nvSpPr>
            <p:spPr bwMode="auto">
              <a:xfrm>
                <a:off x="4383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3" name="Text Box 36"/>
              <p:cNvSpPr txBox="1">
                <a:spLocks noChangeArrowheads="1"/>
              </p:cNvSpPr>
              <p:nvPr/>
            </p:nvSpPr>
            <p:spPr bwMode="auto">
              <a:xfrm>
                <a:off x="4622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34" name="Text Box 37"/>
              <p:cNvSpPr txBox="1">
                <a:spLocks noChangeArrowheads="1"/>
              </p:cNvSpPr>
              <p:nvPr/>
            </p:nvSpPr>
            <p:spPr bwMode="auto">
              <a:xfrm>
                <a:off x="4861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1321" name="Group 38"/>
            <p:cNvGrpSpPr>
              <a:grpSpLocks/>
            </p:cNvGrpSpPr>
            <p:nvPr/>
          </p:nvGrpSpPr>
          <p:grpSpPr bwMode="auto">
            <a:xfrm>
              <a:off x="1569" y="2284"/>
              <a:ext cx="1398" cy="296"/>
              <a:chOff x="3682" y="3044"/>
              <a:chExt cx="1398" cy="296"/>
            </a:xfrm>
          </p:grpSpPr>
          <p:sp>
            <p:nvSpPr>
              <p:cNvPr id="11323" name="Text Box 39"/>
              <p:cNvSpPr txBox="1">
                <a:spLocks noChangeArrowheads="1"/>
              </p:cNvSpPr>
              <p:nvPr/>
            </p:nvSpPr>
            <p:spPr bwMode="auto">
              <a:xfrm>
                <a:off x="3682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4" name="Text Box 40"/>
              <p:cNvSpPr txBox="1">
                <a:spLocks noChangeArrowheads="1"/>
              </p:cNvSpPr>
              <p:nvPr/>
            </p:nvSpPr>
            <p:spPr bwMode="auto">
              <a:xfrm>
                <a:off x="3921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5" name="Text Box 41"/>
              <p:cNvSpPr txBox="1">
                <a:spLocks noChangeArrowheads="1"/>
              </p:cNvSpPr>
              <p:nvPr/>
            </p:nvSpPr>
            <p:spPr bwMode="auto">
              <a:xfrm>
                <a:off x="4160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6" name="Text Box 42"/>
              <p:cNvSpPr txBox="1">
                <a:spLocks noChangeArrowheads="1"/>
              </p:cNvSpPr>
              <p:nvPr/>
            </p:nvSpPr>
            <p:spPr bwMode="auto">
              <a:xfrm>
                <a:off x="4399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7" name="Text Box 43"/>
              <p:cNvSpPr txBox="1">
                <a:spLocks noChangeArrowheads="1"/>
              </p:cNvSpPr>
              <p:nvPr/>
            </p:nvSpPr>
            <p:spPr bwMode="auto">
              <a:xfrm>
                <a:off x="4638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11328" name="Text Box 44"/>
              <p:cNvSpPr txBox="1">
                <a:spLocks noChangeArrowheads="1"/>
              </p:cNvSpPr>
              <p:nvPr/>
            </p:nvSpPr>
            <p:spPr bwMode="auto">
              <a:xfrm>
                <a:off x="4877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aphicFrame>
          <p:nvGraphicFramePr>
            <p:cNvPr id="11322" name="Object 46"/>
            <p:cNvGraphicFramePr>
              <a:graphicFrameLocks noChangeAspect="1"/>
            </p:cNvGraphicFramePr>
            <p:nvPr/>
          </p:nvGraphicFramePr>
          <p:xfrm>
            <a:off x="2169" y="1671"/>
            <a:ext cx="212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52280" imgH="203040" progId="Equation.3">
                    <p:embed/>
                  </p:oleObj>
                </mc:Choice>
                <mc:Fallback>
                  <p:oleObj name="Ecuación" r:id="rId3" imgW="152280" imgH="203040" progId="Equation.3">
                    <p:embed/>
                    <p:pic>
                      <p:nvPicPr>
                        <p:cNvPr id="11322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9" y="1671"/>
                          <a:ext cx="212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334" name="Group 166"/>
          <p:cNvGrpSpPr>
            <a:grpSpLocks/>
          </p:cNvGrpSpPr>
          <p:nvPr/>
        </p:nvGrpSpPr>
        <p:grpSpPr bwMode="auto">
          <a:xfrm>
            <a:off x="2447925" y="2716305"/>
            <a:ext cx="1068388" cy="392113"/>
            <a:chOff x="1680" y="1978"/>
            <a:chExt cx="673" cy="247"/>
          </a:xfrm>
        </p:grpSpPr>
        <p:pic>
          <p:nvPicPr>
            <p:cNvPr id="11315" name="Picture 52" descr="Image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978"/>
              <a:ext cx="24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16" name="Line 53"/>
            <p:cNvSpPr>
              <a:spLocks noChangeShapeType="1"/>
            </p:cNvSpPr>
            <p:nvPr/>
          </p:nvSpPr>
          <p:spPr bwMode="auto">
            <a:xfrm>
              <a:off x="1922" y="2092"/>
              <a:ext cx="21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graphicFrame>
          <p:nvGraphicFramePr>
            <p:cNvPr id="11317" name="Object 54"/>
            <p:cNvGraphicFramePr>
              <a:graphicFrameLocks noChangeAspect="1"/>
            </p:cNvGraphicFramePr>
            <p:nvPr/>
          </p:nvGraphicFramePr>
          <p:xfrm>
            <a:off x="2199" y="1986"/>
            <a:ext cx="15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26725" imgH="177415" progId="Equation.3">
                    <p:embed/>
                  </p:oleObj>
                </mc:Choice>
                <mc:Fallback>
                  <p:oleObj name="Ecuación" r:id="rId6" imgW="126725" imgH="177415" progId="Equation.3">
                    <p:embed/>
                    <p:pic>
                      <p:nvPicPr>
                        <p:cNvPr id="11317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9" y="1986"/>
                          <a:ext cx="15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336" name="Group 168"/>
          <p:cNvGrpSpPr>
            <a:grpSpLocks/>
          </p:cNvGrpSpPr>
          <p:nvPr/>
        </p:nvGrpSpPr>
        <p:grpSpPr bwMode="auto">
          <a:xfrm>
            <a:off x="1809750" y="2098764"/>
            <a:ext cx="812800" cy="636587"/>
            <a:chOff x="1278" y="1589"/>
            <a:chExt cx="512" cy="401"/>
          </a:xfrm>
        </p:grpSpPr>
        <p:graphicFrame>
          <p:nvGraphicFramePr>
            <p:cNvPr id="11313" name="Object 64"/>
            <p:cNvGraphicFramePr>
              <a:graphicFrameLocks noChangeAspect="1"/>
            </p:cNvGraphicFramePr>
            <p:nvPr/>
          </p:nvGraphicFramePr>
          <p:xfrm>
            <a:off x="1278" y="1589"/>
            <a:ext cx="28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90335" imgH="266469" progId="Equation.3">
                    <p:embed/>
                  </p:oleObj>
                </mc:Choice>
                <mc:Fallback>
                  <p:oleObj name="Ecuación" r:id="rId8" imgW="190335" imgH="266469" progId="Equation.3">
                    <p:embed/>
                    <p:pic>
                      <p:nvPicPr>
                        <p:cNvPr id="11313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" y="1589"/>
                          <a:ext cx="285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4" name="Line 65"/>
            <p:cNvSpPr>
              <a:spLocks noChangeShapeType="1"/>
            </p:cNvSpPr>
            <p:nvPr/>
          </p:nvSpPr>
          <p:spPr bwMode="auto">
            <a:xfrm flipH="1" flipV="1">
              <a:off x="1790" y="1690"/>
              <a:ext cx="0" cy="2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519338" name="Group 170"/>
          <p:cNvGrpSpPr>
            <a:grpSpLocks/>
          </p:cNvGrpSpPr>
          <p:nvPr/>
        </p:nvGrpSpPr>
        <p:grpSpPr bwMode="auto">
          <a:xfrm>
            <a:off x="1835150" y="2863939"/>
            <a:ext cx="793750" cy="681037"/>
            <a:chOff x="1294" y="2071"/>
            <a:chExt cx="500" cy="429"/>
          </a:xfrm>
        </p:grpSpPr>
        <p:graphicFrame>
          <p:nvGraphicFramePr>
            <p:cNvPr id="11311" name="Object 62"/>
            <p:cNvGraphicFramePr>
              <a:graphicFrameLocks noChangeAspect="1"/>
            </p:cNvGraphicFramePr>
            <p:nvPr/>
          </p:nvGraphicFramePr>
          <p:xfrm>
            <a:off x="1294" y="2071"/>
            <a:ext cx="285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90335" imgH="266469" progId="Equation.3">
                    <p:embed/>
                  </p:oleObj>
                </mc:Choice>
                <mc:Fallback>
                  <p:oleObj name="Ecuación" r:id="rId10" imgW="190335" imgH="266469" progId="Equation.3">
                    <p:embed/>
                    <p:pic>
                      <p:nvPicPr>
                        <p:cNvPr id="11311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4" y="2071"/>
                          <a:ext cx="285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2" name="Line 80"/>
            <p:cNvSpPr>
              <a:spLocks noChangeShapeType="1"/>
            </p:cNvSpPr>
            <p:nvPr/>
          </p:nvSpPr>
          <p:spPr bwMode="auto">
            <a:xfrm flipH="1">
              <a:off x="1794" y="2232"/>
              <a:ext cx="0" cy="268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11298" name="Group 66"/>
          <p:cNvGrpSpPr>
            <a:grpSpLocks/>
          </p:cNvGrpSpPr>
          <p:nvPr/>
        </p:nvGrpSpPr>
        <p:grpSpPr bwMode="auto">
          <a:xfrm>
            <a:off x="2287588" y="1801584"/>
            <a:ext cx="2225675" cy="474662"/>
            <a:chOff x="3682" y="3044"/>
            <a:chExt cx="1403" cy="299"/>
          </a:xfrm>
        </p:grpSpPr>
        <p:sp>
          <p:nvSpPr>
            <p:cNvPr id="11305" name="Text Box 67"/>
            <p:cNvSpPr txBox="1">
              <a:spLocks noChangeArrowheads="1"/>
            </p:cNvSpPr>
            <p:nvPr/>
          </p:nvSpPr>
          <p:spPr bwMode="auto">
            <a:xfrm>
              <a:off x="3682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6" name="Text Box 68"/>
            <p:cNvSpPr txBox="1">
              <a:spLocks noChangeArrowheads="1"/>
            </p:cNvSpPr>
            <p:nvPr/>
          </p:nvSpPr>
          <p:spPr bwMode="auto">
            <a:xfrm>
              <a:off x="3921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7" name="Text Box 69"/>
            <p:cNvSpPr txBox="1">
              <a:spLocks noChangeArrowheads="1"/>
            </p:cNvSpPr>
            <p:nvPr/>
          </p:nvSpPr>
          <p:spPr bwMode="auto">
            <a:xfrm>
              <a:off x="4160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8" name="Text Box 70"/>
            <p:cNvSpPr txBox="1">
              <a:spLocks noChangeArrowheads="1"/>
            </p:cNvSpPr>
            <p:nvPr/>
          </p:nvSpPr>
          <p:spPr bwMode="auto">
            <a:xfrm>
              <a:off x="4399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09" name="Text Box 71"/>
            <p:cNvSpPr txBox="1">
              <a:spLocks noChangeArrowheads="1"/>
            </p:cNvSpPr>
            <p:nvPr/>
          </p:nvSpPr>
          <p:spPr bwMode="auto">
            <a:xfrm>
              <a:off x="4638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1310" name="Text Box 72"/>
            <p:cNvSpPr txBox="1">
              <a:spLocks noChangeArrowheads="1"/>
            </p:cNvSpPr>
            <p:nvPr/>
          </p:nvSpPr>
          <p:spPr bwMode="auto">
            <a:xfrm>
              <a:off x="4877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519345" name="Group 177"/>
          <p:cNvGrpSpPr>
            <a:grpSpLocks/>
          </p:cNvGrpSpPr>
          <p:nvPr/>
        </p:nvGrpSpPr>
        <p:grpSpPr bwMode="auto">
          <a:xfrm>
            <a:off x="3770332" y="2686144"/>
            <a:ext cx="523878" cy="452438"/>
            <a:chOff x="2513" y="1979"/>
            <a:chExt cx="330" cy="285"/>
          </a:xfrm>
        </p:grpSpPr>
        <p:graphicFrame>
          <p:nvGraphicFramePr>
            <p:cNvPr id="11303" name="Object 81"/>
            <p:cNvGraphicFramePr>
              <a:graphicFrameLocks noChangeAspect="1"/>
            </p:cNvGraphicFramePr>
            <p:nvPr/>
          </p:nvGraphicFramePr>
          <p:xfrm>
            <a:off x="2674" y="1979"/>
            <a:ext cx="16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39639" imgH="203112" progId="Equation.3">
                    <p:embed/>
                  </p:oleObj>
                </mc:Choice>
                <mc:Fallback>
                  <p:oleObj name="Ecuación" r:id="rId12" imgW="139639" imgH="203112" progId="Equation.3">
                    <p:embed/>
                    <p:pic>
                      <p:nvPicPr>
                        <p:cNvPr id="11303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4" y="1979"/>
                          <a:ext cx="16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4" name="Line 82"/>
            <p:cNvSpPr>
              <a:spLocks noChangeShapeType="1"/>
            </p:cNvSpPr>
            <p:nvPr/>
          </p:nvSpPr>
          <p:spPr bwMode="auto">
            <a:xfrm flipH="1">
              <a:off x="2513" y="199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92" name="Group 73"/>
          <p:cNvGrpSpPr>
            <a:grpSpLocks/>
          </p:cNvGrpSpPr>
          <p:nvPr/>
        </p:nvGrpSpPr>
        <p:grpSpPr bwMode="auto">
          <a:xfrm>
            <a:off x="2295525" y="3505924"/>
            <a:ext cx="2163763" cy="474662"/>
            <a:chOff x="3681" y="3044"/>
            <a:chExt cx="1363" cy="299"/>
          </a:xfrm>
        </p:grpSpPr>
        <p:sp>
          <p:nvSpPr>
            <p:cNvPr id="11297" name="Text Box 74"/>
            <p:cNvSpPr txBox="1">
              <a:spLocks noChangeArrowheads="1"/>
            </p:cNvSpPr>
            <p:nvPr/>
          </p:nvSpPr>
          <p:spPr bwMode="auto">
            <a:xfrm>
              <a:off x="3681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" name="Text Box 75"/>
            <p:cNvSpPr txBox="1">
              <a:spLocks noChangeArrowheads="1"/>
            </p:cNvSpPr>
            <p:nvPr/>
          </p:nvSpPr>
          <p:spPr bwMode="auto">
            <a:xfrm>
              <a:off x="3920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299" name="Text Box 76"/>
            <p:cNvSpPr txBox="1">
              <a:spLocks noChangeArrowheads="1"/>
            </p:cNvSpPr>
            <p:nvPr/>
          </p:nvSpPr>
          <p:spPr bwMode="auto">
            <a:xfrm>
              <a:off x="4159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0" name="Text Box 77"/>
            <p:cNvSpPr txBox="1">
              <a:spLocks noChangeArrowheads="1"/>
            </p:cNvSpPr>
            <p:nvPr/>
          </p:nvSpPr>
          <p:spPr bwMode="auto">
            <a:xfrm>
              <a:off x="4399" y="3044"/>
              <a:ext cx="16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1" name="Text Box 78"/>
            <p:cNvSpPr txBox="1">
              <a:spLocks noChangeArrowheads="1"/>
            </p:cNvSpPr>
            <p:nvPr/>
          </p:nvSpPr>
          <p:spPr bwMode="auto">
            <a:xfrm>
              <a:off x="4637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11302" name="Text Box 79"/>
            <p:cNvSpPr txBox="1">
              <a:spLocks noChangeArrowheads="1"/>
            </p:cNvSpPr>
            <p:nvPr/>
          </p:nvSpPr>
          <p:spPr bwMode="auto">
            <a:xfrm>
              <a:off x="4876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97" name="Text Box 151">
            <a:extLst>
              <a:ext uri="{FF2B5EF4-FFF2-40B4-BE49-F238E27FC236}">
                <a16:creationId xmlns:a16="http://schemas.microsoft.com/office/drawing/2014/main" id="{111ABA60-674F-4BFD-9EAA-6E347A7A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804" y="2555122"/>
            <a:ext cx="4654382" cy="241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72000" tIns="72000" rIns="72000" bIns="72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El </a:t>
            </a:r>
            <a:r>
              <a:rPr lang="es-ES" sz="2400" dirty="0">
                <a:solidFill>
                  <a:srgbClr val="3333FF"/>
                </a:solidFill>
              </a:rPr>
              <a:t>Efecto Hall </a:t>
            </a:r>
            <a:r>
              <a:rPr lang="es-ES" sz="2400" dirty="0">
                <a:solidFill>
                  <a:schemeClr val="tx1"/>
                </a:solidFill>
              </a:rPr>
              <a:t>consiste en la aparición de una </a:t>
            </a:r>
            <a:r>
              <a:rPr lang="es-ES" sz="2400" dirty="0" err="1">
                <a:solidFill>
                  <a:schemeClr val="tx1"/>
                </a:solidFill>
              </a:rPr>
              <a:t>ddp</a:t>
            </a:r>
            <a:r>
              <a:rPr lang="es-ES" sz="2400" dirty="0">
                <a:solidFill>
                  <a:schemeClr val="tx1"/>
                </a:solidFill>
              </a:rPr>
              <a:t> transversal </a:t>
            </a:r>
            <a:r>
              <a:rPr lang="es-ES" sz="2400" dirty="0">
                <a:solidFill>
                  <a:srgbClr val="3333FF"/>
                </a:solidFill>
              </a:rPr>
              <a:t>(Voltaje Hall) </a:t>
            </a:r>
            <a:r>
              <a:rPr lang="es-ES" sz="2400" dirty="0">
                <a:solidFill>
                  <a:schemeClr val="tx1"/>
                </a:solidFill>
              </a:rPr>
              <a:t>en un conductor por el que circula una corriente, cuando se sitúa en una región donde hay campo magnético</a:t>
            </a:r>
          </a:p>
        </p:txBody>
      </p:sp>
      <p:sp>
        <p:nvSpPr>
          <p:cNvPr id="98" name="Text Box 284">
            <a:extLst>
              <a:ext uri="{FF2B5EF4-FFF2-40B4-BE49-F238E27FC236}">
                <a16:creationId xmlns:a16="http://schemas.microsoft.com/office/drawing/2014/main" id="{0CBB7D80-9742-4812-8200-A29B9B4DC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177" y="5374498"/>
            <a:ext cx="6340689" cy="1275213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En el ejemplo, la caída de potencial es hacia abajo, en el sentido de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y se supone que se mueven portadores de carga positiva </a:t>
            </a:r>
          </a:p>
        </p:txBody>
      </p:sp>
      <p:sp>
        <p:nvSpPr>
          <p:cNvPr id="99" name="Text Box 178">
            <a:extLst>
              <a:ext uri="{FF2B5EF4-FFF2-40B4-BE49-F238E27FC236}">
                <a16:creationId xmlns:a16="http://schemas.microsoft.com/office/drawing/2014/main" id="{56E43932-2061-4266-97E6-63BD050FC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5145" y="536345"/>
            <a:ext cx="4829282" cy="1644545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El trabajo de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de arriba a abajo es igual a la caída de potencial, V, que se establece en</a:t>
            </a:r>
            <a:r>
              <a:rPr lang="es-ES" sz="2400" dirty="0">
                <a:solidFill>
                  <a:schemeClr val="tx1"/>
                </a:solidFill>
              </a:rPr>
              <a:t> “d” en </a:t>
            </a:r>
            <a:r>
              <a:rPr lang="es-ES" sz="2400">
                <a:solidFill>
                  <a:schemeClr val="tx1"/>
                </a:solidFill>
              </a:rPr>
              <a:t>ese sentido (W</a:t>
            </a:r>
            <a:r>
              <a:rPr lang="es-ES" sz="2400" b="1" baseline="-25000">
                <a:solidFill>
                  <a:schemeClr val="tx1"/>
                </a:solidFill>
              </a:rPr>
              <a:t>E</a:t>
            </a:r>
            <a:r>
              <a:rPr lang="es-ES" sz="2400">
                <a:solidFill>
                  <a:schemeClr val="tx1"/>
                </a:solidFill>
              </a:rPr>
              <a:t> = -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</a:t>
            </a:r>
            <a:r>
              <a:rPr lang="es-ES" sz="2400">
                <a:solidFill>
                  <a:schemeClr val="tx1"/>
                </a:solidFill>
              </a:rPr>
              <a:t>V = V</a:t>
            </a:r>
            <a:r>
              <a:rPr lang="es-ES" sz="2400" baseline="30000">
                <a:solidFill>
                  <a:schemeClr val="tx1"/>
                </a:solidFill>
              </a:rPr>
              <a:t>+</a:t>
            </a:r>
            <a:r>
              <a:rPr lang="es-ES" sz="2400">
                <a:solidFill>
                  <a:schemeClr val="tx1"/>
                </a:solidFill>
              </a:rPr>
              <a:t> - V</a:t>
            </a:r>
            <a:r>
              <a:rPr lang="es-ES" sz="2400" baseline="30000">
                <a:solidFill>
                  <a:schemeClr val="tx1"/>
                </a:solidFill>
              </a:rPr>
              <a:t>-</a:t>
            </a:r>
            <a:r>
              <a:rPr lang="es-ES" sz="2400">
                <a:solidFill>
                  <a:schemeClr val="tx1"/>
                </a:solidFill>
              </a:rPr>
              <a:t> = V)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100" name="Text Box 165">
            <a:extLst>
              <a:ext uri="{FF2B5EF4-FFF2-40B4-BE49-F238E27FC236}">
                <a16:creationId xmlns:a16="http://schemas.microsoft.com/office/drawing/2014/main" id="{79509FD0-80EF-4B3A-B4BC-380540647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164" y="5374498"/>
            <a:ext cx="2455521" cy="12752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¿Qué pasa si se consideran de carga negativa?</a:t>
            </a:r>
          </a:p>
        </p:txBody>
      </p:sp>
      <p:sp>
        <p:nvSpPr>
          <p:cNvPr id="85" name="Text Box 160">
            <a:extLst>
              <a:ext uri="{FF2B5EF4-FFF2-40B4-BE49-F238E27FC236}">
                <a16:creationId xmlns:a16="http://schemas.microsoft.com/office/drawing/2014/main" id="{8C7C8862-B305-455B-BFFF-A9185E9C1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88" y="4043411"/>
            <a:ext cx="1870024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Lámina conductora</a:t>
            </a:r>
          </a:p>
        </p:txBody>
      </p:sp>
    </p:spTree>
    <p:extLst>
      <p:ext uri="{BB962C8B-B14F-4D97-AF65-F5344CB8AC3E}">
        <p14:creationId xmlns:p14="http://schemas.microsoft.com/office/powerpoint/2010/main" val="15331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99" grpId="0"/>
      <p:bldP spid="10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upo 176"/>
          <p:cNvGrpSpPr/>
          <p:nvPr/>
        </p:nvGrpSpPr>
        <p:grpSpPr>
          <a:xfrm>
            <a:off x="1589088" y="919016"/>
            <a:ext cx="3636962" cy="2732517"/>
            <a:chOff x="1589088" y="1414463"/>
            <a:chExt cx="3636962" cy="2732517"/>
          </a:xfrm>
        </p:grpSpPr>
        <p:grpSp>
          <p:nvGrpSpPr>
            <p:cNvPr id="178" name="Grupo 177"/>
            <p:cNvGrpSpPr/>
            <p:nvPr/>
          </p:nvGrpSpPr>
          <p:grpSpPr>
            <a:xfrm>
              <a:off x="1589088" y="1414463"/>
              <a:ext cx="3636962" cy="2732517"/>
              <a:chOff x="1589088" y="1414463"/>
              <a:chExt cx="3636962" cy="2732517"/>
            </a:xfrm>
          </p:grpSpPr>
          <p:sp>
            <p:nvSpPr>
              <p:cNvPr id="183" name="Line 7"/>
              <p:cNvSpPr>
                <a:spLocks noChangeShapeType="1"/>
              </p:cNvSpPr>
              <p:nvPr/>
            </p:nvSpPr>
            <p:spPr bwMode="auto">
              <a:xfrm flipH="1">
                <a:off x="1616075" y="1673225"/>
                <a:ext cx="17240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4" name="Line 8"/>
              <p:cNvSpPr>
                <a:spLocks noChangeShapeType="1"/>
              </p:cNvSpPr>
              <p:nvPr/>
            </p:nvSpPr>
            <p:spPr bwMode="auto">
              <a:xfrm flipH="1">
                <a:off x="3462338" y="1669184"/>
                <a:ext cx="176371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5" name="Line 9"/>
              <p:cNvSpPr>
                <a:spLocks noChangeShapeType="1"/>
              </p:cNvSpPr>
              <p:nvPr/>
            </p:nvSpPr>
            <p:spPr bwMode="auto">
              <a:xfrm flipH="1">
                <a:off x="1589088" y="3378714"/>
                <a:ext cx="76358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6" name="Line 10"/>
              <p:cNvSpPr>
                <a:spLocks noChangeShapeType="1"/>
              </p:cNvSpPr>
              <p:nvPr/>
            </p:nvSpPr>
            <p:spPr bwMode="auto">
              <a:xfrm rot="5400000" flipH="1">
                <a:off x="739903" y="2523588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7" name="Line 11"/>
              <p:cNvSpPr>
                <a:spLocks noChangeShapeType="1"/>
              </p:cNvSpPr>
              <p:nvPr/>
            </p:nvSpPr>
            <p:spPr bwMode="auto">
              <a:xfrm rot="5400000" flipH="1">
                <a:off x="4345864" y="2531526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88" name="Line 12"/>
              <p:cNvSpPr>
                <a:spLocks noChangeShapeType="1"/>
              </p:cNvSpPr>
              <p:nvPr/>
            </p:nvSpPr>
            <p:spPr bwMode="auto">
              <a:xfrm flipH="1">
                <a:off x="4445000" y="3396088"/>
                <a:ext cx="76358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189" name="Line 14"/>
              <p:cNvSpPr>
                <a:spLocks noChangeShapeType="1"/>
              </p:cNvSpPr>
              <p:nvPr/>
            </p:nvSpPr>
            <p:spPr bwMode="auto">
              <a:xfrm>
                <a:off x="3375025" y="1414463"/>
                <a:ext cx="0" cy="53975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90" name="Line 15"/>
              <p:cNvSpPr>
                <a:spLocks noChangeShapeType="1"/>
              </p:cNvSpPr>
              <p:nvPr/>
            </p:nvSpPr>
            <p:spPr bwMode="auto">
              <a:xfrm>
                <a:off x="3444875" y="1494559"/>
                <a:ext cx="0" cy="36036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91" name="Rectangle 13"/>
              <p:cNvSpPr>
                <a:spLocks noChangeArrowheads="1"/>
              </p:cNvSpPr>
              <p:nvPr/>
            </p:nvSpPr>
            <p:spPr bwMode="auto">
              <a:xfrm>
                <a:off x="2303463" y="2691243"/>
                <a:ext cx="2163762" cy="1455737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9" name="Line 152"/>
            <p:cNvSpPr>
              <a:spLocks noChangeShapeType="1"/>
            </p:cNvSpPr>
            <p:nvPr/>
          </p:nvSpPr>
          <p:spPr bwMode="auto">
            <a:xfrm>
              <a:off x="1955511" y="2721491"/>
              <a:ext cx="0" cy="1381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80" name="Text Box 153"/>
            <p:cNvSpPr txBox="1">
              <a:spLocks noChangeArrowheads="1"/>
            </p:cNvSpPr>
            <p:nvPr/>
          </p:nvSpPr>
          <p:spPr bwMode="auto">
            <a:xfrm>
              <a:off x="1829326" y="3452451"/>
              <a:ext cx="244225" cy="44203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2" name="Grupo 1"/>
          <p:cNvGrpSpPr>
            <a:grpSpLocks/>
          </p:cNvGrpSpPr>
          <p:nvPr/>
        </p:nvGrpSpPr>
        <p:grpSpPr bwMode="auto">
          <a:xfrm>
            <a:off x="3258346" y="2719536"/>
            <a:ext cx="1071559" cy="392691"/>
            <a:chOff x="3269275" y="2924784"/>
            <a:chExt cx="1071560" cy="392691"/>
          </a:xfrm>
        </p:grpSpPr>
        <p:graphicFrame>
          <p:nvGraphicFramePr>
            <p:cNvPr id="13374" name="Object 45"/>
            <p:cNvGraphicFramePr>
              <a:graphicFrameLocks noChangeAspect="1"/>
            </p:cNvGraphicFramePr>
            <p:nvPr/>
          </p:nvGraphicFramePr>
          <p:xfrm>
            <a:off x="3269275" y="2924784"/>
            <a:ext cx="2444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6725" imgH="177415" progId="Equation.3">
                    <p:embed/>
                  </p:oleObj>
                </mc:Choice>
                <mc:Fallback>
                  <p:oleObj name="Ecuación" r:id="rId3" imgW="126725" imgH="177415" progId="Equation.3">
                    <p:embed/>
                    <p:pic>
                      <p:nvPicPr>
                        <p:cNvPr id="1337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9275" y="2924784"/>
                          <a:ext cx="244475" cy="341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75" name="Group 168"/>
            <p:cNvGrpSpPr>
              <a:grpSpLocks/>
            </p:cNvGrpSpPr>
            <p:nvPr/>
          </p:nvGrpSpPr>
          <p:grpSpPr bwMode="auto">
            <a:xfrm>
              <a:off x="3613760" y="2939650"/>
              <a:ext cx="727075" cy="377825"/>
              <a:chOff x="2365" y="1991"/>
              <a:chExt cx="458" cy="238"/>
            </a:xfrm>
          </p:grpSpPr>
          <p:sp>
            <p:nvSpPr>
              <p:cNvPr id="13376" name="Line 44"/>
              <p:cNvSpPr>
                <a:spLocks noChangeShapeType="1"/>
              </p:cNvSpPr>
              <p:nvPr/>
            </p:nvSpPr>
            <p:spPr bwMode="auto">
              <a:xfrm flipH="1">
                <a:off x="2365" y="2105"/>
                <a:ext cx="21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pic>
            <p:nvPicPr>
              <p:cNvPr id="13377" name="Picture 46" descr="Image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4" y="1991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638085" name="Group 133"/>
          <p:cNvGrpSpPr>
            <a:grpSpLocks/>
          </p:cNvGrpSpPr>
          <p:nvPr/>
        </p:nvGrpSpPr>
        <p:grpSpPr bwMode="auto">
          <a:xfrm>
            <a:off x="4136741" y="2226552"/>
            <a:ext cx="868363" cy="636588"/>
            <a:chOff x="5441" y="1645"/>
            <a:chExt cx="547" cy="401"/>
          </a:xfrm>
        </p:grpSpPr>
        <p:graphicFrame>
          <p:nvGraphicFramePr>
            <p:cNvPr id="13372" name="Object 134"/>
            <p:cNvGraphicFramePr>
              <a:graphicFrameLocks noChangeAspect="1"/>
            </p:cNvGraphicFramePr>
            <p:nvPr/>
          </p:nvGraphicFramePr>
          <p:xfrm>
            <a:off x="5703" y="1645"/>
            <a:ext cx="28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90335" imgH="266469" progId="Equation.3">
                    <p:embed/>
                  </p:oleObj>
                </mc:Choice>
                <mc:Fallback>
                  <p:oleObj name="Ecuación" r:id="rId6" imgW="190335" imgH="266469" progId="Equation.3">
                    <p:embed/>
                    <p:pic>
                      <p:nvPicPr>
                        <p:cNvPr id="13372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3" y="1645"/>
                          <a:ext cx="285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3" name="Line 135"/>
            <p:cNvSpPr>
              <a:spLocks noChangeShapeType="1"/>
            </p:cNvSpPr>
            <p:nvPr/>
          </p:nvSpPr>
          <p:spPr bwMode="auto">
            <a:xfrm flipH="1" flipV="1">
              <a:off x="5441" y="1681"/>
              <a:ext cx="0" cy="2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38088" name="Group 136"/>
          <p:cNvGrpSpPr>
            <a:grpSpLocks/>
          </p:cNvGrpSpPr>
          <p:nvPr/>
        </p:nvGrpSpPr>
        <p:grpSpPr bwMode="auto">
          <a:xfrm>
            <a:off x="4133470" y="2946211"/>
            <a:ext cx="887412" cy="638175"/>
            <a:chOff x="5444" y="2139"/>
            <a:chExt cx="559" cy="402"/>
          </a:xfrm>
        </p:grpSpPr>
        <p:graphicFrame>
          <p:nvGraphicFramePr>
            <p:cNvPr id="13370" name="Object 137"/>
            <p:cNvGraphicFramePr>
              <a:graphicFrameLocks noChangeAspect="1"/>
            </p:cNvGraphicFramePr>
            <p:nvPr/>
          </p:nvGraphicFramePr>
          <p:xfrm>
            <a:off x="5718" y="2139"/>
            <a:ext cx="285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90335" imgH="266469" progId="Equation.3">
                    <p:embed/>
                  </p:oleObj>
                </mc:Choice>
                <mc:Fallback>
                  <p:oleObj name="Ecuación" r:id="rId8" imgW="190335" imgH="266469" progId="Equation.3">
                    <p:embed/>
                    <p:pic>
                      <p:nvPicPr>
                        <p:cNvPr id="13370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8" y="2139"/>
                          <a:ext cx="285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1" name="Line 138"/>
            <p:cNvSpPr>
              <a:spLocks noChangeShapeType="1"/>
            </p:cNvSpPr>
            <p:nvPr/>
          </p:nvSpPr>
          <p:spPr bwMode="auto">
            <a:xfrm flipH="1">
              <a:off x="5444" y="2242"/>
              <a:ext cx="0" cy="268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638106" name="Group 154"/>
          <p:cNvGrpSpPr>
            <a:grpSpLocks/>
          </p:cNvGrpSpPr>
          <p:nvPr/>
        </p:nvGrpSpPr>
        <p:grpSpPr bwMode="auto">
          <a:xfrm>
            <a:off x="2483015" y="2668485"/>
            <a:ext cx="523877" cy="436563"/>
            <a:chOff x="4382" y="1996"/>
            <a:chExt cx="330" cy="275"/>
          </a:xfrm>
        </p:grpSpPr>
        <p:graphicFrame>
          <p:nvGraphicFramePr>
            <p:cNvPr id="13354" name="Object 155"/>
            <p:cNvGraphicFramePr>
              <a:graphicFrameLocks noChangeAspect="1"/>
            </p:cNvGraphicFramePr>
            <p:nvPr/>
          </p:nvGraphicFramePr>
          <p:xfrm>
            <a:off x="4382" y="2026"/>
            <a:ext cx="16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39639" imgH="203112" progId="Equation.3">
                    <p:embed/>
                  </p:oleObj>
                </mc:Choice>
                <mc:Fallback>
                  <p:oleObj name="Ecuación" r:id="rId10" imgW="139639" imgH="203112" progId="Equation.3">
                    <p:embed/>
                    <p:pic>
                      <p:nvPicPr>
                        <p:cNvPr id="13354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2026"/>
                          <a:ext cx="16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5" name="Line 156"/>
            <p:cNvSpPr>
              <a:spLocks noChangeShapeType="1"/>
            </p:cNvSpPr>
            <p:nvPr/>
          </p:nvSpPr>
          <p:spPr bwMode="auto">
            <a:xfrm flipH="1" flipV="1">
              <a:off x="4712" y="199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sp>
        <p:nvSpPr>
          <p:cNvPr id="638112" name="Text Box 160"/>
          <p:cNvSpPr txBox="1">
            <a:spLocks noChangeArrowheads="1"/>
          </p:cNvSpPr>
          <p:nvPr/>
        </p:nvSpPr>
        <p:spPr bwMode="auto">
          <a:xfrm>
            <a:off x="6349428" y="4228033"/>
            <a:ext cx="3867421" cy="90588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V es positiva hacia arriba, en el sentido de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38119" name="Text Box 167"/>
          <p:cNvSpPr txBox="1">
            <a:spLocks noChangeArrowheads="1"/>
          </p:cNvSpPr>
          <p:nvPr/>
        </p:nvSpPr>
        <p:spPr bwMode="auto">
          <a:xfrm>
            <a:off x="1513113" y="5416457"/>
            <a:ext cx="8514231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118800" rIns="90000" bIns="1188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  <a:defRPr/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El sentido en que la caída de potencial es positiva al medirla: hacia arriba, indica que los portadores que de verdad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se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mueven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son: los de carga negativa,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los electrones</a:t>
            </a:r>
          </a:p>
        </p:txBody>
      </p:sp>
      <p:grpSp>
        <p:nvGrpSpPr>
          <p:cNvPr id="171" name="Grupo 170"/>
          <p:cNvGrpSpPr>
            <a:grpSpLocks/>
          </p:cNvGrpSpPr>
          <p:nvPr/>
        </p:nvGrpSpPr>
        <p:grpSpPr bwMode="auto">
          <a:xfrm>
            <a:off x="1236663" y="1883696"/>
            <a:ext cx="371475" cy="530225"/>
            <a:chOff x="1237295" y="2112546"/>
            <a:chExt cx="371475" cy="530225"/>
          </a:xfrm>
        </p:grpSpPr>
        <p:sp>
          <p:nvSpPr>
            <p:cNvPr id="172" name="Line 48"/>
            <p:cNvSpPr>
              <a:spLocks noChangeShapeType="1"/>
            </p:cNvSpPr>
            <p:nvPr/>
          </p:nvSpPr>
          <p:spPr bwMode="auto">
            <a:xfrm>
              <a:off x="1608770" y="2156996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3" name="Text Box 50"/>
            <p:cNvSpPr txBox="1">
              <a:spLocks noChangeArrowheads="1"/>
            </p:cNvSpPr>
            <p:nvPr/>
          </p:nvSpPr>
          <p:spPr bwMode="auto">
            <a:xfrm>
              <a:off x="1237295" y="211254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174" name="Grupo 173"/>
          <p:cNvGrpSpPr>
            <a:grpSpLocks/>
          </p:cNvGrpSpPr>
          <p:nvPr/>
        </p:nvGrpSpPr>
        <p:grpSpPr bwMode="auto">
          <a:xfrm>
            <a:off x="5207117" y="1879655"/>
            <a:ext cx="390525" cy="559666"/>
            <a:chOff x="5207633" y="2108505"/>
            <a:chExt cx="390525" cy="559667"/>
          </a:xfrm>
        </p:grpSpPr>
        <p:sp>
          <p:nvSpPr>
            <p:cNvPr id="175" name="Line 49"/>
            <p:cNvSpPr>
              <a:spLocks noChangeShapeType="1"/>
            </p:cNvSpPr>
            <p:nvPr/>
          </p:nvSpPr>
          <p:spPr bwMode="auto">
            <a:xfrm flipV="1">
              <a:off x="5207633" y="2298284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176" name="Text Box 51"/>
            <p:cNvSpPr txBox="1">
              <a:spLocks noChangeArrowheads="1"/>
            </p:cNvSpPr>
            <p:nvPr/>
          </p:nvSpPr>
          <p:spPr bwMode="auto">
            <a:xfrm>
              <a:off x="5250495" y="2108505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195" name="Group 167"/>
          <p:cNvGrpSpPr>
            <a:grpSpLocks/>
          </p:cNvGrpSpPr>
          <p:nvPr/>
        </p:nvGrpSpPr>
        <p:grpSpPr bwMode="auto">
          <a:xfrm>
            <a:off x="2271713" y="2085308"/>
            <a:ext cx="2219325" cy="1590675"/>
            <a:chOff x="1569" y="1578"/>
            <a:chExt cx="1398" cy="1002"/>
          </a:xfrm>
        </p:grpSpPr>
        <p:grpSp>
          <p:nvGrpSpPr>
            <p:cNvPr id="196" name="Group 17"/>
            <p:cNvGrpSpPr>
              <a:grpSpLocks/>
            </p:cNvGrpSpPr>
            <p:nvPr/>
          </p:nvGrpSpPr>
          <p:grpSpPr bwMode="auto">
            <a:xfrm>
              <a:off x="1569" y="1578"/>
              <a:ext cx="1398" cy="296"/>
              <a:chOff x="3634" y="2306"/>
              <a:chExt cx="1398" cy="296"/>
            </a:xfrm>
          </p:grpSpPr>
          <p:sp>
            <p:nvSpPr>
              <p:cNvPr id="219" name="Text Box 18"/>
              <p:cNvSpPr txBox="1">
                <a:spLocks noChangeArrowheads="1"/>
              </p:cNvSpPr>
              <p:nvPr/>
            </p:nvSpPr>
            <p:spPr bwMode="auto">
              <a:xfrm>
                <a:off x="3634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20" name="Text Box 19"/>
              <p:cNvSpPr txBox="1">
                <a:spLocks noChangeArrowheads="1"/>
              </p:cNvSpPr>
              <p:nvPr/>
            </p:nvSpPr>
            <p:spPr bwMode="auto">
              <a:xfrm>
                <a:off x="3873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21" name="Text Box 20"/>
              <p:cNvSpPr txBox="1">
                <a:spLocks noChangeArrowheads="1"/>
              </p:cNvSpPr>
              <p:nvPr/>
            </p:nvSpPr>
            <p:spPr bwMode="auto">
              <a:xfrm>
                <a:off x="4112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22" name="Text Box 21"/>
              <p:cNvSpPr txBox="1">
                <a:spLocks noChangeArrowheads="1"/>
              </p:cNvSpPr>
              <p:nvPr/>
            </p:nvSpPr>
            <p:spPr bwMode="auto">
              <a:xfrm>
                <a:off x="4351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23" name="Text Box 22"/>
              <p:cNvSpPr txBox="1">
                <a:spLocks noChangeArrowheads="1"/>
              </p:cNvSpPr>
              <p:nvPr/>
            </p:nvSpPr>
            <p:spPr bwMode="auto">
              <a:xfrm>
                <a:off x="4590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24" name="Text Box 23"/>
              <p:cNvSpPr txBox="1">
                <a:spLocks noChangeArrowheads="1"/>
              </p:cNvSpPr>
              <p:nvPr/>
            </p:nvSpPr>
            <p:spPr bwMode="auto">
              <a:xfrm>
                <a:off x="4829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97" name="Group 24"/>
            <p:cNvGrpSpPr>
              <a:grpSpLocks/>
            </p:cNvGrpSpPr>
            <p:nvPr/>
          </p:nvGrpSpPr>
          <p:grpSpPr bwMode="auto">
            <a:xfrm>
              <a:off x="1569" y="1824"/>
              <a:ext cx="1398" cy="296"/>
              <a:chOff x="3650" y="2552"/>
              <a:chExt cx="1398" cy="296"/>
            </a:xfrm>
          </p:grpSpPr>
          <p:sp>
            <p:nvSpPr>
              <p:cNvPr id="213" name="Text Box 25"/>
              <p:cNvSpPr txBox="1">
                <a:spLocks noChangeArrowheads="1"/>
              </p:cNvSpPr>
              <p:nvPr/>
            </p:nvSpPr>
            <p:spPr bwMode="auto">
              <a:xfrm>
                <a:off x="3650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4" name="Text Box 26"/>
              <p:cNvSpPr txBox="1">
                <a:spLocks noChangeArrowheads="1"/>
              </p:cNvSpPr>
              <p:nvPr/>
            </p:nvSpPr>
            <p:spPr bwMode="auto">
              <a:xfrm>
                <a:off x="3889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5" name="Text Box 27"/>
              <p:cNvSpPr txBox="1">
                <a:spLocks noChangeArrowheads="1"/>
              </p:cNvSpPr>
              <p:nvPr/>
            </p:nvSpPr>
            <p:spPr bwMode="auto">
              <a:xfrm>
                <a:off x="4128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6" name="Text Box 28"/>
              <p:cNvSpPr txBox="1">
                <a:spLocks noChangeArrowheads="1"/>
              </p:cNvSpPr>
              <p:nvPr/>
            </p:nvSpPr>
            <p:spPr bwMode="auto">
              <a:xfrm>
                <a:off x="4367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7" name="Text Box 29"/>
              <p:cNvSpPr txBox="1">
                <a:spLocks noChangeArrowheads="1"/>
              </p:cNvSpPr>
              <p:nvPr/>
            </p:nvSpPr>
            <p:spPr bwMode="auto">
              <a:xfrm>
                <a:off x="4606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8" name="Text Box 30"/>
              <p:cNvSpPr txBox="1">
                <a:spLocks noChangeArrowheads="1"/>
              </p:cNvSpPr>
              <p:nvPr/>
            </p:nvSpPr>
            <p:spPr bwMode="auto">
              <a:xfrm>
                <a:off x="4845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98" name="Group 31"/>
            <p:cNvGrpSpPr>
              <a:grpSpLocks/>
            </p:cNvGrpSpPr>
            <p:nvPr/>
          </p:nvGrpSpPr>
          <p:grpSpPr bwMode="auto">
            <a:xfrm>
              <a:off x="1569" y="2070"/>
              <a:ext cx="1398" cy="296"/>
              <a:chOff x="3666" y="2798"/>
              <a:chExt cx="1398" cy="296"/>
            </a:xfrm>
          </p:grpSpPr>
          <p:sp>
            <p:nvSpPr>
              <p:cNvPr id="207" name="Text Box 32"/>
              <p:cNvSpPr txBox="1">
                <a:spLocks noChangeArrowheads="1"/>
              </p:cNvSpPr>
              <p:nvPr/>
            </p:nvSpPr>
            <p:spPr bwMode="auto">
              <a:xfrm>
                <a:off x="3666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8" name="Text Box 33"/>
              <p:cNvSpPr txBox="1">
                <a:spLocks noChangeArrowheads="1"/>
              </p:cNvSpPr>
              <p:nvPr/>
            </p:nvSpPr>
            <p:spPr bwMode="auto">
              <a:xfrm>
                <a:off x="3905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9" name="Text Box 34"/>
              <p:cNvSpPr txBox="1">
                <a:spLocks noChangeArrowheads="1"/>
              </p:cNvSpPr>
              <p:nvPr/>
            </p:nvSpPr>
            <p:spPr bwMode="auto">
              <a:xfrm>
                <a:off x="4144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0" name="Text Box 35"/>
              <p:cNvSpPr txBox="1">
                <a:spLocks noChangeArrowheads="1"/>
              </p:cNvSpPr>
              <p:nvPr/>
            </p:nvSpPr>
            <p:spPr bwMode="auto">
              <a:xfrm>
                <a:off x="4383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1" name="Text Box 36"/>
              <p:cNvSpPr txBox="1">
                <a:spLocks noChangeArrowheads="1"/>
              </p:cNvSpPr>
              <p:nvPr/>
            </p:nvSpPr>
            <p:spPr bwMode="auto">
              <a:xfrm>
                <a:off x="4622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12" name="Text Box 37"/>
              <p:cNvSpPr txBox="1">
                <a:spLocks noChangeArrowheads="1"/>
              </p:cNvSpPr>
              <p:nvPr/>
            </p:nvSpPr>
            <p:spPr bwMode="auto">
              <a:xfrm>
                <a:off x="4861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199" name="Group 38"/>
            <p:cNvGrpSpPr>
              <a:grpSpLocks/>
            </p:cNvGrpSpPr>
            <p:nvPr/>
          </p:nvGrpSpPr>
          <p:grpSpPr bwMode="auto">
            <a:xfrm>
              <a:off x="1569" y="2284"/>
              <a:ext cx="1398" cy="296"/>
              <a:chOff x="3682" y="3044"/>
              <a:chExt cx="1398" cy="296"/>
            </a:xfrm>
          </p:grpSpPr>
          <p:sp>
            <p:nvSpPr>
              <p:cNvPr id="201" name="Text Box 39"/>
              <p:cNvSpPr txBox="1">
                <a:spLocks noChangeArrowheads="1"/>
              </p:cNvSpPr>
              <p:nvPr/>
            </p:nvSpPr>
            <p:spPr bwMode="auto">
              <a:xfrm>
                <a:off x="3682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2" name="Text Box 40"/>
              <p:cNvSpPr txBox="1">
                <a:spLocks noChangeArrowheads="1"/>
              </p:cNvSpPr>
              <p:nvPr/>
            </p:nvSpPr>
            <p:spPr bwMode="auto">
              <a:xfrm>
                <a:off x="3921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3" name="Text Box 41"/>
              <p:cNvSpPr txBox="1">
                <a:spLocks noChangeArrowheads="1"/>
              </p:cNvSpPr>
              <p:nvPr/>
            </p:nvSpPr>
            <p:spPr bwMode="auto">
              <a:xfrm>
                <a:off x="4160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4" name="Text Box 42"/>
              <p:cNvSpPr txBox="1">
                <a:spLocks noChangeArrowheads="1"/>
              </p:cNvSpPr>
              <p:nvPr/>
            </p:nvSpPr>
            <p:spPr bwMode="auto">
              <a:xfrm>
                <a:off x="4399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5" name="Text Box 43"/>
              <p:cNvSpPr txBox="1">
                <a:spLocks noChangeArrowheads="1"/>
              </p:cNvSpPr>
              <p:nvPr/>
            </p:nvSpPr>
            <p:spPr bwMode="auto">
              <a:xfrm>
                <a:off x="4638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206" name="Text Box 44"/>
              <p:cNvSpPr txBox="1">
                <a:spLocks noChangeArrowheads="1"/>
              </p:cNvSpPr>
              <p:nvPr/>
            </p:nvSpPr>
            <p:spPr bwMode="auto">
              <a:xfrm>
                <a:off x="4877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235" name="Group 66"/>
          <p:cNvGrpSpPr>
            <a:grpSpLocks/>
          </p:cNvGrpSpPr>
          <p:nvPr/>
        </p:nvGrpSpPr>
        <p:grpSpPr bwMode="auto">
          <a:xfrm>
            <a:off x="2270126" y="3557519"/>
            <a:ext cx="2225675" cy="474662"/>
            <a:chOff x="3682" y="3044"/>
            <a:chExt cx="1403" cy="299"/>
          </a:xfrm>
        </p:grpSpPr>
        <p:sp>
          <p:nvSpPr>
            <p:cNvPr id="236" name="Text Box 67"/>
            <p:cNvSpPr txBox="1">
              <a:spLocks noChangeArrowheads="1"/>
            </p:cNvSpPr>
            <p:nvPr/>
          </p:nvSpPr>
          <p:spPr bwMode="auto">
            <a:xfrm>
              <a:off x="3682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37" name="Text Box 68"/>
            <p:cNvSpPr txBox="1">
              <a:spLocks noChangeArrowheads="1"/>
            </p:cNvSpPr>
            <p:nvPr/>
          </p:nvSpPr>
          <p:spPr bwMode="auto">
            <a:xfrm>
              <a:off x="3921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38" name="Text Box 69"/>
            <p:cNvSpPr txBox="1">
              <a:spLocks noChangeArrowheads="1"/>
            </p:cNvSpPr>
            <p:nvPr/>
          </p:nvSpPr>
          <p:spPr bwMode="auto">
            <a:xfrm>
              <a:off x="4160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39" name="Text Box 70"/>
            <p:cNvSpPr txBox="1">
              <a:spLocks noChangeArrowheads="1"/>
            </p:cNvSpPr>
            <p:nvPr/>
          </p:nvSpPr>
          <p:spPr bwMode="auto">
            <a:xfrm>
              <a:off x="4399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40" name="Text Box 71"/>
            <p:cNvSpPr txBox="1">
              <a:spLocks noChangeArrowheads="1"/>
            </p:cNvSpPr>
            <p:nvPr/>
          </p:nvSpPr>
          <p:spPr bwMode="auto">
            <a:xfrm>
              <a:off x="4638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41" name="Text Box 72"/>
            <p:cNvSpPr txBox="1">
              <a:spLocks noChangeArrowheads="1"/>
            </p:cNvSpPr>
            <p:nvPr/>
          </p:nvSpPr>
          <p:spPr bwMode="auto">
            <a:xfrm>
              <a:off x="4877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245" name="Group 73"/>
          <p:cNvGrpSpPr>
            <a:grpSpLocks/>
          </p:cNvGrpSpPr>
          <p:nvPr/>
        </p:nvGrpSpPr>
        <p:grpSpPr bwMode="auto">
          <a:xfrm>
            <a:off x="2299281" y="1819290"/>
            <a:ext cx="2163763" cy="474662"/>
            <a:chOff x="3681" y="3044"/>
            <a:chExt cx="1363" cy="299"/>
          </a:xfrm>
        </p:grpSpPr>
        <p:sp>
          <p:nvSpPr>
            <p:cNvPr id="246" name="Text Box 74"/>
            <p:cNvSpPr txBox="1">
              <a:spLocks noChangeArrowheads="1"/>
            </p:cNvSpPr>
            <p:nvPr/>
          </p:nvSpPr>
          <p:spPr bwMode="auto">
            <a:xfrm>
              <a:off x="3681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47" name="Text Box 75"/>
            <p:cNvSpPr txBox="1">
              <a:spLocks noChangeArrowheads="1"/>
            </p:cNvSpPr>
            <p:nvPr/>
          </p:nvSpPr>
          <p:spPr bwMode="auto">
            <a:xfrm>
              <a:off x="3920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48" name="Text Box 76"/>
            <p:cNvSpPr txBox="1">
              <a:spLocks noChangeArrowheads="1"/>
            </p:cNvSpPr>
            <p:nvPr/>
          </p:nvSpPr>
          <p:spPr bwMode="auto">
            <a:xfrm>
              <a:off x="4159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49" name="Text Box 77"/>
            <p:cNvSpPr txBox="1">
              <a:spLocks noChangeArrowheads="1"/>
            </p:cNvSpPr>
            <p:nvPr/>
          </p:nvSpPr>
          <p:spPr bwMode="auto">
            <a:xfrm>
              <a:off x="4399" y="3044"/>
              <a:ext cx="16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50" name="Text Box 78"/>
            <p:cNvSpPr txBox="1">
              <a:spLocks noChangeArrowheads="1"/>
            </p:cNvSpPr>
            <p:nvPr/>
          </p:nvSpPr>
          <p:spPr bwMode="auto">
            <a:xfrm>
              <a:off x="4637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251" name="Text Box 79"/>
            <p:cNvSpPr txBox="1">
              <a:spLocks noChangeArrowheads="1"/>
            </p:cNvSpPr>
            <p:nvPr/>
          </p:nvSpPr>
          <p:spPr bwMode="auto">
            <a:xfrm>
              <a:off x="4876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252" name="Text Box 154"/>
          <p:cNvSpPr txBox="1">
            <a:spLocks noChangeArrowheads="1"/>
          </p:cNvSpPr>
          <p:nvPr/>
        </p:nvSpPr>
        <p:spPr bwMode="auto">
          <a:xfrm>
            <a:off x="5758690" y="3214872"/>
            <a:ext cx="4691059" cy="905881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Razonando igual que antes,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única diferencia es que: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92" name="Text Box 154"/>
          <p:cNvSpPr txBox="1">
            <a:spLocks noChangeArrowheads="1"/>
          </p:cNvSpPr>
          <p:nvPr/>
        </p:nvSpPr>
        <p:spPr bwMode="auto">
          <a:xfrm>
            <a:off x="5784550" y="1545890"/>
            <a:ext cx="4691059" cy="1644545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chemeClr val="tx1"/>
                </a:solidFill>
              </a:rPr>
              <a:t>Los portadores de carga, ahora negativa, son desviados por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hacia arriba, como ocurría antes con los de carga positiva</a:t>
            </a:r>
            <a:endParaRPr lang="es-ES" sz="2400" b="1" dirty="0">
              <a:solidFill>
                <a:schemeClr val="tx1"/>
              </a:solidFill>
            </a:endParaRPr>
          </a:p>
        </p:txBody>
      </p:sp>
      <p:grpSp>
        <p:nvGrpSpPr>
          <p:cNvPr id="93" name="Group 175">
            <a:extLst>
              <a:ext uri="{FF2B5EF4-FFF2-40B4-BE49-F238E27FC236}">
                <a16:creationId xmlns:a16="http://schemas.microsoft.com/office/drawing/2014/main" id="{71F37418-A988-4873-BB0B-BFF0B67DA41C}"/>
              </a:ext>
            </a:extLst>
          </p:cNvPr>
          <p:cNvGrpSpPr>
            <a:grpSpLocks/>
          </p:cNvGrpSpPr>
          <p:nvPr/>
        </p:nvGrpSpPr>
        <p:grpSpPr bwMode="auto">
          <a:xfrm>
            <a:off x="6737784" y="385919"/>
            <a:ext cx="3086100" cy="979488"/>
            <a:chOff x="1297" y="2820"/>
            <a:chExt cx="1944" cy="617"/>
          </a:xfrm>
        </p:grpSpPr>
        <p:sp>
          <p:nvSpPr>
            <p:cNvPr id="94" name="Rectangle 56">
              <a:extLst>
                <a:ext uri="{FF2B5EF4-FFF2-40B4-BE49-F238E27FC236}">
                  <a16:creationId xmlns:a16="http://schemas.microsoft.com/office/drawing/2014/main" id="{3F6DD977-91C7-443D-A01A-E9C5725AA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2820"/>
              <a:ext cx="1944" cy="61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 anchor="ctr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95" name="Object 57">
              <a:extLst>
                <a:ext uri="{FF2B5EF4-FFF2-40B4-BE49-F238E27FC236}">
                  <a16:creationId xmlns:a16="http://schemas.microsoft.com/office/drawing/2014/main" id="{1C366F63-A7B7-4E9D-AFB2-2DF269C87A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0" y="2895"/>
            <a:ext cx="1796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016000" imgH="241300" progId="Equation.3">
                    <p:embed/>
                  </p:oleObj>
                </mc:Choice>
                <mc:Fallback>
                  <p:oleObj name="Ecuación" r:id="rId12" imgW="1016000" imgH="241300" progId="Equation.3">
                    <p:embed/>
                    <p:pic>
                      <p:nvPicPr>
                        <p:cNvPr id="95" name="Object 57">
                          <a:extLst>
                            <a:ext uri="{FF2B5EF4-FFF2-40B4-BE49-F238E27FC236}">
                              <a16:creationId xmlns:a16="http://schemas.microsoft.com/office/drawing/2014/main" id="{1C366F63-A7B7-4E9D-AFB2-2DF269C87A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0" y="2895"/>
                          <a:ext cx="1796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" name="Text Box 160">
            <a:extLst>
              <a:ext uri="{FF2B5EF4-FFF2-40B4-BE49-F238E27FC236}">
                <a16:creationId xmlns:a16="http://schemas.microsoft.com/office/drawing/2014/main" id="{630BB1FC-DC4E-417E-9667-ACD9BAE6F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88" y="4043411"/>
            <a:ext cx="1870024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Lámina conductora</a:t>
            </a:r>
          </a:p>
        </p:txBody>
      </p:sp>
      <p:graphicFrame>
        <p:nvGraphicFramePr>
          <p:cNvPr id="3" name="Object 46">
            <a:extLst>
              <a:ext uri="{FF2B5EF4-FFF2-40B4-BE49-F238E27FC236}">
                <a16:creationId xmlns:a16="http://schemas.microsoft.com/office/drawing/2014/main" id="{A573DB5D-7673-4610-8C83-3F2FC4549F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213" y="2228939"/>
          <a:ext cx="3365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152280" imgH="203040" progId="Equation.3">
                  <p:embed/>
                </p:oleObj>
              </mc:Choice>
              <mc:Fallback>
                <p:oleObj name="Ecuación" r:id="rId14" imgW="152280" imgH="203040" progId="Equation.3">
                  <p:embed/>
                  <p:pic>
                    <p:nvPicPr>
                      <p:cNvPr id="1132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2228939"/>
                        <a:ext cx="3365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3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3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3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112" grpId="0" animBg="1"/>
      <p:bldP spid="638119" grpId="0" animBg="1"/>
      <p:bldP spid="252" grpId="0"/>
      <p:bldP spid="9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46" name="Text Box 142"/>
          <p:cNvSpPr txBox="1">
            <a:spLocks noChangeArrowheads="1"/>
          </p:cNvSpPr>
          <p:nvPr/>
        </p:nvSpPr>
        <p:spPr bwMode="auto">
          <a:xfrm>
            <a:off x="6184554" y="1155455"/>
            <a:ext cx="1526357" cy="576293"/>
          </a:xfrm>
          <a:prstGeom prst="rect">
            <a:avLst/>
          </a:prstGeom>
          <a:noFill/>
          <a:ln>
            <a:noFill/>
          </a:ln>
        </p:spPr>
        <p:txBody>
          <a:bodyPr wrap="square" lIns="108000" tIns="36000" rIns="108000" bIns="108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800">
                <a:solidFill>
                  <a:schemeClr val="tx1"/>
                </a:solidFill>
              </a:rPr>
              <a:t>F</a:t>
            </a:r>
            <a:r>
              <a:rPr lang="es-ES" sz="2800" baseline="-25000">
                <a:solidFill>
                  <a:schemeClr val="tx1"/>
                </a:solidFill>
              </a:rPr>
              <a:t>E</a:t>
            </a:r>
            <a:r>
              <a:rPr lang="es-ES" sz="2800">
                <a:solidFill>
                  <a:schemeClr val="tx1"/>
                </a:solidFill>
              </a:rPr>
              <a:t> = F</a:t>
            </a:r>
            <a:r>
              <a:rPr lang="es-ES" sz="2800" baseline="-25000">
                <a:solidFill>
                  <a:schemeClr val="tx1"/>
                </a:solidFill>
              </a:rPr>
              <a:t>B</a:t>
            </a:r>
            <a:endParaRPr lang="es-ES" sz="280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559285" name="Text Box 181"/>
          <p:cNvSpPr txBox="1">
            <a:spLocks noChangeArrowheads="1"/>
          </p:cNvSpPr>
          <p:nvPr/>
        </p:nvSpPr>
        <p:spPr bwMode="auto">
          <a:xfrm>
            <a:off x="6210326" y="1815005"/>
            <a:ext cx="1648506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800">
                <a:solidFill>
                  <a:srgbClr val="000000"/>
                </a:solidFill>
                <a:sym typeface="Symbol" panose="05050102010706020507" pitchFamily="18" charset="2"/>
              </a:rPr>
              <a:t>eE </a:t>
            </a:r>
            <a:r>
              <a:rPr lang="es-ES" sz="2800" dirty="0">
                <a:solidFill>
                  <a:srgbClr val="000000"/>
                </a:solidFill>
                <a:sym typeface="Symbol" panose="05050102010706020507" pitchFamily="18" charset="2"/>
              </a:rPr>
              <a:t>= </a:t>
            </a:r>
            <a:r>
              <a:rPr lang="es-ES" sz="2800" dirty="0" err="1">
                <a:solidFill>
                  <a:srgbClr val="000000"/>
                </a:solidFill>
                <a:sym typeface="Symbol" panose="05050102010706020507" pitchFamily="18" charset="2"/>
              </a:rPr>
              <a:t>evB</a:t>
            </a:r>
            <a:endParaRPr lang="es-ES" sz="28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grpSp>
        <p:nvGrpSpPr>
          <p:cNvPr id="559297" name="Group 193"/>
          <p:cNvGrpSpPr>
            <a:grpSpLocks/>
          </p:cNvGrpSpPr>
          <p:nvPr/>
        </p:nvGrpSpPr>
        <p:grpSpPr bwMode="auto">
          <a:xfrm>
            <a:off x="6710596" y="4363753"/>
            <a:ext cx="3351216" cy="641351"/>
            <a:chOff x="2245" y="1648"/>
            <a:chExt cx="2111" cy="404"/>
          </a:xfrm>
        </p:grpSpPr>
        <p:sp>
          <p:nvSpPr>
            <p:cNvPr id="15377" name="Rectangle 144"/>
            <p:cNvSpPr>
              <a:spLocks noChangeArrowheads="1"/>
            </p:cNvSpPr>
            <p:nvPr/>
          </p:nvSpPr>
          <p:spPr bwMode="auto">
            <a:xfrm>
              <a:off x="2245" y="1657"/>
              <a:ext cx="2033" cy="39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800" dirty="0">
                <a:solidFill>
                  <a:srgbClr val="000000"/>
                </a:solidFill>
              </a:endParaRPr>
            </a:p>
          </p:txBody>
        </p:sp>
        <p:sp>
          <p:nvSpPr>
            <p:cNvPr id="15378" name="Text Box 182"/>
            <p:cNvSpPr txBox="1">
              <a:spLocks noChangeArrowheads="1"/>
            </p:cNvSpPr>
            <p:nvPr/>
          </p:nvSpPr>
          <p:spPr bwMode="auto">
            <a:xfrm>
              <a:off x="2287" y="1648"/>
              <a:ext cx="206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>
                  <a:solidFill>
                    <a:srgbClr val="000000"/>
                  </a:solidFill>
                  <a:sym typeface="Symbol" panose="05050102010706020507" pitchFamily="18" charset="2"/>
                </a:rPr>
                <a:t>V</a:t>
              </a:r>
              <a:r>
                <a:rPr lang="es-ES" sz="2800" baseline="-25000">
                  <a:solidFill>
                    <a:srgbClr val="000000"/>
                  </a:solidFill>
                  <a:sym typeface="Symbol" panose="05050102010706020507" pitchFamily="18" charset="2"/>
                </a:rPr>
                <a:t>HALL</a:t>
              </a:r>
              <a:r>
                <a:rPr lang="es-ES" sz="2800">
                  <a:solidFill>
                    <a:srgbClr val="000000"/>
                  </a:solidFill>
                  <a:sym typeface="Symbol" panose="05050102010706020507" pitchFamily="18" charset="2"/>
                </a:rPr>
                <a:t> </a:t>
              </a:r>
              <a:r>
                <a:rPr lang="es-ES" sz="2800" dirty="0">
                  <a:solidFill>
                    <a:srgbClr val="000000"/>
                  </a:solidFill>
                  <a:sym typeface="Symbol" panose="05050102010706020507" pitchFamily="18" charset="2"/>
                </a:rPr>
                <a:t>= E d = v B d </a:t>
              </a:r>
            </a:p>
          </p:txBody>
        </p:sp>
      </p:grpSp>
      <p:sp>
        <p:nvSpPr>
          <p:cNvPr id="15400" name="Text Box 160"/>
          <p:cNvSpPr txBox="1">
            <a:spLocks noChangeArrowheads="1"/>
          </p:cNvSpPr>
          <p:nvPr/>
        </p:nvSpPr>
        <p:spPr bwMode="auto">
          <a:xfrm>
            <a:off x="6349100" y="5048642"/>
            <a:ext cx="4177390" cy="576293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800" dirty="0">
                <a:solidFill>
                  <a:srgbClr val="FF0000"/>
                </a:solidFill>
              </a:rPr>
              <a:t>(</a:t>
            </a:r>
            <a:r>
              <a:rPr lang="es-ES" sz="2400" dirty="0">
                <a:solidFill>
                  <a:srgbClr val="FF0000"/>
                </a:solidFill>
              </a:rPr>
              <a:t>con</a:t>
            </a:r>
            <a:r>
              <a:rPr lang="es-ES" sz="2400" b="1" dirty="0">
                <a:solidFill>
                  <a:srgbClr val="FF0000"/>
                </a:solidFill>
              </a:rPr>
              <a:t> </a:t>
            </a:r>
            <a:r>
              <a:rPr lang="es-ES" sz="2400" b="1">
                <a:solidFill>
                  <a:srgbClr val="FF0000"/>
                </a:solidFill>
              </a:rPr>
              <a:t>B</a:t>
            </a:r>
            <a:r>
              <a:rPr lang="es-ES" sz="2400">
                <a:solidFill>
                  <a:srgbClr val="FF0000"/>
                </a:solidFill>
              </a:rPr>
              <a:t> unif. y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 </a:t>
            </a:r>
            <a:r>
              <a:rPr lang="es-ES" sz="2400">
                <a:solidFill>
                  <a:srgbClr val="FF0000"/>
                </a:solidFill>
              </a:rPr>
              <a:t>a </a:t>
            </a:r>
            <a:r>
              <a:rPr lang="es-ES" sz="2400" dirty="0">
                <a:solidFill>
                  <a:srgbClr val="FF0000"/>
                </a:solidFill>
              </a:rPr>
              <a:t>la lámina)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8132477" y="721807"/>
            <a:ext cx="2224899" cy="1416579"/>
            <a:chOff x="-3379816" y="2084251"/>
            <a:chExt cx="2224899" cy="1416579"/>
          </a:xfrm>
        </p:grpSpPr>
        <p:sp>
          <p:nvSpPr>
            <p:cNvPr id="19" name="Text Box 32"/>
            <p:cNvSpPr txBox="1">
              <a:spLocks noChangeArrowheads="1"/>
            </p:cNvSpPr>
            <p:nvPr/>
          </p:nvSpPr>
          <p:spPr bwMode="auto">
            <a:xfrm>
              <a:off x="-3379816" y="2084251"/>
              <a:ext cx="2224897" cy="67151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126000" tIns="118800" rIns="126000" bIns="118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/>
                <a:t>F</a:t>
              </a:r>
              <a:r>
                <a:rPr lang="es-ES" sz="2800" baseline="-25000"/>
                <a:t>E</a:t>
              </a:r>
              <a:r>
                <a:rPr lang="es-ES" sz="2800"/>
                <a:t> = |q|E</a:t>
              </a:r>
            </a:p>
          </p:txBody>
        </p:sp>
        <p:sp>
          <p:nvSpPr>
            <p:cNvPr id="20" name="Text Box 32"/>
            <p:cNvSpPr txBox="1">
              <a:spLocks noChangeArrowheads="1"/>
            </p:cNvSpPr>
            <p:nvPr/>
          </p:nvSpPr>
          <p:spPr bwMode="auto">
            <a:xfrm>
              <a:off x="-3358367" y="2829318"/>
              <a:ext cx="2203450" cy="67151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126000" tIns="118800" rIns="126000" bIns="118800" anchor="ctr" anchorCtr="1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/>
                <a:t>F</a:t>
              </a:r>
              <a:r>
                <a:rPr lang="es-ES" sz="2800" baseline="-25000"/>
                <a:t>B</a:t>
              </a:r>
              <a:r>
                <a:rPr lang="es-ES" sz="2800"/>
                <a:t> = |q| v</a:t>
              </a:r>
              <a:r>
                <a:rPr lang="es-ES" sz="2800" baseline="-25000">
                  <a:sym typeface="Symbol" panose="05050102010706020507" pitchFamily="18" charset="2"/>
                </a:rPr>
                <a:t></a:t>
              </a:r>
              <a:r>
                <a:rPr lang="es-ES" sz="2800"/>
                <a:t> B</a:t>
              </a:r>
            </a:p>
          </p:txBody>
        </p:sp>
      </p:grpSp>
      <p:sp>
        <p:nvSpPr>
          <p:cNvPr id="21" name="Text Box 142"/>
          <p:cNvSpPr txBox="1">
            <a:spLocks noChangeArrowheads="1"/>
          </p:cNvSpPr>
          <p:nvPr/>
        </p:nvSpPr>
        <p:spPr bwMode="auto">
          <a:xfrm>
            <a:off x="8150224" y="3134273"/>
            <a:ext cx="2033694" cy="576293"/>
          </a:xfrm>
          <a:prstGeom prst="rect">
            <a:avLst/>
          </a:prstGeom>
          <a:noFill/>
          <a:ln>
            <a:noFill/>
          </a:ln>
        </p:spPr>
        <p:txBody>
          <a:bodyPr wrap="square" lIns="108000" tIns="36000" rIns="108000" bIns="108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800">
                <a:solidFill>
                  <a:srgbClr val="000000"/>
                </a:solidFill>
                <a:sym typeface="Symbol" panose="05050102010706020507" pitchFamily="18" charset="2"/>
              </a:rPr>
              <a:t>  </a:t>
            </a:r>
            <a:r>
              <a:rPr lang="es-ES" sz="2800" b="1">
                <a:solidFill>
                  <a:schemeClr val="tx1"/>
                </a:solidFill>
              </a:rPr>
              <a:t>E</a:t>
            </a:r>
            <a:r>
              <a:rPr lang="es-ES" sz="2800" baseline="-25000">
                <a:solidFill>
                  <a:schemeClr val="tx1"/>
                </a:solidFill>
              </a:rPr>
              <a:t>uniforme</a:t>
            </a:r>
            <a:endParaRPr lang="es-ES" sz="28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5" name="Text Box 181"/>
          <p:cNvSpPr txBox="1">
            <a:spLocks noChangeArrowheads="1"/>
          </p:cNvSpPr>
          <p:nvPr/>
        </p:nvSpPr>
        <p:spPr bwMode="auto">
          <a:xfrm>
            <a:off x="6404831" y="2492793"/>
            <a:ext cx="1308855" cy="59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800">
                <a:solidFill>
                  <a:srgbClr val="000000"/>
                </a:solidFill>
                <a:sym typeface="Symbol" panose="05050102010706020507" pitchFamily="18" charset="2"/>
              </a:rPr>
              <a:t>E = vB</a:t>
            </a:r>
            <a:endParaRPr lang="es-ES" sz="28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16" name="CuadroTexto 15"/>
          <p:cNvSpPr txBox="1">
            <a:spLocks noChangeArrowheads="1"/>
          </p:cNvSpPr>
          <p:nvPr/>
        </p:nvSpPr>
        <p:spPr bwMode="auto">
          <a:xfrm>
            <a:off x="5660264" y="3750134"/>
            <a:ext cx="48016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800">
                <a:solidFill>
                  <a:srgbClr val="000000"/>
                </a:solidFill>
                <a:sym typeface="Symbol" panose="05050102010706020507" pitchFamily="18" charset="2"/>
              </a:rPr>
              <a:t> </a:t>
            </a:r>
            <a:r>
              <a:rPr lang="es-ES" sz="2800">
                <a:solidFill>
                  <a:schemeClr val="tx1"/>
                </a:solidFill>
              </a:rPr>
              <a:t>V</a:t>
            </a:r>
            <a:r>
              <a:rPr lang="es-ES" sz="2400">
                <a:solidFill>
                  <a:schemeClr val="tx1"/>
                </a:solidFill>
              </a:rPr>
              <a:t> calculable como en C </a:t>
            </a:r>
            <a:r>
              <a:rPr lang="es-ES" sz="2400" dirty="0">
                <a:solidFill>
                  <a:schemeClr val="tx1"/>
                </a:solidFill>
              </a:rPr>
              <a:t>plano</a:t>
            </a:r>
          </a:p>
        </p:txBody>
      </p:sp>
      <p:sp>
        <p:nvSpPr>
          <p:cNvPr id="17" name="Text Box 165">
            <a:extLst>
              <a:ext uri="{FF2B5EF4-FFF2-40B4-BE49-F238E27FC236}">
                <a16:creationId xmlns:a16="http://schemas.microsoft.com/office/drawing/2014/main" id="{12EC30C8-7251-4A70-94F6-6B9778F70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405" y="292789"/>
            <a:ext cx="3342744" cy="64922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¿Cuánto vale  V</a:t>
            </a:r>
            <a:r>
              <a:rPr lang="es-ES" sz="2400" baseline="-25000" dirty="0">
                <a:solidFill>
                  <a:schemeClr val="tx1"/>
                </a:solidFill>
              </a:rPr>
              <a:t>HALL</a:t>
            </a:r>
            <a:r>
              <a:rPr lang="es-ES" sz="2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2" name="Text Box 142">
            <a:extLst>
              <a:ext uri="{FF2B5EF4-FFF2-40B4-BE49-F238E27FC236}">
                <a16:creationId xmlns:a16="http://schemas.microsoft.com/office/drawing/2014/main" id="{26A07C1A-1B4F-4538-947C-4E126EF43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4749" y="3016979"/>
            <a:ext cx="2797759" cy="711908"/>
          </a:xfrm>
          <a:prstGeom prst="rect">
            <a:avLst/>
          </a:prstGeom>
          <a:noFill/>
          <a:ln>
            <a:noFill/>
          </a:ln>
        </p:spPr>
        <p:txBody>
          <a:bodyPr wrap="square" lIns="108000" tIns="36000" rIns="108000" bIns="108000" anchor="ctr" anchorCtr="1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s-ES" sz="2800" b="1" err="1">
                <a:solidFill>
                  <a:schemeClr val="tx1"/>
                </a:solidFill>
              </a:rPr>
              <a:t>B</a:t>
            </a:r>
            <a:r>
              <a:rPr lang="es-ES" sz="2800" baseline="-25000" err="1">
                <a:solidFill>
                  <a:schemeClr val="tx1"/>
                </a:solidFill>
              </a:rPr>
              <a:t>uniforme</a:t>
            </a:r>
            <a:r>
              <a:rPr lang="es-ES" sz="280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s-ES" sz="2800">
                <a:solidFill>
                  <a:schemeClr val="tx1"/>
                </a:solidFill>
              </a:rPr>
              <a:t>y v cte.</a:t>
            </a:r>
            <a:r>
              <a:rPr lang="es-ES" sz="2800" baseline="-25000">
                <a:solidFill>
                  <a:schemeClr val="tx1"/>
                </a:solidFill>
              </a:rPr>
              <a:t> </a:t>
            </a:r>
            <a:endParaRPr lang="es-ES" sz="28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18" name="Text Box 181">
            <a:extLst>
              <a:ext uri="{FF2B5EF4-FFF2-40B4-BE49-F238E27FC236}">
                <a16:creationId xmlns:a16="http://schemas.microsoft.com/office/drawing/2014/main" id="{2C74FD79-8D97-4F45-808F-746150881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4097" y="2530263"/>
            <a:ext cx="2797758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(en </a:t>
            </a:r>
            <a:r>
              <a:rPr lang="es-ES" sz="2400" dirty="0">
                <a:solidFill>
                  <a:srgbClr val="FF0000"/>
                </a:solidFill>
                <a:sym typeface="Symbol" panose="05050102010706020507" pitchFamily="18" charset="2"/>
              </a:rPr>
              <a:t>cada punto)</a:t>
            </a:r>
          </a:p>
        </p:txBody>
      </p:sp>
      <p:grpSp>
        <p:nvGrpSpPr>
          <p:cNvPr id="23" name="Group 67">
            <a:extLst>
              <a:ext uri="{FF2B5EF4-FFF2-40B4-BE49-F238E27FC236}">
                <a16:creationId xmlns:a16="http://schemas.microsoft.com/office/drawing/2014/main" id="{341B95D3-0A0D-459F-BEA5-18A78D19C4D7}"/>
              </a:ext>
            </a:extLst>
          </p:cNvPr>
          <p:cNvGrpSpPr>
            <a:grpSpLocks/>
          </p:cNvGrpSpPr>
          <p:nvPr/>
        </p:nvGrpSpPr>
        <p:grpSpPr bwMode="auto">
          <a:xfrm>
            <a:off x="9817720" y="944621"/>
            <a:ext cx="471488" cy="687390"/>
            <a:chOff x="5887" y="-905"/>
            <a:chExt cx="297" cy="433"/>
          </a:xfrm>
        </p:grpSpPr>
        <p:sp>
          <p:nvSpPr>
            <p:cNvPr id="24" name="Line 63">
              <a:extLst>
                <a:ext uri="{FF2B5EF4-FFF2-40B4-BE49-F238E27FC236}">
                  <a16:creationId xmlns:a16="http://schemas.microsoft.com/office/drawing/2014/main" id="{F41CCB97-C0AD-44EF-9F24-7F3D466BD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7" y="-590"/>
              <a:ext cx="74" cy="11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25" name="Text Box 64">
              <a:extLst>
                <a:ext uri="{FF2B5EF4-FFF2-40B4-BE49-F238E27FC236}">
                  <a16:creationId xmlns:a16="http://schemas.microsoft.com/office/drawing/2014/main" id="{70DC77FD-0682-48FF-8434-F046516DE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" y="-905"/>
              <a:ext cx="244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3200" dirty="0">
                  <a:solidFill>
                    <a:srgbClr val="FF0000"/>
                  </a:solidFill>
                </a:rPr>
                <a:t>v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84C6108-F83C-304E-3571-D5AFC2157595}"/>
              </a:ext>
            </a:extLst>
          </p:cNvPr>
          <p:cNvGrpSpPr/>
          <p:nvPr/>
        </p:nvGrpSpPr>
        <p:grpSpPr>
          <a:xfrm>
            <a:off x="1589088" y="919016"/>
            <a:ext cx="3636962" cy="2732517"/>
            <a:chOff x="1589088" y="1414463"/>
            <a:chExt cx="3636962" cy="2732517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DC8B595D-891A-F4E8-487B-9F0FC47841F1}"/>
                </a:ext>
              </a:extLst>
            </p:cNvPr>
            <p:cNvGrpSpPr/>
            <p:nvPr/>
          </p:nvGrpSpPr>
          <p:grpSpPr>
            <a:xfrm>
              <a:off x="1589088" y="1414463"/>
              <a:ext cx="3636962" cy="2732517"/>
              <a:chOff x="1589088" y="1414463"/>
              <a:chExt cx="3636962" cy="2732517"/>
            </a:xfrm>
          </p:grpSpPr>
          <p:sp>
            <p:nvSpPr>
              <p:cNvPr id="8" name="Line 7">
                <a:extLst>
                  <a:ext uri="{FF2B5EF4-FFF2-40B4-BE49-F238E27FC236}">
                    <a16:creationId xmlns:a16="http://schemas.microsoft.com/office/drawing/2014/main" id="{CD60C00D-9D49-07EE-E8F3-8C98332DB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6075" y="1673225"/>
                <a:ext cx="17240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841CC485-7DD5-3B39-9A23-A1BC91CA4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62338" y="1669184"/>
                <a:ext cx="176371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" name="Line 9">
                <a:extLst>
                  <a:ext uri="{FF2B5EF4-FFF2-40B4-BE49-F238E27FC236}">
                    <a16:creationId xmlns:a16="http://schemas.microsoft.com/office/drawing/2014/main" id="{54E9FC40-A04E-B920-8705-5B0768DAE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9088" y="3378714"/>
                <a:ext cx="76358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" name="Line 10">
                <a:extLst>
                  <a:ext uri="{FF2B5EF4-FFF2-40B4-BE49-F238E27FC236}">
                    <a16:creationId xmlns:a16="http://schemas.microsoft.com/office/drawing/2014/main" id="{688D539F-FBEC-4F58-CF13-A0AB640F7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739903" y="2523588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" name="Line 11">
                <a:extLst>
                  <a:ext uri="{FF2B5EF4-FFF2-40B4-BE49-F238E27FC236}">
                    <a16:creationId xmlns:a16="http://schemas.microsoft.com/office/drawing/2014/main" id="{F59F1EA9-3FC7-4F2E-102F-0C1284655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>
                <a:off x="4345864" y="2531526"/>
                <a:ext cx="173647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3" name="Line 12">
                <a:extLst>
                  <a:ext uri="{FF2B5EF4-FFF2-40B4-BE49-F238E27FC236}">
                    <a16:creationId xmlns:a16="http://schemas.microsoft.com/office/drawing/2014/main" id="{7922DCD8-0AB0-236C-6A96-9874BE20BE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45000" y="3396088"/>
                <a:ext cx="763588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C6F09105-A904-31D8-855E-D86060B4A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5025" y="1414463"/>
                <a:ext cx="0" cy="53975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6" name="Line 15">
                <a:extLst>
                  <a:ext uri="{FF2B5EF4-FFF2-40B4-BE49-F238E27FC236}">
                    <a16:creationId xmlns:a16="http://schemas.microsoft.com/office/drawing/2014/main" id="{7BF68618-5443-B421-F6D1-877D46937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4875" y="1494559"/>
                <a:ext cx="0" cy="36036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21726548-55A5-7644-3DE2-7417387F9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463" y="2691243"/>
                <a:ext cx="2163762" cy="1455737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 anchor="ctr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" name="Line 152">
              <a:extLst>
                <a:ext uri="{FF2B5EF4-FFF2-40B4-BE49-F238E27FC236}">
                  <a16:creationId xmlns:a16="http://schemas.microsoft.com/office/drawing/2014/main" id="{69537297-C51F-E3BF-B24D-F962EF6A7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511" y="2721491"/>
              <a:ext cx="0" cy="1381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7" name="Text Box 153">
              <a:extLst>
                <a:ext uri="{FF2B5EF4-FFF2-40B4-BE49-F238E27FC236}">
                  <a16:creationId xmlns:a16="http://schemas.microsoft.com/office/drawing/2014/main" id="{B1A024EC-A70A-BC23-A5CE-B139CD210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326" y="3452451"/>
              <a:ext cx="244225" cy="442035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36000" tIns="36000" rIns="36000" bIns="360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CED5F90-4190-FEE4-F254-FF733A9C1863}"/>
              </a:ext>
            </a:extLst>
          </p:cNvPr>
          <p:cNvGrpSpPr>
            <a:grpSpLocks/>
          </p:cNvGrpSpPr>
          <p:nvPr/>
        </p:nvGrpSpPr>
        <p:grpSpPr bwMode="auto">
          <a:xfrm>
            <a:off x="3258346" y="2719536"/>
            <a:ext cx="1071559" cy="392691"/>
            <a:chOff x="3269275" y="2924784"/>
            <a:chExt cx="1071560" cy="392691"/>
          </a:xfrm>
        </p:grpSpPr>
        <p:graphicFrame>
          <p:nvGraphicFramePr>
            <p:cNvPr id="29" name="Object 45">
              <a:extLst>
                <a:ext uri="{FF2B5EF4-FFF2-40B4-BE49-F238E27FC236}">
                  <a16:creationId xmlns:a16="http://schemas.microsoft.com/office/drawing/2014/main" id="{82E71217-8B7E-3FE1-C1D4-8EC1FA66B0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9275" y="2924784"/>
            <a:ext cx="244475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26725" imgH="177415" progId="Equation.3">
                    <p:embed/>
                  </p:oleObj>
                </mc:Choice>
                <mc:Fallback>
                  <p:oleObj name="Ecuación" r:id="rId3" imgW="126725" imgH="177415" progId="Equation.3">
                    <p:embed/>
                    <p:pic>
                      <p:nvPicPr>
                        <p:cNvPr id="13374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9275" y="2924784"/>
                          <a:ext cx="244475" cy="341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168">
              <a:extLst>
                <a:ext uri="{FF2B5EF4-FFF2-40B4-BE49-F238E27FC236}">
                  <a16:creationId xmlns:a16="http://schemas.microsoft.com/office/drawing/2014/main" id="{F89DDE9F-0BE6-FC9B-B5F8-38A847D507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3760" y="2939650"/>
              <a:ext cx="727075" cy="377825"/>
              <a:chOff x="2365" y="1991"/>
              <a:chExt cx="458" cy="238"/>
            </a:xfrm>
          </p:grpSpPr>
          <p:sp>
            <p:nvSpPr>
              <p:cNvPr id="31" name="Line 44">
                <a:extLst>
                  <a:ext uri="{FF2B5EF4-FFF2-40B4-BE49-F238E27FC236}">
                    <a16:creationId xmlns:a16="http://schemas.microsoft.com/office/drawing/2014/main" id="{C9E8C9B2-B39A-6E83-FE53-ADB6B5FD2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65" y="2105"/>
                <a:ext cx="21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lIns="90000" tIns="82800" rIns="90000" bIns="82800">
                <a:spAutoFit/>
              </a:bodyPr>
              <a:lstStyle/>
              <a:p>
                <a:endParaRPr lang="en-GB"/>
              </a:p>
            </p:txBody>
          </p:sp>
          <p:pic>
            <p:nvPicPr>
              <p:cNvPr id="32" name="Picture 46" descr="Image2">
                <a:extLst>
                  <a:ext uri="{FF2B5EF4-FFF2-40B4-BE49-F238E27FC236}">
                    <a16:creationId xmlns:a16="http://schemas.microsoft.com/office/drawing/2014/main" id="{1C38C635-F257-C37E-697D-89AFA8A5B6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74" y="1991"/>
                <a:ext cx="249" cy="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3" name="Group 133">
            <a:extLst>
              <a:ext uri="{FF2B5EF4-FFF2-40B4-BE49-F238E27FC236}">
                <a16:creationId xmlns:a16="http://schemas.microsoft.com/office/drawing/2014/main" id="{5C188BD6-7B7E-6EC1-A45E-48AD12967BC8}"/>
              </a:ext>
            </a:extLst>
          </p:cNvPr>
          <p:cNvGrpSpPr>
            <a:grpSpLocks/>
          </p:cNvGrpSpPr>
          <p:nvPr/>
        </p:nvGrpSpPr>
        <p:grpSpPr bwMode="auto">
          <a:xfrm>
            <a:off x="4136741" y="2226552"/>
            <a:ext cx="868363" cy="636588"/>
            <a:chOff x="5441" y="1645"/>
            <a:chExt cx="547" cy="401"/>
          </a:xfrm>
        </p:grpSpPr>
        <p:graphicFrame>
          <p:nvGraphicFramePr>
            <p:cNvPr id="34" name="Object 134">
              <a:extLst>
                <a:ext uri="{FF2B5EF4-FFF2-40B4-BE49-F238E27FC236}">
                  <a16:creationId xmlns:a16="http://schemas.microsoft.com/office/drawing/2014/main" id="{B67F32FC-6272-0198-6330-3D8ABFDBC2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03" y="1645"/>
            <a:ext cx="285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90335" imgH="266469" progId="Equation.3">
                    <p:embed/>
                  </p:oleObj>
                </mc:Choice>
                <mc:Fallback>
                  <p:oleObj name="Ecuación" r:id="rId6" imgW="190335" imgH="266469" progId="Equation.3">
                    <p:embed/>
                    <p:pic>
                      <p:nvPicPr>
                        <p:cNvPr id="13372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3" y="1645"/>
                          <a:ext cx="285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135">
              <a:extLst>
                <a:ext uri="{FF2B5EF4-FFF2-40B4-BE49-F238E27FC236}">
                  <a16:creationId xmlns:a16="http://schemas.microsoft.com/office/drawing/2014/main" id="{C0487868-41A3-C600-B05F-A6CF6B486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41" y="1681"/>
              <a:ext cx="0" cy="268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36" name="Group 136">
            <a:extLst>
              <a:ext uri="{FF2B5EF4-FFF2-40B4-BE49-F238E27FC236}">
                <a16:creationId xmlns:a16="http://schemas.microsoft.com/office/drawing/2014/main" id="{8DB7B5B8-DBBF-9014-81A3-80BD81E61D68}"/>
              </a:ext>
            </a:extLst>
          </p:cNvPr>
          <p:cNvGrpSpPr>
            <a:grpSpLocks/>
          </p:cNvGrpSpPr>
          <p:nvPr/>
        </p:nvGrpSpPr>
        <p:grpSpPr bwMode="auto">
          <a:xfrm>
            <a:off x="4133470" y="2946211"/>
            <a:ext cx="887412" cy="638175"/>
            <a:chOff x="5444" y="2139"/>
            <a:chExt cx="559" cy="402"/>
          </a:xfrm>
        </p:grpSpPr>
        <p:graphicFrame>
          <p:nvGraphicFramePr>
            <p:cNvPr id="37" name="Object 137">
              <a:extLst>
                <a:ext uri="{FF2B5EF4-FFF2-40B4-BE49-F238E27FC236}">
                  <a16:creationId xmlns:a16="http://schemas.microsoft.com/office/drawing/2014/main" id="{EAD2D20A-236A-5771-C186-FC3CD3341E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8" y="2139"/>
            <a:ext cx="285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90335" imgH="266469" progId="Equation.3">
                    <p:embed/>
                  </p:oleObj>
                </mc:Choice>
                <mc:Fallback>
                  <p:oleObj name="Ecuación" r:id="rId8" imgW="190335" imgH="266469" progId="Equation.3">
                    <p:embed/>
                    <p:pic>
                      <p:nvPicPr>
                        <p:cNvPr id="13370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8" y="2139"/>
                          <a:ext cx="285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138">
              <a:extLst>
                <a:ext uri="{FF2B5EF4-FFF2-40B4-BE49-F238E27FC236}">
                  <a16:creationId xmlns:a16="http://schemas.microsoft.com/office/drawing/2014/main" id="{F5179471-8D8B-8501-47DF-EEE3CB6F1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44" y="2242"/>
              <a:ext cx="0" cy="268"/>
            </a:xfrm>
            <a:prstGeom prst="line">
              <a:avLst/>
            </a:prstGeom>
            <a:noFill/>
            <a:ln w="38100">
              <a:solidFill>
                <a:srgbClr val="8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39" name="Group 154">
            <a:extLst>
              <a:ext uri="{FF2B5EF4-FFF2-40B4-BE49-F238E27FC236}">
                <a16:creationId xmlns:a16="http://schemas.microsoft.com/office/drawing/2014/main" id="{9802118C-D65D-10A4-C523-F3177CD9676C}"/>
              </a:ext>
            </a:extLst>
          </p:cNvPr>
          <p:cNvGrpSpPr>
            <a:grpSpLocks/>
          </p:cNvGrpSpPr>
          <p:nvPr/>
        </p:nvGrpSpPr>
        <p:grpSpPr bwMode="auto">
          <a:xfrm>
            <a:off x="2483015" y="2668485"/>
            <a:ext cx="523877" cy="436563"/>
            <a:chOff x="4382" y="1996"/>
            <a:chExt cx="330" cy="275"/>
          </a:xfrm>
        </p:grpSpPr>
        <p:graphicFrame>
          <p:nvGraphicFramePr>
            <p:cNvPr id="40" name="Object 155">
              <a:extLst>
                <a:ext uri="{FF2B5EF4-FFF2-40B4-BE49-F238E27FC236}">
                  <a16:creationId xmlns:a16="http://schemas.microsoft.com/office/drawing/2014/main" id="{83C88C41-DC0A-0A7B-9141-00055ABA8C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2" y="2026"/>
            <a:ext cx="169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39639" imgH="203112" progId="Equation.3">
                    <p:embed/>
                  </p:oleObj>
                </mc:Choice>
                <mc:Fallback>
                  <p:oleObj name="Ecuación" r:id="rId10" imgW="139639" imgH="203112" progId="Equation.3">
                    <p:embed/>
                    <p:pic>
                      <p:nvPicPr>
                        <p:cNvPr id="13354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2026"/>
                          <a:ext cx="169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Line 156">
              <a:extLst>
                <a:ext uri="{FF2B5EF4-FFF2-40B4-BE49-F238E27FC236}">
                  <a16:creationId xmlns:a16="http://schemas.microsoft.com/office/drawing/2014/main" id="{9E37634A-EEE4-4C57-4E39-5AD5F1530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2" y="1996"/>
              <a:ext cx="0" cy="2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A52B29DA-5BE9-C92E-F14E-E3089DE67105}"/>
              </a:ext>
            </a:extLst>
          </p:cNvPr>
          <p:cNvGrpSpPr>
            <a:grpSpLocks/>
          </p:cNvGrpSpPr>
          <p:nvPr/>
        </p:nvGrpSpPr>
        <p:grpSpPr bwMode="auto">
          <a:xfrm>
            <a:off x="1236663" y="1883696"/>
            <a:ext cx="371475" cy="530225"/>
            <a:chOff x="1237295" y="2112546"/>
            <a:chExt cx="371475" cy="530225"/>
          </a:xfrm>
        </p:grpSpPr>
        <p:sp>
          <p:nvSpPr>
            <p:cNvPr id="43" name="Line 48">
              <a:extLst>
                <a:ext uri="{FF2B5EF4-FFF2-40B4-BE49-F238E27FC236}">
                  <a16:creationId xmlns:a16="http://schemas.microsoft.com/office/drawing/2014/main" id="{01CEA257-A4FE-C2DA-F54D-8568B955D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770" y="2156996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4" name="Text Box 50">
              <a:extLst>
                <a:ext uri="{FF2B5EF4-FFF2-40B4-BE49-F238E27FC236}">
                  <a16:creationId xmlns:a16="http://schemas.microsoft.com/office/drawing/2014/main" id="{2F4004F5-4B88-90BB-2553-0860A302C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7295" y="2112546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F39075C-E63C-7972-8984-DB19B9108EA7}"/>
              </a:ext>
            </a:extLst>
          </p:cNvPr>
          <p:cNvGrpSpPr>
            <a:grpSpLocks/>
          </p:cNvGrpSpPr>
          <p:nvPr/>
        </p:nvGrpSpPr>
        <p:grpSpPr bwMode="auto">
          <a:xfrm>
            <a:off x="5207117" y="1879655"/>
            <a:ext cx="390525" cy="559666"/>
            <a:chOff x="5207633" y="2108505"/>
            <a:chExt cx="390525" cy="559667"/>
          </a:xfrm>
        </p:grpSpPr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0099E73D-06C9-8BCD-0255-4EDD022F2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07633" y="2298284"/>
              <a:ext cx="0" cy="3698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/>
            </a:p>
          </p:txBody>
        </p:sp>
        <p:sp>
          <p:nvSpPr>
            <p:cNvPr id="47" name="Text Box 51">
              <a:extLst>
                <a:ext uri="{FF2B5EF4-FFF2-40B4-BE49-F238E27FC236}">
                  <a16:creationId xmlns:a16="http://schemas.microsoft.com/office/drawing/2014/main" id="{DF41973E-0B02-359D-1AB5-82EB8CE60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0495" y="2108505"/>
              <a:ext cx="347663" cy="530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</p:grpSp>
      <p:grpSp>
        <p:nvGrpSpPr>
          <p:cNvPr id="48" name="Group 167">
            <a:extLst>
              <a:ext uri="{FF2B5EF4-FFF2-40B4-BE49-F238E27FC236}">
                <a16:creationId xmlns:a16="http://schemas.microsoft.com/office/drawing/2014/main" id="{1EDF26E5-16DF-62B7-DCD1-B9AE227D8650}"/>
              </a:ext>
            </a:extLst>
          </p:cNvPr>
          <p:cNvGrpSpPr>
            <a:grpSpLocks/>
          </p:cNvGrpSpPr>
          <p:nvPr/>
        </p:nvGrpSpPr>
        <p:grpSpPr bwMode="auto">
          <a:xfrm>
            <a:off x="2271713" y="2085308"/>
            <a:ext cx="2219325" cy="1590675"/>
            <a:chOff x="1569" y="1578"/>
            <a:chExt cx="1398" cy="1002"/>
          </a:xfrm>
        </p:grpSpPr>
        <p:grpSp>
          <p:nvGrpSpPr>
            <p:cNvPr id="49" name="Group 17">
              <a:extLst>
                <a:ext uri="{FF2B5EF4-FFF2-40B4-BE49-F238E27FC236}">
                  <a16:creationId xmlns:a16="http://schemas.microsoft.com/office/drawing/2014/main" id="{AAF3CCFF-04C4-889E-8A09-8252A8E6A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9" y="1578"/>
              <a:ext cx="1398" cy="296"/>
              <a:chOff x="3634" y="2306"/>
              <a:chExt cx="1398" cy="296"/>
            </a:xfrm>
          </p:grpSpPr>
          <p:sp>
            <p:nvSpPr>
              <p:cNvPr id="559239" name="Text Box 18">
                <a:extLst>
                  <a:ext uri="{FF2B5EF4-FFF2-40B4-BE49-F238E27FC236}">
                    <a16:creationId xmlns:a16="http://schemas.microsoft.com/office/drawing/2014/main" id="{2B151F25-4F48-2DEF-2AB3-FA1E895396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4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40" name="Text Box 19">
                <a:extLst>
                  <a:ext uri="{FF2B5EF4-FFF2-40B4-BE49-F238E27FC236}">
                    <a16:creationId xmlns:a16="http://schemas.microsoft.com/office/drawing/2014/main" id="{72B6781C-7F08-77A8-AA7E-B11ED37E1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3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41" name="Text Box 20">
                <a:extLst>
                  <a:ext uri="{FF2B5EF4-FFF2-40B4-BE49-F238E27FC236}">
                    <a16:creationId xmlns:a16="http://schemas.microsoft.com/office/drawing/2014/main" id="{E13547EA-2732-18EE-B75E-4D994C7A00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2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42" name="Text Box 21">
                <a:extLst>
                  <a:ext uri="{FF2B5EF4-FFF2-40B4-BE49-F238E27FC236}">
                    <a16:creationId xmlns:a16="http://schemas.microsoft.com/office/drawing/2014/main" id="{BD56532B-33F0-62F4-B157-416E85B73D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1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43" name="Text Box 22">
                <a:extLst>
                  <a:ext uri="{FF2B5EF4-FFF2-40B4-BE49-F238E27FC236}">
                    <a16:creationId xmlns:a16="http://schemas.microsoft.com/office/drawing/2014/main" id="{363C6C00-02D6-E3D3-5DCF-83C7ACE1E5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0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44" name="Text Box 23">
                <a:extLst>
                  <a:ext uri="{FF2B5EF4-FFF2-40B4-BE49-F238E27FC236}">
                    <a16:creationId xmlns:a16="http://schemas.microsoft.com/office/drawing/2014/main" id="{956C75A4-2068-0B18-DEB2-9DC75E971F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9" y="2306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50" name="Group 24">
              <a:extLst>
                <a:ext uri="{FF2B5EF4-FFF2-40B4-BE49-F238E27FC236}">
                  <a16:creationId xmlns:a16="http://schemas.microsoft.com/office/drawing/2014/main" id="{39BC1F00-E45B-8626-3003-39BCD30C4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9" y="1824"/>
              <a:ext cx="1398" cy="296"/>
              <a:chOff x="3650" y="2552"/>
              <a:chExt cx="1398" cy="296"/>
            </a:xfrm>
          </p:grpSpPr>
          <p:sp>
            <p:nvSpPr>
              <p:cNvPr id="559233" name="Text Box 25">
                <a:extLst>
                  <a:ext uri="{FF2B5EF4-FFF2-40B4-BE49-F238E27FC236}">
                    <a16:creationId xmlns:a16="http://schemas.microsoft.com/office/drawing/2014/main" id="{F0231F28-D1DD-AEE1-17B0-D7C5AF69C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0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4" name="Text Box 26">
                <a:extLst>
                  <a:ext uri="{FF2B5EF4-FFF2-40B4-BE49-F238E27FC236}">
                    <a16:creationId xmlns:a16="http://schemas.microsoft.com/office/drawing/2014/main" id="{55801050-6A71-882C-B7BD-A7F0D1E7D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9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5" name="Text Box 27">
                <a:extLst>
                  <a:ext uri="{FF2B5EF4-FFF2-40B4-BE49-F238E27FC236}">
                    <a16:creationId xmlns:a16="http://schemas.microsoft.com/office/drawing/2014/main" id="{9D8A77B9-A91B-FB2A-C8FE-26F9DDF75C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6" name="Text Box 28">
                <a:extLst>
                  <a:ext uri="{FF2B5EF4-FFF2-40B4-BE49-F238E27FC236}">
                    <a16:creationId xmlns:a16="http://schemas.microsoft.com/office/drawing/2014/main" id="{74E40B5F-6E7A-9A2D-2F4D-D547A519C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7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7" name="Text Box 29">
                <a:extLst>
                  <a:ext uri="{FF2B5EF4-FFF2-40B4-BE49-F238E27FC236}">
                    <a16:creationId xmlns:a16="http://schemas.microsoft.com/office/drawing/2014/main" id="{8F6F04F4-E274-092A-DB08-24AFF64C5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6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8" name="Text Box 30">
                <a:extLst>
                  <a:ext uri="{FF2B5EF4-FFF2-40B4-BE49-F238E27FC236}">
                    <a16:creationId xmlns:a16="http://schemas.microsoft.com/office/drawing/2014/main" id="{F9DCFE9E-5911-A172-9E65-ED53940BE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5" y="2552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51" name="Group 31">
              <a:extLst>
                <a:ext uri="{FF2B5EF4-FFF2-40B4-BE49-F238E27FC236}">
                  <a16:creationId xmlns:a16="http://schemas.microsoft.com/office/drawing/2014/main" id="{E1F4C517-6D56-26DF-2AB4-2500F79739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9" y="2070"/>
              <a:ext cx="1398" cy="296"/>
              <a:chOff x="3666" y="2798"/>
              <a:chExt cx="1398" cy="296"/>
            </a:xfrm>
          </p:grpSpPr>
          <p:sp>
            <p:nvSpPr>
              <p:cNvPr id="59" name="Text Box 32">
                <a:extLst>
                  <a:ext uri="{FF2B5EF4-FFF2-40B4-BE49-F238E27FC236}">
                    <a16:creationId xmlns:a16="http://schemas.microsoft.com/office/drawing/2014/main" id="{48F0FFBF-9D63-CFF1-EF2F-45F58A016B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6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60" name="Text Box 33">
                <a:extLst>
                  <a:ext uri="{FF2B5EF4-FFF2-40B4-BE49-F238E27FC236}">
                    <a16:creationId xmlns:a16="http://schemas.microsoft.com/office/drawing/2014/main" id="{DC60DA81-868C-147D-7953-35DA65A757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05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61" name="Text Box 34">
                <a:extLst>
                  <a:ext uri="{FF2B5EF4-FFF2-40B4-BE49-F238E27FC236}">
                    <a16:creationId xmlns:a16="http://schemas.microsoft.com/office/drawing/2014/main" id="{F20172D3-C77F-FE49-12EA-B38867887A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4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62" name="Text Box 35">
                <a:extLst>
                  <a:ext uri="{FF2B5EF4-FFF2-40B4-BE49-F238E27FC236}">
                    <a16:creationId xmlns:a16="http://schemas.microsoft.com/office/drawing/2014/main" id="{3F61402D-E50E-F8AA-28DB-600017F60A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3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63" name="Text Box 36">
                <a:extLst>
                  <a:ext uri="{FF2B5EF4-FFF2-40B4-BE49-F238E27FC236}">
                    <a16:creationId xmlns:a16="http://schemas.microsoft.com/office/drawing/2014/main" id="{EA665B15-301E-B9DF-4473-A69CCD0CB0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2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9232" name="Text Box 37">
                <a:extLst>
                  <a:ext uri="{FF2B5EF4-FFF2-40B4-BE49-F238E27FC236}">
                    <a16:creationId xmlns:a16="http://schemas.microsoft.com/office/drawing/2014/main" id="{4CAC3D26-61C7-8297-E55B-12675061EA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1" y="2798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  <p:grpSp>
          <p:nvGrpSpPr>
            <p:cNvPr id="52" name="Group 38">
              <a:extLst>
                <a:ext uri="{FF2B5EF4-FFF2-40B4-BE49-F238E27FC236}">
                  <a16:creationId xmlns:a16="http://schemas.microsoft.com/office/drawing/2014/main" id="{171EBEB6-642B-48F4-F4EE-E3F57232F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9" y="2284"/>
              <a:ext cx="1398" cy="296"/>
              <a:chOff x="3682" y="3044"/>
              <a:chExt cx="1398" cy="296"/>
            </a:xfrm>
          </p:grpSpPr>
          <p:sp>
            <p:nvSpPr>
              <p:cNvPr id="53" name="Text Box 39">
                <a:extLst>
                  <a:ext uri="{FF2B5EF4-FFF2-40B4-BE49-F238E27FC236}">
                    <a16:creationId xmlns:a16="http://schemas.microsoft.com/office/drawing/2014/main" id="{D1627CCF-52BC-6054-D48C-F93B8F1D8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2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4" name="Text Box 40">
                <a:extLst>
                  <a:ext uri="{FF2B5EF4-FFF2-40B4-BE49-F238E27FC236}">
                    <a16:creationId xmlns:a16="http://schemas.microsoft.com/office/drawing/2014/main" id="{A4D6AC80-9375-458F-8653-87E639222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1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5" name="Text Box 41">
                <a:extLst>
                  <a:ext uri="{FF2B5EF4-FFF2-40B4-BE49-F238E27FC236}">
                    <a16:creationId xmlns:a16="http://schemas.microsoft.com/office/drawing/2014/main" id="{92569B56-5F6C-8C6B-03F4-F37EA1F7D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0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6" name="Text Box 42">
                <a:extLst>
                  <a:ext uri="{FF2B5EF4-FFF2-40B4-BE49-F238E27FC236}">
                    <a16:creationId xmlns:a16="http://schemas.microsoft.com/office/drawing/2014/main" id="{1E603690-C685-66B3-8DD6-7D02EDD3EE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9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7" name="Text Box 43">
                <a:extLst>
                  <a:ext uri="{FF2B5EF4-FFF2-40B4-BE49-F238E27FC236}">
                    <a16:creationId xmlns:a16="http://schemas.microsoft.com/office/drawing/2014/main" id="{92545BED-5A40-10D0-5C03-D9248F446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8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  <p:sp>
            <p:nvSpPr>
              <p:cNvPr id="58" name="Text Box 44">
                <a:extLst>
                  <a:ext uri="{FF2B5EF4-FFF2-40B4-BE49-F238E27FC236}">
                    <a16:creationId xmlns:a16="http://schemas.microsoft.com/office/drawing/2014/main" id="{30BAB6EB-8B8B-7C34-12DC-E58FB674AA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7" y="3044"/>
                <a:ext cx="203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  <a:ext uri="{53640926-AAD7-44D8-BBD7-CCE9431645EC}">
                  <a14:shadowObscured xmlns:a14="http://schemas.microsoft.com/office/drawing/2010/main" val="1"/>
                </a:ext>
              </a:extLst>
            </p:spPr>
            <p:txBody>
              <a:bodyPr wrap="none" lIns="90000" tIns="82800" rIns="90000" bIns="82800">
                <a:spAutoFit/>
              </a:bodyPr>
              <a:lstStyle>
                <a:lvl1pPr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D60093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s-ES" b="1">
                    <a:solidFill>
                      <a:srgbClr val="3333FF"/>
                    </a:solidFill>
                  </a:rPr>
                  <a:t>x</a:t>
                </a:r>
              </a:p>
            </p:txBody>
          </p:sp>
        </p:grpSp>
      </p:grpSp>
      <p:grpSp>
        <p:nvGrpSpPr>
          <p:cNvPr id="559245" name="Group 66">
            <a:extLst>
              <a:ext uri="{FF2B5EF4-FFF2-40B4-BE49-F238E27FC236}">
                <a16:creationId xmlns:a16="http://schemas.microsoft.com/office/drawing/2014/main" id="{B92FE2C1-C832-F7AE-93C6-435D246CF84E}"/>
              </a:ext>
            </a:extLst>
          </p:cNvPr>
          <p:cNvGrpSpPr>
            <a:grpSpLocks/>
          </p:cNvGrpSpPr>
          <p:nvPr/>
        </p:nvGrpSpPr>
        <p:grpSpPr bwMode="auto">
          <a:xfrm>
            <a:off x="2270126" y="3557519"/>
            <a:ext cx="2225675" cy="474662"/>
            <a:chOff x="3682" y="3044"/>
            <a:chExt cx="1403" cy="299"/>
          </a:xfrm>
        </p:grpSpPr>
        <p:sp>
          <p:nvSpPr>
            <p:cNvPr id="559247" name="Text Box 67">
              <a:extLst>
                <a:ext uri="{FF2B5EF4-FFF2-40B4-BE49-F238E27FC236}">
                  <a16:creationId xmlns:a16="http://schemas.microsoft.com/office/drawing/2014/main" id="{ABBE304A-8515-E02C-9967-F0F7808ED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2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559248" name="Text Box 68">
              <a:extLst>
                <a:ext uri="{FF2B5EF4-FFF2-40B4-BE49-F238E27FC236}">
                  <a16:creationId xmlns:a16="http://schemas.microsoft.com/office/drawing/2014/main" id="{9448C6A2-4FA3-8A37-AA83-115773CD5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1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559249" name="Text Box 69">
              <a:extLst>
                <a:ext uri="{FF2B5EF4-FFF2-40B4-BE49-F238E27FC236}">
                  <a16:creationId xmlns:a16="http://schemas.microsoft.com/office/drawing/2014/main" id="{4EACB381-A598-DC6A-76FC-DE44135A8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559250" name="Text Box 70">
              <a:extLst>
                <a:ext uri="{FF2B5EF4-FFF2-40B4-BE49-F238E27FC236}">
                  <a16:creationId xmlns:a16="http://schemas.microsoft.com/office/drawing/2014/main" id="{8B5B636C-10EA-18F4-E413-F606989D6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559251" name="Text Box 71">
              <a:extLst>
                <a:ext uri="{FF2B5EF4-FFF2-40B4-BE49-F238E27FC236}">
                  <a16:creationId xmlns:a16="http://schemas.microsoft.com/office/drawing/2014/main" id="{23E5A9AA-AF70-7EBE-7E89-5DDF1ADD8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559252" name="Text Box 72">
              <a:extLst>
                <a:ext uri="{FF2B5EF4-FFF2-40B4-BE49-F238E27FC236}">
                  <a16:creationId xmlns:a16="http://schemas.microsoft.com/office/drawing/2014/main" id="{4954396D-FB96-7D40-2FF2-E222F5DE0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3044"/>
              <a:ext cx="20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559253" name="Group 73">
            <a:extLst>
              <a:ext uri="{FF2B5EF4-FFF2-40B4-BE49-F238E27FC236}">
                <a16:creationId xmlns:a16="http://schemas.microsoft.com/office/drawing/2014/main" id="{29A58A14-4857-E01D-8B85-D5FA09B6A3D3}"/>
              </a:ext>
            </a:extLst>
          </p:cNvPr>
          <p:cNvGrpSpPr>
            <a:grpSpLocks/>
          </p:cNvGrpSpPr>
          <p:nvPr/>
        </p:nvGrpSpPr>
        <p:grpSpPr bwMode="auto">
          <a:xfrm>
            <a:off x="2299281" y="1819290"/>
            <a:ext cx="2163763" cy="474662"/>
            <a:chOff x="3681" y="3044"/>
            <a:chExt cx="1363" cy="299"/>
          </a:xfrm>
        </p:grpSpPr>
        <p:sp>
          <p:nvSpPr>
            <p:cNvPr id="559254" name="Text Box 74">
              <a:extLst>
                <a:ext uri="{FF2B5EF4-FFF2-40B4-BE49-F238E27FC236}">
                  <a16:creationId xmlns:a16="http://schemas.microsoft.com/office/drawing/2014/main" id="{C5F67F68-97EB-2059-1126-E86E2E65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59255" name="Text Box 75">
              <a:extLst>
                <a:ext uri="{FF2B5EF4-FFF2-40B4-BE49-F238E27FC236}">
                  <a16:creationId xmlns:a16="http://schemas.microsoft.com/office/drawing/2014/main" id="{A3A5D7F2-C78F-4B5E-C819-BCBF31B5E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59256" name="Text Box 76">
              <a:extLst>
                <a:ext uri="{FF2B5EF4-FFF2-40B4-BE49-F238E27FC236}">
                  <a16:creationId xmlns:a16="http://schemas.microsoft.com/office/drawing/2014/main" id="{2B16E609-7382-2FEA-45DD-1C3F162B1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59257" name="Text Box 77">
              <a:extLst>
                <a:ext uri="{FF2B5EF4-FFF2-40B4-BE49-F238E27FC236}">
                  <a16:creationId xmlns:a16="http://schemas.microsoft.com/office/drawing/2014/main" id="{62303AF2-BEF5-9784-637E-DE26CD576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" y="3044"/>
              <a:ext cx="16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59258" name="Text Box 78">
              <a:extLst>
                <a:ext uri="{FF2B5EF4-FFF2-40B4-BE49-F238E27FC236}">
                  <a16:creationId xmlns:a16="http://schemas.microsoft.com/office/drawing/2014/main" id="{3A53103F-90C5-8855-A97E-F695C8B72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7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559259" name="Text Box 79">
              <a:extLst>
                <a:ext uri="{FF2B5EF4-FFF2-40B4-BE49-F238E27FC236}">
                  <a16:creationId xmlns:a16="http://schemas.microsoft.com/office/drawing/2014/main" id="{239743E0-4FF0-A777-0235-B06F59E58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3044"/>
              <a:ext cx="168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b="1">
                  <a:solidFill>
                    <a:srgbClr val="FF0000"/>
                  </a:solidFill>
                </a:rPr>
                <a:t>-</a:t>
              </a:r>
            </a:p>
          </p:txBody>
        </p:sp>
      </p:grpSp>
      <p:graphicFrame>
        <p:nvGraphicFramePr>
          <p:cNvPr id="559261" name="Object 46">
            <a:extLst>
              <a:ext uri="{FF2B5EF4-FFF2-40B4-BE49-F238E27FC236}">
                <a16:creationId xmlns:a16="http://schemas.microsoft.com/office/drawing/2014/main" id="{5FAC4CBA-7415-C63F-1B01-0B2922AF26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213" y="2228939"/>
          <a:ext cx="3365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152280" imgH="203040" progId="Equation.3">
                  <p:embed/>
                </p:oleObj>
              </mc:Choice>
              <mc:Fallback>
                <p:oleObj name="Ecuación" r:id="rId12" imgW="152280" imgH="203040" progId="Equation.3">
                  <p:embed/>
                  <p:pic>
                    <p:nvPicPr>
                      <p:cNvPr id="3" name="Object 46">
                        <a:extLst>
                          <a:ext uri="{FF2B5EF4-FFF2-40B4-BE49-F238E27FC236}">
                            <a16:creationId xmlns:a16="http://schemas.microsoft.com/office/drawing/2014/main" id="{A573DB5D-7673-4610-8C83-3F2FC4549F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213" y="2228939"/>
                        <a:ext cx="3365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262" name="Text Box 160">
            <a:extLst>
              <a:ext uri="{FF2B5EF4-FFF2-40B4-BE49-F238E27FC236}">
                <a16:creationId xmlns:a16="http://schemas.microsoft.com/office/drawing/2014/main" id="{48AB0BAE-16BA-169F-51CF-721D56F7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88" y="4043411"/>
            <a:ext cx="1870024" cy="90588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 dirty="0">
                <a:solidFill>
                  <a:schemeClr val="tx1"/>
                </a:solidFill>
              </a:rPr>
              <a:t>Lámina conductora</a:t>
            </a:r>
          </a:p>
        </p:txBody>
      </p:sp>
      <p:sp>
        <p:nvSpPr>
          <p:cNvPr id="559263" name="Text Box 181">
            <a:extLst>
              <a:ext uri="{FF2B5EF4-FFF2-40B4-BE49-F238E27FC236}">
                <a16:creationId xmlns:a16="http://schemas.microsoft.com/office/drawing/2014/main" id="{FE8B690D-54C2-0E16-01E0-44F968807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197" y="4883848"/>
            <a:ext cx="3836989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(suficientemente pequeña para considerar 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unif.)</a:t>
            </a:r>
            <a:endParaRPr lang="es-ES" sz="24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59264" name="Flecha abajo 7">
            <a:extLst>
              <a:ext uri="{FF2B5EF4-FFF2-40B4-BE49-F238E27FC236}">
                <a16:creationId xmlns:a16="http://schemas.microsoft.com/office/drawing/2014/main" id="{4A1A6BE4-CF77-054A-24CF-35581E5B2FEB}"/>
              </a:ext>
            </a:extLst>
          </p:cNvPr>
          <p:cNvSpPr/>
          <p:nvPr/>
        </p:nvSpPr>
        <p:spPr bwMode="auto">
          <a:xfrm rot="5400000" flipH="1">
            <a:off x="5436749" y="5156788"/>
            <a:ext cx="576000" cy="360000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none" lIns="90000" tIns="82800" rIns="90000" bIns="82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9260" name="CuadroTexto 559259">
            <a:extLst>
              <a:ext uri="{FF2B5EF4-FFF2-40B4-BE49-F238E27FC236}">
                <a16:creationId xmlns:a16="http://schemas.microsoft.com/office/drawing/2014/main" id="{1680A8DE-90CC-9480-E4C3-48D9C9B9D7AF}"/>
              </a:ext>
            </a:extLst>
          </p:cNvPr>
          <p:cNvSpPr txBox="1"/>
          <p:nvPr/>
        </p:nvSpPr>
        <p:spPr>
          <a:xfrm>
            <a:off x="1432608" y="6144062"/>
            <a:ext cx="9052540" cy="9567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108000" rIns="108000" bIns="108000" anchor="ctr" anchorCtr="1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 </a:t>
            </a:r>
            <a:r>
              <a:rPr lang="es-ES" sz="2400" dirty="0">
                <a:solidFill>
                  <a:schemeClr val="tx1"/>
                </a:solidFill>
              </a:rPr>
              <a:t>La componente de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 a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y </a:t>
            </a:r>
            <a:r>
              <a:rPr lang="es-ES" sz="2400" dirty="0">
                <a:solidFill>
                  <a:schemeClr val="tx1"/>
                </a:solidFill>
              </a:rPr>
              <a:t>// a d, sí crea un V adicional a lo largo del espesor de lámina. Es despreciable al serlo el espesor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432608" y="5719459"/>
            <a:ext cx="9052540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108000" tIns="108000" rIns="108000" bIns="108000" anchor="ctr" anchorCtr="0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sym typeface="Wingdings" panose="05000000000000000000" pitchFamily="2" charset="2"/>
              </a:rPr>
              <a:t>  </a:t>
            </a:r>
            <a:r>
              <a:rPr lang="es-ES" sz="2400" dirty="0">
                <a:solidFill>
                  <a:schemeClr val="tx1"/>
                </a:solidFill>
              </a:rPr>
              <a:t>La componente de </a:t>
            </a:r>
            <a:r>
              <a:rPr lang="es-ES" sz="2400" b="1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 // a </a:t>
            </a:r>
            <a:r>
              <a:rPr lang="es-ES" sz="2400" b="1" dirty="0">
                <a:solidFill>
                  <a:schemeClr val="tx1"/>
                </a:solidFill>
              </a:rPr>
              <a:t>v</a:t>
            </a:r>
            <a:r>
              <a:rPr lang="es-ES" sz="2400" dirty="0">
                <a:solidFill>
                  <a:schemeClr val="tx1"/>
                </a:solidFill>
              </a:rPr>
              <a:t> no genera </a:t>
            </a: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ES" sz="2400" b="1" baseline="-25000" dirty="0">
                <a:solidFill>
                  <a:schemeClr val="tx1"/>
                </a:solidFill>
              </a:rPr>
              <a:t>B</a:t>
            </a:r>
            <a:r>
              <a:rPr lang="es-ES" sz="2400" dirty="0">
                <a:solidFill>
                  <a:schemeClr val="tx1"/>
                </a:solidFill>
              </a:rPr>
              <a:t>, </a:t>
            </a:r>
            <a:r>
              <a:rPr lang="es-ES" sz="2400" b="1" dirty="0">
                <a:solidFill>
                  <a:schemeClr val="tx1"/>
                </a:solidFill>
              </a:rPr>
              <a:t>E</a:t>
            </a:r>
            <a:r>
              <a:rPr lang="es-ES" sz="2400" dirty="0">
                <a:solidFill>
                  <a:schemeClr val="tx1"/>
                </a:solidFill>
              </a:rPr>
              <a:t>, ni 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9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9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5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5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5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5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55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246" grpId="0"/>
      <p:bldP spid="559285" grpId="0"/>
      <p:bldP spid="15400" grpId="0"/>
      <p:bldP spid="21" grpId="0"/>
      <p:bldP spid="15" grpId="0"/>
      <p:bldP spid="16" grpId="0"/>
      <p:bldP spid="17" grpId="0" animBg="1"/>
      <p:bldP spid="22" grpId="0"/>
      <p:bldP spid="18" grpId="0"/>
      <p:bldP spid="559263" grpId="0"/>
      <p:bldP spid="559264" grpId="0" animBg="1"/>
      <p:bldP spid="559260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96" name="Rectangle 192"/>
          <p:cNvSpPr>
            <a:spLocks noChangeArrowheads="1"/>
          </p:cNvSpPr>
          <p:nvPr/>
        </p:nvSpPr>
        <p:spPr bwMode="auto">
          <a:xfrm>
            <a:off x="1511034" y="2223833"/>
            <a:ext cx="8569137" cy="4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 anchor="ctr"/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59252" name="Text Box 148"/>
          <p:cNvSpPr txBox="1">
            <a:spLocks noChangeArrowheads="1"/>
          </p:cNvSpPr>
          <p:nvPr/>
        </p:nvSpPr>
        <p:spPr bwMode="auto">
          <a:xfrm>
            <a:off x="1631328" y="2501022"/>
            <a:ext cx="8445568" cy="874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Permite conocer la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velocidad de los portadores de carga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                                        (la velocidad de la corriente)</a:t>
            </a:r>
          </a:p>
        </p:txBody>
      </p:sp>
      <p:sp>
        <p:nvSpPr>
          <p:cNvPr id="15450" name="Text Box 150"/>
          <p:cNvSpPr txBox="1">
            <a:spLocks noChangeArrowheads="1"/>
          </p:cNvSpPr>
          <p:nvPr/>
        </p:nvSpPr>
        <p:spPr bwMode="auto">
          <a:xfrm>
            <a:off x="1631328" y="3541057"/>
            <a:ext cx="8445567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Permite conocer la presencia de una fuente de </a:t>
            </a:r>
            <a:r>
              <a:rPr lang="es-ES" sz="2400" b="1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p.ej.: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una corriente o un imán, sin contactar con ella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(sensor Hall)</a:t>
            </a:r>
            <a:endParaRPr lang="es-ES" sz="2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5448" name="Text Box 149"/>
          <p:cNvSpPr txBox="1">
            <a:spLocks noChangeArrowheads="1"/>
          </p:cNvSpPr>
          <p:nvPr/>
        </p:nvSpPr>
        <p:spPr bwMode="auto">
          <a:xfrm>
            <a:off x="1634057" y="5314889"/>
            <a:ext cx="8446114" cy="12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Por ejemplo, medir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el </a:t>
            </a:r>
            <a:r>
              <a:rPr lang="es-ES" sz="2400" b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 generado por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una corriente,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y con ello, el </a:t>
            </a:r>
            <a:r>
              <a:rPr lang="es-ES" sz="2400" dirty="0">
                <a:solidFill>
                  <a:schemeClr val="tx1"/>
                </a:solidFill>
                <a:sym typeface="Symbol" panose="05050102010706020507" pitchFamily="18" charset="2"/>
              </a:rPr>
              <a:t>valor de la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corriente,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sin tener que conectarse en serie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008000"/>
                </a:solidFill>
                <a:sym typeface="Symbol" panose="05050102010706020507" pitchFamily="18" charset="2"/>
              </a:rPr>
              <a:t>pistola de corriente)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5444" name="Text Box 185"/>
          <p:cNvSpPr txBox="1">
            <a:spLocks noChangeArrowheads="1"/>
          </p:cNvSpPr>
          <p:nvPr/>
        </p:nvSpPr>
        <p:spPr bwMode="auto">
          <a:xfrm>
            <a:off x="1630781" y="4612639"/>
            <a:ext cx="8446114" cy="53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Permite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medir </a:t>
            </a:r>
            <a:r>
              <a:rPr lang="es-ES" sz="2400" b="1">
                <a:solidFill>
                  <a:srgbClr val="008000"/>
                </a:solidFill>
                <a:sym typeface="Symbol" panose="05050102010706020507" pitchFamily="18" charset="2"/>
              </a:rPr>
              <a:t>B</a:t>
            </a:r>
            <a:endParaRPr lang="es-ES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4434087" y="1384392"/>
            <a:ext cx="2644959" cy="62283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D60093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APLICACIONES</a:t>
            </a:r>
            <a:endParaRPr lang="es-ES" sz="240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pSp>
        <p:nvGrpSpPr>
          <p:cNvPr id="8" name="Group 193"/>
          <p:cNvGrpSpPr>
            <a:grpSpLocks/>
          </p:cNvGrpSpPr>
          <p:nvPr/>
        </p:nvGrpSpPr>
        <p:grpSpPr bwMode="auto">
          <a:xfrm>
            <a:off x="4117368" y="400501"/>
            <a:ext cx="3297239" cy="630238"/>
            <a:chOff x="1844" y="1643"/>
            <a:chExt cx="2077" cy="397"/>
          </a:xfrm>
        </p:grpSpPr>
        <p:sp>
          <p:nvSpPr>
            <p:cNvPr id="9" name="Rectangle 144"/>
            <p:cNvSpPr>
              <a:spLocks noChangeArrowheads="1"/>
            </p:cNvSpPr>
            <p:nvPr/>
          </p:nvSpPr>
          <p:spPr bwMode="auto">
            <a:xfrm>
              <a:off x="1844" y="1643"/>
              <a:ext cx="2069" cy="39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 anchor="ctr"/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800">
                <a:solidFill>
                  <a:srgbClr val="000000"/>
                </a:solidFill>
              </a:endParaRPr>
            </a:p>
          </p:txBody>
        </p:sp>
        <p:sp>
          <p:nvSpPr>
            <p:cNvPr id="10" name="Text Box 182"/>
            <p:cNvSpPr txBox="1">
              <a:spLocks noChangeArrowheads="1"/>
            </p:cNvSpPr>
            <p:nvPr/>
          </p:nvSpPr>
          <p:spPr bwMode="auto">
            <a:xfrm>
              <a:off x="1852" y="1663"/>
              <a:ext cx="2069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D60093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800" dirty="0">
                  <a:solidFill>
                    <a:srgbClr val="000000"/>
                  </a:solidFill>
                  <a:sym typeface="Symbol" panose="05050102010706020507" pitchFamily="18" charset="2"/>
                </a:rPr>
                <a:t>V</a:t>
              </a:r>
              <a:r>
                <a:rPr lang="es-ES" sz="2800" baseline="-25000" dirty="0">
                  <a:solidFill>
                    <a:srgbClr val="000000"/>
                  </a:solidFill>
                  <a:sym typeface="Symbol" panose="05050102010706020507" pitchFamily="18" charset="2"/>
                </a:rPr>
                <a:t>HALL</a:t>
              </a:r>
              <a:r>
                <a:rPr lang="es-ES" sz="2800" dirty="0">
                  <a:solidFill>
                    <a:srgbClr val="000000"/>
                  </a:solidFill>
                  <a:sym typeface="Symbol" panose="05050102010706020507" pitchFamily="18" charset="2"/>
                </a:rPr>
                <a:t> = E d = v B 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935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5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296" grpId="0" animBg="1"/>
      <p:bldP spid="559252" grpId="0"/>
      <p:bldP spid="15450" grpId="0"/>
      <p:bldP spid="15448" grpId="0"/>
      <p:bldP spid="15444" grpId="0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0000" tIns="82800" rIns="90000" bIns="8280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smtClean="0">
            <a:ln>
              <a:noFill/>
            </a:ln>
            <a:solidFill>
              <a:srgbClr val="D60093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107763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12600</TotalTime>
  <Words>2506</Words>
  <Application>Microsoft Office PowerPoint</Application>
  <PresentationFormat>Personalizado</PresentationFormat>
  <Paragraphs>575</Paragraphs>
  <Slides>24</Slides>
  <Notes>23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Arial</vt:lpstr>
      <vt:lpstr>Cambria Math</vt:lpstr>
      <vt:lpstr>Comic Sans MS</vt:lpstr>
      <vt:lpstr>Symbol</vt:lpstr>
      <vt:lpstr>Times New Roman</vt:lpstr>
      <vt:lpstr>Trebuchet MS</vt:lpstr>
      <vt:lpstr>Wingdings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1944</cp:revision>
  <dcterms:created xsi:type="dcterms:W3CDTF">2012-02-20T13:06:36Z</dcterms:created>
  <dcterms:modified xsi:type="dcterms:W3CDTF">2024-11-16T11:52:46Z</dcterms:modified>
</cp:coreProperties>
</file>