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8"/>
  </p:notesMasterIdLst>
  <p:handoutMasterIdLst>
    <p:handoutMasterId r:id="rId29"/>
  </p:handoutMasterIdLst>
  <p:sldIdLst>
    <p:sldId id="387" r:id="rId2"/>
    <p:sldId id="388" r:id="rId3"/>
    <p:sldId id="427" r:id="rId4"/>
    <p:sldId id="428" r:id="rId5"/>
    <p:sldId id="442" r:id="rId6"/>
    <p:sldId id="429" r:id="rId7"/>
    <p:sldId id="430" r:id="rId8"/>
    <p:sldId id="415" r:id="rId9"/>
    <p:sldId id="424" r:id="rId10"/>
    <p:sldId id="417" r:id="rId11"/>
    <p:sldId id="412" r:id="rId12"/>
    <p:sldId id="413" r:id="rId13"/>
    <p:sldId id="439" r:id="rId14"/>
    <p:sldId id="425" r:id="rId15"/>
    <p:sldId id="410" r:id="rId16"/>
    <p:sldId id="405" r:id="rId17"/>
    <p:sldId id="440" r:id="rId18"/>
    <p:sldId id="432" r:id="rId19"/>
    <p:sldId id="257" r:id="rId20"/>
    <p:sldId id="441" r:id="rId21"/>
    <p:sldId id="434" r:id="rId22"/>
    <p:sldId id="474" r:id="rId23"/>
    <p:sldId id="475" r:id="rId24"/>
    <p:sldId id="431" r:id="rId25"/>
    <p:sldId id="414" r:id="rId26"/>
    <p:sldId id="327" r:id="rId27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FFFF"/>
    <a:srgbClr val="FFFF99"/>
    <a:srgbClr val="008000"/>
    <a:srgbClr val="C0C0C0"/>
    <a:srgbClr val="EDE7E3"/>
    <a:srgbClr val="99CCFF"/>
    <a:srgbClr val="FF00FF"/>
    <a:srgbClr val="FF99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7" autoAdjust="0"/>
    <p:restoredTop sz="95444" autoAdjust="0"/>
  </p:normalViewPr>
  <p:slideViewPr>
    <p:cSldViewPr snapToGrid="0" showGuides="1">
      <p:cViewPr varScale="1">
        <p:scale>
          <a:sx n="103" d="100"/>
          <a:sy n="103" d="100"/>
        </p:scale>
        <p:origin x="1428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F0D71DC-B9CC-42CB-8B00-17D66447D53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88206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33F494-63EC-44EF-B0D2-AE6160553A7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053958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EB39EEE-8B98-487F-B001-4A8B6757C26E}" type="slidenum">
              <a:rPr lang="es-ES"/>
              <a:pPr algn="r" eaLnBrk="1" hangingPunct="1"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319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5C58C10-1E3C-47C7-9120-325DDF102998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0" i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904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545F77-8A6E-4FB0-9136-9B1F7922AD51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898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545F77-8A6E-4FB0-9136-9B1F7922AD51}" type="slidenum">
              <a:rPr lang="es-ES" smtClean="0"/>
              <a:pPr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396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8545F77-8A6E-4FB0-9136-9B1F7922AD51}" type="slidenum">
              <a:rPr lang="es-ES" smtClean="0"/>
              <a:pPr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750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9CE5EC-C8BB-423B-8172-EAF5CD46DF70}" type="slidenum">
              <a:rPr lang="es-ES" smtClean="0"/>
              <a:pPr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023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9CE5EC-C8BB-423B-8172-EAF5CD46DF70}" type="slidenum">
              <a:rPr lang="es-ES" smtClean="0"/>
              <a:pPr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892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4A370B-24B2-4395-A8C1-2456DA654AD2}" type="slidenum">
              <a:rPr lang="es-ES" smtClean="0"/>
              <a:pPr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964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4A370B-24B2-4395-A8C1-2456DA654AD2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492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4A370B-24B2-4395-A8C1-2456DA654AD2}" type="slidenum">
              <a:rPr lang="es-ES" smtClean="0"/>
              <a:pPr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968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5A21EC-3545-4EB8-9513-EB3AA9813EAC}" type="slidenum">
              <a:rPr lang="es-ES" smtClean="0"/>
              <a:pPr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809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3B39FCD-CEBD-4C07-89D3-5CD1F3CC6E71}" type="slidenum">
              <a:rPr lang="es-ES"/>
              <a:pPr algn="r" eaLnBrk="1" hangingPunct="1"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586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E7D7722-7CAE-4B09-964C-CACC5C775A5A}" type="slidenum">
              <a:rPr lang="es-ES" smtClean="0"/>
              <a:pPr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894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E7D7722-7CAE-4B09-964C-CACC5C775A5A}" type="slidenum">
              <a:rPr lang="es-ES" smtClean="0"/>
              <a:pPr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0998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74D102-550D-4B98-BD6B-CA25A6327FCB}" type="slidenum">
              <a:rPr lang="es-ES" smtClean="0"/>
              <a:pPr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29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1D96B6-FEBE-4DF0-8F47-AC1C01DE0118}" type="slidenum">
              <a:rPr lang="es-ES" smtClean="0"/>
              <a:pPr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2470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1D96B6-FEBE-4DF0-8F47-AC1C01DE0118}" type="slidenum">
              <a:rPr lang="es-ES" smtClean="0"/>
              <a:pPr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1317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8997D9-E3E8-4CDD-B01E-A05F3AC60FEF}" type="slidenum">
              <a:rPr lang="es-ES" smtClean="0"/>
              <a:pPr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01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F4B50D-84BB-4F7F-8791-80623BA07007}" type="slidenum">
              <a:rPr lang="es-ES" smtClean="0"/>
              <a:pPr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348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F4B50D-84BB-4F7F-8791-80623BA07007}" type="slidenum">
              <a:rPr lang="es-ES" smtClean="0"/>
              <a:pPr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1198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F4B50D-84BB-4F7F-8791-80623BA07007}" type="slidenum">
              <a:rPr lang="es-ES" smtClean="0"/>
              <a:pPr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6148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5B45FF4-055C-436C-893C-3EEFC682141E}" type="slidenum">
              <a:rPr lang="es-ES"/>
              <a:pPr algn="r" eaLnBrk="1" hangingPunct="1"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8080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5B45FF4-055C-436C-893C-3EEFC682141E}" type="slidenum">
              <a:rPr lang="es-ES"/>
              <a:pPr algn="r" eaLnBrk="1" hangingPunct="1"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1674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9F1F357-99E5-480D-B3A0-C225F1BD8AEE}" type="slidenum">
              <a:rPr lang="es-ES"/>
              <a:pPr algn="r" eaLnBrk="1" hangingPunct="1"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9920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9F1F357-99E5-480D-B3A0-C225F1BD8AEE}" type="slidenum">
              <a:rPr lang="es-ES"/>
              <a:pPr algn="r" eaLnBrk="1" hangingPunct="1"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582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611D7-BFE3-4345-A73C-185D7063A20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7223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15CEF-2CF7-4677-BD9A-020207EA73C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459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DC673-2108-456C-816B-07EC76698A0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3960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58078E-E7DA-49B8-88FE-59A56E00E5D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700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950218-E9C3-4723-8300-DCD25AF68CD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727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3C25F-9658-473F-89F3-23B2B85A759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601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DCAC5A-1FC6-476C-8BEE-9D8D370835A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5364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F30AE-C91D-45C9-814F-9AD69F35753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3785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3BD7B-51E5-492C-BE50-6A54216B6BA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084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BA463-9A41-449C-B601-1AB02AE81A6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660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627159-9EA5-4ED1-B70D-6E45CEE1999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444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CBBFDB-D06E-488C-841E-5B205822C03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9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E403674-BFD5-4F5D-BE74-169F53C0A7A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7.w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1.bin"/><Relationship Id="rId3" Type="http://schemas.openxmlformats.org/officeDocument/2006/relationships/image" Target="../media/image4.png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6.wmf"/><Relationship Id="rId2" Type="http://schemas.openxmlformats.org/officeDocument/2006/relationships/notesSlide" Target="../notesSlides/notesSlide7.xml"/><Relationship Id="rId16" Type="http://schemas.openxmlformats.org/officeDocument/2006/relationships/oleObject" Target="../embeddings/oleObject10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image" Target="../media/image12.wmf"/><Relationship Id="rId10" Type="http://schemas.openxmlformats.org/officeDocument/2006/relationships/image" Target="../media/image10.wmf"/><Relationship Id="rId19" Type="http://schemas.openxmlformats.org/officeDocument/2006/relationships/image" Target="../media/image7.w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6.bin"/><Relationship Id="rId1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8.wmf"/><Relationship Id="rId12" Type="http://schemas.openxmlformats.org/officeDocument/2006/relationships/image" Target="../media/image13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.wmf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0.wmf"/><Relationship Id="rId5" Type="http://schemas.openxmlformats.org/officeDocument/2006/relationships/image" Target="../media/image14.png"/><Relationship Id="rId15" Type="http://schemas.openxmlformats.org/officeDocument/2006/relationships/oleObject" Target="../embeddings/oleObject9.bin"/><Relationship Id="rId10" Type="http://schemas.openxmlformats.org/officeDocument/2006/relationships/oleObject" Target="../embeddings/oleObject14.bin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3.png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8.wmf"/><Relationship Id="rId10" Type="http://schemas.openxmlformats.org/officeDocument/2006/relationships/image" Target="../media/image13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26.bin"/><Relationship Id="rId26" Type="http://schemas.openxmlformats.org/officeDocument/2006/relationships/image" Target="../media/image21.wmf"/><Relationship Id="rId3" Type="http://schemas.openxmlformats.org/officeDocument/2006/relationships/oleObject" Target="../embeddings/oleObject19.bin"/><Relationship Id="rId21" Type="http://schemas.openxmlformats.org/officeDocument/2006/relationships/image" Target="../media/image19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17.wmf"/><Relationship Id="rId25" Type="http://schemas.openxmlformats.org/officeDocument/2006/relationships/oleObject" Target="../embeddings/oleObject30.bin"/><Relationship Id="rId2" Type="http://schemas.openxmlformats.org/officeDocument/2006/relationships/notesSlide" Target="../notesSlides/notesSlide10.xml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29.bin"/><Relationship Id="rId5" Type="http://schemas.openxmlformats.org/officeDocument/2006/relationships/image" Target="../media/image3.png"/><Relationship Id="rId15" Type="http://schemas.openxmlformats.org/officeDocument/2006/relationships/image" Target="../media/image14.wmf"/><Relationship Id="rId23" Type="http://schemas.openxmlformats.org/officeDocument/2006/relationships/image" Target="../media/image20.wmf"/><Relationship Id="rId28" Type="http://schemas.openxmlformats.org/officeDocument/2006/relationships/image" Target="../media/image22.wmf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image" Target="../media/image8.wmf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28.bin"/><Relationship Id="rId27" Type="http://schemas.openxmlformats.org/officeDocument/2006/relationships/oleObject" Target="../embeddings/oleObject3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10.wmf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32.bin"/><Relationship Id="rId21" Type="http://schemas.openxmlformats.org/officeDocument/2006/relationships/oleObject" Target="../embeddings/oleObject41.bin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36.bin"/><Relationship Id="rId17" Type="http://schemas.openxmlformats.org/officeDocument/2006/relationships/oleObject" Target="../embeddings/oleObject39.bin"/><Relationship Id="rId25" Type="http://schemas.openxmlformats.org/officeDocument/2006/relationships/image" Target="../media/image14.wmf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5.wmf"/><Relationship Id="rId20" Type="http://schemas.openxmlformats.org/officeDocument/2006/relationships/image" Target="../media/image19.wmf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9.wmf"/><Relationship Id="rId24" Type="http://schemas.openxmlformats.org/officeDocument/2006/relationships/oleObject" Target="../embeddings/oleObject24.bin"/><Relationship Id="rId5" Type="http://schemas.openxmlformats.org/officeDocument/2006/relationships/image" Target="../media/image3.png"/><Relationship Id="rId15" Type="http://schemas.openxmlformats.org/officeDocument/2006/relationships/oleObject" Target="../embeddings/oleObject38.bin"/><Relationship Id="rId23" Type="http://schemas.openxmlformats.org/officeDocument/2006/relationships/image" Target="../media/image13.png"/><Relationship Id="rId10" Type="http://schemas.openxmlformats.org/officeDocument/2006/relationships/oleObject" Target="../embeddings/oleObject35.bin"/><Relationship Id="rId19" Type="http://schemas.openxmlformats.org/officeDocument/2006/relationships/oleObject" Target="../embeddings/oleObject40.bin"/><Relationship Id="rId4" Type="http://schemas.openxmlformats.org/officeDocument/2006/relationships/image" Target="../media/image23.wmf"/><Relationship Id="rId9" Type="http://schemas.openxmlformats.org/officeDocument/2006/relationships/image" Target="../media/image8.wmf"/><Relationship Id="rId14" Type="http://schemas.openxmlformats.org/officeDocument/2006/relationships/oleObject" Target="../embeddings/oleObject37.bin"/><Relationship Id="rId22" Type="http://schemas.openxmlformats.org/officeDocument/2006/relationships/image" Target="../media/image2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49.bin"/><Relationship Id="rId3" Type="http://schemas.openxmlformats.org/officeDocument/2006/relationships/image" Target="../media/image3.png"/><Relationship Id="rId21" Type="http://schemas.openxmlformats.org/officeDocument/2006/relationships/image" Target="../media/image32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14.wmf"/><Relationship Id="rId2" Type="http://schemas.openxmlformats.org/officeDocument/2006/relationships/notesSlide" Target="../notesSlides/notesSlide12.xml"/><Relationship Id="rId16" Type="http://schemas.openxmlformats.org/officeDocument/2006/relationships/oleObject" Target="../embeddings/oleObject48.bin"/><Relationship Id="rId20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8.wmf"/><Relationship Id="rId24" Type="http://schemas.openxmlformats.org/officeDocument/2006/relationships/image" Target="../media/image33.wmf"/><Relationship Id="rId5" Type="http://schemas.openxmlformats.org/officeDocument/2006/relationships/image" Target="../media/image28.wmf"/><Relationship Id="rId15" Type="http://schemas.openxmlformats.org/officeDocument/2006/relationships/image" Target="../media/image10.wmf"/><Relationship Id="rId23" Type="http://schemas.openxmlformats.org/officeDocument/2006/relationships/oleObject" Target="../embeddings/oleObject51.bin"/><Relationship Id="rId10" Type="http://schemas.openxmlformats.org/officeDocument/2006/relationships/oleObject" Target="../embeddings/oleObject45.bin"/><Relationship Id="rId19" Type="http://schemas.openxmlformats.org/officeDocument/2006/relationships/image" Target="../media/image31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47.bin"/><Relationship Id="rId22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36.wmf"/><Relationship Id="rId18" Type="http://schemas.openxmlformats.org/officeDocument/2006/relationships/image" Target="../media/image13.png"/><Relationship Id="rId3" Type="http://schemas.openxmlformats.org/officeDocument/2006/relationships/oleObject" Target="../embeddings/oleObject52.bin"/><Relationship Id="rId7" Type="http://schemas.openxmlformats.org/officeDocument/2006/relationships/image" Target="../media/image3.png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38.wmf"/><Relationship Id="rId2" Type="http://schemas.openxmlformats.org/officeDocument/2006/relationships/notesSlide" Target="../notesSlides/notesSlide13.xml"/><Relationship Id="rId16" Type="http://schemas.openxmlformats.org/officeDocument/2006/relationships/oleObject" Target="../embeddings/oleObject58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wmf"/><Relationship Id="rId11" Type="http://schemas.openxmlformats.org/officeDocument/2006/relationships/image" Target="../media/image35.wmf"/><Relationship Id="rId5" Type="http://schemas.openxmlformats.org/officeDocument/2006/relationships/oleObject" Target="../embeddings/oleObject53.bin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55.bin"/><Relationship Id="rId4" Type="http://schemas.openxmlformats.org/officeDocument/2006/relationships/image" Target="../media/image14.wmf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5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14.wmf"/><Relationship Id="rId3" Type="http://schemas.openxmlformats.org/officeDocument/2006/relationships/image" Target="../media/image3.png"/><Relationship Id="rId21" Type="http://schemas.openxmlformats.org/officeDocument/2006/relationships/oleObject" Target="../embeddings/oleObject57.bin"/><Relationship Id="rId7" Type="http://schemas.openxmlformats.org/officeDocument/2006/relationships/image" Target="../media/image36.wmf"/><Relationship Id="rId12" Type="http://schemas.openxmlformats.org/officeDocument/2006/relationships/image" Target="../media/image13.png"/><Relationship Id="rId17" Type="http://schemas.openxmlformats.org/officeDocument/2006/relationships/oleObject" Target="../embeddings/oleObject52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8.wmf"/><Relationship Id="rId20" Type="http://schemas.openxmlformats.org/officeDocument/2006/relationships/image" Target="../media/image7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40.wmf"/><Relationship Id="rId5" Type="http://schemas.openxmlformats.org/officeDocument/2006/relationships/image" Target="../media/image35.wmf"/><Relationship Id="rId15" Type="http://schemas.openxmlformats.org/officeDocument/2006/relationships/oleObject" Target="../embeddings/oleObject64.bin"/><Relationship Id="rId10" Type="http://schemas.openxmlformats.org/officeDocument/2006/relationships/oleObject" Target="../embeddings/oleObject62.bin"/><Relationship Id="rId19" Type="http://schemas.openxmlformats.org/officeDocument/2006/relationships/oleObject" Target="../embeddings/oleObject53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39.wmf"/><Relationship Id="rId14" Type="http://schemas.openxmlformats.org/officeDocument/2006/relationships/image" Target="../media/image34.wmf"/><Relationship Id="rId22" Type="http://schemas.openxmlformats.org/officeDocument/2006/relationships/image" Target="../media/image3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43.wmf"/><Relationship Id="rId18" Type="http://schemas.openxmlformats.org/officeDocument/2006/relationships/oleObject" Target="../embeddings/oleObject72.bin"/><Relationship Id="rId3" Type="http://schemas.openxmlformats.org/officeDocument/2006/relationships/oleObject" Target="../embeddings/oleObject65.bin"/><Relationship Id="rId21" Type="http://schemas.openxmlformats.org/officeDocument/2006/relationships/image" Target="../media/image46.wmf"/><Relationship Id="rId7" Type="http://schemas.openxmlformats.org/officeDocument/2006/relationships/image" Target="../media/image3.png"/><Relationship Id="rId12" Type="http://schemas.openxmlformats.org/officeDocument/2006/relationships/oleObject" Target="../embeddings/oleObject69.bin"/><Relationship Id="rId17" Type="http://schemas.openxmlformats.org/officeDocument/2006/relationships/image" Target="../media/image45.wmf"/><Relationship Id="rId2" Type="http://schemas.openxmlformats.org/officeDocument/2006/relationships/notesSlide" Target="../notesSlides/notesSlide15.xml"/><Relationship Id="rId16" Type="http://schemas.openxmlformats.org/officeDocument/2006/relationships/oleObject" Target="../embeddings/oleObject71.bin"/><Relationship Id="rId20" Type="http://schemas.openxmlformats.org/officeDocument/2006/relationships/oleObject" Target="../embeddings/oleObject73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wmf"/><Relationship Id="rId11" Type="http://schemas.openxmlformats.org/officeDocument/2006/relationships/image" Target="../media/image14.wmf"/><Relationship Id="rId5" Type="http://schemas.openxmlformats.org/officeDocument/2006/relationships/oleObject" Target="../embeddings/oleObject66.bin"/><Relationship Id="rId15" Type="http://schemas.openxmlformats.org/officeDocument/2006/relationships/image" Target="../media/image44.wmf"/><Relationship Id="rId23" Type="http://schemas.openxmlformats.org/officeDocument/2006/relationships/image" Target="../media/image47.wmf"/><Relationship Id="rId10" Type="http://schemas.openxmlformats.org/officeDocument/2006/relationships/oleObject" Target="../embeddings/oleObject68.bin"/><Relationship Id="rId19" Type="http://schemas.openxmlformats.org/officeDocument/2006/relationships/image" Target="../media/image35.wmf"/><Relationship Id="rId4" Type="http://schemas.openxmlformats.org/officeDocument/2006/relationships/image" Target="../media/image41.wmf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70.bin"/><Relationship Id="rId22" Type="http://schemas.openxmlformats.org/officeDocument/2006/relationships/oleObject" Target="../embeddings/oleObject7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6.bin"/><Relationship Id="rId3" Type="http://schemas.openxmlformats.org/officeDocument/2006/relationships/oleObject" Target="../embeddings/oleObject75.bin"/><Relationship Id="rId21" Type="http://schemas.openxmlformats.org/officeDocument/2006/relationships/image" Target="../media/image14.wmf"/><Relationship Id="rId7" Type="http://schemas.openxmlformats.org/officeDocument/2006/relationships/image" Target="../media/image3.png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54.wmf"/><Relationship Id="rId25" Type="http://schemas.openxmlformats.org/officeDocument/2006/relationships/image" Target="../media/image7.wmf"/><Relationship Id="rId2" Type="http://schemas.openxmlformats.org/officeDocument/2006/relationships/notesSlide" Target="../notesSlides/notesSlide16.xml"/><Relationship Id="rId16" Type="http://schemas.openxmlformats.org/officeDocument/2006/relationships/oleObject" Target="../embeddings/oleObject81.bin"/><Relationship Id="rId20" Type="http://schemas.openxmlformats.org/officeDocument/2006/relationships/oleObject" Target="../embeddings/oleObject83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wmf"/><Relationship Id="rId11" Type="http://schemas.openxmlformats.org/officeDocument/2006/relationships/image" Target="../media/image51.wmf"/><Relationship Id="rId24" Type="http://schemas.openxmlformats.org/officeDocument/2006/relationships/oleObject" Target="../embeddings/oleObject85.bin"/><Relationship Id="rId5" Type="http://schemas.openxmlformats.org/officeDocument/2006/relationships/oleObject" Target="../embeddings/oleObject76.bin"/><Relationship Id="rId15" Type="http://schemas.openxmlformats.org/officeDocument/2006/relationships/image" Target="../media/image53.wmf"/><Relationship Id="rId23" Type="http://schemas.openxmlformats.org/officeDocument/2006/relationships/image" Target="../media/image56.wmf"/><Relationship Id="rId10" Type="http://schemas.openxmlformats.org/officeDocument/2006/relationships/oleObject" Target="../embeddings/oleObject78.bin"/><Relationship Id="rId19" Type="http://schemas.openxmlformats.org/officeDocument/2006/relationships/image" Target="../media/image55.wmf"/><Relationship Id="rId4" Type="http://schemas.openxmlformats.org/officeDocument/2006/relationships/image" Target="../media/image48.wmf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80.bin"/><Relationship Id="rId22" Type="http://schemas.openxmlformats.org/officeDocument/2006/relationships/oleObject" Target="../embeddings/oleObject84.bin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.wmf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7.bin"/><Relationship Id="rId3" Type="http://schemas.openxmlformats.org/officeDocument/2006/relationships/oleObject" Target="../embeddings/oleObject75.bin"/><Relationship Id="rId21" Type="http://schemas.openxmlformats.org/officeDocument/2006/relationships/image" Target="../media/image14.wmf"/><Relationship Id="rId7" Type="http://schemas.openxmlformats.org/officeDocument/2006/relationships/image" Target="../media/image3.png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54.wmf"/><Relationship Id="rId25" Type="http://schemas.openxmlformats.org/officeDocument/2006/relationships/image" Target="../media/image7.wmf"/><Relationship Id="rId33" Type="http://schemas.openxmlformats.org/officeDocument/2006/relationships/oleObject" Target="../embeddings/oleObject91.bin"/><Relationship Id="rId2" Type="http://schemas.openxmlformats.org/officeDocument/2006/relationships/notesSlide" Target="../notesSlides/notesSlide17.xml"/><Relationship Id="rId16" Type="http://schemas.openxmlformats.org/officeDocument/2006/relationships/oleObject" Target="../embeddings/oleObject81.bin"/><Relationship Id="rId20" Type="http://schemas.openxmlformats.org/officeDocument/2006/relationships/oleObject" Target="../embeddings/oleObject83.bin"/><Relationship Id="rId29" Type="http://schemas.openxmlformats.org/officeDocument/2006/relationships/oleObject" Target="../embeddings/oleObject89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wmf"/><Relationship Id="rId11" Type="http://schemas.openxmlformats.org/officeDocument/2006/relationships/image" Target="../media/image51.wmf"/><Relationship Id="rId24" Type="http://schemas.openxmlformats.org/officeDocument/2006/relationships/oleObject" Target="../embeddings/oleObject85.bin"/><Relationship Id="rId32" Type="http://schemas.openxmlformats.org/officeDocument/2006/relationships/image" Target="../media/image59.wmf"/><Relationship Id="rId5" Type="http://schemas.openxmlformats.org/officeDocument/2006/relationships/oleObject" Target="../embeddings/oleObject76.bin"/><Relationship Id="rId15" Type="http://schemas.openxmlformats.org/officeDocument/2006/relationships/image" Target="../media/image53.wmf"/><Relationship Id="rId23" Type="http://schemas.openxmlformats.org/officeDocument/2006/relationships/image" Target="../media/image56.wmf"/><Relationship Id="rId28" Type="http://schemas.openxmlformats.org/officeDocument/2006/relationships/image" Target="../media/image57.wmf"/><Relationship Id="rId10" Type="http://schemas.openxmlformats.org/officeDocument/2006/relationships/oleObject" Target="../embeddings/oleObject78.bin"/><Relationship Id="rId19" Type="http://schemas.openxmlformats.org/officeDocument/2006/relationships/image" Target="../media/image55.wmf"/><Relationship Id="rId31" Type="http://schemas.openxmlformats.org/officeDocument/2006/relationships/oleObject" Target="../embeddings/oleObject90.bin"/><Relationship Id="rId4" Type="http://schemas.openxmlformats.org/officeDocument/2006/relationships/image" Target="../media/image48.wmf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80.bin"/><Relationship Id="rId22" Type="http://schemas.openxmlformats.org/officeDocument/2006/relationships/oleObject" Target="../embeddings/oleObject84.bin"/><Relationship Id="rId27" Type="http://schemas.openxmlformats.org/officeDocument/2006/relationships/oleObject" Target="../embeddings/oleObject88.bin"/><Relationship Id="rId30" Type="http://schemas.openxmlformats.org/officeDocument/2006/relationships/image" Target="../media/image58.wmf"/><Relationship Id="rId8" Type="http://schemas.openxmlformats.org/officeDocument/2006/relationships/oleObject" Target="../embeddings/oleObject7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63.wmf"/><Relationship Id="rId3" Type="http://schemas.openxmlformats.org/officeDocument/2006/relationships/oleObject" Target="../embeddings/oleObject90.bin"/><Relationship Id="rId7" Type="http://schemas.openxmlformats.org/officeDocument/2006/relationships/image" Target="../media/image3.png"/><Relationship Id="rId12" Type="http://schemas.openxmlformats.org/officeDocument/2006/relationships/oleObject" Target="../embeddings/oleObject95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wmf"/><Relationship Id="rId11" Type="http://schemas.openxmlformats.org/officeDocument/2006/relationships/image" Target="../media/image62.wmf"/><Relationship Id="rId5" Type="http://schemas.openxmlformats.org/officeDocument/2006/relationships/oleObject" Target="../embeddings/oleObject92.bin"/><Relationship Id="rId10" Type="http://schemas.openxmlformats.org/officeDocument/2006/relationships/oleObject" Target="../embeddings/oleObject94.bin"/><Relationship Id="rId4" Type="http://schemas.openxmlformats.org/officeDocument/2006/relationships/image" Target="../media/image59.wmf"/><Relationship Id="rId9" Type="http://schemas.openxmlformats.org/officeDocument/2006/relationships/image" Target="../media/image6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71.wmf"/><Relationship Id="rId3" Type="http://schemas.openxmlformats.org/officeDocument/2006/relationships/oleObject" Target="../embeddings/oleObject96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102.bin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oleObject" Target="../embeddings/oleObject99.bin"/><Relationship Id="rId5" Type="http://schemas.openxmlformats.org/officeDocument/2006/relationships/image" Target="../media/image65.png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64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69.wmf"/><Relationship Id="rId22" Type="http://schemas.openxmlformats.org/officeDocument/2006/relationships/image" Target="../media/image7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74.wmf"/><Relationship Id="rId9" Type="http://schemas.openxmlformats.org/officeDocument/2006/relationships/image" Target="../media/image1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6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112.bin"/><Relationship Id="rId3" Type="http://schemas.openxmlformats.org/officeDocument/2006/relationships/image" Target="../media/image65.png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78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0" Type="http://schemas.openxmlformats.org/officeDocument/2006/relationships/image" Target="../media/image77.w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7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83.wmf"/><Relationship Id="rId26" Type="http://schemas.openxmlformats.org/officeDocument/2006/relationships/oleObject" Target="../embeddings/oleObject122.bin"/><Relationship Id="rId3" Type="http://schemas.openxmlformats.org/officeDocument/2006/relationships/image" Target="../media/image65.png"/><Relationship Id="rId21" Type="http://schemas.openxmlformats.org/officeDocument/2006/relationships/oleObject" Target="../embeddings/oleObject120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80.wmf"/><Relationship Id="rId17" Type="http://schemas.openxmlformats.org/officeDocument/2006/relationships/oleObject" Target="../embeddings/oleObject119.bin"/><Relationship Id="rId25" Type="http://schemas.openxmlformats.org/officeDocument/2006/relationships/image" Target="../media/image78.wmf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82.wmf"/><Relationship Id="rId20" Type="http://schemas.openxmlformats.org/officeDocument/2006/relationships/image" Target="../media/image7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116.bin"/><Relationship Id="rId24" Type="http://schemas.openxmlformats.org/officeDocument/2006/relationships/oleObject" Target="../embeddings/oleObject121.bin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23" Type="http://schemas.openxmlformats.org/officeDocument/2006/relationships/image" Target="../media/image84.png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120.bin"/><Relationship Id="rId4" Type="http://schemas.openxmlformats.org/officeDocument/2006/relationships/image" Target="../media/image3.png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81.wmf"/><Relationship Id="rId22" Type="http://schemas.openxmlformats.org/officeDocument/2006/relationships/image" Target="../media/image73.wmf"/><Relationship Id="rId27" Type="http://schemas.openxmlformats.org/officeDocument/2006/relationships/image" Target="../media/image7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78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030"/>
          <p:cNvSpPr txBox="1">
            <a:spLocks noChangeArrowheads="1"/>
          </p:cNvSpPr>
          <p:nvPr/>
        </p:nvSpPr>
        <p:spPr bwMode="auto">
          <a:xfrm>
            <a:off x="1624013" y="3221038"/>
            <a:ext cx="823912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CARGA ELÉCTRICA Y MATERIA. CAMPO ELÉCTRICO</a:t>
            </a:r>
          </a:p>
        </p:txBody>
      </p:sp>
      <p:sp>
        <p:nvSpPr>
          <p:cNvPr id="5123" name="Text Box 1031"/>
          <p:cNvSpPr txBox="1">
            <a:spLocks noChangeArrowheads="1"/>
          </p:cNvSpPr>
          <p:nvPr/>
        </p:nvSpPr>
        <p:spPr bwMode="auto">
          <a:xfrm>
            <a:off x="5278438" y="4105275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(3/5)</a:t>
            </a:r>
          </a:p>
        </p:txBody>
      </p:sp>
      <p:sp>
        <p:nvSpPr>
          <p:cNvPr id="5124" name="Text Box 1032"/>
          <p:cNvSpPr txBox="1">
            <a:spLocks noChangeArrowheads="1"/>
          </p:cNvSpPr>
          <p:nvPr/>
        </p:nvSpPr>
        <p:spPr bwMode="auto">
          <a:xfrm>
            <a:off x="5065713" y="234315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1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D1962B4-660C-68D2-39A0-8B760F4065A7}"/>
              </a:ext>
            </a:extLst>
          </p:cNvPr>
          <p:cNvGrpSpPr/>
          <p:nvPr/>
        </p:nvGrpSpPr>
        <p:grpSpPr>
          <a:xfrm>
            <a:off x="6310314" y="5021133"/>
            <a:ext cx="4360864" cy="1865782"/>
            <a:chOff x="6310314" y="5021133"/>
            <a:chExt cx="4360864" cy="1865782"/>
          </a:xfrm>
        </p:grpSpPr>
        <p:grpSp>
          <p:nvGrpSpPr>
            <p:cNvPr id="3" name="Group 14">
              <a:extLst>
                <a:ext uri="{FF2B5EF4-FFF2-40B4-BE49-F238E27FC236}">
                  <a16:creationId xmlns:a16="http://schemas.microsoft.com/office/drawing/2014/main" id="{CC9A71F2-7C3C-BED7-31D0-819064D43D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0314" y="5021133"/>
              <a:ext cx="4360864" cy="1865313"/>
              <a:chOff x="3975" y="3030"/>
              <a:chExt cx="2747" cy="1175"/>
            </a:xfrm>
          </p:grpSpPr>
          <p:sp>
            <p:nvSpPr>
              <p:cNvPr id="6" name="AutoShape 1056">
                <a:extLst>
                  <a:ext uri="{FF2B5EF4-FFF2-40B4-BE49-F238E27FC236}">
                    <a16:creationId xmlns:a16="http://schemas.microsoft.com/office/drawing/2014/main" id="{60B6FDA4-D4DC-1325-4CD9-D5051F8B3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5" y="3030"/>
                <a:ext cx="2747" cy="1175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7" name="Text Box 1057">
                <a:extLst>
                  <a:ext uri="{FF2B5EF4-FFF2-40B4-BE49-F238E27FC236}">
                    <a16:creationId xmlns:a16="http://schemas.microsoft.com/office/drawing/2014/main" id="{F3037DE4-55B2-6C1F-B622-884EB92448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0" y="3120"/>
                <a:ext cx="2561" cy="523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latin typeface="Trebuchet MS" panose="020B0603020202020204" pitchFamily="34" charset="0"/>
                  </a:rPr>
                  <a:t>PROBLEMA PROPUESTO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latin typeface="Trebuchet MS" panose="020B0603020202020204" pitchFamily="34" charset="0"/>
                  </a:rPr>
                  <a:t>(1ª SESIÓN DE PROBLEMAS)</a:t>
                </a:r>
              </a:p>
            </p:txBody>
          </p:sp>
          <p:sp>
            <p:nvSpPr>
              <p:cNvPr id="8" name="Text Box 1058">
                <a:extLst>
                  <a:ext uri="{FF2B5EF4-FFF2-40B4-BE49-F238E27FC236}">
                    <a16:creationId xmlns:a16="http://schemas.microsoft.com/office/drawing/2014/main" id="{001DCF5C-E23D-E2BD-EE41-726CFC17C3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0" y="3767"/>
                <a:ext cx="950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Trebuchet MS" panose="020B0603020202020204" pitchFamily="34" charset="0"/>
                    <a:sym typeface="Wingdings" panose="05000000000000000000" pitchFamily="2" charset="2"/>
                  </a:rPr>
                  <a:t>Problema</a:t>
                </a:r>
                <a:endParaRPr lang="es-ES" sz="4800">
                  <a:solidFill>
                    <a:srgbClr val="FF0000"/>
                  </a:solidFill>
                  <a:latin typeface="Trebuchet MS" panose="020B0603020202020204" pitchFamily="34" charset="0"/>
                  <a:sym typeface="Wingdings" panose="05000000000000000000" pitchFamily="2" charset="2"/>
                </a:endParaRPr>
              </a:p>
            </p:txBody>
          </p:sp>
          <p:sp>
            <p:nvSpPr>
              <p:cNvPr id="9" name="Text Box 1062">
                <a:extLst>
                  <a:ext uri="{FF2B5EF4-FFF2-40B4-BE49-F238E27FC236}">
                    <a16:creationId xmlns:a16="http://schemas.microsoft.com/office/drawing/2014/main" id="{B42A004B-7807-C65B-CC02-C9454AABED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8" y="3767"/>
                <a:ext cx="753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Boletín</a:t>
                </a:r>
              </a:p>
            </p:txBody>
          </p:sp>
        </p:grpSp>
        <p:sp>
          <p:nvSpPr>
            <p:cNvPr id="4" name="Text Box 1058">
              <a:extLst>
                <a:ext uri="{FF2B5EF4-FFF2-40B4-BE49-F238E27FC236}">
                  <a16:creationId xmlns:a16="http://schemas.microsoft.com/office/drawing/2014/main" id="{625DC84E-D7F0-A873-5A31-BAEC9C810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3294" y="6053737"/>
              <a:ext cx="729985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FF0000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</a:t>
              </a:r>
            </a:p>
          </p:txBody>
        </p:sp>
        <p:sp>
          <p:nvSpPr>
            <p:cNvPr id="5" name="Text Box 1058">
              <a:extLst>
                <a:ext uri="{FF2B5EF4-FFF2-40B4-BE49-F238E27FC236}">
                  <a16:creationId xmlns:a16="http://schemas.microsoft.com/office/drawing/2014/main" id="{98BEFB75-9406-98F1-6D69-9FA5277E3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36895" y="6053737"/>
              <a:ext cx="729985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0000FF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</a:t>
              </a:r>
            </a:p>
          </p:txBody>
        </p:sp>
      </p:grpSp>
      <p:grpSp>
        <p:nvGrpSpPr>
          <p:cNvPr id="14" name="Group 23">
            <a:extLst>
              <a:ext uri="{FF2B5EF4-FFF2-40B4-BE49-F238E27FC236}">
                <a16:creationId xmlns:a16="http://schemas.microsoft.com/office/drawing/2014/main" id="{FBEF65EE-5EF1-B0FB-A770-AE66DC316E8C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98463"/>
            <a:ext cx="2571750" cy="2395538"/>
            <a:chOff x="4896" y="276"/>
            <a:chExt cx="1620" cy="1509"/>
          </a:xfrm>
        </p:grpSpPr>
        <p:sp>
          <p:nvSpPr>
            <p:cNvPr id="16" name="AutoShape 1067">
              <a:extLst>
                <a:ext uri="{FF2B5EF4-FFF2-40B4-BE49-F238E27FC236}">
                  <a16:creationId xmlns:a16="http://schemas.microsoft.com/office/drawing/2014/main" id="{F98BE390-0D71-F1D2-D3FF-1FE651FDE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76"/>
              <a:ext cx="1620" cy="1509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Text Box 1068">
              <a:extLst>
                <a:ext uri="{FF2B5EF4-FFF2-40B4-BE49-F238E27FC236}">
                  <a16:creationId xmlns:a16="http://schemas.microsoft.com/office/drawing/2014/main" id="{01C698E1-97CF-B65A-E879-8C423CEDB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7" y="415"/>
              <a:ext cx="1336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GRUPOS DE PRÁCTICAS</a:t>
              </a:r>
            </a:p>
          </p:txBody>
        </p:sp>
        <p:sp>
          <p:nvSpPr>
            <p:cNvPr id="18" name="Text Box 1069">
              <a:extLst>
                <a:ext uri="{FF2B5EF4-FFF2-40B4-BE49-F238E27FC236}">
                  <a16:creationId xmlns:a16="http://schemas.microsoft.com/office/drawing/2014/main" id="{744A2AFA-A38D-B7F8-14F2-7C53A74E5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7" y="994"/>
              <a:ext cx="1336" cy="4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HAY QUE APUNTARSE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9" name="Text Box 1062">
              <a:extLst>
                <a:ext uri="{FF2B5EF4-FFF2-40B4-BE49-F238E27FC236}">
                  <a16:creationId xmlns:a16="http://schemas.microsoft.com/office/drawing/2014/main" id="{38501190-43B7-2420-2E10-FC7E60DDE7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5" y="1457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E5A2631F-F532-1682-67EA-B8A0B79B6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4559461"/>
            <a:ext cx="6602413" cy="43957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1825625" y="6042025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1825625" y="3479800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1825625" y="4581525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1825625" y="2000250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5"/>
          <p:cNvSpPr>
            <a:spLocks noChangeArrowheads="1"/>
          </p:cNvSpPr>
          <p:nvPr/>
        </p:nvSpPr>
        <p:spPr bwMode="auto">
          <a:xfrm>
            <a:off x="1443038" y="566738"/>
            <a:ext cx="74469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1: CARGA ELÉCTRICA Y MATERIA.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CAMPO ELÉCTRICO</a:t>
            </a:r>
          </a:p>
        </p:txBody>
      </p:sp>
      <p:sp>
        <p:nvSpPr>
          <p:cNvPr id="7175" name="Rectangle 6"/>
          <p:cNvSpPr>
            <a:spLocks noChangeArrowheads="1"/>
          </p:cNvSpPr>
          <p:nvPr/>
        </p:nvSpPr>
        <p:spPr bwMode="auto">
          <a:xfrm>
            <a:off x="1781175" y="1974850"/>
            <a:ext cx="708025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1.4.</a:t>
            </a:r>
          </a:p>
        </p:txBody>
      </p:sp>
      <p:sp>
        <p:nvSpPr>
          <p:cNvPr id="7177" name="Rectangle 7"/>
          <p:cNvSpPr>
            <a:spLocks noChangeArrowheads="1"/>
          </p:cNvSpPr>
          <p:nvPr/>
        </p:nvSpPr>
        <p:spPr bwMode="auto">
          <a:xfrm>
            <a:off x="2586038" y="1982788"/>
            <a:ext cx="7850187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 Eléctrica.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Cuantización y Conservación.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 Puntual y Distribuciones de Carga.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Ley de Coulomb.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Principio de Superposición.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 Eléctrico.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Campos debidos a Distribuciones de Carga.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 Eléctrico: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1">
                <a:latin typeface="Arial" panose="020B0604020202020204" pitchFamily="34" charset="0"/>
              </a:rPr>
              <a:t>Líneas de Campo.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Conductores y Aislantes.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Cargas Inducidas.</a:t>
            </a:r>
            <a:endParaRPr lang="es-ES" sz="2000" b="1">
              <a:latin typeface="Arial" panose="020B0604020202020204" pitchFamily="34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759160" y="318964"/>
            <a:ext cx="157425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26/09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25/09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25/09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4E7DEC97-696C-47D1-E348-CCA781CDDF23}"/>
              </a:ext>
            </a:extLst>
          </p:cNvPr>
          <p:cNvGrpSpPr/>
          <p:nvPr/>
        </p:nvGrpSpPr>
        <p:grpSpPr>
          <a:xfrm>
            <a:off x="6858001" y="3425178"/>
            <a:ext cx="3706814" cy="833178"/>
            <a:chOff x="6858001" y="3425178"/>
            <a:chExt cx="3706814" cy="833178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56BE194-79EA-9570-7EEE-F9AB7165BFD6}"/>
                </a:ext>
              </a:extLst>
            </p:cNvPr>
            <p:cNvGrpSpPr/>
            <p:nvPr/>
          </p:nvGrpSpPr>
          <p:grpSpPr>
            <a:xfrm>
              <a:off x="6858001" y="3425178"/>
              <a:ext cx="3706814" cy="833178"/>
              <a:chOff x="6858001" y="3425178"/>
              <a:chExt cx="3706814" cy="833178"/>
            </a:xfrm>
          </p:grpSpPr>
          <p:sp>
            <p:nvSpPr>
              <p:cNvPr id="3" name="Text Box 1062">
                <a:extLst>
                  <a:ext uri="{FF2B5EF4-FFF2-40B4-BE49-F238E27FC236}">
                    <a16:creationId xmlns:a16="http://schemas.microsoft.com/office/drawing/2014/main" id="{95928AD6-7EDA-5942-8E5D-C43D046A6C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11681" y="3425178"/>
                <a:ext cx="3453134" cy="8331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Trebuchet MS" panose="020B0603020202020204" pitchFamily="34" charset="0"/>
                  </a:rPr>
                  <a:t>Haremos un problema de aplicación</a:t>
                </a:r>
                <a:endPara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5" name="Flecha: a la derecha 4">
                <a:extLst>
                  <a:ext uri="{FF2B5EF4-FFF2-40B4-BE49-F238E27FC236}">
                    <a16:creationId xmlns:a16="http://schemas.microsoft.com/office/drawing/2014/main" id="{C428BB26-F291-B73D-1A33-7F27E83587A8}"/>
                  </a:ext>
                </a:extLst>
              </p:cNvPr>
              <p:cNvSpPr/>
              <p:nvPr/>
            </p:nvSpPr>
            <p:spPr bwMode="auto">
              <a:xfrm>
                <a:off x="6858001" y="3665766"/>
                <a:ext cx="304800" cy="383721"/>
              </a:xfrm>
              <a:prstGeom prst="rightArrow">
                <a:avLst/>
              </a:prstGeom>
              <a:solidFill>
                <a:srgbClr val="FF0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</p:grp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1CF63C8D-3F83-31C9-8004-ECCB5CB7915D}"/>
                </a:ext>
              </a:extLst>
            </p:cNvPr>
            <p:cNvCxnSpPr/>
            <p:nvPr/>
          </p:nvCxnSpPr>
          <p:spPr bwMode="auto">
            <a:xfrm>
              <a:off x="6858001" y="3479800"/>
              <a:ext cx="0" cy="700314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Text Box 39"/>
          <p:cNvSpPr txBox="1">
            <a:spLocks noChangeArrowheads="1"/>
          </p:cNvSpPr>
          <p:nvPr/>
        </p:nvSpPr>
        <p:spPr bwMode="auto">
          <a:xfrm>
            <a:off x="1497510" y="841520"/>
            <a:ext cx="8043004" cy="6054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En los vértices A, B y C 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un triángulo equilátero 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lado L = 27 cm hay colocadas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cargas puntuales. Se sabe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que Q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Q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2 C.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Obtener: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a) El valor de Q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si la fuerza eléctrica es nula en O,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 en el centro del triángulo.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b) La fuerza eléctrica que actúa sobre cada carga.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u="sng" dirty="0">
                <a:latin typeface="Arial" panose="020B0604020202020204" pitchFamily="34" charset="0"/>
                <a:sym typeface="Symbol" panose="05050102010706020507" pitchFamily="18" charset="2"/>
              </a:rPr>
              <a:t>Datos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: K = 9 10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9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N m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/ C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        sin 30º = cos 60º = ½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          cos 30º = sin 60º = 3/2</a:t>
            </a:r>
          </a:p>
        </p:txBody>
      </p:sp>
      <p:sp>
        <p:nvSpPr>
          <p:cNvPr id="31750" name="Line 110"/>
          <p:cNvSpPr>
            <a:spLocks noChangeShapeType="1"/>
          </p:cNvSpPr>
          <p:nvPr/>
        </p:nvSpPr>
        <p:spPr bwMode="auto">
          <a:xfrm>
            <a:off x="5313385" y="6419295"/>
            <a:ext cx="2007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noAutofit/>
          </a:bodyPr>
          <a:lstStyle/>
          <a:p>
            <a:endParaRPr lang="es-ES" sz="2400"/>
          </a:p>
        </p:txBody>
      </p:sp>
      <p:grpSp>
        <p:nvGrpSpPr>
          <p:cNvPr id="31751" name="Group 161"/>
          <p:cNvGrpSpPr>
            <a:grpSpLocks/>
          </p:cNvGrpSpPr>
          <p:nvPr/>
        </p:nvGrpSpPr>
        <p:grpSpPr bwMode="auto">
          <a:xfrm>
            <a:off x="6692406" y="1072552"/>
            <a:ext cx="3160713" cy="2952751"/>
            <a:chOff x="1236" y="2331"/>
            <a:chExt cx="1991" cy="1860"/>
          </a:xfrm>
        </p:grpSpPr>
        <p:sp>
          <p:nvSpPr>
            <p:cNvPr id="31788" name="AutoShape 111"/>
            <p:cNvSpPr>
              <a:spLocks noChangeArrowheads="1"/>
            </p:cNvSpPr>
            <p:nvPr/>
          </p:nvSpPr>
          <p:spPr bwMode="auto">
            <a:xfrm>
              <a:off x="1575" y="2740"/>
              <a:ext cx="1360" cy="1179"/>
            </a:xfrm>
            <a:prstGeom prst="triangle">
              <a:avLst>
                <a:gd name="adj" fmla="val 50000"/>
              </a:avLst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89" name="Text Box 112"/>
            <p:cNvSpPr txBox="1">
              <a:spLocks noChangeArrowheads="1"/>
            </p:cNvSpPr>
            <p:nvPr/>
          </p:nvSpPr>
          <p:spPr bwMode="auto">
            <a:xfrm>
              <a:off x="2136" y="2331"/>
              <a:ext cx="2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1790" name="Text Box 113"/>
            <p:cNvSpPr txBox="1">
              <a:spLocks noChangeArrowheads="1"/>
            </p:cNvSpPr>
            <p:nvPr/>
          </p:nvSpPr>
          <p:spPr bwMode="auto">
            <a:xfrm>
              <a:off x="3006" y="3941"/>
              <a:ext cx="2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1791" name="Text Box 114"/>
            <p:cNvSpPr txBox="1">
              <a:spLocks noChangeArrowheads="1"/>
            </p:cNvSpPr>
            <p:nvPr/>
          </p:nvSpPr>
          <p:spPr bwMode="auto">
            <a:xfrm>
              <a:off x="1236" y="3934"/>
              <a:ext cx="2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pic>
          <p:nvPicPr>
            <p:cNvPr id="31792" name="Picture 15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8" y="2595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93" name="Picture 15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1" y="3782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94" name="Picture 11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" y="3774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656" name="Text Box 168"/>
          <p:cNvSpPr txBox="1">
            <a:spLocks noChangeArrowheads="1"/>
          </p:cNvSpPr>
          <p:nvPr/>
        </p:nvSpPr>
        <p:spPr bwMode="auto">
          <a:xfrm>
            <a:off x="3923336" y="2895555"/>
            <a:ext cx="2193527" cy="833178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: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m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i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o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m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u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   micro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= 10</a:t>
            </a:r>
            <a:r>
              <a:rPr lang="es-ES" sz="2400" baseline="30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baseline="3000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29727" name="Group 31"/>
          <p:cNvGrpSpPr>
            <a:grpSpLocks/>
          </p:cNvGrpSpPr>
          <p:nvPr/>
        </p:nvGrpSpPr>
        <p:grpSpPr bwMode="auto">
          <a:xfrm>
            <a:off x="7382987" y="2296519"/>
            <a:ext cx="1803408" cy="414338"/>
            <a:chOff x="2570" y="3126"/>
            <a:chExt cx="1136" cy="261"/>
          </a:xfrm>
        </p:grpSpPr>
        <p:sp>
          <p:nvSpPr>
            <p:cNvPr id="31786" name="Text Box 171"/>
            <p:cNvSpPr txBox="1">
              <a:spLocks noChangeArrowheads="1"/>
            </p:cNvSpPr>
            <p:nvPr/>
          </p:nvSpPr>
          <p:spPr bwMode="auto">
            <a:xfrm>
              <a:off x="2570" y="3126"/>
              <a:ext cx="2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31787" name="Text Box 172"/>
            <p:cNvSpPr txBox="1">
              <a:spLocks noChangeArrowheads="1"/>
            </p:cNvSpPr>
            <p:nvPr/>
          </p:nvSpPr>
          <p:spPr bwMode="auto">
            <a:xfrm>
              <a:off x="3503" y="3137"/>
              <a:ext cx="2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</p:grpSp>
      <p:sp>
        <p:nvSpPr>
          <p:cNvPr id="31754" name="Text Box 173"/>
          <p:cNvSpPr txBox="1">
            <a:spLocks noChangeArrowheads="1"/>
          </p:cNvSpPr>
          <p:nvPr/>
        </p:nvSpPr>
        <p:spPr bwMode="auto">
          <a:xfrm>
            <a:off x="8149731" y="3631601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31758" name="Text Box 173"/>
          <p:cNvSpPr txBox="1">
            <a:spLocks noChangeArrowheads="1"/>
          </p:cNvSpPr>
          <p:nvPr/>
        </p:nvSpPr>
        <p:spPr bwMode="auto">
          <a:xfrm>
            <a:off x="8106145" y="2470849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31759" name="Text Box 31"/>
          <p:cNvSpPr txBox="1">
            <a:spLocks noChangeArrowheads="1"/>
          </p:cNvSpPr>
          <p:nvPr/>
        </p:nvSpPr>
        <p:spPr bwMode="auto">
          <a:xfrm>
            <a:off x="8145314" y="2729901"/>
            <a:ext cx="298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31761" name="Text Box 44"/>
          <p:cNvSpPr txBox="1">
            <a:spLocks noChangeArrowheads="1"/>
          </p:cNvSpPr>
          <p:nvPr/>
        </p:nvSpPr>
        <p:spPr bwMode="auto">
          <a:xfrm>
            <a:off x="3712778" y="112096"/>
            <a:ext cx="4070153" cy="46166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BOLETÍN 1 - PROBLEMA 5</a:t>
            </a:r>
          </a:p>
        </p:txBody>
      </p:sp>
      <p:sp>
        <p:nvSpPr>
          <p:cNvPr id="20" name="66 CuadroTexto">
            <a:extLst>
              <a:ext uri="{FF2B5EF4-FFF2-40B4-BE49-F238E27FC236}">
                <a16:creationId xmlns:a16="http://schemas.microsoft.com/office/drawing/2014/main" id="{7B0CA803-FD83-4A58-9FB5-D93F6EA55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863" y="5615275"/>
            <a:ext cx="4236177" cy="120032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distribución de carga </a:t>
            </a:r>
            <a:r>
              <a:rPr lang="es-ES" sz="2400">
                <a:latin typeface="Arial" panose="020B0604020202020204" pitchFamily="34" charset="0"/>
              </a:rPr>
              <a:t>es discreta, como en el prob. 2, pero es a </a:t>
            </a:r>
            <a:r>
              <a:rPr lang="es-ES" sz="2400" dirty="0">
                <a:latin typeface="Arial" panose="020B0604020202020204" pitchFamily="34" charset="0"/>
              </a:rPr>
              <a:t>nivel macroscópico</a:t>
            </a:r>
          </a:p>
        </p:txBody>
      </p:sp>
    </p:spTree>
    <p:extLst>
      <p:ext uri="{BB962C8B-B14F-4D97-AF65-F5344CB8AC3E}">
        <p14:creationId xmlns:p14="http://schemas.microsoft.com/office/powerpoint/2010/main" val="235422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6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03F4160E-F474-5C1A-9E30-CD73CA2D4B5E}"/>
              </a:ext>
            </a:extLst>
          </p:cNvPr>
          <p:cNvSpPr/>
          <p:nvPr/>
        </p:nvSpPr>
        <p:spPr bwMode="auto">
          <a:xfrm rot="7119090">
            <a:off x="6330212" y="3760410"/>
            <a:ext cx="1704031" cy="1020187"/>
          </a:xfrm>
          <a:prstGeom prst="triangle">
            <a:avLst>
              <a:gd name="adj" fmla="val 1403"/>
            </a:avLst>
          </a:prstGeom>
          <a:solidFill>
            <a:srgbClr val="FFFF99">
              <a:alpha val="5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715F7719-0BE9-4FF6-0062-89CBEADD4476}"/>
              </a:ext>
            </a:extLst>
          </p:cNvPr>
          <p:cNvSpPr/>
          <p:nvPr/>
        </p:nvSpPr>
        <p:spPr bwMode="auto">
          <a:xfrm rot="3640464" flipH="1" flipV="1">
            <a:off x="7145247" y="2259753"/>
            <a:ext cx="1704031" cy="1020187"/>
          </a:xfrm>
          <a:prstGeom prst="triangle">
            <a:avLst>
              <a:gd name="adj" fmla="val 1403"/>
            </a:avLst>
          </a:prstGeom>
          <a:solidFill>
            <a:srgbClr val="FFFF99">
              <a:alpha val="5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79B922FC-6D34-D402-481D-2C00F6B29450}"/>
              </a:ext>
            </a:extLst>
          </p:cNvPr>
          <p:cNvSpPr/>
          <p:nvPr/>
        </p:nvSpPr>
        <p:spPr bwMode="auto">
          <a:xfrm>
            <a:off x="7991196" y="3772822"/>
            <a:ext cx="1704031" cy="1020187"/>
          </a:xfrm>
          <a:prstGeom prst="triangle">
            <a:avLst>
              <a:gd name="adj" fmla="val 1403"/>
            </a:avLst>
          </a:prstGeom>
          <a:solidFill>
            <a:srgbClr val="FFFF99">
              <a:alpha val="5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3" name="Line 5"/>
          <p:cNvSpPr>
            <a:spLocks noChangeShapeType="1"/>
          </p:cNvSpPr>
          <p:nvPr/>
        </p:nvSpPr>
        <p:spPr bwMode="auto">
          <a:xfrm flipH="1">
            <a:off x="7981196" y="1766544"/>
            <a:ext cx="25567" cy="297086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sp>
        <p:nvSpPr>
          <p:cNvPr id="32" name="Line 4"/>
          <p:cNvSpPr>
            <a:spLocks noChangeShapeType="1"/>
          </p:cNvSpPr>
          <p:nvPr/>
        </p:nvSpPr>
        <p:spPr bwMode="auto">
          <a:xfrm rot="7200000" flipH="1">
            <a:off x="8390955" y="2565257"/>
            <a:ext cx="17897" cy="2860931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sp>
        <p:nvSpPr>
          <p:cNvPr id="38" name="Line 3"/>
          <p:cNvSpPr>
            <a:spLocks noChangeShapeType="1"/>
          </p:cNvSpPr>
          <p:nvPr/>
        </p:nvSpPr>
        <p:spPr bwMode="auto">
          <a:xfrm rot="-7200000">
            <a:off x="7588173" y="2541285"/>
            <a:ext cx="12785" cy="290950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grpSp>
        <p:nvGrpSpPr>
          <p:cNvPr id="31751" name="Group 161"/>
          <p:cNvGrpSpPr>
            <a:grpSpLocks/>
          </p:cNvGrpSpPr>
          <p:nvPr/>
        </p:nvGrpSpPr>
        <p:grpSpPr bwMode="auto">
          <a:xfrm>
            <a:off x="5658256" y="929355"/>
            <a:ext cx="4898607" cy="4768217"/>
            <a:chOff x="1335" y="2405"/>
            <a:chExt cx="1916" cy="1865"/>
          </a:xfrm>
        </p:grpSpPr>
        <p:sp>
          <p:nvSpPr>
            <p:cNvPr id="31788" name="AutoShape 111"/>
            <p:cNvSpPr>
              <a:spLocks noChangeArrowheads="1"/>
            </p:cNvSpPr>
            <p:nvPr/>
          </p:nvSpPr>
          <p:spPr bwMode="auto">
            <a:xfrm>
              <a:off x="1575" y="2740"/>
              <a:ext cx="1360" cy="1179"/>
            </a:xfrm>
            <a:prstGeom prst="triangle">
              <a:avLst>
                <a:gd name="adj" fmla="val 50000"/>
              </a:avLst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89" name="Text Box 112"/>
            <p:cNvSpPr txBox="1">
              <a:spLocks noChangeArrowheads="1"/>
            </p:cNvSpPr>
            <p:nvPr/>
          </p:nvSpPr>
          <p:spPr bwMode="auto">
            <a:xfrm>
              <a:off x="2186" y="2405"/>
              <a:ext cx="2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1790" name="Text Box 113"/>
            <p:cNvSpPr txBox="1">
              <a:spLocks noChangeArrowheads="1"/>
            </p:cNvSpPr>
            <p:nvPr/>
          </p:nvSpPr>
          <p:spPr bwMode="auto">
            <a:xfrm>
              <a:off x="3030" y="4001"/>
              <a:ext cx="2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1791" name="Text Box 114"/>
            <p:cNvSpPr txBox="1">
              <a:spLocks noChangeArrowheads="1"/>
            </p:cNvSpPr>
            <p:nvPr/>
          </p:nvSpPr>
          <p:spPr bwMode="auto">
            <a:xfrm>
              <a:off x="1335" y="4020"/>
              <a:ext cx="2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pic>
          <p:nvPicPr>
            <p:cNvPr id="31792" name="Picture 15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8" y="2595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93" name="Picture 15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1" y="3782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94" name="Picture 11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" y="3774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727" name="Group 31"/>
          <p:cNvGrpSpPr>
            <a:grpSpLocks/>
          </p:cNvGrpSpPr>
          <p:nvPr/>
        </p:nvGrpSpPr>
        <p:grpSpPr bwMode="auto">
          <a:xfrm>
            <a:off x="6549189" y="2797104"/>
            <a:ext cx="2873717" cy="649398"/>
            <a:chOff x="2591" y="3133"/>
            <a:chExt cx="1124" cy="254"/>
          </a:xfrm>
        </p:grpSpPr>
        <p:sp>
          <p:nvSpPr>
            <p:cNvPr id="31786" name="Text Box 171"/>
            <p:cNvSpPr txBox="1">
              <a:spLocks noChangeArrowheads="1"/>
            </p:cNvSpPr>
            <p:nvPr/>
          </p:nvSpPr>
          <p:spPr bwMode="auto">
            <a:xfrm>
              <a:off x="2591" y="3133"/>
              <a:ext cx="2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31787" name="Text Box 172"/>
            <p:cNvSpPr txBox="1">
              <a:spLocks noChangeArrowheads="1"/>
            </p:cNvSpPr>
            <p:nvPr/>
          </p:nvSpPr>
          <p:spPr bwMode="auto">
            <a:xfrm>
              <a:off x="3512" y="3137"/>
              <a:ext cx="2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</p:grpSp>
      <p:sp>
        <p:nvSpPr>
          <p:cNvPr id="31754" name="Text Box 173"/>
          <p:cNvSpPr txBox="1">
            <a:spLocks noChangeArrowheads="1"/>
          </p:cNvSpPr>
          <p:nvPr/>
        </p:nvSpPr>
        <p:spPr bwMode="auto">
          <a:xfrm>
            <a:off x="7800237" y="4845176"/>
            <a:ext cx="519008" cy="63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6668196" y="2323187"/>
            <a:ext cx="2758657" cy="2464645"/>
            <a:chOff x="4213225" y="4711700"/>
            <a:chExt cx="1712909" cy="1530350"/>
          </a:xfrm>
        </p:grpSpPr>
        <p:sp>
          <p:nvSpPr>
            <p:cNvPr id="31780" name="Freeform 169"/>
            <p:cNvSpPr>
              <a:spLocks/>
            </p:cNvSpPr>
            <p:nvPr/>
          </p:nvSpPr>
          <p:spPr bwMode="auto">
            <a:xfrm>
              <a:off x="4213225" y="5822950"/>
              <a:ext cx="177800" cy="419100"/>
            </a:xfrm>
            <a:custGeom>
              <a:avLst/>
              <a:gdLst>
                <a:gd name="T0" fmla="*/ 0 w 248"/>
                <a:gd name="T1" fmla="*/ 0 h 456"/>
                <a:gd name="T2" fmla="*/ 2147483646 w 248"/>
                <a:gd name="T3" fmla="*/ 2147483646 h 456"/>
                <a:gd name="T4" fmla="*/ 2147483646 w 248"/>
                <a:gd name="T5" fmla="*/ 2147483646 h 456"/>
                <a:gd name="T6" fmla="*/ 0 60000 65536"/>
                <a:gd name="T7" fmla="*/ 0 60000 65536"/>
                <a:gd name="T8" fmla="*/ 0 60000 65536"/>
                <a:gd name="T9" fmla="*/ 0 w 248"/>
                <a:gd name="T10" fmla="*/ 0 h 456"/>
                <a:gd name="T11" fmla="*/ 248 w 248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8" h="456">
                  <a:moveTo>
                    <a:pt x="0" y="0"/>
                  </a:moveTo>
                  <a:cubicBezTo>
                    <a:pt x="79" y="62"/>
                    <a:pt x="159" y="124"/>
                    <a:pt x="200" y="200"/>
                  </a:cubicBezTo>
                  <a:cubicBezTo>
                    <a:pt x="241" y="276"/>
                    <a:pt x="244" y="366"/>
                    <a:pt x="248" y="45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31781" name="Text Box 170"/>
            <p:cNvSpPr txBox="1">
              <a:spLocks noChangeArrowheads="1"/>
            </p:cNvSpPr>
            <p:nvPr/>
          </p:nvSpPr>
          <p:spPr bwMode="auto">
            <a:xfrm>
              <a:off x="4364446" y="5719764"/>
              <a:ext cx="5556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  <p:sp>
          <p:nvSpPr>
            <p:cNvPr id="31782" name="Text Box 174"/>
            <p:cNvSpPr txBox="1">
              <a:spLocks noChangeArrowheads="1"/>
            </p:cNvSpPr>
            <p:nvPr/>
          </p:nvSpPr>
          <p:spPr bwMode="auto">
            <a:xfrm>
              <a:off x="4872897" y="4931791"/>
              <a:ext cx="5556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  <p:sp>
          <p:nvSpPr>
            <p:cNvPr id="31783" name="Text Box 175"/>
            <p:cNvSpPr txBox="1">
              <a:spLocks noChangeArrowheads="1"/>
            </p:cNvSpPr>
            <p:nvPr/>
          </p:nvSpPr>
          <p:spPr bwMode="auto">
            <a:xfrm>
              <a:off x="5370509" y="5738850"/>
              <a:ext cx="5556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  <p:sp>
          <p:nvSpPr>
            <p:cNvPr id="31784" name="Freeform 176"/>
            <p:cNvSpPr>
              <a:spLocks/>
            </p:cNvSpPr>
            <p:nvPr/>
          </p:nvSpPr>
          <p:spPr bwMode="auto">
            <a:xfrm flipH="1">
              <a:off x="5679865" y="5797550"/>
              <a:ext cx="177800" cy="419100"/>
            </a:xfrm>
            <a:custGeom>
              <a:avLst/>
              <a:gdLst>
                <a:gd name="T0" fmla="*/ 0 w 248"/>
                <a:gd name="T1" fmla="*/ 0 h 456"/>
                <a:gd name="T2" fmla="*/ 2147483646 w 248"/>
                <a:gd name="T3" fmla="*/ 2147483646 h 456"/>
                <a:gd name="T4" fmla="*/ 2147483646 w 248"/>
                <a:gd name="T5" fmla="*/ 2147483646 h 456"/>
                <a:gd name="T6" fmla="*/ 0 60000 65536"/>
                <a:gd name="T7" fmla="*/ 0 60000 65536"/>
                <a:gd name="T8" fmla="*/ 0 60000 65536"/>
                <a:gd name="T9" fmla="*/ 0 w 248"/>
                <a:gd name="T10" fmla="*/ 0 h 456"/>
                <a:gd name="T11" fmla="*/ 248 w 248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8" h="456">
                  <a:moveTo>
                    <a:pt x="0" y="0"/>
                  </a:moveTo>
                  <a:cubicBezTo>
                    <a:pt x="79" y="62"/>
                    <a:pt x="159" y="124"/>
                    <a:pt x="200" y="200"/>
                  </a:cubicBezTo>
                  <a:cubicBezTo>
                    <a:pt x="241" y="276"/>
                    <a:pt x="244" y="366"/>
                    <a:pt x="248" y="45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31785" name="Freeform 177"/>
            <p:cNvSpPr>
              <a:spLocks/>
            </p:cNvSpPr>
            <p:nvPr/>
          </p:nvSpPr>
          <p:spPr bwMode="auto">
            <a:xfrm rot="15055341" flipH="1">
              <a:off x="4965700" y="4591050"/>
              <a:ext cx="177800" cy="419100"/>
            </a:xfrm>
            <a:custGeom>
              <a:avLst/>
              <a:gdLst>
                <a:gd name="T0" fmla="*/ 0 w 248"/>
                <a:gd name="T1" fmla="*/ 0 h 456"/>
                <a:gd name="T2" fmla="*/ 2147483646 w 248"/>
                <a:gd name="T3" fmla="*/ 2147483646 h 456"/>
                <a:gd name="T4" fmla="*/ 2147483646 w 248"/>
                <a:gd name="T5" fmla="*/ 2147483646 h 456"/>
                <a:gd name="T6" fmla="*/ 0 60000 65536"/>
                <a:gd name="T7" fmla="*/ 0 60000 65536"/>
                <a:gd name="T8" fmla="*/ 0 60000 65536"/>
                <a:gd name="T9" fmla="*/ 0 w 248"/>
                <a:gd name="T10" fmla="*/ 0 h 456"/>
                <a:gd name="T11" fmla="*/ 248 w 248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8" h="456">
                  <a:moveTo>
                    <a:pt x="0" y="0"/>
                  </a:moveTo>
                  <a:cubicBezTo>
                    <a:pt x="79" y="62"/>
                    <a:pt x="159" y="124"/>
                    <a:pt x="200" y="200"/>
                  </a:cubicBezTo>
                  <a:cubicBezTo>
                    <a:pt x="241" y="276"/>
                    <a:pt x="244" y="366"/>
                    <a:pt x="248" y="45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</p:grpSp>
      <p:sp>
        <p:nvSpPr>
          <p:cNvPr id="27677" name="Text Box 29"/>
          <p:cNvSpPr txBox="1">
            <a:spLocks noChangeArrowheads="1"/>
          </p:cNvSpPr>
          <p:nvPr/>
        </p:nvSpPr>
        <p:spPr bwMode="auto">
          <a:xfrm>
            <a:off x="1313794" y="1454206"/>
            <a:ext cx="4347692" cy="16699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Triángulo Equilatero: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   </a:t>
            </a:r>
            <a:r>
              <a:rPr lang="es-ES" sz="2400">
                <a:latin typeface="Arial" panose="020B0604020202020204" pitchFamily="34" charset="0"/>
              </a:rPr>
              <a:t>Lados iguales</a:t>
            </a:r>
            <a:endParaRPr lang="es-ES" sz="2400">
              <a:solidFill>
                <a:srgbClr val="3333FF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   </a:t>
            </a:r>
            <a:r>
              <a:rPr lang="es-ES" sz="2400">
                <a:latin typeface="Arial" panose="020B0604020202020204" pitchFamily="34" charset="0"/>
              </a:rPr>
              <a:t>Ángulos internos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      y</a:t>
            </a:r>
            <a:r>
              <a:rPr lang="es-ES" sz="2400">
                <a:latin typeface="Arial" panose="020B0604020202020204" pitchFamily="34" charset="0"/>
              </a:rPr>
              <a:t> externos iguales</a:t>
            </a:r>
            <a:endParaRPr lang="es-ES" sz="240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1758" name="Text Box 173"/>
          <p:cNvSpPr txBox="1">
            <a:spLocks noChangeArrowheads="1"/>
          </p:cNvSpPr>
          <p:nvPr/>
        </p:nvSpPr>
        <p:spPr bwMode="auto">
          <a:xfrm>
            <a:off x="8006916" y="3402083"/>
            <a:ext cx="608493" cy="63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31759" name="Text Box 31"/>
          <p:cNvSpPr txBox="1">
            <a:spLocks noChangeArrowheads="1"/>
          </p:cNvSpPr>
          <p:nvPr/>
        </p:nvSpPr>
        <p:spPr bwMode="auto">
          <a:xfrm>
            <a:off x="7834554" y="3486665"/>
            <a:ext cx="436962" cy="639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4753523" y="5789760"/>
            <a:ext cx="298494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AO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= 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BO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CO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 Box 111"/>
          <p:cNvSpPr txBox="1">
            <a:spLocks noChangeArrowheads="1"/>
          </p:cNvSpPr>
          <p:nvPr/>
        </p:nvSpPr>
        <p:spPr bwMode="auto">
          <a:xfrm>
            <a:off x="4726047" y="6385905"/>
            <a:ext cx="5588942" cy="46384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Las llamaremos “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d” para escribir menos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34" name="Freeform 102"/>
          <p:cNvSpPr>
            <a:spLocks/>
          </p:cNvSpPr>
          <p:nvPr/>
        </p:nvSpPr>
        <p:spPr bwMode="auto">
          <a:xfrm>
            <a:off x="8002118" y="4561383"/>
            <a:ext cx="230102" cy="232659"/>
          </a:xfrm>
          <a:custGeom>
            <a:avLst/>
            <a:gdLst>
              <a:gd name="T0" fmla="*/ 0 w 168"/>
              <a:gd name="T1" fmla="*/ 0 h 160"/>
              <a:gd name="T2" fmla="*/ 2147483646 w 168"/>
              <a:gd name="T3" fmla="*/ 0 h 160"/>
              <a:gd name="T4" fmla="*/ 2147483646 w 168"/>
              <a:gd name="T5" fmla="*/ 2147483646 h 160"/>
              <a:gd name="T6" fmla="*/ 0 60000 65536"/>
              <a:gd name="T7" fmla="*/ 0 60000 65536"/>
              <a:gd name="T8" fmla="*/ 0 60000 65536"/>
              <a:gd name="T9" fmla="*/ 0 w 168"/>
              <a:gd name="T10" fmla="*/ 0 h 160"/>
              <a:gd name="T11" fmla="*/ 168 w 168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160">
                <a:moveTo>
                  <a:pt x="0" y="0"/>
                </a:moveTo>
                <a:lnTo>
                  <a:pt x="168" y="0"/>
                </a:lnTo>
                <a:lnTo>
                  <a:pt x="168" y="16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sp>
        <p:nvSpPr>
          <p:cNvPr id="35" name="Freeform 103"/>
          <p:cNvSpPr>
            <a:spLocks/>
          </p:cNvSpPr>
          <p:nvPr/>
        </p:nvSpPr>
        <p:spPr bwMode="auto">
          <a:xfrm rot="7200000">
            <a:off x="7097647" y="3305004"/>
            <a:ext cx="232658" cy="232658"/>
          </a:xfrm>
          <a:custGeom>
            <a:avLst/>
            <a:gdLst>
              <a:gd name="T0" fmla="*/ 0 w 168"/>
              <a:gd name="T1" fmla="*/ 0 h 160"/>
              <a:gd name="T2" fmla="*/ 2147483646 w 168"/>
              <a:gd name="T3" fmla="*/ 0 h 160"/>
              <a:gd name="T4" fmla="*/ 2147483646 w 168"/>
              <a:gd name="T5" fmla="*/ 2147483646 h 160"/>
              <a:gd name="T6" fmla="*/ 0 60000 65536"/>
              <a:gd name="T7" fmla="*/ 0 60000 65536"/>
              <a:gd name="T8" fmla="*/ 0 60000 65536"/>
              <a:gd name="T9" fmla="*/ 0 w 168"/>
              <a:gd name="T10" fmla="*/ 0 h 160"/>
              <a:gd name="T11" fmla="*/ 168 w 168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160">
                <a:moveTo>
                  <a:pt x="0" y="0"/>
                </a:moveTo>
                <a:lnTo>
                  <a:pt x="168" y="0"/>
                </a:lnTo>
                <a:lnTo>
                  <a:pt x="168" y="16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sp>
        <p:nvSpPr>
          <p:cNvPr id="36" name="Freeform 104"/>
          <p:cNvSpPr>
            <a:spLocks noChangeAspect="1"/>
          </p:cNvSpPr>
          <p:nvPr/>
        </p:nvSpPr>
        <p:spPr bwMode="auto">
          <a:xfrm rot="19800000" flipH="1">
            <a:off x="8565103" y="3106483"/>
            <a:ext cx="240672" cy="240672"/>
          </a:xfrm>
          <a:custGeom>
            <a:avLst/>
            <a:gdLst>
              <a:gd name="T0" fmla="*/ 0 w 168"/>
              <a:gd name="T1" fmla="*/ 0 h 160"/>
              <a:gd name="T2" fmla="*/ 2147483646 w 168"/>
              <a:gd name="T3" fmla="*/ 0 h 160"/>
              <a:gd name="T4" fmla="*/ 2147483646 w 168"/>
              <a:gd name="T5" fmla="*/ 2147483646 h 160"/>
              <a:gd name="T6" fmla="*/ 0 60000 65536"/>
              <a:gd name="T7" fmla="*/ 0 60000 65536"/>
              <a:gd name="T8" fmla="*/ 0 60000 65536"/>
              <a:gd name="T9" fmla="*/ 0 w 168"/>
              <a:gd name="T10" fmla="*/ 0 h 160"/>
              <a:gd name="T11" fmla="*/ 168 w 168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160">
                <a:moveTo>
                  <a:pt x="0" y="0"/>
                </a:moveTo>
                <a:lnTo>
                  <a:pt x="168" y="0"/>
                </a:lnTo>
                <a:lnTo>
                  <a:pt x="168" y="16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sp>
        <p:nvSpPr>
          <p:cNvPr id="49" name="CuadroTexto 48"/>
          <p:cNvSpPr txBox="1"/>
          <p:nvPr/>
        </p:nvSpPr>
        <p:spPr>
          <a:xfrm>
            <a:off x="1319011" y="3364375"/>
            <a:ext cx="4347693" cy="156966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marL="108000"/>
            <a:r>
              <a:rPr lang="es-ES" sz="2400"/>
              <a:t>O: Punto donde se cruzan</a:t>
            </a:r>
          </a:p>
          <a:p>
            <a:pPr marL="108000"/>
            <a:r>
              <a:rPr lang="es-ES" sz="2400"/>
              <a:t>     las bisectrices (en este</a:t>
            </a:r>
          </a:p>
          <a:p>
            <a:pPr marL="108000"/>
            <a:r>
              <a:rPr lang="es-ES" sz="2400"/>
              <a:t>     triángulo coinciden con</a:t>
            </a:r>
          </a:p>
          <a:p>
            <a:pPr marL="108000"/>
            <a:r>
              <a:rPr lang="es-ES" sz="2400"/>
              <a:t>     las alturas)</a:t>
            </a:r>
            <a:endParaRPr lang="en-GB" sz="2400"/>
          </a:p>
        </p:txBody>
      </p:sp>
      <p:sp>
        <p:nvSpPr>
          <p:cNvPr id="12" name="Text Box 111">
            <a:extLst>
              <a:ext uri="{FF2B5EF4-FFF2-40B4-BE49-F238E27FC236}">
                <a16:creationId xmlns:a16="http://schemas.microsoft.com/office/drawing/2014/main" id="{E5770B0F-37D3-13A4-B2EE-69D2169A7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4660" y="5782994"/>
            <a:ext cx="695578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= d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26">
            <a:extLst>
              <a:ext uri="{FF2B5EF4-FFF2-40B4-BE49-F238E27FC236}">
                <a16:creationId xmlns:a16="http://schemas.microsoft.com/office/drawing/2014/main" id="{A181CFFD-C1A9-BD4C-DB70-9DDC6A454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248" y="5791551"/>
            <a:ext cx="277512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= L/2 / cos30º 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 Box 59">
            <a:extLst>
              <a:ext uri="{FF2B5EF4-FFF2-40B4-BE49-F238E27FC236}">
                <a16:creationId xmlns:a16="http://schemas.microsoft.com/office/drawing/2014/main" id="{431A2299-E6A6-1E91-3462-B9E2B8224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89" y="453000"/>
            <a:ext cx="2116546" cy="5340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Comentarios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2BBE825-5AFD-C0C6-8EE4-70584BA4770E}"/>
              </a:ext>
            </a:extLst>
          </p:cNvPr>
          <p:cNvGrpSpPr/>
          <p:nvPr/>
        </p:nvGrpSpPr>
        <p:grpSpPr>
          <a:xfrm>
            <a:off x="6196396" y="2232610"/>
            <a:ext cx="2833838" cy="3317577"/>
            <a:chOff x="6196396" y="2232610"/>
            <a:chExt cx="2833838" cy="3317577"/>
          </a:xfrm>
        </p:grpSpPr>
        <p:sp>
          <p:nvSpPr>
            <p:cNvPr id="9" name="Text Box 173">
              <a:extLst>
                <a:ext uri="{FF2B5EF4-FFF2-40B4-BE49-F238E27FC236}">
                  <a16:creationId xmlns:a16="http://schemas.microsoft.com/office/drawing/2014/main" id="{BA6D8381-26FF-46D9-A9E8-9D3A82D5B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0426" y="4873866"/>
              <a:ext cx="519007" cy="676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L/2</a:t>
              </a:r>
            </a:p>
          </p:txBody>
        </p:sp>
        <p:sp>
          <p:nvSpPr>
            <p:cNvPr id="7" name="Text Box 173">
              <a:extLst>
                <a:ext uri="{FF2B5EF4-FFF2-40B4-BE49-F238E27FC236}">
                  <a16:creationId xmlns:a16="http://schemas.microsoft.com/office/drawing/2014/main" id="{3906D8E0-1A8C-CE80-A843-A6BFC5E059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1227" y="2232610"/>
              <a:ext cx="519007" cy="676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L/2</a:t>
              </a:r>
            </a:p>
          </p:txBody>
        </p:sp>
        <p:sp>
          <p:nvSpPr>
            <p:cNvPr id="13" name="Text Box 173">
              <a:extLst>
                <a:ext uri="{FF2B5EF4-FFF2-40B4-BE49-F238E27FC236}">
                  <a16:creationId xmlns:a16="http://schemas.microsoft.com/office/drawing/2014/main" id="{7AA25500-9AB4-384C-2E0D-27343F205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6396" y="3420337"/>
              <a:ext cx="519007" cy="676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L/2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D744E06-C84E-78A5-DBB9-EEE4D6D6A693}"/>
              </a:ext>
            </a:extLst>
          </p:cNvPr>
          <p:cNvGrpSpPr/>
          <p:nvPr/>
        </p:nvGrpSpPr>
        <p:grpSpPr>
          <a:xfrm>
            <a:off x="6412919" y="2323452"/>
            <a:ext cx="2962884" cy="2669993"/>
            <a:chOff x="6412919" y="2323452"/>
            <a:chExt cx="2962884" cy="2669993"/>
          </a:xfrm>
        </p:grpSpPr>
        <p:sp>
          <p:nvSpPr>
            <p:cNvPr id="10" name="Text Box 175">
              <a:extLst>
                <a:ext uri="{FF2B5EF4-FFF2-40B4-BE49-F238E27FC236}">
                  <a16:creationId xmlns:a16="http://schemas.microsoft.com/office/drawing/2014/main" id="{88E358C5-E773-5610-AD99-7393C6FD2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80964" y="4354274"/>
              <a:ext cx="894839" cy="639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30º</a:t>
              </a:r>
            </a:p>
          </p:txBody>
        </p:sp>
        <p:sp>
          <p:nvSpPr>
            <p:cNvPr id="15" name="Text Box 175">
              <a:extLst>
                <a:ext uri="{FF2B5EF4-FFF2-40B4-BE49-F238E27FC236}">
                  <a16:creationId xmlns:a16="http://schemas.microsoft.com/office/drawing/2014/main" id="{F6E9C33B-4470-0DFE-143A-5AB8346C4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1580" y="2323452"/>
              <a:ext cx="894839" cy="639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30º</a:t>
              </a:r>
            </a:p>
          </p:txBody>
        </p:sp>
        <p:sp>
          <p:nvSpPr>
            <p:cNvPr id="16" name="Text Box 175">
              <a:extLst>
                <a:ext uri="{FF2B5EF4-FFF2-40B4-BE49-F238E27FC236}">
                  <a16:creationId xmlns:a16="http://schemas.microsoft.com/office/drawing/2014/main" id="{A12D3282-61EF-77CA-4448-1F7AECAFE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2919" y="4067993"/>
              <a:ext cx="894839" cy="639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30º</a:t>
              </a:r>
            </a:p>
          </p:txBody>
        </p:sp>
      </p:grpSp>
      <p:sp>
        <p:nvSpPr>
          <p:cNvPr id="21" name="Text Box 111">
            <a:extLst>
              <a:ext uri="{FF2B5EF4-FFF2-40B4-BE49-F238E27FC236}">
                <a16:creationId xmlns:a16="http://schemas.microsoft.com/office/drawing/2014/main" id="{8B7978B8-6143-10AF-FAF1-F93C0AAA0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914" y="5443543"/>
            <a:ext cx="2984941" cy="120251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Las distancias de los vértices al centro valen lo mismo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46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4" grpId="0" animBg="1"/>
      <p:bldP spid="33" grpId="0" animBg="1"/>
      <p:bldP spid="32" grpId="0" animBg="1"/>
      <p:bldP spid="38" grpId="0" animBg="1"/>
      <p:bldP spid="27677" grpId="0" animBg="1"/>
      <p:bldP spid="30" grpId="0"/>
      <p:bldP spid="31" grpId="0"/>
      <p:bldP spid="34" grpId="0" animBg="1"/>
      <p:bldP spid="35" grpId="0" animBg="1"/>
      <p:bldP spid="36" grpId="0" animBg="1"/>
      <p:bldP spid="49" grpId="0" animBg="1"/>
      <p:bldP spid="12" grpId="0"/>
      <p:bldP spid="3" grpId="0"/>
      <p:bldP spid="6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10" name="Grupo 29709">
            <a:extLst>
              <a:ext uri="{FF2B5EF4-FFF2-40B4-BE49-F238E27FC236}">
                <a16:creationId xmlns:a16="http://schemas.microsoft.com/office/drawing/2014/main" id="{16B2F55A-466B-32D5-4E4B-8E51BAEDA213}"/>
              </a:ext>
            </a:extLst>
          </p:cNvPr>
          <p:cNvGrpSpPr/>
          <p:nvPr/>
        </p:nvGrpSpPr>
        <p:grpSpPr>
          <a:xfrm>
            <a:off x="6292877" y="3783396"/>
            <a:ext cx="1704031" cy="1020187"/>
            <a:chOff x="6292877" y="3783396"/>
            <a:chExt cx="1704031" cy="1020187"/>
          </a:xfrm>
        </p:grpSpPr>
        <p:sp>
          <p:nvSpPr>
            <p:cNvPr id="29708" name="Triángulo isósceles 29707">
              <a:extLst>
                <a:ext uri="{FF2B5EF4-FFF2-40B4-BE49-F238E27FC236}">
                  <a16:creationId xmlns:a16="http://schemas.microsoft.com/office/drawing/2014/main" id="{E2782123-2DAE-91D0-ADCE-5C50655001D0}"/>
                </a:ext>
              </a:extLst>
            </p:cNvPr>
            <p:cNvSpPr/>
            <p:nvPr/>
          </p:nvSpPr>
          <p:spPr bwMode="auto">
            <a:xfrm flipH="1">
              <a:off x="6292877" y="3783396"/>
              <a:ext cx="1704031" cy="1020187"/>
            </a:xfrm>
            <a:prstGeom prst="triangle">
              <a:avLst>
                <a:gd name="adj" fmla="val 1403"/>
              </a:avLst>
            </a:prstGeom>
            <a:solidFill>
              <a:srgbClr val="FFFF99">
                <a:alpha val="50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9709" name="Freeform 102">
              <a:extLst>
                <a:ext uri="{FF2B5EF4-FFF2-40B4-BE49-F238E27FC236}">
                  <a16:creationId xmlns:a16="http://schemas.microsoft.com/office/drawing/2014/main" id="{35E0E80D-55F4-EC51-A2F8-D361496FC6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758278" y="4561383"/>
              <a:ext cx="230102" cy="232659"/>
            </a:xfrm>
            <a:custGeom>
              <a:avLst/>
              <a:gdLst>
                <a:gd name="T0" fmla="*/ 0 w 168"/>
                <a:gd name="T1" fmla="*/ 0 h 160"/>
                <a:gd name="T2" fmla="*/ 2147483646 w 168"/>
                <a:gd name="T3" fmla="*/ 0 h 160"/>
                <a:gd name="T4" fmla="*/ 2147483646 w 168"/>
                <a:gd name="T5" fmla="*/ 2147483646 h 160"/>
                <a:gd name="T6" fmla="*/ 0 60000 65536"/>
                <a:gd name="T7" fmla="*/ 0 60000 65536"/>
                <a:gd name="T8" fmla="*/ 0 60000 65536"/>
                <a:gd name="T9" fmla="*/ 0 w 168"/>
                <a:gd name="T10" fmla="*/ 0 h 160"/>
                <a:gd name="T11" fmla="*/ 168 w 168"/>
                <a:gd name="T12" fmla="*/ 160 h 1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0">
                  <a:moveTo>
                    <a:pt x="0" y="0"/>
                  </a:moveTo>
                  <a:lnTo>
                    <a:pt x="168" y="0"/>
                  </a:lnTo>
                  <a:lnTo>
                    <a:pt x="168" y="16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</p:grpSp>
      <p:sp>
        <p:nvSpPr>
          <p:cNvPr id="3" name="Text Box 178">
            <a:extLst>
              <a:ext uri="{FF2B5EF4-FFF2-40B4-BE49-F238E27FC236}">
                <a16:creationId xmlns:a16="http://schemas.microsoft.com/office/drawing/2014/main" id="{32E6E830-F061-D782-115A-9C687EA0F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6937" y="728118"/>
            <a:ext cx="4430631" cy="1739587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216000" rIns="108000" bIns="216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El dibujo </a:t>
            </a:r>
            <a:r>
              <a:rPr lang="es-ES" sz="2400" dirty="0">
                <a:latin typeface="Arial" panose="020B0604020202020204" pitchFamily="34" charset="0"/>
              </a:rPr>
              <a:t>queda igual si se </a:t>
            </a:r>
            <a:r>
              <a:rPr lang="es-ES" sz="2400">
                <a:latin typeface="Arial" panose="020B0604020202020204" pitchFamily="34" charset="0"/>
              </a:rPr>
              <a:t>gira un múltiplo entero de 120º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respecto a un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eje que pase por O perpendicular al triángulo</a:t>
            </a:r>
          </a:p>
        </p:txBody>
      </p:sp>
      <p:grpSp>
        <p:nvGrpSpPr>
          <p:cNvPr id="29713" name="Grupo 29712">
            <a:extLst>
              <a:ext uri="{FF2B5EF4-FFF2-40B4-BE49-F238E27FC236}">
                <a16:creationId xmlns:a16="http://schemas.microsoft.com/office/drawing/2014/main" id="{D9EF484C-B8AF-B1E5-3A7C-9BD15AB1BBA1}"/>
              </a:ext>
            </a:extLst>
          </p:cNvPr>
          <p:cNvGrpSpPr/>
          <p:nvPr/>
        </p:nvGrpSpPr>
        <p:grpSpPr>
          <a:xfrm>
            <a:off x="2463617" y="2697966"/>
            <a:ext cx="1969361" cy="2059766"/>
            <a:chOff x="2280737" y="2697966"/>
            <a:chExt cx="1969361" cy="2059766"/>
          </a:xfrm>
        </p:grpSpPr>
        <p:sp>
          <p:nvSpPr>
            <p:cNvPr id="29712" name="Rectángulo 29711">
              <a:extLst>
                <a:ext uri="{FF2B5EF4-FFF2-40B4-BE49-F238E27FC236}">
                  <a16:creationId xmlns:a16="http://schemas.microsoft.com/office/drawing/2014/main" id="{B3B994FB-A64C-8426-DE58-38BCF2043CED}"/>
                </a:ext>
              </a:extLst>
            </p:cNvPr>
            <p:cNvSpPr/>
            <p:nvPr/>
          </p:nvSpPr>
          <p:spPr bwMode="auto">
            <a:xfrm>
              <a:off x="2280737" y="2697966"/>
              <a:ext cx="1969361" cy="205976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32F3881-B61B-73BC-E011-EA85D2E997AD}"/>
                </a:ext>
              </a:extLst>
            </p:cNvPr>
            <p:cNvGrpSpPr/>
            <p:nvPr/>
          </p:nvGrpSpPr>
          <p:grpSpPr>
            <a:xfrm>
              <a:off x="2341697" y="2976596"/>
              <a:ext cx="1702985" cy="1584788"/>
              <a:chOff x="5331607" y="3510497"/>
              <a:chExt cx="1702985" cy="1584788"/>
            </a:xfrm>
          </p:grpSpPr>
          <p:grpSp>
            <p:nvGrpSpPr>
              <p:cNvPr id="7" name="Grupo 6">
                <a:extLst>
                  <a:ext uri="{FF2B5EF4-FFF2-40B4-BE49-F238E27FC236}">
                    <a16:creationId xmlns:a16="http://schemas.microsoft.com/office/drawing/2014/main" id="{3AB32FC5-74D2-7558-C118-5751A946A2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1607" y="3510497"/>
                <a:ext cx="1702985" cy="1584788"/>
                <a:chOff x="5963558" y="3827565"/>
                <a:chExt cx="1702690" cy="1584904"/>
              </a:xfrm>
            </p:grpSpPr>
            <p:grpSp>
              <p:nvGrpSpPr>
                <p:cNvPr id="13" name="Grupo 4">
                  <a:extLst>
                    <a:ext uri="{FF2B5EF4-FFF2-40B4-BE49-F238E27FC236}">
                      <a16:creationId xmlns:a16="http://schemas.microsoft.com/office/drawing/2014/main" id="{6E17DED2-C17B-993F-E3DB-CFD70AE94F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963558" y="3827565"/>
                  <a:ext cx="1702690" cy="1584904"/>
                  <a:chOff x="5963558" y="3827565"/>
                  <a:chExt cx="1702690" cy="1584904"/>
                </a:xfrm>
              </p:grpSpPr>
              <p:sp>
                <p:nvSpPr>
                  <p:cNvPr id="15" name="Line 5">
                    <a:extLst>
                      <a:ext uri="{FF2B5EF4-FFF2-40B4-BE49-F238E27FC236}">
                        <a16:creationId xmlns:a16="http://schemas.microsoft.com/office/drawing/2014/main" id="{258F6010-7D8D-16BA-4EE6-192A0860AEC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855908" y="3827565"/>
                    <a:ext cx="0" cy="72000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/>
                  <a:lstStyle/>
                  <a:p>
                    <a:endParaRPr lang="es-ES" sz="2400"/>
                  </a:p>
                </p:txBody>
              </p:sp>
              <p:sp>
                <p:nvSpPr>
                  <p:cNvPr id="16" name="Line 5">
                    <a:extLst>
                      <a:ext uri="{FF2B5EF4-FFF2-40B4-BE49-F238E27FC236}">
                        <a16:creationId xmlns:a16="http://schemas.microsoft.com/office/drawing/2014/main" id="{6672EDF6-04F6-B5C1-7EC8-163BE2DBE2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7200000" flipH="1">
                    <a:off x="7154777" y="4370172"/>
                    <a:ext cx="0" cy="72000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/>
                  <a:lstStyle/>
                  <a:p>
                    <a:endParaRPr lang="es-ES" sz="2400"/>
                  </a:p>
                </p:txBody>
              </p:sp>
              <p:sp>
                <p:nvSpPr>
                  <p:cNvPr id="17" name="Line 5">
                    <a:extLst>
                      <a:ext uri="{FF2B5EF4-FFF2-40B4-BE49-F238E27FC236}">
                        <a16:creationId xmlns:a16="http://schemas.microsoft.com/office/drawing/2014/main" id="{DB67ACC6-8483-CB21-F544-16944B6AAD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7200000">
                    <a:off x="6546780" y="4397447"/>
                    <a:ext cx="0" cy="72000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/>
                  <a:lstStyle/>
                  <a:p>
                    <a:endParaRPr lang="es-ES" sz="2400"/>
                  </a:p>
                </p:txBody>
              </p:sp>
              <p:sp>
                <p:nvSpPr>
                  <p:cNvPr id="21" name="Arco 20">
                    <a:extLst>
                      <a:ext uri="{FF2B5EF4-FFF2-40B4-BE49-F238E27FC236}">
                        <a16:creationId xmlns:a16="http://schemas.microsoft.com/office/drawing/2014/main" id="{68C8A5B3-012F-C35C-1F5F-B2E36C90051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486090" y="4204971"/>
                    <a:ext cx="759381" cy="747084"/>
                  </a:xfrm>
                  <a:prstGeom prst="arc">
                    <a:avLst>
                      <a:gd name="adj1" fmla="val 1501782"/>
                      <a:gd name="adj2" fmla="val 1280751"/>
                    </a:avLst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lIns="90000" tIns="46800" rIns="90000" bIns="46800"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endParaRPr lang="es-ES" sz="2400">
                      <a:latin typeface="Arial" charset="0"/>
                    </a:endParaRPr>
                  </a:p>
                </p:txBody>
              </p:sp>
              <p:sp>
                <p:nvSpPr>
                  <p:cNvPr id="22" name="Text Box 174">
                    <a:extLst>
                      <a:ext uri="{FF2B5EF4-FFF2-40B4-BE49-F238E27FC236}">
                        <a16:creationId xmlns:a16="http://schemas.microsoft.com/office/drawing/2014/main" id="{46E3EA8B-EFDD-DF6B-FC49-B99A66BAC4E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963558" y="3888061"/>
                    <a:ext cx="555625" cy="3968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120º</a:t>
                    </a:r>
                  </a:p>
                </p:txBody>
              </p:sp>
              <p:sp>
                <p:nvSpPr>
                  <p:cNvPr id="23" name="Text Box 174">
                    <a:extLst>
                      <a:ext uri="{FF2B5EF4-FFF2-40B4-BE49-F238E27FC236}">
                        <a16:creationId xmlns:a16="http://schemas.microsoft.com/office/drawing/2014/main" id="{9C28603D-5BE0-7AF3-FF64-D456110C800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500980" y="5015594"/>
                    <a:ext cx="555625" cy="3968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120º</a:t>
                    </a:r>
                  </a:p>
                </p:txBody>
              </p:sp>
              <p:sp>
                <p:nvSpPr>
                  <p:cNvPr id="24" name="Text Box 174">
                    <a:extLst>
                      <a:ext uri="{FF2B5EF4-FFF2-40B4-BE49-F238E27FC236}">
                        <a16:creationId xmlns:a16="http://schemas.microsoft.com/office/drawing/2014/main" id="{69D22BFB-E015-28C0-EEB0-55A77ADD717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110623" y="3888061"/>
                    <a:ext cx="555625" cy="3968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/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120º</a:t>
                    </a:r>
                  </a:p>
                </p:txBody>
              </p:sp>
            </p:grpSp>
            <p:sp>
              <p:nvSpPr>
                <p:cNvPr id="14" name="Text Box 114">
                  <a:extLst>
                    <a:ext uri="{FF2B5EF4-FFF2-40B4-BE49-F238E27FC236}">
                      <a16:creationId xmlns:a16="http://schemas.microsoft.com/office/drawing/2014/main" id="{BF460BF0-2972-DF1B-A904-78869273C8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846301" y="4217844"/>
                  <a:ext cx="365125" cy="3968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O</a:t>
                  </a:r>
                </a:p>
              </p:txBody>
            </p:sp>
          </p:grpSp>
          <p:sp>
            <p:nvSpPr>
              <p:cNvPr id="12" name="Text Box 31">
                <a:extLst>
                  <a:ext uri="{FF2B5EF4-FFF2-40B4-BE49-F238E27FC236}">
                    <a16:creationId xmlns:a16="http://schemas.microsoft.com/office/drawing/2014/main" id="{36F98B12-D00B-8499-65FD-5258E62075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1336" y="3998814"/>
                <a:ext cx="27131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</a:t>
                </a:r>
              </a:p>
            </p:txBody>
          </p:sp>
        </p:grpSp>
      </p:grpSp>
      <p:sp>
        <p:nvSpPr>
          <p:cNvPr id="25" name="Text Box 178">
            <a:extLst>
              <a:ext uri="{FF2B5EF4-FFF2-40B4-BE49-F238E27FC236}">
                <a16:creationId xmlns:a16="http://schemas.microsoft.com/office/drawing/2014/main" id="{0472C4FF-3432-56F8-2240-4B38CF2EE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120" y="5774737"/>
            <a:ext cx="7823243" cy="10680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216000" rIns="108000" bIns="216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Como: </a:t>
            </a:r>
            <a:r>
              <a:rPr lang="es-ES" sz="2400" dirty="0">
                <a:latin typeface="Arial" panose="020B0604020202020204" pitchFamily="34" charset="0"/>
              </a:rPr>
              <a:t>Q</a:t>
            </a:r>
            <a:r>
              <a:rPr lang="es-ES" sz="2400" baseline="-25000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 = Q</a:t>
            </a:r>
            <a:r>
              <a:rPr lang="es-ES" sz="2400" baseline="-25000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  y 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</a:rPr>
              <a:t>O</a:t>
            </a:r>
            <a:r>
              <a:rPr lang="es-ES" sz="2400" baseline="-250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= </a:t>
            </a:r>
            <a:r>
              <a:rPr lang="es-ES" sz="2400" b="1">
                <a:latin typeface="Arial" panose="020B0604020202020204" pitchFamily="34" charset="0"/>
              </a:rPr>
              <a:t>0</a:t>
            </a:r>
            <a:r>
              <a:rPr lang="es-ES" sz="2400">
                <a:latin typeface="Arial" panose="020B0604020202020204" pitchFamily="34" charset="0"/>
              </a:rPr>
              <a:t>, es </a:t>
            </a:r>
            <a:r>
              <a:rPr lang="es-ES" sz="2400" dirty="0">
                <a:latin typeface="Arial" panose="020B0604020202020204" pitchFamily="34" charset="0"/>
              </a:rPr>
              <a:t>esperable,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por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simetría</a:t>
            </a:r>
            <a:r>
              <a:rPr lang="es-ES" sz="2400" dirty="0">
                <a:latin typeface="Arial" panose="020B0604020202020204" pitchFamily="34" charset="0"/>
              </a:rPr>
              <a:t> anterior,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que lleguemos a </a:t>
            </a:r>
            <a:r>
              <a:rPr lang="es-ES" sz="2400" dirty="0">
                <a:latin typeface="Arial" panose="020B0604020202020204" pitchFamily="34" charset="0"/>
              </a:rPr>
              <a:t>que</a:t>
            </a:r>
            <a:r>
              <a:rPr lang="es-ES" sz="2400">
                <a:latin typeface="Arial" panose="020B0604020202020204" pitchFamily="34" charset="0"/>
              </a:rPr>
              <a:t>: Q</a:t>
            </a:r>
            <a:r>
              <a:rPr lang="es-ES" sz="2400" baseline="-25000">
                <a:latin typeface="Arial" panose="020B0604020202020204" pitchFamily="34" charset="0"/>
              </a:rPr>
              <a:t>C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= Q</a:t>
            </a:r>
            <a:r>
              <a:rPr lang="es-ES" sz="2400" baseline="-25000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 = Q</a:t>
            </a:r>
            <a:r>
              <a:rPr lang="es-ES" sz="2400" baseline="-25000" dirty="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41" name="Text Box 175">
            <a:extLst>
              <a:ext uri="{FF2B5EF4-FFF2-40B4-BE49-F238E27FC236}">
                <a16:creationId xmlns:a16="http://schemas.microsoft.com/office/drawing/2014/main" id="{BE9ADDD2-30AC-F0E9-2F61-106D277D0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4332" y="4376161"/>
            <a:ext cx="55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30º</a:t>
            </a:r>
          </a:p>
        </p:txBody>
      </p:sp>
      <p:sp>
        <p:nvSpPr>
          <p:cNvPr id="43" name="Text Box 175">
            <a:extLst>
              <a:ext uri="{FF2B5EF4-FFF2-40B4-BE49-F238E27FC236}">
                <a16:creationId xmlns:a16="http://schemas.microsoft.com/office/drawing/2014/main" id="{9A199267-787E-AC04-86CD-A4752A917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5494" y="3917481"/>
            <a:ext cx="55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60º</a:t>
            </a:r>
          </a:p>
        </p:txBody>
      </p:sp>
      <p:sp>
        <p:nvSpPr>
          <p:cNvPr id="9" name="Triángulo isósceles 8">
            <a:extLst>
              <a:ext uri="{FF2B5EF4-FFF2-40B4-BE49-F238E27FC236}">
                <a16:creationId xmlns:a16="http://schemas.microsoft.com/office/drawing/2014/main" id="{0A4A6DA8-749C-E252-F1C0-D67135DDEECD}"/>
              </a:ext>
            </a:extLst>
          </p:cNvPr>
          <p:cNvSpPr/>
          <p:nvPr/>
        </p:nvSpPr>
        <p:spPr bwMode="auto">
          <a:xfrm>
            <a:off x="7991196" y="3772822"/>
            <a:ext cx="1704031" cy="1020187"/>
          </a:xfrm>
          <a:prstGeom prst="triangle">
            <a:avLst>
              <a:gd name="adj" fmla="val 1403"/>
            </a:avLst>
          </a:prstGeom>
          <a:solidFill>
            <a:srgbClr val="FFFF99">
              <a:alpha val="5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5530DF30-C403-5688-F456-4F3EC09493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81196" y="1766544"/>
            <a:ext cx="25567" cy="297086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sp>
        <p:nvSpPr>
          <p:cNvPr id="11" name="Line 4">
            <a:extLst>
              <a:ext uri="{FF2B5EF4-FFF2-40B4-BE49-F238E27FC236}">
                <a16:creationId xmlns:a16="http://schemas.microsoft.com/office/drawing/2014/main" id="{4CA65DE7-67A0-DFB7-D3F3-566775AA73D4}"/>
              </a:ext>
            </a:extLst>
          </p:cNvPr>
          <p:cNvSpPr>
            <a:spLocks noChangeShapeType="1"/>
          </p:cNvSpPr>
          <p:nvPr/>
        </p:nvSpPr>
        <p:spPr bwMode="auto">
          <a:xfrm rot="7200000" flipH="1">
            <a:off x="8390955" y="2565257"/>
            <a:ext cx="17897" cy="2860931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sp>
        <p:nvSpPr>
          <p:cNvPr id="29" name="Line 3">
            <a:extLst>
              <a:ext uri="{FF2B5EF4-FFF2-40B4-BE49-F238E27FC236}">
                <a16:creationId xmlns:a16="http://schemas.microsoft.com/office/drawing/2014/main" id="{C86C7553-179E-ED2D-0CBD-3ED9F1AC2273}"/>
              </a:ext>
            </a:extLst>
          </p:cNvPr>
          <p:cNvSpPr>
            <a:spLocks noChangeShapeType="1"/>
          </p:cNvSpPr>
          <p:nvPr/>
        </p:nvSpPr>
        <p:spPr bwMode="auto">
          <a:xfrm rot="-7200000">
            <a:off x="7588173" y="2541285"/>
            <a:ext cx="12785" cy="290950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grpSp>
        <p:nvGrpSpPr>
          <p:cNvPr id="30" name="Group 161">
            <a:extLst>
              <a:ext uri="{FF2B5EF4-FFF2-40B4-BE49-F238E27FC236}">
                <a16:creationId xmlns:a16="http://schemas.microsoft.com/office/drawing/2014/main" id="{B7D46FB6-283A-A8C0-5AB2-F51BD36608F3}"/>
              </a:ext>
            </a:extLst>
          </p:cNvPr>
          <p:cNvGrpSpPr>
            <a:grpSpLocks/>
          </p:cNvGrpSpPr>
          <p:nvPr/>
        </p:nvGrpSpPr>
        <p:grpSpPr bwMode="auto">
          <a:xfrm>
            <a:off x="5658256" y="929355"/>
            <a:ext cx="4898607" cy="4768217"/>
            <a:chOff x="1335" y="2405"/>
            <a:chExt cx="1916" cy="1865"/>
          </a:xfrm>
        </p:grpSpPr>
        <p:sp>
          <p:nvSpPr>
            <p:cNvPr id="31" name="AutoShape 111">
              <a:extLst>
                <a:ext uri="{FF2B5EF4-FFF2-40B4-BE49-F238E27FC236}">
                  <a16:creationId xmlns:a16="http://schemas.microsoft.com/office/drawing/2014/main" id="{6947D940-73E1-CBE8-56C1-8E8E860EF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2740"/>
              <a:ext cx="1360" cy="1179"/>
            </a:xfrm>
            <a:prstGeom prst="triangle">
              <a:avLst>
                <a:gd name="adj" fmla="val 50000"/>
              </a:avLst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Text Box 112">
              <a:extLst>
                <a:ext uri="{FF2B5EF4-FFF2-40B4-BE49-F238E27FC236}">
                  <a16:creationId xmlns:a16="http://schemas.microsoft.com/office/drawing/2014/main" id="{F3D1BDFA-5C45-A854-4537-02B747E1F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6" y="2405"/>
              <a:ext cx="2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46" name="Text Box 113">
              <a:extLst>
                <a:ext uri="{FF2B5EF4-FFF2-40B4-BE49-F238E27FC236}">
                  <a16:creationId xmlns:a16="http://schemas.microsoft.com/office/drawing/2014/main" id="{9FB67740-CCE6-2BA5-5C67-FEC420935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0" y="4001"/>
              <a:ext cx="2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47" name="Text Box 114">
              <a:extLst>
                <a:ext uri="{FF2B5EF4-FFF2-40B4-BE49-F238E27FC236}">
                  <a16:creationId xmlns:a16="http://schemas.microsoft.com/office/drawing/2014/main" id="{7C8B7AAB-6117-2F2A-CDBC-20219CC8F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5" y="4020"/>
              <a:ext cx="2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</a:p>
          </p:txBody>
        </p:sp>
        <p:pic>
          <p:nvPicPr>
            <p:cNvPr id="48" name="Picture 157">
              <a:extLst>
                <a:ext uri="{FF2B5EF4-FFF2-40B4-BE49-F238E27FC236}">
                  <a16:creationId xmlns:a16="http://schemas.microsoft.com/office/drawing/2014/main" id="{696FCA46-2BF8-5723-0B60-6B44771E18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8" y="2595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" name="Picture 158">
              <a:extLst>
                <a:ext uri="{FF2B5EF4-FFF2-40B4-BE49-F238E27FC236}">
                  <a16:creationId xmlns:a16="http://schemas.microsoft.com/office/drawing/2014/main" id="{80ED5038-1228-DC55-D506-0ED4902B3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1" y="3782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Picture 118">
              <a:extLst>
                <a:ext uri="{FF2B5EF4-FFF2-40B4-BE49-F238E27FC236}">
                  <a16:creationId xmlns:a16="http://schemas.microsoft.com/office/drawing/2014/main" id="{F8FE5999-A352-1372-4B11-7AD0E719FA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" y="3774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" name="Group 31">
            <a:extLst>
              <a:ext uri="{FF2B5EF4-FFF2-40B4-BE49-F238E27FC236}">
                <a16:creationId xmlns:a16="http://schemas.microsoft.com/office/drawing/2014/main" id="{10497200-C64B-2970-5A60-7A3FD3158C3F}"/>
              </a:ext>
            </a:extLst>
          </p:cNvPr>
          <p:cNvGrpSpPr>
            <a:grpSpLocks/>
          </p:cNvGrpSpPr>
          <p:nvPr/>
        </p:nvGrpSpPr>
        <p:grpSpPr bwMode="auto">
          <a:xfrm>
            <a:off x="6549189" y="2797104"/>
            <a:ext cx="2873717" cy="649398"/>
            <a:chOff x="2591" y="3133"/>
            <a:chExt cx="1124" cy="254"/>
          </a:xfrm>
        </p:grpSpPr>
        <p:sp>
          <p:nvSpPr>
            <p:cNvPr id="52" name="Text Box 171">
              <a:extLst>
                <a:ext uri="{FF2B5EF4-FFF2-40B4-BE49-F238E27FC236}">
                  <a16:creationId xmlns:a16="http://schemas.microsoft.com/office/drawing/2014/main" id="{CFD76F49-204C-3620-6E99-F529CE8CBB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" y="3133"/>
              <a:ext cx="2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53" name="Text Box 172">
              <a:extLst>
                <a:ext uri="{FF2B5EF4-FFF2-40B4-BE49-F238E27FC236}">
                  <a16:creationId xmlns:a16="http://schemas.microsoft.com/office/drawing/2014/main" id="{522885E9-9881-0793-24CA-3BBB6BC72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2" y="3137"/>
              <a:ext cx="2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</p:grpSp>
      <p:sp>
        <p:nvSpPr>
          <p:cNvPr id="54" name="Text Box 173">
            <a:extLst>
              <a:ext uri="{FF2B5EF4-FFF2-40B4-BE49-F238E27FC236}">
                <a16:creationId xmlns:a16="http://schemas.microsoft.com/office/drawing/2014/main" id="{382EEB84-5234-E7F5-9C3B-D7CDE985B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0237" y="4845176"/>
            <a:ext cx="519008" cy="63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8747469E-D153-BB7E-11AC-BAC98159178E}"/>
              </a:ext>
            </a:extLst>
          </p:cNvPr>
          <p:cNvGrpSpPr>
            <a:grpSpLocks/>
          </p:cNvGrpSpPr>
          <p:nvPr/>
        </p:nvGrpSpPr>
        <p:grpSpPr bwMode="auto">
          <a:xfrm>
            <a:off x="6668196" y="2323187"/>
            <a:ext cx="2758657" cy="2464645"/>
            <a:chOff x="4213225" y="4711700"/>
            <a:chExt cx="1712909" cy="1530350"/>
          </a:xfrm>
        </p:grpSpPr>
        <p:sp>
          <p:nvSpPr>
            <p:cNvPr id="56" name="Freeform 169">
              <a:extLst>
                <a:ext uri="{FF2B5EF4-FFF2-40B4-BE49-F238E27FC236}">
                  <a16:creationId xmlns:a16="http://schemas.microsoft.com/office/drawing/2014/main" id="{78799F81-E740-7BF2-8903-F4F396D08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225" y="5822950"/>
              <a:ext cx="177800" cy="419100"/>
            </a:xfrm>
            <a:custGeom>
              <a:avLst/>
              <a:gdLst>
                <a:gd name="T0" fmla="*/ 0 w 248"/>
                <a:gd name="T1" fmla="*/ 0 h 456"/>
                <a:gd name="T2" fmla="*/ 2147483646 w 248"/>
                <a:gd name="T3" fmla="*/ 2147483646 h 456"/>
                <a:gd name="T4" fmla="*/ 2147483646 w 248"/>
                <a:gd name="T5" fmla="*/ 2147483646 h 456"/>
                <a:gd name="T6" fmla="*/ 0 60000 65536"/>
                <a:gd name="T7" fmla="*/ 0 60000 65536"/>
                <a:gd name="T8" fmla="*/ 0 60000 65536"/>
                <a:gd name="T9" fmla="*/ 0 w 248"/>
                <a:gd name="T10" fmla="*/ 0 h 456"/>
                <a:gd name="T11" fmla="*/ 248 w 248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8" h="456">
                  <a:moveTo>
                    <a:pt x="0" y="0"/>
                  </a:moveTo>
                  <a:cubicBezTo>
                    <a:pt x="79" y="62"/>
                    <a:pt x="159" y="124"/>
                    <a:pt x="200" y="200"/>
                  </a:cubicBezTo>
                  <a:cubicBezTo>
                    <a:pt x="241" y="276"/>
                    <a:pt x="244" y="366"/>
                    <a:pt x="248" y="45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57" name="Text Box 170">
              <a:extLst>
                <a:ext uri="{FF2B5EF4-FFF2-40B4-BE49-F238E27FC236}">
                  <a16:creationId xmlns:a16="http://schemas.microsoft.com/office/drawing/2014/main" id="{18308511-9385-2F89-85E3-26B5FC3A4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4446" y="5719764"/>
              <a:ext cx="5556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  <p:sp>
          <p:nvSpPr>
            <p:cNvPr id="58" name="Text Box 174">
              <a:extLst>
                <a:ext uri="{FF2B5EF4-FFF2-40B4-BE49-F238E27FC236}">
                  <a16:creationId xmlns:a16="http://schemas.microsoft.com/office/drawing/2014/main" id="{4D3B8E64-FDB7-8646-CCA1-C5A894778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2897" y="4931791"/>
              <a:ext cx="5556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  <p:sp>
          <p:nvSpPr>
            <p:cNvPr id="59" name="Text Box 175">
              <a:extLst>
                <a:ext uri="{FF2B5EF4-FFF2-40B4-BE49-F238E27FC236}">
                  <a16:creationId xmlns:a16="http://schemas.microsoft.com/office/drawing/2014/main" id="{8098D9D0-1E6D-593B-A3CF-DA68AC362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0509" y="5738850"/>
              <a:ext cx="5556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  <p:sp>
          <p:nvSpPr>
            <p:cNvPr id="60" name="Freeform 176">
              <a:extLst>
                <a:ext uri="{FF2B5EF4-FFF2-40B4-BE49-F238E27FC236}">
                  <a16:creationId xmlns:a16="http://schemas.microsoft.com/office/drawing/2014/main" id="{4E9FCC81-4253-2324-A8F9-3C4B38CECE0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679865" y="5797550"/>
              <a:ext cx="177800" cy="419100"/>
            </a:xfrm>
            <a:custGeom>
              <a:avLst/>
              <a:gdLst>
                <a:gd name="T0" fmla="*/ 0 w 248"/>
                <a:gd name="T1" fmla="*/ 0 h 456"/>
                <a:gd name="T2" fmla="*/ 2147483646 w 248"/>
                <a:gd name="T3" fmla="*/ 2147483646 h 456"/>
                <a:gd name="T4" fmla="*/ 2147483646 w 248"/>
                <a:gd name="T5" fmla="*/ 2147483646 h 456"/>
                <a:gd name="T6" fmla="*/ 0 60000 65536"/>
                <a:gd name="T7" fmla="*/ 0 60000 65536"/>
                <a:gd name="T8" fmla="*/ 0 60000 65536"/>
                <a:gd name="T9" fmla="*/ 0 w 248"/>
                <a:gd name="T10" fmla="*/ 0 h 456"/>
                <a:gd name="T11" fmla="*/ 248 w 248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8" h="456">
                  <a:moveTo>
                    <a:pt x="0" y="0"/>
                  </a:moveTo>
                  <a:cubicBezTo>
                    <a:pt x="79" y="62"/>
                    <a:pt x="159" y="124"/>
                    <a:pt x="200" y="200"/>
                  </a:cubicBezTo>
                  <a:cubicBezTo>
                    <a:pt x="241" y="276"/>
                    <a:pt x="244" y="366"/>
                    <a:pt x="248" y="45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61" name="Freeform 177">
              <a:extLst>
                <a:ext uri="{FF2B5EF4-FFF2-40B4-BE49-F238E27FC236}">
                  <a16:creationId xmlns:a16="http://schemas.microsoft.com/office/drawing/2014/main" id="{9F4E885C-F41A-47FE-CC46-9E6944A86F60}"/>
                </a:ext>
              </a:extLst>
            </p:cNvPr>
            <p:cNvSpPr>
              <a:spLocks/>
            </p:cNvSpPr>
            <p:nvPr/>
          </p:nvSpPr>
          <p:spPr bwMode="auto">
            <a:xfrm rot="15055341" flipH="1">
              <a:off x="4965700" y="4591050"/>
              <a:ext cx="177800" cy="419100"/>
            </a:xfrm>
            <a:custGeom>
              <a:avLst/>
              <a:gdLst>
                <a:gd name="T0" fmla="*/ 0 w 248"/>
                <a:gd name="T1" fmla="*/ 0 h 456"/>
                <a:gd name="T2" fmla="*/ 2147483646 w 248"/>
                <a:gd name="T3" fmla="*/ 2147483646 h 456"/>
                <a:gd name="T4" fmla="*/ 2147483646 w 248"/>
                <a:gd name="T5" fmla="*/ 2147483646 h 456"/>
                <a:gd name="T6" fmla="*/ 0 60000 65536"/>
                <a:gd name="T7" fmla="*/ 0 60000 65536"/>
                <a:gd name="T8" fmla="*/ 0 60000 65536"/>
                <a:gd name="T9" fmla="*/ 0 w 248"/>
                <a:gd name="T10" fmla="*/ 0 h 456"/>
                <a:gd name="T11" fmla="*/ 248 w 248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8" h="456">
                  <a:moveTo>
                    <a:pt x="0" y="0"/>
                  </a:moveTo>
                  <a:cubicBezTo>
                    <a:pt x="79" y="62"/>
                    <a:pt x="159" y="124"/>
                    <a:pt x="200" y="200"/>
                  </a:cubicBezTo>
                  <a:cubicBezTo>
                    <a:pt x="241" y="276"/>
                    <a:pt x="244" y="366"/>
                    <a:pt x="248" y="456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</p:grpSp>
      <p:sp>
        <p:nvSpPr>
          <p:cNvPr id="62" name="Text Box 173">
            <a:extLst>
              <a:ext uri="{FF2B5EF4-FFF2-40B4-BE49-F238E27FC236}">
                <a16:creationId xmlns:a16="http://schemas.microsoft.com/office/drawing/2014/main" id="{01C728FF-1B0E-6A81-DA24-F5422DB7F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6916" y="3402083"/>
            <a:ext cx="608493" cy="63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63" name="Text Box 31">
            <a:extLst>
              <a:ext uri="{FF2B5EF4-FFF2-40B4-BE49-F238E27FC236}">
                <a16:creationId xmlns:a16="http://schemas.microsoft.com/office/drawing/2014/main" id="{6E69497D-5920-ABC0-2F49-CCD4CD8CF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554" y="3486665"/>
            <a:ext cx="436962" cy="639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9697" name="Freeform 103">
            <a:extLst>
              <a:ext uri="{FF2B5EF4-FFF2-40B4-BE49-F238E27FC236}">
                <a16:creationId xmlns:a16="http://schemas.microsoft.com/office/drawing/2014/main" id="{1F1EF8C2-1A98-2B3D-4B89-D80104AB851B}"/>
              </a:ext>
            </a:extLst>
          </p:cNvPr>
          <p:cNvSpPr>
            <a:spLocks/>
          </p:cNvSpPr>
          <p:nvPr/>
        </p:nvSpPr>
        <p:spPr bwMode="auto">
          <a:xfrm rot="7200000">
            <a:off x="7097647" y="3305004"/>
            <a:ext cx="232658" cy="232658"/>
          </a:xfrm>
          <a:custGeom>
            <a:avLst/>
            <a:gdLst>
              <a:gd name="T0" fmla="*/ 0 w 168"/>
              <a:gd name="T1" fmla="*/ 0 h 160"/>
              <a:gd name="T2" fmla="*/ 2147483646 w 168"/>
              <a:gd name="T3" fmla="*/ 0 h 160"/>
              <a:gd name="T4" fmla="*/ 2147483646 w 168"/>
              <a:gd name="T5" fmla="*/ 2147483646 h 160"/>
              <a:gd name="T6" fmla="*/ 0 60000 65536"/>
              <a:gd name="T7" fmla="*/ 0 60000 65536"/>
              <a:gd name="T8" fmla="*/ 0 60000 65536"/>
              <a:gd name="T9" fmla="*/ 0 w 168"/>
              <a:gd name="T10" fmla="*/ 0 h 160"/>
              <a:gd name="T11" fmla="*/ 168 w 168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160">
                <a:moveTo>
                  <a:pt x="0" y="0"/>
                </a:moveTo>
                <a:lnTo>
                  <a:pt x="168" y="0"/>
                </a:lnTo>
                <a:lnTo>
                  <a:pt x="168" y="16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sp>
        <p:nvSpPr>
          <p:cNvPr id="29698" name="Freeform 104">
            <a:extLst>
              <a:ext uri="{FF2B5EF4-FFF2-40B4-BE49-F238E27FC236}">
                <a16:creationId xmlns:a16="http://schemas.microsoft.com/office/drawing/2014/main" id="{F09B177C-8A45-5E9F-DCF9-77B9A094F620}"/>
              </a:ext>
            </a:extLst>
          </p:cNvPr>
          <p:cNvSpPr>
            <a:spLocks noChangeAspect="1"/>
          </p:cNvSpPr>
          <p:nvPr/>
        </p:nvSpPr>
        <p:spPr bwMode="auto">
          <a:xfrm rot="19800000" flipH="1">
            <a:off x="8565103" y="3106483"/>
            <a:ext cx="240672" cy="240672"/>
          </a:xfrm>
          <a:custGeom>
            <a:avLst/>
            <a:gdLst>
              <a:gd name="T0" fmla="*/ 0 w 168"/>
              <a:gd name="T1" fmla="*/ 0 h 160"/>
              <a:gd name="T2" fmla="*/ 2147483646 w 168"/>
              <a:gd name="T3" fmla="*/ 0 h 160"/>
              <a:gd name="T4" fmla="*/ 2147483646 w 168"/>
              <a:gd name="T5" fmla="*/ 2147483646 h 160"/>
              <a:gd name="T6" fmla="*/ 0 60000 65536"/>
              <a:gd name="T7" fmla="*/ 0 60000 65536"/>
              <a:gd name="T8" fmla="*/ 0 60000 65536"/>
              <a:gd name="T9" fmla="*/ 0 w 168"/>
              <a:gd name="T10" fmla="*/ 0 h 160"/>
              <a:gd name="T11" fmla="*/ 168 w 168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160">
                <a:moveTo>
                  <a:pt x="0" y="0"/>
                </a:moveTo>
                <a:lnTo>
                  <a:pt x="168" y="0"/>
                </a:lnTo>
                <a:lnTo>
                  <a:pt x="168" y="16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sp>
        <p:nvSpPr>
          <p:cNvPr id="29707" name="Text Box 175">
            <a:extLst>
              <a:ext uri="{FF2B5EF4-FFF2-40B4-BE49-F238E27FC236}">
                <a16:creationId xmlns:a16="http://schemas.microsoft.com/office/drawing/2014/main" id="{95FD6E1A-0B03-8A22-B8CE-2C5AC2083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0964" y="4354274"/>
            <a:ext cx="894839" cy="639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30º</a:t>
            </a:r>
          </a:p>
        </p:txBody>
      </p:sp>
      <p:sp>
        <p:nvSpPr>
          <p:cNvPr id="27" name="Text Box 175">
            <a:extLst>
              <a:ext uri="{FF2B5EF4-FFF2-40B4-BE49-F238E27FC236}">
                <a16:creationId xmlns:a16="http://schemas.microsoft.com/office/drawing/2014/main" id="{90499FFA-CB7A-991C-CF3E-34EE7F297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2182" y="3917481"/>
            <a:ext cx="55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60º</a:t>
            </a:r>
          </a:p>
        </p:txBody>
      </p:sp>
      <p:sp>
        <p:nvSpPr>
          <p:cNvPr id="29696" name="Freeform 102">
            <a:extLst>
              <a:ext uri="{FF2B5EF4-FFF2-40B4-BE49-F238E27FC236}">
                <a16:creationId xmlns:a16="http://schemas.microsoft.com/office/drawing/2014/main" id="{C3AA7283-0BA5-644D-4E14-E247BF95DB4F}"/>
              </a:ext>
            </a:extLst>
          </p:cNvPr>
          <p:cNvSpPr>
            <a:spLocks/>
          </p:cNvSpPr>
          <p:nvPr/>
        </p:nvSpPr>
        <p:spPr bwMode="auto">
          <a:xfrm>
            <a:off x="8002118" y="4561383"/>
            <a:ext cx="230102" cy="232659"/>
          </a:xfrm>
          <a:custGeom>
            <a:avLst/>
            <a:gdLst>
              <a:gd name="T0" fmla="*/ 0 w 168"/>
              <a:gd name="T1" fmla="*/ 0 h 160"/>
              <a:gd name="T2" fmla="*/ 2147483646 w 168"/>
              <a:gd name="T3" fmla="*/ 0 h 160"/>
              <a:gd name="T4" fmla="*/ 2147483646 w 168"/>
              <a:gd name="T5" fmla="*/ 2147483646 h 160"/>
              <a:gd name="T6" fmla="*/ 0 60000 65536"/>
              <a:gd name="T7" fmla="*/ 0 60000 65536"/>
              <a:gd name="T8" fmla="*/ 0 60000 65536"/>
              <a:gd name="T9" fmla="*/ 0 w 168"/>
              <a:gd name="T10" fmla="*/ 0 h 160"/>
              <a:gd name="T11" fmla="*/ 168 w 168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160">
                <a:moveTo>
                  <a:pt x="0" y="0"/>
                </a:moveTo>
                <a:lnTo>
                  <a:pt x="168" y="0"/>
                </a:lnTo>
                <a:lnTo>
                  <a:pt x="168" y="16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sp>
        <p:nvSpPr>
          <p:cNvPr id="29711" name="Flecha: a la derecha 29710">
            <a:extLst>
              <a:ext uri="{FF2B5EF4-FFF2-40B4-BE49-F238E27FC236}">
                <a16:creationId xmlns:a16="http://schemas.microsoft.com/office/drawing/2014/main" id="{D180284A-3512-8A4D-437C-2375163FDA03}"/>
              </a:ext>
            </a:extLst>
          </p:cNvPr>
          <p:cNvSpPr/>
          <p:nvPr/>
        </p:nvSpPr>
        <p:spPr bwMode="auto">
          <a:xfrm flipH="1">
            <a:off x="4693277" y="3435144"/>
            <a:ext cx="718065" cy="655057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9714" name="Text Box 111">
            <a:extLst>
              <a:ext uri="{FF2B5EF4-FFF2-40B4-BE49-F238E27FC236}">
                <a16:creationId xmlns:a16="http://schemas.microsoft.com/office/drawing/2014/main" id="{0AC1653A-8032-B6BD-48D6-43285A346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5876" y="249778"/>
            <a:ext cx="220644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Hay simetría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27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5" grpId="0" animBg="1"/>
      <p:bldP spid="41" grpId="0"/>
      <p:bldP spid="43" grpId="0"/>
      <p:bldP spid="27" grpId="0"/>
      <p:bldP spid="29711" grpId="0" animBg="1"/>
      <p:bldP spid="297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Line 3"/>
          <p:cNvSpPr>
            <a:spLocks noChangeShapeType="1"/>
          </p:cNvSpPr>
          <p:nvPr/>
        </p:nvSpPr>
        <p:spPr bwMode="auto">
          <a:xfrm rot="14400000">
            <a:off x="2982912" y="2363138"/>
            <a:ext cx="3175" cy="294005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3795" name="Line 4"/>
          <p:cNvSpPr>
            <a:spLocks noChangeShapeType="1"/>
          </p:cNvSpPr>
          <p:nvPr/>
        </p:nvSpPr>
        <p:spPr bwMode="auto">
          <a:xfrm rot="7200000">
            <a:off x="3736975" y="2358375"/>
            <a:ext cx="3175" cy="294005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3796" name="Line 5"/>
          <p:cNvSpPr>
            <a:spLocks noChangeShapeType="1"/>
          </p:cNvSpPr>
          <p:nvPr/>
        </p:nvSpPr>
        <p:spPr bwMode="auto">
          <a:xfrm>
            <a:off x="3359150" y="1717025"/>
            <a:ext cx="3175" cy="287972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3797" name="AutoShape 10"/>
          <p:cNvSpPr>
            <a:spLocks noChangeArrowheads="1"/>
          </p:cNvSpPr>
          <p:nvPr/>
        </p:nvSpPr>
        <p:spPr bwMode="auto">
          <a:xfrm>
            <a:off x="1639888" y="1677337"/>
            <a:ext cx="3449637" cy="2930525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798" name="Text Box 11"/>
          <p:cNvSpPr txBox="1">
            <a:spLocks noChangeArrowheads="1"/>
          </p:cNvSpPr>
          <p:nvPr/>
        </p:nvSpPr>
        <p:spPr bwMode="auto">
          <a:xfrm>
            <a:off x="3159125" y="971832"/>
            <a:ext cx="349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3799" name="Text Box 12"/>
          <p:cNvSpPr txBox="1">
            <a:spLocks noChangeArrowheads="1"/>
          </p:cNvSpPr>
          <p:nvPr/>
        </p:nvSpPr>
        <p:spPr bwMode="auto">
          <a:xfrm>
            <a:off x="4910138" y="5069249"/>
            <a:ext cx="350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33800" name="Text Box 13"/>
          <p:cNvSpPr txBox="1">
            <a:spLocks noChangeArrowheads="1"/>
          </p:cNvSpPr>
          <p:nvPr/>
        </p:nvSpPr>
        <p:spPr bwMode="auto">
          <a:xfrm>
            <a:off x="1398451" y="5033658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pic>
        <p:nvPicPr>
          <p:cNvPr id="33801" name="Picture 1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4247500"/>
            <a:ext cx="71755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5" name="Text Box 23"/>
          <p:cNvSpPr txBox="1">
            <a:spLocks noChangeArrowheads="1"/>
          </p:cNvSpPr>
          <p:nvPr/>
        </p:nvSpPr>
        <p:spPr bwMode="auto">
          <a:xfrm>
            <a:off x="3409950" y="2920350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</a:p>
        </p:txBody>
      </p:sp>
      <p:pic>
        <p:nvPicPr>
          <p:cNvPr id="33806" name="Picture 40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1416987"/>
            <a:ext cx="71755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7" name="Picture 41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4261787"/>
            <a:ext cx="71755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130" name="Picture 42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725" y="3263250"/>
            <a:ext cx="71755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7157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055433"/>
              </p:ext>
            </p:extLst>
          </p:nvPr>
        </p:nvGraphicFramePr>
        <p:xfrm>
          <a:off x="6132802" y="1805797"/>
          <a:ext cx="395763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562100" imgH="254000" progId="Equation.3">
                  <p:embed/>
                </p:oleObj>
              </mc:Choice>
              <mc:Fallback>
                <p:oleObj name="Ecuación" r:id="rId5" imgW="15621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802" y="1805797"/>
                        <a:ext cx="395763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166" name="Text Box 78"/>
          <p:cNvSpPr txBox="1">
            <a:spLocks noChangeArrowheads="1"/>
          </p:cNvSpPr>
          <p:nvPr/>
        </p:nvSpPr>
        <p:spPr bwMode="auto">
          <a:xfrm>
            <a:off x="6232602" y="6070521"/>
            <a:ext cx="3903662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Supongamos,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p.ej., que es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negativa (no es relevante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</p:txBody>
      </p:sp>
      <p:graphicFrame>
        <p:nvGraphicFramePr>
          <p:cNvPr id="217202" name="Object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908138"/>
              </p:ext>
            </p:extLst>
          </p:nvPr>
        </p:nvGraphicFramePr>
        <p:xfrm>
          <a:off x="6512214" y="2584718"/>
          <a:ext cx="317658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396394" imgH="266584" progId="Equation.3">
                  <p:embed/>
                </p:oleObj>
              </mc:Choice>
              <mc:Fallback>
                <p:oleObj name="Ecuación" r:id="rId7" imgW="1396394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2214" y="2584718"/>
                        <a:ext cx="3176588" cy="6064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807" name="Group 63"/>
          <p:cNvGrpSpPr>
            <a:grpSpLocks/>
          </p:cNvGrpSpPr>
          <p:nvPr/>
        </p:nvGrpSpPr>
        <p:grpSpPr bwMode="auto">
          <a:xfrm>
            <a:off x="7528010" y="3316681"/>
            <a:ext cx="2730500" cy="1143000"/>
            <a:chOff x="1267" y="3365"/>
            <a:chExt cx="1720" cy="720"/>
          </a:xfrm>
        </p:grpSpPr>
        <p:sp>
          <p:nvSpPr>
            <p:cNvPr id="33833" name="Rectangle 51"/>
            <p:cNvSpPr>
              <a:spLocks noChangeArrowheads="1"/>
            </p:cNvSpPr>
            <p:nvPr/>
          </p:nvSpPr>
          <p:spPr bwMode="auto">
            <a:xfrm>
              <a:off x="1267" y="3365"/>
              <a:ext cx="1720" cy="720"/>
            </a:xfrm>
            <a:prstGeom prst="rect">
              <a:avLst/>
            </a:prstGeom>
            <a:noFill/>
            <a:ln w="38100" algn="ctr">
              <a:solidFill>
                <a:srgbClr val="99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3834" name="Object 54"/>
            <p:cNvGraphicFramePr>
              <a:graphicFrameLocks noChangeAspect="1"/>
            </p:cNvGraphicFramePr>
            <p:nvPr/>
          </p:nvGraphicFramePr>
          <p:xfrm>
            <a:off x="1374" y="3438"/>
            <a:ext cx="1483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180588" imgH="444307" progId="Equation.3">
                    <p:embed/>
                  </p:oleObj>
                </mc:Choice>
                <mc:Fallback>
                  <p:oleObj name="Ecuación" r:id="rId9" imgW="1180588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4" y="3438"/>
                          <a:ext cx="1483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CuadroTexto 4"/>
          <p:cNvSpPr txBox="1">
            <a:spLocks noChangeArrowheads="1"/>
          </p:cNvSpPr>
          <p:nvPr/>
        </p:nvSpPr>
        <p:spPr bwMode="auto">
          <a:xfrm>
            <a:off x="4506686" y="491137"/>
            <a:ext cx="6165857" cy="83099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/>
              <a:t>Trabajemos 1º con vectores y con </a:t>
            </a:r>
            <a:r>
              <a:rPr lang="es-ES" sz="2400"/>
              <a:t>su suma gráfica. </a:t>
            </a:r>
            <a:r>
              <a:rPr lang="es-ES" sz="2400" dirty="0"/>
              <a:t>Nos dará un </a:t>
            </a:r>
            <a:r>
              <a:rPr lang="es-ES" sz="2400" dirty="0">
                <a:solidFill>
                  <a:srgbClr val="3333FF"/>
                </a:solidFill>
              </a:rPr>
              <a:t>resultado cualitativo</a:t>
            </a:r>
          </a:p>
        </p:txBody>
      </p:sp>
      <p:sp>
        <p:nvSpPr>
          <p:cNvPr id="217165" name="Text Box 77"/>
          <p:cNvSpPr txBox="1">
            <a:spLocks noChangeArrowheads="1"/>
          </p:cNvSpPr>
          <p:nvPr/>
        </p:nvSpPr>
        <p:spPr bwMode="auto">
          <a:xfrm>
            <a:off x="6142169" y="4738142"/>
            <a:ext cx="4137128" cy="125340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Para dibujar, o evaluar,            las fuerzas, </a:t>
            </a:r>
            <a:r>
              <a:rPr lang="es-ES" sz="2400" dirty="0">
                <a:latin typeface="Arial" panose="020B0604020202020204" pitchFamily="34" charset="0"/>
              </a:rPr>
              <a:t>hace falta       una Q</a:t>
            </a:r>
            <a:r>
              <a:rPr lang="es-ES" sz="2400" baseline="-25000" dirty="0">
                <a:latin typeface="Arial" panose="020B0604020202020204" pitchFamily="34" charset="0"/>
              </a:rPr>
              <a:t>O</a:t>
            </a:r>
            <a:r>
              <a:rPr lang="es-ES" sz="2400" dirty="0">
                <a:latin typeface="Arial" panose="020B0604020202020204" pitchFamily="34" charset="0"/>
              </a:rPr>
              <a:t> en O que las sufra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1318616" y="510624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a)</a:t>
            </a:r>
          </a:p>
        </p:txBody>
      </p:sp>
      <p:sp>
        <p:nvSpPr>
          <p:cNvPr id="44" name="Text Box 25"/>
          <p:cNvSpPr txBox="1">
            <a:spLocks noChangeArrowheads="1"/>
          </p:cNvSpPr>
          <p:nvPr/>
        </p:nvSpPr>
        <p:spPr bwMode="auto">
          <a:xfrm>
            <a:off x="1812111" y="495813"/>
            <a:ext cx="963506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¿Q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28" name="Text Box 78">
            <a:extLst>
              <a:ext uri="{FF2B5EF4-FFF2-40B4-BE49-F238E27FC236}">
                <a16:creationId xmlns:a16="http://schemas.microsoft.com/office/drawing/2014/main" id="{BACA5F2C-DC61-41A9-A987-0DB34EB7E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098" y="3616148"/>
            <a:ext cx="137318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Como:</a:t>
            </a:r>
          </a:p>
        </p:txBody>
      </p:sp>
      <p:sp>
        <p:nvSpPr>
          <p:cNvPr id="2" name="Text Box 78">
            <a:extLst>
              <a:ext uri="{FF2B5EF4-FFF2-40B4-BE49-F238E27FC236}">
                <a16:creationId xmlns:a16="http://schemas.microsoft.com/office/drawing/2014/main" id="{F4A78FAC-4031-1ED9-52C4-4E196B38E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2321" y="5677583"/>
            <a:ext cx="4305983" cy="120251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</a:rPr>
              <a:t>Los vectores que vamos 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chemeClr val="bg1">
                    <a:lumMod val="10000"/>
                  </a:schemeClr>
                </a:solidFill>
                <a:latin typeface="Arial" panose="020B0604020202020204" pitchFamily="34" charset="0"/>
              </a:rPr>
              <a:t>pintar, empiezan, en verdad, en el centro de las cargas</a:t>
            </a:r>
            <a:endParaRPr lang="es-ES" sz="2400" dirty="0">
              <a:solidFill>
                <a:schemeClr val="bg1">
                  <a:lumMod val="1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78">
            <a:extLst>
              <a:ext uri="{FF2B5EF4-FFF2-40B4-BE49-F238E27FC236}">
                <a16:creationId xmlns:a16="http://schemas.microsoft.com/office/drawing/2014/main" id="{BBA9EE9A-912A-0990-6F92-B7F92821F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869" y="1270027"/>
            <a:ext cx="390366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(faltará información)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0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17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1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166" grpId="0"/>
      <p:bldP spid="5" grpId="0" animBg="1"/>
      <p:bldP spid="217165" grpId="0" animBg="1"/>
      <p:bldP spid="28" grpId="0"/>
      <p:bldP spid="2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Line 3"/>
          <p:cNvSpPr>
            <a:spLocks noChangeShapeType="1"/>
          </p:cNvSpPr>
          <p:nvPr/>
        </p:nvSpPr>
        <p:spPr bwMode="auto">
          <a:xfrm rot="14400000">
            <a:off x="2982912" y="2363136"/>
            <a:ext cx="3175" cy="294005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3795" name="Line 4"/>
          <p:cNvSpPr>
            <a:spLocks noChangeShapeType="1"/>
          </p:cNvSpPr>
          <p:nvPr/>
        </p:nvSpPr>
        <p:spPr bwMode="auto">
          <a:xfrm rot="7200000">
            <a:off x="3736975" y="2358373"/>
            <a:ext cx="3175" cy="294005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3796" name="Line 5"/>
          <p:cNvSpPr>
            <a:spLocks noChangeShapeType="1"/>
          </p:cNvSpPr>
          <p:nvPr/>
        </p:nvSpPr>
        <p:spPr bwMode="auto">
          <a:xfrm>
            <a:off x="3359150" y="1717023"/>
            <a:ext cx="3175" cy="287972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3797" name="AutoShape 10"/>
          <p:cNvSpPr>
            <a:spLocks noChangeArrowheads="1"/>
          </p:cNvSpPr>
          <p:nvPr/>
        </p:nvSpPr>
        <p:spPr bwMode="auto">
          <a:xfrm>
            <a:off x="1639888" y="1677335"/>
            <a:ext cx="3449637" cy="2930525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3801" name="Picture 1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4247498"/>
            <a:ext cx="71755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5" name="Text Box 23"/>
          <p:cNvSpPr txBox="1">
            <a:spLocks noChangeArrowheads="1"/>
          </p:cNvSpPr>
          <p:nvPr/>
        </p:nvSpPr>
        <p:spPr bwMode="auto">
          <a:xfrm>
            <a:off x="3409950" y="2920348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</a:p>
        </p:txBody>
      </p:sp>
      <p:pic>
        <p:nvPicPr>
          <p:cNvPr id="33806" name="Picture 40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1416985"/>
            <a:ext cx="71755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7" name="Picture 41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4261785"/>
            <a:ext cx="71755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130" name="Picture 42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725" y="3263248"/>
            <a:ext cx="71755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7164" name="Object 76"/>
          <p:cNvGraphicFramePr>
            <a:graphicFrameLocks noChangeAspect="1"/>
          </p:cNvGraphicFramePr>
          <p:nvPr/>
        </p:nvGraphicFramePr>
        <p:xfrm>
          <a:off x="3638550" y="4906522"/>
          <a:ext cx="6016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228501" imgH="215806" progId="Equation.3">
                  <p:embed/>
                </p:oleObj>
              </mc:Choice>
              <mc:Fallback>
                <p:oleObj name="Ecuación" r:id="rId5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4906522"/>
                        <a:ext cx="6016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67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334004"/>
              </p:ext>
            </p:extLst>
          </p:nvPr>
        </p:nvGraphicFramePr>
        <p:xfrm>
          <a:off x="1790736" y="1985310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215619" imgH="215619" progId="Equation.3">
                  <p:embed/>
                </p:oleObj>
              </mc:Choice>
              <mc:Fallback>
                <p:oleObj name="Ecuación" r:id="rId7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36" y="1985310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68" name="Object 80"/>
          <p:cNvGraphicFramePr>
            <a:graphicFrameLocks noChangeAspect="1"/>
          </p:cNvGraphicFramePr>
          <p:nvPr/>
        </p:nvGraphicFramePr>
        <p:xfrm>
          <a:off x="4162425" y="1985310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215619" imgH="215619" progId="Equation.3">
                  <p:embed/>
                </p:oleObj>
              </mc:Choice>
              <mc:Fallback>
                <p:oleObj name="Ecuación" r:id="rId9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1985310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92" name="Text Box 25"/>
          <p:cNvSpPr txBox="1">
            <a:spLocks noChangeArrowheads="1"/>
          </p:cNvSpPr>
          <p:nvPr/>
        </p:nvSpPr>
        <p:spPr bwMode="auto">
          <a:xfrm>
            <a:off x="8851471" y="5633414"/>
            <a:ext cx="1125409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&lt; 0</a:t>
            </a:r>
          </a:p>
        </p:txBody>
      </p:sp>
      <p:sp>
        <p:nvSpPr>
          <p:cNvPr id="217197" name="Line 109"/>
          <p:cNvSpPr>
            <a:spLocks noChangeShapeType="1"/>
          </p:cNvSpPr>
          <p:nvPr/>
        </p:nvSpPr>
        <p:spPr bwMode="auto">
          <a:xfrm rot="7200000">
            <a:off x="2562226" y="4035041"/>
            <a:ext cx="25400" cy="18510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graphicFrame>
        <p:nvGraphicFramePr>
          <p:cNvPr id="217198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941434"/>
              </p:ext>
            </p:extLst>
          </p:nvPr>
        </p:nvGraphicFramePr>
        <p:xfrm>
          <a:off x="1889665" y="4963308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215619" imgH="215619" progId="Equation.3">
                  <p:embed/>
                </p:oleObj>
              </mc:Choice>
              <mc:Fallback>
                <p:oleObj name="Ecuación" r:id="rId11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665" y="4963308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66 CuadroTexto"/>
          <p:cNvSpPr txBox="1">
            <a:spLocks noChangeArrowheads="1"/>
          </p:cNvSpPr>
          <p:nvPr/>
        </p:nvSpPr>
        <p:spPr bwMode="auto">
          <a:xfrm>
            <a:off x="5669850" y="1889697"/>
            <a:ext cx="47799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Como</a:t>
            </a:r>
            <a:r>
              <a:rPr lang="es-ES" sz="2400" b="1" dirty="0">
                <a:latin typeface="Arial" panose="020B0604020202020204" pitchFamily="34" charset="0"/>
              </a:rPr>
              <a:t>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CO</a:t>
            </a:r>
            <a:r>
              <a:rPr lang="es-ES" sz="2400" dirty="0">
                <a:latin typeface="Arial" panose="020B0604020202020204" pitchFamily="34" charset="0"/>
              </a:rPr>
              <a:t> debe estar en la recta que une las cargas Q</a:t>
            </a:r>
            <a:r>
              <a:rPr lang="es-ES" sz="2400" baseline="-25000" dirty="0">
                <a:latin typeface="Arial" panose="020B0604020202020204" pitchFamily="34" charset="0"/>
              </a:rPr>
              <a:t>C</a:t>
            </a:r>
            <a:r>
              <a:rPr lang="es-ES" sz="2400" dirty="0">
                <a:latin typeface="Arial" panose="020B0604020202020204" pitchFamily="34" charset="0"/>
              </a:rPr>
              <a:t> y Q</a:t>
            </a:r>
            <a:r>
              <a:rPr lang="es-ES" sz="2400" baseline="-25000" dirty="0">
                <a:latin typeface="Arial" panose="020B0604020202020204" pitchFamily="34" charset="0"/>
              </a:rPr>
              <a:t>O</a:t>
            </a:r>
            <a:r>
              <a:rPr lang="es-ES" sz="24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" name="66 CuadroTexto"/>
          <p:cNvSpPr txBox="1">
            <a:spLocks noChangeArrowheads="1"/>
          </p:cNvSpPr>
          <p:nvPr/>
        </p:nvSpPr>
        <p:spPr bwMode="auto">
          <a:xfrm>
            <a:off x="5673108" y="3694838"/>
            <a:ext cx="47799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FF00FF"/>
                </a:solidFill>
                <a:latin typeface="Arial" panose="020B0604020202020204" pitchFamily="34" charset="0"/>
              </a:rPr>
              <a:t>suma de </a:t>
            </a:r>
            <a:r>
              <a:rPr lang="es-E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FF00FF"/>
                </a:solidFill>
                <a:latin typeface="Arial" panose="020B0604020202020204" pitchFamily="34" charset="0"/>
              </a:rPr>
              <a:t>AO</a:t>
            </a:r>
            <a:r>
              <a:rPr lang="es-ES" sz="2400" dirty="0">
                <a:solidFill>
                  <a:srgbClr val="FF00FF"/>
                </a:solidFill>
                <a:latin typeface="Arial" panose="020B0604020202020204" pitchFamily="34" charset="0"/>
              </a:rPr>
              <a:t> y </a:t>
            </a:r>
            <a:r>
              <a:rPr lang="es-E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FF00FF"/>
                </a:solidFill>
                <a:latin typeface="Arial" panose="020B0604020202020204" pitchFamily="34" charset="0"/>
              </a:rPr>
              <a:t>BO</a:t>
            </a:r>
            <a:r>
              <a:rPr lang="es-ES" sz="2400" dirty="0">
                <a:solidFill>
                  <a:srgbClr val="FF00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también,                 al ser opuesta a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CO</a:t>
            </a:r>
            <a:r>
              <a:rPr lang="es-ES" sz="2400" b="1" dirty="0">
                <a:latin typeface="Arial" panose="020B0604020202020204" pitchFamily="34" charset="0"/>
              </a:rPr>
              <a:t>.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31811" name="Group 67"/>
          <p:cNvGrpSpPr>
            <a:grpSpLocks/>
          </p:cNvGrpSpPr>
          <p:nvPr/>
        </p:nvGrpSpPr>
        <p:grpSpPr bwMode="auto">
          <a:xfrm>
            <a:off x="5711413" y="5577852"/>
            <a:ext cx="3065471" cy="568325"/>
            <a:chOff x="3471" y="3988"/>
            <a:chExt cx="1931" cy="358"/>
          </a:xfrm>
        </p:grpSpPr>
        <p:graphicFrame>
          <p:nvGraphicFramePr>
            <p:cNvPr id="33830" name="Object 83"/>
            <p:cNvGraphicFramePr>
              <a:graphicFrameLocks noChangeAspect="1"/>
            </p:cNvGraphicFramePr>
            <p:nvPr/>
          </p:nvGraphicFramePr>
          <p:xfrm>
            <a:off x="4726" y="3988"/>
            <a:ext cx="358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2" imgW="215619" imgH="215619" progId="Equation.3">
                    <p:embed/>
                  </p:oleObj>
                </mc:Choice>
                <mc:Fallback>
                  <p:oleObj name="Ecuación" r:id="rId12" imgW="215619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6" y="3988"/>
                          <a:ext cx="358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1" name="Text Box 84"/>
            <p:cNvSpPr txBox="1">
              <a:spLocks noChangeArrowheads="1"/>
            </p:cNvSpPr>
            <p:nvPr/>
          </p:nvSpPr>
          <p:spPr bwMode="auto">
            <a:xfrm>
              <a:off x="5097" y="4023"/>
              <a:ext cx="30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33832" name="Text Box 65"/>
            <p:cNvSpPr txBox="1">
              <a:spLocks noChangeArrowheads="1"/>
            </p:cNvSpPr>
            <p:nvPr/>
          </p:nvSpPr>
          <p:spPr bwMode="auto">
            <a:xfrm>
              <a:off x="3471" y="4028"/>
              <a:ext cx="1236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El sentido de</a:t>
              </a:r>
            </a:p>
          </p:txBody>
        </p:sp>
      </p:grpSp>
      <p:graphicFrame>
        <p:nvGraphicFramePr>
          <p:cNvPr id="3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095940"/>
              </p:ext>
            </p:extLst>
          </p:nvPr>
        </p:nvGraphicFramePr>
        <p:xfrm>
          <a:off x="1373180" y="3455561"/>
          <a:ext cx="1328746" cy="517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685502" imgH="266584" progId="Equation.3">
                  <p:embed/>
                </p:oleObj>
              </mc:Choice>
              <mc:Fallback>
                <p:oleObj name="Ecuación" r:id="rId14" imgW="685502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0" y="3455561"/>
                        <a:ext cx="1328746" cy="517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15" name="Text Box 71"/>
          <p:cNvSpPr txBox="1">
            <a:spLocks noChangeArrowheads="1"/>
          </p:cNvSpPr>
          <p:nvPr/>
        </p:nvSpPr>
        <p:spPr bwMode="auto">
          <a:xfrm>
            <a:off x="6395675" y="6307789"/>
            <a:ext cx="3419307" cy="514738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Pero, ¿qué valor tiene?</a:t>
            </a:r>
          </a:p>
        </p:txBody>
      </p:sp>
      <p:sp>
        <p:nvSpPr>
          <p:cNvPr id="41" name="66 CuadroTexto"/>
          <p:cNvSpPr txBox="1">
            <a:spLocks noChangeArrowheads="1"/>
          </p:cNvSpPr>
          <p:nvPr/>
        </p:nvSpPr>
        <p:spPr bwMode="auto">
          <a:xfrm>
            <a:off x="5676320" y="4644702"/>
            <a:ext cx="397091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Y viceversa: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CO</a:t>
            </a:r>
            <a:r>
              <a:rPr lang="es-ES" sz="2400" dirty="0">
                <a:latin typeface="Arial" panose="020B0604020202020204" pitchFamily="34" charset="0"/>
              </a:rPr>
              <a:t> debe ser opuesta a esa suma.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5612820" y="2889661"/>
            <a:ext cx="4034418" cy="606425"/>
            <a:chOff x="5612820" y="3166301"/>
            <a:chExt cx="4034418" cy="606425"/>
          </a:xfrm>
        </p:grpSpPr>
        <p:graphicFrame>
          <p:nvGraphicFramePr>
            <p:cNvPr id="217202" name="Object 114"/>
            <p:cNvGraphicFramePr>
              <a:graphicFrameLocks noChangeAspect="1"/>
            </p:cNvGraphicFramePr>
            <p:nvPr/>
          </p:nvGraphicFramePr>
          <p:xfrm>
            <a:off x="6470650" y="3166301"/>
            <a:ext cx="3176588" cy="606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6" imgW="1396394" imgH="266584" progId="Equation.3">
                    <p:embed/>
                  </p:oleObj>
                </mc:Choice>
                <mc:Fallback>
                  <p:oleObj name="Ecuación" r:id="rId16" imgW="1396394" imgH="26658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0650" y="3166301"/>
                          <a:ext cx="3176588" cy="606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66 CuadroTexto"/>
            <p:cNvSpPr txBox="1">
              <a:spLocks noChangeArrowheads="1"/>
            </p:cNvSpPr>
            <p:nvPr/>
          </p:nvSpPr>
          <p:spPr bwMode="auto">
            <a:xfrm>
              <a:off x="5612820" y="3264741"/>
              <a:ext cx="68161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Si:</a:t>
              </a:r>
            </a:p>
          </p:txBody>
        </p:sp>
      </p:grpSp>
      <p:grpSp>
        <p:nvGrpSpPr>
          <p:cNvPr id="50" name="Group 63"/>
          <p:cNvGrpSpPr>
            <a:grpSpLocks/>
          </p:cNvGrpSpPr>
          <p:nvPr/>
        </p:nvGrpSpPr>
        <p:grpSpPr bwMode="auto">
          <a:xfrm>
            <a:off x="5797007" y="448278"/>
            <a:ext cx="2730500" cy="1143000"/>
            <a:chOff x="1267" y="3365"/>
            <a:chExt cx="1720" cy="720"/>
          </a:xfrm>
        </p:grpSpPr>
        <p:sp>
          <p:nvSpPr>
            <p:cNvPr id="51" name="Rectangle 51"/>
            <p:cNvSpPr>
              <a:spLocks noChangeArrowheads="1"/>
            </p:cNvSpPr>
            <p:nvPr/>
          </p:nvSpPr>
          <p:spPr bwMode="auto">
            <a:xfrm>
              <a:off x="1267" y="3365"/>
              <a:ext cx="1720" cy="720"/>
            </a:xfrm>
            <a:prstGeom prst="rect">
              <a:avLst/>
            </a:prstGeom>
            <a:noFill/>
            <a:ln w="38100" algn="ctr">
              <a:solidFill>
                <a:srgbClr val="99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2" name="Object 54"/>
            <p:cNvGraphicFramePr>
              <a:graphicFrameLocks noChangeAspect="1"/>
            </p:cNvGraphicFramePr>
            <p:nvPr/>
          </p:nvGraphicFramePr>
          <p:xfrm>
            <a:off x="1374" y="3438"/>
            <a:ext cx="1483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8" imgW="1180588" imgH="444307" progId="Equation.3">
                    <p:embed/>
                  </p:oleObj>
                </mc:Choice>
                <mc:Fallback>
                  <p:oleObj name="Ecuación" r:id="rId18" imgW="1180588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4" y="3438"/>
                          <a:ext cx="1483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66 CuadroTexto">
            <a:extLst>
              <a:ext uri="{FF2B5EF4-FFF2-40B4-BE49-F238E27FC236}">
                <a16:creationId xmlns:a16="http://schemas.microsoft.com/office/drawing/2014/main" id="{773C36E3-70AE-434B-B12B-28EB0FEEC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7810" y="419772"/>
            <a:ext cx="1681958" cy="120032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Pintemos</a:t>
            </a:r>
            <a:r>
              <a:rPr lang="es-ES" sz="2400" b="1" dirty="0">
                <a:latin typeface="Arial" panose="020B0604020202020204" pitchFamily="34" charset="0"/>
              </a:rPr>
              <a:t> F</a:t>
            </a:r>
            <a:r>
              <a:rPr lang="es-ES" sz="2400" b="1" baseline="-25000" dirty="0">
                <a:latin typeface="Arial" panose="020B0604020202020204" pitchFamily="34" charset="0"/>
              </a:rPr>
              <a:t>AO </a:t>
            </a:r>
            <a:r>
              <a:rPr lang="es-ES" sz="2400" dirty="0">
                <a:latin typeface="Arial" panose="020B0604020202020204" pitchFamily="34" charset="0"/>
              </a:rPr>
              <a:t>y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</a:rPr>
              <a:t>BO</a:t>
            </a:r>
            <a:r>
              <a:rPr lang="es-ES" sz="2400" dirty="0">
                <a:latin typeface="Arial" panose="020B0604020202020204" pitchFamily="34" charset="0"/>
              </a:rPr>
              <a:t>, y su suma</a:t>
            </a:r>
          </a:p>
        </p:txBody>
      </p:sp>
      <p:sp>
        <p:nvSpPr>
          <p:cNvPr id="43" name="Text Box 11">
            <a:extLst>
              <a:ext uri="{FF2B5EF4-FFF2-40B4-BE49-F238E27FC236}">
                <a16:creationId xmlns:a16="http://schemas.microsoft.com/office/drawing/2014/main" id="{721C8CEB-2E8F-49DF-891E-C23040DA8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25" y="971832"/>
            <a:ext cx="349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44" name="Text Box 12">
            <a:extLst>
              <a:ext uri="{FF2B5EF4-FFF2-40B4-BE49-F238E27FC236}">
                <a16:creationId xmlns:a16="http://schemas.microsoft.com/office/drawing/2014/main" id="{F1336215-4720-4D81-9FD5-68FA46F1D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0138" y="5027685"/>
            <a:ext cx="350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47" name="Text Box 13">
            <a:extLst>
              <a:ext uri="{FF2B5EF4-FFF2-40B4-BE49-F238E27FC236}">
                <a16:creationId xmlns:a16="http://schemas.microsoft.com/office/drawing/2014/main" id="{6759FF05-A21A-4B79-85F3-C43D77C0C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8451" y="5033658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217106" name="Line 18"/>
          <p:cNvSpPr>
            <a:spLocks noChangeShapeType="1"/>
          </p:cNvSpPr>
          <p:nvPr/>
        </p:nvSpPr>
        <p:spPr bwMode="auto">
          <a:xfrm rot="7200000">
            <a:off x="2382838" y="2336147"/>
            <a:ext cx="6350" cy="143827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217109" name="Line 21"/>
          <p:cNvSpPr>
            <a:spLocks noChangeShapeType="1"/>
          </p:cNvSpPr>
          <p:nvPr/>
        </p:nvSpPr>
        <p:spPr bwMode="auto">
          <a:xfrm rot="14400000">
            <a:off x="4358482" y="2313129"/>
            <a:ext cx="7937" cy="143827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217107" name="Line 19"/>
          <p:cNvSpPr>
            <a:spLocks noChangeShapeType="1"/>
          </p:cNvSpPr>
          <p:nvPr/>
        </p:nvSpPr>
        <p:spPr bwMode="auto">
          <a:xfrm>
            <a:off x="3375025" y="3979210"/>
            <a:ext cx="6350" cy="1409700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217195" name="Line 107"/>
          <p:cNvSpPr>
            <a:spLocks noChangeShapeType="1"/>
          </p:cNvSpPr>
          <p:nvPr/>
        </p:nvSpPr>
        <p:spPr bwMode="auto">
          <a:xfrm rot="14400000" flipH="1" flipV="1">
            <a:off x="2397919" y="3441841"/>
            <a:ext cx="7938" cy="1438275"/>
          </a:xfrm>
          <a:prstGeom prst="line">
            <a:avLst/>
          </a:prstGeom>
          <a:noFill/>
          <a:ln w="76200">
            <a:solidFill>
              <a:srgbClr val="FF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148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7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7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7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7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1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7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7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1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7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7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1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92" grpId="0" animBg="1"/>
      <p:bldP spid="217197" grpId="0" animBg="1"/>
      <p:bldP spid="67" grpId="0"/>
      <p:bldP spid="2" grpId="0"/>
      <p:bldP spid="31815" grpId="0"/>
      <p:bldP spid="41" grpId="0"/>
      <p:bldP spid="42" grpId="0" animBg="1"/>
      <p:bldP spid="217106" grpId="0" animBg="1"/>
      <p:bldP spid="217109" grpId="0" animBg="1"/>
      <p:bldP spid="217107" grpId="0" animBg="1"/>
      <p:bldP spid="21719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/>
          <p:cNvSpPr txBox="1">
            <a:spLocks noChangeArrowheads="1"/>
          </p:cNvSpPr>
          <p:nvPr/>
        </p:nvSpPr>
        <p:spPr bwMode="auto">
          <a:xfrm>
            <a:off x="1278256" y="5267171"/>
            <a:ext cx="4581521" cy="162273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/>
              <a:t>Como hay simetría respecto a la dirección de </a:t>
            </a:r>
            <a:r>
              <a:rPr lang="es-ES" sz="2400" b="1" dirty="0"/>
              <a:t>F</a:t>
            </a:r>
            <a:r>
              <a:rPr lang="es-ES" sz="2400" b="1" baseline="-25000" dirty="0"/>
              <a:t>CO</a:t>
            </a:r>
            <a:r>
              <a:rPr lang="es-ES" sz="2400" dirty="0"/>
              <a:t>, el mejor </a:t>
            </a:r>
            <a:r>
              <a:rPr lang="es-ES" sz="2400" dirty="0">
                <a:solidFill>
                  <a:srgbClr val="3333FF"/>
                </a:solidFill>
              </a:rPr>
              <a:t>sistema de </a:t>
            </a:r>
            <a:r>
              <a:rPr lang="es-ES" sz="2400">
                <a:solidFill>
                  <a:srgbClr val="3333FF"/>
                </a:solidFill>
              </a:rPr>
              <a:t>referencia</a:t>
            </a:r>
            <a:r>
              <a:rPr lang="es-ES" sz="2400"/>
              <a:t> para descomponer es el indicado</a:t>
            </a:r>
            <a:endParaRPr lang="es-ES" sz="2400" dirty="0"/>
          </a:p>
        </p:txBody>
      </p:sp>
      <p:grpSp>
        <p:nvGrpSpPr>
          <p:cNvPr id="33904" name="Group 112"/>
          <p:cNvGrpSpPr>
            <a:grpSpLocks/>
          </p:cNvGrpSpPr>
          <p:nvPr/>
        </p:nvGrpSpPr>
        <p:grpSpPr bwMode="auto">
          <a:xfrm>
            <a:off x="964001" y="1249314"/>
            <a:ext cx="4718069" cy="4143375"/>
            <a:chOff x="637" y="578"/>
            <a:chExt cx="2973" cy="2610"/>
          </a:xfrm>
        </p:grpSpPr>
        <p:sp>
          <p:nvSpPr>
            <p:cNvPr id="35907" name="Line 24"/>
            <p:cNvSpPr>
              <a:spLocks noChangeShapeType="1"/>
            </p:cNvSpPr>
            <p:nvPr/>
          </p:nvSpPr>
          <p:spPr bwMode="auto">
            <a:xfrm rot="3600000" flipH="1" flipV="1">
              <a:off x="2104" y="426"/>
              <a:ext cx="40" cy="2973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5908" name="Line 23"/>
            <p:cNvSpPr>
              <a:spLocks noChangeShapeType="1"/>
            </p:cNvSpPr>
            <p:nvPr/>
          </p:nvSpPr>
          <p:spPr bwMode="auto">
            <a:xfrm rot="19800000" flipV="1">
              <a:off x="2043" y="578"/>
              <a:ext cx="39" cy="261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</p:grpSp>
      <p:sp>
        <p:nvSpPr>
          <p:cNvPr id="35849" name="Line 6"/>
          <p:cNvSpPr>
            <a:spLocks noChangeAspect="1" noChangeShapeType="1"/>
          </p:cNvSpPr>
          <p:nvPr/>
        </p:nvSpPr>
        <p:spPr bwMode="auto">
          <a:xfrm rot="14400000">
            <a:off x="2872713" y="2244757"/>
            <a:ext cx="0" cy="2751976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0" name="AutoShape 9"/>
          <p:cNvSpPr>
            <a:spLocks noChangeAspect="1" noChangeArrowheads="1"/>
          </p:cNvSpPr>
          <p:nvPr/>
        </p:nvSpPr>
        <p:spPr bwMode="auto">
          <a:xfrm>
            <a:off x="1684748" y="1453467"/>
            <a:ext cx="3159125" cy="288290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5851" name="Picture 59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124" y="3987732"/>
            <a:ext cx="690562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2" name="Line 7"/>
          <p:cNvSpPr>
            <a:spLocks noChangeAspect="1" noChangeShapeType="1"/>
          </p:cNvSpPr>
          <p:nvPr/>
        </p:nvSpPr>
        <p:spPr bwMode="auto">
          <a:xfrm rot="7200000">
            <a:off x="3629436" y="2234517"/>
            <a:ext cx="0" cy="2692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3" name="Line 8"/>
          <p:cNvSpPr>
            <a:spLocks noChangeAspect="1" noChangeShapeType="1"/>
          </p:cNvSpPr>
          <p:nvPr/>
        </p:nvSpPr>
        <p:spPr bwMode="auto">
          <a:xfrm>
            <a:off x="3261136" y="1494742"/>
            <a:ext cx="0" cy="28321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4" name="Text Box 10"/>
          <p:cNvSpPr txBox="1">
            <a:spLocks noChangeAspect="1" noChangeArrowheads="1"/>
          </p:cNvSpPr>
          <p:nvPr/>
        </p:nvSpPr>
        <p:spPr bwMode="auto">
          <a:xfrm>
            <a:off x="3046869" y="760548"/>
            <a:ext cx="35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5855" name="Text Box 12"/>
          <p:cNvSpPr txBox="1">
            <a:spLocks noChangeAspect="1" noChangeArrowheads="1"/>
          </p:cNvSpPr>
          <p:nvPr/>
        </p:nvSpPr>
        <p:spPr bwMode="auto">
          <a:xfrm>
            <a:off x="1507517" y="4688583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35856" name="Line 17"/>
          <p:cNvSpPr>
            <a:spLocks noChangeAspect="1" noChangeShapeType="1"/>
          </p:cNvSpPr>
          <p:nvPr/>
        </p:nvSpPr>
        <p:spPr bwMode="auto">
          <a:xfrm rot="7200000">
            <a:off x="2365786" y="2163079"/>
            <a:ext cx="6350" cy="13176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7" name="Line 19"/>
          <p:cNvSpPr>
            <a:spLocks noChangeAspect="1" noChangeShapeType="1"/>
          </p:cNvSpPr>
          <p:nvPr/>
        </p:nvSpPr>
        <p:spPr bwMode="auto">
          <a:xfrm rot="14400000">
            <a:off x="4189521" y="2173238"/>
            <a:ext cx="7937" cy="13176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8" name="Text Box 21"/>
          <p:cNvSpPr txBox="1">
            <a:spLocks noChangeAspect="1" noChangeArrowheads="1"/>
          </p:cNvSpPr>
          <p:nvPr/>
        </p:nvSpPr>
        <p:spPr bwMode="auto">
          <a:xfrm>
            <a:off x="3302411" y="2591499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35861" name="Text Box 11"/>
          <p:cNvSpPr txBox="1">
            <a:spLocks noChangeAspect="1" noChangeArrowheads="1"/>
          </p:cNvSpPr>
          <p:nvPr/>
        </p:nvSpPr>
        <p:spPr bwMode="auto">
          <a:xfrm>
            <a:off x="4663492" y="4662279"/>
            <a:ext cx="350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pic>
        <p:nvPicPr>
          <p:cNvPr id="35863" name="Picture 5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711" y="1164542"/>
            <a:ext cx="692150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4" name="Picture 6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048" y="3971242"/>
            <a:ext cx="690563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6709" name="Object 101"/>
              <p:cNvSpPr txBox="1"/>
              <p:nvPr/>
            </p:nvSpPr>
            <p:spPr bwMode="auto">
              <a:xfrm>
                <a:off x="5487579" y="1703250"/>
                <a:ext cx="1987592" cy="5683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</m:acc>
                        </m:e>
                        <m:sub>
                          <m: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acc>
                        <m:accPr>
                          <m:chr m:val="⃗"/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 ⇒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196709" name="Object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7579" y="1703250"/>
                <a:ext cx="1987592" cy="5683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870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762006"/>
              </p:ext>
            </p:extLst>
          </p:nvPr>
        </p:nvGraphicFramePr>
        <p:xfrm>
          <a:off x="2478499" y="4639807"/>
          <a:ext cx="6016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228501" imgH="215806" progId="Equation.3">
                  <p:embed/>
                </p:oleObj>
              </mc:Choice>
              <mc:Fallback>
                <p:oleObj name="Ecuación" r:id="rId6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499" y="4639807"/>
                        <a:ext cx="60166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1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170156"/>
              </p:ext>
            </p:extLst>
          </p:nvPr>
        </p:nvGraphicFramePr>
        <p:xfrm>
          <a:off x="1219611" y="1790017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215619" imgH="215619" progId="Equation.3">
                  <p:embed/>
                </p:oleObj>
              </mc:Choice>
              <mc:Fallback>
                <p:oleObj name="Ecuación" r:id="rId8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611" y="1790017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2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701491"/>
              </p:ext>
            </p:extLst>
          </p:nvPr>
        </p:nvGraphicFramePr>
        <p:xfrm>
          <a:off x="4364448" y="1723342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215619" imgH="215619" progId="Equation.3">
                  <p:embed/>
                </p:oleObj>
              </mc:Choice>
              <mc:Fallback>
                <p:oleObj name="Ecuación" r:id="rId10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448" y="1723342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4" name="Line 18"/>
          <p:cNvSpPr>
            <a:spLocks noChangeAspect="1" noChangeShapeType="1"/>
          </p:cNvSpPr>
          <p:nvPr/>
        </p:nvSpPr>
        <p:spPr bwMode="auto">
          <a:xfrm>
            <a:off x="3264311" y="3734704"/>
            <a:ext cx="6350" cy="138747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70" name="CuadroTexto 69"/>
          <p:cNvSpPr txBox="1">
            <a:spLocks noChangeArrowheads="1"/>
          </p:cNvSpPr>
          <p:nvPr/>
        </p:nvSpPr>
        <p:spPr bwMode="auto">
          <a:xfrm>
            <a:off x="4663492" y="328055"/>
            <a:ext cx="5648746" cy="125340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/>
              <a:t>Para tener un </a:t>
            </a:r>
            <a:r>
              <a:rPr lang="es-ES" sz="2400">
                <a:solidFill>
                  <a:srgbClr val="3333FF"/>
                </a:solidFill>
              </a:rPr>
              <a:t>resultado cuantitativo</a:t>
            </a:r>
            <a:r>
              <a:rPr lang="es-ES" sz="2400"/>
              <a:t>,</a:t>
            </a:r>
          </a:p>
          <a:p>
            <a:pPr algn="ctr"/>
            <a:r>
              <a:rPr lang="es-ES" sz="2400"/>
              <a:t>trabajemos con módulos y sumemos descomponiendo en componentes</a:t>
            </a:r>
          </a:p>
        </p:txBody>
      </p:sp>
      <p:sp>
        <p:nvSpPr>
          <p:cNvPr id="35885" name="Text Box 21"/>
          <p:cNvSpPr txBox="1">
            <a:spLocks noChangeAspect="1" noChangeArrowheads="1"/>
          </p:cNvSpPr>
          <p:nvPr/>
        </p:nvSpPr>
        <p:spPr bwMode="auto">
          <a:xfrm>
            <a:off x="3905661" y="3345767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</a:p>
        </p:txBody>
      </p:sp>
      <p:pic>
        <p:nvPicPr>
          <p:cNvPr id="73" name="Imagen 7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502" y="3001748"/>
            <a:ext cx="705162" cy="714823"/>
          </a:xfrm>
          <a:prstGeom prst="rect">
            <a:avLst/>
          </a:prstGeom>
        </p:spPr>
      </p:pic>
      <p:sp>
        <p:nvSpPr>
          <p:cNvPr id="78" name="CuadroTexto 77"/>
          <p:cNvSpPr txBox="1">
            <a:spLocks noChangeArrowheads="1"/>
          </p:cNvSpPr>
          <p:nvPr/>
        </p:nvSpPr>
        <p:spPr bwMode="auto">
          <a:xfrm>
            <a:off x="5984804" y="4465501"/>
            <a:ext cx="4648724" cy="236139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/>
              <a:t>Para obtener el módulo del</a:t>
            </a:r>
          </a:p>
          <a:p>
            <a:pPr algn="ctr"/>
            <a:r>
              <a:rPr lang="es-ES" sz="2400" dirty="0"/>
              <a:t>2º miembro, hay que obtener las componentes del vector suma antes</a:t>
            </a:r>
            <a:r>
              <a:rPr lang="es-ES" sz="2400"/>
              <a:t>. Para ello, hay </a:t>
            </a:r>
            <a:r>
              <a:rPr lang="es-ES" sz="2400" dirty="0"/>
              <a:t>que sumar las correspondientes de los vectores tras descomponerlos</a:t>
            </a:r>
          </a:p>
        </p:txBody>
      </p:sp>
      <p:grpSp>
        <p:nvGrpSpPr>
          <p:cNvPr id="79" name="Group 97"/>
          <p:cNvGrpSpPr>
            <a:grpSpLocks/>
          </p:cNvGrpSpPr>
          <p:nvPr/>
        </p:nvGrpSpPr>
        <p:grpSpPr bwMode="auto">
          <a:xfrm>
            <a:off x="7748526" y="3003000"/>
            <a:ext cx="2533650" cy="1284287"/>
            <a:chOff x="1259" y="3435"/>
            <a:chExt cx="1596" cy="809"/>
          </a:xfrm>
        </p:grpSpPr>
        <p:sp>
          <p:nvSpPr>
            <p:cNvPr id="80" name="Rectangle 51"/>
            <p:cNvSpPr>
              <a:spLocks noChangeArrowheads="1"/>
            </p:cNvSpPr>
            <p:nvPr/>
          </p:nvSpPr>
          <p:spPr bwMode="auto">
            <a:xfrm>
              <a:off x="1259" y="3435"/>
              <a:ext cx="1596" cy="809"/>
            </a:xfrm>
            <a:prstGeom prst="rect">
              <a:avLst/>
            </a:prstGeom>
            <a:noFill/>
            <a:ln w="38100" algn="ctr">
              <a:solidFill>
                <a:srgbClr val="99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81" name="Object 60"/>
            <p:cNvGraphicFramePr>
              <a:graphicFrameLocks noChangeAspect="1"/>
            </p:cNvGraphicFramePr>
            <p:nvPr/>
          </p:nvGraphicFramePr>
          <p:xfrm>
            <a:off x="1343" y="3552"/>
            <a:ext cx="1411" cy="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1117600" imgH="469900" progId="Equation.3">
                    <p:embed/>
                  </p:oleObj>
                </mc:Choice>
                <mc:Fallback>
                  <p:oleObj name="Ecuación" r:id="rId13" imgW="1117600" imgH="469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3" y="3552"/>
                          <a:ext cx="1411" cy="5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Text Box 78">
            <a:extLst>
              <a:ext uri="{FF2B5EF4-FFF2-40B4-BE49-F238E27FC236}">
                <a16:creationId xmlns:a16="http://schemas.microsoft.com/office/drawing/2014/main" id="{DC13ECDA-BBF9-4E41-B69C-294EE98CC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625" y="3071009"/>
            <a:ext cx="1705314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Para |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 b="1" baseline="-25000">
                <a:latin typeface="Arial" panose="020B0604020202020204" pitchFamily="34" charset="0"/>
              </a:rPr>
              <a:t>C0</a:t>
            </a:r>
            <a:r>
              <a:rPr lang="es-ES" sz="2400">
                <a:latin typeface="Arial" panose="020B0604020202020204" pitchFamily="34" charset="0"/>
              </a:rPr>
              <a:t>| tenemos: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40" name="Line 107">
            <a:extLst>
              <a:ext uri="{FF2B5EF4-FFF2-40B4-BE49-F238E27FC236}">
                <a16:creationId xmlns:a16="http://schemas.microsoft.com/office/drawing/2014/main" id="{7A988AA9-3372-48ED-B4DD-EC8F43957872}"/>
              </a:ext>
            </a:extLst>
          </p:cNvPr>
          <p:cNvSpPr>
            <a:spLocks noChangeShapeType="1"/>
          </p:cNvSpPr>
          <p:nvPr/>
        </p:nvSpPr>
        <p:spPr bwMode="auto">
          <a:xfrm rot="14400000" flipH="1" flipV="1">
            <a:off x="2397919" y="3177233"/>
            <a:ext cx="7938" cy="1438275"/>
          </a:xfrm>
          <a:prstGeom prst="line">
            <a:avLst/>
          </a:prstGeom>
          <a:noFill/>
          <a:ln w="76200">
            <a:solidFill>
              <a:srgbClr val="FF00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graphicFrame>
        <p:nvGraphicFramePr>
          <p:cNvPr id="41" name="Object 76">
            <a:extLst>
              <a:ext uri="{FF2B5EF4-FFF2-40B4-BE49-F238E27FC236}">
                <a16:creationId xmlns:a16="http://schemas.microsoft.com/office/drawing/2014/main" id="{809BF84A-694C-4BEF-8871-A08D0BFD8F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01537"/>
              </p:ext>
            </p:extLst>
          </p:nvPr>
        </p:nvGraphicFramePr>
        <p:xfrm>
          <a:off x="1373180" y="3190953"/>
          <a:ext cx="1328746" cy="517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5" imgW="685502" imgH="266584" progId="Equation.3">
                  <p:embed/>
                </p:oleObj>
              </mc:Choice>
              <mc:Fallback>
                <p:oleObj name="Ecuación" r:id="rId15" imgW="685502" imgH="266584" progId="Equation.3">
                  <p:embed/>
                  <p:pic>
                    <p:nvPicPr>
                      <p:cNvPr id="3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0" y="3190953"/>
                        <a:ext cx="1328746" cy="517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101">
                <a:extLst>
                  <a:ext uri="{FF2B5EF4-FFF2-40B4-BE49-F238E27FC236}">
                    <a16:creationId xmlns:a16="http://schemas.microsoft.com/office/drawing/2014/main" id="{1FBD673C-7C7C-4233-87B8-BAA04B4765C2}"/>
                  </a:ext>
                </a:extLst>
              </p:cNvPr>
              <p:cNvSpPr txBox="1"/>
              <p:nvPr/>
            </p:nvSpPr>
            <p:spPr bwMode="auto">
              <a:xfrm>
                <a:off x="7007647" y="2292305"/>
                <a:ext cx="2955059" cy="6138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s-E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</m:t>
                              </m:r>
                            </m:sub>
                          </m:sSub>
                        </m:e>
                      </m:d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s-E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AO</m:t>
                              </m:r>
                            </m:sub>
                          </m:sSub>
                          <m: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s-E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BO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37" name="Object 101">
                <a:extLst>
                  <a:ext uri="{FF2B5EF4-FFF2-40B4-BE49-F238E27FC236}">
                    <a16:creationId xmlns:a16="http://schemas.microsoft.com/office/drawing/2014/main" id="{1FBD673C-7C7C-4233-87B8-BAA04B476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07647" y="2292305"/>
                <a:ext cx="2955059" cy="61380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114">
                <a:extLst>
                  <a:ext uri="{FF2B5EF4-FFF2-40B4-BE49-F238E27FC236}">
                    <a16:creationId xmlns:a16="http://schemas.microsoft.com/office/drawing/2014/main" id="{E4C3BCE3-76DA-4852-988A-F2C5742D5D5B}"/>
                  </a:ext>
                </a:extLst>
              </p:cNvPr>
              <p:cNvSpPr txBox="1"/>
              <p:nvPr/>
            </p:nvSpPr>
            <p:spPr bwMode="auto">
              <a:xfrm>
                <a:off x="7101804" y="1699632"/>
                <a:ext cx="3315824" cy="606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</m:t>
                          </m:r>
                        </m:sub>
                      </m:sSub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s-E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AO</m:t>
                              </m:r>
                            </m:sub>
                          </m:sSub>
                          <m: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s-E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BO</m:t>
                              </m:r>
                            </m:sub>
                          </m:sSub>
                        </m:e>
                      </m:d>
                      <m:r>
                        <a:rPr lang="es-ES" sz="240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38" name="Object 114">
                <a:extLst>
                  <a:ext uri="{FF2B5EF4-FFF2-40B4-BE49-F238E27FC236}">
                    <a16:creationId xmlns:a16="http://schemas.microsoft.com/office/drawing/2014/main" id="{E4C3BCE3-76DA-4852-988A-F2C5742D5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01804" y="1699632"/>
                <a:ext cx="3315824" cy="60642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93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6709" grpId="0"/>
      <p:bldP spid="70" grpId="0" animBg="1"/>
      <p:bldP spid="78" grpId="0" animBg="1"/>
      <p:bldP spid="35" grpId="0"/>
      <p:bldP spid="37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04" name="Group 112"/>
          <p:cNvGrpSpPr>
            <a:grpSpLocks/>
          </p:cNvGrpSpPr>
          <p:nvPr/>
        </p:nvGrpSpPr>
        <p:grpSpPr bwMode="auto">
          <a:xfrm>
            <a:off x="910044" y="1218834"/>
            <a:ext cx="4773613" cy="4143375"/>
            <a:chOff x="603" y="578"/>
            <a:chExt cx="3008" cy="2610"/>
          </a:xfrm>
        </p:grpSpPr>
        <p:sp>
          <p:nvSpPr>
            <p:cNvPr id="35907" name="Line 24"/>
            <p:cNvSpPr>
              <a:spLocks noChangeShapeType="1"/>
            </p:cNvSpPr>
            <p:nvPr/>
          </p:nvSpPr>
          <p:spPr bwMode="auto">
            <a:xfrm rot="3600000" flipH="1" flipV="1">
              <a:off x="2090" y="414"/>
              <a:ext cx="34" cy="3008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5908" name="Line 23"/>
            <p:cNvSpPr>
              <a:spLocks noChangeShapeType="1"/>
            </p:cNvSpPr>
            <p:nvPr/>
          </p:nvSpPr>
          <p:spPr bwMode="auto">
            <a:xfrm rot="19800000" flipV="1">
              <a:off x="2043" y="578"/>
              <a:ext cx="39" cy="261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</p:grpSp>
      <p:sp>
        <p:nvSpPr>
          <p:cNvPr id="33884" name="Rectangle 92"/>
          <p:cNvSpPr>
            <a:spLocks noChangeArrowheads="1"/>
          </p:cNvSpPr>
          <p:nvPr/>
        </p:nvSpPr>
        <p:spPr bwMode="auto">
          <a:xfrm rot="1800000">
            <a:off x="2418173" y="2933334"/>
            <a:ext cx="171450" cy="16351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947" name="Rectangle 89"/>
          <p:cNvSpPr>
            <a:spLocks noChangeArrowheads="1"/>
          </p:cNvSpPr>
          <p:nvPr/>
        </p:nvSpPr>
        <p:spPr bwMode="auto">
          <a:xfrm>
            <a:off x="3018248" y="4116022"/>
            <a:ext cx="217488" cy="195262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9" name="Line 6"/>
          <p:cNvSpPr>
            <a:spLocks noChangeAspect="1" noChangeShapeType="1"/>
          </p:cNvSpPr>
          <p:nvPr/>
        </p:nvSpPr>
        <p:spPr bwMode="auto">
          <a:xfrm rot="14340000">
            <a:off x="2885516" y="2191807"/>
            <a:ext cx="0" cy="2791679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0" name="AutoShape 9"/>
          <p:cNvSpPr>
            <a:spLocks noChangeAspect="1" noChangeArrowheads="1"/>
          </p:cNvSpPr>
          <p:nvPr/>
        </p:nvSpPr>
        <p:spPr bwMode="auto">
          <a:xfrm>
            <a:off x="1684748" y="1433147"/>
            <a:ext cx="3159125" cy="288290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5851" name="Picture 59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911" y="3976403"/>
            <a:ext cx="690562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2" name="Line 7"/>
          <p:cNvSpPr>
            <a:spLocks noChangeAspect="1" noChangeShapeType="1"/>
          </p:cNvSpPr>
          <p:nvPr/>
        </p:nvSpPr>
        <p:spPr bwMode="auto">
          <a:xfrm rot="7200000">
            <a:off x="3629436" y="2214197"/>
            <a:ext cx="0" cy="2692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3" name="Line 8"/>
          <p:cNvSpPr>
            <a:spLocks noChangeAspect="1" noChangeShapeType="1"/>
          </p:cNvSpPr>
          <p:nvPr/>
        </p:nvSpPr>
        <p:spPr bwMode="auto">
          <a:xfrm>
            <a:off x="3261136" y="1474422"/>
            <a:ext cx="0" cy="28321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4" name="Text Box 10"/>
          <p:cNvSpPr txBox="1">
            <a:spLocks noChangeAspect="1" noChangeArrowheads="1"/>
          </p:cNvSpPr>
          <p:nvPr/>
        </p:nvSpPr>
        <p:spPr bwMode="auto">
          <a:xfrm>
            <a:off x="3049204" y="739428"/>
            <a:ext cx="35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5855" name="Text Box 12"/>
          <p:cNvSpPr txBox="1">
            <a:spLocks noChangeAspect="1" noChangeArrowheads="1"/>
          </p:cNvSpPr>
          <p:nvPr/>
        </p:nvSpPr>
        <p:spPr bwMode="auto">
          <a:xfrm>
            <a:off x="1507517" y="4668263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35856" name="Line 17"/>
          <p:cNvSpPr>
            <a:spLocks noChangeAspect="1" noChangeShapeType="1"/>
          </p:cNvSpPr>
          <p:nvPr/>
        </p:nvSpPr>
        <p:spPr bwMode="auto">
          <a:xfrm rot="7200000">
            <a:off x="2365786" y="2142759"/>
            <a:ext cx="6350" cy="13176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7" name="Line 19"/>
          <p:cNvSpPr>
            <a:spLocks noChangeAspect="1" noChangeShapeType="1"/>
          </p:cNvSpPr>
          <p:nvPr/>
        </p:nvSpPr>
        <p:spPr bwMode="auto">
          <a:xfrm rot="14400000">
            <a:off x="4185855" y="2151472"/>
            <a:ext cx="7937" cy="13176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8" name="Text Box 21"/>
          <p:cNvSpPr txBox="1">
            <a:spLocks noChangeAspect="1" noChangeArrowheads="1"/>
          </p:cNvSpPr>
          <p:nvPr/>
        </p:nvSpPr>
        <p:spPr bwMode="auto">
          <a:xfrm>
            <a:off x="3302411" y="2571179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</a:p>
        </p:txBody>
      </p:sp>
      <p:grpSp>
        <p:nvGrpSpPr>
          <p:cNvPr id="6" name="Group 85"/>
          <p:cNvGrpSpPr>
            <a:grpSpLocks/>
          </p:cNvGrpSpPr>
          <p:nvPr/>
        </p:nvGrpSpPr>
        <p:grpSpPr bwMode="auto">
          <a:xfrm>
            <a:off x="1697448" y="2180859"/>
            <a:ext cx="2395538" cy="2686050"/>
            <a:chOff x="1096" y="2260"/>
            <a:chExt cx="1509" cy="1692"/>
          </a:xfrm>
        </p:grpSpPr>
        <p:sp>
          <p:nvSpPr>
            <p:cNvPr id="35905" name="Line 25"/>
            <p:cNvSpPr>
              <a:spLocks noChangeShapeType="1"/>
            </p:cNvSpPr>
            <p:nvPr/>
          </p:nvSpPr>
          <p:spPr bwMode="auto">
            <a:xfrm rot="3600000">
              <a:off x="1373" y="1983"/>
              <a:ext cx="13" cy="568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5906" name="Line 26"/>
            <p:cNvSpPr>
              <a:spLocks noChangeShapeType="1"/>
            </p:cNvSpPr>
            <p:nvPr/>
          </p:nvSpPr>
          <p:spPr bwMode="auto">
            <a:xfrm rot="3600000">
              <a:off x="2314" y="3662"/>
              <a:ext cx="13" cy="568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</p:grpSp>
      <p:sp>
        <p:nvSpPr>
          <p:cNvPr id="196635" name="Line 27"/>
          <p:cNvSpPr>
            <a:spLocks noChangeShapeType="1"/>
          </p:cNvSpPr>
          <p:nvPr/>
        </p:nvSpPr>
        <p:spPr bwMode="auto">
          <a:xfrm>
            <a:off x="1776823" y="2461847"/>
            <a:ext cx="1504950" cy="2682875"/>
          </a:xfrm>
          <a:prstGeom prst="line">
            <a:avLst/>
          </a:prstGeom>
          <a:noFill/>
          <a:ln w="25400">
            <a:solidFill>
              <a:srgbClr val="CC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61" name="Text Box 11"/>
          <p:cNvSpPr txBox="1">
            <a:spLocks noChangeAspect="1" noChangeArrowheads="1"/>
          </p:cNvSpPr>
          <p:nvPr/>
        </p:nvSpPr>
        <p:spPr bwMode="auto">
          <a:xfrm>
            <a:off x="4663492" y="4641959"/>
            <a:ext cx="350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pic>
        <p:nvPicPr>
          <p:cNvPr id="35863" name="Picture 5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711" y="1144222"/>
            <a:ext cx="692150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4" name="Picture 6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048" y="3950922"/>
            <a:ext cx="690563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90"/>
          <p:cNvGrpSpPr>
            <a:grpSpLocks/>
          </p:cNvGrpSpPr>
          <p:nvPr/>
        </p:nvGrpSpPr>
        <p:grpSpPr bwMode="auto">
          <a:xfrm>
            <a:off x="2411823" y="3152409"/>
            <a:ext cx="800100" cy="908050"/>
            <a:chOff x="1525" y="2851"/>
            <a:chExt cx="504" cy="572"/>
          </a:xfrm>
        </p:grpSpPr>
        <p:sp>
          <p:nvSpPr>
            <p:cNvPr id="35899" name="Text Box 38"/>
            <p:cNvSpPr txBox="1">
              <a:spLocks noChangeArrowheads="1"/>
            </p:cNvSpPr>
            <p:nvPr/>
          </p:nvSpPr>
          <p:spPr bwMode="auto">
            <a:xfrm>
              <a:off x="1679" y="3173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  <p:sp>
          <p:nvSpPr>
            <p:cNvPr id="35900" name="Text Box 86"/>
            <p:cNvSpPr txBox="1">
              <a:spLocks noChangeArrowheads="1"/>
            </p:cNvSpPr>
            <p:nvPr/>
          </p:nvSpPr>
          <p:spPr bwMode="auto">
            <a:xfrm>
              <a:off x="1525" y="2851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</p:grpSp>
      <p:graphicFrame>
        <p:nvGraphicFramePr>
          <p:cNvPr id="35870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477311"/>
              </p:ext>
            </p:extLst>
          </p:nvPr>
        </p:nvGraphicFramePr>
        <p:xfrm>
          <a:off x="2478499" y="4628279"/>
          <a:ext cx="6016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228501" imgH="215806" progId="Equation.3">
                  <p:embed/>
                </p:oleObj>
              </mc:Choice>
              <mc:Fallback>
                <p:oleObj name="Ecuación" r:id="rId4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499" y="4628279"/>
                        <a:ext cx="60166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1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099235"/>
              </p:ext>
            </p:extLst>
          </p:nvPr>
        </p:nvGraphicFramePr>
        <p:xfrm>
          <a:off x="1219611" y="1769697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215619" imgH="215619" progId="Equation.3">
                  <p:embed/>
                </p:oleObj>
              </mc:Choice>
              <mc:Fallback>
                <p:oleObj name="Ecuación" r:id="rId6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611" y="1769697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2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656203"/>
              </p:ext>
            </p:extLst>
          </p:nvPr>
        </p:nvGraphicFramePr>
        <p:xfrm>
          <a:off x="4364448" y="1703022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215619" imgH="215619" progId="Equation.3">
                  <p:embed/>
                </p:oleObj>
              </mc:Choice>
              <mc:Fallback>
                <p:oleObj name="Ecuación" r:id="rId8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448" y="1703022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82" name="Group 90"/>
          <p:cNvGrpSpPr>
            <a:grpSpLocks/>
          </p:cNvGrpSpPr>
          <p:nvPr/>
        </p:nvGrpSpPr>
        <p:grpSpPr bwMode="auto">
          <a:xfrm>
            <a:off x="1980023" y="3493722"/>
            <a:ext cx="666750" cy="806450"/>
            <a:chOff x="1274" y="2030"/>
            <a:chExt cx="420" cy="508"/>
          </a:xfrm>
        </p:grpSpPr>
        <p:sp>
          <p:nvSpPr>
            <p:cNvPr id="35897" name="Text Box 87"/>
            <p:cNvSpPr txBox="1">
              <a:spLocks noChangeArrowheads="1"/>
            </p:cNvSpPr>
            <p:nvPr/>
          </p:nvSpPr>
          <p:spPr bwMode="auto">
            <a:xfrm>
              <a:off x="1344" y="2288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30º</a:t>
              </a:r>
            </a:p>
          </p:txBody>
        </p:sp>
        <p:sp>
          <p:nvSpPr>
            <p:cNvPr id="35898" name="Text Box 87"/>
            <p:cNvSpPr txBox="1">
              <a:spLocks noChangeArrowheads="1"/>
            </p:cNvSpPr>
            <p:nvPr/>
          </p:nvSpPr>
          <p:spPr bwMode="auto">
            <a:xfrm>
              <a:off x="1274" y="2030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30º</a:t>
              </a:r>
            </a:p>
          </p:txBody>
        </p:sp>
      </p:grpSp>
      <p:sp>
        <p:nvSpPr>
          <p:cNvPr id="35874" name="Line 18"/>
          <p:cNvSpPr>
            <a:spLocks noChangeAspect="1" noChangeShapeType="1"/>
          </p:cNvSpPr>
          <p:nvPr/>
        </p:nvSpPr>
        <p:spPr bwMode="auto">
          <a:xfrm>
            <a:off x="3264311" y="3714384"/>
            <a:ext cx="6350" cy="138747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93" name="Text Box 87"/>
          <p:cNvSpPr txBox="1">
            <a:spLocks noChangeArrowheads="1"/>
          </p:cNvSpPr>
          <p:nvPr/>
        </p:nvSpPr>
        <p:spPr bwMode="auto">
          <a:xfrm>
            <a:off x="3224623" y="4147772"/>
            <a:ext cx="55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30º</a:t>
            </a:r>
          </a:p>
        </p:txBody>
      </p:sp>
      <p:sp>
        <p:nvSpPr>
          <p:cNvPr id="35894" name="Text Box 87"/>
          <p:cNvSpPr txBox="1">
            <a:spLocks noChangeArrowheads="1"/>
          </p:cNvSpPr>
          <p:nvPr/>
        </p:nvSpPr>
        <p:spPr bwMode="auto">
          <a:xfrm>
            <a:off x="2245136" y="2423747"/>
            <a:ext cx="55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30º</a:t>
            </a:r>
          </a:p>
        </p:txBody>
      </p:sp>
      <p:sp>
        <p:nvSpPr>
          <p:cNvPr id="35885" name="Text Box 21"/>
          <p:cNvSpPr txBox="1">
            <a:spLocks noChangeAspect="1" noChangeArrowheads="1"/>
          </p:cNvSpPr>
          <p:nvPr/>
        </p:nvSpPr>
        <p:spPr bwMode="auto">
          <a:xfrm>
            <a:off x="3905661" y="3325447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</a:p>
        </p:txBody>
      </p:sp>
      <p:pic>
        <p:nvPicPr>
          <p:cNvPr id="73" name="Imagen 7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502" y="2981428"/>
            <a:ext cx="705162" cy="714823"/>
          </a:xfrm>
          <a:prstGeom prst="rect">
            <a:avLst/>
          </a:prstGeom>
        </p:spPr>
      </p:pic>
      <p:sp>
        <p:nvSpPr>
          <p:cNvPr id="58" name="Freeform 86">
            <a:extLst>
              <a:ext uri="{FF2B5EF4-FFF2-40B4-BE49-F238E27FC236}">
                <a16:creationId xmlns:a16="http://schemas.microsoft.com/office/drawing/2014/main" id="{4D10C3CE-B9CE-4517-BB39-94F175596253}"/>
              </a:ext>
            </a:extLst>
          </p:cNvPr>
          <p:cNvSpPr>
            <a:spLocks/>
          </p:cNvSpPr>
          <p:nvPr/>
        </p:nvSpPr>
        <p:spPr bwMode="auto">
          <a:xfrm rot="7462918">
            <a:off x="2620898" y="2773169"/>
            <a:ext cx="307200" cy="95127"/>
          </a:xfrm>
          <a:custGeom>
            <a:avLst/>
            <a:gdLst>
              <a:gd name="T0" fmla="*/ 2147483646 w 611"/>
              <a:gd name="T1" fmla="*/ 0 h 153"/>
              <a:gd name="T2" fmla="*/ 2147483646 w 611"/>
              <a:gd name="T3" fmla="*/ 2147483646 h 153"/>
              <a:gd name="T4" fmla="*/ 0 w 611"/>
              <a:gd name="T5" fmla="*/ 2147483646 h 1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1" h="153">
                <a:moveTo>
                  <a:pt x="611" y="0"/>
                </a:moveTo>
                <a:cubicBezTo>
                  <a:pt x="511" y="74"/>
                  <a:pt x="411" y="149"/>
                  <a:pt x="309" y="151"/>
                </a:cubicBezTo>
                <a:cubicBezTo>
                  <a:pt x="207" y="153"/>
                  <a:pt x="103" y="83"/>
                  <a:pt x="0" y="1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arrow" w="med" len="med"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/>
          <a:lstStyle/>
          <a:p>
            <a:endParaRPr lang="en-GB" sz="2400"/>
          </a:p>
        </p:txBody>
      </p:sp>
      <p:sp>
        <p:nvSpPr>
          <p:cNvPr id="59" name="Freeform 86">
            <a:extLst>
              <a:ext uri="{FF2B5EF4-FFF2-40B4-BE49-F238E27FC236}">
                <a16:creationId xmlns:a16="http://schemas.microsoft.com/office/drawing/2014/main" id="{A0D9BBD2-F10B-4A05-91CE-034CC1D6FE8C}"/>
              </a:ext>
            </a:extLst>
          </p:cNvPr>
          <p:cNvSpPr>
            <a:spLocks/>
          </p:cNvSpPr>
          <p:nvPr/>
        </p:nvSpPr>
        <p:spPr bwMode="auto">
          <a:xfrm rot="20892203">
            <a:off x="3272066" y="3933490"/>
            <a:ext cx="307200" cy="95127"/>
          </a:xfrm>
          <a:custGeom>
            <a:avLst/>
            <a:gdLst>
              <a:gd name="T0" fmla="*/ 2147483646 w 611"/>
              <a:gd name="T1" fmla="*/ 0 h 153"/>
              <a:gd name="T2" fmla="*/ 2147483646 w 611"/>
              <a:gd name="T3" fmla="*/ 2147483646 h 153"/>
              <a:gd name="T4" fmla="*/ 0 w 611"/>
              <a:gd name="T5" fmla="*/ 2147483646 h 1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1" h="153">
                <a:moveTo>
                  <a:pt x="611" y="0"/>
                </a:moveTo>
                <a:cubicBezTo>
                  <a:pt x="511" y="74"/>
                  <a:pt x="411" y="149"/>
                  <a:pt x="309" y="151"/>
                </a:cubicBezTo>
                <a:cubicBezTo>
                  <a:pt x="207" y="153"/>
                  <a:pt x="103" y="83"/>
                  <a:pt x="0" y="1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arrow" w="med" len="med"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/>
          <a:lstStyle/>
          <a:p>
            <a:endParaRPr lang="en-GB" sz="2400"/>
          </a:p>
        </p:txBody>
      </p:sp>
      <p:sp>
        <p:nvSpPr>
          <p:cNvPr id="7" name="66 CuadroTexto">
            <a:extLst>
              <a:ext uri="{FF2B5EF4-FFF2-40B4-BE49-F238E27FC236}">
                <a16:creationId xmlns:a16="http://schemas.microsoft.com/office/drawing/2014/main" id="{9D161E8F-E209-F350-0A3B-FF73C935B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9146" y="1370002"/>
            <a:ext cx="2862942" cy="83099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Descompongamos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 b="1" baseline="-25000">
                <a:latin typeface="Arial" panose="020B0604020202020204" pitchFamily="34" charset="0"/>
              </a:rPr>
              <a:t>AO </a:t>
            </a:r>
            <a:r>
              <a:rPr lang="es-ES" sz="2400">
                <a:latin typeface="Arial" panose="020B0604020202020204" pitchFamily="34" charset="0"/>
              </a:rPr>
              <a:t>y 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 b="1" baseline="-25000">
                <a:latin typeface="Arial" panose="020B0604020202020204" pitchFamily="34" charset="0"/>
              </a:rPr>
              <a:t>BO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8" name="Group 64">
            <a:extLst>
              <a:ext uri="{FF2B5EF4-FFF2-40B4-BE49-F238E27FC236}">
                <a16:creationId xmlns:a16="http://schemas.microsoft.com/office/drawing/2014/main" id="{C9979CB7-8F7E-764E-846B-00C927B5B1EB}"/>
              </a:ext>
            </a:extLst>
          </p:cNvPr>
          <p:cNvGrpSpPr>
            <a:grpSpLocks/>
          </p:cNvGrpSpPr>
          <p:nvPr/>
        </p:nvGrpSpPr>
        <p:grpSpPr bwMode="auto">
          <a:xfrm>
            <a:off x="2496622" y="1956984"/>
            <a:ext cx="1484312" cy="2689225"/>
            <a:chOff x="1693" y="1939"/>
            <a:chExt cx="930" cy="1601"/>
          </a:xfrm>
        </p:grpSpPr>
        <p:sp>
          <p:nvSpPr>
            <p:cNvPr id="10" name="Line 32">
              <a:extLst>
                <a:ext uri="{FF2B5EF4-FFF2-40B4-BE49-F238E27FC236}">
                  <a16:creationId xmlns:a16="http://schemas.microsoft.com/office/drawing/2014/main" id="{82ECCC52-60FE-B64E-5589-4C54CDE945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93" y="1939"/>
              <a:ext cx="357" cy="61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11" name="Line 33">
              <a:extLst>
                <a:ext uri="{FF2B5EF4-FFF2-40B4-BE49-F238E27FC236}">
                  <a16:creationId xmlns:a16="http://schemas.microsoft.com/office/drawing/2014/main" id="{832B191D-6C6B-8A18-8528-33B929388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66" y="2921"/>
              <a:ext cx="357" cy="61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triangle" w="lg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</p:grpSp>
      <p:sp>
        <p:nvSpPr>
          <p:cNvPr id="12" name="Line 30">
            <a:extLst>
              <a:ext uri="{FF2B5EF4-FFF2-40B4-BE49-F238E27FC236}">
                <a16:creationId xmlns:a16="http://schemas.microsoft.com/office/drawing/2014/main" id="{9C0A196C-2FFC-A594-9E2A-615B65518C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02425" y="3484605"/>
            <a:ext cx="501650" cy="3175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7AF13FD-EBD9-4813-DBB0-3C13A66CF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9911" y="2785405"/>
            <a:ext cx="4581521" cy="1622734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/>
              <a:t>Para conocer el tamaño de cada componente necesitamos saber el </a:t>
            </a:r>
            <a:r>
              <a:rPr lang="es-ES" sz="2400">
                <a:solidFill>
                  <a:srgbClr val="3333FF"/>
                </a:solidFill>
              </a:rPr>
              <a:t>ángulo</a:t>
            </a:r>
            <a:r>
              <a:rPr lang="es-ES" sz="2400"/>
              <a:t> que forma </a:t>
            </a:r>
            <a:r>
              <a:rPr lang="es-ES" sz="2400">
                <a:solidFill>
                  <a:srgbClr val="3333FF"/>
                </a:solidFill>
              </a:rPr>
              <a:t>con</a:t>
            </a:r>
            <a:r>
              <a:rPr lang="es-ES" sz="2400"/>
              <a:t> al menos uno de los </a:t>
            </a:r>
            <a:r>
              <a:rPr lang="es-ES" sz="2400">
                <a:solidFill>
                  <a:srgbClr val="3333FF"/>
                </a:solidFill>
              </a:rPr>
              <a:t>ejes</a:t>
            </a:r>
            <a:endParaRPr lang="es-ES" sz="2400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54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9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3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5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5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84" grpId="0" animBg="1"/>
      <p:bldP spid="37947" grpId="0" animBg="1"/>
      <p:bldP spid="196635" grpId="0" animBg="1"/>
      <p:bldP spid="35893" grpId="0"/>
      <p:bldP spid="35894" grpId="0"/>
      <p:bldP spid="58" grpId="0" animBg="1"/>
      <p:bldP spid="59" grpId="0" animBg="1"/>
      <p:bldP spid="7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upo 66"/>
          <p:cNvGrpSpPr>
            <a:grpSpLocks/>
          </p:cNvGrpSpPr>
          <p:nvPr/>
        </p:nvGrpSpPr>
        <p:grpSpPr bwMode="auto">
          <a:xfrm rot="18000731" flipV="1">
            <a:off x="1976830" y="1609460"/>
            <a:ext cx="1208088" cy="1535113"/>
            <a:chOff x="2776418" y="3157849"/>
            <a:chExt cx="1208457" cy="1535113"/>
          </a:xfrm>
        </p:grpSpPr>
        <p:sp>
          <p:nvSpPr>
            <p:cNvPr id="35911" name="AutoShape 91"/>
            <p:cNvSpPr>
              <a:spLocks noChangeArrowheads="1"/>
            </p:cNvSpPr>
            <p:nvPr/>
          </p:nvSpPr>
          <p:spPr bwMode="auto">
            <a:xfrm rot="3459830" flipH="1" flipV="1">
              <a:off x="2490667" y="3443600"/>
              <a:ext cx="1535113" cy="963612"/>
            </a:xfrm>
            <a:prstGeom prst="rtTriangl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912" name="Rectangle 89"/>
            <p:cNvSpPr>
              <a:spLocks noChangeArrowheads="1"/>
            </p:cNvSpPr>
            <p:nvPr/>
          </p:nvSpPr>
          <p:spPr bwMode="auto">
            <a:xfrm rot="3480000">
              <a:off x="3778500" y="4187843"/>
              <a:ext cx="217488" cy="1952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upo 9"/>
          <p:cNvGrpSpPr>
            <a:grpSpLocks/>
          </p:cNvGrpSpPr>
          <p:nvPr/>
        </p:nvGrpSpPr>
        <p:grpSpPr bwMode="auto">
          <a:xfrm>
            <a:off x="2764230" y="3063611"/>
            <a:ext cx="1208087" cy="1535112"/>
            <a:chOff x="2776418" y="3157849"/>
            <a:chExt cx="1208457" cy="1535113"/>
          </a:xfrm>
        </p:grpSpPr>
        <p:sp>
          <p:nvSpPr>
            <p:cNvPr id="35909" name="AutoShape 91"/>
            <p:cNvSpPr>
              <a:spLocks noChangeArrowheads="1"/>
            </p:cNvSpPr>
            <p:nvPr/>
          </p:nvSpPr>
          <p:spPr bwMode="auto">
            <a:xfrm rot="3459830" flipH="1" flipV="1">
              <a:off x="2490667" y="3443600"/>
              <a:ext cx="1535113" cy="963612"/>
            </a:xfrm>
            <a:prstGeom prst="rtTriangl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910" name="Rectangle 89"/>
            <p:cNvSpPr>
              <a:spLocks noChangeArrowheads="1"/>
            </p:cNvSpPr>
            <p:nvPr/>
          </p:nvSpPr>
          <p:spPr bwMode="auto">
            <a:xfrm rot="3480000">
              <a:off x="3778500" y="4187843"/>
              <a:ext cx="217488" cy="1952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3904" name="Group 112"/>
          <p:cNvGrpSpPr>
            <a:grpSpLocks/>
          </p:cNvGrpSpPr>
          <p:nvPr/>
        </p:nvGrpSpPr>
        <p:grpSpPr bwMode="auto">
          <a:xfrm>
            <a:off x="917979" y="820473"/>
            <a:ext cx="4762504" cy="4143375"/>
            <a:chOff x="608" y="578"/>
            <a:chExt cx="3001" cy="2610"/>
          </a:xfrm>
        </p:grpSpPr>
        <p:sp>
          <p:nvSpPr>
            <p:cNvPr id="35907" name="Line 24"/>
            <p:cNvSpPr>
              <a:spLocks noChangeShapeType="1"/>
            </p:cNvSpPr>
            <p:nvPr/>
          </p:nvSpPr>
          <p:spPr bwMode="auto">
            <a:xfrm rot="3600000" flipH="1" flipV="1">
              <a:off x="2094" y="414"/>
              <a:ext cx="30" cy="3001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5908" name="Line 23"/>
            <p:cNvSpPr>
              <a:spLocks noChangeShapeType="1"/>
            </p:cNvSpPr>
            <p:nvPr/>
          </p:nvSpPr>
          <p:spPr bwMode="auto">
            <a:xfrm rot="19800000" flipV="1">
              <a:off x="2043" y="578"/>
              <a:ext cx="39" cy="261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</p:grpSp>
      <p:graphicFrame>
        <p:nvGraphicFramePr>
          <p:cNvPr id="196643" name="Object 3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69853256"/>
              </p:ext>
            </p:extLst>
          </p:nvPr>
        </p:nvGraphicFramePr>
        <p:xfrm>
          <a:off x="8103875" y="1715859"/>
          <a:ext cx="2698640" cy="900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257300" imgH="419100" progId="Equation.3">
                  <p:embed/>
                </p:oleObj>
              </mc:Choice>
              <mc:Fallback>
                <p:oleObj name="Ecuación" r:id="rId3" imgW="1257300" imgH="4191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3875" y="1715859"/>
                        <a:ext cx="2698640" cy="900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Line 6"/>
          <p:cNvSpPr>
            <a:spLocks noChangeAspect="1" noChangeShapeType="1"/>
          </p:cNvSpPr>
          <p:nvPr/>
        </p:nvSpPr>
        <p:spPr bwMode="auto">
          <a:xfrm rot="14400000">
            <a:off x="2948380" y="1809486"/>
            <a:ext cx="0" cy="26924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0" name="AutoShape 9"/>
          <p:cNvSpPr>
            <a:spLocks noChangeAspect="1" noChangeArrowheads="1"/>
          </p:cNvSpPr>
          <p:nvPr/>
        </p:nvSpPr>
        <p:spPr bwMode="auto">
          <a:xfrm>
            <a:off x="1714892" y="1034786"/>
            <a:ext cx="3159125" cy="288290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5851" name="Picture 59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380" y="3568436"/>
            <a:ext cx="690562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2" name="Line 7"/>
          <p:cNvSpPr>
            <a:spLocks noChangeAspect="1" noChangeShapeType="1"/>
          </p:cNvSpPr>
          <p:nvPr/>
        </p:nvSpPr>
        <p:spPr bwMode="auto">
          <a:xfrm rot="7200000">
            <a:off x="3659580" y="1815836"/>
            <a:ext cx="0" cy="2692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3" name="Line 8"/>
          <p:cNvSpPr>
            <a:spLocks noChangeAspect="1" noChangeShapeType="1"/>
          </p:cNvSpPr>
          <p:nvPr/>
        </p:nvSpPr>
        <p:spPr bwMode="auto">
          <a:xfrm>
            <a:off x="3291280" y="1076061"/>
            <a:ext cx="0" cy="28321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5" name="Text Box 12"/>
          <p:cNvSpPr txBox="1">
            <a:spLocks noChangeAspect="1" noChangeArrowheads="1"/>
          </p:cNvSpPr>
          <p:nvPr/>
        </p:nvSpPr>
        <p:spPr bwMode="auto">
          <a:xfrm>
            <a:off x="1537661" y="4269902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35856" name="Line 17"/>
          <p:cNvSpPr>
            <a:spLocks noChangeAspect="1" noChangeShapeType="1"/>
          </p:cNvSpPr>
          <p:nvPr/>
        </p:nvSpPr>
        <p:spPr bwMode="auto">
          <a:xfrm rot="7200000">
            <a:off x="2395930" y="1744398"/>
            <a:ext cx="6350" cy="13176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7" name="Line 19"/>
          <p:cNvSpPr>
            <a:spLocks noChangeAspect="1" noChangeShapeType="1"/>
          </p:cNvSpPr>
          <p:nvPr/>
        </p:nvSpPr>
        <p:spPr bwMode="auto">
          <a:xfrm rot="14400000">
            <a:off x="4195903" y="1743063"/>
            <a:ext cx="7937" cy="13176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58" name="Text Box 21"/>
          <p:cNvSpPr txBox="1">
            <a:spLocks noChangeAspect="1" noChangeArrowheads="1"/>
          </p:cNvSpPr>
          <p:nvPr/>
        </p:nvSpPr>
        <p:spPr bwMode="auto">
          <a:xfrm>
            <a:off x="3332555" y="2172818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</a:p>
        </p:txBody>
      </p:sp>
      <p:grpSp>
        <p:nvGrpSpPr>
          <p:cNvPr id="6" name="Group 85"/>
          <p:cNvGrpSpPr>
            <a:grpSpLocks/>
          </p:cNvGrpSpPr>
          <p:nvPr/>
        </p:nvGrpSpPr>
        <p:grpSpPr bwMode="auto">
          <a:xfrm>
            <a:off x="1727592" y="1782498"/>
            <a:ext cx="2395538" cy="2686050"/>
            <a:chOff x="1096" y="2260"/>
            <a:chExt cx="1509" cy="1692"/>
          </a:xfrm>
        </p:grpSpPr>
        <p:sp>
          <p:nvSpPr>
            <p:cNvPr id="35905" name="Line 25"/>
            <p:cNvSpPr>
              <a:spLocks noChangeShapeType="1"/>
            </p:cNvSpPr>
            <p:nvPr/>
          </p:nvSpPr>
          <p:spPr bwMode="auto">
            <a:xfrm rot="3600000">
              <a:off x="1373" y="1983"/>
              <a:ext cx="13" cy="568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5906" name="Line 26"/>
            <p:cNvSpPr>
              <a:spLocks noChangeShapeType="1"/>
            </p:cNvSpPr>
            <p:nvPr/>
          </p:nvSpPr>
          <p:spPr bwMode="auto">
            <a:xfrm rot="3600000">
              <a:off x="2314" y="3662"/>
              <a:ext cx="13" cy="568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</p:grpSp>
      <p:sp>
        <p:nvSpPr>
          <p:cNvPr id="196635" name="Line 27"/>
          <p:cNvSpPr>
            <a:spLocks noChangeShapeType="1"/>
          </p:cNvSpPr>
          <p:nvPr/>
        </p:nvSpPr>
        <p:spPr bwMode="auto">
          <a:xfrm>
            <a:off x="1806967" y="2063486"/>
            <a:ext cx="1504950" cy="2682875"/>
          </a:xfrm>
          <a:prstGeom prst="line">
            <a:avLst/>
          </a:prstGeom>
          <a:noFill/>
          <a:ln w="25400">
            <a:solidFill>
              <a:srgbClr val="CC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5861" name="Text Box 11"/>
          <p:cNvSpPr txBox="1">
            <a:spLocks noChangeAspect="1" noChangeArrowheads="1"/>
          </p:cNvSpPr>
          <p:nvPr/>
        </p:nvSpPr>
        <p:spPr bwMode="auto">
          <a:xfrm>
            <a:off x="4693636" y="4243598"/>
            <a:ext cx="350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grpSp>
        <p:nvGrpSpPr>
          <p:cNvPr id="8" name="Group 81"/>
          <p:cNvGrpSpPr>
            <a:grpSpLocks/>
          </p:cNvGrpSpPr>
          <p:nvPr/>
        </p:nvGrpSpPr>
        <p:grpSpPr bwMode="auto">
          <a:xfrm>
            <a:off x="2784867" y="2039673"/>
            <a:ext cx="977900" cy="1736725"/>
            <a:chOff x="1853" y="2512"/>
            <a:chExt cx="613" cy="1034"/>
          </a:xfrm>
        </p:grpSpPr>
        <p:sp>
          <p:nvSpPr>
            <p:cNvPr id="35901" name="Line 43"/>
            <p:cNvSpPr>
              <a:spLocks noChangeShapeType="1"/>
            </p:cNvSpPr>
            <p:nvPr/>
          </p:nvSpPr>
          <p:spPr bwMode="auto">
            <a:xfrm flipH="1">
              <a:off x="1853" y="2512"/>
              <a:ext cx="139" cy="18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5902" name="Line 44"/>
            <p:cNvSpPr>
              <a:spLocks noChangeShapeType="1"/>
            </p:cNvSpPr>
            <p:nvPr/>
          </p:nvSpPr>
          <p:spPr bwMode="auto">
            <a:xfrm flipH="1">
              <a:off x="1870" y="2543"/>
              <a:ext cx="139" cy="18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5903" name="Line 45"/>
            <p:cNvSpPr>
              <a:spLocks noChangeShapeType="1"/>
            </p:cNvSpPr>
            <p:nvPr/>
          </p:nvSpPr>
          <p:spPr bwMode="auto">
            <a:xfrm flipH="1">
              <a:off x="2310" y="3333"/>
              <a:ext cx="139" cy="18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5904" name="Line 46"/>
            <p:cNvSpPr>
              <a:spLocks noChangeShapeType="1"/>
            </p:cNvSpPr>
            <p:nvPr/>
          </p:nvSpPr>
          <p:spPr bwMode="auto">
            <a:xfrm flipH="1">
              <a:off x="2327" y="3364"/>
              <a:ext cx="139" cy="18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</p:grpSp>
      <p:pic>
        <p:nvPicPr>
          <p:cNvPr id="35863" name="Picture 58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855" y="745861"/>
            <a:ext cx="692150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4" name="Picture 60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192" y="3552561"/>
            <a:ext cx="690563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6711" name="Text Box 103"/>
          <p:cNvSpPr txBox="1">
            <a:spLocks noChangeArrowheads="1"/>
          </p:cNvSpPr>
          <p:nvPr/>
        </p:nvSpPr>
        <p:spPr bwMode="auto">
          <a:xfrm>
            <a:off x="5334703" y="4657006"/>
            <a:ext cx="5249882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Componentes iguales salvo sentido.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Su suma es cero. Se cancelan 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(se indica con 2 rayas)</a:t>
            </a:r>
          </a:p>
        </p:txBody>
      </p:sp>
      <p:graphicFrame>
        <p:nvGraphicFramePr>
          <p:cNvPr id="196717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491355"/>
              </p:ext>
            </p:extLst>
          </p:nvPr>
        </p:nvGraphicFramePr>
        <p:xfrm>
          <a:off x="5489575" y="1885950"/>
          <a:ext cx="253841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244520" imgH="304560" progId="Equation.3">
                  <p:embed/>
                </p:oleObj>
              </mc:Choice>
              <mc:Fallback>
                <p:oleObj name="Ecuación" r:id="rId6" imgW="12445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575" y="1885950"/>
                        <a:ext cx="2538413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0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083909"/>
              </p:ext>
            </p:extLst>
          </p:nvPr>
        </p:nvGraphicFramePr>
        <p:xfrm>
          <a:off x="2508643" y="4379387"/>
          <a:ext cx="6016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228501" imgH="215806" progId="Equation.3">
                  <p:embed/>
                </p:oleObj>
              </mc:Choice>
              <mc:Fallback>
                <p:oleObj name="Ecuación" r:id="rId8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643" y="4379387"/>
                        <a:ext cx="60166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1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427372"/>
              </p:ext>
            </p:extLst>
          </p:nvPr>
        </p:nvGraphicFramePr>
        <p:xfrm>
          <a:off x="1249755" y="1371336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215619" imgH="215619" progId="Equation.3">
                  <p:embed/>
                </p:oleObj>
              </mc:Choice>
              <mc:Fallback>
                <p:oleObj name="Ecuación" r:id="rId10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755" y="1371336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2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234181"/>
              </p:ext>
            </p:extLst>
          </p:nvPr>
        </p:nvGraphicFramePr>
        <p:xfrm>
          <a:off x="4394592" y="1304661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215619" imgH="215619" progId="Equation.3">
                  <p:embed/>
                </p:oleObj>
              </mc:Choice>
              <mc:Fallback>
                <p:oleObj name="Ecuación" r:id="rId12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592" y="1304661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4" name="Line 18"/>
          <p:cNvSpPr>
            <a:spLocks noChangeAspect="1" noChangeShapeType="1"/>
          </p:cNvSpPr>
          <p:nvPr/>
        </p:nvSpPr>
        <p:spPr bwMode="auto">
          <a:xfrm>
            <a:off x="3294455" y="3316023"/>
            <a:ext cx="6350" cy="138747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grpSp>
        <p:nvGrpSpPr>
          <p:cNvPr id="33889" name="Group 97"/>
          <p:cNvGrpSpPr>
            <a:grpSpLocks/>
          </p:cNvGrpSpPr>
          <p:nvPr/>
        </p:nvGrpSpPr>
        <p:grpSpPr bwMode="auto">
          <a:xfrm>
            <a:off x="1976049" y="5341987"/>
            <a:ext cx="2533650" cy="1284287"/>
            <a:chOff x="1259" y="3435"/>
            <a:chExt cx="1596" cy="809"/>
          </a:xfrm>
        </p:grpSpPr>
        <p:sp>
          <p:nvSpPr>
            <p:cNvPr id="35895" name="Rectangle 51"/>
            <p:cNvSpPr>
              <a:spLocks noChangeArrowheads="1"/>
            </p:cNvSpPr>
            <p:nvPr/>
          </p:nvSpPr>
          <p:spPr bwMode="auto">
            <a:xfrm>
              <a:off x="1259" y="3435"/>
              <a:ext cx="1596" cy="809"/>
            </a:xfrm>
            <a:prstGeom prst="rect">
              <a:avLst/>
            </a:prstGeom>
            <a:noFill/>
            <a:ln w="38100" algn="ctr">
              <a:solidFill>
                <a:srgbClr val="99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5896" name="Object 60"/>
            <p:cNvGraphicFramePr>
              <a:graphicFrameLocks noChangeAspect="1"/>
            </p:cNvGraphicFramePr>
            <p:nvPr/>
          </p:nvGraphicFramePr>
          <p:xfrm>
            <a:off x="1343" y="3552"/>
            <a:ext cx="1411" cy="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4" imgW="1117600" imgH="469900" progId="Equation.3">
                    <p:embed/>
                  </p:oleObj>
                </mc:Choice>
                <mc:Fallback>
                  <p:oleObj name="Ecuación" r:id="rId14" imgW="1117600" imgH="469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3" y="3552"/>
                          <a:ext cx="1411" cy="5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783758"/>
              </p:ext>
            </p:extLst>
          </p:nvPr>
        </p:nvGraphicFramePr>
        <p:xfrm>
          <a:off x="8100879" y="2670483"/>
          <a:ext cx="2700471" cy="907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6" imgW="1244600" imgH="419100" progId="Equation.3">
                  <p:embed/>
                </p:oleObj>
              </mc:Choice>
              <mc:Fallback>
                <p:oleObj name="Ecuación" r:id="rId16" imgW="1244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879" y="2670483"/>
                        <a:ext cx="2700471" cy="907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859246"/>
              </p:ext>
            </p:extLst>
          </p:nvPr>
        </p:nvGraphicFramePr>
        <p:xfrm>
          <a:off x="5489575" y="2832100"/>
          <a:ext cx="25511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8" imgW="1231560" imgH="304560" progId="Equation.3">
                  <p:embed/>
                </p:oleObj>
              </mc:Choice>
              <mc:Fallback>
                <p:oleObj name="Ecuación" r:id="rId18" imgW="12315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575" y="2832100"/>
                        <a:ext cx="255111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297460"/>
              </p:ext>
            </p:extLst>
          </p:nvPr>
        </p:nvGraphicFramePr>
        <p:xfrm>
          <a:off x="6308516" y="3934015"/>
          <a:ext cx="12509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0" imgW="634725" imgH="241195" progId="Equation.3">
                  <p:embed/>
                </p:oleObj>
              </mc:Choice>
              <mc:Fallback>
                <p:oleObj name="Ecuación" r:id="rId20" imgW="634725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516" y="3934015"/>
                        <a:ext cx="125095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103"/>
          <p:cNvSpPr txBox="1">
            <a:spLocks noChangeArrowheads="1"/>
          </p:cNvSpPr>
          <p:nvPr/>
        </p:nvSpPr>
        <p:spPr bwMode="auto">
          <a:xfrm>
            <a:off x="5993824" y="5949526"/>
            <a:ext cx="4102257" cy="88407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Concuerda con que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</a:rPr>
              <a:t>CO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y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</a:rPr>
              <a:t>AO</a:t>
            </a:r>
            <a:r>
              <a:rPr lang="es-ES" sz="2400" dirty="0">
                <a:latin typeface="Arial" panose="020B0604020202020204" pitchFamily="34" charset="0"/>
              </a:rPr>
              <a:t>+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</a:rPr>
              <a:t>BO</a:t>
            </a:r>
            <a:r>
              <a:rPr lang="es-ES" sz="2400" dirty="0">
                <a:latin typeface="Arial" panose="020B0604020202020204" pitchFamily="34" charset="0"/>
              </a:rPr>
              <a:t> sean opuestos</a:t>
            </a:r>
          </a:p>
        </p:txBody>
      </p:sp>
      <p:graphicFrame>
        <p:nvGraphicFramePr>
          <p:cNvPr id="2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160060"/>
              </p:ext>
            </p:extLst>
          </p:nvPr>
        </p:nvGraphicFramePr>
        <p:xfrm>
          <a:off x="7788326" y="3868845"/>
          <a:ext cx="210343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2" imgW="1066680" imgH="304560" progId="Equation.3">
                  <p:embed/>
                </p:oleObj>
              </mc:Choice>
              <mc:Fallback>
                <p:oleObj name="Ecuación" r:id="rId22" imgW="10666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8326" y="3868845"/>
                        <a:ext cx="2103437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" name="Group 90"/>
          <p:cNvGrpSpPr>
            <a:grpSpLocks/>
          </p:cNvGrpSpPr>
          <p:nvPr/>
        </p:nvGrpSpPr>
        <p:grpSpPr bwMode="auto">
          <a:xfrm>
            <a:off x="2275280" y="2025386"/>
            <a:ext cx="1516062" cy="2149475"/>
            <a:chOff x="1433" y="575"/>
            <a:chExt cx="955" cy="1354"/>
          </a:xfrm>
        </p:grpSpPr>
        <p:sp>
          <p:nvSpPr>
            <p:cNvPr id="35893" name="Text Box 87"/>
            <p:cNvSpPr txBox="1">
              <a:spLocks noChangeArrowheads="1"/>
            </p:cNvSpPr>
            <p:nvPr/>
          </p:nvSpPr>
          <p:spPr bwMode="auto">
            <a:xfrm>
              <a:off x="2038" y="1679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30º</a:t>
              </a:r>
            </a:p>
          </p:txBody>
        </p:sp>
        <p:sp>
          <p:nvSpPr>
            <p:cNvPr id="35894" name="Text Box 87"/>
            <p:cNvSpPr txBox="1">
              <a:spLocks noChangeArrowheads="1"/>
            </p:cNvSpPr>
            <p:nvPr/>
          </p:nvSpPr>
          <p:spPr bwMode="auto">
            <a:xfrm>
              <a:off x="1433" y="575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30º</a:t>
              </a:r>
            </a:p>
          </p:txBody>
        </p:sp>
      </p:grpSp>
      <p:grpSp>
        <p:nvGrpSpPr>
          <p:cNvPr id="7" name="Group 64"/>
          <p:cNvGrpSpPr>
            <a:grpSpLocks/>
          </p:cNvGrpSpPr>
          <p:nvPr/>
        </p:nvGrpSpPr>
        <p:grpSpPr bwMode="auto">
          <a:xfrm>
            <a:off x="2529280" y="1574536"/>
            <a:ext cx="1484312" cy="2689225"/>
            <a:chOff x="1693" y="1939"/>
            <a:chExt cx="930" cy="1601"/>
          </a:xfrm>
        </p:grpSpPr>
        <p:sp>
          <p:nvSpPr>
            <p:cNvPr id="35891" name="Line 32"/>
            <p:cNvSpPr>
              <a:spLocks noChangeShapeType="1"/>
            </p:cNvSpPr>
            <p:nvPr/>
          </p:nvSpPr>
          <p:spPr bwMode="auto">
            <a:xfrm flipH="1" flipV="1">
              <a:off x="1693" y="1939"/>
              <a:ext cx="357" cy="61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5892" name="Line 33"/>
            <p:cNvSpPr>
              <a:spLocks noChangeShapeType="1"/>
            </p:cNvSpPr>
            <p:nvPr/>
          </p:nvSpPr>
          <p:spPr bwMode="auto">
            <a:xfrm flipH="1" flipV="1">
              <a:off x="2266" y="2921"/>
              <a:ext cx="357" cy="61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triangle" w="lg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</p:grpSp>
      <p:grpSp>
        <p:nvGrpSpPr>
          <p:cNvPr id="11" name="Grupo 10"/>
          <p:cNvGrpSpPr>
            <a:grpSpLocks/>
          </p:cNvGrpSpPr>
          <p:nvPr/>
        </p:nvGrpSpPr>
        <p:grpSpPr bwMode="auto">
          <a:xfrm>
            <a:off x="5402414" y="418553"/>
            <a:ext cx="4909739" cy="595410"/>
            <a:chOff x="5512124" y="1848644"/>
            <a:chExt cx="4909741" cy="595756"/>
          </a:xfrm>
        </p:grpSpPr>
        <p:sp>
          <p:nvSpPr>
            <p:cNvPr id="35886" name="Rectangle 105"/>
            <p:cNvSpPr>
              <a:spLocks noChangeArrowheads="1"/>
            </p:cNvSpPr>
            <p:nvPr/>
          </p:nvSpPr>
          <p:spPr bwMode="auto">
            <a:xfrm>
              <a:off x="5512124" y="1878689"/>
              <a:ext cx="4909741" cy="565711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 anchor="ctr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5887" name="Object 80"/>
            <p:cNvGraphicFramePr>
              <a:graphicFrameLocks noChangeAspect="1"/>
            </p:cNvGraphicFramePr>
            <p:nvPr/>
          </p:nvGraphicFramePr>
          <p:xfrm>
            <a:off x="9837469" y="1867030"/>
            <a:ext cx="568325" cy="568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4" imgW="215619" imgH="215619" progId="Equation.3">
                    <p:embed/>
                  </p:oleObj>
                </mc:Choice>
                <mc:Fallback>
                  <p:oleObj name="Ecuación" r:id="rId24" imgW="215619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37469" y="1867030"/>
                          <a:ext cx="568325" cy="568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8" name="Text Box 99"/>
            <p:cNvSpPr txBox="1">
              <a:spLocks noChangeArrowheads="1"/>
            </p:cNvSpPr>
            <p:nvPr/>
          </p:nvSpPr>
          <p:spPr bwMode="auto">
            <a:xfrm>
              <a:off x="5532002" y="1931223"/>
              <a:ext cx="4584650" cy="464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Componentes de        y      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 a        </a:t>
              </a:r>
            </a:p>
          </p:txBody>
        </p:sp>
        <p:graphicFrame>
          <p:nvGraphicFramePr>
            <p:cNvPr id="35889" name="Object 80"/>
            <p:cNvGraphicFramePr>
              <a:graphicFrameLocks noChangeAspect="1"/>
            </p:cNvGraphicFramePr>
            <p:nvPr/>
          </p:nvGraphicFramePr>
          <p:xfrm>
            <a:off x="7993446" y="1863257"/>
            <a:ext cx="571100" cy="571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5" imgW="253780" imgH="253780" progId="Equation.3">
                    <p:embed/>
                  </p:oleObj>
                </mc:Choice>
                <mc:Fallback>
                  <p:oleObj name="Ecuación" r:id="rId25" imgW="253780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93446" y="1863257"/>
                          <a:ext cx="571100" cy="571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0" name="Object 80"/>
            <p:cNvGraphicFramePr>
              <a:graphicFrameLocks noChangeAspect="1"/>
            </p:cNvGraphicFramePr>
            <p:nvPr/>
          </p:nvGraphicFramePr>
          <p:xfrm>
            <a:off x="8812640" y="1848644"/>
            <a:ext cx="542925" cy="569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7" imgW="241195" imgH="253890" progId="Equation.3">
                    <p:embed/>
                  </p:oleObj>
                </mc:Choice>
                <mc:Fallback>
                  <p:oleObj name="Ecuación" r:id="rId27" imgW="241195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12640" y="1848644"/>
                          <a:ext cx="542925" cy="5699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85" name="Text Box 21"/>
          <p:cNvSpPr txBox="1">
            <a:spLocks noChangeAspect="1" noChangeArrowheads="1"/>
          </p:cNvSpPr>
          <p:nvPr/>
        </p:nvSpPr>
        <p:spPr bwMode="auto">
          <a:xfrm>
            <a:off x="3935805" y="2927086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</a:p>
        </p:txBody>
      </p:sp>
      <p:pic>
        <p:nvPicPr>
          <p:cNvPr id="73" name="Imagen 72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646" y="2583067"/>
            <a:ext cx="705162" cy="714823"/>
          </a:xfrm>
          <a:prstGeom prst="rect">
            <a:avLst/>
          </a:prstGeom>
        </p:spPr>
      </p:pic>
      <p:grpSp>
        <p:nvGrpSpPr>
          <p:cNvPr id="9" name="Grupo 8"/>
          <p:cNvGrpSpPr/>
          <p:nvPr/>
        </p:nvGrpSpPr>
        <p:grpSpPr>
          <a:xfrm>
            <a:off x="8106496" y="903563"/>
            <a:ext cx="2360737" cy="703181"/>
            <a:chOff x="8176832" y="903563"/>
            <a:chExt cx="2360737" cy="703181"/>
          </a:xfrm>
        </p:grpSpPr>
        <p:sp>
          <p:nvSpPr>
            <p:cNvPr id="63" name="Text Box 103"/>
            <p:cNvSpPr txBox="1">
              <a:spLocks noChangeArrowheads="1"/>
            </p:cNvSpPr>
            <p:nvPr/>
          </p:nvSpPr>
          <p:spPr bwMode="auto">
            <a:xfrm>
              <a:off x="8176832" y="1142898"/>
              <a:ext cx="2360737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perpendiculares</a:t>
              </a:r>
            </a:p>
          </p:txBody>
        </p:sp>
        <p:cxnSp>
          <p:nvCxnSpPr>
            <p:cNvPr id="64" name="Conector recto de flecha 63"/>
            <p:cNvCxnSpPr>
              <a:cxnSpLocks/>
            </p:cNvCxnSpPr>
            <p:nvPr/>
          </p:nvCxnSpPr>
          <p:spPr bwMode="auto">
            <a:xfrm>
              <a:off x="9420970" y="903563"/>
              <a:ext cx="0" cy="270474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5" name="Text Box 10">
            <a:extLst>
              <a:ext uri="{FF2B5EF4-FFF2-40B4-BE49-F238E27FC236}">
                <a16:creationId xmlns:a16="http://schemas.microsoft.com/office/drawing/2014/main" id="{C35733F2-B953-4593-A96C-152E272D20B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27375" y="347663"/>
            <a:ext cx="35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2" name="Freeform 86">
            <a:extLst>
              <a:ext uri="{FF2B5EF4-FFF2-40B4-BE49-F238E27FC236}">
                <a16:creationId xmlns:a16="http://schemas.microsoft.com/office/drawing/2014/main" id="{2FCEB8D6-F395-40ED-87E2-2621A10A275E}"/>
              </a:ext>
            </a:extLst>
          </p:cNvPr>
          <p:cNvSpPr>
            <a:spLocks/>
          </p:cNvSpPr>
          <p:nvPr/>
        </p:nvSpPr>
        <p:spPr bwMode="auto">
          <a:xfrm rot="7462918">
            <a:off x="2724808" y="2485223"/>
            <a:ext cx="307200" cy="95127"/>
          </a:xfrm>
          <a:custGeom>
            <a:avLst/>
            <a:gdLst>
              <a:gd name="T0" fmla="*/ 2147483646 w 611"/>
              <a:gd name="T1" fmla="*/ 0 h 153"/>
              <a:gd name="T2" fmla="*/ 2147483646 w 611"/>
              <a:gd name="T3" fmla="*/ 2147483646 h 153"/>
              <a:gd name="T4" fmla="*/ 0 w 611"/>
              <a:gd name="T5" fmla="*/ 2147483646 h 1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1" h="153">
                <a:moveTo>
                  <a:pt x="611" y="0"/>
                </a:moveTo>
                <a:cubicBezTo>
                  <a:pt x="511" y="74"/>
                  <a:pt x="411" y="149"/>
                  <a:pt x="309" y="151"/>
                </a:cubicBezTo>
                <a:cubicBezTo>
                  <a:pt x="207" y="153"/>
                  <a:pt x="103" y="83"/>
                  <a:pt x="0" y="1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arrow" w="med" len="med"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/>
          <a:lstStyle/>
          <a:p>
            <a:endParaRPr lang="en-GB" sz="2400"/>
          </a:p>
        </p:txBody>
      </p:sp>
      <p:sp>
        <p:nvSpPr>
          <p:cNvPr id="13" name="Freeform 86">
            <a:extLst>
              <a:ext uri="{FF2B5EF4-FFF2-40B4-BE49-F238E27FC236}">
                <a16:creationId xmlns:a16="http://schemas.microsoft.com/office/drawing/2014/main" id="{312EAC14-3E12-4FAD-91A8-34E6A5AC478F}"/>
              </a:ext>
            </a:extLst>
          </p:cNvPr>
          <p:cNvSpPr>
            <a:spLocks/>
          </p:cNvSpPr>
          <p:nvPr/>
        </p:nvSpPr>
        <p:spPr bwMode="auto">
          <a:xfrm rot="20892203">
            <a:off x="3282457" y="3437724"/>
            <a:ext cx="307200" cy="95127"/>
          </a:xfrm>
          <a:custGeom>
            <a:avLst/>
            <a:gdLst>
              <a:gd name="T0" fmla="*/ 2147483646 w 611"/>
              <a:gd name="T1" fmla="*/ 0 h 153"/>
              <a:gd name="T2" fmla="*/ 2147483646 w 611"/>
              <a:gd name="T3" fmla="*/ 2147483646 h 153"/>
              <a:gd name="T4" fmla="*/ 0 w 611"/>
              <a:gd name="T5" fmla="*/ 2147483646 h 1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1" h="153">
                <a:moveTo>
                  <a:pt x="611" y="0"/>
                </a:moveTo>
                <a:cubicBezTo>
                  <a:pt x="511" y="74"/>
                  <a:pt x="411" y="149"/>
                  <a:pt x="309" y="151"/>
                </a:cubicBezTo>
                <a:cubicBezTo>
                  <a:pt x="207" y="153"/>
                  <a:pt x="103" y="83"/>
                  <a:pt x="0" y="1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arrow" w="med" len="med"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4171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6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3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9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711" grpId="0"/>
      <p:bldP spid="6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upo 66"/>
          <p:cNvGrpSpPr>
            <a:grpSpLocks/>
          </p:cNvGrpSpPr>
          <p:nvPr/>
        </p:nvGrpSpPr>
        <p:grpSpPr bwMode="auto">
          <a:xfrm rot="18000731" flipV="1">
            <a:off x="1969042" y="1602907"/>
            <a:ext cx="1208088" cy="1535113"/>
            <a:chOff x="2776418" y="3157849"/>
            <a:chExt cx="1208457" cy="1535113"/>
          </a:xfrm>
        </p:grpSpPr>
        <p:sp>
          <p:nvSpPr>
            <p:cNvPr id="37942" name="AutoShape 91"/>
            <p:cNvSpPr>
              <a:spLocks noChangeArrowheads="1"/>
            </p:cNvSpPr>
            <p:nvPr/>
          </p:nvSpPr>
          <p:spPr bwMode="auto">
            <a:xfrm rot="3459830" flipH="1" flipV="1">
              <a:off x="2490667" y="3443600"/>
              <a:ext cx="1535113" cy="963612"/>
            </a:xfrm>
            <a:prstGeom prst="rtTriangl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43" name="Rectangle 89"/>
            <p:cNvSpPr>
              <a:spLocks noChangeArrowheads="1"/>
            </p:cNvSpPr>
            <p:nvPr/>
          </p:nvSpPr>
          <p:spPr bwMode="auto">
            <a:xfrm rot="3480000">
              <a:off x="3778500" y="4187843"/>
              <a:ext cx="217488" cy="1952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7891" name="Grupo 9"/>
          <p:cNvGrpSpPr>
            <a:grpSpLocks/>
          </p:cNvGrpSpPr>
          <p:nvPr/>
        </p:nvGrpSpPr>
        <p:grpSpPr bwMode="auto">
          <a:xfrm>
            <a:off x="2756442" y="3057058"/>
            <a:ext cx="1208087" cy="1535112"/>
            <a:chOff x="2776418" y="3157849"/>
            <a:chExt cx="1208457" cy="1535113"/>
          </a:xfrm>
        </p:grpSpPr>
        <p:sp>
          <p:nvSpPr>
            <p:cNvPr id="37940" name="AutoShape 91"/>
            <p:cNvSpPr>
              <a:spLocks noChangeArrowheads="1"/>
            </p:cNvSpPr>
            <p:nvPr/>
          </p:nvSpPr>
          <p:spPr bwMode="auto">
            <a:xfrm rot="3459830" flipH="1" flipV="1">
              <a:off x="2490667" y="3443600"/>
              <a:ext cx="1535113" cy="963612"/>
            </a:xfrm>
            <a:prstGeom prst="rtTriangl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41" name="Rectangle 89"/>
            <p:cNvSpPr>
              <a:spLocks noChangeArrowheads="1"/>
            </p:cNvSpPr>
            <p:nvPr/>
          </p:nvSpPr>
          <p:spPr bwMode="auto">
            <a:xfrm rot="3480000">
              <a:off x="3778500" y="4187843"/>
              <a:ext cx="217488" cy="1952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7892" name="Group 112"/>
          <p:cNvGrpSpPr>
            <a:grpSpLocks/>
          </p:cNvGrpSpPr>
          <p:nvPr/>
        </p:nvGrpSpPr>
        <p:grpSpPr bwMode="auto">
          <a:xfrm>
            <a:off x="930813" y="813920"/>
            <a:ext cx="4770439" cy="4143375"/>
            <a:chOff x="602" y="578"/>
            <a:chExt cx="3006" cy="2610"/>
          </a:xfrm>
        </p:grpSpPr>
        <p:sp>
          <p:nvSpPr>
            <p:cNvPr id="37938" name="Line 24"/>
            <p:cNvSpPr>
              <a:spLocks noChangeShapeType="1"/>
            </p:cNvSpPr>
            <p:nvPr/>
          </p:nvSpPr>
          <p:spPr bwMode="auto">
            <a:xfrm rot="3600000" flipH="1" flipV="1">
              <a:off x="2095" y="409"/>
              <a:ext cx="19" cy="3006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7939" name="Line 23"/>
            <p:cNvSpPr>
              <a:spLocks noChangeShapeType="1"/>
            </p:cNvSpPr>
            <p:nvPr/>
          </p:nvSpPr>
          <p:spPr bwMode="auto">
            <a:xfrm rot="19800000" flipV="1">
              <a:off x="2043" y="578"/>
              <a:ext cx="39" cy="261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</p:grpSp>
      <p:graphicFrame>
        <p:nvGraphicFramePr>
          <p:cNvPr id="196643" name="Object 3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04731141"/>
              </p:ext>
            </p:extLst>
          </p:nvPr>
        </p:nvGraphicFramePr>
        <p:xfrm>
          <a:off x="7054731" y="2371559"/>
          <a:ext cx="2474760" cy="841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231366" imgH="418918" progId="Equation.3">
                  <p:embed/>
                </p:oleObj>
              </mc:Choice>
              <mc:Fallback>
                <p:oleObj name="Ecuación" r:id="rId3" imgW="1231366" imgH="418918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4731" y="2371559"/>
                        <a:ext cx="2474760" cy="841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Line 6"/>
          <p:cNvSpPr>
            <a:spLocks noChangeAspect="1" noChangeShapeType="1"/>
          </p:cNvSpPr>
          <p:nvPr/>
        </p:nvSpPr>
        <p:spPr bwMode="auto">
          <a:xfrm rot="14400000">
            <a:off x="2940592" y="1802933"/>
            <a:ext cx="0" cy="269240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7895" name="AutoShape 9"/>
          <p:cNvSpPr>
            <a:spLocks noChangeAspect="1" noChangeArrowheads="1"/>
          </p:cNvSpPr>
          <p:nvPr/>
        </p:nvSpPr>
        <p:spPr bwMode="auto">
          <a:xfrm>
            <a:off x="1707104" y="1028233"/>
            <a:ext cx="3159125" cy="288290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7896" name="Picture 59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592" y="3561883"/>
            <a:ext cx="690562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7" name="Line 7"/>
          <p:cNvSpPr>
            <a:spLocks noChangeAspect="1" noChangeShapeType="1"/>
          </p:cNvSpPr>
          <p:nvPr/>
        </p:nvSpPr>
        <p:spPr bwMode="auto">
          <a:xfrm rot="7200000">
            <a:off x="3651792" y="1809283"/>
            <a:ext cx="0" cy="2692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7898" name="Line 8"/>
          <p:cNvSpPr>
            <a:spLocks noChangeAspect="1" noChangeShapeType="1"/>
          </p:cNvSpPr>
          <p:nvPr/>
        </p:nvSpPr>
        <p:spPr bwMode="auto">
          <a:xfrm>
            <a:off x="3283492" y="1069508"/>
            <a:ext cx="0" cy="28321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7899" name="Text Box 10"/>
          <p:cNvSpPr txBox="1">
            <a:spLocks noChangeAspect="1" noChangeArrowheads="1"/>
          </p:cNvSpPr>
          <p:nvPr/>
        </p:nvSpPr>
        <p:spPr bwMode="auto">
          <a:xfrm>
            <a:off x="3127375" y="347663"/>
            <a:ext cx="35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7901" name="Line 17"/>
          <p:cNvSpPr>
            <a:spLocks noChangeAspect="1" noChangeShapeType="1"/>
          </p:cNvSpPr>
          <p:nvPr/>
        </p:nvSpPr>
        <p:spPr bwMode="auto">
          <a:xfrm rot="7200000">
            <a:off x="2388142" y="1737845"/>
            <a:ext cx="6350" cy="13176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7902" name="Line 19"/>
          <p:cNvSpPr>
            <a:spLocks noChangeAspect="1" noChangeShapeType="1"/>
          </p:cNvSpPr>
          <p:nvPr/>
        </p:nvSpPr>
        <p:spPr bwMode="auto">
          <a:xfrm rot="14400000">
            <a:off x="4178394" y="1756170"/>
            <a:ext cx="7937" cy="13176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7903" name="Text Box 21"/>
          <p:cNvSpPr txBox="1">
            <a:spLocks noChangeAspect="1" noChangeArrowheads="1"/>
          </p:cNvSpPr>
          <p:nvPr/>
        </p:nvSpPr>
        <p:spPr bwMode="auto">
          <a:xfrm>
            <a:off x="3324767" y="2156326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</a:p>
        </p:txBody>
      </p:sp>
      <p:grpSp>
        <p:nvGrpSpPr>
          <p:cNvPr id="37904" name="Group 85"/>
          <p:cNvGrpSpPr>
            <a:grpSpLocks/>
          </p:cNvGrpSpPr>
          <p:nvPr/>
        </p:nvGrpSpPr>
        <p:grpSpPr bwMode="auto">
          <a:xfrm>
            <a:off x="1719804" y="1775945"/>
            <a:ext cx="2395538" cy="2686050"/>
            <a:chOff x="1096" y="2260"/>
            <a:chExt cx="1509" cy="1692"/>
          </a:xfrm>
        </p:grpSpPr>
        <p:sp>
          <p:nvSpPr>
            <p:cNvPr id="37936" name="Line 25"/>
            <p:cNvSpPr>
              <a:spLocks noChangeShapeType="1"/>
            </p:cNvSpPr>
            <p:nvPr/>
          </p:nvSpPr>
          <p:spPr bwMode="auto">
            <a:xfrm rot="3600000">
              <a:off x="1373" y="1983"/>
              <a:ext cx="13" cy="568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7937" name="Line 26"/>
            <p:cNvSpPr>
              <a:spLocks noChangeShapeType="1"/>
            </p:cNvSpPr>
            <p:nvPr/>
          </p:nvSpPr>
          <p:spPr bwMode="auto">
            <a:xfrm rot="3600000">
              <a:off x="2314" y="3662"/>
              <a:ext cx="13" cy="568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</p:grpSp>
      <p:sp>
        <p:nvSpPr>
          <p:cNvPr id="37905" name="Line 27"/>
          <p:cNvSpPr>
            <a:spLocks noChangeShapeType="1"/>
          </p:cNvSpPr>
          <p:nvPr/>
        </p:nvSpPr>
        <p:spPr bwMode="auto">
          <a:xfrm>
            <a:off x="1799179" y="2056933"/>
            <a:ext cx="1504950" cy="2682875"/>
          </a:xfrm>
          <a:prstGeom prst="line">
            <a:avLst/>
          </a:prstGeom>
          <a:noFill/>
          <a:ln w="25400">
            <a:solidFill>
              <a:srgbClr val="CC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pic>
        <p:nvPicPr>
          <p:cNvPr id="37907" name="Picture 58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067" y="739308"/>
            <a:ext cx="692150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8" name="Picture 60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404" y="3546008"/>
            <a:ext cx="690563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6711" name="Text Box 103"/>
          <p:cNvSpPr txBox="1">
            <a:spLocks noChangeArrowheads="1"/>
          </p:cNvSpPr>
          <p:nvPr/>
        </p:nvSpPr>
        <p:spPr bwMode="auto">
          <a:xfrm>
            <a:off x="5426060" y="5936668"/>
            <a:ext cx="4913310" cy="907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Son iguales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en todo: su suma vale el doble de cualquiera de ellas</a:t>
            </a:r>
          </a:p>
        </p:txBody>
      </p:sp>
      <p:graphicFrame>
        <p:nvGraphicFramePr>
          <p:cNvPr id="196717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406925"/>
              </p:ext>
            </p:extLst>
          </p:nvPr>
        </p:nvGraphicFramePr>
        <p:xfrm>
          <a:off x="6246813" y="1595271"/>
          <a:ext cx="26638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218960" imgH="304560" progId="Equation.3">
                  <p:embed/>
                </p:oleObj>
              </mc:Choice>
              <mc:Fallback>
                <p:oleObj name="Ecuación" r:id="rId6" imgW="12189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3" y="1595271"/>
                        <a:ext cx="26638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2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034477"/>
              </p:ext>
            </p:extLst>
          </p:nvPr>
        </p:nvGraphicFramePr>
        <p:xfrm>
          <a:off x="2959397" y="4661948"/>
          <a:ext cx="6016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228501" imgH="215806" progId="Equation.3">
                  <p:embed/>
                </p:oleObj>
              </mc:Choice>
              <mc:Fallback>
                <p:oleObj name="Ecuación" r:id="rId8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397" y="4661948"/>
                        <a:ext cx="60166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3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345669"/>
              </p:ext>
            </p:extLst>
          </p:nvPr>
        </p:nvGraphicFramePr>
        <p:xfrm>
          <a:off x="1231919" y="1746620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215619" imgH="215619" progId="Equation.3">
                  <p:embed/>
                </p:oleObj>
              </mc:Choice>
              <mc:Fallback>
                <p:oleObj name="Ecuación" r:id="rId10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19" y="1746620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4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172631"/>
              </p:ext>
            </p:extLst>
          </p:nvPr>
        </p:nvGraphicFramePr>
        <p:xfrm>
          <a:off x="4386804" y="1298108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215619" imgH="215619" progId="Equation.3">
                  <p:embed/>
                </p:oleObj>
              </mc:Choice>
              <mc:Fallback>
                <p:oleObj name="Ecuación" r:id="rId12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6804" y="1298108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5" name="Line 18"/>
          <p:cNvSpPr>
            <a:spLocks noChangeAspect="1" noChangeShapeType="1"/>
          </p:cNvSpPr>
          <p:nvPr/>
        </p:nvSpPr>
        <p:spPr bwMode="auto">
          <a:xfrm>
            <a:off x="3286667" y="3309470"/>
            <a:ext cx="6350" cy="138747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grpSp>
        <p:nvGrpSpPr>
          <p:cNvPr id="33900" name="Group 108"/>
          <p:cNvGrpSpPr>
            <a:grpSpLocks/>
          </p:cNvGrpSpPr>
          <p:nvPr/>
        </p:nvGrpSpPr>
        <p:grpSpPr bwMode="auto">
          <a:xfrm>
            <a:off x="6264405" y="393633"/>
            <a:ext cx="3376858" cy="608013"/>
            <a:chOff x="3276" y="839"/>
            <a:chExt cx="2126" cy="383"/>
          </a:xfrm>
        </p:grpSpPr>
        <p:sp>
          <p:nvSpPr>
            <p:cNvPr id="37930" name="Rectangle 105"/>
            <p:cNvSpPr>
              <a:spLocks noChangeArrowheads="1"/>
            </p:cNvSpPr>
            <p:nvPr/>
          </p:nvSpPr>
          <p:spPr bwMode="auto">
            <a:xfrm>
              <a:off x="3276" y="858"/>
              <a:ext cx="2126" cy="36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7931" name="Group 100"/>
            <p:cNvGrpSpPr>
              <a:grpSpLocks/>
            </p:cNvGrpSpPr>
            <p:nvPr/>
          </p:nvGrpSpPr>
          <p:grpSpPr bwMode="auto">
            <a:xfrm>
              <a:off x="3276" y="839"/>
              <a:ext cx="2126" cy="358"/>
              <a:chOff x="2825" y="573"/>
              <a:chExt cx="2126" cy="358"/>
            </a:xfrm>
          </p:grpSpPr>
          <p:graphicFrame>
            <p:nvGraphicFramePr>
              <p:cNvPr id="37932" name="Object 80"/>
              <p:cNvGraphicFramePr>
                <a:graphicFrameLocks noChangeAspect="1"/>
              </p:cNvGraphicFramePr>
              <p:nvPr/>
            </p:nvGraphicFramePr>
            <p:xfrm>
              <a:off x="4520" y="573"/>
              <a:ext cx="358" cy="3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4" imgW="215619" imgH="215619" progId="Equation.3">
                      <p:embed/>
                    </p:oleObj>
                  </mc:Choice>
                  <mc:Fallback>
                    <p:oleObj name="Ecuación" r:id="rId14" imgW="215619" imgH="21561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0" y="573"/>
                            <a:ext cx="358" cy="3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33" name="Text Box 99"/>
              <p:cNvSpPr txBox="1">
                <a:spLocks noChangeArrowheads="1"/>
              </p:cNvSpPr>
              <p:nvPr/>
            </p:nvSpPr>
            <p:spPr bwMode="auto">
              <a:xfrm>
                <a:off x="2825" y="625"/>
                <a:ext cx="2126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Componentes  </a:t>
                </a: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// a        </a:t>
                </a:r>
              </a:p>
            </p:txBody>
          </p:sp>
        </p:grpSp>
      </p:grpSp>
      <p:graphicFrame>
        <p:nvGraphicFramePr>
          <p:cNvPr id="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792128"/>
              </p:ext>
            </p:extLst>
          </p:nvPr>
        </p:nvGraphicFramePr>
        <p:xfrm>
          <a:off x="7033044" y="4090058"/>
          <a:ext cx="2511091" cy="861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5" imgW="1219200" imgH="419100" progId="Equation.3">
                  <p:embed/>
                </p:oleObj>
              </mc:Choice>
              <mc:Fallback>
                <p:oleObj name="Ecuación" r:id="rId15" imgW="1219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3044" y="4090058"/>
                        <a:ext cx="2511091" cy="861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834844"/>
              </p:ext>
            </p:extLst>
          </p:nvPr>
        </p:nvGraphicFramePr>
        <p:xfrm>
          <a:off x="6263211" y="3320921"/>
          <a:ext cx="26511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7" imgW="1206360" imgH="304560" progId="Equation.3">
                  <p:embed/>
                </p:oleObj>
              </mc:Choice>
              <mc:Fallback>
                <p:oleObj name="Ecuación" r:id="rId17" imgW="12063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3211" y="3320921"/>
                        <a:ext cx="2651125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993796"/>
              </p:ext>
            </p:extLst>
          </p:nvPr>
        </p:nvGraphicFramePr>
        <p:xfrm>
          <a:off x="6175183" y="5218586"/>
          <a:ext cx="12509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9" imgW="634725" imgH="241195" progId="Equation.3">
                  <p:embed/>
                </p:oleObj>
              </mc:Choice>
              <mc:Fallback>
                <p:oleObj name="Ecuación" r:id="rId19" imgW="634725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183" y="5218586"/>
                        <a:ext cx="12509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279324"/>
              </p:ext>
            </p:extLst>
          </p:nvPr>
        </p:nvGraphicFramePr>
        <p:xfrm>
          <a:off x="7550674" y="5154594"/>
          <a:ext cx="21336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1" imgW="1066680" imgH="304560" progId="Equation.3">
                  <p:embed/>
                </p:oleObj>
              </mc:Choice>
              <mc:Fallback>
                <p:oleObj name="Ecuación" r:id="rId21" imgW="10666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674" y="5154594"/>
                        <a:ext cx="21336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22" name="Group 90"/>
          <p:cNvGrpSpPr>
            <a:grpSpLocks/>
          </p:cNvGrpSpPr>
          <p:nvPr/>
        </p:nvGrpSpPr>
        <p:grpSpPr bwMode="auto">
          <a:xfrm>
            <a:off x="2296067" y="2047408"/>
            <a:ext cx="1506537" cy="2054225"/>
            <a:chOff x="1451" y="593"/>
            <a:chExt cx="949" cy="1294"/>
          </a:xfrm>
        </p:grpSpPr>
        <p:sp>
          <p:nvSpPr>
            <p:cNvPr id="37928" name="Text Box 87"/>
            <p:cNvSpPr txBox="1">
              <a:spLocks noChangeArrowheads="1"/>
            </p:cNvSpPr>
            <p:nvPr/>
          </p:nvSpPr>
          <p:spPr bwMode="auto">
            <a:xfrm>
              <a:off x="2050" y="1637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30º</a:t>
              </a:r>
            </a:p>
          </p:txBody>
        </p:sp>
        <p:sp>
          <p:nvSpPr>
            <p:cNvPr id="37929" name="Text Box 87"/>
            <p:cNvSpPr txBox="1">
              <a:spLocks noChangeArrowheads="1"/>
            </p:cNvSpPr>
            <p:nvPr/>
          </p:nvSpPr>
          <p:spPr bwMode="auto">
            <a:xfrm>
              <a:off x="1451" y="593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30º</a:t>
              </a:r>
            </a:p>
          </p:txBody>
        </p:sp>
      </p:grpSp>
      <p:sp>
        <p:nvSpPr>
          <p:cNvPr id="37924" name="Text Box 21"/>
          <p:cNvSpPr txBox="1">
            <a:spLocks noChangeAspect="1" noChangeArrowheads="1"/>
          </p:cNvSpPr>
          <p:nvPr/>
        </p:nvSpPr>
        <p:spPr bwMode="auto">
          <a:xfrm>
            <a:off x="3928017" y="2920533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</a:p>
        </p:txBody>
      </p:sp>
      <p:sp>
        <p:nvSpPr>
          <p:cNvPr id="73" name="Line 30"/>
          <p:cNvSpPr>
            <a:spLocks noChangeShapeType="1"/>
          </p:cNvSpPr>
          <p:nvPr/>
        </p:nvSpPr>
        <p:spPr bwMode="auto">
          <a:xfrm flipH="1">
            <a:off x="2514798" y="2934753"/>
            <a:ext cx="717550" cy="44926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67" name="Line 30"/>
          <p:cNvSpPr>
            <a:spLocks noChangeShapeType="1"/>
          </p:cNvSpPr>
          <p:nvPr/>
        </p:nvSpPr>
        <p:spPr bwMode="auto">
          <a:xfrm flipH="1">
            <a:off x="2509091" y="2927893"/>
            <a:ext cx="717550" cy="44926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74" name="Line 31"/>
          <p:cNvSpPr>
            <a:spLocks noChangeShapeType="1"/>
          </p:cNvSpPr>
          <p:nvPr/>
        </p:nvSpPr>
        <p:spPr bwMode="auto">
          <a:xfrm flipH="1">
            <a:off x="1881028" y="3071559"/>
            <a:ext cx="1127125" cy="6762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569" y="2556642"/>
            <a:ext cx="705162" cy="714823"/>
          </a:xfrm>
          <a:prstGeom prst="rect">
            <a:avLst/>
          </a:prstGeom>
        </p:spPr>
      </p:pic>
      <p:sp>
        <p:nvSpPr>
          <p:cNvPr id="56" name="Line 30"/>
          <p:cNvSpPr>
            <a:spLocks noChangeShapeType="1"/>
          </p:cNvSpPr>
          <p:nvPr/>
        </p:nvSpPr>
        <p:spPr bwMode="auto">
          <a:xfrm flipH="1">
            <a:off x="3296864" y="4269020"/>
            <a:ext cx="680315" cy="435624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57" name="Line 30"/>
          <p:cNvSpPr>
            <a:spLocks noChangeShapeType="1"/>
          </p:cNvSpPr>
          <p:nvPr/>
        </p:nvSpPr>
        <p:spPr bwMode="auto">
          <a:xfrm flipH="1">
            <a:off x="1831935" y="1618777"/>
            <a:ext cx="680315" cy="435624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70" name="Line 30"/>
          <p:cNvSpPr>
            <a:spLocks noChangeShapeType="1"/>
          </p:cNvSpPr>
          <p:nvPr/>
        </p:nvSpPr>
        <p:spPr bwMode="auto">
          <a:xfrm flipH="1">
            <a:off x="2490192" y="3070459"/>
            <a:ext cx="501650" cy="3175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grpSp>
        <p:nvGrpSpPr>
          <p:cNvPr id="58" name="Grupo 57"/>
          <p:cNvGrpSpPr/>
          <p:nvPr/>
        </p:nvGrpSpPr>
        <p:grpSpPr>
          <a:xfrm>
            <a:off x="6425156" y="903563"/>
            <a:ext cx="4041971" cy="625746"/>
            <a:chOff x="7369693" y="903563"/>
            <a:chExt cx="4041971" cy="625746"/>
          </a:xfrm>
        </p:grpSpPr>
        <p:sp>
          <p:nvSpPr>
            <p:cNvPr id="59" name="Text Box 103"/>
            <p:cNvSpPr txBox="1">
              <a:spLocks noChangeArrowheads="1"/>
            </p:cNvSpPr>
            <p:nvPr/>
          </p:nvSpPr>
          <p:spPr bwMode="auto">
            <a:xfrm>
              <a:off x="7369693" y="1065463"/>
              <a:ext cx="4041971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paralelas (misma dirección)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0" name="Conector recto de flecha 59"/>
            <p:cNvCxnSpPr>
              <a:cxnSpLocks/>
            </p:cNvCxnSpPr>
            <p:nvPr/>
          </p:nvCxnSpPr>
          <p:spPr bwMode="auto">
            <a:xfrm>
              <a:off x="9420970" y="903563"/>
              <a:ext cx="0" cy="270474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1" name="Text Box 12">
            <a:extLst>
              <a:ext uri="{FF2B5EF4-FFF2-40B4-BE49-F238E27FC236}">
                <a16:creationId xmlns:a16="http://schemas.microsoft.com/office/drawing/2014/main" id="{9603CE79-3541-4AB1-9E1F-A246B0FA28D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37661" y="4269902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62" name="Text Box 11">
            <a:extLst>
              <a:ext uri="{FF2B5EF4-FFF2-40B4-BE49-F238E27FC236}">
                <a16:creationId xmlns:a16="http://schemas.microsoft.com/office/drawing/2014/main" id="{C6350A50-A3E3-48FB-A350-2D3B8FD5098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93636" y="4243598"/>
            <a:ext cx="350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6" name="Freeform 86">
            <a:extLst>
              <a:ext uri="{FF2B5EF4-FFF2-40B4-BE49-F238E27FC236}">
                <a16:creationId xmlns:a16="http://schemas.microsoft.com/office/drawing/2014/main" id="{D2ECB7EE-B915-4C33-A4B6-3301D1D09453}"/>
              </a:ext>
            </a:extLst>
          </p:cNvPr>
          <p:cNvSpPr>
            <a:spLocks/>
          </p:cNvSpPr>
          <p:nvPr/>
        </p:nvSpPr>
        <p:spPr bwMode="auto">
          <a:xfrm rot="7462918">
            <a:off x="2724808" y="2485223"/>
            <a:ext cx="307200" cy="95127"/>
          </a:xfrm>
          <a:custGeom>
            <a:avLst/>
            <a:gdLst>
              <a:gd name="T0" fmla="*/ 2147483646 w 611"/>
              <a:gd name="T1" fmla="*/ 0 h 153"/>
              <a:gd name="T2" fmla="*/ 2147483646 w 611"/>
              <a:gd name="T3" fmla="*/ 2147483646 h 153"/>
              <a:gd name="T4" fmla="*/ 0 w 611"/>
              <a:gd name="T5" fmla="*/ 2147483646 h 1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1" h="153">
                <a:moveTo>
                  <a:pt x="611" y="0"/>
                </a:moveTo>
                <a:cubicBezTo>
                  <a:pt x="511" y="74"/>
                  <a:pt x="411" y="149"/>
                  <a:pt x="309" y="151"/>
                </a:cubicBezTo>
                <a:cubicBezTo>
                  <a:pt x="207" y="153"/>
                  <a:pt x="103" y="83"/>
                  <a:pt x="0" y="1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arrow" w="med" len="med"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/>
          <a:lstStyle/>
          <a:p>
            <a:endParaRPr lang="en-GB" sz="2400"/>
          </a:p>
        </p:txBody>
      </p:sp>
      <p:sp>
        <p:nvSpPr>
          <p:cNvPr id="7" name="Freeform 86">
            <a:extLst>
              <a:ext uri="{FF2B5EF4-FFF2-40B4-BE49-F238E27FC236}">
                <a16:creationId xmlns:a16="http://schemas.microsoft.com/office/drawing/2014/main" id="{BF678FC5-D6DF-4502-8A84-7871C7AB8DC6}"/>
              </a:ext>
            </a:extLst>
          </p:cNvPr>
          <p:cNvSpPr>
            <a:spLocks/>
          </p:cNvSpPr>
          <p:nvPr/>
        </p:nvSpPr>
        <p:spPr bwMode="auto">
          <a:xfrm rot="20892203">
            <a:off x="3282457" y="3437724"/>
            <a:ext cx="307200" cy="95127"/>
          </a:xfrm>
          <a:custGeom>
            <a:avLst/>
            <a:gdLst>
              <a:gd name="T0" fmla="*/ 2147483646 w 611"/>
              <a:gd name="T1" fmla="*/ 0 h 153"/>
              <a:gd name="T2" fmla="*/ 2147483646 w 611"/>
              <a:gd name="T3" fmla="*/ 2147483646 h 153"/>
              <a:gd name="T4" fmla="*/ 0 w 611"/>
              <a:gd name="T5" fmla="*/ 2147483646 h 1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1" h="153">
                <a:moveTo>
                  <a:pt x="611" y="0"/>
                </a:moveTo>
                <a:cubicBezTo>
                  <a:pt x="511" y="74"/>
                  <a:pt x="411" y="149"/>
                  <a:pt x="309" y="151"/>
                </a:cubicBezTo>
                <a:cubicBezTo>
                  <a:pt x="207" y="153"/>
                  <a:pt x="103" y="83"/>
                  <a:pt x="0" y="1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arrow" w="med" len="med"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/>
          <a:lstStyle/>
          <a:p>
            <a:endParaRPr lang="en-GB" sz="2400"/>
          </a:p>
        </p:txBody>
      </p:sp>
      <p:grpSp>
        <p:nvGrpSpPr>
          <p:cNvPr id="8" name="Group 97">
            <a:extLst>
              <a:ext uri="{FF2B5EF4-FFF2-40B4-BE49-F238E27FC236}">
                <a16:creationId xmlns:a16="http://schemas.microsoft.com/office/drawing/2014/main" id="{A52A598C-3C0E-1791-8CAD-F592B2AA40BD}"/>
              </a:ext>
            </a:extLst>
          </p:cNvPr>
          <p:cNvGrpSpPr>
            <a:grpSpLocks/>
          </p:cNvGrpSpPr>
          <p:nvPr/>
        </p:nvGrpSpPr>
        <p:grpSpPr bwMode="auto">
          <a:xfrm>
            <a:off x="1976049" y="5341987"/>
            <a:ext cx="2533650" cy="1284287"/>
            <a:chOff x="1259" y="3435"/>
            <a:chExt cx="1596" cy="809"/>
          </a:xfrm>
        </p:grpSpPr>
        <p:sp>
          <p:nvSpPr>
            <p:cNvPr id="9" name="Rectangle 51">
              <a:extLst>
                <a:ext uri="{FF2B5EF4-FFF2-40B4-BE49-F238E27FC236}">
                  <a16:creationId xmlns:a16="http://schemas.microsoft.com/office/drawing/2014/main" id="{2F791637-E0C0-6813-B273-ED27F09C0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" y="3435"/>
              <a:ext cx="1596" cy="809"/>
            </a:xfrm>
            <a:prstGeom prst="rect">
              <a:avLst/>
            </a:prstGeom>
            <a:noFill/>
            <a:ln w="38100" algn="ctr">
              <a:solidFill>
                <a:srgbClr val="99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0" name="Object 60">
              <a:extLst>
                <a:ext uri="{FF2B5EF4-FFF2-40B4-BE49-F238E27FC236}">
                  <a16:creationId xmlns:a16="http://schemas.microsoft.com/office/drawing/2014/main" id="{1E5DF327-4071-C1A3-D4DC-E5B200319F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3" y="3552"/>
            <a:ext cx="1411" cy="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4" imgW="1117600" imgH="469900" progId="Equation.3">
                    <p:embed/>
                  </p:oleObj>
                </mc:Choice>
                <mc:Fallback>
                  <p:oleObj name="Ecuación" r:id="rId24" imgW="1117600" imgH="469900" progId="Equation.3">
                    <p:embed/>
                    <p:pic>
                      <p:nvPicPr>
                        <p:cNvPr id="35896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3" y="3552"/>
                          <a:ext cx="1411" cy="5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2436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7578E-8 -2.52205E-6 L 0.07055 0.18254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7" y="91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6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4 -0.00397 L -0.06511 -0.18232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5" y="-89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9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711" grpId="0"/>
      <p:bldP spid="73" grpId="1" animBg="1"/>
      <p:bldP spid="73" grpId="2" animBg="1"/>
      <p:bldP spid="67" grpId="0" animBg="1"/>
      <p:bldP spid="67" grpId="1" animBg="1"/>
      <p:bldP spid="74" grpId="0" animBg="1"/>
      <p:bldP spid="56" grpId="0" animBg="1"/>
      <p:bldP spid="57" grpId="0" animBg="1"/>
      <p:bldP spid="7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91">
            <a:extLst>
              <a:ext uri="{FF2B5EF4-FFF2-40B4-BE49-F238E27FC236}">
                <a16:creationId xmlns:a16="http://schemas.microsoft.com/office/drawing/2014/main" id="{7F588F95-24A1-737F-3525-1BA2C22033A5}"/>
              </a:ext>
            </a:extLst>
          </p:cNvPr>
          <p:cNvSpPr>
            <a:spLocks noChangeArrowheads="1"/>
          </p:cNvSpPr>
          <p:nvPr/>
        </p:nvSpPr>
        <p:spPr bwMode="auto">
          <a:xfrm rot="3459830" flipH="1" flipV="1">
            <a:off x="2492316" y="3658647"/>
            <a:ext cx="1535112" cy="963317"/>
          </a:xfrm>
          <a:prstGeom prst="rtTriangle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38" name="AutoShape 9"/>
          <p:cNvSpPr>
            <a:spLocks noChangeAspect="1" noChangeArrowheads="1"/>
          </p:cNvSpPr>
          <p:nvPr/>
        </p:nvSpPr>
        <p:spPr bwMode="auto">
          <a:xfrm>
            <a:off x="1727200" y="1289481"/>
            <a:ext cx="3159125" cy="2882900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39" name="Line 6"/>
          <p:cNvSpPr>
            <a:spLocks noChangeAspect="1" noChangeShapeType="1"/>
          </p:cNvSpPr>
          <p:nvPr/>
        </p:nvSpPr>
        <p:spPr bwMode="auto">
          <a:xfrm rot="14400000">
            <a:off x="2960688" y="2064181"/>
            <a:ext cx="0" cy="2692400"/>
          </a:xfrm>
          <a:prstGeom prst="line">
            <a:avLst/>
          </a:prstGeom>
          <a:noFill/>
          <a:ln w="25400">
            <a:solidFill>
              <a:srgbClr val="008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grpSp>
        <p:nvGrpSpPr>
          <p:cNvPr id="39940" name="Group 76"/>
          <p:cNvGrpSpPr>
            <a:grpSpLocks/>
          </p:cNvGrpSpPr>
          <p:nvPr/>
        </p:nvGrpSpPr>
        <p:grpSpPr bwMode="auto">
          <a:xfrm>
            <a:off x="900113" y="1089456"/>
            <a:ext cx="4776787" cy="4143375"/>
            <a:chOff x="567" y="578"/>
            <a:chExt cx="3009" cy="2610"/>
          </a:xfrm>
        </p:grpSpPr>
        <p:sp>
          <p:nvSpPr>
            <p:cNvPr id="39972" name="Line 24"/>
            <p:cNvSpPr>
              <a:spLocks noChangeShapeType="1"/>
            </p:cNvSpPr>
            <p:nvPr/>
          </p:nvSpPr>
          <p:spPr bwMode="auto">
            <a:xfrm rot="3600000" flipH="1" flipV="1">
              <a:off x="2070" y="400"/>
              <a:ext cx="4" cy="3009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39973" name="Line 23"/>
            <p:cNvSpPr>
              <a:spLocks noChangeShapeType="1"/>
            </p:cNvSpPr>
            <p:nvPr/>
          </p:nvSpPr>
          <p:spPr bwMode="auto">
            <a:xfrm rot="19800000" flipV="1">
              <a:off x="2043" y="578"/>
              <a:ext cx="39" cy="2610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</p:grpSp>
      <p:pic>
        <p:nvPicPr>
          <p:cNvPr id="39941" name="Picture 59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825" y="3826306"/>
            <a:ext cx="690563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Line 31"/>
          <p:cNvSpPr>
            <a:spLocks noChangeShapeType="1"/>
          </p:cNvSpPr>
          <p:nvPr/>
        </p:nvSpPr>
        <p:spPr bwMode="auto">
          <a:xfrm flipH="1">
            <a:off x="1816099" y="3362360"/>
            <a:ext cx="1186202" cy="71477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graphicFrame>
        <p:nvGraphicFramePr>
          <p:cNvPr id="196643" name="Object 3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747554365"/>
              </p:ext>
            </p:extLst>
          </p:nvPr>
        </p:nvGraphicFramePr>
        <p:xfrm>
          <a:off x="5595507" y="2841487"/>
          <a:ext cx="160655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685800" imgH="419100" progId="Equation.3">
                  <p:embed/>
                </p:oleObj>
              </mc:Choice>
              <mc:Fallback>
                <p:oleObj name="Ecuación" r:id="rId4" imgW="685800" imgH="4191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507" y="2841487"/>
                        <a:ext cx="160655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9195957" y="2936737"/>
            <a:ext cx="749300" cy="1397000"/>
            <a:chOff x="5849" y="2155"/>
            <a:chExt cx="472" cy="880"/>
          </a:xfrm>
        </p:grpSpPr>
        <p:sp>
          <p:nvSpPr>
            <p:cNvPr id="39970" name="Line 39"/>
            <p:cNvSpPr>
              <a:spLocks noChangeShapeType="1"/>
            </p:cNvSpPr>
            <p:nvPr/>
          </p:nvSpPr>
          <p:spPr bwMode="auto">
            <a:xfrm flipH="1">
              <a:off x="6037" y="2155"/>
              <a:ext cx="284" cy="5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s-ES"/>
            </a:p>
          </p:txBody>
        </p:sp>
        <p:sp>
          <p:nvSpPr>
            <p:cNvPr id="39971" name="Text Box 40"/>
            <p:cNvSpPr txBox="1">
              <a:spLocks noChangeArrowheads="1"/>
            </p:cNvSpPr>
            <p:nvPr/>
          </p:nvSpPr>
          <p:spPr bwMode="auto">
            <a:xfrm>
              <a:off x="5849" y="2743"/>
              <a:ext cx="27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½</a:t>
              </a:r>
            </a:p>
          </p:txBody>
        </p:sp>
      </p:grpSp>
      <p:sp>
        <p:nvSpPr>
          <p:cNvPr id="53258" name="Text Box 41"/>
          <p:cNvSpPr txBox="1">
            <a:spLocks noChangeArrowheads="1"/>
          </p:cNvSpPr>
          <p:nvPr/>
        </p:nvSpPr>
        <p:spPr bwMode="auto">
          <a:xfrm>
            <a:off x="5660528" y="6222169"/>
            <a:ext cx="3217200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2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96655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732130"/>
              </p:ext>
            </p:extLst>
          </p:nvPr>
        </p:nvGraphicFramePr>
        <p:xfrm>
          <a:off x="7152845" y="2827200"/>
          <a:ext cx="31464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308100" imgH="419100" progId="Equation.3">
                  <p:embed/>
                </p:oleObj>
              </mc:Choice>
              <mc:Fallback>
                <p:oleObj name="Ecuación" r:id="rId6" imgW="13081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2845" y="2827200"/>
                        <a:ext cx="314642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7" name="Line 7"/>
          <p:cNvSpPr>
            <a:spLocks noChangeAspect="1" noChangeShapeType="1"/>
          </p:cNvSpPr>
          <p:nvPr/>
        </p:nvSpPr>
        <p:spPr bwMode="auto">
          <a:xfrm rot="7200000">
            <a:off x="3649663" y="2054656"/>
            <a:ext cx="0" cy="2692400"/>
          </a:xfrm>
          <a:prstGeom prst="line">
            <a:avLst/>
          </a:prstGeom>
          <a:noFill/>
          <a:ln w="25400">
            <a:solidFill>
              <a:srgbClr val="008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9948" name="Line 8"/>
          <p:cNvSpPr>
            <a:spLocks noChangeAspect="1" noChangeShapeType="1"/>
          </p:cNvSpPr>
          <p:nvPr/>
        </p:nvSpPr>
        <p:spPr bwMode="auto">
          <a:xfrm>
            <a:off x="3303588" y="1330756"/>
            <a:ext cx="0" cy="2832100"/>
          </a:xfrm>
          <a:prstGeom prst="line">
            <a:avLst/>
          </a:prstGeom>
          <a:noFill/>
          <a:ln w="25400">
            <a:solidFill>
              <a:srgbClr val="008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9949" name="Text Box 10"/>
          <p:cNvSpPr txBox="1">
            <a:spLocks noChangeAspect="1" noChangeArrowheads="1"/>
          </p:cNvSpPr>
          <p:nvPr/>
        </p:nvSpPr>
        <p:spPr bwMode="auto">
          <a:xfrm>
            <a:off x="3127375" y="508431"/>
            <a:ext cx="35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9951" name="Line 17"/>
          <p:cNvSpPr>
            <a:spLocks noChangeAspect="1" noChangeShapeType="1"/>
          </p:cNvSpPr>
          <p:nvPr/>
        </p:nvSpPr>
        <p:spPr bwMode="auto">
          <a:xfrm rot="7200000">
            <a:off x="2408238" y="1999093"/>
            <a:ext cx="6350" cy="13176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9952" name="Line 19"/>
          <p:cNvSpPr>
            <a:spLocks noChangeAspect="1" noChangeShapeType="1"/>
          </p:cNvSpPr>
          <p:nvPr/>
        </p:nvSpPr>
        <p:spPr bwMode="auto">
          <a:xfrm rot="14400000">
            <a:off x="4228307" y="1977662"/>
            <a:ext cx="7937" cy="131762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sp>
        <p:nvSpPr>
          <p:cNvPr id="39953" name="Text Box 21"/>
          <p:cNvSpPr txBox="1">
            <a:spLocks noChangeAspect="1" noChangeArrowheads="1"/>
          </p:cNvSpPr>
          <p:nvPr/>
        </p:nvSpPr>
        <p:spPr bwMode="auto">
          <a:xfrm>
            <a:off x="3344863" y="2427513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</a:p>
        </p:txBody>
      </p:sp>
      <p:pic>
        <p:nvPicPr>
          <p:cNvPr id="39955" name="Picture 5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1000556"/>
            <a:ext cx="692150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56" name="Picture 6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3807256"/>
            <a:ext cx="690563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6701" name="Text Box 93"/>
          <p:cNvSpPr txBox="1">
            <a:spLocks noChangeArrowheads="1"/>
          </p:cNvSpPr>
          <p:nvPr/>
        </p:nvSpPr>
        <p:spPr bwMode="auto">
          <a:xfrm>
            <a:off x="6500688" y="4066001"/>
            <a:ext cx="1649591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|Q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| = |Q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|</a:t>
            </a:r>
          </a:p>
        </p:txBody>
      </p:sp>
      <p:graphicFrame>
        <p:nvGraphicFramePr>
          <p:cNvPr id="196717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665332"/>
              </p:ext>
            </p:extLst>
          </p:nvPr>
        </p:nvGraphicFramePr>
        <p:xfrm>
          <a:off x="5718916" y="1757904"/>
          <a:ext cx="22129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888840" imgH="304560" progId="Equation.3">
                  <p:embed/>
                </p:oleObj>
              </mc:Choice>
              <mc:Fallback>
                <p:oleObj name="Ecuación" r:id="rId8" imgW="88884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8916" y="1757904"/>
                        <a:ext cx="221297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726" name="Text Box 118"/>
          <p:cNvSpPr txBox="1">
            <a:spLocks noChangeArrowheads="1"/>
          </p:cNvSpPr>
          <p:nvPr/>
        </p:nvSpPr>
        <p:spPr bwMode="auto">
          <a:xfrm>
            <a:off x="8877728" y="4981550"/>
            <a:ext cx="1249316" cy="180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Para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escribir menos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endParaRPr lang="es-ES" sz="800" dirty="0">
              <a:solidFill>
                <a:srgbClr val="3333FF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= Q</a:t>
            </a:r>
          </a:p>
        </p:txBody>
      </p:sp>
      <p:graphicFrame>
        <p:nvGraphicFramePr>
          <p:cNvPr id="39962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663572"/>
              </p:ext>
            </p:extLst>
          </p:nvPr>
        </p:nvGraphicFramePr>
        <p:xfrm>
          <a:off x="2571227" y="4752092"/>
          <a:ext cx="6016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228501" imgH="215806" progId="Equation.3">
                  <p:embed/>
                </p:oleObj>
              </mc:Choice>
              <mc:Fallback>
                <p:oleObj name="Ecuación" r:id="rId10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227" y="4752092"/>
                        <a:ext cx="60166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3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920075"/>
              </p:ext>
            </p:extLst>
          </p:nvPr>
        </p:nvGraphicFramePr>
        <p:xfrm>
          <a:off x="1262063" y="1626031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215619" imgH="215619" progId="Equation.3">
                  <p:embed/>
                </p:oleObj>
              </mc:Choice>
              <mc:Fallback>
                <p:oleObj name="Ecuación" r:id="rId12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1626031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4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728781"/>
              </p:ext>
            </p:extLst>
          </p:nvPr>
        </p:nvGraphicFramePr>
        <p:xfrm>
          <a:off x="4406900" y="1559356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215619" imgH="215619" progId="Equation.3">
                  <p:embed/>
                </p:oleObj>
              </mc:Choice>
              <mc:Fallback>
                <p:oleObj name="Ecuación" r:id="rId14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1559356"/>
                        <a:ext cx="5683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5" name="Line 18"/>
          <p:cNvSpPr>
            <a:spLocks noChangeAspect="1" noChangeShapeType="1"/>
          </p:cNvSpPr>
          <p:nvPr/>
        </p:nvSpPr>
        <p:spPr bwMode="auto">
          <a:xfrm>
            <a:off x="3306763" y="3570718"/>
            <a:ext cx="6350" cy="1387475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grpSp>
        <p:nvGrpSpPr>
          <p:cNvPr id="39966" name="Group 59"/>
          <p:cNvGrpSpPr>
            <a:grpSpLocks/>
          </p:cNvGrpSpPr>
          <p:nvPr/>
        </p:nvGrpSpPr>
        <p:grpSpPr bwMode="auto">
          <a:xfrm>
            <a:off x="1998663" y="5513351"/>
            <a:ext cx="2533650" cy="1284287"/>
            <a:chOff x="1259" y="3435"/>
            <a:chExt cx="1596" cy="809"/>
          </a:xfrm>
        </p:grpSpPr>
        <p:sp>
          <p:nvSpPr>
            <p:cNvPr id="39968" name="Rectangle 51"/>
            <p:cNvSpPr>
              <a:spLocks noChangeArrowheads="1"/>
            </p:cNvSpPr>
            <p:nvPr/>
          </p:nvSpPr>
          <p:spPr bwMode="auto">
            <a:xfrm>
              <a:off x="1259" y="3435"/>
              <a:ext cx="1596" cy="809"/>
            </a:xfrm>
            <a:prstGeom prst="rect">
              <a:avLst/>
            </a:prstGeom>
            <a:noFill/>
            <a:ln w="38100" algn="ctr">
              <a:solidFill>
                <a:srgbClr val="99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9969" name="Object 60"/>
            <p:cNvGraphicFramePr>
              <a:graphicFrameLocks noChangeAspect="1"/>
            </p:cNvGraphicFramePr>
            <p:nvPr/>
          </p:nvGraphicFramePr>
          <p:xfrm>
            <a:off x="1343" y="3552"/>
            <a:ext cx="1411" cy="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6" imgW="1117600" imgH="469900" progId="Equation.3">
                    <p:embed/>
                  </p:oleObj>
                </mc:Choice>
                <mc:Fallback>
                  <p:oleObj name="Ecuación" r:id="rId16" imgW="1117600" imgH="469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3" y="3552"/>
                          <a:ext cx="1411" cy="5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" name="Text Box 25"/>
          <p:cNvSpPr txBox="1">
            <a:spLocks noChangeArrowheads="1"/>
          </p:cNvSpPr>
          <p:nvPr/>
        </p:nvSpPr>
        <p:spPr bwMode="auto">
          <a:xfrm>
            <a:off x="5610119" y="4860183"/>
            <a:ext cx="2724534" cy="101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Como 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&lt; 0,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y 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Text Box 21"/>
          <p:cNvSpPr txBox="1">
            <a:spLocks noChangeAspect="1" noChangeArrowheads="1"/>
          </p:cNvSpPr>
          <p:nvPr/>
        </p:nvSpPr>
        <p:spPr bwMode="auto">
          <a:xfrm>
            <a:off x="3948113" y="3181781"/>
            <a:ext cx="37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4445738" y="447261"/>
            <a:ext cx="4136855" cy="931449"/>
            <a:chOff x="6003235" y="447261"/>
            <a:chExt cx="4136855" cy="931449"/>
          </a:xfrm>
        </p:grpSpPr>
        <p:graphicFrame>
          <p:nvGraphicFramePr>
            <p:cNvPr id="37917" name="Object 10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562314"/>
                </p:ext>
              </p:extLst>
            </p:nvPr>
          </p:nvGraphicFramePr>
          <p:xfrm>
            <a:off x="6110288" y="578750"/>
            <a:ext cx="3930650" cy="717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8" imgW="1663700" imgH="304800" progId="Equation.3">
                    <p:embed/>
                  </p:oleObj>
                </mc:Choice>
                <mc:Fallback>
                  <p:oleObj name="Ecuación" r:id="rId18" imgW="1663700" imgH="304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0288" y="578750"/>
                          <a:ext cx="3930650" cy="717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Rectángulo 2"/>
            <p:cNvSpPr/>
            <p:nvPr/>
          </p:nvSpPr>
          <p:spPr bwMode="auto">
            <a:xfrm>
              <a:off x="6003235" y="447261"/>
              <a:ext cx="4136855" cy="931449"/>
            </a:xfrm>
            <a:prstGeom prst="rect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aphicFrame>
        <p:nvGraphicFramePr>
          <p:cNvPr id="41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155048"/>
              </p:ext>
            </p:extLst>
          </p:nvPr>
        </p:nvGraphicFramePr>
        <p:xfrm>
          <a:off x="7766029" y="1752816"/>
          <a:ext cx="24971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0" imgW="1002960" imgH="304560" progId="Equation.3">
                  <p:embed/>
                </p:oleObj>
              </mc:Choice>
              <mc:Fallback>
                <p:oleObj name="Ecuación" r:id="rId20" imgW="10029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6029" y="1752816"/>
                        <a:ext cx="249713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upo 4"/>
          <p:cNvGrpSpPr/>
          <p:nvPr/>
        </p:nvGrpSpPr>
        <p:grpSpPr>
          <a:xfrm>
            <a:off x="3255962" y="3964418"/>
            <a:ext cx="785109" cy="1015862"/>
            <a:chOff x="3255962" y="3803650"/>
            <a:chExt cx="785109" cy="1015862"/>
          </a:xfrm>
        </p:grpSpPr>
        <p:sp>
          <p:nvSpPr>
            <p:cNvPr id="42" name="Line 30"/>
            <p:cNvSpPr>
              <a:spLocks noChangeShapeType="1"/>
            </p:cNvSpPr>
            <p:nvPr/>
          </p:nvSpPr>
          <p:spPr bwMode="auto">
            <a:xfrm flipH="1">
              <a:off x="3323521" y="4370250"/>
              <a:ext cx="717550" cy="44926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/>
            </a:p>
          </p:txBody>
        </p:sp>
        <p:sp>
          <p:nvSpPr>
            <p:cNvPr id="43" name="Text Box 87"/>
            <p:cNvSpPr txBox="1">
              <a:spLocks noChangeArrowheads="1"/>
            </p:cNvSpPr>
            <p:nvPr/>
          </p:nvSpPr>
          <p:spPr bwMode="auto">
            <a:xfrm>
              <a:off x="3255962" y="3803650"/>
              <a:ext cx="5556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30º</a:t>
              </a:r>
            </a:p>
          </p:txBody>
        </p:sp>
      </p:grpSp>
      <p:sp>
        <p:nvSpPr>
          <p:cNvPr id="46" name="Line 30"/>
          <p:cNvSpPr>
            <a:spLocks noChangeShapeType="1"/>
          </p:cNvSpPr>
          <p:nvPr/>
        </p:nvSpPr>
        <p:spPr bwMode="auto">
          <a:xfrm flipH="1">
            <a:off x="2532784" y="3205197"/>
            <a:ext cx="717550" cy="44926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/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665" y="2817890"/>
            <a:ext cx="705162" cy="714823"/>
          </a:xfrm>
          <a:prstGeom prst="rect">
            <a:avLst/>
          </a:prstGeom>
        </p:spPr>
      </p:pic>
      <p:graphicFrame>
        <p:nvGraphicFramePr>
          <p:cNvPr id="48" name="Object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539841"/>
              </p:ext>
            </p:extLst>
          </p:nvPr>
        </p:nvGraphicFramePr>
        <p:xfrm>
          <a:off x="8775058" y="513304"/>
          <a:ext cx="148431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3" imgW="596880" imgH="304560" progId="Equation.3">
                  <p:embed/>
                </p:oleObj>
              </mc:Choice>
              <mc:Fallback>
                <p:oleObj name="Ecuación" r:id="rId23" imgW="5968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5058" y="513304"/>
                        <a:ext cx="148431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12">
            <a:extLst>
              <a:ext uri="{FF2B5EF4-FFF2-40B4-BE49-F238E27FC236}">
                <a16:creationId xmlns:a16="http://schemas.microsoft.com/office/drawing/2014/main" id="{487469F1-DD58-45F2-827E-F3F8BFD5EA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37661" y="4490958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49" name="Text Box 11">
            <a:extLst>
              <a:ext uri="{FF2B5EF4-FFF2-40B4-BE49-F238E27FC236}">
                <a16:creationId xmlns:a16="http://schemas.microsoft.com/office/drawing/2014/main" id="{3E3CCF0A-182B-4187-A027-F97434C9256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93636" y="4464654"/>
            <a:ext cx="350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50" name="Freeform 86">
            <a:extLst>
              <a:ext uri="{FF2B5EF4-FFF2-40B4-BE49-F238E27FC236}">
                <a16:creationId xmlns:a16="http://schemas.microsoft.com/office/drawing/2014/main" id="{E8F2D26E-7EDE-4738-9441-68204D9F7FF2}"/>
              </a:ext>
            </a:extLst>
          </p:cNvPr>
          <p:cNvSpPr>
            <a:spLocks/>
          </p:cNvSpPr>
          <p:nvPr/>
        </p:nvSpPr>
        <p:spPr bwMode="auto">
          <a:xfrm rot="20892203">
            <a:off x="3282457" y="3770236"/>
            <a:ext cx="307200" cy="95127"/>
          </a:xfrm>
          <a:custGeom>
            <a:avLst/>
            <a:gdLst>
              <a:gd name="T0" fmla="*/ 2147483646 w 611"/>
              <a:gd name="T1" fmla="*/ 0 h 153"/>
              <a:gd name="T2" fmla="*/ 2147483646 w 611"/>
              <a:gd name="T3" fmla="*/ 2147483646 h 153"/>
              <a:gd name="T4" fmla="*/ 0 w 611"/>
              <a:gd name="T5" fmla="*/ 2147483646 h 1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1" h="153">
                <a:moveTo>
                  <a:pt x="611" y="0"/>
                </a:moveTo>
                <a:cubicBezTo>
                  <a:pt x="511" y="74"/>
                  <a:pt x="411" y="149"/>
                  <a:pt x="309" y="151"/>
                </a:cubicBezTo>
                <a:cubicBezTo>
                  <a:pt x="207" y="153"/>
                  <a:pt x="103" y="83"/>
                  <a:pt x="0" y="1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arrow" w="med" len="med"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82710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6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6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3258" grpId="0" animBg="1"/>
      <p:bldP spid="196701" grpId="0" animBg="1"/>
      <p:bldP spid="196726" grpId="0"/>
      <p:bldP spid="79" grpId="0"/>
      <p:bldP spid="5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2722C11-0A43-4C38-996F-4A62D4D96631}"/>
              </a:ext>
            </a:extLst>
          </p:cNvPr>
          <p:cNvGrpSpPr/>
          <p:nvPr/>
        </p:nvGrpSpPr>
        <p:grpSpPr>
          <a:xfrm>
            <a:off x="1335729" y="1254748"/>
            <a:ext cx="4702175" cy="1143000"/>
            <a:chOff x="1335729" y="1254748"/>
            <a:chExt cx="4702175" cy="1143000"/>
          </a:xfrm>
        </p:grpSpPr>
        <p:sp>
          <p:nvSpPr>
            <p:cNvPr id="9287" name="Rectangle 51"/>
            <p:cNvSpPr>
              <a:spLocks noChangeArrowheads="1"/>
            </p:cNvSpPr>
            <p:nvPr/>
          </p:nvSpPr>
          <p:spPr bwMode="auto">
            <a:xfrm>
              <a:off x="1335729" y="1254748"/>
              <a:ext cx="4702175" cy="1143000"/>
            </a:xfrm>
            <a:prstGeom prst="rect">
              <a:avLst/>
            </a:prstGeom>
            <a:solidFill>
              <a:srgbClr val="EDE7E3"/>
            </a:solidFill>
            <a:ln w="381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9286" name="Conector recto 2"/>
            <p:cNvCxnSpPr>
              <a:cxnSpLocks noChangeShapeType="1"/>
            </p:cNvCxnSpPr>
            <p:nvPr/>
          </p:nvCxnSpPr>
          <p:spPr bwMode="auto">
            <a:xfrm>
              <a:off x="3739204" y="1254748"/>
              <a:ext cx="0" cy="1143000"/>
            </a:xfrm>
            <a:prstGeom prst="line">
              <a:avLst/>
            </a:prstGeom>
            <a:noFill/>
            <a:ln w="25400" algn="ctr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9288" name="Object 60"/>
          <p:cNvGraphicFramePr>
            <a:graphicFrameLocks noChangeAspect="1"/>
          </p:cNvGraphicFramePr>
          <p:nvPr/>
        </p:nvGraphicFramePr>
        <p:xfrm>
          <a:off x="3945579" y="1434136"/>
          <a:ext cx="198278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117600" imgH="469900" progId="Equation.3">
                  <p:embed/>
                </p:oleObj>
              </mc:Choice>
              <mc:Fallback>
                <p:oleObj name="Ecuación" r:id="rId3" imgW="1117600" imgH="469900" progId="Equation.3">
                  <p:embed/>
                  <p:pic>
                    <p:nvPicPr>
                      <p:cNvPr id="9288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5579" y="1434136"/>
                        <a:ext cx="1982788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89" name="Object 54"/>
          <p:cNvGraphicFramePr>
            <a:graphicFrameLocks noChangeAspect="1"/>
          </p:cNvGraphicFramePr>
          <p:nvPr/>
        </p:nvGraphicFramePr>
        <p:xfrm>
          <a:off x="1463278" y="1441243"/>
          <a:ext cx="215106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180588" imgH="444307" progId="Equation.3">
                  <p:embed/>
                </p:oleObj>
              </mc:Choice>
              <mc:Fallback>
                <p:oleObj name="Ecuación" r:id="rId5" imgW="1180588" imgH="444307" progId="Equation.3">
                  <p:embed/>
                  <p:pic>
                    <p:nvPicPr>
                      <p:cNvPr id="9289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278" y="1441243"/>
                        <a:ext cx="2151063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919" name="Group 79"/>
          <p:cNvGrpSpPr>
            <a:grpSpLocks/>
          </p:cNvGrpSpPr>
          <p:nvPr/>
        </p:nvGrpSpPr>
        <p:grpSpPr bwMode="auto">
          <a:xfrm>
            <a:off x="6822523" y="808040"/>
            <a:ext cx="3224212" cy="3511553"/>
            <a:chOff x="1107" y="509"/>
            <a:chExt cx="2031" cy="2212"/>
          </a:xfrm>
        </p:grpSpPr>
        <p:sp>
          <p:nvSpPr>
            <p:cNvPr id="9277" name="Line 23"/>
            <p:cNvSpPr>
              <a:spLocks noChangeShapeType="1"/>
            </p:cNvSpPr>
            <p:nvPr/>
          </p:nvSpPr>
          <p:spPr bwMode="auto">
            <a:xfrm rot="10800000" flipH="1">
              <a:off x="2015" y="768"/>
              <a:ext cx="14" cy="195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9278" name="Line 23"/>
            <p:cNvSpPr>
              <a:spLocks noChangeShapeType="1"/>
            </p:cNvSpPr>
            <p:nvPr/>
          </p:nvSpPr>
          <p:spPr bwMode="auto">
            <a:xfrm rot="16200000" flipH="1">
              <a:off x="2016" y="931"/>
              <a:ext cx="0" cy="18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9279" name="Text Box 88"/>
            <p:cNvSpPr txBox="1">
              <a:spLocks noChangeArrowheads="1"/>
            </p:cNvSpPr>
            <p:nvPr/>
          </p:nvSpPr>
          <p:spPr bwMode="auto">
            <a:xfrm>
              <a:off x="2944" y="1704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9280" name="Text Box 89"/>
            <p:cNvSpPr txBox="1">
              <a:spLocks noChangeArrowheads="1"/>
            </p:cNvSpPr>
            <p:nvPr/>
          </p:nvSpPr>
          <p:spPr bwMode="auto">
            <a:xfrm>
              <a:off x="2057" y="509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Y</a:t>
              </a:r>
            </a:p>
          </p:txBody>
        </p:sp>
      </p:grpSp>
      <p:sp>
        <p:nvSpPr>
          <p:cNvPr id="9223" name="Text Box 2"/>
          <p:cNvSpPr txBox="1">
            <a:spLocks noChangeArrowheads="1"/>
          </p:cNvSpPr>
          <p:nvPr/>
        </p:nvSpPr>
        <p:spPr bwMode="auto">
          <a:xfrm>
            <a:off x="1227357" y="394736"/>
            <a:ext cx="4587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b)</a:t>
            </a:r>
          </a:p>
        </p:txBody>
      </p:sp>
      <p:sp>
        <p:nvSpPr>
          <p:cNvPr id="9224" name="AutoShape 9"/>
          <p:cNvSpPr>
            <a:spLocks noChangeArrowheads="1"/>
          </p:cNvSpPr>
          <p:nvPr/>
        </p:nvSpPr>
        <p:spPr bwMode="auto">
          <a:xfrm>
            <a:off x="6914598" y="2913063"/>
            <a:ext cx="2743200" cy="2379662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25" name="Text Box 10"/>
          <p:cNvSpPr txBox="1">
            <a:spLocks noChangeArrowheads="1"/>
          </p:cNvSpPr>
          <p:nvPr/>
        </p:nvSpPr>
        <p:spPr bwMode="auto">
          <a:xfrm>
            <a:off x="8080616" y="3347534"/>
            <a:ext cx="349250" cy="396875"/>
          </a:xfrm>
          <a:prstGeom prst="rect">
            <a:avLst/>
          </a:prstGeom>
          <a:solidFill>
            <a:srgbClr val="EDE7E3"/>
          </a:solidFill>
          <a:ln>
            <a:noFill/>
          </a:ln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9226" name="Text Box 11"/>
          <p:cNvSpPr txBox="1">
            <a:spLocks noChangeArrowheads="1"/>
          </p:cNvSpPr>
          <p:nvPr/>
        </p:nvSpPr>
        <p:spPr bwMode="auto">
          <a:xfrm>
            <a:off x="9868935" y="5381625"/>
            <a:ext cx="35083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9227" name="Text Box 12"/>
          <p:cNvSpPr txBox="1">
            <a:spLocks noChangeArrowheads="1"/>
          </p:cNvSpPr>
          <p:nvPr/>
        </p:nvSpPr>
        <p:spPr bwMode="auto">
          <a:xfrm>
            <a:off x="6379610" y="53911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98676" name="Line 20"/>
          <p:cNvSpPr>
            <a:spLocks noChangeShapeType="1"/>
          </p:cNvSpPr>
          <p:nvPr/>
        </p:nvSpPr>
        <p:spPr bwMode="auto">
          <a:xfrm rot="1800000" flipH="1" flipV="1">
            <a:off x="8749748" y="1590675"/>
            <a:ext cx="6350" cy="1144588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98680" name="Line 24"/>
          <p:cNvSpPr>
            <a:spLocks noChangeShapeType="1"/>
          </p:cNvSpPr>
          <p:nvPr/>
        </p:nvSpPr>
        <p:spPr bwMode="auto">
          <a:xfrm rot="19800000" flipV="1">
            <a:off x="7787723" y="1601788"/>
            <a:ext cx="6350" cy="1144587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98684" name="Text Box 28"/>
          <p:cNvSpPr txBox="1">
            <a:spLocks noChangeArrowheads="1"/>
          </p:cNvSpPr>
          <p:nvPr/>
        </p:nvSpPr>
        <p:spPr bwMode="auto">
          <a:xfrm>
            <a:off x="1329229" y="3660765"/>
            <a:ext cx="1900237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BA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CA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L</a:t>
            </a:r>
          </a:p>
        </p:txBody>
      </p:sp>
      <p:sp>
        <p:nvSpPr>
          <p:cNvPr id="9233" name="Text Box 29"/>
          <p:cNvSpPr txBox="1">
            <a:spLocks noChangeArrowheads="1"/>
          </p:cNvSpPr>
          <p:nvPr/>
        </p:nvSpPr>
        <p:spPr bwMode="auto">
          <a:xfrm>
            <a:off x="9137098" y="3744913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9234" name="Text Box 30"/>
          <p:cNvSpPr txBox="1">
            <a:spLocks noChangeArrowheads="1"/>
          </p:cNvSpPr>
          <p:nvPr/>
        </p:nvSpPr>
        <p:spPr bwMode="auto">
          <a:xfrm>
            <a:off x="7059060" y="3740150"/>
            <a:ext cx="3238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9235" name="Text Box 31"/>
          <p:cNvSpPr txBox="1">
            <a:spLocks noChangeArrowheads="1"/>
          </p:cNvSpPr>
          <p:nvPr/>
        </p:nvSpPr>
        <p:spPr bwMode="auto">
          <a:xfrm>
            <a:off x="8129035" y="5292725"/>
            <a:ext cx="32226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pic>
        <p:nvPicPr>
          <p:cNvPr id="9238" name="Picture 62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610" y="5002213"/>
            <a:ext cx="5715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9" name="Picture 63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7123" y="5033963"/>
            <a:ext cx="5715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8740" name="Object 84"/>
          <p:cNvGraphicFramePr>
            <a:graphicFrameLocks noChangeAspect="1"/>
          </p:cNvGraphicFramePr>
          <p:nvPr/>
        </p:nvGraphicFramePr>
        <p:xfrm>
          <a:off x="1792507" y="401086"/>
          <a:ext cx="4413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90417" imgH="241195" progId="Equation.3">
                  <p:embed/>
                </p:oleObj>
              </mc:Choice>
              <mc:Fallback>
                <p:oleObj name="Ecuación" r:id="rId8" imgW="190417" imgH="241195" progId="Equation.3">
                  <p:embed/>
                  <p:pic>
                    <p:nvPicPr>
                      <p:cNvPr id="19874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507" y="401086"/>
                        <a:ext cx="441325" cy="558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42" name="Object 86"/>
          <p:cNvGraphicFramePr>
            <a:graphicFrameLocks noChangeAspect="1"/>
          </p:cNvGraphicFramePr>
          <p:nvPr/>
        </p:nvGraphicFramePr>
        <p:xfrm>
          <a:off x="6916185" y="1009650"/>
          <a:ext cx="560388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215619" imgH="215619" progId="Equation.3">
                  <p:embed/>
                </p:oleObj>
              </mc:Choice>
              <mc:Fallback>
                <p:oleObj name="Ecuación" r:id="rId10" imgW="215619" imgH="215619" progId="Equation.3">
                  <p:embed/>
                  <p:pic>
                    <p:nvPicPr>
                      <p:cNvPr id="198742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185" y="1009650"/>
                        <a:ext cx="560388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43" name="Object 87"/>
          <p:cNvGraphicFramePr>
            <a:graphicFrameLocks noChangeAspect="1"/>
          </p:cNvGraphicFramePr>
          <p:nvPr/>
        </p:nvGraphicFramePr>
        <p:xfrm>
          <a:off x="9079948" y="993775"/>
          <a:ext cx="560387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215619" imgH="215619" progId="Equation.3">
                  <p:embed/>
                </p:oleObj>
              </mc:Choice>
              <mc:Fallback>
                <p:oleObj name="Ecuación" r:id="rId12" imgW="215619" imgH="215619" progId="Equation.3">
                  <p:embed/>
                  <p:pic>
                    <p:nvPicPr>
                      <p:cNvPr id="198743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9948" y="993775"/>
                        <a:ext cx="560387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8"/>
          <p:cNvSpPr txBox="1">
            <a:spLocks noChangeArrowheads="1"/>
          </p:cNvSpPr>
          <p:nvPr/>
        </p:nvSpPr>
        <p:spPr bwMode="auto">
          <a:xfrm>
            <a:off x="1372091" y="2892308"/>
            <a:ext cx="27813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B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C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Q</a:t>
            </a:r>
          </a:p>
        </p:txBody>
      </p:sp>
      <p:grpSp>
        <p:nvGrpSpPr>
          <p:cNvPr id="13" name="Grupo 12"/>
          <p:cNvGrpSpPr>
            <a:grpSpLocks/>
          </p:cNvGrpSpPr>
          <p:nvPr/>
        </p:nvGrpSpPr>
        <p:grpSpPr bwMode="auto">
          <a:xfrm>
            <a:off x="4036796" y="2945073"/>
            <a:ext cx="1887091" cy="1325404"/>
            <a:chOff x="8682890" y="1359971"/>
            <a:chExt cx="1886560" cy="1326639"/>
          </a:xfrm>
        </p:grpSpPr>
        <p:graphicFrame>
          <p:nvGraphicFramePr>
            <p:cNvPr id="9263" name="Object 109"/>
            <p:cNvGraphicFramePr>
              <a:graphicFrameLocks noChangeAspect="1"/>
            </p:cNvGraphicFramePr>
            <p:nvPr/>
          </p:nvGraphicFramePr>
          <p:xfrm>
            <a:off x="9116887" y="1744270"/>
            <a:ext cx="1452563" cy="593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4" imgW="774364" imgH="317362" progId="Equation.3">
                    <p:embed/>
                  </p:oleObj>
                </mc:Choice>
                <mc:Fallback>
                  <p:oleObj name="Ecuación" r:id="rId14" imgW="774364" imgH="317362" progId="Equation.3">
                    <p:embed/>
                    <p:pic>
                      <p:nvPicPr>
                        <p:cNvPr id="9263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16887" y="1744270"/>
                          <a:ext cx="1452563" cy="593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4" name="Cerrar llave 11"/>
            <p:cNvSpPr>
              <a:spLocks/>
            </p:cNvSpPr>
            <p:nvPr/>
          </p:nvSpPr>
          <p:spPr bwMode="auto">
            <a:xfrm>
              <a:off x="8682890" y="1359971"/>
              <a:ext cx="291094" cy="1326639"/>
            </a:xfrm>
            <a:prstGeom prst="rightBrace">
              <a:avLst>
                <a:gd name="adj1" fmla="val 8335"/>
                <a:gd name="adj2" fmla="val 50000"/>
              </a:avLst>
            </a:prstGeom>
            <a:noFill/>
            <a:ln w="38100" algn="ctr">
              <a:solidFill>
                <a:srgbClr val="008000"/>
              </a:solidFill>
              <a:round/>
              <a:headEnd/>
              <a:tailEnd/>
            </a:ln>
          </p:spPr>
          <p:txBody>
            <a:bodyPr wrap="none" lIns="90000" tIns="46800" rIns="90000" bIns="46800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82" name="Text Box 88"/>
          <p:cNvSpPr txBox="1">
            <a:spLocks noChangeArrowheads="1"/>
          </p:cNvSpPr>
          <p:nvPr/>
        </p:nvSpPr>
        <p:spPr bwMode="auto">
          <a:xfrm>
            <a:off x="1335730" y="4617758"/>
            <a:ext cx="4739864" cy="12025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 se gira el dibujo 180º respecto a un eje vertical que pase por A, el dibujo no cambia</a:t>
            </a:r>
          </a:p>
        </p:txBody>
      </p:sp>
      <p:graphicFrame>
        <p:nvGraphicFramePr>
          <p:cNvPr id="70" name="Object 84"/>
          <p:cNvGraphicFramePr>
            <a:graphicFrameLocks noChangeAspect="1"/>
          </p:cNvGraphicFramePr>
          <p:nvPr/>
        </p:nvGraphicFramePr>
        <p:xfrm>
          <a:off x="2252340" y="391038"/>
          <a:ext cx="1745490" cy="622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6" imgW="711000" imgH="253800" progId="Equation.3">
                  <p:embed/>
                </p:oleObj>
              </mc:Choice>
              <mc:Fallback>
                <p:oleObj name="Ecuación" r:id="rId16" imgW="711000" imgH="253800" progId="Equation.3">
                  <p:embed/>
                  <p:pic>
                    <p:nvPicPr>
                      <p:cNvPr id="7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340" y="391038"/>
                        <a:ext cx="1745490" cy="622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" name="Imagen 7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566" y="2679396"/>
            <a:ext cx="582778" cy="590763"/>
          </a:xfrm>
          <a:prstGeom prst="rect">
            <a:avLst/>
          </a:prstGeom>
        </p:spPr>
      </p:pic>
      <p:sp>
        <p:nvSpPr>
          <p:cNvPr id="3" name="Text Box 88">
            <a:extLst>
              <a:ext uri="{FF2B5EF4-FFF2-40B4-BE49-F238E27FC236}">
                <a16:creationId xmlns:a16="http://schemas.microsoft.com/office/drawing/2014/main" id="{8FE4F1BC-0AA8-B6E6-199A-EDB36C169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270" y="6022975"/>
            <a:ext cx="8402227" cy="8331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Esta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simetría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hace que el mejor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sistema de referencia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para descomponer, buscando cuantificar, sea el indicado</a:t>
            </a:r>
          </a:p>
        </p:txBody>
      </p:sp>
      <p:sp>
        <p:nvSpPr>
          <p:cNvPr id="4" name="Line 23">
            <a:extLst>
              <a:ext uri="{FF2B5EF4-FFF2-40B4-BE49-F238E27FC236}">
                <a16:creationId xmlns:a16="http://schemas.microsoft.com/office/drawing/2014/main" id="{BB5A8B35-A279-E08B-EF1C-72F5960A52AE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8263973" y="614680"/>
            <a:ext cx="22225" cy="4538663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8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9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8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8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8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8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35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76" grpId="0" animBg="1"/>
      <p:bldP spid="198680" grpId="0" animBg="1"/>
      <p:bldP spid="198684" grpId="0"/>
      <p:bldP spid="5" grpId="0"/>
      <p:bldP spid="82" grpId="0" animBg="1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upo 85"/>
          <p:cNvGrpSpPr>
            <a:grpSpLocks/>
          </p:cNvGrpSpPr>
          <p:nvPr/>
        </p:nvGrpSpPr>
        <p:grpSpPr bwMode="auto">
          <a:xfrm flipH="1">
            <a:off x="7543246" y="1673225"/>
            <a:ext cx="706437" cy="1277938"/>
            <a:chOff x="3213102" y="1686939"/>
            <a:chExt cx="705755" cy="1277325"/>
          </a:xfrm>
        </p:grpSpPr>
        <p:sp>
          <p:nvSpPr>
            <p:cNvPr id="9283" name="Forma libre 86"/>
            <p:cNvSpPr>
              <a:spLocks/>
            </p:cNvSpPr>
            <p:nvPr/>
          </p:nvSpPr>
          <p:spPr bwMode="auto">
            <a:xfrm>
              <a:off x="3215473" y="1688123"/>
              <a:ext cx="703384" cy="1276141"/>
            </a:xfrm>
            <a:custGeom>
              <a:avLst/>
              <a:gdLst>
                <a:gd name="T0" fmla="*/ 703384 w 703384"/>
                <a:gd name="T1" fmla="*/ 0 h 1276141"/>
                <a:gd name="T2" fmla="*/ 0 w 703384"/>
                <a:gd name="T3" fmla="*/ 1276141 h 1276141"/>
                <a:gd name="T4" fmla="*/ 0 w 703384"/>
                <a:gd name="T5" fmla="*/ 0 h 12761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3384" h="1276141">
                  <a:moveTo>
                    <a:pt x="703384" y="0"/>
                  </a:moveTo>
                  <a:lnTo>
                    <a:pt x="0" y="1276141"/>
                  </a:lnTo>
                  <a:lnTo>
                    <a:pt x="0" y="0"/>
                  </a:lnTo>
                </a:path>
              </a:pathLst>
            </a:custGeom>
            <a:solidFill>
              <a:srgbClr val="FFFF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9284" name="Rectángulo 87"/>
            <p:cNvSpPr>
              <a:spLocks noChangeArrowheads="1"/>
            </p:cNvSpPr>
            <p:nvPr/>
          </p:nvSpPr>
          <p:spPr bwMode="auto">
            <a:xfrm>
              <a:off x="3213102" y="1686939"/>
              <a:ext cx="161951" cy="201288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19" name="Grupo 18"/>
          <p:cNvGrpSpPr>
            <a:grpSpLocks/>
          </p:cNvGrpSpPr>
          <p:nvPr/>
        </p:nvGrpSpPr>
        <p:grpSpPr bwMode="auto">
          <a:xfrm>
            <a:off x="8278258" y="1687513"/>
            <a:ext cx="706438" cy="1276350"/>
            <a:chOff x="3213102" y="1686939"/>
            <a:chExt cx="705755" cy="1277325"/>
          </a:xfrm>
        </p:grpSpPr>
        <p:sp>
          <p:nvSpPr>
            <p:cNvPr id="9281" name="Forma libre 15"/>
            <p:cNvSpPr>
              <a:spLocks/>
            </p:cNvSpPr>
            <p:nvPr/>
          </p:nvSpPr>
          <p:spPr bwMode="auto">
            <a:xfrm>
              <a:off x="3215473" y="1688123"/>
              <a:ext cx="703384" cy="1276141"/>
            </a:xfrm>
            <a:custGeom>
              <a:avLst/>
              <a:gdLst>
                <a:gd name="T0" fmla="*/ 703384 w 703384"/>
                <a:gd name="T1" fmla="*/ 0 h 1276141"/>
                <a:gd name="T2" fmla="*/ 0 w 703384"/>
                <a:gd name="T3" fmla="*/ 1276141 h 1276141"/>
                <a:gd name="T4" fmla="*/ 0 w 703384"/>
                <a:gd name="T5" fmla="*/ 0 h 12761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3384" h="1276141">
                  <a:moveTo>
                    <a:pt x="703384" y="0"/>
                  </a:moveTo>
                  <a:lnTo>
                    <a:pt x="0" y="1276141"/>
                  </a:lnTo>
                  <a:lnTo>
                    <a:pt x="0" y="0"/>
                  </a:lnTo>
                </a:path>
              </a:pathLst>
            </a:custGeom>
            <a:solidFill>
              <a:srgbClr val="FFFF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9282" name="Rectángulo 16"/>
            <p:cNvSpPr>
              <a:spLocks noChangeArrowheads="1"/>
            </p:cNvSpPr>
            <p:nvPr/>
          </p:nvSpPr>
          <p:spPr bwMode="auto">
            <a:xfrm>
              <a:off x="3213102" y="1686939"/>
              <a:ext cx="161951" cy="201288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35919" name="Group 79"/>
          <p:cNvGrpSpPr>
            <a:grpSpLocks/>
          </p:cNvGrpSpPr>
          <p:nvPr/>
        </p:nvGrpSpPr>
        <p:grpSpPr bwMode="auto">
          <a:xfrm>
            <a:off x="6822521" y="200025"/>
            <a:ext cx="3224212" cy="4618038"/>
            <a:chOff x="1107" y="126"/>
            <a:chExt cx="2031" cy="2909"/>
          </a:xfrm>
        </p:grpSpPr>
        <p:sp>
          <p:nvSpPr>
            <p:cNvPr id="9277" name="Line 23"/>
            <p:cNvSpPr>
              <a:spLocks noChangeShapeType="1"/>
            </p:cNvSpPr>
            <p:nvPr/>
          </p:nvSpPr>
          <p:spPr bwMode="auto">
            <a:xfrm rot="10800000" flipH="1">
              <a:off x="2015" y="176"/>
              <a:ext cx="14" cy="285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9278" name="Line 23"/>
            <p:cNvSpPr>
              <a:spLocks noChangeShapeType="1"/>
            </p:cNvSpPr>
            <p:nvPr/>
          </p:nvSpPr>
          <p:spPr bwMode="auto">
            <a:xfrm rot="16200000" flipH="1">
              <a:off x="2016" y="931"/>
              <a:ext cx="0" cy="18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9279" name="Text Box 88"/>
            <p:cNvSpPr txBox="1">
              <a:spLocks noChangeArrowheads="1"/>
            </p:cNvSpPr>
            <p:nvPr/>
          </p:nvSpPr>
          <p:spPr bwMode="auto">
            <a:xfrm>
              <a:off x="2944" y="1704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9280" name="Text Box 89"/>
            <p:cNvSpPr txBox="1">
              <a:spLocks noChangeArrowheads="1"/>
            </p:cNvSpPr>
            <p:nvPr/>
          </p:nvSpPr>
          <p:spPr bwMode="auto">
            <a:xfrm>
              <a:off x="2055" y="126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Y</a:t>
              </a:r>
            </a:p>
          </p:txBody>
        </p:sp>
      </p:grpSp>
      <p:sp>
        <p:nvSpPr>
          <p:cNvPr id="198728" name="Line 72"/>
          <p:cNvSpPr>
            <a:spLocks noChangeShapeType="1"/>
          </p:cNvSpPr>
          <p:nvPr/>
        </p:nvSpPr>
        <p:spPr bwMode="auto">
          <a:xfrm flipV="1">
            <a:off x="8268733" y="561975"/>
            <a:ext cx="22225" cy="21304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9224" name="AutoShape 9"/>
          <p:cNvSpPr>
            <a:spLocks noChangeArrowheads="1"/>
          </p:cNvSpPr>
          <p:nvPr/>
        </p:nvSpPr>
        <p:spPr bwMode="auto">
          <a:xfrm>
            <a:off x="6914596" y="2913063"/>
            <a:ext cx="2743200" cy="2379662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26" name="Text Box 11"/>
          <p:cNvSpPr txBox="1">
            <a:spLocks noChangeArrowheads="1"/>
          </p:cNvSpPr>
          <p:nvPr/>
        </p:nvSpPr>
        <p:spPr bwMode="auto">
          <a:xfrm>
            <a:off x="9868933" y="5381625"/>
            <a:ext cx="35083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9227" name="Text Box 12"/>
          <p:cNvSpPr txBox="1">
            <a:spLocks noChangeArrowheads="1"/>
          </p:cNvSpPr>
          <p:nvPr/>
        </p:nvSpPr>
        <p:spPr bwMode="auto">
          <a:xfrm>
            <a:off x="6379608" y="53911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98676" name="Line 20"/>
          <p:cNvSpPr>
            <a:spLocks noChangeShapeType="1"/>
          </p:cNvSpPr>
          <p:nvPr/>
        </p:nvSpPr>
        <p:spPr bwMode="auto">
          <a:xfrm rot="1800000" flipH="1" flipV="1">
            <a:off x="8749746" y="1590675"/>
            <a:ext cx="6350" cy="1144588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98680" name="Line 24"/>
          <p:cNvSpPr>
            <a:spLocks noChangeShapeType="1"/>
          </p:cNvSpPr>
          <p:nvPr/>
        </p:nvSpPr>
        <p:spPr bwMode="auto">
          <a:xfrm rot="19800000" flipV="1">
            <a:off x="7787721" y="1601788"/>
            <a:ext cx="6350" cy="1144587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pSp>
        <p:nvGrpSpPr>
          <p:cNvPr id="9" name="Group 103"/>
          <p:cNvGrpSpPr>
            <a:grpSpLocks/>
          </p:cNvGrpSpPr>
          <p:nvPr/>
        </p:nvGrpSpPr>
        <p:grpSpPr bwMode="auto">
          <a:xfrm>
            <a:off x="7482921" y="1643063"/>
            <a:ext cx="1563687" cy="1309687"/>
            <a:chOff x="1523" y="1728"/>
            <a:chExt cx="985" cy="825"/>
          </a:xfrm>
        </p:grpSpPr>
        <p:sp>
          <p:nvSpPr>
            <p:cNvPr id="9275" name="Line 25"/>
            <p:cNvSpPr>
              <a:spLocks noChangeShapeType="1"/>
            </p:cNvSpPr>
            <p:nvPr/>
          </p:nvSpPr>
          <p:spPr bwMode="auto">
            <a:xfrm>
              <a:off x="2508" y="1728"/>
              <a:ext cx="0" cy="825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76" name="Line 26"/>
            <p:cNvSpPr>
              <a:spLocks noChangeShapeType="1"/>
            </p:cNvSpPr>
            <p:nvPr/>
          </p:nvSpPr>
          <p:spPr bwMode="auto">
            <a:xfrm>
              <a:off x="1523" y="1728"/>
              <a:ext cx="0" cy="825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198683" name="Line 27"/>
          <p:cNvSpPr>
            <a:spLocks noChangeShapeType="1"/>
          </p:cNvSpPr>
          <p:nvPr/>
        </p:nvSpPr>
        <p:spPr bwMode="auto">
          <a:xfrm rot="16200000" flipV="1">
            <a:off x="8247302" y="888206"/>
            <a:ext cx="15875" cy="1560513"/>
          </a:xfrm>
          <a:prstGeom prst="line">
            <a:avLst/>
          </a:prstGeom>
          <a:noFill/>
          <a:ln w="25400">
            <a:solidFill>
              <a:srgbClr val="CC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9233" name="Text Box 29"/>
          <p:cNvSpPr txBox="1">
            <a:spLocks noChangeArrowheads="1"/>
          </p:cNvSpPr>
          <p:nvPr/>
        </p:nvSpPr>
        <p:spPr bwMode="auto">
          <a:xfrm>
            <a:off x="9137096" y="3744913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9234" name="Text Box 30"/>
          <p:cNvSpPr txBox="1">
            <a:spLocks noChangeArrowheads="1"/>
          </p:cNvSpPr>
          <p:nvPr/>
        </p:nvSpPr>
        <p:spPr bwMode="auto">
          <a:xfrm>
            <a:off x="7059058" y="3740150"/>
            <a:ext cx="3238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9235" name="Text Box 31"/>
          <p:cNvSpPr txBox="1">
            <a:spLocks noChangeArrowheads="1"/>
          </p:cNvSpPr>
          <p:nvPr/>
        </p:nvSpPr>
        <p:spPr bwMode="auto">
          <a:xfrm>
            <a:off x="8129033" y="5292725"/>
            <a:ext cx="32226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grpSp>
        <p:nvGrpSpPr>
          <p:cNvPr id="10" name="Group 68"/>
          <p:cNvGrpSpPr>
            <a:grpSpLocks/>
          </p:cNvGrpSpPr>
          <p:nvPr/>
        </p:nvGrpSpPr>
        <p:grpSpPr bwMode="auto">
          <a:xfrm>
            <a:off x="7559121" y="2689225"/>
            <a:ext cx="1409700" cy="449263"/>
            <a:chOff x="1795" y="2387"/>
            <a:chExt cx="888" cy="283"/>
          </a:xfrm>
        </p:grpSpPr>
        <p:grpSp>
          <p:nvGrpSpPr>
            <p:cNvPr id="9269" name="Group 34"/>
            <p:cNvGrpSpPr>
              <a:grpSpLocks/>
            </p:cNvGrpSpPr>
            <p:nvPr/>
          </p:nvGrpSpPr>
          <p:grpSpPr bwMode="auto">
            <a:xfrm>
              <a:off x="1795" y="2387"/>
              <a:ext cx="199" cy="271"/>
              <a:chOff x="1881" y="2370"/>
              <a:chExt cx="156" cy="213"/>
            </a:xfrm>
          </p:grpSpPr>
          <p:sp>
            <p:nvSpPr>
              <p:cNvPr id="9273" name="Line 32"/>
              <p:cNvSpPr>
                <a:spLocks noChangeShapeType="1"/>
              </p:cNvSpPr>
              <p:nvPr/>
            </p:nvSpPr>
            <p:spPr bwMode="auto">
              <a:xfrm flipH="1">
                <a:off x="1881" y="2370"/>
                <a:ext cx="139" cy="182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sp>
            <p:nvSpPr>
              <p:cNvPr id="9274" name="Line 33"/>
              <p:cNvSpPr>
                <a:spLocks noChangeShapeType="1"/>
              </p:cNvSpPr>
              <p:nvPr/>
            </p:nvSpPr>
            <p:spPr bwMode="auto">
              <a:xfrm flipH="1">
                <a:off x="1898" y="2401"/>
                <a:ext cx="139" cy="182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</p:grpSp>
        <p:grpSp>
          <p:nvGrpSpPr>
            <p:cNvPr id="9270" name="Group 35"/>
            <p:cNvGrpSpPr>
              <a:grpSpLocks/>
            </p:cNvGrpSpPr>
            <p:nvPr/>
          </p:nvGrpSpPr>
          <p:grpSpPr bwMode="auto">
            <a:xfrm>
              <a:off x="2484" y="2399"/>
              <a:ext cx="199" cy="271"/>
              <a:chOff x="1881" y="2370"/>
              <a:chExt cx="156" cy="213"/>
            </a:xfrm>
          </p:grpSpPr>
          <p:sp>
            <p:nvSpPr>
              <p:cNvPr id="9271" name="Line 36"/>
              <p:cNvSpPr>
                <a:spLocks noChangeShapeType="1"/>
              </p:cNvSpPr>
              <p:nvPr/>
            </p:nvSpPr>
            <p:spPr bwMode="auto">
              <a:xfrm flipH="1">
                <a:off x="1881" y="2370"/>
                <a:ext cx="139" cy="182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sp>
            <p:nvSpPr>
              <p:cNvPr id="9272" name="Line 37"/>
              <p:cNvSpPr>
                <a:spLocks noChangeShapeType="1"/>
              </p:cNvSpPr>
              <p:nvPr/>
            </p:nvSpPr>
            <p:spPr bwMode="auto">
              <a:xfrm flipH="1">
                <a:off x="1898" y="2401"/>
                <a:ext cx="139" cy="182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</p:grpSp>
      </p:grpSp>
      <p:pic>
        <p:nvPicPr>
          <p:cNvPr id="9238" name="Picture 6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608" y="5002213"/>
            <a:ext cx="5715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9" name="Picture 6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7121" y="5033963"/>
            <a:ext cx="5715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71"/>
          <p:cNvGrpSpPr>
            <a:grpSpLocks/>
          </p:cNvGrpSpPr>
          <p:nvPr/>
        </p:nvGrpSpPr>
        <p:grpSpPr bwMode="auto">
          <a:xfrm>
            <a:off x="7473396" y="2911475"/>
            <a:ext cx="1612900" cy="12700"/>
            <a:chOff x="1741" y="2527"/>
            <a:chExt cx="1016" cy="8"/>
          </a:xfrm>
        </p:grpSpPr>
        <p:sp>
          <p:nvSpPr>
            <p:cNvPr id="9267" name="Line 69"/>
            <p:cNvSpPr>
              <a:spLocks noChangeShapeType="1"/>
            </p:cNvSpPr>
            <p:nvPr/>
          </p:nvSpPr>
          <p:spPr bwMode="auto">
            <a:xfrm flipH="1" flipV="1">
              <a:off x="1741" y="2527"/>
              <a:ext cx="34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9268" name="Line 70"/>
            <p:cNvSpPr>
              <a:spLocks noChangeShapeType="1"/>
            </p:cNvSpPr>
            <p:nvPr/>
          </p:nvSpPr>
          <p:spPr bwMode="auto">
            <a:xfrm flipV="1">
              <a:off x="2417" y="2535"/>
              <a:ext cx="34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198733" name="Line 77"/>
          <p:cNvSpPr>
            <a:spLocks noChangeShapeType="1"/>
          </p:cNvSpPr>
          <p:nvPr/>
        </p:nvSpPr>
        <p:spPr bwMode="auto">
          <a:xfrm flipH="1" flipV="1">
            <a:off x="8273496" y="1635125"/>
            <a:ext cx="0" cy="109537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aphicFrame>
        <p:nvGraphicFramePr>
          <p:cNvPr id="198742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286653"/>
              </p:ext>
            </p:extLst>
          </p:nvPr>
        </p:nvGraphicFramePr>
        <p:xfrm>
          <a:off x="6916183" y="1009650"/>
          <a:ext cx="560388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215619" imgH="215619" progId="Equation.3">
                  <p:embed/>
                </p:oleObj>
              </mc:Choice>
              <mc:Fallback>
                <p:oleObj name="Ecuación" r:id="rId4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183" y="1009650"/>
                        <a:ext cx="560388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43" name="Object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031006"/>
              </p:ext>
            </p:extLst>
          </p:nvPr>
        </p:nvGraphicFramePr>
        <p:xfrm>
          <a:off x="9079946" y="993775"/>
          <a:ext cx="560387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215619" imgH="215619" progId="Equation.3">
                  <p:embed/>
                </p:oleObj>
              </mc:Choice>
              <mc:Fallback>
                <p:oleObj name="Ecuación" r:id="rId6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9946" y="993775"/>
                        <a:ext cx="560387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46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178291"/>
              </p:ext>
            </p:extLst>
          </p:nvPr>
        </p:nvGraphicFramePr>
        <p:xfrm>
          <a:off x="1802957" y="4697413"/>
          <a:ext cx="311150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218960" imgH="266400" progId="Equation.3">
                  <p:embed/>
                </p:oleObj>
              </mc:Choice>
              <mc:Fallback>
                <p:oleObj name="Ecuación" r:id="rId8" imgW="121896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957" y="4697413"/>
                        <a:ext cx="311150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927" name="Group 87"/>
          <p:cNvGrpSpPr>
            <a:grpSpLocks/>
          </p:cNvGrpSpPr>
          <p:nvPr/>
        </p:nvGrpSpPr>
        <p:grpSpPr bwMode="auto">
          <a:xfrm>
            <a:off x="7786133" y="3787775"/>
            <a:ext cx="969963" cy="396875"/>
            <a:chOff x="1714" y="2386"/>
            <a:chExt cx="611" cy="250"/>
          </a:xfrm>
        </p:grpSpPr>
        <p:sp>
          <p:nvSpPr>
            <p:cNvPr id="9265" name="Freeform 86"/>
            <p:cNvSpPr>
              <a:spLocks/>
            </p:cNvSpPr>
            <p:nvPr/>
          </p:nvSpPr>
          <p:spPr bwMode="auto">
            <a:xfrm>
              <a:off x="1714" y="2393"/>
              <a:ext cx="611" cy="153"/>
            </a:xfrm>
            <a:custGeom>
              <a:avLst/>
              <a:gdLst>
                <a:gd name="T0" fmla="*/ 611 w 611"/>
                <a:gd name="T1" fmla="*/ 0 h 153"/>
                <a:gd name="T2" fmla="*/ 309 w 611"/>
                <a:gd name="T3" fmla="*/ 151 h 153"/>
                <a:gd name="T4" fmla="*/ 0 w 611"/>
                <a:gd name="T5" fmla="*/ 14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1" h="153">
                  <a:moveTo>
                    <a:pt x="611" y="0"/>
                  </a:moveTo>
                  <a:cubicBezTo>
                    <a:pt x="511" y="74"/>
                    <a:pt x="411" y="149"/>
                    <a:pt x="309" y="151"/>
                  </a:cubicBezTo>
                  <a:cubicBezTo>
                    <a:pt x="207" y="153"/>
                    <a:pt x="103" y="83"/>
                    <a:pt x="0" y="1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9266" name="Text Box 104"/>
            <p:cNvSpPr txBox="1">
              <a:spLocks noChangeArrowheads="1"/>
            </p:cNvSpPr>
            <p:nvPr/>
          </p:nvSpPr>
          <p:spPr bwMode="auto">
            <a:xfrm>
              <a:off x="1839" y="2386"/>
              <a:ext cx="350" cy="250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</p:grpSp>
      <p:sp>
        <p:nvSpPr>
          <p:cNvPr id="35928" name="Text Box 88"/>
          <p:cNvSpPr txBox="1">
            <a:spLocks noChangeArrowheads="1"/>
          </p:cNvSpPr>
          <p:nvPr/>
        </p:nvSpPr>
        <p:spPr bwMode="auto">
          <a:xfrm>
            <a:off x="1600209" y="5589309"/>
            <a:ext cx="4129868" cy="12025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Está en el eje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Y.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Era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algo esperable teniendo en cuenta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simetría</a:t>
            </a:r>
          </a:p>
        </p:txBody>
      </p:sp>
      <p:graphicFrame>
        <p:nvGraphicFramePr>
          <p:cNvPr id="8" name="Object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246848"/>
              </p:ext>
            </p:extLst>
          </p:nvPr>
        </p:nvGraphicFramePr>
        <p:xfrm>
          <a:off x="8451296" y="633413"/>
          <a:ext cx="4000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203024" imgH="266469" progId="Equation.3">
                  <p:embed/>
                </p:oleObj>
              </mc:Choice>
              <mc:Fallback>
                <p:oleObj name="Ecuación" r:id="rId10" imgW="203024" imgH="2664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1296" y="633413"/>
                        <a:ext cx="4000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upo 19"/>
          <p:cNvGrpSpPr>
            <a:grpSpLocks/>
          </p:cNvGrpSpPr>
          <p:nvPr/>
        </p:nvGrpSpPr>
        <p:grpSpPr bwMode="auto">
          <a:xfrm>
            <a:off x="7752903" y="1891087"/>
            <a:ext cx="1036637" cy="533400"/>
            <a:chOff x="2693988" y="1951038"/>
            <a:chExt cx="1036637" cy="533237"/>
          </a:xfrm>
        </p:grpSpPr>
        <p:grpSp>
          <p:nvGrpSpPr>
            <p:cNvPr id="9258" name="Group 80"/>
            <p:cNvGrpSpPr>
              <a:grpSpLocks/>
            </p:cNvGrpSpPr>
            <p:nvPr/>
          </p:nvGrpSpPr>
          <p:grpSpPr bwMode="auto">
            <a:xfrm>
              <a:off x="2693988" y="1951038"/>
              <a:ext cx="1036637" cy="403225"/>
              <a:chOff x="1697" y="1229"/>
              <a:chExt cx="653" cy="254"/>
            </a:xfrm>
          </p:grpSpPr>
          <p:sp>
            <p:nvSpPr>
              <p:cNvPr id="9261" name="Text Box 38"/>
              <p:cNvSpPr txBox="1">
                <a:spLocks noChangeArrowheads="1"/>
              </p:cNvSpPr>
              <p:nvPr/>
            </p:nvSpPr>
            <p:spPr bwMode="auto">
              <a:xfrm>
                <a:off x="1697" y="1229"/>
                <a:ext cx="35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30º</a:t>
                </a:r>
              </a:p>
            </p:txBody>
          </p:sp>
          <p:sp>
            <p:nvSpPr>
              <p:cNvPr id="9262" name="Text Box 39"/>
              <p:cNvSpPr txBox="1">
                <a:spLocks noChangeArrowheads="1"/>
              </p:cNvSpPr>
              <p:nvPr/>
            </p:nvSpPr>
            <p:spPr bwMode="auto">
              <a:xfrm>
                <a:off x="2000" y="1233"/>
                <a:ext cx="35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30º</a:t>
                </a:r>
              </a:p>
            </p:txBody>
          </p:sp>
        </p:grpSp>
        <p:sp>
          <p:nvSpPr>
            <p:cNvPr id="9259" name="Freeform 86"/>
            <p:cNvSpPr>
              <a:spLocks/>
            </p:cNvSpPr>
            <p:nvPr/>
          </p:nvSpPr>
          <p:spPr bwMode="auto">
            <a:xfrm rot="-8877409">
              <a:off x="3214638" y="2389177"/>
              <a:ext cx="307200" cy="95098"/>
            </a:xfrm>
            <a:custGeom>
              <a:avLst/>
              <a:gdLst>
                <a:gd name="T0" fmla="*/ 2147483646 w 611"/>
                <a:gd name="T1" fmla="*/ 0 h 153"/>
                <a:gd name="T2" fmla="*/ 2147483646 w 611"/>
                <a:gd name="T3" fmla="*/ 2147483646 h 153"/>
                <a:gd name="T4" fmla="*/ 0 w 611"/>
                <a:gd name="T5" fmla="*/ 2147483646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1" h="153">
                  <a:moveTo>
                    <a:pt x="611" y="0"/>
                  </a:moveTo>
                  <a:cubicBezTo>
                    <a:pt x="511" y="74"/>
                    <a:pt x="411" y="149"/>
                    <a:pt x="309" y="151"/>
                  </a:cubicBezTo>
                  <a:cubicBezTo>
                    <a:pt x="207" y="153"/>
                    <a:pt x="103" y="83"/>
                    <a:pt x="0" y="1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  <p:sp>
          <p:nvSpPr>
            <p:cNvPr id="9260" name="Freeform 86"/>
            <p:cNvSpPr>
              <a:spLocks/>
            </p:cNvSpPr>
            <p:nvPr/>
          </p:nvSpPr>
          <p:spPr bwMode="auto">
            <a:xfrm rot="8877409" flipH="1">
              <a:off x="2893853" y="2380699"/>
              <a:ext cx="307200" cy="95098"/>
            </a:xfrm>
            <a:custGeom>
              <a:avLst/>
              <a:gdLst>
                <a:gd name="T0" fmla="*/ 2147483646 w 611"/>
                <a:gd name="T1" fmla="*/ 0 h 153"/>
                <a:gd name="T2" fmla="*/ 2147483646 w 611"/>
                <a:gd name="T3" fmla="*/ 2147483646 h 153"/>
                <a:gd name="T4" fmla="*/ 0 w 611"/>
                <a:gd name="T5" fmla="*/ 2147483646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1" h="153">
                  <a:moveTo>
                    <a:pt x="611" y="0"/>
                  </a:moveTo>
                  <a:cubicBezTo>
                    <a:pt x="511" y="74"/>
                    <a:pt x="411" y="149"/>
                    <a:pt x="309" y="151"/>
                  </a:cubicBezTo>
                  <a:cubicBezTo>
                    <a:pt x="207" y="153"/>
                    <a:pt x="103" y="83"/>
                    <a:pt x="0" y="1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</p:grpSp>
      <p:pic>
        <p:nvPicPr>
          <p:cNvPr id="71" name="Imagen 7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564" y="2679396"/>
            <a:ext cx="582778" cy="590763"/>
          </a:xfrm>
          <a:prstGeom prst="rect">
            <a:avLst/>
          </a:prstGeom>
        </p:spPr>
      </p:pic>
      <p:sp>
        <p:nvSpPr>
          <p:cNvPr id="69" name="Text Box 2">
            <a:extLst>
              <a:ext uri="{FF2B5EF4-FFF2-40B4-BE49-F238E27FC236}">
                <a16:creationId xmlns:a16="http://schemas.microsoft.com/office/drawing/2014/main" id="{84CB9580-36E3-42A3-B357-93A9FA3BA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357" y="394736"/>
            <a:ext cx="4587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b)</a:t>
            </a:r>
          </a:p>
        </p:txBody>
      </p:sp>
      <p:graphicFrame>
        <p:nvGraphicFramePr>
          <p:cNvPr id="72" name="Object 84">
            <a:extLst>
              <a:ext uri="{FF2B5EF4-FFF2-40B4-BE49-F238E27FC236}">
                <a16:creationId xmlns:a16="http://schemas.microsoft.com/office/drawing/2014/main" id="{661DF32F-3764-4026-A13B-1023C2CC96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76860"/>
              </p:ext>
            </p:extLst>
          </p:nvPr>
        </p:nvGraphicFramePr>
        <p:xfrm>
          <a:off x="1792507" y="401086"/>
          <a:ext cx="4413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190417" imgH="241195" progId="Equation.3">
                  <p:embed/>
                </p:oleObj>
              </mc:Choice>
              <mc:Fallback>
                <p:oleObj name="Ecuación" r:id="rId13" imgW="190417" imgH="241195" progId="Equation.3">
                  <p:embed/>
                  <p:pic>
                    <p:nvPicPr>
                      <p:cNvPr id="19874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507" y="401086"/>
                        <a:ext cx="441325" cy="558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84">
            <a:extLst>
              <a:ext uri="{FF2B5EF4-FFF2-40B4-BE49-F238E27FC236}">
                <a16:creationId xmlns:a16="http://schemas.microsoft.com/office/drawing/2014/main" id="{54F8C7F0-1ACC-49EE-BC4F-D538800FB2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219899"/>
              </p:ext>
            </p:extLst>
          </p:nvPr>
        </p:nvGraphicFramePr>
        <p:xfrm>
          <a:off x="2252340" y="391038"/>
          <a:ext cx="1745490" cy="622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5" imgW="711000" imgH="253800" progId="Equation.3">
                  <p:embed/>
                </p:oleObj>
              </mc:Choice>
              <mc:Fallback>
                <p:oleObj name="Ecuación" r:id="rId15" imgW="711000" imgH="253800" progId="Equation.3">
                  <p:embed/>
                  <p:pic>
                    <p:nvPicPr>
                      <p:cNvPr id="7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340" y="391038"/>
                        <a:ext cx="1745490" cy="622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" name="Grupo 67">
            <a:extLst>
              <a:ext uri="{FF2B5EF4-FFF2-40B4-BE49-F238E27FC236}">
                <a16:creationId xmlns:a16="http://schemas.microsoft.com/office/drawing/2014/main" id="{0BE64DB0-929D-45AB-BADC-3143E8116D07}"/>
              </a:ext>
            </a:extLst>
          </p:cNvPr>
          <p:cNvGrpSpPr/>
          <p:nvPr/>
        </p:nvGrpSpPr>
        <p:grpSpPr>
          <a:xfrm>
            <a:off x="1335729" y="1254748"/>
            <a:ext cx="4702175" cy="1143000"/>
            <a:chOff x="1335729" y="1254748"/>
            <a:chExt cx="4702175" cy="1143000"/>
          </a:xfrm>
        </p:grpSpPr>
        <p:sp>
          <p:nvSpPr>
            <p:cNvPr id="79" name="Rectangle 51">
              <a:extLst>
                <a:ext uri="{FF2B5EF4-FFF2-40B4-BE49-F238E27FC236}">
                  <a16:creationId xmlns:a16="http://schemas.microsoft.com/office/drawing/2014/main" id="{1B6283D0-0223-4908-B24C-B5E1F45F4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729" y="1254748"/>
              <a:ext cx="4702175" cy="1143000"/>
            </a:xfrm>
            <a:prstGeom prst="rect">
              <a:avLst/>
            </a:prstGeom>
            <a:solidFill>
              <a:srgbClr val="EDE7E3"/>
            </a:solidFill>
            <a:ln w="381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80" name="Conector recto 2">
              <a:extLst>
                <a:ext uri="{FF2B5EF4-FFF2-40B4-BE49-F238E27FC236}">
                  <a16:creationId xmlns:a16="http://schemas.microsoft.com/office/drawing/2014/main" id="{3B4FD0EA-CED2-4661-9BBC-4FAEDE63A5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39204" y="1254748"/>
              <a:ext cx="0" cy="1143000"/>
            </a:xfrm>
            <a:prstGeom prst="line">
              <a:avLst/>
            </a:prstGeom>
            <a:noFill/>
            <a:ln w="25400" algn="ctr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81" name="Object 60">
            <a:extLst>
              <a:ext uri="{FF2B5EF4-FFF2-40B4-BE49-F238E27FC236}">
                <a16:creationId xmlns:a16="http://schemas.microsoft.com/office/drawing/2014/main" id="{86C76CB8-A7AF-43FC-A0B1-5B3F15C330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5579" y="1434136"/>
          <a:ext cx="198278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7" imgW="1117600" imgH="469900" progId="Equation.3">
                  <p:embed/>
                </p:oleObj>
              </mc:Choice>
              <mc:Fallback>
                <p:oleObj name="Ecuación" r:id="rId17" imgW="1117600" imgH="469900" progId="Equation.3">
                  <p:embed/>
                  <p:pic>
                    <p:nvPicPr>
                      <p:cNvPr id="9288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5579" y="1434136"/>
                        <a:ext cx="1982788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54">
            <a:extLst>
              <a:ext uri="{FF2B5EF4-FFF2-40B4-BE49-F238E27FC236}">
                <a16:creationId xmlns:a16="http://schemas.microsoft.com/office/drawing/2014/main" id="{26772018-F00B-4823-A257-6598698B05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3278" y="1441243"/>
          <a:ext cx="215106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9" imgW="1180588" imgH="444307" progId="Equation.3">
                  <p:embed/>
                </p:oleObj>
              </mc:Choice>
              <mc:Fallback>
                <p:oleObj name="Ecuación" r:id="rId19" imgW="1180588" imgH="444307" progId="Equation.3">
                  <p:embed/>
                  <p:pic>
                    <p:nvPicPr>
                      <p:cNvPr id="9289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278" y="1441243"/>
                        <a:ext cx="2151063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Text Box 28">
            <a:extLst>
              <a:ext uri="{FF2B5EF4-FFF2-40B4-BE49-F238E27FC236}">
                <a16:creationId xmlns:a16="http://schemas.microsoft.com/office/drawing/2014/main" id="{2F9DAF3E-7801-4922-B139-AF364B88E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229" y="3660765"/>
            <a:ext cx="1900237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BA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r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CA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L</a:t>
            </a:r>
          </a:p>
        </p:txBody>
      </p:sp>
      <p:sp>
        <p:nvSpPr>
          <p:cNvPr id="84" name="Text Box 28">
            <a:extLst>
              <a:ext uri="{FF2B5EF4-FFF2-40B4-BE49-F238E27FC236}">
                <a16:creationId xmlns:a16="http://schemas.microsoft.com/office/drawing/2014/main" id="{A4B25CBB-EB04-4667-9B4C-86B187F71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2091" y="2892308"/>
            <a:ext cx="27813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B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C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Q</a:t>
            </a:r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734F8CD6-CE31-422B-8B5E-870384E9BD4D}"/>
              </a:ext>
            </a:extLst>
          </p:cNvPr>
          <p:cNvGrpSpPr>
            <a:grpSpLocks/>
          </p:cNvGrpSpPr>
          <p:nvPr/>
        </p:nvGrpSpPr>
        <p:grpSpPr bwMode="auto">
          <a:xfrm>
            <a:off x="4036796" y="2945073"/>
            <a:ext cx="1887091" cy="1325404"/>
            <a:chOff x="8682890" y="1359971"/>
            <a:chExt cx="1886560" cy="1326639"/>
          </a:xfrm>
        </p:grpSpPr>
        <p:graphicFrame>
          <p:nvGraphicFramePr>
            <p:cNvPr id="87" name="Object 109">
              <a:extLst>
                <a:ext uri="{FF2B5EF4-FFF2-40B4-BE49-F238E27FC236}">
                  <a16:creationId xmlns:a16="http://schemas.microsoft.com/office/drawing/2014/main" id="{32EF0207-620B-41D1-8AA8-3B7E747F8D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16887" y="1744270"/>
            <a:ext cx="1452563" cy="593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1" imgW="774364" imgH="317362" progId="Equation.3">
                    <p:embed/>
                  </p:oleObj>
                </mc:Choice>
                <mc:Fallback>
                  <p:oleObj name="Ecuación" r:id="rId21" imgW="774364" imgH="317362" progId="Equation.3">
                    <p:embed/>
                    <p:pic>
                      <p:nvPicPr>
                        <p:cNvPr id="9263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16887" y="1744270"/>
                          <a:ext cx="1452563" cy="593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" name="Cerrar llave 11">
              <a:extLst>
                <a:ext uri="{FF2B5EF4-FFF2-40B4-BE49-F238E27FC236}">
                  <a16:creationId xmlns:a16="http://schemas.microsoft.com/office/drawing/2014/main" id="{9ED57A8C-9B2E-4A94-82D3-C1C74FF4E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2890" y="1359971"/>
              <a:ext cx="291094" cy="1326639"/>
            </a:xfrm>
            <a:prstGeom prst="rightBrace">
              <a:avLst>
                <a:gd name="adj1" fmla="val 8335"/>
                <a:gd name="adj2" fmla="val 50000"/>
              </a:avLst>
            </a:prstGeom>
            <a:noFill/>
            <a:ln w="38100" algn="ctr">
              <a:solidFill>
                <a:srgbClr val="008000"/>
              </a:solidFill>
              <a:round/>
              <a:headEnd/>
              <a:tailEnd/>
            </a:ln>
          </p:spPr>
          <p:txBody>
            <a:bodyPr wrap="none" lIns="90000" tIns="46800" rIns="90000" bIns="46800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2" name="Text Box 10">
            <a:extLst>
              <a:ext uri="{FF2B5EF4-FFF2-40B4-BE49-F238E27FC236}">
                <a16:creationId xmlns:a16="http://schemas.microsoft.com/office/drawing/2014/main" id="{7762394D-073B-4F00-8218-DA4814FB6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616" y="3347534"/>
            <a:ext cx="349250" cy="396875"/>
          </a:xfrm>
          <a:prstGeom prst="rect">
            <a:avLst/>
          </a:prstGeom>
          <a:solidFill>
            <a:srgbClr val="EDE7E3"/>
          </a:solidFill>
          <a:ln>
            <a:noFill/>
          </a:ln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6945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9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728" grpId="0" animBg="1"/>
      <p:bldP spid="198683" grpId="0" animBg="1"/>
      <p:bldP spid="198733" grpId="0" animBg="1"/>
      <p:bldP spid="359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upo 55"/>
          <p:cNvGrpSpPr>
            <a:grpSpLocks/>
          </p:cNvGrpSpPr>
          <p:nvPr/>
        </p:nvGrpSpPr>
        <p:grpSpPr bwMode="auto">
          <a:xfrm flipH="1">
            <a:off x="2500781" y="1687068"/>
            <a:ext cx="706438" cy="1276350"/>
            <a:chOff x="3213102" y="1686939"/>
            <a:chExt cx="705755" cy="1277325"/>
          </a:xfrm>
        </p:grpSpPr>
        <p:sp>
          <p:nvSpPr>
            <p:cNvPr id="57" name="Forma libre 15"/>
            <p:cNvSpPr>
              <a:spLocks/>
            </p:cNvSpPr>
            <p:nvPr/>
          </p:nvSpPr>
          <p:spPr bwMode="auto">
            <a:xfrm>
              <a:off x="3215473" y="1688123"/>
              <a:ext cx="703384" cy="1276141"/>
            </a:xfrm>
            <a:custGeom>
              <a:avLst/>
              <a:gdLst>
                <a:gd name="T0" fmla="*/ 703384 w 703384"/>
                <a:gd name="T1" fmla="*/ 0 h 1276141"/>
                <a:gd name="T2" fmla="*/ 0 w 703384"/>
                <a:gd name="T3" fmla="*/ 1276141 h 1276141"/>
                <a:gd name="T4" fmla="*/ 0 w 703384"/>
                <a:gd name="T5" fmla="*/ 0 h 12761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3384" h="1276141">
                  <a:moveTo>
                    <a:pt x="703384" y="0"/>
                  </a:moveTo>
                  <a:lnTo>
                    <a:pt x="0" y="1276141"/>
                  </a:lnTo>
                  <a:lnTo>
                    <a:pt x="0" y="0"/>
                  </a:lnTo>
                </a:path>
              </a:pathLst>
            </a:custGeom>
            <a:solidFill>
              <a:srgbClr val="FFFF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58" name="Rectángulo 16"/>
            <p:cNvSpPr>
              <a:spLocks noChangeArrowheads="1"/>
            </p:cNvSpPr>
            <p:nvPr/>
          </p:nvSpPr>
          <p:spPr bwMode="auto">
            <a:xfrm>
              <a:off x="3213102" y="1686939"/>
              <a:ext cx="161951" cy="201288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11266" name="Group 79"/>
          <p:cNvGrpSpPr>
            <a:grpSpLocks/>
          </p:cNvGrpSpPr>
          <p:nvPr/>
        </p:nvGrpSpPr>
        <p:grpSpPr bwMode="auto">
          <a:xfrm>
            <a:off x="1757363" y="200025"/>
            <a:ext cx="3224212" cy="4618038"/>
            <a:chOff x="1107" y="126"/>
            <a:chExt cx="2031" cy="2909"/>
          </a:xfrm>
        </p:grpSpPr>
        <p:sp>
          <p:nvSpPr>
            <p:cNvPr id="11305" name="Line 23"/>
            <p:cNvSpPr>
              <a:spLocks noChangeShapeType="1"/>
            </p:cNvSpPr>
            <p:nvPr/>
          </p:nvSpPr>
          <p:spPr bwMode="auto">
            <a:xfrm rot="10800000" flipH="1">
              <a:off x="2015" y="176"/>
              <a:ext cx="14" cy="285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1306" name="Line 23"/>
            <p:cNvSpPr>
              <a:spLocks noChangeShapeType="1"/>
            </p:cNvSpPr>
            <p:nvPr/>
          </p:nvSpPr>
          <p:spPr bwMode="auto">
            <a:xfrm rot="16200000" flipH="1">
              <a:off x="2016" y="931"/>
              <a:ext cx="0" cy="18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1307" name="Text Box 88"/>
            <p:cNvSpPr txBox="1">
              <a:spLocks noChangeArrowheads="1"/>
            </p:cNvSpPr>
            <p:nvPr/>
          </p:nvSpPr>
          <p:spPr bwMode="auto">
            <a:xfrm>
              <a:off x="2944" y="1704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11308" name="Text Box 89"/>
            <p:cNvSpPr txBox="1">
              <a:spLocks noChangeArrowheads="1"/>
            </p:cNvSpPr>
            <p:nvPr/>
          </p:nvSpPr>
          <p:spPr bwMode="auto">
            <a:xfrm>
              <a:off x="2055" y="126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Y</a:t>
              </a:r>
            </a:p>
          </p:txBody>
        </p:sp>
      </p:grpSp>
      <p:sp>
        <p:nvSpPr>
          <p:cNvPr id="11267" name="Line 72"/>
          <p:cNvSpPr>
            <a:spLocks noChangeShapeType="1"/>
          </p:cNvSpPr>
          <p:nvPr/>
        </p:nvSpPr>
        <p:spPr bwMode="auto">
          <a:xfrm flipV="1">
            <a:off x="3203575" y="561975"/>
            <a:ext cx="22225" cy="21304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aphicFrame>
        <p:nvGraphicFramePr>
          <p:cNvPr id="19869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876223"/>
              </p:ext>
            </p:extLst>
          </p:nvPr>
        </p:nvGraphicFramePr>
        <p:xfrm>
          <a:off x="6528323" y="1796653"/>
          <a:ext cx="3300413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308100" imgH="419100" progId="Equation.3">
                  <p:embed/>
                </p:oleObj>
              </mc:Choice>
              <mc:Fallback>
                <p:oleObj name="Ecuación" r:id="rId3" imgW="1308100" imgH="4191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8323" y="1796653"/>
                        <a:ext cx="3300413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7958663" y="2572943"/>
            <a:ext cx="2528888" cy="933451"/>
            <a:chOff x="4881" y="3073"/>
            <a:chExt cx="1593" cy="588"/>
          </a:xfrm>
        </p:grpSpPr>
        <p:sp>
          <p:nvSpPr>
            <p:cNvPr id="11303" name="Line 42"/>
            <p:cNvSpPr>
              <a:spLocks noChangeShapeType="1"/>
            </p:cNvSpPr>
            <p:nvPr/>
          </p:nvSpPr>
          <p:spPr bwMode="auto">
            <a:xfrm>
              <a:off x="4881" y="3073"/>
              <a:ext cx="329" cy="2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1304" name="Text Box 43"/>
            <p:cNvSpPr txBox="1">
              <a:spLocks noChangeArrowheads="1"/>
            </p:cNvSpPr>
            <p:nvPr/>
          </p:nvSpPr>
          <p:spPr bwMode="auto">
            <a:xfrm>
              <a:off x="5019" y="3369"/>
              <a:ext cx="145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27 cm = 0,27 m</a:t>
              </a:r>
            </a:p>
          </p:txBody>
        </p:sp>
      </p:grpSp>
      <p:grpSp>
        <p:nvGrpSpPr>
          <p:cNvPr id="3" name="Group 73"/>
          <p:cNvGrpSpPr>
            <a:grpSpLocks/>
          </p:cNvGrpSpPr>
          <p:nvPr/>
        </p:nvGrpSpPr>
        <p:grpSpPr bwMode="auto">
          <a:xfrm>
            <a:off x="5652024" y="1595044"/>
            <a:ext cx="2646362" cy="592138"/>
            <a:chOff x="3428" y="2457"/>
            <a:chExt cx="1667" cy="373"/>
          </a:xfrm>
        </p:grpSpPr>
        <p:sp>
          <p:nvSpPr>
            <p:cNvPr id="11301" name="Line 41"/>
            <p:cNvSpPr>
              <a:spLocks noChangeShapeType="1"/>
            </p:cNvSpPr>
            <p:nvPr/>
          </p:nvSpPr>
          <p:spPr bwMode="auto">
            <a:xfrm flipH="1" flipV="1">
              <a:off x="4320" y="2690"/>
              <a:ext cx="775" cy="1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1302" name="Text Box 44"/>
            <p:cNvSpPr txBox="1">
              <a:spLocks noChangeArrowheads="1"/>
            </p:cNvSpPr>
            <p:nvPr/>
          </p:nvSpPr>
          <p:spPr bwMode="auto">
            <a:xfrm>
              <a:off x="3428" y="2457"/>
              <a:ext cx="89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-2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10</a:t>
              </a:r>
              <a:r>
                <a:rPr lang="es-ES" sz="2400" baseline="300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6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C</a:t>
              </a:r>
            </a:p>
          </p:txBody>
        </p:sp>
      </p:grpSp>
      <p:grpSp>
        <p:nvGrpSpPr>
          <p:cNvPr id="4" name="Group 74"/>
          <p:cNvGrpSpPr>
            <a:grpSpLocks/>
          </p:cNvGrpSpPr>
          <p:nvPr/>
        </p:nvGrpSpPr>
        <p:grpSpPr bwMode="auto">
          <a:xfrm>
            <a:off x="8554768" y="2107322"/>
            <a:ext cx="1555751" cy="1000125"/>
            <a:chOff x="5336" y="2791"/>
            <a:chExt cx="980" cy="630"/>
          </a:xfrm>
        </p:grpSpPr>
        <p:sp>
          <p:nvSpPr>
            <p:cNvPr id="11297" name="Line 45"/>
            <p:cNvSpPr>
              <a:spLocks noChangeShapeType="1"/>
            </p:cNvSpPr>
            <p:nvPr/>
          </p:nvSpPr>
          <p:spPr bwMode="auto">
            <a:xfrm>
              <a:off x="5336" y="2791"/>
              <a:ext cx="501" cy="3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 sz="2400"/>
            </a:p>
          </p:txBody>
        </p:sp>
        <p:grpSp>
          <p:nvGrpSpPr>
            <p:cNvPr id="11298" name="Group 49"/>
            <p:cNvGrpSpPr>
              <a:grpSpLocks/>
            </p:cNvGrpSpPr>
            <p:nvPr/>
          </p:nvGrpSpPr>
          <p:grpSpPr bwMode="auto">
            <a:xfrm>
              <a:off x="5826" y="3129"/>
              <a:ext cx="490" cy="292"/>
              <a:chOff x="5826" y="3353"/>
              <a:chExt cx="490" cy="292"/>
            </a:xfrm>
          </p:grpSpPr>
          <p:sp>
            <p:nvSpPr>
              <p:cNvPr id="11299" name="Text Box 47"/>
              <p:cNvSpPr txBox="1">
                <a:spLocks noChangeArrowheads="1"/>
              </p:cNvSpPr>
              <p:nvPr/>
            </p:nvSpPr>
            <p:spPr bwMode="auto">
              <a:xfrm>
                <a:off x="5826" y="3353"/>
                <a:ext cx="490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latin typeface="Arial" panose="020B0604020202020204" pitchFamily="34" charset="0"/>
                    <a:sym typeface="Symbol" panose="05050102010706020507" pitchFamily="18" charset="2"/>
                  </a:rPr>
                  <a:t>3/2</a:t>
                </a:r>
              </a:p>
            </p:txBody>
          </p:sp>
          <p:sp>
            <p:nvSpPr>
              <p:cNvPr id="11300" name="Line 48"/>
              <p:cNvSpPr>
                <a:spLocks noChangeShapeType="1"/>
              </p:cNvSpPr>
              <p:nvPr/>
            </p:nvSpPr>
            <p:spPr bwMode="auto">
              <a:xfrm>
                <a:off x="5979" y="3386"/>
                <a:ext cx="8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GB" sz="2400"/>
              </a:p>
            </p:txBody>
          </p:sp>
        </p:grpSp>
      </p:grpSp>
      <p:grpSp>
        <p:nvGrpSpPr>
          <p:cNvPr id="6" name="Group 108"/>
          <p:cNvGrpSpPr>
            <a:grpSpLocks/>
          </p:cNvGrpSpPr>
          <p:nvPr/>
        </p:nvGrpSpPr>
        <p:grpSpPr bwMode="auto">
          <a:xfrm>
            <a:off x="6346339" y="5766581"/>
            <a:ext cx="4305300" cy="752475"/>
            <a:chOff x="3741" y="3693"/>
            <a:chExt cx="2712" cy="474"/>
          </a:xfrm>
        </p:grpSpPr>
        <p:sp>
          <p:nvSpPr>
            <p:cNvPr id="11295" name="Rectangle 51"/>
            <p:cNvSpPr>
              <a:spLocks noChangeArrowheads="1"/>
            </p:cNvSpPr>
            <p:nvPr/>
          </p:nvSpPr>
          <p:spPr bwMode="auto">
            <a:xfrm>
              <a:off x="3741" y="3693"/>
              <a:ext cx="2712" cy="47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1296" name="Object 50"/>
            <p:cNvGraphicFramePr>
              <a:graphicFrameLocks noChangeAspect="1"/>
            </p:cNvGraphicFramePr>
            <p:nvPr/>
          </p:nvGraphicFramePr>
          <p:xfrm>
            <a:off x="3848" y="3762"/>
            <a:ext cx="2538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739900" imgH="241300" progId="Equation.3">
                    <p:embed/>
                  </p:oleObj>
                </mc:Choice>
                <mc:Fallback>
                  <p:oleObj name="Ecuación" r:id="rId5" imgW="1739900" imgH="24130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8" y="3762"/>
                          <a:ext cx="2538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73" name="AutoShape 9"/>
          <p:cNvSpPr>
            <a:spLocks noChangeArrowheads="1"/>
          </p:cNvSpPr>
          <p:nvPr/>
        </p:nvSpPr>
        <p:spPr bwMode="auto">
          <a:xfrm>
            <a:off x="1849438" y="2913063"/>
            <a:ext cx="2743200" cy="2379662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3020253" y="3327158"/>
            <a:ext cx="349250" cy="396875"/>
          </a:xfrm>
          <a:prstGeom prst="rect">
            <a:avLst/>
          </a:prstGeom>
          <a:solidFill>
            <a:srgbClr val="EDE7E3"/>
          </a:solidFill>
          <a:ln>
            <a:noFill/>
          </a:ln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4803775" y="5381625"/>
            <a:ext cx="35083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1314450" y="5391150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1277" name="Text Box 29"/>
          <p:cNvSpPr txBox="1">
            <a:spLocks noChangeArrowheads="1"/>
          </p:cNvSpPr>
          <p:nvPr/>
        </p:nvSpPr>
        <p:spPr bwMode="auto">
          <a:xfrm>
            <a:off x="4071938" y="3744913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1278" name="Text Box 30"/>
          <p:cNvSpPr txBox="1">
            <a:spLocks noChangeArrowheads="1"/>
          </p:cNvSpPr>
          <p:nvPr/>
        </p:nvSpPr>
        <p:spPr bwMode="auto">
          <a:xfrm>
            <a:off x="1993900" y="3740150"/>
            <a:ext cx="3238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1279" name="Text Box 31"/>
          <p:cNvSpPr txBox="1">
            <a:spLocks noChangeArrowheads="1"/>
          </p:cNvSpPr>
          <p:nvPr/>
        </p:nvSpPr>
        <p:spPr bwMode="auto">
          <a:xfrm>
            <a:off x="3063875" y="5292725"/>
            <a:ext cx="32226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pic>
        <p:nvPicPr>
          <p:cNvPr id="11281" name="Picture 62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5002213"/>
            <a:ext cx="5715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2" name="Picture 63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5033963"/>
            <a:ext cx="5715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oup 81"/>
          <p:cNvGrpSpPr>
            <a:grpSpLocks/>
          </p:cNvGrpSpPr>
          <p:nvPr/>
        </p:nvGrpSpPr>
        <p:grpSpPr bwMode="auto">
          <a:xfrm>
            <a:off x="5732986" y="2187178"/>
            <a:ext cx="2206626" cy="1014412"/>
            <a:chOff x="3479" y="2830"/>
            <a:chExt cx="1390" cy="639"/>
          </a:xfrm>
        </p:grpSpPr>
        <p:sp>
          <p:nvSpPr>
            <p:cNvPr id="11293" name="Line 79"/>
            <p:cNvSpPr>
              <a:spLocks noChangeShapeType="1"/>
            </p:cNvSpPr>
            <p:nvPr/>
          </p:nvSpPr>
          <p:spPr bwMode="auto">
            <a:xfrm flipH="1">
              <a:off x="4514" y="2830"/>
              <a:ext cx="259" cy="2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1294" name="Text Box 80"/>
            <p:cNvSpPr txBox="1">
              <a:spLocks noChangeArrowheads="1"/>
            </p:cNvSpPr>
            <p:nvPr/>
          </p:nvSpPr>
          <p:spPr bwMode="auto">
            <a:xfrm>
              <a:off x="3479" y="3177"/>
              <a:ext cx="139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9 10</a:t>
              </a:r>
              <a:r>
                <a:rPr lang="es-ES" sz="2400" baseline="30000">
                  <a:latin typeface="Arial" panose="020B0604020202020204" pitchFamily="34" charset="0"/>
                </a:rPr>
                <a:t>9</a:t>
              </a:r>
              <a:r>
                <a:rPr lang="es-ES" sz="2400">
                  <a:latin typeface="Arial" panose="020B0604020202020204" pitchFamily="34" charset="0"/>
                </a:rPr>
                <a:t> N m</a:t>
              </a:r>
              <a:r>
                <a:rPr lang="es-ES" sz="2400" baseline="30000">
                  <a:latin typeface="Arial" panose="020B0604020202020204" pitchFamily="34" charset="0"/>
                </a:rPr>
                <a:t>2 </a:t>
              </a:r>
              <a:r>
                <a:rPr lang="es-ES" sz="2400">
                  <a:latin typeface="Arial" panose="020B0604020202020204" pitchFamily="34" charset="0"/>
                </a:rPr>
                <a:t>C</a:t>
              </a:r>
              <a:r>
                <a:rPr lang="es-ES" sz="2400" baseline="30000">
                  <a:latin typeface="Arial" panose="020B0604020202020204" pitchFamily="34" charset="0"/>
                </a:rPr>
                <a:t>-2</a:t>
              </a:r>
              <a:r>
                <a:rPr lang="es-ES" sz="2400">
                  <a:latin typeface="Arial" panose="020B0604020202020204" pitchFamily="34" charset="0"/>
                </a:rPr>
                <a:t> </a:t>
              </a:r>
            </a:p>
          </p:txBody>
        </p:sp>
      </p:grpSp>
      <p:grpSp>
        <p:nvGrpSpPr>
          <p:cNvPr id="18" name="78 Grupo"/>
          <p:cNvGrpSpPr>
            <a:grpSpLocks/>
          </p:cNvGrpSpPr>
          <p:nvPr/>
        </p:nvGrpSpPr>
        <p:grpSpPr bwMode="auto">
          <a:xfrm>
            <a:off x="6961806" y="6395302"/>
            <a:ext cx="3163875" cy="613891"/>
            <a:chOff x="7310706" y="6223251"/>
            <a:chExt cx="3163172" cy="615553"/>
          </a:xfrm>
        </p:grpSpPr>
        <p:sp>
          <p:nvSpPr>
            <p:cNvPr id="11291" name="Text Box 97"/>
            <p:cNvSpPr txBox="1">
              <a:spLocks noChangeArrowheads="1"/>
            </p:cNvSpPr>
            <p:nvPr/>
          </p:nvSpPr>
          <p:spPr bwMode="auto">
            <a:xfrm>
              <a:off x="7310706" y="6373702"/>
              <a:ext cx="3037637" cy="465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Se lee: ... en Newton</a:t>
              </a:r>
            </a:p>
          </p:txBody>
        </p:sp>
        <p:cxnSp>
          <p:nvCxnSpPr>
            <p:cNvPr id="11292" name="77 Conector recto de flecha"/>
            <p:cNvCxnSpPr>
              <a:cxnSpLocks noChangeShapeType="1"/>
            </p:cNvCxnSpPr>
            <p:nvPr/>
          </p:nvCxnSpPr>
          <p:spPr bwMode="auto">
            <a:xfrm flipH="1">
              <a:off x="10200439" y="6223251"/>
              <a:ext cx="273439" cy="268907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1285" name="Object 87"/>
          <p:cNvGraphicFramePr>
            <a:graphicFrameLocks noChangeAspect="1"/>
          </p:cNvGraphicFramePr>
          <p:nvPr/>
        </p:nvGraphicFramePr>
        <p:xfrm>
          <a:off x="3386138" y="633413"/>
          <a:ext cx="4000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203024" imgH="266469" progId="Equation.3">
                  <p:embed/>
                </p:oleObj>
              </mc:Choice>
              <mc:Fallback>
                <p:oleObj name="Ecuación" r:id="rId8" imgW="203024" imgH="266469" progId="Equation.3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138" y="633413"/>
                        <a:ext cx="4000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15" name="Text Box 79"/>
          <p:cNvSpPr txBox="1">
            <a:spLocks noChangeArrowheads="1"/>
          </p:cNvSpPr>
          <p:nvPr/>
        </p:nvSpPr>
        <p:spPr bwMode="auto">
          <a:xfrm>
            <a:off x="5385908" y="4102097"/>
            <a:ext cx="5269534" cy="157184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El error en K afecta a la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3ª cifra. Por ello, se deben tomar como máximo 3 o 4 del resultado desde la 1ª no nula. Pero redondeamos a 2</a:t>
            </a:r>
          </a:p>
        </p:txBody>
      </p:sp>
      <p:sp>
        <p:nvSpPr>
          <p:cNvPr id="48" name="Rectangle 51"/>
          <p:cNvSpPr>
            <a:spLocks noChangeArrowheads="1"/>
          </p:cNvSpPr>
          <p:nvPr/>
        </p:nvSpPr>
        <p:spPr bwMode="auto">
          <a:xfrm>
            <a:off x="827454" y="5931965"/>
            <a:ext cx="4702175" cy="1143000"/>
          </a:xfrm>
          <a:prstGeom prst="rect">
            <a:avLst/>
          </a:prstGeom>
          <a:solidFill>
            <a:srgbClr val="EDE7E3"/>
          </a:solidFill>
          <a:ln w="38100" algn="ctr">
            <a:solidFill>
              <a:srgbClr val="99CCF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9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806520"/>
              </p:ext>
            </p:extLst>
          </p:nvPr>
        </p:nvGraphicFramePr>
        <p:xfrm>
          <a:off x="3448417" y="6111353"/>
          <a:ext cx="198278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1117600" imgH="469900" progId="Equation.3">
                  <p:embed/>
                </p:oleObj>
              </mc:Choice>
              <mc:Fallback>
                <p:oleObj name="Ecuación" r:id="rId10" imgW="1117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417" y="6111353"/>
                        <a:ext cx="1982788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Conector recto 2"/>
          <p:cNvCxnSpPr>
            <a:cxnSpLocks noChangeShapeType="1"/>
          </p:cNvCxnSpPr>
          <p:nvPr/>
        </p:nvCxnSpPr>
        <p:spPr bwMode="auto">
          <a:xfrm>
            <a:off x="3220782" y="5931965"/>
            <a:ext cx="0" cy="1143000"/>
          </a:xfrm>
          <a:prstGeom prst="line">
            <a:avLst/>
          </a:prstGeom>
          <a:noFill/>
          <a:ln w="25400" algn="ctr">
            <a:solidFill>
              <a:srgbClr val="99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51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491688"/>
              </p:ext>
            </p:extLst>
          </p:nvPr>
        </p:nvGraphicFramePr>
        <p:xfrm>
          <a:off x="1358905" y="6214025"/>
          <a:ext cx="1443661" cy="69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634680" imgH="304560" progId="Equation.3">
                  <p:embed/>
                </p:oleObj>
              </mc:Choice>
              <mc:Fallback>
                <p:oleObj name="Ecuación" r:id="rId12" imgW="6346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5" y="6214025"/>
                        <a:ext cx="1443661" cy="69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Line 20"/>
          <p:cNvSpPr>
            <a:spLocks noChangeShapeType="1"/>
          </p:cNvSpPr>
          <p:nvPr/>
        </p:nvSpPr>
        <p:spPr bwMode="auto">
          <a:xfrm rot="19800000" flipV="1">
            <a:off x="2729381" y="1590230"/>
            <a:ext cx="6350" cy="1144588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60" name="Line 77"/>
          <p:cNvSpPr>
            <a:spLocks noChangeShapeType="1"/>
          </p:cNvSpPr>
          <p:nvPr/>
        </p:nvSpPr>
        <p:spPr bwMode="auto">
          <a:xfrm flipV="1">
            <a:off x="3211981" y="1634680"/>
            <a:ext cx="0" cy="109537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pSp>
        <p:nvGrpSpPr>
          <p:cNvPr id="61" name="Grupo 60"/>
          <p:cNvGrpSpPr>
            <a:grpSpLocks/>
          </p:cNvGrpSpPr>
          <p:nvPr/>
        </p:nvGrpSpPr>
        <p:grpSpPr bwMode="auto">
          <a:xfrm flipH="1">
            <a:off x="2695935" y="1896994"/>
            <a:ext cx="555625" cy="527048"/>
            <a:chOff x="3175002" y="1957388"/>
            <a:chExt cx="555625" cy="526887"/>
          </a:xfrm>
        </p:grpSpPr>
        <p:sp>
          <p:nvSpPr>
            <p:cNvPr id="66" name="Text Box 39"/>
            <p:cNvSpPr txBox="1">
              <a:spLocks noChangeArrowheads="1"/>
            </p:cNvSpPr>
            <p:nvPr/>
          </p:nvSpPr>
          <p:spPr bwMode="auto">
            <a:xfrm>
              <a:off x="3175002" y="1957388"/>
              <a:ext cx="5556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30º</a:t>
              </a:r>
            </a:p>
          </p:txBody>
        </p:sp>
        <p:sp>
          <p:nvSpPr>
            <p:cNvPr id="63" name="Freeform 86"/>
            <p:cNvSpPr>
              <a:spLocks/>
            </p:cNvSpPr>
            <p:nvPr/>
          </p:nvSpPr>
          <p:spPr bwMode="auto">
            <a:xfrm rot="-8877409">
              <a:off x="3214638" y="2389177"/>
              <a:ext cx="307200" cy="95098"/>
            </a:xfrm>
            <a:custGeom>
              <a:avLst/>
              <a:gdLst>
                <a:gd name="T0" fmla="*/ 2147483646 w 611"/>
                <a:gd name="T1" fmla="*/ 0 h 153"/>
                <a:gd name="T2" fmla="*/ 2147483646 w 611"/>
                <a:gd name="T3" fmla="*/ 2147483646 h 153"/>
                <a:gd name="T4" fmla="*/ 0 w 611"/>
                <a:gd name="T5" fmla="*/ 2147483646 h 1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1" h="153">
                  <a:moveTo>
                    <a:pt x="611" y="0"/>
                  </a:moveTo>
                  <a:cubicBezTo>
                    <a:pt x="511" y="74"/>
                    <a:pt x="411" y="149"/>
                    <a:pt x="309" y="151"/>
                  </a:cubicBezTo>
                  <a:cubicBezTo>
                    <a:pt x="207" y="153"/>
                    <a:pt x="103" y="83"/>
                    <a:pt x="0" y="1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/>
            <a:lstStyle/>
            <a:p>
              <a:endParaRPr lang="en-GB" sz="2400"/>
            </a:p>
          </p:txBody>
        </p:sp>
      </p:grpSp>
      <p:graphicFrame>
        <p:nvGraphicFramePr>
          <p:cNvPr id="67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838662"/>
              </p:ext>
            </p:extLst>
          </p:nvPr>
        </p:nvGraphicFramePr>
        <p:xfrm>
          <a:off x="3928938" y="322434"/>
          <a:ext cx="1782216" cy="678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698197" imgH="266584" progId="Equation.3">
                  <p:embed/>
                </p:oleObj>
              </mc:Choice>
              <mc:Fallback>
                <p:oleObj name="Ecuación" r:id="rId14" imgW="698197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8938" y="322434"/>
                        <a:ext cx="1782216" cy="67822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648937"/>
              </p:ext>
            </p:extLst>
          </p:nvPr>
        </p:nvGraphicFramePr>
        <p:xfrm>
          <a:off x="3442427" y="1839912"/>
          <a:ext cx="74612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6" imgW="291960" imgH="266400" progId="Equation.3">
                  <p:embed/>
                </p:oleObj>
              </mc:Choice>
              <mc:Fallback>
                <p:oleObj name="Ecuación" r:id="rId16" imgW="29196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2427" y="1839912"/>
                        <a:ext cx="746125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80" name="Picture 61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2668588"/>
            <a:ext cx="5715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9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623367"/>
              </p:ext>
            </p:extLst>
          </p:nvPr>
        </p:nvGraphicFramePr>
        <p:xfrm>
          <a:off x="1823006" y="981631"/>
          <a:ext cx="616427" cy="616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8" imgW="215619" imgH="215619" progId="Equation.3">
                  <p:embed/>
                </p:oleObj>
              </mc:Choice>
              <mc:Fallback>
                <p:oleObj name="Ecuación" r:id="rId18" imgW="215619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3006" y="981631"/>
                        <a:ext cx="616427" cy="616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upo 7"/>
          <p:cNvGrpSpPr/>
          <p:nvPr/>
        </p:nvGrpSpPr>
        <p:grpSpPr>
          <a:xfrm>
            <a:off x="5944425" y="250459"/>
            <a:ext cx="2957479" cy="749300"/>
            <a:chOff x="6014761" y="375715"/>
            <a:chExt cx="2957479" cy="749300"/>
          </a:xfrm>
        </p:grpSpPr>
        <p:graphicFrame>
          <p:nvGraphicFramePr>
            <p:cNvPr id="55" name="Object 9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5258576"/>
                </p:ext>
              </p:extLst>
            </p:nvPr>
          </p:nvGraphicFramePr>
          <p:xfrm>
            <a:off x="6598928" y="375715"/>
            <a:ext cx="2373312" cy="749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0" imgW="965160" imgH="304560" progId="Equation.3">
                    <p:embed/>
                  </p:oleObj>
                </mc:Choice>
                <mc:Fallback>
                  <p:oleObj name="Ecuación" r:id="rId20" imgW="96516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8928" y="375715"/>
                          <a:ext cx="2373312" cy="749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CuadroTexto 6"/>
            <p:cNvSpPr txBox="1"/>
            <p:nvPr/>
          </p:nvSpPr>
          <p:spPr>
            <a:xfrm>
              <a:off x="6014761" y="495789"/>
              <a:ext cx="4876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dirty="0">
                  <a:sym typeface="Symbol" panose="05050102010706020507" pitchFamily="18" charset="2"/>
                </a:rPr>
                <a:t></a:t>
              </a:r>
              <a:endParaRPr lang="es-ES" sz="2400" dirty="0"/>
            </a:p>
          </p:txBody>
        </p:sp>
      </p:grpSp>
      <p:graphicFrame>
        <p:nvGraphicFramePr>
          <p:cNvPr id="62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857874"/>
              </p:ext>
            </p:extLst>
          </p:nvPr>
        </p:nvGraphicFramePr>
        <p:xfrm>
          <a:off x="6543524" y="947385"/>
          <a:ext cx="3276459" cy="748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2" imgW="1333500" imgH="304800" progId="Equation.3">
                  <p:embed/>
                </p:oleObj>
              </mc:Choice>
              <mc:Fallback>
                <p:oleObj name="Ecuación" r:id="rId22" imgW="13335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524" y="947385"/>
                        <a:ext cx="3276459" cy="748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3">
            <a:extLst>
              <a:ext uri="{FF2B5EF4-FFF2-40B4-BE49-F238E27FC236}">
                <a16:creationId xmlns:a16="http://schemas.microsoft.com/office/drawing/2014/main" id="{D5C236CE-C24A-BCB2-2984-61A83FFE8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7972" y="3524421"/>
            <a:ext cx="248367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= 0,85533373... </a:t>
            </a:r>
            <a:r>
              <a:rPr lang="es-ES" sz="2400" b="1" dirty="0">
                <a:latin typeface="Arial" panose="020B0604020202020204" pitchFamily="34" charset="0"/>
              </a:rPr>
              <a:t>j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15" grpId="0" animBg="1"/>
      <p:bldP spid="48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6D0D17BF-5CE5-4949-881B-8425A54E2E6D}"/>
              </a:ext>
            </a:extLst>
          </p:cNvPr>
          <p:cNvGrpSpPr/>
          <p:nvPr/>
        </p:nvGrpSpPr>
        <p:grpSpPr>
          <a:xfrm>
            <a:off x="392045" y="5710237"/>
            <a:ext cx="6446149" cy="1153048"/>
            <a:chOff x="392045" y="5710237"/>
            <a:chExt cx="6446149" cy="1153048"/>
          </a:xfrm>
        </p:grpSpPr>
        <p:sp>
          <p:nvSpPr>
            <p:cNvPr id="13344" name="Rectangle 51"/>
            <p:cNvSpPr>
              <a:spLocks noChangeArrowheads="1"/>
            </p:cNvSpPr>
            <p:nvPr/>
          </p:nvSpPr>
          <p:spPr bwMode="auto">
            <a:xfrm>
              <a:off x="2712970" y="5720176"/>
              <a:ext cx="4125224" cy="1143000"/>
            </a:xfrm>
            <a:prstGeom prst="rect">
              <a:avLst/>
            </a:prstGeom>
            <a:solidFill>
              <a:srgbClr val="EDE7E3"/>
            </a:solidFill>
            <a:ln w="381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54" name="Rectangle 51"/>
            <p:cNvSpPr>
              <a:spLocks noChangeArrowheads="1"/>
            </p:cNvSpPr>
            <p:nvPr/>
          </p:nvSpPr>
          <p:spPr bwMode="auto">
            <a:xfrm>
              <a:off x="392045" y="5720285"/>
              <a:ext cx="2320925" cy="1143000"/>
            </a:xfrm>
            <a:prstGeom prst="rect">
              <a:avLst/>
            </a:prstGeom>
            <a:solidFill>
              <a:srgbClr val="EDE7E3"/>
            </a:solidFill>
            <a:ln w="381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2" name="Conector recto 2"/>
            <p:cNvCxnSpPr>
              <a:cxnSpLocks noChangeShapeType="1"/>
            </p:cNvCxnSpPr>
            <p:nvPr/>
          </p:nvCxnSpPr>
          <p:spPr bwMode="auto">
            <a:xfrm>
              <a:off x="4557911" y="5710237"/>
              <a:ext cx="0" cy="1143000"/>
            </a:xfrm>
            <a:prstGeom prst="line">
              <a:avLst/>
            </a:prstGeom>
            <a:noFill/>
            <a:ln w="25400" algn="ctr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" name="Rectángulo 7"/>
          <p:cNvSpPr/>
          <p:nvPr/>
        </p:nvSpPr>
        <p:spPr bwMode="auto">
          <a:xfrm>
            <a:off x="7266375" y="4072840"/>
            <a:ext cx="1451113" cy="568325"/>
          </a:xfrm>
          <a:prstGeom prst="rect">
            <a:avLst/>
          </a:prstGeom>
          <a:solidFill>
            <a:srgbClr val="CC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3" name="Forma libre 12"/>
          <p:cNvSpPr/>
          <p:nvPr/>
        </p:nvSpPr>
        <p:spPr bwMode="auto">
          <a:xfrm>
            <a:off x="5142804" y="3890793"/>
            <a:ext cx="2052000" cy="864000"/>
          </a:xfrm>
          <a:custGeom>
            <a:avLst/>
            <a:gdLst>
              <a:gd name="connsiteX0" fmla="*/ 0 w 1868993"/>
              <a:gd name="connsiteY0" fmla="*/ 0 h 1638327"/>
              <a:gd name="connsiteX1" fmla="*/ 211015 w 1868993"/>
              <a:gd name="connsiteY1" fmla="*/ 984739 h 1638327"/>
              <a:gd name="connsiteX2" fmla="*/ 633046 w 1868993"/>
              <a:gd name="connsiteY2" fmla="*/ 1497205 h 1638327"/>
              <a:gd name="connsiteX3" fmla="*/ 1396721 w 1868993"/>
              <a:gd name="connsiteY3" fmla="*/ 1637882 h 1638327"/>
              <a:gd name="connsiteX4" fmla="*/ 1868993 w 1868993"/>
              <a:gd name="connsiteY4" fmla="*/ 1467060 h 1638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8993" h="1638327">
                <a:moveTo>
                  <a:pt x="0" y="0"/>
                </a:moveTo>
                <a:cubicBezTo>
                  <a:pt x="52753" y="367602"/>
                  <a:pt x="105507" y="735205"/>
                  <a:pt x="211015" y="984739"/>
                </a:cubicBezTo>
                <a:cubicBezTo>
                  <a:pt x="316523" y="1234273"/>
                  <a:pt x="435428" y="1388348"/>
                  <a:pt x="633046" y="1497205"/>
                </a:cubicBezTo>
                <a:cubicBezTo>
                  <a:pt x="830664" y="1606062"/>
                  <a:pt x="1190730" y="1642906"/>
                  <a:pt x="1396721" y="1637882"/>
                </a:cubicBezTo>
                <a:cubicBezTo>
                  <a:pt x="1602712" y="1632858"/>
                  <a:pt x="1735852" y="1549959"/>
                  <a:pt x="1868993" y="1467060"/>
                </a:cubicBezTo>
              </a:path>
            </a:pathLst>
          </a:custGeom>
          <a:noFill/>
          <a:ln w="38100" cap="flat" cmpd="sng" algn="ctr">
            <a:solidFill>
              <a:srgbClr val="3333FF"/>
            </a:solidFill>
            <a:prstDash val="dash"/>
            <a:round/>
            <a:headEnd type="triangle" w="med" len="lg"/>
            <a:tailEnd type="none" w="med" len="lg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1" name="Rectángulo 60"/>
          <p:cNvSpPr/>
          <p:nvPr/>
        </p:nvSpPr>
        <p:spPr bwMode="auto">
          <a:xfrm>
            <a:off x="8139159" y="5867761"/>
            <a:ext cx="2380519" cy="1038500"/>
          </a:xfrm>
          <a:prstGeom prst="rect">
            <a:avLst/>
          </a:prstGeom>
          <a:solidFill>
            <a:srgbClr val="FF9999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5" name="Rectángulo 4"/>
          <p:cNvSpPr/>
          <p:nvPr/>
        </p:nvSpPr>
        <p:spPr bwMode="auto">
          <a:xfrm>
            <a:off x="8965967" y="4062786"/>
            <a:ext cx="606286" cy="568325"/>
          </a:xfrm>
          <a:prstGeom prst="rect">
            <a:avLst/>
          </a:prstGeom>
          <a:solidFill>
            <a:srgbClr val="FF9999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6" name="Rectángulo 65"/>
          <p:cNvSpPr/>
          <p:nvPr/>
        </p:nvSpPr>
        <p:spPr bwMode="auto">
          <a:xfrm>
            <a:off x="7266374" y="4811773"/>
            <a:ext cx="3253297" cy="915294"/>
          </a:xfrm>
          <a:prstGeom prst="rect">
            <a:avLst/>
          </a:prstGeom>
          <a:solidFill>
            <a:srgbClr val="CC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70" name="Grupo 69"/>
          <p:cNvGrpSpPr>
            <a:grpSpLocks/>
          </p:cNvGrpSpPr>
          <p:nvPr/>
        </p:nvGrpSpPr>
        <p:grpSpPr bwMode="auto">
          <a:xfrm flipH="1">
            <a:off x="3590882" y="3784432"/>
            <a:ext cx="606425" cy="1022350"/>
            <a:chOff x="3213102" y="1686939"/>
            <a:chExt cx="705755" cy="1277325"/>
          </a:xfrm>
        </p:grpSpPr>
        <p:sp>
          <p:nvSpPr>
            <p:cNvPr id="13370" name="Forma libre 70"/>
            <p:cNvSpPr>
              <a:spLocks/>
            </p:cNvSpPr>
            <p:nvPr/>
          </p:nvSpPr>
          <p:spPr bwMode="auto">
            <a:xfrm>
              <a:off x="3215473" y="1688123"/>
              <a:ext cx="703384" cy="1276141"/>
            </a:xfrm>
            <a:custGeom>
              <a:avLst/>
              <a:gdLst>
                <a:gd name="T0" fmla="*/ 703384 w 703384"/>
                <a:gd name="T1" fmla="*/ 0 h 1276141"/>
                <a:gd name="T2" fmla="*/ 0 w 703384"/>
                <a:gd name="T3" fmla="*/ 1276141 h 1276141"/>
                <a:gd name="T4" fmla="*/ 0 w 703384"/>
                <a:gd name="T5" fmla="*/ 0 h 12761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3384" h="1276141">
                  <a:moveTo>
                    <a:pt x="703384" y="0"/>
                  </a:moveTo>
                  <a:lnTo>
                    <a:pt x="0" y="1276141"/>
                  </a:lnTo>
                  <a:lnTo>
                    <a:pt x="0" y="0"/>
                  </a:lnTo>
                </a:path>
              </a:pathLst>
            </a:custGeom>
            <a:solidFill>
              <a:srgbClr val="FFFF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3371" name="Rectángulo 71"/>
            <p:cNvSpPr>
              <a:spLocks noChangeArrowheads="1"/>
            </p:cNvSpPr>
            <p:nvPr/>
          </p:nvSpPr>
          <p:spPr bwMode="auto">
            <a:xfrm>
              <a:off x="3213102" y="1686939"/>
              <a:ext cx="161951" cy="201288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37958" name="Group 70"/>
          <p:cNvGrpSpPr>
            <a:grpSpLocks/>
          </p:cNvGrpSpPr>
          <p:nvPr/>
        </p:nvGrpSpPr>
        <p:grpSpPr bwMode="auto">
          <a:xfrm>
            <a:off x="3587707" y="2347744"/>
            <a:ext cx="2182812" cy="2833688"/>
            <a:chOff x="2549" y="732"/>
            <a:chExt cx="1375" cy="1785"/>
          </a:xfrm>
        </p:grpSpPr>
        <p:sp>
          <p:nvSpPr>
            <p:cNvPr id="13366" name="Line 47"/>
            <p:cNvSpPr>
              <a:spLocks noChangeShapeType="1"/>
            </p:cNvSpPr>
            <p:nvPr/>
          </p:nvSpPr>
          <p:spPr bwMode="auto">
            <a:xfrm flipV="1">
              <a:off x="2591" y="802"/>
              <a:ext cx="0" cy="171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67" name="Line 45"/>
            <p:cNvSpPr>
              <a:spLocks noChangeShapeType="1"/>
            </p:cNvSpPr>
            <p:nvPr/>
          </p:nvSpPr>
          <p:spPr bwMode="auto">
            <a:xfrm rot="16200000" flipH="1">
              <a:off x="3143" y="1038"/>
              <a:ext cx="0" cy="11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68" name="Text Box 97"/>
            <p:cNvSpPr txBox="1">
              <a:spLocks noChangeArrowheads="1"/>
            </p:cNvSpPr>
            <p:nvPr/>
          </p:nvSpPr>
          <p:spPr bwMode="auto">
            <a:xfrm>
              <a:off x="3730" y="1482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13369" name="Text Box 98"/>
            <p:cNvSpPr txBox="1">
              <a:spLocks noChangeArrowheads="1"/>
            </p:cNvSpPr>
            <p:nvPr/>
          </p:nvSpPr>
          <p:spPr bwMode="auto">
            <a:xfrm>
              <a:off x="2645" y="732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Y</a:t>
              </a:r>
            </a:p>
          </p:txBody>
        </p:sp>
      </p:grpSp>
      <p:sp>
        <p:nvSpPr>
          <p:cNvPr id="211031" name="Line 87"/>
          <p:cNvSpPr>
            <a:spLocks noChangeShapeType="1"/>
          </p:cNvSpPr>
          <p:nvPr/>
        </p:nvSpPr>
        <p:spPr bwMode="auto">
          <a:xfrm rot="10800000" flipH="1" flipV="1">
            <a:off x="3637333" y="3873332"/>
            <a:ext cx="12700" cy="8620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10993" name="Line 49"/>
          <p:cNvSpPr>
            <a:spLocks noChangeShapeType="1"/>
          </p:cNvSpPr>
          <p:nvPr/>
        </p:nvSpPr>
        <p:spPr bwMode="auto">
          <a:xfrm rot="5400000" flipV="1">
            <a:off x="4567988" y="3050213"/>
            <a:ext cx="4762" cy="1428750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3318" name="AutoShape 8"/>
          <p:cNvSpPr>
            <a:spLocks noChangeArrowheads="1"/>
          </p:cNvSpPr>
          <p:nvPr/>
        </p:nvSpPr>
        <p:spPr bwMode="auto">
          <a:xfrm>
            <a:off x="1463632" y="1890544"/>
            <a:ext cx="2159000" cy="1871663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9" name="Text Box 9"/>
          <p:cNvSpPr txBox="1">
            <a:spLocks noChangeArrowheads="1"/>
          </p:cNvSpPr>
          <p:nvPr/>
        </p:nvSpPr>
        <p:spPr bwMode="auto">
          <a:xfrm>
            <a:off x="2348933" y="1211249"/>
            <a:ext cx="35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3320" name="Text Box 10"/>
          <p:cNvSpPr txBox="1">
            <a:spLocks noChangeArrowheads="1"/>
          </p:cNvSpPr>
          <p:nvPr/>
        </p:nvSpPr>
        <p:spPr bwMode="auto">
          <a:xfrm>
            <a:off x="3017794" y="3266907"/>
            <a:ext cx="35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3321" name="Text Box 11"/>
          <p:cNvSpPr txBox="1">
            <a:spLocks noChangeArrowheads="1"/>
          </p:cNvSpPr>
          <p:nvPr/>
        </p:nvSpPr>
        <p:spPr bwMode="auto">
          <a:xfrm>
            <a:off x="1285972" y="4032841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3322" name="Text Box 23"/>
          <p:cNvSpPr txBox="1">
            <a:spLocks noChangeArrowheads="1"/>
          </p:cNvSpPr>
          <p:nvPr/>
        </p:nvSpPr>
        <p:spPr bwMode="auto">
          <a:xfrm>
            <a:off x="3213057" y="2544594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3323" name="Text Box 24"/>
          <p:cNvSpPr txBox="1">
            <a:spLocks noChangeArrowheads="1"/>
          </p:cNvSpPr>
          <p:nvPr/>
        </p:nvSpPr>
        <p:spPr bwMode="auto">
          <a:xfrm>
            <a:off x="1577932" y="2541419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3324" name="Text Box 25"/>
          <p:cNvSpPr txBox="1">
            <a:spLocks noChangeArrowheads="1"/>
          </p:cNvSpPr>
          <p:nvPr/>
        </p:nvSpPr>
        <p:spPr bwMode="auto">
          <a:xfrm>
            <a:off x="2419307" y="3866982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graphicFrame>
        <p:nvGraphicFramePr>
          <p:cNvPr id="21097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926586"/>
              </p:ext>
            </p:extLst>
          </p:nvPr>
        </p:nvGraphicFramePr>
        <p:xfrm>
          <a:off x="7034699" y="4812709"/>
          <a:ext cx="12446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596900" imgH="419100" progId="Equation.3">
                  <p:embed/>
                </p:oleObj>
              </mc:Choice>
              <mc:Fallback>
                <p:oleObj name="Ecuación" r:id="rId3" imgW="596900" imgH="4191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4699" y="4812709"/>
                        <a:ext cx="124460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90" name="Line 46"/>
          <p:cNvSpPr>
            <a:spLocks noChangeShapeType="1"/>
          </p:cNvSpPr>
          <p:nvPr/>
        </p:nvSpPr>
        <p:spPr bwMode="auto">
          <a:xfrm rot="9000000" flipH="1" flipV="1">
            <a:off x="3978232" y="3943182"/>
            <a:ext cx="4762" cy="900112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" name="Line 49"/>
          <p:cNvSpPr>
            <a:spLocks noChangeShapeType="1"/>
          </p:cNvSpPr>
          <p:nvPr/>
        </p:nvSpPr>
        <p:spPr bwMode="auto">
          <a:xfrm rot="5400000" flipV="1">
            <a:off x="4276681" y="3309770"/>
            <a:ext cx="4763" cy="900112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10994" name="Line 50"/>
          <p:cNvSpPr>
            <a:spLocks noChangeShapeType="1"/>
          </p:cNvSpPr>
          <p:nvPr/>
        </p:nvSpPr>
        <p:spPr bwMode="auto">
          <a:xfrm>
            <a:off x="4200482" y="3743157"/>
            <a:ext cx="0" cy="1030287"/>
          </a:xfrm>
          <a:prstGeom prst="line">
            <a:avLst/>
          </a:prstGeom>
          <a:noFill/>
          <a:ln w="25400">
            <a:solidFill>
              <a:srgbClr val="CC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11007" name="Line 63"/>
          <p:cNvSpPr>
            <a:spLocks noChangeShapeType="1"/>
          </p:cNvSpPr>
          <p:nvPr/>
        </p:nvSpPr>
        <p:spPr bwMode="auto">
          <a:xfrm rot="5400000">
            <a:off x="3925844" y="4506744"/>
            <a:ext cx="0" cy="533400"/>
          </a:xfrm>
          <a:prstGeom prst="line">
            <a:avLst/>
          </a:prstGeom>
          <a:noFill/>
          <a:ln w="25400">
            <a:solidFill>
              <a:srgbClr val="CC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aphicFrame>
        <p:nvGraphicFramePr>
          <p:cNvPr id="211012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31552"/>
              </p:ext>
            </p:extLst>
          </p:nvPr>
        </p:nvGraphicFramePr>
        <p:xfrm>
          <a:off x="8237316" y="5945785"/>
          <a:ext cx="2193925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002865" imgH="418918" progId="Equation.3">
                  <p:embed/>
                </p:oleObj>
              </mc:Choice>
              <mc:Fallback>
                <p:oleObj name="Ecuación" r:id="rId5" imgW="1002865" imgH="418918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316" y="5945785"/>
                        <a:ext cx="2193925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33" name="Picture 80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769" y="1677819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4" name="Picture 81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657" y="3543132"/>
            <a:ext cx="44926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5" name="Picture 82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669" y="3544719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030" name="Line 86"/>
          <p:cNvSpPr>
            <a:spLocks noChangeShapeType="1"/>
          </p:cNvSpPr>
          <p:nvPr/>
        </p:nvSpPr>
        <p:spPr bwMode="auto">
          <a:xfrm rot="5400000" flipV="1">
            <a:off x="4033001" y="3547100"/>
            <a:ext cx="0" cy="4302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aphicFrame>
        <p:nvGraphicFramePr>
          <p:cNvPr id="211038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173226"/>
              </p:ext>
            </p:extLst>
          </p:nvPr>
        </p:nvGraphicFramePr>
        <p:xfrm>
          <a:off x="1995758" y="428288"/>
          <a:ext cx="1560039" cy="566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698400" imgH="253800" progId="Equation.3">
                  <p:embed/>
                </p:oleObj>
              </mc:Choice>
              <mc:Fallback>
                <p:oleObj name="Ecuación" r:id="rId8" imgW="698400" imgH="25380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758" y="428288"/>
                        <a:ext cx="1560039" cy="566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039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989297"/>
              </p:ext>
            </p:extLst>
          </p:nvPr>
        </p:nvGraphicFramePr>
        <p:xfrm>
          <a:off x="4075069" y="4781382"/>
          <a:ext cx="62706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228501" imgH="215806" progId="Equation.3">
                  <p:embed/>
                </p:oleObj>
              </mc:Choice>
              <mc:Fallback>
                <p:oleObj name="Ecuación" r:id="rId10" imgW="228501" imgH="215806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5069" y="4781382"/>
                        <a:ext cx="627063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040" name="Object 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998758"/>
              </p:ext>
            </p:extLst>
          </p:nvPr>
        </p:nvGraphicFramePr>
        <p:xfrm>
          <a:off x="4293617" y="2932486"/>
          <a:ext cx="62706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228501" imgH="215806" progId="Equation.3">
                  <p:embed/>
                </p:oleObj>
              </mc:Choice>
              <mc:Fallback>
                <p:oleObj name="Ecuación" r:id="rId12" imgW="228501" imgH="215806" progId="Equation.3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3617" y="2932486"/>
                        <a:ext cx="627063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60" name="Group 72"/>
          <p:cNvGrpSpPr>
            <a:grpSpLocks/>
          </p:cNvGrpSpPr>
          <p:nvPr/>
        </p:nvGrpSpPr>
        <p:grpSpPr bwMode="auto">
          <a:xfrm>
            <a:off x="2478050" y="2857339"/>
            <a:ext cx="588963" cy="903291"/>
            <a:chOff x="1850" y="1053"/>
            <a:chExt cx="371" cy="569"/>
          </a:xfrm>
        </p:grpSpPr>
        <p:sp>
          <p:nvSpPr>
            <p:cNvPr id="13362" name="Freeform 71"/>
            <p:cNvSpPr>
              <a:spLocks/>
            </p:cNvSpPr>
            <p:nvPr/>
          </p:nvSpPr>
          <p:spPr bwMode="auto">
            <a:xfrm>
              <a:off x="1893" y="1053"/>
              <a:ext cx="328" cy="569"/>
            </a:xfrm>
            <a:custGeom>
              <a:avLst/>
              <a:gdLst>
                <a:gd name="T0" fmla="*/ 0 w 425"/>
                <a:gd name="T1" fmla="*/ 501 h 501"/>
                <a:gd name="T2" fmla="*/ 158 w 425"/>
                <a:gd name="T3" fmla="*/ 199 h 501"/>
                <a:gd name="T4" fmla="*/ 425 w 425"/>
                <a:gd name="T5" fmla="*/ 0 h 5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5" h="501">
                  <a:moveTo>
                    <a:pt x="0" y="501"/>
                  </a:moveTo>
                  <a:cubicBezTo>
                    <a:pt x="43" y="391"/>
                    <a:pt x="87" y="282"/>
                    <a:pt x="158" y="199"/>
                  </a:cubicBezTo>
                  <a:cubicBezTo>
                    <a:pt x="229" y="116"/>
                    <a:pt x="327" y="58"/>
                    <a:pt x="425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3363" name="Text Box 120"/>
            <p:cNvSpPr txBox="1">
              <a:spLocks noChangeArrowheads="1"/>
            </p:cNvSpPr>
            <p:nvPr/>
          </p:nvSpPr>
          <p:spPr bwMode="auto">
            <a:xfrm>
              <a:off x="1850" y="1166"/>
              <a:ext cx="350" cy="250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</p:grpSp>
      <p:graphicFrame>
        <p:nvGraphicFramePr>
          <p:cNvPr id="3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754755"/>
              </p:ext>
            </p:extLst>
          </p:nvPr>
        </p:nvGraphicFramePr>
        <p:xfrm>
          <a:off x="7006093" y="4062786"/>
          <a:ext cx="258603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1270000" imgH="279400" progId="Equation.3">
                  <p:embed/>
                </p:oleObj>
              </mc:Choice>
              <mc:Fallback>
                <p:oleObj name="Ecuación" r:id="rId14" imgW="1270000" imgH="27940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093" y="4062786"/>
                        <a:ext cx="2586038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88"/>
          <p:cNvSpPr txBox="1">
            <a:spLocks noChangeArrowheads="1"/>
          </p:cNvSpPr>
          <p:nvPr/>
        </p:nvSpPr>
        <p:spPr bwMode="auto">
          <a:xfrm>
            <a:off x="5225932" y="482144"/>
            <a:ext cx="5076550" cy="1992066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Hay que mantener el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sistema de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referencia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de antes para expresar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las fuerzas en el mismo sistema.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No hay problema en desplazarlo,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las componentes no cambian</a:t>
            </a:r>
          </a:p>
        </p:txBody>
      </p: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5018810" y="2682480"/>
            <a:ext cx="5187942" cy="830997"/>
            <a:chOff x="4736134" y="2917646"/>
            <a:chExt cx="5187394" cy="830990"/>
          </a:xfrm>
        </p:grpSpPr>
        <p:sp>
          <p:nvSpPr>
            <p:cNvPr id="13358" name="CuadroTexto 3"/>
            <p:cNvSpPr txBox="1">
              <a:spLocks noChangeArrowheads="1"/>
            </p:cNvSpPr>
            <p:nvPr/>
          </p:nvSpPr>
          <p:spPr bwMode="auto">
            <a:xfrm>
              <a:off x="5886878" y="2917646"/>
              <a:ext cx="4036650" cy="830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No hay que descomponerla, ya lo está</a:t>
              </a:r>
            </a:p>
          </p:txBody>
        </p:sp>
        <p:cxnSp>
          <p:nvCxnSpPr>
            <p:cNvPr id="13359" name="Conector recto de flecha 5"/>
            <p:cNvCxnSpPr>
              <a:cxnSpLocks noChangeShapeType="1"/>
            </p:cNvCxnSpPr>
            <p:nvPr/>
          </p:nvCxnSpPr>
          <p:spPr bwMode="auto">
            <a:xfrm flipV="1">
              <a:off x="4736134" y="3203911"/>
              <a:ext cx="1031693" cy="259806"/>
            </a:xfrm>
            <a:prstGeom prst="straightConnector1">
              <a:avLst/>
            </a:prstGeom>
            <a:noFill/>
            <a:ln w="34925" algn="ctr">
              <a:solidFill>
                <a:srgbClr val="FF0000"/>
              </a:solidFill>
              <a:round/>
              <a:headEnd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77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693255"/>
              </p:ext>
            </p:extLst>
          </p:nvPr>
        </p:nvGraphicFramePr>
        <p:xfrm>
          <a:off x="8302551" y="4801597"/>
          <a:ext cx="2143125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6" imgW="1028700" imgH="419100" progId="Equation.3">
                  <p:embed/>
                </p:oleObj>
              </mc:Choice>
              <mc:Fallback>
                <p:oleObj name="Ecuación" r:id="rId16" imgW="1028700" imgH="4191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551" y="4801597"/>
                        <a:ext cx="2143125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256586"/>
              </p:ext>
            </p:extLst>
          </p:nvPr>
        </p:nvGraphicFramePr>
        <p:xfrm>
          <a:off x="1370996" y="425866"/>
          <a:ext cx="4254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8" imgW="177646" imgH="241091" progId="Equation.3">
                  <p:embed/>
                </p:oleObj>
              </mc:Choice>
              <mc:Fallback>
                <p:oleObj name="Ecuación" r:id="rId18" imgW="177646" imgH="241091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996" y="425866"/>
                        <a:ext cx="425450" cy="5746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4113693" y="3812916"/>
            <a:ext cx="997123" cy="732275"/>
            <a:chOff x="4572249" y="2627647"/>
            <a:chExt cx="997046" cy="732276"/>
          </a:xfrm>
        </p:grpSpPr>
        <p:sp>
          <p:nvSpPr>
            <p:cNvPr id="13356" name="Text Box 120"/>
            <p:cNvSpPr txBox="1">
              <a:spLocks noChangeArrowheads="1"/>
            </p:cNvSpPr>
            <p:nvPr/>
          </p:nvSpPr>
          <p:spPr bwMode="auto">
            <a:xfrm>
              <a:off x="5013670" y="2941488"/>
              <a:ext cx="5556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  <p:sp>
          <p:nvSpPr>
            <p:cNvPr id="13357" name="Freeform 71"/>
            <p:cNvSpPr>
              <a:spLocks/>
            </p:cNvSpPr>
            <p:nvPr/>
          </p:nvSpPr>
          <p:spPr bwMode="auto">
            <a:xfrm rot="21089517" flipH="1" flipV="1">
              <a:off x="4572249" y="2627647"/>
              <a:ext cx="568254" cy="732276"/>
            </a:xfrm>
            <a:custGeom>
              <a:avLst/>
              <a:gdLst>
                <a:gd name="T0" fmla="*/ 0 w 425"/>
                <a:gd name="T1" fmla="*/ 2147483646 h 501"/>
                <a:gd name="T2" fmla="*/ 2147483646 w 425"/>
                <a:gd name="T3" fmla="*/ 2147483646 h 501"/>
                <a:gd name="T4" fmla="*/ 2147483646 w 425"/>
                <a:gd name="T5" fmla="*/ 0 h 5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5" h="501">
                  <a:moveTo>
                    <a:pt x="0" y="501"/>
                  </a:moveTo>
                  <a:cubicBezTo>
                    <a:pt x="43" y="391"/>
                    <a:pt x="87" y="282"/>
                    <a:pt x="158" y="199"/>
                  </a:cubicBezTo>
                  <a:cubicBezTo>
                    <a:pt x="229" y="116"/>
                    <a:pt x="327" y="58"/>
                    <a:pt x="425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/>
            </a:p>
          </p:txBody>
        </p:sp>
      </p:grpSp>
      <p:graphicFrame>
        <p:nvGraphicFramePr>
          <p:cNvPr id="13355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648016"/>
              </p:ext>
            </p:extLst>
          </p:nvPr>
        </p:nvGraphicFramePr>
        <p:xfrm>
          <a:off x="4726674" y="5886495"/>
          <a:ext cx="1982788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0" imgW="1117600" imgH="469900" progId="Equation.3">
                  <p:embed/>
                </p:oleObj>
              </mc:Choice>
              <mc:Fallback>
                <p:oleObj name="Ecuación" r:id="rId20" imgW="1117600" imgH="46990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6674" y="5886495"/>
                        <a:ext cx="1982788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041822"/>
              </p:ext>
            </p:extLst>
          </p:nvPr>
        </p:nvGraphicFramePr>
        <p:xfrm>
          <a:off x="2937313" y="5979944"/>
          <a:ext cx="1443661" cy="69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2" imgW="634680" imgH="304560" progId="Equation.3">
                  <p:embed/>
                </p:oleObj>
              </mc:Choice>
              <mc:Fallback>
                <p:oleObj name="Ecuación" r:id="rId22" imgW="63468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313" y="5979944"/>
                        <a:ext cx="1443661" cy="69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5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320602"/>
              </p:ext>
            </p:extLst>
          </p:nvPr>
        </p:nvGraphicFramePr>
        <p:xfrm>
          <a:off x="478946" y="5876447"/>
          <a:ext cx="2151062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4" imgW="1180588" imgH="444307" progId="Equation.3">
                  <p:embed/>
                </p:oleObj>
              </mc:Choice>
              <mc:Fallback>
                <p:oleObj name="Ecuación" r:id="rId24" imgW="1180588" imgH="444307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46" y="5876447"/>
                        <a:ext cx="2151062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94">
            <a:extLst>
              <a:ext uri="{FF2B5EF4-FFF2-40B4-BE49-F238E27FC236}">
                <a16:creationId xmlns:a16="http://schemas.microsoft.com/office/drawing/2014/main" id="{1895CB56-8071-4971-BDEB-EAE87B0F4F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688603"/>
              </p:ext>
            </p:extLst>
          </p:nvPr>
        </p:nvGraphicFramePr>
        <p:xfrm>
          <a:off x="6412744" y="4027465"/>
          <a:ext cx="4254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6" imgW="177646" imgH="241091" progId="Equation.3">
                  <p:embed/>
                </p:oleObj>
              </mc:Choice>
              <mc:Fallback>
                <p:oleObj name="Ecuación" r:id="rId26" imgW="177646" imgH="241091" progId="Equation.3">
                  <p:embed/>
                  <p:pic>
                    <p:nvPicPr>
                      <p:cNvPr id="56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2744" y="4027465"/>
                        <a:ext cx="4254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1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1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1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1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3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1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1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1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7" dur="500"/>
                                        <p:tgtEl>
                                          <p:spTgt spid="37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5" dur="500"/>
                                        <p:tgtEl>
                                          <p:spTgt spid="13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1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1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1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61" grpId="0" animBg="1"/>
      <p:bldP spid="5" grpId="0" animBg="1"/>
      <p:bldP spid="66" grpId="0" animBg="1"/>
      <p:bldP spid="211031" grpId="0" animBg="1"/>
      <p:bldP spid="210993" grpId="0" animBg="1"/>
      <p:bldP spid="210990" grpId="0" animBg="1"/>
      <p:bldP spid="2" grpId="0" animBg="1"/>
      <p:bldP spid="210994" grpId="0" animBg="1"/>
      <p:bldP spid="211007" grpId="0" animBg="1"/>
      <p:bldP spid="211030" grpId="0" animBg="1"/>
      <p:bldP spid="6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6D0D17BF-5CE5-4949-881B-8425A54E2E6D}"/>
              </a:ext>
            </a:extLst>
          </p:cNvPr>
          <p:cNvGrpSpPr/>
          <p:nvPr/>
        </p:nvGrpSpPr>
        <p:grpSpPr>
          <a:xfrm>
            <a:off x="392045" y="5710237"/>
            <a:ext cx="6446149" cy="1153048"/>
            <a:chOff x="392045" y="5710237"/>
            <a:chExt cx="6446149" cy="1153048"/>
          </a:xfrm>
        </p:grpSpPr>
        <p:sp>
          <p:nvSpPr>
            <p:cNvPr id="13344" name="Rectangle 51"/>
            <p:cNvSpPr>
              <a:spLocks noChangeArrowheads="1"/>
            </p:cNvSpPr>
            <p:nvPr/>
          </p:nvSpPr>
          <p:spPr bwMode="auto">
            <a:xfrm>
              <a:off x="2712970" y="5720176"/>
              <a:ext cx="4125224" cy="1143000"/>
            </a:xfrm>
            <a:prstGeom prst="rect">
              <a:avLst/>
            </a:prstGeom>
            <a:solidFill>
              <a:srgbClr val="EDE7E3"/>
            </a:solidFill>
            <a:ln w="381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54" name="Rectangle 51"/>
            <p:cNvSpPr>
              <a:spLocks noChangeArrowheads="1"/>
            </p:cNvSpPr>
            <p:nvPr/>
          </p:nvSpPr>
          <p:spPr bwMode="auto">
            <a:xfrm>
              <a:off x="392045" y="5720285"/>
              <a:ext cx="2320925" cy="1143000"/>
            </a:xfrm>
            <a:prstGeom prst="rect">
              <a:avLst/>
            </a:prstGeom>
            <a:solidFill>
              <a:srgbClr val="EDE7E3"/>
            </a:solidFill>
            <a:ln w="381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2" name="Conector recto 2"/>
            <p:cNvCxnSpPr>
              <a:cxnSpLocks noChangeShapeType="1"/>
            </p:cNvCxnSpPr>
            <p:nvPr/>
          </p:nvCxnSpPr>
          <p:spPr bwMode="auto">
            <a:xfrm>
              <a:off x="4557911" y="5710237"/>
              <a:ext cx="0" cy="1143000"/>
            </a:xfrm>
            <a:prstGeom prst="line">
              <a:avLst/>
            </a:prstGeom>
            <a:noFill/>
            <a:ln w="25400" algn="ctr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" name="Rectángulo 7"/>
          <p:cNvSpPr/>
          <p:nvPr/>
        </p:nvSpPr>
        <p:spPr bwMode="auto">
          <a:xfrm>
            <a:off x="7266375" y="4072840"/>
            <a:ext cx="1451113" cy="568325"/>
          </a:xfrm>
          <a:prstGeom prst="rect">
            <a:avLst/>
          </a:prstGeom>
          <a:solidFill>
            <a:srgbClr val="CC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1" name="Rectángulo 60"/>
          <p:cNvSpPr/>
          <p:nvPr/>
        </p:nvSpPr>
        <p:spPr bwMode="auto">
          <a:xfrm>
            <a:off x="8139159" y="5867761"/>
            <a:ext cx="2380519" cy="1038500"/>
          </a:xfrm>
          <a:prstGeom prst="rect">
            <a:avLst/>
          </a:prstGeom>
          <a:solidFill>
            <a:srgbClr val="FF9999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5" name="Rectángulo 4"/>
          <p:cNvSpPr/>
          <p:nvPr/>
        </p:nvSpPr>
        <p:spPr bwMode="auto">
          <a:xfrm>
            <a:off x="8965967" y="4062786"/>
            <a:ext cx="606286" cy="568325"/>
          </a:xfrm>
          <a:prstGeom prst="rect">
            <a:avLst/>
          </a:prstGeom>
          <a:solidFill>
            <a:srgbClr val="FF9999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6" name="Rectángulo 65"/>
          <p:cNvSpPr/>
          <p:nvPr/>
        </p:nvSpPr>
        <p:spPr bwMode="auto">
          <a:xfrm>
            <a:off x="7266374" y="4811773"/>
            <a:ext cx="3253297" cy="915294"/>
          </a:xfrm>
          <a:prstGeom prst="rect">
            <a:avLst/>
          </a:prstGeom>
          <a:solidFill>
            <a:srgbClr val="CC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70" name="Grupo 69"/>
          <p:cNvGrpSpPr>
            <a:grpSpLocks/>
          </p:cNvGrpSpPr>
          <p:nvPr/>
        </p:nvGrpSpPr>
        <p:grpSpPr bwMode="auto">
          <a:xfrm flipH="1">
            <a:off x="3590882" y="3784432"/>
            <a:ext cx="606425" cy="1022350"/>
            <a:chOff x="3213102" y="1686939"/>
            <a:chExt cx="705755" cy="1277325"/>
          </a:xfrm>
        </p:grpSpPr>
        <p:sp>
          <p:nvSpPr>
            <p:cNvPr id="13370" name="Forma libre 70"/>
            <p:cNvSpPr>
              <a:spLocks/>
            </p:cNvSpPr>
            <p:nvPr/>
          </p:nvSpPr>
          <p:spPr bwMode="auto">
            <a:xfrm>
              <a:off x="3215473" y="1688123"/>
              <a:ext cx="703384" cy="1276141"/>
            </a:xfrm>
            <a:custGeom>
              <a:avLst/>
              <a:gdLst>
                <a:gd name="T0" fmla="*/ 703384 w 703384"/>
                <a:gd name="T1" fmla="*/ 0 h 1276141"/>
                <a:gd name="T2" fmla="*/ 0 w 703384"/>
                <a:gd name="T3" fmla="*/ 1276141 h 1276141"/>
                <a:gd name="T4" fmla="*/ 0 w 703384"/>
                <a:gd name="T5" fmla="*/ 0 h 12761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3384" h="1276141">
                  <a:moveTo>
                    <a:pt x="703384" y="0"/>
                  </a:moveTo>
                  <a:lnTo>
                    <a:pt x="0" y="1276141"/>
                  </a:lnTo>
                  <a:lnTo>
                    <a:pt x="0" y="0"/>
                  </a:lnTo>
                </a:path>
              </a:pathLst>
            </a:custGeom>
            <a:solidFill>
              <a:srgbClr val="FFFF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3371" name="Rectángulo 71"/>
            <p:cNvSpPr>
              <a:spLocks noChangeArrowheads="1"/>
            </p:cNvSpPr>
            <p:nvPr/>
          </p:nvSpPr>
          <p:spPr bwMode="auto">
            <a:xfrm>
              <a:off x="3213102" y="1686939"/>
              <a:ext cx="161951" cy="201288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37958" name="Group 70"/>
          <p:cNvGrpSpPr>
            <a:grpSpLocks/>
          </p:cNvGrpSpPr>
          <p:nvPr/>
        </p:nvGrpSpPr>
        <p:grpSpPr bwMode="auto">
          <a:xfrm>
            <a:off x="3587707" y="2347744"/>
            <a:ext cx="2182812" cy="2833688"/>
            <a:chOff x="2549" y="732"/>
            <a:chExt cx="1375" cy="1785"/>
          </a:xfrm>
        </p:grpSpPr>
        <p:sp>
          <p:nvSpPr>
            <p:cNvPr id="13366" name="Line 47"/>
            <p:cNvSpPr>
              <a:spLocks noChangeShapeType="1"/>
            </p:cNvSpPr>
            <p:nvPr/>
          </p:nvSpPr>
          <p:spPr bwMode="auto">
            <a:xfrm flipV="1">
              <a:off x="2591" y="802"/>
              <a:ext cx="0" cy="171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67" name="Line 45"/>
            <p:cNvSpPr>
              <a:spLocks noChangeShapeType="1"/>
            </p:cNvSpPr>
            <p:nvPr/>
          </p:nvSpPr>
          <p:spPr bwMode="auto">
            <a:xfrm rot="16200000" flipH="1">
              <a:off x="3143" y="1038"/>
              <a:ext cx="0" cy="11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13368" name="Text Box 97"/>
            <p:cNvSpPr txBox="1">
              <a:spLocks noChangeArrowheads="1"/>
            </p:cNvSpPr>
            <p:nvPr/>
          </p:nvSpPr>
          <p:spPr bwMode="auto">
            <a:xfrm>
              <a:off x="3730" y="1482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13369" name="Text Box 98"/>
            <p:cNvSpPr txBox="1">
              <a:spLocks noChangeArrowheads="1"/>
            </p:cNvSpPr>
            <p:nvPr/>
          </p:nvSpPr>
          <p:spPr bwMode="auto">
            <a:xfrm>
              <a:off x="2645" y="732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Y</a:t>
              </a:r>
            </a:p>
          </p:txBody>
        </p:sp>
      </p:grpSp>
      <p:sp>
        <p:nvSpPr>
          <p:cNvPr id="211031" name="Line 87"/>
          <p:cNvSpPr>
            <a:spLocks noChangeShapeType="1"/>
          </p:cNvSpPr>
          <p:nvPr/>
        </p:nvSpPr>
        <p:spPr bwMode="auto">
          <a:xfrm rot="10800000" flipH="1" flipV="1">
            <a:off x="3637333" y="3873332"/>
            <a:ext cx="12700" cy="8620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10993" name="Line 49"/>
          <p:cNvSpPr>
            <a:spLocks noChangeShapeType="1"/>
          </p:cNvSpPr>
          <p:nvPr/>
        </p:nvSpPr>
        <p:spPr bwMode="auto">
          <a:xfrm rot="5400000" flipV="1">
            <a:off x="4567988" y="3050213"/>
            <a:ext cx="4762" cy="1428750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3318" name="AutoShape 8"/>
          <p:cNvSpPr>
            <a:spLocks noChangeArrowheads="1"/>
          </p:cNvSpPr>
          <p:nvPr/>
        </p:nvSpPr>
        <p:spPr bwMode="auto">
          <a:xfrm>
            <a:off x="1463632" y="1890544"/>
            <a:ext cx="2159000" cy="1871663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9" name="Text Box 9"/>
          <p:cNvSpPr txBox="1">
            <a:spLocks noChangeArrowheads="1"/>
          </p:cNvSpPr>
          <p:nvPr/>
        </p:nvSpPr>
        <p:spPr bwMode="auto">
          <a:xfrm>
            <a:off x="2348933" y="1211249"/>
            <a:ext cx="35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3320" name="Text Box 10"/>
          <p:cNvSpPr txBox="1">
            <a:spLocks noChangeArrowheads="1"/>
          </p:cNvSpPr>
          <p:nvPr/>
        </p:nvSpPr>
        <p:spPr bwMode="auto">
          <a:xfrm>
            <a:off x="3017794" y="3266907"/>
            <a:ext cx="350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3321" name="Text Box 11"/>
          <p:cNvSpPr txBox="1">
            <a:spLocks noChangeArrowheads="1"/>
          </p:cNvSpPr>
          <p:nvPr/>
        </p:nvSpPr>
        <p:spPr bwMode="auto">
          <a:xfrm>
            <a:off x="1285972" y="4032841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3322" name="Text Box 23"/>
          <p:cNvSpPr txBox="1">
            <a:spLocks noChangeArrowheads="1"/>
          </p:cNvSpPr>
          <p:nvPr/>
        </p:nvSpPr>
        <p:spPr bwMode="auto">
          <a:xfrm>
            <a:off x="3213057" y="2544594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3323" name="Text Box 24"/>
          <p:cNvSpPr txBox="1">
            <a:spLocks noChangeArrowheads="1"/>
          </p:cNvSpPr>
          <p:nvPr/>
        </p:nvSpPr>
        <p:spPr bwMode="auto">
          <a:xfrm>
            <a:off x="1577932" y="2541419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3324" name="Text Box 25"/>
          <p:cNvSpPr txBox="1">
            <a:spLocks noChangeArrowheads="1"/>
          </p:cNvSpPr>
          <p:nvPr/>
        </p:nvSpPr>
        <p:spPr bwMode="auto">
          <a:xfrm>
            <a:off x="2419307" y="3866982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graphicFrame>
        <p:nvGraphicFramePr>
          <p:cNvPr id="210978" name="Object 34"/>
          <p:cNvGraphicFramePr>
            <a:graphicFrameLocks noChangeAspect="1"/>
          </p:cNvGraphicFramePr>
          <p:nvPr/>
        </p:nvGraphicFramePr>
        <p:xfrm>
          <a:off x="7034699" y="4812709"/>
          <a:ext cx="12446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596900" imgH="419100" progId="Equation.3">
                  <p:embed/>
                </p:oleObj>
              </mc:Choice>
              <mc:Fallback>
                <p:oleObj name="Ecuación" r:id="rId3" imgW="596900" imgH="419100" progId="Equation.3">
                  <p:embed/>
                  <p:pic>
                    <p:nvPicPr>
                      <p:cNvPr id="21097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4699" y="4812709"/>
                        <a:ext cx="124460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90" name="Line 46"/>
          <p:cNvSpPr>
            <a:spLocks noChangeShapeType="1"/>
          </p:cNvSpPr>
          <p:nvPr/>
        </p:nvSpPr>
        <p:spPr bwMode="auto">
          <a:xfrm rot="9000000" flipH="1" flipV="1">
            <a:off x="3978232" y="3943182"/>
            <a:ext cx="4762" cy="900112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" name="Line 49"/>
          <p:cNvSpPr>
            <a:spLocks noChangeShapeType="1"/>
          </p:cNvSpPr>
          <p:nvPr/>
        </p:nvSpPr>
        <p:spPr bwMode="auto">
          <a:xfrm rot="5400000" flipV="1">
            <a:off x="4276681" y="3309770"/>
            <a:ext cx="4763" cy="900112"/>
          </a:xfrm>
          <a:prstGeom prst="line">
            <a:avLst/>
          </a:prstGeom>
          <a:noFill/>
          <a:ln w="76200">
            <a:solidFill>
              <a:srgbClr val="008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10994" name="Line 50"/>
          <p:cNvSpPr>
            <a:spLocks noChangeShapeType="1"/>
          </p:cNvSpPr>
          <p:nvPr/>
        </p:nvSpPr>
        <p:spPr bwMode="auto">
          <a:xfrm>
            <a:off x="4200482" y="3743157"/>
            <a:ext cx="0" cy="1030287"/>
          </a:xfrm>
          <a:prstGeom prst="line">
            <a:avLst/>
          </a:prstGeom>
          <a:noFill/>
          <a:ln w="25400">
            <a:solidFill>
              <a:srgbClr val="CC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11007" name="Line 63"/>
          <p:cNvSpPr>
            <a:spLocks noChangeShapeType="1"/>
          </p:cNvSpPr>
          <p:nvPr/>
        </p:nvSpPr>
        <p:spPr bwMode="auto">
          <a:xfrm rot="5400000">
            <a:off x="3925844" y="4506744"/>
            <a:ext cx="0" cy="533400"/>
          </a:xfrm>
          <a:prstGeom prst="line">
            <a:avLst/>
          </a:prstGeom>
          <a:noFill/>
          <a:ln w="25400">
            <a:solidFill>
              <a:srgbClr val="CC66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aphicFrame>
        <p:nvGraphicFramePr>
          <p:cNvPr id="211012" name="Object 68"/>
          <p:cNvGraphicFramePr>
            <a:graphicFrameLocks noChangeAspect="1"/>
          </p:cNvGraphicFramePr>
          <p:nvPr/>
        </p:nvGraphicFramePr>
        <p:xfrm>
          <a:off x="8237316" y="5945785"/>
          <a:ext cx="2193925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002865" imgH="418918" progId="Equation.3">
                  <p:embed/>
                </p:oleObj>
              </mc:Choice>
              <mc:Fallback>
                <p:oleObj name="Ecuación" r:id="rId5" imgW="1002865" imgH="418918" progId="Equation.3">
                  <p:embed/>
                  <p:pic>
                    <p:nvPicPr>
                      <p:cNvPr id="211012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316" y="5945785"/>
                        <a:ext cx="2193925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33" name="Picture 80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769" y="1677819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4" name="Picture 81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657" y="3543132"/>
            <a:ext cx="44926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5" name="Picture 82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669" y="3544719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030" name="Line 86"/>
          <p:cNvSpPr>
            <a:spLocks noChangeShapeType="1"/>
          </p:cNvSpPr>
          <p:nvPr/>
        </p:nvSpPr>
        <p:spPr bwMode="auto">
          <a:xfrm rot="5400000" flipV="1">
            <a:off x="4033001" y="3547100"/>
            <a:ext cx="0" cy="4302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graphicFrame>
        <p:nvGraphicFramePr>
          <p:cNvPr id="211038" name="Object 94"/>
          <p:cNvGraphicFramePr>
            <a:graphicFrameLocks noChangeAspect="1"/>
          </p:cNvGraphicFramePr>
          <p:nvPr/>
        </p:nvGraphicFramePr>
        <p:xfrm>
          <a:off x="1995758" y="428288"/>
          <a:ext cx="1560039" cy="566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698400" imgH="253800" progId="Equation.3">
                  <p:embed/>
                </p:oleObj>
              </mc:Choice>
              <mc:Fallback>
                <p:oleObj name="Ecuación" r:id="rId8" imgW="698400" imgH="253800" progId="Equation.3">
                  <p:embed/>
                  <p:pic>
                    <p:nvPicPr>
                      <p:cNvPr id="211038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758" y="428288"/>
                        <a:ext cx="1560039" cy="566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039" name="Object 95"/>
          <p:cNvGraphicFramePr>
            <a:graphicFrameLocks noChangeAspect="1"/>
          </p:cNvGraphicFramePr>
          <p:nvPr/>
        </p:nvGraphicFramePr>
        <p:xfrm>
          <a:off x="4075069" y="4781382"/>
          <a:ext cx="62706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228501" imgH="215806" progId="Equation.3">
                  <p:embed/>
                </p:oleObj>
              </mc:Choice>
              <mc:Fallback>
                <p:oleObj name="Ecuación" r:id="rId10" imgW="228501" imgH="215806" progId="Equation.3">
                  <p:embed/>
                  <p:pic>
                    <p:nvPicPr>
                      <p:cNvPr id="211039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5069" y="4781382"/>
                        <a:ext cx="627063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040" name="Object 96"/>
          <p:cNvGraphicFramePr>
            <a:graphicFrameLocks noChangeAspect="1"/>
          </p:cNvGraphicFramePr>
          <p:nvPr/>
        </p:nvGraphicFramePr>
        <p:xfrm>
          <a:off x="4293617" y="2932486"/>
          <a:ext cx="62706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228501" imgH="215806" progId="Equation.3">
                  <p:embed/>
                </p:oleObj>
              </mc:Choice>
              <mc:Fallback>
                <p:oleObj name="Ecuación" r:id="rId12" imgW="228501" imgH="215806" progId="Equation.3">
                  <p:embed/>
                  <p:pic>
                    <p:nvPicPr>
                      <p:cNvPr id="21104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3617" y="2932486"/>
                        <a:ext cx="627063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60" name="Group 72"/>
          <p:cNvGrpSpPr>
            <a:grpSpLocks/>
          </p:cNvGrpSpPr>
          <p:nvPr/>
        </p:nvGrpSpPr>
        <p:grpSpPr bwMode="auto">
          <a:xfrm>
            <a:off x="2478050" y="2857339"/>
            <a:ext cx="588963" cy="903291"/>
            <a:chOff x="1850" y="1053"/>
            <a:chExt cx="371" cy="569"/>
          </a:xfrm>
        </p:grpSpPr>
        <p:sp>
          <p:nvSpPr>
            <p:cNvPr id="13362" name="Freeform 71"/>
            <p:cNvSpPr>
              <a:spLocks/>
            </p:cNvSpPr>
            <p:nvPr/>
          </p:nvSpPr>
          <p:spPr bwMode="auto">
            <a:xfrm>
              <a:off x="1893" y="1053"/>
              <a:ext cx="328" cy="569"/>
            </a:xfrm>
            <a:custGeom>
              <a:avLst/>
              <a:gdLst>
                <a:gd name="T0" fmla="*/ 0 w 425"/>
                <a:gd name="T1" fmla="*/ 501 h 501"/>
                <a:gd name="T2" fmla="*/ 158 w 425"/>
                <a:gd name="T3" fmla="*/ 199 h 501"/>
                <a:gd name="T4" fmla="*/ 425 w 425"/>
                <a:gd name="T5" fmla="*/ 0 h 5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5" h="501">
                  <a:moveTo>
                    <a:pt x="0" y="501"/>
                  </a:moveTo>
                  <a:cubicBezTo>
                    <a:pt x="43" y="391"/>
                    <a:pt x="87" y="282"/>
                    <a:pt x="158" y="199"/>
                  </a:cubicBezTo>
                  <a:cubicBezTo>
                    <a:pt x="229" y="116"/>
                    <a:pt x="327" y="58"/>
                    <a:pt x="425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 sz="2400"/>
            </a:p>
          </p:txBody>
        </p:sp>
        <p:sp>
          <p:nvSpPr>
            <p:cNvPr id="13363" name="Text Box 120"/>
            <p:cNvSpPr txBox="1">
              <a:spLocks noChangeArrowheads="1"/>
            </p:cNvSpPr>
            <p:nvPr/>
          </p:nvSpPr>
          <p:spPr bwMode="auto">
            <a:xfrm>
              <a:off x="1850" y="1166"/>
              <a:ext cx="350" cy="250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</p:grpSp>
      <p:graphicFrame>
        <p:nvGraphicFramePr>
          <p:cNvPr id="3" name="Object 94"/>
          <p:cNvGraphicFramePr>
            <a:graphicFrameLocks noChangeAspect="1"/>
          </p:cNvGraphicFramePr>
          <p:nvPr/>
        </p:nvGraphicFramePr>
        <p:xfrm>
          <a:off x="7006093" y="4062786"/>
          <a:ext cx="258603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1270000" imgH="279400" progId="Equation.3">
                  <p:embed/>
                </p:oleObj>
              </mc:Choice>
              <mc:Fallback>
                <p:oleObj name="Ecuación" r:id="rId14" imgW="1270000" imgH="279400" progId="Equation.3">
                  <p:embed/>
                  <p:pic>
                    <p:nvPicPr>
                      <p:cNvPr id="3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093" y="4062786"/>
                        <a:ext cx="2586038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34"/>
          <p:cNvGraphicFramePr>
            <a:graphicFrameLocks noChangeAspect="1"/>
          </p:cNvGraphicFramePr>
          <p:nvPr/>
        </p:nvGraphicFramePr>
        <p:xfrm>
          <a:off x="8302551" y="4801597"/>
          <a:ext cx="2143125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6" imgW="1028700" imgH="419100" progId="Equation.3">
                  <p:embed/>
                </p:oleObj>
              </mc:Choice>
              <mc:Fallback>
                <p:oleObj name="Ecuación" r:id="rId16" imgW="1028700" imgH="419100" progId="Equation.3">
                  <p:embed/>
                  <p:pic>
                    <p:nvPicPr>
                      <p:cNvPr id="77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551" y="4801597"/>
                        <a:ext cx="2143125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94"/>
          <p:cNvGraphicFramePr>
            <a:graphicFrameLocks noChangeAspect="1"/>
          </p:cNvGraphicFramePr>
          <p:nvPr/>
        </p:nvGraphicFramePr>
        <p:xfrm>
          <a:off x="1370996" y="425866"/>
          <a:ext cx="4254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8" imgW="177646" imgH="241091" progId="Equation.3">
                  <p:embed/>
                </p:oleObj>
              </mc:Choice>
              <mc:Fallback>
                <p:oleObj name="Ecuación" r:id="rId18" imgW="177646" imgH="241091" progId="Equation.3">
                  <p:embed/>
                  <p:pic>
                    <p:nvPicPr>
                      <p:cNvPr id="56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996" y="425866"/>
                        <a:ext cx="425450" cy="5746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4113693" y="3812916"/>
            <a:ext cx="997123" cy="732275"/>
            <a:chOff x="4572249" y="2627647"/>
            <a:chExt cx="997046" cy="732276"/>
          </a:xfrm>
        </p:grpSpPr>
        <p:sp>
          <p:nvSpPr>
            <p:cNvPr id="13356" name="Text Box 120"/>
            <p:cNvSpPr txBox="1">
              <a:spLocks noChangeArrowheads="1"/>
            </p:cNvSpPr>
            <p:nvPr/>
          </p:nvSpPr>
          <p:spPr bwMode="auto">
            <a:xfrm>
              <a:off x="5013670" y="2941488"/>
              <a:ext cx="5556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60º</a:t>
              </a:r>
            </a:p>
          </p:txBody>
        </p:sp>
        <p:sp>
          <p:nvSpPr>
            <p:cNvPr id="13357" name="Freeform 71"/>
            <p:cNvSpPr>
              <a:spLocks/>
            </p:cNvSpPr>
            <p:nvPr/>
          </p:nvSpPr>
          <p:spPr bwMode="auto">
            <a:xfrm rot="21089517" flipH="1" flipV="1">
              <a:off x="4572249" y="2627647"/>
              <a:ext cx="568254" cy="732276"/>
            </a:xfrm>
            <a:custGeom>
              <a:avLst/>
              <a:gdLst>
                <a:gd name="T0" fmla="*/ 0 w 425"/>
                <a:gd name="T1" fmla="*/ 2147483646 h 501"/>
                <a:gd name="T2" fmla="*/ 2147483646 w 425"/>
                <a:gd name="T3" fmla="*/ 2147483646 h 501"/>
                <a:gd name="T4" fmla="*/ 2147483646 w 425"/>
                <a:gd name="T5" fmla="*/ 0 h 5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5" h="501">
                  <a:moveTo>
                    <a:pt x="0" y="501"/>
                  </a:moveTo>
                  <a:cubicBezTo>
                    <a:pt x="43" y="391"/>
                    <a:pt x="87" y="282"/>
                    <a:pt x="158" y="199"/>
                  </a:cubicBezTo>
                  <a:cubicBezTo>
                    <a:pt x="229" y="116"/>
                    <a:pt x="327" y="58"/>
                    <a:pt x="425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/>
            </a:p>
          </p:txBody>
        </p:sp>
      </p:grpSp>
      <p:graphicFrame>
        <p:nvGraphicFramePr>
          <p:cNvPr id="13355" name="Object 60"/>
          <p:cNvGraphicFramePr>
            <a:graphicFrameLocks noChangeAspect="1"/>
          </p:cNvGraphicFramePr>
          <p:nvPr/>
        </p:nvGraphicFramePr>
        <p:xfrm>
          <a:off x="4726674" y="5886495"/>
          <a:ext cx="1982788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0" imgW="1117600" imgH="469900" progId="Equation.3">
                  <p:embed/>
                </p:oleObj>
              </mc:Choice>
              <mc:Fallback>
                <p:oleObj name="Ecuación" r:id="rId20" imgW="1117600" imgH="469900" progId="Equation.3">
                  <p:embed/>
                  <p:pic>
                    <p:nvPicPr>
                      <p:cNvPr id="13355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6674" y="5886495"/>
                        <a:ext cx="1982788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4"/>
          <p:cNvGraphicFramePr>
            <a:graphicFrameLocks noChangeAspect="1"/>
          </p:cNvGraphicFramePr>
          <p:nvPr/>
        </p:nvGraphicFramePr>
        <p:xfrm>
          <a:off x="2937313" y="5979944"/>
          <a:ext cx="1443661" cy="69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2" imgW="634680" imgH="304560" progId="Equation.3">
                  <p:embed/>
                </p:oleObj>
              </mc:Choice>
              <mc:Fallback>
                <p:oleObj name="Ecuación" r:id="rId22" imgW="634680" imgH="304560" progId="Equation.3">
                  <p:embed/>
                  <p:pic>
                    <p:nvPicPr>
                      <p:cNvPr id="6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313" y="5979944"/>
                        <a:ext cx="1443661" cy="69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5" name="Object 54"/>
          <p:cNvGraphicFramePr>
            <a:graphicFrameLocks noChangeAspect="1"/>
          </p:cNvGraphicFramePr>
          <p:nvPr/>
        </p:nvGraphicFramePr>
        <p:xfrm>
          <a:off x="478946" y="5876447"/>
          <a:ext cx="2151062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4" imgW="1180588" imgH="444307" progId="Equation.3">
                  <p:embed/>
                </p:oleObj>
              </mc:Choice>
              <mc:Fallback>
                <p:oleObj name="Ecuación" r:id="rId24" imgW="1180588" imgH="444307" progId="Equation.3">
                  <p:embed/>
                  <p:pic>
                    <p:nvPicPr>
                      <p:cNvPr id="13345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46" y="5876447"/>
                        <a:ext cx="2151062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" name="Grupo 56">
            <a:extLst>
              <a:ext uri="{FF2B5EF4-FFF2-40B4-BE49-F238E27FC236}">
                <a16:creationId xmlns:a16="http://schemas.microsoft.com/office/drawing/2014/main" id="{BF0CC86E-1156-4A0E-87C9-AAD2A0268C66}"/>
              </a:ext>
            </a:extLst>
          </p:cNvPr>
          <p:cNvGrpSpPr/>
          <p:nvPr/>
        </p:nvGrpSpPr>
        <p:grpSpPr>
          <a:xfrm>
            <a:off x="4365731" y="565661"/>
            <a:ext cx="5595053" cy="958691"/>
            <a:chOff x="7001174" y="218914"/>
            <a:chExt cx="5595053" cy="958691"/>
          </a:xfrm>
        </p:grpSpPr>
        <p:graphicFrame>
          <p:nvGraphicFramePr>
            <p:cNvPr id="58" name="Object 68">
              <a:extLst>
                <a:ext uri="{FF2B5EF4-FFF2-40B4-BE49-F238E27FC236}">
                  <a16:creationId xmlns:a16="http://schemas.microsoft.com/office/drawing/2014/main" id="{F44FECA7-3FF5-4BF9-B545-B65C6DF763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6260837"/>
                </p:ext>
              </p:extLst>
            </p:nvPr>
          </p:nvGraphicFramePr>
          <p:xfrm>
            <a:off x="10402302" y="218914"/>
            <a:ext cx="2193925" cy="915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6" imgW="1002865" imgH="418918" progId="Equation.3">
                    <p:embed/>
                  </p:oleObj>
                </mc:Choice>
                <mc:Fallback>
                  <p:oleObj name="Ecuación" r:id="rId26" imgW="1002865" imgH="418918" progId="Equation.3">
                    <p:embed/>
                    <p:pic>
                      <p:nvPicPr>
                        <p:cNvPr id="58" name="Object 68">
                          <a:extLst>
                            <a:ext uri="{FF2B5EF4-FFF2-40B4-BE49-F238E27FC236}">
                              <a16:creationId xmlns:a16="http://schemas.microsoft.com/office/drawing/2014/main" id="{B8E99FFF-FF7F-47C0-9DCF-DADBAFFAB3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02302" y="218914"/>
                          <a:ext cx="2193925" cy="915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34">
              <a:extLst>
                <a:ext uri="{FF2B5EF4-FFF2-40B4-BE49-F238E27FC236}">
                  <a16:creationId xmlns:a16="http://schemas.microsoft.com/office/drawing/2014/main" id="{8171D33F-B3E0-4B33-8002-770C91FFBA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5704989"/>
                </p:ext>
              </p:extLst>
            </p:nvPr>
          </p:nvGraphicFramePr>
          <p:xfrm>
            <a:off x="7695614" y="218914"/>
            <a:ext cx="2706688" cy="9586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7" imgW="1180800" imgH="419040" progId="Equation.3">
                    <p:embed/>
                  </p:oleObj>
                </mc:Choice>
                <mc:Fallback>
                  <p:oleObj name="Ecuación" r:id="rId27" imgW="1180800" imgH="419040" progId="Equation.3">
                    <p:embed/>
                    <p:pic>
                      <p:nvPicPr>
                        <p:cNvPr id="59" name="Object 34">
                          <a:extLst>
                            <a:ext uri="{FF2B5EF4-FFF2-40B4-BE49-F238E27FC236}">
                              <a16:creationId xmlns:a16="http://schemas.microsoft.com/office/drawing/2014/main" id="{99591961-CE65-4960-AEF9-11E67B972D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95614" y="218914"/>
                          <a:ext cx="2706688" cy="9586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94">
              <a:extLst>
                <a:ext uri="{FF2B5EF4-FFF2-40B4-BE49-F238E27FC236}">
                  <a16:creationId xmlns:a16="http://schemas.microsoft.com/office/drawing/2014/main" id="{5494F0FD-980F-4B4C-B7C8-16B45A9F83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5376000"/>
                </p:ext>
              </p:extLst>
            </p:nvPr>
          </p:nvGraphicFramePr>
          <p:xfrm>
            <a:off x="7001174" y="411540"/>
            <a:ext cx="729933" cy="553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9" imgW="317160" imgH="241200" progId="Equation.3">
                    <p:embed/>
                  </p:oleObj>
                </mc:Choice>
                <mc:Fallback>
                  <p:oleObj name="Ecuación" r:id="rId29" imgW="317160" imgH="241200" progId="Equation.3">
                    <p:embed/>
                    <p:pic>
                      <p:nvPicPr>
                        <p:cNvPr id="63" name="Object 94">
                          <a:extLst>
                            <a:ext uri="{FF2B5EF4-FFF2-40B4-BE49-F238E27FC236}">
                              <a16:creationId xmlns:a16="http://schemas.microsoft.com/office/drawing/2014/main" id="{A9390E6A-A3D1-4733-ABE6-4EE7CB971F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1174" y="411540"/>
                          <a:ext cx="729933" cy="553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Group 82">
            <a:extLst>
              <a:ext uri="{FF2B5EF4-FFF2-40B4-BE49-F238E27FC236}">
                <a16:creationId xmlns:a16="http://schemas.microsoft.com/office/drawing/2014/main" id="{45AB8021-1D4A-4D9F-A83B-B6C0014056E1}"/>
              </a:ext>
            </a:extLst>
          </p:cNvPr>
          <p:cNvGrpSpPr>
            <a:grpSpLocks/>
          </p:cNvGrpSpPr>
          <p:nvPr/>
        </p:nvGrpSpPr>
        <p:grpSpPr bwMode="auto">
          <a:xfrm>
            <a:off x="5123652" y="1781831"/>
            <a:ext cx="4392612" cy="703262"/>
            <a:chOff x="3713" y="3819"/>
            <a:chExt cx="2767" cy="443"/>
          </a:xfrm>
        </p:grpSpPr>
        <p:sp>
          <p:nvSpPr>
            <p:cNvPr id="65" name="Rectangle 2">
              <a:extLst>
                <a:ext uri="{FF2B5EF4-FFF2-40B4-BE49-F238E27FC236}">
                  <a16:creationId xmlns:a16="http://schemas.microsoft.com/office/drawing/2014/main" id="{09607D7C-593D-4FEE-A6FF-FCCB84C61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3" y="3819"/>
              <a:ext cx="2757" cy="4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67" name="Object 43">
              <a:extLst>
                <a:ext uri="{FF2B5EF4-FFF2-40B4-BE49-F238E27FC236}">
                  <a16:creationId xmlns:a16="http://schemas.microsoft.com/office/drawing/2014/main" id="{EF38E8D8-C1A8-470D-9073-3643A0338F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20" y="3854"/>
            <a:ext cx="2760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1" imgW="1459866" imgH="215806" progId="Equation.3">
                    <p:embed/>
                  </p:oleObj>
                </mc:Choice>
                <mc:Fallback>
                  <p:oleObj name="Ecuación" r:id="rId31" imgW="1459866" imgH="215806" progId="Equation.3">
                    <p:embed/>
                    <p:pic>
                      <p:nvPicPr>
                        <p:cNvPr id="69" name="Object 43">
                          <a:extLst>
                            <a:ext uri="{FF2B5EF4-FFF2-40B4-BE49-F238E27FC236}">
                              <a16:creationId xmlns:a16="http://schemas.microsoft.com/office/drawing/2014/main" id="{9E2EED7E-FFA0-40CB-A077-F65A1E7EEF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0" y="3854"/>
                          <a:ext cx="2760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BA5F4D68-5E9E-4EB8-B159-E16D1E33AE62}"/>
              </a:ext>
            </a:extLst>
          </p:cNvPr>
          <p:cNvSpPr/>
          <p:nvPr/>
        </p:nvSpPr>
        <p:spPr bwMode="auto">
          <a:xfrm>
            <a:off x="10141527" y="1007918"/>
            <a:ext cx="519546" cy="5870864"/>
          </a:xfrm>
          <a:custGeom>
            <a:avLst/>
            <a:gdLst>
              <a:gd name="connsiteX0" fmla="*/ 519546 w 519546"/>
              <a:gd name="connsiteY0" fmla="*/ 5870864 h 5870864"/>
              <a:gd name="connsiteX1" fmla="*/ 457200 w 519546"/>
              <a:gd name="connsiteY1" fmla="*/ 0 h 5870864"/>
              <a:gd name="connsiteX2" fmla="*/ 0 w 519546"/>
              <a:gd name="connsiteY2" fmla="*/ 10391 h 5870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9546" h="5870864">
                <a:moveTo>
                  <a:pt x="519546" y="5870864"/>
                </a:moveTo>
                <a:lnTo>
                  <a:pt x="457200" y="0"/>
                </a:lnTo>
                <a:lnTo>
                  <a:pt x="0" y="10391"/>
                </a:lnTo>
              </a:path>
            </a:pathLst>
          </a:cu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776681A-955A-40B6-ADB8-F36421337301}"/>
              </a:ext>
            </a:extLst>
          </p:cNvPr>
          <p:cNvCxnSpPr>
            <a:cxnSpLocks/>
          </p:cNvCxnSpPr>
          <p:nvPr/>
        </p:nvCxnSpPr>
        <p:spPr bwMode="auto">
          <a:xfrm>
            <a:off x="10588336" y="4811988"/>
            <a:ext cx="0" cy="2077185"/>
          </a:xfrm>
          <a:prstGeom prst="line">
            <a:avLst/>
          </a:prstGeom>
          <a:noFill/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8" name="Object 94">
            <a:extLst>
              <a:ext uri="{FF2B5EF4-FFF2-40B4-BE49-F238E27FC236}">
                <a16:creationId xmlns:a16="http://schemas.microsoft.com/office/drawing/2014/main" id="{A112CD67-D036-4337-B520-CA731F53BF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166076"/>
              </p:ext>
            </p:extLst>
          </p:nvPr>
        </p:nvGraphicFramePr>
        <p:xfrm>
          <a:off x="6412744" y="4027465"/>
          <a:ext cx="4254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3" imgW="177646" imgH="241091" progId="Equation.3">
                  <p:embed/>
                </p:oleObj>
              </mc:Choice>
              <mc:Fallback>
                <p:oleObj name="Ecuación" r:id="rId33" imgW="177646" imgH="241091" progId="Equation.3">
                  <p:embed/>
                  <p:pic>
                    <p:nvPicPr>
                      <p:cNvPr id="57" name="Object 94">
                        <a:extLst>
                          <a:ext uri="{FF2B5EF4-FFF2-40B4-BE49-F238E27FC236}">
                            <a16:creationId xmlns:a16="http://schemas.microsoft.com/office/drawing/2014/main" id="{1895CB56-8071-4971-BDEB-EAE87B0F4F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2744" y="4027465"/>
                        <a:ext cx="4254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Forma libre 12">
            <a:extLst>
              <a:ext uri="{FF2B5EF4-FFF2-40B4-BE49-F238E27FC236}">
                <a16:creationId xmlns:a16="http://schemas.microsoft.com/office/drawing/2014/main" id="{94EC60DA-F04B-4177-A866-92979442E35C}"/>
              </a:ext>
            </a:extLst>
          </p:cNvPr>
          <p:cNvSpPr/>
          <p:nvPr/>
        </p:nvSpPr>
        <p:spPr bwMode="auto">
          <a:xfrm>
            <a:off x="5142804" y="3890793"/>
            <a:ext cx="2052000" cy="864000"/>
          </a:xfrm>
          <a:custGeom>
            <a:avLst/>
            <a:gdLst>
              <a:gd name="connsiteX0" fmla="*/ 0 w 1868993"/>
              <a:gd name="connsiteY0" fmla="*/ 0 h 1638327"/>
              <a:gd name="connsiteX1" fmla="*/ 211015 w 1868993"/>
              <a:gd name="connsiteY1" fmla="*/ 984739 h 1638327"/>
              <a:gd name="connsiteX2" fmla="*/ 633046 w 1868993"/>
              <a:gd name="connsiteY2" fmla="*/ 1497205 h 1638327"/>
              <a:gd name="connsiteX3" fmla="*/ 1396721 w 1868993"/>
              <a:gd name="connsiteY3" fmla="*/ 1637882 h 1638327"/>
              <a:gd name="connsiteX4" fmla="*/ 1868993 w 1868993"/>
              <a:gd name="connsiteY4" fmla="*/ 1467060 h 1638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8993" h="1638327">
                <a:moveTo>
                  <a:pt x="0" y="0"/>
                </a:moveTo>
                <a:cubicBezTo>
                  <a:pt x="52753" y="367602"/>
                  <a:pt x="105507" y="735205"/>
                  <a:pt x="211015" y="984739"/>
                </a:cubicBezTo>
                <a:cubicBezTo>
                  <a:pt x="316523" y="1234273"/>
                  <a:pt x="435428" y="1388348"/>
                  <a:pt x="633046" y="1497205"/>
                </a:cubicBezTo>
                <a:cubicBezTo>
                  <a:pt x="830664" y="1606062"/>
                  <a:pt x="1190730" y="1642906"/>
                  <a:pt x="1396721" y="1637882"/>
                </a:cubicBezTo>
                <a:cubicBezTo>
                  <a:pt x="1602712" y="1632858"/>
                  <a:pt x="1735852" y="1549959"/>
                  <a:pt x="1868993" y="1467060"/>
                </a:cubicBezTo>
              </a:path>
            </a:pathLst>
          </a:custGeom>
          <a:noFill/>
          <a:ln w="38100" cap="flat" cmpd="sng" algn="ctr">
            <a:solidFill>
              <a:srgbClr val="3333FF"/>
            </a:solidFill>
            <a:prstDash val="dash"/>
            <a:round/>
            <a:headEnd type="triangle" w="med" len="lg"/>
            <a:tailEnd type="none" w="med" len="lg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56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e 107"/>
          <p:cNvSpPr>
            <a:spLocks noChangeShapeType="1"/>
          </p:cNvSpPr>
          <p:nvPr/>
        </p:nvSpPr>
        <p:spPr bwMode="auto">
          <a:xfrm rot="10800000" flipH="1" flipV="1">
            <a:off x="6891625" y="2834965"/>
            <a:ext cx="12700" cy="8620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73" name="Line 47"/>
          <p:cNvSpPr>
            <a:spLocks noChangeShapeType="1"/>
          </p:cNvSpPr>
          <p:nvPr/>
        </p:nvSpPr>
        <p:spPr bwMode="auto">
          <a:xfrm flipV="1">
            <a:off x="5784633" y="361034"/>
            <a:ext cx="26988" cy="3340965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5364" name="Line 49"/>
          <p:cNvSpPr>
            <a:spLocks noChangeShapeType="1"/>
          </p:cNvSpPr>
          <p:nvPr/>
        </p:nvSpPr>
        <p:spPr bwMode="auto">
          <a:xfrm rot="5400000" flipV="1">
            <a:off x="7821324" y="2025294"/>
            <a:ext cx="4762" cy="1428750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11051" name="Line 107"/>
          <p:cNvSpPr>
            <a:spLocks noChangeShapeType="1"/>
          </p:cNvSpPr>
          <p:nvPr/>
        </p:nvSpPr>
        <p:spPr bwMode="auto">
          <a:xfrm rot="10800000" flipH="1" flipV="1">
            <a:off x="4758242" y="2803963"/>
            <a:ext cx="12700" cy="8620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11052" name="Line 108"/>
          <p:cNvSpPr>
            <a:spLocks noChangeShapeType="1"/>
          </p:cNvSpPr>
          <p:nvPr/>
        </p:nvSpPr>
        <p:spPr bwMode="auto">
          <a:xfrm rot="5400000" flipH="1">
            <a:off x="3929567" y="1973700"/>
            <a:ext cx="0" cy="1473200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211048" name="Line 104"/>
          <p:cNvSpPr>
            <a:spLocks noChangeShapeType="1"/>
          </p:cNvSpPr>
          <p:nvPr/>
        </p:nvSpPr>
        <p:spPr bwMode="auto">
          <a:xfrm rot="14400000" flipH="1" flipV="1">
            <a:off x="3855748" y="2431694"/>
            <a:ext cx="60325" cy="160813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15368" name="AutoShape 8"/>
          <p:cNvSpPr>
            <a:spLocks noChangeArrowheads="1"/>
          </p:cNvSpPr>
          <p:nvPr/>
        </p:nvSpPr>
        <p:spPr bwMode="auto">
          <a:xfrm>
            <a:off x="4716967" y="865625"/>
            <a:ext cx="2159000" cy="1871663"/>
          </a:xfrm>
          <a:prstGeom prst="triangle">
            <a:avLst>
              <a:gd name="adj" fmla="val 50000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5625811" y="1276339"/>
            <a:ext cx="350837" cy="396875"/>
          </a:xfrm>
          <a:prstGeom prst="rect">
            <a:avLst/>
          </a:prstGeom>
          <a:solidFill>
            <a:srgbClr val="EDE7E3"/>
          </a:solidFill>
          <a:ln>
            <a:noFill/>
          </a:ln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6271130" y="2241988"/>
            <a:ext cx="350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5034467" y="2232463"/>
            <a:ext cx="36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15372" name="Text Box 23"/>
          <p:cNvSpPr txBox="1">
            <a:spLocks noChangeArrowheads="1"/>
          </p:cNvSpPr>
          <p:nvPr/>
        </p:nvSpPr>
        <p:spPr bwMode="auto">
          <a:xfrm>
            <a:off x="6466392" y="1519675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5373" name="Text Box 24"/>
          <p:cNvSpPr txBox="1">
            <a:spLocks noChangeArrowheads="1"/>
          </p:cNvSpPr>
          <p:nvPr/>
        </p:nvSpPr>
        <p:spPr bwMode="auto">
          <a:xfrm>
            <a:off x="4831267" y="15165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sp>
        <p:nvSpPr>
          <p:cNvPr id="15374" name="Text Box 25"/>
          <p:cNvSpPr txBox="1">
            <a:spLocks noChangeArrowheads="1"/>
          </p:cNvSpPr>
          <p:nvPr/>
        </p:nvSpPr>
        <p:spPr bwMode="auto">
          <a:xfrm>
            <a:off x="5632286" y="2837021"/>
            <a:ext cx="322262" cy="396875"/>
          </a:xfrm>
          <a:prstGeom prst="rect">
            <a:avLst/>
          </a:prstGeom>
          <a:solidFill>
            <a:srgbClr val="EDE7E3"/>
          </a:solidFill>
          <a:ln>
            <a:noFill/>
          </a:ln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</a:p>
        </p:txBody>
      </p:sp>
      <p:grpSp>
        <p:nvGrpSpPr>
          <p:cNvPr id="15375" name="Group 82"/>
          <p:cNvGrpSpPr>
            <a:grpSpLocks/>
          </p:cNvGrpSpPr>
          <p:nvPr/>
        </p:nvGrpSpPr>
        <p:grpSpPr bwMode="auto">
          <a:xfrm>
            <a:off x="5894388" y="5939918"/>
            <a:ext cx="4392612" cy="703262"/>
            <a:chOff x="3713" y="3819"/>
            <a:chExt cx="2767" cy="443"/>
          </a:xfrm>
        </p:grpSpPr>
        <p:sp>
          <p:nvSpPr>
            <p:cNvPr id="15404" name="Rectangle 2"/>
            <p:cNvSpPr>
              <a:spLocks noChangeArrowheads="1"/>
            </p:cNvSpPr>
            <p:nvPr/>
          </p:nvSpPr>
          <p:spPr bwMode="auto">
            <a:xfrm>
              <a:off x="3713" y="3819"/>
              <a:ext cx="2757" cy="4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5405" name="Object 43"/>
            <p:cNvGraphicFramePr>
              <a:graphicFrameLocks noChangeAspect="1"/>
            </p:cNvGraphicFramePr>
            <p:nvPr/>
          </p:nvGraphicFramePr>
          <p:xfrm>
            <a:off x="3720" y="3854"/>
            <a:ext cx="2760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459866" imgH="215806" progId="Equation.3">
                    <p:embed/>
                  </p:oleObj>
                </mc:Choice>
                <mc:Fallback>
                  <p:oleObj name="Ecuación" r:id="rId3" imgW="1459866" imgH="215806" progId="Equation.3">
                    <p:embed/>
                    <p:pic>
                      <p:nvPicPr>
                        <p:cNvPr id="15405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0" y="3854"/>
                          <a:ext cx="2760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007" name="Group 71"/>
          <p:cNvGrpSpPr>
            <a:grpSpLocks/>
          </p:cNvGrpSpPr>
          <p:nvPr/>
        </p:nvGrpSpPr>
        <p:grpSpPr bwMode="auto">
          <a:xfrm>
            <a:off x="1328738" y="5917693"/>
            <a:ext cx="4340225" cy="727075"/>
            <a:chOff x="837" y="3805"/>
            <a:chExt cx="2734" cy="458"/>
          </a:xfrm>
        </p:grpSpPr>
        <p:sp>
          <p:nvSpPr>
            <p:cNvPr id="15402" name="Rectangle 71"/>
            <p:cNvSpPr>
              <a:spLocks noChangeArrowheads="1"/>
            </p:cNvSpPr>
            <p:nvPr/>
          </p:nvSpPr>
          <p:spPr bwMode="auto">
            <a:xfrm>
              <a:off x="837" y="3805"/>
              <a:ext cx="2699" cy="45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5403" name="Object 72"/>
            <p:cNvGraphicFramePr>
              <a:graphicFrameLocks noChangeAspect="1"/>
            </p:cNvGraphicFramePr>
            <p:nvPr/>
          </p:nvGraphicFramePr>
          <p:xfrm>
            <a:off x="883" y="3855"/>
            <a:ext cx="2688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422400" imgH="215900" progId="Equation.3">
                    <p:embed/>
                  </p:oleObj>
                </mc:Choice>
                <mc:Fallback>
                  <p:oleObj name="Ecuación" r:id="rId5" imgW="1422400" imgH="215900" progId="Equation.3">
                    <p:embed/>
                    <p:pic>
                      <p:nvPicPr>
                        <p:cNvPr id="15403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3" y="3855"/>
                          <a:ext cx="2688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5379" name="Picture 80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105" y="652900"/>
            <a:ext cx="44926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0" name="Picture 81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992" y="2518213"/>
            <a:ext cx="44926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382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773746"/>
              </p:ext>
            </p:extLst>
          </p:nvPr>
        </p:nvGraphicFramePr>
        <p:xfrm>
          <a:off x="8705069" y="3162030"/>
          <a:ext cx="48895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77569" imgH="215619" progId="Equation.3">
                  <p:embed/>
                </p:oleObj>
              </mc:Choice>
              <mc:Fallback>
                <p:oleObj name="Ecuación" r:id="rId8" imgW="177569" imgH="215619" progId="Equation.3">
                  <p:embed/>
                  <p:pic>
                    <p:nvPicPr>
                      <p:cNvPr id="15382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5069" y="3162030"/>
                        <a:ext cx="48895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27"/>
          <p:cNvGrpSpPr>
            <a:grpSpLocks/>
          </p:cNvGrpSpPr>
          <p:nvPr/>
        </p:nvGrpSpPr>
        <p:grpSpPr bwMode="auto">
          <a:xfrm>
            <a:off x="2334671" y="5771606"/>
            <a:ext cx="4572000" cy="360000"/>
            <a:chOff x="1458" y="3675"/>
            <a:chExt cx="2880" cy="291"/>
          </a:xfrm>
        </p:grpSpPr>
        <p:sp>
          <p:nvSpPr>
            <p:cNvPr id="15399" name="Line 105"/>
            <p:cNvSpPr>
              <a:spLocks noChangeShapeType="1"/>
            </p:cNvSpPr>
            <p:nvPr/>
          </p:nvSpPr>
          <p:spPr bwMode="auto">
            <a:xfrm>
              <a:off x="1466" y="3689"/>
              <a:ext cx="0" cy="27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 type="none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5400" name="Line 112"/>
            <p:cNvSpPr>
              <a:spLocks noChangeShapeType="1"/>
            </p:cNvSpPr>
            <p:nvPr/>
          </p:nvSpPr>
          <p:spPr bwMode="auto">
            <a:xfrm>
              <a:off x="4335" y="3686"/>
              <a:ext cx="0" cy="27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 type="none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5401" name="Line 113"/>
            <p:cNvSpPr>
              <a:spLocks noChangeShapeType="1"/>
            </p:cNvSpPr>
            <p:nvPr/>
          </p:nvSpPr>
          <p:spPr bwMode="auto">
            <a:xfrm>
              <a:off x="1458" y="3675"/>
              <a:ext cx="2880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 type="none"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12" name="Group 128"/>
          <p:cNvGrpSpPr>
            <a:grpSpLocks/>
          </p:cNvGrpSpPr>
          <p:nvPr/>
        </p:nvGrpSpPr>
        <p:grpSpPr bwMode="auto">
          <a:xfrm flipV="1">
            <a:off x="3505219" y="6496607"/>
            <a:ext cx="4644000" cy="360000"/>
            <a:chOff x="1458" y="3675"/>
            <a:chExt cx="2880" cy="291"/>
          </a:xfrm>
        </p:grpSpPr>
        <p:sp>
          <p:nvSpPr>
            <p:cNvPr id="15396" name="Line 129"/>
            <p:cNvSpPr>
              <a:spLocks noChangeShapeType="1"/>
            </p:cNvSpPr>
            <p:nvPr/>
          </p:nvSpPr>
          <p:spPr bwMode="auto">
            <a:xfrm>
              <a:off x="1466" y="3689"/>
              <a:ext cx="0" cy="27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5397" name="Line 130"/>
            <p:cNvSpPr>
              <a:spLocks noChangeShapeType="1"/>
            </p:cNvSpPr>
            <p:nvPr/>
          </p:nvSpPr>
          <p:spPr bwMode="auto">
            <a:xfrm>
              <a:off x="4335" y="3686"/>
              <a:ext cx="0" cy="27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5398" name="Line 131"/>
            <p:cNvSpPr>
              <a:spLocks noChangeShapeType="1"/>
            </p:cNvSpPr>
            <p:nvPr/>
          </p:nvSpPr>
          <p:spPr bwMode="auto">
            <a:xfrm>
              <a:off x="1458" y="3675"/>
              <a:ext cx="28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</p:grpSp>
      <p:sp>
        <p:nvSpPr>
          <p:cNvPr id="37971" name="Text Box 83"/>
          <p:cNvSpPr txBox="1">
            <a:spLocks noChangeArrowheads="1"/>
          </p:cNvSpPr>
          <p:nvPr/>
        </p:nvSpPr>
        <p:spPr bwMode="auto">
          <a:xfrm>
            <a:off x="2284834" y="3922240"/>
            <a:ext cx="7040834" cy="463846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</a:rPr>
              <a:t>C</a:t>
            </a:r>
            <a:r>
              <a:rPr lang="es-ES" sz="2400" b="1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se puede calcular de la misma manera que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</a:rPr>
              <a:t>B</a:t>
            </a:r>
            <a:endParaRPr lang="es-ES" sz="2400" dirty="0">
              <a:latin typeface="Arial" panose="020B0604020202020204" pitchFamily="34" charset="0"/>
            </a:endParaRPr>
          </a:p>
        </p:txBody>
      </p:sp>
      <p:graphicFrame>
        <p:nvGraphicFramePr>
          <p:cNvPr id="15387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843907"/>
              </p:ext>
            </p:extLst>
          </p:nvPr>
        </p:nvGraphicFramePr>
        <p:xfrm>
          <a:off x="1800785" y="447208"/>
          <a:ext cx="38893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177569" imgH="253670" progId="Equation.3">
                  <p:embed/>
                </p:oleObj>
              </mc:Choice>
              <mc:Fallback>
                <p:oleObj name="Ecuación" r:id="rId10" imgW="177569" imgH="253670" progId="Equation.3">
                  <p:embed/>
                  <p:pic>
                    <p:nvPicPr>
                      <p:cNvPr id="15387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785" y="447208"/>
                        <a:ext cx="388938" cy="5556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8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320688"/>
              </p:ext>
            </p:extLst>
          </p:nvPr>
        </p:nvGraphicFramePr>
        <p:xfrm>
          <a:off x="2550823" y="3098443"/>
          <a:ext cx="48895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177569" imgH="215619" progId="Equation.3">
                  <p:embed/>
                </p:oleObj>
              </mc:Choice>
              <mc:Fallback>
                <p:oleObj name="Ecuación" r:id="rId12" imgW="177569" imgH="215619" progId="Equation.3">
                  <p:embed/>
                  <p:pic>
                    <p:nvPicPr>
                      <p:cNvPr id="15388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0823" y="3098443"/>
                        <a:ext cx="48895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upo 3"/>
          <p:cNvGrpSpPr>
            <a:grpSpLocks/>
          </p:cNvGrpSpPr>
          <p:nvPr/>
        </p:nvGrpSpPr>
        <p:grpSpPr bwMode="auto">
          <a:xfrm flipH="1">
            <a:off x="3151692" y="2680138"/>
            <a:ext cx="1625600" cy="1030287"/>
            <a:chOff x="2570243" y="646911"/>
            <a:chExt cx="1625600" cy="1030287"/>
          </a:xfrm>
        </p:grpSpPr>
        <p:sp>
          <p:nvSpPr>
            <p:cNvPr id="15390" name="Line 63"/>
            <p:cNvSpPr>
              <a:spLocks noChangeShapeType="1"/>
            </p:cNvSpPr>
            <p:nvPr/>
          </p:nvSpPr>
          <p:spPr bwMode="auto">
            <a:xfrm rot="5400000">
              <a:off x="2836943" y="1384232"/>
              <a:ext cx="0" cy="533400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grpSp>
          <p:nvGrpSpPr>
            <p:cNvPr id="15391" name="Group 69"/>
            <p:cNvGrpSpPr>
              <a:grpSpLocks/>
            </p:cNvGrpSpPr>
            <p:nvPr/>
          </p:nvGrpSpPr>
          <p:grpSpPr bwMode="auto">
            <a:xfrm>
              <a:off x="3130631" y="646911"/>
              <a:ext cx="1065212" cy="1030287"/>
              <a:chOff x="2947" y="1621"/>
              <a:chExt cx="671" cy="649"/>
            </a:xfrm>
          </p:grpSpPr>
          <p:sp>
            <p:nvSpPr>
              <p:cNvPr id="15392" name="Line 63"/>
              <p:cNvSpPr>
                <a:spLocks noChangeShapeType="1"/>
              </p:cNvSpPr>
              <p:nvPr/>
            </p:nvSpPr>
            <p:spPr bwMode="auto">
              <a:xfrm rot="16200000" flipV="1">
                <a:off x="3281" y="1922"/>
                <a:ext cx="4" cy="671"/>
              </a:xfrm>
              <a:prstGeom prst="line">
                <a:avLst/>
              </a:prstGeom>
              <a:noFill/>
              <a:ln w="25400">
                <a:solidFill>
                  <a:srgbClr val="CC66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  <p:sp>
            <p:nvSpPr>
              <p:cNvPr id="15393" name="Line 50"/>
              <p:cNvSpPr>
                <a:spLocks noChangeShapeType="1"/>
              </p:cNvSpPr>
              <p:nvPr/>
            </p:nvSpPr>
            <p:spPr bwMode="auto">
              <a:xfrm>
                <a:off x="3610" y="1621"/>
                <a:ext cx="0" cy="649"/>
              </a:xfrm>
              <a:prstGeom prst="line">
                <a:avLst/>
              </a:prstGeom>
              <a:noFill/>
              <a:ln w="25400">
                <a:solidFill>
                  <a:srgbClr val="CC66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n-GB"/>
              </a:p>
            </p:txBody>
          </p:sp>
        </p:grpSp>
      </p:grpSp>
      <p:sp>
        <p:nvSpPr>
          <p:cNvPr id="50" name="Line 87"/>
          <p:cNvSpPr>
            <a:spLocks noChangeShapeType="1"/>
          </p:cNvSpPr>
          <p:nvPr/>
        </p:nvSpPr>
        <p:spPr bwMode="auto">
          <a:xfrm rot="10800000" flipH="1" flipV="1">
            <a:off x="6897802" y="2826748"/>
            <a:ext cx="12700" cy="86201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sp>
        <p:nvSpPr>
          <p:cNvPr id="51" name="Line 61"/>
          <p:cNvSpPr>
            <a:spLocks noChangeShapeType="1"/>
          </p:cNvSpPr>
          <p:nvPr/>
        </p:nvSpPr>
        <p:spPr bwMode="auto">
          <a:xfrm rot="7200000" flipH="1" flipV="1">
            <a:off x="7710982" y="2369782"/>
            <a:ext cx="1587" cy="18415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/>
          </a:p>
        </p:txBody>
      </p:sp>
      <p:pic>
        <p:nvPicPr>
          <p:cNvPr id="15381" name="Picture 82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005" y="2519800"/>
            <a:ext cx="44926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83">
            <a:extLst>
              <a:ext uri="{FF2B5EF4-FFF2-40B4-BE49-F238E27FC236}">
                <a16:creationId xmlns:a16="http://schemas.microsoft.com/office/drawing/2014/main" id="{7D7F675A-57BA-8142-30B4-C56FFF7F5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4476094"/>
            <a:ext cx="4697664" cy="12025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Todo queda igual si se hace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un giro de 180º respecto a un eje vertical que pase por A</a:t>
            </a:r>
          </a:p>
        </p:txBody>
      </p:sp>
      <p:sp>
        <p:nvSpPr>
          <p:cNvPr id="3" name="Text Box 83">
            <a:extLst>
              <a:ext uri="{FF2B5EF4-FFF2-40B4-BE49-F238E27FC236}">
                <a16:creationId xmlns:a16="http://schemas.microsoft.com/office/drawing/2014/main" id="{75CD86C6-D2C6-F1B9-ED00-B554EBF54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769" y="4469166"/>
            <a:ext cx="4246839" cy="120251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Pero se puede deducir el resultado teniendo en cuenta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simetría</a:t>
            </a:r>
            <a:r>
              <a:rPr lang="es-ES" sz="2400" dirty="0">
                <a:latin typeface="Arial" panose="020B0604020202020204" pitchFamily="34" charset="0"/>
              </a:rPr>
              <a:t> existente:</a:t>
            </a:r>
          </a:p>
        </p:txBody>
      </p:sp>
    </p:spTree>
    <p:extLst>
      <p:ext uri="{BB962C8B-B14F-4D97-AF65-F5344CB8AC3E}">
        <p14:creationId xmlns:p14="http://schemas.microsoft.com/office/powerpoint/2010/main" val="204615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3 0.00772 L 0.15212 0.00044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4" y="-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5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1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1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211051" grpId="0" animBg="1"/>
      <p:bldP spid="211052" grpId="0" animBg="1"/>
      <p:bldP spid="211048" grpId="0" animBg="1"/>
      <p:bldP spid="37971" grpId="0" animBg="1"/>
      <p:bldP spid="50" grpId="0" animBg="1"/>
      <p:bldP spid="51" grpId="0" animBg="1"/>
      <p:bldP spid="2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1" name="Line 156"/>
          <p:cNvSpPr>
            <a:spLocks noChangeShapeType="1"/>
          </p:cNvSpPr>
          <p:nvPr/>
        </p:nvSpPr>
        <p:spPr bwMode="auto">
          <a:xfrm>
            <a:off x="1372015" y="2896447"/>
            <a:ext cx="4318000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E3335E4-78E4-4F58-90B2-E085CE00FE40}"/>
              </a:ext>
            </a:extLst>
          </p:cNvPr>
          <p:cNvGrpSpPr/>
          <p:nvPr/>
        </p:nvGrpSpPr>
        <p:grpSpPr>
          <a:xfrm>
            <a:off x="1372015" y="3607647"/>
            <a:ext cx="4318000" cy="2179638"/>
            <a:chOff x="1372015" y="3576474"/>
            <a:chExt cx="4318000" cy="2179638"/>
          </a:xfrm>
        </p:grpSpPr>
        <p:sp>
          <p:nvSpPr>
            <p:cNvPr id="17462" name="Line 155"/>
            <p:cNvSpPr>
              <a:spLocks noChangeShapeType="1"/>
            </p:cNvSpPr>
            <p:nvPr/>
          </p:nvSpPr>
          <p:spPr bwMode="auto">
            <a:xfrm>
              <a:off x="1372015" y="5005224"/>
              <a:ext cx="431800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7463" name="Line 157"/>
            <p:cNvSpPr>
              <a:spLocks noChangeShapeType="1"/>
            </p:cNvSpPr>
            <p:nvPr/>
          </p:nvSpPr>
          <p:spPr bwMode="auto">
            <a:xfrm>
              <a:off x="1372015" y="3576474"/>
              <a:ext cx="431800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7464" name="Line 173"/>
            <p:cNvSpPr>
              <a:spLocks noChangeShapeType="1"/>
            </p:cNvSpPr>
            <p:nvPr/>
          </p:nvSpPr>
          <p:spPr bwMode="auto">
            <a:xfrm>
              <a:off x="1372015" y="5756112"/>
              <a:ext cx="431800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7465" name="Line 196"/>
            <p:cNvSpPr>
              <a:spLocks noChangeShapeType="1"/>
            </p:cNvSpPr>
            <p:nvPr/>
          </p:nvSpPr>
          <p:spPr bwMode="auto">
            <a:xfrm>
              <a:off x="1372015" y="4294024"/>
              <a:ext cx="431800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</p:grpSp>
      <p:sp>
        <p:nvSpPr>
          <p:cNvPr id="17459" name="Line 174"/>
          <p:cNvSpPr>
            <a:spLocks noChangeShapeType="1"/>
          </p:cNvSpPr>
          <p:nvPr/>
        </p:nvSpPr>
        <p:spPr bwMode="auto">
          <a:xfrm>
            <a:off x="4432712" y="2908159"/>
            <a:ext cx="719138" cy="0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/>
          </a:p>
        </p:txBody>
      </p:sp>
      <p:graphicFrame>
        <p:nvGraphicFramePr>
          <p:cNvPr id="17460" name="Object 176"/>
          <p:cNvGraphicFramePr>
            <a:graphicFrameLocks noChangeAspect="1"/>
          </p:cNvGraphicFramePr>
          <p:nvPr/>
        </p:nvGraphicFramePr>
        <p:xfrm>
          <a:off x="3623087" y="2225534"/>
          <a:ext cx="6032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28600" imgH="241200" progId="Equation.3">
                  <p:embed/>
                </p:oleObj>
              </mc:Choice>
              <mc:Fallback>
                <p:oleObj name="Ecuación" r:id="rId3" imgW="228600" imgH="241200" progId="Equation.3">
                  <p:embed/>
                  <p:pic>
                    <p:nvPicPr>
                      <p:cNvPr id="17460" name="Object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3087" y="2225534"/>
                        <a:ext cx="60325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43" name="Group 95"/>
          <p:cNvGrpSpPr>
            <a:grpSpLocks/>
          </p:cNvGrpSpPr>
          <p:nvPr/>
        </p:nvGrpSpPr>
        <p:grpSpPr bwMode="auto">
          <a:xfrm>
            <a:off x="2032415" y="1710749"/>
            <a:ext cx="2633663" cy="4305301"/>
            <a:chOff x="1562" y="1121"/>
            <a:chExt cx="1659" cy="2712"/>
          </a:xfrm>
        </p:grpSpPr>
        <p:sp>
          <p:nvSpPr>
            <p:cNvPr id="17449" name="Line 217"/>
            <p:cNvSpPr>
              <a:spLocks noChangeShapeType="1"/>
            </p:cNvSpPr>
            <p:nvPr/>
          </p:nvSpPr>
          <p:spPr bwMode="auto">
            <a:xfrm flipH="1">
              <a:off x="1704" y="1137"/>
              <a:ext cx="0" cy="269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 dirty="0"/>
            </a:p>
          </p:txBody>
        </p:sp>
        <p:sp>
          <p:nvSpPr>
            <p:cNvPr id="17450" name="Line 218"/>
            <p:cNvSpPr>
              <a:spLocks noChangeShapeType="1"/>
            </p:cNvSpPr>
            <p:nvPr/>
          </p:nvSpPr>
          <p:spPr bwMode="auto">
            <a:xfrm flipH="1">
              <a:off x="3080" y="1121"/>
              <a:ext cx="0" cy="269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pic>
          <p:nvPicPr>
            <p:cNvPr id="17451" name="Picture 15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2643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52" name="Picture 15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8" y="2633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53" name="Picture 16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2190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54" name="Picture 16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2" y="3562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55" name="Picture 16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8" y="3560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56" name="Picture 16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1" y="2202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57" name="Picture 19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2" y="3093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58" name="Picture 20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3" y="3095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6323" name="Object 179"/>
          <p:cNvGraphicFramePr>
            <a:graphicFrameLocks noChangeAspect="1"/>
          </p:cNvGraphicFramePr>
          <p:nvPr/>
        </p:nvGraphicFramePr>
        <p:xfrm>
          <a:off x="7242509" y="3773416"/>
          <a:ext cx="185896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723600" imgH="393480" progId="Equation.3">
                  <p:embed/>
                </p:oleObj>
              </mc:Choice>
              <mc:Fallback>
                <p:oleObj name="Ecuación" r:id="rId7" imgW="723600" imgH="393480" progId="Equation.3">
                  <p:embed/>
                  <p:pic>
                    <p:nvPicPr>
                      <p:cNvPr id="6323" name="Object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509" y="3773416"/>
                        <a:ext cx="185896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42" name="Group 94"/>
          <p:cNvGrpSpPr>
            <a:grpSpLocks/>
          </p:cNvGrpSpPr>
          <p:nvPr/>
        </p:nvGrpSpPr>
        <p:grpSpPr bwMode="auto">
          <a:xfrm>
            <a:off x="2003853" y="1182560"/>
            <a:ext cx="2784475" cy="1052513"/>
            <a:chOff x="1544" y="706"/>
            <a:chExt cx="1754" cy="663"/>
          </a:xfrm>
        </p:grpSpPr>
        <p:sp>
          <p:nvSpPr>
            <p:cNvPr id="17443" name="Text Box 164"/>
            <p:cNvSpPr txBox="1">
              <a:spLocks noChangeArrowheads="1"/>
            </p:cNvSpPr>
            <p:nvPr/>
          </p:nvSpPr>
          <p:spPr bwMode="auto">
            <a:xfrm>
              <a:off x="1594" y="1045"/>
              <a:ext cx="288" cy="32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endParaRPr lang="es-ES" sz="24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4" name="Text Box 165"/>
            <p:cNvSpPr txBox="1">
              <a:spLocks noChangeArrowheads="1"/>
            </p:cNvSpPr>
            <p:nvPr/>
          </p:nvSpPr>
          <p:spPr bwMode="auto">
            <a:xfrm>
              <a:off x="2955" y="1015"/>
              <a:ext cx="245" cy="32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endParaRPr lang="es-ES" sz="2400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5" name="Text Box 166"/>
            <p:cNvSpPr txBox="1">
              <a:spLocks noChangeArrowheads="1"/>
            </p:cNvSpPr>
            <p:nvPr/>
          </p:nvSpPr>
          <p:spPr bwMode="auto">
            <a:xfrm>
              <a:off x="1544" y="706"/>
              <a:ext cx="1754" cy="292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2 cargas puntuales</a:t>
              </a:r>
              <a:endParaRPr lang="es-ES" sz="2400" b="1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46" name="Text Box 180"/>
            <p:cNvSpPr txBox="1">
              <a:spLocks noChangeArrowheads="1"/>
            </p:cNvSpPr>
            <p:nvPr/>
          </p:nvSpPr>
          <p:spPr bwMode="auto">
            <a:xfrm>
              <a:off x="2301" y="1006"/>
              <a:ext cx="17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17447" name="Line 181"/>
            <p:cNvSpPr>
              <a:spLocks noChangeShapeType="1"/>
            </p:cNvSpPr>
            <p:nvPr/>
          </p:nvSpPr>
          <p:spPr bwMode="auto">
            <a:xfrm flipH="1">
              <a:off x="1863" y="1190"/>
              <a:ext cx="408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7448" name="Line 182"/>
            <p:cNvSpPr>
              <a:spLocks noChangeShapeType="1"/>
            </p:cNvSpPr>
            <p:nvPr/>
          </p:nvSpPr>
          <p:spPr bwMode="auto">
            <a:xfrm>
              <a:off x="2520" y="1186"/>
              <a:ext cx="408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2136" name="Group 88"/>
          <p:cNvGrpSpPr>
            <a:grpSpLocks/>
          </p:cNvGrpSpPr>
          <p:nvPr/>
        </p:nvGrpSpPr>
        <p:grpSpPr bwMode="auto">
          <a:xfrm>
            <a:off x="6957657" y="1912240"/>
            <a:ext cx="2654300" cy="1255713"/>
            <a:chOff x="4393" y="327"/>
            <a:chExt cx="1672" cy="791"/>
          </a:xfrm>
        </p:grpSpPr>
        <p:sp>
          <p:nvSpPr>
            <p:cNvPr id="17441" name="Rectangle 154"/>
            <p:cNvSpPr>
              <a:spLocks noChangeArrowheads="1"/>
            </p:cNvSpPr>
            <p:nvPr/>
          </p:nvSpPr>
          <p:spPr bwMode="auto">
            <a:xfrm>
              <a:off x="4393" y="327"/>
              <a:ext cx="1672" cy="791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7442" name="Object 178"/>
            <p:cNvGraphicFramePr>
              <a:graphicFrameLocks noChangeAspect="1"/>
            </p:cNvGraphicFramePr>
            <p:nvPr/>
          </p:nvGraphicFramePr>
          <p:xfrm>
            <a:off x="4477" y="411"/>
            <a:ext cx="1521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977760" imgH="393480" progId="Equation.3">
                    <p:embed/>
                  </p:oleObj>
                </mc:Choice>
                <mc:Fallback>
                  <p:oleObj name="Ecuación" r:id="rId9" imgW="977760" imgH="393480" progId="Equation.3">
                    <p:embed/>
                    <p:pic>
                      <p:nvPicPr>
                        <p:cNvPr id="17442" name="Object 1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7" y="411"/>
                          <a:ext cx="1521" cy="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48" name="Group 100"/>
          <p:cNvGrpSpPr>
            <a:grpSpLocks/>
          </p:cNvGrpSpPr>
          <p:nvPr/>
        </p:nvGrpSpPr>
        <p:grpSpPr bwMode="auto">
          <a:xfrm>
            <a:off x="3177013" y="3581302"/>
            <a:ext cx="1033465" cy="1465263"/>
            <a:chOff x="2283" y="2255"/>
            <a:chExt cx="651" cy="923"/>
          </a:xfrm>
        </p:grpSpPr>
        <p:sp>
          <p:nvSpPr>
            <p:cNvPr id="17437" name="Line 167"/>
            <p:cNvSpPr>
              <a:spLocks noChangeShapeType="1"/>
            </p:cNvSpPr>
            <p:nvPr/>
          </p:nvSpPr>
          <p:spPr bwMode="auto">
            <a:xfrm flipH="1">
              <a:off x="2481" y="2721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7438" name="Line 195"/>
            <p:cNvSpPr>
              <a:spLocks noChangeShapeType="1"/>
            </p:cNvSpPr>
            <p:nvPr/>
          </p:nvSpPr>
          <p:spPr bwMode="auto">
            <a:xfrm flipH="1">
              <a:off x="2460" y="3178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17439" name="Object 220"/>
            <p:cNvGraphicFramePr>
              <a:graphicFrameLocks noChangeAspect="1"/>
            </p:cNvGraphicFramePr>
            <p:nvPr/>
          </p:nvGraphicFramePr>
          <p:xfrm>
            <a:off x="2293" y="2255"/>
            <a:ext cx="375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241200" imgH="266400" progId="Equation.3">
                    <p:embed/>
                  </p:oleObj>
                </mc:Choice>
                <mc:Fallback>
                  <p:oleObj name="Ecuación" r:id="rId11" imgW="241200" imgH="266400" progId="Equation.3">
                    <p:embed/>
                    <p:pic>
                      <p:nvPicPr>
                        <p:cNvPr id="17439" name="Object 2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3" y="2255"/>
                          <a:ext cx="375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0" name="Object 221"/>
            <p:cNvGraphicFramePr>
              <a:graphicFrameLocks noChangeAspect="1"/>
            </p:cNvGraphicFramePr>
            <p:nvPr/>
          </p:nvGraphicFramePr>
          <p:xfrm>
            <a:off x="2283" y="2734"/>
            <a:ext cx="376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241200" imgH="266400" progId="Equation.3">
                    <p:embed/>
                  </p:oleObj>
                </mc:Choice>
                <mc:Fallback>
                  <p:oleObj name="Ecuación" r:id="rId13" imgW="241200" imgH="266400" progId="Equation.3">
                    <p:embed/>
                    <p:pic>
                      <p:nvPicPr>
                        <p:cNvPr id="17440" name="Object 2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3" y="2734"/>
                          <a:ext cx="376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47" name="Group 99"/>
          <p:cNvGrpSpPr>
            <a:grpSpLocks/>
          </p:cNvGrpSpPr>
          <p:nvPr/>
        </p:nvGrpSpPr>
        <p:grpSpPr bwMode="auto">
          <a:xfrm>
            <a:off x="4654987" y="2949483"/>
            <a:ext cx="1016005" cy="2844805"/>
            <a:chOff x="3214" y="1857"/>
            <a:chExt cx="640" cy="1792"/>
          </a:xfrm>
        </p:grpSpPr>
        <p:sp>
          <p:nvSpPr>
            <p:cNvPr id="17433" name="Line 171"/>
            <p:cNvSpPr>
              <a:spLocks noChangeShapeType="1"/>
            </p:cNvSpPr>
            <p:nvPr/>
          </p:nvSpPr>
          <p:spPr bwMode="auto">
            <a:xfrm>
              <a:off x="3236" y="2281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7434" name="Line 172"/>
            <p:cNvSpPr>
              <a:spLocks noChangeShapeType="1"/>
            </p:cNvSpPr>
            <p:nvPr/>
          </p:nvSpPr>
          <p:spPr bwMode="auto">
            <a:xfrm>
              <a:off x="3214" y="3648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17435" name="Object 219"/>
            <p:cNvGraphicFramePr>
              <a:graphicFrameLocks noChangeAspect="1"/>
            </p:cNvGraphicFramePr>
            <p:nvPr/>
          </p:nvGraphicFramePr>
          <p:xfrm>
            <a:off x="3474" y="1857"/>
            <a:ext cx="376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5" imgW="241200" imgH="266400" progId="Equation.3">
                    <p:embed/>
                  </p:oleObj>
                </mc:Choice>
                <mc:Fallback>
                  <p:oleObj name="Ecuación" r:id="rId15" imgW="241200" imgH="266400" progId="Equation.3">
                    <p:embed/>
                    <p:pic>
                      <p:nvPicPr>
                        <p:cNvPr id="17435" name="Object 2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4" y="1857"/>
                          <a:ext cx="376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6" name="Object 222"/>
            <p:cNvGraphicFramePr>
              <a:graphicFrameLocks noChangeAspect="1"/>
            </p:cNvGraphicFramePr>
            <p:nvPr/>
          </p:nvGraphicFramePr>
          <p:xfrm>
            <a:off x="3479" y="3235"/>
            <a:ext cx="375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7" imgW="241200" imgH="266400" progId="Equation.3">
                    <p:embed/>
                  </p:oleObj>
                </mc:Choice>
                <mc:Fallback>
                  <p:oleObj name="Ecuación" r:id="rId17" imgW="241200" imgH="266400" progId="Equation.3">
                    <p:embed/>
                    <p:pic>
                      <p:nvPicPr>
                        <p:cNvPr id="17436" name="Object 2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9" y="3235"/>
                          <a:ext cx="375" cy="4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71" name="Text Box 227"/>
          <p:cNvSpPr txBox="1">
            <a:spLocks noChangeArrowheads="1"/>
          </p:cNvSpPr>
          <p:nvPr/>
        </p:nvSpPr>
        <p:spPr bwMode="auto">
          <a:xfrm>
            <a:off x="6505977" y="5323282"/>
            <a:ext cx="3557660" cy="13988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44000" tIns="144000" rIns="144000" bIns="144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Campo eléctrico</a:t>
            </a:r>
            <a:r>
              <a:rPr lang="es-ES" sz="2400">
                <a:latin typeface="Arial" panose="020B0604020202020204" pitchFamily="34" charset="0"/>
              </a:rPr>
              <a:t> creado por la carga puntual Q en el punto P</a:t>
            </a:r>
          </a:p>
        </p:txBody>
      </p:sp>
      <p:sp>
        <p:nvSpPr>
          <p:cNvPr id="2104" name="Text Box 250"/>
          <p:cNvSpPr txBox="1">
            <a:spLocks noChangeArrowheads="1"/>
          </p:cNvSpPr>
          <p:nvPr/>
        </p:nvSpPr>
        <p:spPr bwMode="auto">
          <a:xfrm>
            <a:off x="4648616" y="1726942"/>
            <a:ext cx="1314036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en un punto P</a:t>
            </a:r>
          </a:p>
        </p:txBody>
      </p:sp>
      <p:sp>
        <p:nvSpPr>
          <p:cNvPr id="17430" name="Text Box 268"/>
          <p:cNvSpPr txBox="1">
            <a:spLocks noChangeArrowheads="1"/>
          </p:cNvSpPr>
          <p:nvPr/>
        </p:nvSpPr>
        <p:spPr bwMode="auto">
          <a:xfrm>
            <a:off x="6489907" y="1157596"/>
            <a:ext cx="3589801" cy="5147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 ejercida por Q sobre q</a:t>
            </a:r>
          </a:p>
        </p:txBody>
      </p:sp>
      <p:graphicFrame>
        <p:nvGraphicFramePr>
          <p:cNvPr id="2" name="Object 179"/>
          <p:cNvGraphicFramePr>
            <a:graphicFrameLocks noChangeAspect="1"/>
          </p:cNvGraphicFramePr>
          <p:nvPr/>
        </p:nvGraphicFramePr>
        <p:xfrm>
          <a:off x="8699274" y="3936928"/>
          <a:ext cx="1325562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9" imgW="545760" imgH="266400" progId="Equation.3">
                  <p:embed/>
                </p:oleObj>
              </mc:Choice>
              <mc:Fallback>
                <p:oleObj name="Ecuación" r:id="rId19" imgW="545760" imgH="266400" progId="Equation.3">
                  <p:embed/>
                  <p:pic>
                    <p:nvPicPr>
                      <p:cNvPr id="2" name="Object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274" y="3936928"/>
                        <a:ext cx="1325562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79"/>
          <p:cNvGraphicFramePr>
            <a:graphicFrameLocks noChangeAspect="1"/>
          </p:cNvGraphicFramePr>
          <p:nvPr/>
        </p:nvGraphicFramePr>
        <p:xfrm>
          <a:off x="6326351" y="3704073"/>
          <a:ext cx="888841" cy="1136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1" imgW="368280" imgH="469800" progId="Equation.3">
                  <p:embed/>
                </p:oleObj>
              </mc:Choice>
              <mc:Fallback>
                <p:oleObj name="Ecuación" r:id="rId21" imgW="368280" imgH="469800" progId="Equation.3">
                  <p:embed/>
                  <p:pic>
                    <p:nvPicPr>
                      <p:cNvPr id="57" name="Object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6351" y="3704073"/>
                        <a:ext cx="888841" cy="11368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 109"/>
          <p:cNvSpPr>
            <a:spLocks noChangeArrowheads="1"/>
          </p:cNvSpPr>
          <p:nvPr/>
        </p:nvSpPr>
        <p:spPr bwMode="auto">
          <a:xfrm>
            <a:off x="1264444" y="490539"/>
            <a:ext cx="67833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1.3.1. CAMPO ELÉCTRICO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D4E0DC7-E29A-4ED6-B271-F3E229D7BB7B}"/>
              </a:ext>
            </a:extLst>
          </p:cNvPr>
          <p:cNvSpPr/>
          <p:nvPr/>
        </p:nvSpPr>
        <p:spPr bwMode="auto">
          <a:xfrm>
            <a:off x="7679377" y="3704073"/>
            <a:ext cx="2395146" cy="1120160"/>
          </a:xfrm>
          <a:prstGeom prst="rect">
            <a:avLst/>
          </a:pr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61" grpId="0" animBg="1"/>
      <p:bldP spid="17459" grpId="0" animBg="1"/>
      <p:bldP spid="6371" grpId="0" animBg="1"/>
      <p:bldP spid="2104" grpId="0"/>
      <p:bldP spid="17430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227">
            <a:extLst>
              <a:ext uri="{FF2B5EF4-FFF2-40B4-BE49-F238E27FC236}">
                <a16:creationId xmlns:a16="http://schemas.microsoft.com/office/drawing/2014/main" id="{3AC9E7DE-2F35-47E3-8EFF-DFC3295CE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0690" y="415104"/>
            <a:ext cx="4117839" cy="13988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44000" tIns="144000" rIns="144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Campo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eléctrico</a:t>
            </a:r>
            <a:r>
              <a:rPr lang="es-ES" sz="2400">
                <a:latin typeface="Arial" panose="020B0604020202020204" pitchFamily="34" charset="0"/>
              </a:rPr>
              <a:t> creado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por </a:t>
            </a:r>
            <a:r>
              <a:rPr lang="es-ES" sz="2400" dirty="0">
                <a:latin typeface="Arial" panose="020B0604020202020204" pitchFamily="34" charset="0"/>
              </a:rPr>
              <a:t>la carga </a:t>
            </a:r>
            <a:r>
              <a:rPr lang="es-ES" sz="2400">
                <a:latin typeface="Arial" panose="020B0604020202020204" pitchFamily="34" charset="0"/>
              </a:rPr>
              <a:t>puntual Q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en </a:t>
            </a:r>
            <a:r>
              <a:rPr lang="es-ES" sz="2400" dirty="0">
                <a:latin typeface="Arial" panose="020B0604020202020204" pitchFamily="34" charset="0"/>
              </a:rPr>
              <a:t>el punto P</a:t>
            </a:r>
          </a:p>
        </p:txBody>
      </p:sp>
      <p:sp>
        <p:nvSpPr>
          <p:cNvPr id="21" name="Text Box 232">
            <a:extLst>
              <a:ext uri="{FF2B5EF4-FFF2-40B4-BE49-F238E27FC236}">
                <a16:creationId xmlns:a16="http://schemas.microsoft.com/office/drawing/2014/main" id="{AC023611-187C-4100-B2AE-E58501861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0690" y="3619487"/>
            <a:ext cx="4117839" cy="88407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 es la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fuerza por unidad de carga </a:t>
            </a:r>
            <a:r>
              <a:rPr lang="es-ES" sz="2400">
                <a:latin typeface="Arial" panose="020B0604020202020204" pitchFamily="34" charset="0"/>
              </a:rPr>
              <a:t>que ejerce Q en P</a:t>
            </a:r>
          </a:p>
        </p:txBody>
      </p:sp>
      <p:sp>
        <p:nvSpPr>
          <p:cNvPr id="22" name="Text Box 226">
            <a:extLst>
              <a:ext uri="{FF2B5EF4-FFF2-40B4-BE49-F238E27FC236}">
                <a16:creationId xmlns:a16="http://schemas.microsoft.com/office/drawing/2014/main" id="{FCE912ED-05F6-4F3E-8640-06CDE3AD7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8166" y="6022451"/>
            <a:ext cx="1158875" cy="463550"/>
          </a:xfrm>
          <a:prstGeom prst="rect">
            <a:avLst/>
          </a:prstGeom>
          <a:solidFill>
            <a:srgbClr val="CC33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Unidad</a:t>
            </a:r>
          </a:p>
        </p:txBody>
      </p:sp>
      <p:grpSp>
        <p:nvGrpSpPr>
          <p:cNvPr id="23" name="Group 93">
            <a:extLst>
              <a:ext uri="{FF2B5EF4-FFF2-40B4-BE49-F238E27FC236}">
                <a16:creationId xmlns:a16="http://schemas.microsoft.com/office/drawing/2014/main" id="{A9076F1D-D860-4E3A-BA4F-E1ADC77549DA}"/>
              </a:ext>
            </a:extLst>
          </p:cNvPr>
          <p:cNvGrpSpPr>
            <a:grpSpLocks/>
          </p:cNvGrpSpPr>
          <p:nvPr/>
        </p:nvGrpSpPr>
        <p:grpSpPr bwMode="auto">
          <a:xfrm>
            <a:off x="9106465" y="5770654"/>
            <a:ext cx="544513" cy="914401"/>
            <a:chOff x="6248" y="3390"/>
            <a:chExt cx="343" cy="576"/>
          </a:xfrm>
        </p:grpSpPr>
        <p:sp>
          <p:nvSpPr>
            <p:cNvPr id="24" name="Rectangle 92">
              <a:extLst>
                <a:ext uri="{FF2B5EF4-FFF2-40B4-BE49-F238E27FC236}">
                  <a16:creationId xmlns:a16="http://schemas.microsoft.com/office/drawing/2014/main" id="{FC7BA585-5655-4069-835B-5307E6D8D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" y="3390"/>
              <a:ext cx="343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26" name="Object 189">
              <a:extLst>
                <a:ext uri="{FF2B5EF4-FFF2-40B4-BE49-F238E27FC236}">
                  <a16:creationId xmlns:a16="http://schemas.microsoft.com/office/drawing/2014/main" id="{B9723106-22F8-42A2-A9F9-F1475650C2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86" y="3442"/>
            <a:ext cx="253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203040" imgH="393480" progId="Equation.3">
                    <p:embed/>
                  </p:oleObj>
                </mc:Choice>
                <mc:Fallback>
                  <p:oleObj name="Ecuación" r:id="rId3" imgW="203040" imgH="393480" progId="Equation.3">
                    <p:embed/>
                    <p:pic>
                      <p:nvPicPr>
                        <p:cNvPr id="26" name="Object 189">
                          <a:extLst>
                            <a:ext uri="{FF2B5EF4-FFF2-40B4-BE49-F238E27FC236}">
                              <a16:creationId xmlns:a16="http://schemas.microsoft.com/office/drawing/2014/main" id="{B9723106-22F8-42A2-A9F9-F1475650C2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6" y="3442"/>
                          <a:ext cx="253" cy="4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CuadroTexto 3">
            <a:extLst>
              <a:ext uri="{FF2B5EF4-FFF2-40B4-BE49-F238E27FC236}">
                <a16:creationId xmlns:a16="http://schemas.microsoft.com/office/drawing/2014/main" id="{5823039E-56AB-4925-B796-1A2E09791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595" y="4675616"/>
            <a:ext cx="464101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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Se ejercen 2 newtons</a:t>
            </a:r>
          </a:p>
          <a:p>
            <a:pPr algn="r"/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                    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por cada culombio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30" name="Flecha derecha 5">
            <a:extLst>
              <a:ext uri="{FF2B5EF4-FFF2-40B4-BE49-F238E27FC236}">
                <a16:creationId xmlns:a16="http://schemas.microsoft.com/office/drawing/2014/main" id="{08C3EED5-0D6F-413D-97F5-CC925D5B4F27}"/>
              </a:ext>
            </a:extLst>
          </p:cNvPr>
          <p:cNvSpPr/>
          <p:nvPr/>
        </p:nvSpPr>
        <p:spPr bwMode="auto">
          <a:xfrm>
            <a:off x="8496976" y="6016861"/>
            <a:ext cx="386218" cy="463550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" name="Text Box 85">
            <a:extLst>
              <a:ext uri="{FF2B5EF4-FFF2-40B4-BE49-F238E27FC236}">
                <a16:creationId xmlns:a16="http://schemas.microsoft.com/office/drawing/2014/main" id="{E939F39F-C793-39C2-41BE-724D9645B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0690" y="2594874"/>
            <a:ext cx="4117839" cy="463846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/>
              <a:t>¿Qué es el campo eléctrico?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805A4267-A24C-574B-DFFF-3A0A89982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3333" y="3840802"/>
            <a:ext cx="464101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s-ES" sz="2400" dirty="0">
                <a:solidFill>
                  <a:srgbClr val="FF0000"/>
                </a:solidFill>
              </a:rPr>
              <a:t>     Ej</a:t>
            </a:r>
            <a:r>
              <a:rPr lang="es-ES" sz="2400">
                <a:solidFill>
                  <a:srgbClr val="FF0000"/>
                </a:solidFill>
              </a:rPr>
              <a:t>.: Si se ejercen 10 newtons</a:t>
            </a:r>
          </a:p>
          <a:p>
            <a:pPr algn="r"/>
            <a:r>
              <a:rPr lang="es-ES" sz="2400">
                <a:solidFill>
                  <a:srgbClr val="FF0000"/>
                </a:solidFill>
              </a:rPr>
              <a:t>                      </a:t>
            </a:r>
            <a:r>
              <a:rPr lang="es-ES" sz="2400" dirty="0">
                <a:solidFill>
                  <a:srgbClr val="FF0000"/>
                </a:solidFill>
              </a:rPr>
              <a:t>sobre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5 culombios</a:t>
            </a:r>
          </a:p>
          <a:p>
            <a:pPr algn="r"/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           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2709B46-4AE8-C1C0-7405-A13D068DE455}"/>
              </a:ext>
            </a:extLst>
          </p:cNvPr>
          <p:cNvSpPr/>
          <p:nvPr/>
        </p:nvSpPr>
        <p:spPr bwMode="auto">
          <a:xfrm>
            <a:off x="6044113" y="397038"/>
            <a:ext cx="4128838" cy="141006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aphicFrame>
        <p:nvGraphicFramePr>
          <p:cNvPr id="7" name="Object 179">
            <a:extLst>
              <a:ext uri="{FF2B5EF4-FFF2-40B4-BE49-F238E27FC236}">
                <a16:creationId xmlns:a16="http://schemas.microsoft.com/office/drawing/2014/main" id="{3C2D9901-0DED-5D09-EB2F-E4AEEFC452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95904" y="587430"/>
          <a:ext cx="185896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723600" imgH="393480" progId="Equation.3">
                  <p:embed/>
                </p:oleObj>
              </mc:Choice>
              <mc:Fallback>
                <p:oleObj name="Ecuación" r:id="rId5" imgW="723600" imgH="393480" progId="Equation.3">
                  <p:embed/>
                  <p:pic>
                    <p:nvPicPr>
                      <p:cNvPr id="7" name="Object 179">
                        <a:extLst>
                          <a:ext uri="{FF2B5EF4-FFF2-40B4-BE49-F238E27FC236}">
                            <a16:creationId xmlns:a16="http://schemas.microsoft.com/office/drawing/2014/main" id="{3C2D9901-0DED-5D09-EB2F-E4AEEFC452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5904" y="587430"/>
                        <a:ext cx="185896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9">
            <a:extLst>
              <a:ext uri="{FF2B5EF4-FFF2-40B4-BE49-F238E27FC236}">
                <a16:creationId xmlns:a16="http://schemas.microsoft.com/office/drawing/2014/main" id="{4B0931F0-86B5-F8F3-619C-635F9E7C30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9746" y="518087"/>
          <a:ext cx="888841" cy="1136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368280" imgH="469800" progId="Equation.3">
                  <p:embed/>
                </p:oleObj>
              </mc:Choice>
              <mc:Fallback>
                <p:oleObj name="Ecuación" r:id="rId7" imgW="368280" imgH="469800" progId="Equation.3">
                  <p:embed/>
                  <p:pic>
                    <p:nvPicPr>
                      <p:cNvPr id="8" name="Object 179">
                        <a:extLst>
                          <a:ext uri="{FF2B5EF4-FFF2-40B4-BE49-F238E27FC236}">
                            <a16:creationId xmlns:a16="http://schemas.microsoft.com/office/drawing/2014/main" id="{4B0931F0-86B5-F8F3-619C-635F9E7C30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9746" y="518087"/>
                        <a:ext cx="888841" cy="11368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6E38F0C2-4C03-E761-629C-E828A1F4FC39}"/>
                  </a:ext>
                </a:extLst>
              </p:cNvPr>
              <p:cNvSpPr/>
              <p:nvPr/>
            </p:nvSpPr>
            <p:spPr>
              <a:xfrm>
                <a:off x="6217626" y="783976"/>
                <a:ext cx="1179960" cy="618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s-E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𝑄𝑞</m:t>
                          </m:r>
                        </m:sub>
                      </m:sSub>
                      <m:r>
                        <a:rPr lang="es-E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6E38F0C2-4C03-E761-629C-E828A1F4FC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626" y="783976"/>
                <a:ext cx="1179960" cy="618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3">
            <a:extLst>
              <a:ext uri="{FF2B5EF4-FFF2-40B4-BE49-F238E27FC236}">
                <a16:creationId xmlns:a16="http://schemas.microsoft.com/office/drawing/2014/main" id="{75E5CEA1-19BA-0F3C-DE6E-25DE263D6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180" y="4513518"/>
            <a:ext cx="38244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(la fuerza por cada culombio positivo)</a:t>
            </a:r>
            <a:endParaRPr lang="es-E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43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8" grpId="0"/>
      <p:bldP spid="30" grpId="0" animBg="1"/>
      <p:bldP spid="4" grpId="0" animBg="1"/>
      <p:bldP spid="6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236">
            <a:extLst>
              <a:ext uri="{FF2B5EF4-FFF2-40B4-BE49-F238E27FC236}">
                <a16:creationId xmlns:a16="http://schemas.microsoft.com/office/drawing/2014/main" id="{407B0F78-954C-46C8-B861-9C578C630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9695" y="2354200"/>
            <a:ext cx="4128839" cy="5147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es una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magnitud vectorial</a:t>
            </a:r>
            <a:endParaRPr lang="es-ES" sz="2400" b="1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 Box 227">
            <a:extLst>
              <a:ext uri="{FF2B5EF4-FFF2-40B4-BE49-F238E27FC236}">
                <a16:creationId xmlns:a16="http://schemas.microsoft.com/office/drawing/2014/main" id="{3AC9E7DE-2F35-47E3-8EFF-DFC3295CE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0690" y="415104"/>
            <a:ext cx="4117839" cy="13988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44000" tIns="144000" rIns="144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Campo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eléctrico</a:t>
            </a:r>
            <a:r>
              <a:rPr lang="es-ES" sz="2400">
                <a:latin typeface="Arial" panose="020B0604020202020204" pitchFamily="34" charset="0"/>
              </a:rPr>
              <a:t> creado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por </a:t>
            </a:r>
            <a:r>
              <a:rPr lang="es-ES" sz="2400" dirty="0">
                <a:latin typeface="Arial" panose="020B0604020202020204" pitchFamily="34" charset="0"/>
              </a:rPr>
              <a:t>la carga </a:t>
            </a:r>
            <a:r>
              <a:rPr lang="es-ES" sz="2400">
                <a:latin typeface="Arial" panose="020B0604020202020204" pitchFamily="34" charset="0"/>
              </a:rPr>
              <a:t>puntual Q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en </a:t>
            </a:r>
            <a:r>
              <a:rPr lang="es-ES" sz="2400" dirty="0">
                <a:latin typeface="Arial" panose="020B0604020202020204" pitchFamily="34" charset="0"/>
              </a:rPr>
              <a:t>el punto P</a:t>
            </a:r>
          </a:p>
        </p:txBody>
      </p:sp>
      <p:sp>
        <p:nvSpPr>
          <p:cNvPr id="58" name="CuadroTexto 3">
            <a:extLst>
              <a:ext uri="{FF2B5EF4-FFF2-40B4-BE49-F238E27FC236}">
                <a16:creationId xmlns:a16="http://schemas.microsoft.com/office/drawing/2014/main" id="{28749F1E-B352-46D2-ADBD-EB879D023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55" y="2810136"/>
            <a:ext cx="36877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FF0000"/>
                </a:solidFill>
              </a:rPr>
              <a:t>número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 vector = vector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52" name="Text Box 236">
            <a:extLst>
              <a:ext uri="{FF2B5EF4-FFF2-40B4-BE49-F238E27FC236}">
                <a16:creationId xmlns:a16="http://schemas.microsoft.com/office/drawing/2014/main" id="{E24066EC-03C2-4621-8D96-3E98C3F4D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143" y="2343416"/>
            <a:ext cx="3057197" cy="514738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anchor="ctr" anchorCtr="1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q</a:t>
            </a:r>
            <a:r>
              <a:rPr lang="es-ES" sz="2400" baseline="30000" dirty="0">
                <a:latin typeface="Arial" panose="020B0604020202020204" pitchFamily="34" charset="0"/>
              </a:rPr>
              <a:t>-1</a:t>
            </a:r>
            <a:r>
              <a:rPr lang="es-ES" sz="2400" dirty="0">
                <a:latin typeface="Arial" panose="020B0604020202020204" pitchFamily="34" charset="0"/>
              </a:rPr>
              <a:t>  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     </a:t>
            </a:r>
            <a:r>
              <a:rPr lang="es-ES" sz="2400" b="1" dirty="0">
                <a:latin typeface="Arial" panose="020B0604020202020204" pitchFamily="34" charset="0"/>
              </a:rPr>
              <a:t>F </a:t>
            </a:r>
            <a:r>
              <a:rPr lang="es-ES" sz="2400" dirty="0">
                <a:latin typeface="Arial" panose="020B0604020202020204" pitchFamily="34" charset="0"/>
              </a:rPr>
              <a:t>    =   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511B3099-9C75-4478-B53F-4D6475EF5566}"/>
              </a:ext>
            </a:extLst>
          </p:cNvPr>
          <p:cNvSpPr/>
          <p:nvPr/>
        </p:nvSpPr>
        <p:spPr bwMode="auto">
          <a:xfrm>
            <a:off x="6044113" y="397038"/>
            <a:ext cx="4128838" cy="141006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aphicFrame>
        <p:nvGraphicFramePr>
          <p:cNvPr id="59" name="Object 179">
            <a:extLst>
              <a:ext uri="{FF2B5EF4-FFF2-40B4-BE49-F238E27FC236}">
                <a16:creationId xmlns:a16="http://schemas.microsoft.com/office/drawing/2014/main" id="{3DD00F39-C6AC-4152-96A3-EB6E688380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95904" y="587430"/>
          <a:ext cx="185896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23600" imgH="393480" progId="Equation.3">
                  <p:embed/>
                </p:oleObj>
              </mc:Choice>
              <mc:Fallback>
                <p:oleObj name="Ecuación" r:id="rId3" imgW="723600" imgH="393480" progId="Equation.3">
                  <p:embed/>
                  <p:pic>
                    <p:nvPicPr>
                      <p:cNvPr id="59" name="Object 179">
                        <a:extLst>
                          <a:ext uri="{FF2B5EF4-FFF2-40B4-BE49-F238E27FC236}">
                            <a16:creationId xmlns:a16="http://schemas.microsoft.com/office/drawing/2014/main" id="{3DD00F39-C6AC-4152-96A3-EB6E688380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5904" y="587430"/>
                        <a:ext cx="185896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79">
            <a:extLst>
              <a:ext uri="{FF2B5EF4-FFF2-40B4-BE49-F238E27FC236}">
                <a16:creationId xmlns:a16="http://schemas.microsoft.com/office/drawing/2014/main" id="{50A7A597-DBEB-417B-B443-A2235627AA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9746" y="518087"/>
          <a:ext cx="888841" cy="1136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368280" imgH="469800" progId="Equation.3">
                  <p:embed/>
                </p:oleObj>
              </mc:Choice>
              <mc:Fallback>
                <p:oleObj name="Ecuación" r:id="rId5" imgW="368280" imgH="469800" progId="Equation.3">
                  <p:embed/>
                  <p:pic>
                    <p:nvPicPr>
                      <p:cNvPr id="60" name="Object 179">
                        <a:extLst>
                          <a:ext uri="{FF2B5EF4-FFF2-40B4-BE49-F238E27FC236}">
                            <a16:creationId xmlns:a16="http://schemas.microsoft.com/office/drawing/2014/main" id="{50A7A597-DBEB-417B-B443-A2235627AA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9746" y="518087"/>
                        <a:ext cx="888841" cy="11368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ángulo 60">
                <a:extLst>
                  <a:ext uri="{FF2B5EF4-FFF2-40B4-BE49-F238E27FC236}">
                    <a16:creationId xmlns:a16="http://schemas.microsoft.com/office/drawing/2014/main" id="{18965A48-61F6-4A5F-872D-67325CC4E2F5}"/>
                  </a:ext>
                </a:extLst>
              </p:cNvPr>
              <p:cNvSpPr/>
              <p:nvPr/>
            </p:nvSpPr>
            <p:spPr>
              <a:xfrm>
                <a:off x="6217626" y="783976"/>
                <a:ext cx="1179960" cy="618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E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s-E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𝑄𝑞</m:t>
                          </m:r>
                        </m:sub>
                      </m:sSub>
                      <m:r>
                        <a:rPr lang="es-E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ángulo 60">
                <a:extLst>
                  <a:ext uri="{FF2B5EF4-FFF2-40B4-BE49-F238E27FC236}">
                    <a16:creationId xmlns:a16="http://schemas.microsoft.com/office/drawing/2014/main" id="{18965A48-61F6-4A5F-872D-67325CC4E2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626" y="783976"/>
                <a:ext cx="1179960" cy="6186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 Box 236">
            <a:extLst>
              <a:ext uri="{FF2B5EF4-FFF2-40B4-BE49-F238E27FC236}">
                <a16:creationId xmlns:a16="http://schemas.microsoft.com/office/drawing/2014/main" id="{3F43F100-CCFA-4F0E-A8C5-332B192F2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9695" y="3964335"/>
            <a:ext cx="4128835" cy="88407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está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aplicado en P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como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s-ES" sz="2400">
                <a:latin typeface="Arial" panose="020B0604020202020204" pitchFamily="34" charset="0"/>
              </a:rPr>
              <a:t> al ser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 un número por 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endParaRPr lang="es-ES" sz="2400" baseline="-25000">
              <a:latin typeface="Arial" panose="020B0604020202020204" pitchFamily="34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B0AB000-E157-4EBF-AF71-51ADEE8C52EA}"/>
              </a:ext>
            </a:extLst>
          </p:cNvPr>
          <p:cNvSpPr txBox="1"/>
          <p:nvPr/>
        </p:nvSpPr>
        <p:spPr>
          <a:xfrm>
            <a:off x="5965784" y="4780831"/>
            <a:ext cx="4420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>
                <a:solidFill>
                  <a:srgbClr val="FF0000"/>
                </a:solidFill>
              </a:rPr>
              <a:t>Por eso en vez de q </a:t>
            </a:r>
            <a:r>
              <a:rPr lang="es-ES" sz="2400" dirty="0">
                <a:solidFill>
                  <a:srgbClr val="FF0000"/>
                </a:solidFill>
              </a:rPr>
              <a:t>se </a:t>
            </a:r>
            <a:r>
              <a:rPr lang="es-ES" sz="2400">
                <a:solidFill>
                  <a:srgbClr val="FF0000"/>
                </a:solidFill>
              </a:rPr>
              <a:t>pone P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1F044229-6785-4875-8C94-A13571F5F51C}"/>
              </a:ext>
            </a:extLst>
          </p:cNvPr>
          <p:cNvSpPr txBox="1"/>
          <p:nvPr/>
        </p:nvSpPr>
        <p:spPr>
          <a:xfrm>
            <a:off x="6013166" y="3959091"/>
            <a:ext cx="4319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Lo está, a diferencia de </a:t>
            </a:r>
            <a:r>
              <a:rPr lang="es-ES" sz="2400" b="1" dirty="0">
                <a:solidFill>
                  <a:schemeClr val="tx1"/>
                </a:solidFill>
              </a:rPr>
              <a:t>F</a:t>
            </a:r>
            <a:r>
              <a:rPr lang="es-ES" sz="2400" dirty="0">
                <a:solidFill>
                  <a:schemeClr val="tx1"/>
                </a:solidFill>
              </a:rPr>
              <a:t>, con q o sin q, al no estar q en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65" name="Text Box 266">
            <a:extLst>
              <a:ext uri="{FF2B5EF4-FFF2-40B4-BE49-F238E27FC236}">
                <a16:creationId xmlns:a16="http://schemas.microsoft.com/office/drawing/2014/main" id="{0871C9AC-FC59-46EE-873A-78185B2BA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8913" y="5759464"/>
            <a:ext cx="8043430" cy="90588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</a:rPr>
              <a:t>Al ser </a:t>
            </a: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 un número por 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, tiene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la misma dirección que </a:t>
            </a: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, la de la recta que pasa por Q y P, la dirección de </a:t>
            </a:r>
            <a:r>
              <a:rPr lang="es-ES" sz="2400" b="1">
                <a:latin typeface="Arial" panose="020B0604020202020204" pitchFamily="34" charset="0"/>
              </a:rPr>
              <a:t>u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E6530C6F-017B-4847-AFAE-47F7DCA7CEDF}"/>
              </a:ext>
            </a:extLst>
          </p:cNvPr>
          <p:cNvGrpSpPr/>
          <p:nvPr/>
        </p:nvGrpSpPr>
        <p:grpSpPr>
          <a:xfrm>
            <a:off x="9656856" y="836083"/>
            <a:ext cx="631508" cy="644471"/>
            <a:chOff x="9823115" y="2536185"/>
            <a:chExt cx="631508" cy="644471"/>
          </a:xfrm>
        </p:grpSpPr>
        <p:cxnSp>
          <p:nvCxnSpPr>
            <p:cNvPr id="67" name="Conector recto de flecha 66">
              <a:extLst>
                <a:ext uri="{FF2B5EF4-FFF2-40B4-BE49-F238E27FC236}">
                  <a16:creationId xmlns:a16="http://schemas.microsoft.com/office/drawing/2014/main" id="{91536C67-25A5-4400-809A-CD630C35A9C1}"/>
                </a:ext>
              </a:extLst>
            </p:cNvPr>
            <p:cNvCxnSpPr/>
            <p:nvPr/>
          </p:nvCxnSpPr>
          <p:spPr bwMode="auto">
            <a:xfrm flipV="1">
              <a:off x="9823115" y="2826282"/>
              <a:ext cx="298010" cy="354374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2CFEECE5-6556-4BA0-B0AA-69924373149B}"/>
                </a:ext>
              </a:extLst>
            </p:cNvPr>
            <p:cNvSpPr txBox="1"/>
            <p:nvPr/>
          </p:nvSpPr>
          <p:spPr>
            <a:xfrm>
              <a:off x="10039927" y="2536185"/>
              <a:ext cx="414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0000"/>
                  </a:solidFill>
                </a:rPr>
                <a:t>P</a:t>
              </a:r>
              <a:endParaRPr lang="en-GB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28D208DF-8B61-4A75-8504-750C0C0E7ECA}"/>
              </a:ext>
            </a:extLst>
          </p:cNvPr>
          <p:cNvGrpSpPr/>
          <p:nvPr/>
        </p:nvGrpSpPr>
        <p:grpSpPr>
          <a:xfrm>
            <a:off x="6669437" y="766458"/>
            <a:ext cx="631508" cy="644471"/>
            <a:chOff x="9823115" y="2536185"/>
            <a:chExt cx="631508" cy="644471"/>
          </a:xfrm>
        </p:grpSpPr>
        <p:cxnSp>
          <p:nvCxnSpPr>
            <p:cNvPr id="70" name="Conector recto de flecha 69">
              <a:extLst>
                <a:ext uri="{FF2B5EF4-FFF2-40B4-BE49-F238E27FC236}">
                  <a16:creationId xmlns:a16="http://schemas.microsoft.com/office/drawing/2014/main" id="{9CBA86B6-BD2B-4877-9571-DD8BDB439794}"/>
                </a:ext>
              </a:extLst>
            </p:cNvPr>
            <p:cNvCxnSpPr/>
            <p:nvPr/>
          </p:nvCxnSpPr>
          <p:spPr bwMode="auto">
            <a:xfrm flipV="1">
              <a:off x="9823115" y="2826282"/>
              <a:ext cx="298010" cy="354374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8A540798-6DBA-48B2-94A0-313D785F0858}"/>
                </a:ext>
              </a:extLst>
            </p:cNvPr>
            <p:cNvSpPr txBox="1"/>
            <p:nvPr/>
          </p:nvSpPr>
          <p:spPr>
            <a:xfrm>
              <a:off x="10039927" y="2536185"/>
              <a:ext cx="414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0000"/>
                  </a:solidFill>
                </a:rPr>
                <a:t>P</a:t>
              </a:r>
              <a:endParaRPr lang="en-GB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229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8" grpId="0"/>
      <p:bldP spid="52" grpId="0"/>
      <p:bldP spid="62" grpId="0" animBg="1"/>
      <p:bldP spid="63" grpId="0"/>
      <p:bldP spid="64" grpId="0"/>
      <p:bldP spid="6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156"/>
          <p:cNvSpPr>
            <a:spLocks noChangeShapeType="1"/>
          </p:cNvSpPr>
          <p:nvPr/>
        </p:nvSpPr>
        <p:spPr bwMode="auto">
          <a:xfrm>
            <a:off x="1919760" y="3415048"/>
            <a:ext cx="4318000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59" name="Line 217"/>
          <p:cNvSpPr>
            <a:spLocks noChangeShapeType="1"/>
          </p:cNvSpPr>
          <p:nvPr/>
        </p:nvSpPr>
        <p:spPr bwMode="auto">
          <a:xfrm flipH="1">
            <a:off x="2794473" y="2340236"/>
            <a:ext cx="11112" cy="431800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60" name="Line 218"/>
          <p:cNvSpPr>
            <a:spLocks noChangeShapeType="1"/>
          </p:cNvSpPr>
          <p:nvPr/>
        </p:nvSpPr>
        <p:spPr bwMode="auto">
          <a:xfrm flipH="1">
            <a:off x="5755848" y="2314836"/>
            <a:ext cx="0" cy="431800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62" name="Line 155"/>
          <p:cNvSpPr>
            <a:spLocks noChangeShapeType="1"/>
          </p:cNvSpPr>
          <p:nvPr/>
        </p:nvSpPr>
        <p:spPr bwMode="auto">
          <a:xfrm>
            <a:off x="1919760" y="6483817"/>
            <a:ext cx="4318000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63" name="Line 157"/>
          <p:cNvSpPr>
            <a:spLocks noChangeShapeType="1"/>
          </p:cNvSpPr>
          <p:nvPr/>
        </p:nvSpPr>
        <p:spPr bwMode="auto">
          <a:xfrm>
            <a:off x="1919760" y="4625684"/>
            <a:ext cx="4318000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pic>
        <p:nvPicPr>
          <p:cNvPr id="19464" name="Picture 15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923" y="4381209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5" name="Picture 1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423" y="4384384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6" name="Picture 1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923" y="3175336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7" name="Picture 16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160" y="6256804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8" name="Picture 16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423" y="6253629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9" name="Picture 1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186" y="3194386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0" name="Line 173"/>
          <p:cNvSpPr>
            <a:spLocks noChangeShapeType="1"/>
          </p:cNvSpPr>
          <p:nvPr/>
        </p:nvSpPr>
        <p:spPr bwMode="auto">
          <a:xfrm>
            <a:off x="1919760" y="2379857"/>
            <a:ext cx="4318000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71" name="Line 174"/>
          <p:cNvSpPr>
            <a:spLocks noChangeShapeType="1"/>
          </p:cNvSpPr>
          <p:nvPr/>
        </p:nvSpPr>
        <p:spPr bwMode="auto">
          <a:xfrm>
            <a:off x="5965792" y="2379857"/>
            <a:ext cx="719137" cy="0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/>
          </a:p>
        </p:txBody>
      </p:sp>
      <p:graphicFrame>
        <p:nvGraphicFramePr>
          <p:cNvPr id="19472" name="Object 176"/>
          <p:cNvGraphicFramePr>
            <a:graphicFrameLocks noChangeAspect="1"/>
          </p:cNvGraphicFramePr>
          <p:nvPr/>
        </p:nvGraphicFramePr>
        <p:xfrm>
          <a:off x="6286437" y="1687687"/>
          <a:ext cx="637624" cy="63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241200" imgH="241200" progId="Equation.3">
                  <p:embed/>
                </p:oleObj>
              </mc:Choice>
              <mc:Fallback>
                <p:oleObj name="Ecuación" r:id="rId5" imgW="241200" imgH="241200" progId="Equation.3">
                  <p:embed/>
                  <p:pic>
                    <p:nvPicPr>
                      <p:cNvPr id="19472" name="Object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437" y="1687687"/>
                        <a:ext cx="637624" cy="63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Line 196"/>
          <p:cNvSpPr>
            <a:spLocks noChangeShapeType="1"/>
          </p:cNvSpPr>
          <p:nvPr/>
        </p:nvSpPr>
        <p:spPr bwMode="auto">
          <a:xfrm>
            <a:off x="1919760" y="5327983"/>
            <a:ext cx="4318000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pic>
        <p:nvPicPr>
          <p:cNvPr id="19474" name="Picture 19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160" y="5100970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5" name="Picture 2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486" y="5091445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80" name="Text Box 164"/>
          <p:cNvSpPr txBox="1">
            <a:spLocks noChangeArrowheads="1"/>
          </p:cNvSpPr>
          <p:nvPr/>
        </p:nvSpPr>
        <p:spPr bwMode="auto">
          <a:xfrm>
            <a:off x="2630960" y="2141525"/>
            <a:ext cx="420606" cy="463846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81" name="Text Box 165"/>
          <p:cNvSpPr txBox="1">
            <a:spLocks noChangeArrowheads="1"/>
          </p:cNvSpPr>
          <p:nvPr/>
        </p:nvSpPr>
        <p:spPr bwMode="auto">
          <a:xfrm>
            <a:off x="5598409" y="2154225"/>
            <a:ext cx="353280" cy="463846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82" name="Text Box 180"/>
          <p:cNvSpPr txBox="1">
            <a:spLocks noChangeArrowheads="1"/>
          </p:cNvSpPr>
          <p:nvPr/>
        </p:nvSpPr>
        <p:spPr bwMode="auto">
          <a:xfrm>
            <a:off x="4174323" y="2149520"/>
            <a:ext cx="372028" cy="463846"/>
          </a:xfrm>
          <a:prstGeom prst="rect">
            <a:avLst/>
          </a:prstGeom>
          <a:solidFill>
            <a:srgbClr val="EDE7E3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19483" name="Line 181"/>
          <p:cNvSpPr>
            <a:spLocks noChangeShapeType="1"/>
          </p:cNvSpPr>
          <p:nvPr/>
        </p:nvSpPr>
        <p:spPr bwMode="auto">
          <a:xfrm flipH="1">
            <a:off x="3030431" y="2381650"/>
            <a:ext cx="1168323" cy="2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84" name="Line 182"/>
          <p:cNvSpPr>
            <a:spLocks noChangeShapeType="1"/>
          </p:cNvSpPr>
          <p:nvPr/>
        </p:nvSpPr>
        <p:spPr bwMode="auto">
          <a:xfrm>
            <a:off x="4575663" y="2385243"/>
            <a:ext cx="104312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/>
          </a:p>
        </p:txBody>
      </p:sp>
      <p:grpSp>
        <p:nvGrpSpPr>
          <p:cNvPr id="2" name="Group 202"/>
          <p:cNvGrpSpPr>
            <a:grpSpLocks/>
          </p:cNvGrpSpPr>
          <p:nvPr/>
        </p:nvGrpSpPr>
        <p:grpSpPr bwMode="auto">
          <a:xfrm>
            <a:off x="5993450" y="3409158"/>
            <a:ext cx="539750" cy="1223968"/>
            <a:chOff x="3236" y="1661"/>
            <a:chExt cx="340" cy="771"/>
          </a:xfrm>
        </p:grpSpPr>
        <p:sp>
          <p:nvSpPr>
            <p:cNvPr id="19532" name="Line 185"/>
            <p:cNvSpPr>
              <a:spLocks noChangeShapeType="1"/>
            </p:cNvSpPr>
            <p:nvPr/>
          </p:nvSpPr>
          <p:spPr bwMode="auto">
            <a:xfrm>
              <a:off x="3236" y="2432"/>
              <a:ext cx="340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9533" name="Line 186"/>
            <p:cNvSpPr>
              <a:spLocks noChangeShapeType="1"/>
            </p:cNvSpPr>
            <p:nvPr/>
          </p:nvSpPr>
          <p:spPr bwMode="auto">
            <a:xfrm>
              <a:off x="3236" y="1661"/>
              <a:ext cx="340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4" name="Group 203"/>
          <p:cNvGrpSpPr>
            <a:grpSpLocks/>
          </p:cNvGrpSpPr>
          <p:nvPr/>
        </p:nvGrpSpPr>
        <p:grpSpPr bwMode="auto">
          <a:xfrm>
            <a:off x="4943048" y="5319974"/>
            <a:ext cx="549275" cy="1162050"/>
            <a:chOff x="2568" y="2871"/>
            <a:chExt cx="346" cy="732"/>
          </a:xfrm>
        </p:grpSpPr>
        <p:sp>
          <p:nvSpPr>
            <p:cNvPr id="19526" name="Line 187"/>
            <p:cNvSpPr>
              <a:spLocks noChangeShapeType="1"/>
            </p:cNvSpPr>
            <p:nvPr/>
          </p:nvSpPr>
          <p:spPr bwMode="auto">
            <a:xfrm flipH="1">
              <a:off x="2568" y="3603"/>
              <a:ext cx="340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9527" name="Line 199"/>
            <p:cNvSpPr>
              <a:spLocks noChangeShapeType="1"/>
            </p:cNvSpPr>
            <p:nvPr/>
          </p:nvSpPr>
          <p:spPr bwMode="auto">
            <a:xfrm flipH="1">
              <a:off x="2574" y="2871"/>
              <a:ext cx="340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graphicFrame>
        <p:nvGraphicFramePr>
          <p:cNvPr id="6372" name="Object 228"/>
          <p:cNvGraphicFramePr>
            <a:graphicFrameLocks noChangeAspect="1"/>
          </p:cNvGraphicFramePr>
          <p:nvPr/>
        </p:nvGraphicFramePr>
        <p:xfrm>
          <a:off x="6219056" y="3663932"/>
          <a:ext cx="661988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266400" imgH="266400" progId="Equation.3">
                  <p:embed/>
                </p:oleObj>
              </mc:Choice>
              <mc:Fallback>
                <p:oleObj name="Ecuación" r:id="rId7" imgW="266400" imgH="266400" progId="Equation.3">
                  <p:embed/>
                  <p:pic>
                    <p:nvPicPr>
                      <p:cNvPr id="6372" name="Object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9056" y="3663932"/>
                        <a:ext cx="661988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73" name="Object 229"/>
          <p:cNvGraphicFramePr>
            <a:graphicFrameLocks noChangeAspect="1"/>
          </p:cNvGraphicFramePr>
          <p:nvPr/>
        </p:nvGraphicFramePr>
        <p:xfrm>
          <a:off x="4595536" y="5566317"/>
          <a:ext cx="661987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266400" imgH="266400" progId="Equation.3">
                  <p:embed/>
                </p:oleObj>
              </mc:Choice>
              <mc:Fallback>
                <p:oleObj name="Ecuación" r:id="rId9" imgW="266400" imgH="266400" progId="Equation.3">
                  <p:embed/>
                  <p:pic>
                    <p:nvPicPr>
                      <p:cNvPr id="6373" name="Object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536" y="5566317"/>
                        <a:ext cx="661987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90" name="Text Box 246"/>
          <p:cNvSpPr txBox="1">
            <a:spLocks noChangeArrowheads="1"/>
          </p:cNvSpPr>
          <p:nvPr/>
        </p:nvSpPr>
        <p:spPr bwMode="auto">
          <a:xfrm>
            <a:off x="7568506" y="3903921"/>
            <a:ext cx="2420937" cy="83317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Apunta hacia fuera de Q</a:t>
            </a:r>
          </a:p>
        </p:txBody>
      </p:sp>
      <p:sp>
        <p:nvSpPr>
          <p:cNvPr id="6391" name="Text Box 247"/>
          <p:cNvSpPr txBox="1">
            <a:spLocks noChangeArrowheads="1"/>
          </p:cNvSpPr>
          <p:nvPr/>
        </p:nvSpPr>
        <p:spPr bwMode="auto">
          <a:xfrm>
            <a:off x="7568505" y="5914049"/>
            <a:ext cx="2420936" cy="463846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Apunta hacia Q</a:t>
            </a:r>
          </a:p>
        </p:txBody>
      </p:sp>
      <p:sp>
        <p:nvSpPr>
          <p:cNvPr id="19498" name="Text Box 250"/>
          <p:cNvSpPr txBox="1">
            <a:spLocks noChangeArrowheads="1"/>
          </p:cNvSpPr>
          <p:nvPr/>
        </p:nvSpPr>
        <p:spPr bwMode="auto">
          <a:xfrm>
            <a:off x="5592417" y="1679522"/>
            <a:ext cx="38990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9518" name="Text Box 79"/>
          <p:cNvSpPr txBox="1">
            <a:spLocks noChangeArrowheads="1"/>
          </p:cNvSpPr>
          <p:nvPr/>
        </p:nvSpPr>
        <p:spPr bwMode="auto">
          <a:xfrm>
            <a:off x="4502901" y="806342"/>
            <a:ext cx="889000" cy="463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K</a:t>
            </a:r>
            <a:r>
              <a:rPr lang="es-ES" sz="24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Symbol" panose="05050102010706020507" pitchFamily="18" charset="2"/>
              </a:rPr>
              <a:t> 0</a:t>
            </a:r>
          </a:p>
        </p:txBody>
      </p:sp>
      <p:sp>
        <p:nvSpPr>
          <p:cNvPr id="19519" name="Text Box 80"/>
          <p:cNvSpPr txBox="1">
            <a:spLocks noChangeArrowheads="1"/>
          </p:cNvSpPr>
          <p:nvPr/>
        </p:nvSpPr>
        <p:spPr bwMode="auto">
          <a:xfrm>
            <a:off x="5642488" y="800387"/>
            <a:ext cx="873125" cy="463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</a:rPr>
              <a:t>r</a:t>
            </a:r>
            <a:r>
              <a:rPr lang="es-ES" sz="240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Symbol" panose="05050102010706020507" pitchFamily="18" charset="2"/>
              </a:rPr>
              <a:t>&gt; 0</a:t>
            </a:r>
          </a:p>
        </p:txBody>
      </p:sp>
      <p:sp>
        <p:nvSpPr>
          <p:cNvPr id="19523" name="Text Box 85"/>
          <p:cNvSpPr txBox="1">
            <a:spLocks noChangeArrowheads="1"/>
          </p:cNvSpPr>
          <p:nvPr/>
        </p:nvSpPr>
        <p:spPr bwMode="auto">
          <a:xfrm>
            <a:off x="7578905" y="633102"/>
            <a:ext cx="2420939" cy="833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/>
              <a:t>El </a:t>
            </a:r>
            <a:r>
              <a:rPr lang="es-ES" sz="2400">
                <a:solidFill>
                  <a:srgbClr val="3333FF"/>
                </a:solidFill>
              </a:rPr>
              <a:t>sentido</a:t>
            </a:r>
            <a:r>
              <a:rPr lang="es-ES" sz="2400"/>
              <a:t> de </a:t>
            </a:r>
            <a:r>
              <a:rPr lang="es-ES" sz="2400" b="1"/>
              <a:t>E</a:t>
            </a:r>
            <a:r>
              <a:rPr lang="es-ES" sz="2400"/>
              <a:t> depende de Q</a:t>
            </a:r>
          </a:p>
        </p:txBody>
      </p:sp>
      <p:grpSp>
        <p:nvGrpSpPr>
          <p:cNvPr id="11346" name="Group 82"/>
          <p:cNvGrpSpPr>
            <a:grpSpLocks/>
          </p:cNvGrpSpPr>
          <p:nvPr/>
        </p:nvGrpSpPr>
        <p:grpSpPr bwMode="auto">
          <a:xfrm>
            <a:off x="1324448" y="3397099"/>
            <a:ext cx="439737" cy="1235075"/>
            <a:chOff x="771" y="1698"/>
            <a:chExt cx="277" cy="778"/>
          </a:xfrm>
        </p:grpSpPr>
        <p:sp>
          <p:nvSpPr>
            <p:cNvPr id="19510" name="AutoShape 245"/>
            <p:cNvSpPr>
              <a:spLocks/>
            </p:cNvSpPr>
            <p:nvPr/>
          </p:nvSpPr>
          <p:spPr bwMode="auto">
            <a:xfrm>
              <a:off x="906" y="1698"/>
              <a:ext cx="56" cy="778"/>
            </a:xfrm>
            <a:prstGeom prst="leftBracket">
              <a:avLst>
                <a:gd name="adj" fmla="val 115774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9511" name="Picture 16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" y="1940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347" name="Group 83"/>
          <p:cNvGrpSpPr>
            <a:grpSpLocks/>
          </p:cNvGrpSpPr>
          <p:nvPr/>
        </p:nvGrpSpPr>
        <p:grpSpPr bwMode="auto">
          <a:xfrm>
            <a:off x="1299048" y="5300924"/>
            <a:ext cx="449262" cy="1235075"/>
            <a:chOff x="755" y="2747"/>
            <a:chExt cx="283" cy="778"/>
          </a:xfrm>
        </p:grpSpPr>
        <p:sp>
          <p:nvSpPr>
            <p:cNvPr id="19508" name="AutoShape 244"/>
            <p:cNvSpPr>
              <a:spLocks/>
            </p:cNvSpPr>
            <p:nvPr/>
          </p:nvSpPr>
          <p:spPr bwMode="auto">
            <a:xfrm>
              <a:off x="898" y="2747"/>
              <a:ext cx="56" cy="778"/>
            </a:xfrm>
            <a:prstGeom prst="leftBracket">
              <a:avLst>
                <a:gd name="adj" fmla="val 115774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9509" name="Picture 19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" y="3004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6" name="Group 94"/>
          <p:cNvGrpSpPr>
            <a:grpSpLocks/>
          </p:cNvGrpSpPr>
          <p:nvPr/>
        </p:nvGrpSpPr>
        <p:grpSpPr bwMode="auto">
          <a:xfrm>
            <a:off x="1364266" y="452209"/>
            <a:ext cx="2654301" cy="1141413"/>
            <a:chOff x="4393" y="254"/>
            <a:chExt cx="1672" cy="719"/>
          </a:xfrm>
        </p:grpSpPr>
        <p:graphicFrame>
          <p:nvGraphicFramePr>
            <p:cNvPr id="67" name="Object 178"/>
            <p:cNvGraphicFramePr>
              <a:graphicFrameLocks noChangeAspect="1"/>
            </p:cNvGraphicFramePr>
            <p:nvPr/>
          </p:nvGraphicFramePr>
          <p:xfrm>
            <a:off x="4526" y="307"/>
            <a:ext cx="1386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736600" imgH="330200" progId="Equation.3">
                    <p:embed/>
                  </p:oleObj>
                </mc:Choice>
                <mc:Fallback>
                  <p:oleObj name="Ecuación" r:id="rId11" imgW="736600" imgH="330200" progId="Equation.3">
                    <p:embed/>
                    <p:pic>
                      <p:nvPicPr>
                        <p:cNvPr id="67" name="Object 1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6" y="307"/>
                          <a:ext cx="1386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8" name="Group 241"/>
            <p:cNvGrpSpPr>
              <a:grpSpLocks/>
            </p:cNvGrpSpPr>
            <p:nvPr/>
          </p:nvGrpSpPr>
          <p:grpSpPr bwMode="auto">
            <a:xfrm>
              <a:off x="4393" y="254"/>
              <a:ext cx="1672" cy="719"/>
              <a:chOff x="3011" y="120"/>
              <a:chExt cx="1672" cy="719"/>
            </a:xfrm>
          </p:grpSpPr>
          <p:sp>
            <p:nvSpPr>
              <p:cNvPr id="69" name="Rectangle 153"/>
              <p:cNvSpPr>
                <a:spLocks noChangeArrowheads="1"/>
              </p:cNvSpPr>
              <p:nvPr/>
            </p:nvSpPr>
            <p:spPr bwMode="auto">
              <a:xfrm>
                <a:off x="3011" y="120"/>
                <a:ext cx="1672" cy="719"/>
              </a:xfrm>
              <a:prstGeom prst="rect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70" name="Object 188"/>
              <p:cNvGraphicFramePr>
                <a:graphicFrameLocks noChangeAspect="1"/>
              </p:cNvGraphicFramePr>
              <p:nvPr/>
            </p:nvGraphicFramePr>
            <p:xfrm>
              <a:off x="3115" y="179"/>
              <a:ext cx="1482" cy="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3" imgW="952200" imgH="393480" progId="Equation.3">
                      <p:embed/>
                    </p:oleObj>
                  </mc:Choice>
                  <mc:Fallback>
                    <p:oleObj name="Ecuación" r:id="rId13" imgW="952200" imgH="393480" progId="Equation.3">
                      <p:embed/>
                      <p:pic>
                        <p:nvPicPr>
                          <p:cNvPr id="70" name="Object 18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15" y="179"/>
                            <a:ext cx="1482" cy="6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6" name="Flecha derecha 5"/>
          <p:cNvSpPr/>
          <p:nvPr/>
        </p:nvSpPr>
        <p:spPr bwMode="auto">
          <a:xfrm>
            <a:off x="6836173" y="829114"/>
            <a:ext cx="386218" cy="463550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59" name="Text Box 80"/>
          <p:cNvSpPr txBox="1">
            <a:spLocks noChangeArrowheads="1"/>
          </p:cNvSpPr>
          <p:nvPr/>
        </p:nvSpPr>
        <p:spPr bwMode="auto">
          <a:xfrm>
            <a:off x="8042328" y="3316222"/>
            <a:ext cx="1436830" cy="4638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</a:rPr>
              <a:t>Si  Q</a:t>
            </a:r>
            <a:r>
              <a:rPr lang="es-ES" sz="240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Symbol" panose="05050102010706020507" pitchFamily="18" charset="2"/>
              </a:rPr>
              <a:t>&gt; 0</a:t>
            </a:r>
          </a:p>
        </p:txBody>
      </p:sp>
      <p:sp>
        <p:nvSpPr>
          <p:cNvPr id="60" name="Text Box 80"/>
          <p:cNvSpPr txBox="1">
            <a:spLocks noChangeArrowheads="1"/>
          </p:cNvSpPr>
          <p:nvPr/>
        </p:nvSpPr>
        <p:spPr bwMode="auto">
          <a:xfrm>
            <a:off x="8074180" y="5312909"/>
            <a:ext cx="1373126" cy="4638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</a:rPr>
              <a:t>Si  Q</a:t>
            </a:r>
            <a:r>
              <a:rPr lang="es-ES" sz="240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Symbol" panose="05050102010706020507" pitchFamily="18" charset="2"/>
              </a:rPr>
              <a:t>&lt; 0</a:t>
            </a:r>
          </a:p>
        </p:txBody>
      </p:sp>
      <p:sp>
        <p:nvSpPr>
          <p:cNvPr id="52" name="CuadroTexto 2">
            <a:extLst>
              <a:ext uri="{FF2B5EF4-FFF2-40B4-BE49-F238E27FC236}">
                <a16:creationId xmlns:a16="http://schemas.microsoft.com/office/drawing/2014/main" id="{D30FD194-59B0-489E-966A-08CF5A50A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081" y="133400"/>
            <a:ext cx="1552028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SENTIDO</a:t>
            </a:r>
          </a:p>
        </p:txBody>
      </p:sp>
    </p:spTree>
    <p:extLst>
      <p:ext uri="{BB962C8B-B14F-4D97-AF65-F5344CB8AC3E}">
        <p14:creationId xmlns:p14="http://schemas.microsoft.com/office/powerpoint/2010/main" val="77307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1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2" dur="500"/>
                                        <p:tgtEl>
                                          <p:spTgt spid="1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6" dur="500"/>
                                        <p:tgtEl>
                                          <p:spTgt spid="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90" grpId="0" animBg="1"/>
      <p:bldP spid="6391" grpId="0" animBg="1"/>
      <p:bldP spid="19518" grpId="0" animBg="1"/>
      <p:bldP spid="19519" grpId="0" animBg="1"/>
      <p:bldP spid="19523" grpId="0" animBg="1"/>
      <p:bldP spid="6" grpId="0" animBg="1"/>
      <p:bldP spid="59" grpId="0" animBg="1"/>
      <p:bldP spid="60" grpId="0" animBg="1"/>
      <p:bldP spid="5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156"/>
          <p:cNvSpPr>
            <a:spLocks noChangeShapeType="1"/>
          </p:cNvSpPr>
          <p:nvPr/>
        </p:nvSpPr>
        <p:spPr bwMode="auto">
          <a:xfrm>
            <a:off x="1919760" y="3415048"/>
            <a:ext cx="4318000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59" name="Line 217"/>
          <p:cNvSpPr>
            <a:spLocks noChangeShapeType="1"/>
          </p:cNvSpPr>
          <p:nvPr/>
        </p:nvSpPr>
        <p:spPr bwMode="auto">
          <a:xfrm flipH="1">
            <a:off x="2794473" y="2340236"/>
            <a:ext cx="11112" cy="431800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60" name="Line 218"/>
          <p:cNvSpPr>
            <a:spLocks noChangeShapeType="1"/>
          </p:cNvSpPr>
          <p:nvPr/>
        </p:nvSpPr>
        <p:spPr bwMode="auto">
          <a:xfrm flipH="1">
            <a:off x="5755848" y="2314836"/>
            <a:ext cx="0" cy="4318000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62" name="Line 155"/>
          <p:cNvSpPr>
            <a:spLocks noChangeShapeType="1"/>
          </p:cNvSpPr>
          <p:nvPr/>
        </p:nvSpPr>
        <p:spPr bwMode="auto">
          <a:xfrm>
            <a:off x="1919760" y="6483817"/>
            <a:ext cx="4318000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63" name="Line 157"/>
          <p:cNvSpPr>
            <a:spLocks noChangeShapeType="1"/>
          </p:cNvSpPr>
          <p:nvPr/>
        </p:nvSpPr>
        <p:spPr bwMode="auto">
          <a:xfrm>
            <a:off x="1919760" y="4625684"/>
            <a:ext cx="4318000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pic>
        <p:nvPicPr>
          <p:cNvPr id="19464" name="Picture 15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923" y="4381209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5" name="Picture 1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423" y="4384384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6" name="Picture 1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923" y="3175336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7" name="Picture 16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160" y="6256804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8" name="Picture 16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423" y="6253629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9" name="Picture 1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186" y="3194386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0" name="Line 173"/>
          <p:cNvSpPr>
            <a:spLocks noChangeShapeType="1"/>
          </p:cNvSpPr>
          <p:nvPr/>
        </p:nvSpPr>
        <p:spPr bwMode="auto">
          <a:xfrm>
            <a:off x="1919760" y="2379857"/>
            <a:ext cx="4318000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71" name="Line 174"/>
          <p:cNvSpPr>
            <a:spLocks noChangeShapeType="1"/>
          </p:cNvSpPr>
          <p:nvPr/>
        </p:nvSpPr>
        <p:spPr bwMode="auto">
          <a:xfrm>
            <a:off x="5965792" y="2379857"/>
            <a:ext cx="719137" cy="0"/>
          </a:xfrm>
          <a:prstGeom prst="line">
            <a:avLst/>
          </a:prstGeom>
          <a:noFill/>
          <a:ln w="76200">
            <a:solidFill>
              <a:srgbClr val="3333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/>
          </a:p>
        </p:txBody>
      </p:sp>
      <p:graphicFrame>
        <p:nvGraphicFramePr>
          <p:cNvPr id="19472" name="Object 176"/>
          <p:cNvGraphicFramePr>
            <a:graphicFrameLocks noChangeAspect="1"/>
          </p:cNvGraphicFramePr>
          <p:nvPr/>
        </p:nvGraphicFramePr>
        <p:xfrm>
          <a:off x="6286437" y="1687687"/>
          <a:ext cx="637624" cy="63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241200" imgH="241200" progId="Equation.3">
                  <p:embed/>
                </p:oleObj>
              </mc:Choice>
              <mc:Fallback>
                <p:oleObj name="Ecuación" r:id="rId5" imgW="241200" imgH="241200" progId="Equation.3">
                  <p:embed/>
                  <p:pic>
                    <p:nvPicPr>
                      <p:cNvPr id="19472" name="Object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437" y="1687687"/>
                        <a:ext cx="637624" cy="63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Line 196"/>
          <p:cNvSpPr>
            <a:spLocks noChangeShapeType="1"/>
          </p:cNvSpPr>
          <p:nvPr/>
        </p:nvSpPr>
        <p:spPr bwMode="auto">
          <a:xfrm>
            <a:off x="1919760" y="5327983"/>
            <a:ext cx="4318000" cy="0"/>
          </a:xfrm>
          <a:prstGeom prst="line">
            <a:avLst/>
          </a:prstGeom>
          <a:noFill/>
          <a:ln w="25400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pic>
        <p:nvPicPr>
          <p:cNvPr id="19474" name="Picture 19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160" y="5100970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75" name="Picture 2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486" y="5091445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80" name="Text Box 164"/>
          <p:cNvSpPr txBox="1">
            <a:spLocks noChangeArrowheads="1"/>
          </p:cNvSpPr>
          <p:nvPr/>
        </p:nvSpPr>
        <p:spPr bwMode="auto">
          <a:xfrm>
            <a:off x="2630960" y="2141525"/>
            <a:ext cx="420606" cy="463846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81" name="Text Box 165"/>
          <p:cNvSpPr txBox="1">
            <a:spLocks noChangeArrowheads="1"/>
          </p:cNvSpPr>
          <p:nvPr/>
        </p:nvSpPr>
        <p:spPr bwMode="auto">
          <a:xfrm>
            <a:off x="5598409" y="2154225"/>
            <a:ext cx="353280" cy="463846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82" name="Text Box 180"/>
          <p:cNvSpPr txBox="1">
            <a:spLocks noChangeArrowheads="1"/>
          </p:cNvSpPr>
          <p:nvPr/>
        </p:nvSpPr>
        <p:spPr bwMode="auto">
          <a:xfrm>
            <a:off x="4174323" y="2149520"/>
            <a:ext cx="372028" cy="463846"/>
          </a:xfrm>
          <a:prstGeom prst="rect">
            <a:avLst/>
          </a:prstGeom>
          <a:solidFill>
            <a:srgbClr val="EDE7E3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19483" name="Line 181"/>
          <p:cNvSpPr>
            <a:spLocks noChangeShapeType="1"/>
          </p:cNvSpPr>
          <p:nvPr/>
        </p:nvSpPr>
        <p:spPr bwMode="auto">
          <a:xfrm flipH="1">
            <a:off x="3030431" y="2381650"/>
            <a:ext cx="1168323" cy="2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9484" name="Line 182"/>
          <p:cNvSpPr>
            <a:spLocks noChangeShapeType="1"/>
          </p:cNvSpPr>
          <p:nvPr/>
        </p:nvSpPr>
        <p:spPr bwMode="auto">
          <a:xfrm>
            <a:off x="4575663" y="2385243"/>
            <a:ext cx="104312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/>
          </a:p>
        </p:txBody>
      </p:sp>
      <p:graphicFrame>
        <p:nvGraphicFramePr>
          <p:cNvPr id="6372" name="Object 228"/>
          <p:cNvGraphicFramePr>
            <a:graphicFrameLocks noChangeAspect="1"/>
          </p:cNvGraphicFramePr>
          <p:nvPr/>
        </p:nvGraphicFramePr>
        <p:xfrm>
          <a:off x="6219056" y="3663932"/>
          <a:ext cx="661988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266400" imgH="266400" progId="Equation.3">
                  <p:embed/>
                </p:oleObj>
              </mc:Choice>
              <mc:Fallback>
                <p:oleObj name="Ecuación" r:id="rId7" imgW="266400" imgH="266400" progId="Equation.3">
                  <p:embed/>
                  <p:pic>
                    <p:nvPicPr>
                      <p:cNvPr id="6372" name="Object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9056" y="3663932"/>
                        <a:ext cx="661988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73" name="Object 229"/>
          <p:cNvGraphicFramePr>
            <a:graphicFrameLocks noChangeAspect="1"/>
          </p:cNvGraphicFramePr>
          <p:nvPr/>
        </p:nvGraphicFramePr>
        <p:xfrm>
          <a:off x="4595536" y="5566317"/>
          <a:ext cx="661987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266400" imgH="266400" progId="Equation.3">
                  <p:embed/>
                </p:oleObj>
              </mc:Choice>
              <mc:Fallback>
                <p:oleObj name="Ecuación" r:id="rId9" imgW="266400" imgH="266400" progId="Equation.3">
                  <p:embed/>
                  <p:pic>
                    <p:nvPicPr>
                      <p:cNvPr id="6373" name="Object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536" y="5566317"/>
                        <a:ext cx="661987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98" name="Text Box 250"/>
          <p:cNvSpPr txBox="1">
            <a:spLocks noChangeArrowheads="1"/>
          </p:cNvSpPr>
          <p:nvPr/>
        </p:nvSpPr>
        <p:spPr bwMode="auto">
          <a:xfrm>
            <a:off x="5592417" y="1679522"/>
            <a:ext cx="38990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9523" name="Text Box 85"/>
          <p:cNvSpPr txBox="1">
            <a:spLocks noChangeArrowheads="1"/>
          </p:cNvSpPr>
          <p:nvPr/>
        </p:nvSpPr>
        <p:spPr bwMode="auto">
          <a:xfrm>
            <a:off x="7568506" y="629377"/>
            <a:ext cx="2420939" cy="67911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/>
              <a:t>Relación con </a:t>
            </a:r>
            <a:r>
              <a:rPr lang="es-ES" sz="2400" b="1"/>
              <a:t>F</a:t>
            </a:r>
          </a:p>
        </p:txBody>
      </p:sp>
      <p:grpSp>
        <p:nvGrpSpPr>
          <p:cNvPr id="11346" name="Group 82"/>
          <p:cNvGrpSpPr>
            <a:grpSpLocks/>
          </p:cNvGrpSpPr>
          <p:nvPr/>
        </p:nvGrpSpPr>
        <p:grpSpPr bwMode="auto">
          <a:xfrm>
            <a:off x="1324448" y="3397099"/>
            <a:ext cx="439737" cy="1235075"/>
            <a:chOff x="771" y="1698"/>
            <a:chExt cx="277" cy="778"/>
          </a:xfrm>
        </p:grpSpPr>
        <p:sp>
          <p:nvSpPr>
            <p:cNvPr id="19510" name="AutoShape 245"/>
            <p:cNvSpPr>
              <a:spLocks/>
            </p:cNvSpPr>
            <p:nvPr/>
          </p:nvSpPr>
          <p:spPr bwMode="auto">
            <a:xfrm>
              <a:off x="906" y="1698"/>
              <a:ext cx="56" cy="778"/>
            </a:xfrm>
            <a:prstGeom prst="leftBracket">
              <a:avLst>
                <a:gd name="adj" fmla="val 115774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9511" name="Picture 16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" y="1940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347" name="Group 83"/>
          <p:cNvGrpSpPr>
            <a:grpSpLocks/>
          </p:cNvGrpSpPr>
          <p:nvPr/>
        </p:nvGrpSpPr>
        <p:grpSpPr bwMode="auto">
          <a:xfrm>
            <a:off x="1299048" y="5300924"/>
            <a:ext cx="449262" cy="1235075"/>
            <a:chOff x="755" y="2747"/>
            <a:chExt cx="283" cy="778"/>
          </a:xfrm>
        </p:grpSpPr>
        <p:sp>
          <p:nvSpPr>
            <p:cNvPr id="19508" name="AutoShape 244"/>
            <p:cNvSpPr>
              <a:spLocks/>
            </p:cNvSpPr>
            <p:nvPr/>
          </p:nvSpPr>
          <p:spPr bwMode="auto">
            <a:xfrm>
              <a:off x="898" y="2747"/>
              <a:ext cx="56" cy="778"/>
            </a:xfrm>
            <a:prstGeom prst="leftBracket">
              <a:avLst>
                <a:gd name="adj" fmla="val 115774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9509" name="Picture 19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" y="3004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" name="Line 171">
            <a:extLst>
              <a:ext uri="{FF2B5EF4-FFF2-40B4-BE49-F238E27FC236}">
                <a16:creationId xmlns:a16="http://schemas.microsoft.com/office/drawing/2014/main" id="{FF085C8F-3556-48B7-A969-3E74658D2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7169" y="3417906"/>
            <a:ext cx="1401397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54" name="Line 172">
            <a:extLst>
              <a:ext uri="{FF2B5EF4-FFF2-40B4-BE49-F238E27FC236}">
                <a16:creationId xmlns:a16="http://schemas.microsoft.com/office/drawing/2014/main" id="{5BED0E2B-2C16-4241-B429-37AA9A3DC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2884" y="6483057"/>
            <a:ext cx="1401397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53" name="Line 167">
            <a:extLst>
              <a:ext uri="{FF2B5EF4-FFF2-40B4-BE49-F238E27FC236}">
                <a16:creationId xmlns:a16="http://schemas.microsoft.com/office/drawing/2014/main" id="{207757E1-ED18-4D4B-ABD8-C3BEA82EA6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7816" y="4609809"/>
            <a:ext cx="1541536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55" name="Line 195">
            <a:extLst>
              <a:ext uri="{FF2B5EF4-FFF2-40B4-BE49-F238E27FC236}">
                <a16:creationId xmlns:a16="http://schemas.microsoft.com/office/drawing/2014/main" id="{BC047AD1-5854-419C-99B2-3C2948090D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84479" y="5323220"/>
            <a:ext cx="1541537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en-GB"/>
          </a:p>
        </p:txBody>
      </p:sp>
      <p:graphicFrame>
        <p:nvGraphicFramePr>
          <p:cNvPr id="56" name="Object 219">
            <a:extLst>
              <a:ext uri="{FF2B5EF4-FFF2-40B4-BE49-F238E27FC236}">
                <a16:creationId xmlns:a16="http://schemas.microsoft.com/office/drawing/2014/main" id="{4478C452-E3AF-466B-86FB-EF54725897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7383" y="2660470"/>
          <a:ext cx="595641" cy="657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241200" imgH="266400" progId="Equation.3">
                  <p:embed/>
                </p:oleObj>
              </mc:Choice>
              <mc:Fallback>
                <p:oleObj name="Ecuación" r:id="rId11" imgW="241200" imgH="266400" progId="Equation.3">
                  <p:embed/>
                  <p:pic>
                    <p:nvPicPr>
                      <p:cNvPr id="56" name="Object 219">
                        <a:extLst>
                          <a:ext uri="{FF2B5EF4-FFF2-40B4-BE49-F238E27FC236}">
                            <a16:creationId xmlns:a16="http://schemas.microsoft.com/office/drawing/2014/main" id="{4478C452-E3AF-466B-86FB-EF54725897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7383" y="2660470"/>
                        <a:ext cx="595641" cy="657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21">
            <a:extLst>
              <a:ext uri="{FF2B5EF4-FFF2-40B4-BE49-F238E27FC236}">
                <a16:creationId xmlns:a16="http://schemas.microsoft.com/office/drawing/2014/main" id="{B7702DC0-12E6-457D-A671-9D64879174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9746" y="3896387"/>
          <a:ext cx="595641" cy="657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241200" imgH="266400" progId="Equation.3">
                  <p:embed/>
                </p:oleObj>
              </mc:Choice>
              <mc:Fallback>
                <p:oleObj name="Ecuación" r:id="rId13" imgW="241200" imgH="266400" progId="Equation.3">
                  <p:embed/>
                  <p:pic>
                    <p:nvPicPr>
                      <p:cNvPr id="57" name="Object 221">
                        <a:extLst>
                          <a:ext uri="{FF2B5EF4-FFF2-40B4-BE49-F238E27FC236}">
                            <a16:creationId xmlns:a16="http://schemas.microsoft.com/office/drawing/2014/main" id="{B7702DC0-12E6-457D-A671-9D64879174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746" y="3896387"/>
                        <a:ext cx="595641" cy="657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222">
            <a:extLst>
              <a:ext uri="{FF2B5EF4-FFF2-40B4-BE49-F238E27FC236}">
                <a16:creationId xmlns:a16="http://schemas.microsoft.com/office/drawing/2014/main" id="{7BC8C8B9-E5C0-4490-A89C-35AB434FCA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2531" y="5735658"/>
          <a:ext cx="595641" cy="658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5" imgW="241200" imgH="266400" progId="Equation.3">
                  <p:embed/>
                </p:oleObj>
              </mc:Choice>
              <mc:Fallback>
                <p:oleObj name="Ecuación" r:id="rId15" imgW="241200" imgH="266400" progId="Equation.3">
                  <p:embed/>
                  <p:pic>
                    <p:nvPicPr>
                      <p:cNvPr id="58" name="Object 222">
                        <a:extLst>
                          <a:ext uri="{FF2B5EF4-FFF2-40B4-BE49-F238E27FC236}">
                            <a16:creationId xmlns:a16="http://schemas.microsoft.com/office/drawing/2014/main" id="{7BC8C8B9-E5C0-4490-A89C-35AB434FCA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2531" y="5735658"/>
                        <a:ext cx="595641" cy="658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CuadroTexto 4">
            <a:extLst>
              <a:ext uri="{FF2B5EF4-FFF2-40B4-BE49-F238E27FC236}">
                <a16:creationId xmlns:a16="http://schemas.microsoft.com/office/drawing/2014/main" id="{46DAC725-82CD-4172-B589-A74A4332E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0757" y="3909699"/>
            <a:ext cx="1273488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Si q &gt; 0</a:t>
            </a:r>
            <a:endParaRPr lang="es-ES" sz="2400" dirty="0"/>
          </a:p>
        </p:txBody>
      </p:sp>
      <p:sp>
        <p:nvSpPr>
          <p:cNvPr id="62" name="CuadroTexto 77">
            <a:extLst>
              <a:ext uri="{FF2B5EF4-FFF2-40B4-BE49-F238E27FC236}">
                <a16:creationId xmlns:a16="http://schemas.microsoft.com/office/drawing/2014/main" id="{DDE396CC-A5B5-474D-AD56-A71E97BEE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0760" y="5164178"/>
            <a:ext cx="1273488" cy="4616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Si q &lt; 0</a:t>
            </a:r>
            <a:endParaRPr lang="es-ES" sz="2400" dirty="0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1CCEA81D-6749-49A0-B63D-ADD6BADB992F}"/>
              </a:ext>
            </a:extLst>
          </p:cNvPr>
          <p:cNvGrpSpPr/>
          <p:nvPr/>
        </p:nvGrpSpPr>
        <p:grpSpPr>
          <a:xfrm>
            <a:off x="7578554" y="2010474"/>
            <a:ext cx="2188985" cy="725200"/>
            <a:chOff x="7568506" y="1834169"/>
            <a:chExt cx="2188985" cy="725200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82038DD0-4BF4-4C44-9BD5-60B1A9FE03BF}"/>
                </a:ext>
              </a:extLst>
            </p:cNvPr>
            <p:cNvSpPr/>
            <p:nvPr/>
          </p:nvSpPr>
          <p:spPr bwMode="auto">
            <a:xfrm>
              <a:off x="7735770" y="1834169"/>
              <a:ext cx="2021721" cy="725200"/>
            </a:xfrm>
            <a:prstGeom prst="rect">
              <a:avLst/>
            </a:prstGeom>
            <a:solidFill>
              <a:srgbClr val="99C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aphicFrame>
          <p:nvGraphicFramePr>
            <p:cNvPr id="65" name="Object 179">
              <a:extLst>
                <a:ext uri="{FF2B5EF4-FFF2-40B4-BE49-F238E27FC236}">
                  <a16:creationId xmlns:a16="http://schemas.microsoft.com/office/drawing/2014/main" id="{88849699-8887-4165-B6A2-AE4BA1B205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68506" y="1862816"/>
            <a:ext cx="2097088" cy="649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7" imgW="863280" imgH="266400" progId="Equation.3">
                    <p:embed/>
                  </p:oleObj>
                </mc:Choice>
                <mc:Fallback>
                  <p:oleObj name="Ecuación" r:id="rId17" imgW="863280" imgH="266400" progId="Equation.3">
                    <p:embed/>
                    <p:pic>
                      <p:nvPicPr>
                        <p:cNvPr id="65" name="Object 179">
                          <a:extLst>
                            <a:ext uri="{FF2B5EF4-FFF2-40B4-BE49-F238E27FC236}">
                              <a16:creationId xmlns:a16="http://schemas.microsoft.com/office/drawing/2014/main" id="{88849699-8887-4165-B6A2-AE4BA1B205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8506" y="1862816"/>
                          <a:ext cx="2097088" cy="649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" name="Object 221">
            <a:extLst>
              <a:ext uri="{FF2B5EF4-FFF2-40B4-BE49-F238E27FC236}">
                <a16:creationId xmlns:a16="http://schemas.microsoft.com/office/drawing/2014/main" id="{2151D7F2-3904-4F5F-A6E6-7275673B80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2503" y="4601694"/>
          <a:ext cx="595641" cy="657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241200" imgH="266400" progId="Equation.3">
                  <p:embed/>
                </p:oleObj>
              </mc:Choice>
              <mc:Fallback>
                <p:oleObj name="Ecuación" r:id="rId13" imgW="241200" imgH="266400" progId="Equation.3">
                  <p:embed/>
                  <p:pic>
                    <p:nvPicPr>
                      <p:cNvPr id="71" name="Object 221">
                        <a:extLst>
                          <a:ext uri="{FF2B5EF4-FFF2-40B4-BE49-F238E27FC236}">
                            <a16:creationId xmlns:a16="http://schemas.microsoft.com/office/drawing/2014/main" id="{2151D7F2-3904-4F5F-A6E6-7275673B80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503" y="4601694"/>
                        <a:ext cx="595641" cy="657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CuadroTexto 4">
            <a:extLst>
              <a:ext uri="{FF2B5EF4-FFF2-40B4-BE49-F238E27FC236}">
                <a16:creationId xmlns:a16="http://schemas.microsoft.com/office/drawing/2014/main" id="{DE80836F-A2E8-4A5F-B8D9-A619813EC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6673" y="4520179"/>
            <a:ext cx="2815820" cy="46166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b="1">
                <a:sym typeface="Symbol" panose="05050102010706020507" pitchFamily="18" charset="2"/>
              </a:rPr>
              <a:t> F</a:t>
            </a:r>
            <a:r>
              <a:rPr lang="es-ES" sz="2400">
                <a:sym typeface="Symbol" panose="05050102010706020507" pitchFamily="18" charset="2"/>
              </a:rPr>
              <a:t> </a:t>
            </a:r>
            <a:r>
              <a:rPr lang="es-ES" sz="2400" dirty="0">
                <a:sym typeface="Symbol" panose="05050102010706020507" pitchFamily="18" charset="2"/>
              </a:rPr>
              <a:t>y </a:t>
            </a:r>
            <a:r>
              <a:rPr lang="es-ES" sz="2400" b="1">
                <a:sym typeface="Symbol" panose="05050102010706020507" pitchFamily="18" charset="2"/>
              </a:rPr>
              <a:t>E </a:t>
            </a:r>
            <a:r>
              <a:rPr lang="es-ES" sz="2400">
                <a:sym typeface="Symbol" panose="05050102010706020507" pitchFamily="18" charset="2"/>
              </a:rPr>
              <a:t>paralelos</a:t>
            </a:r>
            <a:endParaRPr lang="es-ES" sz="2400" dirty="0"/>
          </a:p>
        </p:txBody>
      </p:sp>
      <p:sp>
        <p:nvSpPr>
          <p:cNvPr id="73" name="CuadroTexto 77">
            <a:extLst>
              <a:ext uri="{FF2B5EF4-FFF2-40B4-BE49-F238E27FC236}">
                <a16:creationId xmlns:a16="http://schemas.microsoft.com/office/drawing/2014/main" id="{864B0758-2755-4024-AA42-DB7B35F0D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0756" y="5854452"/>
            <a:ext cx="2821737" cy="46166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b="1">
                <a:sym typeface="Symbol" panose="05050102010706020507" pitchFamily="18" charset="2"/>
              </a:rPr>
              <a:t> F</a:t>
            </a:r>
            <a:r>
              <a:rPr lang="es-ES" sz="2400">
                <a:sym typeface="Symbol" panose="05050102010706020507" pitchFamily="18" charset="2"/>
              </a:rPr>
              <a:t> </a:t>
            </a:r>
            <a:r>
              <a:rPr lang="es-ES" sz="2400" dirty="0">
                <a:sym typeface="Symbol" panose="05050102010706020507" pitchFamily="18" charset="2"/>
              </a:rPr>
              <a:t>y </a:t>
            </a:r>
            <a:r>
              <a:rPr lang="es-ES" sz="2400" b="1">
                <a:sym typeface="Symbol" panose="05050102010706020507" pitchFamily="18" charset="2"/>
              </a:rPr>
              <a:t>E </a:t>
            </a:r>
            <a:r>
              <a:rPr lang="es-ES" sz="2400">
                <a:sym typeface="Symbol" panose="05050102010706020507" pitchFamily="18" charset="2"/>
              </a:rPr>
              <a:t>antiparalelos</a:t>
            </a:r>
            <a:endParaRPr lang="es-ES" sz="2400" dirty="0"/>
          </a:p>
        </p:txBody>
      </p:sp>
      <p:grpSp>
        <p:nvGrpSpPr>
          <p:cNvPr id="2" name="Group 202"/>
          <p:cNvGrpSpPr>
            <a:grpSpLocks/>
          </p:cNvGrpSpPr>
          <p:nvPr/>
        </p:nvGrpSpPr>
        <p:grpSpPr bwMode="auto">
          <a:xfrm>
            <a:off x="5993450" y="3409158"/>
            <a:ext cx="539750" cy="1223968"/>
            <a:chOff x="3236" y="1661"/>
            <a:chExt cx="340" cy="771"/>
          </a:xfrm>
        </p:grpSpPr>
        <p:sp>
          <p:nvSpPr>
            <p:cNvPr id="19532" name="Line 185"/>
            <p:cNvSpPr>
              <a:spLocks noChangeShapeType="1"/>
            </p:cNvSpPr>
            <p:nvPr/>
          </p:nvSpPr>
          <p:spPr bwMode="auto">
            <a:xfrm>
              <a:off x="3236" y="2432"/>
              <a:ext cx="340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9533" name="Line 186"/>
            <p:cNvSpPr>
              <a:spLocks noChangeShapeType="1"/>
            </p:cNvSpPr>
            <p:nvPr/>
          </p:nvSpPr>
          <p:spPr bwMode="auto">
            <a:xfrm>
              <a:off x="3236" y="1661"/>
              <a:ext cx="340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4" name="Group 203"/>
          <p:cNvGrpSpPr>
            <a:grpSpLocks/>
          </p:cNvGrpSpPr>
          <p:nvPr/>
        </p:nvGrpSpPr>
        <p:grpSpPr bwMode="auto">
          <a:xfrm>
            <a:off x="4943048" y="5319974"/>
            <a:ext cx="549275" cy="1162050"/>
            <a:chOff x="2568" y="2871"/>
            <a:chExt cx="346" cy="732"/>
          </a:xfrm>
        </p:grpSpPr>
        <p:sp>
          <p:nvSpPr>
            <p:cNvPr id="19527" name="Line 199"/>
            <p:cNvSpPr>
              <a:spLocks noChangeShapeType="1"/>
            </p:cNvSpPr>
            <p:nvPr/>
          </p:nvSpPr>
          <p:spPr bwMode="auto">
            <a:xfrm flipH="1">
              <a:off x="2574" y="2871"/>
              <a:ext cx="340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19526" name="Line 187"/>
            <p:cNvSpPr>
              <a:spLocks noChangeShapeType="1"/>
            </p:cNvSpPr>
            <p:nvPr/>
          </p:nvSpPr>
          <p:spPr bwMode="auto">
            <a:xfrm flipH="1">
              <a:off x="2568" y="3603"/>
              <a:ext cx="340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4E4BA79B-AA6D-25B4-AC10-E82B2452E662}"/>
              </a:ext>
            </a:extLst>
          </p:cNvPr>
          <p:cNvGrpSpPr/>
          <p:nvPr/>
        </p:nvGrpSpPr>
        <p:grpSpPr>
          <a:xfrm>
            <a:off x="3993275" y="465454"/>
            <a:ext cx="1264248" cy="1136809"/>
            <a:chOff x="3993275" y="465454"/>
            <a:chExt cx="1264248" cy="1136809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2" name="Object 179">
                  <a:extLst>
                    <a:ext uri="{FF2B5EF4-FFF2-40B4-BE49-F238E27FC236}">
                      <a16:creationId xmlns:a16="http://schemas.microsoft.com/office/drawing/2014/main" id="{42F11FD3-A239-1613-12AD-73E32FB709F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368682" y="465454"/>
                <a:ext cx="888841" cy="113680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cuación" r:id="rId19" imgW="368280" imgH="469800" progId="Equation.3">
                        <p:embed/>
                      </p:oleObj>
                    </mc:Choice>
                    <mc:Fallback>
                      <p:oleObj name="Ecuación" r:id="rId19" imgW="368280" imgH="469800" progId="Equation.3">
                        <p:embed/>
                        <p:pic>
                          <p:nvPicPr>
                            <p:cNvPr id="12" name="Object 179">
                              <a:extLst>
                                <a:ext uri="{FF2B5EF4-FFF2-40B4-BE49-F238E27FC236}">
                                  <a16:creationId xmlns:a16="http://schemas.microsoft.com/office/drawing/2014/main" id="{42F11FD3-A239-1613-12AD-73E32FB709F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68682" y="465454"/>
                              <a:ext cx="888841" cy="113680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2" name="Object 179">
                  <a:extLst>
                    <a:ext uri="{FF2B5EF4-FFF2-40B4-BE49-F238E27FC236}">
                      <a16:creationId xmlns:a16="http://schemas.microsoft.com/office/drawing/2014/main" id="{42F11FD3-A239-1613-12AD-73E32FB709F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368682" y="465454"/>
                <a:ext cx="888841" cy="113680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cuación" r:id="rId21" imgW="368280" imgH="469800" progId="Equation.3">
                        <p:embed/>
                      </p:oleObj>
                    </mc:Choice>
                    <mc:Fallback>
                      <p:oleObj name="Ecuación" r:id="rId21" imgW="368280" imgH="469800" progId="Equation.3">
                        <p:embed/>
                        <p:pic>
                          <p:nvPicPr>
                            <p:cNvPr id="12" name="Object 179">
                              <a:extLst>
                                <a:ext uri="{FF2B5EF4-FFF2-40B4-BE49-F238E27FC236}">
                                  <a16:creationId xmlns:a16="http://schemas.microsoft.com/office/drawing/2014/main" id="{42F11FD3-A239-1613-12AD-73E32FB709F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68682" y="465454"/>
                              <a:ext cx="888841" cy="113680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ángulo 12">
                  <a:extLst>
                    <a:ext uri="{FF2B5EF4-FFF2-40B4-BE49-F238E27FC236}">
                      <a16:creationId xmlns:a16="http://schemas.microsoft.com/office/drawing/2014/main" id="{02516F6A-6AE6-A084-4853-B6858A10FABE}"/>
                    </a:ext>
                  </a:extLst>
                </p:cNvPr>
                <p:cNvSpPr/>
                <p:nvPr/>
              </p:nvSpPr>
              <p:spPr>
                <a:xfrm>
                  <a:off x="3993275" y="785274"/>
                  <a:ext cx="665933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s-E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ángulo 12">
                  <a:extLst>
                    <a:ext uri="{FF2B5EF4-FFF2-40B4-BE49-F238E27FC236}">
                      <a16:creationId xmlns:a16="http://schemas.microsoft.com/office/drawing/2014/main" id="{02516F6A-6AE6-A084-4853-B6858A10FA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3275" y="785274"/>
                  <a:ext cx="665933" cy="52322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94">
            <a:extLst>
              <a:ext uri="{FF2B5EF4-FFF2-40B4-BE49-F238E27FC236}">
                <a16:creationId xmlns:a16="http://schemas.microsoft.com/office/drawing/2014/main" id="{D5186E06-2D2E-2287-5B64-1B67EA746B62}"/>
              </a:ext>
            </a:extLst>
          </p:cNvPr>
          <p:cNvGrpSpPr>
            <a:grpSpLocks/>
          </p:cNvGrpSpPr>
          <p:nvPr/>
        </p:nvGrpSpPr>
        <p:grpSpPr bwMode="auto">
          <a:xfrm>
            <a:off x="1364266" y="452209"/>
            <a:ext cx="2654301" cy="1141413"/>
            <a:chOff x="4393" y="254"/>
            <a:chExt cx="1672" cy="719"/>
          </a:xfrm>
        </p:grpSpPr>
        <p:graphicFrame>
          <p:nvGraphicFramePr>
            <p:cNvPr id="15" name="Object 178">
              <a:extLst>
                <a:ext uri="{FF2B5EF4-FFF2-40B4-BE49-F238E27FC236}">
                  <a16:creationId xmlns:a16="http://schemas.microsoft.com/office/drawing/2014/main" id="{81A94E05-1FAE-39BE-4188-84E6C4E3F4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26" y="307"/>
            <a:ext cx="1386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4" imgW="736600" imgH="330200" progId="Equation.3">
                    <p:embed/>
                  </p:oleObj>
                </mc:Choice>
                <mc:Fallback>
                  <p:oleObj name="Ecuación" r:id="rId24" imgW="736600" imgH="330200" progId="Equation.3">
                    <p:embed/>
                    <p:pic>
                      <p:nvPicPr>
                        <p:cNvPr id="15" name="Object 178">
                          <a:extLst>
                            <a:ext uri="{FF2B5EF4-FFF2-40B4-BE49-F238E27FC236}">
                              <a16:creationId xmlns:a16="http://schemas.microsoft.com/office/drawing/2014/main" id="{81A94E05-1FAE-39BE-4188-84E6C4E3F4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6" y="307"/>
                          <a:ext cx="1386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6" name="Group 241">
              <a:extLst>
                <a:ext uri="{FF2B5EF4-FFF2-40B4-BE49-F238E27FC236}">
                  <a16:creationId xmlns:a16="http://schemas.microsoft.com/office/drawing/2014/main" id="{7B86B5EF-6E37-3A3E-7496-C84027618C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3" y="254"/>
              <a:ext cx="1672" cy="719"/>
              <a:chOff x="3011" y="120"/>
              <a:chExt cx="1672" cy="719"/>
            </a:xfrm>
          </p:grpSpPr>
          <p:sp>
            <p:nvSpPr>
              <p:cNvPr id="17" name="Rectangle 153">
                <a:extLst>
                  <a:ext uri="{FF2B5EF4-FFF2-40B4-BE49-F238E27FC236}">
                    <a16:creationId xmlns:a16="http://schemas.microsoft.com/office/drawing/2014/main" id="{4D182CC7-12DE-1C00-7745-E8CC608FF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1" y="120"/>
                <a:ext cx="1672" cy="719"/>
              </a:xfrm>
              <a:prstGeom prst="rect">
                <a:avLst/>
              </a:prstGeom>
              <a:solidFill>
                <a:srgbClr val="99CCFF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18" name="Object 188">
                <a:extLst>
                  <a:ext uri="{FF2B5EF4-FFF2-40B4-BE49-F238E27FC236}">
                    <a16:creationId xmlns:a16="http://schemas.microsoft.com/office/drawing/2014/main" id="{6EF81ADA-79C7-7991-CD85-6D85A3EDF1B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15" y="179"/>
              <a:ext cx="1482" cy="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26" imgW="952200" imgH="393480" progId="Equation.3">
                      <p:embed/>
                    </p:oleObj>
                  </mc:Choice>
                  <mc:Fallback>
                    <p:oleObj name="Ecuación" r:id="rId26" imgW="952200" imgH="393480" progId="Equation.3">
                      <p:embed/>
                      <p:pic>
                        <p:nvPicPr>
                          <p:cNvPr id="18" name="Object 188">
                            <a:extLst>
                              <a:ext uri="{FF2B5EF4-FFF2-40B4-BE49-F238E27FC236}">
                                <a16:creationId xmlns:a16="http://schemas.microsoft.com/office/drawing/2014/main" id="{6EF81ADA-79C7-7991-CD85-6D85A3EDF1B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15" y="179"/>
                            <a:ext cx="1482" cy="6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148627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23" grpId="0" animBg="1"/>
      <p:bldP spid="52" grpId="0" animBg="1"/>
      <p:bldP spid="54" grpId="0" animBg="1"/>
      <p:bldP spid="53" grpId="0" animBg="1"/>
      <p:bldP spid="55" grpId="0" animBg="1"/>
      <p:bldP spid="61" grpId="0" animBg="1"/>
      <p:bldP spid="62" grpId="0" animBg="1"/>
      <p:bldP spid="72" grpId="0" animBg="1"/>
      <p:bldP spid="7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26" name="Group 34"/>
          <p:cNvGrpSpPr>
            <a:grpSpLocks/>
          </p:cNvGrpSpPr>
          <p:nvPr/>
        </p:nvGrpSpPr>
        <p:grpSpPr bwMode="auto">
          <a:xfrm>
            <a:off x="7517928" y="351686"/>
            <a:ext cx="2200275" cy="1255712"/>
            <a:chOff x="5030" y="218"/>
            <a:chExt cx="1386" cy="791"/>
          </a:xfrm>
        </p:grpSpPr>
        <p:graphicFrame>
          <p:nvGraphicFramePr>
            <p:cNvPr id="21531" name="Object 178"/>
            <p:cNvGraphicFramePr>
              <a:graphicFrameLocks noChangeAspect="1"/>
            </p:cNvGraphicFramePr>
            <p:nvPr/>
          </p:nvGraphicFramePr>
          <p:xfrm>
            <a:off x="5030" y="307"/>
            <a:ext cx="1386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736600" imgH="330200" progId="Equation.3">
                    <p:embed/>
                  </p:oleObj>
                </mc:Choice>
                <mc:Fallback>
                  <p:oleObj name="Ecuación" r:id="rId3" imgW="736600" imgH="330200" progId="Equation.3">
                    <p:embed/>
                    <p:pic>
                      <p:nvPicPr>
                        <p:cNvPr id="21531" name="Object 1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0" y="307"/>
                          <a:ext cx="1386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2" name="Rectangle 153"/>
            <p:cNvSpPr>
              <a:spLocks noChangeArrowheads="1"/>
            </p:cNvSpPr>
            <p:nvPr/>
          </p:nvSpPr>
          <p:spPr bwMode="auto">
            <a:xfrm>
              <a:off x="5079" y="218"/>
              <a:ext cx="1329" cy="791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1533" name="Object 188"/>
            <p:cNvGraphicFramePr>
              <a:graphicFrameLocks noChangeAspect="1"/>
            </p:cNvGraphicFramePr>
            <p:nvPr/>
          </p:nvGraphicFramePr>
          <p:xfrm>
            <a:off x="5218" y="256"/>
            <a:ext cx="1073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749300" imgH="469900" progId="Equation.3">
                    <p:embed/>
                  </p:oleObj>
                </mc:Choice>
                <mc:Fallback>
                  <p:oleObj name="Ecuación" r:id="rId5" imgW="749300" imgH="469900" progId="Equation.3">
                    <p:embed/>
                    <p:pic>
                      <p:nvPicPr>
                        <p:cNvPr id="21533" name="Object 1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8" y="256"/>
                          <a:ext cx="1073" cy="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933704" y="5663353"/>
            <a:ext cx="2551113" cy="477838"/>
            <a:chOff x="3772" y="1664"/>
            <a:chExt cx="1607" cy="301"/>
          </a:xfrm>
        </p:grpSpPr>
        <p:sp>
          <p:nvSpPr>
            <p:cNvPr id="21529" name="Text Box 6"/>
            <p:cNvSpPr txBox="1">
              <a:spLocks noChangeArrowheads="1"/>
            </p:cNvSpPr>
            <p:nvPr/>
          </p:nvSpPr>
          <p:spPr bwMode="auto">
            <a:xfrm>
              <a:off x="3772" y="1673"/>
              <a:ext cx="20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21530" name="Text Box 8"/>
            <p:cNvSpPr txBox="1">
              <a:spLocks noChangeArrowheads="1"/>
            </p:cNvSpPr>
            <p:nvPr/>
          </p:nvSpPr>
          <p:spPr bwMode="auto">
            <a:xfrm>
              <a:off x="3957" y="1664"/>
              <a:ext cx="142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|</a:t>
              </a:r>
              <a:r>
                <a:rPr lang="es-ES" sz="2400" b="1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|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  1/r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r</a:t>
              </a:r>
              <a:r>
                <a:rPr lang="es-ES" sz="2400" baseline="300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2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6" name="Group 58"/>
          <p:cNvGrpSpPr>
            <a:grpSpLocks/>
          </p:cNvGrpSpPr>
          <p:nvPr/>
        </p:nvGrpSpPr>
        <p:grpSpPr bwMode="auto">
          <a:xfrm>
            <a:off x="1933704" y="5016027"/>
            <a:ext cx="1641475" cy="490538"/>
            <a:chOff x="3531" y="1053"/>
            <a:chExt cx="1034" cy="309"/>
          </a:xfrm>
        </p:grpSpPr>
        <p:sp>
          <p:nvSpPr>
            <p:cNvPr id="21527" name="Text Box 5"/>
            <p:cNvSpPr txBox="1">
              <a:spLocks noChangeArrowheads="1"/>
            </p:cNvSpPr>
            <p:nvPr/>
          </p:nvSpPr>
          <p:spPr bwMode="auto">
            <a:xfrm>
              <a:off x="3531" y="1070"/>
              <a:ext cx="20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21528" name="Text Box 7"/>
            <p:cNvSpPr txBox="1">
              <a:spLocks noChangeArrowheads="1"/>
            </p:cNvSpPr>
            <p:nvPr/>
          </p:nvSpPr>
          <p:spPr bwMode="auto">
            <a:xfrm>
              <a:off x="3717" y="1053"/>
              <a:ext cx="84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|</a:t>
              </a:r>
              <a:r>
                <a:rPr lang="es-ES" sz="2400" b="1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i="1" dirty="0">
                  <a:solidFill>
                    <a:srgbClr val="000000"/>
                  </a:solidFill>
                  <a:latin typeface="Arial" panose="020B0604020202020204" pitchFamily="34" charset="0"/>
                </a:rPr>
                <a:t>|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  Q</a:t>
              </a:r>
            </a:p>
          </p:txBody>
        </p:sp>
      </p:grpSp>
      <p:sp>
        <p:nvSpPr>
          <p:cNvPr id="186388" name="Text Box 20"/>
          <p:cNvSpPr txBox="1">
            <a:spLocks noChangeArrowheads="1"/>
          </p:cNvSpPr>
          <p:nvPr/>
        </p:nvSpPr>
        <p:spPr bwMode="auto">
          <a:xfrm>
            <a:off x="4746506" y="5012239"/>
            <a:ext cx="228810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  2    E  2</a:t>
            </a:r>
          </a:p>
        </p:txBody>
      </p:sp>
      <p:sp>
        <p:nvSpPr>
          <p:cNvPr id="186408" name="Text Box 40"/>
          <p:cNvSpPr txBox="1">
            <a:spLocks noChangeArrowheads="1"/>
          </p:cNvSpPr>
          <p:nvPr/>
        </p:nvSpPr>
        <p:spPr bwMode="auto">
          <a:xfrm>
            <a:off x="4833215" y="5660517"/>
            <a:ext cx="223841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  2     E / 4 </a:t>
            </a:r>
          </a:p>
        </p:txBody>
      </p:sp>
      <p:grpSp>
        <p:nvGrpSpPr>
          <p:cNvPr id="10" name="Group 69"/>
          <p:cNvGrpSpPr>
            <a:grpSpLocks/>
          </p:cNvGrpSpPr>
          <p:nvPr/>
        </p:nvGrpSpPr>
        <p:grpSpPr bwMode="auto">
          <a:xfrm>
            <a:off x="1935292" y="6340669"/>
            <a:ext cx="2767014" cy="477838"/>
            <a:chOff x="3772" y="1673"/>
            <a:chExt cx="1743" cy="301"/>
          </a:xfrm>
        </p:grpSpPr>
        <p:sp>
          <p:nvSpPr>
            <p:cNvPr id="21525" name="Text Box 70"/>
            <p:cNvSpPr txBox="1">
              <a:spLocks noChangeArrowheads="1"/>
            </p:cNvSpPr>
            <p:nvPr/>
          </p:nvSpPr>
          <p:spPr bwMode="auto">
            <a:xfrm>
              <a:off x="3772" y="1673"/>
              <a:ext cx="20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21526" name="Text Box 71"/>
            <p:cNvSpPr txBox="1">
              <a:spLocks noChangeArrowheads="1"/>
            </p:cNvSpPr>
            <p:nvPr/>
          </p:nvSpPr>
          <p:spPr bwMode="auto">
            <a:xfrm>
              <a:off x="3963" y="1682"/>
              <a:ext cx="155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i="1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|</a:t>
              </a:r>
              <a:r>
                <a:rPr lang="es-ES" sz="2400" b="1" i="1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</a:t>
              </a:r>
              <a:r>
                <a:rPr lang="es-ES" sz="2400" i="1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|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 0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 si r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 </a:t>
              </a:r>
            </a:p>
          </p:txBody>
        </p:sp>
      </p:grpSp>
      <p:sp>
        <p:nvSpPr>
          <p:cNvPr id="186440" name="Text Box 72"/>
          <p:cNvSpPr txBox="1">
            <a:spLocks noChangeArrowheads="1"/>
          </p:cNvSpPr>
          <p:nvPr/>
        </p:nvSpPr>
        <p:spPr bwMode="auto">
          <a:xfrm>
            <a:off x="4802728" y="6337108"/>
            <a:ext cx="544933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Alcance   (Q crea </a:t>
            </a:r>
            <a:r>
              <a:rPr lang="es-ES" sz="2400" b="1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 todas partes)</a:t>
            </a:r>
          </a:p>
        </p:txBody>
      </p:sp>
      <p:sp>
        <p:nvSpPr>
          <p:cNvPr id="2" name="Flecha derecha 1"/>
          <p:cNvSpPr/>
          <p:nvPr/>
        </p:nvSpPr>
        <p:spPr bwMode="auto">
          <a:xfrm>
            <a:off x="4428156" y="861760"/>
            <a:ext cx="2733054" cy="280527"/>
          </a:xfrm>
          <a:prstGeom prst="rightArrow">
            <a:avLst>
              <a:gd name="adj1" fmla="val 50000"/>
              <a:gd name="adj2" fmla="val 127946"/>
            </a:avLst>
          </a:prstGeom>
          <a:solidFill>
            <a:srgbClr val="C0C0C0"/>
          </a:solidFill>
          <a:ln w="12700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59442" name="CuadroTexto 2"/>
          <p:cNvSpPr txBox="1">
            <a:spLocks noChangeArrowheads="1"/>
          </p:cNvSpPr>
          <p:nvPr/>
        </p:nvSpPr>
        <p:spPr bwMode="auto">
          <a:xfrm>
            <a:off x="5026684" y="765066"/>
            <a:ext cx="1535998" cy="46166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MÓDULO</a:t>
            </a:r>
          </a:p>
        </p:txBody>
      </p:sp>
      <p:sp>
        <p:nvSpPr>
          <p:cNvPr id="21520" name="CuadroTexto 4"/>
          <p:cNvSpPr txBox="1">
            <a:spLocks noChangeArrowheads="1"/>
          </p:cNvSpPr>
          <p:nvPr/>
        </p:nvSpPr>
        <p:spPr bwMode="auto">
          <a:xfrm>
            <a:off x="1820589" y="1886871"/>
            <a:ext cx="7895306" cy="5147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No hace falta q para que haya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, pero sí hace falta Q</a:t>
            </a:r>
          </a:p>
        </p:txBody>
      </p:sp>
      <p:sp>
        <p:nvSpPr>
          <p:cNvPr id="34" name="CuadroTexto 4"/>
          <p:cNvSpPr txBox="1">
            <a:spLocks noChangeArrowheads="1"/>
          </p:cNvSpPr>
          <p:nvPr/>
        </p:nvSpPr>
        <p:spPr bwMode="auto">
          <a:xfrm>
            <a:off x="1832230" y="3603219"/>
            <a:ext cx="7893370" cy="1253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Si el </a:t>
            </a:r>
            <a:r>
              <a:rPr lang="es-ES" sz="2400" dirty="0">
                <a:solidFill>
                  <a:srgbClr val="3333FF"/>
                </a:solidFill>
              </a:rPr>
              <a:t>medio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>
                <a:solidFill>
                  <a:schemeClr val="tx1"/>
                </a:solidFill>
              </a:rPr>
              <a:t>es </a:t>
            </a:r>
            <a:r>
              <a:rPr lang="es-ES" sz="2400">
                <a:solidFill>
                  <a:srgbClr val="3333FF"/>
                </a:solidFill>
              </a:rPr>
              <a:t>ideal</a:t>
            </a:r>
            <a:r>
              <a:rPr lang="es-ES" sz="2400" dirty="0">
                <a:solidFill>
                  <a:schemeClr val="tx1"/>
                </a:solidFill>
              </a:rPr>
              <a:t>, como suponemos en la asignatura,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el valor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de </a:t>
            </a:r>
            <a:r>
              <a:rPr lang="es-ES" sz="2400">
                <a:solidFill>
                  <a:schemeClr val="tx1"/>
                </a:solidFill>
              </a:rPr>
              <a:t>K no depende de los valores de q, Q, </a:t>
            </a:r>
            <a:r>
              <a:rPr lang="es-ES" sz="2400" b="1">
                <a:solidFill>
                  <a:schemeClr val="tx1"/>
                </a:solidFill>
              </a:rPr>
              <a:t>u</a:t>
            </a:r>
            <a:r>
              <a:rPr lang="es-ES" sz="2400">
                <a:solidFill>
                  <a:schemeClr val="tx1"/>
                </a:solidFill>
              </a:rPr>
              <a:t> y r   </a:t>
            </a:r>
            <a:r>
              <a:rPr lang="es-ES" sz="2400">
                <a:solidFill>
                  <a:srgbClr val="3333FF"/>
                </a:solidFill>
              </a:rPr>
              <a:t>(K es constante)</a:t>
            </a:r>
            <a:r>
              <a:rPr lang="es-ES" sz="2400">
                <a:solidFill>
                  <a:schemeClr val="tx1"/>
                </a:solidFill>
              </a:rPr>
              <a:t>, y se </a:t>
            </a:r>
            <a:r>
              <a:rPr lang="es-ES" sz="2400" dirty="0">
                <a:solidFill>
                  <a:schemeClr val="tx1"/>
                </a:solidFill>
              </a:rPr>
              <a:t>tiene que:</a:t>
            </a:r>
            <a:endParaRPr lang="es-ES" sz="2400" b="1" dirty="0">
              <a:solidFill>
                <a:schemeClr val="tx1"/>
              </a:solidFill>
            </a:endParaRPr>
          </a:p>
        </p:txBody>
      </p:sp>
      <p:grpSp>
        <p:nvGrpSpPr>
          <p:cNvPr id="33" name="Group 241"/>
          <p:cNvGrpSpPr>
            <a:grpSpLocks/>
          </p:cNvGrpSpPr>
          <p:nvPr/>
        </p:nvGrpSpPr>
        <p:grpSpPr bwMode="auto">
          <a:xfrm>
            <a:off x="1512710" y="425163"/>
            <a:ext cx="2366963" cy="1141413"/>
            <a:chOff x="3172" y="137"/>
            <a:chExt cx="1491" cy="719"/>
          </a:xfrm>
        </p:grpSpPr>
        <p:sp>
          <p:nvSpPr>
            <p:cNvPr id="35" name="Rectangle 153"/>
            <p:cNvSpPr>
              <a:spLocks noChangeArrowheads="1"/>
            </p:cNvSpPr>
            <p:nvPr/>
          </p:nvSpPr>
          <p:spPr bwMode="auto">
            <a:xfrm>
              <a:off x="3172" y="137"/>
              <a:ext cx="1491" cy="719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6" name="Object 188"/>
            <p:cNvGraphicFramePr>
              <a:graphicFrameLocks noChangeAspect="1"/>
            </p:cNvGraphicFramePr>
            <p:nvPr/>
          </p:nvGraphicFramePr>
          <p:xfrm>
            <a:off x="3333" y="179"/>
            <a:ext cx="1106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711000" imgH="393480" progId="Equation.3">
                    <p:embed/>
                  </p:oleObj>
                </mc:Choice>
                <mc:Fallback>
                  <p:oleObj name="Ecuación" r:id="rId7" imgW="711000" imgH="393480" progId="Equation.3">
                    <p:embed/>
                    <p:pic>
                      <p:nvPicPr>
                        <p:cNvPr id="36" name="Object 1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3" y="179"/>
                          <a:ext cx="1106" cy="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 Box 20">
            <a:extLst>
              <a:ext uri="{FF2B5EF4-FFF2-40B4-BE49-F238E27FC236}">
                <a16:creationId xmlns:a16="http://schemas.microsoft.com/office/drawing/2014/main" id="{10799230-4327-42C9-8C08-8067A97DC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055" y="2559679"/>
            <a:ext cx="5782650" cy="833178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en el problema hubiésemos calculado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 vez de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no hubiera hecho falta Q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06454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88" grpId="0"/>
      <p:bldP spid="186408" grpId="0"/>
      <p:bldP spid="186440" grpId="0"/>
      <p:bldP spid="2" grpId="0" animBg="1"/>
      <p:bldP spid="59442" grpId="0" animBg="1"/>
      <p:bldP spid="21520" grpId="0" animBg="1"/>
      <p:bldP spid="34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4" name="AutoShape 60"/>
          <p:cNvSpPr>
            <a:spLocks noChangeArrowheads="1"/>
          </p:cNvSpPr>
          <p:nvPr/>
        </p:nvSpPr>
        <p:spPr bwMode="auto">
          <a:xfrm>
            <a:off x="1230755" y="2714443"/>
            <a:ext cx="8944943" cy="4140000"/>
          </a:xfrm>
          <a:prstGeom prst="foldedCorner">
            <a:avLst>
              <a:gd name="adj" fmla="val 15290"/>
            </a:avLst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535" name="Text Box 59"/>
          <p:cNvSpPr txBox="1">
            <a:spLocks noChangeArrowheads="1"/>
          </p:cNvSpPr>
          <p:nvPr/>
        </p:nvSpPr>
        <p:spPr bwMode="auto">
          <a:xfrm>
            <a:off x="1238971" y="1400075"/>
            <a:ext cx="4607394" cy="1202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Esta dependencia se ve mucho en </a:t>
            </a:r>
            <a:r>
              <a:rPr lang="es-ES" sz="2400" dirty="0">
                <a:latin typeface="Arial" panose="020B0604020202020204" pitchFamily="34" charset="0"/>
              </a:rPr>
              <a:t>la Naturaleza, recuerda, p.ej., a lo que sucede con un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sonido</a:t>
            </a:r>
          </a:p>
        </p:txBody>
      </p:sp>
      <p:sp>
        <p:nvSpPr>
          <p:cNvPr id="21530" name="Text Box 8"/>
          <p:cNvSpPr txBox="1">
            <a:spLocks noChangeArrowheads="1"/>
          </p:cNvSpPr>
          <p:nvPr/>
        </p:nvSpPr>
        <p:spPr bwMode="auto">
          <a:xfrm>
            <a:off x="1261921" y="373604"/>
            <a:ext cx="4584444" cy="89521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44000" tIns="108000" rIns="144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4400" i="1">
                <a:solidFill>
                  <a:srgbClr val="000000"/>
                </a:solidFill>
                <a:latin typeface="Arial" panose="020B0604020202020204" pitchFamily="34" charset="0"/>
              </a:rPr>
              <a:t>|</a:t>
            </a:r>
            <a:r>
              <a:rPr lang="es-ES" sz="4400" b="1" i="1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4400" i="1">
                <a:solidFill>
                  <a:srgbClr val="000000"/>
                </a:solidFill>
                <a:latin typeface="Arial" panose="020B0604020202020204" pitchFamily="34" charset="0"/>
              </a:rPr>
              <a:t>|</a:t>
            </a:r>
            <a:r>
              <a:rPr lang="es-ES" sz="440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s-ES" sz="4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  1/r</a:t>
            </a:r>
            <a:r>
              <a:rPr lang="es-ES" sz="4400" baseline="30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4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r</a:t>
            </a: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4400" baseline="30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2</a:t>
            </a:r>
            <a:endParaRPr lang="es-ES" sz="44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877552" y="424222"/>
            <a:ext cx="1292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tx1"/>
                </a:solidFill>
              </a:rPr>
              <a:t>S = 4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r</a:t>
            </a:r>
            <a:r>
              <a:rPr lang="es-ES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23" name="Text Box 59"/>
          <p:cNvSpPr txBox="1">
            <a:spLocks noChangeArrowheads="1"/>
          </p:cNvSpPr>
          <p:nvPr/>
        </p:nvSpPr>
        <p:spPr bwMode="auto">
          <a:xfrm>
            <a:off x="1354068" y="2810859"/>
            <a:ext cx="882163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 consideramos un punto P que pertenece a una superficie esférica S con centro en Q. Cuanto más lejos está P de Q, mayor es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superficie y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más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puntos tiene esta.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 Box 59"/>
          <p:cNvSpPr txBox="1">
            <a:spLocks noChangeArrowheads="1"/>
          </p:cNvSpPr>
          <p:nvPr/>
        </p:nvSpPr>
        <p:spPr bwMode="auto">
          <a:xfrm>
            <a:off x="1354068" y="4173559"/>
            <a:ext cx="7570766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energía que le toca a P de un sonido emitido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Q, que se propaga y reparte por igual (medio ideal), decrece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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/r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al crecer r.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 Box 59"/>
          <p:cNvSpPr txBox="1">
            <a:spLocks noChangeArrowheads="1"/>
          </p:cNvSpPr>
          <p:nvPr/>
        </p:nvSpPr>
        <p:spPr bwMode="auto">
          <a:xfrm>
            <a:off x="1354068" y="5536259"/>
            <a:ext cx="8740775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misma dependencia muestra el efecto de Q,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caracterizado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con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o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sobre lo que le rodea,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reflejando que se va debilitando como un sonido.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14E99920-8203-4E77-A1C3-994387466982}"/>
              </a:ext>
            </a:extLst>
          </p:cNvPr>
          <p:cNvGrpSpPr/>
          <p:nvPr/>
        </p:nvGrpSpPr>
        <p:grpSpPr>
          <a:xfrm>
            <a:off x="5986567" y="550314"/>
            <a:ext cx="2187792" cy="1800000"/>
            <a:chOff x="6222429" y="550314"/>
            <a:chExt cx="2187792" cy="1800000"/>
          </a:xfrm>
        </p:grpSpPr>
        <p:sp>
          <p:nvSpPr>
            <p:cNvPr id="2" name="Elipse 1"/>
            <p:cNvSpPr/>
            <p:nvPr/>
          </p:nvSpPr>
          <p:spPr bwMode="auto">
            <a:xfrm>
              <a:off x="6606684" y="550314"/>
              <a:ext cx="1800000" cy="18000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7" name="Elipse 6"/>
            <p:cNvSpPr/>
            <p:nvPr/>
          </p:nvSpPr>
          <p:spPr bwMode="auto">
            <a:xfrm>
              <a:off x="7056684" y="1000314"/>
              <a:ext cx="900000" cy="900000"/>
            </a:xfrm>
            <a:prstGeom prst="ellips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3" name="Elipse 2"/>
            <p:cNvSpPr/>
            <p:nvPr/>
          </p:nvSpPr>
          <p:spPr bwMode="auto">
            <a:xfrm>
              <a:off x="6602924" y="1695899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9" name="Elipse 8"/>
            <p:cNvSpPr/>
            <p:nvPr/>
          </p:nvSpPr>
          <p:spPr bwMode="auto">
            <a:xfrm>
              <a:off x="7012732" y="1535122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4" name="CuadroTexto 3"/>
            <p:cNvSpPr txBox="1"/>
            <p:nvPr/>
          </p:nvSpPr>
          <p:spPr>
            <a:xfrm>
              <a:off x="6222429" y="1482249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1" name="CuadroTexto 10"/>
            <p:cNvSpPr txBox="1"/>
            <p:nvPr/>
          </p:nvSpPr>
          <p:spPr>
            <a:xfrm>
              <a:off x="6709339" y="122762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2" name="Elipse 11"/>
            <p:cNvSpPr/>
            <p:nvPr/>
          </p:nvSpPr>
          <p:spPr bwMode="auto">
            <a:xfrm>
              <a:off x="7468189" y="1384402"/>
              <a:ext cx="108000" cy="108000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CuadroTexto 12"/>
            <p:cNvSpPr txBox="1"/>
            <p:nvPr/>
          </p:nvSpPr>
          <p:spPr>
            <a:xfrm>
              <a:off x="7314508" y="977892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dirty="0">
                  <a:solidFill>
                    <a:schemeClr val="tx1"/>
                  </a:solidFill>
                </a:rPr>
                <a:t>Q</a:t>
              </a:r>
            </a:p>
          </p:txBody>
        </p:sp>
        <p:cxnSp>
          <p:nvCxnSpPr>
            <p:cNvPr id="20" name="Conector recto de flecha 19"/>
            <p:cNvCxnSpPr>
              <a:stCxn id="12" idx="4"/>
              <a:endCxn id="7" idx="4"/>
            </p:cNvCxnSpPr>
            <p:nvPr/>
          </p:nvCxnSpPr>
          <p:spPr bwMode="auto">
            <a:xfrm flipH="1">
              <a:off x="7506684" y="1492402"/>
              <a:ext cx="15505" cy="40791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Conector recto de flecha 23"/>
            <p:cNvCxnSpPr>
              <a:cxnSpLocks/>
            </p:cNvCxnSpPr>
            <p:nvPr/>
          </p:nvCxnSpPr>
          <p:spPr bwMode="auto">
            <a:xfrm>
              <a:off x="7608458" y="1461979"/>
              <a:ext cx="801763" cy="15525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0" name="CuadroTexto 29"/>
            <p:cNvSpPr txBox="1"/>
            <p:nvPr/>
          </p:nvSpPr>
          <p:spPr>
            <a:xfrm>
              <a:off x="7159035" y="1352225"/>
              <a:ext cx="4010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dirty="0">
                  <a:solidFill>
                    <a:schemeClr val="tx1"/>
                  </a:solidFill>
                </a:rPr>
                <a:t>r</a:t>
              </a:r>
              <a:r>
                <a:rPr lang="es-ES" sz="2400" baseline="-25000" dirty="0">
                  <a:solidFill>
                    <a:schemeClr val="tx1"/>
                  </a:solidFill>
                </a:rPr>
                <a:t>1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  <p:sp>
          <p:nvSpPr>
            <p:cNvPr id="31" name="CuadroTexto 30"/>
            <p:cNvSpPr txBox="1"/>
            <p:nvPr/>
          </p:nvSpPr>
          <p:spPr>
            <a:xfrm>
              <a:off x="7881468" y="1455976"/>
              <a:ext cx="4010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dirty="0">
                  <a:solidFill>
                    <a:schemeClr val="tx1"/>
                  </a:solidFill>
                </a:rPr>
                <a:t>r</a:t>
              </a:r>
              <a:r>
                <a:rPr lang="es-ES" sz="2400" baseline="-25000" dirty="0">
                  <a:solidFill>
                    <a:schemeClr val="tx1"/>
                  </a:solidFill>
                </a:rPr>
                <a:t>2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D3F7E14D-521B-451A-B1EF-88BE60B8EA23}"/>
              </a:ext>
            </a:extLst>
          </p:cNvPr>
          <p:cNvGrpSpPr/>
          <p:nvPr/>
        </p:nvGrpSpPr>
        <p:grpSpPr>
          <a:xfrm>
            <a:off x="6092428" y="301176"/>
            <a:ext cx="2230276" cy="2249282"/>
            <a:chOff x="6384642" y="317962"/>
            <a:chExt cx="2230276" cy="2249282"/>
          </a:xfrm>
        </p:grpSpPr>
        <p:cxnSp>
          <p:nvCxnSpPr>
            <p:cNvPr id="17" name="Conector recto de flecha 16"/>
            <p:cNvCxnSpPr>
              <a:cxnSpLocks/>
            </p:cNvCxnSpPr>
            <p:nvPr/>
          </p:nvCxnSpPr>
          <p:spPr bwMode="auto">
            <a:xfrm flipH="1">
              <a:off x="6665085" y="1973889"/>
              <a:ext cx="296394" cy="198408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E4A3EB80-307F-4C89-9CFE-1A0746B0FB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02351" y="2231160"/>
              <a:ext cx="0" cy="336084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2BDEE86A-6D41-4E1F-A292-47F702E7E58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516108" y="317962"/>
              <a:ext cx="0" cy="336084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8D447CE8-E4EC-4007-B3EC-082CD477BA87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665085" y="688909"/>
              <a:ext cx="296394" cy="198408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769DEE73-C3DE-450C-9BAC-951F31E87F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63476" y="1995660"/>
              <a:ext cx="296394" cy="198408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9B24CCB7-CE07-4E74-A369-B05A56193CF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063476" y="710680"/>
              <a:ext cx="296394" cy="198408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3BBB8174-2A43-4E7B-8B64-D12430D3E824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8446876" y="1273439"/>
              <a:ext cx="0" cy="336084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20B18D64-9771-4C3A-A4AA-1DEDCDD3048D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6552684" y="1273841"/>
              <a:ext cx="0" cy="336084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56932B6-DD28-4DCC-2C4C-08866750A746}"/>
              </a:ext>
            </a:extLst>
          </p:cNvPr>
          <p:cNvGrpSpPr/>
          <p:nvPr/>
        </p:nvGrpSpPr>
        <p:grpSpPr>
          <a:xfrm>
            <a:off x="8219662" y="5705072"/>
            <a:ext cx="1292147" cy="892042"/>
            <a:chOff x="8319084" y="5735552"/>
            <a:chExt cx="1292147" cy="892042"/>
          </a:xfrm>
        </p:grpSpPr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3B5232EB-8253-0CD4-8074-F2AFAB97E31D}"/>
                </a:ext>
              </a:extLst>
            </p:cNvPr>
            <p:cNvSpPr txBox="1"/>
            <p:nvPr/>
          </p:nvSpPr>
          <p:spPr>
            <a:xfrm>
              <a:off x="8319084" y="6165929"/>
              <a:ext cx="12921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>
                  <a:solidFill>
                    <a:schemeClr val="tx1"/>
                  </a:solidFill>
                </a:rPr>
                <a:t>4</a:t>
              </a:r>
              <a:r>
                <a:rPr lang="es-ES" sz="2400" dirty="0">
                  <a:solidFill>
                    <a:schemeClr val="tx1"/>
                  </a:solidFill>
                  <a:sym typeface="Symbol" panose="05050102010706020507" pitchFamily="18" charset="2"/>
                </a:rPr>
                <a:t>r</a:t>
              </a:r>
              <a:r>
                <a:rPr lang="es-ES" sz="2400" baseline="30000" dirty="0">
                  <a:solidFill>
                    <a:schemeClr val="tx1"/>
                  </a:solidFill>
                  <a:sym typeface="Symbol" panose="05050102010706020507" pitchFamily="18" charset="2"/>
                </a:rPr>
                <a:t>2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9311748C-7BF3-3B9E-CDEF-520E238E885D}"/>
                </a:ext>
              </a:extLst>
            </p:cNvPr>
            <p:cNvSpPr txBox="1"/>
            <p:nvPr/>
          </p:nvSpPr>
          <p:spPr>
            <a:xfrm>
              <a:off x="8733269" y="5735552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 dirty="0">
                  <a:solidFill>
                    <a:schemeClr val="tx1"/>
                  </a:solidFill>
                </a:rPr>
                <a:t>Q</a:t>
              </a: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AC3ED757-7231-D37F-1882-9573A3842424}"/>
                </a:ext>
              </a:extLst>
            </p:cNvPr>
            <p:cNvCxnSpPr/>
            <p:nvPr/>
          </p:nvCxnSpPr>
          <p:spPr bwMode="auto">
            <a:xfrm>
              <a:off x="8603438" y="6195482"/>
              <a:ext cx="72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70A77401-48B3-FF3B-73FA-27F546135AB0}"/>
              </a:ext>
            </a:extLst>
          </p:cNvPr>
          <p:cNvGrpSpPr/>
          <p:nvPr/>
        </p:nvGrpSpPr>
        <p:grpSpPr>
          <a:xfrm>
            <a:off x="8194797" y="1468164"/>
            <a:ext cx="2305196" cy="1160094"/>
            <a:chOff x="8358084" y="1370192"/>
            <a:chExt cx="2305196" cy="1160094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D17DB02-6FD9-902B-625D-DF5CEED72923}"/>
                </a:ext>
              </a:extLst>
            </p:cNvPr>
            <p:cNvSpPr txBox="1"/>
            <p:nvPr/>
          </p:nvSpPr>
          <p:spPr>
            <a:xfrm>
              <a:off x="9371133" y="1370192"/>
              <a:ext cx="12921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>
                  <a:solidFill>
                    <a:schemeClr val="tx1"/>
                  </a:solidFill>
                </a:rPr>
                <a:t>Sonido en Q</a:t>
              </a:r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1E9AC7D-817F-E92F-5F65-4DBEE0879F6D}"/>
                </a:ext>
              </a:extLst>
            </p:cNvPr>
            <p:cNvSpPr txBox="1"/>
            <p:nvPr/>
          </p:nvSpPr>
          <p:spPr>
            <a:xfrm>
              <a:off x="8358084" y="1629535"/>
              <a:ext cx="12921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>
                  <a:solidFill>
                    <a:schemeClr val="tx1"/>
                  </a:solidFill>
                </a:rPr>
                <a:t>Sonido en P</a:t>
              </a:r>
              <a:endParaRPr lang="es-ES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991243D7-EB17-FB18-2CD4-00B7CF17EBDD}"/>
                </a:ext>
              </a:extLst>
            </p:cNvPr>
            <p:cNvCxnSpPr/>
            <p:nvPr/>
          </p:nvCxnSpPr>
          <p:spPr bwMode="auto">
            <a:xfrm>
              <a:off x="9624548" y="2056307"/>
              <a:ext cx="72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C720756C-4C90-7047-1234-C5A8E89188F0}"/>
                </a:ext>
              </a:extLst>
            </p:cNvPr>
            <p:cNvSpPr txBox="1"/>
            <p:nvPr/>
          </p:nvSpPr>
          <p:spPr>
            <a:xfrm>
              <a:off x="9309586" y="1830549"/>
              <a:ext cx="3774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>
                  <a:solidFill>
                    <a:schemeClr val="tx1"/>
                  </a:solidFill>
                </a:rPr>
                <a:t>=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5BE7FD6C-2E32-E955-3390-56909AD35018}"/>
                </a:ext>
              </a:extLst>
            </p:cNvPr>
            <p:cNvSpPr txBox="1"/>
            <p:nvPr/>
          </p:nvSpPr>
          <p:spPr>
            <a:xfrm>
              <a:off x="9833567" y="2068621"/>
              <a:ext cx="3774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>
                  <a:solidFill>
                    <a:schemeClr val="tx1"/>
                  </a:solidFill>
                </a:rPr>
                <a:t>S</a:t>
              </a:r>
              <a:endParaRPr lang="es-E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7183F2A-CF3B-0941-5CFC-7AF9E5EBB100}"/>
              </a:ext>
            </a:extLst>
          </p:cNvPr>
          <p:cNvSpPr txBox="1"/>
          <p:nvPr/>
        </p:nvSpPr>
        <p:spPr>
          <a:xfrm>
            <a:off x="8889114" y="859277"/>
            <a:ext cx="1292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>
                <a:solidFill>
                  <a:schemeClr val="tx1"/>
                </a:solidFill>
              </a:rPr>
              <a:t>S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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s-ES" sz="2400" baseline="30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endParaRPr lang="es-E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30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34" grpId="0" animBg="1"/>
      <p:bldP spid="21535" grpId="0" animBg="1"/>
      <p:bldP spid="21530" grpId="0" animBg="1"/>
      <p:bldP spid="21" grpId="0"/>
      <p:bldP spid="23" grpId="0"/>
      <p:bldP spid="27" grpId="0"/>
      <p:bldP spid="28" grpId="0"/>
      <p:bldP spid="4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8399</TotalTime>
  <Words>1896</Words>
  <Application>Microsoft Office PowerPoint</Application>
  <PresentationFormat>Personalizado</PresentationFormat>
  <Paragraphs>466</Paragraphs>
  <Slides>26</Slides>
  <Notes>25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5" baseType="lpstr">
      <vt:lpstr>Arial</vt:lpstr>
      <vt:lpstr>Arial Unicode MS</vt:lpstr>
      <vt:lpstr>Cambria Math</vt:lpstr>
      <vt:lpstr>Comic Sans MS</vt:lpstr>
      <vt:lpstr>Symbol</vt:lpstr>
      <vt:lpstr>Times New Roman</vt:lpstr>
      <vt:lpstr>Trebuchet MS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1301</cp:revision>
  <dcterms:created xsi:type="dcterms:W3CDTF">2012-02-20T13:06:36Z</dcterms:created>
  <dcterms:modified xsi:type="dcterms:W3CDTF">2024-09-30T11:52:09Z</dcterms:modified>
</cp:coreProperties>
</file>