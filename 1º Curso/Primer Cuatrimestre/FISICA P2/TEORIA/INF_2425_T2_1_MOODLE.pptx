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316" r:id="rId2"/>
    <p:sldId id="400" r:id="rId3"/>
    <p:sldId id="434" r:id="rId4"/>
    <p:sldId id="435" r:id="rId5"/>
    <p:sldId id="436" r:id="rId6"/>
    <p:sldId id="476" r:id="rId7"/>
    <p:sldId id="470" r:id="rId8"/>
    <p:sldId id="479" r:id="rId9"/>
    <p:sldId id="477" r:id="rId10"/>
    <p:sldId id="478" r:id="rId11"/>
    <p:sldId id="412" r:id="rId12"/>
    <p:sldId id="413" r:id="rId13"/>
    <p:sldId id="451" r:id="rId14"/>
    <p:sldId id="415" r:id="rId15"/>
    <p:sldId id="416" r:id="rId16"/>
    <p:sldId id="473" r:id="rId17"/>
    <p:sldId id="460" r:id="rId18"/>
    <p:sldId id="461" r:id="rId19"/>
    <p:sldId id="440" r:id="rId20"/>
    <p:sldId id="462" r:id="rId21"/>
    <p:sldId id="442" r:id="rId22"/>
    <p:sldId id="474" r:id="rId23"/>
    <p:sldId id="443" r:id="rId24"/>
    <p:sldId id="327" r:id="rId25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  <a:srgbClr val="CCFFCC"/>
    <a:srgbClr val="008000"/>
    <a:srgbClr val="C0C0C0"/>
    <a:srgbClr val="99CCFF"/>
    <a:srgbClr val="9999FF"/>
    <a:srgbClr val="FFFF99"/>
    <a:srgbClr val="EDE7E3"/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96" autoAdjust="0"/>
    <p:restoredTop sz="94005" autoAdjust="0"/>
  </p:normalViewPr>
  <p:slideViewPr>
    <p:cSldViewPr snapToGrid="0" showGuides="1">
      <p:cViewPr varScale="1">
        <p:scale>
          <a:sx n="103" d="100"/>
          <a:sy n="103" d="100"/>
        </p:scale>
        <p:origin x="654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4.xml"/><Relationship Id="rId1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D719493-033D-4421-9965-4DF62A4EF35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946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0E5C47C-735A-45EE-BE5C-3B6C77E22A9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7260073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4D0A47-AC01-4170-B2E2-22747F92EF87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416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D055690-C3DD-427A-AE0A-CDE33BFF4A53}" type="slidenum">
              <a:rPr lang="es-ES"/>
              <a:pPr algn="r" eaLnBrk="1" hangingPunct="1"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271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16E6053-53B4-438B-9A59-81FCAF85702A}" type="slidenum">
              <a:rPr lang="es-ES" smtClean="0"/>
              <a:pPr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486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CF20EE0-BF5B-4159-B9B5-FE2DCBC62B31}" type="slidenum">
              <a:rPr lang="es-ES"/>
              <a:pPr algn="r" eaLnBrk="1" hangingPunct="1"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073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6A0C99-D00C-43D7-9129-738C727DA18B}" type="slidenum">
              <a:rPr lang="es-ES" smtClean="0"/>
              <a:pPr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652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6A0C99-D00C-43D7-9129-738C727DA18B}" type="slidenum">
              <a:rPr lang="es-ES" smtClean="0"/>
              <a:pPr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238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6A0C99-D00C-43D7-9129-738C727DA18B}" type="slidenum">
              <a:rPr lang="es-ES" smtClean="0"/>
              <a:pPr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885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6A0C99-D00C-43D7-9129-738C727DA18B}" type="slidenum">
              <a:rPr lang="es-ES" smtClean="0"/>
              <a:pPr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811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6A0C99-D00C-43D7-9129-738C727DA18B}" type="slidenum">
              <a:rPr lang="es-ES" smtClean="0"/>
              <a:pPr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359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6A0C99-D00C-43D7-9129-738C727DA18B}" type="slidenum">
              <a:rPr lang="es-ES" smtClean="0"/>
              <a:pPr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526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67D0A53-0658-433C-925D-A8D73085BD96}" type="slidenum">
              <a:rPr lang="es-ES"/>
              <a:pPr algn="r" eaLnBrk="1" hangingPunct="1"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9854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CDE5558-47E9-4A29-9252-1BD51B69D74F}" type="slidenum">
              <a:rPr lang="es-ES"/>
              <a:pPr algn="r" eaLnBrk="1" hangingPunct="1"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968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561074F-C009-42BD-B94D-D0110CA430FF}" type="slidenum">
              <a:rPr lang="es-ES"/>
              <a:pPr algn="r" eaLnBrk="1" hangingPunct="1"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50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4265B81-1E2D-4E00-BB29-FEF29CB3B403}" type="slidenum">
              <a:rPr lang="es-ES"/>
              <a:pPr algn="r" eaLnBrk="1" hangingPunct="1"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1707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398C8CC-1470-4083-A85E-9ADC1DEC7344}" type="slidenum">
              <a:rPr lang="es-ES"/>
              <a:pPr algn="r" eaLnBrk="1" hangingPunct="1"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845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398C8CC-1470-4083-A85E-9ADC1DEC7344}" type="slidenum">
              <a:rPr lang="es-ES"/>
              <a:pPr algn="r" eaLnBrk="1" hangingPunct="1"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723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6DDCAB7-2881-4C74-B412-2EA6CF102A2F}" type="slidenum">
              <a:rPr lang="es-ES"/>
              <a:pPr algn="r" eaLnBrk="1" hangingPunct="1"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1590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6DDCAB7-2881-4C74-B412-2EA6CF102A2F}" type="slidenum">
              <a:rPr lang="es-ES"/>
              <a:pPr algn="r" eaLnBrk="1" hangingPunct="1"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6873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4F60592-1F15-4D46-9F8E-FD392E3EFC5F}" type="slidenum">
              <a:rPr lang="es-ES"/>
              <a:pPr algn="r" eaLnBrk="1" hangingPunct="1"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2945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4F60592-1F15-4D46-9F8E-FD392E3EFC5F}" type="slidenum">
              <a:rPr lang="es-ES"/>
              <a:pPr algn="r" eaLnBrk="1" hangingPunct="1"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481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1B95EBF-D385-4861-AE41-0FB96802A10B}" type="slidenum">
              <a:rPr lang="es-ES"/>
              <a:pPr algn="r" eaLnBrk="1" hangingPunct="1"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162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1B95EBF-D385-4861-AE41-0FB96802A10B}" type="slidenum">
              <a:rPr lang="es-ES"/>
              <a:pPr algn="r" eaLnBrk="1" hangingPunct="1"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4391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11AAAFD-A728-4A32-81FE-856A4EC2401A}" type="slidenum">
              <a:rPr lang="es-ES"/>
              <a:pPr algn="r" eaLnBrk="1" hangingPunct="1"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855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8A9BCE-6062-4B21-AAD8-B5C22FE8EC1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8129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1A2089-B5D9-40B9-8E0E-0879E15F103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576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A8153-FD19-4992-9CB3-3CF38232FA3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782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36281-052E-4D41-8212-BD469D98E4D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154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6F0FAA-10BD-44D8-8D17-F1CCD8ECB23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065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1652D-4E01-4D6F-AB23-A3C81D4C43B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5868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D4B26-016A-4F6B-B678-63C7C31F887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4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E44F0-979F-4830-9E02-3D45866EA48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995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2E64A4-EE2E-4981-8ECA-B85B9687F2C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2462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485A5-615F-4C58-A108-1C546075004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901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F284BC-5745-4AF2-BFB5-453F6438A69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179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DC119-EE46-44E0-A6F2-100E56232CC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2484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ítulo, 1 obje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60475" y="400050"/>
            <a:ext cx="9001125" cy="12001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5837238" y="1839913"/>
            <a:ext cx="4424362" cy="208438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5837238" y="4076700"/>
            <a:ext cx="4424362" cy="20843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D5899B-B5F7-4DA6-B110-841BB4B21DC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3576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3BABDCC-4BD3-4C2F-BE4E-F7FEFC8EC81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  <p:sldLayoutId id="2147484011" r:id="rId13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oleObject" Target="../embeddings/oleObject10.bin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7" Type="http://schemas.openxmlformats.org/officeDocument/2006/relationships/image" Target="../media/image12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8.bin"/><Relationship Id="rId5" Type="http://schemas.openxmlformats.org/officeDocument/2006/relationships/oleObject" Target="../embeddings/oleObject17.bin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9.bin"/><Relationship Id="rId7" Type="http://schemas.openxmlformats.org/officeDocument/2006/relationships/image" Target="../media/image15.png"/><Relationship Id="rId17" Type="http://schemas.openxmlformats.org/officeDocument/2006/relationships/oleObject" Target="../embeddings/oleObject22.bin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8.png"/><Relationship Id="rId10" Type="http://schemas.openxmlformats.org/officeDocument/2006/relationships/image" Target="../media/image4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8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wmf"/><Relationship Id="rId11" Type="http://schemas.openxmlformats.org/officeDocument/2006/relationships/image" Target="../media/image23.wmf"/><Relationship Id="rId5" Type="http://schemas.openxmlformats.org/officeDocument/2006/relationships/oleObject" Target="../embeddings/oleObject24.bin"/><Relationship Id="rId10" Type="http://schemas.openxmlformats.org/officeDocument/2006/relationships/oleObject" Target="../embeddings/oleObject26.bin"/><Relationship Id="rId4" Type="http://schemas.openxmlformats.org/officeDocument/2006/relationships/image" Target="../media/image20.wmf"/><Relationship Id="rId9" Type="http://schemas.openxmlformats.org/officeDocument/2006/relationships/image" Target="../media/image22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28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29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4" Type="http://schemas.openxmlformats.org/officeDocument/2006/relationships/image" Target="../media/image3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5.bin"/><Relationship Id="rId10" Type="http://schemas.openxmlformats.org/officeDocument/2006/relationships/oleObject" Target="../embeddings/oleObject38.bin"/><Relationship Id="rId4" Type="http://schemas.openxmlformats.org/officeDocument/2006/relationships/image" Target="../media/image26.wmf"/><Relationship Id="rId9" Type="http://schemas.openxmlformats.org/officeDocument/2006/relationships/oleObject" Target="../embeddings/oleObject37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030"/>
          <p:cNvSpPr txBox="1">
            <a:spLocks noChangeArrowheads="1"/>
          </p:cNvSpPr>
          <p:nvPr/>
        </p:nvSpPr>
        <p:spPr bwMode="auto">
          <a:xfrm>
            <a:off x="2546350" y="3221038"/>
            <a:ext cx="6429375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LEY DE GAUSS. POTENCIAL ELÉCTRICO</a:t>
            </a:r>
          </a:p>
        </p:txBody>
      </p:sp>
      <p:sp>
        <p:nvSpPr>
          <p:cNvPr id="5123" name="Text Box 1031"/>
          <p:cNvSpPr txBox="1">
            <a:spLocks noChangeArrowheads="1"/>
          </p:cNvSpPr>
          <p:nvPr/>
        </p:nvSpPr>
        <p:spPr bwMode="auto">
          <a:xfrm>
            <a:off x="5278438" y="4105275"/>
            <a:ext cx="941283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(1/3)</a:t>
            </a:r>
          </a:p>
        </p:txBody>
      </p:sp>
      <p:sp>
        <p:nvSpPr>
          <p:cNvPr id="5124" name="Text Box 1032"/>
          <p:cNvSpPr txBox="1">
            <a:spLocks noChangeArrowheads="1"/>
          </p:cNvSpPr>
          <p:nvPr/>
        </p:nvSpPr>
        <p:spPr bwMode="auto">
          <a:xfrm>
            <a:off x="5065713" y="234315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2</a:t>
            </a:r>
          </a:p>
        </p:txBody>
      </p:sp>
      <p:grpSp>
        <p:nvGrpSpPr>
          <p:cNvPr id="7" name="Group 23">
            <a:extLst>
              <a:ext uri="{FF2B5EF4-FFF2-40B4-BE49-F238E27FC236}">
                <a16:creationId xmlns:a16="http://schemas.microsoft.com/office/drawing/2014/main" id="{158820CB-91E3-D5EE-B6E1-B8139B00F64F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98463"/>
            <a:ext cx="2571750" cy="2473325"/>
            <a:chOff x="4896" y="276"/>
            <a:chExt cx="1620" cy="1558"/>
          </a:xfrm>
        </p:grpSpPr>
        <p:sp>
          <p:nvSpPr>
            <p:cNvPr id="8" name="AutoShape 1067">
              <a:extLst>
                <a:ext uri="{FF2B5EF4-FFF2-40B4-BE49-F238E27FC236}">
                  <a16:creationId xmlns:a16="http://schemas.microsoft.com/office/drawing/2014/main" id="{FAE00111-DFA5-677E-F065-932FFBFEF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76"/>
              <a:ext cx="1620" cy="1558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Text Box 1068">
              <a:extLst>
                <a:ext uri="{FF2B5EF4-FFF2-40B4-BE49-F238E27FC236}">
                  <a16:creationId xmlns:a16="http://schemas.microsoft.com/office/drawing/2014/main" id="{61FC61D8-3CDE-315E-587A-2C55B16A8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7" y="450"/>
              <a:ext cx="1336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GRUPOS DE PRÁCTICAS</a:t>
              </a:r>
            </a:p>
          </p:txBody>
        </p:sp>
        <p:sp>
          <p:nvSpPr>
            <p:cNvPr id="10" name="Text Box 1069">
              <a:extLst>
                <a:ext uri="{FF2B5EF4-FFF2-40B4-BE49-F238E27FC236}">
                  <a16:creationId xmlns:a16="http://schemas.microsoft.com/office/drawing/2014/main" id="{5D831A6B-687A-B250-2B12-530F877DC8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7" y="1036"/>
              <a:ext cx="1336" cy="46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HAY QUE APUNTARSE</a:t>
              </a:r>
              <a:endParaRPr lang="es-ES" sz="2400" b="1" dirty="0">
                <a:solidFill>
                  <a:srgbClr val="FFFFF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1" name="Text Box 1062">
              <a:extLst>
                <a:ext uri="{FF2B5EF4-FFF2-40B4-BE49-F238E27FC236}">
                  <a16:creationId xmlns:a16="http://schemas.microsoft.com/office/drawing/2014/main" id="{10B5AAA7-E248-6F66-D8CB-8F2921DCA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6" y="1498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En Moodle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3">
            <a:extLst>
              <a:ext uri="{FF2B5EF4-FFF2-40B4-BE49-F238E27FC236}">
                <a16:creationId xmlns:a16="http://schemas.microsoft.com/office/drawing/2014/main" id="{48B7D634-F75B-4868-9E25-9E19A1412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3552839"/>
            <a:ext cx="7537450" cy="41365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2CDBD479-B660-4C4B-AE18-E9B16A4F2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5" y="2452543"/>
            <a:ext cx="7537450" cy="84886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2" name="Rectangle 23"/>
          <p:cNvSpPr>
            <a:spLocks noChangeArrowheads="1"/>
          </p:cNvSpPr>
          <p:nvPr/>
        </p:nvSpPr>
        <p:spPr bwMode="auto">
          <a:xfrm>
            <a:off x="2574925" y="1714653"/>
            <a:ext cx="7504113" cy="45970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8" name="Line 17"/>
          <p:cNvSpPr>
            <a:spLocks noChangeShapeType="1"/>
          </p:cNvSpPr>
          <p:nvPr/>
        </p:nvSpPr>
        <p:spPr bwMode="auto">
          <a:xfrm>
            <a:off x="5483803" y="2492371"/>
            <a:ext cx="215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76DD32E-3F02-40F4-8576-DDC017B0A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776" y="6472335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D527052-69E6-4333-936E-BA3B22A37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25" y="3572729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7" name="Rectangle 15"/>
          <p:cNvSpPr>
            <a:spLocks noChangeArrowheads="1"/>
          </p:cNvSpPr>
          <p:nvPr/>
        </p:nvSpPr>
        <p:spPr bwMode="auto">
          <a:xfrm>
            <a:off x="2574925" y="1683756"/>
            <a:ext cx="7796213" cy="5271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Flujo y Circulación.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Ley de Gauss para E.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Aplicaciones de la Ley de Gauss.</a:t>
            </a:r>
            <a:endParaRPr lang="es-ES" sz="28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Concepto de Trabajo.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Fuerza y Campo Conservativos.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Energía Potencial Eléctrica y Potencial </a:t>
            </a:r>
            <a:r>
              <a:rPr lang="es-ES" sz="2400" b="1">
                <a:latin typeface="Arial" panose="020B0604020202020204" pitchFamily="34" charset="0"/>
              </a:rPr>
              <a:t>Eléctrico.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Potenciales debidos a Distribuciones de Carga.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Fuerza </a:t>
            </a:r>
            <a:r>
              <a:rPr lang="es-ES" sz="2400" b="1" dirty="0">
                <a:latin typeface="Arial" panose="020B0604020202020204" pitchFamily="34" charset="0"/>
              </a:rPr>
              <a:t>Electromotriz.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Gradiente </a:t>
            </a:r>
            <a:r>
              <a:rPr lang="es-ES" sz="2400" b="1" dirty="0">
                <a:latin typeface="Arial" panose="020B0604020202020204" pitchFamily="34" charset="0"/>
              </a:rPr>
              <a:t>y Superficies Equipotenciales.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Ruptura Dieléctrica.</a:t>
            </a: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1847850" y="2455999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1847850" y="5027754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7"/>
          <p:cNvSpPr>
            <a:spLocks noChangeArrowheads="1"/>
          </p:cNvSpPr>
          <p:nvPr/>
        </p:nvSpPr>
        <p:spPr bwMode="auto">
          <a:xfrm>
            <a:off x="1847850" y="1740906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8"/>
          <p:cNvSpPr>
            <a:spLocks noChangeArrowheads="1"/>
          </p:cNvSpPr>
          <p:nvPr/>
        </p:nvSpPr>
        <p:spPr bwMode="auto">
          <a:xfrm>
            <a:off x="1465263" y="584055"/>
            <a:ext cx="7675562" cy="96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2: LEY DE GAUSS.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                POTENCIAL ELÉCTRICO</a:t>
            </a:r>
          </a:p>
        </p:txBody>
      </p:sp>
      <p:sp>
        <p:nvSpPr>
          <p:cNvPr id="7176" name="Rectangle 14"/>
          <p:cNvSpPr>
            <a:spLocks noChangeArrowheads="1"/>
          </p:cNvSpPr>
          <p:nvPr/>
        </p:nvSpPr>
        <p:spPr bwMode="auto">
          <a:xfrm>
            <a:off x="1825625" y="1683756"/>
            <a:ext cx="708025" cy="5271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2.1.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2.2.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2.3.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2.4</a:t>
            </a:r>
            <a:r>
              <a:rPr lang="es-ES" sz="2400" b="1" dirty="0">
                <a:latin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2.5.</a:t>
            </a: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EFDA5EB0-7307-4DD7-9338-3549B8010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5716" y="309608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09/10/24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T2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07/10/24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08/10/24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Text Box 1062">
            <a:extLst>
              <a:ext uri="{FF2B5EF4-FFF2-40B4-BE49-F238E27FC236}">
                <a16:creationId xmlns:a16="http://schemas.microsoft.com/office/drawing/2014/main" id="{D7A759FD-5958-4D05-A97E-A0C1E158E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207" y="1662962"/>
            <a:ext cx="258466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Aparece el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producto escalar</a:t>
            </a:r>
            <a:endParaRPr lang="es-ES" sz="24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7B422839-3E4D-9885-8AFF-3E73FA971B3B}"/>
              </a:ext>
            </a:extLst>
          </p:cNvPr>
          <p:cNvCxnSpPr/>
          <p:nvPr/>
        </p:nvCxnSpPr>
        <p:spPr bwMode="auto">
          <a:xfrm>
            <a:off x="5902036" y="1911927"/>
            <a:ext cx="1392382" cy="0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7182" grpId="0" animBg="1"/>
      <p:bldP spid="13" grpId="0" animBg="1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016B3D9-73C6-4FFE-8BC5-8527AED33FF2}"/>
              </a:ext>
            </a:extLst>
          </p:cNvPr>
          <p:cNvSpPr/>
          <p:nvPr/>
        </p:nvSpPr>
        <p:spPr bwMode="auto">
          <a:xfrm>
            <a:off x="1359400" y="2363284"/>
            <a:ext cx="4260350" cy="240784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155076" y="3155439"/>
            <a:ext cx="3389315" cy="1373188"/>
            <a:chOff x="1144" y="1436"/>
            <a:chExt cx="2135" cy="865"/>
          </a:xfrm>
        </p:grpSpPr>
        <p:sp>
          <p:nvSpPr>
            <p:cNvPr id="9255" name="Freeform 3"/>
            <p:cNvSpPr>
              <a:spLocks/>
            </p:cNvSpPr>
            <p:nvPr/>
          </p:nvSpPr>
          <p:spPr bwMode="auto">
            <a:xfrm>
              <a:off x="1144" y="1436"/>
              <a:ext cx="2018" cy="865"/>
            </a:xfrm>
            <a:custGeom>
              <a:avLst/>
              <a:gdLst>
                <a:gd name="T0" fmla="*/ 125 w 2018"/>
                <a:gd name="T1" fmla="*/ 413 h 865"/>
                <a:gd name="T2" fmla="*/ 163 w 2018"/>
                <a:gd name="T3" fmla="*/ 256 h 865"/>
                <a:gd name="T4" fmla="*/ 288 w 2018"/>
                <a:gd name="T5" fmla="*/ 100 h 865"/>
                <a:gd name="T6" fmla="*/ 476 w 2018"/>
                <a:gd name="T7" fmla="*/ 43 h 865"/>
                <a:gd name="T8" fmla="*/ 651 w 2018"/>
                <a:gd name="T9" fmla="*/ 6 h 865"/>
                <a:gd name="T10" fmla="*/ 802 w 2018"/>
                <a:gd name="T11" fmla="*/ 6 h 865"/>
                <a:gd name="T12" fmla="*/ 895 w 2018"/>
                <a:gd name="T13" fmla="*/ 18 h 865"/>
                <a:gd name="T14" fmla="*/ 1008 w 2018"/>
                <a:gd name="T15" fmla="*/ 50 h 865"/>
                <a:gd name="T16" fmla="*/ 1146 w 2018"/>
                <a:gd name="T17" fmla="*/ 131 h 865"/>
                <a:gd name="T18" fmla="*/ 1378 w 2018"/>
                <a:gd name="T19" fmla="*/ 237 h 865"/>
                <a:gd name="T20" fmla="*/ 1572 w 2018"/>
                <a:gd name="T21" fmla="*/ 319 h 865"/>
                <a:gd name="T22" fmla="*/ 1716 w 2018"/>
                <a:gd name="T23" fmla="*/ 394 h 865"/>
                <a:gd name="T24" fmla="*/ 1991 w 2018"/>
                <a:gd name="T25" fmla="*/ 532 h 865"/>
                <a:gd name="T26" fmla="*/ 1878 w 2018"/>
                <a:gd name="T27" fmla="*/ 469 h 865"/>
                <a:gd name="T28" fmla="*/ 1728 w 2018"/>
                <a:gd name="T29" fmla="*/ 438 h 865"/>
                <a:gd name="T30" fmla="*/ 1509 w 2018"/>
                <a:gd name="T31" fmla="*/ 438 h 865"/>
                <a:gd name="T32" fmla="*/ 1265 w 2018"/>
                <a:gd name="T33" fmla="*/ 488 h 865"/>
                <a:gd name="T34" fmla="*/ 1158 w 2018"/>
                <a:gd name="T35" fmla="*/ 538 h 865"/>
                <a:gd name="T36" fmla="*/ 1065 w 2018"/>
                <a:gd name="T37" fmla="*/ 638 h 865"/>
                <a:gd name="T38" fmla="*/ 1021 w 2018"/>
                <a:gd name="T39" fmla="*/ 770 h 865"/>
                <a:gd name="T40" fmla="*/ 1002 w 2018"/>
                <a:gd name="T41" fmla="*/ 832 h 865"/>
                <a:gd name="T42" fmla="*/ 914 w 2018"/>
                <a:gd name="T43" fmla="*/ 795 h 865"/>
                <a:gd name="T44" fmla="*/ 125 w 2018"/>
                <a:gd name="T45" fmla="*/ 413 h 86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2018"/>
                <a:gd name="T70" fmla="*/ 0 h 865"/>
                <a:gd name="T71" fmla="*/ 2018 w 2018"/>
                <a:gd name="T72" fmla="*/ 865 h 86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2018" h="865">
                  <a:moveTo>
                    <a:pt x="125" y="413"/>
                  </a:moveTo>
                  <a:cubicBezTo>
                    <a:pt x="0" y="323"/>
                    <a:pt x="136" y="308"/>
                    <a:pt x="163" y="256"/>
                  </a:cubicBezTo>
                  <a:cubicBezTo>
                    <a:pt x="190" y="204"/>
                    <a:pt x="236" y="135"/>
                    <a:pt x="288" y="100"/>
                  </a:cubicBezTo>
                  <a:cubicBezTo>
                    <a:pt x="340" y="65"/>
                    <a:pt x="416" y="59"/>
                    <a:pt x="476" y="43"/>
                  </a:cubicBezTo>
                  <a:cubicBezTo>
                    <a:pt x="536" y="27"/>
                    <a:pt x="597" y="12"/>
                    <a:pt x="651" y="6"/>
                  </a:cubicBezTo>
                  <a:cubicBezTo>
                    <a:pt x="705" y="0"/>
                    <a:pt x="761" y="4"/>
                    <a:pt x="802" y="6"/>
                  </a:cubicBezTo>
                  <a:cubicBezTo>
                    <a:pt x="843" y="8"/>
                    <a:pt x="861" y="11"/>
                    <a:pt x="895" y="18"/>
                  </a:cubicBezTo>
                  <a:cubicBezTo>
                    <a:pt x="929" y="25"/>
                    <a:pt x="966" y="31"/>
                    <a:pt x="1008" y="50"/>
                  </a:cubicBezTo>
                  <a:cubicBezTo>
                    <a:pt x="1050" y="69"/>
                    <a:pt x="1084" y="100"/>
                    <a:pt x="1146" y="131"/>
                  </a:cubicBezTo>
                  <a:cubicBezTo>
                    <a:pt x="1208" y="162"/>
                    <a:pt x="1307" y="206"/>
                    <a:pt x="1378" y="237"/>
                  </a:cubicBezTo>
                  <a:cubicBezTo>
                    <a:pt x="1449" y="268"/>
                    <a:pt x="1516" y="293"/>
                    <a:pt x="1572" y="319"/>
                  </a:cubicBezTo>
                  <a:cubicBezTo>
                    <a:pt x="1628" y="345"/>
                    <a:pt x="1646" y="359"/>
                    <a:pt x="1716" y="394"/>
                  </a:cubicBezTo>
                  <a:cubicBezTo>
                    <a:pt x="1786" y="429"/>
                    <a:pt x="1964" y="520"/>
                    <a:pt x="1991" y="532"/>
                  </a:cubicBezTo>
                  <a:cubicBezTo>
                    <a:pt x="2018" y="544"/>
                    <a:pt x="1922" y="485"/>
                    <a:pt x="1878" y="469"/>
                  </a:cubicBezTo>
                  <a:cubicBezTo>
                    <a:pt x="1834" y="453"/>
                    <a:pt x="1789" y="443"/>
                    <a:pt x="1728" y="438"/>
                  </a:cubicBezTo>
                  <a:cubicBezTo>
                    <a:pt x="1667" y="433"/>
                    <a:pt x="1586" y="430"/>
                    <a:pt x="1509" y="438"/>
                  </a:cubicBezTo>
                  <a:cubicBezTo>
                    <a:pt x="1432" y="446"/>
                    <a:pt x="1323" y="471"/>
                    <a:pt x="1265" y="488"/>
                  </a:cubicBezTo>
                  <a:cubicBezTo>
                    <a:pt x="1207" y="505"/>
                    <a:pt x="1191" y="513"/>
                    <a:pt x="1158" y="538"/>
                  </a:cubicBezTo>
                  <a:cubicBezTo>
                    <a:pt x="1125" y="563"/>
                    <a:pt x="1088" y="599"/>
                    <a:pt x="1065" y="638"/>
                  </a:cubicBezTo>
                  <a:cubicBezTo>
                    <a:pt x="1042" y="677"/>
                    <a:pt x="1031" y="738"/>
                    <a:pt x="1021" y="770"/>
                  </a:cubicBezTo>
                  <a:cubicBezTo>
                    <a:pt x="1011" y="802"/>
                    <a:pt x="1020" y="828"/>
                    <a:pt x="1002" y="832"/>
                  </a:cubicBezTo>
                  <a:cubicBezTo>
                    <a:pt x="984" y="836"/>
                    <a:pt x="1060" y="865"/>
                    <a:pt x="914" y="795"/>
                  </a:cubicBezTo>
                  <a:cubicBezTo>
                    <a:pt x="768" y="725"/>
                    <a:pt x="250" y="503"/>
                    <a:pt x="125" y="413"/>
                  </a:cubicBezTo>
                  <a:close/>
                </a:path>
              </a:pathLst>
            </a:cu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08000" tIns="72000" rIns="108000" bIns="72000" anchor="ctr" anchorCtr="1"/>
            <a:lstStyle/>
            <a:p>
              <a:endParaRPr lang="en-GB"/>
            </a:p>
          </p:txBody>
        </p:sp>
        <p:sp>
          <p:nvSpPr>
            <p:cNvPr id="9256" name="Text Box 4"/>
            <p:cNvSpPr txBox="1">
              <a:spLocks noChangeArrowheads="1"/>
            </p:cNvSpPr>
            <p:nvPr/>
          </p:nvSpPr>
          <p:spPr bwMode="auto">
            <a:xfrm>
              <a:off x="3012" y="1965"/>
              <a:ext cx="267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S</a:t>
              </a:r>
            </a:p>
          </p:txBody>
        </p:sp>
      </p:grpSp>
      <p:sp>
        <p:nvSpPr>
          <p:cNvPr id="266248" name="Text Box 8"/>
          <p:cNvSpPr txBox="1">
            <a:spLocks noChangeArrowheads="1"/>
          </p:cNvSpPr>
          <p:nvPr/>
        </p:nvSpPr>
        <p:spPr bwMode="auto">
          <a:xfrm>
            <a:off x="1439071" y="4184718"/>
            <a:ext cx="1328991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 err="1">
                <a:latin typeface="Arial" panose="020B0604020202020204" pitchFamily="34" charset="0"/>
              </a:rPr>
              <a:t>dS</a:t>
            </a:r>
            <a:r>
              <a:rPr lang="es-ES" sz="2400" dirty="0">
                <a:latin typeface="Arial" panose="020B0604020202020204" pitchFamily="34" charset="0"/>
              </a:rPr>
              <a:t> &lt;&lt; S</a:t>
            </a:r>
          </a:p>
        </p:txBody>
      </p:sp>
      <p:grpSp>
        <p:nvGrpSpPr>
          <p:cNvPr id="1107" name="Group 83"/>
          <p:cNvGrpSpPr>
            <a:grpSpLocks/>
          </p:cNvGrpSpPr>
          <p:nvPr/>
        </p:nvGrpSpPr>
        <p:grpSpPr bwMode="auto">
          <a:xfrm>
            <a:off x="1209988" y="5530214"/>
            <a:ext cx="7778752" cy="514351"/>
            <a:chOff x="1036" y="3599"/>
            <a:chExt cx="4900" cy="324"/>
          </a:xfrm>
        </p:grpSpPr>
        <p:sp>
          <p:nvSpPr>
            <p:cNvPr id="9253" name="Text Box 13"/>
            <p:cNvSpPr txBox="1">
              <a:spLocks noChangeArrowheads="1"/>
            </p:cNvSpPr>
            <p:nvPr/>
          </p:nvSpPr>
          <p:spPr bwMode="auto">
            <a:xfrm>
              <a:off x="1036" y="3599"/>
              <a:ext cx="4900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cs typeface="Times New Roman" panose="02020603050405020304" pitchFamily="18" charset="0"/>
                </a:rPr>
                <a:t>•</a:t>
              </a:r>
              <a:r>
                <a:rPr lang="es-ES" sz="2400" dirty="0">
                  <a:latin typeface="Arial" panose="020B0604020202020204" pitchFamily="34" charset="0"/>
                </a:rPr>
                <a:t>       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</a:t>
              </a:r>
              <a:r>
                <a:rPr lang="es-ES" sz="2400" dirty="0">
                  <a:latin typeface="Arial" panose="020B0604020202020204" pitchFamily="34" charset="0"/>
                </a:rPr>
                <a:t> </a:t>
              </a:r>
              <a:r>
                <a:rPr lang="es-ES" sz="2400" dirty="0" err="1">
                  <a:latin typeface="Arial" panose="020B0604020202020204" pitchFamily="34" charset="0"/>
                </a:rPr>
                <a:t>dS</a:t>
              </a:r>
              <a:r>
                <a:rPr lang="es-ES" sz="2400" dirty="0">
                  <a:latin typeface="Arial" panose="020B0604020202020204" pitchFamily="34" charset="0"/>
                </a:rPr>
                <a:t>, en su centro geométrico, en </a:t>
              </a:r>
              <a:r>
                <a:rPr lang="es-E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sentido positivo</a:t>
              </a:r>
            </a:p>
          </p:txBody>
        </p:sp>
        <p:graphicFrame>
          <p:nvGraphicFramePr>
            <p:cNvPr id="9254" name="Object 14"/>
            <p:cNvGraphicFramePr>
              <a:graphicFrameLocks noChangeAspect="1"/>
            </p:cNvGraphicFramePr>
            <p:nvPr/>
          </p:nvGraphicFramePr>
          <p:xfrm>
            <a:off x="1238" y="3606"/>
            <a:ext cx="276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203024" imgH="215713" progId="Equation.3">
                    <p:embed/>
                  </p:oleObj>
                </mc:Choice>
                <mc:Fallback>
                  <p:oleObj name="Ecuación" r:id="rId3" imgW="203024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8" y="3606"/>
                          <a:ext cx="276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255" name="Text Box 15"/>
          <p:cNvSpPr txBox="1">
            <a:spLocks noChangeArrowheads="1"/>
          </p:cNvSpPr>
          <p:nvPr/>
        </p:nvSpPr>
        <p:spPr bwMode="auto">
          <a:xfrm>
            <a:off x="1570379" y="6183669"/>
            <a:ext cx="9061382" cy="88407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Dentro 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de </a:t>
            </a: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cada punto,</a:t>
            </a: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  <a:sym typeface="Webdings" panose="05030102010509060703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Webdings" panose="05030102010509060703" pitchFamily="18" charset="2"/>
              </a:rPr>
              <a:t>la </a:t>
            </a:r>
            <a:r>
              <a:rPr lang="es-ES" sz="2400" dirty="0">
                <a:latin typeface="Arial" panose="020B0604020202020204" pitchFamily="34" charset="0"/>
              </a:rPr>
              <a:t>magnitud</a:t>
            </a:r>
            <a:r>
              <a:rPr lang="es-ES" sz="2400" b="1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considerada, p.</a:t>
            </a:r>
            <a:r>
              <a:rPr lang="es-ES" sz="2400">
                <a:latin typeface="Arial" panose="020B0604020202020204" pitchFamily="34" charset="0"/>
              </a:rPr>
              <a:t>ej., </a:t>
            </a:r>
            <a:r>
              <a:rPr lang="es-ES" sz="2400" b="1" dirty="0">
                <a:latin typeface="Arial" panose="020B0604020202020204" pitchFamily="34" charset="0"/>
              </a:rPr>
              <a:t>A</a:t>
            </a:r>
            <a:r>
              <a:rPr lang="es-ES" sz="2400" dirty="0">
                <a:latin typeface="Arial" panose="020B0604020202020204" pitchFamily="34" charset="0"/>
              </a:rPr>
              <a:t>, </a:t>
            </a:r>
            <a:r>
              <a:rPr lang="es-ES" sz="2400">
                <a:latin typeface="Arial" panose="020B0604020202020204" pitchFamily="34" charset="0"/>
              </a:rPr>
              <a:t>debe ser constante</a:t>
            </a:r>
            <a:r>
              <a:rPr lang="es-ES" sz="2400" dirty="0">
                <a:latin typeface="Arial" panose="020B0604020202020204" pitchFamily="34" charset="0"/>
              </a:rPr>
              <a:t>. Ese valor se asocia al centro geométrico </a:t>
            </a:r>
            <a:r>
              <a:rPr lang="es-ES" sz="2400">
                <a:latin typeface="Arial" panose="020B0604020202020204" pitchFamily="34" charset="0"/>
              </a:rPr>
              <a:t>del punto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097" name="Freeform 18"/>
          <p:cNvSpPr>
            <a:spLocks/>
          </p:cNvSpPr>
          <p:nvPr/>
        </p:nvSpPr>
        <p:spPr bwMode="auto">
          <a:xfrm>
            <a:off x="3101226" y="3453887"/>
            <a:ext cx="436563" cy="149225"/>
          </a:xfrm>
          <a:custGeom>
            <a:avLst/>
            <a:gdLst>
              <a:gd name="T0" fmla="*/ 0 w 275"/>
              <a:gd name="T1" fmla="*/ 2147483646 h 94"/>
              <a:gd name="T2" fmla="*/ 2147483646 w 275"/>
              <a:gd name="T3" fmla="*/ 0 h 94"/>
              <a:gd name="T4" fmla="*/ 2147483646 w 275"/>
              <a:gd name="T5" fmla="*/ 2147483646 h 94"/>
              <a:gd name="T6" fmla="*/ 2147483646 w 275"/>
              <a:gd name="T7" fmla="*/ 2147483646 h 94"/>
              <a:gd name="T8" fmla="*/ 0 w 275"/>
              <a:gd name="T9" fmla="*/ 2147483646 h 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94"/>
              <a:gd name="T17" fmla="*/ 275 w 275"/>
              <a:gd name="T18" fmla="*/ 94 h 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94">
                <a:moveTo>
                  <a:pt x="0" y="37"/>
                </a:moveTo>
                <a:lnTo>
                  <a:pt x="175" y="0"/>
                </a:lnTo>
                <a:lnTo>
                  <a:pt x="275" y="62"/>
                </a:lnTo>
                <a:lnTo>
                  <a:pt x="106" y="94"/>
                </a:lnTo>
                <a:lnTo>
                  <a:pt x="0" y="37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08000" tIns="72000" rIns="108000" bIns="72000" anchor="ctr" anchorCtr="1"/>
          <a:lstStyle/>
          <a:p>
            <a:endParaRPr lang="en-GB"/>
          </a:p>
        </p:txBody>
      </p:sp>
      <p:sp>
        <p:nvSpPr>
          <p:cNvPr id="1098" name="Text Box 19"/>
          <p:cNvSpPr txBox="1">
            <a:spLocks noChangeArrowheads="1"/>
          </p:cNvSpPr>
          <p:nvPr/>
        </p:nvSpPr>
        <p:spPr bwMode="auto">
          <a:xfrm>
            <a:off x="3145676" y="3590412"/>
            <a:ext cx="594816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dS</a:t>
            </a:r>
          </a:p>
        </p:txBody>
      </p:sp>
      <p:sp>
        <p:nvSpPr>
          <p:cNvPr id="9224" name="Rectangle 40"/>
          <p:cNvSpPr>
            <a:spLocks noChangeArrowheads="1"/>
          </p:cNvSpPr>
          <p:nvPr/>
        </p:nvSpPr>
        <p:spPr bwMode="auto">
          <a:xfrm>
            <a:off x="1259683" y="481747"/>
            <a:ext cx="6783387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2.1. FLUJO Y CIRCULACIÓN</a:t>
            </a:r>
          </a:p>
        </p:txBody>
      </p:sp>
      <p:sp>
        <p:nvSpPr>
          <p:cNvPr id="9251" name="Line 52"/>
          <p:cNvSpPr>
            <a:spLocks noChangeShapeType="1"/>
          </p:cNvSpPr>
          <p:nvPr/>
        </p:nvSpPr>
        <p:spPr bwMode="auto">
          <a:xfrm flipV="1">
            <a:off x="3320301" y="2855399"/>
            <a:ext cx="0" cy="676274"/>
          </a:xfrm>
          <a:prstGeom prst="line">
            <a:avLst/>
          </a:prstGeom>
          <a:noFill/>
          <a:ln w="38100">
            <a:solidFill>
              <a:srgbClr val="0000FF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8000" tIns="72000" rIns="108000" bIns="72000" anchor="ctr" anchorCtr="1"/>
          <a:lstStyle/>
          <a:p>
            <a:endParaRPr lang="en-GB"/>
          </a:p>
        </p:txBody>
      </p:sp>
      <p:graphicFrame>
        <p:nvGraphicFramePr>
          <p:cNvPr id="9252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406582"/>
              </p:ext>
            </p:extLst>
          </p:nvPr>
        </p:nvGraphicFramePr>
        <p:xfrm>
          <a:off x="3421901" y="2464874"/>
          <a:ext cx="4667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215619" imgH="215619" progId="Equation.3">
                  <p:embed/>
                </p:oleObj>
              </mc:Choice>
              <mc:Fallback>
                <p:oleObj name="Ecuación" r:id="rId5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901" y="2464874"/>
                        <a:ext cx="4667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8" name="Line 55"/>
          <p:cNvSpPr>
            <a:spLocks noChangeShapeType="1"/>
          </p:cNvSpPr>
          <p:nvPr/>
        </p:nvSpPr>
        <p:spPr bwMode="auto">
          <a:xfrm flipV="1">
            <a:off x="3328236" y="3055424"/>
            <a:ext cx="1192211" cy="466725"/>
          </a:xfrm>
          <a:prstGeom prst="line">
            <a:avLst/>
          </a:prstGeom>
          <a:noFill/>
          <a:ln w="38100">
            <a:solidFill>
              <a:srgbClr val="008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8000" tIns="72000" rIns="108000" bIns="72000" anchor="ctr" anchorCtr="1"/>
          <a:lstStyle/>
          <a:p>
            <a:endParaRPr lang="en-GB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46064F0-CBC1-4C02-9567-268984E1E106}"/>
              </a:ext>
            </a:extLst>
          </p:cNvPr>
          <p:cNvGrpSpPr/>
          <p:nvPr/>
        </p:nvGrpSpPr>
        <p:grpSpPr>
          <a:xfrm>
            <a:off x="4488697" y="2636324"/>
            <a:ext cx="471487" cy="719138"/>
            <a:chOff x="4383922" y="2464874"/>
            <a:chExt cx="471487" cy="719138"/>
          </a:xfrm>
        </p:grpSpPr>
        <p:sp>
          <p:nvSpPr>
            <p:cNvPr id="9249" name="Text Box 56"/>
            <p:cNvSpPr txBox="1">
              <a:spLocks noChangeArrowheads="1"/>
            </p:cNvSpPr>
            <p:nvPr/>
          </p:nvSpPr>
          <p:spPr bwMode="auto">
            <a:xfrm>
              <a:off x="4409322" y="2669662"/>
              <a:ext cx="423862" cy="51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9250" name="Text Box 57"/>
            <p:cNvSpPr txBox="1">
              <a:spLocks noChangeArrowheads="1"/>
            </p:cNvSpPr>
            <p:nvPr/>
          </p:nvSpPr>
          <p:spPr bwMode="auto">
            <a:xfrm>
              <a:off x="4383922" y="2464874"/>
              <a:ext cx="471487" cy="452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endParaRPr lang="es-ES" sz="2000">
                <a:latin typeface="Arial" panose="020B0604020202020204" pitchFamily="34" charset="0"/>
              </a:endParaRPr>
            </a:p>
          </p:txBody>
        </p:sp>
      </p:grpSp>
      <p:sp>
        <p:nvSpPr>
          <p:cNvPr id="266304" name="Text Box 64"/>
          <p:cNvSpPr txBox="1">
            <a:spLocks noChangeArrowheads="1"/>
          </p:cNvSpPr>
          <p:nvPr/>
        </p:nvSpPr>
        <p:spPr bwMode="auto">
          <a:xfrm>
            <a:off x="1349125" y="1062973"/>
            <a:ext cx="9009653" cy="51473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CARACTERIZACIÓN MATEMÁTICA DE UNA SUPERFICIE</a:t>
            </a:r>
          </a:p>
        </p:txBody>
      </p:sp>
      <p:grpSp>
        <p:nvGrpSpPr>
          <p:cNvPr id="16" name="76 Grupo"/>
          <p:cNvGrpSpPr>
            <a:grpSpLocks/>
          </p:cNvGrpSpPr>
          <p:nvPr/>
        </p:nvGrpSpPr>
        <p:grpSpPr bwMode="auto">
          <a:xfrm>
            <a:off x="1406219" y="2656224"/>
            <a:ext cx="1672782" cy="797662"/>
            <a:chOff x="1067243" y="2317011"/>
            <a:chExt cx="1672782" cy="797663"/>
          </a:xfrm>
        </p:grpSpPr>
        <p:sp>
          <p:nvSpPr>
            <p:cNvPr id="9246" name="Text Box 65"/>
            <p:cNvSpPr txBox="1">
              <a:spLocks noChangeArrowheads="1"/>
            </p:cNvSpPr>
            <p:nvPr/>
          </p:nvSpPr>
          <p:spPr bwMode="auto">
            <a:xfrm>
              <a:off x="1067243" y="2317011"/>
              <a:ext cx="1022817" cy="514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Punto</a:t>
              </a:r>
            </a:p>
          </p:txBody>
        </p:sp>
        <p:sp>
          <p:nvSpPr>
            <p:cNvPr id="9247" name="Line 66"/>
            <p:cNvSpPr>
              <a:spLocks noChangeShapeType="1"/>
            </p:cNvSpPr>
            <p:nvPr/>
          </p:nvSpPr>
          <p:spPr bwMode="auto">
            <a:xfrm flipH="1" flipV="1">
              <a:off x="2090060" y="2779569"/>
              <a:ext cx="649965" cy="33510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108000" tIns="72000" rIns="108000" bIns="72000" anchor="ctr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11281" name="Group 82"/>
          <p:cNvGrpSpPr>
            <a:grpSpLocks/>
          </p:cNvGrpSpPr>
          <p:nvPr/>
        </p:nvGrpSpPr>
        <p:grpSpPr bwMode="auto">
          <a:xfrm>
            <a:off x="1039731" y="4968282"/>
            <a:ext cx="7746187" cy="514350"/>
            <a:chOff x="1036" y="3344"/>
            <a:chExt cx="4386" cy="324"/>
          </a:xfrm>
        </p:grpSpPr>
        <p:sp>
          <p:nvSpPr>
            <p:cNvPr id="9236" name="Text Box 10"/>
            <p:cNvSpPr txBox="1">
              <a:spLocks noChangeArrowheads="1"/>
            </p:cNvSpPr>
            <p:nvPr/>
          </p:nvSpPr>
          <p:spPr bwMode="auto">
            <a:xfrm>
              <a:off x="1036" y="3344"/>
              <a:ext cx="438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cs typeface="Times New Roman" panose="02020603050405020304" pitchFamily="18" charset="0"/>
                </a:rPr>
                <a:t>•</a:t>
              </a:r>
              <a:r>
                <a:rPr lang="es-ES" sz="2400" dirty="0">
                  <a:latin typeface="Arial" panose="020B0604020202020204" pitchFamily="34" charset="0"/>
                </a:rPr>
                <a:t> |    | = </a:t>
              </a:r>
              <a:r>
                <a:rPr lang="es-ES" sz="2400" dirty="0" err="1">
                  <a:latin typeface="Arial" panose="020B0604020202020204" pitchFamily="34" charset="0"/>
                </a:rPr>
                <a:t>dS</a:t>
              </a:r>
              <a:r>
                <a:rPr lang="es-ES" sz="2400" dirty="0">
                  <a:latin typeface="Arial" panose="020B0604020202020204" pitchFamily="34" charset="0"/>
                </a:rPr>
                <a:t> (una porción infinitesimal de la superficie)</a:t>
              </a:r>
              <a:endParaRPr lang="es-ES" sz="2400" dirty="0">
                <a:solidFill>
                  <a:srgbClr val="0099FF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9237" name="Object 11"/>
            <p:cNvGraphicFramePr>
              <a:graphicFrameLocks noChangeAspect="1"/>
            </p:cNvGraphicFramePr>
            <p:nvPr/>
          </p:nvGraphicFramePr>
          <p:xfrm>
            <a:off x="1330" y="3361"/>
            <a:ext cx="276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203024" imgH="215713" progId="Equation.3">
                    <p:embed/>
                  </p:oleObj>
                </mc:Choice>
                <mc:Fallback>
                  <p:oleObj name="Ecuación" r:id="rId7" imgW="203024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0" y="3361"/>
                          <a:ext cx="276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1359398" y="1670074"/>
            <a:ext cx="8613490" cy="529167"/>
            <a:chOff x="425623" y="1821885"/>
            <a:chExt cx="8612910" cy="529167"/>
          </a:xfrm>
        </p:grpSpPr>
        <p:sp>
          <p:nvSpPr>
            <p:cNvPr id="42024" name="Rectangle 6"/>
            <p:cNvSpPr>
              <a:spLocks noChangeArrowheads="1"/>
            </p:cNvSpPr>
            <p:nvPr/>
          </p:nvSpPr>
          <p:spPr bwMode="auto">
            <a:xfrm>
              <a:off x="6006684" y="1866029"/>
              <a:ext cx="463519" cy="4635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miter lim="800000"/>
              <a:headEnd/>
              <a:tailEnd/>
            </a:ln>
          </p:spPr>
          <p:txBody>
            <a:bodyPr wrap="none" lIns="108000" tIns="72000" rIns="108000" bIns="720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923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9756724"/>
                </p:ext>
              </p:extLst>
            </p:nvPr>
          </p:nvGraphicFramePr>
          <p:xfrm>
            <a:off x="5983870" y="1821885"/>
            <a:ext cx="481756" cy="513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203024" imgH="215713" progId="Equation.3">
                    <p:embed/>
                  </p:oleObj>
                </mc:Choice>
                <mc:Fallback>
                  <p:oleObj name="Ecuación" r:id="rId9" imgW="203024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83870" y="1821885"/>
                          <a:ext cx="481756" cy="513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4" name="Text Box 73"/>
            <p:cNvSpPr txBox="1">
              <a:spLocks noChangeArrowheads="1"/>
            </p:cNvSpPr>
            <p:nvPr/>
          </p:nvSpPr>
          <p:spPr bwMode="auto">
            <a:xfrm>
              <a:off x="425623" y="1835797"/>
              <a:ext cx="5383938" cy="51473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 cada punto se le asocia un vector:</a:t>
              </a:r>
            </a:p>
          </p:txBody>
        </p:sp>
        <p:sp>
          <p:nvSpPr>
            <p:cNvPr id="9235" name="CuadroTexto 3"/>
            <p:cNvSpPr txBox="1">
              <a:spLocks noChangeArrowheads="1"/>
            </p:cNvSpPr>
            <p:nvPr/>
          </p:nvSpPr>
          <p:spPr bwMode="auto">
            <a:xfrm>
              <a:off x="6491433" y="1836314"/>
              <a:ext cx="2547100" cy="514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FF0000"/>
                  </a:solidFill>
                </a:rPr>
                <a:t>(diferencial de S)</a:t>
              </a: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5775665" y="2363284"/>
            <a:ext cx="4583114" cy="2407845"/>
            <a:chOff x="5981145" y="2372888"/>
            <a:chExt cx="4583114" cy="2407845"/>
          </a:xfrm>
        </p:grpSpPr>
        <p:grpSp>
          <p:nvGrpSpPr>
            <p:cNvPr id="1114" name="Group 90"/>
            <p:cNvGrpSpPr>
              <a:grpSpLocks/>
            </p:cNvGrpSpPr>
            <p:nvPr/>
          </p:nvGrpSpPr>
          <p:grpSpPr bwMode="auto">
            <a:xfrm>
              <a:off x="5981145" y="2375670"/>
              <a:ext cx="4583114" cy="2405063"/>
              <a:chOff x="3555" y="1512"/>
              <a:chExt cx="2887" cy="1515"/>
            </a:xfrm>
          </p:grpSpPr>
          <p:sp>
            <p:nvSpPr>
              <p:cNvPr id="42003" name="Text Box 42"/>
              <p:cNvSpPr txBox="1">
                <a:spLocks noChangeArrowheads="1"/>
              </p:cNvSpPr>
              <p:nvPr/>
            </p:nvSpPr>
            <p:spPr bwMode="auto">
              <a:xfrm>
                <a:off x="4625" y="1871"/>
                <a:ext cx="885" cy="55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8000" tIns="72000" rIns="108000" bIns="720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s-ES" sz="2400" dirty="0">
                    <a:latin typeface="Arial" panose="020B0604020202020204" pitchFamily="34" charset="0"/>
                  </a:rPr>
                  <a:t>Lado convexo</a:t>
                </a:r>
              </a:p>
            </p:txBody>
          </p:sp>
          <p:sp>
            <p:nvSpPr>
              <p:cNvPr id="42004" name="Text Box 43"/>
              <p:cNvSpPr txBox="1">
                <a:spLocks noChangeArrowheads="1"/>
              </p:cNvSpPr>
              <p:nvPr/>
            </p:nvSpPr>
            <p:spPr bwMode="auto">
              <a:xfrm>
                <a:off x="4625" y="2470"/>
                <a:ext cx="885" cy="557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8000" tIns="72000" rIns="108000" bIns="720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s-ES" sz="2400">
                    <a:latin typeface="Arial" panose="020B0604020202020204" pitchFamily="34" charset="0"/>
                  </a:rPr>
                  <a:t>Lado cóncavo</a:t>
                </a:r>
              </a:p>
            </p:txBody>
          </p:sp>
          <p:sp>
            <p:nvSpPr>
              <p:cNvPr id="9240" name="Text Box 69"/>
              <p:cNvSpPr txBox="1">
                <a:spLocks noChangeArrowheads="1"/>
              </p:cNvSpPr>
              <p:nvPr/>
            </p:nvSpPr>
            <p:spPr bwMode="auto">
              <a:xfrm>
                <a:off x="4625" y="1512"/>
                <a:ext cx="885" cy="32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8000" tIns="72000" rIns="108000" bIns="720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latin typeface="Arial" panose="020B0604020202020204" pitchFamily="34" charset="0"/>
                  </a:rPr>
                  <a:t>Abierta</a:t>
                </a:r>
              </a:p>
            </p:txBody>
          </p:sp>
          <p:sp>
            <p:nvSpPr>
              <p:cNvPr id="42006" name="Text Box 50"/>
              <p:cNvSpPr txBox="1">
                <a:spLocks noChangeArrowheads="1"/>
              </p:cNvSpPr>
              <p:nvPr/>
            </p:nvSpPr>
            <p:spPr bwMode="auto">
              <a:xfrm>
                <a:off x="5561" y="1871"/>
                <a:ext cx="881" cy="55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8000" tIns="72000" rIns="108000" bIns="720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s-ES" sz="2400">
                    <a:latin typeface="Arial" panose="020B0604020202020204" pitchFamily="34" charset="0"/>
                  </a:rPr>
                  <a:t>Hacia fuera</a:t>
                </a:r>
              </a:p>
            </p:txBody>
          </p:sp>
          <p:sp>
            <p:nvSpPr>
              <p:cNvPr id="42007" name="Text Box 70"/>
              <p:cNvSpPr txBox="1">
                <a:spLocks noChangeArrowheads="1"/>
              </p:cNvSpPr>
              <p:nvPr/>
            </p:nvSpPr>
            <p:spPr bwMode="auto">
              <a:xfrm>
                <a:off x="5561" y="2470"/>
                <a:ext cx="881" cy="557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8000" tIns="72000" rIns="108000" bIns="720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s-ES" sz="2400">
                    <a:latin typeface="Arial" panose="020B0604020202020204" pitchFamily="34" charset="0"/>
                  </a:rPr>
                  <a:t>Hacia dentro</a:t>
                </a:r>
              </a:p>
            </p:txBody>
          </p:sp>
          <p:sp>
            <p:nvSpPr>
              <p:cNvPr id="9243" name="Text Box 78"/>
              <p:cNvSpPr txBox="1">
                <a:spLocks noChangeArrowheads="1"/>
              </p:cNvSpPr>
              <p:nvPr/>
            </p:nvSpPr>
            <p:spPr bwMode="auto">
              <a:xfrm>
                <a:off x="5561" y="1512"/>
                <a:ext cx="881" cy="32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8000" tIns="72000" rIns="108000" bIns="720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latin typeface="Arial" panose="020B0604020202020204" pitchFamily="34" charset="0"/>
                  </a:rPr>
                  <a:t>Cerrada</a:t>
                </a:r>
              </a:p>
            </p:txBody>
          </p:sp>
          <p:sp>
            <p:nvSpPr>
              <p:cNvPr id="9244" name="Text Box 84"/>
              <p:cNvSpPr txBox="1">
                <a:spLocks noChangeArrowheads="1"/>
              </p:cNvSpPr>
              <p:nvPr/>
            </p:nvSpPr>
            <p:spPr bwMode="auto">
              <a:xfrm>
                <a:off x="3555" y="1871"/>
                <a:ext cx="1023" cy="55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108000" tIns="72000" rIns="108000" bIns="72000" anchor="ctr" anchorCtr="1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 sz="2400"/>
                  <a:t>Sentido positivo</a:t>
                </a:r>
              </a:p>
            </p:txBody>
          </p:sp>
          <p:sp>
            <p:nvSpPr>
              <p:cNvPr id="9245" name="Text Box 85"/>
              <p:cNvSpPr txBox="1">
                <a:spLocks noChangeArrowheads="1"/>
              </p:cNvSpPr>
              <p:nvPr/>
            </p:nvSpPr>
            <p:spPr bwMode="auto">
              <a:xfrm>
                <a:off x="3555" y="2470"/>
                <a:ext cx="1026" cy="55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108000" tIns="72000" rIns="108000" bIns="72000" anchor="ctr" anchorCtr="1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 sz="2400"/>
                  <a:t>Sentido negativo</a:t>
                </a:r>
              </a:p>
            </p:txBody>
          </p:sp>
        </p:grpSp>
        <p:sp>
          <p:nvSpPr>
            <p:cNvPr id="41" name="Text Box 69"/>
            <p:cNvSpPr txBox="1">
              <a:spLocks noChangeArrowheads="1"/>
            </p:cNvSpPr>
            <p:nvPr/>
          </p:nvSpPr>
          <p:spPr bwMode="auto">
            <a:xfrm>
              <a:off x="5981689" y="2372888"/>
              <a:ext cx="1631120" cy="51473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Superficie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041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6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66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6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6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6248" grpId="0"/>
      <p:bldP spid="266255" grpId="0" animBg="1"/>
      <p:bldP spid="1097" grpId="0" animBg="1"/>
      <p:bldP spid="1098" grpId="0"/>
      <p:bldP spid="9251" grpId="0" animBg="1"/>
      <p:bldP spid="9248" grpId="0" animBg="1"/>
      <p:bldP spid="26630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 43">
            <a:extLst>
              <a:ext uri="{FF2B5EF4-FFF2-40B4-BE49-F238E27FC236}">
                <a16:creationId xmlns:a16="http://schemas.microsoft.com/office/drawing/2014/main" id="{CEBBA261-751C-436C-AD2D-53E20FB2CFBF}"/>
              </a:ext>
            </a:extLst>
          </p:cNvPr>
          <p:cNvSpPr/>
          <p:nvPr/>
        </p:nvSpPr>
        <p:spPr bwMode="auto">
          <a:xfrm>
            <a:off x="1359400" y="2372809"/>
            <a:ext cx="4260350" cy="240784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66263" name="Text Box 23"/>
          <p:cNvSpPr txBox="1">
            <a:spLocks noChangeArrowheads="1"/>
          </p:cNvSpPr>
          <p:nvPr/>
        </p:nvSpPr>
        <p:spPr bwMode="auto">
          <a:xfrm>
            <a:off x="4410146" y="4312509"/>
            <a:ext cx="11769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dl &lt;&lt; C</a:t>
            </a:r>
          </a:p>
        </p:txBody>
      </p:sp>
      <p:grpSp>
        <p:nvGrpSpPr>
          <p:cNvPr id="70757" name="Group 101"/>
          <p:cNvGrpSpPr>
            <a:grpSpLocks/>
          </p:cNvGrpSpPr>
          <p:nvPr/>
        </p:nvGrpSpPr>
        <p:grpSpPr bwMode="auto">
          <a:xfrm>
            <a:off x="1239908" y="5512420"/>
            <a:ext cx="9066213" cy="534989"/>
            <a:chOff x="1094" y="3547"/>
            <a:chExt cx="5711" cy="337"/>
          </a:xfrm>
        </p:grpSpPr>
        <p:sp>
          <p:nvSpPr>
            <p:cNvPr id="11305" name="Text Box 28"/>
            <p:cNvSpPr txBox="1">
              <a:spLocks noChangeArrowheads="1"/>
            </p:cNvSpPr>
            <p:nvPr/>
          </p:nvSpPr>
          <p:spPr bwMode="auto">
            <a:xfrm>
              <a:off x="1094" y="3593"/>
              <a:ext cx="571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cs typeface="Times New Roman" panose="02020603050405020304" pitchFamily="18" charset="0"/>
                </a:rPr>
                <a:t>•</a:t>
              </a:r>
              <a:r>
                <a:rPr lang="es-ES" sz="2400">
                  <a:latin typeface="Arial" panose="020B0604020202020204" pitchFamily="34" charset="0"/>
                </a:rPr>
                <a:t>       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//</a:t>
              </a:r>
              <a:r>
                <a:rPr lang="es-ES" sz="2400">
                  <a:latin typeface="Arial" panose="020B0604020202020204" pitchFamily="34" charset="0"/>
                </a:rPr>
                <a:t> dl (es tangente), en centro geométrico, en </a:t>
              </a:r>
              <a:r>
                <a:rPr lang="es-ES" sz="2400">
                  <a:solidFill>
                    <a:srgbClr val="0000FF"/>
                  </a:solidFill>
                  <a:latin typeface="Arial" panose="020B0604020202020204" pitchFamily="34" charset="0"/>
                </a:rPr>
                <a:t>sentido positivo</a:t>
              </a:r>
            </a:p>
          </p:txBody>
        </p:sp>
        <p:graphicFrame>
          <p:nvGraphicFramePr>
            <p:cNvPr id="11306" name="Object 29"/>
            <p:cNvGraphicFramePr>
              <a:graphicFrameLocks noChangeAspect="1"/>
            </p:cNvGraphicFramePr>
            <p:nvPr/>
          </p:nvGraphicFramePr>
          <p:xfrm>
            <a:off x="1282" y="3547"/>
            <a:ext cx="285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90335" imgH="215713" progId="Equation.3">
                    <p:embed/>
                  </p:oleObj>
                </mc:Choice>
                <mc:Fallback>
                  <p:oleObj name="Ecuación" r:id="rId3" imgW="190335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2" y="3547"/>
                          <a:ext cx="285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32"/>
          <p:cNvGrpSpPr>
            <a:grpSpLocks/>
          </p:cNvGrpSpPr>
          <p:nvPr/>
        </p:nvGrpSpPr>
        <p:grpSpPr bwMode="auto">
          <a:xfrm>
            <a:off x="2162176" y="3149291"/>
            <a:ext cx="3152776" cy="461963"/>
            <a:chOff x="4320" y="1431"/>
            <a:chExt cx="1986" cy="291"/>
          </a:xfrm>
        </p:grpSpPr>
        <p:sp>
          <p:nvSpPr>
            <p:cNvPr id="44072" name="Freeform 33"/>
            <p:cNvSpPr>
              <a:spLocks/>
            </p:cNvSpPr>
            <p:nvPr/>
          </p:nvSpPr>
          <p:spPr bwMode="auto">
            <a:xfrm>
              <a:off x="4320" y="1455"/>
              <a:ext cx="1699" cy="196"/>
            </a:xfrm>
            <a:custGeom>
              <a:avLst/>
              <a:gdLst>
                <a:gd name="T0" fmla="*/ 0 w 3120"/>
                <a:gd name="T1" fmla="*/ 0 h 489"/>
                <a:gd name="T2" fmla="*/ 1 w 3120"/>
                <a:gd name="T3" fmla="*/ 0 h 489"/>
                <a:gd name="T4" fmla="*/ 2 w 3120"/>
                <a:gd name="T5" fmla="*/ 0 h 489"/>
                <a:gd name="T6" fmla="*/ 4 w 3120"/>
                <a:gd name="T7" fmla="*/ 0 h 489"/>
                <a:gd name="T8" fmla="*/ 6 w 3120"/>
                <a:gd name="T9" fmla="*/ 0 h 489"/>
                <a:gd name="T10" fmla="*/ 7 w 3120"/>
                <a:gd name="T11" fmla="*/ 0 h 4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20"/>
                <a:gd name="T19" fmla="*/ 0 h 489"/>
                <a:gd name="T20" fmla="*/ 3120 w 3120"/>
                <a:gd name="T21" fmla="*/ 489 h 48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20" h="489">
                  <a:moveTo>
                    <a:pt x="0" y="489"/>
                  </a:moveTo>
                  <a:cubicBezTo>
                    <a:pt x="60" y="366"/>
                    <a:pt x="120" y="244"/>
                    <a:pt x="240" y="163"/>
                  </a:cubicBezTo>
                  <a:cubicBezTo>
                    <a:pt x="360" y="82"/>
                    <a:pt x="500" y="0"/>
                    <a:pt x="720" y="0"/>
                  </a:cubicBezTo>
                  <a:cubicBezTo>
                    <a:pt x="940" y="0"/>
                    <a:pt x="1260" y="109"/>
                    <a:pt x="1560" y="163"/>
                  </a:cubicBezTo>
                  <a:cubicBezTo>
                    <a:pt x="1860" y="217"/>
                    <a:pt x="2260" y="326"/>
                    <a:pt x="2520" y="326"/>
                  </a:cubicBezTo>
                  <a:cubicBezTo>
                    <a:pt x="2780" y="326"/>
                    <a:pt x="2950" y="244"/>
                    <a:pt x="3120" y="163"/>
                  </a:cubicBezTo>
                </a:path>
              </a:pathLst>
            </a:cu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s-ES">
                <a:ln>
                  <a:solidFill>
                    <a:srgbClr val="993300"/>
                  </a:solidFill>
                </a:ln>
              </a:endParaRPr>
            </a:p>
          </p:txBody>
        </p:sp>
        <p:sp>
          <p:nvSpPr>
            <p:cNvPr id="11304" name="Text Box 34"/>
            <p:cNvSpPr txBox="1">
              <a:spLocks noChangeArrowheads="1"/>
            </p:cNvSpPr>
            <p:nvPr/>
          </p:nvSpPr>
          <p:spPr bwMode="auto">
            <a:xfrm>
              <a:off x="6049" y="1431"/>
              <a:ext cx="25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C</a:t>
              </a:r>
            </a:p>
          </p:txBody>
        </p:sp>
      </p:grpSp>
      <p:sp>
        <p:nvSpPr>
          <p:cNvPr id="11300" name="Line 36"/>
          <p:cNvSpPr>
            <a:spLocks noChangeShapeType="1"/>
          </p:cNvSpPr>
          <p:nvPr/>
        </p:nvSpPr>
        <p:spPr bwMode="auto">
          <a:xfrm>
            <a:off x="2762250" y="3217552"/>
            <a:ext cx="914400" cy="854075"/>
          </a:xfrm>
          <a:prstGeom prst="line">
            <a:avLst/>
          </a:prstGeom>
          <a:noFill/>
          <a:ln w="38100">
            <a:solidFill>
              <a:srgbClr val="008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63230EBB-958F-47BF-BF59-A441ADA860E0}"/>
              </a:ext>
            </a:extLst>
          </p:cNvPr>
          <p:cNvGrpSpPr/>
          <p:nvPr/>
        </p:nvGrpSpPr>
        <p:grpSpPr>
          <a:xfrm>
            <a:off x="3651250" y="3790640"/>
            <a:ext cx="434975" cy="666750"/>
            <a:chOff x="3651250" y="3255397"/>
            <a:chExt cx="434975" cy="666750"/>
          </a:xfrm>
        </p:grpSpPr>
        <p:sp>
          <p:nvSpPr>
            <p:cNvPr id="11301" name="Text Box 37"/>
            <p:cNvSpPr txBox="1">
              <a:spLocks noChangeArrowheads="1"/>
            </p:cNvSpPr>
            <p:nvPr/>
          </p:nvSpPr>
          <p:spPr bwMode="auto">
            <a:xfrm>
              <a:off x="3657600" y="3460184"/>
              <a:ext cx="3905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1302" name="Text Box 38"/>
            <p:cNvSpPr txBox="1">
              <a:spLocks noChangeArrowheads="1"/>
            </p:cNvSpPr>
            <p:nvPr/>
          </p:nvSpPr>
          <p:spPr bwMode="auto">
            <a:xfrm>
              <a:off x="3651250" y="3255397"/>
              <a:ext cx="4349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endParaRPr lang="es-ES" sz="2000">
                <a:latin typeface="Arial" panose="020B0604020202020204" pitchFamily="34" charset="0"/>
              </a:endParaRPr>
            </a:p>
          </p:txBody>
        </p:sp>
      </p:grpSp>
      <p:sp>
        <p:nvSpPr>
          <p:cNvPr id="70702" name="Text Box 59"/>
          <p:cNvSpPr txBox="1">
            <a:spLocks noChangeArrowheads="1"/>
          </p:cNvSpPr>
          <p:nvPr/>
        </p:nvSpPr>
        <p:spPr bwMode="auto">
          <a:xfrm>
            <a:off x="2549692" y="2643813"/>
            <a:ext cx="4251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dl</a:t>
            </a:r>
          </a:p>
        </p:txBody>
      </p:sp>
      <p:sp>
        <p:nvSpPr>
          <p:cNvPr id="70703" name="Line 60"/>
          <p:cNvSpPr>
            <a:spLocks noChangeShapeType="1"/>
          </p:cNvSpPr>
          <p:nvPr/>
        </p:nvSpPr>
        <p:spPr bwMode="auto">
          <a:xfrm rot="5400000">
            <a:off x="2778919" y="3061489"/>
            <a:ext cx="0" cy="261938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11298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063865"/>
              </p:ext>
            </p:extLst>
          </p:nvPr>
        </p:nvGraphicFramePr>
        <p:xfrm>
          <a:off x="3106771" y="2676219"/>
          <a:ext cx="468315" cy="500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203024" imgH="215713" progId="Equation.3">
                  <p:embed/>
                </p:oleObj>
              </mc:Choice>
              <mc:Fallback>
                <p:oleObj name="Ecuación" r:id="rId5" imgW="203024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771" y="2676219"/>
                        <a:ext cx="468315" cy="500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9" name="Line 63"/>
          <p:cNvSpPr>
            <a:spLocks noChangeShapeType="1"/>
          </p:cNvSpPr>
          <p:nvPr/>
        </p:nvSpPr>
        <p:spPr bwMode="auto">
          <a:xfrm flipV="1">
            <a:off x="2768632" y="3187396"/>
            <a:ext cx="307977" cy="0"/>
          </a:xfrm>
          <a:prstGeom prst="line">
            <a:avLst/>
          </a:prstGeom>
          <a:noFill/>
          <a:ln w="38100">
            <a:solidFill>
              <a:srgbClr val="0000FF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grpSp>
        <p:nvGrpSpPr>
          <p:cNvPr id="17" name="79 Grupo"/>
          <p:cNvGrpSpPr>
            <a:grpSpLocks/>
          </p:cNvGrpSpPr>
          <p:nvPr/>
        </p:nvGrpSpPr>
        <p:grpSpPr bwMode="auto">
          <a:xfrm>
            <a:off x="1691017" y="3337615"/>
            <a:ext cx="986465" cy="1022771"/>
            <a:chOff x="6776350" y="3276330"/>
            <a:chExt cx="986465" cy="1022497"/>
          </a:xfrm>
        </p:grpSpPr>
        <p:sp>
          <p:nvSpPr>
            <p:cNvPr id="11296" name="Text Box 67"/>
            <p:cNvSpPr txBox="1">
              <a:spLocks noChangeArrowheads="1"/>
            </p:cNvSpPr>
            <p:nvPr/>
          </p:nvSpPr>
          <p:spPr bwMode="auto">
            <a:xfrm>
              <a:off x="6776350" y="3835104"/>
              <a:ext cx="986465" cy="4637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Punto</a:t>
              </a:r>
            </a:p>
          </p:txBody>
        </p:sp>
        <p:sp>
          <p:nvSpPr>
            <p:cNvPr id="11297" name="Line 68"/>
            <p:cNvSpPr>
              <a:spLocks noChangeShapeType="1"/>
            </p:cNvSpPr>
            <p:nvPr/>
          </p:nvSpPr>
          <p:spPr bwMode="auto">
            <a:xfrm flipH="1">
              <a:off x="7459663" y="3276330"/>
              <a:ext cx="293313" cy="558773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/>
            </a:p>
          </p:txBody>
        </p:sp>
      </p:grpSp>
      <p:sp>
        <p:nvSpPr>
          <p:cNvPr id="266304" name="Text Box 64"/>
          <p:cNvSpPr txBox="1">
            <a:spLocks noChangeArrowheads="1"/>
          </p:cNvSpPr>
          <p:nvPr/>
        </p:nvSpPr>
        <p:spPr bwMode="auto">
          <a:xfrm>
            <a:off x="1332812" y="1066771"/>
            <a:ext cx="8973309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CARACTERIZACIÓN MATEMÁTICA DE UN CAMINO</a:t>
            </a:r>
          </a:p>
        </p:txBody>
      </p:sp>
      <p:sp>
        <p:nvSpPr>
          <p:cNvPr id="266255" name="Text Box 15"/>
          <p:cNvSpPr txBox="1">
            <a:spLocks noChangeArrowheads="1"/>
          </p:cNvSpPr>
          <p:nvPr/>
        </p:nvSpPr>
        <p:spPr bwMode="auto">
          <a:xfrm>
            <a:off x="1549605" y="6227065"/>
            <a:ext cx="9066213" cy="830997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  <a:sym typeface="Webdings" panose="05030102010509060703" pitchFamily="18" charset="2"/>
              </a:rPr>
              <a:t>Dentro 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Webdings" panose="05030102010509060703" pitchFamily="18" charset="2"/>
              </a:rPr>
              <a:t>de </a:t>
            </a: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  <a:sym typeface="Webdings" panose="05030102010509060703" pitchFamily="18" charset="2"/>
              </a:rPr>
              <a:t>cada punto, 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Webdings" panose="05030102010509060703" pitchFamily="18" charset="2"/>
              </a:rPr>
              <a:t>la </a:t>
            </a:r>
            <a:r>
              <a:rPr lang="es-ES" sz="2400" dirty="0">
                <a:latin typeface="Arial" panose="020B0604020202020204" pitchFamily="34" charset="0"/>
              </a:rPr>
              <a:t>magnitud</a:t>
            </a:r>
            <a:r>
              <a:rPr lang="es-ES" sz="2400" b="1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considerada, p.</a:t>
            </a:r>
            <a:r>
              <a:rPr lang="es-ES" sz="2400">
                <a:latin typeface="Arial" panose="020B0604020202020204" pitchFamily="34" charset="0"/>
              </a:rPr>
              <a:t>ej., </a:t>
            </a:r>
            <a:r>
              <a:rPr lang="es-ES" sz="2400" b="1" dirty="0">
                <a:latin typeface="Arial" panose="020B0604020202020204" pitchFamily="34" charset="0"/>
              </a:rPr>
              <a:t>A</a:t>
            </a:r>
            <a:r>
              <a:rPr lang="es-ES" sz="2400" dirty="0">
                <a:latin typeface="Arial" panose="020B0604020202020204" pitchFamily="34" charset="0"/>
              </a:rPr>
              <a:t>, </a:t>
            </a:r>
            <a:r>
              <a:rPr lang="es-ES" sz="2400">
                <a:latin typeface="Arial" panose="020B0604020202020204" pitchFamily="34" charset="0"/>
              </a:rPr>
              <a:t>debe ser constante</a:t>
            </a:r>
            <a:r>
              <a:rPr lang="es-ES" sz="2400" dirty="0">
                <a:latin typeface="Arial" panose="020B0604020202020204" pitchFamily="34" charset="0"/>
              </a:rPr>
              <a:t>. Ese valor se asocia al centro geométrico </a:t>
            </a:r>
            <a:r>
              <a:rPr lang="es-ES" sz="2400">
                <a:latin typeface="Arial" panose="020B0604020202020204" pitchFamily="34" charset="0"/>
              </a:rPr>
              <a:t>del punto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70760" name="Group 104"/>
          <p:cNvGrpSpPr>
            <a:grpSpLocks/>
          </p:cNvGrpSpPr>
          <p:nvPr/>
        </p:nvGrpSpPr>
        <p:grpSpPr bwMode="auto">
          <a:xfrm>
            <a:off x="1241496" y="4971846"/>
            <a:ext cx="6640513" cy="528639"/>
            <a:chOff x="1045" y="3243"/>
            <a:chExt cx="4183" cy="333"/>
          </a:xfrm>
        </p:grpSpPr>
        <p:grpSp>
          <p:nvGrpSpPr>
            <p:cNvPr id="11292" name="Group 102"/>
            <p:cNvGrpSpPr>
              <a:grpSpLocks/>
            </p:cNvGrpSpPr>
            <p:nvPr/>
          </p:nvGrpSpPr>
          <p:grpSpPr bwMode="auto">
            <a:xfrm>
              <a:off x="1045" y="3263"/>
              <a:ext cx="4183" cy="313"/>
              <a:chOff x="1045" y="3284"/>
              <a:chExt cx="4183" cy="313"/>
            </a:xfrm>
          </p:grpSpPr>
          <p:sp>
            <p:nvSpPr>
              <p:cNvPr id="11294" name="Text Box 25"/>
              <p:cNvSpPr txBox="1">
                <a:spLocks noChangeArrowheads="1"/>
              </p:cNvSpPr>
              <p:nvPr/>
            </p:nvSpPr>
            <p:spPr bwMode="auto">
              <a:xfrm>
                <a:off x="1045" y="3292"/>
                <a:ext cx="418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•</a:t>
                </a:r>
                <a:r>
                  <a:rPr lang="es-ES" sz="2400" dirty="0">
                    <a:latin typeface="Arial" panose="020B0604020202020204" pitchFamily="34" charset="0"/>
                  </a:rPr>
                  <a:t> |    | = dl (una porción infinitesimal del camino)</a:t>
                </a:r>
              </a:p>
            </p:txBody>
          </p:sp>
          <p:graphicFrame>
            <p:nvGraphicFramePr>
              <p:cNvPr id="11295" name="Object 26"/>
              <p:cNvGraphicFramePr>
                <a:graphicFrameLocks noChangeAspect="1"/>
              </p:cNvGraphicFramePr>
              <p:nvPr/>
            </p:nvGraphicFramePr>
            <p:xfrm>
              <a:off x="1250" y="3284"/>
              <a:ext cx="278" cy="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7" imgW="190335" imgH="215713" progId="Equation.3">
                      <p:embed/>
                    </p:oleObj>
                  </mc:Choice>
                  <mc:Fallback>
                    <p:oleObj name="Ecuación" r:id="rId7" imgW="190335" imgH="21571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50" y="3284"/>
                            <a:ext cx="278" cy="3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293" name="Text Box 103"/>
            <p:cNvSpPr txBox="1">
              <a:spLocks noChangeArrowheads="1"/>
            </p:cNvSpPr>
            <p:nvPr/>
          </p:nvSpPr>
          <p:spPr bwMode="auto">
            <a:xfrm>
              <a:off x="1818" y="3243"/>
              <a:ext cx="11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46" name="Grupo 45"/>
          <p:cNvGrpSpPr>
            <a:grpSpLocks/>
          </p:cNvGrpSpPr>
          <p:nvPr/>
        </p:nvGrpSpPr>
        <p:grpSpPr bwMode="auto">
          <a:xfrm>
            <a:off x="1339723" y="1679318"/>
            <a:ext cx="8473053" cy="522553"/>
            <a:chOff x="517663" y="1864573"/>
            <a:chExt cx="8472492" cy="522553"/>
          </a:xfrm>
        </p:grpSpPr>
        <p:sp>
          <p:nvSpPr>
            <p:cNvPr id="47" name="Rectangle 6"/>
            <p:cNvSpPr>
              <a:spLocks noChangeArrowheads="1"/>
            </p:cNvSpPr>
            <p:nvPr/>
          </p:nvSpPr>
          <p:spPr bwMode="auto">
            <a:xfrm>
              <a:off x="6026528" y="1885907"/>
              <a:ext cx="463519" cy="4635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128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0271790"/>
                </p:ext>
              </p:extLst>
            </p:nvPr>
          </p:nvGraphicFramePr>
          <p:xfrm>
            <a:off x="6043988" y="1864573"/>
            <a:ext cx="409147" cy="4667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90335" imgH="215713" progId="Equation.3">
                    <p:embed/>
                  </p:oleObj>
                </mc:Choice>
                <mc:Fallback>
                  <p:oleObj name="Ecuación" r:id="rId9" imgW="190335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43988" y="1864573"/>
                          <a:ext cx="409147" cy="4667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0" name="Text Box 73"/>
            <p:cNvSpPr txBox="1">
              <a:spLocks noChangeArrowheads="1"/>
            </p:cNvSpPr>
            <p:nvPr/>
          </p:nvSpPr>
          <p:spPr bwMode="auto">
            <a:xfrm>
              <a:off x="517663" y="1876895"/>
              <a:ext cx="5330878" cy="51023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 cada punto se le asocia un vector:</a:t>
              </a:r>
            </a:p>
          </p:txBody>
        </p:sp>
        <p:sp>
          <p:nvSpPr>
            <p:cNvPr id="11291" name="CuadroTexto 49"/>
            <p:cNvSpPr txBox="1">
              <a:spLocks noChangeArrowheads="1"/>
            </p:cNvSpPr>
            <p:nvPr/>
          </p:nvSpPr>
          <p:spPr bwMode="auto">
            <a:xfrm>
              <a:off x="6510157" y="1876070"/>
              <a:ext cx="247999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FF0000"/>
                  </a:solidFill>
                </a:rPr>
                <a:t>(diferencial de L)</a:t>
              </a:r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5761038" y="2390401"/>
            <a:ext cx="4578557" cy="2399101"/>
            <a:chOff x="5665583" y="2503100"/>
            <a:chExt cx="4578557" cy="2399101"/>
          </a:xfrm>
        </p:grpSpPr>
        <p:grpSp>
          <p:nvGrpSpPr>
            <p:cNvPr id="52" name="Group 90"/>
            <p:cNvGrpSpPr>
              <a:grpSpLocks/>
            </p:cNvGrpSpPr>
            <p:nvPr/>
          </p:nvGrpSpPr>
          <p:grpSpPr bwMode="auto">
            <a:xfrm>
              <a:off x="5688014" y="2503488"/>
              <a:ext cx="4556126" cy="2398713"/>
              <a:chOff x="3602" y="1264"/>
              <a:chExt cx="2870" cy="1511"/>
            </a:xfrm>
          </p:grpSpPr>
          <p:sp>
            <p:nvSpPr>
              <p:cNvPr id="53" name="Text Box 42"/>
              <p:cNvSpPr txBox="1">
                <a:spLocks noChangeArrowheads="1"/>
              </p:cNvSpPr>
              <p:nvPr/>
            </p:nvSpPr>
            <p:spPr bwMode="auto">
              <a:xfrm>
                <a:off x="4643" y="1651"/>
                <a:ext cx="885" cy="52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s-ES" sz="2400">
                    <a:latin typeface="Arial" panose="020B0604020202020204" pitchFamily="34" charset="0"/>
                  </a:rPr>
                  <a:t>Hacia delante</a:t>
                </a:r>
              </a:p>
            </p:txBody>
          </p:sp>
          <p:sp>
            <p:nvSpPr>
              <p:cNvPr id="54" name="Text Box 43"/>
              <p:cNvSpPr txBox="1">
                <a:spLocks noChangeArrowheads="1"/>
              </p:cNvSpPr>
              <p:nvPr/>
            </p:nvSpPr>
            <p:spPr bwMode="auto">
              <a:xfrm>
                <a:off x="4643" y="2249"/>
                <a:ext cx="885" cy="523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s-ES" sz="2400">
                    <a:latin typeface="Arial" panose="020B0604020202020204" pitchFamily="34" charset="0"/>
                  </a:rPr>
                  <a:t>Hacia atrás</a:t>
                </a:r>
              </a:p>
            </p:txBody>
          </p:sp>
          <p:sp>
            <p:nvSpPr>
              <p:cNvPr id="11282" name="Text Box 69"/>
              <p:cNvSpPr txBox="1">
                <a:spLocks noChangeArrowheads="1"/>
              </p:cNvSpPr>
              <p:nvPr/>
            </p:nvSpPr>
            <p:spPr bwMode="auto">
              <a:xfrm>
                <a:off x="4643" y="1264"/>
                <a:ext cx="885" cy="32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8000" tIns="72000" rIns="108000" bIns="720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Abierto</a:t>
                </a:r>
              </a:p>
            </p:txBody>
          </p:sp>
          <p:sp>
            <p:nvSpPr>
              <p:cNvPr id="56" name="Text Box 50"/>
              <p:cNvSpPr txBox="1">
                <a:spLocks noChangeArrowheads="1"/>
              </p:cNvSpPr>
              <p:nvPr/>
            </p:nvSpPr>
            <p:spPr bwMode="auto">
              <a:xfrm>
                <a:off x="5591" y="1651"/>
                <a:ext cx="881" cy="52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s-ES" sz="2400">
                    <a:latin typeface="Arial" panose="020B0604020202020204" pitchFamily="34" charset="0"/>
                  </a:rPr>
                  <a:t>Anti horario</a:t>
                </a:r>
              </a:p>
            </p:txBody>
          </p:sp>
          <p:sp>
            <p:nvSpPr>
              <p:cNvPr id="57" name="Text Box 70"/>
              <p:cNvSpPr txBox="1">
                <a:spLocks noChangeArrowheads="1"/>
              </p:cNvSpPr>
              <p:nvPr/>
            </p:nvSpPr>
            <p:spPr bwMode="auto">
              <a:xfrm>
                <a:off x="5591" y="2249"/>
                <a:ext cx="881" cy="523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s-ES" sz="2400">
                    <a:latin typeface="Arial" panose="020B0604020202020204" pitchFamily="34" charset="0"/>
                  </a:rPr>
                  <a:t>Horario</a:t>
                </a:r>
              </a:p>
            </p:txBody>
          </p:sp>
          <p:sp>
            <p:nvSpPr>
              <p:cNvPr id="11285" name="Text Box 78"/>
              <p:cNvSpPr txBox="1">
                <a:spLocks noChangeArrowheads="1"/>
              </p:cNvSpPr>
              <p:nvPr/>
            </p:nvSpPr>
            <p:spPr bwMode="auto">
              <a:xfrm>
                <a:off x="5591" y="1264"/>
                <a:ext cx="881" cy="32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8000" tIns="72000" rIns="108000" bIns="720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Cerrado</a:t>
                </a:r>
              </a:p>
            </p:txBody>
          </p:sp>
          <p:sp>
            <p:nvSpPr>
              <p:cNvPr id="11286" name="Text Box 84"/>
              <p:cNvSpPr txBox="1">
                <a:spLocks noChangeArrowheads="1"/>
              </p:cNvSpPr>
              <p:nvPr/>
            </p:nvSpPr>
            <p:spPr bwMode="auto">
              <a:xfrm>
                <a:off x="3602" y="1653"/>
                <a:ext cx="976" cy="52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 sz="2400"/>
                  <a:t>Sentido positivo</a:t>
                </a:r>
              </a:p>
            </p:txBody>
          </p:sp>
          <p:sp>
            <p:nvSpPr>
              <p:cNvPr id="11287" name="Text Box 85"/>
              <p:cNvSpPr txBox="1">
                <a:spLocks noChangeArrowheads="1"/>
              </p:cNvSpPr>
              <p:nvPr/>
            </p:nvSpPr>
            <p:spPr bwMode="auto">
              <a:xfrm>
                <a:off x="3602" y="2250"/>
                <a:ext cx="979" cy="52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 sz="2400"/>
                  <a:t>Sentido negativo</a:t>
                </a:r>
              </a:p>
            </p:txBody>
          </p:sp>
        </p:grpSp>
        <p:sp>
          <p:nvSpPr>
            <p:cNvPr id="42" name="Text Box 69"/>
            <p:cNvSpPr txBox="1">
              <a:spLocks noChangeArrowheads="1"/>
            </p:cNvSpPr>
            <p:nvPr/>
          </p:nvSpPr>
          <p:spPr bwMode="auto">
            <a:xfrm>
              <a:off x="5665583" y="2503100"/>
              <a:ext cx="1549605" cy="51473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Camino</a:t>
              </a:r>
            </a:p>
          </p:txBody>
        </p:sp>
      </p:grpSp>
      <p:sp>
        <p:nvSpPr>
          <p:cNvPr id="43" name="Rectangle 40">
            <a:extLst>
              <a:ext uri="{FF2B5EF4-FFF2-40B4-BE49-F238E27FC236}">
                <a16:creationId xmlns:a16="http://schemas.microsoft.com/office/drawing/2014/main" id="{FF046ABA-1A4F-49F6-84BE-6D9304D15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83" y="481747"/>
            <a:ext cx="6783387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2.1. FLUJO Y CIRCULACIÓN</a:t>
            </a:r>
          </a:p>
        </p:txBody>
      </p:sp>
    </p:spTree>
    <p:extLst>
      <p:ext uri="{BB962C8B-B14F-4D97-AF65-F5344CB8AC3E}">
        <p14:creationId xmlns:p14="http://schemas.microsoft.com/office/powerpoint/2010/main" val="157225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6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66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70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0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0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6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6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11300" grpId="0" animBg="1"/>
      <p:bldP spid="70702" grpId="0"/>
      <p:bldP spid="70703" grpId="0" animBg="1"/>
      <p:bldP spid="11299" grpId="0" animBg="1"/>
      <p:bldP spid="266304" grpId="0" animBg="1"/>
      <p:bldP spid="26625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4" name="Group 126"/>
          <p:cNvGrpSpPr>
            <a:grpSpLocks/>
          </p:cNvGrpSpPr>
          <p:nvPr/>
        </p:nvGrpSpPr>
        <p:grpSpPr bwMode="auto">
          <a:xfrm>
            <a:off x="3674544" y="2511366"/>
            <a:ext cx="1439862" cy="727075"/>
            <a:chOff x="2436" y="1053"/>
            <a:chExt cx="907" cy="458"/>
          </a:xfrm>
        </p:grpSpPr>
        <p:sp>
          <p:nvSpPr>
            <p:cNvPr id="13391" name="Line 8"/>
            <p:cNvSpPr>
              <a:spLocks noChangeShapeType="1"/>
            </p:cNvSpPr>
            <p:nvPr/>
          </p:nvSpPr>
          <p:spPr bwMode="auto">
            <a:xfrm flipH="1">
              <a:off x="2436" y="1511"/>
              <a:ext cx="9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392" name="Text Box 9"/>
            <p:cNvSpPr txBox="1">
              <a:spLocks noChangeArrowheads="1"/>
            </p:cNvSpPr>
            <p:nvPr/>
          </p:nvSpPr>
          <p:spPr bwMode="auto">
            <a:xfrm>
              <a:off x="2573" y="1190"/>
              <a:ext cx="31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</a:t>
              </a:r>
              <a:r>
                <a:rPr lang="es-ES" sz="2400" baseline="-25000">
                  <a:latin typeface="Arial" panose="020B0604020202020204" pitchFamily="34" charset="0"/>
                </a:rPr>
                <a:t>n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13393" name="Text Box 10"/>
            <p:cNvSpPr txBox="1">
              <a:spLocks noChangeArrowheads="1"/>
            </p:cNvSpPr>
            <p:nvPr/>
          </p:nvSpPr>
          <p:spPr bwMode="auto">
            <a:xfrm>
              <a:off x="2542" y="1053"/>
              <a:ext cx="30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endParaRPr lang="es-E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2158" name="Group 110"/>
          <p:cNvGrpSpPr>
            <a:grpSpLocks/>
          </p:cNvGrpSpPr>
          <p:nvPr/>
        </p:nvGrpSpPr>
        <p:grpSpPr bwMode="auto">
          <a:xfrm>
            <a:off x="1774718" y="2485966"/>
            <a:ext cx="1439862" cy="752475"/>
            <a:chOff x="1114" y="1037"/>
            <a:chExt cx="907" cy="474"/>
          </a:xfrm>
        </p:grpSpPr>
        <p:sp>
          <p:nvSpPr>
            <p:cNvPr id="13388" name="Line 11"/>
            <p:cNvSpPr>
              <a:spLocks noChangeShapeType="1"/>
            </p:cNvSpPr>
            <p:nvPr/>
          </p:nvSpPr>
          <p:spPr bwMode="auto">
            <a:xfrm>
              <a:off x="1114" y="1511"/>
              <a:ext cx="9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389" name="Text Box 12"/>
            <p:cNvSpPr txBox="1">
              <a:spLocks noChangeArrowheads="1"/>
            </p:cNvSpPr>
            <p:nvPr/>
          </p:nvSpPr>
          <p:spPr bwMode="auto">
            <a:xfrm>
              <a:off x="1606" y="1180"/>
              <a:ext cx="31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</a:t>
              </a:r>
              <a:r>
                <a:rPr lang="es-ES" sz="2400" baseline="-25000">
                  <a:latin typeface="Arial" panose="020B0604020202020204" pitchFamily="34" charset="0"/>
                </a:rPr>
                <a:t>n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13390" name="Text Box 13"/>
            <p:cNvSpPr txBox="1">
              <a:spLocks noChangeArrowheads="1"/>
            </p:cNvSpPr>
            <p:nvPr/>
          </p:nvSpPr>
          <p:spPr bwMode="auto">
            <a:xfrm>
              <a:off x="1579" y="1037"/>
              <a:ext cx="30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endParaRPr lang="es-ES" sz="2400">
                <a:latin typeface="Arial" panose="020B0604020202020204" pitchFamily="34" charset="0"/>
              </a:endParaRPr>
            </a:p>
          </p:txBody>
        </p:sp>
      </p:grpSp>
      <p:sp>
        <p:nvSpPr>
          <p:cNvPr id="268441" name="Text Box 153"/>
          <p:cNvSpPr txBox="1">
            <a:spLocks noChangeArrowheads="1"/>
          </p:cNvSpPr>
          <p:nvPr/>
        </p:nvSpPr>
        <p:spPr bwMode="auto">
          <a:xfrm>
            <a:off x="1400627" y="5846258"/>
            <a:ext cx="5826642" cy="88407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44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Sumando las contribuciones de todos los puntos de S se tiene el flujo de </a:t>
            </a:r>
            <a:r>
              <a:rPr lang="es-ES" sz="2400" b="1" dirty="0">
                <a:latin typeface="Arial" panose="020B0604020202020204" pitchFamily="34" charset="0"/>
              </a:rPr>
              <a:t>A</a:t>
            </a:r>
            <a:r>
              <a:rPr lang="es-ES" sz="2400" dirty="0">
                <a:latin typeface="Arial" panose="020B0604020202020204" pitchFamily="34" charset="0"/>
              </a:rPr>
              <a:t> en S</a:t>
            </a:r>
          </a:p>
        </p:txBody>
      </p:sp>
      <p:sp>
        <p:nvSpPr>
          <p:cNvPr id="268447" name="Text Box 159"/>
          <p:cNvSpPr txBox="1">
            <a:spLocks noChangeArrowheads="1"/>
          </p:cNvSpPr>
          <p:nvPr/>
        </p:nvSpPr>
        <p:spPr bwMode="auto">
          <a:xfrm>
            <a:off x="1303460" y="4459830"/>
            <a:ext cx="1703388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&gt; 0</a:t>
            </a:r>
          </a:p>
        </p:txBody>
      </p:sp>
      <p:sp>
        <p:nvSpPr>
          <p:cNvPr id="268448" name="Text Box 160"/>
          <p:cNvSpPr txBox="1">
            <a:spLocks noChangeArrowheads="1"/>
          </p:cNvSpPr>
          <p:nvPr/>
        </p:nvSpPr>
        <p:spPr bwMode="auto">
          <a:xfrm>
            <a:off x="3072192" y="4460335"/>
            <a:ext cx="150336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ts val="0"/>
              </a:spcBef>
              <a:buFontTx/>
              <a:buNone/>
            </a:pP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&lt; 0</a:t>
            </a:r>
          </a:p>
        </p:txBody>
      </p:sp>
      <p:grpSp>
        <p:nvGrpSpPr>
          <p:cNvPr id="2161" name="Group 113"/>
          <p:cNvGrpSpPr>
            <a:grpSpLocks/>
          </p:cNvGrpSpPr>
          <p:nvPr/>
        </p:nvGrpSpPr>
        <p:grpSpPr bwMode="auto">
          <a:xfrm>
            <a:off x="3715819" y="2705042"/>
            <a:ext cx="1935162" cy="1598613"/>
            <a:chOff x="-469" y="1099"/>
            <a:chExt cx="1219" cy="1007"/>
          </a:xfrm>
        </p:grpSpPr>
        <p:grpSp>
          <p:nvGrpSpPr>
            <p:cNvPr id="13367" name="Group 14"/>
            <p:cNvGrpSpPr>
              <a:grpSpLocks/>
            </p:cNvGrpSpPr>
            <p:nvPr/>
          </p:nvGrpSpPr>
          <p:grpSpPr bwMode="auto">
            <a:xfrm>
              <a:off x="-469" y="1099"/>
              <a:ext cx="1219" cy="949"/>
              <a:chOff x="2249" y="1175"/>
              <a:chExt cx="1219" cy="949"/>
            </a:xfrm>
          </p:grpSpPr>
          <p:grpSp>
            <p:nvGrpSpPr>
              <p:cNvPr id="13369" name="Group 15"/>
              <p:cNvGrpSpPr>
                <a:grpSpLocks/>
              </p:cNvGrpSpPr>
              <p:nvPr/>
            </p:nvGrpSpPr>
            <p:grpSpPr bwMode="auto">
              <a:xfrm>
                <a:off x="2249" y="1175"/>
                <a:ext cx="1219" cy="949"/>
                <a:chOff x="2249" y="1175"/>
                <a:chExt cx="1219" cy="949"/>
              </a:xfrm>
            </p:grpSpPr>
            <p:sp>
              <p:nvSpPr>
                <p:cNvPr id="13371" name="Line 16"/>
                <p:cNvSpPr>
                  <a:spLocks noChangeShapeType="1"/>
                </p:cNvSpPr>
                <p:nvPr/>
              </p:nvSpPr>
              <p:spPr bwMode="auto">
                <a:xfrm>
                  <a:off x="3146" y="1182"/>
                  <a:ext cx="0" cy="717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/>
                </a:p>
              </p:txBody>
            </p:sp>
            <p:sp>
              <p:nvSpPr>
                <p:cNvPr id="13372" name="Line 17"/>
                <p:cNvSpPr>
                  <a:spLocks noChangeShapeType="1"/>
                </p:cNvSpPr>
                <p:nvPr/>
              </p:nvSpPr>
              <p:spPr bwMode="auto">
                <a:xfrm>
                  <a:off x="3151" y="1508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/>
                </a:p>
              </p:txBody>
            </p:sp>
            <p:sp>
              <p:nvSpPr>
                <p:cNvPr id="13373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2249" y="1514"/>
                  <a:ext cx="891" cy="54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/>
                </a:p>
              </p:txBody>
            </p:sp>
            <p:sp>
              <p:nvSpPr>
                <p:cNvPr id="13374" name="Line 19"/>
                <p:cNvSpPr>
                  <a:spLocks noChangeShapeType="1"/>
                </p:cNvSpPr>
                <p:nvPr/>
              </p:nvSpPr>
              <p:spPr bwMode="auto">
                <a:xfrm>
                  <a:off x="3149" y="1417"/>
                  <a:ext cx="0" cy="195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/>
                </a:p>
              </p:txBody>
            </p:sp>
            <p:sp>
              <p:nvSpPr>
                <p:cNvPr id="13375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670" y="1833"/>
                  <a:ext cx="246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defTabSz="1008063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1008063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1008063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1008063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1008063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>
                      <a:latin typeface="Arial" panose="020B0604020202020204" pitchFamily="34" charset="0"/>
                    </a:rPr>
                    <a:t>A</a:t>
                  </a:r>
                </a:p>
              </p:txBody>
            </p:sp>
            <p:graphicFrame>
              <p:nvGraphicFramePr>
                <p:cNvPr id="13376" name="Object 21"/>
                <p:cNvGraphicFramePr>
                  <a:graphicFrameLocks noChangeAspect="1"/>
                </p:cNvGraphicFramePr>
                <p:nvPr/>
              </p:nvGraphicFramePr>
              <p:xfrm>
                <a:off x="3174" y="1175"/>
                <a:ext cx="294" cy="29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cuación" r:id="rId3" imgW="215619" imgH="215619" progId="Equation.3">
                        <p:embed/>
                      </p:oleObj>
                    </mc:Choice>
                    <mc:Fallback>
                      <p:oleObj name="Ecuación" r:id="rId3" imgW="215619" imgH="215619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74" y="1175"/>
                              <a:ext cx="294" cy="29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3370" name="Text Box 22"/>
              <p:cNvSpPr txBox="1">
                <a:spLocks noChangeArrowheads="1"/>
              </p:cNvSpPr>
              <p:nvPr/>
            </p:nvSpPr>
            <p:spPr bwMode="auto">
              <a:xfrm>
                <a:off x="2644" y="1710"/>
                <a:ext cx="30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</a:t>
                </a:r>
                <a:endParaRPr lang="es-E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368" name="Text Box 107"/>
            <p:cNvSpPr txBox="1">
              <a:spLocks noChangeArrowheads="1"/>
            </p:cNvSpPr>
            <p:nvPr/>
          </p:nvSpPr>
          <p:spPr bwMode="auto">
            <a:xfrm>
              <a:off x="327" y="1814"/>
              <a:ext cx="11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2172" name="Group 124"/>
          <p:cNvGrpSpPr>
            <a:grpSpLocks/>
          </p:cNvGrpSpPr>
          <p:nvPr/>
        </p:nvGrpSpPr>
        <p:grpSpPr bwMode="auto">
          <a:xfrm>
            <a:off x="2204930" y="3165417"/>
            <a:ext cx="652463" cy="457200"/>
            <a:chOff x="1385" y="1465"/>
            <a:chExt cx="411" cy="288"/>
          </a:xfrm>
        </p:grpSpPr>
        <p:sp>
          <p:nvSpPr>
            <p:cNvPr id="13365" name="98 CuadroTexto"/>
            <p:cNvSpPr txBox="1">
              <a:spLocks noChangeArrowheads="1"/>
            </p:cNvSpPr>
            <p:nvPr/>
          </p:nvSpPr>
          <p:spPr bwMode="auto">
            <a:xfrm>
              <a:off x="1522" y="1465"/>
              <a:ext cx="2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l-GR" sz="2400">
                  <a:latin typeface="Symbol" panose="05050102010706020507" pitchFamily="18" charset="2"/>
                  <a:sym typeface="Symbol" panose="05050102010706020507" pitchFamily="18" charset="2"/>
                </a:rPr>
                <a:t></a:t>
              </a:r>
              <a:endParaRPr lang="es-ES" sz="2400">
                <a:latin typeface="Symbol" panose="05050102010706020507" pitchFamily="18" charset="2"/>
              </a:endParaRPr>
            </a:p>
          </p:txBody>
        </p:sp>
        <p:sp>
          <p:nvSpPr>
            <p:cNvPr id="13366" name="Freeform 121"/>
            <p:cNvSpPr>
              <a:spLocks/>
            </p:cNvSpPr>
            <p:nvPr/>
          </p:nvSpPr>
          <p:spPr bwMode="auto">
            <a:xfrm>
              <a:off x="1385" y="1524"/>
              <a:ext cx="116" cy="165"/>
            </a:xfrm>
            <a:custGeom>
              <a:avLst/>
              <a:gdLst>
                <a:gd name="T0" fmla="*/ 82 w 83"/>
                <a:gd name="T1" fmla="*/ 0 h 144"/>
                <a:gd name="T2" fmla="*/ 69 w 83"/>
                <a:gd name="T3" fmla="*/ 82 h 144"/>
                <a:gd name="T4" fmla="*/ 0 w 83"/>
                <a:gd name="T5" fmla="*/ 144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44">
                  <a:moveTo>
                    <a:pt x="82" y="0"/>
                  </a:moveTo>
                  <a:cubicBezTo>
                    <a:pt x="82" y="29"/>
                    <a:pt x="83" y="58"/>
                    <a:pt x="69" y="82"/>
                  </a:cubicBezTo>
                  <a:cubicBezTo>
                    <a:pt x="55" y="106"/>
                    <a:pt x="27" y="125"/>
                    <a:pt x="0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2173" name="Group 125"/>
          <p:cNvGrpSpPr>
            <a:grpSpLocks/>
          </p:cNvGrpSpPr>
          <p:nvPr/>
        </p:nvGrpSpPr>
        <p:grpSpPr bwMode="auto">
          <a:xfrm>
            <a:off x="4944544" y="3101918"/>
            <a:ext cx="434975" cy="715963"/>
            <a:chOff x="3236" y="1425"/>
            <a:chExt cx="274" cy="451"/>
          </a:xfrm>
        </p:grpSpPr>
        <p:sp>
          <p:nvSpPr>
            <p:cNvPr id="13363" name="98 CuadroTexto"/>
            <p:cNvSpPr txBox="1">
              <a:spLocks noChangeArrowheads="1"/>
            </p:cNvSpPr>
            <p:nvPr/>
          </p:nvSpPr>
          <p:spPr bwMode="auto">
            <a:xfrm>
              <a:off x="3236" y="1588"/>
              <a:ext cx="2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l-GR" sz="2400">
                  <a:latin typeface="Symbol" panose="05050102010706020507" pitchFamily="18" charset="2"/>
                  <a:sym typeface="Symbol" panose="05050102010706020507" pitchFamily="18" charset="2"/>
                </a:rPr>
                <a:t></a:t>
              </a:r>
              <a:endParaRPr lang="es-ES" sz="2400">
                <a:latin typeface="Symbol" panose="05050102010706020507" pitchFamily="18" charset="2"/>
              </a:endParaRPr>
            </a:p>
          </p:txBody>
        </p:sp>
        <p:sp>
          <p:nvSpPr>
            <p:cNvPr id="13364" name="Freeform 123"/>
            <p:cNvSpPr>
              <a:spLocks/>
            </p:cNvSpPr>
            <p:nvPr/>
          </p:nvSpPr>
          <p:spPr bwMode="auto">
            <a:xfrm rot="2449977">
              <a:off x="3247" y="1425"/>
              <a:ext cx="145" cy="292"/>
            </a:xfrm>
            <a:custGeom>
              <a:avLst/>
              <a:gdLst>
                <a:gd name="T0" fmla="*/ 870651015 w 83"/>
                <a:gd name="T1" fmla="*/ 0 h 144"/>
                <a:gd name="T2" fmla="*/ 736133196 w 83"/>
                <a:gd name="T3" fmla="*/ 815326751 h 144"/>
                <a:gd name="T4" fmla="*/ 0 w 83"/>
                <a:gd name="T5" fmla="*/ 1434018339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44">
                  <a:moveTo>
                    <a:pt x="82" y="0"/>
                  </a:moveTo>
                  <a:cubicBezTo>
                    <a:pt x="82" y="29"/>
                    <a:pt x="83" y="58"/>
                    <a:pt x="69" y="82"/>
                  </a:cubicBezTo>
                  <a:cubicBezTo>
                    <a:pt x="55" y="106"/>
                    <a:pt x="27" y="125"/>
                    <a:pt x="0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F81EB8D4-A5AD-4EDA-9E86-8783FE758859}"/>
              </a:ext>
            </a:extLst>
          </p:cNvPr>
          <p:cNvGrpSpPr/>
          <p:nvPr/>
        </p:nvGrpSpPr>
        <p:grpSpPr>
          <a:xfrm>
            <a:off x="1203219" y="2670116"/>
            <a:ext cx="2301878" cy="1433511"/>
            <a:chOff x="-854181" y="2022416"/>
            <a:chExt cx="2301878" cy="1433511"/>
          </a:xfrm>
        </p:grpSpPr>
        <p:sp>
          <p:nvSpPr>
            <p:cNvPr id="13354" name="Text Box 23"/>
            <p:cNvSpPr txBox="1">
              <a:spLocks noChangeArrowheads="1"/>
            </p:cNvSpPr>
            <p:nvPr/>
          </p:nvSpPr>
          <p:spPr bwMode="auto">
            <a:xfrm>
              <a:off x="-308080" y="2278003"/>
              <a:ext cx="457201" cy="414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Arial" panose="020B0604020202020204" pitchFamily="34" charset="0"/>
              </a:endParaRPr>
            </a:p>
          </p:txBody>
        </p:sp>
        <p:sp>
          <p:nvSpPr>
            <p:cNvPr id="13355" name="Line 24"/>
            <p:cNvSpPr>
              <a:spLocks noChangeShapeType="1"/>
            </p:cNvSpPr>
            <p:nvPr/>
          </p:nvSpPr>
          <p:spPr bwMode="auto">
            <a:xfrm>
              <a:off x="-263630" y="2071628"/>
              <a:ext cx="0" cy="11382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356" name="Line 25"/>
            <p:cNvSpPr>
              <a:spLocks noChangeShapeType="1"/>
            </p:cNvSpPr>
            <p:nvPr/>
          </p:nvSpPr>
          <p:spPr bwMode="auto">
            <a:xfrm>
              <a:off x="-255692" y="2589153"/>
              <a:ext cx="3048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357" name="Line 26"/>
            <p:cNvSpPr>
              <a:spLocks noChangeShapeType="1"/>
            </p:cNvSpPr>
            <p:nvPr/>
          </p:nvSpPr>
          <p:spPr bwMode="auto">
            <a:xfrm>
              <a:off x="-255692" y="2589153"/>
              <a:ext cx="1414464" cy="86677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358" name="Line 27"/>
            <p:cNvSpPr>
              <a:spLocks noChangeShapeType="1"/>
            </p:cNvSpPr>
            <p:nvPr/>
          </p:nvSpPr>
          <p:spPr bwMode="auto">
            <a:xfrm>
              <a:off x="-258867" y="2444690"/>
              <a:ext cx="0" cy="30956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359" name="Text Box 28"/>
            <p:cNvSpPr txBox="1">
              <a:spLocks noChangeArrowheads="1"/>
            </p:cNvSpPr>
            <p:nvPr/>
          </p:nvSpPr>
          <p:spPr bwMode="auto">
            <a:xfrm>
              <a:off x="1023834" y="2851090"/>
              <a:ext cx="390526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</a:t>
              </a:r>
            </a:p>
          </p:txBody>
        </p:sp>
        <p:graphicFrame>
          <p:nvGraphicFramePr>
            <p:cNvPr id="13360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8129906"/>
                </p:ext>
              </p:extLst>
            </p:nvPr>
          </p:nvGraphicFramePr>
          <p:xfrm>
            <a:off x="-219180" y="2022416"/>
            <a:ext cx="466726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215619" imgH="215619" progId="Equation.3">
                    <p:embed/>
                  </p:oleObj>
                </mc:Choice>
                <mc:Fallback>
                  <p:oleObj name="Ecuación" r:id="rId5" imgW="215619" imgH="21561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19180" y="2022416"/>
                          <a:ext cx="466726" cy="466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61" name="Text Box 30"/>
            <p:cNvSpPr txBox="1">
              <a:spLocks noChangeArrowheads="1"/>
            </p:cNvSpPr>
            <p:nvPr/>
          </p:nvSpPr>
          <p:spPr bwMode="auto">
            <a:xfrm>
              <a:off x="960334" y="2646303"/>
              <a:ext cx="487363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13353" name="Text Box 138"/>
            <p:cNvSpPr txBox="1">
              <a:spLocks noChangeArrowheads="1"/>
            </p:cNvSpPr>
            <p:nvPr/>
          </p:nvSpPr>
          <p:spPr bwMode="auto">
            <a:xfrm>
              <a:off x="-854181" y="2363728"/>
              <a:ext cx="558801" cy="463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000000"/>
                  </a:solidFill>
                </a:rPr>
                <a:t>dS</a:t>
              </a:r>
            </a:p>
          </p:txBody>
        </p:sp>
      </p:grpSp>
      <p:sp>
        <p:nvSpPr>
          <p:cNvPr id="13350" name="Text Box 157"/>
          <p:cNvSpPr txBox="1">
            <a:spLocks noChangeArrowheads="1"/>
          </p:cNvSpPr>
          <p:nvPr/>
        </p:nvSpPr>
        <p:spPr bwMode="auto">
          <a:xfrm>
            <a:off x="3182681" y="345753"/>
            <a:ext cx="5138740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FLUJO de </a:t>
            </a: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A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a través de S</a:t>
            </a:r>
          </a:p>
        </p:txBody>
      </p:sp>
      <p:sp>
        <p:nvSpPr>
          <p:cNvPr id="13348" name="Text Box 101"/>
          <p:cNvSpPr txBox="1">
            <a:spLocks noChangeArrowheads="1"/>
          </p:cNvSpPr>
          <p:nvPr/>
        </p:nvSpPr>
        <p:spPr bwMode="auto">
          <a:xfrm>
            <a:off x="6408958" y="4830360"/>
            <a:ext cx="844550" cy="46355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: </a:t>
            </a:r>
            <a:r>
              <a:rPr lang="es-ES" sz="2400" b="1" dirty="0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D2F2DF6-2B09-4020-94AC-83BE432E97DA}"/>
              </a:ext>
            </a:extLst>
          </p:cNvPr>
          <p:cNvGrpSpPr/>
          <p:nvPr/>
        </p:nvGrpSpPr>
        <p:grpSpPr>
          <a:xfrm>
            <a:off x="6122622" y="1055411"/>
            <a:ext cx="543619" cy="707167"/>
            <a:chOff x="5625993" y="1051674"/>
            <a:chExt cx="543619" cy="707167"/>
          </a:xfrm>
        </p:grpSpPr>
        <p:sp>
          <p:nvSpPr>
            <p:cNvPr id="46102" name="Rectangle 117"/>
            <p:cNvSpPr>
              <a:spLocks noChangeArrowheads="1"/>
            </p:cNvSpPr>
            <p:nvPr/>
          </p:nvSpPr>
          <p:spPr bwMode="auto">
            <a:xfrm>
              <a:off x="5625993" y="1218841"/>
              <a:ext cx="539750" cy="5400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s-ES" sz="2400"/>
            </a:p>
          </p:txBody>
        </p:sp>
        <p:sp>
          <p:nvSpPr>
            <p:cNvPr id="13341" name="Text Box 120"/>
            <p:cNvSpPr txBox="1">
              <a:spLocks noChangeArrowheads="1"/>
            </p:cNvSpPr>
            <p:nvPr/>
          </p:nvSpPr>
          <p:spPr bwMode="auto">
            <a:xfrm>
              <a:off x="5668856" y="1275179"/>
              <a:ext cx="500756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latin typeface="Arial" panose="020B0604020202020204" pitchFamily="34" charset="0"/>
                </a:rPr>
                <a:t>A</a:t>
              </a:r>
              <a:r>
                <a:rPr lang="es-ES" sz="2400" baseline="-25000" dirty="0" err="1">
                  <a:latin typeface="Arial" panose="020B0604020202020204" pitchFamily="34" charset="0"/>
                </a:rPr>
                <a:t>n</a:t>
              </a:r>
              <a:endParaRPr lang="es-ES" sz="2400" dirty="0">
                <a:latin typeface="Arial" panose="020B0604020202020204" pitchFamily="34" charset="0"/>
              </a:endParaRPr>
            </a:p>
          </p:txBody>
        </p:sp>
        <p:sp>
          <p:nvSpPr>
            <p:cNvPr id="13344" name="Text Box 155"/>
            <p:cNvSpPr txBox="1">
              <a:spLocks noChangeArrowheads="1"/>
            </p:cNvSpPr>
            <p:nvPr/>
          </p:nvSpPr>
          <p:spPr bwMode="auto">
            <a:xfrm>
              <a:off x="5643456" y="1051674"/>
              <a:ext cx="484188" cy="463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ym typeface="Symbol" panose="05050102010706020507" pitchFamily="18" charset="2"/>
                </a:rPr>
                <a:t></a:t>
              </a:r>
            </a:p>
          </p:txBody>
        </p:sp>
      </p:grpSp>
      <p:sp>
        <p:nvSpPr>
          <p:cNvPr id="2206" name="Text Box 158"/>
          <p:cNvSpPr txBox="1">
            <a:spLocks noChangeArrowheads="1"/>
          </p:cNvSpPr>
          <p:nvPr/>
        </p:nvSpPr>
        <p:spPr bwMode="auto">
          <a:xfrm>
            <a:off x="6130378" y="3080215"/>
            <a:ext cx="4275892" cy="1253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/>
              <a:t>Se define el flujo en </a:t>
            </a:r>
            <a:r>
              <a:rPr lang="es-ES" sz="2400"/>
              <a:t>un punto, d</a:t>
            </a:r>
            <a:r>
              <a:rPr lang="es-ES" sz="2400">
                <a:sym typeface="Symbol" panose="05050102010706020507" pitchFamily="18" charset="2"/>
              </a:rPr>
              <a:t></a:t>
            </a:r>
            <a:r>
              <a:rPr lang="es-ES" sz="2400"/>
              <a:t>, como </a:t>
            </a:r>
            <a:r>
              <a:rPr lang="es-ES" sz="2400" dirty="0"/>
              <a:t>el producto de </a:t>
            </a:r>
            <a:r>
              <a:rPr lang="es-ES" sz="2400" b="1" dirty="0" err="1"/>
              <a:t>A</a:t>
            </a:r>
            <a:r>
              <a:rPr lang="es-ES" sz="2400" b="1" baseline="-25000" dirty="0" err="1"/>
              <a:t>n</a:t>
            </a:r>
            <a:r>
              <a:rPr lang="es-ES" sz="2400" dirty="0"/>
              <a:t>, como escalar, </a:t>
            </a:r>
            <a:r>
              <a:rPr lang="es-ES" sz="2400" dirty="0" err="1"/>
              <a:t>A</a:t>
            </a:r>
            <a:r>
              <a:rPr lang="es-ES" sz="2400" baseline="-25000" dirty="0" err="1"/>
              <a:t>n</a:t>
            </a:r>
            <a:r>
              <a:rPr lang="es-ES" sz="2400"/>
              <a:t>, y </a:t>
            </a:r>
            <a:r>
              <a:rPr lang="es-ES" sz="2400" dirty="0" err="1"/>
              <a:t>dS</a:t>
            </a:r>
            <a:endParaRPr lang="es-ES" sz="2400" dirty="0"/>
          </a:p>
        </p:txBody>
      </p:sp>
      <p:sp>
        <p:nvSpPr>
          <p:cNvPr id="62" name="Text Box 159"/>
          <p:cNvSpPr txBox="1">
            <a:spLocks noChangeArrowheads="1"/>
          </p:cNvSpPr>
          <p:nvPr/>
        </p:nvSpPr>
        <p:spPr bwMode="auto">
          <a:xfrm>
            <a:off x="2383877" y="4804743"/>
            <a:ext cx="1170434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sym typeface="Symbol" panose="05050102010706020507" pitchFamily="18" charset="2"/>
              </a:rPr>
              <a:t>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&gt; 0</a:t>
            </a:r>
          </a:p>
        </p:txBody>
      </p:sp>
      <p:sp>
        <p:nvSpPr>
          <p:cNvPr id="63" name="Text Box 160"/>
          <p:cNvSpPr txBox="1">
            <a:spLocks noChangeArrowheads="1"/>
          </p:cNvSpPr>
          <p:nvPr/>
        </p:nvSpPr>
        <p:spPr bwMode="auto">
          <a:xfrm>
            <a:off x="4674076" y="4821290"/>
            <a:ext cx="1170434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sym typeface="Symbol" panose="05050102010706020507" pitchFamily="18" charset="2"/>
              </a:rPr>
              <a:t>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&lt; 0</a:t>
            </a:r>
          </a:p>
        </p:txBody>
      </p:sp>
      <p:sp>
        <p:nvSpPr>
          <p:cNvPr id="64" name="Text Box 140"/>
          <p:cNvSpPr txBox="1">
            <a:spLocks noChangeArrowheads="1"/>
          </p:cNvSpPr>
          <p:nvPr/>
        </p:nvSpPr>
        <p:spPr bwMode="auto">
          <a:xfrm>
            <a:off x="1249271" y="5182813"/>
            <a:ext cx="1088998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dirty="0" err="1">
                <a:sym typeface="Symbol" panose="05050102010706020507" pitchFamily="18" charset="2"/>
              </a:rPr>
              <a:t>dS</a:t>
            </a:r>
            <a:r>
              <a:rPr lang="es-ES" sz="2400" dirty="0">
                <a:sym typeface="Symbol" panose="05050102010706020507" pitchFamily="18" charset="2"/>
              </a:rPr>
              <a:t> &gt; 0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8AFC514F-63EA-4011-8B55-B397E15DFF83}"/>
              </a:ext>
            </a:extLst>
          </p:cNvPr>
          <p:cNvGrpSpPr/>
          <p:nvPr/>
        </p:nvGrpSpPr>
        <p:grpSpPr>
          <a:xfrm>
            <a:off x="7560880" y="5758831"/>
            <a:ext cx="2160000" cy="1080000"/>
            <a:chOff x="6966642" y="5780095"/>
            <a:chExt cx="2160000" cy="1080000"/>
          </a:xfrm>
        </p:grpSpPr>
        <p:sp>
          <p:nvSpPr>
            <p:cNvPr id="13380" name="Rectangle 147"/>
            <p:cNvSpPr>
              <a:spLocks noChangeArrowheads="1"/>
            </p:cNvSpPr>
            <p:nvPr/>
          </p:nvSpPr>
          <p:spPr bwMode="auto">
            <a:xfrm>
              <a:off x="6966642" y="5780095"/>
              <a:ext cx="2160000" cy="10800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E1EA533B-651F-4B40-9D3F-670A652C3482}"/>
                </a:ext>
              </a:extLst>
            </p:cNvPr>
            <p:cNvGrpSpPr/>
            <p:nvPr/>
          </p:nvGrpSpPr>
          <p:grpSpPr>
            <a:xfrm>
              <a:off x="7064431" y="5878179"/>
              <a:ext cx="1964423" cy="883832"/>
              <a:chOff x="6686828" y="5782977"/>
              <a:chExt cx="1964423" cy="883832"/>
            </a:xfrm>
          </p:grpSpPr>
          <p:sp>
            <p:nvSpPr>
              <p:cNvPr id="13349" name="Text Box 144"/>
              <p:cNvSpPr txBox="1">
                <a:spLocks noChangeArrowheads="1"/>
              </p:cNvSpPr>
              <p:nvPr/>
            </p:nvSpPr>
            <p:spPr bwMode="auto">
              <a:xfrm>
                <a:off x="6686828" y="5981716"/>
                <a:ext cx="787400" cy="4635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 dirty="0">
                    <a:sym typeface="Symbol" panose="05050102010706020507" pitchFamily="18" charset="2"/>
                  </a:rPr>
                  <a:t>  =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CuadroTexto 2">
                    <a:extLst>
                      <a:ext uri="{FF2B5EF4-FFF2-40B4-BE49-F238E27FC236}">
                        <a16:creationId xmlns:a16="http://schemas.microsoft.com/office/drawing/2014/main" id="{1CFB0C60-A4CB-4471-970F-0EFCD22FA8B8}"/>
                      </a:ext>
                    </a:extLst>
                  </p:cNvPr>
                  <p:cNvSpPr txBox="1"/>
                  <p:nvPr/>
                </p:nvSpPr>
                <p:spPr>
                  <a:xfrm>
                    <a:off x="7381480" y="5782977"/>
                    <a:ext cx="1269771" cy="8838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trlPr>
                                <a:rPr lang="es-E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E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</m:nary>
                        </m:oMath>
                      </m:oMathPara>
                    </a14:m>
                    <a:endParaRPr lang="es-ES" sz="2800" dirty="0"/>
                  </a:p>
                </p:txBody>
              </p:sp>
            </mc:Choice>
            <mc:Fallback xmlns="">
              <p:sp>
                <p:nvSpPr>
                  <p:cNvPr id="3" name="CuadroTexto 2">
                    <a:extLst>
                      <a:ext uri="{FF2B5EF4-FFF2-40B4-BE49-F238E27FC236}">
                        <a16:creationId xmlns:a16="http://schemas.microsoft.com/office/drawing/2014/main" id="{1CFB0C60-A4CB-4471-970F-0EFCD22FA8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81480" y="5782977"/>
                    <a:ext cx="1269771" cy="8838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A0B58F36-728F-488B-BFD7-2A1C219D0559}"/>
              </a:ext>
            </a:extLst>
          </p:cNvPr>
          <p:cNvGrpSpPr/>
          <p:nvPr/>
        </p:nvGrpSpPr>
        <p:grpSpPr>
          <a:xfrm>
            <a:off x="7551698" y="4517761"/>
            <a:ext cx="2160000" cy="1080000"/>
            <a:chOff x="2372847" y="5780095"/>
            <a:chExt cx="2160000" cy="1080000"/>
          </a:xfrm>
        </p:grpSpPr>
        <p:sp>
          <p:nvSpPr>
            <p:cNvPr id="13382" name="Rectangle 94"/>
            <p:cNvSpPr>
              <a:spLocks noChangeArrowheads="1"/>
            </p:cNvSpPr>
            <p:nvPr/>
          </p:nvSpPr>
          <p:spPr bwMode="auto">
            <a:xfrm>
              <a:off x="2372847" y="5780095"/>
              <a:ext cx="2160000" cy="10800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7EE19822-6FA9-42E1-93B4-F4DE39DDBF38}"/>
                </a:ext>
              </a:extLst>
            </p:cNvPr>
            <p:cNvGrpSpPr/>
            <p:nvPr/>
          </p:nvGrpSpPr>
          <p:grpSpPr>
            <a:xfrm>
              <a:off x="2583531" y="6078061"/>
              <a:ext cx="1738633" cy="484068"/>
              <a:chOff x="6174765" y="3748525"/>
              <a:chExt cx="1738633" cy="484068"/>
            </a:xfrm>
          </p:grpSpPr>
          <p:sp>
            <p:nvSpPr>
              <p:cNvPr id="13383" name="Text Box 95"/>
              <p:cNvSpPr txBox="1">
                <a:spLocks noChangeArrowheads="1"/>
              </p:cNvSpPr>
              <p:nvPr/>
            </p:nvSpPr>
            <p:spPr bwMode="auto">
              <a:xfrm>
                <a:off x="6951120" y="3748525"/>
                <a:ext cx="962278" cy="463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sz="2400" dirty="0">
                    <a:latin typeface="Arial" panose="020B0604020202020204" pitchFamily="34" charset="0"/>
                  </a:rPr>
                  <a:t>A</a:t>
                </a:r>
                <a:r>
                  <a:rPr lang="en-GB" sz="2400" baseline="-25000" dirty="0">
                    <a:latin typeface="Arial" panose="020B0604020202020204" pitchFamily="34" charset="0"/>
                    <a:sym typeface="Symbol" panose="05050102010706020507" pitchFamily="18" charset="2"/>
                  </a:rPr>
                  <a:t>n</a:t>
                </a:r>
                <a:r>
                  <a:rPr lang="en-GB" sz="2400" dirty="0">
                    <a:latin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GB" sz="2400" dirty="0" err="1">
                    <a:latin typeface="Arial" panose="020B0604020202020204" pitchFamily="34" charset="0"/>
                    <a:sym typeface="Symbol" panose="05050102010706020507" pitchFamily="18" charset="2"/>
                  </a:rPr>
                  <a:t>dS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1" name="Text Box 144">
                <a:extLst>
                  <a:ext uri="{FF2B5EF4-FFF2-40B4-BE49-F238E27FC236}">
                    <a16:creationId xmlns:a16="http://schemas.microsoft.com/office/drawing/2014/main" id="{FDBD43BC-995B-4493-B251-C95884405B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74765" y="3768747"/>
                <a:ext cx="853417" cy="4638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 dirty="0">
                    <a:sym typeface="Symbol" panose="05050102010706020507" pitchFamily="18" charset="2"/>
                  </a:rPr>
                  <a:t>d =</a:t>
                </a:r>
              </a:p>
            </p:txBody>
          </p:sp>
        </p:grp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F79F2AE4-B5C7-418D-A175-BF58C96FE728}"/>
              </a:ext>
            </a:extLst>
          </p:cNvPr>
          <p:cNvGrpSpPr/>
          <p:nvPr/>
        </p:nvGrpSpPr>
        <p:grpSpPr>
          <a:xfrm>
            <a:off x="6734597" y="1279180"/>
            <a:ext cx="2633361" cy="1589293"/>
            <a:chOff x="6750743" y="1373682"/>
            <a:chExt cx="2633361" cy="1589293"/>
          </a:xfrm>
        </p:grpSpPr>
        <p:sp>
          <p:nvSpPr>
            <p:cNvPr id="13342" name="Text Box 114"/>
            <p:cNvSpPr txBox="1">
              <a:spLocks noChangeArrowheads="1"/>
            </p:cNvSpPr>
            <p:nvPr/>
          </p:nvSpPr>
          <p:spPr bwMode="auto">
            <a:xfrm>
              <a:off x="6750743" y="2129797"/>
              <a:ext cx="2542982" cy="833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dirty="0"/>
                <a:t>[paralela (//) a </a:t>
              </a:r>
              <a:r>
                <a:rPr lang="es-ES" sz="2400" dirty="0" err="1"/>
                <a:t>d</a:t>
              </a:r>
              <a:r>
                <a:rPr lang="es-ES" sz="2400" b="1" dirty="0" err="1"/>
                <a:t>S</a:t>
              </a:r>
              <a:endParaRPr lang="es-ES" sz="2400" b="1" dirty="0"/>
            </a:p>
            <a:p>
              <a:pPr eaLnBrk="1" hangingPunct="1">
                <a:spcBef>
                  <a:spcPts val="0"/>
                </a:spcBef>
              </a:pPr>
              <a:r>
                <a:rPr lang="es-ES" sz="2400" b="1" dirty="0"/>
                <a:t> </a:t>
              </a:r>
              <a:r>
                <a:rPr lang="es-ES" sz="2400" dirty="0"/>
                <a:t>en dirección]</a:t>
              </a:r>
            </a:p>
          </p:txBody>
        </p:sp>
        <p:sp>
          <p:nvSpPr>
            <p:cNvPr id="66" name="Text Box 120">
              <a:extLst>
                <a:ext uri="{FF2B5EF4-FFF2-40B4-BE49-F238E27FC236}">
                  <a16:creationId xmlns:a16="http://schemas.microsoft.com/office/drawing/2014/main" id="{14B04AAA-9BD0-4ABC-8971-C7D1236FB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0590" y="1373682"/>
              <a:ext cx="2613514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es la componente</a:t>
              </a:r>
              <a:endParaRPr lang="es-ES" sz="24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normal   (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</a:t>
              </a:r>
              <a:r>
                <a:rPr lang="es-ES" sz="2400" dirty="0">
                  <a:latin typeface="Arial" panose="020B0604020202020204" pitchFamily="34" charset="0"/>
                </a:rPr>
                <a:t>) a </a:t>
              </a:r>
              <a:r>
                <a:rPr lang="es-ES" sz="2400" dirty="0" err="1">
                  <a:latin typeface="Arial" panose="020B0604020202020204" pitchFamily="34" charset="0"/>
                </a:rPr>
                <a:t>dS</a:t>
              </a:r>
              <a:endParaRPr lang="es-ES" sz="2400" dirty="0">
                <a:latin typeface="Arial" panose="020B0604020202020204" pitchFamily="34" charset="0"/>
              </a:endParaRPr>
            </a:p>
          </p:txBody>
        </p:sp>
      </p:grpSp>
      <p:sp>
        <p:nvSpPr>
          <p:cNvPr id="67" name="Text Box 111">
            <a:extLst>
              <a:ext uri="{FF2B5EF4-FFF2-40B4-BE49-F238E27FC236}">
                <a16:creationId xmlns:a16="http://schemas.microsoft.com/office/drawing/2014/main" id="{B202494B-F421-4E1A-85F1-38107164E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423" y="1879552"/>
            <a:ext cx="2268000" cy="4638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36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A</a:t>
            </a:r>
            <a:r>
              <a:rPr lang="es-ES" sz="2400" dirty="0">
                <a:latin typeface="Arial" panose="020B0604020202020204" pitchFamily="34" charset="0"/>
              </a:rPr>
              <a:t> hacia delante</a:t>
            </a:r>
          </a:p>
        </p:txBody>
      </p:sp>
      <p:sp>
        <p:nvSpPr>
          <p:cNvPr id="68" name="Text Box 111">
            <a:extLst>
              <a:ext uri="{FF2B5EF4-FFF2-40B4-BE49-F238E27FC236}">
                <a16:creationId xmlns:a16="http://schemas.microsoft.com/office/drawing/2014/main" id="{627BDDBB-964E-48E1-AB0A-DC1BBC2F6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080" y="1881069"/>
            <a:ext cx="2227906" cy="4635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A</a:t>
            </a:r>
            <a:r>
              <a:rPr lang="es-ES" sz="2400" dirty="0">
                <a:latin typeface="Arial" panose="020B0604020202020204" pitchFamily="34" charset="0"/>
              </a:rPr>
              <a:t> hacia atrás</a:t>
            </a:r>
          </a:p>
        </p:txBody>
      </p:sp>
      <p:sp>
        <p:nvSpPr>
          <p:cNvPr id="70" name="Text Box 140">
            <a:extLst>
              <a:ext uri="{FF2B5EF4-FFF2-40B4-BE49-F238E27FC236}">
                <a16:creationId xmlns:a16="http://schemas.microsoft.com/office/drawing/2014/main" id="{9ADEED48-38C5-44CE-A43A-2AB92EDB7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2480" y="5162634"/>
            <a:ext cx="1088998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dirty="0" err="1">
                <a:sym typeface="Symbol" panose="05050102010706020507" pitchFamily="18" charset="2"/>
              </a:rPr>
              <a:t>dS</a:t>
            </a:r>
            <a:r>
              <a:rPr lang="es-ES" sz="2400" dirty="0">
                <a:sym typeface="Symbol" panose="05050102010706020507" pitchFamily="18" charset="2"/>
              </a:rPr>
              <a:t> &gt; 0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58D73C39-360D-CB62-9867-6A7D30DA60F9}"/>
              </a:ext>
            </a:extLst>
          </p:cNvPr>
          <p:cNvGrpSpPr/>
          <p:nvPr/>
        </p:nvGrpSpPr>
        <p:grpSpPr>
          <a:xfrm>
            <a:off x="1203219" y="1024834"/>
            <a:ext cx="4560205" cy="4689148"/>
            <a:chOff x="1203219" y="1024834"/>
            <a:chExt cx="4560205" cy="4689148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796A5DA1-4879-4C92-92C1-E7DB5EB207C9}"/>
                </a:ext>
              </a:extLst>
            </p:cNvPr>
            <p:cNvGrpSpPr/>
            <p:nvPr/>
          </p:nvGrpSpPr>
          <p:grpSpPr>
            <a:xfrm>
              <a:off x="1217828" y="1024834"/>
              <a:ext cx="4545596" cy="4689148"/>
              <a:chOff x="1217828" y="1024834"/>
              <a:chExt cx="4545596" cy="4689148"/>
            </a:xfrm>
          </p:grpSpPr>
          <p:sp>
            <p:nvSpPr>
              <p:cNvPr id="13362" name="Text Box 111"/>
              <p:cNvSpPr txBox="1">
                <a:spLocks noChangeArrowheads="1"/>
              </p:cNvSpPr>
              <p:nvPr/>
            </p:nvSpPr>
            <p:spPr bwMode="auto">
              <a:xfrm>
                <a:off x="1227425" y="1042110"/>
                <a:ext cx="4533614" cy="833178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None/>
                </a:pPr>
                <a:r>
                  <a:rPr lang="es-ES" sz="2400">
                    <a:latin typeface="Arial" panose="020B0604020202020204" pitchFamily="34" charset="0"/>
                    <a:cs typeface="Arial" panose="020B0604020202020204" pitchFamily="34" charset="0"/>
                  </a:rPr>
                  <a:t>Consideremos S </a:t>
                </a:r>
                <a:r>
                  <a:rPr lang="es-E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 perfil</a:t>
                </a:r>
              </a:p>
              <a:p>
                <a:pPr algn="ctr" eaLnBrk="1" hangingPunct="1">
                  <a:spcBef>
                    <a:spcPts val="0"/>
                  </a:spcBef>
                  <a:buNone/>
                </a:pPr>
                <a:r>
                  <a:rPr lang="es-ES" sz="2400">
                    <a:latin typeface="Arial" panose="020B0604020202020204" pitchFamily="34" charset="0"/>
                    <a:cs typeface="Arial" panose="020B0604020202020204" pitchFamily="34" charset="0"/>
                  </a:rPr>
                  <a:t>y como sentido positivo: "</a:t>
                </a:r>
                <a:r>
                  <a:rPr lang="es-ES" sz="240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"</a:t>
                </a:r>
                <a:endParaRPr lang="es-ES" sz="24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6BC7AA34-A662-4CFF-AF3B-5F2CF5637948}"/>
                  </a:ext>
                </a:extLst>
              </p:cNvPr>
              <p:cNvSpPr/>
              <p:nvPr/>
            </p:nvSpPr>
            <p:spPr bwMode="auto">
              <a:xfrm>
                <a:off x="1227424" y="1024834"/>
                <a:ext cx="4536000" cy="4680000"/>
              </a:xfrm>
              <a:prstGeom prst="rect">
                <a:avLst/>
              </a:prstGeom>
              <a:noFill/>
              <a:ln w="38100" cap="flat" cmpd="sng" algn="ctr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82800" rIns="90000" bIns="82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F86705E6-16F3-462A-BCF7-398A6DFB3DF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484706" y="1762405"/>
                <a:ext cx="1" cy="3951577"/>
              </a:xfrm>
              <a:prstGeom prst="line">
                <a:avLst/>
              </a:prstGeom>
              <a:noFill/>
              <a:ln w="38100" cap="flat" cmpd="sng" algn="ctr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9" name="Conector recto 68">
                <a:extLst>
                  <a:ext uri="{FF2B5EF4-FFF2-40B4-BE49-F238E27FC236}">
                    <a16:creationId xmlns:a16="http://schemas.microsoft.com/office/drawing/2014/main" id="{CFB234A7-FED1-4EF0-9F90-CF414FC2898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 flipH="1">
                <a:off x="3485827" y="102078"/>
                <a:ext cx="1" cy="4536000"/>
              </a:xfrm>
              <a:prstGeom prst="line">
                <a:avLst/>
              </a:prstGeom>
              <a:noFill/>
              <a:ln w="38100" cap="flat" cmpd="sng" algn="ctr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8876FDF4-81B2-A883-0A01-878EE1AE3BD2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H="1">
              <a:off x="3471218" y="2073633"/>
              <a:ext cx="1" cy="4536000"/>
            </a:xfrm>
            <a:prstGeom prst="line">
              <a:avLst/>
            </a:prstGeom>
            <a:noFill/>
            <a:ln w="38100" cap="flat" cmpd="sng" algn="ctr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66218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2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3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68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6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68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6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6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441" grpId="0" animBg="1"/>
      <p:bldP spid="268447" grpId="0"/>
      <p:bldP spid="268448" grpId="0"/>
      <p:bldP spid="13350" grpId="0" animBg="1"/>
      <p:bldP spid="13348" grpId="0"/>
      <p:bldP spid="62" grpId="0"/>
      <p:bldP spid="63" grpId="0"/>
      <p:bldP spid="64" grpId="0"/>
      <p:bldP spid="67" grpId="0" animBg="1"/>
      <p:bldP spid="68" grpId="0" animBg="1"/>
      <p:bldP spid="7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0" name="Text Box 157"/>
          <p:cNvSpPr txBox="1">
            <a:spLocks noChangeArrowheads="1"/>
          </p:cNvSpPr>
          <p:nvPr/>
        </p:nvSpPr>
        <p:spPr bwMode="auto">
          <a:xfrm>
            <a:off x="3182681" y="345753"/>
            <a:ext cx="5138740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FLUJO de </a:t>
            </a: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A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a través de S</a:t>
            </a:r>
          </a:p>
        </p:txBody>
      </p:sp>
      <p:sp>
        <p:nvSpPr>
          <p:cNvPr id="70" name="Text Box 153">
            <a:extLst>
              <a:ext uri="{FF2B5EF4-FFF2-40B4-BE49-F238E27FC236}">
                <a16:creationId xmlns:a16="http://schemas.microsoft.com/office/drawing/2014/main" id="{1BA2E469-14AE-4612-857E-A0E8A8B86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9227" y="2879743"/>
            <a:ext cx="8020878" cy="20647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16000" tIns="108000" rIns="216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u="sng" dirty="0">
                <a:latin typeface="Arial" panose="020B0604020202020204" pitchFamily="34" charset="0"/>
              </a:rPr>
              <a:t>Ejemplo</a:t>
            </a:r>
            <a:r>
              <a:rPr lang="es-ES" sz="2400" dirty="0">
                <a:latin typeface="Arial" panose="020B0604020202020204" pitchFamily="34" charset="0"/>
              </a:rPr>
              <a:t>: Si </a:t>
            </a:r>
            <a:r>
              <a:rPr lang="es-ES" sz="2400" b="1" dirty="0">
                <a:latin typeface="Arial" panose="020B0604020202020204" pitchFamily="34" charset="0"/>
              </a:rPr>
              <a:t>A</a:t>
            </a:r>
            <a:r>
              <a:rPr lang="es-ES" sz="2400" dirty="0">
                <a:latin typeface="Arial" panose="020B0604020202020204" pitchFamily="34" charset="0"/>
              </a:rPr>
              <a:t> es la velocidad del agua en una tubería, o un río, </a:t>
            </a:r>
            <a:r>
              <a:rPr lang="es-ES" sz="2400" b="1" dirty="0">
                <a:latin typeface="Arial" panose="020B0604020202020204" pitchFamily="34" charset="0"/>
              </a:rPr>
              <a:t>v</a:t>
            </a:r>
            <a:r>
              <a:rPr lang="es-ES" sz="2400">
                <a:latin typeface="Arial" panose="020B0604020202020204" pitchFamily="34" charset="0"/>
              </a:rPr>
              <a:t>, en m/s, y </a:t>
            </a:r>
            <a:r>
              <a:rPr lang="es-ES" sz="2400" dirty="0">
                <a:latin typeface="Arial" panose="020B0604020202020204" pitchFamily="34" charset="0"/>
              </a:rPr>
              <a:t>S una sección perpendicular a la tubería, o al </a:t>
            </a:r>
            <a:r>
              <a:rPr lang="es-ES" sz="2400">
                <a:latin typeface="Arial" panose="020B0604020202020204" pitchFamily="34" charset="0"/>
              </a:rPr>
              <a:t>río, en m</a:t>
            </a:r>
            <a:r>
              <a:rPr lang="es-ES" sz="2400" baseline="30000">
                <a:latin typeface="Arial" panose="020B0604020202020204" pitchFamily="34" charset="0"/>
              </a:rPr>
              <a:t>2</a:t>
            </a:r>
            <a:r>
              <a:rPr lang="es-ES" sz="2400">
                <a:latin typeface="Arial" panose="020B0604020202020204" pitchFamily="34" charset="0"/>
              </a:rPr>
              <a:t>, </a:t>
            </a:r>
            <a:r>
              <a:rPr lang="es-ES" sz="2400" dirty="0">
                <a:sym typeface="Symbol" panose="05050102010706020507" pitchFamily="18" charset="2"/>
              </a:rPr>
              <a:t> </a:t>
            </a:r>
            <a:r>
              <a:rPr lang="es-ES" sz="2400" dirty="0">
                <a:latin typeface="Arial" panose="020B0604020202020204" pitchFamily="34" charset="0"/>
              </a:rPr>
              <a:t>da el flujo o </a:t>
            </a:r>
            <a:r>
              <a:rPr lang="es-ES" sz="2400" b="1" dirty="0">
                <a:latin typeface="Arial" panose="020B0604020202020204" pitchFamily="34" charset="0"/>
              </a:rPr>
              <a:t>caudal</a:t>
            </a:r>
            <a:r>
              <a:rPr lang="es-ES" sz="2400" dirty="0">
                <a:latin typeface="Arial" panose="020B0604020202020204" pitchFamily="34" charset="0"/>
              </a:rPr>
              <a:t> de agua que fluye a través de la tubería, o del río: El agua que avanza por unidad de tiempo (los m</a:t>
            </a:r>
            <a:r>
              <a:rPr lang="es-ES" sz="2400" baseline="30000" dirty="0">
                <a:latin typeface="Arial" panose="020B0604020202020204" pitchFamily="34" charset="0"/>
              </a:rPr>
              <a:t>3</a:t>
            </a:r>
            <a:r>
              <a:rPr lang="es-ES" sz="2400" dirty="0">
                <a:latin typeface="Arial" panose="020B0604020202020204" pitchFamily="34" charset="0"/>
              </a:rPr>
              <a:t>/s </a:t>
            </a:r>
            <a:r>
              <a:rPr lang="es-ES" sz="2400">
                <a:latin typeface="Arial" panose="020B0604020202020204" pitchFamily="34" charset="0"/>
              </a:rPr>
              <a:t>que avanzan).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6AFFCD6C-47D5-4C31-A098-627B38AF5206}"/>
              </a:ext>
            </a:extLst>
          </p:cNvPr>
          <p:cNvGrpSpPr/>
          <p:nvPr/>
        </p:nvGrpSpPr>
        <p:grpSpPr>
          <a:xfrm>
            <a:off x="3617745" y="1289385"/>
            <a:ext cx="2160000" cy="1080000"/>
            <a:chOff x="6966642" y="5780095"/>
            <a:chExt cx="2160000" cy="1080000"/>
          </a:xfrm>
        </p:grpSpPr>
        <p:sp>
          <p:nvSpPr>
            <p:cNvPr id="56" name="Rectangle 147">
              <a:extLst>
                <a:ext uri="{FF2B5EF4-FFF2-40B4-BE49-F238E27FC236}">
                  <a16:creationId xmlns:a16="http://schemas.microsoft.com/office/drawing/2014/main" id="{517A3CF8-B70D-481D-90CB-4AEF07501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6642" y="5780095"/>
              <a:ext cx="2160000" cy="10800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B17933F9-D817-4DDC-BC7C-6DDFD12E1CDE}"/>
                </a:ext>
              </a:extLst>
            </p:cNvPr>
            <p:cNvGrpSpPr/>
            <p:nvPr/>
          </p:nvGrpSpPr>
          <p:grpSpPr>
            <a:xfrm>
              <a:off x="7064431" y="5878179"/>
              <a:ext cx="1964423" cy="883832"/>
              <a:chOff x="6686828" y="5782977"/>
              <a:chExt cx="1964423" cy="883832"/>
            </a:xfrm>
          </p:grpSpPr>
          <p:sp>
            <p:nvSpPr>
              <p:cNvPr id="58" name="Text Box 144">
                <a:extLst>
                  <a:ext uri="{FF2B5EF4-FFF2-40B4-BE49-F238E27FC236}">
                    <a16:creationId xmlns:a16="http://schemas.microsoft.com/office/drawing/2014/main" id="{F8768C4F-83BB-4377-9CC6-81C4312501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86828" y="5981716"/>
                <a:ext cx="787400" cy="4635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 dirty="0">
                    <a:sym typeface="Symbol" panose="05050102010706020507" pitchFamily="18" charset="2"/>
                  </a:rPr>
                  <a:t>  =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CuadroTexto 58">
                    <a:extLst>
                      <a:ext uri="{FF2B5EF4-FFF2-40B4-BE49-F238E27FC236}">
                        <a16:creationId xmlns:a16="http://schemas.microsoft.com/office/drawing/2014/main" id="{D4D8D770-2A58-4665-936B-6234EFD8F0A4}"/>
                      </a:ext>
                    </a:extLst>
                  </p:cNvPr>
                  <p:cNvSpPr txBox="1"/>
                  <p:nvPr/>
                </p:nvSpPr>
                <p:spPr>
                  <a:xfrm>
                    <a:off x="7381480" y="5782977"/>
                    <a:ext cx="1269771" cy="8838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trlPr>
                                <a:rPr lang="es-E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E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</m:nary>
                        </m:oMath>
                      </m:oMathPara>
                    </a14:m>
                    <a:endParaRPr lang="es-ES" sz="2800" dirty="0"/>
                  </a:p>
                </p:txBody>
              </p:sp>
            </mc:Choice>
            <mc:Fallback xmlns="">
              <p:sp>
                <p:nvSpPr>
                  <p:cNvPr id="3" name="CuadroTexto 2">
                    <a:extLst>
                      <a:ext uri="{FF2B5EF4-FFF2-40B4-BE49-F238E27FC236}">
                        <a16:creationId xmlns:a16="http://schemas.microsoft.com/office/drawing/2014/main" id="{1CFB0C60-A4CB-4471-970F-0EFCD22FA8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81480" y="5782977"/>
                    <a:ext cx="1269771" cy="8838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60" name="Text Box 153">
            <a:extLst>
              <a:ext uri="{FF2B5EF4-FFF2-40B4-BE49-F238E27FC236}">
                <a16:creationId xmlns:a16="http://schemas.microsoft.com/office/drawing/2014/main" id="{18F68346-4A7A-472F-878F-3E32025BF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2" y="5129482"/>
            <a:ext cx="8027503" cy="169543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216000" tIns="108000" rIns="216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El </a:t>
            </a:r>
            <a:r>
              <a:rPr lang="es-ES" sz="2400" dirty="0">
                <a:latin typeface="Arial" panose="020B0604020202020204" pitchFamily="34" charset="0"/>
              </a:rPr>
              <a:t>avance lo marca la componente perpendicular de </a:t>
            </a:r>
            <a:r>
              <a:rPr lang="es-ES" sz="2400" b="1" dirty="0">
                <a:latin typeface="Arial" panose="020B0604020202020204" pitchFamily="34" charset="0"/>
              </a:rPr>
              <a:t>v</a:t>
            </a:r>
            <a:r>
              <a:rPr lang="es-ES" sz="2400" dirty="0">
                <a:latin typeface="Arial" panose="020B0604020202020204" pitchFamily="34" charset="0"/>
              </a:rPr>
              <a:t> en cada punto, </a:t>
            </a:r>
            <a:r>
              <a:rPr lang="es-ES" sz="2400" dirty="0" err="1">
                <a:latin typeface="Arial" panose="020B0604020202020204" pitchFamily="34" charset="0"/>
              </a:rPr>
              <a:t>v</a:t>
            </a:r>
            <a:r>
              <a:rPr lang="es-ES" sz="2400" baseline="-25000" dirty="0" err="1">
                <a:latin typeface="Arial" panose="020B0604020202020204" pitchFamily="34" charset="0"/>
              </a:rPr>
              <a:t>n</a:t>
            </a:r>
            <a:r>
              <a:rPr lang="es-ES" sz="2400" dirty="0">
                <a:latin typeface="Arial" panose="020B0604020202020204" pitchFamily="34" charset="0"/>
              </a:rPr>
              <a:t>, las otras </a:t>
            </a:r>
            <a:r>
              <a:rPr lang="es-ES" sz="2400">
                <a:latin typeface="Arial" panose="020B0604020202020204" pitchFamily="34" charset="0"/>
              </a:rPr>
              <a:t>están relacionadas, o con </a:t>
            </a:r>
            <a:r>
              <a:rPr lang="es-ES" sz="2400" dirty="0">
                <a:latin typeface="Arial" panose="020B0604020202020204" pitchFamily="34" charset="0"/>
              </a:rPr>
              <a:t>lo que sube o baja el agua, o lo que se mueve hacia un lado u otro en el </a:t>
            </a:r>
            <a:r>
              <a:rPr lang="es-ES" sz="2400">
                <a:latin typeface="Arial" panose="020B0604020202020204" pitchFamily="34" charset="0"/>
              </a:rPr>
              <a:t>punto. v</a:t>
            </a:r>
            <a:r>
              <a:rPr lang="es-ES" sz="2400" baseline="-25000">
                <a:latin typeface="Arial" panose="020B0604020202020204" pitchFamily="34" charset="0"/>
              </a:rPr>
              <a:t>n</a:t>
            </a:r>
            <a:r>
              <a:rPr lang="es-ES" sz="2400">
                <a:latin typeface="Arial" panose="020B0604020202020204" pitchFamily="34" charset="0"/>
              </a:rPr>
              <a:t>dS es el flujo en un punto, d</a:t>
            </a:r>
            <a:r>
              <a:rPr lang="es-ES" sz="2400">
                <a:sym typeface="Symbol" panose="05050102010706020507" pitchFamily="18" charset="2"/>
              </a:rPr>
              <a:t></a:t>
            </a:r>
            <a:r>
              <a:rPr lang="es-ES" sz="2400">
                <a:latin typeface="Arial" panose="020B0604020202020204" pitchFamily="34" charset="0"/>
              </a:rPr>
              <a:t>.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0" name="Text Box 1062">
            <a:extLst>
              <a:ext uri="{FF2B5EF4-FFF2-40B4-BE49-F238E27FC236}">
                <a16:creationId xmlns:a16="http://schemas.microsoft.com/office/drawing/2014/main" id="{2C4E2A95-0003-4DCD-89C3-BEC27DF41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219" y="1229486"/>
            <a:ext cx="3922163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Que aparezca al describir la Naturaleza hace que se emplee en Física</a:t>
            </a:r>
            <a:endParaRPr lang="es-ES" sz="24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95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60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Box 111">
            <a:extLst>
              <a:ext uri="{FF2B5EF4-FFF2-40B4-BE49-F238E27FC236}">
                <a16:creationId xmlns:a16="http://schemas.microsoft.com/office/drawing/2014/main" id="{DE7D7066-CD3E-4240-86CD-99676D9EB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424" y="1879552"/>
            <a:ext cx="2268000" cy="46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36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A</a:t>
            </a:r>
            <a:r>
              <a:rPr lang="es-ES" sz="2400" dirty="0">
                <a:latin typeface="Arial" panose="020B0604020202020204" pitchFamily="34" charset="0"/>
              </a:rPr>
              <a:t> hacia delante</a:t>
            </a:r>
          </a:p>
        </p:txBody>
      </p:sp>
      <p:sp>
        <p:nvSpPr>
          <p:cNvPr id="67" name="Text Box 111">
            <a:extLst>
              <a:ext uri="{FF2B5EF4-FFF2-40B4-BE49-F238E27FC236}">
                <a16:creationId xmlns:a16="http://schemas.microsoft.com/office/drawing/2014/main" id="{FCEB48F4-662F-4889-8160-1060BFB4E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4554" y="1871544"/>
            <a:ext cx="2266005" cy="4635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A</a:t>
            </a:r>
            <a:r>
              <a:rPr lang="es-ES" sz="2400" dirty="0">
                <a:latin typeface="Arial" panose="020B0604020202020204" pitchFamily="34" charset="0"/>
              </a:rPr>
              <a:t> hacia atrás</a:t>
            </a:r>
          </a:p>
        </p:txBody>
      </p:sp>
      <p:sp>
        <p:nvSpPr>
          <p:cNvPr id="268441" name="Text Box 153"/>
          <p:cNvSpPr txBox="1">
            <a:spLocks noChangeArrowheads="1"/>
          </p:cNvSpPr>
          <p:nvPr/>
        </p:nvSpPr>
        <p:spPr bwMode="auto">
          <a:xfrm>
            <a:off x="1467302" y="5873505"/>
            <a:ext cx="6655972" cy="88407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44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Sumando las contribuciones de todos los puntos de C, se tiene la circulación de </a:t>
            </a:r>
            <a:r>
              <a:rPr lang="es-ES" sz="2400" b="1" dirty="0">
                <a:latin typeface="Arial" panose="020B0604020202020204" pitchFamily="34" charset="0"/>
              </a:rPr>
              <a:t>A</a:t>
            </a:r>
            <a:r>
              <a:rPr lang="es-ES" sz="2400" dirty="0">
                <a:latin typeface="Arial" panose="020B0604020202020204" pitchFamily="34" charset="0"/>
              </a:rPr>
              <a:t> en C</a:t>
            </a:r>
          </a:p>
        </p:txBody>
      </p:sp>
      <p:sp>
        <p:nvSpPr>
          <p:cNvPr id="268447" name="Text Box 159"/>
          <p:cNvSpPr txBox="1">
            <a:spLocks noChangeArrowheads="1"/>
          </p:cNvSpPr>
          <p:nvPr/>
        </p:nvSpPr>
        <p:spPr bwMode="auto">
          <a:xfrm>
            <a:off x="1248704" y="4474148"/>
            <a:ext cx="1703388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&gt; 0</a:t>
            </a:r>
          </a:p>
        </p:txBody>
      </p:sp>
      <p:sp>
        <p:nvSpPr>
          <p:cNvPr id="268448" name="Text Box 160"/>
          <p:cNvSpPr txBox="1">
            <a:spLocks noChangeArrowheads="1"/>
          </p:cNvSpPr>
          <p:nvPr/>
        </p:nvSpPr>
        <p:spPr bwMode="auto">
          <a:xfrm>
            <a:off x="2964595" y="4478808"/>
            <a:ext cx="150336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&lt; 0</a:t>
            </a:r>
          </a:p>
        </p:txBody>
      </p:sp>
      <p:sp>
        <p:nvSpPr>
          <p:cNvPr id="13350" name="Text Box 157"/>
          <p:cNvSpPr txBox="1">
            <a:spLocks noChangeArrowheads="1"/>
          </p:cNvSpPr>
          <p:nvPr/>
        </p:nvSpPr>
        <p:spPr bwMode="auto">
          <a:xfrm>
            <a:off x="3214580" y="355278"/>
            <a:ext cx="5138739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CIRCULACIÓN de </a:t>
            </a:r>
            <a:r>
              <a:rPr lang="es-ES" sz="2400" b="1" dirty="0">
                <a:solidFill>
                  <a:srgbClr val="FFFFFF"/>
                </a:solidFill>
                <a:latin typeface="Arial" panose="020B0604020202020204" pitchFamily="34" charset="0"/>
              </a:rPr>
              <a:t>A </a:t>
            </a:r>
            <a:r>
              <a:rPr lang="es-ES" sz="2400" dirty="0" err="1">
                <a:solidFill>
                  <a:srgbClr val="FFFFFF"/>
                </a:solidFill>
                <a:latin typeface="Arial" panose="020B0604020202020204" pitchFamily="34" charset="0"/>
              </a:rPr>
              <a:t>a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 lo largo de C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D2F2DF6-2B09-4020-94AC-83BE432E97DA}"/>
              </a:ext>
            </a:extLst>
          </p:cNvPr>
          <p:cNvGrpSpPr/>
          <p:nvPr/>
        </p:nvGrpSpPr>
        <p:grpSpPr>
          <a:xfrm>
            <a:off x="6122618" y="1044644"/>
            <a:ext cx="539750" cy="707167"/>
            <a:chOff x="5625993" y="1051674"/>
            <a:chExt cx="539750" cy="707167"/>
          </a:xfrm>
        </p:grpSpPr>
        <p:sp>
          <p:nvSpPr>
            <p:cNvPr id="46102" name="Rectangle 117"/>
            <p:cNvSpPr>
              <a:spLocks noChangeArrowheads="1"/>
            </p:cNvSpPr>
            <p:nvPr/>
          </p:nvSpPr>
          <p:spPr bwMode="auto">
            <a:xfrm>
              <a:off x="5625993" y="1218841"/>
              <a:ext cx="539750" cy="5400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s-ES" sz="2400"/>
            </a:p>
          </p:txBody>
        </p:sp>
        <p:sp>
          <p:nvSpPr>
            <p:cNvPr id="13341" name="Text Box 120"/>
            <p:cNvSpPr txBox="1">
              <a:spLocks noChangeArrowheads="1"/>
            </p:cNvSpPr>
            <p:nvPr/>
          </p:nvSpPr>
          <p:spPr bwMode="auto">
            <a:xfrm>
              <a:off x="5668856" y="1275179"/>
              <a:ext cx="444650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A</a:t>
              </a:r>
              <a:r>
                <a:rPr lang="es-ES" sz="2400" baseline="-25000" dirty="0">
                  <a:latin typeface="Arial" panose="020B0604020202020204" pitchFamily="34" charset="0"/>
                </a:rPr>
                <a:t>t</a:t>
              </a:r>
              <a:endParaRPr lang="es-ES" sz="2400" dirty="0">
                <a:latin typeface="Arial" panose="020B0604020202020204" pitchFamily="34" charset="0"/>
              </a:endParaRPr>
            </a:p>
          </p:txBody>
        </p:sp>
        <p:sp>
          <p:nvSpPr>
            <p:cNvPr id="13344" name="Text Box 155"/>
            <p:cNvSpPr txBox="1">
              <a:spLocks noChangeArrowheads="1"/>
            </p:cNvSpPr>
            <p:nvPr/>
          </p:nvSpPr>
          <p:spPr bwMode="auto">
            <a:xfrm>
              <a:off x="5643456" y="1051674"/>
              <a:ext cx="484188" cy="463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ym typeface="Symbol" panose="05050102010706020507" pitchFamily="18" charset="2"/>
                </a:rPr>
                <a:t></a:t>
              </a:r>
            </a:p>
          </p:txBody>
        </p:sp>
      </p:grpSp>
      <p:sp>
        <p:nvSpPr>
          <p:cNvPr id="2206" name="Text Box 158"/>
          <p:cNvSpPr txBox="1">
            <a:spLocks noChangeArrowheads="1"/>
          </p:cNvSpPr>
          <p:nvPr/>
        </p:nvSpPr>
        <p:spPr bwMode="auto">
          <a:xfrm>
            <a:off x="6130378" y="3066136"/>
            <a:ext cx="4215099" cy="1253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/>
              <a:t>Se define la circulación en un punto como el producto de </a:t>
            </a:r>
            <a:r>
              <a:rPr lang="es-ES" sz="2400" b="1" dirty="0"/>
              <a:t>A</a:t>
            </a:r>
            <a:r>
              <a:rPr lang="es-ES" sz="2400" b="1" baseline="-25000" dirty="0"/>
              <a:t>t</a:t>
            </a:r>
            <a:r>
              <a:rPr lang="es-ES" sz="2400" dirty="0"/>
              <a:t>, como escalar, A</a:t>
            </a:r>
            <a:r>
              <a:rPr lang="es-ES" sz="2400" baseline="-25000" dirty="0"/>
              <a:t>t</a:t>
            </a:r>
            <a:r>
              <a:rPr lang="es-ES" sz="2400"/>
              <a:t>, y </a:t>
            </a:r>
            <a:r>
              <a:rPr lang="es-ES" sz="2400" dirty="0"/>
              <a:t>dl</a:t>
            </a:r>
          </a:p>
        </p:txBody>
      </p:sp>
      <p:sp>
        <p:nvSpPr>
          <p:cNvPr id="62" name="Text Box 159"/>
          <p:cNvSpPr txBox="1">
            <a:spLocks noChangeArrowheads="1"/>
          </p:cNvSpPr>
          <p:nvPr/>
        </p:nvSpPr>
        <p:spPr bwMode="auto">
          <a:xfrm>
            <a:off x="2212927" y="4798348"/>
            <a:ext cx="132394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dl &gt; 0</a:t>
            </a:r>
          </a:p>
        </p:txBody>
      </p:sp>
      <p:sp>
        <p:nvSpPr>
          <p:cNvPr id="63" name="Text Box 160"/>
          <p:cNvSpPr txBox="1">
            <a:spLocks noChangeArrowheads="1"/>
          </p:cNvSpPr>
          <p:nvPr/>
        </p:nvSpPr>
        <p:spPr bwMode="auto">
          <a:xfrm>
            <a:off x="4463735" y="4809787"/>
            <a:ext cx="128783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dl &lt; 0</a:t>
            </a:r>
          </a:p>
        </p:txBody>
      </p:sp>
      <p:sp>
        <p:nvSpPr>
          <p:cNvPr id="64" name="Text Box 140"/>
          <p:cNvSpPr txBox="1">
            <a:spLocks noChangeArrowheads="1"/>
          </p:cNvSpPr>
          <p:nvPr/>
        </p:nvSpPr>
        <p:spPr bwMode="auto">
          <a:xfrm>
            <a:off x="1271128" y="5178373"/>
            <a:ext cx="1088998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dirty="0">
                <a:sym typeface="Symbol" panose="05050102010706020507" pitchFamily="18" charset="2"/>
              </a:rPr>
              <a:t>dl &gt; 0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A0B58F36-728F-488B-BFD7-2A1C219D0559}"/>
              </a:ext>
            </a:extLst>
          </p:cNvPr>
          <p:cNvGrpSpPr/>
          <p:nvPr/>
        </p:nvGrpSpPr>
        <p:grpSpPr>
          <a:xfrm>
            <a:off x="8286042" y="4517761"/>
            <a:ext cx="1440000" cy="1080000"/>
            <a:chOff x="3117130" y="5780095"/>
            <a:chExt cx="1440000" cy="1080000"/>
          </a:xfrm>
        </p:grpSpPr>
        <p:sp>
          <p:nvSpPr>
            <p:cNvPr id="13382" name="Rectangle 94"/>
            <p:cNvSpPr>
              <a:spLocks noChangeArrowheads="1"/>
            </p:cNvSpPr>
            <p:nvPr/>
          </p:nvSpPr>
          <p:spPr bwMode="auto">
            <a:xfrm>
              <a:off x="3117130" y="5780095"/>
              <a:ext cx="1440000" cy="10800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83" name="Text Box 95"/>
            <p:cNvSpPr txBox="1">
              <a:spLocks noChangeArrowheads="1"/>
            </p:cNvSpPr>
            <p:nvPr/>
          </p:nvSpPr>
          <p:spPr bwMode="auto">
            <a:xfrm>
              <a:off x="3423683" y="6078061"/>
              <a:ext cx="770060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sz="2400" dirty="0">
                  <a:latin typeface="Arial" panose="020B0604020202020204" pitchFamily="34" charset="0"/>
                </a:rPr>
                <a:t>A</a:t>
              </a:r>
              <a:r>
                <a:rPr lang="en-GB" sz="2400" baseline="-25000" dirty="0">
                  <a:latin typeface="Arial" panose="020B0604020202020204" pitchFamily="34" charset="0"/>
                  <a:sym typeface="Symbol" panose="05050102010706020507" pitchFamily="18" charset="2"/>
                </a:rPr>
                <a:t>t</a:t>
              </a:r>
              <a:r>
                <a:rPr lang="en-GB" sz="2400" dirty="0">
                  <a:latin typeface="Arial" panose="020B0604020202020204" pitchFamily="34" charset="0"/>
                  <a:sym typeface="Symbol" panose="05050102010706020507" pitchFamily="18" charset="2"/>
                </a:rPr>
                <a:t> dl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F79F2AE4-B5C7-418D-A175-BF58C96FE728}"/>
              </a:ext>
            </a:extLst>
          </p:cNvPr>
          <p:cNvGrpSpPr/>
          <p:nvPr/>
        </p:nvGrpSpPr>
        <p:grpSpPr>
          <a:xfrm>
            <a:off x="6734593" y="1268413"/>
            <a:ext cx="2677634" cy="1589293"/>
            <a:chOff x="6750743" y="1373682"/>
            <a:chExt cx="2677634" cy="1589293"/>
          </a:xfrm>
        </p:grpSpPr>
        <p:sp>
          <p:nvSpPr>
            <p:cNvPr id="13342" name="Text Box 114"/>
            <p:cNvSpPr txBox="1">
              <a:spLocks noChangeArrowheads="1"/>
            </p:cNvSpPr>
            <p:nvPr/>
          </p:nvSpPr>
          <p:spPr bwMode="auto">
            <a:xfrm>
              <a:off x="6750743" y="2129797"/>
              <a:ext cx="2677634" cy="833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dirty="0"/>
                <a:t>[paralela   (//) a d</a:t>
              </a:r>
              <a:r>
                <a:rPr lang="es-ES" sz="2400" b="1" dirty="0"/>
                <a:t>l</a:t>
              </a:r>
            </a:p>
            <a:p>
              <a:pPr eaLnBrk="1" hangingPunct="1">
                <a:spcBef>
                  <a:spcPts val="0"/>
                </a:spcBef>
              </a:pPr>
              <a:r>
                <a:rPr lang="es-ES" sz="2400" b="1" dirty="0"/>
                <a:t> </a:t>
              </a:r>
              <a:r>
                <a:rPr lang="es-ES" sz="2400" dirty="0"/>
                <a:t>en dirección]</a:t>
              </a:r>
            </a:p>
          </p:txBody>
        </p:sp>
        <p:sp>
          <p:nvSpPr>
            <p:cNvPr id="66" name="Text Box 120">
              <a:extLst>
                <a:ext uri="{FF2B5EF4-FFF2-40B4-BE49-F238E27FC236}">
                  <a16:creationId xmlns:a16="http://schemas.microsoft.com/office/drawing/2014/main" id="{14B04AAA-9BD0-4ABC-8971-C7D1236FB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0590" y="1373682"/>
              <a:ext cx="2629544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es la componente</a:t>
              </a:r>
              <a:endParaRPr lang="es-ES" sz="24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tangencial (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//</a:t>
              </a:r>
              <a:r>
                <a:rPr lang="es-ES" sz="2400" dirty="0">
                  <a:latin typeface="Arial" panose="020B0604020202020204" pitchFamily="34" charset="0"/>
                </a:rPr>
                <a:t>) a dl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E79CB0C8-DF58-41D8-9D3E-3C060B4F306B}"/>
              </a:ext>
            </a:extLst>
          </p:cNvPr>
          <p:cNvGrpSpPr/>
          <p:nvPr/>
        </p:nvGrpSpPr>
        <p:grpSpPr>
          <a:xfrm>
            <a:off x="8282763" y="5758831"/>
            <a:ext cx="1440000" cy="1080000"/>
            <a:chOff x="8282763" y="5758831"/>
            <a:chExt cx="1440000" cy="1080000"/>
          </a:xfrm>
        </p:grpSpPr>
        <p:sp>
          <p:nvSpPr>
            <p:cNvPr id="13380" name="Rectangle 147"/>
            <p:cNvSpPr>
              <a:spLocks noChangeArrowheads="1"/>
            </p:cNvSpPr>
            <p:nvPr/>
          </p:nvSpPr>
          <p:spPr bwMode="auto">
            <a:xfrm>
              <a:off x="8282763" y="5758831"/>
              <a:ext cx="1440000" cy="10800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3FF485C2-042F-440A-A599-50EC2CF0282C}"/>
                    </a:ext>
                  </a:extLst>
                </p:cNvPr>
                <p:cNvSpPr txBox="1"/>
                <p:nvPr/>
              </p:nvSpPr>
              <p:spPr>
                <a:xfrm>
                  <a:off x="8423851" y="5849393"/>
                  <a:ext cx="1145314" cy="883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trlPr>
                              <a:rPr lang="es-ES" sz="2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es-E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2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sz="2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</a:rPr>
                              <m:t>𝑑𝑙</m:t>
                            </m:r>
                          </m:e>
                        </m:nary>
                      </m:oMath>
                    </m:oMathPara>
                  </a14:m>
                  <a:endParaRPr lang="es-ES" sz="2800" dirty="0"/>
                </a:p>
              </p:txBody>
            </p:sp>
          </mc:Choice>
          <mc:Fallback xmlns="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3FF485C2-042F-440A-A599-50EC2CF02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3851" y="5849393"/>
                  <a:ext cx="1145314" cy="8838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Group 74">
            <a:extLst>
              <a:ext uri="{FF2B5EF4-FFF2-40B4-BE49-F238E27FC236}">
                <a16:creationId xmlns:a16="http://schemas.microsoft.com/office/drawing/2014/main" id="{496460C7-AED5-48E3-9171-CFDC145069AB}"/>
              </a:ext>
            </a:extLst>
          </p:cNvPr>
          <p:cNvGrpSpPr>
            <a:grpSpLocks/>
          </p:cNvGrpSpPr>
          <p:nvPr/>
        </p:nvGrpSpPr>
        <p:grpSpPr bwMode="auto">
          <a:xfrm>
            <a:off x="3646172" y="2566737"/>
            <a:ext cx="2003425" cy="1552578"/>
            <a:chOff x="5143" y="1173"/>
            <a:chExt cx="1262" cy="978"/>
          </a:xfrm>
        </p:grpSpPr>
        <p:sp>
          <p:nvSpPr>
            <p:cNvPr id="70" name="Text Box 75">
              <a:extLst>
                <a:ext uri="{FF2B5EF4-FFF2-40B4-BE49-F238E27FC236}">
                  <a16:creationId xmlns:a16="http://schemas.microsoft.com/office/drawing/2014/main" id="{F8516930-0F62-4438-8312-DD74BAC2EE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8" y="1720"/>
              <a:ext cx="30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grpSp>
          <p:nvGrpSpPr>
            <p:cNvPr id="71" name="Group 76">
              <a:extLst>
                <a:ext uri="{FF2B5EF4-FFF2-40B4-BE49-F238E27FC236}">
                  <a16:creationId xmlns:a16="http://schemas.microsoft.com/office/drawing/2014/main" id="{8261C8B5-4967-4429-B58C-369ED31569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3" y="1173"/>
              <a:ext cx="1262" cy="978"/>
              <a:chOff x="5143" y="1173"/>
              <a:chExt cx="1262" cy="978"/>
            </a:xfrm>
          </p:grpSpPr>
          <p:sp>
            <p:nvSpPr>
              <p:cNvPr id="72" name="Text Box 77">
                <a:extLst>
                  <a:ext uri="{FF2B5EF4-FFF2-40B4-BE49-F238E27FC236}">
                    <a16:creationId xmlns:a16="http://schemas.microsoft.com/office/drawing/2014/main" id="{CB6C26F8-1328-41DC-A8C4-AC6621CDC5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51" y="1330"/>
                <a:ext cx="288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73" name="Freeform 78">
                <a:extLst>
                  <a:ext uri="{FF2B5EF4-FFF2-40B4-BE49-F238E27FC236}">
                    <a16:creationId xmlns:a16="http://schemas.microsoft.com/office/drawing/2014/main" id="{A4D337C2-7ECE-4105-A6C3-646B6FA9E4F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143" y="1523"/>
                <a:ext cx="1248" cy="196"/>
              </a:xfrm>
              <a:custGeom>
                <a:avLst/>
                <a:gdLst>
                  <a:gd name="T0" fmla="*/ 0 w 3120"/>
                  <a:gd name="T1" fmla="*/ 0 h 489"/>
                  <a:gd name="T2" fmla="*/ 0 w 3120"/>
                  <a:gd name="T3" fmla="*/ 0 h 489"/>
                  <a:gd name="T4" fmla="*/ 0 w 3120"/>
                  <a:gd name="T5" fmla="*/ 0 h 489"/>
                  <a:gd name="T6" fmla="*/ 0 w 3120"/>
                  <a:gd name="T7" fmla="*/ 0 h 489"/>
                  <a:gd name="T8" fmla="*/ 0 w 3120"/>
                  <a:gd name="T9" fmla="*/ 0 h 489"/>
                  <a:gd name="T10" fmla="*/ 0 w 3120"/>
                  <a:gd name="T11" fmla="*/ 0 h 48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20"/>
                  <a:gd name="T19" fmla="*/ 0 h 489"/>
                  <a:gd name="T20" fmla="*/ 3120 w 3120"/>
                  <a:gd name="T21" fmla="*/ 489 h 48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20" h="489">
                    <a:moveTo>
                      <a:pt x="0" y="489"/>
                    </a:moveTo>
                    <a:cubicBezTo>
                      <a:pt x="60" y="366"/>
                      <a:pt x="120" y="244"/>
                      <a:pt x="240" y="163"/>
                    </a:cubicBezTo>
                    <a:cubicBezTo>
                      <a:pt x="360" y="82"/>
                      <a:pt x="500" y="0"/>
                      <a:pt x="720" y="0"/>
                    </a:cubicBezTo>
                    <a:cubicBezTo>
                      <a:pt x="940" y="0"/>
                      <a:pt x="1260" y="109"/>
                      <a:pt x="1560" y="163"/>
                    </a:cubicBezTo>
                    <a:cubicBezTo>
                      <a:pt x="1860" y="217"/>
                      <a:pt x="2260" y="326"/>
                      <a:pt x="2520" y="326"/>
                    </a:cubicBezTo>
                    <a:cubicBezTo>
                      <a:pt x="2780" y="326"/>
                      <a:pt x="2950" y="244"/>
                      <a:pt x="3120" y="163"/>
                    </a:cubicBezTo>
                  </a:path>
                </a:pathLst>
              </a:cu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 sz="2400"/>
              </a:p>
            </p:txBody>
          </p:sp>
          <p:sp>
            <p:nvSpPr>
              <p:cNvPr id="74" name="Line 79">
                <a:extLst>
                  <a:ext uri="{FF2B5EF4-FFF2-40B4-BE49-F238E27FC236}">
                    <a16:creationId xmlns:a16="http://schemas.microsoft.com/office/drawing/2014/main" id="{298A3E14-8315-4BFC-BE3B-C98CB62C99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13" y="1523"/>
                <a:ext cx="891" cy="54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2400"/>
              </a:p>
            </p:txBody>
          </p:sp>
          <p:sp>
            <p:nvSpPr>
              <p:cNvPr id="75" name="Text Box 80">
                <a:extLst>
                  <a:ext uri="{FF2B5EF4-FFF2-40B4-BE49-F238E27FC236}">
                    <a16:creationId xmlns:a16="http://schemas.microsoft.com/office/drawing/2014/main" id="{D0D0F7FD-8B7B-4F64-B828-548893D59D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80" y="1860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A</a:t>
                </a:r>
              </a:p>
            </p:txBody>
          </p:sp>
          <p:graphicFrame>
            <p:nvGraphicFramePr>
              <p:cNvPr id="76" name="Object 81">
                <a:extLst>
                  <a:ext uri="{FF2B5EF4-FFF2-40B4-BE49-F238E27FC236}">
                    <a16:creationId xmlns:a16="http://schemas.microsoft.com/office/drawing/2014/main" id="{3A2A428B-14EE-46C3-B069-0AABDA01CD2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137" y="1173"/>
              <a:ext cx="268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5" imgW="203024" imgH="215713" progId="Equation.3">
                      <p:embed/>
                    </p:oleObj>
                  </mc:Choice>
                  <mc:Fallback>
                    <p:oleObj name="Ecuación" r:id="rId5" imgW="203024" imgH="215713" progId="Equation.3">
                      <p:embed/>
                      <p:pic>
                        <p:nvPicPr>
                          <p:cNvPr id="73" name="Object 8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37" y="1173"/>
                            <a:ext cx="268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7" name="Line 82">
                <a:extLst>
                  <a:ext uri="{FF2B5EF4-FFF2-40B4-BE49-F238E27FC236}">
                    <a16:creationId xmlns:a16="http://schemas.microsoft.com/office/drawing/2014/main" id="{E85D86C4-B6F3-4651-B464-FFD77D3CD3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112" y="1428"/>
                <a:ext cx="0" cy="1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2400"/>
              </a:p>
            </p:txBody>
          </p:sp>
          <p:sp>
            <p:nvSpPr>
              <p:cNvPr id="78" name="Line 83">
                <a:extLst>
                  <a:ext uri="{FF2B5EF4-FFF2-40B4-BE49-F238E27FC236}">
                    <a16:creationId xmlns:a16="http://schemas.microsoft.com/office/drawing/2014/main" id="{B4DD862B-A9D2-4A9C-B9F3-C92C5545B9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13" y="1523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2400"/>
              </a:p>
            </p:txBody>
          </p:sp>
        </p:grpSp>
      </p:grpSp>
      <p:grpSp>
        <p:nvGrpSpPr>
          <p:cNvPr id="79" name="Group 3">
            <a:extLst>
              <a:ext uri="{FF2B5EF4-FFF2-40B4-BE49-F238E27FC236}">
                <a16:creationId xmlns:a16="http://schemas.microsoft.com/office/drawing/2014/main" id="{39EAF404-6FBA-4664-A0E7-FBE06E98D771}"/>
              </a:ext>
            </a:extLst>
          </p:cNvPr>
          <p:cNvGrpSpPr>
            <a:grpSpLocks/>
          </p:cNvGrpSpPr>
          <p:nvPr/>
        </p:nvGrpSpPr>
        <p:grpSpPr bwMode="auto">
          <a:xfrm>
            <a:off x="3714435" y="2388936"/>
            <a:ext cx="1439862" cy="728663"/>
            <a:chOff x="2436" y="1052"/>
            <a:chExt cx="907" cy="459"/>
          </a:xfrm>
        </p:grpSpPr>
        <p:sp>
          <p:nvSpPr>
            <p:cNvPr id="80" name="Text Box 9">
              <a:extLst>
                <a:ext uri="{FF2B5EF4-FFF2-40B4-BE49-F238E27FC236}">
                  <a16:creationId xmlns:a16="http://schemas.microsoft.com/office/drawing/2014/main" id="{8E218735-54FE-45CD-90A0-EE1B2E38B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3" y="1189"/>
              <a:ext cx="31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</a:t>
              </a:r>
              <a:r>
                <a:rPr lang="es-ES" sz="2400" baseline="-25000">
                  <a:latin typeface="Arial" panose="020B0604020202020204" pitchFamily="34" charset="0"/>
                </a:rPr>
                <a:t>t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81" name="Text Box 10">
              <a:extLst>
                <a:ext uri="{FF2B5EF4-FFF2-40B4-BE49-F238E27FC236}">
                  <a16:creationId xmlns:a16="http://schemas.microsoft.com/office/drawing/2014/main" id="{D5A628E2-BE95-4A61-94F6-FD08C8ACA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2" y="1052"/>
              <a:ext cx="30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82" name="Line 8">
              <a:extLst>
                <a:ext uri="{FF2B5EF4-FFF2-40B4-BE49-F238E27FC236}">
                  <a16:creationId xmlns:a16="http://schemas.microsoft.com/office/drawing/2014/main" id="{3AA3B812-0EA6-402D-8E56-DAF6D89EC5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6" y="1511"/>
              <a:ext cx="9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83" name="Group 8">
            <a:extLst>
              <a:ext uri="{FF2B5EF4-FFF2-40B4-BE49-F238E27FC236}">
                <a16:creationId xmlns:a16="http://schemas.microsoft.com/office/drawing/2014/main" id="{BAC4D1A4-EFD0-4C0A-9B8E-52153A8D08E4}"/>
              </a:ext>
            </a:extLst>
          </p:cNvPr>
          <p:cNvGrpSpPr>
            <a:grpSpLocks/>
          </p:cNvGrpSpPr>
          <p:nvPr/>
        </p:nvGrpSpPr>
        <p:grpSpPr bwMode="auto">
          <a:xfrm>
            <a:off x="1844360" y="2390522"/>
            <a:ext cx="1439862" cy="727075"/>
            <a:chOff x="1114" y="1053"/>
            <a:chExt cx="907" cy="458"/>
          </a:xfrm>
        </p:grpSpPr>
        <p:sp>
          <p:nvSpPr>
            <p:cNvPr id="84" name="Line 11">
              <a:extLst>
                <a:ext uri="{FF2B5EF4-FFF2-40B4-BE49-F238E27FC236}">
                  <a16:creationId xmlns:a16="http://schemas.microsoft.com/office/drawing/2014/main" id="{F153A20A-18F6-4D8D-8278-47BA50D17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4" y="1511"/>
              <a:ext cx="9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85" name="Text Box 12">
              <a:extLst>
                <a:ext uri="{FF2B5EF4-FFF2-40B4-BE49-F238E27FC236}">
                  <a16:creationId xmlns:a16="http://schemas.microsoft.com/office/drawing/2014/main" id="{901CB75A-7F23-485B-AD8A-98F9DEB3BA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7" y="1178"/>
              <a:ext cx="31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</a:t>
              </a:r>
              <a:r>
                <a:rPr lang="es-ES" sz="2400" baseline="-25000">
                  <a:latin typeface="Arial" panose="020B0604020202020204" pitchFamily="34" charset="0"/>
                </a:rPr>
                <a:t>t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86" name="Text Box 13">
              <a:extLst>
                <a:ext uri="{FF2B5EF4-FFF2-40B4-BE49-F238E27FC236}">
                  <a16:creationId xmlns:a16="http://schemas.microsoft.com/office/drawing/2014/main" id="{C7D811CB-F75E-46B3-931D-385850CD3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0" y="1053"/>
              <a:ext cx="30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endParaRPr lang="es-E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87" name="Group 59">
            <a:extLst>
              <a:ext uri="{FF2B5EF4-FFF2-40B4-BE49-F238E27FC236}">
                <a16:creationId xmlns:a16="http://schemas.microsoft.com/office/drawing/2014/main" id="{37AB0A24-4E98-4503-B5EB-D53C6EC78E67}"/>
              </a:ext>
            </a:extLst>
          </p:cNvPr>
          <p:cNvGrpSpPr>
            <a:grpSpLocks/>
          </p:cNvGrpSpPr>
          <p:nvPr/>
        </p:nvGrpSpPr>
        <p:grpSpPr bwMode="auto">
          <a:xfrm>
            <a:off x="4978085" y="2981074"/>
            <a:ext cx="434975" cy="652463"/>
            <a:chOff x="3232" y="1425"/>
            <a:chExt cx="274" cy="411"/>
          </a:xfrm>
        </p:grpSpPr>
        <p:sp>
          <p:nvSpPr>
            <p:cNvPr id="88" name="98 CuadroTexto">
              <a:extLst>
                <a:ext uri="{FF2B5EF4-FFF2-40B4-BE49-F238E27FC236}">
                  <a16:creationId xmlns:a16="http://schemas.microsoft.com/office/drawing/2014/main" id="{22A15557-8E86-4FD1-B4D1-7BB87188D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2" y="1548"/>
              <a:ext cx="2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l-GR" sz="2400">
                  <a:latin typeface="Symbol" panose="05050102010706020507" pitchFamily="18" charset="2"/>
                  <a:sym typeface="Symbol" panose="05050102010706020507" pitchFamily="18" charset="2"/>
                </a:rPr>
                <a:t></a:t>
              </a:r>
              <a:endParaRPr lang="es-ES" sz="2400">
                <a:latin typeface="Symbol" panose="05050102010706020507" pitchFamily="18" charset="2"/>
              </a:endParaRPr>
            </a:p>
          </p:txBody>
        </p:sp>
        <p:sp>
          <p:nvSpPr>
            <p:cNvPr id="89" name="Freeform 61">
              <a:extLst>
                <a:ext uri="{FF2B5EF4-FFF2-40B4-BE49-F238E27FC236}">
                  <a16:creationId xmlns:a16="http://schemas.microsoft.com/office/drawing/2014/main" id="{F1C90D4B-9F0E-4173-B468-E25F101DEF48}"/>
                </a:ext>
              </a:extLst>
            </p:cNvPr>
            <p:cNvSpPr>
              <a:spLocks/>
            </p:cNvSpPr>
            <p:nvPr/>
          </p:nvSpPr>
          <p:spPr bwMode="auto">
            <a:xfrm rot="2449977">
              <a:off x="3247" y="1425"/>
              <a:ext cx="145" cy="292"/>
            </a:xfrm>
            <a:custGeom>
              <a:avLst/>
              <a:gdLst>
                <a:gd name="T0" fmla="*/ 870651015 w 83"/>
                <a:gd name="T1" fmla="*/ 0 h 144"/>
                <a:gd name="T2" fmla="*/ 736133196 w 83"/>
                <a:gd name="T3" fmla="*/ 815326751 h 144"/>
                <a:gd name="T4" fmla="*/ 0 w 83"/>
                <a:gd name="T5" fmla="*/ 1434018339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44">
                  <a:moveTo>
                    <a:pt x="82" y="0"/>
                  </a:moveTo>
                  <a:cubicBezTo>
                    <a:pt x="82" y="29"/>
                    <a:pt x="83" y="58"/>
                    <a:pt x="69" y="82"/>
                  </a:cubicBezTo>
                  <a:cubicBezTo>
                    <a:pt x="55" y="106"/>
                    <a:pt x="27" y="125"/>
                    <a:pt x="0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90" name="Group 112">
            <a:extLst>
              <a:ext uri="{FF2B5EF4-FFF2-40B4-BE49-F238E27FC236}">
                <a16:creationId xmlns:a16="http://schemas.microsoft.com/office/drawing/2014/main" id="{377132B5-BA4F-4E33-8252-78189585C66C}"/>
              </a:ext>
            </a:extLst>
          </p:cNvPr>
          <p:cNvGrpSpPr>
            <a:grpSpLocks/>
          </p:cNvGrpSpPr>
          <p:nvPr/>
        </p:nvGrpSpPr>
        <p:grpSpPr bwMode="auto">
          <a:xfrm>
            <a:off x="1228410" y="2541331"/>
            <a:ext cx="2120900" cy="1571622"/>
            <a:chOff x="705" y="1386"/>
            <a:chExt cx="1336" cy="990"/>
          </a:xfrm>
        </p:grpSpPr>
        <p:grpSp>
          <p:nvGrpSpPr>
            <p:cNvPr id="91" name="Group 99">
              <a:extLst>
                <a:ext uri="{FF2B5EF4-FFF2-40B4-BE49-F238E27FC236}">
                  <a16:creationId xmlns:a16="http://schemas.microsoft.com/office/drawing/2014/main" id="{1C9B8A85-D4CE-4478-804F-E4CA39AC53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5" y="1386"/>
              <a:ext cx="1336" cy="990"/>
              <a:chOff x="1417" y="433"/>
              <a:chExt cx="1336" cy="990"/>
            </a:xfrm>
          </p:grpSpPr>
          <p:grpSp>
            <p:nvGrpSpPr>
              <p:cNvPr id="93" name="Group 100">
                <a:extLst>
                  <a:ext uri="{FF2B5EF4-FFF2-40B4-BE49-F238E27FC236}">
                    <a16:creationId xmlns:a16="http://schemas.microsoft.com/office/drawing/2014/main" id="{5306B48C-DCD1-4DE1-B74F-D9F0832B76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5" y="433"/>
                <a:ext cx="1248" cy="990"/>
                <a:chOff x="1505" y="433"/>
                <a:chExt cx="1248" cy="990"/>
              </a:xfrm>
            </p:grpSpPr>
            <p:sp>
              <p:nvSpPr>
                <p:cNvPr id="95" name="Freeform 34">
                  <a:extLst>
                    <a:ext uri="{FF2B5EF4-FFF2-40B4-BE49-F238E27FC236}">
                      <a16:creationId xmlns:a16="http://schemas.microsoft.com/office/drawing/2014/main" id="{F551AEC7-460B-4153-958C-2DD6C4ED51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05" y="798"/>
                  <a:ext cx="1248" cy="196"/>
                </a:xfrm>
                <a:custGeom>
                  <a:avLst/>
                  <a:gdLst>
                    <a:gd name="T0" fmla="*/ 0 w 3120"/>
                    <a:gd name="T1" fmla="*/ 0 h 489"/>
                    <a:gd name="T2" fmla="*/ 0 w 3120"/>
                    <a:gd name="T3" fmla="*/ 0 h 489"/>
                    <a:gd name="T4" fmla="*/ 0 w 3120"/>
                    <a:gd name="T5" fmla="*/ 0 h 489"/>
                    <a:gd name="T6" fmla="*/ 0 w 3120"/>
                    <a:gd name="T7" fmla="*/ 0 h 489"/>
                    <a:gd name="T8" fmla="*/ 0 w 3120"/>
                    <a:gd name="T9" fmla="*/ 0 h 489"/>
                    <a:gd name="T10" fmla="*/ 0 w 3120"/>
                    <a:gd name="T11" fmla="*/ 0 h 48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120"/>
                    <a:gd name="T19" fmla="*/ 0 h 489"/>
                    <a:gd name="T20" fmla="*/ 3120 w 3120"/>
                    <a:gd name="T21" fmla="*/ 489 h 48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120" h="489">
                      <a:moveTo>
                        <a:pt x="0" y="489"/>
                      </a:moveTo>
                      <a:cubicBezTo>
                        <a:pt x="60" y="366"/>
                        <a:pt x="120" y="244"/>
                        <a:pt x="240" y="163"/>
                      </a:cubicBezTo>
                      <a:cubicBezTo>
                        <a:pt x="360" y="82"/>
                        <a:pt x="500" y="0"/>
                        <a:pt x="720" y="0"/>
                      </a:cubicBezTo>
                      <a:cubicBezTo>
                        <a:pt x="940" y="0"/>
                        <a:pt x="1260" y="109"/>
                        <a:pt x="1560" y="163"/>
                      </a:cubicBezTo>
                      <a:cubicBezTo>
                        <a:pt x="1860" y="217"/>
                        <a:pt x="2260" y="326"/>
                        <a:pt x="2520" y="326"/>
                      </a:cubicBezTo>
                      <a:cubicBezTo>
                        <a:pt x="2780" y="326"/>
                        <a:pt x="2950" y="244"/>
                        <a:pt x="3120" y="163"/>
                      </a:cubicBezTo>
                    </a:path>
                  </a:pathLst>
                </a:cu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 sz="2400"/>
                </a:p>
              </p:txBody>
            </p:sp>
            <p:sp>
              <p:nvSpPr>
                <p:cNvPr id="96" name="Text Box 35">
                  <a:extLst>
                    <a:ext uri="{FF2B5EF4-FFF2-40B4-BE49-F238E27FC236}">
                      <a16:creationId xmlns:a16="http://schemas.microsoft.com/office/drawing/2014/main" id="{61F59ADE-1ADA-448B-8DF6-6831703A20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81" y="605"/>
                  <a:ext cx="288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defTabSz="1008063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1008063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1008063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1008063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1008063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7" name="Text Box 36">
                  <a:extLst>
                    <a:ext uri="{FF2B5EF4-FFF2-40B4-BE49-F238E27FC236}">
                      <a16:creationId xmlns:a16="http://schemas.microsoft.com/office/drawing/2014/main" id="{A7C5378A-9373-4CC9-831A-A8732D59F7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75" y="602"/>
                  <a:ext cx="288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defTabSz="1008063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1008063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1008063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1008063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1008063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8" name="Line 37">
                  <a:extLst>
                    <a:ext uri="{FF2B5EF4-FFF2-40B4-BE49-F238E27FC236}">
                      <a16:creationId xmlns:a16="http://schemas.microsoft.com/office/drawing/2014/main" id="{4899C849-1626-4943-B1DF-68B4748642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08" y="798"/>
                  <a:ext cx="891" cy="54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/>
                </a:p>
              </p:txBody>
            </p:sp>
            <p:sp>
              <p:nvSpPr>
                <p:cNvPr id="99" name="Text Box 38">
                  <a:extLst>
                    <a:ext uri="{FF2B5EF4-FFF2-40B4-BE49-F238E27FC236}">
                      <a16:creationId xmlns:a16="http://schemas.microsoft.com/office/drawing/2014/main" id="{CE77D9BE-3667-4542-9325-4E80F9DCED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39" y="1132"/>
                  <a:ext cx="246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defTabSz="1008063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1008063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1008063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1008063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1008063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>
                      <a:latin typeface="Arial" panose="020B0604020202020204" pitchFamily="34" charset="0"/>
                    </a:rPr>
                    <a:t>A</a:t>
                  </a:r>
                </a:p>
              </p:txBody>
            </p:sp>
            <p:graphicFrame>
              <p:nvGraphicFramePr>
                <p:cNvPr id="100" name="Object 39">
                  <a:extLst>
                    <a:ext uri="{FF2B5EF4-FFF2-40B4-BE49-F238E27FC236}">
                      <a16:creationId xmlns:a16="http://schemas.microsoft.com/office/drawing/2014/main" id="{BCCDAF93-7C20-465F-BD62-B7C4F59F606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793" y="433"/>
                <a:ext cx="268" cy="28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cuación" r:id="rId7" imgW="203024" imgH="215713" progId="Equation.3">
                        <p:embed/>
                      </p:oleObj>
                    </mc:Choice>
                    <mc:Fallback>
                      <p:oleObj name="Ecuación" r:id="rId7" imgW="203024" imgH="215713" progId="Equation.3">
                        <p:embed/>
                        <p:pic>
                          <p:nvPicPr>
                            <p:cNvPr id="97" name="Object 3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93" y="433"/>
                              <a:ext cx="268" cy="28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01" name="Text Box 40">
                  <a:extLst>
                    <a:ext uri="{FF2B5EF4-FFF2-40B4-BE49-F238E27FC236}">
                      <a16:creationId xmlns:a16="http://schemas.microsoft.com/office/drawing/2014/main" id="{41D4EB97-1F6C-47B0-8FBA-4BC00446A0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16" y="1002"/>
                  <a:ext cx="307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>
                      <a:latin typeface="Arial" panose="020B0604020202020204" pitchFamily="34" charset="0"/>
                      <a:sym typeface="Symbol" panose="05050102010706020507" pitchFamily="18" charset="2"/>
                    </a:rPr>
                    <a:t></a:t>
                  </a:r>
                  <a:endParaRPr lang="es-E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2" name="Line 51">
                  <a:extLst>
                    <a:ext uri="{FF2B5EF4-FFF2-40B4-BE49-F238E27FC236}">
                      <a16:creationId xmlns:a16="http://schemas.microsoft.com/office/drawing/2014/main" id="{84EFC0ED-9198-4817-8B77-DFF8614517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1807" y="703"/>
                  <a:ext cx="0" cy="1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/>
                </a:p>
              </p:txBody>
            </p:sp>
            <p:sp>
              <p:nvSpPr>
                <p:cNvPr id="103" name="Line 52">
                  <a:extLst>
                    <a:ext uri="{FF2B5EF4-FFF2-40B4-BE49-F238E27FC236}">
                      <a16:creationId xmlns:a16="http://schemas.microsoft.com/office/drawing/2014/main" id="{560FBC39-DB9A-4F13-8B7C-373B3CF935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08" y="798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/>
                </a:p>
              </p:txBody>
            </p:sp>
          </p:grpSp>
          <p:sp>
            <p:nvSpPr>
              <p:cNvPr id="94" name="Text Box 110">
                <a:extLst>
                  <a:ext uri="{FF2B5EF4-FFF2-40B4-BE49-F238E27FC236}">
                    <a16:creationId xmlns:a16="http://schemas.microsoft.com/office/drawing/2014/main" id="{8F8D7A57-772D-4F73-81F3-7A4D559A23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17" y="1026"/>
                <a:ext cx="255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 dirty="0">
                    <a:solidFill>
                      <a:srgbClr val="000000"/>
                    </a:solidFill>
                  </a:rPr>
                  <a:t>C</a:t>
                </a:r>
              </a:p>
            </p:txBody>
          </p:sp>
        </p:grpSp>
        <p:sp>
          <p:nvSpPr>
            <p:cNvPr id="92" name="Text Box 111">
              <a:extLst>
                <a:ext uri="{FF2B5EF4-FFF2-40B4-BE49-F238E27FC236}">
                  <a16:creationId xmlns:a16="http://schemas.microsoft.com/office/drawing/2014/main" id="{997F0FBB-2EBA-4659-A8E5-B6C63E60D8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" y="1785"/>
              <a:ext cx="266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000000"/>
                  </a:solidFill>
                </a:rPr>
                <a:t>dl</a:t>
              </a:r>
            </a:p>
          </p:txBody>
        </p:sp>
      </p:grpSp>
      <p:grpSp>
        <p:nvGrpSpPr>
          <p:cNvPr id="104" name="Group 56">
            <a:extLst>
              <a:ext uri="{FF2B5EF4-FFF2-40B4-BE49-F238E27FC236}">
                <a16:creationId xmlns:a16="http://schemas.microsoft.com/office/drawing/2014/main" id="{D7EBBCCF-7FEC-4713-A217-4D6C33310519}"/>
              </a:ext>
            </a:extLst>
          </p:cNvPr>
          <p:cNvGrpSpPr>
            <a:grpSpLocks/>
          </p:cNvGrpSpPr>
          <p:nvPr/>
        </p:nvGrpSpPr>
        <p:grpSpPr bwMode="auto">
          <a:xfrm>
            <a:off x="2463485" y="3112837"/>
            <a:ext cx="582613" cy="458788"/>
            <a:chOff x="1504" y="1508"/>
            <a:chExt cx="367" cy="289"/>
          </a:xfrm>
        </p:grpSpPr>
        <p:sp>
          <p:nvSpPr>
            <p:cNvPr id="105" name="98 CuadroTexto">
              <a:extLst>
                <a:ext uri="{FF2B5EF4-FFF2-40B4-BE49-F238E27FC236}">
                  <a16:creationId xmlns:a16="http://schemas.microsoft.com/office/drawing/2014/main" id="{AB86C26E-EB7C-4C32-8E9B-BEADBCDF8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7" y="1509"/>
              <a:ext cx="2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l-GR" sz="2400">
                  <a:latin typeface="Symbol" panose="05050102010706020507" pitchFamily="18" charset="2"/>
                  <a:sym typeface="Symbol" panose="05050102010706020507" pitchFamily="18" charset="2"/>
                </a:rPr>
                <a:t></a:t>
              </a:r>
              <a:endParaRPr lang="es-ES" sz="2400">
                <a:latin typeface="Symbol" panose="05050102010706020507" pitchFamily="18" charset="2"/>
              </a:endParaRPr>
            </a:p>
          </p:txBody>
        </p:sp>
        <p:sp>
          <p:nvSpPr>
            <p:cNvPr id="106" name="Freeform 58">
              <a:extLst>
                <a:ext uri="{FF2B5EF4-FFF2-40B4-BE49-F238E27FC236}">
                  <a16:creationId xmlns:a16="http://schemas.microsoft.com/office/drawing/2014/main" id="{611862C4-F6A1-4AE5-A242-A71178D27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" y="1508"/>
              <a:ext cx="115" cy="241"/>
            </a:xfrm>
            <a:custGeom>
              <a:avLst/>
              <a:gdLst>
                <a:gd name="T0" fmla="*/ 82 w 83"/>
                <a:gd name="T1" fmla="*/ 0 h 144"/>
                <a:gd name="T2" fmla="*/ 69 w 83"/>
                <a:gd name="T3" fmla="*/ 82 h 144"/>
                <a:gd name="T4" fmla="*/ 0 w 83"/>
                <a:gd name="T5" fmla="*/ 144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44">
                  <a:moveTo>
                    <a:pt x="82" y="0"/>
                  </a:moveTo>
                  <a:cubicBezTo>
                    <a:pt x="82" y="29"/>
                    <a:pt x="83" y="58"/>
                    <a:pt x="69" y="82"/>
                  </a:cubicBezTo>
                  <a:cubicBezTo>
                    <a:pt x="55" y="106"/>
                    <a:pt x="27" y="125"/>
                    <a:pt x="0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 sz="2400" dirty="0"/>
            </a:p>
          </p:txBody>
        </p:sp>
      </p:grpSp>
      <p:sp>
        <p:nvSpPr>
          <p:cNvPr id="107" name="Text Box 140">
            <a:extLst>
              <a:ext uri="{FF2B5EF4-FFF2-40B4-BE49-F238E27FC236}">
                <a16:creationId xmlns:a16="http://schemas.microsoft.com/office/drawing/2014/main" id="{B54327D9-AA7B-4F6E-9C00-F7299AB0C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869" y="5154449"/>
            <a:ext cx="1088998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dirty="0">
                <a:sym typeface="Symbol" panose="05050102010706020507" pitchFamily="18" charset="2"/>
              </a:rPr>
              <a:t>dl &gt; 0</a:t>
            </a:r>
          </a:p>
        </p:txBody>
      </p:sp>
      <p:sp>
        <p:nvSpPr>
          <p:cNvPr id="108" name="Text Box 101">
            <a:extLst>
              <a:ext uri="{FF2B5EF4-FFF2-40B4-BE49-F238E27FC236}">
                <a16:creationId xmlns:a16="http://schemas.microsoft.com/office/drawing/2014/main" id="{30DDE052-F1BD-436C-B829-258A307F6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7616" y="4613682"/>
            <a:ext cx="1440001" cy="833178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No tiene símbolo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A3360FC2-CEC4-C256-3BD3-C0122FAE36B2}"/>
              </a:ext>
            </a:extLst>
          </p:cNvPr>
          <p:cNvGrpSpPr/>
          <p:nvPr/>
        </p:nvGrpSpPr>
        <p:grpSpPr>
          <a:xfrm>
            <a:off x="1215570" y="1036804"/>
            <a:ext cx="4554989" cy="4685306"/>
            <a:chOff x="1215570" y="1036804"/>
            <a:chExt cx="4554989" cy="4685306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D5DC5819-9E1A-4A53-907F-56074DDAF400}"/>
                </a:ext>
              </a:extLst>
            </p:cNvPr>
            <p:cNvGrpSpPr/>
            <p:nvPr/>
          </p:nvGrpSpPr>
          <p:grpSpPr>
            <a:xfrm>
              <a:off x="1217828" y="1036804"/>
              <a:ext cx="4552731" cy="4685306"/>
              <a:chOff x="1217828" y="1036804"/>
              <a:chExt cx="4552731" cy="4685306"/>
            </a:xfrm>
          </p:grpSpPr>
          <p:sp>
            <p:nvSpPr>
              <p:cNvPr id="109" name="Rectángulo 108">
                <a:extLst>
                  <a:ext uri="{FF2B5EF4-FFF2-40B4-BE49-F238E27FC236}">
                    <a16:creationId xmlns:a16="http://schemas.microsoft.com/office/drawing/2014/main" id="{7B4D8F58-274E-4C3F-A71A-267117BD52E8}"/>
                  </a:ext>
                </a:extLst>
              </p:cNvPr>
              <p:cNvSpPr/>
              <p:nvPr/>
            </p:nvSpPr>
            <p:spPr bwMode="auto">
              <a:xfrm>
                <a:off x="1227424" y="1042110"/>
                <a:ext cx="4536000" cy="4680000"/>
              </a:xfrm>
              <a:prstGeom prst="rect">
                <a:avLst/>
              </a:prstGeom>
              <a:noFill/>
              <a:ln w="38100" cap="flat" cmpd="sng" algn="ctr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82800" rIns="90000" bIns="82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cxnSp>
            <p:nvCxnSpPr>
              <p:cNvPr id="110" name="Conector recto 109">
                <a:extLst>
                  <a:ext uri="{FF2B5EF4-FFF2-40B4-BE49-F238E27FC236}">
                    <a16:creationId xmlns:a16="http://schemas.microsoft.com/office/drawing/2014/main" id="{5643D649-8654-4691-9C96-0D6185772B05}"/>
                  </a:ext>
                </a:extLst>
              </p:cNvPr>
              <p:cNvCxnSpPr>
                <a:cxnSpLocks/>
                <a:endCxn id="109" idx="2"/>
              </p:cNvCxnSpPr>
              <p:nvPr/>
            </p:nvCxnSpPr>
            <p:spPr bwMode="auto">
              <a:xfrm>
                <a:off x="3484707" y="1875288"/>
                <a:ext cx="10717" cy="3846822"/>
              </a:xfrm>
              <a:prstGeom prst="line">
                <a:avLst/>
              </a:prstGeom>
              <a:noFill/>
              <a:ln w="38100" cap="flat" cmpd="sng" algn="ctr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1" name="Conector recto 110">
                <a:extLst>
                  <a:ext uri="{FF2B5EF4-FFF2-40B4-BE49-F238E27FC236}">
                    <a16:creationId xmlns:a16="http://schemas.microsoft.com/office/drawing/2014/main" id="{BB04CC4D-8C22-4F38-9264-410E71FF052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 flipH="1">
                <a:off x="3485827" y="63978"/>
                <a:ext cx="1" cy="4536000"/>
              </a:xfrm>
              <a:prstGeom prst="line">
                <a:avLst/>
              </a:prstGeom>
              <a:noFill/>
              <a:ln w="38100" cap="flat" cmpd="sng" algn="ctr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188" name="Text Box 140"/>
              <p:cNvSpPr txBox="1">
                <a:spLocks noChangeArrowheads="1"/>
              </p:cNvSpPr>
              <p:nvPr/>
            </p:nvSpPr>
            <p:spPr bwMode="auto">
              <a:xfrm>
                <a:off x="1227424" y="1036804"/>
                <a:ext cx="4543135" cy="833178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s-ES" sz="2400"/>
                  <a:t>Consideremos </a:t>
                </a:r>
                <a:r>
                  <a:rPr lang="es-ES" sz="2400" dirty="0"/>
                  <a:t>un C</a:t>
                </a:r>
              </a:p>
              <a:p>
                <a:pPr algn="ctr" eaLnBrk="1" hangingPunct="1"/>
                <a:r>
                  <a:rPr lang="es-ES" sz="2400"/>
                  <a:t>y como sentido positivo: "</a:t>
                </a:r>
                <a:r>
                  <a:rPr lang="es-ES" sz="2400">
                    <a:sym typeface="Symbol" panose="05050102010706020507" pitchFamily="18" charset="2"/>
                  </a:rPr>
                  <a:t>"</a:t>
                </a:r>
                <a:endParaRPr lang="es-ES" sz="2400" dirty="0">
                  <a:sym typeface="Symbol" panose="05050102010706020507" pitchFamily="18" charset="2"/>
                </a:endParaRPr>
              </a:p>
            </p:txBody>
          </p:sp>
        </p:grp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89DF60F0-2486-69F3-42B3-72566F5EC7BC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H="1">
              <a:off x="3483569" y="2101385"/>
              <a:ext cx="1" cy="4536000"/>
            </a:xfrm>
            <a:prstGeom prst="line">
              <a:avLst/>
            </a:prstGeom>
            <a:noFill/>
            <a:ln w="38100" cap="flat" cmpd="sng" algn="ctr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45784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68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6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268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6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6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7" grpId="0" animBg="1"/>
      <p:bldP spid="268441" grpId="0" animBg="1"/>
      <p:bldP spid="268447" grpId="0"/>
      <p:bldP spid="268448" grpId="0"/>
      <p:bldP spid="13350" grpId="0" animBg="1"/>
      <p:bldP spid="62" grpId="0"/>
      <p:bldP spid="63" grpId="0"/>
      <p:bldP spid="64" grpId="0"/>
      <p:bldP spid="107" grpId="0"/>
      <p:bldP spid="10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0" name="Text Box 157"/>
          <p:cNvSpPr txBox="1">
            <a:spLocks noChangeArrowheads="1"/>
          </p:cNvSpPr>
          <p:nvPr/>
        </p:nvSpPr>
        <p:spPr bwMode="auto">
          <a:xfrm>
            <a:off x="3182681" y="345753"/>
            <a:ext cx="5138740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CIRCULACIÓN de </a:t>
            </a:r>
            <a:r>
              <a:rPr lang="es-ES" sz="2400" b="1" dirty="0">
                <a:solidFill>
                  <a:srgbClr val="FFFFFF"/>
                </a:solidFill>
                <a:latin typeface="Arial" panose="020B0604020202020204" pitchFamily="34" charset="0"/>
              </a:rPr>
              <a:t>A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a lo largo de C</a:t>
            </a:r>
          </a:p>
        </p:txBody>
      </p:sp>
      <p:sp>
        <p:nvSpPr>
          <p:cNvPr id="70" name="Text Box 153">
            <a:extLst>
              <a:ext uri="{FF2B5EF4-FFF2-40B4-BE49-F238E27FC236}">
                <a16:creationId xmlns:a16="http://schemas.microsoft.com/office/drawing/2014/main" id="{1BA2E469-14AE-4612-857E-A0E8A8B86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9227" y="2887762"/>
            <a:ext cx="8020878" cy="16954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16000" tIns="108000" rIns="216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u="sng" dirty="0">
                <a:latin typeface="Arial" panose="020B0604020202020204" pitchFamily="34" charset="0"/>
              </a:rPr>
              <a:t>Ejemplo</a:t>
            </a:r>
            <a:r>
              <a:rPr lang="es-ES" sz="2400" dirty="0">
                <a:latin typeface="Arial" panose="020B0604020202020204" pitchFamily="34" charset="0"/>
              </a:rPr>
              <a:t>: Si </a:t>
            </a:r>
            <a:r>
              <a:rPr lang="es-ES" sz="2400" b="1" dirty="0">
                <a:latin typeface="Arial" panose="020B0604020202020204" pitchFamily="34" charset="0"/>
              </a:rPr>
              <a:t>A</a:t>
            </a:r>
            <a:r>
              <a:rPr lang="es-ES" sz="2400" dirty="0">
                <a:latin typeface="Arial" panose="020B0604020202020204" pitchFamily="34" charset="0"/>
              </a:rPr>
              <a:t> es la fuerza,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, que ejercemos para desplazar la mesa de la clase hasta la puerta. La circulación nos da el trabajo realizado (la aportación a ese desplazamiento) como veremos más adelante.</a:t>
            </a:r>
          </a:p>
        </p:txBody>
      </p:sp>
      <p:sp>
        <p:nvSpPr>
          <p:cNvPr id="60" name="Text Box 153">
            <a:extLst>
              <a:ext uri="{FF2B5EF4-FFF2-40B4-BE49-F238E27FC236}">
                <a16:creationId xmlns:a16="http://schemas.microsoft.com/office/drawing/2014/main" id="{18F68346-4A7A-472F-878F-3E32025BF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2" y="4736996"/>
            <a:ext cx="8027503" cy="206476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216000" tIns="108000" rIns="216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contribución al desplazamiento se debe sólo a la componente paralela de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 en cada punto, F</a:t>
            </a:r>
            <a:r>
              <a:rPr lang="es-ES" sz="2400" baseline="-25000" dirty="0">
                <a:latin typeface="Arial" panose="020B0604020202020204" pitchFamily="34" charset="0"/>
              </a:rPr>
              <a:t>t</a:t>
            </a:r>
            <a:r>
              <a:rPr lang="es-ES" sz="2400" dirty="0">
                <a:latin typeface="Arial" panose="020B0604020202020204" pitchFamily="34" charset="0"/>
              </a:rPr>
              <a:t>, las otras  componentes </a:t>
            </a:r>
            <a:r>
              <a:rPr lang="es-ES" sz="2400">
                <a:latin typeface="Arial" panose="020B0604020202020204" pitchFamily="34" charset="0"/>
              </a:rPr>
              <a:t>están relacionadas con </a:t>
            </a:r>
            <a:r>
              <a:rPr lang="es-ES" sz="2400" dirty="0">
                <a:latin typeface="Arial" panose="020B0604020202020204" pitchFamily="34" charset="0"/>
              </a:rPr>
              <a:t>el movimiento </a:t>
            </a:r>
            <a:r>
              <a:rPr lang="es-ES" sz="2400">
                <a:latin typeface="Arial" panose="020B0604020202020204" pitchFamily="34" charset="0"/>
              </a:rPr>
              <a:t>vertical o </a:t>
            </a:r>
            <a:r>
              <a:rPr lang="es-ES" sz="2400" dirty="0">
                <a:latin typeface="Arial" panose="020B0604020202020204" pitchFamily="34" charset="0"/>
              </a:rPr>
              <a:t>transversal de la mesa, no con el longitudinal. </a:t>
            </a:r>
            <a:r>
              <a:rPr lang="es-ES" sz="2400" dirty="0" err="1">
                <a:latin typeface="Arial" panose="020B0604020202020204" pitchFamily="34" charset="0"/>
              </a:rPr>
              <a:t>F</a:t>
            </a:r>
            <a:r>
              <a:rPr lang="es-ES" sz="2400" baseline="-25000" dirty="0" err="1">
                <a:latin typeface="Arial" panose="020B0604020202020204" pitchFamily="34" charset="0"/>
              </a:rPr>
              <a:t>t</a:t>
            </a:r>
            <a:r>
              <a:rPr lang="es-ES" sz="2400" dirty="0" err="1">
                <a:latin typeface="Arial" panose="020B0604020202020204" pitchFamily="34" charset="0"/>
              </a:rPr>
              <a:t>dl</a:t>
            </a:r>
            <a:r>
              <a:rPr lang="es-ES" sz="2400" dirty="0">
                <a:latin typeface="Arial" panose="020B0604020202020204" pitchFamily="34" charset="0"/>
              </a:rPr>
              <a:t> es el trabajo (la circulación) realizada en un punto.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1D2984B1-F977-46DD-8A61-C6EE295FD479}"/>
              </a:ext>
            </a:extLst>
          </p:cNvPr>
          <p:cNvGrpSpPr/>
          <p:nvPr/>
        </p:nvGrpSpPr>
        <p:grpSpPr>
          <a:xfrm>
            <a:off x="4323824" y="1280344"/>
            <a:ext cx="1440000" cy="1080000"/>
            <a:chOff x="8282763" y="5758831"/>
            <a:chExt cx="1440000" cy="1080000"/>
          </a:xfrm>
        </p:grpSpPr>
        <p:sp>
          <p:nvSpPr>
            <p:cNvPr id="11" name="Rectangle 147">
              <a:extLst>
                <a:ext uri="{FF2B5EF4-FFF2-40B4-BE49-F238E27FC236}">
                  <a16:creationId xmlns:a16="http://schemas.microsoft.com/office/drawing/2014/main" id="{F45FAE3D-AEC6-4920-B39E-E924840E0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2763" y="5758831"/>
              <a:ext cx="1440000" cy="10800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546D5680-6D25-4C22-8B60-1FA74B433BD6}"/>
                    </a:ext>
                  </a:extLst>
                </p:cNvPr>
                <p:cNvSpPr txBox="1"/>
                <p:nvPr/>
              </p:nvSpPr>
              <p:spPr>
                <a:xfrm>
                  <a:off x="8423851" y="5849393"/>
                  <a:ext cx="1145314" cy="883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trlPr>
                              <a:rPr lang="es-ES" sz="2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es-E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2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sz="2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</a:rPr>
                              <m:t>𝑑𝑙</m:t>
                            </m:r>
                          </m:e>
                        </m:nary>
                      </m:oMath>
                    </m:oMathPara>
                  </a14:m>
                  <a:endParaRPr lang="es-ES" sz="2800" dirty="0"/>
                </a:p>
              </p:txBody>
            </p:sp>
          </mc:Choice>
          <mc:Fallback xmlns="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3FF485C2-042F-440A-A599-50EC2CF02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3851" y="5849393"/>
                  <a:ext cx="1145314" cy="8838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 Box 1062">
            <a:extLst>
              <a:ext uri="{FF2B5EF4-FFF2-40B4-BE49-F238E27FC236}">
                <a16:creationId xmlns:a16="http://schemas.microsoft.com/office/drawing/2014/main" id="{C2F82DD8-186D-476B-80D5-C806DD14F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855" y="1229486"/>
            <a:ext cx="3922163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Que aparezca al describir la Naturaleza hace que se emplee en Física</a:t>
            </a:r>
            <a:endParaRPr lang="es-ES" sz="24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39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6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4" name="Group 126"/>
          <p:cNvGrpSpPr>
            <a:grpSpLocks/>
          </p:cNvGrpSpPr>
          <p:nvPr/>
        </p:nvGrpSpPr>
        <p:grpSpPr bwMode="auto">
          <a:xfrm>
            <a:off x="5937898" y="805418"/>
            <a:ext cx="1439862" cy="727075"/>
            <a:chOff x="2436" y="1053"/>
            <a:chExt cx="907" cy="458"/>
          </a:xfrm>
        </p:grpSpPr>
        <p:sp>
          <p:nvSpPr>
            <p:cNvPr id="13391" name="Line 8"/>
            <p:cNvSpPr>
              <a:spLocks noChangeShapeType="1"/>
            </p:cNvSpPr>
            <p:nvPr/>
          </p:nvSpPr>
          <p:spPr bwMode="auto">
            <a:xfrm flipH="1">
              <a:off x="2436" y="1511"/>
              <a:ext cx="9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392" name="Text Box 9"/>
            <p:cNvSpPr txBox="1">
              <a:spLocks noChangeArrowheads="1"/>
            </p:cNvSpPr>
            <p:nvPr/>
          </p:nvSpPr>
          <p:spPr bwMode="auto">
            <a:xfrm>
              <a:off x="2573" y="1190"/>
              <a:ext cx="31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</a:t>
              </a:r>
              <a:r>
                <a:rPr lang="es-ES" sz="2400" baseline="-25000">
                  <a:latin typeface="Arial" panose="020B0604020202020204" pitchFamily="34" charset="0"/>
                </a:rPr>
                <a:t>n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13393" name="Text Box 10"/>
            <p:cNvSpPr txBox="1">
              <a:spLocks noChangeArrowheads="1"/>
            </p:cNvSpPr>
            <p:nvPr/>
          </p:nvSpPr>
          <p:spPr bwMode="auto">
            <a:xfrm>
              <a:off x="2542" y="1053"/>
              <a:ext cx="30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endParaRPr lang="es-E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2158" name="Group 110"/>
          <p:cNvGrpSpPr>
            <a:grpSpLocks/>
          </p:cNvGrpSpPr>
          <p:nvPr/>
        </p:nvGrpSpPr>
        <p:grpSpPr bwMode="auto">
          <a:xfrm>
            <a:off x="1786597" y="780018"/>
            <a:ext cx="1439862" cy="752475"/>
            <a:chOff x="1114" y="1037"/>
            <a:chExt cx="907" cy="474"/>
          </a:xfrm>
        </p:grpSpPr>
        <p:sp>
          <p:nvSpPr>
            <p:cNvPr id="13388" name="Line 11"/>
            <p:cNvSpPr>
              <a:spLocks noChangeShapeType="1"/>
            </p:cNvSpPr>
            <p:nvPr/>
          </p:nvSpPr>
          <p:spPr bwMode="auto">
            <a:xfrm>
              <a:off x="1114" y="1511"/>
              <a:ext cx="9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389" name="Text Box 12"/>
            <p:cNvSpPr txBox="1">
              <a:spLocks noChangeArrowheads="1"/>
            </p:cNvSpPr>
            <p:nvPr/>
          </p:nvSpPr>
          <p:spPr bwMode="auto">
            <a:xfrm>
              <a:off x="1606" y="1180"/>
              <a:ext cx="31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</a:t>
              </a:r>
              <a:r>
                <a:rPr lang="es-ES" sz="2400" baseline="-25000">
                  <a:latin typeface="Arial" panose="020B0604020202020204" pitchFamily="34" charset="0"/>
                </a:rPr>
                <a:t>n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13390" name="Text Box 13"/>
            <p:cNvSpPr txBox="1">
              <a:spLocks noChangeArrowheads="1"/>
            </p:cNvSpPr>
            <p:nvPr/>
          </p:nvSpPr>
          <p:spPr bwMode="auto">
            <a:xfrm>
              <a:off x="1579" y="1037"/>
              <a:ext cx="30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endParaRPr lang="es-E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2161" name="Group 113"/>
          <p:cNvGrpSpPr>
            <a:grpSpLocks/>
          </p:cNvGrpSpPr>
          <p:nvPr/>
        </p:nvGrpSpPr>
        <p:grpSpPr bwMode="auto">
          <a:xfrm>
            <a:off x="5931673" y="999094"/>
            <a:ext cx="1935162" cy="1598613"/>
            <a:chOff x="-469" y="1099"/>
            <a:chExt cx="1219" cy="1007"/>
          </a:xfrm>
        </p:grpSpPr>
        <p:grpSp>
          <p:nvGrpSpPr>
            <p:cNvPr id="13367" name="Group 14"/>
            <p:cNvGrpSpPr>
              <a:grpSpLocks/>
            </p:cNvGrpSpPr>
            <p:nvPr/>
          </p:nvGrpSpPr>
          <p:grpSpPr bwMode="auto">
            <a:xfrm>
              <a:off x="-469" y="1099"/>
              <a:ext cx="1219" cy="949"/>
              <a:chOff x="2249" y="1175"/>
              <a:chExt cx="1219" cy="949"/>
            </a:xfrm>
          </p:grpSpPr>
          <p:grpSp>
            <p:nvGrpSpPr>
              <p:cNvPr id="13369" name="Group 15"/>
              <p:cNvGrpSpPr>
                <a:grpSpLocks/>
              </p:cNvGrpSpPr>
              <p:nvPr/>
            </p:nvGrpSpPr>
            <p:grpSpPr bwMode="auto">
              <a:xfrm>
                <a:off x="2249" y="1175"/>
                <a:ext cx="1219" cy="949"/>
                <a:chOff x="2249" y="1175"/>
                <a:chExt cx="1219" cy="949"/>
              </a:xfrm>
            </p:grpSpPr>
            <p:sp>
              <p:nvSpPr>
                <p:cNvPr id="13371" name="Line 16"/>
                <p:cNvSpPr>
                  <a:spLocks noChangeShapeType="1"/>
                </p:cNvSpPr>
                <p:nvPr/>
              </p:nvSpPr>
              <p:spPr bwMode="auto">
                <a:xfrm>
                  <a:off x="3146" y="1182"/>
                  <a:ext cx="0" cy="717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/>
                </a:p>
              </p:txBody>
            </p:sp>
            <p:sp>
              <p:nvSpPr>
                <p:cNvPr id="13372" name="Line 17"/>
                <p:cNvSpPr>
                  <a:spLocks noChangeShapeType="1"/>
                </p:cNvSpPr>
                <p:nvPr/>
              </p:nvSpPr>
              <p:spPr bwMode="auto">
                <a:xfrm>
                  <a:off x="3151" y="1508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/>
                </a:p>
              </p:txBody>
            </p:sp>
            <p:sp>
              <p:nvSpPr>
                <p:cNvPr id="13373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2249" y="1514"/>
                  <a:ext cx="891" cy="546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/>
                </a:p>
              </p:txBody>
            </p:sp>
            <p:sp>
              <p:nvSpPr>
                <p:cNvPr id="13374" name="Line 19"/>
                <p:cNvSpPr>
                  <a:spLocks noChangeShapeType="1"/>
                </p:cNvSpPr>
                <p:nvPr/>
              </p:nvSpPr>
              <p:spPr bwMode="auto">
                <a:xfrm>
                  <a:off x="3149" y="1417"/>
                  <a:ext cx="0" cy="195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/>
                </a:p>
              </p:txBody>
            </p:sp>
            <p:sp>
              <p:nvSpPr>
                <p:cNvPr id="13375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670" y="1833"/>
                  <a:ext cx="246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defTabSz="1008063"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1008063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1008063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1008063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1008063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10080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>
                      <a:latin typeface="Arial" panose="020B0604020202020204" pitchFamily="34" charset="0"/>
                    </a:rPr>
                    <a:t>A</a:t>
                  </a:r>
                </a:p>
              </p:txBody>
            </p:sp>
            <p:graphicFrame>
              <p:nvGraphicFramePr>
                <p:cNvPr id="13376" name="Object 21"/>
                <p:cNvGraphicFramePr>
                  <a:graphicFrameLocks noChangeAspect="1"/>
                </p:cNvGraphicFramePr>
                <p:nvPr/>
              </p:nvGraphicFramePr>
              <p:xfrm>
                <a:off x="3174" y="1175"/>
                <a:ext cx="294" cy="29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cuación" r:id="rId3" imgW="215619" imgH="215619" progId="Equation.3">
                        <p:embed/>
                      </p:oleObj>
                    </mc:Choice>
                    <mc:Fallback>
                      <p:oleObj name="Ecuación" r:id="rId3" imgW="215619" imgH="215619" progId="Equation.3">
                        <p:embed/>
                        <p:pic>
                          <p:nvPicPr>
                            <p:cNvPr id="13376" name="Object 2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74" y="1175"/>
                              <a:ext cx="294" cy="29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3370" name="Text Box 22"/>
              <p:cNvSpPr txBox="1">
                <a:spLocks noChangeArrowheads="1"/>
              </p:cNvSpPr>
              <p:nvPr/>
            </p:nvSpPr>
            <p:spPr bwMode="auto">
              <a:xfrm>
                <a:off x="2644" y="1710"/>
                <a:ext cx="30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</a:t>
                </a:r>
                <a:endParaRPr lang="es-E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368" name="Text Box 107"/>
            <p:cNvSpPr txBox="1">
              <a:spLocks noChangeArrowheads="1"/>
            </p:cNvSpPr>
            <p:nvPr/>
          </p:nvSpPr>
          <p:spPr bwMode="auto">
            <a:xfrm>
              <a:off x="327" y="1814"/>
              <a:ext cx="11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2172" name="Group 124"/>
          <p:cNvGrpSpPr>
            <a:grpSpLocks/>
          </p:cNvGrpSpPr>
          <p:nvPr/>
        </p:nvGrpSpPr>
        <p:grpSpPr bwMode="auto">
          <a:xfrm>
            <a:off x="2216809" y="1459469"/>
            <a:ext cx="652463" cy="457200"/>
            <a:chOff x="1385" y="1465"/>
            <a:chExt cx="411" cy="288"/>
          </a:xfrm>
        </p:grpSpPr>
        <p:sp>
          <p:nvSpPr>
            <p:cNvPr id="13365" name="98 CuadroTexto"/>
            <p:cNvSpPr txBox="1">
              <a:spLocks noChangeArrowheads="1"/>
            </p:cNvSpPr>
            <p:nvPr/>
          </p:nvSpPr>
          <p:spPr bwMode="auto">
            <a:xfrm>
              <a:off x="1522" y="1465"/>
              <a:ext cx="2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l-GR" sz="2400">
                  <a:latin typeface="Symbol" panose="05050102010706020507" pitchFamily="18" charset="2"/>
                  <a:sym typeface="Symbol" panose="05050102010706020507" pitchFamily="18" charset="2"/>
                </a:rPr>
                <a:t></a:t>
              </a:r>
              <a:endParaRPr lang="es-ES" sz="2400">
                <a:latin typeface="Symbol" panose="05050102010706020507" pitchFamily="18" charset="2"/>
              </a:endParaRPr>
            </a:p>
          </p:txBody>
        </p:sp>
        <p:sp>
          <p:nvSpPr>
            <p:cNvPr id="13366" name="Freeform 121"/>
            <p:cNvSpPr>
              <a:spLocks/>
            </p:cNvSpPr>
            <p:nvPr/>
          </p:nvSpPr>
          <p:spPr bwMode="auto">
            <a:xfrm>
              <a:off x="1385" y="1524"/>
              <a:ext cx="116" cy="165"/>
            </a:xfrm>
            <a:custGeom>
              <a:avLst/>
              <a:gdLst>
                <a:gd name="T0" fmla="*/ 82 w 83"/>
                <a:gd name="T1" fmla="*/ 0 h 144"/>
                <a:gd name="T2" fmla="*/ 69 w 83"/>
                <a:gd name="T3" fmla="*/ 82 h 144"/>
                <a:gd name="T4" fmla="*/ 0 w 83"/>
                <a:gd name="T5" fmla="*/ 144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44">
                  <a:moveTo>
                    <a:pt x="82" y="0"/>
                  </a:moveTo>
                  <a:cubicBezTo>
                    <a:pt x="82" y="29"/>
                    <a:pt x="83" y="58"/>
                    <a:pt x="69" y="82"/>
                  </a:cubicBezTo>
                  <a:cubicBezTo>
                    <a:pt x="55" y="106"/>
                    <a:pt x="27" y="125"/>
                    <a:pt x="0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2173" name="Group 125"/>
          <p:cNvGrpSpPr>
            <a:grpSpLocks/>
          </p:cNvGrpSpPr>
          <p:nvPr/>
        </p:nvGrpSpPr>
        <p:grpSpPr bwMode="auto">
          <a:xfrm>
            <a:off x="7207898" y="1395970"/>
            <a:ext cx="434975" cy="715963"/>
            <a:chOff x="3236" y="1425"/>
            <a:chExt cx="274" cy="451"/>
          </a:xfrm>
        </p:grpSpPr>
        <p:sp>
          <p:nvSpPr>
            <p:cNvPr id="13363" name="98 CuadroTexto"/>
            <p:cNvSpPr txBox="1">
              <a:spLocks noChangeArrowheads="1"/>
            </p:cNvSpPr>
            <p:nvPr/>
          </p:nvSpPr>
          <p:spPr bwMode="auto">
            <a:xfrm>
              <a:off x="3236" y="1588"/>
              <a:ext cx="2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l-GR" sz="2400">
                  <a:latin typeface="Symbol" panose="05050102010706020507" pitchFamily="18" charset="2"/>
                  <a:sym typeface="Symbol" panose="05050102010706020507" pitchFamily="18" charset="2"/>
                </a:rPr>
                <a:t></a:t>
              </a:r>
              <a:endParaRPr lang="es-ES" sz="2400">
                <a:latin typeface="Symbol" panose="05050102010706020507" pitchFamily="18" charset="2"/>
              </a:endParaRPr>
            </a:p>
          </p:txBody>
        </p:sp>
        <p:sp>
          <p:nvSpPr>
            <p:cNvPr id="13364" name="Freeform 123"/>
            <p:cNvSpPr>
              <a:spLocks/>
            </p:cNvSpPr>
            <p:nvPr/>
          </p:nvSpPr>
          <p:spPr bwMode="auto">
            <a:xfrm rot="2449977">
              <a:off x="3247" y="1425"/>
              <a:ext cx="145" cy="292"/>
            </a:xfrm>
            <a:custGeom>
              <a:avLst/>
              <a:gdLst>
                <a:gd name="T0" fmla="*/ 870651015 w 83"/>
                <a:gd name="T1" fmla="*/ 0 h 144"/>
                <a:gd name="T2" fmla="*/ 736133196 w 83"/>
                <a:gd name="T3" fmla="*/ 815326751 h 144"/>
                <a:gd name="T4" fmla="*/ 0 w 83"/>
                <a:gd name="T5" fmla="*/ 1434018339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44">
                  <a:moveTo>
                    <a:pt x="82" y="0"/>
                  </a:moveTo>
                  <a:cubicBezTo>
                    <a:pt x="82" y="29"/>
                    <a:pt x="83" y="58"/>
                    <a:pt x="69" y="82"/>
                  </a:cubicBezTo>
                  <a:cubicBezTo>
                    <a:pt x="55" y="106"/>
                    <a:pt x="27" y="125"/>
                    <a:pt x="0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2187" name="Group 139"/>
          <p:cNvGrpSpPr>
            <a:grpSpLocks/>
          </p:cNvGrpSpPr>
          <p:nvPr/>
        </p:nvGrpSpPr>
        <p:grpSpPr bwMode="auto">
          <a:xfrm>
            <a:off x="1215098" y="973693"/>
            <a:ext cx="2301878" cy="1433511"/>
            <a:chOff x="627" y="1158"/>
            <a:chExt cx="1450" cy="903"/>
          </a:xfrm>
        </p:grpSpPr>
        <p:grpSp>
          <p:nvGrpSpPr>
            <p:cNvPr id="13352" name="Group 128"/>
            <p:cNvGrpSpPr>
              <a:grpSpLocks/>
            </p:cNvGrpSpPr>
            <p:nvPr/>
          </p:nvGrpSpPr>
          <p:grpSpPr bwMode="auto">
            <a:xfrm>
              <a:off x="971" y="1158"/>
              <a:ext cx="1106" cy="903"/>
              <a:chOff x="-1840" y="1081"/>
              <a:chExt cx="1106" cy="903"/>
            </a:xfrm>
          </p:grpSpPr>
          <p:sp>
            <p:nvSpPr>
              <p:cNvPr id="13354" name="Text Box 23"/>
              <p:cNvSpPr txBox="1">
                <a:spLocks noChangeArrowheads="1"/>
              </p:cNvSpPr>
              <p:nvPr/>
            </p:nvSpPr>
            <p:spPr bwMode="auto">
              <a:xfrm>
                <a:off x="-1840" y="1242"/>
                <a:ext cx="288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55" name="Line 24"/>
              <p:cNvSpPr>
                <a:spLocks noChangeShapeType="1"/>
              </p:cNvSpPr>
              <p:nvPr/>
            </p:nvSpPr>
            <p:spPr bwMode="auto">
              <a:xfrm>
                <a:off x="-1812" y="1112"/>
                <a:ext cx="0" cy="717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2400"/>
              </a:p>
            </p:txBody>
          </p:sp>
          <p:sp>
            <p:nvSpPr>
              <p:cNvPr id="13356" name="Line 25"/>
              <p:cNvSpPr>
                <a:spLocks noChangeShapeType="1"/>
              </p:cNvSpPr>
              <p:nvPr/>
            </p:nvSpPr>
            <p:spPr bwMode="auto">
              <a:xfrm>
                <a:off x="-1807" y="1438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2400"/>
              </a:p>
            </p:txBody>
          </p:sp>
          <p:sp>
            <p:nvSpPr>
              <p:cNvPr id="13357" name="Line 26"/>
              <p:cNvSpPr>
                <a:spLocks noChangeShapeType="1"/>
              </p:cNvSpPr>
              <p:nvPr/>
            </p:nvSpPr>
            <p:spPr bwMode="auto">
              <a:xfrm>
                <a:off x="-1807" y="1438"/>
                <a:ext cx="891" cy="54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2400"/>
              </a:p>
            </p:txBody>
          </p:sp>
          <p:sp>
            <p:nvSpPr>
              <p:cNvPr id="13358" name="Line 27"/>
              <p:cNvSpPr>
                <a:spLocks noChangeShapeType="1"/>
              </p:cNvSpPr>
              <p:nvPr/>
            </p:nvSpPr>
            <p:spPr bwMode="auto">
              <a:xfrm>
                <a:off x="-1809" y="1347"/>
                <a:ext cx="0" cy="195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2400"/>
              </a:p>
            </p:txBody>
          </p:sp>
          <p:sp>
            <p:nvSpPr>
              <p:cNvPr id="13359" name="Text Box 28"/>
              <p:cNvSpPr txBox="1">
                <a:spLocks noChangeArrowheads="1"/>
              </p:cNvSpPr>
              <p:nvPr/>
            </p:nvSpPr>
            <p:spPr bwMode="auto">
              <a:xfrm>
                <a:off x="-1001" y="1603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A</a:t>
                </a:r>
              </a:p>
            </p:txBody>
          </p:sp>
          <p:graphicFrame>
            <p:nvGraphicFramePr>
              <p:cNvPr id="13360" name="Object 29"/>
              <p:cNvGraphicFramePr>
                <a:graphicFrameLocks noChangeAspect="1"/>
              </p:cNvGraphicFramePr>
              <p:nvPr/>
            </p:nvGraphicFramePr>
            <p:xfrm>
              <a:off x="-1784" y="1081"/>
              <a:ext cx="294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5" imgW="215619" imgH="215619" progId="Equation.3">
                      <p:embed/>
                    </p:oleObj>
                  </mc:Choice>
                  <mc:Fallback>
                    <p:oleObj name="Ecuación" r:id="rId5" imgW="215619" imgH="215619" progId="Equation.3">
                      <p:embed/>
                      <p:pic>
                        <p:nvPicPr>
                          <p:cNvPr id="1336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1784" y="1081"/>
                            <a:ext cx="294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61" name="Text Box 30"/>
              <p:cNvSpPr txBox="1">
                <a:spLocks noChangeArrowheads="1"/>
              </p:cNvSpPr>
              <p:nvPr/>
            </p:nvSpPr>
            <p:spPr bwMode="auto">
              <a:xfrm>
                <a:off x="-1041" y="1474"/>
                <a:ext cx="30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</a:t>
                </a:r>
                <a:endParaRPr lang="es-E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353" name="Text Box 138"/>
            <p:cNvSpPr txBox="1">
              <a:spLocks noChangeArrowheads="1"/>
            </p:cNvSpPr>
            <p:nvPr/>
          </p:nvSpPr>
          <p:spPr bwMode="auto">
            <a:xfrm>
              <a:off x="627" y="1373"/>
              <a:ext cx="352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000000"/>
                  </a:solidFill>
                </a:rPr>
                <a:t>dS</a:t>
              </a:r>
            </a:p>
          </p:txBody>
        </p:sp>
      </p:grpSp>
      <p:sp>
        <p:nvSpPr>
          <p:cNvPr id="68" name="Rectangle 94">
            <a:extLst>
              <a:ext uri="{FF2B5EF4-FFF2-40B4-BE49-F238E27FC236}">
                <a16:creationId xmlns:a16="http://schemas.microsoft.com/office/drawing/2014/main" id="{0C9FAF47-CFE0-4003-841B-43515D526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701" y="3173877"/>
            <a:ext cx="4503097" cy="67310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0" name="Text Box 103">
            <a:extLst>
              <a:ext uri="{FF2B5EF4-FFF2-40B4-BE49-F238E27FC236}">
                <a16:creationId xmlns:a16="http://schemas.microsoft.com/office/drawing/2014/main" id="{5D1645BF-46A2-48B0-8DE7-F074073A9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0307" y="3291352"/>
            <a:ext cx="2455863" cy="463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sz="2400" dirty="0">
                <a:latin typeface="Arial" panose="020B0604020202020204" pitchFamily="34" charset="0"/>
              </a:rPr>
              <a:t>= |</a:t>
            </a:r>
            <a:r>
              <a:rPr lang="en-GB" sz="2400" b="1" dirty="0">
                <a:latin typeface="Arial" panose="020B0604020202020204" pitchFamily="34" charset="0"/>
              </a:rPr>
              <a:t>A</a:t>
            </a:r>
            <a:r>
              <a:rPr lang="en-GB" sz="2400" dirty="0">
                <a:latin typeface="Arial" panose="020B0604020202020204" pitchFamily="34" charset="0"/>
              </a:rPr>
              <a:t>| |</a:t>
            </a:r>
            <a:r>
              <a:rPr lang="en-GB" sz="2400" dirty="0" err="1">
                <a:latin typeface="Arial" panose="020B0604020202020204" pitchFamily="34" charset="0"/>
              </a:rPr>
              <a:t>d</a:t>
            </a:r>
            <a:r>
              <a:rPr lang="en-GB" sz="2400" b="1" dirty="0" err="1">
                <a:latin typeface="Arial" panose="020B0604020202020204" pitchFamily="34" charset="0"/>
              </a:rPr>
              <a:t>S</a:t>
            </a:r>
            <a:r>
              <a:rPr lang="en-GB" sz="2400" dirty="0">
                <a:latin typeface="Arial" panose="020B0604020202020204" pitchFamily="34" charset="0"/>
              </a:rPr>
              <a:t>| cos</a:t>
            </a:r>
            <a:r>
              <a:rPr lang="en-GB" sz="2400" dirty="0">
                <a:latin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n-GB" sz="2400" dirty="0">
                <a:latin typeface="Arial" panose="020B0604020202020204" pitchFamily="34" charset="0"/>
              </a:rPr>
              <a:t> =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1" name="Object 105">
            <a:extLst>
              <a:ext uri="{FF2B5EF4-FFF2-40B4-BE49-F238E27FC236}">
                <a16:creationId xmlns:a16="http://schemas.microsoft.com/office/drawing/2014/main" id="{27B2ECB2-F782-4F2B-A66F-674782F0A0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728910"/>
              </p:ext>
            </p:extLst>
          </p:nvPr>
        </p:nvGraphicFramePr>
        <p:xfrm>
          <a:off x="5878871" y="3261190"/>
          <a:ext cx="904875" cy="463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444307" imgH="228501" progId="Equation.3">
                  <p:embed/>
                </p:oleObj>
              </mc:Choice>
              <mc:Fallback>
                <p:oleObj name="Ecuación" r:id="rId6" imgW="444307" imgH="228501" progId="Equation.3">
                  <p:embed/>
                  <p:pic>
                    <p:nvPicPr>
                      <p:cNvPr id="71" name="Object 105">
                        <a:extLst>
                          <a:ext uri="{FF2B5EF4-FFF2-40B4-BE49-F238E27FC236}">
                            <a16:creationId xmlns:a16="http://schemas.microsoft.com/office/drawing/2014/main" id="{27B2ECB2-F782-4F2B-A66F-674782F0A0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871" y="3261190"/>
                        <a:ext cx="904875" cy="463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 Box 111">
            <a:extLst>
              <a:ext uri="{FF2B5EF4-FFF2-40B4-BE49-F238E27FC236}">
                <a16:creationId xmlns:a16="http://schemas.microsoft.com/office/drawing/2014/main" id="{F91CEA92-625D-48BF-99B3-09D10C750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097" y="3073275"/>
            <a:ext cx="2571010" cy="8331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Producto escalar de </a:t>
            </a:r>
            <a:r>
              <a:rPr lang="es-ES" sz="2400">
                <a:latin typeface="Arial" panose="020B0604020202020204" pitchFamily="34" charset="0"/>
              </a:rPr>
              <a:t>dos vectores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73" name="Text Box 100">
            <a:extLst>
              <a:ext uri="{FF2B5EF4-FFF2-40B4-BE49-F238E27FC236}">
                <a16:creationId xmlns:a16="http://schemas.microsoft.com/office/drawing/2014/main" id="{83EC5376-278C-4EF0-BBDD-ECB3F6C81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31" y="4505918"/>
            <a:ext cx="9282077" cy="9567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defRPr/>
            </a:pPr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/>
              <a:t>Si en </a:t>
            </a:r>
            <a:r>
              <a:rPr lang="es-ES" sz="2400"/>
              <a:t>un punto </a:t>
            </a:r>
            <a:r>
              <a:rPr lang="en-GB" sz="2400">
                <a:sym typeface="Symbol" panose="05050102010706020507" pitchFamily="18" charset="2"/>
              </a:rPr>
              <a:t> = </a:t>
            </a:r>
            <a:r>
              <a:rPr lang="es-ES" sz="2400">
                <a:sym typeface="Symbol" panose="05050102010706020507" pitchFamily="18" charset="2"/>
              </a:rPr>
              <a:t>90º (</a:t>
            </a:r>
            <a:r>
              <a:rPr lang="es-ES" sz="2400" b="1">
                <a:sym typeface="Symbol" panose="05050102010706020507" pitchFamily="18" charset="2"/>
              </a:rPr>
              <a:t>A</a:t>
            </a:r>
            <a:r>
              <a:rPr lang="es-ES" sz="2400">
                <a:sym typeface="Symbol" panose="05050102010706020507" pitchFamily="18" charset="2"/>
              </a:rPr>
              <a:t>  d</a:t>
            </a:r>
            <a:r>
              <a:rPr lang="es-ES" sz="2400" b="1">
                <a:sym typeface="Symbol" panose="05050102010706020507" pitchFamily="18" charset="2"/>
              </a:rPr>
              <a:t>S</a:t>
            </a:r>
            <a:r>
              <a:rPr lang="es-ES" sz="2400">
                <a:sym typeface="Symbol" panose="05050102010706020507" pitchFamily="18" charset="2"/>
              </a:rPr>
              <a:t>)  A</a:t>
            </a:r>
            <a:r>
              <a:rPr lang="es-ES" sz="2400" baseline="-25000">
                <a:sym typeface="Symbol" panose="05050102010706020507" pitchFamily="18" charset="2"/>
              </a:rPr>
              <a:t>n</a:t>
            </a:r>
            <a:r>
              <a:rPr lang="es-ES" sz="2400">
                <a:sym typeface="Symbol" panose="05050102010706020507" pitchFamily="18" charset="2"/>
              </a:rPr>
              <a:t> </a:t>
            </a:r>
            <a:r>
              <a:rPr lang="es-ES" sz="2400" dirty="0">
                <a:sym typeface="Symbol" panose="05050102010706020507" pitchFamily="18" charset="2"/>
              </a:rPr>
              <a:t>= </a:t>
            </a:r>
            <a:r>
              <a:rPr lang="es-ES" sz="2400">
                <a:sym typeface="Symbol" panose="05050102010706020507" pitchFamily="18" charset="2"/>
              </a:rPr>
              <a:t>0  Flujo</a:t>
            </a:r>
            <a:r>
              <a:rPr lang="es-ES" sz="2400" baseline="-25000">
                <a:sym typeface="Symbol" panose="05050102010706020507" pitchFamily="18" charset="2"/>
              </a:rPr>
              <a:t>punto</a:t>
            </a:r>
            <a:r>
              <a:rPr lang="es-ES" sz="2400">
                <a:sym typeface="Symbol" panose="05050102010706020507" pitchFamily="18" charset="2"/>
              </a:rPr>
              <a:t> </a:t>
            </a:r>
            <a:r>
              <a:rPr lang="es-ES" sz="2400" dirty="0">
                <a:sym typeface="Symbol" panose="05050102010706020507" pitchFamily="18" charset="2"/>
              </a:rPr>
              <a:t>= </a:t>
            </a:r>
            <a:r>
              <a:rPr lang="es-ES" sz="2400" dirty="0" err="1">
                <a:sym typeface="Symbol" panose="05050102010706020507" pitchFamily="18" charset="2"/>
              </a:rPr>
              <a:t>A</a:t>
            </a:r>
            <a:r>
              <a:rPr lang="es-ES" sz="2400" baseline="-25000" dirty="0" err="1">
                <a:sym typeface="Symbol" panose="05050102010706020507" pitchFamily="18" charset="2"/>
              </a:rPr>
              <a:t>n</a:t>
            </a:r>
            <a:r>
              <a:rPr lang="es-ES" sz="2400" dirty="0" err="1">
                <a:sym typeface="Symbol" panose="05050102010706020507" pitchFamily="18" charset="2"/>
              </a:rPr>
              <a:t>dS</a:t>
            </a:r>
            <a:r>
              <a:rPr lang="es-ES" sz="2400" dirty="0">
                <a:sym typeface="Symbol" panose="05050102010706020507" pitchFamily="18" charset="2"/>
              </a:rPr>
              <a:t> = 0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s-ES" sz="2400" dirty="0">
                <a:sym typeface="Symbol" panose="05050102010706020507" pitchFamily="18" charset="2"/>
              </a:rPr>
              <a:t>   Si ocurre en todos los puntos de </a:t>
            </a:r>
            <a:r>
              <a:rPr lang="es-ES" sz="2400">
                <a:sym typeface="Symbol" panose="05050102010706020507" pitchFamily="18" charset="2"/>
              </a:rPr>
              <a:t>S   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Flujo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S  </a:t>
            </a:r>
            <a:r>
              <a:rPr lang="es-ES" sz="2400">
                <a:sym typeface="Symbol" panose="05050102010706020507" pitchFamily="18" charset="2"/>
              </a:rPr>
              <a:t>  </a:t>
            </a:r>
            <a:r>
              <a:rPr lang="es-ES" sz="2400" dirty="0">
                <a:sym typeface="Symbol" panose="05050102010706020507" pitchFamily="18" charset="2"/>
              </a:rPr>
              <a:t>= 0</a:t>
            </a:r>
          </a:p>
        </p:txBody>
      </p:sp>
      <p:sp>
        <p:nvSpPr>
          <p:cNvPr id="74" name="Text Box 100">
            <a:extLst>
              <a:ext uri="{FF2B5EF4-FFF2-40B4-BE49-F238E27FC236}">
                <a16:creationId xmlns:a16="http://schemas.microsoft.com/office/drawing/2014/main" id="{24BE77B2-D6B6-47B1-8301-2C5F73883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32" y="5555550"/>
            <a:ext cx="9282076" cy="132610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defRPr/>
            </a:pPr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/>
              <a:t>Si </a:t>
            </a:r>
            <a:r>
              <a:rPr lang="en-GB" sz="2400">
                <a:sym typeface="Symbol" panose="05050102010706020507" pitchFamily="18" charset="2"/>
              </a:rPr>
              <a:t> = </a:t>
            </a:r>
            <a:r>
              <a:rPr lang="es-ES" sz="2400">
                <a:sym typeface="Symbol" panose="05050102010706020507" pitchFamily="18" charset="2"/>
              </a:rPr>
              <a:t>0º o 180º    A</a:t>
            </a:r>
            <a:r>
              <a:rPr lang="es-ES" sz="2400" baseline="-25000">
                <a:sym typeface="Symbol" panose="05050102010706020507" pitchFamily="18" charset="2"/>
              </a:rPr>
              <a:t>n</a:t>
            </a:r>
            <a:r>
              <a:rPr lang="es-ES" sz="2400">
                <a:sym typeface="Symbol" panose="05050102010706020507" pitchFamily="18" charset="2"/>
              </a:rPr>
              <a:t> </a:t>
            </a:r>
            <a:r>
              <a:rPr lang="es-ES" sz="2400" dirty="0">
                <a:sym typeface="Symbol" panose="05050102010706020507" pitchFamily="18" charset="2"/>
              </a:rPr>
              <a:t>= ± |</a:t>
            </a:r>
            <a:r>
              <a:rPr lang="es-ES" sz="2400" b="1" dirty="0">
                <a:sym typeface="Symbol" panose="05050102010706020507" pitchFamily="18" charset="2"/>
              </a:rPr>
              <a:t>A</a:t>
            </a:r>
            <a:r>
              <a:rPr lang="es-ES" sz="2400" dirty="0">
                <a:sym typeface="Symbol" panose="05050102010706020507" pitchFamily="18" charset="2"/>
              </a:rPr>
              <a:t>|  </a:t>
            </a:r>
            <a:r>
              <a:rPr lang="es-ES" sz="2400">
                <a:sym typeface="Symbol" panose="05050102010706020507" pitchFamily="18" charset="2"/>
              </a:rPr>
              <a:t>  Flujo</a:t>
            </a:r>
            <a:r>
              <a:rPr lang="es-ES" sz="2400" baseline="-25000">
                <a:sym typeface="Symbol" panose="05050102010706020507" pitchFamily="18" charset="2"/>
              </a:rPr>
              <a:t>punto</a:t>
            </a:r>
            <a:r>
              <a:rPr lang="es-ES" sz="2400">
                <a:sym typeface="Symbol" panose="05050102010706020507" pitchFamily="18" charset="2"/>
              </a:rPr>
              <a:t>  =  ± </a:t>
            </a:r>
            <a:r>
              <a:rPr lang="es-ES" sz="2400" dirty="0">
                <a:sym typeface="Symbol" panose="05050102010706020507" pitchFamily="18" charset="2"/>
              </a:rPr>
              <a:t>|</a:t>
            </a:r>
            <a:r>
              <a:rPr lang="es-ES" sz="2400" b="1" dirty="0" err="1">
                <a:sym typeface="Symbol" panose="05050102010706020507" pitchFamily="18" charset="2"/>
              </a:rPr>
              <a:t>A</a:t>
            </a:r>
            <a:r>
              <a:rPr lang="es-ES" sz="2400" dirty="0" err="1">
                <a:sym typeface="Symbol" panose="05050102010706020507" pitchFamily="18" charset="2"/>
              </a:rPr>
              <a:t>|dS</a:t>
            </a:r>
            <a:endParaRPr lang="es-ES" sz="2400" dirty="0">
              <a:sym typeface="Symbol" panose="05050102010706020507" pitchFamily="18" charset="2"/>
            </a:endParaRPr>
          </a:p>
          <a:p>
            <a:pPr eaLnBrk="1" hangingPunct="1">
              <a:spcBef>
                <a:spcPts val="0"/>
              </a:spcBef>
              <a:defRPr/>
            </a:pPr>
            <a:r>
              <a:rPr lang="es-ES" sz="2400" dirty="0">
                <a:sym typeface="Symbol" panose="05050102010706020507" pitchFamily="18" charset="2"/>
              </a:rPr>
              <a:t>   Es máximo </a:t>
            </a:r>
            <a:r>
              <a:rPr lang="es-ES" sz="2400">
                <a:sym typeface="Symbol" panose="05050102010706020507" pitchFamily="18" charset="2"/>
              </a:rPr>
              <a:t>si </a:t>
            </a:r>
            <a:r>
              <a:rPr lang="es-ES" sz="2400" b="1">
                <a:sym typeface="Symbol" panose="05050102010706020507" pitchFamily="18" charset="2"/>
              </a:rPr>
              <a:t>A</a:t>
            </a:r>
            <a:r>
              <a:rPr lang="es-ES" sz="2400">
                <a:sym typeface="Symbol" panose="05050102010706020507" pitchFamily="18" charset="2"/>
              </a:rPr>
              <a:t> y d</a:t>
            </a:r>
            <a:r>
              <a:rPr lang="es-ES" sz="2400" b="1">
                <a:sym typeface="Symbol" panose="05050102010706020507" pitchFamily="18" charset="2"/>
              </a:rPr>
              <a:t>S</a:t>
            </a:r>
            <a:r>
              <a:rPr lang="es-ES" sz="2400">
                <a:sym typeface="Symbol" panose="05050102010706020507" pitchFamily="18" charset="2"/>
              </a:rPr>
              <a:t> son </a:t>
            </a:r>
            <a:r>
              <a:rPr lang="es-ES" sz="2400" dirty="0">
                <a:sym typeface="Symbol" panose="05050102010706020507" pitchFamily="18" charset="2"/>
              </a:rPr>
              <a:t>paralelos y </a:t>
            </a:r>
            <a:r>
              <a:rPr lang="es-ES" sz="2400">
                <a:sym typeface="Symbol" panose="05050102010706020507" pitchFamily="18" charset="2"/>
              </a:rPr>
              <a:t>mínimo si </a:t>
            </a:r>
            <a:r>
              <a:rPr lang="es-ES" sz="2400" dirty="0">
                <a:sym typeface="Symbol" panose="05050102010706020507" pitchFamily="18" charset="2"/>
              </a:rPr>
              <a:t>antiparalelos.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s-ES" sz="2400" dirty="0">
                <a:sym typeface="Symbol" panose="05050102010706020507" pitchFamily="18" charset="2"/>
              </a:rPr>
              <a:t>   Si ocurre en toda S, el flujo es máximo o mínimo en S</a:t>
            </a:r>
          </a:p>
        </p:txBody>
      </p:sp>
      <p:sp>
        <p:nvSpPr>
          <p:cNvPr id="58" name="Text Box 157">
            <a:extLst>
              <a:ext uri="{FF2B5EF4-FFF2-40B4-BE49-F238E27FC236}">
                <a16:creationId xmlns:a16="http://schemas.microsoft.com/office/drawing/2014/main" id="{7CBB41D7-2426-4954-9658-10DF8E62D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681" y="345753"/>
            <a:ext cx="5138740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FLUJO de </a:t>
            </a: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A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a través de S</a:t>
            </a:r>
          </a:p>
        </p:txBody>
      </p:sp>
      <p:grpSp>
        <p:nvGrpSpPr>
          <p:cNvPr id="60" name="Group 125">
            <a:extLst>
              <a:ext uri="{FF2B5EF4-FFF2-40B4-BE49-F238E27FC236}">
                <a16:creationId xmlns:a16="http://schemas.microsoft.com/office/drawing/2014/main" id="{8795B955-D81F-4E2F-A089-5A8A92DB4147}"/>
              </a:ext>
            </a:extLst>
          </p:cNvPr>
          <p:cNvGrpSpPr>
            <a:grpSpLocks/>
          </p:cNvGrpSpPr>
          <p:nvPr/>
        </p:nvGrpSpPr>
        <p:grpSpPr bwMode="auto">
          <a:xfrm>
            <a:off x="6077725" y="1642678"/>
            <a:ext cx="658813" cy="457200"/>
            <a:chOff x="3051" y="1491"/>
            <a:chExt cx="415" cy="288"/>
          </a:xfrm>
        </p:grpSpPr>
        <p:sp>
          <p:nvSpPr>
            <p:cNvPr id="62" name="98 CuadroTexto">
              <a:extLst>
                <a:ext uri="{FF2B5EF4-FFF2-40B4-BE49-F238E27FC236}">
                  <a16:creationId xmlns:a16="http://schemas.microsoft.com/office/drawing/2014/main" id="{3AABA46F-9FCC-4EC5-BD84-339BF2E0B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1" y="1491"/>
              <a:ext cx="2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l-GR" sz="2400">
                  <a:latin typeface="Symbol" panose="05050102010706020507" pitchFamily="18" charset="2"/>
                  <a:sym typeface="Symbol" panose="05050102010706020507" pitchFamily="18" charset="2"/>
                </a:rPr>
                <a:t></a:t>
              </a:r>
              <a:endParaRPr lang="es-ES" sz="2400">
                <a:latin typeface="Symbol" panose="05050102010706020507" pitchFamily="18" charset="2"/>
              </a:endParaRPr>
            </a:p>
          </p:txBody>
        </p:sp>
        <p:sp>
          <p:nvSpPr>
            <p:cNvPr id="63" name="Freeform 123">
              <a:extLst>
                <a:ext uri="{FF2B5EF4-FFF2-40B4-BE49-F238E27FC236}">
                  <a16:creationId xmlns:a16="http://schemas.microsoft.com/office/drawing/2014/main" id="{DA0455F0-D632-486A-8350-72418D3650FE}"/>
                </a:ext>
              </a:extLst>
            </p:cNvPr>
            <p:cNvSpPr>
              <a:spLocks/>
            </p:cNvSpPr>
            <p:nvPr/>
          </p:nvSpPr>
          <p:spPr bwMode="auto">
            <a:xfrm rot="7607520">
              <a:off x="3247" y="1425"/>
              <a:ext cx="145" cy="292"/>
            </a:xfrm>
            <a:custGeom>
              <a:avLst/>
              <a:gdLst>
                <a:gd name="T0" fmla="*/ 870651015 w 83"/>
                <a:gd name="T1" fmla="*/ 0 h 144"/>
                <a:gd name="T2" fmla="*/ 736133196 w 83"/>
                <a:gd name="T3" fmla="*/ 815326751 h 144"/>
                <a:gd name="T4" fmla="*/ 0 w 83"/>
                <a:gd name="T5" fmla="*/ 1434018339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44">
                  <a:moveTo>
                    <a:pt x="82" y="0"/>
                  </a:moveTo>
                  <a:cubicBezTo>
                    <a:pt x="82" y="29"/>
                    <a:pt x="83" y="58"/>
                    <a:pt x="69" y="82"/>
                  </a:cubicBezTo>
                  <a:cubicBezTo>
                    <a:pt x="55" y="106"/>
                    <a:pt x="27" y="125"/>
                    <a:pt x="0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A4E65B4-BAEB-36F6-7D1D-6B54FBBBFA14}"/>
              </a:ext>
            </a:extLst>
          </p:cNvPr>
          <p:cNvGrpSpPr/>
          <p:nvPr/>
        </p:nvGrpSpPr>
        <p:grpSpPr>
          <a:xfrm>
            <a:off x="1541284" y="3280482"/>
            <a:ext cx="1900423" cy="488805"/>
            <a:chOff x="1541284" y="3322046"/>
            <a:chExt cx="1900423" cy="488805"/>
          </a:xfrm>
        </p:grpSpPr>
        <p:sp>
          <p:nvSpPr>
            <p:cNvPr id="61" name="Text Box 144">
              <a:extLst>
                <a:ext uri="{FF2B5EF4-FFF2-40B4-BE49-F238E27FC236}">
                  <a16:creationId xmlns:a16="http://schemas.microsoft.com/office/drawing/2014/main" id="{FDBD43BC-995B-4493-B251-C95884405B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284" y="3347005"/>
              <a:ext cx="853417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ym typeface="Symbol" panose="05050102010706020507" pitchFamily="18" charset="2"/>
                </a:rPr>
                <a:t>d =</a:t>
              </a:r>
            </a:p>
          </p:txBody>
        </p:sp>
        <p:sp>
          <p:nvSpPr>
            <p:cNvPr id="69" name="Text Box 95">
              <a:extLst>
                <a:ext uri="{FF2B5EF4-FFF2-40B4-BE49-F238E27FC236}">
                  <a16:creationId xmlns:a16="http://schemas.microsoft.com/office/drawing/2014/main" id="{FD6639B2-974B-4673-A65F-DCF459C52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682" y="3322046"/>
              <a:ext cx="962025" cy="463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sz="2400">
                  <a:latin typeface="Arial" panose="020B0604020202020204" pitchFamily="34" charset="0"/>
                </a:rPr>
                <a:t>A</a:t>
              </a:r>
              <a:r>
                <a:rPr lang="en-GB" sz="2400" baseline="-25000">
                  <a:latin typeface="Arial" panose="020B0604020202020204" pitchFamily="34" charset="0"/>
                  <a:sym typeface="Symbol" panose="05050102010706020507" pitchFamily="18" charset="2"/>
                </a:rPr>
                <a:t>n</a:t>
              </a:r>
              <a:r>
                <a:rPr lang="en-GB" sz="2400">
                  <a:latin typeface="Arial" panose="020B0604020202020204" pitchFamily="34" charset="0"/>
                  <a:sym typeface="Symbol" panose="05050102010706020507" pitchFamily="18" charset="2"/>
                </a:rPr>
                <a:t> dS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6" name="Text Box 103">
            <a:extLst>
              <a:ext uri="{FF2B5EF4-FFF2-40B4-BE49-F238E27FC236}">
                <a16:creationId xmlns:a16="http://schemas.microsoft.com/office/drawing/2014/main" id="{EDAB3F3B-7956-4B41-A3DC-976518EB5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5092" y="1277026"/>
            <a:ext cx="199154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sz="2400">
                <a:latin typeface="Arial" panose="020B0604020202020204" pitchFamily="34" charset="0"/>
              </a:rPr>
              <a:t>A</a:t>
            </a:r>
            <a:r>
              <a:rPr lang="en-GB" sz="2400" baseline="-25000">
                <a:latin typeface="Arial" panose="020B0604020202020204" pitchFamily="34" charset="0"/>
              </a:rPr>
              <a:t>n</a:t>
            </a:r>
            <a:r>
              <a:rPr lang="en-GB" sz="2400">
                <a:latin typeface="Arial" panose="020B0604020202020204" pitchFamily="34" charset="0"/>
              </a:rPr>
              <a:t> = |</a:t>
            </a:r>
            <a:r>
              <a:rPr lang="en-GB" sz="2400" b="1" dirty="0">
                <a:latin typeface="Arial" panose="020B0604020202020204" pitchFamily="34" charset="0"/>
              </a:rPr>
              <a:t>A</a:t>
            </a:r>
            <a:r>
              <a:rPr lang="en-GB" sz="2400">
                <a:latin typeface="Arial" panose="020B0604020202020204" pitchFamily="34" charset="0"/>
              </a:rPr>
              <a:t>| cos</a:t>
            </a:r>
            <a:r>
              <a:rPr lang="en-GB" sz="2400">
                <a:latin typeface="Arial" panose="020B0604020202020204" pitchFamily="34" charset="0"/>
                <a:sym typeface="Symbol" panose="05050102010706020507" pitchFamily="18" charset="2"/>
              </a:rPr>
              <a:t>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7" name="Text Box 103">
            <a:extLst>
              <a:ext uri="{FF2B5EF4-FFF2-40B4-BE49-F238E27FC236}">
                <a16:creationId xmlns:a16="http://schemas.microsoft.com/office/drawing/2014/main" id="{FA6AC805-8717-492D-B51E-E8349EE8E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0866" y="1257407"/>
            <a:ext cx="231856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sz="2400">
                <a:latin typeface="Arial" panose="020B0604020202020204" pitchFamily="34" charset="0"/>
              </a:rPr>
              <a:t>A</a:t>
            </a:r>
            <a:r>
              <a:rPr lang="en-GB" sz="2400" baseline="-25000">
                <a:latin typeface="Arial" panose="020B0604020202020204" pitchFamily="34" charset="0"/>
              </a:rPr>
              <a:t>n</a:t>
            </a:r>
            <a:r>
              <a:rPr lang="en-GB" sz="2400">
                <a:latin typeface="Arial" panose="020B0604020202020204" pitchFamily="34" charset="0"/>
              </a:rPr>
              <a:t> = - |</a:t>
            </a:r>
            <a:r>
              <a:rPr lang="en-GB" sz="2400" b="1" dirty="0">
                <a:latin typeface="Arial" panose="020B0604020202020204" pitchFamily="34" charset="0"/>
              </a:rPr>
              <a:t>A</a:t>
            </a:r>
            <a:r>
              <a:rPr lang="en-GB" sz="2400">
                <a:latin typeface="Arial" panose="020B0604020202020204" pitchFamily="34" charset="0"/>
              </a:rPr>
              <a:t>| cos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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6" name="Text Box 111">
            <a:extLst>
              <a:ext uri="{FF2B5EF4-FFF2-40B4-BE49-F238E27FC236}">
                <a16:creationId xmlns:a16="http://schemas.microsoft.com/office/drawing/2014/main" id="{40F3C2EC-74E8-4C52-8D78-609239463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3237" y="3927741"/>
            <a:ext cx="2690014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(da ese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número)</a:t>
            </a:r>
          </a:p>
        </p:txBody>
      </p:sp>
      <p:sp>
        <p:nvSpPr>
          <p:cNvPr id="79" name="Text Box 103">
            <a:extLst>
              <a:ext uri="{FF2B5EF4-FFF2-40B4-BE49-F238E27FC236}">
                <a16:creationId xmlns:a16="http://schemas.microsoft.com/office/drawing/2014/main" id="{0E3AAA26-A672-4A33-983C-383C495CB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4621" y="2469544"/>
            <a:ext cx="158759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sz="2400">
                <a:latin typeface="Arial" panose="020B0604020202020204" pitchFamily="34" charset="0"/>
              </a:rPr>
              <a:t>= |</a:t>
            </a:r>
            <a:r>
              <a:rPr lang="en-GB" sz="2400" b="1" dirty="0">
                <a:latin typeface="Arial" panose="020B0604020202020204" pitchFamily="34" charset="0"/>
              </a:rPr>
              <a:t>A</a:t>
            </a:r>
            <a:r>
              <a:rPr lang="en-GB" sz="2400">
                <a:latin typeface="Arial" panose="020B0604020202020204" pitchFamily="34" charset="0"/>
              </a:rPr>
              <a:t>| cos</a:t>
            </a:r>
            <a:r>
              <a:rPr lang="en-GB" sz="2400">
                <a:latin typeface="Arial" panose="020B0604020202020204" pitchFamily="34" charset="0"/>
                <a:sym typeface="Symbol" panose="05050102010706020507" pitchFamily="18" charset="2"/>
              </a:rPr>
              <a:t>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7" name="Text Box 111">
            <a:extLst>
              <a:ext uri="{FF2B5EF4-FFF2-40B4-BE49-F238E27FC236}">
                <a16:creationId xmlns:a16="http://schemas.microsoft.com/office/drawing/2014/main" id="{B4E53C56-B01D-42C1-9413-479AE9BA3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934" y="1708115"/>
            <a:ext cx="191170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n-GB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+ 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= 180º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Box 111">
            <a:extLst>
              <a:ext uri="{FF2B5EF4-FFF2-40B4-BE49-F238E27FC236}">
                <a16:creationId xmlns:a16="http://schemas.microsoft.com/office/drawing/2014/main" id="{BC4D3392-C5C6-1CA5-2FF2-B3B087CA7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8427" y="2064673"/>
            <a:ext cx="215981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n-GB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cos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- cos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133F9A1B-3956-FE4A-FD57-D83668C3E9C8}"/>
              </a:ext>
            </a:extLst>
          </p:cNvPr>
          <p:cNvGrpSpPr/>
          <p:nvPr/>
        </p:nvGrpSpPr>
        <p:grpSpPr>
          <a:xfrm>
            <a:off x="3767186" y="3744513"/>
            <a:ext cx="3146051" cy="404761"/>
            <a:chOff x="3767186" y="3786077"/>
            <a:chExt cx="3146051" cy="404761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C6596B95-2A31-4455-9888-C891F85C56DE}"/>
                </a:ext>
              </a:extLst>
            </p:cNvPr>
            <p:cNvCxnSpPr/>
            <p:nvPr/>
          </p:nvCxnSpPr>
          <p:spPr bwMode="auto">
            <a:xfrm>
              <a:off x="3767186" y="3793308"/>
              <a:ext cx="1706518" cy="0"/>
            </a:xfrm>
            <a:prstGeom prst="lin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Conector: angular 5">
              <a:extLst>
                <a:ext uri="{FF2B5EF4-FFF2-40B4-BE49-F238E27FC236}">
                  <a16:creationId xmlns:a16="http://schemas.microsoft.com/office/drawing/2014/main" id="{3A1A2CB5-6F8C-2319-5098-9B0F699D723E}"/>
                </a:ext>
              </a:extLst>
            </p:cNvPr>
            <p:cNvCxnSpPr>
              <a:stCxn id="76" idx="1"/>
              <a:endCxn id="70" idx="2"/>
            </p:cNvCxnSpPr>
            <p:nvPr/>
          </p:nvCxnSpPr>
          <p:spPr bwMode="auto">
            <a:xfrm rot="10800000">
              <a:off x="4658239" y="3786077"/>
              <a:ext cx="2254998" cy="404761"/>
            </a:xfrm>
            <a:prstGeom prst="bentConnector2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93255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70" grpId="0"/>
      <p:bldP spid="72" grpId="0" animBg="1"/>
      <p:bldP spid="73" grpId="0" animBg="1"/>
      <p:bldP spid="74" grpId="0" animBg="1"/>
      <p:bldP spid="66" grpId="0"/>
      <p:bldP spid="67" grpId="0"/>
      <p:bldP spid="76" grpId="0"/>
      <p:bldP spid="79" grpId="0"/>
      <p:bldP spid="77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94">
            <a:extLst>
              <a:ext uri="{FF2B5EF4-FFF2-40B4-BE49-F238E27FC236}">
                <a16:creationId xmlns:a16="http://schemas.microsoft.com/office/drawing/2014/main" id="{0C9FAF47-CFE0-4003-841B-43515D526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2859" y="3259767"/>
            <a:ext cx="4361654" cy="67310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9" name="Text Box 95">
            <a:extLst>
              <a:ext uri="{FF2B5EF4-FFF2-40B4-BE49-F238E27FC236}">
                <a16:creationId xmlns:a16="http://schemas.microsoft.com/office/drawing/2014/main" id="{FD6639B2-974B-4673-A65F-DCF459C52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670" y="3380417"/>
            <a:ext cx="77006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sz="2400" dirty="0">
                <a:latin typeface="Arial" panose="020B0604020202020204" pitchFamily="34" charset="0"/>
              </a:rPr>
              <a:t>A</a:t>
            </a:r>
            <a:r>
              <a:rPr lang="en-GB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GB" sz="2400" dirty="0">
                <a:latin typeface="Arial" panose="020B0604020202020204" pitchFamily="34" charset="0"/>
                <a:sym typeface="Symbol" panose="05050102010706020507" pitchFamily="18" charset="2"/>
              </a:rPr>
              <a:t> dl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0" name="Text Box 103">
            <a:extLst>
              <a:ext uri="{FF2B5EF4-FFF2-40B4-BE49-F238E27FC236}">
                <a16:creationId xmlns:a16="http://schemas.microsoft.com/office/drawing/2014/main" id="{5D1645BF-46A2-48B0-8DE7-F074073A9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098" y="3377242"/>
            <a:ext cx="235382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sz="2400" dirty="0">
                <a:latin typeface="Arial" panose="020B0604020202020204" pitchFamily="34" charset="0"/>
              </a:rPr>
              <a:t>= |</a:t>
            </a:r>
            <a:r>
              <a:rPr lang="en-GB" sz="2400" b="1" dirty="0">
                <a:latin typeface="Arial" panose="020B0604020202020204" pitchFamily="34" charset="0"/>
              </a:rPr>
              <a:t>A</a:t>
            </a:r>
            <a:r>
              <a:rPr lang="en-GB" sz="2400" dirty="0">
                <a:latin typeface="Arial" panose="020B0604020202020204" pitchFamily="34" charset="0"/>
              </a:rPr>
              <a:t>| |d</a:t>
            </a:r>
            <a:r>
              <a:rPr lang="en-GB" sz="2400" b="1" dirty="0">
                <a:latin typeface="Arial" panose="020B0604020202020204" pitchFamily="34" charset="0"/>
              </a:rPr>
              <a:t>l</a:t>
            </a:r>
            <a:r>
              <a:rPr lang="en-GB" sz="2400" dirty="0">
                <a:latin typeface="Arial" panose="020B0604020202020204" pitchFamily="34" charset="0"/>
              </a:rPr>
              <a:t>| cos</a:t>
            </a:r>
            <a:r>
              <a:rPr lang="en-GB" sz="2400" dirty="0">
                <a:latin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n-GB" sz="2400" dirty="0">
                <a:latin typeface="Arial" panose="020B0604020202020204" pitchFamily="34" charset="0"/>
              </a:rPr>
              <a:t> =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3" name="Text Box 100">
            <a:extLst>
              <a:ext uri="{FF2B5EF4-FFF2-40B4-BE49-F238E27FC236}">
                <a16:creationId xmlns:a16="http://schemas.microsoft.com/office/drawing/2014/main" id="{83EC5376-278C-4EF0-BBDD-ECB3F6C81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32" y="4336145"/>
            <a:ext cx="9020296" cy="9567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defRPr/>
            </a:pPr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/>
              <a:t>Si en </a:t>
            </a:r>
            <a:r>
              <a:rPr lang="es-ES" sz="2400"/>
              <a:t>un punto </a:t>
            </a:r>
            <a:r>
              <a:rPr lang="en-GB" sz="2400">
                <a:sym typeface="Symbol" panose="05050102010706020507" pitchFamily="18" charset="2"/>
              </a:rPr>
              <a:t> = </a:t>
            </a:r>
            <a:r>
              <a:rPr lang="es-ES" sz="2400">
                <a:sym typeface="Symbol" panose="05050102010706020507" pitchFamily="18" charset="2"/>
              </a:rPr>
              <a:t>90º (</a:t>
            </a:r>
            <a:r>
              <a:rPr lang="es-ES" sz="2400" b="1">
                <a:sym typeface="Symbol" panose="05050102010706020507" pitchFamily="18" charset="2"/>
              </a:rPr>
              <a:t>A</a:t>
            </a:r>
            <a:r>
              <a:rPr lang="es-ES" sz="2400">
                <a:sym typeface="Symbol" panose="05050102010706020507" pitchFamily="18" charset="2"/>
              </a:rPr>
              <a:t>  d</a:t>
            </a:r>
            <a:r>
              <a:rPr lang="es-ES" sz="2400" b="1">
                <a:sym typeface="Symbol" panose="05050102010706020507" pitchFamily="18" charset="2"/>
              </a:rPr>
              <a:t>l</a:t>
            </a:r>
            <a:r>
              <a:rPr lang="es-ES" sz="2400">
                <a:sym typeface="Symbol" panose="05050102010706020507" pitchFamily="18" charset="2"/>
              </a:rPr>
              <a:t>)  </a:t>
            </a:r>
            <a:r>
              <a:rPr lang="es-ES" sz="2400" dirty="0">
                <a:sym typeface="Symbol" panose="05050102010706020507" pitchFamily="18" charset="2"/>
              </a:rPr>
              <a:t>A</a:t>
            </a:r>
            <a:r>
              <a:rPr lang="es-ES" sz="2400" baseline="-25000" dirty="0">
                <a:sym typeface="Symbol" panose="05050102010706020507" pitchFamily="18" charset="2"/>
              </a:rPr>
              <a:t>t</a:t>
            </a:r>
            <a:r>
              <a:rPr lang="es-ES" sz="2400" dirty="0">
                <a:sym typeface="Symbol" panose="05050102010706020507" pitchFamily="18" charset="2"/>
              </a:rPr>
              <a:t> = </a:t>
            </a:r>
            <a:r>
              <a:rPr lang="es-ES" sz="2400">
                <a:sym typeface="Symbol" panose="05050102010706020507" pitchFamily="18" charset="2"/>
              </a:rPr>
              <a:t>0  </a:t>
            </a:r>
            <a:r>
              <a:rPr lang="es-ES" sz="2400" dirty="0" err="1">
                <a:sym typeface="Symbol" panose="05050102010706020507" pitchFamily="18" charset="2"/>
              </a:rPr>
              <a:t>Circ</a:t>
            </a:r>
            <a:r>
              <a:rPr lang="es-ES" sz="2400" baseline="-25000" dirty="0" err="1">
                <a:sym typeface="Symbol" panose="05050102010706020507" pitchFamily="18" charset="2"/>
              </a:rPr>
              <a:t>punto</a:t>
            </a:r>
            <a:r>
              <a:rPr lang="es-ES" sz="2400" dirty="0">
                <a:sym typeface="Symbol" panose="05050102010706020507" pitchFamily="18" charset="2"/>
              </a:rPr>
              <a:t> = </a:t>
            </a:r>
            <a:r>
              <a:rPr lang="es-ES" sz="2400" dirty="0" err="1">
                <a:sym typeface="Symbol" panose="05050102010706020507" pitchFamily="18" charset="2"/>
              </a:rPr>
              <a:t>A</a:t>
            </a:r>
            <a:r>
              <a:rPr lang="es-ES" sz="2400" baseline="-25000" dirty="0" err="1">
                <a:sym typeface="Symbol" panose="05050102010706020507" pitchFamily="18" charset="2"/>
              </a:rPr>
              <a:t>t</a:t>
            </a:r>
            <a:r>
              <a:rPr lang="es-ES" sz="2400" dirty="0" err="1">
                <a:sym typeface="Symbol" panose="05050102010706020507" pitchFamily="18" charset="2"/>
              </a:rPr>
              <a:t>dl</a:t>
            </a:r>
            <a:r>
              <a:rPr lang="es-ES" sz="2400" dirty="0">
                <a:sym typeface="Symbol" panose="05050102010706020507" pitchFamily="18" charset="2"/>
              </a:rPr>
              <a:t> = 0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s-ES" sz="2400" dirty="0">
                <a:sym typeface="Symbol" panose="05050102010706020507" pitchFamily="18" charset="2"/>
              </a:rPr>
              <a:t>   Si ocurre en todos los puntos de </a:t>
            </a:r>
            <a:r>
              <a:rPr lang="es-ES" sz="2400">
                <a:sym typeface="Symbol" panose="05050102010706020507" pitchFamily="18" charset="2"/>
              </a:rPr>
              <a:t>C         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Circ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C </a:t>
            </a:r>
            <a:r>
              <a:rPr lang="es-ES" sz="2400">
                <a:sym typeface="Symbol" panose="05050102010706020507" pitchFamily="18" charset="2"/>
              </a:rPr>
              <a:t>     </a:t>
            </a:r>
            <a:r>
              <a:rPr lang="es-ES" sz="2400" dirty="0">
                <a:sym typeface="Symbol" panose="05050102010706020507" pitchFamily="18" charset="2"/>
              </a:rPr>
              <a:t>= 0</a:t>
            </a:r>
          </a:p>
        </p:txBody>
      </p:sp>
      <p:sp>
        <p:nvSpPr>
          <p:cNvPr id="74" name="Text Box 100">
            <a:extLst>
              <a:ext uri="{FF2B5EF4-FFF2-40B4-BE49-F238E27FC236}">
                <a16:creationId xmlns:a16="http://schemas.microsoft.com/office/drawing/2014/main" id="{24BE77B2-D6B6-47B1-8301-2C5F73883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32" y="5454058"/>
            <a:ext cx="9020296" cy="132610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defRPr/>
            </a:pPr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/>
              <a:t>Si </a:t>
            </a:r>
            <a:r>
              <a:rPr lang="en-GB" sz="2400">
                <a:sym typeface="Symbol" panose="05050102010706020507" pitchFamily="18" charset="2"/>
              </a:rPr>
              <a:t> = </a:t>
            </a:r>
            <a:r>
              <a:rPr lang="es-ES" sz="2400">
                <a:sym typeface="Symbol" panose="05050102010706020507" pitchFamily="18" charset="2"/>
              </a:rPr>
              <a:t>0º o 180º    A</a:t>
            </a:r>
            <a:r>
              <a:rPr lang="es-ES" sz="2400" baseline="-25000">
                <a:sym typeface="Symbol" panose="05050102010706020507" pitchFamily="18" charset="2"/>
              </a:rPr>
              <a:t>t</a:t>
            </a:r>
            <a:r>
              <a:rPr lang="es-ES" sz="2400">
                <a:sym typeface="Symbol" panose="05050102010706020507" pitchFamily="18" charset="2"/>
              </a:rPr>
              <a:t> </a:t>
            </a:r>
            <a:r>
              <a:rPr lang="es-ES" sz="2400" dirty="0">
                <a:sym typeface="Symbol" panose="05050102010706020507" pitchFamily="18" charset="2"/>
              </a:rPr>
              <a:t>= ± |</a:t>
            </a:r>
            <a:r>
              <a:rPr lang="es-ES" sz="2400" b="1" dirty="0">
                <a:sym typeface="Symbol" panose="05050102010706020507" pitchFamily="18" charset="2"/>
              </a:rPr>
              <a:t>A</a:t>
            </a:r>
            <a:r>
              <a:rPr lang="es-ES" sz="2400">
                <a:sym typeface="Symbol" panose="05050102010706020507" pitchFamily="18" charset="2"/>
              </a:rPr>
              <a:t>|    Circ</a:t>
            </a:r>
            <a:r>
              <a:rPr lang="es-ES" sz="2400" baseline="-25000">
                <a:sym typeface="Symbol" panose="05050102010706020507" pitchFamily="18" charset="2"/>
              </a:rPr>
              <a:t>punto</a:t>
            </a:r>
            <a:r>
              <a:rPr lang="es-ES" sz="2400">
                <a:sym typeface="Symbol" panose="05050102010706020507" pitchFamily="18" charset="2"/>
              </a:rPr>
              <a:t> </a:t>
            </a:r>
            <a:r>
              <a:rPr lang="es-ES" sz="2400" dirty="0">
                <a:sym typeface="Symbol" panose="05050102010706020507" pitchFamily="18" charset="2"/>
              </a:rPr>
              <a:t>= ± |</a:t>
            </a:r>
            <a:r>
              <a:rPr lang="es-ES" sz="2400" b="1" dirty="0" err="1">
                <a:sym typeface="Symbol" panose="05050102010706020507" pitchFamily="18" charset="2"/>
              </a:rPr>
              <a:t>A</a:t>
            </a:r>
            <a:r>
              <a:rPr lang="es-ES" sz="2400" dirty="0" err="1">
                <a:sym typeface="Symbol" panose="05050102010706020507" pitchFamily="18" charset="2"/>
              </a:rPr>
              <a:t>|dl</a:t>
            </a:r>
            <a:endParaRPr lang="es-ES" sz="2400" dirty="0">
              <a:sym typeface="Symbol" panose="05050102010706020507" pitchFamily="18" charset="2"/>
            </a:endParaRPr>
          </a:p>
          <a:p>
            <a:pPr eaLnBrk="1" hangingPunct="1">
              <a:spcBef>
                <a:spcPts val="0"/>
              </a:spcBef>
              <a:defRPr/>
            </a:pPr>
            <a:r>
              <a:rPr lang="es-ES" sz="2400" dirty="0">
                <a:sym typeface="Symbol" panose="05050102010706020507" pitchFamily="18" charset="2"/>
              </a:rPr>
              <a:t>   Es máxima </a:t>
            </a:r>
            <a:r>
              <a:rPr lang="es-ES" sz="2400">
                <a:sym typeface="Symbol" panose="05050102010706020507" pitchFamily="18" charset="2"/>
              </a:rPr>
              <a:t>si </a:t>
            </a:r>
            <a:r>
              <a:rPr lang="es-ES" sz="2400" b="1">
                <a:sym typeface="Symbol" panose="05050102010706020507" pitchFamily="18" charset="2"/>
              </a:rPr>
              <a:t>A</a:t>
            </a:r>
            <a:r>
              <a:rPr lang="es-ES" sz="2400">
                <a:sym typeface="Symbol" panose="05050102010706020507" pitchFamily="18" charset="2"/>
              </a:rPr>
              <a:t> y d</a:t>
            </a:r>
            <a:r>
              <a:rPr lang="es-ES" sz="2400" b="1">
                <a:sym typeface="Symbol" panose="05050102010706020507" pitchFamily="18" charset="2"/>
              </a:rPr>
              <a:t>l</a:t>
            </a:r>
            <a:r>
              <a:rPr lang="es-ES" sz="2400">
                <a:sym typeface="Symbol" panose="05050102010706020507" pitchFamily="18" charset="2"/>
              </a:rPr>
              <a:t> son </a:t>
            </a:r>
            <a:r>
              <a:rPr lang="es-ES" sz="2400" dirty="0">
                <a:sym typeface="Symbol" panose="05050102010706020507" pitchFamily="18" charset="2"/>
              </a:rPr>
              <a:t>paralelos y mínima </a:t>
            </a:r>
            <a:r>
              <a:rPr lang="es-ES" sz="2400">
                <a:sym typeface="Symbol" panose="05050102010706020507" pitchFamily="18" charset="2"/>
              </a:rPr>
              <a:t>si antiparalelos</a:t>
            </a:r>
            <a:r>
              <a:rPr lang="es-ES" sz="2400" dirty="0"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s-ES" sz="2400" dirty="0">
                <a:sym typeface="Symbol" panose="05050102010706020507" pitchFamily="18" charset="2"/>
              </a:rPr>
              <a:t>   Si ocurre en todo C, la </a:t>
            </a:r>
            <a:r>
              <a:rPr lang="es-ES" sz="2400" dirty="0" err="1">
                <a:sym typeface="Symbol" panose="05050102010706020507" pitchFamily="18" charset="2"/>
              </a:rPr>
              <a:t>circ</a:t>
            </a:r>
            <a:r>
              <a:rPr lang="es-ES" sz="2400" dirty="0">
                <a:sym typeface="Symbol" panose="05050102010706020507" pitchFamily="18" charset="2"/>
              </a:rPr>
              <a:t>. es máxima o mínima en C</a:t>
            </a:r>
          </a:p>
        </p:txBody>
      </p:sp>
      <p:sp>
        <p:nvSpPr>
          <p:cNvPr id="59" name="Text Box 75">
            <a:extLst>
              <a:ext uri="{FF2B5EF4-FFF2-40B4-BE49-F238E27FC236}">
                <a16:creationId xmlns:a16="http://schemas.microsoft.com/office/drawing/2014/main" id="{AEBDADA1-9E73-4627-B8A4-D80136667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7228" y="2222471"/>
            <a:ext cx="487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endParaRPr lang="es-ES" sz="2400">
              <a:latin typeface="Arial" panose="020B0604020202020204" pitchFamily="34" charset="0"/>
            </a:endParaRPr>
          </a:p>
        </p:txBody>
      </p:sp>
      <p:grpSp>
        <p:nvGrpSpPr>
          <p:cNvPr id="60" name="Group 76">
            <a:extLst>
              <a:ext uri="{FF2B5EF4-FFF2-40B4-BE49-F238E27FC236}">
                <a16:creationId xmlns:a16="http://schemas.microsoft.com/office/drawing/2014/main" id="{BAE47B79-5D71-435B-BD82-93ED63DABAFA}"/>
              </a:ext>
            </a:extLst>
          </p:cNvPr>
          <p:cNvGrpSpPr>
            <a:grpSpLocks/>
          </p:cNvGrpSpPr>
          <p:nvPr/>
        </p:nvGrpSpPr>
        <p:grpSpPr bwMode="auto">
          <a:xfrm>
            <a:off x="7289665" y="1354107"/>
            <a:ext cx="2003425" cy="1552578"/>
            <a:chOff x="5143" y="1173"/>
            <a:chExt cx="1262" cy="978"/>
          </a:xfrm>
        </p:grpSpPr>
        <p:sp>
          <p:nvSpPr>
            <p:cNvPr id="62" name="Text Box 77">
              <a:extLst>
                <a:ext uri="{FF2B5EF4-FFF2-40B4-BE49-F238E27FC236}">
                  <a16:creationId xmlns:a16="http://schemas.microsoft.com/office/drawing/2014/main" id="{6AA24FC0-B0EA-4AFB-98AB-EA75F8495C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1" y="1330"/>
              <a:ext cx="288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Arial" panose="020B0604020202020204" pitchFamily="34" charset="0"/>
              </a:endParaRPr>
            </a:p>
          </p:txBody>
        </p:sp>
        <p:sp>
          <p:nvSpPr>
            <p:cNvPr id="63" name="Freeform 78">
              <a:extLst>
                <a:ext uri="{FF2B5EF4-FFF2-40B4-BE49-F238E27FC236}">
                  <a16:creationId xmlns:a16="http://schemas.microsoft.com/office/drawing/2014/main" id="{CC121233-561F-4A6A-98F9-620BD697670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143" y="1523"/>
              <a:ext cx="1248" cy="196"/>
            </a:xfrm>
            <a:custGeom>
              <a:avLst/>
              <a:gdLst>
                <a:gd name="T0" fmla="*/ 0 w 3120"/>
                <a:gd name="T1" fmla="*/ 0 h 489"/>
                <a:gd name="T2" fmla="*/ 0 w 3120"/>
                <a:gd name="T3" fmla="*/ 0 h 489"/>
                <a:gd name="T4" fmla="*/ 0 w 3120"/>
                <a:gd name="T5" fmla="*/ 0 h 489"/>
                <a:gd name="T6" fmla="*/ 0 w 3120"/>
                <a:gd name="T7" fmla="*/ 0 h 489"/>
                <a:gd name="T8" fmla="*/ 0 w 3120"/>
                <a:gd name="T9" fmla="*/ 0 h 489"/>
                <a:gd name="T10" fmla="*/ 0 w 3120"/>
                <a:gd name="T11" fmla="*/ 0 h 4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20"/>
                <a:gd name="T19" fmla="*/ 0 h 489"/>
                <a:gd name="T20" fmla="*/ 3120 w 3120"/>
                <a:gd name="T21" fmla="*/ 489 h 48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20" h="489">
                  <a:moveTo>
                    <a:pt x="0" y="489"/>
                  </a:moveTo>
                  <a:cubicBezTo>
                    <a:pt x="60" y="366"/>
                    <a:pt x="120" y="244"/>
                    <a:pt x="240" y="163"/>
                  </a:cubicBezTo>
                  <a:cubicBezTo>
                    <a:pt x="360" y="82"/>
                    <a:pt x="500" y="0"/>
                    <a:pt x="720" y="0"/>
                  </a:cubicBezTo>
                  <a:cubicBezTo>
                    <a:pt x="940" y="0"/>
                    <a:pt x="1260" y="109"/>
                    <a:pt x="1560" y="163"/>
                  </a:cubicBezTo>
                  <a:cubicBezTo>
                    <a:pt x="1860" y="217"/>
                    <a:pt x="2260" y="326"/>
                    <a:pt x="2520" y="326"/>
                  </a:cubicBezTo>
                  <a:cubicBezTo>
                    <a:pt x="2780" y="326"/>
                    <a:pt x="2950" y="244"/>
                    <a:pt x="3120" y="163"/>
                  </a:cubicBezTo>
                </a:path>
              </a:pathLst>
            </a:cu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64" name="Line 79">
              <a:extLst>
                <a:ext uri="{FF2B5EF4-FFF2-40B4-BE49-F238E27FC236}">
                  <a16:creationId xmlns:a16="http://schemas.microsoft.com/office/drawing/2014/main" id="{72938655-9F8F-4A4D-AB99-5255263031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13" y="1523"/>
              <a:ext cx="891" cy="54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65" name="Text Box 80">
              <a:extLst>
                <a:ext uri="{FF2B5EF4-FFF2-40B4-BE49-F238E27FC236}">
                  <a16:creationId xmlns:a16="http://schemas.microsoft.com/office/drawing/2014/main" id="{D17C3246-A433-4213-B2C1-86F882BF7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0" y="1860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</a:t>
              </a:r>
            </a:p>
          </p:txBody>
        </p:sp>
        <p:graphicFrame>
          <p:nvGraphicFramePr>
            <p:cNvPr id="66" name="Object 81">
              <a:extLst>
                <a:ext uri="{FF2B5EF4-FFF2-40B4-BE49-F238E27FC236}">
                  <a16:creationId xmlns:a16="http://schemas.microsoft.com/office/drawing/2014/main" id="{C839EDCF-8218-4C15-8DE7-05FCDD549C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37" y="1173"/>
            <a:ext cx="268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203024" imgH="215713" progId="Equation.3">
                    <p:embed/>
                  </p:oleObj>
                </mc:Choice>
                <mc:Fallback>
                  <p:oleObj name="Ecuación" r:id="rId3" imgW="203024" imgH="215713" progId="Equation.3">
                    <p:embed/>
                    <p:pic>
                      <p:nvPicPr>
                        <p:cNvPr id="66" name="Object 81">
                          <a:extLst>
                            <a:ext uri="{FF2B5EF4-FFF2-40B4-BE49-F238E27FC236}">
                              <a16:creationId xmlns:a16="http://schemas.microsoft.com/office/drawing/2014/main" id="{C839EDCF-8218-4C15-8DE7-05FCDD549C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7" y="1173"/>
                          <a:ext cx="268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" name="Line 82">
              <a:extLst>
                <a:ext uri="{FF2B5EF4-FFF2-40B4-BE49-F238E27FC236}">
                  <a16:creationId xmlns:a16="http://schemas.microsoft.com/office/drawing/2014/main" id="{5443B8B8-C55A-4A93-9FAF-6FCA22FE5E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112" y="1428"/>
              <a:ext cx="0" cy="1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75" name="Line 83">
              <a:extLst>
                <a:ext uri="{FF2B5EF4-FFF2-40B4-BE49-F238E27FC236}">
                  <a16:creationId xmlns:a16="http://schemas.microsoft.com/office/drawing/2014/main" id="{BB2F3C74-61C4-4C13-8E17-F53AEA4CB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3" y="1523"/>
              <a:ext cx="19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sp>
        <p:nvSpPr>
          <p:cNvPr id="77" name="Text Box 9">
            <a:extLst>
              <a:ext uri="{FF2B5EF4-FFF2-40B4-BE49-F238E27FC236}">
                <a16:creationId xmlns:a16="http://schemas.microsoft.com/office/drawing/2014/main" id="{2930004A-2178-414A-8182-76FD82072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1915" y="1393794"/>
            <a:ext cx="5048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</a:t>
            </a:r>
            <a:r>
              <a:rPr lang="es-ES" sz="2400" baseline="-25000">
                <a:latin typeface="Arial" panose="020B0604020202020204" pitchFamily="34" charset="0"/>
              </a:rPr>
              <a:t>t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78" name="Text Box 10">
            <a:extLst>
              <a:ext uri="{FF2B5EF4-FFF2-40B4-BE49-F238E27FC236}">
                <a16:creationId xmlns:a16="http://schemas.microsoft.com/office/drawing/2014/main" id="{7A03BCEB-003B-40CB-AC57-42E9D83D2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2703" y="1176306"/>
            <a:ext cx="4873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79" name="Line 8">
            <a:extLst>
              <a:ext uri="{FF2B5EF4-FFF2-40B4-BE49-F238E27FC236}">
                <a16:creationId xmlns:a16="http://schemas.microsoft.com/office/drawing/2014/main" id="{B57C6DF5-6BD9-4BFA-8A34-33556BAE71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57928" y="1904969"/>
            <a:ext cx="14398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81" name="Line 11">
            <a:extLst>
              <a:ext uri="{FF2B5EF4-FFF2-40B4-BE49-F238E27FC236}">
                <a16:creationId xmlns:a16="http://schemas.microsoft.com/office/drawing/2014/main" id="{F79A7854-40B8-4914-96EB-12AD715EEF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2736" y="1904967"/>
            <a:ext cx="14398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82" name="Text Box 12">
            <a:extLst>
              <a:ext uri="{FF2B5EF4-FFF2-40B4-BE49-F238E27FC236}">
                <a16:creationId xmlns:a16="http://schemas.microsoft.com/office/drawing/2014/main" id="{246B34EB-EBE4-44D5-8324-691CE0A77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2998" y="1376330"/>
            <a:ext cx="5048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</a:t>
            </a:r>
            <a:r>
              <a:rPr lang="es-ES" sz="2400" baseline="-25000">
                <a:latin typeface="Arial" panose="020B0604020202020204" pitchFamily="34" charset="0"/>
              </a:rPr>
              <a:t>t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83" name="Text Box 13">
            <a:extLst>
              <a:ext uri="{FF2B5EF4-FFF2-40B4-BE49-F238E27FC236}">
                <a16:creationId xmlns:a16="http://schemas.microsoft.com/office/drawing/2014/main" id="{0860388D-290A-4295-B271-C09C4D288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761" y="1177892"/>
            <a:ext cx="4873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85" name="98 CuadroTexto">
            <a:extLst>
              <a:ext uri="{FF2B5EF4-FFF2-40B4-BE49-F238E27FC236}">
                <a16:creationId xmlns:a16="http://schemas.microsoft.com/office/drawing/2014/main" id="{A0E57FF7-67A7-4D17-9B7D-896038983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1578" y="1963707"/>
            <a:ext cx="434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l-GR" sz="2400">
                <a:latin typeface="Symbol" panose="05050102010706020507" pitchFamily="18" charset="2"/>
                <a:sym typeface="Symbol" panose="05050102010706020507" pitchFamily="18" charset="2"/>
              </a:rPr>
              <a:t></a:t>
            </a:r>
            <a:endParaRPr lang="es-ES" sz="2400">
              <a:latin typeface="Symbol" panose="05050102010706020507" pitchFamily="18" charset="2"/>
            </a:endParaRPr>
          </a:p>
        </p:txBody>
      </p:sp>
      <p:sp>
        <p:nvSpPr>
          <p:cNvPr id="86" name="Freeform 61">
            <a:extLst>
              <a:ext uri="{FF2B5EF4-FFF2-40B4-BE49-F238E27FC236}">
                <a16:creationId xmlns:a16="http://schemas.microsoft.com/office/drawing/2014/main" id="{F4EDA6AA-61B0-4A18-8B43-8736B47F94AE}"/>
              </a:ext>
            </a:extLst>
          </p:cNvPr>
          <p:cNvSpPr>
            <a:spLocks/>
          </p:cNvSpPr>
          <p:nvPr/>
        </p:nvSpPr>
        <p:spPr bwMode="auto">
          <a:xfrm rot="2449977">
            <a:off x="8645391" y="1768444"/>
            <a:ext cx="230188" cy="463550"/>
          </a:xfrm>
          <a:custGeom>
            <a:avLst/>
            <a:gdLst>
              <a:gd name="T0" fmla="*/ 870651015 w 83"/>
              <a:gd name="T1" fmla="*/ 0 h 144"/>
              <a:gd name="T2" fmla="*/ 736133196 w 83"/>
              <a:gd name="T3" fmla="*/ 815326751 h 144"/>
              <a:gd name="T4" fmla="*/ 0 w 83"/>
              <a:gd name="T5" fmla="*/ 1434018339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3" h="144">
                <a:moveTo>
                  <a:pt x="82" y="0"/>
                </a:moveTo>
                <a:cubicBezTo>
                  <a:pt x="82" y="29"/>
                  <a:pt x="83" y="58"/>
                  <a:pt x="69" y="82"/>
                </a:cubicBezTo>
                <a:cubicBezTo>
                  <a:pt x="55" y="106"/>
                  <a:pt x="27" y="125"/>
                  <a:pt x="0" y="14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grpSp>
        <p:nvGrpSpPr>
          <p:cNvPr id="88" name="Group 99">
            <a:extLst>
              <a:ext uri="{FF2B5EF4-FFF2-40B4-BE49-F238E27FC236}">
                <a16:creationId xmlns:a16="http://schemas.microsoft.com/office/drawing/2014/main" id="{BC85C2AB-01B7-42E9-9E9A-BE4A110F422E}"/>
              </a:ext>
            </a:extLst>
          </p:cNvPr>
          <p:cNvGrpSpPr>
            <a:grpSpLocks/>
          </p:cNvGrpSpPr>
          <p:nvPr/>
        </p:nvGrpSpPr>
        <p:grpSpPr bwMode="auto">
          <a:xfrm>
            <a:off x="2169161" y="1328701"/>
            <a:ext cx="2168525" cy="1571622"/>
            <a:chOff x="1387" y="433"/>
            <a:chExt cx="1366" cy="990"/>
          </a:xfrm>
        </p:grpSpPr>
        <p:grpSp>
          <p:nvGrpSpPr>
            <p:cNvPr id="90" name="Group 100">
              <a:extLst>
                <a:ext uri="{FF2B5EF4-FFF2-40B4-BE49-F238E27FC236}">
                  <a16:creationId xmlns:a16="http://schemas.microsoft.com/office/drawing/2014/main" id="{E464F1F4-DEF7-451D-9FFD-A980435BE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5" y="433"/>
              <a:ext cx="1248" cy="990"/>
              <a:chOff x="1505" y="433"/>
              <a:chExt cx="1248" cy="990"/>
            </a:xfrm>
          </p:grpSpPr>
          <p:sp>
            <p:nvSpPr>
              <p:cNvPr id="92" name="Freeform 34">
                <a:extLst>
                  <a:ext uri="{FF2B5EF4-FFF2-40B4-BE49-F238E27FC236}">
                    <a16:creationId xmlns:a16="http://schemas.microsoft.com/office/drawing/2014/main" id="{BB479ACD-3512-4365-A927-985E73717F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5" y="798"/>
                <a:ext cx="1248" cy="196"/>
              </a:xfrm>
              <a:custGeom>
                <a:avLst/>
                <a:gdLst>
                  <a:gd name="T0" fmla="*/ 0 w 3120"/>
                  <a:gd name="T1" fmla="*/ 0 h 489"/>
                  <a:gd name="T2" fmla="*/ 0 w 3120"/>
                  <a:gd name="T3" fmla="*/ 0 h 489"/>
                  <a:gd name="T4" fmla="*/ 0 w 3120"/>
                  <a:gd name="T5" fmla="*/ 0 h 489"/>
                  <a:gd name="T6" fmla="*/ 0 w 3120"/>
                  <a:gd name="T7" fmla="*/ 0 h 489"/>
                  <a:gd name="T8" fmla="*/ 0 w 3120"/>
                  <a:gd name="T9" fmla="*/ 0 h 489"/>
                  <a:gd name="T10" fmla="*/ 0 w 3120"/>
                  <a:gd name="T11" fmla="*/ 0 h 48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20"/>
                  <a:gd name="T19" fmla="*/ 0 h 489"/>
                  <a:gd name="T20" fmla="*/ 3120 w 3120"/>
                  <a:gd name="T21" fmla="*/ 489 h 48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20" h="489">
                    <a:moveTo>
                      <a:pt x="0" y="489"/>
                    </a:moveTo>
                    <a:cubicBezTo>
                      <a:pt x="60" y="366"/>
                      <a:pt x="120" y="244"/>
                      <a:pt x="240" y="163"/>
                    </a:cubicBezTo>
                    <a:cubicBezTo>
                      <a:pt x="360" y="82"/>
                      <a:pt x="500" y="0"/>
                      <a:pt x="720" y="0"/>
                    </a:cubicBezTo>
                    <a:cubicBezTo>
                      <a:pt x="940" y="0"/>
                      <a:pt x="1260" y="109"/>
                      <a:pt x="1560" y="163"/>
                    </a:cubicBezTo>
                    <a:cubicBezTo>
                      <a:pt x="1860" y="217"/>
                      <a:pt x="2260" y="326"/>
                      <a:pt x="2520" y="326"/>
                    </a:cubicBezTo>
                    <a:cubicBezTo>
                      <a:pt x="2780" y="326"/>
                      <a:pt x="2950" y="244"/>
                      <a:pt x="3120" y="163"/>
                    </a:cubicBezTo>
                  </a:path>
                </a:pathLst>
              </a:cu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 sz="2400"/>
              </a:p>
            </p:txBody>
          </p:sp>
          <p:sp>
            <p:nvSpPr>
              <p:cNvPr id="93" name="Text Box 35">
                <a:extLst>
                  <a:ext uri="{FF2B5EF4-FFF2-40B4-BE49-F238E27FC236}">
                    <a16:creationId xmlns:a16="http://schemas.microsoft.com/office/drawing/2014/main" id="{5D19D975-D13E-4E09-89BE-0365EC043A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1" y="605"/>
                <a:ext cx="288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4" name="Text Box 36">
                <a:extLst>
                  <a:ext uri="{FF2B5EF4-FFF2-40B4-BE49-F238E27FC236}">
                    <a16:creationId xmlns:a16="http://schemas.microsoft.com/office/drawing/2014/main" id="{FC687446-AC98-4D02-BA99-ADC12672E2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5" y="602"/>
                <a:ext cx="288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5" name="Line 37">
                <a:extLst>
                  <a:ext uri="{FF2B5EF4-FFF2-40B4-BE49-F238E27FC236}">
                    <a16:creationId xmlns:a16="http://schemas.microsoft.com/office/drawing/2014/main" id="{A5225083-B1C7-406A-BD40-2864BBCCB1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8" y="798"/>
                <a:ext cx="891" cy="546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2400"/>
              </a:p>
            </p:txBody>
          </p:sp>
          <p:sp>
            <p:nvSpPr>
              <p:cNvPr id="96" name="Text Box 38">
                <a:extLst>
                  <a:ext uri="{FF2B5EF4-FFF2-40B4-BE49-F238E27FC236}">
                    <a16:creationId xmlns:a16="http://schemas.microsoft.com/office/drawing/2014/main" id="{99EAD648-0614-490C-994A-A9FFE6D527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9" y="1132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1008063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1008063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1008063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1008063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1008063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10080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A</a:t>
                </a:r>
              </a:p>
            </p:txBody>
          </p:sp>
          <p:graphicFrame>
            <p:nvGraphicFramePr>
              <p:cNvPr id="97" name="Object 39">
                <a:extLst>
                  <a:ext uri="{FF2B5EF4-FFF2-40B4-BE49-F238E27FC236}">
                    <a16:creationId xmlns:a16="http://schemas.microsoft.com/office/drawing/2014/main" id="{9059FF92-2FA1-421D-BDCF-8330DC56EBC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93" y="433"/>
              <a:ext cx="268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5" imgW="203024" imgH="215713" progId="Equation.3">
                      <p:embed/>
                    </p:oleObj>
                  </mc:Choice>
                  <mc:Fallback>
                    <p:oleObj name="Ecuación" r:id="rId5" imgW="203024" imgH="215713" progId="Equation.3">
                      <p:embed/>
                      <p:pic>
                        <p:nvPicPr>
                          <p:cNvPr id="97" name="Object 39">
                            <a:extLst>
                              <a:ext uri="{FF2B5EF4-FFF2-40B4-BE49-F238E27FC236}">
                                <a16:creationId xmlns:a16="http://schemas.microsoft.com/office/drawing/2014/main" id="{9059FF92-2FA1-421D-BDCF-8330DC56EBC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93" y="433"/>
                            <a:ext cx="268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8" name="Text Box 40">
                <a:extLst>
                  <a:ext uri="{FF2B5EF4-FFF2-40B4-BE49-F238E27FC236}">
                    <a16:creationId xmlns:a16="http://schemas.microsoft.com/office/drawing/2014/main" id="{F293252F-767B-42BA-8FE6-901D18A3DB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6" y="1002"/>
                <a:ext cx="30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</a:t>
                </a:r>
                <a:endParaRPr lang="es-E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9" name="Line 51">
                <a:extLst>
                  <a:ext uri="{FF2B5EF4-FFF2-40B4-BE49-F238E27FC236}">
                    <a16:creationId xmlns:a16="http://schemas.microsoft.com/office/drawing/2014/main" id="{E80D9D4A-0862-4AA6-8853-D26F0E58DA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807" y="703"/>
                <a:ext cx="0" cy="1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2400"/>
              </a:p>
            </p:txBody>
          </p:sp>
          <p:sp>
            <p:nvSpPr>
              <p:cNvPr id="100" name="Line 52">
                <a:extLst>
                  <a:ext uri="{FF2B5EF4-FFF2-40B4-BE49-F238E27FC236}">
                    <a16:creationId xmlns:a16="http://schemas.microsoft.com/office/drawing/2014/main" id="{30DFB8D0-BA89-44AD-8058-D3D4F4BF6D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8" y="798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2400"/>
              </a:p>
            </p:txBody>
          </p:sp>
        </p:grpSp>
        <p:sp>
          <p:nvSpPr>
            <p:cNvPr id="91" name="Text Box 110">
              <a:extLst>
                <a:ext uri="{FF2B5EF4-FFF2-40B4-BE49-F238E27FC236}">
                  <a16:creationId xmlns:a16="http://schemas.microsoft.com/office/drawing/2014/main" id="{1C36D3A8-BDCC-4D08-BF9B-4D7C6A259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7" y="1026"/>
              <a:ext cx="25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000000"/>
                  </a:solidFill>
                </a:rPr>
                <a:t>C</a:t>
              </a:r>
            </a:p>
          </p:txBody>
        </p:sp>
      </p:grpSp>
      <p:sp>
        <p:nvSpPr>
          <p:cNvPr id="89" name="Text Box 111">
            <a:extLst>
              <a:ext uri="{FF2B5EF4-FFF2-40B4-BE49-F238E27FC236}">
                <a16:creationId xmlns:a16="http://schemas.microsoft.com/office/drawing/2014/main" id="{B3FE076D-2756-4499-8154-73D54C642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6674" y="1962112"/>
            <a:ext cx="422275" cy="46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000000"/>
                </a:solidFill>
              </a:rPr>
              <a:t>dl</a:t>
            </a:r>
          </a:p>
        </p:txBody>
      </p:sp>
      <p:sp>
        <p:nvSpPr>
          <p:cNvPr id="102" name="98 CuadroTexto">
            <a:extLst>
              <a:ext uri="{FF2B5EF4-FFF2-40B4-BE49-F238E27FC236}">
                <a16:creationId xmlns:a16="http://schemas.microsoft.com/office/drawing/2014/main" id="{A66CE9FB-E9A3-449A-86BC-3F4FEB108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9499" y="1901795"/>
            <a:ext cx="434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l-GR" sz="2400">
                <a:latin typeface="Symbol" panose="05050102010706020507" pitchFamily="18" charset="2"/>
                <a:sym typeface="Symbol" panose="05050102010706020507" pitchFamily="18" charset="2"/>
              </a:rPr>
              <a:t></a:t>
            </a:r>
            <a:endParaRPr lang="es-ES" sz="2400">
              <a:latin typeface="Symbol" panose="05050102010706020507" pitchFamily="18" charset="2"/>
            </a:endParaRPr>
          </a:p>
        </p:txBody>
      </p:sp>
      <p:sp>
        <p:nvSpPr>
          <p:cNvPr id="103" name="Freeform 58">
            <a:extLst>
              <a:ext uri="{FF2B5EF4-FFF2-40B4-BE49-F238E27FC236}">
                <a16:creationId xmlns:a16="http://schemas.microsoft.com/office/drawing/2014/main" id="{8CC3FC2F-64BB-49F4-B735-8F8EBF8F7716}"/>
              </a:ext>
            </a:extLst>
          </p:cNvPr>
          <p:cNvSpPr>
            <a:spLocks/>
          </p:cNvSpPr>
          <p:nvPr/>
        </p:nvSpPr>
        <p:spPr bwMode="auto">
          <a:xfrm>
            <a:off x="3451861" y="1900207"/>
            <a:ext cx="182563" cy="382588"/>
          </a:xfrm>
          <a:custGeom>
            <a:avLst/>
            <a:gdLst>
              <a:gd name="T0" fmla="*/ 82 w 83"/>
              <a:gd name="T1" fmla="*/ 0 h 144"/>
              <a:gd name="T2" fmla="*/ 69 w 83"/>
              <a:gd name="T3" fmla="*/ 82 h 144"/>
              <a:gd name="T4" fmla="*/ 0 w 83"/>
              <a:gd name="T5" fmla="*/ 144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3" h="144">
                <a:moveTo>
                  <a:pt x="82" y="0"/>
                </a:moveTo>
                <a:cubicBezTo>
                  <a:pt x="82" y="29"/>
                  <a:pt x="83" y="58"/>
                  <a:pt x="69" y="82"/>
                </a:cubicBezTo>
                <a:cubicBezTo>
                  <a:pt x="55" y="106"/>
                  <a:pt x="27" y="125"/>
                  <a:pt x="0" y="14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 sz="2400" dirty="0"/>
          </a:p>
        </p:txBody>
      </p:sp>
      <p:graphicFrame>
        <p:nvGraphicFramePr>
          <p:cNvPr id="110" name="Object 105">
            <a:extLst>
              <a:ext uri="{FF2B5EF4-FFF2-40B4-BE49-F238E27FC236}">
                <a16:creationId xmlns:a16="http://schemas.microsoft.com/office/drawing/2014/main" id="{5B3DEFA3-B146-4E82-899E-0D3E735FBF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418792"/>
              </p:ext>
            </p:extLst>
          </p:nvPr>
        </p:nvGraphicFramePr>
        <p:xfrm>
          <a:off x="6910925" y="3289089"/>
          <a:ext cx="966200" cy="535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431613" imgH="241195" progId="Equation.3">
                  <p:embed/>
                </p:oleObj>
              </mc:Choice>
              <mc:Fallback>
                <p:oleObj name="Ecuación" r:id="rId6" imgW="431613" imgH="241195" progId="Equation.3">
                  <p:embed/>
                  <p:pic>
                    <p:nvPicPr>
                      <p:cNvPr id="110" name="Object 105">
                        <a:extLst>
                          <a:ext uri="{FF2B5EF4-FFF2-40B4-BE49-F238E27FC236}">
                            <a16:creationId xmlns:a16="http://schemas.microsoft.com/office/drawing/2014/main" id="{5B3DEFA3-B146-4E82-899E-0D3E735FBF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0925" y="3289089"/>
                        <a:ext cx="966200" cy="5359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157">
            <a:extLst>
              <a:ext uri="{FF2B5EF4-FFF2-40B4-BE49-F238E27FC236}">
                <a16:creationId xmlns:a16="http://schemas.microsoft.com/office/drawing/2014/main" id="{BC3DC4F2-AE90-4030-B30C-07EAD54C9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580" y="355278"/>
            <a:ext cx="5138739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CIRCULACIÓN de </a:t>
            </a:r>
            <a:r>
              <a:rPr lang="es-ES" sz="2400" b="1" dirty="0">
                <a:solidFill>
                  <a:srgbClr val="FFFFFF"/>
                </a:solidFill>
                <a:latin typeface="Arial" panose="020B0604020202020204" pitchFamily="34" charset="0"/>
              </a:rPr>
              <a:t>A </a:t>
            </a:r>
            <a:r>
              <a:rPr lang="es-ES" sz="2400" dirty="0" err="1">
                <a:solidFill>
                  <a:srgbClr val="FFFFFF"/>
                </a:solidFill>
                <a:latin typeface="Arial" panose="020B0604020202020204" pitchFamily="34" charset="0"/>
              </a:rPr>
              <a:t>a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 lo largo de C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D78947D7-3724-EC66-F2DE-B03256B28AF4}"/>
              </a:ext>
            </a:extLst>
          </p:cNvPr>
          <p:cNvGrpSpPr/>
          <p:nvPr/>
        </p:nvGrpSpPr>
        <p:grpSpPr>
          <a:xfrm>
            <a:off x="7436464" y="2024323"/>
            <a:ext cx="658019" cy="457200"/>
            <a:chOff x="6707120" y="2024323"/>
            <a:chExt cx="658019" cy="457200"/>
          </a:xfrm>
        </p:grpSpPr>
        <p:sp>
          <p:nvSpPr>
            <p:cNvPr id="112" name="98 CuadroTexto">
              <a:extLst>
                <a:ext uri="{FF2B5EF4-FFF2-40B4-BE49-F238E27FC236}">
                  <a16:creationId xmlns:a16="http://schemas.microsoft.com/office/drawing/2014/main" id="{B148F6C8-5E75-4E5C-BFE3-6566A9A9E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7120" y="2024323"/>
              <a:ext cx="4349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l-GR" sz="2400">
                  <a:latin typeface="Symbol" panose="05050102010706020507" pitchFamily="18" charset="2"/>
                  <a:sym typeface="Symbol" panose="05050102010706020507" pitchFamily="18" charset="2"/>
                </a:rPr>
                <a:t></a:t>
              </a:r>
              <a:endParaRPr lang="es-ES" sz="2400">
                <a:latin typeface="Symbol" panose="05050102010706020507" pitchFamily="18" charset="2"/>
              </a:endParaRPr>
            </a:p>
          </p:txBody>
        </p:sp>
        <p:sp>
          <p:nvSpPr>
            <p:cNvPr id="113" name="Freeform 123">
              <a:extLst>
                <a:ext uri="{FF2B5EF4-FFF2-40B4-BE49-F238E27FC236}">
                  <a16:creationId xmlns:a16="http://schemas.microsoft.com/office/drawing/2014/main" id="{229068CE-2E27-469F-A1CC-3EE09B7EA511}"/>
                </a:ext>
              </a:extLst>
            </p:cNvPr>
            <p:cNvSpPr>
              <a:spLocks/>
            </p:cNvSpPr>
            <p:nvPr/>
          </p:nvSpPr>
          <p:spPr bwMode="auto">
            <a:xfrm rot="7607520">
              <a:off x="7018270" y="1919548"/>
              <a:ext cx="230188" cy="463550"/>
            </a:xfrm>
            <a:custGeom>
              <a:avLst/>
              <a:gdLst>
                <a:gd name="T0" fmla="*/ 870651015 w 83"/>
                <a:gd name="T1" fmla="*/ 0 h 144"/>
                <a:gd name="T2" fmla="*/ 736133196 w 83"/>
                <a:gd name="T3" fmla="*/ 815326751 h 144"/>
                <a:gd name="T4" fmla="*/ 0 w 83"/>
                <a:gd name="T5" fmla="*/ 1434018339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44">
                  <a:moveTo>
                    <a:pt x="82" y="0"/>
                  </a:moveTo>
                  <a:cubicBezTo>
                    <a:pt x="82" y="29"/>
                    <a:pt x="83" y="58"/>
                    <a:pt x="69" y="82"/>
                  </a:cubicBezTo>
                  <a:cubicBezTo>
                    <a:pt x="55" y="106"/>
                    <a:pt x="27" y="125"/>
                    <a:pt x="0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3" name="Text Box 103">
            <a:extLst>
              <a:ext uri="{FF2B5EF4-FFF2-40B4-BE49-F238E27FC236}">
                <a16:creationId xmlns:a16="http://schemas.microsoft.com/office/drawing/2014/main" id="{7C41BDB7-D4FB-89A7-46B3-C68F59A02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1925" y="1898617"/>
            <a:ext cx="199154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sz="2400">
                <a:latin typeface="Arial" panose="020B0604020202020204" pitchFamily="34" charset="0"/>
              </a:rPr>
              <a:t>A</a:t>
            </a:r>
            <a:r>
              <a:rPr lang="en-GB" sz="2400" baseline="-25000">
                <a:latin typeface="Arial" panose="020B0604020202020204" pitchFamily="34" charset="0"/>
              </a:rPr>
              <a:t>t</a:t>
            </a:r>
            <a:r>
              <a:rPr lang="en-GB" sz="2400">
                <a:latin typeface="Arial" panose="020B0604020202020204" pitchFamily="34" charset="0"/>
              </a:rPr>
              <a:t> = |</a:t>
            </a:r>
            <a:r>
              <a:rPr lang="en-GB" sz="2400" b="1" dirty="0">
                <a:latin typeface="Arial" panose="020B0604020202020204" pitchFamily="34" charset="0"/>
              </a:rPr>
              <a:t>A</a:t>
            </a:r>
            <a:r>
              <a:rPr lang="en-GB" sz="2400">
                <a:latin typeface="Arial" panose="020B0604020202020204" pitchFamily="34" charset="0"/>
              </a:rPr>
              <a:t>| cos</a:t>
            </a:r>
            <a:r>
              <a:rPr lang="en-GB" sz="2400">
                <a:latin typeface="Arial" panose="020B0604020202020204" pitchFamily="34" charset="0"/>
                <a:sym typeface="Symbol" panose="05050102010706020507" pitchFamily="18" charset="2"/>
              </a:rPr>
              <a:t>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84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  <p:bldP spid="70" grpId="0"/>
      <p:bldP spid="73" grpId="0" animBg="1"/>
      <p:bldP spid="74" grpId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370FF00C-3DFE-01FE-C114-E058A294A30E}"/>
              </a:ext>
            </a:extLst>
          </p:cNvPr>
          <p:cNvGrpSpPr/>
          <p:nvPr/>
        </p:nvGrpSpPr>
        <p:grpSpPr>
          <a:xfrm>
            <a:off x="2337588" y="5775949"/>
            <a:ext cx="1844953" cy="808037"/>
            <a:chOff x="2337588" y="5775949"/>
            <a:chExt cx="1844953" cy="808037"/>
          </a:xfrm>
        </p:grpSpPr>
        <p:sp>
          <p:nvSpPr>
            <p:cNvPr id="4" name="Line 83">
              <a:extLst>
                <a:ext uri="{FF2B5EF4-FFF2-40B4-BE49-F238E27FC236}">
                  <a16:creationId xmlns:a16="http://schemas.microsoft.com/office/drawing/2014/main" id="{7A41772B-CB9C-886F-9E7A-92B563CE6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7588" y="5775949"/>
              <a:ext cx="1479786" cy="80803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8" name="Object 85">
              <a:extLst>
                <a:ext uri="{FF2B5EF4-FFF2-40B4-BE49-F238E27FC236}">
                  <a16:creationId xmlns:a16="http://schemas.microsoft.com/office/drawing/2014/main" id="{A7D43E05-38A4-2456-096C-1E56B7424A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0044638"/>
                </p:ext>
              </p:extLst>
            </p:nvPr>
          </p:nvGraphicFramePr>
          <p:xfrm>
            <a:off x="3898334" y="6198437"/>
            <a:ext cx="284207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52268" imgH="203024" progId="Equation.3">
                    <p:embed/>
                  </p:oleObj>
                </mc:Choice>
                <mc:Fallback>
                  <p:oleObj name="Ecuación" r:id="rId3" imgW="152268" imgH="203024" progId="Equation.3">
                    <p:embed/>
                    <p:pic>
                      <p:nvPicPr>
                        <p:cNvPr id="17448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8334" y="6198437"/>
                          <a:ext cx="284207" cy="374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365D5A9E-E433-4062-BD53-3371B44275BA}"/>
              </a:ext>
            </a:extLst>
          </p:cNvPr>
          <p:cNvGrpSpPr/>
          <p:nvPr/>
        </p:nvGrpSpPr>
        <p:grpSpPr>
          <a:xfrm>
            <a:off x="4360052" y="1698297"/>
            <a:ext cx="2782168" cy="1330585"/>
            <a:chOff x="4360052" y="1698297"/>
            <a:chExt cx="2782168" cy="1330585"/>
          </a:xfrm>
        </p:grpSpPr>
        <p:sp>
          <p:nvSpPr>
            <p:cNvPr id="17451" name="Rectangle 72"/>
            <p:cNvSpPr>
              <a:spLocks noChangeArrowheads="1"/>
            </p:cNvSpPr>
            <p:nvPr/>
          </p:nvSpPr>
          <p:spPr bwMode="auto">
            <a:xfrm>
              <a:off x="4360052" y="1698297"/>
              <a:ext cx="2782168" cy="132540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7450" name="Object 6"/>
            <p:cNvGraphicFramePr>
              <a:graphicFrameLocks noChangeAspect="1"/>
            </p:cNvGraphicFramePr>
            <p:nvPr/>
          </p:nvGraphicFramePr>
          <p:xfrm>
            <a:off x="4610558" y="1749357"/>
            <a:ext cx="2325688" cy="1279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799753" imgH="444307" progId="Equation.3">
                    <p:embed/>
                  </p:oleObj>
                </mc:Choice>
                <mc:Fallback>
                  <p:oleObj name="Ecuación" r:id="rId5" imgW="799753" imgH="444307" progId="Equation.3">
                    <p:embed/>
                    <p:pic>
                      <p:nvPicPr>
                        <p:cNvPr id="1745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0558" y="1749357"/>
                          <a:ext cx="2325688" cy="1279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269464" y="495313"/>
            <a:ext cx="8653462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2.2.1. LEY DE GAUSS PARA EL CAMPO ELÉCTRICO</a:t>
            </a:r>
          </a:p>
        </p:txBody>
      </p:sp>
      <p:sp>
        <p:nvSpPr>
          <p:cNvPr id="17454" name="Text Box 3"/>
          <p:cNvSpPr txBox="1">
            <a:spLocks noChangeArrowheads="1"/>
          </p:cNvSpPr>
          <p:nvPr/>
        </p:nvSpPr>
        <p:spPr bwMode="auto">
          <a:xfrm>
            <a:off x="1669773" y="3314524"/>
            <a:ext cx="8379101" cy="1253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El flujo eléctrico,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,</a:t>
            </a:r>
            <a:r>
              <a:rPr lang="es-ES" sz="2400" dirty="0">
                <a:latin typeface="Arial" panose="020B0604020202020204" pitchFamily="34" charset="0"/>
              </a:rPr>
              <a:t> a través de una superficie cerrada, S, es igual, a la carga eléctrica, neta, encerrada dentro de dicha superficie, dividida por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aseline="-25000" dirty="0">
                <a:latin typeface="Arial" panose="020B0604020202020204" pitchFamily="34" charset="0"/>
              </a:rPr>
              <a:t>o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102" name="Text Box 109"/>
          <p:cNvSpPr txBox="1">
            <a:spLocks noChangeArrowheads="1"/>
          </p:cNvSpPr>
          <p:nvPr/>
        </p:nvSpPr>
        <p:spPr bwMode="auto">
          <a:xfrm>
            <a:off x="7059532" y="1084360"/>
            <a:ext cx="3262546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 Flujo eléctrico en S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           (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)</a:t>
            </a:r>
          </a:p>
        </p:txBody>
      </p:sp>
      <p:sp>
        <p:nvSpPr>
          <p:cNvPr id="241695" name="Text Box 31"/>
          <p:cNvSpPr txBox="1">
            <a:spLocks noChangeArrowheads="1"/>
          </p:cNvSpPr>
          <p:nvPr/>
        </p:nvSpPr>
        <p:spPr bwMode="auto">
          <a:xfrm>
            <a:off x="8997122" y="473076"/>
            <a:ext cx="1712626" cy="463846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1ª ½ s. XIX</a:t>
            </a:r>
          </a:p>
        </p:txBody>
      </p:sp>
      <p:sp>
        <p:nvSpPr>
          <p:cNvPr id="48" name="Text Box 40"/>
          <p:cNvSpPr txBox="1">
            <a:spLocks noChangeArrowheads="1"/>
          </p:cNvSpPr>
          <p:nvPr/>
        </p:nvSpPr>
        <p:spPr bwMode="auto">
          <a:xfrm>
            <a:off x="6704223" y="5340679"/>
            <a:ext cx="1215493" cy="10178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dirty="0"/>
              <a:t>Flujo</a:t>
            </a:r>
          </a:p>
          <a:p>
            <a:pPr algn="ctr" eaLnBrk="1" hangingPunct="1">
              <a:spcBef>
                <a:spcPts val="0"/>
              </a:spcBef>
            </a:pPr>
            <a:r>
              <a:rPr lang="es-ES" dirty="0"/>
              <a:t>eléctrico</a:t>
            </a:r>
          </a:p>
          <a:p>
            <a:pPr algn="ctr" eaLnBrk="1" hangingPunct="1">
              <a:spcBef>
                <a:spcPts val="0"/>
              </a:spcBef>
            </a:pPr>
            <a:r>
              <a:rPr lang="es-ES" dirty="0"/>
              <a:t>en </a:t>
            </a:r>
            <a:r>
              <a:rPr lang="es-ES" dirty="0" err="1"/>
              <a:t>dS</a:t>
            </a:r>
            <a:endParaRPr lang="es-ES" dirty="0"/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8411431" y="4988718"/>
            <a:ext cx="1910647" cy="16842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dirty="0"/>
              <a:t>Si se evalúa en cada </a:t>
            </a:r>
            <a:r>
              <a:rPr lang="es-ES" dirty="0" err="1"/>
              <a:t>dS</a:t>
            </a:r>
            <a:endParaRPr lang="es-ES" dirty="0"/>
          </a:p>
          <a:p>
            <a:pPr algn="ctr" eaLnBrk="1" hangingPunct="1">
              <a:spcBef>
                <a:spcPts val="0"/>
              </a:spcBef>
            </a:pPr>
            <a:r>
              <a:rPr lang="es-ES" dirty="0"/>
              <a:t>y se suma,</a:t>
            </a:r>
          </a:p>
          <a:p>
            <a:pPr algn="ctr" eaLnBrk="1" hangingPunct="1">
              <a:spcBef>
                <a:spcPts val="0"/>
              </a:spcBef>
            </a:pPr>
            <a:r>
              <a:rPr lang="es-ES" dirty="0"/>
              <a:t>la suma da: </a:t>
            </a:r>
            <a:r>
              <a:rPr lang="es-ES" dirty="0" err="1"/>
              <a:t>Q</a:t>
            </a:r>
            <a:r>
              <a:rPr lang="es-ES" baseline="-25000" dirty="0" err="1"/>
              <a:t>encerrada</a:t>
            </a:r>
            <a:r>
              <a:rPr lang="es-ES" dirty="0"/>
              <a:t>/</a:t>
            </a:r>
            <a:r>
              <a:rPr lang="es-ES" dirty="0">
                <a:sym typeface="Symbol" panose="05050102010706020507" pitchFamily="18" charset="2"/>
              </a:rPr>
              <a:t></a:t>
            </a:r>
            <a:r>
              <a:rPr lang="es-ES" baseline="-25000" dirty="0">
                <a:sym typeface="Symbol" panose="05050102010706020507" pitchFamily="18" charset="2"/>
              </a:rPr>
              <a:t>o</a:t>
            </a:r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7006472" y="2406598"/>
            <a:ext cx="2545361" cy="833178"/>
            <a:chOff x="741632" y="2299808"/>
            <a:chExt cx="2546249" cy="831249"/>
          </a:xfrm>
        </p:grpSpPr>
        <p:sp>
          <p:nvSpPr>
            <p:cNvPr id="17422" name="Text Box 40"/>
            <p:cNvSpPr txBox="1">
              <a:spLocks noChangeArrowheads="1"/>
            </p:cNvSpPr>
            <p:nvPr/>
          </p:nvSpPr>
          <p:spPr bwMode="auto">
            <a:xfrm>
              <a:off x="1205852" y="2299808"/>
              <a:ext cx="2082029" cy="831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Vemos la Ley para </a:t>
              </a:r>
              <a:r>
                <a:rPr lang="es-ES" sz="2400" dirty="0"/>
                <a:t>el vacío</a:t>
              </a:r>
            </a:p>
          </p:txBody>
        </p:sp>
        <p:sp>
          <p:nvSpPr>
            <p:cNvPr id="17423" name="Line 111"/>
            <p:cNvSpPr>
              <a:spLocks noChangeShapeType="1"/>
            </p:cNvSpPr>
            <p:nvPr/>
          </p:nvSpPr>
          <p:spPr bwMode="auto">
            <a:xfrm>
              <a:off x="741632" y="2728051"/>
              <a:ext cx="3601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noAutofit/>
            </a:bodyPr>
            <a:lstStyle/>
            <a:p>
              <a:endParaRPr lang="en-GB"/>
            </a:p>
          </p:txBody>
        </p:sp>
      </p:grpSp>
      <p:grpSp>
        <p:nvGrpSpPr>
          <p:cNvPr id="7" name="46 Grupo"/>
          <p:cNvGrpSpPr>
            <a:grpSpLocks/>
          </p:cNvGrpSpPr>
          <p:nvPr/>
        </p:nvGrpSpPr>
        <p:grpSpPr bwMode="auto">
          <a:xfrm>
            <a:off x="2450148" y="1920013"/>
            <a:ext cx="2033046" cy="833178"/>
            <a:chOff x="-356556" y="1131952"/>
            <a:chExt cx="2032933" cy="833711"/>
          </a:xfrm>
        </p:grpSpPr>
        <p:sp>
          <p:nvSpPr>
            <p:cNvPr id="17438" name="Line 111"/>
            <p:cNvSpPr>
              <a:spLocks noChangeShapeType="1"/>
            </p:cNvSpPr>
            <p:nvPr/>
          </p:nvSpPr>
          <p:spPr bwMode="auto">
            <a:xfrm flipH="1">
              <a:off x="1316396" y="1544126"/>
              <a:ext cx="35998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7439" name="Text Box 112"/>
            <p:cNvSpPr txBox="1">
              <a:spLocks noChangeArrowheads="1"/>
            </p:cNvSpPr>
            <p:nvPr/>
          </p:nvSpPr>
          <p:spPr bwMode="auto">
            <a:xfrm>
              <a:off x="-356556" y="1131952"/>
              <a:ext cx="1583622" cy="833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Superficie cerrada</a:t>
              </a:r>
            </a:p>
          </p:txBody>
        </p:sp>
      </p:grpSp>
      <p:grpSp>
        <p:nvGrpSpPr>
          <p:cNvPr id="68649" name="Group 41"/>
          <p:cNvGrpSpPr>
            <a:grpSpLocks/>
          </p:cNvGrpSpPr>
          <p:nvPr/>
        </p:nvGrpSpPr>
        <p:grpSpPr bwMode="auto">
          <a:xfrm>
            <a:off x="3704738" y="1103936"/>
            <a:ext cx="2889250" cy="692153"/>
            <a:chOff x="2338" y="794"/>
            <a:chExt cx="1820" cy="436"/>
          </a:xfrm>
        </p:grpSpPr>
        <p:sp>
          <p:nvSpPr>
            <p:cNvPr id="17435" name="Text Box 107"/>
            <p:cNvSpPr txBox="1">
              <a:spLocks noChangeArrowheads="1"/>
            </p:cNvSpPr>
            <p:nvPr/>
          </p:nvSpPr>
          <p:spPr bwMode="auto">
            <a:xfrm>
              <a:off x="2338" y="794"/>
              <a:ext cx="18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Flujo de </a:t>
              </a: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 a través de S</a:t>
              </a:r>
              <a:endParaRPr lang="es-ES" sz="24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37" name="AutoShape 61"/>
            <p:cNvSpPr>
              <a:spLocks/>
            </p:cNvSpPr>
            <p:nvPr/>
          </p:nvSpPr>
          <p:spPr bwMode="auto">
            <a:xfrm rot="5400000">
              <a:off x="3299" y="764"/>
              <a:ext cx="151" cy="781"/>
            </a:xfrm>
            <a:prstGeom prst="leftBrace">
              <a:avLst>
                <a:gd name="adj1" fmla="val 43102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10800000" vert="eaVert"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91">
                <a:extLst>
                  <a:ext uri="{FF2B5EF4-FFF2-40B4-BE49-F238E27FC236}">
                    <a16:creationId xmlns:a16="http://schemas.microsoft.com/office/drawing/2014/main" id="{F9E04DFB-470C-402A-87D0-19ACDF007082}"/>
                  </a:ext>
                </a:extLst>
              </p:cNvPr>
              <p:cNvSpPr txBox="1"/>
              <p:nvPr/>
            </p:nvSpPr>
            <p:spPr bwMode="auto">
              <a:xfrm>
                <a:off x="6467811" y="6442889"/>
                <a:ext cx="2153298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→ </m:t>
                      </m:r>
                      <m:sSub>
                        <m:sSub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dS</m:t>
                      </m:r>
                      <m: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3" name="Object 91">
                <a:extLst>
                  <a:ext uri="{FF2B5EF4-FFF2-40B4-BE49-F238E27FC236}">
                    <a16:creationId xmlns:a16="http://schemas.microsoft.com/office/drawing/2014/main" id="{F9E04DFB-470C-402A-87D0-19ACDF007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67811" y="6442889"/>
                <a:ext cx="2153298" cy="396875"/>
              </a:xfrm>
              <a:prstGeom prst="rect">
                <a:avLst/>
              </a:prstGeom>
              <a:blipFill>
                <a:blip r:embed="rId7"/>
                <a:stretch>
                  <a:fillRect b="-169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upo 14">
            <a:extLst>
              <a:ext uri="{FF2B5EF4-FFF2-40B4-BE49-F238E27FC236}">
                <a16:creationId xmlns:a16="http://schemas.microsoft.com/office/drawing/2014/main" id="{E2F3CF3D-62CB-465E-99D5-E0FBDE177C42}"/>
              </a:ext>
            </a:extLst>
          </p:cNvPr>
          <p:cNvGrpSpPr/>
          <p:nvPr/>
        </p:nvGrpSpPr>
        <p:grpSpPr>
          <a:xfrm>
            <a:off x="4624783" y="4800600"/>
            <a:ext cx="1942167" cy="2051047"/>
            <a:chOff x="4619833" y="4800600"/>
            <a:chExt cx="1942167" cy="2051047"/>
          </a:xfrm>
        </p:grpSpPr>
        <p:sp>
          <p:nvSpPr>
            <p:cNvPr id="17429" name="Line 89"/>
            <p:cNvSpPr>
              <a:spLocks noChangeShapeType="1"/>
            </p:cNvSpPr>
            <p:nvPr/>
          </p:nvSpPr>
          <p:spPr bwMode="auto">
            <a:xfrm flipH="1">
              <a:off x="5123634" y="4846635"/>
              <a:ext cx="11110" cy="20050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30" name="Line 90"/>
            <p:cNvSpPr>
              <a:spLocks noChangeShapeType="1"/>
            </p:cNvSpPr>
            <p:nvPr/>
          </p:nvSpPr>
          <p:spPr bwMode="auto">
            <a:xfrm>
              <a:off x="5131569" y="5867397"/>
              <a:ext cx="0" cy="808037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31" name="Freeform 77"/>
            <p:cNvSpPr>
              <a:spLocks/>
            </p:cNvSpPr>
            <p:nvPr/>
          </p:nvSpPr>
          <p:spPr bwMode="auto">
            <a:xfrm>
              <a:off x="4904602" y="5759447"/>
              <a:ext cx="436476" cy="149225"/>
            </a:xfrm>
            <a:custGeom>
              <a:avLst/>
              <a:gdLst>
                <a:gd name="T0" fmla="*/ 0 w 275"/>
                <a:gd name="T1" fmla="*/ 37 h 94"/>
                <a:gd name="T2" fmla="*/ 175 w 275"/>
                <a:gd name="T3" fmla="*/ 0 h 94"/>
                <a:gd name="T4" fmla="*/ 275 w 275"/>
                <a:gd name="T5" fmla="*/ 62 h 94"/>
                <a:gd name="T6" fmla="*/ 106 w 275"/>
                <a:gd name="T7" fmla="*/ 94 h 94"/>
                <a:gd name="T8" fmla="*/ 0 w 275"/>
                <a:gd name="T9" fmla="*/ 37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5"/>
                <a:gd name="T16" fmla="*/ 0 h 94"/>
                <a:gd name="T17" fmla="*/ 275 w 275"/>
                <a:gd name="T18" fmla="*/ 94 h 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5" h="94">
                  <a:moveTo>
                    <a:pt x="0" y="37"/>
                  </a:moveTo>
                  <a:lnTo>
                    <a:pt x="175" y="0"/>
                  </a:lnTo>
                  <a:lnTo>
                    <a:pt x="275" y="62"/>
                  </a:lnTo>
                  <a:lnTo>
                    <a:pt x="106" y="94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32" name="Line 87"/>
            <p:cNvSpPr>
              <a:spLocks noChangeShapeType="1"/>
            </p:cNvSpPr>
            <p:nvPr/>
          </p:nvSpPr>
          <p:spPr bwMode="auto">
            <a:xfrm flipV="1">
              <a:off x="5134744" y="4983160"/>
              <a:ext cx="0" cy="86360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34" name="Object 91"/>
                <p:cNvSpPr txBox="1"/>
                <p:nvPr/>
              </p:nvSpPr>
              <p:spPr bwMode="auto">
                <a:xfrm>
                  <a:off x="5400675" y="6438418"/>
                  <a:ext cx="1150215" cy="396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 lang="es-ES" sz="2400" dirty="0"/>
                </a:p>
              </p:txBody>
            </p:sp>
          </mc:Choice>
          <mc:Fallback xmlns="">
            <p:sp>
              <p:nvSpPr>
                <p:cNvPr id="17434" name="Object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00675" y="6438418"/>
                  <a:ext cx="1150215" cy="396875"/>
                </a:xfrm>
                <a:prstGeom prst="rect">
                  <a:avLst/>
                </a:prstGeom>
                <a:blipFill>
                  <a:blip r:embed="rId8"/>
                  <a:stretch>
                    <a:fillRect l="-1587" b="-169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427" name="Line 119"/>
            <p:cNvSpPr>
              <a:spLocks noChangeShapeType="1"/>
            </p:cNvSpPr>
            <p:nvPr/>
          </p:nvSpPr>
          <p:spPr bwMode="auto">
            <a:xfrm flipV="1">
              <a:off x="5127523" y="5138882"/>
              <a:ext cx="0" cy="6762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7428" name="Object 120"/>
                <p:cNvGraphicFramePr>
                  <a:graphicFrameLocks noChangeAspect="1"/>
                </p:cNvGraphicFramePr>
                <p:nvPr/>
              </p:nvGraphicFramePr>
              <p:xfrm>
                <a:off x="4619833" y="5295207"/>
                <a:ext cx="385686" cy="38576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cuación" r:id="rId9" imgW="215619" imgH="215619" progId="Equation.3">
                        <p:embed/>
                      </p:oleObj>
                    </mc:Choice>
                    <mc:Fallback>
                      <p:oleObj name="Ecuación" r:id="rId9" imgW="215619" imgH="215619" progId="Equation.3">
                        <p:embed/>
                        <p:pic>
                          <p:nvPicPr>
                            <p:cNvPr id="17428" name="Object 1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19833" y="5295207"/>
                              <a:ext cx="385686" cy="38576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7428" name="Object 12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83540291"/>
                    </p:ext>
                  </p:extLst>
                </p:nvPr>
              </p:nvGraphicFramePr>
              <p:xfrm>
                <a:off x="4619833" y="5295207"/>
                <a:ext cx="385686" cy="38576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7711" name="Ecuación" r:id="rId13" imgW="215619" imgH="215619" progId="Equation.3">
                        <p:embed/>
                      </p:oleObj>
                    </mc:Choice>
                    <mc:Fallback>
                      <p:oleObj name="Ecuación" r:id="rId13" imgW="215619" imgH="215619" progId="Equation.3">
                        <p:embed/>
                        <p:pic>
                          <p:nvPicPr>
                            <p:cNvPr id="0" name="Object 1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19833" y="5295207"/>
                              <a:ext cx="385686" cy="38576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17425" name="Text Box 84"/>
            <p:cNvSpPr txBox="1">
              <a:spLocks noChangeArrowheads="1"/>
            </p:cNvSpPr>
            <p:nvPr/>
          </p:nvSpPr>
          <p:spPr bwMode="auto">
            <a:xfrm>
              <a:off x="5339054" y="5683755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 err="1"/>
                <a:t>dS</a:t>
              </a:r>
              <a:endParaRPr lang="es-E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91">
                  <a:extLst>
                    <a:ext uri="{FF2B5EF4-FFF2-40B4-BE49-F238E27FC236}">
                      <a16:creationId xmlns:a16="http://schemas.microsoft.com/office/drawing/2014/main" id="{DE0C3EA8-5D48-4F33-A62D-5D692D3CC238}"/>
                    </a:ext>
                  </a:extLst>
                </p:cNvPr>
                <p:cNvSpPr txBox="1"/>
                <p:nvPr/>
              </p:nvSpPr>
              <p:spPr bwMode="auto">
                <a:xfrm>
                  <a:off x="5333406" y="4800600"/>
                  <a:ext cx="1228594" cy="396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s-ES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ES" sz="2400" dirty="0"/>
                </a:p>
              </p:txBody>
            </p:sp>
          </mc:Choice>
          <mc:Fallback xmlns="">
            <p:sp>
              <p:nvSpPr>
                <p:cNvPr id="13" name="Object 91">
                  <a:extLst>
                    <a:ext uri="{FF2B5EF4-FFF2-40B4-BE49-F238E27FC236}">
                      <a16:creationId xmlns:a16="http://schemas.microsoft.com/office/drawing/2014/main" id="{DE0C3EA8-5D48-4F33-A62D-5D692D3CC2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33406" y="4800600"/>
                  <a:ext cx="1228594" cy="396875"/>
                </a:xfrm>
                <a:prstGeom prst="rect">
                  <a:avLst/>
                </a:prstGeom>
                <a:blipFill>
                  <a:blip r:embed="rId15"/>
                  <a:stretch>
                    <a:fillRect l="-1493" b="-1538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91">
                <a:extLst>
                  <a:ext uri="{FF2B5EF4-FFF2-40B4-BE49-F238E27FC236}">
                    <a16:creationId xmlns:a16="http://schemas.microsoft.com/office/drawing/2014/main" id="{D655616A-CCBE-4C5B-B961-FBF14C5685A2}"/>
                  </a:ext>
                </a:extLst>
              </p:cNvPr>
              <p:cNvSpPr txBox="1"/>
              <p:nvPr/>
            </p:nvSpPr>
            <p:spPr bwMode="auto">
              <a:xfrm>
                <a:off x="6430004" y="4784741"/>
                <a:ext cx="2153298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→ </m:t>
                      </m:r>
                      <m:sSub>
                        <m:sSub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dS</m:t>
                      </m:r>
                      <m:r>
                        <a:rPr lang="es-ES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14" name="Object 91">
                <a:extLst>
                  <a:ext uri="{FF2B5EF4-FFF2-40B4-BE49-F238E27FC236}">
                    <a16:creationId xmlns:a16="http://schemas.microsoft.com/office/drawing/2014/main" id="{D655616A-CCBE-4C5B-B961-FBF14C568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30004" y="4784741"/>
                <a:ext cx="2153298" cy="396875"/>
              </a:xfrm>
              <a:prstGeom prst="rect">
                <a:avLst/>
              </a:prstGeom>
              <a:blipFill>
                <a:blip r:embed="rId16"/>
                <a:stretch>
                  <a:fillRect b="-169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o 9">
            <a:extLst>
              <a:ext uri="{FF2B5EF4-FFF2-40B4-BE49-F238E27FC236}">
                <a16:creationId xmlns:a16="http://schemas.microsoft.com/office/drawing/2014/main" id="{BABBCA62-0CC2-5CD4-6744-913099F51371}"/>
              </a:ext>
            </a:extLst>
          </p:cNvPr>
          <p:cNvGrpSpPr/>
          <p:nvPr/>
        </p:nvGrpSpPr>
        <p:grpSpPr>
          <a:xfrm>
            <a:off x="1200403" y="5395913"/>
            <a:ext cx="3204086" cy="1373187"/>
            <a:chOff x="1200403" y="5395913"/>
            <a:chExt cx="3204086" cy="1373187"/>
          </a:xfrm>
        </p:grpSpPr>
        <p:sp>
          <p:nvSpPr>
            <p:cNvPr id="17441" name="Freeform 78"/>
            <p:cNvSpPr>
              <a:spLocks/>
            </p:cNvSpPr>
            <p:nvPr/>
          </p:nvSpPr>
          <p:spPr bwMode="auto">
            <a:xfrm>
              <a:off x="1200403" y="5395913"/>
              <a:ext cx="3204086" cy="1373187"/>
            </a:xfrm>
            <a:custGeom>
              <a:avLst/>
              <a:gdLst>
                <a:gd name="T0" fmla="*/ 2147483646 w 2018"/>
                <a:gd name="T1" fmla="*/ 2147483646 h 865"/>
                <a:gd name="T2" fmla="*/ 2147483646 w 2018"/>
                <a:gd name="T3" fmla="*/ 2147483646 h 865"/>
                <a:gd name="T4" fmla="*/ 2147483646 w 2018"/>
                <a:gd name="T5" fmla="*/ 2147483646 h 865"/>
                <a:gd name="T6" fmla="*/ 2147483646 w 2018"/>
                <a:gd name="T7" fmla="*/ 2147483646 h 865"/>
                <a:gd name="T8" fmla="*/ 2147483646 w 2018"/>
                <a:gd name="T9" fmla="*/ 2147483646 h 865"/>
                <a:gd name="T10" fmla="*/ 2147483646 w 2018"/>
                <a:gd name="T11" fmla="*/ 2147483646 h 865"/>
                <a:gd name="T12" fmla="*/ 2147483646 w 2018"/>
                <a:gd name="T13" fmla="*/ 2147483646 h 865"/>
                <a:gd name="T14" fmla="*/ 2147483646 w 2018"/>
                <a:gd name="T15" fmla="*/ 2147483646 h 865"/>
                <a:gd name="T16" fmla="*/ 2147483646 w 2018"/>
                <a:gd name="T17" fmla="*/ 2147483646 h 865"/>
                <a:gd name="T18" fmla="*/ 2147483646 w 2018"/>
                <a:gd name="T19" fmla="*/ 2147483646 h 865"/>
                <a:gd name="T20" fmla="*/ 2147483646 w 2018"/>
                <a:gd name="T21" fmla="*/ 2147483646 h 865"/>
                <a:gd name="T22" fmla="*/ 2147483646 w 2018"/>
                <a:gd name="T23" fmla="*/ 2147483646 h 865"/>
                <a:gd name="T24" fmla="*/ 2147483646 w 2018"/>
                <a:gd name="T25" fmla="*/ 2147483646 h 865"/>
                <a:gd name="T26" fmla="*/ 2147483646 w 2018"/>
                <a:gd name="T27" fmla="*/ 2147483646 h 865"/>
                <a:gd name="T28" fmla="*/ 2147483646 w 2018"/>
                <a:gd name="T29" fmla="*/ 2147483646 h 865"/>
                <a:gd name="T30" fmla="*/ 2147483646 w 2018"/>
                <a:gd name="T31" fmla="*/ 2147483646 h 865"/>
                <a:gd name="T32" fmla="*/ 2147483646 w 2018"/>
                <a:gd name="T33" fmla="*/ 2147483646 h 865"/>
                <a:gd name="T34" fmla="*/ 2147483646 w 2018"/>
                <a:gd name="T35" fmla="*/ 2147483646 h 865"/>
                <a:gd name="T36" fmla="*/ 2147483646 w 2018"/>
                <a:gd name="T37" fmla="*/ 2147483646 h 865"/>
                <a:gd name="T38" fmla="*/ 2147483646 w 2018"/>
                <a:gd name="T39" fmla="*/ 2147483646 h 865"/>
                <a:gd name="T40" fmla="*/ 2147483646 w 2018"/>
                <a:gd name="T41" fmla="*/ 2147483646 h 865"/>
                <a:gd name="T42" fmla="*/ 2147483646 w 2018"/>
                <a:gd name="T43" fmla="*/ 2147483646 h 865"/>
                <a:gd name="T44" fmla="*/ 2147483646 w 2018"/>
                <a:gd name="T45" fmla="*/ 2147483646 h 86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2018"/>
                <a:gd name="T70" fmla="*/ 0 h 865"/>
                <a:gd name="T71" fmla="*/ 2018 w 2018"/>
                <a:gd name="T72" fmla="*/ 865 h 86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2018" h="865">
                  <a:moveTo>
                    <a:pt x="125" y="413"/>
                  </a:moveTo>
                  <a:cubicBezTo>
                    <a:pt x="0" y="323"/>
                    <a:pt x="136" y="308"/>
                    <a:pt x="163" y="256"/>
                  </a:cubicBezTo>
                  <a:cubicBezTo>
                    <a:pt x="190" y="204"/>
                    <a:pt x="236" y="135"/>
                    <a:pt x="288" y="100"/>
                  </a:cubicBezTo>
                  <a:cubicBezTo>
                    <a:pt x="340" y="65"/>
                    <a:pt x="416" y="59"/>
                    <a:pt x="476" y="43"/>
                  </a:cubicBezTo>
                  <a:cubicBezTo>
                    <a:pt x="536" y="27"/>
                    <a:pt x="597" y="12"/>
                    <a:pt x="651" y="6"/>
                  </a:cubicBezTo>
                  <a:cubicBezTo>
                    <a:pt x="705" y="0"/>
                    <a:pt x="761" y="4"/>
                    <a:pt x="802" y="6"/>
                  </a:cubicBezTo>
                  <a:cubicBezTo>
                    <a:pt x="843" y="8"/>
                    <a:pt x="861" y="11"/>
                    <a:pt x="895" y="18"/>
                  </a:cubicBezTo>
                  <a:cubicBezTo>
                    <a:pt x="929" y="25"/>
                    <a:pt x="966" y="31"/>
                    <a:pt x="1008" y="50"/>
                  </a:cubicBezTo>
                  <a:cubicBezTo>
                    <a:pt x="1050" y="69"/>
                    <a:pt x="1084" y="100"/>
                    <a:pt x="1146" y="131"/>
                  </a:cubicBezTo>
                  <a:cubicBezTo>
                    <a:pt x="1208" y="162"/>
                    <a:pt x="1307" y="206"/>
                    <a:pt x="1378" y="237"/>
                  </a:cubicBezTo>
                  <a:cubicBezTo>
                    <a:pt x="1449" y="268"/>
                    <a:pt x="1516" y="293"/>
                    <a:pt x="1572" y="319"/>
                  </a:cubicBezTo>
                  <a:cubicBezTo>
                    <a:pt x="1628" y="345"/>
                    <a:pt x="1646" y="359"/>
                    <a:pt x="1716" y="394"/>
                  </a:cubicBezTo>
                  <a:cubicBezTo>
                    <a:pt x="1786" y="429"/>
                    <a:pt x="1964" y="520"/>
                    <a:pt x="1991" y="532"/>
                  </a:cubicBezTo>
                  <a:cubicBezTo>
                    <a:pt x="2018" y="544"/>
                    <a:pt x="1922" y="485"/>
                    <a:pt x="1878" y="469"/>
                  </a:cubicBezTo>
                  <a:cubicBezTo>
                    <a:pt x="1834" y="453"/>
                    <a:pt x="1789" y="443"/>
                    <a:pt x="1728" y="438"/>
                  </a:cubicBezTo>
                  <a:cubicBezTo>
                    <a:pt x="1667" y="433"/>
                    <a:pt x="1586" y="430"/>
                    <a:pt x="1509" y="438"/>
                  </a:cubicBezTo>
                  <a:cubicBezTo>
                    <a:pt x="1432" y="446"/>
                    <a:pt x="1323" y="471"/>
                    <a:pt x="1265" y="488"/>
                  </a:cubicBezTo>
                  <a:cubicBezTo>
                    <a:pt x="1207" y="505"/>
                    <a:pt x="1191" y="513"/>
                    <a:pt x="1158" y="538"/>
                  </a:cubicBezTo>
                  <a:cubicBezTo>
                    <a:pt x="1125" y="563"/>
                    <a:pt x="1088" y="599"/>
                    <a:pt x="1065" y="638"/>
                  </a:cubicBezTo>
                  <a:cubicBezTo>
                    <a:pt x="1042" y="677"/>
                    <a:pt x="1031" y="738"/>
                    <a:pt x="1021" y="770"/>
                  </a:cubicBezTo>
                  <a:cubicBezTo>
                    <a:pt x="1011" y="802"/>
                    <a:pt x="1020" y="828"/>
                    <a:pt x="1002" y="832"/>
                  </a:cubicBezTo>
                  <a:cubicBezTo>
                    <a:pt x="984" y="836"/>
                    <a:pt x="1060" y="865"/>
                    <a:pt x="914" y="795"/>
                  </a:cubicBezTo>
                  <a:cubicBezTo>
                    <a:pt x="768" y="725"/>
                    <a:pt x="250" y="503"/>
                    <a:pt x="125" y="413"/>
                  </a:cubicBezTo>
                  <a:close/>
                </a:path>
              </a:pathLst>
            </a:custGeom>
            <a:solidFill>
              <a:srgbClr val="FFFF99">
                <a:alpha val="69804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43" name="Text Box 80"/>
            <p:cNvSpPr txBox="1">
              <a:spLocks noChangeArrowheads="1"/>
            </p:cNvSpPr>
            <p:nvPr/>
          </p:nvSpPr>
          <p:spPr bwMode="auto">
            <a:xfrm>
              <a:off x="1471388" y="5865366"/>
              <a:ext cx="1223412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/>
                <a:t>S  </a:t>
              </a:r>
              <a:endParaRPr lang="es-ES" sz="2400" dirty="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(cerrada)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931AECB-D389-D368-82F9-9658D1178CC5}"/>
              </a:ext>
            </a:extLst>
          </p:cNvPr>
          <p:cNvGrpSpPr/>
          <p:nvPr/>
        </p:nvGrpSpPr>
        <p:grpSpPr>
          <a:xfrm>
            <a:off x="2364226" y="4705593"/>
            <a:ext cx="1799509" cy="1057032"/>
            <a:chOff x="2364226" y="4705593"/>
            <a:chExt cx="1799509" cy="1057032"/>
          </a:xfrm>
        </p:grpSpPr>
        <p:sp>
          <p:nvSpPr>
            <p:cNvPr id="17446" name="Line 83"/>
            <p:cNvSpPr>
              <a:spLocks noChangeShapeType="1"/>
            </p:cNvSpPr>
            <p:nvPr/>
          </p:nvSpPr>
          <p:spPr bwMode="auto">
            <a:xfrm flipV="1">
              <a:off x="2364226" y="4954588"/>
              <a:ext cx="1479786" cy="80803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17448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8170431"/>
                </p:ext>
              </p:extLst>
            </p:nvPr>
          </p:nvGraphicFramePr>
          <p:xfrm>
            <a:off x="3889154" y="4705593"/>
            <a:ext cx="274581" cy="3619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52268" imgH="203024" progId="Equation.3">
                    <p:embed/>
                  </p:oleObj>
                </mc:Choice>
                <mc:Fallback>
                  <p:oleObj name="Ecuación" r:id="rId3" imgW="152268" imgH="203024" progId="Equation.3">
                    <p:embed/>
                    <p:pic>
                      <p:nvPicPr>
                        <p:cNvPr id="17448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9154" y="4705593"/>
                          <a:ext cx="274581" cy="3619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98D1FFB-1652-783F-6DA7-FCCA44A0D1F6}"/>
              </a:ext>
            </a:extLst>
          </p:cNvPr>
          <p:cNvGrpSpPr/>
          <p:nvPr/>
        </p:nvGrpSpPr>
        <p:grpSpPr>
          <a:xfrm>
            <a:off x="1687356" y="4772025"/>
            <a:ext cx="1186539" cy="2005013"/>
            <a:chOff x="1687356" y="4772025"/>
            <a:chExt cx="1186539" cy="2005013"/>
          </a:xfrm>
        </p:grpSpPr>
        <p:sp>
          <p:nvSpPr>
            <p:cNvPr id="17440" name="Line 86"/>
            <p:cNvSpPr>
              <a:spLocks noChangeShapeType="1"/>
            </p:cNvSpPr>
            <p:nvPr/>
          </p:nvSpPr>
          <p:spPr bwMode="auto">
            <a:xfrm flipH="1">
              <a:off x="2354699" y="4772025"/>
              <a:ext cx="11115" cy="20050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42" name="Freeform 79"/>
            <p:cNvSpPr>
              <a:spLocks/>
            </p:cNvSpPr>
            <p:nvPr/>
          </p:nvSpPr>
          <p:spPr bwMode="auto">
            <a:xfrm>
              <a:off x="2146704" y="5694363"/>
              <a:ext cx="436632" cy="149225"/>
            </a:xfrm>
            <a:custGeom>
              <a:avLst/>
              <a:gdLst>
                <a:gd name="T0" fmla="*/ 0 w 275"/>
                <a:gd name="T1" fmla="*/ 2147483646 h 94"/>
                <a:gd name="T2" fmla="*/ 2147483646 w 275"/>
                <a:gd name="T3" fmla="*/ 0 h 94"/>
                <a:gd name="T4" fmla="*/ 2147483646 w 275"/>
                <a:gd name="T5" fmla="*/ 2147483646 h 94"/>
                <a:gd name="T6" fmla="*/ 2147483646 w 275"/>
                <a:gd name="T7" fmla="*/ 2147483646 h 94"/>
                <a:gd name="T8" fmla="*/ 0 w 275"/>
                <a:gd name="T9" fmla="*/ 2147483646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5"/>
                <a:gd name="T16" fmla="*/ 0 h 94"/>
                <a:gd name="T17" fmla="*/ 275 w 275"/>
                <a:gd name="T18" fmla="*/ 94 h 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5" h="94">
                  <a:moveTo>
                    <a:pt x="0" y="37"/>
                  </a:moveTo>
                  <a:lnTo>
                    <a:pt x="175" y="0"/>
                  </a:lnTo>
                  <a:lnTo>
                    <a:pt x="275" y="62"/>
                  </a:lnTo>
                  <a:lnTo>
                    <a:pt x="106" y="94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C0C0C0">
                <a:alpha val="69804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44" name="Line 81"/>
            <p:cNvSpPr>
              <a:spLocks noChangeShapeType="1"/>
            </p:cNvSpPr>
            <p:nvPr/>
          </p:nvSpPr>
          <p:spPr bwMode="auto">
            <a:xfrm flipV="1">
              <a:off x="2365814" y="5095875"/>
              <a:ext cx="0" cy="6762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17445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3497426"/>
                </p:ext>
              </p:extLst>
            </p:nvPr>
          </p:nvGraphicFramePr>
          <p:xfrm>
            <a:off x="2488070" y="4811713"/>
            <a:ext cx="385825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7" imgW="215619" imgH="215619" progId="Equation.3">
                    <p:embed/>
                  </p:oleObj>
                </mc:Choice>
                <mc:Fallback>
                  <p:oleObj name="Ecuación" r:id="rId17" imgW="215619" imgH="215619" progId="Equation.3">
                    <p:embed/>
                    <p:pic>
                      <p:nvPicPr>
                        <p:cNvPr id="17445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8070" y="4811713"/>
                          <a:ext cx="385825" cy="385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7" name="Text Box 84"/>
            <p:cNvSpPr txBox="1">
              <a:spLocks noChangeArrowheads="1"/>
            </p:cNvSpPr>
            <p:nvPr/>
          </p:nvSpPr>
          <p:spPr bwMode="auto">
            <a:xfrm>
              <a:off x="1687356" y="5487811"/>
              <a:ext cx="5100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/>
                <a:t>dS</a:t>
              </a:r>
            </a:p>
          </p:txBody>
        </p:sp>
      </p:grpSp>
      <p:sp>
        <p:nvSpPr>
          <p:cNvPr id="9" name="Text Box 80">
            <a:extLst>
              <a:ext uri="{FF2B5EF4-FFF2-40B4-BE49-F238E27FC236}">
                <a16:creationId xmlns:a16="http://schemas.microsoft.com/office/drawing/2014/main" id="{8406E4F0-EA4C-1CCC-CFAE-8D3253A4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765" y="5101804"/>
            <a:ext cx="12394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(saliente)</a:t>
            </a:r>
            <a:endParaRPr lang="es-E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Box 80">
            <a:extLst>
              <a:ext uri="{FF2B5EF4-FFF2-40B4-BE49-F238E27FC236}">
                <a16:creationId xmlns:a16="http://schemas.microsoft.com/office/drawing/2014/main" id="{9FAE93A1-62A6-09D0-A34F-D4FC7AA9F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3399" y="6575602"/>
            <a:ext cx="12939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(entrante)</a:t>
            </a:r>
            <a:endParaRPr lang="es-E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1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4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54" grpId="0" animBg="1"/>
      <p:bldP spid="3102" grpId="0"/>
      <p:bldP spid="241695" grpId="0" animBg="1"/>
      <p:bldP spid="48" grpId="0" animBg="1"/>
      <p:bldP spid="47" grpId="0" animBg="1"/>
      <p:bldP spid="3" grpId="0"/>
      <p:bldP spid="14" grpId="0"/>
      <p:bldP spid="9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2">
            <a:extLst>
              <a:ext uri="{FF2B5EF4-FFF2-40B4-BE49-F238E27FC236}">
                <a16:creationId xmlns:a16="http://schemas.microsoft.com/office/drawing/2014/main" id="{8C30BC8F-44F1-4166-A066-4C71A601C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551" y="861940"/>
            <a:ext cx="2612267" cy="1204913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3719" name="Rectangle 7"/>
          <p:cNvSpPr>
            <a:spLocks noChangeArrowheads="1"/>
          </p:cNvSpPr>
          <p:nvPr/>
        </p:nvSpPr>
        <p:spPr bwMode="auto">
          <a:xfrm>
            <a:off x="2163763" y="2364599"/>
            <a:ext cx="8213614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44000" tIns="72000" rIns="108000" bIns="72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80975" algn="r"/>
                <a:tab pos="2700338" algn="ctr"/>
                <a:tab pos="5400675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80975" algn="r"/>
                <a:tab pos="2700338" algn="ctr"/>
                <a:tab pos="5400675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80975" algn="r"/>
                <a:tab pos="2700338" algn="ctr"/>
                <a:tab pos="5400675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Indica que cualquier carga eléctrica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genera un campo eléctrico</a:t>
            </a:r>
            <a:endParaRPr lang="es-ES" sz="2400" dirty="0">
              <a:latin typeface="Arial" panose="020B060402020202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101" name="Text Box 10"/>
          <p:cNvSpPr txBox="1">
            <a:spLocks noChangeArrowheads="1"/>
          </p:cNvSpPr>
          <p:nvPr/>
        </p:nvSpPr>
        <p:spPr bwMode="auto">
          <a:xfrm>
            <a:off x="2425035" y="3611349"/>
            <a:ext cx="3049587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Si Q 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0</a:t>
            </a:r>
            <a:r>
              <a:rPr lang="es-ES" sz="2400" dirty="0">
                <a:solidFill>
                  <a:srgbClr val="0099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 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0</a:t>
            </a:r>
            <a:endParaRPr lang="es-ES" sz="2400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43723" name="Text Box 11"/>
          <p:cNvSpPr txBox="1">
            <a:spLocks noChangeArrowheads="1"/>
          </p:cNvSpPr>
          <p:nvPr/>
        </p:nvSpPr>
        <p:spPr bwMode="auto">
          <a:xfrm>
            <a:off x="4624831" y="304346"/>
            <a:ext cx="29955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EFECTO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 </a:t>
            </a:r>
            <a:r>
              <a:rPr lang="es-E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CAUSA</a:t>
            </a:r>
          </a:p>
        </p:txBody>
      </p:sp>
      <p:sp>
        <p:nvSpPr>
          <p:cNvPr id="4106" name="Text Box 109"/>
          <p:cNvSpPr txBox="1">
            <a:spLocks noChangeArrowheads="1"/>
          </p:cNvSpPr>
          <p:nvPr/>
        </p:nvSpPr>
        <p:spPr bwMode="auto">
          <a:xfrm>
            <a:off x="1534193" y="2364674"/>
            <a:ext cx="561152" cy="884070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4800">
                <a:solidFill>
                  <a:srgbClr val="FFFF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</a:t>
            </a:r>
          </a:p>
        </p:txBody>
      </p:sp>
      <p:sp>
        <p:nvSpPr>
          <p:cNvPr id="2" name="Text Box 10"/>
          <p:cNvSpPr txBox="1">
            <a:spLocks noChangeArrowheads="1"/>
          </p:cNvSpPr>
          <p:nvPr/>
        </p:nvSpPr>
        <p:spPr bwMode="auto">
          <a:xfrm>
            <a:off x="3678531" y="4179344"/>
            <a:ext cx="6043613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Al menos 1 sumando (un producto)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 0</a:t>
            </a:r>
            <a:endParaRPr lang="es-ES" sz="2400" b="1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 flipH="1">
            <a:off x="3675354" y="4704806"/>
            <a:ext cx="5905063" cy="521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Los factores de ese producto son  0</a:t>
            </a:r>
            <a:endParaRPr lang="es-ES" sz="2400" b="1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3977737" y="5940958"/>
            <a:ext cx="1604962" cy="461665"/>
          </a:xfrm>
          <a:prstGeom prst="rect">
            <a:avLst/>
          </a:prstGeom>
          <a:noFill/>
          <a:ln>
            <a:noFill/>
          </a:ln>
        </p:spPr>
        <p:txBody>
          <a:bodyPr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: existe</a:t>
            </a:r>
            <a:endParaRPr lang="es-ES" sz="2400" b="1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9468" name="Text Box 10"/>
          <p:cNvSpPr txBox="1">
            <a:spLocks noChangeArrowheads="1"/>
          </p:cNvSpPr>
          <p:nvPr/>
        </p:nvSpPr>
        <p:spPr bwMode="auto">
          <a:xfrm>
            <a:off x="3674728" y="5290593"/>
            <a:ext cx="1636712" cy="521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 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B15D43A8-490A-44CD-94D0-0C9014459E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792930"/>
              </p:ext>
            </p:extLst>
          </p:nvPr>
        </p:nvGraphicFramePr>
        <p:xfrm>
          <a:off x="4633464" y="824635"/>
          <a:ext cx="2325688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799753" imgH="444307" progId="Equation.3">
                  <p:embed/>
                </p:oleObj>
              </mc:Choice>
              <mc:Fallback>
                <p:oleObj name="Ecuación" r:id="rId3" imgW="799753" imgH="444307" progId="Equation.3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B15D43A8-490A-44CD-94D0-0C9014459E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464" y="824635"/>
                        <a:ext cx="2325688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F9CD86D2-91F9-42B9-821C-D393414C9BB1}"/>
              </a:ext>
            </a:extLst>
          </p:cNvPr>
          <p:cNvSpPr txBox="1"/>
          <p:nvPr/>
        </p:nvSpPr>
        <p:spPr>
          <a:xfrm>
            <a:off x="3723887" y="1103320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dirty="0">
                <a:sym typeface="Symbol" panose="05050102010706020507" pitchFamily="18" charset="2"/>
              </a:rPr>
              <a:t> =</a:t>
            </a:r>
            <a:endParaRPr lang="es-E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4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9" grpId="0" animBg="1"/>
      <p:bldP spid="4101" grpId="0"/>
      <p:bldP spid="243723" grpId="0"/>
      <p:bldP spid="4106" grpId="0" animBg="1"/>
      <p:bldP spid="2" grpId="0"/>
      <p:bldP spid="3" grpId="0"/>
      <p:bldP spid="4" grpId="0"/>
      <p:bldP spid="19468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8" name="Text Box 114"/>
          <p:cNvSpPr txBox="1">
            <a:spLocks noChangeArrowheads="1"/>
          </p:cNvSpPr>
          <p:nvPr/>
        </p:nvSpPr>
        <p:spPr bwMode="auto">
          <a:xfrm>
            <a:off x="1532573" y="2360830"/>
            <a:ext cx="561152" cy="884070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4800">
                <a:solidFill>
                  <a:srgbClr val="FFFF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2</a:t>
            </a:r>
          </a:p>
        </p:txBody>
      </p:sp>
      <p:sp>
        <p:nvSpPr>
          <p:cNvPr id="243827" name="Rectangle 115"/>
          <p:cNvSpPr>
            <a:spLocks noChangeArrowheads="1"/>
          </p:cNvSpPr>
          <p:nvPr/>
        </p:nvSpPr>
        <p:spPr bwMode="auto">
          <a:xfrm>
            <a:off x="2173766" y="2375886"/>
            <a:ext cx="8203609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44000" tIns="72000" rIns="108000" bIns="72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80975" algn="r"/>
                <a:tab pos="2700338" algn="ctr"/>
                <a:tab pos="5400675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80975" algn="r"/>
                <a:tab pos="2700338" algn="ctr"/>
                <a:tab pos="5400675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80975" algn="r"/>
                <a:tab pos="2700338" algn="ctr"/>
                <a:tab pos="5400675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Indica que </a:t>
            </a:r>
            <a:r>
              <a:rPr lang="es-ES" sz="2400" dirty="0">
                <a:latin typeface="Arial" panose="020B0604020202020204" pitchFamily="34" charset="0"/>
              </a:rPr>
              <a:t>el flujo eléctrico a través de cualquier superficie cerrada en torno a una </a:t>
            </a:r>
            <a:r>
              <a:rPr lang="es-ES" sz="2400">
                <a:latin typeface="Arial" panose="020B0604020202020204" pitchFamily="34" charset="0"/>
              </a:rPr>
              <a:t>carga solamente </a:t>
            </a:r>
            <a:r>
              <a:rPr lang="es-ES" sz="2400" dirty="0">
                <a:latin typeface="Arial" panose="020B0604020202020204" pitchFamily="34" charset="0"/>
              </a:rPr>
              <a:t>se debe a ella</a:t>
            </a:r>
          </a:p>
        </p:txBody>
      </p:sp>
      <p:sp>
        <p:nvSpPr>
          <p:cNvPr id="14" name="Text Box 113"/>
          <p:cNvSpPr txBox="1">
            <a:spLocks noChangeArrowheads="1"/>
          </p:cNvSpPr>
          <p:nvPr/>
        </p:nvSpPr>
        <p:spPr bwMode="auto">
          <a:xfrm>
            <a:off x="2173767" y="3744987"/>
            <a:ext cx="2484992" cy="57714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 Si </a:t>
            </a:r>
            <a:r>
              <a:rPr lang="es-ES" sz="2400" dirty="0" err="1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s-ES" sz="2400" baseline="-25000" dirty="0" err="1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encerrada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= 0</a:t>
            </a:r>
            <a:endParaRPr lang="es-ES" sz="2400" dirty="0">
              <a:latin typeface="Arial" panose="020B060402020202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Text Box 113"/>
          <p:cNvSpPr txBox="1">
            <a:spLocks noChangeArrowheads="1"/>
          </p:cNvSpPr>
          <p:nvPr/>
        </p:nvSpPr>
        <p:spPr bwMode="auto">
          <a:xfrm>
            <a:off x="2097566" y="4672015"/>
            <a:ext cx="8284684" cy="630219"/>
          </a:xfrm>
          <a:prstGeom prst="rect">
            <a:avLst/>
          </a:prstGeom>
          <a:noFill/>
          <a:ln>
            <a:noFill/>
          </a:ln>
        </p:spPr>
        <p:txBody>
          <a:bodyPr wrap="square" lIns="144000" tIns="72000" rIns="144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 Las cargas que están fuera generan un flujo neto </a:t>
            </a: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nulo.</a:t>
            </a:r>
            <a:endParaRPr lang="es-ES" sz="2400" dirty="0">
              <a:latin typeface="Arial" panose="020B060402020202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Text Box 113">
            <a:extLst>
              <a:ext uri="{FF2B5EF4-FFF2-40B4-BE49-F238E27FC236}">
                <a16:creationId xmlns:a16="http://schemas.microsoft.com/office/drawing/2014/main" id="{9EBCFBCA-D408-EADB-3800-CAACA9C00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093" y="5347832"/>
            <a:ext cx="7918347" cy="1184217"/>
          </a:xfrm>
          <a:prstGeom prst="rect">
            <a:avLst/>
          </a:prstGeom>
          <a:noFill/>
          <a:ln>
            <a:noFill/>
          </a:ln>
        </p:spPr>
        <p:txBody>
          <a:bodyPr wrap="square" lIns="144000" tIns="72000" rIns="144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Crean un  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es-ES" sz="2400" baseline="-2500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saliente</a:t>
            </a: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 =   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es-ES" sz="2400" baseline="-2500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entrante</a:t>
            </a: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 con  </a:t>
            </a:r>
            <a:r>
              <a:rPr lang="es-ES" sz="2400" baseline="-2500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saliente</a:t>
            </a: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 &gt; 0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                     y  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es-ES" sz="2400" baseline="-25000" dirty="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entrante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&lt; 0</a:t>
            </a:r>
          </a:p>
        </p:txBody>
      </p:sp>
      <p:sp>
        <p:nvSpPr>
          <p:cNvPr id="4" name="Text Box 113">
            <a:extLst>
              <a:ext uri="{FF2B5EF4-FFF2-40B4-BE49-F238E27FC236}">
                <a16:creationId xmlns:a16="http://schemas.microsoft.com/office/drawing/2014/main" id="{FFA7AEB0-EE72-0FC0-9E11-B59DF1CAF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206" y="3743935"/>
            <a:ext cx="5815432" cy="57714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 </a:t>
            </a:r>
            <a:r>
              <a:rPr lang="es-ES" sz="2400" dirty="0">
                <a:latin typeface="Arial" panose="020B06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 = 0 para cualquier S que la rodee</a:t>
            </a:r>
          </a:p>
        </p:txBody>
      </p:sp>
      <p:sp>
        <p:nvSpPr>
          <p:cNvPr id="3" name="Rectangle 72">
            <a:extLst>
              <a:ext uri="{FF2B5EF4-FFF2-40B4-BE49-F238E27FC236}">
                <a16:creationId xmlns:a16="http://schemas.microsoft.com/office/drawing/2014/main" id="{67139D01-C3E7-E4EB-7A1A-284312738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551" y="861940"/>
            <a:ext cx="2612267" cy="1204913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AAF359D9-F579-50CE-64E6-8CE625C845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32626"/>
              </p:ext>
            </p:extLst>
          </p:nvPr>
        </p:nvGraphicFramePr>
        <p:xfrm>
          <a:off x="4633464" y="824635"/>
          <a:ext cx="2325688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799753" imgH="444307" progId="Equation.3">
                  <p:embed/>
                </p:oleObj>
              </mc:Choice>
              <mc:Fallback>
                <p:oleObj name="Ecuación" r:id="rId3" imgW="799753" imgH="444307" progId="Equation.3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B15D43A8-490A-44CD-94D0-0C9014459E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464" y="824635"/>
                        <a:ext cx="2325688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D3FBAE7D-DCCF-6DCB-3016-68A7C8CE0737}"/>
              </a:ext>
            </a:extLst>
          </p:cNvPr>
          <p:cNvSpPr txBox="1"/>
          <p:nvPr/>
        </p:nvSpPr>
        <p:spPr>
          <a:xfrm>
            <a:off x="3723887" y="1103320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dirty="0">
                <a:sym typeface="Symbol" panose="05050102010706020507" pitchFamily="18" charset="2"/>
              </a:rPr>
              <a:t> =</a:t>
            </a:r>
            <a:endParaRPr lang="es-ES" sz="3600" dirty="0"/>
          </a:p>
        </p:txBody>
      </p:sp>
    </p:spTree>
    <p:extLst>
      <p:ext uri="{BB962C8B-B14F-4D97-AF65-F5344CB8AC3E}">
        <p14:creationId xmlns:p14="http://schemas.microsoft.com/office/powerpoint/2010/main" val="275879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4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8" grpId="0" animBg="1"/>
      <p:bldP spid="243827" grpId="0" animBg="1"/>
      <p:bldP spid="14" grpId="0"/>
      <p:bldP spid="6" grpId="0"/>
      <p:bldP spid="2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3650629" y="4500346"/>
            <a:ext cx="1804080" cy="1773442"/>
            <a:chOff x="3783648" y="4875371"/>
            <a:chExt cx="1804080" cy="1773442"/>
          </a:xfrm>
        </p:grpSpPr>
        <p:sp>
          <p:nvSpPr>
            <p:cNvPr id="64" name="Line 57"/>
            <p:cNvSpPr>
              <a:spLocks noChangeShapeType="1"/>
            </p:cNvSpPr>
            <p:nvPr/>
          </p:nvSpPr>
          <p:spPr bwMode="auto">
            <a:xfrm>
              <a:off x="4980768" y="6044958"/>
              <a:ext cx="436563" cy="428625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65" name="Line 57"/>
            <p:cNvSpPr>
              <a:spLocks noChangeShapeType="1"/>
            </p:cNvSpPr>
            <p:nvPr/>
          </p:nvSpPr>
          <p:spPr bwMode="auto">
            <a:xfrm flipH="1" flipV="1">
              <a:off x="3984133" y="5076668"/>
              <a:ext cx="436563" cy="428625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66" name="Line 57"/>
            <p:cNvSpPr>
              <a:spLocks noChangeShapeType="1"/>
            </p:cNvSpPr>
            <p:nvPr/>
          </p:nvSpPr>
          <p:spPr bwMode="auto">
            <a:xfrm flipH="1">
              <a:off x="3972648" y="6032489"/>
              <a:ext cx="436563" cy="428625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67" name="Line 57"/>
            <p:cNvSpPr>
              <a:spLocks noChangeShapeType="1"/>
            </p:cNvSpPr>
            <p:nvPr/>
          </p:nvSpPr>
          <p:spPr bwMode="auto">
            <a:xfrm rot="2700000" flipH="1" flipV="1">
              <a:off x="4474514" y="4879340"/>
              <a:ext cx="436563" cy="428625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68" name="Line 57"/>
            <p:cNvSpPr>
              <a:spLocks noChangeShapeType="1"/>
            </p:cNvSpPr>
            <p:nvPr/>
          </p:nvSpPr>
          <p:spPr bwMode="auto">
            <a:xfrm rot="18900000" flipH="1">
              <a:off x="4465003" y="6220188"/>
              <a:ext cx="436563" cy="428625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69" name="Line 57"/>
            <p:cNvSpPr>
              <a:spLocks noChangeShapeType="1"/>
            </p:cNvSpPr>
            <p:nvPr/>
          </p:nvSpPr>
          <p:spPr bwMode="auto">
            <a:xfrm rot="18900000" flipH="1" flipV="1">
              <a:off x="3783648" y="5570696"/>
              <a:ext cx="436563" cy="428625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70" name="Line 57"/>
            <p:cNvSpPr>
              <a:spLocks noChangeShapeType="1"/>
            </p:cNvSpPr>
            <p:nvPr/>
          </p:nvSpPr>
          <p:spPr bwMode="auto">
            <a:xfrm rot="13500000" flipH="1">
              <a:off x="5155134" y="5560535"/>
              <a:ext cx="436563" cy="428625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3613" name="Line 57"/>
            <p:cNvSpPr>
              <a:spLocks noChangeShapeType="1"/>
            </p:cNvSpPr>
            <p:nvPr/>
          </p:nvSpPr>
          <p:spPr bwMode="auto">
            <a:xfrm flipV="1">
              <a:off x="4960937" y="5060316"/>
              <a:ext cx="436563" cy="428625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</p:grpSp>
      <p:sp>
        <p:nvSpPr>
          <p:cNvPr id="282629" name="Rectangle 5"/>
          <p:cNvSpPr>
            <a:spLocks noChangeArrowheads="1"/>
          </p:cNvSpPr>
          <p:nvPr/>
        </p:nvSpPr>
        <p:spPr bwMode="auto">
          <a:xfrm>
            <a:off x="2174240" y="1860409"/>
            <a:ext cx="8194652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44000" tIns="72000" rIns="108000" bIns="72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80975" algn="r"/>
                <a:tab pos="2700338" algn="ctr"/>
                <a:tab pos="5400675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80975" algn="r"/>
                <a:tab pos="2700338" algn="ctr"/>
                <a:tab pos="5400675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80975" algn="r"/>
                <a:tab pos="2700338" algn="ctr"/>
                <a:tab pos="5400675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0975" algn="r"/>
                <a:tab pos="2700338" algn="ctr"/>
                <a:tab pos="5400675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</a:rPr>
              <a:t>Refleja que </a:t>
            </a:r>
            <a:r>
              <a:rPr lang="es-ES" sz="2400">
                <a:latin typeface="Arial" panose="020B0604020202020204" pitchFamily="34" charset="0"/>
              </a:rPr>
              <a:t>las líneas de campo</a:t>
            </a: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</a:rPr>
              <a:t> eléctrico emergen de cargas positivas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  <a:cs typeface="Times New Roman" panose="02020603050405020304" pitchFamily="18" charset="0"/>
              </a:rPr>
              <a:t>y convergen sobre cargas negativas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8704413" y="4789701"/>
            <a:ext cx="1169984" cy="1618752"/>
            <a:chOff x="8733156" y="5175875"/>
            <a:chExt cx="1169984" cy="1618752"/>
          </a:xfrm>
        </p:grpSpPr>
        <p:sp>
          <p:nvSpPr>
            <p:cNvPr id="23617" name="Oval 33"/>
            <p:cNvSpPr>
              <a:spLocks noChangeArrowheads="1"/>
            </p:cNvSpPr>
            <p:nvPr/>
          </p:nvSpPr>
          <p:spPr bwMode="auto">
            <a:xfrm>
              <a:off x="8733156" y="5175875"/>
              <a:ext cx="1169984" cy="1169998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18" name="Text Box 43"/>
            <p:cNvSpPr txBox="1">
              <a:spLocks noChangeArrowheads="1"/>
            </p:cNvSpPr>
            <p:nvPr/>
          </p:nvSpPr>
          <p:spPr bwMode="auto">
            <a:xfrm>
              <a:off x="8758844" y="6330781"/>
              <a:ext cx="386942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S</a:t>
              </a: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4076382" y="5012280"/>
            <a:ext cx="854076" cy="1295400"/>
            <a:chOff x="4208462" y="5398454"/>
            <a:chExt cx="854076" cy="1295400"/>
          </a:xfrm>
        </p:grpSpPr>
        <p:sp>
          <p:nvSpPr>
            <p:cNvPr id="23611" name="Oval 20"/>
            <p:cNvSpPr>
              <a:spLocks noChangeArrowheads="1"/>
            </p:cNvSpPr>
            <p:nvPr/>
          </p:nvSpPr>
          <p:spPr bwMode="auto">
            <a:xfrm>
              <a:off x="4324350" y="5398454"/>
              <a:ext cx="738188" cy="738188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12" name="Text Box 42"/>
            <p:cNvSpPr txBox="1">
              <a:spLocks noChangeArrowheads="1"/>
            </p:cNvSpPr>
            <p:nvPr/>
          </p:nvSpPr>
          <p:spPr bwMode="auto">
            <a:xfrm>
              <a:off x="4208462" y="6230304"/>
              <a:ext cx="387350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S</a:t>
              </a:r>
            </a:p>
          </p:txBody>
        </p:sp>
      </p:grpSp>
      <p:grpSp>
        <p:nvGrpSpPr>
          <p:cNvPr id="23614" name="Group 61"/>
          <p:cNvGrpSpPr>
            <a:grpSpLocks/>
          </p:cNvGrpSpPr>
          <p:nvPr/>
        </p:nvGrpSpPr>
        <p:grpSpPr bwMode="auto">
          <a:xfrm>
            <a:off x="4932045" y="4209957"/>
            <a:ext cx="574675" cy="463550"/>
            <a:chOff x="5774" y="1288"/>
            <a:chExt cx="294" cy="292"/>
          </a:xfrm>
        </p:grpSpPr>
        <p:sp>
          <p:nvSpPr>
            <p:cNvPr id="23615" name="Text Box 62"/>
            <p:cNvSpPr txBox="1">
              <a:spLocks noChangeArrowheads="1"/>
            </p:cNvSpPr>
            <p:nvPr/>
          </p:nvSpPr>
          <p:spPr bwMode="auto">
            <a:xfrm>
              <a:off x="5774" y="1288"/>
              <a:ext cx="29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3333FF"/>
                  </a:solidFill>
                  <a:latin typeface="Arial" panose="020B0604020202020204" pitchFamily="34" charset="0"/>
                </a:rPr>
                <a:t>dS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16" name="Line 63"/>
            <p:cNvSpPr>
              <a:spLocks noChangeShapeType="1"/>
            </p:cNvSpPr>
            <p:nvPr/>
          </p:nvSpPr>
          <p:spPr bwMode="auto">
            <a:xfrm>
              <a:off x="5916" y="1329"/>
              <a:ext cx="91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5202" name="Group 82"/>
          <p:cNvGrpSpPr>
            <a:grpSpLocks/>
          </p:cNvGrpSpPr>
          <p:nvPr/>
        </p:nvGrpSpPr>
        <p:grpSpPr bwMode="auto">
          <a:xfrm>
            <a:off x="3431859" y="4220119"/>
            <a:ext cx="2319339" cy="2319339"/>
            <a:chOff x="2117" y="3039"/>
            <a:chExt cx="1461" cy="1461"/>
          </a:xfrm>
        </p:grpSpPr>
        <p:sp>
          <p:nvSpPr>
            <p:cNvPr id="23596" name="Text Box 65"/>
            <p:cNvSpPr txBox="1">
              <a:spLocks noChangeArrowheads="1"/>
            </p:cNvSpPr>
            <p:nvPr/>
          </p:nvSpPr>
          <p:spPr bwMode="auto">
            <a:xfrm>
              <a:off x="2857" y="3200"/>
              <a:ext cx="27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23597" name="Line 66"/>
            <p:cNvSpPr>
              <a:spLocks noChangeShapeType="1"/>
            </p:cNvSpPr>
            <p:nvPr/>
          </p:nvSpPr>
          <p:spPr bwMode="auto">
            <a:xfrm>
              <a:off x="2940" y="3227"/>
              <a:ext cx="91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3598" name="Line 8"/>
            <p:cNvSpPr>
              <a:spLocks noChangeShapeType="1"/>
            </p:cNvSpPr>
            <p:nvPr/>
          </p:nvSpPr>
          <p:spPr bwMode="auto">
            <a:xfrm rot="16200000">
              <a:off x="2158" y="3767"/>
              <a:ext cx="132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99" name="Line 9"/>
            <p:cNvSpPr>
              <a:spLocks noChangeShapeType="1"/>
            </p:cNvSpPr>
            <p:nvPr/>
          </p:nvSpPr>
          <p:spPr bwMode="auto">
            <a:xfrm>
              <a:off x="2153" y="3771"/>
              <a:ext cx="132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00" name="Line 10"/>
            <p:cNvSpPr>
              <a:spLocks noChangeShapeType="1"/>
            </p:cNvSpPr>
            <p:nvPr/>
          </p:nvSpPr>
          <p:spPr bwMode="auto">
            <a:xfrm rot="2700000">
              <a:off x="2094" y="3770"/>
              <a:ext cx="146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01" name="Line 11"/>
            <p:cNvSpPr>
              <a:spLocks noChangeShapeType="1"/>
            </p:cNvSpPr>
            <p:nvPr/>
          </p:nvSpPr>
          <p:spPr bwMode="auto">
            <a:xfrm rot="18900000" flipH="1">
              <a:off x="2117" y="3747"/>
              <a:ext cx="146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02" name="Line 12"/>
            <p:cNvSpPr>
              <a:spLocks noChangeShapeType="1"/>
            </p:cNvSpPr>
            <p:nvPr/>
          </p:nvSpPr>
          <p:spPr bwMode="auto">
            <a:xfrm>
              <a:off x="3050" y="3771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03" name="Line 13"/>
            <p:cNvSpPr>
              <a:spLocks noChangeShapeType="1"/>
            </p:cNvSpPr>
            <p:nvPr/>
          </p:nvSpPr>
          <p:spPr bwMode="auto">
            <a:xfrm flipH="1">
              <a:off x="2427" y="3772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04" name="Line 14"/>
            <p:cNvSpPr>
              <a:spLocks noChangeShapeType="1"/>
            </p:cNvSpPr>
            <p:nvPr/>
          </p:nvSpPr>
          <p:spPr bwMode="auto">
            <a:xfrm rot="16200000" flipH="1">
              <a:off x="2747" y="4095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05" name="Line 15"/>
            <p:cNvSpPr>
              <a:spLocks noChangeShapeType="1"/>
            </p:cNvSpPr>
            <p:nvPr/>
          </p:nvSpPr>
          <p:spPr bwMode="auto">
            <a:xfrm rot="5400000" flipH="1" flipV="1">
              <a:off x="2753" y="3481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06" name="Line 16"/>
            <p:cNvSpPr>
              <a:spLocks noChangeShapeType="1"/>
            </p:cNvSpPr>
            <p:nvPr/>
          </p:nvSpPr>
          <p:spPr bwMode="auto">
            <a:xfrm rot="2700000" flipH="1" flipV="1">
              <a:off x="2512" y="3535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07" name="Line 17"/>
            <p:cNvSpPr>
              <a:spLocks noChangeShapeType="1"/>
            </p:cNvSpPr>
            <p:nvPr/>
          </p:nvSpPr>
          <p:spPr bwMode="auto">
            <a:xfrm rot="18900000" flipH="1">
              <a:off x="2521" y="399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08" name="Line 18"/>
            <p:cNvSpPr>
              <a:spLocks noChangeShapeType="1"/>
            </p:cNvSpPr>
            <p:nvPr/>
          </p:nvSpPr>
          <p:spPr bwMode="auto">
            <a:xfrm rot="2700000">
              <a:off x="2980" y="3989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09" name="Line 19"/>
            <p:cNvSpPr>
              <a:spLocks noChangeShapeType="1"/>
            </p:cNvSpPr>
            <p:nvPr/>
          </p:nvSpPr>
          <p:spPr bwMode="auto">
            <a:xfrm rot="18900000" flipV="1">
              <a:off x="2981" y="3544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201" name="Group 81"/>
          <p:cNvGrpSpPr>
            <a:grpSpLocks/>
          </p:cNvGrpSpPr>
          <p:nvPr/>
        </p:nvGrpSpPr>
        <p:grpSpPr bwMode="auto">
          <a:xfrm>
            <a:off x="8120210" y="4224562"/>
            <a:ext cx="2319336" cy="2319339"/>
            <a:chOff x="3439" y="3052"/>
            <a:chExt cx="1461" cy="1461"/>
          </a:xfrm>
        </p:grpSpPr>
        <p:sp>
          <p:nvSpPr>
            <p:cNvPr id="23580" name="Line 21"/>
            <p:cNvSpPr>
              <a:spLocks noChangeShapeType="1"/>
            </p:cNvSpPr>
            <p:nvPr/>
          </p:nvSpPr>
          <p:spPr bwMode="auto">
            <a:xfrm>
              <a:off x="3507" y="3785"/>
              <a:ext cx="132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81" name="Line 22"/>
            <p:cNvSpPr>
              <a:spLocks noChangeShapeType="1"/>
            </p:cNvSpPr>
            <p:nvPr/>
          </p:nvSpPr>
          <p:spPr bwMode="auto">
            <a:xfrm rot="16200000">
              <a:off x="3511" y="3780"/>
              <a:ext cx="132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82" name="Line 23"/>
            <p:cNvSpPr>
              <a:spLocks noChangeShapeType="1"/>
            </p:cNvSpPr>
            <p:nvPr/>
          </p:nvSpPr>
          <p:spPr bwMode="auto">
            <a:xfrm rot="2700000">
              <a:off x="3448" y="3783"/>
              <a:ext cx="146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83" name="Line 24"/>
            <p:cNvSpPr>
              <a:spLocks noChangeShapeType="1"/>
            </p:cNvSpPr>
            <p:nvPr/>
          </p:nvSpPr>
          <p:spPr bwMode="auto">
            <a:xfrm rot="18900000" flipH="1">
              <a:off x="3439" y="3786"/>
              <a:ext cx="146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84" name="Line 25"/>
            <p:cNvSpPr>
              <a:spLocks noChangeShapeType="1"/>
            </p:cNvSpPr>
            <p:nvPr/>
          </p:nvSpPr>
          <p:spPr bwMode="auto">
            <a:xfrm flipH="1">
              <a:off x="4404" y="3785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85" name="Line 26"/>
            <p:cNvSpPr>
              <a:spLocks noChangeShapeType="1"/>
            </p:cNvSpPr>
            <p:nvPr/>
          </p:nvSpPr>
          <p:spPr bwMode="auto">
            <a:xfrm>
              <a:off x="3811" y="3785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86" name="Line 27"/>
            <p:cNvSpPr>
              <a:spLocks noChangeShapeType="1"/>
            </p:cNvSpPr>
            <p:nvPr/>
          </p:nvSpPr>
          <p:spPr bwMode="auto">
            <a:xfrm rot="5400000" flipH="1" flipV="1">
              <a:off x="4102" y="4078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87" name="Line 28"/>
            <p:cNvSpPr>
              <a:spLocks noChangeShapeType="1"/>
            </p:cNvSpPr>
            <p:nvPr/>
          </p:nvSpPr>
          <p:spPr bwMode="auto">
            <a:xfrm rot="16200000" flipH="1">
              <a:off x="4101" y="3493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88" name="Line 29"/>
            <p:cNvSpPr>
              <a:spLocks noChangeShapeType="1"/>
            </p:cNvSpPr>
            <p:nvPr/>
          </p:nvSpPr>
          <p:spPr bwMode="auto">
            <a:xfrm rot="2700000">
              <a:off x="3896" y="3579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89" name="Line 30"/>
            <p:cNvSpPr>
              <a:spLocks noChangeShapeType="1"/>
            </p:cNvSpPr>
            <p:nvPr/>
          </p:nvSpPr>
          <p:spPr bwMode="auto">
            <a:xfrm rot="18900000" flipV="1">
              <a:off x="3899" y="3985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90" name="Line 31"/>
            <p:cNvSpPr>
              <a:spLocks noChangeShapeType="1"/>
            </p:cNvSpPr>
            <p:nvPr/>
          </p:nvSpPr>
          <p:spPr bwMode="auto">
            <a:xfrm rot="2700000" flipH="1" flipV="1">
              <a:off x="4296" y="3978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91" name="Line 32"/>
            <p:cNvSpPr>
              <a:spLocks noChangeShapeType="1"/>
            </p:cNvSpPr>
            <p:nvPr/>
          </p:nvSpPr>
          <p:spPr bwMode="auto">
            <a:xfrm rot="18900000" flipH="1">
              <a:off x="4324" y="3555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3593" name="Group 67"/>
            <p:cNvGrpSpPr>
              <a:grpSpLocks/>
            </p:cNvGrpSpPr>
            <p:nvPr/>
          </p:nvGrpSpPr>
          <p:grpSpPr bwMode="auto">
            <a:xfrm>
              <a:off x="4282" y="3186"/>
              <a:ext cx="270" cy="292"/>
              <a:chOff x="5846" y="1590"/>
              <a:chExt cx="270" cy="292"/>
            </a:xfrm>
          </p:grpSpPr>
          <p:sp>
            <p:nvSpPr>
              <p:cNvPr id="23594" name="Text Box 68"/>
              <p:cNvSpPr txBox="1">
                <a:spLocks noChangeArrowheads="1"/>
              </p:cNvSpPr>
              <p:nvPr/>
            </p:nvSpPr>
            <p:spPr bwMode="auto">
              <a:xfrm>
                <a:off x="5846" y="1590"/>
                <a:ext cx="270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23595" name="Line 69"/>
              <p:cNvSpPr>
                <a:spLocks noChangeShapeType="1"/>
              </p:cNvSpPr>
              <p:nvPr/>
            </p:nvSpPr>
            <p:spPr bwMode="auto">
              <a:xfrm>
                <a:off x="5929" y="1620"/>
                <a:ext cx="91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/>
              </a:p>
            </p:txBody>
          </p:sp>
        </p:grpSp>
      </p:grpSp>
      <p:sp>
        <p:nvSpPr>
          <p:cNvPr id="5150" name="Text Box 71"/>
          <p:cNvSpPr txBox="1">
            <a:spLocks noChangeArrowheads="1"/>
          </p:cNvSpPr>
          <p:nvPr/>
        </p:nvSpPr>
        <p:spPr bwMode="auto">
          <a:xfrm>
            <a:off x="1531303" y="1850965"/>
            <a:ext cx="561152" cy="884070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4800" dirty="0">
                <a:solidFill>
                  <a:srgbClr val="FFFF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3</a:t>
            </a:r>
          </a:p>
        </p:txBody>
      </p:sp>
      <p:sp>
        <p:nvSpPr>
          <p:cNvPr id="23577" name="Text Box 44"/>
          <p:cNvSpPr txBox="1">
            <a:spLocks noChangeArrowheads="1"/>
          </p:cNvSpPr>
          <p:nvPr/>
        </p:nvSpPr>
        <p:spPr bwMode="auto">
          <a:xfrm>
            <a:off x="1184910" y="3725644"/>
            <a:ext cx="2288104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</a:t>
            </a:r>
            <a:r>
              <a:rPr lang="es-ES" sz="2400" b="1">
                <a:latin typeface="Arial" panose="020B0604020202020204" pitchFamily="34" charset="0"/>
              </a:rPr>
              <a:t>S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paralelo a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74760" name="Text Box 47"/>
          <p:cNvSpPr txBox="1">
            <a:spLocks noChangeArrowheads="1"/>
          </p:cNvSpPr>
          <p:nvPr/>
        </p:nvSpPr>
        <p:spPr bwMode="auto">
          <a:xfrm>
            <a:off x="1188085" y="5133933"/>
            <a:ext cx="223635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Todo E</a:t>
            </a:r>
            <a:r>
              <a:rPr lang="es-ES" sz="2400" baseline="-25000">
                <a:latin typeface="Arial" panose="020B0604020202020204" pitchFamily="34" charset="0"/>
              </a:rPr>
              <a:t>n</a:t>
            </a:r>
            <a:r>
              <a:rPr lang="es-ES" sz="2400">
                <a:latin typeface="Arial" panose="020B0604020202020204" pitchFamily="34" charset="0"/>
              </a:rPr>
              <a:t> dS &gt; 0</a:t>
            </a:r>
          </a:p>
        </p:txBody>
      </p:sp>
      <p:sp>
        <p:nvSpPr>
          <p:cNvPr id="74831" name="Text Box 47"/>
          <p:cNvSpPr txBox="1">
            <a:spLocks noChangeArrowheads="1"/>
          </p:cNvSpPr>
          <p:nvPr/>
        </p:nvSpPr>
        <p:spPr bwMode="auto">
          <a:xfrm>
            <a:off x="1180148" y="4406491"/>
            <a:ext cx="196865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Todo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n</a:t>
            </a:r>
            <a:r>
              <a:rPr lang="es-ES" sz="2400">
                <a:latin typeface="Arial" panose="020B0604020202020204" pitchFamily="34" charset="0"/>
              </a:rPr>
              <a:t> = |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|</a:t>
            </a:r>
          </a:p>
        </p:txBody>
      </p:sp>
      <p:sp>
        <p:nvSpPr>
          <p:cNvPr id="23574" name="Text Box 50"/>
          <p:cNvSpPr txBox="1">
            <a:spLocks noChangeArrowheads="1"/>
          </p:cNvSpPr>
          <p:nvPr/>
        </p:nvSpPr>
        <p:spPr bwMode="auto">
          <a:xfrm>
            <a:off x="5770918" y="3709769"/>
            <a:ext cx="2869994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</a:t>
            </a:r>
            <a:r>
              <a:rPr lang="es-ES" sz="2400" b="1">
                <a:latin typeface="Arial" panose="020B0604020202020204" pitchFamily="34" charset="0"/>
              </a:rPr>
              <a:t>S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anti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paralelo a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74766" name="Text Box 53"/>
          <p:cNvSpPr txBox="1">
            <a:spLocks noChangeArrowheads="1"/>
          </p:cNvSpPr>
          <p:nvPr/>
        </p:nvSpPr>
        <p:spPr bwMode="auto">
          <a:xfrm>
            <a:off x="5750075" y="5160920"/>
            <a:ext cx="223635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Todo E</a:t>
            </a:r>
            <a:r>
              <a:rPr lang="es-ES" sz="2400" baseline="-25000">
                <a:latin typeface="Arial" panose="020B0604020202020204" pitchFamily="34" charset="0"/>
              </a:rPr>
              <a:t>n</a:t>
            </a:r>
            <a:r>
              <a:rPr lang="es-ES" sz="2400">
                <a:latin typeface="Arial" panose="020B0604020202020204" pitchFamily="34" charset="0"/>
              </a:rPr>
              <a:t> dS &lt; 0</a:t>
            </a:r>
          </a:p>
        </p:txBody>
      </p:sp>
      <p:sp>
        <p:nvSpPr>
          <p:cNvPr id="74832" name="Text Box 47"/>
          <p:cNvSpPr txBox="1">
            <a:spLocks noChangeArrowheads="1"/>
          </p:cNvSpPr>
          <p:nvPr/>
        </p:nvSpPr>
        <p:spPr bwMode="auto">
          <a:xfrm>
            <a:off x="5751662" y="4417603"/>
            <a:ext cx="213697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Todo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n</a:t>
            </a:r>
            <a:r>
              <a:rPr lang="es-ES" sz="2400">
                <a:latin typeface="Arial" panose="020B0604020202020204" pitchFamily="34" charset="0"/>
              </a:rPr>
              <a:t> 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|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|</a:t>
            </a:r>
          </a:p>
        </p:txBody>
      </p:sp>
      <p:sp>
        <p:nvSpPr>
          <p:cNvPr id="78" name="Text Box 49"/>
          <p:cNvSpPr txBox="1">
            <a:spLocks noChangeArrowheads="1"/>
          </p:cNvSpPr>
          <p:nvPr/>
        </p:nvSpPr>
        <p:spPr bwMode="auto">
          <a:xfrm>
            <a:off x="1202373" y="5698588"/>
            <a:ext cx="93837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 &gt; 0</a:t>
            </a:r>
            <a:endParaRPr lang="es-ES" sz="2400" b="1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1" name="Text Box 55"/>
          <p:cNvSpPr txBox="1">
            <a:spLocks noChangeArrowheads="1"/>
          </p:cNvSpPr>
          <p:nvPr/>
        </p:nvSpPr>
        <p:spPr bwMode="auto">
          <a:xfrm>
            <a:off x="5773887" y="5709790"/>
            <a:ext cx="93837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 &lt; 0</a:t>
            </a:r>
            <a:endParaRPr lang="es-ES" sz="2400" b="1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3" name="Text Box 85"/>
          <p:cNvSpPr txBox="1">
            <a:spLocks noChangeArrowheads="1"/>
          </p:cNvSpPr>
          <p:nvPr/>
        </p:nvSpPr>
        <p:spPr bwMode="auto">
          <a:xfrm>
            <a:off x="1181964" y="6101813"/>
            <a:ext cx="951199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ym typeface="Symbol" panose="05050102010706020507" pitchFamily="18" charset="2"/>
              </a:rPr>
              <a:t></a:t>
            </a:r>
            <a:r>
              <a:rPr lang="es-ES" sz="2400" baseline="-25000" dirty="0">
                <a:sym typeface="Symbol" panose="05050102010706020507" pitchFamily="18" charset="2"/>
              </a:rPr>
              <a:t>0</a:t>
            </a:r>
            <a:r>
              <a:rPr lang="es-ES" sz="2400" dirty="0">
                <a:sym typeface="Symbol" panose="05050102010706020507" pitchFamily="18" charset="2"/>
              </a:rPr>
              <a:t> &gt; 0</a:t>
            </a:r>
            <a:endParaRPr lang="es-ES" sz="2400" baseline="-25000" dirty="0">
              <a:sym typeface="Symbol" panose="05050102010706020507" pitchFamily="18" charset="2"/>
            </a:endParaRPr>
          </a:p>
        </p:txBody>
      </p:sp>
      <p:sp>
        <p:nvSpPr>
          <p:cNvPr id="84" name="Text Box 85"/>
          <p:cNvSpPr txBox="1">
            <a:spLocks noChangeArrowheads="1"/>
          </p:cNvSpPr>
          <p:nvPr/>
        </p:nvSpPr>
        <p:spPr bwMode="auto">
          <a:xfrm>
            <a:off x="5771762" y="6109840"/>
            <a:ext cx="951199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ym typeface="Symbol" panose="05050102010706020507" pitchFamily="18" charset="2"/>
              </a:rPr>
              <a:t></a:t>
            </a:r>
            <a:r>
              <a:rPr lang="es-ES" sz="2400" baseline="-25000">
                <a:sym typeface="Symbol" panose="05050102010706020507" pitchFamily="18" charset="2"/>
              </a:rPr>
              <a:t>0</a:t>
            </a:r>
            <a:r>
              <a:rPr lang="es-ES" sz="2400">
                <a:sym typeface="Symbol" panose="05050102010706020507" pitchFamily="18" charset="2"/>
              </a:rPr>
              <a:t> &gt; 0</a:t>
            </a:r>
            <a:endParaRPr lang="es-ES" sz="2400" baseline="-25000">
              <a:sym typeface="Symbol" panose="05050102010706020507" pitchFamily="18" charset="2"/>
            </a:endParaRPr>
          </a:p>
        </p:txBody>
      </p:sp>
      <p:grpSp>
        <p:nvGrpSpPr>
          <p:cNvPr id="75" name="Grupo 74"/>
          <p:cNvGrpSpPr/>
          <p:nvPr/>
        </p:nvGrpSpPr>
        <p:grpSpPr>
          <a:xfrm>
            <a:off x="8322142" y="4377069"/>
            <a:ext cx="1906249" cy="1949012"/>
            <a:chOff x="3699980" y="4645959"/>
            <a:chExt cx="1906249" cy="1949012"/>
          </a:xfrm>
        </p:grpSpPr>
        <p:sp>
          <p:nvSpPr>
            <p:cNvPr id="76" name="Line 57"/>
            <p:cNvSpPr>
              <a:spLocks noChangeShapeType="1"/>
            </p:cNvSpPr>
            <p:nvPr/>
          </p:nvSpPr>
          <p:spPr bwMode="auto">
            <a:xfrm>
              <a:off x="5092178" y="6071588"/>
              <a:ext cx="288000" cy="2880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en-GB" dirty="0"/>
            </a:p>
          </p:txBody>
        </p:sp>
        <p:sp>
          <p:nvSpPr>
            <p:cNvPr id="77" name="Line 57"/>
            <p:cNvSpPr>
              <a:spLocks noChangeShapeType="1"/>
            </p:cNvSpPr>
            <p:nvPr/>
          </p:nvSpPr>
          <p:spPr bwMode="auto">
            <a:xfrm flipH="1" flipV="1">
              <a:off x="3937536" y="4914108"/>
              <a:ext cx="288000" cy="2880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en-GB"/>
            </a:p>
          </p:txBody>
        </p:sp>
        <p:sp>
          <p:nvSpPr>
            <p:cNvPr id="79" name="Line 57"/>
            <p:cNvSpPr>
              <a:spLocks noChangeShapeType="1"/>
            </p:cNvSpPr>
            <p:nvPr/>
          </p:nvSpPr>
          <p:spPr bwMode="auto">
            <a:xfrm flipH="1">
              <a:off x="3956527" y="6069279"/>
              <a:ext cx="288000" cy="2880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en-GB"/>
            </a:p>
          </p:txBody>
        </p:sp>
        <p:sp>
          <p:nvSpPr>
            <p:cNvPr id="80" name="Line 57"/>
            <p:cNvSpPr>
              <a:spLocks noChangeShapeType="1"/>
            </p:cNvSpPr>
            <p:nvPr/>
          </p:nvSpPr>
          <p:spPr bwMode="auto">
            <a:xfrm rot="2700000" flipH="1" flipV="1">
              <a:off x="4524968" y="4645959"/>
              <a:ext cx="288000" cy="2880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en-GB"/>
            </a:p>
          </p:txBody>
        </p:sp>
        <p:sp>
          <p:nvSpPr>
            <p:cNvPr id="82" name="Line 57"/>
            <p:cNvSpPr>
              <a:spLocks noChangeShapeType="1"/>
            </p:cNvSpPr>
            <p:nvPr/>
          </p:nvSpPr>
          <p:spPr bwMode="auto">
            <a:xfrm rot="18900000" flipH="1">
              <a:off x="4510261" y="6306971"/>
              <a:ext cx="288000" cy="2880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en-GB"/>
            </a:p>
          </p:txBody>
        </p:sp>
        <p:sp>
          <p:nvSpPr>
            <p:cNvPr id="85" name="Line 57"/>
            <p:cNvSpPr>
              <a:spLocks noChangeShapeType="1"/>
            </p:cNvSpPr>
            <p:nvPr/>
          </p:nvSpPr>
          <p:spPr bwMode="auto">
            <a:xfrm rot="18900000" flipH="1" flipV="1">
              <a:off x="3699980" y="5507181"/>
              <a:ext cx="288000" cy="2880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en-GB"/>
            </a:p>
          </p:txBody>
        </p:sp>
        <p:sp>
          <p:nvSpPr>
            <p:cNvPr id="86" name="Line 57"/>
            <p:cNvSpPr>
              <a:spLocks noChangeShapeType="1"/>
            </p:cNvSpPr>
            <p:nvPr/>
          </p:nvSpPr>
          <p:spPr bwMode="auto">
            <a:xfrm rot="13500000" flipH="1">
              <a:off x="5318229" y="5512108"/>
              <a:ext cx="288000" cy="2880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en-GB"/>
            </a:p>
          </p:txBody>
        </p:sp>
        <p:sp>
          <p:nvSpPr>
            <p:cNvPr id="87" name="Line 57"/>
            <p:cNvSpPr>
              <a:spLocks noChangeShapeType="1"/>
            </p:cNvSpPr>
            <p:nvPr/>
          </p:nvSpPr>
          <p:spPr bwMode="auto">
            <a:xfrm flipV="1">
              <a:off x="5123497" y="4907916"/>
              <a:ext cx="288000" cy="2880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noAutofit/>
            </a:bodyPr>
            <a:lstStyle/>
            <a:p>
              <a:endParaRPr lang="en-GB"/>
            </a:p>
          </p:txBody>
        </p:sp>
      </p:grpSp>
      <p:grpSp>
        <p:nvGrpSpPr>
          <p:cNvPr id="88" name="Group 61"/>
          <p:cNvGrpSpPr>
            <a:grpSpLocks/>
          </p:cNvGrpSpPr>
          <p:nvPr/>
        </p:nvGrpSpPr>
        <p:grpSpPr bwMode="auto">
          <a:xfrm>
            <a:off x="9856914" y="4098040"/>
            <a:ext cx="574675" cy="463550"/>
            <a:chOff x="5774" y="1288"/>
            <a:chExt cx="294" cy="292"/>
          </a:xfrm>
        </p:grpSpPr>
        <p:sp>
          <p:nvSpPr>
            <p:cNvPr id="89" name="Text Box 62"/>
            <p:cNvSpPr txBox="1">
              <a:spLocks noChangeArrowheads="1"/>
            </p:cNvSpPr>
            <p:nvPr/>
          </p:nvSpPr>
          <p:spPr bwMode="auto">
            <a:xfrm>
              <a:off x="5774" y="1288"/>
              <a:ext cx="29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dS</a:t>
              </a:r>
            </a:p>
          </p:txBody>
        </p:sp>
        <p:sp>
          <p:nvSpPr>
            <p:cNvPr id="90" name="Line 63"/>
            <p:cNvSpPr>
              <a:spLocks noChangeShapeType="1"/>
            </p:cNvSpPr>
            <p:nvPr/>
          </p:nvSpPr>
          <p:spPr bwMode="auto">
            <a:xfrm>
              <a:off x="5916" y="1329"/>
              <a:ext cx="91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</p:grpSp>
      <p:sp>
        <p:nvSpPr>
          <p:cNvPr id="91" name="CuadroTexto 90"/>
          <p:cNvSpPr txBox="1"/>
          <p:nvPr/>
        </p:nvSpPr>
        <p:spPr>
          <a:xfrm>
            <a:off x="2918051" y="6418567"/>
            <a:ext cx="662361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sz="2400" dirty="0"/>
              <a:t>Ok!</a:t>
            </a:r>
          </a:p>
        </p:txBody>
      </p:sp>
      <p:sp>
        <p:nvSpPr>
          <p:cNvPr id="92" name="CuadroTexto 91"/>
          <p:cNvSpPr txBox="1"/>
          <p:nvPr/>
        </p:nvSpPr>
        <p:spPr>
          <a:xfrm>
            <a:off x="7470332" y="6415826"/>
            <a:ext cx="662361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sz="2400"/>
              <a:t>Ok!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2082483" y="5791803"/>
            <a:ext cx="1329508" cy="636669"/>
            <a:chOff x="2082483" y="5698678"/>
            <a:chExt cx="1329508" cy="636669"/>
          </a:xfrm>
        </p:grpSpPr>
        <p:sp>
          <p:nvSpPr>
            <p:cNvPr id="18454" name="Text Box 49"/>
            <p:cNvSpPr txBox="1">
              <a:spLocks noChangeArrowheads="1"/>
            </p:cNvSpPr>
            <p:nvPr/>
          </p:nvSpPr>
          <p:spPr bwMode="auto">
            <a:xfrm>
              <a:off x="2082483" y="5760322"/>
              <a:ext cx="1329508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 Q &gt; 0</a:t>
              </a:r>
            </a:p>
          </p:txBody>
        </p:sp>
        <p:cxnSp>
          <p:nvCxnSpPr>
            <p:cNvPr id="6" name="Conector recto 5"/>
            <p:cNvCxnSpPr/>
            <p:nvPr/>
          </p:nvCxnSpPr>
          <p:spPr bwMode="auto">
            <a:xfrm>
              <a:off x="2174240" y="5698678"/>
              <a:ext cx="0" cy="63666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" name="Grupo 7"/>
          <p:cNvGrpSpPr/>
          <p:nvPr/>
        </p:nvGrpSpPr>
        <p:grpSpPr>
          <a:xfrm>
            <a:off x="6615897" y="5810329"/>
            <a:ext cx="1329508" cy="636669"/>
            <a:chOff x="6553200" y="5737752"/>
            <a:chExt cx="1329508" cy="636669"/>
          </a:xfrm>
        </p:grpSpPr>
        <p:sp>
          <p:nvSpPr>
            <p:cNvPr id="18452" name="Text Box 55"/>
            <p:cNvSpPr txBox="1">
              <a:spLocks noChangeArrowheads="1"/>
            </p:cNvSpPr>
            <p:nvPr/>
          </p:nvSpPr>
          <p:spPr bwMode="auto">
            <a:xfrm>
              <a:off x="6553200" y="5767942"/>
              <a:ext cx="1329508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 Q &lt; 0</a:t>
              </a:r>
            </a:p>
          </p:txBody>
        </p:sp>
        <p:cxnSp>
          <p:nvCxnSpPr>
            <p:cNvPr id="93" name="Conector recto 92"/>
            <p:cNvCxnSpPr/>
            <p:nvPr/>
          </p:nvCxnSpPr>
          <p:spPr bwMode="auto">
            <a:xfrm>
              <a:off x="6649990" y="5737752"/>
              <a:ext cx="0" cy="63666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4" name="Rectangle 72">
            <a:extLst>
              <a:ext uri="{FF2B5EF4-FFF2-40B4-BE49-F238E27FC236}">
                <a16:creationId xmlns:a16="http://schemas.microsoft.com/office/drawing/2014/main" id="{E28EBEC8-FFE3-48A2-8C8A-BE9422A50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551" y="383261"/>
            <a:ext cx="2612267" cy="1204913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7" name="Object 6">
            <a:extLst>
              <a:ext uri="{FF2B5EF4-FFF2-40B4-BE49-F238E27FC236}">
                <a16:creationId xmlns:a16="http://schemas.microsoft.com/office/drawing/2014/main" id="{87F44BD1-2866-4EAC-A6DC-D0585B6C41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254014"/>
              </p:ext>
            </p:extLst>
          </p:nvPr>
        </p:nvGraphicFramePr>
        <p:xfrm>
          <a:off x="4633464" y="345956"/>
          <a:ext cx="2325688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799753" imgH="444307" progId="Equation.3">
                  <p:embed/>
                </p:oleObj>
              </mc:Choice>
              <mc:Fallback>
                <p:oleObj name="Ecuación" r:id="rId3" imgW="799753" imgH="444307" progId="Equation.3">
                  <p:embed/>
                  <p:pic>
                    <p:nvPicPr>
                      <p:cNvPr id="97" name="Object 6">
                        <a:extLst>
                          <a:ext uri="{FF2B5EF4-FFF2-40B4-BE49-F238E27FC236}">
                            <a16:creationId xmlns:a16="http://schemas.microsoft.com/office/drawing/2014/main" id="{87F44BD1-2866-4EAC-A6DC-D0585B6C41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464" y="345956"/>
                        <a:ext cx="2325688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Text Box 44">
            <a:extLst>
              <a:ext uri="{FF2B5EF4-FFF2-40B4-BE49-F238E27FC236}">
                <a16:creationId xmlns:a16="http://schemas.microsoft.com/office/drawing/2014/main" id="{739B371B-8E77-4928-B074-5BF8C18DA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610" y="3015382"/>
            <a:ext cx="9063728" cy="4638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Tomando S como una esfera centrada en Q, en cada punto de S:</a:t>
            </a:r>
            <a:endParaRPr lang="es-ES" sz="2400" b="1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pic>
        <p:nvPicPr>
          <p:cNvPr id="2" name="Picture 72" descr="Image1">
            <a:extLst>
              <a:ext uri="{FF2B5EF4-FFF2-40B4-BE49-F238E27FC236}">
                <a16:creationId xmlns:a16="http://schemas.microsoft.com/office/drawing/2014/main" id="{E9FF93C0-459A-405C-8B28-5A715F6CD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323" y="5201155"/>
            <a:ext cx="365160" cy="365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AF9E1CC4-704E-4538-8678-D409AB12C87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4441" y="5178246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8BAC193-572F-491F-8E4A-21CEF53A86D0}"/>
              </a:ext>
            </a:extLst>
          </p:cNvPr>
          <p:cNvSpPr txBox="1"/>
          <p:nvPr/>
        </p:nvSpPr>
        <p:spPr>
          <a:xfrm>
            <a:off x="3723887" y="625334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dirty="0">
                <a:sym typeface="Symbol" panose="05050102010706020507" pitchFamily="18" charset="2"/>
              </a:rPr>
              <a:t> =</a:t>
            </a:r>
            <a:endParaRPr lang="es-E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8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8" dur="500"/>
                                        <p:tgtEl>
                                          <p:spTgt spid="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7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9" grpId="0" animBg="1"/>
      <p:bldP spid="5150" grpId="0" animBg="1"/>
      <p:bldP spid="23577" grpId="0"/>
      <p:bldP spid="74760" grpId="0"/>
      <p:bldP spid="74831" grpId="0"/>
      <p:bldP spid="23574" grpId="0"/>
      <p:bldP spid="74766" grpId="0"/>
      <p:bldP spid="74832" grpId="0"/>
      <p:bldP spid="78" grpId="0"/>
      <p:bldP spid="81" grpId="0"/>
      <p:bldP spid="83" grpId="0"/>
      <p:bldP spid="84" grpId="0"/>
      <p:bldP spid="91" grpId="0" animBg="1"/>
      <p:bldP spid="92" grpId="0" animBg="1"/>
      <p:bldP spid="9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6" name="Text Box 6"/>
          <p:cNvSpPr txBox="1">
            <a:spLocks noChangeArrowheads="1"/>
          </p:cNvSpPr>
          <p:nvPr/>
        </p:nvSpPr>
        <p:spPr bwMode="auto">
          <a:xfrm>
            <a:off x="1989855" y="1104935"/>
            <a:ext cx="8348085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44000" tIns="72000" rIns="108000" bIns="72000" anchor="ctr" anchorCtr="0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Con ella se deduce el campo eléctrico creado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por distribuciones de carga de </a:t>
            </a:r>
            <a:r>
              <a:rPr lang="es-ES" sz="2400" b="1" dirty="0">
                <a:latin typeface="Arial" panose="020B0604020202020204" pitchFamily="34" charset="0"/>
              </a:rPr>
              <a:t>alta simetría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161" name="Text Box 40"/>
          <p:cNvSpPr txBox="1">
            <a:spLocks noChangeArrowheads="1"/>
          </p:cNvSpPr>
          <p:nvPr/>
        </p:nvSpPr>
        <p:spPr bwMode="auto">
          <a:xfrm>
            <a:off x="2011452" y="2586553"/>
            <a:ext cx="1708150" cy="88407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 PUNTUAL</a:t>
            </a:r>
          </a:p>
        </p:txBody>
      </p:sp>
      <p:grpSp>
        <p:nvGrpSpPr>
          <p:cNvPr id="3" name="65 Grupo"/>
          <p:cNvGrpSpPr>
            <a:grpSpLocks/>
          </p:cNvGrpSpPr>
          <p:nvPr/>
        </p:nvGrpSpPr>
        <p:grpSpPr bwMode="auto">
          <a:xfrm>
            <a:off x="3018602" y="4085297"/>
            <a:ext cx="1011238" cy="2311400"/>
            <a:chOff x="2581275" y="3835400"/>
            <a:chExt cx="1011238" cy="2311400"/>
          </a:xfrm>
        </p:grpSpPr>
        <p:sp>
          <p:nvSpPr>
            <p:cNvPr id="25643" name="Oval 49"/>
            <p:cNvSpPr>
              <a:spLocks noChangeArrowheads="1"/>
            </p:cNvSpPr>
            <p:nvPr/>
          </p:nvSpPr>
          <p:spPr bwMode="auto">
            <a:xfrm>
              <a:off x="3484563" y="4511675"/>
              <a:ext cx="107950" cy="107950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44" name="Line 52"/>
            <p:cNvSpPr>
              <a:spLocks noChangeShapeType="1"/>
            </p:cNvSpPr>
            <p:nvPr/>
          </p:nvSpPr>
          <p:spPr bwMode="auto">
            <a:xfrm flipV="1">
              <a:off x="3090863" y="4587875"/>
              <a:ext cx="431800" cy="66040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25645" name="Line 53"/>
            <p:cNvSpPr>
              <a:spLocks noChangeShapeType="1"/>
            </p:cNvSpPr>
            <p:nvPr/>
          </p:nvSpPr>
          <p:spPr bwMode="auto">
            <a:xfrm>
              <a:off x="3535363" y="4613275"/>
              <a:ext cx="0" cy="1231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25646" name="Line 54"/>
            <p:cNvSpPr>
              <a:spLocks noChangeShapeType="1"/>
            </p:cNvSpPr>
            <p:nvPr/>
          </p:nvSpPr>
          <p:spPr bwMode="auto">
            <a:xfrm>
              <a:off x="3078163" y="5273675"/>
              <a:ext cx="444500" cy="495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25647" name="Freeform 55"/>
            <p:cNvSpPr>
              <a:spLocks/>
            </p:cNvSpPr>
            <p:nvPr/>
          </p:nvSpPr>
          <p:spPr bwMode="auto">
            <a:xfrm>
              <a:off x="2611438" y="5540375"/>
              <a:ext cx="749300" cy="153988"/>
            </a:xfrm>
            <a:custGeom>
              <a:avLst/>
              <a:gdLst>
                <a:gd name="T0" fmla="*/ 0 w 472"/>
                <a:gd name="T1" fmla="*/ 0 h 97"/>
                <a:gd name="T2" fmla="*/ 2147483646 w 472"/>
                <a:gd name="T3" fmla="*/ 2147483646 h 97"/>
                <a:gd name="T4" fmla="*/ 2147483646 w 472"/>
                <a:gd name="T5" fmla="*/ 2147483646 h 97"/>
                <a:gd name="T6" fmla="*/ 0 60000 65536"/>
                <a:gd name="T7" fmla="*/ 0 60000 65536"/>
                <a:gd name="T8" fmla="*/ 0 60000 65536"/>
                <a:gd name="T9" fmla="*/ 0 w 472"/>
                <a:gd name="T10" fmla="*/ 0 h 97"/>
                <a:gd name="T11" fmla="*/ 472 w 472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2" h="97">
                  <a:moveTo>
                    <a:pt x="0" y="0"/>
                  </a:moveTo>
                  <a:cubicBezTo>
                    <a:pt x="44" y="39"/>
                    <a:pt x="89" y="79"/>
                    <a:pt x="168" y="88"/>
                  </a:cubicBezTo>
                  <a:cubicBezTo>
                    <a:pt x="247" y="97"/>
                    <a:pt x="359" y="76"/>
                    <a:pt x="472" y="56"/>
                  </a:cubicBezTo>
                </a:path>
              </a:pathLst>
            </a:cu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25648" name="Freeform 56"/>
            <p:cNvSpPr>
              <a:spLocks/>
            </p:cNvSpPr>
            <p:nvPr/>
          </p:nvSpPr>
          <p:spPr bwMode="auto">
            <a:xfrm>
              <a:off x="3065463" y="4435475"/>
              <a:ext cx="330200" cy="317500"/>
            </a:xfrm>
            <a:custGeom>
              <a:avLst/>
              <a:gdLst>
                <a:gd name="T0" fmla="*/ 0 w 208"/>
                <a:gd name="T1" fmla="*/ 0 h 200"/>
                <a:gd name="T2" fmla="*/ 2147483646 w 208"/>
                <a:gd name="T3" fmla="*/ 2147483646 h 200"/>
                <a:gd name="T4" fmla="*/ 2147483646 w 208"/>
                <a:gd name="T5" fmla="*/ 2147483646 h 200"/>
                <a:gd name="T6" fmla="*/ 0 60000 65536"/>
                <a:gd name="T7" fmla="*/ 0 60000 65536"/>
                <a:gd name="T8" fmla="*/ 0 60000 65536"/>
                <a:gd name="T9" fmla="*/ 0 w 208"/>
                <a:gd name="T10" fmla="*/ 0 h 200"/>
                <a:gd name="T11" fmla="*/ 208 w 208"/>
                <a:gd name="T12" fmla="*/ 200 h 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8" h="200">
                  <a:moveTo>
                    <a:pt x="0" y="0"/>
                  </a:moveTo>
                  <a:cubicBezTo>
                    <a:pt x="50" y="3"/>
                    <a:pt x="101" y="7"/>
                    <a:pt x="136" y="40"/>
                  </a:cubicBezTo>
                  <a:cubicBezTo>
                    <a:pt x="171" y="73"/>
                    <a:pt x="189" y="136"/>
                    <a:pt x="208" y="200"/>
                  </a:cubicBezTo>
                </a:path>
              </a:pathLst>
            </a:cu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25649" name="Text Box 58"/>
            <p:cNvSpPr txBox="1">
              <a:spLocks noChangeArrowheads="1"/>
            </p:cNvSpPr>
            <p:nvPr/>
          </p:nvSpPr>
          <p:spPr bwMode="auto">
            <a:xfrm>
              <a:off x="2581275" y="5689600"/>
              <a:ext cx="3397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</a:t>
              </a:r>
            </a:p>
          </p:txBody>
        </p:sp>
        <p:sp>
          <p:nvSpPr>
            <p:cNvPr id="25650" name="Text Box 59"/>
            <p:cNvSpPr txBox="1">
              <a:spLocks noChangeArrowheads="1"/>
            </p:cNvSpPr>
            <p:nvPr/>
          </p:nvSpPr>
          <p:spPr bwMode="auto">
            <a:xfrm>
              <a:off x="3152775" y="3835400"/>
              <a:ext cx="3397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</a:t>
              </a:r>
            </a:p>
          </p:txBody>
        </p:sp>
        <p:sp>
          <p:nvSpPr>
            <p:cNvPr id="25651" name="Text Box 60"/>
            <p:cNvSpPr txBox="1">
              <a:spLocks noChangeArrowheads="1"/>
            </p:cNvSpPr>
            <p:nvPr/>
          </p:nvSpPr>
          <p:spPr bwMode="auto">
            <a:xfrm>
              <a:off x="3306831" y="4672981"/>
              <a:ext cx="2794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</p:grpSp>
      <p:sp>
        <p:nvSpPr>
          <p:cNvPr id="6178" name="Text Box 111"/>
          <p:cNvSpPr txBox="1">
            <a:spLocks noChangeArrowheads="1"/>
          </p:cNvSpPr>
          <p:nvPr/>
        </p:nvSpPr>
        <p:spPr bwMode="auto">
          <a:xfrm>
            <a:off x="5411714" y="3609772"/>
            <a:ext cx="4426678" cy="16227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Las coordenadas adecuadas para aplicar Gauss, por la simetría que hay,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son las: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coordenadas esféricas</a:t>
            </a:r>
          </a:p>
        </p:txBody>
      </p:sp>
      <p:sp>
        <p:nvSpPr>
          <p:cNvPr id="6188" name="Text Box 128"/>
          <p:cNvSpPr txBox="1">
            <a:spLocks noChangeArrowheads="1"/>
          </p:cNvSpPr>
          <p:nvPr/>
        </p:nvSpPr>
        <p:spPr bwMode="auto">
          <a:xfrm>
            <a:off x="1346200" y="1094462"/>
            <a:ext cx="561152" cy="884070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4800">
                <a:solidFill>
                  <a:srgbClr val="FFFF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4</a:t>
            </a:r>
          </a:p>
        </p:txBody>
      </p:sp>
      <p:sp>
        <p:nvSpPr>
          <p:cNvPr id="6191" name="Text Box 132"/>
          <p:cNvSpPr txBox="1">
            <a:spLocks noChangeArrowheads="1"/>
          </p:cNvSpPr>
          <p:nvPr/>
        </p:nvSpPr>
        <p:spPr bwMode="auto">
          <a:xfrm>
            <a:off x="3864115" y="2602943"/>
            <a:ext cx="6473825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 se gira el sistema respecto a cualquier eje que pase por Q, no cambia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(alta simetría)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67" name="Text Box 106"/>
          <p:cNvSpPr txBox="1">
            <a:spLocks noChangeArrowheads="1"/>
          </p:cNvSpPr>
          <p:nvPr/>
        </p:nvSpPr>
        <p:spPr bwMode="auto">
          <a:xfrm>
            <a:off x="5416349" y="5419444"/>
            <a:ext cx="292289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r: coordenada radial</a:t>
            </a:r>
          </a:p>
        </p:txBody>
      </p:sp>
      <p:sp>
        <p:nvSpPr>
          <p:cNvPr id="25614" name="Rectangle 2"/>
          <p:cNvSpPr>
            <a:spLocks noChangeArrowheads="1"/>
          </p:cNvSpPr>
          <p:nvPr/>
        </p:nvSpPr>
        <p:spPr bwMode="auto">
          <a:xfrm>
            <a:off x="1312863" y="477057"/>
            <a:ext cx="6783387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2.2.2. APLICACIONES DE LA LEY DE GAUSS</a:t>
            </a:r>
          </a:p>
        </p:txBody>
      </p:sp>
      <p:grpSp>
        <p:nvGrpSpPr>
          <p:cNvPr id="6218" name="Group 74"/>
          <p:cNvGrpSpPr>
            <a:grpSpLocks/>
          </p:cNvGrpSpPr>
          <p:nvPr/>
        </p:nvGrpSpPr>
        <p:grpSpPr bwMode="auto">
          <a:xfrm>
            <a:off x="2078802" y="3840824"/>
            <a:ext cx="2887663" cy="2779713"/>
            <a:chOff x="1021" y="2240"/>
            <a:chExt cx="1819" cy="1751"/>
          </a:xfrm>
        </p:grpSpPr>
        <p:sp>
          <p:nvSpPr>
            <p:cNvPr id="25628" name="Text Box 130"/>
            <p:cNvSpPr txBox="1">
              <a:spLocks noChangeArrowheads="1"/>
            </p:cNvSpPr>
            <p:nvPr/>
          </p:nvSpPr>
          <p:spPr bwMode="auto">
            <a:xfrm>
              <a:off x="1588" y="2939"/>
              <a:ext cx="2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Q</a:t>
              </a:r>
            </a:p>
          </p:txBody>
        </p:sp>
        <p:grpSp>
          <p:nvGrpSpPr>
            <p:cNvPr id="25629" name="Group 73"/>
            <p:cNvGrpSpPr>
              <a:grpSpLocks/>
            </p:cNvGrpSpPr>
            <p:nvPr/>
          </p:nvGrpSpPr>
          <p:grpSpPr bwMode="auto">
            <a:xfrm>
              <a:off x="1021" y="2240"/>
              <a:ext cx="1819" cy="1751"/>
              <a:chOff x="-1501" y="2180"/>
              <a:chExt cx="1819" cy="1751"/>
            </a:xfrm>
          </p:grpSpPr>
          <p:sp>
            <p:nvSpPr>
              <p:cNvPr id="25630" name="Line 46"/>
              <p:cNvSpPr>
                <a:spLocks noChangeShapeType="1"/>
              </p:cNvSpPr>
              <p:nvPr/>
            </p:nvSpPr>
            <p:spPr bwMode="auto">
              <a:xfrm>
                <a:off x="-600" y="2387"/>
                <a:ext cx="8" cy="15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  <p:sp>
            <p:nvSpPr>
              <p:cNvPr id="25631" name="Line 47"/>
              <p:cNvSpPr>
                <a:spLocks noChangeShapeType="1"/>
              </p:cNvSpPr>
              <p:nvPr/>
            </p:nvSpPr>
            <p:spPr bwMode="auto">
              <a:xfrm flipH="1">
                <a:off x="-1308" y="2826"/>
                <a:ext cx="1384" cy="8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  <p:sp>
            <p:nvSpPr>
              <p:cNvPr id="25632" name="Line 48"/>
              <p:cNvSpPr>
                <a:spLocks noChangeShapeType="1"/>
              </p:cNvSpPr>
              <p:nvPr/>
            </p:nvSpPr>
            <p:spPr bwMode="auto">
              <a:xfrm flipV="1">
                <a:off x="-1404" y="3234"/>
                <a:ext cx="1640" cy="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  <p:sp>
            <p:nvSpPr>
              <p:cNvPr id="25633" name="Text Box 107"/>
              <p:cNvSpPr txBox="1">
                <a:spLocks noChangeArrowheads="1"/>
              </p:cNvSpPr>
              <p:nvPr/>
            </p:nvSpPr>
            <p:spPr bwMode="auto">
              <a:xfrm>
                <a:off x="-1501" y="3549"/>
                <a:ext cx="1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25634" name="Text Box 108"/>
              <p:cNvSpPr txBox="1">
                <a:spLocks noChangeArrowheads="1"/>
              </p:cNvSpPr>
              <p:nvPr/>
            </p:nvSpPr>
            <p:spPr bwMode="auto">
              <a:xfrm>
                <a:off x="124" y="2923"/>
                <a:ext cx="1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25635" name="Text Box 109"/>
              <p:cNvSpPr txBox="1">
                <a:spLocks noChangeArrowheads="1"/>
              </p:cNvSpPr>
              <p:nvPr/>
            </p:nvSpPr>
            <p:spPr bwMode="auto">
              <a:xfrm>
                <a:off x="-802" y="2180"/>
                <a:ext cx="1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z</a:t>
                </a:r>
              </a:p>
            </p:txBody>
          </p:sp>
          <p:pic>
            <p:nvPicPr>
              <p:cNvPr id="25636" name="Picture 72" descr="Image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720" y="3129"/>
                <a:ext cx="23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6" name="Text Box 106"/>
          <p:cNvSpPr txBox="1">
            <a:spLocks noChangeArrowheads="1"/>
          </p:cNvSpPr>
          <p:nvPr/>
        </p:nvSpPr>
        <p:spPr bwMode="auto">
          <a:xfrm>
            <a:off x="5416349" y="5848620"/>
            <a:ext cx="3373337" cy="463846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: coordenada azimutal</a:t>
            </a:r>
          </a:p>
        </p:txBody>
      </p:sp>
      <p:sp>
        <p:nvSpPr>
          <p:cNvPr id="7" name="Text Box 106"/>
          <p:cNvSpPr txBox="1">
            <a:spLocks noChangeArrowheads="1"/>
          </p:cNvSpPr>
          <p:nvPr/>
        </p:nvSpPr>
        <p:spPr bwMode="auto">
          <a:xfrm>
            <a:off x="5416349" y="6297605"/>
            <a:ext cx="291167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: coordenada polar</a:t>
            </a:r>
          </a:p>
        </p:txBody>
      </p:sp>
      <p:sp>
        <p:nvSpPr>
          <p:cNvPr id="4" name="CuadroTexto 3"/>
          <p:cNvSpPr txBox="1">
            <a:spLocks noChangeArrowheads="1"/>
          </p:cNvSpPr>
          <p:nvPr/>
        </p:nvSpPr>
        <p:spPr bwMode="auto">
          <a:xfrm>
            <a:off x="9003526" y="5850588"/>
            <a:ext cx="68640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: </a:t>
            </a:r>
            <a:r>
              <a:rPr lang="es-ES" sz="2400" b="1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endParaRPr lang="es-ES" sz="2400">
              <a:solidFill>
                <a:srgbClr val="FF0000"/>
              </a:solidFill>
            </a:endParaRPr>
          </a:p>
        </p:txBody>
      </p:sp>
      <p:sp>
        <p:nvSpPr>
          <p:cNvPr id="53" name="CuadroTexto 52"/>
          <p:cNvSpPr txBox="1">
            <a:spLocks noChangeArrowheads="1"/>
          </p:cNvSpPr>
          <p:nvPr/>
        </p:nvSpPr>
        <p:spPr bwMode="auto">
          <a:xfrm>
            <a:off x="9006071" y="6288418"/>
            <a:ext cx="1096775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: </a:t>
            </a:r>
            <a:r>
              <a:rPr lang="es-ES" sz="2400" b="1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eta</a:t>
            </a:r>
            <a:endParaRPr lang="es-ES" sz="2400">
              <a:solidFill>
                <a:srgbClr val="FF0000"/>
              </a:solidFill>
            </a:endParaRPr>
          </a:p>
        </p:txBody>
      </p:sp>
      <p:sp>
        <p:nvSpPr>
          <p:cNvPr id="44" name="Text Box 6"/>
          <p:cNvSpPr txBox="1">
            <a:spLocks noChangeArrowheads="1"/>
          </p:cNvSpPr>
          <p:nvPr/>
        </p:nvSpPr>
        <p:spPr bwMode="auto">
          <a:xfrm>
            <a:off x="2021754" y="1929099"/>
            <a:ext cx="8037926" cy="514738"/>
          </a:xfrm>
          <a:prstGeom prst="rect">
            <a:avLst/>
          </a:prstGeom>
          <a:noFill/>
          <a:ln>
            <a:noFill/>
          </a:ln>
        </p:spPr>
        <p:txBody>
          <a:bodyPr wrap="square" lIns="144000" tIns="72000" rIns="108000" bIns="72000" anchor="ctr" anchorCtr="0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(es una alternativa al Principio de Superposición)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4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6" grpId="0" animBg="1"/>
      <p:bldP spid="6161" grpId="0" animBg="1"/>
      <p:bldP spid="6178" grpId="0" animBg="1"/>
      <p:bldP spid="6188" grpId="0" animBg="1"/>
      <p:bldP spid="6191" grpId="0"/>
      <p:bldP spid="67" grpId="0"/>
      <p:bldP spid="6" grpId="0" animBg="1"/>
      <p:bldP spid="7" grpId="0"/>
      <p:bldP spid="4" grpId="0"/>
      <p:bldP spid="53" grpId="0"/>
      <p:bldP spid="4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69 Grupo">
            <a:extLst>
              <a:ext uri="{FF2B5EF4-FFF2-40B4-BE49-F238E27FC236}">
                <a16:creationId xmlns:a16="http://schemas.microsoft.com/office/drawing/2014/main" id="{376A1C0A-75BB-4EA8-8B69-3D81FADF5B24}"/>
              </a:ext>
            </a:extLst>
          </p:cNvPr>
          <p:cNvGrpSpPr>
            <a:grpSpLocks/>
          </p:cNvGrpSpPr>
          <p:nvPr/>
        </p:nvGrpSpPr>
        <p:grpSpPr bwMode="auto">
          <a:xfrm>
            <a:off x="6929418" y="848103"/>
            <a:ext cx="2159000" cy="2406650"/>
            <a:chOff x="1978025" y="4186238"/>
            <a:chExt cx="2159000" cy="2406650"/>
          </a:xfrm>
        </p:grpSpPr>
        <p:sp>
          <p:nvSpPr>
            <p:cNvPr id="35" name="Oval 50">
              <a:extLst>
                <a:ext uri="{FF2B5EF4-FFF2-40B4-BE49-F238E27FC236}">
                  <a16:creationId xmlns:a16="http://schemas.microsoft.com/office/drawing/2014/main" id="{03C9ACED-D406-4D13-9305-28E6744AD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8025" y="4186238"/>
              <a:ext cx="2159000" cy="2159000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6586A8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" name="Text Box 116">
              <a:extLst>
                <a:ext uri="{FF2B5EF4-FFF2-40B4-BE49-F238E27FC236}">
                  <a16:creationId xmlns:a16="http://schemas.microsoft.com/office/drawing/2014/main" id="{4ECAFB56-7C16-4D65-B4D0-D395F8DB6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588" y="6196013"/>
              <a:ext cx="3508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S</a:t>
              </a:r>
              <a:endParaRPr lang="es-E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37" name="65 Grupo">
            <a:extLst>
              <a:ext uri="{FF2B5EF4-FFF2-40B4-BE49-F238E27FC236}">
                <a16:creationId xmlns:a16="http://schemas.microsoft.com/office/drawing/2014/main" id="{44944BA9-6266-4733-92DE-26ED43C05EC9}"/>
              </a:ext>
            </a:extLst>
          </p:cNvPr>
          <p:cNvGrpSpPr>
            <a:grpSpLocks/>
          </p:cNvGrpSpPr>
          <p:nvPr/>
        </p:nvGrpSpPr>
        <p:grpSpPr bwMode="auto">
          <a:xfrm>
            <a:off x="7542193" y="611565"/>
            <a:ext cx="1011238" cy="2311400"/>
            <a:chOff x="2581275" y="3835400"/>
            <a:chExt cx="1011238" cy="2311400"/>
          </a:xfrm>
        </p:grpSpPr>
        <p:sp>
          <p:nvSpPr>
            <p:cNvPr id="38" name="Oval 49">
              <a:extLst>
                <a:ext uri="{FF2B5EF4-FFF2-40B4-BE49-F238E27FC236}">
                  <a16:creationId xmlns:a16="http://schemas.microsoft.com/office/drawing/2014/main" id="{1B8A70A8-C519-476C-B624-0B13EE0CA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4563" y="4511675"/>
              <a:ext cx="107950" cy="107950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" name="Line 52">
              <a:extLst>
                <a:ext uri="{FF2B5EF4-FFF2-40B4-BE49-F238E27FC236}">
                  <a16:creationId xmlns:a16="http://schemas.microsoft.com/office/drawing/2014/main" id="{861E7012-2DB2-4DF9-ACF9-B9191F1870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0863" y="4587875"/>
              <a:ext cx="431800" cy="66040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40" name="Line 53">
              <a:extLst>
                <a:ext uri="{FF2B5EF4-FFF2-40B4-BE49-F238E27FC236}">
                  <a16:creationId xmlns:a16="http://schemas.microsoft.com/office/drawing/2014/main" id="{928457AB-6CDA-4DF5-9DBF-D6106CCC3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5363" y="4613275"/>
              <a:ext cx="0" cy="1231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41" name="Line 54">
              <a:extLst>
                <a:ext uri="{FF2B5EF4-FFF2-40B4-BE49-F238E27FC236}">
                  <a16:creationId xmlns:a16="http://schemas.microsoft.com/office/drawing/2014/main" id="{8C6776DE-4B7E-464D-92C0-1272FAA85F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8163" y="5273675"/>
              <a:ext cx="444500" cy="495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42" name="Freeform 55">
              <a:extLst>
                <a:ext uri="{FF2B5EF4-FFF2-40B4-BE49-F238E27FC236}">
                  <a16:creationId xmlns:a16="http://schemas.microsoft.com/office/drawing/2014/main" id="{56768338-5BDC-49F6-ADD9-82D803F08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863" y="5540375"/>
              <a:ext cx="749300" cy="153988"/>
            </a:xfrm>
            <a:custGeom>
              <a:avLst/>
              <a:gdLst>
                <a:gd name="T0" fmla="*/ 0 w 472"/>
                <a:gd name="T1" fmla="*/ 0 h 97"/>
                <a:gd name="T2" fmla="*/ 2147483646 w 472"/>
                <a:gd name="T3" fmla="*/ 2147483646 h 97"/>
                <a:gd name="T4" fmla="*/ 2147483646 w 472"/>
                <a:gd name="T5" fmla="*/ 2147483646 h 97"/>
                <a:gd name="T6" fmla="*/ 0 60000 65536"/>
                <a:gd name="T7" fmla="*/ 0 60000 65536"/>
                <a:gd name="T8" fmla="*/ 0 60000 65536"/>
                <a:gd name="T9" fmla="*/ 0 w 472"/>
                <a:gd name="T10" fmla="*/ 0 h 97"/>
                <a:gd name="T11" fmla="*/ 472 w 472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2" h="97">
                  <a:moveTo>
                    <a:pt x="0" y="0"/>
                  </a:moveTo>
                  <a:cubicBezTo>
                    <a:pt x="44" y="39"/>
                    <a:pt x="89" y="79"/>
                    <a:pt x="168" y="88"/>
                  </a:cubicBezTo>
                  <a:cubicBezTo>
                    <a:pt x="247" y="97"/>
                    <a:pt x="359" y="76"/>
                    <a:pt x="472" y="56"/>
                  </a:cubicBezTo>
                </a:path>
              </a:pathLst>
            </a:cu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43" name="Freeform 56">
              <a:extLst>
                <a:ext uri="{FF2B5EF4-FFF2-40B4-BE49-F238E27FC236}">
                  <a16:creationId xmlns:a16="http://schemas.microsoft.com/office/drawing/2014/main" id="{76480B83-306F-4F7F-A6F4-02B1B37BF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463" y="4435475"/>
              <a:ext cx="330200" cy="317500"/>
            </a:xfrm>
            <a:custGeom>
              <a:avLst/>
              <a:gdLst>
                <a:gd name="T0" fmla="*/ 0 w 208"/>
                <a:gd name="T1" fmla="*/ 0 h 200"/>
                <a:gd name="T2" fmla="*/ 2147483646 w 208"/>
                <a:gd name="T3" fmla="*/ 2147483646 h 200"/>
                <a:gd name="T4" fmla="*/ 2147483646 w 208"/>
                <a:gd name="T5" fmla="*/ 2147483646 h 200"/>
                <a:gd name="T6" fmla="*/ 0 60000 65536"/>
                <a:gd name="T7" fmla="*/ 0 60000 65536"/>
                <a:gd name="T8" fmla="*/ 0 60000 65536"/>
                <a:gd name="T9" fmla="*/ 0 w 208"/>
                <a:gd name="T10" fmla="*/ 0 h 200"/>
                <a:gd name="T11" fmla="*/ 208 w 208"/>
                <a:gd name="T12" fmla="*/ 200 h 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8" h="200">
                  <a:moveTo>
                    <a:pt x="0" y="0"/>
                  </a:moveTo>
                  <a:cubicBezTo>
                    <a:pt x="50" y="3"/>
                    <a:pt x="101" y="7"/>
                    <a:pt x="136" y="40"/>
                  </a:cubicBezTo>
                  <a:cubicBezTo>
                    <a:pt x="171" y="73"/>
                    <a:pt x="189" y="136"/>
                    <a:pt x="208" y="200"/>
                  </a:cubicBezTo>
                </a:path>
              </a:pathLst>
            </a:custGeom>
            <a:noFill/>
            <a:ln w="254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45" name="Text Box 58">
              <a:extLst>
                <a:ext uri="{FF2B5EF4-FFF2-40B4-BE49-F238E27FC236}">
                  <a16:creationId xmlns:a16="http://schemas.microsoft.com/office/drawing/2014/main" id="{200E755C-3307-415E-8F84-C7913B590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1275" y="5689600"/>
              <a:ext cx="3397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</a:t>
              </a:r>
            </a:p>
          </p:txBody>
        </p:sp>
        <p:sp>
          <p:nvSpPr>
            <p:cNvPr id="46" name="Text Box 59">
              <a:extLst>
                <a:ext uri="{FF2B5EF4-FFF2-40B4-BE49-F238E27FC236}">
                  <a16:creationId xmlns:a16="http://schemas.microsoft.com/office/drawing/2014/main" id="{C38C11D6-A8A7-4A80-9252-7511173B7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775" y="3835400"/>
              <a:ext cx="3397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</a:t>
              </a:r>
            </a:p>
          </p:txBody>
        </p:sp>
        <p:sp>
          <p:nvSpPr>
            <p:cNvPr id="47" name="Text Box 60">
              <a:extLst>
                <a:ext uri="{FF2B5EF4-FFF2-40B4-BE49-F238E27FC236}">
                  <a16:creationId xmlns:a16="http://schemas.microsoft.com/office/drawing/2014/main" id="{529357E5-D00E-4879-A9A9-7E450A884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6831" y="4672981"/>
              <a:ext cx="2794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</p:grpSp>
      <p:sp>
        <p:nvSpPr>
          <p:cNvPr id="49" name="Line 71">
            <a:extLst>
              <a:ext uri="{FF2B5EF4-FFF2-40B4-BE49-F238E27FC236}">
                <a16:creationId xmlns:a16="http://schemas.microsoft.com/office/drawing/2014/main" id="{2584A6A3-E441-4DC7-AC61-C41CE26BD2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42318" y="490918"/>
            <a:ext cx="660400" cy="8128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aphicFrame>
        <p:nvGraphicFramePr>
          <p:cNvPr id="50" name="Object 73">
            <a:extLst>
              <a:ext uri="{FF2B5EF4-FFF2-40B4-BE49-F238E27FC236}">
                <a16:creationId xmlns:a16="http://schemas.microsoft.com/office/drawing/2014/main" id="{8388C1E6-EB3D-40EB-A866-FC3A46AAB6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7092977"/>
              </p:ext>
            </p:extLst>
          </p:nvPr>
        </p:nvGraphicFramePr>
        <p:xfrm>
          <a:off x="9269393" y="319468"/>
          <a:ext cx="490538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228600" imgH="228600" progId="Equation.3">
                  <p:embed/>
                </p:oleObj>
              </mc:Choice>
              <mc:Fallback>
                <p:oleObj name="Ecuación" r:id="rId3" imgW="228600" imgH="228600" progId="Equation.3">
                  <p:embed/>
                  <p:pic>
                    <p:nvPicPr>
                      <p:cNvPr id="50" name="Object 73">
                        <a:extLst>
                          <a:ext uri="{FF2B5EF4-FFF2-40B4-BE49-F238E27FC236}">
                            <a16:creationId xmlns:a16="http://schemas.microsoft.com/office/drawing/2014/main" id="{8388C1E6-EB3D-40EB-A866-FC3A46AAB6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9393" y="319468"/>
                        <a:ext cx="490538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Line 70">
            <a:extLst>
              <a:ext uri="{FF2B5EF4-FFF2-40B4-BE49-F238E27FC236}">
                <a16:creationId xmlns:a16="http://schemas.microsoft.com/office/drawing/2014/main" id="{7EAE47FF-49F9-434A-9DAC-9019BCCA7F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40731" y="913190"/>
            <a:ext cx="317500" cy="38100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aphicFrame>
        <p:nvGraphicFramePr>
          <p:cNvPr id="54" name="Object 72">
            <a:extLst>
              <a:ext uri="{FF2B5EF4-FFF2-40B4-BE49-F238E27FC236}">
                <a16:creationId xmlns:a16="http://schemas.microsoft.com/office/drawing/2014/main" id="{9F3D4D0D-9D40-4E63-8C7C-7683735791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0180414"/>
              </p:ext>
            </p:extLst>
          </p:nvPr>
        </p:nvGraphicFramePr>
        <p:xfrm>
          <a:off x="8856643" y="805240"/>
          <a:ext cx="3683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26890" imgH="190335" progId="Equation.3">
                  <p:embed/>
                </p:oleObj>
              </mc:Choice>
              <mc:Fallback>
                <p:oleObj name="Ecuación" r:id="rId5" imgW="126890" imgH="190335" progId="Equation.3">
                  <p:embed/>
                  <p:pic>
                    <p:nvPicPr>
                      <p:cNvPr id="54" name="Object 72">
                        <a:extLst>
                          <a:ext uri="{FF2B5EF4-FFF2-40B4-BE49-F238E27FC236}">
                            <a16:creationId xmlns:a16="http://schemas.microsoft.com/office/drawing/2014/main" id="{9F3D4D0D-9D40-4E63-8C7C-7683735791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6643" y="805240"/>
                        <a:ext cx="3683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111">
            <a:extLst>
              <a:ext uri="{FF2B5EF4-FFF2-40B4-BE49-F238E27FC236}">
                <a16:creationId xmlns:a16="http://schemas.microsoft.com/office/drawing/2014/main" id="{F43FBA1C-48E5-4902-8C54-59DAA685C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181" y="573197"/>
            <a:ext cx="3962857" cy="23613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superficie adecuada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para aplicar Gauss, por la simetría que hay, es una: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superficie esférica centrada en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la carga puntual</a:t>
            </a:r>
          </a:p>
        </p:txBody>
      </p:sp>
      <p:grpSp>
        <p:nvGrpSpPr>
          <p:cNvPr id="57" name="Group 74">
            <a:extLst>
              <a:ext uri="{FF2B5EF4-FFF2-40B4-BE49-F238E27FC236}">
                <a16:creationId xmlns:a16="http://schemas.microsoft.com/office/drawing/2014/main" id="{EB3FCD08-C322-407E-9C69-BE88DEC12D91}"/>
              </a:ext>
            </a:extLst>
          </p:cNvPr>
          <p:cNvGrpSpPr>
            <a:grpSpLocks/>
          </p:cNvGrpSpPr>
          <p:nvPr/>
        </p:nvGrpSpPr>
        <p:grpSpPr bwMode="auto">
          <a:xfrm>
            <a:off x="6602393" y="367092"/>
            <a:ext cx="2887663" cy="2779713"/>
            <a:chOff x="1021" y="2240"/>
            <a:chExt cx="1819" cy="1751"/>
          </a:xfrm>
        </p:grpSpPr>
        <p:sp>
          <p:nvSpPr>
            <p:cNvPr id="58" name="Text Box 130">
              <a:extLst>
                <a:ext uri="{FF2B5EF4-FFF2-40B4-BE49-F238E27FC236}">
                  <a16:creationId xmlns:a16="http://schemas.microsoft.com/office/drawing/2014/main" id="{D5E006AD-66CC-4655-8575-35F2FF1C7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8" y="2939"/>
              <a:ext cx="2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Q</a:t>
              </a:r>
            </a:p>
          </p:txBody>
        </p:sp>
        <p:grpSp>
          <p:nvGrpSpPr>
            <p:cNvPr id="59" name="Group 73">
              <a:extLst>
                <a:ext uri="{FF2B5EF4-FFF2-40B4-BE49-F238E27FC236}">
                  <a16:creationId xmlns:a16="http://schemas.microsoft.com/office/drawing/2014/main" id="{CC69CA22-1817-4938-8E22-EAD5F1975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1" y="2240"/>
              <a:ext cx="1819" cy="1751"/>
              <a:chOff x="-1501" y="2180"/>
              <a:chExt cx="1819" cy="1751"/>
            </a:xfrm>
          </p:grpSpPr>
          <p:sp>
            <p:nvSpPr>
              <p:cNvPr id="60" name="Line 46">
                <a:extLst>
                  <a:ext uri="{FF2B5EF4-FFF2-40B4-BE49-F238E27FC236}">
                    <a16:creationId xmlns:a16="http://schemas.microsoft.com/office/drawing/2014/main" id="{79F44CCB-363E-465A-9DBF-0975E59C7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600" y="2387"/>
                <a:ext cx="8" cy="15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  <p:sp>
            <p:nvSpPr>
              <p:cNvPr id="61" name="Line 47">
                <a:extLst>
                  <a:ext uri="{FF2B5EF4-FFF2-40B4-BE49-F238E27FC236}">
                    <a16:creationId xmlns:a16="http://schemas.microsoft.com/office/drawing/2014/main" id="{CA7359B1-1308-4577-9554-7D1C70A4F8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1308" y="2826"/>
                <a:ext cx="1384" cy="8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  <p:sp>
            <p:nvSpPr>
              <p:cNvPr id="62" name="Line 48">
                <a:extLst>
                  <a:ext uri="{FF2B5EF4-FFF2-40B4-BE49-F238E27FC236}">
                    <a16:creationId xmlns:a16="http://schemas.microsoft.com/office/drawing/2014/main" id="{FDCC0770-4441-4D1A-A7EE-2CF657940C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404" y="3234"/>
                <a:ext cx="1640" cy="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  <p:sp>
            <p:nvSpPr>
              <p:cNvPr id="63" name="Text Box 107">
                <a:extLst>
                  <a:ext uri="{FF2B5EF4-FFF2-40B4-BE49-F238E27FC236}">
                    <a16:creationId xmlns:a16="http://schemas.microsoft.com/office/drawing/2014/main" id="{5C49ED5A-1C81-4DEA-9F27-42E939A710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501" y="3549"/>
                <a:ext cx="1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64" name="Text Box 108">
                <a:extLst>
                  <a:ext uri="{FF2B5EF4-FFF2-40B4-BE49-F238E27FC236}">
                    <a16:creationId xmlns:a16="http://schemas.microsoft.com/office/drawing/2014/main" id="{6ADDB153-3268-4ECA-B918-4ACD146171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" y="2923"/>
                <a:ext cx="1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65" name="Text Box 109">
                <a:extLst>
                  <a:ext uri="{FF2B5EF4-FFF2-40B4-BE49-F238E27FC236}">
                    <a16:creationId xmlns:a16="http://schemas.microsoft.com/office/drawing/2014/main" id="{5E6A817C-9A84-497C-BB8B-475D254BC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2" y="2180"/>
                <a:ext cx="1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z</a:t>
                </a:r>
              </a:p>
            </p:txBody>
          </p:sp>
          <p:pic>
            <p:nvPicPr>
              <p:cNvPr id="66" name="Picture 72" descr="Image1">
                <a:extLst>
                  <a:ext uri="{FF2B5EF4-FFF2-40B4-BE49-F238E27FC236}">
                    <a16:creationId xmlns:a16="http://schemas.microsoft.com/office/drawing/2014/main" id="{A04E1D14-AEA9-4DC9-90C0-7461BD6801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720" y="3129"/>
                <a:ext cx="23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69" name="CuadroTexto 68">
            <a:extLst>
              <a:ext uri="{FF2B5EF4-FFF2-40B4-BE49-F238E27FC236}">
                <a16:creationId xmlns:a16="http://schemas.microsoft.com/office/drawing/2014/main" id="{A2E60984-DF5C-4256-B697-7A0E6EBADBAE}"/>
              </a:ext>
            </a:extLst>
          </p:cNvPr>
          <p:cNvSpPr txBox="1"/>
          <p:nvPr/>
        </p:nvSpPr>
        <p:spPr>
          <a:xfrm>
            <a:off x="8471474" y="1265552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err="1"/>
              <a:t>dS</a:t>
            </a:r>
            <a:endParaRPr lang="es-ES" sz="2400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00856BF7-FD5E-093F-002A-B5CA5844C12D}"/>
              </a:ext>
            </a:extLst>
          </p:cNvPr>
          <p:cNvGrpSpPr/>
          <p:nvPr/>
        </p:nvGrpSpPr>
        <p:grpSpPr>
          <a:xfrm>
            <a:off x="6910803" y="4310292"/>
            <a:ext cx="2486990" cy="722259"/>
            <a:chOff x="6910803" y="4310292"/>
            <a:chExt cx="2486990" cy="72225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C3CC5B16-2C39-C1DF-65C8-608B1E5DF17E}"/>
                </a:ext>
              </a:extLst>
            </p:cNvPr>
            <p:cNvSpPr/>
            <p:nvPr/>
          </p:nvSpPr>
          <p:spPr bwMode="auto">
            <a:xfrm>
              <a:off x="6910803" y="4310292"/>
              <a:ext cx="2486990" cy="72225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aphicFrame>
          <p:nvGraphicFramePr>
            <p:cNvPr id="6" name="Object 68">
              <a:extLst>
                <a:ext uri="{FF2B5EF4-FFF2-40B4-BE49-F238E27FC236}">
                  <a16:creationId xmlns:a16="http://schemas.microsoft.com/office/drawing/2014/main" id="{AFBD7839-464E-EB14-FFBC-45D184DBA8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3035879"/>
                </p:ext>
              </p:extLst>
            </p:nvPr>
          </p:nvGraphicFramePr>
          <p:xfrm>
            <a:off x="7157537" y="4351041"/>
            <a:ext cx="1914525" cy="585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787400" imgH="241300" progId="Equation.3">
                    <p:embed/>
                  </p:oleObj>
                </mc:Choice>
                <mc:Fallback>
                  <p:oleObj name="Ecuación" r:id="rId8" imgW="787400" imgH="241300" progId="Equation.3">
                    <p:embed/>
                    <p:pic>
                      <p:nvPicPr>
                        <p:cNvPr id="84" name="Object 68">
                          <a:extLst>
                            <a:ext uri="{FF2B5EF4-FFF2-40B4-BE49-F238E27FC236}">
                              <a16:creationId xmlns:a16="http://schemas.microsoft.com/office/drawing/2014/main" id="{C2A1B880-ED80-4509-A04A-94836BB29B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57537" y="4351041"/>
                          <a:ext cx="1914525" cy="585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A6B6CA73-4240-55FB-997A-A0C6C1542266}"/>
              </a:ext>
            </a:extLst>
          </p:cNvPr>
          <p:cNvGrpSpPr/>
          <p:nvPr/>
        </p:nvGrpSpPr>
        <p:grpSpPr>
          <a:xfrm>
            <a:off x="6900738" y="3440910"/>
            <a:ext cx="2484355" cy="635867"/>
            <a:chOff x="6900738" y="3440910"/>
            <a:chExt cx="2484355" cy="635867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78D90631-1D3A-4FF4-9731-A71130B20563}"/>
                </a:ext>
              </a:extLst>
            </p:cNvPr>
            <p:cNvSpPr/>
            <p:nvPr/>
          </p:nvSpPr>
          <p:spPr bwMode="auto">
            <a:xfrm>
              <a:off x="6900738" y="3440910"/>
              <a:ext cx="2484355" cy="63586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0000" tIns="82800" rIns="90000" bIns="82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aphicFrame>
          <p:nvGraphicFramePr>
            <p:cNvPr id="68" name="Object 88">
              <a:extLst>
                <a:ext uri="{FF2B5EF4-FFF2-40B4-BE49-F238E27FC236}">
                  <a16:creationId xmlns:a16="http://schemas.microsoft.com/office/drawing/2014/main" id="{984D48CA-4B1C-4F09-A44B-DE8505D3ED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1639065"/>
                </p:ext>
              </p:extLst>
            </p:nvPr>
          </p:nvGraphicFramePr>
          <p:xfrm>
            <a:off x="7524958" y="3499689"/>
            <a:ext cx="1172728" cy="496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457002" imgH="215806" progId="Equation.3">
                    <p:embed/>
                  </p:oleObj>
                </mc:Choice>
                <mc:Fallback>
                  <p:oleObj name="Ecuación" r:id="rId10" imgW="457002" imgH="215806" progId="Equation.3">
                    <p:embed/>
                    <p:pic>
                      <p:nvPicPr>
                        <p:cNvPr id="68" name="Object 88">
                          <a:extLst>
                            <a:ext uri="{FF2B5EF4-FFF2-40B4-BE49-F238E27FC236}">
                              <a16:creationId xmlns:a16="http://schemas.microsoft.com/office/drawing/2014/main" id="{984D48CA-4B1C-4F09-A44B-DE8505D3ED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4958" y="3499689"/>
                          <a:ext cx="1172728" cy="496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73">
              <a:extLst>
                <a:ext uri="{FF2B5EF4-FFF2-40B4-BE49-F238E27FC236}">
                  <a16:creationId xmlns:a16="http://schemas.microsoft.com/office/drawing/2014/main" id="{1BD051D0-BB1D-764D-C360-C0F5C9E9FF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3405453"/>
                </p:ext>
              </p:extLst>
            </p:nvPr>
          </p:nvGraphicFramePr>
          <p:xfrm>
            <a:off x="6967579" y="3447830"/>
            <a:ext cx="490538" cy="487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228600" imgH="228600" progId="Equation.3">
                    <p:embed/>
                  </p:oleObj>
                </mc:Choice>
                <mc:Fallback>
                  <p:oleObj name="Ecuación" r:id="rId3" imgW="228600" imgH="228600" progId="Equation.3">
                    <p:embed/>
                    <p:pic>
                      <p:nvPicPr>
                        <p:cNvPr id="50" name="Object 73">
                          <a:extLst>
                            <a:ext uri="{FF2B5EF4-FFF2-40B4-BE49-F238E27FC236}">
                              <a16:creationId xmlns:a16="http://schemas.microsoft.com/office/drawing/2014/main" id="{8388C1E6-EB3D-40EB-A866-FC3A46AAB6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7579" y="3447830"/>
                          <a:ext cx="490538" cy="487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111">
            <a:extLst>
              <a:ext uri="{FF2B5EF4-FFF2-40B4-BE49-F238E27FC236}">
                <a16:creationId xmlns:a16="http://schemas.microsoft.com/office/drawing/2014/main" id="{D0712492-B747-1479-B087-E28DFC78B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630" y="3413518"/>
            <a:ext cx="3962408" cy="16227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Por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simetría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que hay: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El campo sólo puede tener componente radial y sólo depender de r</a:t>
            </a:r>
            <a:endParaRPr lang="es-E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 Box 117">
            <a:extLst>
              <a:ext uri="{FF2B5EF4-FFF2-40B4-BE49-F238E27FC236}">
                <a16:creationId xmlns:a16="http://schemas.microsoft.com/office/drawing/2014/main" id="{BAB0A7D3-CB28-6212-5B53-7A53382AF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181" y="5500911"/>
            <a:ext cx="4319590" cy="1202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Aplicando Gauss, siendo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“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Q”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la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carga encerrada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en 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(Q en este caso)</a:t>
            </a:r>
            <a:r>
              <a:rPr lang="es-ES" sz="2400">
                <a:latin typeface="Arial" panose="020B0604020202020204" pitchFamily="34" charset="0"/>
              </a:rPr>
              <a:t>, sale que: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10" name="Group 61">
            <a:extLst>
              <a:ext uri="{FF2B5EF4-FFF2-40B4-BE49-F238E27FC236}">
                <a16:creationId xmlns:a16="http://schemas.microsoft.com/office/drawing/2014/main" id="{45E1E614-5B8B-E79C-EB99-B9A54CE4C309}"/>
              </a:ext>
            </a:extLst>
          </p:cNvPr>
          <p:cNvGrpSpPr>
            <a:grpSpLocks/>
          </p:cNvGrpSpPr>
          <p:nvPr/>
        </p:nvGrpSpPr>
        <p:grpSpPr bwMode="auto">
          <a:xfrm>
            <a:off x="6919705" y="5529349"/>
            <a:ext cx="2478088" cy="1196974"/>
            <a:chOff x="4907" y="3607"/>
            <a:chExt cx="1561" cy="754"/>
          </a:xfrm>
        </p:grpSpPr>
        <p:sp>
          <p:nvSpPr>
            <p:cNvPr id="11" name="Rectangle 101">
              <a:extLst>
                <a:ext uri="{FF2B5EF4-FFF2-40B4-BE49-F238E27FC236}">
                  <a16:creationId xmlns:a16="http://schemas.microsoft.com/office/drawing/2014/main" id="{3C202735-B633-5AF2-DF73-CD626C549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7" y="3607"/>
              <a:ext cx="1561" cy="75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9">
                  <a:extLst>
                    <a:ext uri="{FF2B5EF4-FFF2-40B4-BE49-F238E27FC236}">
                      <a16:creationId xmlns:a16="http://schemas.microsoft.com/office/drawing/2014/main" id="{9B90E859-FE00-1880-6067-360E0B67A7CC}"/>
                    </a:ext>
                  </a:extLst>
                </p:cNvPr>
                <p:cNvSpPr txBox="1"/>
                <p:nvPr/>
              </p:nvSpPr>
              <p:spPr bwMode="auto">
                <a:xfrm>
                  <a:off x="5016" y="3665"/>
                  <a:ext cx="1388" cy="6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s-E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es-E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f>
                          <m:fPr>
                            <m:ctrlPr>
                              <a:rPr lang="es-E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E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s-E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b>
                          <m:sSubPr>
                            <m:ctrlPr>
                              <a:rPr lang="es-E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s-E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s-E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s-ES" sz="3200" dirty="0"/>
                </a:p>
              </p:txBody>
            </p:sp>
          </mc:Choice>
          <mc:Fallback xmlns="">
            <p:sp>
              <p:nvSpPr>
                <p:cNvPr id="12" name="Object 9">
                  <a:extLst>
                    <a:ext uri="{FF2B5EF4-FFF2-40B4-BE49-F238E27FC236}">
                      <a16:creationId xmlns:a16="http://schemas.microsoft.com/office/drawing/2014/main" id="{9B90E859-FE00-1880-6067-360E0B67A7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16" y="3665"/>
                  <a:ext cx="1388" cy="6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7068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2" grpId="0" animBg="1"/>
      <p:bldP spid="56" grpId="0" animBg="1"/>
      <p:bldP spid="69" grpId="0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81" name="Text Box 53"/>
          <p:cNvSpPr txBox="1">
            <a:spLocks noChangeArrowheads="1"/>
          </p:cNvSpPr>
          <p:nvPr/>
        </p:nvSpPr>
        <p:spPr bwMode="auto">
          <a:xfrm>
            <a:off x="4691858" y="5266409"/>
            <a:ext cx="5877430" cy="16227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El campo eléctrico 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es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discontinuo</a:t>
            </a:r>
            <a:endParaRPr lang="es-ES" sz="24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al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cruzar una distribución 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de carga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no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volumétrica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(superficial</a:t>
            </a: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, longitudinal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o puntual), varía su sentido o su módulo</a:t>
            </a:r>
            <a:endParaRPr lang="es-ES" sz="24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1750" name="Text Box 9"/>
          <p:cNvSpPr txBox="1">
            <a:spLocks noChangeArrowheads="1"/>
          </p:cNvSpPr>
          <p:nvPr/>
        </p:nvSpPr>
        <p:spPr bwMode="auto">
          <a:xfrm>
            <a:off x="1238281" y="355477"/>
            <a:ext cx="6218069" cy="978584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SUPERFICIE ESFÉRICA DE RADIO 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UNIFORMEMENTE CARGADA (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 = cte.)</a:t>
            </a:r>
          </a:p>
        </p:txBody>
      </p:sp>
      <p:sp>
        <p:nvSpPr>
          <p:cNvPr id="7183" name="Text Box 44"/>
          <p:cNvSpPr txBox="1">
            <a:spLocks noChangeArrowheads="1"/>
          </p:cNvSpPr>
          <p:nvPr/>
        </p:nvSpPr>
        <p:spPr bwMode="auto">
          <a:xfrm>
            <a:off x="4595220" y="1516863"/>
            <a:ext cx="581974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Todo lo </a:t>
            </a:r>
            <a:r>
              <a:rPr lang="es-ES" sz="2400" dirty="0">
                <a:latin typeface="Arial" panose="020B0604020202020204" pitchFamily="34" charset="0"/>
              </a:rPr>
              <a:t>anterior </a:t>
            </a:r>
            <a:r>
              <a:rPr lang="es-ES" sz="2400">
                <a:latin typeface="Arial" panose="020B0604020202020204" pitchFamily="34" charset="0"/>
              </a:rPr>
              <a:t>es válido,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1389800" y="1392626"/>
            <a:ext cx="2914650" cy="2738438"/>
            <a:chOff x="1484798" y="1436476"/>
            <a:chExt cx="2914650" cy="2738438"/>
          </a:xfrm>
        </p:grpSpPr>
        <p:sp>
          <p:nvSpPr>
            <p:cNvPr id="31749" name="Oval 4"/>
            <p:cNvSpPr>
              <a:spLocks noChangeArrowheads="1"/>
            </p:cNvSpPr>
            <p:nvPr/>
          </p:nvSpPr>
          <p:spPr bwMode="auto">
            <a:xfrm>
              <a:off x="1695936" y="1812714"/>
              <a:ext cx="2243137" cy="220821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8000"/>
                </a:gs>
              </a:gsLst>
              <a:path path="shape">
                <a:fillToRect l="50000" t="50000" r="50000" b="50000"/>
              </a:path>
            </a:gra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51" name="Line 15"/>
            <p:cNvSpPr>
              <a:spLocks noChangeShapeType="1"/>
            </p:cNvSpPr>
            <p:nvPr/>
          </p:nvSpPr>
          <p:spPr bwMode="auto">
            <a:xfrm>
              <a:off x="2804011" y="1723814"/>
              <a:ext cx="12700" cy="2451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31752" name="Line 16"/>
            <p:cNvSpPr>
              <a:spLocks noChangeShapeType="1"/>
            </p:cNvSpPr>
            <p:nvPr/>
          </p:nvSpPr>
          <p:spPr bwMode="auto">
            <a:xfrm flipH="1">
              <a:off x="1680061" y="2244514"/>
              <a:ext cx="2197100" cy="1346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31753" name="Line 17"/>
            <p:cNvSpPr>
              <a:spLocks noChangeShapeType="1"/>
            </p:cNvSpPr>
            <p:nvPr/>
          </p:nvSpPr>
          <p:spPr bwMode="auto">
            <a:xfrm flipV="1">
              <a:off x="1527661" y="2892214"/>
              <a:ext cx="2603500" cy="25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31754" name="Text Box 36"/>
            <p:cNvSpPr txBox="1">
              <a:spLocks noChangeArrowheads="1"/>
            </p:cNvSpPr>
            <p:nvPr/>
          </p:nvSpPr>
          <p:spPr bwMode="auto">
            <a:xfrm>
              <a:off x="1484798" y="3541501"/>
              <a:ext cx="3079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31755" name="Text Box 37"/>
            <p:cNvSpPr txBox="1">
              <a:spLocks noChangeArrowheads="1"/>
            </p:cNvSpPr>
            <p:nvPr/>
          </p:nvSpPr>
          <p:spPr bwMode="auto">
            <a:xfrm>
              <a:off x="4091473" y="2498514"/>
              <a:ext cx="3079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y</a:t>
              </a:r>
            </a:p>
          </p:txBody>
        </p:sp>
        <p:sp>
          <p:nvSpPr>
            <p:cNvPr id="31756" name="Text Box 38"/>
            <p:cNvSpPr txBox="1">
              <a:spLocks noChangeArrowheads="1"/>
            </p:cNvSpPr>
            <p:nvPr/>
          </p:nvSpPr>
          <p:spPr bwMode="auto">
            <a:xfrm>
              <a:off x="2521436" y="1436476"/>
              <a:ext cx="3079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z</a:t>
              </a:r>
            </a:p>
          </p:txBody>
        </p:sp>
        <p:sp>
          <p:nvSpPr>
            <p:cNvPr id="31757" name="Oval 42"/>
            <p:cNvSpPr>
              <a:spLocks noChangeArrowheads="1"/>
            </p:cNvSpPr>
            <p:nvPr/>
          </p:nvSpPr>
          <p:spPr bwMode="auto">
            <a:xfrm>
              <a:off x="1692761" y="2655676"/>
              <a:ext cx="2232025" cy="522288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58" name="Oval 43"/>
            <p:cNvSpPr>
              <a:spLocks noChangeArrowheads="1"/>
            </p:cNvSpPr>
            <p:nvPr/>
          </p:nvSpPr>
          <p:spPr bwMode="auto">
            <a:xfrm rot="5400000">
              <a:off x="1680061" y="2500101"/>
              <a:ext cx="2232025" cy="866775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60" name="Text Box 45"/>
            <p:cNvSpPr txBox="1">
              <a:spLocks noChangeArrowheads="1"/>
            </p:cNvSpPr>
            <p:nvPr/>
          </p:nvSpPr>
          <p:spPr bwMode="auto">
            <a:xfrm>
              <a:off x="1981686" y="2287376"/>
              <a:ext cx="3651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31761" name="Line 46"/>
            <p:cNvSpPr>
              <a:spLocks noChangeShapeType="1"/>
            </p:cNvSpPr>
            <p:nvPr/>
          </p:nvSpPr>
          <p:spPr bwMode="auto">
            <a:xfrm flipH="1" flipV="1">
              <a:off x="2122973" y="2114339"/>
              <a:ext cx="695325" cy="8032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723" name="Object 47"/>
              <p:cNvSpPr txBox="1"/>
              <p:nvPr/>
            </p:nvSpPr>
            <p:spPr bwMode="auto">
              <a:xfrm>
                <a:off x="5721350" y="4330429"/>
                <a:ext cx="2380237" cy="833179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s-E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f>
                        <m:f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𝑒𝑠𝑓𝑒𝑟𝑎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29723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1350" y="4330429"/>
                <a:ext cx="2380237" cy="8331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24" name="Text Box 49"/>
          <p:cNvSpPr txBox="1">
            <a:spLocks noChangeArrowheads="1"/>
          </p:cNvSpPr>
          <p:nvPr/>
        </p:nvSpPr>
        <p:spPr bwMode="auto">
          <a:xfrm>
            <a:off x="4677190" y="4490592"/>
            <a:ext cx="856623" cy="4638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 &gt;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21" name="Object 50"/>
              <p:cNvSpPr txBox="1"/>
              <p:nvPr/>
            </p:nvSpPr>
            <p:spPr bwMode="auto">
              <a:xfrm>
                <a:off x="5721314" y="3514456"/>
                <a:ext cx="1108075" cy="688576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anchor="ctr" anchorCtr="0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s-E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29721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1314" y="3514456"/>
                <a:ext cx="1108075" cy="6885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22" name="Text Box 51"/>
          <p:cNvSpPr txBox="1">
            <a:spLocks noChangeArrowheads="1"/>
          </p:cNvSpPr>
          <p:nvPr/>
        </p:nvSpPr>
        <p:spPr bwMode="auto">
          <a:xfrm>
            <a:off x="4677190" y="3618946"/>
            <a:ext cx="856623" cy="4638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 &lt; R</a:t>
            </a:r>
          </a:p>
        </p:txBody>
      </p:sp>
      <p:sp>
        <p:nvSpPr>
          <p:cNvPr id="7188" name="Text Box 52"/>
          <p:cNvSpPr txBox="1">
            <a:spLocks noChangeArrowheads="1"/>
          </p:cNvSpPr>
          <p:nvPr/>
        </p:nvSpPr>
        <p:spPr bwMode="auto">
          <a:xfrm>
            <a:off x="7949744" y="3460431"/>
            <a:ext cx="268898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No hay carga encerrada en S</a:t>
            </a:r>
          </a:p>
        </p:txBody>
      </p:sp>
      <p:sp>
        <p:nvSpPr>
          <p:cNvPr id="7192" name="Text Box 55"/>
          <p:cNvSpPr txBox="1">
            <a:spLocks noChangeArrowheads="1"/>
          </p:cNvSpPr>
          <p:nvPr/>
        </p:nvSpPr>
        <p:spPr bwMode="auto">
          <a:xfrm>
            <a:off x="8289088" y="4359478"/>
            <a:ext cx="196140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 encierra toda la carga</a:t>
            </a:r>
          </a:p>
        </p:txBody>
      </p:sp>
      <p:sp>
        <p:nvSpPr>
          <p:cNvPr id="7193" name="Text Box 54"/>
          <p:cNvSpPr txBox="1">
            <a:spLocks noChangeArrowheads="1"/>
          </p:cNvSpPr>
          <p:nvPr/>
        </p:nvSpPr>
        <p:spPr bwMode="auto">
          <a:xfrm>
            <a:off x="1320537" y="5266409"/>
            <a:ext cx="3274683" cy="1622734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Es igual al de una Q puntual, con toda la carga, situada en el centro de la esfera</a:t>
            </a:r>
          </a:p>
        </p:txBody>
      </p:sp>
      <p:sp>
        <p:nvSpPr>
          <p:cNvPr id="6" name="Forma libre 5"/>
          <p:cNvSpPr/>
          <p:nvPr/>
        </p:nvSpPr>
        <p:spPr bwMode="auto">
          <a:xfrm>
            <a:off x="2825393" y="4693865"/>
            <a:ext cx="1674688" cy="544531"/>
          </a:xfrm>
          <a:custGeom>
            <a:avLst/>
            <a:gdLst>
              <a:gd name="connsiteX0" fmla="*/ 1674688 w 1674688"/>
              <a:gd name="connsiteY0" fmla="*/ 0 h 544531"/>
              <a:gd name="connsiteX1" fmla="*/ 10274 w 1674688"/>
              <a:gd name="connsiteY1" fmla="*/ 20549 h 544531"/>
              <a:gd name="connsiteX2" fmla="*/ 0 w 1674688"/>
              <a:gd name="connsiteY2" fmla="*/ 544531 h 54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4688" h="544531">
                <a:moveTo>
                  <a:pt x="1674688" y="0"/>
                </a:moveTo>
                <a:lnTo>
                  <a:pt x="10274" y="20549"/>
                </a:lnTo>
                <a:lnTo>
                  <a:pt x="0" y="544531"/>
                </a:lnTo>
              </a:path>
            </a:pathLst>
          </a:cu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4601146" y="1911243"/>
            <a:ext cx="581974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pero hay que aplicar Gauss </a:t>
            </a:r>
            <a:r>
              <a:rPr lang="es-ES" sz="2400" dirty="0">
                <a:latin typeface="Arial" panose="020B0604020202020204" pitchFamily="34" charset="0"/>
              </a:rPr>
              <a:t>dos veces: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4739622" y="2453174"/>
            <a:ext cx="5510866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latin typeface="Arial" panose="020B0604020202020204" pitchFamily="34" charset="0"/>
              </a:rPr>
              <a:t> Para r &lt; R</a:t>
            </a:r>
            <a:r>
              <a:rPr lang="es-ES" sz="2400">
                <a:latin typeface="Arial" panose="020B0604020202020204" pitchFamily="34" charset="0"/>
              </a:rPr>
              <a:t>:  Con una </a:t>
            </a:r>
            <a:r>
              <a:rPr lang="es-ES" sz="2400" dirty="0">
                <a:latin typeface="Arial" panose="020B0604020202020204" pitchFamily="34" charset="0"/>
              </a:rPr>
              <a:t>S en el interior</a:t>
            </a:r>
          </a:p>
        </p:txBody>
      </p:sp>
      <p:sp>
        <p:nvSpPr>
          <p:cNvPr id="27" name="Text Box 44">
            <a:extLst>
              <a:ext uri="{FF2B5EF4-FFF2-40B4-BE49-F238E27FC236}">
                <a16:creationId xmlns:a16="http://schemas.microsoft.com/office/drawing/2014/main" id="{0EB60F5B-9DE3-4FF7-BA47-EDC15151E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486" y="2861770"/>
            <a:ext cx="558848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latin typeface="Arial" panose="020B0604020202020204" pitchFamily="34" charset="0"/>
              </a:rPr>
              <a:t> Para r &gt; R:  </a:t>
            </a:r>
            <a:r>
              <a:rPr lang="es-ES" sz="2400">
                <a:latin typeface="Arial" panose="020B0604020202020204" pitchFamily="34" charset="0"/>
              </a:rPr>
              <a:t>Con una S </a:t>
            </a:r>
            <a:r>
              <a:rPr lang="es-ES" sz="2400" dirty="0">
                <a:latin typeface="Arial" panose="020B0604020202020204" pitchFamily="34" charset="0"/>
              </a:rPr>
              <a:t>en el exterior  </a:t>
            </a:r>
          </a:p>
        </p:txBody>
      </p:sp>
    </p:spTree>
    <p:extLst>
      <p:ext uri="{BB962C8B-B14F-4D97-AF65-F5344CB8AC3E}">
        <p14:creationId xmlns:p14="http://schemas.microsoft.com/office/powerpoint/2010/main" val="318590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9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9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7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81" grpId="0" animBg="1"/>
      <p:bldP spid="31750" grpId="0" animBg="1"/>
      <p:bldP spid="7183" grpId="0"/>
      <p:bldP spid="29723" grpId="0" animBg="1"/>
      <p:bldP spid="29724" grpId="0" animBg="1"/>
      <p:bldP spid="29721" grpId="0" animBg="1"/>
      <p:bldP spid="29722" grpId="0" animBg="1"/>
      <p:bldP spid="7188" grpId="0"/>
      <p:bldP spid="7192" grpId="0"/>
      <p:bldP spid="7193" grpId="0" animBg="1"/>
      <p:bldP spid="6" grpId="0" animBg="1"/>
      <p:bldP spid="25" grpId="0"/>
      <p:bldP spid="26" grpId="0"/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quina doblada 1"/>
          <p:cNvSpPr/>
          <p:nvPr/>
        </p:nvSpPr>
        <p:spPr bwMode="auto">
          <a:xfrm>
            <a:off x="1361306" y="1705638"/>
            <a:ext cx="8869680" cy="5184000"/>
          </a:xfrm>
          <a:prstGeom prst="foldedCorner">
            <a:avLst>
              <a:gd name="adj" fmla="val 6810"/>
            </a:avLst>
          </a:prstGeom>
          <a:solidFill>
            <a:srgbClr val="FFFF99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9718" name="Text Box 27"/>
          <p:cNvSpPr txBox="1">
            <a:spLocks noChangeArrowheads="1"/>
          </p:cNvSpPr>
          <p:nvPr/>
        </p:nvSpPr>
        <p:spPr bwMode="auto">
          <a:xfrm>
            <a:off x="1517361" y="2831989"/>
            <a:ext cx="8643486" cy="1326105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/>
              <a:t>Si la Tierra fuera una esfera maciza, suma de superficies</a:t>
            </a:r>
          </a:p>
          <a:p>
            <a:pPr algn="just" eaLnBrk="1" hangingPunct="1"/>
            <a:r>
              <a:rPr lang="es-ES" sz="2400" dirty="0"/>
              <a:t>   esféricas uniformes concéntricas (como las capas de una</a:t>
            </a:r>
          </a:p>
          <a:p>
            <a:pPr algn="just" eaLnBrk="1" hangingPunct="1"/>
            <a:r>
              <a:rPr lang="es-ES" sz="2400"/>
              <a:t>   cebolla</a:t>
            </a:r>
            <a:r>
              <a:rPr lang="es-ES" sz="2400" dirty="0"/>
              <a:t>), aplicando el </a:t>
            </a:r>
            <a:r>
              <a:rPr lang="es-ES" sz="2400" b="1" dirty="0"/>
              <a:t>Principio de Superposición</a:t>
            </a:r>
            <a:r>
              <a:rPr lang="es-ES" sz="2400" dirty="0"/>
              <a:t>:</a:t>
            </a:r>
          </a:p>
        </p:txBody>
      </p:sp>
      <p:sp>
        <p:nvSpPr>
          <p:cNvPr id="5" name="Text Box 27"/>
          <p:cNvSpPr txBox="1">
            <a:spLocks noChangeArrowheads="1"/>
          </p:cNvSpPr>
          <p:nvPr/>
        </p:nvSpPr>
        <p:spPr bwMode="auto">
          <a:xfrm>
            <a:off x="1517361" y="2033600"/>
            <a:ext cx="8737600" cy="956773"/>
          </a:xfrm>
          <a:prstGeom prst="rect">
            <a:avLst/>
          </a:prstGeom>
          <a:noFill/>
          <a:ln>
            <a:noFill/>
          </a:ln>
        </p:spPr>
        <p:txBody>
          <a:bodyPr lIns="108000" tIns="108000" rIns="108000" bIns="108000" anchor="ctr" anchorCtr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/>
              <a:t>Para </a:t>
            </a:r>
            <a:r>
              <a:rPr lang="es-ES" sz="2400" b="1" dirty="0"/>
              <a:t>g</a:t>
            </a:r>
            <a:r>
              <a:rPr lang="es-ES" sz="2400" dirty="0"/>
              <a:t>, para M, hay una </a:t>
            </a:r>
            <a:r>
              <a:rPr lang="es-ES" sz="2400" b="1" dirty="0"/>
              <a:t>Ley de Gauss </a:t>
            </a:r>
            <a:r>
              <a:rPr lang="es-ES" sz="2400" dirty="0"/>
              <a:t>similar, y se tienen</a:t>
            </a:r>
          </a:p>
          <a:p>
            <a:pPr algn="just" eaLnBrk="1" hangingPunct="1"/>
            <a:r>
              <a:rPr lang="es-ES" sz="2400" dirty="0"/>
              <a:t>   los mismos resultados que en el caso eléctrico.</a:t>
            </a:r>
          </a:p>
        </p:txBody>
      </p:sp>
      <p:sp>
        <p:nvSpPr>
          <p:cNvPr id="6" name="Text Box 27"/>
          <p:cNvSpPr txBox="1">
            <a:spLocks noChangeArrowheads="1"/>
          </p:cNvSpPr>
          <p:nvPr/>
        </p:nvSpPr>
        <p:spPr bwMode="auto">
          <a:xfrm>
            <a:off x="1534313" y="4918954"/>
            <a:ext cx="8737600" cy="956773"/>
          </a:xfrm>
          <a:prstGeom prst="rect">
            <a:avLst/>
          </a:prstGeom>
          <a:noFill/>
          <a:ln>
            <a:noFill/>
          </a:ln>
        </p:spPr>
        <p:txBody>
          <a:bodyPr lIns="108000" tIns="108000" rIns="108000" bIns="108000" anchor="ctr" anchorCtr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sz="2400" dirty="0"/>
              <a:t>Dentro)  Pasaría lo mismo, pero sólo contribuirían a </a:t>
            </a:r>
            <a:r>
              <a:rPr lang="es-ES" sz="2400" b="1" dirty="0"/>
              <a:t>g</a:t>
            </a:r>
          </a:p>
          <a:p>
            <a:pPr algn="just" eaLnBrk="1" hangingPunct="1"/>
            <a:r>
              <a:rPr lang="es-ES" sz="2400" b="1" dirty="0"/>
              <a:t>             </a:t>
            </a:r>
            <a:r>
              <a:rPr lang="es-ES" sz="2400" dirty="0"/>
              <a:t> las superficies por debajo, su </a:t>
            </a:r>
            <a:r>
              <a:rPr lang="es-ES" sz="2400"/>
              <a:t>masa. |</a:t>
            </a:r>
            <a:r>
              <a:rPr lang="es-ES" sz="2400" b="1"/>
              <a:t>g</a:t>
            </a:r>
            <a:r>
              <a:rPr lang="es-ES" sz="2400"/>
              <a:t>| crece con r.</a:t>
            </a:r>
            <a:endParaRPr lang="es-ES" sz="2400" dirty="0"/>
          </a:p>
        </p:txBody>
      </p:sp>
      <p:sp>
        <p:nvSpPr>
          <p:cNvPr id="7" name="Text Box 27"/>
          <p:cNvSpPr txBox="1">
            <a:spLocks noChangeArrowheads="1"/>
          </p:cNvSpPr>
          <p:nvPr/>
        </p:nvSpPr>
        <p:spPr bwMode="auto">
          <a:xfrm>
            <a:off x="1472840" y="4023779"/>
            <a:ext cx="8737600" cy="956773"/>
          </a:xfrm>
          <a:prstGeom prst="rect">
            <a:avLst/>
          </a:prstGeom>
          <a:noFill/>
          <a:ln>
            <a:noFill/>
          </a:ln>
        </p:spPr>
        <p:txBody>
          <a:bodyPr lIns="108000" tIns="108000" rIns="108000" bIns="108000" anchor="ctr" anchorCtr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sz="2400"/>
              <a:t> Fuera) </a:t>
            </a:r>
            <a:r>
              <a:rPr lang="es-ES" sz="2400" b="1"/>
              <a:t>g</a:t>
            </a:r>
            <a:r>
              <a:rPr lang="es-ES" sz="2400"/>
              <a:t> </a:t>
            </a:r>
            <a:r>
              <a:rPr lang="es-ES" sz="2400" dirty="0"/>
              <a:t>sería igual a la creada por </a:t>
            </a:r>
            <a:r>
              <a:rPr lang="es-ES" sz="2400"/>
              <a:t>una M puntual con toda</a:t>
            </a:r>
            <a:endParaRPr lang="es-ES" sz="2400" dirty="0"/>
          </a:p>
          <a:p>
            <a:pPr algn="just" eaLnBrk="1" hangingPunct="1"/>
            <a:r>
              <a:rPr lang="es-ES" sz="2400"/>
              <a:t>            la M </a:t>
            </a:r>
            <a:r>
              <a:rPr lang="es-ES" sz="2400" dirty="0"/>
              <a:t>de la </a:t>
            </a:r>
            <a:r>
              <a:rPr lang="es-ES" sz="2400"/>
              <a:t>Tierra puesta </a:t>
            </a:r>
            <a:r>
              <a:rPr lang="es-ES" sz="2400" dirty="0"/>
              <a:t>en su </a:t>
            </a:r>
            <a:r>
              <a:rPr lang="es-ES" sz="2400"/>
              <a:t>centro. |</a:t>
            </a:r>
            <a:r>
              <a:rPr lang="es-ES" sz="2400" b="1"/>
              <a:t>g</a:t>
            </a:r>
            <a:r>
              <a:rPr lang="es-ES" sz="2400"/>
              <a:t>| decrece con r. </a:t>
            </a:r>
            <a:endParaRPr lang="es-ES" sz="2400" dirty="0"/>
          </a:p>
        </p:txBody>
      </p:sp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1544703" y="5790273"/>
            <a:ext cx="8595361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sz="2400" dirty="0"/>
              <a:t>              En el centro de </a:t>
            </a:r>
            <a:r>
              <a:rPr lang="es-ES" sz="2400"/>
              <a:t>la Tierra, </a:t>
            </a:r>
            <a:r>
              <a:rPr lang="es-ES" sz="2400" b="1"/>
              <a:t>g</a:t>
            </a:r>
            <a:r>
              <a:rPr lang="es-ES" sz="2400"/>
              <a:t> sería </a:t>
            </a:r>
            <a:r>
              <a:rPr lang="es-ES" sz="2400" dirty="0"/>
              <a:t>nula.</a:t>
            </a:r>
          </a:p>
        </p:txBody>
      </p:sp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1981200" y="346834"/>
            <a:ext cx="8246790" cy="9567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 dirty="0"/>
              <a:t>La aplicación conjunta de la </a:t>
            </a:r>
            <a:r>
              <a:rPr lang="es-ES" sz="2400" b="1" dirty="0"/>
              <a:t>Ley de Gauss </a:t>
            </a:r>
            <a:r>
              <a:rPr lang="es-ES" sz="2400" dirty="0"/>
              <a:t>y del </a:t>
            </a:r>
            <a:r>
              <a:rPr lang="es-ES" sz="2400" b="1" dirty="0"/>
              <a:t>Principio</a:t>
            </a:r>
          </a:p>
          <a:p>
            <a:pPr algn="ctr" eaLnBrk="1" hangingPunct="1"/>
            <a:r>
              <a:rPr lang="es-ES" sz="2400" b="1" dirty="0"/>
              <a:t>de Superposición</a:t>
            </a:r>
            <a:r>
              <a:rPr lang="es-ES" sz="2400" dirty="0"/>
              <a:t> permite obtener resultados fácilmente</a:t>
            </a:r>
          </a:p>
        </p:txBody>
      </p:sp>
      <p:sp>
        <p:nvSpPr>
          <p:cNvPr id="10" name="Text Box 27">
            <a:extLst>
              <a:ext uri="{FF2B5EF4-FFF2-40B4-BE49-F238E27FC236}">
                <a16:creationId xmlns:a16="http://schemas.microsoft.com/office/drawing/2014/main" id="{690610CD-C26B-4A03-B91C-910FEEFD1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441887"/>
            <a:ext cx="7056912" cy="58744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 u="sng"/>
              <a:t>Ejemplo</a:t>
            </a:r>
            <a:r>
              <a:rPr lang="es-ES" sz="2400"/>
              <a:t>: Campo gravitatorio o gravedad terrestre</a:t>
            </a:r>
            <a:endParaRPr lang="es-ES" sz="2400" dirty="0"/>
          </a:p>
        </p:txBody>
      </p:sp>
      <p:sp>
        <p:nvSpPr>
          <p:cNvPr id="12" name="Text Box 128">
            <a:extLst>
              <a:ext uri="{FF2B5EF4-FFF2-40B4-BE49-F238E27FC236}">
                <a16:creationId xmlns:a16="http://schemas.microsoft.com/office/drawing/2014/main" id="{67BC7D04-6F78-4A21-BF30-B7B124BB9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6200" y="370562"/>
            <a:ext cx="561152" cy="884070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4800" dirty="0">
                <a:solidFill>
                  <a:srgbClr val="FFFF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5</a:t>
            </a:r>
          </a:p>
        </p:txBody>
      </p:sp>
      <p:sp>
        <p:nvSpPr>
          <p:cNvPr id="11" name="Text Box 27">
            <a:extLst>
              <a:ext uri="{FF2B5EF4-FFF2-40B4-BE49-F238E27FC236}">
                <a16:creationId xmlns:a16="http://schemas.microsoft.com/office/drawing/2014/main" id="{1B4D75F3-E50F-4FCB-9B61-8603E4DAA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3473" y="6311969"/>
            <a:ext cx="8595361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b="1"/>
              <a:t>g</a:t>
            </a:r>
            <a:r>
              <a:rPr lang="es-ES" sz="2400"/>
              <a:t> resulta continua (distribución </a:t>
            </a:r>
            <a:r>
              <a:rPr lang="es-ES" sz="2400" dirty="0"/>
              <a:t>de masa </a:t>
            </a:r>
            <a:r>
              <a:rPr lang="es-ES" sz="2400"/>
              <a:t>en volumen).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49140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9718" grpId="0"/>
      <p:bldP spid="5" grpId="0"/>
      <p:bldP spid="6" grpId="0"/>
      <p:bldP spid="7" grpId="0"/>
      <p:bldP spid="8" grpId="0"/>
      <p:bldP spid="9" grpId="0" animBg="1"/>
      <p:bldP spid="10" grpId="0" animBg="1"/>
      <p:bldP spid="12" grpId="0" animBg="1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7"/>
          <p:cNvGrpSpPr>
            <a:grpSpLocks/>
          </p:cNvGrpSpPr>
          <p:nvPr/>
        </p:nvGrpSpPr>
        <p:grpSpPr bwMode="auto">
          <a:xfrm>
            <a:off x="1425814" y="1200240"/>
            <a:ext cx="2870200" cy="1666875"/>
            <a:chOff x="1524" y="1200"/>
            <a:chExt cx="1808" cy="1050"/>
          </a:xfrm>
        </p:grpSpPr>
        <p:sp>
          <p:nvSpPr>
            <p:cNvPr id="33846" name="Line 51"/>
            <p:cNvSpPr>
              <a:spLocks noChangeShapeType="1"/>
            </p:cNvSpPr>
            <p:nvPr/>
          </p:nvSpPr>
          <p:spPr bwMode="auto">
            <a:xfrm>
              <a:off x="1912" y="1200"/>
              <a:ext cx="0" cy="105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33847" name="Line 3"/>
            <p:cNvSpPr>
              <a:spLocks noChangeShapeType="1"/>
            </p:cNvSpPr>
            <p:nvPr/>
          </p:nvSpPr>
          <p:spPr bwMode="auto">
            <a:xfrm>
              <a:off x="1524" y="1879"/>
              <a:ext cx="1808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grpSp>
        <p:nvGrpSpPr>
          <p:cNvPr id="3" name="Group 71"/>
          <p:cNvGrpSpPr>
            <a:grpSpLocks/>
          </p:cNvGrpSpPr>
          <p:nvPr/>
        </p:nvGrpSpPr>
        <p:grpSpPr bwMode="auto">
          <a:xfrm>
            <a:off x="1478199" y="1314540"/>
            <a:ext cx="2360612" cy="1552575"/>
            <a:chOff x="1557" y="1272"/>
            <a:chExt cx="1487" cy="978"/>
          </a:xfrm>
        </p:grpSpPr>
        <p:sp>
          <p:nvSpPr>
            <p:cNvPr id="33842" name="Line 4"/>
            <p:cNvSpPr>
              <a:spLocks noChangeShapeType="1"/>
            </p:cNvSpPr>
            <p:nvPr/>
          </p:nvSpPr>
          <p:spPr bwMode="auto">
            <a:xfrm>
              <a:off x="2007" y="1874"/>
              <a:ext cx="77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33843" name="Line 22"/>
            <p:cNvSpPr>
              <a:spLocks noChangeShapeType="1"/>
            </p:cNvSpPr>
            <p:nvPr/>
          </p:nvSpPr>
          <p:spPr bwMode="auto">
            <a:xfrm rot="-5400000">
              <a:off x="1685" y="1577"/>
              <a:ext cx="45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graphicFrame>
          <p:nvGraphicFramePr>
            <p:cNvPr id="33844" name="Object 23"/>
            <p:cNvGraphicFramePr>
              <a:graphicFrameLocks noChangeAspect="1"/>
            </p:cNvGraphicFramePr>
            <p:nvPr/>
          </p:nvGraphicFramePr>
          <p:xfrm>
            <a:off x="2765" y="1886"/>
            <a:ext cx="279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64885" imgH="215619" progId="Equation.3">
                    <p:embed/>
                  </p:oleObj>
                </mc:Choice>
                <mc:Fallback>
                  <p:oleObj name="Ecuación" r:id="rId3" imgW="164885" imgH="215619" progId="Equation.3">
                    <p:embed/>
                    <p:pic>
                      <p:nvPicPr>
                        <p:cNvPr id="33844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5" y="1886"/>
                          <a:ext cx="279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45" name="Object 24"/>
            <p:cNvGraphicFramePr>
              <a:graphicFrameLocks noChangeAspect="1"/>
            </p:cNvGraphicFramePr>
            <p:nvPr/>
          </p:nvGraphicFramePr>
          <p:xfrm>
            <a:off x="1557" y="1272"/>
            <a:ext cx="279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64885" imgH="215619" progId="Equation.3">
                    <p:embed/>
                  </p:oleObj>
                </mc:Choice>
                <mc:Fallback>
                  <p:oleObj name="Ecuación" r:id="rId5" imgW="164885" imgH="215619" progId="Equation.3">
                    <p:embed/>
                    <p:pic>
                      <p:nvPicPr>
                        <p:cNvPr id="3384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7" y="1272"/>
                          <a:ext cx="279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5"/>
          <p:cNvGrpSpPr>
            <a:grpSpLocks/>
          </p:cNvGrpSpPr>
          <p:nvPr/>
        </p:nvGrpSpPr>
        <p:grpSpPr bwMode="auto">
          <a:xfrm>
            <a:off x="2219561" y="2274977"/>
            <a:ext cx="481013" cy="604838"/>
            <a:chOff x="2024" y="1912"/>
            <a:chExt cx="303" cy="381"/>
          </a:xfrm>
        </p:grpSpPr>
        <p:sp>
          <p:nvSpPr>
            <p:cNvPr id="33840" name="Line 16"/>
            <p:cNvSpPr>
              <a:spLocks noChangeShapeType="1"/>
            </p:cNvSpPr>
            <p:nvPr/>
          </p:nvSpPr>
          <p:spPr bwMode="auto">
            <a:xfrm>
              <a:off x="2024" y="1912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graphicFrame>
          <p:nvGraphicFramePr>
            <p:cNvPr id="33841" name="Object 17"/>
            <p:cNvGraphicFramePr>
              <a:graphicFrameLocks noChangeAspect="1"/>
            </p:cNvGraphicFramePr>
            <p:nvPr/>
          </p:nvGraphicFramePr>
          <p:xfrm>
            <a:off x="2027" y="1971"/>
            <a:ext cx="300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77646" imgH="190335" progId="Equation.3">
                    <p:embed/>
                  </p:oleObj>
                </mc:Choice>
                <mc:Fallback>
                  <p:oleObj name="Ecuación" r:id="rId7" imgW="177646" imgH="190335" progId="Equation.3">
                    <p:embed/>
                    <p:pic>
                      <p:nvPicPr>
                        <p:cNvPr id="33841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7" y="1971"/>
                          <a:ext cx="300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66"/>
          <p:cNvGrpSpPr>
            <a:grpSpLocks/>
          </p:cNvGrpSpPr>
          <p:nvPr/>
        </p:nvGrpSpPr>
        <p:grpSpPr bwMode="auto">
          <a:xfrm>
            <a:off x="2078274" y="1339940"/>
            <a:ext cx="1793875" cy="922337"/>
            <a:chOff x="1935" y="1288"/>
            <a:chExt cx="1130" cy="581"/>
          </a:xfrm>
        </p:grpSpPr>
        <p:sp>
          <p:nvSpPr>
            <p:cNvPr id="33838" name="Line 18"/>
            <p:cNvSpPr>
              <a:spLocks noChangeShapeType="1"/>
            </p:cNvSpPr>
            <p:nvPr/>
          </p:nvSpPr>
          <p:spPr bwMode="auto">
            <a:xfrm flipV="1">
              <a:off x="1935" y="1370"/>
              <a:ext cx="839" cy="49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graphicFrame>
          <p:nvGraphicFramePr>
            <p:cNvPr id="33839" name="Object 19"/>
            <p:cNvGraphicFramePr>
              <a:graphicFrameLocks noChangeAspect="1"/>
            </p:cNvGraphicFramePr>
            <p:nvPr/>
          </p:nvGraphicFramePr>
          <p:xfrm>
            <a:off x="2851" y="1288"/>
            <a:ext cx="214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26725" imgH="177415" progId="Equation.3">
                    <p:embed/>
                  </p:oleObj>
                </mc:Choice>
                <mc:Fallback>
                  <p:oleObj name="Ecuación" r:id="rId9" imgW="126725" imgH="177415" progId="Equation.3">
                    <p:embed/>
                    <p:pic>
                      <p:nvPicPr>
                        <p:cNvPr id="33839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1" y="1288"/>
                          <a:ext cx="214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68"/>
          <p:cNvGrpSpPr>
            <a:grpSpLocks/>
          </p:cNvGrpSpPr>
          <p:nvPr/>
        </p:nvGrpSpPr>
        <p:grpSpPr bwMode="auto">
          <a:xfrm>
            <a:off x="1995724" y="1459002"/>
            <a:ext cx="1428750" cy="846138"/>
            <a:chOff x="1883" y="1363"/>
            <a:chExt cx="900" cy="533"/>
          </a:xfrm>
        </p:grpSpPr>
        <p:sp>
          <p:nvSpPr>
            <p:cNvPr id="33836" name="Line 20"/>
            <p:cNvSpPr>
              <a:spLocks noChangeShapeType="1"/>
            </p:cNvSpPr>
            <p:nvPr/>
          </p:nvSpPr>
          <p:spPr bwMode="auto">
            <a:xfrm>
              <a:off x="2783" y="1415"/>
              <a:ext cx="0" cy="481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33837" name="Line 21"/>
            <p:cNvSpPr>
              <a:spLocks noChangeShapeType="1"/>
            </p:cNvSpPr>
            <p:nvPr/>
          </p:nvSpPr>
          <p:spPr bwMode="auto">
            <a:xfrm rot="5400000" flipV="1">
              <a:off x="2324" y="922"/>
              <a:ext cx="0" cy="882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33834" name="Freeform 32"/>
          <p:cNvSpPr>
            <a:spLocks/>
          </p:cNvSpPr>
          <p:nvPr/>
        </p:nvSpPr>
        <p:spPr bwMode="auto">
          <a:xfrm>
            <a:off x="2813286" y="1805077"/>
            <a:ext cx="193675" cy="482600"/>
          </a:xfrm>
          <a:custGeom>
            <a:avLst/>
            <a:gdLst>
              <a:gd name="T0" fmla="*/ 751 w 111"/>
              <a:gd name="T1" fmla="*/ 762 h 291"/>
              <a:gd name="T2" fmla="*/ 751 w 111"/>
              <a:gd name="T3" fmla="*/ 286 h 291"/>
              <a:gd name="T4" fmla="*/ 0 w 111"/>
              <a:gd name="T5" fmla="*/ 0 h 291"/>
              <a:gd name="T6" fmla="*/ 0 60000 65536"/>
              <a:gd name="T7" fmla="*/ 0 60000 65536"/>
              <a:gd name="T8" fmla="*/ 0 60000 65536"/>
              <a:gd name="T9" fmla="*/ 0 w 111"/>
              <a:gd name="T10" fmla="*/ 0 h 291"/>
              <a:gd name="T11" fmla="*/ 111 w 111"/>
              <a:gd name="T12" fmla="*/ 291 h 2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1" h="291">
                <a:moveTo>
                  <a:pt x="95" y="291"/>
                </a:moveTo>
                <a:cubicBezTo>
                  <a:pt x="103" y="224"/>
                  <a:pt x="111" y="157"/>
                  <a:pt x="95" y="109"/>
                </a:cubicBezTo>
                <a:cubicBezTo>
                  <a:pt x="79" y="61"/>
                  <a:pt x="39" y="30"/>
                  <a:pt x="0" y="0"/>
                </a:cubicBezTo>
              </a:path>
            </a:pathLst>
          </a:custGeom>
          <a:noFill/>
          <a:ln w="25400">
            <a:solidFill>
              <a:srgbClr val="008000"/>
            </a:solidFill>
            <a:round/>
            <a:headEnd type="non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/>
          <a:lstStyle/>
          <a:p>
            <a:endParaRPr lang="en-GB"/>
          </a:p>
        </p:txBody>
      </p:sp>
      <p:sp>
        <p:nvSpPr>
          <p:cNvPr id="33835" name="Text Box 33"/>
          <p:cNvSpPr txBox="1">
            <a:spLocks noChangeArrowheads="1"/>
          </p:cNvSpPr>
          <p:nvPr/>
        </p:nvSpPr>
        <p:spPr bwMode="auto">
          <a:xfrm>
            <a:off x="2989499" y="1676490"/>
            <a:ext cx="37306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33830" name="Oval 15"/>
          <p:cNvSpPr>
            <a:spLocks noChangeArrowheads="1"/>
          </p:cNvSpPr>
          <p:nvPr/>
        </p:nvSpPr>
        <p:spPr bwMode="auto">
          <a:xfrm>
            <a:off x="1898886" y="2113052"/>
            <a:ext cx="300038" cy="323850"/>
          </a:xfrm>
          <a:prstGeom prst="ellipse">
            <a:avLst/>
          </a:prstGeom>
          <a:gradFill rotWithShape="1">
            <a:gsLst>
              <a:gs pos="0">
                <a:srgbClr val="D6D6FF"/>
              </a:gs>
              <a:gs pos="100000">
                <a:srgbClr val="3333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831" name="Text Box 83"/>
          <p:cNvSpPr txBox="1">
            <a:spLocks noChangeArrowheads="1"/>
          </p:cNvSpPr>
          <p:nvPr/>
        </p:nvSpPr>
        <p:spPr bwMode="auto">
          <a:xfrm>
            <a:off x="1479786" y="2345260"/>
            <a:ext cx="39211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275542" name="Text Box 86"/>
          <p:cNvSpPr txBox="1">
            <a:spLocks noChangeArrowheads="1"/>
          </p:cNvSpPr>
          <p:nvPr/>
        </p:nvSpPr>
        <p:spPr bwMode="auto">
          <a:xfrm>
            <a:off x="8834861" y="6060283"/>
            <a:ext cx="1188444" cy="536549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: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elta</a:t>
            </a:r>
          </a:p>
        </p:txBody>
      </p:sp>
      <p:sp>
        <p:nvSpPr>
          <p:cNvPr id="275543" name="Text Box 87"/>
          <p:cNvSpPr txBox="1">
            <a:spLocks noChangeArrowheads="1"/>
          </p:cNvSpPr>
          <p:nvPr/>
        </p:nvSpPr>
        <p:spPr bwMode="auto">
          <a:xfrm>
            <a:off x="2528235" y="5214022"/>
            <a:ext cx="3589659" cy="12752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El trabajo de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 sobre m, que realiza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latin typeface="Arial" panose="020B0604020202020204" pitchFamily="34" charset="0"/>
              </a:rPr>
              <a:t>//</a:t>
            </a:r>
            <a:r>
              <a:rPr lang="es-ES" sz="2400" dirty="0">
                <a:latin typeface="Arial" panose="020B0604020202020204" pitchFamily="34" charset="0"/>
              </a:rPr>
              <a:t>, se define, a nivel local, así:</a:t>
            </a:r>
            <a:endParaRPr lang="es-ES" sz="2400" b="1" baseline="-25000" dirty="0">
              <a:latin typeface="Arial" panose="020B0604020202020204" pitchFamily="34" charset="0"/>
            </a:endParaRPr>
          </a:p>
        </p:txBody>
      </p:sp>
      <p:sp>
        <p:nvSpPr>
          <p:cNvPr id="58423" name="Text Box 105"/>
          <p:cNvSpPr txBox="1">
            <a:spLocks noChangeArrowheads="1"/>
          </p:cNvSpPr>
          <p:nvPr/>
        </p:nvSpPr>
        <p:spPr bwMode="auto">
          <a:xfrm>
            <a:off x="4446800" y="2976677"/>
            <a:ext cx="6241520" cy="1253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El e</a:t>
            </a:r>
            <a:r>
              <a:rPr lang="es-ES" sz="2400" dirty="0">
                <a:latin typeface="Arial" panose="020B0604020202020204" pitchFamily="34" charset="0"/>
              </a:rPr>
              <a:t>fecto de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latin typeface="Arial" panose="020B0604020202020204" pitchFamily="34" charset="0"/>
              </a:rPr>
              <a:t>//</a:t>
            </a:r>
            <a:r>
              <a:rPr lang="es-ES" sz="2400" dirty="0">
                <a:latin typeface="Arial" panose="020B0604020202020204" pitchFamily="34" charset="0"/>
              </a:rPr>
              <a:t> es la variación local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(en el punto), del módulo de la velocidad de m</a:t>
            </a:r>
            <a:r>
              <a:rPr lang="es-ES" sz="2400">
                <a:latin typeface="Arial" panose="020B0604020202020204" pitchFamily="34" charset="0"/>
              </a:rPr>
              <a:t>, y con ello, de </a:t>
            </a:r>
            <a:r>
              <a:rPr lang="es-ES" sz="2400" dirty="0">
                <a:latin typeface="Arial" panose="020B0604020202020204" pitchFamily="34" charset="0"/>
              </a:rPr>
              <a:t>la energía cinética de m, </a:t>
            </a:r>
            <a:r>
              <a:rPr lang="es-ES" sz="2400" dirty="0" err="1">
                <a:latin typeface="Arial" panose="020B0604020202020204" pitchFamily="34" charset="0"/>
              </a:rPr>
              <a:t>E</a:t>
            </a:r>
            <a:r>
              <a:rPr lang="es-ES" sz="2400" baseline="-25000" dirty="0" err="1">
                <a:latin typeface="Arial" panose="020B0604020202020204" pitchFamily="34" charset="0"/>
              </a:rPr>
              <a:t>c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3811" name="Rectangle 2"/>
          <p:cNvSpPr>
            <a:spLocks noChangeArrowheads="1"/>
          </p:cNvSpPr>
          <p:nvPr/>
        </p:nvSpPr>
        <p:spPr bwMode="auto">
          <a:xfrm>
            <a:off x="1289050" y="482613"/>
            <a:ext cx="6783387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2.3.1. CONCEPTO DE TRABAJO</a:t>
            </a:r>
          </a:p>
        </p:txBody>
      </p:sp>
      <p:sp>
        <p:nvSpPr>
          <p:cNvPr id="219169" name="Text Box 33"/>
          <p:cNvSpPr txBox="1">
            <a:spLocks noChangeArrowheads="1"/>
          </p:cNvSpPr>
          <p:nvPr/>
        </p:nvSpPr>
        <p:spPr bwMode="auto">
          <a:xfrm>
            <a:off x="7185992" y="459133"/>
            <a:ext cx="2234436" cy="536549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W = TRABAJO</a:t>
            </a:r>
          </a:p>
        </p:txBody>
      </p:sp>
      <p:sp>
        <p:nvSpPr>
          <p:cNvPr id="58448" name="Text Box 80"/>
          <p:cNvSpPr txBox="1">
            <a:spLocks noChangeArrowheads="1"/>
          </p:cNvSpPr>
          <p:nvPr/>
        </p:nvSpPr>
        <p:spPr bwMode="auto">
          <a:xfrm>
            <a:off x="7077142" y="999627"/>
            <a:ext cx="2441992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B0F0"/>
                </a:solidFill>
                <a:latin typeface="Arial" panose="020B0604020202020204" pitchFamily="34" charset="0"/>
              </a:rPr>
              <a:t>(en inglés: work)</a:t>
            </a:r>
          </a:p>
        </p:txBody>
      </p:sp>
      <p:sp>
        <p:nvSpPr>
          <p:cNvPr id="58449" name="Text Box 81"/>
          <p:cNvSpPr txBox="1">
            <a:spLocks noChangeArrowheads="1"/>
          </p:cNvSpPr>
          <p:nvPr/>
        </p:nvSpPr>
        <p:spPr bwMode="auto">
          <a:xfrm>
            <a:off x="4456666" y="1602140"/>
            <a:ext cx="5855732" cy="120251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Sólo </a:t>
            </a:r>
            <a:r>
              <a:rPr lang="es-ES" sz="2400" dirty="0">
                <a:latin typeface="Arial" panose="020B0604020202020204" pitchFamily="34" charset="0"/>
              </a:rPr>
              <a:t>la </a:t>
            </a:r>
            <a:r>
              <a:rPr lang="es-ES" sz="2400">
                <a:latin typeface="Arial" panose="020B0604020202020204" pitchFamily="34" charset="0"/>
              </a:rPr>
              <a:t>componente de </a:t>
            </a: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>
                <a:latin typeface="Arial" panose="020B0604020202020204" pitchFamily="34" charset="0"/>
              </a:rPr>
              <a:t> paralela a la dirección del desplazamiento,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latin typeface="Arial" panose="020B0604020202020204" pitchFamily="34" charset="0"/>
              </a:rPr>
              <a:t>//</a:t>
            </a:r>
            <a:r>
              <a:rPr lang="es-ES" sz="2400" dirty="0">
                <a:latin typeface="Arial" panose="020B0604020202020204" pitchFamily="34" charset="0"/>
              </a:rPr>
              <a:t>, </a:t>
            </a:r>
            <a:r>
              <a:rPr lang="es-ES" sz="2400">
                <a:latin typeface="Arial" panose="020B0604020202020204" pitchFamily="34" charset="0"/>
              </a:rPr>
              <a:t>actúa en dicha dirección, que es la de d</a:t>
            </a:r>
            <a:r>
              <a:rPr lang="es-ES" sz="2400" b="1">
                <a:latin typeface="Arial" panose="020B0604020202020204" pitchFamily="34" charset="0"/>
              </a:rPr>
              <a:t>l</a:t>
            </a:r>
            <a:r>
              <a:rPr lang="es-ES" sz="2400">
                <a:latin typeface="Arial" panose="020B0604020202020204" pitchFamily="34" charset="0"/>
              </a:rPr>
              <a:t> 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grpSp>
        <p:nvGrpSpPr>
          <p:cNvPr id="54317" name="Group 45"/>
          <p:cNvGrpSpPr>
            <a:grpSpLocks/>
          </p:cNvGrpSpPr>
          <p:nvPr/>
        </p:nvGrpSpPr>
        <p:grpSpPr bwMode="auto">
          <a:xfrm>
            <a:off x="1944578" y="3114108"/>
            <a:ext cx="2351088" cy="1285876"/>
            <a:chOff x="5793" y="1773"/>
            <a:chExt cx="1481" cy="810"/>
          </a:xfrm>
        </p:grpSpPr>
        <p:sp>
          <p:nvSpPr>
            <p:cNvPr id="33828" name="Text Box 43"/>
            <p:cNvSpPr txBox="1">
              <a:spLocks noChangeArrowheads="1"/>
            </p:cNvSpPr>
            <p:nvPr/>
          </p:nvSpPr>
          <p:spPr bwMode="auto">
            <a:xfrm>
              <a:off x="5793" y="1780"/>
              <a:ext cx="1481" cy="8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0000FF"/>
                  </a:solidFill>
                </a:rPr>
                <a:t>Sentido</a:t>
              </a:r>
            </a:p>
            <a:p>
              <a:r>
                <a:rPr lang="es-ES" sz="2400" dirty="0">
                  <a:solidFill>
                    <a:srgbClr val="0000FF"/>
                  </a:solidFill>
                </a:rPr>
                <a:t>positivo</a:t>
              </a:r>
            </a:p>
            <a:p>
              <a:r>
                <a:rPr lang="es-ES" sz="2400" dirty="0">
                  <a:solidFill>
                    <a:srgbClr val="0000FF"/>
                  </a:solidFill>
                </a:rPr>
                <a:t>del movimiento</a:t>
              </a:r>
            </a:p>
          </p:txBody>
        </p:sp>
        <p:sp>
          <p:nvSpPr>
            <p:cNvPr id="33829" name="Line 44"/>
            <p:cNvSpPr>
              <a:spLocks noChangeShapeType="1"/>
            </p:cNvSpPr>
            <p:nvPr/>
          </p:nvSpPr>
          <p:spPr bwMode="auto">
            <a:xfrm>
              <a:off x="5852" y="1773"/>
              <a:ext cx="41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54318" name="Text Box 46"/>
          <p:cNvSpPr txBox="1">
            <a:spLocks noChangeArrowheads="1"/>
          </p:cNvSpPr>
          <p:nvPr/>
        </p:nvSpPr>
        <p:spPr bwMode="auto">
          <a:xfrm>
            <a:off x="8540657" y="4454354"/>
            <a:ext cx="1879338" cy="127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rgbClr val="00B0F0"/>
                </a:solidFill>
              </a:rPr>
              <a:t>= </a:t>
            </a:r>
            <a:r>
              <a:rPr lang="es-ES" sz="2400" dirty="0" err="1">
                <a:solidFill>
                  <a:srgbClr val="00B0F0"/>
                </a:solidFill>
              </a:rPr>
              <a:t>dK</a:t>
            </a:r>
            <a:endParaRPr lang="es-ES" sz="2400" dirty="0">
              <a:solidFill>
                <a:srgbClr val="00B0F0"/>
              </a:solidFill>
            </a:endParaRPr>
          </a:p>
          <a:p>
            <a:r>
              <a:rPr lang="es-ES" sz="2400" dirty="0">
                <a:solidFill>
                  <a:srgbClr val="00B0F0"/>
                </a:solidFill>
              </a:rPr>
              <a:t>   (en inglés:</a:t>
            </a:r>
          </a:p>
          <a:p>
            <a:r>
              <a:rPr lang="es-ES" sz="2400" dirty="0">
                <a:solidFill>
                  <a:srgbClr val="00B0F0"/>
                </a:solidFill>
              </a:rPr>
              <a:t>      “</a:t>
            </a:r>
            <a:r>
              <a:rPr lang="es-ES" sz="2400" dirty="0" err="1">
                <a:solidFill>
                  <a:srgbClr val="00B0F0"/>
                </a:solidFill>
              </a:rPr>
              <a:t>kinetic</a:t>
            </a:r>
            <a:r>
              <a:rPr lang="es-ES" sz="2400" dirty="0">
                <a:solidFill>
                  <a:srgbClr val="00B0F0"/>
                </a:solidFill>
              </a:rPr>
              <a:t>”)</a:t>
            </a:r>
          </a:p>
        </p:txBody>
      </p:sp>
      <p:graphicFrame>
        <p:nvGraphicFramePr>
          <p:cNvPr id="8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991094"/>
              </p:ext>
            </p:extLst>
          </p:nvPr>
        </p:nvGraphicFramePr>
        <p:xfrm>
          <a:off x="6973980" y="4470238"/>
          <a:ext cx="1599565" cy="530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685800" imgH="228600" progId="Equation.3">
                  <p:embed/>
                </p:oleObj>
              </mc:Choice>
              <mc:Fallback>
                <p:oleObj name="Ecuación" r:id="rId11" imgW="685800" imgH="228600" progId="Equation.3">
                  <p:embed/>
                  <p:pic>
                    <p:nvPicPr>
                      <p:cNvPr id="8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3980" y="4470238"/>
                        <a:ext cx="1599565" cy="53086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86" name="Group 62"/>
          <p:cNvGrpSpPr>
            <a:grpSpLocks/>
          </p:cNvGrpSpPr>
          <p:nvPr/>
        </p:nvGrpSpPr>
        <p:grpSpPr bwMode="auto">
          <a:xfrm>
            <a:off x="6802032" y="6016446"/>
            <a:ext cx="1979614" cy="677864"/>
            <a:chOff x="901" y="3388"/>
            <a:chExt cx="1247" cy="427"/>
          </a:xfrm>
        </p:grpSpPr>
        <p:sp>
          <p:nvSpPr>
            <p:cNvPr id="33826" name="Rectangle 60"/>
            <p:cNvSpPr>
              <a:spLocks noChangeArrowheads="1"/>
            </p:cNvSpPr>
            <p:nvPr/>
          </p:nvSpPr>
          <p:spPr bwMode="auto">
            <a:xfrm>
              <a:off x="901" y="3388"/>
              <a:ext cx="1247" cy="4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sz="2400"/>
            </a:p>
          </p:txBody>
        </p:sp>
        <p:graphicFrame>
          <p:nvGraphicFramePr>
            <p:cNvPr id="33827" name="Object 35"/>
            <p:cNvGraphicFramePr>
              <a:graphicFrameLocks noChangeAspect="1"/>
            </p:cNvGraphicFramePr>
            <p:nvPr/>
          </p:nvGraphicFramePr>
          <p:xfrm>
            <a:off x="987" y="3421"/>
            <a:ext cx="1088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3" imgW="672808" imgH="228501" progId="Equation.3">
                    <p:embed/>
                  </p:oleObj>
                </mc:Choice>
                <mc:Fallback>
                  <p:oleObj name="Ecuación" r:id="rId13" imgW="672808" imgH="228501" progId="Equation.3">
                    <p:embed/>
                    <p:pic>
                      <p:nvPicPr>
                        <p:cNvPr id="33827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7" y="3421"/>
                          <a:ext cx="1088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" name="Text Box 49"/>
          <p:cNvSpPr txBox="1">
            <a:spLocks noChangeArrowheads="1"/>
          </p:cNvSpPr>
          <p:nvPr/>
        </p:nvSpPr>
        <p:spPr bwMode="auto">
          <a:xfrm>
            <a:off x="4689817" y="4459082"/>
            <a:ext cx="1996357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/>
              <a:t>Se tiene que:</a:t>
            </a:r>
          </a:p>
        </p:txBody>
      </p:sp>
    </p:spTree>
    <p:extLst>
      <p:ext uri="{BB962C8B-B14F-4D97-AF65-F5344CB8AC3E}">
        <p14:creationId xmlns:p14="http://schemas.microsoft.com/office/powerpoint/2010/main" val="63673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8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8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8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4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7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4" dur="500"/>
                                        <p:tgtEl>
                                          <p:spTgt spid="2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7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34" grpId="0" animBg="1"/>
      <p:bldP spid="33835" grpId="0"/>
      <p:bldP spid="33830" grpId="0" animBg="1"/>
      <p:bldP spid="33831" grpId="0"/>
      <p:bldP spid="275542" grpId="0"/>
      <p:bldP spid="275543" grpId="0" animBg="1"/>
      <p:bldP spid="58423" grpId="0" animBg="1"/>
      <p:bldP spid="219169" grpId="0" animBg="1"/>
      <p:bldP spid="58448" grpId="0"/>
      <p:bldP spid="58449" grpId="0" animBg="1"/>
      <p:bldP spid="54318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adroTexto 10"/>
          <p:cNvSpPr txBox="1">
            <a:spLocks noChangeArrowheads="1"/>
          </p:cNvSpPr>
          <p:nvPr/>
        </p:nvSpPr>
        <p:spPr bwMode="auto">
          <a:xfrm>
            <a:off x="1448656" y="4330002"/>
            <a:ext cx="8640566" cy="236139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80000" tIns="72000" rIns="180000" bIns="72000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s-ES" sz="2400" dirty="0"/>
              <a:t>Aquí </a:t>
            </a:r>
            <a:r>
              <a:rPr lang="es-ES" sz="2400" dirty="0">
                <a:sym typeface="Symbol" panose="05050102010706020507" pitchFamily="18" charset="2"/>
              </a:rPr>
              <a:t>W</a:t>
            </a:r>
            <a:r>
              <a:rPr lang="es-ES" sz="2400" dirty="0"/>
              <a:t> y </a:t>
            </a:r>
            <a:r>
              <a:rPr lang="es-ES" sz="2400" dirty="0" err="1"/>
              <a:t>dE</a:t>
            </a:r>
            <a:r>
              <a:rPr lang="es-ES" sz="2400" baseline="-25000" dirty="0" err="1"/>
              <a:t>C</a:t>
            </a:r>
            <a:r>
              <a:rPr lang="es-ES" sz="2400" dirty="0"/>
              <a:t>, como pasa con </a:t>
            </a:r>
            <a:r>
              <a:rPr lang="es-ES" sz="2400" dirty="0" err="1"/>
              <a:t>dq</a:t>
            </a:r>
            <a:r>
              <a:rPr lang="es-ES" sz="2400" dirty="0"/>
              <a:t>, se refieren a una variación o aportación local, en un punto, que puede ser desde enorme a nula. No se refieren a variaciones o porciones pequeñas como dl, </a:t>
            </a:r>
            <a:r>
              <a:rPr lang="es-ES" sz="2400" dirty="0" err="1"/>
              <a:t>dS</a:t>
            </a:r>
            <a:r>
              <a:rPr lang="es-ES" sz="2400" dirty="0"/>
              <a:t> o </a:t>
            </a:r>
            <a:r>
              <a:rPr lang="es-ES" sz="2400" dirty="0" err="1"/>
              <a:t>dV</a:t>
            </a:r>
            <a:r>
              <a:rPr lang="es-ES" sz="2400" dirty="0"/>
              <a:t>. W, o </a:t>
            </a:r>
            <a:r>
              <a:rPr lang="es-ES" sz="2400" dirty="0">
                <a:sym typeface="Symbol" panose="05050102010706020507" pitchFamily="18" charset="2"/>
              </a:rPr>
              <a:t></a:t>
            </a:r>
            <a:r>
              <a:rPr lang="es-ES" sz="2400" dirty="0"/>
              <a:t>E</a:t>
            </a:r>
            <a:r>
              <a:rPr lang="es-ES" sz="2400" baseline="-25000" dirty="0"/>
              <a:t>C</a:t>
            </a:r>
            <a:r>
              <a:rPr lang="es-ES" sz="2400" dirty="0"/>
              <a:t>, o q, se refieren a una variación o aportación global, en un conjunto de puntos, que puede ser, también, desde enorme a nula.</a:t>
            </a:r>
          </a:p>
        </p:txBody>
      </p:sp>
      <p:sp>
        <p:nvSpPr>
          <p:cNvPr id="9" name="Rectángulo 8"/>
          <p:cNvSpPr/>
          <p:nvPr/>
        </p:nvSpPr>
        <p:spPr bwMode="auto">
          <a:xfrm>
            <a:off x="4027353" y="796216"/>
            <a:ext cx="3467440" cy="814402"/>
          </a:xfrm>
          <a:prstGeom prst="rect">
            <a:avLst/>
          </a:prstGeom>
          <a:solidFill>
            <a:srgbClr val="99CC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aphicFrame>
        <p:nvGraphicFramePr>
          <p:cNvPr id="39" name="Object 35"/>
          <p:cNvGraphicFramePr>
            <a:graphicFrameLocks noChangeAspect="1"/>
          </p:cNvGraphicFramePr>
          <p:nvPr/>
        </p:nvGraphicFramePr>
        <p:xfrm>
          <a:off x="4351414" y="902896"/>
          <a:ext cx="1824037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711000" imgH="228600" progId="Equation.3">
                  <p:embed/>
                </p:oleObj>
              </mc:Choice>
              <mc:Fallback>
                <p:oleObj name="Ecuación" r:id="rId3" imgW="711000" imgH="228600" progId="Equation.3">
                  <p:embed/>
                  <p:pic>
                    <p:nvPicPr>
                      <p:cNvPr id="39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414" y="902896"/>
                        <a:ext cx="1824037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35"/>
              <p:cNvSpPr txBox="1"/>
              <p:nvPr/>
            </p:nvSpPr>
            <p:spPr bwMode="auto">
              <a:xfrm>
                <a:off x="6095569" y="892890"/>
                <a:ext cx="1271463" cy="5889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40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5569" y="892890"/>
                <a:ext cx="1271463" cy="5889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 Box 90">
            <a:extLst>
              <a:ext uri="{FF2B5EF4-FFF2-40B4-BE49-F238E27FC236}">
                <a16:creationId xmlns:a16="http://schemas.microsoft.com/office/drawing/2014/main" id="{06085FA5-6CEE-487D-8130-D12F8FFB6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8656" y="1836377"/>
            <a:ext cx="8640566" cy="905881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W, y no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dW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porque </a:t>
            </a:r>
            <a:r>
              <a:rPr lang="es-ES" sz="2400" dirty="0">
                <a:latin typeface="Arial" panose="020B0604020202020204" pitchFamily="34" charset="0"/>
              </a:rPr>
              <a:t>el trabajo total de una </a:t>
            </a:r>
            <a:r>
              <a:rPr lang="es-ES" sz="2400">
                <a:latin typeface="Arial" panose="020B0604020202020204" pitchFamily="34" charset="0"/>
              </a:rPr>
              <a:t>fuerza entre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dos </a:t>
            </a:r>
            <a:r>
              <a:rPr lang="es-ES" sz="2400" dirty="0">
                <a:latin typeface="Arial" panose="020B0604020202020204" pitchFamily="34" charset="0"/>
              </a:rPr>
              <a:t>puntos, W, puede depender del </a:t>
            </a:r>
            <a:r>
              <a:rPr lang="es-ES" sz="2400">
                <a:latin typeface="Arial" panose="020B0604020202020204" pitchFamily="34" charset="0"/>
              </a:rPr>
              <a:t>camino seguido.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  <p:sp>
        <p:nvSpPr>
          <p:cNvPr id="2" name="Text Box 90">
            <a:extLst>
              <a:ext uri="{FF2B5EF4-FFF2-40B4-BE49-F238E27FC236}">
                <a16:creationId xmlns:a16="http://schemas.microsoft.com/office/drawing/2014/main" id="{0BC480A8-3BB4-1ED7-4133-E02E9DF6E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755" y="2821557"/>
            <a:ext cx="8640566" cy="12752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u="sng">
                <a:latin typeface="Arial" panose="020B0604020202020204" pitchFamily="34" charset="0"/>
              </a:rPr>
              <a:t>Ej.</a:t>
            </a:r>
            <a:r>
              <a:rPr lang="es-ES" sz="2400">
                <a:latin typeface="Arial" panose="020B0604020202020204" pitchFamily="34" charset="0"/>
              </a:rPr>
              <a:t>: Si </a:t>
            </a: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>
                <a:latin typeface="Arial" panose="020B0604020202020204" pitchFamily="34" charset="0"/>
              </a:rPr>
              <a:t> = </a:t>
            </a: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 baseline="-25000">
                <a:latin typeface="Arial" panose="020B0604020202020204" pitchFamily="34" charset="0"/>
              </a:rPr>
              <a:t>rozamiento</a:t>
            </a:r>
            <a:r>
              <a:rPr lang="es-ES" sz="2400">
                <a:latin typeface="Arial" panose="020B0604020202020204" pitchFamily="34" charset="0"/>
              </a:rPr>
              <a:t>, y se considera </a:t>
            </a:r>
            <a:r>
              <a:rPr lang="es-ES" sz="2400" dirty="0">
                <a:latin typeface="Arial" panose="020B0604020202020204" pitchFamily="34" charset="0"/>
              </a:rPr>
              <a:t>que “m” </a:t>
            </a:r>
            <a:r>
              <a:rPr lang="es-ES" sz="2400">
                <a:latin typeface="Arial" panose="020B0604020202020204" pitchFamily="34" charset="0"/>
              </a:rPr>
              <a:t>se mueve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entre </a:t>
            </a:r>
            <a:r>
              <a:rPr lang="es-ES" sz="2400" dirty="0">
                <a:latin typeface="Arial" panose="020B0604020202020204" pitchFamily="34" charset="0"/>
              </a:rPr>
              <a:t>los </a:t>
            </a:r>
            <a:r>
              <a:rPr lang="es-ES" sz="2400">
                <a:latin typeface="Arial" panose="020B0604020202020204" pitchFamily="34" charset="0"/>
              </a:rPr>
              <a:t>dos puntos, o por hielo, </a:t>
            </a:r>
            <a:r>
              <a:rPr lang="es-ES" sz="2400" dirty="0">
                <a:latin typeface="Arial" panose="020B0604020202020204" pitchFamily="34" charset="0"/>
              </a:rPr>
              <a:t>o </a:t>
            </a:r>
            <a:r>
              <a:rPr lang="es-ES" sz="2400">
                <a:latin typeface="Arial" panose="020B0604020202020204" pitchFamily="34" charset="0"/>
              </a:rPr>
              <a:t>por asfalto,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el trabajo total no valdría lo mismo.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17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42" grpId="0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30DE5B9A-12DA-4F6C-946F-6E03203AB115}"/>
              </a:ext>
            </a:extLst>
          </p:cNvPr>
          <p:cNvGrpSpPr/>
          <p:nvPr/>
        </p:nvGrpSpPr>
        <p:grpSpPr>
          <a:xfrm>
            <a:off x="1962367" y="4103043"/>
            <a:ext cx="5671336" cy="1111250"/>
            <a:chOff x="1962367" y="4236393"/>
            <a:chExt cx="5671336" cy="1111250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auto">
            <a:xfrm>
              <a:off x="1962367" y="4236393"/>
              <a:ext cx="5671336" cy="111125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8F945A6B-89DE-4378-83E9-4036868A5802}"/>
                    </a:ext>
                  </a:extLst>
                </p:cNvPr>
                <p:cNvSpPr txBox="1"/>
                <p:nvPr/>
              </p:nvSpPr>
              <p:spPr>
                <a:xfrm>
                  <a:off x="2235917" y="4561044"/>
                  <a:ext cx="1405065" cy="44980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s-E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a14:m>
                  <a:r>
                    <a:rPr lang="es-ES" sz="2800" dirty="0"/>
                    <a:t> =</a:t>
                  </a:r>
                </a:p>
              </p:txBody>
            </p:sp>
          </mc:Choice>
          <mc:Fallback xmlns="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8F945A6B-89DE-4378-83E9-4036868A5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5917" y="4561044"/>
                  <a:ext cx="1405065" cy="449803"/>
                </a:xfrm>
                <a:prstGeom prst="rect">
                  <a:avLst/>
                </a:prstGeom>
                <a:blipFill>
                  <a:blip r:embed="rId3"/>
                  <a:stretch>
                    <a:fillRect t="-25676" r="-14348" b="-41892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842" name="Oval 15"/>
          <p:cNvSpPr>
            <a:spLocks noChangeArrowheads="1"/>
          </p:cNvSpPr>
          <p:nvPr/>
        </p:nvSpPr>
        <p:spPr bwMode="auto">
          <a:xfrm>
            <a:off x="3838309" y="2501755"/>
            <a:ext cx="300038" cy="323850"/>
          </a:xfrm>
          <a:prstGeom prst="ellipse">
            <a:avLst/>
          </a:prstGeom>
          <a:gradFill rotWithShape="1">
            <a:gsLst>
              <a:gs pos="0">
                <a:srgbClr val="D6D6FF"/>
              </a:gs>
              <a:gs pos="100000">
                <a:srgbClr val="3333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Text Box 83"/>
          <p:cNvSpPr txBox="1">
            <a:spLocks noChangeArrowheads="1"/>
          </p:cNvSpPr>
          <p:nvPr/>
        </p:nvSpPr>
        <p:spPr bwMode="auto">
          <a:xfrm>
            <a:off x="3441434" y="2414443"/>
            <a:ext cx="39211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275544" name="Text Box 88"/>
          <p:cNvSpPr txBox="1">
            <a:spLocks noChangeArrowheads="1"/>
          </p:cNvSpPr>
          <p:nvPr/>
        </p:nvSpPr>
        <p:spPr bwMode="auto">
          <a:xfrm>
            <a:off x="2352275" y="436901"/>
            <a:ext cx="6791730" cy="9058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Trabajo de una fuerza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 sobre una masa m entre dos puntos A y B yendo por un camino C</a:t>
            </a:r>
          </a:p>
        </p:txBody>
      </p:sp>
      <p:sp>
        <p:nvSpPr>
          <p:cNvPr id="35871" name="Freeform 42"/>
          <p:cNvSpPr>
            <a:spLocks/>
          </p:cNvSpPr>
          <p:nvPr/>
        </p:nvSpPr>
        <p:spPr bwMode="auto">
          <a:xfrm>
            <a:off x="4018967" y="2112604"/>
            <a:ext cx="3506788" cy="500063"/>
          </a:xfrm>
          <a:custGeom>
            <a:avLst/>
            <a:gdLst>
              <a:gd name="T0" fmla="*/ 0 w 2209"/>
              <a:gd name="T1" fmla="*/ 315 h 315"/>
              <a:gd name="T2" fmla="*/ 619 w 2209"/>
              <a:gd name="T3" fmla="*/ 16 h 315"/>
              <a:gd name="T4" fmla="*/ 1531 w 2209"/>
              <a:gd name="T5" fmla="*/ 220 h 315"/>
              <a:gd name="T6" fmla="*/ 2209 w 2209"/>
              <a:gd name="T7" fmla="*/ 1 h 315"/>
              <a:gd name="T8" fmla="*/ 0 60000 65536"/>
              <a:gd name="T9" fmla="*/ 0 60000 65536"/>
              <a:gd name="T10" fmla="*/ 0 60000 65536"/>
              <a:gd name="T11" fmla="*/ 0 60000 65536"/>
              <a:gd name="T12" fmla="*/ 0 w 2209"/>
              <a:gd name="T13" fmla="*/ 0 h 315"/>
              <a:gd name="T14" fmla="*/ 2209 w 2209"/>
              <a:gd name="T15" fmla="*/ 315 h 3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09" h="315">
                <a:moveTo>
                  <a:pt x="0" y="315"/>
                </a:moveTo>
                <a:cubicBezTo>
                  <a:pt x="182" y="173"/>
                  <a:pt x="364" y="32"/>
                  <a:pt x="619" y="16"/>
                </a:cubicBezTo>
                <a:cubicBezTo>
                  <a:pt x="874" y="0"/>
                  <a:pt x="1266" y="223"/>
                  <a:pt x="1531" y="220"/>
                </a:cubicBezTo>
                <a:cubicBezTo>
                  <a:pt x="1796" y="217"/>
                  <a:pt x="2002" y="109"/>
                  <a:pt x="2209" y="1"/>
                </a:cubicBezTo>
              </a:path>
            </a:pathLst>
          </a:cu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/>
          <a:lstStyle/>
          <a:p>
            <a:endParaRPr lang="en-GB" sz="2400"/>
          </a:p>
        </p:txBody>
      </p:sp>
      <p:sp>
        <p:nvSpPr>
          <p:cNvPr id="35873" name="Oval 44"/>
          <p:cNvSpPr>
            <a:spLocks noChangeArrowheads="1"/>
          </p:cNvSpPr>
          <p:nvPr/>
        </p:nvSpPr>
        <p:spPr bwMode="auto">
          <a:xfrm>
            <a:off x="3930067" y="2592029"/>
            <a:ext cx="107950" cy="107950"/>
          </a:xfrm>
          <a:prstGeom prst="ellipse">
            <a:avLst/>
          </a:prstGeom>
          <a:solidFill>
            <a:srgbClr val="FF0000"/>
          </a:solidFill>
          <a:ln w="127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874" name="Oval 45"/>
          <p:cNvSpPr>
            <a:spLocks noChangeArrowheads="1"/>
          </p:cNvSpPr>
          <p:nvPr/>
        </p:nvSpPr>
        <p:spPr bwMode="auto">
          <a:xfrm>
            <a:off x="7490829" y="2045929"/>
            <a:ext cx="107950" cy="107950"/>
          </a:xfrm>
          <a:prstGeom prst="ellipse">
            <a:avLst/>
          </a:prstGeom>
          <a:solidFill>
            <a:srgbClr val="FF0000"/>
          </a:solidFill>
          <a:ln w="127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875" name="Text Box 48"/>
          <p:cNvSpPr txBox="1">
            <a:spLocks noChangeArrowheads="1"/>
          </p:cNvSpPr>
          <p:nvPr/>
        </p:nvSpPr>
        <p:spPr bwMode="auto">
          <a:xfrm>
            <a:off x="3776079" y="1976079"/>
            <a:ext cx="35083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35876" name="Text Box 49"/>
          <p:cNvSpPr txBox="1">
            <a:spLocks noChangeArrowheads="1"/>
          </p:cNvSpPr>
          <p:nvPr/>
        </p:nvSpPr>
        <p:spPr bwMode="auto">
          <a:xfrm>
            <a:off x="7357479" y="2225317"/>
            <a:ext cx="35083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23CF179-2E28-4553-BB33-D40AAE1192D1}"/>
              </a:ext>
            </a:extLst>
          </p:cNvPr>
          <p:cNvGrpSpPr/>
          <p:nvPr/>
        </p:nvGrpSpPr>
        <p:grpSpPr>
          <a:xfrm>
            <a:off x="5730292" y="1583966"/>
            <a:ext cx="1412875" cy="814388"/>
            <a:chOff x="5739817" y="1771003"/>
            <a:chExt cx="1412875" cy="814388"/>
          </a:xfrm>
        </p:grpSpPr>
        <p:sp>
          <p:nvSpPr>
            <p:cNvPr id="35872" name="Text Box 43"/>
            <p:cNvSpPr txBox="1">
              <a:spLocks noChangeArrowheads="1"/>
            </p:cNvSpPr>
            <p:nvPr/>
          </p:nvSpPr>
          <p:spPr bwMode="auto">
            <a:xfrm>
              <a:off x="6263692" y="2115491"/>
              <a:ext cx="36512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35870" name="Text Box 35"/>
            <p:cNvSpPr txBox="1">
              <a:spLocks noChangeArrowheads="1"/>
            </p:cNvSpPr>
            <p:nvPr/>
          </p:nvSpPr>
          <p:spPr bwMode="auto">
            <a:xfrm>
              <a:off x="5739817" y="1771003"/>
              <a:ext cx="1412875" cy="536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rgbClr val="008000"/>
                  </a:solidFill>
                </a:rPr>
                <a:t>CAMINO</a:t>
              </a:r>
            </a:p>
          </p:txBody>
        </p:sp>
      </p:grpSp>
      <p:sp>
        <p:nvSpPr>
          <p:cNvPr id="35867" name="Text Box 132"/>
          <p:cNvSpPr txBox="1">
            <a:spLocks noChangeArrowheads="1"/>
          </p:cNvSpPr>
          <p:nvPr/>
        </p:nvSpPr>
        <p:spPr bwMode="auto">
          <a:xfrm>
            <a:off x="4138687" y="3034457"/>
            <a:ext cx="3506787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suma de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los trabajos en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cada punto de C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3" name="Text Box 105"/>
          <p:cNvSpPr txBox="1">
            <a:spLocks noChangeArrowheads="1"/>
          </p:cNvSpPr>
          <p:nvPr/>
        </p:nvSpPr>
        <p:spPr bwMode="auto">
          <a:xfrm>
            <a:off x="1949360" y="5468577"/>
            <a:ext cx="7622289" cy="5365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El e</a:t>
            </a:r>
            <a:r>
              <a:rPr lang="es-ES" sz="2400">
                <a:latin typeface="Arial" panose="020B0604020202020204" pitchFamily="34" charset="0"/>
              </a:rPr>
              <a:t>fecto del W de </a:t>
            </a: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>
                <a:latin typeface="Arial" panose="020B0604020202020204" pitchFamily="34" charset="0"/>
              </a:rPr>
              <a:t> sobre m es la variación de su E</a:t>
            </a:r>
            <a:r>
              <a:rPr lang="es-ES" sz="2400" baseline="-25000">
                <a:latin typeface="Arial" panose="020B0604020202020204" pitchFamily="34" charset="0"/>
              </a:rPr>
              <a:t>C</a:t>
            </a:r>
            <a:endParaRPr lang="es-ES" sz="24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572DE41-9F05-40AA-9286-AF1892FF0901}"/>
                  </a:ext>
                </a:extLst>
              </p:cNvPr>
              <p:cNvSpPr txBox="1"/>
              <p:nvPr/>
            </p:nvSpPr>
            <p:spPr>
              <a:xfrm>
                <a:off x="3712292" y="4226277"/>
                <a:ext cx="2419893" cy="883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trlPr>
                            <a:rPr lang="es-E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s-E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s-E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572DE41-9F05-40AA-9286-AF1892FF0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292" y="4226277"/>
                <a:ext cx="2419893" cy="8838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o 7">
            <a:extLst>
              <a:ext uri="{FF2B5EF4-FFF2-40B4-BE49-F238E27FC236}">
                <a16:creationId xmlns:a16="http://schemas.microsoft.com/office/drawing/2014/main" id="{2900D8F7-155A-4A19-9D05-4C652FC820E4}"/>
              </a:ext>
            </a:extLst>
          </p:cNvPr>
          <p:cNvGrpSpPr/>
          <p:nvPr/>
        </p:nvGrpSpPr>
        <p:grpSpPr>
          <a:xfrm>
            <a:off x="3552454" y="3494381"/>
            <a:ext cx="598143" cy="703090"/>
            <a:chOff x="4005031" y="3741944"/>
            <a:chExt cx="439291" cy="436564"/>
          </a:xfrm>
        </p:grpSpPr>
        <p:sp>
          <p:nvSpPr>
            <p:cNvPr id="35868" name="Line 37"/>
            <p:cNvSpPr>
              <a:spLocks noChangeShapeType="1"/>
            </p:cNvSpPr>
            <p:nvPr/>
          </p:nvSpPr>
          <p:spPr bwMode="auto">
            <a:xfrm>
              <a:off x="4005627" y="3741945"/>
              <a:ext cx="0" cy="4365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cxnSp>
          <p:nvCxnSpPr>
            <p:cNvPr id="5" name="Conector recto 4"/>
            <p:cNvCxnSpPr/>
            <p:nvPr/>
          </p:nvCxnSpPr>
          <p:spPr bwMode="auto">
            <a:xfrm>
              <a:off x="4005031" y="3741944"/>
              <a:ext cx="439291" cy="5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E2453F0-236A-4AED-8C2F-1F87375053CB}"/>
                  </a:ext>
                </a:extLst>
              </p:cNvPr>
              <p:cNvSpPr txBox="1"/>
              <p:nvPr/>
            </p:nvSpPr>
            <p:spPr>
              <a:xfrm>
                <a:off x="6170603" y="4408510"/>
                <a:ext cx="114877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E2453F0-236A-4AED-8C2F-1F8737505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603" y="4408510"/>
                <a:ext cx="114877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132">
            <a:extLst>
              <a:ext uri="{FF2B5EF4-FFF2-40B4-BE49-F238E27FC236}">
                <a16:creationId xmlns:a16="http://schemas.microsoft.com/office/drawing/2014/main" id="{9EFDB124-F64B-4A58-A357-7996C400F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2368" y="6020961"/>
            <a:ext cx="7609282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(Si hay varias fuerzas, la suma de sus trabajos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es igual a la variación de energía cinética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8384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5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8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8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5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nimBg="1"/>
      <p:bldP spid="35843" grpId="0"/>
      <p:bldP spid="275544" grpId="0" animBg="1"/>
      <p:bldP spid="35871" grpId="0" animBg="1"/>
      <p:bldP spid="35873" grpId="0" animBg="1"/>
      <p:bldP spid="35874" grpId="0" animBg="1"/>
      <p:bldP spid="35875" grpId="0"/>
      <p:bldP spid="35876" grpId="0"/>
      <p:bldP spid="35867" grpId="0"/>
      <p:bldP spid="43" grpId="0" animBg="1"/>
      <p:bldP spid="3" grpId="0"/>
      <p:bldP spid="21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73960" y="383704"/>
            <a:ext cx="5689164" cy="111125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5A9679F9-F3F5-481A-BEC7-BE079F911E84}"/>
                  </a:ext>
                </a:extLst>
              </p:cNvPr>
              <p:cNvSpPr txBox="1"/>
              <p:nvPr/>
            </p:nvSpPr>
            <p:spPr>
              <a:xfrm>
                <a:off x="1454864" y="497413"/>
                <a:ext cx="5327356" cy="883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trlPr>
                            <a:rPr lang="es-E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s-E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s-E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  <m:r>
                        <a:rPr lang="es-E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5A9679F9-F3F5-481A-BEC7-BE079F91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864" y="497413"/>
                <a:ext cx="5327356" cy="8838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/>
          <p:cNvSpPr/>
          <p:nvPr/>
        </p:nvSpPr>
        <p:spPr bwMode="auto">
          <a:xfrm>
            <a:off x="1287222" y="2356271"/>
            <a:ext cx="1838239" cy="11321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80963" name="Text Box 120"/>
          <p:cNvSpPr txBox="1">
            <a:spLocks noChangeArrowheads="1"/>
          </p:cNvSpPr>
          <p:nvPr/>
        </p:nvSpPr>
        <p:spPr bwMode="auto">
          <a:xfrm>
            <a:off x="1451725" y="2378266"/>
            <a:ext cx="1558738" cy="536549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 = Recta</a:t>
            </a:r>
            <a:endParaRPr lang="es-ES" sz="24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75584" name="Text Box 128"/>
          <p:cNvSpPr txBox="1">
            <a:spLocks noChangeArrowheads="1"/>
          </p:cNvSpPr>
          <p:nvPr/>
        </p:nvSpPr>
        <p:spPr bwMode="auto">
          <a:xfrm>
            <a:off x="7101801" y="2963043"/>
            <a:ext cx="322906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L: Longitud de la recta</a:t>
            </a:r>
            <a:endParaRPr lang="es-ES" sz="2400" b="1" dirty="0">
              <a:solidFill>
                <a:srgbClr val="008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0970" name="Text Box 74"/>
          <p:cNvSpPr txBox="1">
            <a:spLocks noChangeArrowheads="1"/>
          </p:cNvSpPr>
          <p:nvPr/>
        </p:nvSpPr>
        <p:spPr bwMode="auto">
          <a:xfrm>
            <a:off x="1262587" y="1688948"/>
            <a:ext cx="3822178" cy="536549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SITUACIÓN MÁS SIMPLE</a:t>
            </a:r>
          </a:p>
        </p:txBody>
      </p:sp>
      <p:grpSp>
        <p:nvGrpSpPr>
          <p:cNvPr id="80974" name="Group 78"/>
          <p:cNvGrpSpPr>
            <a:grpSpLocks/>
          </p:cNvGrpSpPr>
          <p:nvPr/>
        </p:nvGrpSpPr>
        <p:grpSpPr bwMode="auto">
          <a:xfrm>
            <a:off x="1477125" y="2711916"/>
            <a:ext cx="1225549" cy="765175"/>
            <a:chOff x="4086" y="2164"/>
            <a:chExt cx="772" cy="482"/>
          </a:xfrm>
        </p:grpSpPr>
        <p:sp>
          <p:nvSpPr>
            <p:cNvPr id="35883" name="Text Box 78"/>
            <p:cNvSpPr txBox="1">
              <a:spLocks noChangeArrowheads="1"/>
            </p:cNvSpPr>
            <p:nvPr/>
          </p:nvSpPr>
          <p:spPr bwMode="auto">
            <a:xfrm>
              <a:off x="4093" y="2308"/>
              <a:ext cx="76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 = cte.</a:t>
              </a:r>
              <a:endParaRPr lang="es-ES" sz="24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5884" name="Text Box 75"/>
            <p:cNvSpPr txBox="1">
              <a:spLocks noChangeArrowheads="1"/>
            </p:cNvSpPr>
            <p:nvPr/>
          </p:nvSpPr>
          <p:spPr bwMode="auto">
            <a:xfrm>
              <a:off x="4086" y="2164"/>
              <a:ext cx="30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</a:p>
          </p:txBody>
        </p:sp>
        <p:sp>
          <p:nvSpPr>
            <p:cNvPr id="35885" name="Text Box 76"/>
            <p:cNvSpPr txBox="1">
              <a:spLocks noChangeArrowheads="1"/>
            </p:cNvSpPr>
            <p:nvPr/>
          </p:nvSpPr>
          <p:spPr bwMode="auto">
            <a:xfrm>
              <a:off x="4462" y="2184"/>
              <a:ext cx="30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</a:p>
          </p:txBody>
        </p:sp>
      </p:grpSp>
      <p:sp>
        <p:nvSpPr>
          <p:cNvPr id="80982" name="Text Box 86"/>
          <p:cNvSpPr txBox="1">
            <a:spLocks noChangeArrowheads="1"/>
          </p:cNvSpPr>
          <p:nvPr/>
        </p:nvSpPr>
        <p:spPr bwMode="auto">
          <a:xfrm>
            <a:off x="1445536" y="3970428"/>
            <a:ext cx="6560424" cy="457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108000" tIns="216000" rIns="108000" bIns="2160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 =  90º    F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//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0        W = E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0</a:t>
            </a:r>
          </a:p>
        </p:txBody>
      </p:sp>
      <p:sp>
        <p:nvSpPr>
          <p:cNvPr id="80984" name="Text Box 88"/>
          <p:cNvSpPr txBox="1">
            <a:spLocks noChangeArrowheads="1"/>
          </p:cNvSpPr>
          <p:nvPr/>
        </p:nvSpPr>
        <p:spPr bwMode="auto">
          <a:xfrm>
            <a:off x="1417710" y="5135094"/>
            <a:ext cx="6588251" cy="514738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 =   0º     F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//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+|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|    W = E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+|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| L &gt; 0</a:t>
            </a:r>
          </a:p>
        </p:txBody>
      </p:sp>
      <p:sp>
        <p:nvSpPr>
          <p:cNvPr id="80985" name="Text Box 89"/>
          <p:cNvSpPr txBox="1">
            <a:spLocks noChangeArrowheads="1"/>
          </p:cNvSpPr>
          <p:nvPr/>
        </p:nvSpPr>
        <p:spPr bwMode="auto">
          <a:xfrm>
            <a:off x="1417709" y="6330223"/>
            <a:ext cx="6588251" cy="514738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 = 180º   F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//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|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|    W = E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|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| L &lt; 0</a:t>
            </a:r>
          </a:p>
        </p:txBody>
      </p:sp>
      <p:grpSp>
        <p:nvGrpSpPr>
          <p:cNvPr id="80990" name="Group 94"/>
          <p:cNvGrpSpPr>
            <a:grpSpLocks/>
          </p:cNvGrpSpPr>
          <p:nvPr/>
        </p:nvGrpSpPr>
        <p:grpSpPr bwMode="auto">
          <a:xfrm>
            <a:off x="4686045" y="2562013"/>
            <a:ext cx="1858963" cy="536575"/>
            <a:chOff x="5323" y="1874"/>
            <a:chExt cx="1171" cy="338"/>
          </a:xfrm>
        </p:grpSpPr>
        <p:sp>
          <p:nvSpPr>
            <p:cNvPr id="35879" name="Text Box 81"/>
            <p:cNvSpPr txBox="1">
              <a:spLocks noChangeArrowheads="1"/>
            </p:cNvSpPr>
            <p:nvPr/>
          </p:nvSpPr>
          <p:spPr bwMode="auto">
            <a:xfrm>
              <a:off x="5657" y="1874"/>
              <a:ext cx="837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82800" rIns="90000" bIns="82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F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//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= cte.</a:t>
              </a:r>
            </a:p>
          </p:txBody>
        </p:sp>
        <p:sp>
          <p:nvSpPr>
            <p:cNvPr id="35880" name="Text Box 90"/>
            <p:cNvSpPr txBox="1">
              <a:spLocks noChangeArrowheads="1"/>
            </p:cNvSpPr>
            <p:nvPr/>
          </p:nvSpPr>
          <p:spPr bwMode="auto">
            <a:xfrm>
              <a:off x="5323" y="1903"/>
              <a:ext cx="30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</a:t>
              </a:r>
            </a:p>
          </p:txBody>
        </p:sp>
      </p:grpSp>
      <p:grpSp>
        <p:nvGrpSpPr>
          <p:cNvPr id="80989" name="Group 93"/>
          <p:cNvGrpSpPr>
            <a:grpSpLocks/>
          </p:cNvGrpSpPr>
          <p:nvPr/>
        </p:nvGrpSpPr>
        <p:grpSpPr bwMode="auto">
          <a:xfrm>
            <a:off x="3236246" y="2598526"/>
            <a:ext cx="1417638" cy="482600"/>
            <a:chOff x="4623" y="1893"/>
            <a:chExt cx="893" cy="304"/>
          </a:xfrm>
        </p:grpSpPr>
        <p:sp>
          <p:nvSpPr>
            <p:cNvPr id="35877" name="Text Box 80"/>
            <p:cNvSpPr txBox="1">
              <a:spLocks noChangeArrowheads="1"/>
            </p:cNvSpPr>
            <p:nvPr/>
          </p:nvSpPr>
          <p:spPr bwMode="auto">
            <a:xfrm>
              <a:off x="4623" y="1905"/>
              <a:ext cx="30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35878" name="Text Box 91"/>
            <p:cNvSpPr txBox="1">
              <a:spLocks noChangeArrowheads="1"/>
            </p:cNvSpPr>
            <p:nvPr/>
          </p:nvSpPr>
          <p:spPr bwMode="auto">
            <a:xfrm>
              <a:off x="4914" y="1893"/>
              <a:ext cx="602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 cte.</a:t>
              </a:r>
            </a:p>
          </p:txBody>
        </p:sp>
      </p:grpSp>
      <p:sp>
        <p:nvSpPr>
          <p:cNvPr id="10" name="Forma libre 9"/>
          <p:cNvSpPr/>
          <p:nvPr/>
        </p:nvSpPr>
        <p:spPr bwMode="auto">
          <a:xfrm>
            <a:off x="4476468" y="441204"/>
            <a:ext cx="414168" cy="253461"/>
          </a:xfrm>
          <a:custGeom>
            <a:avLst/>
            <a:gdLst>
              <a:gd name="connsiteX0" fmla="*/ 386080 w 386080"/>
              <a:gd name="connsiteY0" fmla="*/ 162587 h 162587"/>
              <a:gd name="connsiteX1" fmla="*/ 172720 w 386080"/>
              <a:gd name="connsiteY1" fmla="*/ 27 h 162587"/>
              <a:gd name="connsiteX2" fmla="*/ 0 w 386080"/>
              <a:gd name="connsiteY2" fmla="*/ 152427 h 162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080" h="162587">
                <a:moveTo>
                  <a:pt x="386080" y="162587"/>
                </a:moveTo>
                <a:cubicBezTo>
                  <a:pt x="311573" y="82153"/>
                  <a:pt x="237067" y="1720"/>
                  <a:pt x="172720" y="27"/>
                </a:cubicBezTo>
                <a:cubicBezTo>
                  <a:pt x="108373" y="-1666"/>
                  <a:pt x="54186" y="75380"/>
                  <a:pt x="0" y="152427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6" name="Text Box 128"/>
          <p:cNvSpPr txBox="1">
            <a:spLocks noChangeArrowheads="1"/>
          </p:cNvSpPr>
          <p:nvPr/>
        </p:nvSpPr>
        <p:spPr bwMode="auto">
          <a:xfrm>
            <a:off x="7951530" y="5179058"/>
            <a:ext cx="2540813" cy="1644545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Trabajo es: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"Fuerza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por Desplazamiento"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1" name="Text Box 82">
            <a:extLst>
              <a:ext uri="{FF2B5EF4-FFF2-40B4-BE49-F238E27FC236}">
                <a16:creationId xmlns:a16="http://schemas.microsoft.com/office/drawing/2014/main" id="{C2C97636-466B-46F8-8E3E-709DAFFE0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369" y="4601237"/>
            <a:ext cx="5831827" cy="51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 &lt; 90º   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 apoya movimiento (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//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&gt; 0)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32" name="Text Box 83">
            <a:extLst>
              <a:ext uri="{FF2B5EF4-FFF2-40B4-BE49-F238E27FC236}">
                <a16:creationId xmlns:a16="http://schemas.microsoft.com/office/drawing/2014/main" id="{94DBF2CB-C55E-4D7E-9970-B1362120D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2100" y="5816557"/>
            <a:ext cx="3512281" cy="51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 &gt; 90º   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 se opone</a:t>
            </a:r>
          </a:p>
        </p:txBody>
      </p:sp>
      <p:sp>
        <p:nvSpPr>
          <p:cNvPr id="33" name="Text Box 84">
            <a:extLst>
              <a:ext uri="{FF2B5EF4-FFF2-40B4-BE49-F238E27FC236}">
                <a16:creationId xmlns:a16="http://schemas.microsoft.com/office/drawing/2014/main" id="{E2CFBD4C-0C6B-4F42-900B-4202E72F4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577" y="3727126"/>
            <a:ext cx="2059960" cy="88407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F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no trabaja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(no altera E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4FC7F43A-3A5B-4715-8A49-E29CACD03368}"/>
              </a:ext>
            </a:extLst>
          </p:cNvPr>
          <p:cNvGrpSpPr/>
          <p:nvPr/>
        </p:nvGrpSpPr>
        <p:grpSpPr>
          <a:xfrm>
            <a:off x="7101801" y="1846505"/>
            <a:ext cx="3186287" cy="962994"/>
            <a:chOff x="1642565" y="3121040"/>
            <a:chExt cx="3186287" cy="962994"/>
          </a:xfrm>
        </p:grpSpPr>
        <p:sp>
          <p:nvSpPr>
            <p:cNvPr id="11" name="Rectángulo 10"/>
            <p:cNvSpPr/>
            <p:nvPr/>
          </p:nvSpPr>
          <p:spPr bwMode="auto">
            <a:xfrm>
              <a:off x="1642565" y="3121040"/>
              <a:ext cx="3186287" cy="962994"/>
            </a:xfrm>
            <a:prstGeom prst="rect">
              <a:avLst/>
            </a:prstGeom>
            <a:solidFill>
              <a:srgbClr val="99CC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71C07C05-F0BE-49D4-A862-6157F0CD4251}"/>
                    </a:ext>
                  </a:extLst>
                </p:cNvPr>
                <p:cNvSpPr txBox="1"/>
                <p:nvPr/>
              </p:nvSpPr>
              <p:spPr>
                <a:xfrm>
                  <a:off x="1921923" y="3382509"/>
                  <a:ext cx="2586477" cy="44005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r>
                          <m:rPr>
                            <m:sty m:val="p"/>
                          </m:rPr>
                          <a:rPr lang="el-G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l-G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s-ES" sz="2800" dirty="0"/>
                </a:p>
              </p:txBody>
            </p:sp>
          </mc:Choice>
          <mc:Fallback xmlns="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71C07C05-F0BE-49D4-A862-6157F0CD42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1923" y="3382509"/>
                  <a:ext cx="2586477" cy="44005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3C404289-9436-45D0-8324-FECA04DB33E3}"/>
              </a:ext>
            </a:extLst>
          </p:cNvPr>
          <p:cNvSpPr/>
          <p:nvPr/>
        </p:nvSpPr>
        <p:spPr bwMode="auto">
          <a:xfrm>
            <a:off x="5162550" y="1200150"/>
            <a:ext cx="540000" cy="1419225"/>
          </a:xfrm>
          <a:custGeom>
            <a:avLst/>
            <a:gdLst>
              <a:gd name="connsiteX0" fmla="*/ 666750 w 666750"/>
              <a:gd name="connsiteY0" fmla="*/ 1419225 h 1419225"/>
              <a:gd name="connsiteX1" fmla="*/ 409575 w 666750"/>
              <a:gd name="connsiteY1" fmla="*/ 1019175 h 1419225"/>
              <a:gd name="connsiteX2" fmla="*/ 257175 w 666750"/>
              <a:gd name="connsiteY2" fmla="*/ 542925 h 1419225"/>
              <a:gd name="connsiteX3" fmla="*/ 0 w 666750"/>
              <a:gd name="connsiteY3" fmla="*/ 0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0" h="1419225">
                <a:moveTo>
                  <a:pt x="666750" y="1419225"/>
                </a:moveTo>
                <a:cubicBezTo>
                  <a:pt x="572293" y="1292225"/>
                  <a:pt x="477837" y="1165225"/>
                  <a:pt x="409575" y="1019175"/>
                </a:cubicBezTo>
                <a:cubicBezTo>
                  <a:pt x="341313" y="873125"/>
                  <a:pt x="325438" y="712788"/>
                  <a:pt x="257175" y="542925"/>
                </a:cubicBezTo>
                <a:cubicBezTo>
                  <a:pt x="188912" y="373062"/>
                  <a:pt x="94456" y="186531"/>
                  <a:pt x="0" y="0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90000" tIns="82800" rIns="90000" bIns="82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5" name="Text Box 82">
            <a:extLst>
              <a:ext uri="{FF2B5EF4-FFF2-40B4-BE49-F238E27FC236}">
                <a16:creationId xmlns:a16="http://schemas.microsoft.com/office/drawing/2014/main" id="{F2C19E4D-CBBD-4983-A9F2-FA11116DC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5047" y="4610831"/>
            <a:ext cx="2788364" cy="51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2400" dirty="0">
                <a:latin typeface="Arial" panose="020B0604020202020204" pitchFamily="34" charset="0"/>
              </a:rPr>
              <a:t>  Al máximo si 0º</a:t>
            </a:r>
          </a:p>
        </p:txBody>
      </p:sp>
      <p:sp>
        <p:nvSpPr>
          <p:cNvPr id="36" name="Text Box 83">
            <a:extLst>
              <a:ext uri="{FF2B5EF4-FFF2-40B4-BE49-F238E27FC236}">
                <a16:creationId xmlns:a16="http://schemas.microsoft.com/office/drawing/2014/main" id="{8BD2C027-3E72-4BEE-9AEA-49D9082CC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202" y="5815622"/>
            <a:ext cx="3131407" cy="51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2400" dirty="0">
                <a:latin typeface="Arial" panose="020B0604020202020204" pitchFamily="34" charset="0"/>
              </a:rPr>
              <a:t>  Al máximo si 180º</a:t>
            </a:r>
          </a:p>
        </p:txBody>
      </p:sp>
    </p:spTree>
    <p:extLst>
      <p:ext uri="{BB962C8B-B14F-4D97-AF65-F5344CB8AC3E}">
        <p14:creationId xmlns:p14="http://schemas.microsoft.com/office/powerpoint/2010/main" val="299844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0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75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7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8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500"/>
                                        <p:tgtEl>
                                          <p:spTgt spid="8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2" dur="500"/>
                                        <p:tgtEl>
                                          <p:spTgt spid="8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0963" grpId="0"/>
      <p:bldP spid="275584" grpId="0"/>
      <p:bldP spid="80970" grpId="0" animBg="1"/>
      <p:bldP spid="80982" grpId="0" animBg="1"/>
      <p:bldP spid="80984" grpId="0" animBg="1"/>
      <p:bldP spid="80985" grpId="0" animBg="1"/>
      <p:bldP spid="10" grpId="0" animBg="1"/>
      <p:bldP spid="46" grpId="0"/>
      <p:bldP spid="31" grpId="0"/>
      <p:bldP spid="32" grpId="0"/>
      <p:bldP spid="33" grpId="0" animBg="1"/>
      <p:bldP spid="5" grpId="0" animBg="1"/>
      <p:bldP spid="35" grpId="0"/>
      <p:bldP spid="3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ángulo 62">
            <a:extLst>
              <a:ext uri="{FF2B5EF4-FFF2-40B4-BE49-F238E27FC236}">
                <a16:creationId xmlns:a16="http://schemas.microsoft.com/office/drawing/2014/main" id="{DB746CCD-703A-491F-9BA1-D5C5F5013BB5}"/>
              </a:ext>
            </a:extLst>
          </p:cNvPr>
          <p:cNvSpPr/>
          <p:nvPr/>
        </p:nvSpPr>
        <p:spPr bwMode="auto">
          <a:xfrm>
            <a:off x="5928090" y="2884697"/>
            <a:ext cx="4320000" cy="324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4759C63-1EF6-4650-94A3-48525E8C0A8C}"/>
              </a:ext>
            </a:extLst>
          </p:cNvPr>
          <p:cNvSpPr/>
          <p:nvPr/>
        </p:nvSpPr>
        <p:spPr bwMode="auto">
          <a:xfrm>
            <a:off x="1357796" y="2885658"/>
            <a:ext cx="4320000" cy="324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86761" name="Text Box 41"/>
          <p:cNvSpPr txBox="1">
            <a:spLocks noChangeArrowheads="1"/>
          </p:cNvSpPr>
          <p:nvPr/>
        </p:nvSpPr>
        <p:spPr bwMode="auto">
          <a:xfrm>
            <a:off x="6671904" y="430172"/>
            <a:ext cx="2821762" cy="660144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144000" tIns="144000" rIns="144000" bIns="144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W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B,C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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W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A,C</a:t>
            </a:r>
          </a:p>
        </p:txBody>
      </p:sp>
      <p:sp>
        <p:nvSpPr>
          <p:cNvPr id="37892" name="Text Box 90"/>
          <p:cNvSpPr txBox="1">
            <a:spLocks noChangeArrowheads="1"/>
          </p:cNvSpPr>
          <p:nvPr/>
        </p:nvSpPr>
        <p:spPr bwMode="auto">
          <a:xfrm>
            <a:off x="1358151" y="2187771"/>
            <a:ext cx="1855139" cy="60325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none" lIns="126000" tIns="118800" rIns="126000" bIns="118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W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B,C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de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</a:p>
        </p:txBody>
      </p:sp>
      <p:sp>
        <p:nvSpPr>
          <p:cNvPr id="37948" name="Text Box 92"/>
          <p:cNvSpPr txBox="1">
            <a:spLocks noChangeArrowheads="1"/>
          </p:cNvSpPr>
          <p:nvPr/>
        </p:nvSpPr>
        <p:spPr bwMode="auto">
          <a:xfrm>
            <a:off x="5899882" y="2169628"/>
            <a:ext cx="1924790" cy="60925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6000" tIns="118800" rIns="126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W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A,C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86840" name="Text Box 120"/>
          <p:cNvSpPr txBox="1">
            <a:spLocks noChangeArrowheads="1"/>
          </p:cNvSpPr>
          <p:nvPr/>
        </p:nvSpPr>
        <p:spPr bwMode="auto">
          <a:xfrm>
            <a:off x="1190625" y="1157353"/>
            <a:ext cx="9171765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La fuerza debe tener el mismo valor en cada punto al ir y al volver </a:t>
            </a:r>
            <a:r>
              <a:rPr lang="es-ES" sz="2400" u="sng" dirty="0">
                <a:solidFill>
                  <a:srgbClr val="FF0000"/>
                </a:solidFill>
                <a:latin typeface="Arial" panose="020B0604020202020204" pitchFamily="34" charset="0"/>
              </a:rPr>
              <a:t>Ejemplos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: Sí: gravitatoria | No: rozamiento -gira 180º-</a:t>
            </a:r>
          </a:p>
        </p:txBody>
      </p:sp>
      <p:grpSp>
        <p:nvGrpSpPr>
          <p:cNvPr id="57" name="Group 45"/>
          <p:cNvGrpSpPr>
            <a:grpSpLocks/>
          </p:cNvGrpSpPr>
          <p:nvPr/>
        </p:nvGrpSpPr>
        <p:grpSpPr bwMode="auto">
          <a:xfrm>
            <a:off x="5967862" y="3966121"/>
            <a:ext cx="1590676" cy="536575"/>
            <a:chOff x="5738" y="1550"/>
            <a:chExt cx="1002" cy="338"/>
          </a:xfrm>
        </p:grpSpPr>
        <p:sp>
          <p:nvSpPr>
            <p:cNvPr id="37944" name="Text Box 43"/>
            <p:cNvSpPr txBox="1">
              <a:spLocks noChangeArrowheads="1"/>
            </p:cNvSpPr>
            <p:nvPr/>
          </p:nvSpPr>
          <p:spPr bwMode="auto">
            <a:xfrm>
              <a:off x="5738" y="1550"/>
              <a:ext cx="1002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>
                  <a:solidFill>
                    <a:srgbClr val="0000FF"/>
                  </a:solidFill>
                </a:rPr>
                <a:t>sentido +</a:t>
              </a:r>
            </a:p>
          </p:txBody>
        </p:sp>
        <p:sp>
          <p:nvSpPr>
            <p:cNvPr id="37945" name="Line 44"/>
            <p:cNvSpPr>
              <a:spLocks noChangeShapeType="1"/>
            </p:cNvSpPr>
            <p:nvPr/>
          </p:nvSpPr>
          <p:spPr bwMode="auto">
            <a:xfrm flipH="1">
              <a:off x="5872" y="1873"/>
              <a:ext cx="41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54" name="Group 45"/>
          <p:cNvGrpSpPr>
            <a:grpSpLocks/>
          </p:cNvGrpSpPr>
          <p:nvPr/>
        </p:nvGrpSpPr>
        <p:grpSpPr bwMode="auto">
          <a:xfrm>
            <a:off x="4221716" y="3948218"/>
            <a:ext cx="1487488" cy="536575"/>
            <a:chOff x="5738" y="1550"/>
            <a:chExt cx="937" cy="338"/>
          </a:xfrm>
        </p:grpSpPr>
        <p:sp>
          <p:nvSpPr>
            <p:cNvPr id="37942" name="Text Box 43"/>
            <p:cNvSpPr txBox="1">
              <a:spLocks noChangeArrowheads="1"/>
            </p:cNvSpPr>
            <p:nvPr/>
          </p:nvSpPr>
          <p:spPr bwMode="auto">
            <a:xfrm>
              <a:off x="5738" y="1550"/>
              <a:ext cx="937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>
                  <a:solidFill>
                    <a:srgbClr val="0000FF"/>
                  </a:solidFill>
                </a:rPr>
                <a:t>sentido +</a:t>
              </a:r>
            </a:p>
          </p:txBody>
        </p:sp>
        <p:sp>
          <p:nvSpPr>
            <p:cNvPr id="37943" name="Line 44"/>
            <p:cNvSpPr>
              <a:spLocks noChangeShapeType="1"/>
            </p:cNvSpPr>
            <p:nvPr/>
          </p:nvSpPr>
          <p:spPr bwMode="auto">
            <a:xfrm>
              <a:off x="5896" y="1869"/>
              <a:ext cx="41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 dirty="0"/>
            </a:p>
          </p:txBody>
        </p:sp>
      </p:grpSp>
      <p:sp>
        <p:nvSpPr>
          <p:cNvPr id="37933" name="Text Box 93"/>
          <p:cNvSpPr txBox="1">
            <a:spLocks noChangeArrowheads="1"/>
          </p:cNvSpPr>
          <p:nvPr/>
        </p:nvSpPr>
        <p:spPr bwMode="auto">
          <a:xfrm>
            <a:off x="1389768" y="2932693"/>
            <a:ext cx="2873200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Si en </a:t>
            </a:r>
            <a:r>
              <a:rPr lang="es-ES" sz="2000" dirty="0">
                <a:latin typeface="Arial" panose="020B0604020202020204" pitchFamily="34" charset="0"/>
              </a:rPr>
              <a:t>un </a:t>
            </a:r>
            <a:r>
              <a:rPr lang="es-ES" sz="2000">
                <a:latin typeface="Arial" panose="020B0604020202020204" pitchFamily="34" charset="0"/>
              </a:rPr>
              <a:t>punto se </a:t>
            </a:r>
            <a:r>
              <a:rPr lang="es-ES" sz="2000" dirty="0">
                <a:latin typeface="Arial" panose="020B0604020202020204" pitchFamily="34" charset="0"/>
              </a:rPr>
              <a:t>tiene: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323B310F-DBE6-4C7D-8EFF-19D8D896DE69}"/>
              </a:ext>
            </a:extLst>
          </p:cNvPr>
          <p:cNvGrpSpPr/>
          <p:nvPr/>
        </p:nvGrpSpPr>
        <p:grpSpPr>
          <a:xfrm>
            <a:off x="1515781" y="3477837"/>
            <a:ext cx="2729117" cy="1663511"/>
            <a:chOff x="1515781" y="3430212"/>
            <a:chExt cx="2729117" cy="1663511"/>
          </a:xfrm>
        </p:grpSpPr>
        <p:grpSp>
          <p:nvGrpSpPr>
            <p:cNvPr id="37927" name="Group 2"/>
            <p:cNvGrpSpPr>
              <a:grpSpLocks/>
            </p:cNvGrpSpPr>
            <p:nvPr/>
          </p:nvGrpSpPr>
          <p:grpSpPr bwMode="auto">
            <a:xfrm>
              <a:off x="1515781" y="3430212"/>
              <a:ext cx="2609850" cy="1516485"/>
              <a:chOff x="1317" y="1272"/>
              <a:chExt cx="1644" cy="955"/>
            </a:xfrm>
          </p:grpSpPr>
          <p:sp>
            <p:nvSpPr>
              <p:cNvPr id="37940" name="Line 3"/>
              <p:cNvSpPr>
                <a:spLocks noChangeShapeType="1"/>
              </p:cNvSpPr>
              <p:nvPr/>
            </p:nvSpPr>
            <p:spPr bwMode="auto">
              <a:xfrm>
                <a:off x="1912" y="1272"/>
                <a:ext cx="0" cy="955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  <p:sp>
            <p:nvSpPr>
              <p:cNvPr id="37941" name="Line 4"/>
              <p:cNvSpPr>
                <a:spLocks noChangeShapeType="1"/>
              </p:cNvSpPr>
              <p:nvPr/>
            </p:nvSpPr>
            <p:spPr bwMode="auto">
              <a:xfrm>
                <a:off x="1317" y="1879"/>
                <a:ext cx="1644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</p:grpSp>
        <p:sp>
          <p:nvSpPr>
            <p:cNvPr id="37929" name="Line 16"/>
            <p:cNvSpPr>
              <a:spLocks noChangeShapeType="1"/>
            </p:cNvSpPr>
            <p:nvPr/>
          </p:nvSpPr>
          <p:spPr bwMode="auto">
            <a:xfrm flipV="1">
              <a:off x="2656952" y="4384465"/>
              <a:ext cx="115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sp>
          <p:nvSpPr>
            <p:cNvPr id="37930" name="Oval 11"/>
            <p:cNvSpPr>
              <a:spLocks noChangeArrowheads="1"/>
            </p:cNvSpPr>
            <p:nvPr/>
          </p:nvSpPr>
          <p:spPr bwMode="auto">
            <a:xfrm>
              <a:off x="2317465" y="4267057"/>
              <a:ext cx="300038" cy="323940"/>
            </a:xfrm>
            <a:prstGeom prst="ellipse">
              <a:avLst/>
            </a:prstGeom>
            <a:gradFill rotWithShape="1">
              <a:gsLst>
                <a:gs pos="0">
                  <a:srgbClr val="D6D6FF"/>
                </a:gs>
                <a:gs pos="100000">
                  <a:srgbClr val="3333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7931" name="Group 12"/>
            <p:cNvGrpSpPr>
              <a:grpSpLocks/>
            </p:cNvGrpSpPr>
            <p:nvPr/>
          </p:nvGrpSpPr>
          <p:grpSpPr bwMode="auto">
            <a:xfrm>
              <a:off x="2642903" y="4381389"/>
              <a:ext cx="476250" cy="614534"/>
              <a:chOff x="2027" y="1906"/>
              <a:chExt cx="300" cy="387"/>
            </a:xfrm>
          </p:grpSpPr>
          <p:sp>
            <p:nvSpPr>
              <p:cNvPr id="37938" name="Line 13"/>
              <p:cNvSpPr>
                <a:spLocks noChangeShapeType="1"/>
              </p:cNvSpPr>
              <p:nvPr/>
            </p:nvSpPr>
            <p:spPr bwMode="auto">
              <a:xfrm>
                <a:off x="2042" y="1906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  <p:graphicFrame>
            <p:nvGraphicFramePr>
              <p:cNvPr id="37939" name="Object 14"/>
              <p:cNvGraphicFramePr>
                <a:graphicFrameLocks noChangeAspect="1"/>
              </p:cNvGraphicFramePr>
              <p:nvPr/>
            </p:nvGraphicFramePr>
            <p:xfrm>
              <a:off x="2027" y="1971"/>
              <a:ext cx="300" cy="3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177646" imgH="190335" progId="Equation.3">
                      <p:embed/>
                    </p:oleObj>
                  </mc:Choice>
                  <mc:Fallback>
                    <p:oleObj name="Ecuación" r:id="rId3" imgW="177646" imgH="190335" progId="Equation.3">
                      <p:embed/>
                      <p:pic>
                        <p:nvPicPr>
                          <p:cNvPr id="37939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27" y="1971"/>
                            <a:ext cx="300" cy="3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7932" name="Group 15"/>
            <p:cNvGrpSpPr>
              <a:grpSpLocks/>
            </p:cNvGrpSpPr>
            <p:nvPr/>
          </p:nvGrpSpPr>
          <p:grpSpPr bwMode="auto">
            <a:xfrm>
              <a:off x="2641314" y="3455618"/>
              <a:ext cx="1562100" cy="784443"/>
              <a:chOff x="2026" y="1288"/>
              <a:chExt cx="984" cy="494"/>
            </a:xfrm>
          </p:grpSpPr>
          <p:sp>
            <p:nvSpPr>
              <p:cNvPr id="37936" name="Line 16"/>
              <p:cNvSpPr>
                <a:spLocks noChangeShapeType="1"/>
              </p:cNvSpPr>
              <p:nvPr/>
            </p:nvSpPr>
            <p:spPr bwMode="auto">
              <a:xfrm flipV="1">
                <a:off x="2026" y="1388"/>
                <a:ext cx="757" cy="39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  <p:graphicFrame>
            <p:nvGraphicFramePr>
              <p:cNvPr id="37937" name="Object 17"/>
              <p:cNvGraphicFramePr>
                <a:graphicFrameLocks noChangeAspect="1"/>
              </p:cNvGraphicFramePr>
              <p:nvPr/>
            </p:nvGraphicFramePr>
            <p:xfrm>
              <a:off x="2796" y="1288"/>
              <a:ext cx="214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5" imgW="126725" imgH="177415" progId="Equation.3">
                      <p:embed/>
                    </p:oleObj>
                  </mc:Choice>
                  <mc:Fallback>
                    <p:oleObj name="Ecuación" r:id="rId5" imgW="126725" imgH="177415" progId="Equation.3">
                      <p:embed/>
                      <p:pic>
                        <p:nvPicPr>
                          <p:cNvPr id="37937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6" y="1288"/>
                            <a:ext cx="214" cy="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7934" name="Text Box 50"/>
            <p:cNvSpPr txBox="1">
              <a:spLocks noChangeArrowheads="1"/>
            </p:cNvSpPr>
            <p:nvPr/>
          </p:nvSpPr>
          <p:spPr bwMode="auto">
            <a:xfrm>
              <a:off x="1892015" y="4322634"/>
              <a:ext cx="438238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>
                  <a:solidFill>
                    <a:srgbClr val="000000"/>
                  </a:solidFill>
                </a:rPr>
                <a:t>m</a:t>
              </a:r>
            </a:p>
          </p:txBody>
        </p:sp>
        <p:graphicFrame>
          <p:nvGraphicFramePr>
            <p:cNvPr id="37935" name="Object 17"/>
            <p:cNvGraphicFramePr>
              <a:graphicFrameLocks noChangeAspect="1"/>
            </p:cNvGraphicFramePr>
            <p:nvPr/>
          </p:nvGraphicFramePr>
          <p:xfrm>
            <a:off x="3851303" y="4530725"/>
            <a:ext cx="393595" cy="5629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77569" imgH="253670" progId="Equation.3">
                    <p:embed/>
                  </p:oleObj>
                </mc:Choice>
                <mc:Fallback>
                  <p:oleObj name="Ecuación" r:id="rId7" imgW="177569" imgH="253670" progId="Equation.3">
                    <p:embed/>
                    <p:pic>
                      <p:nvPicPr>
                        <p:cNvPr id="37935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303" y="4530725"/>
                          <a:ext cx="393595" cy="5629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922" name="Text Box 96"/>
          <p:cNvSpPr txBox="1">
            <a:spLocks noChangeArrowheads="1"/>
          </p:cNvSpPr>
          <p:nvPr/>
        </p:nvSpPr>
        <p:spPr bwMode="auto">
          <a:xfrm>
            <a:off x="6004260" y="2935495"/>
            <a:ext cx="3342881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En el mismo punto </a:t>
            </a:r>
            <a:r>
              <a:rPr lang="es-ES" sz="2000" dirty="0">
                <a:latin typeface="Arial" panose="020B0604020202020204" pitchFamily="34" charset="0"/>
              </a:rPr>
              <a:t>se tiene: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57FB8347-43E9-4E0D-9C65-75CCC624BB76}"/>
              </a:ext>
            </a:extLst>
          </p:cNvPr>
          <p:cNvGrpSpPr/>
          <p:nvPr/>
        </p:nvGrpSpPr>
        <p:grpSpPr>
          <a:xfrm>
            <a:off x="7118112" y="3517912"/>
            <a:ext cx="2870200" cy="1641335"/>
            <a:chOff x="7118112" y="3460013"/>
            <a:chExt cx="2870200" cy="1641335"/>
          </a:xfrm>
        </p:grpSpPr>
        <p:grpSp>
          <p:nvGrpSpPr>
            <p:cNvPr id="37917" name="Group 66"/>
            <p:cNvGrpSpPr>
              <a:grpSpLocks/>
            </p:cNvGrpSpPr>
            <p:nvPr/>
          </p:nvGrpSpPr>
          <p:grpSpPr bwMode="auto">
            <a:xfrm>
              <a:off x="7378462" y="3482242"/>
              <a:ext cx="2609850" cy="1440144"/>
              <a:chOff x="1456" y="1302"/>
              <a:chExt cx="1644" cy="907"/>
            </a:xfrm>
          </p:grpSpPr>
          <p:sp>
            <p:nvSpPr>
              <p:cNvPr id="37926" name="Line 68"/>
              <p:cNvSpPr>
                <a:spLocks noChangeShapeType="1"/>
              </p:cNvSpPr>
              <p:nvPr/>
            </p:nvSpPr>
            <p:spPr bwMode="auto">
              <a:xfrm>
                <a:off x="1456" y="1885"/>
                <a:ext cx="1644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  <p:sp>
            <p:nvSpPr>
              <p:cNvPr id="37925" name="Line 67"/>
              <p:cNvSpPr>
                <a:spLocks noChangeShapeType="1"/>
              </p:cNvSpPr>
              <p:nvPr/>
            </p:nvSpPr>
            <p:spPr bwMode="auto">
              <a:xfrm>
                <a:off x="1912" y="1302"/>
                <a:ext cx="0" cy="907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 dirty="0"/>
              </a:p>
            </p:txBody>
          </p:sp>
        </p:grpSp>
        <p:sp>
          <p:nvSpPr>
            <p:cNvPr id="37918" name="Oval 74"/>
            <p:cNvSpPr>
              <a:spLocks noChangeArrowheads="1"/>
            </p:cNvSpPr>
            <p:nvPr/>
          </p:nvSpPr>
          <p:spPr bwMode="auto">
            <a:xfrm>
              <a:off x="7959487" y="4271384"/>
              <a:ext cx="300037" cy="323913"/>
            </a:xfrm>
            <a:prstGeom prst="ellipse">
              <a:avLst/>
            </a:prstGeom>
            <a:gradFill rotWithShape="1">
              <a:gsLst>
                <a:gs pos="0">
                  <a:srgbClr val="D6D6FF"/>
                </a:gs>
                <a:gs pos="100000">
                  <a:srgbClr val="3333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19" name="Line 76"/>
            <p:cNvSpPr>
              <a:spLocks noChangeShapeType="1"/>
            </p:cNvSpPr>
            <p:nvPr/>
          </p:nvSpPr>
          <p:spPr bwMode="auto">
            <a:xfrm>
              <a:off x="7530862" y="4406347"/>
              <a:ext cx="3810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graphicFrame>
          <p:nvGraphicFramePr>
            <p:cNvPr id="37920" name="Object 77"/>
            <p:cNvGraphicFramePr>
              <a:graphicFrameLocks noChangeAspect="1"/>
            </p:cNvGraphicFramePr>
            <p:nvPr/>
          </p:nvGraphicFramePr>
          <p:xfrm>
            <a:off x="7118112" y="4476211"/>
            <a:ext cx="476250" cy="511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77646" imgH="190335" progId="Equation.3">
                    <p:embed/>
                  </p:oleObj>
                </mc:Choice>
                <mc:Fallback>
                  <p:oleObj name="Ecuación" r:id="rId9" imgW="177646" imgH="190335" progId="Equation.3">
                    <p:embed/>
                    <p:pic>
                      <p:nvPicPr>
                        <p:cNvPr id="3792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8112" y="4476211"/>
                          <a:ext cx="476250" cy="511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7921" name="Group 78"/>
            <p:cNvGrpSpPr>
              <a:grpSpLocks/>
            </p:cNvGrpSpPr>
            <p:nvPr/>
          </p:nvGrpSpPr>
          <p:grpSpPr bwMode="auto">
            <a:xfrm>
              <a:off x="8283337" y="3460013"/>
              <a:ext cx="1649412" cy="784378"/>
              <a:chOff x="2026" y="1288"/>
              <a:chExt cx="1039" cy="494"/>
            </a:xfrm>
          </p:grpSpPr>
          <p:sp>
            <p:nvSpPr>
              <p:cNvPr id="37923" name="Line 79"/>
              <p:cNvSpPr>
                <a:spLocks noChangeShapeType="1"/>
              </p:cNvSpPr>
              <p:nvPr/>
            </p:nvSpPr>
            <p:spPr bwMode="auto">
              <a:xfrm flipV="1">
                <a:off x="2026" y="1388"/>
                <a:ext cx="757" cy="39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  <p:graphicFrame>
            <p:nvGraphicFramePr>
              <p:cNvPr id="37924" name="Object 80"/>
              <p:cNvGraphicFramePr>
                <a:graphicFrameLocks noChangeAspect="1"/>
              </p:cNvGraphicFramePr>
              <p:nvPr/>
            </p:nvGraphicFramePr>
            <p:xfrm>
              <a:off x="2851" y="1288"/>
              <a:ext cx="214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0" imgW="126725" imgH="177415" progId="Equation.3">
                      <p:embed/>
                    </p:oleObj>
                  </mc:Choice>
                  <mc:Fallback>
                    <p:oleObj name="Ecuación" r:id="rId10" imgW="126725" imgH="177415" progId="Equation.3">
                      <p:embed/>
                      <p:pic>
                        <p:nvPicPr>
                          <p:cNvPr id="37924" name="Object 8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51" y="1288"/>
                            <a:ext cx="214" cy="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7916" name="Text Box 51"/>
            <p:cNvSpPr txBox="1">
              <a:spLocks noChangeArrowheads="1"/>
            </p:cNvSpPr>
            <p:nvPr/>
          </p:nvSpPr>
          <p:spPr bwMode="auto">
            <a:xfrm>
              <a:off x="8238887" y="4298376"/>
              <a:ext cx="438150" cy="5366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>
                  <a:solidFill>
                    <a:srgbClr val="000000"/>
                  </a:solidFill>
                </a:rPr>
                <a:t>m</a:t>
              </a:r>
            </a:p>
          </p:txBody>
        </p:sp>
        <p:graphicFrame>
          <p:nvGraphicFramePr>
            <p:cNvPr id="37914" name="Object 17"/>
            <p:cNvGraphicFramePr>
              <a:graphicFrameLocks noChangeAspect="1"/>
            </p:cNvGraphicFramePr>
            <p:nvPr/>
          </p:nvGraphicFramePr>
          <p:xfrm>
            <a:off x="9582809" y="4538397"/>
            <a:ext cx="393595" cy="562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177569" imgH="253670" progId="Equation.3">
                    <p:embed/>
                  </p:oleObj>
                </mc:Choice>
                <mc:Fallback>
                  <p:oleObj name="Ecuación" r:id="rId11" imgW="177569" imgH="253670" progId="Equation.3">
                    <p:embed/>
                    <p:pic>
                      <p:nvPicPr>
                        <p:cNvPr id="37914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82809" y="4538397"/>
                          <a:ext cx="393595" cy="5629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2" name="Line 16"/>
            <p:cNvSpPr>
              <a:spLocks noChangeShapeType="1"/>
            </p:cNvSpPr>
            <p:nvPr/>
          </p:nvSpPr>
          <p:spPr bwMode="auto">
            <a:xfrm flipV="1">
              <a:off x="8297019" y="4392149"/>
              <a:ext cx="11519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6326616" y="5264348"/>
            <a:ext cx="1008609" cy="835970"/>
            <a:chOff x="7486872" y="5070174"/>
            <a:chExt cx="1008355" cy="834210"/>
          </a:xfrm>
        </p:grpSpPr>
        <p:sp>
          <p:nvSpPr>
            <p:cNvPr id="37910" name="CuadroTexto 65"/>
            <p:cNvSpPr txBox="1">
              <a:spLocks noChangeArrowheads="1"/>
            </p:cNvSpPr>
            <p:nvPr/>
          </p:nvSpPr>
          <p:spPr bwMode="auto">
            <a:xfrm>
              <a:off x="7549371" y="5443694"/>
              <a:ext cx="945855" cy="460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/>
                <a:t>dl &gt; 0</a:t>
              </a:r>
            </a:p>
          </p:txBody>
        </p:sp>
        <p:sp>
          <p:nvSpPr>
            <p:cNvPr id="37911" name="CuadroTexto 66"/>
            <p:cNvSpPr txBox="1">
              <a:spLocks noChangeArrowheads="1"/>
            </p:cNvSpPr>
            <p:nvPr/>
          </p:nvSpPr>
          <p:spPr bwMode="auto">
            <a:xfrm>
              <a:off x="7486872" y="5070174"/>
              <a:ext cx="1008355" cy="460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/>
                <a:t>F</a:t>
              </a:r>
              <a:r>
                <a:rPr lang="es-ES" sz="2400" baseline="-25000" dirty="0"/>
                <a:t>//</a:t>
              </a:r>
              <a:r>
                <a:rPr lang="es-ES" sz="2400" dirty="0"/>
                <a:t> &lt; 0</a:t>
              </a:r>
            </a:p>
          </p:txBody>
        </p:sp>
      </p:grp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1599581" y="5223135"/>
            <a:ext cx="1008609" cy="860532"/>
            <a:chOff x="1746642" y="5120866"/>
            <a:chExt cx="1007904" cy="860030"/>
          </a:xfrm>
        </p:grpSpPr>
        <p:sp>
          <p:nvSpPr>
            <p:cNvPr id="37908" name="CuadroTexto 1"/>
            <p:cNvSpPr txBox="1">
              <a:spLocks noChangeArrowheads="1"/>
            </p:cNvSpPr>
            <p:nvPr/>
          </p:nvSpPr>
          <p:spPr bwMode="auto">
            <a:xfrm>
              <a:off x="1806418" y="5519499"/>
              <a:ext cx="945432" cy="461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/>
                <a:t>dl &gt; 0</a:t>
              </a:r>
            </a:p>
          </p:txBody>
        </p:sp>
        <p:sp>
          <p:nvSpPr>
            <p:cNvPr id="37909" name="CuadroTexto 67"/>
            <p:cNvSpPr txBox="1">
              <a:spLocks noChangeArrowheads="1"/>
            </p:cNvSpPr>
            <p:nvPr/>
          </p:nvSpPr>
          <p:spPr bwMode="auto">
            <a:xfrm>
              <a:off x="1746642" y="5120866"/>
              <a:ext cx="1007904" cy="46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/>
                <a:t>F</a:t>
              </a:r>
              <a:r>
                <a:rPr lang="es-ES" sz="2400" baseline="-25000" dirty="0"/>
                <a:t>//</a:t>
              </a:r>
              <a:r>
                <a:rPr lang="es-ES" sz="2400" dirty="0"/>
                <a:t> &gt; 0</a:t>
              </a:r>
            </a:p>
          </p:txBody>
        </p:sp>
      </p:grpSp>
      <p:sp>
        <p:nvSpPr>
          <p:cNvPr id="37903" name="CuadroTexto 8"/>
          <p:cNvSpPr txBox="1">
            <a:spLocks noChangeArrowheads="1"/>
          </p:cNvSpPr>
          <p:nvPr/>
        </p:nvSpPr>
        <p:spPr bwMode="auto">
          <a:xfrm>
            <a:off x="1364677" y="447156"/>
            <a:ext cx="4287172" cy="51473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/>
              <a:t>PROPIEDAD DEL TRABAJO </a:t>
            </a:r>
          </a:p>
        </p:txBody>
      </p:sp>
      <p:sp>
        <p:nvSpPr>
          <p:cNvPr id="76" name="CuadroTexto 75"/>
          <p:cNvSpPr txBox="1">
            <a:spLocks noChangeArrowheads="1"/>
          </p:cNvSpPr>
          <p:nvPr/>
        </p:nvSpPr>
        <p:spPr bwMode="auto">
          <a:xfrm>
            <a:off x="2993239" y="5420827"/>
            <a:ext cx="2180405" cy="46166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ym typeface="Symbol" panose="05050102010706020507" pitchFamily="18" charset="2"/>
              </a:rPr>
              <a:t>W = F</a:t>
            </a:r>
            <a:r>
              <a:rPr lang="es-ES" sz="2400" baseline="-25000">
                <a:sym typeface="Symbol" panose="05050102010706020507" pitchFamily="18" charset="2"/>
              </a:rPr>
              <a:t>//</a:t>
            </a:r>
            <a:r>
              <a:rPr lang="es-ES" sz="2400">
                <a:sym typeface="Symbol" panose="05050102010706020507" pitchFamily="18" charset="2"/>
              </a:rPr>
              <a:t> dl</a:t>
            </a:r>
            <a:r>
              <a:rPr lang="es-ES" sz="2400"/>
              <a:t> &gt; 0</a:t>
            </a:r>
          </a:p>
        </p:txBody>
      </p:sp>
      <p:sp>
        <p:nvSpPr>
          <p:cNvPr id="77" name="CuadroTexto 76"/>
          <p:cNvSpPr txBox="1">
            <a:spLocks noChangeArrowheads="1"/>
          </p:cNvSpPr>
          <p:nvPr/>
        </p:nvSpPr>
        <p:spPr bwMode="auto">
          <a:xfrm>
            <a:off x="7785121" y="5461924"/>
            <a:ext cx="2180405" cy="46166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ym typeface="Symbol" panose="05050102010706020507" pitchFamily="18" charset="2"/>
              </a:rPr>
              <a:t>W = F</a:t>
            </a:r>
            <a:r>
              <a:rPr lang="es-ES" sz="2400" baseline="-25000" dirty="0">
                <a:sym typeface="Symbol" panose="05050102010706020507" pitchFamily="18" charset="2"/>
              </a:rPr>
              <a:t>//</a:t>
            </a:r>
            <a:r>
              <a:rPr lang="es-ES" sz="2400" dirty="0">
                <a:sym typeface="Symbol" panose="05050102010706020507" pitchFamily="18" charset="2"/>
              </a:rPr>
              <a:t> dl</a:t>
            </a:r>
            <a:r>
              <a:rPr lang="es-ES" sz="2400" dirty="0"/>
              <a:t> &lt; 0</a:t>
            </a:r>
          </a:p>
        </p:txBody>
      </p:sp>
      <p:sp>
        <p:nvSpPr>
          <p:cNvPr id="60" name="Text Box 96"/>
          <p:cNvSpPr txBox="1">
            <a:spLocks noChangeArrowheads="1"/>
          </p:cNvSpPr>
          <p:nvPr/>
        </p:nvSpPr>
        <p:spPr bwMode="auto">
          <a:xfrm>
            <a:off x="1759983" y="6232339"/>
            <a:ext cx="8098014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En cada punto se hace el mismo trabajo, pero con signo contrario. Por tanto, en total, el W es igual salvo el signo</a:t>
            </a:r>
          </a:p>
        </p:txBody>
      </p:sp>
    </p:spTree>
    <p:extLst>
      <p:ext uri="{BB962C8B-B14F-4D97-AF65-F5344CB8AC3E}">
        <p14:creationId xmlns:p14="http://schemas.microsoft.com/office/powerpoint/2010/main" val="983127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86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6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7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" grpId="0" animBg="1"/>
      <p:bldP spid="286761" grpId="0" animBg="1"/>
      <p:bldP spid="37892" grpId="0" animBg="1"/>
      <p:bldP spid="37948" grpId="0" animBg="1"/>
      <p:bldP spid="286840" grpId="0"/>
      <p:bldP spid="37933" grpId="0"/>
      <p:bldP spid="37922" grpId="0"/>
      <p:bldP spid="37903" grpId="0" animBg="1"/>
      <p:bldP spid="76" grpId="0" animBg="1"/>
      <p:bldP spid="77" grpId="0" animBg="1"/>
      <p:bldP spid="6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82800" rIns="90000" bIns="82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82800" rIns="90000" bIns="82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8955</TotalTime>
  <Words>2789</Words>
  <Application>Microsoft Office PowerPoint</Application>
  <PresentationFormat>Personalizado</PresentationFormat>
  <Paragraphs>505</Paragraphs>
  <Slides>24</Slides>
  <Notes>23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Arial</vt:lpstr>
      <vt:lpstr>Cambria Math</vt:lpstr>
      <vt:lpstr>Comic Sans MS</vt:lpstr>
      <vt:lpstr>Symbol</vt:lpstr>
      <vt:lpstr>Times New Roman</vt:lpstr>
      <vt:lpstr>Trebuchet MS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KIKE</cp:lastModifiedBy>
  <cp:revision>1316</cp:revision>
  <dcterms:created xsi:type="dcterms:W3CDTF">2012-02-20T13:06:36Z</dcterms:created>
  <dcterms:modified xsi:type="dcterms:W3CDTF">2024-10-08T17:20:40Z</dcterms:modified>
</cp:coreProperties>
</file>