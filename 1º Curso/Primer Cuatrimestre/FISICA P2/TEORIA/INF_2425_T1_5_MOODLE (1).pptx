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1"/>
  </p:notesMasterIdLst>
  <p:handoutMasterIdLst>
    <p:handoutMasterId r:id="rId32"/>
  </p:handoutMasterIdLst>
  <p:sldIdLst>
    <p:sldId id="410" r:id="rId2"/>
    <p:sldId id="411" r:id="rId3"/>
    <p:sldId id="382" r:id="rId4"/>
    <p:sldId id="406" r:id="rId5"/>
    <p:sldId id="439" r:id="rId6"/>
    <p:sldId id="435" r:id="rId7"/>
    <p:sldId id="474" r:id="rId8"/>
    <p:sldId id="476" r:id="rId9"/>
    <p:sldId id="477" r:id="rId10"/>
    <p:sldId id="478" r:id="rId11"/>
    <p:sldId id="479" r:id="rId12"/>
    <p:sldId id="453" r:id="rId13"/>
    <p:sldId id="454" r:id="rId14"/>
    <p:sldId id="455" r:id="rId15"/>
    <p:sldId id="415" r:id="rId16"/>
    <p:sldId id="456" r:id="rId17"/>
    <p:sldId id="433" r:id="rId18"/>
    <p:sldId id="464" r:id="rId19"/>
    <p:sldId id="440" r:id="rId20"/>
    <p:sldId id="427" r:id="rId21"/>
    <p:sldId id="465" r:id="rId22"/>
    <p:sldId id="457" r:id="rId23"/>
    <p:sldId id="458" r:id="rId24"/>
    <p:sldId id="451" r:id="rId25"/>
    <p:sldId id="459" r:id="rId26"/>
    <p:sldId id="480" r:id="rId27"/>
    <p:sldId id="462" r:id="rId28"/>
    <p:sldId id="422" r:id="rId29"/>
    <p:sldId id="423" r:id="rId30"/>
  </p:sldIdLst>
  <p:sldSz cx="10801350" cy="7200900"/>
  <p:notesSz cx="6815138" cy="9942513"/>
  <p:defaultTextStyle>
    <a:defPPr>
      <a:defRPr lang="es-ES"/>
    </a:defPPr>
    <a:lvl1pPr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1pPr>
    <a:lvl2pPr marL="457200"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2pPr>
    <a:lvl3pPr marL="914400"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3pPr>
    <a:lvl4pPr marL="1371600"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4pPr>
    <a:lvl5pPr marL="1828800"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5pPr>
    <a:lvl6pPr marL="2286000" algn="l" defTabSz="914400" rtl="0" eaLnBrk="1" latinLnBrk="0" hangingPunct="1">
      <a:defRPr sz="2000" kern="1200">
        <a:solidFill>
          <a:srgbClr val="000000"/>
        </a:solidFill>
        <a:latin typeface="Arial" panose="020B0604020202020204" pitchFamily="34" charset="0"/>
        <a:ea typeface="+mn-ea"/>
        <a:cs typeface="+mn-cs"/>
      </a:defRPr>
    </a:lvl6pPr>
    <a:lvl7pPr marL="2743200" algn="l" defTabSz="914400" rtl="0" eaLnBrk="1" latinLnBrk="0" hangingPunct="1">
      <a:defRPr sz="2000" kern="1200">
        <a:solidFill>
          <a:srgbClr val="000000"/>
        </a:solidFill>
        <a:latin typeface="Arial" panose="020B0604020202020204" pitchFamily="34" charset="0"/>
        <a:ea typeface="+mn-ea"/>
        <a:cs typeface="+mn-cs"/>
      </a:defRPr>
    </a:lvl7pPr>
    <a:lvl8pPr marL="3200400" algn="l" defTabSz="914400" rtl="0" eaLnBrk="1" latinLnBrk="0" hangingPunct="1">
      <a:defRPr sz="2000" kern="1200">
        <a:solidFill>
          <a:srgbClr val="000000"/>
        </a:solidFill>
        <a:latin typeface="Arial" panose="020B0604020202020204" pitchFamily="34" charset="0"/>
        <a:ea typeface="+mn-ea"/>
        <a:cs typeface="+mn-cs"/>
      </a:defRPr>
    </a:lvl8pPr>
    <a:lvl9pPr marL="3657600" algn="l" defTabSz="914400" rtl="0" eaLnBrk="1" latinLnBrk="0" hangingPunct="1">
      <a:defRPr sz="2000" kern="1200">
        <a:solidFill>
          <a:srgbClr val="000000"/>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268" userDrawn="1">
          <p15:clr>
            <a:srgbClr val="A4A3A4"/>
          </p15:clr>
        </p15:guide>
        <p15:guide id="2" pos="36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AFA"/>
    <a:srgbClr val="99CCFF"/>
    <a:srgbClr val="3333FF"/>
    <a:srgbClr val="FFFF99"/>
    <a:srgbClr val="C0C0C0"/>
    <a:srgbClr val="F8F8F8"/>
    <a:srgbClr val="666699"/>
    <a:srgbClr val="008000"/>
    <a:srgbClr val="CCFFCC"/>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09" autoAdjust="0"/>
    <p:restoredTop sz="94125" autoAdjust="0"/>
  </p:normalViewPr>
  <p:slideViewPr>
    <p:cSldViewPr snapToGrid="0" showGuides="1">
      <p:cViewPr varScale="1">
        <p:scale>
          <a:sx n="103" d="100"/>
          <a:sy n="103" d="100"/>
        </p:scale>
        <p:origin x="1416" y="108"/>
      </p:cViewPr>
      <p:guideLst>
        <p:guide orient="horz" pos="2268"/>
        <p:guide pos="362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52750" cy="498475"/>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lvl1pPr defTabSz="915988" eaLnBrk="1" hangingPunct="1">
              <a:spcBef>
                <a:spcPct val="0"/>
              </a:spcBef>
              <a:defRPr sz="1200">
                <a:solidFill>
                  <a:schemeClr val="tx1"/>
                </a:solidFill>
                <a:latin typeface="Arial" charset="0"/>
              </a:defRPr>
            </a:lvl1pPr>
          </a:lstStyle>
          <a:p>
            <a:pPr>
              <a:defRPr/>
            </a:pPr>
            <a:r>
              <a:rPr lang="es-ES"/>
              <a:t>TEMA 1: ECUACIONES DE MAXWELL</a:t>
            </a:r>
          </a:p>
        </p:txBody>
      </p:sp>
      <p:sp>
        <p:nvSpPr>
          <p:cNvPr id="5123" name="Rectangle 3"/>
          <p:cNvSpPr>
            <a:spLocks noGrp="1" noChangeArrowheads="1"/>
          </p:cNvSpPr>
          <p:nvPr>
            <p:ph type="dt" sz="quarter" idx="1"/>
          </p:nvPr>
        </p:nvSpPr>
        <p:spPr bwMode="auto">
          <a:xfrm>
            <a:off x="3860800" y="0"/>
            <a:ext cx="2952750" cy="498475"/>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lvl1pPr algn="r" defTabSz="915988" eaLnBrk="1" hangingPunct="1">
              <a:spcBef>
                <a:spcPct val="0"/>
              </a:spcBef>
              <a:defRPr sz="1200">
                <a:solidFill>
                  <a:schemeClr val="tx1"/>
                </a:solidFill>
                <a:latin typeface="Arial" charset="0"/>
              </a:defRPr>
            </a:lvl1pPr>
          </a:lstStyle>
          <a:p>
            <a:pPr>
              <a:defRPr/>
            </a:pPr>
            <a:endParaRPr lang="es-ES"/>
          </a:p>
        </p:txBody>
      </p:sp>
      <p:sp>
        <p:nvSpPr>
          <p:cNvPr id="5124" name="Rectangle 4"/>
          <p:cNvSpPr>
            <a:spLocks noGrp="1" noChangeArrowheads="1"/>
          </p:cNvSpPr>
          <p:nvPr>
            <p:ph type="ftr" sz="quarter" idx="2"/>
          </p:nvPr>
        </p:nvSpPr>
        <p:spPr bwMode="auto">
          <a:xfrm>
            <a:off x="0" y="9442450"/>
            <a:ext cx="2952750" cy="498475"/>
          </a:xfrm>
          <a:prstGeom prst="rect">
            <a:avLst/>
          </a:prstGeom>
          <a:noFill/>
          <a:ln w="9525">
            <a:noFill/>
            <a:miter lim="800000"/>
            <a:headEnd/>
            <a:tailEnd/>
          </a:ln>
          <a:effectLst/>
        </p:spPr>
        <p:txBody>
          <a:bodyPr vert="horz" wrap="square" lIns="91612" tIns="45805" rIns="91612" bIns="45805" numCol="1" anchor="b" anchorCtr="0" compatLnSpc="1">
            <a:prstTxWarp prst="textNoShape">
              <a:avLst/>
            </a:prstTxWarp>
          </a:bodyPr>
          <a:lstStyle>
            <a:lvl1pPr defTabSz="915988" eaLnBrk="1" hangingPunct="1">
              <a:spcBef>
                <a:spcPct val="0"/>
              </a:spcBef>
              <a:defRPr sz="1200">
                <a:solidFill>
                  <a:schemeClr val="tx1"/>
                </a:solidFill>
                <a:latin typeface="Arial" charset="0"/>
              </a:defRPr>
            </a:lvl1pPr>
          </a:lstStyle>
          <a:p>
            <a:pPr>
              <a:defRPr/>
            </a:pPr>
            <a:r>
              <a:rPr lang="es-ES"/>
              <a:t>FNT - CURSO 2005/2006</a:t>
            </a:r>
          </a:p>
        </p:txBody>
      </p:sp>
      <p:sp>
        <p:nvSpPr>
          <p:cNvPr id="5125" name="Rectangle 5"/>
          <p:cNvSpPr>
            <a:spLocks noGrp="1" noChangeArrowheads="1"/>
          </p:cNvSpPr>
          <p:nvPr>
            <p:ph type="sldNum" sz="quarter" idx="3"/>
          </p:nvPr>
        </p:nvSpPr>
        <p:spPr bwMode="auto">
          <a:xfrm>
            <a:off x="3860800" y="9442450"/>
            <a:ext cx="2952750" cy="498475"/>
          </a:xfrm>
          <a:prstGeom prst="rect">
            <a:avLst/>
          </a:prstGeom>
          <a:noFill/>
          <a:ln w="9525">
            <a:noFill/>
            <a:miter lim="800000"/>
            <a:headEnd/>
            <a:tailEnd/>
          </a:ln>
          <a:effectLst/>
        </p:spPr>
        <p:txBody>
          <a:bodyPr vert="horz" wrap="square" lIns="91612" tIns="45805" rIns="91612" bIns="45805" numCol="1" anchor="b" anchorCtr="0" compatLnSpc="1">
            <a:prstTxWarp prst="textNoShape">
              <a:avLst/>
            </a:prstTxWarp>
          </a:bodyPr>
          <a:lstStyle>
            <a:lvl1pPr algn="r" defTabSz="915988" eaLnBrk="1" hangingPunct="1">
              <a:spcBef>
                <a:spcPct val="0"/>
              </a:spcBef>
              <a:defRPr sz="1200">
                <a:solidFill>
                  <a:schemeClr val="tx1"/>
                </a:solidFill>
              </a:defRPr>
            </a:lvl1pPr>
          </a:lstStyle>
          <a:p>
            <a:pPr>
              <a:defRPr/>
            </a:pPr>
            <a:fld id="{67356350-6315-4DD4-8E79-AB5CC9735EE3}" type="slidenum">
              <a:rPr lang="es-ES"/>
              <a:pPr>
                <a:defRPr/>
              </a:pPr>
              <a:t>‹Nº›</a:t>
            </a:fld>
            <a:endParaRPr lang="es-ES"/>
          </a:p>
        </p:txBody>
      </p:sp>
    </p:spTree>
    <p:extLst>
      <p:ext uri="{BB962C8B-B14F-4D97-AF65-F5344CB8AC3E}">
        <p14:creationId xmlns:p14="http://schemas.microsoft.com/office/powerpoint/2010/main" val="10176952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52750" cy="498475"/>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lvl1pPr defTabSz="915988" eaLnBrk="1" hangingPunct="1">
              <a:spcBef>
                <a:spcPct val="0"/>
              </a:spcBef>
              <a:defRPr sz="1200">
                <a:solidFill>
                  <a:schemeClr val="tx1"/>
                </a:solidFill>
                <a:latin typeface="Arial" charset="0"/>
              </a:defRPr>
            </a:lvl1pPr>
          </a:lstStyle>
          <a:p>
            <a:pPr>
              <a:defRPr/>
            </a:pPr>
            <a:r>
              <a:rPr lang="es-ES"/>
              <a:t>TEMA 1: ECUACIONES DE MAXWELL</a:t>
            </a:r>
          </a:p>
        </p:txBody>
      </p:sp>
      <p:sp>
        <p:nvSpPr>
          <p:cNvPr id="3075" name="Rectangle 3"/>
          <p:cNvSpPr>
            <a:spLocks noGrp="1" noChangeArrowheads="1"/>
          </p:cNvSpPr>
          <p:nvPr>
            <p:ph type="dt" idx="1"/>
          </p:nvPr>
        </p:nvSpPr>
        <p:spPr bwMode="auto">
          <a:xfrm>
            <a:off x="3860800" y="0"/>
            <a:ext cx="2952750" cy="498475"/>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lvl1pPr algn="r" defTabSz="915988" eaLnBrk="1" hangingPunct="1">
              <a:spcBef>
                <a:spcPct val="0"/>
              </a:spcBef>
              <a:defRPr sz="1200">
                <a:solidFill>
                  <a:schemeClr val="tx1"/>
                </a:solidFill>
                <a:latin typeface="Arial" charset="0"/>
              </a:defRPr>
            </a:lvl1pPr>
          </a:lstStyle>
          <a:p>
            <a:pPr>
              <a:defRPr/>
            </a:pPr>
            <a:endParaRPr lang="es-ES"/>
          </a:p>
        </p:txBody>
      </p:sp>
      <p:sp>
        <p:nvSpPr>
          <p:cNvPr id="3076" name="Rectangle 4"/>
          <p:cNvSpPr>
            <a:spLocks noGrp="1" noRot="1" noChangeAspect="1" noChangeArrowheads="1" noTextEdit="1"/>
          </p:cNvSpPr>
          <p:nvPr>
            <p:ph type="sldImg" idx="2"/>
          </p:nvPr>
        </p:nvSpPr>
        <p:spPr bwMode="auto">
          <a:xfrm>
            <a:off x="609600" y="746125"/>
            <a:ext cx="5594350" cy="37290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681038" y="4724400"/>
            <a:ext cx="5453062" cy="4471988"/>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3078" name="Rectangle 6"/>
          <p:cNvSpPr>
            <a:spLocks noGrp="1" noChangeArrowheads="1"/>
          </p:cNvSpPr>
          <p:nvPr>
            <p:ph type="ftr" sz="quarter" idx="4"/>
          </p:nvPr>
        </p:nvSpPr>
        <p:spPr bwMode="auto">
          <a:xfrm>
            <a:off x="0" y="9442450"/>
            <a:ext cx="2952750" cy="498475"/>
          </a:xfrm>
          <a:prstGeom prst="rect">
            <a:avLst/>
          </a:prstGeom>
          <a:noFill/>
          <a:ln w="9525">
            <a:noFill/>
            <a:miter lim="800000"/>
            <a:headEnd/>
            <a:tailEnd/>
          </a:ln>
          <a:effectLst/>
        </p:spPr>
        <p:txBody>
          <a:bodyPr vert="horz" wrap="square" lIns="91612" tIns="45805" rIns="91612" bIns="45805" numCol="1" anchor="b" anchorCtr="0" compatLnSpc="1">
            <a:prstTxWarp prst="textNoShape">
              <a:avLst/>
            </a:prstTxWarp>
          </a:bodyPr>
          <a:lstStyle>
            <a:lvl1pPr defTabSz="915988" eaLnBrk="1" hangingPunct="1">
              <a:spcBef>
                <a:spcPct val="0"/>
              </a:spcBef>
              <a:defRPr sz="1200">
                <a:solidFill>
                  <a:schemeClr val="tx1"/>
                </a:solidFill>
                <a:latin typeface="Arial" charset="0"/>
              </a:defRPr>
            </a:lvl1pPr>
          </a:lstStyle>
          <a:p>
            <a:pPr>
              <a:defRPr/>
            </a:pPr>
            <a:r>
              <a:rPr lang="es-ES"/>
              <a:t>FNT - CURSO 2005/2006</a:t>
            </a:r>
          </a:p>
        </p:txBody>
      </p:sp>
      <p:sp>
        <p:nvSpPr>
          <p:cNvPr id="3079" name="Rectangle 7"/>
          <p:cNvSpPr>
            <a:spLocks noGrp="1" noChangeArrowheads="1"/>
          </p:cNvSpPr>
          <p:nvPr>
            <p:ph type="sldNum" sz="quarter" idx="5"/>
          </p:nvPr>
        </p:nvSpPr>
        <p:spPr bwMode="auto">
          <a:xfrm>
            <a:off x="3860800" y="9442450"/>
            <a:ext cx="2952750" cy="498475"/>
          </a:xfrm>
          <a:prstGeom prst="rect">
            <a:avLst/>
          </a:prstGeom>
          <a:noFill/>
          <a:ln w="9525">
            <a:noFill/>
            <a:miter lim="800000"/>
            <a:headEnd/>
            <a:tailEnd/>
          </a:ln>
          <a:effectLst/>
        </p:spPr>
        <p:txBody>
          <a:bodyPr vert="horz" wrap="square" lIns="91612" tIns="45805" rIns="91612" bIns="45805" numCol="1" anchor="b" anchorCtr="0" compatLnSpc="1">
            <a:prstTxWarp prst="textNoShape">
              <a:avLst/>
            </a:prstTxWarp>
          </a:bodyPr>
          <a:lstStyle>
            <a:lvl1pPr algn="r" defTabSz="915988" eaLnBrk="1" hangingPunct="1">
              <a:spcBef>
                <a:spcPct val="0"/>
              </a:spcBef>
              <a:defRPr sz="1200">
                <a:solidFill>
                  <a:schemeClr val="tx1"/>
                </a:solidFill>
              </a:defRPr>
            </a:lvl1pPr>
          </a:lstStyle>
          <a:p>
            <a:pPr>
              <a:defRPr/>
            </a:pPr>
            <a:fld id="{D3D6E970-C7EF-4DCB-8D51-2BB459BBE63D}" type="slidenum">
              <a:rPr lang="es-ES"/>
              <a:pPr>
                <a:defRPr/>
              </a:pPr>
              <a:t>‹Nº›</a:t>
            </a:fld>
            <a:endParaRPr lang="es-ES"/>
          </a:p>
        </p:txBody>
      </p:sp>
    </p:spTree>
    <p:extLst>
      <p:ext uri="{BB962C8B-B14F-4D97-AF65-F5344CB8AC3E}">
        <p14:creationId xmlns:p14="http://schemas.microsoft.com/office/powerpoint/2010/main" val="857993690"/>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6147"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6148"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FAD81C42-A07C-4F07-A22F-8A2B0CF28547}" type="slidenum">
              <a:rPr lang="es-ES" sz="1200">
                <a:solidFill>
                  <a:schemeClr val="tx1"/>
                </a:solidFill>
              </a:rPr>
              <a:pPr algn="r" eaLnBrk="1" hangingPunct="1"/>
              <a:t>1</a:t>
            </a:fld>
            <a:endParaRPr lang="es-ES" sz="1200">
              <a:solidFill>
                <a:schemeClr val="tx1"/>
              </a:solidFill>
            </a:endParaRPr>
          </a:p>
        </p:txBody>
      </p:sp>
      <p:sp>
        <p:nvSpPr>
          <p:cNvPr id="6149" name="Rectangle 2"/>
          <p:cNvSpPr>
            <a:spLocks noGrp="1" noRot="1" noChangeAspect="1" noChangeArrowheads="1" noTextEdit="1"/>
          </p:cNvSpPr>
          <p:nvPr>
            <p:ph type="sldImg"/>
          </p:nvPr>
        </p:nvSpPr>
        <p:spPr>
          <a:ln/>
        </p:spPr>
      </p:sp>
      <p:sp>
        <p:nvSpPr>
          <p:cNvPr id="615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s-ES" b="1" dirty="0">
              <a:latin typeface="Arial" panose="020B0604020202020204" pitchFamily="34" charset="0"/>
            </a:endParaRPr>
          </a:p>
        </p:txBody>
      </p:sp>
    </p:spTree>
    <p:extLst>
      <p:ext uri="{BB962C8B-B14F-4D97-AF65-F5344CB8AC3E}">
        <p14:creationId xmlns:p14="http://schemas.microsoft.com/office/powerpoint/2010/main" val="3293342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8195"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8196"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B52BE666-7E23-4EEB-B19B-4F1368F48BB5}" type="slidenum">
              <a:rPr lang="es-ES" sz="1200">
                <a:solidFill>
                  <a:schemeClr val="tx1"/>
                </a:solidFill>
              </a:rPr>
              <a:pPr algn="r" eaLnBrk="1" hangingPunct="1"/>
              <a:t>2</a:t>
            </a:fld>
            <a:endParaRPr lang="es-ES" sz="1200">
              <a:solidFill>
                <a:schemeClr val="tx1"/>
              </a:solidFill>
            </a:endParaRPr>
          </a:p>
        </p:txBody>
      </p:sp>
      <p:sp>
        <p:nvSpPr>
          <p:cNvPr id="8197" name="Rectangle 2"/>
          <p:cNvSpPr>
            <a:spLocks noGrp="1" noRot="1" noChangeAspect="1" noChangeArrowheads="1" noTextEdit="1"/>
          </p:cNvSpPr>
          <p:nvPr>
            <p:ph type="sldImg"/>
          </p:nvPr>
        </p:nvSpPr>
        <p:spPr>
          <a:ln/>
        </p:spPr>
      </p:sp>
      <p:sp>
        <p:nvSpPr>
          <p:cNvPr id="819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b="1" i="1" dirty="0">
              <a:solidFill>
                <a:srgbClr val="000000"/>
              </a:solidFill>
              <a:latin typeface="Arial" panose="020B0604020202020204" pitchFamily="34" charset="0"/>
            </a:endParaRPr>
          </a:p>
        </p:txBody>
      </p:sp>
    </p:spTree>
    <p:extLst>
      <p:ext uri="{BB962C8B-B14F-4D97-AF65-F5344CB8AC3E}">
        <p14:creationId xmlns:p14="http://schemas.microsoft.com/office/powerpoint/2010/main" val="3116154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457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458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F0BA434-DDCC-439D-B47F-3C00345FDB2F}" type="slidenum">
              <a:rPr lang="es-ES" smtClean="0"/>
              <a:pPr>
                <a:spcBef>
                  <a:spcPct val="0"/>
                </a:spcBef>
              </a:pPr>
              <a:t>3</a:t>
            </a:fld>
            <a:endParaRPr lang="es-ES"/>
          </a:p>
        </p:txBody>
      </p:sp>
      <p:sp>
        <p:nvSpPr>
          <p:cNvPr id="24581" name="Rectangle 2"/>
          <p:cNvSpPr>
            <a:spLocks noGrp="1" noRot="1" noChangeAspect="1" noChangeArrowheads="1" noTextEdit="1"/>
          </p:cNvSpPr>
          <p:nvPr>
            <p:ph type="sldImg"/>
          </p:nvPr>
        </p:nvSpPr>
        <p:spPr>
          <a:ln/>
        </p:spPr>
      </p:sp>
      <p:sp>
        <p:nvSpPr>
          <p:cNvPr id="2458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2852909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26627"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26628"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6AB22850-91CE-4D11-B08D-2687631AEC87}" type="slidenum">
              <a:rPr lang="es-ES"/>
              <a:pPr algn="r" eaLnBrk="1" hangingPunct="1">
                <a:spcBef>
                  <a:spcPct val="0"/>
                </a:spcBef>
              </a:pPr>
              <a:t>4</a:t>
            </a:fld>
            <a:endParaRPr lang="es-ES"/>
          </a:p>
        </p:txBody>
      </p:sp>
      <p:sp>
        <p:nvSpPr>
          <p:cNvPr id="26629" name="Rectangle 2"/>
          <p:cNvSpPr>
            <a:spLocks noGrp="1" noRot="1" noChangeAspect="1" noChangeArrowheads="1" noTextEdit="1"/>
          </p:cNvSpPr>
          <p:nvPr>
            <p:ph type="sldImg"/>
          </p:nvPr>
        </p:nvSpPr>
        <p:spPr>
          <a:ln/>
        </p:spPr>
      </p:sp>
      <p:sp>
        <p:nvSpPr>
          <p:cNvPr id="266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dirty="0">
              <a:latin typeface="Arial" panose="020B0604020202020204" pitchFamily="34" charset="0"/>
            </a:endParaRPr>
          </a:p>
        </p:txBody>
      </p:sp>
    </p:spTree>
    <p:extLst>
      <p:ext uri="{BB962C8B-B14F-4D97-AF65-F5344CB8AC3E}">
        <p14:creationId xmlns:p14="http://schemas.microsoft.com/office/powerpoint/2010/main" val="251603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28675"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28676"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B1D1236F-2715-4EE3-A37B-31B1509639D7}" type="slidenum">
              <a:rPr lang="es-ES"/>
              <a:pPr algn="r" eaLnBrk="1" hangingPunct="1">
                <a:spcBef>
                  <a:spcPct val="0"/>
                </a:spcBef>
              </a:pPr>
              <a:t>5</a:t>
            </a:fld>
            <a:endParaRPr lang="es-ES"/>
          </a:p>
        </p:txBody>
      </p:sp>
      <p:sp>
        <p:nvSpPr>
          <p:cNvPr id="28677" name="Rectangle 2"/>
          <p:cNvSpPr>
            <a:spLocks noGrp="1" noRot="1" noChangeAspect="1" noChangeArrowheads="1" noTextEdit="1"/>
          </p:cNvSpPr>
          <p:nvPr>
            <p:ph type="sldImg"/>
          </p:nvPr>
        </p:nvSpPr>
        <p:spPr>
          <a:ln/>
        </p:spPr>
      </p:sp>
      <p:sp>
        <p:nvSpPr>
          <p:cNvPr id="2867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480843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30723"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30724"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84AE9664-09F5-4131-A2A1-D53DB3BA0736}" type="slidenum">
              <a:rPr lang="es-ES"/>
              <a:pPr algn="r" eaLnBrk="1" hangingPunct="1">
                <a:spcBef>
                  <a:spcPct val="0"/>
                </a:spcBef>
              </a:pPr>
              <a:t>6</a:t>
            </a:fld>
            <a:endParaRPr lang="es-ES"/>
          </a:p>
        </p:txBody>
      </p:sp>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1" dirty="0">
              <a:latin typeface="Arial" panose="020B0604020202020204" pitchFamily="34" charset="0"/>
            </a:endParaRPr>
          </a:p>
        </p:txBody>
      </p:sp>
    </p:spTree>
    <p:extLst>
      <p:ext uri="{BB962C8B-B14F-4D97-AF65-F5344CB8AC3E}">
        <p14:creationId xmlns:p14="http://schemas.microsoft.com/office/powerpoint/2010/main" val="3082582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277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277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093A870-FFBC-4236-9C11-5B20A9101FBE}" type="slidenum">
              <a:rPr lang="es-ES" smtClean="0"/>
              <a:pPr>
                <a:spcBef>
                  <a:spcPct val="0"/>
                </a:spcBef>
              </a:pPr>
              <a:t>7</a:t>
            </a:fld>
            <a:endParaRPr lang="es-ES"/>
          </a:p>
        </p:txBody>
      </p:sp>
      <p:sp>
        <p:nvSpPr>
          <p:cNvPr id="32773" name="Rectangle 2"/>
          <p:cNvSpPr>
            <a:spLocks noGrp="1" noRot="1" noChangeAspect="1" noChangeArrowheads="1" noTextEdit="1"/>
          </p:cNvSpPr>
          <p:nvPr>
            <p:ph type="sldImg"/>
          </p:nvPr>
        </p:nvSpPr>
        <p:spPr>
          <a:ln/>
        </p:spPr>
      </p:sp>
      <p:sp>
        <p:nvSpPr>
          <p:cNvPr id="3277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1" dirty="0">
              <a:latin typeface="Arial" panose="020B0604020202020204" pitchFamily="34" charset="0"/>
            </a:endParaRPr>
          </a:p>
        </p:txBody>
      </p:sp>
    </p:spTree>
    <p:extLst>
      <p:ext uri="{BB962C8B-B14F-4D97-AF65-F5344CB8AC3E}">
        <p14:creationId xmlns:p14="http://schemas.microsoft.com/office/powerpoint/2010/main" val="415095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277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277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093A870-FFBC-4236-9C11-5B20A9101FBE}" type="slidenum">
              <a:rPr lang="es-ES" smtClean="0"/>
              <a:pPr>
                <a:spcBef>
                  <a:spcPct val="0"/>
                </a:spcBef>
              </a:pPr>
              <a:t>8</a:t>
            </a:fld>
            <a:endParaRPr lang="es-ES"/>
          </a:p>
        </p:txBody>
      </p:sp>
      <p:sp>
        <p:nvSpPr>
          <p:cNvPr id="32773" name="Rectangle 2"/>
          <p:cNvSpPr>
            <a:spLocks noGrp="1" noRot="1" noChangeAspect="1" noChangeArrowheads="1" noTextEdit="1"/>
          </p:cNvSpPr>
          <p:nvPr>
            <p:ph type="sldImg"/>
          </p:nvPr>
        </p:nvSpPr>
        <p:spPr>
          <a:ln/>
        </p:spPr>
      </p:sp>
      <p:sp>
        <p:nvSpPr>
          <p:cNvPr id="3277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1" dirty="0">
              <a:latin typeface="Arial" panose="020B0604020202020204" pitchFamily="34" charset="0"/>
            </a:endParaRPr>
          </a:p>
        </p:txBody>
      </p:sp>
    </p:spTree>
    <p:extLst>
      <p:ext uri="{BB962C8B-B14F-4D97-AF65-F5344CB8AC3E}">
        <p14:creationId xmlns:p14="http://schemas.microsoft.com/office/powerpoint/2010/main" val="17102167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481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482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A498BD4-33BA-49B6-97C1-9E1C16201707}" type="slidenum">
              <a:rPr lang="es-ES" smtClean="0"/>
              <a:pPr>
                <a:spcBef>
                  <a:spcPct val="0"/>
                </a:spcBef>
              </a:pPr>
              <a:t>9</a:t>
            </a:fld>
            <a:endParaRPr lang="es-ES"/>
          </a:p>
        </p:txBody>
      </p:sp>
      <p:sp>
        <p:nvSpPr>
          <p:cNvPr id="34821" name="Rectangle 2"/>
          <p:cNvSpPr>
            <a:spLocks noGrp="1" noRot="1" noChangeAspect="1" noChangeArrowheads="1" noTextEdit="1"/>
          </p:cNvSpPr>
          <p:nvPr>
            <p:ph type="sldImg"/>
          </p:nvPr>
        </p:nvSpPr>
        <p:spPr>
          <a:ln/>
        </p:spPr>
      </p:sp>
      <p:sp>
        <p:nvSpPr>
          <p:cNvPr id="3482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1" dirty="0">
              <a:latin typeface="Arial" panose="020B0604020202020204" pitchFamily="34" charset="0"/>
            </a:endParaRPr>
          </a:p>
        </p:txBody>
      </p:sp>
    </p:spTree>
    <p:extLst>
      <p:ext uri="{BB962C8B-B14F-4D97-AF65-F5344CB8AC3E}">
        <p14:creationId xmlns:p14="http://schemas.microsoft.com/office/powerpoint/2010/main" val="3290061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36867"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36868"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22B84554-7709-4506-A169-6BDC7711FAF8}" type="slidenum">
              <a:rPr lang="es-ES"/>
              <a:pPr algn="r" eaLnBrk="1" hangingPunct="1">
                <a:spcBef>
                  <a:spcPct val="0"/>
                </a:spcBef>
              </a:pPr>
              <a:t>10</a:t>
            </a:fld>
            <a:endParaRPr lang="es-ES"/>
          </a:p>
        </p:txBody>
      </p:sp>
      <p:sp>
        <p:nvSpPr>
          <p:cNvPr id="36869" name="Rectangle 2"/>
          <p:cNvSpPr>
            <a:spLocks noGrp="1" noRot="1" noChangeAspect="1" noChangeArrowheads="1" noTextEdit="1"/>
          </p:cNvSpPr>
          <p:nvPr>
            <p:ph type="sldImg"/>
          </p:nvPr>
        </p:nvSpPr>
        <p:spPr>
          <a:ln/>
        </p:spPr>
      </p:sp>
      <p:sp>
        <p:nvSpPr>
          <p:cNvPr id="3687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es-ES" sz="1200" dirty="0">
              <a:latin typeface="Arial" panose="020B0604020202020204" pitchFamily="34" charset="0"/>
              <a:sym typeface="Symbol" panose="05050102010706020507" pitchFamily="18" charset="2"/>
            </a:endParaRPr>
          </a:p>
          <a:p>
            <a:pPr eaLnBrk="1" hangingPunct="1"/>
            <a:endParaRPr lang="en-US" b="0" i="0" dirty="0">
              <a:latin typeface="Arial" panose="020B0604020202020204" pitchFamily="34" charset="0"/>
            </a:endParaRPr>
          </a:p>
        </p:txBody>
      </p:sp>
    </p:spTree>
    <p:extLst>
      <p:ext uri="{BB962C8B-B14F-4D97-AF65-F5344CB8AC3E}">
        <p14:creationId xmlns:p14="http://schemas.microsoft.com/office/powerpoint/2010/main" val="342510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891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891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5DC2DEB-796A-46FC-ADFD-FA574ACE8A40}" type="slidenum">
              <a:rPr lang="es-ES" smtClean="0"/>
              <a:pPr>
                <a:spcBef>
                  <a:spcPct val="0"/>
                </a:spcBef>
              </a:pPr>
              <a:t>11</a:t>
            </a:fld>
            <a:endParaRPr lang="es-ES"/>
          </a:p>
        </p:txBody>
      </p:sp>
      <p:sp>
        <p:nvSpPr>
          <p:cNvPr id="38917" name="Rectangle 2"/>
          <p:cNvSpPr>
            <a:spLocks noGrp="1" noRot="1" noChangeAspect="1" noChangeArrowheads="1" noTextEdit="1"/>
          </p:cNvSpPr>
          <p:nvPr>
            <p:ph type="sldImg"/>
          </p:nvPr>
        </p:nvSpPr>
        <p:spPr>
          <a:ln/>
        </p:spPr>
      </p:sp>
      <p:sp>
        <p:nvSpPr>
          <p:cNvPr id="3891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a:latin typeface="Arial" panose="020B0604020202020204" pitchFamily="34" charset="0"/>
            </a:endParaRPr>
          </a:p>
        </p:txBody>
      </p:sp>
    </p:spTree>
    <p:extLst>
      <p:ext uri="{BB962C8B-B14F-4D97-AF65-F5344CB8AC3E}">
        <p14:creationId xmlns:p14="http://schemas.microsoft.com/office/powerpoint/2010/main" val="870934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10243"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10244"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41E6F043-EDEB-441B-80ED-55283637D4C4}" type="slidenum">
              <a:rPr lang="es-ES" sz="1200">
                <a:solidFill>
                  <a:schemeClr val="tx1"/>
                </a:solidFill>
              </a:rPr>
              <a:pPr algn="r" eaLnBrk="1" hangingPunct="1"/>
              <a:t>12</a:t>
            </a:fld>
            <a:endParaRPr lang="es-ES" sz="1200">
              <a:solidFill>
                <a:schemeClr val="tx1"/>
              </a:solidFill>
            </a:endParaRPr>
          </a:p>
        </p:txBody>
      </p:sp>
      <p:sp>
        <p:nvSpPr>
          <p:cNvPr id="10245" name="Rectangle 2"/>
          <p:cNvSpPr>
            <a:spLocks noGrp="1" noRot="1" noChangeAspect="1" noChangeArrowheads="1" noTextEdit="1"/>
          </p:cNvSpPr>
          <p:nvPr>
            <p:ph type="sldImg"/>
          </p:nvPr>
        </p:nvSpPr>
        <p:spPr>
          <a:ln/>
        </p:spPr>
      </p:sp>
      <p:sp>
        <p:nvSpPr>
          <p:cNvPr id="1024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dirty="0">
              <a:latin typeface="Arial" panose="020B0604020202020204" pitchFamily="34" charset="0"/>
            </a:endParaRPr>
          </a:p>
        </p:txBody>
      </p:sp>
    </p:spTree>
    <p:extLst>
      <p:ext uri="{BB962C8B-B14F-4D97-AF65-F5344CB8AC3E}">
        <p14:creationId xmlns:p14="http://schemas.microsoft.com/office/powerpoint/2010/main" val="3409010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12291"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12292"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3FC756D7-842C-4F04-9821-9F24C0A06A0A}" type="slidenum">
              <a:rPr lang="es-ES" sz="1200">
                <a:solidFill>
                  <a:schemeClr val="tx1"/>
                </a:solidFill>
              </a:rPr>
              <a:pPr algn="r" eaLnBrk="1" hangingPunct="1"/>
              <a:t>13</a:t>
            </a:fld>
            <a:endParaRPr lang="es-ES" sz="1200">
              <a:solidFill>
                <a:schemeClr val="tx1"/>
              </a:solidFill>
            </a:endParaRPr>
          </a:p>
        </p:txBody>
      </p:sp>
      <p:sp>
        <p:nvSpPr>
          <p:cNvPr id="12293" name="Rectangle 2"/>
          <p:cNvSpPr>
            <a:spLocks noGrp="1" noRot="1" noChangeAspect="1" noChangeArrowheads="1" noTextEdit="1"/>
          </p:cNvSpPr>
          <p:nvPr>
            <p:ph type="sldImg"/>
          </p:nvPr>
        </p:nvSpPr>
        <p:spPr>
          <a:ln/>
        </p:spPr>
      </p:sp>
      <p:sp>
        <p:nvSpPr>
          <p:cNvPr id="122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3590132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14339"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14340"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2CD357A1-1168-44AE-8874-4F53FE25BC88}" type="slidenum">
              <a:rPr lang="es-ES" sz="1200">
                <a:solidFill>
                  <a:schemeClr val="tx1"/>
                </a:solidFill>
              </a:rPr>
              <a:pPr algn="r" eaLnBrk="1" hangingPunct="1"/>
              <a:t>14</a:t>
            </a:fld>
            <a:endParaRPr lang="es-ES" sz="1200">
              <a:solidFill>
                <a:schemeClr val="tx1"/>
              </a:solidFill>
            </a:endParaRPr>
          </a:p>
        </p:txBody>
      </p:sp>
      <p:sp>
        <p:nvSpPr>
          <p:cNvPr id="14341" name="Rectangle 2"/>
          <p:cNvSpPr>
            <a:spLocks noGrp="1" noRot="1" noChangeAspect="1" noChangeArrowheads="1" noTextEdit="1"/>
          </p:cNvSpPr>
          <p:nvPr>
            <p:ph type="sldImg"/>
          </p:nvPr>
        </p:nvSpPr>
        <p:spPr>
          <a:ln/>
        </p:spPr>
      </p:sp>
      <p:sp>
        <p:nvSpPr>
          <p:cNvPr id="143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674320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16387"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16388"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7543E155-A297-4F0A-BA1F-6515E06C5276}" type="slidenum">
              <a:rPr lang="es-ES" sz="1200">
                <a:solidFill>
                  <a:schemeClr val="tx1"/>
                </a:solidFill>
              </a:rPr>
              <a:pPr algn="r" eaLnBrk="1" hangingPunct="1"/>
              <a:t>15</a:t>
            </a:fld>
            <a:endParaRPr lang="es-ES" sz="1200">
              <a:solidFill>
                <a:schemeClr val="tx1"/>
              </a:solidFill>
            </a:endParaRPr>
          </a:p>
        </p:txBody>
      </p:sp>
      <p:sp>
        <p:nvSpPr>
          <p:cNvPr id="16389" name="Rectangle 2"/>
          <p:cNvSpPr>
            <a:spLocks noGrp="1" noRot="1" noChangeAspect="1" noChangeArrowheads="1" noTextEdit="1"/>
          </p:cNvSpPr>
          <p:nvPr>
            <p:ph type="sldImg"/>
          </p:nvPr>
        </p:nvSpPr>
        <p:spPr>
          <a:ln/>
        </p:spPr>
      </p:sp>
      <p:sp>
        <p:nvSpPr>
          <p:cNvPr id="1639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dirty="0">
              <a:latin typeface="Arial" panose="020B0604020202020204" pitchFamily="34" charset="0"/>
            </a:endParaRPr>
          </a:p>
        </p:txBody>
      </p:sp>
    </p:spTree>
    <p:extLst>
      <p:ext uri="{BB962C8B-B14F-4D97-AF65-F5344CB8AC3E}">
        <p14:creationId xmlns:p14="http://schemas.microsoft.com/office/powerpoint/2010/main" val="2406805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18435"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18436"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6192F570-A631-4F8E-80EE-DFD23D554AE7}" type="slidenum">
              <a:rPr lang="es-ES" sz="1200">
                <a:solidFill>
                  <a:schemeClr val="tx1"/>
                </a:solidFill>
              </a:rPr>
              <a:pPr algn="r" eaLnBrk="1" hangingPunct="1"/>
              <a:t>16</a:t>
            </a:fld>
            <a:endParaRPr lang="es-ES" sz="1200">
              <a:solidFill>
                <a:schemeClr val="tx1"/>
              </a:solidFill>
            </a:endParaRPr>
          </a:p>
        </p:txBody>
      </p:sp>
      <p:sp>
        <p:nvSpPr>
          <p:cNvPr id="18437" name="Rectangle 2"/>
          <p:cNvSpPr>
            <a:spLocks noGrp="1" noRot="1" noChangeAspect="1" noChangeArrowheads="1" noTextEdit="1"/>
          </p:cNvSpPr>
          <p:nvPr>
            <p:ph type="sldImg"/>
          </p:nvPr>
        </p:nvSpPr>
        <p:spPr>
          <a:ln/>
        </p:spPr>
      </p:sp>
      <p:sp>
        <p:nvSpPr>
          <p:cNvPr id="1843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i="1" dirty="0">
              <a:latin typeface="Arial" panose="020B0604020202020204" pitchFamily="34" charset="0"/>
            </a:endParaRPr>
          </a:p>
        </p:txBody>
      </p:sp>
    </p:spTree>
    <p:extLst>
      <p:ext uri="{BB962C8B-B14F-4D97-AF65-F5344CB8AC3E}">
        <p14:creationId xmlns:p14="http://schemas.microsoft.com/office/powerpoint/2010/main" val="1365467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18435"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18436"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6192F570-A631-4F8E-80EE-DFD23D554AE7}" type="slidenum">
              <a:rPr lang="es-ES" sz="1200">
                <a:solidFill>
                  <a:schemeClr val="tx1"/>
                </a:solidFill>
              </a:rPr>
              <a:pPr algn="r" eaLnBrk="1" hangingPunct="1"/>
              <a:t>17</a:t>
            </a:fld>
            <a:endParaRPr lang="es-ES" sz="1200">
              <a:solidFill>
                <a:schemeClr val="tx1"/>
              </a:solidFill>
            </a:endParaRPr>
          </a:p>
        </p:txBody>
      </p:sp>
      <p:sp>
        <p:nvSpPr>
          <p:cNvPr id="18437" name="Rectangle 2"/>
          <p:cNvSpPr>
            <a:spLocks noGrp="1" noRot="1" noChangeAspect="1" noChangeArrowheads="1" noTextEdit="1"/>
          </p:cNvSpPr>
          <p:nvPr>
            <p:ph type="sldImg"/>
          </p:nvPr>
        </p:nvSpPr>
        <p:spPr>
          <a:ln/>
        </p:spPr>
      </p:sp>
      <p:sp>
        <p:nvSpPr>
          <p:cNvPr id="1843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i="1" dirty="0">
              <a:latin typeface="Arial" panose="020B0604020202020204" pitchFamily="34" charset="0"/>
            </a:endParaRPr>
          </a:p>
        </p:txBody>
      </p:sp>
    </p:spTree>
    <p:extLst>
      <p:ext uri="{BB962C8B-B14F-4D97-AF65-F5344CB8AC3E}">
        <p14:creationId xmlns:p14="http://schemas.microsoft.com/office/powerpoint/2010/main" val="951857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20483"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20484"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89A1BDD8-30A4-4E81-B371-8A9E7679BD7F}" type="slidenum">
              <a:rPr lang="es-ES" sz="1200">
                <a:solidFill>
                  <a:schemeClr val="tx1"/>
                </a:solidFill>
              </a:rPr>
              <a:pPr algn="r" eaLnBrk="1" hangingPunct="1"/>
              <a:t>18</a:t>
            </a:fld>
            <a:endParaRPr lang="es-ES" sz="1200">
              <a:solidFill>
                <a:schemeClr val="tx1"/>
              </a:solidFill>
            </a:endParaRPr>
          </a:p>
        </p:txBody>
      </p:sp>
      <p:sp>
        <p:nvSpPr>
          <p:cNvPr id="20485" name="Rectangle 2"/>
          <p:cNvSpPr>
            <a:spLocks noGrp="1" noRot="1" noChangeAspect="1" noChangeArrowheads="1" noTextEdit="1"/>
          </p:cNvSpPr>
          <p:nvPr>
            <p:ph type="sldImg"/>
          </p:nvPr>
        </p:nvSpPr>
        <p:spPr>
          <a:ln/>
        </p:spPr>
      </p:sp>
      <p:sp>
        <p:nvSpPr>
          <p:cNvPr id="204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1">
              <a:latin typeface="Arial" panose="020B0604020202020204" pitchFamily="34" charset="0"/>
            </a:endParaRPr>
          </a:p>
        </p:txBody>
      </p:sp>
    </p:spTree>
    <p:extLst>
      <p:ext uri="{BB962C8B-B14F-4D97-AF65-F5344CB8AC3E}">
        <p14:creationId xmlns:p14="http://schemas.microsoft.com/office/powerpoint/2010/main" val="16456732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22531"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22532"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A7F6FD11-13D7-400F-8831-FBE650416C28}" type="slidenum">
              <a:rPr lang="es-ES" sz="1200">
                <a:solidFill>
                  <a:schemeClr val="tx1"/>
                </a:solidFill>
              </a:rPr>
              <a:pPr algn="r" eaLnBrk="1" hangingPunct="1"/>
              <a:t>19</a:t>
            </a:fld>
            <a:endParaRPr lang="es-ES" sz="1200">
              <a:solidFill>
                <a:schemeClr val="tx1"/>
              </a:solidFill>
            </a:endParaRPr>
          </a:p>
        </p:txBody>
      </p:sp>
      <p:sp>
        <p:nvSpPr>
          <p:cNvPr id="22533" name="Rectangle 2"/>
          <p:cNvSpPr>
            <a:spLocks noGrp="1" noRot="1" noChangeAspect="1" noChangeArrowheads="1" noTextEdit="1"/>
          </p:cNvSpPr>
          <p:nvPr>
            <p:ph type="sldImg"/>
          </p:nvPr>
        </p:nvSpPr>
        <p:spPr>
          <a:ln/>
        </p:spPr>
      </p:sp>
      <p:sp>
        <p:nvSpPr>
          <p:cNvPr id="225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dirty="0">
              <a:latin typeface="Arial" panose="020B0604020202020204" pitchFamily="34" charset="0"/>
            </a:endParaRPr>
          </a:p>
        </p:txBody>
      </p:sp>
    </p:spTree>
    <p:extLst>
      <p:ext uri="{BB962C8B-B14F-4D97-AF65-F5344CB8AC3E}">
        <p14:creationId xmlns:p14="http://schemas.microsoft.com/office/powerpoint/2010/main" val="11126088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20483"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20484"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89A1BDD8-30A4-4E81-B371-8A9E7679BD7F}" type="slidenum">
              <a:rPr lang="es-ES" sz="1200">
                <a:solidFill>
                  <a:schemeClr val="tx1"/>
                </a:solidFill>
              </a:rPr>
              <a:pPr algn="r" eaLnBrk="1" hangingPunct="1"/>
              <a:t>20</a:t>
            </a:fld>
            <a:endParaRPr lang="es-ES" sz="1200">
              <a:solidFill>
                <a:schemeClr val="tx1"/>
              </a:solidFill>
            </a:endParaRPr>
          </a:p>
        </p:txBody>
      </p:sp>
      <p:sp>
        <p:nvSpPr>
          <p:cNvPr id="20485" name="Rectangle 2"/>
          <p:cNvSpPr>
            <a:spLocks noGrp="1" noRot="1" noChangeAspect="1" noChangeArrowheads="1" noTextEdit="1"/>
          </p:cNvSpPr>
          <p:nvPr>
            <p:ph type="sldImg"/>
          </p:nvPr>
        </p:nvSpPr>
        <p:spPr>
          <a:ln/>
        </p:spPr>
      </p:sp>
      <p:sp>
        <p:nvSpPr>
          <p:cNvPr id="204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1" dirty="0">
              <a:latin typeface="Arial" panose="020B0604020202020204" pitchFamily="34" charset="0"/>
            </a:endParaRPr>
          </a:p>
        </p:txBody>
      </p:sp>
    </p:spTree>
    <p:extLst>
      <p:ext uri="{BB962C8B-B14F-4D97-AF65-F5344CB8AC3E}">
        <p14:creationId xmlns:p14="http://schemas.microsoft.com/office/powerpoint/2010/main" val="22244795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20483"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20484"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89A1BDD8-30A4-4E81-B371-8A9E7679BD7F}" type="slidenum">
              <a:rPr lang="es-ES" sz="1200">
                <a:solidFill>
                  <a:schemeClr val="tx1"/>
                </a:solidFill>
              </a:rPr>
              <a:pPr algn="r" eaLnBrk="1" hangingPunct="1"/>
              <a:t>21</a:t>
            </a:fld>
            <a:endParaRPr lang="es-ES" sz="1200">
              <a:solidFill>
                <a:schemeClr val="tx1"/>
              </a:solidFill>
            </a:endParaRPr>
          </a:p>
        </p:txBody>
      </p:sp>
      <p:sp>
        <p:nvSpPr>
          <p:cNvPr id="20485" name="Rectangle 2"/>
          <p:cNvSpPr>
            <a:spLocks noGrp="1" noRot="1" noChangeAspect="1" noChangeArrowheads="1" noTextEdit="1"/>
          </p:cNvSpPr>
          <p:nvPr>
            <p:ph type="sldImg"/>
          </p:nvPr>
        </p:nvSpPr>
        <p:spPr>
          <a:ln/>
        </p:spPr>
      </p:sp>
      <p:sp>
        <p:nvSpPr>
          <p:cNvPr id="204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1">
              <a:latin typeface="Arial" panose="020B0604020202020204" pitchFamily="34" charset="0"/>
            </a:endParaRPr>
          </a:p>
        </p:txBody>
      </p:sp>
    </p:spTree>
    <p:extLst>
      <p:ext uri="{BB962C8B-B14F-4D97-AF65-F5344CB8AC3E}">
        <p14:creationId xmlns:p14="http://schemas.microsoft.com/office/powerpoint/2010/main" val="32974485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26627"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26628"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5DD096FD-91AF-4224-A590-1F2C08DAE80E}" type="slidenum">
              <a:rPr lang="es-ES" sz="1200">
                <a:solidFill>
                  <a:schemeClr val="tx1"/>
                </a:solidFill>
              </a:rPr>
              <a:pPr algn="r" eaLnBrk="1" hangingPunct="1"/>
              <a:t>22</a:t>
            </a:fld>
            <a:endParaRPr lang="es-ES" sz="1200">
              <a:solidFill>
                <a:schemeClr val="tx1"/>
              </a:solidFill>
            </a:endParaRPr>
          </a:p>
        </p:txBody>
      </p:sp>
      <p:sp>
        <p:nvSpPr>
          <p:cNvPr id="26629" name="Rectangle 2"/>
          <p:cNvSpPr>
            <a:spLocks noGrp="1" noRot="1" noChangeAspect="1" noChangeArrowheads="1" noTextEdit="1"/>
          </p:cNvSpPr>
          <p:nvPr>
            <p:ph type="sldImg"/>
          </p:nvPr>
        </p:nvSpPr>
        <p:spPr>
          <a:ln/>
        </p:spPr>
      </p:sp>
      <p:sp>
        <p:nvSpPr>
          <p:cNvPr id="266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24919602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26627"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26628"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5DD096FD-91AF-4224-A590-1F2C08DAE80E}" type="slidenum">
              <a:rPr lang="es-ES" sz="1200">
                <a:solidFill>
                  <a:schemeClr val="tx1"/>
                </a:solidFill>
              </a:rPr>
              <a:pPr algn="r" eaLnBrk="1" hangingPunct="1"/>
              <a:t>23</a:t>
            </a:fld>
            <a:endParaRPr lang="es-ES" sz="1200">
              <a:solidFill>
                <a:schemeClr val="tx1"/>
              </a:solidFill>
            </a:endParaRPr>
          </a:p>
        </p:txBody>
      </p:sp>
      <p:sp>
        <p:nvSpPr>
          <p:cNvPr id="26629" name="Rectangle 2"/>
          <p:cNvSpPr>
            <a:spLocks noGrp="1" noRot="1" noChangeAspect="1" noChangeArrowheads="1" noTextEdit="1"/>
          </p:cNvSpPr>
          <p:nvPr>
            <p:ph type="sldImg"/>
          </p:nvPr>
        </p:nvSpPr>
        <p:spPr>
          <a:ln/>
        </p:spPr>
      </p:sp>
      <p:sp>
        <p:nvSpPr>
          <p:cNvPr id="266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1" dirty="0">
              <a:latin typeface="Arial" panose="020B0604020202020204" pitchFamily="34" charset="0"/>
            </a:endParaRPr>
          </a:p>
        </p:txBody>
      </p:sp>
    </p:spTree>
    <p:extLst>
      <p:ext uri="{BB962C8B-B14F-4D97-AF65-F5344CB8AC3E}">
        <p14:creationId xmlns:p14="http://schemas.microsoft.com/office/powerpoint/2010/main" val="22547841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26627"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26628"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5DD096FD-91AF-4224-A590-1F2C08DAE80E}" type="slidenum">
              <a:rPr lang="es-ES" sz="1200">
                <a:solidFill>
                  <a:schemeClr val="tx1"/>
                </a:solidFill>
              </a:rPr>
              <a:pPr algn="r" eaLnBrk="1" hangingPunct="1"/>
              <a:t>24</a:t>
            </a:fld>
            <a:endParaRPr lang="es-ES" sz="1200">
              <a:solidFill>
                <a:schemeClr val="tx1"/>
              </a:solidFill>
            </a:endParaRPr>
          </a:p>
        </p:txBody>
      </p:sp>
      <p:sp>
        <p:nvSpPr>
          <p:cNvPr id="26629" name="Rectangle 2"/>
          <p:cNvSpPr>
            <a:spLocks noGrp="1" noRot="1" noChangeAspect="1" noChangeArrowheads="1" noTextEdit="1"/>
          </p:cNvSpPr>
          <p:nvPr>
            <p:ph type="sldImg"/>
          </p:nvPr>
        </p:nvSpPr>
        <p:spPr>
          <a:ln/>
        </p:spPr>
      </p:sp>
      <p:sp>
        <p:nvSpPr>
          <p:cNvPr id="266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2120790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26627"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26628"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5DD096FD-91AF-4224-A590-1F2C08DAE80E}" type="slidenum">
              <a:rPr lang="es-ES" sz="1200">
                <a:solidFill>
                  <a:schemeClr val="tx1"/>
                </a:solidFill>
              </a:rPr>
              <a:pPr algn="r" eaLnBrk="1" hangingPunct="1"/>
              <a:t>25</a:t>
            </a:fld>
            <a:endParaRPr lang="es-ES" sz="1200">
              <a:solidFill>
                <a:schemeClr val="tx1"/>
              </a:solidFill>
            </a:endParaRPr>
          </a:p>
        </p:txBody>
      </p:sp>
      <p:sp>
        <p:nvSpPr>
          <p:cNvPr id="26629" name="Rectangle 2"/>
          <p:cNvSpPr>
            <a:spLocks noGrp="1" noRot="1" noChangeAspect="1" noChangeArrowheads="1" noTextEdit="1"/>
          </p:cNvSpPr>
          <p:nvPr>
            <p:ph type="sldImg"/>
          </p:nvPr>
        </p:nvSpPr>
        <p:spPr>
          <a:ln/>
        </p:spPr>
      </p:sp>
      <p:sp>
        <p:nvSpPr>
          <p:cNvPr id="266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8768413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30723"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30724"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D1E5975B-C1CB-4D21-B7CA-929855E76A05}" type="slidenum">
              <a:rPr lang="es-ES" sz="1200">
                <a:solidFill>
                  <a:schemeClr val="tx1"/>
                </a:solidFill>
              </a:rPr>
              <a:pPr algn="r" eaLnBrk="1" hangingPunct="1"/>
              <a:t>26</a:t>
            </a:fld>
            <a:endParaRPr lang="es-ES" sz="1200">
              <a:solidFill>
                <a:schemeClr val="tx1"/>
              </a:solidFill>
            </a:endParaRPr>
          </a:p>
        </p:txBody>
      </p:sp>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1" dirty="0">
              <a:latin typeface="Arial" panose="020B0604020202020204" pitchFamily="34" charset="0"/>
            </a:endParaRPr>
          </a:p>
        </p:txBody>
      </p:sp>
    </p:spTree>
    <p:extLst>
      <p:ext uri="{BB962C8B-B14F-4D97-AF65-F5344CB8AC3E}">
        <p14:creationId xmlns:p14="http://schemas.microsoft.com/office/powerpoint/2010/main" val="11098736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30723"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30724"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D1E5975B-C1CB-4D21-B7CA-929855E76A05}" type="slidenum">
              <a:rPr lang="es-ES" sz="1200">
                <a:solidFill>
                  <a:schemeClr val="tx1"/>
                </a:solidFill>
              </a:rPr>
              <a:pPr algn="r" eaLnBrk="1" hangingPunct="1"/>
              <a:t>27</a:t>
            </a:fld>
            <a:endParaRPr lang="es-ES" sz="1200">
              <a:solidFill>
                <a:schemeClr val="tx1"/>
              </a:solidFill>
            </a:endParaRPr>
          </a:p>
        </p:txBody>
      </p:sp>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1">
              <a:latin typeface="Arial" panose="020B0604020202020204" pitchFamily="34" charset="0"/>
            </a:endParaRPr>
          </a:p>
        </p:txBody>
      </p:sp>
    </p:spTree>
    <p:extLst>
      <p:ext uri="{BB962C8B-B14F-4D97-AF65-F5344CB8AC3E}">
        <p14:creationId xmlns:p14="http://schemas.microsoft.com/office/powerpoint/2010/main" val="37091395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TEMA 1: ECUACIONES DE MAXWELL</a:t>
            </a:r>
          </a:p>
        </p:txBody>
      </p:sp>
      <p:sp>
        <p:nvSpPr>
          <p:cNvPr id="32771"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1200">
                <a:solidFill>
                  <a:schemeClr val="tx1"/>
                </a:solidFill>
              </a:rPr>
              <a:t>FNT - CURSO 2005/2006</a:t>
            </a:r>
          </a:p>
        </p:txBody>
      </p:sp>
      <p:sp>
        <p:nvSpPr>
          <p:cNvPr id="32772"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defRPr sz="2000">
                <a:solidFill>
                  <a:srgbClr val="000000"/>
                </a:solidFill>
                <a:latin typeface="Arial" panose="020B0604020202020204" pitchFamily="34" charset="0"/>
              </a:defRPr>
            </a:lvl1pPr>
            <a:lvl2pPr marL="742950" indent="-285750" defTabSz="915988">
              <a:defRPr sz="2000">
                <a:solidFill>
                  <a:srgbClr val="000000"/>
                </a:solidFill>
                <a:latin typeface="Arial" panose="020B0604020202020204" pitchFamily="34" charset="0"/>
              </a:defRPr>
            </a:lvl2pPr>
            <a:lvl3pPr marL="1143000" indent="-228600" defTabSz="915988">
              <a:defRPr sz="2000">
                <a:solidFill>
                  <a:srgbClr val="000000"/>
                </a:solidFill>
                <a:latin typeface="Arial" panose="020B0604020202020204" pitchFamily="34" charset="0"/>
              </a:defRPr>
            </a:lvl3pPr>
            <a:lvl4pPr marL="1600200" indent="-228600" defTabSz="915988">
              <a:defRPr sz="2000">
                <a:solidFill>
                  <a:srgbClr val="000000"/>
                </a:solidFill>
                <a:latin typeface="Arial" panose="020B0604020202020204" pitchFamily="34" charset="0"/>
              </a:defRPr>
            </a:lvl4pPr>
            <a:lvl5pPr marL="2057400" indent="-228600" defTabSz="915988">
              <a:defRPr sz="2000">
                <a:solidFill>
                  <a:srgbClr val="000000"/>
                </a:solidFill>
                <a:latin typeface="Arial" panose="020B0604020202020204" pitchFamily="34" charset="0"/>
              </a:defRPr>
            </a:lvl5pPr>
            <a:lvl6pPr marL="2514600" indent="-228600" defTabSz="915988" eaLnBrk="0" fontAlgn="base" hangingPunct="0">
              <a:spcBef>
                <a:spcPct val="0"/>
              </a:spcBef>
              <a:spcAft>
                <a:spcPct val="0"/>
              </a:spcAft>
              <a:defRPr sz="2000">
                <a:solidFill>
                  <a:srgbClr val="000000"/>
                </a:solidFill>
                <a:latin typeface="Arial" panose="020B0604020202020204" pitchFamily="34" charset="0"/>
              </a:defRPr>
            </a:lvl6pPr>
            <a:lvl7pPr marL="2971800" indent="-228600" defTabSz="915988" eaLnBrk="0" fontAlgn="base" hangingPunct="0">
              <a:spcBef>
                <a:spcPct val="0"/>
              </a:spcBef>
              <a:spcAft>
                <a:spcPct val="0"/>
              </a:spcAft>
              <a:defRPr sz="2000">
                <a:solidFill>
                  <a:srgbClr val="000000"/>
                </a:solidFill>
                <a:latin typeface="Arial" panose="020B0604020202020204" pitchFamily="34" charset="0"/>
              </a:defRPr>
            </a:lvl7pPr>
            <a:lvl8pPr marL="3429000" indent="-228600" defTabSz="915988" eaLnBrk="0" fontAlgn="base" hangingPunct="0">
              <a:spcBef>
                <a:spcPct val="0"/>
              </a:spcBef>
              <a:spcAft>
                <a:spcPct val="0"/>
              </a:spcAft>
              <a:defRPr sz="2000">
                <a:solidFill>
                  <a:srgbClr val="000000"/>
                </a:solidFill>
                <a:latin typeface="Arial" panose="020B0604020202020204" pitchFamily="34" charset="0"/>
              </a:defRPr>
            </a:lvl8pPr>
            <a:lvl9pPr marL="3886200" indent="-228600" defTabSz="915988"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fld id="{D4AE40D5-50DF-4457-918B-D871C7DB032D}" type="slidenum">
              <a:rPr lang="es-ES" sz="1200">
                <a:solidFill>
                  <a:schemeClr val="tx1"/>
                </a:solidFill>
              </a:rPr>
              <a:pPr algn="r" eaLnBrk="1" hangingPunct="1"/>
              <a:t>28</a:t>
            </a:fld>
            <a:endParaRPr lang="es-ES" sz="1200">
              <a:solidFill>
                <a:schemeClr val="tx1"/>
              </a:solidFill>
            </a:endParaRPr>
          </a:p>
        </p:txBody>
      </p:sp>
      <p:sp>
        <p:nvSpPr>
          <p:cNvPr id="32773" name="Rectangle 2"/>
          <p:cNvSpPr>
            <a:spLocks noGrp="1" noRot="1" noChangeAspect="1" noChangeArrowheads="1" noTextEdit="1"/>
          </p:cNvSpPr>
          <p:nvPr>
            <p:ph type="sldImg"/>
          </p:nvPr>
        </p:nvSpPr>
        <p:spPr>
          <a:ln/>
        </p:spPr>
      </p:sp>
      <p:sp>
        <p:nvSpPr>
          <p:cNvPr id="3277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a:latin typeface="Arial" panose="020B0604020202020204" pitchFamily="34" charset="0"/>
            </a:endParaRPr>
          </a:p>
        </p:txBody>
      </p:sp>
    </p:spTree>
    <p:extLst>
      <p:ext uri="{BB962C8B-B14F-4D97-AF65-F5344CB8AC3E}">
        <p14:creationId xmlns:p14="http://schemas.microsoft.com/office/powerpoint/2010/main" val="2731615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encabezado 3"/>
          <p:cNvSpPr>
            <a:spLocks noGrp="1"/>
          </p:cNvSpPr>
          <p:nvPr>
            <p:ph type="hdr" sz="quarter"/>
          </p:nvPr>
        </p:nvSpPr>
        <p:spPr/>
        <p:txBody>
          <a:bodyPr/>
          <a:lstStyle/>
          <a:p>
            <a:pPr>
              <a:defRPr/>
            </a:pPr>
            <a:r>
              <a:rPr lang="es-ES"/>
              <a:t>TEMA 1: ECUACIONES DE MAXWELL</a:t>
            </a:r>
          </a:p>
        </p:txBody>
      </p:sp>
      <p:sp>
        <p:nvSpPr>
          <p:cNvPr id="5" name="Marcador de pie de página 4"/>
          <p:cNvSpPr>
            <a:spLocks noGrp="1"/>
          </p:cNvSpPr>
          <p:nvPr>
            <p:ph type="ftr" sz="quarter" idx="4"/>
          </p:nvPr>
        </p:nvSpPr>
        <p:spPr/>
        <p:txBody>
          <a:bodyPr/>
          <a:lstStyle/>
          <a:p>
            <a:pPr>
              <a:defRPr/>
            </a:pPr>
            <a:r>
              <a:rPr lang="es-ES"/>
              <a:t>FNT - CURSO 2005/2006</a:t>
            </a:r>
          </a:p>
        </p:txBody>
      </p:sp>
      <p:sp>
        <p:nvSpPr>
          <p:cNvPr id="6" name="Marcador de número de diapositiva 5"/>
          <p:cNvSpPr>
            <a:spLocks noGrp="1"/>
          </p:cNvSpPr>
          <p:nvPr>
            <p:ph type="sldNum" sz="quarter" idx="5"/>
          </p:nvPr>
        </p:nvSpPr>
        <p:spPr/>
        <p:txBody>
          <a:bodyPr/>
          <a:lstStyle/>
          <a:p>
            <a:pPr>
              <a:defRPr/>
            </a:pPr>
            <a:fld id="{D3D6E970-C7EF-4DCB-8D51-2BB459BBE63D}" type="slidenum">
              <a:rPr lang="es-ES" smtClean="0"/>
              <a:pPr>
                <a:defRPr/>
              </a:pPr>
              <a:t>29</a:t>
            </a:fld>
            <a:endParaRPr lang="es-ES"/>
          </a:p>
        </p:txBody>
      </p:sp>
    </p:spTree>
    <p:extLst>
      <p:ext uri="{BB962C8B-B14F-4D97-AF65-F5344CB8AC3E}">
        <p14:creationId xmlns:p14="http://schemas.microsoft.com/office/powerpoint/2010/main" val="13828035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4" name="Rectangle 1026" descr="Canvas"/>
          <p:cNvSpPr>
            <a:spLocks noChangeArrowheads="1"/>
          </p:cNvSpPr>
          <p:nvPr/>
        </p:nvSpPr>
        <p:spPr bwMode="white">
          <a:xfrm>
            <a:off x="623888" y="211138"/>
            <a:ext cx="9920287" cy="6791325"/>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2870" tIns="51435" rIns="102870" bIns="51435" anchor="ctr"/>
          <a:lstStyle>
            <a:lvl1pPr defTabSz="1028700">
              <a:spcBef>
                <a:spcPct val="50000"/>
              </a:spcBef>
              <a:defRPr sz="2000">
                <a:solidFill>
                  <a:srgbClr val="000000"/>
                </a:solidFill>
                <a:latin typeface="Arial" panose="020B0604020202020204" pitchFamily="34" charset="0"/>
              </a:defRPr>
            </a:lvl1pPr>
            <a:lvl2pPr marL="742950" indent="-285750" defTabSz="1028700">
              <a:spcBef>
                <a:spcPct val="50000"/>
              </a:spcBef>
              <a:defRPr sz="2000">
                <a:solidFill>
                  <a:srgbClr val="000000"/>
                </a:solidFill>
                <a:latin typeface="Arial" panose="020B0604020202020204" pitchFamily="34" charset="0"/>
              </a:defRPr>
            </a:lvl2pPr>
            <a:lvl3pPr marL="1143000" indent="-228600" defTabSz="1028700">
              <a:spcBef>
                <a:spcPct val="50000"/>
              </a:spcBef>
              <a:defRPr sz="2000">
                <a:solidFill>
                  <a:srgbClr val="000000"/>
                </a:solidFill>
                <a:latin typeface="Arial" panose="020B0604020202020204" pitchFamily="34" charset="0"/>
              </a:defRPr>
            </a:lvl3pPr>
            <a:lvl4pPr marL="1600200" indent="-228600" defTabSz="1028700">
              <a:spcBef>
                <a:spcPct val="50000"/>
              </a:spcBef>
              <a:defRPr sz="2000">
                <a:solidFill>
                  <a:srgbClr val="000000"/>
                </a:solidFill>
                <a:latin typeface="Arial" panose="020B0604020202020204" pitchFamily="34" charset="0"/>
              </a:defRPr>
            </a:lvl4pPr>
            <a:lvl5pPr marL="2057400" indent="-228600" defTabSz="1028700">
              <a:spcBef>
                <a:spcPct val="50000"/>
              </a:spcBef>
              <a:defRPr sz="2000">
                <a:solidFill>
                  <a:srgbClr val="000000"/>
                </a:solidFill>
                <a:latin typeface="Arial" panose="020B0604020202020204" pitchFamily="34" charset="0"/>
              </a:defRPr>
            </a:lvl5pPr>
            <a:lvl6pPr marL="2514600" indent="-228600" defTabSz="1028700" eaLnBrk="0" fontAlgn="base" hangingPunct="0">
              <a:spcBef>
                <a:spcPct val="50000"/>
              </a:spcBef>
              <a:spcAft>
                <a:spcPct val="0"/>
              </a:spcAft>
              <a:defRPr sz="2000">
                <a:solidFill>
                  <a:srgbClr val="000000"/>
                </a:solidFill>
                <a:latin typeface="Arial" panose="020B0604020202020204" pitchFamily="34" charset="0"/>
              </a:defRPr>
            </a:lvl6pPr>
            <a:lvl7pPr marL="2971800" indent="-228600" defTabSz="1028700" eaLnBrk="0" fontAlgn="base" hangingPunct="0">
              <a:spcBef>
                <a:spcPct val="50000"/>
              </a:spcBef>
              <a:spcAft>
                <a:spcPct val="0"/>
              </a:spcAft>
              <a:defRPr sz="2000">
                <a:solidFill>
                  <a:srgbClr val="000000"/>
                </a:solidFill>
                <a:latin typeface="Arial" panose="020B0604020202020204" pitchFamily="34" charset="0"/>
              </a:defRPr>
            </a:lvl7pPr>
            <a:lvl8pPr marL="3429000" indent="-228600" defTabSz="1028700" eaLnBrk="0" fontAlgn="base" hangingPunct="0">
              <a:spcBef>
                <a:spcPct val="50000"/>
              </a:spcBef>
              <a:spcAft>
                <a:spcPct val="0"/>
              </a:spcAft>
              <a:defRPr sz="2000">
                <a:solidFill>
                  <a:srgbClr val="000000"/>
                </a:solidFill>
                <a:latin typeface="Arial" panose="020B0604020202020204" pitchFamily="34" charset="0"/>
              </a:defRPr>
            </a:lvl8pPr>
            <a:lvl9pPr marL="3886200" indent="-228600" defTabSz="1028700" eaLnBrk="0" fontAlgn="base" hangingPunct="0">
              <a:spcBef>
                <a:spcPct val="50000"/>
              </a:spcBef>
              <a:spcAft>
                <a:spcPct val="0"/>
              </a:spcAft>
              <a:defRPr sz="2000">
                <a:solidFill>
                  <a:srgbClr val="000000"/>
                </a:solidFill>
                <a:latin typeface="Arial" panose="020B0604020202020204" pitchFamily="34" charset="0"/>
              </a:defRPr>
            </a:lvl9pPr>
          </a:lstStyle>
          <a:p>
            <a:pPr algn="ctr" eaLnBrk="1" hangingPunct="1">
              <a:spcBef>
                <a:spcPct val="0"/>
              </a:spcBef>
              <a:defRPr/>
            </a:pPr>
            <a:endParaRPr kumimoji="1" lang="es-ES" sz="2700">
              <a:solidFill>
                <a:schemeClr val="tx1"/>
              </a:solidFill>
              <a:latin typeface="Times New Roman" panose="02020603050405020304" pitchFamily="18" charset="0"/>
            </a:endParaRPr>
          </a:p>
        </p:txBody>
      </p:sp>
      <p:pic>
        <p:nvPicPr>
          <p:cNvPr id="5" name="Picture 1027" descr="minispi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53975"/>
            <a:ext cx="1395413" cy="450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028" descr="Canvas"/>
          <p:cNvSpPr>
            <a:spLocks noChangeArrowheads="1"/>
          </p:cNvSpPr>
          <p:nvPr/>
        </p:nvSpPr>
        <p:spPr bwMode="white">
          <a:xfrm>
            <a:off x="704850" y="4337050"/>
            <a:ext cx="1230313" cy="479425"/>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2870" tIns="51435" rIns="102870" bIns="51435" anchor="ctr"/>
          <a:lstStyle>
            <a:lvl1pPr defTabSz="1028700">
              <a:spcBef>
                <a:spcPct val="50000"/>
              </a:spcBef>
              <a:defRPr sz="2000">
                <a:solidFill>
                  <a:srgbClr val="000000"/>
                </a:solidFill>
                <a:latin typeface="Arial" panose="020B0604020202020204" pitchFamily="34" charset="0"/>
              </a:defRPr>
            </a:lvl1pPr>
            <a:lvl2pPr marL="742950" indent="-285750" defTabSz="1028700">
              <a:spcBef>
                <a:spcPct val="50000"/>
              </a:spcBef>
              <a:defRPr sz="2000">
                <a:solidFill>
                  <a:srgbClr val="000000"/>
                </a:solidFill>
                <a:latin typeface="Arial" panose="020B0604020202020204" pitchFamily="34" charset="0"/>
              </a:defRPr>
            </a:lvl2pPr>
            <a:lvl3pPr marL="1143000" indent="-228600" defTabSz="1028700">
              <a:spcBef>
                <a:spcPct val="50000"/>
              </a:spcBef>
              <a:defRPr sz="2000">
                <a:solidFill>
                  <a:srgbClr val="000000"/>
                </a:solidFill>
                <a:latin typeface="Arial" panose="020B0604020202020204" pitchFamily="34" charset="0"/>
              </a:defRPr>
            </a:lvl3pPr>
            <a:lvl4pPr marL="1600200" indent="-228600" defTabSz="1028700">
              <a:spcBef>
                <a:spcPct val="50000"/>
              </a:spcBef>
              <a:defRPr sz="2000">
                <a:solidFill>
                  <a:srgbClr val="000000"/>
                </a:solidFill>
                <a:latin typeface="Arial" panose="020B0604020202020204" pitchFamily="34" charset="0"/>
              </a:defRPr>
            </a:lvl4pPr>
            <a:lvl5pPr marL="2057400" indent="-228600" defTabSz="1028700">
              <a:spcBef>
                <a:spcPct val="50000"/>
              </a:spcBef>
              <a:defRPr sz="2000">
                <a:solidFill>
                  <a:srgbClr val="000000"/>
                </a:solidFill>
                <a:latin typeface="Arial" panose="020B0604020202020204" pitchFamily="34" charset="0"/>
              </a:defRPr>
            </a:lvl5pPr>
            <a:lvl6pPr marL="2514600" indent="-228600" defTabSz="1028700" eaLnBrk="0" fontAlgn="base" hangingPunct="0">
              <a:spcBef>
                <a:spcPct val="50000"/>
              </a:spcBef>
              <a:spcAft>
                <a:spcPct val="0"/>
              </a:spcAft>
              <a:defRPr sz="2000">
                <a:solidFill>
                  <a:srgbClr val="000000"/>
                </a:solidFill>
                <a:latin typeface="Arial" panose="020B0604020202020204" pitchFamily="34" charset="0"/>
              </a:defRPr>
            </a:lvl6pPr>
            <a:lvl7pPr marL="2971800" indent="-228600" defTabSz="1028700" eaLnBrk="0" fontAlgn="base" hangingPunct="0">
              <a:spcBef>
                <a:spcPct val="50000"/>
              </a:spcBef>
              <a:spcAft>
                <a:spcPct val="0"/>
              </a:spcAft>
              <a:defRPr sz="2000">
                <a:solidFill>
                  <a:srgbClr val="000000"/>
                </a:solidFill>
                <a:latin typeface="Arial" panose="020B0604020202020204" pitchFamily="34" charset="0"/>
              </a:defRPr>
            </a:lvl7pPr>
            <a:lvl8pPr marL="3429000" indent="-228600" defTabSz="1028700" eaLnBrk="0" fontAlgn="base" hangingPunct="0">
              <a:spcBef>
                <a:spcPct val="50000"/>
              </a:spcBef>
              <a:spcAft>
                <a:spcPct val="0"/>
              </a:spcAft>
              <a:defRPr sz="2000">
                <a:solidFill>
                  <a:srgbClr val="000000"/>
                </a:solidFill>
                <a:latin typeface="Arial" panose="020B0604020202020204" pitchFamily="34" charset="0"/>
              </a:defRPr>
            </a:lvl8pPr>
            <a:lvl9pPr marL="3886200" indent="-228600" defTabSz="1028700" eaLnBrk="0" fontAlgn="base" hangingPunct="0">
              <a:spcBef>
                <a:spcPct val="50000"/>
              </a:spcBef>
              <a:spcAft>
                <a:spcPct val="0"/>
              </a:spcAft>
              <a:defRPr sz="2000">
                <a:solidFill>
                  <a:srgbClr val="000000"/>
                </a:solidFill>
                <a:latin typeface="Arial" panose="020B0604020202020204" pitchFamily="34" charset="0"/>
              </a:defRPr>
            </a:lvl9pPr>
          </a:lstStyle>
          <a:p>
            <a:pPr algn="ctr" eaLnBrk="1" hangingPunct="1">
              <a:spcBef>
                <a:spcPct val="0"/>
              </a:spcBef>
              <a:defRPr/>
            </a:pPr>
            <a:endParaRPr kumimoji="1" lang="es-ES" sz="2700">
              <a:solidFill>
                <a:schemeClr val="tx1"/>
              </a:solidFill>
              <a:latin typeface="Times New Roman" panose="02020603050405020304" pitchFamily="18" charset="0"/>
            </a:endParaRPr>
          </a:p>
        </p:txBody>
      </p:sp>
      <p:pic>
        <p:nvPicPr>
          <p:cNvPr id="7" name="Picture 1029" descr="minispir"/>
          <p:cNvPicPr>
            <a:picLocks noChangeAspect="1" noChangeArrowheads="1"/>
          </p:cNvPicPr>
          <p:nvPr/>
        </p:nvPicPr>
        <p:blipFill>
          <a:blip r:embed="rId3">
            <a:extLst>
              <a:ext uri="{28A0092B-C50C-407E-A947-70E740481C1C}">
                <a14:useLocalDpi xmlns:a14="http://schemas.microsoft.com/office/drawing/2010/main" val="0"/>
              </a:ext>
            </a:extLst>
          </a:blip>
          <a:srcRect t="39999"/>
          <a:stretch>
            <a:fillRect/>
          </a:stretch>
        </p:blipFill>
        <p:spPr bwMode="ltGray">
          <a:xfrm>
            <a:off x="0" y="4433888"/>
            <a:ext cx="1395413"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4" name="Rectangle 1030"/>
          <p:cNvSpPr>
            <a:spLocks noGrp="1" noChangeArrowheads="1"/>
          </p:cNvSpPr>
          <p:nvPr>
            <p:ph type="ctrTitle"/>
          </p:nvPr>
        </p:nvSpPr>
        <p:spPr>
          <a:xfrm>
            <a:off x="1079500" y="2160588"/>
            <a:ext cx="9121775" cy="1200150"/>
          </a:xfrm>
        </p:spPr>
        <p:txBody>
          <a:bodyPr/>
          <a:lstStyle>
            <a:lvl1pPr>
              <a:defRPr/>
            </a:lvl1pPr>
          </a:lstStyle>
          <a:p>
            <a:r>
              <a:rPr lang="es-ES"/>
              <a:t>Haga clic para modificar el estilo de título del patrón</a:t>
            </a:r>
          </a:p>
        </p:txBody>
      </p:sp>
      <p:sp>
        <p:nvSpPr>
          <p:cNvPr id="94215" name="Rectangle 1031"/>
          <p:cNvSpPr>
            <a:spLocks noGrp="1" noChangeArrowheads="1"/>
          </p:cNvSpPr>
          <p:nvPr>
            <p:ph type="subTitle" idx="1"/>
          </p:nvPr>
        </p:nvSpPr>
        <p:spPr>
          <a:xfrm>
            <a:off x="1920875" y="4079875"/>
            <a:ext cx="7559675" cy="1860550"/>
          </a:xfrm>
        </p:spPr>
        <p:txBody>
          <a:bodyPr/>
          <a:lstStyle>
            <a:lvl1pPr marL="0" indent="0" algn="ctr">
              <a:buFontTx/>
              <a:buNone/>
              <a:defRPr/>
            </a:lvl1pPr>
          </a:lstStyle>
          <a:p>
            <a:r>
              <a:rPr lang="es-ES"/>
              <a:t>Haga clic para modificar el estilo de subtítulo del patrón</a:t>
            </a:r>
          </a:p>
        </p:txBody>
      </p:sp>
      <p:sp>
        <p:nvSpPr>
          <p:cNvPr id="8" name="Rectangle 1032"/>
          <p:cNvSpPr>
            <a:spLocks noGrp="1" noChangeArrowheads="1"/>
          </p:cNvSpPr>
          <p:nvPr>
            <p:ph type="dt" sz="quarter" idx="10"/>
          </p:nvPr>
        </p:nvSpPr>
        <p:spPr>
          <a:xfrm>
            <a:off x="1281113" y="6400800"/>
            <a:ext cx="2249487" cy="479425"/>
          </a:xfrm>
        </p:spPr>
        <p:txBody>
          <a:bodyPr/>
          <a:lstStyle>
            <a:lvl1pPr>
              <a:defRPr/>
            </a:lvl1pPr>
          </a:lstStyle>
          <a:p>
            <a:pPr>
              <a:defRPr/>
            </a:pPr>
            <a:endParaRPr lang="es-ES"/>
          </a:p>
        </p:txBody>
      </p:sp>
      <p:sp>
        <p:nvSpPr>
          <p:cNvPr id="9" name="Rectangle 1033"/>
          <p:cNvSpPr>
            <a:spLocks noGrp="1" noChangeArrowheads="1"/>
          </p:cNvSpPr>
          <p:nvPr>
            <p:ph type="ftr" sz="quarter" idx="11"/>
          </p:nvPr>
        </p:nvSpPr>
        <p:spPr>
          <a:xfrm>
            <a:off x="4160838" y="6400800"/>
            <a:ext cx="3421062" cy="479425"/>
          </a:xfrm>
        </p:spPr>
        <p:txBody>
          <a:bodyPr/>
          <a:lstStyle>
            <a:lvl1pPr>
              <a:defRPr/>
            </a:lvl1pPr>
          </a:lstStyle>
          <a:p>
            <a:pPr>
              <a:defRPr/>
            </a:pPr>
            <a:endParaRPr lang="es-ES"/>
          </a:p>
        </p:txBody>
      </p:sp>
      <p:sp>
        <p:nvSpPr>
          <p:cNvPr id="10" name="Rectangle 1034"/>
          <p:cNvSpPr>
            <a:spLocks noGrp="1" noChangeArrowheads="1"/>
          </p:cNvSpPr>
          <p:nvPr>
            <p:ph type="sldNum" sz="quarter" idx="12"/>
          </p:nvPr>
        </p:nvSpPr>
        <p:spPr>
          <a:xfrm>
            <a:off x="8212138" y="6400800"/>
            <a:ext cx="2249487" cy="479425"/>
          </a:xfrm>
        </p:spPr>
        <p:txBody>
          <a:bodyPr/>
          <a:lstStyle>
            <a:lvl1pPr>
              <a:defRPr/>
            </a:lvl1pPr>
          </a:lstStyle>
          <a:p>
            <a:pPr>
              <a:defRPr/>
            </a:pPr>
            <a:fld id="{8FCA4A20-BD38-4125-928B-5E1017230588}" type="slidenum">
              <a:rPr lang="es-ES"/>
              <a:pPr>
                <a:defRPr/>
              </a:pPr>
              <a:t>‹Nº›</a:t>
            </a:fld>
            <a:endParaRPr lang="es-ES"/>
          </a:p>
        </p:txBody>
      </p:sp>
    </p:spTree>
    <p:extLst>
      <p:ext uri="{BB962C8B-B14F-4D97-AF65-F5344CB8AC3E}">
        <p14:creationId xmlns:p14="http://schemas.microsoft.com/office/powerpoint/2010/main" val="1464806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8"/>
          <p:cNvSpPr>
            <a:spLocks noGrp="1" noChangeArrowheads="1"/>
          </p:cNvSpPr>
          <p:nvPr>
            <p:ph type="dt" sz="half" idx="10"/>
          </p:nvPr>
        </p:nvSpPr>
        <p:spPr>
          <a:ln/>
        </p:spPr>
        <p:txBody>
          <a:bodyPr/>
          <a:lstStyle>
            <a:lvl1pPr>
              <a:defRPr/>
            </a:lvl1pPr>
          </a:lstStyle>
          <a:p>
            <a:pPr>
              <a:defRPr/>
            </a:pPr>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40166C4A-EFA8-4280-8D39-82CEDE8D556E}" type="slidenum">
              <a:rPr lang="es-ES"/>
              <a:pPr>
                <a:defRPr/>
              </a:pPr>
              <a:t>‹Nº›</a:t>
            </a:fld>
            <a:endParaRPr lang="es-ES"/>
          </a:p>
        </p:txBody>
      </p:sp>
    </p:spTree>
    <p:extLst>
      <p:ext uri="{BB962C8B-B14F-4D97-AF65-F5344CB8AC3E}">
        <p14:creationId xmlns:p14="http://schemas.microsoft.com/office/powerpoint/2010/main" val="1872993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852488" y="4627563"/>
            <a:ext cx="9182100" cy="1430337"/>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852488" y="3052763"/>
            <a:ext cx="9182100" cy="15748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8"/>
          <p:cNvSpPr>
            <a:spLocks noGrp="1" noChangeArrowheads="1"/>
          </p:cNvSpPr>
          <p:nvPr>
            <p:ph type="dt" sz="half" idx="10"/>
          </p:nvPr>
        </p:nvSpPr>
        <p:spPr>
          <a:ln/>
        </p:spPr>
        <p:txBody>
          <a:bodyPr/>
          <a:lstStyle>
            <a:lvl1pPr>
              <a:defRPr/>
            </a:lvl1pPr>
          </a:lstStyle>
          <a:p>
            <a:pPr>
              <a:defRPr/>
            </a:pPr>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2504F815-81BC-4700-ADA9-D5D28B85C14D}" type="slidenum">
              <a:rPr lang="es-ES"/>
              <a:pPr>
                <a:defRPr/>
              </a:pPr>
              <a:t>‹Nº›</a:t>
            </a:fld>
            <a:endParaRPr lang="es-ES"/>
          </a:p>
        </p:txBody>
      </p:sp>
    </p:spTree>
    <p:extLst>
      <p:ext uri="{BB962C8B-B14F-4D97-AF65-F5344CB8AC3E}">
        <p14:creationId xmlns:p14="http://schemas.microsoft.com/office/powerpoint/2010/main" val="3995271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1260475" y="1839913"/>
            <a:ext cx="4424363"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5837238" y="1839913"/>
            <a:ext cx="4424362"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8"/>
          <p:cNvSpPr>
            <a:spLocks noGrp="1" noChangeArrowheads="1"/>
          </p:cNvSpPr>
          <p:nvPr>
            <p:ph type="dt" sz="half" idx="10"/>
          </p:nvPr>
        </p:nvSpPr>
        <p:spPr>
          <a:ln/>
        </p:spPr>
        <p:txBody>
          <a:bodyPr/>
          <a:lstStyle>
            <a:lvl1pPr>
              <a:defRPr/>
            </a:lvl1pPr>
          </a:lstStyle>
          <a:p>
            <a:pPr>
              <a:defRPr/>
            </a:pPr>
            <a:endParaRPr lang="es-ES"/>
          </a:p>
        </p:txBody>
      </p:sp>
      <p:sp>
        <p:nvSpPr>
          <p:cNvPr id="6" name="Rectangle 9"/>
          <p:cNvSpPr>
            <a:spLocks noGrp="1" noChangeArrowheads="1"/>
          </p:cNvSpPr>
          <p:nvPr>
            <p:ph type="ftr" sz="quarter" idx="11"/>
          </p:nvPr>
        </p:nvSpPr>
        <p:spPr>
          <a:ln/>
        </p:spPr>
        <p:txBody>
          <a:bodyPr/>
          <a:lstStyle>
            <a:lvl1pPr>
              <a:defRPr/>
            </a:lvl1pPr>
          </a:lstStyle>
          <a:p>
            <a:pPr>
              <a:defRPr/>
            </a:pPr>
            <a:endParaRPr lang="es-ES"/>
          </a:p>
        </p:txBody>
      </p:sp>
      <p:sp>
        <p:nvSpPr>
          <p:cNvPr id="7" name="Rectangle 10"/>
          <p:cNvSpPr>
            <a:spLocks noGrp="1" noChangeArrowheads="1"/>
          </p:cNvSpPr>
          <p:nvPr>
            <p:ph type="sldNum" sz="quarter" idx="12"/>
          </p:nvPr>
        </p:nvSpPr>
        <p:spPr>
          <a:ln/>
        </p:spPr>
        <p:txBody>
          <a:bodyPr/>
          <a:lstStyle>
            <a:lvl1pPr>
              <a:defRPr/>
            </a:lvl1pPr>
          </a:lstStyle>
          <a:p>
            <a:pPr>
              <a:defRPr/>
            </a:pPr>
            <a:fld id="{3464B735-684E-4C0F-A28B-53C16AA78E77}" type="slidenum">
              <a:rPr lang="es-ES"/>
              <a:pPr>
                <a:defRPr/>
              </a:pPr>
              <a:t>‹Nº›</a:t>
            </a:fld>
            <a:endParaRPr lang="es-ES"/>
          </a:p>
        </p:txBody>
      </p:sp>
    </p:spTree>
    <p:extLst>
      <p:ext uri="{BB962C8B-B14F-4D97-AF65-F5344CB8AC3E}">
        <p14:creationId xmlns:p14="http://schemas.microsoft.com/office/powerpoint/2010/main" val="4203972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539750" y="288925"/>
            <a:ext cx="9721850" cy="120015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539750" y="1611313"/>
            <a:ext cx="4772025" cy="6731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539750" y="2284413"/>
            <a:ext cx="4772025" cy="41481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5486400" y="1611313"/>
            <a:ext cx="4775200" cy="6731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5486400" y="2284413"/>
            <a:ext cx="4775200" cy="41481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8"/>
          <p:cNvSpPr>
            <a:spLocks noGrp="1" noChangeArrowheads="1"/>
          </p:cNvSpPr>
          <p:nvPr>
            <p:ph type="dt" sz="half" idx="10"/>
          </p:nvPr>
        </p:nvSpPr>
        <p:spPr>
          <a:ln/>
        </p:spPr>
        <p:txBody>
          <a:bodyPr/>
          <a:lstStyle>
            <a:lvl1pPr>
              <a:defRPr/>
            </a:lvl1pPr>
          </a:lstStyle>
          <a:p>
            <a:pPr>
              <a:defRPr/>
            </a:pPr>
            <a:endParaRPr lang="es-ES"/>
          </a:p>
        </p:txBody>
      </p:sp>
      <p:sp>
        <p:nvSpPr>
          <p:cNvPr id="8" name="Rectangle 9"/>
          <p:cNvSpPr>
            <a:spLocks noGrp="1" noChangeArrowheads="1"/>
          </p:cNvSpPr>
          <p:nvPr>
            <p:ph type="ftr" sz="quarter" idx="11"/>
          </p:nvPr>
        </p:nvSpPr>
        <p:spPr>
          <a:ln/>
        </p:spPr>
        <p:txBody>
          <a:bodyPr/>
          <a:lstStyle>
            <a:lvl1pPr>
              <a:defRPr/>
            </a:lvl1pPr>
          </a:lstStyle>
          <a:p>
            <a:pPr>
              <a:defRPr/>
            </a:pPr>
            <a:endParaRPr lang="es-ES"/>
          </a:p>
        </p:txBody>
      </p:sp>
      <p:sp>
        <p:nvSpPr>
          <p:cNvPr id="9" name="Rectangle 10"/>
          <p:cNvSpPr>
            <a:spLocks noGrp="1" noChangeArrowheads="1"/>
          </p:cNvSpPr>
          <p:nvPr>
            <p:ph type="sldNum" sz="quarter" idx="12"/>
          </p:nvPr>
        </p:nvSpPr>
        <p:spPr>
          <a:ln/>
        </p:spPr>
        <p:txBody>
          <a:bodyPr/>
          <a:lstStyle>
            <a:lvl1pPr>
              <a:defRPr/>
            </a:lvl1pPr>
          </a:lstStyle>
          <a:p>
            <a:pPr>
              <a:defRPr/>
            </a:pPr>
            <a:fld id="{C6FF83E6-0675-451D-90B5-867CDD686CEE}" type="slidenum">
              <a:rPr lang="es-ES"/>
              <a:pPr>
                <a:defRPr/>
              </a:pPr>
              <a:t>‹Nº›</a:t>
            </a:fld>
            <a:endParaRPr lang="es-ES"/>
          </a:p>
        </p:txBody>
      </p:sp>
    </p:spTree>
    <p:extLst>
      <p:ext uri="{BB962C8B-B14F-4D97-AF65-F5344CB8AC3E}">
        <p14:creationId xmlns:p14="http://schemas.microsoft.com/office/powerpoint/2010/main" val="1367074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Rectangle 8"/>
          <p:cNvSpPr>
            <a:spLocks noGrp="1" noChangeArrowheads="1"/>
          </p:cNvSpPr>
          <p:nvPr>
            <p:ph type="dt" sz="half" idx="10"/>
          </p:nvPr>
        </p:nvSpPr>
        <p:spPr>
          <a:ln/>
        </p:spPr>
        <p:txBody>
          <a:bodyPr/>
          <a:lstStyle>
            <a:lvl1pPr>
              <a:defRPr/>
            </a:lvl1pPr>
          </a:lstStyle>
          <a:p>
            <a:pPr>
              <a:defRPr/>
            </a:pPr>
            <a:endParaRPr lang="es-ES"/>
          </a:p>
        </p:txBody>
      </p:sp>
      <p:sp>
        <p:nvSpPr>
          <p:cNvPr id="4" name="Rectangle 9"/>
          <p:cNvSpPr>
            <a:spLocks noGrp="1" noChangeArrowheads="1"/>
          </p:cNvSpPr>
          <p:nvPr>
            <p:ph type="ftr" sz="quarter" idx="11"/>
          </p:nvPr>
        </p:nvSpPr>
        <p:spPr>
          <a:ln/>
        </p:spPr>
        <p:txBody>
          <a:bodyPr/>
          <a:lstStyle>
            <a:lvl1pPr>
              <a:defRPr/>
            </a:lvl1pPr>
          </a:lstStyle>
          <a:p>
            <a:pPr>
              <a:defRPr/>
            </a:pPr>
            <a:endParaRPr lang="es-ES"/>
          </a:p>
        </p:txBody>
      </p:sp>
      <p:sp>
        <p:nvSpPr>
          <p:cNvPr id="5" name="Rectangle 10"/>
          <p:cNvSpPr>
            <a:spLocks noGrp="1" noChangeArrowheads="1"/>
          </p:cNvSpPr>
          <p:nvPr>
            <p:ph type="sldNum" sz="quarter" idx="12"/>
          </p:nvPr>
        </p:nvSpPr>
        <p:spPr>
          <a:ln/>
        </p:spPr>
        <p:txBody>
          <a:bodyPr/>
          <a:lstStyle>
            <a:lvl1pPr>
              <a:defRPr/>
            </a:lvl1pPr>
          </a:lstStyle>
          <a:p>
            <a:pPr>
              <a:defRPr/>
            </a:pPr>
            <a:fld id="{5A410B93-3092-42A6-B6C6-F4DEF9C83A71}" type="slidenum">
              <a:rPr lang="es-ES"/>
              <a:pPr>
                <a:defRPr/>
              </a:pPr>
              <a:t>‹Nº›</a:t>
            </a:fld>
            <a:endParaRPr lang="es-ES"/>
          </a:p>
        </p:txBody>
      </p:sp>
    </p:spTree>
    <p:extLst>
      <p:ext uri="{BB962C8B-B14F-4D97-AF65-F5344CB8AC3E}">
        <p14:creationId xmlns:p14="http://schemas.microsoft.com/office/powerpoint/2010/main" val="3842878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a:defRPr/>
            </a:pPr>
            <a:endParaRPr lang="es-ES"/>
          </a:p>
        </p:txBody>
      </p:sp>
      <p:sp>
        <p:nvSpPr>
          <p:cNvPr id="3" name="Rectangle 9"/>
          <p:cNvSpPr>
            <a:spLocks noGrp="1" noChangeArrowheads="1"/>
          </p:cNvSpPr>
          <p:nvPr>
            <p:ph type="ftr" sz="quarter" idx="11"/>
          </p:nvPr>
        </p:nvSpPr>
        <p:spPr>
          <a:ln/>
        </p:spPr>
        <p:txBody>
          <a:bodyPr/>
          <a:lstStyle>
            <a:lvl1pPr>
              <a:defRPr/>
            </a:lvl1pPr>
          </a:lstStyle>
          <a:p>
            <a:pPr>
              <a:defRPr/>
            </a:pPr>
            <a:endParaRPr lang="es-ES"/>
          </a:p>
        </p:txBody>
      </p:sp>
      <p:sp>
        <p:nvSpPr>
          <p:cNvPr id="4" name="Rectangle 10"/>
          <p:cNvSpPr>
            <a:spLocks noGrp="1" noChangeArrowheads="1"/>
          </p:cNvSpPr>
          <p:nvPr>
            <p:ph type="sldNum" sz="quarter" idx="12"/>
          </p:nvPr>
        </p:nvSpPr>
        <p:spPr>
          <a:ln/>
        </p:spPr>
        <p:txBody>
          <a:bodyPr/>
          <a:lstStyle>
            <a:lvl1pPr>
              <a:defRPr/>
            </a:lvl1pPr>
          </a:lstStyle>
          <a:p>
            <a:pPr>
              <a:defRPr/>
            </a:pPr>
            <a:fld id="{B820D3D2-832E-4081-B519-D7B4D23B5116}" type="slidenum">
              <a:rPr lang="es-ES"/>
              <a:pPr>
                <a:defRPr/>
              </a:pPr>
              <a:t>‹Nº›</a:t>
            </a:fld>
            <a:endParaRPr lang="es-ES"/>
          </a:p>
        </p:txBody>
      </p:sp>
    </p:spTree>
    <p:extLst>
      <p:ext uri="{BB962C8B-B14F-4D97-AF65-F5344CB8AC3E}">
        <p14:creationId xmlns:p14="http://schemas.microsoft.com/office/powerpoint/2010/main" val="3980506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39750" y="287338"/>
            <a:ext cx="3554413" cy="121920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4222750" y="287338"/>
            <a:ext cx="6038850" cy="614521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539750" y="1506538"/>
            <a:ext cx="3554413" cy="4926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8"/>
          <p:cNvSpPr>
            <a:spLocks noGrp="1" noChangeArrowheads="1"/>
          </p:cNvSpPr>
          <p:nvPr>
            <p:ph type="dt" sz="half" idx="10"/>
          </p:nvPr>
        </p:nvSpPr>
        <p:spPr>
          <a:ln/>
        </p:spPr>
        <p:txBody>
          <a:bodyPr/>
          <a:lstStyle>
            <a:lvl1pPr>
              <a:defRPr/>
            </a:lvl1pPr>
          </a:lstStyle>
          <a:p>
            <a:pPr>
              <a:defRPr/>
            </a:pPr>
            <a:endParaRPr lang="es-ES"/>
          </a:p>
        </p:txBody>
      </p:sp>
      <p:sp>
        <p:nvSpPr>
          <p:cNvPr id="6" name="Rectangle 9"/>
          <p:cNvSpPr>
            <a:spLocks noGrp="1" noChangeArrowheads="1"/>
          </p:cNvSpPr>
          <p:nvPr>
            <p:ph type="ftr" sz="quarter" idx="11"/>
          </p:nvPr>
        </p:nvSpPr>
        <p:spPr>
          <a:ln/>
        </p:spPr>
        <p:txBody>
          <a:bodyPr/>
          <a:lstStyle>
            <a:lvl1pPr>
              <a:defRPr/>
            </a:lvl1pPr>
          </a:lstStyle>
          <a:p>
            <a:pPr>
              <a:defRPr/>
            </a:pPr>
            <a:endParaRPr lang="es-ES"/>
          </a:p>
        </p:txBody>
      </p:sp>
      <p:sp>
        <p:nvSpPr>
          <p:cNvPr id="7" name="Rectangle 10"/>
          <p:cNvSpPr>
            <a:spLocks noGrp="1" noChangeArrowheads="1"/>
          </p:cNvSpPr>
          <p:nvPr>
            <p:ph type="sldNum" sz="quarter" idx="12"/>
          </p:nvPr>
        </p:nvSpPr>
        <p:spPr>
          <a:ln/>
        </p:spPr>
        <p:txBody>
          <a:bodyPr/>
          <a:lstStyle>
            <a:lvl1pPr>
              <a:defRPr/>
            </a:lvl1pPr>
          </a:lstStyle>
          <a:p>
            <a:pPr>
              <a:defRPr/>
            </a:pPr>
            <a:fld id="{F490CB87-4D66-4415-838A-0559665D6786}" type="slidenum">
              <a:rPr lang="es-ES"/>
              <a:pPr>
                <a:defRPr/>
              </a:pPr>
              <a:t>‹Nº›</a:t>
            </a:fld>
            <a:endParaRPr lang="es-ES"/>
          </a:p>
        </p:txBody>
      </p:sp>
    </p:spTree>
    <p:extLst>
      <p:ext uri="{BB962C8B-B14F-4D97-AF65-F5344CB8AC3E}">
        <p14:creationId xmlns:p14="http://schemas.microsoft.com/office/powerpoint/2010/main" val="342791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117725" y="5040313"/>
            <a:ext cx="6480175" cy="595312"/>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2117725" y="642938"/>
            <a:ext cx="6480175" cy="43211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2117725" y="5635625"/>
            <a:ext cx="6480175" cy="8445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8"/>
          <p:cNvSpPr>
            <a:spLocks noGrp="1" noChangeArrowheads="1"/>
          </p:cNvSpPr>
          <p:nvPr>
            <p:ph type="dt" sz="half" idx="10"/>
          </p:nvPr>
        </p:nvSpPr>
        <p:spPr>
          <a:ln/>
        </p:spPr>
        <p:txBody>
          <a:bodyPr/>
          <a:lstStyle>
            <a:lvl1pPr>
              <a:defRPr/>
            </a:lvl1pPr>
          </a:lstStyle>
          <a:p>
            <a:pPr>
              <a:defRPr/>
            </a:pPr>
            <a:endParaRPr lang="es-ES"/>
          </a:p>
        </p:txBody>
      </p:sp>
      <p:sp>
        <p:nvSpPr>
          <p:cNvPr id="6" name="Rectangle 9"/>
          <p:cNvSpPr>
            <a:spLocks noGrp="1" noChangeArrowheads="1"/>
          </p:cNvSpPr>
          <p:nvPr>
            <p:ph type="ftr" sz="quarter" idx="11"/>
          </p:nvPr>
        </p:nvSpPr>
        <p:spPr>
          <a:ln/>
        </p:spPr>
        <p:txBody>
          <a:bodyPr/>
          <a:lstStyle>
            <a:lvl1pPr>
              <a:defRPr/>
            </a:lvl1pPr>
          </a:lstStyle>
          <a:p>
            <a:pPr>
              <a:defRPr/>
            </a:pPr>
            <a:endParaRPr lang="es-ES"/>
          </a:p>
        </p:txBody>
      </p:sp>
      <p:sp>
        <p:nvSpPr>
          <p:cNvPr id="7" name="Rectangle 10"/>
          <p:cNvSpPr>
            <a:spLocks noGrp="1" noChangeArrowheads="1"/>
          </p:cNvSpPr>
          <p:nvPr>
            <p:ph type="sldNum" sz="quarter" idx="12"/>
          </p:nvPr>
        </p:nvSpPr>
        <p:spPr>
          <a:ln/>
        </p:spPr>
        <p:txBody>
          <a:bodyPr/>
          <a:lstStyle>
            <a:lvl1pPr>
              <a:defRPr/>
            </a:lvl1pPr>
          </a:lstStyle>
          <a:p>
            <a:pPr>
              <a:defRPr/>
            </a:pPr>
            <a:fld id="{7AC28C9F-C04F-4F3E-8E86-FF1D98CEB08A}" type="slidenum">
              <a:rPr lang="es-ES"/>
              <a:pPr>
                <a:defRPr/>
              </a:pPr>
              <a:t>‹Nº›</a:t>
            </a:fld>
            <a:endParaRPr lang="es-ES"/>
          </a:p>
        </p:txBody>
      </p:sp>
    </p:spTree>
    <p:extLst>
      <p:ext uri="{BB962C8B-B14F-4D97-AF65-F5344CB8AC3E}">
        <p14:creationId xmlns:p14="http://schemas.microsoft.com/office/powerpoint/2010/main" val="3261429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8"/>
          <p:cNvSpPr>
            <a:spLocks noGrp="1" noChangeArrowheads="1"/>
          </p:cNvSpPr>
          <p:nvPr>
            <p:ph type="dt" sz="half" idx="10"/>
          </p:nvPr>
        </p:nvSpPr>
        <p:spPr>
          <a:ln/>
        </p:spPr>
        <p:txBody>
          <a:bodyPr/>
          <a:lstStyle>
            <a:lvl1pPr>
              <a:defRPr/>
            </a:lvl1pPr>
          </a:lstStyle>
          <a:p>
            <a:pPr>
              <a:defRPr/>
            </a:pPr>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4AF474B4-07F6-4072-B02E-0398EBD2E0E9}" type="slidenum">
              <a:rPr lang="es-ES"/>
              <a:pPr>
                <a:defRPr/>
              </a:pPr>
              <a:t>‹Nº›</a:t>
            </a:fld>
            <a:endParaRPr lang="es-ES"/>
          </a:p>
        </p:txBody>
      </p:sp>
    </p:spTree>
    <p:extLst>
      <p:ext uri="{BB962C8B-B14F-4D97-AF65-F5344CB8AC3E}">
        <p14:creationId xmlns:p14="http://schemas.microsoft.com/office/powerpoint/2010/main" val="2279251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012113" y="400050"/>
            <a:ext cx="2249487" cy="5761038"/>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1260475" y="400050"/>
            <a:ext cx="6599238" cy="57610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8"/>
          <p:cNvSpPr>
            <a:spLocks noGrp="1" noChangeArrowheads="1"/>
          </p:cNvSpPr>
          <p:nvPr>
            <p:ph type="dt" sz="half" idx="10"/>
          </p:nvPr>
        </p:nvSpPr>
        <p:spPr>
          <a:ln/>
        </p:spPr>
        <p:txBody>
          <a:bodyPr/>
          <a:lstStyle>
            <a:lvl1pPr>
              <a:defRPr/>
            </a:lvl1pPr>
          </a:lstStyle>
          <a:p>
            <a:pPr>
              <a:defRPr/>
            </a:pPr>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AEA464DA-0162-476A-9105-87D71AAD0CBE}" type="slidenum">
              <a:rPr lang="es-ES"/>
              <a:pPr>
                <a:defRPr/>
              </a:pPr>
              <a:t>‹Nº›</a:t>
            </a:fld>
            <a:endParaRPr lang="es-ES"/>
          </a:p>
        </p:txBody>
      </p:sp>
    </p:spTree>
    <p:extLst>
      <p:ext uri="{BB962C8B-B14F-4D97-AF65-F5344CB8AC3E}">
        <p14:creationId xmlns:p14="http://schemas.microsoft.com/office/powerpoint/2010/main" val="32147125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1260475" y="400050"/>
            <a:ext cx="9001125" cy="57610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3" name="Rectangle 8"/>
          <p:cNvSpPr>
            <a:spLocks noGrp="1" noChangeArrowheads="1"/>
          </p:cNvSpPr>
          <p:nvPr>
            <p:ph type="dt" sz="half" idx="10"/>
          </p:nvPr>
        </p:nvSpPr>
        <p:spPr>
          <a:ln/>
        </p:spPr>
        <p:txBody>
          <a:bodyPr/>
          <a:lstStyle>
            <a:lvl1pPr>
              <a:defRPr/>
            </a:lvl1pPr>
          </a:lstStyle>
          <a:p>
            <a:pPr>
              <a:defRPr/>
            </a:pPr>
            <a:endParaRPr lang="es-ES"/>
          </a:p>
        </p:txBody>
      </p:sp>
      <p:sp>
        <p:nvSpPr>
          <p:cNvPr id="4" name="Rectangle 9"/>
          <p:cNvSpPr>
            <a:spLocks noGrp="1" noChangeArrowheads="1"/>
          </p:cNvSpPr>
          <p:nvPr>
            <p:ph type="ftr" sz="quarter" idx="11"/>
          </p:nvPr>
        </p:nvSpPr>
        <p:spPr>
          <a:ln/>
        </p:spPr>
        <p:txBody>
          <a:bodyPr/>
          <a:lstStyle>
            <a:lvl1pPr>
              <a:defRPr/>
            </a:lvl1pPr>
          </a:lstStyle>
          <a:p>
            <a:pPr>
              <a:defRPr/>
            </a:pPr>
            <a:endParaRPr lang="es-ES"/>
          </a:p>
        </p:txBody>
      </p:sp>
      <p:sp>
        <p:nvSpPr>
          <p:cNvPr id="5" name="Rectangle 10"/>
          <p:cNvSpPr>
            <a:spLocks noGrp="1" noChangeArrowheads="1"/>
          </p:cNvSpPr>
          <p:nvPr>
            <p:ph type="sldNum" sz="quarter" idx="12"/>
          </p:nvPr>
        </p:nvSpPr>
        <p:spPr>
          <a:ln/>
        </p:spPr>
        <p:txBody>
          <a:bodyPr/>
          <a:lstStyle>
            <a:lvl1pPr>
              <a:defRPr/>
            </a:lvl1pPr>
          </a:lstStyle>
          <a:p>
            <a:pPr>
              <a:defRPr/>
            </a:pPr>
            <a:fld id="{6B6D19D5-D1EC-4433-A328-8B825A9270AA}" type="slidenum">
              <a:rPr lang="es-ES"/>
              <a:pPr>
                <a:defRPr/>
              </a:pPr>
              <a:t>‹Nº›</a:t>
            </a:fld>
            <a:endParaRPr lang="es-ES"/>
          </a:p>
        </p:txBody>
      </p:sp>
    </p:spTree>
    <p:extLst>
      <p:ext uri="{BB962C8B-B14F-4D97-AF65-F5344CB8AC3E}">
        <p14:creationId xmlns:p14="http://schemas.microsoft.com/office/powerpoint/2010/main" val="682595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ítulo, 1 objeto y 2 objetos">
    <p:spTree>
      <p:nvGrpSpPr>
        <p:cNvPr id="1" name=""/>
        <p:cNvGrpSpPr/>
        <p:nvPr/>
      </p:nvGrpSpPr>
      <p:grpSpPr>
        <a:xfrm>
          <a:off x="0" y="0"/>
          <a:ext cx="0" cy="0"/>
          <a:chOff x="0" y="0"/>
          <a:chExt cx="0" cy="0"/>
        </a:xfrm>
      </p:grpSpPr>
      <p:sp>
        <p:nvSpPr>
          <p:cNvPr id="2" name="1 Título"/>
          <p:cNvSpPr>
            <a:spLocks noGrp="1"/>
          </p:cNvSpPr>
          <p:nvPr>
            <p:ph type="title"/>
          </p:nvPr>
        </p:nvSpPr>
        <p:spPr>
          <a:xfrm>
            <a:off x="1260475" y="400050"/>
            <a:ext cx="9001125" cy="1200150"/>
          </a:xfrm>
        </p:spPr>
        <p:txBody>
          <a:bodyPr/>
          <a:lstStyle/>
          <a:p>
            <a:r>
              <a:rPr lang="es-ES"/>
              <a:t>Haga clic para modificar el estilo de título del patrón</a:t>
            </a:r>
          </a:p>
        </p:txBody>
      </p:sp>
      <p:sp>
        <p:nvSpPr>
          <p:cNvPr id="3" name="2 Marcador de contenido"/>
          <p:cNvSpPr>
            <a:spLocks noGrp="1"/>
          </p:cNvSpPr>
          <p:nvPr>
            <p:ph sz="half" idx="1"/>
          </p:nvPr>
        </p:nvSpPr>
        <p:spPr>
          <a:xfrm>
            <a:off x="1260475" y="1839913"/>
            <a:ext cx="4424363" cy="432117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quarter" idx="2"/>
          </p:nvPr>
        </p:nvSpPr>
        <p:spPr>
          <a:xfrm>
            <a:off x="5837238" y="1839913"/>
            <a:ext cx="4424362" cy="20843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contenido"/>
          <p:cNvSpPr>
            <a:spLocks noGrp="1"/>
          </p:cNvSpPr>
          <p:nvPr>
            <p:ph sz="quarter" idx="3"/>
          </p:nvPr>
        </p:nvSpPr>
        <p:spPr>
          <a:xfrm>
            <a:off x="5837238" y="4076700"/>
            <a:ext cx="4424362" cy="20843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Rectangle 8"/>
          <p:cNvSpPr>
            <a:spLocks noGrp="1" noChangeArrowheads="1"/>
          </p:cNvSpPr>
          <p:nvPr>
            <p:ph type="dt" sz="half" idx="10"/>
          </p:nvPr>
        </p:nvSpPr>
        <p:spPr>
          <a:ln/>
        </p:spPr>
        <p:txBody>
          <a:bodyPr/>
          <a:lstStyle>
            <a:lvl1pPr>
              <a:defRPr/>
            </a:lvl1pPr>
          </a:lstStyle>
          <a:p>
            <a:pPr>
              <a:defRPr/>
            </a:pPr>
            <a:endParaRPr lang="es-ES"/>
          </a:p>
        </p:txBody>
      </p:sp>
      <p:sp>
        <p:nvSpPr>
          <p:cNvPr id="7" name="Rectangle 9"/>
          <p:cNvSpPr>
            <a:spLocks noGrp="1" noChangeArrowheads="1"/>
          </p:cNvSpPr>
          <p:nvPr>
            <p:ph type="ftr" sz="quarter" idx="11"/>
          </p:nvPr>
        </p:nvSpPr>
        <p:spPr>
          <a:ln/>
        </p:spPr>
        <p:txBody>
          <a:bodyPr/>
          <a:lstStyle>
            <a:lvl1pPr>
              <a:defRPr/>
            </a:lvl1pPr>
          </a:lstStyle>
          <a:p>
            <a:pPr>
              <a:defRPr/>
            </a:pPr>
            <a:endParaRPr lang="es-ES"/>
          </a:p>
        </p:txBody>
      </p:sp>
      <p:sp>
        <p:nvSpPr>
          <p:cNvPr id="8" name="Rectangle 10"/>
          <p:cNvSpPr>
            <a:spLocks noGrp="1" noChangeArrowheads="1"/>
          </p:cNvSpPr>
          <p:nvPr>
            <p:ph type="sldNum" sz="quarter" idx="12"/>
          </p:nvPr>
        </p:nvSpPr>
        <p:spPr>
          <a:ln/>
        </p:spPr>
        <p:txBody>
          <a:bodyPr/>
          <a:lstStyle>
            <a:lvl1pPr>
              <a:defRPr/>
            </a:lvl1pPr>
          </a:lstStyle>
          <a:p>
            <a:pPr>
              <a:defRPr/>
            </a:pPr>
            <a:fld id="{57A2C3D7-033D-4A94-AD09-0A9FB0858B9A}" type="slidenum">
              <a:rPr lang="es-ES"/>
              <a:pPr>
                <a:defRPr/>
              </a:pPr>
              <a:t>‹Nº›</a:t>
            </a:fld>
            <a:endParaRPr lang="es-ES"/>
          </a:p>
        </p:txBody>
      </p:sp>
    </p:spTree>
    <p:extLst>
      <p:ext uri="{BB962C8B-B14F-4D97-AF65-F5344CB8AC3E}">
        <p14:creationId xmlns:p14="http://schemas.microsoft.com/office/powerpoint/2010/main" val="3945224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rgbClr val="906D58"/>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720725" y="239713"/>
            <a:ext cx="9731375" cy="6710362"/>
          </a:xfrm>
          <a:prstGeom prst="rect">
            <a:avLst/>
          </a:prstGeom>
          <a:solidFill>
            <a:srgbClr val="EDE7E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2870" tIns="51435" rIns="102870" bIns="51435" anchor="ctr"/>
          <a:lstStyle>
            <a:lvl1pPr defTabSz="1028700">
              <a:spcBef>
                <a:spcPct val="50000"/>
              </a:spcBef>
              <a:defRPr sz="2000">
                <a:solidFill>
                  <a:srgbClr val="000000"/>
                </a:solidFill>
                <a:latin typeface="Arial" panose="020B0604020202020204" pitchFamily="34" charset="0"/>
              </a:defRPr>
            </a:lvl1pPr>
            <a:lvl2pPr marL="742950" indent="-285750" defTabSz="1028700">
              <a:spcBef>
                <a:spcPct val="50000"/>
              </a:spcBef>
              <a:defRPr sz="2000">
                <a:solidFill>
                  <a:srgbClr val="000000"/>
                </a:solidFill>
                <a:latin typeface="Arial" panose="020B0604020202020204" pitchFamily="34" charset="0"/>
              </a:defRPr>
            </a:lvl2pPr>
            <a:lvl3pPr marL="1143000" indent="-228600" defTabSz="1028700">
              <a:spcBef>
                <a:spcPct val="50000"/>
              </a:spcBef>
              <a:defRPr sz="2000">
                <a:solidFill>
                  <a:srgbClr val="000000"/>
                </a:solidFill>
                <a:latin typeface="Arial" panose="020B0604020202020204" pitchFamily="34" charset="0"/>
              </a:defRPr>
            </a:lvl3pPr>
            <a:lvl4pPr marL="1600200" indent="-228600" defTabSz="1028700">
              <a:spcBef>
                <a:spcPct val="50000"/>
              </a:spcBef>
              <a:defRPr sz="2000">
                <a:solidFill>
                  <a:srgbClr val="000000"/>
                </a:solidFill>
                <a:latin typeface="Arial" panose="020B0604020202020204" pitchFamily="34" charset="0"/>
              </a:defRPr>
            </a:lvl4pPr>
            <a:lvl5pPr marL="2057400" indent="-228600" defTabSz="1028700">
              <a:spcBef>
                <a:spcPct val="50000"/>
              </a:spcBef>
              <a:defRPr sz="2000">
                <a:solidFill>
                  <a:srgbClr val="000000"/>
                </a:solidFill>
                <a:latin typeface="Arial" panose="020B0604020202020204" pitchFamily="34" charset="0"/>
              </a:defRPr>
            </a:lvl5pPr>
            <a:lvl6pPr marL="2514600" indent="-228600" defTabSz="1028700" eaLnBrk="0" fontAlgn="base" hangingPunct="0">
              <a:spcBef>
                <a:spcPct val="50000"/>
              </a:spcBef>
              <a:spcAft>
                <a:spcPct val="0"/>
              </a:spcAft>
              <a:defRPr sz="2000">
                <a:solidFill>
                  <a:srgbClr val="000000"/>
                </a:solidFill>
                <a:latin typeface="Arial" panose="020B0604020202020204" pitchFamily="34" charset="0"/>
              </a:defRPr>
            </a:lvl6pPr>
            <a:lvl7pPr marL="2971800" indent="-228600" defTabSz="1028700" eaLnBrk="0" fontAlgn="base" hangingPunct="0">
              <a:spcBef>
                <a:spcPct val="50000"/>
              </a:spcBef>
              <a:spcAft>
                <a:spcPct val="0"/>
              </a:spcAft>
              <a:defRPr sz="2000">
                <a:solidFill>
                  <a:srgbClr val="000000"/>
                </a:solidFill>
                <a:latin typeface="Arial" panose="020B0604020202020204" pitchFamily="34" charset="0"/>
              </a:defRPr>
            </a:lvl7pPr>
            <a:lvl8pPr marL="3429000" indent="-228600" defTabSz="1028700" eaLnBrk="0" fontAlgn="base" hangingPunct="0">
              <a:spcBef>
                <a:spcPct val="50000"/>
              </a:spcBef>
              <a:spcAft>
                <a:spcPct val="0"/>
              </a:spcAft>
              <a:defRPr sz="2000">
                <a:solidFill>
                  <a:srgbClr val="000000"/>
                </a:solidFill>
                <a:latin typeface="Arial" panose="020B0604020202020204" pitchFamily="34" charset="0"/>
              </a:defRPr>
            </a:lvl8pPr>
            <a:lvl9pPr marL="3886200" indent="-228600" defTabSz="1028700" eaLnBrk="0" fontAlgn="base" hangingPunct="0">
              <a:spcBef>
                <a:spcPct val="50000"/>
              </a:spcBef>
              <a:spcAft>
                <a:spcPct val="0"/>
              </a:spcAft>
              <a:defRPr sz="2000">
                <a:solidFill>
                  <a:srgbClr val="000000"/>
                </a:solidFill>
                <a:latin typeface="Arial" panose="020B0604020202020204" pitchFamily="34" charset="0"/>
              </a:defRPr>
            </a:lvl9pPr>
          </a:lstStyle>
          <a:p>
            <a:pPr algn="ctr" eaLnBrk="1" hangingPunct="1">
              <a:spcBef>
                <a:spcPct val="0"/>
              </a:spcBef>
              <a:defRPr/>
            </a:pPr>
            <a:endParaRPr kumimoji="1" lang="es-ES" sz="2700">
              <a:solidFill>
                <a:schemeClr val="tx1"/>
              </a:solidFill>
              <a:latin typeface="Times New Roman" panose="02020603050405020304" pitchFamily="18" charset="0"/>
            </a:endParaRPr>
          </a:p>
        </p:txBody>
      </p:sp>
      <p:sp>
        <p:nvSpPr>
          <p:cNvPr id="1027" name="Line 3"/>
          <p:cNvSpPr>
            <a:spLocks noChangeShapeType="1"/>
          </p:cNvSpPr>
          <p:nvPr/>
        </p:nvSpPr>
        <p:spPr bwMode="ltGray">
          <a:xfrm>
            <a:off x="1200150" y="1679575"/>
            <a:ext cx="9061450" cy="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pic>
        <p:nvPicPr>
          <p:cNvPr id="1028" name="Picture 4" descr="minispir"/>
          <p:cNvPicPr>
            <a:picLocks noChangeAspect="1" noChangeArrowheads="1"/>
          </p:cNvPicPr>
          <p:nvPr/>
        </p:nvPicPr>
        <p:blipFill>
          <a:blip r:embed="rId15">
            <a:extLst>
              <a:ext uri="{28A0092B-C50C-407E-A947-70E740481C1C}">
                <a14:useLocalDpi xmlns:a14="http://schemas.microsoft.com/office/drawing/2010/main" val="0"/>
              </a:ext>
            </a:extLst>
          </a:blip>
          <a:srcRect b="5333"/>
          <a:stretch>
            <a:fillRect/>
          </a:stretch>
        </p:blipFill>
        <p:spPr bwMode="ltGray">
          <a:xfrm>
            <a:off x="0" y="53975"/>
            <a:ext cx="1395413" cy="425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5" descr="minispir"/>
          <p:cNvPicPr>
            <a:picLocks noChangeAspect="1" noChangeArrowheads="1"/>
          </p:cNvPicPr>
          <p:nvPr/>
        </p:nvPicPr>
        <p:blipFill>
          <a:blip r:embed="rId15">
            <a:extLst>
              <a:ext uri="{28A0092B-C50C-407E-A947-70E740481C1C}">
                <a14:useLocalDpi xmlns:a14="http://schemas.microsoft.com/office/drawing/2010/main" val="0"/>
              </a:ext>
            </a:extLst>
          </a:blip>
          <a:srcRect t="39999"/>
          <a:stretch>
            <a:fillRect/>
          </a:stretch>
        </p:blipFill>
        <p:spPr bwMode="ltGray">
          <a:xfrm>
            <a:off x="0" y="4433888"/>
            <a:ext cx="1395413"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p:cNvSpPr>
            <a:spLocks noGrp="1" noChangeArrowheads="1"/>
          </p:cNvSpPr>
          <p:nvPr>
            <p:ph type="title"/>
          </p:nvPr>
        </p:nvSpPr>
        <p:spPr bwMode="auto">
          <a:xfrm>
            <a:off x="1260475" y="400050"/>
            <a:ext cx="90011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870" tIns="51435" rIns="102870" bIns="51435" numCol="1" anchor="ctr" anchorCtr="0" compatLnSpc="1">
            <a:prstTxWarp prst="textNoShape">
              <a:avLst/>
            </a:prstTxWarp>
          </a:bodyPr>
          <a:lstStyle/>
          <a:p>
            <a:pPr lvl="0"/>
            <a:r>
              <a:rPr lang="es-ES"/>
              <a:t>Haga clic para modificar el estilo de título del patrón</a:t>
            </a:r>
          </a:p>
        </p:txBody>
      </p:sp>
      <p:sp>
        <p:nvSpPr>
          <p:cNvPr id="1031" name="Rectangle 7"/>
          <p:cNvSpPr>
            <a:spLocks noGrp="1" noChangeArrowheads="1"/>
          </p:cNvSpPr>
          <p:nvPr>
            <p:ph type="body" idx="1"/>
          </p:nvPr>
        </p:nvSpPr>
        <p:spPr bwMode="auto">
          <a:xfrm>
            <a:off x="1260475" y="1839913"/>
            <a:ext cx="9001125"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870" tIns="51435" rIns="102870" bIns="51435"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93192" name="Rectangle 8"/>
          <p:cNvSpPr>
            <a:spLocks noGrp="1" noChangeArrowheads="1"/>
          </p:cNvSpPr>
          <p:nvPr>
            <p:ph type="dt" sz="half" idx="2"/>
          </p:nvPr>
        </p:nvSpPr>
        <p:spPr bwMode="auto">
          <a:xfrm>
            <a:off x="1198563" y="6411913"/>
            <a:ext cx="2249487" cy="481012"/>
          </a:xfrm>
          <a:prstGeom prst="rect">
            <a:avLst/>
          </a:prstGeom>
          <a:noFill/>
          <a:ln w="9525">
            <a:noFill/>
            <a:miter lim="800000"/>
            <a:headEnd/>
            <a:tailEnd/>
          </a:ln>
          <a:effectLst/>
        </p:spPr>
        <p:txBody>
          <a:bodyPr vert="horz" wrap="square" lIns="102870" tIns="51435" rIns="102870" bIns="51435" numCol="1" anchor="t" anchorCtr="0" compatLnSpc="1">
            <a:prstTxWarp prst="textNoShape">
              <a:avLst/>
            </a:prstTxWarp>
          </a:bodyPr>
          <a:lstStyle>
            <a:lvl1pPr eaLnBrk="1" hangingPunct="1">
              <a:spcBef>
                <a:spcPct val="0"/>
              </a:spcBef>
              <a:defRPr sz="1600">
                <a:solidFill>
                  <a:schemeClr val="tx1"/>
                </a:solidFill>
                <a:latin typeface="Times New Roman" pitchFamily="18" charset="0"/>
              </a:defRPr>
            </a:lvl1pPr>
          </a:lstStyle>
          <a:p>
            <a:pPr>
              <a:defRPr/>
            </a:pPr>
            <a:endParaRPr lang="es-ES"/>
          </a:p>
        </p:txBody>
      </p:sp>
      <p:sp>
        <p:nvSpPr>
          <p:cNvPr id="93193" name="Rectangle 9"/>
          <p:cNvSpPr>
            <a:spLocks noGrp="1" noChangeArrowheads="1"/>
          </p:cNvSpPr>
          <p:nvPr>
            <p:ph type="ftr" sz="quarter" idx="3"/>
          </p:nvPr>
        </p:nvSpPr>
        <p:spPr bwMode="auto">
          <a:xfrm>
            <a:off x="4078288" y="6411913"/>
            <a:ext cx="3421062" cy="481012"/>
          </a:xfrm>
          <a:prstGeom prst="rect">
            <a:avLst/>
          </a:prstGeom>
          <a:noFill/>
          <a:ln w="9525">
            <a:noFill/>
            <a:miter lim="800000"/>
            <a:headEnd/>
            <a:tailEnd/>
          </a:ln>
          <a:effectLst/>
        </p:spPr>
        <p:txBody>
          <a:bodyPr vert="horz" wrap="square" lIns="102870" tIns="51435" rIns="102870" bIns="51435" numCol="1" anchor="t" anchorCtr="0" compatLnSpc="1">
            <a:prstTxWarp prst="textNoShape">
              <a:avLst/>
            </a:prstTxWarp>
          </a:bodyPr>
          <a:lstStyle>
            <a:lvl1pPr algn="ctr" eaLnBrk="1" hangingPunct="1">
              <a:spcBef>
                <a:spcPct val="0"/>
              </a:spcBef>
              <a:defRPr sz="1600">
                <a:solidFill>
                  <a:schemeClr val="tx1"/>
                </a:solidFill>
                <a:latin typeface="Times New Roman" pitchFamily="18" charset="0"/>
              </a:defRPr>
            </a:lvl1pPr>
          </a:lstStyle>
          <a:p>
            <a:pPr>
              <a:defRPr/>
            </a:pPr>
            <a:endParaRPr lang="es-ES"/>
          </a:p>
        </p:txBody>
      </p:sp>
      <p:sp>
        <p:nvSpPr>
          <p:cNvPr id="93194" name="Rectangle 10"/>
          <p:cNvSpPr>
            <a:spLocks noGrp="1" noChangeArrowheads="1"/>
          </p:cNvSpPr>
          <p:nvPr>
            <p:ph type="sldNum" sz="quarter" idx="4"/>
          </p:nvPr>
        </p:nvSpPr>
        <p:spPr bwMode="auto">
          <a:xfrm>
            <a:off x="8129588" y="6411913"/>
            <a:ext cx="2249487" cy="481012"/>
          </a:xfrm>
          <a:prstGeom prst="rect">
            <a:avLst/>
          </a:prstGeom>
          <a:noFill/>
          <a:ln w="9525">
            <a:noFill/>
            <a:miter lim="800000"/>
            <a:headEnd/>
            <a:tailEnd/>
          </a:ln>
          <a:effectLst/>
        </p:spPr>
        <p:txBody>
          <a:bodyPr vert="horz" wrap="square" lIns="102870" tIns="51435" rIns="102870" bIns="51435" numCol="1" anchor="t" anchorCtr="0" compatLnSpc="1">
            <a:prstTxWarp prst="textNoShape">
              <a:avLst/>
            </a:prstTxWarp>
          </a:bodyPr>
          <a:lstStyle>
            <a:lvl1pPr algn="r" eaLnBrk="1" hangingPunct="1">
              <a:spcBef>
                <a:spcPct val="0"/>
              </a:spcBef>
              <a:defRPr sz="1600">
                <a:solidFill>
                  <a:schemeClr val="tx1"/>
                </a:solidFill>
                <a:latin typeface="Times New Roman" panose="02020603050405020304" pitchFamily="18" charset="0"/>
              </a:defRPr>
            </a:lvl1pPr>
          </a:lstStyle>
          <a:p>
            <a:pPr>
              <a:defRPr/>
            </a:pPr>
            <a:fld id="{980CCA5E-85F3-4813-A4D6-44FBB8773A40}" type="slidenum">
              <a:rPr lang="es-ES"/>
              <a:pPr>
                <a:defRPr/>
              </a:pPr>
              <a:t>‹Nº›</a:t>
            </a:fld>
            <a:endParaRPr lang="es-ES"/>
          </a:p>
        </p:txBody>
      </p:sp>
    </p:spTree>
  </p:cSld>
  <p:clrMap bg1="lt1" tx1="dk1" bg2="lt2" tx2="dk2" accent1="accent1" accent2="accent2" accent3="accent3" accent4="accent4" accent5="accent5" accent6="accent6" hlink="hlink" folHlink="folHlink"/>
  <p:sldLayoutIdLst>
    <p:sldLayoutId id="2147483942"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1" r:id="rId13"/>
  </p:sldLayoutIdLst>
  <p:txStyles>
    <p:titleStyle>
      <a:lvl1pPr algn="ctr" defTabSz="1028700" rtl="0" eaLnBrk="0" fontAlgn="base" hangingPunct="0">
        <a:spcBef>
          <a:spcPct val="0"/>
        </a:spcBef>
        <a:spcAft>
          <a:spcPct val="0"/>
        </a:spcAft>
        <a:defRPr sz="5000">
          <a:solidFill>
            <a:schemeClr val="tx2"/>
          </a:solidFill>
          <a:latin typeface="+mj-lt"/>
          <a:ea typeface="+mj-ea"/>
          <a:cs typeface="+mj-cs"/>
        </a:defRPr>
      </a:lvl1pPr>
      <a:lvl2pPr algn="ctr" defTabSz="1028700" rtl="0" eaLnBrk="0" fontAlgn="base" hangingPunct="0">
        <a:spcBef>
          <a:spcPct val="0"/>
        </a:spcBef>
        <a:spcAft>
          <a:spcPct val="0"/>
        </a:spcAft>
        <a:defRPr sz="5000">
          <a:solidFill>
            <a:schemeClr val="tx2"/>
          </a:solidFill>
          <a:latin typeface="Times New Roman" pitchFamily="18" charset="0"/>
        </a:defRPr>
      </a:lvl2pPr>
      <a:lvl3pPr algn="ctr" defTabSz="1028700" rtl="0" eaLnBrk="0" fontAlgn="base" hangingPunct="0">
        <a:spcBef>
          <a:spcPct val="0"/>
        </a:spcBef>
        <a:spcAft>
          <a:spcPct val="0"/>
        </a:spcAft>
        <a:defRPr sz="5000">
          <a:solidFill>
            <a:schemeClr val="tx2"/>
          </a:solidFill>
          <a:latin typeface="Times New Roman" pitchFamily="18" charset="0"/>
        </a:defRPr>
      </a:lvl3pPr>
      <a:lvl4pPr algn="ctr" defTabSz="1028700" rtl="0" eaLnBrk="0" fontAlgn="base" hangingPunct="0">
        <a:spcBef>
          <a:spcPct val="0"/>
        </a:spcBef>
        <a:spcAft>
          <a:spcPct val="0"/>
        </a:spcAft>
        <a:defRPr sz="5000">
          <a:solidFill>
            <a:schemeClr val="tx2"/>
          </a:solidFill>
          <a:latin typeface="Times New Roman" pitchFamily="18" charset="0"/>
        </a:defRPr>
      </a:lvl4pPr>
      <a:lvl5pPr algn="ctr" defTabSz="1028700" rtl="0" eaLnBrk="0" fontAlgn="base" hangingPunct="0">
        <a:spcBef>
          <a:spcPct val="0"/>
        </a:spcBef>
        <a:spcAft>
          <a:spcPct val="0"/>
        </a:spcAft>
        <a:defRPr sz="5000">
          <a:solidFill>
            <a:schemeClr val="tx2"/>
          </a:solidFill>
          <a:latin typeface="Times New Roman" pitchFamily="18" charset="0"/>
        </a:defRPr>
      </a:lvl5pPr>
      <a:lvl6pPr marL="457200" algn="ctr" defTabSz="1028700" rtl="0" fontAlgn="base">
        <a:spcBef>
          <a:spcPct val="0"/>
        </a:spcBef>
        <a:spcAft>
          <a:spcPct val="0"/>
        </a:spcAft>
        <a:defRPr sz="5000">
          <a:solidFill>
            <a:schemeClr val="tx2"/>
          </a:solidFill>
          <a:latin typeface="Times New Roman" pitchFamily="18" charset="0"/>
        </a:defRPr>
      </a:lvl6pPr>
      <a:lvl7pPr marL="914400" algn="ctr" defTabSz="1028700" rtl="0" fontAlgn="base">
        <a:spcBef>
          <a:spcPct val="0"/>
        </a:spcBef>
        <a:spcAft>
          <a:spcPct val="0"/>
        </a:spcAft>
        <a:defRPr sz="5000">
          <a:solidFill>
            <a:schemeClr val="tx2"/>
          </a:solidFill>
          <a:latin typeface="Times New Roman" pitchFamily="18" charset="0"/>
        </a:defRPr>
      </a:lvl7pPr>
      <a:lvl8pPr marL="1371600" algn="ctr" defTabSz="1028700" rtl="0" fontAlgn="base">
        <a:spcBef>
          <a:spcPct val="0"/>
        </a:spcBef>
        <a:spcAft>
          <a:spcPct val="0"/>
        </a:spcAft>
        <a:defRPr sz="5000">
          <a:solidFill>
            <a:schemeClr val="tx2"/>
          </a:solidFill>
          <a:latin typeface="Times New Roman" pitchFamily="18" charset="0"/>
        </a:defRPr>
      </a:lvl8pPr>
      <a:lvl9pPr marL="1828800" algn="ctr" defTabSz="1028700" rtl="0" fontAlgn="base">
        <a:spcBef>
          <a:spcPct val="0"/>
        </a:spcBef>
        <a:spcAft>
          <a:spcPct val="0"/>
        </a:spcAft>
        <a:defRPr sz="5000">
          <a:solidFill>
            <a:schemeClr val="tx2"/>
          </a:solidFill>
          <a:latin typeface="Times New Roman" pitchFamily="18" charset="0"/>
        </a:defRPr>
      </a:lvl9pPr>
    </p:titleStyle>
    <p:bodyStyle>
      <a:lvl1pPr marL="385763" indent="-385763" algn="l" defTabSz="1028700" rtl="0" eaLnBrk="0" fontAlgn="base" hangingPunct="0">
        <a:spcBef>
          <a:spcPct val="20000"/>
        </a:spcBef>
        <a:spcAft>
          <a:spcPct val="0"/>
        </a:spcAft>
        <a:buChar char="•"/>
        <a:defRPr sz="3600">
          <a:solidFill>
            <a:schemeClr val="tx1"/>
          </a:solidFill>
          <a:latin typeface="+mn-lt"/>
          <a:ea typeface="+mn-ea"/>
          <a:cs typeface="+mn-cs"/>
        </a:defRPr>
      </a:lvl1pPr>
      <a:lvl2pPr marL="836613" indent="-322263" algn="l" defTabSz="1028700" rtl="0" eaLnBrk="0" fontAlgn="base" hangingPunct="0">
        <a:spcBef>
          <a:spcPct val="20000"/>
        </a:spcBef>
        <a:spcAft>
          <a:spcPct val="0"/>
        </a:spcAft>
        <a:buChar char="–"/>
        <a:defRPr sz="3200">
          <a:solidFill>
            <a:schemeClr val="tx1"/>
          </a:solidFill>
          <a:latin typeface="+mn-lt"/>
        </a:defRPr>
      </a:lvl2pPr>
      <a:lvl3pPr marL="1285875" indent="-257175" algn="l" defTabSz="1028700" rtl="0" eaLnBrk="0" fontAlgn="base" hangingPunct="0">
        <a:spcBef>
          <a:spcPct val="20000"/>
        </a:spcBef>
        <a:spcAft>
          <a:spcPct val="0"/>
        </a:spcAft>
        <a:buChar char="•"/>
        <a:defRPr sz="2700">
          <a:solidFill>
            <a:schemeClr val="tx1"/>
          </a:solidFill>
          <a:latin typeface="+mn-lt"/>
        </a:defRPr>
      </a:lvl3pPr>
      <a:lvl4pPr marL="1800225" indent="-257175" algn="l" defTabSz="1028700" rtl="0" eaLnBrk="0" fontAlgn="base" hangingPunct="0">
        <a:spcBef>
          <a:spcPct val="20000"/>
        </a:spcBef>
        <a:spcAft>
          <a:spcPct val="0"/>
        </a:spcAft>
        <a:buChar char="–"/>
        <a:defRPr sz="2300">
          <a:solidFill>
            <a:schemeClr val="tx1"/>
          </a:solidFill>
          <a:latin typeface="+mn-lt"/>
        </a:defRPr>
      </a:lvl4pPr>
      <a:lvl5pPr marL="2314575" indent="-257175" algn="l" defTabSz="1028700" rtl="0" eaLnBrk="0" fontAlgn="base" hangingPunct="0">
        <a:spcBef>
          <a:spcPct val="20000"/>
        </a:spcBef>
        <a:spcAft>
          <a:spcPct val="0"/>
        </a:spcAft>
        <a:buChar char="»"/>
        <a:defRPr sz="2300">
          <a:solidFill>
            <a:schemeClr val="tx1"/>
          </a:solidFill>
          <a:latin typeface="+mn-lt"/>
        </a:defRPr>
      </a:lvl5pPr>
      <a:lvl6pPr marL="2771775" indent="-257175" algn="l" defTabSz="1028700" rtl="0" fontAlgn="base">
        <a:spcBef>
          <a:spcPct val="20000"/>
        </a:spcBef>
        <a:spcAft>
          <a:spcPct val="0"/>
        </a:spcAft>
        <a:buChar char="»"/>
        <a:defRPr sz="2300">
          <a:solidFill>
            <a:schemeClr val="tx1"/>
          </a:solidFill>
          <a:latin typeface="+mn-lt"/>
        </a:defRPr>
      </a:lvl6pPr>
      <a:lvl7pPr marL="3228975" indent="-257175" algn="l" defTabSz="1028700" rtl="0" fontAlgn="base">
        <a:spcBef>
          <a:spcPct val="20000"/>
        </a:spcBef>
        <a:spcAft>
          <a:spcPct val="0"/>
        </a:spcAft>
        <a:buChar char="»"/>
        <a:defRPr sz="2300">
          <a:solidFill>
            <a:schemeClr val="tx1"/>
          </a:solidFill>
          <a:latin typeface="+mn-lt"/>
        </a:defRPr>
      </a:lvl7pPr>
      <a:lvl8pPr marL="3686175" indent="-257175" algn="l" defTabSz="1028700" rtl="0" fontAlgn="base">
        <a:spcBef>
          <a:spcPct val="20000"/>
        </a:spcBef>
        <a:spcAft>
          <a:spcPct val="0"/>
        </a:spcAft>
        <a:buChar char="»"/>
        <a:defRPr sz="2300">
          <a:solidFill>
            <a:schemeClr val="tx1"/>
          </a:solidFill>
          <a:latin typeface="+mn-lt"/>
        </a:defRPr>
      </a:lvl8pPr>
      <a:lvl9pPr marL="4143375" indent="-257175" algn="l" defTabSz="1028700" rtl="0" fontAlgn="base">
        <a:spcBef>
          <a:spcPct val="20000"/>
        </a:spcBef>
        <a:spcAft>
          <a:spcPct val="0"/>
        </a:spcAft>
        <a:buChar char="»"/>
        <a:defRPr sz="23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5.emf"/><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3.wmf"/><Relationship Id="rId5" Type="http://schemas.openxmlformats.org/officeDocument/2006/relationships/oleObject" Target="../embeddings/oleObject2.bin"/><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8.w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0.wmf"/><Relationship Id="rId4" Type="http://schemas.openxmlformats.org/officeDocument/2006/relationships/oleObject" Target="../embeddings/oleObject4.bin"/></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030"/>
          <p:cNvSpPr txBox="1">
            <a:spLocks noChangeArrowheads="1"/>
          </p:cNvSpPr>
          <p:nvPr/>
        </p:nvSpPr>
        <p:spPr bwMode="auto">
          <a:xfrm>
            <a:off x="1624013" y="3221038"/>
            <a:ext cx="823912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2400" b="1">
                <a:solidFill>
                  <a:schemeClr val="tx1"/>
                </a:solidFill>
                <a:latin typeface="Comic Sans MS" panose="030F0702030302020204" pitchFamily="66" charset="0"/>
              </a:rPr>
              <a:t>CARGA ELÉCTRICA Y MATERIA. CAMPO ELÉCTRICO</a:t>
            </a:r>
          </a:p>
        </p:txBody>
      </p:sp>
      <p:sp>
        <p:nvSpPr>
          <p:cNvPr id="5123" name="Text Box 1031"/>
          <p:cNvSpPr txBox="1">
            <a:spLocks noChangeArrowheads="1"/>
          </p:cNvSpPr>
          <p:nvPr/>
        </p:nvSpPr>
        <p:spPr bwMode="auto">
          <a:xfrm>
            <a:off x="5278438" y="4105275"/>
            <a:ext cx="93345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2400" b="1">
                <a:solidFill>
                  <a:schemeClr val="tx1"/>
                </a:solidFill>
                <a:latin typeface="Comic Sans MS" panose="030F0702030302020204" pitchFamily="66" charset="0"/>
              </a:rPr>
              <a:t>(5/5)</a:t>
            </a:r>
          </a:p>
        </p:txBody>
      </p:sp>
      <p:sp>
        <p:nvSpPr>
          <p:cNvPr id="5124" name="Text Box 1032"/>
          <p:cNvSpPr txBox="1">
            <a:spLocks noChangeArrowheads="1"/>
          </p:cNvSpPr>
          <p:nvPr/>
        </p:nvSpPr>
        <p:spPr bwMode="auto">
          <a:xfrm>
            <a:off x="5065713" y="2343150"/>
            <a:ext cx="13970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r>
              <a:rPr lang="es-ES" sz="2400" b="1">
                <a:solidFill>
                  <a:schemeClr val="tx1"/>
                </a:solidFill>
                <a:latin typeface="Comic Sans MS" panose="030F0702030302020204" pitchFamily="66" charset="0"/>
              </a:rPr>
              <a:t>TEMA 1</a:t>
            </a:r>
          </a:p>
        </p:txBody>
      </p:sp>
      <p:grpSp>
        <p:nvGrpSpPr>
          <p:cNvPr id="2" name="Group 23">
            <a:extLst>
              <a:ext uri="{FF2B5EF4-FFF2-40B4-BE49-F238E27FC236}">
                <a16:creationId xmlns:a16="http://schemas.microsoft.com/office/drawing/2014/main" id="{6414B753-7D90-EE31-1F39-C116B4759057}"/>
              </a:ext>
            </a:extLst>
          </p:cNvPr>
          <p:cNvGrpSpPr>
            <a:grpSpLocks/>
          </p:cNvGrpSpPr>
          <p:nvPr/>
        </p:nvGrpSpPr>
        <p:grpSpPr bwMode="auto">
          <a:xfrm>
            <a:off x="7772400" y="398463"/>
            <a:ext cx="2571750" cy="2395538"/>
            <a:chOff x="4896" y="276"/>
            <a:chExt cx="1620" cy="1509"/>
          </a:xfrm>
        </p:grpSpPr>
        <p:sp>
          <p:nvSpPr>
            <p:cNvPr id="3" name="AutoShape 1067">
              <a:extLst>
                <a:ext uri="{FF2B5EF4-FFF2-40B4-BE49-F238E27FC236}">
                  <a16:creationId xmlns:a16="http://schemas.microsoft.com/office/drawing/2014/main" id="{F6F98460-700E-02CA-46D5-FDB75D450213}"/>
                </a:ext>
              </a:extLst>
            </p:cNvPr>
            <p:cNvSpPr>
              <a:spLocks noChangeArrowheads="1"/>
            </p:cNvSpPr>
            <p:nvPr/>
          </p:nvSpPr>
          <p:spPr bwMode="auto">
            <a:xfrm>
              <a:off x="4896" y="276"/>
              <a:ext cx="1620" cy="1509"/>
            </a:xfrm>
            <a:prstGeom prst="foldedCorner">
              <a:avLst>
                <a:gd name="adj" fmla="val 12500"/>
              </a:avLst>
            </a:pr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4" name="Text Box 1068">
              <a:extLst>
                <a:ext uri="{FF2B5EF4-FFF2-40B4-BE49-F238E27FC236}">
                  <a16:creationId xmlns:a16="http://schemas.microsoft.com/office/drawing/2014/main" id="{47F2128B-94D3-ED8E-AA0E-F057E9ADE53E}"/>
                </a:ext>
              </a:extLst>
            </p:cNvPr>
            <p:cNvSpPr txBox="1">
              <a:spLocks noChangeArrowheads="1"/>
            </p:cNvSpPr>
            <p:nvPr/>
          </p:nvSpPr>
          <p:spPr bwMode="auto">
            <a:xfrm>
              <a:off x="5037" y="415"/>
              <a:ext cx="1336" cy="523"/>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b="1">
                  <a:latin typeface="Trebuchet MS" panose="020B0603020202020204" pitchFamily="34" charset="0"/>
                </a:rPr>
                <a:t>GRUPOS DE PRÁCTICAS</a:t>
              </a:r>
            </a:p>
          </p:txBody>
        </p:sp>
        <p:sp>
          <p:nvSpPr>
            <p:cNvPr id="5" name="Text Box 1069">
              <a:extLst>
                <a:ext uri="{FF2B5EF4-FFF2-40B4-BE49-F238E27FC236}">
                  <a16:creationId xmlns:a16="http://schemas.microsoft.com/office/drawing/2014/main" id="{CDC270AA-9B82-59FF-5341-217163165593}"/>
                </a:ext>
              </a:extLst>
            </p:cNvPr>
            <p:cNvSpPr txBox="1">
              <a:spLocks noChangeArrowheads="1"/>
            </p:cNvSpPr>
            <p:nvPr/>
          </p:nvSpPr>
          <p:spPr bwMode="auto">
            <a:xfrm>
              <a:off x="5037" y="994"/>
              <a:ext cx="1336" cy="4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b="1">
                  <a:solidFill>
                    <a:srgbClr val="FFFFFF"/>
                  </a:solidFill>
                  <a:latin typeface="Trebuchet MS" panose="020B0603020202020204" pitchFamily="34" charset="0"/>
                </a:rPr>
                <a:t>HAY QUE APUNTARSE</a:t>
              </a:r>
              <a:endParaRPr lang="es-ES" sz="2400" b="1" dirty="0">
                <a:solidFill>
                  <a:srgbClr val="FFFFFF"/>
                </a:solidFill>
                <a:latin typeface="Trebuchet MS" panose="020B0603020202020204" pitchFamily="34" charset="0"/>
              </a:endParaRPr>
            </a:p>
          </p:txBody>
        </p:sp>
        <p:sp>
          <p:nvSpPr>
            <p:cNvPr id="6" name="Text Box 1062">
              <a:extLst>
                <a:ext uri="{FF2B5EF4-FFF2-40B4-BE49-F238E27FC236}">
                  <a16:creationId xmlns:a16="http://schemas.microsoft.com/office/drawing/2014/main" id="{A5BC2953-401A-A46C-F0CC-89D55540B03B}"/>
                </a:ext>
              </a:extLst>
            </p:cNvPr>
            <p:cNvSpPr txBox="1">
              <a:spLocks noChangeArrowheads="1"/>
            </p:cNvSpPr>
            <p:nvPr/>
          </p:nvSpPr>
          <p:spPr bwMode="auto">
            <a:xfrm>
              <a:off x="5265" y="1457"/>
              <a:ext cx="87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FF0000"/>
                  </a:solidFill>
                  <a:latin typeface="Trebuchet MS" panose="020B0603020202020204" pitchFamily="34" charset="0"/>
                </a:rPr>
                <a:t>En Moodle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5">
            <a:extLst>
              <a:ext uri="{FF2B5EF4-FFF2-40B4-BE49-F238E27FC236}">
                <a16:creationId xmlns:a16="http://schemas.microsoft.com/office/drawing/2014/main" id="{CFF6178D-7C0B-165E-4859-8CCA260D8D0E}"/>
              </a:ext>
            </a:extLst>
          </p:cNvPr>
          <p:cNvSpPr>
            <a:spLocks noChangeArrowheads="1"/>
          </p:cNvSpPr>
          <p:nvPr/>
        </p:nvSpPr>
        <p:spPr bwMode="auto">
          <a:xfrm>
            <a:off x="2486343" y="6444380"/>
            <a:ext cx="6640512" cy="369457"/>
          </a:xfrm>
          <a:prstGeom prst="rect">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2" name="Rectangle 15">
            <a:extLst>
              <a:ext uri="{FF2B5EF4-FFF2-40B4-BE49-F238E27FC236}">
                <a16:creationId xmlns:a16="http://schemas.microsoft.com/office/drawing/2014/main" id="{FCEEE3DA-AFE4-9CAC-BF73-41E716A81116}"/>
              </a:ext>
            </a:extLst>
          </p:cNvPr>
          <p:cNvSpPr>
            <a:spLocks noChangeArrowheads="1"/>
          </p:cNvSpPr>
          <p:nvPr/>
        </p:nvSpPr>
        <p:spPr bwMode="auto">
          <a:xfrm>
            <a:off x="5246370" y="5347188"/>
            <a:ext cx="2717416" cy="369455"/>
          </a:xfrm>
          <a:prstGeom prst="rect">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60418" name="Rectangle 15"/>
          <p:cNvSpPr>
            <a:spLocks noChangeArrowheads="1"/>
          </p:cNvSpPr>
          <p:nvPr/>
        </p:nvSpPr>
        <p:spPr bwMode="auto">
          <a:xfrm>
            <a:off x="2506663" y="6033475"/>
            <a:ext cx="6640512" cy="369456"/>
          </a:xfrm>
          <a:prstGeom prst="rect">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7172" name="Rectangle 3"/>
          <p:cNvSpPr>
            <a:spLocks noChangeArrowheads="1"/>
          </p:cNvSpPr>
          <p:nvPr/>
        </p:nvSpPr>
        <p:spPr bwMode="auto">
          <a:xfrm>
            <a:off x="1825625" y="6042025"/>
            <a:ext cx="627063" cy="4175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7173" name="Rectangle 2"/>
          <p:cNvSpPr>
            <a:spLocks noChangeArrowheads="1"/>
          </p:cNvSpPr>
          <p:nvPr/>
        </p:nvSpPr>
        <p:spPr bwMode="auto">
          <a:xfrm>
            <a:off x="1825625" y="3479800"/>
            <a:ext cx="627063" cy="4175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7174" name="Rectangle 3"/>
          <p:cNvSpPr>
            <a:spLocks noChangeArrowheads="1"/>
          </p:cNvSpPr>
          <p:nvPr/>
        </p:nvSpPr>
        <p:spPr bwMode="auto">
          <a:xfrm>
            <a:off x="1825625" y="4581525"/>
            <a:ext cx="627063" cy="4175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7175" name="Rectangle 4"/>
          <p:cNvSpPr>
            <a:spLocks noChangeArrowheads="1"/>
          </p:cNvSpPr>
          <p:nvPr/>
        </p:nvSpPr>
        <p:spPr bwMode="auto">
          <a:xfrm>
            <a:off x="1825625" y="2000250"/>
            <a:ext cx="627063" cy="4175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7176" name="Rectangle 5"/>
          <p:cNvSpPr>
            <a:spLocks noChangeArrowheads="1"/>
          </p:cNvSpPr>
          <p:nvPr/>
        </p:nvSpPr>
        <p:spPr bwMode="auto">
          <a:xfrm>
            <a:off x="1443038" y="566738"/>
            <a:ext cx="7446962"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tabLst>
                <a:tab pos="196850" algn="r"/>
                <a:tab pos="2940050" algn="ctr"/>
                <a:tab pos="5880100" algn="r"/>
              </a:tabLst>
              <a:defRPr sz="2000">
                <a:solidFill>
                  <a:srgbClr val="000000"/>
                </a:solidFill>
                <a:latin typeface="Arial" panose="020B0604020202020204" pitchFamily="34" charset="0"/>
              </a:defRPr>
            </a:lvl1pPr>
            <a:lvl2pPr marL="742950" indent="-285750" defTabSz="995363">
              <a:tabLst>
                <a:tab pos="196850" algn="r"/>
                <a:tab pos="2940050" algn="ctr"/>
                <a:tab pos="5880100" algn="r"/>
              </a:tabLst>
              <a:defRPr sz="2000">
                <a:solidFill>
                  <a:srgbClr val="000000"/>
                </a:solidFill>
                <a:latin typeface="Arial" panose="020B0604020202020204" pitchFamily="34" charset="0"/>
              </a:defRPr>
            </a:lvl2pPr>
            <a:lvl3pPr marL="1143000" indent="-228600" defTabSz="995363">
              <a:tabLst>
                <a:tab pos="196850" algn="r"/>
                <a:tab pos="2940050" algn="ctr"/>
                <a:tab pos="5880100" algn="r"/>
              </a:tabLst>
              <a:defRPr sz="2000">
                <a:solidFill>
                  <a:srgbClr val="000000"/>
                </a:solidFill>
                <a:latin typeface="Arial" panose="020B0604020202020204" pitchFamily="34" charset="0"/>
              </a:defRPr>
            </a:lvl3pPr>
            <a:lvl4pPr marL="1600200" indent="-228600" defTabSz="995363">
              <a:tabLst>
                <a:tab pos="196850" algn="r"/>
                <a:tab pos="2940050" algn="ctr"/>
                <a:tab pos="5880100" algn="r"/>
              </a:tabLst>
              <a:defRPr sz="2000">
                <a:solidFill>
                  <a:srgbClr val="000000"/>
                </a:solidFill>
                <a:latin typeface="Arial" panose="020B0604020202020204" pitchFamily="34" charset="0"/>
              </a:defRPr>
            </a:lvl4pPr>
            <a:lvl5pPr marL="2057400" indent="-228600" defTabSz="995363">
              <a:tabLst>
                <a:tab pos="196850" algn="r"/>
                <a:tab pos="2940050" algn="ctr"/>
                <a:tab pos="5880100" algn="r"/>
              </a:tabLst>
              <a:defRPr sz="2000">
                <a:solidFill>
                  <a:srgbClr val="000000"/>
                </a:solidFill>
                <a:latin typeface="Arial" panose="020B0604020202020204" pitchFamily="34" charset="0"/>
              </a:defRPr>
            </a:lvl5pPr>
            <a:lvl6pPr marL="25146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6pPr>
            <a:lvl7pPr marL="29718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7pPr>
            <a:lvl8pPr marL="34290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8pPr>
            <a:lvl9pPr marL="38862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9pPr>
          </a:lstStyle>
          <a:p>
            <a:pPr eaLnBrk="1" hangingPunct="1"/>
            <a:r>
              <a:rPr lang="es-ES" sz="2800" b="1">
                <a:solidFill>
                  <a:srgbClr val="CC0000"/>
                </a:solidFill>
              </a:rPr>
              <a:t>TEMA 1: CARGA ELÉCTRICA Y MATERIA.</a:t>
            </a:r>
          </a:p>
          <a:p>
            <a:pPr eaLnBrk="1" hangingPunct="1"/>
            <a:r>
              <a:rPr lang="es-ES" sz="2800" b="1">
                <a:solidFill>
                  <a:srgbClr val="CC0000"/>
                </a:solidFill>
              </a:rPr>
              <a:t>               CAMPO ELÉCTRICO</a:t>
            </a:r>
          </a:p>
        </p:txBody>
      </p:sp>
      <p:sp>
        <p:nvSpPr>
          <p:cNvPr id="7177" name="Rectangle 6"/>
          <p:cNvSpPr>
            <a:spLocks noChangeArrowheads="1"/>
          </p:cNvSpPr>
          <p:nvPr/>
        </p:nvSpPr>
        <p:spPr bwMode="auto">
          <a:xfrm>
            <a:off x="1781175" y="1974850"/>
            <a:ext cx="708025" cy="447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tabLst>
                <a:tab pos="196850" algn="r"/>
                <a:tab pos="2940050" algn="ctr"/>
                <a:tab pos="5880100" algn="r"/>
              </a:tabLst>
              <a:defRPr sz="2000">
                <a:solidFill>
                  <a:srgbClr val="000000"/>
                </a:solidFill>
                <a:latin typeface="Arial" panose="020B0604020202020204" pitchFamily="34" charset="0"/>
              </a:defRPr>
            </a:lvl1pPr>
            <a:lvl2pPr marL="742950" indent="-285750" defTabSz="995363">
              <a:tabLst>
                <a:tab pos="196850" algn="r"/>
                <a:tab pos="2940050" algn="ctr"/>
                <a:tab pos="5880100" algn="r"/>
              </a:tabLst>
              <a:defRPr sz="2000">
                <a:solidFill>
                  <a:srgbClr val="000000"/>
                </a:solidFill>
                <a:latin typeface="Arial" panose="020B0604020202020204" pitchFamily="34" charset="0"/>
              </a:defRPr>
            </a:lvl2pPr>
            <a:lvl3pPr marL="1143000" indent="-228600" defTabSz="995363">
              <a:tabLst>
                <a:tab pos="196850" algn="r"/>
                <a:tab pos="2940050" algn="ctr"/>
                <a:tab pos="5880100" algn="r"/>
              </a:tabLst>
              <a:defRPr sz="2000">
                <a:solidFill>
                  <a:srgbClr val="000000"/>
                </a:solidFill>
                <a:latin typeface="Arial" panose="020B0604020202020204" pitchFamily="34" charset="0"/>
              </a:defRPr>
            </a:lvl3pPr>
            <a:lvl4pPr marL="1600200" indent="-228600" defTabSz="995363">
              <a:tabLst>
                <a:tab pos="196850" algn="r"/>
                <a:tab pos="2940050" algn="ctr"/>
                <a:tab pos="5880100" algn="r"/>
              </a:tabLst>
              <a:defRPr sz="2000">
                <a:solidFill>
                  <a:srgbClr val="000000"/>
                </a:solidFill>
                <a:latin typeface="Arial" panose="020B0604020202020204" pitchFamily="34" charset="0"/>
              </a:defRPr>
            </a:lvl4pPr>
            <a:lvl5pPr marL="2057400" indent="-228600" defTabSz="995363">
              <a:tabLst>
                <a:tab pos="196850" algn="r"/>
                <a:tab pos="2940050" algn="ctr"/>
                <a:tab pos="5880100" algn="r"/>
              </a:tabLst>
              <a:defRPr sz="2000">
                <a:solidFill>
                  <a:srgbClr val="000000"/>
                </a:solidFill>
                <a:latin typeface="Arial" panose="020B0604020202020204" pitchFamily="34" charset="0"/>
              </a:defRPr>
            </a:lvl5pPr>
            <a:lvl6pPr marL="25146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6pPr>
            <a:lvl7pPr marL="29718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7pPr>
            <a:lvl8pPr marL="34290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8pPr>
            <a:lvl9pPr marL="38862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9pPr>
          </a:lstStyle>
          <a:p>
            <a:pPr eaLnBrk="1" hangingPunct="1"/>
            <a:r>
              <a:rPr lang="es-ES" sz="2400" b="1">
                <a:solidFill>
                  <a:schemeClr val="tx1"/>
                </a:solidFill>
              </a:rPr>
              <a:t>1.1.</a:t>
            </a:r>
          </a:p>
          <a:p>
            <a:pPr eaLnBrk="1" hangingPunct="1"/>
            <a:endParaRPr lang="es-ES" sz="2400" b="1">
              <a:solidFill>
                <a:schemeClr val="tx1"/>
              </a:solidFill>
            </a:endParaRPr>
          </a:p>
          <a:p>
            <a:pPr eaLnBrk="1" hangingPunct="1"/>
            <a:endParaRPr lang="es-ES" sz="2400" b="1">
              <a:solidFill>
                <a:schemeClr val="tx1"/>
              </a:solidFill>
            </a:endParaRPr>
          </a:p>
          <a:p>
            <a:pPr eaLnBrk="1" hangingPunct="1"/>
            <a:endParaRPr lang="es-ES" sz="2400" b="1">
              <a:solidFill>
                <a:schemeClr val="tx1"/>
              </a:solidFill>
            </a:endParaRPr>
          </a:p>
          <a:p>
            <a:pPr eaLnBrk="1" hangingPunct="1"/>
            <a:r>
              <a:rPr lang="es-ES" sz="2400" b="1">
                <a:solidFill>
                  <a:schemeClr val="tx1"/>
                </a:solidFill>
              </a:rPr>
              <a:t>1.2.</a:t>
            </a:r>
          </a:p>
          <a:p>
            <a:pPr eaLnBrk="1" hangingPunct="1"/>
            <a:endParaRPr lang="es-ES" sz="2400" b="1">
              <a:solidFill>
                <a:schemeClr val="tx1"/>
              </a:solidFill>
            </a:endParaRPr>
          </a:p>
          <a:p>
            <a:pPr eaLnBrk="1" hangingPunct="1"/>
            <a:endParaRPr lang="es-ES" sz="2400" b="1">
              <a:solidFill>
                <a:schemeClr val="tx1"/>
              </a:solidFill>
            </a:endParaRPr>
          </a:p>
          <a:p>
            <a:pPr eaLnBrk="1" hangingPunct="1"/>
            <a:r>
              <a:rPr lang="es-ES" sz="2400" b="1">
                <a:solidFill>
                  <a:schemeClr val="tx1"/>
                </a:solidFill>
              </a:rPr>
              <a:t>1.3.</a:t>
            </a:r>
          </a:p>
          <a:p>
            <a:pPr eaLnBrk="1" hangingPunct="1"/>
            <a:endParaRPr lang="es-ES" sz="2400" b="1">
              <a:solidFill>
                <a:schemeClr val="tx1"/>
              </a:solidFill>
            </a:endParaRPr>
          </a:p>
          <a:p>
            <a:pPr eaLnBrk="1" hangingPunct="1"/>
            <a:endParaRPr lang="es-ES" sz="2400" b="1">
              <a:solidFill>
                <a:schemeClr val="tx1"/>
              </a:solidFill>
            </a:endParaRPr>
          </a:p>
          <a:p>
            <a:pPr eaLnBrk="1" hangingPunct="1"/>
            <a:endParaRPr lang="es-ES" sz="2400" b="1">
              <a:solidFill>
                <a:schemeClr val="tx1"/>
              </a:solidFill>
            </a:endParaRPr>
          </a:p>
          <a:p>
            <a:pPr eaLnBrk="1" hangingPunct="1"/>
            <a:r>
              <a:rPr lang="es-ES" sz="2400" b="1">
                <a:solidFill>
                  <a:schemeClr val="tx1"/>
                </a:solidFill>
              </a:rPr>
              <a:t>1.4.</a:t>
            </a:r>
          </a:p>
        </p:txBody>
      </p:sp>
      <p:sp>
        <p:nvSpPr>
          <p:cNvPr id="7178" name="Rectangle 7"/>
          <p:cNvSpPr>
            <a:spLocks noChangeArrowheads="1"/>
          </p:cNvSpPr>
          <p:nvPr/>
        </p:nvSpPr>
        <p:spPr bwMode="auto">
          <a:xfrm>
            <a:off x="2586038" y="1954385"/>
            <a:ext cx="7850187" cy="4901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tabLst>
                <a:tab pos="196850" algn="r"/>
                <a:tab pos="2940050" algn="ctr"/>
                <a:tab pos="5880100" algn="r"/>
              </a:tabLst>
              <a:defRPr sz="2000">
                <a:solidFill>
                  <a:srgbClr val="000000"/>
                </a:solidFill>
                <a:latin typeface="Arial" panose="020B0604020202020204" pitchFamily="34" charset="0"/>
              </a:defRPr>
            </a:lvl1pPr>
            <a:lvl2pPr marL="742950" indent="-285750" defTabSz="995363">
              <a:tabLst>
                <a:tab pos="196850" algn="r"/>
                <a:tab pos="2940050" algn="ctr"/>
                <a:tab pos="5880100" algn="r"/>
              </a:tabLst>
              <a:defRPr sz="2000">
                <a:solidFill>
                  <a:srgbClr val="000000"/>
                </a:solidFill>
                <a:latin typeface="Arial" panose="020B0604020202020204" pitchFamily="34" charset="0"/>
              </a:defRPr>
            </a:lvl2pPr>
            <a:lvl3pPr marL="1143000" indent="-228600" defTabSz="995363">
              <a:tabLst>
                <a:tab pos="196850" algn="r"/>
                <a:tab pos="2940050" algn="ctr"/>
                <a:tab pos="5880100" algn="r"/>
              </a:tabLst>
              <a:defRPr sz="2000">
                <a:solidFill>
                  <a:srgbClr val="000000"/>
                </a:solidFill>
                <a:latin typeface="Arial" panose="020B0604020202020204" pitchFamily="34" charset="0"/>
              </a:defRPr>
            </a:lvl3pPr>
            <a:lvl4pPr marL="1600200" indent="-228600" defTabSz="995363">
              <a:tabLst>
                <a:tab pos="196850" algn="r"/>
                <a:tab pos="2940050" algn="ctr"/>
                <a:tab pos="5880100" algn="r"/>
              </a:tabLst>
              <a:defRPr sz="2000">
                <a:solidFill>
                  <a:srgbClr val="000000"/>
                </a:solidFill>
                <a:latin typeface="Arial" panose="020B0604020202020204" pitchFamily="34" charset="0"/>
              </a:defRPr>
            </a:lvl4pPr>
            <a:lvl5pPr marL="2057400" indent="-228600" defTabSz="995363">
              <a:tabLst>
                <a:tab pos="196850" algn="r"/>
                <a:tab pos="2940050" algn="ctr"/>
                <a:tab pos="5880100" algn="r"/>
              </a:tabLst>
              <a:defRPr sz="2000">
                <a:solidFill>
                  <a:srgbClr val="000000"/>
                </a:solidFill>
                <a:latin typeface="Arial" panose="020B0604020202020204" pitchFamily="34" charset="0"/>
              </a:defRPr>
            </a:lvl5pPr>
            <a:lvl6pPr marL="25146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6pPr>
            <a:lvl7pPr marL="29718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7pPr>
            <a:lvl8pPr marL="34290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8pPr>
            <a:lvl9pPr marL="38862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9pPr>
          </a:lstStyle>
          <a:p>
            <a:pPr eaLnBrk="1" hangingPunct="1"/>
            <a:r>
              <a:rPr lang="es-ES" sz="2400" b="1">
                <a:solidFill>
                  <a:schemeClr val="tx1"/>
                </a:solidFill>
              </a:rPr>
              <a:t>Carga Eléctrica.</a:t>
            </a:r>
          </a:p>
          <a:p>
            <a:pPr eaLnBrk="1" hangingPunct="1"/>
            <a:r>
              <a:rPr lang="es-ES" sz="2400" b="1">
                <a:solidFill>
                  <a:schemeClr val="tx1"/>
                </a:solidFill>
              </a:rPr>
              <a:t>Cuantización y Conservación.</a:t>
            </a:r>
          </a:p>
          <a:p>
            <a:pPr eaLnBrk="1" hangingPunct="1"/>
            <a:r>
              <a:rPr lang="es-ES" sz="2400" b="1">
                <a:solidFill>
                  <a:schemeClr val="tx1"/>
                </a:solidFill>
              </a:rPr>
              <a:t>Carga Puntual y Distribuciones de Carga.</a:t>
            </a:r>
          </a:p>
          <a:p>
            <a:pPr eaLnBrk="1" hangingPunct="1"/>
            <a:endParaRPr lang="es-ES" sz="2400" b="1">
              <a:solidFill>
                <a:schemeClr val="tx1"/>
              </a:solidFill>
            </a:endParaRPr>
          </a:p>
          <a:p>
            <a:pPr eaLnBrk="1" hangingPunct="1"/>
            <a:r>
              <a:rPr lang="es-ES" sz="2400" b="1">
                <a:solidFill>
                  <a:schemeClr val="tx1"/>
                </a:solidFill>
              </a:rPr>
              <a:t>Ley de Coulomb.</a:t>
            </a:r>
          </a:p>
          <a:p>
            <a:pPr eaLnBrk="1" hangingPunct="1"/>
            <a:r>
              <a:rPr lang="es-ES" sz="2400" b="1">
                <a:solidFill>
                  <a:schemeClr val="tx1"/>
                </a:solidFill>
              </a:rPr>
              <a:t>Principio de Superposición. </a:t>
            </a:r>
          </a:p>
          <a:p>
            <a:pPr eaLnBrk="1" hangingPunct="1"/>
            <a:endParaRPr lang="es-ES" sz="2400" b="1">
              <a:solidFill>
                <a:schemeClr val="tx1"/>
              </a:solidFill>
            </a:endParaRPr>
          </a:p>
          <a:p>
            <a:pPr eaLnBrk="1" hangingPunct="1"/>
            <a:r>
              <a:rPr lang="es-ES" sz="2400" b="1">
                <a:solidFill>
                  <a:schemeClr val="tx1"/>
                </a:solidFill>
              </a:rPr>
              <a:t>Campo Eléctrico.</a:t>
            </a:r>
          </a:p>
          <a:p>
            <a:pPr eaLnBrk="1" hangingPunct="1"/>
            <a:r>
              <a:rPr lang="es-ES" sz="2400" b="1">
                <a:solidFill>
                  <a:schemeClr val="tx1"/>
                </a:solidFill>
              </a:rPr>
              <a:t>Campos debidos a Distribuciones de Carga.</a:t>
            </a:r>
          </a:p>
          <a:p>
            <a:pPr eaLnBrk="1" hangingPunct="1"/>
            <a:r>
              <a:rPr lang="es-ES" sz="2400" b="1">
                <a:solidFill>
                  <a:schemeClr val="tx1"/>
                </a:solidFill>
              </a:rPr>
              <a:t>Campo Eléctrico:</a:t>
            </a:r>
            <a:r>
              <a:rPr lang="es-ES" sz="2400"/>
              <a:t> </a:t>
            </a:r>
            <a:r>
              <a:rPr lang="es-ES" sz="2400" b="1">
                <a:solidFill>
                  <a:schemeClr val="tx1"/>
                </a:solidFill>
              </a:rPr>
              <a:t>Líneas de Campo.</a:t>
            </a:r>
          </a:p>
          <a:p>
            <a:pPr eaLnBrk="1" hangingPunct="1"/>
            <a:endParaRPr lang="es-ES" sz="2400" b="1">
              <a:solidFill>
                <a:schemeClr val="tx1"/>
              </a:solidFill>
            </a:endParaRPr>
          </a:p>
          <a:p>
            <a:pPr eaLnBrk="1" hangingPunct="1"/>
            <a:r>
              <a:rPr lang="es-ES" sz="2400" b="1">
                <a:solidFill>
                  <a:schemeClr val="tx1"/>
                </a:solidFill>
              </a:rPr>
              <a:t>Conductores y Aislantes.</a:t>
            </a:r>
          </a:p>
          <a:p>
            <a:pPr eaLnBrk="1" hangingPunct="1"/>
            <a:r>
              <a:rPr lang="es-ES" sz="2400" b="1">
                <a:solidFill>
                  <a:schemeClr val="tx1"/>
                </a:solidFill>
              </a:rPr>
              <a:t>Cargas Inducidas.</a:t>
            </a:r>
            <a:endParaRPr lang="es-ES" b="1">
              <a:solidFill>
                <a:schemeClr val="tx1"/>
              </a:solidFill>
            </a:endParaRPr>
          </a:p>
        </p:txBody>
      </p:sp>
      <p:sp>
        <p:nvSpPr>
          <p:cNvPr id="12" name="Text Box 11"/>
          <p:cNvSpPr txBox="1">
            <a:spLocks noChangeArrowheads="1"/>
          </p:cNvSpPr>
          <p:nvPr/>
        </p:nvSpPr>
        <p:spPr bwMode="auto">
          <a:xfrm>
            <a:off x="8776644" y="322270"/>
            <a:ext cx="1574250" cy="1253402"/>
          </a:xfrm>
          <a:prstGeom prst="rect">
            <a:avLst/>
          </a:prstGeom>
          <a:solidFill>
            <a:srgbClr val="3366FF"/>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108000" tIns="72000" rIns="108000" bIns="720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pPr>
            <a:r>
              <a:rPr lang="es-ES" sz="2400" dirty="0">
                <a:solidFill>
                  <a:srgbClr val="FFFFFF"/>
                </a:solidFill>
                <a:latin typeface="Trebuchet MS" panose="020B0603020202020204" pitchFamily="34" charset="0"/>
              </a:rPr>
              <a:t>T1</a:t>
            </a:r>
            <a:r>
              <a:rPr lang="es-ES" sz="2400">
                <a:solidFill>
                  <a:srgbClr val="FFFFFF"/>
                </a:solidFill>
                <a:latin typeface="Trebuchet MS" panose="020B0603020202020204" pitchFamily="34" charset="0"/>
              </a:rPr>
              <a:t>: 03/10</a:t>
            </a:r>
            <a:endParaRPr lang="es-ES" sz="2400" dirty="0">
              <a:solidFill>
                <a:srgbClr val="FFFFFF"/>
              </a:solidFill>
              <a:latin typeface="Trebuchet MS" panose="020B0603020202020204" pitchFamily="34" charset="0"/>
            </a:endParaRPr>
          </a:p>
          <a:p>
            <a:pPr eaLnBrk="1" hangingPunct="1">
              <a:spcBef>
                <a:spcPts val="0"/>
              </a:spcBef>
            </a:pPr>
            <a:r>
              <a:rPr lang="es-ES" sz="2400" dirty="0">
                <a:solidFill>
                  <a:srgbClr val="FFFFFF"/>
                </a:solidFill>
                <a:latin typeface="Trebuchet MS" panose="020B0603020202020204" pitchFamily="34" charset="0"/>
              </a:rPr>
              <a:t>T2</a:t>
            </a:r>
            <a:r>
              <a:rPr lang="es-ES" sz="2400">
                <a:solidFill>
                  <a:srgbClr val="FFFFFF"/>
                </a:solidFill>
                <a:latin typeface="Trebuchet MS" panose="020B0603020202020204" pitchFamily="34" charset="0"/>
              </a:rPr>
              <a:t>: 02/10</a:t>
            </a:r>
            <a:endParaRPr lang="es-ES" sz="2400" dirty="0">
              <a:solidFill>
                <a:srgbClr val="FFFFFF"/>
              </a:solidFill>
              <a:latin typeface="Trebuchet MS" panose="020B0603020202020204" pitchFamily="34" charset="0"/>
            </a:endParaRPr>
          </a:p>
          <a:p>
            <a:pPr eaLnBrk="1" hangingPunct="1">
              <a:spcBef>
                <a:spcPts val="0"/>
              </a:spcBef>
            </a:pPr>
            <a:r>
              <a:rPr lang="es-ES" sz="2400" dirty="0">
                <a:solidFill>
                  <a:srgbClr val="FFFFFF"/>
                </a:solidFill>
                <a:latin typeface="Trebuchet MS" panose="020B0603020202020204" pitchFamily="34" charset="0"/>
              </a:rPr>
              <a:t>T3</a:t>
            </a:r>
            <a:r>
              <a:rPr lang="es-ES" sz="2400">
                <a:solidFill>
                  <a:srgbClr val="FFFFFF"/>
                </a:solidFill>
                <a:latin typeface="Trebuchet MS" panose="020B0603020202020204" pitchFamily="34" charset="0"/>
              </a:rPr>
              <a:t>: 02/10</a:t>
            </a:r>
            <a:endParaRPr lang="es-ES" sz="2400" dirty="0">
              <a:solidFill>
                <a:srgbClr val="FFFFFF"/>
              </a:solidFill>
              <a:latin typeface="Trebuchet MS" panose="020B0603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0418"/>
                                        </p:tgtEl>
                                        <p:attrNameLst>
                                          <p:attrName>style.visibility</p:attrName>
                                        </p:attrNameLst>
                                      </p:cBhvr>
                                      <p:to>
                                        <p:strVal val="visible"/>
                                      </p:to>
                                    </p:set>
                                    <p:animEffect transition="in" filter="wipe(up)">
                                      <p:cBhvr>
                                        <p:cTn id="17" dur="500"/>
                                        <p:tgtEl>
                                          <p:spTgt spid="604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P spid="60418"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6"/>
          <p:cNvSpPr>
            <a:spLocks noChangeArrowheads="1"/>
          </p:cNvSpPr>
          <p:nvPr/>
        </p:nvSpPr>
        <p:spPr bwMode="auto">
          <a:xfrm>
            <a:off x="5321716" y="490192"/>
            <a:ext cx="3017672" cy="5080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23555" name="Rectangle 4"/>
          <p:cNvSpPr>
            <a:spLocks noChangeArrowheads="1"/>
          </p:cNvSpPr>
          <p:nvPr/>
        </p:nvSpPr>
        <p:spPr bwMode="auto">
          <a:xfrm>
            <a:off x="1289050" y="502478"/>
            <a:ext cx="88677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400" b="1">
                <a:solidFill>
                  <a:srgbClr val="CC0000"/>
                </a:solidFill>
                <a:latin typeface="Arial" panose="020B0604020202020204" pitchFamily="34" charset="0"/>
              </a:rPr>
              <a:t>1.3.3. CAMPO ELÉCTRICO: LÍNEAS DE CAMPO</a:t>
            </a:r>
          </a:p>
        </p:txBody>
      </p:sp>
      <p:grpSp>
        <p:nvGrpSpPr>
          <p:cNvPr id="6219" name="Group 75"/>
          <p:cNvGrpSpPr>
            <a:grpSpLocks/>
          </p:cNvGrpSpPr>
          <p:nvPr/>
        </p:nvGrpSpPr>
        <p:grpSpPr bwMode="auto">
          <a:xfrm>
            <a:off x="2378075" y="2323138"/>
            <a:ext cx="6765925" cy="3184525"/>
            <a:chOff x="1814" y="2272"/>
            <a:chExt cx="3627" cy="1586"/>
          </a:xfrm>
        </p:grpSpPr>
        <p:pic>
          <p:nvPicPr>
            <p:cNvPr id="23572" name="Picture 2" descr="imagesCAM4Q9UK"/>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4" y="2272"/>
              <a:ext cx="3627" cy="1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73" name="Group 56"/>
            <p:cNvGrpSpPr>
              <a:grpSpLocks/>
            </p:cNvGrpSpPr>
            <p:nvPr/>
          </p:nvGrpSpPr>
          <p:grpSpPr bwMode="auto">
            <a:xfrm>
              <a:off x="3584" y="2967"/>
              <a:ext cx="210" cy="231"/>
              <a:chOff x="2204" y="2918"/>
              <a:chExt cx="210" cy="231"/>
            </a:xfrm>
          </p:grpSpPr>
          <p:sp>
            <p:nvSpPr>
              <p:cNvPr id="23580" name="Text Box 65"/>
              <p:cNvSpPr txBox="1">
                <a:spLocks noChangeArrowheads="1"/>
              </p:cNvSpPr>
              <p:nvPr/>
            </p:nvSpPr>
            <p:spPr bwMode="auto">
              <a:xfrm>
                <a:off x="2204" y="2918"/>
                <a:ext cx="210" cy="231"/>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E</a:t>
                </a:r>
              </a:p>
            </p:txBody>
          </p:sp>
          <p:sp>
            <p:nvSpPr>
              <p:cNvPr id="23581" name="Line 66"/>
              <p:cNvSpPr>
                <a:spLocks noChangeShapeType="1"/>
              </p:cNvSpPr>
              <p:nvPr/>
            </p:nvSpPr>
            <p:spPr bwMode="auto">
              <a:xfrm>
                <a:off x="2247" y="2943"/>
                <a:ext cx="113" cy="0"/>
              </a:xfrm>
              <a:prstGeom prst="line">
                <a:avLst/>
              </a:prstGeom>
              <a:noFill/>
              <a:ln w="12700">
                <a:solidFill>
                  <a:schemeClr val="tx1"/>
                </a:solidFill>
                <a:round/>
                <a:headEnd/>
                <a:tailEnd type="stealth" w="med" len="med"/>
              </a:ln>
              <a:extLst>
                <a:ext uri="{909E8E84-426E-40DD-AFC4-6F175D3DCCD1}">
                  <a14:hiddenFill xmlns:a14="http://schemas.microsoft.com/office/drawing/2010/main">
                    <a:noFill/>
                  </a14:hiddenFill>
                </a:ext>
              </a:extLst>
            </p:spPr>
            <p:txBody>
              <a:bodyPr lIns="90000" tIns="46800" rIns="90000" bIns="46800">
                <a:spAutoFit/>
              </a:bodyPr>
              <a:lstStyle/>
              <a:p>
                <a:endParaRPr lang="en-GB"/>
              </a:p>
            </p:txBody>
          </p:sp>
        </p:grpSp>
        <p:grpSp>
          <p:nvGrpSpPr>
            <p:cNvPr id="23574" name="Group 57"/>
            <p:cNvGrpSpPr>
              <a:grpSpLocks/>
            </p:cNvGrpSpPr>
            <p:nvPr/>
          </p:nvGrpSpPr>
          <p:grpSpPr bwMode="auto">
            <a:xfrm>
              <a:off x="4854" y="2446"/>
              <a:ext cx="207" cy="231"/>
              <a:chOff x="2200" y="2954"/>
              <a:chExt cx="207" cy="231"/>
            </a:xfrm>
          </p:grpSpPr>
          <p:sp>
            <p:nvSpPr>
              <p:cNvPr id="23578" name="Text Box 65"/>
              <p:cNvSpPr txBox="1">
                <a:spLocks noChangeArrowheads="1"/>
              </p:cNvSpPr>
              <p:nvPr/>
            </p:nvSpPr>
            <p:spPr bwMode="auto">
              <a:xfrm>
                <a:off x="2200" y="2954"/>
                <a:ext cx="207" cy="231"/>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E</a:t>
                </a:r>
              </a:p>
            </p:txBody>
          </p:sp>
          <p:sp>
            <p:nvSpPr>
              <p:cNvPr id="23579" name="Line 66"/>
              <p:cNvSpPr>
                <a:spLocks noChangeShapeType="1"/>
              </p:cNvSpPr>
              <p:nvPr/>
            </p:nvSpPr>
            <p:spPr bwMode="auto">
              <a:xfrm>
                <a:off x="2248" y="2969"/>
                <a:ext cx="113" cy="0"/>
              </a:xfrm>
              <a:prstGeom prst="line">
                <a:avLst/>
              </a:prstGeom>
              <a:noFill/>
              <a:ln w="12700">
                <a:solidFill>
                  <a:schemeClr val="tx1"/>
                </a:solidFill>
                <a:round/>
                <a:headEnd/>
                <a:tailEnd type="stealth" w="med" len="med"/>
              </a:ln>
              <a:extLst>
                <a:ext uri="{909E8E84-426E-40DD-AFC4-6F175D3DCCD1}">
                  <a14:hiddenFill xmlns:a14="http://schemas.microsoft.com/office/drawing/2010/main">
                    <a:noFill/>
                  </a14:hiddenFill>
                </a:ext>
              </a:extLst>
            </p:spPr>
            <p:txBody>
              <a:bodyPr lIns="90000" tIns="46800" rIns="90000" bIns="46800">
                <a:spAutoFit/>
              </a:bodyPr>
              <a:lstStyle/>
              <a:p>
                <a:endParaRPr lang="en-GB"/>
              </a:p>
            </p:txBody>
          </p:sp>
        </p:grpSp>
        <p:grpSp>
          <p:nvGrpSpPr>
            <p:cNvPr id="23575" name="Group 60"/>
            <p:cNvGrpSpPr>
              <a:grpSpLocks/>
            </p:cNvGrpSpPr>
            <p:nvPr/>
          </p:nvGrpSpPr>
          <p:grpSpPr bwMode="auto">
            <a:xfrm>
              <a:off x="2249" y="2391"/>
              <a:ext cx="207" cy="231"/>
              <a:chOff x="2194" y="2878"/>
              <a:chExt cx="207" cy="231"/>
            </a:xfrm>
          </p:grpSpPr>
          <p:sp>
            <p:nvSpPr>
              <p:cNvPr id="23576" name="Text Box 65"/>
              <p:cNvSpPr txBox="1">
                <a:spLocks noChangeArrowheads="1"/>
              </p:cNvSpPr>
              <p:nvPr/>
            </p:nvSpPr>
            <p:spPr bwMode="auto">
              <a:xfrm>
                <a:off x="2194" y="2878"/>
                <a:ext cx="207" cy="231"/>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E</a:t>
                </a:r>
              </a:p>
            </p:txBody>
          </p:sp>
          <p:sp>
            <p:nvSpPr>
              <p:cNvPr id="23577" name="Line 66"/>
              <p:cNvSpPr>
                <a:spLocks noChangeShapeType="1"/>
              </p:cNvSpPr>
              <p:nvPr/>
            </p:nvSpPr>
            <p:spPr bwMode="auto">
              <a:xfrm>
                <a:off x="2247" y="2903"/>
                <a:ext cx="113" cy="0"/>
              </a:xfrm>
              <a:prstGeom prst="line">
                <a:avLst/>
              </a:prstGeom>
              <a:noFill/>
              <a:ln w="12700">
                <a:solidFill>
                  <a:schemeClr val="tx1"/>
                </a:solidFill>
                <a:round/>
                <a:headEnd/>
                <a:tailEnd type="stealth" w="med" len="med"/>
              </a:ln>
              <a:extLst>
                <a:ext uri="{909E8E84-426E-40DD-AFC4-6F175D3DCCD1}">
                  <a14:hiddenFill xmlns:a14="http://schemas.microsoft.com/office/drawing/2010/main">
                    <a:noFill/>
                  </a14:hiddenFill>
                </a:ext>
              </a:extLst>
            </p:spPr>
            <p:txBody>
              <a:bodyPr lIns="90000" tIns="46800" rIns="90000" bIns="46800">
                <a:spAutoFit/>
              </a:bodyPr>
              <a:lstStyle/>
              <a:p>
                <a:endParaRPr lang="en-GB"/>
              </a:p>
            </p:txBody>
          </p:sp>
        </p:grpSp>
      </p:grpSp>
      <p:sp>
        <p:nvSpPr>
          <p:cNvPr id="258072" name="Text Box 24"/>
          <p:cNvSpPr txBox="1">
            <a:spLocks noChangeArrowheads="1"/>
          </p:cNvSpPr>
          <p:nvPr/>
        </p:nvSpPr>
        <p:spPr bwMode="auto">
          <a:xfrm>
            <a:off x="1346273" y="1242012"/>
            <a:ext cx="5356280" cy="916496"/>
          </a:xfrm>
          <a:prstGeom prst="rect">
            <a:avLst/>
          </a:prstGeom>
          <a:solidFill>
            <a:schemeClr val="tx2">
              <a:lumMod val="25000"/>
              <a:lumOff val="75000"/>
            </a:schemeClr>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Las introducimos considerando el </a:t>
            </a:r>
            <a:r>
              <a:rPr lang="es-ES" sz="2400" b="1">
                <a:latin typeface="Arial" panose="020B0604020202020204" pitchFamily="34" charset="0"/>
              </a:rPr>
              <a:t>E</a:t>
            </a:r>
            <a:r>
              <a:rPr lang="es-ES" sz="2400">
                <a:solidFill>
                  <a:srgbClr val="000000"/>
                </a:solidFill>
                <a:latin typeface="Arial" panose="020B0604020202020204" pitchFamily="34" charset="0"/>
              </a:rPr>
              <a:t> </a:t>
            </a:r>
            <a:r>
              <a:rPr lang="es-ES" sz="2400" dirty="0">
                <a:solidFill>
                  <a:srgbClr val="000000"/>
                </a:solidFill>
                <a:latin typeface="Arial" panose="020B0604020202020204" pitchFamily="34" charset="0"/>
              </a:rPr>
              <a:t>debido a </a:t>
            </a:r>
            <a:r>
              <a:rPr lang="es-ES" sz="2400">
                <a:solidFill>
                  <a:srgbClr val="000000"/>
                </a:solidFill>
                <a:latin typeface="Arial" panose="020B0604020202020204" pitchFamily="34" charset="0"/>
              </a:rPr>
              <a:t>2 Q</a:t>
            </a:r>
            <a:r>
              <a:rPr lang="es-ES" sz="2400" baseline="-25000">
                <a:solidFill>
                  <a:srgbClr val="000000"/>
                </a:solidFill>
                <a:latin typeface="Arial" panose="020B0604020202020204" pitchFamily="34" charset="0"/>
              </a:rPr>
              <a:t>puntuales</a:t>
            </a:r>
            <a:r>
              <a:rPr lang="es-ES" sz="2400">
                <a:solidFill>
                  <a:srgbClr val="000000"/>
                </a:solidFill>
                <a:latin typeface="Arial" panose="020B0604020202020204" pitchFamily="34" charset="0"/>
              </a:rPr>
              <a:t> de </a:t>
            </a:r>
            <a:r>
              <a:rPr lang="es-ES" sz="2400" dirty="0">
                <a:solidFill>
                  <a:srgbClr val="000000"/>
                </a:solidFill>
                <a:latin typeface="Arial" panose="020B0604020202020204" pitchFamily="34" charset="0"/>
              </a:rPr>
              <a:t>signo contrario</a:t>
            </a:r>
          </a:p>
        </p:txBody>
      </p:sp>
      <p:grpSp>
        <p:nvGrpSpPr>
          <p:cNvPr id="23562" name="Group 82"/>
          <p:cNvGrpSpPr>
            <a:grpSpLocks/>
          </p:cNvGrpSpPr>
          <p:nvPr/>
        </p:nvGrpSpPr>
        <p:grpSpPr bwMode="auto">
          <a:xfrm>
            <a:off x="7083012" y="1624969"/>
            <a:ext cx="1685926" cy="536575"/>
            <a:chOff x="3171" y="684"/>
            <a:chExt cx="1062" cy="338"/>
          </a:xfrm>
        </p:grpSpPr>
        <p:sp>
          <p:nvSpPr>
            <p:cNvPr id="23568" name="Text Box 78"/>
            <p:cNvSpPr txBox="1">
              <a:spLocks noChangeArrowheads="1"/>
            </p:cNvSpPr>
            <p:nvPr/>
          </p:nvSpPr>
          <p:spPr bwMode="auto">
            <a:xfrm>
              <a:off x="3171" y="684"/>
              <a:ext cx="1062" cy="338"/>
            </a:xfrm>
            <a:prstGeom prst="rect">
              <a:avLst/>
            </a:prstGeom>
            <a:solidFill>
              <a:schemeClr val="bg2">
                <a:lumMod val="60000"/>
                <a:lumOff val="40000"/>
              </a:schemeClr>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nchorCtr="1">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eaLnBrk="1" hangingPunct="1">
                <a:spcBef>
                  <a:spcPct val="50000"/>
                </a:spcBef>
              </a:pPr>
              <a:r>
                <a:rPr lang="es-ES" sz="2400">
                  <a:solidFill>
                    <a:schemeClr val="tx1"/>
                  </a:solidFill>
                </a:rPr>
                <a:t>E = E</a:t>
              </a:r>
              <a:r>
                <a:rPr lang="es-ES" sz="2400" baseline="-25000">
                  <a:solidFill>
                    <a:schemeClr val="tx1"/>
                  </a:solidFill>
                </a:rPr>
                <a:t>+</a:t>
              </a:r>
              <a:r>
                <a:rPr lang="es-ES" sz="2400">
                  <a:solidFill>
                    <a:schemeClr val="tx1"/>
                  </a:solidFill>
                </a:rPr>
                <a:t> + E</a:t>
              </a:r>
              <a:r>
                <a:rPr lang="es-ES" sz="2400" baseline="-25000">
                  <a:solidFill>
                    <a:schemeClr val="tx1"/>
                  </a:solidFill>
                </a:rPr>
                <a:t>-</a:t>
              </a:r>
            </a:p>
          </p:txBody>
        </p:sp>
        <p:sp>
          <p:nvSpPr>
            <p:cNvPr id="23569" name="Line 79"/>
            <p:cNvSpPr>
              <a:spLocks noChangeShapeType="1"/>
            </p:cNvSpPr>
            <p:nvPr/>
          </p:nvSpPr>
          <p:spPr bwMode="auto">
            <a:xfrm flipV="1">
              <a:off x="3262" y="739"/>
              <a:ext cx="113"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lIns="90000" tIns="82800" rIns="90000" bIns="82800" anchor="ctr" anchorCtr="1">
              <a:spAutoFit/>
            </a:bodyPr>
            <a:lstStyle/>
            <a:p>
              <a:endParaRPr lang="en-GB" sz="2400"/>
            </a:p>
          </p:txBody>
        </p:sp>
        <p:sp>
          <p:nvSpPr>
            <p:cNvPr id="23570" name="Line 80"/>
            <p:cNvSpPr>
              <a:spLocks noChangeShapeType="1"/>
            </p:cNvSpPr>
            <p:nvPr/>
          </p:nvSpPr>
          <p:spPr bwMode="auto">
            <a:xfrm flipV="1">
              <a:off x="3606" y="739"/>
              <a:ext cx="113"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lIns="90000" tIns="82800" rIns="90000" bIns="82800" anchor="ctr" anchorCtr="1">
              <a:spAutoFit/>
            </a:bodyPr>
            <a:lstStyle/>
            <a:p>
              <a:endParaRPr lang="en-GB" sz="2400"/>
            </a:p>
          </p:txBody>
        </p:sp>
        <p:sp>
          <p:nvSpPr>
            <p:cNvPr id="23571" name="Line 81"/>
            <p:cNvSpPr>
              <a:spLocks noChangeShapeType="1"/>
            </p:cNvSpPr>
            <p:nvPr/>
          </p:nvSpPr>
          <p:spPr bwMode="auto">
            <a:xfrm flipV="1">
              <a:off x="4046" y="739"/>
              <a:ext cx="113"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lIns="90000" tIns="82800" rIns="90000" bIns="82800" anchor="ctr" anchorCtr="1">
              <a:spAutoFit/>
            </a:bodyPr>
            <a:lstStyle/>
            <a:p>
              <a:endParaRPr lang="en-GB" sz="2400"/>
            </a:p>
          </p:txBody>
        </p:sp>
      </p:grpSp>
      <p:grpSp>
        <p:nvGrpSpPr>
          <p:cNvPr id="19" name="Grupo 18"/>
          <p:cNvGrpSpPr>
            <a:grpSpLocks/>
          </p:cNvGrpSpPr>
          <p:nvPr/>
        </p:nvGrpSpPr>
        <p:grpSpPr bwMode="auto">
          <a:xfrm>
            <a:off x="8138530" y="2111303"/>
            <a:ext cx="2335169" cy="1312995"/>
            <a:chOff x="6310888" y="2201429"/>
            <a:chExt cx="2570565" cy="1313197"/>
          </a:xfrm>
        </p:grpSpPr>
        <p:sp>
          <p:nvSpPr>
            <p:cNvPr id="23566" name="CuadroTexto 1"/>
            <p:cNvSpPr txBox="1">
              <a:spLocks noChangeArrowheads="1"/>
            </p:cNvSpPr>
            <p:nvPr/>
          </p:nvSpPr>
          <p:spPr bwMode="auto">
            <a:xfrm>
              <a:off x="7520177" y="2314116"/>
              <a:ext cx="1361276" cy="1200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algn="ctr"/>
              <a:r>
                <a:rPr lang="es-ES" sz="2400" dirty="0"/>
                <a:t>Hacia fuera de Q</a:t>
              </a:r>
              <a:r>
                <a:rPr lang="es-ES" sz="2400" baseline="30000" dirty="0"/>
                <a:t>+</a:t>
              </a:r>
            </a:p>
          </p:txBody>
        </p:sp>
        <p:cxnSp>
          <p:nvCxnSpPr>
            <p:cNvPr id="23567" name="Conector recto de flecha 5"/>
            <p:cNvCxnSpPr>
              <a:cxnSpLocks noChangeShapeType="1"/>
            </p:cNvCxnSpPr>
            <p:nvPr/>
          </p:nvCxnSpPr>
          <p:spPr bwMode="auto">
            <a:xfrm>
              <a:off x="6310888" y="2201429"/>
              <a:ext cx="1222679" cy="280252"/>
            </a:xfrm>
            <a:prstGeom prst="straightConnector1">
              <a:avLst/>
            </a:prstGeom>
            <a:noFill/>
            <a:ln w="38100" algn="ctr">
              <a:solidFill>
                <a:srgbClr val="FF0000"/>
              </a:solidFill>
              <a:round/>
              <a:headEnd/>
              <a:tailEnd type="triangle" w="med" len="med"/>
            </a:ln>
            <a:extLst>
              <a:ext uri="{909E8E84-426E-40DD-AFC4-6F175D3DCCD1}">
                <a14:hiddenFill xmlns:a14="http://schemas.microsoft.com/office/drawing/2010/main">
                  <a:noFill/>
                </a14:hiddenFill>
              </a:ext>
            </a:extLst>
          </p:spPr>
        </p:cxnSp>
      </p:grpSp>
      <p:pic>
        <p:nvPicPr>
          <p:cNvPr id="16" name="Imagen 15"/>
          <p:cNvPicPr preferRelativeResize="0">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3217863" y="3572501"/>
            <a:ext cx="919162" cy="77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a:picLocks noChangeAspect="1"/>
          </p:cNvPicPr>
          <p:nvPr/>
        </p:nvPicPr>
        <p:blipFill>
          <a:blip r:embed="rId5"/>
          <a:stretch>
            <a:fillRect/>
          </a:stretch>
        </p:blipFill>
        <p:spPr>
          <a:xfrm>
            <a:off x="7382704" y="3558705"/>
            <a:ext cx="945844" cy="797333"/>
          </a:xfrm>
          <a:prstGeom prst="rect">
            <a:avLst/>
          </a:prstGeom>
        </p:spPr>
      </p:pic>
      <p:sp>
        <p:nvSpPr>
          <p:cNvPr id="30" name="CuadroTexto 26"/>
          <p:cNvSpPr txBox="1">
            <a:spLocks noChangeArrowheads="1"/>
          </p:cNvSpPr>
          <p:nvPr/>
        </p:nvSpPr>
        <p:spPr bwMode="auto">
          <a:xfrm>
            <a:off x="6948551" y="1094890"/>
            <a:ext cx="23006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algn="ctr"/>
            <a:r>
              <a:rPr lang="es-ES" sz="2400" dirty="0">
                <a:solidFill>
                  <a:schemeClr val="tx1"/>
                </a:solidFill>
              </a:rPr>
              <a:t>En cada punto:</a:t>
            </a:r>
            <a:endParaRPr lang="es-ES" sz="2400" baseline="30000" dirty="0">
              <a:solidFill>
                <a:schemeClr val="tx1"/>
              </a:solidFill>
            </a:endParaRPr>
          </a:p>
        </p:txBody>
      </p:sp>
      <p:sp>
        <p:nvSpPr>
          <p:cNvPr id="32" name="Text Box 8"/>
          <p:cNvSpPr txBox="1">
            <a:spLocks noChangeArrowheads="1"/>
          </p:cNvSpPr>
          <p:nvPr/>
        </p:nvSpPr>
        <p:spPr bwMode="auto">
          <a:xfrm>
            <a:off x="1808595" y="5764029"/>
            <a:ext cx="7921487" cy="1253402"/>
          </a:xfrm>
          <a:prstGeom prst="rect">
            <a:avLst/>
          </a:prstGeom>
          <a:solidFill>
            <a:schemeClr val="accent1">
              <a:lumMod val="60000"/>
              <a:lumOff val="40000"/>
            </a:schemeClr>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sym typeface="Symbol" panose="05050102010706020507" pitchFamily="18" charset="2"/>
              </a:rPr>
              <a:t>Se pueden trazar líneas de manera que en cada uno de sus puntos el campo sea tangente, y hacerlo, con un sentido de recorrido que coincida con el del campo</a:t>
            </a:r>
          </a:p>
        </p:txBody>
      </p:sp>
      <p:grpSp>
        <p:nvGrpSpPr>
          <p:cNvPr id="18" name="Grupo 17"/>
          <p:cNvGrpSpPr>
            <a:grpSpLocks/>
          </p:cNvGrpSpPr>
          <p:nvPr/>
        </p:nvGrpSpPr>
        <p:grpSpPr bwMode="auto">
          <a:xfrm>
            <a:off x="8717723" y="1365048"/>
            <a:ext cx="1746918" cy="830997"/>
            <a:chOff x="6560600" y="1648412"/>
            <a:chExt cx="1747684" cy="831122"/>
          </a:xfrm>
        </p:grpSpPr>
        <p:sp>
          <p:nvSpPr>
            <p:cNvPr id="23564" name="CuadroTexto 26"/>
            <p:cNvSpPr txBox="1">
              <a:spLocks noChangeArrowheads="1"/>
            </p:cNvSpPr>
            <p:nvPr/>
          </p:nvSpPr>
          <p:spPr bwMode="auto">
            <a:xfrm>
              <a:off x="7080187" y="1648412"/>
              <a:ext cx="1228097" cy="831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algn="ctr"/>
              <a:r>
                <a:rPr lang="es-ES" sz="2400" dirty="0"/>
                <a:t>Hacia Q</a:t>
              </a:r>
              <a:r>
                <a:rPr lang="es-ES" sz="2400" baseline="30000" dirty="0"/>
                <a:t>-</a:t>
              </a:r>
            </a:p>
          </p:txBody>
        </p:sp>
        <p:cxnSp>
          <p:nvCxnSpPr>
            <p:cNvPr id="23565" name="Conector recto de flecha 27"/>
            <p:cNvCxnSpPr>
              <a:cxnSpLocks noChangeShapeType="1"/>
            </p:cNvCxnSpPr>
            <p:nvPr/>
          </p:nvCxnSpPr>
          <p:spPr bwMode="auto">
            <a:xfrm flipV="1">
              <a:off x="6560600" y="2052517"/>
              <a:ext cx="515180" cy="124000"/>
            </a:xfrm>
            <a:prstGeom prst="straightConnector1">
              <a:avLst/>
            </a:prstGeom>
            <a:noFill/>
            <a:ln w="38100" algn="ctr">
              <a:solidFill>
                <a:srgbClr val="FF0000"/>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3554"/>
                                        </p:tgtEl>
                                        <p:attrNameLst>
                                          <p:attrName>style.visibility</p:attrName>
                                        </p:attrNameLst>
                                      </p:cBhvr>
                                      <p:to>
                                        <p:strVal val="visible"/>
                                      </p:to>
                                    </p:set>
                                    <p:animEffect transition="in" filter="barn(outVertical)">
                                      <p:cBhvr>
                                        <p:cTn id="7" dur="500"/>
                                        <p:tgtEl>
                                          <p:spTgt spid="235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58072"/>
                                        </p:tgtEl>
                                        <p:attrNameLst>
                                          <p:attrName>style.visibility</p:attrName>
                                        </p:attrNameLst>
                                      </p:cBhvr>
                                      <p:to>
                                        <p:strVal val="visible"/>
                                      </p:to>
                                    </p:set>
                                    <p:animEffect transition="in" filter="wipe(up)">
                                      <p:cBhvr>
                                        <p:cTn id="12" dur="500"/>
                                        <p:tgtEl>
                                          <p:spTgt spid="258072"/>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par>
                                <p:cTn id="17" presetID="9"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wipe(left)">
                                      <p:cBhvr>
                                        <p:cTn id="24" dur="500"/>
                                        <p:tgtEl>
                                          <p:spTgt spid="30"/>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23562"/>
                                        </p:tgtEl>
                                        <p:attrNameLst>
                                          <p:attrName>style.visibility</p:attrName>
                                        </p:attrNameLst>
                                      </p:cBhvr>
                                      <p:to>
                                        <p:strVal val="visible"/>
                                      </p:to>
                                    </p:set>
                                    <p:animEffect transition="in" filter="wipe(left)">
                                      <p:cBhvr>
                                        <p:cTn id="28" dur="500"/>
                                        <p:tgtEl>
                                          <p:spTgt spid="2356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left)">
                                      <p:cBhvr>
                                        <p:cTn id="38" dur="500"/>
                                        <p:tgtEl>
                                          <p:spTgt spid="1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nodeType="clickEffect">
                                  <p:stCondLst>
                                    <p:cond delay="0"/>
                                  </p:stCondLst>
                                  <p:childTnLst>
                                    <p:set>
                                      <p:cBhvr>
                                        <p:cTn id="42" dur="1" fill="hold">
                                          <p:stCondLst>
                                            <p:cond delay="0"/>
                                          </p:stCondLst>
                                        </p:cTn>
                                        <p:tgtEl>
                                          <p:spTgt spid="6219"/>
                                        </p:tgtEl>
                                        <p:attrNameLst>
                                          <p:attrName>style.visibility</p:attrName>
                                        </p:attrNameLst>
                                      </p:cBhvr>
                                      <p:to>
                                        <p:strVal val="visible"/>
                                      </p:to>
                                    </p:set>
                                    <p:animEffect transition="in" filter="dissolve">
                                      <p:cBhvr>
                                        <p:cTn id="43" dur="500"/>
                                        <p:tgtEl>
                                          <p:spTgt spid="6219"/>
                                        </p:tgtEl>
                                      </p:cBhvr>
                                    </p:animEffect>
                                  </p:childTnLst>
                                </p:cTn>
                              </p:par>
                              <p:par>
                                <p:cTn id="44" presetID="1" presetClass="exit" presetSubtype="0" fill="hold" nodeType="withEffect">
                                  <p:stCondLst>
                                    <p:cond delay="0"/>
                                  </p:stCondLst>
                                  <p:childTnLst>
                                    <p:set>
                                      <p:cBhvr>
                                        <p:cTn id="45" dur="1" fill="hold">
                                          <p:stCondLst>
                                            <p:cond delay="0"/>
                                          </p:stCondLst>
                                        </p:cTn>
                                        <p:tgtEl>
                                          <p:spTgt spid="16"/>
                                        </p:tgtEl>
                                        <p:attrNameLst>
                                          <p:attrName>style.visibility</p:attrName>
                                        </p:attrNameLst>
                                      </p:cBhvr>
                                      <p:to>
                                        <p:strVal val="hidden"/>
                                      </p:to>
                                    </p:set>
                                  </p:childTnLst>
                                </p:cTn>
                              </p:par>
                              <p:par>
                                <p:cTn id="46" presetID="1" presetClass="exit" presetSubtype="0" fill="hold" nodeType="withEffect">
                                  <p:stCondLst>
                                    <p:cond delay="0"/>
                                  </p:stCondLst>
                                  <p:childTnLst>
                                    <p:set>
                                      <p:cBhvr>
                                        <p:cTn id="47" dur="1" fill="hold">
                                          <p:stCondLst>
                                            <p:cond delay="0"/>
                                          </p:stCondLst>
                                        </p:cTn>
                                        <p:tgtEl>
                                          <p:spTgt spid="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up)">
                                      <p:cBhvr>
                                        <p:cTn id="5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nimBg="1"/>
      <p:bldP spid="258072" grpId="0" animBg="1"/>
      <p:bldP spid="30" grpId="0"/>
      <p:bldP spid="3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7" name="Picture 3" descr="lineas2a"/>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0163" y="339928"/>
            <a:ext cx="8928100" cy="4552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Text Box 27"/>
          <p:cNvSpPr txBox="1">
            <a:spLocks noChangeArrowheads="1"/>
          </p:cNvSpPr>
          <p:nvPr/>
        </p:nvSpPr>
        <p:spPr bwMode="auto">
          <a:xfrm>
            <a:off x="9086396" y="353922"/>
            <a:ext cx="1459817" cy="157184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algn="ctr" eaLnBrk="1" hangingPunct="1">
              <a:spcBef>
                <a:spcPts val="0"/>
              </a:spcBef>
            </a:pPr>
            <a:r>
              <a:rPr lang="es-ES" sz="2400" dirty="0">
                <a:solidFill>
                  <a:srgbClr val="008000"/>
                </a:solidFill>
              </a:rPr>
              <a:t>Línea</a:t>
            </a:r>
          </a:p>
          <a:p>
            <a:pPr algn="ctr" eaLnBrk="1" hangingPunct="1">
              <a:spcBef>
                <a:spcPts val="0"/>
              </a:spcBef>
            </a:pPr>
            <a:r>
              <a:rPr lang="es-ES" sz="2400" dirty="0">
                <a:solidFill>
                  <a:srgbClr val="008000"/>
                </a:solidFill>
              </a:rPr>
              <a:t>de</a:t>
            </a:r>
          </a:p>
          <a:p>
            <a:pPr algn="ctr" eaLnBrk="1" hangingPunct="1">
              <a:spcBef>
                <a:spcPts val="0"/>
              </a:spcBef>
            </a:pPr>
            <a:r>
              <a:rPr lang="es-ES" sz="2400" dirty="0">
                <a:solidFill>
                  <a:srgbClr val="008000"/>
                </a:solidFill>
              </a:rPr>
              <a:t>campo</a:t>
            </a:r>
          </a:p>
          <a:p>
            <a:pPr algn="ctr" eaLnBrk="1" hangingPunct="1">
              <a:spcBef>
                <a:spcPts val="0"/>
              </a:spcBef>
            </a:pPr>
            <a:r>
              <a:rPr lang="es-ES" sz="2400" dirty="0">
                <a:solidFill>
                  <a:srgbClr val="008000"/>
                </a:solidFill>
              </a:rPr>
              <a:t>eléctrico</a:t>
            </a:r>
          </a:p>
        </p:txBody>
      </p:sp>
      <p:sp>
        <p:nvSpPr>
          <p:cNvPr id="2" name="Line 28"/>
          <p:cNvSpPr>
            <a:spLocks noChangeShapeType="1"/>
          </p:cNvSpPr>
          <p:nvPr/>
        </p:nvSpPr>
        <p:spPr bwMode="auto">
          <a:xfrm flipV="1">
            <a:off x="6105409" y="565191"/>
            <a:ext cx="3217647" cy="0"/>
          </a:xfrm>
          <a:prstGeom prst="line">
            <a:avLst/>
          </a:prstGeom>
          <a:noFill/>
          <a:ln w="38100">
            <a:solidFill>
              <a:srgbClr val="008000"/>
            </a:solidFill>
            <a:round/>
            <a:headEnd type="oval" w="lg"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spAutoFit/>
          </a:bodyPr>
          <a:lstStyle/>
          <a:p>
            <a:endParaRPr lang="en-GB" dirty="0"/>
          </a:p>
        </p:txBody>
      </p:sp>
      <p:sp>
        <p:nvSpPr>
          <p:cNvPr id="258053" name="Text Box 5"/>
          <p:cNvSpPr txBox="1">
            <a:spLocks noChangeArrowheads="1"/>
          </p:cNvSpPr>
          <p:nvPr/>
        </p:nvSpPr>
        <p:spPr bwMode="auto">
          <a:xfrm>
            <a:off x="1300164" y="5023510"/>
            <a:ext cx="8416592"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solidFill>
                  <a:srgbClr val="000000"/>
                </a:solidFill>
                <a:latin typeface="Arial" panose="020B0604020202020204" pitchFamily="34" charset="0"/>
                <a:sym typeface="Symbol" panose="05050102010706020507" pitchFamily="18" charset="2"/>
              </a:rPr>
              <a:t> </a:t>
            </a:r>
            <a:r>
              <a:rPr lang="es-ES" sz="2400" b="1" dirty="0">
                <a:solidFill>
                  <a:srgbClr val="3333FF"/>
                </a:solidFill>
                <a:latin typeface="Arial" panose="020B0604020202020204" pitchFamily="34" charset="0"/>
                <a:sym typeface="Symbol" panose="05050102010706020507" pitchFamily="18" charset="2"/>
              </a:rPr>
              <a:t>Michael Faraday</a:t>
            </a:r>
            <a:r>
              <a:rPr lang="es-ES" sz="2400" dirty="0">
                <a:latin typeface="Arial" panose="020B0604020202020204" pitchFamily="34" charset="0"/>
                <a:sym typeface="Symbol" panose="05050102010706020507" pitchFamily="18" charset="2"/>
              </a:rPr>
              <a:t> introdujo el concepto en el </a:t>
            </a:r>
            <a:r>
              <a:rPr lang="es-ES" sz="2400" b="1" dirty="0">
                <a:solidFill>
                  <a:srgbClr val="D60093"/>
                </a:solidFill>
                <a:latin typeface="Arial" panose="020B0604020202020204" pitchFamily="34" charset="0"/>
                <a:sym typeface="Symbol" panose="05050102010706020507" pitchFamily="18" charset="2"/>
              </a:rPr>
              <a:t>siglo XIX</a:t>
            </a:r>
            <a:r>
              <a:rPr lang="es-ES" sz="2400" dirty="0">
                <a:latin typeface="Arial" panose="020B0604020202020204" pitchFamily="34" charset="0"/>
                <a:sym typeface="Symbol" panose="05050102010706020507" pitchFamily="18" charset="2"/>
              </a:rPr>
              <a:t>,</a:t>
            </a:r>
          </a:p>
          <a:p>
            <a:pPr eaLnBrk="1" hangingPunct="1">
              <a:spcBef>
                <a:spcPts val="0"/>
              </a:spcBef>
              <a:buFontTx/>
              <a:buNone/>
            </a:pPr>
            <a:r>
              <a:rPr lang="es-ES" sz="2400" dirty="0">
                <a:latin typeface="Arial" panose="020B0604020202020204" pitchFamily="34" charset="0"/>
                <a:sym typeface="Symbol" panose="05050102010706020507" pitchFamily="18" charset="2"/>
              </a:rPr>
              <a:t>   pero para la fuerza eléctrica sobre una carga q positiva</a:t>
            </a:r>
            <a:endParaRPr lang="es-ES" sz="2400" dirty="0">
              <a:solidFill>
                <a:srgbClr val="FF0000"/>
              </a:solidFill>
              <a:latin typeface="Arial" panose="020B0604020202020204" pitchFamily="34" charset="0"/>
              <a:sym typeface="Symbol" panose="05050102010706020507" pitchFamily="18" charset="2"/>
            </a:endParaRPr>
          </a:p>
        </p:txBody>
      </p:sp>
      <p:sp>
        <p:nvSpPr>
          <p:cNvPr id="25609" name="Text Box 61"/>
          <p:cNvSpPr txBox="1">
            <a:spLocks noChangeArrowheads="1"/>
          </p:cNvSpPr>
          <p:nvPr/>
        </p:nvSpPr>
        <p:spPr bwMode="auto">
          <a:xfrm>
            <a:off x="2570480" y="5969622"/>
            <a:ext cx="6451600" cy="884070"/>
          </a:xfrm>
          <a:prstGeom prst="rect">
            <a:avLst/>
          </a:prstGeom>
          <a:solidFill>
            <a:schemeClr val="accent1">
              <a:lumMod val="60000"/>
              <a:lumOff val="40000"/>
            </a:schemeClr>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Como </a:t>
            </a:r>
            <a:r>
              <a:rPr lang="es-ES" sz="2400" b="1">
                <a:latin typeface="Arial" panose="020B0604020202020204" pitchFamily="34" charset="0"/>
              </a:rPr>
              <a:t>F </a:t>
            </a:r>
            <a:r>
              <a:rPr lang="es-ES" sz="2400">
                <a:latin typeface="Arial" panose="020B0604020202020204" pitchFamily="34" charset="0"/>
              </a:rPr>
              <a:t>= q </a:t>
            </a:r>
            <a:r>
              <a:rPr lang="es-ES" sz="2400" b="1">
                <a:latin typeface="Arial" panose="020B0604020202020204" pitchFamily="34" charset="0"/>
              </a:rPr>
              <a:t>E</a:t>
            </a:r>
            <a:r>
              <a:rPr lang="es-ES" sz="2400">
                <a:latin typeface="Arial" panose="020B0604020202020204" pitchFamily="34" charset="0"/>
              </a:rPr>
              <a:t>, con q &gt; 0, </a:t>
            </a:r>
            <a:r>
              <a:rPr lang="es-ES" sz="2400" b="1">
                <a:latin typeface="Arial" panose="020B0604020202020204" pitchFamily="34" charset="0"/>
              </a:rPr>
              <a:t>F</a:t>
            </a:r>
            <a:r>
              <a:rPr lang="es-ES" sz="2400">
                <a:latin typeface="Arial" panose="020B0604020202020204" pitchFamily="34" charset="0"/>
              </a:rPr>
              <a:t> y </a:t>
            </a:r>
            <a:r>
              <a:rPr lang="es-ES" sz="2400" b="1">
                <a:latin typeface="Arial" panose="020B0604020202020204" pitchFamily="34" charset="0"/>
              </a:rPr>
              <a:t>E</a:t>
            </a:r>
            <a:r>
              <a:rPr lang="es-ES" sz="2400">
                <a:latin typeface="Arial" panose="020B0604020202020204" pitchFamily="34" charset="0"/>
              </a:rPr>
              <a:t> son paralelos y las líneas de campo y fuerza coinciden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25607"/>
                                        </p:tgtEl>
                                        <p:attrNameLst>
                                          <p:attrName>style.visibility</p:attrName>
                                        </p:attrNameLst>
                                      </p:cBhvr>
                                      <p:to>
                                        <p:strVal val="visible"/>
                                      </p:to>
                                    </p:set>
                                    <p:animEffect transition="in" filter="dissolve">
                                      <p:cBhvr>
                                        <p:cTn id="7" dur="500"/>
                                        <p:tgtEl>
                                          <p:spTgt spid="256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5608"/>
                                        </p:tgtEl>
                                        <p:attrNameLst>
                                          <p:attrName>style.visibility</p:attrName>
                                        </p:attrNameLst>
                                      </p:cBhvr>
                                      <p:to>
                                        <p:strVal val="visible"/>
                                      </p:to>
                                    </p:set>
                                    <p:animEffect transition="in" filter="wipe(up)">
                                      <p:cBhvr>
                                        <p:cTn id="16" dur="500"/>
                                        <p:tgtEl>
                                          <p:spTgt spid="2560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58053"/>
                                        </p:tgtEl>
                                        <p:attrNameLst>
                                          <p:attrName>style.visibility</p:attrName>
                                        </p:attrNameLst>
                                      </p:cBhvr>
                                      <p:to>
                                        <p:strVal val="visible"/>
                                      </p:to>
                                    </p:set>
                                    <p:animEffect transition="in" filter="wipe(up)">
                                      <p:cBhvr>
                                        <p:cTn id="21" dur="500"/>
                                        <p:tgtEl>
                                          <p:spTgt spid="25805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5609"/>
                                        </p:tgtEl>
                                        <p:attrNameLst>
                                          <p:attrName>style.visibility</p:attrName>
                                        </p:attrNameLst>
                                      </p:cBhvr>
                                      <p:to>
                                        <p:strVal val="visible"/>
                                      </p:to>
                                    </p:set>
                                    <p:animEffect transition="in" filter="wipe(up)">
                                      <p:cBhvr>
                                        <p:cTn id="26" dur="500"/>
                                        <p:tgtEl>
                                          <p:spTgt spid="25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8" grpId="0"/>
      <p:bldP spid="2" grpId="0" animBg="1"/>
      <p:bldP spid="258053" grpId="0"/>
      <p:bldP spid="2560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66" name="Picture 3" descr="lineas2a"/>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1437" y="3861990"/>
            <a:ext cx="3599237" cy="2870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8058" name="Text Box 10"/>
          <p:cNvSpPr txBox="1">
            <a:spLocks noChangeArrowheads="1"/>
          </p:cNvSpPr>
          <p:nvPr/>
        </p:nvSpPr>
        <p:spPr bwMode="auto">
          <a:xfrm>
            <a:off x="5775599" y="3879662"/>
            <a:ext cx="2427702" cy="587441"/>
          </a:xfrm>
          <a:prstGeom prst="rect">
            <a:avLst/>
          </a:prstGeom>
          <a:solidFill>
            <a:srgbClr val="66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b="1">
                <a:solidFill>
                  <a:srgbClr val="FFFFFF"/>
                </a:solidFill>
                <a:latin typeface="Arial" panose="020B0604020202020204" pitchFamily="34" charset="0"/>
                <a:sym typeface="Wingdings" panose="05000000000000000000" pitchFamily="2" charset="2"/>
              </a:rPr>
              <a:t>PROPIEDAD 1</a:t>
            </a:r>
            <a:endParaRPr lang="es-ES" sz="2400">
              <a:solidFill>
                <a:srgbClr val="FFFFFF"/>
              </a:solidFill>
              <a:latin typeface="Arial" panose="020B0604020202020204" pitchFamily="34" charset="0"/>
              <a:sym typeface="Wingdings" panose="05000000000000000000" pitchFamily="2" charset="2"/>
            </a:endParaRPr>
          </a:p>
        </p:txBody>
      </p:sp>
      <p:sp>
        <p:nvSpPr>
          <p:cNvPr id="258110" name="Text Box 62"/>
          <p:cNvSpPr txBox="1">
            <a:spLocks noChangeArrowheads="1"/>
          </p:cNvSpPr>
          <p:nvPr/>
        </p:nvSpPr>
        <p:spPr bwMode="auto">
          <a:xfrm>
            <a:off x="1292281" y="359479"/>
            <a:ext cx="8826500" cy="1202510"/>
          </a:xfrm>
          <a:prstGeom prst="rect">
            <a:avLst/>
          </a:prstGeom>
          <a:solidFill>
            <a:srgbClr val="EDE3E7"/>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a:t>
            </a:r>
            <a:r>
              <a:rPr lang="es-ES" sz="2400" dirty="0">
                <a:solidFill>
                  <a:srgbClr val="000000"/>
                </a:solidFill>
                <a:latin typeface="Arial" panose="020B0604020202020204" pitchFamily="34" charset="0"/>
              </a:rPr>
              <a:t>Se pueden trazar para cualquier </a:t>
            </a:r>
            <a:r>
              <a:rPr lang="es-ES" sz="2400" dirty="0">
                <a:solidFill>
                  <a:srgbClr val="3333FF"/>
                </a:solidFill>
                <a:latin typeface="Arial" panose="020B0604020202020204" pitchFamily="34" charset="0"/>
              </a:rPr>
              <a:t>magnitud vectorial </a:t>
            </a:r>
            <a:r>
              <a:rPr lang="es-ES" sz="2400" dirty="0">
                <a:latin typeface="Arial" panose="020B0604020202020204" pitchFamily="34" charset="0"/>
              </a:rPr>
              <a:t>definida en cada punto del espacio, es decir, a las que se les pueda asociar un </a:t>
            </a:r>
            <a:r>
              <a:rPr lang="es-ES" sz="2400">
                <a:solidFill>
                  <a:srgbClr val="3333FF"/>
                </a:solidFill>
                <a:latin typeface="Arial" panose="020B0604020202020204" pitchFamily="34" charset="0"/>
              </a:rPr>
              <a:t>campo vectorial</a:t>
            </a:r>
            <a:endParaRPr lang="es-ES" sz="2400" dirty="0">
              <a:latin typeface="Arial" panose="020B0604020202020204" pitchFamily="34" charset="0"/>
            </a:endParaRPr>
          </a:p>
        </p:txBody>
      </p:sp>
      <p:sp>
        <p:nvSpPr>
          <p:cNvPr id="27663" name="Text Box 7"/>
          <p:cNvSpPr txBox="1">
            <a:spLocks noChangeArrowheads="1"/>
          </p:cNvSpPr>
          <p:nvPr/>
        </p:nvSpPr>
        <p:spPr bwMode="auto">
          <a:xfrm>
            <a:off x="1273371" y="2232438"/>
            <a:ext cx="29527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Arial" panose="020B0604020202020204" pitchFamily="34" charset="0"/>
              </a:rPr>
              <a:t>Campo Gravitatorio</a:t>
            </a:r>
          </a:p>
        </p:txBody>
      </p:sp>
      <p:grpSp>
        <p:nvGrpSpPr>
          <p:cNvPr id="3" name="Grupo 2"/>
          <p:cNvGrpSpPr/>
          <p:nvPr/>
        </p:nvGrpSpPr>
        <p:grpSpPr>
          <a:xfrm>
            <a:off x="4636201" y="2249901"/>
            <a:ext cx="5888038" cy="479425"/>
            <a:chOff x="4686441" y="4541235"/>
            <a:chExt cx="5888038" cy="479425"/>
          </a:xfrm>
        </p:grpSpPr>
        <p:sp>
          <p:nvSpPr>
            <p:cNvPr id="27664" name="Text Box 13"/>
            <p:cNvSpPr txBox="1">
              <a:spLocks noChangeArrowheads="1"/>
            </p:cNvSpPr>
            <p:nvPr/>
          </p:nvSpPr>
          <p:spPr bwMode="auto">
            <a:xfrm>
              <a:off x="5111891" y="4550760"/>
              <a:ext cx="5462588"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FF0000"/>
                  </a:solidFill>
                  <a:latin typeface="Arial" panose="020B0604020202020204" pitchFamily="34" charset="0"/>
                </a:rPr>
                <a:t>LÍNEAS DE CAMPO GRAVITATORIO</a:t>
              </a:r>
            </a:p>
          </p:txBody>
        </p:sp>
        <p:sp>
          <p:nvSpPr>
            <p:cNvPr id="27665" name="AutoShape 13"/>
            <p:cNvSpPr>
              <a:spLocks noChangeArrowheads="1"/>
            </p:cNvSpPr>
            <p:nvPr/>
          </p:nvSpPr>
          <p:spPr bwMode="auto">
            <a:xfrm>
              <a:off x="4686441" y="4541235"/>
              <a:ext cx="390525" cy="479425"/>
            </a:xfrm>
            <a:prstGeom prst="rightArrow">
              <a:avLst>
                <a:gd name="adj1" fmla="val 49278"/>
                <a:gd name="adj2" fmla="val 66062"/>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lIns="90000" tIns="46800" rIns="90000" bIns="46800" anchor="ctr">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algn="ctr" eaLnBrk="1" hangingPunct="1">
                <a:spcBef>
                  <a:spcPct val="50000"/>
                </a:spcBef>
              </a:pPr>
              <a:endParaRPr lang="en-US" sz="2400"/>
            </a:p>
          </p:txBody>
        </p:sp>
      </p:grpSp>
      <p:sp>
        <p:nvSpPr>
          <p:cNvPr id="27661" name="Text Box 26"/>
          <p:cNvSpPr txBox="1">
            <a:spLocks noChangeArrowheads="1"/>
          </p:cNvSpPr>
          <p:nvPr/>
        </p:nvSpPr>
        <p:spPr bwMode="auto">
          <a:xfrm>
            <a:off x="1271783" y="2765697"/>
            <a:ext cx="3408570"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solidFill>
                  <a:srgbClr val="3333FF"/>
                </a:solidFill>
                <a:latin typeface="Arial" panose="020B0604020202020204" pitchFamily="34" charset="0"/>
              </a:rPr>
              <a:t>Velocidad de un Fluido</a:t>
            </a:r>
          </a:p>
          <a:p>
            <a:pPr eaLnBrk="1" hangingPunct="1">
              <a:spcBef>
                <a:spcPts val="0"/>
              </a:spcBef>
              <a:buFontTx/>
              <a:buNone/>
            </a:pPr>
            <a:r>
              <a:rPr lang="es-ES" sz="2400" dirty="0">
                <a:solidFill>
                  <a:srgbClr val="3333FF"/>
                </a:solidFill>
                <a:latin typeface="Arial" panose="020B0604020202020204" pitchFamily="34" charset="0"/>
              </a:rPr>
              <a:t>(agua, aire...)</a:t>
            </a:r>
          </a:p>
        </p:txBody>
      </p:sp>
      <p:sp>
        <p:nvSpPr>
          <p:cNvPr id="19" name="Text Box 10"/>
          <p:cNvSpPr txBox="1">
            <a:spLocks noChangeArrowheads="1"/>
          </p:cNvSpPr>
          <p:nvPr/>
        </p:nvSpPr>
        <p:spPr bwMode="auto">
          <a:xfrm>
            <a:off x="5775599" y="4713201"/>
            <a:ext cx="3599237" cy="587441"/>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a:latin typeface="Arial" panose="020B0604020202020204" pitchFamily="34" charset="0"/>
                <a:sym typeface="Wingdings" panose="05000000000000000000" pitchFamily="2" charset="2"/>
              </a:rPr>
              <a:t>Dos líneas no se cortan</a:t>
            </a:r>
          </a:p>
        </p:txBody>
      </p:sp>
      <p:grpSp>
        <p:nvGrpSpPr>
          <p:cNvPr id="2" name="Grupo 1"/>
          <p:cNvGrpSpPr>
            <a:grpSpLocks/>
          </p:cNvGrpSpPr>
          <p:nvPr/>
        </p:nvGrpSpPr>
        <p:grpSpPr bwMode="auto">
          <a:xfrm>
            <a:off x="4641034" y="2792868"/>
            <a:ext cx="4627144" cy="836521"/>
            <a:chOff x="5802593" y="5877730"/>
            <a:chExt cx="4627143" cy="836521"/>
          </a:xfrm>
        </p:grpSpPr>
        <p:sp>
          <p:nvSpPr>
            <p:cNvPr id="27659" name="Text Box 13"/>
            <p:cNvSpPr txBox="1">
              <a:spLocks noChangeArrowheads="1"/>
            </p:cNvSpPr>
            <p:nvPr/>
          </p:nvSpPr>
          <p:spPr bwMode="auto">
            <a:xfrm>
              <a:off x="6218449" y="5881073"/>
              <a:ext cx="4211287"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b="1" dirty="0">
                  <a:solidFill>
                    <a:srgbClr val="FF0000"/>
                  </a:solidFill>
                  <a:latin typeface="Arial" panose="020B0604020202020204" pitchFamily="34" charset="0"/>
                </a:rPr>
                <a:t>LÍNEAS DE FLUJO o</a:t>
              </a:r>
            </a:p>
            <a:p>
              <a:pPr eaLnBrk="1" hangingPunct="1">
                <a:spcBef>
                  <a:spcPts val="0"/>
                </a:spcBef>
                <a:buFontTx/>
                <a:buNone/>
              </a:pPr>
              <a:r>
                <a:rPr lang="es-ES" sz="2400" b="1">
                  <a:solidFill>
                    <a:srgbClr val="FF0000"/>
                  </a:solidFill>
                  <a:latin typeface="Arial" panose="020B0604020202020204" pitchFamily="34" charset="0"/>
                </a:rPr>
                <a:t>                DE </a:t>
              </a:r>
              <a:r>
                <a:rPr lang="es-ES" sz="2400" b="1" dirty="0">
                  <a:solidFill>
                    <a:srgbClr val="FF0000"/>
                  </a:solidFill>
                  <a:latin typeface="Arial" panose="020B0604020202020204" pitchFamily="34" charset="0"/>
                </a:rPr>
                <a:t>CORRIENTE</a:t>
              </a:r>
              <a:endParaRPr lang="es-ES" sz="2400" dirty="0">
                <a:solidFill>
                  <a:srgbClr val="3333FF"/>
                </a:solidFill>
                <a:latin typeface="Arial" panose="020B0604020202020204" pitchFamily="34" charset="0"/>
              </a:endParaRPr>
            </a:p>
          </p:txBody>
        </p:sp>
        <p:sp>
          <p:nvSpPr>
            <p:cNvPr id="27660" name="AutoShape 18"/>
            <p:cNvSpPr>
              <a:spLocks noChangeArrowheads="1"/>
            </p:cNvSpPr>
            <p:nvPr/>
          </p:nvSpPr>
          <p:spPr bwMode="auto">
            <a:xfrm>
              <a:off x="5802593" y="5877730"/>
              <a:ext cx="390525" cy="479735"/>
            </a:xfrm>
            <a:prstGeom prst="rightArrow">
              <a:avLst>
                <a:gd name="adj1" fmla="val 49278"/>
                <a:gd name="adj2" fmla="val 66062"/>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lIns="90000" tIns="46800" rIns="90000" bIns="46800" anchor="ctr">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algn="ctr" eaLnBrk="1" hangingPunct="1">
                <a:spcBef>
                  <a:spcPct val="50000"/>
                </a:spcBef>
              </a:pPr>
              <a:endParaRPr lang="en-US" sz="2400"/>
            </a:p>
          </p:txBody>
        </p:sp>
      </p:grpSp>
      <p:sp>
        <p:nvSpPr>
          <p:cNvPr id="14" name="Text Box 7"/>
          <p:cNvSpPr txBox="1">
            <a:spLocks noChangeArrowheads="1"/>
          </p:cNvSpPr>
          <p:nvPr/>
        </p:nvSpPr>
        <p:spPr bwMode="auto">
          <a:xfrm>
            <a:off x="5775599" y="5546741"/>
            <a:ext cx="3951205" cy="1202510"/>
          </a:xfrm>
          <a:prstGeom prst="rect">
            <a:avLst/>
          </a:prstGeom>
          <a:solidFill>
            <a:srgbClr val="FFFF99"/>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Refleja que en cada punto solo hay una tangente, un único valor de la magnitud</a:t>
            </a:r>
          </a:p>
        </p:txBody>
      </p:sp>
      <p:sp>
        <p:nvSpPr>
          <p:cNvPr id="4" name="Text Box 62">
            <a:extLst>
              <a:ext uri="{FF2B5EF4-FFF2-40B4-BE49-F238E27FC236}">
                <a16:creationId xmlns:a16="http://schemas.microsoft.com/office/drawing/2014/main" id="{AA97F669-E94C-604E-DC33-06BC9634FCC6}"/>
              </a:ext>
            </a:extLst>
          </p:cNvPr>
          <p:cNvSpPr txBox="1">
            <a:spLocks noChangeArrowheads="1"/>
          </p:cNvSpPr>
          <p:nvPr/>
        </p:nvSpPr>
        <p:spPr bwMode="auto">
          <a:xfrm>
            <a:off x="1394340" y="1690122"/>
            <a:ext cx="1549728" cy="463846"/>
          </a:xfrm>
          <a:prstGeom prst="rect">
            <a:avLst/>
          </a:prstGeom>
          <a:solidFill>
            <a:srgbClr val="C0C0C0"/>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Ejemplos</a:t>
            </a:r>
            <a:endParaRPr lang="es-ES" sz="2400" dirty="0">
              <a:latin typeface="Arial" panose="020B0604020202020204" pitchFamily="34" charset="0"/>
            </a:endParaRPr>
          </a:p>
        </p:txBody>
      </p:sp>
    </p:spTree>
    <p:extLst>
      <p:ext uri="{BB962C8B-B14F-4D97-AF65-F5344CB8AC3E}">
        <p14:creationId xmlns:p14="http://schemas.microsoft.com/office/powerpoint/2010/main" val="31114632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58110"/>
                                        </p:tgtEl>
                                        <p:attrNameLst>
                                          <p:attrName>style.visibility</p:attrName>
                                        </p:attrNameLst>
                                      </p:cBhvr>
                                      <p:to>
                                        <p:strVal val="visible"/>
                                      </p:to>
                                    </p:set>
                                    <p:animEffect transition="in" filter="wipe(up)">
                                      <p:cBhvr>
                                        <p:cTn id="7" dur="500"/>
                                        <p:tgtEl>
                                          <p:spTgt spid="25811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272"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strVal val="2/3*#ppt_w"/>
                                          </p:val>
                                        </p:tav>
                                        <p:tav tm="100000">
                                          <p:val>
                                            <p:strVal val="#ppt_w"/>
                                          </p:val>
                                        </p:tav>
                                      </p:tavLst>
                                    </p:anim>
                                    <p:anim calcmode="lin" valueType="num">
                                      <p:cBhvr>
                                        <p:cTn id="13" dur="500" fill="hold"/>
                                        <p:tgtEl>
                                          <p:spTgt spid="4"/>
                                        </p:tgtEl>
                                        <p:attrNameLst>
                                          <p:attrName>ppt_h</p:attrName>
                                        </p:attrNameLst>
                                      </p:cBhvr>
                                      <p:tavLst>
                                        <p:tav tm="0">
                                          <p:val>
                                            <p:strVal val="2/3*#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27663"/>
                                        </p:tgtEl>
                                        <p:attrNameLst>
                                          <p:attrName>style.visibility</p:attrName>
                                        </p:attrNameLst>
                                      </p:cBhvr>
                                      <p:to>
                                        <p:strVal val="visible"/>
                                      </p:to>
                                    </p:set>
                                    <p:anim calcmode="lin" valueType="num">
                                      <p:cBhvr additive="base">
                                        <p:cTn id="18" dur="500"/>
                                        <p:tgtEl>
                                          <p:spTgt spid="27663"/>
                                        </p:tgtEl>
                                        <p:attrNameLst>
                                          <p:attrName>ppt_y</p:attrName>
                                        </p:attrNameLst>
                                      </p:cBhvr>
                                      <p:tavLst>
                                        <p:tav tm="0">
                                          <p:val>
                                            <p:strVal val="#ppt_y+#ppt_h*1.125000"/>
                                          </p:val>
                                        </p:tav>
                                        <p:tav tm="100000">
                                          <p:val>
                                            <p:strVal val="#ppt_y"/>
                                          </p:val>
                                        </p:tav>
                                      </p:tavLst>
                                    </p:anim>
                                    <p:animEffect transition="in" filter="wipe(up)">
                                      <p:cBhvr>
                                        <p:cTn id="19" dur="500"/>
                                        <p:tgtEl>
                                          <p:spTgt spid="2766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27661"/>
                                        </p:tgtEl>
                                        <p:attrNameLst>
                                          <p:attrName>style.visibility</p:attrName>
                                        </p:attrNameLst>
                                      </p:cBhvr>
                                      <p:to>
                                        <p:strVal val="visible"/>
                                      </p:to>
                                    </p:set>
                                    <p:anim calcmode="lin" valueType="num">
                                      <p:cBhvr additive="base">
                                        <p:cTn id="29" dur="500"/>
                                        <p:tgtEl>
                                          <p:spTgt spid="27661"/>
                                        </p:tgtEl>
                                        <p:attrNameLst>
                                          <p:attrName>ppt_y</p:attrName>
                                        </p:attrNameLst>
                                      </p:cBhvr>
                                      <p:tavLst>
                                        <p:tav tm="0">
                                          <p:val>
                                            <p:strVal val="#ppt_y+#ppt_h*1.125000"/>
                                          </p:val>
                                        </p:tav>
                                        <p:tav tm="100000">
                                          <p:val>
                                            <p:strVal val="#ppt_y"/>
                                          </p:val>
                                        </p:tav>
                                      </p:tavLst>
                                    </p:anim>
                                    <p:animEffect transition="in" filter="wipe(up)">
                                      <p:cBhvr>
                                        <p:cTn id="30" dur="500"/>
                                        <p:tgtEl>
                                          <p:spTgt spid="2766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8" fill="hold" grpId="0" nodeType="clickEffect">
                                  <p:stCondLst>
                                    <p:cond delay="0"/>
                                  </p:stCondLst>
                                  <p:childTnLst>
                                    <p:set>
                                      <p:cBhvr>
                                        <p:cTn id="39" dur="1" fill="hold">
                                          <p:stCondLst>
                                            <p:cond delay="0"/>
                                          </p:stCondLst>
                                        </p:cTn>
                                        <p:tgtEl>
                                          <p:spTgt spid="258058"/>
                                        </p:tgtEl>
                                        <p:attrNameLst>
                                          <p:attrName>style.visibility</p:attrName>
                                        </p:attrNameLst>
                                      </p:cBhvr>
                                      <p:to>
                                        <p:strVal val="visible"/>
                                      </p:to>
                                    </p:set>
                                    <p:anim calcmode="lin" valueType="num">
                                      <p:cBhvr additive="base">
                                        <p:cTn id="40" dur="500"/>
                                        <p:tgtEl>
                                          <p:spTgt spid="258058"/>
                                        </p:tgtEl>
                                        <p:attrNameLst>
                                          <p:attrName>ppt_x</p:attrName>
                                        </p:attrNameLst>
                                      </p:cBhvr>
                                      <p:tavLst>
                                        <p:tav tm="0">
                                          <p:val>
                                            <p:strVal val="#ppt_x-#ppt_w*1.125000"/>
                                          </p:val>
                                        </p:tav>
                                        <p:tav tm="100000">
                                          <p:val>
                                            <p:strVal val="#ppt_x"/>
                                          </p:val>
                                        </p:tav>
                                      </p:tavLst>
                                    </p:anim>
                                    <p:animEffect transition="in" filter="wipe(right)">
                                      <p:cBhvr>
                                        <p:cTn id="41" dur="500"/>
                                        <p:tgtEl>
                                          <p:spTgt spid="258058"/>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5"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blinds(vertical)">
                                      <p:cBhvr>
                                        <p:cTn id="46" dur="500"/>
                                        <p:tgtEl>
                                          <p:spTgt spid="1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up)">
                                      <p:cBhvr>
                                        <p:cTn id="5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8" grpId="0" animBg="1"/>
      <p:bldP spid="258110" grpId="0" animBg="1"/>
      <p:bldP spid="27663" grpId="0"/>
      <p:bldP spid="27661" grpId="0"/>
      <p:bldP spid="19" grpId="0" animBg="1"/>
      <p:bldP spid="14"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057" name="Picture 9" descr="lineas2b"/>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4544" y="1216152"/>
            <a:ext cx="3687154" cy="2384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8073" name="Text Box 25"/>
          <p:cNvSpPr txBox="1">
            <a:spLocks noChangeArrowheads="1"/>
          </p:cNvSpPr>
          <p:nvPr/>
        </p:nvSpPr>
        <p:spPr bwMode="auto">
          <a:xfrm>
            <a:off x="1197910" y="1136355"/>
            <a:ext cx="5402470" cy="1571842"/>
          </a:xfrm>
          <a:prstGeom prst="rect">
            <a:avLst/>
          </a:prstGeom>
          <a:noFill/>
          <a:ln>
            <a:noFill/>
          </a:ln>
          <a:extLst>
            <a:ext uri="{909E8E84-426E-40DD-AFC4-6F175D3DCCD1}">
              <a14:hiddenFill xmlns:a14="http://schemas.microsoft.com/office/drawing/2010/main">
                <a:solidFill>
                  <a:srgbClr val="EDE3E7"/>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a:t>
            </a:r>
            <a:r>
              <a:rPr lang="es-ES" sz="2400" dirty="0">
                <a:latin typeface="Arial" panose="020B0604020202020204" pitchFamily="34" charset="0"/>
              </a:rPr>
              <a:t>En cada punto, las moléculas de los hilos por la acción del </a:t>
            </a:r>
            <a:r>
              <a:rPr lang="es-ES" sz="2400" b="1" dirty="0">
                <a:latin typeface="Arial" panose="020B0604020202020204" pitchFamily="34" charset="0"/>
              </a:rPr>
              <a:t>E</a:t>
            </a:r>
            <a:r>
              <a:rPr lang="es-ES" sz="2400" dirty="0">
                <a:latin typeface="Arial" panose="020B0604020202020204" pitchFamily="34" charset="0"/>
              </a:rPr>
              <a:t> existente en </a:t>
            </a:r>
            <a:r>
              <a:rPr lang="es-ES" sz="2400">
                <a:latin typeface="Arial" panose="020B0604020202020204" pitchFamily="34" charset="0"/>
              </a:rPr>
              <a:t>el punto </a:t>
            </a:r>
            <a:r>
              <a:rPr lang="es-ES" sz="2400" dirty="0">
                <a:solidFill>
                  <a:srgbClr val="008000"/>
                </a:solidFill>
                <a:latin typeface="Arial" panose="020B0604020202020204" pitchFamily="34" charset="0"/>
              </a:rPr>
              <a:t>se polarizan</a:t>
            </a:r>
            <a:r>
              <a:rPr lang="es-ES" sz="2400" dirty="0">
                <a:latin typeface="Arial" panose="020B0604020202020204" pitchFamily="34" charset="0"/>
              </a:rPr>
              <a:t> </a:t>
            </a:r>
            <a:r>
              <a:rPr lang="es-ES" sz="2400" dirty="0">
                <a:solidFill>
                  <a:srgbClr val="FF0000"/>
                </a:solidFill>
                <a:latin typeface="Arial" panose="020B0604020202020204" pitchFamily="34" charset="0"/>
              </a:rPr>
              <a:t>(Tema 3)</a:t>
            </a:r>
            <a:r>
              <a:rPr lang="es-ES" sz="2400" dirty="0">
                <a:latin typeface="Arial" panose="020B0604020202020204" pitchFamily="34" charset="0"/>
              </a:rPr>
              <a:t> y </a:t>
            </a:r>
            <a:r>
              <a:rPr lang="es-ES" sz="2400">
                <a:latin typeface="Arial" panose="020B0604020202020204" pitchFamily="34" charset="0"/>
              </a:rPr>
              <a:t>se tienden a orientar </a:t>
            </a:r>
            <a:r>
              <a:rPr lang="es-ES" sz="2400" dirty="0">
                <a:latin typeface="Arial" panose="020B0604020202020204" pitchFamily="34" charset="0"/>
              </a:rPr>
              <a:t>en la dirección </a:t>
            </a:r>
            <a:r>
              <a:rPr lang="es-ES" sz="2400">
                <a:latin typeface="Arial" panose="020B0604020202020204" pitchFamily="34" charset="0"/>
              </a:rPr>
              <a:t>de </a:t>
            </a:r>
            <a:r>
              <a:rPr lang="es-ES" sz="2400" b="1">
                <a:latin typeface="Arial" panose="020B0604020202020204" pitchFamily="34" charset="0"/>
              </a:rPr>
              <a:t>E</a:t>
            </a:r>
            <a:endParaRPr lang="es-ES" sz="2400" dirty="0">
              <a:latin typeface="Arial" panose="020B0604020202020204" pitchFamily="34" charset="0"/>
            </a:endParaRPr>
          </a:p>
        </p:txBody>
      </p:sp>
      <p:sp>
        <p:nvSpPr>
          <p:cNvPr id="258070" name="Text Box 22"/>
          <p:cNvSpPr txBox="1">
            <a:spLocks noChangeArrowheads="1"/>
          </p:cNvSpPr>
          <p:nvPr/>
        </p:nvSpPr>
        <p:spPr bwMode="auto">
          <a:xfrm>
            <a:off x="1229800" y="245695"/>
            <a:ext cx="9061897" cy="833178"/>
          </a:xfrm>
          <a:prstGeom prst="rect">
            <a:avLst/>
          </a:prstGeom>
          <a:noFill/>
          <a:ln>
            <a:noFill/>
          </a:ln>
          <a:extLst>
            <a:ext uri="{909E8E84-426E-40DD-AFC4-6F175D3DCCD1}">
              <a14:hiddenFill xmlns:a14="http://schemas.microsoft.com/office/drawing/2010/main">
                <a:solidFill>
                  <a:srgbClr val="EDE3E7"/>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just"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a:t>
            </a:r>
            <a:r>
              <a:rPr lang="es-ES" sz="2400" dirty="0">
                <a:solidFill>
                  <a:srgbClr val="3333FF"/>
                </a:solidFill>
                <a:latin typeface="Arial" panose="020B0604020202020204" pitchFamily="34" charset="0"/>
                <a:sym typeface="Symbol" panose="05050102010706020507" pitchFamily="18" charset="2"/>
              </a:rPr>
              <a:t>Se pueden </a:t>
            </a:r>
            <a:r>
              <a:rPr lang="es-ES" sz="2400" dirty="0">
                <a:solidFill>
                  <a:srgbClr val="3333FF"/>
                </a:solidFill>
                <a:latin typeface="Arial" panose="020B0604020202020204" pitchFamily="34" charset="0"/>
              </a:rPr>
              <a:t>visualizar </a:t>
            </a:r>
            <a:r>
              <a:rPr lang="es-ES" sz="2400" dirty="0">
                <a:solidFill>
                  <a:srgbClr val="000000"/>
                </a:solidFill>
                <a:latin typeface="Arial" panose="020B0604020202020204" pitchFamily="34" charset="0"/>
              </a:rPr>
              <a:t>usando </a:t>
            </a:r>
            <a:r>
              <a:rPr lang="es-ES" sz="2400" dirty="0">
                <a:latin typeface="Arial" panose="020B0604020202020204" pitchFamily="34" charset="0"/>
              </a:rPr>
              <a:t>objetos metálicos </a:t>
            </a:r>
            <a:r>
              <a:rPr lang="es-ES" sz="2400">
                <a:latin typeface="Arial" panose="020B0604020202020204" pitchFamily="34" charset="0"/>
              </a:rPr>
              <a:t>cargados y trocitos de </a:t>
            </a:r>
            <a:r>
              <a:rPr lang="es-ES" sz="2400" dirty="0">
                <a:latin typeface="Arial" panose="020B0604020202020204" pitchFamily="34" charset="0"/>
              </a:rPr>
              <a:t>hilo </a:t>
            </a:r>
            <a:r>
              <a:rPr lang="es-ES" sz="2400">
                <a:latin typeface="Arial" panose="020B0604020202020204" pitchFamily="34" charset="0"/>
              </a:rPr>
              <a:t>aislante sobre </a:t>
            </a:r>
            <a:r>
              <a:rPr lang="es-ES" sz="2400" dirty="0">
                <a:latin typeface="Arial" panose="020B0604020202020204" pitchFamily="34" charset="0"/>
              </a:rPr>
              <a:t>la superficie de un baño con aceite</a:t>
            </a:r>
          </a:p>
        </p:txBody>
      </p:sp>
      <p:sp>
        <p:nvSpPr>
          <p:cNvPr id="29705" name="AutoShape 38"/>
          <p:cNvSpPr>
            <a:spLocks noChangeArrowheads="1"/>
          </p:cNvSpPr>
          <p:nvPr/>
        </p:nvSpPr>
        <p:spPr bwMode="auto">
          <a:xfrm>
            <a:off x="1278294" y="3812629"/>
            <a:ext cx="5301990" cy="3238500"/>
          </a:xfrm>
          <a:prstGeom prst="foldedCorner">
            <a:avLst>
              <a:gd name="adj" fmla="val 12500"/>
            </a:avLst>
          </a:pr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29709" name="AutoShape 42"/>
          <p:cNvSpPr>
            <a:spLocks noChangeArrowheads="1"/>
          </p:cNvSpPr>
          <p:nvPr/>
        </p:nvSpPr>
        <p:spPr bwMode="auto">
          <a:xfrm>
            <a:off x="2609394" y="4443782"/>
            <a:ext cx="330200" cy="482600"/>
          </a:xfrm>
          <a:prstGeom prst="rightArrow">
            <a:avLst>
              <a:gd name="adj1" fmla="val 50000"/>
              <a:gd name="adj2" fmla="val 51921"/>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graphicFrame>
        <p:nvGraphicFramePr>
          <p:cNvPr id="29713" name="Object 15"/>
          <p:cNvGraphicFramePr>
            <a:graphicFrameLocks noChangeAspect="1"/>
          </p:cNvGraphicFramePr>
          <p:nvPr>
            <p:extLst>
              <p:ext uri="{D42A27DB-BD31-4B8C-83A1-F6EECF244321}">
                <p14:modId xmlns:p14="http://schemas.microsoft.com/office/powerpoint/2010/main" val="2907323800"/>
              </p:ext>
            </p:extLst>
          </p:nvPr>
        </p:nvGraphicFramePr>
        <p:xfrm>
          <a:off x="2155111" y="5735563"/>
          <a:ext cx="1266825" cy="652463"/>
        </p:xfrm>
        <a:graphic>
          <a:graphicData uri="http://schemas.openxmlformats.org/presentationml/2006/ole">
            <mc:AlternateContent xmlns:mc="http://schemas.openxmlformats.org/markup-compatibility/2006">
              <mc:Choice xmlns:v="urn:schemas-microsoft-com:vml" Requires="v">
                <p:oleObj name="Ecuación" r:id="rId4" imgW="418918" imgH="215806" progId="Equation.3">
                  <p:embed/>
                </p:oleObj>
              </mc:Choice>
              <mc:Fallback>
                <p:oleObj name="Ecuación" r:id="rId4" imgW="418918" imgH="215806" progId="Equation.3">
                  <p:embed/>
                  <p:pic>
                    <p:nvPicPr>
                      <p:cNvPr id="29713"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5111" y="5735563"/>
                        <a:ext cx="1266825" cy="652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4" name="AutoShape 46"/>
          <p:cNvSpPr>
            <a:spLocks noChangeArrowheads="1"/>
          </p:cNvSpPr>
          <p:nvPr/>
        </p:nvSpPr>
        <p:spPr bwMode="auto">
          <a:xfrm>
            <a:off x="4215116" y="4469182"/>
            <a:ext cx="330200" cy="482600"/>
          </a:xfrm>
          <a:prstGeom prst="rightArrow">
            <a:avLst>
              <a:gd name="adj1" fmla="val 50000"/>
              <a:gd name="adj2" fmla="val 51921"/>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grpSp>
        <p:nvGrpSpPr>
          <p:cNvPr id="9" name="Grupo 8"/>
          <p:cNvGrpSpPr/>
          <p:nvPr/>
        </p:nvGrpSpPr>
        <p:grpSpPr>
          <a:xfrm>
            <a:off x="1575726" y="5207438"/>
            <a:ext cx="596900" cy="487363"/>
            <a:chOff x="5610434" y="4878254"/>
            <a:chExt cx="596900" cy="487363"/>
          </a:xfrm>
        </p:grpSpPr>
        <p:sp>
          <p:nvSpPr>
            <p:cNvPr id="29715" name="Line 47"/>
            <p:cNvSpPr>
              <a:spLocks noChangeShapeType="1"/>
            </p:cNvSpPr>
            <p:nvPr/>
          </p:nvSpPr>
          <p:spPr bwMode="auto">
            <a:xfrm>
              <a:off x="5610434" y="4878254"/>
              <a:ext cx="596900" cy="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29716" name="Text Box 48"/>
            <p:cNvSpPr txBox="1">
              <a:spLocks noChangeArrowheads="1"/>
            </p:cNvSpPr>
            <p:nvPr/>
          </p:nvSpPr>
          <p:spPr bwMode="auto">
            <a:xfrm>
              <a:off x="5672346" y="4968742"/>
              <a:ext cx="350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FF0000"/>
                  </a:solidFill>
                  <a:latin typeface="Arial" panose="020B0604020202020204" pitchFamily="34" charset="0"/>
                </a:rPr>
                <a:t>E</a:t>
              </a:r>
            </a:p>
          </p:txBody>
        </p:sp>
        <p:sp>
          <p:nvSpPr>
            <p:cNvPr id="29717" name="Line 49"/>
            <p:cNvSpPr>
              <a:spLocks noChangeShapeType="1"/>
            </p:cNvSpPr>
            <p:nvPr/>
          </p:nvSpPr>
          <p:spPr bwMode="auto">
            <a:xfrm>
              <a:off x="5789890" y="5028307"/>
              <a:ext cx="215900" cy="0"/>
            </a:xfrm>
            <a:prstGeom prst="line">
              <a:avLst/>
            </a:prstGeom>
            <a:noFill/>
            <a:ln w="12700">
              <a:solidFill>
                <a:srgbClr val="FF0000"/>
              </a:solidFill>
              <a:round/>
              <a:headEnd/>
              <a:tailEnd type="arrow" w="med" len="med"/>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grpSp>
      <p:grpSp>
        <p:nvGrpSpPr>
          <p:cNvPr id="13" name="Grupo 12"/>
          <p:cNvGrpSpPr/>
          <p:nvPr/>
        </p:nvGrpSpPr>
        <p:grpSpPr>
          <a:xfrm>
            <a:off x="3027252" y="4242857"/>
            <a:ext cx="1054100" cy="1456292"/>
            <a:chOff x="7061960" y="3913673"/>
            <a:chExt cx="1054100" cy="1456292"/>
          </a:xfrm>
        </p:grpSpPr>
        <p:sp>
          <p:nvSpPr>
            <p:cNvPr id="29707" name="Line 39"/>
            <p:cNvSpPr>
              <a:spLocks noChangeShapeType="1"/>
            </p:cNvSpPr>
            <p:nvPr/>
          </p:nvSpPr>
          <p:spPr bwMode="auto">
            <a:xfrm>
              <a:off x="7338185" y="4890954"/>
              <a:ext cx="596900" cy="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29708" name="Line 41"/>
            <p:cNvSpPr>
              <a:spLocks noChangeShapeType="1"/>
            </p:cNvSpPr>
            <p:nvPr/>
          </p:nvSpPr>
          <p:spPr bwMode="auto">
            <a:xfrm>
              <a:off x="7477885" y="5031068"/>
              <a:ext cx="215900" cy="0"/>
            </a:xfrm>
            <a:prstGeom prst="line">
              <a:avLst/>
            </a:prstGeom>
            <a:noFill/>
            <a:ln w="12700">
              <a:solidFill>
                <a:srgbClr val="FF0000"/>
              </a:solidFill>
              <a:round/>
              <a:headEnd/>
              <a:tailEnd type="arrow" w="med" len="med"/>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29710" name="Oval 43"/>
            <p:cNvSpPr>
              <a:spLocks noChangeArrowheads="1"/>
            </p:cNvSpPr>
            <p:nvPr/>
          </p:nvSpPr>
          <p:spPr bwMode="auto">
            <a:xfrm rot="19418005">
              <a:off x="7061960" y="4123154"/>
              <a:ext cx="1054100" cy="431800"/>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29711" name="Text Box 44"/>
            <p:cNvSpPr txBox="1">
              <a:spLocks noChangeArrowheads="1"/>
            </p:cNvSpPr>
            <p:nvPr/>
          </p:nvSpPr>
          <p:spPr bwMode="auto">
            <a:xfrm flipH="1">
              <a:off x="7225472" y="4204117"/>
              <a:ext cx="3000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8000"/>
                  </a:solidFill>
                  <a:latin typeface="Arial" panose="020B0604020202020204" pitchFamily="34" charset="0"/>
                </a:rPr>
                <a:t>-</a:t>
              </a:r>
            </a:p>
          </p:txBody>
        </p:sp>
        <p:sp>
          <p:nvSpPr>
            <p:cNvPr id="29712" name="Text Box 45"/>
            <p:cNvSpPr txBox="1">
              <a:spLocks noChangeArrowheads="1"/>
            </p:cNvSpPr>
            <p:nvPr/>
          </p:nvSpPr>
          <p:spPr bwMode="auto">
            <a:xfrm>
              <a:off x="7623935" y="3913673"/>
              <a:ext cx="3889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8000"/>
                  </a:solidFill>
                  <a:latin typeface="Arial" panose="020B0604020202020204" pitchFamily="34" charset="0"/>
                </a:rPr>
                <a:t>+</a:t>
              </a:r>
            </a:p>
          </p:txBody>
        </p:sp>
        <p:sp>
          <p:nvSpPr>
            <p:cNvPr id="29724" name="Text Box 40"/>
            <p:cNvSpPr txBox="1">
              <a:spLocks noChangeArrowheads="1"/>
            </p:cNvSpPr>
            <p:nvPr/>
          </p:nvSpPr>
          <p:spPr bwMode="auto">
            <a:xfrm>
              <a:off x="7381047" y="4973090"/>
              <a:ext cx="350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FF0000"/>
                  </a:solidFill>
                  <a:latin typeface="Arial" panose="020B0604020202020204" pitchFamily="34" charset="0"/>
                </a:rPr>
                <a:t>E</a:t>
              </a:r>
            </a:p>
          </p:txBody>
        </p:sp>
      </p:grpSp>
      <p:grpSp>
        <p:nvGrpSpPr>
          <p:cNvPr id="8" name="Grupo 7"/>
          <p:cNvGrpSpPr/>
          <p:nvPr/>
        </p:nvGrpSpPr>
        <p:grpSpPr>
          <a:xfrm>
            <a:off x="1284204" y="3863413"/>
            <a:ext cx="1416070" cy="1027076"/>
            <a:chOff x="5318912" y="3534229"/>
            <a:chExt cx="1416070" cy="1027076"/>
          </a:xfrm>
        </p:grpSpPr>
        <p:sp>
          <p:nvSpPr>
            <p:cNvPr id="29706" name="Oval 36"/>
            <p:cNvSpPr>
              <a:spLocks noChangeArrowheads="1"/>
            </p:cNvSpPr>
            <p:nvPr/>
          </p:nvSpPr>
          <p:spPr bwMode="auto">
            <a:xfrm rot="19418005">
              <a:off x="5605671" y="4039017"/>
              <a:ext cx="760413" cy="522288"/>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29726" name="Text Box 65"/>
            <p:cNvSpPr txBox="1">
              <a:spLocks noChangeArrowheads="1"/>
            </p:cNvSpPr>
            <p:nvPr/>
          </p:nvSpPr>
          <p:spPr bwMode="auto">
            <a:xfrm>
              <a:off x="5318912" y="3534229"/>
              <a:ext cx="1416070" cy="46384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eaLnBrk="1" hangingPunct="1">
                <a:spcBef>
                  <a:spcPct val="50000"/>
                </a:spcBef>
              </a:pPr>
              <a:r>
                <a:rPr lang="es-ES" sz="2400" dirty="0">
                  <a:solidFill>
                    <a:srgbClr val="008000"/>
                  </a:solidFill>
                </a:rPr>
                <a:t>Molécula</a:t>
              </a:r>
            </a:p>
          </p:txBody>
        </p:sp>
      </p:grpSp>
      <p:grpSp>
        <p:nvGrpSpPr>
          <p:cNvPr id="15" name="Grupo 14"/>
          <p:cNvGrpSpPr/>
          <p:nvPr/>
        </p:nvGrpSpPr>
        <p:grpSpPr>
          <a:xfrm>
            <a:off x="4697550" y="4157803"/>
            <a:ext cx="1655029" cy="1176766"/>
            <a:chOff x="8732258" y="3828619"/>
            <a:chExt cx="1655029" cy="1176766"/>
          </a:xfrm>
        </p:grpSpPr>
        <p:sp>
          <p:nvSpPr>
            <p:cNvPr id="29718" name="Line 50"/>
            <p:cNvSpPr>
              <a:spLocks noChangeShapeType="1"/>
            </p:cNvSpPr>
            <p:nvPr/>
          </p:nvSpPr>
          <p:spPr bwMode="auto">
            <a:xfrm>
              <a:off x="9352237" y="4852854"/>
              <a:ext cx="596900" cy="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29719" name="Text Box 51"/>
            <p:cNvSpPr txBox="1">
              <a:spLocks noChangeArrowheads="1"/>
            </p:cNvSpPr>
            <p:nvPr/>
          </p:nvSpPr>
          <p:spPr bwMode="auto">
            <a:xfrm>
              <a:off x="8889968" y="4608510"/>
              <a:ext cx="350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FF0000"/>
                  </a:solidFill>
                  <a:latin typeface="Arial" panose="020B0604020202020204" pitchFamily="34" charset="0"/>
                </a:rPr>
                <a:t>E</a:t>
              </a:r>
            </a:p>
          </p:txBody>
        </p:sp>
        <p:sp>
          <p:nvSpPr>
            <p:cNvPr id="29720" name="Line 52"/>
            <p:cNvSpPr>
              <a:spLocks noChangeShapeType="1"/>
            </p:cNvSpPr>
            <p:nvPr/>
          </p:nvSpPr>
          <p:spPr bwMode="auto">
            <a:xfrm>
              <a:off x="8967756" y="4648197"/>
              <a:ext cx="215900" cy="0"/>
            </a:xfrm>
            <a:prstGeom prst="line">
              <a:avLst/>
            </a:prstGeom>
            <a:noFill/>
            <a:ln w="12700">
              <a:solidFill>
                <a:srgbClr val="FF0000"/>
              </a:solidFill>
              <a:round/>
              <a:headEnd/>
              <a:tailEnd type="arrow" w="med" len="med"/>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grpSp>
          <p:nvGrpSpPr>
            <p:cNvPr id="29721" name="Group 55"/>
            <p:cNvGrpSpPr>
              <a:grpSpLocks/>
            </p:cNvGrpSpPr>
            <p:nvPr/>
          </p:nvGrpSpPr>
          <p:grpSpPr bwMode="auto">
            <a:xfrm>
              <a:off x="9027289" y="4059235"/>
              <a:ext cx="1133476" cy="544513"/>
              <a:chOff x="1888" y="-158"/>
              <a:chExt cx="714" cy="343"/>
            </a:xfrm>
          </p:grpSpPr>
          <p:sp>
            <p:nvSpPr>
              <p:cNvPr id="29739" name="Oval 31"/>
              <p:cNvSpPr>
                <a:spLocks noChangeArrowheads="1"/>
              </p:cNvSpPr>
              <p:nvPr/>
            </p:nvSpPr>
            <p:spPr bwMode="auto">
              <a:xfrm>
                <a:off x="1895" y="-109"/>
                <a:ext cx="692" cy="258"/>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29740" name="Text Box 33"/>
              <p:cNvSpPr txBox="1">
                <a:spLocks noChangeArrowheads="1"/>
              </p:cNvSpPr>
              <p:nvPr/>
            </p:nvSpPr>
            <p:spPr bwMode="auto">
              <a:xfrm>
                <a:off x="2357" y="-142"/>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8000"/>
                    </a:solidFill>
                    <a:latin typeface="Arial" panose="020B0604020202020204" pitchFamily="34" charset="0"/>
                  </a:rPr>
                  <a:t>+</a:t>
                </a:r>
              </a:p>
            </p:txBody>
          </p:sp>
          <p:sp>
            <p:nvSpPr>
              <p:cNvPr id="29741" name="Text Box 34"/>
              <p:cNvSpPr txBox="1">
                <a:spLocks noChangeArrowheads="1"/>
              </p:cNvSpPr>
              <p:nvPr/>
            </p:nvSpPr>
            <p:spPr bwMode="auto">
              <a:xfrm flipH="1">
                <a:off x="1888" y="-158"/>
                <a:ext cx="1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8000"/>
                    </a:solidFill>
                    <a:latin typeface="Arial" panose="020B0604020202020204" pitchFamily="34" charset="0"/>
                  </a:rPr>
                  <a:t>-</a:t>
                </a:r>
              </a:p>
            </p:txBody>
          </p:sp>
        </p:grpSp>
        <p:sp>
          <p:nvSpPr>
            <p:cNvPr id="29722" name="Line 56"/>
            <p:cNvSpPr>
              <a:spLocks noChangeShapeType="1"/>
            </p:cNvSpPr>
            <p:nvPr/>
          </p:nvSpPr>
          <p:spPr bwMode="auto">
            <a:xfrm>
              <a:off x="10085248" y="4325526"/>
              <a:ext cx="292100" cy="0"/>
            </a:xfrm>
            <a:prstGeom prst="line">
              <a:avLst/>
            </a:prstGeom>
            <a:noFill/>
            <a:ln w="38100">
              <a:solidFill>
                <a:srgbClr val="0000FF"/>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29723" name="Line 57"/>
            <p:cNvSpPr>
              <a:spLocks noChangeShapeType="1"/>
            </p:cNvSpPr>
            <p:nvPr/>
          </p:nvSpPr>
          <p:spPr bwMode="auto">
            <a:xfrm flipH="1" flipV="1">
              <a:off x="8786259" y="4345404"/>
              <a:ext cx="279400" cy="0"/>
            </a:xfrm>
            <a:prstGeom prst="line">
              <a:avLst/>
            </a:prstGeom>
            <a:noFill/>
            <a:ln w="38100">
              <a:solidFill>
                <a:srgbClr val="0000FF"/>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29735" name="Text Box 48"/>
            <p:cNvSpPr txBox="1">
              <a:spLocks noChangeArrowheads="1"/>
            </p:cNvSpPr>
            <p:nvPr/>
          </p:nvSpPr>
          <p:spPr bwMode="auto">
            <a:xfrm>
              <a:off x="10036449" y="3835023"/>
              <a:ext cx="350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rPr>
                <a:t>F</a:t>
              </a:r>
              <a:r>
                <a:rPr lang="es-ES" sz="2400" baseline="-25000">
                  <a:solidFill>
                    <a:srgbClr val="3333FF"/>
                  </a:solidFill>
                  <a:latin typeface="Arial" panose="020B0604020202020204" pitchFamily="34" charset="0"/>
                </a:rPr>
                <a:t>+</a:t>
              </a:r>
              <a:endParaRPr lang="es-ES" sz="2400">
                <a:solidFill>
                  <a:srgbClr val="3333FF"/>
                </a:solidFill>
                <a:latin typeface="Arial" panose="020B0604020202020204" pitchFamily="34" charset="0"/>
              </a:endParaRPr>
            </a:p>
          </p:txBody>
        </p:sp>
        <p:sp>
          <p:nvSpPr>
            <p:cNvPr id="29736" name="Line 49"/>
            <p:cNvSpPr>
              <a:spLocks noChangeShapeType="1"/>
            </p:cNvSpPr>
            <p:nvPr/>
          </p:nvSpPr>
          <p:spPr bwMode="auto">
            <a:xfrm>
              <a:off x="10121555" y="3892172"/>
              <a:ext cx="215900" cy="0"/>
            </a:xfrm>
            <a:prstGeom prst="line">
              <a:avLst/>
            </a:prstGeom>
            <a:noFill/>
            <a:ln w="12700">
              <a:solidFill>
                <a:srgbClr val="3333FF"/>
              </a:solidFill>
              <a:round/>
              <a:headEnd/>
              <a:tailEnd type="arrow" w="med" len="med"/>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29737" name="Text Box 48"/>
            <p:cNvSpPr txBox="1">
              <a:spLocks noChangeArrowheads="1"/>
            </p:cNvSpPr>
            <p:nvPr/>
          </p:nvSpPr>
          <p:spPr bwMode="auto">
            <a:xfrm>
              <a:off x="8732258" y="3828619"/>
              <a:ext cx="350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rPr>
                <a:t>F</a:t>
              </a:r>
              <a:r>
                <a:rPr lang="es-ES" sz="2400" baseline="-25000">
                  <a:solidFill>
                    <a:srgbClr val="3333FF"/>
                  </a:solidFill>
                  <a:latin typeface="Arial" panose="020B0604020202020204" pitchFamily="34" charset="0"/>
                </a:rPr>
                <a:t>-</a:t>
              </a:r>
              <a:endParaRPr lang="es-ES" sz="2400">
                <a:solidFill>
                  <a:srgbClr val="3333FF"/>
                </a:solidFill>
                <a:latin typeface="Arial" panose="020B0604020202020204" pitchFamily="34" charset="0"/>
              </a:endParaRPr>
            </a:p>
          </p:txBody>
        </p:sp>
        <p:sp>
          <p:nvSpPr>
            <p:cNvPr id="29738" name="Line 49"/>
            <p:cNvSpPr>
              <a:spLocks noChangeShapeType="1"/>
            </p:cNvSpPr>
            <p:nvPr/>
          </p:nvSpPr>
          <p:spPr bwMode="auto">
            <a:xfrm>
              <a:off x="8817364" y="3885768"/>
              <a:ext cx="215900" cy="0"/>
            </a:xfrm>
            <a:prstGeom prst="line">
              <a:avLst/>
            </a:prstGeom>
            <a:noFill/>
            <a:ln w="12700">
              <a:solidFill>
                <a:srgbClr val="3333FF"/>
              </a:solidFill>
              <a:round/>
              <a:headEnd/>
              <a:tailEnd type="arrow" w="med" len="med"/>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grpSp>
      <p:grpSp>
        <p:nvGrpSpPr>
          <p:cNvPr id="10" name="Grupo 9"/>
          <p:cNvGrpSpPr/>
          <p:nvPr/>
        </p:nvGrpSpPr>
        <p:grpSpPr>
          <a:xfrm>
            <a:off x="2593807" y="6344396"/>
            <a:ext cx="231775" cy="567240"/>
            <a:chOff x="6394835" y="6095374"/>
            <a:chExt cx="231775" cy="567240"/>
          </a:xfrm>
        </p:grpSpPr>
        <p:pic>
          <p:nvPicPr>
            <p:cNvPr id="46" name="Picture 10"/>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00391" y="6451477"/>
              <a:ext cx="220662" cy="21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pic>
          <p:nvPicPr>
            <p:cNvPr id="47" name="Picture 20"/>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V="1">
              <a:off x="6394835" y="6095374"/>
              <a:ext cx="23177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grpSp>
      <p:grpSp>
        <p:nvGrpSpPr>
          <p:cNvPr id="11" name="Grupo 10"/>
          <p:cNvGrpSpPr/>
          <p:nvPr/>
        </p:nvGrpSpPr>
        <p:grpSpPr>
          <a:xfrm>
            <a:off x="2314407" y="6460283"/>
            <a:ext cx="862677" cy="349901"/>
            <a:chOff x="8181607" y="6183055"/>
            <a:chExt cx="862677" cy="349901"/>
          </a:xfrm>
        </p:grpSpPr>
        <p:sp>
          <p:nvSpPr>
            <p:cNvPr id="48" name="Line 53"/>
            <p:cNvSpPr>
              <a:spLocks noChangeShapeType="1"/>
            </p:cNvSpPr>
            <p:nvPr/>
          </p:nvSpPr>
          <p:spPr bwMode="auto">
            <a:xfrm>
              <a:off x="8752184" y="6183055"/>
              <a:ext cx="292100" cy="0"/>
            </a:xfrm>
            <a:prstGeom prst="line">
              <a:avLst/>
            </a:prstGeom>
            <a:noFill/>
            <a:ln w="38100">
              <a:solidFill>
                <a:srgbClr val="0000FF"/>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52" name="Line 54"/>
            <p:cNvSpPr>
              <a:spLocks noChangeShapeType="1"/>
            </p:cNvSpPr>
            <p:nvPr/>
          </p:nvSpPr>
          <p:spPr bwMode="auto">
            <a:xfrm flipH="1" flipV="1">
              <a:off x="8181607" y="6532956"/>
              <a:ext cx="279400" cy="0"/>
            </a:xfrm>
            <a:prstGeom prst="line">
              <a:avLst/>
            </a:prstGeom>
            <a:noFill/>
            <a:ln w="38100">
              <a:solidFill>
                <a:srgbClr val="0000FF"/>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grpSp>
      <p:grpSp>
        <p:nvGrpSpPr>
          <p:cNvPr id="2" name="Grupo 1">
            <a:extLst>
              <a:ext uri="{FF2B5EF4-FFF2-40B4-BE49-F238E27FC236}">
                <a16:creationId xmlns:a16="http://schemas.microsoft.com/office/drawing/2014/main" id="{EFFCF96C-7C54-44C9-BC52-2D4FAAA9888B}"/>
              </a:ext>
            </a:extLst>
          </p:cNvPr>
          <p:cNvGrpSpPr/>
          <p:nvPr/>
        </p:nvGrpSpPr>
        <p:grpSpPr>
          <a:xfrm>
            <a:off x="4236431" y="6208317"/>
            <a:ext cx="1510931" cy="546108"/>
            <a:chOff x="8271139" y="6208317"/>
            <a:chExt cx="1510931" cy="546108"/>
          </a:xfrm>
        </p:grpSpPr>
        <p:sp>
          <p:nvSpPr>
            <p:cNvPr id="29725" name="Line 49"/>
            <p:cNvSpPr>
              <a:spLocks noChangeShapeType="1"/>
            </p:cNvSpPr>
            <p:nvPr/>
          </p:nvSpPr>
          <p:spPr bwMode="auto">
            <a:xfrm>
              <a:off x="8363701" y="6269648"/>
              <a:ext cx="215900" cy="0"/>
            </a:xfrm>
            <a:prstGeom prst="line">
              <a:avLst/>
            </a:prstGeom>
            <a:noFill/>
            <a:ln w="12700">
              <a:solidFill>
                <a:srgbClr val="3333FF"/>
              </a:solidFill>
              <a:round/>
              <a:headEnd/>
              <a:tailEnd type="arrow" w="med" len="med"/>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29730" name="Line 53"/>
            <p:cNvSpPr>
              <a:spLocks noChangeShapeType="1"/>
            </p:cNvSpPr>
            <p:nvPr/>
          </p:nvSpPr>
          <p:spPr bwMode="auto">
            <a:xfrm>
              <a:off x="9489970" y="6239660"/>
              <a:ext cx="292100" cy="0"/>
            </a:xfrm>
            <a:prstGeom prst="line">
              <a:avLst/>
            </a:prstGeom>
            <a:noFill/>
            <a:ln w="38100">
              <a:solidFill>
                <a:srgbClr val="0000FF"/>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29731" name="Line 54"/>
            <p:cNvSpPr>
              <a:spLocks noChangeShapeType="1"/>
            </p:cNvSpPr>
            <p:nvPr/>
          </p:nvSpPr>
          <p:spPr bwMode="auto">
            <a:xfrm flipH="1" flipV="1">
              <a:off x="8332063" y="6718394"/>
              <a:ext cx="279400" cy="0"/>
            </a:xfrm>
            <a:prstGeom prst="line">
              <a:avLst/>
            </a:prstGeom>
            <a:noFill/>
            <a:ln w="38100">
              <a:solidFill>
                <a:srgbClr val="0000FF"/>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29732" name="Text Box 48"/>
            <p:cNvSpPr txBox="1">
              <a:spLocks noChangeArrowheads="1"/>
            </p:cNvSpPr>
            <p:nvPr/>
          </p:nvSpPr>
          <p:spPr bwMode="auto">
            <a:xfrm>
              <a:off x="8271139" y="6208317"/>
              <a:ext cx="350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rPr>
                <a:t>F</a:t>
              </a:r>
              <a:r>
                <a:rPr lang="es-ES" sz="2400" baseline="-25000">
                  <a:solidFill>
                    <a:srgbClr val="3333FF"/>
                  </a:solidFill>
                  <a:latin typeface="Arial" panose="020B0604020202020204" pitchFamily="34" charset="0"/>
                </a:rPr>
                <a:t>-</a:t>
              </a:r>
              <a:endParaRPr lang="es-ES" sz="2400">
                <a:solidFill>
                  <a:srgbClr val="3333FF"/>
                </a:solidFill>
                <a:latin typeface="Arial" panose="020B0604020202020204" pitchFamily="34" charset="0"/>
              </a:endParaRPr>
            </a:p>
          </p:txBody>
        </p:sp>
        <p:sp>
          <p:nvSpPr>
            <p:cNvPr id="29733" name="Text Box 48"/>
            <p:cNvSpPr txBox="1">
              <a:spLocks noChangeArrowheads="1"/>
            </p:cNvSpPr>
            <p:nvPr/>
          </p:nvSpPr>
          <p:spPr bwMode="auto">
            <a:xfrm>
              <a:off x="9409355" y="6357550"/>
              <a:ext cx="350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rPr>
                <a:t>F</a:t>
              </a:r>
              <a:r>
                <a:rPr lang="es-ES" sz="2400" baseline="-25000">
                  <a:solidFill>
                    <a:srgbClr val="3333FF"/>
                  </a:solidFill>
                  <a:latin typeface="Arial" panose="020B0604020202020204" pitchFamily="34" charset="0"/>
                </a:rPr>
                <a:t>+</a:t>
              </a:r>
              <a:endParaRPr lang="es-ES" sz="2400">
                <a:solidFill>
                  <a:srgbClr val="3333FF"/>
                </a:solidFill>
                <a:latin typeface="Arial" panose="020B0604020202020204" pitchFamily="34" charset="0"/>
              </a:endParaRPr>
            </a:p>
          </p:txBody>
        </p:sp>
        <p:sp>
          <p:nvSpPr>
            <p:cNvPr id="29734" name="Line 49"/>
            <p:cNvSpPr>
              <a:spLocks noChangeShapeType="1"/>
            </p:cNvSpPr>
            <p:nvPr/>
          </p:nvSpPr>
          <p:spPr bwMode="auto">
            <a:xfrm>
              <a:off x="9494461" y="6414699"/>
              <a:ext cx="215900" cy="0"/>
            </a:xfrm>
            <a:prstGeom prst="line">
              <a:avLst/>
            </a:prstGeom>
            <a:noFill/>
            <a:ln w="12700">
              <a:solidFill>
                <a:srgbClr val="3333FF"/>
              </a:solidFill>
              <a:round/>
              <a:headEnd/>
              <a:tailEnd type="arrow" w="med" len="med"/>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grpSp>
      <p:grpSp>
        <p:nvGrpSpPr>
          <p:cNvPr id="4" name="Grupo 3">
            <a:extLst>
              <a:ext uri="{FF2B5EF4-FFF2-40B4-BE49-F238E27FC236}">
                <a16:creationId xmlns:a16="http://schemas.microsoft.com/office/drawing/2014/main" id="{D4A83813-AB87-435C-AD50-5882F40DBE7B}"/>
              </a:ext>
            </a:extLst>
          </p:cNvPr>
          <p:cNvGrpSpPr/>
          <p:nvPr/>
        </p:nvGrpSpPr>
        <p:grpSpPr>
          <a:xfrm>
            <a:off x="3922330" y="4990958"/>
            <a:ext cx="2254143" cy="1986712"/>
            <a:chOff x="7957038" y="4990958"/>
            <a:chExt cx="2254143" cy="1986712"/>
          </a:xfrm>
        </p:grpSpPr>
        <p:cxnSp>
          <p:nvCxnSpPr>
            <p:cNvPr id="29727" name="Conector recto 2"/>
            <p:cNvCxnSpPr>
              <a:cxnSpLocks noChangeShapeType="1"/>
            </p:cNvCxnSpPr>
            <p:nvPr/>
          </p:nvCxnSpPr>
          <p:spPr bwMode="auto">
            <a:xfrm flipH="1">
              <a:off x="8834609" y="6304161"/>
              <a:ext cx="431085" cy="37124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
          <p:nvSpPr>
            <p:cNvPr id="55" name="Text Box 44"/>
            <p:cNvSpPr txBox="1">
              <a:spLocks noChangeArrowheads="1"/>
            </p:cNvSpPr>
            <p:nvPr/>
          </p:nvSpPr>
          <p:spPr bwMode="auto">
            <a:xfrm flipH="1">
              <a:off x="8567005" y="6458557"/>
              <a:ext cx="3000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8000"/>
                  </a:solidFill>
                  <a:latin typeface="Arial" panose="020B0604020202020204" pitchFamily="34" charset="0"/>
                </a:rPr>
                <a:t>-</a:t>
              </a:r>
            </a:p>
          </p:txBody>
        </p:sp>
        <p:sp>
          <p:nvSpPr>
            <p:cNvPr id="56" name="Text Box 45"/>
            <p:cNvSpPr txBox="1">
              <a:spLocks noChangeArrowheads="1"/>
            </p:cNvSpPr>
            <p:nvPr/>
          </p:nvSpPr>
          <p:spPr bwMode="auto">
            <a:xfrm>
              <a:off x="9182787" y="5994070"/>
              <a:ext cx="3889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8000"/>
                  </a:solidFill>
                  <a:latin typeface="Arial" panose="020B0604020202020204" pitchFamily="34" charset="0"/>
                </a:rPr>
                <a:t>+</a:t>
              </a:r>
            </a:p>
          </p:txBody>
        </p:sp>
        <p:sp>
          <p:nvSpPr>
            <p:cNvPr id="3" name="Elipse 2"/>
            <p:cNvSpPr/>
            <p:nvPr/>
          </p:nvSpPr>
          <p:spPr bwMode="auto">
            <a:xfrm>
              <a:off x="9231701" y="6113428"/>
              <a:ext cx="237658" cy="226515"/>
            </a:xfrm>
            <a:prstGeom prst="ellipse">
              <a:avLst/>
            </a:prstGeom>
            <a:noFill/>
            <a:ln w="12700" cap="flat" cmpd="sng" algn="ctr">
              <a:solidFill>
                <a:schemeClr val="tx1"/>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58" name="Elipse 57"/>
            <p:cNvSpPr/>
            <p:nvPr/>
          </p:nvSpPr>
          <p:spPr bwMode="auto">
            <a:xfrm>
              <a:off x="8598911" y="6603755"/>
              <a:ext cx="237658" cy="226515"/>
            </a:xfrm>
            <a:prstGeom prst="ellipse">
              <a:avLst/>
            </a:prstGeom>
            <a:noFill/>
            <a:ln w="12700" cap="flat" cmpd="sng" algn="ctr">
              <a:solidFill>
                <a:schemeClr val="tx1"/>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5" name="CuadroTexto 4"/>
            <p:cNvSpPr txBox="1"/>
            <p:nvPr/>
          </p:nvSpPr>
          <p:spPr>
            <a:xfrm>
              <a:off x="7957038" y="5518236"/>
              <a:ext cx="2254143" cy="461665"/>
            </a:xfrm>
            <a:prstGeom prst="rect">
              <a:avLst/>
            </a:prstGeom>
            <a:noFill/>
          </p:spPr>
          <p:txBody>
            <a:bodyPr wrap="none" rtlCol="0">
              <a:spAutoFit/>
            </a:bodyPr>
            <a:lstStyle/>
            <a:p>
              <a:r>
                <a:rPr lang="es-ES" sz="2400" dirty="0">
                  <a:solidFill>
                    <a:schemeClr val="tx1"/>
                  </a:solidFill>
                </a:rPr>
                <a:t>Es como tener:</a:t>
              </a:r>
            </a:p>
          </p:txBody>
        </p:sp>
        <p:sp>
          <p:nvSpPr>
            <p:cNvPr id="7" name="Forma libre 6"/>
            <p:cNvSpPr/>
            <p:nvPr/>
          </p:nvSpPr>
          <p:spPr bwMode="auto">
            <a:xfrm rot="350973">
              <a:off x="8040542" y="4990958"/>
              <a:ext cx="496957" cy="457200"/>
            </a:xfrm>
            <a:custGeom>
              <a:avLst/>
              <a:gdLst>
                <a:gd name="connsiteX0" fmla="*/ 0 w 496957"/>
                <a:gd name="connsiteY0" fmla="*/ 0 h 457200"/>
                <a:gd name="connsiteX1" fmla="*/ 268357 w 496957"/>
                <a:gd name="connsiteY1" fmla="*/ 178904 h 457200"/>
                <a:gd name="connsiteX2" fmla="*/ 496957 w 496957"/>
                <a:gd name="connsiteY2" fmla="*/ 457200 h 457200"/>
              </a:gdLst>
              <a:ahLst/>
              <a:cxnLst>
                <a:cxn ang="0">
                  <a:pos x="connsiteX0" y="connsiteY0"/>
                </a:cxn>
                <a:cxn ang="0">
                  <a:pos x="connsiteX1" y="connsiteY1"/>
                </a:cxn>
                <a:cxn ang="0">
                  <a:pos x="connsiteX2" y="connsiteY2"/>
                </a:cxn>
              </a:cxnLst>
              <a:rect l="l" t="t" r="r" b="b"/>
              <a:pathLst>
                <a:path w="496957" h="457200">
                  <a:moveTo>
                    <a:pt x="0" y="0"/>
                  </a:moveTo>
                  <a:cubicBezTo>
                    <a:pt x="92765" y="51352"/>
                    <a:pt x="185531" y="102704"/>
                    <a:pt x="268357" y="178904"/>
                  </a:cubicBezTo>
                  <a:cubicBezTo>
                    <a:pt x="351183" y="255104"/>
                    <a:pt x="424070" y="356152"/>
                    <a:pt x="496957" y="457200"/>
                  </a:cubicBezTo>
                </a:path>
              </a:pathLst>
            </a:custGeom>
            <a:noFill/>
            <a:ln w="38100" cap="flat" cmpd="sng" algn="ctr">
              <a:solidFill>
                <a:srgbClr val="008000"/>
              </a:solidFill>
              <a:prstDash val="solid"/>
              <a:round/>
              <a:headEnd type="none" w="med" len="med"/>
              <a:tailEnd type="triangle" w="med" len="lg"/>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grpSp>
      <p:sp>
        <p:nvSpPr>
          <p:cNvPr id="61" name="Text Box 25">
            <a:extLst>
              <a:ext uri="{FF2B5EF4-FFF2-40B4-BE49-F238E27FC236}">
                <a16:creationId xmlns:a16="http://schemas.microsoft.com/office/drawing/2014/main" id="{39A42044-CBA3-4B5B-B6AD-B2F3E05A4C13}"/>
              </a:ext>
            </a:extLst>
          </p:cNvPr>
          <p:cNvSpPr txBox="1">
            <a:spLocks noChangeArrowheads="1"/>
          </p:cNvSpPr>
          <p:nvPr/>
        </p:nvSpPr>
        <p:spPr bwMode="auto">
          <a:xfrm>
            <a:off x="6728389" y="3711235"/>
            <a:ext cx="3663795" cy="1941173"/>
          </a:xfrm>
          <a:prstGeom prst="rect">
            <a:avLst/>
          </a:prstGeom>
          <a:noFill/>
          <a:ln>
            <a:noFill/>
          </a:ln>
          <a:extLst>
            <a:ext uri="{909E8E84-426E-40DD-AFC4-6F175D3DCCD1}">
              <a14:hiddenFill xmlns:a14="http://schemas.microsoft.com/office/drawing/2010/main">
                <a:solidFill>
                  <a:srgbClr val="EDE3E7"/>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a:t>
            </a:r>
            <a:r>
              <a:rPr lang="es-ES" sz="2400" dirty="0">
                <a:latin typeface="Arial" panose="020B0604020202020204" pitchFamily="34" charset="0"/>
              </a:rPr>
              <a:t>La </a:t>
            </a:r>
            <a:r>
              <a:rPr lang="es-ES" sz="2400" b="1" dirty="0">
                <a:latin typeface="Arial" panose="020B0604020202020204" pitchFamily="34" charset="0"/>
              </a:rPr>
              <a:t>cohesión</a:t>
            </a:r>
            <a:r>
              <a:rPr lang="es-ES" sz="2400" dirty="0">
                <a:latin typeface="Arial" panose="020B0604020202020204" pitchFamily="34" charset="0"/>
              </a:rPr>
              <a:t> entre las moléculas hace que giren en bloque, orientándose los trocitos de hilo en la dirección del campo</a:t>
            </a:r>
          </a:p>
        </p:txBody>
      </p:sp>
      <p:sp>
        <p:nvSpPr>
          <p:cNvPr id="29742" name="Text Box 61"/>
          <p:cNvSpPr txBox="1">
            <a:spLocks noChangeArrowheads="1"/>
          </p:cNvSpPr>
          <p:nvPr/>
        </p:nvSpPr>
        <p:spPr bwMode="auto">
          <a:xfrm>
            <a:off x="1350132" y="2817713"/>
            <a:ext cx="3944937" cy="83317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lIns="90000" tIns="46800" rIns="90000" bIns="46800">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algn="ctr" eaLnBrk="1" hangingPunct="1">
              <a:spcBef>
                <a:spcPts val="0"/>
              </a:spcBef>
            </a:pPr>
            <a:r>
              <a:rPr lang="es-ES" sz="2400" dirty="0">
                <a:solidFill>
                  <a:srgbClr val="008000"/>
                </a:solidFill>
              </a:rPr>
              <a:t>se separan las posiciones promedio de las Q</a:t>
            </a:r>
            <a:r>
              <a:rPr lang="es-ES" sz="2400" baseline="30000" dirty="0">
                <a:solidFill>
                  <a:srgbClr val="008000"/>
                </a:solidFill>
              </a:rPr>
              <a:t>+</a:t>
            </a:r>
            <a:r>
              <a:rPr lang="es-ES" sz="2400" dirty="0">
                <a:solidFill>
                  <a:srgbClr val="008000"/>
                </a:solidFill>
              </a:rPr>
              <a:t> y Q</a:t>
            </a:r>
            <a:r>
              <a:rPr lang="es-ES" sz="2400" baseline="30000" dirty="0">
                <a:solidFill>
                  <a:srgbClr val="008000"/>
                </a:solidFill>
              </a:rPr>
              <a:t>-</a:t>
            </a:r>
            <a:endParaRPr lang="es-ES" sz="2400" dirty="0"/>
          </a:p>
        </p:txBody>
      </p:sp>
      <p:sp>
        <p:nvSpPr>
          <p:cNvPr id="62" name="Forma libre 6">
            <a:extLst>
              <a:ext uri="{FF2B5EF4-FFF2-40B4-BE49-F238E27FC236}">
                <a16:creationId xmlns:a16="http://schemas.microsoft.com/office/drawing/2014/main" id="{A63472CF-5946-489E-9D89-33B9FBDD1A8E}"/>
              </a:ext>
            </a:extLst>
          </p:cNvPr>
          <p:cNvSpPr/>
          <p:nvPr/>
        </p:nvSpPr>
        <p:spPr bwMode="auto">
          <a:xfrm rot="16698943" flipH="1">
            <a:off x="2793515" y="3754759"/>
            <a:ext cx="496957" cy="457200"/>
          </a:xfrm>
          <a:custGeom>
            <a:avLst/>
            <a:gdLst>
              <a:gd name="connsiteX0" fmla="*/ 0 w 496957"/>
              <a:gd name="connsiteY0" fmla="*/ 0 h 457200"/>
              <a:gd name="connsiteX1" fmla="*/ 268357 w 496957"/>
              <a:gd name="connsiteY1" fmla="*/ 178904 h 457200"/>
              <a:gd name="connsiteX2" fmla="*/ 496957 w 496957"/>
              <a:gd name="connsiteY2" fmla="*/ 457200 h 457200"/>
            </a:gdLst>
            <a:ahLst/>
            <a:cxnLst>
              <a:cxn ang="0">
                <a:pos x="connsiteX0" y="connsiteY0"/>
              </a:cxn>
              <a:cxn ang="0">
                <a:pos x="connsiteX1" y="connsiteY1"/>
              </a:cxn>
              <a:cxn ang="0">
                <a:pos x="connsiteX2" y="connsiteY2"/>
              </a:cxn>
            </a:cxnLst>
            <a:rect l="l" t="t" r="r" b="b"/>
            <a:pathLst>
              <a:path w="496957" h="457200">
                <a:moveTo>
                  <a:pt x="0" y="0"/>
                </a:moveTo>
                <a:cubicBezTo>
                  <a:pt x="92765" y="51352"/>
                  <a:pt x="185531" y="102704"/>
                  <a:pt x="268357" y="178904"/>
                </a:cubicBezTo>
                <a:cubicBezTo>
                  <a:pt x="351183" y="255104"/>
                  <a:pt x="424070" y="356152"/>
                  <a:pt x="496957" y="457200"/>
                </a:cubicBezTo>
              </a:path>
            </a:pathLst>
          </a:custGeom>
          <a:noFill/>
          <a:ln w="38100" cap="flat" cmpd="sng" algn="ctr">
            <a:solidFill>
              <a:srgbClr val="008000"/>
            </a:solidFill>
            <a:prstDash val="solid"/>
            <a:round/>
            <a:headEnd type="none" w="med" len="med"/>
            <a:tailEnd type="triangle" w="med" len="lg"/>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60" name="Forma libre 6">
            <a:extLst>
              <a:ext uri="{FF2B5EF4-FFF2-40B4-BE49-F238E27FC236}">
                <a16:creationId xmlns:a16="http://schemas.microsoft.com/office/drawing/2014/main" id="{C8A14155-B102-49B0-AD99-6300058CD094}"/>
              </a:ext>
            </a:extLst>
          </p:cNvPr>
          <p:cNvSpPr/>
          <p:nvPr/>
        </p:nvSpPr>
        <p:spPr bwMode="auto">
          <a:xfrm rot="18001099" flipH="1">
            <a:off x="2383270" y="2419147"/>
            <a:ext cx="496957" cy="258077"/>
          </a:xfrm>
          <a:custGeom>
            <a:avLst/>
            <a:gdLst>
              <a:gd name="connsiteX0" fmla="*/ 0 w 496957"/>
              <a:gd name="connsiteY0" fmla="*/ 0 h 457200"/>
              <a:gd name="connsiteX1" fmla="*/ 268357 w 496957"/>
              <a:gd name="connsiteY1" fmla="*/ 178904 h 457200"/>
              <a:gd name="connsiteX2" fmla="*/ 496957 w 496957"/>
              <a:gd name="connsiteY2" fmla="*/ 457200 h 457200"/>
            </a:gdLst>
            <a:ahLst/>
            <a:cxnLst>
              <a:cxn ang="0">
                <a:pos x="connsiteX0" y="connsiteY0"/>
              </a:cxn>
              <a:cxn ang="0">
                <a:pos x="connsiteX1" y="connsiteY1"/>
              </a:cxn>
              <a:cxn ang="0">
                <a:pos x="connsiteX2" y="connsiteY2"/>
              </a:cxn>
            </a:cxnLst>
            <a:rect l="l" t="t" r="r" b="b"/>
            <a:pathLst>
              <a:path w="496957" h="457200">
                <a:moveTo>
                  <a:pt x="0" y="0"/>
                </a:moveTo>
                <a:cubicBezTo>
                  <a:pt x="92765" y="51352"/>
                  <a:pt x="185531" y="102704"/>
                  <a:pt x="268357" y="178904"/>
                </a:cubicBezTo>
                <a:cubicBezTo>
                  <a:pt x="351183" y="255104"/>
                  <a:pt x="424070" y="356152"/>
                  <a:pt x="496957" y="457200"/>
                </a:cubicBezTo>
              </a:path>
            </a:pathLst>
          </a:custGeom>
          <a:noFill/>
          <a:ln w="38100" cap="flat" cmpd="sng" algn="ctr">
            <a:solidFill>
              <a:srgbClr val="008000"/>
            </a:solidFill>
            <a:prstDash val="solid"/>
            <a:round/>
            <a:headEnd type="none" w="med" len="med"/>
            <a:tailEnd type="triangle" w="med" len="lg"/>
          </a:ln>
          <a:effectLst/>
        </p:spPr>
        <p:txBody>
          <a:bodyPr vert="horz" wrap="none" lIns="90000" tIns="46800" rIns="90000" bIns="4680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63" name="Text Box 25">
            <a:extLst>
              <a:ext uri="{FF2B5EF4-FFF2-40B4-BE49-F238E27FC236}">
                <a16:creationId xmlns:a16="http://schemas.microsoft.com/office/drawing/2014/main" id="{D4F028FE-85D9-403B-9744-B0A8D07D6A12}"/>
              </a:ext>
            </a:extLst>
          </p:cNvPr>
          <p:cNvSpPr txBox="1">
            <a:spLocks noChangeArrowheads="1"/>
          </p:cNvSpPr>
          <p:nvPr/>
        </p:nvSpPr>
        <p:spPr bwMode="auto">
          <a:xfrm>
            <a:off x="6711546" y="5681973"/>
            <a:ext cx="3824441" cy="1202510"/>
          </a:xfrm>
          <a:prstGeom prst="rect">
            <a:avLst/>
          </a:prstGeom>
          <a:noFill/>
          <a:ln>
            <a:noFill/>
          </a:ln>
          <a:extLst>
            <a:ext uri="{909E8E84-426E-40DD-AFC4-6F175D3DCCD1}">
              <a14:hiddenFill xmlns:a14="http://schemas.microsoft.com/office/drawing/2010/main">
                <a:solidFill>
                  <a:srgbClr val="EDE3E7"/>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a:t>
            </a:r>
            <a:r>
              <a:rPr lang="es-ES" sz="2400" dirty="0">
                <a:latin typeface="Arial" panose="020B0604020202020204" pitchFamily="34" charset="0"/>
                <a:sym typeface="Symbol" panose="05050102010706020507" pitchFamily="18" charset="2"/>
              </a:rPr>
              <a:t>Los trocitos polarizados </a:t>
            </a:r>
            <a:r>
              <a:rPr lang="es-ES" sz="2400">
                <a:latin typeface="Arial" panose="020B0604020202020204" pitchFamily="34" charset="0"/>
                <a:sym typeface="Symbol" panose="05050102010706020507" pitchFamily="18" charset="2"/>
              </a:rPr>
              <a:t>se atraen, o repelen, y forman </a:t>
            </a:r>
            <a:r>
              <a:rPr lang="es-ES" sz="2400" b="1">
                <a:latin typeface="Arial" panose="020B0604020202020204" pitchFamily="34" charset="0"/>
                <a:sym typeface="Symbol" panose="05050102010706020507" pitchFamily="18" charset="2"/>
              </a:rPr>
              <a:t>líneas</a:t>
            </a:r>
            <a:endParaRPr lang="es-ES" sz="2400" b="1" dirty="0">
              <a:latin typeface="Arial" panose="020B0604020202020204" pitchFamily="34" charset="0"/>
            </a:endParaRPr>
          </a:p>
        </p:txBody>
      </p:sp>
    </p:spTree>
    <p:extLst>
      <p:ext uri="{BB962C8B-B14F-4D97-AF65-F5344CB8AC3E}">
        <p14:creationId xmlns:p14="http://schemas.microsoft.com/office/powerpoint/2010/main" val="4090051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58070"/>
                                        </p:tgtEl>
                                        <p:attrNameLst>
                                          <p:attrName>style.visibility</p:attrName>
                                        </p:attrNameLst>
                                      </p:cBhvr>
                                      <p:to>
                                        <p:strVal val="visible"/>
                                      </p:to>
                                    </p:set>
                                    <p:animEffect transition="in" filter="wipe(up)">
                                      <p:cBhvr>
                                        <p:cTn id="7" dur="500"/>
                                        <p:tgtEl>
                                          <p:spTgt spid="2580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58057"/>
                                        </p:tgtEl>
                                        <p:attrNameLst>
                                          <p:attrName>style.visibility</p:attrName>
                                        </p:attrNameLst>
                                      </p:cBhvr>
                                      <p:to>
                                        <p:strVal val="visible"/>
                                      </p:to>
                                    </p:set>
                                    <p:animEffect transition="in" filter="dissolve">
                                      <p:cBhvr>
                                        <p:cTn id="12" dur="500"/>
                                        <p:tgtEl>
                                          <p:spTgt spid="2580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58073"/>
                                        </p:tgtEl>
                                        <p:attrNameLst>
                                          <p:attrName>style.visibility</p:attrName>
                                        </p:attrNameLst>
                                      </p:cBhvr>
                                      <p:to>
                                        <p:strVal val="visible"/>
                                      </p:to>
                                    </p:set>
                                    <p:animEffect transition="in" filter="wipe(up)">
                                      <p:cBhvr>
                                        <p:cTn id="17" dur="500"/>
                                        <p:tgtEl>
                                          <p:spTgt spid="258073"/>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9705"/>
                                        </p:tgtEl>
                                        <p:attrNameLst>
                                          <p:attrName>style.visibility</p:attrName>
                                        </p:attrNameLst>
                                      </p:cBhvr>
                                      <p:to>
                                        <p:strVal val="visible"/>
                                      </p:to>
                                    </p:set>
                                    <p:animEffect transition="in" filter="strips(downRight)">
                                      <p:cBhvr>
                                        <p:cTn id="22" dur="500"/>
                                        <p:tgtEl>
                                          <p:spTgt spid="29705"/>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nodeType="clickEffect">
                                  <p:stCondLst>
                                    <p:cond delay="0"/>
                                  </p:stCondLst>
                                  <p:childTnLst>
                                    <p:set>
                                      <p:cBhvr>
                                        <p:cTn id="35" dur="1" fill="hold">
                                          <p:stCondLst>
                                            <p:cond delay="0"/>
                                          </p:stCondLst>
                                        </p:cTn>
                                        <p:tgtEl>
                                          <p:spTgt spid="29713"/>
                                        </p:tgtEl>
                                        <p:attrNameLst>
                                          <p:attrName>style.visibility</p:attrName>
                                        </p:attrNameLst>
                                      </p:cBhvr>
                                      <p:to>
                                        <p:strVal val="visible"/>
                                      </p:to>
                                    </p:set>
                                    <p:anim calcmode="lin" valueType="num">
                                      <p:cBhvr additive="base">
                                        <p:cTn id="36" dur="500"/>
                                        <p:tgtEl>
                                          <p:spTgt spid="29713"/>
                                        </p:tgtEl>
                                        <p:attrNameLst>
                                          <p:attrName>ppt_y</p:attrName>
                                        </p:attrNameLst>
                                      </p:cBhvr>
                                      <p:tavLst>
                                        <p:tav tm="0">
                                          <p:val>
                                            <p:strVal val="#ppt_y+#ppt_h*1.125000"/>
                                          </p:val>
                                        </p:tav>
                                        <p:tav tm="100000">
                                          <p:val>
                                            <p:strVal val="#ppt_y"/>
                                          </p:val>
                                        </p:tav>
                                      </p:tavLst>
                                    </p:anim>
                                    <p:animEffect transition="in" filter="wipe(up)">
                                      <p:cBhvr>
                                        <p:cTn id="37" dur="500"/>
                                        <p:tgtEl>
                                          <p:spTgt spid="297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37"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barn(outVertical)">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wipe(up)">
                                      <p:cBhvr>
                                        <p:cTn id="52" dur="500"/>
                                        <p:tgtEl>
                                          <p:spTgt spid="60"/>
                                        </p:tgtEl>
                                      </p:cBhvr>
                                    </p:animEffect>
                                  </p:childTnLst>
                                </p:cTn>
                              </p:par>
                            </p:childTnLst>
                          </p:cTn>
                        </p:par>
                        <p:par>
                          <p:cTn id="53" fill="hold">
                            <p:stCondLst>
                              <p:cond delay="500"/>
                            </p:stCondLst>
                            <p:childTnLst>
                              <p:par>
                                <p:cTn id="54" presetID="22" presetClass="entr" presetSubtype="1" fill="hold" grpId="0" nodeType="afterEffect">
                                  <p:stCondLst>
                                    <p:cond delay="0"/>
                                  </p:stCondLst>
                                  <p:childTnLst>
                                    <p:set>
                                      <p:cBhvr>
                                        <p:cTn id="55" dur="1" fill="hold">
                                          <p:stCondLst>
                                            <p:cond delay="0"/>
                                          </p:stCondLst>
                                        </p:cTn>
                                        <p:tgtEl>
                                          <p:spTgt spid="29742"/>
                                        </p:tgtEl>
                                        <p:attrNameLst>
                                          <p:attrName>style.visibility</p:attrName>
                                        </p:attrNameLst>
                                      </p:cBhvr>
                                      <p:to>
                                        <p:strVal val="visible"/>
                                      </p:to>
                                    </p:set>
                                    <p:animEffect transition="in" filter="wipe(up)">
                                      <p:cBhvr>
                                        <p:cTn id="56" dur="500"/>
                                        <p:tgtEl>
                                          <p:spTgt spid="2974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62"/>
                                        </p:tgtEl>
                                        <p:attrNameLst>
                                          <p:attrName>style.visibility</p:attrName>
                                        </p:attrNameLst>
                                      </p:cBhvr>
                                      <p:to>
                                        <p:strVal val="visible"/>
                                      </p:to>
                                    </p:set>
                                    <p:animEffect transition="in" filter="wipe(up)">
                                      <p:cBhvr>
                                        <p:cTn id="61" dur="500"/>
                                        <p:tgtEl>
                                          <p:spTgt spid="62"/>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9709"/>
                                        </p:tgtEl>
                                        <p:attrNameLst>
                                          <p:attrName>style.visibility</p:attrName>
                                        </p:attrNameLst>
                                      </p:cBhvr>
                                      <p:to>
                                        <p:strVal val="visible"/>
                                      </p:to>
                                    </p:set>
                                    <p:animEffect transition="in" filter="wipe(left)">
                                      <p:cBhvr>
                                        <p:cTn id="64" dur="500"/>
                                        <p:tgtEl>
                                          <p:spTgt spid="29709"/>
                                        </p:tgtEl>
                                      </p:cBhvr>
                                    </p:animEffect>
                                  </p:childTnLst>
                                </p:cTn>
                              </p:par>
                            </p:childTnLst>
                          </p:cTn>
                        </p:par>
                        <p:par>
                          <p:cTn id="65" fill="hold">
                            <p:stCondLst>
                              <p:cond delay="500"/>
                            </p:stCondLst>
                            <p:childTnLst>
                              <p:par>
                                <p:cTn id="66" presetID="9" presetClass="entr" presetSubtype="0" fill="hold" nodeType="after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dissolve">
                                      <p:cBhvr>
                                        <p:cTn id="68" dur="500"/>
                                        <p:tgtEl>
                                          <p:spTgt spid="13"/>
                                        </p:tgtEl>
                                      </p:cBhvr>
                                    </p:animEffect>
                                  </p:childTnLst>
                                </p:cTn>
                              </p:par>
                            </p:childTnLst>
                          </p:cTn>
                        </p:par>
                      </p:childTnLst>
                    </p:cTn>
                  </p:par>
                  <p:par>
                    <p:cTn id="69" fill="hold">
                      <p:stCondLst>
                        <p:cond delay="indefinite"/>
                      </p:stCondLst>
                      <p:childTnLst>
                        <p:par>
                          <p:cTn id="70" fill="hold">
                            <p:stCondLst>
                              <p:cond delay="0"/>
                            </p:stCondLst>
                            <p:childTnLst>
                              <p:par>
                                <p:cTn id="71" presetID="18" presetClass="entr" presetSubtype="6" fill="hold" nodeType="clickEffect">
                                  <p:stCondLst>
                                    <p:cond delay="0"/>
                                  </p:stCondLst>
                                  <p:childTnLst>
                                    <p:set>
                                      <p:cBhvr>
                                        <p:cTn id="72" dur="1" fill="hold">
                                          <p:stCondLst>
                                            <p:cond delay="0"/>
                                          </p:stCondLst>
                                        </p:cTn>
                                        <p:tgtEl>
                                          <p:spTgt spid="4"/>
                                        </p:tgtEl>
                                        <p:attrNameLst>
                                          <p:attrName>style.visibility</p:attrName>
                                        </p:attrNameLst>
                                      </p:cBhvr>
                                      <p:to>
                                        <p:strVal val="visible"/>
                                      </p:to>
                                    </p:set>
                                    <p:animEffect transition="in" filter="strips(downRight)">
                                      <p:cBhvr>
                                        <p:cTn id="73" dur="500"/>
                                        <p:tgtEl>
                                          <p:spTgt spid="4"/>
                                        </p:tgtEl>
                                      </p:cBhvr>
                                    </p:animEffect>
                                  </p:childTnLst>
                                </p:cTn>
                              </p:par>
                            </p:childTnLst>
                          </p:cTn>
                        </p:par>
                      </p:childTnLst>
                    </p:cTn>
                  </p:par>
                  <p:par>
                    <p:cTn id="74" fill="hold">
                      <p:stCondLst>
                        <p:cond delay="indefinite"/>
                      </p:stCondLst>
                      <p:childTnLst>
                        <p:par>
                          <p:cTn id="75" fill="hold">
                            <p:stCondLst>
                              <p:cond delay="0"/>
                            </p:stCondLst>
                            <p:childTnLst>
                              <p:par>
                                <p:cTn id="76" presetID="16" presetClass="entr" presetSubtype="37" fill="hold" nodeType="clickEffect">
                                  <p:stCondLst>
                                    <p:cond delay="0"/>
                                  </p:stCondLst>
                                  <p:childTnLst>
                                    <p:set>
                                      <p:cBhvr>
                                        <p:cTn id="77" dur="1" fill="hold">
                                          <p:stCondLst>
                                            <p:cond delay="0"/>
                                          </p:stCondLst>
                                        </p:cTn>
                                        <p:tgtEl>
                                          <p:spTgt spid="2"/>
                                        </p:tgtEl>
                                        <p:attrNameLst>
                                          <p:attrName>style.visibility</p:attrName>
                                        </p:attrNameLst>
                                      </p:cBhvr>
                                      <p:to>
                                        <p:strVal val="visible"/>
                                      </p:to>
                                    </p:set>
                                    <p:animEffect transition="in" filter="barn(outVertical)">
                                      <p:cBhvr>
                                        <p:cTn id="78" dur="500"/>
                                        <p:tgtEl>
                                          <p:spTgt spid="2"/>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9714"/>
                                        </p:tgtEl>
                                        <p:attrNameLst>
                                          <p:attrName>style.visibility</p:attrName>
                                        </p:attrNameLst>
                                      </p:cBhvr>
                                      <p:to>
                                        <p:strVal val="visible"/>
                                      </p:to>
                                    </p:set>
                                    <p:animEffect transition="in" filter="wipe(left)">
                                      <p:cBhvr>
                                        <p:cTn id="83" dur="500"/>
                                        <p:tgtEl>
                                          <p:spTgt spid="29714"/>
                                        </p:tgtEl>
                                      </p:cBhvr>
                                    </p:animEffect>
                                  </p:childTnLst>
                                </p:cTn>
                              </p:par>
                            </p:childTnLst>
                          </p:cTn>
                        </p:par>
                        <p:par>
                          <p:cTn id="84" fill="hold">
                            <p:stCondLst>
                              <p:cond delay="500"/>
                            </p:stCondLst>
                            <p:childTnLst>
                              <p:par>
                                <p:cTn id="85" presetID="9" presetClass="entr" presetSubtype="0" fill="hold" nodeType="afterEffect">
                                  <p:stCondLst>
                                    <p:cond delay="0"/>
                                  </p:stCondLst>
                                  <p:childTnLst>
                                    <p:set>
                                      <p:cBhvr>
                                        <p:cTn id="86" dur="1" fill="hold">
                                          <p:stCondLst>
                                            <p:cond delay="0"/>
                                          </p:stCondLst>
                                        </p:cTn>
                                        <p:tgtEl>
                                          <p:spTgt spid="15"/>
                                        </p:tgtEl>
                                        <p:attrNameLst>
                                          <p:attrName>style.visibility</p:attrName>
                                        </p:attrNameLst>
                                      </p:cBhvr>
                                      <p:to>
                                        <p:strVal val="visible"/>
                                      </p:to>
                                    </p:set>
                                    <p:animEffect transition="in" filter="dissolve">
                                      <p:cBhvr>
                                        <p:cTn id="87" dur="500"/>
                                        <p:tgtEl>
                                          <p:spTgt spid="1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61"/>
                                        </p:tgtEl>
                                        <p:attrNameLst>
                                          <p:attrName>style.visibility</p:attrName>
                                        </p:attrNameLst>
                                      </p:cBhvr>
                                      <p:to>
                                        <p:strVal val="visible"/>
                                      </p:to>
                                    </p:set>
                                    <p:animEffect transition="in" filter="wipe(up)">
                                      <p:cBhvr>
                                        <p:cTn id="92" dur="500"/>
                                        <p:tgtEl>
                                          <p:spTgt spid="6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63"/>
                                        </p:tgtEl>
                                        <p:attrNameLst>
                                          <p:attrName>style.visibility</p:attrName>
                                        </p:attrNameLst>
                                      </p:cBhvr>
                                      <p:to>
                                        <p:strVal val="visible"/>
                                      </p:to>
                                    </p:set>
                                    <p:animEffect transition="in" filter="wipe(up)">
                                      <p:cBhvr>
                                        <p:cTn id="9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73" grpId="0"/>
      <p:bldP spid="258070" grpId="0"/>
      <p:bldP spid="29705" grpId="0" animBg="1"/>
      <p:bldP spid="29709" grpId="0" animBg="1"/>
      <p:bldP spid="29714" grpId="0" animBg="1"/>
      <p:bldP spid="61" grpId="0"/>
      <p:bldP spid="29742" grpId="0"/>
      <p:bldP spid="62" grpId="0" animBg="1"/>
      <p:bldP spid="60" grpId="0" animBg="1"/>
      <p:bldP spid="6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88" name="Picture 4" descr="lineas1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2569" y="3920895"/>
            <a:ext cx="2855912"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89" name="Picture 5" descr="lineas1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48797" y="3920894"/>
            <a:ext cx="2816225"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upo 4">
            <a:extLst>
              <a:ext uri="{FF2B5EF4-FFF2-40B4-BE49-F238E27FC236}">
                <a16:creationId xmlns:a16="http://schemas.microsoft.com/office/drawing/2014/main" id="{34A73A08-17BF-4A1D-8627-1F76FF5FD7F4}"/>
              </a:ext>
            </a:extLst>
          </p:cNvPr>
          <p:cNvGrpSpPr/>
          <p:nvPr/>
        </p:nvGrpSpPr>
        <p:grpSpPr>
          <a:xfrm>
            <a:off x="1482310" y="1001830"/>
            <a:ext cx="2347911" cy="1458914"/>
            <a:chOff x="1496954" y="1193743"/>
            <a:chExt cx="2347911" cy="1458914"/>
          </a:xfrm>
        </p:grpSpPr>
        <p:sp>
          <p:nvSpPr>
            <p:cNvPr id="31772" name="Rectangle 9"/>
            <p:cNvSpPr>
              <a:spLocks noChangeArrowheads="1"/>
            </p:cNvSpPr>
            <p:nvPr/>
          </p:nvSpPr>
          <p:spPr bwMode="auto">
            <a:xfrm>
              <a:off x="1496954" y="1193743"/>
              <a:ext cx="2347911" cy="1458914"/>
            </a:xfrm>
            <a:prstGeom prst="rect">
              <a:avLst/>
            </a:prstGeom>
            <a:solidFill>
              <a:srgbClr val="99CCFF"/>
            </a:solidFill>
            <a:ln w="12700" algn="ctr">
              <a:solidFill>
                <a:schemeClr val="tx1"/>
              </a:solidFill>
              <a:miter lim="800000"/>
              <a:headEnd/>
              <a:tailEnd/>
            </a:ln>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endParaRPr lang="es-ES" sz="2000">
                <a:solidFill>
                  <a:srgbClr val="000000"/>
                </a:solidFill>
                <a:latin typeface="Arial" panose="020B0604020202020204" pitchFamily="34" charset="0"/>
              </a:endParaRPr>
            </a:p>
          </p:txBody>
        </p:sp>
        <p:graphicFrame>
          <p:nvGraphicFramePr>
            <p:cNvPr id="2" name="Object 10"/>
            <p:cNvGraphicFramePr>
              <a:graphicFrameLocks noChangeAspect="1"/>
            </p:cNvGraphicFramePr>
            <p:nvPr/>
          </p:nvGraphicFramePr>
          <p:xfrm>
            <a:off x="1596967" y="1335031"/>
            <a:ext cx="2124074" cy="1174751"/>
          </p:xfrm>
          <a:graphic>
            <a:graphicData uri="http://schemas.openxmlformats.org/presentationml/2006/ole">
              <mc:AlternateContent xmlns:mc="http://schemas.openxmlformats.org/markup-compatibility/2006">
                <mc:Choice xmlns:v="urn:schemas-microsoft-com:vml" Requires="v">
                  <p:oleObj name="Ecuación" r:id="rId5" imgW="710891" imgH="393529" progId="Equation.3">
                    <p:embed/>
                  </p:oleObj>
                </mc:Choice>
                <mc:Fallback>
                  <p:oleObj name="Ecuación" r:id="rId5" imgW="710891" imgH="393529" progId="Equation.3">
                    <p:embed/>
                    <p:pic>
                      <p:nvPicPr>
                        <p:cNvPr id="2"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6967" y="1335031"/>
                          <a:ext cx="2124074" cy="11747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 name="Text Box 11"/>
          <p:cNvSpPr txBox="1">
            <a:spLocks noChangeArrowheads="1"/>
          </p:cNvSpPr>
          <p:nvPr/>
        </p:nvSpPr>
        <p:spPr bwMode="auto">
          <a:xfrm>
            <a:off x="1204498" y="301742"/>
            <a:ext cx="2894011" cy="514350"/>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dirty="0">
                <a:solidFill>
                  <a:srgbClr val="000000"/>
                </a:solidFill>
                <a:latin typeface="Arial" panose="020B0604020202020204" pitchFamily="34" charset="0"/>
              </a:rPr>
              <a:t>CARGA PUNTUAL</a:t>
            </a:r>
          </a:p>
        </p:txBody>
      </p:sp>
      <p:sp>
        <p:nvSpPr>
          <p:cNvPr id="260119" name="Text Box 23"/>
          <p:cNvSpPr txBox="1">
            <a:spLocks noChangeArrowheads="1"/>
          </p:cNvSpPr>
          <p:nvPr/>
        </p:nvSpPr>
        <p:spPr bwMode="auto">
          <a:xfrm>
            <a:off x="4821111" y="3944505"/>
            <a:ext cx="1876980" cy="1253402"/>
          </a:xfrm>
          <a:prstGeom prst="rect">
            <a:avLst/>
          </a:prstGeom>
          <a:solidFill>
            <a:schemeClr val="accent1">
              <a:lumMod val="60000"/>
              <a:lumOff val="40000"/>
            </a:schemeClr>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dirty="0">
                <a:solidFill>
                  <a:srgbClr val="000000"/>
                </a:solidFill>
                <a:latin typeface="Arial" panose="020B0604020202020204" pitchFamily="34" charset="0"/>
              </a:rPr>
              <a:t>Las líneas de campo son radiales</a:t>
            </a:r>
          </a:p>
        </p:txBody>
      </p:sp>
      <p:grpSp>
        <p:nvGrpSpPr>
          <p:cNvPr id="7195" name="Group 27"/>
          <p:cNvGrpSpPr>
            <a:grpSpLocks/>
          </p:cNvGrpSpPr>
          <p:nvPr/>
        </p:nvGrpSpPr>
        <p:grpSpPr bwMode="auto">
          <a:xfrm>
            <a:off x="8752898" y="2379877"/>
            <a:ext cx="979486" cy="514350"/>
            <a:chOff x="1307" y="2404"/>
            <a:chExt cx="617" cy="324"/>
          </a:xfrm>
          <a:solidFill>
            <a:srgbClr val="993366"/>
          </a:solidFill>
        </p:grpSpPr>
        <p:sp>
          <p:nvSpPr>
            <p:cNvPr id="31769" name="Text Box 24"/>
            <p:cNvSpPr txBox="1">
              <a:spLocks noChangeArrowheads="1"/>
            </p:cNvSpPr>
            <p:nvPr/>
          </p:nvSpPr>
          <p:spPr bwMode="auto">
            <a:xfrm>
              <a:off x="1307" y="2404"/>
              <a:ext cx="617" cy="324"/>
            </a:xfrm>
            <a:prstGeom prst="rect">
              <a:avLst/>
            </a:prstGeom>
            <a:grp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108000" tIns="72000" rIns="108000" bIns="72000" anchor="ctr" anchorCtr="1">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eaLnBrk="1" hangingPunct="1">
                <a:spcBef>
                  <a:spcPct val="50000"/>
                </a:spcBef>
                <a:defRPr/>
              </a:pPr>
              <a:r>
                <a:rPr lang="es-ES" sz="2400">
                  <a:solidFill>
                    <a:srgbClr val="FFFFFF"/>
                  </a:solidFill>
                </a:rPr>
                <a:t>u = e</a:t>
              </a:r>
              <a:r>
                <a:rPr lang="es-ES" sz="2400" baseline="-25000">
                  <a:solidFill>
                    <a:srgbClr val="FFFFFF"/>
                  </a:solidFill>
                </a:rPr>
                <a:t>r</a:t>
              </a:r>
              <a:endParaRPr lang="es-ES" sz="2400">
                <a:solidFill>
                  <a:srgbClr val="FFFFFF"/>
                </a:solidFill>
              </a:endParaRPr>
            </a:p>
          </p:txBody>
        </p:sp>
        <p:sp>
          <p:nvSpPr>
            <p:cNvPr id="31770" name="Line 25"/>
            <p:cNvSpPr>
              <a:spLocks noChangeShapeType="1"/>
            </p:cNvSpPr>
            <p:nvPr/>
          </p:nvSpPr>
          <p:spPr bwMode="auto">
            <a:xfrm>
              <a:off x="1377" y="2482"/>
              <a:ext cx="113" cy="0"/>
            </a:xfrm>
            <a:prstGeom prst="line">
              <a:avLst/>
            </a:prstGeom>
            <a:grpFill/>
            <a:ln w="12700">
              <a:solidFill>
                <a:srgbClr val="FFFFFF"/>
              </a:solidFill>
              <a:round/>
              <a:headEnd/>
              <a:tailEnd type="triangle" w="med" len="me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lIns="108000" tIns="72000" rIns="108000" bIns="72000" anchor="ctr" anchorCtr="1">
              <a:spAutoFit/>
            </a:bodyPr>
            <a:lstStyle/>
            <a:p>
              <a:pPr>
                <a:defRPr/>
              </a:pPr>
              <a:endParaRPr lang="es-ES" sz="2400"/>
            </a:p>
          </p:txBody>
        </p:sp>
        <p:sp>
          <p:nvSpPr>
            <p:cNvPr id="31771" name="Line 26"/>
            <p:cNvSpPr>
              <a:spLocks noChangeShapeType="1"/>
            </p:cNvSpPr>
            <p:nvPr/>
          </p:nvSpPr>
          <p:spPr bwMode="auto">
            <a:xfrm>
              <a:off x="1709" y="2485"/>
              <a:ext cx="113" cy="0"/>
            </a:xfrm>
            <a:prstGeom prst="line">
              <a:avLst/>
            </a:prstGeom>
            <a:grpFill/>
            <a:ln w="12700">
              <a:solidFill>
                <a:srgbClr val="FFFFFF"/>
              </a:solidFill>
              <a:round/>
              <a:headEnd/>
              <a:tailEnd type="triangle" w="med" len="me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lIns="108000" tIns="72000" rIns="108000" bIns="72000" anchor="ctr" anchorCtr="1">
              <a:spAutoFit/>
            </a:bodyPr>
            <a:lstStyle/>
            <a:p>
              <a:pPr>
                <a:defRPr/>
              </a:pPr>
              <a:endParaRPr lang="es-ES" sz="2400"/>
            </a:p>
          </p:txBody>
        </p:sp>
      </p:grpSp>
      <p:grpSp>
        <p:nvGrpSpPr>
          <p:cNvPr id="7206" name="Group 38"/>
          <p:cNvGrpSpPr>
            <a:grpSpLocks/>
          </p:cNvGrpSpPr>
          <p:nvPr/>
        </p:nvGrpSpPr>
        <p:grpSpPr bwMode="auto">
          <a:xfrm>
            <a:off x="4536096" y="420896"/>
            <a:ext cx="5559427" cy="833438"/>
            <a:chOff x="1011" y="2865"/>
            <a:chExt cx="3502" cy="525"/>
          </a:xfrm>
        </p:grpSpPr>
        <p:sp>
          <p:nvSpPr>
            <p:cNvPr id="31766" name="Text Box 20"/>
            <p:cNvSpPr txBox="1">
              <a:spLocks noChangeArrowheads="1"/>
            </p:cNvSpPr>
            <p:nvPr/>
          </p:nvSpPr>
          <p:spPr bwMode="auto">
            <a:xfrm>
              <a:off x="1011" y="2865"/>
              <a:ext cx="3502"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solidFill>
                    <a:srgbClr val="3333FF"/>
                  </a:solidFill>
                  <a:latin typeface="Arial" panose="020B0604020202020204" pitchFamily="34" charset="0"/>
                  <a:sym typeface="Symbol" panose="05050102010706020507" pitchFamily="18" charset="2"/>
                </a:rPr>
                <a:t>u: Vector unitario </a:t>
              </a:r>
              <a:r>
                <a:rPr lang="es-ES" sz="2400">
                  <a:solidFill>
                    <a:srgbClr val="3333FF"/>
                  </a:solidFill>
                  <a:latin typeface="Arial" panose="020B0604020202020204" pitchFamily="34" charset="0"/>
                  <a:sym typeface="Symbol" panose="05050102010706020507" pitchFamily="18" charset="2"/>
                </a:rPr>
                <a:t>h</a:t>
              </a:r>
              <a:r>
                <a:rPr lang="es-ES" sz="2400">
                  <a:solidFill>
                    <a:srgbClr val="3333FF"/>
                  </a:solidFill>
                  <a:latin typeface="Arial" panose="020B0604020202020204" pitchFamily="34" charset="0"/>
                </a:rPr>
                <a:t>acia fuera</a:t>
              </a:r>
            </a:p>
            <a:p>
              <a:pPr eaLnBrk="1" hangingPunct="1">
                <a:spcBef>
                  <a:spcPts val="0"/>
                </a:spcBef>
                <a:buFontTx/>
                <a:buNone/>
              </a:pPr>
              <a:r>
                <a:rPr lang="es-ES" sz="2400">
                  <a:solidFill>
                    <a:srgbClr val="3333FF"/>
                  </a:solidFill>
                  <a:latin typeface="Arial" panose="020B0604020202020204" pitchFamily="34" charset="0"/>
                </a:rPr>
                <a:t>     en cualquier punto que se considere</a:t>
              </a:r>
              <a:endParaRPr lang="es-ES" sz="2400" dirty="0">
                <a:solidFill>
                  <a:srgbClr val="3333FF"/>
                </a:solidFill>
                <a:latin typeface="Arial" panose="020B0604020202020204" pitchFamily="34" charset="0"/>
              </a:endParaRPr>
            </a:p>
          </p:txBody>
        </p:sp>
        <p:sp>
          <p:nvSpPr>
            <p:cNvPr id="31767" name="Line 28"/>
            <p:cNvSpPr>
              <a:spLocks noChangeShapeType="1"/>
            </p:cNvSpPr>
            <p:nvPr/>
          </p:nvSpPr>
          <p:spPr bwMode="auto">
            <a:xfrm>
              <a:off x="1077" y="2927"/>
              <a:ext cx="100" cy="0"/>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lIns="90000" tIns="46800" rIns="90000" bIns="46800">
              <a:spAutoFit/>
            </a:bodyPr>
            <a:lstStyle/>
            <a:p>
              <a:endParaRPr lang="en-GB"/>
            </a:p>
          </p:txBody>
        </p:sp>
      </p:grpSp>
      <p:sp>
        <p:nvSpPr>
          <p:cNvPr id="31764" name="Text Box 21"/>
          <p:cNvSpPr txBox="1">
            <a:spLocks noChangeArrowheads="1"/>
          </p:cNvSpPr>
          <p:nvPr/>
        </p:nvSpPr>
        <p:spPr bwMode="auto">
          <a:xfrm>
            <a:off x="4534775" y="1320221"/>
            <a:ext cx="5353477" cy="833178"/>
          </a:xfrm>
          <a:prstGeom prst="rect">
            <a:avLst/>
          </a:prstGeom>
          <a:solidFill>
            <a:srgbClr val="FAFAFA"/>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latin typeface="Arial" panose="020B0604020202020204" pitchFamily="34" charset="0"/>
              </a:rPr>
              <a:t>Estará sobre un radio de una esfera con centro en Q</a:t>
            </a:r>
            <a:endParaRPr lang="es-ES" sz="2000" dirty="0">
              <a:latin typeface="Arial" panose="020B0604020202020204" pitchFamily="34" charset="0"/>
            </a:endParaRPr>
          </a:p>
        </p:txBody>
      </p:sp>
      <p:sp>
        <p:nvSpPr>
          <p:cNvPr id="27" name="Text Box 20"/>
          <p:cNvSpPr txBox="1">
            <a:spLocks noChangeArrowheads="1"/>
          </p:cNvSpPr>
          <p:nvPr/>
        </p:nvSpPr>
        <p:spPr bwMode="auto">
          <a:xfrm>
            <a:off x="2509208" y="3275636"/>
            <a:ext cx="1988123"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Arial" panose="020B0604020202020204" pitchFamily="34" charset="0"/>
                <a:sym typeface="Symbol" panose="05050102010706020507" pitchFamily="18" charset="2"/>
              </a:rPr>
              <a:t>Si </a:t>
            </a:r>
            <a:r>
              <a:rPr lang="es-ES" sz="2400" b="1" dirty="0">
                <a:solidFill>
                  <a:srgbClr val="3333FF"/>
                </a:solidFill>
                <a:latin typeface="Arial" panose="020B0604020202020204" pitchFamily="34" charset="0"/>
                <a:sym typeface="Symbol" panose="05050102010706020507" pitchFamily="18" charset="2"/>
              </a:rPr>
              <a:t>Q &gt; </a:t>
            </a:r>
            <a:r>
              <a:rPr lang="es-ES" sz="2400" b="1">
                <a:solidFill>
                  <a:srgbClr val="3333FF"/>
                </a:solidFill>
                <a:latin typeface="Arial" panose="020B0604020202020204" pitchFamily="34" charset="0"/>
                <a:sym typeface="Symbol" panose="05050102010706020507" pitchFamily="18" charset="2"/>
              </a:rPr>
              <a:t>0    </a:t>
            </a:r>
            <a:r>
              <a:rPr lang="es-ES" sz="2400">
                <a:solidFill>
                  <a:srgbClr val="3333FF"/>
                </a:solidFill>
                <a:latin typeface="Arial" panose="020B0604020202020204" pitchFamily="34" charset="0"/>
                <a:sym typeface="Symbol" panose="05050102010706020507" pitchFamily="18" charset="2"/>
              </a:rPr>
              <a:t></a:t>
            </a:r>
            <a:endParaRPr lang="es-ES" sz="2400" dirty="0">
              <a:solidFill>
                <a:srgbClr val="3333FF"/>
              </a:solidFill>
              <a:latin typeface="Arial" panose="020B0604020202020204" pitchFamily="34" charset="0"/>
            </a:endParaRPr>
          </a:p>
        </p:txBody>
      </p:sp>
      <p:sp>
        <p:nvSpPr>
          <p:cNvPr id="18" name="Text Box 21">
            <a:extLst>
              <a:ext uri="{FF2B5EF4-FFF2-40B4-BE49-F238E27FC236}">
                <a16:creationId xmlns:a16="http://schemas.microsoft.com/office/drawing/2014/main" id="{B0AE69F4-9C1C-4BBE-B4D0-37AAAEF95D51}"/>
              </a:ext>
            </a:extLst>
          </p:cNvPr>
          <p:cNvSpPr txBox="1">
            <a:spLocks noChangeArrowheads="1"/>
          </p:cNvSpPr>
          <p:nvPr/>
        </p:nvSpPr>
        <p:spPr bwMode="auto">
          <a:xfrm>
            <a:off x="4414601" y="5302100"/>
            <a:ext cx="2795346" cy="1571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Arial" panose="020B0604020202020204" pitchFamily="34" charset="0"/>
              </a:rPr>
              <a:t>En 2 dimensiones siguen los “radios” de una “rueda”, de una circunferencia</a:t>
            </a:r>
            <a:endParaRPr lang="es-ES" sz="2000" dirty="0">
              <a:solidFill>
                <a:srgbClr val="FF0000"/>
              </a:solidFill>
              <a:latin typeface="Arial" panose="020B0604020202020204" pitchFamily="34" charset="0"/>
            </a:endParaRPr>
          </a:p>
        </p:txBody>
      </p:sp>
      <p:sp>
        <p:nvSpPr>
          <p:cNvPr id="19" name="Text Box 20">
            <a:extLst>
              <a:ext uri="{FF2B5EF4-FFF2-40B4-BE49-F238E27FC236}">
                <a16:creationId xmlns:a16="http://schemas.microsoft.com/office/drawing/2014/main" id="{58DC2173-6B54-4761-9A12-16DF131DB521}"/>
              </a:ext>
            </a:extLst>
          </p:cNvPr>
          <p:cNvSpPr txBox="1">
            <a:spLocks noChangeArrowheads="1"/>
          </p:cNvSpPr>
          <p:nvPr/>
        </p:nvSpPr>
        <p:spPr bwMode="auto">
          <a:xfrm>
            <a:off x="4539433" y="3269887"/>
            <a:ext cx="5353477"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Arial" panose="020B0604020202020204" pitchFamily="34" charset="0"/>
                <a:sym typeface="Symbol" panose="05050102010706020507" pitchFamily="18" charset="2"/>
              </a:rPr>
              <a:t>E</a:t>
            </a:r>
            <a:r>
              <a:rPr lang="es-ES" sz="2400">
                <a:solidFill>
                  <a:srgbClr val="3333FF"/>
                </a:solidFill>
                <a:latin typeface="Arial" panose="020B0604020202020204" pitchFamily="34" charset="0"/>
                <a:sym typeface="Symbol" panose="05050102010706020507" pitchFamily="18" charset="2"/>
              </a:rPr>
              <a:t> está hacia </a:t>
            </a:r>
            <a:r>
              <a:rPr lang="es-ES" sz="2400" dirty="0">
                <a:solidFill>
                  <a:srgbClr val="3333FF"/>
                </a:solidFill>
                <a:latin typeface="Arial" panose="020B0604020202020204" pitchFamily="34" charset="0"/>
                <a:sym typeface="Symbol" panose="05050102010706020507" pitchFamily="18" charset="2"/>
              </a:rPr>
              <a:t>fuera en cualquier punto</a:t>
            </a:r>
            <a:endParaRPr lang="es-ES" sz="2400" dirty="0">
              <a:solidFill>
                <a:srgbClr val="3333FF"/>
              </a:solidFill>
              <a:latin typeface="Arial" panose="020B0604020202020204" pitchFamily="34" charset="0"/>
            </a:endParaRPr>
          </a:p>
        </p:txBody>
      </p:sp>
      <p:sp>
        <p:nvSpPr>
          <p:cNvPr id="4" name="Text Box 21">
            <a:extLst>
              <a:ext uri="{FF2B5EF4-FFF2-40B4-BE49-F238E27FC236}">
                <a16:creationId xmlns:a16="http://schemas.microsoft.com/office/drawing/2014/main" id="{E5B5483F-AD00-EA90-C081-5E5B67C5AF46}"/>
              </a:ext>
            </a:extLst>
          </p:cNvPr>
          <p:cNvSpPr txBox="1">
            <a:spLocks noChangeArrowheads="1"/>
          </p:cNvSpPr>
          <p:nvPr/>
        </p:nvSpPr>
        <p:spPr bwMode="auto">
          <a:xfrm>
            <a:off x="4534774" y="2237955"/>
            <a:ext cx="3836915" cy="833178"/>
          </a:xfrm>
          <a:prstGeom prst="rect">
            <a:avLst/>
          </a:prstGeom>
          <a:solidFill>
            <a:srgbClr val="FAFAFA"/>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latin typeface="Arial" panose="020B0604020202020204" pitchFamily="34" charset="0"/>
              </a:rPr>
              <a:t>Se dice, por ello, que es un </a:t>
            </a:r>
            <a:r>
              <a:rPr lang="es-ES" sz="2400" dirty="0">
                <a:latin typeface="Arial" panose="020B0604020202020204" pitchFamily="34" charset="0"/>
              </a:rPr>
              <a:t>vector unitario radial</a:t>
            </a:r>
            <a:endParaRPr lang="es-ES" sz="2000" dirty="0">
              <a:latin typeface="Arial" panose="020B0604020202020204" pitchFamily="34" charset="0"/>
            </a:endParaRPr>
          </a:p>
        </p:txBody>
      </p:sp>
    </p:spTree>
    <p:extLst>
      <p:ext uri="{BB962C8B-B14F-4D97-AF65-F5344CB8AC3E}">
        <p14:creationId xmlns:p14="http://schemas.microsoft.com/office/powerpoint/2010/main" val="27836224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206"/>
                                        </p:tgtEl>
                                        <p:attrNameLst>
                                          <p:attrName>style.visibility</p:attrName>
                                        </p:attrNameLst>
                                      </p:cBhvr>
                                      <p:to>
                                        <p:strVal val="visible"/>
                                      </p:to>
                                    </p:set>
                                    <p:animEffect transition="in" filter="wipe(left)">
                                      <p:cBhvr>
                                        <p:cTn id="17" dur="500"/>
                                        <p:tgtEl>
                                          <p:spTgt spid="720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1764"/>
                                        </p:tgtEl>
                                        <p:attrNameLst>
                                          <p:attrName>style.visibility</p:attrName>
                                        </p:attrNameLst>
                                      </p:cBhvr>
                                      <p:to>
                                        <p:strVal val="visible"/>
                                      </p:to>
                                    </p:set>
                                    <p:animEffect transition="in" filter="wipe(up)">
                                      <p:cBhvr>
                                        <p:cTn id="22" dur="500"/>
                                        <p:tgtEl>
                                          <p:spTgt spid="317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up)">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272" fill="hold" nodeType="clickEffect">
                                  <p:stCondLst>
                                    <p:cond delay="0"/>
                                  </p:stCondLst>
                                  <p:childTnLst>
                                    <p:set>
                                      <p:cBhvr>
                                        <p:cTn id="31" dur="1" fill="hold">
                                          <p:stCondLst>
                                            <p:cond delay="0"/>
                                          </p:stCondLst>
                                        </p:cTn>
                                        <p:tgtEl>
                                          <p:spTgt spid="7195"/>
                                        </p:tgtEl>
                                        <p:attrNameLst>
                                          <p:attrName>style.visibility</p:attrName>
                                        </p:attrNameLst>
                                      </p:cBhvr>
                                      <p:to>
                                        <p:strVal val="visible"/>
                                      </p:to>
                                    </p:set>
                                    <p:anim calcmode="lin" valueType="num">
                                      <p:cBhvr>
                                        <p:cTn id="32" dur="500" fill="hold"/>
                                        <p:tgtEl>
                                          <p:spTgt spid="7195"/>
                                        </p:tgtEl>
                                        <p:attrNameLst>
                                          <p:attrName>ppt_w</p:attrName>
                                        </p:attrNameLst>
                                      </p:cBhvr>
                                      <p:tavLst>
                                        <p:tav tm="0">
                                          <p:val>
                                            <p:strVal val="2/3*#ppt_w"/>
                                          </p:val>
                                        </p:tav>
                                        <p:tav tm="100000">
                                          <p:val>
                                            <p:strVal val="#ppt_w"/>
                                          </p:val>
                                        </p:tav>
                                      </p:tavLst>
                                    </p:anim>
                                    <p:anim calcmode="lin" valueType="num">
                                      <p:cBhvr>
                                        <p:cTn id="33" dur="500" fill="hold"/>
                                        <p:tgtEl>
                                          <p:spTgt spid="7195"/>
                                        </p:tgtEl>
                                        <p:attrNameLst>
                                          <p:attrName>ppt_h</p:attrName>
                                        </p:attrNameLst>
                                      </p:cBhvr>
                                      <p:tavLst>
                                        <p:tav tm="0">
                                          <p:val>
                                            <p:strVal val="2/3*#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left)">
                                      <p:cBhvr>
                                        <p:cTn id="38" dur="500"/>
                                        <p:tgtEl>
                                          <p:spTgt spid="2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32" fill="hold" nodeType="clickEffect">
                                  <p:stCondLst>
                                    <p:cond delay="0"/>
                                  </p:stCondLst>
                                  <p:childTnLst>
                                    <p:set>
                                      <p:cBhvr>
                                        <p:cTn id="47" dur="1" fill="hold">
                                          <p:stCondLst>
                                            <p:cond delay="0"/>
                                          </p:stCondLst>
                                        </p:cTn>
                                        <p:tgtEl>
                                          <p:spTgt spid="7188"/>
                                        </p:tgtEl>
                                        <p:attrNameLst>
                                          <p:attrName>style.visibility</p:attrName>
                                        </p:attrNameLst>
                                      </p:cBhvr>
                                      <p:to>
                                        <p:strVal val="visible"/>
                                      </p:to>
                                    </p:set>
                                    <p:animEffect transition="in" filter="circle(out)">
                                      <p:cBhvr>
                                        <p:cTn id="48" dur="500"/>
                                        <p:tgtEl>
                                          <p:spTgt spid="7188"/>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5" fill="hold" grpId="0" nodeType="clickEffect">
                                  <p:stCondLst>
                                    <p:cond delay="0"/>
                                  </p:stCondLst>
                                  <p:childTnLst>
                                    <p:set>
                                      <p:cBhvr>
                                        <p:cTn id="52" dur="1" fill="hold">
                                          <p:stCondLst>
                                            <p:cond delay="0"/>
                                          </p:stCondLst>
                                        </p:cTn>
                                        <p:tgtEl>
                                          <p:spTgt spid="260119"/>
                                        </p:tgtEl>
                                        <p:attrNameLst>
                                          <p:attrName>style.visibility</p:attrName>
                                        </p:attrNameLst>
                                      </p:cBhvr>
                                      <p:to>
                                        <p:strVal val="visible"/>
                                      </p:to>
                                    </p:set>
                                    <p:animEffect transition="in" filter="blinds(vertical)">
                                      <p:cBhvr>
                                        <p:cTn id="53" dur="500"/>
                                        <p:tgtEl>
                                          <p:spTgt spid="26011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up)">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nodeType="clickEffect">
                                  <p:stCondLst>
                                    <p:cond delay="0"/>
                                  </p:stCondLst>
                                  <p:childTnLst>
                                    <p:set>
                                      <p:cBhvr>
                                        <p:cTn id="62" dur="1" fill="hold">
                                          <p:stCondLst>
                                            <p:cond delay="0"/>
                                          </p:stCondLst>
                                        </p:cTn>
                                        <p:tgtEl>
                                          <p:spTgt spid="7189"/>
                                        </p:tgtEl>
                                        <p:attrNameLst>
                                          <p:attrName>style.visibility</p:attrName>
                                        </p:attrNameLst>
                                      </p:cBhvr>
                                      <p:to>
                                        <p:strVal val="visible"/>
                                      </p:to>
                                    </p:set>
                                    <p:animEffect transition="in" filter="dissolve">
                                      <p:cBhvr>
                                        <p:cTn id="63" dur="500"/>
                                        <p:tgtEl>
                                          <p:spTgt spid="7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60119" grpId="0" animBg="1"/>
      <p:bldP spid="31764" grpId="0" animBg="1"/>
      <p:bldP spid="27" grpId="0"/>
      <p:bldP spid="18" grpId="0"/>
      <p:bldP spid="19" grpId="0"/>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88" name="Picture 4" descr="lineas1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2569" y="3920895"/>
            <a:ext cx="2855912"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89" name="Picture 5" descr="lineas1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48797" y="3920894"/>
            <a:ext cx="2816225"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6">
            <a:extLst>
              <a:ext uri="{FF2B5EF4-FFF2-40B4-BE49-F238E27FC236}">
                <a16:creationId xmlns:a16="http://schemas.microsoft.com/office/drawing/2014/main" id="{FBB692B8-CB37-4E36-8A1E-06D42B7C4C6F}"/>
              </a:ext>
            </a:extLst>
          </p:cNvPr>
          <p:cNvSpPr txBox="1">
            <a:spLocks noChangeArrowheads="1"/>
          </p:cNvSpPr>
          <p:nvPr/>
        </p:nvSpPr>
        <p:spPr bwMode="auto">
          <a:xfrm>
            <a:off x="2447545" y="1095285"/>
            <a:ext cx="6661213" cy="1253402"/>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36000" tIns="72000" rIns="36000" bIns="72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sym typeface="Webdings" panose="05030102010509060703" pitchFamily="18" charset="2"/>
              </a:rPr>
              <a:t></a:t>
            </a:r>
            <a:r>
              <a:rPr lang="es-ES" sz="2400" dirty="0">
                <a:latin typeface="Arial" panose="020B0604020202020204" pitchFamily="34" charset="0"/>
                <a:sym typeface="Wingdings" panose="05000000000000000000" pitchFamily="2" charset="2"/>
              </a:rPr>
              <a:t>Emergen de cargas puntuales positivas</a:t>
            </a:r>
          </a:p>
          <a:p>
            <a:pPr eaLnBrk="1" hangingPunct="1">
              <a:spcBef>
                <a:spcPts val="0"/>
              </a:spcBef>
              <a:buFontTx/>
              <a:buNone/>
            </a:pPr>
            <a:r>
              <a:rPr lang="es-ES" sz="2400" dirty="0">
                <a:latin typeface="Arial" panose="020B0604020202020204" pitchFamily="34" charset="0"/>
                <a:sym typeface="Webdings" panose="05030102010509060703" pitchFamily="18" charset="2"/>
              </a:rPr>
              <a:t></a:t>
            </a:r>
            <a:r>
              <a:rPr lang="es-ES" sz="2400" dirty="0">
                <a:latin typeface="Arial" panose="020B0604020202020204" pitchFamily="34" charset="0"/>
                <a:sym typeface="Wingdings" panose="05000000000000000000" pitchFamily="2" charset="2"/>
              </a:rPr>
              <a:t>Convergen sobre cargas puntuales negativas</a:t>
            </a:r>
          </a:p>
          <a:p>
            <a:pPr eaLnBrk="1" hangingPunct="1">
              <a:spcBef>
                <a:spcPts val="0"/>
              </a:spcBef>
              <a:buFontTx/>
              <a:buNone/>
            </a:pPr>
            <a:r>
              <a:rPr lang="es-ES" sz="2400" dirty="0">
                <a:latin typeface="Arial" panose="020B0604020202020204" pitchFamily="34" charset="0"/>
                <a:sym typeface="Webdings" panose="05030102010509060703" pitchFamily="18" charset="2"/>
              </a:rPr>
              <a:t>Simétricamente, si están separadas de otras</a:t>
            </a:r>
            <a:endParaRPr lang="es-ES" sz="2400" dirty="0">
              <a:latin typeface="Arial" panose="020B0604020202020204" pitchFamily="34" charset="0"/>
              <a:sym typeface="Wingdings" panose="05000000000000000000" pitchFamily="2" charset="2"/>
            </a:endParaRPr>
          </a:p>
        </p:txBody>
      </p:sp>
      <p:sp>
        <p:nvSpPr>
          <p:cNvPr id="19" name="Text Box 10">
            <a:extLst>
              <a:ext uri="{FF2B5EF4-FFF2-40B4-BE49-F238E27FC236}">
                <a16:creationId xmlns:a16="http://schemas.microsoft.com/office/drawing/2014/main" id="{E3A69DCB-2881-4B9F-B7D2-6A05A2EC67F1}"/>
              </a:ext>
            </a:extLst>
          </p:cNvPr>
          <p:cNvSpPr txBox="1">
            <a:spLocks noChangeArrowheads="1"/>
          </p:cNvSpPr>
          <p:nvPr/>
        </p:nvSpPr>
        <p:spPr bwMode="auto">
          <a:xfrm>
            <a:off x="1502569" y="454806"/>
            <a:ext cx="2347912" cy="514738"/>
          </a:xfrm>
          <a:prstGeom prst="rect">
            <a:avLst/>
          </a:prstGeom>
          <a:solidFill>
            <a:srgbClr val="66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b="1" dirty="0">
                <a:solidFill>
                  <a:srgbClr val="FFFFFF"/>
                </a:solidFill>
                <a:latin typeface="Arial" panose="020B0604020202020204" pitchFamily="34" charset="0"/>
                <a:sym typeface="Wingdings" panose="05000000000000000000" pitchFamily="2" charset="2"/>
              </a:rPr>
              <a:t>PROPIEDAD 2</a:t>
            </a:r>
            <a:endParaRPr lang="es-ES" sz="2400" dirty="0">
              <a:solidFill>
                <a:srgbClr val="FFFFFF"/>
              </a:solidFill>
              <a:latin typeface="Arial" panose="020B0604020202020204" pitchFamily="34" charset="0"/>
              <a:sym typeface="Wingdings" panose="05000000000000000000" pitchFamily="2" charset="2"/>
            </a:endParaRPr>
          </a:p>
        </p:txBody>
      </p:sp>
      <p:sp>
        <p:nvSpPr>
          <p:cNvPr id="20" name="Text Box 6">
            <a:extLst>
              <a:ext uri="{FF2B5EF4-FFF2-40B4-BE49-F238E27FC236}">
                <a16:creationId xmlns:a16="http://schemas.microsoft.com/office/drawing/2014/main" id="{2F679B56-1E88-4A74-991A-FE7CCF226E95}"/>
              </a:ext>
            </a:extLst>
          </p:cNvPr>
          <p:cNvSpPr txBox="1">
            <a:spLocks noChangeArrowheads="1"/>
          </p:cNvSpPr>
          <p:nvPr/>
        </p:nvSpPr>
        <p:spPr bwMode="auto">
          <a:xfrm>
            <a:off x="2437497" y="2431737"/>
            <a:ext cx="6671261" cy="1253402"/>
          </a:xfrm>
          <a:prstGeom prst="rect">
            <a:avLst/>
          </a:prstGeom>
          <a:solidFill>
            <a:srgbClr val="FFFF99"/>
          </a:solidFill>
          <a:ln>
            <a:noFill/>
          </a:ln>
        </p:spPr>
        <p:txBody>
          <a:bodyPr wrap="square" lIns="36000" tIns="72000" rIns="36000" bIns="72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latin typeface="Arial" panose="020B0604020202020204" pitchFamily="34" charset="0"/>
                <a:sym typeface="Webdings" panose="05030102010509060703" pitchFamily="18" charset="2"/>
              </a:rPr>
              <a:t>Esto último se verifica “cerca” de una </a:t>
            </a:r>
            <a:r>
              <a:rPr lang="es-ES" sz="2400" dirty="0" err="1">
                <a:latin typeface="Arial" panose="020B0604020202020204" pitchFamily="34" charset="0"/>
                <a:sym typeface="Webdings" panose="05030102010509060703" pitchFamily="18" charset="2"/>
              </a:rPr>
              <a:t>Q</a:t>
            </a:r>
            <a:r>
              <a:rPr lang="es-ES" sz="2400" baseline="-25000" dirty="0" err="1">
                <a:latin typeface="Arial" panose="020B0604020202020204" pitchFamily="34" charset="0"/>
                <a:sym typeface="Webdings" panose="05030102010509060703" pitchFamily="18" charset="2"/>
              </a:rPr>
              <a:t>puntual</a:t>
            </a:r>
            <a:r>
              <a:rPr lang="es-ES" sz="2400" dirty="0">
                <a:latin typeface="Arial" panose="020B0604020202020204" pitchFamily="34" charset="0"/>
                <a:sym typeface="Webdings" panose="05030102010509060703" pitchFamily="18" charset="2"/>
              </a:rPr>
              <a:t>, porque el </a:t>
            </a:r>
            <a:r>
              <a:rPr lang="es-ES" sz="2400" b="1" dirty="0" err="1">
                <a:latin typeface="Arial" panose="020B0604020202020204" pitchFamily="34" charset="0"/>
                <a:sym typeface="Webdings" panose="05030102010509060703" pitchFamily="18" charset="2"/>
              </a:rPr>
              <a:t>E</a:t>
            </a:r>
            <a:r>
              <a:rPr lang="es-ES" sz="2400" baseline="-25000" dirty="0" err="1">
                <a:latin typeface="Arial" panose="020B0604020202020204" pitchFamily="34" charset="0"/>
                <a:sym typeface="Webdings" panose="05030102010509060703" pitchFamily="18" charset="2"/>
              </a:rPr>
              <a:t>total</a:t>
            </a:r>
            <a:r>
              <a:rPr lang="es-ES" sz="2400" dirty="0">
                <a:latin typeface="Arial" panose="020B0604020202020204" pitchFamily="34" charset="0"/>
                <a:sym typeface="Webdings" panose="05030102010509060703" pitchFamily="18" charset="2"/>
              </a:rPr>
              <a:t> se debe a ella básicamente, </a:t>
            </a:r>
          </a:p>
          <a:p>
            <a:pPr algn="ctr" eaLnBrk="1" hangingPunct="1">
              <a:spcBef>
                <a:spcPts val="0"/>
              </a:spcBef>
              <a:buFontTx/>
              <a:buNone/>
            </a:pPr>
            <a:r>
              <a:rPr lang="es-ES" sz="2400" dirty="0">
                <a:latin typeface="Arial" panose="020B0604020202020204" pitchFamily="34" charset="0"/>
                <a:sym typeface="Webdings" panose="05030102010509060703" pitchFamily="18" charset="2"/>
              </a:rPr>
              <a:t>por la dependencia con la distancia (1/r</a:t>
            </a:r>
            <a:r>
              <a:rPr lang="es-ES" sz="2400" baseline="30000" dirty="0">
                <a:latin typeface="Arial" panose="020B0604020202020204" pitchFamily="34" charset="0"/>
                <a:sym typeface="Webdings" panose="05030102010509060703" pitchFamily="18" charset="2"/>
              </a:rPr>
              <a:t>2</a:t>
            </a:r>
            <a:r>
              <a:rPr lang="es-ES" sz="2400" dirty="0">
                <a:latin typeface="Arial" panose="020B0604020202020204" pitchFamily="34" charset="0"/>
                <a:sym typeface="Webdings" panose="05030102010509060703" pitchFamily="18" charset="2"/>
              </a:rPr>
              <a:t>)</a:t>
            </a:r>
            <a:endParaRPr lang="es-ES" sz="2400" dirty="0">
              <a:latin typeface="Arial" panose="020B0604020202020204" pitchFamily="34" charset="0"/>
              <a:sym typeface="Wingdings" panose="05000000000000000000" pitchFamily="2" charset="2"/>
            </a:endParaRPr>
          </a:p>
        </p:txBody>
      </p:sp>
      <p:sp>
        <p:nvSpPr>
          <p:cNvPr id="10" name="Text Box 23">
            <a:extLst>
              <a:ext uri="{FF2B5EF4-FFF2-40B4-BE49-F238E27FC236}">
                <a16:creationId xmlns:a16="http://schemas.microsoft.com/office/drawing/2014/main" id="{2632E6C1-8BBE-4A44-A535-8390BF2104F6}"/>
              </a:ext>
            </a:extLst>
          </p:cNvPr>
          <p:cNvSpPr txBox="1">
            <a:spLocks noChangeArrowheads="1"/>
          </p:cNvSpPr>
          <p:nvPr/>
        </p:nvSpPr>
        <p:spPr bwMode="auto">
          <a:xfrm>
            <a:off x="4821111" y="3944505"/>
            <a:ext cx="1876980" cy="1253402"/>
          </a:xfrm>
          <a:prstGeom prst="rect">
            <a:avLst/>
          </a:prstGeom>
          <a:solidFill>
            <a:schemeClr val="accent1">
              <a:lumMod val="60000"/>
              <a:lumOff val="40000"/>
            </a:schemeClr>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dirty="0">
                <a:solidFill>
                  <a:srgbClr val="000000"/>
                </a:solidFill>
                <a:latin typeface="Arial" panose="020B0604020202020204" pitchFamily="34" charset="0"/>
              </a:rPr>
              <a:t>Las líneas de campo son radiales</a:t>
            </a:r>
          </a:p>
        </p:txBody>
      </p:sp>
      <p:sp>
        <p:nvSpPr>
          <p:cNvPr id="9" name="Text Box 21">
            <a:extLst>
              <a:ext uri="{FF2B5EF4-FFF2-40B4-BE49-F238E27FC236}">
                <a16:creationId xmlns:a16="http://schemas.microsoft.com/office/drawing/2014/main" id="{40FDBB9C-60D8-4615-AA5B-E8361DA7A51F}"/>
              </a:ext>
            </a:extLst>
          </p:cNvPr>
          <p:cNvSpPr txBox="1">
            <a:spLocks noChangeArrowheads="1"/>
          </p:cNvSpPr>
          <p:nvPr/>
        </p:nvSpPr>
        <p:spPr bwMode="auto">
          <a:xfrm>
            <a:off x="4414601" y="5302100"/>
            <a:ext cx="2795346" cy="1571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Arial" panose="020B0604020202020204" pitchFamily="34" charset="0"/>
              </a:rPr>
              <a:t>En 2 dimensiones siguen los “radios” de una “rueda”, de una circunferencia</a:t>
            </a:r>
            <a:endParaRPr lang="es-ES" sz="2000" dirty="0">
              <a:solidFill>
                <a:srgbClr val="FF0000"/>
              </a:solidFill>
              <a:latin typeface="Arial" panose="020B0604020202020204" pitchFamily="34" charset="0"/>
            </a:endParaRPr>
          </a:p>
        </p:txBody>
      </p:sp>
    </p:spTree>
    <p:extLst>
      <p:ext uri="{BB962C8B-B14F-4D97-AF65-F5344CB8AC3E}">
        <p14:creationId xmlns:p14="http://schemas.microsoft.com/office/powerpoint/2010/main" val="402737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p:tgtEl>
                                          <p:spTgt spid="19"/>
                                        </p:tgtEl>
                                        <p:attrNameLst>
                                          <p:attrName>ppt_x</p:attrName>
                                        </p:attrNameLst>
                                      </p:cBhvr>
                                      <p:tavLst>
                                        <p:tav tm="0">
                                          <p:val>
                                            <p:strVal val="#ppt_x-#ppt_w*1.125000"/>
                                          </p:val>
                                        </p:tav>
                                        <p:tav tm="100000">
                                          <p:val>
                                            <p:strVal val="#ppt_x"/>
                                          </p:val>
                                        </p:tav>
                                      </p:tavLst>
                                    </p:anim>
                                    <p:animEffect transition="in" filter="wipe(right)">
                                      <p:cBhvr>
                                        <p:cTn id="8" dur="500"/>
                                        <p:tgtEl>
                                          <p:spTgt spid="19"/>
                                        </p:tgtEl>
                                      </p:cBhvr>
                                    </p:animEffect>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linds(vertical)">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up)">
                                      <p:cBhvr>
                                        <p:cTn id="1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82" name="Picture 4" descr="lineas3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9038" y="2295804"/>
            <a:ext cx="2833687"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83" name="Picture 5" descr="lineas3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8475" y="2297392"/>
            <a:ext cx="3011488"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81" name="Text Box 6"/>
          <p:cNvSpPr txBox="1">
            <a:spLocks noChangeArrowheads="1"/>
          </p:cNvSpPr>
          <p:nvPr/>
        </p:nvSpPr>
        <p:spPr bwMode="auto">
          <a:xfrm>
            <a:off x="3722688" y="324917"/>
            <a:ext cx="6574251" cy="1622734"/>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sym typeface="Wingdings" panose="05000000000000000000" pitchFamily="2" charset="2"/>
              </a:rPr>
              <a:t>El número de líneas que se traza, es tal, que el número neto de líneas que diverge de un sistema (las que salen menos las que entran), es proporcional al valor de su carga neta </a:t>
            </a:r>
          </a:p>
        </p:txBody>
      </p:sp>
      <p:sp>
        <p:nvSpPr>
          <p:cNvPr id="262174" name="Text Box 30"/>
          <p:cNvSpPr txBox="1">
            <a:spLocks noChangeArrowheads="1"/>
          </p:cNvSpPr>
          <p:nvPr/>
        </p:nvSpPr>
        <p:spPr bwMode="auto">
          <a:xfrm>
            <a:off x="1341438" y="3530879"/>
            <a:ext cx="377825" cy="396875"/>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108000" tIns="72000" rIns="108000" bIns="72000"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a:t>
            </a:r>
          </a:p>
        </p:txBody>
      </p:sp>
      <p:sp>
        <p:nvSpPr>
          <p:cNvPr id="262175" name="Text Box 31"/>
          <p:cNvSpPr txBox="1">
            <a:spLocks noChangeArrowheads="1"/>
          </p:cNvSpPr>
          <p:nvPr/>
        </p:nvSpPr>
        <p:spPr bwMode="auto">
          <a:xfrm>
            <a:off x="4829175" y="3530879"/>
            <a:ext cx="322263" cy="396875"/>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108000" tIns="72000" rIns="108000" bIns="72000"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a:t>
            </a:r>
          </a:p>
        </p:txBody>
      </p:sp>
      <p:sp>
        <p:nvSpPr>
          <p:cNvPr id="262181" name="Oval 37"/>
          <p:cNvSpPr>
            <a:spLocks noChangeArrowheads="1"/>
          </p:cNvSpPr>
          <p:nvPr/>
        </p:nvSpPr>
        <p:spPr bwMode="auto">
          <a:xfrm>
            <a:off x="1958975" y="2419629"/>
            <a:ext cx="2654300" cy="2603500"/>
          </a:xfrm>
          <a:prstGeom prst="ellipse">
            <a:avLst/>
          </a:prstGeom>
          <a:noFill/>
          <a:ln w="22225" algn="ctr">
            <a:solidFill>
              <a:srgbClr val="008000"/>
            </a:solidFill>
            <a:prstDash val="dash"/>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262184" name="Text Box 40"/>
          <p:cNvSpPr txBox="1">
            <a:spLocks noChangeArrowheads="1"/>
          </p:cNvSpPr>
          <p:nvPr/>
        </p:nvSpPr>
        <p:spPr bwMode="auto">
          <a:xfrm>
            <a:off x="2235922" y="6056893"/>
            <a:ext cx="1965383" cy="514738"/>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err="1">
                <a:solidFill>
                  <a:srgbClr val="000000"/>
                </a:solidFill>
                <a:latin typeface="Arial" panose="020B0604020202020204" pitchFamily="34" charset="0"/>
              </a:rPr>
              <a:t>Q</a:t>
            </a:r>
            <a:r>
              <a:rPr lang="es-ES" sz="2400" baseline="-25000" dirty="0" err="1">
                <a:solidFill>
                  <a:srgbClr val="000000"/>
                </a:solidFill>
                <a:latin typeface="Arial" panose="020B0604020202020204" pitchFamily="34" charset="0"/>
              </a:rPr>
              <a:t>neta</a:t>
            </a:r>
            <a:r>
              <a:rPr lang="es-ES" sz="2400" dirty="0">
                <a:solidFill>
                  <a:srgbClr val="000000"/>
                </a:solidFill>
                <a:latin typeface="Arial" panose="020B0604020202020204" pitchFamily="34" charset="0"/>
              </a:rPr>
              <a:t> = Q + q</a:t>
            </a:r>
          </a:p>
        </p:txBody>
      </p:sp>
      <p:sp>
        <p:nvSpPr>
          <p:cNvPr id="33821" name="Text Box 51"/>
          <p:cNvSpPr txBox="1">
            <a:spLocks noChangeArrowheads="1"/>
          </p:cNvSpPr>
          <p:nvPr/>
        </p:nvSpPr>
        <p:spPr bwMode="auto">
          <a:xfrm>
            <a:off x="5711403" y="2449850"/>
            <a:ext cx="1254167" cy="4638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eaLnBrk="1" hangingPunct="1">
              <a:spcBef>
                <a:spcPct val="50000"/>
              </a:spcBef>
            </a:pPr>
            <a:r>
              <a:rPr lang="es-ES" sz="2400" dirty="0">
                <a:solidFill>
                  <a:schemeClr val="tx1"/>
                </a:solidFill>
              </a:rPr>
              <a:t>Q </a:t>
            </a:r>
            <a:r>
              <a:rPr lang="es-ES" sz="2400" dirty="0">
                <a:solidFill>
                  <a:schemeClr val="tx1"/>
                </a:solidFill>
                <a:sym typeface="Symbol" panose="05050102010706020507" pitchFamily="18" charset="2"/>
              </a:rPr>
              <a:t> 12</a:t>
            </a:r>
          </a:p>
        </p:txBody>
      </p:sp>
      <p:sp>
        <p:nvSpPr>
          <p:cNvPr id="33822" name="Text Box 52"/>
          <p:cNvSpPr txBox="1">
            <a:spLocks noChangeArrowheads="1"/>
          </p:cNvSpPr>
          <p:nvPr/>
        </p:nvSpPr>
        <p:spPr bwMode="auto">
          <a:xfrm>
            <a:off x="5789645" y="3034324"/>
            <a:ext cx="1186841" cy="4638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eaLnBrk="1" hangingPunct="1">
              <a:spcBef>
                <a:spcPct val="50000"/>
              </a:spcBef>
            </a:pPr>
            <a:r>
              <a:rPr lang="es-ES" sz="2400" dirty="0">
                <a:solidFill>
                  <a:schemeClr val="tx1"/>
                </a:solidFill>
              </a:rPr>
              <a:t>q </a:t>
            </a:r>
            <a:r>
              <a:rPr lang="es-ES" sz="2400" dirty="0">
                <a:solidFill>
                  <a:schemeClr val="tx1"/>
                </a:solidFill>
                <a:sym typeface="Symbol" panose="05050102010706020507" pitchFamily="18" charset="2"/>
              </a:rPr>
              <a:t> 12</a:t>
            </a:r>
          </a:p>
        </p:txBody>
      </p:sp>
      <p:grpSp>
        <p:nvGrpSpPr>
          <p:cNvPr id="14395" name="Group 59"/>
          <p:cNvGrpSpPr>
            <a:grpSpLocks/>
          </p:cNvGrpSpPr>
          <p:nvPr/>
        </p:nvGrpSpPr>
        <p:grpSpPr bwMode="auto">
          <a:xfrm>
            <a:off x="5752831" y="3719147"/>
            <a:ext cx="1042988" cy="965201"/>
            <a:chOff x="4792" y="2967"/>
            <a:chExt cx="657" cy="608"/>
          </a:xfrm>
        </p:grpSpPr>
        <p:sp>
          <p:nvSpPr>
            <p:cNvPr id="33825" name="Text Box 29"/>
            <p:cNvSpPr txBox="1">
              <a:spLocks noChangeArrowheads="1"/>
            </p:cNvSpPr>
            <p:nvPr/>
          </p:nvSpPr>
          <p:spPr bwMode="auto">
            <a:xfrm>
              <a:off x="4792" y="3251"/>
              <a:ext cx="616" cy="32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 = q</a:t>
              </a:r>
            </a:p>
          </p:txBody>
        </p:sp>
        <p:sp>
          <p:nvSpPr>
            <p:cNvPr id="33826" name="Line 53"/>
            <p:cNvSpPr>
              <a:spLocks noChangeShapeType="1"/>
            </p:cNvSpPr>
            <p:nvPr/>
          </p:nvSpPr>
          <p:spPr bwMode="auto">
            <a:xfrm rot="5400000">
              <a:off x="5147" y="2664"/>
              <a:ext cx="0" cy="605"/>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lIns="90000" tIns="46800" rIns="90000" bIns="46800">
              <a:spAutoFit/>
            </a:bodyPr>
            <a:lstStyle/>
            <a:p>
              <a:endParaRPr lang="en-GB" sz="2400"/>
            </a:p>
          </p:txBody>
        </p:sp>
        <p:sp>
          <p:nvSpPr>
            <p:cNvPr id="33827" name="Text Box 54"/>
            <p:cNvSpPr txBox="1">
              <a:spLocks noChangeArrowheads="1"/>
            </p:cNvSpPr>
            <p:nvPr/>
          </p:nvSpPr>
          <p:spPr bwMode="auto">
            <a:xfrm>
              <a:off x="5018" y="2976"/>
              <a:ext cx="23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eaLnBrk="1" hangingPunct="1">
                <a:spcBef>
                  <a:spcPct val="50000"/>
                </a:spcBef>
              </a:pPr>
              <a:r>
                <a:rPr lang="es-ES" sz="2400" b="1" dirty="0">
                  <a:solidFill>
                    <a:schemeClr val="tx1"/>
                  </a:solidFill>
                  <a:sym typeface="Symbol" panose="05050102010706020507" pitchFamily="18" charset="2"/>
                </a:rPr>
                <a:t></a:t>
              </a:r>
            </a:p>
          </p:txBody>
        </p:sp>
      </p:grpSp>
      <p:sp>
        <p:nvSpPr>
          <p:cNvPr id="14398" name="Text Box 62"/>
          <p:cNvSpPr txBox="1">
            <a:spLocks noChangeArrowheads="1"/>
          </p:cNvSpPr>
          <p:nvPr/>
        </p:nvSpPr>
        <p:spPr bwMode="auto">
          <a:xfrm>
            <a:off x="8008140" y="5391397"/>
            <a:ext cx="2352675" cy="1622734"/>
          </a:xfrm>
          <a:prstGeom prst="rect">
            <a:avLst/>
          </a:prstGeom>
          <a:solidFill>
            <a:schemeClr val="accent1">
              <a:lumMod val="60000"/>
              <a:lumOff val="40000"/>
            </a:schemeClr>
          </a:solidFill>
          <a:ln>
            <a:noFill/>
          </a:ln>
          <a:effectLst/>
        </p:spPr>
        <p:txBody>
          <a:bodyPr lIns="108000" tIns="72000" rIns="108000" bIns="72000" anchor="ctr" anchorCtr="1">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algn="ctr" eaLnBrk="1" hangingPunct="1">
              <a:spcBef>
                <a:spcPct val="50000"/>
              </a:spcBef>
              <a:defRPr/>
            </a:pPr>
            <a:r>
              <a:rPr lang="es-ES" sz="2400">
                <a:solidFill>
                  <a:schemeClr val="tx1"/>
                </a:solidFill>
              </a:rPr>
              <a:t>Si la carga neta  es nula, salen las mismas que entran</a:t>
            </a:r>
          </a:p>
        </p:txBody>
      </p:sp>
      <p:sp>
        <p:nvSpPr>
          <p:cNvPr id="33" name="Text Box 10"/>
          <p:cNvSpPr txBox="1">
            <a:spLocks noChangeArrowheads="1"/>
          </p:cNvSpPr>
          <p:nvPr/>
        </p:nvSpPr>
        <p:spPr bwMode="auto">
          <a:xfrm>
            <a:off x="1274763" y="335632"/>
            <a:ext cx="2283446" cy="514738"/>
          </a:xfrm>
          <a:prstGeom prst="rect">
            <a:avLst/>
          </a:prstGeom>
          <a:solidFill>
            <a:srgbClr val="66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b="1">
                <a:solidFill>
                  <a:srgbClr val="FFFFFF"/>
                </a:solidFill>
                <a:latin typeface="Arial" panose="020B0604020202020204" pitchFamily="34" charset="0"/>
                <a:sym typeface="Wingdings" panose="05000000000000000000" pitchFamily="2" charset="2"/>
              </a:rPr>
              <a:t>PROPIEDAD 3</a:t>
            </a:r>
            <a:endParaRPr lang="es-ES" sz="2400">
              <a:solidFill>
                <a:srgbClr val="FFFFFF"/>
              </a:solidFill>
              <a:latin typeface="Arial" panose="020B0604020202020204" pitchFamily="34" charset="0"/>
              <a:sym typeface="Wingdings" panose="05000000000000000000" pitchFamily="2" charset="2"/>
            </a:endParaRPr>
          </a:p>
        </p:txBody>
      </p:sp>
      <p:sp>
        <p:nvSpPr>
          <p:cNvPr id="34" name="Oval 37"/>
          <p:cNvSpPr>
            <a:spLocks noChangeArrowheads="1"/>
          </p:cNvSpPr>
          <p:nvPr/>
        </p:nvSpPr>
        <p:spPr bwMode="auto">
          <a:xfrm>
            <a:off x="2228850" y="3297517"/>
            <a:ext cx="825500" cy="869950"/>
          </a:xfrm>
          <a:prstGeom prst="ellipse">
            <a:avLst/>
          </a:prstGeom>
          <a:noFill/>
          <a:ln w="22225" algn="ctr">
            <a:solidFill>
              <a:srgbClr val="008000"/>
            </a:solidFill>
            <a:prstDash val="dash"/>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35" name="Oval 37"/>
          <p:cNvSpPr>
            <a:spLocks noChangeArrowheads="1"/>
          </p:cNvSpPr>
          <p:nvPr/>
        </p:nvSpPr>
        <p:spPr bwMode="auto">
          <a:xfrm>
            <a:off x="3487738" y="3299104"/>
            <a:ext cx="825500" cy="869950"/>
          </a:xfrm>
          <a:prstGeom prst="ellipse">
            <a:avLst/>
          </a:prstGeom>
          <a:noFill/>
          <a:ln w="22225" algn="ctr">
            <a:solidFill>
              <a:srgbClr val="008000"/>
            </a:solidFill>
            <a:prstDash val="dash"/>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grpSp>
        <p:nvGrpSpPr>
          <p:cNvPr id="11" name="Grupo 10"/>
          <p:cNvGrpSpPr>
            <a:grpSpLocks/>
          </p:cNvGrpSpPr>
          <p:nvPr/>
        </p:nvGrpSpPr>
        <p:grpSpPr bwMode="auto">
          <a:xfrm>
            <a:off x="1196561" y="2016674"/>
            <a:ext cx="1229139" cy="1344336"/>
            <a:chOff x="1287790" y="2315247"/>
            <a:chExt cx="1228756" cy="1343745"/>
          </a:xfrm>
        </p:grpSpPr>
        <p:sp>
          <p:nvSpPr>
            <p:cNvPr id="33823" name="Text Box 22"/>
            <p:cNvSpPr txBox="1">
              <a:spLocks noChangeArrowheads="1"/>
            </p:cNvSpPr>
            <p:nvPr/>
          </p:nvSpPr>
          <p:spPr bwMode="auto">
            <a:xfrm>
              <a:off x="1287790" y="2315247"/>
              <a:ext cx="1021248" cy="832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b="1">
                  <a:solidFill>
                    <a:srgbClr val="000000"/>
                  </a:solidFill>
                  <a:latin typeface="Arial" panose="020B0604020202020204" pitchFamily="34" charset="0"/>
                </a:rPr>
                <a:t>Salen 12</a:t>
              </a:r>
            </a:p>
          </p:txBody>
        </p:sp>
        <p:cxnSp>
          <p:nvCxnSpPr>
            <p:cNvPr id="33824" name="Conector recto de flecha 4"/>
            <p:cNvCxnSpPr>
              <a:cxnSpLocks noChangeShapeType="1"/>
            </p:cNvCxnSpPr>
            <p:nvPr/>
          </p:nvCxnSpPr>
          <p:spPr bwMode="auto">
            <a:xfrm flipH="1" flipV="1">
              <a:off x="2049641" y="3051706"/>
              <a:ext cx="466905" cy="607286"/>
            </a:xfrm>
            <a:prstGeom prst="straightConnector1">
              <a:avLst/>
            </a:prstGeom>
            <a:noFill/>
            <a:ln w="38100" algn="ctr">
              <a:solidFill>
                <a:schemeClr val="tx1"/>
              </a:solidFill>
              <a:round/>
              <a:headEnd/>
              <a:tailEnd type="triangle" w="lg" len="lg"/>
            </a:ln>
            <a:extLst>
              <a:ext uri="{909E8E84-426E-40DD-AFC4-6F175D3DCCD1}">
                <a14:hiddenFill xmlns:a14="http://schemas.microsoft.com/office/drawing/2010/main">
                  <a:noFill/>
                </a14:hiddenFill>
              </a:ext>
            </a:extLst>
          </p:spPr>
        </p:cxnSp>
      </p:grpSp>
      <p:grpSp>
        <p:nvGrpSpPr>
          <p:cNvPr id="12" name="Grupo 11"/>
          <p:cNvGrpSpPr>
            <a:grpSpLocks/>
          </p:cNvGrpSpPr>
          <p:nvPr/>
        </p:nvGrpSpPr>
        <p:grpSpPr bwMode="auto">
          <a:xfrm>
            <a:off x="4148145" y="2041740"/>
            <a:ext cx="1217336" cy="1331981"/>
            <a:chOff x="4237854" y="2340263"/>
            <a:chExt cx="1218345" cy="1331776"/>
          </a:xfrm>
        </p:grpSpPr>
        <p:sp>
          <p:nvSpPr>
            <p:cNvPr id="2" name="Text Box 22"/>
            <p:cNvSpPr txBox="1">
              <a:spLocks noChangeArrowheads="1"/>
            </p:cNvSpPr>
            <p:nvPr/>
          </p:nvSpPr>
          <p:spPr bwMode="auto">
            <a:xfrm>
              <a:off x="4390562" y="2340263"/>
              <a:ext cx="1065637" cy="833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b="1">
                  <a:solidFill>
                    <a:srgbClr val="000000"/>
                  </a:solidFill>
                  <a:latin typeface="Arial" panose="020B0604020202020204" pitchFamily="34" charset="0"/>
                </a:rPr>
                <a:t>Salen 12</a:t>
              </a:r>
            </a:p>
          </p:txBody>
        </p:sp>
        <p:cxnSp>
          <p:nvCxnSpPr>
            <p:cNvPr id="3" name="Conector recto de flecha 39"/>
            <p:cNvCxnSpPr>
              <a:cxnSpLocks noChangeShapeType="1"/>
            </p:cNvCxnSpPr>
            <p:nvPr/>
          </p:nvCxnSpPr>
          <p:spPr bwMode="auto">
            <a:xfrm flipV="1">
              <a:off x="4237854" y="3028523"/>
              <a:ext cx="515300" cy="643516"/>
            </a:xfrm>
            <a:prstGeom prst="straightConnector1">
              <a:avLst/>
            </a:prstGeom>
            <a:noFill/>
            <a:ln w="38100" algn="ctr">
              <a:solidFill>
                <a:schemeClr val="tx1"/>
              </a:solidFill>
              <a:round/>
              <a:headEnd/>
              <a:tailEnd type="triangle" w="lg" len="lg"/>
            </a:ln>
            <a:extLst>
              <a:ext uri="{909E8E84-426E-40DD-AFC4-6F175D3DCCD1}">
                <a14:hiddenFill xmlns:a14="http://schemas.microsoft.com/office/drawing/2010/main">
                  <a:noFill/>
                </a14:hiddenFill>
              </a:ext>
            </a:extLst>
          </p:spPr>
        </p:cxnSp>
      </p:grpSp>
      <p:grpSp>
        <p:nvGrpSpPr>
          <p:cNvPr id="15" name="Grupo 14"/>
          <p:cNvGrpSpPr>
            <a:grpSpLocks/>
          </p:cNvGrpSpPr>
          <p:nvPr/>
        </p:nvGrpSpPr>
        <p:grpSpPr bwMode="auto">
          <a:xfrm>
            <a:off x="4230688" y="4696099"/>
            <a:ext cx="1124844" cy="973149"/>
            <a:chOff x="4320932" y="4994032"/>
            <a:chExt cx="1125293" cy="972914"/>
          </a:xfrm>
        </p:grpSpPr>
        <p:sp>
          <p:nvSpPr>
            <p:cNvPr id="33819" name="Text Box 39"/>
            <p:cNvSpPr txBox="1">
              <a:spLocks noChangeArrowheads="1"/>
            </p:cNvSpPr>
            <p:nvPr/>
          </p:nvSpPr>
          <p:spPr bwMode="auto">
            <a:xfrm>
              <a:off x="4422287" y="5133970"/>
              <a:ext cx="1023938" cy="832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b="1" dirty="0">
                  <a:solidFill>
                    <a:srgbClr val="000000"/>
                  </a:solidFill>
                  <a:latin typeface="Arial" panose="020B0604020202020204" pitchFamily="34" charset="0"/>
                </a:rPr>
                <a:t>Salen 24</a:t>
              </a:r>
              <a:endParaRPr lang="es-ES" sz="2400" dirty="0">
                <a:solidFill>
                  <a:srgbClr val="000000"/>
                </a:solidFill>
                <a:latin typeface="Arial" panose="020B0604020202020204" pitchFamily="34" charset="0"/>
                <a:sym typeface="Wingdings" panose="05000000000000000000" pitchFamily="2" charset="2"/>
              </a:endParaRPr>
            </a:p>
          </p:txBody>
        </p:sp>
        <p:cxnSp>
          <p:nvCxnSpPr>
            <p:cNvPr id="33820" name="Conector recto de flecha 45"/>
            <p:cNvCxnSpPr>
              <a:cxnSpLocks noChangeShapeType="1"/>
            </p:cNvCxnSpPr>
            <p:nvPr/>
          </p:nvCxnSpPr>
          <p:spPr bwMode="auto">
            <a:xfrm>
              <a:off x="4320932" y="4994032"/>
              <a:ext cx="174572" cy="194297"/>
            </a:xfrm>
            <a:prstGeom prst="straightConnector1">
              <a:avLst/>
            </a:prstGeom>
            <a:noFill/>
            <a:ln w="38100" algn="ctr">
              <a:solidFill>
                <a:schemeClr val="tx1"/>
              </a:solidFill>
              <a:round/>
              <a:headEnd/>
              <a:tailEnd type="triangle" w="lg" len="lg"/>
            </a:ln>
            <a:extLst>
              <a:ext uri="{909E8E84-426E-40DD-AFC4-6F175D3DCCD1}">
                <a14:hiddenFill xmlns:a14="http://schemas.microsoft.com/office/drawing/2010/main">
                  <a:noFill/>
                </a14:hiddenFill>
              </a:ext>
            </a:extLst>
          </p:spPr>
        </p:cxnSp>
      </p:grpSp>
      <p:grpSp>
        <p:nvGrpSpPr>
          <p:cNvPr id="22" name="Grupo 21"/>
          <p:cNvGrpSpPr>
            <a:grpSpLocks/>
          </p:cNvGrpSpPr>
          <p:nvPr/>
        </p:nvGrpSpPr>
        <p:grpSpPr bwMode="auto">
          <a:xfrm>
            <a:off x="4417681" y="4703345"/>
            <a:ext cx="1882196" cy="1667643"/>
            <a:chOff x="4798894" y="4703833"/>
            <a:chExt cx="1883074" cy="1666864"/>
          </a:xfrm>
        </p:grpSpPr>
        <p:cxnSp>
          <p:nvCxnSpPr>
            <p:cNvPr id="33817" name="Conector recto de flecha 16"/>
            <p:cNvCxnSpPr>
              <a:cxnSpLocks noChangeShapeType="1"/>
            </p:cNvCxnSpPr>
            <p:nvPr/>
          </p:nvCxnSpPr>
          <p:spPr bwMode="auto">
            <a:xfrm>
              <a:off x="6681968" y="4703833"/>
              <a:ext cx="0" cy="1345313"/>
            </a:xfrm>
            <a:prstGeom prst="straightConnector1">
              <a:avLst/>
            </a:prstGeom>
            <a:noFill/>
            <a:ln w="38100" algn="ctr">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33818" name="Conector recto de flecha 51"/>
            <p:cNvCxnSpPr>
              <a:cxnSpLocks noChangeShapeType="1"/>
            </p:cNvCxnSpPr>
            <p:nvPr/>
          </p:nvCxnSpPr>
          <p:spPr bwMode="auto">
            <a:xfrm flipV="1">
              <a:off x="4798894" y="6370697"/>
              <a:ext cx="720000" cy="0"/>
            </a:xfrm>
            <a:prstGeom prst="straightConnector1">
              <a:avLst/>
            </a:prstGeom>
            <a:noFill/>
            <a:ln w="38100" algn="ctr">
              <a:solidFill>
                <a:schemeClr val="tx1"/>
              </a:solidFill>
              <a:round/>
              <a:headEnd/>
              <a:tailEnd type="triangle" w="med" len="lg"/>
            </a:ln>
            <a:extLst>
              <a:ext uri="{909E8E84-426E-40DD-AFC4-6F175D3DCCD1}">
                <a14:hiddenFill xmlns:a14="http://schemas.microsoft.com/office/drawing/2010/main">
                  <a:noFill/>
                </a14:hiddenFill>
              </a:ext>
            </a:extLst>
          </p:spPr>
        </p:cxnSp>
      </p:grpSp>
      <p:sp>
        <p:nvSpPr>
          <p:cNvPr id="55" name="Text Box 40"/>
          <p:cNvSpPr txBox="1">
            <a:spLocks noChangeArrowheads="1"/>
          </p:cNvSpPr>
          <p:nvPr/>
        </p:nvSpPr>
        <p:spPr bwMode="auto">
          <a:xfrm>
            <a:off x="5384041" y="6106976"/>
            <a:ext cx="1615928" cy="514738"/>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a:t>
            </a:r>
            <a:r>
              <a:rPr lang="es-ES" sz="2400" baseline="-25000">
                <a:solidFill>
                  <a:srgbClr val="000000"/>
                </a:solidFill>
                <a:latin typeface="Arial" panose="020B0604020202020204" pitchFamily="34" charset="0"/>
              </a:rPr>
              <a:t>neta</a:t>
            </a:r>
            <a:r>
              <a:rPr lang="es-ES" sz="2400">
                <a:solidFill>
                  <a:srgbClr val="000000"/>
                </a:solidFill>
                <a:latin typeface="Arial" panose="020B0604020202020204" pitchFamily="34" charset="0"/>
              </a:rPr>
              <a:t> = 2Q</a:t>
            </a:r>
          </a:p>
        </p:txBody>
      </p:sp>
      <p:sp>
        <p:nvSpPr>
          <p:cNvPr id="56" name="Text Box 52"/>
          <p:cNvSpPr txBox="1">
            <a:spLocks noChangeArrowheads="1"/>
          </p:cNvSpPr>
          <p:nvPr/>
        </p:nvSpPr>
        <p:spPr bwMode="auto">
          <a:xfrm>
            <a:off x="7009295" y="6136793"/>
            <a:ext cx="930361" cy="4638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eaLnBrk="1" hangingPunct="1">
              <a:spcBef>
                <a:spcPct val="50000"/>
              </a:spcBef>
            </a:pPr>
            <a:r>
              <a:rPr lang="es-ES" sz="2400" dirty="0">
                <a:solidFill>
                  <a:schemeClr val="tx1"/>
                </a:solidFill>
                <a:sym typeface="Symbol" panose="05050102010706020507" pitchFamily="18" charset="2"/>
              </a:rPr>
              <a:t> 24</a:t>
            </a:r>
          </a:p>
        </p:txBody>
      </p:sp>
      <p:sp>
        <p:nvSpPr>
          <p:cNvPr id="4" name="Forma libre 3"/>
          <p:cNvSpPr/>
          <p:nvPr/>
        </p:nvSpPr>
        <p:spPr bwMode="auto">
          <a:xfrm>
            <a:off x="5384041" y="5293360"/>
            <a:ext cx="2073399" cy="828000"/>
          </a:xfrm>
          <a:custGeom>
            <a:avLst/>
            <a:gdLst>
              <a:gd name="connsiteX0" fmla="*/ 1422400 w 1422400"/>
              <a:gd name="connsiteY0" fmla="*/ 640080 h 640080"/>
              <a:gd name="connsiteX1" fmla="*/ 883920 w 1422400"/>
              <a:gd name="connsiteY1" fmla="*/ 0 h 640080"/>
              <a:gd name="connsiteX2" fmla="*/ 0 w 1422400"/>
              <a:gd name="connsiteY2" fmla="*/ 10160 h 640080"/>
            </a:gdLst>
            <a:ahLst/>
            <a:cxnLst>
              <a:cxn ang="0">
                <a:pos x="connsiteX0" y="connsiteY0"/>
              </a:cxn>
              <a:cxn ang="0">
                <a:pos x="connsiteX1" y="connsiteY1"/>
              </a:cxn>
              <a:cxn ang="0">
                <a:pos x="connsiteX2" y="connsiteY2"/>
              </a:cxn>
            </a:cxnLst>
            <a:rect l="l" t="t" r="r" b="b"/>
            <a:pathLst>
              <a:path w="1422400" h="640080">
                <a:moveTo>
                  <a:pt x="1422400" y="640080"/>
                </a:moveTo>
                <a:lnTo>
                  <a:pt x="883920" y="0"/>
                </a:lnTo>
                <a:lnTo>
                  <a:pt x="0" y="10160"/>
                </a:lnTo>
              </a:path>
            </a:pathLst>
          </a:custGeom>
          <a:noFill/>
          <a:ln w="38100" cap="flat" cmpd="sng" algn="ctr">
            <a:solidFill>
              <a:schemeClr val="tx1"/>
            </a:solidFill>
            <a:prstDash val="solid"/>
            <a:round/>
            <a:headEnd type="triangle" w="med" len="med"/>
            <a:tailEnd type="triangle" w="med" len="med"/>
          </a:ln>
          <a:effec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20" name="CuadroTexto 19"/>
          <p:cNvSpPr txBox="1">
            <a:spLocks noChangeArrowheads="1"/>
          </p:cNvSpPr>
          <p:nvPr/>
        </p:nvSpPr>
        <p:spPr bwMode="auto">
          <a:xfrm>
            <a:off x="6568412" y="5049046"/>
            <a:ext cx="731070" cy="5147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72000" anchor="ctr" anchorCtr="1">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r>
              <a:rPr lang="es-ES" sz="2400" b="1">
                <a:solidFill>
                  <a:schemeClr val="tx1"/>
                </a:solidFill>
              </a:rPr>
              <a:t>Ok!</a:t>
            </a:r>
          </a:p>
        </p:txBody>
      </p:sp>
    </p:spTree>
    <p:extLst>
      <p:ext uri="{BB962C8B-B14F-4D97-AF65-F5344CB8AC3E}">
        <p14:creationId xmlns:p14="http://schemas.microsoft.com/office/powerpoint/2010/main" val="5165660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right)">
                                      <p:cBhvr>
                                        <p:cTn id="8" dur="500"/>
                                        <p:tgtEl>
                                          <p:spTgt spid="33"/>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4381"/>
                                        </p:tgtEl>
                                        <p:attrNameLst>
                                          <p:attrName>style.visibility</p:attrName>
                                        </p:attrNameLst>
                                      </p:cBhvr>
                                      <p:to>
                                        <p:strVal val="visible"/>
                                      </p:to>
                                    </p:set>
                                    <p:animEffect transition="in" filter="blinds(vertical)">
                                      <p:cBhvr>
                                        <p:cTn id="13" dur="500"/>
                                        <p:tgtEl>
                                          <p:spTgt spid="1438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4383"/>
                                        </p:tgtEl>
                                        <p:attrNameLst>
                                          <p:attrName>style.visibility</p:attrName>
                                        </p:attrNameLst>
                                      </p:cBhvr>
                                      <p:to>
                                        <p:strVal val="visible"/>
                                      </p:to>
                                    </p:set>
                                    <p:animEffect transition="in" filter="dissolve">
                                      <p:cBhvr>
                                        <p:cTn id="18" dur="500"/>
                                        <p:tgtEl>
                                          <p:spTgt spid="14383"/>
                                        </p:tgtEl>
                                      </p:cBhvr>
                                    </p:animEffect>
                                  </p:childTnLst>
                                </p:cTn>
                              </p:par>
                            </p:childTnLst>
                          </p:cTn>
                        </p:par>
                        <p:par>
                          <p:cTn id="19" fill="hold" nodeType="withGroup">
                            <p:stCondLst>
                              <p:cond delay="500"/>
                            </p:stCondLst>
                            <p:childTnLst>
                              <p:par>
                                <p:cTn id="20" presetID="9" presetClass="entr" presetSubtype="0" fill="hold" nodeType="afterEffect">
                                  <p:stCondLst>
                                    <p:cond delay="0"/>
                                  </p:stCondLst>
                                  <p:childTnLst>
                                    <p:set>
                                      <p:cBhvr>
                                        <p:cTn id="21" dur="1" fill="hold">
                                          <p:stCondLst>
                                            <p:cond delay="0"/>
                                          </p:stCondLst>
                                        </p:cTn>
                                        <p:tgtEl>
                                          <p:spTgt spid="14382"/>
                                        </p:tgtEl>
                                        <p:attrNameLst>
                                          <p:attrName>style.visibility</p:attrName>
                                        </p:attrNameLst>
                                      </p:cBhvr>
                                      <p:to>
                                        <p:strVal val="visible"/>
                                      </p:to>
                                    </p:set>
                                    <p:animEffect transition="in" filter="dissolve">
                                      <p:cBhvr>
                                        <p:cTn id="22" dur="500"/>
                                        <p:tgtEl>
                                          <p:spTgt spid="1438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262174"/>
                                        </p:tgtEl>
                                        <p:attrNameLst>
                                          <p:attrName>style.visibility</p:attrName>
                                        </p:attrNameLst>
                                      </p:cBhvr>
                                      <p:to>
                                        <p:strVal val="visible"/>
                                      </p:to>
                                    </p:set>
                                    <p:anim calcmode="lin" valueType="num">
                                      <p:cBhvr>
                                        <p:cTn id="27" dur="500" fill="hold"/>
                                        <p:tgtEl>
                                          <p:spTgt spid="262174"/>
                                        </p:tgtEl>
                                        <p:attrNameLst>
                                          <p:attrName>ppt_w</p:attrName>
                                        </p:attrNameLst>
                                      </p:cBhvr>
                                      <p:tavLst>
                                        <p:tav tm="0">
                                          <p:val>
                                            <p:fltVal val="0"/>
                                          </p:val>
                                        </p:tav>
                                        <p:tav tm="100000">
                                          <p:val>
                                            <p:strVal val="#ppt_w"/>
                                          </p:val>
                                        </p:tav>
                                      </p:tavLst>
                                    </p:anim>
                                    <p:anim calcmode="lin" valueType="num">
                                      <p:cBhvr>
                                        <p:cTn id="28" dur="500" fill="hold"/>
                                        <p:tgtEl>
                                          <p:spTgt spid="262174"/>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1" presetClass="entr" presetSubtype="4" fill="hold" grpId="0" nodeType="click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wheel(4)">
                                      <p:cBhvr>
                                        <p:cTn id="33" dur="500"/>
                                        <p:tgtEl>
                                          <p:spTgt spid="3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down)">
                                      <p:cBhvr>
                                        <p:cTn id="38" dur="500"/>
                                        <p:tgtEl>
                                          <p:spTgt spid="1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3821"/>
                                        </p:tgtEl>
                                        <p:attrNameLst>
                                          <p:attrName>style.visibility</p:attrName>
                                        </p:attrNameLst>
                                      </p:cBhvr>
                                      <p:to>
                                        <p:strVal val="visible"/>
                                      </p:to>
                                    </p:set>
                                    <p:animEffect transition="in" filter="wipe(left)">
                                      <p:cBhvr>
                                        <p:cTn id="43" dur="500"/>
                                        <p:tgtEl>
                                          <p:spTgt spid="3382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grpId="0" nodeType="clickEffect">
                                  <p:stCondLst>
                                    <p:cond delay="0"/>
                                  </p:stCondLst>
                                  <p:childTnLst>
                                    <p:set>
                                      <p:cBhvr>
                                        <p:cTn id="47" dur="1" fill="hold">
                                          <p:stCondLst>
                                            <p:cond delay="0"/>
                                          </p:stCondLst>
                                        </p:cTn>
                                        <p:tgtEl>
                                          <p:spTgt spid="262175"/>
                                        </p:tgtEl>
                                        <p:attrNameLst>
                                          <p:attrName>style.visibility</p:attrName>
                                        </p:attrNameLst>
                                      </p:cBhvr>
                                      <p:to>
                                        <p:strVal val="visible"/>
                                      </p:to>
                                    </p:set>
                                    <p:anim calcmode="lin" valueType="num">
                                      <p:cBhvr>
                                        <p:cTn id="48" dur="500" fill="hold"/>
                                        <p:tgtEl>
                                          <p:spTgt spid="262175"/>
                                        </p:tgtEl>
                                        <p:attrNameLst>
                                          <p:attrName>ppt_w</p:attrName>
                                        </p:attrNameLst>
                                      </p:cBhvr>
                                      <p:tavLst>
                                        <p:tav tm="0">
                                          <p:val>
                                            <p:fltVal val="0"/>
                                          </p:val>
                                        </p:tav>
                                        <p:tav tm="100000">
                                          <p:val>
                                            <p:strVal val="#ppt_w"/>
                                          </p:val>
                                        </p:tav>
                                      </p:tavLst>
                                    </p:anim>
                                    <p:anim calcmode="lin" valueType="num">
                                      <p:cBhvr>
                                        <p:cTn id="49" dur="500" fill="hold"/>
                                        <p:tgtEl>
                                          <p:spTgt spid="262175"/>
                                        </p:tgtEl>
                                        <p:attrNameLst>
                                          <p:attrName>ppt_h</p:attrName>
                                        </p:attrNameLst>
                                      </p:cBhvr>
                                      <p:tavLst>
                                        <p:tav tm="0">
                                          <p:val>
                                            <p:fltVal val="0"/>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1" presetClass="entr" presetSubtype="4" fill="hold" grpId="0"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wheel(4)">
                                      <p:cBhvr>
                                        <p:cTn id="54" dur="500"/>
                                        <p:tgtEl>
                                          <p:spTgt spid="3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4"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wipe(down)">
                                      <p:cBhvr>
                                        <p:cTn id="59" dur="500"/>
                                        <p:tgtEl>
                                          <p:spTgt spid="1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33822"/>
                                        </p:tgtEl>
                                        <p:attrNameLst>
                                          <p:attrName>style.visibility</p:attrName>
                                        </p:attrNameLst>
                                      </p:cBhvr>
                                      <p:to>
                                        <p:strVal val="visible"/>
                                      </p:to>
                                    </p:set>
                                    <p:animEffect transition="in" filter="wipe(left)">
                                      <p:cBhvr>
                                        <p:cTn id="64" dur="500"/>
                                        <p:tgtEl>
                                          <p:spTgt spid="3382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14395"/>
                                        </p:tgtEl>
                                        <p:attrNameLst>
                                          <p:attrName>style.visibility</p:attrName>
                                        </p:attrNameLst>
                                      </p:cBhvr>
                                      <p:to>
                                        <p:strVal val="visible"/>
                                      </p:to>
                                    </p:set>
                                    <p:animEffect transition="in" filter="wipe(up)">
                                      <p:cBhvr>
                                        <p:cTn id="69" dur="500"/>
                                        <p:tgtEl>
                                          <p:spTgt spid="1439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2" presetClass="entr" presetSubtype="4" fill="hold" grpId="0" nodeType="clickEffect">
                                  <p:stCondLst>
                                    <p:cond delay="0"/>
                                  </p:stCondLst>
                                  <p:childTnLst>
                                    <p:set>
                                      <p:cBhvr>
                                        <p:cTn id="73" dur="1" fill="hold">
                                          <p:stCondLst>
                                            <p:cond delay="0"/>
                                          </p:stCondLst>
                                        </p:cTn>
                                        <p:tgtEl>
                                          <p:spTgt spid="262184"/>
                                        </p:tgtEl>
                                        <p:attrNameLst>
                                          <p:attrName>style.visibility</p:attrName>
                                        </p:attrNameLst>
                                      </p:cBhvr>
                                      <p:to>
                                        <p:strVal val="visible"/>
                                      </p:to>
                                    </p:set>
                                    <p:anim calcmode="lin" valueType="num">
                                      <p:cBhvr additive="base">
                                        <p:cTn id="74" dur="500"/>
                                        <p:tgtEl>
                                          <p:spTgt spid="262184"/>
                                        </p:tgtEl>
                                        <p:attrNameLst>
                                          <p:attrName>ppt_y</p:attrName>
                                        </p:attrNameLst>
                                      </p:cBhvr>
                                      <p:tavLst>
                                        <p:tav tm="0">
                                          <p:val>
                                            <p:strVal val="#ppt_y+#ppt_h*1.125000"/>
                                          </p:val>
                                        </p:tav>
                                        <p:tav tm="100000">
                                          <p:val>
                                            <p:strVal val="#ppt_y"/>
                                          </p:val>
                                        </p:tav>
                                      </p:tavLst>
                                    </p:anim>
                                    <p:animEffect transition="in" filter="wipe(up)">
                                      <p:cBhvr>
                                        <p:cTn id="75" dur="500"/>
                                        <p:tgtEl>
                                          <p:spTgt spid="262184"/>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8" presetClass="entr" presetSubtype="6" fill="hold" nodeType="click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strips(downRight)">
                                      <p:cBhvr>
                                        <p:cTn id="80" dur="500"/>
                                        <p:tgtEl>
                                          <p:spTgt spid="22"/>
                                        </p:tgtEl>
                                      </p:cBhvr>
                                    </p:animEffect>
                                  </p:childTnLst>
                                </p:cTn>
                              </p:par>
                            </p:childTnLst>
                          </p:cTn>
                        </p:par>
                        <p:par>
                          <p:cTn id="81" fill="hold" nodeType="withGroup">
                            <p:stCondLst>
                              <p:cond delay="500"/>
                            </p:stCondLst>
                            <p:childTnLst>
                              <p:par>
                                <p:cTn id="82" presetID="18" presetClass="entr" presetSubtype="6" fill="hold" grpId="0" nodeType="afterEffect">
                                  <p:stCondLst>
                                    <p:cond delay="0"/>
                                  </p:stCondLst>
                                  <p:childTnLst>
                                    <p:set>
                                      <p:cBhvr>
                                        <p:cTn id="83" dur="1" fill="hold">
                                          <p:stCondLst>
                                            <p:cond delay="0"/>
                                          </p:stCondLst>
                                        </p:cTn>
                                        <p:tgtEl>
                                          <p:spTgt spid="55"/>
                                        </p:tgtEl>
                                        <p:attrNameLst>
                                          <p:attrName>style.visibility</p:attrName>
                                        </p:attrNameLst>
                                      </p:cBhvr>
                                      <p:to>
                                        <p:strVal val="visible"/>
                                      </p:to>
                                    </p:set>
                                    <p:animEffect transition="in" filter="strips(downRight)">
                                      <p:cBhvr>
                                        <p:cTn id="84" dur="500"/>
                                        <p:tgtEl>
                                          <p:spTgt spid="55"/>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56"/>
                                        </p:tgtEl>
                                        <p:attrNameLst>
                                          <p:attrName>style.visibility</p:attrName>
                                        </p:attrNameLst>
                                      </p:cBhvr>
                                      <p:to>
                                        <p:strVal val="visible"/>
                                      </p:to>
                                    </p:set>
                                    <p:animEffect transition="in" filter="wipe(left)">
                                      <p:cBhvr>
                                        <p:cTn id="89" dur="500"/>
                                        <p:tgtEl>
                                          <p:spTgt spid="56"/>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1" presetClass="entr" presetSubtype="4" fill="hold" grpId="0" nodeType="clickEffect">
                                  <p:stCondLst>
                                    <p:cond delay="0"/>
                                  </p:stCondLst>
                                  <p:childTnLst>
                                    <p:set>
                                      <p:cBhvr>
                                        <p:cTn id="93" dur="1" fill="hold">
                                          <p:stCondLst>
                                            <p:cond delay="0"/>
                                          </p:stCondLst>
                                        </p:cTn>
                                        <p:tgtEl>
                                          <p:spTgt spid="262181"/>
                                        </p:tgtEl>
                                        <p:attrNameLst>
                                          <p:attrName>style.visibility</p:attrName>
                                        </p:attrNameLst>
                                      </p:cBhvr>
                                      <p:to>
                                        <p:strVal val="visible"/>
                                      </p:to>
                                    </p:set>
                                    <p:animEffect transition="in" filter="wheel(4)">
                                      <p:cBhvr>
                                        <p:cTn id="94" dur="500"/>
                                        <p:tgtEl>
                                          <p:spTgt spid="262181"/>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1" fill="hold" nodeType="clickEffect">
                                  <p:stCondLst>
                                    <p:cond delay="0"/>
                                  </p:stCondLst>
                                  <p:childTnLst>
                                    <p:set>
                                      <p:cBhvr>
                                        <p:cTn id="98" dur="1" fill="hold">
                                          <p:stCondLst>
                                            <p:cond delay="0"/>
                                          </p:stCondLst>
                                        </p:cTn>
                                        <p:tgtEl>
                                          <p:spTgt spid="15"/>
                                        </p:tgtEl>
                                        <p:attrNameLst>
                                          <p:attrName>style.visibility</p:attrName>
                                        </p:attrNameLst>
                                      </p:cBhvr>
                                      <p:to>
                                        <p:strVal val="visible"/>
                                      </p:to>
                                    </p:set>
                                    <p:animEffect transition="in" filter="wipe(up)">
                                      <p:cBhvr>
                                        <p:cTn id="99" dur="500"/>
                                        <p:tgtEl>
                                          <p:spTgt spid="15"/>
                                        </p:tgtEl>
                                      </p:cBhvr>
                                    </p:animEffect>
                                  </p:childTnLst>
                                </p:cTn>
                              </p:par>
                            </p:childTnLst>
                          </p:cTn>
                        </p:par>
                      </p:childTnLst>
                    </p:cTn>
                  </p:par>
                  <p:par>
                    <p:cTn id="100" fill="hold">
                      <p:stCondLst>
                        <p:cond delay="indefinite"/>
                      </p:stCondLst>
                      <p:childTnLst>
                        <p:par>
                          <p:cTn id="101" fill="hold">
                            <p:stCondLst>
                              <p:cond delay="0"/>
                            </p:stCondLst>
                            <p:childTnLst>
                              <p:par>
                                <p:cTn id="102" presetID="16" presetClass="entr" presetSubtype="37" fill="hold" grpId="0" nodeType="clickEffect">
                                  <p:stCondLst>
                                    <p:cond delay="0"/>
                                  </p:stCondLst>
                                  <p:childTnLst>
                                    <p:set>
                                      <p:cBhvr>
                                        <p:cTn id="103" dur="1" fill="hold">
                                          <p:stCondLst>
                                            <p:cond delay="0"/>
                                          </p:stCondLst>
                                        </p:cTn>
                                        <p:tgtEl>
                                          <p:spTgt spid="4"/>
                                        </p:tgtEl>
                                        <p:attrNameLst>
                                          <p:attrName>style.visibility</p:attrName>
                                        </p:attrNameLst>
                                      </p:cBhvr>
                                      <p:to>
                                        <p:strVal val="visible"/>
                                      </p:to>
                                    </p:set>
                                    <p:animEffect transition="in" filter="barn(outVertical)">
                                      <p:cBhvr>
                                        <p:cTn id="104" dur="500"/>
                                        <p:tgtEl>
                                          <p:spTgt spid="4"/>
                                        </p:tgtEl>
                                      </p:cBhvr>
                                    </p:animEffect>
                                  </p:childTnLst>
                                </p:cTn>
                              </p:par>
                            </p:childTnLst>
                          </p:cTn>
                        </p:par>
                        <p:par>
                          <p:cTn id="105" fill="hold">
                            <p:stCondLst>
                              <p:cond delay="500"/>
                            </p:stCondLst>
                            <p:childTnLst>
                              <p:par>
                                <p:cTn id="106" presetID="53" presetClass="entr" presetSubtype="16" fill="hold" grpId="0" nodeType="afterEffect">
                                  <p:stCondLst>
                                    <p:cond delay="0"/>
                                  </p:stCondLst>
                                  <p:childTnLst>
                                    <p:set>
                                      <p:cBhvr>
                                        <p:cTn id="107" dur="1" fill="hold">
                                          <p:stCondLst>
                                            <p:cond delay="0"/>
                                          </p:stCondLst>
                                        </p:cTn>
                                        <p:tgtEl>
                                          <p:spTgt spid="20"/>
                                        </p:tgtEl>
                                        <p:attrNameLst>
                                          <p:attrName>style.visibility</p:attrName>
                                        </p:attrNameLst>
                                      </p:cBhvr>
                                      <p:to>
                                        <p:strVal val="visible"/>
                                      </p:to>
                                    </p:set>
                                    <p:anim calcmode="lin" valueType="num">
                                      <p:cBhvr>
                                        <p:cTn id="108" dur="500" fill="hold"/>
                                        <p:tgtEl>
                                          <p:spTgt spid="20"/>
                                        </p:tgtEl>
                                        <p:attrNameLst>
                                          <p:attrName>ppt_w</p:attrName>
                                        </p:attrNameLst>
                                      </p:cBhvr>
                                      <p:tavLst>
                                        <p:tav tm="0">
                                          <p:val>
                                            <p:fltVal val="0"/>
                                          </p:val>
                                        </p:tav>
                                        <p:tav tm="100000">
                                          <p:val>
                                            <p:strVal val="#ppt_w"/>
                                          </p:val>
                                        </p:tav>
                                      </p:tavLst>
                                    </p:anim>
                                    <p:anim calcmode="lin" valueType="num">
                                      <p:cBhvr>
                                        <p:cTn id="109" dur="500" fill="hold"/>
                                        <p:tgtEl>
                                          <p:spTgt spid="20"/>
                                        </p:tgtEl>
                                        <p:attrNameLst>
                                          <p:attrName>ppt_h</p:attrName>
                                        </p:attrNameLst>
                                      </p:cBhvr>
                                      <p:tavLst>
                                        <p:tav tm="0">
                                          <p:val>
                                            <p:fltVal val="0"/>
                                          </p:val>
                                        </p:tav>
                                        <p:tav tm="100000">
                                          <p:val>
                                            <p:strVal val="#ppt_h"/>
                                          </p:val>
                                        </p:tav>
                                      </p:tavLst>
                                    </p:anim>
                                    <p:animEffect transition="in" filter="fade">
                                      <p:cBhvr>
                                        <p:cTn id="110" dur="500"/>
                                        <p:tgtEl>
                                          <p:spTgt spid="20"/>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5" fill="hold" grpId="0" nodeType="clickEffect">
                                  <p:stCondLst>
                                    <p:cond delay="0"/>
                                  </p:stCondLst>
                                  <p:childTnLst>
                                    <p:set>
                                      <p:cBhvr>
                                        <p:cTn id="114" dur="1" fill="hold">
                                          <p:stCondLst>
                                            <p:cond delay="0"/>
                                          </p:stCondLst>
                                        </p:cTn>
                                        <p:tgtEl>
                                          <p:spTgt spid="14398"/>
                                        </p:tgtEl>
                                        <p:attrNameLst>
                                          <p:attrName>style.visibility</p:attrName>
                                        </p:attrNameLst>
                                      </p:cBhvr>
                                      <p:to>
                                        <p:strVal val="visible"/>
                                      </p:to>
                                    </p:set>
                                    <p:animEffect transition="in" filter="blinds(vertical)">
                                      <p:cBhvr>
                                        <p:cTn id="115" dur="500"/>
                                        <p:tgtEl>
                                          <p:spTgt spid="14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81" grpId="0" animBg="1"/>
      <p:bldP spid="262174" grpId="0" animBg="1"/>
      <p:bldP spid="262175" grpId="0" animBg="1"/>
      <p:bldP spid="262181" grpId="0" animBg="1"/>
      <p:bldP spid="262184" grpId="0" animBg="1"/>
      <p:bldP spid="33821" grpId="0"/>
      <p:bldP spid="33822" grpId="0"/>
      <p:bldP spid="14398" grpId="0" animBg="1"/>
      <p:bldP spid="33" grpId="0" animBg="1"/>
      <p:bldP spid="34" grpId="0" animBg="1"/>
      <p:bldP spid="35" grpId="0" animBg="1"/>
      <p:bldP spid="55" grpId="0" animBg="1"/>
      <p:bldP spid="56" grpId="0"/>
      <p:bldP spid="4"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4" descr="lineas3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4507" y="2011938"/>
            <a:ext cx="2833687"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8" name="Text Box 7"/>
          <p:cNvSpPr txBox="1">
            <a:spLocks noChangeArrowheads="1"/>
          </p:cNvSpPr>
          <p:nvPr/>
        </p:nvSpPr>
        <p:spPr bwMode="auto">
          <a:xfrm>
            <a:off x="4398953" y="437144"/>
            <a:ext cx="5643747" cy="884070"/>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sym typeface="Wingdings" panose="05000000000000000000" pitchFamily="2" charset="2"/>
              </a:rPr>
              <a:t>La densidad de líneas es proporcional al valor del campo</a:t>
            </a:r>
          </a:p>
        </p:txBody>
      </p:sp>
      <p:sp>
        <p:nvSpPr>
          <p:cNvPr id="75804" name="Text Box 21"/>
          <p:cNvSpPr txBox="1">
            <a:spLocks noChangeArrowheads="1"/>
          </p:cNvSpPr>
          <p:nvPr/>
        </p:nvSpPr>
        <p:spPr bwMode="auto">
          <a:xfrm>
            <a:off x="1335986" y="5556558"/>
            <a:ext cx="4325113" cy="795663"/>
          </a:xfrm>
          <a:prstGeom prst="rect">
            <a:avLst/>
          </a:prstGeom>
          <a:solidFill>
            <a:srgbClr val="008000"/>
          </a:solidFill>
          <a:ln>
            <a:noFill/>
          </a:ln>
        </p:spPr>
        <p:txBody>
          <a:bodyPr wrap="square" lIns="126000" tIns="82800" rIns="126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ct val="90000"/>
              </a:lnSpc>
              <a:spcBef>
                <a:spcPts val="0"/>
              </a:spcBef>
              <a:buFontTx/>
              <a:buNone/>
              <a:defRPr/>
            </a:pPr>
            <a:r>
              <a:rPr lang="es-ES" sz="2400" dirty="0">
                <a:solidFill>
                  <a:srgbClr val="FFFFFF"/>
                </a:solidFill>
                <a:latin typeface="Arial" panose="020B0604020202020204" pitchFamily="34" charset="0"/>
              </a:rPr>
              <a:t>Campo uniforme</a:t>
            </a:r>
          </a:p>
          <a:p>
            <a:pPr algn="ctr" eaLnBrk="1" hangingPunct="1">
              <a:lnSpc>
                <a:spcPct val="90000"/>
              </a:lnSpc>
              <a:spcBef>
                <a:spcPts val="0"/>
              </a:spcBef>
              <a:buFontTx/>
              <a:buNone/>
              <a:defRPr/>
            </a:pPr>
            <a:r>
              <a:rPr lang="es-ES" sz="2400" dirty="0">
                <a:solidFill>
                  <a:srgbClr val="FFFFFF"/>
                </a:solidFill>
                <a:latin typeface="Arial" panose="020B0604020202020204" pitchFamily="34" charset="0"/>
              </a:rPr>
              <a:t>(constante en el espacio)</a:t>
            </a:r>
          </a:p>
        </p:txBody>
      </p:sp>
      <p:grpSp>
        <p:nvGrpSpPr>
          <p:cNvPr id="7" name="Grupo 6"/>
          <p:cNvGrpSpPr/>
          <p:nvPr/>
        </p:nvGrpSpPr>
        <p:grpSpPr>
          <a:xfrm>
            <a:off x="6851490" y="3658798"/>
            <a:ext cx="3449637" cy="1004450"/>
            <a:chOff x="6851490" y="3513685"/>
            <a:chExt cx="3449637" cy="1004450"/>
          </a:xfrm>
        </p:grpSpPr>
        <p:sp>
          <p:nvSpPr>
            <p:cNvPr id="35874" name="Text Box 32"/>
            <p:cNvSpPr txBox="1">
              <a:spLocks noChangeArrowheads="1"/>
            </p:cNvSpPr>
            <p:nvPr/>
          </p:nvSpPr>
          <p:spPr bwMode="auto">
            <a:xfrm>
              <a:off x="7467440" y="3684957"/>
              <a:ext cx="2833687"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solidFill>
                    <a:srgbClr val="3333FF"/>
                  </a:solidFill>
                  <a:latin typeface="Arial" panose="020B0604020202020204" pitchFamily="34" charset="0"/>
                </a:rPr>
                <a:t>Más </a:t>
              </a:r>
              <a:r>
                <a:rPr lang="es-ES" sz="2400">
                  <a:solidFill>
                    <a:srgbClr val="3333FF"/>
                  </a:solidFill>
                  <a:latin typeface="Arial" panose="020B0604020202020204" pitchFamily="34" charset="0"/>
                </a:rPr>
                <a:t>intenso cerca (están más juntas)</a:t>
              </a:r>
              <a:endParaRPr lang="es-ES" sz="2400" dirty="0">
                <a:solidFill>
                  <a:srgbClr val="3333FF"/>
                </a:solidFill>
                <a:latin typeface="Arial" panose="020B0604020202020204" pitchFamily="34" charset="0"/>
              </a:endParaRPr>
            </a:p>
          </p:txBody>
        </p:sp>
        <p:sp>
          <p:nvSpPr>
            <p:cNvPr id="35875" name="Line 33"/>
            <p:cNvSpPr>
              <a:spLocks noChangeShapeType="1"/>
            </p:cNvSpPr>
            <p:nvPr/>
          </p:nvSpPr>
          <p:spPr bwMode="auto">
            <a:xfrm flipH="1" flipV="1">
              <a:off x="6851490" y="3513685"/>
              <a:ext cx="615950" cy="269415"/>
            </a:xfrm>
            <a:prstGeom prst="line">
              <a:avLst/>
            </a:prstGeom>
            <a:noFill/>
            <a:ln w="38100">
              <a:solidFill>
                <a:srgbClr val="3333FF"/>
              </a:solidFill>
              <a:round/>
              <a:headEnd type="triangle" w="med" len="lg"/>
              <a:tailEnd type="oval"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grpSp>
      <p:grpSp>
        <p:nvGrpSpPr>
          <p:cNvPr id="6" name="Grupo 5"/>
          <p:cNvGrpSpPr/>
          <p:nvPr/>
        </p:nvGrpSpPr>
        <p:grpSpPr>
          <a:xfrm>
            <a:off x="6957852" y="2180835"/>
            <a:ext cx="3408620" cy="1202510"/>
            <a:chOff x="6957852" y="2035722"/>
            <a:chExt cx="3408620" cy="1202510"/>
          </a:xfrm>
        </p:grpSpPr>
        <p:sp>
          <p:nvSpPr>
            <p:cNvPr id="35876" name="Text Box 34"/>
            <p:cNvSpPr txBox="1">
              <a:spLocks noChangeArrowheads="1"/>
            </p:cNvSpPr>
            <p:nvPr/>
          </p:nvSpPr>
          <p:spPr bwMode="auto">
            <a:xfrm>
              <a:off x="7467439" y="2035722"/>
              <a:ext cx="2899033"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3333FF"/>
                  </a:solidFill>
                  <a:latin typeface="Arial" panose="020B0604020202020204" pitchFamily="34" charset="0"/>
                </a:rPr>
                <a:t>Menos intenso lejos (están más separadas)</a:t>
              </a:r>
            </a:p>
          </p:txBody>
        </p:sp>
        <p:sp>
          <p:nvSpPr>
            <p:cNvPr id="35877" name="Line 35"/>
            <p:cNvSpPr>
              <a:spLocks noChangeShapeType="1"/>
            </p:cNvSpPr>
            <p:nvPr/>
          </p:nvSpPr>
          <p:spPr bwMode="auto">
            <a:xfrm flipH="1" flipV="1">
              <a:off x="6957852" y="2153197"/>
              <a:ext cx="509588" cy="80963"/>
            </a:xfrm>
            <a:prstGeom prst="line">
              <a:avLst/>
            </a:prstGeom>
            <a:noFill/>
            <a:ln w="38100">
              <a:solidFill>
                <a:srgbClr val="0000FF"/>
              </a:solidFill>
              <a:round/>
              <a:headEnd type="triangle" w="med" len="lg"/>
              <a:tailEnd type="oval"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grpSp>
      <p:sp>
        <p:nvSpPr>
          <p:cNvPr id="35859" name="Text Box 61"/>
          <p:cNvSpPr txBox="1">
            <a:spLocks noChangeArrowheads="1"/>
          </p:cNvSpPr>
          <p:nvPr/>
        </p:nvSpPr>
        <p:spPr bwMode="auto">
          <a:xfrm>
            <a:off x="7867748" y="5615987"/>
            <a:ext cx="2498725" cy="12017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lIns="90000" tIns="46800" rIns="90000" bIns="46800">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algn="ctr" eaLnBrk="1" hangingPunct="1">
              <a:spcBef>
                <a:spcPct val="50000"/>
              </a:spcBef>
            </a:pPr>
            <a:r>
              <a:rPr lang="es-ES" sz="2400">
                <a:solidFill>
                  <a:srgbClr val="008000"/>
                </a:solidFill>
              </a:rPr>
              <a:t>Líneas paralelas y equiespaciadas</a:t>
            </a:r>
          </a:p>
        </p:txBody>
      </p:sp>
      <p:sp>
        <p:nvSpPr>
          <p:cNvPr id="37" name="Text Box 10"/>
          <p:cNvSpPr txBox="1">
            <a:spLocks noChangeArrowheads="1"/>
          </p:cNvSpPr>
          <p:nvPr/>
        </p:nvSpPr>
        <p:spPr bwMode="auto">
          <a:xfrm>
            <a:off x="1335986" y="421976"/>
            <a:ext cx="2305050" cy="514738"/>
          </a:xfrm>
          <a:prstGeom prst="rect">
            <a:avLst/>
          </a:prstGeom>
          <a:solidFill>
            <a:srgbClr val="66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b="1">
                <a:solidFill>
                  <a:srgbClr val="FFFFFF"/>
                </a:solidFill>
                <a:latin typeface="Arial" panose="020B0604020202020204" pitchFamily="34" charset="0"/>
                <a:sym typeface="Wingdings" panose="05000000000000000000" pitchFamily="2" charset="2"/>
              </a:rPr>
              <a:t>PROPIEDAD 4</a:t>
            </a:r>
            <a:endParaRPr lang="es-ES" sz="2400">
              <a:solidFill>
                <a:srgbClr val="FFFFFF"/>
              </a:solidFill>
              <a:latin typeface="Arial" panose="020B0604020202020204" pitchFamily="34" charset="0"/>
              <a:sym typeface="Wingdings" panose="05000000000000000000" pitchFamily="2" charset="2"/>
            </a:endParaRPr>
          </a:p>
        </p:txBody>
      </p:sp>
      <p:sp>
        <p:nvSpPr>
          <p:cNvPr id="35879" name="Text Box 42"/>
          <p:cNvSpPr txBox="1">
            <a:spLocks noChangeArrowheads="1"/>
          </p:cNvSpPr>
          <p:nvPr/>
        </p:nvSpPr>
        <p:spPr bwMode="auto">
          <a:xfrm>
            <a:off x="1335986" y="2063350"/>
            <a:ext cx="2782890"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solidFill>
                  <a:srgbClr val="3333FF"/>
                </a:solidFill>
                <a:latin typeface="Arial" panose="020B0604020202020204" pitchFamily="34" charset="0"/>
              </a:rPr>
              <a:t>Menos intenso</a:t>
            </a:r>
          </a:p>
          <a:p>
            <a:pPr algn="ctr" eaLnBrk="1" hangingPunct="1">
              <a:spcBef>
                <a:spcPts val="0"/>
              </a:spcBef>
              <a:buFontTx/>
              <a:buNone/>
            </a:pPr>
            <a:r>
              <a:rPr lang="es-ES" sz="2400">
                <a:solidFill>
                  <a:srgbClr val="3333FF"/>
                </a:solidFill>
                <a:latin typeface="Arial" panose="020B0604020202020204" pitchFamily="34" charset="0"/>
              </a:rPr>
              <a:t>(no hay líneas)</a:t>
            </a:r>
            <a:endParaRPr lang="es-ES" sz="2400" dirty="0">
              <a:solidFill>
                <a:srgbClr val="3333FF"/>
              </a:solidFill>
              <a:latin typeface="Arial" panose="020B0604020202020204" pitchFamily="34" charset="0"/>
            </a:endParaRPr>
          </a:p>
        </p:txBody>
      </p:sp>
      <p:grpSp>
        <p:nvGrpSpPr>
          <p:cNvPr id="5" name="Grupo 4">
            <a:extLst>
              <a:ext uri="{FF2B5EF4-FFF2-40B4-BE49-F238E27FC236}">
                <a16:creationId xmlns:a16="http://schemas.microsoft.com/office/drawing/2014/main" id="{F0BE0F9F-0AA4-49BE-BB4F-BCBD3041F9B9}"/>
              </a:ext>
            </a:extLst>
          </p:cNvPr>
          <p:cNvGrpSpPr/>
          <p:nvPr/>
        </p:nvGrpSpPr>
        <p:grpSpPr>
          <a:xfrm>
            <a:off x="3883631" y="2486346"/>
            <a:ext cx="1911647" cy="986770"/>
            <a:chOff x="3883631" y="2615553"/>
            <a:chExt cx="1911647" cy="986770"/>
          </a:xfrm>
        </p:grpSpPr>
        <p:sp>
          <p:nvSpPr>
            <p:cNvPr id="35878" name="Line 41"/>
            <p:cNvSpPr>
              <a:spLocks noChangeShapeType="1"/>
            </p:cNvSpPr>
            <p:nvPr/>
          </p:nvSpPr>
          <p:spPr bwMode="auto">
            <a:xfrm>
              <a:off x="5553978" y="2956210"/>
              <a:ext cx="241300" cy="646113"/>
            </a:xfrm>
            <a:prstGeom prst="line">
              <a:avLst/>
            </a:prstGeom>
            <a:noFill/>
            <a:ln w="38100">
              <a:solidFill>
                <a:srgbClr val="0000FF"/>
              </a:solidFill>
              <a:round/>
              <a:headEnd/>
              <a:tailEnd type="oval"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cxnSp>
          <p:nvCxnSpPr>
            <p:cNvPr id="4" name="Conector recto 3"/>
            <p:cNvCxnSpPr>
              <a:cxnSpLocks/>
              <a:stCxn id="35878" idx="0"/>
            </p:cNvCxnSpPr>
            <p:nvPr/>
          </p:nvCxnSpPr>
          <p:spPr bwMode="auto">
            <a:xfrm flipH="1" flipV="1">
              <a:off x="3883631" y="2615553"/>
              <a:ext cx="1670347" cy="340657"/>
            </a:xfrm>
            <a:prstGeom prst="line">
              <a:avLst/>
            </a:prstGeom>
            <a:noFill/>
            <a:ln w="38100" cap="flat" cmpd="sng" algn="ctr">
              <a:solidFill>
                <a:srgbClr val="3333FF"/>
              </a:solidFill>
              <a:prstDash val="solid"/>
              <a:round/>
              <a:headEnd type="none" w="med" len="med"/>
              <a:tailEnd type="triangle" w="med" len="lg"/>
            </a:ln>
            <a:effectLst/>
          </p:spPr>
        </p:cxnSp>
      </p:grpSp>
      <p:sp>
        <p:nvSpPr>
          <p:cNvPr id="31" name="Text Box 34"/>
          <p:cNvSpPr txBox="1">
            <a:spLocks noChangeArrowheads="1"/>
          </p:cNvSpPr>
          <p:nvPr/>
        </p:nvSpPr>
        <p:spPr bwMode="auto">
          <a:xfrm>
            <a:off x="1335986" y="1442286"/>
            <a:ext cx="8706714" cy="463846"/>
          </a:xfrm>
          <a:prstGeom prst="rect">
            <a:avLst/>
          </a:prstGeom>
          <a:solidFill>
            <a:srgbClr val="FFFF99"/>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latin typeface="Arial" panose="020B0604020202020204" pitchFamily="34" charset="0"/>
              </a:rPr>
              <a:t>Es la propiedad más útil, al dar idea del valor del campo</a:t>
            </a:r>
          </a:p>
        </p:txBody>
      </p:sp>
      <p:sp>
        <p:nvSpPr>
          <p:cNvPr id="75838" name="Text Box 62"/>
          <p:cNvSpPr txBox="1">
            <a:spLocks noChangeArrowheads="1"/>
          </p:cNvSpPr>
          <p:nvPr/>
        </p:nvSpPr>
        <p:spPr bwMode="auto">
          <a:xfrm>
            <a:off x="1335986" y="6461308"/>
            <a:ext cx="4325113" cy="4269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algn="ctr" eaLnBrk="1" hangingPunct="1">
              <a:lnSpc>
                <a:spcPct val="90000"/>
              </a:lnSpc>
              <a:spcBef>
                <a:spcPct val="50000"/>
              </a:spcBef>
            </a:pPr>
            <a:r>
              <a:rPr lang="es-ES" sz="2400" dirty="0">
                <a:solidFill>
                  <a:srgbClr val="008000"/>
                </a:solidFill>
              </a:rPr>
              <a:t>Densidad de líneas constante</a:t>
            </a:r>
          </a:p>
        </p:txBody>
      </p:sp>
      <p:sp>
        <p:nvSpPr>
          <p:cNvPr id="34" name="Text Box 42">
            <a:extLst>
              <a:ext uri="{FF2B5EF4-FFF2-40B4-BE49-F238E27FC236}">
                <a16:creationId xmlns:a16="http://schemas.microsoft.com/office/drawing/2014/main" id="{B3AB55E7-7E59-4CA0-A559-C91A99ACC6F5}"/>
              </a:ext>
            </a:extLst>
          </p:cNvPr>
          <p:cNvSpPr txBox="1">
            <a:spLocks noChangeArrowheads="1"/>
          </p:cNvSpPr>
          <p:nvPr/>
        </p:nvSpPr>
        <p:spPr bwMode="auto">
          <a:xfrm>
            <a:off x="1335986" y="2910409"/>
            <a:ext cx="2782890" cy="1941173"/>
          </a:xfrm>
          <a:prstGeom prst="rect">
            <a:avLst/>
          </a:prstGeom>
          <a:solidFill>
            <a:srgbClr val="FFFFFF"/>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latin typeface="Arial" panose="020B0604020202020204" pitchFamily="34" charset="0"/>
              </a:rPr>
              <a:t>Esto indica </a:t>
            </a:r>
            <a:r>
              <a:rPr lang="es-ES" sz="2400" dirty="0">
                <a:latin typeface="Arial" panose="020B0604020202020204" pitchFamily="34" charset="0"/>
              </a:rPr>
              <a:t>que los campos tienden a cancelarse, que las cargas son del mismo signo</a:t>
            </a:r>
          </a:p>
        </p:txBody>
      </p:sp>
      <p:grpSp>
        <p:nvGrpSpPr>
          <p:cNvPr id="9" name="Grupo 8">
            <a:extLst>
              <a:ext uri="{FF2B5EF4-FFF2-40B4-BE49-F238E27FC236}">
                <a16:creationId xmlns:a16="http://schemas.microsoft.com/office/drawing/2014/main" id="{21CA40CF-249D-EE80-3FBF-B4D066593E6F}"/>
              </a:ext>
            </a:extLst>
          </p:cNvPr>
          <p:cNvGrpSpPr/>
          <p:nvPr/>
        </p:nvGrpSpPr>
        <p:grpSpPr>
          <a:xfrm>
            <a:off x="5777394" y="5685837"/>
            <a:ext cx="1893504" cy="1073151"/>
            <a:chOff x="5777394" y="5528521"/>
            <a:chExt cx="1893504" cy="1073151"/>
          </a:xfrm>
        </p:grpSpPr>
        <p:grpSp>
          <p:nvGrpSpPr>
            <p:cNvPr id="35855" name="Group 9"/>
            <p:cNvGrpSpPr>
              <a:grpSpLocks/>
            </p:cNvGrpSpPr>
            <p:nvPr/>
          </p:nvGrpSpPr>
          <p:grpSpPr bwMode="auto">
            <a:xfrm>
              <a:off x="6248498" y="5528521"/>
              <a:ext cx="1422400" cy="4763"/>
              <a:chOff x="5286" y="1641"/>
              <a:chExt cx="896" cy="3"/>
            </a:xfrm>
          </p:grpSpPr>
          <p:sp>
            <p:nvSpPr>
              <p:cNvPr id="35866" name="Line 10"/>
              <p:cNvSpPr>
                <a:spLocks noChangeShapeType="1"/>
              </p:cNvSpPr>
              <p:nvPr/>
            </p:nvSpPr>
            <p:spPr bwMode="auto">
              <a:xfrm flipV="1">
                <a:off x="5286" y="1641"/>
                <a:ext cx="896"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35867" name="Line 11"/>
              <p:cNvSpPr>
                <a:spLocks noChangeShapeType="1"/>
              </p:cNvSpPr>
              <p:nvPr/>
            </p:nvSpPr>
            <p:spPr bwMode="auto">
              <a:xfrm>
                <a:off x="5760" y="1644"/>
                <a:ext cx="91" cy="0"/>
              </a:xfrm>
              <a:prstGeom prst="line">
                <a:avLst/>
              </a:prstGeom>
              <a:noFill/>
              <a:ln w="38100">
                <a:solidFill>
                  <a:srgbClr val="008000"/>
                </a:solidFill>
                <a:round/>
                <a:headEnd/>
                <a:tailEnd type="triangle"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grpSp>
        <p:grpSp>
          <p:nvGrpSpPr>
            <p:cNvPr id="35856" name="Group 12"/>
            <p:cNvGrpSpPr>
              <a:grpSpLocks/>
            </p:cNvGrpSpPr>
            <p:nvPr/>
          </p:nvGrpSpPr>
          <p:grpSpPr bwMode="auto">
            <a:xfrm>
              <a:off x="6248498" y="5855546"/>
              <a:ext cx="1422400" cy="4763"/>
              <a:chOff x="5286" y="1641"/>
              <a:chExt cx="896" cy="3"/>
            </a:xfrm>
          </p:grpSpPr>
          <p:sp>
            <p:nvSpPr>
              <p:cNvPr id="35864" name="Line 13"/>
              <p:cNvSpPr>
                <a:spLocks noChangeShapeType="1"/>
              </p:cNvSpPr>
              <p:nvPr/>
            </p:nvSpPr>
            <p:spPr bwMode="auto">
              <a:xfrm flipV="1">
                <a:off x="5286" y="1641"/>
                <a:ext cx="896"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35865" name="Line 14"/>
              <p:cNvSpPr>
                <a:spLocks noChangeShapeType="1"/>
              </p:cNvSpPr>
              <p:nvPr/>
            </p:nvSpPr>
            <p:spPr bwMode="auto">
              <a:xfrm>
                <a:off x="5760" y="1644"/>
                <a:ext cx="91" cy="0"/>
              </a:xfrm>
              <a:prstGeom prst="line">
                <a:avLst/>
              </a:prstGeom>
              <a:noFill/>
              <a:ln w="38100">
                <a:solidFill>
                  <a:srgbClr val="008000"/>
                </a:solidFill>
                <a:round/>
                <a:headEnd/>
                <a:tailEnd type="triangle"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grpSp>
        <p:grpSp>
          <p:nvGrpSpPr>
            <p:cNvPr id="35857" name="Group 15"/>
            <p:cNvGrpSpPr>
              <a:grpSpLocks/>
            </p:cNvGrpSpPr>
            <p:nvPr/>
          </p:nvGrpSpPr>
          <p:grpSpPr bwMode="auto">
            <a:xfrm>
              <a:off x="6248498" y="6227021"/>
              <a:ext cx="1422400" cy="4763"/>
              <a:chOff x="5286" y="1641"/>
              <a:chExt cx="896" cy="3"/>
            </a:xfrm>
          </p:grpSpPr>
          <p:sp>
            <p:nvSpPr>
              <p:cNvPr id="35862" name="Line 16"/>
              <p:cNvSpPr>
                <a:spLocks noChangeShapeType="1"/>
              </p:cNvSpPr>
              <p:nvPr/>
            </p:nvSpPr>
            <p:spPr bwMode="auto">
              <a:xfrm flipV="1">
                <a:off x="5286" y="1641"/>
                <a:ext cx="896"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35863" name="Line 17"/>
              <p:cNvSpPr>
                <a:spLocks noChangeShapeType="1"/>
              </p:cNvSpPr>
              <p:nvPr/>
            </p:nvSpPr>
            <p:spPr bwMode="auto">
              <a:xfrm>
                <a:off x="5760" y="1644"/>
                <a:ext cx="91" cy="0"/>
              </a:xfrm>
              <a:prstGeom prst="line">
                <a:avLst/>
              </a:prstGeom>
              <a:noFill/>
              <a:ln w="38100">
                <a:solidFill>
                  <a:srgbClr val="008000"/>
                </a:solidFill>
                <a:round/>
                <a:headEnd/>
                <a:tailEnd type="triangle"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grpSp>
        <p:grpSp>
          <p:nvGrpSpPr>
            <p:cNvPr id="35858" name="Group 18"/>
            <p:cNvGrpSpPr>
              <a:grpSpLocks/>
            </p:cNvGrpSpPr>
            <p:nvPr/>
          </p:nvGrpSpPr>
          <p:grpSpPr bwMode="auto">
            <a:xfrm>
              <a:off x="6248498" y="6596909"/>
              <a:ext cx="1422400" cy="4763"/>
              <a:chOff x="5286" y="1641"/>
              <a:chExt cx="896" cy="3"/>
            </a:xfrm>
          </p:grpSpPr>
          <p:sp>
            <p:nvSpPr>
              <p:cNvPr id="35860" name="Line 19"/>
              <p:cNvSpPr>
                <a:spLocks noChangeShapeType="1"/>
              </p:cNvSpPr>
              <p:nvPr/>
            </p:nvSpPr>
            <p:spPr bwMode="auto">
              <a:xfrm flipV="1">
                <a:off x="5286" y="1641"/>
                <a:ext cx="896"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35861" name="Line 20"/>
              <p:cNvSpPr>
                <a:spLocks noChangeShapeType="1"/>
              </p:cNvSpPr>
              <p:nvPr/>
            </p:nvSpPr>
            <p:spPr bwMode="auto">
              <a:xfrm>
                <a:off x="5760" y="1644"/>
                <a:ext cx="91" cy="0"/>
              </a:xfrm>
              <a:prstGeom prst="line">
                <a:avLst/>
              </a:prstGeom>
              <a:noFill/>
              <a:ln w="38100">
                <a:solidFill>
                  <a:srgbClr val="008000"/>
                </a:solidFill>
                <a:round/>
                <a:headEnd/>
                <a:tailEnd type="triangle"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grpSp>
        <p:sp>
          <p:nvSpPr>
            <p:cNvPr id="36" name="Flecha: hacia abajo 35">
              <a:extLst>
                <a:ext uri="{FF2B5EF4-FFF2-40B4-BE49-F238E27FC236}">
                  <a16:creationId xmlns:a16="http://schemas.microsoft.com/office/drawing/2014/main" id="{53456AE5-E16C-442D-A718-DF2B452CC06C}"/>
                </a:ext>
              </a:extLst>
            </p:cNvPr>
            <p:cNvSpPr/>
            <p:nvPr/>
          </p:nvSpPr>
          <p:spPr bwMode="auto">
            <a:xfrm rot="16200000">
              <a:off x="5580557" y="5889439"/>
              <a:ext cx="648100" cy="254425"/>
            </a:xfrm>
            <a:prstGeom prst="downArrow">
              <a:avLst/>
            </a:prstGeom>
            <a:solidFill>
              <a:schemeClr val="accent1"/>
            </a:solidFill>
            <a:ln w="12700" cap="flat" cmpd="sng" algn="ctr">
              <a:solidFill>
                <a:schemeClr val="accent1"/>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grpSp>
      <p:sp>
        <p:nvSpPr>
          <p:cNvPr id="8" name="Text Box 34">
            <a:extLst>
              <a:ext uri="{FF2B5EF4-FFF2-40B4-BE49-F238E27FC236}">
                <a16:creationId xmlns:a16="http://schemas.microsoft.com/office/drawing/2014/main" id="{825FFC74-2928-1007-2BD5-4B0981D43815}"/>
              </a:ext>
            </a:extLst>
          </p:cNvPr>
          <p:cNvSpPr txBox="1">
            <a:spLocks noChangeArrowheads="1"/>
          </p:cNvSpPr>
          <p:nvPr/>
        </p:nvSpPr>
        <p:spPr bwMode="auto">
          <a:xfrm>
            <a:off x="1348689" y="4968703"/>
            <a:ext cx="8706714" cy="463846"/>
          </a:xfrm>
          <a:prstGeom prst="rect">
            <a:avLst/>
          </a:prstGeom>
          <a:solidFill>
            <a:srgbClr val="FAFAFA"/>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latin typeface="Arial" panose="020B0604020202020204" pitchFamily="34" charset="0"/>
              </a:rPr>
              <a:t>La simetría de la imagen indica que las cargas son iguales</a:t>
            </a:r>
          </a:p>
        </p:txBody>
      </p:sp>
    </p:spTree>
    <p:extLst>
      <p:ext uri="{BB962C8B-B14F-4D97-AF65-F5344CB8AC3E}">
        <p14:creationId xmlns:p14="http://schemas.microsoft.com/office/powerpoint/2010/main" val="14885166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p:tgtEl>
                                          <p:spTgt spid="37"/>
                                        </p:tgtEl>
                                        <p:attrNameLst>
                                          <p:attrName>ppt_x</p:attrName>
                                        </p:attrNameLst>
                                      </p:cBhvr>
                                      <p:tavLst>
                                        <p:tav tm="0">
                                          <p:val>
                                            <p:strVal val="#ppt_x-#ppt_w*1.125000"/>
                                          </p:val>
                                        </p:tav>
                                        <p:tav tm="100000">
                                          <p:val>
                                            <p:strVal val="#ppt_x"/>
                                          </p:val>
                                        </p:tav>
                                      </p:tavLst>
                                    </p:anim>
                                    <p:animEffect transition="in" filter="wipe(right)">
                                      <p:cBhvr>
                                        <p:cTn id="8" dur="500"/>
                                        <p:tgtEl>
                                          <p:spTgt spid="37"/>
                                        </p:tgtEl>
                                      </p:cBhvr>
                                    </p:animEffect>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75788"/>
                                        </p:tgtEl>
                                        <p:attrNameLst>
                                          <p:attrName>style.visibility</p:attrName>
                                        </p:attrNameLst>
                                      </p:cBhvr>
                                      <p:to>
                                        <p:strVal val="visible"/>
                                      </p:to>
                                    </p:set>
                                    <p:animEffect transition="in" filter="blinds(vertical)">
                                      <p:cBhvr>
                                        <p:cTn id="13" dur="500"/>
                                        <p:tgtEl>
                                          <p:spTgt spid="7578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wipe(up)">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5842"/>
                                        </p:tgtEl>
                                        <p:attrNameLst>
                                          <p:attrName>style.visibility</p:attrName>
                                        </p:attrNameLst>
                                      </p:cBhvr>
                                      <p:to>
                                        <p:strVal val="visible"/>
                                      </p:to>
                                    </p:set>
                                    <p:animEffect transition="in" filter="dissolve">
                                      <p:cBhvr>
                                        <p:cTn id="23" dur="500"/>
                                        <p:tgtEl>
                                          <p:spTgt spid="3584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left)">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wipe(down)">
                                      <p:cBhvr>
                                        <p:cTn id="38" dur="500"/>
                                        <p:tgtEl>
                                          <p:spTgt spid="5"/>
                                        </p:tgtEl>
                                      </p:cBhvr>
                                    </p:animEffect>
                                  </p:childTnLst>
                                </p:cTn>
                              </p:par>
                            </p:childTnLst>
                          </p:cTn>
                        </p:par>
                        <p:par>
                          <p:cTn id="39" fill="hold">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35879"/>
                                        </p:tgtEl>
                                        <p:attrNameLst>
                                          <p:attrName>style.visibility</p:attrName>
                                        </p:attrNameLst>
                                      </p:cBhvr>
                                      <p:to>
                                        <p:strVal val="visible"/>
                                      </p:to>
                                    </p:set>
                                    <p:animEffect transition="in" filter="wipe(up)">
                                      <p:cBhvr>
                                        <p:cTn id="42" dur="500"/>
                                        <p:tgtEl>
                                          <p:spTgt spid="3587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wipe(up)">
                                      <p:cBhvr>
                                        <p:cTn id="47" dur="50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up)">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75804"/>
                                        </p:tgtEl>
                                        <p:attrNameLst>
                                          <p:attrName>style.visibility</p:attrName>
                                        </p:attrNameLst>
                                      </p:cBhvr>
                                      <p:to>
                                        <p:strVal val="visible"/>
                                      </p:to>
                                    </p:set>
                                    <p:anim calcmode="lin" valueType="num">
                                      <p:cBhvr additive="base">
                                        <p:cTn id="57" dur="500"/>
                                        <p:tgtEl>
                                          <p:spTgt spid="75804"/>
                                        </p:tgtEl>
                                        <p:attrNameLst>
                                          <p:attrName>ppt_y</p:attrName>
                                        </p:attrNameLst>
                                      </p:cBhvr>
                                      <p:tavLst>
                                        <p:tav tm="0">
                                          <p:val>
                                            <p:strVal val="#ppt_y+#ppt_h*1.125000"/>
                                          </p:val>
                                        </p:tav>
                                        <p:tav tm="100000">
                                          <p:val>
                                            <p:strVal val="#ppt_y"/>
                                          </p:val>
                                        </p:tav>
                                      </p:tavLst>
                                    </p:anim>
                                    <p:animEffect transition="in" filter="wipe(up)">
                                      <p:cBhvr>
                                        <p:cTn id="58" dur="500"/>
                                        <p:tgtEl>
                                          <p:spTgt spid="75804"/>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1" fill="hold" grpId="0" nodeType="clickEffect">
                                  <p:stCondLst>
                                    <p:cond delay="0"/>
                                  </p:stCondLst>
                                  <p:childTnLst>
                                    <p:set>
                                      <p:cBhvr>
                                        <p:cTn id="62" dur="1" fill="hold">
                                          <p:stCondLst>
                                            <p:cond delay="0"/>
                                          </p:stCondLst>
                                        </p:cTn>
                                        <p:tgtEl>
                                          <p:spTgt spid="75838"/>
                                        </p:tgtEl>
                                        <p:attrNameLst>
                                          <p:attrName>style.visibility</p:attrName>
                                        </p:attrNameLst>
                                      </p:cBhvr>
                                      <p:to>
                                        <p:strVal val="visible"/>
                                      </p:to>
                                    </p:set>
                                    <p:anim calcmode="lin" valueType="num">
                                      <p:cBhvr additive="base">
                                        <p:cTn id="63" dur="500"/>
                                        <p:tgtEl>
                                          <p:spTgt spid="75838"/>
                                        </p:tgtEl>
                                        <p:attrNameLst>
                                          <p:attrName>ppt_y</p:attrName>
                                        </p:attrNameLst>
                                      </p:cBhvr>
                                      <p:tavLst>
                                        <p:tav tm="0">
                                          <p:val>
                                            <p:strVal val="#ppt_y-#ppt_h*1.125000"/>
                                          </p:val>
                                        </p:tav>
                                        <p:tav tm="100000">
                                          <p:val>
                                            <p:strVal val="#ppt_y"/>
                                          </p:val>
                                        </p:tav>
                                      </p:tavLst>
                                    </p:anim>
                                    <p:animEffect transition="in" filter="wipe(down)">
                                      <p:cBhvr>
                                        <p:cTn id="64" dur="500"/>
                                        <p:tgtEl>
                                          <p:spTgt spid="7583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left)">
                                      <p:cBhvr>
                                        <p:cTn id="69" dur="500"/>
                                        <p:tgtEl>
                                          <p:spTgt spid="9"/>
                                        </p:tgtEl>
                                      </p:cBhvr>
                                    </p:animEffect>
                                  </p:childTnLst>
                                </p:cTn>
                              </p:par>
                            </p:childTnLst>
                          </p:cTn>
                        </p:par>
                        <p:par>
                          <p:cTn id="70" fill="hold">
                            <p:stCondLst>
                              <p:cond delay="500"/>
                            </p:stCondLst>
                            <p:childTnLst>
                              <p:par>
                                <p:cTn id="71" presetID="22" presetClass="entr" presetSubtype="1" fill="hold" grpId="0" nodeType="afterEffect">
                                  <p:stCondLst>
                                    <p:cond delay="0"/>
                                  </p:stCondLst>
                                  <p:childTnLst>
                                    <p:set>
                                      <p:cBhvr>
                                        <p:cTn id="72" dur="1" fill="hold">
                                          <p:stCondLst>
                                            <p:cond delay="0"/>
                                          </p:stCondLst>
                                        </p:cTn>
                                        <p:tgtEl>
                                          <p:spTgt spid="35859"/>
                                        </p:tgtEl>
                                        <p:attrNameLst>
                                          <p:attrName>style.visibility</p:attrName>
                                        </p:attrNameLst>
                                      </p:cBhvr>
                                      <p:to>
                                        <p:strVal val="visible"/>
                                      </p:to>
                                    </p:set>
                                    <p:animEffect transition="in" filter="wipe(up)">
                                      <p:cBhvr>
                                        <p:cTn id="73" dur="500"/>
                                        <p:tgtEl>
                                          <p:spTgt spid="35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8" grpId="0" animBg="1"/>
      <p:bldP spid="75804" grpId="0" animBg="1"/>
      <p:bldP spid="35859" grpId="0"/>
      <p:bldP spid="37" grpId="0" animBg="1"/>
      <p:bldP spid="35879" grpId="0"/>
      <p:bldP spid="31" grpId="0" animBg="1"/>
      <p:bldP spid="75838" grpId="0"/>
      <p:bldP spid="34"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195" name="Picture 3" descr="lineas4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559" y="2437624"/>
            <a:ext cx="3381375" cy="335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15" name="Text Box 5"/>
          <p:cNvSpPr txBox="1">
            <a:spLocks noChangeArrowheads="1"/>
          </p:cNvSpPr>
          <p:nvPr/>
        </p:nvSpPr>
        <p:spPr bwMode="auto">
          <a:xfrm>
            <a:off x="4106535" y="426777"/>
            <a:ext cx="6092825" cy="1253402"/>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sym typeface="Wingdings" panose="05000000000000000000" pitchFamily="2" charset="2"/>
              </a:rPr>
              <a:t>Lejos del sistema, las líneas divergen, o convergen, como las de una carga puntual con la carga neta del sistema</a:t>
            </a:r>
          </a:p>
        </p:txBody>
      </p:sp>
      <p:sp>
        <p:nvSpPr>
          <p:cNvPr id="264218" name="Text Box 26"/>
          <p:cNvSpPr txBox="1">
            <a:spLocks noChangeArrowheads="1"/>
          </p:cNvSpPr>
          <p:nvPr/>
        </p:nvSpPr>
        <p:spPr bwMode="auto">
          <a:xfrm>
            <a:off x="1371864" y="3917409"/>
            <a:ext cx="1820027"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Salen 16 </a:t>
            </a:r>
            <a:r>
              <a:rPr lang="es-ES" sz="2400" b="1">
                <a:solidFill>
                  <a:srgbClr val="000000"/>
                </a:solidFill>
                <a:latin typeface="Arial" panose="020B0604020202020204" pitchFamily="34" charset="0"/>
                <a:sym typeface="Symbol" panose="05050102010706020507" pitchFamily="18" charset="2"/>
              </a:rPr>
              <a:t></a:t>
            </a:r>
          </a:p>
        </p:txBody>
      </p:sp>
      <p:sp>
        <p:nvSpPr>
          <p:cNvPr id="264219" name="Text Box 27"/>
          <p:cNvSpPr txBox="1">
            <a:spLocks noChangeArrowheads="1"/>
          </p:cNvSpPr>
          <p:nvPr/>
        </p:nvSpPr>
        <p:spPr bwMode="auto">
          <a:xfrm>
            <a:off x="4402242" y="3904177"/>
            <a:ext cx="1849438"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b="1" dirty="0">
                <a:solidFill>
                  <a:srgbClr val="000000"/>
                </a:solidFill>
                <a:latin typeface="Arial" panose="020B0604020202020204" pitchFamily="34" charset="0"/>
                <a:sym typeface="Symbol" panose="05050102010706020507" pitchFamily="18" charset="2"/>
              </a:rPr>
              <a:t> Entran </a:t>
            </a:r>
            <a:r>
              <a:rPr lang="es-ES" sz="2400" b="1" dirty="0">
                <a:solidFill>
                  <a:srgbClr val="000000"/>
                </a:solidFill>
                <a:latin typeface="Arial" panose="020B0604020202020204" pitchFamily="34" charset="0"/>
              </a:rPr>
              <a:t>8</a:t>
            </a:r>
          </a:p>
        </p:txBody>
      </p:sp>
      <p:sp>
        <p:nvSpPr>
          <p:cNvPr id="264225" name="Oval 33"/>
          <p:cNvSpPr>
            <a:spLocks noChangeArrowheads="1"/>
          </p:cNvSpPr>
          <p:nvPr/>
        </p:nvSpPr>
        <p:spPr bwMode="auto">
          <a:xfrm>
            <a:off x="2319184" y="2726549"/>
            <a:ext cx="2882900" cy="2844800"/>
          </a:xfrm>
          <a:prstGeom prst="ellipse">
            <a:avLst/>
          </a:prstGeom>
          <a:noFill/>
          <a:ln w="25400" algn="ctr">
            <a:solidFill>
              <a:srgbClr val="008000"/>
            </a:solidFill>
            <a:prstDash val="dash"/>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grpSp>
        <p:nvGrpSpPr>
          <p:cNvPr id="7" name="Group 56"/>
          <p:cNvGrpSpPr>
            <a:grpSpLocks/>
          </p:cNvGrpSpPr>
          <p:nvPr/>
        </p:nvGrpSpPr>
        <p:grpSpPr bwMode="auto">
          <a:xfrm>
            <a:off x="2155671" y="2605899"/>
            <a:ext cx="3086100" cy="3087687"/>
            <a:chOff x="1232" y="1164"/>
            <a:chExt cx="1944" cy="1945"/>
          </a:xfrm>
        </p:grpSpPr>
        <p:sp>
          <p:nvSpPr>
            <p:cNvPr id="37917" name="Line 38"/>
            <p:cNvSpPr>
              <a:spLocks noChangeShapeType="1"/>
            </p:cNvSpPr>
            <p:nvPr/>
          </p:nvSpPr>
          <p:spPr bwMode="auto">
            <a:xfrm flipH="1" flipV="1">
              <a:off x="1232" y="1696"/>
              <a:ext cx="832" cy="424"/>
            </a:xfrm>
            <a:prstGeom prst="line">
              <a:avLst/>
            </a:prstGeom>
            <a:noFill/>
            <a:ln w="19050">
              <a:solidFill>
                <a:srgbClr val="0000FF"/>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GB"/>
            </a:p>
          </p:txBody>
        </p:sp>
        <p:sp>
          <p:nvSpPr>
            <p:cNvPr id="37918" name="Line 39"/>
            <p:cNvSpPr>
              <a:spLocks noChangeShapeType="1"/>
            </p:cNvSpPr>
            <p:nvPr/>
          </p:nvSpPr>
          <p:spPr bwMode="auto">
            <a:xfrm flipH="1" flipV="1">
              <a:off x="2344" y="2195"/>
              <a:ext cx="824" cy="312"/>
            </a:xfrm>
            <a:prstGeom prst="line">
              <a:avLst/>
            </a:prstGeom>
            <a:noFill/>
            <a:ln w="19050">
              <a:solidFill>
                <a:srgbClr val="0000FF"/>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GB"/>
            </a:p>
          </p:txBody>
        </p:sp>
        <p:sp>
          <p:nvSpPr>
            <p:cNvPr id="37919" name="Line 40"/>
            <p:cNvSpPr>
              <a:spLocks noChangeShapeType="1"/>
            </p:cNvSpPr>
            <p:nvPr/>
          </p:nvSpPr>
          <p:spPr bwMode="auto">
            <a:xfrm flipH="1">
              <a:off x="2328" y="1742"/>
              <a:ext cx="848" cy="352"/>
            </a:xfrm>
            <a:prstGeom prst="line">
              <a:avLst/>
            </a:prstGeom>
            <a:noFill/>
            <a:ln w="19050">
              <a:solidFill>
                <a:srgbClr val="0000FF"/>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GB"/>
            </a:p>
          </p:txBody>
        </p:sp>
        <p:sp>
          <p:nvSpPr>
            <p:cNvPr id="37920" name="Line 41"/>
            <p:cNvSpPr>
              <a:spLocks noChangeShapeType="1"/>
            </p:cNvSpPr>
            <p:nvPr/>
          </p:nvSpPr>
          <p:spPr bwMode="auto">
            <a:xfrm flipH="1">
              <a:off x="2264" y="1249"/>
              <a:ext cx="400" cy="824"/>
            </a:xfrm>
            <a:prstGeom prst="line">
              <a:avLst/>
            </a:prstGeom>
            <a:noFill/>
            <a:ln w="19050">
              <a:solidFill>
                <a:srgbClr val="0000FF"/>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GB"/>
            </a:p>
          </p:txBody>
        </p:sp>
        <p:sp>
          <p:nvSpPr>
            <p:cNvPr id="37921" name="Line 42"/>
            <p:cNvSpPr>
              <a:spLocks noChangeShapeType="1"/>
            </p:cNvSpPr>
            <p:nvPr/>
          </p:nvSpPr>
          <p:spPr bwMode="auto">
            <a:xfrm>
              <a:off x="1896" y="1164"/>
              <a:ext cx="256" cy="864"/>
            </a:xfrm>
            <a:prstGeom prst="line">
              <a:avLst/>
            </a:prstGeom>
            <a:noFill/>
            <a:ln w="19050">
              <a:solidFill>
                <a:srgbClr val="0000FF"/>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GB"/>
            </a:p>
          </p:txBody>
        </p:sp>
        <p:sp>
          <p:nvSpPr>
            <p:cNvPr id="37922" name="Line 43"/>
            <p:cNvSpPr>
              <a:spLocks noChangeShapeType="1"/>
            </p:cNvSpPr>
            <p:nvPr/>
          </p:nvSpPr>
          <p:spPr bwMode="auto">
            <a:xfrm>
              <a:off x="2296" y="2295"/>
              <a:ext cx="392" cy="768"/>
            </a:xfrm>
            <a:prstGeom prst="line">
              <a:avLst/>
            </a:prstGeom>
            <a:noFill/>
            <a:ln w="19050">
              <a:solidFill>
                <a:srgbClr val="0000FF"/>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GB"/>
            </a:p>
          </p:txBody>
        </p:sp>
        <p:sp>
          <p:nvSpPr>
            <p:cNvPr id="37923" name="Line 44"/>
            <p:cNvSpPr>
              <a:spLocks noChangeShapeType="1"/>
            </p:cNvSpPr>
            <p:nvPr/>
          </p:nvSpPr>
          <p:spPr bwMode="auto">
            <a:xfrm flipV="1">
              <a:off x="1288" y="2218"/>
              <a:ext cx="792" cy="360"/>
            </a:xfrm>
            <a:prstGeom prst="line">
              <a:avLst/>
            </a:prstGeom>
            <a:noFill/>
            <a:ln w="19050">
              <a:solidFill>
                <a:srgbClr val="0000FF"/>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GB"/>
            </a:p>
          </p:txBody>
        </p:sp>
        <p:sp>
          <p:nvSpPr>
            <p:cNvPr id="37924" name="Line 45"/>
            <p:cNvSpPr>
              <a:spLocks noChangeShapeType="1"/>
            </p:cNvSpPr>
            <p:nvPr/>
          </p:nvSpPr>
          <p:spPr bwMode="auto">
            <a:xfrm flipV="1">
              <a:off x="1904" y="2295"/>
              <a:ext cx="224" cy="814"/>
            </a:xfrm>
            <a:prstGeom prst="line">
              <a:avLst/>
            </a:prstGeom>
            <a:noFill/>
            <a:ln w="19050">
              <a:solidFill>
                <a:srgbClr val="0000FF"/>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GB"/>
            </a:p>
          </p:txBody>
        </p:sp>
      </p:grpSp>
      <p:sp>
        <p:nvSpPr>
          <p:cNvPr id="264250" name="Text Box 58"/>
          <p:cNvSpPr txBox="1">
            <a:spLocks noChangeArrowheads="1"/>
          </p:cNvSpPr>
          <p:nvPr/>
        </p:nvSpPr>
        <p:spPr bwMode="auto">
          <a:xfrm>
            <a:off x="6306184" y="3913099"/>
            <a:ext cx="3650327" cy="514738"/>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a:t>
            </a:r>
            <a:r>
              <a:rPr lang="es-ES" sz="2400" baseline="-25000">
                <a:solidFill>
                  <a:srgbClr val="000000"/>
                </a:solidFill>
                <a:latin typeface="Arial" panose="020B0604020202020204" pitchFamily="34" charset="0"/>
              </a:rPr>
              <a:t>neta</a:t>
            </a:r>
            <a:r>
              <a:rPr lang="es-ES" sz="2400">
                <a:solidFill>
                  <a:srgbClr val="000000"/>
                </a:solidFill>
                <a:latin typeface="Arial" panose="020B0604020202020204" pitchFamily="34" charset="0"/>
              </a:rPr>
              <a:t> = 2q – q = q &gt; 0</a:t>
            </a:r>
          </a:p>
        </p:txBody>
      </p:sp>
      <p:sp>
        <p:nvSpPr>
          <p:cNvPr id="15419" name="Text Box 59"/>
          <p:cNvSpPr txBox="1">
            <a:spLocks noChangeArrowheads="1"/>
          </p:cNvSpPr>
          <p:nvPr/>
        </p:nvSpPr>
        <p:spPr bwMode="auto">
          <a:xfrm>
            <a:off x="4586134" y="2602724"/>
            <a:ext cx="984863" cy="463846"/>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eaLnBrk="1" hangingPunct="1">
              <a:spcBef>
                <a:spcPct val="50000"/>
              </a:spcBef>
            </a:pPr>
            <a:r>
              <a:rPr lang="es-ES" sz="2400" b="1" dirty="0">
                <a:solidFill>
                  <a:srgbClr val="008000"/>
                </a:solidFill>
              </a:rPr>
              <a:t>Lejos</a:t>
            </a:r>
          </a:p>
        </p:txBody>
      </p:sp>
      <p:sp>
        <p:nvSpPr>
          <p:cNvPr id="15421" name="Text Box 61"/>
          <p:cNvSpPr txBox="1">
            <a:spLocks noChangeArrowheads="1"/>
          </p:cNvSpPr>
          <p:nvPr/>
        </p:nvSpPr>
        <p:spPr bwMode="auto">
          <a:xfrm>
            <a:off x="2544272" y="6136837"/>
            <a:ext cx="2353309" cy="514738"/>
          </a:xfrm>
          <a:prstGeom prst="rect">
            <a:avLst/>
          </a:prstGeom>
          <a:solidFill>
            <a:srgbClr val="CCFFCC"/>
          </a:solidFill>
          <a:ln>
            <a:noFill/>
          </a:ln>
          <a:effectLst/>
          <a:extLst>
            <a:ext uri="{53640926-AAD7-44D8-BBD7-CCE9431645EC}">
              <a14:shadowObscured xmlns:a14="http://schemas.microsoft.com/office/drawing/2010/main" val="1"/>
            </a:ext>
          </a:extLst>
        </p:spPr>
        <p:txBody>
          <a:bodyPr wrap="none" lIns="108000" tIns="72000" rIns="108000" bIns="72000" anchor="ctr" anchorCtr="1">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eaLnBrk="1" hangingPunct="1">
              <a:spcBef>
                <a:spcPct val="50000"/>
              </a:spcBef>
            </a:pPr>
            <a:r>
              <a:rPr lang="es-ES" sz="2400" dirty="0">
                <a:solidFill>
                  <a:schemeClr val="tx1"/>
                </a:solidFill>
              </a:rPr>
              <a:t>q </a:t>
            </a:r>
            <a:r>
              <a:rPr lang="es-ES" sz="2400" dirty="0">
                <a:solidFill>
                  <a:schemeClr val="tx1"/>
                </a:solidFill>
                <a:sym typeface="Symbol" panose="05050102010706020507" pitchFamily="18" charset="2"/>
              </a:rPr>
              <a:t> 8 salientes</a:t>
            </a:r>
          </a:p>
        </p:txBody>
      </p:sp>
      <p:sp>
        <p:nvSpPr>
          <p:cNvPr id="15431" name="Text Box 71"/>
          <p:cNvSpPr txBox="1">
            <a:spLocks noChangeArrowheads="1"/>
          </p:cNvSpPr>
          <p:nvPr/>
        </p:nvSpPr>
        <p:spPr bwMode="auto">
          <a:xfrm>
            <a:off x="6301857" y="1849880"/>
            <a:ext cx="3654654" cy="1253402"/>
          </a:xfrm>
          <a:prstGeom prst="rect">
            <a:avLst/>
          </a:prstGeom>
          <a:solidFill>
            <a:srgbClr val="FFFF99"/>
          </a:solidFill>
          <a:ln>
            <a:noFill/>
          </a:ln>
        </p:spPr>
        <p:txBody>
          <a:bodyPr wrap="square" lIns="108000" tIns="72000" rIns="108000" bIns="72000" anchor="ctr" anchorCtr="1">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algn="ctr" eaLnBrk="1" hangingPunct="1">
              <a:spcBef>
                <a:spcPct val="50000"/>
              </a:spcBef>
              <a:defRPr/>
            </a:pPr>
            <a:r>
              <a:rPr lang="es-ES" sz="2400">
                <a:solidFill>
                  <a:schemeClr val="tx1"/>
                </a:solidFill>
              </a:rPr>
              <a:t>Es algo lógico, porque todo parece un punto lo suficientemente lejos</a:t>
            </a:r>
          </a:p>
        </p:txBody>
      </p:sp>
      <p:sp>
        <p:nvSpPr>
          <p:cNvPr id="37912" name="Text Box 78"/>
          <p:cNvSpPr txBox="1">
            <a:spLocks noChangeArrowheads="1"/>
          </p:cNvSpPr>
          <p:nvPr/>
        </p:nvSpPr>
        <p:spPr bwMode="auto">
          <a:xfrm>
            <a:off x="10037794" y="6190682"/>
            <a:ext cx="694719" cy="463846"/>
          </a:xfrm>
          <a:prstGeom prst="rect">
            <a:avLst/>
          </a:prstGeom>
          <a:solidFill>
            <a:srgbClr val="FFFF00"/>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eaLnBrk="1" hangingPunct="1">
              <a:spcBef>
                <a:spcPct val="50000"/>
              </a:spcBef>
            </a:pPr>
            <a:r>
              <a:rPr lang="es-ES" sz="2400" b="1">
                <a:solidFill>
                  <a:schemeClr val="tx1"/>
                </a:solidFill>
              </a:rPr>
              <a:t>Ok!</a:t>
            </a:r>
          </a:p>
        </p:txBody>
      </p:sp>
      <p:sp>
        <p:nvSpPr>
          <p:cNvPr id="15440" name="Text Box 80"/>
          <p:cNvSpPr txBox="1">
            <a:spLocks noChangeArrowheads="1"/>
          </p:cNvSpPr>
          <p:nvPr/>
        </p:nvSpPr>
        <p:spPr bwMode="auto">
          <a:xfrm>
            <a:off x="10037793" y="4894067"/>
            <a:ext cx="694719" cy="463846"/>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eaLnBrk="1" hangingPunct="1">
              <a:spcBef>
                <a:spcPct val="50000"/>
              </a:spcBef>
            </a:pPr>
            <a:r>
              <a:rPr lang="es-ES" sz="2400" b="1">
                <a:solidFill>
                  <a:schemeClr val="tx1"/>
                </a:solidFill>
              </a:rPr>
              <a:t>Ok!</a:t>
            </a:r>
          </a:p>
        </p:txBody>
      </p:sp>
      <p:grpSp>
        <p:nvGrpSpPr>
          <p:cNvPr id="15432" name="Group 72"/>
          <p:cNvGrpSpPr>
            <a:grpSpLocks/>
          </p:cNvGrpSpPr>
          <p:nvPr/>
        </p:nvGrpSpPr>
        <p:grpSpPr bwMode="auto">
          <a:xfrm>
            <a:off x="1046009" y="2007412"/>
            <a:ext cx="2003425" cy="1282702"/>
            <a:chOff x="687" y="787"/>
            <a:chExt cx="1262" cy="808"/>
          </a:xfrm>
        </p:grpSpPr>
        <p:sp>
          <p:nvSpPr>
            <p:cNvPr id="37909" name="Text Box 34"/>
            <p:cNvSpPr txBox="1">
              <a:spLocks noChangeArrowheads="1"/>
            </p:cNvSpPr>
            <p:nvPr/>
          </p:nvSpPr>
          <p:spPr bwMode="auto">
            <a:xfrm>
              <a:off x="1531" y="1303"/>
              <a:ext cx="41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008000"/>
                  </a:solidFill>
                  <a:latin typeface="Arial" panose="020B0604020202020204" pitchFamily="34" charset="0"/>
                  <a:sym typeface="Wingdings" panose="05000000000000000000" pitchFamily="2" charset="2"/>
                </a:rPr>
                <a:t></a:t>
              </a:r>
            </a:p>
          </p:txBody>
        </p:sp>
        <p:sp>
          <p:nvSpPr>
            <p:cNvPr id="37910" name="Text Box 35"/>
            <p:cNvSpPr txBox="1">
              <a:spLocks noChangeArrowheads="1"/>
            </p:cNvSpPr>
            <p:nvPr/>
          </p:nvSpPr>
          <p:spPr bwMode="auto">
            <a:xfrm>
              <a:off x="687" y="787"/>
              <a:ext cx="1262"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b="1">
                  <a:solidFill>
                    <a:srgbClr val="000000"/>
                  </a:solidFill>
                  <a:latin typeface="Arial" panose="020B0604020202020204" pitchFamily="34" charset="0"/>
                </a:rPr>
                <a:t>Salen 8 radialmente</a:t>
              </a:r>
              <a:endParaRPr lang="es-ES" sz="2400" b="1">
                <a:solidFill>
                  <a:srgbClr val="000000"/>
                </a:solidFill>
                <a:latin typeface="Arial" panose="020B0604020202020204" pitchFamily="34" charset="0"/>
                <a:sym typeface="Wingdings" panose="05000000000000000000" pitchFamily="2" charset="2"/>
              </a:endParaRPr>
            </a:p>
          </p:txBody>
        </p:sp>
      </p:grpSp>
      <p:sp>
        <p:nvSpPr>
          <p:cNvPr id="38" name="Text Box 10"/>
          <p:cNvSpPr txBox="1">
            <a:spLocks noChangeArrowheads="1"/>
          </p:cNvSpPr>
          <p:nvPr/>
        </p:nvSpPr>
        <p:spPr bwMode="auto">
          <a:xfrm>
            <a:off x="1341490" y="432136"/>
            <a:ext cx="2321566" cy="514738"/>
          </a:xfrm>
          <a:prstGeom prst="rect">
            <a:avLst/>
          </a:prstGeom>
          <a:solidFill>
            <a:srgbClr val="66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b="1">
                <a:solidFill>
                  <a:srgbClr val="FFFFFF"/>
                </a:solidFill>
                <a:latin typeface="Arial" panose="020B0604020202020204" pitchFamily="34" charset="0"/>
                <a:sym typeface="Wingdings" panose="05000000000000000000" pitchFamily="2" charset="2"/>
              </a:rPr>
              <a:t>PROPIEDAD 5</a:t>
            </a:r>
            <a:endParaRPr lang="es-ES" sz="2400">
              <a:solidFill>
                <a:srgbClr val="FFFFFF"/>
              </a:solidFill>
              <a:latin typeface="Arial" panose="020B0604020202020204" pitchFamily="34" charset="0"/>
              <a:sym typeface="Wingdings" panose="05000000000000000000" pitchFamily="2" charset="2"/>
            </a:endParaRPr>
          </a:p>
        </p:txBody>
      </p:sp>
      <p:sp>
        <p:nvSpPr>
          <p:cNvPr id="37926" name="Text Box 76"/>
          <p:cNvSpPr txBox="1">
            <a:spLocks noChangeArrowheads="1"/>
          </p:cNvSpPr>
          <p:nvPr/>
        </p:nvSpPr>
        <p:spPr bwMode="auto">
          <a:xfrm>
            <a:off x="10037792" y="3252289"/>
            <a:ext cx="694719" cy="463846"/>
          </a:xfrm>
          <a:prstGeom prst="rect">
            <a:avLst/>
          </a:prstGeom>
          <a:solidFill>
            <a:srgbClr val="FFFF00"/>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eaLnBrk="1" hangingPunct="1">
              <a:spcBef>
                <a:spcPct val="50000"/>
              </a:spcBef>
            </a:pPr>
            <a:r>
              <a:rPr lang="es-ES" sz="2400" b="1">
                <a:solidFill>
                  <a:schemeClr val="tx1"/>
                </a:solidFill>
              </a:rPr>
              <a:t>Ok!</a:t>
            </a:r>
          </a:p>
        </p:txBody>
      </p:sp>
      <p:sp>
        <p:nvSpPr>
          <p:cNvPr id="43" name="Text Box 74"/>
          <p:cNvSpPr txBox="1">
            <a:spLocks noChangeArrowheads="1"/>
          </p:cNvSpPr>
          <p:nvPr/>
        </p:nvSpPr>
        <p:spPr bwMode="auto">
          <a:xfrm>
            <a:off x="6306184" y="3235581"/>
            <a:ext cx="3650327" cy="514738"/>
          </a:xfrm>
          <a:prstGeom prst="rect">
            <a:avLst/>
          </a:prstGeom>
          <a:solidFill>
            <a:schemeClr val="tx2">
              <a:lumMod val="25000"/>
              <a:lumOff val="75000"/>
            </a:schemeClr>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108000" tIns="72000" rIns="108000" bIns="72000" anchor="ctr" anchorCtr="1">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eaLnBrk="1" hangingPunct="1">
              <a:spcBef>
                <a:spcPct val="50000"/>
              </a:spcBef>
            </a:pPr>
            <a:r>
              <a:rPr lang="es-ES" sz="2400">
                <a:solidFill>
                  <a:schemeClr val="tx1"/>
                </a:solidFill>
              </a:rPr>
              <a:t>Lejos deben ser radiales</a:t>
            </a:r>
          </a:p>
        </p:txBody>
      </p:sp>
      <p:grpSp>
        <p:nvGrpSpPr>
          <p:cNvPr id="3" name="Grupo 2">
            <a:extLst>
              <a:ext uri="{FF2B5EF4-FFF2-40B4-BE49-F238E27FC236}">
                <a16:creationId xmlns:a16="http://schemas.microsoft.com/office/drawing/2014/main" id="{55E85E05-6ABA-54B0-3E55-6A8E91CF5EFD}"/>
              </a:ext>
            </a:extLst>
          </p:cNvPr>
          <p:cNvGrpSpPr/>
          <p:nvPr/>
        </p:nvGrpSpPr>
        <p:grpSpPr>
          <a:xfrm>
            <a:off x="6305553" y="4519733"/>
            <a:ext cx="3651252" cy="874188"/>
            <a:chOff x="6305553" y="4519733"/>
            <a:chExt cx="3651252" cy="874188"/>
          </a:xfrm>
        </p:grpSpPr>
        <p:sp>
          <p:nvSpPr>
            <p:cNvPr id="37916" name="Text Box 74"/>
            <p:cNvSpPr txBox="1">
              <a:spLocks noChangeArrowheads="1"/>
            </p:cNvSpPr>
            <p:nvPr/>
          </p:nvSpPr>
          <p:spPr bwMode="auto">
            <a:xfrm>
              <a:off x="6305553" y="4879571"/>
              <a:ext cx="3651252" cy="514350"/>
            </a:xfrm>
            <a:prstGeom prst="rect">
              <a:avLst/>
            </a:prstGeom>
            <a:solidFill>
              <a:schemeClr val="tx2">
                <a:lumMod val="25000"/>
                <a:lumOff val="75000"/>
              </a:schemeClr>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108000" tIns="72000" rIns="108000" bIns="72000" anchor="ctr" anchorCtr="1">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eaLnBrk="1" hangingPunct="1">
                <a:spcBef>
                  <a:spcPct val="50000"/>
                </a:spcBef>
              </a:pPr>
              <a:r>
                <a:rPr lang="es-ES" sz="2400">
                  <a:solidFill>
                    <a:schemeClr val="tx1"/>
                  </a:solidFill>
                </a:rPr>
                <a:t>Lejos deben emerger</a:t>
              </a:r>
            </a:p>
          </p:txBody>
        </p:sp>
        <p:sp>
          <p:nvSpPr>
            <p:cNvPr id="2" name="Flecha: hacia abajo 1">
              <a:extLst>
                <a:ext uri="{FF2B5EF4-FFF2-40B4-BE49-F238E27FC236}">
                  <a16:creationId xmlns:a16="http://schemas.microsoft.com/office/drawing/2014/main" id="{7F9E17E6-189D-F4F7-95AD-7E4BEE616AFB}"/>
                </a:ext>
              </a:extLst>
            </p:cNvPr>
            <p:cNvSpPr/>
            <p:nvPr/>
          </p:nvSpPr>
          <p:spPr bwMode="auto">
            <a:xfrm>
              <a:off x="7881302" y="4519733"/>
              <a:ext cx="648100" cy="254425"/>
            </a:xfrm>
            <a:prstGeom prst="downArrow">
              <a:avLst/>
            </a:prstGeom>
            <a:solidFill>
              <a:schemeClr val="accent1"/>
            </a:solidFill>
            <a:ln w="12700" cap="flat" cmpd="sng" algn="ctr">
              <a:solidFill>
                <a:schemeClr val="accent1"/>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grpSp>
      <p:grpSp>
        <p:nvGrpSpPr>
          <p:cNvPr id="8" name="Grupo 7">
            <a:extLst>
              <a:ext uri="{FF2B5EF4-FFF2-40B4-BE49-F238E27FC236}">
                <a16:creationId xmlns:a16="http://schemas.microsoft.com/office/drawing/2014/main" id="{C101720D-E503-B06B-5F3D-C02297973037}"/>
              </a:ext>
            </a:extLst>
          </p:cNvPr>
          <p:cNvGrpSpPr/>
          <p:nvPr/>
        </p:nvGrpSpPr>
        <p:grpSpPr>
          <a:xfrm>
            <a:off x="5037956" y="6098555"/>
            <a:ext cx="3175274" cy="648100"/>
            <a:chOff x="5037956" y="6098555"/>
            <a:chExt cx="3175274" cy="648100"/>
          </a:xfrm>
        </p:grpSpPr>
        <p:sp>
          <p:nvSpPr>
            <p:cNvPr id="37913" name="Text Box 29"/>
            <p:cNvSpPr txBox="1">
              <a:spLocks noChangeArrowheads="1"/>
            </p:cNvSpPr>
            <p:nvPr/>
          </p:nvSpPr>
          <p:spPr bwMode="auto">
            <a:xfrm>
              <a:off x="5400180" y="6138775"/>
              <a:ext cx="2813050" cy="514350"/>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err="1">
                  <a:solidFill>
                    <a:srgbClr val="000000"/>
                  </a:solidFill>
                  <a:latin typeface="Arial" panose="020B0604020202020204" pitchFamily="34" charset="0"/>
                </a:rPr>
                <a:t>Q</a:t>
              </a:r>
              <a:r>
                <a:rPr lang="es-ES" sz="2400" baseline="-25000" dirty="0" err="1">
                  <a:solidFill>
                    <a:srgbClr val="000000"/>
                  </a:solidFill>
                  <a:latin typeface="Arial" panose="020B0604020202020204" pitchFamily="34" charset="0"/>
                </a:rPr>
                <a:t>neta</a:t>
              </a:r>
              <a:r>
                <a:rPr lang="es-ES" sz="2400" dirty="0">
                  <a:solidFill>
                    <a:srgbClr val="000000"/>
                  </a:solidFill>
                  <a:latin typeface="Arial" panose="020B0604020202020204" pitchFamily="34" charset="0"/>
                </a:rPr>
                <a:t> </a:t>
              </a:r>
              <a:r>
                <a:rPr lang="es-ES" sz="2400" dirty="0">
                  <a:sym typeface="Symbol" panose="05050102010706020507" pitchFamily="18" charset="2"/>
                </a:rPr>
                <a:t></a:t>
              </a:r>
              <a:r>
                <a:rPr lang="es-ES" sz="2400" dirty="0">
                  <a:solidFill>
                    <a:srgbClr val="000000"/>
                  </a:solidFill>
                  <a:latin typeface="Arial" panose="020B0604020202020204" pitchFamily="34" charset="0"/>
                </a:rPr>
                <a:t> 8 salientes</a:t>
              </a:r>
            </a:p>
          </p:txBody>
        </p:sp>
        <p:sp>
          <p:nvSpPr>
            <p:cNvPr id="4" name="Flecha: hacia abajo 3">
              <a:extLst>
                <a:ext uri="{FF2B5EF4-FFF2-40B4-BE49-F238E27FC236}">
                  <a16:creationId xmlns:a16="http://schemas.microsoft.com/office/drawing/2014/main" id="{D6FFC5C3-C3B0-4A11-F88F-28491EA9CAF0}"/>
                </a:ext>
              </a:extLst>
            </p:cNvPr>
            <p:cNvSpPr/>
            <p:nvPr/>
          </p:nvSpPr>
          <p:spPr bwMode="auto">
            <a:xfrm rot="16200000">
              <a:off x="4841119" y="6295392"/>
              <a:ext cx="648100" cy="254425"/>
            </a:xfrm>
            <a:prstGeom prst="downArrow">
              <a:avLst/>
            </a:prstGeom>
            <a:solidFill>
              <a:schemeClr val="accent1"/>
            </a:solidFill>
            <a:ln w="12700" cap="flat" cmpd="sng" algn="ctr">
              <a:solidFill>
                <a:schemeClr val="accent1"/>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grpSp>
      <p:grpSp>
        <p:nvGrpSpPr>
          <p:cNvPr id="6" name="Grupo 5">
            <a:extLst>
              <a:ext uri="{FF2B5EF4-FFF2-40B4-BE49-F238E27FC236}">
                <a16:creationId xmlns:a16="http://schemas.microsoft.com/office/drawing/2014/main" id="{094EC2C7-C89A-1AF2-84C8-E45CA8BF6FDA}"/>
              </a:ext>
            </a:extLst>
          </p:cNvPr>
          <p:cNvGrpSpPr/>
          <p:nvPr/>
        </p:nvGrpSpPr>
        <p:grpSpPr>
          <a:xfrm>
            <a:off x="8338433" y="5784945"/>
            <a:ext cx="1591562" cy="1253402"/>
            <a:chOff x="8338433" y="5784945"/>
            <a:chExt cx="1591562" cy="1253402"/>
          </a:xfrm>
        </p:grpSpPr>
        <p:sp>
          <p:nvSpPr>
            <p:cNvPr id="41" name="Text Box 74"/>
            <p:cNvSpPr txBox="1">
              <a:spLocks noChangeArrowheads="1"/>
            </p:cNvSpPr>
            <p:nvPr/>
          </p:nvSpPr>
          <p:spPr bwMode="auto">
            <a:xfrm>
              <a:off x="8718062" y="5784945"/>
              <a:ext cx="1211933" cy="1253402"/>
            </a:xfrm>
            <a:prstGeom prst="rect">
              <a:avLst/>
            </a:prstGeom>
            <a:solidFill>
              <a:schemeClr val="tx2">
                <a:lumMod val="25000"/>
                <a:lumOff val="75000"/>
              </a:schemeClr>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108000" tIns="72000" rIns="108000" bIns="72000" anchor="ctr" anchorCtr="1">
              <a:spAutoFit/>
            </a:bodyPr>
            <a:lstStyle>
              <a:lvl1pPr>
                <a:defRPr sz="2000">
                  <a:solidFill>
                    <a:srgbClr val="FF0000"/>
                  </a:solidFill>
                  <a:latin typeface="Arial" panose="020B0604020202020204" pitchFamily="34" charset="0"/>
                </a:defRPr>
              </a:lvl1pPr>
              <a:lvl2pPr marL="742950" indent="-285750">
                <a:defRPr sz="2000">
                  <a:solidFill>
                    <a:srgbClr val="FF0000"/>
                  </a:solidFill>
                  <a:latin typeface="Arial" panose="020B0604020202020204" pitchFamily="34" charset="0"/>
                </a:defRPr>
              </a:lvl2pPr>
              <a:lvl3pPr marL="1143000" indent="-228600">
                <a:defRPr sz="2000">
                  <a:solidFill>
                    <a:srgbClr val="FF0000"/>
                  </a:solidFill>
                  <a:latin typeface="Arial" panose="020B0604020202020204" pitchFamily="34" charset="0"/>
                </a:defRPr>
              </a:lvl3pPr>
              <a:lvl4pPr marL="1600200" indent="-228600">
                <a:defRPr sz="2000">
                  <a:solidFill>
                    <a:srgbClr val="FF0000"/>
                  </a:solidFill>
                  <a:latin typeface="Arial" panose="020B0604020202020204" pitchFamily="34" charset="0"/>
                </a:defRPr>
              </a:lvl4pPr>
              <a:lvl5pPr marL="2057400" indent="-228600">
                <a:defRPr sz="2000">
                  <a:solidFill>
                    <a:srgbClr val="FF0000"/>
                  </a:solidFill>
                  <a:latin typeface="Arial" panose="020B0604020202020204" pitchFamily="34" charset="0"/>
                </a:defRPr>
              </a:lvl5pPr>
              <a:lvl6pPr marL="2514600" indent="-228600" eaLnBrk="0" fontAlgn="base" hangingPunct="0">
                <a:spcBef>
                  <a:spcPct val="0"/>
                </a:spcBef>
                <a:spcAft>
                  <a:spcPct val="0"/>
                </a:spcAft>
                <a:defRPr sz="2000">
                  <a:solidFill>
                    <a:srgbClr val="FF0000"/>
                  </a:solidFill>
                  <a:latin typeface="Arial" panose="020B0604020202020204" pitchFamily="34" charset="0"/>
                </a:defRPr>
              </a:lvl6pPr>
              <a:lvl7pPr marL="2971800" indent="-228600" eaLnBrk="0" fontAlgn="base" hangingPunct="0">
                <a:spcBef>
                  <a:spcPct val="0"/>
                </a:spcBef>
                <a:spcAft>
                  <a:spcPct val="0"/>
                </a:spcAft>
                <a:defRPr sz="2000">
                  <a:solidFill>
                    <a:srgbClr val="FF0000"/>
                  </a:solidFill>
                  <a:latin typeface="Arial" panose="020B0604020202020204" pitchFamily="34" charset="0"/>
                </a:defRPr>
              </a:lvl7pPr>
              <a:lvl8pPr marL="3429000" indent="-228600" eaLnBrk="0" fontAlgn="base" hangingPunct="0">
                <a:spcBef>
                  <a:spcPct val="0"/>
                </a:spcBef>
                <a:spcAft>
                  <a:spcPct val="0"/>
                </a:spcAft>
                <a:defRPr sz="2000">
                  <a:solidFill>
                    <a:srgbClr val="FF0000"/>
                  </a:solidFill>
                  <a:latin typeface="Arial" panose="020B0604020202020204" pitchFamily="34" charset="0"/>
                </a:defRPr>
              </a:lvl8pPr>
              <a:lvl9pPr marL="3886200" indent="-228600" eaLnBrk="0" fontAlgn="base" hangingPunct="0">
                <a:spcBef>
                  <a:spcPct val="0"/>
                </a:spcBef>
                <a:spcAft>
                  <a:spcPct val="0"/>
                </a:spcAft>
                <a:defRPr sz="2000">
                  <a:solidFill>
                    <a:srgbClr val="FF0000"/>
                  </a:solidFill>
                  <a:latin typeface="Arial" panose="020B0604020202020204" pitchFamily="34" charset="0"/>
                </a:defRPr>
              </a:lvl9pPr>
            </a:lstStyle>
            <a:p>
              <a:pPr algn="ctr" eaLnBrk="1" hangingPunct="1">
                <a:spcBef>
                  <a:spcPct val="50000"/>
                </a:spcBef>
              </a:pPr>
              <a:r>
                <a:rPr lang="es-ES" sz="2400">
                  <a:solidFill>
                    <a:schemeClr val="tx1"/>
                  </a:solidFill>
                </a:rPr>
                <a:t>Lejos deben ser 8</a:t>
              </a:r>
            </a:p>
          </p:txBody>
        </p:sp>
        <p:sp>
          <p:nvSpPr>
            <p:cNvPr id="5" name="Flecha: hacia abajo 4">
              <a:extLst>
                <a:ext uri="{FF2B5EF4-FFF2-40B4-BE49-F238E27FC236}">
                  <a16:creationId xmlns:a16="http://schemas.microsoft.com/office/drawing/2014/main" id="{88C0BF49-BDC0-5268-7502-60BAFADA9E77}"/>
                </a:ext>
              </a:extLst>
            </p:cNvPr>
            <p:cNvSpPr/>
            <p:nvPr/>
          </p:nvSpPr>
          <p:spPr bwMode="auto">
            <a:xfrm rot="16200000">
              <a:off x="8141596" y="6295392"/>
              <a:ext cx="648100" cy="254425"/>
            </a:xfrm>
            <a:prstGeom prst="downArrow">
              <a:avLst/>
            </a:prstGeom>
            <a:solidFill>
              <a:schemeClr val="accent1"/>
            </a:solidFill>
            <a:ln w="12700" cap="flat" cmpd="sng" algn="ctr">
              <a:solidFill>
                <a:schemeClr val="accent1"/>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grpSp>
    </p:spTree>
    <p:extLst>
      <p:ext uri="{BB962C8B-B14F-4D97-AF65-F5344CB8AC3E}">
        <p14:creationId xmlns:p14="http://schemas.microsoft.com/office/powerpoint/2010/main" val="30839822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p:tgtEl>
                                          <p:spTgt spid="38"/>
                                        </p:tgtEl>
                                        <p:attrNameLst>
                                          <p:attrName>ppt_x</p:attrName>
                                        </p:attrNameLst>
                                      </p:cBhvr>
                                      <p:tavLst>
                                        <p:tav tm="0">
                                          <p:val>
                                            <p:strVal val="#ppt_x-#ppt_w*1.125000"/>
                                          </p:val>
                                        </p:tav>
                                        <p:tav tm="100000">
                                          <p:val>
                                            <p:strVal val="#ppt_x"/>
                                          </p:val>
                                        </p:tav>
                                      </p:tavLst>
                                    </p:anim>
                                    <p:animEffect transition="in" filter="wipe(right)">
                                      <p:cBhvr>
                                        <p:cTn id="8" dur="500"/>
                                        <p:tgtEl>
                                          <p:spTgt spid="38"/>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5415"/>
                                        </p:tgtEl>
                                        <p:attrNameLst>
                                          <p:attrName>style.visibility</p:attrName>
                                        </p:attrNameLst>
                                      </p:cBhvr>
                                      <p:to>
                                        <p:strVal val="visible"/>
                                      </p:to>
                                    </p:set>
                                    <p:animEffect transition="in" filter="blinds(vertical)">
                                      <p:cBhvr>
                                        <p:cTn id="13" dur="500"/>
                                        <p:tgtEl>
                                          <p:spTgt spid="1541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5431"/>
                                        </p:tgtEl>
                                        <p:attrNameLst>
                                          <p:attrName>style.visibility</p:attrName>
                                        </p:attrNameLst>
                                      </p:cBhvr>
                                      <p:to>
                                        <p:strVal val="visible"/>
                                      </p:to>
                                    </p:set>
                                    <p:animEffect transition="in" filter="wipe(up)">
                                      <p:cBhvr>
                                        <p:cTn id="18" dur="500"/>
                                        <p:tgtEl>
                                          <p:spTgt spid="1543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264195"/>
                                        </p:tgtEl>
                                        <p:attrNameLst>
                                          <p:attrName>style.visibility</p:attrName>
                                        </p:attrNameLst>
                                      </p:cBhvr>
                                      <p:to>
                                        <p:strVal val="visible"/>
                                      </p:to>
                                    </p:set>
                                    <p:animEffect transition="in" filter="dissolve">
                                      <p:cBhvr>
                                        <p:cTn id="23" dur="500"/>
                                        <p:tgtEl>
                                          <p:spTgt spid="26419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4" fill="hold" grpId="0" nodeType="clickEffect">
                                  <p:stCondLst>
                                    <p:cond delay="0"/>
                                  </p:stCondLst>
                                  <p:childTnLst>
                                    <p:set>
                                      <p:cBhvr>
                                        <p:cTn id="27" dur="1" fill="hold">
                                          <p:stCondLst>
                                            <p:cond delay="0"/>
                                          </p:stCondLst>
                                        </p:cTn>
                                        <p:tgtEl>
                                          <p:spTgt spid="264225"/>
                                        </p:tgtEl>
                                        <p:attrNameLst>
                                          <p:attrName>style.visibility</p:attrName>
                                        </p:attrNameLst>
                                      </p:cBhvr>
                                      <p:to>
                                        <p:strVal val="visible"/>
                                      </p:to>
                                    </p:set>
                                    <p:animEffect transition="in" filter="wheel(4)">
                                      <p:cBhvr>
                                        <p:cTn id="28" dur="500"/>
                                        <p:tgtEl>
                                          <p:spTgt spid="264225"/>
                                        </p:tgtEl>
                                      </p:cBhvr>
                                    </p:animEffect>
                                  </p:childTnLst>
                                </p:cTn>
                              </p:par>
                            </p:childTnLst>
                          </p:cTn>
                        </p:par>
                        <p:par>
                          <p:cTn id="29" fill="hold">
                            <p:stCondLst>
                              <p:cond delay="500"/>
                            </p:stCondLst>
                            <p:childTnLst>
                              <p:par>
                                <p:cTn id="30" presetID="23" presetClass="entr" presetSubtype="272" fill="hold" grpId="0" nodeType="afterEffect">
                                  <p:stCondLst>
                                    <p:cond delay="0"/>
                                  </p:stCondLst>
                                  <p:childTnLst>
                                    <p:set>
                                      <p:cBhvr>
                                        <p:cTn id="31" dur="1" fill="hold">
                                          <p:stCondLst>
                                            <p:cond delay="0"/>
                                          </p:stCondLst>
                                        </p:cTn>
                                        <p:tgtEl>
                                          <p:spTgt spid="15419"/>
                                        </p:tgtEl>
                                        <p:attrNameLst>
                                          <p:attrName>style.visibility</p:attrName>
                                        </p:attrNameLst>
                                      </p:cBhvr>
                                      <p:to>
                                        <p:strVal val="visible"/>
                                      </p:to>
                                    </p:set>
                                    <p:anim calcmode="lin" valueType="num">
                                      <p:cBhvr>
                                        <p:cTn id="32" dur="500" fill="hold"/>
                                        <p:tgtEl>
                                          <p:spTgt spid="15419"/>
                                        </p:tgtEl>
                                        <p:attrNameLst>
                                          <p:attrName>ppt_w</p:attrName>
                                        </p:attrNameLst>
                                      </p:cBhvr>
                                      <p:tavLst>
                                        <p:tav tm="0">
                                          <p:val>
                                            <p:strVal val="2/3*#ppt_w"/>
                                          </p:val>
                                        </p:tav>
                                        <p:tav tm="100000">
                                          <p:val>
                                            <p:strVal val="#ppt_w"/>
                                          </p:val>
                                        </p:tav>
                                      </p:tavLst>
                                    </p:anim>
                                    <p:anim calcmode="lin" valueType="num">
                                      <p:cBhvr>
                                        <p:cTn id="33" dur="500" fill="hold"/>
                                        <p:tgtEl>
                                          <p:spTgt spid="15419"/>
                                        </p:tgtEl>
                                        <p:attrNameLst>
                                          <p:attrName>ppt_h</p:attrName>
                                        </p:attrNameLst>
                                      </p:cBhvr>
                                      <p:tavLst>
                                        <p:tav tm="0">
                                          <p:val>
                                            <p:strVal val="2/3*#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6" presetClass="entr" presetSubtype="32"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circle(out)">
                                      <p:cBhvr>
                                        <p:cTn id="38" dur="500"/>
                                        <p:tgtEl>
                                          <p:spTgt spid="7"/>
                                        </p:tgtEl>
                                      </p:cBhvr>
                                    </p:animEffect>
                                  </p:childTnLst>
                                </p:cTn>
                              </p:par>
                            </p:childTnLst>
                          </p:cTn>
                        </p:par>
                        <p:par>
                          <p:cTn id="39" fill="hold" nodeType="afterGroup">
                            <p:stCondLst>
                              <p:cond delay="500"/>
                            </p:stCondLst>
                            <p:childTnLst>
                              <p:par>
                                <p:cTn id="40" presetID="18" presetClass="entr" presetSubtype="9" fill="hold" nodeType="afterEffect">
                                  <p:stCondLst>
                                    <p:cond delay="0"/>
                                  </p:stCondLst>
                                  <p:childTnLst>
                                    <p:set>
                                      <p:cBhvr>
                                        <p:cTn id="41" dur="1" fill="hold">
                                          <p:stCondLst>
                                            <p:cond delay="0"/>
                                          </p:stCondLst>
                                        </p:cTn>
                                        <p:tgtEl>
                                          <p:spTgt spid="15432"/>
                                        </p:tgtEl>
                                        <p:attrNameLst>
                                          <p:attrName>style.visibility</p:attrName>
                                        </p:attrNameLst>
                                      </p:cBhvr>
                                      <p:to>
                                        <p:strVal val="visible"/>
                                      </p:to>
                                    </p:set>
                                    <p:animEffect transition="in" filter="strips(upLeft)">
                                      <p:cBhvr>
                                        <p:cTn id="42" dur="500"/>
                                        <p:tgtEl>
                                          <p:spTgt spid="1543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wipe(up)">
                                      <p:cBhvr>
                                        <p:cTn id="47" dur="500"/>
                                        <p:tgtEl>
                                          <p:spTgt spid="43"/>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272" fill="hold" grpId="0" nodeType="clickEffect">
                                  <p:stCondLst>
                                    <p:cond delay="0"/>
                                  </p:stCondLst>
                                  <p:childTnLst>
                                    <p:set>
                                      <p:cBhvr>
                                        <p:cTn id="51" dur="1" fill="hold">
                                          <p:stCondLst>
                                            <p:cond delay="0"/>
                                          </p:stCondLst>
                                        </p:cTn>
                                        <p:tgtEl>
                                          <p:spTgt spid="37926"/>
                                        </p:tgtEl>
                                        <p:attrNameLst>
                                          <p:attrName>style.visibility</p:attrName>
                                        </p:attrNameLst>
                                      </p:cBhvr>
                                      <p:to>
                                        <p:strVal val="visible"/>
                                      </p:to>
                                    </p:set>
                                    <p:anim calcmode="lin" valueType="num">
                                      <p:cBhvr>
                                        <p:cTn id="52" dur="500" fill="hold"/>
                                        <p:tgtEl>
                                          <p:spTgt spid="37926"/>
                                        </p:tgtEl>
                                        <p:attrNameLst>
                                          <p:attrName>ppt_w</p:attrName>
                                        </p:attrNameLst>
                                      </p:cBhvr>
                                      <p:tavLst>
                                        <p:tav tm="0">
                                          <p:val>
                                            <p:strVal val="2/3*#ppt_w"/>
                                          </p:val>
                                        </p:tav>
                                        <p:tav tm="100000">
                                          <p:val>
                                            <p:strVal val="#ppt_w"/>
                                          </p:val>
                                        </p:tav>
                                      </p:tavLst>
                                    </p:anim>
                                    <p:anim calcmode="lin" valueType="num">
                                      <p:cBhvr>
                                        <p:cTn id="53" dur="500" fill="hold"/>
                                        <p:tgtEl>
                                          <p:spTgt spid="37926"/>
                                        </p:tgtEl>
                                        <p:attrNameLst>
                                          <p:attrName>ppt_h</p:attrName>
                                        </p:attrNameLst>
                                      </p:cBhvr>
                                      <p:tavLst>
                                        <p:tav tm="0">
                                          <p:val>
                                            <p:strVal val="2/3*#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64250"/>
                                        </p:tgtEl>
                                        <p:attrNameLst>
                                          <p:attrName>style.visibility</p:attrName>
                                        </p:attrNameLst>
                                      </p:cBhvr>
                                      <p:to>
                                        <p:strVal val="visible"/>
                                      </p:to>
                                    </p:set>
                                    <p:animEffect transition="in" filter="wipe(left)">
                                      <p:cBhvr>
                                        <p:cTn id="58" dur="500"/>
                                        <p:tgtEl>
                                          <p:spTgt spid="26425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wipe(up)">
                                      <p:cBhvr>
                                        <p:cTn id="63" dur="500"/>
                                        <p:tgtEl>
                                          <p:spTgt spid="3"/>
                                        </p:tgtEl>
                                      </p:cBhvr>
                                    </p:animEffect>
                                  </p:childTnLst>
                                </p:cTn>
                              </p:par>
                            </p:childTnLst>
                          </p:cTn>
                        </p:par>
                      </p:childTnLst>
                    </p:cTn>
                  </p:par>
                  <p:par>
                    <p:cTn id="64" fill="hold">
                      <p:stCondLst>
                        <p:cond delay="indefinite"/>
                      </p:stCondLst>
                      <p:childTnLst>
                        <p:par>
                          <p:cTn id="65" fill="hold">
                            <p:stCondLst>
                              <p:cond delay="0"/>
                            </p:stCondLst>
                            <p:childTnLst>
                              <p:par>
                                <p:cTn id="66" presetID="23" presetClass="entr" presetSubtype="272" fill="hold" grpId="0" nodeType="clickEffect">
                                  <p:stCondLst>
                                    <p:cond delay="0"/>
                                  </p:stCondLst>
                                  <p:childTnLst>
                                    <p:set>
                                      <p:cBhvr>
                                        <p:cTn id="67" dur="1" fill="hold">
                                          <p:stCondLst>
                                            <p:cond delay="0"/>
                                          </p:stCondLst>
                                        </p:cTn>
                                        <p:tgtEl>
                                          <p:spTgt spid="15440"/>
                                        </p:tgtEl>
                                        <p:attrNameLst>
                                          <p:attrName>style.visibility</p:attrName>
                                        </p:attrNameLst>
                                      </p:cBhvr>
                                      <p:to>
                                        <p:strVal val="visible"/>
                                      </p:to>
                                    </p:set>
                                    <p:anim calcmode="lin" valueType="num">
                                      <p:cBhvr>
                                        <p:cTn id="68" dur="500" fill="hold"/>
                                        <p:tgtEl>
                                          <p:spTgt spid="15440"/>
                                        </p:tgtEl>
                                        <p:attrNameLst>
                                          <p:attrName>ppt_w</p:attrName>
                                        </p:attrNameLst>
                                      </p:cBhvr>
                                      <p:tavLst>
                                        <p:tav tm="0">
                                          <p:val>
                                            <p:strVal val="2/3*#ppt_w"/>
                                          </p:val>
                                        </p:tav>
                                        <p:tav tm="100000">
                                          <p:val>
                                            <p:strVal val="#ppt_w"/>
                                          </p:val>
                                        </p:tav>
                                      </p:tavLst>
                                    </p:anim>
                                    <p:anim calcmode="lin" valueType="num">
                                      <p:cBhvr>
                                        <p:cTn id="69" dur="500" fill="hold"/>
                                        <p:tgtEl>
                                          <p:spTgt spid="15440"/>
                                        </p:tgtEl>
                                        <p:attrNameLst>
                                          <p:attrName>ppt_h</p:attrName>
                                        </p:attrNameLst>
                                      </p:cBhvr>
                                      <p:tavLst>
                                        <p:tav tm="0">
                                          <p:val>
                                            <p:strVal val="2/3*#ppt_h"/>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72" presetID="22" presetClass="entr" presetSubtype="2" fill="hold" grpId="0" nodeType="clickEffect">
                                  <p:stCondLst>
                                    <p:cond delay="0"/>
                                  </p:stCondLst>
                                  <p:childTnLst>
                                    <p:set>
                                      <p:cBhvr>
                                        <p:cTn id="73" dur="1" fill="hold">
                                          <p:stCondLst>
                                            <p:cond delay="0"/>
                                          </p:stCondLst>
                                        </p:cTn>
                                        <p:tgtEl>
                                          <p:spTgt spid="264218"/>
                                        </p:tgtEl>
                                        <p:attrNameLst>
                                          <p:attrName>style.visibility</p:attrName>
                                        </p:attrNameLst>
                                      </p:cBhvr>
                                      <p:to>
                                        <p:strVal val="visible"/>
                                      </p:to>
                                    </p:set>
                                    <p:animEffect transition="in" filter="wipe(right)">
                                      <p:cBhvr>
                                        <p:cTn id="74" dur="500"/>
                                        <p:tgtEl>
                                          <p:spTgt spid="26421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64219"/>
                                        </p:tgtEl>
                                        <p:attrNameLst>
                                          <p:attrName>style.visibility</p:attrName>
                                        </p:attrNameLst>
                                      </p:cBhvr>
                                      <p:to>
                                        <p:strVal val="visible"/>
                                      </p:to>
                                    </p:set>
                                    <p:animEffect transition="in" filter="wipe(left)">
                                      <p:cBhvr>
                                        <p:cTn id="79" dur="500"/>
                                        <p:tgtEl>
                                          <p:spTgt spid="264219"/>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2" presetClass="entr" presetSubtype="1" fill="hold" grpId="0" nodeType="clickEffect">
                                  <p:stCondLst>
                                    <p:cond delay="0"/>
                                  </p:stCondLst>
                                  <p:childTnLst>
                                    <p:set>
                                      <p:cBhvr>
                                        <p:cTn id="83" dur="1" fill="hold">
                                          <p:stCondLst>
                                            <p:cond delay="0"/>
                                          </p:stCondLst>
                                        </p:cTn>
                                        <p:tgtEl>
                                          <p:spTgt spid="15421"/>
                                        </p:tgtEl>
                                        <p:attrNameLst>
                                          <p:attrName>style.visibility</p:attrName>
                                        </p:attrNameLst>
                                      </p:cBhvr>
                                      <p:to>
                                        <p:strVal val="visible"/>
                                      </p:to>
                                    </p:set>
                                    <p:anim calcmode="lin" valueType="num">
                                      <p:cBhvr additive="base">
                                        <p:cTn id="84" dur="500"/>
                                        <p:tgtEl>
                                          <p:spTgt spid="15421"/>
                                        </p:tgtEl>
                                        <p:attrNameLst>
                                          <p:attrName>ppt_y</p:attrName>
                                        </p:attrNameLst>
                                      </p:cBhvr>
                                      <p:tavLst>
                                        <p:tav tm="0">
                                          <p:val>
                                            <p:strVal val="#ppt_y-#ppt_h*1.125000"/>
                                          </p:val>
                                        </p:tav>
                                        <p:tav tm="100000">
                                          <p:val>
                                            <p:strVal val="#ppt_y"/>
                                          </p:val>
                                        </p:tav>
                                      </p:tavLst>
                                    </p:anim>
                                    <p:animEffect transition="in" filter="wipe(down)">
                                      <p:cBhvr>
                                        <p:cTn id="85" dur="500"/>
                                        <p:tgtEl>
                                          <p:spTgt spid="15421"/>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8"/>
                                        </p:tgtEl>
                                        <p:attrNameLst>
                                          <p:attrName>style.visibility</p:attrName>
                                        </p:attrNameLst>
                                      </p:cBhvr>
                                      <p:to>
                                        <p:strVal val="visible"/>
                                      </p:to>
                                    </p:set>
                                    <p:animEffect transition="in" filter="wipe(left)">
                                      <p:cBhvr>
                                        <p:cTn id="90" dur="500"/>
                                        <p:tgtEl>
                                          <p:spTgt spid="8"/>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6"/>
                                        </p:tgtEl>
                                        <p:attrNameLst>
                                          <p:attrName>style.visibility</p:attrName>
                                        </p:attrNameLst>
                                      </p:cBhvr>
                                      <p:to>
                                        <p:strVal val="visible"/>
                                      </p:to>
                                    </p:set>
                                    <p:animEffect transition="in" filter="wipe(left)">
                                      <p:cBhvr>
                                        <p:cTn id="95" dur="500"/>
                                        <p:tgtEl>
                                          <p:spTgt spid="6"/>
                                        </p:tgtEl>
                                      </p:cBhvr>
                                    </p:animEffect>
                                  </p:childTnLst>
                                </p:cTn>
                              </p:par>
                            </p:childTnLst>
                          </p:cTn>
                        </p:par>
                      </p:childTnLst>
                    </p:cTn>
                  </p:par>
                  <p:par>
                    <p:cTn id="96" fill="hold">
                      <p:stCondLst>
                        <p:cond delay="indefinite"/>
                      </p:stCondLst>
                      <p:childTnLst>
                        <p:par>
                          <p:cTn id="97" fill="hold">
                            <p:stCondLst>
                              <p:cond delay="0"/>
                            </p:stCondLst>
                            <p:childTnLst>
                              <p:par>
                                <p:cTn id="98" presetID="23" presetClass="entr" presetSubtype="16" fill="hold" grpId="0" nodeType="clickEffect">
                                  <p:stCondLst>
                                    <p:cond delay="0"/>
                                  </p:stCondLst>
                                  <p:childTnLst>
                                    <p:set>
                                      <p:cBhvr>
                                        <p:cTn id="99" dur="1" fill="hold">
                                          <p:stCondLst>
                                            <p:cond delay="0"/>
                                          </p:stCondLst>
                                        </p:cTn>
                                        <p:tgtEl>
                                          <p:spTgt spid="37912"/>
                                        </p:tgtEl>
                                        <p:attrNameLst>
                                          <p:attrName>style.visibility</p:attrName>
                                        </p:attrNameLst>
                                      </p:cBhvr>
                                      <p:to>
                                        <p:strVal val="visible"/>
                                      </p:to>
                                    </p:set>
                                    <p:anim calcmode="lin" valueType="num">
                                      <p:cBhvr>
                                        <p:cTn id="100" dur="500" fill="hold"/>
                                        <p:tgtEl>
                                          <p:spTgt spid="37912"/>
                                        </p:tgtEl>
                                        <p:attrNameLst>
                                          <p:attrName>ppt_w</p:attrName>
                                        </p:attrNameLst>
                                      </p:cBhvr>
                                      <p:tavLst>
                                        <p:tav tm="0">
                                          <p:val>
                                            <p:fltVal val="0"/>
                                          </p:val>
                                        </p:tav>
                                        <p:tav tm="100000">
                                          <p:val>
                                            <p:strVal val="#ppt_w"/>
                                          </p:val>
                                        </p:tav>
                                      </p:tavLst>
                                    </p:anim>
                                    <p:anim calcmode="lin" valueType="num">
                                      <p:cBhvr>
                                        <p:cTn id="101" dur="500" fill="hold"/>
                                        <p:tgtEl>
                                          <p:spTgt spid="379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15" grpId="0" animBg="1"/>
      <p:bldP spid="264218" grpId="0"/>
      <p:bldP spid="264219" grpId="0"/>
      <p:bldP spid="264225" grpId="0" animBg="1"/>
      <p:bldP spid="264250" grpId="0" animBg="1"/>
      <p:bldP spid="15419" grpId="0"/>
      <p:bldP spid="15421" grpId="0" animBg="1"/>
      <p:bldP spid="15431" grpId="0" animBg="1"/>
      <p:bldP spid="37912" grpId="0" animBg="1"/>
      <p:bldP spid="15440" grpId="0" animBg="1"/>
      <p:bldP spid="38" grpId="0" animBg="1"/>
      <p:bldP spid="37926" grpId="0" animBg="1"/>
      <p:bldP spid="4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1281526" y="488950"/>
            <a:ext cx="678338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tabLst>
                <a:tab pos="196850" algn="r"/>
                <a:tab pos="2940050" algn="ctr"/>
                <a:tab pos="5880100" algn="r"/>
              </a:tabLst>
              <a:defRPr sz="2000">
                <a:solidFill>
                  <a:srgbClr val="000000"/>
                </a:solidFill>
                <a:latin typeface="Arial" panose="020B0604020202020204" pitchFamily="34" charset="0"/>
              </a:defRPr>
            </a:lvl1pPr>
            <a:lvl2pPr marL="742950" indent="-285750" defTabSz="995363">
              <a:tabLst>
                <a:tab pos="196850" algn="r"/>
                <a:tab pos="2940050" algn="ctr"/>
                <a:tab pos="5880100" algn="r"/>
              </a:tabLst>
              <a:defRPr sz="2000">
                <a:solidFill>
                  <a:srgbClr val="000000"/>
                </a:solidFill>
                <a:latin typeface="Arial" panose="020B0604020202020204" pitchFamily="34" charset="0"/>
              </a:defRPr>
            </a:lvl2pPr>
            <a:lvl3pPr marL="1143000" indent="-228600" defTabSz="995363">
              <a:tabLst>
                <a:tab pos="196850" algn="r"/>
                <a:tab pos="2940050" algn="ctr"/>
                <a:tab pos="5880100" algn="r"/>
              </a:tabLst>
              <a:defRPr sz="2000">
                <a:solidFill>
                  <a:srgbClr val="000000"/>
                </a:solidFill>
                <a:latin typeface="Arial" panose="020B0604020202020204" pitchFamily="34" charset="0"/>
              </a:defRPr>
            </a:lvl3pPr>
            <a:lvl4pPr marL="1600200" indent="-228600" defTabSz="995363">
              <a:tabLst>
                <a:tab pos="196850" algn="r"/>
                <a:tab pos="2940050" algn="ctr"/>
                <a:tab pos="5880100" algn="r"/>
              </a:tabLst>
              <a:defRPr sz="2000">
                <a:solidFill>
                  <a:srgbClr val="000000"/>
                </a:solidFill>
                <a:latin typeface="Arial" panose="020B0604020202020204" pitchFamily="34" charset="0"/>
              </a:defRPr>
            </a:lvl4pPr>
            <a:lvl5pPr marL="2057400" indent="-228600" defTabSz="995363">
              <a:tabLst>
                <a:tab pos="196850" algn="r"/>
                <a:tab pos="2940050" algn="ctr"/>
                <a:tab pos="5880100" algn="r"/>
              </a:tabLst>
              <a:defRPr sz="2000">
                <a:solidFill>
                  <a:srgbClr val="000000"/>
                </a:solidFill>
                <a:latin typeface="Arial" panose="020B0604020202020204" pitchFamily="34" charset="0"/>
              </a:defRPr>
            </a:lvl5pPr>
            <a:lvl6pPr marL="25146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6pPr>
            <a:lvl7pPr marL="29718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7pPr>
            <a:lvl8pPr marL="34290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8pPr>
            <a:lvl9pPr marL="38862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9pPr>
          </a:lstStyle>
          <a:p>
            <a:pPr eaLnBrk="1" hangingPunct="1"/>
            <a:r>
              <a:rPr lang="es-ES" sz="2400" b="1">
                <a:solidFill>
                  <a:srgbClr val="CC0000"/>
                </a:solidFill>
              </a:rPr>
              <a:t>1.4.1. CONDUCTORES Y AISLANTES</a:t>
            </a:r>
          </a:p>
        </p:txBody>
      </p:sp>
      <p:sp>
        <p:nvSpPr>
          <p:cNvPr id="9241" name="Text Box 14"/>
          <p:cNvSpPr txBox="1">
            <a:spLocks noChangeArrowheads="1"/>
          </p:cNvSpPr>
          <p:nvPr/>
        </p:nvSpPr>
        <p:spPr bwMode="auto">
          <a:xfrm>
            <a:off x="3393206" y="3082453"/>
            <a:ext cx="4397139" cy="57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sym typeface="Symbol" panose="05050102010706020507" pitchFamily="18" charset="2"/>
              </a:rPr>
              <a:t>La interacción entre moléculas</a:t>
            </a:r>
          </a:p>
        </p:txBody>
      </p:sp>
      <p:sp>
        <p:nvSpPr>
          <p:cNvPr id="242702" name="Text Box 14"/>
          <p:cNvSpPr txBox="1">
            <a:spLocks noChangeArrowheads="1"/>
          </p:cNvSpPr>
          <p:nvPr/>
        </p:nvSpPr>
        <p:spPr bwMode="auto">
          <a:xfrm>
            <a:off x="3393207" y="3730513"/>
            <a:ext cx="4397138" cy="576000"/>
          </a:xfrm>
          <a:prstGeom prst="rect">
            <a:avLst/>
          </a:prstGeom>
          <a:solidFill>
            <a:schemeClr val="accent1">
              <a:lumMod val="60000"/>
              <a:lumOff val="40000"/>
            </a:schemeClr>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r>
              <a:rPr lang="es-ES" sz="2400">
                <a:solidFill>
                  <a:schemeClr val="tx1"/>
                </a:solidFill>
                <a:sym typeface="Symbol" panose="05050102010706020507" pitchFamily="18" charset="2"/>
              </a:rPr>
              <a:t>Gases  &lt;  Líquidos  &lt;  Sólidos</a:t>
            </a:r>
          </a:p>
        </p:txBody>
      </p:sp>
      <p:sp>
        <p:nvSpPr>
          <p:cNvPr id="3" name="Text Box 6"/>
          <p:cNvSpPr txBox="1">
            <a:spLocks noChangeArrowheads="1"/>
          </p:cNvSpPr>
          <p:nvPr/>
        </p:nvSpPr>
        <p:spPr bwMode="auto">
          <a:xfrm>
            <a:off x="1407362" y="1157544"/>
            <a:ext cx="1562101" cy="514350"/>
          </a:xfrm>
          <a:prstGeom prst="rect">
            <a:avLst/>
          </a:prstGeom>
          <a:solidFill>
            <a:srgbClr val="FAFAFA"/>
          </a:solidFill>
          <a:ln>
            <a:noFill/>
          </a:ln>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dirty="0"/>
              <a:t>MATERIA</a:t>
            </a:r>
          </a:p>
        </p:txBody>
      </p:sp>
      <p:sp>
        <p:nvSpPr>
          <p:cNvPr id="9240" name="Text Box 5"/>
          <p:cNvSpPr txBox="1">
            <a:spLocks noChangeArrowheads="1"/>
          </p:cNvSpPr>
          <p:nvPr/>
        </p:nvSpPr>
        <p:spPr bwMode="auto">
          <a:xfrm>
            <a:off x="3654417" y="1208227"/>
            <a:ext cx="2076967" cy="463550"/>
          </a:xfrm>
          <a:prstGeom prst="rect">
            <a:avLst/>
          </a:prstGeom>
          <a:solidFill>
            <a:srgbClr val="FFFF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t>ÁTOMOS</a:t>
            </a:r>
          </a:p>
        </p:txBody>
      </p:sp>
      <p:grpSp>
        <p:nvGrpSpPr>
          <p:cNvPr id="2" name="Grupo 1">
            <a:extLst>
              <a:ext uri="{FF2B5EF4-FFF2-40B4-BE49-F238E27FC236}">
                <a16:creationId xmlns:a16="http://schemas.microsoft.com/office/drawing/2014/main" id="{6E2D0BB1-8107-4CD3-9100-818E52378D58}"/>
              </a:ext>
            </a:extLst>
          </p:cNvPr>
          <p:cNvGrpSpPr/>
          <p:nvPr/>
        </p:nvGrpSpPr>
        <p:grpSpPr>
          <a:xfrm>
            <a:off x="2314708" y="1437894"/>
            <a:ext cx="1976439" cy="1095337"/>
            <a:chOff x="2334372" y="1437894"/>
            <a:chExt cx="1976439" cy="1095337"/>
          </a:xfrm>
        </p:grpSpPr>
        <p:sp>
          <p:nvSpPr>
            <p:cNvPr id="9242" name="Line 7"/>
            <p:cNvSpPr>
              <a:spLocks noChangeShapeType="1"/>
            </p:cNvSpPr>
            <p:nvPr/>
          </p:nvSpPr>
          <p:spPr bwMode="auto">
            <a:xfrm>
              <a:off x="3102433" y="1437894"/>
              <a:ext cx="479643" cy="0"/>
            </a:xfrm>
            <a:prstGeom prst="line">
              <a:avLst/>
            </a:prstGeom>
            <a:noFill/>
            <a:ln w="38100">
              <a:solidFill>
                <a:srgbClr val="008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a:p>
          </p:txBody>
        </p:sp>
        <p:sp>
          <p:nvSpPr>
            <p:cNvPr id="9243" name="Text Box 48"/>
            <p:cNvSpPr txBox="1">
              <a:spLocks noChangeArrowheads="1"/>
            </p:cNvSpPr>
            <p:nvPr/>
          </p:nvSpPr>
          <p:spPr bwMode="auto">
            <a:xfrm>
              <a:off x="2334372" y="1700053"/>
              <a:ext cx="1976439" cy="83317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rgbClr val="008000"/>
                  </a:solidFill>
                </a:rPr>
                <a:t>está formada</a:t>
              </a:r>
            </a:p>
            <a:p>
              <a:pPr algn="ctr" eaLnBrk="1" hangingPunct="1">
                <a:spcBef>
                  <a:spcPts val="0"/>
                </a:spcBef>
              </a:pPr>
              <a:r>
                <a:rPr lang="es-ES" sz="2400" dirty="0">
                  <a:solidFill>
                    <a:srgbClr val="008000"/>
                  </a:solidFill>
                </a:rPr>
                <a:t>por</a:t>
              </a:r>
            </a:p>
          </p:txBody>
        </p:sp>
      </p:grpSp>
      <p:sp>
        <p:nvSpPr>
          <p:cNvPr id="9237" name="Text Box 8"/>
          <p:cNvSpPr txBox="1">
            <a:spLocks noChangeArrowheads="1"/>
          </p:cNvSpPr>
          <p:nvPr/>
        </p:nvSpPr>
        <p:spPr bwMode="auto">
          <a:xfrm>
            <a:off x="6461074" y="1203446"/>
            <a:ext cx="2081215" cy="463551"/>
          </a:xfrm>
          <a:prstGeom prst="rect">
            <a:avLst/>
          </a:prstGeom>
          <a:solidFill>
            <a:srgbClr val="FFFF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dirty="0"/>
              <a:t>MOLÉCULAS</a:t>
            </a:r>
          </a:p>
        </p:txBody>
      </p:sp>
      <p:grpSp>
        <p:nvGrpSpPr>
          <p:cNvPr id="6" name="Grupo 5">
            <a:extLst>
              <a:ext uri="{FF2B5EF4-FFF2-40B4-BE49-F238E27FC236}">
                <a16:creationId xmlns:a16="http://schemas.microsoft.com/office/drawing/2014/main" id="{341066AE-2306-46BF-94DD-66A322EC657F}"/>
              </a:ext>
            </a:extLst>
          </p:cNvPr>
          <p:cNvGrpSpPr/>
          <p:nvPr/>
        </p:nvGrpSpPr>
        <p:grpSpPr>
          <a:xfrm>
            <a:off x="5332978" y="1437894"/>
            <a:ext cx="1503364" cy="1097209"/>
            <a:chOff x="6385361" y="1823406"/>
            <a:chExt cx="1503364" cy="1097209"/>
          </a:xfrm>
        </p:grpSpPr>
        <p:sp>
          <p:nvSpPr>
            <p:cNvPr id="9238" name="Line 9"/>
            <p:cNvSpPr>
              <a:spLocks noChangeShapeType="1"/>
            </p:cNvSpPr>
            <p:nvPr/>
          </p:nvSpPr>
          <p:spPr bwMode="auto">
            <a:xfrm>
              <a:off x="6902389" y="1823406"/>
              <a:ext cx="469308" cy="0"/>
            </a:xfrm>
            <a:prstGeom prst="line">
              <a:avLst/>
            </a:prstGeom>
            <a:noFill/>
            <a:ln w="38100">
              <a:solidFill>
                <a:srgbClr val="008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a:p>
          </p:txBody>
        </p:sp>
        <p:sp>
          <p:nvSpPr>
            <p:cNvPr id="9239" name="Text Box 49"/>
            <p:cNvSpPr txBox="1">
              <a:spLocks noChangeArrowheads="1"/>
            </p:cNvSpPr>
            <p:nvPr/>
          </p:nvSpPr>
          <p:spPr bwMode="auto">
            <a:xfrm>
              <a:off x="6385361" y="2087176"/>
              <a:ext cx="1503364" cy="833439"/>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rgbClr val="008000"/>
                  </a:solidFill>
                </a:rPr>
                <a:t>se unen formando</a:t>
              </a:r>
            </a:p>
          </p:txBody>
        </p:sp>
      </p:grpSp>
      <p:sp>
        <p:nvSpPr>
          <p:cNvPr id="9234" name="Text Box 10"/>
          <p:cNvSpPr txBox="1">
            <a:spLocks noChangeArrowheads="1"/>
          </p:cNvSpPr>
          <p:nvPr/>
        </p:nvSpPr>
        <p:spPr bwMode="auto">
          <a:xfrm>
            <a:off x="8526322" y="2526729"/>
            <a:ext cx="1643764" cy="1202510"/>
          </a:xfrm>
          <a:prstGeom prst="rect">
            <a:avLst/>
          </a:prstGeom>
          <a:solidFill>
            <a:srgbClr val="FFFF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t>SÓLIDOS</a:t>
            </a:r>
          </a:p>
          <a:p>
            <a:pPr algn="ctr" eaLnBrk="1" hangingPunct="1">
              <a:spcBef>
                <a:spcPts val="0"/>
              </a:spcBef>
            </a:pPr>
            <a:r>
              <a:rPr lang="es-ES" sz="2400" dirty="0"/>
              <a:t>LÍQUIDOS</a:t>
            </a:r>
          </a:p>
          <a:p>
            <a:pPr algn="ctr" eaLnBrk="1" hangingPunct="1">
              <a:spcBef>
                <a:spcPts val="0"/>
              </a:spcBef>
            </a:pPr>
            <a:r>
              <a:rPr lang="es-ES" sz="2400" dirty="0"/>
              <a:t>GASES</a:t>
            </a:r>
          </a:p>
        </p:txBody>
      </p:sp>
      <p:sp>
        <p:nvSpPr>
          <p:cNvPr id="9230" name="Text Box 13"/>
          <p:cNvSpPr txBox="1">
            <a:spLocks noChangeArrowheads="1"/>
          </p:cNvSpPr>
          <p:nvPr/>
        </p:nvSpPr>
        <p:spPr bwMode="auto">
          <a:xfrm>
            <a:off x="8536154" y="3801388"/>
            <a:ext cx="1643764" cy="514732"/>
          </a:xfrm>
          <a:prstGeom prst="rect">
            <a:avLst/>
          </a:prstGeom>
          <a:solidFill>
            <a:srgbClr val="6666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FFFFFF"/>
                </a:solidFill>
              </a:rPr>
              <a:t>FLUIDOS</a:t>
            </a:r>
          </a:p>
        </p:txBody>
      </p:sp>
      <p:sp>
        <p:nvSpPr>
          <p:cNvPr id="9231" name="AutoShape 11"/>
          <p:cNvSpPr>
            <a:spLocks/>
          </p:cNvSpPr>
          <p:nvPr/>
        </p:nvSpPr>
        <p:spPr bwMode="auto">
          <a:xfrm>
            <a:off x="8312683" y="3009723"/>
            <a:ext cx="262799" cy="670424"/>
          </a:xfrm>
          <a:prstGeom prst="leftBrace">
            <a:avLst>
              <a:gd name="adj1" fmla="val 42632"/>
              <a:gd name="adj2" fmla="val 50000"/>
            </a:avLst>
          </a:prstGeom>
          <a:noFill/>
          <a:ln w="381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9232" name="Forma libre 2"/>
          <p:cNvSpPr>
            <a:spLocks/>
          </p:cNvSpPr>
          <p:nvPr/>
        </p:nvSpPr>
        <p:spPr bwMode="auto">
          <a:xfrm flipH="1">
            <a:off x="8271847" y="3347052"/>
            <a:ext cx="232414" cy="720000"/>
          </a:xfrm>
          <a:custGeom>
            <a:avLst/>
            <a:gdLst>
              <a:gd name="T0" fmla="*/ 208721 w 208721"/>
              <a:gd name="T1" fmla="*/ 0 h 1739348"/>
              <a:gd name="T2" fmla="*/ 198782 w 208721"/>
              <a:gd name="T3" fmla="*/ 176589 h 1739348"/>
              <a:gd name="T4" fmla="*/ 0 w 208721"/>
              <a:gd name="T5" fmla="*/ 176589 h 1739348"/>
              <a:gd name="T6" fmla="*/ 0 60000 65536"/>
              <a:gd name="T7" fmla="*/ 0 60000 65536"/>
              <a:gd name="T8" fmla="*/ 0 60000 65536"/>
            </a:gdLst>
            <a:ahLst/>
            <a:cxnLst>
              <a:cxn ang="T6">
                <a:pos x="T0" y="T1"/>
              </a:cxn>
              <a:cxn ang="T7">
                <a:pos x="T2" y="T3"/>
              </a:cxn>
              <a:cxn ang="T8">
                <a:pos x="T4" y="T5"/>
              </a:cxn>
            </a:cxnLst>
            <a:rect l="0" t="0" r="r" b="b"/>
            <a:pathLst>
              <a:path w="208721" h="1739348">
                <a:moveTo>
                  <a:pt x="208721" y="0"/>
                </a:moveTo>
                <a:lnTo>
                  <a:pt x="198782" y="1739348"/>
                </a:lnTo>
                <a:lnTo>
                  <a:pt x="0" y="1739348"/>
                </a:lnTo>
              </a:path>
            </a:pathLst>
          </a:custGeom>
          <a:noFill/>
          <a:ln w="38100" cap="flat" cmpd="sng" algn="ctr">
            <a:solidFill>
              <a:srgbClr val="008000"/>
            </a:solidFill>
            <a:prstDash val="solid"/>
            <a:round/>
            <a:headEnd type="oval" w="med" len="med"/>
            <a:tailEnd type="triangle" w="lg" len="med"/>
          </a:ln>
          <a:extLst>
            <a:ext uri="{909E8E84-426E-40DD-AFC4-6F175D3DCCD1}">
              <a14:hiddenFill xmlns:a14="http://schemas.microsoft.com/office/drawing/2010/main">
                <a:solidFill>
                  <a:srgbClr val="FFFFFF"/>
                </a:solidFill>
              </a14:hiddenFill>
            </a:ext>
          </a:extLst>
        </p:spPr>
        <p:txBody>
          <a:bodyPr wrap="none" lIns="90000" tIns="46800" rIns="90000" bIns="46800">
            <a:noAutofit/>
          </a:bodyPr>
          <a:lstStyle/>
          <a:p>
            <a:endParaRPr lang="en-GB"/>
          </a:p>
        </p:txBody>
      </p:sp>
      <p:sp>
        <p:nvSpPr>
          <p:cNvPr id="26" name="Text Box 14"/>
          <p:cNvSpPr txBox="1">
            <a:spLocks noChangeArrowheads="1"/>
          </p:cNvSpPr>
          <p:nvPr/>
        </p:nvSpPr>
        <p:spPr bwMode="auto">
          <a:xfrm>
            <a:off x="1706993" y="4461783"/>
            <a:ext cx="8305260" cy="525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720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pPr>
            <a:r>
              <a:rPr lang="es-ES" sz="2400" dirty="0">
                <a:solidFill>
                  <a:schemeClr val="tx1"/>
                </a:solidFill>
                <a:sym typeface="Symbol" panose="05050102010706020507" pitchFamily="18" charset="2"/>
              </a:rPr>
              <a:t> La interacción entre moléculas disminuye con la distancia</a:t>
            </a:r>
          </a:p>
        </p:txBody>
      </p:sp>
      <p:sp>
        <p:nvSpPr>
          <p:cNvPr id="27" name="Text Box 14"/>
          <p:cNvSpPr txBox="1">
            <a:spLocks noChangeArrowheads="1"/>
          </p:cNvSpPr>
          <p:nvPr/>
        </p:nvSpPr>
        <p:spPr bwMode="auto">
          <a:xfrm>
            <a:off x="1696719" y="4990873"/>
            <a:ext cx="7744272"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720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pPr>
            <a:r>
              <a:rPr lang="es-ES" sz="2400" dirty="0">
                <a:solidFill>
                  <a:schemeClr val="tx1"/>
                </a:solidFill>
                <a:sym typeface="Symbol" panose="05050102010706020507" pitchFamily="18" charset="2"/>
              </a:rPr>
              <a:t> Y el movimiento de las moléculas tiende a separarlas</a:t>
            </a:r>
          </a:p>
        </p:txBody>
      </p:sp>
      <p:sp>
        <p:nvSpPr>
          <p:cNvPr id="28" name="Text Box 14"/>
          <p:cNvSpPr txBox="1">
            <a:spLocks noChangeArrowheads="1"/>
          </p:cNvSpPr>
          <p:nvPr/>
        </p:nvSpPr>
        <p:spPr bwMode="auto">
          <a:xfrm>
            <a:off x="1387698" y="5597423"/>
            <a:ext cx="8792220" cy="1253402"/>
          </a:xfrm>
          <a:prstGeom prst="rect">
            <a:avLst/>
          </a:prstGeom>
          <a:solidFill>
            <a:srgbClr val="FFFF99"/>
          </a:solidFill>
          <a:ln>
            <a:noFill/>
          </a:ln>
        </p:spPr>
        <p:txBody>
          <a:bodyPr wrap="square" lIns="108000" tIns="72000" rIns="108000" bIns="720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chemeClr val="tx1"/>
                </a:solidFill>
                <a:sym typeface="Symbol" panose="05050102010706020507" pitchFamily="18" charset="2"/>
              </a:rPr>
              <a:t>En los gases las velocidades de unas moléculas respecto a otras son en promedio mayores. Eso lleva a </a:t>
            </a:r>
            <a:r>
              <a:rPr lang="es-ES" sz="2400">
                <a:solidFill>
                  <a:schemeClr val="tx1"/>
                </a:solidFill>
                <a:sym typeface="Symbol" panose="05050102010706020507" pitchFamily="18" charset="2"/>
              </a:rPr>
              <a:t>distancias mayores e interacciones menores, </a:t>
            </a:r>
            <a:r>
              <a:rPr lang="es-ES" sz="2400" dirty="0">
                <a:solidFill>
                  <a:schemeClr val="tx1"/>
                </a:solidFill>
                <a:sym typeface="Symbol" panose="05050102010706020507" pitchFamily="18" charset="2"/>
              </a:rPr>
              <a:t>en promedio </a:t>
            </a:r>
          </a:p>
        </p:txBody>
      </p:sp>
      <p:sp>
        <p:nvSpPr>
          <p:cNvPr id="30" name="Text Box 14"/>
          <p:cNvSpPr txBox="1">
            <a:spLocks noChangeArrowheads="1"/>
          </p:cNvSpPr>
          <p:nvPr/>
        </p:nvSpPr>
        <p:spPr bwMode="auto">
          <a:xfrm>
            <a:off x="1387538" y="3070705"/>
            <a:ext cx="1857108" cy="1253402"/>
          </a:xfrm>
          <a:prstGeom prst="rect">
            <a:avLst/>
          </a:prstGeom>
          <a:solidFill>
            <a:schemeClr val="tx2">
              <a:lumMod val="25000"/>
              <a:lumOff val="75000"/>
            </a:schemeClr>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chemeClr val="tx1"/>
                </a:solidFill>
                <a:sym typeface="Symbol" panose="05050102010706020507" pitchFamily="18" charset="2"/>
              </a:rPr>
              <a:t>¿Cuál es la diferencia entre ellos?</a:t>
            </a:r>
            <a:endParaRPr lang="es-ES" sz="2400" dirty="0">
              <a:solidFill>
                <a:schemeClr val="tx1"/>
              </a:solidFill>
              <a:sym typeface="Symbol" panose="05050102010706020507" pitchFamily="18" charset="2"/>
            </a:endParaRPr>
          </a:p>
        </p:txBody>
      </p:sp>
      <p:grpSp>
        <p:nvGrpSpPr>
          <p:cNvPr id="4" name="Grupo 3">
            <a:extLst>
              <a:ext uri="{FF2B5EF4-FFF2-40B4-BE49-F238E27FC236}">
                <a16:creationId xmlns:a16="http://schemas.microsoft.com/office/drawing/2014/main" id="{433C7670-03B4-43C7-B21E-5A7A2E83A2B3}"/>
              </a:ext>
            </a:extLst>
          </p:cNvPr>
          <p:cNvGrpSpPr/>
          <p:nvPr/>
        </p:nvGrpSpPr>
        <p:grpSpPr>
          <a:xfrm>
            <a:off x="8281903" y="1433635"/>
            <a:ext cx="2134903" cy="1065336"/>
            <a:chOff x="8281903" y="1433635"/>
            <a:chExt cx="2134903" cy="1065336"/>
          </a:xfrm>
        </p:grpSpPr>
        <p:sp>
          <p:nvSpPr>
            <p:cNvPr id="9233" name="Text Box 36"/>
            <p:cNvSpPr txBox="1">
              <a:spLocks noChangeArrowheads="1"/>
            </p:cNvSpPr>
            <p:nvPr/>
          </p:nvSpPr>
          <p:spPr bwMode="auto">
            <a:xfrm>
              <a:off x="8281903" y="1665793"/>
              <a:ext cx="2134903" cy="83317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rgbClr val="008000"/>
                  </a:solidFill>
                </a:rPr>
                <a:t>se asocian dando lugar a</a:t>
              </a:r>
            </a:p>
          </p:txBody>
        </p:sp>
        <p:sp>
          <p:nvSpPr>
            <p:cNvPr id="8" name="Line 9">
              <a:extLst>
                <a:ext uri="{FF2B5EF4-FFF2-40B4-BE49-F238E27FC236}">
                  <a16:creationId xmlns:a16="http://schemas.microsoft.com/office/drawing/2014/main" id="{23390F57-7BED-46FD-AB41-41AE6B67F1A2}"/>
                </a:ext>
              </a:extLst>
            </p:cNvPr>
            <p:cNvSpPr>
              <a:spLocks noChangeShapeType="1"/>
            </p:cNvSpPr>
            <p:nvPr/>
          </p:nvSpPr>
          <p:spPr bwMode="auto">
            <a:xfrm rot="5400000">
              <a:off x="9185348" y="1593907"/>
              <a:ext cx="320544" cy="0"/>
            </a:xfrm>
            <a:prstGeom prst="line">
              <a:avLst/>
            </a:prstGeom>
            <a:noFill/>
            <a:ln w="38100">
              <a:solidFill>
                <a:srgbClr val="008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sp>
        <p:nvSpPr>
          <p:cNvPr id="9" name="Line 9">
            <a:extLst>
              <a:ext uri="{FF2B5EF4-FFF2-40B4-BE49-F238E27FC236}">
                <a16:creationId xmlns:a16="http://schemas.microsoft.com/office/drawing/2014/main" id="{888DABE3-B1A1-4EB2-963A-33A896DF93AB}"/>
              </a:ext>
            </a:extLst>
          </p:cNvPr>
          <p:cNvSpPr>
            <a:spLocks noChangeShapeType="1"/>
          </p:cNvSpPr>
          <p:nvPr/>
        </p:nvSpPr>
        <p:spPr bwMode="auto">
          <a:xfrm>
            <a:off x="8736994" y="1437092"/>
            <a:ext cx="624649" cy="0"/>
          </a:xfrm>
          <a:prstGeom prst="line">
            <a:avLst/>
          </a:prstGeom>
          <a:noFill/>
          <a:ln w="38100">
            <a:solidFill>
              <a:srgbClr val="008000"/>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lstStyle/>
          <a:p>
            <a:endParaRPr lang="en-GB"/>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down)">
                                      <p:cBhvr>
                                        <p:cTn id="8" dur="50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par>
                          <p:cTn id="14" fill="hold" nodeType="withGroup">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9240"/>
                                        </p:tgtEl>
                                        <p:attrNameLst>
                                          <p:attrName>style.visibility</p:attrName>
                                        </p:attrNameLst>
                                      </p:cBhvr>
                                      <p:to>
                                        <p:strVal val="visible"/>
                                      </p:to>
                                    </p:set>
                                    <p:animEffect transition="in" filter="wipe(left)">
                                      <p:cBhvr>
                                        <p:cTn id="17" dur="500"/>
                                        <p:tgtEl>
                                          <p:spTgt spid="92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9237"/>
                                        </p:tgtEl>
                                        <p:attrNameLst>
                                          <p:attrName>style.visibility</p:attrName>
                                        </p:attrNameLst>
                                      </p:cBhvr>
                                      <p:to>
                                        <p:strVal val="visible"/>
                                      </p:to>
                                    </p:set>
                                    <p:animEffect transition="in" filter="wipe(left)">
                                      <p:cBhvr>
                                        <p:cTn id="26" dur="500"/>
                                        <p:tgtEl>
                                          <p:spTgt spid="923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up)">
                                      <p:cBhvr>
                                        <p:cTn id="35" dur="500"/>
                                        <p:tgtEl>
                                          <p:spTgt spid="4"/>
                                        </p:tgtEl>
                                      </p:cBhvr>
                                    </p:animEffect>
                                  </p:childTnLst>
                                </p:cTn>
                              </p:par>
                            </p:childTnLst>
                          </p:cTn>
                        </p:par>
                        <p:par>
                          <p:cTn id="36" fill="hold">
                            <p:stCondLst>
                              <p:cond delay="1000"/>
                            </p:stCondLst>
                            <p:childTnLst>
                              <p:par>
                                <p:cTn id="37" presetID="22" presetClass="entr" presetSubtype="1" fill="hold" grpId="0" nodeType="afterEffect">
                                  <p:stCondLst>
                                    <p:cond delay="0"/>
                                  </p:stCondLst>
                                  <p:childTnLst>
                                    <p:set>
                                      <p:cBhvr>
                                        <p:cTn id="38" dur="1" fill="hold">
                                          <p:stCondLst>
                                            <p:cond delay="0"/>
                                          </p:stCondLst>
                                        </p:cTn>
                                        <p:tgtEl>
                                          <p:spTgt spid="9234"/>
                                        </p:tgtEl>
                                        <p:attrNameLst>
                                          <p:attrName>style.visibility</p:attrName>
                                        </p:attrNameLst>
                                      </p:cBhvr>
                                      <p:to>
                                        <p:strVal val="visible"/>
                                      </p:to>
                                    </p:set>
                                    <p:animEffect transition="in" filter="wipe(up)">
                                      <p:cBhvr>
                                        <p:cTn id="39" dur="500"/>
                                        <p:tgtEl>
                                          <p:spTgt spid="9234"/>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6" fill="hold" grpId="0" nodeType="clickEffect">
                                  <p:stCondLst>
                                    <p:cond delay="0"/>
                                  </p:stCondLst>
                                  <p:childTnLst>
                                    <p:set>
                                      <p:cBhvr>
                                        <p:cTn id="43" dur="1" fill="hold">
                                          <p:stCondLst>
                                            <p:cond delay="0"/>
                                          </p:stCondLst>
                                        </p:cTn>
                                        <p:tgtEl>
                                          <p:spTgt spid="9231"/>
                                        </p:tgtEl>
                                        <p:attrNameLst>
                                          <p:attrName>style.visibility</p:attrName>
                                        </p:attrNameLst>
                                      </p:cBhvr>
                                      <p:to>
                                        <p:strVal val="visible"/>
                                      </p:to>
                                    </p:set>
                                    <p:animEffect transition="in" filter="barn(inHorizontal)">
                                      <p:cBhvr>
                                        <p:cTn id="44" dur="500"/>
                                        <p:tgtEl>
                                          <p:spTgt spid="9231"/>
                                        </p:tgtEl>
                                      </p:cBhvr>
                                    </p:animEffect>
                                  </p:childTnLst>
                                </p:cTn>
                              </p:par>
                            </p:childTnLst>
                          </p:cTn>
                        </p:par>
                        <p:par>
                          <p:cTn id="45" fill="hold">
                            <p:stCondLst>
                              <p:cond delay="500"/>
                            </p:stCondLst>
                            <p:childTnLst>
                              <p:par>
                                <p:cTn id="46" presetID="22" presetClass="entr" presetSubtype="1" fill="hold" grpId="0" nodeType="afterEffect">
                                  <p:stCondLst>
                                    <p:cond delay="0"/>
                                  </p:stCondLst>
                                  <p:childTnLst>
                                    <p:set>
                                      <p:cBhvr>
                                        <p:cTn id="47" dur="1" fill="hold">
                                          <p:stCondLst>
                                            <p:cond delay="0"/>
                                          </p:stCondLst>
                                        </p:cTn>
                                        <p:tgtEl>
                                          <p:spTgt spid="9232"/>
                                        </p:tgtEl>
                                        <p:attrNameLst>
                                          <p:attrName>style.visibility</p:attrName>
                                        </p:attrNameLst>
                                      </p:cBhvr>
                                      <p:to>
                                        <p:strVal val="visible"/>
                                      </p:to>
                                    </p:set>
                                    <p:animEffect transition="in" filter="wipe(up)">
                                      <p:cBhvr>
                                        <p:cTn id="48" dur="500"/>
                                        <p:tgtEl>
                                          <p:spTgt spid="9232"/>
                                        </p:tgtEl>
                                      </p:cBhvr>
                                    </p:animEffect>
                                  </p:childTnLst>
                                </p:cTn>
                              </p:par>
                            </p:childTnLst>
                          </p:cTn>
                        </p:par>
                        <p:par>
                          <p:cTn id="49" fill="hold">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9230"/>
                                        </p:tgtEl>
                                        <p:attrNameLst>
                                          <p:attrName>style.visibility</p:attrName>
                                        </p:attrNameLst>
                                      </p:cBhvr>
                                      <p:to>
                                        <p:strVal val="visible"/>
                                      </p:to>
                                    </p:set>
                                    <p:animEffect transition="in" filter="wipe(left)">
                                      <p:cBhvr>
                                        <p:cTn id="52" dur="500"/>
                                        <p:tgtEl>
                                          <p:spTgt spid="923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3" presetClass="entr" presetSubtype="272"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 calcmode="lin" valueType="num">
                                      <p:cBhvr>
                                        <p:cTn id="57" dur="500" fill="hold"/>
                                        <p:tgtEl>
                                          <p:spTgt spid="30"/>
                                        </p:tgtEl>
                                        <p:attrNameLst>
                                          <p:attrName>ppt_w</p:attrName>
                                        </p:attrNameLst>
                                      </p:cBhvr>
                                      <p:tavLst>
                                        <p:tav tm="0">
                                          <p:val>
                                            <p:strVal val="2/3*#ppt_w"/>
                                          </p:val>
                                        </p:tav>
                                        <p:tav tm="100000">
                                          <p:val>
                                            <p:strVal val="#ppt_w"/>
                                          </p:val>
                                        </p:tav>
                                      </p:tavLst>
                                    </p:anim>
                                    <p:anim calcmode="lin" valueType="num">
                                      <p:cBhvr>
                                        <p:cTn id="58" dur="500" fill="hold"/>
                                        <p:tgtEl>
                                          <p:spTgt spid="30"/>
                                        </p:tgtEl>
                                        <p:attrNameLst>
                                          <p:attrName>ppt_h</p:attrName>
                                        </p:attrNameLst>
                                      </p:cBhvr>
                                      <p:tavLst>
                                        <p:tav tm="0">
                                          <p:val>
                                            <p:strVal val="2/3*#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3" presetClass="entr" presetSubtype="5" fill="hold" grpId="0" nodeType="clickEffect">
                                  <p:stCondLst>
                                    <p:cond delay="0"/>
                                  </p:stCondLst>
                                  <p:childTnLst>
                                    <p:set>
                                      <p:cBhvr>
                                        <p:cTn id="62" dur="1" fill="hold">
                                          <p:stCondLst>
                                            <p:cond delay="0"/>
                                          </p:stCondLst>
                                        </p:cTn>
                                        <p:tgtEl>
                                          <p:spTgt spid="9241"/>
                                        </p:tgtEl>
                                        <p:attrNameLst>
                                          <p:attrName>style.visibility</p:attrName>
                                        </p:attrNameLst>
                                      </p:cBhvr>
                                      <p:to>
                                        <p:strVal val="visible"/>
                                      </p:to>
                                    </p:set>
                                    <p:animEffect transition="in" filter="blinds(vertical)">
                                      <p:cBhvr>
                                        <p:cTn id="63" dur="500"/>
                                        <p:tgtEl>
                                          <p:spTgt spid="924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2" presetClass="entr" presetSubtype="1" fill="hold" grpId="0" nodeType="clickEffect">
                                  <p:stCondLst>
                                    <p:cond delay="0"/>
                                  </p:stCondLst>
                                  <p:childTnLst>
                                    <p:set>
                                      <p:cBhvr>
                                        <p:cTn id="67" dur="1" fill="hold">
                                          <p:stCondLst>
                                            <p:cond delay="0"/>
                                          </p:stCondLst>
                                        </p:cTn>
                                        <p:tgtEl>
                                          <p:spTgt spid="242702"/>
                                        </p:tgtEl>
                                        <p:attrNameLst>
                                          <p:attrName>style.visibility</p:attrName>
                                        </p:attrNameLst>
                                      </p:cBhvr>
                                      <p:to>
                                        <p:strVal val="visible"/>
                                      </p:to>
                                    </p:set>
                                    <p:anim calcmode="lin" valueType="num">
                                      <p:cBhvr additive="base">
                                        <p:cTn id="68" dur="500"/>
                                        <p:tgtEl>
                                          <p:spTgt spid="242702"/>
                                        </p:tgtEl>
                                        <p:attrNameLst>
                                          <p:attrName>ppt_y</p:attrName>
                                        </p:attrNameLst>
                                      </p:cBhvr>
                                      <p:tavLst>
                                        <p:tav tm="0">
                                          <p:val>
                                            <p:strVal val="#ppt_y-#ppt_h*1.125000"/>
                                          </p:val>
                                        </p:tav>
                                        <p:tav tm="100000">
                                          <p:val>
                                            <p:strVal val="#ppt_y"/>
                                          </p:val>
                                        </p:tav>
                                      </p:tavLst>
                                    </p:anim>
                                    <p:animEffect transition="in" filter="wipe(down)">
                                      <p:cBhvr>
                                        <p:cTn id="69" dur="500"/>
                                        <p:tgtEl>
                                          <p:spTgt spid="242702"/>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2" presetClass="entr" presetSubtype="4" fill="hold" grpId="0" nodeType="click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additive="base">
                                        <p:cTn id="74" dur="500"/>
                                        <p:tgtEl>
                                          <p:spTgt spid="26"/>
                                        </p:tgtEl>
                                        <p:attrNameLst>
                                          <p:attrName>ppt_y</p:attrName>
                                        </p:attrNameLst>
                                      </p:cBhvr>
                                      <p:tavLst>
                                        <p:tav tm="0">
                                          <p:val>
                                            <p:strVal val="#ppt_y+#ppt_h*1.125000"/>
                                          </p:val>
                                        </p:tav>
                                        <p:tav tm="100000">
                                          <p:val>
                                            <p:strVal val="#ppt_y"/>
                                          </p:val>
                                        </p:tav>
                                      </p:tavLst>
                                    </p:anim>
                                    <p:animEffect transition="in" filter="wipe(up)">
                                      <p:cBhvr>
                                        <p:cTn id="75" dur="500"/>
                                        <p:tgtEl>
                                          <p:spTgt spid="26"/>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2" presetClass="entr" presetSubtype="4" fill="hold" grpId="0" nodeType="clickEffect">
                                  <p:stCondLst>
                                    <p:cond delay="0"/>
                                  </p:stCondLst>
                                  <p:childTnLst>
                                    <p:set>
                                      <p:cBhvr>
                                        <p:cTn id="79" dur="1" fill="hold">
                                          <p:stCondLst>
                                            <p:cond delay="0"/>
                                          </p:stCondLst>
                                        </p:cTn>
                                        <p:tgtEl>
                                          <p:spTgt spid="27"/>
                                        </p:tgtEl>
                                        <p:attrNameLst>
                                          <p:attrName>style.visibility</p:attrName>
                                        </p:attrNameLst>
                                      </p:cBhvr>
                                      <p:to>
                                        <p:strVal val="visible"/>
                                      </p:to>
                                    </p:set>
                                    <p:anim calcmode="lin" valueType="num">
                                      <p:cBhvr additive="base">
                                        <p:cTn id="80" dur="500"/>
                                        <p:tgtEl>
                                          <p:spTgt spid="27"/>
                                        </p:tgtEl>
                                        <p:attrNameLst>
                                          <p:attrName>ppt_y</p:attrName>
                                        </p:attrNameLst>
                                      </p:cBhvr>
                                      <p:tavLst>
                                        <p:tav tm="0">
                                          <p:val>
                                            <p:strVal val="#ppt_y+#ppt_h*1.125000"/>
                                          </p:val>
                                        </p:tav>
                                        <p:tav tm="100000">
                                          <p:val>
                                            <p:strVal val="#ppt_y"/>
                                          </p:val>
                                        </p:tav>
                                      </p:tavLst>
                                    </p:anim>
                                    <p:animEffect transition="in" filter="wipe(up)">
                                      <p:cBhvr>
                                        <p:cTn id="81" dur="500"/>
                                        <p:tgtEl>
                                          <p:spTgt spid="27"/>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1" fill="hold" grpId="0" nodeType="click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wipe(up)">
                                      <p:cBhvr>
                                        <p:cTn id="8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1" grpId="0" animBg="1"/>
      <p:bldP spid="242702" grpId="0" animBg="1"/>
      <p:bldP spid="3" grpId="0" animBg="1"/>
      <p:bldP spid="9240" grpId="0" animBg="1"/>
      <p:bldP spid="9237" grpId="0" animBg="1"/>
      <p:bldP spid="9234" grpId="0" animBg="1"/>
      <p:bldP spid="9230" grpId="0" animBg="1"/>
      <p:bldP spid="9231" grpId="0" animBg="1"/>
      <p:bldP spid="9232" grpId="0" animBg="1"/>
      <p:bldP spid="26" grpId="0"/>
      <p:bldP spid="27" grpId="0"/>
      <p:bldP spid="28" grpId="0" animBg="1"/>
      <p:bldP spid="30"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Text Box 15"/>
          <p:cNvSpPr txBox="1">
            <a:spLocks noChangeArrowheads="1"/>
          </p:cNvSpPr>
          <p:nvPr/>
        </p:nvSpPr>
        <p:spPr bwMode="auto">
          <a:xfrm>
            <a:off x="1253452" y="1930125"/>
            <a:ext cx="2752297" cy="1992066"/>
          </a:xfrm>
          <a:prstGeom prst="rect">
            <a:avLst/>
          </a:prstGeom>
          <a:solidFill>
            <a:schemeClr val="tx2">
              <a:lumMod val="25000"/>
              <a:lumOff val="75000"/>
            </a:schemeClr>
          </a:solidFill>
          <a:ln>
            <a:noFill/>
          </a:ln>
        </p:spPr>
        <p:txBody>
          <a:bodyPr wrap="square" lIns="108000" tIns="72000" rIns="108000" bIns="72000" anchor="t"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defRPr/>
            </a:pPr>
            <a:r>
              <a:rPr lang="es-ES" sz="2400" dirty="0">
                <a:solidFill>
                  <a:schemeClr val="tx1"/>
                </a:solidFill>
                <a:sym typeface="Symbol" panose="05050102010706020507" pitchFamily="18" charset="2"/>
              </a:rPr>
              <a:t>El exterior (la gravedad y el recipiente) suele definir su volumen</a:t>
            </a:r>
          </a:p>
          <a:p>
            <a:pPr algn="ctr" eaLnBrk="1" hangingPunct="1">
              <a:spcBef>
                <a:spcPts val="0"/>
              </a:spcBef>
              <a:defRPr/>
            </a:pPr>
            <a:r>
              <a:rPr lang="es-ES" sz="2400" dirty="0">
                <a:solidFill>
                  <a:schemeClr val="tx1"/>
                </a:solidFill>
                <a:sym typeface="Symbol" panose="05050102010706020507" pitchFamily="18" charset="2"/>
              </a:rPr>
              <a:t>y su forma</a:t>
            </a:r>
          </a:p>
        </p:txBody>
      </p:sp>
      <p:sp>
        <p:nvSpPr>
          <p:cNvPr id="64516" name="Text Box 16"/>
          <p:cNvSpPr txBox="1">
            <a:spLocks noChangeArrowheads="1"/>
          </p:cNvSpPr>
          <p:nvPr/>
        </p:nvSpPr>
        <p:spPr bwMode="auto">
          <a:xfrm>
            <a:off x="4325148" y="1925093"/>
            <a:ext cx="2979506" cy="1253402"/>
          </a:xfrm>
          <a:prstGeom prst="rect">
            <a:avLst/>
          </a:prstGeom>
          <a:solidFill>
            <a:schemeClr val="tx2">
              <a:lumMod val="25000"/>
              <a:lumOff val="75000"/>
            </a:schemeClr>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defRPr/>
            </a:pPr>
            <a:r>
              <a:rPr lang="es-ES" sz="2400">
                <a:solidFill>
                  <a:schemeClr val="tx1"/>
                </a:solidFill>
                <a:sym typeface="Symbol" panose="05050102010706020507" pitchFamily="18" charset="2"/>
              </a:rPr>
              <a:t>La interacción suele definir su volumen y el exterior su forma</a:t>
            </a:r>
          </a:p>
        </p:txBody>
      </p:sp>
      <p:sp>
        <p:nvSpPr>
          <p:cNvPr id="64517" name="Text Box 17"/>
          <p:cNvSpPr txBox="1">
            <a:spLocks noChangeArrowheads="1"/>
          </p:cNvSpPr>
          <p:nvPr/>
        </p:nvSpPr>
        <p:spPr bwMode="auto">
          <a:xfrm>
            <a:off x="7803162" y="2294396"/>
            <a:ext cx="2342488" cy="1622734"/>
          </a:xfrm>
          <a:prstGeom prst="rect">
            <a:avLst/>
          </a:prstGeom>
          <a:solidFill>
            <a:schemeClr val="tx2">
              <a:lumMod val="25000"/>
              <a:lumOff val="75000"/>
            </a:schemeClr>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defRPr/>
            </a:pPr>
            <a:r>
              <a:rPr lang="es-ES" sz="2400" dirty="0">
                <a:solidFill>
                  <a:schemeClr val="tx1"/>
                </a:solidFill>
                <a:sym typeface="Symbol" panose="05050102010706020507" pitchFamily="18" charset="2"/>
              </a:rPr>
              <a:t>La interacción    suele definir</a:t>
            </a:r>
          </a:p>
          <a:p>
            <a:pPr algn="ctr" eaLnBrk="1" hangingPunct="1">
              <a:spcBef>
                <a:spcPts val="0"/>
              </a:spcBef>
              <a:defRPr/>
            </a:pPr>
            <a:r>
              <a:rPr lang="es-ES" sz="2400" dirty="0">
                <a:solidFill>
                  <a:schemeClr val="tx1"/>
                </a:solidFill>
                <a:sym typeface="Symbol" panose="05050102010706020507" pitchFamily="18" charset="2"/>
              </a:rPr>
              <a:t>su volumen</a:t>
            </a:r>
          </a:p>
          <a:p>
            <a:pPr algn="ctr" eaLnBrk="1" hangingPunct="1">
              <a:spcBef>
                <a:spcPts val="0"/>
              </a:spcBef>
              <a:defRPr/>
            </a:pPr>
            <a:r>
              <a:rPr lang="es-ES" sz="2400" dirty="0">
                <a:solidFill>
                  <a:schemeClr val="tx1"/>
                </a:solidFill>
                <a:sym typeface="Symbol" panose="05050102010706020507" pitchFamily="18" charset="2"/>
              </a:rPr>
              <a:t>y su forma</a:t>
            </a:r>
          </a:p>
        </p:txBody>
      </p:sp>
      <p:sp>
        <p:nvSpPr>
          <p:cNvPr id="2" name="Text Box 21"/>
          <p:cNvSpPr txBox="1">
            <a:spLocks noChangeArrowheads="1"/>
          </p:cNvSpPr>
          <p:nvPr/>
        </p:nvSpPr>
        <p:spPr bwMode="auto">
          <a:xfrm>
            <a:off x="1717285" y="4320994"/>
            <a:ext cx="5599113" cy="1253402"/>
          </a:xfrm>
          <a:prstGeom prst="rect">
            <a:avLst/>
          </a:prstGeom>
          <a:solidFill>
            <a:schemeClr val="accent1">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defRPr/>
            </a:pPr>
            <a:r>
              <a:rPr lang="es-ES" sz="2400" dirty="0">
                <a:solidFill>
                  <a:schemeClr val="tx1"/>
                </a:solidFill>
              </a:rPr>
              <a:t>La posición relativa entre moléculas cambia, o se puede </a:t>
            </a:r>
            <a:r>
              <a:rPr lang="es-ES" sz="2400">
                <a:solidFill>
                  <a:schemeClr val="tx1"/>
                </a:solidFill>
              </a:rPr>
              <a:t>cambiar,</a:t>
            </a:r>
          </a:p>
          <a:p>
            <a:pPr algn="ctr" eaLnBrk="1" hangingPunct="1">
              <a:spcBef>
                <a:spcPts val="0"/>
              </a:spcBef>
              <a:defRPr/>
            </a:pPr>
            <a:r>
              <a:rPr lang="es-ES" sz="2400">
                <a:solidFill>
                  <a:schemeClr val="tx1"/>
                </a:solidFill>
              </a:rPr>
              <a:t>fácilmente </a:t>
            </a:r>
            <a:r>
              <a:rPr lang="es-ES" sz="2400" dirty="0">
                <a:solidFill>
                  <a:schemeClr val="tx1"/>
                </a:solidFill>
              </a:rPr>
              <a:t>(se dice que hay </a:t>
            </a:r>
            <a:r>
              <a:rPr lang="es-ES" sz="2400" dirty="0">
                <a:solidFill>
                  <a:srgbClr val="0000FF"/>
                </a:solidFill>
              </a:rPr>
              <a:t>fluidez</a:t>
            </a:r>
            <a:r>
              <a:rPr lang="es-ES" sz="2400" dirty="0">
                <a:solidFill>
                  <a:schemeClr val="tx1"/>
                </a:solidFill>
              </a:rPr>
              <a:t>)</a:t>
            </a:r>
          </a:p>
        </p:txBody>
      </p:sp>
      <p:sp>
        <p:nvSpPr>
          <p:cNvPr id="11290" name="AutoShape 22"/>
          <p:cNvSpPr>
            <a:spLocks/>
          </p:cNvSpPr>
          <p:nvPr/>
        </p:nvSpPr>
        <p:spPr bwMode="auto">
          <a:xfrm rot="16200000">
            <a:off x="4132656" y="1105847"/>
            <a:ext cx="292797" cy="6051202"/>
          </a:xfrm>
          <a:prstGeom prst="leftBrace">
            <a:avLst>
              <a:gd name="adj1" fmla="val 177917"/>
              <a:gd name="adj2" fmla="val 51905"/>
            </a:avLst>
          </a:prstGeom>
          <a:noFill/>
          <a:ln w="38100">
            <a:solidFill>
              <a:srgbClr val="008000"/>
            </a:solidFill>
            <a:round/>
            <a:headEnd/>
            <a:tailEnd/>
          </a:ln>
          <a:extLst>
            <a:ext uri="{909E8E84-426E-40DD-AFC4-6F175D3DCCD1}">
              <a14:hiddenFill xmlns:a14="http://schemas.microsoft.com/office/drawing/2010/main">
                <a:solidFill>
                  <a:srgbClr val="FFFFFF"/>
                </a:solidFill>
              </a14:hiddenFill>
            </a:ext>
          </a:extLst>
        </p:spPr>
        <p:txBody>
          <a:bodyPr vert="eaVert" wrap="none" lIns="108000" tIns="72000" rIns="108000" bIns="72000" anchor="ctr" anchorCtr="1"/>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11286" name="Text Box 28"/>
          <p:cNvSpPr txBox="1">
            <a:spLocks noChangeArrowheads="1"/>
          </p:cNvSpPr>
          <p:nvPr/>
        </p:nvSpPr>
        <p:spPr bwMode="auto">
          <a:xfrm>
            <a:off x="982425" y="618865"/>
            <a:ext cx="3308350"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chemeClr val="tx1"/>
                </a:solidFill>
              </a:rPr>
              <a:t>Sus </a:t>
            </a:r>
            <a:r>
              <a:rPr lang="es-ES" sz="2400" dirty="0">
                <a:solidFill>
                  <a:schemeClr val="tx1"/>
                </a:solidFill>
              </a:rPr>
              <a:t>moléculas se mueven "idealmente" con total libertad</a:t>
            </a:r>
          </a:p>
        </p:txBody>
      </p:sp>
      <p:sp>
        <p:nvSpPr>
          <p:cNvPr id="11288" name="Text Box 12"/>
          <p:cNvSpPr txBox="1">
            <a:spLocks noChangeArrowheads="1"/>
          </p:cNvSpPr>
          <p:nvPr/>
        </p:nvSpPr>
        <p:spPr bwMode="auto">
          <a:xfrm>
            <a:off x="1253452" y="116631"/>
            <a:ext cx="2752297" cy="514350"/>
          </a:xfrm>
          <a:prstGeom prst="rect">
            <a:avLst/>
          </a:prstGeom>
          <a:solidFill>
            <a:srgbClr val="FAFAFA"/>
          </a:solidFill>
          <a:ln>
            <a:noFill/>
          </a:ln>
          <a:effec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b="1">
                <a:solidFill>
                  <a:schemeClr val="tx1"/>
                </a:solidFill>
              </a:rPr>
              <a:t>GASES</a:t>
            </a:r>
          </a:p>
        </p:txBody>
      </p:sp>
      <p:sp>
        <p:nvSpPr>
          <p:cNvPr id="11283" name="Text Box 29"/>
          <p:cNvSpPr txBox="1">
            <a:spLocks noChangeArrowheads="1"/>
          </p:cNvSpPr>
          <p:nvPr/>
        </p:nvSpPr>
        <p:spPr bwMode="auto">
          <a:xfrm>
            <a:off x="4314713" y="622395"/>
            <a:ext cx="3000376"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chemeClr val="tx1"/>
                </a:solidFill>
              </a:rPr>
              <a:t>La interacción</a:t>
            </a:r>
          </a:p>
          <a:p>
            <a:pPr algn="ctr" eaLnBrk="1" hangingPunct="1">
              <a:spcBef>
                <a:spcPts val="0"/>
              </a:spcBef>
            </a:pPr>
            <a:r>
              <a:rPr lang="es-ES" sz="2400" dirty="0">
                <a:solidFill>
                  <a:schemeClr val="tx1"/>
                </a:solidFill>
              </a:rPr>
              <a:t>tiende a mantenerlas juntas</a:t>
            </a:r>
          </a:p>
        </p:txBody>
      </p:sp>
      <p:sp>
        <p:nvSpPr>
          <p:cNvPr id="11285" name="Text Box 16"/>
          <p:cNvSpPr txBox="1">
            <a:spLocks noChangeArrowheads="1"/>
          </p:cNvSpPr>
          <p:nvPr/>
        </p:nvSpPr>
        <p:spPr bwMode="auto">
          <a:xfrm>
            <a:off x="4346717" y="116635"/>
            <a:ext cx="2968372" cy="514350"/>
          </a:xfrm>
          <a:prstGeom prst="rect">
            <a:avLst/>
          </a:prstGeom>
          <a:solidFill>
            <a:srgbClr val="FAFAFA"/>
          </a:solidFill>
          <a:ln>
            <a:noFill/>
          </a:ln>
          <a:effec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b="1" dirty="0">
                <a:solidFill>
                  <a:schemeClr val="tx1"/>
                </a:solidFill>
              </a:rPr>
              <a:t>LÍQUIDOS</a:t>
            </a:r>
          </a:p>
        </p:txBody>
      </p:sp>
      <p:sp>
        <p:nvSpPr>
          <p:cNvPr id="11280" name="Text Box 30"/>
          <p:cNvSpPr txBox="1">
            <a:spLocks noChangeArrowheads="1"/>
          </p:cNvSpPr>
          <p:nvPr/>
        </p:nvSpPr>
        <p:spPr bwMode="auto">
          <a:xfrm>
            <a:off x="7371031" y="604937"/>
            <a:ext cx="3206751" cy="1622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chemeClr val="tx1"/>
                </a:solidFill>
              </a:rPr>
              <a:t>La interacción tiende a fijar sus posiciones relativas. Se mueven en torno a ellas</a:t>
            </a:r>
          </a:p>
        </p:txBody>
      </p:sp>
      <p:sp>
        <p:nvSpPr>
          <p:cNvPr id="11282" name="Text Box 20"/>
          <p:cNvSpPr txBox="1">
            <a:spLocks noChangeArrowheads="1"/>
          </p:cNvSpPr>
          <p:nvPr/>
        </p:nvSpPr>
        <p:spPr bwMode="auto">
          <a:xfrm>
            <a:off x="7803159" y="126464"/>
            <a:ext cx="2342491" cy="514351"/>
          </a:xfrm>
          <a:prstGeom prst="rect">
            <a:avLst/>
          </a:prstGeom>
          <a:solidFill>
            <a:srgbClr val="FAFAFA"/>
          </a:solidFill>
          <a:ln>
            <a:noFill/>
          </a:ln>
          <a:effec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b="1">
                <a:solidFill>
                  <a:schemeClr val="tx1"/>
                </a:solidFill>
              </a:rPr>
              <a:t>SÓLIDOS</a:t>
            </a:r>
          </a:p>
        </p:txBody>
      </p:sp>
      <p:sp>
        <p:nvSpPr>
          <p:cNvPr id="64533" name="Text Box 21"/>
          <p:cNvSpPr txBox="1">
            <a:spLocks noChangeArrowheads="1"/>
          </p:cNvSpPr>
          <p:nvPr/>
        </p:nvSpPr>
        <p:spPr bwMode="auto">
          <a:xfrm>
            <a:off x="1717286" y="5636941"/>
            <a:ext cx="5582252" cy="1260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chemeClr val="tx1"/>
                </a:solidFill>
              </a:rPr>
              <a:t>Cualquier fuerza exterior, por pequeña que sea, puede modificar su forma (esta es la definición de </a:t>
            </a:r>
            <a:r>
              <a:rPr lang="es-ES" sz="2400" dirty="0">
                <a:solidFill>
                  <a:srgbClr val="0000FF"/>
                </a:solidFill>
              </a:rPr>
              <a:t>fluido</a:t>
            </a:r>
            <a:r>
              <a:rPr lang="es-ES" sz="2400" dirty="0">
                <a:solidFill>
                  <a:schemeClr val="tx1"/>
                </a:solidFill>
              </a:rPr>
              <a:t>)</a:t>
            </a:r>
          </a:p>
        </p:txBody>
      </p:sp>
      <p:sp>
        <p:nvSpPr>
          <p:cNvPr id="64534" name="Text Box 22"/>
          <p:cNvSpPr txBox="1">
            <a:spLocks noChangeArrowheads="1"/>
          </p:cNvSpPr>
          <p:nvPr/>
        </p:nvSpPr>
        <p:spPr bwMode="auto">
          <a:xfrm>
            <a:off x="7803159" y="4687382"/>
            <a:ext cx="2342494" cy="514738"/>
          </a:xfrm>
          <a:prstGeom prst="rect">
            <a:avLst/>
          </a:prstGeom>
          <a:solidFill>
            <a:schemeClr val="accent1">
              <a:lumMod val="60000"/>
              <a:lumOff val="40000"/>
            </a:schemeClr>
          </a:solidFill>
          <a:ln>
            <a:noFill/>
          </a:ln>
          <a:effec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defRPr/>
            </a:pPr>
            <a:r>
              <a:rPr lang="es-ES" sz="2400" dirty="0"/>
              <a:t>No hay fluidez</a:t>
            </a:r>
          </a:p>
        </p:txBody>
      </p:sp>
      <p:sp>
        <p:nvSpPr>
          <p:cNvPr id="64549" name="Text Box 37"/>
          <p:cNvSpPr txBox="1">
            <a:spLocks noChangeArrowheads="1"/>
          </p:cNvSpPr>
          <p:nvPr/>
        </p:nvSpPr>
        <p:spPr bwMode="auto">
          <a:xfrm>
            <a:off x="7803163" y="5841975"/>
            <a:ext cx="2342487" cy="88407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dirty="0"/>
              <a:t>Solo a partir de cierto valor</a:t>
            </a:r>
          </a:p>
        </p:txBody>
      </p:sp>
      <p:sp>
        <p:nvSpPr>
          <p:cNvPr id="24" name="Line 9"/>
          <p:cNvSpPr>
            <a:spLocks noChangeShapeType="1"/>
          </p:cNvSpPr>
          <p:nvPr/>
        </p:nvSpPr>
        <p:spPr bwMode="auto">
          <a:xfrm rot="5400000">
            <a:off x="8753741" y="4302549"/>
            <a:ext cx="480658" cy="0"/>
          </a:xfrm>
          <a:prstGeom prst="line">
            <a:avLst/>
          </a:prstGeom>
          <a:noFill/>
          <a:ln w="38100">
            <a:solidFill>
              <a:srgbClr val="008000"/>
            </a:solidFill>
            <a:round/>
            <a:headEnd/>
            <a:tailEnd type="stealth" w="lg" len="lg"/>
          </a:ln>
          <a:extLst>
            <a:ext uri="{909E8E84-426E-40DD-AFC4-6F175D3DCCD1}">
              <a14:hiddenFill xmlns:a14="http://schemas.microsoft.com/office/drawing/2010/main">
                <a:noFill/>
              </a14:hiddenFill>
            </a:ext>
          </a:extLst>
        </p:spPr>
        <p:txBody>
          <a:bodyPr wrap="none" lIns="108000" tIns="72000" rIns="108000" bIns="72000" anchor="ctr" anchorCtr="1"/>
          <a:lstStyle/>
          <a:p>
            <a:endParaRPr lang="en-GB"/>
          </a:p>
        </p:txBody>
      </p:sp>
      <p:sp>
        <p:nvSpPr>
          <p:cNvPr id="3" name="CuadroTexto 2"/>
          <p:cNvSpPr txBox="1">
            <a:spLocks noChangeArrowheads="1"/>
          </p:cNvSpPr>
          <p:nvPr/>
        </p:nvSpPr>
        <p:spPr bwMode="auto">
          <a:xfrm>
            <a:off x="121131" y="4317695"/>
            <a:ext cx="1530350" cy="12600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dirty="0"/>
              <a:t>A nivel micro:</a:t>
            </a:r>
          </a:p>
        </p:txBody>
      </p:sp>
      <p:sp>
        <p:nvSpPr>
          <p:cNvPr id="26" name="CuadroTexto 25"/>
          <p:cNvSpPr txBox="1">
            <a:spLocks noChangeArrowheads="1"/>
          </p:cNvSpPr>
          <p:nvPr/>
        </p:nvSpPr>
        <p:spPr bwMode="auto">
          <a:xfrm>
            <a:off x="124306" y="5636941"/>
            <a:ext cx="1530350" cy="12600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dirty="0"/>
              <a:t>A nivel macro:</a:t>
            </a:r>
          </a:p>
        </p:txBody>
      </p:sp>
      <p:sp>
        <p:nvSpPr>
          <p:cNvPr id="25" name="Text Box 29"/>
          <p:cNvSpPr txBox="1">
            <a:spLocks noChangeArrowheads="1"/>
          </p:cNvSpPr>
          <p:nvPr/>
        </p:nvSpPr>
        <p:spPr bwMode="auto">
          <a:xfrm>
            <a:off x="3956605" y="3183831"/>
            <a:ext cx="3716592" cy="760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lnSpc>
                <a:spcPts val="2400"/>
              </a:lnSpc>
              <a:spcBef>
                <a:spcPts val="0"/>
              </a:spcBef>
            </a:pPr>
            <a:r>
              <a:rPr lang="es-ES" sz="2400">
                <a:solidFill>
                  <a:schemeClr val="tx1"/>
                </a:solidFill>
              </a:rPr>
              <a:t>Sin gravedad ellos: adquieren forma </a:t>
            </a:r>
            <a:r>
              <a:rPr lang="es-ES" sz="2400" dirty="0">
                <a:solidFill>
                  <a:schemeClr val="tx1"/>
                </a:solidFill>
              </a:rPr>
              <a:t>esférica</a:t>
            </a:r>
          </a:p>
        </p:txBody>
      </p:sp>
      <p:sp>
        <p:nvSpPr>
          <p:cNvPr id="27" name="Line 9"/>
          <p:cNvSpPr>
            <a:spLocks noChangeShapeType="1"/>
          </p:cNvSpPr>
          <p:nvPr/>
        </p:nvSpPr>
        <p:spPr bwMode="auto">
          <a:xfrm rot="5400000">
            <a:off x="8775589" y="5529834"/>
            <a:ext cx="436962" cy="0"/>
          </a:xfrm>
          <a:prstGeom prst="line">
            <a:avLst/>
          </a:prstGeom>
          <a:noFill/>
          <a:ln w="38100">
            <a:solidFill>
              <a:srgbClr val="008000"/>
            </a:solidFill>
            <a:round/>
            <a:headEnd/>
            <a:tailEnd type="stealth" w="lg" len="lg"/>
          </a:ln>
          <a:extLst>
            <a:ext uri="{909E8E84-426E-40DD-AFC4-6F175D3DCCD1}">
              <a14:hiddenFill xmlns:a14="http://schemas.microsoft.com/office/drawing/2010/main">
                <a:noFill/>
              </a14:hiddenFill>
            </a:ext>
          </a:extLst>
        </p:spPr>
        <p:txBody>
          <a:bodyPr wrap="none" lIns="108000" tIns="72000" rIns="108000" bIns="72000" anchor="ctr" anchorCtr="1"/>
          <a:lstStyle/>
          <a:p>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286"/>
                                        </p:tgtEl>
                                        <p:attrNameLst>
                                          <p:attrName>style.visibility</p:attrName>
                                        </p:attrNameLst>
                                      </p:cBhvr>
                                      <p:to>
                                        <p:strVal val="visible"/>
                                      </p:to>
                                    </p:set>
                                    <p:animEffect transition="in" filter="wipe(up)">
                                      <p:cBhvr>
                                        <p:cTn id="7" dur="500"/>
                                        <p:tgtEl>
                                          <p:spTgt spid="112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4515"/>
                                        </p:tgtEl>
                                        <p:attrNameLst>
                                          <p:attrName>style.visibility</p:attrName>
                                        </p:attrNameLst>
                                      </p:cBhvr>
                                      <p:to>
                                        <p:strVal val="visible"/>
                                      </p:to>
                                    </p:set>
                                    <p:animEffect transition="in" filter="wipe(up)">
                                      <p:cBhvr>
                                        <p:cTn id="12" dur="500"/>
                                        <p:tgtEl>
                                          <p:spTgt spid="645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283"/>
                                        </p:tgtEl>
                                        <p:attrNameLst>
                                          <p:attrName>style.visibility</p:attrName>
                                        </p:attrNameLst>
                                      </p:cBhvr>
                                      <p:to>
                                        <p:strVal val="visible"/>
                                      </p:to>
                                    </p:set>
                                    <p:animEffect transition="in" filter="wipe(up)">
                                      <p:cBhvr>
                                        <p:cTn id="17" dur="500"/>
                                        <p:tgtEl>
                                          <p:spTgt spid="1128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4516"/>
                                        </p:tgtEl>
                                        <p:attrNameLst>
                                          <p:attrName>style.visibility</p:attrName>
                                        </p:attrNameLst>
                                      </p:cBhvr>
                                      <p:to>
                                        <p:strVal val="visible"/>
                                      </p:to>
                                    </p:set>
                                    <p:animEffect transition="in" filter="wipe(up)">
                                      <p:cBhvr>
                                        <p:cTn id="22" dur="500"/>
                                        <p:tgtEl>
                                          <p:spTgt spid="645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up)">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1280"/>
                                        </p:tgtEl>
                                        <p:attrNameLst>
                                          <p:attrName>style.visibility</p:attrName>
                                        </p:attrNameLst>
                                      </p:cBhvr>
                                      <p:to>
                                        <p:strVal val="visible"/>
                                      </p:to>
                                    </p:set>
                                    <p:animEffect transition="in" filter="wipe(up)">
                                      <p:cBhvr>
                                        <p:cTn id="32" dur="500"/>
                                        <p:tgtEl>
                                          <p:spTgt spid="1128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64517"/>
                                        </p:tgtEl>
                                        <p:attrNameLst>
                                          <p:attrName>style.visibility</p:attrName>
                                        </p:attrNameLst>
                                      </p:cBhvr>
                                      <p:to>
                                        <p:strVal val="visible"/>
                                      </p:to>
                                    </p:set>
                                    <p:animEffect transition="in" filter="wipe(up)">
                                      <p:cBhvr>
                                        <p:cTn id="37" dur="500"/>
                                        <p:tgtEl>
                                          <p:spTgt spid="64517"/>
                                        </p:tgtEl>
                                      </p:cBhvr>
                                    </p:animEffect>
                                  </p:childTnLst>
                                </p:cTn>
                              </p:par>
                            </p:childTnLst>
                          </p:cTn>
                        </p:par>
                      </p:childTnLst>
                    </p:cTn>
                  </p:par>
                  <p:par>
                    <p:cTn id="38" fill="hold">
                      <p:stCondLst>
                        <p:cond delay="indefinite"/>
                      </p:stCondLst>
                      <p:childTnLst>
                        <p:par>
                          <p:cTn id="39" fill="hold">
                            <p:stCondLst>
                              <p:cond delay="0"/>
                            </p:stCondLst>
                            <p:childTnLst>
                              <p:par>
                                <p:cTn id="40" presetID="23" presetClass="entr" presetSubtype="272"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p:cTn id="42" dur="500" fill="hold"/>
                                        <p:tgtEl>
                                          <p:spTgt spid="3"/>
                                        </p:tgtEl>
                                        <p:attrNameLst>
                                          <p:attrName>ppt_w</p:attrName>
                                        </p:attrNameLst>
                                      </p:cBhvr>
                                      <p:tavLst>
                                        <p:tav tm="0">
                                          <p:val>
                                            <p:strVal val="2/3*#ppt_w"/>
                                          </p:val>
                                        </p:tav>
                                        <p:tav tm="100000">
                                          <p:val>
                                            <p:strVal val="#ppt_w"/>
                                          </p:val>
                                        </p:tav>
                                      </p:tavLst>
                                    </p:anim>
                                    <p:anim calcmode="lin" valueType="num">
                                      <p:cBhvr>
                                        <p:cTn id="43" dur="500" fill="hold"/>
                                        <p:tgtEl>
                                          <p:spTgt spid="3"/>
                                        </p:tgtEl>
                                        <p:attrNameLst>
                                          <p:attrName>ppt_h</p:attrName>
                                        </p:attrNameLst>
                                      </p:cBhvr>
                                      <p:tavLst>
                                        <p:tav tm="0">
                                          <p:val>
                                            <p:strVal val="2/3*#ppt_h"/>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11290"/>
                                        </p:tgtEl>
                                        <p:attrNameLst>
                                          <p:attrName>style.visibility</p:attrName>
                                        </p:attrNameLst>
                                      </p:cBhvr>
                                      <p:to>
                                        <p:strVal val="visible"/>
                                      </p:to>
                                    </p:set>
                                    <p:animEffect transition="in" filter="barn(inVertical)">
                                      <p:cBhvr>
                                        <p:cTn id="48" dur="500"/>
                                        <p:tgtEl>
                                          <p:spTgt spid="11290"/>
                                        </p:tgtEl>
                                      </p:cBhvr>
                                    </p:animEffect>
                                  </p:childTnLst>
                                </p:cTn>
                              </p:par>
                            </p:childTnLst>
                          </p:cTn>
                        </p:par>
                        <p:par>
                          <p:cTn id="49" fill="hold" nodeType="withGroup">
                            <p:stCondLst>
                              <p:cond delay="500"/>
                            </p:stCondLst>
                            <p:childTnLst>
                              <p:par>
                                <p:cTn id="50" presetID="22" presetClass="entr" presetSubtype="1" fill="hold" grpId="0" nodeType="after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ipe(up)">
                                      <p:cBhvr>
                                        <p:cTn id="52" dur="5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wipe(up)">
                                      <p:cBhvr>
                                        <p:cTn id="57" dur="500"/>
                                        <p:tgtEl>
                                          <p:spTgt spid="24"/>
                                        </p:tgtEl>
                                      </p:cBhvr>
                                    </p:animEffect>
                                  </p:childTnLst>
                                </p:cTn>
                              </p:par>
                            </p:childTnLst>
                          </p:cTn>
                        </p:par>
                        <p:par>
                          <p:cTn id="58" fill="hold">
                            <p:stCondLst>
                              <p:cond delay="500"/>
                            </p:stCondLst>
                            <p:childTnLst>
                              <p:par>
                                <p:cTn id="59" presetID="22" presetClass="entr" presetSubtype="1" fill="hold" grpId="0" nodeType="afterEffect">
                                  <p:stCondLst>
                                    <p:cond delay="0"/>
                                  </p:stCondLst>
                                  <p:childTnLst>
                                    <p:set>
                                      <p:cBhvr>
                                        <p:cTn id="60" dur="1" fill="hold">
                                          <p:stCondLst>
                                            <p:cond delay="0"/>
                                          </p:stCondLst>
                                        </p:cTn>
                                        <p:tgtEl>
                                          <p:spTgt spid="64534"/>
                                        </p:tgtEl>
                                        <p:attrNameLst>
                                          <p:attrName>style.visibility</p:attrName>
                                        </p:attrNameLst>
                                      </p:cBhvr>
                                      <p:to>
                                        <p:strVal val="visible"/>
                                      </p:to>
                                    </p:set>
                                    <p:animEffect transition="in" filter="wipe(up)">
                                      <p:cBhvr>
                                        <p:cTn id="61" dur="500"/>
                                        <p:tgtEl>
                                          <p:spTgt spid="64534"/>
                                        </p:tgtEl>
                                      </p:cBhvr>
                                    </p:animEffect>
                                  </p:childTnLst>
                                </p:cTn>
                              </p:par>
                            </p:childTnLst>
                          </p:cTn>
                        </p:par>
                      </p:childTnLst>
                    </p:cTn>
                  </p:par>
                  <p:par>
                    <p:cTn id="62" fill="hold">
                      <p:stCondLst>
                        <p:cond delay="indefinite"/>
                      </p:stCondLst>
                      <p:childTnLst>
                        <p:par>
                          <p:cTn id="63" fill="hold">
                            <p:stCondLst>
                              <p:cond delay="0"/>
                            </p:stCondLst>
                            <p:childTnLst>
                              <p:par>
                                <p:cTn id="64" presetID="23" presetClass="entr" presetSubtype="272" fill="hold" grpId="0" nodeType="clickEffect">
                                  <p:stCondLst>
                                    <p:cond delay="0"/>
                                  </p:stCondLst>
                                  <p:childTnLst>
                                    <p:set>
                                      <p:cBhvr>
                                        <p:cTn id="65" dur="1" fill="hold">
                                          <p:stCondLst>
                                            <p:cond delay="0"/>
                                          </p:stCondLst>
                                        </p:cTn>
                                        <p:tgtEl>
                                          <p:spTgt spid="26"/>
                                        </p:tgtEl>
                                        <p:attrNameLst>
                                          <p:attrName>style.visibility</p:attrName>
                                        </p:attrNameLst>
                                      </p:cBhvr>
                                      <p:to>
                                        <p:strVal val="visible"/>
                                      </p:to>
                                    </p:set>
                                    <p:anim calcmode="lin" valueType="num">
                                      <p:cBhvr>
                                        <p:cTn id="66" dur="500" fill="hold"/>
                                        <p:tgtEl>
                                          <p:spTgt spid="26"/>
                                        </p:tgtEl>
                                        <p:attrNameLst>
                                          <p:attrName>ppt_w</p:attrName>
                                        </p:attrNameLst>
                                      </p:cBhvr>
                                      <p:tavLst>
                                        <p:tav tm="0">
                                          <p:val>
                                            <p:strVal val="2/3*#ppt_w"/>
                                          </p:val>
                                        </p:tav>
                                        <p:tav tm="100000">
                                          <p:val>
                                            <p:strVal val="#ppt_w"/>
                                          </p:val>
                                        </p:tav>
                                      </p:tavLst>
                                    </p:anim>
                                    <p:anim calcmode="lin" valueType="num">
                                      <p:cBhvr>
                                        <p:cTn id="67" dur="500" fill="hold"/>
                                        <p:tgtEl>
                                          <p:spTgt spid="26"/>
                                        </p:tgtEl>
                                        <p:attrNameLst>
                                          <p:attrName>ppt_h</p:attrName>
                                        </p:attrNameLst>
                                      </p:cBhvr>
                                      <p:tavLst>
                                        <p:tav tm="0">
                                          <p:val>
                                            <p:strVal val="2/3*#ppt_h"/>
                                          </p:val>
                                        </p:tav>
                                        <p:tav tm="100000">
                                          <p:val>
                                            <p:strVal val="#ppt_h"/>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64533"/>
                                        </p:tgtEl>
                                        <p:attrNameLst>
                                          <p:attrName>style.visibility</p:attrName>
                                        </p:attrNameLst>
                                      </p:cBhvr>
                                      <p:to>
                                        <p:strVal val="visible"/>
                                      </p:to>
                                    </p:set>
                                    <p:animEffect transition="in" filter="wipe(up)">
                                      <p:cBhvr>
                                        <p:cTn id="72" dur="500"/>
                                        <p:tgtEl>
                                          <p:spTgt spid="6453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wipe(up)">
                                      <p:cBhvr>
                                        <p:cTn id="77" dur="500"/>
                                        <p:tgtEl>
                                          <p:spTgt spid="27"/>
                                        </p:tgtEl>
                                      </p:cBhvr>
                                    </p:animEffect>
                                  </p:childTnLst>
                                </p:cTn>
                              </p:par>
                            </p:childTnLst>
                          </p:cTn>
                        </p:par>
                        <p:par>
                          <p:cTn id="78" fill="hold">
                            <p:stCondLst>
                              <p:cond delay="500"/>
                            </p:stCondLst>
                            <p:childTnLst>
                              <p:par>
                                <p:cTn id="79" presetID="22" presetClass="entr" presetSubtype="1" fill="hold" grpId="0" nodeType="afterEffect">
                                  <p:stCondLst>
                                    <p:cond delay="0"/>
                                  </p:stCondLst>
                                  <p:childTnLst>
                                    <p:set>
                                      <p:cBhvr>
                                        <p:cTn id="80" dur="1" fill="hold">
                                          <p:stCondLst>
                                            <p:cond delay="0"/>
                                          </p:stCondLst>
                                        </p:cTn>
                                        <p:tgtEl>
                                          <p:spTgt spid="64549"/>
                                        </p:tgtEl>
                                        <p:attrNameLst>
                                          <p:attrName>style.visibility</p:attrName>
                                        </p:attrNameLst>
                                      </p:cBhvr>
                                      <p:to>
                                        <p:strVal val="visible"/>
                                      </p:to>
                                    </p:set>
                                    <p:animEffect transition="in" filter="wipe(up)">
                                      <p:cBhvr>
                                        <p:cTn id="81" dur="500"/>
                                        <p:tgtEl>
                                          <p:spTgt spid="64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animBg="1"/>
      <p:bldP spid="64516" grpId="0" animBg="1"/>
      <p:bldP spid="64517" grpId="0" animBg="1"/>
      <p:bldP spid="2" grpId="0" animBg="1"/>
      <p:bldP spid="11290" grpId="0" animBg="1"/>
      <p:bldP spid="11286" grpId="0"/>
      <p:bldP spid="11283" grpId="0"/>
      <p:bldP spid="11280" grpId="0"/>
      <p:bldP spid="64533" grpId="0" animBg="1"/>
      <p:bldP spid="64534" grpId="0" animBg="1"/>
      <p:bldP spid="64549" grpId="0" animBg="1"/>
      <p:bldP spid="24" grpId="0" animBg="1"/>
      <p:bldP spid="3" grpId="0" animBg="1"/>
      <p:bldP spid="26" grpId="0" animBg="1"/>
      <p:bldP spid="25" grpId="0"/>
      <p:bldP spid="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43" name="Text Box 5"/>
          <p:cNvSpPr txBox="1">
            <a:spLocks noChangeArrowheads="1"/>
          </p:cNvSpPr>
          <p:nvPr/>
        </p:nvSpPr>
        <p:spPr bwMode="auto">
          <a:xfrm>
            <a:off x="824710" y="2032304"/>
            <a:ext cx="4691758" cy="1622734"/>
          </a:xfrm>
          <a:prstGeom prst="rect">
            <a:avLst/>
          </a:prstGeom>
          <a:solidFill>
            <a:srgbClr val="99CCFF"/>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r>
              <a:rPr lang="es-ES" sz="2400" dirty="0">
                <a:solidFill>
                  <a:schemeClr val="tx1"/>
                </a:solidFill>
              </a:rPr>
              <a:t>  Los electrones se</a:t>
            </a:r>
          </a:p>
          <a:p>
            <a:pPr algn="ctr" eaLnBrk="1" hangingPunct="1"/>
            <a:r>
              <a:rPr lang="es-ES" sz="2400" dirty="0">
                <a:solidFill>
                  <a:schemeClr val="tx1"/>
                </a:solidFill>
              </a:rPr>
              <a:t>encuentran localizados</a:t>
            </a:r>
          </a:p>
          <a:p>
            <a:pPr algn="ctr" eaLnBrk="1" hangingPunct="1"/>
            <a:r>
              <a:rPr lang="es-ES" sz="2400" dirty="0">
                <a:solidFill>
                  <a:schemeClr val="tx1"/>
                </a:solidFill>
              </a:rPr>
              <a:t>en átomos (los internos) </a:t>
            </a:r>
            <a:r>
              <a:rPr lang="es-ES" sz="2400" dirty="0"/>
              <a:t>o</a:t>
            </a:r>
          </a:p>
          <a:p>
            <a:pPr algn="ctr" eaLnBrk="1" hangingPunct="1"/>
            <a:r>
              <a:rPr lang="es-ES" sz="2400" dirty="0"/>
              <a:t>en moléculas (los externos)</a:t>
            </a:r>
          </a:p>
        </p:txBody>
      </p:sp>
      <p:sp>
        <p:nvSpPr>
          <p:cNvPr id="13341" name="Text Box 8"/>
          <p:cNvSpPr txBox="1">
            <a:spLocks noChangeArrowheads="1"/>
          </p:cNvSpPr>
          <p:nvPr/>
        </p:nvSpPr>
        <p:spPr bwMode="auto">
          <a:xfrm>
            <a:off x="6216502" y="2056846"/>
            <a:ext cx="4356873" cy="1412997"/>
          </a:xfrm>
          <a:prstGeom prst="rect">
            <a:avLst/>
          </a:prstGeom>
          <a:solidFill>
            <a:schemeClr val="accent1">
              <a:lumMod val="60000"/>
              <a:lumOff val="40000"/>
            </a:schemeClr>
          </a:solidFill>
          <a:ln>
            <a:noFill/>
          </a:ln>
        </p:spPr>
        <p:txBody>
          <a:bodyPr wrap="none" lIns="108000" tIns="72000" rIns="108000" bIns="72000" anchor="ctr" anchorCtr="1">
            <a:no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r>
              <a:rPr lang="es-ES" sz="2400" dirty="0">
                <a:solidFill>
                  <a:schemeClr val="tx1"/>
                </a:solidFill>
              </a:rPr>
              <a:t>Algunos electrones externos</a:t>
            </a:r>
          </a:p>
          <a:p>
            <a:pPr algn="ctr" eaLnBrk="1" hangingPunct="1"/>
            <a:r>
              <a:rPr lang="es-ES" sz="2400" dirty="0">
                <a:solidFill>
                  <a:schemeClr val="tx1"/>
                </a:solidFill>
              </a:rPr>
              <a:t>se mueven por todo el material</a:t>
            </a:r>
          </a:p>
          <a:p>
            <a:pPr algn="ctr" eaLnBrk="1" hangingPunct="1"/>
            <a:r>
              <a:rPr lang="es-ES" sz="2400" dirty="0">
                <a:solidFill>
                  <a:schemeClr val="tx1"/>
                </a:solidFill>
              </a:rPr>
              <a:t>(1e</a:t>
            </a:r>
            <a:r>
              <a:rPr lang="es-ES" sz="2400" baseline="30000" dirty="0">
                <a:solidFill>
                  <a:schemeClr val="tx1"/>
                </a:solidFill>
                <a:sym typeface="Symbol" panose="05050102010706020507" pitchFamily="18" charset="2"/>
              </a:rPr>
              <a:t></a:t>
            </a:r>
            <a:r>
              <a:rPr lang="es-ES" sz="2400" dirty="0">
                <a:solidFill>
                  <a:schemeClr val="tx1"/>
                </a:solidFill>
                <a:sym typeface="Symbol" panose="05050102010706020507" pitchFamily="18" charset="2"/>
              </a:rPr>
              <a:t> por </a:t>
            </a:r>
            <a:r>
              <a:rPr lang="es-ES" sz="2400" dirty="0">
                <a:solidFill>
                  <a:schemeClr val="tx1"/>
                </a:solidFill>
              </a:rPr>
              <a:t>átomo en</a:t>
            </a:r>
            <a:r>
              <a:rPr lang="es-ES" sz="2400" dirty="0">
                <a:solidFill>
                  <a:srgbClr val="0000FF"/>
                </a:solidFill>
              </a:rPr>
              <a:t> </a:t>
            </a:r>
            <a:r>
              <a:rPr lang="es-ES" sz="2400" dirty="0">
                <a:solidFill>
                  <a:schemeClr val="tx1"/>
                </a:solidFill>
              </a:rPr>
              <a:t>METALES)</a:t>
            </a:r>
          </a:p>
        </p:txBody>
      </p:sp>
      <p:sp>
        <p:nvSpPr>
          <p:cNvPr id="244745" name="Text Box 9"/>
          <p:cNvSpPr txBox="1">
            <a:spLocks noChangeArrowheads="1"/>
          </p:cNvSpPr>
          <p:nvPr/>
        </p:nvSpPr>
        <p:spPr bwMode="auto">
          <a:xfrm>
            <a:off x="5068586" y="1071814"/>
            <a:ext cx="1380287" cy="514738"/>
          </a:xfrm>
          <a:prstGeom prst="rect">
            <a:avLst/>
          </a:prstGeom>
          <a:solidFill>
            <a:srgbClr val="FAFAFA"/>
          </a:solidFill>
          <a:ln>
            <a:noFill/>
          </a:ln>
        </p:spPr>
        <p:txBody>
          <a:bodyPr wrap="none" lIns="108000" tIns="72000" rIns="108000" bIns="720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r>
              <a:rPr lang="es-ES" sz="2400" dirty="0"/>
              <a:t>SÓLIDO</a:t>
            </a:r>
          </a:p>
        </p:txBody>
      </p:sp>
      <p:sp>
        <p:nvSpPr>
          <p:cNvPr id="13338" name="Text Box 12"/>
          <p:cNvSpPr txBox="1">
            <a:spLocks noChangeArrowheads="1"/>
          </p:cNvSpPr>
          <p:nvPr/>
        </p:nvSpPr>
        <p:spPr bwMode="auto">
          <a:xfrm>
            <a:off x="1793668" y="1050817"/>
            <a:ext cx="2176465" cy="514349"/>
          </a:xfrm>
          <a:prstGeom prst="rect">
            <a:avLst/>
          </a:prstGeom>
          <a:solidFill>
            <a:srgbClr val="99CCFF"/>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t>AISLANTE</a:t>
            </a:r>
          </a:p>
        </p:txBody>
      </p:sp>
      <p:sp>
        <p:nvSpPr>
          <p:cNvPr id="13339" name="AutoShape 13"/>
          <p:cNvSpPr>
            <a:spLocks noChangeArrowheads="1"/>
          </p:cNvSpPr>
          <p:nvPr/>
        </p:nvSpPr>
        <p:spPr bwMode="auto">
          <a:xfrm flipH="1">
            <a:off x="4091057" y="1128839"/>
            <a:ext cx="707476" cy="461492"/>
          </a:xfrm>
          <a:prstGeom prst="rightArrow">
            <a:avLst>
              <a:gd name="adj1" fmla="val 55037"/>
              <a:gd name="adj2" fmla="val 50213"/>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108000" tIns="72000" rIns="108000" bIns="720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5" name="Text Box 15"/>
          <p:cNvSpPr txBox="1">
            <a:spLocks noChangeArrowheads="1"/>
          </p:cNvSpPr>
          <p:nvPr/>
        </p:nvSpPr>
        <p:spPr bwMode="auto">
          <a:xfrm>
            <a:off x="7432710" y="1084154"/>
            <a:ext cx="2214565" cy="514349"/>
          </a:xfrm>
          <a:prstGeom prst="rect">
            <a:avLst/>
          </a:prstGeom>
          <a:solidFill>
            <a:schemeClr val="accent1">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r>
              <a:rPr lang="es-ES" sz="2400"/>
              <a:t>CONDUCTOR</a:t>
            </a:r>
          </a:p>
        </p:txBody>
      </p:sp>
      <p:sp>
        <p:nvSpPr>
          <p:cNvPr id="13337" name="AutoShape 16"/>
          <p:cNvSpPr>
            <a:spLocks noChangeArrowheads="1"/>
          </p:cNvSpPr>
          <p:nvPr/>
        </p:nvSpPr>
        <p:spPr bwMode="auto">
          <a:xfrm>
            <a:off x="6703749" y="1136776"/>
            <a:ext cx="643160" cy="461492"/>
          </a:xfrm>
          <a:prstGeom prst="rightArrow">
            <a:avLst>
              <a:gd name="adj1" fmla="val 55037"/>
              <a:gd name="adj2" fmla="val 50213"/>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108000" tIns="72000" rIns="108000" bIns="720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66578" name="Text Box 20"/>
          <p:cNvSpPr txBox="1">
            <a:spLocks noChangeArrowheads="1"/>
          </p:cNvSpPr>
          <p:nvPr/>
        </p:nvSpPr>
        <p:spPr bwMode="auto">
          <a:xfrm>
            <a:off x="4233180" y="350582"/>
            <a:ext cx="3023365" cy="514738"/>
          </a:xfrm>
          <a:prstGeom prst="rect">
            <a:avLst/>
          </a:prstGeom>
          <a:solidFill>
            <a:srgbClr val="99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FFFFFF"/>
                </a:solidFill>
              </a:rPr>
              <a:t>ELÉCTRICAMENTE</a:t>
            </a:r>
          </a:p>
        </p:txBody>
      </p:sp>
      <p:sp>
        <p:nvSpPr>
          <p:cNvPr id="244759" name="Text Box 23"/>
          <p:cNvSpPr txBox="1">
            <a:spLocks noChangeArrowheads="1"/>
          </p:cNvSpPr>
          <p:nvPr/>
        </p:nvSpPr>
        <p:spPr bwMode="auto">
          <a:xfrm>
            <a:off x="588308" y="1709749"/>
            <a:ext cx="1200406" cy="514738"/>
          </a:xfrm>
          <a:prstGeom prst="rect">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sym typeface="Symbol" panose="05050102010706020507" pitchFamily="18" charset="2"/>
              </a:rPr>
              <a:t> IDEAL</a:t>
            </a:r>
          </a:p>
        </p:txBody>
      </p:sp>
      <p:sp>
        <p:nvSpPr>
          <p:cNvPr id="244760" name="Text Box 24"/>
          <p:cNvSpPr txBox="1">
            <a:spLocks noChangeArrowheads="1"/>
          </p:cNvSpPr>
          <p:nvPr/>
        </p:nvSpPr>
        <p:spPr bwMode="auto">
          <a:xfrm>
            <a:off x="6043429" y="1739510"/>
            <a:ext cx="1198024" cy="514738"/>
          </a:xfrm>
          <a:prstGeom prst="rect">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dirty="0">
                <a:solidFill>
                  <a:schemeClr val="tx1"/>
                </a:solidFill>
                <a:sym typeface="Symbol" panose="05050102010706020507" pitchFamily="18" charset="2"/>
              </a:rPr>
              <a:t> IDEAL</a:t>
            </a:r>
          </a:p>
        </p:txBody>
      </p:sp>
      <p:sp>
        <p:nvSpPr>
          <p:cNvPr id="13331" name="Text Box 26"/>
          <p:cNvSpPr txBox="1">
            <a:spLocks noChangeArrowheads="1"/>
          </p:cNvSpPr>
          <p:nvPr/>
        </p:nvSpPr>
        <p:spPr bwMode="auto">
          <a:xfrm>
            <a:off x="6220711" y="3552924"/>
            <a:ext cx="4348455" cy="514738"/>
          </a:xfrm>
          <a:prstGeom prst="rect">
            <a:avLst/>
          </a:prstGeom>
          <a:solidFill>
            <a:schemeClr val="accent1">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r>
              <a:rPr lang="es-ES" sz="2400">
                <a:solidFill>
                  <a:schemeClr val="tx1"/>
                </a:solidFill>
              </a:rPr>
              <a:t>Puede haber </a:t>
            </a:r>
            <a:r>
              <a:rPr lang="es-ES" sz="2400" b="1">
                <a:solidFill>
                  <a:schemeClr val="tx1"/>
                </a:solidFill>
              </a:rPr>
              <a:t>CORRIENTES</a:t>
            </a:r>
            <a:r>
              <a:rPr lang="es-ES" sz="2400">
                <a:solidFill>
                  <a:schemeClr val="tx1"/>
                </a:solidFill>
              </a:rPr>
              <a:t>:</a:t>
            </a:r>
          </a:p>
        </p:txBody>
      </p:sp>
      <p:sp>
        <p:nvSpPr>
          <p:cNvPr id="13332" name="Text Box 27"/>
          <p:cNvSpPr txBox="1">
            <a:spLocks noChangeArrowheads="1"/>
          </p:cNvSpPr>
          <p:nvPr/>
        </p:nvSpPr>
        <p:spPr bwMode="auto">
          <a:xfrm>
            <a:off x="6216502" y="4508047"/>
            <a:ext cx="4356873" cy="1253402"/>
          </a:xfrm>
          <a:prstGeom prst="rect">
            <a:avLst/>
          </a:prstGeom>
          <a:solidFill>
            <a:schemeClr val="accent1">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defRPr/>
            </a:pPr>
            <a:r>
              <a:rPr lang="es-ES" sz="2400" dirty="0">
                <a:solidFill>
                  <a:schemeClr val="tx1"/>
                </a:solidFill>
              </a:rPr>
              <a:t>Movimientos colectivos de esos e</a:t>
            </a:r>
            <a:r>
              <a:rPr lang="es-ES" sz="2400" baseline="30000">
                <a:solidFill>
                  <a:schemeClr val="tx1"/>
                </a:solidFill>
                <a:sym typeface="Symbol" panose="05050102010706020507" pitchFamily="18" charset="2"/>
              </a:rPr>
              <a:t>  </a:t>
            </a:r>
            <a:r>
              <a:rPr lang="es-ES" sz="2400">
                <a:solidFill>
                  <a:schemeClr val="tx1"/>
                </a:solidFill>
                <a:sym typeface="Symbol" panose="05050102010706020507" pitchFamily="18" charset="2"/>
              </a:rPr>
              <a:t>por el material</a:t>
            </a:r>
          </a:p>
          <a:p>
            <a:pPr algn="ctr" eaLnBrk="1" hangingPunct="1">
              <a:spcBef>
                <a:spcPts val="0"/>
              </a:spcBef>
              <a:defRPr/>
            </a:pPr>
            <a:r>
              <a:rPr lang="es-ES" sz="2400">
                <a:solidFill>
                  <a:schemeClr val="tx1"/>
                </a:solidFill>
                <a:sym typeface="Symbol" panose="05050102010706020507" pitchFamily="18" charset="2"/>
              </a:rPr>
              <a:t>al </a:t>
            </a:r>
            <a:r>
              <a:rPr lang="es-ES" sz="2400" dirty="0">
                <a:solidFill>
                  <a:schemeClr val="tx1"/>
                </a:solidFill>
                <a:sym typeface="Symbol" panose="05050102010706020507" pitchFamily="18" charset="2"/>
              </a:rPr>
              <a:t>aplicar un campo eléctrico</a:t>
            </a:r>
            <a:endParaRPr lang="es-ES" sz="2400" dirty="0">
              <a:solidFill>
                <a:srgbClr val="0099FF"/>
              </a:solidFill>
            </a:endParaRPr>
          </a:p>
        </p:txBody>
      </p:sp>
      <p:sp>
        <p:nvSpPr>
          <p:cNvPr id="2" name="Text Box 18"/>
          <p:cNvSpPr txBox="1">
            <a:spLocks noChangeArrowheads="1"/>
          </p:cNvSpPr>
          <p:nvPr/>
        </p:nvSpPr>
        <p:spPr bwMode="auto">
          <a:xfrm>
            <a:off x="1267170" y="5880082"/>
            <a:ext cx="9115696" cy="1253402"/>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44000" tIns="72000" rIns="144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chemeClr val="tx1"/>
                </a:solidFill>
                <a:sym typeface="Symbol" panose="05050102010706020507" pitchFamily="18" charset="2"/>
              </a:rPr>
              <a:t>Domina en su comportamiento el carácter aislante o conductor, porque en un material siempre </a:t>
            </a:r>
            <a:r>
              <a:rPr lang="es-ES" sz="2400">
                <a:solidFill>
                  <a:schemeClr val="tx1"/>
                </a:solidFill>
                <a:sym typeface="Symbol" panose="05050102010706020507" pitchFamily="18" charset="2"/>
              </a:rPr>
              <a:t>hay e</a:t>
            </a:r>
            <a:r>
              <a:rPr lang="es-ES" sz="2400" baseline="30000">
                <a:solidFill>
                  <a:schemeClr val="tx1"/>
                </a:solidFill>
                <a:sym typeface="Symbol" panose="05050102010706020507" pitchFamily="18" charset="2"/>
              </a:rPr>
              <a:t>-</a:t>
            </a:r>
            <a:r>
              <a:rPr lang="es-ES" sz="2400">
                <a:solidFill>
                  <a:schemeClr val="tx1"/>
                </a:solidFill>
                <a:sym typeface="Symbol" panose="05050102010706020507" pitchFamily="18" charset="2"/>
              </a:rPr>
              <a:t> </a:t>
            </a:r>
            <a:r>
              <a:rPr lang="es-ES" sz="2400" dirty="0">
                <a:solidFill>
                  <a:schemeClr val="tx1"/>
                </a:solidFill>
                <a:sym typeface="Symbol" panose="05050102010706020507" pitchFamily="18" charset="2"/>
              </a:rPr>
              <a:t>localizados, pero también puede </a:t>
            </a:r>
            <a:r>
              <a:rPr lang="es-ES" sz="2400">
                <a:solidFill>
                  <a:schemeClr val="tx1"/>
                </a:solidFill>
                <a:sym typeface="Symbol" panose="05050102010706020507" pitchFamily="18" charset="2"/>
              </a:rPr>
              <a:t>haber deslocalizados</a:t>
            </a:r>
            <a:r>
              <a:rPr lang="es-ES" sz="2400" dirty="0">
                <a:solidFill>
                  <a:schemeClr val="tx1"/>
                </a:solidFill>
                <a:sym typeface="Symbol" panose="05050102010706020507" pitchFamily="18" charset="2"/>
              </a:rPr>
              <a:t>, en mayor o menor medida </a:t>
            </a:r>
            <a:r>
              <a:rPr lang="es-ES" sz="2400" dirty="0">
                <a:solidFill>
                  <a:srgbClr val="FF0000"/>
                </a:solidFill>
                <a:sym typeface="Symbol" panose="05050102010706020507" pitchFamily="18" charset="2"/>
              </a:rPr>
              <a:t>(Tema 9)</a:t>
            </a:r>
          </a:p>
        </p:txBody>
      </p:sp>
      <p:sp>
        <p:nvSpPr>
          <p:cNvPr id="242691" name="Text Box 3"/>
          <p:cNvSpPr txBox="1">
            <a:spLocks noChangeArrowheads="1"/>
          </p:cNvSpPr>
          <p:nvPr/>
        </p:nvSpPr>
        <p:spPr bwMode="auto">
          <a:xfrm>
            <a:off x="824710" y="3715722"/>
            <a:ext cx="4715838" cy="514738"/>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Se llama también DIELÉCTRICO</a:t>
            </a:r>
          </a:p>
        </p:txBody>
      </p:sp>
      <p:sp>
        <p:nvSpPr>
          <p:cNvPr id="7" name="Text Box 17"/>
          <p:cNvSpPr txBox="1">
            <a:spLocks noChangeArrowheads="1"/>
          </p:cNvSpPr>
          <p:nvPr/>
        </p:nvSpPr>
        <p:spPr bwMode="auto">
          <a:xfrm>
            <a:off x="3403123" y="5049111"/>
            <a:ext cx="1108562" cy="3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dirty="0">
                <a:solidFill>
                  <a:srgbClr val="FF0000"/>
                </a:solidFill>
                <a:sym typeface="Symbol" panose="05050102010706020507" pitchFamily="18" charset="2"/>
              </a:rPr>
              <a:t>(Tema 9)</a:t>
            </a:r>
          </a:p>
        </p:txBody>
      </p:sp>
      <p:sp>
        <p:nvSpPr>
          <p:cNvPr id="8" name="Text Box 28"/>
          <p:cNvSpPr txBox="1">
            <a:spLocks noChangeArrowheads="1"/>
          </p:cNvSpPr>
          <p:nvPr/>
        </p:nvSpPr>
        <p:spPr bwMode="auto">
          <a:xfrm>
            <a:off x="1819761" y="4535853"/>
            <a:ext cx="2966754" cy="514652"/>
          </a:xfrm>
          <a:prstGeom prst="rect">
            <a:avLst/>
          </a:prstGeom>
          <a:solidFill>
            <a:srgbClr val="FF99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dirty="0">
                <a:solidFill>
                  <a:schemeClr val="tx1"/>
                </a:solidFill>
              </a:rPr>
              <a:t>SEMICONDUCTOR</a:t>
            </a:r>
          </a:p>
        </p:txBody>
      </p:sp>
      <p:grpSp>
        <p:nvGrpSpPr>
          <p:cNvPr id="3" name="Grupo 2">
            <a:extLst>
              <a:ext uri="{FF2B5EF4-FFF2-40B4-BE49-F238E27FC236}">
                <a16:creationId xmlns:a16="http://schemas.microsoft.com/office/drawing/2014/main" id="{FE71B1AE-92E0-4262-B6BC-120FE0C85040}"/>
              </a:ext>
            </a:extLst>
          </p:cNvPr>
          <p:cNvGrpSpPr/>
          <p:nvPr/>
        </p:nvGrpSpPr>
        <p:grpSpPr>
          <a:xfrm>
            <a:off x="4944385" y="1914275"/>
            <a:ext cx="898033" cy="3135845"/>
            <a:chOff x="4905057" y="1874947"/>
            <a:chExt cx="898033" cy="3135845"/>
          </a:xfrm>
        </p:grpSpPr>
        <p:sp>
          <p:nvSpPr>
            <p:cNvPr id="13333" name="AutoShape 29"/>
            <p:cNvSpPr>
              <a:spLocks noChangeArrowheads="1"/>
            </p:cNvSpPr>
            <p:nvPr/>
          </p:nvSpPr>
          <p:spPr bwMode="auto">
            <a:xfrm rot="10800000">
              <a:off x="4905057" y="4537439"/>
              <a:ext cx="836903" cy="473353"/>
            </a:xfrm>
            <a:prstGeom prst="rightArrow">
              <a:avLst>
                <a:gd name="adj1" fmla="val 55037"/>
                <a:gd name="adj2" fmla="val 50208"/>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13330" name="Rectángulo 4"/>
            <p:cNvSpPr>
              <a:spLocks noChangeArrowheads="1"/>
            </p:cNvSpPr>
            <p:nvPr/>
          </p:nvSpPr>
          <p:spPr bwMode="auto">
            <a:xfrm>
              <a:off x="5659090" y="1874947"/>
              <a:ext cx="144000" cy="3024005"/>
            </a:xfrm>
            <a:prstGeom prst="rect">
              <a:avLst/>
            </a:prstGeom>
            <a:solidFill>
              <a:schemeClr val="accent1"/>
            </a:solidFill>
            <a:ln w="12700" algn="ctr">
              <a:solidFill>
                <a:schemeClr val="accent1"/>
              </a:solidFill>
              <a:round/>
              <a:headEnd/>
              <a:tailEnd/>
            </a:ln>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grpSp>
      <p:sp>
        <p:nvSpPr>
          <p:cNvPr id="244754" name="Text Box 18"/>
          <p:cNvSpPr txBox="1">
            <a:spLocks noChangeArrowheads="1"/>
          </p:cNvSpPr>
          <p:nvPr/>
        </p:nvSpPr>
        <p:spPr bwMode="auto">
          <a:xfrm>
            <a:off x="582181" y="5472062"/>
            <a:ext cx="2258646" cy="514738"/>
          </a:xfrm>
          <a:prstGeom prst="rect">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chemeClr val="tx1"/>
                </a:solidFill>
                <a:sym typeface="Symbol" panose="05050102010706020507" pitchFamily="18" charset="2"/>
              </a:rPr>
              <a:t>SÓLIDO REAL</a:t>
            </a:r>
          </a:p>
        </p:txBody>
      </p:sp>
      <p:sp>
        <p:nvSpPr>
          <p:cNvPr id="26" name="Text Box 17"/>
          <p:cNvSpPr txBox="1">
            <a:spLocks noChangeArrowheads="1"/>
          </p:cNvSpPr>
          <p:nvPr/>
        </p:nvSpPr>
        <p:spPr bwMode="auto">
          <a:xfrm>
            <a:off x="8746474" y="4042094"/>
            <a:ext cx="1108563" cy="366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dirty="0">
                <a:solidFill>
                  <a:srgbClr val="FF0000"/>
                </a:solidFill>
                <a:sym typeface="Symbol" panose="05050102010706020507" pitchFamily="18" charset="2"/>
              </a:rPr>
              <a:t>(Tema 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66578"/>
                                        </p:tgtEl>
                                        <p:attrNameLst>
                                          <p:attrName>style.visibility</p:attrName>
                                        </p:attrNameLst>
                                      </p:cBhvr>
                                      <p:to>
                                        <p:strVal val="visible"/>
                                      </p:to>
                                    </p:set>
                                    <p:animEffect transition="in" filter="wipe(up)">
                                      <p:cBhvr>
                                        <p:cTn id="7" dur="500"/>
                                        <p:tgtEl>
                                          <p:spTgt spid="6657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272" fill="hold" grpId="0" nodeType="clickEffect">
                                  <p:stCondLst>
                                    <p:cond delay="0"/>
                                  </p:stCondLst>
                                  <p:childTnLst>
                                    <p:set>
                                      <p:cBhvr>
                                        <p:cTn id="11" dur="1" fill="hold">
                                          <p:stCondLst>
                                            <p:cond delay="0"/>
                                          </p:stCondLst>
                                        </p:cTn>
                                        <p:tgtEl>
                                          <p:spTgt spid="244745"/>
                                        </p:tgtEl>
                                        <p:attrNameLst>
                                          <p:attrName>style.visibility</p:attrName>
                                        </p:attrNameLst>
                                      </p:cBhvr>
                                      <p:to>
                                        <p:strVal val="visible"/>
                                      </p:to>
                                    </p:set>
                                    <p:anim calcmode="lin" valueType="num">
                                      <p:cBhvr>
                                        <p:cTn id="12" dur="500" fill="hold"/>
                                        <p:tgtEl>
                                          <p:spTgt spid="244745"/>
                                        </p:tgtEl>
                                        <p:attrNameLst>
                                          <p:attrName>ppt_w</p:attrName>
                                        </p:attrNameLst>
                                      </p:cBhvr>
                                      <p:tavLst>
                                        <p:tav tm="0">
                                          <p:val>
                                            <p:strVal val="2/3*#ppt_w"/>
                                          </p:val>
                                        </p:tav>
                                        <p:tav tm="100000">
                                          <p:val>
                                            <p:strVal val="#ppt_w"/>
                                          </p:val>
                                        </p:tav>
                                      </p:tavLst>
                                    </p:anim>
                                    <p:anim calcmode="lin" valueType="num">
                                      <p:cBhvr>
                                        <p:cTn id="13" dur="500" fill="hold"/>
                                        <p:tgtEl>
                                          <p:spTgt spid="244745"/>
                                        </p:tgtEl>
                                        <p:attrNameLst>
                                          <p:attrName>ppt_h</p:attrName>
                                        </p:attrNameLst>
                                      </p:cBhvr>
                                      <p:tavLst>
                                        <p:tav tm="0">
                                          <p:val>
                                            <p:strVal val="2/3*#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grpId="0" nodeType="clickEffect">
                                  <p:stCondLst>
                                    <p:cond delay="0"/>
                                  </p:stCondLst>
                                  <p:childTnLst>
                                    <p:set>
                                      <p:cBhvr>
                                        <p:cTn id="17" dur="1" fill="hold">
                                          <p:stCondLst>
                                            <p:cond delay="0"/>
                                          </p:stCondLst>
                                        </p:cTn>
                                        <p:tgtEl>
                                          <p:spTgt spid="13339"/>
                                        </p:tgtEl>
                                        <p:attrNameLst>
                                          <p:attrName>style.visibility</p:attrName>
                                        </p:attrNameLst>
                                      </p:cBhvr>
                                      <p:to>
                                        <p:strVal val="visible"/>
                                      </p:to>
                                    </p:set>
                                    <p:animEffect transition="in" filter="wipe(right)">
                                      <p:cBhvr>
                                        <p:cTn id="18" dur="500"/>
                                        <p:tgtEl>
                                          <p:spTgt spid="13339"/>
                                        </p:tgtEl>
                                      </p:cBhvr>
                                    </p:animEffect>
                                  </p:childTnLst>
                                </p:cTn>
                              </p:par>
                            </p:childTnLst>
                          </p:cTn>
                        </p:par>
                        <p:par>
                          <p:cTn id="19" fill="hold">
                            <p:stCondLst>
                              <p:cond delay="500"/>
                            </p:stCondLst>
                            <p:childTnLst>
                              <p:par>
                                <p:cTn id="20" presetID="22" presetClass="entr" presetSubtype="1" fill="hold" grpId="0" nodeType="afterEffect">
                                  <p:stCondLst>
                                    <p:cond delay="0"/>
                                  </p:stCondLst>
                                  <p:childTnLst>
                                    <p:set>
                                      <p:cBhvr>
                                        <p:cTn id="21" dur="1" fill="hold">
                                          <p:stCondLst>
                                            <p:cond delay="0"/>
                                          </p:stCondLst>
                                        </p:cTn>
                                        <p:tgtEl>
                                          <p:spTgt spid="13338"/>
                                        </p:tgtEl>
                                        <p:attrNameLst>
                                          <p:attrName>style.visibility</p:attrName>
                                        </p:attrNameLst>
                                      </p:cBhvr>
                                      <p:to>
                                        <p:strVal val="visible"/>
                                      </p:to>
                                    </p:set>
                                    <p:animEffect transition="in" filter="wipe(up)">
                                      <p:cBhvr>
                                        <p:cTn id="22" dur="500"/>
                                        <p:tgtEl>
                                          <p:spTgt spid="1333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337"/>
                                        </p:tgtEl>
                                        <p:attrNameLst>
                                          <p:attrName>style.visibility</p:attrName>
                                        </p:attrNameLst>
                                      </p:cBhvr>
                                      <p:to>
                                        <p:strVal val="visible"/>
                                      </p:to>
                                    </p:set>
                                    <p:animEffect transition="in" filter="wipe(left)">
                                      <p:cBhvr>
                                        <p:cTn id="27" dur="500"/>
                                        <p:tgtEl>
                                          <p:spTgt spid="13337"/>
                                        </p:tgtEl>
                                      </p:cBhvr>
                                    </p:animEffect>
                                  </p:childTnLst>
                                </p:cTn>
                              </p:par>
                            </p:childTnLst>
                          </p:cTn>
                        </p:par>
                        <p:par>
                          <p:cTn id="28" fill="hold">
                            <p:stCondLst>
                              <p:cond delay="500"/>
                            </p:stCondLst>
                            <p:childTnLst>
                              <p:par>
                                <p:cTn id="29" presetID="22" presetClass="entr" presetSubtype="1"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up)">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12"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strips(downLeft)">
                                      <p:cBhvr>
                                        <p:cTn id="36" dur="500"/>
                                        <p:tgtEl>
                                          <p:spTgt spid="3"/>
                                        </p:tgtEl>
                                      </p:cBhvr>
                                    </p:animEffect>
                                  </p:childTnLst>
                                </p:cTn>
                              </p:par>
                            </p:childTnLst>
                          </p:cTn>
                        </p:par>
                        <p:par>
                          <p:cTn id="37" fill="hold">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up)">
                                      <p:cBhvr>
                                        <p:cTn id="40" dur="500"/>
                                        <p:tgtEl>
                                          <p:spTgt spid="8"/>
                                        </p:tgtEl>
                                      </p:cBhvr>
                                    </p:animEffect>
                                  </p:childTnLst>
                                </p:cTn>
                              </p:par>
                            </p:childTnLst>
                          </p:cTn>
                        </p:par>
                        <p:par>
                          <p:cTn id="41" fill="hold">
                            <p:stCondLst>
                              <p:cond delay="1000"/>
                            </p:stCondLst>
                            <p:childTnLst>
                              <p:par>
                                <p:cTn id="42" presetID="22" presetClass="entr" presetSubtype="1"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up)">
                                      <p:cBhvr>
                                        <p:cTn id="44" dur="500"/>
                                        <p:tgtEl>
                                          <p:spTgt spid="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13343"/>
                                        </p:tgtEl>
                                        <p:attrNameLst>
                                          <p:attrName>style.visibility</p:attrName>
                                        </p:attrNameLst>
                                      </p:cBhvr>
                                      <p:to>
                                        <p:strVal val="visible"/>
                                      </p:to>
                                    </p:set>
                                    <p:animEffect transition="in" filter="wipe(up)">
                                      <p:cBhvr>
                                        <p:cTn id="49" dur="500"/>
                                        <p:tgtEl>
                                          <p:spTgt spid="1334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2" presetClass="entr" presetSubtype="1" fill="hold" grpId="0" nodeType="clickEffect">
                                  <p:stCondLst>
                                    <p:cond delay="0"/>
                                  </p:stCondLst>
                                  <p:childTnLst>
                                    <p:set>
                                      <p:cBhvr>
                                        <p:cTn id="53" dur="1" fill="hold">
                                          <p:stCondLst>
                                            <p:cond delay="0"/>
                                          </p:stCondLst>
                                        </p:cTn>
                                        <p:tgtEl>
                                          <p:spTgt spid="242691"/>
                                        </p:tgtEl>
                                        <p:attrNameLst>
                                          <p:attrName>style.visibility</p:attrName>
                                        </p:attrNameLst>
                                      </p:cBhvr>
                                      <p:to>
                                        <p:strVal val="visible"/>
                                      </p:to>
                                    </p:set>
                                    <p:anim calcmode="lin" valueType="num">
                                      <p:cBhvr additive="base">
                                        <p:cTn id="54" dur="500"/>
                                        <p:tgtEl>
                                          <p:spTgt spid="242691"/>
                                        </p:tgtEl>
                                        <p:attrNameLst>
                                          <p:attrName>ppt_y</p:attrName>
                                        </p:attrNameLst>
                                      </p:cBhvr>
                                      <p:tavLst>
                                        <p:tav tm="0">
                                          <p:val>
                                            <p:strVal val="#ppt_y-#ppt_h*1.125000"/>
                                          </p:val>
                                        </p:tav>
                                        <p:tav tm="100000">
                                          <p:val>
                                            <p:strVal val="#ppt_y"/>
                                          </p:val>
                                        </p:tav>
                                      </p:tavLst>
                                    </p:anim>
                                    <p:animEffect transition="in" filter="wipe(down)">
                                      <p:cBhvr>
                                        <p:cTn id="55" dur="500"/>
                                        <p:tgtEl>
                                          <p:spTgt spid="24269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13341"/>
                                        </p:tgtEl>
                                        <p:attrNameLst>
                                          <p:attrName>style.visibility</p:attrName>
                                        </p:attrNameLst>
                                      </p:cBhvr>
                                      <p:to>
                                        <p:strVal val="visible"/>
                                      </p:to>
                                    </p:set>
                                    <p:animEffect transition="in" filter="wipe(up)">
                                      <p:cBhvr>
                                        <p:cTn id="60" dur="500"/>
                                        <p:tgtEl>
                                          <p:spTgt spid="13341"/>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1" fill="hold" grpId="0" nodeType="clickEffect">
                                  <p:stCondLst>
                                    <p:cond delay="0"/>
                                  </p:stCondLst>
                                  <p:childTnLst>
                                    <p:set>
                                      <p:cBhvr>
                                        <p:cTn id="64" dur="1" fill="hold">
                                          <p:stCondLst>
                                            <p:cond delay="0"/>
                                          </p:stCondLst>
                                        </p:cTn>
                                        <p:tgtEl>
                                          <p:spTgt spid="13331"/>
                                        </p:tgtEl>
                                        <p:attrNameLst>
                                          <p:attrName>style.visibility</p:attrName>
                                        </p:attrNameLst>
                                      </p:cBhvr>
                                      <p:to>
                                        <p:strVal val="visible"/>
                                      </p:to>
                                    </p:set>
                                    <p:anim calcmode="lin" valueType="num">
                                      <p:cBhvr additive="base">
                                        <p:cTn id="65" dur="500"/>
                                        <p:tgtEl>
                                          <p:spTgt spid="13331"/>
                                        </p:tgtEl>
                                        <p:attrNameLst>
                                          <p:attrName>ppt_y</p:attrName>
                                        </p:attrNameLst>
                                      </p:cBhvr>
                                      <p:tavLst>
                                        <p:tav tm="0">
                                          <p:val>
                                            <p:strVal val="#ppt_y-#ppt_h*1.125000"/>
                                          </p:val>
                                        </p:tav>
                                        <p:tav tm="100000">
                                          <p:val>
                                            <p:strVal val="#ppt_y"/>
                                          </p:val>
                                        </p:tav>
                                      </p:tavLst>
                                    </p:anim>
                                    <p:animEffect transition="in" filter="wipe(down)">
                                      <p:cBhvr>
                                        <p:cTn id="66" dur="500"/>
                                        <p:tgtEl>
                                          <p:spTgt spid="13331"/>
                                        </p:tgtEl>
                                      </p:cBhvr>
                                    </p:animEffect>
                                  </p:childTnLst>
                                </p:cTn>
                              </p:par>
                            </p:childTnLst>
                          </p:cTn>
                        </p:par>
                        <p:par>
                          <p:cTn id="67" fill="hold">
                            <p:stCondLst>
                              <p:cond delay="500"/>
                            </p:stCondLst>
                            <p:childTnLst>
                              <p:par>
                                <p:cTn id="68" presetID="22" presetClass="entr" presetSubtype="1" fill="hold" grpId="0" nodeType="after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wipe(up)">
                                      <p:cBhvr>
                                        <p:cTn id="70" dur="500"/>
                                        <p:tgtEl>
                                          <p:spTgt spid="2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13332"/>
                                        </p:tgtEl>
                                        <p:attrNameLst>
                                          <p:attrName>style.visibility</p:attrName>
                                        </p:attrNameLst>
                                      </p:cBhvr>
                                      <p:to>
                                        <p:strVal val="visible"/>
                                      </p:to>
                                    </p:set>
                                    <p:animEffect transition="in" filter="wipe(up)">
                                      <p:cBhvr>
                                        <p:cTn id="75" dur="500"/>
                                        <p:tgtEl>
                                          <p:spTgt spid="1333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2" presetClass="entr" presetSubtype="8" fill="hold" grpId="0" nodeType="clickEffect">
                                  <p:stCondLst>
                                    <p:cond delay="0"/>
                                  </p:stCondLst>
                                  <p:childTnLst>
                                    <p:set>
                                      <p:cBhvr>
                                        <p:cTn id="79" dur="1" fill="hold">
                                          <p:stCondLst>
                                            <p:cond delay="0"/>
                                          </p:stCondLst>
                                        </p:cTn>
                                        <p:tgtEl>
                                          <p:spTgt spid="244759"/>
                                        </p:tgtEl>
                                        <p:attrNameLst>
                                          <p:attrName>style.visibility</p:attrName>
                                        </p:attrNameLst>
                                      </p:cBhvr>
                                      <p:to>
                                        <p:strVal val="visible"/>
                                      </p:to>
                                    </p:set>
                                    <p:anim calcmode="lin" valueType="num">
                                      <p:cBhvr additive="base">
                                        <p:cTn id="80" dur="500"/>
                                        <p:tgtEl>
                                          <p:spTgt spid="244759"/>
                                        </p:tgtEl>
                                        <p:attrNameLst>
                                          <p:attrName>ppt_x</p:attrName>
                                        </p:attrNameLst>
                                      </p:cBhvr>
                                      <p:tavLst>
                                        <p:tav tm="0">
                                          <p:val>
                                            <p:strVal val="#ppt_x-#ppt_w*1.125000"/>
                                          </p:val>
                                        </p:tav>
                                        <p:tav tm="100000">
                                          <p:val>
                                            <p:strVal val="#ppt_x"/>
                                          </p:val>
                                        </p:tav>
                                      </p:tavLst>
                                    </p:anim>
                                    <p:animEffect transition="in" filter="wipe(right)">
                                      <p:cBhvr>
                                        <p:cTn id="81" dur="500"/>
                                        <p:tgtEl>
                                          <p:spTgt spid="244759"/>
                                        </p:tgtEl>
                                      </p:cBhvr>
                                    </p:animEffect>
                                  </p:childTnLst>
                                </p:cTn>
                              </p:par>
                              <p:par>
                                <p:cTn id="82" presetID="12" presetClass="entr" presetSubtype="8" fill="hold" grpId="0" nodeType="withEffect">
                                  <p:stCondLst>
                                    <p:cond delay="0"/>
                                  </p:stCondLst>
                                  <p:childTnLst>
                                    <p:set>
                                      <p:cBhvr>
                                        <p:cTn id="83" dur="1" fill="hold">
                                          <p:stCondLst>
                                            <p:cond delay="0"/>
                                          </p:stCondLst>
                                        </p:cTn>
                                        <p:tgtEl>
                                          <p:spTgt spid="244760"/>
                                        </p:tgtEl>
                                        <p:attrNameLst>
                                          <p:attrName>style.visibility</p:attrName>
                                        </p:attrNameLst>
                                      </p:cBhvr>
                                      <p:to>
                                        <p:strVal val="visible"/>
                                      </p:to>
                                    </p:set>
                                    <p:anim calcmode="lin" valueType="num">
                                      <p:cBhvr additive="base">
                                        <p:cTn id="84" dur="500"/>
                                        <p:tgtEl>
                                          <p:spTgt spid="244760"/>
                                        </p:tgtEl>
                                        <p:attrNameLst>
                                          <p:attrName>ppt_x</p:attrName>
                                        </p:attrNameLst>
                                      </p:cBhvr>
                                      <p:tavLst>
                                        <p:tav tm="0">
                                          <p:val>
                                            <p:strVal val="#ppt_x-#ppt_w*1.125000"/>
                                          </p:val>
                                        </p:tav>
                                        <p:tav tm="100000">
                                          <p:val>
                                            <p:strVal val="#ppt_x"/>
                                          </p:val>
                                        </p:tav>
                                      </p:tavLst>
                                    </p:anim>
                                    <p:animEffect transition="in" filter="wipe(right)">
                                      <p:cBhvr>
                                        <p:cTn id="85" dur="500"/>
                                        <p:tgtEl>
                                          <p:spTgt spid="244760"/>
                                        </p:tgtEl>
                                      </p:cBhvr>
                                    </p:animEffect>
                                  </p:childTnLst>
                                </p:cTn>
                              </p:par>
                            </p:childTnLst>
                          </p:cTn>
                        </p:par>
                      </p:childTnLst>
                    </p:cTn>
                  </p:par>
                  <p:par>
                    <p:cTn id="86" fill="hold">
                      <p:stCondLst>
                        <p:cond delay="indefinite"/>
                      </p:stCondLst>
                      <p:childTnLst>
                        <p:par>
                          <p:cTn id="87" fill="hold">
                            <p:stCondLst>
                              <p:cond delay="0"/>
                            </p:stCondLst>
                            <p:childTnLst>
                              <p:par>
                                <p:cTn id="88" presetID="12" presetClass="entr" presetSubtype="8" fill="hold" grpId="0" nodeType="clickEffect">
                                  <p:stCondLst>
                                    <p:cond delay="0"/>
                                  </p:stCondLst>
                                  <p:childTnLst>
                                    <p:set>
                                      <p:cBhvr>
                                        <p:cTn id="89" dur="1" fill="hold">
                                          <p:stCondLst>
                                            <p:cond delay="0"/>
                                          </p:stCondLst>
                                        </p:cTn>
                                        <p:tgtEl>
                                          <p:spTgt spid="244754"/>
                                        </p:tgtEl>
                                        <p:attrNameLst>
                                          <p:attrName>style.visibility</p:attrName>
                                        </p:attrNameLst>
                                      </p:cBhvr>
                                      <p:to>
                                        <p:strVal val="visible"/>
                                      </p:to>
                                    </p:set>
                                    <p:anim calcmode="lin" valueType="num">
                                      <p:cBhvr additive="base">
                                        <p:cTn id="90" dur="500"/>
                                        <p:tgtEl>
                                          <p:spTgt spid="244754"/>
                                        </p:tgtEl>
                                        <p:attrNameLst>
                                          <p:attrName>ppt_x</p:attrName>
                                        </p:attrNameLst>
                                      </p:cBhvr>
                                      <p:tavLst>
                                        <p:tav tm="0">
                                          <p:val>
                                            <p:strVal val="#ppt_x-#ppt_w*1.125000"/>
                                          </p:val>
                                        </p:tav>
                                        <p:tav tm="100000">
                                          <p:val>
                                            <p:strVal val="#ppt_x"/>
                                          </p:val>
                                        </p:tav>
                                      </p:tavLst>
                                    </p:anim>
                                    <p:animEffect transition="in" filter="wipe(right)">
                                      <p:cBhvr>
                                        <p:cTn id="91" dur="500"/>
                                        <p:tgtEl>
                                          <p:spTgt spid="244754"/>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grpId="0" nodeType="clickEffect">
                                  <p:stCondLst>
                                    <p:cond delay="0"/>
                                  </p:stCondLst>
                                  <p:childTnLst>
                                    <p:set>
                                      <p:cBhvr>
                                        <p:cTn id="95" dur="1" fill="hold">
                                          <p:stCondLst>
                                            <p:cond delay="0"/>
                                          </p:stCondLst>
                                        </p:cTn>
                                        <p:tgtEl>
                                          <p:spTgt spid="2"/>
                                        </p:tgtEl>
                                        <p:attrNameLst>
                                          <p:attrName>style.visibility</p:attrName>
                                        </p:attrNameLst>
                                      </p:cBhvr>
                                      <p:to>
                                        <p:strVal val="visible"/>
                                      </p:to>
                                    </p:set>
                                    <p:animEffect transition="in" filter="wipe(up)">
                                      <p:cBhvr>
                                        <p:cTn id="9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43" grpId="0" animBg="1"/>
      <p:bldP spid="13341" grpId="0" animBg="1"/>
      <p:bldP spid="244745" grpId="0" animBg="1"/>
      <p:bldP spid="13338" grpId="0" animBg="1"/>
      <p:bldP spid="13339" grpId="0" animBg="1"/>
      <p:bldP spid="5" grpId="0" animBg="1"/>
      <p:bldP spid="13337" grpId="0" animBg="1"/>
      <p:bldP spid="66578" grpId="0" animBg="1"/>
      <p:bldP spid="244759" grpId="0" animBg="1"/>
      <p:bldP spid="244760" grpId="0" animBg="1"/>
      <p:bldP spid="13331" grpId="0" animBg="1"/>
      <p:bldP spid="13332" grpId="0" animBg="1"/>
      <p:bldP spid="2" grpId="0" animBg="1"/>
      <p:bldP spid="242691" grpId="0" animBg="1"/>
      <p:bldP spid="7" grpId="0"/>
      <p:bldP spid="8" grpId="0" animBg="1"/>
      <p:bldP spid="244754" grpId="0" animBg="1"/>
      <p:bldP spid="2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7" name="Oval 17"/>
          <p:cNvSpPr>
            <a:spLocks noChangeArrowheads="1"/>
          </p:cNvSpPr>
          <p:nvPr/>
        </p:nvSpPr>
        <p:spPr bwMode="auto">
          <a:xfrm rot="16200000">
            <a:off x="5754708" y="1325948"/>
            <a:ext cx="1458070" cy="787672"/>
          </a:xfrm>
          <a:prstGeom prst="ellipse">
            <a:avLst/>
          </a:prstGeom>
          <a:gradFill rotWithShape="1">
            <a:gsLst>
              <a:gs pos="0">
                <a:srgbClr val="FFFFFF"/>
              </a:gs>
              <a:gs pos="100000">
                <a:schemeClr val="accent1">
                  <a:lumMod val="60000"/>
                  <a:lumOff val="40000"/>
                </a:schemeClr>
              </a:gs>
            </a:gsLst>
            <a:path path="shape">
              <a:fillToRect l="50000" t="50000" r="50000" b="50000"/>
            </a:path>
          </a:gradFill>
          <a:ln>
            <a:noFill/>
          </a:ln>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endParaRPr lang="es-ES"/>
          </a:p>
        </p:txBody>
      </p:sp>
      <p:sp>
        <p:nvSpPr>
          <p:cNvPr id="191" name="Oval 17">
            <a:extLst>
              <a:ext uri="{FF2B5EF4-FFF2-40B4-BE49-F238E27FC236}">
                <a16:creationId xmlns:a16="http://schemas.microsoft.com/office/drawing/2014/main" id="{A6DDD918-0F9F-45FB-8D7D-D3B207E5DC62}"/>
              </a:ext>
            </a:extLst>
          </p:cNvPr>
          <p:cNvSpPr>
            <a:spLocks noChangeArrowheads="1"/>
          </p:cNvSpPr>
          <p:nvPr/>
        </p:nvSpPr>
        <p:spPr bwMode="auto">
          <a:xfrm rot="16200000">
            <a:off x="5793597" y="2916901"/>
            <a:ext cx="1458068" cy="787672"/>
          </a:xfrm>
          <a:prstGeom prst="ellipse">
            <a:avLst/>
          </a:prstGeom>
          <a:gradFill rotWithShape="1">
            <a:gsLst>
              <a:gs pos="0">
                <a:srgbClr val="FFFFFF"/>
              </a:gs>
              <a:gs pos="100000">
                <a:schemeClr val="accent1">
                  <a:lumMod val="60000"/>
                  <a:lumOff val="40000"/>
                </a:schemeClr>
              </a:gs>
            </a:gsLst>
            <a:path path="shape">
              <a:fillToRect l="50000" t="50000" r="50000" b="50000"/>
            </a:path>
          </a:gradFill>
          <a:ln>
            <a:noFill/>
          </a:ln>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endParaRPr lang="es-ES"/>
          </a:p>
        </p:txBody>
      </p:sp>
      <p:sp>
        <p:nvSpPr>
          <p:cNvPr id="192" name="Oval 17">
            <a:extLst>
              <a:ext uri="{FF2B5EF4-FFF2-40B4-BE49-F238E27FC236}">
                <a16:creationId xmlns:a16="http://schemas.microsoft.com/office/drawing/2014/main" id="{74007D43-5DCA-4785-9325-B9B93DB257F4}"/>
              </a:ext>
            </a:extLst>
          </p:cNvPr>
          <p:cNvSpPr>
            <a:spLocks noChangeArrowheads="1"/>
          </p:cNvSpPr>
          <p:nvPr/>
        </p:nvSpPr>
        <p:spPr bwMode="auto">
          <a:xfrm rot="16200000">
            <a:off x="7529599" y="2935147"/>
            <a:ext cx="1458068" cy="787672"/>
          </a:xfrm>
          <a:prstGeom prst="ellipse">
            <a:avLst/>
          </a:prstGeom>
          <a:gradFill rotWithShape="1">
            <a:gsLst>
              <a:gs pos="0">
                <a:srgbClr val="FFFFFF"/>
              </a:gs>
              <a:gs pos="100000">
                <a:schemeClr val="accent1">
                  <a:lumMod val="60000"/>
                  <a:lumOff val="40000"/>
                </a:schemeClr>
              </a:gs>
            </a:gsLst>
            <a:path path="shape">
              <a:fillToRect l="50000" t="50000" r="50000" b="50000"/>
            </a:path>
          </a:gradFill>
          <a:ln>
            <a:noFill/>
          </a:ln>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endParaRPr lang="es-ES"/>
          </a:p>
        </p:txBody>
      </p:sp>
      <p:sp>
        <p:nvSpPr>
          <p:cNvPr id="193" name="Oval 17">
            <a:extLst>
              <a:ext uri="{FF2B5EF4-FFF2-40B4-BE49-F238E27FC236}">
                <a16:creationId xmlns:a16="http://schemas.microsoft.com/office/drawing/2014/main" id="{BEC7FD12-9EE6-47EA-90F1-DBA672EA6151}"/>
              </a:ext>
            </a:extLst>
          </p:cNvPr>
          <p:cNvSpPr>
            <a:spLocks noChangeArrowheads="1"/>
          </p:cNvSpPr>
          <p:nvPr/>
        </p:nvSpPr>
        <p:spPr bwMode="auto">
          <a:xfrm rot="16200000">
            <a:off x="8986580" y="2942154"/>
            <a:ext cx="1458068" cy="787672"/>
          </a:xfrm>
          <a:prstGeom prst="ellipse">
            <a:avLst/>
          </a:prstGeom>
          <a:gradFill rotWithShape="1">
            <a:gsLst>
              <a:gs pos="0">
                <a:srgbClr val="FFFFFF"/>
              </a:gs>
              <a:gs pos="100000">
                <a:schemeClr val="accent1">
                  <a:lumMod val="60000"/>
                  <a:lumOff val="40000"/>
                </a:schemeClr>
              </a:gs>
            </a:gsLst>
            <a:path path="shape">
              <a:fillToRect l="50000" t="50000" r="50000" b="50000"/>
            </a:path>
          </a:gradFill>
          <a:ln>
            <a:noFill/>
          </a:ln>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endParaRPr lang="es-ES"/>
          </a:p>
        </p:txBody>
      </p:sp>
      <p:sp>
        <p:nvSpPr>
          <p:cNvPr id="194" name="Oval 17">
            <a:extLst>
              <a:ext uri="{FF2B5EF4-FFF2-40B4-BE49-F238E27FC236}">
                <a16:creationId xmlns:a16="http://schemas.microsoft.com/office/drawing/2014/main" id="{1B78CE21-3ABB-4644-ABDF-8B5A8CB73BF8}"/>
              </a:ext>
            </a:extLst>
          </p:cNvPr>
          <p:cNvSpPr>
            <a:spLocks noChangeArrowheads="1"/>
          </p:cNvSpPr>
          <p:nvPr/>
        </p:nvSpPr>
        <p:spPr bwMode="auto">
          <a:xfrm rot="16200000">
            <a:off x="7538742" y="1309227"/>
            <a:ext cx="1458070" cy="787672"/>
          </a:xfrm>
          <a:prstGeom prst="ellipse">
            <a:avLst/>
          </a:prstGeom>
          <a:gradFill rotWithShape="1">
            <a:gsLst>
              <a:gs pos="0">
                <a:srgbClr val="FFFFFF"/>
              </a:gs>
              <a:gs pos="100000">
                <a:schemeClr val="accent1">
                  <a:lumMod val="60000"/>
                  <a:lumOff val="40000"/>
                </a:schemeClr>
              </a:gs>
            </a:gsLst>
            <a:path path="shape">
              <a:fillToRect l="50000" t="50000" r="50000" b="50000"/>
            </a:path>
          </a:gradFill>
          <a:ln>
            <a:noFill/>
          </a:ln>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endParaRPr lang="es-ES"/>
          </a:p>
        </p:txBody>
      </p:sp>
      <p:sp>
        <p:nvSpPr>
          <p:cNvPr id="195" name="Oval 17">
            <a:extLst>
              <a:ext uri="{FF2B5EF4-FFF2-40B4-BE49-F238E27FC236}">
                <a16:creationId xmlns:a16="http://schemas.microsoft.com/office/drawing/2014/main" id="{D551788E-43F0-430B-9BBF-E1990666EF4C}"/>
              </a:ext>
            </a:extLst>
          </p:cNvPr>
          <p:cNvSpPr>
            <a:spLocks noChangeArrowheads="1"/>
          </p:cNvSpPr>
          <p:nvPr/>
        </p:nvSpPr>
        <p:spPr bwMode="auto">
          <a:xfrm rot="16200000">
            <a:off x="8995723" y="1316234"/>
            <a:ext cx="1458070" cy="787672"/>
          </a:xfrm>
          <a:prstGeom prst="ellipse">
            <a:avLst/>
          </a:prstGeom>
          <a:gradFill rotWithShape="1">
            <a:gsLst>
              <a:gs pos="0">
                <a:srgbClr val="FFFFFF"/>
              </a:gs>
              <a:gs pos="100000">
                <a:schemeClr val="accent1">
                  <a:lumMod val="60000"/>
                  <a:lumOff val="40000"/>
                </a:schemeClr>
              </a:gs>
            </a:gsLst>
            <a:path path="shape">
              <a:fillToRect l="50000" t="50000" r="50000" b="50000"/>
            </a:path>
          </a:gradFill>
          <a:ln>
            <a:noFill/>
          </a:ln>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endParaRPr lang="es-ES"/>
          </a:p>
        </p:txBody>
      </p:sp>
      <p:sp>
        <p:nvSpPr>
          <p:cNvPr id="189" name="Oval 5">
            <a:extLst>
              <a:ext uri="{FF2B5EF4-FFF2-40B4-BE49-F238E27FC236}">
                <a16:creationId xmlns:a16="http://schemas.microsoft.com/office/drawing/2014/main" id="{B0E817A4-453D-49E3-89EC-A8E466CC3B71}"/>
              </a:ext>
            </a:extLst>
          </p:cNvPr>
          <p:cNvSpPr>
            <a:spLocks noChangeArrowheads="1"/>
          </p:cNvSpPr>
          <p:nvPr/>
        </p:nvSpPr>
        <p:spPr bwMode="auto">
          <a:xfrm>
            <a:off x="3651404" y="3000557"/>
            <a:ext cx="1746247" cy="777875"/>
          </a:xfrm>
          <a:prstGeom prst="ellipse">
            <a:avLst/>
          </a:prstGeom>
          <a:gradFill rotWithShape="1">
            <a:gsLst>
              <a:gs pos="0">
                <a:srgbClr val="FFFFFF"/>
              </a:gs>
              <a:gs pos="100000">
                <a:srgbClr val="66CCFF"/>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15363" name="Oval 5"/>
          <p:cNvSpPr>
            <a:spLocks noChangeArrowheads="1"/>
          </p:cNvSpPr>
          <p:nvPr/>
        </p:nvSpPr>
        <p:spPr bwMode="auto">
          <a:xfrm>
            <a:off x="1353089" y="1587673"/>
            <a:ext cx="1746247" cy="777875"/>
          </a:xfrm>
          <a:prstGeom prst="ellipse">
            <a:avLst/>
          </a:prstGeom>
          <a:gradFill rotWithShape="1">
            <a:gsLst>
              <a:gs pos="0">
                <a:srgbClr val="FFFFFF"/>
              </a:gs>
              <a:gs pos="100000">
                <a:srgbClr val="66CCFF"/>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15364" name="Text Box 6"/>
          <p:cNvSpPr txBox="1">
            <a:spLocks noChangeArrowheads="1"/>
          </p:cNvSpPr>
          <p:nvPr/>
        </p:nvSpPr>
        <p:spPr bwMode="auto">
          <a:xfrm>
            <a:off x="2310967" y="307897"/>
            <a:ext cx="2270282" cy="514738"/>
          </a:xfrm>
          <a:prstGeom prst="rect">
            <a:avLst/>
          </a:prstGeom>
          <a:solidFill>
            <a:srgbClr val="99CCFF"/>
          </a:solidFill>
          <a:ln>
            <a:noFill/>
          </a:ln>
        </p:spPr>
        <p:txBody>
          <a:bodyPr wrap="none" lIns="108000" tIns="72000" rIns="108000" bIns="720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chemeClr val="tx1"/>
                </a:solidFill>
              </a:rPr>
              <a:t>AISLANTE</a:t>
            </a:r>
          </a:p>
        </p:txBody>
      </p:sp>
      <p:sp>
        <p:nvSpPr>
          <p:cNvPr id="15365" name="Text Box 7"/>
          <p:cNvSpPr txBox="1">
            <a:spLocks noChangeArrowheads="1"/>
          </p:cNvSpPr>
          <p:nvPr/>
        </p:nvSpPr>
        <p:spPr bwMode="auto">
          <a:xfrm>
            <a:off x="7010296" y="295197"/>
            <a:ext cx="2214682" cy="514738"/>
          </a:xfrm>
          <a:prstGeom prst="rect">
            <a:avLst/>
          </a:prstGeom>
          <a:solidFill>
            <a:schemeClr val="accent1">
              <a:lumMod val="60000"/>
              <a:lumOff val="40000"/>
            </a:schemeClr>
          </a:solidFill>
          <a:ln>
            <a:noFill/>
          </a:ln>
        </p:spPr>
        <p:txBody>
          <a:bodyPr wrap="none" lIns="108000" tIns="72000" rIns="108000" bIns="720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r>
              <a:rPr lang="es-ES" sz="2400">
                <a:solidFill>
                  <a:schemeClr val="tx1"/>
                </a:solidFill>
              </a:rPr>
              <a:t>CONDUCTOR</a:t>
            </a:r>
          </a:p>
        </p:txBody>
      </p:sp>
      <p:grpSp>
        <p:nvGrpSpPr>
          <p:cNvPr id="13" name="Grupo 12">
            <a:extLst>
              <a:ext uri="{FF2B5EF4-FFF2-40B4-BE49-F238E27FC236}">
                <a16:creationId xmlns:a16="http://schemas.microsoft.com/office/drawing/2014/main" id="{5479CC09-9662-43B2-A1BE-BAA6207F4F83}"/>
              </a:ext>
            </a:extLst>
          </p:cNvPr>
          <p:cNvGrpSpPr/>
          <p:nvPr/>
        </p:nvGrpSpPr>
        <p:grpSpPr>
          <a:xfrm>
            <a:off x="9354943" y="952048"/>
            <a:ext cx="801061" cy="1493944"/>
            <a:chOff x="9354943" y="1070032"/>
            <a:chExt cx="801061" cy="1493944"/>
          </a:xfrm>
        </p:grpSpPr>
        <p:pic>
          <p:nvPicPr>
            <p:cNvPr id="15499" name="Picture 19"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8611" y="2039993"/>
              <a:ext cx="1873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00" name="Picture 20"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25491" y="1070032"/>
              <a:ext cx="1873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01" name="Picture 21"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50362" y="1738259"/>
              <a:ext cx="1873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02" name="Picture 22"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8679" y="1418254"/>
              <a:ext cx="1873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03" name="Picture 23"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54943" y="1418728"/>
              <a:ext cx="1873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04" name="Picture 24"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64110" y="2038444"/>
              <a:ext cx="1873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06" name="Picture 26"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38940" y="2384588"/>
              <a:ext cx="1873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 name="Group 41"/>
          <p:cNvGrpSpPr>
            <a:grpSpLocks/>
          </p:cNvGrpSpPr>
          <p:nvPr/>
        </p:nvGrpSpPr>
        <p:grpSpPr bwMode="auto">
          <a:xfrm>
            <a:off x="5348653" y="951357"/>
            <a:ext cx="1073150" cy="627062"/>
            <a:chOff x="3739" y="1088"/>
            <a:chExt cx="676" cy="395"/>
          </a:xfrm>
        </p:grpSpPr>
        <p:pic>
          <p:nvPicPr>
            <p:cNvPr id="15490" name="Picture 42"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6" y="1103"/>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91" name="Picture 43"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12" y="1239"/>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92" name="Picture 44"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36" y="108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93" name="Picture 45"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9" y="116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94" name="Picture 46"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9" y="124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95" name="Picture 47"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0" y="1370"/>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96" name="Picture 48"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46" y="1310"/>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98" name="Line 50"/>
            <p:cNvSpPr>
              <a:spLocks noChangeShapeType="1"/>
            </p:cNvSpPr>
            <p:nvPr/>
          </p:nvSpPr>
          <p:spPr bwMode="auto">
            <a:xfrm rot="1800000">
              <a:off x="4188" y="1458"/>
              <a:ext cx="227" cy="0"/>
            </a:xfrm>
            <a:prstGeom prst="line">
              <a:avLst/>
            </a:prstGeom>
            <a:noFill/>
            <a:ln w="38100">
              <a:solidFill>
                <a:srgbClr val="008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8" name="Group 71"/>
          <p:cNvGrpSpPr>
            <a:grpSpLocks/>
          </p:cNvGrpSpPr>
          <p:nvPr/>
        </p:nvGrpSpPr>
        <p:grpSpPr bwMode="auto">
          <a:xfrm>
            <a:off x="1199098" y="895472"/>
            <a:ext cx="942975" cy="895351"/>
            <a:chOff x="924" y="1070"/>
            <a:chExt cx="594" cy="564"/>
          </a:xfrm>
        </p:grpSpPr>
        <p:sp>
          <p:nvSpPr>
            <p:cNvPr id="15481" name="Line 72"/>
            <p:cNvSpPr>
              <a:spLocks noChangeShapeType="1"/>
            </p:cNvSpPr>
            <p:nvPr/>
          </p:nvSpPr>
          <p:spPr bwMode="auto">
            <a:xfrm rot="1800000">
              <a:off x="1310" y="1532"/>
              <a:ext cx="208" cy="102"/>
            </a:xfrm>
            <a:prstGeom prst="line">
              <a:avLst/>
            </a:prstGeom>
            <a:noFill/>
            <a:ln w="38100">
              <a:solidFill>
                <a:srgbClr val="008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a:p>
          </p:txBody>
        </p:sp>
        <p:pic>
          <p:nvPicPr>
            <p:cNvPr id="15482" name="Picture 73"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1" y="1085"/>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83" name="Picture 74"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7" y="1221"/>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84" name="Picture 75"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1" y="1070"/>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85" name="Picture 76"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64" y="1150"/>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86" name="Picture 77"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4" y="1230"/>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87" name="Picture 78"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5" y="1352"/>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88" name="Picture 79"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31" y="1292"/>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6915" name="Text Box 131"/>
          <p:cNvSpPr txBox="1">
            <a:spLocks noChangeArrowheads="1"/>
          </p:cNvSpPr>
          <p:nvPr/>
        </p:nvSpPr>
        <p:spPr bwMode="auto">
          <a:xfrm>
            <a:off x="1257836" y="4145250"/>
            <a:ext cx="4270814" cy="884070"/>
          </a:xfrm>
          <a:prstGeom prst="rect">
            <a:avLst/>
          </a:prstGeom>
          <a:solidFill>
            <a:schemeClr val="tx2">
              <a:lumMod val="25000"/>
              <a:lumOff val="75000"/>
            </a:schemeClr>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defRPr/>
            </a:pPr>
            <a:r>
              <a:rPr lang="es-ES" sz="2400">
                <a:solidFill>
                  <a:schemeClr val="tx1"/>
                </a:solidFill>
              </a:rPr>
              <a:t>El exceso de Q queda localizado donde se depositó</a:t>
            </a:r>
          </a:p>
        </p:txBody>
      </p:sp>
      <p:grpSp>
        <p:nvGrpSpPr>
          <p:cNvPr id="7" name="Group 61"/>
          <p:cNvGrpSpPr>
            <a:grpSpLocks/>
          </p:cNvGrpSpPr>
          <p:nvPr/>
        </p:nvGrpSpPr>
        <p:grpSpPr bwMode="auto">
          <a:xfrm>
            <a:off x="6668474" y="2293311"/>
            <a:ext cx="795337" cy="838200"/>
            <a:chOff x="5997" y="1086"/>
            <a:chExt cx="501" cy="528"/>
          </a:xfrm>
        </p:grpSpPr>
        <p:sp>
          <p:nvSpPr>
            <p:cNvPr id="15439" name="Line 62"/>
            <p:cNvSpPr>
              <a:spLocks noChangeShapeType="1"/>
            </p:cNvSpPr>
            <p:nvPr/>
          </p:nvSpPr>
          <p:spPr bwMode="auto">
            <a:xfrm rot="1800000" flipV="1">
              <a:off x="5997" y="1410"/>
              <a:ext cx="86" cy="204"/>
            </a:xfrm>
            <a:prstGeom prst="line">
              <a:avLst/>
            </a:prstGeom>
            <a:noFill/>
            <a:ln w="38100">
              <a:solidFill>
                <a:srgbClr val="008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a:p>
          </p:txBody>
        </p:sp>
        <p:pic>
          <p:nvPicPr>
            <p:cNvPr id="15440" name="Picture 63"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77" y="1101"/>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41" name="Picture 64"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3" y="1237"/>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42" name="Picture 65"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37" y="1086"/>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43" name="Picture 66"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0" y="1166"/>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44" name="Picture 67"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40" y="1246"/>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45" name="Picture 68"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1" y="136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46" name="Picture 69"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47" y="130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 name="Grupo 13">
            <a:extLst>
              <a:ext uri="{FF2B5EF4-FFF2-40B4-BE49-F238E27FC236}">
                <a16:creationId xmlns:a16="http://schemas.microsoft.com/office/drawing/2014/main" id="{B036301D-5E3B-4527-87C8-D632A8F52C22}"/>
              </a:ext>
            </a:extLst>
          </p:cNvPr>
          <p:cNvGrpSpPr/>
          <p:nvPr/>
        </p:nvGrpSpPr>
        <p:grpSpPr>
          <a:xfrm>
            <a:off x="9351477" y="2597684"/>
            <a:ext cx="734010" cy="1485163"/>
            <a:chOff x="9351477" y="2715668"/>
            <a:chExt cx="734010" cy="1485163"/>
          </a:xfrm>
        </p:grpSpPr>
        <p:grpSp>
          <p:nvGrpSpPr>
            <p:cNvPr id="15415" name="Group 107"/>
            <p:cNvGrpSpPr>
              <a:grpSpLocks/>
            </p:cNvGrpSpPr>
            <p:nvPr/>
          </p:nvGrpSpPr>
          <p:grpSpPr bwMode="auto">
            <a:xfrm>
              <a:off x="9898162" y="3673445"/>
              <a:ext cx="187325" cy="179388"/>
              <a:chOff x="903" y="1658"/>
              <a:chExt cx="118" cy="113"/>
            </a:xfrm>
          </p:grpSpPr>
          <p:pic>
            <p:nvPicPr>
              <p:cNvPr id="15437" name="Picture 108"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3" y="165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38" name="Line 109"/>
              <p:cNvSpPr>
                <a:spLocks noChangeShapeType="1"/>
              </p:cNvSpPr>
              <p:nvPr/>
            </p:nvSpPr>
            <p:spPr bwMode="auto">
              <a:xfrm flipH="1">
                <a:off x="959" y="1685"/>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417" name="Group 113"/>
            <p:cNvGrpSpPr>
              <a:grpSpLocks/>
            </p:cNvGrpSpPr>
            <p:nvPr/>
          </p:nvGrpSpPr>
          <p:grpSpPr bwMode="auto">
            <a:xfrm>
              <a:off x="9617906" y="2715668"/>
              <a:ext cx="187325" cy="179388"/>
              <a:chOff x="879" y="1718"/>
              <a:chExt cx="118" cy="113"/>
            </a:xfrm>
          </p:grpSpPr>
          <p:pic>
            <p:nvPicPr>
              <p:cNvPr id="15433" name="Picture 114"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34" name="Line 115"/>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418" name="Group 116"/>
            <p:cNvGrpSpPr>
              <a:grpSpLocks/>
            </p:cNvGrpSpPr>
            <p:nvPr/>
          </p:nvGrpSpPr>
          <p:grpSpPr bwMode="auto">
            <a:xfrm>
              <a:off x="9351477" y="3681561"/>
              <a:ext cx="187325" cy="179388"/>
              <a:chOff x="867" y="1670"/>
              <a:chExt cx="118" cy="113"/>
            </a:xfrm>
          </p:grpSpPr>
          <p:pic>
            <p:nvPicPr>
              <p:cNvPr id="15431" name="Picture 117"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7" y="1670"/>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32" name="Line 118"/>
              <p:cNvSpPr>
                <a:spLocks noChangeShapeType="1"/>
              </p:cNvSpPr>
              <p:nvPr/>
            </p:nvSpPr>
            <p:spPr bwMode="auto">
              <a:xfrm flipH="1">
                <a:off x="923" y="1697"/>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419" name="Group 119"/>
            <p:cNvGrpSpPr>
              <a:grpSpLocks/>
            </p:cNvGrpSpPr>
            <p:nvPr/>
          </p:nvGrpSpPr>
          <p:grpSpPr bwMode="auto">
            <a:xfrm>
              <a:off x="9601763" y="4021443"/>
              <a:ext cx="187325" cy="179388"/>
              <a:chOff x="879" y="1718"/>
              <a:chExt cx="118" cy="113"/>
            </a:xfrm>
          </p:grpSpPr>
          <p:pic>
            <p:nvPicPr>
              <p:cNvPr id="15429" name="Picture 120"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30" name="Line 121"/>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420" name="Group 122"/>
            <p:cNvGrpSpPr>
              <a:grpSpLocks/>
            </p:cNvGrpSpPr>
            <p:nvPr/>
          </p:nvGrpSpPr>
          <p:grpSpPr bwMode="auto">
            <a:xfrm>
              <a:off x="9370707" y="3030327"/>
              <a:ext cx="187325" cy="179388"/>
              <a:chOff x="867" y="1766"/>
              <a:chExt cx="118" cy="113"/>
            </a:xfrm>
          </p:grpSpPr>
          <p:pic>
            <p:nvPicPr>
              <p:cNvPr id="15427" name="Picture 123"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7" y="1766"/>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28" name="Line 124"/>
              <p:cNvSpPr>
                <a:spLocks noChangeShapeType="1"/>
              </p:cNvSpPr>
              <p:nvPr/>
            </p:nvSpPr>
            <p:spPr bwMode="auto">
              <a:xfrm flipH="1">
                <a:off x="923" y="1793"/>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421" name="Group 125"/>
            <p:cNvGrpSpPr>
              <a:grpSpLocks/>
            </p:cNvGrpSpPr>
            <p:nvPr/>
          </p:nvGrpSpPr>
          <p:grpSpPr bwMode="auto">
            <a:xfrm>
              <a:off x="9627971" y="3346419"/>
              <a:ext cx="187326" cy="179388"/>
              <a:chOff x="679" y="1718"/>
              <a:chExt cx="118" cy="113"/>
            </a:xfrm>
          </p:grpSpPr>
          <p:pic>
            <p:nvPicPr>
              <p:cNvPr id="15425" name="Picture 126"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26" name="Line 127"/>
              <p:cNvSpPr>
                <a:spLocks noChangeShapeType="1"/>
              </p:cNvSpPr>
              <p:nvPr/>
            </p:nvSpPr>
            <p:spPr bwMode="auto">
              <a:xfrm flipH="1">
                <a:off x="732"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422" name="Group 128"/>
            <p:cNvGrpSpPr>
              <a:grpSpLocks/>
            </p:cNvGrpSpPr>
            <p:nvPr/>
          </p:nvGrpSpPr>
          <p:grpSpPr bwMode="auto">
            <a:xfrm>
              <a:off x="9889299" y="3020143"/>
              <a:ext cx="187325" cy="179388"/>
              <a:chOff x="891" y="1742"/>
              <a:chExt cx="118" cy="113"/>
            </a:xfrm>
          </p:grpSpPr>
          <p:pic>
            <p:nvPicPr>
              <p:cNvPr id="15423" name="Picture 129"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1" y="1742"/>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24" name="Line 130"/>
              <p:cNvSpPr>
                <a:spLocks noChangeShapeType="1"/>
              </p:cNvSpPr>
              <p:nvPr/>
            </p:nvSpPr>
            <p:spPr bwMode="auto">
              <a:xfrm flipH="1">
                <a:off x="947" y="1769"/>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sp>
        <p:nvSpPr>
          <p:cNvPr id="68726" name="Text Box 132"/>
          <p:cNvSpPr txBox="1">
            <a:spLocks noChangeArrowheads="1"/>
          </p:cNvSpPr>
          <p:nvPr/>
        </p:nvSpPr>
        <p:spPr bwMode="auto">
          <a:xfrm>
            <a:off x="5653303" y="4167059"/>
            <a:ext cx="5076000" cy="1253402"/>
          </a:xfrm>
          <a:prstGeom prst="rect">
            <a:avLst/>
          </a:prstGeom>
          <a:solidFill>
            <a:schemeClr val="tx2">
              <a:lumMod val="25000"/>
              <a:lumOff val="75000"/>
            </a:schemeClr>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defRPr/>
            </a:pPr>
            <a:r>
              <a:rPr lang="es-ES" sz="2400">
                <a:solidFill>
                  <a:schemeClr val="tx1"/>
                </a:solidFill>
              </a:rPr>
              <a:t>La misma cantidad de Q añadida acaba distribuida en la superficie, pero pueden no ser las añadidas</a:t>
            </a:r>
          </a:p>
        </p:txBody>
      </p:sp>
      <p:sp>
        <p:nvSpPr>
          <p:cNvPr id="68727" name="Text Box 133"/>
          <p:cNvSpPr txBox="1">
            <a:spLocks noChangeArrowheads="1"/>
          </p:cNvSpPr>
          <p:nvPr/>
        </p:nvSpPr>
        <p:spPr bwMode="auto">
          <a:xfrm>
            <a:off x="5653304" y="5478146"/>
            <a:ext cx="5076000" cy="162273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chemeClr val="tx1"/>
                </a:solidFill>
              </a:rPr>
              <a:t>Hay un mov. colectivo </a:t>
            </a:r>
            <a:r>
              <a:rPr lang="es-ES" sz="2400" dirty="0">
                <a:solidFill>
                  <a:schemeClr val="tx1"/>
                </a:solidFill>
              </a:rPr>
              <a:t>de e</a:t>
            </a:r>
            <a:r>
              <a:rPr lang="es-ES" sz="2400" baseline="30000" dirty="0">
                <a:solidFill>
                  <a:schemeClr val="tx1"/>
                </a:solidFill>
              </a:rPr>
              <a:t>-</a:t>
            </a:r>
            <a:r>
              <a:rPr lang="es-ES" sz="2400" dirty="0">
                <a:solidFill>
                  <a:schemeClr val="tx1"/>
                </a:solidFill>
              </a:rPr>
              <a:t> </a:t>
            </a:r>
            <a:r>
              <a:rPr lang="es-ES" sz="2400">
                <a:solidFill>
                  <a:schemeClr val="tx1"/>
                </a:solidFill>
              </a:rPr>
              <a:t>hacia fuera de donde se añaden, o </a:t>
            </a:r>
            <a:r>
              <a:rPr lang="es-ES" sz="2400" dirty="0">
                <a:solidFill>
                  <a:schemeClr val="tx1"/>
                </a:solidFill>
              </a:rPr>
              <a:t>hacia </a:t>
            </a:r>
            <a:r>
              <a:rPr lang="es-ES" sz="2400">
                <a:solidFill>
                  <a:schemeClr val="tx1"/>
                </a:solidFill>
              </a:rPr>
              <a:t>donde se quitan, en que la mayoría ocupa el sitio que deja otro</a:t>
            </a:r>
            <a:endParaRPr lang="es-ES" sz="2400" baseline="30000" dirty="0">
              <a:solidFill>
                <a:schemeClr val="tx1"/>
              </a:solidFill>
            </a:endParaRPr>
          </a:p>
        </p:txBody>
      </p:sp>
      <p:sp>
        <p:nvSpPr>
          <p:cNvPr id="68728" name="Text Box 133"/>
          <p:cNvSpPr txBox="1">
            <a:spLocks noChangeArrowheads="1"/>
          </p:cNvSpPr>
          <p:nvPr/>
        </p:nvSpPr>
        <p:spPr bwMode="auto">
          <a:xfrm>
            <a:off x="1258732" y="5115572"/>
            <a:ext cx="4286250" cy="1992066"/>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chemeClr val="tx1"/>
                </a:solidFill>
              </a:rPr>
              <a:t>Los e</a:t>
            </a:r>
            <a:r>
              <a:rPr lang="es-ES" sz="2400" baseline="30000">
                <a:solidFill>
                  <a:schemeClr val="tx1"/>
                </a:solidFill>
              </a:rPr>
              <a:t>-</a:t>
            </a:r>
            <a:r>
              <a:rPr lang="es-ES" sz="2400">
                <a:solidFill>
                  <a:schemeClr val="tx1"/>
                </a:solidFill>
              </a:rPr>
              <a:t> introducidos repelen a los del material y se repelen entre sí, o su defecto atrae a e</a:t>
            </a:r>
            <a:r>
              <a:rPr lang="es-ES" sz="2400" baseline="30000">
                <a:solidFill>
                  <a:schemeClr val="tx1"/>
                </a:solidFill>
              </a:rPr>
              <a:t>-</a:t>
            </a:r>
            <a:r>
              <a:rPr lang="es-ES" sz="2400">
                <a:solidFill>
                  <a:schemeClr val="tx1"/>
                </a:solidFill>
              </a:rPr>
              <a:t> y se repele entre sí, pero no puede haber corrientes</a:t>
            </a:r>
          </a:p>
        </p:txBody>
      </p:sp>
      <p:grpSp>
        <p:nvGrpSpPr>
          <p:cNvPr id="121" name="Group 8"/>
          <p:cNvGrpSpPr>
            <a:grpSpLocks/>
          </p:cNvGrpSpPr>
          <p:nvPr/>
        </p:nvGrpSpPr>
        <p:grpSpPr bwMode="auto">
          <a:xfrm>
            <a:off x="7889440" y="1106841"/>
            <a:ext cx="727075" cy="627063"/>
            <a:chOff x="1767" y="1491"/>
            <a:chExt cx="458" cy="395"/>
          </a:xfrm>
        </p:grpSpPr>
        <p:pic>
          <p:nvPicPr>
            <p:cNvPr id="15407" name="Picture 9"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4" y="1506"/>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8" name="Picture 10"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0" y="1642"/>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9" name="Picture 11"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64" y="1491"/>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10" name="Picture 12"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7" y="1571"/>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11" name="Picture 13"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7" y="1651"/>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12" name="Picture 14"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68" y="1773"/>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13" name="Picture 15"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74" y="1713"/>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0" name="Group 81"/>
          <p:cNvGrpSpPr>
            <a:grpSpLocks/>
          </p:cNvGrpSpPr>
          <p:nvPr/>
        </p:nvGrpSpPr>
        <p:grpSpPr bwMode="auto">
          <a:xfrm>
            <a:off x="7964750" y="2840093"/>
            <a:ext cx="677863" cy="661988"/>
            <a:chOff x="2607" y="1460"/>
            <a:chExt cx="427" cy="417"/>
          </a:xfrm>
        </p:grpSpPr>
        <p:grpSp>
          <p:nvGrpSpPr>
            <p:cNvPr id="15383" name="Group 82"/>
            <p:cNvGrpSpPr>
              <a:grpSpLocks/>
            </p:cNvGrpSpPr>
            <p:nvPr/>
          </p:nvGrpSpPr>
          <p:grpSpPr bwMode="auto">
            <a:xfrm>
              <a:off x="2607" y="1484"/>
              <a:ext cx="118" cy="113"/>
              <a:chOff x="879" y="1718"/>
              <a:chExt cx="118" cy="113"/>
            </a:xfrm>
          </p:grpSpPr>
          <p:pic>
            <p:nvPicPr>
              <p:cNvPr id="15405" name="Picture 83"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06" name="Line 84"/>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384" name="Group 85"/>
            <p:cNvGrpSpPr>
              <a:grpSpLocks/>
            </p:cNvGrpSpPr>
            <p:nvPr/>
          </p:nvGrpSpPr>
          <p:grpSpPr bwMode="auto">
            <a:xfrm>
              <a:off x="2743" y="1620"/>
              <a:ext cx="118" cy="113"/>
              <a:chOff x="879" y="1718"/>
              <a:chExt cx="118" cy="113"/>
            </a:xfrm>
          </p:grpSpPr>
          <p:pic>
            <p:nvPicPr>
              <p:cNvPr id="15403" name="Picture 86"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04" name="Line 87"/>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386" name="Group 91"/>
            <p:cNvGrpSpPr>
              <a:grpSpLocks/>
            </p:cNvGrpSpPr>
            <p:nvPr/>
          </p:nvGrpSpPr>
          <p:grpSpPr bwMode="auto">
            <a:xfrm>
              <a:off x="2615" y="1668"/>
              <a:ext cx="118" cy="113"/>
              <a:chOff x="879" y="1718"/>
              <a:chExt cx="118" cy="113"/>
            </a:xfrm>
          </p:grpSpPr>
          <p:pic>
            <p:nvPicPr>
              <p:cNvPr id="15399" name="Picture 92"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00" name="Line 93"/>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387" name="Group 94"/>
            <p:cNvGrpSpPr>
              <a:grpSpLocks/>
            </p:cNvGrpSpPr>
            <p:nvPr/>
          </p:nvGrpSpPr>
          <p:grpSpPr bwMode="auto">
            <a:xfrm>
              <a:off x="2771" y="1511"/>
              <a:ext cx="118" cy="113"/>
              <a:chOff x="879" y="1718"/>
              <a:chExt cx="118" cy="113"/>
            </a:xfrm>
          </p:grpSpPr>
          <p:pic>
            <p:nvPicPr>
              <p:cNvPr id="15397" name="Picture 95"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98" name="Line 96"/>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388" name="Group 97"/>
            <p:cNvGrpSpPr>
              <a:grpSpLocks/>
            </p:cNvGrpSpPr>
            <p:nvPr/>
          </p:nvGrpSpPr>
          <p:grpSpPr bwMode="auto">
            <a:xfrm>
              <a:off x="2916" y="1608"/>
              <a:ext cx="118" cy="113"/>
              <a:chOff x="879" y="1718"/>
              <a:chExt cx="118" cy="113"/>
            </a:xfrm>
          </p:grpSpPr>
          <p:pic>
            <p:nvPicPr>
              <p:cNvPr id="15395" name="Picture 98"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96" name="Line 99"/>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389" name="Group 100"/>
            <p:cNvGrpSpPr>
              <a:grpSpLocks/>
            </p:cNvGrpSpPr>
            <p:nvPr/>
          </p:nvGrpSpPr>
          <p:grpSpPr bwMode="auto">
            <a:xfrm>
              <a:off x="2722" y="1764"/>
              <a:ext cx="118" cy="113"/>
              <a:chOff x="879" y="1718"/>
              <a:chExt cx="118" cy="113"/>
            </a:xfrm>
          </p:grpSpPr>
          <p:pic>
            <p:nvPicPr>
              <p:cNvPr id="15393" name="Picture 101"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94" name="Line 102"/>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390" name="Group 103"/>
            <p:cNvGrpSpPr>
              <a:grpSpLocks/>
            </p:cNvGrpSpPr>
            <p:nvPr/>
          </p:nvGrpSpPr>
          <p:grpSpPr bwMode="auto">
            <a:xfrm>
              <a:off x="2877" y="1460"/>
              <a:ext cx="118" cy="113"/>
              <a:chOff x="879" y="1718"/>
              <a:chExt cx="118" cy="113"/>
            </a:xfrm>
          </p:grpSpPr>
          <p:pic>
            <p:nvPicPr>
              <p:cNvPr id="15391" name="Picture 104"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92" name="Line 105"/>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sp>
        <p:nvSpPr>
          <p:cNvPr id="186" name="Oval 5">
            <a:extLst>
              <a:ext uri="{FF2B5EF4-FFF2-40B4-BE49-F238E27FC236}">
                <a16:creationId xmlns:a16="http://schemas.microsoft.com/office/drawing/2014/main" id="{934603C7-AFBE-43CD-8C63-FF3A382D1392}"/>
              </a:ext>
            </a:extLst>
          </p:cNvPr>
          <p:cNvSpPr>
            <a:spLocks noChangeArrowheads="1"/>
          </p:cNvSpPr>
          <p:nvPr/>
        </p:nvSpPr>
        <p:spPr bwMode="auto">
          <a:xfrm>
            <a:off x="3654459" y="1576922"/>
            <a:ext cx="1746247" cy="777875"/>
          </a:xfrm>
          <a:prstGeom prst="ellipse">
            <a:avLst/>
          </a:prstGeom>
          <a:gradFill rotWithShape="1">
            <a:gsLst>
              <a:gs pos="0">
                <a:srgbClr val="FFFFFF"/>
              </a:gs>
              <a:gs pos="100000">
                <a:srgbClr val="66CCFF"/>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grpSp>
        <p:nvGrpSpPr>
          <p:cNvPr id="165" name="Group 8">
            <a:extLst>
              <a:ext uri="{FF2B5EF4-FFF2-40B4-BE49-F238E27FC236}">
                <a16:creationId xmlns:a16="http://schemas.microsoft.com/office/drawing/2014/main" id="{EC3E918C-EE1D-4323-8542-817B91C41A34}"/>
              </a:ext>
            </a:extLst>
          </p:cNvPr>
          <p:cNvGrpSpPr>
            <a:grpSpLocks/>
          </p:cNvGrpSpPr>
          <p:nvPr/>
        </p:nvGrpSpPr>
        <p:grpSpPr bwMode="auto">
          <a:xfrm>
            <a:off x="3985661" y="1566312"/>
            <a:ext cx="727075" cy="627062"/>
            <a:chOff x="1767" y="1491"/>
            <a:chExt cx="458" cy="395"/>
          </a:xfrm>
        </p:grpSpPr>
        <p:pic>
          <p:nvPicPr>
            <p:cNvPr id="166" name="Picture 9" descr="Image2">
              <a:extLst>
                <a:ext uri="{FF2B5EF4-FFF2-40B4-BE49-F238E27FC236}">
                  <a16:creationId xmlns:a16="http://schemas.microsoft.com/office/drawing/2014/main" id="{7F52F48E-33D1-4530-9569-38DDFA8C4B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4" y="1506"/>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 name="Picture 10" descr="Image2">
              <a:extLst>
                <a:ext uri="{FF2B5EF4-FFF2-40B4-BE49-F238E27FC236}">
                  <a16:creationId xmlns:a16="http://schemas.microsoft.com/office/drawing/2014/main" id="{EF902B3B-F1FF-424A-A2E7-4B1523A7FA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0" y="1642"/>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 name="Picture 11" descr="Image2">
              <a:extLst>
                <a:ext uri="{FF2B5EF4-FFF2-40B4-BE49-F238E27FC236}">
                  <a16:creationId xmlns:a16="http://schemas.microsoft.com/office/drawing/2014/main" id="{F38F1400-780C-4449-BBDE-C0354F997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64" y="1491"/>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9" name="Picture 12" descr="Image2">
              <a:extLst>
                <a:ext uri="{FF2B5EF4-FFF2-40B4-BE49-F238E27FC236}">
                  <a16:creationId xmlns:a16="http://schemas.microsoft.com/office/drawing/2014/main" id="{49668584-56EF-4766-8E47-68D8E4DF044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7" y="1571"/>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0" name="Picture 13" descr="Image2">
              <a:extLst>
                <a:ext uri="{FF2B5EF4-FFF2-40B4-BE49-F238E27FC236}">
                  <a16:creationId xmlns:a16="http://schemas.microsoft.com/office/drawing/2014/main" id="{067226A5-B9ED-4720-A2FF-D1E330C12D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7" y="1651"/>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1" name="Picture 14" descr="Image2">
              <a:extLst>
                <a:ext uri="{FF2B5EF4-FFF2-40B4-BE49-F238E27FC236}">
                  <a16:creationId xmlns:a16="http://schemas.microsoft.com/office/drawing/2014/main" id="{BEAB339F-FCEB-4B07-9501-6AAE29BC573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68" y="1773"/>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2" name="Picture 15" descr="Image2">
              <a:extLst>
                <a:ext uri="{FF2B5EF4-FFF2-40B4-BE49-F238E27FC236}">
                  <a16:creationId xmlns:a16="http://schemas.microsoft.com/office/drawing/2014/main" id="{ADAEED96-BC6B-48A0-AF0D-F066D451D8F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74" y="1713"/>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87" name="Oval 5">
            <a:extLst>
              <a:ext uri="{FF2B5EF4-FFF2-40B4-BE49-F238E27FC236}">
                <a16:creationId xmlns:a16="http://schemas.microsoft.com/office/drawing/2014/main" id="{B2E91BD3-FD33-47F1-A28F-C01CDE123DCE}"/>
              </a:ext>
            </a:extLst>
          </p:cNvPr>
          <p:cNvSpPr>
            <a:spLocks noChangeArrowheads="1"/>
          </p:cNvSpPr>
          <p:nvPr/>
        </p:nvSpPr>
        <p:spPr bwMode="auto">
          <a:xfrm>
            <a:off x="1379972" y="2975994"/>
            <a:ext cx="1746247" cy="777875"/>
          </a:xfrm>
          <a:prstGeom prst="ellipse">
            <a:avLst/>
          </a:prstGeom>
          <a:gradFill rotWithShape="1">
            <a:gsLst>
              <a:gs pos="0">
                <a:srgbClr val="FFFFFF"/>
              </a:gs>
              <a:gs pos="100000">
                <a:srgbClr val="66CCFF"/>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grpSp>
        <p:nvGrpSpPr>
          <p:cNvPr id="12" name="Grupo 11">
            <a:extLst>
              <a:ext uri="{FF2B5EF4-FFF2-40B4-BE49-F238E27FC236}">
                <a16:creationId xmlns:a16="http://schemas.microsoft.com/office/drawing/2014/main" id="{85142851-FE6D-43ED-B74C-1FEE6C0EA412}"/>
              </a:ext>
            </a:extLst>
          </p:cNvPr>
          <p:cNvGrpSpPr/>
          <p:nvPr/>
        </p:nvGrpSpPr>
        <p:grpSpPr>
          <a:xfrm>
            <a:off x="2558833" y="2318350"/>
            <a:ext cx="975507" cy="759397"/>
            <a:chOff x="2558833" y="2416670"/>
            <a:chExt cx="975507" cy="759397"/>
          </a:xfrm>
        </p:grpSpPr>
        <p:grpSp>
          <p:nvGrpSpPr>
            <p:cNvPr id="10" name="Grupo 9">
              <a:extLst>
                <a:ext uri="{FF2B5EF4-FFF2-40B4-BE49-F238E27FC236}">
                  <a16:creationId xmlns:a16="http://schemas.microsoft.com/office/drawing/2014/main" id="{4F9431D6-70BF-4248-BE95-7E9132E6FCF7}"/>
                </a:ext>
              </a:extLst>
            </p:cNvPr>
            <p:cNvGrpSpPr/>
            <p:nvPr/>
          </p:nvGrpSpPr>
          <p:grpSpPr>
            <a:xfrm>
              <a:off x="2807265" y="2416670"/>
              <a:ext cx="727075" cy="627063"/>
              <a:chOff x="1153320" y="2386268"/>
              <a:chExt cx="727075" cy="627063"/>
            </a:xfrm>
          </p:grpSpPr>
          <p:pic>
            <p:nvPicPr>
              <p:cNvPr id="15473" name="Picture 53"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12057" y="2410081"/>
                <a:ext cx="1873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74" name="Picture 54"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27957" y="2625981"/>
                <a:ext cx="1873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75" name="Picture 55"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66057" y="2386268"/>
                <a:ext cx="1873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76" name="Picture 56"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3070" y="2513268"/>
                <a:ext cx="1873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77" name="Picture 57"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3320" y="2640268"/>
                <a:ext cx="1873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78" name="Picture 58"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3657" y="2833943"/>
                <a:ext cx="1873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79" name="Picture 59"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40682" y="2738693"/>
                <a:ext cx="1873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88" name="Line 72">
              <a:extLst>
                <a:ext uri="{FF2B5EF4-FFF2-40B4-BE49-F238E27FC236}">
                  <a16:creationId xmlns:a16="http://schemas.microsoft.com/office/drawing/2014/main" id="{76C450A8-8082-4573-9CF0-F89AC637B8F7}"/>
                </a:ext>
              </a:extLst>
            </p:cNvPr>
            <p:cNvSpPr>
              <a:spLocks noChangeShapeType="1"/>
            </p:cNvSpPr>
            <p:nvPr/>
          </p:nvSpPr>
          <p:spPr bwMode="auto">
            <a:xfrm rot="19800000" flipV="1">
              <a:off x="2558833" y="3099700"/>
              <a:ext cx="370510" cy="76367"/>
            </a:xfrm>
            <a:prstGeom prst="line">
              <a:avLst/>
            </a:prstGeom>
            <a:noFill/>
            <a:ln w="38100">
              <a:solidFill>
                <a:srgbClr val="008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9" name="Group 81"/>
          <p:cNvGrpSpPr>
            <a:grpSpLocks/>
          </p:cNvGrpSpPr>
          <p:nvPr/>
        </p:nvGrpSpPr>
        <p:grpSpPr bwMode="auto">
          <a:xfrm>
            <a:off x="4319511" y="3022866"/>
            <a:ext cx="677862" cy="661988"/>
            <a:chOff x="2607" y="1460"/>
            <a:chExt cx="427" cy="417"/>
          </a:xfrm>
        </p:grpSpPr>
        <p:grpSp>
          <p:nvGrpSpPr>
            <p:cNvPr id="15448" name="Group 82"/>
            <p:cNvGrpSpPr>
              <a:grpSpLocks/>
            </p:cNvGrpSpPr>
            <p:nvPr/>
          </p:nvGrpSpPr>
          <p:grpSpPr bwMode="auto">
            <a:xfrm>
              <a:off x="2607" y="1484"/>
              <a:ext cx="118" cy="113"/>
              <a:chOff x="879" y="1718"/>
              <a:chExt cx="118" cy="113"/>
            </a:xfrm>
          </p:grpSpPr>
          <p:pic>
            <p:nvPicPr>
              <p:cNvPr id="15470" name="Picture 83"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71" name="Line 84"/>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449" name="Group 85"/>
            <p:cNvGrpSpPr>
              <a:grpSpLocks/>
            </p:cNvGrpSpPr>
            <p:nvPr/>
          </p:nvGrpSpPr>
          <p:grpSpPr bwMode="auto">
            <a:xfrm>
              <a:off x="2743" y="1620"/>
              <a:ext cx="118" cy="113"/>
              <a:chOff x="879" y="1718"/>
              <a:chExt cx="118" cy="113"/>
            </a:xfrm>
          </p:grpSpPr>
          <p:pic>
            <p:nvPicPr>
              <p:cNvPr id="15468" name="Picture 86"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9" name="Line 87"/>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451" name="Group 91"/>
            <p:cNvGrpSpPr>
              <a:grpSpLocks/>
            </p:cNvGrpSpPr>
            <p:nvPr/>
          </p:nvGrpSpPr>
          <p:grpSpPr bwMode="auto">
            <a:xfrm>
              <a:off x="2615" y="1668"/>
              <a:ext cx="118" cy="113"/>
              <a:chOff x="879" y="1718"/>
              <a:chExt cx="118" cy="113"/>
            </a:xfrm>
          </p:grpSpPr>
          <p:pic>
            <p:nvPicPr>
              <p:cNvPr id="15464" name="Picture 92"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5" name="Line 93"/>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452" name="Group 94"/>
            <p:cNvGrpSpPr>
              <a:grpSpLocks/>
            </p:cNvGrpSpPr>
            <p:nvPr/>
          </p:nvGrpSpPr>
          <p:grpSpPr bwMode="auto">
            <a:xfrm>
              <a:off x="2771" y="1511"/>
              <a:ext cx="118" cy="113"/>
              <a:chOff x="879" y="1718"/>
              <a:chExt cx="118" cy="113"/>
            </a:xfrm>
          </p:grpSpPr>
          <p:pic>
            <p:nvPicPr>
              <p:cNvPr id="15462" name="Picture 95"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3" name="Line 96"/>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453" name="Group 97"/>
            <p:cNvGrpSpPr>
              <a:grpSpLocks/>
            </p:cNvGrpSpPr>
            <p:nvPr/>
          </p:nvGrpSpPr>
          <p:grpSpPr bwMode="auto">
            <a:xfrm>
              <a:off x="2916" y="1608"/>
              <a:ext cx="118" cy="113"/>
              <a:chOff x="879" y="1718"/>
              <a:chExt cx="118" cy="113"/>
            </a:xfrm>
          </p:grpSpPr>
          <p:pic>
            <p:nvPicPr>
              <p:cNvPr id="15460" name="Picture 98"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1" name="Line 99"/>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454" name="Group 100"/>
            <p:cNvGrpSpPr>
              <a:grpSpLocks/>
            </p:cNvGrpSpPr>
            <p:nvPr/>
          </p:nvGrpSpPr>
          <p:grpSpPr bwMode="auto">
            <a:xfrm>
              <a:off x="2722" y="1764"/>
              <a:ext cx="118" cy="113"/>
              <a:chOff x="879" y="1718"/>
              <a:chExt cx="118" cy="113"/>
            </a:xfrm>
          </p:grpSpPr>
          <p:pic>
            <p:nvPicPr>
              <p:cNvPr id="15458" name="Picture 101"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59" name="Line 102"/>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nvGrpSpPr>
            <p:cNvPr id="15455" name="Group 103"/>
            <p:cNvGrpSpPr>
              <a:grpSpLocks/>
            </p:cNvGrpSpPr>
            <p:nvPr/>
          </p:nvGrpSpPr>
          <p:grpSpPr bwMode="auto">
            <a:xfrm>
              <a:off x="2877" y="1460"/>
              <a:ext cx="118" cy="113"/>
              <a:chOff x="879" y="1718"/>
              <a:chExt cx="118" cy="113"/>
            </a:xfrm>
          </p:grpSpPr>
          <p:pic>
            <p:nvPicPr>
              <p:cNvPr id="15456" name="Picture 104"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 y="1718"/>
                <a:ext cx="11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57" name="Line 105"/>
              <p:cNvSpPr>
                <a:spLocks noChangeShapeType="1"/>
              </p:cNvSpPr>
              <p:nvPr/>
            </p:nvSpPr>
            <p:spPr bwMode="auto">
              <a:xfrm flipH="1">
                <a:off x="935" y="1751"/>
                <a:ext cx="0"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lstStyle/>
              <a:p>
                <a:endParaRPr lang="en-GB"/>
              </a:p>
            </p:txBody>
          </p:sp>
        </p:grpSp>
      </p:grpSp>
      <p:sp>
        <p:nvSpPr>
          <p:cNvPr id="11" name="Flecha: a la derecha 10">
            <a:extLst>
              <a:ext uri="{FF2B5EF4-FFF2-40B4-BE49-F238E27FC236}">
                <a16:creationId xmlns:a16="http://schemas.microsoft.com/office/drawing/2014/main" id="{3DBF9493-E834-4310-9523-F75DC7DD5019}"/>
              </a:ext>
            </a:extLst>
          </p:cNvPr>
          <p:cNvSpPr/>
          <p:nvPr/>
        </p:nvSpPr>
        <p:spPr bwMode="auto">
          <a:xfrm>
            <a:off x="7224099" y="1442204"/>
            <a:ext cx="290622" cy="469825"/>
          </a:xfrm>
          <a:prstGeom prst="rightArrow">
            <a:avLst/>
          </a:prstGeom>
          <a:solidFill>
            <a:schemeClr val="accent1"/>
          </a:solid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197" name="Flecha: a la derecha 196">
            <a:extLst>
              <a:ext uri="{FF2B5EF4-FFF2-40B4-BE49-F238E27FC236}">
                <a16:creationId xmlns:a16="http://schemas.microsoft.com/office/drawing/2014/main" id="{E208E3CE-5C15-4085-9B9E-2D0B79DB9734}"/>
              </a:ext>
            </a:extLst>
          </p:cNvPr>
          <p:cNvSpPr/>
          <p:nvPr/>
        </p:nvSpPr>
        <p:spPr bwMode="auto">
          <a:xfrm>
            <a:off x="7232663" y="3146004"/>
            <a:ext cx="290622" cy="469825"/>
          </a:xfrm>
          <a:prstGeom prst="rightArrow">
            <a:avLst/>
          </a:prstGeom>
          <a:solidFill>
            <a:schemeClr val="accent1"/>
          </a:solid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198" name="Flecha: a la derecha 197">
            <a:extLst>
              <a:ext uri="{FF2B5EF4-FFF2-40B4-BE49-F238E27FC236}">
                <a16:creationId xmlns:a16="http://schemas.microsoft.com/office/drawing/2014/main" id="{2D2FF1D3-AE86-409D-88C8-7899B33B149F}"/>
              </a:ext>
            </a:extLst>
          </p:cNvPr>
          <p:cNvSpPr/>
          <p:nvPr/>
        </p:nvSpPr>
        <p:spPr bwMode="auto">
          <a:xfrm>
            <a:off x="8836185" y="1452557"/>
            <a:ext cx="290622" cy="469825"/>
          </a:xfrm>
          <a:prstGeom prst="rightArrow">
            <a:avLst/>
          </a:prstGeom>
          <a:solidFill>
            <a:schemeClr val="accent1"/>
          </a:solid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199" name="Flecha: a la derecha 198">
            <a:extLst>
              <a:ext uri="{FF2B5EF4-FFF2-40B4-BE49-F238E27FC236}">
                <a16:creationId xmlns:a16="http://schemas.microsoft.com/office/drawing/2014/main" id="{C0347450-2A2F-43FA-922E-263C40BD2084}"/>
              </a:ext>
            </a:extLst>
          </p:cNvPr>
          <p:cNvSpPr/>
          <p:nvPr/>
        </p:nvSpPr>
        <p:spPr bwMode="auto">
          <a:xfrm>
            <a:off x="8844749" y="3156357"/>
            <a:ext cx="290622" cy="469825"/>
          </a:xfrm>
          <a:prstGeom prst="rightArrow">
            <a:avLst/>
          </a:prstGeom>
          <a:solidFill>
            <a:schemeClr val="accent1"/>
          </a:solid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200" name="Flecha: a la derecha 199">
            <a:extLst>
              <a:ext uri="{FF2B5EF4-FFF2-40B4-BE49-F238E27FC236}">
                <a16:creationId xmlns:a16="http://schemas.microsoft.com/office/drawing/2014/main" id="{2DA7DE6F-34B6-4262-8B3B-44DAA9B00570}"/>
              </a:ext>
            </a:extLst>
          </p:cNvPr>
          <p:cNvSpPr/>
          <p:nvPr/>
        </p:nvSpPr>
        <p:spPr bwMode="auto">
          <a:xfrm>
            <a:off x="3267289" y="1729434"/>
            <a:ext cx="290622" cy="469825"/>
          </a:xfrm>
          <a:prstGeom prst="rightArrow">
            <a:avLst/>
          </a:prstGeom>
          <a:solidFill>
            <a:schemeClr val="accent1"/>
          </a:solid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201" name="Flecha: a la derecha 200">
            <a:extLst>
              <a:ext uri="{FF2B5EF4-FFF2-40B4-BE49-F238E27FC236}">
                <a16:creationId xmlns:a16="http://schemas.microsoft.com/office/drawing/2014/main" id="{100D5260-DF03-4F0B-AE79-F095C85DABB7}"/>
              </a:ext>
            </a:extLst>
          </p:cNvPr>
          <p:cNvSpPr/>
          <p:nvPr/>
        </p:nvSpPr>
        <p:spPr bwMode="auto">
          <a:xfrm>
            <a:off x="3275853" y="3165668"/>
            <a:ext cx="290622" cy="469825"/>
          </a:xfrm>
          <a:prstGeom prst="rightArrow">
            <a:avLst/>
          </a:prstGeom>
          <a:solidFill>
            <a:schemeClr val="accent1"/>
          </a:solid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2" name="Text Box 9">
            <a:extLst>
              <a:ext uri="{FF2B5EF4-FFF2-40B4-BE49-F238E27FC236}">
                <a16:creationId xmlns:a16="http://schemas.microsoft.com/office/drawing/2014/main" id="{7E88B244-2583-0CEB-76E1-BD76EAD79410}"/>
              </a:ext>
            </a:extLst>
          </p:cNvPr>
          <p:cNvSpPr txBox="1">
            <a:spLocks noChangeArrowheads="1"/>
          </p:cNvSpPr>
          <p:nvPr/>
        </p:nvSpPr>
        <p:spPr bwMode="auto">
          <a:xfrm>
            <a:off x="5078418" y="295086"/>
            <a:ext cx="1380287" cy="514738"/>
          </a:xfrm>
          <a:prstGeom prst="rect">
            <a:avLst/>
          </a:prstGeom>
          <a:solidFill>
            <a:srgbClr val="FAFAFA"/>
          </a:solidFill>
          <a:ln>
            <a:noFill/>
          </a:ln>
        </p:spPr>
        <p:txBody>
          <a:bodyPr wrap="none" lIns="108000" tIns="72000" rIns="108000" bIns="720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r>
              <a:rPr lang="es-ES" sz="2400" dirty="0"/>
              <a:t>SÓLIDO</a:t>
            </a:r>
          </a:p>
        </p:txBody>
      </p:sp>
      <p:sp>
        <p:nvSpPr>
          <p:cNvPr id="3" name="AutoShape 13">
            <a:extLst>
              <a:ext uri="{FF2B5EF4-FFF2-40B4-BE49-F238E27FC236}">
                <a16:creationId xmlns:a16="http://schemas.microsoft.com/office/drawing/2014/main" id="{7857F610-1F9F-3ADC-95C7-F537BF540402}"/>
              </a:ext>
            </a:extLst>
          </p:cNvPr>
          <p:cNvSpPr>
            <a:spLocks noChangeArrowheads="1"/>
          </p:cNvSpPr>
          <p:nvPr/>
        </p:nvSpPr>
        <p:spPr bwMode="auto">
          <a:xfrm flipH="1">
            <a:off x="4607919" y="332447"/>
            <a:ext cx="377422" cy="461492"/>
          </a:xfrm>
          <a:prstGeom prst="rightArrow">
            <a:avLst>
              <a:gd name="adj1" fmla="val 55037"/>
              <a:gd name="adj2" fmla="val 50213"/>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4" name="AutoShape 16">
            <a:extLst>
              <a:ext uri="{FF2B5EF4-FFF2-40B4-BE49-F238E27FC236}">
                <a16:creationId xmlns:a16="http://schemas.microsoft.com/office/drawing/2014/main" id="{659F6299-3DEF-E0A2-A8AD-A5BFDFA8FD90}"/>
              </a:ext>
            </a:extLst>
          </p:cNvPr>
          <p:cNvSpPr>
            <a:spLocks noChangeArrowheads="1"/>
          </p:cNvSpPr>
          <p:nvPr/>
        </p:nvSpPr>
        <p:spPr bwMode="auto">
          <a:xfrm>
            <a:off x="6566101" y="320720"/>
            <a:ext cx="345725" cy="461492"/>
          </a:xfrm>
          <a:prstGeom prst="rightArrow">
            <a:avLst>
              <a:gd name="adj1" fmla="val 55037"/>
              <a:gd name="adj2" fmla="val 50213"/>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dissolve">
                                      <p:cBhvr>
                                        <p:cTn id="7" dur="500"/>
                                        <p:tgtEl>
                                          <p:spTgt spid="1536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trips(downRigh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0"/>
                                        </p:tgtEl>
                                        <p:attrNameLst>
                                          <p:attrName>style.visibility</p:attrName>
                                        </p:attrNameLst>
                                      </p:cBhvr>
                                      <p:to>
                                        <p:strVal val="visible"/>
                                      </p:to>
                                    </p:set>
                                    <p:animEffect transition="in" filter="wipe(left)">
                                      <p:cBhvr>
                                        <p:cTn id="17" dur="500"/>
                                        <p:tgtEl>
                                          <p:spTgt spid="200"/>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86"/>
                                        </p:tgtEl>
                                        <p:attrNameLst>
                                          <p:attrName>style.visibility</p:attrName>
                                        </p:attrNameLst>
                                      </p:cBhvr>
                                      <p:to>
                                        <p:strVal val="visible"/>
                                      </p:to>
                                    </p:set>
                                    <p:animEffect transition="in" filter="dissolve">
                                      <p:cBhvr>
                                        <p:cTn id="21" dur="500"/>
                                        <p:tgtEl>
                                          <p:spTgt spid="186"/>
                                        </p:tgtEl>
                                      </p:cBhvr>
                                    </p:animEffect>
                                  </p:childTnLst>
                                </p:cTn>
                              </p:par>
                              <p:par>
                                <p:cTn id="22" presetID="9" presetClass="entr" presetSubtype="0" fill="hold" nodeType="withEffect">
                                  <p:stCondLst>
                                    <p:cond delay="0"/>
                                  </p:stCondLst>
                                  <p:childTnLst>
                                    <p:set>
                                      <p:cBhvr>
                                        <p:cTn id="23" dur="1" fill="hold">
                                          <p:stCondLst>
                                            <p:cond delay="0"/>
                                          </p:stCondLst>
                                        </p:cTn>
                                        <p:tgtEl>
                                          <p:spTgt spid="165"/>
                                        </p:tgtEl>
                                        <p:attrNameLst>
                                          <p:attrName>style.visibility</p:attrName>
                                        </p:attrNameLst>
                                      </p:cBhvr>
                                      <p:to>
                                        <p:strVal val="visible"/>
                                      </p:to>
                                    </p:set>
                                    <p:animEffect transition="in" filter="dissolve">
                                      <p:cBhvr>
                                        <p:cTn id="24" dur="500"/>
                                        <p:tgtEl>
                                          <p:spTgt spid="165"/>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87"/>
                                        </p:tgtEl>
                                        <p:attrNameLst>
                                          <p:attrName>style.visibility</p:attrName>
                                        </p:attrNameLst>
                                      </p:cBhvr>
                                      <p:to>
                                        <p:strVal val="visible"/>
                                      </p:to>
                                    </p:set>
                                    <p:animEffect transition="in" filter="dissolve">
                                      <p:cBhvr>
                                        <p:cTn id="29" dur="500"/>
                                        <p:tgtEl>
                                          <p:spTgt spid="187"/>
                                        </p:tgtEl>
                                      </p:cBhvr>
                                    </p:animEffect>
                                  </p:childTnLst>
                                </p:cTn>
                              </p:par>
                            </p:childTnLst>
                          </p:cTn>
                        </p:par>
                        <p:par>
                          <p:cTn id="30" fill="hold">
                            <p:stCondLst>
                              <p:cond delay="500"/>
                            </p:stCondLst>
                            <p:childTnLst>
                              <p:par>
                                <p:cTn id="31" presetID="18" presetClass="entr" presetSubtype="3"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strips(upRight)">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01"/>
                                        </p:tgtEl>
                                        <p:attrNameLst>
                                          <p:attrName>style.visibility</p:attrName>
                                        </p:attrNameLst>
                                      </p:cBhvr>
                                      <p:to>
                                        <p:strVal val="visible"/>
                                      </p:to>
                                    </p:set>
                                    <p:animEffect transition="in" filter="wipe(left)">
                                      <p:cBhvr>
                                        <p:cTn id="38" dur="500"/>
                                        <p:tgtEl>
                                          <p:spTgt spid="201"/>
                                        </p:tgtEl>
                                      </p:cBhvr>
                                    </p:animEffect>
                                  </p:childTnLst>
                                </p:cTn>
                              </p:par>
                            </p:childTnLst>
                          </p:cTn>
                        </p:par>
                        <p:par>
                          <p:cTn id="39" fill="hold">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189"/>
                                        </p:tgtEl>
                                        <p:attrNameLst>
                                          <p:attrName>style.visibility</p:attrName>
                                        </p:attrNameLst>
                                      </p:cBhvr>
                                      <p:to>
                                        <p:strVal val="visible"/>
                                      </p:to>
                                    </p:set>
                                    <p:animEffect transition="in" filter="dissolve">
                                      <p:cBhvr>
                                        <p:cTn id="42" dur="500"/>
                                        <p:tgtEl>
                                          <p:spTgt spid="189"/>
                                        </p:tgtEl>
                                      </p:cBhvr>
                                    </p:animEffect>
                                  </p:childTnLst>
                                </p:cTn>
                              </p:par>
                              <p:par>
                                <p:cTn id="43" presetID="9" presetClass="entr" presetSubtype="0" fill="hold"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dissolve">
                                      <p:cBhvr>
                                        <p:cTn id="45" dur="500"/>
                                        <p:tgtEl>
                                          <p:spTgt spid="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46915"/>
                                        </p:tgtEl>
                                        <p:attrNameLst>
                                          <p:attrName>style.visibility</p:attrName>
                                        </p:attrNameLst>
                                      </p:cBhvr>
                                      <p:to>
                                        <p:strVal val="visible"/>
                                      </p:to>
                                    </p:set>
                                    <p:animEffect transition="in" filter="blinds(horizontal)">
                                      <p:cBhvr>
                                        <p:cTn id="50" dur="500"/>
                                        <p:tgtEl>
                                          <p:spTgt spid="24691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68728"/>
                                        </p:tgtEl>
                                        <p:attrNameLst>
                                          <p:attrName>style.visibility</p:attrName>
                                        </p:attrNameLst>
                                      </p:cBhvr>
                                      <p:to>
                                        <p:strVal val="visible"/>
                                      </p:to>
                                    </p:set>
                                    <p:animEffect transition="in" filter="wipe(up)">
                                      <p:cBhvr>
                                        <p:cTn id="55" dur="500"/>
                                        <p:tgtEl>
                                          <p:spTgt spid="68728"/>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15367"/>
                                        </p:tgtEl>
                                        <p:attrNameLst>
                                          <p:attrName>style.visibility</p:attrName>
                                        </p:attrNameLst>
                                      </p:cBhvr>
                                      <p:to>
                                        <p:strVal val="visible"/>
                                      </p:to>
                                    </p:set>
                                    <p:animEffect transition="in" filter="dissolve">
                                      <p:cBhvr>
                                        <p:cTn id="60" dur="500"/>
                                        <p:tgtEl>
                                          <p:spTgt spid="15367"/>
                                        </p:tgtEl>
                                      </p:cBhvr>
                                    </p:animEffect>
                                  </p:childTnLst>
                                </p:cTn>
                              </p:par>
                            </p:childTnLst>
                          </p:cTn>
                        </p:par>
                        <p:par>
                          <p:cTn id="61" fill="hold">
                            <p:stCondLst>
                              <p:cond delay="500"/>
                            </p:stCondLst>
                            <p:childTnLst>
                              <p:par>
                                <p:cTn id="62" presetID="18" presetClass="entr" presetSubtype="6" fill="hold" nodeType="after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strips(downRight)">
                                      <p:cBhvr>
                                        <p:cTn id="64" dur="500"/>
                                        <p:tgtEl>
                                          <p:spTgt spid="5"/>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wipe(left)">
                                      <p:cBhvr>
                                        <p:cTn id="69" dur="500"/>
                                        <p:tgtEl>
                                          <p:spTgt spid="11"/>
                                        </p:tgtEl>
                                      </p:cBhvr>
                                    </p:animEffect>
                                  </p:childTnLst>
                                </p:cTn>
                              </p:par>
                            </p:childTnLst>
                          </p:cTn>
                        </p:par>
                        <p:par>
                          <p:cTn id="70" fill="hold">
                            <p:stCondLst>
                              <p:cond delay="500"/>
                            </p:stCondLst>
                            <p:childTnLst>
                              <p:par>
                                <p:cTn id="71" presetID="9" presetClass="entr" presetSubtype="0" fill="hold" grpId="0" nodeType="afterEffect">
                                  <p:stCondLst>
                                    <p:cond delay="0"/>
                                  </p:stCondLst>
                                  <p:childTnLst>
                                    <p:set>
                                      <p:cBhvr>
                                        <p:cTn id="72" dur="1" fill="hold">
                                          <p:stCondLst>
                                            <p:cond delay="0"/>
                                          </p:stCondLst>
                                        </p:cTn>
                                        <p:tgtEl>
                                          <p:spTgt spid="194"/>
                                        </p:tgtEl>
                                        <p:attrNameLst>
                                          <p:attrName>style.visibility</p:attrName>
                                        </p:attrNameLst>
                                      </p:cBhvr>
                                      <p:to>
                                        <p:strVal val="visible"/>
                                      </p:to>
                                    </p:set>
                                    <p:animEffect transition="in" filter="dissolve">
                                      <p:cBhvr>
                                        <p:cTn id="73" dur="500"/>
                                        <p:tgtEl>
                                          <p:spTgt spid="194"/>
                                        </p:tgtEl>
                                      </p:cBhvr>
                                    </p:animEffect>
                                  </p:childTnLst>
                                </p:cTn>
                              </p:par>
                              <p:par>
                                <p:cTn id="74" presetID="9" presetClass="entr" presetSubtype="0" fill="hold" nodeType="withEffect">
                                  <p:stCondLst>
                                    <p:cond delay="0"/>
                                  </p:stCondLst>
                                  <p:childTnLst>
                                    <p:set>
                                      <p:cBhvr>
                                        <p:cTn id="75" dur="1" fill="hold">
                                          <p:stCondLst>
                                            <p:cond delay="0"/>
                                          </p:stCondLst>
                                        </p:cTn>
                                        <p:tgtEl>
                                          <p:spTgt spid="121"/>
                                        </p:tgtEl>
                                        <p:attrNameLst>
                                          <p:attrName>style.visibility</p:attrName>
                                        </p:attrNameLst>
                                      </p:cBhvr>
                                      <p:to>
                                        <p:strVal val="visible"/>
                                      </p:to>
                                    </p:set>
                                    <p:animEffect transition="in" filter="dissolve">
                                      <p:cBhvr>
                                        <p:cTn id="76" dur="500"/>
                                        <p:tgtEl>
                                          <p:spTgt spid="121"/>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98"/>
                                        </p:tgtEl>
                                        <p:attrNameLst>
                                          <p:attrName>style.visibility</p:attrName>
                                        </p:attrNameLst>
                                      </p:cBhvr>
                                      <p:to>
                                        <p:strVal val="visible"/>
                                      </p:to>
                                    </p:set>
                                    <p:animEffect transition="in" filter="wipe(left)">
                                      <p:cBhvr>
                                        <p:cTn id="81" dur="500"/>
                                        <p:tgtEl>
                                          <p:spTgt spid="198"/>
                                        </p:tgtEl>
                                      </p:cBhvr>
                                    </p:animEffect>
                                  </p:childTnLst>
                                </p:cTn>
                              </p:par>
                            </p:childTnLst>
                          </p:cTn>
                        </p:par>
                        <p:par>
                          <p:cTn id="82" fill="hold">
                            <p:stCondLst>
                              <p:cond delay="500"/>
                            </p:stCondLst>
                            <p:childTnLst>
                              <p:par>
                                <p:cTn id="83" presetID="9" presetClass="entr" presetSubtype="0" fill="hold" grpId="0" nodeType="afterEffect">
                                  <p:stCondLst>
                                    <p:cond delay="0"/>
                                  </p:stCondLst>
                                  <p:childTnLst>
                                    <p:set>
                                      <p:cBhvr>
                                        <p:cTn id="84" dur="1" fill="hold">
                                          <p:stCondLst>
                                            <p:cond delay="0"/>
                                          </p:stCondLst>
                                        </p:cTn>
                                        <p:tgtEl>
                                          <p:spTgt spid="195"/>
                                        </p:tgtEl>
                                        <p:attrNameLst>
                                          <p:attrName>style.visibility</p:attrName>
                                        </p:attrNameLst>
                                      </p:cBhvr>
                                      <p:to>
                                        <p:strVal val="visible"/>
                                      </p:to>
                                    </p:set>
                                    <p:animEffect transition="in" filter="dissolve">
                                      <p:cBhvr>
                                        <p:cTn id="85" dur="500"/>
                                        <p:tgtEl>
                                          <p:spTgt spid="195"/>
                                        </p:tgtEl>
                                      </p:cBhvr>
                                    </p:animEffect>
                                  </p:childTnLst>
                                </p:cTn>
                              </p:par>
                              <p:par>
                                <p:cTn id="86" presetID="9" presetClass="entr" presetSubtype="0" fill="hold" nodeType="withEffect">
                                  <p:stCondLst>
                                    <p:cond delay="0"/>
                                  </p:stCondLst>
                                  <p:childTnLst>
                                    <p:set>
                                      <p:cBhvr>
                                        <p:cTn id="87" dur="1" fill="hold">
                                          <p:stCondLst>
                                            <p:cond delay="0"/>
                                          </p:stCondLst>
                                        </p:cTn>
                                        <p:tgtEl>
                                          <p:spTgt spid="13"/>
                                        </p:tgtEl>
                                        <p:attrNameLst>
                                          <p:attrName>style.visibility</p:attrName>
                                        </p:attrNameLst>
                                      </p:cBhvr>
                                      <p:to>
                                        <p:strVal val="visible"/>
                                      </p:to>
                                    </p:set>
                                    <p:animEffect transition="in" filter="dissolve">
                                      <p:cBhvr>
                                        <p:cTn id="88" dur="500"/>
                                        <p:tgtEl>
                                          <p:spTgt spid="13"/>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191"/>
                                        </p:tgtEl>
                                        <p:attrNameLst>
                                          <p:attrName>style.visibility</p:attrName>
                                        </p:attrNameLst>
                                      </p:cBhvr>
                                      <p:to>
                                        <p:strVal val="visible"/>
                                      </p:to>
                                    </p:set>
                                    <p:animEffect transition="in" filter="dissolve">
                                      <p:cBhvr>
                                        <p:cTn id="93" dur="500"/>
                                        <p:tgtEl>
                                          <p:spTgt spid="191"/>
                                        </p:tgtEl>
                                      </p:cBhvr>
                                    </p:animEffect>
                                  </p:childTnLst>
                                </p:cTn>
                              </p:par>
                            </p:childTnLst>
                          </p:cTn>
                        </p:par>
                        <p:par>
                          <p:cTn id="94" fill="hold" nodeType="withGroup">
                            <p:stCondLst>
                              <p:cond delay="500"/>
                            </p:stCondLst>
                            <p:childTnLst>
                              <p:par>
                                <p:cTn id="95" presetID="18" presetClass="entr" presetSubtype="3" fill="hold" nodeType="afterEffect">
                                  <p:stCondLst>
                                    <p:cond delay="0"/>
                                  </p:stCondLst>
                                  <p:childTnLst>
                                    <p:set>
                                      <p:cBhvr>
                                        <p:cTn id="96" dur="1" fill="hold">
                                          <p:stCondLst>
                                            <p:cond delay="0"/>
                                          </p:stCondLst>
                                        </p:cTn>
                                        <p:tgtEl>
                                          <p:spTgt spid="7"/>
                                        </p:tgtEl>
                                        <p:attrNameLst>
                                          <p:attrName>style.visibility</p:attrName>
                                        </p:attrNameLst>
                                      </p:cBhvr>
                                      <p:to>
                                        <p:strVal val="visible"/>
                                      </p:to>
                                    </p:set>
                                    <p:animEffect transition="in" filter="strips(upRight)">
                                      <p:cBhvr>
                                        <p:cTn id="97" dur="500"/>
                                        <p:tgtEl>
                                          <p:spTgt spid="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97"/>
                                        </p:tgtEl>
                                        <p:attrNameLst>
                                          <p:attrName>style.visibility</p:attrName>
                                        </p:attrNameLst>
                                      </p:cBhvr>
                                      <p:to>
                                        <p:strVal val="visible"/>
                                      </p:to>
                                    </p:set>
                                    <p:animEffect transition="in" filter="wipe(left)">
                                      <p:cBhvr>
                                        <p:cTn id="102" dur="500"/>
                                        <p:tgtEl>
                                          <p:spTgt spid="197"/>
                                        </p:tgtEl>
                                      </p:cBhvr>
                                    </p:animEffect>
                                  </p:childTnLst>
                                </p:cTn>
                              </p:par>
                            </p:childTnLst>
                          </p:cTn>
                        </p:par>
                        <p:par>
                          <p:cTn id="103" fill="hold">
                            <p:stCondLst>
                              <p:cond delay="500"/>
                            </p:stCondLst>
                            <p:childTnLst>
                              <p:par>
                                <p:cTn id="104" presetID="9" presetClass="entr" presetSubtype="0" fill="hold" grpId="0" nodeType="afterEffect">
                                  <p:stCondLst>
                                    <p:cond delay="0"/>
                                  </p:stCondLst>
                                  <p:childTnLst>
                                    <p:set>
                                      <p:cBhvr>
                                        <p:cTn id="105" dur="1" fill="hold">
                                          <p:stCondLst>
                                            <p:cond delay="0"/>
                                          </p:stCondLst>
                                        </p:cTn>
                                        <p:tgtEl>
                                          <p:spTgt spid="192"/>
                                        </p:tgtEl>
                                        <p:attrNameLst>
                                          <p:attrName>style.visibility</p:attrName>
                                        </p:attrNameLst>
                                      </p:cBhvr>
                                      <p:to>
                                        <p:strVal val="visible"/>
                                      </p:to>
                                    </p:set>
                                    <p:animEffect transition="in" filter="dissolve">
                                      <p:cBhvr>
                                        <p:cTn id="106" dur="500"/>
                                        <p:tgtEl>
                                          <p:spTgt spid="192"/>
                                        </p:tgtEl>
                                      </p:cBhvr>
                                    </p:animEffect>
                                  </p:childTnLst>
                                </p:cTn>
                              </p:par>
                              <p:par>
                                <p:cTn id="107" presetID="9" presetClass="entr" presetSubtype="0" fill="hold" nodeType="withEffect">
                                  <p:stCondLst>
                                    <p:cond delay="0"/>
                                  </p:stCondLst>
                                  <p:childTnLst>
                                    <p:set>
                                      <p:cBhvr>
                                        <p:cTn id="108" dur="1" fill="hold">
                                          <p:stCondLst>
                                            <p:cond delay="0"/>
                                          </p:stCondLst>
                                        </p:cTn>
                                        <p:tgtEl>
                                          <p:spTgt spid="130"/>
                                        </p:tgtEl>
                                        <p:attrNameLst>
                                          <p:attrName>style.visibility</p:attrName>
                                        </p:attrNameLst>
                                      </p:cBhvr>
                                      <p:to>
                                        <p:strVal val="visible"/>
                                      </p:to>
                                    </p:set>
                                    <p:animEffect transition="in" filter="dissolve">
                                      <p:cBhvr>
                                        <p:cTn id="109" dur="500"/>
                                        <p:tgtEl>
                                          <p:spTgt spid="130"/>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199"/>
                                        </p:tgtEl>
                                        <p:attrNameLst>
                                          <p:attrName>style.visibility</p:attrName>
                                        </p:attrNameLst>
                                      </p:cBhvr>
                                      <p:to>
                                        <p:strVal val="visible"/>
                                      </p:to>
                                    </p:set>
                                    <p:animEffect transition="in" filter="wipe(left)">
                                      <p:cBhvr>
                                        <p:cTn id="114" dur="500"/>
                                        <p:tgtEl>
                                          <p:spTgt spid="199"/>
                                        </p:tgtEl>
                                      </p:cBhvr>
                                    </p:animEffect>
                                  </p:childTnLst>
                                </p:cTn>
                              </p:par>
                            </p:childTnLst>
                          </p:cTn>
                        </p:par>
                        <p:par>
                          <p:cTn id="115" fill="hold">
                            <p:stCondLst>
                              <p:cond delay="500"/>
                            </p:stCondLst>
                            <p:childTnLst>
                              <p:par>
                                <p:cTn id="116" presetID="9" presetClass="entr" presetSubtype="0" fill="hold" grpId="0" nodeType="afterEffect">
                                  <p:stCondLst>
                                    <p:cond delay="0"/>
                                  </p:stCondLst>
                                  <p:childTnLst>
                                    <p:set>
                                      <p:cBhvr>
                                        <p:cTn id="117" dur="1" fill="hold">
                                          <p:stCondLst>
                                            <p:cond delay="0"/>
                                          </p:stCondLst>
                                        </p:cTn>
                                        <p:tgtEl>
                                          <p:spTgt spid="193"/>
                                        </p:tgtEl>
                                        <p:attrNameLst>
                                          <p:attrName>style.visibility</p:attrName>
                                        </p:attrNameLst>
                                      </p:cBhvr>
                                      <p:to>
                                        <p:strVal val="visible"/>
                                      </p:to>
                                    </p:set>
                                    <p:animEffect transition="in" filter="dissolve">
                                      <p:cBhvr>
                                        <p:cTn id="118" dur="500"/>
                                        <p:tgtEl>
                                          <p:spTgt spid="193"/>
                                        </p:tgtEl>
                                      </p:cBhvr>
                                    </p:animEffect>
                                  </p:childTnLst>
                                </p:cTn>
                              </p:par>
                              <p:par>
                                <p:cTn id="119" presetID="9" presetClass="entr" presetSubtype="0" fill="hold" nodeType="withEffect">
                                  <p:stCondLst>
                                    <p:cond delay="0"/>
                                  </p:stCondLst>
                                  <p:childTnLst>
                                    <p:set>
                                      <p:cBhvr>
                                        <p:cTn id="120" dur="1" fill="hold">
                                          <p:stCondLst>
                                            <p:cond delay="0"/>
                                          </p:stCondLst>
                                        </p:cTn>
                                        <p:tgtEl>
                                          <p:spTgt spid="14"/>
                                        </p:tgtEl>
                                        <p:attrNameLst>
                                          <p:attrName>style.visibility</p:attrName>
                                        </p:attrNameLst>
                                      </p:cBhvr>
                                      <p:to>
                                        <p:strVal val="visible"/>
                                      </p:to>
                                    </p:set>
                                    <p:animEffect transition="in" filter="dissolve">
                                      <p:cBhvr>
                                        <p:cTn id="121" dur="500"/>
                                        <p:tgtEl>
                                          <p:spTgt spid="14"/>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0" nodeType="clickEffect">
                                  <p:stCondLst>
                                    <p:cond delay="0"/>
                                  </p:stCondLst>
                                  <p:childTnLst>
                                    <p:set>
                                      <p:cBhvr>
                                        <p:cTn id="125" dur="1" fill="hold">
                                          <p:stCondLst>
                                            <p:cond delay="0"/>
                                          </p:stCondLst>
                                        </p:cTn>
                                        <p:tgtEl>
                                          <p:spTgt spid="68726"/>
                                        </p:tgtEl>
                                        <p:attrNameLst>
                                          <p:attrName>style.visibility</p:attrName>
                                        </p:attrNameLst>
                                      </p:cBhvr>
                                      <p:to>
                                        <p:strVal val="visible"/>
                                      </p:to>
                                    </p:set>
                                    <p:animEffect transition="in" filter="blinds(horizontal)">
                                      <p:cBhvr>
                                        <p:cTn id="126" dur="500"/>
                                        <p:tgtEl>
                                          <p:spTgt spid="68726"/>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1" fill="hold" grpId="0" nodeType="clickEffect">
                                  <p:stCondLst>
                                    <p:cond delay="0"/>
                                  </p:stCondLst>
                                  <p:childTnLst>
                                    <p:set>
                                      <p:cBhvr>
                                        <p:cTn id="130" dur="1" fill="hold">
                                          <p:stCondLst>
                                            <p:cond delay="0"/>
                                          </p:stCondLst>
                                        </p:cTn>
                                        <p:tgtEl>
                                          <p:spTgt spid="68727"/>
                                        </p:tgtEl>
                                        <p:attrNameLst>
                                          <p:attrName>style.visibility</p:attrName>
                                        </p:attrNameLst>
                                      </p:cBhvr>
                                      <p:to>
                                        <p:strVal val="visible"/>
                                      </p:to>
                                    </p:set>
                                    <p:animEffect transition="in" filter="wipe(up)">
                                      <p:cBhvr>
                                        <p:cTn id="131" dur="500"/>
                                        <p:tgtEl>
                                          <p:spTgt spid="68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7" grpId="0" animBg="1"/>
      <p:bldP spid="191" grpId="0" animBg="1"/>
      <p:bldP spid="192" grpId="0" animBg="1"/>
      <p:bldP spid="193" grpId="0" animBg="1"/>
      <p:bldP spid="194" grpId="0" animBg="1"/>
      <p:bldP spid="195" grpId="0" animBg="1"/>
      <p:bldP spid="189" grpId="0" animBg="1"/>
      <p:bldP spid="15363" grpId="0" animBg="1"/>
      <p:bldP spid="246915" grpId="0" animBg="1"/>
      <p:bldP spid="68726" grpId="0" animBg="1"/>
      <p:bldP spid="68727" grpId="0" animBg="1"/>
      <p:bldP spid="68728" grpId="0" animBg="1"/>
      <p:bldP spid="186" grpId="0" animBg="1"/>
      <p:bldP spid="187" grpId="0" animBg="1"/>
      <p:bldP spid="11" grpId="0" animBg="1"/>
      <p:bldP spid="197" grpId="0" animBg="1"/>
      <p:bldP spid="198" grpId="0" animBg="1"/>
      <p:bldP spid="199" grpId="0" animBg="1"/>
      <p:bldP spid="200" grpId="0" animBg="1"/>
      <p:bldP spid="20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811" name="Text Box 27"/>
          <p:cNvSpPr txBox="1">
            <a:spLocks noChangeArrowheads="1"/>
          </p:cNvSpPr>
          <p:nvPr/>
        </p:nvSpPr>
        <p:spPr bwMode="auto">
          <a:xfrm>
            <a:off x="4978060" y="1038406"/>
            <a:ext cx="1551808" cy="514738"/>
          </a:xfrm>
          <a:prstGeom prst="rect">
            <a:avLst/>
          </a:prstGeom>
          <a:solidFill>
            <a:srgbClr val="FAFAFA"/>
          </a:solidFill>
          <a:ln>
            <a:noFill/>
          </a:ln>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r>
              <a:rPr lang="es-ES" sz="2400"/>
              <a:t>FLUIDOS</a:t>
            </a:r>
          </a:p>
        </p:txBody>
      </p:sp>
      <p:grpSp>
        <p:nvGrpSpPr>
          <p:cNvPr id="4" name="Group 28"/>
          <p:cNvGrpSpPr>
            <a:grpSpLocks/>
          </p:cNvGrpSpPr>
          <p:nvPr/>
        </p:nvGrpSpPr>
        <p:grpSpPr bwMode="auto">
          <a:xfrm>
            <a:off x="2117722" y="1033363"/>
            <a:ext cx="7291383" cy="514354"/>
            <a:chOff x="1399" y="2325"/>
            <a:chExt cx="4593" cy="324"/>
          </a:xfrm>
        </p:grpSpPr>
        <p:sp>
          <p:nvSpPr>
            <p:cNvPr id="17448" name="Text Box 29"/>
            <p:cNvSpPr txBox="1">
              <a:spLocks noChangeArrowheads="1"/>
            </p:cNvSpPr>
            <p:nvPr/>
          </p:nvSpPr>
          <p:spPr bwMode="auto">
            <a:xfrm>
              <a:off x="4823" y="2325"/>
              <a:ext cx="1169" cy="324"/>
            </a:xfrm>
            <a:prstGeom prst="rect">
              <a:avLst/>
            </a:prstGeom>
            <a:solidFill>
              <a:schemeClr val="accent1">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defRPr/>
              </a:pPr>
              <a:r>
                <a:rPr lang="es-ES" sz="2400"/>
                <a:t>LÍQUIDOS</a:t>
              </a:r>
            </a:p>
          </p:txBody>
        </p:sp>
        <p:sp>
          <p:nvSpPr>
            <p:cNvPr id="17444" name="Text Box 30"/>
            <p:cNvSpPr txBox="1">
              <a:spLocks noChangeArrowheads="1"/>
            </p:cNvSpPr>
            <p:nvPr/>
          </p:nvSpPr>
          <p:spPr bwMode="auto">
            <a:xfrm>
              <a:off x="1399" y="2325"/>
              <a:ext cx="1177" cy="324"/>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GASES</a:t>
              </a:r>
            </a:p>
          </p:txBody>
        </p:sp>
        <p:sp>
          <p:nvSpPr>
            <p:cNvPr id="17445" name="AutoShape 31"/>
            <p:cNvSpPr>
              <a:spLocks noChangeArrowheads="1"/>
            </p:cNvSpPr>
            <p:nvPr/>
          </p:nvSpPr>
          <p:spPr bwMode="auto">
            <a:xfrm flipH="1">
              <a:off x="2742" y="2341"/>
              <a:ext cx="233" cy="298"/>
            </a:xfrm>
            <a:prstGeom prst="rightArrow">
              <a:avLst>
                <a:gd name="adj1" fmla="val 55037"/>
                <a:gd name="adj2" fmla="val 50213"/>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17446" name="AutoShape 32"/>
            <p:cNvSpPr>
              <a:spLocks noChangeArrowheads="1"/>
            </p:cNvSpPr>
            <p:nvPr/>
          </p:nvSpPr>
          <p:spPr bwMode="auto">
            <a:xfrm>
              <a:off x="4402" y="2345"/>
              <a:ext cx="233" cy="298"/>
            </a:xfrm>
            <a:prstGeom prst="rightArrow">
              <a:avLst>
                <a:gd name="adj1" fmla="val 55037"/>
                <a:gd name="adj2" fmla="val 50213"/>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grpSp>
      <p:sp>
        <p:nvSpPr>
          <p:cNvPr id="70676" name="Text Box 135"/>
          <p:cNvSpPr txBox="1">
            <a:spLocks noChangeArrowheads="1"/>
          </p:cNvSpPr>
          <p:nvPr/>
        </p:nvSpPr>
        <p:spPr bwMode="auto">
          <a:xfrm>
            <a:off x="1836512" y="3184993"/>
            <a:ext cx="7838427" cy="884070"/>
          </a:xfrm>
          <a:prstGeom prst="rect">
            <a:avLst/>
          </a:prstGeom>
          <a:solidFill>
            <a:srgbClr val="FAFAFA"/>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defRPr/>
            </a:pPr>
            <a:r>
              <a:rPr lang="es-ES" sz="2400" dirty="0">
                <a:solidFill>
                  <a:schemeClr val="tx1"/>
                </a:solidFill>
              </a:rPr>
              <a:t>No obstante, si </a:t>
            </a:r>
            <a:r>
              <a:rPr lang="es-ES" sz="2400">
                <a:solidFill>
                  <a:schemeClr val="tx1"/>
                </a:solidFill>
              </a:rPr>
              <a:t>tienen </a:t>
            </a:r>
            <a:r>
              <a:rPr lang="es-ES" sz="2400" b="1">
                <a:solidFill>
                  <a:schemeClr val="tx1"/>
                </a:solidFill>
              </a:rPr>
              <a:t>iones</a:t>
            </a:r>
            <a:r>
              <a:rPr lang="es-ES" sz="2400">
                <a:solidFill>
                  <a:schemeClr val="tx1"/>
                </a:solidFill>
              </a:rPr>
              <a:t> </a:t>
            </a:r>
            <a:r>
              <a:rPr lang="es-ES" sz="2400" dirty="0">
                <a:solidFill>
                  <a:schemeClr val="tx1"/>
                </a:solidFill>
              </a:rPr>
              <a:t>(átomos o porciones de moléculas con carga no nula)</a:t>
            </a:r>
            <a:r>
              <a:rPr lang="es-ES" sz="2400" b="1" dirty="0">
                <a:solidFill>
                  <a:schemeClr val="tx1"/>
                </a:solidFill>
              </a:rPr>
              <a:t>,</a:t>
            </a:r>
            <a:r>
              <a:rPr lang="es-ES" sz="2400" dirty="0">
                <a:solidFill>
                  <a:schemeClr val="tx1"/>
                </a:solidFill>
              </a:rPr>
              <a:t> como </a:t>
            </a:r>
            <a:r>
              <a:rPr lang="es-ES" sz="2400">
                <a:solidFill>
                  <a:schemeClr val="tx1"/>
                </a:solidFill>
              </a:rPr>
              <a:t>presentan </a:t>
            </a:r>
            <a:r>
              <a:rPr lang="es-ES" sz="2400" b="1">
                <a:solidFill>
                  <a:schemeClr val="tx1"/>
                </a:solidFill>
              </a:rPr>
              <a:t>fluidez</a:t>
            </a:r>
            <a:r>
              <a:rPr lang="es-ES" sz="2400">
                <a:solidFill>
                  <a:schemeClr val="tx1"/>
                </a:solidFill>
              </a:rPr>
              <a:t>:</a:t>
            </a:r>
            <a:endParaRPr lang="es-ES" sz="2400" dirty="0">
              <a:solidFill>
                <a:schemeClr val="tx1"/>
              </a:solidFill>
              <a:sym typeface="Symbol" panose="05050102010706020507" pitchFamily="18" charset="2"/>
            </a:endParaRPr>
          </a:p>
        </p:txBody>
      </p:sp>
      <p:sp>
        <p:nvSpPr>
          <p:cNvPr id="17421" name="Text Box 20"/>
          <p:cNvSpPr txBox="1">
            <a:spLocks noChangeArrowheads="1"/>
          </p:cNvSpPr>
          <p:nvPr/>
        </p:nvSpPr>
        <p:spPr bwMode="auto">
          <a:xfrm>
            <a:off x="4248481" y="336910"/>
            <a:ext cx="2987013" cy="514738"/>
          </a:xfrm>
          <a:prstGeom prst="rect">
            <a:avLst/>
          </a:prstGeom>
          <a:solidFill>
            <a:srgbClr val="99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72000" rIns="72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FFFFFF"/>
                </a:solidFill>
              </a:rPr>
              <a:t>ELÉCTRICAMENTE</a:t>
            </a:r>
          </a:p>
        </p:txBody>
      </p:sp>
      <p:sp>
        <p:nvSpPr>
          <p:cNvPr id="17436" name="Text Box 134"/>
          <p:cNvSpPr txBox="1">
            <a:spLocks noChangeArrowheads="1"/>
          </p:cNvSpPr>
          <p:nvPr/>
        </p:nvSpPr>
        <p:spPr bwMode="auto">
          <a:xfrm>
            <a:off x="1836512" y="2222647"/>
            <a:ext cx="7838427" cy="88407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08000" tIns="72000" rIns="72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chemeClr val="tx1"/>
                </a:solidFill>
              </a:rPr>
              <a:t>No hay e</a:t>
            </a:r>
            <a:r>
              <a:rPr lang="es-ES" sz="2400" baseline="30000">
                <a:solidFill>
                  <a:schemeClr val="tx1"/>
                </a:solidFill>
                <a:sym typeface="Symbol" panose="05050102010706020507" pitchFamily="18" charset="2"/>
              </a:rPr>
              <a:t></a:t>
            </a:r>
            <a:r>
              <a:rPr lang="es-ES" sz="2400">
                <a:solidFill>
                  <a:schemeClr val="tx1"/>
                </a:solidFill>
                <a:sym typeface="Symbol" panose="05050102010706020507" pitchFamily="18" charset="2"/>
              </a:rPr>
              <a:t> que se muevan por todo el material (deslocalizados) por ser las moléculas independientes</a:t>
            </a:r>
          </a:p>
        </p:txBody>
      </p:sp>
      <p:sp>
        <p:nvSpPr>
          <p:cNvPr id="17427" name="Text Box 34"/>
          <p:cNvSpPr txBox="1">
            <a:spLocks noChangeArrowheads="1"/>
          </p:cNvSpPr>
          <p:nvPr/>
        </p:nvSpPr>
        <p:spPr bwMode="auto">
          <a:xfrm>
            <a:off x="2465485" y="4094518"/>
            <a:ext cx="6597673"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rgbClr val="0000FF"/>
                </a:solidFill>
              </a:rPr>
              <a:t>SE COMPORTAN COMO CONDUCTORES</a:t>
            </a:r>
          </a:p>
        </p:txBody>
      </p:sp>
      <p:sp>
        <p:nvSpPr>
          <p:cNvPr id="45" name="Text Box 33"/>
          <p:cNvSpPr txBox="1">
            <a:spLocks noChangeArrowheads="1"/>
          </p:cNvSpPr>
          <p:nvPr/>
        </p:nvSpPr>
        <p:spPr bwMode="auto">
          <a:xfrm>
            <a:off x="2961644" y="1704093"/>
            <a:ext cx="5612606"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00FF"/>
                </a:solidFill>
              </a:rPr>
              <a:t>SE COMPORTAN COMO AISLANTES</a:t>
            </a:r>
          </a:p>
        </p:txBody>
      </p:sp>
      <p:sp>
        <p:nvSpPr>
          <p:cNvPr id="49" name="Text Box 137"/>
          <p:cNvSpPr txBox="1">
            <a:spLocks noChangeArrowheads="1"/>
          </p:cNvSpPr>
          <p:nvPr/>
        </p:nvSpPr>
        <p:spPr bwMode="auto">
          <a:xfrm>
            <a:off x="2406493" y="4615556"/>
            <a:ext cx="6747341" cy="1622734"/>
          </a:xfrm>
          <a:prstGeom prst="rect">
            <a:avLst/>
          </a:prstGeom>
          <a:solidFill>
            <a:srgbClr val="FFFF99"/>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chemeClr val="tx1"/>
                </a:solidFill>
              </a:rPr>
              <a:t>El movimiento de los iones por todo el material, intercambiando posición con moléculas </a:t>
            </a:r>
            <a:r>
              <a:rPr lang="es-ES" sz="2400">
                <a:solidFill>
                  <a:schemeClr val="tx1"/>
                </a:solidFill>
              </a:rPr>
              <a:t>neutras,</a:t>
            </a:r>
          </a:p>
          <a:p>
            <a:pPr algn="ctr" eaLnBrk="1" hangingPunct="1">
              <a:spcBef>
                <a:spcPts val="0"/>
              </a:spcBef>
            </a:pPr>
            <a:r>
              <a:rPr lang="es-ES" sz="2400">
                <a:solidFill>
                  <a:schemeClr val="tx1"/>
                </a:solidFill>
              </a:rPr>
              <a:t>es </a:t>
            </a:r>
            <a:r>
              <a:rPr lang="es-ES" sz="2400" dirty="0">
                <a:solidFill>
                  <a:schemeClr val="tx1"/>
                </a:solidFill>
              </a:rPr>
              <a:t>equivalente al de e</a:t>
            </a:r>
            <a:r>
              <a:rPr lang="es-ES" sz="2400" baseline="30000" dirty="0">
                <a:solidFill>
                  <a:schemeClr val="tx1"/>
                </a:solidFill>
              </a:rPr>
              <a:t>- </a:t>
            </a:r>
            <a:r>
              <a:rPr lang="es-ES" sz="2400" dirty="0">
                <a:solidFill>
                  <a:schemeClr val="tx1"/>
                </a:solidFill>
              </a:rPr>
              <a:t>moviéndose </a:t>
            </a:r>
            <a:r>
              <a:rPr lang="es-ES" sz="2400">
                <a:solidFill>
                  <a:schemeClr val="tx1"/>
                </a:solidFill>
              </a:rPr>
              <a:t>por todo</a:t>
            </a:r>
          </a:p>
          <a:p>
            <a:pPr algn="ctr" eaLnBrk="1" hangingPunct="1">
              <a:spcBef>
                <a:spcPts val="0"/>
              </a:spcBef>
            </a:pPr>
            <a:r>
              <a:rPr lang="es-ES" sz="2400">
                <a:solidFill>
                  <a:schemeClr val="tx1"/>
                </a:solidFill>
              </a:rPr>
              <a:t>el </a:t>
            </a:r>
            <a:r>
              <a:rPr lang="es-ES" sz="2400" dirty="0">
                <a:solidFill>
                  <a:schemeClr val="tx1"/>
                </a:solidFill>
              </a:rPr>
              <a:t>material pasando de una molécula a otra</a:t>
            </a:r>
          </a:p>
        </p:txBody>
      </p:sp>
      <p:sp>
        <p:nvSpPr>
          <p:cNvPr id="14" name="Text Box 137">
            <a:extLst>
              <a:ext uri="{FF2B5EF4-FFF2-40B4-BE49-F238E27FC236}">
                <a16:creationId xmlns:a16="http://schemas.microsoft.com/office/drawing/2014/main" id="{0A917F91-3C37-4396-A5DB-F490664D82A5}"/>
              </a:ext>
            </a:extLst>
          </p:cNvPr>
          <p:cNvSpPr txBox="1">
            <a:spLocks noChangeArrowheads="1"/>
          </p:cNvSpPr>
          <p:nvPr/>
        </p:nvSpPr>
        <p:spPr bwMode="auto">
          <a:xfrm>
            <a:off x="1565649" y="6329873"/>
            <a:ext cx="8424811" cy="514738"/>
          </a:xfrm>
          <a:prstGeom prst="rect">
            <a:avLst/>
          </a:prstGeom>
          <a:solidFill>
            <a:schemeClr val="tx2">
              <a:lumMod val="25000"/>
              <a:lumOff val="75000"/>
            </a:schemeClr>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chemeClr val="tx1"/>
                </a:solidFill>
              </a:rPr>
              <a:t>Al aplicar un campo eléctrico aparecen </a:t>
            </a:r>
            <a:r>
              <a:rPr lang="es-ES" sz="2400" b="1" dirty="0">
                <a:solidFill>
                  <a:schemeClr val="tx1"/>
                </a:solidFill>
              </a:rPr>
              <a:t>corrientes de iones</a:t>
            </a:r>
            <a:endParaRPr lang="es-ES" sz="2400" b="1" dirty="0">
              <a:solidFill>
                <a:schemeClr val="tx1"/>
              </a:solidFill>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grpId="0" nodeType="afterEffect">
                                  <p:stCondLst>
                                    <p:cond delay="0"/>
                                  </p:stCondLst>
                                  <p:childTnLst>
                                    <p:set>
                                      <p:cBhvr>
                                        <p:cTn id="6" dur="1" fill="hold">
                                          <p:stCondLst>
                                            <p:cond delay="0"/>
                                          </p:stCondLst>
                                        </p:cTn>
                                        <p:tgtEl>
                                          <p:spTgt spid="246811"/>
                                        </p:tgtEl>
                                        <p:attrNameLst>
                                          <p:attrName>style.visibility</p:attrName>
                                        </p:attrNameLst>
                                      </p:cBhvr>
                                      <p:to>
                                        <p:strVal val="visible"/>
                                      </p:to>
                                    </p:set>
                                    <p:anim calcmode="lin" valueType="num">
                                      <p:cBhvr>
                                        <p:cTn id="7" dur="500" fill="hold"/>
                                        <p:tgtEl>
                                          <p:spTgt spid="246811"/>
                                        </p:tgtEl>
                                        <p:attrNameLst>
                                          <p:attrName>ppt_w</p:attrName>
                                        </p:attrNameLst>
                                      </p:cBhvr>
                                      <p:tavLst>
                                        <p:tav tm="0">
                                          <p:val>
                                            <p:strVal val="2/3*#ppt_w"/>
                                          </p:val>
                                        </p:tav>
                                        <p:tav tm="100000">
                                          <p:val>
                                            <p:strVal val="#ppt_w"/>
                                          </p:val>
                                        </p:tav>
                                      </p:tavLst>
                                    </p:anim>
                                    <p:anim calcmode="lin" valueType="num">
                                      <p:cBhvr>
                                        <p:cTn id="8" dur="500" fill="hold"/>
                                        <p:tgtEl>
                                          <p:spTgt spid="246811"/>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37"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outVertical)">
                                      <p:cBhvr>
                                        <p:cTn id="13" dur="500"/>
                                        <p:tgtEl>
                                          <p:spTgt spid="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45"/>
                                        </p:tgtEl>
                                        <p:attrNameLst>
                                          <p:attrName>style.visibility</p:attrName>
                                        </p:attrNameLst>
                                      </p:cBhvr>
                                      <p:to>
                                        <p:strVal val="visible"/>
                                      </p:to>
                                    </p:set>
                                    <p:anim calcmode="lin" valueType="num">
                                      <p:cBhvr additive="base">
                                        <p:cTn id="18" dur="500"/>
                                        <p:tgtEl>
                                          <p:spTgt spid="45"/>
                                        </p:tgtEl>
                                        <p:attrNameLst>
                                          <p:attrName>ppt_y</p:attrName>
                                        </p:attrNameLst>
                                      </p:cBhvr>
                                      <p:tavLst>
                                        <p:tav tm="0">
                                          <p:val>
                                            <p:strVal val="#ppt_y+#ppt_h*1.125000"/>
                                          </p:val>
                                        </p:tav>
                                        <p:tav tm="100000">
                                          <p:val>
                                            <p:strVal val="#ppt_y"/>
                                          </p:val>
                                        </p:tav>
                                      </p:tavLst>
                                    </p:anim>
                                    <p:animEffect transition="in" filter="wipe(up)">
                                      <p:cBhvr>
                                        <p:cTn id="19" dur="500"/>
                                        <p:tgtEl>
                                          <p:spTgt spid="4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7436"/>
                                        </p:tgtEl>
                                        <p:attrNameLst>
                                          <p:attrName>style.visibility</p:attrName>
                                        </p:attrNameLst>
                                      </p:cBhvr>
                                      <p:to>
                                        <p:strVal val="visible"/>
                                      </p:to>
                                    </p:set>
                                    <p:animEffect transition="in" filter="wipe(up)">
                                      <p:cBhvr>
                                        <p:cTn id="24" dur="500"/>
                                        <p:tgtEl>
                                          <p:spTgt spid="1743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70676"/>
                                        </p:tgtEl>
                                        <p:attrNameLst>
                                          <p:attrName>style.visibility</p:attrName>
                                        </p:attrNameLst>
                                      </p:cBhvr>
                                      <p:to>
                                        <p:strVal val="visible"/>
                                      </p:to>
                                    </p:set>
                                    <p:animEffect transition="in" filter="wipe(up)">
                                      <p:cBhvr>
                                        <p:cTn id="29" dur="500"/>
                                        <p:tgtEl>
                                          <p:spTgt spid="70676"/>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17427"/>
                                        </p:tgtEl>
                                        <p:attrNameLst>
                                          <p:attrName>style.visibility</p:attrName>
                                        </p:attrNameLst>
                                      </p:cBhvr>
                                      <p:to>
                                        <p:strVal val="visible"/>
                                      </p:to>
                                    </p:set>
                                    <p:anim calcmode="lin" valueType="num">
                                      <p:cBhvr additive="base">
                                        <p:cTn id="34" dur="500"/>
                                        <p:tgtEl>
                                          <p:spTgt spid="17427"/>
                                        </p:tgtEl>
                                        <p:attrNameLst>
                                          <p:attrName>ppt_y</p:attrName>
                                        </p:attrNameLst>
                                      </p:cBhvr>
                                      <p:tavLst>
                                        <p:tav tm="0">
                                          <p:val>
                                            <p:strVal val="#ppt_y+#ppt_h*1.125000"/>
                                          </p:val>
                                        </p:tav>
                                        <p:tav tm="100000">
                                          <p:val>
                                            <p:strVal val="#ppt_y"/>
                                          </p:val>
                                        </p:tav>
                                      </p:tavLst>
                                    </p:anim>
                                    <p:animEffect transition="in" filter="wipe(up)">
                                      <p:cBhvr>
                                        <p:cTn id="35" dur="500"/>
                                        <p:tgtEl>
                                          <p:spTgt spid="1742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49"/>
                                        </p:tgtEl>
                                        <p:attrNameLst>
                                          <p:attrName>style.visibility</p:attrName>
                                        </p:attrNameLst>
                                      </p:cBhvr>
                                      <p:to>
                                        <p:strVal val="visible"/>
                                      </p:to>
                                    </p:set>
                                    <p:animEffect transition="in" filter="wipe(up)">
                                      <p:cBhvr>
                                        <p:cTn id="40" dur="500"/>
                                        <p:tgtEl>
                                          <p:spTgt spid="49"/>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1"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p:tgtEl>
                                          <p:spTgt spid="14"/>
                                        </p:tgtEl>
                                        <p:attrNameLst>
                                          <p:attrName>ppt_y</p:attrName>
                                        </p:attrNameLst>
                                      </p:cBhvr>
                                      <p:tavLst>
                                        <p:tav tm="0">
                                          <p:val>
                                            <p:strVal val="#ppt_y-#ppt_h*1.125000"/>
                                          </p:val>
                                        </p:tav>
                                        <p:tav tm="100000">
                                          <p:val>
                                            <p:strVal val="#ppt_y"/>
                                          </p:val>
                                        </p:tav>
                                      </p:tavLst>
                                    </p:anim>
                                    <p:animEffect transition="in" filter="wipe(down)">
                                      <p:cBhvr>
                                        <p:cTn id="4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811" grpId="0" animBg="1"/>
      <p:bldP spid="70676" grpId="0" animBg="1"/>
      <p:bldP spid="17436" grpId="0" animBg="1"/>
      <p:bldP spid="17427" grpId="0"/>
      <p:bldP spid="45" grpId="0"/>
      <p:bldP spid="49"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AutoShape 2"/>
          <p:cNvSpPr>
            <a:spLocks noChangeArrowheads="1"/>
          </p:cNvSpPr>
          <p:nvPr/>
        </p:nvSpPr>
        <p:spPr bwMode="auto">
          <a:xfrm flipH="1" flipV="1">
            <a:off x="5945075" y="1458623"/>
            <a:ext cx="4464146" cy="5370672"/>
          </a:xfrm>
          <a:prstGeom prst="foldedCorner">
            <a:avLst>
              <a:gd name="adj" fmla="val 0"/>
            </a:avLst>
          </a:pr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246787" name="AutoShape 3"/>
          <p:cNvSpPr>
            <a:spLocks noChangeArrowheads="1"/>
          </p:cNvSpPr>
          <p:nvPr/>
        </p:nvSpPr>
        <p:spPr bwMode="auto">
          <a:xfrm flipH="1" flipV="1">
            <a:off x="1232898" y="1440915"/>
            <a:ext cx="4355203" cy="5388380"/>
          </a:xfrm>
          <a:prstGeom prst="foldedCorner">
            <a:avLst>
              <a:gd name="adj" fmla="val 0"/>
            </a:avLst>
          </a:pr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246811" name="Text Box 27"/>
          <p:cNvSpPr txBox="1">
            <a:spLocks noChangeArrowheads="1"/>
          </p:cNvSpPr>
          <p:nvPr/>
        </p:nvSpPr>
        <p:spPr bwMode="auto">
          <a:xfrm>
            <a:off x="1425660" y="369244"/>
            <a:ext cx="8678759" cy="514738"/>
          </a:xfrm>
          <a:prstGeom prst="rect">
            <a:avLst/>
          </a:prstGeom>
          <a:solidFill>
            <a:srgbClr val="C0C0C0"/>
          </a:solidFill>
          <a:ln>
            <a:noFill/>
          </a:ln>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r>
              <a:rPr lang="es-ES" sz="2400"/>
              <a:t>EJEMPLOS  DE CÓMO CONSEGUIR FLUIDOS CON IONES</a:t>
            </a:r>
            <a:endParaRPr lang="es-ES" sz="2400" dirty="0"/>
          </a:p>
        </p:txBody>
      </p:sp>
      <p:grpSp>
        <p:nvGrpSpPr>
          <p:cNvPr id="29" name="Group 155"/>
          <p:cNvGrpSpPr>
            <a:grpSpLocks/>
          </p:cNvGrpSpPr>
          <p:nvPr/>
        </p:nvGrpSpPr>
        <p:grpSpPr bwMode="auto">
          <a:xfrm>
            <a:off x="1998706" y="1830138"/>
            <a:ext cx="2824163" cy="1127128"/>
            <a:chOff x="758" y="2821"/>
            <a:chExt cx="1779" cy="710"/>
          </a:xfrm>
        </p:grpSpPr>
        <p:sp>
          <p:nvSpPr>
            <p:cNvPr id="17441" name="Text Box 35"/>
            <p:cNvSpPr txBox="1">
              <a:spLocks noChangeArrowheads="1"/>
            </p:cNvSpPr>
            <p:nvPr/>
          </p:nvSpPr>
          <p:spPr bwMode="auto">
            <a:xfrm>
              <a:off x="1046" y="2821"/>
              <a:ext cx="120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b="1">
                  <a:solidFill>
                    <a:srgbClr val="FF0000"/>
                  </a:solidFill>
                </a:rPr>
                <a:t>IONIZANDO</a:t>
              </a:r>
            </a:p>
          </p:txBody>
        </p:sp>
        <p:sp>
          <p:nvSpPr>
            <p:cNvPr id="17442" name="Text Box 136"/>
            <p:cNvSpPr txBox="1">
              <a:spLocks noChangeArrowheads="1"/>
            </p:cNvSpPr>
            <p:nvPr/>
          </p:nvSpPr>
          <p:spPr bwMode="auto">
            <a:xfrm>
              <a:off x="758" y="3006"/>
              <a:ext cx="1779"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pPr>
              <a:r>
                <a:rPr lang="es-ES" sz="2400">
                  <a:solidFill>
                    <a:srgbClr val="3333FF"/>
                  </a:solidFill>
                </a:rPr>
                <a:t>(arrancando e</a:t>
              </a:r>
              <a:r>
                <a:rPr lang="es-ES" sz="2400" baseline="30000">
                  <a:solidFill>
                    <a:srgbClr val="3333FF"/>
                  </a:solidFill>
                  <a:sym typeface="Symbol" panose="05050102010706020507" pitchFamily="18" charset="2"/>
                </a:rPr>
                <a:t></a:t>
              </a:r>
              <a:r>
                <a:rPr lang="es-ES" sz="2400">
                  <a:solidFill>
                    <a:srgbClr val="3333FF"/>
                  </a:solidFill>
                  <a:sym typeface="Symbol" panose="05050102010706020507" pitchFamily="18" charset="2"/>
                </a:rPr>
                <a:t> de</a:t>
              </a:r>
            </a:p>
            <a:p>
              <a:pPr eaLnBrk="1" hangingPunct="1">
                <a:spcBef>
                  <a:spcPts val="0"/>
                </a:spcBef>
              </a:pPr>
              <a:r>
                <a:rPr lang="es-ES" sz="2400">
                  <a:solidFill>
                    <a:srgbClr val="3333FF"/>
                  </a:solidFill>
                  <a:sym typeface="Symbol" panose="05050102010706020507" pitchFamily="18" charset="2"/>
                </a:rPr>
                <a:t>   sus moléculas)</a:t>
              </a:r>
            </a:p>
          </p:txBody>
        </p:sp>
      </p:grpSp>
      <p:grpSp>
        <p:nvGrpSpPr>
          <p:cNvPr id="16384" name="Group 158"/>
          <p:cNvGrpSpPr>
            <a:grpSpLocks/>
          </p:cNvGrpSpPr>
          <p:nvPr/>
        </p:nvGrpSpPr>
        <p:grpSpPr bwMode="auto">
          <a:xfrm>
            <a:off x="6235213" y="1838438"/>
            <a:ext cx="3881435" cy="749299"/>
            <a:chOff x="4453" y="2848"/>
            <a:chExt cx="2445" cy="472"/>
          </a:xfrm>
        </p:grpSpPr>
        <p:sp>
          <p:nvSpPr>
            <p:cNvPr id="17439" name="Text Box 38"/>
            <p:cNvSpPr txBox="1">
              <a:spLocks noChangeArrowheads="1"/>
            </p:cNvSpPr>
            <p:nvPr/>
          </p:nvSpPr>
          <p:spPr bwMode="auto">
            <a:xfrm>
              <a:off x="5088" y="2848"/>
              <a:ext cx="135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b="1">
                  <a:solidFill>
                    <a:srgbClr val="FF0000"/>
                  </a:solidFill>
                </a:rPr>
                <a:t>DISOCIANDO</a:t>
              </a:r>
            </a:p>
          </p:txBody>
        </p:sp>
        <p:sp>
          <p:nvSpPr>
            <p:cNvPr id="17440" name="Text Box 140"/>
            <p:cNvSpPr txBox="1">
              <a:spLocks noChangeArrowheads="1"/>
            </p:cNvSpPr>
            <p:nvPr/>
          </p:nvSpPr>
          <p:spPr bwMode="auto">
            <a:xfrm>
              <a:off x="4453" y="3028"/>
              <a:ext cx="2445"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rgbClr val="3333FF"/>
                  </a:solidFill>
                </a:rPr>
                <a:t>(rompiendo sus moléculas</a:t>
              </a:r>
              <a:r>
                <a:rPr lang="es-ES" sz="2400" dirty="0">
                  <a:solidFill>
                    <a:srgbClr val="3333FF"/>
                  </a:solidFill>
                  <a:sym typeface="Symbol" panose="05050102010706020507" pitchFamily="18" charset="2"/>
                </a:rPr>
                <a:t>)</a:t>
              </a:r>
            </a:p>
          </p:txBody>
        </p:sp>
      </p:grpSp>
      <p:sp>
        <p:nvSpPr>
          <p:cNvPr id="17437" name="Text Box 40"/>
          <p:cNvSpPr txBox="1">
            <a:spLocks noChangeArrowheads="1"/>
          </p:cNvSpPr>
          <p:nvPr/>
        </p:nvSpPr>
        <p:spPr bwMode="auto">
          <a:xfrm>
            <a:off x="7922968" y="3605653"/>
            <a:ext cx="1978026" cy="514351"/>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b="1"/>
              <a:t>HIDRÓLISIS</a:t>
            </a:r>
          </a:p>
        </p:txBody>
      </p:sp>
      <p:sp>
        <p:nvSpPr>
          <p:cNvPr id="17438" name="Text Box 162"/>
          <p:cNvSpPr txBox="1">
            <a:spLocks noChangeArrowheads="1"/>
          </p:cNvSpPr>
          <p:nvPr/>
        </p:nvSpPr>
        <p:spPr bwMode="auto">
          <a:xfrm>
            <a:off x="6138931" y="2734727"/>
            <a:ext cx="3960814"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pPr>
            <a:r>
              <a:rPr lang="es-ES" sz="2400" dirty="0">
                <a:solidFill>
                  <a:schemeClr val="tx1"/>
                </a:solidFill>
              </a:rPr>
              <a:t>Si se usa agua, el proceso, que veremos </a:t>
            </a:r>
            <a:r>
              <a:rPr lang="es-ES" sz="2400">
                <a:solidFill>
                  <a:schemeClr val="tx1"/>
                </a:solidFill>
              </a:rPr>
              <a:t>más adelante, se llama</a:t>
            </a:r>
            <a:r>
              <a:rPr lang="es-ES" sz="2400" dirty="0">
                <a:solidFill>
                  <a:schemeClr val="tx1"/>
                </a:solidFill>
              </a:rPr>
              <a:t>:</a:t>
            </a:r>
          </a:p>
        </p:txBody>
      </p:sp>
      <p:sp>
        <p:nvSpPr>
          <p:cNvPr id="17435" name="Text Box 39"/>
          <p:cNvSpPr txBox="1">
            <a:spLocks noChangeArrowheads="1"/>
          </p:cNvSpPr>
          <p:nvPr/>
        </p:nvSpPr>
        <p:spPr bwMode="auto">
          <a:xfrm>
            <a:off x="6873820" y="5538490"/>
            <a:ext cx="2514603" cy="463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dirty="0"/>
              <a:t>H</a:t>
            </a:r>
            <a:r>
              <a:rPr lang="es-ES" sz="2400" baseline="-25000" dirty="0"/>
              <a:t>2</a:t>
            </a:r>
            <a:r>
              <a:rPr lang="es-ES" sz="2400" dirty="0"/>
              <a:t>O </a:t>
            </a:r>
            <a:r>
              <a:rPr lang="es-ES" sz="2400" dirty="0">
                <a:sym typeface="Symbol" panose="05050102010706020507" pitchFamily="18" charset="2"/>
              </a:rPr>
              <a:t> </a:t>
            </a:r>
            <a:r>
              <a:rPr lang="es-ES" sz="2400" dirty="0"/>
              <a:t>H</a:t>
            </a:r>
            <a:r>
              <a:rPr lang="es-ES" sz="2400" baseline="30000" dirty="0"/>
              <a:t>+</a:t>
            </a:r>
            <a:r>
              <a:rPr lang="es-ES" sz="2400" dirty="0"/>
              <a:t> + OH</a:t>
            </a:r>
            <a:r>
              <a:rPr lang="es-ES" sz="2400" baseline="30000" dirty="0">
                <a:sym typeface="Symbol" panose="05050102010706020507" pitchFamily="18" charset="2"/>
              </a:rPr>
              <a:t></a:t>
            </a:r>
          </a:p>
        </p:txBody>
      </p:sp>
      <p:sp>
        <p:nvSpPr>
          <p:cNvPr id="2" name="Text Box 163"/>
          <p:cNvSpPr txBox="1">
            <a:spLocks noChangeArrowheads="1"/>
          </p:cNvSpPr>
          <p:nvPr/>
        </p:nvSpPr>
        <p:spPr bwMode="auto">
          <a:xfrm>
            <a:off x="6167382" y="4326917"/>
            <a:ext cx="4067180" cy="833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pPr>
            <a:r>
              <a:rPr lang="es-ES" sz="2400" dirty="0">
                <a:solidFill>
                  <a:schemeClr val="tx1"/>
                </a:solidFill>
              </a:rPr>
              <a:t>Y el agua puede romper,</a:t>
            </a:r>
          </a:p>
          <a:p>
            <a:pPr eaLnBrk="1" hangingPunct="1">
              <a:spcBef>
                <a:spcPts val="0"/>
              </a:spcBef>
            </a:pPr>
            <a:r>
              <a:rPr lang="es-ES" sz="2400" dirty="0">
                <a:solidFill>
                  <a:schemeClr val="tx1"/>
                </a:solidFill>
              </a:rPr>
              <a:t>p.ej., sus propias moléculas:</a:t>
            </a:r>
          </a:p>
        </p:txBody>
      </p:sp>
      <p:sp>
        <p:nvSpPr>
          <p:cNvPr id="17433" name="Text Box 37"/>
          <p:cNvSpPr txBox="1">
            <a:spLocks noChangeArrowheads="1"/>
          </p:cNvSpPr>
          <p:nvPr/>
        </p:nvSpPr>
        <p:spPr bwMode="auto">
          <a:xfrm>
            <a:off x="3497431" y="3604647"/>
            <a:ext cx="1517651" cy="514350"/>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b="1"/>
              <a:t>PLASMA</a:t>
            </a:r>
          </a:p>
        </p:txBody>
      </p:sp>
      <p:sp>
        <p:nvSpPr>
          <p:cNvPr id="17434" name="Text Box 168"/>
          <p:cNvSpPr txBox="1">
            <a:spLocks noChangeArrowheads="1"/>
          </p:cNvSpPr>
          <p:nvPr/>
        </p:nvSpPr>
        <p:spPr bwMode="auto">
          <a:xfrm>
            <a:off x="1095898" y="3047737"/>
            <a:ext cx="4108454"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pPr>
            <a:r>
              <a:rPr lang="es-ES" sz="2400" dirty="0">
                <a:solidFill>
                  <a:schemeClr val="tx1"/>
                </a:solidFill>
              </a:rPr>
              <a:t>Se crea un </a:t>
            </a:r>
            <a:r>
              <a:rPr lang="es-ES" sz="2400">
                <a:solidFill>
                  <a:schemeClr val="tx1"/>
                </a:solidFill>
              </a:rPr>
              <a:t>gas ionizado</a:t>
            </a:r>
            <a:endParaRPr lang="es-ES" sz="2400" dirty="0">
              <a:solidFill>
                <a:schemeClr val="tx1"/>
              </a:solidFill>
            </a:endParaRPr>
          </a:p>
          <a:p>
            <a:pPr eaLnBrk="1" hangingPunct="1">
              <a:spcBef>
                <a:spcPts val="0"/>
              </a:spcBef>
            </a:pPr>
            <a:r>
              <a:rPr lang="es-ES" sz="2400">
                <a:solidFill>
                  <a:schemeClr val="tx1"/>
                </a:solidFill>
              </a:rPr>
              <a:t>denominado:</a:t>
            </a:r>
            <a:endParaRPr lang="es-ES" sz="2400" dirty="0">
              <a:solidFill>
                <a:schemeClr val="tx1"/>
              </a:solidFill>
            </a:endParaRPr>
          </a:p>
        </p:txBody>
      </p:sp>
      <p:sp>
        <p:nvSpPr>
          <p:cNvPr id="17431" name="Text Box 36"/>
          <p:cNvSpPr txBox="1">
            <a:spLocks noChangeArrowheads="1"/>
          </p:cNvSpPr>
          <p:nvPr/>
        </p:nvSpPr>
        <p:spPr bwMode="auto">
          <a:xfrm>
            <a:off x="2453803" y="5539775"/>
            <a:ext cx="2006600" cy="463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t>Ar </a:t>
            </a:r>
            <a:r>
              <a:rPr lang="es-ES" sz="2400">
                <a:sym typeface="Symbol" panose="05050102010706020507" pitchFamily="18" charset="2"/>
              </a:rPr>
              <a:t> </a:t>
            </a:r>
            <a:r>
              <a:rPr lang="es-ES" sz="2400"/>
              <a:t>Ar</a:t>
            </a:r>
            <a:r>
              <a:rPr lang="es-ES" sz="2400" baseline="30000"/>
              <a:t>+</a:t>
            </a:r>
            <a:r>
              <a:rPr lang="es-ES" sz="2400"/>
              <a:t> + e</a:t>
            </a:r>
            <a:r>
              <a:rPr lang="es-ES" sz="2400" baseline="30000">
                <a:sym typeface="Symbol" panose="05050102010706020507" pitchFamily="18" charset="2"/>
              </a:rPr>
              <a:t></a:t>
            </a:r>
          </a:p>
        </p:txBody>
      </p:sp>
      <p:sp>
        <p:nvSpPr>
          <p:cNvPr id="17432" name="Text Box 139"/>
          <p:cNvSpPr txBox="1">
            <a:spLocks noChangeArrowheads="1"/>
          </p:cNvSpPr>
          <p:nvPr/>
        </p:nvSpPr>
        <p:spPr bwMode="auto">
          <a:xfrm>
            <a:off x="1375890" y="4330097"/>
            <a:ext cx="4211638" cy="120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dirty="0">
                <a:solidFill>
                  <a:schemeClr val="tx1"/>
                </a:solidFill>
              </a:rPr>
              <a:t>P.ej.: En un tubo </a:t>
            </a:r>
            <a:r>
              <a:rPr lang="es-ES" sz="2400">
                <a:solidFill>
                  <a:schemeClr val="tx1"/>
                </a:solidFill>
              </a:rPr>
              <a:t>fluorescente al aplicar </a:t>
            </a:r>
            <a:r>
              <a:rPr lang="es-ES" sz="2400" dirty="0">
                <a:solidFill>
                  <a:schemeClr val="tx1"/>
                </a:solidFill>
              </a:rPr>
              <a:t>un </a:t>
            </a:r>
            <a:r>
              <a:rPr lang="es-ES" sz="2400" b="1" dirty="0">
                <a:solidFill>
                  <a:schemeClr val="tx1"/>
                </a:solidFill>
              </a:rPr>
              <a:t>E </a:t>
            </a:r>
            <a:r>
              <a:rPr lang="es-ES" sz="2400">
                <a:solidFill>
                  <a:schemeClr val="tx1"/>
                </a:solidFill>
              </a:rPr>
              <a:t>que ejerza sobre un e</a:t>
            </a:r>
            <a:r>
              <a:rPr lang="es-ES" sz="2400" baseline="30000">
                <a:solidFill>
                  <a:schemeClr val="tx1"/>
                </a:solidFill>
              </a:rPr>
              <a:t>-</a:t>
            </a:r>
            <a:r>
              <a:rPr lang="es-ES" sz="2400">
                <a:solidFill>
                  <a:schemeClr val="tx1"/>
                </a:solidFill>
              </a:rPr>
              <a:t> de Ar una </a:t>
            </a:r>
            <a:r>
              <a:rPr lang="es-ES" sz="2400" b="1" dirty="0">
                <a:solidFill>
                  <a:schemeClr val="tx1"/>
                </a:solidFill>
              </a:rPr>
              <a:t>F</a:t>
            </a:r>
            <a:r>
              <a:rPr lang="es-ES" sz="2400" dirty="0">
                <a:solidFill>
                  <a:schemeClr val="tx1"/>
                </a:solidFill>
              </a:rPr>
              <a:t> = -</a:t>
            </a:r>
            <a:r>
              <a:rPr lang="es-ES" sz="2400" dirty="0" err="1">
                <a:solidFill>
                  <a:schemeClr val="tx1"/>
                </a:solidFill>
              </a:rPr>
              <a:t>e</a:t>
            </a:r>
            <a:r>
              <a:rPr lang="es-ES" sz="2400" b="1" dirty="0" err="1">
                <a:solidFill>
                  <a:schemeClr val="tx1"/>
                </a:solidFill>
              </a:rPr>
              <a:t>E</a:t>
            </a:r>
            <a:endParaRPr lang="es-ES" sz="2400" b="1" dirty="0">
              <a:solidFill>
                <a:schemeClr val="tx1"/>
              </a:solidFill>
            </a:endParaRPr>
          </a:p>
        </p:txBody>
      </p:sp>
      <p:sp>
        <p:nvSpPr>
          <p:cNvPr id="3" name="CuadroTexto 2"/>
          <p:cNvSpPr txBox="1"/>
          <p:nvPr/>
        </p:nvSpPr>
        <p:spPr>
          <a:xfrm>
            <a:off x="6204389" y="6196565"/>
            <a:ext cx="4067180" cy="514738"/>
          </a:xfrm>
          <a:prstGeom prst="rect">
            <a:avLst/>
          </a:prstGeom>
          <a:solidFill>
            <a:schemeClr val="accent1">
              <a:lumMod val="60000"/>
              <a:lumOff val="40000"/>
            </a:schemeClr>
          </a:solidFill>
        </p:spPr>
        <p:txBody>
          <a:bodyPr wrap="square" lIns="72000" tIns="72000" rIns="72000" bIns="72000" rtlCol="0" anchor="ctr" anchorCtr="1">
            <a:spAutoFit/>
          </a:bodyPr>
          <a:lstStyle/>
          <a:p>
            <a:r>
              <a:rPr lang="es-ES" sz="2400">
                <a:solidFill>
                  <a:schemeClr val="tx1"/>
                </a:solidFill>
              </a:rPr>
              <a:t>El agua se hace conductora</a:t>
            </a:r>
            <a:endParaRPr lang="en-GB" sz="2400">
              <a:solidFill>
                <a:schemeClr val="tx1"/>
              </a:solidFill>
            </a:endParaRPr>
          </a:p>
        </p:txBody>
      </p:sp>
      <p:sp>
        <p:nvSpPr>
          <p:cNvPr id="25" name="Text Box 30"/>
          <p:cNvSpPr txBox="1">
            <a:spLocks noChangeArrowheads="1"/>
          </p:cNvSpPr>
          <p:nvPr/>
        </p:nvSpPr>
        <p:spPr bwMode="auto">
          <a:xfrm>
            <a:off x="2476256" y="1173892"/>
            <a:ext cx="1868486" cy="514354"/>
          </a:xfrm>
          <a:prstGeom prst="rect">
            <a:avLst/>
          </a:prstGeom>
          <a:solidFill>
            <a:srgbClr val="99CCFF"/>
          </a:solidFill>
          <a:ln>
            <a:noFill/>
          </a:ln>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GASES</a:t>
            </a:r>
          </a:p>
        </p:txBody>
      </p:sp>
      <p:sp>
        <p:nvSpPr>
          <p:cNvPr id="26" name="Text Box 29"/>
          <p:cNvSpPr txBox="1">
            <a:spLocks noChangeArrowheads="1"/>
          </p:cNvSpPr>
          <p:nvPr/>
        </p:nvSpPr>
        <p:spPr bwMode="auto">
          <a:xfrm>
            <a:off x="7248037" y="1168017"/>
            <a:ext cx="1855786" cy="514354"/>
          </a:xfrm>
          <a:prstGeom prst="rect">
            <a:avLst/>
          </a:prstGeom>
          <a:solidFill>
            <a:schemeClr val="accent1">
              <a:lumMod val="60000"/>
              <a:lumOff val="40000"/>
            </a:schemeClr>
          </a:solidFill>
          <a:ln>
            <a:noFill/>
          </a:ln>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defRPr/>
            </a:pPr>
            <a:r>
              <a:rPr lang="es-ES" sz="2400"/>
              <a:t>LÍQUIDOS</a:t>
            </a:r>
          </a:p>
        </p:txBody>
      </p:sp>
      <p:sp>
        <p:nvSpPr>
          <p:cNvPr id="27" name="CuadroTexto 26"/>
          <p:cNvSpPr txBox="1"/>
          <p:nvPr/>
        </p:nvSpPr>
        <p:spPr>
          <a:xfrm>
            <a:off x="1449208" y="6190036"/>
            <a:ext cx="3879875" cy="514738"/>
          </a:xfrm>
          <a:prstGeom prst="rect">
            <a:avLst/>
          </a:prstGeom>
          <a:solidFill>
            <a:srgbClr val="99CCFF"/>
          </a:solidFill>
        </p:spPr>
        <p:txBody>
          <a:bodyPr wrap="square" lIns="72000" tIns="72000" rIns="72000" bIns="72000" rtlCol="0" anchor="ctr" anchorCtr="1">
            <a:spAutoFit/>
          </a:bodyPr>
          <a:lstStyle/>
          <a:p>
            <a:r>
              <a:rPr lang="es-ES" sz="2400">
                <a:solidFill>
                  <a:schemeClr val="tx1"/>
                </a:solidFill>
              </a:rPr>
              <a:t>Los e</a:t>
            </a:r>
            <a:r>
              <a:rPr lang="es-ES" sz="2400" baseline="30000">
                <a:solidFill>
                  <a:schemeClr val="tx1"/>
                </a:solidFill>
              </a:rPr>
              <a:t>-</a:t>
            </a:r>
            <a:r>
              <a:rPr lang="es-ES" sz="2400">
                <a:solidFill>
                  <a:schemeClr val="tx1"/>
                </a:solidFill>
              </a:rPr>
              <a:t> serían como aniones</a:t>
            </a:r>
            <a:endParaRPr lang="en-GB" sz="2400">
              <a:solidFill>
                <a:schemeClr val="tx1"/>
              </a:solidFill>
            </a:endParaRPr>
          </a:p>
        </p:txBody>
      </p:sp>
    </p:spTree>
    <p:extLst>
      <p:ext uri="{BB962C8B-B14F-4D97-AF65-F5344CB8AC3E}">
        <p14:creationId xmlns:p14="http://schemas.microsoft.com/office/powerpoint/2010/main" val="3103238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46811"/>
                                        </p:tgtEl>
                                        <p:attrNameLst>
                                          <p:attrName>style.visibility</p:attrName>
                                        </p:attrNameLst>
                                      </p:cBhvr>
                                      <p:to>
                                        <p:strVal val="visible"/>
                                      </p:to>
                                    </p:set>
                                    <p:animEffect transition="in" filter="wipe(up)">
                                      <p:cBhvr>
                                        <p:cTn id="7" dur="500"/>
                                        <p:tgtEl>
                                          <p:spTgt spid="24681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up)">
                                      <p:cBhvr>
                                        <p:cTn id="14" dur="500"/>
                                        <p:tgtEl>
                                          <p:spTgt spid="26"/>
                                        </p:tgtEl>
                                      </p:cBhvr>
                                    </p:animEffect>
                                  </p:childTnLst>
                                </p:cTn>
                              </p:par>
                            </p:childTnLst>
                          </p:cTn>
                        </p:par>
                        <p:par>
                          <p:cTn id="15" fill="hold">
                            <p:stCondLst>
                              <p:cond delay="1000"/>
                            </p:stCondLst>
                            <p:childTnLst>
                              <p:par>
                                <p:cTn id="16" presetID="9" presetClass="entr" presetSubtype="0" fill="hold" grpId="0" nodeType="afterEffect">
                                  <p:stCondLst>
                                    <p:cond delay="0"/>
                                  </p:stCondLst>
                                  <p:childTnLst>
                                    <p:set>
                                      <p:cBhvr>
                                        <p:cTn id="17" dur="1" fill="hold">
                                          <p:stCondLst>
                                            <p:cond delay="0"/>
                                          </p:stCondLst>
                                        </p:cTn>
                                        <p:tgtEl>
                                          <p:spTgt spid="246787"/>
                                        </p:tgtEl>
                                        <p:attrNameLst>
                                          <p:attrName>style.visibility</p:attrName>
                                        </p:attrNameLst>
                                      </p:cBhvr>
                                      <p:to>
                                        <p:strVal val="visible"/>
                                      </p:to>
                                    </p:set>
                                    <p:animEffect transition="in" filter="dissolve">
                                      <p:cBhvr>
                                        <p:cTn id="18" dur="500"/>
                                        <p:tgtEl>
                                          <p:spTgt spid="246787"/>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46786"/>
                                        </p:tgtEl>
                                        <p:attrNameLst>
                                          <p:attrName>style.visibility</p:attrName>
                                        </p:attrNameLst>
                                      </p:cBhvr>
                                      <p:to>
                                        <p:strVal val="visible"/>
                                      </p:to>
                                    </p:set>
                                    <p:animEffect transition="in" filter="dissolve">
                                      <p:cBhvr>
                                        <p:cTn id="21" dur="500"/>
                                        <p:tgtEl>
                                          <p:spTgt spid="24678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up)">
                                      <p:cBhvr>
                                        <p:cTn id="26" dur="500"/>
                                        <p:tgtEl>
                                          <p:spTgt spid="2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7434"/>
                                        </p:tgtEl>
                                        <p:attrNameLst>
                                          <p:attrName>style.visibility</p:attrName>
                                        </p:attrNameLst>
                                      </p:cBhvr>
                                      <p:to>
                                        <p:strVal val="visible"/>
                                      </p:to>
                                    </p:set>
                                    <p:animEffect transition="in" filter="wipe(up)">
                                      <p:cBhvr>
                                        <p:cTn id="31" dur="500"/>
                                        <p:tgtEl>
                                          <p:spTgt spid="17434"/>
                                        </p:tgtEl>
                                      </p:cBhvr>
                                    </p:animEffect>
                                  </p:childTnLst>
                                </p:cTn>
                              </p:par>
                            </p:childTnLst>
                          </p:cTn>
                        </p:par>
                        <p:par>
                          <p:cTn id="32" fill="hold">
                            <p:stCondLst>
                              <p:cond delay="500"/>
                            </p:stCondLst>
                            <p:childTnLst>
                              <p:par>
                                <p:cTn id="33" presetID="23" presetClass="entr" presetSubtype="272" fill="hold" grpId="0" nodeType="afterEffect">
                                  <p:stCondLst>
                                    <p:cond delay="0"/>
                                  </p:stCondLst>
                                  <p:childTnLst>
                                    <p:set>
                                      <p:cBhvr>
                                        <p:cTn id="34" dur="1" fill="hold">
                                          <p:stCondLst>
                                            <p:cond delay="0"/>
                                          </p:stCondLst>
                                        </p:cTn>
                                        <p:tgtEl>
                                          <p:spTgt spid="17433"/>
                                        </p:tgtEl>
                                        <p:attrNameLst>
                                          <p:attrName>style.visibility</p:attrName>
                                        </p:attrNameLst>
                                      </p:cBhvr>
                                      <p:to>
                                        <p:strVal val="visible"/>
                                      </p:to>
                                    </p:set>
                                    <p:anim calcmode="lin" valueType="num">
                                      <p:cBhvr>
                                        <p:cTn id="35" dur="500" fill="hold"/>
                                        <p:tgtEl>
                                          <p:spTgt spid="17433"/>
                                        </p:tgtEl>
                                        <p:attrNameLst>
                                          <p:attrName>ppt_w</p:attrName>
                                        </p:attrNameLst>
                                      </p:cBhvr>
                                      <p:tavLst>
                                        <p:tav tm="0">
                                          <p:val>
                                            <p:strVal val="2/3*#ppt_w"/>
                                          </p:val>
                                        </p:tav>
                                        <p:tav tm="100000">
                                          <p:val>
                                            <p:strVal val="#ppt_w"/>
                                          </p:val>
                                        </p:tav>
                                      </p:tavLst>
                                    </p:anim>
                                    <p:anim calcmode="lin" valueType="num">
                                      <p:cBhvr>
                                        <p:cTn id="36" dur="500" fill="hold"/>
                                        <p:tgtEl>
                                          <p:spTgt spid="17433"/>
                                        </p:tgtEl>
                                        <p:attrNameLst>
                                          <p:attrName>ppt_h</p:attrName>
                                        </p:attrNameLst>
                                      </p:cBhvr>
                                      <p:tavLst>
                                        <p:tav tm="0">
                                          <p:val>
                                            <p:strVal val="2/3*#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7432"/>
                                        </p:tgtEl>
                                        <p:attrNameLst>
                                          <p:attrName>style.visibility</p:attrName>
                                        </p:attrNameLst>
                                      </p:cBhvr>
                                      <p:to>
                                        <p:strVal val="visible"/>
                                      </p:to>
                                    </p:set>
                                    <p:animEffect transition="in" filter="wipe(up)">
                                      <p:cBhvr>
                                        <p:cTn id="41" dur="500"/>
                                        <p:tgtEl>
                                          <p:spTgt spid="1743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7431"/>
                                        </p:tgtEl>
                                        <p:attrNameLst>
                                          <p:attrName>style.visibility</p:attrName>
                                        </p:attrNameLst>
                                      </p:cBhvr>
                                      <p:to>
                                        <p:strVal val="visible"/>
                                      </p:to>
                                    </p:set>
                                    <p:animEffect transition="in" filter="wipe(left)">
                                      <p:cBhvr>
                                        <p:cTn id="46" dur="500"/>
                                        <p:tgtEl>
                                          <p:spTgt spid="17431"/>
                                        </p:tgtEl>
                                      </p:cBhvr>
                                    </p:animEffect>
                                  </p:childTnLst>
                                </p:cTn>
                              </p:par>
                            </p:childTnLst>
                          </p:cTn>
                        </p:par>
                        <p:par>
                          <p:cTn id="47" fill="hold">
                            <p:stCondLst>
                              <p:cond delay="500"/>
                            </p:stCondLst>
                            <p:childTnLst>
                              <p:par>
                                <p:cTn id="48" presetID="12" presetClass="entr" presetSubtype="1" fill="hold" grpId="0" nodeType="afterEffect">
                                  <p:stCondLst>
                                    <p:cond delay="0"/>
                                  </p:stCondLst>
                                  <p:childTnLst>
                                    <p:set>
                                      <p:cBhvr>
                                        <p:cTn id="49" dur="1" fill="hold">
                                          <p:stCondLst>
                                            <p:cond delay="0"/>
                                          </p:stCondLst>
                                        </p:cTn>
                                        <p:tgtEl>
                                          <p:spTgt spid="27"/>
                                        </p:tgtEl>
                                        <p:attrNameLst>
                                          <p:attrName>style.visibility</p:attrName>
                                        </p:attrNameLst>
                                      </p:cBhvr>
                                      <p:to>
                                        <p:strVal val="visible"/>
                                      </p:to>
                                    </p:set>
                                    <p:anim calcmode="lin" valueType="num">
                                      <p:cBhvr additive="base">
                                        <p:cTn id="50" dur="500"/>
                                        <p:tgtEl>
                                          <p:spTgt spid="27"/>
                                        </p:tgtEl>
                                        <p:attrNameLst>
                                          <p:attrName>ppt_y</p:attrName>
                                        </p:attrNameLst>
                                      </p:cBhvr>
                                      <p:tavLst>
                                        <p:tav tm="0">
                                          <p:val>
                                            <p:strVal val="#ppt_y-#ppt_h*1.125000"/>
                                          </p:val>
                                        </p:tav>
                                        <p:tav tm="100000">
                                          <p:val>
                                            <p:strVal val="#ppt_y"/>
                                          </p:val>
                                        </p:tav>
                                      </p:tavLst>
                                    </p:anim>
                                    <p:animEffect transition="in" filter="wipe(down)">
                                      <p:cBhvr>
                                        <p:cTn id="51" dur="500"/>
                                        <p:tgtEl>
                                          <p:spTgt spid="2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16384"/>
                                        </p:tgtEl>
                                        <p:attrNameLst>
                                          <p:attrName>style.visibility</p:attrName>
                                        </p:attrNameLst>
                                      </p:cBhvr>
                                      <p:to>
                                        <p:strVal val="visible"/>
                                      </p:to>
                                    </p:set>
                                    <p:animEffect transition="in" filter="wipe(up)">
                                      <p:cBhvr>
                                        <p:cTn id="56" dur="500"/>
                                        <p:tgtEl>
                                          <p:spTgt spid="1638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17438"/>
                                        </p:tgtEl>
                                        <p:attrNameLst>
                                          <p:attrName>style.visibility</p:attrName>
                                        </p:attrNameLst>
                                      </p:cBhvr>
                                      <p:to>
                                        <p:strVal val="visible"/>
                                      </p:to>
                                    </p:set>
                                    <p:animEffect transition="in" filter="wipe(up)">
                                      <p:cBhvr>
                                        <p:cTn id="61" dur="500"/>
                                        <p:tgtEl>
                                          <p:spTgt spid="17438"/>
                                        </p:tgtEl>
                                      </p:cBhvr>
                                    </p:animEffect>
                                  </p:childTnLst>
                                </p:cTn>
                              </p:par>
                            </p:childTnLst>
                          </p:cTn>
                        </p:par>
                        <p:par>
                          <p:cTn id="62" fill="hold">
                            <p:stCondLst>
                              <p:cond delay="500"/>
                            </p:stCondLst>
                            <p:childTnLst>
                              <p:par>
                                <p:cTn id="63" presetID="23" presetClass="entr" presetSubtype="272" fill="hold" grpId="0" nodeType="afterEffect">
                                  <p:stCondLst>
                                    <p:cond delay="0"/>
                                  </p:stCondLst>
                                  <p:childTnLst>
                                    <p:set>
                                      <p:cBhvr>
                                        <p:cTn id="64" dur="1" fill="hold">
                                          <p:stCondLst>
                                            <p:cond delay="0"/>
                                          </p:stCondLst>
                                        </p:cTn>
                                        <p:tgtEl>
                                          <p:spTgt spid="17437"/>
                                        </p:tgtEl>
                                        <p:attrNameLst>
                                          <p:attrName>style.visibility</p:attrName>
                                        </p:attrNameLst>
                                      </p:cBhvr>
                                      <p:to>
                                        <p:strVal val="visible"/>
                                      </p:to>
                                    </p:set>
                                    <p:anim calcmode="lin" valueType="num">
                                      <p:cBhvr>
                                        <p:cTn id="65" dur="500" fill="hold"/>
                                        <p:tgtEl>
                                          <p:spTgt spid="17437"/>
                                        </p:tgtEl>
                                        <p:attrNameLst>
                                          <p:attrName>ppt_w</p:attrName>
                                        </p:attrNameLst>
                                      </p:cBhvr>
                                      <p:tavLst>
                                        <p:tav tm="0">
                                          <p:val>
                                            <p:strVal val="2/3*#ppt_w"/>
                                          </p:val>
                                        </p:tav>
                                        <p:tav tm="100000">
                                          <p:val>
                                            <p:strVal val="#ppt_w"/>
                                          </p:val>
                                        </p:tav>
                                      </p:tavLst>
                                    </p:anim>
                                    <p:anim calcmode="lin" valueType="num">
                                      <p:cBhvr>
                                        <p:cTn id="66" dur="500" fill="hold"/>
                                        <p:tgtEl>
                                          <p:spTgt spid="17437"/>
                                        </p:tgtEl>
                                        <p:attrNameLst>
                                          <p:attrName>ppt_h</p:attrName>
                                        </p:attrNameLst>
                                      </p:cBhvr>
                                      <p:tavLst>
                                        <p:tav tm="0">
                                          <p:val>
                                            <p:strVal val="2/3*#ppt_h"/>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2"/>
                                        </p:tgtEl>
                                        <p:attrNameLst>
                                          <p:attrName>style.visibility</p:attrName>
                                        </p:attrNameLst>
                                      </p:cBhvr>
                                      <p:to>
                                        <p:strVal val="visible"/>
                                      </p:to>
                                    </p:set>
                                    <p:animEffect transition="in" filter="wipe(up)">
                                      <p:cBhvr>
                                        <p:cTn id="71" dur="500"/>
                                        <p:tgtEl>
                                          <p:spTgt spid="2"/>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7435"/>
                                        </p:tgtEl>
                                        <p:attrNameLst>
                                          <p:attrName>style.visibility</p:attrName>
                                        </p:attrNameLst>
                                      </p:cBhvr>
                                      <p:to>
                                        <p:strVal val="visible"/>
                                      </p:to>
                                    </p:set>
                                    <p:animEffect transition="in" filter="wipe(left)">
                                      <p:cBhvr>
                                        <p:cTn id="76" dur="500"/>
                                        <p:tgtEl>
                                          <p:spTgt spid="17435"/>
                                        </p:tgtEl>
                                      </p:cBhvr>
                                    </p:animEffect>
                                  </p:childTnLst>
                                </p:cTn>
                              </p:par>
                            </p:childTnLst>
                          </p:cTn>
                        </p:par>
                      </p:childTnLst>
                    </p:cTn>
                  </p:par>
                  <p:par>
                    <p:cTn id="77" fill="hold">
                      <p:stCondLst>
                        <p:cond delay="indefinite"/>
                      </p:stCondLst>
                      <p:childTnLst>
                        <p:par>
                          <p:cTn id="78" fill="hold">
                            <p:stCondLst>
                              <p:cond delay="0"/>
                            </p:stCondLst>
                            <p:childTnLst>
                              <p:par>
                                <p:cTn id="79" presetID="12" presetClass="entr" presetSubtype="1" fill="hold" grpId="0" nodeType="clickEffect">
                                  <p:stCondLst>
                                    <p:cond delay="0"/>
                                  </p:stCondLst>
                                  <p:childTnLst>
                                    <p:set>
                                      <p:cBhvr>
                                        <p:cTn id="80" dur="1" fill="hold">
                                          <p:stCondLst>
                                            <p:cond delay="0"/>
                                          </p:stCondLst>
                                        </p:cTn>
                                        <p:tgtEl>
                                          <p:spTgt spid="3"/>
                                        </p:tgtEl>
                                        <p:attrNameLst>
                                          <p:attrName>style.visibility</p:attrName>
                                        </p:attrNameLst>
                                      </p:cBhvr>
                                      <p:to>
                                        <p:strVal val="visible"/>
                                      </p:to>
                                    </p:set>
                                    <p:anim calcmode="lin" valueType="num">
                                      <p:cBhvr additive="base">
                                        <p:cTn id="81" dur="500"/>
                                        <p:tgtEl>
                                          <p:spTgt spid="3"/>
                                        </p:tgtEl>
                                        <p:attrNameLst>
                                          <p:attrName>ppt_y</p:attrName>
                                        </p:attrNameLst>
                                      </p:cBhvr>
                                      <p:tavLst>
                                        <p:tav tm="0">
                                          <p:val>
                                            <p:strVal val="#ppt_y-#ppt_h*1.125000"/>
                                          </p:val>
                                        </p:tav>
                                        <p:tav tm="100000">
                                          <p:val>
                                            <p:strVal val="#ppt_y"/>
                                          </p:val>
                                        </p:tav>
                                      </p:tavLst>
                                    </p:anim>
                                    <p:animEffect transition="in" filter="wipe(down)">
                                      <p:cBhvr>
                                        <p:cTn id="8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6" grpId="0" animBg="1"/>
      <p:bldP spid="246787" grpId="0" animBg="1"/>
      <p:bldP spid="246811" grpId="0" animBg="1"/>
      <p:bldP spid="17437" grpId="0" animBg="1"/>
      <p:bldP spid="17438" grpId="0"/>
      <p:bldP spid="17435" grpId="0"/>
      <p:bldP spid="2" grpId="0"/>
      <p:bldP spid="17433" grpId="0" animBg="1"/>
      <p:bldP spid="17434" grpId="0"/>
      <p:bldP spid="17431" grpId="0"/>
      <p:bldP spid="17432" grpId="0"/>
      <p:bldP spid="3" grpId="0" animBg="1"/>
      <p:bldP spid="25" grpId="0" animBg="1"/>
      <p:bldP spid="26" grpId="0" animBg="1"/>
      <p:bldP spid="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77756403-D8A6-43B2-BEB7-A620A1DB5202}"/>
              </a:ext>
            </a:extLst>
          </p:cNvPr>
          <p:cNvGrpSpPr/>
          <p:nvPr/>
        </p:nvGrpSpPr>
        <p:grpSpPr>
          <a:xfrm>
            <a:off x="1789113" y="2134977"/>
            <a:ext cx="6423025" cy="2179638"/>
            <a:chOff x="1789113" y="2134977"/>
            <a:chExt cx="6423025" cy="2179638"/>
          </a:xfrm>
        </p:grpSpPr>
        <p:sp>
          <p:nvSpPr>
            <p:cNvPr id="251915" name="Oval 11"/>
            <p:cNvSpPr>
              <a:spLocks noChangeArrowheads="1"/>
            </p:cNvSpPr>
            <p:nvPr/>
          </p:nvSpPr>
          <p:spPr bwMode="auto">
            <a:xfrm>
              <a:off x="5765800" y="2134977"/>
              <a:ext cx="2159000" cy="2159000"/>
            </a:xfrm>
            <a:prstGeom prst="ellipse">
              <a:avLst/>
            </a:prstGeom>
            <a:solidFill>
              <a:schemeClr val="accent1">
                <a:lumMod val="60000"/>
                <a:lumOff val="40000"/>
              </a:schemeClr>
            </a:solidFill>
            <a:ln w="57150" cmpd="thinThick" algn="ctr">
              <a:solidFill>
                <a:schemeClr val="tx1"/>
              </a:solidFill>
              <a:round/>
              <a:headEnd/>
              <a:tailEnd/>
            </a:ln>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72757" name="Line 53"/>
            <p:cNvSpPr>
              <a:spLocks noChangeShapeType="1"/>
            </p:cNvSpPr>
            <p:nvPr/>
          </p:nvSpPr>
          <p:spPr bwMode="auto">
            <a:xfrm>
              <a:off x="1789113" y="4314615"/>
              <a:ext cx="64230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a:p>
          </p:txBody>
        </p:sp>
      </p:grpSp>
      <p:sp>
        <p:nvSpPr>
          <p:cNvPr id="19458" name="Rectangle 2"/>
          <p:cNvSpPr>
            <a:spLocks noChangeArrowheads="1"/>
          </p:cNvSpPr>
          <p:nvPr/>
        </p:nvSpPr>
        <p:spPr bwMode="auto">
          <a:xfrm>
            <a:off x="1269689" y="457201"/>
            <a:ext cx="6783387"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tabLst>
                <a:tab pos="196850" algn="r"/>
                <a:tab pos="2940050" algn="ctr"/>
                <a:tab pos="5880100" algn="r"/>
              </a:tabLst>
              <a:defRPr sz="2000">
                <a:solidFill>
                  <a:srgbClr val="000000"/>
                </a:solidFill>
                <a:latin typeface="Arial" panose="020B0604020202020204" pitchFamily="34" charset="0"/>
              </a:defRPr>
            </a:lvl1pPr>
            <a:lvl2pPr marL="742950" indent="-285750" defTabSz="995363">
              <a:tabLst>
                <a:tab pos="196850" algn="r"/>
                <a:tab pos="2940050" algn="ctr"/>
                <a:tab pos="5880100" algn="r"/>
              </a:tabLst>
              <a:defRPr sz="2000">
                <a:solidFill>
                  <a:srgbClr val="000000"/>
                </a:solidFill>
                <a:latin typeface="Arial" panose="020B0604020202020204" pitchFamily="34" charset="0"/>
              </a:defRPr>
            </a:lvl2pPr>
            <a:lvl3pPr marL="1143000" indent="-228600" defTabSz="995363">
              <a:tabLst>
                <a:tab pos="196850" algn="r"/>
                <a:tab pos="2940050" algn="ctr"/>
                <a:tab pos="5880100" algn="r"/>
              </a:tabLst>
              <a:defRPr sz="2000">
                <a:solidFill>
                  <a:srgbClr val="000000"/>
                </a:solidFill>
                <a:latin typeface="Arial" panose="020B0604020202020204" pitchFamily="34" charset="0"/>
              </a:defRPr>
            </a:lvl3pPr>
            <a:lvl4pPr marL="1600200" indent="-228600" defTabSz="995363">
              <a:tabLst>
                <a:tab pos="196850" algn="r"/>
                <a:tab pos="2940050" algn="ctr"/>
                <a:tab pos="5880100" algn="r"/>
              </a:tabLst>
              <a:defRPr sz="2000">
                <a:solidFill>
                  <a:srgbClr val="000000"/>
                </a:solidFill>
                <a:latin typeface="Arial" panose="020B0604020202020204" pitchFamily="34" charset="0"/>
              </a:defRPr>
            </a:lvl4pPr>
            <a:lvl5pPr marL="2057400" indent="-228600" defTabSz="995363">
              <a:tabLst>
                <a:tab pos="196850" algn="r"/>
                <a:tab pos="2940050" algn="ctr"/>
                <a:tab pos="5880100" algn="r"/>
              </a:tabLst>
              <a:defRPr sz="2000">
                <a:solidFill>
                  <a:srgbClr val="000000"/>
                </a:solidFill>
                <a:latin typeface="Arial" panose="020B0604020202020204" pitchFamily="34" charset="0"/>
              </a:defRPr>
            </a:lvl5pPr>
            <a:lvl6pPr marL="25146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6pPr>
            <a:lvl7pPr marL="29718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7pPr>
            <a:lvl8pPr marL="34290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8pPr>
            <a:lvl9pPr marL="3886200" indent="-228600" defTabSz="995363" eaLnBrk="0" fontAlgn="base" hangingPunct="0">
              <a:spcBef>
                <a:spcPct val="0"/>
              </a:spcBef>
              <a:spcAft>
                <a:spcPct val="0"/>
              </a:spcAft>
              <a:tabLst>
                <a:tab pos="196850" algn="r"/>
                <a:tab pos="2940050" algn="ctr"/>
                <a:tab pos="5880100" algn="r"/>
              </a:tabLst>
              <a:defRPr sz="2000">
                <a:solidFill>
                  <a:srgbClr val="000000"/>
                </a:solidFill>
                <a:latin typeface="Arial" panose="020B0604020202020204" pitchFamily="34" charset="0"/>
              </a:defRPr>
            </a:lvl9pPr>
          </a:lstStyle>
          <a:p>
            <a:pPr eaLnBrk="1" hangingPunct="1"/>
            <a:r>
              <a:rPr lang="es-ES" sz="2400" b="1">
                <a:solidFill>
                  <a:srgbClr val="CC0000"/>
                </a:solidFill>
              </a:rPr>
              <a:t>1.4.2. CARGAS INDUCIDAS</a:t>
            </a:r>
          </a:p>
        </p:txBody>
      </p:sp>
      <p:grpSp>
        <p:nvGrpSpPr>
          <p:cNvPr id="2" name="Group 3"/>
          <p:cNvGrpSpPr>
            <a:grpSpLocks/>
          </p:cNvGrpSpPr>
          <p:nvPr/>
        </p:nvGrpSpPr>
        <p:grpSpPr bwMode="auto">
          <a:xfrm>
            <a:off x="1755775" y="2654090"/>
            <a:ext cx="2401888" cy="1108075"/>
            <a:chOff x="1337" y="3253"/>
            <a:chExt cx="1513" cy="698"/>
          </a:xfrm>
        </p:grpSpPr>
        <p:sp>
          <p:nvSpPr>
            <p:cNvPr id="19497" name="AutoShape 4"/>
            <p:cNvSpPr>
              <a:spLocks noChangeArrowheads="1"/>
            </p:cNvSpPr>
            <p:nvPr/>
          </p:nvSpPr>
          <p:spPr bwMode="auto">
            <a:xfrm rot="5400000">
              <a:off x="1895" y="2940"/>
              <a:ext cx="190" cy="1305"/>
            </a:xfrm>
            <a:prstGeom prst="can">
              <a:avLst>
                <a:gd name="adj" fmla="val 45599"/>
              </a:avLst>
            </a:prstGeom>
            <a:gradFill rotWithShape="1">
              <a:gsLst>
                <a:gs pos="0">
                  <a:srgbClr val="99CCFF"/>
                </a:gs>
                <a:gs pos="100000">
                  <a:srgbClr val="5E7676"/>
                </a:gs>
              </a:gsLst>
              <a:lin ang="0" scaled="1"/>
            </a:gradFill>
            <a:ln w="12700">
              <a:solidFill>
                <a:schemeClr val="tx1"/>
              </a:solidFill>
              <a:round/>
              <a:headEnd/>
              <a:tailEnd/>
            </a:ln>
          </p:spPr>
          <p:txBody>
            <a:bodyPr rot="10800000" vert="eaVert"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solidFill>
                  <a:srgbClr val="008000"/>
                </a:solidFill>
              </a:endParaRPr>
            </a:p>
          </p:txBody>
        </p:sp>
        <p:sp>
          <p:nvSpPr>
            <p:cNvPr id="19498" name="Text Box 5"/>
            <p:cNvSpPr txBox="1">
              <a:spLocks noChangeArrowheads="1"/>
            </p:cNvSpPr>
            <p:nvPr/>
          </p:nvSpPr>
          <p:spPr bwMode="auto">
            <a:xfrm>
              <a:off x="2457" y="3255"/>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99" name="Text Box 6"/>
            <p:cNvSpPr txBox="1">
              <a:spLocks noChangeArrowheads="1"/>
            </p:cNvSpPr>
            <p:nvPr/>
          </p:nvSpPr>
          <p:spPr bwMode="auto">
            <a:xfrm>
              <a:off x="2614" y="336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500" name="Text Box 7"/>
            <p:cNvSpPr txBox="1">
              <a:spLocks noChangeArrowheads="1"/>
            </p:cNvSpPr>
            <p:nvPr/>
          </p:nvSpPr>
          <p:spPr bwMode="auto">
            <a:xfrm>
              <a:off x="2449" y="365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501" name="Text Box 8"/>
            <p:cNvSpPr txBox="1">
              <a:spLocks noChangeArrowheads="1"/>
            </p:cNvSpPr>
            <p:nvPr/>
          </p:nvSpPr>
          <p:spPr bwMode="auto">
            <a:xfrm>
              <a:off x="2284" y="366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502" name="Text Box 9"/>
            <p:cNvSpPr txBox="1">
              <a:spLocks noChangeArrowheads="1"/>
            </p:cNvSpPr>
            <p:nvPr/>
          </p:nvSpPr>
          <p:spPr bwMode="auto">
            <a:xfrm>
              <a:off x="2266" y="325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503" name="Text Box 10"/>
            <p:cNvSpPr txBox="1">
              <a:spLocks noChangeArrowheads="1"/>
            </p:cNvSpPr>
            <p:nvPr/>
          </p:nvSpPr>
          <p:spPr bwMode="auto">
            <a:xfrm>
              <a:off x="2624" y="3520"/>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grpSp>
      <p:grpSp>
        <p:nvGrpSpPr>
          <p:cNvPr id="3" name="Group 12"/>
          <p:cNvGrpSpPr>
            <a:grpSpLocks/>
          </p:cNvGrpSpPr>
          <p:nvPr/>
        </p:nvGrpSpPr>
        <p:grpSpPr bwMode="auto">
          <a:xfrm>
            <a:off x="7351713" y="2303252"/>
            <a:ext cx="644525" cy="1774825"/>
            <a:chOff x="4862" y="3032"/>
            <a:chExt cx="406" cy="1118"/>
          </a:xfrm>
        </p:grpSpPr>
        <p:sp>
          <p:nvSpPr>
            <p:cNvPr id="19491" name="Text Box 13"/>
            <p:cNvSpPr txBox="1">
              <a:spLocks noChangeArrowheads="1"/>
            </p:cNvSpPr>
            <p:nvPr/>
          </p:nvSpPr>
          <p:spPr bwMode="auto">
            <a:xfrm>
              <a:off x="4966" y="3195"/>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92" name="Text Box 14"/>
            <p:cNvSpPr txBox="1">
              <a:spLocks noChangeArrowheads="1"/>
            </p:cNvSpPr>
            <p:nvPr/>
          </p:nvSpPr>
          <p:spPr bwMode="auto">
            <a:xfrm>
              <a:off x="5039" y="3394"/>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93" name="Text Box 15"/>
            <p:cNvSpPr txBox="1">
              <a:spLocks noChangeArrowheads="1"/>
            </p:cNvSpPr>
            <p:nvPr/>
          </p:nvSpPr>
          <p:spPr bwMode="auto">
            <a:xfrm>
              <a:off x="4986" y="3691"/>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94" name="Text Box 16"/>
            <p:cNvSpPr txBox="1">
              <a:spLocks noChangeArrowheads="1"/>
            </p:cNvSpPr>
            <p:nvPr/>
          </p:nvSpPr>
          <p:spPr bwMode="auto">
            <a:xfrm>
              <a:off x="4877" y="3862"/>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95" name="Text Box 17"/>
            <p:cNvSpPr txBox="1">
              <a:spLocks noChangeArrowheads="1"/>
            </p:cNvSpPr>
            <p:nvPr/>
          </p:nvSpPr>
          <p:spPr bwMode="auto">
            <a:xfrm>
              <a:off x="4862" y="3032"/>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96" name="Text Box 18"/>
            <p:cNvSpPr txBox="1">
              <a:spLocks noChangeArrowheads="1"/>
            </p:cNvSpPr>
            <p:nvPr/>
          </p:nvSpPr>
          <p:spPr bwMode="auto">
            <a:xfrm>
              <a:off x="5042" y="3537"/>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grpSp>
      <p:grpSp>
        <p:nvGrpSpPr>
          <p:cNvPr id="5" name="Group 24"/>
          <p:cNvGrpSpPr>
            <a:grpSpLocks/>
          </p:cNvGrpSpPr>
          <p:nvPr/>
        </p:nvGrpSpPr>
        <p:grpSpPr bwMode="auto">
          <a:xfrm>
            <a:off x="5713827" y="2285790"/>
            <a:ext cx="563562" cy="1741487"/>
            <a:chOff x="3832" y="3021"/>
            <a:chExt cx="355" cy="1097"/>
          </a:xfrm>
        </p:grpSpPr>
        <p:sp>
          <p:nvSpPr>
            <p:cNvPr id="19485" name="Text Box 25"/>
            <p:cNvSpPr txBox="1">
              <a:spLocks noChangeArrowheads="1"/>
            </p:cNvSpPr>
            <p:nvPr/>
          </p:nvSpPr>
          <p:spPr bwMode="auto">
            <a:xfrm flipH="1">
              <a:off x="3905" y="3212"/>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86" name="Text Box 26"/>
            <p:cNvSpPr txBox="1">
              <a:spLocks noChangeArrowheads="1"/>
            </p:cNvSpPr>
            <p:nvPr/>
          </p:nvSpPr>
          <p:spPr bwMode="auto">
            <a:xfrm flipH="1">
              <a:off x="3832" y="3411"/>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87" name="Text Box 27"/>
            <p:cNvSpPr txBox="1">
              <a:spLocks noChangeArrowheads="1"/>
            </p:cNvSpPr>
            <p:nvPr/>
          </p:nvSpPr>
          <p:spPr bwMode="auto">
            <a:xfrm flipH="1">
              <a:off x="3885" y="3708"/>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88" name="Text Box 28"/>
            <p:cNvSpPr txBox="1">
              <a:spLocks noChangeArrowheads="1"/>
            </p:cNvSpPr>
            <p:nvPr/>
          </p:nvSpPr>
          <p:spPr bwMode="auto">
            <a:xfrm flipH="1">
              <a:off x="3994" y="3830"/>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sym typeface="Symbol" panose="05050102010706020507" pitchFamily="18" charset="2"/>
                </a:rPr>
                <a:t>-</a:t>
              </a:r>
            </a:p>
          </p:txBody>
        </p:sp>
        <p:sp>
          <p:nvSpPr>
            <p:cNvPr id="19489" name="Text Box 29"/>
            <p:cNvSpPr txBox="1">
              <a:spLocks noChangeArrowheads="1"/>
            </p:cNvSpPr>
            <p:nvPr/>
          </p:nvSpPr>
          <p:spPr bwMode="auto">
            <a:xfrm flipH="1">
              <a:off x="4009" y="3021"/>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90" name="Text Box 30"/>
            <p:cNvSpPr txBox="1">
              <a:spLocks noChangeArrowheads="1"/>
            </p:cNvSpPr>
            <p:nvPr/>
          </p:nvSpPr>
          <p:spPr bwMode="auto">
            <a:xfrm flipH="1">
              <a:off x="3837" y="3554"/>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grpSp>
      <p:sp>
        <p:nvSpPr>
          <p:cNvPr id="72736" name="Text Box 36"/>
          <p:cNvSpPr txBox="1">
            <a:spLocks noChangeArrowheads="1"/>
          </p:cNvSpPr>
          <p:nvPr/>
        </p:nvSpPr>
        <p:spPr bwMode="auto">
          <a:xfrm>
            <a:off x="8671958" y="4808846"/>
            <a:ext cx="1655752" cy="514738"/>
          </a:xfrm>
          <a:prstGeom prst="rect">
            <a:avLst/>
          </a:prstGeom>
          <a:solidFill>
            <a:srgbClr val="6666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chemeClr val="bg1"/>
                </a:solidFill>
              </a:rPr>
              <a:t>Inducción</a:t>
            </a:r>
          </a:p>
        </p:txBody>
      </p:sp>
      <p:sp>
        <p:nvSpPr>
          <p:cNvPr id="72737" name="Text Box 51"/>
          <p:cNvSpPr txBox="1">
            <a:spLocks noChangeArrowheads="1"/>
          </p:cNvSpPr>
          <p:nvPr/>
        </p:nvSpPr>
        <p:spPr bwMode="auto">
          <a:xfrm>
            <a:off x="6672801" y="4649626"/>
            <a:ext cx="1934851"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dirty="0">
                <a:solidFill>
                  <a:srgbClr val="008000"/>
                </a:solidFill>
              </a:rPr>
              <a:t>El fenómeno se llama:</a:t>
            </a:r>
            <a:endParaRPr lang="es-ES" sz="2400" dirty="0">
              <a:solidFill>
                <a:srgbClr val="008000"/>
              </a:solidFill>
              <a:sym typeface="Symbol" panose="05050102010706020507" pitchFamily="18" charset="2"/>
            </a:endParaRPr>
          </a:p>
        </p:txBody>
      </p:sp>
      <p:sp>
        <p:nvSpPr>
          <p:cNvPr id="72739" name="Text Box 31"/>
          <p:cNvSpPr txBox="1">
            <a:spLocks noChangeArrowheads="1"/>
          </p:cNvSpPr>
          <p:nvPr/>
        </p:nvSpPr>
        <p:spPr bwMode="auto">
          <a:xfrm>
            <a:off x="8654495" y="5992889"/>
            <a:ext cx="1675240" cy="514738"/>
          </a:xfrm>
          <a:prstGeom prst="rect">
            <a:avLst/>
          </a:prstGeom>
          <a:solidFill>
            <a:srgbClr val="008000"/>
          </a:solidFill>
          <a:ln>
            <a:noFill/>
          </a:ln>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r>
              <a:rPr lang="es-ES" sz="2400">
                <a:solidFill>
                  <a:srgbClr val="FFFFFF"/>
                </a:solidFill>
              </a:rPr>
              <a:t>Polarizado</a:t>
            </a:r>
          </a:p>
        </p:txBody>
      </p:sp>
      <p:sp>
        <p:nvSpPr>
          <p:cNvPr id="72740" name="Text Box 52"/>
          <p:cNvSpPr txBox="1">
            <a:spLocks noChangeArrowheads="1"/>
          </p:cNvSpPr>
          <p:nvPr/>
        </p:nvSpPr>
        <p:spPr bwMode="auto">
          <a:xfrm>
            <a:off x="6672800" y="5833669"/>
            <a:ext cx="1873251"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El cuerpo queda: </a:t>
            </a:r>
            <a:endParaRPr lang="es-ES" sz="2400">
              <a:solidFill>
                <a:srgbClr val="008000"/>
              </a:solidFill>
              <a:sym typeface="Symbol" panose="05050102010706020507" pitchFamily="18" charset="2"/>
            </a:endParaRPr>
          </a:p>
        </p:txBody>
      </p:sp>
      <p:sp>
        <p:nvSpPr>
          <p:cNvPr id="251957" name="Text Box 53"/>
          <p:cNvSpPr txBox="1">
            <a:spLocks noChangeArrowheads="1"/>
          </p:cNvSpPr>
          <p:nvPr/>
        </p:nvSpPr>
        <p:spPr bwMode="auto">
          <a:xfrm>
            <a:off x="1272210" y="4624180"/>
            <a:ext cx="5253244" cy="884070"/>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t>Hay una redistribución de carga en la lata y aparecen excesos de carga</a:t>
            </a:r>
          </a:p>
        </p:txBody>
      </p:sp>
      <p:sp>
        <p:nvSpPr>
          <p:cNvPr id="251964" name="Text Box 60"/>
          <p:cNvSpPr txBox="1">
            <a:spLocks noChangeArrowheads="1"/>
          </p:cNvSpPr>
          <p:nvPr/>
        </p:nvSpPr>
        <p:spPr bwMode="auto">
          <a:xfrm>
            <a:off x="6035675" y="3008102"/>
            <a:ext cx="377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Q</a:t>
            </a:r>
          </a:p>
        </p:txBody>
      </p:sp>
      <p:sp>
        <p:nvSpPr>
          <p:cNvPr id="251965" name="Text Box 61"/>
          <p:cNvSpPr txBox="1">
            <a:spLocks noChangeArrowheads="1"/>
          </p:cNvSpPr>
          <p:nvPr/>
        </p:nvSpPr>
        <p:spPr bwMode="auto">
          <a:xfrm>
            <a:off x="7003982" y="3022390"/>
            <a:ext cx="587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 </a:t>
            </a:r>
            <a:r>
              <a:rPr lang="es-ES" sz="2400">
                <a:solidFill>
                  <a:srgbClr val="008000"/>
                </a:solidFill>
                <a:sym typeface="Symbol" panose="05050102010706020507" pitchFamily="18" charset="2"/>
              </a:rPr>
              <a:t></a:t>
            </a:r>
            <a:r>
              <a:rPr lang="es-ES" sz="2400">
                <a:solidFill>
                  <a:srgbClr val="008000"/>
                </a:solidFill>
              </a:rPr>
              <a:t>Q</a:t>
            </a:r>
          </a:p>
        </p:txBody>
      </p:sp>
      <p:grpSp>
        <p:nvGrpSpPr>
          <p:cNvPr id="10" name="Grupo 9">
            <a:extLst>
              <a:ext uri="{FF2B5EF4-FFF2-40B4-BE49-F238E27FC236}">
                <a16:creationId xmlns:a16="http://schemas.microsoft.com/office/drawing/2014/main" id="{64FCFCA1-8CD9-4237-AE67-62C0DCE4CDB3}"/>
              </a:ext>
            </a:extLst>
          </p:cNvPr>
          <p:cNvGrpSpPr/>
          <p:nvPr/>
        </p:nvGrpSpPr>
        <p:grpSpPr>
          <a:xfrm>
            <a:off x="5764208" y="476181"/>
            <a:ext cx="3066572" cy="1009649"/>
            <a:chOff x="5764208" y="476181"/>
            <a:chExt cx="3066572" cy="1009649"/>
          </a:xfrm>
        </p:grpSpPr>
        <p:sp>
          <p:nvSpPr>
            <p:cNvPr id="19477" name="Text Box 20"/>
            <p:cNvSpPr txBox="1">
              <a:spLocks noChangeArrowheads="1"/>
            </p:cNvSpPr>
            <p:nvPr/>
          </p:nvSpPr>
          <p:spPr bwMode="auto">
            <a:xfrm>
              <a:off x="5764208" y="476181"/>
              <a:ext cx="1587498" cy="463550"/>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Aislante</a:t>
              </a:r>
            </a:p>
          </p:txBody>
        </p:sp>
        <p:sp>
          <p:nvSpPr>
            <p:cNvPr id="19478" name="Text Box 21"/>
            <p:cNvSpPr txBox="1">
              <a:spLocks noChangeArrowheads="1"/>
            </p:cNvSpPr>
            <p:nvPr/>
          </p:nvSpPr>
          <p:spPr bwMode="auto">
            <a:xfrm>
              <a:off x="5764208" y="1022280"/>
              <a:ext cx="1603373" cy="463550"/>
            </a:xfrm>
            <a:prstGeom prst="rect">
              <a:avLst/>
            </a:prstGeom>
            <a:solidFill>
              <a:schemeClr val="accent1">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r>
                <a:rPr lang="es-ES" sz="2400"/>
                <a:t>Conductor</a:t>
              </a:r>
            </a:p>
          </p:txBody>
        </p:sp>
        <p:sp>
          <p:nvSpPr>
            <p:cNvPr id="19479" name="Text Box 22"/>
            <p:cNvSpPr txBox="1">
              <a:spLocks noChangeArrowheads="1"/>
            </p:cNvSpPr>
            <p:nvPr/>
          </p:nvSpPr>
          <p:spPr bwMode="auto">
            <a:xfrm>
              <a:off x="7466006" y="476181"/>
              <a:ext cx="1364774" cy="463846"/>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Cargado</a:t>
              </a:r>
              <a:endParaRPr lang="es-ES" sz="2400">
                <a:solidFill>
                  <a:srgbClr val="FF0000"/>
                </a:solidFill>
              </a:endParaRPr>
            </a:p>
          </p:txBody>
        </p:sp>
        <p:sp>
          <p:nvSpPr>
            <p:cNvPr id="19480" name="Text Box 23"/>
            <p:cNvSpPr txBox="1">
              <a:spLocks noChangeArrowheads="1"/>
            </p:cNvSpPr>
            <p:nvPr/>
          </p:nvSpPr>
          <p:spPr bwMode="auto">
            <a:xfrm>
              <a:off x="7466006" y="1022280"/>
              <a:ext cx="1188489" cy="463550"/>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Neutro</a:t>
              </a:r>
              <a:endParaRPr lang="es-ES" sz="2400">
                <a:solidFill>
                  <a:srgbClr val="FF0000"/>
                </a:solidFill>
              </a:endParaRPr>
            </a:p>
          </p:txBody>
        </p:sp>
      </p:grpSp>
      <p:sp>
        <p:nvSpPr>
          <p:cNvPr id="72766" name="Text Box 62"/>
          <p:cNvSpPr txBox="1">
            <a:spLocks noChangeArrowheads="1"/>
          </p:cNvSpPr>
          <p:nvPr/>
        </p:nvSpPr>
        <p:spPr bwMode="auto">
          <a:xfrm>
            <a:off x="1275385" y="5808223"/>
            <a:ext cx="5250069" cy="884070"/>
          </a:xfrm>
          <a:prstGeom prst="rect">
            <a:avLst/>
          </a:prstGeom>
          <a:solidFill>
            <a:srgbClr val="FFCC99"/>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sym typeface="Symbol" panose="05050102010706020507" pitchFamily="18" charset="2"/>
              </a:rPr>
              <a:t>Las p</a:t>
            </a:r>
            <a:r>
              <a:rPr lang="es-ES" sz="2400"/>
              <a:t>osiciones promedio de Q</a:t>
            </a:r>
            <a:r>
              <a:rPr lang="es-ES" sz="2400" baseline="30000"/>
              <a:t>+</a:t>
            </a:r>
            <a:r>
              <a:rPr lang="es-ES" sz="2400">
                <a:sym typeface="Symbol" panose="05050102010706020507" pitchFamily="18" charset="2"/>
              </a:rPr>
              <a:t> y Q</a:t>
            </a:r>
            <a:r>
              <a:rPr lang="es-ES" sz="2400" baseline="30000">
                <a:sym typeface="Symbol" panose="05050102010706020507" pitchFamily="18" charset="2"/>
              </a:rPr>
              <a:t>-</a:t>
            </a:r>
          </a:p>
          <a:p>
            <a:pPr algn="ctr"/>
            <a:r>
              <a:rPr lang="es-ES" sz="2400">
                <a:sym typeface="Symbol" panose="05050102010706020507" pitchFamily="18" charset="2"/>
              </a:rPr>
              <a:t>en la lata pasan a no coincidir</a:t>
            </a:r>
            <a:endParaRPr lang="es-ES" sz="2400" baseline="30000">
              <a:sym typeface="Symbol" panose="05050102010706020507" pitchFamily="18" charset="2"/>
            </a:endParaRPr>
          </a:p>
        </p:txBody>
      </p:sp>
      <p:sp>
        <p:nvSpPr>
          <p:cNvPr id="4" name="CuadroTexto 3"/>
          <p:cNvSpPr txBox="1">
            <a:spLocks noChangeArrowheads="1"/>
          </p:cNvSpPr>
          <p:nvPr/>
        </p:nvSpPr>
        <p:spPr bwMode="auto">
          <a:xfrm>
            <a:off x="8548123" y="3018543"/>
            <a:ext cx="1779587" cy="1200329"/>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t>Q y –Q  son cargas inducidas</a:t>
            </a:r>
          </a:p>
        </p:txBody>
      </p:sp>
      <p:sp>
        <p:nvSpPr>
          <p:cNvPr id="8" name="Flecha: hacia abajo 7">
            <a:extLst>
              <a:ext uri="{FF2B5EF4-FFF2-40B4-BE49-F238E27FC236}">
                <a16:creationId xmlns:a16="http://schemas.microsoft.com/office/drawing/2014/main" id="{9C0B35E8-7E7B-4F5A-B3F8-73E453421BB8}"/>
              </a:ext>
            </a:extLst>
          </p:cNvPr>
          <p:cNvSpPr/>
          <p:nvPr/>
        </p:nvSpPr>
        <p:spPr bwMode="auto">
          <a:xfrm flipV="1">
            <a:off x="9178512" y="4303128"/>
            <a:ext cx="619538" cy="317014"/>
          </a:xfrm>
          <a:prstGeom prst="downArrow">
            <a:avLst/>
          </a:prstGeom>
          <a:solidFill>
            <a:schemeClr val="accent1"/>
          </a:solid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48" name="Text Box 50">
            <a:extLst>
              <a:ext uri="{FF2B5EF4-FFF2-40B4-BE49-F238E27FC236}">
                <a16:creationId xmlns:a16="http://schemas.microsoft.com/office/drawing/2014/main" id="{5DF83112-4D5E-4BDA-AB0F-185523D93FED}"/>
              </a:ext>
            </a:extLst>
          </p:cNvPr>
          <p:cNvSpPr txBox="1">
            <a:spLocks noChangeArrowheads="1"/>
          </p:cNvSpPr>
          <p:nvPr/>
        </p:nvSpPr>
        <p:spPr bwMode="auto">
          <a:xfrm>
            <a:off x="7653768" y="1879992"/>
            <a:ext cx="1874839" cy="39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r" eaLnBrk="1" hangingPunct="1">
              <a:spcBef>
                <a:spcPts val="0"/>
              </a:spcBef>
            </a:pPr>
            <a:r>
              <a:rPr lang="es-ES" sz="2400" dirty="0">
                <a:solidFill>
                  <a:srgbClr val="008000"/>
                </a:solidFill>
              </a:rPr>
              <a:t>Quedan sin</a:t>
            </a:r>
          </a:p>
          <a:p>
            <a:pPr algn="r" eaLnBrk="1" hangingPunct="1">
              <a:spcBef>
                <a:spcPts val="0"/>
              </a:spcBef>
            </a:pPr>
            <a:r>
              <a:rPr lang="es-ES" sz="2400" dirty="0">
                <a:solidFill>
                  <a:srgbClr val="008000"/>
                </a:solidFill>
              </a:rPr>
              <a:t>compensar</a:t>
            </a:r>
            <a:endParaRPr lang="es-ES" sz="2400" baseline="30000" dirty="0">
              <a:solidFill>
                <a:srgbClr val="008000"/>
              </a:solidFill>
              <a:sym typeface="Symbol" panose="05050102010706020507" pitchFamily="18" charset="2"/>
            </a:endParaRPr>
          </a:p>
        </p:txBody>
      </p:sp>
      <p:sp>
        <p:nvSpPr>
          <p:cNvPr id="50" name="Text Box 49">
            <a:extLst>
              <a:ext uri="{FF2B5EF4-FFF2-40B4-BE49-F238E27FC236}">
                <a16:creationId xmlns:a16="http://schemas.microsoft.com/office/drawing/2014/main" id="{049B5121-272E-4FAE-BDAB-72A7185AF4E5}"/>
              </a:ext>
            </a:extLst>
          </p:cNvPr>
          <p:cNvSpPr txBox="1">
            <a:spLocks noChangeArrowheads="1"/>
          </p:cNvSpPr>
          <p:nvPr/>
        </p:nvSpPr>
        <p:spPr bwMode="auto">
          <a:xfrm>
            <a:off x="4843324" y="1872172"/>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Atrae e</a:t>
            </a:r>
            <a:r>
              <a:rPr lang="es-ES" sz="2400" baseline="30000">
                <a:solidFill>
                  <a:srgbClr val="008000"/>
                </a:solidFill>
                <a:sym typeface="Symbol" panose="05050102010706020507" pitchFamily="18" charset="2"/>
              </a:rPr>
              <a:t> </a:t>
            </a:r>
            <a:endParaRPr lang="es-ES" sz="2400">
              <a:solidFill>
                <a:srgbClr val="008000"/>
              </a:solidFill>
              <a:sym typeface="Symbol" panose="05050102010706020507" pitchFamily="18" charset="2"/>
            </a:endParaRPr>
          </a:p>
        </p:txBody>
      </p:sp>
      <p:grpSp>
        <p:nvGrpSpPr>
          <p:cNvPr id="51" name="Grupo 50">
            <a:extLst>
              <a:ext uri="{FF2B5EF4-FFF2-40B4-BE49-F238E27FC236}">
                <a16:creationId xmlns:a16="http://schemas.microsoft.com/office/drawing/2014/main" id="{D88FE9E7-45E8-48C2-8746-E26F3B8CCAA1}"/>
              </a:ext>
            </a:extLst>
          </p:cNvPr>
          <p:cNvGrpSpPr/>
          <p:nvPr/>
        </p:nvGrpSpPr>
        <p:grpSpPr>
          <a:xfrm>
            <a:off x="2827340" y="1869348"/>
            <a:ext cx="1135060" cy="759342"/>
            <a:chOff x="2827340" y="1957836"/>
            <a:chExt cx="1135060" cy="759342"/>
          </a:xfrm>
        </p:grpSpPr>
        <p:sp>
          <p:nvSpPr>
            <p:cNvPr id="52" name="Text Box 57">
              <a:extLst>
                <a:ext uri="{FF2B5EF4-FFF2-40B4-BE49-F238E27FC236}">
                  <a16:creationId xmlns:a16="http://schemas.microsoft.com/office/drawing/2014/main" id="{A8877633-2D53-4CC6-83AA-8CE8EFAC970C}"/>
                </a:ext>
              </a:extLst>
            </p:cNvPr>
            <p:cNvSpPr txBox="1">
              <a:spLocks noChangeArrowheads="1"/>
            </p:cNvSpPr>
            <p:nvPr/>
          </p:nvSpPr>
          <p:spPr bwMode="auto">
            <a:xfrm>
              <a:off x="3278843" y="1957836"/>
              <a:ext cx="476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Q*</a:t>
              </a:r>
            </a:p>
          </p:txBody>
        </p:sp>
        <p:sp>
          <p:nvSpPr>
            <p:cNvPr id="53" name="Text Box 49">
              <a:extLst>
                <a:ext uri="{FF2B5EF4-FFF2-40B4-BE49-F238E27FC236}">
                  <a16:creationId xmlns:a16="http://schemas.microsoft.com/office/drawing/2014/main" id="{6C76752C-2623-473F-B2EE-C6755995140B}"/>
                </a:ext>
              </a:extLst>
            </p:cNvPr>
            <p:cNvSpPr txBox="1">
              <a:spLocks noChangeArrowheads="1"/>
            </p:cNvSpPr>
            <p:nvPr/>
          </p:nvSpPr>
          <p:spPr bwMode="auto">
            <a:xfrm>
              <a:off x="2827340" y="2320303"/>
              <a:ext cx="113506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localizada</a:t>
              </a:r>
              <a:endParaRPr lang="es-ES" sz="2400" dirty="0">
                <a:solidFill>
                  <a:srgbClr val="008000"/>
                </a:solidFill>
                <a:sym typeface="Symbol" panose="05050102010706020507" pitchFamily="18" charset="2"/>
              </a:endParaRPr>
            </a:p>
          </p:txBody>
        </p:sp>
      </p:grpSp>
      <p:sp>
        <p:nvSpPr>
          <p:cNvPr id="6" name="Text Box 22">
            <a:extLst>
              <a:ext uri="{FF2B5EF4-FFF2-40B4-BE49-F238E27FC236}">
                <a16:creationId xmlns:a16="http://schemas.microsoft.com/office/drawing/2014/main" id="{C74DBF8D-DB36-47CC-9DDD-93251ED2AB5D}"/>
              </a:ext>
            </a:extLst>
          </p:cNvPr>
          <p:cNvSpPr txBox="1">
            <a:spLocks noChangeArrowheads="1"/>
          </p:cNvSpPr>
          <p:nvPr/>
        </p:nvSpPr>
        <p:spPr bwMode="auto">
          <a:xfrm>
            <a:off x="8724931" y="469849"/>
            <a:ext cx="1706214" cy="463846"/>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FF0000"/>
                </a:solidFill>
              </a:rPr>
              <a:t>(una barra)</a:t>
            </a:r>
          </a:p>
        </p:txBody>
      </p:sp>
      <p:sp>
        <p:nvSpPr>
          <p:cNvPr id="7" name="Text Box 23">
            <a:extLst>
              <a:ext uri="{FF2B5EF4-FFF2-40B4-BE49-F238E27FC236}">
                <a16:creationId xmlns:a16="http://schemas.microsoft.com/office/drawing/2014/main" id="{AA5B5ACE-2FA9-4F51-AA86-F753E8C0A316}"/>
              </a:ext>
            </a:extLst>
          </p:cNvPr>
          <p:cNvSpPr txBox="1">
            <a:spLocks noChangeArrowheads="1"/>
          </p:cNvSpPr>
          <p:nvPr/>
        </p:nvSpPr>
        <p:spPr bwMode="auto">
          <a:xfrm>
            <a:off x="8721118" y="1025941"/>
            <a:ext cx="1560106" cy="463550"/>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FF0000"/>
                </a:solidFill>
              </a:rPr>
              <a:t>(una lata)</a:t>
            </a:r>
          </a:p>
        </p:txBody>
      </p:sp>
    </p:spTree>
    <p:extLst>
      <p:ext uri="{BB962C8B-B14F-4D97-AF65-F5344CB8AC3E}">
        <p14:creationId xmlns:p14="http://schemas.microsoft.com/office/powerpoint/2010/main" val="29586880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dissolv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51"/>
                                        </p:tgtEl>
                                        <p:attrNameLst>
                                          <p:attrName>style.visibility</p:attrName>
                                        </p:attrNameLst>
                                      </p:cBhvr>
                                      <p:to>
                                        <p:strVal val="visible"/>
                                      </p:to>
                                    </p:set>
                                    <p:animEffect transition="in" filter="wipe(up)">
                                      <p:cBhvr>
                                        <p:cTn id="30" dur="500"/>
                                        <p:tgtEl>
                                          <p:spTgt spid="5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wipe(up)">
                                      <p:cBhvr>
                                        <p:cTn id="35" dur="500"/>
                                        <p:tgtEl>
                                          <p:spTgt spid="50"/>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dissolve">
                                      <p:cBhvr>
                                        <p:cTn id="39" dur="500"/>
                                        <p:tgtEl>
                                          <p:spTgt spid="5"/>
                                        </p:tgtEl>
                                      </p:cBhvr>
                                    </p:animEffect>
                                  </p:childTnLst>
                                </p:cTn>
                              </p:par>
                            </p:childTnLst>
                          </p:cTn>
                        </p:par>
                        <p:par>
                          <p:cTn id="40" fill="hold">
                            <p:stCondLst>
                              <p:cond delay="1000"/>
                            </p:stCondLst>
                            <p:childTnLst>
                              <p:par>
                                <p:cTn id="41" presetID="23" presetClass="entr" presetSubtype="272" fill="hold" grpId="0" nodeType="afterEffect">
                                  <p:stCondLst>
                                    <p:cond delay="0"/>
                                  </p:stCondLst>
                                  <p:childTnLst>
                                    <p:set>
                                      <p:cBhvr>
                                        <p:cTn id="42" dur="1" fill="hold">
                                          <p:stCondLst>
                                            <p:cond delay="0"/>
                                          </p:stCondLst>
                                        </p:cTn>
                                        <p:tgtEl>
                                          <p:spTgt spid="251964"/>
                                        </p:tgtEl>
                                        <p:attrNameLst>
                                          <p:attrName>style.visibility</p:attrName>
                                        </p:attrNameLst>
                                      </p:cBhvr>
                                      <p:to>
                                        <p:strVal val="visible"/>
                                      </p:to>
                                    </p:set>
                                    <p:anim calcmode="lin" valueType="num">
                                      <p:cBhvr>
                                        <p:cTn id="43" dur="500" fill="hold"/>
                                        <p:tgtEl>
                                          <p:spTgt spid="251964"/>
                                        </p:tgtEl>
                                        <p:attrNameLst>
                                          <p:attrName>ppt_w</p:attrName>
                                        </p:attrNameLst>
                                      </p:cBhvr>
                                      <p:tavLst>
                                        <p:tav tm="0">
                                          <p:val>
                                            <p:strVal val="2/3*#ppt_w"/>
                                          </p:val>
                                        </p:tav>
                                        <p:tav tm="100000">
                                          <p:val>
                                            <p:strVal val="#ppt_w"/>
                                          </p:val>
                                        </p:tav>
                                      </p:tavLst>
                                    </p:anim>
                                    <p:anim calcmode="lin" valueType="num">
                                      <p:cBhvr>
                                        <p:cTn id="44" dur="500" fill="hold"/>
                                        <p:tgtEl>
                                          <p:spTgt spid="251964"/>
                                        </p:tgtEl>
                                        <p:attrNameLst>
                                          <p:attrName>ppt_h</p:attrName>
                                        </p:attrNameLst>
                                      </p:cBhvr>
                                      <p:tavLst>
                                        <p:tav tm="0">
                                          <p:val>
                                            <p:strVal val="2/3*#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wipe(up)">
                                      <p:cBhvr>
                                        <p:cTn id="49" dur="500"/>
                                        <p:tgtEl>
                                          <p:spTgt spid="48"/>
                                        </p:tgtEl>
                                      </p:cBhvr>
                                    </p:animEffect>
                                  </p:childTnLst>
                                </p:cTn>
                              </p:par>
                            </p:childTnLst>
                          </p:cTn>
                        </p:par>
                        <p:par>
                          <p:cTn id="50" fill="hold">
                            <p:stCondLst>
                              <p:cond delay="500"/>
                            </p:stCondLst>
                            <p:childTnLst>
                              <p:par>
                                <p:cTn id="51" presetID="9" presetClass="entr" presetSubtype="0" fill="hold" nodeType="after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dissolve">
                                      <p:cBhvr>
                                        <p:cTn id="53" dur="500"/>
                                        <p:tgtEl>
                                          <p:spTgt spid="3"/>
                                        </p:tgtEl>
                                      </p:cBhvr>
                                    </p:animEffect>
                                  </p:childTnLst>
                                </p:cTn>
                              </p:par>
                            </p:childTnLst>
                          </p:cTn>
                        </p:par>
                        <p:par>
                          <p:cTn id="54" fill="hold">
                            <p:stCondLst>
                              <p:cond delay="1000"/>
                            </p:stCondLst>
                            <p:childTnLst>
                              <p:par>
                                <p:cTn id="55" presetID="23" presetClass="entr" presetSubtype="272" fill="hold" grpId="0" nodeType="afterEffect">
                                  <p:stCondLst>
                                    <p:cond delay="0"/>
                                  </p:stCondLst>
                                  <p:childTnLst>
                                    <p:set>
                                      <p:cBhvr>
                                        <p:cTn id="56" dur="1" fill="hold">
                                          <p:stCondLst>
                                            <p:cond delay="0"/>
                                          </p:stCondLst>
                                        </p:cTn>
                                        <p:tgtEl>
                                          <p:spTgt spid="251965"/>
                                        </p:tgtEl>
                                        <p:attrNameLst>
                                          <p:attrName>style.visibility</p:attrName>
                                        </p:attrNameLst>
                                      </p:cBhvr>
                                      <p:to>
                                        <p:strVal val="visible"/>
                                      </p:to>
                                    </p:set>
                                    <p:anim calcmode="lin" valueType="num">
                                      <p:cBhvr>
                                        <p:cTn id="57" dur="500" fill="hold"/>
                                        <p:tgtEl>
                                          <p:spTgt spid="251965"/>
                                        </p:tgtEl>
                                        <p:attrNameLst>
                                          <p:attrName>ppt_w</p:attrName>
                                        </p:attrNameLst>
                                      </p:cBhvr>
                                      <p:tavLst>
                                        <p:tav tm="0">
                                          <p:val>
                                            <p:strVal val="2/3*#ppt_w"/>
                                          </p:val>
                                        </p:tav>
                                        <p:tav tm="100000">
                                          <p:val>
                                            <p:strVal val="#ppt_w"/>
                                          </p:val>
                                        </p:tav>
                                      </p:tavLst>
                                    </p:anim>
                                    <p:anim calcmode="lin" valueType="num">
                                      <p:cBhvr>
                                        <p:cTn id="58" dur="500" fill="hold"/>
                                        <p:tgtEl>
                                          <p:spTgt spid="251965"/>
                                        </p:tgtEl>
                                        <p:attrNameLst>
                                          <p:attrName>ppt_h</p:attrName>
                                        </p:attrNameLst>
                                      </p:cBhvr>
                                      <p:tavLst>
                                        <p:tav tm="0">
                                          <p:val>
                                            <p:strVal val="2/3*#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251957"/>
                                        </p:tgtEl>
                                        <p:attrNameLst>
                                          <p:attrName>style.visibility</p:attrName>
                                        </p:attrNameLst>
                                      </p:cBhvr>
                                      <p:to>
                                        <p:strVal val="visible"/>
                                      </p:to>
                                    </p:set>
                                    <p:animEffect transition="in" filter="wipe(up)">
                                      <p:cBhvr>
                                        <p:cTn id="63" dur="500"/>
                                        <p:tgtEl>
                                          <p:spTgt spid="25195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72737"/>
                                        </p:tgtEl>
                                        <p:attrNameLst>
                                          <p:attrName>style.visibility</p:attrName>
                                        </p:attrNameLst>
                                      </p:cBhvr>
                                      <p:to>
                                        <p:strVal val="visible"/>
                                      </p:to>
                                    </p:set>
                                    <p:animEffect transition="in" filter="wipe(left)">
                                      <p:cBhvr>
                                        <p:cTn id="68" dur="500"/>
                                        <p:tgtEl>
                                          <p:spTgt spid="72737"/>
                                        </p:tgtEl>
                                      </p:cBhvr>
                                    </p:animEffect>
                                  </p:childTnLst>
                                </p:cTn>
                              </p:par>
                            </p:childTnLst>
                          </p:cTn>
                        </p:par>
                        <p:par>
                          <p:cTn id="69" fill="hold">
                            <p:stCondLst>
                              <p:cond delay="500"/>
                            </p:stCondLst>
                            <p:childTnLst>
                              <p:par>
                                <p:cTn id="70" presetID="3" presetClass="entr" presetSubtype="5" fill="hold" grpId="0" nodeType="afterEffect">
                                  <p:stCondLst>
                                    <p:cond delay="0"/>
                                  </p:stCondLst>
                                  <p:childTnLst>
                                    <p:set>
                                      <p:cBhvr>
                                        <p:cTn id="71" dur="1" fill="hold">
                                          <p:stCondLst>
                                            <p:cond delay="0"/>
                                          </p:stCondLst>
                                        </p:cTn>
                                        <p:tgtEl>
                                          <p:spTgt spid="72736"/>
                                        </p:tgtEl>
                                        <p:attrNameLst>
                                          <p:attrName>style.visibility</p:attrName>
                                        </p:attrNameLst>
                                      </p:cBhvr>
                                      <p:to>
                                        <p:strVal val="visible"/>
                                      </p:to>
                                    </p:set>
                                    <p:animEffect transition="in" filter="blinds(vertical)">
                                      <p:cBhvr>
                                        <p:cTn id="72" dur="500"/>
                                        <p:tgtEl>
                                          <p:spTgt spid="72736"/>
                                        </p:tgtEl>
                                      </p:cBhvr>
                                    </p:animEffect>
                                  </p:childTnLst>
                                </p:cTn>
                              </p:par>
                            </p:childTnLst>
                          </p:cTn>
                        </p:par>
                      </p:childTnLst>
                    </p:cTn>
                  </p:par>
                  <p:par>
                    <p:cTn id="73" fill="hold">
                      <p:stCondLst>
                        <p:cond delay="indefinite"/>
                      </p:stCondLst>
                      <p:childTnLst>
                        <p:par>
                          <p:cTn id="74" fill="hold" nodeType="afterGroup">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8"/>
                                        </p:tgtEl>
                                        <p:attrNameLst>
                                          <p:attrName>style.visibility</p:attrName>
                                        </p:attrNameLst>
                                      </p:cBhvr>
                                      <p:to>
                                        <p:strVal val="visible"/>
                                      </p:to>
                                    </p:set>
                                    <p:animEffect transition="in" filter="wipe(down)">
                                      <p:cBhvr>
                                        <p:cTn id="77" dur="500"/>
                                        <p:tgtEl>
                                          <p:spTgt spid="8"/>
                                        </p:tgtEl>
                                      </p:cBhvr>
                                    </p:animEffect>
                                  </p:childTnLst>
                                </p:cTn>
                              </p:par>
                            </p:childTnLst>
                          </p:cTn>
                        </p:par>
                        <p:par>
                          <p:cTn id="78" fill="hold">
                            <p:stCondLst>
                              <p:cond delay="500"/>
                            </p:stCondLst>
                            <p:childTnLst>
                              <p:par>
                                <p:cTn id="79" presetID="16" presetClass="entr" presetSubtype="37" fill="hold" grpId="0" nodeType="afterEffect">
                                  <p:stCondLst>
                                    <p:cond delay="0"/>
                                  </p:stCondLst>
                                  <p:childTnLst>
                                    <p:set>
                                      <p:cBhvr>
                                        <p:cTn id="80" dur="1" fill="hold">
                                          <p:stCondLst>
                                            <p:cond delay="0"/>
                                          </p:stCondLst>
                                        </p:cTn>
                                        <p:tgtEl>
                                          <p:spTgt spid="4"/>
                                        </p:tgtEl>
                                        <p:attrNameLst>
                                          <p:attrName>style.visibility</p:attrName>
                                        </p:attrNameLst>
                                      </p:cBhvr>
                                      <p:to>
                                        <p:strVal val="visible"/>
                                      </p:to>
                                    </p:set>
                                    <p:animEffect transition="in" filter="barn(outVertical)">
                                      <p:cBhvr>
                                        <p:cTn id="81" dur="500"/>
                                        <p:tgtEl>
                                          <p:spTgt spid="4"/>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grpId="0" nodeType="clickEffect">
                                  <p:stCondLst>
                                    <p:cond delay="0"/>
                                  </p:stCondLst>
                                  <p:childTnLst>
                                    <p:set>
                                      <p:cBhvr>
                                        <p:cTn id="85" dur="1" fill="hold">
                                          <p:stCondLst>
                                            <p:cond delay="0"/>
                                          </p:stCondLst>
                                        </p:cTn>
                                        <p:tgtEl>
                                          <p:spTgt spid="72766"/>
                                        </p:tgtEl>
                                        <p:attrNameLst>
                                          <p:attrName>style.visibility</p:attrName>
                                        </p:attrNameLst>
                                      </p:cBhvr>
                                      <p:to>
                                        <p:strVal val="visible"/>
                                      </p:to>
                                    </p:set>
                                    <p:animEffect transition="in" filter="wipe(up)">
                                      <p:cBhvr>
                                        <p:cTn id="86" dur="500"/>
                                        <p:tgtEl>
                                          <p:spTgt spid="72766"/>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72740"/>
                                        </p:tgtEl>
                                        <p:attrNameLst>
                                          <p:attrName>style.visibility</p:attrName>
                                        </p:attrNameLst>
                                      </p:cBhvr>
                                      <p:to>
                                        <p:strVal val="visible"/>
                                      </p:to>
                                    </p:set>
                                    <p:animEffect transition="in" filter="wipe(left)">
                                      <p:cBhvr>
                                        <p:cTn id="91" dur="500"/>
                                        <p:tgtEl>
                                          <p:spTgt spid="72740"/>
                                        </p:tgtEl>
                                      </p:cBhvr>
                                    </p:animEffect>
                                  </p:childTnLst>
                                </p:cTn>
                              </p:par>
                            </p:childTnLst>
                          </p:cTn>
                        </p:par>
                        <p:par>
                          <p:cTn id="92" fill="hold" nodeType="afterGroup">
                            <p:stCondLst>
                              <p:cond delay="500"/>
                            </p:stCondLst>
                            <p:childTnLst>
                              <p:par>
                                <p:cTn id="93" presetID="3" presetClass="entr" presetSubtype="5" fill="hold" grpId="0" nodeType="afterEffect">
                                  <p:stCondLst>
                                    <p:cond delay="0"/>
                                  </p:stCondLst>
                                  <p:childTnLst>
                                    <p:set>
                                      <p:cBhvr>
                                        <p:cTn id="94" dur="1" fill="hold">
                                          <p:stCondLst>
                                            <p:cond delay="0"/>
                                          </p:stCondLst>
                                        </p:cTn>
                                        <p:tgtEl>
                                          <p:spTgt spid="72739"/>
                                        </p:tgtEl>
                                        <p:attrNameLst>
                                          <p:attrName>style.visibility</p:attrName>
                                        </p:attrNameLst>
                                      </p:cBhvr>
                                      <p:to>
                                        <p:strVal val="visible"/>
                                      </p:to>
                                    </p:set>
                                    <p:animEffect transition="in" filter="blinds(vertical)">
                                      <p:cBhvr>
                                        <p:cTn id="95" dur="500"/>
                                        <p:tgtEl>
                                          <p:spTgt spid="72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36" grpId="0" animBg="1"/>
      <p:bldP spid="72737" grpId="0"/>
      <p:bldP spid="72739" grpId="0" animBg="1"/>
      <p:bldP spid="72740" grpId="0"/>
      <p:bldP spid="251957" grpId="0" animBg="1"/>
      <p:bldP spid="251964" grpId="0"/>
      <p:bldP spid="251965" grpId="0"/>
      <p:bldP spid="72766" grpId="0" animBg="1"/>
      <p:bldP spid="4" grpId="0" animBg="1"/>
      <p:bldP spid="8" grpId="0" animBg="1"/>
      <p:bldP spid="48" grpId="0"/>
      <p:bldP spid="50" grpId="0"/>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o 3"/>
          <p:cNvGrpSpPr>
            <a:grpSpLocks/>
          </p:cNvGrpSpPr>
          <p:nvPr/>
        </p:nvGrpSpPr>
        <p:grpSpPr bwMode="auto">
          <a:xfrm>
            <a:off x="1387116" y="4556601"/>
            <a:ext cx="2614612" cy="1192212"/>
            <a:chOff x="265112" y="1223479"/>
            <a:chExt cx="2614613" cy="1192213"/>
          </a:xfrm>
        </p:grpSpPr>
        <p:sp>
          <p:nvSpPr>
            <p:cNvPr id="21530" name="Rectangle 191"/>
            <p:cNvSpPr>
              <a:spLocks noChangeArrowheads="1"/>
            </p:cNvSpPr>
            <p:nvPr/>
          </p:nvSpPr>
          <p:spPr bwMode="auto">
            <a:xfrm>
              <a:off x="265112" y="1223479"/>
              <a:ext cx="2614613" cy="1192213"/>
            </a:xfrm>
            <a:prstGeom prst="rect">
              <a:avLst/>
            </a:prstGeom>
            <a:solidFill>
              <a:srgbClr val="99CCFF"/>
            </a:solidFill>
            <a:ln w="12700" algn="ctr">
              <a:solidFill>
                <a:schemeClr val="tx1"/>
              </a:solidFill>
              <a:miter lim="800000"/>
              <a:headEnd/>
              <a:tailEnd/>
            </a:ln>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graphicFrame>
          <p:nvGraphicFramePr>
            <p:cNvPr id="21531" name="Object 187"/>
            <p:cNvGraphicFramePr>
              <a:graphicFrameLocks noChangeAspect="1"/>
            </p:cNvGraphicFramePr>
            <p:nvPr/>
          </p:nvGraphicFramePr>
          <p:xfrm>
            <a:off x="351942" y="1318729"/>
            <a:ext cx="2503488" cy="985838"/>
          </p:xfrm>
          <a:graphic>
            <a:graphicData uri="http://schemas.openxmlformats.org/presentationml/2006/ole">
              <mc:AlternateContent xmlns:mc="http://schemas.openxmlformats.org/markup-compatibility/2006">
                <mc:Choice xmlns:v="urn:schemas-microsoft-com:vml" Requires="v">
                  <p:oleObj name="Ecuación" r:id="rId3" imgW="838200" imgH="330200" progId="Equation.3">
                    <p:embed/>
                  </p:oleObj>
                </mc:Choice>
                <mc:Fallback>
                  <p:oleObj name="Ecuación" r:id="rId3" imgW="838200" imgH="330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942" y="1318729"/>
                          <a:ext cx="2503488" cy="985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2" name="Group 3"/>
          <p:cNvGrpSpPr>
            <a:grpSpLocks/>
          </p:cNvGrpSpPr>
          <p:nvPr/>
        </p:nvGrpSpPr>
        <p:grpSpPr bwMode="auto">
          <a:xfrm>
            <a:off x="1755775" y="2663922"/>
            <a:ext cx="2401888" cy="1108075"/>
            <a:chOff x="1337" y="3253"/>
            <a:chExt cx="1513" cy="698"/>
          </a:xfrm>
        </p:grpSpPr>
        <p:sp>
          <p:nvSpPr>
            <p:cNvPr id="63" name="AutoShape 4"/>
            <p:cNvSpPr>
              <a:spLocks noChangeArrowheads="1"/>
            </p:cNvSpPr>
            <p:nvPr/>
          </p:nvSpPr>
          <p:spPr bwMode="auto">
            <a:xfrm rot="5400000">
              <a:off x="1895" y="2940"/>
              <a:ext cx="190" cy="1305"/>
            </a:xfrm>
            <a:prstGeom prst="can">
              <a:avLst>
                <a:gd name="adj" fmla="val 45599"/>
              </a:avLst>
            </a:prstGeom>
            <a:gradFill rotWithShape="1">
              <a:gsLst>
                <a:gs pos="0">
                  <a:srgbClr val="99CCFF"/>
                </a:gs>
                <a:gs pos="100000">
                  <a:srgbClr val="5E7676"/>
                </a:gs>
              </a:gsLst>
              <a:lin ang="0" scaled="1"/>
            </a:gradFill>
            <a:ln w="12700">
              <a:solidFill>
                <a:schemeClr val="tx1"/>
              </a:solidFill>
              <a:round/>
              <a:headEnd/>
              <a:tailEnd/>
            </a:ln>
          </p:spPr>
          <p:txBody>
            <a:bodyPr rot="10800000" vert="eaVert"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solidFill>
                  <a:srgbClr val="008000"/>
                </a:solidFill>
              </a:endParaRPr>
            </a:p>
          </p:txBody>
        </p:sp>
        <p:sp>
          <p:nvSpPr>
            <p:cNvPr id="64" name="Text Box 5"/>
            <p:cNvSpPr txBox="1">
              <a:spLocks noChangeArrowheads="1"/>
            </p:cNvSpPr>
            <p:nvPr/>
          </p:nvSpPr>
          <p:spPr bwMode="auto">
            <a:xfrm>
              <a:off x="2457" y="3255"/>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65" name="Text Box 6"/>
            <p:cNvSpPr txBox="1">
              <a:spLocks noChangeArrowheads="1"/>
            </p:cNvSpPr>
            <p:nvPr/>
          </p:nvSpPr>
          <p:spPr bwMode="auto">
            <a:xfrm>
              <a:off x="2614" y="336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66" name="Text Box 7"/>
            <p:cNvSpPr txBox="1">
              <a:spLocks noChangeArrowheads="1"/>
            </p:cNvSpPr>
            <p:nvPr/>
          </p:nvSpPr>
          <p:spPr bwMode="auto">
            <a:xfrm>
              <a:off x="2449" y="365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67" name="Text Box 8"/>
            <p:cNvSpPr txBox="1">
              <a:spLocks noChangeArrowheads="1"/>
            </p:cNvSpPr>
            <p:nvPr/>
          </p:nvSpPr>
          <p:spPr bwMode="auto">
            <a:xfrm>
              <a:off x="2284" y="366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68" name="Text Box 9"/>
            <p:cNvSpPr txBox="1">
              <a:spLocks noChangeArrowheads="1"/>
            </p:cNvSpPr>
            <p:nvPr/>
          </p:nvSpPr>
          <p:spPr bwMode="auto">
            <a:xfrm>
              <a:off x="2266" y="325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69" name="Text Box 10"/>
            <p:cNvSpPr txBox="1">
              <a:spLocks noChangeArrowheads="1"/>
            </p:cNvSpPr>
            <p:nvPr/>
          </p:nvSpPr>
          <p:spPr bwMode="auto">
            <a:xfrm>
              <a:off x="2624" y="3520"/>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grpSp>
      <p:sp>
        <p:nvSpPr>
          <p:cNvPr id="70" name="Oval 11"/>
          <p:cNvSpPr>
            <a:spLocks noChangeArrowheads="1"/>
          </p:cNvSpPr>
          <p:nvPr/>
        </p:nvSpPr>
        <p:spPr bwMode="auto">
          <a:xfrm>
            <a:off x="5765800" y="2144809"/>
            <a:ext cx="2159000" cy="2159000"/>
          </a:xfrm>
          <a:prstGeom prst="ellipse">
            <a:avLst/>
          </a:prstGeom>
          <a:solidFill>
            <a:schemeClr val="accent1">
              <a:lumMod val="60000"/>
              <a:lumOff val="40000"/>
            </a:schemeClr>
          </a:solidFill>
          <a:ln w="57150" cmpd="thinThick" algn="ctr">
            <a:solidFill>
              <a:schemeClr val="tx1"/>
            </a:solidFill>
            <a:round/>
            <a:headEnd/>
            <a:tailEnd/>
          </a:ln>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grpSp>
        <p:nvGrpSpPr>
          <p:cNvPr id="71" name="Group 12"/>
          <p:cNvGrpSpPr>
            <a:grpSpLocks/>
          </p:cNvGrpSpPr>
          <p:nvPr/>
        </p:nvGrpSpPr>
        <p:grpSpPr bwMode="auto">
          <a:xfrm>
            <a:off x="7351713" y="2313084"/>
            <a:ext cx="644525" cy="1774825"/>
            <a:chOff x="4862" y="3032"/>
            <a:chExt cx="406" cy="1118"/>
          </a:xfrm>
        </p:grpSpPr>
        <p:sp>
          <p:nvSpPr>
            <p:cNvPr id="72" name="Text Box 13"/>
            <p:cNvSpPr txBox="1">
              <a:spLocks noChangeArrowheads="1"/>
            </p:cNvSpPr>
            <p:nvPr/>
          </p:nvSpPr>
          <p:spPr bwMode="auto">
            <a:xfrm>
              <a:off x="4966" y="3195"/>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73" name="Text Box 14"/>
            <p:cNvSpPr txBox="1">
              <a:spLocks noChangeArrowheads="1"/>
            </p:cNvSpPr>
            <p:nvPr/>
          </p:nvSpPr>
          <p:spPr bwMode="auto">
            <a:xfrm>
              <a:off x="5039" y="3394"/>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74" name="Text Box 15"/>
            <p:cNvSpPr txBox="1">
              <a:spLocks noChangeArrowheads="1"/>
            </p:cNvSpPr>
            <p:nvPr/>
          </p:nvSpPr>
          <p:spPr bwMode="auto">
            <a:xfrm>
              <a:off x="4986" y="3691"/>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75" name="Text Box 16"/>
            <p:cNvSpPr txBox="1">
              <a:spLocks noChangeArrowheads="1"/>
            </p:cNvSpPr>
            <p:nvPr/>
          </p:nvSpPr>
          <p:spPr bwMode="auto">
            <a:xfrm>
              <a:off x="4877" y="3862"/>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76" name="Text Box 17"/>
            <p:cNvSpPr txBox="1">
              <a:spLocks noChangeArrowheads="1"/>
            </p:cNvSpPr>
            <p:nvPr/>
          </p:nvSpPr>
          <p:spPr bwMode="auto">
            <a:xfrm>
              <a:off x="4862" y="3032"/>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77" name="Text Box 18"/>
            <p:cNvSpPr txBox="1">
              <a:spLocks noChangeArrowheads="1"/>
            </p:cNvSpPr>
            <p:nvPr/>
          </p:nvSpPr>
          <p:spPr bwMode="auto">
            <a:xfrm>
              <a:off x="5042" y="3537"/>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grpSp>
      <p:grpSp>
        <p:nvGrpSpPr>
          <p:cNvPr id="78" name="Group 24"/>
          <p:cNvGrpSpPr>
            <a:grpSpLocks/>
          </p:cNvGrpSpPr>
          <p:nvPr/>
        </p:nvGrpSpPr>
        <p:grpSpPr bwMode="auto">
          <a:xfrm>
            <a:off x="5713827" y="2295622"/>
            <a:ext cx="563562" cy="1741487"/>
            <a:chOff x="3832" y="3021"/>
            <a:chExt cx="355" cy="1097"/>
          </a:xfrm>
        </p:grpSpPr>
        <p:sp>
          <p:nvSpPr>
            <p:cNvPr id="79" name="Text Box 25"/>
            <p:cNvSpPr txBox="1">
              <a:spLocks noChangeArrowheads="1"/>
            </p:cNvSpPr>
            <p:nvPr/>
          </p:nvSpPr>
          <p:spPr bwMode="auto">
            <a:xfrm flipH="1">
              <a:off x="3905" y="3212"/>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80" name="Text Box 26"/>
            <p:cNvSpPr txBox="1">
              <a:spLocks noChangeArrowheads="1"/>
            </p:cNvSpPr>
            <p:nvPr/>
          </p:nvSpPr>
          <p:spPr bwMode="auto">
            <a:xfrm flipH="1">
              <a:off x="3832" y="3411"/>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81" name="Text Box 27"/>
            <p:cNvSpPr txBox="1">
              <a:spLocks noChangeArrowheads="1"/>
            </p:cNvSpPr>
            <p:nvPr/>
          </p:nvSpPr>
          <p:spPr bwMode="auto">
            <a:xfrm flipH="1">
              <a:off x="3885" y="3708"/>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82" name="Text Box 28"/>
            <p:cNvSpPr txBox="1">
              <a:spLocks noChangeArrowheads="1"/>
            </p:cNvSpPr>
            <p:nvPr/>
          </p:nvSpPr>
          <p:spPr bwMode="auto">
            <a:xfrm flipH="1">
              <a:off x="3994" y="3830"/>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sym typeface="Symbol" panose="05050102010706020507" pitchFamily="18" charset="2"/>
                </a:rPr>
                <a:t>-</a:t>
              </a:r>
            </a:p>
          </p:txBody>
        </p:sp>
        <p:sp>
          <p:nvSpPr>
            <p:cNvPr id="83" name="Text Box 29"/>
            <p:cNvSpPr txBox="1">
              <a:spLocks noChangeArrowheads="1"/>
            </p:cNvSpPr>
            <p:nvPr/>
          </p:nvSpPr>
          <p:spPr bwMode="auto">
            <a:xfrm flipH="1">
              <a:off x="4009" y="3021"/>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84" name="Text Box 30"/>
            <p:cNvSpPr txBox="1">
              <a:spLocks noChangeArrowheads="1"/>
            </p:cNvSpPr>
            <p:nvPr/>
          </p:nvSpPr>
          <p:spPr bwMode="auto">
            <a:xfrm flipH="1">
              <a:off x="3837" y="3554"/>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grpSp>
      <p:sp>
        <p:nvSpPr>
          <p:cNvPr id="88" name="Text Box 57"/>
          <p:cNvSpPr txBox="1">
            <a:spLocks noChangeArrowheads="1"/>
          </p:cNvSpPr>
          <p:nvPr/>
        </p:nvSpPr>
        <p:spPr bwMode="auto">
          <a:xfrm>
            <a:off x="3271633" y="2173384"/>
            <a:ext cx="476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Q*</a:t>
            </a:r>
          </a:p>
        </p:txBody>
      </p:sp>
      <p:sp>
        <p:nvSpPr>
          <p:cNvPr id="89" name="Text Box 60"/>
          <p:cNvSpPr txBox="1">
            <a:spLocks noChangeArrowheads="1"/>
          </p:cNvSpPr>
          <p:nvPr/>
        </p:nvSpPr>
        <p:spPr bwMode="auto">
          <a:xfrm>
            <a:off x="6035675" y="3017934"/>
            <a:ext cx="377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Q</a:t>
            </a:r>
          </a:p>
        </p:txBody>
      </p:sp>
      <p:sp>
        <p:nvSpPr>
          <p:cNvPr id="90" name="Text Box 61"/>
          <p:cNvSpPr txBox="1">
            <a:spLocks noChangeArrowheads="1"/>
          </p:cNvSpPr>
          <p:nvPr/>
        </p:nvSpPr>
        <p:spPr bwMode="auto">
          <a:xfrm>
            <a:off x="7003982" y="3032222"/>
            <a:ext cx="587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 </a:t>
            </a:r>
            <a:r>
              <a:rPr lang="es-ES" sz="2400">
                <a:solidFill>
                  <a:srgbClr val="008000"/>
                </a:solidFill>
                <a:sym typeface="Symbol" panose="05050102010706020507" pitchFamily="18" charset="2"/>
              </a:rPr>
              <a:t></a:t>
            </a:r>
            <a:r>
              <a:rPr lang="es-ES" sz="2400">
                <a:solidFill>
                  <a:srgbClr val="008000"/>
                </a:solidFill>
              </a:rPr>
              <a:t>Q</a:t>
            </a:r>
          </a:p>
        </p:txBody>
      </p:sp>
      <p:sp>
        <p:nvSpPr>
          <p:cNvPr id="91" name="Line 53"/>
          <p:cNvSpPr>
            <a:spLocks noChangeShapeType="1"/>
          </p:cNvSpPr>
          <p:nvPr/>
        </p:nvSpPr>
        <p:spPr bwMode="auto">
          <a:xfrm>
            <a:off x="1789113" y="4324447"/>
            <a:ext cx="64230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a:p>
        </p:txBody>
      </p:sp>
      <p:sp>
        <p:nvSpPr>
          <p:cNvPr id="86067" name="Text Box 56"/>
          <p:cNvSpPr txBox="1">
            <a:spLocks noChangeArrowheads="1"/>
          </p:cNvSpPr>
          <p:nvPr/>
        </p:nvSpPr>
        <p:spPr bwMode="auto">
          <a:xfrm>
            <a:off x="1375560" y="5902310"/>
            <a:ext cx="3824786" cy="884070"/>
          </a:xfrm>
          <a:prstGeom prst="rect">
            <a:avLst/>
          </a:prstGeom>
          <a:solidFill>
            <a:schemeClr val="accent1">
              <a:lumMod val="60000"/>
              <a:lumOff val="40000"/>
            </a:schemeClr>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ym typeface="Symbol" panose="05050102010706020507" pitchFamily="18" charset="2"/>
              </a:rPr>
              <a:t>Cada “F” entre cada par de cargas depende de “r”</a:t>
            </a:r>
          </a:p>
        </p:txBody>
      </p:sp>
      <p:sp>
        <p:nvSpPr>
          <p:cNvPr id="21536" name="Text Box 62"/>
          <p:cNvSpPr txBox="1">
            <a:spLocks noChangeArrowheads="1"/>
          </p:cNvSpPr>
          <p:nvPr/>
        </p:nvSpPr>
        <p:spPr bwMode="auto">
          <a:xfrm>
            <a:off x="8025075" y="2355926"/>
            <a:ext cx="2286000" cy="1571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54000" tIns="46800" rIns="54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rgbClr val="FF0000"/>
                </a:solidFill>
                <a:sym typeface="Symbol" panose="05050102010706020507" pitchFamily="18" charset="2"/>
              </a:rPr>
              <a:t>La </a:t>
            </a:r>
            <a:r>
              <a:rPr lang="es-ES" sz="2400" b="1">
                <a:solidFill>
                  <a:srgbClr val="FF0000"/>
                </a:solidFill>
                <a:sym typeface="Symbol" panose="05050102010706020507" pitchFamily="18" charset="2"/>
              </a:rPr>
              <a:t>F</a:t>
            </a:r>
            <a:r>
              <a:rPr lang="es-ES" sz="2400" baseline="-25000">
                <a:solidFill>
                  <a:srgbClr val="FF0000"/>
                </a:solidFill>
                <a:sym typeface="Symbol" panose="05050102010706020507" pitchFamily="18" charset="2"/>
              </a:rPr>
              <a:t>NETA</a:t>
            </a:r>
            <a:r>
              <a:rPr lang="es-ES" sz="2400">
                <a:solidFill>
                  <a:srgbClr val="FF0000"/>
                </a:solidFill>
                <a:sym typeface="Symbol" panose="05050102010706020507" pitchFamily="18" charset="2"/>
              </a:rPr>
              <a:t> sobre la lata y sobre la barra no</a:t>
            </a:r>
          </a:p>
          <a:p>
            <a:pPr algn="ctr" eaLnBrk="1" hangingPunct="1">
              <a:spcBef>
                <a:spcPts val="0"/>
              </a:spcBef>
            </a:pPr>
            <a:r>
              <a:rPr lang="es-ES" sz="2400">
                <a:solidFill>
                  <a:srgbClr val="FF0000"/>
                </a:solidFill>
                <a:sym typeface="Symbol" panose="05050102010706020507" pitchFamily="18" charset="2"/>
              </a:rPr>
              <a:t>son nulas</a:t>
            </a:r>
            <a:endParaRPr lang="es-ES" sz="2400" b="1" baseline="-25000">
              <a:solidFill>
                <a:srgbClr val="FF0000"/>
              </a:solidFill>
              <a:sym typeface="Symbol" panose="05050102010706020507" pitchFamily="18" charset="2"/>
            </a:endParaRPr>
          </a:p>
        </p:txBody>
      </p:sp>
      <p:sp>
        <p:nvSpPr>
          <p:cNvPr id="54" name="AutoShape 63"/>
          <p:cNvSpPr>
            <a:spLocks noChangeArrowheads="1"/>
          </p:cNvSpPr>
          <p:nvPr/>
        </p:nvSpPr>
        <p:spPr bwMode="auto">
          <a:xfrm rot="10800000">
            <a:off x="8875876" y="4102789"/>
            <a:ext cx="577850" cy="334963"/>
          </a:xfrm>
          <a:prstGeom prst="downArrow">
            <a:avLst>
              <a:gd name="adj1" fmla="val 55491"/>
              <a:gd name="adj2" fmla="val 49764"/>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vert="eaVert"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56" name="Text Box 62"/>
          <p:cNvSpPr txBox="1">
            <a:spLocks noChangeArrowheads="1"/>
          </p:cNvSpPr>
          <p:nvPr/>
        </p:nvSpPr>
        <p:spPr bwMode="auto">
          <a:xfrm>
            <a:off x="5643107" y="4597983"/>
            <a:ext cx="4801269" cy="710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54000" tIns="46800" rIns="54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rgbClr val="FF0000"/>
                </a:solidFill>
                <a:sym typeface="Symbol" panose="05050102010706020507" pitchFamily="18" charset="2"/>
              </a:rPr>
              <a:t>Sumando toda las contribuciones</a:t>
            </a:r>
          </a:p>
          <a:p>
            <a:pPr algn="ctr" eaLnBrk="1" hangingPunct="1">
              <a:spcBef>
                <a:spcPts val="0"/>
              </a:spcBef>
            </a:pPr>
            <a:r>
              <a:rPr lang="es-ES" sz="2400" baseline="-25000">
                <a:solidFill>
                  <a:srgbClr val="FF0000"/>
                </a:solidFill>
                <a:sym typeface="Symbol" panose="05050102010706020507" pitchFamily="18" charset="2"/>
              </a:rPr>
              <a:t>(Hay el mismo número de unas y otras)</a:t>
            </a:r>
          </a:p>
        </p:txBody>
      </p:sp>
      <p:sp>
        <p:nvSpPr>
          <p:cNvPr id="85" name="AutoShape 63"/>
          <p:cNvSpPr>
            <a:spLocks noChangeArrowheads="1"/>
          </p:cNvSpPr>
          <p:nvPr/>
        </p:nvSpPr>
        <p:spPr bwMode="auto">
          <a:xfrm rot="10800000">
            <a:off x="8888033" y="5489100"/>
            <a:ext cx="577850" cy="334963"/>
          </a:xfrm>
          <a:prstGeom prst="downArrow">
            <a:avLst>
              <a:gd name="adj1" fmla="val 55491"/>
              <a:gd name="adj2" fmla="val 49764"/>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vert="eaVert"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86" name="Text Box 62"/>
          <p:cNvSpPr txBox="1">
            <a:spLocks noChangeArrowheads="1"/>
          </p:cNvSpPr>
          <p:nvPr/>
        </p:nvSpPr>
        <p:spPr bwMode="auto">
          <a:xfrm>
            <a:off x="1296591" y="866124"/>
            <a:ext cx="7719591" cy="1202510"/>
          </a:xfrm>
          <a:prstGeom prst="rect">
            <a:avLst/>
          </a:prstGeom>
          <a:solidFill>
            <a:schemeClr val="tx2">
              <a:lumMod val="25000"/>
              <a:lumOff val="75000"/>
            </a:schemeClr>
          </a:solidFill>
          <a:ln>
            <a:noFill/>
          </a:ln>
        </p:spPr>
        <p:txBody>
          <a:bodyPr wrap="square" lIns="54000" tIns="46800" rIns="54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chemeClr val="tx1"/>
                </a:solidFill>
                <a:sym typeface="Symbol" panose="05050102010706020507" pitchFamily="18" charset="2"/>
              </a:rPr>
              <a:t>Se </a:t>
            </a:r>
            <a:r>
              <a:rPr lang="es-ES" sz="2400" dirty="0">
                <a:solidFill>
                  <a:schemeClr val="tx1"/>
                </a:solidFill>
                <a:sym typeface="Symbol" panose="05050102010706020507" pitchFamily="18" charset="2"/>
              </a:rPr>
              <a:t>observa que estas son iguales a la suma de la que   se ejercen cada par </a:t>
            </a:r>
            <a:r>
              <a:rPr lang="es-ES" sz="2400">
                <a:solidFill>
                  <a:schemeClr val="tx1"/>
                </a:solidFill>
                <a:sym typeface="Symbol" panose="05050102010706020507" pitchFamily="18" charset="2"/>
              </a:rPr>
              <a:t>de cargas puntuales formado por</a:t>
            </a:r>
          </a:p>
          <a:p>
            <a:pPr algn="ctr" eaLnBrk="1" hangingPunct="1">
              <a:spcBef>
                <a:spcPts val="0"/>
              </a:spcBef>
            </a:pPr>
            <a:r>
              <a:rPr lang="es-ES" sz="2400">
                <a:solidFill>
                  <a:schemeClr val="tx1"/>
                </a:solidFill>
                <a:sym typeface="Symbol" panose="05050102010706020507" pitchFamily="18" charset="2"/>
              </a:rPr>
              <a:t>una carga de </a:t>
            </a:r>
            <a:r>
              <a:rPr lang="es-ES" sz="2400" dirty="0">
                <a:solidFill>
                  <a:schemeClr val="tx1"/>
                </a:solidFill>
                <a:sym typeface="Symbol" panose="05050102010706020507" pitchFamily="18" charset="2"/>
              </a:rPr>
              <a:t>la barra y otra de la lata</a:t>
            </a:r>
            <a:endParaRPr lang="es-ES" sz="2400" b="1" baseline="-25000" dirty="0">
              <a:solidFill>
                <a:schemeClr val="tx1"/>
              </a:solidFill>
              <a:sym typeface="Symbol" panose="05050102010706020507" pitchFamily="18" charset="2"/>
            </a:endParaRPr>
          </a:p>
        </p:txBody>
      </p:sp>
      <p:grpSp>
        <p:nvGrpSpPr>
          <p:cNvPr id="2" name="Grupo 1"/>
          <p:cNvGrpSpPr/>
          <p:nvPr/>
        </p:nvGrpSpPr>
        <p:grpSpPr>
          <a:xfrm>
            <a:off x="5077051" y="5838140"/>
            <a:ext cx="3325555" cy="1057114"/>
            <a:chOff x="5077051" y="5838140"/>
            <a:chExt cx="3325555" cy="1057114"/>
          </a:xfrm>
        </p:grpSpPr>
        <p:grpSp>
          <p:nvGrpSpPr>
            <p:cNvPr id="3" name="Grupo 2"/>
            <p:cNvGrpSpPr/>
            <p:nvPr/>
          </p:nvGrpSpPr>
          <p:grpSpPr>
            <a:xfrm>
              <a:off x="5394560" y="5838140"/>
              <a:ext cx="2630439" cy="577850"/>
              <a:chOff x="4428789" y="4759148"/>
              <a:chExt cx="2630439" cy="577850"/>
            </a:xfrm>
          </p:grpSpPr>
          <p:sp>
            <p:nvSpPr>
              <p:cNvPr id="92" name="AutoShape 63"/>
              <p:cNvSpPr>
                <a:spLocks noChangeArrowheads="1"/>
              </p:cNvSpPr>
              <p:nvPr/>
            </p:nvSpPr>
            <p:spPr bwMode="auto">
              <a:xfrm rot="16200000">
                <a:off x="4307345" y="4880592"/>
                <a:ext cx="577850" cy="334962"/>
              </a:xfrm>
              <a:prstGeom prst="downArrow">
                <a:avLst>
                  <a:gd name="adj1" fmla="val 55491"/>
                  <a:gd name="adj2" fmla="val 49764"/>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vert="eaVert"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53" name="Text Box 62"/>
              <p:cNvSpPr txBox="1">
                <a:spLocks noChangeArrowheads="1"/>
              </p:cNvSpPr>
              <p:nvPr/>
            </p:nvSpPr>
            <p:spPr bwMode="auto">
              <a:xfrm>
                <a:off x="4599712" y="4785328"/>
                <a:ext cx="2459516"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54000" tIns="46800" rIns="54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err="1">
                    <a:solidFill>
                      <a:srgbClr val="FF0000"/>
                    </a:solidFill>
                    <a:sym typeface="Symbol" panose="05050102010706020507" pitchFamily="18" charset="2"/>
                  </a:rPr>
                  <a:t>r</a:t>
                </a:r>
                <a:r>
                  <a:rPr lang="es-ES" sz="2400" baseline="-25000" dirty="0" err="1">
                    <a:solidFill>
                      <a:srgbClr val="FF0000"/>
                    </a:solidFill>
                    <a:sym typeface="Symbol" panose="05050102010706020507" pitchFamily="18" charset="2"/>
                  </a:rPr>
                  <a:t>Q</a:t>
                </a:r>
                <a:r>
                  <a:rPr lang="es-ES" sz="2400" baseline="-25000" dirty="0">
                    <a:solidFill>
                      <a:srgbClr val="FF0000"/>
                    </a:solidFill>
                    <a:sym typeface="Symbol" panose="05050102010706020507" pitchFamily="18" charset="2"/>
                  </a:rPr>
                  <a:t>*,Q</a:t>
                </a:r>
                <a:r>
                  <a:rPr lang="es-ES" sz="2400" dirty="0">
                    <a:solidFill>
                      <a:srgbClr val="FF0000"/>
                    </a:solidFill>
                    <a:sym typeface="Symbol" panose="05050102010706020507" pitchFamily="18" charset="2"/>
                  </a:rPr>
                  <a:t> &lt; </a:t>
                </a:r>
                <a:r>
                  <a:rPr lang="es-ES" sz="2400" dirty="0" err="1">
                    <a:solidFill>
                      <a:srgbClr val="FF0000"/>
                    </a:solidFill>
                    <a:sym typeface="Symbol" panose="05050102010706020507" pitchFamily="18" charset="2"/>
                  </a:rPr>
                  <a:t>r</a:t>
                </a:r>
                <a:r>
                  <a:rPr lang="es-ES" sz="2400" baseline="-25000" dirty="0" err="1">
                    <a:solidFill>
                      <a:srgbClr val="FF0000"/>
                    </a:solidFill>
                    <a:sym typeface="Symbol" panose="05050102010706020507" pitchFamily="18" charset="2"/>
                  </a:rPr>
                  <a:t>Q</a:t>
                </a:r>
                <a:r>
                  <a:rPr lang="es-ES" sz="2400" baseline="-25000" dirty="0">
                    <a:solidFill>
                      <a:srgbClr val="FF0000"/>
                    </a:solidFill>
                    <a:sym typeface="Symbol" panose="05050102010706020507" pitchFamily="18" charset="2"/>
                  </a:rPr>
                  <a:t>*,-Q</a:t>
                </a:r>
              </a:p>
            </p:txBody>
          </p:sp>
        </p:grpSp>
        <p:sp>
          <p:nvSpPr>
            <p:cNvPr id="87" name="Text Box 62"/>
            <p:cNvSpPr txBox="1">
              <a:spLocks noChangeArrowheads="1"/>
            </p:cNvSpPr>
            <p:nvPr/>
          </p:nvSpPr>
          <p:spPr bwMode="auto">
            <a:xfrm>
              <a:off x="5077051" y="6308297"/>
              <a:ext cx="3325555"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54000" tIns="46800" rIns="54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baseline="-25000" dirty="0">
                  <a:solidFill>
                    <a:srgbClr val="FF0000"/>
                  </a:solidFill>
                  <a:sym typeface="Symbol" panose="05050102010706020507" pitchFamily="18" charset="2"/>
                </a:rPr>
                <a:t>(para cada par de </a:t>
              </a:r>
              <a:r>
                <a:rPr lang="es-ES" sz="2400" baseline="-25000">
                  <a:solidFill>
                    <a:srgbClr val="FF0000"/>
                  </a:solidFill>
                  <a:sym typeface="Symbol" panose="05050102010706020507" pitchFamily="18" charset="2"/>
                </a:rPr>
                <a:t>cargas Q*,Q</a:t>
              </a:r>
            </a:p>
            <a:p>
              <a:pPr algn="ctr" eaLnBrk="1" hangingPunct="1">
                <a:spcBef>
                  <a:spcPts val="0"/>
                </a:spcBef>
              </a:pPr>
              <a:r>
                <a:rPr lang="es-ES" sz="2400" baseline="-25000">
                  <a:solidFill>
                    <a:srgbClr val="FF0000"/>
                  </a:solidFill>
                  <a:sym typeface="Symbol" panose="05050102010706020507" pitchFamily="18" charset="2"/>
                </a:rPr>
                <a:t>y Q*,-Q que </a:t>
              </a:r>
              <a:r>
                <a:rPr lang="es-ES" sz="2400" baseline="-25000" dirty="0">
                  <a:solidFill>
                    <a:srgbClr val="FF0000"/>
                  </a:solidFill>
                  <a:sym typeface="Symbol" panose="05050102010706020507" pitchFamily="18" charset="2"/>
                </a:rPr>
                <a:t>se considere)</a:t>
              </a:r>
              <a:endParaRPr lang="es-ES" sz="2400" b="1" baseline="-25000" dirty="0">
                <a:solidFill>
                  <a:srgbClr val="FF0000"/>
                </a:solidFill>
                <a:sym typeface="Symbol" panose="05050102010706020507" pitchFamily="18" charset="2"/>
              </a:endParaRPr>
            </a:p>
          </p:txBody>
        </p:sp>
      </p:grpSp>
      <p:grpSp>
        <p:nvGrpSpPr>
          <p:cNvPr id="5" name="Grupo 4"/>
          <p:cNvGrpSpPr/>
          <p:nvPr/>
        </p:nvGrpSpPr>
        <p:grpSpPr>
          <a:xfrm>
            <a:off x="7869307" y="5857471"/>
            <a:ext cx="2588580" cy="759778"/>
            <a:chOff x="7869307" y="5857471"/>
            <a:chExt cx="2588580" cy="759778"/>
          </a:xfrm>
        </p:grpSpPr>
        <p:grpSp>
          <p:nvGrpSpPr>
            <p:cNvPr id="7" name="Grupo 6"/>
            <p:cNvGrpSpPr/>
            <p:nvPr/>
          </p:nvGrpSpPr>
          <p:grpSpPr>
            <a:xfrm>
              <a:off x="7869307" y="5857471"/>
              <a:ext cx="2381541" cy="577850"/>
              <a:chOff x="8006467" y="4778479"/>
              <a:chExt cx="2381541" cy="577850"/>
            </a:xfrm>
          </p:grpSpPr>
          <p:sp>
            <p:nvSpPr>
              <p:cNvPr id="21537" name="AutoShape 63"/>
              <p:cNvSpPr>
                <a:spLocks noChangeArrowheads="1"/>
              </p:cNvSpPr>
              <p:nvPr/>
            </p:nvSpPr>
            <p:spPr bwMode="auto">
              <a:xfrm rot="16200000">
                <a:off x="7885024" y="4899922"/>
                <a:ext cx="577850" cy="334963"/>
              </a:xfrm>
              <a:prstGeom prst="downArrow">
                <a:avLst>
                  <a:gd name="adj1" fmla="val 55491"/>
                  <a:gd name="adj2" fmla="val 49764"/>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vert="eaVert"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55" name="Text Box 62"/>
              <p:cNvSpPr txBox="1">
                <a:spLocks noChangeArrowheads="1"/>
              </p:cNvSpPr>
              <p:nvPr/>
            </p:nvSpPr>
            <p:spPr bwMode="auto">
              <a:xfrm>
                <a:off x="8309971" y="4816150"/>
                <a:ext cx="2078037"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54000" tIns="46800" rIns="54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rgbClr val="FF0000"/>
                    </a:solidFill>
                    <a:sym typeface="Symbol" panose="05050102010706020507" pitchFamily="18" charset="2"/>
                  </a:rPr>
                  <a:t>F</a:t>
                </a:r>
                <a:r>
                  <a:rPr lang="es-ES" sz="2400" baseline="-25000">
                    <a:solidFill>
                      <a:srgbClr val="FF0000"/>
                    </a:solidFill>
                    <a:sym typeface="Symbol" panose="05050102010706020507" pitchFamily="18" charset="2"/>
                  </a:rPr>
                  <a:t>Q*,Q</a:t>
                </a:r>
                <a:r>
                  <a:rPr lang="es-ES" sz="2400">
                    <a:solidFill>
                      <a:srgbClr val="FF0000"/>
                    </a:solidFill>
                    <a:sym typeface="Symbol" panose="05050102010706020507" pitchFamily="18" charset="2"/>
                  </a:rPr>
                  <a:t> &gt; F</a:t>
                </a:r>
                <a:r>
                  <a:rPr lang="es-ES" sz="2400" baseline="-25000">
                    <a:solidFill>
                      <a:srgbClr val="FF0000"/>
                    </a:solidFill>
                    <a:sym typeface="Symbol" panose="05050102010706020507" pitchFamily="18" charset="2"/>
                  </a:rPr>
                  <a:t>Q*,-Q</a:t>
                </a:r>
                <a:r>
                  <a:rPr lang="es-ES" sz="2400">
                    <a:solidFill>
                      <a:srgbClr val="FF0000"/>
                    </a:solidFill>
                    <a:sym typeface="Symbol" panose="05050102010706020507" pitchFamily="18" charset="2"/>
                  </a:rPr>
                  <a:t> </a:t>
                </a:r>
                <a:endParaRPr lang="es-ES" sz="2400" b="1" baseline="-25000">
                  <a:solidFill>
                    <a:srgbClr val="FF0000"/>
                  </a:solidFill>
                  <a:sym typeface="Symbol" panose="05050102010706020507" pitchFamily="18" charset="2"/>
                </a:endParaRPr>
              </a:p>
            </p:txBody>
          </p:sp>
        </p:grpSp>
        <p:sp>
          <p:nvSpPr>
            <p:cNvPr id="93" name="Text Box 62"/>
            <p:cNvSpPr txBox="1">
              <a:spLocks noChangeArrowheads="1"/>
            </p:cNvSpPr>
            <p:nvPr/>
          </p:nvSpPr>
          <p:spPr bwMode="auto">
            <a:xfrm>
              <a:off x="8103782" y="6276514"/>
              <a:ext cx="235410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54000" tIns="46800" rIns="54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baseline="-25000">
                  <a:solidFill>
                    <a:srgbClr val="FF0000"/>
                  </a:solidFill>
                  <a:sym typeface="Symbol" panose="05050102010706020507" pitchFamily="18" charset="2"/>
                </a:rPr>
                <a:t>(atractiva)  (repulsiva)</a:t>
              </a:r>
              <a:endParaRPr lang="es-ES" sz="2400" b="1" baseline="-25000">
                <a:solidFill>
                  <a:srgbClr val="FF0000"/>
                </a:solidFill>
                <a:sym typeface="Symbol" panose="05050102010706020507" pitchFamily="18" charset="2"/>
              </a:endParaRPr>
            </a:p>
          </p:txBody>
        </p:sp>
      </p:grpSp>
      <p:grpSp>
        <p:nvGrpSpPr>
          <p:cNvPr id="94" name="Group 32">
            <a:extLst>
              <a:ext uri="{FF2B5EF4-FFF2-40B4-BE49-F238E27FC236}">
                <a16:creationId xmlns:a16="http://schemas.microsoft.com/office/drawing/2014/main" id="{C7079A7E-529B-45E3-B195-AB510E793833}"/>
              </a:ext>
            </a:extLst>
          </p:cNvPr>
          <p:cNvGrpSpPr>
            <a:grpSpLocks/>
          </p:cNvGrpSpPr>
          <p:nvPr/>
        </p:nvGrpSpPr>
        <p:grpSpPr bwMode="auto">
          <a:xfrm>
            <a:off x="4120258" y="2570950"/>
            <a:ext cx="1363664" cy="630238"/>
            <a:chOff x="2864" y="3218"/>
            <a:chExt cx="859" cy="397"/>
          </a:xfrm>
        </p:grpSpPr>
        <p:sp>
          <p:nvSpPr>
            <p:cNvPr id="95" name="Line 33">
              <a:extLst>
                <a:ext uri="{FF2B5EF4-FFF2-40B4-BE49-F238E27FC236}">
                  <a16:creationId xmlns:a16="http://schemas.microsoft.com/office/drawing/2014/main" id="{6FDDEEB9-5C06-4418-AEA1-3B6593C22720}"/>
                </a:ext>
              </a:extLst>
            </p:cNvPr>
            <p:cNvSpPr>
              <a:spLocks noChangeShapeType="1"/>
            </p:cNvSpPr>
            <p:nvPr/>
          </p:nvSpPr>
          <p:spPr bwMode="auto">
            <a:xfrm flipH="1" flipV="1">
              <a:off x="3406" y="3615"/>
              <a:ext cx="317" cy="0"/>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wrap="none" lIns="90000" tIns="46800" rIns="90000" bIns="46800"/>
            <a:lstStyle/>
            <a:p>
              <a:endParaRPr lang="en-GB">
                <a:solidFill>
                  <a:srgbClr val="FF0000"/>
                </a:solidFill>
              </a:endParaRPr>
            </a:p>
          </p:txBody>
        </p:sp>
        <p:sp>
          <p:nvSpPr>
            <p:cNvPr id="96" name="Line 34">
              <a:extLst>
                <a:ext uri="{FF2B5EF4-FFF2-40B4-BE49-F238E27FC236}">
                  <a16:creationId xmlns:a16="http://schemas.microsoft.com/office/drawing/2014/main" id="{BE444F47-A70A-4E01-9711-A04BBACA6175}"/>
                </a:ext>
              </a:extLst>
            </p:cNvPr>
            <p:cNvSpPr>
              <a:spLocks noChangeShapeType="1"/>
            </p:cNvSpPr>
            <p:nvPr/>
          </p:nvSpPr>
          <p:spPr bwMode="auto">
            <a:xfrm flipV="1">
              <a:off x="2952" y="3615"/>
              <a:ext cx="317" cy="0"/>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wrap="none" lIns="90000" tIns="46800" rIns="90000" bIns="46800"/>
            <a:lstStyle/>
            <a:p>
              <a:endParaRPr lang="en-GB">
                <a:solidFill>
                  <a:srgbClr val="FF0000"/>
                </a:solidFill>
              </a:endParaRPr>
            </a:p>
          </p:txBody>
        </p:sp>
        <p:sp>
          <p:nvSpPr>
            <p:cNvPr id="97" name="Text Box 35">
              <a:extLst>
                <a:ext uri="{FF2B5EF4-FFF2-40B4-BE49-F238E27FC236}">
                  <a16:creationId xmlns:a16="http://schemas.microsoft.com/office/drawing/2014/main" id="{25F2A0AF-5216-4B8D-BE47-89F9F1E6E93A}"/>
                </a:ext>
              </a:extLst>
            </p:cNvPr>
            <p:cNvSpPr txBox="1">
              <a:spLocks noChangeArrowheads="1"/>
            </p:cNvSpPr>
            <p:nvPr/>
          </p:nvSpPr>
          <p:spPr bwMode="auto">
            <a:xfrm>
              <a:off x="2864" y="3218"/>
              <a:ext cx="7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dirty="0">
                  <a:solidFill>
                    <a:srgbClr val="FF0000"/>
                  </a:solidFill>
                </a:rPr>
                <a:t>Se atraen</a:t>
              </a:r>
            </a:p>
          </p:txBody>
        </p:sp>
      </p:grpSp>
      <p:sp>
        <p:nvSpPr>
          <p:cNvPr id="98" name="Text Box 54">
            <a:extLst>
              <a:ext uri="{FF2B5EF4-FFF2-40B4-BE49-F238E27FC236}">
                <a16:creationId xmlns:a16="http://schemas.microsoft.com/office/drawing/2014/main" id="{CD447D25-F44E-4F55-8E4F-82BA28666208}"/>
              </a:ext>
            </a:extLst>
          </p:cNvPr>
          <p:cNvSpPr txBox="1">
            <a:spLocks noChangeArrowheads="1"/>
          </p:cNvSpPr>
          <p:nvPr/>
        </p:nvSpPr>
        <p:spPr bwMode="auto">
          <a:xfrm>
            <a:off x="3918157" y="3450357"/>
            <a:ext cx="1928812" cy="4638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rgbClr val="FF0000"/>
                </a:solidFill>
              </a:rPr>
              <a:t>(se acercan)</a:t>
            </a:r>
          </a:p>
        </p:txBody>
      </p:sp>
      <p:sp>
        <p:nvSpPr>
          <p:cNvPr id="6" name="AutoShape 63">
            <a:extLst>
              <a:ext uri="{FF2B5EF4-FFF2-40B4-BE49-F238E27FC236}">
                <a16:creationId xmlns:a16="http://schemas.microsoft.com/office/drawing/2014/main" id="{915037AB-0940-4A88-A122-68B409ECDA0F}"/>
              </a:ext>
            </a:extLst>
          </p:cNvPr>
          <p:cNvSpPr>
            <a:spLocks noChangeArrowheads="1"/>
          </p:cNvSpPr>
          <p:nvPr/>
        </p:nvSpPr>
        <p:spPr bwMode="auto">
          <a:xfrm>
            <a:off x="1216026" y="2184137"/>
            <a:ext cx="370615" cy="2159000"/>
          </a:xfrm>
          <a:prstGeom prst="downArrow">
            <a:avLst>
              <a:gd name="adj1" fmla="val 55491"/>
              <a:gd name="adj2" fmla="val 132006"/>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vert="eaVert"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57" name="Text Box 62">
            <a:extLst>
              <a:ext uri="{FF2B5EF4-FFF2-40B4-BE49-F238E27FC236}">
                <a16:creationId xmlns:a16="http://schemas.microsoft.com/office/drawing/2014/main" id="{E2A0947E-F1C7-47D7-B3C7-58B29D2F70F5}"/>
              </a:ext>
            </a:extLst>
          </p:cNvPr>
          <p:cNvSpPr txBox="1">
            <a:spLocks noChangeArrowheads="1"/>
          </p:cNvSpPr>
          <p:nvPr/>
        </p:nvSpPr>
        <p:spPr bwMode="auto">
          <a:xfrm>
            <a:off x="1296591" y="318392"/>
            <a:ext cx="7719591" cy="463846"/>
          </a:xfrm>
          <a:prstGeom prst="rect">
            <a:avLst/>
          </a:prstGeom>
          <a:solidFill>
            <a:srgbClr val="C0C0C0"/>
          </a:solidFill>
          <a:ln>
            <a:noFill/>
          </a:ln>
        </p:spPr>
        <p:txBody>
          <a:bodyPr wrap="square" lIns="54000" tIns="46800" rIns="54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chemeClr val="tx1"/>
                </a:solidFill>
                <a:sym typeface="Symbol" panose="05050102010706020507" pitchFamily="18" charset="2"/>
              </a:rPr>
              <a:t>Tras </a:t>
            </a:r>
            <a:r>
              <a:rPr lang="es-ES" sz="2400">
                <a:solidFill>
                  <a:schemeClr val="tx1"/>
                </a:solidFill>
                <a:sym typeface="Symbol" panose="05050102010706020507" pitchFamily="18" charset="2"/>
              </a:rPr>
              <a:t>la polarización la barra y la lata se ejercen fuerzas</a:t>
            </a:r>
            <a:endParaRPr lang="es-ES" sz="2400" b="1" baseline="-25000" dirty="0">
              <a:solidFill>
                <a:schemeClr val="tx1"/>
              </a:solidFill>
              <a:sym typeface="Symbol" panose="05050102010706020507" pitchFamily="18" charset="2"/>
            </a:endParaRPr>
          </a:p>
        </p:txBody>
      </p:sp>
    </p:spTree>
    <p:extLst>
      <p:ext uri="{BB962C8B-B14F-4D97-AF65-F5344CB8AC3E}">
        <p14:creationId xmlns:p14="http://schemas.microsoft.com/office/powerpoint/2010/main" val="29101677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up)">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wipe(up)">
                                      <p:cBhvr>
                                        <p:cTn id="12" dur="500"/>
                                        <p:tgtEl>
                                          <p:spTgt spid="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par>
                          <p:cTn id="18" fill="hold">
                            <p:stCondLst>
                              <p:cond delay="500"/>
                            </p:stCondLst>
                            <p:childTnLst>
                              <p:par>
                                <p:cTn id="19" presetID="3" presetClass="entr" presetSubtype="5"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linds(vertical)">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86067"/>
                                        </p:tgtEl>
                                        <p:attrNameLst>
                                          <p:attrName>style.visibility</p:attrName>
                                        </p:attrNameLst>
                                      </p:cBhvr>
                                      <p:to>
                                        <p:strVal val="visible"/>
                                      </p:to>
                                    </p:set>
                                    <p:animEffect transition="in" filter="blinds(horizontal)">
                                      <p:cBhvr>
                                        <p:cTn id="26" dur="500"/>
                                        <p:tgtEl>
                                          <p:spTgt spid="8606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ipe(left)">
                                      <p:cBhvr>
                                        <p:cTn id="36" dur="5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85"/>
                                        </p:tgtEl>
                                        <p:attrNameLst>
                                          <p:attrName>style.visibility</p:attrName>
                                        </p:attrNameLst>
                                      </p:cBhvr>
                                      <p:to>
                                        <p:strVal val="visible"/>
                                      </p:to>
                                    </p:set>
                                    <p:animEffect transition="in" filter="wipe(down)">
                                      <p:cBhvr>
                                        <p:cTn id="41" dur="500"/>
                                        <p:tgtEl>
                                          <p:spTgt spid="85"/>
                                        </p:tgtEl>
                                      </p:cBhvr>
                                    </p:animEffect>
                                  </p:childTnLst>
                                </p:cTn>
                              </p:par>
                            </p:childTnLst>
                          </p:cTn>
                        </p:par>
                        <p:par>
                          <p:cTn id="42" fill="hold">
                            <p:stCondLst>
                              <p:cond delay="500"/>
                            </p:stCondLst>
                            <p:childTnLst>
                              <p:par>
                                <p:cTn id="43" presetID="22" presetClass="entr" presetSubtype="1" fill="hold" grpId="0" nodeType="afterEffect">
                                  <p:stCondLst>
                                    <p:cond delay="0"/>
                                  </p:stCondLst>
                                  <p:childTnLst>
                                    <p:set>
                                      <p:cBhvr>
                                        <p:cTn id="44" dur="1" fill="hold">
                                          <p:stCondLst>
                                            <p:cond delay="0"/>
                                          </p:stCondLst>
                                        </p:cTn>
                                        <p:tgtEl>
                                          <p:spTgt spid="56"/>
                                        </p:tgtEl>
                                        <p:attrNameLst>
                                          <p:attrName>style.visibility</p:attrName>
                                        </p:attrNameLst>
                                      </p:cBhvr>
                                      <p:to>
                                        <p:strVal val="visible"/>
                                      </p:to>
                                    </p:set>
                                    <p:animEffect transition="in" filter="wipe(up)">
                                      <p:cBhvr>
                                        <p:cTn id="45" dur="500"/>
                                        <p:tgtEl>
                                          <p:spTgt spid="5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54"/>
                                        </p:tgtEl>
                                        <p:attrNameLst>
                                          <p:attrName>style.visibility</p:attrName>
                                        </p:attrNameLst>
                                      </p:cBhvr>
                                      <p:to>
                                        <p:strVal val="visible"/>
                                      </p:to>
                                    </p:set>
                                    <p:animEffect transition="in" filter="wipe(down)">
                                      <p:cBhvr>
                                        <p:cTn id="50" dur="500"/>
                                        <p:tgtEl>
                                          <p:spTgt spid="54"/>
                                        </p:tgtEl>
                                      </p:cBhvr>
                                    </p:animEffect>
                                  </p:childTnLst>
                                </p:cTn>
                              </p:par>
                            </p:childTnLst>
                          </p:cTn>
                        </p:par>
                        <p:par>
                          <p:cTn id="51" fill="hold">
                            <p:stCondLst>
                              <p:cond delay="500"/>
                            </p:stCondLst>
                            <p:childTnLst>
                              <p:par>
                                <p:cTn id="52" presetID="22" presetClass="entr" presetSubtype="1" fill="hold" grpId="0" nodeType="afterEffect">
                                  <p:stCondLst>
                                    <p:cond delay="0"/>
                                  </p:stCondLst>
                                  <p:childTnLst>
                                    <p:set>
                                      <p:cBhvr>
                                        <p:cTn id="53" dur="1" fill="hold">
                                          <p:stCondLst>
                                            <p:cond delay="0"/>
                                          </p:stCondLst>
                                        </p:cTn>
                                        <p:tgtEl>
                                          <p:spTgt spid="21536"/>
                                        </p:tgtEl>
                                        <p:attrNameLst>
                                          <p:attrName>style.visibility</p:attrName>
                                        </p:attrNameLst>
                                      </p:cBhvr>
                                      <p:to>
                                        <p:strVal val="visible"/>
                                      </p:to>
                                    </p:set>
                                    <p:animEffect transition="in" filter="wipe(up)">
                                      <p:cBhvr>
                                        <p:cTn id="54" dur="500"/>
                                        <p:tgtEl>
                                          <p:spTgt spid="21536"/>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nodeType="clickEffect">
                                  <p:stCondLst>
                                    <p:cond delay="0"/>
                                  </p:stCondLst>
                                  <p:childTnLst>
                                    <p:set>
                                      <p:cBhvr>
                                        <p:cTn id="58" dur="1" fill="hold">
                                          <p:stCondLst>
                                            <p:cond delay="0"/>
                                          </p:stCondLst>
                                        </p:cTn>
                                        <p:tgtEl>
                                          <p:spTgt spid="94"/>
                                        </p:tgtEl>
                                        <p:attrNameLst>
                                          <p:attrName>style.visibility</p:attrName>
                                        </p:attrNameLst>
                                      </p:cBhvr>
                                      <p:to>
                                        <p:strVal val="visible"/>
                                      </p:to>
                                    </p:set>
                                    <p:animEffect transition="in" filter="barn(inVertical)">
                                      <p:cBhvr>
                                        <p:cTn id="59" dur="500"/>
                                        <p:tgtEl>
                                          <p:spTgt spid="94"/>
                                        </p:tgtEl>
                                      </p:cBhvr>
                                    </p:animEffect>
                                  </p:childTnLst>
                                </p:cTn>
                              </p:par>
                            </p:childTnLst>
                          </p:cTn>
                        </p:par>
                        <p:par>
                          <p:cTn id="60" fill="hold">
                            <p:stCondLst>
                              <p:cond delay="500"/>
                            </p:stCondLst>
                            <p:childTnLst>
                              <p:par>
                                <p:cTn id="61" presetID="12" presetClass="entr" presetSubtype="1" fill="hold" grpId="0" nodeType="afterEffect">
                                  <p:stCondLst>
                                    <p:cond delay="0"/>
                                  </p:stCondLst>
                                  <p:childTnLst>
                                    <p:set>
                                      <p:cBhvr>
                                        <p:cTn id="62" dur="1" fill="hold">
                                          <p:stCondLst>
                                            <p:cond delay="0"/>
                                          </p:stCondLst>
                                        </p:cTn>
                                        <p:tgtEl>
                                          <p:spTgt spid="98"/>
                                        </p:tgtEl>
                                        <p:attrNameLst>
                                          <p:attrName>style.visibility</p:attrName>
                                        </p:attrNameLst>
                                      </p:cBhvr>
                                      <p:to>
                                        <p:strVal val="visible"/>
                                      </p:to>
                                    </p:set>
                                    <p:anim calcmode="lin" valueType="num">
                                      <p:cBhvr additive="base">
                                        <p:cTn id="63" dur="500"/>
                                        <p:tgtEl>
                                          <p:spTgt spid="98"/>
                                        </p:tgtEl>
                                        <p:attrNameLst>
                                          <p:attrName>ppt_y</p:attrName>
                                        </p:attrNameLst>
                                      </p:cBhvr>
                                      <p:tavLst>
                                        <p:tav tm="0">
                                          <p:val>
                                            <p:strVal val="#ppt_y-#ppt_h*1.125000"/>
                                          </p:val>
                                        </p:tav>
                                        <p:tav tm="100000">
                                          <p:val>
                                            <p:strVal val="#ppt_y"/>
                                          </p:val>
                                        </p:tav>
                                      </p:tavLst>
                                    </p:anim>
                                    <p:animEffect transition="in" filter="wipe(down)">
                                      <p:cBhvr>
                                        <p:cTn id="64"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67" grpId="0" animBg="1"/>
      <p:bldP spid="21536" grpId="0"/>
      <p:bldP spid="54" grpId="0" animBg="1"/>
      <p:bldP spid="56" grpId="0"/>
      <p:bldP spid="85" grpId="0" animBg="1"/>
      <p:bldP spid="86" grpId="0" animBg="1"/>
      <p:bldP spid="98" grpId="0"/>
      <p:bldP spid="6" grpId="0" animBg="1"/>
      <p:bldP spid="5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 Box 58">
            <a:extLst>
              <a:ext uri="{FF2B5EF4-FFF2-40B4-BE49-F238E27FC236}">
                <a16:creationId xmlns:a16="http://schemas.microsoft.com/office/drawing/2014/main" id="{426F46CD-B963-499A-9F57-51D6328583F8}"/>
              </a:ext>
            </a:extLst>
          </p:cNvPr>
          <p:cNvSpPr txBox="1">
            <a:spLocks noChangeArrowheads="1"/>
          </p:cNvSpPr>
          <p:nvPr/>
        </p:nvSpPr>
        <p:spPr bwMode="auto">
          <a:xfrm>
            <a:off x="1366684" y="4407826"/>
            <a:ext cx="8957187" cy="1202510"/>
          </a:xfrm>
          <a:prstGeom prst="rect">
            <a:avLst/>
          </a:prstGeom>
          <a:solidFill>
            <a:schemeClr val="tx2">
              <a:lumMod val="25000"/>
              <a:lumOff val="75000"/>
            </a:schemeClr>
          </a:solidFill>
          <a:ln>
            <a:noFill/>
          </a:ln>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defRPr/>
            </a:pPr>
            <a:r>
              <a:rPr lang="es-ES" sz="2400" dirty="0">
                <a:solidFill>
                  <a:schemeClr val="tx1"/>
                </a:solidFill>
                <a:sym typeface="Symbol" panose="05050102010706020507" pitchFamily="18" charset="2"/>
              </a:rPr>
              <a:t>Q y –Q crecen, en valor absoluto, por el movimiento de </a:t>
            </a:r>
            <a:r>
              <a:rPr lang="es-ES" sz="2400">
                <a:solidFill>
                  <a:schemeClr val="tx1"/>
                </a:solidFill>
                <a:sym typeface="Symbol" panose="05050102010706020507" pitchFamily="18" charset="2"/>
              </a:rPr>
              <a:t>e</a:t>
            </a:r>
            <a:r>
              <a:rPr lang="es-ES" sz="2400" baseline="30000">
                <a:solidFill>
                  <a:schemeClr val="tx1"/>
                </a:solidFill>
                <a:sym typeface="Symbol" panose="05050102010706020507" pitchFamily="18" charset="2"/>
              </a:rPr>
              <a:t>-</a:t>
            </a:r>
            <a:r>
              <a:rPr lang="es-ES" sz="2400">
                <a:solidFill>
                  <a:schemeClr val="tx1"/>
                </a:solidFill>
                <a:sym typeface="Symbol" panose="05050102010706020507" pitchFamily="18" charset="2"/>
              </a:rPr>
              <a:t> </a:t>
            </a:r>
          </a:p>
          <a:p>
            <a:pPr algn="ctr" eaLnBrk="1" hangingPunct="1">
              <a:spcBef>
                <a:spcPts val="0"/>
              </a:spcBef>
              <a:defRPr/>
            </a:pPr>
            <a:r>
              <a:rPr lang="es-ES" sz="2400">
                <a:solidFill>
                  <a:schemeClr val="tx1"/>
                </a:solidFill>
                <a:sym typeface="Symbol" panose="05050102010706020507" pitchFamily="18" charset="2"/>
              </a:rPr>
              <a:t>hacia </a:t>
            </a:r>
            <a:r>
              <a:rPr lang="es-ES" sz="2400" dirty="0">
                <a:solidFill>
                  <a:schemeClr val="tx1"/>
                </a:solidFill>
                <a:sym typeface="Symbol" panose="05050102010706020507" pitchFamily="18" charset="2"/>
              </a:rPr>
              <a:t>la izquierda que se produce en </a:t>
            </a:r>
            <a:r>
              <a:rPr lang="es-ES" sz="2400">
                <a:solidFill>
                  <a:schemeClr val="tx1"/>
                </a:solidFill>
                <a:sym typeface="Symbol" panose="05050102010706020507" pitchFamily="18" charset="2"/>
              </a:rPr>
              <a:t>la lata </a:t>
            </a:r>
            <a:r>
              <a:rPr lang="es-ES" sz="2400" dirty="0">
                <a:solidFill>
                  <a:schemeClr val="tx1"/>
                </a:solidFill>
                <a:sym typeface="Symbol" panose="05050102010706020507" pitchFamily="18" charset="2"/>
              </a:rPr>
              <a:t>hasta que</a:t>
            </a:r>
          </a:p>
          <a:p>
            <a:pPr algn="ctr" eaLnBrk="1" hangingPunct="1">
              <a:spcBef>
                <a:spcPts val="0"/>
              </a:spcBef>
              <a:defRPr/>
            </a:pPr>
            <a:r>
              <a:rPr lang="es-ES" sz="2400" dirty="0">
                <a:solidFill>
                  <a:schemeClr val="tx1"/>
                </a:solidFill>
                <a:sym typeface="Symbol" panose="05050102010706020507" pitchFamily="18" charset="2"/>
              </a:rPr>
              <a:t>la </a:t>
            </a:r>
            <a:r>
              <a:rPr lang="es-ES" sz="2400" b="1" dirty="0">
                <a:solidFill>
                  <a:schemeClr val="tx1"/>
                </a:solidFill>
                <a:sym typeface="Symbol" panose="05050102010706020507" pitchFamily="18" charset="2"/>
              </a:rPr>
              <a:t>F</a:t>
            </a:r>
            <a:r>
              <a:rPr lang="es-ES" sz="2400" baseline="-25000" dirty="0">
                <a:solidFill>
                  <a:schemeClr val="tx1"/>
                </a:solidFill>
                <a:sym typeface="Symbol" panose="05050102010706020507" pitchFamily="18" charset="2"/>
              </a:rPr>
              <a:t>NETA</a:t>
            </a:r>
            <a:r>
              <a:rPr lang="es-ES" sz="2400" dirty="0">
                <a:solidFill>
                  <a:schemeClr val="tx1"/>
                </a:solidFill>
                <a:sym typeface="Symbol" panose="05050102010706020507" pitchFamily="18" charset="2"/>
              </a:rPr>
              <a:t> sobre los e</a:t>
            </a:r>
            <a:r>
              <a:rPr lang="es-ES" sz="2400" baseline="30000" dirty="0">
                <a:solidFill>
                  <a:schemeClr val="tx1"/>
                </a:solidFill>
                <a:sym typeface="Symbol" panose="05050102010706020507" pitchFamily="18" charset="2"/>
              </a:rPr>
              <a:t>-</a:t>
            </a:r>
            <a:r>
              <a:rPr lang="es-ES" sz="2400" dirty="0">
                <a:solidFill>
                  <a:schemeClr val="tx1"/>
                </a:solidFill>
                <a:sym typeface="Symbol" panose="05050102010706020507" pitchFamily="18" charset="2"/>
              </a:rPr>
              <a:t>, ejercida por Q*, Q y –Q</a:t>
            </a:r>
            <a:r>
              <a:rPr lang="es-ES" sz="2400">
                <a:solidFill>
                  <a:schemeClr val="tx1"/>
                </a:solidFill>
                <a:sym typeface="Symbol" panose="05050102010706020507" pitchFamily="18" charset="2"/>
              </a:rPr>
              <a:t>, sea </a:t>
            </a:r>
            <a:r>
              <a:rPr lang="es-ES" sz="2400" dirty="0">
                <a:solidFill>
                  <a:schemeClr val="tx1"/>
                </a:solidFill>
                <a:sym typeface="Symbol" panose="05050102010706020507" pitchFamily="18" charset="2"/>
              </a:rPr>
              <a:t>nula</a:t>
            </a:r>
            <a:endParaRPr lang="es-ES" sz="2400" b="1" dirty="0">
              <a:solidFill>
                <a:schemeClr val="tx1"/>
              </a:solidFill>
              <a:sym typeface="Symbol" panose="05050102010706020507" pitchFamily="18" charset="2"/>
            </a:endParaRPr>
          </a:p>
        </p:txBody>
      </p:sp>
      <p:sp>
        <p:nvSpPr>
          <p:cNvPr id="40" name="Text Box 58">
            <a:extLst>
              <a:ext uri="{FF2B5EF4-FFF2-40B4-BE49-F238E27FC236}">
                <a16:creationId xmlns:a16="http://schemas.microsoft.com/office/drawing/2014/main" id="{0ABEDEDE-12C9-4BB1-A8BA-DC518135D656}"/>
              </a:ext>
            </a:extLst>
          </p:cNvPr>
          <p:cNvSpPr txBox="1">
            <a:spLocks noChangeArrowheads="1"/>
          </p:cNvSpPr>
          <p:nvPr/>
        </p:nvSpPr>
        <p:spPr bwMode="auto">
          <a:xfrm>
            <a:off x="1366684" y="5687761"/>
            <a:ext cx="8957187" cy="1202510"/>
          </a:xfrm>
          <a:prstGeom prst="rect">
            <a:avLst/>
          </a:prstGeom>
          <a:solidFill>
            <a:schemeClr val="tx2">
              <a:lumMod val="25000"/>
              <a:lumOff val="75000"/>
            </a:schemeClr>
          </a:solidFill>
          <a:ln>
            <a:noFill/>
          </a:ln>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defRPr/>
            </a:pPr>
            <a:r>
              <a:rPr lang="es-ES" sz="2400">
                <a:solidFill>
                  <a:schemeClr val="tx1"/>
                </a:solidFill>
                <a:sym typeface="Symbol" panose="05050102010706020507" pitchFamily="18" charset="2"/>
              </a:rPr>
              <a:t>Si Q* crece, o si barra y lata se acercan, </a:t>
            </a:r>
            <a:r>
              <a:rPr lang="es-ES" sz="2400" dirty="0">
                <a:solidFill>
                  <a:schemeClr val="tx1"/>
                </a:solidFill>
                <a:sym typeface="Symbol" panose="05050102010706020507" pitchFamily="18" charset="2"/>
              </a:rPr>
              <a:t>Q </a:t>
            </a:r>
            <a:r>
              <a:rPr lang="es-ES" sz="2400">
                <a:solidFill>
                  <a:schemeClr val="tx1"/>
                </a:solidFill>
                <a:sym typeface="Symbol" panose="05050102010706020507" pitchFamily="18" charset="2"/>
              </a:rPr>
              <a:t>y |–Q| crecen hasta que </a:t>
            </a:r>
            <a:r>
              <a:rPr lang="es-ES" sz="2400" b="1">
                <a:solidFill>
                  <a:schemeClr val="tx1"/>
                </a:solidFill>
                <a:sym typeface="Symbol" panose="05050102010706020507" pitchFamily="18" charset="2"/>
              </a:rPr>
              <a:t>F</a:t>
            </a:r>
            <a:r>
              <a:rPr lang="es-ES" sz="2400" baseline="-25000">
                <a:solidFill>
                  <a:schemeClr val="tx1"/>
                </a:solidFill>
                <a:sym typeface="Symbol" panose="05050102010706020507" pitchFamily="18" charset="2"/>
              </a:rPr>
              <a:t>NETA</a:t>
            </a:r>
            <a:r>
              <a:rPr lang="es-ES" sz="2400">
                <a:solidFill>
                  <a:schemeClr val="tx1"/>
                </a:solidFill>
                <a:sym typeface="Symbol" panose="05050102010706020507" pitchFamily="18" charset="2"/>
              </a:rPr>
              <a:t> vuelve a ser nula. Si pasa lo contrario, decrecen hasta que vuelve a ser nula, con un </a:t>
            </a:r>
            <a:r>
              <a:rPr lang="es-ES" sz="2400" dirty="0">
                <a:solidFill>
                  <a:schemeClr val="tx1"/>
                </a:solidFill>
                <a:sym typeface="Symbol" panose="05050102010706020507" pitchFamily="18" charset="2"/>
              </a:rPr>
              <a:t>movimiento de </a:t>
            </a:r>
            <a:r>
              <a:rPr lang="es-ES" sz="2400">
                <a:solidFill>
                  <a:schemeClr val="tx1"/>
                </a:solidFill>
                <a:sym typeface="Symbol" panose="05050102010706020507" pitchFamily="18" charset="2"/>
              </a:rPr>
              <a:t>e</a:t>
            </a:r>
            <a:r>
              <a:rPr lang="es-ES" sz="2400" baseline="30000">
                <a:solidFill>
                  <a:schemeClr val="tx1"/>
                </a:solidFill>
                <a:sym typeface="Symbol" panose="05050102010706020507" pitchFamily="18" charset="2"/>
              </a:rPr>
              <a:t>-</a:t>
            </a:r>
            <a:r>
              <a:rPr lang="es-ES" sz="2400">
                <a:solidFill>
                  <a:schemeClr val="tx1"/>
                </a:solidFill>
                <a:sym typeface="Symbol" panose="05050102010706020507" pitchFamily="18" charset="2"/>
              </a:rPr>
              <a:t> opuesto</a:t>
            </a:r>
            <a:endParaRPr lang="es-ES" sz="2400" b="1" dirty="0">
              <a:solidFill>
                <a:schemeClr val="tx1"/>
              </a:solidFill>
              <a:sym typeface="Symbol" panose="05050102010706020507" pitchFamily="18" charset="2"/>
            </a:endParaRPr>
          </a:p>
        </p:txBody>
      </p:sp>
      <p:grpSp>
        <p:nvGrpSpPr>
          <p:cNvPr id="43" name="Group 56">
            <a:extLst>
              <a:ext uri="{FF2B5EF4-FFF2-40B4-BE49-F238E27FC236}">
                <a16:creationId xmlns:a16="http://schemas.microsoft.com/office/drawing/2014/main" id="{6BA2B765-C0FF-499C-B1A5-878A3AFA0821}"/>
              </a:ext>
            </a:extLst>
          </p:cNvPr>
          <p:cNvGrpSpPr>
            <a:grpSpLocks/>
          </p:cNvGrpSpPr>
          <p:nvPr/>
        </p:nvGrpSpPr>
        <p:grpSpPr bwMode="auto">
          <a:xfrm>
            <a:off x="5764208" y="476181"/>
            <a:ext cx="4676769" cy="1009649"/>
            <a:chOff x="603" y="1029"/>
            <a:chExt cx="2946" cy="636"/>
          </a:xfrm>
        </p:grpSpPr>
        <p:sp>
          <p:nvSpPr>
            <p:cNvPr id="44" name="Text Box 20">
              <a:extLst>
                <a:ext uri="{FF2B5EF4-FFF2-40B4-BE49-F238E27FC236}">
                  <a16:creationId xmlns:a16="http://schemas.microsoft.com/office/drawing/2014/main" id="{A65C3F99-852A-4F5F-8243-247E2FEC907B}"/>
                </a:ext>
              </a:extLst>
            </p:cNvPr>
            <p:cNvSpPr txBox="1">
              <a:spLocks noChangeArrowheads="1"/>
            </p:cNvSpPr>
            <p:nvPr/>
          </p:nvSpPr>
          <p:spPr bwMode="auto">
            <a:xfrm>
              <a:off x="603" y="1029"/>
              <a:ext cx="1000" cy="292"/>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Aislante</a:t>
              </a:r>
            </a:p>
          </p:txBody>
        </p:sp>
        <p:sp>
          <p:nvSpPr>
            <p:cNvPr id="45" name="Text Box 21">
              <a:extLst>
                <a:ext uri="{FF2B5EF4-FFF2-40B4-BE49-F238E27FC236}">
                  <a16:creationId xmlns:a16="http://schemas.microsoft.com/office/drawing/2014/main" id="{1C3BE79F-7C2A-4A3A-BE46-B356B9DE6F04}"/>
                </a:ext>
              </a:extLst>
            </p:cNvPr>
            <p:cNvSpPr txBox="1">
              <a:spLocks noChangeArrowheads="1"/>
            </p:cNvSpPr>
            <p:nvPr/>
          </p:nvSpPr>
          <p:spPr bwMode="auto">
            <a:xfrm>
              <a:off x="603" y="1373"/>
              <a:ext cx="1010" cy="292"/>
            </a:xfrm>
            <a:prstGeom prst="rect">
              <a:avLst/>
            </a:prstGeom>
            <a:solidFill>
              <a:schemeClr val="accent1">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r>
                <a:rPr lang="es-ES" sz="2400"/>
                <a:t>Conductor</a:t>
              </a:r>
            </a:p>
          </p:txBody>
        </p:sp>
        <p:sp>
          <p:nvSpPr>
            <p:cNvPr id="46" name="Text Box 22">
              <a:extLst>
                <a:ext uri="{FF2B5EF4-FFF2-40B4-BE49-F238E27FC236}">
                  <a16:creationId xmlns:a16="http://schemas.microsoft.com/office/drawing/2014/main" id="{18ECEDD5-4BA4-4070-A6DF-300146E248C2}"/>
                </a:ext>
              </a:extLst>
            </p:cNvPr>
            <p:cNvSpPr txBox="1">
              <a:spLocks noChangeArrowheads="1"/>
            </p:cNvSpPr>
            <p:nvPr/>
          </p:nvSpPr>
          <p:spPr bwMode="auto">
            <a:xfrm>
              <a:off x="1675" y="1029"/>
              <a:ext cx="1874" cy="292"/>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Cargado </a:t>
              </a:r>
              <a:r>
                <a:rPr lang="es-ES" sz="2400">
                  <a:solidFill>
                    <a:srgbClr val="FF0000"/>
                  </a:solidFill>
                </a:rPr>
                <a:t>(una barra)</a:t>
              </a:r>
            </a:p>
          </p:txBody>
        </p:sp>
        <p:sp>
          <p:nvSpPr>
            <p:cNvPr id="47" name="Text Box 23">
              <a:extLst>
                <a:ext uri="{FF2B5EF4-FFF2-40B4-BE49-F238E27FC236}">
                  <a16:creationId xmlns:a16="http://schemas.microsoft.com/office/drawing/2014/main" id="{8CFB1400-761B-4F06-B698-43E6F0305345}"/>
                </a:ext>
              </a:extLst>
            </p:cNvPr>
            <p:cNvSpPr txBox="1">
              <a:spLocks noChangeArrowheads="1"/>
            </p:cNvSpPr>
            <p:nvPr/>
          </p:nvSpPr>
          <p:spPr bwMode="auto">
            <a:xfrm>
              <a:off x="1675" y="1373"/>
              <a:ext cx="1874" cy="292"/>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Neutro    </a:t>
              </a:r>
              <a:r>
                <a:rPr lang="es-ES" sz="2400">
                  <a:solidFill>
                    <a:srgbClr val="FF0000"/>
                  </a:solidFill>
                </a:rPr>
                <a:t>(una lata)</a:t>
              </a:r>
            </a:p>
          </p:txBody>
        </p:sp>
      </p:grpSp>
      <p:grpSp>
        <p:nvGrpSpPr>
          <p:cNvPr id="50" name="Group 3">
            <a:extLst>
              <a:ext uri="{FF2B5EF4-FFF2-40B4-BE49-F238E27FC236}">
                <a16:creationId xmlns:a16="http://schemas.microsoft.com/office/drawing/2014/main" id="{6BA49A5E-9332-461D-A9F0-1A3C13F404D1}"/>
              </a:ext>
            </a:extLst>
          </p:cNvPr>
          <p:cNvGrpSpPr>
            <a:grpSpLocks/>
          </p:cNvGrpSpPr>
          <p:nvPr/>
        </p:nvGrpSpPr>
        <p:grpSpPr bwMode="auto">
          <a:xfrm>
            <a:off x="1755775" y="2654095"/>
            <a:ext cx="2401888" cy="1108075"/>
            <a:chOff x="1337" y="3253"/>
            <a:chExt cx="1513" cy="698"/>
          </a:xfrm>
        </p:grpSpPr>
        <p:sp>
          <p:nvSpPr>
            <p:cNvPr id="51" name="AutoShape 4">
              <a:extLst>
                <a:ext uri="{FF2B5EF4-FFF2-40B4-BE49-F238E27FC236}">
                  <a16:creationId xmlns:a16="http://schemas.microsoft.com/office/drawing/2014/main" id="{EF9FF6E0-AC32-470D-8056-6EDF6BF78B12}"/>
                </a:ext>
              </a:extLst>
            </p:cNvPr>
            <p:cNvSpPr>
              <a:spLocks noChangeArrowheads="1"/>
            </p:cNvSpPr>
            <p:nvPr/>
          </p:nvSpPr>
          <p:spPr bwMode="auto">
            <a:xfrm rot="5400000">
              <a:off x="1895" y="2940"/>
              <a:ext cx="190" cy="1305"/>
            </a:xfrm>
            <a:prstGeom prst="can">
              <a:avLst>
                <a:gd name="adj" fmla="val 45599"/>
              </a:avLst>
            </a:prstGeom>
            <a:gradFill rotWithShape="1">
              <a:gsLst>
                <a:gs pos="0">
                  <a:srgbClr val="99CCFF"/>
                </a:gs>
                <a:gs pos="100000">
                  <a:srgbClr val="5E7676"/>
                </a:gs>
              </a:gsLst>
              <a:lin ang="0" scaled="1"/>
            </a:gradFill>
            <a:ln w="12700">
              <a:solidFill>
                <a:schemeClr val="tx1"/>
              </a:solidFill>
              <a:round/>
              <a:headEnd/>
              <a:tailEnd/>
            </a:ln>
          </p:spPr>
          <p:txBody>
            <a:bodyPr rot="10800000" vert="eaVert"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solidFill>
                  <a:srgbClr val="008000"/>
                </a:solidFill>
              </a:endParaRPr>
            </a:p>
          </p:txBody>
        </p:sp>
        <p:sp>
          <p:nvSpPr>
            <p:cNvPr id="52" name="Text Box 5">
              <a:extLst>
                <a:ext uri="{FF2B5EF4-FFF2-40B4-BE49-F238E27FC236}">
                  <a16:creationId xmlns:a16="http://schemas.microsoft.com/office/drawing/2014/main" id="{7D40D8B5-11DE-44B7-8AFD-02A1BA5424DF}"/>
                </a:ext>
              </a:extLst>
            </p:cNvPr>
            <p:cNvSpPr txBox="1">
              <a:spLocks noChangeArrowheads="1"/>
            </p:cNvSpPr>
            <p:nvPr/>
          </p:nvSpPr>
          <p:spPr bwMode="auto">
            <a:xfrm>
              <a:off x="2457" y="3255"/>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53" name="Text Box 6">
              <a:extLst>
                <a:ext uri="{FF2B5EF4-FFF2-40B4-BE49-F238E27FC236}">
                  <a16:creationId xmlns:a16="http://schemas.microsoft.com/office/drawing/2014/main" id="{C68347D9-C581-44C9-99D3-307EC763383B}"/>
                </a:ext>
              </a:extLst>
            </p:cNvPr>
            <p:cNvSpPr txBox="1">
              <a:spLocks noChangeArrowheads="1"/>
            </p:cNvSpPr>
            <p:nvPr/>
          </p:nvSpPr>
          <p:spPr bwMode="auto">
            <a:xfrm>
              <a:off x="2614" y="336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54" name="Text Box 7">
              <a:extLst>
                <a:ext uri="{FF2B5EF4-FFF2-40B4-BE49-F238E27FC236}">
                  <a16:creationId xmlns:a16="http://schemas.microsoft.com/office/drawing/2014/main" id="{43450E2F-90B2-4754-82BB-EC25B2229F52}"/>
                </a:ext>
              </a:extLst>
            </p:cNvPr>
            <p:cNvSpPr txBox="1">
              <a:spLocks noChangeArrowheads="1"/>
            </p:cNvSpPr>
            <p:nvPr/>
          </p:nvSpPr>
          <p:spPr bwMode="auto">
            <a:xfrm>
              <a:off x="2449" y="365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55" name="Text Box 8">
              <a:extLst>
                <a:ext uri="{FF2B5EF4-FFF2-40B4-BE49-F238E27FC236}">
                  <a16:creationId xmlns:a16="http://schemas.microsoft.com/office/drawing/2014/main" id="{7623C884-8C8B-438C-8468-F8EDCC19FC01}"/>
                </a:ext>
              </a:extLst>
            </p:cNvPr>
            <p:cNvSpPr txBox="1">
              <a:spLocks noChangeArrowheads="1"/>
            </p:cNvSpPr>
            <p:nvPr/>
          </p:nvSpPr>
          <p:spPr bwMode="auto">
            <a:xfrm>
              <a:off x="2284" y="366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56" name="Text Box 9">
              <a:extLst>
                <a:ext uri="{FF2B5EF4-FFF2-40B4-BE49-F238E27FC236}">
                  <a16:creationId xmlns:a16="http://schemas.microsoft.com/office/drawing/2014/main" id="{0DC796EB-270F-4C95-AB2D-C7C9E0BDAE3D}"/>
                </a:ext>
              </a:extLst>
            </p:cNvPr>
            <p:cNvSpPr txBox="1">
              <a:spLocks noChangeArrowheads="1"/>
            </p:cNvSpPr>
            <p:nvPr/>
          </p:nvSpPr>
          <p:spPr bwMode="auto">
            <a:xfrm>
              <a:off x="2266" y="325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57" name="Text Box 10">
              <a:extLst>
                <a:ext uri="{FF2B5EF4-FFF2-40B4-BE49-F238E27FC236}">
                  <a16:creationId xmlns:a16="http://schemas.microsoft.com/office/drawing/2014/main" id="{0C4EA249-CF41-4DD9-AF6D-FEF5F1C0ACB1}"/>
                </a:ext>
              </a:extLst>
            </p:cNvPr>
            <p:cNvSpPr txBox="1">
              <a:spLocks noChangeArrowheads="1"/>
            </p:cNvSpPr>
            <p:nvPr/>
          </p:nvSpPr>
          <p:spPr bwMode="auto">
            <a:xfrm>
              <a:off x="2624" y="3520"/>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grpSp>
      <p:sp>
        <p:nvSpPr>
          <p:cNvPr id="58" name="Oval 11">
            <a:extLst>
              <a:ext uri="{FF2B5EF4-FFF2-40B4-BE49-F238E27FC236}">
                <a16:creationId xmlns:a16="http://schemas.microsoft.com/office/drawing/2014/main" id="{73B47852-E6ED-4835-8668-5459DDB88A27}"/>
              </a:ext>
            </a:extLst>
          </p:cNvPr>
          <p:cNvSpPr>
            <a:spLocks noChangeArrowheads="1"/>
          </p:cNvSpPr>
          <p:nvPr/>
        </p:nvSpPr>
        <p:spPr bwMode="auto">
          <a:xfrm>
            <a:off x="5765800" y="2134982"/>
            <a:ext cx="2159000" cy="2159000"/>
          </a:xfrm>
          <a:prstGeom prst="ellipse">
            <a:avLst/>
          </a:prstGeom>
          <a:solidFill>
            <a:schemeClr val="accent1">
              <a:lumMod val="60000"/>
              <a:lumOff val="40000"/>
            </a:schemeClr>
          </a:solidFill>
          <a:ln w="57150" cmpd="thinThick" algn="ctr">
            <a:solidFill>
              <a:schemeClr val="tx1"/>
            </a:solidFill>
            <a:round/>
            <a:headEnd/>
            <a:tailEnd/>
          </a:ln>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grpSp>
        <p:nvGrpSpPr>
          <p:cNvPr id="59" name="Group 12">
            <a:extLst>
              <a:ext uri="{FF2B5EF4-FFF2-40B4-BE49-F238E27FC236}">
                <a16:creationId xmlns:a16="http://schemas.microsoft.com/office/drawing/2014/main" id="{F23D229B-705F-4E36-9BA8-3CDA2494DCCD}"/>
              </a:ext>
            </a:extLst>
          </p:cNvPr>
          <p:cNvGrpSpPr>
            <a:grpSpLocks/>
          </p:cNvGrpSpPr>
          <p:nvPr/>
        </p:nvGrpSpPr>
        <p:grpSpPr bwMode="auto">
          <a:xfrm>
            <a:off x="7351713" y="2303257"/>
            <a:ext cx="644525" cy="1774825"/>
            <a:chOff x="4862" y="3032"/>
            <a:chExt cx="406" cy="1118"/>
          </a:xfrm>
        </p:grpSpPr>
        <p:sp>
          <p:nvSpPr>
            <p:cNvPr id="60" name="Text Box 13">
              <a:extLst>
                <a:ext uri="{FF2B5EF4-FFF2-40B4-BE49-F238E27FC236}">
                  <a16:creationId xmlns:a16="http://schemas.microsoft.com/office/drawing/2014/main" id="{5E608BA4-12B3-4BDA-B97A-D80E42EC64B9}"/>
                </a:ext>
              </a:extLst>
            </p:cNvPr>
            <p:cNvSpPr txBox="1">
              <a:spLocks noChangeArrowheads="1"/>
            </p:cNvSpPr>
            <p:nvPr/>
          </p:nvSpPr>
          <p:spPr bwMode="auto">
            <a:xfrm>
              <a:off x="4966" y="3195"/>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61" name="Text Box 14">
              <a:extLst>
                <a:ext uri="{FF2B5EF4-FFF2-40B4-BE49-F238E27FC236}">
                  <a16:creationId xmlns:a16="http://schemas.microsoft.com/office/drawing/2014/main" id="{F2191ACA-C2F2-41D0-8AD1-2C15C4C2F66B}"/>
                </a:ext>
              </a:extLst>
            </p:cNvPr>
            <p:cNvSpPr txBox="1">
              <a:spLocks noChangeArrowheads="1"/>
            </p:cNvSpPr>
            <p:nvPr/>
          </p:nvSpPr>
          <p:spPr bwMode="auto">
            <a:xfrm>
              <a:off x="5039" y="3394"/>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62" name="Text Box 15">
              <a:extLst>
                <a:ext uri="{FF2B5EF4-FFF2-40B4-BE49-F238E27FC236}">
                  <a16:creationId xmlns:a16="http://schemas.microsoft.com/office/drawing/2014/main" id="{77BA14EC-BA32-4080-BC9F-079A38D3BD42}"/>
                </a:ext>
              </a:extLst>
            </p:cNvPr>
            <p:cNvSpPr txBox="1">
              <a:spLocks noChangeArrowheads="1"/>
            </p:cNvSpPr>
            <p:nvPr/>
          </p:nvSpPr>
          <p:spPr bwMode="auto">
            <a:xfrm>
              <a:off x="4986" y="3691"/>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63" name="Text Box 16">
              <a:extLst>
                <a:ext uri="{FF2B5EF4-FFF2-40B4-BE49-F238E27FC236}">
                  <a16:creationId xmlns:a16="http://schemas.microsoft.com/office/drawing/2014/main" id="{8BA15801-682F-4CFE-A875-816C2D823D18}"/>
                </a:ext>
              </a:extLst>
            </p:cNvPr>
            <p:cNvSpPr txBox="1">
              <a:spLocks noChangeArrowheads="1"/>
            </p:cNvSpPr>
            <p:nvPr/>
          </p:nvSpPr>
          <p:spPr bwMode="auto">
            <a:xfrm>
              <a:off x="4877" y="3862"/>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64" name="Text Box 17">
              <a:extLst>
                <a:ext uri="{FF2B5EF4-FFF2-40B4-BE49-F238E27FC236}">
                  <a16:creationId xmlns:a16="http://schemas.microsoft.com/office/drawing/2014/main" id="{7BDE8DDF-AE21-42B1-BA99-059AF48EC9CE}"/>
                </a:ext>
              </a:extLst>
            </p:cNvPr>
            <p:cNvSpPr txBox="1">
              <a:spLocks noChangeArrowheads="1"/>
            </p:cNvSpPr>
            <p:nvPr/>
          </p:nvSpPr>
          <p:spPr bwMode="auto">
            <a:xfrm>
              <a:off x="4862" y="3032"/>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65" name="Text Box 18">
              <a:extLst>
                <a:ext uri="{FF2B5EF4-FFF2-40B4-BE49-F238E27FC236}">
                  <a16:creationId xmlns:a16="http://schemas.microsoft.com/office/drawing/2014/main" id="{95F242CF-FD7A-4E9F-A230-4670946AE749}"/>
                </a:ext>
              </a:extLst>
            </p:cNvPr>
            <p:cNvSpPr txBox="1">
              <a:spLocks noChangeArrowheads="1"/>
            </p:cNvSpPr>
            <p:nvPr/>
          </p:nvSpPr>
          <p:spPr bwMode="auto">
            <a:xfrm>
              <a:off x="5042" y="3537"/>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grpSp>
      <p:grpSp>
        <p:nvGrpSpPr>
          <p:cNvPr id="66" name="Group 24">
            <a:extLst>
              <a:ext uri="{FF2B5EF4-FFF2-40B4-BE49-F238E27FC236}">
                <a16:creationId xmlns:a16="http://schemas.microsoft.com/office/drawing/2014/main" id="{358C40A0-DE38-4BA2-9AE9-EFEE0D6694EC}"/>
              </a:ext>
            </a:extLst>
          </p:cNvPr>
          <p:cNvGrpSpPr>
            <a:grpSpLocks/>
          </p:cNvGrpSpPr>
          <p:nvPr/>
        </p:nvGrpSpPr>
        <p:grpSpPr bwMode="auto">
          <a:xfrm>
            <a:off x="5713827" y="2285795"/>
            <a:ext cx="563562" cy="1741487"/>
            <a:chOff x="3832" y="3021"/>
            <a:chExt cx="355" cy="1097"/>
          </a:xfrm>
        </p:grpSpPr>
        <p:sp>
          <p:nvSpPr>
            <p:cNvPr id="67" name="Text Box 25">
              <a:extLst>
                <a:ext uri="{FF2B5EF4-FFF2-40B4-BE49-F238E27FC236}">
                  <a16:creationId xmlns:a16="http://schemas.microsoft.com/office/drawing/2014/main" id="{4AD73A43-5BCA-4C39-9C5C-C092273267AC}"/>
                </a:ext>
              </a:extLst>
            </p:cNvPr>
            <p:cNvSpPr txBox="1">
              <a:spLocks noChangeArrowheads="1"/>
            </p:cNvSpPr>
            <p:nvPr/>
          </p:nvSpPr>
          <p:spPr bwMode="auto">
            <a:xfrm flipH="1">
              <a:off x="3905" y="3212"/>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68" name="Text Box 26">
              <a:extLst>
                <a:ext uri="{FF2B5EF4-FFF2-40B4-BE49-F238E27FC236}">
                  <a16:creationId xmlns:a16="http://schemas.microsoft.com/office/drawing/2014/main" id="{D77AFE3B-8831-4E7F-AAD4-3459A9C3CEE9}"/>
                </a:ext>
              </a:extLst>
            </p:cNvPr>
            <p:cNvSpPr txBox="1">
              <a:spLocks noChangeArrowheads="1"/>
            </p:cNvSpPr>
            <p:nvPr/>
          </p:nvSpPr>
          <p:spPr bwMode="auto">
            <a:xfrm flipH="1">
              <a:off x="3832" y="3411"/>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69" name="Text Box 27">
              <a:extLst>
                <a:ext uri="{FF2B5EF4-FFF2-40B4-BE49-F238E27FC236}">
                  <a16:creationId xmlns:a16="http://schemas.microsoft.com/office/drawing/2014/main" id="{A2B8E99F-1678-4F65-83B5-CC42BB276216}"/>
                </a:ext>
              </a:extLst>
            </p:cNvPr>
            <p:cNvSpPr txBox="1">
              <a:spLocks noChangeArrowheads="1"/>
            </p:cNvSpPr>
            <p:nvPr/>
          </p:nvSpPr>
          <p:spPr bwMode="auto">
            <a:xfrm flipH="1">
              <a:off x="3885" y="3708"/>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70" name="Text Box 28">
              <a:extLst>
                <a:ext uri="{FF2B5EF4-FFF2-40B4-BE49-F238E27FC236}">
                  <a16:creationId xmlns:a16="http://schemas.microsoft.com/office/drawing/2014/main" id="{C07AFE81-9CDD-4E87-923C-B4916EF3A3A5}"/>
                </a:ext>
              </a:extLst>
            </p:cNvPr>
            <p:cNvSpPr txBox="1">
              <a:spLocks noChangeArrowheads="1"/>
            </p:cNvSpPr>
            <p:nvPr/>
          </p:nvSpPr>
          <p:spPr bwMode="auto">
            <a:xfrm flipH="1">
              <a:off x="3994" y="3830"/>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sym typeface="Symbol" panose="05050102010706020507" pitchFamily="18" charset="2"/>
                </a:rPr>
                <a:t>-</a:t>
              </a:r>
            </a:p>
          </p:txBody>
        </p:sp>
        <p:sp>
          <p:nvSpPr>
            <p:cNvPr id="71" name="Text Box 29">
              <a:extLst>
                <a:ext uri="{FF2B5EF4-FFF2-40B4-BE49-F238E27FC236}">
                  <a16:creationId xmlns:a16="http://schemas.microsoft.com/office/drawing/2014/main" id="{462FC6EF-25BC-4B55-8E0C-FDBDBDE8CD04}"/>
                </a:ext>
              </a:extLst>
            </p:cNvPr>
            <p:cNvSpPr txBox="1">
              <a:spLocks noChangeArrowheads="1"/>
            </p:cNvSpPr>
            <p:nvPr/>
          </p:nvSpPr>
          <p:spPr bwMode="auto">
            <a:xfrm flipH="1">
              <a:off x="4009" y="3021"/>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72" name="Text Box 30">
              <a:extLst>
                <a:ext uri="{FF2B5EF4-FFF2-40B4-BE49-F238E27FC236}">
                  <a16:creationId xmlns:a16="http://schemas.microsoft.com/office/drawing/2014/main" id="{3E466302-C0FD-4628-A03D-B8BC083D284C}"/>
                </a:ext>
              </a:extLst>
            </p:cNvPr>
            <p:cNvSpPr txBox="1">
              <a:spLocks noChangeArrowheads="1"/>
            </p:cNvSpPr>
            <p:nvPr/>
          </p:nvSpPr>
          <p:spPr bwMode="auto">
            <a:xfrm flipH="1">
              <a:off x="3837" y="3554"/>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grpSp>
      <p:sp>
        <p:nvSpPr>
          <p:cNvPr id="73" name="Text Box 60">
            <a:extLst>
              <a:ext uri="{FF2B5EF4-FFF2-40B4-BE49-F238E27FC236}">
                <a16:creationId xmlns:a16="http://schemas.microsoft.com/office/drawing/2014/main" id="{9A763E42-27D6-42AE-8A0D-5E50E17B0E51}"/>
              </a:ext>
            </a:extLst>
          </p:cNvPr>
          <p:cNvSpPr txBox="1">
            <a:spLocks noChangeArrowheads="1"/>
          </p:cNvSpPr>
          <p:nvPr/>
        </p:nvSpPr>
        <p:spPr bwMode="auto">
          <a:xfrm>
            <a:off x="6035675" y="3008107"/>
            <a:ext cx="377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Q</a:t>
            </a:r>
          </a:p>
        </p:txBody>
      </p:sp>
      <p:sp>
        <p:nvSpPr>
          <p:cNvPr id="74" name="Text Box 61">
            <a:extLst>
              <a:ext uri="{FF2B5EF4-FFF2-40B4-BE49-F238E27FC236}">
                <a16:creationId xmlns:a16="http://schemas.microsoft.com/office/drawing/2014/main" id="{ED1B652C-595E-455C-AC44-610E8C7B780D}"/>
              </a:ext>
            </a:extLst>
          </p:cNvPr>
          <p:cNvSpPr txBox="1">
            <a:spLocks noChangeArrowheads="1"/>
          </p:cNvSpPr>
          <p:nvPr/>
        </p:nvSpPr>
        <p:spPr bwMode="auto">
          <a:xfrm>
            <a:off x="7003982" y="3022395"/>
            <a:ext cx="587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 </a:t>
            </a:r>
            <a:r>
              <a:rPr lang="es-ES" sz="2400">
                <a:solidFill>
                  <a:srgbClr val="008000"/>
                </a:solidFill>
                <a:sym typeface="Symbol" panose="05050102010706020507" pitchFamily="18" charset="2"/>
              </a:rPr>
              <a:t></a:t>
            </a:r>
            <a:r>
              <a:rPr lang="es-ES" sz="2400">
                <a:solidFill>
                  <a:srgbClr val="008000"/>
                </a:solidFill>
              </a:rPr>
              <a:t>Q</a:t>
            </a:r>
          </a:p>
        </p:txBody>
      </p:sp>
      <p:sp>
        <p:nvSpPr>
          <p:cNvPr id="75" name="Line 53">
            <a:extLst>
              <a:ext uri="{FF2B5EF4-FFF2-40B4-BE49-F238E27FC236}">
                <a16:creationId xmlns:a16="http://schemas.microsoft.com/office/drawing/2014/main" id="{F489C5F7-647C-4694-B870-DC63E253F99E}"/>
              </a:ext>
            </a:extLst>
          </p:cNvPr>
          <p:cNvSpPr>
            <a:spLocks noChangeShapeType="1"/>
          </p:cNvSpPr>
          <p:nvPr/>
        </p:nvSpPr>
        <p:spPr bwMode="auto">
          <a:xfrm>
            <a:off x="1789113" y="4314620"/>
            <a:ext cx="64230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a:p>
        </p:txBody>
      </p:sp>
      <p:sp>
        <p:nvSpPr>
          <p:cNvPr id="2" name="Text Box 57">
            <a:extLst>
              <a:ext uri="{FF2B5EF4-FFF2-40B4-BE49-F238E27FC236}">
                <a16:creationId xmlns:a16="http://schemas.microsoft.com/office/drawing/2014/main" id="{090A463A-E8D4-4033-AE0B-421EBD89503E}"/>
              </a:ext>
            </a:extLst>
          </p:cNvPr>
          <p:cNvSpPr txBox="1">
            <a:spLocks noChangeArrowheads="1"/>
          </p:cNvSpPr>
          <p:nvPr/>
        </p:nvSpPr>
        <p:spPr bwMode="auto">
          <a:xfrm>
            <a:off x="3271633" y="2173384"/>
            <a:ext cx="476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Q*</a:t>
            </a:r>
          </a:p>
        </p:txBody>
      </p:sp>
      <p:sp>
        <p:nvSpPr>
          <p:cNvPr id="42" name="Text Box 62">
            <a:extLst>
              <a:ext uri="{FF2B5EF4-FFF2-40B4-BE49-F238E27FC236}">
                <a16:creationId xmlns:a16="http://schemas.microsoft.com/office/drawing/2014/main" id="{2C3B49C3-8153-435D-95D7-4177620DBA78}"/>
              </a:ext>
            </a:extLst>
          </p:cNvPr>
          <p:cNvSpPr txBox="1">
            <a:spLocks noChangeArrowheads="1"/>
          </p:cNvSpPr>
          <p:nvPr/>
        </p:nvSpPr>
        <p:spPr bwMode="auto">
          <a:xfrm>
            <a:off x="1296592" y="456043"/>
            <a:ext cx="2451292" cy="463846"/>
          </a:xfrm>
          <a:prstGeom prst="rect">
            <a:avLst/>
          </a:prstGeom>
          <a:solidFill>
            <a:srgbClr val="C0C0C0"/>
          </a:solidFill>
          <a:ln>
            <a:noFill/>
          </a:ln>
        </p:spPr>
        <p:txBody>
          <a:bodyPr wrap="square" lIns="54000" tIns="46800" rIns="54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chemeClr val="tx1"/>
                </a:solidFill>
                <a:sym typeface="Symbol" panose="05050102010706020507" pitchFamily="18" charset="2"/>
              </a:rPr>
              <a:t>COMENTARIOS</a:t>
            </a:r>
            <a:endParaRPr lang="es-ES" sz="2400" b="1" baseline="-25000" dirty="0">
              <a:solidFill>
                <a:schemeClr val="tx1"/>
              </a:solidFill>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up)">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up)">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wipe(up)">
                                      <p:cBhvr>
                                        <p:cTn id="1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0" grpId="0" animBg="1"/>
      <p:bldP spid="4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1755775" y="2654090"/>
            <a:ext cx="2401888" cy="1108075"/>
            <a:chOff x="1337" y="3253"/>
            <a:chExt cx="1513" cy="698"/>
          </a:xfrm>
        </p:grpSpPr>
        <p:sp>
          <p:nvSpPr>
            <p:cNvPr id="19497" name="AutoShape 4"/>
            <p:cNvSpPr>
              <a:spLocks noChangeArrowheads="1"/>
            </p:cNvSpPr>
            <p:nvPr/>
          </p:nvSpPr>
          <p:spPr bwMode="auto">
            <a:xfrm rot="5400000">
              <a:off x="1895" y="2940"/>
              <a:ext cx="190" cy="1305"/>
            </a:xfrm>
            <a:prstGeom prst="can">
              <a:avLst>
                <a:gd name="adj" fmla="val 45599"/>
              </a:avLst>
            </a:prstGeom>
            <a:gradFill rotWithShape="1">
              <a:gsLst>
                <a:gs pos="0">
                  <a:srgbClr val="99CCFF"/>
                </a:gs>
                <a:gs pos="100000">
                  <a:srgbClr val="5E7676"/>
                </a:gs>
              </a:gsLst>
              <a:lin ang="0" scaled="1"/>
            </a:gradFill>
            <a:ln w="12700">
              <a:solidFill>
                <a:schemeClr val="tx1"/>
              </a:solidFill>
              <a:round/>
              <a:headEnd/>
              <a:tailEnd/>
            </a:ln>
          </p:spPr>
          <p:txBody>
            <a:bodyPr rot="10800000" vert="eaVert"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solidFill>
                  <a:srgbClr val="008000"/>
                </a:solidFill>
              </a:endParaRPr>
            </a:p>
          </p:txBody>
        </p:sp>
        <p:sp>
          <p:nvSpPr>
            <p:cNvPr id="19498" name="Text Box 5"/>
            <p:cNvSpPr txBox="1">
              <a:spLocks noChangeArrowheads="1"/>
            </p:cNvSpPr>
            <p:nvPr/>
          </p:nvSpPr>
          <p:spPr bwMode="auto">
            <a:xfrm>
              <a:off x="2457" y="3255"/>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99" name="Text Box 6"/>
            <p:cNvSpPr txBox="1">
              <a:spLocks noChangeArrowheads="1"/>
            </p:cNvSpPr>
            <p:nvPr/>
          </p:nvSpPr>
          <p:spPr bwMode="auto">
            <a:xfrm>
              <a:off x="2614" y="336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500" name="Text Box 7"/>
            <p:cNvSpPr txBox="1">
              <a:spLocks noChangeArrowheads="1"/>
            </p:cNvSpPr>
            <p:nvPr/>
          </p:nvSpPr>
          <p:spPr bwMode="auto">
            <a:xfrm>
              <a:off x="2449" y="365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501" name="Text Box 8"/>
            <p:cNvSpPr txBox="1">
              <a:spLocks noChangeArrowheads="1"/>
            </p:cNvSpPr>
            <p:nvPr/>
          </p:nvSpPr>
          <p:spPr bwMode="auto">
            <a:xfrm>
              <a:off x="2284" y="366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502" name="Text Box 9"/>
            <p:cNvSpPr txBox="1">
              <a:spLocks noChangeArrowheads="1"/>
            </p:cNvSpPr>
            <p:nvPr/>
          </p:nvSpPr>
          <p:spPr bwMode="auto">
            <a:xfrm>
              <a:off x="2266" y="3253"/>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503" name="Text Box 10"/>
            <p:cNvSpPr txBox="1">
              <a:spLocks noChangeArrowheads="1"/>
            </p:cNvSpPr>
            <p:nvPr/>
          </p:nvSpPr>
          <p:spPr bwMode="auto">
            <a:xfrm>
              <a:off x="2624" y="3520"/>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grpSp>
      <p:sp>
        <p:nvSpPr>
          <p:cNvPr id="251915" name="Oval 11"/>
          <p:cNvSpPr>
            <a:spLocks noChangeArrowheads="1"/>
          </p:cNvSpPr>
          <p:nvPr/>
        </p:nvSpPr>
        <p:spPr bwMode="auto">
          <a:xfrm>
            <a:off x="5765800" y="2134977"/>
            <a:ext cx="2159000" cy="2159000"/>
          </a:xfrm>
          <a:prstGeom prst="ellipse">
            <a:avLst/>
          </a:prstGeom>
          <a:solidFill>
            <a:schemeClr val="accent1">
              <a:lumMod val="60000"/>
              <a:lumOff val="40000"/>
            </a:schemeClr>
          </a:solidFill>
          <a:ln w="57150" cmpd="thinThick" algn="ctr">
            <a:solidFill>
              <a:schemeClr val="tx1"/>
            </a:solidFill>
            <a:round/>
            <a:headEnd/>
            <a:tailEnd/>
          </a:ln>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grpSp>
        <p:nvGrpSpPr>
          <p:cNvPr id="3" name="Group 12"/>
          <p:cNvGrpSpPr>
            <a:grpSpLocks/>
          </p:cNvGrpSpPr>
          <p:nvPr/>
        </p:nvGrpSpPr>
        <p:grpSpPr bwMode="auto">
          <a:xfrm>
            <a:off x="7351713" y="2303252"/>
            <a:ext cx="644525" cy="1774825"/>
            <a:chOff x="4862" y="3032"/>
            <a:chExt cx="406" cy="1118"/>
          </a:xfrm>
        </p:grpSpPr>
        <p:sp>
          <p:nvSpPr>
            <p:cNvPr id="19491" name="Text Box 13"/>
            <p:cNvSpPr txBox="1">
              <a:spLocks noChangeArrowheads="1"/>
            </p:cNvSpPr>
            <p:nvPr/>
          </p:nvSpPr>
          <p:spPr bwMode="auto">
            <a:xfrm>
              <a:off x="4966" y="3195"/>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92" name="Text Box 14"/>
            <p:cNvSpPr txBox="1">
              <a:spLocks noChangeArrowheads="1"/>
            </p:cNvSpPr>
            <p:nvPr/>
          </p:nvSpPr>
          <p:spPr bwMode="auto">
            <a:xfrm>
              <a:off x="5039" y="3394"/>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93" name="Text Box 15"/>
            <p:cNvSpPr txBox="1">
              <a:spLocks noChangeArrowheads="1"/>
            </p:cNvSpPr>
            <p:nvPr/>
          </p:nvSpPr>
          <p:spPr bwMode="auto">
            <a:xfrm>
              <a:off x="4986" y="3691"/>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94" name="Text Box 16"/>
            <p:cNvSpPr txBox="1">
              <a:spLocks noChangeArrowheads="1"/>
            </p:cNvSpPr>
            <p:nvPr/>
          </p:nvSpPr>
          <p:spPr bwMode="auto">
            <a:xfrm>
              <a:off x="4877" y="3862"/>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95" name="Text Box 17"/>
            <p:cNvSpPr txBox="1">
              <a:spLocks noChangeArrowheads="1"/>
            </p:cNvSpPr>
            <p:nvPr/>
          </p:nvSpPr>
          <p:spPr bwMode="auto">
            <a:xfrm>
              <a:off x="4862" y="3032"/>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96" name="Text Box 18"/>
            <p:cNvSpPr txBox="1">
              <a:spLocks noChangeArrowheads="1"/>
            </p:cNvSpPr>
            <p:nvPr/>
          </p:nvSpPr>
          <p:spPr bwMode="auto">
            <a:xfrm>
              <a:off x="5042" y="3537"/>
              <a:ext cx="2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grpSp>
      <p:grpSp>
        <p:nvGrpSpPr>
          <p:cNvPr id="5" name="Group 24"/>
          <p:cNvGrpSpPr>
            <a:grpSpLocks/>
          </p:cNvGrpSpPr>
          <p:nvPr/>
        </p:nvGrpSpPr>
        <p:grpSpPr bwMode="auto">
          <a:xfrm>
            <a:off x="5713827" y="2285790"/>
            <a:ext cx="563562" cy="1741487"/>
            <a:chOff x="3832" y="3021"/>
            <a:chExt cx="355" cy="1097"/>
          </a:xfrm>
        </p:grpSpPr>
        <p:sp>
          <p:nvSpPr>
            <p:cNvPr id="19485" name="Text Box 25"/>
            <p:cNvSpPr txBox="1">
              <a:spLocks noChangeArrowheads="1"/>
            </p:cNvSpPr>
            <p:nvPr/>
          </p:nvSpPr>
          <p:spPr bwMode="auto">
            <a:xfrm flipH="1">
              <a:off x="3905" y="3212"/>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86" name="Text Box 26"/>
            <p:cNvSpPr txBox="1">
              <a:spLocks noChangeArrowheads="1"/>
            </p:cNvSpPr>
            <p:nvPr/>
          </p:nvSpPr>
          <p:spPr bwMode="auto">
            <a:xfrm flipH="1">
              <a:off x="3832" y="3411"/>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87" name="Text Box 27"/>
            <p:cNvSpPr txBox="1">
              <a:spLocks noChangeArrowheads="1"/>
            </p:cNvSpPr>
            <p:nvPr/>
          </p:nvSpPr>
          <p:spPr bwMode="auto">
            <a:xfrm flipH="1">
              <a:off x="3885" y="3708"/>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88" name="Text Box 28"/>
            <p:cNvSpPr txBox="1">
              <a:spLocks noChangeArrowheads="1"/>
            </p:cNvSpPr>
            <p:nvPr/>
          </p:nvSpPr>
          <p:spPr bwMode="auto">
            <a:xfrm flipH="1">
              <a:off x="3994" y="3830"/>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sym typeface="Symbol" panose="05050102010706020507" pitchFamily="18" charset="2"/>
                </a:rPr>
                <a:t>-</a:t>
              </a:r>
            </a:p>
          </p:txBody>
        </p:sp>
        <p:sp>
          <p:nvSpPr>
            <p:cNvPr id="19489" name="Text Box 29"/>
            <p:cNvSpPr txBox="1">
              <a:spLocks noChangeArrowheads="1"/>
            </p:cNvSpPr>
            <p:nvPr/>
          </p:nvSpPr>
          <p:spPr bwMode="auto">
            <a:xfrm flipH="1">
              <a:off x="4009" y="3021"/>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sp>
          <p:nvSpPr>
            <p:cNvPr id="19490" name="Text Box 30"/>
            <p:cNvSpPr txBox="1">
              <a:spLocks noChangeArrowheads="1"/>
            </p:cNvSpPr>
            <p:nvPr/>
          </p:nvSpPr>
          <p:spPr bwMode="auto">
            <a:xfrm flipH="1">
              <a:off x="3837" y="3554"/>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b="1">
                  <a:solidFill>
                    <a:srgbClr val="008000"/>
                  </a:solidFill>
                </a:rPr>
                <a:t>-</a:t>
              </a:r>
            </a:p>
          </p:txBody>
        </p:sp>
      </p:grpSp>
      <p:sp>
        <p:nvSpPr>
          <p:cNvPr id="251957" name="Text Box 53"/>
          <p:cNvSpPr txBox="1">
            <a:spLocks noChangeArrowheads="1"/>
          </p:cNvSpPr>
          <p:nvPr/>
        </p:nvSpPr>
        <p:spPr bwMode="auto">
          <a:xfrm>
            <a:off x="1269689" y="4523715"/>
            <a:ext cx="8995188" cy="514738"/>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chemeClr val="tx1"/>
                </a:solidFill>
              </a:rPr>
              <a:t>Si se parte la lata como se indica, se tienen 2 cuerpos cargados</a:t>
            </a:r>
          </a:p>
        </p:txBody>
      </p:sp>
      <p:sp>
        <p:nvSpPr>
          <p:cNvPr id="251964" name="Text Box 60"/>
          <p:cNvSpPr txBox="1">
            <a:spLocks noChangeArrowheads="1"/>
          </p:cNvSpPr>
          <p:nvPr/>
        </p:nvSpPr>
        <p:spPr bwMode="auto">
          <a:xfrm>
            <a:off x="6035675" y="3008102"/>
            <a:ext cx="377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Q</a:t>
            </a:r>
          </a:p>
        </p:txBody>
      </p:sp>
      <p:sp>
        <p:nvSpPr>
          <p:cNvPr id="251965" name="Text Box 61"/>
          <p:cNvSpPr txBox="1">
            <a:spLocks noChangeArrowheads="1"/>
          </p:cNvSpPr>
          <p:nvPr/>
        </p:nvSpPr>
        <p:spPr bwMode="auto">
          <a:xfrm>
            <a:off x="7003982" y="3022390"/>
            <a:ext cx="587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 </a:t>
            </a:r>
            <a:r>
              <a:rPr lang="es-ES" sz="2400">
                <a:solidFill>
                  <a:srgbClr val="008000"/>
                </a:solidFill>
                <a:sym typeface="Symbol" panose="05050102010706020507" pitchFamily="18" charset="2"/>
              </a:rPr>
              <a:t></a:t>
            </a:r>
            <a:r>
              <a:rPr lang="es-ES" sz="2400">
                <a:solidFill>
                  <a:srgbClr val="008000"/>
                </a:solidFill>
              </a:rPr>
              <a:t>Q</a:t>
            </a:r>
          </a:p>
        </p:txBody>
      </p:sp>
      <p:sp>
        <p:nvSpPr>
          <p:cNvPr id="72757" name="Line 53"/>
          <p:cNvSpPr>
            <a:spLocks noChangeShapeType="1"/>
          </p:cNvSpPr>
          <p:nvPr/>
        </p:nvSpPr>
        <p:spPr bwMode="auto">
          <a:xfrm>
            <a:off x="1789113" y="4314615"/>
            <a:ext cx="64230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a:p>
        </p:txBody>
      </p:sp>
      <p:grpSp>
        <p:nvGrpSpPr>
          <p:cNvPr id="72760" name="Group 56"/>
          <p:cNvGrpSpPr>
            <a:grpSpLocks/>
          </p:cNvGrpSpPr>
          <p:nvPr/>
        </p:nvGrpSpPr>
        <p:grpSpPr bwMode="auto">
          <a:xfrm>
            <a:off x="5764208" y="476181"/>
            <a:ext cx="4676769" cy="1009649"/>
            <a:chOff x="603" y="1029"/>
            <a:chExt cx="2946" cy="636"/>
          </a:xfrm>
        </p:grpSpPr>
        <p:sp>
          <p:nvSpPr>
            <p:cNvPr id="19477" name="Text Box 20"/>
            <p:cNvSpPr txBox="1">
              <a:spLocks noChangeArrowheads="1"/>
            </p:cNvSpPr>
            <p:nvPr/>
          </p:nvSpPr>
          <p:spPr bwMode="auto">
            <a:xfrm>
              <a:off x="603" y="1029"/>
              <a:ext cx="1000" cy="292"/>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Aislante</a:t>
              </a:r>
            </a:p>
          </p:txBody>
        </p:sp>
        <p:sp>
          <p:nvSpPr>
            <p:cNvPr id="19478" name="Text Box 21"/>
            <p:cNvSpPr txBox="1">
              <a:spLocks noChangeArrowheads="1"/>
            </p:cNvSpPr>
            <p:nvPr/>
          </p:nvSpPr>
          <p:spPr bwMode="auto">
            <a:xfrm>
              <a:off x="603" y="1373"/>
              <a:ext cx="1010" cy="292"/>
            </a:xfrm>
            <a:prstGeom prst="rect">
              <a:avLst/>
            </a:prstGeom>
            <a:solidFill>
              <a:schemeClr val="accent1">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r>
                <a:rPr lang="es-ES" sz="2400"/>
                <a:t>Conductor</a:t>
              </a:r>
            </a:p>
          </p:txBody>
        </p:sp>
        <p:sp>
          <p:nvSpPr>
            <p:cNvPr id="19479" name="Text Box 22"/>
            <p:cNvSpPr txBox="1">
              <a:spLocks noChangeArrowheads="1"/>
            </p:cNvSpPr>
            <p:nvPr/>
          </p:nvSpPr>
          <p:spPr bwMode="auto">
            <a:xfrm>
              <a:off x="1675" y="1029"/>
              <a:ext cx="1874" cy="292"/>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Cargado </a:t>
              </a:r>
              <a:r>
                <a:rPr lang="es-ES" sz="2400">
                  <a:solidFill>
                    <a:srgbClr val="FF0000"/>
                  </a:solidFill>
                </a:rPr>
                <a:t>(una barra)</a:t>
              </a:r>
            </a:p>
          </p:txBody>
        </p:sp>
        <p:sp>
          <p:nvSpPr>
            <p:cNvPr id="19480" name="Text Box 23"/>
            <p:cNvSpPr txBox="1">
              <a:spLocks noChangeArrowheads="1"/>
            </p:cNvSpPr>
            <p:nvPr/>
          </p:nvSpPr>
          <p:spPr bwMode="auto">
            <a:xfrm>
              <a:off x="1675" y="1373"/>
              <a:ext cx="1874" cy="292"/>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Neutro    </a:t>
              </a:r>
              <a:r>
                <a:rPr lang="es-ES" sz="2400">
                  <a:solidFill>
                    <a:srgbClr val="FF0000"/>
                  </a:solidFill>
                </a:rPr>
                <a:t>(una lata)</a:t>
              </a:r>
            </a:p>
          </p:txBody>
        </p:sp>
      </p:grpSp>
      <p:sp>
        <p:nvSpPr>
          <p:cNvPr id="72766" name="Text Box 62"/>
          <p:cNvSpPr txBox="1">
            <a:spLocks noChangeArrowheads="1"/>
          </p:cNvSpPr>
          <p:nvPr/>
        </p:nvSpPr>
        <p:spPr bwMode="auto">
          <a:xfrm>
            <a:off x="1289353" y="5193383"/>
            <a:ext cx="8995188" cy="1622734"/>
          </a:xfrm>
          <a:prstGeom prst="rect">
            <a:avLst/>
          </a:prstGeom>
          <a:solidFill>
            <a:srgbClr val="FFCC99"/>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chemeClr val="tx1"/>
                </a:solidFill>
              </a:rPr>
              <a:t>Si la barra fuese conductora, Q* estaría repartida inicialmente por toda su superficie, pero se tenderia a acumular en el borde más cercano a Q por estar más cerca de Q que de -Q. Sería el resultado de un movimiento de e</a:t>
            </a:r>
            <a:r>
              <a:rPr lang="es-ES" sz="2400" baseline="30000">
                <a:solidFill>
                  <a:schemeClr val="tx1"/>
                </a:solidFill>
              </a:rPr>
              <a:t>-</a:t>
            </a:r>
            <a:r>
              <a:rPr lang="es-ES" sz="2400">
                <a:solidFill>
                  <a:schemeClr val="tx1"/>
                </a:solidFill>
              </a:rPr>
              <a:t> hacia la izquierda.</a:t>
            </a:r>
          </a:p>
        </p:txBody>
      </p:sp>
      <p:cxnSp>
        <p:nvCxnSpPr>
          <p:cNvPr id="6" name="Conector recto 5">
            <a:extLst>
              <a:ext uri="{FF2B5EF4-FFF2-40B4-BE49-F238E27FC236}">
                <a16:creationId xmlns:a16="http://schemas.microsoft.com/office/drawing/2014/main" id="{682A2847-D510-4251-B108-DE4E35103088}"/>
              </a:ext>
            </a:extLst>
          </p:cNvPr>
          <p:cNvCxnSpPr/>
          <p:nvPr/>
        </p:nvCxnSpPr>
        <p:spPr bwMode="auto">
          <a:xfrm>
            <a:off x="6833419" y="1917288"/>
            <a:ext cx="0" cy="2592000"/>
          </a:xfrm>
          <a:prstGeom prst="line">
            <a:avLst/>
          </a:prstGeom>
          <a:noFill/>
          <a:ln w="38100" cap="flat" cmpd="sng" algn="ctr">
            <a:solidFill>
              <a:srgbClr val="FF0000"/>
            </a:solidFill>
            <a:prstDash val="dash"/>
            <a:round/>
            <a:headEnd type="none" w="med" len="med"/>
            <a:tailEnd type="none" w="med" len="med"/>
          </a:ln>
          <a:effectLst/>
        </p:spPr>
      </p:cxnSp>
      <p:sp>
        <p:nvSpPr>
          <p:cNvPr id="4" name="Text Box 57">
            <a:extLst>
              <a:ext uri="{FF2B5EF4-FFF2-40B4-BE49-F238E27FC236}">
                <a16:creationId xmlns:a16="http://schemas.microsoft.com/office/drawing/2014/main" id="{CF904F92-ACED-49ED-B4BC-FB73BB021033}"/>
              </a:ext>
            </a:extLst>
          </p:cNvPr>
          <p:cNvSpPr txBox="1">
            <a:spLocks noChangeArrowheads="1"/>
          </p:cNvSpPr>
          <p:nvPr/>
        </p:nvSpPr>
        <p:spPr bwMode="auto">
          <a:xfrm>
            <a:off x="3271633" y="2173384"/>
            <a:ext cx="476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8000"/>
                </a:solidFill>
              </a:rPr>
              <a:t>Q*</a:t>
            </a:r>
          </a:p>
        </p:txBody>
      </p:sp>
      <p:sp>
        <p:nvSpPr>
          <p:cNvPr id="44" name="Text Box 62">
            <a:extLst>
              <a:ext uri="{FF2B5EF4-FFF2-40B4-BE49-F238E27FC236}">
                <a16:creationId xmlns:a16="http://schemas.microsoft.com/office/drawing/2014/main" id="{D003AFCA-851E-44D6-B3B8-AE3BC93AB410}"/>
              </a:ext>
            </a:extLst>
          </p:cNvPr>
          <p:cNvSpPr txBox="1">
            <a:spLocks noChangeArrowheads="1"/>
          </p:cNvSpPr>
          <p:nvPr/>
        </p:nvSpPr>
        <p:spPr bwMode="auto">
          <a:xfrm>
            <a:off x="1296592" y="456043"/>
            <a:ext cx="2451292" cy="463846"/>
          </a:xfrm>
          <a:prstGeom prst="rect">
            <a:avLst/>
          </a:prstGeom>
          <a:solidFill>
            <a:srgbClr val="C0C0C0"/>
          </a:solidFill>
          <a:ln>
            <a:noFill/>
          </a:ln>
        </p:spPr>
        <p:txBody>
          <a:bodyPr wrap="square" lIns="54000" tIns="46800" rIns="54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chemeClr val="tx1"/>
                </a:solidFill>
                <a:sym typeface="Symbol" panose="05050102010706020507" pitchFamily="18" charset="2"/>
              </a:rPr>
              <a:t>COMENTARIOS</a:t>
            </a:r>
            <a:endParaRPr lang="es-ES" sz="2400" b="1" baseline="-25000" dirty="0">
              <a:solidFill>
                <a:schemeClr val="tx1"/>
              </a:solidFill>
              <a:sym typeface="Symbol" panose="05050102010706020507" pitchFamily="18" charset="2"/>
            </a:endParaRPr>
          </a:p>
        </p:txBody>
      </p:sp>
      <p:sp>
        <p:nvSpPr>
          <p:cNvPr id="40" name="Text Box 57">
            <a:extLst>
              <a:ext uri="{FF2B5EF4-FFF2-40B4-BE49-F238E27FC236}">
                <a16:creationId xmlns:a16="http://schemas.microsoft.com/office/drawing/2014/main" id="{B390083A-D19F-420F-AB95-52E53B85D3AF}"/>
              </a:ext>
            </a:extLst>
          </p:cNvPr>
          <p:cNvSpPr txBox="1">
            <a:spLocks noChangeArrowheads="1"/>
          </p:cNvSpPr>
          <p:nvPr/>
        </p:nvSpPr>
        <p:spPr bwMode="auto">
          <a:xfrm rot="5400000">
            <a:off x="6691959" y="1555171"/>
            <a:ext cx="476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3200">
                <a:solidFill>
                  <a:srgbClr val="FF0000"/>
                </a:solidFill>
                <a:sym typeface="Wingdings" panose="05000000000000000000" pitchFamily="2" charset="2"/>
              </a:rPr>
              <a:t></a:t>
            </a:r>
            <a:endParaRPr lang="es-ES" sz="2400">
              <a:solidFill>
                <a:srgbClr val="FF0000"/>
              </a:solidFill>
            </a:endParaRPr>
          </a:p>
        </p:txBody>
      </p:sp>
    </p:spTree>
    <p:extLst>
      <p:ext uri="{BB962C8B-B14F-4D97-AF65-F5344CB8AC3E}">
        <p14:creationId xmlns:p14="http://schemas.microsoft.com/office/powerpoint/2010/main" val="7859637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strVal val="2/3*#ppt_w"/>
                                          </p:val>
                                        </p:tav>
                                        <p:tav tm="100000">
                                          <p:val>
                                            <p:strVal val="#ppt_w"/>
                                          </p:val>
                                        </p:tav>
                                      </p:tavLst>
                                    </p:anim>
                                    <p:anim calcmode="lin" valueType="num">
                                      <p:cBhvr>
                                        <p:cTn id="8" dur="500" fill="hold"/>
                                        <p:tgtEl>
                                          <p:spTgt spid="40"/>
                                        </p:tgtEl>
                                        <p:attrNameLst>
                                          <p:attrName>ppt_h</p:attrName>
                                        </p:attrNameLst>
                                      </p:cBhvr>
                                      <p:tavLst>
                                        <p:tav tm="0">
                                          <p:val>
                                            <p:strVal val="2/3*#ppt_h"/>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51957"/>
                                        </p:tgtEl>
                                        <p:attrNameLst>
                                          <p:attrName>style.visibility</p:attrName>
                                        </p:attrNameLst>
                                      </p:cBhvr>
                                      <p:to>
                                        <p:strVal val="visible"/>
                                      </p:to>
                                    </p:set>
                                    <p:animEffect transition="in" filter="wipe(up)">
                                      <p:cBhvr>
                                        <p:cTn id="17" dur="500"/>
                                        <p:tgtEl>
                                          <p:spTgt spid="25195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2766"/>
                                        </p:tgtEl>
                                        <p:attrNameLst>
                                          <p:attrName>style.visibility</p:attrName>
                                        </p:attrNameLst>
                                      </p:cBhvr>
                                      <p:to>
                                        <p:strVal val="visible"/>
                                      </p:to>
                                    </p:set>
                                    <p:animEffect transition="in" filter="wipe(up)">
                                      <p:cBhvr>
                                        <p:cTn id="22" dur="500"/>
                                        <p:tgtEl>
                                          <p:spTgt spid="72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57" grpId="0" animBg="1"/>
      <p:bldP spid="72766" grpId="0" animBg="1"/>
      <p:bldP spid="4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Oval 10">
            <a:extLst>
              <a:ext uri="{FF2B5EF4-FFF2-40B4-BE49-F238E27FC236}">
                <a16:creationId xmlns:a16="http://schemas.microsoft.com/office/drawing/2014/main" id="{1DF57A6E-FBB3-4070-959A-7B987A42FC0A}"/>
              </a:ext>
            </a:extLst>
          </p:cNvPr>
          <p:cNvSpPr>
            <a:spLocks noChangeArrowheads="1"/>
          </p:cNvSpPr>
          <p:nvPr/>
        </p:nvSpPr>
        <p:spPr bwMode="auto">
          <a:xfrm>
            <a:off x="6598336" y="4614311"/>
            <a:ext cx="1155700" cy="833438"/>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pic>
        <p:nvPicPr>
          <p:cNvPr id="253955" name="Picture 3" descr="imagesCAUZCDQ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9052" y="1578774"/>
            <a:ext cx="4248755" cy="247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019" name="Text Box 67"/>
          <p:cNvSpPr txBox="1">
            <a:spLocks noChangeArrowheads="1"/>
          </p:cNvSpPr>
          <p:nvPr/>
        </p:nvSpPr>
        <p:spPr bwMode="auto">
          <a:xfrm>
            <a:off x="5699394" y="2856926"/>
            <a:ext cx="4623185" cy="1202510"/>
          </a:xfrm>
          <a:prstGeom prst="rect">
            <a:avLst/>
          </a:prstGeom>
          <a:solidFill>
            <a:srgbClr val="FAFAFA"/>
          </a:solidFill>
          <a:ln>
            <a:noFill/>
          </a:ln>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chemeClr val="tx1"/>
                </a:solidFill>
              </a:rPr>
              <a:t>La posición promedio de Q</a:t>
            </a:r>
            <a:r>
              <a:rPr lang="es-ES" sz="2400" baseline="30000" dirty="0">
                <a:solidFill>
                  <a:schemeClr val="tx1"/>
                </a:solidFill>
              </a:rPr>
              <a:t>+</a:t>
            </a:r>
            <a:r>
              <a:rPr lang="es-ES" sz="2400" dirty="0">
                <a:solidFill>
                  <a:schemeClr val="tx1"/>
                </a:solidFill>
              </a:rPr>
              <a:t> y Q</a:t>
            </a:r>
            <a:r>
              <a:rPr lang="es-ES" sz="2400" baseline="30000" dirty="0">
                <a:solidFill>
                  <a:schemeClr val="tx1"/>
                </a:solidFill>
                <a:sym typeface="Symbol" panose="05050102010706020507" pitchFamily="18" charset="2"/>
              </a:rPr>
              <a:t> </a:t>
            </a:r>
            <a:r>
              <a:rPr lang="es-ES" sz="2400" dirty="0">
                <a:solidFill>
                  <a:schemeClr val="tx1"/>
                </a:solidFill>
              </a:rPr>
              <a:t>en las moléculas del papel coinciden inicialmente</a:t>
            </a:r>
          </a:p>
        </p:txBody>
      </p:sp>
      <p:grpSp>
        <p:nvGrpSpPr>
          <p:cNvPr id="76815" name="Group 15"/>
          <p:cNvGrpSpPr>
            <a:grpSpLocks/>
          </p:cNvGrpSpPr>
          <p:nvPr/>
        </p:nvGrpSpPr>
        <p:grpSpPr bwMode="auto">
          <a:xfrm>
            <a:off x="6629539" y="1773914"/>
            <a:ext cx="2787650" cy="889001"/>
            <a:chOff x="3156" y="1097"/>
            <a:chExt cx="1756" cy="560"/>
          </a:xfrm>
        </p:grpSpPr>
        <p:sp>
          <p:nvSpPr>
            <p:cNvPr id="25657" name="Oval 10"/>
            <p:cNvSpPr>
              <a:spLocks noChangeArrowheads="1"/>
            </p:cNvSpPr>
            <p:nvPr/>
          </p:nvSpPr>
          <p:spPr bwMode="auto">
            <a:xfrm>
              <a:off x="3156" y="1132"/>
              <a:ext cx="728" cy="525"/>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25658" name="Text Box 135"/>
            <p:cNvSpPr txBox="1">
              <a:spLocks noChangeArrowheads="1"/>
            </p:cNvSpPr>
            <p:nvPr/>
          </p:nvSpPr>
          <p:spPr bwMode="auto">
            <a:xfrm>
              <a:off x="3911" y="1097"/>
              <a:ext cx="1001"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rgbClr val="008000"/>
                  </a:solidFill>
                </a:rPr>
                <a:t>Molécula (papel)</a:t>
              </a:r>
              <a:endParaRPr lang="es-ES" sz="2400">
                <a:solidFill>
                  <a:srgbClr val="008000"/>
                </a:solidFill>
                <a:sym typeface="Symbol" panose="05050102010706020507" pitchFamily="18" charset="2"/>
              </a:endParaRPr>
            </a:p>
          </p:txBody>
        </p:sp>
      </p:grpSp>
      <p:grpSp>
        <p:nvGrpSpPr>
          <p:cNvPr id="7" name="Grupo 6"/>
          <p:cNvGrpSpPr>
            <a:grpSpLocks/>
          </p:cNvGrpSpPr>
          <p:nvPr/>
        </p:nvGrpSpPr>
        <p:grpSpPr bwMode="auto">
          <a:xfrm>
            <a:off x="8392551" y="5961224"/>
            <a:ext cx="1212850" cy="588963"/>
            <a:chOff x="6220200" y="3301610"/>
            <a:chExt cx="1212851" cy="588964"/>
          </a:xfrm>
        </p:grpSpPr>
        <p:sp>
          <p:nvSpPr>
            <p:cNvPr id="2" name="Rectangle 70"/>
            <p:cNvSpPr>
              <a:spLocks noChangeArrowheads="1"/>
            </p:cNvSpPr>
            <p:nvPr/>
          </p:nvSpPr>
          <p:spPr bwMode="auto">
            <a:xfrm>
              <a:off x="6220200" y="3315898"/>
              <a:ext cx="1212851" cy="574676"/>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endParaRPr lang="es-ES" sz="2000">
                <a:solidFill>
                  <a:srgbClr val="000000"/>
                </a:solidFill>
                <a:latin typeface="Arial" panose="020B0604020202020204" pitchFamily="34" charset="0"/>
              </a:endParaRPr>
            </a:p>
          </p:txBody>
        </p:sp>
        <p:graphicFrame>
          <p:nvGraphicFramePr>
            <p:cNvPr id="25646" name="Object 55"/>
            <p:cNvGraphicFramePr>
              <a:graphicFrameLocks noChangeAspect="1"/>
            </p:cNvGraphicFramePr>
            <p:nvPr/>
          </p:nvGraphicFramePr>
          <p:xfrm>
            <a:off x="6299575" y="3301610"/>
            <a:ext cx="1076326" cy="568326"/>
          </p:xfrm>
          <a:graphic>
            <a:graphicData uri="http://schemas.openxmlformats.org/presentationml/2006/ole">
              <mc:AlternateContent xmlns:mc="http://schemas.openxmlformats.org/markup-compatibility/2006">
                <mc:Choice xmlns:v="urn:schemas-microsoft-com:vml" Requires="v">
                  <p:oleObj name="Ecuación" r:id="rId4" imgW="457200" imgH="241300" progId="Equation.3">
                    <p:embed/>
                  </p:oleObj>
                </mc:Choice>
                <mc:Fallback>
                  <p:oleObj name="Ecuación" r:id="rId4" imgW="457200" imgH="241300" progId="Equation.3">
                    <p:embed/>
                    <p:pic>
                      <p:nvPicPr>
                        <p:cNvPr id="25646" name="Object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99575" y="3301610"/>
                          <a:ext cx="1076326" cy="568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1" name="Grupo 20">
            <a:extLst>
              <a:ext uri="{FF2B5EF4-FFF2-40B4-BE49-F238E27FC236}">
                <a16:creationId xmlns:a16="http://schemas.microsoft.com/office/drawing/2014/main" id="{6D16FC0A-F83B-4351-BF65-188F171C5CEC}"/>
              </a:ext>
            </a:extLst>
          </p:cNvPr>
          <p:cNvGrpSpPr/>
          <p:nvPr/>
        </p:nvGrpSpPr>
        <p:grpSpPr>
          <a:xfrm>
            <a:off x="8755388" y="4334442"/>
            <a:ext cx="1517023" cy="909962"/>
            <a:chOff x="8755388" y="4334442"/>
            <a:chExt cx="1517023" cy="909962"/>
          </a:xfrm>
        </p:grpSpPr>
        <p:pic>
          <p:nvPicPr>
            <p:cNvPr id="25640" name="Picture 19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55388" y="4814072"/>
              <a:ext cx="449102" cy="430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25641" name="Text Box 34"/>
            <p:cNvSpPr txBox="1">
              <a:spLocks noChangeArrowheads="1"/>
            </p:cNvSpPr>
            <p:nvPr/>
          </p:nvSpPr>
          <p:spPr bwMode="auto">
            <a:xfrm>
              <a:off x="8938391" y="4334442"/>
              <a:ext cx="133402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rgbClr val="008000"/>
                  </a:solidFill>
                </a:rPr>
                <a:t>Q</a:t>
              </a:r>
              <a:r>
                <a:rPr lang="es-ES" sz="2400" baseline="-25000">
                  <a:solidFill>
                    <a:srgbClr val="008000"/>
                  </a:solidFill>
                </a:rPr>
                <a:t>Superficie</a:t>
              </a:r>
            </a:p>
            <a:p>
              <a:pPr algn="ctr" eaLnBrk="1" hangingPunct="1">
                <a:spcBef>
                  <a:spcPts val="0"/>
                </a:spcBef>
              </a:pPr>
              <a:r>
                <a:rPr lang="es-ES" sz="2400" baseline="-25000">
                  <a:solidFill>
                    <a:srgbClr val="008000"/>
                  </a:solidFill>
                </a:rPr>
                <a:t>Plástico</a:t>
              </a:r>
            </a:p>
          </p:txBody>
        </p:sp>
      </p:grpSp>
      <p:grpSp>
        <p:nvGrpSpPr>
          <p:cNvPr id="22" name="Grupo 21">
            <a:extLst>
              <a:ext uri="{FF2B5EF4-FFF2-40B4-BE49-F238E27FC236}">
                <a16:creationId xmlns:a16="http://schemas.microsoft.com/office/drawing/2014/main" id="{A0A3873B-1E4E-4422-8DE9-7FE9DD206548}"/>
              </a:ext>
            </a:extLst>
          </p:cNvPr>
          <p:cNvGrpSpPr/>
          <p:nvPr/>
        </p:nvGrpSpPr>
        <p:grpSpPr>
          <a:xfrm>
            <a:off x="6924991" y="4463877"/>
            <a:ext cx="501470" cy="573934"/>
            <a:chOff x="4810191" y="4359907"/>
            <a:chExt cx="501470" cy="573934"/>
          </a:xfrm>
        </p:grpSpPr>
        <p:sp>
          <p:nvSpPr>
            <p:cNvPr id="25642" name="Line 44"/>
            <p:cNvSpPr>
              <a:spLocks noChangeShapeType="1"/>
            </p:cNvSpPr>
            <p:nvPr/>
          </p:nvSpPr>
          <p:spPr bwMode="auto">
            <a:xfrm>
              <a:off x="4810191" y="4922725"/>
              <a:ext cx="501470" cy="1111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a:p>
          </p:txBody>
        </p:sp>
        <p:sp>
          <p:nvSpPr>
            <p:cNvPr id="25643" name="Text Box 45"/>
            <p:cNvSpPr txBox="1">
              <a:spLocks noChangeArrowheads="1"/>
            </p:cNvSpPr>
            <p:nvPr/>
          </p:nvSpPr>
          <p:spPr bwMode="auto">
            <a:xfrm>
              <a:off x="4852798" y="4359907"/>
              <a:ext cx="386943" cy="4638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rgbClr val="FF0000"/>
                  </a:solidFill>
                </a:rPr>
                <a:t>E</a:t>
              </a:r>
              <a:endParaRPr lang="es-ES" sz="2400" baseline="-25000" dirty="0">
                <a:solidFill>
                  <a:srgbClr val="FF0000"/>
                </a:solidFill>
              </a:endParaRPr>
            </a:p>
          </p:txBody>
        </p:sp>
        <p:sp>
          <p:nvSpPr>
            <p:cNvPr id="25644" name="Line 46"/>
            <p:cNvSpPr>
              <a:spLocks noChangeShapeType="1"/>
            </p:cNvSpPr>
            <p:nvPr/>
          </p:nvSpPr>
          <p:spPr bwMode="auto">
            <a:xfrm flipV="1">
              <a:off x="4970845" y="4415487"/>
              <a:ext cx="179324" cy="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a:p>
          </p:txBody>
        </p:sp>
      </p:grpSp>
      <p:grpSp>
        <p:nvGrpSpPr>
          <p:cNvPr id="13" name="Grupo 12"/>
          <p:cNvGrpSpPr/>
          <p:nvPr/>
        </p:nvGrpSpPr>
        <p:grpSpPr>
          <a:xfrm>
            <a:off x="1297326" y="391298"/>
            <a:ext cx="4676769" cy="1013326"/>
            <a:chOff x="5764208" y="515937"/>
            <a:chExt cx="4676769" cy="1013326"/>
          </a:xfrm>
        </p:grpSpPr>
        <p:grpSp>
          <p:nvGrpSpPr>
            <p:cNvPr id="59" name="Group 56"/>
            <p:cNvGrpSpPr>
              <a:grpSpLocks/>
            </p:cNvGrpSpPr>
            <p:nvPr/>
          </p:nvGrpSpPr>
          <p:grpSpPr bwMode="auto">
            <a:xfrm>
              <a:off x="5764208" y="515937"/>
              <a:ext cx="4676769" cy="1009649"/>
              <a:chOff x="603" y="1029"/>
              <a:chExt cx="2946" cy="636"/>
            </a:xfrm>
          </p:grpSpPr>
          <p:sp>
            <p:nvSpPr>
              <p:cNvPr id="60" name="Text Box 20"/>
              <p:cNvSpPr txBox="1">
                <a:spLocks noChangeArrowheads="1"/>
              </p:cNvSpPr>
              <p:nvPr/>
            </p:nvSpPr>
            <p:spPr bwMode="auto">
              <a:xfrm>
                <a:off x="603" y="1029"/>
                <a:ext cx="1000" cy="292"/>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Aislante</a:t>
                </a:r>
              </a:p>
            </p:txBody>
          </p:sp>
          <p:sp>
            <p:nvSpPr>
              <p:cNvPr id="62" name="Text Box 22"/>
              <p:cNvSpPr txBox="1">
                <a:spLocks noChangeArrowheads="1"/>
              </p:cNvSpPr>
              <p:nvPr/>
            </p:nvSpPr>
            <p:spPr bwMode="auto">
              <a:xfrm>
                <a:off x="1675" y="1029"/>
                <a:ext cx="860" cy="292"/>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Cargado</a:t>
                </a:r>
                <a:endParaRPr lang="es-ES" sz="2400">
                  <a:solidFill>
                    <a:srgbClr val="FF0000"/>
                  </a:solidFill>
                </a:endParaRPr>
              </a:p>
            </p:txBody>
          </p:sp>
          <p:sp>
            <p:nvSpPr>
              <p:cNvPr id="63" name="Text Box 23"/>
              <p:cNvSpPr txBox="1">
                <a:spLocks noChangeArrowheads="1"/>
              </p:cNvSpPr>
              <p:nvPr/>
            </p:nvSpPr>
            <p:spPr bwMode="auto">
              <a:xfrm>
                <a:off x="1675" y="1373"/>
                <a:ext cx="1874" cy="292"/>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Neutro</a:t>
                </a:r>
                <a:endParaRPr lang="es-ES" sz="2400">
                  <a:solidFill>
                    <a:srgbClr val="FF0000"/>
                  </a:solidFill>
                </a:endParaRPr>
              </a:p>
            </p:txBody>
          </p:sp>
        </p:grpSp>
        <p:sp>
          <p:nvSpPr>
            <p:cNvPr id="64" name="Text Box 20"/>
            <p:cNvSpPr txBox="1">
              <a:spLocks noChangeArrowheads="1"/>
            </p:cNvSpPr>
            <p:nvPr/>
          </p:nvSpPr>
          <p:spPr bwMode="auto">
            <a:xfrm>
              <a:off x="5764208" y="1065713"/>
              <a:ext cx="1587498" cy="463550"/>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Aislante</a:t>
              </a:r>
            </a:p>
          </p:txBody>
        </p:sp>
      </p:grpSp>
      <p:grpSp>
        <p:nvGrpSpPr>
          <p:cNvPr id="3" name="Grupo 2">
            <a:extLst>
              <a:ext uri="{FF2B5EF4-FFF2-40B4-BE49-F238E27FC236}">
                <a16:creationId xmlns:a16="http://schemas.microsoft.com/office/drawing/2014/main" id="{6D8B42B5-2ED2-47D6-A292-90B868668C08}"/>
              </a:ext>
            </a:extLst>
          </p:cNvPr>
          <p:cNvGrpSpPr/>
          <p:nvPr/>
        </p:nvGrpSpPr>
        <p:grpSpPr>
          <a:xfrm>
            <a:off x="7082985" y="5962814"/>
            <a:ext cx="231775" cy="567240"/>
            <a:chOff x="7082985" y="5962814"/>
            <a:chExt cx="231775" cy="567240"/>
          </a:xfrm>
        </p:grpSpPr>
        <p:pic>
          <p:nvPicPr>
            <p:cNvPr id="66" name="Picture 20">
              <a:extLst>
                <a:ext uri="{FF2B5EF4-FFF2-40B4-BE49-F238E27FC236}">
                  <a16:creationId xmlns:a16="http://schemas.microsoft.com/office/drawing/2014/main" id="{7275C519-5308-41BE-BEF6-389AE74FAE83}"/>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V="1">
              <a:off x="7082985" y="5962814"/>
              <a:ext cx="23177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pic>
          <p:nvPicPr>
            <p:cNvPr id="65" name="Picture 10">
              <a:extLst>
                <a:ext uri="{FF2B5EF4-FFF2-40B4-BE49-F238E27FC236}">
                  <a16:creationId xmlns:a16="http://schemas.microsoft.com/office/drawing/2014/main" id="{AEEB01BD-3640-4AED-A80D-6431B2108296}"/>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8541" y="6318917"/>
              <a:ext cx="220662" cy="21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grpSp>
      <p:grpSp>
        <p:nvGrpSpPr>
          <p:cNvPr id="4" name="Grupo 3">
            <a:extLst>
              <a:ext uri="{FF2B5EF4-FFF2-40B4-BE49-F238E27FC236}">
                <a16:creationId xmlns:a16="http://schemas.microsoft.com/office/drawing/2014/main" id="{4C909A40-970F-460D-932F-C0A0A6074ED6}"/>
              </a:ext>
            </a:extLst>
          </p:cNvPr>
          <p:cNvGrpSpPr/>
          <p:nvPr/>
        </p:nvGrpSpPr>
        <p:grpSpPr>
          <a:xfrm>
            <a:off x="6380288" y="5850238"/>
            <a:ext cx="1686610" cy="854615"/>
            <a:chOff x="6380288" y="5850238"/>
            <a:chExt cx="1686610" cy="854615"/>
          </a:xfrm>
        </p:grpSpPr>
        <p:sp>
          <p:nvSpPr>
            <p:cNvPr id="68" name="Line 53">
              <a:extLst>
                <a:ext uri="{FF2B5EF4-FFF2-40B4-BE49-F238E27FC236}">
                  <a16:creationId xmlns:a16="http://schemas.microsoft.com/office/drawing/2014/main" id="{681B49F9-EEDF-45C3-83E9-64CBEB38FE64}"/>
                </a:ext>
              </a:extLst>
            </p:cNvPr>
            <p:cNvSpPr>
              <a:spLocks noChangeShapeType="1"/>
            </p:cNvSpPr>
            <p:nvPr/>
          </p:nvSpPr>
          <p:spPr bwMode="auto">
            <a:xfrm>
              <a:off x="7374162" y="6078701"/>
              <a:ext cx="292100" cy="0"/>
            </a:xfrm>
            <a:prstGeom prst="line">
              <a:avLst/>
            </a:prstGeom>
            <a:noFill/>
            <a:ln w="38100">
              <a:solidFill>
                <a:srgbClr val="0000FF"/>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73" name="Text Box 30">
              <a:extLst>
                <a:ext uri="{FF2B5EF4-FFF2-40B4-BE49-F238E27FC236}">
                  <a16:creationId xmlns:a16="http://schemas.microsoft.com/office/drawing/2014/main" id="{9AAE9E71-D4DB-4D23-8F06-984FE7920701}"/>
                </a:ext>
              </a:extLst>
            </p:cNvPr>
            <p:cNvSpPr txBox="1">
              <a:spLocks noChangeArrowheads="1"/>
            </p:cNvSpPr>
            <p:nvPr/>
          </p:nvSpPr>
          <p:spPr bwMode="auto">
            <a:xfrm>
              <a:off x="7697588" y="5850238"/>
              <a:ext cx="369310" cy="4638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rgbClr val="3333FF"/>
                  </a:solidFill>
                </a:rPr>
                <a:t>F</a:t>
              </a:r>
              <a:endParaRPr lang="es-ES" sz="2400" baseline="-25000" dirty="0">
                <a:solidFill>
                  <a:srgbClr val="3333FF"/>
                </a:solidFill>
              </a:endParaRPr>
            </a:p>
          </p:txBody>
        </p:sp>
        <p:sp>
          <p:nvSpPr>
            <p:cNvPr id="74" name="Line 32">
              <a:extLst>
                <a:ext uri="{FF2B5EF4-FFF2-40B4-BE49-F238E27FC236}">
                  <a16:creationId xmlns:a16="http://schemas.microsoft.com/office/drawing/2014/main" id="{79B07C0E-8396-4F25-B2D8-3A8E3BA3B997}"/>
                </a:ext>
              </a:extLst>
            </p:cNvPr>
            <p:cNvSpPr>
              <a:spLocks noChangeShapeType="1"/>
            </p:cNvSpPr>
            <p:nvPr/>
          </p:nvSpPr>
          <p:spPr bwMode="auto">
            <a:xfrm flipV="1">
              <a:off x="7802457" y="5899404"/>
              <a:ext cx="179454" cy="0"/>
            </a:xfrm>
            <a:prstGeom prst="line">
              <a:avLst/>
            </a:prstGeom>
            <a:noFill/>
            <a:ln w="127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sz="2400" dirty="0"/>
            </a:p>
          </p:txBody>
        </p:sp>
        <p:sp>
          <p:nvSpPr>
            <p:cNvPr id="69" name="Line 54">
              <a:extLst>
                <a:ext uri="{FF2B5EF4-FFF2-40B4-BE49-F238E27FC236}">
                  <a16:creationId xmlns:a16="http://schemas.microsoft.com/office/drawing/2014/main" id="{DD4255D7-89A9-41FC-9619-1F80654C0FDB}"/>
                </a:ext>
              </a:extLst>
            </p:cNvPr>
            <p:cNvSpPr>
              <a:spLocks noChangeShapeType="1"/>
            </p:cNvSpPr>
            <p:nvPr/>
          </p:nvSpPr>
          <p:spPr bwMode="auto">
            <a:xfrm flipH="1" flipV="1">
              <a:off x="6803585" y="6428602"/>
              <a:ext cx="279400" cy="0"/>
            </a:xfrm>
            <a:prstGeom prst="line">
              <a:avLst/>
            </a:prstGeom>
            <a:noFill/>
            <a:ln w="38100">
              <a:solidFill>
                <a:srgbClr val="0000FF"/>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75" name="Text Box 30">
              <a:extLst>
                <a:ext uri="{FF2B5EF4-FFF2-40B4-BE49-F238E27FC236}">
                  <a16:creationId xmlns:a16="http://schemas.microsoft.com/office/drawing/2014/main" id="{C02021D2-91C7-4BE9-96D1-2632FB5E953F}"/>
                </a:ext>
              </a:extLst>
            </p:cNvPr>
            <p:cNvSpPr txBox="1">
              <a:spLocks noChangeArrowheads="1"/>
            </p:cNvSpPr>
            <p:nvPr/>
          </p:nvSpPr>
          <p:spPr bwMode="auto">
            <a:xfrm>
              <a:off x="6380288" y="6241007"/>
              <a:ext cx="369310" cy="4638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rgbClr val="3333FF"/>
                  </a:solidFill>
                </a:rPr>
                <a:t>F</a:t>
              </a:r>
              <a:endParaRPr lang="es-ES" sz="2400" baseline="-25000" dirty="0">
                <a:solidFill>
                  <a:srgbClr val="3333FF"/>
                </a:solidFill>
              </a:endParaRPr>
            </a:p>
          </p:txBody>
        </p:sp>
        <p:sp>
          <p:nvSpPr>
            <p:cNvPr id="76" name="Line 32">
              <a:extLst>
                <a:ext uri="{FF2B5EF4-FFF2-40B4-BE49-F238E27FC236}">
                  <a16:creationId xmlns:a16="http://schemas.microsoft.com/office/drawing/2014/main" id="{A0BDC5EA-DDAD-4E79-AAC4-8EC03D3ECF9D}"/>
                </a:ext>
              </a:extLst>
            </p:cNvPr>
            <p:cNvSpPr>
              <a:spLocks noChangeShapeType="1"/>
            </p:cNvSpPr>
            <p:nvPr/>
          </p:nvSpPr>
          <p:spPr bwMode="auto">
            <a:xfrm flipV="1">
              <a:off x="6444061" y="6290167"/>
              <a:ext cx="179454" cy="0"/>
            </a:xfrm>
            <a:prstGeom prst="line">
              <a:avLst/>
            </a:prstGeom>
            <a:noFill/>
            <a:ln w="127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sz="2400" dirty="0"/>
            </a:p>
          </p:txBody>
        </p:sp>
      </p:grpSp>
      <p:sp>
        <p:nvSpPr>
          <p:cNvPr id="39" name="CuadroTexto 38">
            <a:extLst>
              <a:ext uri="{FF2B5EF4-FFF2-40B4-BE49-F238E27FC236}">
                <a16:creationId xmlns:a16="http://schemas.microsoft.com/office/drawing/2014/main" id="{B0E855A4-B8EB-4632-90F2-7826B5BB28DC}"/>
              </a:ext>
            </a:extLst>
          </p:cNvPr>
          <p:cNvSpPr txBox="1">
            <a:spLocks noChangeArrowheads="1"/>
          </p:cNvSpPr>
          <p:nvPr/>
        </p:nvSpPr>
        <p:spPr bwMode="auto">
          <a:xfrm>
            <a:off x="1301438" y="4321808"/>
            <a:ext cx="4226722" cy="1695437"/>
          </a:xfrm>
          <a:prstGeom prst="rect">
            <a:avLst/>
          </a:prstGeom>
          <a:solidFill>
            <a:srgbClr val="FAFAFA"/>
          </a:solidFill>
          <a:ln>
            <a:noFill/>
          </a:ln>
        </p:spPr>
        <p:txBody>
          <a:bodyPr wrap="square" lIns="216000" tIns="108000" rIns="216000" bIns="1080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just"/>
            <a:r>
              <a:rPr lang="es-ES" sz="2400" dirty="0">
                <a:solidFill>
                  <a:schemeClr val="tx1"/>
                </a:solidFill>
              </a:rPr>
              <a:t>La carga en la superficie del plástico crea campo en cualquier punto, apuntando hacia ella si es negativa</a:t>
            </a:r>
          </a:p>
        </p:txBody>
      </p:sp>
      <p:sp>
        <p:nvSpPr>
          <p:cNvPr id="5" name="Text Box 22">
            <a:extLst>
              <a:ext uri="{FF2B5EF4-FFF2-40B4-BE49-F238E27FC236}">
                <a16:creationId xmlns:a16="http://schemas.microsoft.com/office/drawing/2014/main" id="{BE9CE4DB-4F5F-4474-BC0A-71928905D3F5}"/>
              </a:ext>
            </a:extLst>
          </p:cNvPr>
          <p:cNvSpPr txBox="1">
            <a:spLocks noChangeArrowheads="1"/>
          </p:cNvSpPr>
          <p:nvPr/>
        </p:nvSpPr>
        <p:spPr bwMode="auto">
          <a:xfrm>
            <a:off x="4258090" y="393360"/>
            <a:ext cx="1432100" cy="463846"/>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FF0000"/>
                </a:solidFill>
              </a:rPr>
              <a:t>(plástico)</a:t>
            </a:r>
          </a:p>
        </p:txBody>
      </p:sp>
      <p:sp>
        <p:nvSpPr>
          <p:cNvPr id="6" name="Text Box 23">
            <a:extLst>
              <a:ext uri="{FF2B5EF4-FFF2-40B4-BE49-F238E27FC236}">
                <a16:creationId xmlns:a16="http://schemas.microsoft.com/office/drawing/2014/main" id="{70D2CB0F-95D8-4A1C-96A4-75E5C2B0F749}"/>
              </a:ext>
            </a:extLst>
          </p:cNvPr>
          <p:cNvSpPr txBox="1">
            <a:spLocks noChangeArrowheads="1"/>
          </p:cNvSpPr>
          <p:nvPr/>
        </p:nvSpPr>
        <p:spPr bwMode="auto">
          <a:xfrm>
            <a:off x="4258090" y="939804"/>
            <a:ext cx="1213998" cy="463846"/>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FF0000"/>
                </a:solidFill>
              </a:rPr>
              <a:t>(papel)</a:t>
            </a:r>
          </a:p>
        </p:txBody>
      </p:sp>
    </p:spTree>
    <p:extLst>
      <p:ext uri="{BB962C8B-B14F-4D97-AF65-F5344CB8AC3E}">
        <p14:creationId xmlns:p14="http://schemas.microsoft.com/office/powerpoint/2010/main" val="3391673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par>
                          <p:cTn id="16" fill="hold">
                            <p:stCondLst>
                              <p:cond delay="500"/>
                            </p:stCondLst>
                            <p:childTnLst>
                              <p:par>
                                <p:cTn id="17" presetID="3" presetClass="entr" presetSubtype="10" fill="hold" nodeType="afterEffect">
                                  <p:stCondLst>
                                    <p:cond delay="0"/>
                                  </p:stCondLst>
                                  <p:childTnLst>
                                    <p:set>
                                      <p:cBhvr>
                                        <p:cTn id="18" dur="1" fill="hold">
                                          <p:stCondLst>
                                            <p:cond delay="0"/>
                                          </p:stCondLst>
                                        </p:cTn>
                                        <p:tgtEl>
                                          <p:spTgt spid="253955"/>
                                        </p:tgtEl>
                                        <p:attrNameLst>
                                          <p:attrName>style.visibility</p:attrName>
                                        </p:attrNameLst>
                                      </p:cBhvr>
                                      <p:to>
                                        <p:strVal val="visible"/>
                                      </p:to>
                                    </p:set>
                                    <p:animEffect transition="in" filter="blinds(horizontal)">
                                      <p:cBhvr>
                                        <p:cTn id="19" dur="500"/>
                                        <p:tgtEl>
                                          <p:spTgt spid="25395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76815"/>
                                        </p:tgtEl>
                                        <p:attrNameLst>
                                          <p:attrName>style.visibility</p:attrName>
                                        </p:attrNameLst>
                                      </p:cBhvr>
                                      <p:to>
                                        <p:strVal val="visible"/>
                                      </p:to>
                                    </p:set>
                                    <p:animEffect transition="in" filter="dissolve">
                                      <p:cBhvr>
                                        <p:cTn id="24" dur="500"/>
                                        <p:tgtEl>
                                          <p:spTgt spid="7681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54019"/>
                                        </p:tgtEl>
                                        <p:attrNameLst>
                                          <p:attrName>style.visibility</p:attrName>
                                        </p:attrNameLst>
                                      </p:cBhvr>
                                      <p:to>
                                        <p:strVal val="visible"/>
                                      </p:to>
                                    </p:set>
                                    <p:animEffect transition="in" filter="wipe(up)">
                                      <p:cBhvr>
                                        <p:cTn id="29" dur="500"/>
                                        <p:tgtEl>
                                          <p:spTgt spid="25401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wipe(up)">
                                      <p:cBhvr>
                                        <p:cTn id="34" dur="500"/>
                                        <p:tgtEl>
                                          <p:spTgt spid="39"/>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dissolve">
                                      <p:cBhvr>
                                        <p:cTn id="39" dur="500"/>
                                        <p:tgtEl>
                                          <p:spTgt spid="21"/>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dissolve">
                                      <p:cBhvr>
                                        <p:cTn id="42" dur="500"/>
                                        <p:tgtEl>
                                          <p:spTgt spid="40"/>
                                        </p:tgtEl>
                                      </p:cBhvr>
                                    </p:animEffect>
                                  </p:childTnLst>
                                </p:cTn>
                              </p:par>
                              <p:par>
                                <p:cTn id="43" presetID="22" presetClass="entr" presetSubtype="8"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wipe(left)">
                                      <p:cBhvr>
                                        <p:cTn id="45" dur="500"/>
                                        <p:tgtEl>
                                          <p:spTgt spid="22"/>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dissolve">
                                      <p:cBhvr>
                                        <p:cTn id="50" dur="500"/>
                                        <p:tgtEl>
                                          <p:spTgt spid="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wipe(up)">
                                      <p:cBhvr>
                                        <p:cTn id="55" dur="500"/>
                                        <p:tgtEl>
                                          <p:spTgt spid="7"/>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37"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barn(outVertical)">
                                      <p:cBhvr>
                                        <p:cTn id="6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254019" grpId="0" animBg="1"/>
      <p:bldP spid="39" grpId="0" animBg="1"/>
      <p:bldP spid="5"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0">
            <a:extLst>
              <a:ext uri="{FF2B5EF4-FFF2-40B4-BE49-F238E27FC236}">
                <a16:creationId xmlns:a16="http://schemas.microsoft.com/office/drawing/2014/main" id="{BF7CFC3C-153F-3C20-77BF-0A6060204017}"/>
              </a:ext>
            </a:extLst>
          </p:cNvPr>
          <p:cNvSpPr>
            <a:spLocks noChangeArrowheads="1"/>
          </p:cNvSpPr>
          <p:nvPr/>
        </p:nvSpPr>
        <p:spPr bwMode="auto">
          <a:xfrm>
            <a:off x="4098476" y="2079998"/>
            <a:ext cx="1155700" cy="833438"/>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grpSp>
        <p:nvGrpSpPr>
          <p:cNvPr id="8" name="Grupo 7"/>
          <p:cNvGrpSpPr>
            <a:grpSpLocks/>
          </p:cNvGrpSpPr>
          <p:nvPr/>
        </p:nvGrpSpPr>
        <p:grpSpPr bwMode="auto">
          <a:xfrm>
            <a:off x="3854612" y="2185312"/>
            <a:ext cx="1666875" cy="627063"/>
            <a:chOff x="3098161" y="1631384"/>
            <a:chExt cx="1666876" cy="627064"/>
          </a:xfrm>
        </p:grpSpPr>
        <p:sp>
          <p:nvSpPr>
            <p:cNvPr id="25647" name="Oval 10"/>
            <p:cNvSpPr>
              <a:spLocks noChangeArrowheads="1"/>
            </p:cNvSpPr>
            <p:nvPr/>
          </p:nvSpPr>
          <p:spPr bwMode="auto">
            <a:xfrm>
              <a:off x="3098161" y="1631384"/>
              <a:ext cx="1666876" cy="627064"/>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grpSp>
          <p:nvGrpSpPr>
            <p:cNvPr id="25648" name="Group 137"/>
            <p:cNvGrpSpPr>
              <a:grpSpLocks/>
            </p:cNvGrpSpPr>
            <p:nvPr/>
          </p:nvGrpSpPr>
          <p:grpSpPr bwMode="auto">
            <a:xfrm>
              <a:off x="3250561" y="1656784"/>
              <a:ext cx="1335089" cy="527051"/>
              <a:chOff x="4566" y="1194"/>
              <a:chExt cx="841" cy="332"/>
            </a:xfrm>
          </p:grpSpPr>
          <p:sp>
            <p:nvSpPr>
              <p:cNvPr id="25649" name="Text Box 12"/>
              <p:cNvSpPr txBox="1">
                <a:spLocks noChangeArrowheads="1"/>
              </p:cNvSpPr>
              <p:nvPr/>
            </p:nvSpPr>
            <p:spPr bwMode="auto">
              <a:xfrm>
                <a:off x="5162" y="1199"/>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sp>
            <p:nvSpPr>
              <p:cNvPr id="25650" name="Text Box 13"/>
              <p:cNvSpPr txBox="1">
                <a:spLocks noChangeArrowheads="1"/>
              </p:cNvSpPr>
              <p:nvPr/>
            </p:nvSpPr>
            <p:spPr bwMode="auto">
              <a:xfrm flipH="1">
                <a:off x="4566" y="1194"/>
                <a:ext cx="1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grpSp>
      </p:grpSp>
      <p:grpSp>
        <p:nvGrpSpPr>
          <p:cNvPr id="21" name="Grupo 20">
            <a:extLst>
              <a:ext uri="{FF2B5EF4-FFF2-40B4-BE49-F238E27FC236}">
                <a16:creationId xmlns:a16="http://schemas.microsoft.com/office/drawing/2014/main" id="{6D16FC0A-F83B-4351-BF65-188F171C5CEC}"/>
              </a:ext>
            </a:extLst>
          </p:cNvPr>
          <p:cNvGrpSpPr/>
          <p:nvPr/>
        </p:nvGrpSpPr>
        <p:grpSpPr>
          <a:xfrm>
            <a:off x="6269042" y="1764078"/>
            <a:ext cx="1517023" cy="909962"/>
            <a:chOff x="8755388" y="4334442"/>
            <a:chExt cx="1517023" cy="909962"/>
          </a:xfrm>
        </p:grpSpPr>
        <p:pic>
          <p:nvPicPr>
            <p:cNvPr id="25640" name="Picture 1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5388" y="4814072"/>
              <a:ext cx="449102" cy="430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25641" name="Text Box 34"/>
            <p:cNvSpPr txBox="1">
              <a:spLocks noChangeArrowheads="1"/>
            </p:cNvSpPr>
            <p:nvPr/>
          </p:nvSpPr>
          <p:spPr bwMode="auto">
            <a:xfrm>
              <a:off x="8938391" y="4334442"/>
              <a:ext cx="133402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rgbClr val="008000"/>
                  </a:solidFill>
                </a:rPr>
                <a:t>Q</a:t>
              </a:r>
              <a:r>
                <a:rPr lang="es-ES" sz="2400" baseline="-25000">
                  <a:solidFill>
                    <a:srgbClr val="008000"/>
                  </a:solidFill>
                </a:rPr>
                <a:t>Superficie</a:t>
              </a:r>
            </a:p>
            <a:p>
              <a:pPr algn="ctr" eaLnBrk="1" hangingPunct="1">
                <a:spcBef>
                  <a:spcPts val="0"/>
                </a:spcBef>
              </a:pPr>
              <a:r>
                <a:rPr lang="es-ES" sz="2400" baseline="-25000">
                  <a:solidFill>
                    <a:srgbClr val="008000"/>
                  </a:solidFill>
                </a:rPr>
                <a:t>Plástico</a:t>
              </a:r>
            </a:p>
          </p:txBody>
        </p:sp>
      </p:grpSp>
      <p:sp>
        <p:nvSpPr>
          <p:cNvPr id="39" name="Text Box 15">
            <a:extLst>
              <a:ext uri="{FF2B5EF4-FFF2-40B4-BE49-F238E27FC236}">
                <a16:creationId xmlns:a16="http://schemas.microsoft.com/office/drawing/2014/main" id="{F856B1C8-172A-4E13-9137-CD7091BBFCA8}"/>
              </a:ext>
            </a:extLst>
          </p:cNvPr>
          <p:cNvSpPr txBox="1">
            <a:spLocks noChangeArrowheads="1"/>
          </p:cNvSpPr>
          <p:nvPr/>
        </p:nvSpPr>
        <p:spPr bwMode="auto">
          <a:xfrm>
            <a:off x="6123398" y="5659053"/>
            <a:ext cx="3914451" cy="884070"/>
          </a:xfrm>
          <a:prstGeom prst="rect">
            <a:avLst/>
          </a:prstGeom>
          <a:solidFill>
            <a:srgbClr val="008000"/>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chemeClr val="bg1"/>
                </a:solidFill>
              </a:rPr>
              <a:t>Es un</a:t>
            </a:r>
          </a:p>
          <a:p>
            <a:pPr algn="ctr" eaLnBrk="1" hangingPunct="1">
              <a:spcBef>
                <a:spcPts val="0"/>
              </a:spcBef>
            </a:pPr>
            <a:r>
              <a:rPr lang="es-ES" sz="2400">
                <a:solidFill>
                  <a:schemeClr val="bg1"/>
                </a:solidFill>
              </a:rPr>
              <a:t>DIPOLO ELÉCTRICO</a:t>
            </a:r>
          </a:p>
        </p:txBody>
      </p:sp>
      <p:grpSp>
        <p:nvGrpSpPr>
          <p:cNvPr id="41" name="Grupo 40">
            <a:extLst>
              <a:ext uri="{FF2B5EF4-FFF2-40B4-BE49-F238E27FC236}">
                <a16:creationId xmlns:a16="http://schemas.microsoft.com/office/drawing/2014/main" id="{05C36143-0E49-450D-A489-ADB51A364AF3}"/>
              </a:ext>
            </a:extLst>
          </p:cNvPr>
          <p:cNvGrpSpPr>
            <a:grpSpLocks/>
          </p:cNvGrpSpPr>
          <p:nvPr/>
        </p:nvGrpSpPr>
        <p:grpSpPr bwMode="auto">
          <a:xfrm>
            <a:off x="4057096" y="5989740"/>
            <a:ext cx="1208090" cy="234950"/>
            <a:chOff x="3291033" y="2611807"/>
            <a:chExt cx="1207848" cy="234622"/>
          </a:xfrm>
        </p:grpSpPr>
        <p:cxnSp>
          <p:nvCxnSpPr>
            <p:cNvPr id="50" name="Conector recto 49">
              <a:extLst>
                <a:ext uri="{FF2B5EF4-FFF2-40B4-BE49-F238E27FC236}">
                  <a16:creationId xmlns:a16="http://schemas.microsoft.com/office/drawing/2014/main" id="{C7B9FB29-89B5-4BC6-AD0F-6606E14D02B0}"/>
                </a:ext>
              </a:extLst>
            </p:cNvPr>
            <p:cNvCxnSpPr>
              <a:cxnSpLocks noChangeShapeType="1"/>
            </p:cNvCxnSpPr>
            <p:nvPr/>
          </p:nvCxnSpPr>
          <p:spPr bwMode="auto">
            <a:xfrm flipH="1">
              <a:off x="3389342" y="2721324"/>
              <a:ext cx="997522"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pic>
          <p:nvPicPr>
            <p:cNvPr id="51" name="Picture 20">
              <a:extLst>
                <a:ext uri="{FF2B5EF4-FFF2-40B4-BE49-F238E27FC236}">
                  <a16:creationId xmlns:a16="http://schemas.microsoft.com/office/drawing/2014/main" id="{5BBC7B70-18EF-437B-843E-9FAB3B171BCE}"/>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4267106" y="2614654"/>
              <a:ext cx="23177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pic>
          <p:nvPicPr>
            <p:cNvPr id="52" name="Picture 10">
              <a:extLst>
                <a:ext uri="{FF2B5EF4-FFF2-40B4-BE49-F238E27FC236}">
                  <a16:creationId xmlns:a16="http://schemas.microsoft.com/office/drawing/2014/main" id="{A14B9806-D7A4-411A-ABAD-C3D59FE01DB9}"/>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1033" y="2611807"/>
              <a:ext cx="220662" cy="21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grpSp>
      <p:sp>
        <p:nvSpPr>
          <p:cNvPr id="53" name="CuadroTexto 52">
            <a:extLst>
              <a:ext uri="{FF2B5EF4-FFF2-40B4-BE49-F238E27FC236}">
                <a16:creationId xmlns:a16="http://schemas.microsoft.com/office/drawing/2014/main" id="{1CCBB880-91F8-484C-B719-6A04F2E79F47}"/>
              </a:ext>
            </a:extLst>
          </p:cNvPr>
          <p:cNvSpPr txBox="1">
            <a:spLocks noChangeArrowheads="1"/>
          </p:cNvSpPr>
          <p:nvPr/>
        </p:nvSpPr>
        <p:spPr bwMode="auto">
          <a:xfrm>
            <a:off x="1492531" y="3845234"/>
            <a:ext cx="8545318" cy="1326105"/>
          </a:xfrm>
          <a:prstGeom prst="rect">
            <a:avLst/>
          </a:prstGeom>
          <a:solidFill>
            <a:srgbClr val="FAFAFA"/>
          </a:solidFill>
          <a:ln>
            <a:noFill/>
          </a:ln>
        </p:spPr>
        <p:txBody>
          <a:bodyPr wrap="square" lIns="216000" tIns="108000" rIns="216000" bIns="1080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just"/>
            <a:r>
              <a:rPr lang="es-ES" sz="2400" dirty="0">
                <a:solidFill>
                  <a:schemeClr val="tx1"/>
                </a:solidFill>
              </a:rPr>
              <a:t>Cada molécula es equivalente a dos cargas puntuales, una con la Q</a:t>
            </a:r>
            <a:r>
              <a:rPr lang="es-ES" sz="2400" baseline="30000" dirty="0">
                <a:solidFill>
                  <a:schemeClr val="tx1"/>
                </a:solidFill>
              </a:rPr>
              <a:t>+</a:t>
            </a:r>
            <a:r>
              <a:rPr lang="es-ES" sz="2400" dirty="0">
                <a:solidFill>
                  <a:schemeClr val="tx1"/>
                </a:solidFill>
              </a:rPr>
              <a:t> de la molécula y otra con la Q</a:t>
            </a:r>
            <a:r>
              <a:rPr lang="es-ES" sz="2400" baseline="30000" dirty="0">
                <a:solidFill>
                  <a:schemeClr val="tx1"/>
                </a:solidFill>
              </a:rPr>
              <a:t>-</a:t>
            </a:r>
            <a:r>
              <a:rPr lang="es-ES" sz="2400" dirty="0">
                <a:solidFill>
                  <a:schemeClr val="tx1"/>
                </a:solidFill>
              </a:rPr>
              <a:t>, unidas por un palito y colocadas en las posiciones promedio de las cargas</a:t>
            </a:r>
          </a:p>
        </p:txBody>
      </p:sp>
      <p:sp>
        <p:nvSpPr>
          <p:cNvPr id="28" name="Text Box 135">
            <a:extLst>
              <a:ext uri="{FF2B5EF4-FFF2-40B4-BE49-F238E27FC236}">
                <a16:creationId xmlns:a16="http://schemas.microsoft.com/office/drawing/2014/main" id="{03EE291F-D228-43D2-91AE-1E41511A57A0}"/>
              </a:ext>
            </a:extLst>
          </p:cNvPr>
          <p:cNvSpPr txBox="1">
            <a:spLocks noChangeArrowheads="1"/>
          </p:cNvSpPr>
          <p:nvPr/>
        </p:nvSpPr>
        <p:spPr bwMode="auto">
          <a:xfrm>
            <a:off x="3828846" y="2812375"/>
            <a:ext cx="1729723"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rgbClr val="008000"/>
                </a:solidFill>
              </a:rPr>
              <a:t>Molécula polarizada</a:t>
            </a:r>
            <a:endParaRPr lang="es-ES" sz="2400" dirty="0">
              <a:solidFill>
                <a:srgbClr val="008000"/>
              </a:solidFill>
              <a:sym typeface="Symbol" panose="05050102010706020507" pitchFamily="18" charset="2"/>
            </a:endParaRPr>
          </a:p>
        </p:txBody>
      </p:sp>
      <p:sp>
        <p:nvSpPr>
          <p:cNvPr id="30" name="Text Box 65">
            <a:extLst>
              <a:ext uri="{FF2B5EF4-FFF2-40B4-BE49-F238E27FC236}">
                <a16:creationId xmlns:a16="http://schemas.microsoft.com/office/drawing/2014/main" id="{E5F9CED9-B984-46FE-B067-ABD49EE0B790}"/>
              </a:ext>
            </a:extLst>
          </p:cNvPr>
          <p:cNvSpPr txBox="1">
            <a:spLocks noChangeArrowheads="1"/>
          </p:cNvSpPr>
          <p:nvPr/>
        </p:nvSpPr>
        <p:spPr bwMode="auto">
          <a:xfrm>
            <a:off x="1636982" y="599781"/>
            <a:ext cx="8287854" cy="833178"/>
          </a:xfrm>
          <a:prstGeom prst="rect">
            <a:avLst/>
          </a:prstGeom>
          <a:solidFill>
            <a:srgbClr val="FAFAFA"/>
          </a:solidFill>
          <a:ln>
            <a:noFill/>
          </a:ln>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chemeClr val="tx1"/>
                </a:solidFill>
              </a:rPr>
              <a:t>Las moléculas </a:t>
            </a:r>
            <a:r>
              <a:rPr lang="es-ES" sz="2400">
                <a:solidFill>
                  <a:srgbClr val="008000"/>
                </a:solidFill>
              </a:rPr>
              <a:t>se </a:t>
            </a:r>
            <a:r>
              <a:rPr lang="es-ES" sz="2400" dirty="0">
                <a:solidFill>
                  <a:srgbClr val="008000"/>
                </a:solidFill>
              </a:rPr>
              <a:t>polarizan</a:t>
            </a:r>
            <a:r>
              <a:rPr lang="es-ES" sz="2400" dirty="0">
                <a:solidFill>
                  <a:schemeClr val="tx1"/>
                </a:solidFill>
              </a:rPr>
              <a:t> al sentir el </a:t>
            </a:r>
            <a:r>
              <a:rPr lang="es-ES" sz="2400" b="1" dirty="0">
                <a:solidFill>
                  <a:schemeClr val="tx1"/>
                </a:solidFill>
              </a:rPr>
              <a:t>E</a:t>
            </a:r>
            <a:r>
              <a:rPr lang="es-ES" sz="2400" dirty="0">
                <a:solidFill>
                  <a:schemeClr val="tx1"/>
                </a:solidFill>
              </a:rPr>
              <a:t> debido a la Q </a:t>
            </a:r>
            <a:r>
              <a:rPr lang="es-ES" sz="2400">
                <a:solidFill>
                  <a:schemeClr val="tx1"/>
                </a:solidFill>
              </a:rPr>
              <a:t>del plástico y las posiciones promedio pasan a no coincidir</a:t>
            </a:r>
            <a:endParaRPr lang="es-ES" sz="2400" dirty="0">
              <a:solidFill>
                <a:schemeClr val="tx1"/>
              </a:solidFill>
            </a:endParaRPr>
          </a:p>
        </p:txBody>
      </p:sp>
      <p:grpSp>
        <p:nvGrpSpPr>
          <p:cNvPr id="31" name="Grupo 30">
            <a:extLst>
              <a:ext uri="{FF2B5EF4-FFF2-40B4-BE49-F238E27FC236}">
                <a16:creationId xmlns:a16="http://schemas.microsoft.com/office/drawing/2014/main" id="{339F2922-C947-4F3F-82E9-8664D731A00D}"/>
              </a:ext>
            </a:extLst>
          </p:cNvPr>
          <p:cNvGrpSpPr/>
          <p:nvPr/>
        </p:nvGrpSpPr>
        <p:grpSpPr>
          <a:xfrm>
            <a:off x="4438645" y="1893513"/>
            <a:ext cx="501470" cy="573934"/>
            <a:chOff x="4810191" y="4359907"/>
            <a:chExt cx="501470" cy="573934"/>
          </a:xfrm>
        </p:grpSpPr>
        <p:sp>
          <p:nvSpPr>
            <p:cNvPr id="32" name="Line 44">
              <a:extLst>
                <a:ext uri="{FF2B5EF4-FFF2-40B4-BE49-F238E27FC236}">
                  <a16:creationId xmlns:a16="http://schemas.microsoft.com/office/drawing/2014/main" id="{EC4A275B-311F-4F18-BCBC-EE77AAF297CB}"/>
                </a:ext>
              </a:extLst>
            </p:cNvPr>
            <p:cNvSpPr>
              <a:spLocks noChangeShapeType="1"/>
            </p:cNvSpPr>
            <p:nvPr/>
          </p:nvSpPr>
          <p:spPr bwMode="auto">
            <a:xfrm>
              <a:off x="4810191" y="4922725"/>
              <a:ext cx="501470" cy="1111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a:p>
          </p:txBody>
        </p:sp>
        <p:sp>
          <p:nvSpPr>
            <p:cNvPr id="33" name="Text Box 45">
              <a:extLst>
                <a:ext uri="{FF2B5EF4-FFF2-40B4-BE49-F238E27FC236}">
                  <a16:creationId xmlns:a16="http://schemas.microsoft.com/office/drawing/2014/main" id="{2D8AD724-D531-41A4-B262-3D6EBF932997}"/>
                </a:ext>
              </a:extLst>
            </p:cNvPr>
            <p:cNvSpPr txBox="1">
              <a:spLocks noChangeArrowheads="1"/>
            </p:cNvSpPr>
            <p:nvPr/>
          </p:nvSpPr>
          <p:spPr bwMode="auto">
            <a:xfrm>
              <a:off x="4852798" y="4359907"/>
              <a:ext cx="386943" cy="4638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rgbClr val="FF0000"/>
                  </a:solidFill>
                </a:rPr>
                <a:t>E</a:t>
              </a:r>
              <a:endParaRPr lang="es-ES" sz="2400" baseline="-25000" dirty="0">
                <a:solidFill>
                  <a:srgbClr val="FF0000"/>
                </a:solidFill>
              </a:endParaRPr>
            </a:p>
          </p:txBody>
        </p:sp>
        <p:sp>
          <p:nvSpPr>
            <p:cNvPr id="34" name="Line 46">
              <a:extLst>
                <a:ext uri="{FF2B5EF4-FFF2-40B4-BE49-F238E27FC236}">
                  <a16:creationId xmlns:a16="http://schemas.microsoft.com/office/drawing/2014/main" id="{5C32E90C-011B-4AD1-974C-9BCB5CC9BE1D}"/>
                </a:ext>
              </a:extLst>
            </p:cNvPr>
            <p:cNvSpPr>
              <a:spLocks noChangeShapeType="1"/>
            </p:cNvSpPr>
            <p:nvPr/>
          </p:nvSpPr>
          <p:spPr bwMode="auto">
            <a:xfrm flipV="1">
              <a:off x="4970845" y="4415487"/>
              <a:ext cx="179324" cy="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a:p>
          </p:txBody>
        </p:sp>
      </p:grpSp>
    </p:spTree>
    <p:extLst>
      <p:ext uri="{BB962C8B-B14F-4D97-AF65-F5344CB8AC3E}">
        <p14:creationId xmlns:p14="http://schemas.microsoft.com/office/powerpoint/2010/main" val="1680286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par>
                                <p:cTn id="13" presetID="1" presetClass="exit"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hidden"/>
                                      </p:to>
                                    </p:set>
                                  </p:childTnLst>
                                </p:cTn>
                              </p:par>
                            </p:childTnLst>
                          </p:cTn>
                        </p:par>
                        <p:par>
                          <p:cTn id="15" fill="hold">
                            <p:stCondLst>
                              <p:cond delay="500"/>
                            </p:stCondLst>
                            <p:childTnLst>
                              <p:par>
                                <p:cTn id="16" presetID="9" presetClass="entr" presetSubtype="0" fill="hold" grpId="0" nodeType="after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dissolve">
                                      <p:cBhvr>
                                        <p:cTn id="18" dur="5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wipe(up)">
                                      <p:cBhvr>
                                        <p:cTn id="23" dur="500"/>
                                        <p:tgtEl>
                                          <p:spTgt spid="53"/>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nodeType="click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barn(outVertical)">
                                      <p:cBhvr>
                                        <p:cTn id="28" dur="500"/>
                                        <p:tgtEl>
                                          <p:spTgt spid="41"/>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5"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blinds(vertical)">
                                      <p:cBhvr>
                                        <p:cTn id="3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9" grpId="0" animBg="1"/>
      <p:bldP spid="53" grpId="0" animBg="1"/>
      <p:bldP spid="28" grpId="0"/>
      <p:bldP spid="3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upo 7"/>
          <p:cNvGrpSpPr>
            <a:grpSpLocks/>
          </p:cNvGrpSpPr>
          <p:nvPr/>
        </p:nvGrpSpPr>
        <p:grpSpPr bwMode="auto">
          <a:xfrm>
            <a:off x="3733001" y="1129494"/>
            <a:ext cx="1666875" cy="627063"/>
            <a:chOff x="3098161" y="1631384"/>
            <a:chExt cx="1666876" cy="627064"/>
          </a:xfrm>
        </p:grpSpPr>
        <p:sp>
          <p:nvSpPr>
            <p:cNvPr id="25647" name="Oval 10"/>
            <p:cNvSpPr>
              <a:spLocks noChangeArrowheads="1"/>
            </p:cNvSpPr>
            <p:nvPr/>
          </p:nvSpPr>
          <p:spPr bwMode="auto">
            <a:xfrm>
              <a:off x="3098161" y="1631384"/>
              <a:ext cx="1666876" cy="627064"/>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grpSp>
          <p:nvGrpSpPr>
            <p:cNvPr id="25648" name="Group 137"/>
            <p:cNvGrpSpPr>
              <a:grpSpLocks/>
            </p:cNvGrpSpPr>
            <p:nvPr/>
          </p:nvGrpSpPr>
          <p:grpSpPr bwMode="auto">
            <a:xfrm>
              <a:off x="3250561" y="1656784"/>
              <a:ext cx="1335089" cy="527051"/>
              <a:chOff x="4566" y="1194"/>
              <a:chExt cx="841" cy="332"/>
            </a:xfrm>
          </p:grpSpPr>
          <p:sp>
            <p:nvSpPr>
              <p:cNvPr id="25649" name="Text Box 12"/>
              <p:cNvSpPr txBox="1">
                <a:spLocks noChangeArrowheads="1"/>
              </p:cNvSpPr>
              <p:nvPr/>
            </p:nvSpPr>
            <p:spPr bwMode="auto">
              <a:xfrm>
                <a:off x="5162" y="1199"/>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sp>
            <p:nvSpPr>
              <p:cNvPr id="25650" name="Text Box 13"/>
              <p:cNvSpPr txBox="1">
                <a:spLocks noChangeArrowheads="1"/>
              </p:cNvSpPr>
              <p:nvPr/>
            </p:nvSpPr>
            <p:spPr bwMode="auto">
              <a:xfrm flipH="1">
                <a:off x="4566" y="1194"/>
                <a:ext cx="1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grpSp>
      </p:grpSp>
      <p:grpSp>
        <p:nvGrpSpPr>
          <p:cNvPr id="21" name="Grupo 20">
            <a:extLst>
              <a:ext uri="{FF2B5EF4-FFF2-40B4-BE49-F238E27FC236}">
                <a16:creationId xmlns:a16="http://schemas.microsoft.com/office/drawing/2014/main" id="{6D16FC0A-F83B-4351-BF65-188F171C5CEC}"/>
              </a:ext>
            </a:extLst>
          </p:cNvPr>
          <p:cNvGrpSpPr/>
          <p:nvPr/>
        </p:nvGrpSpPr>
        <p:grpSpPr>
          <a:xfrm>
            <a:off x="6147431" y="708260"/>
            <a:ext cx="1517023" cy="909962"/>
            <a:chOff x="8755388" y="4334442"/>
            <a:chExt cx="1517023" cy="909962"/>
          </a:xfrm>
        </p:grpSpPr>
        <p:pic>
          <p:nvPicPr>
            <p:cNvPr id="25640" name="Picture 1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5388" y="4814072"/>
              <a:ext cx="449102" cy="430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25641" name="Text Box 34"/>
            <p:cNvSpPr txBox="1">
              <a:spLocks noChangeArrowheads="1"/>
            </p:cNvSpPr>
            <p:nvPr/>
          </p:nvSpPr>
          <p:spPr bwMode="auto">
            <a:xfrm>
              <a:off x="8938391" y="4334442"/>
              <a:ext cx="133402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rgbClr val="008000"/>
                  </a:solidFill>
                </a:rPr>
                <a:t>Q</a:t>
              </a:r>
              <a:r>
                <a:rPr lang="es-ES" sz="2400" baseline="-25000">
                  <a:solidFill>
                    <a:srgbClr val="008000"/>
                  </a:solidFill>
                </a:rPr>
                <a:t>Superficie</a:t>
              </a:r>
            </a:p>
            <a:p>
              <a:pPr algn="ctr" eaLnBrk="1" hangingPunct="1">
                <a:spcBef>
                  <a:spcPts val="0"/>
                </a:spcBef>
              </a:pPr>
              <a:r>
                <a:rPr lang="es-ES" sz="2400" baseline="-25000">
                  <a:solidFill>
                    <a:srgbClr val="008000"/>
                  </a:solidFill>
                </a:rPr>
                <a:t>Plástico</a:t>
              </a:r>
            </a:p>
          </p:txBody>
        </p:sp>
      </p:grpSp>
      <p:grpSp>
        <p:nvGrpSpPr>
          <p:cNvPr id="41" name="Grupo 40">
            <a:extLst>
              <a:ext uri="{FF2B5EF4-FFF2-40B4-BE49-F238E27FC236}">
                <a16:creationId xmlns:a16="http://schemas.microsoft.com/office/drawing/2014/main" id="{05C36143-0E49-450D-A489-ADB51A364AF3}"/>
              </a:ext>
            </a:extLst>
          </p:cNvPr>
          <p:cNvGrpSpPr>
            <a:grpSpLocks/>
          </p:cNvGrpSpPr>
          <p:nvPr/>
        </p:nvGrpSpPr>
        <p:grpSpPr bwMode="auto">
          <a:xfrm>
            <a:off x="3935485" y="2745165"/>
            <a:ext cx="1208090" cy="234950"/>
            <a:chOff x="3291033" y="2611807"/>
            <a:chExt cx="1207848" cy="234622"/>
          </a:xfrm>
        </p:grpSpPr>
        <p:cxnSp>
          <p:nvCxnSpPr>
            <p:cNvPr id="50" name="Conector recto 49">
              <a:extLst>
                <a:ext uri="{FF2B5EF4-FFF2-40B4-BE49-F238E27FC236}">
                  <a16:creationId xmlns:a16="http://schemas.microsoft.com/office/drawing/2014/main" id="{C7B9FB29-89B5-4BC6-AD0F-6606E14D02B0}"/>
                </a:ext>
              </a:extLst>
            </p:cNvPr>
            <p:cNvCxnSpPr>
              <a:cxnSpLocks noChangeShapeType="1"/>
            </p:cNvCxnSpPr>
            <p:nvPr/>
          </p:nvCxnSpPr>
          <p:spPr bwMode="auto">
            <a:xfrm flipH="1">
              <a:off x="3389342" y="2721324"/>
              <a:ext cx="997522"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pic>
          <p:nvPicPr>
            <p:cNvPr id="51" name="Picture 20">
              <a:extLst>
                <a:ext uri="{FF2B5EF4-FFF2-40B4-BE49-F238E27FC236}">
                  <a16:creationId xmlns:a16="http://schemas.microsoft.com/office/drawing/2014/main" id="{5BBC7B70-18EF-437B-843E-9FAB3B171BCE}"/>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4267106" y="2614654"/>
              <a:ext cx="23177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pic>
          <p:nvPicPr>
            <p:cNvPr id="52" name="Picture 10">
              <a:extLst>
                <a:ext uri="{FF2B5EF4-FFF2-40B4-BE49-F238E27FC236}">
                  <a16:creationId xmlns:a16="http://schemas.microsoft.com/office/drawing/2014/main" id="{A14B9806-D7A4-411A-ABAD-C3D59FE01DB9}"/>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1033" y="2611807"/>
              <a:ext cx="220662" cy="21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grpSp>
      <p:grpSp>
        <p:nvGrpSpPr>
          <p:cNvPr id="31" name="Grupo 30">
            <a:extLst>
              <a:ext uri="{FF2B5EF4-FFF2-40B4-BE49-F238E27FC236}">
                <a16:creationId xmlns:a16="http://schemas.microsoft.com/office/drawing/2014/main" id="{20BF9303-0848-49F1-877B-B34A3E945154}"/>
              </a:ext>
            </a:extLst>
          </p:cNvPr>
          <p:cNvGrpSpPr>
            <a:grpSpLocks/>
          </p:cNvGrpSpPr>
          <p:nvPr/>
        </p:nvGrpSpPr>
        <p:grpSpPr bwMode="auto">
          <a:xfrm>
            <a:off x="3234708" y="1426537"/>
            <a:ext cx="2871159" cy="1683902"/>
            <a:chOff x="2582839" y="1935814"/>
            <a:chExt cx="2870112" cy="1685717"/>
          </a:xfrm>
        </p:grpSpPr>
        <p:sp>
          <p:nvSpPr>
            <p:cNvPr id="32" name="Line 28">
              <a:extLst>
                <a:ext uri="{FF2B5EF4-FFF2-40B4-BE49-F238E27FC236}">
                  <a16:creationId xmlns:a16="http://schemas.microsoft.com/office/drawing/2014/main" id="{8F3B5BA0-C05F-4BB9-B164-31261799D7CF}"/>
                </a:ext>
              </a:extLst>
            </p:cNvPr>
            <p:cNvSpPr>
              <a:spLocks noChangeShapeType="1"/>
            </p:cNvSpPr>
            <p:nvPr/>
          </p:nvSpPr>
          <p:spPr bwMode="auto">
            <a:xfrm>
              <a:off x="4530447" y="1935814"/>
              <a:ext cx="478985"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sz="2400"/>
            </a:p>
          </p:txBody>
        </p:sp>
        <p:sp>
          <p:nvSpPr>
            <p:cNvPr id="33" name="Line 29">
              <a:extLst>
                <a:ext uri="{FF2B5EF4-FFF2-40B4-BE49-F238E27FC236}">
                  <a16:creationId xmlns:a16="http://schemas.microsoft.com/office/drawing/2014/main" id="{CFF85D3A-13E7-41C4-ACBC-B6F38A6BEAFC}"/>
                </a:ext>
              </a:extLst>
            </p:cNvPr>
            <p:cNvSpPr>
              <a:spLocks noChangeShapeType="1"/>
            </p:cNvSpPr>
            <p:nvPr/>
          </p:nvSpPr>
          <p:spPr bwMode="auto">
            <a:xfrm flipH="1">
              <a:off x="2907661" y="1966347"/>
              <a:ext cx="359869"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sz="2400"/>
            </a:p>
          </p:txBody>
        </p:sp>
        <p:sp>
          <p:nvSpPr>
            <p:cNvPr id="34" name="Text Box 30">
              <a:extLst>
                <a:ext uri="{FF2B5EF4-FFF2-40B4-BE49-F238E27FC236}">
                  <a16:creationId xmlns:a16="http://schemas.microsoft.com/office/drawing/2014/main" id="{668D6337-95DA-490F-AD8B-ED0B8192449E}"/>
                </a:ext>
              </a:extLst>
            </p:cNvPr>
            <p:cNvSpPr txBox="1">
              <a:spLocks noChangeArrowheads="1"/>
            </p:cNvSpPr>
            <p:nvPr/>
          </p:nvSpPr>
          <p:spPr bwMode="auto">
            <a:xfrm>
              <a:off x="2583180" y="2048898"/>
              <a:ext cx="438078" cy="464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rgbClr val="3333FF"/>
                  </a:solidFill>
                </a:rPr>
                <a:t>F</a:t>
              </a:r>
              <a:r>
                <a:rPr lang="es-ES" sz="2400" baseline="-25000">
                  <a:solidFill>
                    <a:srgbClr val="3333FF"/>
                  </a:solidFill>
                </a:rPr>
                <a:t>-</a:t>
              </a:r>
            </a:p>
          </p:txBody>
        </p:sp>
        <p:sp>
          <p:nvSpPr>
            <p:cNvPr id="35" name="Text Box 31">
              <a:extLst>
                <a:ext uri="{FF2B5EF4-FFF2-40B4-BE49-F238E27FC236}">
                  <a16:creationId xmlns:a16="http://schemas.microsoft.com/office/drawing/2014/main" id="{7EA24E45-1238-4F43-93AC-C94495F4273F}"/>
                </a:ext>
              </a:extLst>
            </p:cNvPr>
            <p:cNvSpPr txBox="1">
              <a:spLocks noChangeArrowheads="1"/>
            </p:cNvSpPr>
            <p:nvPr/>
          </p:nvSpPr>
          <p:spPr bwMode="auto">
            <a:xfrm>
              <a:off x="4962408" y="2036198"/>
              <a:ext cx="489356" cy="464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rgbClr val="3333FF"/>
                  </a:solidFill>
                </a:rPr>
                <a:t>F</a:t>
              </a:r>
              <a:r>
                <a:rPr lang="es-ES" sz="2400" baseline="-25000" dirty="0">
                  <a:solidFill>
                    <a:srgbClr val="3333FF"/>
                  </a:solidFill>
                </a:rPr>
                <a:t>+</a:t>
              </a:r>
            </a:p>
          </p:txBody>
        </p:sp>
        <p:sp>
          <p:nvSpPr>
            <p:cNvPr id="36" name="Line 32">
              <a:extLst>
                <a:ext uri="{FF2B5EF4-FFF2-40B4-BE49-F238E27FC236}">
                  <a16:creationId xmlns:a16="http://schemas.microsoft.com/office/drawing/2014/main" id="{72C5E73B-E738-4A8F-B919-B063E4943BEE}"/>
                </a:ext>
              </a:extLst>
            </p:cNvPr>
            <p:cNvSpPr>
              <a:spLocks noChangeShapeType="1"/>
            </p:cNvSpPr>
            <p:nvPr/>
          </p:nvSpPr>
          <p:spPr bwMode="auto">
            <a:xfrm flipV="1">
              <a:off x="2691887" y="2098110"/>
              <a:ext cx="179388" cy="0"/>
            </a:xfrm>
            <a:prstGeom prst="line">
              <a:avLst/>
            </a:prstGeom>
            <a:noFill/>
            <a:ln w="127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sz="2400"/>
            </a:p>
          </p:txBody>
        </p:sp>
        <p:sp>
          <p:nvSpPr>
            <p:cNvPr id="37" name="Line 33">
              <a:extLst>
                <a:ext uri="{FF2B5EF4-FFF2-40B4-BE49-F238E27FC236}">
                  <a16:creationId xmlns:a16="http://schemas.microsoft.com/office/drawing/2014/main" id="{6833C64B-5451-4304-8671-BB50DD7113C5}"/>
                </a:ext>
              </a:extLst>
            </p:cNvPr>
            <p:cNvSpPr>
              <a:spLocks noChangeShapeType="1"/>
            </p:cNvSpPr>
            <p:nvPr/>
          </p:nvSpPr>
          <p:spPr bwMode="auto">
            <a:xfrm flipV="1">
              <a:off x="5087224" y="2091760"/>
              <a:ext cx="179388" cy="0"/>
            </a:xfrm>
            <a:prstGeom prst="line">
              <a:avLst/>
            </a:prstGeom>
            <a:noFill/>
            <a:ln w="127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sz="2400"/>
            </a:p>
          </p:txBody>
        </p:sp>
        <p:sp>
          <p:nvSpPr>
            <p:cNvPr id="38" name="Line 28">
              <a:extLst>
                <a:ext uri="{FF2B5EF4-FFF2-40B4-BE49-F238E27FC236}">
                  <a16:creationId xmlns:a16="http://schemas.microsoft.com/office/drawing/2014/main" id="{B11176D4-9C99-4117-ABFA-CD734DBF2E34}"/>
                </a:ext>
              </a:extLst>
            </p:cNvPr>
            <p:cNvSpPr>
              <a:spLocks noChangeShapeType="1"/>
            </p:cNvSpPr>
            <p:nvPr/>
          </p:nvSpPr>
          <p:spPr bwMode="auto">
            <a:xfrm>
              <a:off x="4521883" y="3361309"/>
              <a:ext cx="478985"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sz="2400"/>
            </a:p>
          </p:txBody>
        </p:sp>
        <p:sp>
          <p:nvSpPr>
            <p:cNvPr id="40" name="Line 29">
              <a:extLst>
                <a:ext uri="{FF2B5EF4-FFF2-40B4-BE49-F238E27FC236}">
                  <a16:creationId xmlns:a16="http://schemas.microsoft.com/office/drawing/2014/main" id="{46EEACF8-99A0-45D7-B883-718C5FAFCE9B}"/>
                </a:ext>
              </a:extLst>
            </p:cNvPr>
            <p:cNvSpPr>
              <a:spLocks noChangeShapeType="1"/>
            </p:cNvSpPr>
            <p:nvPr/>
          </p:nvSpPr>
          <p:spPr bwMode="auto">
            <a:xfrm flipH="1">
              <a:off x="2901027" y="3361227"/>
              <a:ext cx="359869"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sz="2400"/>
            </a:p>
          </p:txBody>
        </p:sp>
        <p:sp>
          <p:nvSpPr>
            <p:cNvPr id="42" name="Text Box 30">
              <a:extLst>
                <a:ext uri="{FF2B5EF4-FFF2-40B4-BE49-F238E27FC236}">
                  <a16:creationId xmlns:a16="http://schemas.microsoft.com/office/drawing/2014/main" id="{C197455F-BC17-4EC5-8D5A-ADA62AE8FD51}"/>
                </a:ext>
              </a:extLst>
            </p:cNvPr>
            <p:cNvSpPr txBox="1">
              <a:spLocks noChangeArrowheads="1"/>
            </p:cNvSpPr>
            <p:nvPr/>
          </p:nvSpPr>
          <p:spPr bwMode="auto">
            <a:xfrm>
              <a:off x="2582839" y="3150701"/>
              <a:ext cx="438078" cy="464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rgbClr val="3333FF"/>
                  </a:solidFill>
                </a:rPr>
                <a:t>F</a:t>
              </a:r>
              <a:r>
                <a:rPr lang="es-ES" sz="2400" baseline="-25000">
                  <a:solidFill>
                    <a:srgbClr val="3333FF"/>
                  </a:solidFill>
                </a:rPr>
                <a:t>-</a:t>
              </a:r>
            </a:p>
          </p:txBody>
        </p:sp>
        <p:sp>
          <p:nvSpPr>
            <p:cNvPr id="43" name="Text Box 31">
              <a:extLst>
                <a:ext uri="{FF2B5EF4-FFF2-40B4-BE49-F238E27FC236}">
                  <a16:creationId xmlns:a16="http://schemas.microsoft.com/office/drawing/2014/main" id="{563A77AB-87BE-456A-89CA-572F465CE200}"/>
                </a:ext>
              </a:extLst>
            </p:cNvPr>
            <p:cNvSpPr txBox="1">
              <a:spLocks noChangeArrowheads="1"/>
            </p:cNvSpPr>
            <p:nvPr/>
          </p:nvSpPr>
          <p:spPr bwMode="auto">
            <a:xfrm>
              <a:off x="4963595" y="3157184"/>
              <a:ext cx="489356" cy="464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rgbClr val="3333FF"/>
                  </a:solidFill>
                </a:rPr>
                <a:t>F</a:t>
              </a:r>
              <a:r>
                <a:rPr lang="es-ES" sz="2400" baseline="-25000">
                  <a:solidFill>
                    <a:srgbClr val="3333FF"/>
                  </a:solidFill>
                </a:rPr>
                <a:t>+</a:t>
              </a:r>
            </a:p>
          </p:txBody>
        </p:sp>
        <p:sp>
          <p:nvSpPr>
            <p:cNvPr id="44" name="Line 32">
              <a:extLst>
                <a:ext uri="{FF2B5EF4-FFF2-40B4-BE49-F238E27FC236}">
                  <a16:creationId xmlns:a16="http://schemas.microsoft.com/office/drawing/2014/main" id="{89190AC3-7B60-4DA7-8FC7-14085B4477A3}"/>
                </a:ext>
              </a:extLst>
            </p:cNvPr>
            <p:cNvSpPr>
              <a:spLocks noChangeShapeType="1"/>
            </p:cNvSpPr>
            <p:nvPr/>
          </p:nvSpPr>
          <p:spPr bwMode="auto">
            <a:xfrm flipV="1">
              <a:off x="2677808" y="3232787"/>
              <a:ext cx="179388" cy="0"/>
            </a:xfrm>
            <a:prstGeom prst="line">
              <a:avLst/>
            </a:prstGeom>
            <a:noFill/>
            <a:ln w="127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sz="2400"/>
            </a:p>
          </p:txBody>
        </p:sp>
        <p:sp>
          <p:nvSpPr>
            <p:cNvPr id="45" name="Line 33">
              <a:extLst>
                <a:ext uri="{FF2B5EF4-FFF2-40B4-BE49-F238E27FC236}">
                  <a16:creationId xmlns:a16="http://schemas.microsoft.com/office/drawing/2014/main" id="{30627046-B1CE-414A-9934-DF544BA25E91}"/>
                </a:ext>
              </a:extLst>
            </p:cNvPr>
            <p:cNvSpPr>
              <a:spLocks noChangeShapeType="1"/>
            </p:cNvSpPr>
            <p:nvPr/>
          </p:nvSpPr>
          <p:spPr bwMode="auto">
            <a:xfrm flipV="1">
              <a:off x="5098344" y="3222493"/>
              <a:ext cx="179388" cy="0"/>
            </a:xfrm>
            <a:prstGeom prst="line">
              <a:avLst/>
            </a:prstGeom>
            <a:noFill/>
            <a:ln w="127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sz="2400"/>
            </a:p>
          </p:txBody>
        </p:sp>
      </p:grpSp>
      <p:sp>
        <p:nvSpPr>
          <p:cNvPr id="57" name="Text Box 69">
            <a:extLst>
              <a:ext uri="{FF2B5EF4-FFF2-40B4-BE49-F238E27FC236}">
                <a16:creationId xmlns:a16="http://schemas.microsoft.com/office/drawing/2014/main" id="{8DBA2BBB-28A8-4FF3-BB98-38542FD6482D}"/>
              </a:ext>
            </a:extLst>
          </p:cNvPr>
          <p:cNvSpPr txBox="1">
            <a:spLocks noChangeArrowheads="1"/>
          </p:cNvSpPr>
          <p:nvPr/>
        </p:nvSpPr>
        <p:spPr bwMode="auto">
          <a:xfrm>
            <a:off x="3244540" y="6013497"/>
            <a:ext cx="5036432" cy="463846"/>
          </a:xfrm>
          <a:prstGeom prst="rect">
            <a:avLst/>
          </a:prstGeom>
          <a:solidFill>
            <a:schemeClr val="accent1">
              <a:lumMod val="40000"/>
              <a:lumOff val="60000"/>
            </a:schemeClr>
          </a:solidFill>
          <a:ln>
            <a:noFill/>
          </a:ln>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chemeClr val="tx1"/>
                </a:solidFill>
              </a:rPr>
              <a:t>Hay atracción entre papel y plástico</a:t>
            </a:r>
          </a:p>
        </p:txBody>
      </p:sp>
      <p:sp>
        <p:nvSpPr>
          <p:cNvPr id="61" name="Text Box 68">
            <a:extLst>
              <a:ext uri="{FF2B5EF4-FFF2-40B4-BE49-F238E27FC236}">
                <a16:creationId xmlns:a16="http://schemas.microsoft.com/office/drawing/2014/main" id="{A2BE9E67-77EF-45CE-88DD-F26AE33F81DD}"/>
              </a:ext>
            </a:extLst>
          </p:cNvPr>
          <p:cNvSpPr txBox="1">
            <a:spLocks noChangeArrowheads="1"/>
          </p:cNvSpPr>
          <p:nvPr/>
        </p:nvSpPr>
        <p:spPr bwMode="auto">
          <a:xfrm>
            <a:off x="3244540" y="5054586"/>
            <a:ext cx="5040000" cy="720000"/>
          </a:xfrm>
          <a:prstGeom prst="rect">
            <a:avLst/>
          </a:prstGeom>
          <a:solidFill>
            <a:srgbClr val="FAFAFA"/>
          </a:solidFill>
          <a:ln>
            <a:noFill/>
          </a:ln>
        </p:spPr>
        <p:txBody>
          <a:bodyPr wrap="square" lIns="90000" tIns="46800" rIns="90000" bIns="468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rgbClr val="0000FF"/>
                </a:solidFill>
                <a:sym typeface="Symbol" panose="05050102010706020507" pitchFamily="18" charset="2"/>
              </a:rPr>
              <a:t>F</a:t>
            </a:r>
            <a:r>
              <a:rPr lang="es-ES" sz="2400" baseline="-25000" dirty="0">
                <a:solidFill>
                  <a:srgbClr val="0000FF"/>
                </a:solidFill>
                <a:sym typeface="Symbol" panose="05050102010706020507" pitchFamily="18" charset="2"/>
              </a:rPr>
              <a:t>+</a:t>
            </a:r>
            <a:r>
              <a:rPr lang="es-ES" sz="2400" dirty="0">
                <a:solidFill>
                  <a:srgbClr val="0000FF"/>
                </a:solidFill>
                <a:sym typeface="Symbol" panose="05050102010706020507" pitchFamily="18" charset="2"/>
              </a:rPr>
              <a:t> &gt; F</a:t>
            </a:r>
            <a:r>
              <a:rPr lang="es-ES" sz="2400" baseline="-25000" dirty="0">
                <a:solidFill>
                  <a:srgbClr val="0000FF"/>
                </a:solidFill>
                <a:sym typeface="Symbol" panose="05050102010706020507" pitchFamily="18" charset="2"/>
              </a:rPr>
              <a:t>-</a:t>
            </a:r>
            <a:r>
              <a:rPr lang="es-ES" sz="2400" dirty="0">
                <a:solidFill>
                  <a:srgbClr val="0000FF"/>
                </a:solidFill>
                <a:sym typeface="Symbol" panose="05050102010706020507" pitchFamily="18" charset="2"/>
              </a:rPr>
              <a:t> porque r</a:t>
            </a:r>
            <a:r>
              <a:rPr lang="es-ES" sz="2400" baseline="-25000" dirty="0">
                <a:solidFill>
                  <a:srgbClr val="0000FF"/>
                </a:solidFill>
                <a:sym typeface="Symbol" panose="05050102010706020507" pitchFamily="18" charset="2"/>
              </a:rPr>
              <a:t>+-</a:t>
            </a:r>
            <a:r>
              <a:rPr lang="es-ES" sz="2400" dirty="0">
                <a:solidFill>
                  <a:srgbClr val="0000FF"/>
                </a:solidFill>
                <a:sym typeface="Symbol" panose="05050102010706020507" pitchFamily="18" charset="2"/>
              </a:rPr>
              <a:t> &lt; </a:t>
            </a:r>
            <a:r>
              <a:rPr lang="es-ES" sz="2400">
                <a:solidFill>
                  <a:srgbClr val="0000FF"/>
                </a:solidFill>
                <a:sym typeface="Symbol" panose="05050102010706020507" pitchFamily="18" charset="2"/>
              </a:rPr>
              <a:t>r</a:t>
            </a:r>
            <a:r>
              <a:rPr lang="es-ES" sz="2400" baseline="-25000">
                <a:solidFill>
                  <a:srgbClr val="0000FF"/>
                </a:solidFill>
                <a:sym typeface="Symbol" panose="05050102010706020507" pitchFamily="18" charset="2"/>
              </a:rPr>
              <a:t>-- </a:t>
            </a:r>
            <a:r>
              <a:rPr lang="es-ES" sz="2400">
                <a:solidFill>
                  <a:srgbClr val="0000FF"/>
                </a:solidFill>
              </a:rPr>
              <a:t> </a:t>
            </a:r>
            <a:r>
              <a:rPr lang="es-ES" sz="2400">
                <a:solidFill>
                  <a:srgbClr val="0000FF"/>
                </a:solidFill>
                <a:sym typeface="Symbol" panose="05050102010706020507" pitchFamily="18" charset="2"/>
              </a:rPr>
              <a:t> </a:t>
            </a:r>
            <a:r>
              <a:rPr lang="es-ES" sz="2400" b="1">
                <a:solidFill>
                  <a:srgbClr val="3333FF"/>
                </a:solidFill>
              </a:rPr>
              <a:t>F</a:t>
            </a:r>
            <a:r>
              <a:rPr lang="es-ES" sz="2400" baseline="-25000">
                <a:solidFill>
                  <a:srgbClr val="3333FF"/>
                </a:solidFill>
              </a:rPr>
              <a:t>NETA</a:t>
            </a:r>
            <a:r>
              <a:rPr lang="es-ES" sz="2400">
                <a:solidFill>
                  <a:srgbClr val="3333FF"/>
                </a:solidFill>
              </a:rPr>
              <a:t> </a:t>
            </a:r>
            <a:r>
              <a:rPr lang="es-ES" sz="2400">
                <a:solidFill>
                  <a:srgbClr val="3333FF"/>
                </a:solidFill>
                <a:sym typeface="Symbol" panose="05050102010706020507" pitchFamily="18" charset="2"/>
              </a:rPr>
              <a:t> 0</a:t>
            </a:r>
            <a:endParaRPr lang="es-ES" sz="2400" dirty="0">
              <a:solidFill>
                <a:srgbClr val="0000FF"/>
              </a:solidFill>
            </a:endParaRPr>
          </a:p>
        </p:txBody>
      </p:sp>
      <p:grpSp>
        <p:nvGrpSpPr>
          <p:cNvPr id="2" name="Grupo 1">
            <a:extLst>
              <a:ext uri="{FF2B5EF4-FFF2-40B4-BE49-F238E27FC236}">
                <a16:creationId xmlns:a16="http://schemas.microsoft.com/office/drawing/2014/main" id="{F860219A-71C1-0484-749A-FCBE93348F9A}"/>
              </a:ext>
            </a:extLst>
          </p:cNvPr>
          <p:cNvGrpSpPr/>
          <p:nvPr/>
        </p:nvGrpSpPr>
        <p:grpSpPr>
          <a:xfrm>
            <a:off x="4281940" y="837695"/>
            <a:ext cx="536564" cy="1793206"/>
            <a:chOff x="4281940" y="837695"/>
            <a:chExt cx="536564" cy="1793206"/>
          </a:xfrm>
        </p:grpSpPr>
        <p:grpSp>
          <p:nvGrpSpPr>
            <p:cNvPr id="69" name="Grupo 68">
              <a:extLst>
                <a:ext uri="{FF2B5EF4-FFF2-40B4-BE49-F238E27FC236}">
                  <a16:creationId xmlns:a16="http://schemas.microsoft.com/office/drawing/2014/main" id="{6ADFCAB7-85FC-4863-B532-6800A540C4D3}"/>
                </a:ext>
              </a:extLst>
            </p:cNvPr>
            <p:cNvGrpSpPr/>
            <p:nvPr/>
          </p:nvGrpSpPr>
          <p:grpSpPr>
            <a:xfrm>
              <a:off x="4281940" y="2083736"/>
              <a:ext cx="501470" cy="547165"/>
              <a:chOff x="4810191" y="4673084"/>
              <a:chExt cx="501470" cy="547165"/>
            </a:xfrm>
          </p:grpSpPr>
          <p:sp>
            <p:nvSpPr>
              <p:cNvPr id="70" name="Line 44">
                <a:extLst>
                  <a:ext uri="{FF2B5EF4-FFF2-40B4-BE49-F238E27FC236}">
                    <a16:creationId xmlns:a16="http://schemas.microsoft.com/office/drawing/2014/main" id="{C61B18F6-C1AF-4BBB-8EE6-E31780A301FA}"/>
                  </a:ext>
                </a:extLst>
              </p:cNvPr>
              <p:cNvSpPr>
                <a:spLocks noChangeShapeType="1"/>
              </p:cNvSpPr>
              <p:nvPr/>
            </p:nvSpPr>
            <p:spPr bwMode="auto">
              <a:xfrm>
                <a:off x="4810191" y="5209133"/>
                <a:ext cx="501470" cy="1111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a:p>
            </p:txBody>
          </p:sp>
          <p:sp>
            <p:nvSpPr>
              <p:cNvPr id="71" name="Text Box 45">
                <a:extLst>
                  <a:ext uri="{FF2B5EF4-FFF2-40B4-BE49-F238E27FC236}">
                    <a16:creationId xmlns:a16="http://schemas.microsoft.com/office/drawing/2014/main" id="{D7B890E4-B30D-4677-AB15-43722206E1DC}"/>
                  </a:ext>
                </a:extLst>
              </p:cNvPr>
              <p:cNvSpPr txBox="1">
                <a:spLocks noChangeArrowheads="1"/>
              </p:cNvSpPr>
              <p:nvPr/>
            </p:nvSpPr>
            <p:spPr bwMode="auto">
              <a:xfrm>
                <a:off x="4852798" y="4673084"/>
                <a:ext cx="386943" cy="4638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rgbClr val="FF0000"/>
                    </a:solidFill>
                  </a:rPr>
                  <a:t>E</a:t>
                </a:r>
                <a:endParaRPr lang="es-ES" sz="2400" baseline="-25000" dirty="0">
                  <a:solidFill>
                    <a:srgbClr val="FF0000"/>
                  </a:solidFill>
                </a:endParaRPr>
              </a:p>
            </p:txBody>
          </p:sp>
          <p:sp>
            <p:nvSpPr>
              <p:cNvPr id="72" name="Line 46">
                <a:extLst>
                  <a:ext uri="{FF2B5EF4-FFF2-40B4-BE49-F238E27FC236}">
                    <a16:creationId xmlns:a16="http://schemas.microsoft.com/office/drawing/2014/main" id="{3E5E3925-0C04-4ED5-A370-811F94C0B038}"/>
                  </a:ext>
                </a:extLst>
              </p:cNvPr>
              <p:cNvSpPr>
                <a:spLocks noChangeShapeType="1"/>
              </p:cNvSpPr>
              <p:nvPr/>
            </p:nvSpPr>
            <p:spPr bwMode="auto">
              <a:xfrm flipV="1">
                <a:off x="4970845" y="4728664"/>
                <a:ext cx="179324" cy="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a:p>
            </p:txBody>
          </p:sp>
        </p:grpSp>
        <p:grpSp>
          <p:nvGrpSpPr>
            <p:cNvPr id="74" name="Grupo 73">
              <a:extLst>
                <a:ext uri="{FF2B5EF4-FFF2-40B4-BE49-F238E27FC236}">
                  <a16:creationId xmlns:a16="http://schemas.microsoft.com/office/drawing/2014/main" id="{E4F0F6AB-096D-4AEA-8321-B88FB1354091}"/>
                </a:ext>
              </a:extLst>
            </p:cNvPr>
            <p:cNvGrpSpPr/>
            <p:nvPr/>
          </p:nvGrpSpPr>
          <p:grpSpPr>
            <a:xfrm>
              <a:off x="4317034" y="837695"/>
              <a:ext cx="501470" cy="573934"/>
              <a:chOff x="4810191" y="4359907"/>
              <a:chExt cx="501470" cy="573934"/>
            </a:xfrm>
          </p:grpSpPr>
          <p:sp>
            <p:nvSpPr>
              <p:cNvPr id="75" name="Line 44">
                <a:extLst>
                  <a:ext uri="{FF2B5EF4-FFF2-40B4-BE49-F238E27FC236}">
                    <a16:creationId xmlns:a16="http://schemas.microsoft.com/office/drawing/2014/main" id="{C898D0C7-A826-4F67-BF0F-6D174BA4CBA2}"/>
                  </a:ext>
                </a:extLst>
              </p:cNvPr>
              <p:cNvSpPr>
                <a:spLocks noChangeShapeType="1"/>
              </p:cNvSpPr>
              <p:nvPr/>
            </p:nvSpPr>
            <p:spPr bwMode="auto">
              <a:xfrm>
                <a:off x="4810191" y="4922725"/>
                <a:ext cx="501470" cy="1111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a:p>
            </p:txBody>
          </p:sp>
          <p:sp>
            <p:nvSpPr>
              <p:cNvPr id="76" name="Text Box 45">
                <a:extLst>
                  <a:ext uri="{FF2B5EF4-FFF2-40B4-BE49-F238E27FC236}">
                    <a16:creationId xmlns:a16="http://schemas.microsoft.com/office/drawing/2014/main" id="{4AA7A359-4724-4FF6-833C-A35F14DB5148}"/>
                  </a:ext>
                </a:extLst>
              </p:cNvPr>
              <p:cNvSpPr txBox="1">
                <a:spLocks noChangeArrowheads="1"/>
              </p:cNvSpPr>
              <p:nvPr/>
            </p:nvSpPr>
            <p:spPr bwMode="auto">
              <a:xfrm>
                <a:off x="4852798" y="4359907"/>
                <a:ext cx="386943" cy="4638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rgbClr val="FF0000"/>
                    </a:solidFill>
                  </a:rPr>
                  <a:t>E</a:t>
                </a:r>
                <a:endParaRPr lang="es-ES" sz="2400" baseline="-25000" dirty="0">
                  <a:solidFill>
                    <a:srgbClr val="FF0000"/>
                  </a:solidFill>
                </a:endParaRPr>
              </a:p>
            </p:txBody>
          </p:sp>
          <p:sp>
            <p:nvSpPr>
              <p:cNvPr id="77" name="Line 46">
                <a:extLst>
                  <a:ext uri="{FF2B5EF4-FFF2-40B4-BE49-F238E27FC236}">
                    <a16:creationId xmlns:a16="http://schemas.microsoft.com/office/drawing/2014/main" id="{DA18D619-A246-464A-84F3-93A726BCDD01}"/>
                  </a:ext>
                </a:extLst>
              </p:cNvPr>
              <p:cNvSpPr>
                <a:spLocks noChangeShapeType="1"/>
              </p:cNvSpPr>
              <p:nvPr/>
            </p:nvSpPr>
            <p:spPr bwMode="auto">
              <a:xfrm flipV="1">
                <a:off x="4970845" y="4415487"/>
                <a:ext cx="179324" cy="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endParaRPr lang="en-GB"/>
              </a:p>
            </p:txBody>
          </p:sp>
        </p:grpSp>
      </p:grpSp>
      <p:sp>
        <p:nvSpPr>
          <p:cNvPr id="3" name="Text Box 65">
            <a:extLst>
              <a:ext uri="{FF2B5EF4-FFF2-40B4-BE49-F238E27FC236}">
                <a16:creationId xmlns:a16="http://schemas.microsoft.com/office/drawing/2014/main" id="{C650D361-0503-460E-A014-9075D239EC18}"/>
              </a:ext>
            </a:extLst>
          </p:cNvPr>
          <p:cNvSpPr txBox="1">
            <a:spLocks noChangeArrowheads="1"/>
          </p:cNvSpPr>
          <p:nvPr/>
        </p:nvSpPr>
        <p:spPr bwMode="auto">
          <a:xfrm>
            <a:off x="2147301" y="3825122"/>
            <a:ext cx="7243279" cy="833178"/>
          </a:xfrm>
          <a:prstGeom prst="rect">
            <a:avLst/>
          </a:prstGeom>
          <a:solidFill>
            <a:schemeClr val="accent1">
              <a:lumMod val="40000"/>
              <a:lumOff val="60000"/>
            </a:schemeClr>
          </a:solidFill>
          <a:ln>
            <a:noFill/>
          </a:ln>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chemeClr val="tx1"/>
                </a:solidFill>
              </a:rPr>
              <a:t>La atracción interna, la cohesión, evita la rotura de las moléculas (el palito da cuenta de ello)</a:t>
            </a:r>
          </a:p>
        </p:txBody>
      </p:sp>
    </p:spTree>
    <p:extLst>
      <p:ext uri="{BB962C8B-B14F-4D97-AF65-F5344CB8AC3E}">
        <p14:creationId xmlns:p14="http://schemas.microsoft.com/office/powerpoint/2010/main" val="2987348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1"/>
                                        </p:tgtEl>
                                        <p:attrNameLst>
                                          <p:attrName>style.visibility</p:attrName>
                                        </p:attrNameLst>
                                      </p:cBhvr>
                                      <p:to>
                                        <p:strVal val="visible"/>
                                      </p:to>
                                    </p:set>
                                    <p:anim calcmode="lin" valueType="num">
                                      <p:cBhvr additive="base">
                                        <p:cTn id="12" dur="500"/>
                                        <p:tgtEl>
                                          <p:spTgt spid="61"/>
                                        </p:tgtEl>
                                        <p:attrNameLst>
                                          <p:attrName>ppt_y</p:attrName>
                                        </p:attrNameLst>
                                      </p:cBhvr>
                                      <p:tavLst>
                                        <p:tav tm="0">
                                          <p:val>
                                            <p:strVal val="#ppt_y+#ppt_h*1.125000"/>
                                          </p:val>
                                        </p:tav>
                                        <p:tav tm="100000">
                                          <p:val>
                                            <p:strVal val="#ppt_y"/>
                                          </p:val>
                                        </p:tav>
                                      </p:tavLst>
                                    </p:anim>
                                    <p:animEffect transition="in" filter="wipe(up)">
                                      <p:cBhvr>
                                        <p:cTn id="13" dur="500"/>
                                        <p:tgtEl>
                                          <p:spTgt spid="6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wipe(up)">
                                      <p:cBhvr>
                                        <p:cTn id="18"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61" grpId="0" animBg="1"/>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 Box 4">
            <a:extLst>
              <a:ext uri="{FF2B5EF4-FFF2-40B4-BE49-F238E27FC236}">
                <a16:creationId xmlns:a16="http://schemas.microsoft.com/office/drawing/2014/main" id="{7F71B224-4DA1-4383-8DD6-7CE4B49FB122}"/>
              </a:ext>
            </a:extLst>
          </p:cNvPr>
          <p:cNvSpPr txBox="1">
            <a:spLocks noChangeArrowheads="1"/>
          </p:cNvSpPr>
          <p:nvPr/>
        </p:nvSpPr>
        <p:spPr bwMode="auto">
          <a:xfrm>
            <a:off x="1997581" y="4478032"/>
            <a:ext cx="7403754" cy="2248950"/>
          </a:xfrm>
          <a:prstGeom prst="rect">
            <a:avLst/>
          </a:prstGeom>
          <a:solidFill>
            <a:srgbClr val="FAFAFA"/>
          </a:solidFill>
          <a:ln>
            <a:noFill/>
          </a:ln>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pPr>
            <a:r>
              <a:rPr lang="es-ES" dirty="0">
                <a:solidFill>
                  <a:schemeClr val="tx1"/>
                </a:solidFill>
                <a:sym typeface="Wingdings" panose="05000000000000000000" pitchFamily="2" charset="2"/>
              </a:rPr>
              <a:t></a:t>
            </a:r>
            <a:r>
              <a:rPr lang="es-ES" dirty="0">
                <a:solidFill>
                  <a:schemeClr val="tx1"/>
                </a:solidFill>
                <a:sym typeface="Symbol" panose="05050102010706020507" pitchFamily="18" charset="2"/>
              </a:rPr>
              <a:t> Se descarga el cilindro aislante a medida que contacta con</a:t>
            </a:r>
          </a:p>
          <a:p>
            <a:pPr eaLnBrk="1" hangingPunct="1">
              <a:spcBef>
                <a:spcPts val="0"/>
              </a:spcBef>
            </a:pPr>
            <a:r>
              <a:rPr lang="es-ES" dirty="0">
                <a:solidFill>
                  <a:schemeClr val="tx1"/>
                </a:solidFill>
                <a:sym typeface="Symbol" panose="05050102010706020507" pitchFamily="18" charset="2"/>
              </a:rPr>
              <a:t>    tierra, al girar el cilindro, recibiendo electrones.</a:t>
            </a:r>
          </a:p>
          <a:p>
            <a:pPr eaLnBrk="1" hangingPunct="1">
              <a:spcBef>
                <a:spcPts val="0"/>
              </a:spcBef>
            </a:pPr>
            <a:r>
              <a:rPr lang="es-ES" dirty="0">
                <a:solidFill>
                  <a:schemeClr val="tx1"/>
                </a:solidFill>
                <a:sym typeface="Wingdings" panose="05000000000000000000" pitchFamily="2" charset="2"/>
              </a:rPr>
              <a:t></a:t>
            </a:r>
            <a:r>
              <a:rPr lang="es-ES" dirty="0">
                <a:solidFill>
                  <a:schemeClr val="tx1"/>
                </a:solidFill>
                <a:sym typeface="Symbol" panose="05050102010706020507" pitchFamily="18" charset="2"/>
              </a:rPr>
              <a:t> Se carga luego en ciertas zonas ionizándolas con un láser.</a:t>
            </a:r>
          </a:p>
          <a:p>
            <a:pPr eaLnBrk="1" hangingPunct="1">
              <a:spcBef>
                <a:spcPts val="0"/>
              </a:spcBef>
            </a:pPr>
            <a:r>
              <a:rPr lang="es-ES" dirty="0">
                <a:solidFill>
                  <a:schemeClr val="tx1"/>
                </a:solidFill>
                <a:sym typeface="Wingdings" panose="05000000000000000000" pitchFamily="2" charset="2"/>
              </a:rPr>
              <a:t></a:t>
            </a:r>
            <a:r>
              <a:rPr lang="es-ES" dirty="0">
                <a:solidFill>
                  <a:schemeClr val="tx1"/>
                </a:solidFill>
                <a:sym typeface="Symbol" panose="05050102010706020507" pitchFamily="18" charset="2"/>
              </a:rPr>
              <a:t> El papel se polariza y se pega al cilindro en esas zonas.</a:t>
            </a:r>
          </a:p>
          <a:p>
            <a:pPr eaLnBrk="1" hangingPunct="1">
              <a:spcBef>
                <a:spcPts val="0"/>
              </a:spcBef>
            </a:pPr>
            <a:r>
              <a:rPr lang="es-ES" dirty="0">
                <a:solidFill>
                  <a:schemeClr val="tx1"/>
                </a:solidFill>
                <a:sym typeface="Wingdings" panose="05000000000000000000" pitchFamily="2" charset="2"/>
              </a:rPr>
              <a:t></a:t>
            </a:r>
            <a:r>
              <a:rPr lang="es-ES" dirty="0">
                <a:solidFill>
                  <a:schemeClr val="tx1"/>
                </a:solidFill>
                <a:sym typeface="Symbol" panose="05050102010706020507" pitchFamily="18" charset="2"/>
              </a:rPr>
              <a:t> La tinta se polariza y se pega al papel, lo impregna, en las</a:t>
            </a:r>
          </a:p>
          <a:p>
            <a:pPr eaLnBrk="1" hangingPunct="1">
              <a:spcBef>
                <a:spcPts val="0"/>
              </a:spcBef>
            </a:pPr>
            <a:r>
              <a:rPr lang="es-ES" dirty="0">
                <a:solidFill>
                  <a:schemeClr val="tx1"/>
                </a:solidFill>
                <a:sym typeface="Symbol" panose="05050102010706020507" pitchFamily="18" charset="2"/>
              </a:rPr>
              <a:t>    mismas zonas, que tienen forma, por ejemplo, de letras.</a:t>
            </a:r>
          </a:p>
          <a:p>
            <a:pPr eaLnBrk="1" hangingPunct="1">
              <a:spcBef>
                <a:spcPts val="0"/>
              </a:spcBef>
            </a:pPr>
            <a:r>
              <a:rPr lang="es-ES" dirty="0">
                <a:solidFill>
                  <a:schemeClr val="tx1"/>
                </a:solidFill>
                <a:sym typeface="Wingdings" panose="05000000000000000000" pitchFamily="2" charset="2"/>
              </a:rPr>
              <a:t></a:t>
            </a:r>
            <a:r>
              <a:rPr lang="es-ES" dirty="0">
                <a:solidFill>
                  <a:schemeClr val="tx1"/>
                </a:solidFill>
                <a:sym typeface="Symbol" panose="05050102010706020507" pitchFamily="18" charset="2"/>
              </a:rPr>
              <a:t> Antes de sacar el papel, se fija la tinta </a:t>
            </a:r>
            <a:r>
              <a:rPr lang="es-ES">
                <a:solidFill>
                  <a:schemeClr val="tx1"/>
                </a:solidFill>
                <a:sym typeface="Symbol" panose="05050102010706020507" pitchFamily="18" charset="2"/>
              </a:rPr>
              <a:t>secándola.</a:t>
            </a:r>
            <a:endParaRPr lang="es-ES" dirty="0">
              <a:solidFill>
                <a:schemeClr val="tx1"/>
              </a:solidFill>
            </a:endParaRPr>
          </a:p>
        </p:txBody>
      </p:sp>
      <p:pic>
        <p:nvPicPr>
          <p:cNvPr id="253955" name="Picture 3" descr="imagesCAUZCDQ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9052" y="1578774"/>
            <a:ext cx="4248755" cy="247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upo 12"/>
          <p:cNvGrpSpPr/>
          <p:nvPr/>
        </p:nvGrpSpPr>
        <p:grpSpPr>
          <a:xfrm>
            <a:off x="1297326" y="391298"/>
            <a:ext cx="4676769" cy="1013326"/>
            <a:chOff x="5764208" y="515937"/>
            <a:chExt cx="4676769" cy="1013326"/>
          </a:xfrm>
        </p:grpSpPr>
        <p:grpSp>
          <p:nvGrpSpPr>
            <p:cNvPr id="59" name="Group 56"/>
            <p:cNvGrpSpPr>
              <a:grpSpLocks/>
            </p:cNvGrpSpPr>
            <p:nvPr/>
          </p:nvGrpSpPr>
          <p:grpSpPr bwMode="auto">
            <a:xfrm>
              <a:off x="5764208" y="515937"/>
              <a:ext cx="4676769" cy="1009649"/>
              <a:chOff x="603" y="1029"/>
              <a:chExt cx="2946" cy="636"/>
            </a:xfrm>
          </p:grpSpPr>
          <p:sp>
            <p:nvSpPr>
              <p:cNvPr id="60" name="Text Box 20"/>
              <p:cNvSpPr txBox="1">
                <a:spLocks noChangeArrowheads="1"/>
              </p:cNvSpPr>
              <p:nvPr/>
            </p:nvSpPr>
            <p:spPr bwMode="auto">
              <a:xfrm>
                <a:off x="603" y="1029"/>
                <a:ext cx="1000" cy="292"/>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Aislante</a:t>
                </a:r>
              </a:p>
            </p:txBody>
          </p:sp>
          <p:sp>
            <p:nvSpPr>
              <p:cNvPr id="62" name="Text Box 22"/>
              <p:cNvSpPr txBox="1">
                <a:spLocks noChangeArrowheads="1"/>
              </p:cNvSpPr>
              <p:nvPr/>
            </p:nvSpPr>
            <p:spPr bwMode="auto">
              <a:xfrm>
                <a:off x="1675" y="1029"/>
                <a:ext cx="1701" cy="292"/>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Cargado </a:t>
                </a:r>
                <a:r>
                  <a:rPr lang="es-ES" sz="2400">
                    <a:solidFill>
                      <a:srgbClr val="FF0000"/>
                    </a:solidFill>
                  </a:rPr>
                  <a:t>(plástico)</a:t>
                </a:r>
              </a:p>
            </p:txBody>
          </p:sp>
          <p:sp>
            <p:nvSpPr>
              <p:cNvPr id="63" name="Text Box 23"/>
              <p:cNvSpPr txBox="1">
                <a:spLocks noChangeArrowheads="1"/>
              </p:cNvSpPr>
              <p:nvPr/>
            </p:nvSpPr>
            <p:spPr bwMode="auto">
              <a:xfrm>
                <a:off x="1675" y="1373"/>
                <a:ext cx="1874" cy="292"/>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Neutro    </a:t>
                </a:r>
                <a:r>
                  <a:rPr lang="es-ES" sz="2400">
                    <a:solidFill>
                      <a:srgbClr val="FF0000"/>
                    </a:solidFill>
                  </a:rPr>
                  <a:t>(</a:t>
                </a:r>
                <a:r>
                  <a:rPr lang="es-ES" sz="2400" dirty="0">
                    <a:solidFill>
                      <a:srgbClr val="FF0000"/>
                    </a:solidFill>
                  </a:rPr>
                  <a:t>papel)</a:t>
                </a:r>
              </a:p>
            </p:txBody>
          </p:sp>
        </p:grpSp>
        <p:sp>
          <p:nvSpPr>
            <p:cNvPr id="64" name="Text Box 20"/>
            <p:cNvSpPr txBox="1">
              <a:spLocks noChangeArrowheads="1"/>
            </p:cNvSpPr>
            <p:nvPr/>
          </p:nvSpPr>
          <p:spPr bwMode="auto">
            <a:xfrm>
              <a:off x="5764208" y="1065713"/>
              <a:ext cx="1587498" cy="463550"/>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Aislante</a:t>
              </a:r>
            </a:p>
          </p:txBody>
        </p:sp>
      </p:grpSp>
      <p:sp>
        <p:nvSpPr>
          <p:cNvPr id="65" name="CuadroTexto 64">
            <a:extLst>
              <a:ext uri="{FF2B5EF4-FFF2-40B4-BE49-F238E27FC236}">
                <a16:creationId xmlns:a16="http://schemas.microsoft.com/office/drawing/2014/main" id="{E7FF834D-DB02-437E-B02E-53DBB665D405}"/>
              </a:ext>
            </a:extLst>
          </p:cNvPr>
          <p:cNvSpPr txBox="1">
            <a:spLocks noChangeArrowheads="1"/>
          </p:cNvSpPr>
          <p:nvPr/>
        </p:nvSpPr>
        <p:spPr bwMode="auto">
          <a:xfrm>
            <a:off x="5759579" y="1912418"/>
            <a:ext cx="2082402" cy="51473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dirty="0"/>
              <a:t>APLICACIÓN</a:t>
            </a:r>
          </a:p>
        </p:txBody>
      </p:sp>
      <p:sp>
        <p:nvSpPr>
          <p:cNvPr id="74" name="Text Box 69">
            <a:extLst>
              <a:ext uri="{FF2B5EF4-FFF2-40B4-BE49-F238E27FC236}">
                <a16:creationId xmlns:a16="http://schemas.microsoft.com/office/drawing/2014/main" id="{E48033CF-2C30-45B9-BD5E-1564CD3EB8EC}"/>
              </a:ext>
            </a:extLst>
          </p:cNvPr>
          <p:cNvSpPr txBox="1">
            <a:spLocks noChangeArrowheads="1"/>
          </p:cNvSpPr>
          <p:nvPr/>
        </p:nvSpPr>
        <p:spPr bwMode="auto">
          <a:xfrm>
            <a:off x="6308346" y="396628"/>
            <a:ext cx="3925032" cy="884070"/>
          </a:xfrm>
          <a:prstGeom prst="rect">
            <a:avLst/>
          </a:prstGeom>
          <a:solidFill>
            <a:srgbClr val="FFFF99"/>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solidFill>
                  <a:schemeClr val="tx1"/>
                </a:solidFill>
              </a:rPr>
              <a:t>El papel se pega si la F</a:t>
            </a:r>
            <a:r>
              <a:rPr lang="es-ES" sz="2400" baseline="-25000">
                <a:solidFill>
                  <a:schemeClr val="tx1"/>
                </a:solidFill>
              </a:rPr>
              <a:t>neta</a:t>
            </a:r>
            <a:r>
              <a:rPr lang="es-ES" sz="2400">
                <a:solidFill>
                  <a:schemeClr val="tx1"/>
                </a:solidFill>
              </a:rPr>
              <a:t> es mayor que su peso</a:t>
            </a:r>
          </a:p>
        </p:txBody>
      </p:sp>
      <p:sp>
        <p:nvSpPr>
          <p:cNvPr id="75" name="Text Box 4">
            <a:extLst>
              <a:ext uri="{FF2B5EF4-FFF2-40B4-BE49-F238E27FC236}">
                <a16:creationId xmlns:a16="http://schemas.microsoft.com/office/drawing/2014/main" id="{9CB54CAC-7F82-4CEE-8CDF-17941394658C}"/>
              </a:ext>
            </a:extLst>
          </p:cNvPr>
          <p:cNvSpPr txBox="1">
            <a:spLocks noChangeArrowheads="1"/>
          </p:cNvSpPr>
          <p:nvPr/>
        </p:nvSpPr>
        <p:spPr bwMode="auto">
          <a:xfrm>
            <a:off x="5769406" y="2688592"/>
            <a:ext cx="1627546" cy="833178"/>
          </a:xfrm>
          <a:prstGeom prst="rect">
            <a:avLst/>
          </a:prstGeom>
          <a:solidFill>
            <a:srgbClr val="99CCFF"/>
          </a:solidFill>
          <a:ln>
            <a:noFill/>
          </a:ln>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chemeClr val="tx1"/>
                </a:solidFill>
                <a:sym typeface="Symbol" panose="05050102010706020507" pitchFamily="18" charset="2"/>
              </a:rPr>
              <a:t>Impresora láser</a:t>
            </a:r>
            <a:endParaRPr lang="es-ES" sz="2400" dirty="0">
              <a:solidFill>
                <a:schemeClr val="tx1"/>
              </a:solidFill>
            </a:endParaRPr>
          </a:p>
        </p:txBody>
      </p:sp>
      <p:sp>
        <p:nvSpPr>
          <p:cNvPr id="91" name="Text Box 23">
            <a:extLst>
              <a:ext uri="{FF2B5EF4-FFF2-40B4-BE49-F238E27FC236}">
                <a16:creationId xmlns:a16="http://schemas.microsoft.com/office/drawing/2014/main" id="{AC6DEB88-7579-4C90-8A35-5C84E017DB90}"/>
              </a:ext>
            </a:extLst>
          </p:cNvPr>
          <p:cNvSpPr txBox="1">
            <a:spLocks noChangeArrowheads="1"/>
          </p:cNvSpPr>
          <p:nvPr/>
        </p:nvSpPr>
        <p:spPr bwMode="auto">
          <a:xfrm>
            <a:off x="6851057" y="1254029"/>
            <a:ext cx="2974970" cy="463846"/>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rgbClr val="FF0000"/>
                </a:solidFill>
              </a:rPr>
              <a:t>(si son trocitos )</a:t>
            </a:r>
          </a:p>
        </p:txBody>
      </p:sp>
      <p:grpSp>
        <p:nvGrpSpPr>
          <p:cNvPr id="11" name="Grupo 10">
            <a:extLst>
              <a:ext uri="{FF2B5EF4-FFF2-40B4-BE49-F238E27FC236}">
                <a16:creationId xmlns:a16="http://schemas.microsoft.com/office/drawing/2014/main" id="{92573950-D0FB-4283-808A-28B74B3F7BD1}"/>
              </a:ext>
            </a:extLst>
          </p:cNvPr>
          <p:cNvGrpSpPr/>
          <p:nvPr/>
        </p:nvGrpSpPr>
        <p:grpSpPr>
          <a:xfrm>
            <a:off x="7572240" y="1941829"/>
            <a:ext cx="2794939" cy="2321674"/>
            <a:chOff x="7700056" y="1941829"/>
            <a:chExt cx="2794939" cy="2321674"/>
          </a:xfrm>
        </p:grpSpPr>
        <p:grpSp>
          <p:nvGrpSpPr>
            <p:cNvPr id="7" name="Grupo 6">
              <a:extLst>
                <a:ext uri="{FF2B5EF4-FFF2-40B4-BE49-F238E27FC236}">
                  <a16:creationId xmlns:a16="http://schemas.microsoft.com/office/drawing/2014/main" id="{1ACA7411-C768-41D8-9113-3333AD82A8D1}"/>
                </a:ext>
              </a:extLst>
            </p:cNvPr>
            <p:cNvGrpSpPr/>
            <p:nvPr/>
          </p:nvGrpSpPr>
          <p:grpSpPr>
            <a:xfrm>
              <a:off x="7700056" y="1941829"/>
              <a:ext cx="2794939" cy="2321674"/>
              <a:chOff x="7658960" y="1849362"/>
              <a:chExt cx="2794939" cy="2321674"/>
            </a:xfrm>
          </p:grpSpPr>
          <p:sp>
            <p:nvSpPr>
              <p:cNvPr id="3" name="Elipse 2">
                <a:extLst>
                  <a:ext uri="{FF2B5EF4-FFF2-40B4-BE49-F238E27FC236}">
                    <a16:creationId xmlns:a16="http://schemas.microsoft.com/office/drawing/2014/main" id="{4189F337-F81C-43EF-AA8A-E09C6161A585}"/>
                  </a:ext>
                </a:extLst>
              </p:cNvPr>
              <p:cNvSpPr/>
              <p:nvPr/>
            </p:nvSpPr>
            <p:spPr bwMode="auto">
              <a:xfrm>
                <a:off x="8427753" y="2538571"/>
                <a:ext cx="1080000" cy="1080000"/>
              </a:xfrm>
              <a:prstGeom prst="ellipse">
                <a:avLst/>
              </a:prstGeom>
              <a:solidFill>
                <a:srgbClr val="C0C0C0"/>
              </a:solidFill>
              <a:ln w="12700" cap="flat" cmpd="sng" algn="ctr">
                <a:solidFill>
                  <a:schemeClr val="tx1"/>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77" name="Elipse 76">
                <a:extLst>
                  <a:ext uri="{FF2B5EF4-FFF2-40B4-BE49-F238E27FC236}">
                    <a16:creationId xmlns:a16="http://schemas.microsoft.com/office/drawing/2014/main" id="{6002BEAC-16F9-4E30-AD1E-97F98A2B4B80}"/>
                  </a:ext>
                </a:extLst>
              </p:cNvPr>
              <p:cNvSpPr/>
              <p:nvPr/>
            </p:nvSpPr>
            <p:spPr bwMode="auto">
              <a:xfrm>
                <a:off x="8787753" y="2898571"/>
                <a:ext cx="360000" cy="360000"/>
              </a:xfrm>
              <a:prstGeom prst="ellipse">
                <a:avLst/>
              </a:prstGeom>
              <a:solidFill>
                <a:srgbClr val="FAFAFA"/>
              </a:solidFill>
              <a:ln w="12700" cap="flat" cmpd="sng" algn="ctr">
                <a:solidFill>
                  <a:schemeClr val="tx1"/>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4" name="Arco 3">
                <a:extLst>
                  <a:ext uri="{FF2B5EF4-FFF2-40B4-BE49-F238E27FC236}">
                    <a16:creationId xmlns:a16="http://schemas.microsoft.com/office/drawing/2014/main" id="{31FDB4FC-BD13-48FB-B2E9-7D3A9EBFCC4B}"/>
                  </a:ext>
                </a:extLst>
              </p:cNvPr>
              <p:cNvSpPr/>
              <p:nvPr/>
            </p:nvSpPr>
            <p:spPr bwMode="auto">
              <a:xfrm rot="13948591">
                <a:off x="8623805" y="2742604"/>
                <a:ext cx="720000" cy="720000"/>
              </a:xfrm>
              <a:prstGeom prst="arc">
                <a:avLst>
                  <a:gd name="adj1" fmla="val 16200000"/>
                  <a:gd name="adj2" fmla="val 5630968"/>
                </a:avLst>
              </a:prstGeom>
              <a:noFill/>
              <a:ln w="38100" cap="flat" cmpd="sng" algn="ctr">
                <a:solidFill>
                  <a:schemeClr val="tx1"/>
                </a:solidFill>
                <a:prstDash val="solid"/>
                <a:round/>
                <a:headEnd type="none" w="med" len="med"/>
                <a:tailEnd type="triangle" w="med" len="lg"/>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cxnSp>
            <p:nvCxnSpPr>
              <p:cNvPr id="6" name="Conector recto 5">
                <a:extLst>
                  <a:ext uri="{FF2B5EF4-FFF2-40B4-BE49-F238E27FC236}">
                    <a16:creationId xmlns:a16="http://schemas.microsoft.com/office/drawing/2014/main" id="{D060AFA3-8262-498F-B33B-1094D3E53FF6}"/>
                  </a:ext>
                </a:extLst>
              </p:cNvPr>
              <p:cNvCxnSpPr/>
              <p:nvPr/>
            </p:nvCxnSpPr>
            <p:spPr bwMode="auto">
              <a:xfrm flipH="1">
                <a:off x="8038779" y="3678733"/>
                <a:ext cx="998373" cy="36000"/>
              </a:xfrm>
              <a:prstGeom prst="line">
                <a:avLst/>
              </a:prstGeom>
              <a:noFill/>
              <a:ln w="28575" cap="flat" cmpd="sng" algn="ctr">
                <a:solidFill>
                  <a:schemeClr val="tx1"/>
                </a:solidFill>
                <a:prstDash val="solid"/>
                <a:round/>
                <a:headEnd type="none" w="med" len="med"/>
                <a:tailEnd type="none" w="med" len="med"/>
              </a:ln>
              <a:effectLst/>
            </p:spPr>
          </p:cxnSp>
          <p:cxnSp>
            <p:nvCxnSpPr>
              <p:cNvPr id="78" name="Conector recto 77">
                <a:extLst>
                  <a:ext uri="{FF2B5EF4-FFF2-40B4-BE49-F238E27FC236}">
                    <a16:creationId xmlns:a16="http://schemas.microsoft.com/office/drawing/2014/main" id="{AA182FC7-E16E-4CBF-BDA0-D306F8D63D1E}"/>
                  </a:ext>
                </a:extLst>
              </p:cNvPr>
              <p:cNvCxnSpPr>
                <a:cxnSpLocks/>
              </p:cNvCxnSpPr>
              <p:nvPr/>
            </p:nvCxnSpPr>
            <p:spPr bwMode="auto">
              <a:xfrm rot="16200000" flipH="1">
                <a:off x="9136587" y="2656239"/>
                <a:ext cx="907612" cy="0"/>
              </a:xfrm>
              <a:prstGeom prst="line">
                <a:avLst/>
              </a:prstGeom>
              <a:noFill/>
              <a:ln w="28575" cap="flat" cmpd="sng" algn="ctr">
                <a:solidFill>
                  <a:schemeClr val="tx1"/>
                </a:solidFill>
                <a:prstDash val="solid"/>
                <a:round/>
                <a:headEnd type="none" w="med" len="med"/>
                <a:tailEnd type="none" w="med" len="med"/>
              </a:ln>
              <a:effectLst/>
            </p:spPr>
          </p:cxnSp>
          <p:sp>
            <p:nvSpPr>
              <p:cNvPr id="79" name="Arco 78">
                <a:extLst>
                  <a:ext uri="{FF2B5EF4-FFF2-40B4-BE49-F238E27FC236}">
                    <a16:creationId xmlns:a16="http://schemas.microsoft.com/office/drawing/2014/main" id="{2D665A8B-355C-41BF-BF19-46888EEC55C1}"/>
                  </a:ext>
                </a:extLst>
              </p:cNvPr>
              <p:cNvSpPr/>
              <p:nvPr/>
            </p:nvSpPr>
            <p:spPr bwMode="auto">
              <a:xfrm>
                <a:off x="8512870" y="2606121"/>
                <a:ext cx="1080000" cy="1080000"/>
              </a:xfrm>
              <a:prstGeom prst="arc">
                <a:avLst>
                  <a:gd name="adj1" fmla="val 21420397"/>
                  <a:gd name="adj2" fmla="val 5630968"/>
                </a:avLst>
              </a:prstGeom>
              <a:noFill/>
              <a:ln w="28575" cap="flat" cmpd="sng" algn="ctr">
                <a:solidFill>
                  <a:schemeClr val="tx1"/>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81" name="Text Box 4">
                <a:extLst>
                  <a:ext uri="{FF2B5EF4-FFF2-40B4-BE49-F238E27FC236}">
                    <a16:creationId xmlns:a16="http://schemas.microsoft.com/office/drawing/2014/main" id="{60CD1AD9-C2E5-49A0-8DCF-CC33C3299A53}"/>
                  </a:ext>
                </a:extLst>
              </p:cNvPr>
              <p:cNvSpPr txBox="1">
                <a:spLocks noChangeArrowheads="1"/>
              </p:cNvSpPr>
              <p:nvPr/>
            </p:nvSpPr>
            <p:spPr bwMode="auto">
              <a:xfrm>
                <a:off x="8558440" y="2099617"/>
                <a:ext cx="781079" cy="340735"/>
              </a:xfrm>
              <a:prstGeom prst="rect">
                <a:avLst/>
              </a:prstGeom>
              <a:solidFill>
                <a:srgbClr val="FAFAFA"/>
              </a:solidFill>
              <a:ln>
                <a:noFill/>
              </a:ln>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1600" dirty="0">
                    <a:solidFill>
                      <a:schemeClr val="tx1"/>
                    </a:solidFill>
                    <a:sym typeface="Symbol" panose="05050102010706020507" pitchFamily="18" charset="2"/>
                  </a:rPr>
                  <a:t>Láser</a:t>
                </a:r>
                <a:endParaRPr lang="es-ES" sz="1600" dirty="0">
                  <a:solidFill>
                    <a:schemeClr val="tx1"/>
                  </a:solidFill>
                </a:endParaRPr>
              </a:p>
            </p:txBody>
          </p:sp>
          <p:sp>
            <p:nvSpPr>
              <p:cNvPr id="82" name="Text Box 4">
                <a:extLst>
                  <a:ext uri="{FF2B5EF4-FFF2-40B4-BE49-F238E27FC236}">
                    <a16:creationId xmlns:a16="http://schemas.microsoft.com/office/drawing/2014/main" id="{E832C208-D4CD-4FD9-938C-6195294DD3BD}"/>
                  </a:ext>
                </a:extLst>
              </p:cNvPr>
              <p:cNvSpPr txBox="1">
                <a:spLocks noChangeArrowheads="1"/>
              </p:cNvSpPr>
              <p:nvPr/>
            </p:nvSpPr>
            <p:spPr bwMode="auto">
              <a:xfrm>
                <a:off x="9643962" y="2863805"/>
                <a:ext cx="809937" cy="340735"/>
              </a:xfrm>
              <a:prstGeom prst="rect">
                <a:avLst/>
              </a:prstGeom>
              <a:solidFill>
                <a:srgbClr val="FAFAFA"/>
              </a:solidFill>
              <a:ln>
                <a:noFill/>
              </a:ln>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1600" dirty="0">
                    <a:solidFill>
                      <a:schemeClr val="tx1"/>
                    </a:solidFill>
                    <a:sym typeface="Symbol" panose="05050102010706020507" pitchFamily="18" charset="2"/>
                  </a:rPr>
                  <a:t>Papel</a:t>
                </a:r>
                <a:endParaRPr lang="es-ES" sz="1600" dirty="0">
                  <a:solidFill>
                    <a:schemeClr val="tx1"/>
                  </a:solidFill>
                </a:endParaRPr>
              </a:p>
            </p:txBody>
          </p:sp>
          <p:sp>
            <p:nvSpPr>
              <p:cNvPr id="83" name="Text Box 4">
                <a:extLst>
                  <a:ext uri="{FF2B5EF4-FFF2-40B4-BE49-F238E27FC236}">
                    <a16:creationId xmlns:a16="http://schemas.microsoft.com/office/drawing/2014/main" id="{41CA2F33-5CAC-4341-95ED-572D08A70B9F}"/>
                  </a:ext>
                </a:extLst>
              </p:cNvPr>
              <p:cNvSpPr txBox="1">
                <a:spLocks noChangeArrowheads="1"/>
              </p:cNvSpPr>
              <p:nvPr/>
            </p:nvSpPr>
            <p:spPr bwMode="auto">
              <a:xfrm>
                <a:off x="7658960" y="2924461"/>
                <a:ext cx="727512" cy="340735"/>
              </a:xfrm>
              <a:prstGeom prst="rect">
                <a:avLst/>
              </a:prstGeom>
              <a:solidFill>
                <a:srgbClr val="FAFAFA"/>
              </a:solidFill>
              <a:ln>
                <a:noFill/>
              </a:ln>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1600" dirty="0">
                    <a:solidFill>
                      <a:schemeClr val="tx1"/>
                    </a:solidFill>
                    <a:sym typeface="Symbol" panose="05050102010706020507" pitchFamily="18" charset="2"/>
                  </a:rPr>
                  <a:t>Tierra</a:t>
                </a:r>
                <a:endParaRPr lang="es-ES" sz="1600" dirty="0">
                  <a:solidFill>
                    <a:schemeClr val="tx1"/>
                  </a:solidFill>
                </a:endParaRPr>
              </a:p>
            </p:txBody>
          </p:sp>
          <p:sp>
            <p:nvSpPr>
              <p:cNvPr id="84" name="Text Box 4">
                <a:extLst>
                  <a:ext uri="{FF2B5EF4-FFF2-40B4-BE49-F238E27FC236}">
                    <a16:creationId xmlns:a16="http://schemas.microsoft.com/office/drawing/2014/main" id="{9F85C80C-4521-4E5E-A999-484475B88472}"/>
                  </a:ext>
                </a:extLst>
              </p:cNvPr>
              <p:cNvSpPr txBox="1">
                <a:spLocks noChangeArrowheads="1"/>
              </p:cNvSpPr>
              <p:nvPr/>
            </p:nvSpPr>
            <p:spPr bwMode="auto">
              <a:xfrm>
                <a:off x="9540274" y="3513304"/>
                <a:ext cx="809942" cy="586957"/>
              </a:xfrm>
              <a:prstGeom prst="rect">
                <a:avLst/>
              </a:prstGeom>
              <a:solidFill>
                <a:srgbClr val="FAFAFA"/>
              </a:solidFill>
              <a:ln>
                <a:noFill/>
              </a:ln>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1600" dirty="0">
                    <a:solidFill>
                      <a:schemeClr val="tx1"/>
                    </a:solidFill>
                    <a:sym typeface="Symbol" panose="05050102010706020507" pitchFamily="18" charset="2"/>
                  </a:rPr>
                  <a:t>Tinta</a:t>
                </a:r>
              </a:p>
              <a:p>
                <a:pPr algn="ctr" eaLnBrk="1" hangingPunct="1">
                  <a:spcBef>
                    <a:spcPts val="0"/>
                  </a:spcBef>
                </a:pPr>
                <a:r>
                  <a:rPr lang="es-ES" sz="1600" dirty="0">
                    <a:solidFill>
                      <a:schemeClr val="tx1"/>
                    </a:solidFill>
                    <a:sym typeface="Symbol" panose="05050102010706020507" pitchFamily="18" charset="2"/>
                  </a:rPr>
                  <a:t>(tóner)</a:t>
                </a:r>
                <a:endParaRPr lang="es-ES" sz="1600" dirty="0">
                  <a:solidFill>
                    <a:schemeClr val="tx1"/>
                  </a:solidFill>
                </a:endParaRPr>
              </a:p>
            </p:txBody>
          </p:sp>
          <p:sp>
            <p:nvSpPr>
              <p:cNvPr id="85" name="Text Box 4">
                <a:extLst>
                  <a:ext uri="{FF2B5EF4-FFF2-40B4-BE49-F238E27FC236}">
                    <a16:creationId xmlns:a16="http://schemas.microsoft.com/office/drawing/2014/main" id="{AE7D1C39-DA5E-4ECE-BEC3-E691BE63EBBB}"/>
                  </a:ext>
                </a:extLst>
              </p:cNvPr>
              <p:cNvSpPr txBox="1">
                <a:spLocks noChangeArrowheads="1"/>
              </p:cNvSpPr>
              <p:nvPr/>
            </p:nvSpPr>
            <p:spPr bwMode="auto">
              <a:xfrm>
                <a:off x="8300896" y="3830301"/>
                <a:ext cx="1001981" cy="340735"/>
              </a:xfrm>
              <a:prstGeom prst="rect">
                <a:avLst/>
              </a:prstGeom>
              <a:solidFill>
                <a:srgbClr val="FAFAFA"/>
              </a:solidFill>
              <a:ln>
                <a:noFill/>
              </a:ln>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1600" dirty="0">
                    <a:solidFill>
                      <a:schemeClr val="tx1"/>
                    </a:solidFill>
                    <a:sym typeface="Symbol" panose="05050102010706020507" pitchFamily="18" charset="2"/>
                  </a:rPr>
                  <a:t>Secador</a:t>
                </a:r>
                <a:endParaRPr lang="es-ES" sz="1600" dirty="0">
                  <a:solidFill>
                    <a:schemeClr val="tx1"/>
                  </a:solidFill>
                </a:endParaRPr>
              </a:p>
            </p:txBody>
          </p:sp>
          <p:sp>
            <p:nvSpPr>
              <p:cNvPr id="86" name="Text Box 4">
                <a:extLst>
                  <a:ext uri="{FF2B5EF4-FFF2-40B4-BE49-F238E27FC236}">
                    <a16:creationId xmlns:a16="http://schemas.microsoft.com/office/drawing/2014/main" id="{112443EF-1137-4753-B46F-005947291FF6}"/>
                  </a:ext>
                </a:extLst>
              </p:cNvPr>
              <p:cNvSpPr txBox="1">
                <a:spLocks noChangeArrowheads="1"/>
              </p:cNvSpPr>
              <p:nvPr/>
            </p:nvSpPr>
            <p:spPr bwMode="auto">
              <a:xfrm>
                <a:off x="7873590" y="2656239"/>
                <a:ext cx="325528" cy="402291"/>
              </a:xfrm>
              <a:prstGeom prst="rect">
                <a:avLst/>
              </a:prstGeom>
              <a:noFill/>
              <a:ln>
                <a:noFill/>
              </a:ln>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dirty="0">
                    <a:solidFill>
                      <a:schemeClr val="tx1"/>
                    </a:solidFill>
                    <a:sym typeface="Wingdings" panose="05000000000000000000" pitchFamily="2" charset="2"/>
                  </a:rPr>
                  <a:t></a:t>
                </a:r>
                <a:endParaRPr lang="es-ES" dirty="0">
                  <a:solidFill>
                    <a:schemeClr val="tx1"/>
                  </a:solidFill>
                </a:endParaRPr>
              </a:p>
            </p:txBody>
          </p:sp>
          <p:sp>
            <p:nvSpPr>
              <p:cNvPr id="87" name="Text Box 4">
                <a:extLst>
                  <a:ext uri="{FF2B5EF4-FFF2-40B4-BE49-F238E27FC236}">
                    <a16:creationId xmlns:a16="http://schemas.microsoft.com/office/drawing/2014/main" id="{FBADE0A6-5FB7-402E-A2B0-51B73E1F10FA}"/>
                  </a:ext>
                </a:extLst>
              </p:cNvPr>
              <p:cNvSpPr txBox="1">
                <a:spLocks noChangeArrowheads="1"/>
              </p:cNvSpPr>
              <p:nvPr/>
            </p:nvSpPr>
            <p:spPr bwMode="auto">
              <a:xfrm>
                <a:off x="8791059" y="1849362"/>
                <a:ext cx="325528" cy="402291"/>
              </a:xfrm>
              <a:prstGeom prst="rect">
                <a:avLst/>
              </a:prstGeom>
              <a:noFill/>
              <a:ln>
                <a:noFill/>
              </a:ln>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dirty="0">
                    <a:solidFill>
                      <a:schemeClr val="tx1"/>
                    </a:solidFill>
                    <a:sym typeface="Wingdings" panose="05000000000000000000" pitchFamily="2" charset="2"/>
                  </a:rPr>
                  <a:t></a:t>
                </a:r>
                <a:endParaRPr lang="es-ES" dirty="0">
                  <a:solidFill>
                    <a:schemeClr val="tx1"/>
                  </a:solidFill>
                </a:endParaRPr>
              </a:p>
            </p:txBody>
          </p:sp>
          <p:sp>
            <p:nvSpPr>
              <p:cNvPr id="88" name="Text Box 4">
                <a:extLst>
                  <a:ext uri="{FF2B5EF4-FFF2-40B4-BE49-F238E27FC236}">
                    <a16:creationId xmlns:a16="http://schemas.microsoft.com/office/drawing/2014/main" id="{6BA36E48-83BF-4CB9-A214-1E81B33D3DF7}"/>
                  </a:ext>
                </a:extLst>
              </p:cNvPr>
              <p:cNvSpPr txBox="1">
                <a:spLocks noChangeArrowheads="1"/>
              </p:cNvSpPr>
              <p:nvPr/>
            </p:nvSpPr>
            <p:spPr bwMode="auto">
              <a:xfrm>
                <a:off x="9904369" y="2595850"/>
                <a:ext cx="325528" cy="402291"/>
              </a:xfrm>
              <a:prstGeom prst="rect">
                <a:avLst/>
              </a:prstGeom>
              <a:noFill/>
              <a:ln>
                <a:noFill/>
              </a:ln>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dirty="0">
                    <a:solidFill>
                      <a:schemeClr val="tx1"/>
                    </a:solidFill>
                    <a:sym typeface="Wingdings" panose="05000000000000000000" pitchFamily="2" charset="2"/>
                  </a:rPr>
                  <a:t></a:t>
                </a:r>
                <a:endParaRPr lang="es-ES" dirty="0">
                  <a:solidFill>
                    <a:schemeClr val="tx1"/>
                  </a:solidFill>
                </a:endParaRPr>
              </a:p>
            </p:txBody>
          </p:sp>
          <p:sp>
            <p:nvSpPr>
              <p:cNvPr id="89" name="Text Box 4">
                <a:extLst>
                  <a:ext uri="{FF2B5EF4-FFF2-40B4-BE49-F238E27FC236}">
                    <a16:creationId xmlns:a16="http://schemas.microsoft.com/office/drawing/2014/main" id="{D71BB8C5-0A87-4E3B-B4B8-7D3946B7C516}"/>
                  </a:ext>
                </a:extLst>
              </p:cNvPr>
              <p:cNvSpPr txBox="1">
                <a:spLocks noChangeArrowheads="1"/>
              </p:cNvSpPr>
              <p:nvPr/>
            </p:nvSpPr>
            <p:spPr bwMode="auto">
              <a:xfrm>
                <a:off x="9783564" y="3241027"/>
                <a:ext cx="325528" cy="402291"/>
              </a:xfrm>
              <a:prstGeom prst="rect">
                <a:avLst/>
              </a:prstGeom>
              <a:noFill/>
              <a:ln>
                <a:noFill/>
              </a:ln>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dirty="0">
                    <a:solidFill>
                      <a:schemeClr val="tx1"/>
                    </a:solidFill>
                    <a:sym typeface="Wingdings" panose="05000000000000000000" pitchFamily="2" charset="2"/>
                  </a:rPr>
                  <a:t></a:t>
                </a:r>
                <a:endParaRPr lang="es-ES" dirty="0">
                  <a:solidFill>
                    <a:schemeClr val="tx1"/>
                  </a:solidFill>
                </a:endParaRPr>
              </a:p>
            </p:txBody>
          </p:sp>
          <p:sp>
            <p:nvSpPr>
              <p:cNvPr id="90" name="Text Box 4">
                <a:extLst>
                  <a:ext uri="{FF2B5EF4-FFF2-40B4-BE49-F238E27FC236}">
                    <a16:creationId xmlns:a16="http://schemas.microsoft.com/office/drawing/2014/main" id="{FF416EDC-0CF1-47D4-894B-620CA494247B}"/>
                  </a:ext>
                </a:extLst>
              </p:cNvPr>
              <p:cNvSpPr txBox="1">
                <a:spLocks noChangeArrowheads="1"/>
              </p:cNvSpPr>
              <p:nvPr/>
            </p:nvSpPr>
            <p:spPr bwMode="auto">
              <a:xfrm>
                <a:off x="8627789" y="3618571"/>
                <a:ext cx="325528" cy="402291"/>
              </a:xfrm>
              <a:prstGeom prst="rect">
                <a:avLst/>
              </a:prstGeom>
              <a:noFill/>
              <a:ln>
                <a:noFill/>
              </a:ln>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dirty="0">
                    <a:solidFill>
                      <a:schemeClr val="tx1"/>
                    </a:solidFill>
                    <a:sym typeface="Wingdings" panose="05000000000000000000" pitchFamily="2" charset="2"/>
                  </a:rPr>
                  <a:t></a:t>
                </a:r>
                <a:endParaRPr lang="es-ES" dirty="0">
                  <a:solidFill>
                    <a:schemeClr val="tx1"/>
                  </a:solidFill>
                </a:endParaRPr>
              </a:p>
            </p:txBody>
          </p:sp>
        </p:grpSp>
        <p:cxnSp>
          <p:nvCxnSpPr>
            <p:cNvPr id="10" name="Conector recto de flecha 9">
              <a:extLst>
                <a:ext uri="{FF2B5EF4-FFF2-40B4-BE49-F238E27FC236}">
                  <a16:creationId xmlns:a16="http://schemas.microsoft.com/office/drawing/2014/main" id="{8EE8D9C4-6C3A-4C8E-A996-A67A864FD033}"/>
                </a:ext>
              </a:extLst>
            </p:cNvPr>
            <p:cNvCxnSpPr/>
            <p:nvPr/>
          </p:nvCxnSpPr>
          <p:spPr bwMode="auto">
            <a:xfrm>
              <a:off x="9782796" y="2083093"/>
              <a:ext cx="0" cy="428944"/>
            </a:xfrm>
            <a:prstGeom prst="straightConnector1">
              <a:avLst/>
            </a:prstGeom>
            <a:noFill/>
            <a:ln w="38100" cap="flat" cmpd="sng" algn="ctr">
              <a:solidFill>
                <a:schemeClr val="tx1"/>
              </a:solidFill>
              <a:prstDash val="solid"/>
              <a:round/>
              <a:headEnd type="none" w="med" len="med"/>
              <a:tailEnd type="triangle" w="med" len="lg"/>
            </a:ln>
            <a:effectLst/>
          </p:spPr>
        </p:cxnSp>
        <p:cxnSp>
          <p:nvCxnSpPr>
            <p:cNvPr id="92" name="Conector recto de flecha 91">
              <a:extLst>
                <a:ext uri="{FF2B5EF4-FFF2-40B4-BE49-F238E27FC236}">
                  <a16:creationId xmlns:a16="http://schemas.microsoft.com/office/drawing/2014/main" id="{9B22257B-679B-49FC-A7FA-4871EEDDF801}"/>
                </a:ext>
              </a:extLst>
            </p:cNvPr>
            <p:cNvCxnSpPr>
              <a:cxnSpLocks/>
            </p:cNvCxnSpPr>
            <p:nvPr/>
          </p:nvCxnSpPr>
          <p:spPr bwMode="auto">
            <a:xfrm rot="5400000">
              <a:off x="8077450" y="3697905"/>
              <a:ext cx="0" cy="428944"/>
            </a:xfrm>
            <a:prstGeom prst="straightConnector1">
              <a:avLst/>
            </a:prstGeom>
            <a:noFill/>
            <a:ln w="38100" cap="flat" cmpd="sng" algn="ctr">
              <a:solidFill>
                <a:schemeClr val="tx1"/>
              </a:solidFill>
              <a:prstDash val="solid"/>
              <a:round/>
              <a:headEnd type="none" w="med" len="med"/>
              <a:tailEnd type="triangle" w="med" len="lg"/>
            </a:ln>
            <a:effectLst/>
          </p:spPr>
        </p:cxnSp>
      </p:grpSp>
      <p:cxnSp>
        <p:nvCxnSpPr>
          <p:cNvPr id="5" name="Conector recto de flecha 4">
            <a:extLst>
              <a:ext uri="{FF2B5EF4-FFF2-40B4-BE49-F238E27FC236}">
                <a16:creationId xmlns:a16="http://schemas.microsoft.com/office/drawing/2014/main" id="{D47834EF-B857-4E54-A768-01DA7F20DCB7}"/>
              </a:ext>
            </a:extLst>
          </p:cNvPr>
          <p:cNvCxnSpPr>
            <a:cxnSpLocks/>
          </p:cNvCxnSpPr>
          <p:nvPr/>
        </p:nvCxnSpPr>
        <p:spPr bwMode="auto">
          <a:xfrm flipV="1">
            <a:off x="4202130" y="1191802"/>
            <a:ext cx="1982913" cy="891291"/>
          </a:xfrm>
          <a:prstGeom prst="straightConnector1">
            <a:avLst/>
          </a:prstGeom>
          <a:noFill/>
          <a:ln w="7620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4157109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4"/>
                                        </p:tgtEl>
                                        <p:attrNameLst>
                                          <p:attrName>style.visibility</p:attrName>
                                        </p:attrNameLst>
                                      </p:cBhvr>
                                      <p:to>
                                        <p:strVal val="visible"/>
                                      </p:to>
                                    </p:set>
                                    <p:animEffect transition="in" filter="wipe(up)">
                                      <p:cBhvr>
                                        <p:cTn id="11" dur="500"/>
                                        <p:tgtEl>
                                          <p:spTgt spid="74"/>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1" fill="hold" grpId="0" nodeType="clickEffect">
                                  <p:stCondLst>
                                    <p:cond delay="0"/>
                                  </p:stCondLst>
                                  <p:childTnLst>
                                    <p:set>
                                      <p:cBhvr>
                                        <p:cTn id="15" dur="1" fill="hold">
                                          <p:stCondLst>
                                            <p:cond delay="0"/>
                                          </p:stCondLst>
                                        </p:cTn>
                                        <p:tgtEl>
                                          <p:spTgt spid="91"/>
                                        </p:tgtEl>
                                        <p:attrNameLst>
                                          <p:attrName>style.visibility</p:attrName>
                                        </p:attrNameLst>
                                      </p:cBhvr>
                                      <p:to>
                                        <p:strVal val="visible"/>
                                      </p:to>
                                    </p:set>
                                    <p:anim calcmode="lin" valueType="num">
                                      <p:cBhvr additive="base">
                                        <p:cTn id="16" dur="500"/>
                                        <p:tgtEl>
                                          <p:spTgt spid="91"/>
                                        </p:tgtEl>
                                        <p:attrNameLst>
                                          <p:attrName>ppt_y</p:attrName>
                                        </p:attrNameLst>
                                      </p:cBhvr>
                                      <p:tavLst>
                                        <p:tav tm="0">
                                          <p:val>
                                            <p:strVal val="#ppt_y-#ppt_h*1.125000"/>
                                          </p:val>
                                        </p:tav>
                                        <p:tav tm="100000">
                                          <p:val>
                                            <p:strVal val="#ppt_y"/>
                                          </p:val>
                                        </p:tav>
                                      </p:tavLst>
                                    </p:anim>
                                    <p:animEffect transition="in" filter="wipe(down)">
                                      <p:cBhvr>
                                        <p:cTn id="17" dur="500"/>
                                        <p:tgtEl>
                                          <p:spTgt spid="9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wipe(up)">
                                      <p:cBhvr>
                                        <p:cTn id="22" dur="500"/>
                                        <p:tgtEl>
                                          <p:spTgt spid="65"/>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272" fill="hold" grpId="0" nodeType="clickEffect">
                                  <p:stCondLst>
                                    <p:cond delay="0"/>
                                  </p:stCondLst>
                                  <p:childTnLst>
                                    <p:set>
                                      <p:cBhvr>
                                        <p:cTn id="26" dur="1" fill="hold">
                                          <p:stCondLst>
                                            <p:cond delay="0"/>
                                          </p:stCondLst>
                                        </p:cTn>
                                        <p:tgtEl>
                                          <p:spTgt spid="75"/>
                                        </p:tgtEl>
                                        <p:attrNameLst>
                                          <p:attrName>style.visibility</p:attrName>
                                        </p:attrNameLst>
                                      </p:cBhvr>
                                      <p:to>
                                        <p:strVal val="visible"/>
                                      </p:to>
                                    </p:set>
                                    <p:anim calcmode="lin" valueType="num">
                                      <p:cBhvr>
                                        <p:cTn id="27" dur="500" fill="hold"/>
                                        <p:tgtEl>
                                          <p:spTgt spid="75"/>
                                        </p:tgtEl>
                                        <p:attrNameLst>
                                          <p:attrName>ppt_w</p:attrName>
                                        </p:attrNameLst>
                                      </p:cBhvr>
                                      <p:tavLst>
                                        <p:tav tm="0">
                                          <p:val>
                                            <p:strVal val="2/3*#ppt_w"/>
                                          </p:val>
                                        </p:tav>
                                        <p:tav tm="100000">
                                          <p:val>
                                            <p:strVal val="#ppt_w"/>
                                          </p:val>
                                        </p:tav>
                                      </p:tavLst>
                                    </p:anim>
                                    <p:anim calcmode="lin" valueType="num">
                                      <p:cBhvr>
                                        <p:cTn id="28" dur="500" fill="hold"/>
                                        <p:tgtEl>
                                          <p:spTgt spid="75"/>
                                        </p:tgtEl>
                                        <p:attrNameLst>
                                          <p:attrName>ppt_h</p:attrName>
                                        </p:attrNameLst>
                                      </p:cBhvr>
                                      <p:tavLst>
                                        <p:tav tm="0">
                                          <p:val>
                                            <p:strVal val="2/3*#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58"/>
                                        </p:tgtEl>
                                        <p:attrNameLst>
                                          <p:attrName>style.visibility</p:attrName>
                                        </p:attrNameLst>
                                      </p:cBhvr>
                                      <p:to>
                                        <p:strVal val="visible"/>
                                      </p:to>
                                    </p:set>
                                    <p:animEffect transition="in" filter="wipe(up)">
                                      <p:cBhvr>
                                        <p:cTn id="38"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65" grpId="0" animBg="1"/>
      <p:bldP spid="74" grpId="0" animBg="1"/>
      <p:bldP spid="75" grpId="0" animBg="1"/>
      <p:bldP spid="9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Text Box 106"/>
          <p:cNvSpPr txBox="1">
            <a:spLocks noChangeArrowheads="1"/>
          </p:cNvSpPr>
          <p:nvPr/>
        </p:nvSpPr>
        <p:spPr bwMode="auto">
          <a:xfrm>
            <a:off x="1800983" y="922976"/>
            <a:ext cx="7935300" cy="1253402"/>
          </a:xfrm>
          <a:prstGeom prst="rect">
            <a:avLst/>
          </a:prstGeom>
          <a:solidFill>
            <a:srgbClr val="FAFAFA"/>
          </a:solidFill>
          <a:ln>
            <a:noFill/>
          </a:ln>
        </p:spPr>
        <p:txBody>
          <a:bodyPr wrap="square" lIns="108000" tIns="72000" rIns="108000" bIns="720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just" eaLnBrk="1" hangingPunct="1">
              <a:spcBef>
                <a:spcPts val="0"/>
              </a:spcBef>
            </a:pPr>
            <a:r>
              <a:rPr lang="es-ES" sz="2400" dirty="0">
                <a:solidFill>
                  <a:schemeClr val="tx1"/>
                </a:solidFill>
                <a:sym typeface="Symbol" panose="05050102010706020507" pitchFamily="18" charset="2"/>
              </a:rPr>
              <a:t> </a:t>
            </a:r>
            <a:r>
              <a:rPr lang="es-ES" sz="2400" dirty="0">
                <a:solidFill>
                  <a:schemeClr val="tx1"/>
                </a:solidFill>
              </a:rPr>
              <a:t>Si un cuerpo </a:t>
            </a:r>
            <a:r>
              <a:rPr lang="es-ES" sz="2400" dirty="0">
                <a:solidFill>
                  <a:srgbClr val="008000"/>
                </a:solidFill>
              </a:rPr>
              <a:t>cargado</a:t>
            </a:r>
            <a:r>
              <a:rPr lang="es-ES" sz="2400" dirty="0">
                <a:solidFill>
                  <a:schemeClr val="tx1"/>
                </a:solidFill>
              </a:rPr>
              <a:t> y uno</a:t>
            </a:r>
            <a:r>
              <a:rPr lang="es-ES" sz="2400" dirty="0">
                <a:solidFill>
                  <a:srgbClr val="008000"/>
                </a:solidFill>
              </a:rPr>
              <a:t> neutro</a:t>
            </a:r>
            <a:r>
              <a:rPr lang="es-ES" sz="2400" dirty="0">
                <a:solidFill>
                  <a:srgbClr val="FF0000"/>
                </a:solidFill>
              </a:rPr>
              <a:t> </a:t>
            </a:r>
            <a:r>
              <a:rPr lang="es-ES" sz="2400" dirty="0">
                <a:solidFill>
                  <a:srgbClr val="0000FF"/>
                </a:solidFill>
              </a:rPr>
              <a:t>contactan</a:t>
            </a:r>
            <a:r>
              <a:rPr lang="es-ES" sz="2400" dirty="0">
                <a:solidFill>
                  <a:schemeClr val="tx1"/>
                </a:solidFill>
              </a:rPr>
              <a:t>, se transfiere carga positiva o negativa del 1º al 2º. Pasan e</a:t>
            </a:r>
            <a:r>
              <a:rPr lang="es-ES" sz="2400" baseline="30000" dirty="0">
                <a:solidFill>
                  <a:schemeClr val="tx1"/>
                </a:solidFill>
              </a:rPr>
              <a:t>-</a:t>
            </a:r>
            <a:r>
              <a:rPr lang="es-ES" sz="2400" dirty="0">
                <a:solidFill>
                  <a:schemeClr val="tx1"/>
                </a:solidFill>
              </a:rPr>
              <a:t> desde el neutro, o hacia el neutro</a:t>
            </a:r>
            <a:r>
              <a:rPr lang="es-ES" sz="2400">
                <a:solidFill>
                  <a:schemeClr val="tx1"/>
                </a:solidFill>
              </a:rPr>
              <a:t>, respectivamente</a:t>
            </a:r>
            <a:endParaRPr lang="es-ES" sz="2400" dirty="0">
              <a:solidFill>
                <a:schemeClr val="tx1"/>
              </a:solidFill>
            </a:endParaRPr>
          </a:p>
        </p:txBody>
      </p:sp>
      <p:sp>
        <p:nvSpPr>
          <p:cNvPr id="284779" name="Text Box 107"/>
          <p:cNvSpPr txBox="1">
            <a:spLocks noChangeArrowheads="1"/>
          </p:cNvSpPr>
          <p:nvPr/>
        </p:nvSpPr>
        <p:spPr bwMode="auto">
          <a:xfrm>
            <a:off x="2517058" y="5232662"/>
            <a:ext cx="6489291" cy="884070"/>
          </a:xfrm>
          <a:prstGeom prst="rect">
            <a:avLst/>
          </a:prstGeom>
          <a:solidFill>
            <a:schemeClr val="bg2">
              <a:lumMod val="60000"/>
              <a:lumOff val="40000"/>
            </a:schemeClr>
          </a:solidFill>
          <a:ln>
            <a:noFill/>
          </a:ln>
        </p:spPr>
        <p:txBody>
          <a:bodyPr wrap="square" lIns="108000" tIns="72000" rIns="108000" bIns="720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ym typeface="Symbol" panose="05050102010706020507" pitchFamily="18" charset="2"/>
              </a:rPr>
              <a:t>La transferencia de carga es </a:t>
            </a:r>
            <a:r>
              <a:rPr lang="es-ES" sz="2400">
                <a:sym typeface="Symbol" panose="05050102010706020507" pitchFamily="18" charset="2"/>
              </a:rPr>
              <a:t>menos factible</a:t>
            </a:r>
          </a:p>
          <a:p>
            <a:pPr algn="ctr" eaLnBrk="1" hangingPunct="1">
              <a:spcBef>
                <a:spcPts val="0"/>
              </a:spcBef>
            </a:pPr>
            <a:r>
              <a:rPr lang="es-ES" sz="2400">
                <a:sym typeface="Symbol" panose="05050102010706020507" pitchFamily="18" charset="2"/>
              </a:rPr>
              <a:t>si </a:t>
            </a:r>
            <a:r>
              <a:rPr lang="es-ES" sz="2400" dirty="0">
                <a:sym typeface="Symbol" panose="05050102010706020507" pitchFamily="18" charset="2"/>
              </a:rPr>
              <a:t>el cuerpo</a:t>
            </a:r>
            <a:r>
              <a:rPr lang="es-ES" sz="2400" dirty="0">
                <a:solidFill>
                  <a:srgbClr val="008000"/>
                </a:solidFill>
                <a:sym typeface="Symbol" panose="05050102010706020507" pitchFamily="18" charset="2"/>
              </a:rPr>
              <a:t> emisor</a:t>
            </a:r>
            <a:r>
              <a:rPr lang="es-ES" sz="2400" dirty="0">
                <a:sym typeface="Symbol" panose="05050102010706020507" pitchFamily="18" charset="2"/>
              </a:rPr>
              <a:t> es </a:t>
            </a:r>
            <a:r>
              <a:rPr lang="es-ES" sz="2400" dirty="0">
                <a:solidFill>
                  <a:srgbClr val="0000FF"/>
                </a:solidFill>
                <a:sym typeface="Symbol" panose="05050102010706020507" pitchFamily="18" charset="2"/>
              </a:rPr>
              <a:t>aislante</a:t>
            </a:r>
            <a:endParaRPr lang="es-ES" sz="2400" dirty="0"/>
          </a:p>
        </p:txBody>
      </p:sp>
      <p:sp>
        <p:nvSpPr>
          <p:cNvPr id="284780" name="Text Box 108"/>
          <p:cNvSpPr txBox="1">
            <a:spLocks noChangeArrowheads="1"/>
          </p:cNvSpPr>
          <p:nvPr/>
        </p:nvSpPr>
        <p:spPr bwMode="auto">
          <a:xfrm>
            <a:off x="1776845" y="3309696"/>
            <a:ext cx="7959438" cy="1622734"/>
          </a:xfrm>
          <a:prstGeom prst="rect">
            <a:avLst/>
          </a:prstGeom>
          <a:solidFill>
            <a:srgbClr val="FAFAFA"/>
          </a:solidFill>
          <a:ln>
            <a:noFill/>
          </a:ln>
        </p:spPr>
        <p:txBody>
          <a:bodyPr wrap="square" lIns="108000" tIns="72000" rIns="108000" bIns="720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just" eaLnBrk="1" hangingPunct="1">
              <a:spcBef>
                <a:spcPts val="0"/>
              </a:spcBef>
            </a:pPr>
            <a:r>
              <a:rPr lang="es-ES" sz="2400" dirty="0">
                <a:solidFill>
                  <a:schemeClr val="tx1"/>
                </a:solidFill>
                <a:sym typeface="Symbol" panose="05050102010706020507" pitchFamily="18" charset="2"/>
              </a:rPr>
              <a:t> La </a:t>
            </a:r>
            <a:r>
              <a:rPr lang="es-ES" sz="2400" dirty="0">
                <a:solidFill>
                  <a:srgbClr val="008000"/>
                </a:solidFill>
                <a:sym typeface="Symbol" panose="05050102010706020507" pitchFamily="18" charset="2"/>
              </a:rPr>
              <a:t>Q </a:t>
            </a:r>
            <a:r>
              <a:rPr lang="es-ES" sz="2400">
                <a:solidFill>
                  <a:srgbClr val="008000"/>
                </a:solidFill>
                <a:sym typeface="Symbol" panose="05050102010706020507" pitchFamily="18" charset="2"/>
              </a:rPr>
              <a:t>transferida</a:t>
            </a:r>
            <a:r>
              <a:rPr lang="es-ES" sz="2400">
                <a:solidFill>
                  <a:schemeClr val="tx1"/>
                </a:solidFill>
                <a:sym typeface="Symbol" panose="05050102010706020507" pitchFamily="18" charset="2"/>
              </a:rPr>
              <a:t> transforma al neutro en cargado del mismo signo. Lo que conlleva </a:t>
            </a:r>
            <a:r>
              <a:rPr lang="es-ES" sz="2400" dirty="0">
                <a:solidFill>
                  <a:schemeClr val="tx1"/>
                </a:solidFill>
                <a:sym typeface="Symbol" panose="05050102010706020507" pitchFamily="18" charset="2"/>
              </a:rPr>
              <a:t>una </a:t>
            </a:r>
            <a:r>
              <a:rPr lang="es-ES" sz="2400" dirty="0">
                <a:solidFill>
                  <a:srgbClr val="0000FF"/>
                </a:solidFill>
                <a:sym typeface="Symbol" panose="05050102010706020507" pitchFamily="18" charset="2"/>
              </a:rPr>
              <a:t>contribución repulsiva</a:t>
            </a:r>
            <a:r>
              <a:rPr lang="es-ES" sz="2400" dirty="0">
                <a:solidFill>
                  <a:schemeClr val="tx1"/>
                </a:solidFill>
                <a:sym typeface="Symbol" panose="05050102010706020507" pitchFamily="18" charset="2"/>
              </a:rPr>
              <a:t> en la interacción </a:t>
            </a:r>
            <a:r>
              <a:rPr lang="es-ES" sz="2400">
                <a:solidFill>
                  <a:schemeClr val="tx1"/>
                </a:solidFill>
                <a:sym typeface="Symbol" panose="05050102010706020507" pitchFamily="18" charset="2"/>
              </a:rPr>
              <a:t>entre los cuerpos </a:t>
            </a:r>
            <a:r>
              <a:rPr lang="es-ES" sz="2400" dirty="0">
                <a:solidFill>
                  <a:schemeClr val="tx1"/>
                </a:solidFill>
                <a:sym typeface="Symbol" panose="05050102010706020507" pitchFamily="18" charset="2"/>
              </a:rPr>
              <a:t>(se atraen menos, o incluso pasan a repelerse </a:t>
            </a:r>
            <a:r>
              <a:rPr lang="es-ES" sz="2400">
                <a:solidFill>
                  <a:schemeClr val="tx1"/>
                </a:solidFill>
                <a:sym typeface="Symbol" panose="05050102010706020507" pitchFamily="18" charset="2"/>
              </a:rPr>
              <a:t>al crecer </a:t>
            </a:r>
            <a:r>
              <a:rPr lang="es-ES" sz="2400" dirty="0">
                <a:solidFill>
                  <a:schemeClr val="tx1"/>
                </a:solidFill>
                <a:sym typeface="Symbol" panose="05050102010706020507" pitchFamily="18" charset="2"/>
              </a:rPr>
              <a:t>la carga transferida)</a:t>
            </a:r>
            <a:endParaRPr lang="es-ES" sz="2400" dirty="0">
              <a:solidFill>
                <a:schemeClr val="tx1"/>
              </a:solidFill>
            </a:endParaRPr>
          </a:p>
        </p:txBody>
      </p:sp>
      <p:sp>
        <p:nvSpPr>
          <p:cNvPr id="8" name="Text Box 107"/>
          <p:cNvSpPr txBox="1">
            <a:spLocks noChangeArrowheads="1"/>
          </p:cNvSpPr>
          <p:nvPr/>
        </p:nvSpPr>
        <p:spPr bwMode="auto">
          <a:xfrm>
            <a:off x="1537106" y="6243366"/>
            <a:ext cx="8471597" cy="514738"/>
          </a:xfrm>
          <a:prstGeom prst="rect">
            <a:avLst/>
          </a:prstGeom>
          <a:solidFill>
            <a:srgbClr val="FFFF99"/>
          </a:solidFill>
          <a:ln>
            <a:noFill/>
          </a:ln>
        </p:spPr>
        <p:txBody>
          <a:bodyPr wrap="square" lIns="108000" tIns="72000" rIns="108000" bIns="720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pPr>
            <a:r>
              <a:rPr lang="es-ES" sz="2400" dirty="0">
                <a:sym typeface="Symbol" panose="05050102010706020507" pitchFamily="18" charset="2"/>
              </a:rPr>
              <a:t>Las cargas están localizadas y hace falta contactar con ellas</a:t>
            </a:r>
            <a:endParaRPr lang="es-ES" sz="2400" dirty="0"/>
          </a:p>
        </p:txBody>
      </p:sp>
      <p:sp>
        <p:nvSpPr>
          <p:cNvPr id="6" name="Text Box 27">
            <a:extLst>
              <a:ext uri="{FF2B5EF4-FFF2-40B4-BE49-F238E27FC236}">
                <a16:creationId xmlns:a16="http://schemas.microsoft.com/office/drawing/2014/main" id="{DE527529-F30E-42F0-BC18-914B3AA1980E}"/>
              </a:ext>
            </a:extLst>
          </p:cNvPr>
          <p:cNvSpPr txBox="1">
            <a:spLocks noChangeArrowheads="1"/>
          </p:cNvSpPr>
          <p:nvPr/>
        </p:nvSpPr>
        <p:spPr bwMode="auto">
          <a:xfrm>
            <a:off x="4958087" y="343383"/>
            <a:ext cx="1603104" cy="514738"/>
          </a:xfrm>
          <a:prstGeom prst="rect">
            <a:avLst/>
          </a:prstGeom>
          <a:solidFill>
            <a:srgbClr val="C0C0C0"/>
          </a:solidFill>
          <a:ln>
            <a:noFill/>
          </a:ln>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defRPr/>
            </a:pPr>
            <a:r>
              <a:rPr lang="es-ES" sz="2400" dirty="0"/>
              <a:t>ANÁLISIS</a:t>
            </a:r>
          </a:p>
        </p:txBody>
      </p:sp>
      <p:sp>
        <p:nvSpPr>
          <p:cNvPr id="2" name="Text Box 106">
            <a:extLst>
              <a:ext uri="{FF2B5EF4-FFF2-40B4-BE49-F238E27FC236}">
                <a16:creationId xmlns:a16="http://schemas.microsoft.com/office/drawing/2014/main" id="{8EEF7CB2-0E7F-0F3A-DF73-6C0AD8894689}"/>
              </a:ext>
            </a:extLst>
          </p:cNvPr>
          <p:cNvSpPr txBox="1">
            <a:spLocks noChangeArrowheads="1"/>
          </p:cNvSpPr>
          <p:nvPr/>
        </p:nvSpPr>
        <p:spPr bwMode="auto">
          <a:xfrm>
            <a:off x="2310577" y="2264013"/>
            <a:ext cx="6899234" cy="884070"/>
          </a:xfrm>
          <a:prstGeom prst="rect">
            <a:avLst/>
          </a:prstGeom>
          <a:solidFill>
            <a:srgbClr val="FFFF99"/>
          </a:solidFill>
          <a:ln>
            <a:noFill/>
          </a:ln>
        </p:spPr>
        <p:txBody>
          <a:bodyPr wrap="square" lIns="108000" tIns="72000" rIns="108000" bIns="720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chemeClr val="tx1"/>
                </a:solidFill>
              </a:rPr>
              <a:t>Porque </a:t>
            </a:r>
            <a:r>
              <a:rPr lang="es-ES" sz="2400" dirty="0">
                <a:solidFill>
                  <a:schemeClr val="tx1"/>
                </a:solidFill>
              </a:rPr>
              <a:t>los excesos de carga tienden a situarse lo más lejos posible entre sí</a:t>
            </a:r>
          </a:p>
        </p:txBody>
      </p:sp>
    </p:spTree>
    <p:extLst>
      <p:ext uri="{BB962C8B-B14F-4D97-AF65-F5344CB8AC3E}">
        <p14:creationId xmlns:p14="http://schemas.microsoft.com/office/powerpoint/2010/main" val="425168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strVal val="2/3*#ppt_w"/>
                                          </p:val>
                                        </p:tav>
                                        <p:tav tm="100000">
                                          <p:val>
                                            <p:strVal val="#ppt_w"/>
                                          </p:val>
                                        </p:tav>
                                      </p:tavLst>
                                    </p:anim>
                                    <p:anim calcmode="lin" valueType="num">
                                      <p:cBhvr>
                                        <p:cTn id="8" dur="500" fill="hold"/>
                                        <p:tgtEl>
                                          <p:spTgt spid="6"/>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80899"/>
                                        </p:tgtEl>
                                        <p:attrNameLst>
                                          <p:attrName>style.visibility</p:attrName>
                                        </p:attrNameLst>
                                      </p:cBhvr>
                                      <p:to>
                                        <p:strVal val="visible"/>
                                      </p:to>
                                    </p:set>
                                    <p:animEffect transition="in" filter="wipe(up)">
                                      <p:cBhvr>
                                        <p:cTn id="13" dur="500"/>
                                        <p:tgtEl>
                                          <p:spTgt spid="8089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up)">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84780"/>
                                        </p:tgtEl>
                                        <p:attrNameLst>
                                          <p:attrName>style.visibility</p:attrName>
                                        </p:attrNameLst>
                                      </p:cBhvr>
                                      <p:to>
                                        <p:strVal val="visible"/>
                                      </p:to>
                                    </p:set>
                                    <p:animEffect transition="in" filter="wipe(up)">
                                      <p:cBhvr>
                                        <p:cTn id="23" dur="500"/>
                                        <p:tgtEl>
                                          <p:spTgt spid="28478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5" fill="hold" grpId="0" nodeType="clickEffect">
                                  <p:stCondLst>
                                    <p:cond delay="0"/>
                                  </p:stCondLst>
                                  <p:childTnLst>
                                    <p:set>
                                      <p:cBhvr>
                                        <p:cTn id="27" dur="1" fill="hold">
                                          <p:stCondLst>
                                            <p:cond delay="0"/>
                                          </p:stCondLst>
                                        </p:cTn>
                                        <p:tgtEl>
                                          <p:spTgt spid="284779"/>
                                        </p:tgtEl>
                                        <p:attrNameLst>
                                          <p:attrName>style.visibility</p:attrName>
                                        </p:attrNameLst>
                                      </p:cBhvr>
                                      <p:to>
                                        <p:strVal val="visible"/>
                                      </p:to>
                                    </p:set>
                                    <p:animEffect transition="in" filter="blinds(vertical)">
                                      <p:cBhvr>
                                        <p:cTn id="28" dur="500"/>
                                        <p:tgtEl>
                                          <p:spTgt spid="28477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up)">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animBg="1"/>
      <p:bldP spid="284779" grpId="0" animBg="1"/>
      <p:bldP spid="284780" grpId="0" animBg="1"/>
      <p:bldP spid="8" grpId="0" animBg="1"/>
      <p:bldP spid="6" grpId="0" animBg="1"/>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9"/>
          <p:cNvSpPr txBox="1">
            <a:spLocks noChangeArrowheads="1"/>
          </p:cNvSpPr>
          <p:nvPr/>
        </p:nvSpPr>
        <p:spPr bwMode="auto">
          <a:xfrm>
            <a:off x="1808737" y="4800899"/>
            <a:ext cx="7900826" cy="1622734"/>
          </a:xfrm>
          <a:prstGeom prst="rect">
            <a:avLst/>
          </a:prstGeom>
          <a:solidFill>
            <a:srgbClr val="FAFAFA"/>
          </a:solidFill>
          <a:ln>
            <a:noFill/>
          </a:ln>
          <a:effectLst/>
        </p:spPr>
        <p:txBody>
          <a:bodyPr wrap="square" lIns="108000" tIns="72000" rIns="108000" bIns="720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olidFill>
                  <a:schemeClr val="tx1"/>
                </a:solidFill>
              </a:rPr>
              <a:t>Por ejemplo, </a:t>
            </a:r>
            <a:r>
              <a:rPr lang="es-ES" sz="2400" dirty="0">
                <a:solidFill>
                  <a:schemeClr val="tx1"/>
                </a:solidFill>
              </a:rPr>
              <a:t>para reducir el exceso de Q que tengamos de frotar el suelo al andar </a:t>
            </a:r>
            <a:r>
              <a:rPr lang="es-ES" sz="2400" b="1" dirty="0">
                <a:solidFill>
                  <a:schemeClr val="tx1"/>
                </a:solidFill>
              </a:rPr>
              <a:t>(carga estática)</a:t>
            </a:r>
            <a:r>
              <a:rPr lang="es-ES" sz="2400" dirty="0">
                <a:solidFill>
                  <a:schemeClr val="tx1"/>
                </a:solidFill>
              </a:rPr>
              <a:t>, y proteger así al circuito electrónico que vayamos a </a:t>
            </a:r>
            <a:r>
              <a:rPr lang="es-ES" sz="2400">
                <a:solidFill>
                  <a:schemeClr val="tx1"/>
                </a:solidFill>
              </a:rPr>
              <a:t>tocar de</a:t>
            </a:r>
          </a:p>
          <a:p>
            <a:pPr algn="ctr" eaLnBrk="1" hangingPunct="1">
              <a:spcBef>
                <a:spcPts val="0"/>
              </a:spcBef>
            </a:pPr>
            <a:r>
              <a:rPr lang="es-ES" sz="2400">
                <a:solidFill>
                  <a:schemeClr val="tx1"/>
                </a:solidFill>
              </a:rPr>
              <a:t>la </a:t>
            </a:r>
            <a:r>
              <a:rPr lang="es-ES" sz="2400" dirty="0">
                <a:solidFill>
                  <a:schemeClr val="tx1"/>
                </a:solidFill>
              </a:rPr>
              <a:t>descarga eléctrica que se generaría</a:t>
            </a:r>
          </a:p>
        </p:txBody>
      </p:sp>
      <p:sp>
        <p:nvSpPr>
          <p:cNvPr id="11" name="Text Box 120"/>
          <p:cNvSpPr txBox="1">
            <a:spLocks noChangeArrowheads="1"/>
          </p:cNvSpPr>
          <p:nvPr/>
        </p:nvSpPr>
        <p:spPr bwMode="auto">
          <a:xfrm>
            <a:off x="2517058" y="2693754"/>
            <a:ext cx="6499123" cy="905881"/>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82800" rIns="90000" bIns="82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chemeClr val="tx1"/>
                </a:solidFill>
              </a:rPr>
              <a:t>En la vida cotidiana, para reducir </a:t>
            </a:r>
            <a:r>
              <a:rPr lang="es-ES" sz="2400">
                <a:solidFill>
                  <a:schemeClr val="tx1"/>
                </a:solidFill>
              </a:rPr>
              <a:t>al máximo</a:t>
            </a:r>
          </a:p>
          <a:p>
            <a:pPr algn="ctr" eaLnBrk="1" hangingPunct="1">
              <a:spcBef>
                <a:spcPts val="0"/>
              </a:spcBef>
            </a:pPr>
            <a:r>
              <a:rPr lang="es-ES" sz="2400">
                <a:solidFill>
                  <a:schemeClr val="tx1"/>
                </a:solidFill>
              </a:rPr>
              <a:t>un </a:t>
            </a:r>
            <a:r>
              <a:rPr lang="es-ES" sz="2400" dirty="0">
                <a:solidFill>
                  <a:schemeClr val="tx1"/>
                </a:solidFill>
              </a:rPr>
              <a:t>exceso de Q, idealmente todo </a:t>
            </a:r>
            <a:r>
              <a:rPr lang="es-ES" sz="2400" dirty="0">
                <a:solidFill>
                  <a:srgbClr val="FF0000"/>
                </a:solidFill>
              </a:rPr>
              <a:t>(</a:t>
            </a:r>
            <a:r>
              <a:rPr lang="es-ES" sz="2400">
                <a:solidFill>
                  <a:srgbClr val="FF0000"/>
                </a:solidFill>
              </a:rPr>
              <a:t>Tema 3)</a:t>
            </a:r>
            <a:r>
              <a:rPr lang="es-ES" sz="2400">
                <a:solidFill>
                  <a:schemeClr val="tx1"/>
                </a:solidFill>
              </a:rPr>
              <a:t>:</a:t>
            </a:r>
            <a:endParaRPr lang="es-ES" sz="2400" dirty="0">
              <a:solidFill>
                <a:schemeClr val="tx1"/>
              </a:solidFill>
            </a:endParaRPr>
          </a:p>
        </p:txBody>
      </p:sp>
      <p:sp>
        <p:nvSpPr>
          <p:cNvPr id="8" name="Text Box 107"/>
          <p:cNvSpPr txBox="1">
            <a:spLocks noChangeArrowheads="1"/>
          </p:cNvSpPr>
          <p:nvPr/>
        </p:nvSpPr>
        <p:spPr bwMode="auto">
          <a:xfrm>
            <a:off x="1572764" y="6433717"/>
            <a:ext cx="8397146"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rgbClr val="FF0000"/>
                </a:solidFill>
                <a:sym typeface="Symbol" panose="05050102010706020507" pitchFamily="18" charset="2"/>
              </a:rPr>
              <a:t>Hay pulseras que permiten conectarse a tierra con un cable</a:t>
            </a:r>
            <a:endParaRPr lang="es-ES" sz="2400" dirty="0">
              <a:solidFill>
                <a:srgbClr val="FF0000"/>
              </a:solidFill>
            </a:endParaRPr>
          </a:p>
        </p:txBody>
      </p:sp>
      <p:sp>
        <p:nvSpPr>
          <p:cNvPr id="9" name="Text Box 109">
            <a:extLst>
              <a:ext uri="{FF2B5EF4-FFF2-40B4-BE49-F238E27FC236}">
                <a16:creationId xmlns:a16="http://schemas.microsoft.com/office/drawing/2014/main" id="{34E214F6-E9FE-4548-9022-FA1CE422E5A8}"/>
              </a:ext>
            </a:extLst>
          </p:cNvPr>
          <p:cNvSpPr txBox="1">
            <a:spLocks noChangeArrowheads="1"/>
          </p:cNvSpPr>
          <p:nvPr/>
        </p:nvSpPr>
        <p:spPr bwMode="auto">
          <a:xfrm>
            <a:off x="3234813" y="332143"/>
            <a:ext cx="5053781" cy="884070"/>
          </a:xfrm>
          <a:prstGeom prst="rect">
            <a:avLst/>
          </a:prstGeom>
          <a:solidFill>
            <a:schemeClr val="bg2">
              <a:lumMod val="60000"/>
              <a:lumOff val="40000"/>
            </a:schemeClr>
          </a:solidFill>
          <a:ln>
            <a:noFill/>
          </a:ln>
        </p:spPr>
        <p:txBody>
          <a:bodyPr wrap="square" lIns="108000" tIns="72000" rIns="108000" bIns="720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chemeClr val="tx1"/>
                </a:solidFill>
                <a:sym typeface="Symbol" panose="05050102010706020507" pitchFamily="18" charset="2"/>
              </a:rPr>
              <a:t>La transferencia es </a:t>
            </a:r>
            <a:r>
              <a:rPr lang="es-ES" sz="2400">
                <a:solidFill>
                  <a:schemeClr val="tx1"/>
                </a:solidFill>
                <a:sym typeface="Symbol" panose="05050102010706020507" pitchFamily="18" charset="2"/>
              </a:rPr>
              <a:t>más efectiva</a:t>
            </a:r>
          </a:p>
          <a:p>
            <a:pPr algn="ctr" eaLnBrk="1" hangingPunct="1">
              <a:spcBef>
                <a:spcPts val="0"/>
              </a:spcBef>
            </a:pPr>
            <a:r>
              <a:rPr lang="es-ES" sz="2400">
                <a:solidFill>
                  <a:schemeClr val="tx1"/>
                </a:solidFill>
                <a:sym typeface="Symbol" panose="05050102010706020507" pitchFamily="18" charset="2"/>
              </a:rPr>
              <a:t>si el </a:t>
            </a:r>
            <a:r>
              <a:rPr lang="es-ES" sz="2400" dirty="0">
                <a:solidFill>
                  <a:schemeClr val="tx1"/>
                </a:solidFill>
                <a:sym typeface="Symbol" panose="05050102010706020507" pitchFamily="18" charset="2"/>
              </a:rPr>
              <a:t>cuerpo </a:t>
            </a:r>
            <a:r>
              <a:rPr lang="es-ES" sz="2400" dirty="0">
                <a:solidFill>
                  <a:srgbClr val="008000"/>
                </a:solidFill>
                <a:sym typeface="Symbol" panose="05050102010706020507" pitchFamily="18" charset="2"/>
              </a:rPr>
              <a:t>receptor</a:t>
            </a:r>
            <a:r>
              <a:rPr lang="es-ES" sz="2400" dirty="0">
                <a:solidFill>
                  <a:schemeClr val="tx1"/>
                </a:solidFill>
                <a:sym typeface="Symbol" panose="05050102010706020507" pitchFamily="18" charset="2"/>
              </a:rPr>
              <a:t> es </a:t>
            </a:r>
            <a:r>
              <a:rPr lang="es-ES" sz="2400" dirty="0">
                <a:solidFill>
                  <a:srgbClr val="0000FF"/>
                </a:solidFill>
                <a:sym typeface="Symbol" panose="05050102010706020507" pitchFamily="18" charset="2"/>
              </a:rPr>
              <a:t>conductor</a:t>
            </a:r>
            <a:endParaRPr lang="es-ES" sz="2400" dirty="0">
              <a:solidFill>
                <a:schemeClr val="tx1"/>
              </a:solidFill>
            </a:endParaRPr>
          </a:p>
        </p:txBody>
      </p:sp>
      <p:sp>
        <p:nvSpPr>
          <p:cNvPr id="12" name="Text Box 109">
            <a:extLst>
              <a:ext uri="{FF2B5EF4-FFF2-40B4-BE49-F238E27FC236}">
                <a16:creationId xmlns:a16="http://schemas.microsoft.com/office/drawing/2014/main" id="{C283E37B-F271-400E-B581-BA4EB78C135D}"/>
              </a:ext>
            </a:extLst>
          </p:cNvPr>
          <p:cNvSpPr txBox="1">
            <a:spLocks noChangeArrowheads="1"/>
          </p:cNvSpPr>
          <p:nvPr/>
        </p:nvSpPr>
        <p:spPr bwMode="auto">
          <a:xfrm>
            <a:off x="1808737" y="1312210"/>
            <a:ext cx="7900826" cy="1253402"/>
          </a:xfrm>
          <a:prstGeom prst="rect">
            <a:avLst/>
          </a:prstGeom>
          <a:solidFill>
            <a:srgbClr val="FFFF99"/>
          </a:solidFill>
          <a:ln>
            <a:noFill/>
          </a:ln>
        </p:spPr>
        <p:txBody>
          <a:bodyPr wrap="square" lIns="108000" tIns="72000" rIns="108000" bIns="720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chemeClr val="tx1"/>
                </a:solidFill>
                <a:sym typeface="Symbol" panose="05050102010706020507" pitchFamily="18" charset="2"/>
              </a:rPr>
              <a:t>La carga se distribuye, se aleja, reduciendo la oposición a la llegada de más carga. A mayor tamaño, menor es</a:t>
            </a:r>
          </a:p>
          <a:p>
            <a:pPr algn="ctr" eaLnBrk="1" hangingPunct="1">
              <a:spcBef>
                <a:spcPts val="0"/>
              </a:spcBef>
            </a:pPr>
            <a:r>
              <a:rPr lang="es-ES" sz="2400" dirty="0">
                <a:solidFill>
                  <a:schemeClr val="tx1"/>
                </a:solidFill>
                <a:sym typeface="Symbol" panose="05050102010706020507" pitchFamily="18" charset="2"/>
              </a:rPr>
              <a:t>la oposición y más carga se transfiere </a:t>
            </a:r>
            <a:endParaRPr lang="es-ES" sz="2400" dirty="0">
              <a:solidFill>
                <a:schemeClr val="tx1"/>
              </a:solidFill>
            </a:endParaRPr>
          </a:p>
        </p:txBody>
      </p:sp>
      <p:sp>
        <p:nvSpPr>
          <p:cNvPr id="2" name="Text Box 120">
            <a:extLst>
              <a:ext uri="{FF2B5EF4-FFF2-40B4-BE49-F238E27FC236}">
                <a16:creationId xmlns:a16="http://schemas.microsoft.com/office/drawing/2014/main" id="{91E04266-2170-0665-A655-E3009AA2848B}"/>
              </a:ext>
            </a:extLst>
          </p:cNvPr>
          <p:cNvSpPr txBox="1">
            <a:spLocks noChangeArrowheads="1"/>
          </p:cNvSpPr>
          <p:nvPr/>
        </p:nvSpPr>
        <p:spPr bwMode="auto">
          <a:xfrm>
            <a:off x="3234813" y="3732915"/>
            <a:ext cx="5053781" cy="905881"/>
          </a:xfrm>
          <a:prstGeom prst="rect">
            <a:avLst/>
          </a:prstGeom>
          <a:solidFill>
            <a:schemeClr val="accent1">
              <a:lumMod val="60000"/>
              <a:lumOff val="40000"/>
            </a:schemeClr>
          </a:solidFill>
          <a:ln>
            <a:noFill/>
          </a:ln>
        </p:spPr>
        <p:txBody>
          <a:bodyPr wrap="square" lIns="90000" tIns="82800" rIns="90000" bIns="82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chemeClr val="tx1"/>
                </a:solidFill>
              </a:rPr>
              <a:t>Hay que </a:t>
            </a:r>
            <a:r>
              <a:rPr lang="es-ES" sz="2400" b="1" dirty="0">
                <a:solidFill>
                  <a:schemeClr val="tx1"/>
                </a:solidFill>
              </a:rPr>
              <a:t>conectarse a tierra</a:t>
            </a:r>
          </a:p>
          <a:p>
            <a:pPr algn="ctr" eaLnBrk="1" hangingPunct="1">
              <a:spcBef>
                <a:spcPts val="0"/>
              </a:spcBef>
            </a:pPr>
            <a:r>
              <a:rPr lang="es-ES" sz="2400" dirty="0">
                <a:solidFill>
                  <a:schemeClr val="tx1"/>
                </a:solidFill>
              </a:rPr>
              <a:t>(al conductor neutro más grande)</a:t>
            </a:r>
          </a:p>
        </p:txBody>
      </p:sp>
    </p:spTree>
    <p:extLst>
      <p:ext uri="{BB962C8B-B14F-4D97-AF65-F5344CB8AC3E}">
        <p14:creationId xmlns:p14="http://schemas.microsoft.com/office/powerpoint/2010/main" val="2773065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vertic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p:tgtEl>
                                          <p:spTgt spid="8"/>
                                        </p:tgtEl>
                                        <p:attrNameLst>
                                          <p:attrName>ppt_y</p:attrName>
                                        </p:attrNameLst>
                                      </p:cBhvr>
                                      <p:tavLst>
                                        <p:tav tm="0">
                                          <p:val>
                                            <p:strVal val="#ppt_y+#ppt_h*1.125000"/>
                                          </p:val>
                                        </p:tav>
                                        <p:tav tm="100000">
                                          <p:val>
                                            <p:strVal val="#ppt_y"/>
                                          </p:val>
                                        </p:tav>
                                      </p:tavLst>
                                    </p:anim>
                                    <p:animEffect transition="in" filter="wipe(up)">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8" grpId="0"/>
      <p:bldP spid="9" grpId="0" animBg="1"/>
      <p:bldP spid="12" grpId="0" animBg="1"/>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72" name="Group 9"/>
          <p:cNvGrpSpPr>
            <a:grpSpLocks/>
          </p:cNvGrpSpPr>
          <p:nvPr/>
        </p:nvGrpSpPr>
        <p:grpSpPr bwMode="auto">
          <a:xfrm>
            <a:off x="4150867" y="4965837"/>
            <a:ext cx="1624015" cy="1100138"/>
            <a:chOff x="3828" y="1498"/>
            <a:chExt cx="1023" cy="693"/>
          </a:xfrm>
        </p:grpSpPr>
        <p:sp>
          <p:nvSpPr>
            <p:cNvPr id="31774" name="AutoShape 10"/>
            <p:cNvSpPr>
              <a:spLocks noChangeArrowheads="1"/>
            </p:cNvSpPr>
            <p:nvPr/>
          </p:nvSpPr>
          <p:spPr bwMode="auto">
            <a:xfrm>
              <a:off x="3828" y="1531"/>
              <a:ext cx="233" cy="298"/>
            </a:xfrm>
            <a:prstGeom prst="rightArrow">
              <a:avLst>
                <a:gd name="adj1" fmla="val 55037"/>
                <a:gd name="adj2" fmla="val 50213"/>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31775" name="Oval 11"/>
            <p:cNvSpPr>
              <a:spLocks noChangeArrowheads="1"/>
            </p:cNvSpPr>
            <p:nvPr/>
          </p:nvSpPr>
          <p:spPr bwMode="auto">
            <a:xfrm>
              <a:off x="4159" y="1540"/>
              <a:ext cx="692" cy="284"/>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31776" name="Text Box 12"/>
            <p:cNvSpPr txBox="1">
              <a:spLocks noChangeArrowheads="1"/>
            </p:cNvSpPr>
            <p:nvPr/>
          </p:nvSpPr>
          <p:spPr bwMode="auto">
            <a:xfrm>
              <a:off x="4261" y="1941"/>
              <a:ext cx="4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ClNa</a:t>
              </a:r>
            </a:p>
          </p:txBody>
        </p:sp>
        <p:sp>
          <p:nvSpPr>
            <p:cNvPr id="31777" name="Text Box 13"/>
            <p:cNvSpPr txBox="1">
              <a:spLocks noChangeArrowheads="1"/>
            </p:cNvSpPr>
            <p:nvPr/>
          </p:nvSpPr>
          <p:spPr bwMode="auto">
            <a:xfrm>
              <a:off x="4603" y="1514"/>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sp>
          <p:nvSpPr>
            <p:cNvPr id="31778" name="Text Box 14"/>
            <p:cNvSpPr txBox="1">
              <a:spLocks noChangeArrowheads="1"/>
            </p:cNvSpPr>
            <p:nvPr/>
          </p:nvSpPr>
          <p:spPr bwMode="auto">
            <a:xfrm flipH="1">
              <a:off x="4176" y="1498"/>
              <a:ext cx="1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grpSp>
      <p:sp>
        <p:nvSpPr>
          <p:cNvPr id="258137" name="Text Box 89"/>
          <p:cNvSpPr txBox="1">
            <a:spLocks noChangeArrowheads="1"/>
          </p:cNvSpPr>
          <p:nvPr/>
        </p:nvSpPr>
        <p:spPr bwMode="auto">
          <a:xfrm>
            <a:off x="4687474" y="330814"/>
            <a:ext cx="5420622" cy="1622734"/>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a:sym typeface="Symbol" panose="05050102010706020507" pitchFamily="18" charset="2"/>
              </a:rPr>
              <a:t>La posición promedio de Q</a:t>
            </a:r>
            <a:r>
              <a:rPr lang="es-ES" sz="2400" baseline="30000">
                <a:sym typeface="Symbol" panose="05050102010706020507" pitchFamily="18" charset="2"/>
              </a:rPr>
              <a:t>+</a:t>
            </a:r>
            <a:r>
              <a:rPr lang="es-ES" sz="2400">
                <a:sym typeface="Symbol" panose="05050102010706020507" pitchFamily="18" charset="2"/>
              </a:rPr>
              <a:t> y Q</a:t>
            </a:r>
            <a:r>
              <a:rPr lang="es-ES" sz="2400" baseline="30000">
                <a:sym typeface="Symbol" panose="05050102010706020507" pitchFamily="18" charset="2"/>
              </a:rPr>
              <a:t>–</a:t>
            </a:r>
            <a:r>
              <a:rPr lang="es-ES" sz="2400">
                <a:sym typeface="Symbol" panose="05050102010706020507" pitchFamily="18" charset="2"/>
              </a:rPr>
              <a:t> suele coincidir en ambos. Son como Q</a:t>
            </a:r>
            <a:r>
              <a:rPr lang="es-ES" sz="2400" baseline="-25000">
                <a:sym typeface="Symbol" panose="05050102010706020507" pitchFamily="18" charset="2"/>
              </a:rPr>
              <a:t>PUNTUALES</a:t>
            </a:r>
            <a:r>
              <a:rPr lang="es-ES" sz="2400">
                <a:sym typeface="Symbol" panose="05050102010706020507" pitchFamily="18" charset="2"/>
              </a:rPr>
              <a:t> nulas, y la </a:t>
            </a:r>
            <a:r>
              <a:rPr lang="es-ES" sz="2400" b="1">
                <a:sym typeface="Symbol" panose="05050102010706020507" pitchFamily="18" charset="2"/>
              </a:rPr>
              <a:t>F</a:t>
            </a:r>
            <a:r>
              <a:rPr lang="es-ES" sz="2400" baseline="-25000">
                <a:sym typeface="Symbol" panose="05050102010706020507" pitchFamily="18" charset="2"/>
              </a:rPr>
              <a:t>NETA</a:t>
            </a:r>
            <a:r>
              <a:rPr lang="es-ES" sz="2400" b="1">
                <a:sym typeface="Symbol" panose="05050102010706020507" pitchFamily="18" charset="2"/>
              </a:rPr>
              <a:t> </a:t>
            </a:r>
            <a:r>
              <a:rPr lang="es-ES" sz="2400">
                <a:sym typeface="Symbol" panose="05050102010706020507" pitchFamily="18" charset="2"/>
              </a:rPr>
              <a:t>entre</a:t>
            </a:r>
          </a:p>
          <a:p>
            <a:pPr algn="ctr" eaLnBrk="1" hangingPunct="1">
              <a:spcBef>
                <a:spcPts val="0"/>
              </a:spcBef>
            </a:pPr>
            <a:r>
              <a:rPr lang="es-ES" sz="2400">
                <a:sym typeface="Symbol" panose="05050102010706020507" pitchFamily="18" charset="2"/>
              </a:rPr>
              <a:t>ellos es, por ello, también nula</a:t>
            </a:r>
          </a:p>
        </p:txBody>
      </p:sp>
      <p:sp>
        <p:nvSpPr>
          <p:cNvPr id="258139" name="Text Box 91"/>
          <p:cNvSpPr txBox="1">
            <a:spLocks noChangeArrowheads="1"/>
          </p:cNvSpPr>
          <p:nvPr/>
        </p:nvSpPr>
        <p:spPr bwMode="auto">
          <a:xfrm>
            <a:off x="1410252" y="3462800"/>
            <a:ext cx="8906562" cy="1202510"/>
          </a:xfrm>
          <a:prstGeom prst="rect">
            <a:avLst/>
          </a:prstGeom>
          <a:solidFill>
            <a:srgbClr val="FAFAFA"/>
          </a:solidFill>
          <a:ln>
            <a:noFill/>
          </a:ln>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sym typeface="Symbol" panose="05050102010706020507" pitchFamily="18" charset="2"/>
              </a:rPr>
              <a:t> Aunque ocurra, si los cuerpos se pueden mezclar siendo las moléculas de uno dipolos, las fuerzas eléctricas que ejercen pueden romper las móléculas del otro </a:t>
            </a:r>
            <a:r>
              <a:rPr lang="es-ES" sz="2400" b="1">
                <a:solidFill>
                  <a:srgbClr val="FF0000"/>
                </a:solidFill>
                <a:sym typeface="Symbol" panose="05050102010706020507" pitchFamily="18" charset="2"/>
              </a:rPr>
              <a:t>(disolución electrolítica)</a:t>
            </a:r>
            <a:endParaRPr lang="es-ES" sz="2400" b="1">
              <a:solidFill>
                <a:srgbClr val="FF0000"/>
              </a:solidFill>
            </a:endParaRPr>
          </a:p>
        </p:txBody>
      </p:sp>
      <p:grpSp>
        <p:nvGrpSpPr>
          <p:cNvPr id="31762" name="Group 99"/>
          <p:cNvGrpSpPr>
            <a:grpSpLocks/>
          </p:cNvGrpSpPr>
          <p:nvPr/>
        </p:nvGrpSpPr>
        <p:grpSpPr bwMode="auto">
          <a:xfrm>
            <a:off x="5982834" y="4948374"/>
            <a:ext cx="1925638" cy="1093788"/>
            <a:chOff x="5269" y="1537"/>
            <a:chExt cx="1213" cy="689"/>
          </a:xfrm>
        </p:grpSpPr>
        <p:sp>
          <p:nvSpPr>
            <p:cNvPr id="31764" name="AutoShape 16"/>
            <p:cNvSpPr>
              <a:spLocks noChangeArrowheads="1"/>
            </p:cNvSpPr>
            <p:nvPr/>
          </p:nvSpPr>
          <p:spPr bwMode="auto">
            <a:xfrm>
              <a:off x="5269" y="1569"/>
              <a:ext cx="233" cy="298"/>
            </a:xfrm>
            <a:prstGeom prst="rightArrow">
              <a:avLst>
                <a:gd name="adj1" fmla="val 55037"/>
                <a:gd name="adj2" fmla="val 50213"/>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31765" name="Oval 17"/>
            <p:cNvSpPr>
              <a:spLocks noChangeArrowheads="1"/>
            </p:cNvSpPr>
            <p:nvPr/>
          </p:nvSpPr>
          <p:spPr bwMode="auto">
            <a:xfrm>
              <a:off x="5610" y="1577"/>
              <a:ext cx="350" cy="284"/>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31766" name="Oval 18"/>
            <p:cNvSpPr>
              <a:spLocks noChangeArrowheads="1"/>
            </p:cNvSpPr>
            <p:nvPr/>
          </p:nvSpPr>
          <p:spPr bwMode="auto">
            <a:xfrm>
              <a:off x="6092" y="1589"/>
              <a:ext cx="350" cy="284"/>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31767" name="Text Box 19"/>
            <p:cNvSpPr txBox="1">
              <a:spLocks noChangeArrowheads="1"/>
            </p:cNvSpPr>
            <p:nvPr/>
          </p:nvSpPr>
          <p:spPr bwMode="auto">
            <a:xfrm>
              <a:off x="5615" y="1965"/>
              <a:ext cx="3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Cl</a:t>
              </a:r>
              <a:r>
                <a:rPr lang="es-ES" sz="2400" baseline="30000">
                  <a:solidFill>
                    <a:schemeClr val="tx1"/>
                  </a:solidFill>
                  <a:sym typeface="Symbol" panose="05050102010706020507" pitchFamily="18" charset="2"/>
                </a:rPr>
                <a:t></a:t>
              </a:r>
            </a:p>
          </p:txBody>
        </p:sp>
        <p:sp>
          <p:nvSpPr>
            <p:cNvPr id="31768" name="Text Box 20"/>
            <p:cNvSpPr txBox="1">
              <a:spLocks noChangeArrowheads="1"/>
            </p:cNvSpPr>
            <p:nvPr/>
          </p:nvSpPr>
          <p:spPr bwMode="auto">
            <a:xfrm>
              <a:off x="6102" y="1976"/>
              <a:ext cx="3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Na</a:t>
              </a:r>
              <a:r>
                <a:rPr lang="es-ES" sz="2400" baseline="30000">
                  <a:solidFill>
                    <a:schemeClr val="tx1"/>
                  </a:solidFill>
                  <a:sym typeface="Symbol" panose="05050102010706020507" pitchFamily="18" charset="2"/>
                </a:rPr>
                <a:t>+</a:t>
              </a:r>
            </a:p>
          </p:txBody>
        </p:sp>
        <p:sp>
          <p:nvSpPr>
            <p:cNvPr id="31769" name="Text Box 21"/>
            <p:cNvSpPr txBox="1">
              <a:spLocks noChangeArrowheads="1"/>
            </p:cNvSpPr>
            <p:nvPr/>
          </p:nvSpPr>
          <p:spPr bwMode="auto">
            <a:xfrm flipH="1">
              <a:off x="5678" y="1537"/>
              <a:ext cx="1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sp>
          <p:nvSpPr>
            <p:cNvPr id="31770" name="Text Box 22"/>
            <p:cNvSpPr txBox="1">
              <a:spLocks noChangeArrowheads="1"/>
            </p:cNvSpPr>
            <p:nvPr/>
          </p:nvSpPr>
          <p:spPr bwMode="auto">
            <a:xfrm>
              <a:off x="6148" y="1558"/>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grpSp>
      <p:sp>
        <p:nvSpPr>
          <p:cNvPr id="5" name="CuadroTexto 4"/>
          <p:cNvSpPr txBox="1">
            <a:spLocks noChangeArrowheads="1"/>
          </p:cNvSpPr>
          <p:nvPr/>
        </p:nvSpPr>
        <p:spPr bwMode="auto">
          <a:xfrm>
            <a:off x="1410251" y="2146737"/>
            <a:ext cx="6468584" cy="1200329"/>
          </a:xfrm>
          <a:prstGeom prst="rect">
            <a:avLst/>
          </a:prstGeom>
          <a:solidFill>
            <a:srgbClr val="FAFAFA"/>
          </a:solidFill>
          <a:ln>
            <a:noFill/>
          </a:ln>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dirty="0">
                <a:sym typeface="Symbol" panose="05050102010706020507" pitchFamily="18" charset="2"/>
              </a:rPr>
              <a:t> Eso no ocurre si </a:t>
            </a:r>
            <a:r>
              <a:rPr lang="es-ES" sz="2400" dirty="0"/>
              <a:t>cualquiera de ellos es         un aislante polarizado </a:t>
            </a:r>
            <a:r>
              <a:rPr lang="es-ES" sz="2400" b="1" dirty="0">
                <a:solidFill>
                  <a:srgbClr val="FF0000"/>
                </a:solidFill>
              </a:rPr>
              <a:t>(</a:t>
            </a:r>
            <a:r>
              <a:rPr lang="es-ES" sz="2400" b="1" dirty="0" err="1">
                <a:solidFill>
                  <a:srgbClr val="FF0000"/>
                </a:solidFill>
              </a:rPr>
              <a:t>electrete</a:t>
            </a:r>
            <a:r>
              <a:rPr lang="es-ES" sz="2400" b="1" dirty="0">
                <a:solidFill>
                  <a:srgbClr val="FF0000"/>
                </a:solidFill>
              </a:rPr>
              <a:t> -Tema 3-)</a:t>
            </a:r>
            <a:r>
              <a:rPr lang="es-ES" sz="2400" dirty="0"/>
              <a:t>, que se comportaría como un cuerpo cargado</a:t>
            </a:r>
            <a:endParaRPr lang="es-ES" sz="2400" b="1" dirty="0"/>
          </a:p>
        </p:txBody>
      </p:sp>
      <p:grpSp>
        <p:nvGrpSpPr>
          <p:cNvPr id="43" name="Grupo 42"/>
          <p:cNvGrpSpPr/>
          <p:nvPr/>
        </p:nvGrpSpPr>
        <p:grpSpPr>
          <a:xfrm>
            <a:off x="1281671" y="406608"/>
            <a:ext cx="2982909" cy="1102777"/>
            <a:chOff x="5764208" y="515937"/>
            <a:chExt cx="2982909" cy="1102777"/>
          </a:xfrm>
        </p:grpSpPr>
        <p:grpSp>
          <p:nvGrpSpPr>
            <p:cNvPr id="44" name="Group 56"/>
            <p:cNvGrpSpPr>
              <a:grpSpLocks/>
            </p:cNvGrpSpPr>
            <p:nvPr/>
          </p:nvGrpSpPr>
          <p:grpSpPr bwMode="auto">
            <a:xfrm>
              <a:off x="5764208" y="515937"/>
              <a:ext cx="2982909" cy="1095374"/>
              <a:chOff x="603" y="1029"/>
              <a:chExt cx="1879" cy="690"/>
            </a:xfrm>
          </p:grpSpPr>
          <p:sp>
            <p:nvSpPr>
              <p:cNvPr id="46" name="Text Box 20"/>
              <p:cNvSpPr txBox="1">
                <a:spLocks noChangeArrowheads="1"/>
              </p:cNvSpPr>
              <p:nvPr/>
            </p:nvSpPr>
            <p:spPr bwMode="auto">
              <a:xfrm>
                <a:off x="603" y="1029"/>
                <a:ext cx="1000" cy="292"/>
              </a:xfrm>
              <a:prstGeom prst="rect">
                <a:avLst/>
              </a:prstGeom>
              <a:solidFill>
                <a:srgbClr val="C0C0C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Cuerpo</a:t>
                </a:r>
              </a:p>
            </p:txBody>
          </p:sp>
          <p:sp>
            <p:nvSpPr>
              <p:cNvPr id="47" name="Text Box 22"/>
              <p:cNvSpPr txBox="1">
                <a:spLocks noChangeArrowheads="1"/>
              </p:cNvSpPr>
              <p:nvPr/>
            </p:nvSpPr>
            <p:spPr bwMode="auto">
              <a:xfrm>
                <a:off x="1675" y="1029"/>
                <a:ext cx="697" cy="292"/>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Neutro</a:t>
                </a:r>
                <a:endParaRPr lang="es-ES" sz="2400">
                  <a:solidFill>
                    <a:srgbClr val="FF0000"/>
                  </a:solidFill>
                </a:endParaRPr>
              </a:p>
            </p:txBody>
          </p:sp>
          <p:sp>
            <p:nvSpPr>
              <p:cNvPr id="48" name="Text Box 23"/>
              <p:cNvSpPr txBox="1">
                <a:spLocks noChangeArrowheads="1"/>
              </p:cNvSpPr>
              <p:nvPr/>
            </p:nvSpPr>
            <p:spPr bwMode="auto">
              <a:xfrm>
                <a:off x="1675" y="1427"/>
                <a:ext cx="807" cy="292"/>
              </a:xfrm>
              <a:prstGeom prst="rect">
                <a:avLst/>
              </a:prstGeom>
              <a:no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Neutro</a:t>
                </a:r>
                <a:endParaRPr lang="es-ES" sz="2400">
                  <a:solidFill>
                    <a:srgbClr val="FF0000"/>
                  </a:solidFill>
                </a:endParaRPr>
              </a:p>
            </p:txBody>
          </p:sp>
        </p:grpSp>
        <p:sp>
          <p:nvSpPr>
            <p:cNvPr id="45" name="Text Box 20"/>
            <p:cNvSpPr txBox="1">
              <a:spLocks noChangeArrowheads="1"/>
            </p:cNvSpPr>
            <p:nvPr/>
          </p:nvSpPr>
          <p:spPr bwMode="auto">
            <a:xfrm>
              <a:off x="5764208" y="1155164"/>
              <a:ext cx="1587498" cy="463550"/>
            </a:xfrm>
            <a:prstGeom prst="rect">
              <a:avLst/>
            </a:prstGeom>
            <a:solidFill>
              <a:srgbClr val="C0C0C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Cuerpo</a:t>
              </a:r>
            </a:p>
          </p:txBody>
        </p:sp>
      </p:grpSp>
      <p:grpSp>
        <p:nvGrpSpPr>
          <p:cNvPr id="31828" name="Group 84"/>
          <p:cNvGrpSpPr>
            <a:grpSpLocks/>
          </p:cNvGrpSpPr>
          <p:nvPr/>
        </p:nvGrpSpPr>
        <p:grpSpPr bwMode="auto">
          <a:xfrm>
            <a:off x="1480681" y="4962732"/>
            <a:ext cx="2813050" cy="1739901"/>
            <a:chOff x="2412" y="2286"/>
            <a:chExt cx="1772" cy="1096"/>
          </a:xfrm>
        </p:grpSpPr>
        <p:sp>
          <p:nvSpPr>
            <p:cNvPr id="31779" name="Text Box 3"/>
            <p:cNvSpPr txBox="1">
              <a:spLocks noChangeArrowheads="1"/>
            </p:cNvSpPr>
            <p:nvPr/>
          </p:nvSpPr>
          <p:spPr bwMode="auto">
            <a:xfrm>
              <a:off x="2412" y="3067"/>
              <a:ext cx="17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lnSpc>
                  <a:spcPct val="110000"/>
                </a:lnSpc>
                <a:spcBef>
                  <a:spcPct val="50000"/>
                </a:spcBef>
              </a:pPr>
              <a:r>
                <a:rPr lang="es-ES" sz="2400">
                  <a:solidFill>
                    <a:srgbClr val="008000"/>
                  </a:solidFill>
                </a:rPr>
                <a:t>sal común en agua</a:t>
              </a:r>
            </a:p>
          </p:txBody>
        </p:sp>
        <p:grpSp>
          <p:nvGrpSpPr>
            <p:cNvPr id="31780" name="Group 39"/>
            <p:cNvGrpSpPr>
              <a:grpSpLocks/>
            </p:cNvGrpSpPr>
            <p:nvPr/>
          </p:nvGrpSpPr>
          <p:grpSpPr bwMode="auto">
            <a:xfrm>
              <a:off x="2500" y="2286"/>
              <a:ext cx="1501" cy="717"/>
              <a:chOff x="2500" y="1727"/>
              <a:chExt cx="1501" cy="717"/>
            </a:xfrm>
          </p:grpSpPr>
          <p:sp>
            <p:nvSpPr>
              <p:cNvPr id="31781" name="Oval 72"/>
              <p:cNvSpPr>
                <a:spLocks noChangeArrowheads="1"/>
              </p:cNvSpPr>
              <p:nvPr/>
            </p:nvSpPr>
            <p:spPr bwMode="auto">
              <a:xfrm>
                <a:off x="2500" y="1793"/>
                <a:ext cx="692" cy="284"/>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31782" name="Text Box 74"/>
              <p:cNvSpPr txBox="1">
                <a:spLocks noChangeArrowheads="1"/>
              </p:cNvSpPr>
              <p:nvPr/>
            </p:nvSpPr>
            <p:spPr bwMode="auto">
              <a:xfrm>
                <a:off x="2614" y="2194"/>
                <a:ext cx="4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ClNa</a:t>
                </a:r>
              </a:p>
            </p:txBody>
          </p:sp>
          <p:sp>
            <p:nvSpPr>
              <p:cNvPr id="31783" name="Oval 69"/>
              <p:cNvSpPr>
                <a:spLocks noChangeArrowheads="1"/>
              </p:cNvSpPr>
              <p:nvPr/>
            </p:nvSpPr>
            <p:spPr bwMode="auto">
              <a:xfrm>
                <a:off x="3309" y="1781"/>
                <a:ext cx="692" cy="284"/>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31784" name="Text Box 70"/>
              <p:cNvSpPr txBox="1">
                <a:spLocks noChangeArrowheads="1"/>
              </p:cNvSpPr>
              <p:nvPr/>
            </p:nvSpPr>
            <p:spPr bwMode="auto">
              <a:xfrm>
                <a:off x="3727" y="1766"/>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sp>
            <p:nvSpPr>
              <p:cNvPr id="31785" name="Text Box 73"/>
              <p:cNvSpPr txBox="1">
                <a:spLocks noChangeArrowheads="1"/>
              </p:cNvSpPr>
              <p:nvPr/>
            </p:nvSpPr>
            <p:spPr bwMode="auto">
              <a:xfrm>
                <a:off x="3455" y="2187"/>
                <a:ext cx="4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chemeClr val="tx1"/>
                    </a:solidFill>
                  </a:rPr>
                  <a:t>H</a:t>
                </a:r>
                <a:r>
                  <a:rPr lang="es-ES" sz="2400" baseline="-25000">
                    <a:solidFill>
                      <a:schemeClr val="tx1"/>
                    </a:solidFill>
                  </a:rPr>
                  <a:t>2</a:t>
                </a:r>
                <a:r>
                  <a:rPr lang="es-ES" sz="2400">
                    <a:solidFill>
                      <a:schemeClr val="tx1"/>
                    </a:solidFill>
                  </a:rPr>
                  <a:t>O</a:t>
                </a:r>
              </a:p>
            </p:txBody>
          </p:sp>
          <p:sp>
            <p:nvSpPr>
              <p:cNvPr id="31787" name="Text Box 71"/>
              <p:cNvSpPr txBox="1">
                <a:spLocks noChangeArrowheads="1"/>
              </p:cNvSpPr>
              <p:nvPr/>
            </p:nvSpPr>
            <p:spPr bwMode="auto">
              <a:xfrm flipH="1">
                <a:off x="3353" y="1727"/>
                <a:ext cx="1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grpSp>
      </p:grpSp>
      <p:grpSp>
        <p:nvGrpSpPr>
          <p:cNvPr id="6" name="Grupo 5"/>
          <p:cNvGrpSpPr/>
          <p:nvPr/>
        </p:nvGrpSpPr>
        <p:grpSpPr>
          <a:xfrm>
            <a:off x="4883311" y="6190491"/>
            <a:ext cx="2425664" cy="660223"/>
            <a:chOff x="6005254" y="6088756"/>
            <a:chExt cx="2425664" cy="660223"/>
          </a:xfrm>
        </p:grpSpPr>
        <p:sp>
          <p:nvSpPr>
            <p:cNvPr id="83026" name="Text Box 82"/>
            <p:cNvSpPr txBox="1">
              <a:spLocks noChangeArrowheads="1"/>
            </p:cNvSpPr>
            <p:nvPr/>
          </p:nvSpPr>
          <p:spPr bwMode="auto">
            <a:xfrm>
              <a:off x="6005254" y="6088756"/>
              <a:ext cx="24256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olidFill>
                    <a:srgbClr val="0000FF"/>
                  </a:solidFill>
                </a:rPr>
                <a:t>F</a:t>
              </a:r>
              <a:r>
                <a:rPr lang="es-ES" sz="2400" baseline="-25000">
                  <a:solidFill>
                    <a:srgbClr val="0000FF"/>
                  </a:solidFill>
                </a:rPr>
                <a:t>externas</a:t>
              </a:r>
              <a:r>
                <a:rPr lang="es-ES" sz="2400">
                  <a:solidFill>
                    <a:srgbClr val="0000FF"/>
                  </a:solidFill>
                </a:rPr>
                <a:t> &gt; F</a:t>
              </a:r>
              <a:r>
                <a:rPr lang="es-ES" sz="2400" baseline="-25000">
                  <a:solidFill>
                    <a:srgbClr val="0000FF"/>
                  </a:solidFill>
                </a:rPr>
                <a:t>internas</a:t>
              </a:r>
              <a:endParaRPr lang="es-ES" sz="2400">
                <a:solidFill>
                  <a:srgbClr val="0000FF"/>
                </a:solidFill>
              </a:endParaRPr>
            </a:p>
          </p:txBody>
        </p:sp>
        <p:sp>
          <p:nvSpPr>
            <p:cNvPr id="50" name="Text Box 82"/>
            <p:cNvSpPr txBox="1">
              <a:spLocks noChangeArrowheads="1"/>
            </p:cNvSpPr>
            <p:nvPr/>
          </p:nvSpPr>
          <p:spPr bwMode="auto">
            <a:xfrm>
              <a:off x="6181631" y="6287314"/>
              <a:ext cx="183575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baseline="-25000">
                  <a:solidFill>
                    <a:srgbClr val="0000FF"/>
                  </a:solidFill>
                </a:rPr>
                <a:t>agua</a:t>
              </a:r>
              <a:r>
                <a:rPr lang="es-ES" sz="2400">
                  <a:solidFill>
                    <a:srgbClr val="0000FF"/>
                  </a:solidFill>
                </a:rPr>
                <a:t>           </a:t>
              </a:r>
              <a:r>
                <a:rPr lang="es-ES" sz="2400" baseline="-25000">
                  <a:solidFill>
                    <a:srgbClr val="0000FF"/>
                  </a:solidFill>
                </a:rPr>
                <a:t>sal</a:t>
              </a:r>
              <a:endParaRPr lang="es-ES" sz="2400">
                <a:solidFill>
                  <a:srgbClr val="0000FF"/>
                </a:solidFill>
              </a:endParaRPr>
            </a:p>
          </p:txBody>
        </p:sp>
      </p:grpSp>
      <p:sp>
        <p:nvSpPr>
          <p:cNvPr id="31827" name="Text Box 83"/>
          <p:cNvSpPr txBox="1">
            <a:spLocks noChangeArrowheads="1"/>
          </p:cNvSpPr>
          <p:nvPr/>
        </p:nvSpPr>
        <p:spPr bwMode="auto">
          <a:xfrm>
            <a:off x="8362681" y="4741641"/>
            <a:ext cx="1944018" cy="2383208"/>
          </a:xfrm>
          <a:prstGeom prst="rect">
            <a:avLst/>
          </a:prstGeom>
          <a:solidFill>
            <a:srgbClr val="FFFF99"/>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82800" rIns="90000" bIns="828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t>Más iones disueltos</a:t>
            </a:r>
          </a:p>
          <a:p>
            <a:pPr algn="ctr"/>
            <a:r>
              <a:rPr lang="es-ES" sz="2400"/>
              <a:t>en agua</a:t>
            </a:r>
          </a:p>
          <a:p>
            <a:pPr algn="ctr"/>
            <a:r>
              <a:rPr lang="es-ES" sz="2400"/>
              <a:t>aumentan</a:t>
            </a:r>
          </a:p>
          <a:p>
            <a:pPr algn="ctr"/>
            <a:r>
              <a:rPr lang="es-ES" sz="2400"/>
              <a:t>su carácter conductor</a:t>
            </a:r>
          </a:p>
        </p:txBody>
      </p:sp>
      <p:sp>
        <p:nvSpPr>
          <p:cNvPr id="52" name="AutoShape 16"/>
          <p:cNvSpPr>
            <a:spLocks noChangeArrowheads="1"/>
          </p:cNvSpPr>
          <p:nvPr/>
        </p:nvSpPr>
        <p:spPr bwMode="auto">
          <a:xfrm>
            <a:off x="7960169" y="5032077"/>
            <a:ext cx="369888" cy="473075"/>
          </a:xfrm>
          <a:prstGeom prst="rightArrow">
            <a:avLst>
              <a:gd name="adj1" fmla="val 55037"/>
              <a:gd name="adj2" fmla="val 50213"/>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grpSp>
        <p:nvGrpSpPr>
          <p:cNvPr id="40" name="Group 64"/>
          <p:cNvGrpSpPr>
            <a:grpSpLocks/>
          </p:cNvGrpSpPr>
          <p:nvPr/>
        </p:nvGrpSpPr>
        <p:grpSpPr bwMode="auto">
          <a:xfrm>
            <a:off x="8183635" y="2087870"/>
            <a:ext cx="1838325" cy="1341438"/>
            <a:chOff x="6375" y="2746"/>
            <a:chExt cx="1158" cy="845"/>
          </a:xfrm>
        </p:grpSpPr>
        <p:grpSp>
          <p:nvGrpSpPr>
            <p:cNvPr id="41" name="Group 65"/>
            <p:cNvGrpSpPr>
              <a:grpSpLocks/>
            </p:cNvGrpSpPr>
            <p:nvPr/>
          </p:nvGrpSpPr>
          <p:grpSpPr bwMode="auto">
            <a:xfrm>
              <a:off x="6383" y="2977"/>
              <a:ext cx="1148" cy="354"/>
              <a:chOff x="5342" y="2758"/>
              <a:chExt cx="1148" cy="354"/>
            </a:xfrm>
          </p:grpSpPr>
          <p:grpSp>
            <p:nvGrpSpPr>
              <p:cNvPr id="76" name="Group 66"/>
              <p:cNvGrpSpPr>
                <a:grpSpLocks/>
              </p:cNvGrpSpPr>
              <p:nvPr/>
            </p:nvGrpSpPr>
            <p:grpSpPr bwMode="auto">
              <a:xfrm>
                <a:off x="5342" y="2758"/>
                <a:ext cx="393" cy="348"/>
                <a:chOff x="5447" y="2751"/>
                <a:chExt cx="393" cy="348"/>
              </a:xfrm>
            </p:grpSpPr>
            <p:sp>
              <p:nvSpPr>
                <p:cNvPr id="85" name="Oval 67"/>
                <p:cNvSpPr>
                  <a:spLocks noChangeArrowheads="1"/>
                </p:cNvSpPr>
                <p:nvPr/>
              </p:nvSpPr>
              <p:spPr bwMode="auto">
                <a:xfrm>
                  <a:off x="5464" y="2815"/>
                  <a:ext cx="354" cy="226"/>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86" name="Text Box 68"/>
                <p:cNvSpPr txBox="1">
                  <a:spLocks noChangeArrowheads="1"/>
                </p:cNvSpPr>
                <p:nvPr/>
              </p:nvSpPr>
              <p:spPr bwMode="auto">
                <a:xfrm>
                  <a:off x="5595" y="2772"/>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sp>
              <p:nvSpPr>
                <p:cNvPr id="87" name="Text Box 69"/>
                <p:cNvSpPr txBox="1">
                  <a:spLocks noChangeArrowheads="1"/>
                </p:cNvSpPr>
                <p:nvPr/>
              </p:nvSpPr>
              <p:spPr bwMode="auto">
                <a:xfrm flipH="1">
                  <a:off x="5447" y="2751"/>
                  <a:ext cx="18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grpSp>
          <p:grpSp>
            <p:nvGrpSpPr>
              <p:cNvPr id="77" name="Group 70"/>
              <p:cNvGrpSpPr>
                <a:grpSpLocks/>
              </p:cNvGrpSpPr>
              <p:nvPr/>
            </p:nvGrpSpPr>
            <p:grpSpPr bwMode="auto">
              <a:xfrm>
                <a:off x="5723" y="2761"/>
                <a:ext cx="393" cy="348"/>
                <a:chOff x="5447" y="2751"/>
                <a:chExt cx="393" cy="348"/>
              </a:xfrm>
            </p:grpSpPr>
            <p:sp>
              <p:nvSpPr>
                <p:cNvPr id="82" name="Oval 71"/>
                <p:cNvSpPr>
                  <a:spLocks noChangeArrowheads="1"/>
                </p:cNvSpPr>
                <p:nvPr/>
              </p:nvSpPr>
              <p:spPr bwMode="auto">
                <a:xfrm>
                  <a:off x="5464" y="2815"/>
                  <a:ext cx="354" cy="226"/>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83" name="Text Box 72"/>
                <p:cNvSpPr txBox="1">
                  <a:spLocks noChangeArrowheads="1"/>
                </p:cNvSpPr>
                <p:nvPr/>
              </p:nvSpPr>
              <p:spPr bwMode="auto">
                <a:xfrm>
                  <a:off x="5595" y="2772"/>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sp>
              <p:nvSpPr>
                <p:cNvPr id="84" name="Text Box 73"/>
                <p:cNvSpPr txBox="1">
                  <a:spLocks noChangeArrowheads="1"/>
                </p:cNvSpPr>
                <p:nvPr/>
              </p:nvSpPr>
              <p:spPr bwMode="auto">
                <a:xfrm flipH="1">
                  <a:off x="5447" y="2751"/>
                  <a:ext cx="18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grpSp>
          <p:grpSp>
            <p:nvGrpSpPr>
              <p:cNvPr id="78" name="Group 74"/>
              <p:cNvGrpSpPr>
                <a:grpSpLocks/>
              </p:cNvGrpSpPr>
              <p:nvPr/>
            </p:nvGrpSpPr>
            <p:grpSpPr bwMode="auto">
              <a:xfrm>
                <a:off x="6097" y="2764"/>
                <a:ext cx="393" cy="348"/>
                <a:chOff x="5447" y="2751"/>
                <a:chExt cx="393" cy="348"/>
              </a:xfrm>
            </p:grpSpPr>
            <p:sp>
              <p:nvSpPr>
                <p:cNvPr id="79" name="Oval 75"/>
                <p:cNvSpPr>
                  <a:spLocks noChangeArrowheads="1"/>
                </p:cNvSpPr>
                <p:nvPr/>
              </p:nvSpPr>
              <p:spPr bwMode="auto">
                <a:xfrm>
                  <a:off x="5464" y="2815"/>
                  <a:ext cx="354" cy="226"/>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80" name="Text Box 76"/>
                <p:cNvSpPr txBox="1">
                  <a:spLocks noChangeArrowheads="1"/>
                </p:cNvSpPr>
                <p:nvPr/>
              </p:nvSpPr>
              <p:spPr bwMode="auto">
                <a:xfrm>
                  <a:off x="5595" y="2772"/>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sp>
              <p:nvSpPr>
                <p:cNvPr id="81" name="Text Box 77"/>
                <p:cNvSpPr txBox="1">
                  <a:spLocks noChangeArrowheads="1"/>
                </p:cNvSpPr>
                <p:nvPr/>
              </p:nvSpPr>
              <p:spPr bwMode="auto">
                <a:xfrm flipH="1">
                  <a:off x="5447" y="2751"/>
                  <a:ext cx="18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grpSp>
        </p:grpSp>
        <p:grpSp>
          <p:nvGrpSpPr>
            <p:cNvPr id="42" name="Group 78"/>
            <p:cNvGrpSpPr>
              <a:grpSpLocks/>
            </p:cNvGrpSpPr>
            <p:nvPr/>
          </p:nvGrpSpPr>
          <p:grpSpPr bwMode="auto">
            <a:xfrm>
              <a:off x="6385" y="3237"/>
              <a:ext cx="1148" cy="354"/>
              <a:chOff x="5342" y="2758"/>
              <a:chExt cx="1148" cy="354"/>
            </a:xfrm>
          </p:grpSpPr>
          <p:grpSp>
            <p:nvGrpSpPr>
              <p:cNvPr id="64" name="Group 79"/>
              <p:cNvGrpSpPr>
                <a:grpSpLocks/>
              </p:cNvGrpSpPr>
              <p:nvPr/>
            </p:nvGrpSpPr>
            <p:grpSpPr bwMode="auto">
              <a:xfrm>
                <a:off x="5342" y="2758"/>
                <a:ext cx="393" cy="348"/>
                <a:chOff x="5447" y="2751"/>
                <a:chExt cx="393" cy="348"/>
              </a:xfrm>
            </p:grpSpPr>
            <p:sp>
              <p:nvSpPr>
                <p:cNvPr id="73" name="Oval 80"/>
                <p:cNvSpPr>
                  <a:spLocks noChangeArrowheads="1"/>
                </p:cNvSpPr>
                <p:nvPr/>
              </p:nvSpPr>
              <p:spPr bwMode="auto">
                <a:xfrm>
                  <a:off x="5464" y="2815"/>
                  <a:ext cx="354" cy="226"/>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74" name="Text Box 81"/>
                <p:cNvSpPr txBox="1">
                  <a:spLocks noChangeArrowheads="1"/>
                </p:cNvSpPr>
                <p:nvPr/>
              </p:nvSpPr>
              <p:spPr bwMode="auto">
                <a:xfrm>
                  <a:off x="5595" y="2772"/>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sp>
              <p:nvSpPr>
                <p:cNvPr id="75" name="Text Box 82"/>
                <p:cNvSpPr txBox="1">
                  <a:spLocks noChangeArrowheads="1"/>
                </p:cNvSpPr>
                <p:nvPr/>
              </p:nvSpPr>
              <p:spPr bwMode="auto">
                <a:xfrm flipH="1">
                  <a:off x="5447" y="2751"/>
                  <a:ext cx="18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grpSp>
          <p:grpSp>
            <p:nvGrpSpPr>
              <p:cNvPr id="65" name="Group 83"/>
              <p:cNvGrpSpPr>
                <a:grpSpLocks/>
              </p:cNvGrpSpPr>
              <p:nvPr/>
            </p:nvGrpSpPr>
            <p:grpSpPr bwMode="auto">
              <a:xfrm>
                <a:off x="5723" y="2761"/>
                <a:ext cx="393" cy="348"/>
                <a:chOff x="5447" y="2751"/>
                <a:chExt cx="393" cy="348"/>
              </a:xfrm>
            </p:grpSpPr>
            <p:sp>
              <p:nvSpPr>
                <p:cNvPr id="70" name="Oval 84"/>
                <p:cNvSpPr>
                  <a:spLocks noChangeArrowheads="1"/>
                </p:cNvSpPr>
                <p:nvPr/>
              </p:nvSpPr>
              <p:spPr bwMode="auto">
                <a:xfrm>
                  <a:off x="5464" y="2815"/>
                  <a:ext cx="354" cy="226"/>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71" name="Text Box 85"/>
                <p:cNvSpPr txBox="1">
                  <a:spLocks noChangeArrowheads="1"/>
                </p:cNvSpPr>
                <p:nvPr/>
              </p:nvSpPr>
              <p:spPr bwMode="auto">
                <a:xfrm>
                  <a:off x="5595" y="2772"/>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sp>
              <p:nvSpPr>
                <p:cNvPr id="72" name="Text Box 86"/>
                <p:cNvSpPr txBox="1">
                  <a:spLocks noChangeArrowheads="1"/>
                </p:cNvSpPr>
                <p:nvPr/>
              </p:nvSpPr>
              <p:spPr bwMode="auto">
                <a:xfrm flipH="1">
                  <a:off x="5447" y="2751"/>
                  <a:ext cx="18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grpSp>
          <p:grpSp>
            <p:nvGrpSpPr>
              <p:cNvPr id="66" name="Group 87"/>
              <p:cNvGrpSpPr>
                <a:grpSpLocks/>
              </p:cNvGrpSpPr>
              <p:nvPr/>
            </p:nvGrpSpPr>
            <p:grpSpPr bwMode="auto">
              <a:xfrm>
                <a:off x="6097" y="2764"/>
                <a:ext cx="393" cy="348"/>
                <a:chOff x="5447" y="2751"/>
                <a:chExt cx="393" cy="348"/>
              </a:xfrm>
            </p:grpSpPr>
            <p:sp>
              <p:nvSpPr>
                <p:cNvPr id="67" name="Oval 88"/>
                <p:cNvSpPr>
                  <a:spLocks noChangeArrowheads="1"/>
                </p:cNvSpPr>
                <p:nvPr/>
              </p:nvSpPr>
              <p:spPr bwMode="auto">
                <a:xfrm>
                  <a:off x="5464" y="2815"/>
                  <a:ext cx="354" cy="226"/>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68" name="Text Box 89"/>
                <p:cNvSpPr txBox="1">
                  <a:spLocks noChangeArrowheads="1"/>
                </p:cNvSpPr>
                <p:nvPr/>
              </p:nvSpPr>
              <p:spPr bwMode="auto">
                <a:xfrm>
                  <a:off x="5595" y="2772"/>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sp>
              <p:nvSpPr>
                <p:cNvPr id="69" name="Text Box 90"/>
                <p:cNvSpPr txBox="1">
                  <a:spLocks noChangeArrowheads="1"/>
                </p:cNvSpPr>
                <p:nvPr/>
              </p:nvSpPr>
              <p:spPr bwMode="auto">
                <a:xfrm flipH="1">
                  <a:off x="5447" y="2751"/>
                  <a:ext cx="18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grpSp>
        </p:grpSp>
        <p:grpSp>
          <p:nvGrpSpPr>
            <p:cNvPr id="49" name="Group 91"/>
            <p:cNvGrpSpPr>
              <a:grpSpLocks/>
            </p:cNvGrpSpPr>
            <p:nvPr/>
          </p:nvGrpSpPr>
          <p:grpSpPr bwMode="auto">
            <a:xfrm>
              <a:off x="6375" y="2746"/>
              <a:ext cx="1148" cy="354"/>
              <a:chOff x="5342" y="2758"/>
              <a:chExt cx="1148" cy="354"/>
            </a:xfrm>
          </p:grpSpPr>
          <p:grpSp>
            <p:nvGrpSpPr>
              <p:cNvPr id="51" name="Group 92"/>
              <p:cNvGrpSpPr>
                <a:grpSpLocks/>
              </p:cNvGrpSpPr>
              <p:nvPr/>
            </p:nvGrpSpPr>
            <p:grpSpPr bwMode="auto">
              <a:xfrm>
                <a:off x="5342" y="2758"/>
                <a:ext cx="393" cy="348"/>
                <a:chOff x="5447" y="2751"/>
                <a:chExt cx="393" cy="348"/>
              </a:xfrm>
            </p:grpSpPr>
            <p:sp>
              <p:nvSpPr>
                <p:cNvPr id="61" name="Oval 93"/>
                <p:cNvSpPr>
                  <a:spLocks noChangeArrowheads="1"/>
                </p:cNvSpPr>
                <p:nvPr/>
              </p:nvSpPr>
              <p:spPr bwMode="auto">
                <a:xfrm>
                  <a:off x="5464" y="2815"/>
                  <a:ext cx="354" cy="226"/>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62" name="Text Box 94"/>
                <p:cNvSpPr txBox="1">
                  <a:spLocks noChangeArrowheads="1"/>
                </p:cNvSpPr>
                <p:nvPr/>
              </p:nvSpPr>
              <p:spPr bwMode="auto">
                <a:xfrm>
                  <a:off x="5595" y="2772"/>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sp>
              <p:nvSpPr>
                <p:cNvPr id="63" name="Text Box 95"/>
                <p:cNvSpPr txBox="1">
                  <a:spLocks noChangeArrowheads="1"/>
                </p:cNvSpPr>
                <p:nvPr/>
              </p:nvSpPr>
              <p:spPr bwMode="auto">
                <a:xfrm flipH="1">
                  <a:off x="5447" y="2751"/>
                  <a:ext cx="18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grpSp>
          <p:grpSp>
            <p:nvGrpSpPr>
              <p:cNvPr id="53" name="Group 96"/>
              <p:cNvGrpSpPr>
                <a:grpSpLocks/>
              </p:cNvGrpSpPr>
              <p:nvPr/>
            </p:nvGrpSpPr>
            <p:grpSpPr bwMode="auto">
              <a:xfrm>
                <a:off x="5723" y="2761"/>
                <a:ext cx="393" cy="348"/>
                <a:chOff x="5447" y="2751"/>
                <a:chExt cx="393" cy="348"/>
              </a:xfrm>
            </p:grpSpPr>
            <p:sp>
              <p:nvSpPr>
                <p:cNvPr id="58" name="Oval 97"/>
                <p:cNvSpPr>
                  <a:spLocks noChangeArrowheads="1"/>
                </p:cNvSpPr>
                <p:nvPr/>
              </p:nvSpPr>
              <p:spPr bwMode="auto">
                <a:xfrm>
                  <a:off x="5464" y="2815"/>
                  <a:ext cx="354" cy="226"/>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59" name="Text Box 98"/>
                <p:cNvSpPr txBox="1">
                  <a:spLocks noChangeArrowheads="1"/>
                </p:cNvSpPr>
                <p:nvPr/>
              </p:nvSpPr>
              <p:spPr bwMode="auto">
                <a:xfrm>
                  <a:off x="5595" y="2772"/>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sp>
              <p:nvSpPr>
                <p:cNvPr id="60" name="Text Box 99"/>
                <p:cNvSpPr txBox="1">
                  <a:spLocks noChangeArrowheads="1"/>
                </p:cNvSpPr>
                <p:nvPr/>
              </p:nvSpPr>
              <p:spPr bwMode="auto">
                <a:xfrm flipH="1">
                  <a:off x="5447" y="2751"/>
                  <a:ext cx="18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grpSp>
          <p:grpSp>
            <p:nvGrpSpPr>
              <p:cNvPr id="54" name="Group 100"/>
              <p:cNvGrpSpPr>
                <a:grpSpLocks/>
              </p:cNvGrpSpPr>
              <p:nvPr/>
            </p:nvGrpSpPr>
            <p:grpSpPr bwMode="auto">
              <a:xfrm>
                <a:off x="6097" y="2764"/>
                <a:ext cx="393" cy="348"/>
                <a:chOff x="5447" y="2751"/>
                <a:chExt cx="393" cy="348"/>
              </a:xfrm>
            </p:grpSpPr>
            <p:sp>
              <p:nvSpPr>
                <p:cNvPr id="55" name="Oval 101"/>
                <p:cNvSpPr>
                  <a:spLocks noChangeArrowheads="1"/>
                </p:cNvSpPr>
                <p:nvPr/>
              </p:nvSpPr>
              <p:spPr bwMode="auto">
                <a:xfrm>
                  <a:off x="5464" y="2815"/>
                  <a:ext cx="354" cy="226"/>
                </a:xfrm>
                <a:prstGeom prst="ellipse">
                  <a:avLst/>
                </a:prstGeom>
                <a:gradFill rotWithShape="1">
                  <a:gsLst>
                    <a:gs pos="0">
                      <a:srgbClr val="CCFFFF"/>
                    </a:gs>
                    <a:gs pos="100000">
                      <a:srgbClr val="87A9A9"/>
                    </a:gs>
                  </a:gsLst>
                  <a:path path="shape">
                    <a:fillToRect l="50000" t="50000" r="50000" b="50000"/>
                  </a:path>
                </a:gra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sp>
              <p:nvSpPr>
                <p:cNvPr id="56" name="Text Box 102"/>
                <p:cNvSpPr txBox="1">
                  <a:spLocks noChangeArrowheads="1"/>
                </p:cNvSpPr>
                <p:nvPr/>
              </p:nvSpPr>
              <p:spPr bwMode="auto">
                <a:xfrm>
                  <a:off x="5595" y="2772"/>
                  <a:ext cx="2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sp>
              <p:nvSpPr>
                <p:cNvPr id="57" name="Text Box 103"/>
                <p:cNvSpPr txBox="1">
                  <a:spLocks noChangeArrowheads="1"/>
                </p:cNvSpPr>
                <p:nvPr/>
              </p:nvSpPr>
              <p:spPr bwMode="auto">
                <a:xfrm flipH="1">
                  <a:off x="5447" y="2751"/>
                  <a:ext cx="18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800" b="1">
                      <a:solidFill>
                        <a:srgbClr val="008000"/>
                      </a:solidFill>
                    </a:rPr>
                    <a:t>-</a:t>
                  </a:r>
                </a:p>
              </p:txBody>
            </p:sp>
          </p:gr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58137"/>
                                        </p:tgtEl>
                                        <p:attrNameLst>
                                          <p:attrName>style.visibility</p:attrName>
                                        </p:attrNameLst>
                                      </p:cBhvr>
                                      <p:to>
                                        <p:strVal val="visible"/>
                                      </p:to>
                                    </p:set>
                                    <p:animEffect transition="in" filter="wipe(up)">
                                      <p:cBhvr>
                                        <p:cTn id="12" dur="500"/>
                                        <p:tgtEl>
                                          <p:spTgt spid="2581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nodeType="withGroup">
                            <p:stCondLst>
                              <p:cond delay="0"/>
                            </p:stCondLst>
                            <p:childTnLst>
                              <p:par>
                                <p:cTn id="20" presetID="3" presetClass="entr" presetSubtype="5"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linds(vertical)">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58139"/>
                                        </p:tgtEl>
                                        <p:attrNameLst>
                                          <p:attrName>style.visibility</p:attrName>
                                        </p:attrNameLst>
                                      </p:cBhvr>
                                      <p:to>
                                        <p:strVal val="visible"/>
                                      </p:to>
                                    </p:set>
                                    <p:animEffect transition="in" filter="wipe(up)">
                                      <p:cBhvr>
                                        <p:cTn id="27" dur="500"/>
                                        <p:tgtEl>
                                          <p:spTgt spid="25813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31828"/>
                                        </p:tgtEl>
                                        <p:attrNameLst>
                                          <p:attrName>style.visibility</p:attrName>
                                        </p:attrNameLst>
                                      </p:cBhvr>
                                      <p:to>
                                        <p:strVal val="visible"/>
                                      </p:to>
                                    </p:set>
                                    <p:animEffect transition="in" filter="wipe(up)">
                                      <p:cBhvr>
                                        <p:cTn id="32" dur="500"/>
                                        <p:tgtEl>
                                          <p:spTgt spid="318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1772"/>
                                        </p:tgtEl>
                                        <p:attrNameLst>
                                          <p:attrName>style.visibility</p:attrName>
                                        </p:attrNameLst>
                                      </p:cBhvr>
                                      <p:to>
                                        <p:strVal val="visible"/>
                                      </p:to>
                                    </p:set>
                                    <p:animEffect transition="in" filter="wipe(left)">
                                      <p:cBhvr>
                                        <p:cTn id="37" dur="500"/>
                                        <p:tgtEl>
                                          <p:spTgt spid="31772"/>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500"/>
                                        <p:tgtEl>
                                          <p:spTgt spid="6"/>
                                        </p:tgtEl>
                                        <p:attrNameLst>
                                          <p:attrName>ppt_y</p:attrName>
                                        </p:attrNameLst>
                                      </p:cBhvr>
                                      <p:tavLst>
                                        <p:tav tm="0">
                                          <p:val>
                                            <p:strVal val="#ppt_y+#ppt_h*1.125000"/>
                                          </p:val>
                                        </p:tav>
                                        <p:tav tm="100000">
                                          <p:val>
                                            <p:strVal val="#ppt_y"/>
                                          </p:val>
                                        </p:tav>
                                      </p:tavLst>
                                    </p:anim>
                                    <p:animEffect transition="in" filter="wipe(up)">
                                      <p:cBhvr>
                                        <p:cTn id="43" dur="5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31762"/>
                                        </p:tgtEl>
                                        <p:attrNameLst>
                                          <p:attrName>style.visibility</p:attrName>
                                        </p:attrNameLst>
                                      </p:cBhvr>
                                      <p:to>
                                        <p:strVal val="visible"/>
                                      </p:to>
                                    </p:set>
                                    <p:animEffect transition="in" filter="wipe(left)">
                                      <p:cBhvr>
                                        <p:cTn id="48" dur="500"/>
                                        <p:tgtEl>
                                          <p:spTgt spid="3176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52"/>
                                        </p:tgtEl>
                                        <p:attrNameLst>
                                          <p:attrName>style.visibility</p:attrName>
                                        </p:attrNameLst>
                                      </p:cBhvr>
                                      <p:to>
                                        <p:strVal val="visible"/>
                                      </p:to>
                                    </p:set>
                                    <p:animEffect transition="in" filter="wipe(left)">
                                      <p:cBhvr>
                                        <p:cTn id="53" dur="500"/>
                                        <p:tgtEl>
                                          <p:spTgt spid="52"/>
                                        </p:tgtEl>
                                      </p:cBhvr>
                                    </p:animEffect>
                                  </p:childTnLst>
                                </p:cTn>
                              </p:par>
                            </p:childTnLst>
                          </p:cTn>
                        </p:par>
                        <p:par>
                          <p:cTn id="54" fill="hold">
                            <p:stCondLst>
                              <p:cond delay="500"/>
                            </p:stCondLst>
                            <p:childTnLst>
                              <p:par>
                                <p:cTn id="55" presetID="22" presetClass="entr" presetSubtype="1" fill="hold" grpId="0" nodeType="afterEffect">
                                  <p:stCondLst>
                                    <p:cond delay="0"/>
                                  </p:stCondLst>
                                  <p:childTnLst>
                                    <p:set>
                                      <p:cBhvr>
                                        <p:cTn id="56" dur="1" fill="hold">
                                          <p:stCondLst>
                                            <p:cond delay="0"/>
                                          </p:stCondLst>
                                        </p:cTn>
                                        <p:tgtEl>
                                          <p:spTgt spid="31827"/>
                                        </p:tgtEl>
                                        <p:attrNameLst>
                                          <p:attrName>style.visibility</p:attrName>
                                        </p:attrNameLst>
                                      </p:cBhvr>
                                      <p:to>
                                        <p:strVal val="visible"/>
                                      </p:to>
                                    </p:set>
                                    <p:animEffect transition="in" filter="wipe(up)">
                                      <p:cBhvr>
                                        <p:cTn id="57" dur="500"/>
                                        <p:tgtEl>
                                          <p:spTgt spid="31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137" grpId="0" animBg="1"/>
      <p:bldP spid="258139" grpId="0" animBg="1"/>
      <p:bldP spid="5" grpId="0" animBg="1"/>
      <p:bldP spid="31827" grpId="0" animBg="1"/>
      <p:bldP spid="5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FNT_2012_TEMA1_1">
  <a:themeElements>
    <a:clrScheme name="FNT_2012_TEMA1_1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fontScheme name="FNT_2012_TEMA1_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s-ES" sz="2000" b="0" i="0" u="none" strike="noStrike" cap="none" normalizeH="0" baseline="0" smtClean="0">
            <a:ln>
              <a:noFill/>
            </a:ln>
            <a:solidFill>
              <a:srgbClr val="000000"/>
            </a:solidFill>
            <a:effectLst/>
            <a:latin typeface="Arial"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s-ES" sz="2000" b="0" i="0" u="none" strike="noStrike" cap="none" normalizeH="0" baseline="0" smtClean="0">
            <a:ln>
              <a:noFill/>
            </a:ln>
            <a:solidFill>
              <a:srgbClr val="000000"/>
            </a:solidFill>
            <a:effectLst/>
            <a:latin typeface="Arial" charset="0"/>
          </a:defRPr>
        </a:defPPr>
      </a:lstStyle>
    </a:lnDef>
  </a:objectDefaults>
  <a:extraClrSchemeLst>
    <a:extraClrScheme>
      <a:clrScheme name="FNT_2012_TEMA1_1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FNT_2012_TEMA1_1 2">
        <a:dk1>
          <a:srgbClr val="000000"/>
        </a:dk1>
        <a:lt1>
          <a:srgbClr val="FFFFFF"/>
        </a:lt1>
        <a:dk2>
          <a:srgbClr val="221304"/>
        </a:dk2>
        <a:lt2>
          <a:srgbClr val="CBBD83"/>
        </a:lt2>
        <a:accent1>
          <a:srgbClr val="A1BD69"/>
        </a:accent1>
        <a:accent2>
          <a:srgbClr val="3694B6"/>
        </a:accent2>
        <a:accent3>
          <a:srgbClr val="FFFFF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FNT_2012_TEMA1_1 3">
        <a:dk1>
          <a:srgbClr val="000000"/>
        </a:dk1>
        <a:lt1>
          <a:srgbClr val="FFFFFF"/>
        </a:lt1>
        <a:dk2>
          <a:srgbClr val="000000"/>
        </a:dk2>
        <a:lt2>
          <a:srgbClr val="DDDDDD"/>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FNT_2012_TEMA1_1</Template>
  <TotalTime>8466</TotalTime>
  <Words>2921</Words>
  <Application>Microsoft Office PowerPoint</Application>
  <PresentationFormat>Personalizado</PresentationFormat>
  <Paragraphs>595</Paragraphs>
  <Slides>29</Slides>
  <Notes>29</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29</vt:i4>
      </vt:variant>
    </vt:vector>
  </HeadingPairs>
  <TitlesOfParts>
    <vt:vector size="37" baseType="lpstr">
      <vt:lpstr>Arial</vt:lpstr>
      <vt:lpstr>Comic Sans MS</vt:lpstr>
      <vt:lpstr>Symbol</vt:lpstr>
      <vt:lpstr>Times New Roman</vt:lpstr>
      <vt:lpstr>Trebuchet MS</vt:lpstr>
      <vt:lpstr>Wingdings</vt:lpstr>
      <vt:lpstr>FNT_2012_TEMA1_1</vt:lpstr>
      <vt:lpstr>Ecuación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DFA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FÍSICA</dc:creator>
  <cp:lastModifiedBy>KIKE</cp:lastModifiedBy>
  <cp:revision>1157</cp:revision>
  <cp:lastPrinted>2019-10-17T20:44:41Z</cp:lastPrinted>
  <dcterms:created xsi:type="dcterms:W3CDTF">2012-02-20T13:06:36Z</dcterms:created>
  <dcterms:modified xsi:type="dcterms:W3CDTF">2024-10-08T16:03:10Z</dcterms:modified>
</cp:coreProperties>
</file>